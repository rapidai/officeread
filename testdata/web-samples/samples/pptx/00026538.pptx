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80" r:id="rId4"/>
    <p:sldId id="287" r:id="rId5"/>
    <p:sldId id="288" r:id="rId6"/>
    <p:sldId id="283" r:id="rId7"/>
    <p:sldId id="289" r:id="rId8"/>
    <p:sldId id="290" r:id="rId9"/>
    <p:sldId id="281" r:id="rId10"/>
    <p:sldId id="286" r:id="rId11"/>
    <p:sldId id="279" r:id="rId12"/>
    <p:sldId id="285" r:id="rId13"/>
    <p:sldId id="284" r:id="rId14"/>
    <p:sldId id="278" r:id="rId15"/>
    <p:sldId id="291" r:id="rId16"/>
    <p:sldId id="277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4D56CC6-929A-A149-B656-B390F1898057}">
          <p14:sldIdLst>
            <p14:sldId id="256"/>
            <p14:sldId id="257"/>
            <p14:sldId id="280"/>
            <p14:sldId id="287"/>
            <p14:sldId id="288"/>
            <p14:sldId id="283"/>
            <p14:sldId id="289"/>
            <p14:sldId id="290"/>
            <p14:sldId id="281"/>
            <p14:sldId id="286"/>
            <p14:sldId id="279"/>
            <p14:sldId id="285"/>
            <p14:sldId id="284"/>
            <p14:sldId id="278"/>
            <p14:sldId id="291"/>
            <p14:sldId id="277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4B5C29"/>
    <a:srgbClr val="5C04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496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handoutMaster" Target="handoutMasters/handoutMaster1.xml"/><Relationship Id="rId21" Type="http://schemas.openxmlformats.org/officeDocument/2006/relationships/printerSettings" Target="printerSettings/printerSettings1.bin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6" descr="slide footer_gray_417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604250"/>
            <a:ext cx="914400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4" descr="slide header_gray_417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2286000" y="0"/>
            <a:ext cx="9144000" cy="14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952999" y="152400"/>
            <a:ext cx="1903413" cy="3048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B18B65-4CBA-DB46-9D73-AD0C58E7BE22}" type="datetime1">
              <a:rPr lang="en-US" smtClean="0"/>
              <a:pPr/>
              <a:t>9/25/12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762000" y="8610601"/>
            <a:ext cx="5486400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Go to ”Insert (View) | Header and Footer" to add your organization, sponsor, meeting name here; then, click "Apply to All"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324599" y="8685213"/>
            <a:ext cx="53181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05E24-A365-DF40-BF27-0C4D1E380F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9534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69693-4B73-3F4B-BE08-27CE2957F7EB}" type="datetime1">
              <a:rPr lang="en-US" smtClean="0"/>
              <a:pPr/>
              <a:t>9/25/12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Go to ”Insert (View) | Header and Footer" to add your organization, sponsor, meeting name here; then, click "Apply to All"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A7F71-A600-874B-8C52-75C3F91F2D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0183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Go to ”Insert (View) | Header and Footer" to add your organization, sponsor, meeting name here; then, click "Apply to All"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B1A7F71-A600-874B-8C52-75C3F91F2DFD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85838" y="1671638"/>
            <a:ext cx="7696200" cy="1069975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85838" y="312578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3080" name="Picture 7" descr="doe_black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54963" y="6456363"/>
            <a:ext cx="960437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4" descr="title header_gray_417.jp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110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6" descr="title footer_gray_417.jpg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6775450"/>
            <a:ext cx="9144000" cy="8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776FAB-9D46-DA44-8A78-79BABC714656}" type="datetime1">
              <a:rPr lang="en-US" smtClean="0"/>
              <a:t>9/25/12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034D8C-3CB4-402A-BC46-2AB14C0FE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3000" b="1" cap="none" baseline="0"/>
            </a:lvl1pPr>
          </a:lstStyle>
          <a:p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25E3C6B-5188-114E-86D7-4364B010C289}" type="datetime1">
              <a:rPr lang="en-US" smtClean="0"/>
              <a:t>9/25/12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034D8C-3CB4-402A-BC46-2AB14C0FE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 u="none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2B4F092-7AFC-6544-933E-FD10591822A4}" type="datetime1">
              <a:rPr lang="en-US" smtClean="0"/>
              <a:t>9/25/12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034D8C-3CB4-402A-BC46-2AB14C0FE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34FDA23-5A8E-7645-BA79-487B42401DD3}" type="datetime1">
              <a:rPr lang="en-US" smtClean="0"/>
              <a:t>9/25/12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034D8C-3CB4-402A-BC46-2AB14C0FE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CD9172-4EE8-FD43-8F06-305139E0162D}" type="datetime1">
              <a:rPr lang="en-US" smtClean="0"/>
              <a:t>9/25/12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034D8C-3CB4-402A-BC46-2AB14C0FE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40DA6A3-5805-7B4F-ABC3-61716B19445F}" type="datetime1">
              <a:rPr lang="en-US" smtClean="0"/>
              <a:t>9/25/12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034D8C-3CB4-402A-BC46-2AB14C0FE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479550"/>
          </a:xfrm>
        </p:spPr>
        <p:txBody>
          <a:bodyPr anchor="t"/>
          <a:lstStyle>
            <a:lvl1pPr algn="l">
              <a:defRPr sz="26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52601"/>
            <a:ext cx="3008313" cy="4419599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BC78B9A-E433-2646-83D9-11BC389B4B75}" type="datetime1">
              <a:rPr lang="en-US" smtClean="0"/>
              <a:t>9/25/12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034D8C-3CB4-402A-BC46-2AB14C0FE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6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AC60A7C-6DA5-9247-88C5-CEE61D84D581}" type="datetime1">
              <a:rPr lang="en-US" smtClean="0"/>
              <a:t>9/25/12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034D8C-3CB4-402A-BC46-2AB14C0FE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145018-D09D-C549-B3E1-88BE2C5D4532}" type="datetime1">
              <a:rPr lang="en-US" smtClean="0"/>
              <a:t>9/25/12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034D8C-3CB4-402A-BC46-2AB14C0FE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 sz="2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5DAB3D-F4AA-EA45-837F-201469A6DC97}" type="datetime1">
              <a:rPr lang="en-US" smtClean="0"/>
              <a:t>9/25/12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034D8C-3CB4-402A-BC46-2AB14C0FE9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6" descr="slide footer_gray_417.jpg"/>
          <p:cNvPicPr>
            <a:picLocks noChangeAspect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6318250"/>
            <a:ext cx="914400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10400" y="6572250"/>
            <a:ext cx="1371600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fld id="{C9D93B5C-1695-FB46-ADBE-2F239D887CC5}" type="datetime1">
              <a:rPr lang="en-US" smtClean="0"/>
              <a:t>9/25/12</a:t>
            </a:fld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57225" y="6307138"/>
            <a:ext cx="59420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/>
            </a:lvl1pPr>
          </a:lstStyle>
          <a:p>
            <a:r>
              <a:rPr lang="en-US" smtClean="0"/>
              <a:t>NOBUGS 2012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89700"/>
            <a:ext cx="38417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/>
            </a:lvl1pPr>
          </a:lstStyle>
          <a:p>
            <a:fld id="{87034D8C-3CB4-402A-BC46-2AB14C0FE9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Picture 4" descr="slide header_gray_417.jpg"/>
          <p:cNvPicPr>
            <a:picLocks noChangeAspect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0" y="0"/>
            <a:ext cx="9144000" cy="14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40404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rebuchet MS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rebuchet MS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rebuchet MS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rebuchet MS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Trebuchet MS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1F497D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1F497D"/>
        </a:buClr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1F497D"/>
        </a:buClr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1F497D"/>
        </a:buClr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1F497D"/>
        </a:buClr>
        <a:buFont typeface="Arial" charset="0"/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1F497D"/>
        </a:buClr>
        <a:buFont typeface="Arial" charset="0"/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1F497D"/>
        </a:buClr>
        <a:buFont typeface="Arial" charset="0"/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1F497D"/>
        </a:buClr>
        <a:buFont typeface="Arial" charset="0"/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1F497D"/>
        </a:buClr>
        <a:buFont typeface="Arial" charset="0"/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tif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A Workflow Pipeline for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Scientific </a:t>
            </a:r>
            <a:r>
              <a:rPr lang="en-US" sz="3600" dirty="0"/>
              <a:t>Data Analysis 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985838" y="4267200"/>
            <a:ext cx="7548562" cy="1371600"/>
          </a:xfrm>
        </p:spPr>
        <p:txBody>
          <a:bodyPr/>
          <a:lstStyle/>
          <a:p>
            <a:r>
              <a:rPr lang="en-US" dirty="0" smtClean="0"/>
              <a:t>Nicholas Schwarz			Software </a:t>
            </a:r>
            <a:r>
              <a:rPr lang="en-US" dirty="0"/>
              <a:t>Services </a:t>
            </a:r>
            <a:r>
              <a:rPr lang="en-US" dirty="0" smtClean="0"/>
              <a:t>Group</a:t>
            </a:r>
          </a:p>
          <a:p>
            <a:r>
              <a:rPr lang="en-US" dirty="0" smtClean="0"/>
              <a:t>Faisal Khan			Advanced </a:t>
            </a:r>
            <a:r>
              <a:rPr lang="en-US" dirty="0"/>
              <a:t>Engineering Support </a:t>
            </a:r>
            <a:r>
              <a:rPr lang="en-US" dirty="0" smtClean="0"/>
              <a:t>Division</a:t>
            </a:r>
          </a:p>
          <a:p>
            <a:r>
              <a:rPr lang="en-US" dirty="0" smtClean="0"/>
              <a:t>John Hammonds			Advanced </a:t>
            </a:r>
            <a:r>
              <a:rPr lang="en-US" dirty="0"/>
              <a:t>Photon </a:t>
            </a:r>
            <a:r>
              <a:rPr lang="en-US" dirty="0" smtClean="0"/>
              <a:t>Source</a:t>
            </a:r>
          </a:p>
          <a:p>
            <a:r>
              <a:rPr lang="en-US" dirty="0" smtClean="0"/>
              <a:t>Claude Saunders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953000" cy="4525963"/>
          </a:xfrm>
        </p:spPr>
        <p:txBody>
          <a:bodyPr/>
          <a:lstStyle/>
          <a:p>
            <a:r>
              <a:rPr lang="en-US" sz="2400" dirty="0" smtClean="0"/>
              <a:t>Facilities and </a:t>
            </a:r>
            <a:r>
              <a:rPr lang="en-US" sz="2400" dirty="0" err="1" smtClean="0"/>
              <a:t>beamline</a:t>
            </a:r>
            <a:r>
              <a:rPr lang="en-US" sz="2400" dirty="0" smtClean="0"/>
              <a:t> scientists are faced with an avalanche of data</a:t>
            </a:r>
          </a:p>
          <a:p>
            <a:r>
              <a:rPr lang="en-US" sz="2400" dirty="0"/>
              <a:t>S</a:t>
            </a:r>
            <a:r>
              <a:rPr lang="en-US" sz="2400" dirty="0" smtClean="0"/>
              <a:t>ources</a:t>
            </a:r>
          </a:p>
          <a:p>
            <a:pPr lvl="1"/>
            <a:r>
              <a:rPr lang="en-US" sz="1900" dirty="0" smtClean="0"/>
              <a:t>Increased detector resolution and speed</a:t>
            </a:r>
          </a:p>
          <a:p>
            <a:pPr lvl="1"/>
            <a:r>
              <a:rPr lang="en-US" sz="1900" dirty="0" smtClean="0"/>
              <a:t>Production and high-throughput </a:t>
            </a:r>
            <a:r>
              <a:rPr lang="en-US" sz="1900" dirty="0" err="1" smtClean="0"/>
              <a:t>beamlines</a:t>
            </a:r>
            <a:endParaRPr lang="en-US" sz="1900" dirty="0" smtClean="0"/>
          </a:p>
          <a:p>
            <a:pPr lvl="1"/>
            <a:r>
              <a:rPr lang="en-US" sz="1900" dirty="0"/>
              <a:t>Automated software, </a:t>
            </a:r>
            <a:r>
              <a:rPr lang="en-US" sz="1900" dirty="0" smtClean="0"/>
              <a:t>sample changers, </a:t>
            </a:r>
            <a:r>
              <a:rPr lang="en-US" sz="1900" dirty="0"/>
              <a:t>etc</a:t>
            </a:r>
            <a:r>
              <a:rPr lang="en-US" sz="1900" dirty="0" smtClean="0"/>
              <a:t>.</a:t>
            </a:r>
          </a:p>
          <a:p>
            <a:pPr lvl="1"/>
            <a:r>
              <a:rPr lang="en-US" sz="1900" dirty="0" smtClean="0"/>
              <a:t>Prompt feedback</a:t>
            </a:r>
          </a:p>
          <a:p>
            <a:r>
              <a:rPr lang="en-US" sz="2400" dirty="0" smtClean="0"/>
              <a:t>The ability to easily and robustly handle this increase in data is key to scientific discovery and insight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4D8C-3CB4-402A-BC46-2AB14C0FE90A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9" name="Picture 8" descr="IMG_0531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6" r="28461"/>
          <a:stretch/>
        </p:blipFill>
        <p:spPr>
          <a:xfrm>
            <a:off x="5434584" y="1752600"/>
            <a:ext cx="3099816" cy="4114800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95600"/>
            <a:ext cx="8229600" cy="3230563"/>
          </a:xfrm>
        </p:spPr>
        <p:txBody>
          <a:bodyPr/>
          <a:lstStyle/>
          <a:p>
            <a:r>
              <a:rPr lang="en-US" sz="2400" dirty="0"/>
              <a:t>W</a:t>
            </a:r>
            <a:r>
              <a:rPr lang="en-US" sz="2400" dirty="0" smtClean="0"/>
              <a:t>orkflow </a:t>
            </a:r>
            <a:r>
              <a:rPr lang="en-US" sz="2400" dirty="0"/>
              <a:t>pipeline for scientific data </a:t>
            </a:r>
            <a:r>
              <a:rPr lang="en-US" sz="2400" dirty="0" smtClean="0"/>
              <a:t>analysis</a:t>
            </a:r>
          </a:p>
          <a:p>
            <a:r>
              <a:rPr lang="en-US" sz="2400" dirty="0" smtClean="0"/>
              <a:t>Industry </a:t>
            </a:r>
            <a:r>
              <a:rPr lang="en-US" sz="2400" dirty="0"/>
              <a:t>standard messaging system for reliable task sequencing and </a:t>
            </a:r>
            <a:r>
              <a:rPr lang="en-US" sz="2400" dirty="0" smtClean="0"/>
              <a:t>triggering</a:t>
            </a:r>
            <a:r>
              <a:rPr lang="en-US" sz="2400" dirty="0"/>
              <a:t> </a:t>
            </a:r>
            <a:r>
              <a:rPr lang="en-US" sz="2400" dirty="0" smtClean="0"/>
              <a:t>(JMS </a:t>
            </a:r>
            <a:r>
              <a:rPr lang="en-US" sz="2400" dirty="0" err="1" smtClean="0"/>
              <a:t>ActiveMQ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Generic </a:t>
            </a:r>
            <a:r>
              <a:rPr lang="en-US" sz="2400" dirty="0"/>
              <a:t>actors handle common tasks such as file </a:t>
            </a:r>
            <a:r>
              <a:rPr lang="en-US" sz="2400" dirty="0" smtClean="0"/>
              <a:t>transfers</a:t>
            </a:r>
          </a:p>
          <a:p>
            <a:r>
              <a:rPr lang="en-US" sz="2400" dirty="0" smtClean="0"/>
              <a:t>Technique</a:t>
            </a:r>
            <a:r>
              <a:rPr lang="en-US" sz="2400" dirty="0"/>
              <a:t>-specific analysis code is implemented or called from custom actors </a:t>
            </a:r>
            <a:r>
              <a:rPr lang="en-US" sz="2400" dirty="0" smtClean="0"/>
              <a:t>(Java</a:t>
            </a:r>
            <a:r>
              <a:rPr lang="en-US" sz="2400" dirty="0"/>
              <a:t>, C++ or </a:t>
            </a:r>
            <a:r>
              <a:rPr lang="en-US" sz="2400" dirty="0" smtClean="0"/>
              <a:t>Python)</a:t>
            </a:r>
          </a:p>
          <a:p>
            <a:r>
              <a:rPr lang="en-US" sz="2400" dirty="0"/>
              <a:t>Experimental metadata and provenance information stored with raw and analyzed data in a single HDF5 </a:t>
            </a:r>
            <a:r>
              <a:rPr lang="en-US" sz="2400" dirty="0" smtClean="0"/>
              <a:t>file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NOBUGS 2012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4D8C-3CB4-402A-BC46-2AB14C0FE90A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609600" y="1828800"/>
            <a:ext cx="7772400" cy="762000"/>
            <a:chOff x="609600" y="1828800"/>
            <a:chExt cx="7772400" cy="762000"/>
          </a:xfrm>
        </p:grpSpPr>
        <p:sp>
          <p:nvSpPr>
            <p:cNvPr id="7" name="Rounded Rectangle 6"/>
            <p:cNvSpPr/>
            <p:nvPr/>
          </p:nvSpPr>
          <p:spPr bwMode="auto">
            <a:xfrm>
              <a:off x="609600" y="1828800"/>
              <a:ext cx="1371600" cy="76200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 smtClean="0">
                  <a:solidFill>
                    <a:schemeClr val="tx1"/>
                  </a:solidFill>
                  <a:latin typeface="Calibri" pitchFamily="34" charset="0"/>
                </a:rPr>
                <a:t>stage / 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actor</a:t>
              </a:r>
            </a:p>
          </p:txBody>
        </p:sp>
        <p:sp>
          <p:nvSpPr>
            <p:cNvPr id="8" name="Rounded Rectangle 7"/>
            <p:cNvSpPr/>
            <p:nvPr/>
          </p:nvSpPr>
          <p:spPr bwMode="auto">
            <a:xfrm>
              <a:off x="3810000" y="1828800"/>
              <a:ext cx="1371600" cy="76200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 smtClean="0">
                  <a:solidFill>
                    <a:schemeClr val="tx1"/>
                  </a:solidFill>
                  <a:latin typeface="Calibri" pitchFamily="34" charset="0"/>
                </a:rPr>
                <a:t>stage / 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 smtClean="0">
                  <a:solidFill>
                    <a:schemeClr val="tx1"/>
                  </a:solidFill>
                  <a:latin typeface="Calibri" pitchFamily="34" charset="0"/>
                </a:rPr>
                <a:t>a</a:t>
              </a: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ctor</a:t>
              </a:r>
            </a:p>
          </p:txBody>
        </p:sp>
        <p:sp>
          <p:nvSpPr>
            <p:cNvPr id="9" name="Rounded Rectangle 8"/>
            <p:cNvSpPr/>
            <p:nvPr/>
          </p:nvSpPr>
          <p:spPr bwMode="auto">
            <a:xfrm>
              <a:off x="7010400" y="1828800"/>
              <a:ext cx="1371600" cy="76200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tx1"/>
                  </a:solidFill>
                  <a:latin typeface="Calibri" pitchFamily="34" charset="0"/>
                </a:rPr>
                <a:t>s</a:t>
              </a:r>
              <a:r>
                <a:rPr lang="en-US" dirty="0" smtClean="0">
                  <a:solidFill>
                    <a:schemeClr val="tx1"/>
                  </a:solidFill>
                  <a:latin typeface="Calibri" pitchFamily="34" charset="0"/>
                </a:rPr>
                <a:t>tage / 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 smtClean="0">
                  <a:solidFill>
                    <a:schemeClr val="tx1"/>
                  </a:solidFill>
                  <a:latin typeface="Calibri" pitchFamily="34" charset="0"/>
                </a:rPr>
                <a:t>a</a:t>
              </a: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ctor</a:t>
              </a: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5410200" y="1828800"/>
              <a:ext cx="1371600" cy="762000"/>
              <a:chOff x="3124200" y="3505200"/>
              <a:chExt cx="1371600" cy="762000"/>
            </a:xfrm>
          </p:grpSpPr>
          <p:sp>
            <p:nvSpPr>
              <p:cNvPr id="23" name="Rounded Rectangle 22"/>
              <p:cNvSpPr/>
              <p:nvPr/>
            </p:nvSpPr>
            <p:spPr bwMode="auto">
              <a:xfrm>
                <a:off x="3124200" y="3505200"/>
                <a:ext cx="1371600" cy="762000"/>
              </a:xfrm>
              <a:prstGeom prst="roundRect">
                <a:avLst/>
              </a:prstGeom>
              <a:solidFill>
                <a:schemeClr val="bg2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</a:rPr>
                  <a:t>q</a:t>
                </a:r>
                <a:r>
                  <a:rPr lang="en-US" dirty="0" smtClean="0">
                    <a:solidFill>
                      <a:schemeClr val="tx1"/>
                    </a:solidFill>
                    <a:latin typeface="Calibri" pitchFamily="34" charset="0"/>
                  </a:rPr>
                  <a:t>ueue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endParaRPr>
              </a:p>
            </p:txBody>
          </p:sp>
          <p:grpSp>
            <p:nvGrpSpPr>
              <p:cNvPr id="24" name="Group 23"/>
              <p:cNvGrpSpPr/>
              <p:nvPr/>
            </p:nvGrpSpPr>
            <p:grpSpPr>
              <a:xfrm>
                <a:off x="3200400" y="3886200"/>
                <a:ext cx="1219200" cy="306388"/>
                <a:chOff x="3276600" y="1981200"/>
                <a:chExt cx="1219200" cy="306388"/>
              </a:xfrm>
            </p:grpSpPr>
            <p:cxnSp>
              <p:nvCxnSpPr>
                <p:cNvPr id="25" name="Straight Connector 24"/>
                <p:cNvCxnSpPr/>
                <p:nvPr/>
              </p:nvCxnSpPr>
              <p:spPr bwMode="auto">
                <a:xfrm>
                  <a:off x="3276600" y="19812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6" name="Straight Connector 25"/>
                <p:cNvCxnSpPr/>
                <p:nvPr/>
              </p:nvCxnSpPr>
              <p:spPr bwMode="auto">
                <a:xfrm>
                  <a:off x="3276600" y="22860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7" name="Rectangle 26"/>
                <p:cNvSpPr/>
                <p:nvPr/>
              </p:nvSpPr>
              <p:spPr bwMode="auto">
                <a:xfrm>
                  <a:off x="35052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8" name="Rectangle 27"/>
                <p:cNvSpPr/>
                <p:nvPr/>
              </p:nvSpPr>
              <p:spPr bwMode="auto">
                <a:xfrm>
                  <a:off x="37338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9" name="Rectangle 28"/>
                <p:cNvSpPr/>
                <p:nvPr/>
              </p:nvSpPr>
              <p:spPr bwMode="auto">
                <a:xfrm>
                  <a:off x="39624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</p:grpSp>
        </p:grpSp>
        <p:grpSp>
          <p:nvGrpSpPr>
            <p:cNvPr id="11" name="Group 10"/>
            <p:cNvGrpSpPr/>
            <p:nvPr/>
          </p:nvGrpSpPr>
          <p:grpSpPr>
            <a:xfrm>
              <a:off x="2209800" y="1828800"/>
              <a:ext cx="1371600" cy="762000"/>
              <a:chOff x="3124200" y="3505200"/>
              <a:chExt cx="1371600" cy="762000"/>
            </a:xfrm>
          </p:grpSpPr>
          <p:sp>
            <p:nvSpPr>
              <p:cNvPr id="16" name="Rounded Rectangle 15"/>
              <p:cNvSpPr/>
              <p:nvPr/>
            </p:nvSpPr>
            <p:spPr bwMode="auto">
              <a:xfrm>
                <a:off x="3124200" y="3505200"/>
                <a:ext cx="1371600" cy="762000"/>
              </a:xfrm>
              <a:prstGeom prst="roundRect">
                <a:avLst/>
              </a:prstGeom>
              <a:solidFill>
                <a:schemeClr val="bg2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</a:rPr>
                  <a:t>q</a:t>
                </a:r>
                <a:r>
                  <a:rPr lang="en-US" dirty="0" smtClean="0">
                    <a:solidFill>
                      <a:schemeClr val="tx1"/>
                    </a:solidFill>
                    <a:latin typeface="Calibri" pitchFamily="34" charset="0"/>
                  </a:rPr>
                  <a:t>ueue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endParaRPr>
              </a:p>
            </p:txBody>
          </p:sp>
          <p:grpSp>
            <p:nvGrpSpPr>
              <p:cNvPr id="17" name="Group 16"/>
              <p:cNvGrpSpPr/>
              <p:nvPr/>
            </p:nvGrpSpPr>
            <p:grpSpPr>
              <a:xfrm>
                <a:off x="3200400" y="3886200"/>
                <a:ext cx="1219200" cy="306388"/>
                <a:chOff x="3276600" y="1981200"/>
                <a:chExt cx="1219200" cy="306388"/>
              </a:xfrm>
            </p:grpSpPr>
            <p:cxnSp>
              <p:nvCxnSpPr>
                <p:cNvPr id="18" name="Straight Connector 17"/>
                <p:cNvCxnSpPr/>
                <p:nvPr/>
              </p:nvCxnSpPr>
              <p:spPr bwMode="auto">
                <a:xfrm>
                  <a:off x="3276600" y="19812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9" name="Straight Connector 18"/>
                <p:cNvCxnSpPr/>
                <p:nvPr/>
              </p:nvCxnSpPr>
              <p:spPr bwMode="auto">
                <a:xfrm>
                  <a:off x="3276600" y="22860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0" name="Rectangle 19"/>
                <p:cNvSpPr/>
                <p:nvPr/>
              </p:nvSpPr>
              <p:spPr bwMode="auto">
                <a:xfrm>
                  <a:off x="35052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1" name="Rectangle 20"/>
                <p:cNvSpPr/>
                <p:nvPr/>
              </p:nvSpPr>
              <p:spPr bwMode="auto">
                <a:xfrm>
                  <a:off x="37338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2" name="Rectangle 21"/>
                <p:cNvSpPr/>
                <p:nvPr/>
              </p:nvSpPr>
              <p:spPr bwMode="auto">
                <a:xfrm>
                  <a:off x="39624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</p:grpSp>
        </p:grpSp>
        <p:cxnSp>
          <p:nvCxnSpPr>
            <p:cNvPr id="12" name="Straight Arrow Connector 11"/>
            <p:cNvCxnSpPr/>
            <p:nvPr/>
          </p:nvCxnSpPr>
          <p:spPr bwMode="auto">
            <a:xfrm>
              <a:off x="1981200" y="2209800"/>
              <a:ext cx="228600" cy="0"/>
            </a:xfrm>
            <a:prstGeom prst="straightConnector1">
              <a:avLst/>
            </a:prstGeom>
            <a:ln w="12700">
              <a:solidFill>
                <a:srgbClr val="8000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 bwMode="auto">
            <a:xfrm>
              <a:off x="3581400" y="2209800"/>
              <a:ext cx="228600" cy="0"/>
            </a:xfrm>
            <a:prstGeom prst="straightConnector1">
              <a:avLst/>
            </a:prstGeom>
            <a:ln w="12700">
              <a:solidFill>
                <a:srgbClr val="8000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 bwMode="auto">
            <a:xfrm>
              <a:off x="5181600" y="2209800"/>
              <a:ext cx="228600" cy="0"/>
            </a:xfrm>
            <a:prstGeom prst="straightConnector1">
              <a:avLst/>
            </a:prstGeom>
            <a:ln w="12700">
              <a:solidFill>
                <a:srgbClr val="8000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 bwMode="auto">
            <a:xfrm>
              <a:off x="6781800" y="2209800"/>
              <a:ext cx="228600" cy="0"/>
            </a:xfrm>
            <a:prstGeom prst="straightConnector1">
              <a:avLst/>
            </a:prstGeom>
            <a:ln w="12700">
              <a:solidFill>
                <a:srgbClr val="800000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37167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Broker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334000" cy="4495800"/>
          </a:xfrm>
        </p:spPr>
        <p:txBody>
          <a:bodyPr/>
          <a:lstStyle/>
          <a:p>
            <a:r>
              <a:rPr lang="en-US" sz="2400" dirty="0" smtClean="0"/>
              <a:t>Queues exist on a message broker</a:t>
            </a:r>
          </a:p>
          <a:p>
            <a:r>
              <a:rPr lang="en-US" sz="2400" dirty="0" smtClean="0"/>
              <a:t>Broker runs on a server</a:t>
            </a:r>
          </a:p>
          <a:p>
            <a:r>
              <a:rPr lang="en-US" sz="2400" dirty="0"/>
              <a:t>Persistence</a:t>
            </a:r>
          </a:p>
          <a:p>
            <a:pPr lvl="1"/>
            <a:r>
              <a:rPr lang="en-US" sz="2200" dirty="0"/>
              <a:t> Queues and messages are saved to disk in case of </a:t>
            </a:r>
            <a:r>
              <a:rPr lang="en-US" sz="2200" dirty="0" smtClean="0"/>
              <a:t>failures</a:t>
            </a:r>
            <a:endParaRPr lang="en-US" sz="2400" dirty="0" smtClean="0"/>
          </a:p>
          <a:p>
            <a:r>
              <a:rPr lang="en-US" sz="2400" dirty="0" smtClean="0"/>
              <a:t>Redundancy</a:t>
            </a:r>
          </a:p>
          <a:p>
            <a:pPr lvl="1"/>
            <a:r>
              <a:rPr lang="en-US" sz="2200" dirty="0" smtClean="0"/>
              <a:t>Failover </a:t>
            </a:r>
            <a:r>
              <a:rPr lang="en-US" sz="2200" dirty="0"/>
              <a:t>m</a:t>
            </a:r>
            <a:r>
              <a:rPr lang="en-US" sz="2200" dirty="0" smtClean="0"/>
              <a:t>essage brokers run on a single server</a:t>
            </a:r>
          </a:p>
          <a:p>
            <a:pPr lvl="1"/>
            <a:r>
              <a:rPr lang="en-US" sz="2200" dirty="0" smtClean="0"/>
              <a:t>Multiple redundant servers</a:t>
            </a:r>
          </a:p>
          <a:p>
            <a:r>
              <a:rPr lang="en-US" sz="2400" dirty="0" smtClean="0"/>
              <a:t>Out-of-the-box functionality / industry-standard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4D8C-3CB4-402A-BC46-2AB14C0FE90A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145" name="Group 144"/>
          <p:cNvGrpSpPr/>
          <p:nvPr/>
        </p:nvGrpSpPr>
        <p:grpSpPr>
          <a:xfrm>
            <a:off x="5943600" y="1752600"/>
            <a:ext cx="2438400" cy="3886200"/>
            <a:chOff x="5943600" y="1752600"/>
            <a:chExt cx="2438400" cy="3886200"/>
          </a:xfrm>
        </p:grpSpPr>
        <p:grpSp>
          <p:nvGrpSpPr>
            <p:cNvPr id="79" name="Group 78"/>
            <p:cNvGrpSpPr/>
            <p:nvPr/>
          </p:nvGrpSpPr>
          <p:grpSpPr>
            <a:xfrm>
              <a:off x="5943600" y="1752600"/>
              <a:ext cx="2438400" cy="2819400"/>
              <a:chOff x="5867400" y="1295400"/>
              <a:chExt cx="2438400" cy="2819400"/>
            </a:xfrm>
          </p:grpSpPr>
          <p:sp>
            <p:nvSpPr>
              <p:cNvPr id="78" name="Rounded Rectangle 77"/>
              <p:cNvSpPr/>
              <p:nvPr/>
            </p:nvSpPr>
            <p:spPr bwMode="auto">
              <a:xfrm>
                <a:off x="6019800" y="1295400"/>
                <a:ext cx="2286000" cy="26670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server</a:t>
                </a:r>
              </a:p>
            </p:txBody>
          </p:sp>
          <p:sp>
            <p:nvSpPr>
              <p:cNvPr id="77" name="Rounded Rectangle 76"/>
              <p:cNvSpPr/>
              <p:nvPr/>
            </p:nvSpPr>
            <p:spPr bwMode="auto">
              <a:xfrm>
                <a:off x="5867400" y="1447800"/>
                <a:ext cx="2286000" cy="26670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server</a:t>
                </a:r>
              </a:p>
            </p:txBody>
          </p:sp>
          <p:grpSp>
            <p:nvGrpSpPr>
              <p:cNvPr id="76" name="Group 75"/>
              <p:cNvGrpSpPr/>
              <p:nvPr/>
            </p:nvGrpSpPr>
            <p:grpSpPr>
              <a:xfrm>
                <a:off x="6019800" y="2133600"/>
                <a:ext cx="1981200" cy="1828800"/>
                <a:chOff x="5867400" y="1905000"/>
                <a:chExt cx="1981200" cy="1828800"/>
              </a:xfrm>
            </p:grpSpPr>
            <p:grpSp>
              <p:nvGrpSpPr>
                <p:cNvPr id="48" name="Group 47"/>
                <p:cNvGrpSpPr/>
                <p:nvPr/>
              </p:nvGrpSpPr>
              <p:grpSpPr>
                <a:xfrm>
                  <a:off x="6019800" y="1905000"/>
                  <a:ext cx="1828800" cy="1676400"/>
                  <a:chOff x="6019800" y="1905000"/>
                  <a:chExt cx="1828800" cy="1676400"/>
                </a:xfrm>
              </p:grpSpPr>
              <p:sp>
                <p:nvSpPr>
                  <p:cNvPr id="46" name="Rounded Rectangle 45"/>
                  <p:cNvSpPr/>
                  <p:nvPr/>
                </p:nvSpPr>
                <p:spPr bwMode="auto">
                  <a:xfrm>
                    <a:off x="6019800" y="1905000"/>
                    <a:ext cx="1828800" cy="1676400"/>
                  </a:xfrm>
                  <a:prstGeom prst="roundRect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rPr>
                      <a:t>broker</a:t>
                    </a:r>
                  </a:p>
                </p:txBody>
              </p:sp>
              <p:grpSp>
                <p:nvGrpSpPr>
                  <p:cNvPr id="47" name="Group 46"/>
                  <p:cNvGrpSpPr/>
                  <p:nvPr/>
                </p:nvGrpSpPr>
                <p:grpSpPr>
                  <a:xfrm>
                    <a:off x="6172200" y="2514600"/>
                    <a:ext cx="1524000" cy="914400"/>
                    <a:chOff x="6172200" y="3733800"/>
                    <a:chExt cx="1524000" cy="914400"/>
                  </a:xfrm>
                </p:grpSpPr>
                <p:grpSp>
                  <p:nvGrpSpPr>
                    <p:cNvPr id="38" name="Group 37"/>
                    <p:cNvGrpSpPr/>
                    <p:nvPr/>
                  </p:nvGrpSpPr>
                  <p:grpSpPr>
                    <a:xfrm>
                      <a:off x="6324600" y="3733800"/>
                      <a:ext cx="1371600" cy="762000"/>
                      <a:chOff x="3124200" y="3505200"/>
                      <a:chExt cx="1371600" cy="762000"/>
                    </a:xfrm>
                  </p:grpSpPr>
                  <p:sp>
                    <p:nvSpPr>
                      <p:cNvPr id="39" name="Rounded Rectangle 38"/>
                      <p:cNvSpPr/>
                      <p:nvPr/>
                    </p:nvSpPr>
                    <p:spPr bwMode="auto">
                      <a:xfrm>
                        <a:off x="3124200" y="3505200"/>
                        <a:ext cx="1371600" cy="762000"/>
                      </a:xfrm>
                      <a:prstGeom prst="roundRect">
                        <a:avLst/>
                      </a:prstGeom>
                      <a:solidFill>
                        <a:schemeClr val="bg2"/>
                      </a:solidFill>
                      <a:ln>
                        <a:headEnd type="none" w="med" len="med"/>
                        <a:tailEnd type="none" w="med" len="med"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vert="horz" wrap="square" lIns="91440" tIns="45720" rIns="91440" bIns="45720" numCol="1" rtlCol="0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lang="en-US" dirty="0">
                            <a:solidFill>
                              <a:schemeClr val="tx1"/>
                            </a:solidFill>
                            <a:latin typeface="Calibri" pitchFamily="34" charset="0"/>
                          </a:rPr>
                          <a:t>q</a:t>
                        </a:r>
                        <a:r>
                          <a:rPr lang="en-US" dirty="0" smtClean="0">
                            <a:solidFill>
                              <a:schemeClr val="tx1"/>
                            </a:solidFill>
                            <a:latin typeface="Calibri" pitchFamily="34" charset="0"/>
                          </a:rPr>
                          <a:t>ueue</a:t>
                        </a:r>
                        <a:endPara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endParaRPr>
                      </a:p>
                    </p:txBody>
                  </p:sp>
                  <p:grpSp>
                    <p:nvGrpSpPr>
                      <p:cNvPr id="40" name="Group 39"/>
                      <p:cNvGrpSpPr/>
                      <p:nvPr/>
                    </p:nvGrpSpPr>
                    <p:grpSpPr>
                      <a:xfrm>
                        <a:off x="3200400" y="3886200"/>
                        <a:ext cx="1219200" cy="306388"/>
                        <a:chOff x="3276600" y="1981200"/>
                        <a:chExt cx="1219200" cy="306388"/>
                      </a:xfrm>
                    </p:grpSpPr>
                    <p:cxnSp>
                      <p:nvCxnSpPr>
                        <p:cNvPr id="41" name="Straight Connector 40"/>
                        <p:cNvCxnSpPr/>
                        <p:nvPr/>
                      </p:nvCxnSpPr>
                      <p:spPr bwMode="auto">
                        <a:xfrm>
                          <a:off x="3276600" y="1981200"/>
                          <a:ext cx="1219200" cy="1588"/>
                        </a:xfrm>
                        <a:prstGeom prst="line">
                          <a:avLst/>
                        </a:prstGeom>
                        <a:noFill/>
                        <a:ln w="9525" cap="flat" cmpd="sng" algn="ctr">
                          <a:solidFill>
                            <a:srgbClr val="102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</p:spPr>
                    </p:cxnSp>
                    <p:cxnSp>
                      <p:nvCxnSpPr>
                        <p:cNvPr id="42" name="Straight Connector 41"/>
                        <p:cNvCxnSpPr/>
                        <p:nvPr/>
                      </p:nvCxnSpPr>
                      <p:spPr bwMode="auto">
                        <a:xfrm>
                          <a:off x="3276600" y="2286000"/>
                          <a:ext cx="1219200" cy="1588"/>
                        </a:xfrm>
                        <a:prstGeom prst="line">
                          <a:avLst/>
                        </a:prstGeom>
                        <a:noFill/>
                        <a:ln w="9525" cap="flat" cmpd="sng" algn="ctr">
                          <a:solidFill>
                            <a:srgbClr val="102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</p:spPr>
                    </p:cxnSp>
                    <p:sp>
                      <p:nvSpPr>
                        <p:cNvPr id="43" name="Rectangle 42"/>
                        <p:cNvSpPr/>
                        <p:nvPr/>
                      </p:nvSpPr>
                      <p:spPr bwMode="auto">
                        <a:xfrm>
                          <a:off x="3505200" y="1981200"/>
                          <a:ext cx="228600" cy="304800"/>
                        </a:xfrm>
                        <a:prstGeom prst="rect">
                          <a:avLst/>
                        </a:prstGeom>
                        <a:ln>
                          <a:headEnd type="none" w="med" len="med"/>
                          <a:tailEnd type="none" w="med" len="med"/>
                        </a:ln>
                      </p:spPr>
                      <p:style>
                        <a:lnRef idx="1">
                          <a:schemeClr val="accent2"/>
                        </a:lnRef>
                        <a:fillRef idx="2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dk1"/>
                        </a:fontRef>
                      </p:style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itchFamily="34" charset="0"/>
                          </a:endParaRPr>
                        </a:p>
                      </p:txBody>
                    </p:sp>
                    <p:sp>
                      <p:nvSpPr>
                        <p:cNvPr id="44" name="Rectangle 43"/>
                        <p:cNvSpPr/>
                        <p:nvPr/>
                      </p:nvSpPr>
                      <p:spPr bwMode="auto">
                        <a:xfrm>
                          <a:off x="3733800" y="1981200"/>
                          <a:ext cx="228600" cy="304800"/>
                        </a:xfrm>
                        <a:prstGeom prst="rect">
                          <a:avLst/>
                        </a:prstGeom>
                        <a:ln>
                          <a:headEnd type="none" w="med" len="med"/>
                          <a:tailEnd type="none" w="med" len="med"/>
                        </a:ln>
                      </p:spPr>
                      <p:style>
                        <a:lnRef idx="1">
                          <a:schemeClr val="accent2"/>
                        </a:lnRef>
                        <a:fillRef idx="2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dk1"/>
                        </a:fontRef>
                      </p:style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itchFamily="34" charset="0"/>
                          </a:endParaRPr>
                        </a:p>
                      </p:txBody>
                    </p:sp>
                    <p:sp>
                      <p:nvSpPr>
                        <p:cNvPr id="45" name="Rectangle 44"/>
                        <p:cNvSpPr/>
                        <p:nvPr/>
                      </p:nvSpPr>
                      <p:spPr bwMode="auto">
                        <a:xfrm>
                          <a:off x="3962400" y="1981200"/>
                          <a:ext cx="228600" cy="304800"/>
                        </a:xfrm>
                        <a:prstGeom prst="rect">
                          <a:avLst/>
                        </a:prstGeom>
                        <a:ln>
                          <a:headEnd type="none" w="med" len="med"/>
                          <a:tailEnd type="none" w="med" len="med"/>
                        </a:ln>
                      </p:spPr>
                      <p:style>
                        <a:lnRef idx="1">
                          <a:schemeClr val="accent2"/>
                        </a:lnRef>
                        <a:fillRef idx="2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dk1"/>
                        </a:fontRef>
                      </p:style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itchFamily="34" charset="0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10" name="Group 9"/>
                    <p:cNvGrpSpPr/>
                    <p:nvPr/>
                  </p:nvGrpSpPr>
                  <p:grpSpPr>
                    <a:xfrm>
                      <a:off x="6248400" y="3810000"/>
                      <a:ext cx="1371600" cy="762000"/>
                      <a:chOff x="3124200" y="3505200"/>
                      <a:chExt cx="1371600" cy="762000"/>
                    </a:xfrm>
                  </p:grpSpPr>
                  <p:sp>
                    <p:nvSpPr>
                      <p:cNvPr id="23" name="Rounded Rectangle 22"/>
                      <p:cNvSpPr/>
                      <p:nvPr/>
                    </p:nvSpPr>
                    <p:spPr bwMode="auto">
                      <a:xfrm>
                        <a:off x="3124200" y="3505200"/>
                        <a:ext cx="1371600" cy="762000"/>
                      </a:xfrm>
                      <a:prstGeom prst="roundRect">
                        <a:avLst/>
                      </a:prstGeom>
                      <a:solidFill>
                        <a:schemeClr val="bg2"/>
                      </a:solidFill>
                      <a:ln>
                        <a:headEnd type="none" w="med" len="med"/>
                        <a:tailEnd type="none" w="med" len="med"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vert="horz" wrap="square" lIns="91440" tIns="45720" rIns="91440" bIns="45720" numCol="1" rtlCol="0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lang="en-US" dirty="0">
                            <a:solidFill>
                              <a:schemeClr val="tx1"/>
                            </a:solidFill>
                            <a:latin typeface="Calibri" pitchFamily="34" charset="0"/>
                          </a:rPr>
                          <a:t>q</a:t>
                        </a:r>
                        <a:r>
                          <a:rPr lang="en-US" dirty="0" smtClean="0">
                            <a:solidFill>
                              <a:schemeClr val="tx1"/>
                            </a:solidFill>
                            <a:latin typeface="Calibri" pitchFamily="34" charset="0"/>
                          </a:rPr>
                          <a:t>ueue</a:t>
                        </a:r>
                        <a:endPara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endParaRPr>
                      </a:p>
                    </p:txBody>
                  </p:sp>
                  <p:grpSp>
                    <p:nvGrpSpPr>
                      <p:cNvPr id="24" name="Group 23"/>
                      <p:cNvGrpSpPr/>
                      <p:nvPr/>
                    </p:nvGrpSpPr>
                    <p:grpSpPr>
                      <a:xfrm>
                        <a:off x="3200400" y="3886200"/>
                        <a:ext cx="1219200" cy="306388"/>
                        <a:chOff x="3276600" y="1981200"/>
                        <a:chExt cx="1219200" cy="306388"/>
                      </a:xfrm>
                    </p:grpSpPr>
                    <p:cxnSp>
                      <p:nvCxnSpPr>
                        <p:cNvPr id="25" name="Straight Connector 24"/>
                        <p:cNvCxnSpPr/>
                        <p:nvPr/>
                      </p:nvCxnSpPr>
                      <p:spPr bwMode="auto">
                        <a:xfrm>
                          <a:off x="3276600" y="1981200"/>
                          <a:ext cx="1219200" cy="1588"/>
                        </a:xfrm>
                        <a:prstGeom prst="line">
                          <a:avLst/>
                        </a:prstGeom>
                        <a:noFill/>
                        <a:ln w="9525" cap="flat" cmpd="sng" algn="ctr">
                          <a:solidFill>
                            <a:srgbClr val="102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</p:spPr>
                    </p:cxnSp>
                    <p:cxnSp>
                      <p:nvCxnSpPr>
                        <p:cNvPr id="26" name="Straight Connector 25"/>
                        <p:cNvCxnSpPr/>
                        <p:nvPr/>
                      </p:nvCxnSpPr>
                      <p:spPr bwMode="auto">
                        <a:xfrm>
                          <a:off x="3276600" y="2286000"/>
                          <a:ext cx="1219200" cy="1588"/>
                        </a:xfrm>
                        <a:prstGeom prst="line">
                          <a:avLst/>
                        </a:prstGeom>
                        <a:noFill/>
                        <a:ln w="9525" cap="flat" cmpd="sng" algn="ctr">
                          <a:solidFill>
                            <a:srgbClr val="102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</p:spPr>
                    </p:cxnSp>
                    <p:sp>
                      <p:nvSpPr>
                        <p:cNvPr id="27" name="Rectangle 26"/>
                        <p:cNvSpPr/>
                        <p:nvPr/>
                      </p:nvSpPr>
                      <p:spPr bwMode="auto">
                        <a:xfrm>
                          <a:off x="3505200" y="1981200"/>
                          <a:ext cx="228600" cy="304800"/>
                        </a:xfrm>
                        <a:prstGeom prst="rect">
                          <a:avLst/>
                        </a:prstGeom>
                        <a:ln>
                          <a:headEnd type="none" w="med" len="med"/>
                          <a:tailEnd type="none" w="med" len="med"/>
                        </a:ln>
                      </p:spPr>
                      <p:style>
                        <a:lnRef idx="1">
                          <a:schemeClr val="accent2"/>
                        </a:lnRef>
                        <a:fillRef idx="2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dk1"/>
                        </a:fontRef>
                      </p:style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itchFamily="34" charset="0"/>
                          </a:endParaRPr>
                        </a:p>
                      </p:txBody>
                    </p:sp>
                    <p:sp>
                      <p:nvSpPr>
                        <p:cNvPr id="28" name="Rectangle 27"/>
                        <p:cNvSpPr/>
                        <p:nvPr/>
                      </p:nvSpPr>
                      <p:spPr bwMode="auto">
                        <a:xfrm>
                          <a:off x="3733800" y="1981200"/>
                          <a:ext cx="228600" cy="304800"/>
                        </a:xfrm>
                        <a:prstGeom prst="rect">
                          <a:avLst/>
                        </a:prstGeom>
                        <a:ln>
                          <a:headEnd type="none" w="med" len="med"/>
                          <a:tailEnd type="none" w="med" len="med"/>
                        </a:ln>
                      </p:spPr>
                      <p:style>
                        <a:lnRef idx="1">
                          <a:schemeClr val="accent2"/>
                        </a:lnRef>
                        <a:fillRef idx="2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dk1"/>
                        </a:fontRef>
                      </p:style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itchFamily="34" charset="0"/>
                          </a:endParaRPr>
                        </a:p>
                      </p:txBody>
                    </p:sp>
                    <p:sp>
                      <p:nvSpPr>
                        <p:cNvPr id="29" name="Rectangle 28"/>
                        <p:cNvSpPr/>
                        <p:nvPr/>
                      </p:nvSpPr>
                      <p:spPr bwMode="auto">
                        <a:xfrm>
                          <a:off x="3962400" y="1981200"/>
                          <a:ext cx="228600" cy="304800"/>
                        </a:xfrm>
                        <a:prstGeom prst="rect">
                          <a:avLst/>
                        </a:prstGeom>
                        <a:ln>
                          <a:headEnd type="none" w="med" len="med"/>
                          <a:tailEnd type="none" w="med" len="med"/>
                        </a:ln>
                      </p:spPr>
                      <p:style>
                        <a:lnRef idx="1">
                          <a:schemeClr val="accent2"/>
                        </a:lnRef>
                        <a:fillRef idx="2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dk1"/>
                        </a:fontRef>
                      </p:style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itchFamily="34" charset="0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0" name="Group 29"/>
                    <p:cNvGrpSpPr/>
                    <p:nvPr/>
                  </p:nvGrpSpPr>
                  <p:grpSpPr>
                    <a:xfrm>
                      <a:off x="6172200" y="3886200"/>
                      <a:ext cx="1371600" cy="762000"/>
                      <a:chOff x="3124200" y="3505200"/>
                      <a:chExt cx="1371600" cy="762000"/>
                    </a:xfrm>
                  </p:grpSpPr>
                  <p:sp>
                    <p:nvSpPr>
                      <p:cNvPr id="31" name="Rounded Rectangle 30"/>
                      <p:cNvSpPr/>
                      <p:nvPr/>
                    </p:nvSpPr>
                    <p:spPr bwMode="auto">
                      <a:xfrm>
                        <a:off x="3124200" y="3505200"/>
                        <a:ext cx="1371600" cy="762000"/>
                      </a:xfrm>
                      <a:prstGeom prst="roundRect">
                        <a:avLst/>
                      </a:prstGeom>
                      <a:solidFill>
                        <a:schemeClr val="bg2"/>
                      </a:solidFill>
                      <a:ln>
                        <a:headEnd type="none" w="med" len="med"/>
                        <a:tailEnd type="none" w="med" len="med"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vert="horz" wrap="square" lIns="91440" tIns="45720" rIns="91440" bIns="45720" numCol="1" rtlCol="0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lang="en-US" dirty="0">
                            <a:solidFill>
                              <a:schemeClr val="tx1"/>
                            </a:solidFill>
                            <a:latin typeface="Calibri" pitchFamily="34" charset="0"/>
                          </a:rPr>
                          <a:t>q</a:t>
                        </a:r>
                        <a:r>
                          <a:rPr lang="en-US" dirty="0" smtClean="0">
                            <a:solidFill>
                              <a:schemeClr val="tx1"/>
                            </a:solidFill>
                            <a:latin typeface="Calibri" pitchFamily="34" charset="0"/>
                          </a:rPr>
                          <a:t>ueue</a:t>
                        </a:r>
                        <a:endPara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endParaRPr>
                      </a:p>
                    </p:txBody>
                  </p:sp>
                  <p:grpSp>
                    <p:nvGrpSpPr>
                      <p:cNvPr id="32" name="Group 31"/>
                      <p:cNvGrpSpPr/>
                      <p:nvPr/>
                    </p:nvGrpSpPr>
                    <p:grpSpPr>
                      <a:xfrm>
                        <a:off x="3200400" y="3886200"/>
                        <a:ext cx="1219200" cy="306388"/>
                        <a:chOff x="3276600" y="1981200"/>
                        <a:chExt cx="1219200" cy="306388"/>
                      </a:xfrm>
                    </p:grpSpPr>
                    <p:cxnSp>
                      <p:nvCxnSpPr>
                        <p:cNvPr id="33" name="Straight Connector 32"/>
                        <p:cNvCxnSpPr/>
                        <p:nvPr/>
                      </p:nvCxnSpPr>
                      <p:spPr bwMode="auto">
                        <a:xfrm>
                          <a:off x="3276600" y="1981200"/>
                          <a:ext cx="1219200" cy="1588"/>
                        </a:xfrm>
                        <a:prstGeom prst="line">
                          <a:avLst/>
                        </a:prstGeom>
                        <a:noFill/>
                        <a:ln w="9525" cap="flat" cmpd="sng" algn="ctr">
                          <a:solidFill>
                            <a:srgbClr val="102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</p:spPr>
                    </p:cxnSp>
                    <p:cxnSp>
                      <p:nvCxnSpPr>
                        <p:cNvPr id="34" name="Straight Connector 33"/>
                        <p:cNvCxnSpPr/>
                        <p:nvPr/>
                      </p:nvCxnSpPr>
                      <p:spPr bwMode="auto">
                        <a:xfrm>
                          <a:off x="3276600" y="2286000"/>
                          <a:ext cx="1219200" cy="1588"/>
                        </a:xfrm>
                        <a:prstGeom prst="line">
                          <a:avLst/>
                        </a:prstGeom>
                        <a:noFill/>
                        <a:ln w="9525" cap="flat" cmpd="sng" algn="ctr">
                          <a:solidFill>
                            <a:srgbClr val="102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</p:spPr>
                    </p:cxnSp>
                    <p:sp>
                      <p:nvSpPr>
                        <p:cNvPr id="35" name="Rectangle 34"/>
                        <p:cNvSpPr/>
                        <p:nvPr/>
                      </p:nvSpPr>
                      <p:spPr bwMode="auto">
                        <a:xfrm>
                          <a:off x="3505200" y="1981200"/>
                          <a:ext cx="228600" cy="304800"/>
                        </a:xfrm>
                        <a:prstGeom prst="rect">
                          <a:avLst/>
                        </a:prstGeom>
                        <a:ln>
                          <a:headEnd type="none" w="med" len="med"/>
                          <a:tailEnd type="none" w="med" len="med"/>
                        </a:ln>
                      </p:spPr>
                      <p:style>
                        <a:lnRef idx="1">
                          <a:schemeClr val="accent2"/>
                        </a:lnRef>
                        <a:fillRef idx="2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dk1"/>
                        </a:fontRef>
                      </p:style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itchFamily="34" charset="0"/>
                          </a:endParaRPr>
                        </a:p>
                      </p:txBody>
                    </p:sp>
                    <p:sp>
                      <p:nvSpPr>
                        <p:cNvPr id="36" name="Rectangle 35"/>
                        <p:cNvSpPr/>
                        <p:nvPr/>
                      </p:nvSpPr>
                      <p:spPr bwMode="auto">
                        <a:xfrm>
                          <a:off x="3733800" y="1981200"/>
                          <a:ext cx="228600" cy="304800"/>
                        </a:xfrm>
                        <a:prstGeom prst="rect">
                          <a:avLst/>
                        </a:prstGeom>
                        <a:ln>
                          <a:headEnd type="none" w="med" len="med"/>
                          <a:tailEnd type="none" w="med" len="med"/>
                        </a:ln>
                      </p:spPr>
                      <p:style>
                        <a:lnRef idx="1">
                          <a:schemeClr val="accent2"/>
                        </a:lnRef>
                        <a:fillRef idx="2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dk1"/>
                        </a:fontRef>
                      </p:style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itchFamily="34" charset="0"/>
                          </a:endParaRPr>
                        </a:p>
                      </p:txBody>
                    </p:sp>
                    <p:sp>
                      <p:nvSpPr>
                        <p:cNvPr id="37" name="Rectangle 36"/>
                        <p:cNvSpPr/>
                        <p:nvPr/>
                      </p:nvSpPr>
                      <p:spPr bwMode="auto">
                        <a:xfrm>
                          <a:off x="3962400" y="1981200"/>
                          <a:ext cx="228600" cy="304800"/>
                        </a:xfrm>
                        <a:prstGeom prst="rect">
                          <a:avLst/>
                        </a:prstGeom>
                        <a:ln>
                          <a:headEnd type="none" w="med" len="med"/>
                          <a:tailEnd type="none" w="med" len="med"/>
                        </a:ln>
                      </p:spPr>
                      <p:style>
                        <a:lnRef idx="1">
                          <a:schemeClr val="accent2"/>
                        </a:lnRef>
                        <a:fillRef idx="2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dk1"/>
                        </a:fontRef>
                      </p:style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itchFamily="34" charset="0"/>
                          </a:endParaRPr>
                        </a:p>
                      </p:txBody>
                    </p:sp>
                  </p:grpSp>
                </p:grpSp>
              </p:grpSp>
            </p:grpSp>
            <p:grpSp>
              <p:nvGrpSpPr>
                <p:cNvPr id="49" name="Group 48"/>
                <p:cNvGrpSpPr/>
                <p:nvPr/>
              </p:nvGrpSpPr>
              <p:grpSpPr>
                <a:xfrm>
                  <a:off x="5867400" y="2057400"/>
                  <a:ext cx="1828800" cy="1676400"/>
                  <a:chOff x="6019800" y="1905000"/>
                  <a:chExt cx="1828800" cy="1676400"/>
                </a:xfrm>
              </p:grpSpPr>
              <p:sp>
                <p:nvSpPr>
                  <p:cNvPr id="50" name="Rounded Rectangle 49"/>
                  <p:cNvSpPr/>
                  <p:nvPr/>
                </p:nvSpPr>
                <p:spPr bwMode="auto">
                  <a:xfrm>
                    <a:off x="6019800" y="1905000"/>
                    <a:ext cx="1828800" cy="1676400"/>
                  </a:xfrm>
                  <a:prstGeom prst="roundRect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rPr>
                      <a:t>broker</a:t>
                    </a:r>
                  </a:p>
                </p:txBody>
              </p:sp>
              <p:grpSp>
                <p:nvGrpSpPr>
                  <p:cNvPr id="51" name="Group 50"/>
                  <p:cNvGrpSpPr/>
                  <p:nvPr/>
                </p:nvGrpSpPr>
                <p:grpSpPr>
                  <a:xfrm>
                    <a:off x="6172200" y="2514600"/>
                    <a:ext cx="1524000" cy="914400"/>
                    <a:chOff x="6172200" y="3733800"/>
                    <a:chExt cx="1524000" cy="914400"/>
                  </a:xfrm>
                </p:grpSpPr>
                <p:grpSp>
                  <p:nvGrpSpPr>
                    <p:cNvPr id="52" name="Group 51"/>
                    <p:cNvGrpSpPr/>
                    <p:nvPr/>
                  </p:nvGrpSpPr>
                  <p:grpSpPr>
                    <a:xfrm>
                      <a:off x="6324600" y="3733800"/>
                      <a:ext cx="1371600" cy="762000"/>
                      <a:chOff x="3124200" y="3505200"/>
                      <a:chExt cx="1371600" cy="762000"/>
                    </a:xfrm>
                  </p:grpSpPr>
                  <p:sp>
                    <p:nvSpPr>
                      <p:cNvPr id="69" name="Rounded Rectangle 68"/>
                      <p:cNvSpPr/>
                      <p:nvPr/>
                    </p:nvSpPr>
                    <p:spPr bwMode="auto">
                      <a:xfrm>
                        <a:off x="3124200" y="3505200"/>
                        <a:ext cx="1371600" cy="762000"/>
                      </a:xfrm>
                      <a:prstGeom prst="roundRect">
                        <a:avLst/>
                      </a:prstGeom>
                      <a:solidFill>
                        <a:schemeClr val="bg2"/>
                      </a:solidFill>
                      <a:ln>
                        <a:headEnd type="none" w="med" len="med"/>
                        <a:tailEnd type="none" w="med" len="med"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vert="horz" wrap="square" lIns="91440" tIns="45720" rIns="91440" bIns="45720" numCol="1" rtlCol="0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lang="en-US" dirty="0">
                            <a:solidFill>
                              <a:schemeClr val="tx1"/>
                            </a:solidFill>
                            <a:latin typeface="Calibri" pitchFamily="34" charset="0"/>
                          </a:rPr>
                          <a:t>q</a:t>
                        </a:r>
                        <a:r>
                          <a:rPr lang="en-US" dirty="0" smtClean="0">
                            <a:solidFill>
                              <a:schemeClr val="tx1"/>
                            </a:solidFill>
                            <a:latin typeface="Calibri" pitchFamily="34" charset="0"/>
                          </a:rPr>
                          <a:t>ueue</a:t>
                        </a:r>
                        <a:endPara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endParaRPr>
                      </a:p>
                    </p:txBody>
                  </p:sp>
                  <p:grpSp>
                    <p:nvGrpSpPr>
                      <p:cNvPr id="70" name="Group 69"/>
                      <p:cNvGrpSpPr/>
                      <p:nvPr/>
                    </p:nvGrpSpPr>
                    <p:grpSpPr>
                      <a:xfrm>
                        <a:off x="3200400" y="3886200"/>
                        <a:ext cx="1219200" cy="306388"/>
                        <a:chOff x="3276600" y="1981200"/>
                        <a:chExt cx="1219200" cy="306388"/>
                      </a:xfrm>
                    </p:grpSpPr>
                    <p:cxnSp>
                      <p:nvCxnSpPr>
                        <p:cNvPr id="71" name="Straight Connector 70"/>
                        <p:cNvCxnSpPr/>
                        <p:nvPr/>
                      </p:nvCxnSpPr>
                      <p:spPr bwMode="auto">
                        <a:xfrm>
                          <a:off x="3276600" y="1981200"/>
                          <a:ext cx="1219200" cy="1588"/>
                        </a:xfrm>
                        <a:prstGeom prst="line">
                          <a:avLst/>
                        </a:prstGeom>
                        <a:noFill/>
                        <a:ln w="9525" cap="flat" cmpd="sng" algn="ctr">
                          <a:solidFill>
                            <a:srgbClr val="102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</p:spPr>
                    </p:cxnSp>
                    <p:cxnSp>
                      <p:nvCxnSpPr>
                        <p:cNvPr id="72" name="Straight Connector 71"/>
                        <p:cNvCxnSpPr/>
                        <p:nvPr/>
                      </p:nvCxnSpPr>
                      <p:spPr bwMode="auto">
                        <a:xfrm>
                          <a:off x="3276600" y="2286000"/>
                          <a:ext cx="1219200" cy="1588"/>
                        </a:xfrm>
                        <a:prstGeom prst="line">
                          <a:avLst/>
                        </a:prstGeom>
                        <a:noFill/>
                        <a:ln w="9525" cap="flat" cmpd="sng" algn="ctr">
                          <a:solidFill>
                            <a:srgbClr val="102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</p:spPr>
                    </p:cxnSp>
                    <p:sp>
                      <p:nvSpPr>
                        <p:cNvPr id="73" name="Rectangle 72"/>
                        <p:cNvSpPr/>
                        <p:nvPr/>
                      </p:nvSpPr>
                      <p:spPr bwMode="auto">
                        <a:xfrm>
                          <a:off x="3505200" y="1981200"/>
                          <a:ext cx="228600" cy="304800"/>
                        </a:xfrm>
                        <a:prstGeom prst="rect">
                          <a:avLst/>
                        </a:prstGeom>
                        <a:ln>
                          <a:headEnd type="none" w="med" len="med"/>
                          <a:tailEnd type="none" w="med" len="med"/>
                        </a:ln>
                      </p:spPr>
                      <p:style>
                        <a:lnRef idx="1">
                          <a:schemeClr val="accent2"/>
                        </a:lnRef>
                        <a:fillRef idx="2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dk1"/>
                        </a:fontRef>
                      </p:style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itchFamily="34" charset="0"/>
                          </a:endParaRPr>
                        </a:p>
                      </p:txBody>
                    </p:sp>
                    <p:sp>
                      <p:nvSpPr>
                        <p:cNvPr id="74" name="Rectangle 73"/>
                        <p:cNvSpPr/>
                        <p:nvPr/>
                      </p:nvSpPr>
                      <p:spPr bwMode="auto">
                        <a:xfrm>
                          <a:off x="3733800" y="1981200"/>
                          <a:ext cx="228600" cy="304800"/>
                        </a:xfrm>
                        <a:prstGeom prst="rect">
                          <a:avLst/>
                        </a:prstGeom>
                        <a:ln>
                          <a:headEnd type="none" w="med" len="med"/>
                          <a:tailEnd type="none" w="med" len="med"/>
                        </a:ln>
                      </p:spPr>
                      <p:style>
                        <a:lnRef idx="1">
                          <a:schemeClr val="accent2"/>
                        </a:lnRef>
                        <a:fillRef idx="2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dk1"/>
                        </a:fontRef>
                      </p:style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itchFamily="34" charset="0"/>
                          </a:endParaRPr>
                        </a:p>
                      </p:txBody>
                    </p:sp>
                    <p:sp>
                      <p:nvSpPr>
                        <p:cNvPr id="75" name="Rectangle 74"/>
                        <p:cNvSpPr/>
                        <p:nvPr/>
                      </p:nvSpPr>
                      <p:spPr bwMode="auto">
                        <a:xfrm>
                          <a:off x="3962400" y="1981200"/>
                          <a:ext cx="228600" cy="304800"/>
                        </a:xfrm>
                        <a:prstGeom prst="rect">
                          <a:avLst/>
                        </a:prstGeom>
                        <a:ln>
                          <a:headEnd type="none" w="med" len="med"/>
                          <a:tailEnd type="none" w="med" len="med"/>
                        </a:ln>
                      </p:spPr>
                      <p:style>
                        <a:lnRef idx="1">
                          <a:schemeClr val="accent2"/>
                        </a:lnRef>
                        <a:fillRef idx="2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dk1"/>
                        </a:fontRef>
                      </p:style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itchFamily="34" charset="0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3" name="Group 52"/>
                    <p:cNvGrpSpPr/>
                    <p:nvPr/>
                  </p:nvGrpSpPr>
                  <p:grpSpPr>
                    <a:xfrm>
                      <a:off x="6248400" y="3810000"/>
                      <a:ext cx="1371600" cy="762000"/>
                      <a:chOff x="3124200" y="3505200"/>
                      <a:chExt cx="1371600" cy="762000"/>
                    </a:xfrm>
                  </p:grpSpPr>
                  <p:sp>
                    <p:nvSpPr>
                      <p:cNvPr id="62" name="Rounded Rectangle 61"/>
                      <p:cNvSpPr/>
                      <p:nvPr/>
                    </p:nvSpPr>
                    <p:spPr bwMode="auto">
                      <a:xfrm>
                        <a:off x="3124200" y="3505200"/>
                        <a:ext cx="1371600" cy="762000"/>
                      </a:xfrm>
                      <a:prstGeom prst="roundRect">
                        <a:avLst/>
                      </a:prstGeom>
                      <a:solidFill>
                        <a:schemeClr val="bg2"/>
                      </a:solidFill>
                      <a:ln>
                        <a:headEnd type="none" w="med" len="med"/>
                        <a:tailEnd type="none" w="med" len="med"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vert="horz" wrap="square" lIns="91440" tIns="45720" rIns="91440" bIns="45720" numCol="1" rtlCol="0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lang="en-US" dirty="0">
                            <a:solidFill>
                              <a:schemeClr val="tx1"/>
                            </a:solidFill>
                            <a:latin typeface="Calibri" pitchFamily="34" charset="0"/>
                          </a:rPr>
                          <a:t>q</a:t>
                        </a:r>
                        <a:r>
                          <a:rPr lang="en-US" dirty="0" smtClean="0">
                            <a:solidFill>
                              <a:schemeClr val="tx1"/>
                            </a:solidFill>
                            <a:latin typeface="Calibri" pitchFamily="34" charset="0"/>
                          </a:rPr>
                          <a:t>ueue</a:t>
                        </a:r>
                        <a:endPara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endParaRPr>
                      </a:p>
                    </p:txBody>
                  </p:sp>
                  <p:grpSp>
                    <p:nvGrpSpPr>
                      <p:cNvPr id="63" name="Group 62"/>
                      <p:cNvGrpSpPr/>
                      <p:nvPr/>
                    </p:nvGrpSpPr>
                    <p:grpSpPr>
                      <a:xfrm>
                        <a:off x="3200400" y="3886200"/>
                        <a:ext cx="1219200" cy="306388"/>
                        <a:chOff x="3276600" y="1981200"/>
                        <a:chExt cx="1219200" cy="306388"/>
                      </a:xfrm>
                    </p:grpSpPr>
                    <p:cxnSp>
                      <p:nvCxnSpPr>
                        <p:cNvPr id="64" name="Straight Connector 63"/>
                        <p:cNvCxnSpPr/>
                        <p:nvPr/>
                      </p:nvCxnSpPr>
                      <p:spPr bwMode="auto">
                        <a:xfrm>
                          <a:off x="3276600" y="1981200"/>
                          <a:ext cx="1219200" cy="1588"/>
                        </a:xfrm>
                        <a:prstGeom prst="line">
                          <a:avLst/>
                        </a:prstGeom>
                        <a:noFill/>
                        <a:ln w="9525" cap="flat" cmpd="sng" algn="ctr">
                          <a:solidFill>
                            <a:srgbClr val="102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</p:spPr>
                    </p:cxnSp>
                    <p:cxnSp>
                      <p:nvCxnSpPr>
                        <p:cNvPr id="65" name="Straight Connector 64"/>
                        <p:cNvCxnSpPr/>
                        <p:nvPr/>
                      </p:nvCxnSpPr>
                      <p:spPr bwMode="auto">
                        <a:xfrm>
                          <a:off x="3276600" y="2286000"/>
                          <a:ext cx="1219200" cy="1588"/>
                        </a:xfrm>
                        <a:prstGeom prst="line">
                          <a:avLst/>
                        </a:prstGeom>
                        <a:noFill/>
                        <a:ln w="9525" cap="flat" cmpd="sng" algn="ctr">
                          <a:solidFill>
                            <a:srgbClr val="102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</p:spPr>
                    </p:cxnSp>
                    <p:sp>
                      <p:nvSpPr>
                        <p:cNvPr id="66" name="Rectangle 65"/>
                        <p:cNvSpPr/>
                        <p:nvPr/>
                      </p:nvSpPr>
                      <p:spPr bwMode="auto">
                        <a:xfrm>
                          <a:off x="3505200" y="1981200"/>
                          <a:ext cx="228600" cy="304800"/>
                        </a:xfrm>
                        <a:prstGeom prst="rect">
                          <a:avLst/>
                        </a:prstGeom>
                        <a:ln>
                          <a:headEnd type="none" w="med" len="med"/>
                          <a:tailEnd type="none" w="med" len="med"/>
                        </a:ln>
                      </p:spPr>
                      <p:style>
                        <a:lnRef idx="1">
                          <a:schemeClr val="accent2"/>
                        </a:lnRef>
                        <a:fillRef idx="2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dk1"/>
                        </a:fontRef>
                      </p:style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itchFamily="34" charset="0"/>
                          </a:endParaRPr>
                        </a:p>
                      </p:txBody>
                    </p:sp>
                    <p:sp>
                      <p:nvSpPr>
                        <p:cNvPr id="67" name="Rectangle 66"/>
                        <p:cNvSpPr/>
                        <p:nvPr/>
                      </p:nvSpPr>
                      <p:spPr bwMode="auto">
                        <a:xfrm>
                          <a:off x="3733800" y="1981200"/>
                          <a:ext cx="228600" cy="304800"/>
                        </a:xfrm>
                        <a:prstGeom prst="rect">
                          <a:avLst/>
                        </a:prstGeom>
                        <a:ln>
                          <a:headEnd type="none" w="med" len="med"/>
                          <a:tailEnd type="none" w="med" len="med"/>
                        </a:ln>
                      </p:spPr>
                      <p:style>
                        <a:lnRef idx="1">
                          <a:schemeClr val="accent2"/>
                        </a:lnRef>
                        <a:fillRef idx="2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dk1"/>
                        </a:fontRef>
                      </p:style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itchFamily="34" charset="0"/>
                          </a:endParaRPr>
                        </a:p>
                      </p:txBody>
                    </p:sp>
                    <p:sp>
                      <p:nvSpPr>
                        <p:cNvPr id="68" name="Rectangle 67"/>
                        <p:cNvSpPr/>
                        <p:nvPr/>
                      </p:nvSpPr>
                      <p:spPr bwMode="auto">
                        <a:xfrm>
                          <a:off x="3962400" y="1981200"/>
                          <a:ext cx="228600" cy="304800"/>
                        </a:xfrm>
                        <a:prstGeom prst="rect">
                          <a:avLst/>
                        </a:prstGeom>
                        <a:ln>
                          <a:headEnd type="none" w="med" len="med"/>
                          <a:tailEnd type="none" w="med" len="med"/>
                        </a:ln>
                      </p:spPr>
                      <p:style>
                        <a:lnRef idx="1">
                          <a:schemeClr val="accent2"/>
                        </a:lnRef>
                        <a:fillRef idx="2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dk1"/>
                        </a:fontRef>
                      </p:style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itchFamily="34" charset="0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4" name="Group 53"/>
                    <p:cNvGrpSpPr/>
                    <p:nvPr/>
                  </p:nvGrpSpPr>
                  <p:grpSpPr>
                    <a:xfrm>
                      <a:off x="6172200" y="3886200"/>
                      <a:ext cx="1371600" cy="762000"/>
                      <a:chOff x="3124200" y="3505200"/>
                      <a:chExt cx="1371600" cy="762000"/>
                    </a:xfrm>
                  </p:grpSpPr>
                  <p:sp>
                    <p:nvSpPr>
                      <p:cNvPr id="55" name="Rounded Rectangle 54"/>
                      <p:cNvSpPr/>
                      <p:nvPr/>
                    </p:nvSpPr>
                    <p:spPr bwMode="auto">
                      <a:xfrm>
                        <a:off x="3124200" y="3505200"/>
                        <a:ext cx="1371600" cy="762000"/>
                      </a:xfrm>
                      <a:prstGeom prst="roundRect">
                        <a:avLst/>
                      </a:prstGeom>
                      <a:solidFill>
                        <a:schemeClr val="bg2"/>
                      </a:solidFill>
                      <a:ln>
                        <a:headEnd type="none" w="med" len="med"/>
                        <a:tailEnd type="none" w="med" len="med"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vert="horz" wrap="square" lIns="91440" tIns="45720" rIns="91440" bIns="45720" numCol="1" rtlCol="0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0" marR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lang="en-US" sz="2000" dirty="0">
                            <a:solidFill>
                              <a:schemeClr val="tx1"/>
                            </a:solidFill>
                            <a:latin typeface="Calibri" pitchFamily="34" charset="0"/>
                          </a:rPr>
                          <a:t>q</a:t>
                        </a:r>
                        <a:r>
                          <a:rPr lang="en-US" sz="2000" dirty="0" smtClean="0">
                            <a:solidFill>
                              <a:schemeClr val="tx1"/>
                            </a:solidFill>
                            <a:latin typeface="Calibri" pitchFamily="34" charset="0"/>
                          </a:rPr>
                          <a:t>ueue</a:t>
                        </a:r>
                        <a:endPara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endParaRPr>
                      </a:p>
                    </p:txBody>
                  </p:sp>
                  <p:grpSp>
                    <p:nvGrpSpPr>
                      <p:cNvPr id="56" name="Group 55"/>
                      <p:cNvGrpSpPr/>
                      <p:nvPr/>
                    </p:nvGrpSpPr>
                    <p:grpSpPr>
                      <a:xfrm>
                        <a:off x="3200400" y="3886200"/>
                        <a:ext cx="1219200" cy="306388"/>
                        <a:chOff x="3276600" y="1981200"/>
                        <a:chExt cx="1219200" cy="306388"/>
                      </a:xfrm>
                    </p:grpSpPr>
                    <p:cxnSp>
                      <p:nvCxnSpPr>
                        <p:cNvPr id="57" name="Straight Connector 56"/>
                        <p:cNvCxnSpPr/>
                        <p:nvPr/>
                      </p:nvCxnSpPr>
                      <p:spPr bwMode="auto">
                        <a:xfrm>
                          <a:off x="3276600" y="1981200"/>
                          <a:ext cx="1219200" cy="1588"/>
                        </a:xfrm>
                        <a:prstGeom prst="line">
                          <a:avLst/>
                        </a:prstGeom>
                        <a:noFill/>
                        <a:ln w="9525" cap="flat" cmpd="sng" algn="ctr">
                          <a:solidFill>
                            <a:srgbClr val="102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</p:spPr>
                    </p:cxnSp>
                    <p:cxnSp>
                      <p:nvCxnSpPr>
                        <p:cNvPr id="58" name="Straight Connector 57"/>
                        <p:cNvCxnSpPr/>
                        <p:nvPr/>
                      </p:nvCxnSpPr>
                      <p:spPr bwMode="auto">
                        <a:xfrm>
                          <a:off x="3276600" y="2286000"/>
                          <a:ext cx="1219200" cy="1588"/>
                        </a:xfrm>
                        <a:prstGeom prst="line">
                          <a:avLst/>
                        </a:prstGeom>
                        <a:noFill/>
                        <a:ln w="9525" cap="flat" cmpd="sng" algn="ctr">
                          <a:solidFill>
                            <a:srgbClr val="10253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effectLst/>
                      </p:spPr>
                    </p:cxnSp>
                    <p:sp>
                      <p:nvSpPr>
                        <p:cNvPr id="59" name="Rectangle 58"/>
                        <p:cNvSpPr/>
                        <p:nvPr/>
                      </p:nvSpPr>
                      <p:spPr bwMode="auto">
                        <a:xfrm>
                          <a:off x="3505200" y="1981200"/>
                          <a:ext cx="228600" cy="304800"/>
                        </a:xfrm>
                        <a:prstGeom prst="rect">
                          <a:avLst/>
                        </a:prstGeom>
                        <a:ln>
                          <a:headEnd type="none" w="med" len="med"/>
                          <a:tailEnd type="none" w="med" len="med"/>
                        </a:ln>
                      </p:spPr>
                      <p:style>
                        <a:lnRef idx="1">
                          <a:schemeClr val="accent2"/>
                        </a:lnRef>
                        <a:fillRef idx="2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dk1"/>
                        </a:fontRef>
                      </p:style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itchFamily="34" charset="0"/>
                          </a:endParaRPr>
                        </a:p>
                      </p:txBody>
                    </p:sp>
                    <p:sp>
                      <p:nvSpPr>
                        <p:cNvPr id="60" name="Rectangle 59"/>
                        <p:cNvSpPr/>
                        <p:nvPr/>
                      </p:nvSpPr>
                      <p:spPr bwMode="auto">
                        <a:xfrm>
                          <a:off x="3733800" y="1981200"/>
                          <a:ext cx="228600" cy="304800"/>
                        </a:xfrm>
                        <a:prstGeom prst="rect">
                          <a:avLst/>
                        </a:prstGeom>
                        <a:ln>
                          <a:headEnd type="none" w="med" len="med"/>
                          <a:tailEnd type="none" w="med" len="med"/>
                        </a:ln>
                      </p:spPr>
                      <p:style>
                        <a:lnRef idx="1">
                          <a:schemeClr val="accent2"/>
                        </a:lnRef>
                        <a:fillRef idx="2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dk1"/>
                        </a:fontRef>
                      </p:style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itchFamily="34" charset="0"/>
                          </a:endParaRPr>
                        </a:p>
                      </p:txBody>
                    </p:sp>
                    <p:sp>
                      <p:nvSpPr>
                        <p:cNvPr id="61" name="Rectangle 60"/>
                        <p:cNvSpPr/>
                        <p:nvPr/>
                      </p:nvSpPr>
                      <p:spPr bwMode="auto">
                        <a:xfrm>
                          <a:off x="3962400" y="1981200"/>
                          <a:ext cx="228600" cy="304800"/>
                        </a:xfrm>
                        <a:prstGeom prst="rect">
                          <a:avLst/>
                        </a:prstGeom>
                        <a:ln>
                          <a:headEnd type="none" w="med" len="med"/>
                          <a:tailEnd type="none" w="med" len="med"/>
                        </a:ln>
                      </p:spPr>
                      <p:style>
                        <a:lnRef idx="1">
                          <a:schemeClr val="accent2"/>
                        </a:lnRef>
                        <a:fillRef idx="2">
                          <a:schemeClr val="accent2"/>
                        </a:fillRef>
                        <a:effectRef idx="1">
                          <a:schemeClr val="accent2"/>
                        </a:effectRef>
                        <a:fontRef idx="minor">
                          <a:schemeClr val="dk1"/>
                        </a:fontRef>
                      </p:style>
                      <p:txBody>
                        <a:bodyPr vert="horz" wrap="square" lIns="91440" tIns="45720" rIns="91440" bIns="45720" numCol="1" rtlCol="0" anchor="t" anchorCtr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marL="0" marR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sz="18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itchFamily="34" charset="0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  <p:sp>
          <p:nvSpPr>
            <p:cNvPr id="140" name="Left Brace 139"/>
            <p:cNvSpPr/>
            <p:nvPr/>
          </p:nvSpPr>
          <p:spPr bwMode="auto">
            <a:xfrm rot="5400000">
              <a:off x="6477000" y="4114800"/>
              <a:ext cx="838200" cy="990600"/>
            </a:xfrm>
            <a:prstGeom prst="leftBrac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142" name="Rectangle 141"/>
            <p:cNvSpPr/>
            <p:nvPr/>
          </p:nvSpPr>
          <p:spPr bwMode="auto">
            <a:xfrm>
              <a:off x="6248400" y="5029200"/>
              <a:ext cx="1295400" cy="609600"/>
            </a:xfrm>
            <a:prstGeom prst="rect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message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89313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Message Format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4D8C-3CB4-402A-BC46-2AB14C0FE90A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786581"/>
              </p:ext>
            </p:extLst>
          </p:nvPr>
        </p:nvGraphicFramePr>
        <p:xfrm>
          <a:off x="457200" y="1752600"/>
          <a:ext cx="8229600" cy="3657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05000"/>
                <a:gridCol w="6324600"/>
              </a:tblGrid>
              <a:tr h="289978">
                <a:tc>
                  <a:txBody>
                    <a:bodyPr/>
                    <a:lstStyle/>
                    <a:p>
                      <a:r>
                        <a:rPr lang="en-US" sz="2200" dirty="0" err="1" smtClean="0"/>
                        <a:t>correlationID</a:t>
                      </a:r>
                      <a:r>
                        <a:rPr lang="en-US" sz="2200" dirty="0" smtClean="0"/>
                        <a:t> 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UUID to correlate messages that belong to the same job</a:t>
                      </a:r>
                    </a:p>
                  </a:txBody>
                  <a:tcPr/>
                </a:tc>
              </a:tr>
              <a:tr h="289978">
                <a:tc>
                  <a:txBody>
                    <a:bodyPr/>
                    <a:lstStyle/>
                    <a:p>
                      <a:r>
                        <a:rPr lang="en-US" sz="2200" dirty="0" err="1" smtClean="0"/>
                        <a:t>pipelineID</a:t>
                      </a:r>
                      <a:r>
                        <a:rPr lang="en-US" sz="2200" dirty="0" smtClean="0"/>
                        <a:t> 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Identifies a specific instance of the Pipeline</a:t>
                      </a:r>
                      <a:endParaRPr lang="en-US" sz="2200" dirty="0"/>
                    </a:p>
                  </a:txBody>
                  <a:tcPr/>
                </a:tc>
              </a:tr>
              <a:tr h="289978">
                <a:tc>
                  <a:txBody>
                    <a:bodyPr/>
                    <a:lstStyle/>
                    <a:p>
                      <a:r>
                        <a:rPr lang="en-US" sz="2200" dirty="0" err="1" smtClean="0"/>
                        <a:t>jobName</a:t>
                      </a:r>
                      <a:r>
                        <a:rPr lang="en-US" sz="2200" dirty="0" smtClean="0"/>
                        <a:t> 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User-specified name</a:t>
                      </a:r>
                      <a:endParaRPr lang="en-US" sz="2200" dirty="0"/>
                    </a:p>
                  </a:txBody>
                  <a:tcPr/>
                </a:tc>
              </a:tr>
              <a:tr h="418054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route 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Describes the series of steps taken through the Pipeline, i.e., the series of stages that should be run</a:t>
                      </a:r>
                    </a:p>
                  </a:txBody>
                  <a:tcPr/>
                </a:tc>
              </a:tr>
              <a:tr h="289978">
                <a:tc>
                  <a:txBody>
                    <a:bodyPr/>
                    <a:lstStyle/>
                    <a:p>
                      <a:r>
                        <a:rPr lang="en-US" sz="2200" dirty="0" err="1" smtClean="0"/>
                        <a:t>routeIndex</a:t>
                      </a:r>
                      <a:r>
                        <a:rPr lang="en-US" sz="2200" dirty="0" smtClean="0"/>
                        <a:t> 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Current index in the route</a:t>
                      </a:r>
                      <a:endParaRPr lang="en-US" sz="2200" dirty="0"/>
                    </a:p>
                  </a:txBody>
                  <a:tcPr/>
                </a:tc>
              </a:tr>
              <a:tr h="289978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inputFileURI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Input file path for each actor in the route</a:t>
                      </a:r>
                    </a:p>
                  </a:txBody>
                  <a:tcPr/>
                </a:tc>
              </a:tr>
              <a:tr h="418054">
                <a:tc>
                  <a:txBody>
                    <a:bodyPr/>
                    <a:lstStyle/>
                    <a:p>
                      <a:r>
                        <a:rPr lang="en-US" sz="2200" dirty="0" err="1" smtClean="0"/>
                        <a:t>outputFileURI</a:t>
                      </a:r>
                      <a:r>
                        <a:rPr lang="en-US" sz="2200" dirty="0" smtClean="0"/>
                        <a:t> 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Output file path for each actor in the route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47767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Pipeline Stages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1"/>
            <a:ext cx="4114800" cy="3733800"/>
          </a:xfrm>
        </p:spPr>
        <p:txBody>
          <a:bodyPr/>
          <a:lstStyle/>
          <a:p>
            <a:r>
              <a:rPr lang="en-US" sz="2400" dirty="0" smtClean="0"/>
              <a:t>Stages are broken into two separate classes:</a:t>
            </a:r>
          </a:p>
          <a:p>
            <a:pPr lvl="1"/>
            <a:r>
              <a:rPr lang="en-US" sz="2000" dirty="0" smtClean="0"/>
              <a:t>Director </a:t>
            </a:r>
          </a:p>
          <a:p>
            <a:pPr lvl="2"/>
            <a:r>
              <a:rPr lang="en-US" sz="2000" dirty="0" smtClean="0"/>
              <a:t>interface with the message broker</a:t>
            </a:r>
          </a:p>
          <a:p>
            <a:pPr lvl="2"/>
            <a:r>
              <a:rPr lang="en-US" sz="2000" dirty="0" smtClean="0"/>
              <a:t>update provenance</a:t>
            </a:r>
          </a:p>
          <a:p>
            <a:pPr lvl="1"/>
            <a:r>
              <a:rPr lang="en-US" sz="2000" dirty="0" smtClean="0"/>
              <a:t>Actor</a:t>
            </a:r>
          </a:p>
          <a:p>
            <a:pPr lvl="2"/>
            <a:r>
              <a:rPr lang="en-US" sz="2000" dirty="0" smtClean="0"/>
              <a:t>run analysis</a:t>
            </a:r>
          </a:p>
          <a:p>
            <a:pPr lvl="2"/>
            <a:r>
              <a:rPr lang="en-US" sz="2000" dirty="0" smtClean="0"/>
              <a:t>save results</a:t>
            </a:r>
          </a:p>
          <a:p>
            <a:pPr lvl="2"/>
            <a:r>
              <a:rPr lang="en-US" sz="2000" dirty="0" smtClean="0"/>
              <a:t>report status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4D8C-3CB4-402A-BC46-2AB14C0FE90A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4419600" y="1828800"/>
            <a:ext cx="4419600" cy="3200400"/>
            <a:chOff x="4343400" y="1828800"/>
            <a:chExt cx="4419600" cy="3200400"/>
          </a:xfrm>
        </p:grpSpPr>
        <p:sp>
          <p:nvSpPr>
            <p:cNvPr id="18" name="Rounded Rectangle 17"/>
            <p:cNvSpPr/>
            <p:nvPr/>
          </p:nvSpPr>
          <p:spPr bwMode="auto">
            <a:xfrm>
              <a:off x="5105400" y="2209800"/>
              <a:ext cx="2895600" cy="281940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6" name="Rounded Rectangle 5"/>
            <p:cNvSpPr/>
            <p:nvPr/>
          </p:nvSpPr>
          <p:spPr bwMode="auto">
            <a:xfrm>
              <a:off x="5410200" y="2514600"/>
              <a:ext cx="2286000" cy="53340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Director</a:t>
              </a:r>
            </a:p>
          </p:txBody>
        </p:sp>
        <p:sp>
          <p:nvSpPr>
            <p:cNvPr id="7" name="Rounded Rectangle 6"/>
            <p:cNvSpPr/>
            <p:nvPr/>
          </p:nvSpPr>
          <p:spPr bwMode="auto">
            <a:xfrm>
              <a:off x="5410200" y="3352800"/>
              <a:ext cx="2286000" cy="53340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Actor</a:t>
              </a:r>
            </a:p>
          </p:txBody>
        </p:sp>
        <p:cxnSp>
          <p:nvCxnSpPr>
            <p:cNvPr id="9" name="Straight Connector 8"/>
            <p:cNvCxnSpPr/>
            <p:nvPr/>
          </p:nvCxnSpPr>
          <p:spPr bwMode="auto">
            <a:xfrm>
              <a:off x="6553200" y="3048000"/>
              <a:ext cx="0" cy="30480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oval" w="lg" len="lg"/>
              <a:tailEnd type="none" w="med" len="med"/>
            </a:ln>
            <a:effectLst/>
          </p:spPr>
        </p:cxnSp>
        <p:sp>
          <p:nvSpPr>
            <p:cNvPr id="19" name="TextBox 18"/>
            <p:cNvSpPr txBox="1"/>
            <p:nvPr/>
          </p:nvSpPr>
          <p:spPr>
            <a:xfrm>
              <a:off x="5800831" y="1828800"/>
              <a:ext cx="1504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Pipeline Stage</a:t>
              </a:r>
              <a:endParaRPr lang="en-US" dirty="0"/>
            </a:p>
          </p:txBody>
        </p:sp>
        <p:sp>
          <p:nvSpPr>
            <p:cNvPr id="21" name="Rounded Rectangle 20"/>
            <p:cNvSpPr/>
            <p:nvPr/>
          </p:nvSpPr>
          <p:spPr bwMode="auto">
            <a:xfrm>
              <a:off x="5410200" y="4191000"/>
              <a:ext cx="2286000" cy="533400"/>
            </a:xfrm>
            <a:prstGeom prst="round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Analysis Application</a:t>
              </a:r>
            </a:p>
          </p:txBody>
        </p:sp>
        <p:cxnSp>
          <p:nvCxnSpPr>
            <p:cNvPr id="23" name="Straight Connector 22"/>
            <p:cNvCxnSpPr/>
            <p:nvPr/>
          </p:nvCxnSpPr>
          <p:spPr bwMode="auto">
            <a:xfrm>
              <a:off x="6553200" y="3886200"/>
              <a:ext cx="0" cy="30480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Arrow Connector 25"/>
            <p:cNvCxnSpPr>
              <a:stCxn id="6" idx="3"/>
            </p:cNvCxnSpPr>
            <p:nvPr/>
          </p:nvCxnSpPr>
          <p:spPr bwMode="auto">
            <a:xfrm flipV="1">
              <a:off x="7696200" y="2286000"/>
              <a:ext cx="609600" cy="495300"/>
            </a:xfrm>
            <a:prstGeom prst="straightConnector1">
              <a:avLst/>
            </a:prstGeom>
            <a:ln w="38100">
              <a:headEnd type="none" w="med" len="med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endCxn id="6" idx="1"/>
            </p:cNvCxnSpPr>
            <p:nvPr/>
          </p:nvCxnSpPr>
          <p:spPr bwMode="auto">
            <a:xfrm>
              <a:off x="4876800" y="2286000"/>
              <a:ext cx="533400" cy="495300"/>
            </a:xfrm>
            <a:prstGeom prst="straightConnector1">
              <a:avLst/>
            </a:prstGeom>
            <a:ln w="38100">
              <a:headEnd type="none" w="med" len="med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4343400" y="1905000"/>
              <a:ext cx="101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Message</a:t>
              </a:r>
              <a:endParaRPr lang="en-US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751485" y="1905000"/>
              <a:ext cx="101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Message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865610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4495800"/>
            <a:ext cx="7924800" cy="1524000"/>
          </a:xfrm>
        </p:spPr>
        <p:txBody>
          <a:bodyPr numCol="2" spcCol="0"/>
          <a:lstStyle/>
          <a:p>
            <a:r>
              <a:rPr lang="en-US" sz="2400" dirty="0" smtClean="0"/>
              <a:t>Director</a:t>
            </a:r>
          </a:p>
          <a:p>
            <a:pPr lvl="1"/>
            <a:r>
              <a:rPr lang="en-US" sz="2000" dirty="0" smtClean="0"/>
              <a:t>Broker interface</a:t>
            </a:r>
          </a:p>
          <a:p>
            <a:pPr lvl="1"/>
            <a:r>
              <a:rPr lang="en-US" sz="2000" dirty="0" smtClean="0"/>
              <a:t>Handle job messages</a:t>
            </a:r>
          </a:p>
          <a:p>
            <a:pPr lvl="1"/>
            <a:r>
              <a:rPr lang="en-US" sz="2000" dirty="0" smtClean="0"/>
              <a:t>Control messages</a:t>
            </a:r>
          </a:p>
          <a:p>
            <a:pPr lvl="1"/>
            <a:r>
              <a:rPr lang="en-US" sz="2000" dirty="0" smtClean="0"/>
              <a:t>Update history</a:t>
            </a:r>
          </a:p>
          <a:p>
            <a:pPr lvl="1"/>
            <a:r>
              <a:rPr lang="en-US" sz="2000" dirty="0" smtClean="0"/>
              <a:t>Maintain provenance</a:t>
            </a:r>
          </a:p>
          <a:p>
            <a:pPr lvl="1"/>
            <a:r>
              <a:rPr lang="en-US" sz="2000" dirty="0" smtClean="0"/>
              <a:t>Execute Actor</a:t>
            </a:r>
            <a:endParaRPr lang="en-US" sz="2000" dirty="0"/>
          </a:p>
          <a:p>
            <a:pPr lvl="1"/>
            <a:endParaRPr lang="en-US" sz="20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NOBUGS 2012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4D8C-3CB4-402A-BC46-2AB14C0FE90A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223" name="Group 222"/>
          <p:cNvGrpSpPr/>
          <p:nvPr/>
        </p:nvGrpSpPr>
        <p:grpSpPr>
          <a:xfrm>
            <a:off x="609600" y="1143000"/>
            <a:ext cx="7924800" cy="3188732"/>
            <a:chOff x="609600" y="1143000"/>
            <a:chExt cx="7924800" cy="3188732"/>
          </a:xfrm>
        </p:grpSpPr>
        <p:grpSp>
          <p:nvGrpSpPr>
            <p:cNvPr id="221" name="Group 220"/>
            <p:cNvGrpSpPr/>
            <p:nvPr/>
          </p:nvGrpSpPr>
          <p:grpSpPr>
            <a:xfrm>
              <a:off x="2286000" y="1143000"/>
              <a:ext cx="4572000" cy="3188732"/>
              <a:chOff x="2286000" y="1143000"/>
              <a:chExt cx="4572000" cy="3188732"/>
            </a:xfrm>
          </p:grpSpPr>
          <p:sp>
            <p:nvSpPr>
              <p:cNvPr id="214" name="Rounded Rectangle 213"/>
              <p:cNvSpPr/>
              <p:nvPr/>
            </p:nvSpPr>
            <p:spPr bwMode="auto">
              <a:xfrm>
                <a:off x="2286000" y="1512332"/>
                <a:ext cx="4572000" cy="2819400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endParaRPr>
              </a:p>
            </p:txBody>
          </p:sp>
          <p:sp>
            <p:nvSpPr>
              <p:cNvPr id="92" name="Rounded Rectangle 91"/>
              <p:cNvSpPr/>
              <p:nvPr/>
            </p:nvSpPr>
            <p:spPr bwMode="auto">
              <a:xfrm>
                <a:off x="2514600" y="2579132"/>
                <a:ext cx="1905000" cy="6858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JMS Job Message Consumer</a:t>
                </a:r>
              </a:p>
            </p:txBody>
          </p:sp>
          <p:sp>
            <p:nvSpPr>
              <p:cNvPr id="93" name="Rounded Rectangle 92"/>
              <p:cNvSpPr/>
              <p:nvPr/>
            </p:nvSpPr>
            <p:spPr bwMode="auto">
              <a:xfrm>
                <a:off x="4572000" y="2579132"/>
                <a:ext cx="2057400" cy="6858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JMS </a:t>
                </a:r>
                <a:r>
                  <a:rPr lang="en-US" dirty="0" smtClean="0">
                    <a:solidFill>
                      <a:schemeClr val="tx1"/>
                    </a:solidFill>
                    <a:latin typeface="Calibri" pitchFamily="34" charset="0"/>
                  </a:rPr>
                  <a:t>Job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Message Producer</a:t>
                </a:r>
              </a:p>
            </p:txBody>
          </p:sp>
          <p:sp>
            <p:nvSpPr>
              <p:cNvPr id="94" name="Rounded Rectangle 93"/>
              <p:cNvSpPr/>
              <p:nvPr/>
            </p:nvSpPr>
            <p:spPr bwMode="auto">
              <a:xfrm>
                <a:off x="2514600" y="1740932"/>
                <a:ext cx="1905000" cy="6858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 smtClean="0">
                    <a:solidFill>
                      <a:schemeClr val="tx1"/>
                    </a:solidFill>
                    <a:latin typeface="Calibri" pitchFamily="34" charset="0"/>
                  </a:rPr>
                  <a:t>JMS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Control Topic Consumer</a:t>
                </a:r>
              </a:p>
            </p:txBody>
          </p:sp>
          <p:sp>
            <p:nvSpPr>
              <p:cNvPr id="97" name="Rounded Rectangle 96"/>
              <p:cNvSpPr/>
              <p:nvPr/>
            </p:nvSpPr>
            <p:spPr bwMode="auto">
              <a:xfrm>
                <a:off x="4572000" y="1740932"/>
                <a:ext cx="2057400" cy="6858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 smtClean="0">
                    <a:solidFill>
                      <a:schemeClr val="tx1"/>
                    </a:solidFill>
                    <a:latin typeface="Calibri" pitchFamily="34" charset="0"/>
                  </a:rPr>
                  <a:t>JMS </a:t>
                </a: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History Message Producer</a:t>
                </a:r>
              </a:p>
            </p:txBody>
          </p:sp>
          <p:sp>
            <p:nvSpPr>
              <p:cNvPr id="216" name="Rounded Rectangle 215"/>
              <p:cNvSpPr/>
              <p:nvPr/>
            </p:nvSpPr>
            <p:spPr bwMode="auto">
              <a:xfrm>
                <a:off x="2514600" y="3417332"/>
                <a:ext cx="1905000" cy="6858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Update HDF5 provenance</a:t>
                </a:r>
              </a:p>
            </p:txBody>
          </p:sp>
          <p:sp>
            <p:nvSpPr>
              <p:cNvPr id="217" name="TextBox 216"/>
              <p:cNvSpPr txBox="1"/>
              <p:nvPr/>
            </p:nvSpPr>
            <p:spPr>
              <a:xfrm>
                <a:off x="4038600" y="1143000"/>
                <a:ext cx="9541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Director</a:t>
                </a:r>
                <a:endParaRPr lang="en-US" dirty="0"/>
              </a:p>
            </p:txBody>
          </p:sp>
          <p:sp>
            <p:nvSpPr>
              <p:cNvPr id="220" name="Rounded Rectangle 219"/>
              <p:cNvSpPr/>
              <p:nvPr/>
            </p:nvSpPr>
            <p:spPr bwMode="auto">
              <a:xfrm>
                <a:off x="4572000" y="3429000"/>
                <a:ext cx="2057400" cy="6858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Execute Actor</a:t>
                </a:r>
              </a:p>
            </p:txBody>
          </p:sp>
        </p:grpSp>
        <p:grpSp>
          <p:nvGrpSpPr>
            <p:cNvPr id="138" name="Group 137"/>
            <p:cNvGrpSpPr/>
            <p:nvPr/>
          </p:nvGrpSpPr>
          <p:grpSpPr>
            <a:xfrm>
              <a:off x="7162800" y="1664732"/>
              <a:ext cx="1371600" cy="762000"/>
              <a:chOff x="3124200" y="3505200"/>
              <a:chExt cx="1371600" cy="762000"/>
            </a:xfrm>
          </p:grpSpPr>
          <p:sp>
            <p:nvSpPr>
              <p:cNvPr id="155" name="Rounded Rectangle 154"/>
              <p:cNvSpPr/>
              <p:nvPr/>
            </p:nvSpPr>
            <p:spPr bwMode="auto">
              <a:xfrm>
                <a:off x="3124200" y="3505200"/>
                <a:ext cx="1371600" cy="762000"/>
              </a:xfrm>
              <a:prstGeom prst="roundRect">
                <a:avLst/>
              </a:prstGeom>
              <a:solidFill>
                <a:schemeClr val="bg2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</a:rPr>
                  <a:t>q</a:t>
                </a:r>
                <a:r>
                  <a:rPr lang="en-US" dirty="0" smtClean="0">
                    <a:solidFill>
                      <a:schemeClr val="tx1"/>
                    </a:solidFill>
                    <a:latin typeface="Calibri" pitchFamily="34" charset="0"/>
                  </a:rPr>
                  <a:t>ueue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endParaRPr>
              </a:p>
            </p:txBody>
          </p:sp>
          <p:grpSp>
            <p:nvGrpSpPr>
              <p:cNvPr id="156" name="Group 155"/>
              <p:cNvGrpSpPr/>
              <p:nvPr/>
            </p:nvGrpSpPr>
            <p:grpSpPr>
              <a:xfrm>
                <a:off x="3200400" y="3886200"/>
                <a:ext cx="1219200" cy="306388"/>
                <a:chOff x="3276600" y="1981200"/>
                <a:chExt cx="1219200" cy="306388"/>
              </a:xfrm>
            </p:grpSpPr>
            <p:cxnSp>
              <p:nvCxnSpPr>
                <p:cNvPr id="157" name="Straight Connector 156"/>
                <p:cNvCxnSpPr/>
                <p:nvPr/>
              </p:nvCxnSpPr>
              <p:spPr bwMode="auto">
                <a:xfrm>
                  <a:off x="3276600" y="19812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8" name="Straight Connector 157"/>
                <p:cNvCxnSpPr/>
                <p:nvPr/>
              </p:nvCxnSpPr>
              <p:spPr bwMode="auto">
                <a:xfrm>
                  <a:off x="3276600" y="22860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59" name="Rectangle 158"/>
                <p:cNvSpPr/>
                <p:nvPr/>
              </p:nvSpPr>
              <p:spPr bwMode="auto">
                <a:xfrm>
                  <a:off x="35052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160" name="Rectangle 159"/>
                <p:cNvSpPr/>
                <p:nvPr/>
              </p:nvSpPr>
              <p:spPr bwMode="auto">
                <a:xfrm>
                  <a:off x="37338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161" name="Rectangle 160"/>
                <p:cNvSpPr/>
                <p:nvPr/>
              </p:nvSpPr>
              <p:spPr bwMode="auto">
                <a:xfrm>
                  <a:off x="39624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</p:grpSp>
        </p:grpSp>
        <p:grpSp>
          <p:nvGrpSpPr>
            <p:cNvPr id="139" name="Group 138"/>
            <p:cNvGrpSpPr/>
            <p:nvPr/>
          </p:nvGrpSpPr>
          <p:grpSpPr>
            <a:xfrm>
              <a:off x="7162800" y="2579132"/>
              <a:ext cx="1371600" cy="762000"/>
              <a:chOff x="3124200" y="3505200"/>
              <a:chExt cx="1371600" cy="762000"/>
            </a:xfrm>
          </p:grpSpPr>
          <p:sp>
            <p:nvSpPr>
              <p:cNvPr id="148" name="Rounded Rectangle 147"/>
              <p:cNvSpPr/>
              <p:nvPr/>
            </p:nvSpPr>
            <p:spPr bwMode="auto">
              <a:xfrm>
                <a:off x="3124200" y="3505200"/>
                <a:ext cx="1371600" cy="762000"/>
              </a:xfrm>
              <a:prstGeom prst="roundRect">
                <a:avLst/>
              </a:prstGeom>
              <a:solidFill>
                <a:schemeClr val="bg2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</a:rPr>
                  <a:t>q</a:t>
                </a:r>
                <a:r>
                  <a:rPr lang="en-US" dirty="0" smtClean="0">
                    <a:solidFill>
                      <a:schemeClr val="tx1"/>
                    </a:solidFill>
                    <a:latin typeface="Calibri" pitchFamily="34" charset="0"/>
                  </a:rPr>
                  <a:t>ueue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endParaRPr>
              </a:p>
            </p:txBody>
          </p:sp>
          <p:grpSp>
            <p:nvGrpSpPr>
              <p:cNvPr id="149" name="Group 148"/>
              <p:cNvGrpSpPr/>
              <p:nvPr/>
            </p:nvGrpSpPr>
            <p:grpSpPr>
              <a:xfrm>
                <a:off x="3200400" y="3886200"/>
                <a:ext cx="1219200" cy="306388"/>
                <a:chOff x="3276600" y="1981200"/>
                <a:chExt cx="1219200" cy="306388"/>
              </a:xfrm>
            </p:grpSpPr>
            <p:cxnSp>
              <p:nvCxnSpPr>
                <p:cNvPr id="150" name="Straight Connector 149"/>
                <p:cNvCxnSpPr/>
                <p:nvPr/>
              </p:nvCxnSpPr>
              <p:spPr bwMode="auto">
                <a:xfrm>
                  <a:off x="3276600" y="19812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1" name="Straight Connector 150"/>
                <p:cNvCxnSpPr/>
                <p:nvPr/>
              </p:nvCxnSpPr>
              <p:spPr bwMode="auto">
                <a:xfrm>
                  <a:off x="3276600" y="22860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52" name="Rectangle 151"/>
                <p:cNvSpPr/>
                <p:nvPr/>
              </p:nvSpPr>
              <p:spPr bwMode="auto">
                <a:xfrm>
                  <a:off x="35052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153" name="Rectangle 152"/>
                <p:cNvSpPr/>
                <p:nvPr/>
              </p:nvSpPr>
              <p:spPr bwMode="auto">
                <a:xfrm>
                  <a:off x="37338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154" name="Rectangle 153"/>
                <p:cNvSpPr/>
                <p:nvPr/>
              </p:nvSpPr>
              <p:spPr bwMode="auto">
                <a:xfrm>
                  <a:off x="39624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</p:grpSp>
        </p:grpSp>
        <p:grpSp>
          <p:nvGrpSpPr>
            <p:cNvPr id="140" name="Group 139"/>
            <p:cNvGrpSpPr/>
            <p:nvPr/>
          </p:nvGrpSpPr>
          <p:grpSpPr>
            <a:xfrm>
              <a:off x="609600" y="2579132"/>
              <a:ext cx="1371600" cy="762000"/>
              <a:chOff x="3124200" y="3505200"/>
              <a:chExt cx="1371600" cy="762000"/>
            </a:xfrm>
          </p:grpSpPr>
          <p:sp>
            <p:nvSpPr>
              <p:cNvPr id="141" name="Rounded Rectangle 140"/>
              <p:cNvSpPr/>
              <p:nvPr/>
            </p:nvSpPr>
            <p:spPr bwMode="auto">
              <a:xfrm>
                <a:off x="3124200" y="3505200"/>
                <a:ext cx="1371600" cy="762000"/>
              </a:xfrm>
              <a:prstGeom prst="roundRect">
                <a:avLst/>
              </a:prstGeom>
              <a:solidFill>
                <a:schemeClr val="bg2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</a:rPr>
                  <a:t>q</a:t>
                </a:r>
                <a:r>
                  <a:rPr lang="en-US" dirty="0" smtClean="0">
                    <a:solidFill>
                      <a:schemeClr val="tx1"/>
                    </a:solidFill>
                    <a:latin typeface="Calibri" pitchFamily="34" charset="0"/>
                  </a:rPr>
                  <a:t>ueue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endParaRPr>
              </a:p>
            </p:txBody>
          </p:sp>
          <p:grpSp>
            <p:nvGrpSpPr>
              <p:cNvPr id="142" name="Group 141"/>
              <p:cNvGrpSpPr/>
              <p:nvPr/>
            </p:nvGrpSpPr>
            <p:grpSpPr>
              <a:xfrm>
                <a:off x="3200400" y="3886200"/>
                <a:ext cx="1219200" cy="306388"/>
                <a:chOff x="3276600" y="1981200"/>
                <a:chExt cx="1219200" cy="306388"/>
              </a:xfrm>
            </p:grpSpPr>
            <p:cxnSp>
              <p:nvCxnSpPr>
                <p:cNvPr id="143" name="Straight Connector 142"/>
                <p:cNvCxnSpPr/>
                <p:nvPr/>
              </p:nvCxnSpPr>
              <p:spPr bwMode="auto">
                <a:xfrm>
                  <a:off x="3276600" y="19812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4" name="Straight Connector 143"/>
                <p:cNvCxnSpPr/>
                <p:nvPr/>
              </p:nvCxnSpPr>
              <p:spPr bwMode="auto">
                <a:xfrm>
                  <a:off x="3276600" y="22860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45" name="Rectangle 144"/>
                <p:cNvSpPr/>
                <p:nvPr/>
              </p:nvSpPr>
              <p:spPr bwMode="auto">
                <a:xfrm>
                  <a:off x="35052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146" name="Rectangle 145"/>
                <p:cNvSpPr/>
                <p:nvPr/>
              </p:nvSpPr>
              <p:spPr bwMode="auto">
                <a:xfrm>
                  <a:off x="37338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147" name="Rectangle 146"/>
                <p:cNvSpPr/>
                <p:nvPr/>
              </p:nvSpPr>
              <p:spPr bwMode="auto">
                <a:xfrm>
                  <a:off x="39624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</p:grpSp>
        </p:grpSp>
        <p:grpSp>
          <p:nvGrpSpPr>
            <p:cNvPr id="198" name="Group 197"/>
            <p:cNvGrpSpPr/>
            <p:nvPr/>
          </p:nvGrpSpPr>
          <p:grpSpPr>
            <a:xfrm>
              <a:off x="609600" y="1664732"/>
              <a:ext cx="1371600" cy="762000"/>
              <a:chOff x="3124200" y="3505200"/>
              <a:chExt cx="1371600" cy="762000"/>
            </a:xfrm>
          </p:grpSpPr>
          <p:sp>
            <p:nvSpPr>
              <p:cNvPr id="199" name="Rounded Rectangle 198"/>
              <p:cNvSpPr/>
              <p:nvPr/>
            </p:nvSpPr>
            <p:spPr bwMode="auto">
              <a:xfrm>
                <a:off x="3124200" y="3505200"/>
                <a:ext cx="1371600" cy="762000"/>
              </a:xfrm>
              <a:prstGeom prst="roundRect">
                <a:avLst/>
              </a:prstGeom>
              <a:solidFill>
                <a:schemeClr val="bg2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 smtClean="0">
                    <a:solidFill>
                      <a:schemeClr val="tx1"/>
                    </a:solidFill>
                    <a:latin typeface="Calibri" pitchFamily="34" charset="0"/>
                  </a:rPr>
                  <a:t>topic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endParaRPr>
              </a:p>
            </p:txBody>
          </p:sp>
          <p:grpSp>
            <p:nvGrpSpPr>
              <p:cNvPr id="200" name="Group 199"/>
              <p:cNvGrpSpPr/>
              <p:nvPr/>
            </p:nvGrpSpPr>
            <p:grpSpPr>
              <a:xfrm>
                <a:off x="3200400" y="3886200"/>
                <a:ext cx="1219200" cy="306388"/>
                <a:chOff x="3276600" y="1981200"/>
                <a:chExt cx="1219200" cy="306388"/>
              </a:xfrm>
            </p:grpSpPr>
            <p:cxnSp>
              <p:nvCxnSpPr>
                <p:cNvPr id="201" name="Straight Connector 200"/>
                <p:cNvCxnSpPr/>
                <p:nvPr/>
              </p:nvCxnSpPr>
              <p:spPr bwMode="auto">
                <a:xfrm>
                  <a:off x="3276600" y="19812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02" name="Straight Connector 201"/>
                <p:cNvCxnSpPr/>
                <p:nvPr/>
              </p:nvCxnSpPr>
              <p:spPr bwMode="auto">
                <a:xfrm>
                  <a:off x="3276600" y="22860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03" name="Rectangle 202"/>
                <p:cNvSpPr/>
                <p:nvPr/>
              </p:nvSpPr>
              <p:spPr bwMode="auto">
                <a:xfrm>
                  <a:off x="35052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04" name="Rectangle 203"/>
                <p:cNvSpPr/>
                <p:nvPr/>
              </p:nvSpPr>
              <p:spPr bwMode="auto">
                <a:xfrm>
                  <a:off x="37338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05" name="Rectangle 204"/>
                <p:cNvSpPr/>
                <p:nvPr/>
              </p:nvSpPr>
              <p:spPr bwMode="auto">
                <a:xfrm>
                  <a:off x="39624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</p:grpSp>
        </p:grpSp>
        <p:cxnSp>
          <p:nvCxnSpPr>
            <p:cNvPr id="163" name="Straight Arrow Connector 162"/>
            <p:cNvCxnSpPr>
              <a:stCxn id="141" idx="3"/>
              <a:endCxn id="92" idx="1"/>
            </p:cNvCxnSpPr>
            <p:nvPr/>
          </p:nvCxnSpPr>
          <p:spPr bwMode="auto">
            <a:xfrm flipV="1">
              <a:off x="1981200" y="2922032"/>
              <a:ext cx="533400" cy="381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6" name="Straight Arrow Connector 205"/>
            <p:cNvCxnSpPr>
              <a:stCxn id="199" idx="3"/>
              <a:endCxn id="94" idx="1"/>
            </p:cNvCxnSpPr>
            <p:nvPr/>
          </p:nvCxnSpPr>
          <p:spPr bwMode="auto">
            <a:xfrm>
              <a:off x="1981200" y="2045732"/>
              <a:ext cx="533400" cy="381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4" name="Straight Arrow Connector 163"/>
            <p:cNvCxnSpPr>
              <a:stCxn id="93" idx="3"/>
              <a:endCxn id="148" idx="1"/>
            </p:cNvCxnSpPr>
            <p:nvPr/>
          </p:nvCxnSpPr>
          <p:spPr bwMode="auto">
            <a:xfrm>
              <a:off x="6629400" y="2922032"/>
              <a:ext cx="533400" cy="381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Straight Arrow Connector 166"/>
            <p:cNvCxnSpPr>
              <a:stCxn id="97" idx="3"/>
              <a:endCxn id="155" idx="1"/>
            </p:cNvCxnSpPr>
            <p:nvPr/>
          </p:nvCxnSpPr>
          <p:spPr bwMode="auto">
            <a:xfrm flipV="1">
              <a:off x="6629400" y="2045732"/>
              <a:ext cx="533400" cy="3810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54501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4114800" cy="4525963"/>
          </a:xfrm>
        </p:spPr>
        <p:txBody>
          <a:bodyPr/>
          <a:lstStyle/>
          <a:p>
            <a:r>
              <a:rPr lang="en-US" sz="2400" dirty="0" smtClean="0"/>
              <a:t>Actor</a:t>
            </a:r>
          </a:p>
          <a:p>
            <a:pPr lvl="1"/>
            <a:r>
              <a:rPr lang="en-US" sz="2000" dirty="0" smtClean="0"/>
              <a:t>Called by Director</a:t>
            </a:r>
          </a:p>
          <a:p>
            <a:pPr lvl="1"/>
            <a:r>
              <a:rPr lang="en-US" sz="2000" dirty="0"/>
              <a:t>A</a:t>
            </a:r>
            <a:r>
              <a:rPr lang="en-US" sz="2000" dirty="0" smtClean="0"/>
              <a:t>bstract </a:t>
            </a:r>
            <a:r>
              <a:rPr lang="en-US" sz="2000" dirty="0"/>
              <a:t>interface for concrete </a:t>
            </a:r>
            <a:r>
              <a:rPr lang="en-US" sz="2000" dirty="0" smtClean="0"/>
              <a:t>implementation</a:t>
            </a:r>
          </a:p>
          <a:p>
            <a:pPr lvl="1"/>
            <a:r>
              <a:rPr lang="en-US" sz="2000" dirty="0" smtClean="0"/>
              <a:t>Execute job / analysis</a:t>
            </a:r>
          </a:p>
          <a:p>
            <a:pPr lvl="1"/>
            <a:r>
              <a:rPr lang="en-US" sz="2000" dirty="0" smtClean="0"/>
              <a:t>Report status</a:t>
            </a:r>
          </a:p>
          <a:p>
            <a:pPr marL="457200" lvl="1" indent="0">
              <a:buNone/>
            </a:pPr>
            <a:endParaRPr lang="en-US" sz="2000" dirty="0" smtClean="0"/>
          </a:p>
          <a:p>
            <a:r>
              <a:rPr lang="en-US" sz="2400" dirty="0" smtClean="0"/>
              <a:t>Analysis</a:t>
            </a:r>
          </a:p>
          <a:p>
            <a:pPr lvl="1"/>
            <a:r>
              <a:rPr lang="en-US" sz="2000" dirty="0" smtClean="0"/>
              <a:t>External application</a:t>
            </a:r>
          </a:p>
          <a:p>
            <a:pPr lvl="1"/>
            <a:r>
              <a:rPr lang="en-US" sz="2000" dirty="0" smtClean="0"/>
              <a:t>Internal code</a:t>
            </a:r>
          </a:p>
          <a:p>
            <a:pPr lvl="1"/>
            <a:r>
              <a:rPr lang="en-US" sz="2000" dirty="0" smtClean="0"/>
              <a:t>Read input data from HDF5</a:t>
            </a:r>
          </a:p>
          <a:p>
            <a:pPr lvl="1"/>
            <a:r>
              <a:rPr lang="en-US" sz="2000" dirty="0" smtClean="0"/>
              <a:t>Write output data to HDF5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4D8C-3CB4-402A-BC46-2AB14C0FE90A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69" name="Group 68"/>
          <p:cNvGrpSpPr/>
          <p:nvPr/>
        </p:nvGrpSpPr>
        <p:grpSpPr>
          <a:xfrm>
            <a:off x="4876800" y="1371600"/>
            <a:ext cx="3657600" cy="2362200"/>
            <a:chOff x="4800600" y="1752600"/>
            <a:chExt cx="3657600" cy="2362200"/>
          </a:xfrm>
        </p:grpSpPr>
        <p:sp>
          <p:nvSpPr>
            <p:cNvPr id="44" name="Rounded Rectangle 43"/>
            <p:cNvSpPr/>
            <p:nvPr/>
          </p:nvSpPr>
          <p:spPr bwMode="auto">
            <a:xfrm>
              <a:off x="4800600" y="2121932"/>
              <a:ext cx="3657600" cy="1992868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280587" y="1752600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Actor</a:t>
              </a:r>
              <a:endParaRPr lang="en-US" dirty="0"/>
            </a:p>
          </p:txBody>
        </p:sp>
        <p:sp>
          <p:nvSpPr>
            <p:cNvPr id="54" name="Rounded Rectangle 53"/>
            <p:cNvSpPr/>
            <p:nvPr/>
          </p:nvSpPr>
          <p:spPr bwMode="auto">
            <a:xfrm>
              <a:off x="5029200" y="2362200"/>
              <a:ext cx="3200400" cy="1002268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latin typeface="Calibri" pitchFamily="34" charset="0"/>
                </a:rPr>
                <a:t>Status execute</a:t>
              </a:r>
              <a:r>
                <a:rPr lang="en-US" dirty="0" smtClean="0">
                  <a:solidFill>
                    <a:schemeClr val="tx1"/>
                  </a:solidFill>
                  <a:latin typeface="Calibri" pitchFamily="34" charset="0"/>
                </a:rPr>
                <a:t>(hdf5Entry,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latin typeface="Calibri" pitchFamily="34" charset="0"/>
                </a:rPr>
                <a:t> </a:t>
              </a:r>
              <a:r>
                <a:rPr lang="en-US" dirty="0" smtClean="0">
                  <a:solidFill>
                    <a:schemeClr val="tx1"/>
                  </a:solidFill>
                  <a:latin typeface="Calibri" pitchFamily="34" charset="0"/>
                </a:rPr>
                <a:t>                           </a:t>
              </a:r>
              <a:r>
                <a:rPr lang="en-US" dirty="0" err="1" smtClean="0">
                  <a:solidFill>
                    <a:schemeClr val="tx1"/>
                  </a:solidFill>
                  <a:latin typeface="Calibri" pitchFamily="34" charset="0"/>
                </a:rPr>
                <a:t>inputURI</a:t>
              </a:r>
              <a:r>
                <a:rPr lang="en-US" dirty="0" smtClean="0">
                  <a:solidFill>
                    <a:schemeClr val="tx1"/>
                  </a:solidFill>
                  <a:latin typeface="Calibri" pitchFamily="34" charset="0"/>
                </a:rPr>
                <a:t>,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latin typeface="Calibri" pitchFamily="34" charset="0"/>
                </a:rPr>
                <a:t> </a:t>
              </a:r>
              <a:r>
                <a:rPr lang="en-US" dirty="0" smtClean="0">
                  <a:solidFill>
                    <a:schemeClr val="tx1"/>
                  </a:solidFill>
                  <a:latin typeface="Calibri" pitchFamily="34" charset="0"/>
                </a:rPr>
                <a:t>                           </a:t>
              </a:r>
              <a:r>
                <a:rPr lang="en-US" dirty="0" err="1" smtClean="0">
                  <a:solidFill>
                    <a:schemeClr val="tx1"/>
                  </a:solidFill>
                  <a:latin typeface="Calibri" pitchFamily="34" charset="0"/>
                </a:rPr>
                <a:t>outputURI</a:t>
              </a:r>
              <a:r>
                <a:rPr lang="en-US" dirty="0" smtClean="0">
                  <a:solidFill>
                    <a:schemeClr val="tx1"/>
                  </a:solidFill>
                  <a:latin typeface="Calibri" pitchFamily="34" charset="0"/>
                </a:rPr>
                <a:t>)</a:t>
              </a:r>
              <a:endParaRPr lang="en-US" dirty="0">
                <a:solidFill>
                  <a:schemeClr val="tx1"/>
                </a:solidFill>
                <a:latin typeface="Calibri" pitchFamily="34" charset="0"/>
              </a:endParaRPr>
            </a:p>
          </p:txBody>
        </p:sp>
        <p:sp>
          <p:nvSpPr>
            <p:cNvPr id="55" name="Rounded Rectangle 54"/>
            <p:cNvSpPr/>
            <p:nvPr/>
          </p:nvSpPr>
          <p:spPr bwMode="auto">
            <a:xfrm>
              <a:off x="5029200" y="3505200"/>
              <a:ext cx="3200400" cy="38100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latin typeface="Calibri" pitchFamily="34" charset="0"/>
                </a:rPr>
                <a:t>Status abort()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4743567" y="4114800"/>
            <a:ext cx="4001117" cy="1740932"/>
            <a:chOff x="4743567" y="4114800"/>
            <a:chExt cx="4001117" cy="1740932"/>
          </a:xfrm>
        </p:grpSpPr>
        <p:sp>
          <p:nvSpPr>
            <p:cNvPr id="57" name="Can 56"/>
            <p:cNvSpPr/>
            <p:nvPr/>
          </p:nvSpPr>
          <p:spPr bwMode="auto">
            <a:xfrm>
              <a:off x="4800600" y="4636532"/>
              <a:ext cx="838200" cy="533400"/>
            </a:xfrm>
            <a:prstGeom prst="ca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HDF5</a:t>
              </a:r>
            </a:p>
          </p:txBody>
        </p:sp>
        <p:sp>
          <p:nvSpPr>
            <p:cNvPr id="61" name="Can 60"/>
            <p:cNvSpPr/>
            <p:nvPr/>
          </p:nvSpPr>
          <p:spPr bwMode="auto">
            <a:xfrm>
              <a:off x="7772400" y="4636532"/>
              <a:ext cx="838200" cy="533400"/>
            </a:xfrm>
            <a:prstGeom prst="can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HDF5</a:t>
              </a:r>
            </a:p>
          </p:txBody>
        </p:sp>
        <p:grpSp>
          <p:nvGrpSpPr>
            <p:cNvPr id="63" name="Group 62"/>
            <p:cNvGrpSpPr/>
            <p:nvPr/>
          </p:nvGrpSpPr>
          <p:grpSpPr>
            <a:xfrm>
              <a:off x="5791200" y="4114800"/>
              <a:ext cx="1828800" cy="1740932"/>
              <a:chOff x="5791200" y="4355068"/>
              <a:chExt cx="1828800" cy="1740932"/>
            </a:xfrm>
          </p:grpSpPr>
          <p:sp>
            <p:nvSpPr>
              <p:cNvPr id="56" name="Rounded Rectangle 55"/>
              <p:cNvSpPr/>
              <p:nvPr/>
            </p:nvSpPr>
            <p:spPr bwMode="auto">
              <a:xfrm>
                <a:off x="5791200" y="4724400"/>
                <a:ext cx="1828800" cy="1371600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endParaRPr>
              </a:p>
            </p:txBody>
          </p:sp>
          <p:sp>
            <p:nvSpPr>
              <p:cNvPr id="59" name="Rounded Rectangle 58"/>
              <p:cNvSpPr/>
              <p:nvPr/>
            </p:nvSpPr>
            <p:spPr bwMode="auto">
              <a:xfrm>
                <a:off x="5943600" y="4876800"/>
                <a:ext cx="1524000" cy="4572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 smtClean="0">
                    <a:solidFill>
                      <a:schemeClr val="tx1"/>
                    </a:solidFill>
                    <a:latin typeface="Calibri" pitchFamily="34" charset="0"/>
                  </a:rPr>
                  <a:t>Do Analysis</a:t>
                </a:r>
                <a:endParaRPr lang="en-US" dirty="0">
                  <a:solidFill>
                    <a:schemeClr val="tx1"/>
                  </a:solidFill>
                  <a:latin typeface="Calibri" pitchFamily="34" charset="0"/>
                </a:endParaRPr>
              </a:p>
            </p:txBody>
          </p:sp>
          <p:sp>
            <p:nvSpPr>
              <p:cNvPr id="60" name="Rounded Rectangle 59"/>
              <p:cNvSpPr/>
              <p:nvPr/>
            </p:nvSpPr>
            <p:spPr bwMode="auto">
              <a:xfrm>
                <a:off x="5943600" y="5486400"/>
                <a:ext cx="1524000" cy="45720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 smtClean="0">
                    <a:solidFill>
                      <a:schemeClr val="tx1"/>
                    </a:solidFill>
                    <a:latin typeface="Calibri" pitchFamily="34" charset="0"/>
                  </a:rPr>
                  <a:t>Report Status</a:t>
                </a:r>
                <a:endParaRPr lang="en-US" dirty="0">
                  <a:solidFill>
                    <a:schemeClr val="tx1"/>
                  </a:solidFill>
                  <a:latin typeface="Calibri" pitchFamily="34" charset="0"/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6234959" y="4355068"/>
                <a:ext cx="9412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 smtClean="0"/>
                  <a:t>Analysis</a:t>
                </a:r>
                <a:endParaRPr lang="en-US" dirty="0"/>
              </a:p>
            </p:txBody>
          </p:sp>
        </p:grpSp>
        <p:cxnSp>
          <p:nvCxnSpPr>
            <p:cNvPr id="65" name="Straight Arrow Connector 64"/>
            <p:cNvCxnSpPr>
              <a:stCxn id="57" idx="4"/>
              <a:endCxn id="59" idx="1"/>
            </p:cNvCxnSpPr>
            <p:nvPr/>
          </p:nvCxnSpPr>
          <p:spPr bwMode="auto">
            <a:xfrm flipV="1">
              <a:off x="5638800" y="4865132"/>
              <a:ext cx="304800" cy="38100"/>
            </a:xfrm>
            <a:prstGeom prst="straightConnector1">
              <a:avLst/>
            </a:prstGeom>
            <a:ln w="38100">
              <a:headEnd type="none" w="med" len="med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stCxn id="59" idx="3"/>
              <a:endCxn id="61" idx="2"/>
            </p:cNvCxnSpPr>
            <p:nvPr/>
          </p:nvCxnSpPr>
          <p:spPr bwMode="auto">
            <a:xfrm>
              <a:off x="7467600" y="4865132"/>
              <a:ext cx="304800" cy="38100"/>
            </a:xfrm>
            <a:prstGeom prst="straightConnector1">
              <a:avLst/>
            </a:prstGeom>
            <a:ln w="38100">
              <a:headEnd type="none" w="med" len="med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Rectangle 70"/>
            <p:cNvSpPr/>
            <p:nvPr/>
          </p:nvSpPr>
          <p:spPr>
            <a:xfrm>
              <a:off x="4743567" y="5130224"/>
              <a:ext cx="1008008" cy="584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 err="1" smtClean="0">
                  <a:latin typeface="Calibri" pitchFamily="34" charset="0"/>
                </a:rPr>
                <a:t>inputURI</a:t>
              </a:r>
              <a:endParaRPr lang="en-US" sz="1600" dirty="0" smtClean="0">
                <a:latin typeface="Calibri" pitchFamily="34" charset="0"/>
              </a:endParaRPr>
            </a:p>
            <a:p>
              <a:pPr algn="ctr"/>
              <a:r>
                <a:rPr lang="en-US" sz="1600" dirty="0" smtClean="0">
                  <a:latin typeface="Calibri" pitchFamily="34" charset="0"/>
                </a:rPr>
                <a:t>hdf5Entry</a:t>
              </a:r>
              <a:endParaRPr lang="en-US" sz="1600" dirty="0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7696200" y="5130224"/>
              <a:ext cx="104848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dirty="0" err="1">
                  <a:latin typeface="Calibri" pitchFamily="34" charset="0"/>
                </a:rPr>
                <a:t>outputURI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77444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Sequence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4D8C-3CB4-402A-BC46-2AB14C0FE90A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55" name="Group 54"/>
          <p:cNvGrpSpPr/>
          <p:nvPr/>
        </p:nvGrpSpPr>
        <p:grpSpPr>
          <a:xfrm>
            <a:off x="381000" y="1371600"/>
            <a:ext cx="8264115" cy="4572000"/>
            <a:chOff x="381000" y="1447800"/>
            <a:chExt cx="8264115" cy="4572000"/>
          </a:xfrm>
        </p:grpSpPr>
        <p:cxnSp>
          <p:nvCxnSpPr>
            <p:cNvPr id="8" name="Straight Connector 7"/>
            <p:cNvCxnSpPr/>
            <p:nvPr/>
          </p:nvCxnSpPr>
          <p:spPr bwMode="auto">
            <a:xfrm>
              <a:off x="838200" y="1905000"/>
              <a:ext cx="0" cy="41148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auto">
            <a:xfrm>
              <a:off x="3276600" y="1905000"/>
              <a:ext cx="0" cy="41148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 bwMode="auto">
            <a:xfrm>
              <a:off x="838200" y="2198132"/>
              <a:ext cx="2438400" cy="0"/>
            </a:xfrm>
            <a:prstGeom prst="straightConnector1">
              <a:avLst/>
            </a:prstGeom>
            <a:ln w="38100" cmpd="sng">
              <a:headEnd type="none" w="med" len="med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auto">
            <a:xfrm>
              <a:off x="5715000" y="1905000"/>
              <a:ext cx="0" cy="41148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auto">
            <a:xfrm>
              <a:off x="8153400" y="1905000"/>
              <a:ext cx="0" cy="41148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81000" y="1447800"/>
              <a:ext cx="88247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Broker</a:t>
              </a:r>
              <a:endParaRPr lang="en-US" sz="20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743200" y="1447800"/>
              <a:ext cx="10438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Director</a:t>
              </a:r>
              <a:endParaRPr lang="en-US" sz="20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343896" y="1447800"/>
              <a:ext cx="7521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Actor</a:t>
              </a:r>
              <a:endParaRPr lang="en-US" sz="2000" dirty="0"/>
            </a:p>
          </p:txBody>
        </p:sp>
        <p:cxnSp>
          <p:nvCxnSpPr>
            <p:cNvPr id="22" name="Straight Arrow Connector 21"/>
            <p:cNvCxnSpPr/>
            <p:nvPr/>
          </p:nvCxnSpPr>
          <p:spPr bwMode="auto">
            <a:xfrm>
              <a:off x="3276600" y="3541931"/>
              <a:ext cx="2438400" cy="0"/>
            </a:xfrm>
            <a:prstGeom prst="straightConnector1">
              <a:avLst/>
            </a:prstGeom>
            <a:ln w="38100" cmpd="sng">
              <a:headEnd type="none" w="med" len="med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 bwMode="auto">
            <a:xfrm>
              <a:off x="5715000" y="3886200"/>
              <a:ext cx="2438400" cy="0"/>
            </a:xfrm>
            <a:prstGeom prst="straightConnector1">
              <a:avLst/>
            </a:prstGeom>
            <a:ln w="38100" cmpd="sng">
              <a:headEnd type="none" w="med" len="med"/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 bwMode="auto">
            <a:xfrm>
              <a:off x="838200" y="5867400"/>
              <a:ext cx="2438400" cy="0"/>
            </a:xfrm>
            <a:prstGeom prst="straightConnector1">
              <a:avLst/>
            </a:prstGeom>
            <a:ln w="38100" cmpd="sng">
              <a:headEnd type="triangle" w="lg" len="lg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 bwMode="auto">
            <a:xfrm>
              <a:off x="3276600" y="4800600"/>
              <a:ext cx="2438400" cy="0"/>
            </a:xfrm>
            <a:prstGeom prst="straightConnector1">
              <a:avLst/>
            </a:prstGeom>
            <a:ln w="38100" cmpd="sng">
              <a:headEnd type="triangle" w="lg" len="lg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 bwMode="auto">
            <a:xfrm>
              <a:off x="5715000" y="4648200"/>
              <a:ext cx="2438400" cy="0"/>
            </a:xfrm>
            <a:prstGeom prst="straightConnector1">
              <a:avLst/>
            </a:prstGeom>
            <a:ln w="38100" cmpd="sng">
              <a:headEnd type="triangle" w="lg" len="lg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3276600" y="2895600"/>
              <a:ext cx="231851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  <a:r>
                <a:rPr lang="en-US" dirty="0" smtClean="0"/>
                <a:t>xecute(hdf5Entry,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</a:t>
              </a:r>
              <a:r>
                <a:rPr lang="en-US" dirty="0" err="1" smtClean="0"/>
                <a:t>inputURI</a:t>
              </a:r>
              <a:r>
                <a:rPr lang="en-US" dirty="0" smtClean="0"/>
                <a:t>, </a:t>
              </a:r>
              <a:r>
                <a:rPr lang="en-US" dirty="0" err="1" smtClean="0"/>
                <a:t>outputURI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971800" y="2450068"/>
              <a:ext cx="2011601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  <a:r>
                <a:rPr lang="en-US" dirty="0" smtClean="0"/>
                <a:t>pdate provenance</a:t>
              </a:r>
              <a:endParaRPr 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971800" y="5029200"/>
              <a:ext cx="2011601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  <a:r>
                <a:rPr lang="en-US" dirty="0" smtClean="0"/>
                <a:t>pdate provenance</a:t>
              </a:r>
              <a:endParaRPr 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38200" y="1828800"/>
              <a:ext cx="21927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m</a:t>
              </a:r>
              <a:r>
                <a:rPr lang="en-US" i="1" dirty="0" smtClean="0"/>
                <a:t>essage from queue</a:t>
              </a:r>
              <a:endParaRPr lang="en-US" i="1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94971" y="5498068"/>
              <a:ext cx="15196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n</a:t>
              </a:r>
              <a:r>
                <a:rPr lang="en-US" i="1" dirty="0" smtClean="0"/>
                <a:t>ext message</a:t>
              </a:r>
              <a:endParaRPr lang="en-US" i="1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620000" y="1447800"/>
              <a:ext cx="10251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Analysis</a:t>
              </a:r>
              <a:endParaRPr lang="en-US" sz="20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715000" y="3239869"/>
              <a:ext cx="231851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  <a:r>
                <a:rPr lang="en-US" dirty="0" smtClean="0"/>
                <a:t>un(hdf5Entry,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</a:t>
              </a:r>
              <a:r>
                <a:rPr lang="en-US" dirty="0" err="1" smtClean="0"/>
                <a:t>inputURI</a:t>
              </a:r>
              <a:r>
                <a:rPr lang="en-US" dirty="0" smtClean="0"/>
                <a:t>, </a:t>
              </a:r>
              <a:r>
                <a:rPr lang="en-US" dirty="0" err="1" smtClean="0"/>
                <a:t>outputURI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867400" y="4267200"/>
              <a:ext cx="812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smtClean="0"/>
                <a:t>status</a:t>
              </a:r>
              <a:endParaRPr lang="en-US" i="1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429000" y="4419600"/>
              <a:ext cx="812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smtClean="0"/>
                <a:t>status</a:t>
              </a:r>
              <a:endParaRPr lang="en-US" i="1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620000" y="4114800"/>
              <a:ext cx="918077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 smtClean="0"/>
                <a:t>analysis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205801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Manufacturing Traveler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00199"/>
          </a:xfrm>
        </p:spPr>
        <p:txBody>
          <a:bodyPr/>
          <a:lstStyle/>
          <a:p>
            <a:r>
              <a:rPr lang="en-US" sz="2400" dirty="0"/>
              <a:t>Single HDF5 file takes role of “manufacturing traveler</a:t>
            </a:r>
            <a:r>
              <a:rPr lang="en-US" sz="2400" dirty="0" smtClean="0"/>
              <a:t>”</a:t>
            </a:r>
          </a:p>
          <a:p>
            <a:pPr lvl="1"/>
            <a:r>
              <a:rPr lang="en-US" sz="2000" dirty="0" smtClean="0"/>
              <a:t>Used </a:t>
            </a:r>
            <a:r>
              <a:rPr lang="en-US" sz="2000" dirty="0"/>
              <a:t>to track all steps of a manufacturing process </a:t>
            </a:r>
            <a:endParaRPr lang="en-US" sz="2000" dirty="0" smtClean="0"/>
          </a:p>
          <a:p>
            <a:r>
              <a:rPr lang="en-US" sz="2400" dirty="0" err="1" smtClean="0"/>
              <a:t>DataExchange</a:t>
            </a:r>
            <a:r>
              <a:rPr lang="en-US" sz="2400" dirty="0" smtClean="0"/>
              <a:t>: </a:t>
            </a:r>
            <a:r>
              <a:rPr lang="en-US" sz="2400" dirty="0" err="1" smtClean="0"/>
              <a:t>www.aps.anl.gov</a:t>
            </a:r>
            <a:r>
              <a:rPr lang="en-US" sz="2400" dirty="0" smtClean="0"/>
              <a:t>/</a:t>
            </a:r>
            <a:r>
              <a:rPr lang="en-US" sz="2400" dirty="0" err="1" smtClean="0"/>
              <a:t>DataExchange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4D8C-3CB4-402A-BC46-2AB14C0FE90A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1143000" y="3124200"/>
            <a:ext cx="6858000" cy="2677656"/>
            <a:chOff x="1143000" y="3124200"/>
            <a:chExt cx="6858000" cy="2677656"/>
          </a:xfrm>
        </p:grpSpPr>
        <p:sp>
          <p:nvSpPr>
            <p:cNvPr id="6" name="Rectangle 5"/>
            <p:cNvSpPr/>
            <p:nvPr/>
          </p:nvSpPr>
          <p:spPr>
            <a:xfrm>
              <a:off x="1143000" y="3124200"/>
              <a:ext cx="4792134" cy="26776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1400" dirty="0" smtClean="0"/>
                <a:t>/exchange_1</a:t>
              </a:r>
            </a:p>
            <a:p>
              <a:pPr>
                <a:buNone/>
              </a:pPr>
              <a:r>
                <a:rPr lang="en-US" sz="1400" dirty="0"/>
                <a:t>	</a:t>
              </a:r>
              <a:r>
                <a:rPr lang="en-US" sz="1400" dirty="0" smtClean="0"/>
                <a:t>/data</a:t>
              </a:r>
            </a:p>
            <a:p>
              <a:pPr>
                <a:buNone/>
              </a:pPr>
              <a:r>
                <a:rPr lang="en-US" sz="1400" dirty="0" smtClean="0"/>
                <a:t>/exchange_2</a:t>
              </a:r>
            </a:p>
            <a:p>
              <a:pPr>
                <a:buNone/>
              </a:pPr>
              <a:r>
                <a:rPr lang="en-US" sz="1400" dirty="0" smtClean="0"/>
                <a:t>	/data</a:t>
              </a:r>
            </a:p>
            <a:p>
              <a:pPr>
                <a:buNone/>
              </a:pPr>
              <a:r>
                <a:rPr lang="en-US" sz="1400" dirty="0" smtClean="0"/>
                <a:t>/</a:t>
              </a:r>
              <a:r>
                <a:rPr lang="en-US" sz="1400" dirty="0" err="1" smtClean="0"/>
                <a:t>mesaurement</a:t>
              </a:r>
              <a:endParaRPr lang="en-US" sz="1400" dirty="0" smtClean="0"/>
            </a:p>
            <a:p>
              <a:pPr>
                <a:buNone/>
              </a:pPr>
              <a:r>
                <a:rPr lang="en-US" sz="1400" dirty="0" smtClean="0"/>
                <a:t>	…details…</a:t>
              </a:r>
            </a:p>
            <a:p>
              <a:pPr>
                <a:buNone/>
              </a:pPr>
              <a:r>
                <a:rPr lang="en-US" sz="1400" dirty="0" smtClean="0"/>
                <a:t>/</a:t>
              </a:r>
              <a:r>
                <a:rPr lang="en-US" sz="1400" dirty="0" err="1" smtClean="0"/>
                <a:t>tomography_reconstruction</a:t>
              </a:r>
              <a:endParaRPr lang="en-US" sz="1400" dirty="0" smtClean="0"/>
            </a:p>
            <a:p>
              <a:pPr>
                <a:buNone/>
              </a:pPr>
              <a:r>
                <a:rPr lang="en-US" sz="1400" dirty="0" smtClean="0"/>
                <a:t>	/input		“/exchange_1”</a:t>
              </a:r>
            </a:p>
            <a:p>
              <a:pPr>
                <a:buNone/>
              </a:pPr>
              <a:r>
                <a:rPr lang="en-US" sz="1400" dirty="0" smtClean="0"/>
                <a:t>	/output		“/exchange_2”</a:t>
              </a:r>
            </a:p>
            <a:p>
              <a:pPr>
                <a:buNone/>
              </a:pPr>
              <a:r>
                <a:rPr lang="en-US" sz="1400" dirty="0" smtClean="0"/>
                <a:t>	…reconstruction specific parameters…</a:t>
              </a:r>
            </a:p>
            <a:p>
              <a:pPr>
                <a:buNone/>
              </a:pPr>
              <a:r>
                <a:rPr lang="en-US" sz="1400" dirty="0" smtClean="0"/>
                <a:t>/</a:t>
              </a:r>
              <a:r>
                <a:rPr lang="en-US" sz="1400" dirty="0" err="1" smtClean="0"/>
                <a:t>xpcs</a:t>
              </a:r>
              <a:endParaRPr lang="en-US" sz="1400" dirty="0" smtClean="0"/>
            </a:p>
            <a:p>
              <a:pPr>
                <a:buNone/>
              </a:pPr>
              <a:r>
                <a:rPr lang="en-US" sz="1400" dirty="0" smtClean="0"/>
                <a:t>	…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527775" y="4586115"/>
              <a:ext cx="2420016" cy="95410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1400" dirty="0" smtClean="0"/>
                <a:t>Each scientific analysis process </a:t>
              </a:r>
            </a:p>
            <a:p>
              <a:r>
                <a:rPr lang="en-US" sz="1400" dirty="0"/>
                <a:t>i</a:t>
              </a:r>
              <a:r>
                <a:rPr lang="en-US" sz="1400" dirty="0" smtClean="0"/>
                <a:t>dentifies its own </a:t>
              </a:r>
              <a:r>
                <a:rPr lang="en-US" sz="1400" dirty="0" err="1" smtClean="0"/>
                <a:t>input(s</a:t>
              </a:r>
              <a:r>
                <a:rPr lang="en-US" sz="1400" dirty="0" smtClean="0"/>
                <a:t>) and</a:t>
              </a:r>
            </a:p>
            <a:p>
              <a:r>
                <a:rPr lang="en-US" sz="1400" dirty="0" err="1"/>
                <a:t>o</a:t>
              </a:r>
              <a:r>
                <a:rPr lang="en-US" sz="1400" dirty="0" err="1" smtClean="0"/>
                <a:t>utput(s</a:t>
              </a:r>
              <a:r>
                <a:rPr lang="en-US" sz="1400" dirty="0" smtClean="0"/>
                <a:t>), and its own process </a:t>
              </a:r>
            </a:p>
            <a:p>
              <a:r>
                <a:rPr lang="en-US" sz="1400" dirty="0"/>
                <a:t>s</a:t>
              </a:r>
              <a:r>
                <a:rPr lang="en-US" sz="1400" dirty="0" smtClean="0"/>
                <a:t>pecific parameters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527775" y="3377095"/>
              <a:ext cx="2473225" cy="5232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Scientific data are stored in</a:t>
              </a:r>
            </a:p>
            <a:p>
              <a:r>
                <a:rPr lang="en-US" sz="1400" dirty="0" smtClean="0"/>
                <a:t>/</a:t>
              </a:r>
              <a:r>
                <a:rPr lang="en-US" sz="1400" dirty="0" err="1" smtClean="0"/>
                <a:t>exchange_n</a:t>
              </a:r>
              <a:r>
                <a:rPr lang="en-US" sz="1400" dirty="0" smtClean="0"/>
                <a:t> groups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82136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Provenance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4D8C-3CB4-402A-BC46-2AB14C0FE90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00199"/>
          </a:xfrm>
        </p:spPr>
        <p:txBody>
          <a:bodyPr/>
          <a:lstStyle/>
          <a:p>
            <a:r>
              <a:rPr lang="en-US" sz="2400" dirty="0"/>
              <a:t>Metadata about the sequence of processes applied to the file</a:t>
            </a:r>
          </a:p>
          <a:p>
            <a:r>
              <a:rPr lang="en-US" sz="2400" dirty="0"/>
              <a:t>A record of data movement and processing stored in a </a:t>
            </a:r>
            <a:r>
              <a:rPr lang="en-US" sz="2400" dirty="0" smtClean="0"/>
              <a:t>separate HDF5 </a:t>
            </a:r>
            <a:r>
              <a:rPr lang="en-US" sz="2400" dirty="0"/>
              <a:t>group</a:t>
            </a:r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66800" y="3050500"/>
            <a:ext cx="6767689" cy="28931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 smtClean="0"/>
              <a:t>/provenance</a:t>
            </a:r>
          </a:p>
          <a:p>
            <a:pPr>
              <a:buNone/>
            </a:pPr>
            <a:r>
              <a:rPr lang="en-US" sz="1400" dirty="0"/>
              <a:t>	</a:t>
            </a:r>
            <a:r>
              <a:rPr lang="en-US" sz="1400" dirty="0" smtClean="0"/>
              <a:t>/next</a:t>
            </a:r>
            <a:r>
              <a:rPr lang="en-US" sz="1400" dirty="0"/>
              <a:t>	</a:t>
            </a:r>
            <a:r>
              <a:rPr lang="en-US" sz="1400" dirty="0" smtClean="0"/>
              <a:t>		“process_2”</a:t>
            </a:r>
          </a:p>
          <a:p>
            <a:pPr>
              <a:buNone/>
            </a:pPr>
            <a:r>
              <a:rPr lang="en-US" sz="1400" dirty="0"/>
              <a:t>	</a:t>
            </a:r>
            <a:r>
              <a:rPr lang="en-US" sz="1400" dirty="0" smtClean="0"/>
              <a:t>/process_1</a:t>
            </a:r>
          </a:p>
          <a:p>
            <a:pPr>
              <a:buNone/>
            </a:pPr>
            <a:r>
              <a:rPr lang="en-US" sz="1400" dirty="0" smtClean="0"/>
              <a:t>		/status</a:t>
            </a:r>
            <a:r>
              <a:rPr lang="en-US" sz="1400" dirty="0"/>
              <a:t>	</a:t>
            </a:r>
            <a:r>
              <a:rPr lang="en-US" sz="1400" dirty="0" smtClean="0"/>
              <a:t>	RUNNING</a:t>
            </a:r>
          </a:p>
          <a:p>
            <a:pPr>
              <a:buNone/>
            </a:pPr>
            <a:r>
              <a:rPr lang="en-US" sz="1400" dirty="0" smtClean="0"/>
              <a:t>		/reference		“/provenance/</a:t>
            </a:r>
            <a:r>
              <a:rPr lang="en-US" sz="1400" dirty="0" err="1" smtClean="0"/>
              <a:t>gridftp</a:t>
            </a:r>
            <a:r>
              <a:rPr lang="en-US" sz="1400" dirty="0" smtClean="0"/>
              <a:t>”</a:t>
            </a:r>
          </a:p>
          <a:p>
            <a:pPr>
              <a:buNone/>
            </a:pPr>
            <a:r>
              <a:rPr lang="en-US" sz="1400" dirty="0" smtClean="0"/>
              <a:t>		/message	</a:t>
            </a:r>
            <a:r>
              <a:rPr lang="en-US" sz="1400" dirty="0"/>
              <a:t>	</a:t>
            </a:r>
            <a:r>
              <a:rPr lang="en-US" sz="1400" dirty="0" smtClean="0"/>
              <a:t>“”</a:t>
            </a:r>
          </a:p>
          <a:p>
            <a:pPr>
              <a:buNone/>
            </a:pPr>
            <a:r>
              <a:rPr lang="en-US" sz="1400" dirty="0" smtClean="0"/>
              <a:t>	/process_2</a:t>
            </a:r>
          </a:p>
          <a:p>
            <a:pPr>
              <a:buNone/>
            </a:pPr>
            <a:r>
              <a:rPr lang="en-US" sz="1400" dirty="0" smtClean="0"/>
              <a:t>		/status		PENDING</a:t>
            </a:r>
          </a:p>
          <a:p>
            <a:pPr>
              <a:buNone/>
            </a:pPr>
            <a:r>
              <a:rPr lang="en-US" sz="1400" dirty="0" smtClean="0"/>
              <a:t>		/reference</a:t>
            </a:r>
            <a:r>
              <a:rPr lang="en-US" sz="1400" dirty="0"/>
              <a:t>	</a:t>
            </a:r>
            <a:r>
              <a:rPr lang="en-US" sz="1400" dirty="0" smtClean="0"/>
              <a:t>	“/</a:t>
            </a:r>
            <a:r>
              <a:rPr lang="en-US" sz="1400" dirty="0" err="1" smtClean="0"/>
              <a:t>tomography_reconstruction</a:t>
            </a:r>
            <a:r>
              <a:rPr lang="en-US" sz="1400" dirty="0" smtClean="0"/>
              <a:t>”</a:t>
            </a:r>
          </a:p>
          <a:p>
            <a:pPr>
              <a:buNone/>
            </a:pPr>
            <a:r>
              <a:rPr lang="en-US" sz="1400" dirty="0" smtClean="0"/>
              <a:t>		/message		“”</a:t>
            </a:r>
          </a:p>
          <a:p>
            <a:pPr>
              <a:buNone/>
            </a:pPr>
            <a:r>
              <a:rPr lang="en-US" sz="1400" dirty="0" smtClean="0"/>
              <a:t>	/</a:t>
            </a:r>
            <a:r>
              <a:rPr lang="en-US" sz="1400" dirty="0" err="1" smtClean="0"/>
              <a:t>gridftp</a:t>
            </a:r>
            <a:endParaRPr lang="en-US" sz="1400" dirty="0" smtClean="0"/>
          </a:p>
          <a:p>
            <a:pPr>
              <a:buNone/>
            </a:pPr>
            <a:r>
              <a:rPr lang="en-US" sz="1400" dirty="0" smtClean="0"/>
              <a:t>		/source		</a:t>
            </a:r>
            <a:r>
              <a:rPr lang="en-US" sz="1400" dirty="0" err="1" smtClean="0"/>
              <a:t>URI:AreaDetectorSystem</a:t>
            </a:r>
            <a:endParaRPr lang="en-US" sz="1400" dirty="0" smtClean="0"/>
          </a:p>
          <a:p>
            <a:pPr>
              <a:buNone/>
            </a:pPr>
            <a:r>
              <a:rPr lang="en-US" sz="1400" dirty="0" smtClean="0"/>
              <a:t>		/destination		</a:t>
            </a:r>
            <a:r>
              <a:rPr lang="en-US" sz="1400" dirty="0" err="1" smtClean="0"/>
              <a:t>URI:Cluster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14633247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4D8C-3CB4-402A-BC46-2AB14C0FE90A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9" name="Picture 8" descr="PipelineClasses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1" y="1280789"/>
            <a:ext cx="3505200" cy="4891411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4114800" cy="4525963"/>
          </a:xfrm>
        </p:spPr>
        <p:txBody>
          <a:bodyPr/>
          <a:lstStyle/>
          <a:p>
            <a:r>
              <a:rPr lang="en-US" sz="2400" dirty="0" smtClean="0"/>
              <a:t>Languages</a:t>
            </a:r>
          </a:p>
          <a:p>
            <a:pPr lvl="1"/>
            <a:r>
              <a:rPr lang="en-US" sz="2000" dirty="0" smtClean="0"/>
              <a:t>Java </a:t>
            </a:r>
            <a:r>
              <a:rPr lang="en-US" sz="2000" dirty="0"/>
              <a:t>–</a:t>
            </a:r>
            <a:r>
              <a:rPr lang="en-US" sz="2000" dirty="0" smtClean="0"/>
              <a:t> </a:t>
            </a:r>
            <a:r>
              <a:rPr lang="en-US" sz="2000" dirty="0" err="1" smtClean="0"/>
              <a:t>ActiveMQ</a:t>
            </a:r>
            <a:endParaRPr lang="en-US" sz="2000" dirty="0" smtClean="0"/>
          </a:p>
          <a:p>
            <a:pPr lvl="1"/>
            <a:r>
              <a:rPr lang="en-US" sz="2000" dirty="0" smtClean="0"/>
              <a:t>C++ </a:t>
            </a:r>
            <a:r>
              <a:rPr lang="en-US" sz="2000" dirty="0"/>
              <a:t>–</a:t>
            </a:r>
            <a:r>
              <a:rPr lang="en-US" sz="2000" dirty="0" smtClean="0"/>
              <a:t> </a:t>
            </a:r>
            <a:r>
              <a:rPr lang="en-US" sz="2000" dirty="0" err="1" smtClean="0"/>
              <a:t>ActiveMQ</a:t>
            </a:r>
            <a:r>
              <a:rPr lang="en-US" sz="2000" dirty="0" smtClean="0"/>
              <a:t> CPP</a:t>
            </a:r>
          </a:p>
          <a:p>
            <a:pPr lvl="1"/>
            <a:r>
              <a:rPr lang="en-US" sz="2000" dirty="0" smtClean="0"/>
              <a:t>Python – STOMP</a:t>
            </a:r>
          </a:p>
          <a:p>
            <a:r>
              <a:rPr lang="en-US" sz="2400" dirty="0" smtClean="0"/>
              <a:t>Heterogeneous</a:t>
            </a:r>
          </a:p>
          <a:p>
            <a:pPr lvl="1"/>
            <a:r>
              <a:rPr lang="en-US" sz="2000" dirty="0" smtClean="0"/>
              <a:t>Different stages may use actors written in different languages</a:t>
            </a:r>
          </a:p>
          <a:p>
            <a:r>
              <a:rPr lang="en-US" sz="2400" dirty="0" smtClean="0"/>
              <a:t>Reusable “generic” actors</a:t>
            </a:r>
          </a:p>
          <a:p>
            <a:pPr lvl="1"/>
            <a:r>
              <a:rPr lang="en-US" sz="2000" dirty="0" smtClean="0"/>
              <a:t>Run command line scripts</a:t>
            </a:r>
          </a:p>
          <a:p>
            <a:pPr lvl="1"/>
            <a:r>
              <a:rPr lang="en-US" sz="2000" dirty="0" err="1" smtClean="0"/>
              <a:t>gridFTP</a:t>
            </a:r>
            <a:endParaRPr lang="en-US" sz="2000" dirty="0" smtClean="0"/>
          </a:p>
          <a:p>
            <a:pPr lvl="1"/>
            <a:r>
              <a:rPr lang="en-US" sz="2000" dirty="0" smtClean="0"/>
              <a:t>Launch </a:t>
            </a:r>
            <a:r>
              <a:rPr lang="en-US" sz="2000" dirty="0" err="1" smtClean="0"/>
              <a:t>Hadoop</a:t>
            </a:r>
            <a:r>
              <a:rPr lang="en-US" sz="2000" dirty="0" smtClean="0"/>
              <a:t> jobs</a:t>
            </a:r>
          </a:p>
          <a:p>
            <a:pPr lvl="1"/>
            <a:r>
              <a:rPr lang="en-US" sz="2000" dirty="0" smtClean="0"/>
              <a:t>Monitor SGE</a:t>
            </a:r>
          </a:p>
          <a:p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6093800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3886200"/>
            <a:ext cx="7467600" cy="2209800"/>
          </a:xfrm>
        </p:spPr>
        <p:txBody>
          <a:bodyPr numCol="2"/>
          <a:lstStyle/>
          <a:p>
            <a:r>
              <a:rPr lang="en-US" sz="2000" dirty="0" smtClean="0"/>
              <a:t>Launch jobs</a:t>
            </a:r>
          </a:p>
          <a:p>
            <a:r>
              <a:rPr lang="en-US" sz="2000" dirty="0" smtClean="0"/>
              <a:t>View job parameters</a:t>
            </a:r>
          </a:p>
          <a:p>
            <a:r>
              <a:rPr lang="en-US" sz="2000" dirty="0" smtClean="0"/>
              <a:t>Edit job route</a:t>
            </a:r>
          </a:p>
          <a:p>
            <a:r>
              <a:rPr lang="en-US" sz="2000" dirty="0" smtClean="0"/>
              <a:t>View job status</a:t>
            </a:r>
          </a:p>
          <a:p>
            <a:r>
              <a:rPr lang="en-US" sz="2000" dirty="0" smtClean="0"/>
              <a:t>Kill </a:t>
            </a:r>
            <a:r>
              <a:rPr lang="en-US" sz="2000" dirty="0"/>
              <a:t>jobs / Remove old </a:t>
            </a:r>
            <a:r>
              <a:rPr lang="en-US" sz="2000" dirty="0" smtClean="0"/>
              <a:t>jobs</a:t>
            </a:r>
          </a:p>
          <a:p>
            <a:r>
              <a:rPr lang="en-US" sz="2000" dirty="0"/>
              <a:t>View raw </a:t>
            </a:r>
            <a:r>
              <a:rPr lang="en-US" sz="2000" dirty="0" smtClean="0"/>
              <a:t>JMS messages</a:t>
            </a:r>
          </a:p>
          <a:p>
            <a:r>
              <a:rPr lang="en-US" sz="2000" dirty="0" smtClean="0"/>
              <a:t>History queue</a:t>
            </a:r>
          </a:p>
          <a:p>
            <a:r>
              <a:rPr lang="en-US" sz="2000" dirty="0" smtClean="0"/>
              <a:t>Control topic</a:t>
            </a:r>
          </a:p>
          <a:p>
            <a:pPr marL="0" indent="0">
              <a:buNone/>
            </a:pPr>
            <a:endParaRPr lang="en-US" sz="2000" dirty="0" smtClean="0"/>
          </a:p>
          <a:p>
            <a:r>
              <a:rPr lang="en-US" sz="2000" dirty="0" smtClean="0"/>
              <a:t>C++ and </a:t>
            </a:r>
            <a:r>
              <a:rPr lang="en-US" sz="2000" dirty="0" err="1" smtClean="0"/>
              <a:t>Qt</a:t>
            </a:r>
            <a:endParaRPr lang="en-US" sz="2000" dirty="0" smtClean="0"/>
          </a:p>
          <a:p>
            <a:r>
              <a:rPr lang="en-US" sz="2000" dirty="0" smtClean="0"/>
              <a:t>Linux, OS X, and Windows builds</a:t>
            </a: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4D8C-3CB4-402A-BC46-2AB14C0FE90A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8" name="Picture 7" descr="0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61939"/>
            <a:ext cx="7391400" cy="257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8090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Tomography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76400"/>
            <a:ext cx="3124200" cy="4191000"/>
          </a:xfrm>
        </p:spPr>
        <p:txBody>
          <a:bodyPr/>
          <a:lstStyle/>
          <a:p>
            <a:r>
              <a:rPr lang="en-US" sz="2400" dirty="0" smtClean="0"/>
              <a:t>APS 2-BM</a:t>
            </a:r>
            <a:r>
              <a:rPr lang="en-US" sz="2400" dirty="0"/>
              <a:t>-</a:t>
            </a:r>
            <a:r>
              <a:rPr lang="en-US" sz="2400" dirty="0" smtClean="0"/>
              <a:t>B</a:t>
            </a:r>
          </a:p>
          <a:p>
            <a:pPr lvl="0"/>
            <a:r>
              <a:rPr lang="en-US" sz="2400" dirty="0" smtClean="0">
                <a:solidFill>
                  <a:srgbClr val="616161"/>
                </a:solidFill>
              </a:rPr>
              <a:t>2K x 2K per frame</a:t>
            </a:r>
            <a:endParaRPr lang="en-US" sz="2400" dirty="0">
              <a:solidFill>
                <a:srgbClr val="616161"/>
              </a:solidFill>
            </a:endParaRPr>
          </a:p>
          <a:p>
            <a:pPr lvl="0"/>
            <a:r>
              <a:rPr lang="en-US" sz="2400" dirty="0" smtClean="0"/>
              <a:t>1,500 </a:t>
            </a:r>
            <a:r>
              <a:rPr lang="en-US" sz="2400" dirty="0"/>
              <a:t>projections per fly </a:t>
            </a:r>
            <a:r>
              <a:rPr lang="en-US" sz="2400" dirty="0" smtClean="0"/>
              <a:t>scan</a:t>
            </a:r>
          </a:p>
          <a:p>
            <a:pPr lvl="0"/>
            <a:r>
              <a:rPr lang="en-US" sz="2400" dirty="0" smtClean="0"/>
              <a:t>~13 GB </a:t>
            </a:r>
            <a:r>
              <a:rPr lang="en-US" sz="2400" dirty="0"/>
              <a:t>per </a:t>
            </a:r>
            <a:r>
              <a:rPr lang="en-US" sz="2400" dirty="0" smtClean="0"/>
              <a:t>sample</a:t>
            </a:r>
          </a:p>
          <a:p>
            <a:r>
              <a:rPr lang="en-US" sz="2400" dirty="0" smtClean="0"/>
              <a:t>10 </a:t>
            </a:r>
            <a:r>
              <a:rPr lang="en-US" sz="2400" dirty="0"/>
              <a:t>TB </a:t>
            </a:r>
            <a:r>
              <a:rPr lang="en-US" sz="2400" dirty="0" smtClean="0"/>
              <a:t>raw </a:t>
            </a:r>
            <a:r>
              <a:rPr lang="en-US" sz="2400" dirty="0"/>
              <a:t>detector data </a:t>
            </a:r>
            <a:r>
              <a:rPr lang="en-US" sz="2400" dirty="0" smtClean="0"/>
              <a:t>per day</a:t>
            </a:r>
          </a:p>
          <a:p>
            <a:r>
              <a:rPr lang="en-US" sz="2400" dirty="0" smtClean="0"/>
              <a:t>40 TB </a:t>
            </a:r>
            <a:r>
              <a:rPr lang="en-US" sz="2400" dirty="0"/>
              <a:t>reconstructed data </a:t>
            </a:r>
            <a:r>
              <a:rPr lang="en-US" sz="2400" dirty="0" smtClean="0"/>
              <a:t>per day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4D8C-3CB4-402A-BC46-2AB14C0FE90A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141" name="Group 140"/>
          <p:cNvGrpSpPr/>
          <p:nvPr/>
        </p:nvGrpSpPr>
        <p:grpSpPr>
          <a:xfrm>
            <a:off x="3429000" y="1447800"/>
            <a:ext cx="5410199" cy="4191000"/>
            <a:chOff x="3429000" y="1828800"/>
            <a:chExt cx="5410199" cy="4191000"/>
          </a:xfrm>
        </p:grpSpPr>
        <p:sp>
          <p:nvSpPr>
            <p:cNvPr id="8" name="Rounded Rectangle 7"/>
            <p:cNvSpPr/>
            <p:nvPr/>
          </p:nvSpPr>
          <p:spPr bwMode="auto">
            <a:xfrm>
              <a:off x="5105400" y="2057400"/>
              <a:ext cx="1676400" cy="76200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 err="1" smtClean="0">
                  <a:solidFill>
                    <a:schemeClr val="tx1"/>
                  </a:solidFill>
                  <a:latin typeface="Calibri" pitchFamily="34" charset="0"/>
                </a:rPr>
                <a:t>gridFTP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 bwMode="auto">
            <a:xfrm>
              <a:off x="5143500" y="3352800"/>
              <a:ext cx="1676400" cy="76200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chemeClr val="tx1"/>
                  </a:solidFill>
                  <a:latin typeface="Calibri" pitchFamily="34" charset="0"/>
                </a:rPr>
                <a:t>r</a:t>
              </a:r>
              <a:r>
                <a:rPr lang="en-US" dirty="0" smtClean="0">
                  <a:solidFill>
                    <a:schemeClr val="tx1"/>
                  </a:solidFill>
                  <a:latin typeface="Calibri" pitchFamily="34" charset="0"/>
                </a:rPr>
                <a:t>econstruction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(GPU cluster)</a:t>
              </a:r>
            </a:p>
          </p:txBody>
        </p:sp>
        <p:sp>
          <p:nvSpPr>
            <p:cNvPr id="51" name="Rounded Rectangle 50"/>
            <p:cNvSpPr/>
            <p:nvPr/>
          </p:nvSpPr>
          <p:spPr bwMode="auto">
            <a:xfrm>
              <a:off x="5105400" y="4648200"/>
              <a:ext cx="1676400" cy="76200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 err="1" smtClean="0">
                  <a:solidFill>
                    <a:schemeClr val="tx1"/>
                  </a:solidFill>
                  <a:latin typeface="Calibri" pitchFamily="34" charset="0"/>
                </a:rPr>
                <a:t>gridFTP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3429000" y="4648200"/>
              <a:ext cx="1371600" cy="762000"/>
              <a:chOff x="3124200" y="3505200"/>
              <a:chExt cx="1371600" cy="762000"/>
            </a:xfrm>
          </p:grpSpPr>
          <p:sp>
            <p:nvSpPr>
              <p:cNvPr id="24" name="Rounded Rectangle 23"/>
              <p:cNvSpPr/>
              <p:nvPr/>
            </p:nvSpPr>
            <p:spPr bwMode="auto">
              <a:xfrm>
                <a:off x="3124200" y="3505200"/>
                <a:ext cx="1371600" cy="762000"/>
              </a:xfrm>
              <a:prstGeom prst="roundRect">
                <a:avLst/>
              </a:prstGeom>
              <a:solidFill>
                <a:schemeClr val="bg2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</a:rPr>
                  <a:t>q</a:t>
                </a:r>
                <a:r>
                  <a:rPr lang="en-US" dirty="0" smtClean="0">
                    <a:solidFill>
                      <a:schemeClr val="tx1"/>
                    </a:solidFill>
                    <a:latin typeface="Calibri" pitchFamily="34" charset="0"/>
                  </a:rPr>
                  <a:t>ueue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endParaRPr>
              </a:p>
            </p:txBody>
          </p:sp>
          <p:grpSp>
            <p:nvGrpSpPr>
              <p:cNvPr id="25" name="Group 24"/>
              <p:cNvGrpSpPr/>
              <p:nvPr/>
            </p:nvGrpSpPr>
            <p:grpSpPr>
              <a:xfrm>
                <a:off x="3200400" y="3886200"/>
                <a:ext cx="1219200" cy="306388"/>
                <a:chOff x="3276600" y="1981200"/>
                <a:chExt cx="1219200" cy="306388"/>
              </a:xfrm>
            </p:grpSpPr>
            <p:cxnSp>
              <p:nvCxnSpPr>
                <p:cNvPr id="26" name="Straight Connector 25"/>
                <p:cNvCxnSpPr/>
                <p:nvPr/>
              </p:nvCxnSpPr>
              <p:spPr bwMode="auto">
                <a:xfrm>
                  <a:off x="3276600" y="19812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7" name="Straight Connector 26"/>
                <p:cNvCxnSpPr/>
                <p:nvPr/>
              </p:nvCxnSpPr>
              <p:spPr bwMode="auto">
                <a:xfrm>
                  <a:off x="3276600" y="22860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8" name="Rectangle 27"/>
                <p:cNvSpPr/>
                <p:nvPr/>
              </p:nvSpPr>
              <p:spPr bwMode="auto">
                <a:xfrm>
                  <a:off x="35052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9" name="Rectangle 28"/>
                <p:cNvSpPr/>
                <p:nvPr/>
              </p:nvSpPr>
              <p:spPr bwMode="auto">
                <a:xfrm>
                  <a:off x="37338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30" name="Rectangle 29"/>
                <p:cNvSpPr/>
                <p:nvPr/>
              </p:nvSpPr>
              <p:spPr bwMode="auto">
                <a:xfrm>
                  <a:off x="39624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</p:grpSp>
        </p:grpSp>
        <p:grpSp>
          <p:nvGrpSpPr>
            <p:cNvPr id="12" name="Group 11"/>
            <p:cNvGrpSpPr/>
            <p:nvPr/>
          </p:nvGrpSpPr>
          <p:grpSpPr>
            <a:xfrm>
              <a:off x="3429000" y="3352800"/>
              <a:ext cx="1371600" cy="762000"/>
              <a:chOff x="3124200" y="3505200"/>
              <a:chExt cx="1371600" cy="762000"/>
            </a:xfrm>
          </p:grpSpPr>
          <p:sp>
            <p:nvSpPr>
              <p:cNvPr id="17" name="Rounded Rectangle 16"/>
              <p:cNvSpPr/>
              <p:nvPr/>
            </p:nvSpPr>
            <p:spPr bwMode="auto">
              <a:xfrm>
                <a:off x="3124200" y="3505200"/>
                <a:ext cx="1371600" cy="762000"/>
              </a:xfrm>
              <a:prstGeom prst="roundRect">
                <a:avLst/>
              </a:prstGeom>
              <a:solidFill>
                <a:schemeClr val="bg2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</a:rPr>
                  <a:t>q</a:t>
                </a:r>
                <a:r>
                  <a:rPr lang="en-US" dirty="0" smtClean="0">
                    <a:solidFill>
                      <a:schemeClr val="tx1"/>
                    </a:solidFill>
                    <a:latin typeface="Calibri" pitchFamily="34" charset="0"/>
                  </a:rPr>
                  <a:t>ueue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endParaRPr>
              </a:p>
            </p:txBody>
          </p:sp>
          <p:grpSp>
            <p:nvGrpSpPr>
              <p:cNvPr id="18" name="Group 17"/>
              <p:cNvGrpSpPr/>
              <p:nvPr/>
            </p:nvGrpSpPr>
            <p:grpSpPr>
              <a:xfrm>
                <a:off x="3200400" y="3886200"/>
                <a:ext cx="1219200" cy="306388"/>
                <a:chOff x="3276600" y="1981200"/>
                <a:chExt cx="1219200" cy="306388"/>
              </a:xfrm>
            </p:grpSpPr>
            <p:cxnSp>
              <p:nvCxnSpPr>
                <p:cNvPr id="19" name="Straight Connector 18"/>
                <p:cNvCxnSpPr/>
                <p:nvPr/>
              </p:nvCxnSpPr>
              <p:spPr bwMode="auto">
                <a:xfrm>
                  <a:off x="3276600" y="19812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0" name="Straight Connector 19"/>
                <p:cNvCxnSpPr/>
                <p:nvPr/>
              </p:nvCxnSpPr>
              <p:spPr bwMode="auto">
                <a:xfrm>
                  <a:off x="3276600" y="22860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1" name="Rectangle 20"/>
                <p:cNvSpPr/>
                <p:nvPr/>
              </p:nvSpPr>
              <p:spPr bwMode="auto">
                <a:xfrm>
                  <a:off x="35052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2" name="Rectangle 21"/>
                <p:cNvSpPr/>
                <p:nvPr/>
              </p:nvSpPr>
              <p:spPr bwMode="auto">
                <a:xfrm>
                  <a:off x="37338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23" name="Rectangle 22"/>
                <p:cNvSpPr/>
                <p:nvPr/>
              </p:nvSpPr>
              <p:spPr bwMode="auto">
                <a:xfrm>
                  <a:off x="39624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</p:grpSp>
        </p:grpSp>
        <p:cxnSp>
          <p:nvCxnSpPr>
            <p:cNvPr id="13" name="Straight Arrow Connector 12"/>
            <p:cNvCxnSpPr>
              <a:stCxn id="8" idx="2"/>
              <a:endCxn id="17" idx="0"/>
            </p:cNvCxnSpPr>
            <p:nvPr/>
          </p:nvCxnSpPr>
          <p:spPr bwMode="auto">
            <a:xfrm flipH="1">
              <a:off x="4114800" y="2819400"/>
              <a:ext cx="1828800" cy="5334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7" idx="3"/>
              <a:endCxn id="9" idx="1"/>
            </p:cNvCxnSpPr>
            <p:nvPr/>
          </p:nvCxnSpPr>
          <p:spPr bwMode="auto">
            <a:xfrm>
              <a:off x="4800600" y="3733800"/>
              <a:ext cx="3429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9" idx="2"/>
              <a:endCxn id="24" idx="0"/>
            </p:cNvCxnSpPr>
            <p:nvPr/>
          </p:nvCxnSpPr>
          <p:spPr bwMode="auto">
            <a:xfrm flipH="1">
              <a:off x="4114800" y="4114800"/>
              <a:ext cx="1866900" cy="5334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24" idx="3"/>
              <a:endCxn id="51" idx="1"/>
            </p:cNvCxnSpPr>
            <p:nvPr/>
          </p:nvCxnSpPr>
          <p:spPr bwMode="auto">
            <a:xfrm>
              <a:off x="4800600" y="5029200"/>
              <a:ext cx="304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1" name="Group 30"/>
            <p:cNvGrpSpPr/>
            <p:nvPr/>
          </p:nvGrpSpPr>
          <p:grpSpPr>
            <a:xfrm>
              <a:off x="3429000" y="2057400"/>
              <a:ext cx="1371600" cy="762000"/>
              <a:chOff x="3124200" y="3505200"/>
              <a:chExt cx="1371600" cy="762000"/>
            </a:xfrm>
          </p:grpSpPr>
          <p:sp>
            <p:nvSpPr>
              <p:cNvPr id="32" name="Rounded Rectangle 31"/>
              <p:cNvSpPr/>
              <p:nvPr/>
            </p:nvSpPr>
            <p:spPr bwMode="auto">
              <a:xfrm>
                <a:off x="3124200" y="3505200"/>
                <a:ext cx="1371600" cy="762000"/>
              </a:xfrm>
              <a:prstGeom prst="roundRect">
                <a:avLst/>
              </a:prstGeom>
              <a:solidFill>
                <a:schemeClr val="bg2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</a:rPr>
                  <a:t>q</a:t>
                </a:r>
                <a:r>
                  <a:rPr lang="en-US" dirty="0" smtClean="0">
                    <a:solidFill>
                      <a:schemeClr val="tx1"/>
                    </a:solidFill>
                    <a:latin typeface="Calibri" pitchFamily="34" charset="0"/>
                  </a:rPr>
                  <a:t>ueue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endParaRPr>
              </a:p>
            </p:txBody>
          </p:sp>
          <p:grpSp>
            <p:nvGrpSpPr>
              <p:cNvPr id="33" name="Group 32"/>
              <p:cNvGrpSpPr/>
              <p:nvPr/>
            </p:nvGrpSpPr>
            <p:grpSpPr>
              <a:xfrm>
                <a:off x="3200400" y="3886200"/>
                <a:ext cx="1219200" cy="306388"/>
                <a:chOff x="3276600" y="1981200"/>
                <a:chExt cx="1219200" cy="306388"/>
              </a:xfrm>
            </p:grpSpPr>
            <p:cxnSp>
              <p:nvCxnSpPr>
                <p:cNvPr id="34" name="Straight Connector 33"/>
                <p:cNvCxnSpPr/>
                <p:nvPr/>
              </p:nvCxnSpPr>
              <p:spPr bwMode="auto">
                <a:xfrm>
                  <a:off x="3276600" y="19812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5" name="Straight Connector 34"/>
                <p:cNvCxnSpPr/>
                <p:nvPr/>
              </p:nvCxnSpPr>
              <p:spPr bwMode="auto">
                <a:xfrm>
                  <a:off x="3276600" y="22860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6" name="Rectangle 35"/>
                <p:cNvSpPr/>
                <p:nvPr/>
              </p:nvSpPr>
              <p:spPr bwMode="auto">
                <a:xfrm>
                  <a:off x="35052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37" name="Rectangle 36"/>
                <p:cNvSpPr/>
                <p:nvPr/>
              </p:nvSpPr>
              <p:spPr bwMode="auto">
                <a:xfrm>
                  <a:off x="37338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38" name="Rectangle 37"/>
                <p:cNvSpPr/>
                <p:nvPr/>
              </p:nvSpPr>
              <p:spPr bwMode="auto">
                <a:xfrm>
                  <a:off x="39624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</p:grpSp>
        </p:grpSp>
        <p:cxnSp>
          <p:nvCxnSpPr>
            <p:cNvPr id="39" name="Straight Arrow Connector 38"/>
            <p:cNvCxnSpPr>
              <a:stCxn id="32" idx="3"/>
              <a:endCxn id="8" idx="1"/>
            </p:cNvCxnSpPr>
            <p:nvPr/>
          </p:nvCxnSpPr>
          <p:spPr bwMode="auto">
            <a:xfrm>
              <a:off x="4800600" y="2438400"/>
              <a:ext cx="304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57" name="Group 56"/>
            <p:cNvGrpSpPr/>
            <p:nvPr/>
          </p:nvGrpSpPr>
          <p:grpSpPr>
            <a:xfrm>
              <a:off x="7086600" y="1828800"/>
              <a:ext cx="1752599" cy="1219200"/>
              <a:chOff x="2286001" y="1447800"/>
              <a:chExt cx="1828799" cy="1371600"/>
            </a:xfrm>
          </p:grpSpPr>
          <p:pic>
            <p:nvPicPr>
              <p:cNvPr id="58" name="Picture 5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286001" y="1930400"/>
                <a:ext cx="1110452" cy="736600"/>
              </a:xfrm>
              <a:prstGeom prst="rect">
                <a:avLst/>
              </a:prstGeom>
            </p:spPr>
          </p:pic>
          <p:sp>
            <p:nvSpPr>
              <p:cNvPr id="59" name="Rounded Rectangle 58"/>
              <p:cNvSpPr/>
              <p:nvPr/>
            </p:nvSpPr>
            <p:spPr bwMode="auto">
              <a:xfrm>
                <a:off x="2362200" y="1447800"/>
                <a:ext cx="1752600" cy="1371600"/>
              </a:xfrm>
              <a:prstGeom prst="roundRect">
                <a:avLst/>
              </a:prstGeom>
              <a:solidFill>
                <a:schemeClr val="lt1">
                  <a:alpha val="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 smtClean="0">
                    <a:solidFill>
                      <a:schemeClr val="tx1"/>
                    </a:solidFill>
                    <a:latin typeface="Calibri" pitchFamily="34" charset="0"/>
                  </a:rPr>
                  <a:t>Area Detector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endParaRPr>
              </a:p>
            </p:txBody>
          </p:sp>
          <p:sp>
            <p:nvSpPr>
              <p:cNvPr id="60" name="Magnetic Disk 59"/>
              <p:cNvSpPr/>
              <p:nvPr/>
            </p:nvSpPr>
            <p:spPr bwMode="auto">
              <a:xfrm>
                <a:off x="3352800" y="2057400"/>
                <a:ext cx="609600" cy="457200"/>
              </a:xfrm>
              <a:prstGeom prst="flowChartMagneticDisk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400" dirty="0" smtClean="0">
                    <a:solidFill>
                      <a:schemeClr val="tx1"/>
                    </a:solidFill>
                    <a:latin typeface="Calibri" pitchFamily="34" charset="0"/>
                  </a:rPr>
                  <a:t>HDF5</a:t>
                </a:r>
                <a:endParaRPr kumimoji="0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endParaRPr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7124699" y="3124200"/>
              <a:ext cx="1676400" cy="1219200"/>
              <a:chOff x="5867400" y="1447800"/>
              <a:chExt cx="1752600" cy="1371600"/>
            </a:xfrm>
          </p:grpSpPr>
          <p:sp>
            <p:nvSpPr>
              <p:cNvPr id="62" name="Rounded Rectangle 61"/>
              <p:cNvSpPr/>
              <p:nvPr/>
            </p:nvSpPr>
            <p:spPr bwMode="auto">
              <a:xfrm>
                <a:off x="5867400" y="1447800"/>
                <a:ext cx="1752600" cy="1371600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normalizeH="0" baseline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lustre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endParaRPr>
              </a:p>
            </p:txBody>
          </p:sp>
          <p:grpSp>
            <p:nvGrpSpPr>
              <p:cNvPr id="63" name="Group 62"/>
              <p:cNvGrpSpPr/>
              <p:nvPr/>
            </p:nvGrpSpPr>
            <p:grpSpPr>
              <a:xfrm>
                <a:off x="6705600" y="2057400"/>
                <a:ext cx="762000" cy="609600"/>
                <a:chOff x="7620000" y="3200400"/>
                <a:chExt cx="762000" cy="609600"/>
              </a:xfrm>
            </p:grpSpPr>
            <p:sp>
              <p:nvSpPr>
                <p:cNvPr id="68" name="Magnetic Disk 67"/>
                <p:cNvSpPr/>
                <p:nvPr/>
              </p:nvSpPr>
              <p:spPr bwMode="auto">
                <a:xfrm>
                  <a:off x="7620000" y="32004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69" name="Magnetic Disk 68"/>
                <p:cNvSpPr/>
                <p:nvPr/>
              </p:nvSpPr>
              <p:spPr bwMode="auto">
                <a:xfrm>
                  <a:off x="7696200" y="32766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70" name="Magnetic Disk 69"/>
                <p:cNvSpPr/>
                <p:nvPr/>
              </p:nvSpPr>
              <p:spPr bwMode="auto">
                <a:xfrm>
                  <a:off x="7772400" y="33528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rPr>
                    <a:t>HDF5</a:t>
                  </a:r>
                </a:p>
              </p:txBody>
            </p:sp>
          </p:grpSp>
          <p:grpSp>
            <p:nvGrpSpPr>
              <p:cNvPr id="64" name="Group 63"/>
              <p:cNvGrpSpPr/>
              <p:nvPr/>
            </p:nvGrpSpPr>
            <p:grpSpPr>
              <a:xfrm>
                <a:off x="6019800" y="2057400"/>
                <a:ext cx="762000" cy="609600"/>
                <a:chOff x="7620000" y="3200400"/>
                <a:chExt cx="762000" cy="609600"/>
              </a:xfrm>
            </p:grpSpPr>
            <p:sp>
              <p:nvSpPr>
                <p:cNvPr id="65" name="Magnetic Disk 64"/>
                <p:cNvSpPr/>
                <p:nvPr/>
              </p:nvSpPr>
              <p:spPr bwMode="auto">
                <a:xfrm>
                  <a:off x="7620000" y="32004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66" name="Magnetic Disk 65"/>
                <p:cNvSpPr/>
                <p:nvPr/>
              </p:nvSpPr>
              <p:spPr bwMode="auto">
                <a:xfrm>
                  <a:off x="7696200" y="32766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67" name="Magnetic Disk 66"/>
                <p:cNvSpPr/>
                <p:nvPr/>
              </p:nvSpPr>
              <p:spPr bwMode="auto">
                <a:xfrm>
                  <a:off x="7772400" y="33528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rPr>
                    <a:t>HDF5</a:t>
                  </a:r>
                </a:p>
              </p:txBody>
            </p:sp>
          </p:grpSp>
        </p:grpSp>
        <p:cxnSp>
          <p:nvCxnSpPr>
            <p:cNvPr id="104" name="Straight Arrow Connector 103"/>
            <p:cNvCxnSpPr>
              <a:stCxn id="59" idx="1"/>
            </p:cNvCxnSpPr>
            <p:nvPr/>
          </p:nvCxnSpPr>
          <p:spPr bwMode="auto">
            <a:xfrm flipH="1">
              <a:off x="6705600" y="2438400"/>
              <a:ext cx="454024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05" name="Straight Arrow Connector 104"/>
            <p:cNvCxnSpPr>
              <a:stCxn id="8" idx="3"/>
              <a:endCxn id="62" idx="1"/>
            </p:cNvCxnSpPr>
            <p:nvPr/>
          </p:nvCxnSpPr>
          <p:spPr bwMode="auto">
            <a:xfrm>
              <a:off x="6781800" y="2438400"/>
              <a:ext cx="342899" cy="12954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09" name="Straight Arrow Connector 108"/>
            <p:cNvCxnSpPr>
              <a:endCxn id="62" idx="1"/>
            </p:cNvCxnSpPr>
            <p:nvPr/>
          </p:nvCxnSpPr>
          <p:spPr bwMode="auto">
            <a:xfrm>
              <a:off x="6743700" y="3733800"/>
              <a:ext cx="380999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dash"/>
              <a:round/>
              <a:headEnd type="arrow"/>
              <a:tailEnd type="arrow"/>
            </a:ln>
            <a:effectLst/>
          </p:spPr>
        </p:cxnSp>
        <p:grpSp>
          <p:nvGrpSpPr>
            <p:cNvPr id="112" name="Group 111"/>
            <p:cNvGrpSpPr/>
            <p:nvPr/>
          </p:nvGrpSpPr>
          <p:grpSpPr>
            <a:xfrm>
              <a:off x="7124699" y="4419600"/>
              <a:ext cx="1676400" cy="1219200"/>
              <a:chOff x="5867400" y="1447800"/>
              <a:chExt cx="1752600" cy="1371600"/>
            </a:xfrm>
          </p:grpSpPr>
          <p:sp>
            <p:nvSpPr>
              <p:cNvPr id="113" name="Rounded Rectangle 112"/>
              <p:cNvSpPr/>
              <p:nvPr/>
            </p:nvSpPr>
            <p:spPr bwMode="auto">
              <a:xfrm>
                <a:off x="5867400" y="1447800"/>
                <a:ext cx="1752600" cy="1371600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clutch</a:t>
                </a:r>
              </a:p>
            </p:txBody>
          </p:sp>
          <p:grpSp>
            <p:nvGrpSpPr>
              <p:cNvPr id="114" name="Group 113"/>
              <p:cNvGrpSpPr/>
              <p:nvPr/>
            </p:nvGrpSpPr>
            <p:grpSpPr>
              <a:xfrm>
                <a:off x="6705600" y="2057400"/>
                <a:ext cx="762000" cy="609600"/>
                <a:chOff x="7620000" y="3200400"/>
                <a:chExt cx="762000" cy="609600"/>
              </a:xfrm>
            </p:grpSpPr>
            <p:sp>
              <p:nvSpPr>
                <p:cNvPr id="119" name="Magnetic Disk 118"/>
                <p:cNvSpPr/>
                <p:nvPr/>
              </p:nvSpPr>
              <p:spPr bwMode="auto">
                <a:xfrm>
                  <a:off x="7620000" y="32004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120" name="Magnetic Disk 119"/>
                <p:cNvSpPr/>
                <p:nvPr/>
              </p:nvSpPr>
              <p:spPr bwMode="auto">
                <a:xfrm>
                  <a:off x="7696200" y="32766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121" name="Magnetic Disk 120"/>
                <p:cNvSpPr/>
                <p:nvPr/>
              </p:nvSpPr>
              <p:spPr bwMode="auto">
                <a:xfrm>
                  <a:off x="7772400" y="33528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rPr>
                    <a:t>HDF5</a:t>
                  </a:r>
                </a:p>
              </p:txBody>
            </p:sp>
          </p:grpSp>
          <p:grpSp>
            <p:nvGrpSpPr>
              <p:cNvPr id="115" name="Group 114"/>
              <p:cNvGrpSpPr/>
              <p:nvPr/>
            </p:nvGrpSpPr>
            <p:grpSpPr>
              <a:xfrm>
                <a:off x="6019800" y="2057400"/>
                <a:ext cx="762000" cy="609600"/>
                <a:chOff x="7620000" y="3200400"/>
                <a:chExt cx="762000" cy="609600"/>
              </a:xfrm>
            </p:grpSpPr>
            <p:sp>
              <p:nvSpPr>
                <p:cNvPr id="116" name="Magnetic Disk 115"/>
                <p:cNvSpPr/>
                <p:nvPr/>
              </p:nvSpPr>
              <p:spPr bwMode="auto">
                <a:xfrm>
                  <a:off x="7620000" y="32004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117" name="Magnetic Disk 116"/>
                <p:cNvSpPr/>
                <p:nvPr/>
              </p:nvSpPr>
              <p:spPr bwMode="auto">
                <a:xfrm>
                  <a:off x="7696200" y="32766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118" name="Magnetic Disk 117"/>
                <p:cNvSpPr/>
                <p:nvPr/>
              </p:nvSpPr>
              <p:spPr bwMode="auto">
                <a:xfrm>
                  <a:off x="7772400" y="33528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rPr>
                    <a:t>HDF5</a:t>
                  </a:r>
                </a:p>
              </p:txBody>
            </p:sp>
          </p:grpSp>
        </p:grpSp>
        <p:cxnSp>
          <p:nvCxnSpPr>
            <p:cNvPr id="122" name="Straight Arrow Connector 121"/>
            <p:cNvCxnSpPr>
              <a:stCxn id="62" idx="1"/>
              <a:endCxn id="51" idx="3"/>
            </p:cNvCxnSpPr>
            <p:nvPr/>
          </p:nvCxnSpPr>
          <p:spPr bwMode="auto">
            <a:xfrm flipH="1">
              <a:off x="6781800" y="3733800"/>
              <a:ext cx="342899" cy="12954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27" name="Straight Arrow Connector 126"/>
            <p:cNvCxnSpPr>
              <a:stCxn id="51" idx="3"/>
              <a:endCxn id="113" idx="1"/>
            </p:cNvCxnSpPr>
            <p:nvPr/>
          </p:nvCxnSpPr>
          <p:spPr bwMode="auto">
            <a:xfrm>
              <a:off x="6781800" y="5029200"/>
              <a:ext cx="342899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arrow"/>
            </a:ln>
            <a:effectLst/>
          </p:spPr>
        </p:cxnSp>
        <p:sp>
          <p:nvSpPr>
            <p:cNvPr id="136" name="TextBox 135"/>
            <p:cNvSpPr txBox="1"/>
            <p:nvPr/>
          </p:nvSpPr>
          <p:spPr>
            <a:xfrm>
              <a:off x="5638800" y="5650468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Actor</a:t>
              </a:r>
              <a:endParaRPr lang="en-US" dirty="0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3676092" y="5650468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Broker</a:t>
              </a:r>
              <a:endParaRPr lang="en-US" dirty="0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7224957" y="5650468"/>
              <a:ext cx="1475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Data Location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724738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Tomography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4D8C-3CB4-402A-BC46-2AB14C0FE90A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" name="Picture 6" descr="Screen shot 2012-05-29 at 11.06.2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295400"/>
            <a:ext cx="6096000" cy="482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6066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X-ray Photon Correlation Spectroscopy (XPCS)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4D8C-3CB4-402A-BC46-2AB14C0FE90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2400" y="1676400"/>
            <a:ext cx="3124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Char char="–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Char char="–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Font typeface="Arial" charset="0"/>
              <a:buChar char="»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Font typeface="Arial" charset="0"/>
              <a:buChar char="»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Font typeface="Arial" charset="0"/>
              <a:buChar char="»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Font typeface="Arial" charset="0"/>
              <a:buChar char="»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Font typeface="Arial" charset="0"/>
              <a:buChar char="»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dirty="0"/>
              <a:t>APS </a:t>
            </a:r>
            <a:r>
              <a:rPr lang="en-US" sz="2400" dirty="0" smtClean="0"/>
              <a:t>8-ID</a:t>
            </a:r>
            <a:r>
              <a:rPr lang="en-US" sz="2400" dirty="0"/>
              <a:t>-I </a:t>
            </a:r>
          </a:p>
          <a:p>
            <a:r>
              <a:rPr lang="en-US" sz="2400" dirty="0"/>
              <a:t>1K x 1K per frame</a:t>
            </a:r>
          </a:p>
          <a:p>
            <a:r>
              <a:rPr lang="en-US" sz="2400" dirty="0"/>
              <a:t>10,000 frames per experiment</a:t>
            </a:r>
          </a:p>
          <a:p>
            <a:r>
              <a:rPr lang="en-US" sz="2400" dirty="0"/>
              <a:t>2 TB raw </a:t>
            </a:r>
            <a:r>
              <a:rPr lang="en-US" sz="2400" dirty="0" smtClean="0"/>
              <a:t>detector data per day</a:t>
            </a:r>
          </a:p>
          <a:p>
            <a:r>
              <a:rPr lang="en-US" sz="2400" dirty="0" smtClean="0"/>
              <a:t>Evaluating different ways of getting data into HDFS: stream, HDF5 plug-in</a:t>
            </a:r>
            <a:endParaRPr lang="en-US" sz="24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3429000" y="1447800"/>
            <a:ext cx="5410199" cy="4191000"/>
            <a:chOff x="3429000" y="1600200"/>
            <a:chExt cx="5410199" cy="4191000"/>
          </a:xfrm>
        </p:grpSpPr>
        <p:grpSp>
          <p:nvGrpSpPr>
            <p:cNvPr id="21" name="Group 20"/>
            <p:cNvGrpSpPr/>
            <p:nvPr/>
          </p:nvGrpSpPr>
          <p:grpSpPr>
            <a:xfrm>
              <a:off x="7124699" y="2895600"/>
              <a:ext cx="1676400" cy="1219200"/>
              <a:chOff x="5867400" y="1447800"/>
              <a:chExt cx="1752600" cy="1371600"/>
            </a:xfrm>
          </p:grpSpPr>
          <p:sp>
            <p:nvSpPr>
              <p:cNvPr id="40" name="Rounded Rectangle 39"/>
              <p:cNvSpPr/>
              <p:nvPr/>
            </p:nvSpPr>
            <p:spPr bwMode="auto">
              <a:xfrm>
                <a:off x="5867400" y="1447800"/>
                <a:ext cx="1752600" cy="1371600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normalizeH="0" baseline="0" dirty="0" err="1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lustre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endParaRPr>
              </a:p>
            </p:txBody>
          </p:sp>
          <p:grpSp>
            <p:nvGrpSpPr>
              <p:cNvPr id="41" name="Group 40"/>
              <p:cNvGrpSpPr/>
              <p:nvPr/>
            </p:nvGrpSpPr>
            <p:grpSpPr>
              <a:xfrm>
                <a:off x="6705600" y="2057400"/>
                <a:ext cx="762000" cy="609600"/>
                <a:chOff x="7620000" y="3200400"/>
                <a:chExt cx="762000" cy="609600"/>
              </a:xfrm>
            </p:grpSpPr>
            <p:sp>
              <p:nvSpPr>
                <p:cNvPr id="46" name="Magnetic Disk 45"/>
                <p:cNvSpPr/>
                <p:nvPr/>
              </p:nvSpPr>
              <p:spPr bwMode="auto">
                <a:xfrm>
                  <a:off x="7620000" y="32004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47" name="Magnetic Disk 46"/>
                <p:cNvSpPr/>
                <p:nvPr/>
              </p:nvSpPr>
              <p:spPr bwMode="auto">
                <a:xfrm>
                  <a:off x="7696200" y="32766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48" name="Magnetic Disk 47"/>
                <p:cNvSpPr/>
                <p:nvPr/>
              </p:nvSpPr>
              <p:spPr bwMode="auto">
                <a:xfrm>
                  <a:off x="7772400" y="33528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rPr>
                    <a:t>HDF5</a:t>
                  </a:r>
                </a:p>
              </p:txBody>
            </p:sp>
          </p:grpSp>
          <p:grpSp>
            <p:nvGrpSpPr>
              <p:cNvPr id="42" name="Group 41"/>
              <p:cNvGrpSpPr/>
              <p:nvPr/>
            </p:nvGrpSpPr>
            <p:grpSpPr>
              <a:xfrm>
                <a:off x="6019800" y="2057400"/>
                <a:ext cx="762000" cy="609600"/>
                <a:chOff x="7620000" y="3200400"/>
                <a:chExt cx="762000" cy="609600"/>
              </a:xfrm>
            </p:grpSpPr>
            <p:sp>
              <p:nvSpPr>
                <p:cNvPr id="43" name="Magnetic Disk 42"/>
                <p:cNvSpPr/>
                <p:nvPr/>
              </p:nvSpPr>
              <p:spPr bwMode="auto">
                <a:xfrm>
                  <a:off x="7620000" y="32004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44" name="Magnetic Disk 43"/>
                <p:cNvSpPr/>
                <p:nvPr/>
              </p:nvSpPr>
              <p:spPr bwMode="auto">
                <a:xfrm>
                  <a:off x="7696200" y="32766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45" name="Magnetic Disk 44"/>
                <p:cNvSpPr/>
                <p:nvPr/>
              </p:nvSpPr>
              <p:spPr bwMode="auto">
                <a:xfrm>
                  <a:off x="7772400" y="33528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rPr>
                    <a:t>HDF5</a:t>
                  </a:r>
                </a:p>
              </p:txBody>
            </p:sp>
          </p:grpSp>
        </p:grpSp>
        <p:sp>
          <p:nvSpPr>
            <p:cNvPr id="9" name="Rounded Rectangle 8"/>
            <p:cNvSpPr/>
            <p:nvPr/>
          </p:nvSpPr>
          <p:spPr bwMode="auto">
            <a:xfrm>
              <a:off x="5105400" y="2438400"/>
              <a:ext cx="1676400" cy="76200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 err="1" smtClean="0">
                  <a:solidFill>
                    <a:schemeClr val="tx1"/>
                  </a:solidFill>
                  <a:latin typeface="Calibri" pitchFamily="34" charset="0"/>
                </a:rPr>
                <a:t>gridFTP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10" name="Rounded Rectangle 9"/>
            <p:cNvSpPr/>
            <p:nvPr/>
          </p:nvSpPr>
          <p:spPr bwMode="auto">
            <a:xfrm>
              <a:off x="5105400" y="3810000"/>
              <a:ext cx="1676400" cy="76200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 smtClean="0">
                  <a:solidFill>
                    <a:schemeClr val="tx1"/>
                  </a:solidFill>
                  <a:latin typeface="Calibri" pitchFamily="34" charset="0"/>
                </a:rPr>
                <a:t>XPCS analysis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(</a:t>
              </a:r>
              <a:r>
                <a:rPr lang="en-US" dirty="0" err="1">
                  <a:solidFill>
                    <a:schemeClr val="tx1"/>
                  </a:solidFill>
                  <a:latin typeface="Calibri" pitchFamily="34" charset="0"/>
                </a:rPr>
                <a:t>H</a:t>
              </a:r>
              <a:r>
                <a:rPr kumimoji="0" lang="en-US" sz="18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adoop</a:t>
              </a:r>
              <a:r>
                <a: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)</a:t>
              </a:r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3429000" y="3810000"/>
              <a:ext cx="1371600" cy="762000"/>
              <a:chOff x="3124200" y="3505200"/>
              <a:chExt cx="1371600" cy="762000"/>
            </a:xfrm>
          </p:grpSpPr>
          <p:sp>
            <p:nvSpPr>
              <p:cNvPr id="59" name="Rounded Rectangle 58"/>
              <p:cNvSpPr/>
              <p:nvPr/>
            </p:nvSpPr>
            <p:spPr bwMode="auto">
              <a:xfrm>
                <a:off x="3124200" y="3505200"/>
                <a:ext cx="1371600" cy="762000"/>
              </a:xfrm>
              <a:prstGeom prst="roundRect">
                <a:avLst/>
              </a:prstGeom>
              <a:solidFill>
                <a:schemeClr val="bg2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</a:rPr>
                  <a:t>q</a:t>
                </a:r>
                <a:r>
                  <a:rPr lang="en-US" dirty="0" smtClean="0">
                    <a:solidFill>
                      <a:schemeClr val="tx1"/>
                    </a:solidFill>
                    <a:latin typeface="Calibri" pitchFamily="34" charset="0"/>
                  </a:rPr>
                  <a:t>ueue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endParaRPr>
              </a:p>
            </p:txBody>
          </p:sp>
          <p:grpSp>
            <p:nvGrpSpPr>
              <p:cNvPr id="60" name="Group 59"/>
              <p:cNvGrpSpPr/>
              <p:nvPr/>
            </p:nvGrpSpPr>
            <p:grpSpPr>
              <a:xfrm>
                <a:off x="3200400" y="3886200"/>
                <a:ext cx="1219200" cy="306388"/>
                <a:chOff x="3276600" y="1981200"/>
                <a:chExt cx="1219200" cy="306388"/>
              </a:xfrm>
            </p:grpSpPr>
            <p:cxnSp>
              <p:nvCxnSpPr>
                <p:cNvPr id="61" name="Straight Connector 60"/>
                <p:cNvCxnSpPr/>
                <p:nvPr/>
              </p:nvCxnSpPr>
              <p:spPr bwMode="auto">
                <a:xfrm>
                  <a:off x="3276600" y="19812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2" name="Straight Connector 61"/>
                <p:cNvCxnSpPr/>
                <p:nvPr/>
              </p:nvCxnSpPr>
              <p:spPr bwMode="auto">
                <a:xfrm>
                  <a:off x="3276600" y="22860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63" name="Rectangle 62"/>
                <p:cNvSpPr/>
                <p:nvPr/>
              </p:nvSpPr>
              <p:spPr bwMode="auto">
                <a:xfrm>
                  <a:off x="35052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64" name="Rectangle 63"/>
                <p:cNvSpPr/>
                <p:nvPr/>
              </p:nvSpPr>
              <p:spPr bwMode="auto">
                <a:xfrm>
                  <a:off x="37338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65" name="Rectangle 64"/>
                <p:cNvSpPr/>
                <p:nvPr/>
              </p:nvSpPr>
              <p:spPr bwMode="auto">
                <a:xfrm>
                  <a:off x="39624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</p:grpSp>
        </p:grpSp>
        <p:cxnSp>
          <p:nvCxnSpPr>
            <p:cNvPr id="14" name="Straight Arrow Connector 13"/>
            <p:cNvCxnSpPr>
              <a:stCxn id="9" idx="2"/>
              <a:endCxn id="59" idx="0"/>
            </p:cNvCxnSpPr>
            <p:nvPr/>
          </p:nvCxnSpPr>
          <p:spPr bwMode="auto">
            <a:xfrm flipH="1">
              <a:off x="4114800" y="3200400"/>
              <a:ext cx="1828800" cy="6096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59" idx="3"/>
              <a:endCxn id="10" idx="1"/>
            </p:cNvCxnSpPr>
            <p:nvPr/>
          </p:nvCxnSpPr>
          <p:spPr bwMode="auto">
            <a:xfrm>
              <a:off x="4800600" y="4191000"/>
              <a:ext cx="304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>
              <a:off x="3429000" y="2438400"/>
              <a:ext cx="1371600" cy="762000"/>
              <a:chOff x="3124200" y="3505200"/>
              <a:chExt cx="1371600" cy="762000"/>
            </a:xfrm>
          </p:grpSpPr>
          <p:sp>
            <p:nvSpPr>
              <p:cNvPr id="52" name="Rounded Rectangle 51"/>
              <p:cNvSpPr/>
              <p:nvPr/>
            </p:nvSpPr>
            <p:spPr bwMode="auto">
              <a:xfrm>
                <a:off x="3124200" y="3505200"/>
                <a:ext cx="1371600" cy="762000"/>
              </a:xfrm>
              <a:prstGeom prst="roundRect">
                <a:avLst/>
              </a:prstGeom>
              <a:solidFill>
                <a:schemeClr val="bg2"/>
              </a:soli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chemeClr val="tx1"/>
                    </a:solidFill>
                    <a:latin typeface="Calibri" pitchFamily="34" charset="0"/>
                  </a:rPr>
                  <a:t>q</a:t>
                </a:r>
                <a:r>
                  <a:rPr lang="en-US" dirty="0" smtClean="0">
                    <a:solidFill>
                      <a:schemeClr val="tx1"/>
                    </a:solidFill>
                    <a:latin typeface="Calibri" pitchFamily="34" charset="0"/>
                  </a:rPr>
                  <a:t>ueue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endParaRPr>
              </a:p>
            </p:txBody>
          </p:sp>
          <p:grpSp>
            <p:nvGrpSpPr>
              <p:cNvPr id="53" name="Group 52"/>
              <p:cNvGrpSpPr/>
              <p:nvPr/>
            </p:nvGrpSpPr>
            <p:grpSpPr>
              <a:xfrm>
                <a:off x="3200400" y="3886200"/>
                <a:ext cx="1219200" cy="306388"/>
                <a:chOff x="3276600" y="1981200"/>
                <a:chExt cx="1219200" cy="306388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auto">
                <a:xfrm>
                  <a:off x="3276600" y="19812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5" name="Straight Connector 54"/>
                <p:cNvCxnSpPr/>
                <p:nvPr/>
              </p:nvCxnSpPr>
              <p:spPr bwMode="auto">
                <a:xfrm>
                  <a:off x="3276600" y="2286000"/>
                  <a:ext cx="1219200" cy="1588"/>
                </a:xfrm>
                <a:prstGeom prst="line">
                  <a:avLst/>
                </a:prstGeom>
                <a:noFill/>
                <a:ln w="9525" cap="flat" cmpd="sng" algn="ctr">
                  <a:solidFill>
                    <a:srgbClr val="10253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56" name="Rectangle 55"/>
                <p:cNvSpPr/>
                <p:nvPr/>
              </p:nvSpPr>
              <p:spPr bwMode="auto">
                <a:xfrm>
                  <a:off x="35052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57" name="Rectangle 56"/>
                <p:cNvSpPr/>
                <p:nvPr/>
              </p:nvSpPr>
              <p:spPr bwMode="auto">
                <a:xfrm>
                  <a:off x="37338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58" name="Rectangle 57"/>
                <p:cNvSpPr/>
                <p:nvPr/>
              </p:nvSpPr>
              <p:spPr bwMode="auto">
                <a:xfrm>
                  <a:off x="3962400" y="1981200"/>
                  <a:ext cx="228600" cy="304800"/>
                </a:xfrm>
                <a:prstGeom prst="rect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</p:grpSp>
        </p:grpSp>
        <p:cxnSp>
          <p:nvCxnSpPr>
            <p:cNvPr id="19" name="Straight Arrow Connector 18"/>
            <p:cNvCxnSpPr>
              <a:stCxn id="52" idx="3"/>
              <a:endCxn id="9" idx="1"/>
            </p:cNvCxnSpPr>
            <p:nvPr/>
          </p:nvCxnSpPr>
          <p:spPr bwMode="auto">
            <a:xfrm>
              <a:off x="4800600" y="2819400"/>
              <a:ext cx="304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0" name="Group 19"/>
            <p:cNvGrpSpPr/>
            <p:nvPr/>
          </p:nvGrpSpPr>
          <p:grpSpPr>
            <a:xfrm>
              <a:off x="7086600" y="1600200"/>
              <a:ext cx="1752599" cy="1219200"/>
              <a:chOff x="2286001" y="1447800"/>
              <a:chExt cx="1828799" cy="1371600"/>
            </a:xfrm>
          </p:grpSpPr>
          <p:pic>
            <p:nvPicPr>
              <p:cNvPr id="49" name="Picture 4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286001" y="1930400"/>
                <a:ext cx="1110452" cy="736600"/>
              </a:xfrm>
              <a:prstGeom prst="rect">
                <a:avLst/>
              </a:prstGeom>
            </p:spPr>
          </p:pic>
          <p:sp>
            <p:nvSpPr>
              <p:cNvPr id="50" name="Rounded Rectangle 49"/>
              <p:cNvSpPr/>
              <p:nvPr/>
            </p:nvSpPr>
            <p:spPr bwMode="auto">
              <a:xfrm>
                <a:off x="2362200" y="1447800"/>
                <a:ext cx="1752600" cy="1371600"/>
              </a:xfrm>
              <a:prstGeom prst="roundRect">
                <a:avLst/>
              </a:prstGeom>
              <a:solidFill>
                <a:schemeClr val="lt1">
                  <a:alpha val="0"/>
                </a:schemeClr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 smtClean="0">
                    <a:solidFill>
                      <a:schemeClr val="tx1"/>
                    </a:solidFill>
                    <a:latin typeface="Calibri" pitchFamily="34" charset="0"/>
                  </a:rPr>
                  <a:t>Area Detector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endParaRPr>
              </a:p>
            </p:txBody>
          </p:sp>
          <p:sp>
            <p:nvSpPr>
              <p:cNvPr id="51" name="Magnetic Disk 50"/>
              <p:cNvSpPr/>
              <p:nvPr/>
            </p:nvSpPr>
            <p:spPr bwMode="auto">
              <a:xfrm>
                <a:off x="3352800" y="1962150"/>
                <a:ext cx="609600" cy="771525"/>
              </a:xfrm>
              <a:prstGeom prst="flowChartMagneticDisk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400" dirty="0" smtClean="0">
                    <a:solidFill>
                      <a:schemeClr val="tx1"/>
                    </a:solidFill>
                    <a:latin typeface="Calibri" pitchFamily="34" charset="0"/>
                  </a:rPr>
                  <a:t>HDF5</a:t>
                </a:r>
              </a:p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400" dirty="0" smtClean="0">
                    <a:solidFill>
                      <a:schemeClr val="tx1"/>
                    </a:solidFill>
                    <a:latin typeface="Calibri" pitchFamily="34" charset="0"/>
                  </a:rPr>
                  <a:t>RAW</a:t>
                </a:r>
              </a:p>
            </p:txBody>
          </p:sp>
        </p:grpSp>
        <p:cxnSp>
          <p:nvCxnSpPr>
            <p:cNvPr id="22" name="Straight Arrow Connector 21"/>
            <p:cNvCxnSpPr>
              <a:stCxn id="50" idx="1"/>
              <a:endCxn id="9" idx="3"/>
            </p:cNvCxnSpPr>
            <p:nvPr/>
          </p:nvCxnSpPr>
          <p:spPr bwMode="auto">
            <a:xfrm flipH="1">
              <a:off x="6781800" y="2209800"/>
              <a:ext cx="377824" cy="6096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3" name="Straight Arrow Connector 22"/>
            <p:cNvCxnSpPr>
              <a:stCxn id="9" idx="3"/>
              <a:endCxn id="40" idx="1"/>
            </p:cNvCxnSpPr>
            <p:nvPr/>
          </p:nvCxnSpPr>
          <p:spPr bwMode="auto">
            <a:xfrm>
              <a:off x="6781800" y="2819400"/>
              <a:ext cx="342899" cy="6858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arrow"/>
            </a:ln>
            <a:effectLst/>
          </p:spPr>
        </p:cxnSp>
        <p:grpSp>
          <p:nvGrpSpPr>
            <p:cNvPr id="25" name="Group 24"/>
            <p:cNvGrpSpPr/>
            <p:nvPr/>
          </p:nvGrpSpPr>
          <p:grpSpPr>
            <a:xfrm>
              <a:off x="7124699" y="4191000"/>
              <a:ext cx="1676400" cy="1219200"/>
              <a:chOff x="5867400" y="1447800"/>
              <a:chExt cx="1752600" cy="1371600"/>
            </a:xfrm>
          </p:grpSpPr>
          <p:sp>
            <p:nvSpPr>
              <p:cNvPr id="31" name="Rounded Rectangle 30"/>
              <p:cNvSpPr/>
              <p:nvPr/>
            </p:nvSpPr>
            <p:spPr bwMode="auto">
              <a:xfrm>
                <a:off x="5867400" y="1447800"/>
                <a:ext cx="1752600" cy="1371600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HDFS</a:t>
                </a:r>
              </a:p>
            </p:txBody>
          </p:sp>
          <p:grpSp>
            <p:nvGrpSpPr>
              <p:cNvPr id="32" name="Group 31"/>
              <p:cNvGrpSpPr/>
              <p:nvPr/>
            </p:nvGrpSpPr>
            <p:grpSpPr>
              <a:xfrm>
                <a:off x="6705600" y="2057400"/>
                <a:ext cx="762000" cy="609600"/>
                <a:chOff x="7620000" y="3200400"/>
                <a:chExt cx="762000" cy="609600"/>
              </a:xfrm>
            </p:grpSpPr>
            <p:sp>
              <p:nvSpPr>
                <p:cNvPr id="37" name="Magnetic Disk 36"/>
                <p:cNvSpPr/>
                <p:nvPr/>
              </p:nvSpPr>
              <p:spPr bwMode="auto">
                <a:xfrm>
                  <a:off x="7620000" y="32004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38" name="Magnetic Disk 37"/>
                <p:cNvSpPr/>
                <p:nvPr/>
              </p:nvSpPr>
              <p:spPr bwMode="auto">
                <a:xfrm>
                  <a:off x="7696200" y="32766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39" name="Magnetic Disk 38"/>
                <p:cNvSpPr/>
                <p:nvPr/>
              </p:nvSpPr>
              <p:spPr bwMode="auto">
                <a:xfrm>
                  <a:off x="7772400" y="33528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rPr>
                    <a:t>RAW</a:t>
                  </a:r>
                </a:p>
              </p:txBody>
            </p:sp>
          </p:grpSp>
          <p:grpSp>
            <p:nvGrpSpPr>
              <p:cNvPr id="33" name="Group 32"/>
              <p:cNvGrpSpPr/>
              <p:nvPr/>
            </p:nvGrpSpPr>
            <p:grpSpPr>
              <a:xfrm>
                <a:off x="6019800" y="2057400"/>
                <a:ext cx="762000" cy="609600"/>
                <a:chOff x="7620000" y="3200400"/>
                <a:chExt cx="762000" cy="609600"/>
              </a:xfrm>
            </p:grpSpPr>
            <p:sp>
              <p:nvSpPr>
                <p:cNvPr id="34" name="Magnetic Disk 33"/>
                <p:cNvSpPr/>
                <p:nvPr/>
              </p:nvSpPr>
              <p:spPr bwMode="auto">
                <a:xfrm>
                  <a:off x="7620000" y="32004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35" name="Magnetic Disk 34"/>
                <p:cNvSpPr/>
                <p:nvPr/>
              </p:nvSpPr>
              <p:spPr bwMode="auto">
                <a:xfrm>
                  <a:off x="7696200" y="32766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endParaRPr>
                </a:p>
              </p:txBody>
            </p:sp>
            <p:sp>
              <p:nvSpPr>
                <p:cNvPr id="36" name="Magnetic Disk 35"/>
                <p:cNvSpPr/>
                <p:nvPr/>
              </p:nvSpPr>
              <p:spPr bwMode="auto">
                <a:xfrm>
                  <a:off x="7772400" y="3352800"/>
                  <a:ext cx="609600" cy="457200"/>
                </a:xfrm>
                <a:prstGeom prst="flowChartMagneticDisk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</a:rPr>
                    <a:t>RAW</a:t>
                  </a:r>
                </a:p>
              </p:txBody>
            </p:sp>
          </p:grpSp>
        </p:grpSp>
        <p:sp>
          <p:nvSpPr>
            <p:cNvPr id="28" name="TextBox 27"/>
            <p:cNvSpPr txBox="1"/>
            <p:nvPr/>
          </p:nvSpPr>
          <p:spPr>
            <a:xfrm>
              <a:off x="5638800" y="5421868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Actor</a:t>
              </a:r>
              <a:endParaRPr 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676092" y="5421868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Broker</a:t>
              </a:r>
              <a:endParaRPr 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224957" y="5421868"/>
              <a:ext cx="1475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Data Location</a:t>
              </a:r>
              <a:endParaRPr lang="en-US" dirty="0"/>
            </a:p>
          </p:txBody>
        </p:sp>
        <p:cxnSp>
          <p:nvCxnSpPr>
            <p:cNvPr id="73" name="Straight Arrow Connector 72"/>
            <p:cNvCxnSpPr>
              <a:stCxn id="9" idx="3"/>
              <a:endCxn id="31" idx="1"/>
            </p:cNvCxnSpPr>
            <p:nvPr/>
          </p:nvCxnSpPr>
          <p:spPr bwMode="auto">
            <a:xfrm>
              <a:off x="6781800" y="2819400"/>
              <a:ext cx="342899" cy="19812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79" name="Straight Arrow Connector 78"/>
            <p:cNvCxnSpPr>
              <a:stCxn id="10" idx="3"/>
              <a:endCxn id="31" idx="1"/>
            </p:cNvCxnSpPr>
            <p:nvPr/>
          </p:nvCxnSpPr>
          <p:spPr bwMode="auto">
            <a:xfrm>
              <a:off x="6781800" y="4191000"/>
              <a:ext cx="342899" cy="6096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dash"/>
              <a:round/>
              <a:headEnd type="arrow"/>
              <a:tailEnd type="arrow"/>
            </a:ln>
            <a:effectLst/>
          </p:spPr>
        </p:cxnSp>
        <p:cxnSp>
          <p:nvCxnSpPr>
            <p:cNvPr id="66" name="Straight Arrow Connector 65"/>
            <p:cNvCxnSpPr>
              <a:stCxn id="10" idx="3"/>
              <a:endCxn id="40" idx="1"/>
            </p:cNvCxnSpPr>
            <p:nvPr/>
          </p:nvCxnSpPr>
          <p:spPr bwMode="auto">
            <a:xfrm flipV="1">
              <a:off x="6781800" y="3505200"/>
              <a:ext cx="342899" cy="6858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dash"/>
              <a:round/>
              <a:headEnd type="arrow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4290446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600" b="1" dirty="0" smtClean="0">
                <a:solidFill>
                  <a:srgbClr val="404040"/>
                </a:solidFill>
                <a:latin typeface="Trebuchet MS"/>
                <a:ea typeface="+mj-ea"/>
                <a:cs typeface="+mj-cs"/>
              </a:rPr>
              <a:t>Thank you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NOBUGS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34D8C-3CB4-402A-BC46-2AB14C0FE90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623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Blue design">
  <a:themeElements>
    <a:clrScheme name="Custom 7">
      <a:dk1>
        <a:srgbClr val="616161"/>
      </a:dk1>
      <a:lt1>
        <a:srgbClr val="FFFFFF"/>
      </a:lt1>
      <a:dk2>
        <a:srgbClr val="1F497D"/>
      </a:dk2>
      <a:lt2>
        <a:srgbClr val="D2D2D2"/>
      </a:lt2>
      <a:accent1>
        <a:srgbClr val="A6C4DE"/>
      </a:accent1>
      <a:accent2>
        <a:srgbClr val="D8AC28"/>
      </a:accent2>
      <a:accent3>
        <a:srgbClr val="A22B38"/>
      </a:accent3>
      <a:accent4>
        <a:srgbClr val="7AB800"/>
      </a:accent4>
      <a:accent5>
        <a:srgbClr val="9D7D9E"/>
      </a:accent5>
      <a:accent6>
        <a:srgbClr val="BF5C28"/>
      </a:accent6>
      <a:hlink>
        <a:srgbClr val="4D8ABE"/>
      </a:hlink>
      <a:folHlink>
        <a:srgbClr val="4D8ABE"/>
      </a:folHlink>
    </a:clrScheme>
    <a:fontScheme name="Blue design">
      <a:majorFont>
        <a:latin typeface="Trebuchet MS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lnDef>
  </a:objectDefaults>
  <a:extraClrSchemeLst>
    <a:extraClrScheme>
      <a:clrScheme name="Blue design 1">
        <a:dk1>
          <a:srgbClr val="616161"/>
        </a:dk1>
        <a:lt1>
          <a:srgbClr val="FFFFFF"/>
        </a:lt1>
        <a:dk2>
          <a:srgbClr val="1F497D"/>
        </a:dk2>
        <a:lt2>
          <a:srgbClr val="D2D2D2"/>
        </a:lt2>
        <a:accent1>
          <a:srgbClr val="5C0426"/>
        </a:accent1>
        <a:accent2>
          <a:srgbClr val="9D7D9E"/>
        </a:accent2>
        <a:accent3>
          <a:srgbClr val="FFFFFF"/>
        </a:accent3>
        <a:accent4>
          <a:srgbClr val="525252"/>
        </a:accent4>
        <a:accent5>
          <a:srgbClr val="B5AAAC"/>
        </a:accent5>
        <a:accent6>
          <a:srgbClr val="8E718F"/>
        </a:accent6>
        <a:hlink>
          <a:srgbClr val="253D51"/>
        </a:hlink>
        <a:folHlink>
          <a:srgbClr val="0D204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ustom 11">
      <a:dk1>
        <a:srgbClr val="616161"/>
      </a:dk1>
      <a:lt1>
        <a:sysClr val="window" lastClr="FFFFFF"/>
      </a:lt1>
      <a:dk2>
        <a:srgbClr val="1F497D"/>
      </a:dk2>
      <a:lt2>
        <a:srgbClr val="D2D2D2"/>
      </a:lt2>
      <a:accent1>
        <a:srgbClr val="A6C4DE"/>
      </a:accent1>
      <a:accent2>
        <a:srgbClr val="D8AC28"/>
      </a:accent2>
      <a:accent3>
        <a:srgbClr val="A22B38"/>
      </a:accent3>
      <a:accent4>
        <a:srgbClr val="7AB800"/>
      </a:accent4>
      <a:accent5>
        <a:srgbClr val="4B7D9E"/>
      </a:accent5>
      <a:accent6>
        <a:srgbClr val="BF5C28"/>
      </a:accent6>
      <a:hlink>
        <a:srgbClr val="4D8ABE"/>
      </a:hlink>
      <a:folHlink>
        <a:srgbClr val="4D8AB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2192</TotalTime>
  <Words>811</Words>
  <Application>Microsoft Macintosh PowerPoint</Application>
  <PresentationFormat>On-screen Show (4:3)</PresentationFormat>
  <Paragraphs>283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Blue design</vt:lpstr>
      <vt:lpstr>A Workflow Pipeline for  Scientific Data Analysis </vt:lpstr>
      <vt:lpstr>Why?</vt:lpstr>
      <vt:lpstr>How?</vt:lpstr>
      <vt:lpstr>Message Broker</vt:lpstr>
      <vt:lpstr>Message Format</vt:lpstr>
      <vt:lpstr>Pipeline Stages</vt:lpstr>
      <vt:lpstr>Director</vt:lpstr>
      <vt:lpstr>Actor</vt:lpstr>
      <vt:lpstr>Sequence</vt:lpstr>
      <vt:lpstr>Manufacturing Traveler</vt:lpstr>
      <vt:lpstr>Provenance</vt:lpstr>
      <vt:lpstr>Implementation</vt:lpstr>
      <vt:lpstr>Client</vt:lpstr>
      <vt:lpstr>Tomography </vt:lpstr>
      <vt:lpstr>Tomography </vt:lpstr>
      <vt:lpstr>X-ray Photon Correlation Spectroscopy (XPCS)</vt:lpstr>
      <vt:lpstr>PowerPoint Presentation</vt:lpstr>
    </vt:vector>
  </TitlesOfParts>
  <Company>Argonne National Laboratory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Betty Waterman</dc:creator>
  <cp:lastModifiedBy>Nicholas</cp:lastModifiedBy>
  <cp:revision>272</cp:revision>
  <dcterms:created xsi:type="dcterms:W3CDTF">2009-09-22T20:46:34Z</dcterms:created>
  <dcterms:modified xsi:type="dcterms:W3CDTF">2012-09-25T10:37:05Z</dcterms:modified>
</cp:coreProperties>
</file>