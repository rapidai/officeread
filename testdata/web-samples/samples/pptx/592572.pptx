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4.xml" ContentType="application/vnd.openxmlformats-officedocument.presentationml.notesSlide+xml"/>
  <Override PartName="/ppt/theme/theme2.xml" ContentType="application/vnd.openxmlformats-officedocument.theme+xml"/>
  <Override PartName="/ppt/notesSlides/notesSlide11.xml" ContentType="application/vnd.openxmlformats-officedocument.presentationml.notesSlide+xml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notesSlides/notesSlide16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notesSlides/notesSlide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4.xml" ContentType="application/vnd.openxmlformats-officedocument.presentationml.notes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jpeg" ContentType="image/jpeg"/>
  <Override PartName="/ppt/commentAuthors.xml" ContentType="application/vnd.openxmlformats-officedocument.presentationml.commentAuthors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Default Extension="tiff" ContentType="image/tiff"/>
  <Override PartName="/ppt/slideLayouts/slideLayout11.xml" ContentType="application/vnd.openxmlformats-officedocument.presentationml.slideLayou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ppt/slides/slide8.xml" ContentType="application/vnd.openxmlformats-officedocument.presentationml.slide+xml"/>
  <Override PartName="/ppt/slides/slide15.xml" ContentType="application/vnd.openxmlformats-officedocument.presentationml.slide+xml"/>
  <Default Extension="bin" ContentType="application/vnd.openxmlformats-officedocument.presentationml.printerSettings"/>
  <Override PartName="/ppt/notesSlides/notesSlide10.xml" ContentType="application/vnd.openxmlformats-officedocument.presentationml.notesSlide+xml"/>
  <Default Extension="rels" ContentType="application/vnd.openxmlformats-package.relationships+xml"/>
  <Override PartName="/ppt/slides/slide9.xml" ContentType="application/vnd.openxmlformats-officedocument.presentationml.slide+xml"/>
  <Override PartName="/ppt/comments/comment1.xml" ContentType="application/vnd.openxmlformats-officedocument.presentationml.comments+xml"/>
  <Override PartName="/ppt/slides/slide6.xml" ContentType="application/vnd.openxmlformats-officedocument.presentationml.slide+xml"/>
  <Override PartName="/ppt/slides/slide16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5610" r:id="rId1"/>
  </p:sldMasterIdLst>
  <p:notesMasterIdLst>
    <p:notesMasterId r:id="rId22"/>
  </p:notesMasterIdLst>
  <p:sldIdLst>
    <p:sldId id="256" r:id="rId2"/>
    <p:sldId id="257" r:id="rId3"/>
    <p:sldId id="271" r:id="rId4"/>
    <p:sldId id="299" r:id="rId5"/>
    <p:sldId id="262" r:id="rId6"/>
    <p:sldId id="286" r:id="rId7"/>
    <p:sldId id="283" r:id="rId8"/>
    <p:sldId id="289" r:id="rId9"/>
    <p:sldId id="266" r:id="rId10"/>
    <p:sldId id="301" r:id="rId11"/>
    <p:sldId id="294" r:id="rId12"/>
    <p:sldId id="274" r:id="rId13"/>
    <p:sldId id="290" r:id="rId14"/>
    <p:sldId id="278" r:id="rId15"/>
    <p:sldId id="295" r:id="rId16"/>
    <p:sldId id="276" r:id="rId17"/>
    <p:sldId id="277" r:id="rId18"/>
    <p:sldId id="300" r:id="rId19"/>
    <p:sldId id="287" r:id="rId20"/>
    <p:sldId id="298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mAuthor id="0" name="Donika Plyku" initials="D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 showComments="0">
  <p:normalViewPr showOutlineIcons="0">
    <p:restoredLeft sz="10909" autoAdjust="0"/>
    <p:restoredTop sz="87477" autoAdjust="0"/>
  </p:normalViewPr>
  <p:slideViewPr>
    <p:cSldViewPr snapToObjects="1">
      <p:cViewPr varScale="1">
        <p:scale>
          <a:sx n="117" d="100"/>
          <a:sy n="117" d="100"/>
        </p:scale>
        <p:origin x="-29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slide" Target="slides/slide6.xml"/><Relationship Id="rId1" Type="http://schemas.openxmlformats.org/officeDocument/2006/relationships/slideMaster" Target="slideMasters/slideMaster1.xml"/><Relationship Id="rId24" Type="http://schemas.openxmlformats.org/officeDocument/2006/relationships/commentAuthors" Target="commentAuthors.xml"/><Relationship Id="rId25" Type="http://schemas.openxmlformats.org/officeDocument/2006/relationships/presProps" Target="presProps.xml"/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9" Type="http://schemas.openxmlformats.org/officeDocument/2006/relationships/slide" Target="slides/slide8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7" Type="http://schemas.openxmlformats.org/officeDocument/2006/relationships/theme" Target="theme/theme1.xml"/><Relationship Id="rId14" Type="http://schemas.openxmlformats.org/officeDocument/2006/relationships/slide" Target="slides/slide13.xml"/><Relationship Id="rId23" Type="http://schemas.openxmlformats.org/officeDocument/2006/relationships/printerSettings" Target="printerSettings/printerSettings1.bin"/><Relationship Id="rId4" Type="http://schemas.openxmlformats.org/officeDocument/2006/relationships/slide" Target="slides/slide3.xml"/><Relationship Id="rId28" Type="http://schemas.openxmlformats.org/officeDocument/2006/relationships/tableStyles" Target="tableStyles.xml"/><Relationship Id="rId26" Type="http://schemas.openxmlformats.org/officeDocument/2006/relationships/viewProps" Target="viewProps.xml"/><Relationship Id="rId11" Type="http://schemas.openxmlformats.org/officeDocument/2006/relationships/slide" Target="slides/slide10.xml"/><Relationship Id="rId6" Type="http://schemas.openxmlformats.org/officeDocument/2006/relationships/slide" Target="slides/slide5.xml"/><Relationship Id="rId16" Type="http://schemas.openxmlformats.org/officeDocument/2006/relationships/slide" Target="slides/slide1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2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m authorId="0" dt="2008-06-06T22:57:57.561" idx="1">
    <p:pos x="10" y="10"/>
    <p:text>Donika Plyku HUGS 2008 Jefferson Lab
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3D22A7-8165-4942-8C3A-35EFB2FAC75C}" type="datetimeFigureOut">
              <a:rPr lang="en-US" smtClean="0"/>
              <a:pPr/>
              <a:t>6/23/08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519E3E-8920-1D41-81EE-814849CAC3F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19E3E-8920-1D41-81EE-814849CAC3F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19E3E-8920-1D41-81EE-814849CAC3F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19E3E-8920-1D41-81EE-814849CAC3F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19E3E-8920-1D41-81EE-814849CAC3F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19E3E-8920-1D41-81EE-814849CAC3F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="1" u="sng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19E3E-8920-1D41-81EE-814849CAC3F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19E3E-8920-1D41-81EE-814849CAC3F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19E3E-8920-1D41-81EE-814849CAC3F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19E3E-8920-1D41-81EE-814849CAC3F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19E3E-8920-1D41-81EE-814849CAC3F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19E3E-8920-1D41-81EE-814849CAC3F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endParaRPr lang="en-US" b="1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19E3E-8920-1D41-81EE-814849CAC3F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19E3E-8920-1D41-81EE-814849CAC3F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19E3E-8920-1D41-81EE-814849CAC3FC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19E3E-8920-1D41-81EE-814849CAC3FC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19E3E-8920-1D41-81EE-814849CAC3FC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19E3E-8920-1D41-81EE-814849CAC3FC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6/23/08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6EF64-FB19-411E-965E-9F52AA4744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03800-8711-324C-85BA-8B5659700C6A}" type="datetimeFigureOut">
              <a:rPr lang="en-US" smtClean="0"/>
              <a:pPr/>
              <a:t>6/23/08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E385-9004-3448-BA56-05753C6411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16CD-67A3-4CF0-A210-F6AF31AC147F}" type="datetimeFigureOut">
              <a:rPr lang="en-US" smtClean="0"/>
              <a:pPr/>
              <a:t>6/23/08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03800-8711-324C-85BA-8B5659700C6A}" type="datetimeFigureOut">
              <a:rPr lang="en-US" smtClean="0"/>
              <a:pPr/>
              <a:t>6/23/08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E385-9004-3448-BA56-05753C6411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03800-8711-324C-85BA-8B5659700C6A}" type="datetimeFigureOut">
              <a:rPr lang="en-US" smtClean="0"/>
              <a:pPr/>
              <a:t>6/23/08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E385-9004-3448-BA56-05753C6411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03800-8711-324C-85BA-8B5659700C6A}" type="datetimeFigureOut">
              <a:rPr lang="en-US" smtClean="0"/>
              <a:pPr/>
              <a:t>6/23/08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E385-9004-3448-BA56-05753C6411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03800-8711-324C-85BA-8B5659700C6A}" type="datetimeFigureOut">
              <a:rPr lang="en-US" smtClean="0"/>
              <a:pPr/>
              <a:t>6/23/08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E385-9004-3448-BA56-05753C6411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03800-8711-324C-85BA-8B5659700C6A}" type="datetimeFigureOut">
              <a:rPr lang="en-US" smtClean="0"/>
              <a:pPr/>
              <a:t>6/23/08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03800-8711-324C-85BA-8B5659700C6A}" type="datetimeFigureOut">
              <a:rPr lang="en-US" smtClean="0"/>
              <a:pPr/>
              <a:t>6/23/08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D666E385-9004-3448-BA56-05753C64117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03800-8711-324C-85BA-8B5659700C6A}" type="datetimeFigureOut">
              <a:rPr lang="en-US" smtClean="0"/>
              <a:pPr/>
              <a:t>6/23/08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E385-9004-3448-BA56-05753C6411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03800-8711-324C-85BA-8B5659700C6A}" type="datetimeFigureOut">
              <a:rPr lang="en-US" smtClean="0"/>
              <a:pPr/>
              <a:t>6/23/08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E385-9004-3448-BA56-05753C6411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6703800-8711-324C-85BA-8B5659700C6A}" type="datetimeFigureOut">
              <a:rPr lang="en-US" smtClean="0"/>
              <a:pPr/>
              <a:t>6/23/08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666E385-9004-3448-BA56-05753C64117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5611" r:id="rId1"/>
    <p:sldLayoutId id="2147485612" r:id="rId2"/>
    <p:sldLayoutId id="2147485613" r:id="rId3"/>
    <p:sldLayoutId id="2147485614" r:id="rId4"/>
    <p:sldLayoutId id="2147485615" r:id="rId5"/>
    <p:sldLayoutId id="2147485616" r:id="rId6"/>
    <p:sldLayoutId id="2147485617" r:id="rId7"/>
    <p:sldLayoutId id="2147485618" r:id="rId8"/>
    <p:sldLayoutId id="2147485619" r:id="rId9"/>
    <p:sldLayoutId id="2147485620" r:id="rId10"/>
    <p:sldLayoutId id="214748562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1.xm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image" Target="../media/image11.tiff"/><Relationship Id="rId4" Type="http://schemas.openxmlformats.org/officeDocument/2006/relationships/image" Target="../media/image9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tiff"/><Relationship Id="rId5" Type="http://schemas.openxmlformats.org/officeDocument/2006/relationships/image" Target="../media/image10.tiff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3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tiff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tiff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17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tiff"/><Relationship Id="rId5" Type="http://schemas.openxmlformats.org/officeDocument/2006/relationships/image" Target="../media/image18.tiff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1.tif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tiff"/><Relationship Id="rId5" Type="http://schemas.openxmlformats.org/officeDocument/2006/relationships/image" Target="../media/image22.tiff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4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tif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Proton-Proton Elastic Scattering at RHIC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81400"/>
            <a:ext cx="8001000" cy="2971800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Donika Plyku</a:t>
            </a:r>
          </a:p>
          <a:p>
            <a:endParaRPr lang="en-US" dirty="0" smtClean="0"/>
          </a:p>
          <a:p>
            <a:r>
              <a:rPr lang="en-US" dirty="0" smtClean="0"/>
              <a:t>Old Dominion University</a:t>
            </a:r>
          </a:p>
          <a:p>
            <a:endParaRPr lang="en-US" dirty="0" smtClean="0"/>
          </a:p>
          <a:p>
            <a:r>
              <a:rPr lang="en-US" dirty="0" smtClean="0"/>
              <a:t>HUGS 2008 at Jefferson Lab</a:t>
            </a:r>
            <a:endParaRPr lang="en-US" dirty="0"/>
          </a:p>
        </p:txBody>
      </p:sp>
      <p:pic>
        <p:nvPicPr>
          <p:cNvPr id="4" name="Picture 3" descr="tunnel_blur2-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90900"/>
            <a:ext cx="3962400" cy="3009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Relativistic Heavy Ion Collider (RHIC)</a:t>
            </a:r>
          </a:p>
          <a:p>
            <a:pPr lvl="1"/>
            <a:r>
              <a:rPr lang="en-US" dirty="0" smtClean="0"/>
              <a:t>RHIC as a Polarized Proton Collider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Proton-Proton Elastic Scattering</a:t>
            </a:r>
          </a:p>
          <a:p>
            <a:pPr lvl="1"/>
            <a:r>
              <a:rPr lang="en-US" dirty="0" smtClean="0"/>
              <a:t>Theoretical Approach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PP2PP Experiment at RHIC</a:t>
            </a:r>
          </a:p>
          <a:p>
            <a:pPr lvl="1"/>
            <a:r>
              <a:rPr lang="en-US" dirty="0" smtClean="0"/>
              <a:t> Detection of elastic scattering events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RHIC at Brookhaven National Laboratory (BNL)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r>
              <a:rPr lang="en-US" dirty="0" smtClean="0"/>
              <a:t>Built to collide heavy ions in order to create quark-gluon plasma</a:t>
            </a:r>
          </a:p>
          <a:p>
            <a:r>
              <a:rPr lang="en-US" dirty="0" smtClean="0"/>
              <a:t>At present, the most powerful </a:t>
            </a:r>
            <a:r>
              <a:rPr lang="en-US" b="1" dirty="0" smtClean="0"/>
              <a:t>heavy-ion</a:t>
            </a:r>
            <a:r>
              <a:rPr lang="en-US" dirty="0" smtClean="0"/>
              <a:t> collider in the world</a:t>
            </a:r>
          </a:p>
          <a:p>
            <a:r>
              <a:rPr lang="en-US" dirty="0" smtClean="0"/>
              <a:t>Distinctive in its capability to collide </a:t>
            </a:r>
            <a:r>
              <a:rPr lang="en-US" b="1" dirty="0" smtClean="0"/>
              <a:t>spin-polarized protons </a:t>
            </a:r>
          </a:p>
          <a:p>
            <a:pPr>
              <a:buNone/>
            </a:pPr>
            <a:r>
              <a:rPr lang="en-US" dirty="0" smtClean="0"/>
              <a:t>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304800"/>
            <a:ext cx="8229600" cy="8048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Birds Eye View of RHIC</a:t>
            </a:r>
            <a:endParaRPr lang="en-US" dirty="0"/>
          </a:p>
        </p:txBody>
      </p:sp>
      <p:pic>
        <p:nvPicPr>
          <p:cNvPr id="183302" name="Picture 6"/>
          <p:cNvPicPr>
            <a:picLocks noChangeAspect="1" noChangeArrowheads="1"/>
          </p:cNvPicPr>
          <p:nvPr/>
        </p:nvPicPr>
        <p:blipFill>
          <a:blip r:embed="rId3"/>
          <a:srcRect l="5624" t="9375" r="6000" b="9375"/>
          <a:stretch>
            <a:fillRect/>
          </a:stretch>
        </p:blipFill>
        <p:spPr bwMode="auto">
          <a:xfrm>
            <a:off x="609600" y="1168400"/>
            <a:ext cx="8001000" cy="530860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7543800" y="1219200"/>
            <a:ext cx="1066800" cy="36933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410200" y="32766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>
                <a:solidFill>
                  <a:srgbClr val="FFFFFF"/>
                </a:solidFill>
              </a:rPr>
              <a:t>+ PP2PP</a:t>
            </a:r>
            <a:endParaRPr lang="en-US" b="1" u="sng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87" name="Rectangle 1187"/>
          <p:cNvSpPr>
            <a:spLocks noChangeArrowheads="1"/>
          </p:cNvSpPr>
          <p:nvPr/>
        </p:nvSpPr>
        <p:spPr bwMode="auto">
          <a:xfrm>
            <a:off x="228600" y="1219200"/>
            <a:ext cx="8686800" cy="5334000"/>
          </a:xfrm>
          <a:custGeom>
            <a:avLst/>
            <a:gdLst>
              <a:gd name="connsiteX0" fmla="*/ 0 w 8686800"/>
              <a:gd name="connsiteY0" fmla="*/ 0 h 5334000"/>
              <a:gd name="connsiteX1" fmla="*/ 8686800 w 8686800"/>
              <a:gd name="connsiteY1" fmla="*/ 0 h 5334000"/>
              <a:gd name="connsiteX2" fmla="*/ 8686800 w 8686800"/>
              <a:gd name="connsiteY2" fmla="*/ 5334000 h 5334000"/>
              <a:gd name="connsiteX3" fmla="*/ 0 w 8686800"/>
              <a:gd name="connsiteY3" fmla="*/ 5334000 h 5334000"/>
              <a:gd name="connsiteX4" fmla="*/ 0 w 8686800"/>
              <a:gd name="connsiteY4" fmla="*/ 0 h 533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86800" h="5334000">
                <a:moveTo>
                  <a:pt x="0" y="0"/>
                </a:moveTo>
                <a:lnTo>
                  <a:pt x="8686800" y="0"/>
                </a:lnTo>
                <a:lnTo>
                  <a:pt x="8686800" y="5334000"/>
                </a:lnTo>
                <a:lnTo>
                  <a:pt x="0" y="5334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26" name="Rectangle 1026"/>
          <p:cNvSpPr>
            <a:spLocks noGrp="1" noRot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algn="ctr"/>
            <a:r>
              <a:rPr lang="en-US" dirty="0" smtClean="0"/>
              <a:t>RHIC at BNL </a:t>
            </a:r>
            <a:endParaRPr lang="en-US" dirty="0"/>
          </a:p>
        </p:txBody>
      </p:sp>
      <p:sp>
        <p:nvSpPr>
          <p:cNvPr id="231433" name="Line 1033"/>
          <p:cNvSpPr>
            <a:spLocks noChangeShapeType="1"/>
          </p:cNvSpPr>
          <p:nvPr/>
        </p:nvSpPr>
        <p:spPr bwMode="auto">
          <a:xfrm>
            <a:off x="3351213" y="5091113"/>
            <a:ext cx="125412" cy="4921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34" name="Freeform 1034"/>
          <p:cNvSpPr>
            <a:spLocks/>
          </p:cNvSpPr>
          <p:nvPr/>
        </p:nvSpPr>
        <p:spPr bwMode="auto">
          <a:xfrm>
            <a:off x="7364413" y="3125788"/>
            <a:ext cx="530225" cy="447675"/>
          </a:xfrm>
          <a:custGeom>
            <a:avLst/>
            <a:gdLst/>
            <a:ahLst/>
            <a:cxnLst>
              <a:cxn ang="0">
                <a:pos x="0" y="246"/>
              </a:cxn>
              <a:cxn ang="0">
                <a:pos x="64" y="214"/>
              </a:cxn>
              <a:cxn ang="0">
                <a:pos x="66" y="172"/>
              </a:cxn>
              <a:cxn ang="0">
                <a:pos x="232" y="106"/>
              </a:cxn>
              <a:cxn ang="0">
                <a:pos x="232" y="61"/>
              </a:cxn>
              <a:cxn ang="0">
                <a:pos x="292" y="0"/>
              </a:cxn>
            </a:cxnLst>
            <a:rect l="0" t="0" r="r" b="b"/>
            <a:pathLst>
              <a:path w="292" h="246">
                <a:moveTo>
                  <a:pt x="0" y="246"/>
                </a:moveTo>
                <a:lnTo>
                  <a:pt x="64" y="214"/>
                </a:lnTo>
                <a:lnTo>
                  <a:pt x="66" y="172"/>
                </a:lnTo>
                <a:lnTo>
                  <a:pt x="232" y="106"/>
                </a:lnTo>
                <a:lnTo>
                  <a:pt x="232" y="61"/>
                </a:lnTo>
                <a:lnTo>
                  <a:pt x="292" y="0"/>
                </a:lnTo>
              </a:path>
            </a:pathLst>
          </a:custGeom>
          <a:noFill/>
          <a:ln w="28575" cmpd="sng">
            <a:solidFill>
              <a:srgbClr val="FFCC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35" name="Rectangle 1035"/>
          <p:cNvSpPr>
            <a:spLocks noChangeArrowheads="1"/>
          </p:cNvSpPr>
          <p:nvPr/>
        </p:nvSpPr>
        <p:spPr bwMode="auto">
          <a:xfrm>
            <a:off x="4613275" y="1447800"/>
            <a:ext cx="1265238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36" name="Rectangle 1036"/>
          <p:cNvSpPr>
            <a:spLocks noChangeArrowheads="1"/>
          </p:cNvSpPr>
          <p:nvPr/>
        </p:nvSpPr>
        <p:spPr bwMode="auto">
          <a:xfrm>
            <a:off x="7672388" y="3375025"/>
            <a:ext cx="1166812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37" name="Rectangle 1037"/>
          <p:cNvSpPr>
            <a:spLocks noChangeArrowheads="1"/>
          </p:cNvSpPr>
          <p:nvPr/>
        </p:nvSpPr>
        <p:spPr bwMode="auto">
          <a:xfrm>
            <a:off x="5105400" y="3849688"/>
            <a:ext cx="1166813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38" name="Rectangle 1038"/>
          <p:cNvSpPr>
            <a:spLocks noChangeArrowheads="1"/>
          </p:cNvSpPr>
          <p:nvPr/>
        </p:nvSpPr>
        <p:spPr bwMode="auto">
          <a:xfrm>
            <a:off x="1666875" y="3640138"/>
            <a:ext cx="119062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39" name="Rectangle 1039"/>
          <p:cNvSpPr>
            <a:spLocks noChangeArrowheads="1"/>
          </p:cNvSpPr>
          <p:nvPr/>
        </p:nvSpPr>
        <p:spPr bwMode="auto">
          <a:xfrm>
            <a:off x="7342188" y="1884363"/>
            <a:ext cx="862012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r>
              <a:rPr lang="en-US" altLang="ja-JP" sz="1400" b="1" i="1" u="sng">
                <a:solidFill>
                  <a:srgbClr val="000000"/>
                </a:solidFill>
                <a:latin typeface="Times New Roman" pitchFamily="-111" charset="0"/>
                <a:ea typeface="MS Mincho" charset="-128"/>
                <a:cs typeface="MS Mincho" charset="-128"/>
              </a:rPr>
              <a:t>BRAHMS</a:t>
            </a:r>
            <a:endParaRPr lang="en-US" sz="1800"/>
          </a:p>
        </p:txBody>
      </p:sp>
      <p:sp>
        <p:nvSpPr>
          <p:cNvPr id="231440" name="Rectangle 1040"/>
          <p:cNvSpPr>
            <a:spLocks noChangeArrowheads="1"/>
          </p:cNvSpPr>
          <p:nvPr/>
        </p:nvSpPr>
        <p:spPr bwMode="auto">
          <a:xfrm>
            <a:off x="2911475" y="2820988"/>
            <a:ext cx="781050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r>
              <a:rPr lang="en-US" altLang="ja-JP" sz="1400" b="1" i="1" u="sng">
                <a:solidFill>
                  <a:srgbClr val="000000"/>
                </a:solidFill>
                <a:latin typeface="Times New Roman" pitchFamily="-111" charset="0"/>
                <a:ea typeface="MS Mincho" charset="-128"/>
                <a:cs typeface="MS Mincho" charset="-128"/>
              </a:rPr>
              <a:t>PHENIX</a:t>
            </a:r>
            <a:endParaRPr lang="en-US" sz="1800"/>
          </a:p>
        </p:txBody>
      </p:sp>
      <p:sp>
        <p:nvSpPr>
          <p:cNvPr id="231441" name="Rectangle 1041"/>
          <p:cNvSpPr>
            <a:spLocks noChangeArrowheads="1"/>
          </p:cNvSpPr>
          <p:nvPr/>
        </p:nvSpPr>
        <p:spPr bwMode="auto">
          <a:xfrm>
            <a:off x="4465638" y="2525713"/>
            <a:ext cx="10350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42" name="Rectangle 1042"/>
          <p:cNvSpPr>
            <a:spLocks noChangeArrowheads="1"/>
          </p:cNvSpPr>
          <p:nvPr/>
        </p:nvSpPr>
        <p:spPr bwMode="auto">
          <a:xfrm>
            <a:off x="4237038" y="4978400"/>
            <a:ext cx="608012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43" name="Rectangle 1043"/>
          <p:cNvSpPr>
            <a:spLocks noChangeArrowheads="1"/>
          </p:cNvSpPr>
          <p:nvPr/>
        </p:nvSpPr>
        <p:spPr bwMode="auto">
          <a:xfrm>
            <a:off x="4425950" y="5092700"/>
            <a:ext cx="449263" cy="26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r>
              <a:rPr lang="en-US" altLang="ja-JP" sz="1500" b="1">
                <a:solidFill>
                  <a:srgbClr val="000000"/>
                </a:solidFill>
                <a:latin typeface="Times New Roman" pitchFamily="-111" charset="0"/>
                <a:ea typeface="MS Mincho" charset="-128"/>
                <a:cs typeface="MS Mincho" charset="-128"/>
              </a:rPr>
              <a:t>AGS</a:t>
            </a:r>
            <a:endParaRPr lang="en-US" sz="1800"/>
          </a:p>
        </p:txBody>
      </p:sp>
      <p:sp>
        <p:nvSpPr>
          <p:cNvPr id="231444" name="Rectangle 1044"/>
          <p:cNvSpPr>
            <a:spLocks noChangeArrowheads="1"/>
          </p:cNvSpPr>
          <p:nvPr/>
        </p:nvSpPr>
        <p:spPr bwMode="auto">
          <a:xfrm>
            <a:off x="2005013" y="4859338"/>
            <a:ext cx="717550" cy="29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45" name="Rectangle 1045"/>
          <p:cNvSpPr>
            <a:spLocks noChangeArrowheads="1"/>
          </p:cNvSpPr>
          <p:nvPr/>
        </p:nvSpPr>
        <p:spPr bwMode="auto">
          <a:xfrm>
            <a:off x="3373438" y="4692650"/>
            <a:ext cx="565150" cy="13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r>
              <a:rPr lang="en-US" altLang="ja-JP" sz="800" b="1">
                <a:solidFill>
                  <a:srgbClr val="000000"/>
                </a:solidFill>
                <a:latin typeface="Times New Roman" pitchFamily="-111" charset="0"/>
                <a:ea typeface="MS Mincho" charset="-128"/>
                <a:cs typeface="MS Mincho" charset="-128"/>
              </a:rPr>
              <a:t>BOOSTER</a:t>
            </a:r>
            <a:endParaRPr lang="en-US" sz="1800"/>
          </a:p>
        </p:txBody>
      </p:sp>
      <p:sp>
        <p:nvSpPr>
          <p:cNvPr id="231446" name="Rectangle 1046"/>
          <p:cNvSpPr>
            <a:spLocks noChangeArrowheads="1"/>
          </p:cNvSpPr>
          <p:nvPr/>
        </p:nvSpPr>
        <p:spPr bwMode="auto">
          <a:xfrm>
            <a:off x="2722563" y="4225925"/>
            <a:ext cx="1138237" cy="290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47" name="Oval 1047"/>
          <p:cNvSpPr>
            <a:spLocks noChangeArrowheads="1"/>
          </p:cNvSpPr>
          <p:nvPr/>
        </p:nvSpPr>
        <p:spPr bwMode="auto">
          <a:xfrm>
            <a:off x="3694113" y="4821238"/>
            <a:ext cx="1898650" cy="854075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48" name="Arc 1048"/>
          <p:cNvSpPr>
            <a:spLocks/>
          </p:cNvSpPr>
          <p:nvPr/>
        </p:nvSpPr>
        <p:spPr bwMode="auto">
          <a:xfrm flipH="1">
            <a:off x="2947988" y="2035175"/>
            <a:ext cx="2170112" cy="814388"/>
          </a:xfrm>
          <a:custGeom>
            <a:avLst/>
            <a:gdLst>
              <a:gd name="G0" fmla="+- 0 0 0"/>
              <a:gd name="G1" fmla="+- 21120 0 0"/>
              <a:gd name="G2" fmla="+- 21600 0 0"/>
              <a:gd name="T0" fmla="*/ 4530 w 15493"/>
              <a:gd name="T1" fmla="*/ 0 h 21120"/>
              <a:gd name="T2" fmla="*/ 15493 w 15493"/>
              <a:gd name="T3" fmla="*/ 6069 h 21120"/>
              <a:gd name="T4" fmla="*/ 0 w 15493"/>
              <a:gd name="T5" fmla="*/ 21120 h 21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493" h="21120" fill="none" extrusionOk="0">
                <a:moveTo>
                  <a:pt x="4529" y="0"/>
                </a:moveTo>
                <a:cubicBezTo>
                  <a:pt x="8703" y="895"/>
                  <a:pt x="12518" y="3007"/>
                  <a:pt x="15492" y="6069"/>
                </a:cubicBezTo>
              </a:path>
              <a:path w="15493" h="21120" stroke="0" extrusionOk="0">
                <a:moveTo>
                  <a:pt x="4529" y="0"/>
                </a:moveTo>
                <a:cubicBezTo>
                  <a:pt x="8703" y="895"/>
                  <a:pt x="12518" y="3007"/>
                  <a:pt x="15492" y="6069"/>
                </a:cubicBezTo>
                <a:lnTo>
                  <a:pt x="0" y="21120"/>
                </a:lnTo>
                <a:close/>
              </a:path>
            </a:pathLst>
          </a:custGeom>
          <a:noFill/>
          <a:ln w="28575">
            <a:solidFill>
              <a:srgbClr val="FFCC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49" name="Arc 1049"/>
          <p:cNvSpPr>
            <a:spLocks/>
          </p:cNvSpPr>
          <p:nvPr/>
        </p:nvSpPr>
        <p:spPr bwMode="auto">
          <a:xfrm flipH="1">
            <a:off x="2022475" y="2516188"/>
            <a:ext cx="3025775" cy="623887"/>
          </a:xfrm>
          <a:custGeom>
            <a:avLst/>
            <a:gdLst>
              <a:gd name="G0" fmla="+- 0 0 0"/>
              <a:gd name="G1" fmla="+- 8522 0 0"/>
              <a:gd name="G2" fmla="+- 21600 0 0"/>
              <a:gd name="T0" fmla="*/ 19848 w 21600"/>
              <a:gd name="T1" fmla="*/ 0 h 16156"/>
              <a:gd name="T2" fmla="*/ 20206 w 21600"/>
              <a:gd name="T3" fmla="*/ 16156 h 16156"/>
              <a:gd name="T4" fmla="*/ 0 w 21600"/>
              <a:gd name="T5" fmla="*/ 8522 h 16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6156" fill="none" extrusionOk="0">
                <a:moveTo>
                  <a:pt x="19847" y="0"/>
                </a:moveTo>
                <a:cubicBezTo>
                  <a:pt x="21003" y="2692"/>
                  <a:pt x="21600" y="5591"/>
                  <a:pt x="21600" y="8522"/>
                </a:cubicBezTo>
                <a:cubicBezTo>
                  <a:pt x="21600" y="11129"/>
                  <a:pt x="21127" y="13716"/>
                  <a:pt x="20205" y="16155"/>
                </a:cubicBezTo>
              </a:path>
              <a:path w="21600" h="16156" stroke="0" extrusionOk="0">
                <a:moveTo>
                  <a:pt x="19847" y="0"/>
                </a:moveTo>
                <a:cubicBezTo>
                  <a:pt x="21003" y="2692"/>
                  <a:pt x="21600" y="5591"/>
                  <a:pt x="21600" y="8522"/>
                </a:cubicBezTo>
                <a:cubicBezTo>
                  <a:pt x="21600" y="11129"/>
                  <a:pt x="21127" y="13716"/>
                  <a:pt x="20205" y="16155"/>
                </a:cubicBezTo>
                <a:lnTo>
                  <a:pt x="0" y="8522"/>
                </a:lnTo>
                <a:close/>
              </a:path>
            </a:pathLst>
          </a:custGeom>
          <a:noFill/>
          <a:ln w="28575">
            <a:solidFill>
              <a:srgbClr val="0066FF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50" name="Arc 1050"/>
          <p:cNvSpPr>
            <a:spLocks/>
          </p:cNvSpPr>
          <p:nvPr/>
        </p:nvSpPr>
        <p:spPr bwMode="auto">
          <a:xfrm flipH="1">
            <a:off x="5045075" y="2508250"/>
            <a:ext cx="3027363" cy="617538"/>
          </a:xfrm>
          <a:custGeom>
            <a:avLst/>
            <a:gdLst>
              <a:gd name="G0" fmla="+- 21600 0 0"/>
              <a:gd name="G1" fmla="+- 8570 0 0"/>
              <a:gd name="G2" fmla="+- 21600 0 0"/>
              <a:gd name="T0" fmla="*/ 1307 w 21600"/>
              <a:gd name="T1" fmla="*/ 15969 h 15969"/>
              <a:gd name="T2" fmla="*/ 1773 w 21600"/>
              <a:gd name="T3" fmla="*/ 0 h 15969"/>
              <a:gd name="T4" fmla="*/ 21600 w 21600"/>
              <a:gd name="T5" fmla="*/ 8570 h 159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5969" fill="none" extrusionOk="0">
                <a:moveTo>
                  <a:pt x="1306" y="15969"/>
                </a:moveTo>
                <a:cubicBezTo>
                  <a:pt x="442" y="13597"/>
                  <a:pt x="0" y="11093"/>
                  <a:pt x="0" y="8570"/>
                </a:cubicBezTo>
                <a:cubicBezTo>
                  <a:pt x="0" y="5622"/>
                  <a:pt x="603" y="2705"/>
                  <a:pt x="1772" y="-1"/>
                </a:cubicBezTo>
              </a:path>
              <a:path w="21600" h="15969" stroke="0" extrusionOk="0">
                <a:moveTo>
                  <a:pt x="1306" y="15969"/>
                </a:moveTo>
                <a:cubicBezTo>
                  <a:pt x="442" y="13597"/>
                  <a:pt x="0" y="11093"/>
                  <a:pt x="0" y="8570"/>
                </a:cubicBezTo>
                <a:cubicBezTo>
                  <a:pt x="0" y="5622"/>
                  <a:pt x="603" y="2705"/>
                  <a:pt x="1772" y="-1"/>
                </a:cubicBezTo>
                <a:lnTo>
                  <a:pt x="21600" y="8570"/>
                </a:lnTo>
                <a:close/>
              </a:path>
            </a:pathLst>
          </a:custGeom>
          <a:noFill/>
          <a:ln w="28575">
            <a:solidFill>
              <a:srgbClr val="FFCC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51" name="Arc 1051"/>
          <p:cNvSpPr>
            <a:spLocks/>
          </p:cNvSpPr>
          <p:nvPr/>
        </p:nvSpPr>
        <p:spPr bwMode="auto">
          <a:xfrm flipH="1">
            <a:off x="5202238" y="2719388"/>
            <a:ext cx="2036762" cy="949325"/>
          </a:xfrm>
          <a:custGeom>
            <a:avLst/>
            <a:gdLst>
              <a:gd name="G0" fmla="+- 14614 0 0"/>
              <a:gd name="G1" fmla="+- 0 0 0"/>
              <a:gd name="G2" fmla="+- 21600 0 0"/>
              <a:gd name="T0" fmla="*/ 11646 w 14614"/>
              <a:gd name="T1" fmla="*/ 21395 h 21395"/>
              <a:gd name="T2" fmla="*/ 0 w 14614"/>
              <a:gd name="T3" fmla="*/ 15906 h 21395"/>
              <a:gd name="T4" fmla="*/ 14614 w 14614"/>
              <a:gd name="T5" fmla="*/ 0 h 213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614" h="21395" fill="none" extrusionOk="0">
                <a:moveTo>
                  <a:pt x="11645" y="21395"/>
                </a:moveTo>
                <a:cubicBezTo>
                  <a:pt x="7296" y="20791"/>
                  <a:pt x="3233" y="18876"/>
                  <a:pt x="0" y="15905"/>
                </a:cubicBezTo>
              </a:path>
              <a:path w="14614" h="21395" stroke="0" extrusionOk="0">
                <a:moveTo>
                  <a:pt x="11645" y="21395"/>
                </a:moveTo>
                <a:cubicBezTo>
                  <a:pt x="7296" y="20791"/>
                  <a:pt x="3233" y="18876"/>
                  <a:pt x="0" y="15905"/>
                </a:cubicBezTo>
                <a:lnTo>
                  <a:pt x="14614" y="0"/>
                </a:lnTo>
                <a:close/>
              </a:path>
            </a:pathLst>
          </a:custGeom>
          <a:noFill/>
          <a:ln w="28575">
            <a:solidFill>
              <a:srgbClr val="0066FF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52" name="Arc 1052"/>
          <p:cNvSpPr>
            <a:spLocks/>
          </p:cNvSpPr>
          <p:nvPr/>
        </p:nvSpPr>
        <p:spPr bwMode="auto">
          <a:xfrm flipH="1">
            <a:off x="2922588" y="2938463"/>
            <a:ext cx="2254250" cy="725487"/>
          </a:xfrm>
          <a:custGeom>
            <a:avLst/>
            <a:gdLst>
              <a:gd name="G0" fmla="+- 0 0 0"/>
              <a:gd name="G1" fmla="+- 0 0 0"/>
              <a:gd name="G2" fmla="+- 21600 0 0"/>
              <a:gd name="T0" fmla="*/ 16143 w 16143"/>
              <a:gd name="T1" fmla="*/ 14351 h 21035"/>
              <a:gd name="T2" fmla="*/ 4907 w 16143"/>
              <a:gd name="T3" fmla="*/ 21035 h 21035"/>
              <a:gd name="T4" fmla="*/ 0 w 16143"/>
              <a:gd name="T5" fmla="*/ 0 h 210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143" h="21035" fill="none" extrusionOk="0">
                <a:moveTo>
                  <a:pt x="16143" y="14351"/>
                </a:moveTo>
                <a:cubicBezTo>
                  <a:pt x="13178" y="17686"/>
                  <a:pt x="9252" y="20021"/>
                  <a:pt x="4907" y="21035"/>
                </a:cubicBezTo>
              </a:path>
              <a:path w="16143" h="21035" stroke="0" extrusionOk="0">
                <a:moveTo>
                  <a:pt x="16143" y="14351"/>
                </a:moveTo>
                <a:cubicBezTo>
                  <a:pt x="13178" y="17686"/>
                  <a:pt x="9252" y="20021"/>
                  <a:pt x="4907" y="21035"/>
                </a:cubicBez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FFCC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53" name="Arc 1053"/>
          <p:cNvSpPr>
            <a:spLocks/>
          </p:cNvSpPr>
          <p:nvPr/>
        </p:nvSpPr>
        <p:spPr bwMode="auto">
          <a:xfrm flipH="1">
            <a:off x="5038725" y="2041525"/>
            <a:ext cx="2117725" cy="803275"/>
          </a:xfrm>
          <a:custGeom>
            <a:avLst/>
            <a:gdLst>
              <a:gd name="G0" fmla="+- 15115 0 0"/>
              <a:gd name="G1" fmla="+- 21197 0 0"/>
              <a:gd name="G2" fmla="+- 21600 0 0"/>
              <a:gd name="T0" fmla="*/ 0 w 15115"/>
              <a:gd name="T1" fmla="*/ 5766 h 21197"/>
              <a:gd name="T2" fmla="*/ 10963 w 15115"/>
              <a:gd name="T3" fmla="*/ 0 h 21197"/>
              <a:gd name="T4" fmla="*/ 15115 w 15115"/>
              <a:gd name="T5" fmla="*/ 21197 h 21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115" h="21197" fill="none" extrusionOk="0">
                <a:moveTo>
                  <a:pt x="0" y="5766"/>
                </a:moveTo>
                <a:cubicBezTo>
                  <a:pt x="3013" y="2815"/>
                  <a:pt x="6824" y="810"/>
                  <a:pt x="10962" y="-1"/>
                </a:cubicBezTo>
              </a:path>
              <a:path w="15115" h="21197" stroke="0" extrusionOk="0">
                <a:moveTo>
                  <a:pt x="0" y="5766"/>
                </a:moveTo>
                <a:cubicBezTo>
                  <a:pt x="3013" y="2815"/>
                  <a:pt x="6824" y="810"/>
                  <a:pt x="10962" y="-1"/>
                </a:cubicBezTo>
                <a:lnTo>
                  <a:pt x="15115" y="21197"/>
                </a:lnTo>
                <a:close/>
              </a:path>
            </a:pathLst>
          </a:custGeom>
          <a:noFill/>
          <a:ln w="28575">
            <a:solidFill>
              <a:srgbClr val="0066FF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54" name="Arc 1054"/>
          <p:cNvSpPr>
            <a:spLocks/>
          </p:cNvSpPr>
          <p:nvPr/>
        </p:nvSpPr>
        <p:spPr bwMode="auto">
          <a:xfrm>
            <a:off x="5053013" y="2876550"/>
            <a:ext cx="2309812" cy="969963"/>
          </a:xfrm>
          <a:custGeom>
            <a:avLst/>
            <a:gdLst>
              <a:gd name="G0" fmla="+- 0 0 0"/>
              <a:gd name="G1" fmla="+- 0 0 0"/>
              <a:gd name="G2" fmla="+- 21600 0 0"/>
              <a:gd name="T0" fmla="*/ 15361 w 15361"/>
              <a:gd name="T1" fmla="*/ 15185 h 21244"/>
              <a:gd name="T2" fmla="*/ 3907 w 15361"/>
              <a:gd name="T3" fmla="*/ 21244 h 21244"/>
              <a:gd name="T4" fmla="*/ 0 w 15361"/>
              <a:gd name="T5" fmla="*/ 0 h 21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361" h="21244" fill="none" extrusionOk="0">
                <a:moveTo>
                  <a:pt x="15361" y="15185"/>
                </a:moveTo>
                <a:cubicBezTo>
                  <a:pt x="12253" y="18329"/>
                  <a:pt x="8255" y="20444"/>
                  <a:pt x="3906" y="21243"/>
                </a:cubicBezTo>
              </a:path>
              <a:path w="15361" h="21244" stroke="0" extrusionOk="0">
                <a:moveTo>
                  <a:pt x="15361" y="15185"/>
                </a:moveTo>
                <a:cubicBezTo>
                  <a:pt x="12253" y="18329"/>
                  <a:pt x="8255" y="20444"/>
                  <a:pt x="3906" y="21243"/>
                </a:cubicBez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FFCC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55" name="Arc 1055"/>
          <p:cNvSpPr>
            <a:spLocks/>
          </p:cNvSpPr>
          <p:nvPr/>
        </p:nvSpPr>
        <p:spPr bwMode="auto">
          <a:xfrm>
            <a:off x="2805113" y="2876550"/>
            <a:ext cx="2255837" cy="969963"/>
          </a:xfrm>
          <a:custGeom>
            <a:avLst/>
            <a:gdLst>
              <a:gd name="G0" fmla="+- 15013 0 0"/>
              <a:gd name="G1" fmla="+- 0 0 0"/>
              <a:gd name="G2" fmla="+- 21600 0 0"/>
              <a:gd name="T0" fmla="*/ 11120 w 15013"/>
              <a:gd name="T1" fmla="*/ 21246 h 21246"/>
              <a:gd name="T2" fmla="*/ 0 w 15013"/>
              <a:gd name="T3" fmla="*/ 15530 h 21246"/>
              <a:gd name="T4" fmla="*/ 15013 w 15013"/>
              <a:gd name="T5" fmla="*/ 0 h 21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013" h="21246" fill="none" extrusionOk="0">
                <a:moveTo>
                  <a:pt x="11119" y="21246"/>
                </a:moveTo>
                <a:cubicBezTo>
                  <a:pt x="6930" y="20478"/>
                  <a:pt x="3062" y="18489"/>
                  <a:pt x="0" y="15529"/>
                </a:cubicBezTo>
              </a:path>
              <a:path w="15013" h="21246" stroke="0" extrusionOk="0">
                <a:moveTo>
                  <a:pt x="11119" y="21246"/>
                </a:moveTo>
                <a:cubicBezTo>
                  <a:pt x="6930" y="20478"/>
                  <a:pt x="3062" y="18489"/>
                  <a:pt x="0" y="15529"/>
                </a:cubicBezTo>
                <a:lnTo>
                  <a:pt x="15013" y="0"/>
                </a:lnTo>
                <a:close/>
              </a:path>
            </a:pathLst>
          </a:custGeom>
          <a:noFill/>
          <a:ln w="28575">
            <a:solidFill>
              <a:srgbClr val="0066FF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56" name="Arc 1056"/>
          <p:cNvSpPr>
            <a:spLocks/>
          </p:cNvSpPr>
          <p:nvPr/>
        </p:nvSpPr>
        <p:spPr bwMode="auto">
          <a:xfrm>
            <a:off x="1817688" y="2451100"/>
            <a:ext cx="3248025" cy="809625"/>
          </a:xfrm>
          <a:custGeom>
            <a:avLst/>
            <a:gdLst>
              <a:gd name="G0" fmla="+- 21600 0 0"/>
              <a:gd name="G1" fmla="+- 9253 0 0"/>
              <a:gd name="G2" fmla="+- 21600 0 0"/>
              <a:gd name="T0" fmla="*/ 1689 w 21600"/>
              <a:gd name="T1" fmla="*/ 17626 h 17626"/>
              <a:gd name="T2" fmla="*/ 2082 w 21600"/>
              <a:gd name="T3" fmla="*/ 0 h 17626"/>
              <a:gd name="T4" fmla="*/ 21600 w 21600"/>
              <a:gd name="T5" fmla="*/ 9253 h 176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626" fill="none" extrusionOk="0">
                <a:moveTo>
                  <a:pt x="1688" y="17626"/>
                </a:moveTo>
                <a:cubicBezTo>
                  <a:pt x="574" y="14975"/>
                  <a:pt x="0" y="12128"/>
                  <a:pt x="0" y="9253"/>
                </a:cubicBezTo>
                <a:cubicBezTo>
                  <a:pt x="0" y="6052"/>
                  <a:pt x="711" y="2892"/>
                  <a:pt x="2082" y="0"/>
                </a:cubicBezTo>
              </a:path>
              <a:path w="21600" h="17626" stroke="0" extrusionOk="0">
                <a:moveTo>
                  <a:pt x="1688" y="17626"/>
                </a:moveTo>
                <a:cubicBezTo>
                  <a:pt x="574" y="14975"/>
                  <a:pt x="0" y="12128"/>
                  <a:pt x="0" y="9253"/>
                </a:cubicBezTo>
                <a:cubicBezTo>
                  <a:pt x="0" y="6052"/>
                  <a:pt x="711" y="2892"/>
                  <a:pt x="2082" y="0"/>
                </a:cubicBezTo>
                <a:lnTo>
                  <a:pt x="21600" y="9253"/>
                </a:lnTo>
                <a:close/>
              </a:path>
            </a:pathLst>
          </a:custGeom>
          <a:noFill/>
          <a:ln w="28575">
            <a:solidFill>
              <a:srgbClr val="FFCC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57" name="Arc 1057"/>
          <p:cNvSpPr>
            <a:spLocks/>
          </p:cNvSpPr>
          <p:nvPr/>
        </p:nvSpPr>
        <p:spPr bwMode="auto">
          <a:xfrm>
            <a:off x="2844800" y="1898650"/>
            <a:ext cx="2220913" cy="985838"/>
          </a:xfrm>
          <a:custGeom>
            <a:avLst/>
            <a:gdLst>
              <a:gd name="G0" fmla="+- 14768 0 0"/>
              <a:gd name="G1" fmla="+- 21256 0 0"/>
              <a:gd name="G2" fmla="+- 21600 0 0"/>
              <a:gd name="T0" fmla="*/ 0 w 14768"/>
              <a:gd name="T1" fmla="*/ 5493 h 21256"/>
              <a:gd name="T2" fmla="*/ 10930 w 14768"/>
              <a:gd name="T3" fmla="*/ 0 h 21256"/>
              <a:gd name="T4" fmla="*/ 14768 w 14768"/>
              <a:gd name="T5" fmla="*/ 21256 h 21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768" h="21256" fill="none" extrusionOk="0">
                <a:moveTo>
                  <a:pt x="0" y="5493"/>
                </a:moveTo>
                <a:cubicBezTo>
                  <a:pt x="3037" y="2647"/>
                  <a:pt x="6833" y="739"/>
                  <a:pt x="10929" y="-1"/>
                </a:cubicBezTo>
              </a:path>
              <a:path w="14768" h="21256" stroke="0" extrusionOk="0">
                <a:moveTo>
                  <a:pt x="0" y="5493"/>
                </a:moveTo>
                <a:cubicBezTo>
                  <a:pt x="3037" y="2647"/>
                  <a:pt x="6833" y="739"/>
                  <a:pt x="10929" y="-1"/>
                </a:cubicBezTo>
                <a:lnTo>
                  <a:pt x="14768" y="21256"/>
                </a:lnTo>
                <a:close/>
              </a:path>
            </a:pathLst>
          </a:custGeom>
          <a:noFill/>
          <a:ln w="28575">
            <a:solidFill>
              <a:srgbClr val="0066FF"/>
            </a:solidFill>
            <a:round/>
            <a:headEnd/>
            <a:tailEnd type="triangle" w="med" len="med"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58" name="Arc 1058"/>
          <p:cNvSpPr>
            <a:spLocks/>
          </p:cNvSpPr>
          <p:nvPr/>
        </p:nvSpPr>
        <p:spPr bwMode="auto">
          <a:xfrm>
            <a:off x="5053013" y="1903413"/>
            <a:ext cx="2200275" cy="977900"/>
          </a:xfrm>
          <a:custGeom>
            <a:avLst/>
            <a:gdLst>
              <a:gd name="G0" fmla="+- 0 0 0"/>
              <a:gd name="G1" fmla="+- 21263 0 0"/>
              <a:gd name="G2" fmla="+- 21600 0 0"/>
              <a:gd name="T0" fmla="*/ 3803 w 14647"/>
              <a:gd name="T1" fmla="*/ 0 h 21263"/>
              <a:gd name="T2" fmla="*/ 14647 w 14647"/>
              <a:gd name="T3" fmla="*/ 5388 h 21263"/>
              <a:gd name="T4" fmla="*/ 0 w 14647"/>
              <a:gd name="T5" fmla="*/ 21263 h 21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647" h="21263" fill="none" extrusionOk="0">
                <a:moveTo>
                  <a:pt x="3802" y="0"/>
                </a:moveTo>
                <a:cubicBezTo>
                  <a:pt x="7857" y="725"/>
                  <a:pt x="11619" y="2594"/>
                  <a:pt x="14647" y="5387"/>
                </a:cubicBezTo>
              </a:path>
              <a:path w="14647" h="21263" stroke="0" extrusionOk="0">
                <a:moveTo>
                  <a:pt x="3802" y="0"/>
                </a:moveTo>
                <a:cubicBezTo>
                  <a:pt x="7857" y="725"/>
                  <a:pt x="11619" y="2594"/>
                  <a:pt x="14647" y="5387"/>
                </a:cubicBezTo>
                <a:lnTo>
                  <a:pt x="0" y="21263"/>
                </a:lnTo>
                <a:close/>
              </a:path>
            </a:pathLst>
          </a:custGeom>
          <a:noFill/>
          <a:ln w="28575">
            <a:solidFill>
              <a:srgbClr val="FFCC00"/>
            </a:solidFill>
            <a:round/>
            <a:headEnd type="triangle" w="med" len="med"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59" name="Arc 1059"/>
          <p:cNvSpPr>
            <a:spLocks/>
          </p:cNvSpPr>
          <p:nvPr/>
        </p:nvSpPr>
        <p:spPr bwMode="auto">
          <a:xfrm>
            <a:off x="5053013" y="2436813"/>
            <a:ext cx="3248025" cy="820737"/>
          </a:xfrm>
          <a:custGeom>
            <a:avLst/>
            <a:gdLst>
              <a:gd name="G0" fmla="+- 0 0 0"/>
              <a:gd name="G1" fmla="+- 9577 0 0"/>
              <a:gd name="G2" fmla="+- 21600 0 0"/>
              <a:gd name="T0" fmla="*/ 19361 w 21600"/>
              <a:gd name="T1" fmla="*/ 0 h 17979"/>
              <a:gd name="T2" fmla="*/ 19899 w 21600"/>
              <a:gd name="T3" fmla="*/ 17979 h 17979"/>
              <a:gd name="T4" fmla="*/ 0 w 21600"/>
              <a:gd name="T5" fmla="*/ 9577 h 179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979" fill="none" extrusionOk="0">
                <a:moveTo>
                  <a:pt x="19360" y="0"/>
                </a:moveTo>
                <a:cubicBezTo>
                  <a:pt x="20833" y="2977"/>
                  <a:pt x="21600" y="6254"/>
                  <a:pt x="21600" y="9577"/>
                </a:cubicBezTo>
                <a:cubicBezTo>
                  <a:pt x="21600" y="12463"/>
                  <a:pt x="21021" y="15320"/>
                  <a:pt x="19898" y="17978"/>
                </a:cubicBezTo>
              </a:path>
              <a:path w="21600" h="17979" stroke="0" extrusionOk="0">
                <a:moveTo>
                  <a:pt x="19360" y="0"/>
                </a:moveTo>
                <a:cubicBezTo>
                  <a:pt x="20833" y="2977"/>
                  <a:pt x="21600" y="6254"/>
                  <a:pt x="21600" y="9577"/>
                </a:cubicBezTo>
                <a:cubicBezTo>
                  <a:pt x="21600" y="12463"/>
                  <a:pt x="21021" y="15320"/>
                  <a:pt x="19898" y="17978"/>
                </a:cubicBezTo>
                <a:lnTo>
                  <a:pt x="0" y="9577"/>
                </a:lnTo>
                <a:close/>
              </a:path>
            </a:pathLst>
          </a:custGeom>
          <a:noFill/>
          <a:ln w="28575">
            <a:solidFill>
              <a:srgbClr val="0066FF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60" name="Freeform 1060"/>
          <p:cNvSpPr>
            <a:spLocks/>
          </p:cNvSpPr>
          <p:nvPr/>
        </p:nvSpPr>
        <p:spPr bwMode="auto">
          <a:xfrm>
            <a:off x="4483100" y="3663950"/>
            <a:ext cx="1160463" cy="177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72" y="18"/>
              </a:cxn>
              <a:cxn ang="0">
                <a:pos x="220" y="57"/>
              </a:cxn>
              <a:cxn ang="0">
                <a:pos x="406" y="57"/>
              </a:cxn>
              <a:cxn ang="0">
                <a:pos x="445" y="95"/>
              </a:cxn>
              <a:cxn ang="0">
                <a:pos x="639" y="99"/>
              </a:cxn>
            </a:cxnLst>
            <a:rect l="0" t="0" r="r" b="b"/>
            <a:pathLst>
              <a:path w="639" h="99">
                <a:moveTo>
                  <a:pt x="0" y="0"/>
                </a:moveTo>
                <a:lnTo>
                  <a:pt x="172" y="18"/>
                </a:lnTo>
                <a:lnTo>
                  <a:pt x="220" y="57"/>
                </a:lnTo>
                <a:lnTo>
                  <a:pt x="406" y="57"/>
                </a:lnTo>
                <a:lnTo>
                  <a:pt x="445" y="95"/>
                </a:lnTo>
                <a:lnTo>
                  <a:pt x="639" y="99"/>
                </a:lnTo>
              </a:path>
            </a:pathLst>
          </a:custGeom>
          <a:noFill/>
          <a:ln w="28575" cmpd="sng">
            <a:solidFill>
              <a:srgbClr val="FFCC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61" name="Freeform 1061"/>
          <p:cNvSpPr>
            <a:spLocks/>
          </p:cNvSpPr>
          <p:nvPr/>
        </p:nvSpPr>
        <p:spPr bwMode="auto">
          <a:xfrm>
            <a:off x="4473575" y="3668713"/>
            <a:ext cx="1143000" cy="174625"/>
          </a:xfrm>
          <a:custGeom>
            <a:avLst/>
            <a:gdLst/>
            <a:ahLst/>
            <a:cxnLst>
              <a:cxn ang="0">
                <a:pos x="0" y="97"/>
              </a:cxn>
              <a:cxn ang="0">
                <a:pos x="177" y="96"/>
              </a:cxn>
              <a:cxn ang="0">
                <a:pos x="225" y="51"/>
              </a:cxn>
              <a:cxn ang="0">
                <a:pos x="408" y="51"/>
              </a:cxn>
              <a:cxn ang="0">
                <a:pos x="449" y="15"/>
              </a:cxn>
              <a:cxn ang="0">
                <a:pos x="630" y="0"/>
              </a:cxn>
            </a:cxnLst>
            <a:rect l="0" t="0" r="r" b="b"/>
            <a:pathLst>
              <a:path w="630" h="97">
                <a:moveTo>
                  <a:pt x="0" y="97"/>
                </a:moveTo>
                <a:lnTo>
                  <a:pt x="177" y="96"/>
                </a:lnTo>
                <a:lnTo>
                  <a:pt x="225" y="51"/>
                </a:lnTo>
                <a:lnTo>
                  <a:pt x="408" y="51"/>
                </a:lnTo>
                <a:lnTo>
                  <a:pt x="449" y="15"/>
                </a:lnTo>
                <a:lnTo>
                  <a:pt x="630" y="0"/>
                </a:lnTo>
              </a:path>
            </a:pathLst>
          </a:custGeom>
          <a:noFill/>
          <a:ln w="28575" cmpd="sng">
            <a:solidFill>
              <a:srgbClr val="0066FF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62" name="Rectangle 1062"/>
          <p:cNvSpPr>
            <a:spLocks noChangeArrowheads="1"/>
          </p:cNvSpPr>
          <p:nvPr/>
        </p:nvSpPr>
        <p:spPr bwMode="auto">
          <a:xfrm>
            <a:off x="4968875" y="3714750"/>
            <a:ext cx="171450" cy="106363"/>
          </a:xfrm>
          <a:prstGeom prst="rect">
            <a:avLst/>
          </a:prstGeom>
          <a:solidFill>
            <a:srgbClr val="FF6600"/>
          </a:solidFill>
          <a:ln w="7938"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63" name="Arc 1063"/>
          <p:cNvSpPr>
            <a:spLocks/>
          </p:cNvSpPr>
          <p:nvPr/>
        </p:nvSpPr>
        <p:spPr bwMode="auto">
          <a:xfrm>
            <a:off x="3890963" y="3817938"/>
            <a:ext cx="1163637" cy="563562"/>
          </a:xfrm>
          <a:custGeom>
            <a:avLst/>
            <a:gdLst>
              <a:gd name="G0" fmla="+- 0 0 0"/>
              <a:gd name="G1" fmla="+- 21188 0 0"/>
              <a:gd name="G2" fmla="+- 21600 0 0"/>
              <a:gd name="T0" fmla="*/ 4198 w 21600"/>
              <a:gd name="T1" fmla="*/ 0 h 21188"/>
              <a:gd name="T2" fmla="*/ 21600 w 21600"/>
              <a:gd name="T3" fmla="*/ 21188 h 21188"/>
              <a:gd name="T4" fmla="*/ 0 w 21600"/>
              <a:gd name="T5" fmla="*/ 21188 h 21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188" fill="none" extrusionOk="0">
                <a:moveTo>
                  <a:pt x="4198" y="-1"/>
                </a:moveTo>
                <a:cubicBezTo>
                  <a:pt x="14312" y="2003"/>
                  <a:pt x="21600" y="10877"/>
                  <a:pt x="21600" y="21188"/>
                </a:cubicBezTo>
              </a:path>
              <a:path w="21600" h="21188" stroke="0" extrusionOk="0">
                <a:moveTo>
                  <a:pt x="4198" y="-1"/>
                </a:moveTo>
                <a:cubicBezTo>
                  <a:pt x="14312" y="2003"/>
                  <a:pt x="21600" y="10877"/>
                  <a:pt x="21600" y="21188"/>
                </a:cubicBezTo>
                <a:lnTo>
                  <a:pt x="0" y="21188"/>
                </a:lnTo>
                <a:close/>
              </a:path>
            </a:pathLst>
          </a:custGeom>
          <a:noFill/>
          <a:ln w="28575">
            <a:solidFill>
              <a:srgbClr val="0066FF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64" name="Arc 1064"/>
          <p:cNvSpPr>
            <a:spLocks/>
          </p:cNvSpPr>
          <p:nvPr/>
        </p:nvSpPr>
        <p:spPr bwMode="auto">
          <a:xfrm flipH="1">
            <a:off x="5059363" y="3817938"/>
            <a:ext cx="1163637" cy="563562"/>
          </a:xfrm>
          <a:custGeom>
            <a:avLst/>
            <a:gdLst>
              <a:gd name="G0" fmla="+- 0 0 0"/>
              <a:gd name="G1" fmla="+- 21188 0 0"/>
              <a:gd name="G2" fmla="+- 21600 0 0"/>
              <a:gd name="T0" fmla="*/ 4198 w 21600"/>
              <a:gd name="T1" fmla="*/ 0 h 21188"/>
              <a:gd name="T2" fmla="*/ 21600 w 21600"/>
              <a:gd name="T3" fmla="*/ 21188 h 21188"/>
              <a:gd name="T4" fmla="*/ 0 w 21600"/>
              <a:gd name="T5" fmla="*/ 21188 h 21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188" fill="none" extrusionOk="0">
                <a:moveTo>
                  <a:pt x="4198" y="-1"/>
                </a:moveTo>
                <a:cubicBezTo>
                  <a:pt x="14312" y="2003"/>
                  <a:pt x="21600" y="10877"/>
                  <a:pt x="21600" y="21188"/>
                </a:cubicBezTo>
              </a:path>
              <a:path w="21600" h="21188" stroke="0" extrusionOk="0">
                <a:moveTo>
                  <a:pt x="4198" y="-1"/>
                </a:moveTo>
                <a:cubicBezTo>
                  <a:pt x="14312" y="2003"/>
                  <a:pt x="21600" y="10877"/>
                  <a:pt x="21600" y="21188"/>
                </a:cubicBezTo>
                <a:lnTo>
                  <a:pt x="0" y="21188"/>
                </a:lnTo>
                <a:close/>
              </a:path>
            </a:pathLst>
          </a:custGeom>
          <a:noFill/>
          <a:ln w="28575">
            <a:solidFill>
              <a:srgbClr val="FFCC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65" name="Freeform 1065"/>
          <p:cNvSpPr>
            <a:spLocks/>
          </p:cNvSpPr>
          <p:nvPr/>
        </p:nvSpPr>
        <p:spPr bwMode="auto">
          <a:xfrm>
            <a:off x="4476750" y="1898650"/>
            <a:ext cx="1155700" cy="1444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72" y="2"/>
              </a:cxn>
              <a:cxn ang="0">
                <a:pos x="222" y="32"/>
              </a:cxn>
              <a:cxn ang="0">
                <a:pos x="400" y="30"/>
              </a:cxn>
              <a:cxn ang="0">
                <a:pos x="446" y="68"/>
              </a:cxn>
              <a:cxn ang="0">
                <a:pos x="636" y="80"/>
              </a:cxn>
            </a:cxnLst>
            <a:rect l="0" t="0" r="r" b="b"/>
            <a:pathLst>
              <a:path w="636" h="80">
                <a:moveTo>
                  <a:pt x="0" y="0"/>
                </a:moveTo>
                <a:lnTo>
                  <a:pt x="172" y="2"/>
                </a:lnTo>
                <a:lnTo>
                  <a:pt x="222" y="32"/>
                </a:lnTo>
                <a:lnTo>
                  <a:pt x="400" y="30"/>
                </a:lnTo>
                <a:lnTo>
                  <a:pt x="446" y="68"/>
                </a:lnTo>
                <a:lnTo>
                  <a:pt x="636" y="80"/>
                </a:lnTo>
              </a:path>
            </a:pathLst>
          </a:custGeom>
          <a:noFill/>
          <a:ln w="28575" cmpd="sng">
            <a:solidFill>
              <a:srgbClr val="0066FF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66" name="Freeform 1066"/>
          <p:cNvSpPr>
            <a:spLocks/>
          </p:cNvSpPr>
          <p:nvPr/>
        </p:nvSpPr>
        <p:spPr bwMode="auto">
          <a:xfrm>
            <a:off x="4473575" y="1895475"/>
            <a:ext cx="1158875" cy="144463"/>
          </a:xfrm>
          <a:custGeom>
            <a:avLst/>
            <a:gdLst/>
            <a:ahLst/>
            <a:cxnLst>
              <a:cxn ang="0">
                <a:pos x="0" y="80"/>
              </a:cxn>
              <a:cxn ang="0">
                <a:pos x="178" y="74"/>
              </a:cxn>
              <a:cxn ang="0">
                <a:pos x="222" y="32"/>
              </a:cxn>
              <a:cxn ang="0">
                <a:pos x="398" y="32"/>
              </a:cxn>
              <a:cxn ang="0">
                <a:pos x="452" y="0"/>
              </a:cxn>
              <a:cxn ang="0">
                <a:pos x="638" y="4"/>
              </a:cxn>
            </a:cxnLst>
            <a:rect l="0" t="0" r="r" b="b"/>
            <a:pathLst>
              <a:path w="638" h="80">
                <a:moveTo>
                  <a:pt x="0" y="80"/>
                </a:moveTo>
                <a:lnTo>
                  <a:pt x="178" y="74"/>
                </a:lnTo>
                <a:lnTo>
                  <a:pt x="222" y="32"/>
                </a:lnTo>
                <a:lnTo>
                  <a:pt x="398" y="32"/>
                </a:lnTo>
                <a:lnTo>
                  <a:pt x="452" y="0"/>
                </a:lnTo>
                <a:lnTo>
                  <a:pt x="638" y="4"/>
                </a:lnTo>
              </a:path>
            </a:pathLst>
          </a:custGeom>
          <a:noFill/>
          <a:ln w="28575" cmpd="sng">
            <a:solidFill>
              <a:srgbClr val="FFCC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67" name="Freeform 1067"/>
          <p:cNvSpPr>
            <a:spLocks/>
          </p:cNvSpPr>
          <p:nvPr/>
        </p:nvSpPr>
        <p:spPr bwMode="auto">
          <a:xfrm>
            <a:off x="2073275" y="3262313"/>
            <a:ext cx="852488" cy="1762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6" y="54"/>
              </a:cxn>
              <a:cxn ang="0">
                <a:pos x="152" y="44"/>
              </a:cxn>
              <a:cxn ang="0">
                <a:pos x="270" y="90"/>
              </a:cxn>
              <a:cxn ang="0">
                <a:pos x="344" y="68"/>
              </a:cxn>
              <a:cxn ang="0">
                <a:pos x="470" y="96"/>
              </a:cxn>
            </a:cxnLst>
            <a:rect l="0" t="0" r="r" b="b"/>
            <a:pathLst>
              <a:path w="470" h="96">
                <a:moveTo>
                  <a:pt x="0" y="0"/>
                </a:moveTo>
                <a:lnTo>
                  <a:pt x="106" y="54"/>
                </a:lnTo>
                <a:lnTo>
                  <a:pt x="152" y="44"/>
                </a:lnTo>
                <a:lnTo>
                  <a:pt x="270" y="90"/>
                </a:lnTo>
                <a:lnTo>
                  <a:pt x="344" y="68"/>
                </a:lnTo>
                <a:lnTo>
                  <a:pt x="470" y="96"/>
                </a:lnTo>
              </a:path>
            </a:pathLst>
          </a:custGeom>
          <a:noFill/>
          <a:ln w="28575" cmpd="sng">
            <a:solidFill>
              <a:srgbClr val="FFCC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68" name="Freeform 1068"/>
          <p:cNvSpPr>
            <a:spLocks/>
          </p:cNvSpPr>
          <p:nvPr/>
        </p:nvSpPr>
        <p:spPr bwMode="auto">
          <a:xfrm>
            <a:off x="2214563" y="3138488"/>
            <a:ext cx="598487" cy="4508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8" y="46"/>
              </a:cxn>
              <a:cxn ang="0">
                <a:pos x="78" y="110"/>
              </a:cxn>
              <a:cxn ang="0">
                <a:pos x="192" y="156"/>
              </a:cxn>
              <a:cxn ang="0">
                <a:pos x="196" y="202"/>
              </a:cxn>
              <a:cxn ang="0">
                <a:pos x="330" y="248"/>
              </a:cxn>
            </a:cxnLst>
            <a:rect l="0" t="0" r="r" b="b"/>
            <a:pathLst>
              <a:path w="330" h="248">
                <a:moveTo>
                  <a:pt x="0" y="0"/>
                </a:moveTo>
                <a:lnTo>
                  <a:pt x="68" y="46"/>
                </a:lnTo>
                <a:lnTo>
                  <a:pt x="78" y="110"/>
                </a:lnTo>
                <a:lnTo>
                  <a:pt x="192" y="156"/>
                </a:lnTo>
                <a:lnTo>
                  <a:pt x="196" y="202"/>
                </a:lnTo>
                <a:lnTo>
                  <a:pt x="330" y="248"/>
                </a:lnTo>
              </a:path>
            </a:pathLst>
          </a:custGeom>
          <a:noFill/>
          <a:ln w="28575" cmpd="sng">
            <a:solidFill>
              <a:srgbClr val="3333FF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69" name="Rectangle 1069"/>
          <p:cNvSpPr>
            <a:spLocks noChangeArrowheads="1"/>
          </p:cNvSpPr>
          <p:nvPr/>
        </p:nvSpPr>
        <p:spPr bwMode="auto">
          <a:xfrm rot="1511052">
            <a:off x="2378075" y="3317875"/>
            <a:ext cx="171450" cy="103188"/>
          </a:xfrm>
          <a:prstGeom prst="rect">
            <a:avLst/>
          </a:prstGeom>
          <a:solidFill>
            <a:srgbClr val="FF6600"/>
          </a:solidFill>
          <a:ln w="7938"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70" name="Freeform 1070"/>
          <p:cNvSpPr>
            <a:spLocks/>
          </p:cNvSpPr>
          <p:nvPr/>
        </p:nvSpPr>
        <p:spPr bwMode="auto">
          <a:xfrm>
            <a:off x="2127250" y="2262188"/>
            <a:ext cx="828675" cy="200025"/>
          </a:xfrm>
          <a:custGeom>
            <a:avLst/>
            <a:gdLst/>
            <a:ahLst/>
            <a:cxnLst>
              <a:cxn ang="0">
                <a:pos x="0" y="110"/>
              </a:cxn>
              <a:cxn ang="0">
                <a:pos x="80" y="70"/>
              </a:cxn>
              <a:cxn ang="0">
                <a:pos x="136" y="68"/>
              </a:cxn>
              <a:cxn ang="0">
                <a:pos x="296" y="2"/>
              </a:cxn>
              <a:cxn ang="0">
                <a:pos x="348" y="22"/>
              </a:cxn>
              <a:cxn ang="0">
                <a:pos x="456" y="0"/>
              </a:cxn>
            </a:cxnLst>
            <a:rect l="0" t="0" r="r" b="b"/>
            <a:pathLst>
              <a:path w="456" h="110">
                <a:moveTo>
                  <a:pt x="0" y="110"/>
                </a:moveTo>
                <a:lnTo>
                  <a:pt x="80" y="70"/>
                </a:lnTo>
                <a:lnTo>
                  <a:pt x="136" y="68"/>
                </a:lnTo>
                <a:lnTo>
                  <a:pt x="296" y="2"/>
                </a:lnTo>
                <a:lnTo>
                  <a:pt x="348" y="22"/>
                </a:lnTo>
                <a:lnTo>
                  <a:pt x="456" y="0"/>
                </a:lnTo>
              </a:path>
            </a:pathLst>
          </a:custGeom>
          <a:noFill/>
          <a:ln w="28575" cmpd="sng">
            <a:solidFill>
              <a:srgbClr val="FFCC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71" name="Freeform 1071"/>
          <p:cNvSpPr>
            <a:spLocks/>
          </p:cNvSpPr>
          <p:nvPr/>
        </p:nvSpPr>
        <p:spPr bwMode="auto">
          <a:xfrm>
            <a:off x="2266950" y="2149475"/>
            <a:ext cx="582613" cy="369888"/>
          </a:xfrm>
          <a:custGeom>
            <a:avLst/>
            <a:gdLst/>
            <a:ahLst/>
            <a:cxnLst>
              <a:cxn ang="0">
                <a:pos x="0" y="204"/>
              </a:cxn>
              <a:cxn ang="0">
                <a:pos x="58" y="164"/>
              </a:cxn>
              <a:cxn ang="0">
                <a:pos x="58" y="130"/>
              </a:cxn>
              <a:cxn ang="0">
                <a:pos x="218" y="66"/>
              </a:cxn>
              <a:cxn ang="0">
                <a:pos x="222" y="30"/>
              </a:cxn>
              <a:cxn ang="0">
                <a:pos x="322" y="0"/>
              </a:cxn>
            </a:cxnLst>
            <a:rect l="0" t="0" r="r" b="b"/>
            <a:pathLst>
              <a:path w="322" h="204">
                <a:moveTo>
                  <a:pt x="0" y="204"/>
                </a:moveTo>
                <a:lnTo>
                  <a:pt x="58" y="164"/>
                </a:lnTo>
                <a:lnTo>
                  <a:pt x="58" y="130"/>
                </a:lnTo>
                <a:lnTo>
                  <a:pt x="218" y="66"/>
                </a:lnTo>
                <a:lnTo>
                  <a:pt x="222" y="30"/>
                </a:lnTo>
                <a:lnTo>
                  <a:pt x="322" y="0"/>
                </a:lnTo>
              </a:path>
            </a:pathLst>
          </a:custGeom>
          <a:noFill/>
          <a:ln w="28575" cmpd="sng">
            <a:solidFill>
              <a:srgbClr val="3333FF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72" name="Rectangle 1072"/>
          <p:cNvSpPr>
            <a:spLocks noChangeArrowheads="1"/>
          </p:cNvSpPr>
          <p:nvPr/>
        </p:nvSpPr>
        <p:spPr bwMode="auto">
          <a:xfrm rot="-1277282">
            <a:off x="2447925" y="2265363"/>
            <a:ext cx="173038" cy="106362"/>
          </a:xfrm>
          <a:prstGeom prst="rect">
            <a:avLst/>
          </a:prstGeom>
          <a:solidFill>
            <a:srgbClr val="FF6600"/>
          </a:solidFill>
          <a:ln w="7938"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73" name="Freeform 1073"/>
          <p:cNvSpPr>
            <a:spLocks/>
          </p:cNvSpPr>
          <p:nvPr/>
        </p:nvSpPr>
        <p:spPr bwMode="auto">
          <a:xfrm>
            <a:off x="7254875" y="2151063"/>
            <a:ext cx="574675" cy="3571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5" y="24"/>
              </a:cxn>
              <a:cxn ang="0">
                <a:pos x="87" y="57"/>
              </a:cxn>
              <a:cxn ang="0">
                <a:pos x="264" y="125"/>
              </a:cxn>
              <a:cxn ang="0">
                <a:pos x="262" y="164"/>
              </a:cxn>
              <a:cxn ang="0">
                <a:pos x="316" y="197"/>
              </a:cxn>
            </a:cxnLst>
            <a:rect l="0" t="0" r="r" b="b"/>
            <a:pathLst>
              <a:path w="316" h="197">
                <a:moveTo>
                  <a:pt x="0" y="0"/>
                </a:moveTo>
                <a:lnTo>
                  <a:pt x="75" y="24"/>
                </a:lnTo>
                <a:lnTo>
                  <a:pt x="87" y="57"/>
                </a:lnTo>
                <a:lnTo>
                  <a:pt x="264" y="125"/>
                </a:lnTo>
                <a:lnTo>
                  <a:pt x="262" y="164"/>
                </a:lnTo>
                <a:lnTo>
                  <a:pt x="316" y="197"/>
                </a:lnTo>
              </a:path>
            </a:pathLst>
          </a:custGeom>
          <a:noFill/>
          <a:ln w="28575" cmpd="sng">
            <a:solidFill>
              <a:srgbClr val="FFCC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74" name="Freeform 1074"/>
          <p:cNvSpPr>
            <a:spLocks/>
          </p:cNvSpPr>
          <p:nvPr/>
        </p:nvSpPr>
        <p:spPr bwMode="auto">
          <a:xfrm>
            <a:off x="7234238" y="3257550"/>
            <a:ext cx="812800" cy="182563"/>
          </a:xfrm>
          <a:custGeom>
            <a:avLst/>
            <a:gdLst/>
            <a:ahLst/>
            <a:cxnLst>
              <a:cxn ang="0">
                <a:pos x="0" y="91"/>
              </a:cxn>
              <a:cxn ang="0">
                <a:pos x="93" y="72"/>
              </a:cxn>
              <a:cxn ang="0">
                <a:pos x="141" y="99"/>
              </a:cxn>
              <a:cxn ang="0">
                <a:pos x="304" y="33"/>
              </a:cxn>
              <a:cxn ang="0">
                <a:pos x="354" y="51"/>
              </a:cxn>
              <a:cxn ang="0">
                <a:pos x="448" y="0"/>
              </a:cxn>
            </a:cxnLst>
            <a:rect l="0" t="0" r="r" b="b"/>
            <a:pathLst>
              <a:path w="448" h="99">
                <a:moveTo>
                  <a:pt x="0" y="91"/>
                </a:moveTo>
                <a:lnTo>
                  <a:pt x="93" y="72"/>
                </a:lnTo>
                <a:lnTo>
                  <a:pt x="141" y="99"/>
                </a:lnTo>
                <a:lnTo>
                  <a:pt x="304" y="33"/>
                </a:lnTo>
                <a:lnTo>
                  <a:pt x="354" y="51"/>
                </a:lnTo>
                <a:lnTo>
                  <a:pt x="448" y="0"/>
                </a:lnTo>
              </a:path>
            </a:pathLst>
          </a:custGeom>
          <a:noFill/>
          <a:ln w="28575" cmpd="sng">
            <a:solidFill>
              <a:srgbClr val="3333FF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75" name="Freeform 1075"/>
          <p:cNvSpPr>
            <a:spLocks/>
          </p:cNvSpPr>
          <p:nvPr/>
        </p:nvSpPr>
        <p:spPr bwMode="auto">
          <a:xfrm>
            <a:off x="7153275" y="2259013"/>
            <a:ext cx="812800" cy="184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84" y="19"/>
              </a:cxn>
              <a:cxn ang="0">
                <a:pos x="147" y="0"/>
              </a:cxn>
              <a:cxn ang="0">
                <a:pos x="319" y="66"/>
              </a:cxn>
              <a:cxn ang="0">
                <a:pos x="379" y="57"/>
              </a:cxn>
              <a:cxn ang="0">
                <a:pos x="450" y="96"/>
              </a:cxn>
            </a:cxnLst>
            <a:rect l="0" t="0" r="r" b="b"/>
            <a:pathLst>
              <a:path w="450" h="96">
                <a:moveTo>
                  <a:pt x="0" y="0"/>
                </a:moveTo>
                <a:lnTo>
                  <a:pt x="84" y="19"/>
                </a:lnTo>
                <a:lnTo>
                  <a:pt x="147" y="0"/>
                </a:lnTo>
                <a:lnTo>
                  <a:pt x="319" y="66"/>
                </a:lnTo>
                <a:lnTo>
                  <a:pt x="379" y="57"/>
                </a:lnTo>
                <a:lnTo>
                  <a:pt x="450" y="96"/>
                </a:lnTo>
              </a:path>
            </a:pathLst>
          </a:custGeom>
          <a:noFill/>
          <a:ln w="28575" cmpd="sng">
            <a:solidFill>
              <a:srgbClr val="3333FF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76" name="Rectangle 1076"/>
          <p:cNvSpPr>
            <a:spLocks noChangeArrowheads="1"/>
          </p:cNvSpPr>
          <p:nvPr/>
        </p:nvSpPr>
        <p:spPr bwMode="auto">
          <a:xfrm rot="1511052">
            <a:off x="7493000" y="2263775"/>
            <a:ext cx="171450" cy="106363"/>
          </a:xfrm>
          <a:prstGeom prst="rect">
            <a:avLst/>
          </a:prstGeom>
          <a:solidFill>
            <a:srgbClr val="FF6600"/>
          </a:solidFill>
          <a:ln w="7938"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77" name="Oval 1077"/>
          <p:cNvSpPr>
            <a:spLocks noChangeArrowheads="1"/>
          </p:cNvSpPr>
          <p:nvPr/>
        </p:nvSpPr>
        <p:spPr bwMode="auto">
          <a:xfrm rot="93880">
            <a:off x="5291138" y="3763963"/>
            <a:ext cx="263525" cy="146050"/>
          </a:xfrm>
          <a:prstGeom prst="ellipse">
            <a:avLst/>
          </a:prstGeom>
          <a:solidFill>
            <a:srgbClr val="FFCC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78" name="AutoShape 1078"/>
          <p:cNvSpPr>
            <a:spLocks noChangeArrowheads="1"/>
          </p:cNvSpPr>
          <p:nvPr/>
        </p:nvSpPr>
        <p:spPr bwMode="auto">
          <a:xfrm rot="245893">
            <a:off x="5357813" y="3783013"/>
            <a:ext cx="150812" cy="107950"/>
          </a:xfrm>
          <a:prstGeom prst="curvedDownArrow">
            <a:avLst>
              <a:gd name="adj1" fmla="val 27941"/>
              <a:gd name="adj2" fmla="val 55882"/>
              <a:gd name="adj3" fmla="val 42009"/>
            </a:avLst>
          </a:prstGeom>
          <a:solidFill>
            <a:srgbClr val="FFFFFF"/>
          </a:solidFill>
          <a:ln w="31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79" name="Oval 1079"/>
          <p:cNvSpPr>
            <a:spLocks noChangeArrowheads="1"/>
          </p:cNvSpPr>
          <p:nvPr/>
        </p:nvSpPr>
        <p:spPr bwMode="auto">
          <a:xfrm rot="-205518">
            <a:off x="5284788" y="3602038"/>
            <a:ext cx="260350" cy="147637"/>
          </a:xfrm>
          <a:prstGeom prst="ellipse">
            <a:avLst/>
          </a:prstGeom>
          <a:solidFill>
            <a:srgbClr val="6699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80" name="AutoShape 1080"/>
          <p:cNvSpPr>
            <a:spLocks noChangeArrowheads="1"/>
          </p:cNvSpPr>
          <p:nvPr/>
        </p:nvSpPr>
        <p:spPr bwMode="auto">
          <a:xfrm rot="-53504">
            <a:off x="5348288" y="3614738"/>
            <a:ext cx="152400" cy="107950"/>
          </a:xfrm>
          <a:prstGeom prst="curvedDownArrow">
            <a:avLst>
              <a:gd name="adj1" fmla="val 28235"/>
              <a:gd name="adj2" fmla="val 56471"/>
              <a:gd name="adj3" fmla="val 42009"/>
            </a:avLst>
          </a:prstGeom>
          <a:solidFill>
            <a:srgbClr val="FFFFFF"/>
          </a:solidFill>
          <a:ln w="31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81" name="Oval 1081"/>
          <p:cNvSpPr>
            <a:spLocks noChangeArrowheads="1"/>
          </p:cNvSpPr>
          <p:nvPr/>
        </p:nvSpPr>
        <p:spPr bwMode="auto">
          <a:xfrm rot="-205518">
            <a:off x="4538663" y="3759200"/>
            <a:ext cx="261937" cy="147638"/>
          </a:xfrm>
          <a:prstGeom prst="ellipse">
            <a:avLst/>
          </a:prstGeom>
          <a:solidFill>
            <a:srgbClr val="6699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82" name="AutoShape 1082"/>
          <p:cNvSpPr>
            <a:spLocks noChangeArrowheads="1"/>
          </p:cNvSpPr>
          <p:nvPr/>
        </p:nvSpPr>
        <p:spPr bwMode="auto">
          <a:xfrm rot="-53504">
            <a:off x="4606925" y="3773488"/>
            <a:ext cx="150813" cy="106362"/>
          </a:xfrm>
          <a:prstGeom prst="curvedDownArrow">
            <a:avLst>
              <a:gd name="adj1" fmla="val 28358"/>
              <a:gd name="adj2" fmla="val 56717"/>
              <a:gd name="adj3" fmla="val 42009"/>
            </a:avLst>
          </a:prstGeom>
          <a:solidFill>
            <a:srgbClr val="FFFFFF"/>
          </a:solidFill>
          <a:ln w="31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83" name="Oval 1083"/>
          <p:cNvSpPr>
            <a:spLocks noChangeArrowheads="1"/>
          </p:cNvSpPr>
          <p:nvPr/>
        </p:nvSpPr>
        <p:spPr bwMode="auto">
          <a:xfrm rot="93880">
            <a:off x="4533900" y="3598863"/>
            <a:ext cx="260350" cy="146050"/>
          </a:xfrm>
          <a:prstGeom prst="ellipse">
            <a:avLst/>
          </a:prstGeom>
          <a:solidFill>
            <a:srgbClr val="FFCC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84" name="AutoShape 1084"/>
          <p:cNvSpPr>
            <a:spLocks noChangeArrowheads="1"/>
          </p:cNvSpPr>
          <p:nvPr/>
        </p:nvSpPr>
        <p:spPr bwMode="auto">
          <a:xfrm rot="245893">
            <a:off x="4598988" y="3617913"/>
            <a:ext cx="152400" cy="107950"/>
          </a:xfrm>
          <a:prstGeom prst="curvedDownArrow">
            <a:avLst>
              <a:gd name="adj1" fmla="val 28235"/>
              <a:gd name="adj2" fmla="val 56471"/>
              <a:gd name="adj3" fmla="val 42009"/>
            </a:avLst>
          </a:prstGeom>
          <a:solidFill>
            <a:srgbClr val="FFFFFF"/>
          </a:solidFill>
          <a:ln w="31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85" name="Oval 1085"/>
          <p:cNvSpPr>
            <a:spLocks noChangeArrowheads="1"/>
          </p:cNvSpPr>
          <p:nvPr/>
        </p:nvSpPr>
        <p:spPr bwMode="auto">
          <a:xfrm rot="-20785994">
            <a:off x="2730500" y="3354388"/>
            <a:ext cx="261938" cy="144462"/>
          </a:xfrm>
          <a:prstGeom prst="ellipse">
            <a:avLst/>
          </a:prstGeom>
          <a:solidFill>
            <a:srgbClr val="FFCC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86" name="AutoShape 1086"/>
          <p:cNvSpPr>
            <a:spLocks noChangeArrowheads="1"/>
          </p:cNvSpPr>
          <p:nvPr/>
        </p:nvSpPr>
        <p:spPr bwMode="auto">
          <a:xfrm rot="-20633979">
            <a:off x="2794000" y="3375025"/>
            <a:ext cx="150813" cy="106363"/>
          </a:xfrm>
          <a:prstGeom prst="curvedDownArrow">
            <a:avLst>
              <a:gd name="adj1" fmla="val 28358"/>
              <a:gd name="adj2" fmla="val 56716"/>
              <a:gd name="adj3" fmla="val 42009"/>
            </a:avLst>
          </a:prstGeom>
          <a:solidFill>
            <a:srgbClr val="FFFFFF"/>
          </a:solidFill>
          <a:ln w="31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87" name="Oval 1087"/>
          <p:cNvSpPr>
            <a:spLocks noChangeArrowheads="1"/>
          </p:cNvSpPr>
          <p:nvPr/>
        </p:nvSpPr>
        <p:spPr bwMode="auto">
          <a:xfrm rot="-20549088">
            <a:off x="2598738" y="3487738"/>
            <a:ext cx="261937" cy="147637"/>
          </a:xfrm>
          <a:prstGeom prst="ellipse">
            <a:avLst/>
          </a:prstGeom>
          <a:solidFill>
            <a:srgbClr val="6699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88" name="AutoShape 1088"/>
          <p:cNvSpPr>
            <a:spLocks noChangeArrowheads="1"/>
          </p:cNvSpPr>
          <p:nvPr/>
        </p:nvSpPr>
        <p:spPr bwMode="auto">
          <a:xfrm rot="-20397074">
            <a:off x="2668588" y="3503613"/>
            <a:ext cx="147637" cy="107950"/>
          </a:xfrm>
          <a:prstGeom prst="curvedDownArrow">
            <a:avLst>
              <a:gd name="adj1" fmla="val 27353"/>
              <a:gd name="adj2" fmla="val 54706"/>
              <a:gd name="adj3" fmla="val 42009"/>
            </a:avLst>
          </a:prstGeom>
          <a:solidFill>
            <a:srgbClr val="FFFFFF"/>
          </a:solidFill>
          <a:ln w="31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89" name="Oval 1089"/>
          <p:cNvSpPr>
            <a:spLocks noChangeArrowheads="1"/>
          </p:cNvSpPr>
          <p:nvPr/>
        </p:nvSpPr>
        <p:spPr bwMode="auto">
          <a:xfrm rot="-19688670">
            <a:off x="2085975" y="3059113"/>
            <a:ext cx="260350" cy="146050"/>
          </a:xfrm>
          <a:prstGeom prst="ellipse">
            <a:avLst/>
          </a:prstGeom>
          <a:solidFill>
            <a:srgbClr val="6699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90" name="AutoShape 1090"/>
          <p:cNvSpPr>
            <a:spLocks noChangeArrowheads="1"/>
          </p:cNvSpPr>
          <p:nvPr/>
        </p:nvSpPr>
        <p:spPr bwMode="auto">
          <a:xfrm rot="-19536658">
            <a:off x="2152650" y="3078163"/>
            <a:ext cx="152400" cy="107950"/>
          </a:xfrm>
          <a:prstGeom prst="curvedDownArrow">
            <a:avLst>
              <a:gd name="adj1" fmla="val 28235"/>
              <a:gd name="adj2" fmla="val 56471"/>
              <a:gd name="adj3" fmla="val 42009"/>
            </a:avLst>
          </a:prstGeom>
          <a:solidFill>
            <a:srgbClr val="FFFFFF"/>
          </a:solidFill>
          <a:ln w="31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91" name="Oval 1091"/>
          <p:cNvSpPr>
            <a:spLocks noChangeArrowheads="1"/>
          </p:cNvSpPr>
          <p:nvPr/>
        </p:nvSpPr>
        <p:spPr bwMode="auto">
          <a:xfrm rot="-20005014">
            <a:off x="1970088" y="3187700"/>
            <a:ext cx="261937" cy="142875"/>
          </a:xfrm>
          <a:prstGeom prst="ellipse">
            <a:avLst/>
          </a:prstGeom>
          <a:solidFill>
            <a:srgbClr val="FFCC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92" name="AutoShape 1092"/>
          <p:cNvSpPr>
            <a:spLocks noChangeArrowheads="1"/>
          </p:cNvSpPr>
          <p:nvPr/>
        </p:nvSpPr>
        <p:spPr bwMode="auto">
          <a:xfrm rot="-19853002">
            <a:off x="2035175" y="3209925"/>
            <a:ext cx="149225" cy="106363"/>
          </a:xfrm>
          <a:prstGeom prst="curvedDownArrow">
            <a:avLst>
              <a:gd name="adj1" fmla="val 28060"/>
              <a:gd name="adj2" fmla="val 56119"/>
              <a:gd name="adj3" fmla="val 42009"/>
            </a:avLst>
          </a:prstGeom>
          <a:solidFill>
            <a:srgbClr val="FFFFFF"/>
          </a:solidFill>
          <a:ln w="31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93" name="Oval 1093"/>
          <p:cNvSpPr>
            <a:spLocks noChangeArrowheads="1"/>
          </p:cNvSpPr>
          <p:nvPr/>
        </p:nvSpPr>
        <p:spPr bwMode="auto">
          <a:xfrm rot="-24250724">
            <a:off x="1841500" y="2501900"/>
            <a:ext cx="260350" cy="144463"/>
          </a:xfrm>
          <a:prstGeom prst="ellipse">
            <a:avLst/>
          </a:prstGeom>
          <a:solidFill>
            <a:srgbClr val="FFCC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94" name="AutoShape 1094"/>
          <p:cNvSpPr>
            <a:spLocks noChangeArrowheads="1"/>
          </p:cNvSpPr>
          <p:nvPr/>
        </p:nvSpPr>
        <p:spPr bwMode="auto">
          <a:xfrm rot="-24098712">
            <a:off x="1903413" y="2511425"/>
            <a:ext cx="149225" cy="106363"/>
          </a:xfrm>
          <a:prstGeom prst="curvedDownArrow">
            <a:avLst>
              <a:gd name="adj1" fmla="val 28060"/>
              <a:gd name="adj2" fmla="val 56119"/>
              <a:gd name="adj3" fmla="val 42009"/>
            </a:avLst>
          </a:prstGeom>
          <a:solidFill>
            <a:srgbClr val="FFFFFF"/>
          </a:solidFill>
          <a:ln w="31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95" name="Oval 1095"/>
          <p:cNvSpPr>
            <a:spLocks noChangeArrowheads="1"/>
          </p:cNvSpPr>
          <p:nvPr/>
        </p:nvSpPr>
        <p:spPr bwMode="auto">
          <a:xfrm rot="-24319334">
            <a:off x="2015331" y="2555082"/>
            <a:ext cx="261937" cy="146050"/>
          </a:xfrm>
          <a:prstGeom prst="ellipse">
            <a:avLst/>
          </a:prstGeom>
          <a:solidFill>
            <a:srgbClr val="6699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96" name="AutoShape 1096"/>
          <p:cNvSpPr>
            <a:spLocks noChangeArrowheads="1"/>
          </p:cNvSpPr>
          <p:nvPr/>
        </p:nvSpPr>
        <p:spPr bwMode="auto">
          <a:xfrm rot="-24167322">
            <a:off x="2071688" y="2562225"/>
            <a:ext cx="150812" cy="106363"/>
          </a:xfrm>
          <a:prstGeom prst="curvedDownArrow">
            <a:avLst>
              <a:gd name="adj1" fmla="val 28358"/>
              <a:gd name="adj2" fmla="val 56716"/>
              <a:gd name="adj3" fmla="val 42009"/>
            </a:avLst>
          </a:prstGeom>
          <a:solidFill>
            <a:srgbClr val="FFFFFF"/>
          </a:solidFill>
          <a:ln w="31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97" name="Oval 1097"/>
          <p:cNvSpPr>
            <a:spLocks noChangeArrowheads="1"/>
          </p:cNvSpPr>
          <p:nvPr/>
        </p:nvSpPr>
        <p:spPr bwMode="auto">
          <a:xfrm rot="-2875454">
            <a:off x="8043862" y="3052763"/>
            <a:ext cx="263525" cy="146050"/>
          </a:xfrm>
          <a:prstGeom prst="ellipse">
            <a:avLst/>
          </a:prstGeom>
          <a:solidFill>
            <a:srgbClr val="6699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98" name="AutoShape 1098"/>
          <p:cNvSpPr>
            <a:spLocks noChangeArrowheads="1"/>
          </p:cNvSpPr>
          <p:nvPr/>
        </p:nvSpPr>
        <p:spPr bwMode="auto">
          <a:xfrm rot="-2723441">
            <a:off x="8101013" y="3059112"/>
            <a:ext cx="152400" cy="104775"/>
          </a:xfrm>
          <a:prstGeom prst="curvedDownArrow">
            <a:avLst>
              <a:gd name="adj1" fmla="val 29091"/>
              <a:gd name="adj2" fmla="val 58182"/>
              <a:gd name="adj3" fmla="val 42009"/>
            </a:avLst>
          </a:prstGeom>
          <a:solidFill>
            <a:srgbClr val="FFFFFF"/>
          </a:solidFill>
          <a:ln w="31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99" name="Oval 1099"/>
          <p:cNvSpPr>
            <a:spLocks noChangeArrowheads="1"/>
          </p:cNvSpPr>
          <p:nvPr/>
        </p:nvSpPr>
        <p:spPr bwMode="auto">
          <a:xfrm rot="-2682010">
            <a:off x="7820025" y="2986088"/>
            <a:ext cx="265113" cy="146050"/>
          </a:xfrm>
          <a:prstGeom prst="ellipse">
            <a:avLst/>
          </a:prstGeom>
          <a:solidFill>
            <a:srgbClr val="FFCC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00" name="AutoShape 1100"/>
          <p:cNvSpPr>
            <a:spLocks noChangeArrowheads="1"/>
          </p:cNvSpPr>
          <p:nvPr/>
        </p:nvSpPr>
        <p:spPr bwMode="auto">
          <a:xfrm rot="-2529997">
            <a:off x="7883525" y="2997200"/>
            <a:ext cx="152400" cy="106363"/>
          </a:xfrm>
          <a:prstGeom prst="curvedDownArrow">
            <a:avLst>
              <a:gd name="adj1" fmla="val 28657"/>
              <a:gd name="adj2" fmla="val 57313"/>
              <a:gd name="adj3" fmla="val 42009"/>
            </a:avLst>
          </a:prstGeom>
          <a:solidFill>
            <a:srgbClr val="FFFFFF"/>
          </a:solidFill>
          <a:ln w="31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01" name="Freeform 1101"/>
          <p:cNvSpPr>
            <a:spLocks/>
          </p:cNvSpPr>
          <p:nvPr/>
        </p:nvSpPr>
        <p:spPr bwMode="auto">
          <a:xfrm>
            <a:off x="3068638" y="4933950"/>
            <a:ext cx="319087" cy="160338"/>
          </a:xfrm>
          <a:custGeom>
            <a:avLst/>
            <a:gdLst/>
            <a:ahLst/>
            <a:cxnLst>
              <a:cxn ang="0">
                <a:pos x="177" y="0"/>
              </a:cxn>
              <a:cxn ang="0">
                <a:pos x="138" y="44"/>
              </a:cxn>
              <a:cxn ang="0">
                <a:pos x="155" y="89"/>
              </a:cxn>
              <a:cxn ang="0">
                <a:pos x="0" y="36"/>
              </a:cxn>
            </a:cxnLst>
            <a:rect l="0" t="0" r="r" b="b"/>
            <a:pathLst>
              <a:path w="177" h="89">
                <a:moveTo>
                  <a:pt x="177" y="0"/>
                </a:moveTo>
                <a:lnTo>
                  <a:pt x="138" y="44"/>
                </a:lnTo>
                <a:lnTo>
                  <a:pt x="155" y="89"/>
                </a:lnTo>
                <a:lnTo>
                  <a:pt x="0" y="36"/>
                </a:lnTo>
              </a:path>
            </a:pathLst>
          </a:custGeom>
          <a:noFill/>
          <a:ln w="28575" cmpd="sng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02" name="Line 1102"/>
          <p:cNvSpPr>
            <a:spLocks noChangeShapeType="1"/>
          </p:cNvSpPr>
          <p:nvPr/>
        </p:nvSpPr>
        <p:spPr bwMode="auto">
          <a:xfrm>
            <a:off x="2138363" y="4678363"/>
            <a:ext cx="228600" cy="7143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03" name="Freeform 1103"/>
          <p:cNvSpPr>
            <a:spLocks/>
          </p:cNvSpPr>
          <p:nvPr/>
        </p:nvSpPr>
        <p:spPr bwMode="auto">
          <a:xfrm>
            <a:off x="2074863" y="4724400"/>
            <a:ext cx="187325" cy="165100"/>
          </a:xfrm>
          <a:custGeom>
            <a:avLst/>
            <a:gdLst/>
            <a:ahLst/>
            <a:cxnLst>
              <a:cxn ang="0">
                <a:pos x="0" y="67"/>
              </a:cxn>
              <a:cxn ang="0">
                <a:pos x="73" y="91"/>
              </a:cxn>
              <a:cxn ang="0">
                <a:pos x="103" y="0"/>
              </a:cxn>
            </a:cxnLst>
            <a:rect l="0" t="0" r="r" b="b"/>
            <a:pathLst>
              <a:path w="103" h="91">
                <a:moveTo>
                  <a:pt x="0" y="67"/>
                </a:moveTo>
                <a:lnTo>
                  <a:pt x="73" y="91"/>
                </a:lnTo>
                <a:lnTo>
                  <a:pt x="103" y="0"/>
                </a:lnTo>
              </a:path>
            </a:pathLst>
          </a:custGeom>
          <a:noFill/>
          <a:ln w="28575" cmpd="sng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04" name="Freeform 1104"/>
          <p:cNvSpPr>
            <a:spLocks/>
          </p:cNvSpPr>
          <p:nvPr/>
        </p:nvSpPr>
        <p:spPr bwMode="auto">
          <a:xfrm>
            <a:off x="3698875" y="4884738"/>
            <a:ext cx="93663" cy="306387"/>
          </a:xfrm>
          <a:custGeom>
            <a:avLst/>
            <a:gdLst/>
            <a:ahLst/>
            <a:cxnLst>
              <a:cxn ang="0">
                <a:pos x="9" y="0"/>
              </a:cxn>
              <a:cxn ang="0">
                <a:pos x="54" y="54"/>
              </a:cxn>
              <a:cxn ang="0">
                <a:pos x="0" y="168"/>
              </a:cxn>
            </a:cxnLst>
            <a:rect l="0" t="0" r="r" b="b"/>
            <a:pathLst>
              <a:path w="54" h="168">
                <a:moveTo>
                  <a:pt x="9" y="0"/>
                </a:moveTo>
                <a:lnTo>
                  <a:pt x="54" y="54"/>
                </a:lnTo>
                <a:lnTo>
                  <a:pt x="0" y="168"/>
                </a:lnTo>
              </a:path>
            </a:pathLst>
          </a:custGeom>
          <a:noFill/>
          <a:ln w="28575" cmpd="sng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05" name="Oval 1105"/>
          <p:cNvSpPr>
            <a:spLocks noChangeArrowheads="1"/>
          </p:cNvSpPr>
          <p:nvPr/>
        </p:nvSpPr>
        <p:spPr bwMode="auto">
          <a:xfrm>
            <a:off x="3387725" y="4856163"/>
            <a:ext cx="369888" cy="200025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06" name="Freeform 1106"/>
          <p:cNvSpPr>
            <a:spLocks/>
          </p:cNvSpPr>
          <p:nvPr/>
        </p:nvSpPr>
        <p:spPr bwMode="auto">
          <a:xfrm>
            <a:off x="5056188" y="4367213"/>
            <a:ext cx="441325" cy="688975"/>
          </a:xfrm>
          <a:custGeom>
            <a:avLst/>
            <a:gdLst/>
            <a:ahLst/>
            <a:cxnLst>
              <a:cxn ang="0">
                <a:pos x="243" y="378"/>
              </a:cxn>
              <a:cxn ang="0">
                <a:pos x="90" y="252"/>
              </a:cxn>
              <a:cxn ang="0">
                <a:pos x="42" y="180"/>
              </a:cxn>
              <a:cxn ang="0">
                <a:pos x="0" y="0"/>
              </a:cxn>
            </a:cxnLst>
            <a:rect l="0" t="0" r="r" b="b"/>
            <a:pathLst>
              <a:path w="243" h="378">
                <a:moveTo>
                  <a:pt x="243" y="378"/>
                </a:moveTo>
                <a:lnTo>
                  <a:pt x="90" y="252"/>
                </a:lnTo>
                <a:lnTo>
                  <a:pt x="42" y="180"/>
                </a:lnTo>
                <a:lnTo>
                  <a:pt x="0" y="0"/>
                </a:lnTo>
              </a:path>
            </a:pathLst>
          </a:custGeom>
          <a:noFill/>
          <a:ln w="28575" cmpd="sng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07" name="Rectangle 1107"/>
          <p:cNvSpPr>
            <a:spLocks noChangeArrowheads="1"/>
          </p:cNvSpPr>
          <p:nvPr/>
        </p:nvSpPr>
        <p:spPr bwMode="auto">
          <a:xfrm rot="-20452156">
            <a:off x="1873250" y="4751388"/>
            <a:ext cx="206375" cy="127000"/>
          </a:xfrm>
          <a:prstGeom prst="rect">
            <a:avLst/>
          </a:prstGeom>
          <a:solidFill>
            <a:srgbClr val="FF66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08" name="Rectangle 1108"/>
          <p:cNvSpPr>
            <a:spLocks noChangeArrowheads="1"/>
          </p:cNvSpPr>
          <p:nvPr/>
        </p:nvSpPr>
        <p:spPr bwMode="auto">
          <a:xfrm rot="-20452156">
            <a:off x="1933575" y="4581525"/>
            <a:ext cx="206375" cy="125413"/>
          </a:xfrm>
          <a:prstGeom prst="rect">
            <a:avLst/>
          </a:prstGeom>
          <a:solidFill>
            <a:srgbClr val="FF66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09" name="Rectangle 1109"/>
          <p:cNvSpPr>
            <a:spLocks noChangeArrowheads="1"/>
          </p:cNvSpPr>
          <p:nvPr/>
        </p:nvSpPr>
        <p:spPr bwMode="auto">
          <a:xfrm rot="-20452156">
            <a:off x="2343150" y="4819650"/>
            <a:ext cx="776288" cy="125413"/>
          </a:xfrm>
          <a:prstGeom prst="rect">
            <a:avLst/>
          </a:prstGeom>
          <a:solidFill>
            <a:srgbClr val="FF66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10" name="Text Box 1110"/>
          <p:cNvSpPr txBox="1">
            <a:spLocks noChangeArrowheads="1"/>
          </p:cNvSpPr>
          <p:nvPr/>
        </p:nvSpPr>
        <p:spPr bwMode="auto">
          <a:xfrm>
            <a:off x="1263650" y="3675063"/>
            <a:ext cx="2349500" cy="59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algn="ctr"/>
            <a:r>
              <a:rPr lang="en-US" altLang="ja-JP" sz="1400">
                <a:solidFill>
                  <a:srgbClr val="000000"/>
                </a:solidFill>
                <a:latin typeface="Times New Roman" pitchFamily="-111" charset="0"/>
                <a:ea typeface="MS Mincho" charset="-128"/>
                <a:cs typeface="MS Mincho" charset="-128"/>
              </a:rPr>
              <a:t>Spin Rotators</a:t>
            </a:r>
          </a:p>
          <a:p>
            <a:pPr algn="ctr"/>
            <a:r>
              <a:rPr lang="en-US" altLang="ja-JP" sz="1400">
                <a:solidFill>
                  <a:srgbClr val="000000"/>
                </a:solidFill>
                <a:latin typeface="Times New Roman" pitchFamily="-111" charset="0"/>
                <a:ea typeface="MS Mincho" charset="-128"/>
                <a:cs typeface="MS Mincho" charset="-128"/>
              </a:rPr>
              <a:t>(longitudinal polarization)</a:t>
            </a:r>
            <a:endParaRPr lang="en-US" sz="1800"/>
          </a:p>
        </p:txBody>
      </p:sp>
      <p:sp>
        <p:nvSpPr>
          <p:cNvPr id="231511" name="Oval 1111"/>
          <p:cNvSpPr>
            <a:spLocks noChangeArrowheads="1"/>
          </p:cNvSpPr>
          <p:nvPr/>
        </p:nvSpPr>
        <p:spPr bwMode="auto">
          <a:xfrm rot="275636">
            <a:off x="4683125" y="4752975"/>
            <a:ext cx="261938" cy="147638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12" name="AutoShape 1112"/>
          <p:cNvSpPr>
            <a:spLocks noChangeArrowheads="1"/>
          </p:cNvSpPr>
          <p:nvPr/>
        </p:nvSpPr>
        <p:spPr bwMode="auto">
          <a:xfrm rot="427649">
            <a:off x="4751388" y="4770438"/>
            <a:ext cx="147637" cy="107950"/>
          </a:xfrm>
          <a:prstGeom prst="curvedDownArrow">
            <a:avLst>
              <a:gd name="adj1" fmla="val 27353"/>
              <a:gd name="adj2" fmla="val 54706"/>
              <a:gd name="adj3" fmla="val 42009"/>
            </a:avLst>
          </a:prstGeom>
          <a:solidFill>
            <a:srgbClr val="FFFFFF"/>
          </a:solidFill>
          <a:ln w="31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13" name="Text Box 1113"/>
          <p:cNvSpPr txBox="1">
            <a:spLocks noChangeArrowheads="1"/>
          </p:cNvSpPr>
          <p:nvPr/>
        </p:nvSpPr>
        <p:spPr bwMode="auto">
          <a:xfrm>
            <a:off x="2338388" y="4206875"/>
            <a:ext cx="279082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ja-JP" sz="1400">
                <a:solidFill>
                  <a:srgbClr val="000000"/>
                </a:solidFill>
                <a:latin typeface="Times New Roman" pitchFamily="-111" charset="0"/>
                <a:ea typeface="MS Mincho" charset="-128"/>
                <a:cs typeface="MS Mincho" charset="-128"/>
              </a:rPr>
              <a:t>Solenoid Partial Siberian Snake</a:t>
            </a:r>
            <a:endParaRPr lang="en-US" sz="1800"/>
          </a:p>
        </p:txBody>
      </p:sp>
      <p:sp>
        <p:nvSpPr>
          <p:cNvPr id="231514" name="Text Box 1114"/>
          <p:cNvSpPr txBox="1">
            <a:spLocks noChangeArrowheads="1"/>
          </p:cNvSpPr>
          <p:nvPr/>
        </p:nvSpPr>
        <p:spPr bwMode="auto">
          <a:xfrm>
            <a:off x="6007100" y="2351088"/>
            <a:ext cx="1516063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ja-JP" sz="1400">
                <a:solidFill>
                  <a:srgbClr val="000000"/>
                </a:solidFill>
                <a:latin typeface="Times New Roman" pitchFamily="-111" charset="0"/>
                <a:ea typeface="MS Mincho" charset="-128"/>
                <a:cs typeface="MS Mincho" charset="-128"/>
              </a:rPr>
              <a:t>Siberian Snakes</a:t>
            </a:r>
            <a:endParaRPr lang="en-US" sz="1800"/>
          </a:p>
        </p:txBody>
      </p:sp>
      <p:sp>
        <p:nvSpPr>
          <p:cNvPr id="231515" name="Line 1115"/>
          <p:cNvSpPr>
            <a:spLocks noChangeShapeType="1"/>
          </p:cNvSpPr>
          <p:nvPr/>
        </p:nvSpPr>
        <p:spPr bwMode="auto">
          <a:xfrm>
            <a:off x="4781550" y="4481513"/>
            <a:ext cx="41275" cy="250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16" name="Line 1116"/>
          <p:cNvSpPr>
            <a:spLocks noChangeShapeType="1"/>
          </p:cNvSpPr>
          <p:nvPr/>
        </p:nvSpPr>
        <p:spPr bwMode="auto">
          <a:xfrm flipH="1" flipV="1">
            <a:off x="2184400" y="3413125"/>
            <a:ext cx="98425" cy="303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17" name="Line 1117"/>
          <p:cNvSpPr>
            <a:spLocks noChangeShapeType="1"/>
          </p:cNvSpPr>
          <p:nvPr/>
        </p:nvSpPr>
        <p:spPr bwMode="auto">
          <a:xfrm flipV="1">
            <a:off x="2457450" y="3630613"/>
            <a:ext cx="130175" cy="857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18" name="Line 1118"/>
          <p:cNvSpPr>
            <a:spLocks noChangeShapeType="1"/>
          </p:cNvSpPr>
          <p:nvPr/>
        </p:nvSpPr>
        <p:spPr bwMode="auto">
          <a:xfrm flipH="1" flipV="1">
            <a:off x="7664450" y="3467100"/>
            <a:ext cx="5715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19" name="Oval 1119"/>
          <p:cNvSpPr>
            <a:spLocks noChangeArrowheads="1"/>
          </p:cNvSpPr>
          <p:nvPr/>
        </p:nvSpPr>
        <p:spPr bwMode="auto">
          <a:xfrm rot="-18923298">
            <a:off x="5394325" y="5435600"/>
            <a:ext cx="87313" cy="87313"/>
          </a:xfrm>
          <a:prstGeom prst="ellipse">
            <a:avLst/>
          </a:prstGeom>
          <a:solidFill>
            <a:srgbClr val="CC00CC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20" name="Line 1120"/>
          <p:cNvSpPr>
            <a:spLocks noChangeAspect="1" noChangeShapeType="1"/>
          </p:cNvSpPr>
          <p:nvPr/>
        </p:nvSpPr>
        <p:spPr bwMode="auto">
          <a:xfrm rot="-18923298">
            <a:off x="5505450" y="5453063"/>
            <a:ext cx="41275" cy="42862"/>
          </a:xfrm>
          <a:prstGeom prst="lin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21" name="Line 1121"/>
          <p:cNvSpPr>
            <a:spLocks noChangeAspect="1" noChangeShapeType="1"/>
          </p:cNvSpPr>
          <p:nvPr/>
        </p:nvSpPr>
        <p:spPr bwMode="auto">
          <a:xfrm rot="-18923298">
            <a:off x="5551488" y="5451475"/>
            <a:ext cx="41275" cy="42863"/>
          </a:xfrm>
          <a:prstGeom prst="lin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22" name="Line 1122"/>
          <p:cNvSpPr>
            <a:spLocks noChangeAspect="1" noChangeShapeType="1"/>
          </p:cNvSpPr>
          <p:nvPr/>
        </p:nvSpPr>
        <p:spPr bwMode="auto">
          <a:xfrm rot="-24323298">
            <a:off x="5430044" y="5372894"/>
            <a:ext cx="41275" cy="39687"/>
          </a:xfrm>
          <a:prstGeom prst="lin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23" name="Line 1123"/>
          <p:cNvSpPr>
            <a:spLocks noChangeAspect="1" noChangeShapeType="1"/>
          </p:cNvSpPr>
          <p:nvPr/>
        </p:nvSpPr>
        <p:spPr bwMode="auto">
          <a:xfrm rot="-24323298">
            <a:off x="5430838" y="5327650"/>
            <a:ext cx="39688" cy="39687"/>
          </a:xfrm>
          <a:prstGeom prst="lin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24" name="Oval 1124"/>
          <p:cNvSpPr>
            <a:spLocks noChangeArrowheads="1"/>
          </p:cNvSpPr>
          <p:nvPr/>
        </p:nvSpPr>
        <p:spPr bwMode="auto">
          <a:xfrm rot="-15100317">
            <a:off x="3463131" y="5110957"/>
            <a:ext cx="85725" cy="87312"/>
          </a:xfrm>
          <a:prstGeom prst="ellipse">
            <a:avLst/>
          </a:prstGeom>
          <a:solidFill>
            <a:srgbClr val="CC00CC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25" name="Line 1125"/>
          <p:cNvSpPr>
            <a:spLocks noChangeAspect="1" noChangeShapeType="1"/>
          </p:cNvSpPr>
          <p:nvPr/>
        </p:nvSpPr>
        <p:spPr bwMode="auto">
          <a:xfrm rot="-15100317">
            <a:off x="3525044" y="5207794"/>
            <a:ext cx="42863" cy="41275"/>
          </a:xfrm>
          <a:prstGeom prst="lin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26" name="Line 1126"/>
          <p:cNvSpPr>
            <a:spLocks noChangeAspect="1" noChangeShapeType="1"/>
          </p:cNvSpPr>
          <p:nvPr/>
        </p:nvSpPr>
        <p:spPr bwMode="auto">
          <a:xfrm rot="-15100317">
            <a:off x="3547269" y="5249069"/>
            <a:ext cx="41275" cy="42863"/>
          </a:xfrm>
          <a:prstGeom prst="lin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27" name="Line 1127"/>
          <p:cNvSpPr>
            <a:spLocks noChangeAspect="1" noChangeShapeType="1"/>
          </p:cNvSpPr>
          <p:nvPr/>
        </p:nvSpPr>
        <p:spPr bwMode="auto">
          <a:xfrm rot="-20500316">
            <a:off x="3565525" y="5106988"/>
            <a:ext cx="41275" cy="41275"/>
          </a:xfrm>
          <a:prstGeom prst="lin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28" name="Line 1128"/>
          <p:cNvSpPr>
            <a:spLocks noChangeAspect="1" noChangeShapeType="1"/>
          </p:cNvSpPr>
          <p:nvPr/>
        </p:nvSpPr>
        <p:spPr bwMode="auto">
          <a:xfrm rot="-20500316">
            <a:off x="3606800" y="5086350"/>
            <a:ext cx="41275" cy="42863"/>
          </a:xfrm>
          <a:prstGeom prst="lin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29" name="Oval 1129"/>
          <p:cNvSpPr>
            <a:spLocks noChangeArrowheads="1"/>
          </p:cNvSpPr>
          <p:nvPr/>
        </p:nvSpPr>
        <p:spPr bwMode="auto">
          <a:xfrm rot="5400000">
            <a:off x="5390356" y="1985169"/>
            <a:ext cx="87313" cy="85725"/>
          </a:xfrm>
          <a:prstGeom prst="ellipse">
            <a:avLst/>
          </a:prstGeom>
          <a:solidFill>
            <a:srgbClr val="CC00CC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30" name="Line 1130"/>
          <p:cNvSpPr>
            <a:spLocks noChangeAspect="1" noChangeShapeType="1"/>
          </p:cNvSpPr>
          <p:nvPr/>
        </p:nvSpPr>
        <p:spPr bwMode="auto">
          <a:xfrm rot="5400000">
            <a:off x="5476082" y="2066131"/>
            <a:ext cx="42862" cy="41275"/>
          </a:xfrm>
          <a:prstGeom prst="lin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31" name="Line 1131"/>
          <p:cNvSpPr>
            <a:spLocks noChangeAspect="1" noChangeShapeType="1"/>
          </p:cNvSpPr>
          <p:nvPr/>
        </p:nvSpPr>
        <p:spPr bwMode="auto">
          <a:xfrm rot="5400000">
            <a:off x="5511006" y="2097882"/>
            <a:ext cx="41275" cy="42862"/>
          </a:xfrm>
          <a:prstGeom prst="lin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32" name="Line 1132"/>
          <p:cNvSpPr>
            <a:spLocks noChangeAspect="1" noChangeShapeType="1"/>
          </p:cNvSpPr>
          <p:nvPr/>
        </p:nvSpPr>
        <p:spPr bwMode="auto">
          <a:xfrm>
            <a:off x="5483225" y="1957388"/>
            <a:ext cx="41275" cy="41275"/>
          </a:xfrm>
          <a:prstGeom prst="lin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33" name="Line 1133"/>
          <p:cNvSpPr>
            <a:spLocks noChangeAspect="1" noChangeShapeType="1"/>
          </p:cNvSpPr>
          <p:nvPr/>
        </p:nvSpPr>
        <p:spPr bwMode="auto">
          <a:xfrm>
            <a:off x="5514975" y="1924050"/>
            <a:ext cx="41275" cy="42863"/>
          </a:xfrm>
          <a:prstGeom prst="lin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34" name="Oval 1134"/>
          <p:cNvSpPr>
            <a:spLocks noChangeArrowheads="1"/>
          </p:cNvSpPr>
          <p:nvPr/>
        </p:nvSpPr>
        <p:spPr bwMode="auto">
          <a:xfrm rot="-5400000">
            <a:off x="5364957" y="1854994"/>
            <a:ext cx="87312" cy="88900"/>
          </a:xfrm>
          <a:prstGeom prst="ellipse">
            <a:avLst/>
          </a:prstGeom>
          <a:solidFill>
            <a:srgbClr val="CC00CC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35" name="Line 1135"/>
          <p:cNvSpPr>
            <a:spLocks noChangeAspect="1" noChangeShapeType="1"/>
          </p:cNvSpPr>
          <p:nvPr/>
        </p:nvSpPr>
        <p:spPr bwMode="auto">
          <a:xfrm rot="-5400000">
            <a:off x="5321300" y="1816100"/>
            <a:ext cx="41275" cy="41275"/>
          </a:xfrm>
          <a:prstGeom prst="lin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36" name="Line 1136"/>
          <p:cNvSpPr>
            <a:spLocks noChangeAspect="1" noChangeShapeType="1"/>
          </p:cNvSpPr>
          <p:nvPr/>
        </p:nvSpPr>
        <p:spPr bwMode="auto">
          <a:xfrm rot="-5400000">
            <a:off x="5289550" y="1784350"/>
            <a:ext cx="42863" cy="42863"/>
          </a:xfrm>
          <a:prstGeom prst="lin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37" name="Line 1137"/>
          <p:cNvSpPr>
            <a:spLocks noChangeAspect="1" noChangeShapeType="1"/>
          </p:cNvSpPr>
          <p:nvPr/>
        </p:nvSpPr>
        <p:spPr bwMode="auto">
          <a:xfrm rot="-10800000">
            <a:off x="5314950" y="1925638"/>
            <a:ext cx="42863" cy="42862"/>
          </a:xfrm>
          <a:prstGeom prst="lin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38" name="Line 1138"/>
          <p:cNvSpPr>
            <a:spLocks noChangeAspect="1" noChangeShapeType="1"/>
          </p:cNvSpPr>
          <p:nvPr/>
        </p:nvSpPr>
        <p:spPr bwMode="auto">
          <a:xfrm rot="-10800000">
            <a:off x="5284788" y="1958975"/>
            <a:ext cx="41275" cy="39688"/>
          </a:xfrm>
          <a:prstGeom prst="lin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39" name="Rectangle 1139"/>
          <p:cNvSpPr>
            <a:spLocks noChangeArrowheads="1"/>
          </p:cNvSpPr>
          <p:nvPr/>
        </p:nvSpPr>
        <p:spPr bwMode="auto">
          <a:xfrm>
            <a:off x="1325563" y="5200650"/>
            <a:ext cx="17732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r>
              <a:rPr lang="en-US" altLang="ja-JP" sz="1400">
                <a:solidFill>
                  <a:srgbClr val="000000"/>
                </a:solidFill>
                <a:latin typeface="Times New Roman" pitchFamily="-111" charset="0"/>
                <a:ea typeface="MS Mincho" charset="-128"/>
                <a:cs typeface="MS Mincho" charset="-128"/>
              </a:rPr>
              <a:t>200 MeV Polarimeter</a:t>
            </a:r>
            <a:endParaRPr lang="en-US" sz="1800"/>
          </a:p>
        </p:txBody>
      </p:sp>
      <p:sp>
        <p:nvSpPr>
          <p:cNvPr id="231540" name="Rectangle 1140"/>
          <p:cNvSpPr>
            <a:spLocks noChangeArrowheads="1"/>
          </p:cNvSpPr>
          <p:nvPr/>
        </p:nvSpPr>
        <p:spPr bwMode="auto">
          <a:xfrm>
            <a:off x="5872163" y="5203825"/>
            <a:ext cx="2089150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r>
              <a:rPr lang="en-US" altLang="ja-JP" sz="1400">
                <a:solidFill>
                  <a:srgbClr val="000000"/>
                </a:solidFill>
                <a:latin typeface="Times New Roman" pitchFamily="-111" charset="0"/>
                <a:ea typeface="MS Mincho" charset="-128"/>
                <a:cs typeface="MS Mincho" charset="-128"/>
              </a:rPr>
              <a:t>AGS Internal Polarimeter</a:t>
            </a:r>
            <a:endParaRPr lang="en-US" sz="1800"/>
          </a:p>
        </p:txBody>
      </p:sp>
      <p:sp>
        <p:nvSpPr>
          <p:cNvPr id="231541" name="Rectangle 1141"/>
          <p:cNvSpPr>
            <a:spLocks noChangeArrowheads="1"/>
          </p:cNvSpPr>
          <p:nvPr/>
        </p:nvSpPr>
        <p:spPr bwMode="auto">
          <a:xfrm rot="2732973">
            <a:off x="3721894" y="5391944"/>
            <a:ext cx="173037" cy="104775"/>
          </a:xfrm>
          <a:prstGeom prst="rect">
            <a:avLst/>
          </a:prstGeom>
          <a:solidFill>
            <a:srgbClr val="33CC33"/>
          </a:solidFill>
          <a:ln w="7938"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42" name="Rectangle 1142"/>
          <p:cNvSpPr>
            <a:spLocks noChangeArrowheads="1"/>
          </p:cNvSpPr>
          <p:nvPr/>
        </p:nvSpPr>
        <p:spPr bwMode="auto">
          <a:xfrm>
            <a:off x="3068638" y="5637213"/>
            <a:ext cx="808037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r>
              <a:rPr lang="en-US" altLang="ja-JP" sz="1400">
                <a:solidFill>
                  <a:srgbClr val="000000"/>
                </a:solidFill>
                <a:latin typeface="Times New Roman" pitchFamily="-111" charset="0"/>
                <a:ea typeface="MS Mincho" charset="-128"/>
                <a:cs typeface="MS Mincho" charset="-128"/>
              </a:rPr>
              <a:t>Rf Dipole</a:t>
            </a:r>
            <a:endParaRPr lang="en-US" sz="1800"/>
          </a:p>
        </p:txBody>
      </p:sp>
      <p:sp>
        <p:nvSpPr>
          <p:cNvPr id="231543" name="Line 1143"/>
          <p:cNvSpPr>
            <a:spLocks noChangeShapeType="1"/>
          </p:cNvSpPr>
          <p:nvPr/>
        </p:nvSpPr>
        <p:spPr bwMode="auto">
          <a:xfrm flipV="1">
            <a:off x="3562350" y="5499100"/>
            <a:ext cx="179388" cy="1793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44" name="Line 1144"/>
          <p:cNvSpPr>
            <a:spLocks noChangeShapeType="1"/>
          </p:cNvSpPr>
          <p:nvPr/>
        </p:nvSpPr>
        <p:spPr bwMode="auto">
          <a:xfrm flipH="1">
            <a:off x="5600700" y="5362575"/>
            <a:ext cx="252413" cy="66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45" name="Line 1145"/>
          <p:cNvSpPr>
            <a:spLocks noChangeShapeType="1"/>
          </p:cNvSpPr>
          <p:nvPr/>
        </p:nvSpPr>
        <p:spPr bwMode="auto">
          <a:xfrm flipV="1">
            <a:off x="3170238" y="5200650"/>
            <a:ext cx="252412" cy="127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46" name="Rectangle 1146"/>
          <p:cNvSpPr>
            <a:spLocks noChangeArrowheads="1"/>
          </p:cNvSpPr>
          <p:nvPr/>
        </p:nvSpPr>
        <p:spPr bwMode="auto">
          <a:xfrm>
            <a:off x="5867400" y="1452563"/>
            <a:ext cx="18557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r>
              <a:rPr lang="en-US" altLang="ja-JP" sz="1400">
                <a:solidFill>
                  <a:srgbClr val="000000"/>
                </a:solidFill>
                <a:latin typeface="Times New Roman" pitchFamily="-111" charset="0"/>
                <a:ea typeface="MS Mincho" charset="-128"/>
                <a:cs typeface="MS Mincho" charset="-128"/>
              </a:rPr>
              <a:t>RHIC pC Polarimeters</a:t>
            </a:r>
            <a:endParaRPr lang="en-US" sz="1800"/>
          </a:p>
        </p:txBody>
      </p:sp>
      <p:sp>
        <p:nvSpPr>
          <p:cNvPr id="231547" name="Line 1147"/>
          <p:cNvSpPr>
            <a:spLocks noChangeShapeType="1"/>
          </p:cNvSpPr>
          <p:nvPr/>
        </p:nvSpPr>
        <p:spPr bwMode="auto">
          <a:xfrm flipH="1">
            <a:off x="5505450" y="1701800"/>
            <a:ext cx="300038" cy="1127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48" name="Oval 1148"/>
          <p:cNvSpPr>
            <a:spLocks noChangeArrowheads="1"/>
          </p:cNvSpPr>
          <p:nvPr/>
        </p:nvSpPr>
        <p:spPr bwMode="auto">
          <a:xfrm rot="-13499694">
            <a:off x="4992688" y="1908175"/>
            <a:ext cx="87312" cy="87313"/>
          </a:xfrm>
          <a:prstGeom prst="ellipse">
            <a:avLst/>
          </a:prstGeom>
          <a:solidFill>
            <a:srgbClr val="CC00CC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1149"/>
          <p:cNvGrpSpPr>
            <a:grpSpLocks/>
          </p:cNvGrpSpPr>
          <p:nvPr/>
        </p:nvGrpSpPr>
        <p:grpSpPr bwMode="auto">
          <a:xfrm rot="-18899694">
            <a:off x="5003006" y="2024857"/>
            <a:ext cx="73025" cy="74612"/>
            <a:chOff x="3936" y="1517"/>
            <a:chExt cx="41" cy="41"/>
          </a:xfrm>
        </p:grpSpPr>
        <p:sp>
          <p:nvSpPr>
            <p:cNvPr id="231550" name="Line 1150"/>
            <p:cNvSpPr>
              <a:spLocks noChangeAspect="1" noChangeShapeType="1"/>
            </p:cNvSpPr>
            <p:nvPr/>
          </p:nvSpPr>
          <p:spPr bwMode="auto">
            <a:xfrm rot="5400000">
              <a:off x="3936" y="1517"/>
              <a:ext cx="23" cy="23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551" name="Line 1151"/>
            <p:cNvSpPr>
              <a:spLocks noChangeAspect="1" noChangeShapeType="1"/>
            </p:cNvSpPr>
            <p:nvPr/>
          </p:nvSpPr>
          <p:spPr bwMode="auto">
            <a:xfrm rot="5400000">
              <a:off x="3954" y="1535"/>
              <a:ext cx="23" cy="23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" name="Group 1152"/>
          <p:cNvGrpSpPr>
            <a:grpSpLocks/>
          </p:cNvGrpSpPr>
          <p:nvPr/>
        </p:nvGrpSpPr>
        <p:grpSpPr bwMode="auto">
          <a:xfrm rot="-18899694">
            <a:off x="5003801" y="1814512"/>
            <a:ext cx="74612" cy="74613"/>
            <a:chOff x="3936" y="1517"/>
            <a:chExt cx="41" cy="41"/>
          </a:xfrm>
        </p:grpSpPr>
        <p:sp>
          <p:nvSpPr>
            <p:cNvPr id="231553" name="Line 1153"/>
            <p:cNvSpPr>
              <a:spLocks noChangeAspect="1" noChangeShapeType="1"/>
            </p:cNvSpPr>
            <p:nvPr/>
          </p:nvSpPr>
          <p:spPr bwMode="auto">
            <a:xfrm rot="5400000">
              <a:off x="3936" y="1517"/>
              <a:ext cx="23" cy="23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554" name="Line 1154"/>
            <p:cNvSpPr>
              <a:spLocks noChangeAspect="1" noChangeShapeType="1"/>
            </p:cNvSpPr>
            <p:nvPr/>
          </p:nvSpPr>
          <p:spPr bwMode="auto">
            <a:xfrm rot="5400000">
              <a:off x="3954" y="1535"/>
              <a:ext cx="23" cy="23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31555" name="Rectangle 1155"/>
          <p:cNvSpPr>
            <a:spLocks noChangeArrowheads="1"/>
          </p:cNvSpPr>
          <p:nvPr/>
        </p:nvSpPr>
        <p:spPr bwMode="auto">
          <a:xfrm>
            <a:off x="2133600" y="1462088"/>
            <a:ext cx="2443163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r>
              <a:rPr lang="en-US" altLang="ja-JP" sz="1400" dirty="0">
                <a:solidFill>
                  <a:srgbClr val="000000"/>
                </a:solidFill>
                <a:latin typeface="Times New Roman" pitchFamily="-111" charset="0"/>
                <a:ea typeface="MS Mincho" charset="-128"/>
                <a:cs typeface="MS Mincho" charset="-128"/>
              </a:rPr>
              <a:t>Absolute </a:t>
            </a:r>
            <a:r>
              <a:rPr lang="en-US" altLang="ja-JP" sz="1400" dirty="0" err="1">
                <a:solidFill>
                  <a:srgbClr val="000000"/>
                </a:solidFill>
                <a:latin typeface="Times New Roman" pitchFamily="-111" charset="0"/>
                <a:ea typeface="MS Mincho" charset="-128"/>
                <a:cs typeface="MS Mincho" charset="-128"/>
              </a:rPr>
              <a:t>Polarimeter</a:t>
            </a:r>
            <a:r>
              <a:rPr lang="en-US" altLang="ja-JP" sz="1400" dirty="0">
                <a:solidFill>
                  <a:srgbClr val="000000"/>
                </a:solidFill>
                <a:latin typeface="Times New Roman" pitchFamily="-111" charset="0"/>
                <a:ea typeface="MS Mincho" charset="-128"/>
                <a:cs typeface="MS Mincho" charset="-128"/>
              </a:rPr>
              <a:t> (H</a:t>
            </a:r>
            <a:r>
              <a:rPr lang="en-US" altLang="ja-JP" sz="1400" dirty="0">
                <a:solidFill>
                  <a:srgbClr val="000000"/>
                </a:solidFill>
                <a:latin typeface="Times New Roman" pitchFamily="-111" charset="0"/>
                <a:ea typeface="MS Mincho" charset="-128"/>
                <a:cs typeface="MS Mincho" charset="-128"/>
                <a:sym typeface="Symbol" pitchFamily="-111" charset="2"/>
              </a:rPr>
              <a:t></a:t>
            </a:r>
            <a:r>
              <a:rPr lang="en-US" altLang="ja-JP" sz="1400" dirty="0">
                <a:solidFill>
                  <a:srgbClr val="000000"/>
                </a:solidFill>
                <a:latin typeface="Times New Roman" pitchFamily="-111" charset="0"/>
                <a:ea typeface="MS Mincho" charset="-128"/>
                <a:cs typeface="MS Mincho" charset="-128"/>
              </a:rPr>
              <a:t> jet)</a:t>
            </a:r>
            <a:endParaRPr lang="en-US" sz="1800" dirty="0"/>
          </a:p>
        </p:txBody>
      </p:sp>
      <p:sp>
        <p:nvSpPr>
          <p:cNvPr id="231556" name="Line 1156"/>
          <p:cNvSpPr>
            <a:spLocks noChangeShapeType="1"/>
          </p:cNvSpPr>
          <p:nvPr/>
        </p:nvSpPr>
        <p:spPr bwMode="auto">
          <a:xfrm>
            <a:off x="4510088" y="1673225"/>
            <a:ext cx="415925" cy="1571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57" name="Line 1157"/>
          <p:cNvSpPr>
            <a:spLocks noChangeShapeType="1"/>
          </p:cNvSpPr>
          <p:nvPr/>
        </p:nvSpPr>
        <p:spPr bwMode="auto">
          <a:xfrm>
            <a:off x="1589088" y="4627563"/>
            <a:ext cx="252412" cy="1444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58" name="Oval 1158"/>
          <p:cNvSpPr>
            <a:spLocks noChangeArrowheads="1"/>
          </p:cNvSpPr>
          <p:nvPr/>
        </p:nvSpPr>
        <p:spPr bwMode="auto">
          <a:xfrm rot="-17754641">
            <a:off x="5148263" y="5554663"/>
            <a:ext cx="87312" cy="87312"/>
          </a:xfrm>
          <a:prstGeom prst="ellipse">
            <a:avLst/>
          </a:prstGeom>
          <a:solidFill>
            <a:srgbClr val="CC00CC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59" name="Line 1159"/>
          <p:cNvSpPr>
            <a:spLocks noChangeAspect="1" noChangeShapeType="1"/>
          </p:cNvSpPr>
          <p:nvPr/>
        </p:nvSpPr>
        <p:spPr bwMode="auto">
          <a:xfrm rot="-17754641">
            <a:off x="5253037" y="5600701"/>
            <a:ext cx="42863" cy="42862"/>
          </a:xfrm>
          <a:prstGeom prst="lin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60" name="Line 1160"/>
          <p:cNvSpPr>
            <a:spLocks noChangeAspect="1" noChangeShapeType="1"/>
          </p:cNvSpPr>
          <p:nvPr/>
        </p:nvSpPr>
        <p:spPr bwMode="auto">
          <a:xfrm rot="-17754641">
            <a:off x="5298282" y="5617369"/>
            <a:ext cx="39687" cy="41275"/>
          </a:xfrm>
          <a:prstGeom prst="lin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61" name="Line 1161"/>
          <p:cNvSpPr>
            <a:spLocks noChangeAspect="1" noChangeShapeType="1"/>
          </p:cNvSpPr>
          <p:nvPr/>
        </p:nvSpPr>
        <p:spPr bwMode="auto">
          <a:xfrm rot="-23154641">
            <a:off x="5211763" y="5500688"/>
            <a:ext cx="41275" cy="41275"/>
          </a:xfrm>
          <a:prstGeom prst="lin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62" name="Line 1162"/>
          <p:cNvSpPr>
            <a:spLocks noChangeAspect="1" noChangeShapeType="1"/>
          </p:cNvSpPr>
          <p:nvPr/>
        </p:nvSpPr>
        <p:spPr bwMode="auto">
          <a:xfrm rot="-23154641">
            <a:off x="5227638" y="5456238"/>
            <a:ext cx="41275" cy="42862"/>
          </a:xfrm>
          <a:prstGeom prst="lin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63" name="Rectangle 1163"/>
          <p:cNvSpPr>
            <a:spLocks noChangeArrowheads="1"/>
          </p:cNvSpPr>
          <p:nvPr/>
        </p:nvSpPr>
        <p:spPr bwMode="auto">
          <a:xfrm>
            <a:off x="5683250" y="5637213"/>
            <a:ext cx="1773238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r>
              <a:rPr lang="en-US" altLang="ja-JP" sz="1400">
                <a:solidFill>
                  <a:srgbClr val="000000"/>
                </a:solidFill>
                <a:latin typeface="Times New Roman" pitchFamily="-111" charset="0"/>
                <a:ea typeface="MS Mincho" charset="-128"/>
                <a:cs typeface="MS Mincho" charset="-128"/>
              </a:rPr>
              <a:t>AGS pC Polarimeters</a:t>
            </a:r>
            <a:endParaRPr lang="en-US" sz="1800"/>
          </a:p>
        </p:txBody>
      </p:sp>
      <p:sp>
        <p:nvSpPr>
          <p:cNvPr id="231564" name="Line 1164"/>
          <p:cNvSpPr>
            <a:spLocks noChangeShapeType="1"/>
          </p:cNvSpPr>
          <p:nvPr/>
        </p:nvSpPr>
        <p:spPr bwMode="auto">
          <a:xfrm flipH="1" flipV="1">
            <a:off x="5354638" y="5676900"/>
            <a:ext cx="282575" cy="793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65" name="Text Box 1165"/>
          <p:cNvSpPr txBox="1">
            <a:spLocks noChangeArrowheads="1"/>
          </p:cNvSpPr>
          <p:nvPr/>
        </p:nvSpPr>
        <p:spPr bwMode="auto">
          <a:xfrm>
            <a:off x="3757613" y="5822950"/>
            <a:ext cx="250825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ja-JP" sz="1400" b="1">
                <a:solidFill>
                  <a:srgbClr val="CC3300"/>
                </a:solidFill>
                <a:latin typeface="Times New Roman" pitchFamily="-111" charset="0"/>
                <a:ea typeface="MS Mincho" charset="-128"/>
                <a:cs typeface="MS Mincho" charset="-128"/>
              </a:rPr>
              <a:t>Strong Helical AGS Snake</a:t>
            </a:r>
            <a:endParaRPr lang="en-US" sz="1800"/>
          </a:p>
        </p:txBody>
      </p:sp>
      <p:sp>
        <p:nvSpPr>
          <p:cNvPr id="231566" name="Line 1166"/>
          <p:cNvSpPr>
            <a:spLocks noChangeShapeType="1"/>
          </p:cNvSpPr>
          <p:nvPr/>
        </p:nvSpPr>
        <p:spPr bwMode="auto">
          <a:xfrm flipH="1" flipV="1">
            <a:off x="4143375" y="5727700"/>
            <a:ext cx="11430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" name="Group 1167"/>
          <p:cNvGrpSpPr>
            <a:grpSpLocks/>
          </p:cNvGrpSpPr>
          <p:nvPr/>
        </p:nvGrpSpPr>
        <p:grpSpPr bwMode="auto">
          <a:xfrm>
            <a:off x="5451475" y="4991100"/>
            <a:ext cx="146050" cy="261938"/>
            <a:chOff x="5420" y="4309"/>
            <a:chExt cx="136" cy="211"/>
          </a:xfrm>
        </p:grpSpPr>
        <p:sp>
          <p:nvSpPr>
            <p:cNvPr id="231568" name="Oval 1168"/>
            <p:cNvSpPr>
              <a:spLocks noChangeArrowheads="1"/>
            </p:cNvSpPr>
            <p:nvPr/>
          </p:nvSpPr>
          <p:spPr bwMode="auto">
            <a:xfrm rot="-18161290">
              <a:off x="5382" y="4347"/>
              <a:ext cx="211" cy="136"/>
            </a:xfrm>
            <a:prstGeom prst="ellipse">
              <a:avLst/>
            </a:prstGeom>
            <a:solidFill>
              <a:srgbClr val="33CC33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569" name="AutoShape 1169"/>
            <p:cNvSpPr>
              <a:spLocks noChangeArrowheads="1"/>
            </p:cNvSpPr>
            <p:nvPr/>
          </p:nvSpPr>
          <p:spPr bwMode="auto">
            <a:xfrm rot="-18009276">
              <a:off x="5435" y="4371"/>
              <a:ext cx="122" cy="98"/>
            </a:xfrm>
            <a:prstGeom prst="curvedDownArrow">
              <a:avLst>
                <a:gd name="adj1" fmla="val 24898"/>
                <a:gd name="adj2" fmla="val 49796"/>
                <a:gd name="adj3" fmla="val 42009"/>
              </a:avLst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31570" name="Text Box 1170"/>
          <p:cNvSpPr txBox="1">
            <a:spLocks noChangeArrowheads="1"/>
          </p:cNvSpPr>
          <p:nvPr/>
        </p:nvSpPr>
        <p:spPr bwMode="auto">
          <a:xfrm>
            <a:off x="5851525" y="4797425"/>
            <a:ext cx="2655888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ja-JP" sz="1400">
                <a:solidFill>
                  <a:srgbClr val="000000"/>
                </a:solidFill>
                <a:latin typeface="Times New Roman" pitchFamily="-111" charset="0"/>
                <a:ea typeface="MS Mincho" charset="-128"/>
                <a:cs typeface="MS Mincho" charset="-128"/>
              </a:rPr>
              <a:t>Helical Partial Siberian Snake</a:t>
            </a:r>
            <a:endParaRPr lang="en-US" sz="1800"/>
          </a:p>
        </p:txBody>
      </p:sp>
      <p:sp>
        <p:nvSpPr>
          <p:cNvPr id="231571" name="Line 1171"/>
          <p:cNvSpPr>
            <a:spLocks noChangeShapeType="1"/>
          </p:cNvSpPr>
          <p:nvPr/>
        </p:nvSpPr>
        <p:spPr bwMode="auto">
          <a:xfrm flipH="1">
            <a:off x="5648325" y="5010150"/>
            <a:ext cx="254000" cy="50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72" name="Text Box 1172"/>
          <p:cNvSpPr txBox="1">
            <a:spLocks noChangeArrowheads="1"/>
          </p:cNvSpPr>
          <p:nvPr/>
        </p:nvSpPr>
        <p:spPr bwMode="auto">
          <a:xfrm>
            <a:off x="5148263" y="4062413"/>
            <a:ext cx="2347912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algn="ctr"/>
            <a:r>
              <a:rPr lang="en-US" altLang="ja-JP" sz="1400">
                <a:solidFill>
                  <a:srgbClr val="000000"/>
                </a:solidFill>
                <a:latin typeface="Times New Roman" pitchFamily="-111" charset="0"/>
                <a:ea typeface="MS Mincho" charset="-128"/>
                <a:cs typeface="MS Mincho" charset="-128"/>
              </a:rPr>
              <a:t>Spin Rotators</a:t>
            </a:r>
          </a:p>
          <a:p>
            <a:pPr algn="ctr"/>
            <a:r>
              <a:rPr lang="en-US" altLang="ja-JP" sz="1400">
                <a:solidFill>
                  <a:srgbClr val="000000"/>
                </a:solidFill>
                <a:latin typeface="Times New Roman" pitchFamily="-111" charset="0"/>
                <a:ea typeface="MS Mincho" charset="-128"/>
                <a:cs typeface="MS Mincho" charset="-128"/>
              </a:rPr>
              <a:t>(longitudinal polarization)</a:t>
            </a:r>
            <a:endParaRPr lang="en-US" sz="1800"/>
          </a:p>
        </p:txBody>
      </p:sp>
      <p:sp>
        <p:nvSpPr>
          <p:cNvPr id="231573" name="Line 1173"/>
          <p:cNvSpPr>
            <a:spLocks noChangeShapeType="1"/>
          </p:cNvSpPr>
          <p:nvPr/>
        </p:nvSpPr>
        <p:spPr bwMode="auto">
          <a:xfrm flipH="1" flipV="1">
            <a:off x="5513388" y="3967163"/>
            <a:ext cx="163512" cy="176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74" name="Line 1174"/>
          <p:cNvSpPr>
            <a:spLocks noChangeShapeType="1"/>
          </p:cNvSpPr>
          <p:nvPr/>
        </p:nvSpPr>
        <p:spPr bwMode="auto">
          <a:xfrm flipH="1" flipV="1">
            <a:off x="4803775" y="3924300"/>
            <a:ext cx="855663" cy="274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75" name="Rectangle 1175"/>
          <p:cNvSpPr>
            <a:spLocks noChangeArrowheads="1"/>
          </p:cNvSpPr>
          <p:nvPr/>
        </p:nvSpPr>
        <p:spPr bwMode="auto">
          <a:xfrm rot="-1213039">
            <a:off x="7550150" y="3328988"/>
            <a:ext cx="173038" cy="106362"/>
          </a:xfrm>
          <a:prstGeom prst="rect">
            <a:avLst/>
          </a:prstGeom>
          <a:solidFill>
            <a:srgbClr val="33CC33"/>
          </a:solidFill>
          <a:ln w="7938"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76" name="Text Box 1176"/>
          <p:cNvSpPr txBox="1">
            <a:spLocks noChangeArrowheads="1"/>
          </p:cNvSpPr>
          <p:nvPr/>
        </p:nvSpPr>
        <p:spPr bwMode="auto">
          <a:xfrm>
            <a:off x="7419975" y="3751263"/>
            <a:ext cx="1173163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ja-JP" sz="1400">
                <a:solidFill>
                  <a:srgbClr val="663300"/>
                </a:solidFill>
                <a:latin typeface="Times New Roman" pitchFamily="-111" charset="0"/>
                <a:ea typeface="MS Mincho" charset="-128"/>
                <a:cs typeface="MS Mincho" charset="-128"/>
              </a:rPr>
              <a:t>Spin flipper</a:t>
            </a:r>
            <a:endParaRPr lang="en-US" sz="1800"/>
          </a:p>
        </p:txBody>
      </p:sp>
      <p:sp>
        <p:nvSpPr>
          <p:cNvPr id="231577" name="Line 1177"/>
          <p:cNvSpPr>
            <a:spLocks noChangeShapeType="1"/>
          </p:cNvSpPr>
          <p:nvPr/>
        </p:nvSpPr>
        <p:spPr bwMode="auto">
          <a:xfrm>
            <a:off x="7310438" y="2544763"/>
            <a:ext cx="584200" cy="485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78" name="Text Box 1178"/>
          <p:cNvSpPr txBox="1">
            <a:spLocks noChangeArrowheads="1"/>
          </p:cNvSpPr>
          <p:nvPr/>
        </p:nvSpPr>
        <p:spPr bwMode="auto">
          <a:xfrm>
            <a:off x="2800350" y="2428875"/>
            <a:ext cx="15144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ja-JP" sz="1400">
                <a:solidFill>
                  <a:srgbClr val="000000"/>
                </a:solidFill>
                <a:latin typeface="Times New Roman" pitchFamily="-111" charset="0"/>
                <a:ea typeface="MS Mincho" charset="-128"/>
                <a:cs typeface="MS Mincho" charset="-128"/>
              </a:rPr>
              <a:t>Siberian Snakes</a:t>
            </a:r>
            <a:endParaRPr lang="en-US" sz="1800"/>
          </a:p>
        </p:txBody>
      </p:sp>
      <p:sp>
        <p:nvSpPr>
          <p:cNvPr id="231579" name="Line 1179"/>
          <p:cNvSpPr>
            <a:spLocks noChangeShapeType="1"/>
          </p:cNvSpPr>
          <p:nvPr/>
        </p:nvSpPr>
        <p:spPr bwMode="auto">
          <a:xfrm flipH="1">
            <a:off x="2349500" y="2625725"/>
            <a:ext cx="4556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1180"/>
          <p:cNvGrpSpPr>
            <a:grpSpLocks/>
          </p:cNvGrpSpPr>
          <p:nvPr/>
        </p:nvGrpSpPr>
        <p:grpSpPr bwMode="auto">
          <a:xfrm rot="-2695348">
            <a:off x="3986213" y="5451475"/>
            <a:ext cx="146050" cy="260350"/>
            <a:chOff x="5420" y="4309"/>
            <a:chExt cx="136" cy="211"/>
          </a:xfrm>
        </p:grpSpPr>
        <p:sp>
          <p:nvSpPr>
            <p:cNvPr id="231581" name="Oval 1181"/>
            <p:cNvSpPr>
              <a:spLocks noChangeArrowheads="1"/>
            </p:cNvSpPr>
            <p:nvPr/>
          </p:nvSpPr>
          <p:spPr bwMode="auto">
            <a:xfrm rot="-18161290">
              <a:off x="5382" y="4347"/>
              <a:ext cx="211" cy="136"/>
            </a:xfrm>
            <a:prstGeom prst="ellipse">
              <a:avLst/>
            </a:prstGeom>
            <a:solidFill>
              <a:srgbClr val="33CC33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582" name="AutoShape 1182"/>
            <p:cNvSpPr>
              <a:spLocks noChangeArrowheads="1"/>
            </p:cNvSpPr>
            <p:nvPr/>
          </p:nvSpPr>
          <p:spPr bwMode="auto">
            <a:xfrm rot="-18009276">
              <a:off x="5435" y="4371"/>
              <a:ext cx="122" cy="98"/>
            </a:xfrm>
            <a:prstGeom prst="curvedDownArrow">
              <a:avLst>
                <a:gd name="adj1" fmla="val 24898"/>
                <a:gd name="adj2" fmla="val 49796"/>
                <a:gd name="adj3" fmla="val 42009"/>
              </a:avLst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31583" name="Rectangle 1183"/>
          <p:cNvSpPr>
            <a:spLocks noChangeArrowheads="1"/>
          </p:cNvSpPr>
          <p:nvPr/>
        </p:nvSpPr>
        <p:spPr bwMode="auto">
          <a:xfrm>
            <a:off x="4803775" y="3292475"/>
            <a:ext cx="61118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r>
              <a:rPr lang="en-US" altLang="ja-JP" sz="1400" b="1" i="1" u="sng">
                <a:solidFill>
                  <a:srgbClr val="000000"/>
                </a:solidFill>
                <a:latin typeface="Times New Roman" pitchFamily="-111" charset="0"/>
                <a:ea typeface="MS Mincho" charset="-128"/>
                <a:cs typeface="MS Mincho" charset="-128"/>
              </a:rPr>
              <a:t>STAR</a:t>
            </a:r>
            <a:endParaRPr lang="en-US" sz="1800"/>
          </a:p>
        </p:txBody>
      </p:sp>
      <p:sp>
        <p:nvSpPr>
          <p:cNvPr id="231584" name="Rectangle 1184"/>
          <p:cNvSpPr>
            <a:spLocks noChangeArrowheads="1"/>
          </p:cNvSpPr>
          <p:nvPr/>
        </p:nvSpPr>
        <p:spPr bwMode="auto">
          <a:xfrm>
            <a:off x="1768475" y="1901825"/>
            <a:ext cx="9445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r>
              <a:rPr lang="en-US" altLang="ja-JP" sz="1400" b="1" i="1" u="sng">
                <a:solidFill>
                  <a:srgbClr val="000000"/>
                </a:solidFill>
                <a:latin typeface="Times New Roman" pitchFamily="-111" charset="0"/>
                <a:ea typeface="MS Mincho" charset="-128"/>
                <a:cs typeface="MS Mincho" charset="-128"/>
              </a:rPr>
              <a:t>PHOBOS</a:t>
            </a:r>
            <a:endParaRPr lang="en-US" sz="1800"/>
          </a:p>
        </p:txBody>
      </p:sp>
      <p:sp>
        <p:nvSpPr>
          <p:cNvPr id="231585" name="Rectangle 1185"/>
          <p:cNvSpPr>
            <a:spLocks noChangeArrowheads="1"/>
          </p:cNvSpPr>
          <p:nvPr/>
        </p:nvSpPr>
        <p:spPr bwMode="auto">
          <a:xfrm>
            <a:off x="609600" y="4305300"/>
            <a:ext cx="1387475" cy="525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r>
              <a:rPr lang="en-US" altLang="ja-JP" sz="1400">
                <a:solidFill>
                  <a:srgbClr val="000000"/>
                </a:solidFill>
                <a:latin typeface="Times New Roman" pitchFamily="-111" charset="0"/>
                <a:ea typeface="MS Mincho" charset="-128"/>
                <a:cs typeface="MS Mincho" charset="-128"/>
              </a:rPr>
              <a:t>Pol. H</a:t>
            </a:r>
            <a:r>
              <a:rPr lang="en-US" altLang="ja-JP" sz="2400" baseline="30000">
                <a:solidFill>
                  <a:srgbClr val="000000"/>
                </a:solidFill>
                <a:latin typeface="Times New Roman" pitchFamily="-111" charset="0"/>
                <a:ea typeface="MS Mincho" charset="-128"/>
                <a:cs typeface="MS Mincho" charset="-128"/>
              </a:rPr>
              <a:t>-</a:t>
            </a:r>
            <a:r>
              <a:rPr lang="en-US" altLang="ja-JP" sz="1400">
                <a:solidFill>
                  <a:srgbClr val="000000"/>
                </a:solidFill>
                <a:latin typeface="Times New Roman" pitchFamily="-111" charset="0"/>
                <a:ea typeface="MS Mincho" charset="-128"/>
                <a:cs typeface="MS Mincho" charset="-128"/>
              </a:rPr>
              <a:t> Source</a:t>
            </a:r>
          </a:p>
          <a:p>
            <a:endParaRPr lang="en-US" sz="1800"/>
          </a:p>
        </p:txBody>
      </p:sp>
      <p:sp>
        <p:nvSpPr>
          <p:cNvPr id="231586" name="Rectangle 1186"/>
          <p:cNvSpPr>
            <a:spLocks noChangeArrowheads="1"/>
          </p:cNvSpPr>
          <p:nvPr/>
        </p:nvSpPr>
        <p:spPr bwMode="auto">
          <a:xfrm>
            <a:off x="2717800" y="4587875"/>
            <a:ext cx="604838" cy="17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r>
              <a:rPr lang="en-US" altLang="ja-JP" sz="1200" b="1">
                <a:solidFill>
                  <a:srgbClr val="000000"/>
                </a:solidFill>
                <a:latin typeface="Times New Roman" pitchFamily="-111" charset="0"/>
                <a:ea typeface="MS Mincho" charset="-128"/>
                <a:cs typeface="MS Mincho" charset="-128"/>
              </a:rPr>
              <a:t>LINAC</a:t>
            </a:r>
            <a:endParaRPr 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4371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Proton-Proton Elastic Scattering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962400" cy="4876800"/>
          </a:xfrm>
        </p:spPr>
        <p:txBody>
          <a:bodyPr>
            <a:normAutofit/>
          </a:bodyPr>
          <a:lstStyle/>
          <a:p>
            <a:r>
              <a:rPr lang="en-US" dirty="0" smtClean="0"/>
              <a:t>In elastic scattering protons remain intact.</a:t>
            </a:r>
          </a:p>
          <a:p>
            <a:endParaRPr lang="en-US" dirty="0" smtClean="0"/>
          </a:p>
          <a:p>
            <a:r>
              <a:rPr lang="en-US" dirty="0" smtClean="0"/>
              <a:t>Protons interact via a </a:t>
            </a:r>
            <a:r>
              <a:rPr lang="en-US" dirty="0" err="1" smtClean="0"/>
              <a:t>Pomeron</a:t>
            </a:r>
            <a:r>
              <a:rPr lang="en-US" dirty="0" smtClean="0"/>
              <a:t> (IP) exchange.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err="1" smtClean="0"/>
              <a:t>Pomeron</a:t>
            </a:r>
            <a:r>
              <a:rPr lang="en-US" dirty="0" smtClean="0"/>
              <a:t> is an hypothetical particle described as a color singlet combination of gluons.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5" name="Content Placeholder 5" descr="elastic.tiff"/>
          <p:cNvPicPr>
            <a:picLocks noChangeAspect="1"/>
          </p:cNvPicPr>
          <p:nvPr/>
        </p:nvPicPr>
        <p:blipFill>
          <a:blip r:embed="rId3"/>
          <a:srcRect t="-27309" b="-27309"/>
          <a:stretch>
            <a:fillRect/>
          </a:stretch>
        </p:blipFill>
        <p:spPr>
          <a:xfrm>
            <a:off x="4724400" y="2438400"/>
            <a:ext cx="3886200" cy="2438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0" y="1600200"/>
            <a:ext cx="32766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1 + 2 -&gt; 1’ + 2’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 smtClean="0"/>
              <a:t>Some useful variables…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/>
          <a:lstStyle/>
          <a:p>
            <a:r>
              <a:rPr lang="en-US" dirty="0" smtClean="0"/>
              <a:t>Mandelstam Variables: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p</a:t>
            </a:r>
            <a:r>
              <a:rPr lang="en-US" baseline="-25000" dirty="0" smtClean="0"/>
              <a:t>1</a:t>
            </a:r>
            <a:r>
              <a:rPr lang="en-US" dirty="0" smtClean="0"/>
              <a:t>, p</a:t>
            </a:r>
            <a:r>
              <a:rPr lang="en-US" baseline="-25000" dirty="0" smtClean="0"/>
              <a:t>2</a:t>
            </a:r>
            <a:r>
              <a:rPr lang="en-US" dirty="0" smtClean="0"/>
              <a:t> and p</a:t>
            </a:r>
            <a:r>
              <a:rPr lang="en-US" baseline="-25000" dirty="0" smtClean="0"/>
              <a:t>3</a:t>
            </a:r>
            <a:r>
              <a:rPr lang="en-US" dirty="0" smtClean="0"/>
              <a:t>, p</a:t>
            </a:r>
            <a:r>
              <a:rPr lang="en-US" baseline="-25000" dirty="0" smtClean="0"/>
              <a:t>4</a:t>
            </a:r>
            <a:r>
              <a:rPr lang="en-US" dirty="0" smtClean="0"/>
              <a:t> are the four-</a:t>
            </a:r>
            <a:r>
              <a:rPr lang="en-US" dirty="0" err="1" smtClean="0"/>
              <a:t>momenta</a:t>
            </a:r>
            <a:r>
              <a:rPr lang="en-US" dirty="0" smtClean="0"/>
              <a:t> of the incoming</a:t>
            </a:r>
          </a:p>
          <a:p>
            <a:pPr>
              <a:buNone/>
            </a:pPr>
            <a:r>
              <a:rPr lang="en-US" dirty="0" smtClean="0"/>
              <a:t>and outgoing particles, respectively.</a:t>
            </a:r>
          </a:p>
          <a:p>
            <a:pPr>
              <a:buNone/>
            </a:pPr>
            <a:endParaRPr lang="en-US" dirty="0" smtClean="0"/>
          </a:p>
        </p:txBody>
      </p:sp>
      <p:pic>
        <p:nvPicPr>
          <p:cNvPr id="4" name="Picture 3" descr="220px-Mandelst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52600"/>
            <a:ext cx="2278185" cy="2019300"/>
          </a:xfrm>
          <a:prstGeom prst="rect">
            <a:avLst/>
          </a:prstGeom>
        </p:spPr>
      </p:pic>
      <p:pic>
        <p:nvPicPr>
          <p:cNvPr id="7" name="Picture 6" descr="s and t.tif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476500"/>
            <a:ext cx="4267200" cy="11811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 smtClean="0"/>
              <a:t>Past, present, future…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ISR at CERN (past)</a:t>
            </a:r>
          </a:p>
          <a:p>
            <a:pPr lvl="1"/>
            <a:r>
              <a:rPr lang="en-US" dirty="0" err="1" smtClean="0"/>
              <a:t>p-p</a:t>
            </a:r>
            <a:r>
              <a:rPr lang="en-US" dirty="0" smtClean="0"/>
              <a:t> collisions at </a:t>
            </a:r>
            <a:r>
              <a:rPr lang="en-US" b="1" dirty="0" err="1" smtClean="0">
                <a:latin typeface="Lucida Sans Unicode" pitchFamily="-111" charset="-52"/>
                <a:sym typeface="Symbol" pitchFamily="-111" charset="2"/>
              </a:rPr>
              <a:t>s</a:t>
            </a:r>
            <a:r>
              <a:rPr lang="en-US" b="1" dirty="0" smtClean="0">
                <a:latin typeface="Lucida Sans Unicode" pitchFamily="-111" charset="-52"/>
                <a:sym typeface="Symbol" pitchFamily="-111" charset="2"/>
              </a:rPr>
              <a:t> = </a:t>
            </a:r>
            <a:r>
              <a:rPr lang="en-US" b="1" dirty="0" smtClean="0"/>
              <a:t>62.8 </a:t>
            </a:r>
            <a:r>
              <a:rPr lang="en-US" b="1" dirty="0" err="1" smtClean="0"/>
              <a:t>GeV</a:t>
            </a:r>
            <a:r>
              <a:rPr lang="en-US" b="1" dirty="0" smtClean="0"/>
              <a:t> </a:t>
            </a:r>
            <a:r>
              <a:rPr lang="en-US" dirty="0" smtClean="0"/>
              <a:t>with </a:t>
            </a:r>
            <a:r>
              <a:rPr lang="en-US" dirty="0" err="1" smtClean="0"/>
              <a:t>unpolarized</a:t>
            </a:r>
            <a:r>
              <a:rPr lang="en-US" dirty="0" smtClean="0"/>
              <a:t> beam and at </a:t>
            </a:r>
            <a:r>
              <a:rPr lang="en-US" b="1" dirty="0" smtClean="0"/>
              <a:t>20 </a:t>
            </a:r>
            <a:r>
              <a:rPr lang="en-US" b="1" dirty="0" err="1" smtClean="0"/>
              <a:t>GeV</a:t>
            </a:r>
            <a:r>
              <a:rPr lang="en-US" b="1" dirty="0" smtClean="0"/>
              <a:t> </a:t>
            </a:r>
            <a:r>
              <a:rPr lang="en-US" dirty="0" smtClean="0"/>
              <a:t>with polarized beam</a:t>
            </a:r>
          </a:p>
          <a:p>
            <a:pPr lvl="1"/>
            <a:r>
              <a:rPr lang="en-US" dirty="0" err="1" smtClean="0"/>
              <a:t>p-pbar</a:t>
            </a:r>
            <a:r>
              <a:rPr lang="en-US" dirty="0" smtClean="0"/>
              <a:t> at </a:t>
            </a:r>
            <a:r>
              <a:rPr lang="en-US" b="1" dirty="0" err="1" smtClean="0">
                <a:latin typeface="Lucida Sans Unicode" pitchFamily="-111" charset="-52"/>
                <a:sym typeface="Symbol" pitchFamily="-111" charset="2"/>
              </a:rPr>
              <a:t></a:t>
            </a:r>
            <a:r>
              <a:rPr lang="en-US" b="1" i="1" dirty="0" err="1" smtClean="0">
                <a:latin typeface="Lucida Sans Unicode" pitchFamily="-111" charset="-52"/>
                <a:sym typeface="Symbol" pitchFamily="-111" charset="2"/>
              </a:rPr>
              <a:t>s</a:t>
            </a:r>
            <a:r>
              <a:rPr lang="en-US" b="1" i="1" dirty="0" smtClean="0">
                <a:latin typeface="Lucida Sans Unicode" pitchFamily="-111" charset="-52"/>
                <a:sym typeface="Symbol" pitchFamily="-111" charset="2"/>
              </a:rPr>
              <a:t> = </a:t>
            </a:r>
            <a:r>
              <a:rPr lang="en-US" b="1" dirty="0" smtClean="0"/>
              <a:t>53 </a:t>
            </a:r>
            <a:r>
              <a:rPr lang="en-US" b="1" dirty="0" err="1" smtClean="0"/>
              <a:t>GeV</a:t>
            </a:r>
            <a:r>
              <a:rPr lang="en-US" b="1" dirty="0" smtClean="0"/>
              <a:t> </a:t>
            </a:r>
            <a:endParaRPr lang="en-US" dirty="0" smtClean="0"/>
          </a:p>
          <a:p>
            <a:r>
              <a:rPr lang="en-US" dirty="0" err="1" smtClean="0"/>
              <a:t>Tevatron</a:t>
            </a:r>
            <a:r>
              <a:rPr lang="en-US" dirty="0" smtClean="0"/>
              <a:t> at </a:t>
            </a:r>
            <a:r>
              <a:rPr lang="en-US" dirty="0" err="1" smtClean="0"/>
              <a:t>Fermilab</a:t>
            </a:r>
            <a:r>
              <a:rPr lang="en-US" dirty="0" smtClean="0"/>
              <a:t> (past)</a:t>
            </a:r>
          </a:p>
          <a:p>
            <a:pPr lvl="1"/>
            <a:r>
              <a:rPr lang="en-US" dirty="0" err="1" smtClean="0"/>
              <a:t>p-pbar</a:t>
            </a:r>
            <a:r>
              <a:rPr lang="en-US" dirty="0" smtClean="0"/>
              <a:t> collisions at </a:t>
            </a:r>
            <a:r>
              <a:rPr lang="en-US" b="1" dirty="0" err="1" smtClean="0">
                <a:latin typeface="Lucida Sans Unicode" pitchFamily="-111" charset="-52"/>
                <a:sym typeface="Symbol" pitchFamily="-111" charset="2"/>
              </a:rPr>
              <a:t></a:t>
            </a:r>
            <a:r>
              <a:rPr lang="en-US" b="1" i="1" dirty="0" err="1" smtClean="0">
                <a:latin typeface="Lucida Sans Unicode" pitchFamily="-111" charset="-52"/>
                <a:sym typeface="Symbol" pitchFamily="-111" charset="2"/>
              </a:rPr>
              <a:t>s</a:t>
            </a:r>
            <a:r>
              <a:rPr lang="en-US" b="1" i="1" dirty="0" smtClean="0">
                <a:latin typeface="Lucida Sans Unicode" pitchFamily="-111" charset="-52"/>
                <a:sym typeface="Symbol" pitchFamily="-111" charset="2"/>
              </a:rPr>
              <a:t> = </a:t>
            </a:r>
            <a:r>
              <a:rPr lang="en-US" b="1" dirty="0" smtClean="0"/>
              <a:t>1.8 </a:t>
            </a:r>
            <a:r>
              <a:rPr lang="en-US" b="1" dirty="0" err="1" smtClean="0"/>
              <a:t>TeV</a:t>
            </a:r>
            <a:r>
              <a:rPr lang="en-US" b="1" dirty="0" smtClean="0"/>
              <a:t> </a:t>
            </a:r>
          </a:p>
          <a:p>
            <a:r>
              <a:rPr lang="en-US" dirty="0" smtClean="0"/>
              <a:t>RHIC at BNL (present &amp; future)</a:t>
            </a:r>
          </a:p>
          <a:p>
            <a:pPr lvl="1"/>
            <a:r>
              <a:rPr lang="en-US" dirty="0" smtClean="0"/>
              <a:t>polarized </a:t>
            </a:r>
            <a:r>
              <a:rPr lang="en-US" dirty="0" err="1" smtClean="0"/>
              <a:t>p-p</a:t>
            </a:r>
            <a:r>
              <a:rPr lang="en-US" dirty="0" smtClean="0"/>
              <a:t> collisions up to </a:t>
            </a:r>
            <a:r>
              <a:rPr lang="en-US" b="1" dirty="0" err="1" smtClean="0">
                <a:latin typeface="Lucida Sans Unicode" pitchFamily="-111" charset="-52"/>
                <a:sym typeface="Symbol" pitchFamily="-111" charset="2"/>
              </a:rPr>
              <a:t></a:t>
            </a:r>
            <a:r>
              <a:rPr lang="en-US" b="1" i="1" dirty="0" err="1" smtClean="0">
                <a:latin typeface="Lucida Sans Unicode" pitchFamily="-111" charset="-52"/>
                <a:sym typeface="Symbol" pitchFamily="-111" charset="2"/>
              </a:rPr>
              <a:t>s</a:t>
            </a:r>
            <a:r>
              <a:rPr lang="en-US" b="1" i="1" dirty="0" smtClean="0">
                <a:latin typeface="Lucida Sans Unicode" pitchFamily="-111" charset="-52"/>
                <a:sym typeface="Symbol" pitchFamily="-111" charset="2"/>
              </a:rPr>
              <a:t> = </a:t>
            </a:r>
            <a:r>
              <a:rPr lang="en-US" b="1" dirty="0" smtClean="0"/>
              <a:t>500 </a:t>
            </a:r>
            <a:r>
              <a:rPr lang="en-US" b="1" dirty="0" err="1" smtClean="0"/>
              <a:t>GeV</a:t>
            </a:r>
            <a:r>
              <a:rPr lang="en-US" b="1" dirty="0" smtClean="0"/>
              <a:t> </a:t>
            </a:r>
            <a:endParaRPr lang="en-US" dirty="0" smtClean="0"/>
          </a:p>
          <a:p>
            <a:r>
              <a:rPr lang="en-US" dirty="0" smtClean="0"/>
              <a:t>LHC at CERN (future)</a:t>
            </a:r>
          </a:p>
          <a:p>
            <a:pPr lvl="1"/>
            <a:r>
              <a:rPr lang="en-US" dirty="0" smtClean="0"/>
              <a:t> </a:t>
            </a:r>
            <a:r>
              <a:rPr lang="en-US" dirty="0" err="1" smtClean="0"/>
              <a:t>unpolarized</a:t>
            </a:r>
            <a:r>
              <a:rPr lang="en-US" dirty="0" smtClean="0"/>
              <a:t> </a:t>
            </a:r>
            <a:r>
              <a:rPr lang="en-US" dirty="0" err="1" smtClean="0"/>
              <a:t>p-p</a:t>
            </a:r>
            <a:r>
              <a:rPr lang="en-US" dirty="0" smtClean="0"/>
              <a:t> collisions at </a:t>
            </a:r>
            <a:r>
              <a:rPr lang="en-US" b="1" dirty="0" err="1" smtClean="0">
                <a:latin typeface="Lucida Sans Unicode" pitchFamily="-111" charset="-52"/>
                <a:sym typeface="Symbol" pitchFamily="-111" charset="2"/>
              </a:rPr>
              <a:t></a:t>
            </a:r>
            <a:r>
              <a:rPr lang="en-US" b="1" i="1" dirty="0" err="1" smtClean="0">
                <a:latin typeface="Lucida Sans Unicode" pitchFamily="-111" charset="-52"/>
                <a:sym typeface="Symbol" pitchFamily="-111" charset="2"/>
              </a:rPr>
              <a:t>s</a:t>
            </a:r>
            <a:r>
              <a:rPr lang="en-US" b="1" i="1" dirty="0" smtClean="0">
                <a:latin typeface="Lucida Sans Unicode" pitchFamily="-111" charset="-52"/>
                <a:sym typeface="Symbol" pitchFamily="-111" charset="2"/>
              </a:rPr>
              <a:t>  = </a:t>
            </a:r>
            <a:r>
              <a:rPr lang="en-US" b="1" dirty="0" smtClean="0"/>
              <a:t>14 </a:t>
            </a:r>
            <a:r>
              <a:rPr lang="en-US" b="1" dirty="0" err="1" smtClean="0"/>
              <a:t>TeV</a:t>
            </a:r>
            <a:r>
              <a:rPr lang="en-US" b="1" dirty="0" smtClean="0"/>
              <a:t> </a:t>
            </a:r>
            <a:r>
              <a:rPr lang="en-US" dirty="0" smtClean="0"/>
              <a:t>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/>
          <a:lstStyle/>
          <a:p>
            <a:r>
              <a:rPr lang="en-US" dirty="0" smtClean="0"/>
              <a:t>PP2PP Experiment at RHIC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389120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>
                <a:latin typeface="Lucida Sans Unicode" pitchFamily="-111" charset="-52"/>
                <a:sym typeface="Symbol" pitchFamily="-111" charset="2"/>
              </a:rPr>
              <a:t>D</a:t>
            </a:r>
            <a:r>
              <a:rPr lang="en-US" dirty="0" smtClean="0"/>
              <a:t>esigned to study polarized proton-proton elastic scattering, at a previously</a:t>
            </a:r>
            <a:r>
              <a:rPr lang="en-US" u="sng" dirty="0" smtClean="0"/>
              <a:t> unexplored </a:t>
            </a:r>
            <a:r>
              <a:rPr lang="en-US" dirty="0" err="1" smtClean="0"/>
              <a:t>cms</a:t>
            </a:r>
            <a:r>
              <a:rPr lang="en-US" dirty="0" smtClean="0"/>
              <a:t> energy range of : </a:t>
            </a:r>
            <a:r>
              <a:rPr lang="en-US" sz="2400" b="1" dirty="0" smtClean="0">
                <a:latin typeface="Lucida Sans Unicode" pitchFamily="-111" charset="-52"/>
              </a:rPr>
              <a:t>50 </a:t>
            </a:r>
            <a:r>
              <a:rPr lang="en-US" sz="2400" b="1" dirty="0" err="1" smtClean="0">
                <a:latin typeface="Lucida Sans Unicode" pitchFamily="-111" charset="-52"/>
              </a:rPr>
              <a:t>GeV</a:t>
            </a:r>
            <a:r>
              <a:rPr lang="en-US" sz="2400" b="1" dirty="0" smtClean="0">
                <a:latin typeface="Lucida Sans Unicode" pitchFamily="-111" charset="-52"/>
              </a:rPr>
              <a:t> &lt; </a:t>
            </a:r>
            <a:r>
              <a:rPr lang="en-US" sz="2400" b="1" dirty="0" err="1" smtClean="0">
                <a:latin typeface="Lucida Sans Unicode" pitchFamily="-111" charset="-52"/>
                <a:sym typeface="Symbol" pitchFamily="-111" charset="2"/>
              </a:rPr>
              <a:t></a:t>
            </a:r>
            <a:r>
              <a:rPr lang="en-US" sz="2400" b="1" i="1" dirty="0" err="1" smtClean="0">
                <a:latin typeface="Lucida Sans Unicode" pitchFamily="-111" charset="-52"/>
                <a:sym typeface="Symbol" pitchFamily="-111" charset="2"/>
              </a:rPr>
              <a:t>s</a:t>
            </a:r>
            <a:r>
              <a:rPr lang="en-US" sz="2400" b="1" i="1" dirty="0" smtClean="0">
                <a:latin typeface="Lucida Sans Unicode" pitchFamily="-111" charset="-52"/>
                <a:sym typeface="Symbol" pitchFamily="-111" charset="2"/>
              </a:rPr>
              <a:t> &lt; </a:t>
            </a:r>
            <a:r>
              <a:rPr lang="en-US" sz="2400" b="1" dirty="0" smtClean="0">
                <a:latin typeface="Lucida Sans Unicode" pitchFamily="-111" charset="-52"/>
              </a:rPr>
              <a:t>500 </a:t>
            </a:r>
            <a:r>
              <a:rPr lang="en-US" sz="2400" b="1" dirty="0" err="1" smtClean="0">
                <a:latin typeface="Lucida Sans Unicode" pitchFamily="-111" charset="-52"/>
              </a:rPr>
              <a:t>GeV</a:t>
            </a:r>
            <a:r>
              <a:rPr lang="en-US" sz="2400" b="1" dirty="0" smtClean="0">
                <a:latin typeface="Lucida Sans Unicode" pitchFamily="-111" charset="-52"/>
              </a:rPr>
              <a:t> </a:t>
            </a:r>
            <a:r>
              <a:rPr lang="en-US" sz="2400" dirty="0" smtClean="0">
                <a:latin typeface="Lucida Sans Unicode" pitchFamily="-111" charset="-52"/>
              </a:rPr>
              <a:t>and</a:t>
            </a:r>
            <a:r>
              <a:rPr lang="en-US" sz="2400" b="1" dirty="0" smtClean="0">
                <a:latin typeface="Lucida Sans Unicode" pitchFamily="-111" charset="-52"/>
              </a:rPr>
              <a:t> 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0000"/>
                </a:solidFill>
                <a:latin typeface="Lucida Sans Unicode" pitchFamily="-111" charset="-52"/>
                <a:sym typeface="Symbol" pitchFamily="-111" charset="2"/>
              </a:rPr>
              <a:t>   4</a:t>
            </a:r>
            <a:r>
              <a:rPr lang="en-US" sz="2400" b="1" dirty="0" smtClean="0">
                <a:solidFill>
                  <a:srgbClr val="000000"/>
                </a:solidFill>
                <a:latin typeface="Lucida Sans Unicode" pitchFamily="-111" charset="-52"/>
                <a:ea typeface="Lucida Sans Unicode" pitchFamily="-111" charset="-52"/>
                <a:cs typeface="Lucida Sans Unicode" pitchFamily="-111" charset="-52"/>
                <a:sym typeface="Romantic" pitchFamily="2" charset="2"/>
              </a:rPr>
              <a:t>•</a:t>
            </a:r>
            <a:r>
              <a:rPr lang="en-US" sz="2400" b="1" dirty="0" smtClean="0">
                <a:solidFill>
                  <a:srgbClr val="000000"/>
                </a:solidFill>
                <a:latin typeface="Lucida Sans Unicode" pitchFamily="-111" charset="-52"/>
              </a:rPr>
              <a:t>10</a:t>
            </a:r>
            <a:r>
              <a:rPr lang="en-US" sz="2400" b="1" baseline="30000" dirty="0" smtClean="0">
                <a:solidFill>
                  <a:srgbClr val="000000"/>
                </a:solidFill>
                <a:latin typeface="Lucida Sans Unicode" pitchFamily="-111" charset="-52"/>
                <a:ea typeface="Times New Roman" pitchFamily="-111" charset="0"/>
                <a:cs typeface="Times New Roman" pitchFamily="-111" charset="0"/>
              </a:rPr>
              <a:t>–</a:t>
            </a:r>
            <a:r>
              <a:rPr lang="en-US" sz="2400" b="1" baseline="30000" dirty="0" smtClean="0">
                <a:solidFill>
                  <a:srgbClr val="000000"/>
                </a:solidFill>
                <a:latin typeface="Lucida Sans Unicode" pitchFamily="-111" charset="-52"/>
              </a:rPr>
              <a:t>4 </a:t>
            </a:r>
            <a:r>
              <a:rPr lang="en-US" sz="2400" b="1" dirty="0" smtClean="0">
                <a:solidFill>
                  <a:srgbClr val="000000"/>
                </a:solidFill>
                <a:latin typeface="Lucida Sans Unicode" pitchFamily="-111" charset="-52"/>
                <a:sym typeface="Symbol" pitchFamily="-111" charset="2"/>
              </a:rPr>
              <a:t>GeV</a:t>
            </a:r>
            <a:r>
              <a:rPr lang="en-US" sz="2400" b="1" baseline="30000" dirty="0" smtClean="0">
                <a:solidFill>
                  <a:srgbClr val="000000"/>
                </a:solidFill>
                <a:latin typeface="Lucida Sans Unicode" pitchFamily="-111" charset="-52"/>
                <a:sym typeface="Symbol" pitchFamily="-111" charset="2"/>
              </a:rPr>
              <a:t>2</a:t>
            </a:r>
            <a:r>
              <a:rPr lang="en-US" sz="2400" b="1" baseline="30000" dirty="0" smtClean="0">
                <a:solidFill>
                  <a:srgbClr val="000000"/>
                </a:solidFill>
                <a:latin typeface="Lucida Sans Unicode" pitchFamily="-111" charset="-52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Lucida Sans Unicode" pitchFamily="-111" charset="-52"/>
                <a:sym typeface="Symbol" pitchFamily="-111" charset="2"/>
              </a:rPr>
              <a:t></a:t>
            </a:r>
            <a:r>
              <a:rPr lang="en-US" sz="2400" b="1" dirty="0" smtClean="0">
                <a:solidFill>
                  <a:srgbClr val="000000"/>
                </a:solidFill>
                <a:latin typeface="Lucida Sans Unicode" pitchFamily="-111" charset="-52"/>
                <a:sym typeface="Symbol" pitchFamily="-111" charset="2"/>
              </a:rPr>
              <a:t> |</a:t>
            </a:r>
            <a:r>
              <a:rPr lang="en-US" sz="2400" b="1" i="1" dirty="0" err="1" smtClean="0">
                <a:solidFill>
                  <a:srgbClr val="000000"/>
                </a:solidFill>
                <a:latin typeface="Lucida Sans Unicode" pitchFamily="-111" charset="-52"/>
                <a:sym typeface="Symbol" pitchFamily="-111" charset="2"/>
              </a:rPr>
              <a:t>t</a:t>
            </a:r>
            <a:r>
              <a:rPr lang="en-US" sz="2400" b="1" i="1" dirty="0" smtClean="0">
                <a:solidFill>
                  <a:srgbClr val="000000"/>
                </a:solidFill>
                <a:latin typeface="Lucida Sans Unicode" pitchFamily="-111" charset="-52"/>
                <a:sym typeface="Symbol" pitchFamily="-111" charset="2"/>
              </a:rPr>
              <a:t> </a:t>
            </a:r>
            <a:r>
              <a:rPr lang="en-US" sz="2400" b="1" dirty="0" smtClean="0">
                <a:solidFill>
                  <a:srgbClr val="000000"/>
                </a:solidFill>
                <a:latin typeface="Lucida Sans Unicode" pitchFamily="-111" charset="-52"/>
                <a:sym typeface="Symbol" pitchFamily="-111" charset="2"/>
              </a:rPr>
              <a:t>| </a:t>
            </a:r>
            <a:r>
              <a:rPr lang="en-US" sz="2400" b="1" dirty="0" err="1" smtClean="0">
                <a:solidFill>
                  <a:srgbClr val="000000"/>
                </a:solidFill>
                <a:latin typeface="Lucida Sans Unicode" pitchFamily="-111" charset="-52"/>
                <a:sym typeface="Symbol" pitchFamily="-111" charset="2"/>
              </a:rPr>
              <a:t></a:t>
            </a:r>
            <a:r>
              <a:rPr lang="en-US" sz="2400" b="1" dirty="0" smtClean="0">
                <a:solidFill>
                  <a:srgbClr val="000000"/>
                </a:solidFill>
                <a:latin typeface="Lucida Sans Unicode" pitchFamily="-111" charset="-52"/>
                <a:sym typeface="Symbol" pitchFamily="-111" charset="2"/>
              </a:rPr>
              <a:t> 1.3 GeV</a:t>
            </a:r>
            <a:r>
              <a:rPr lang="en-US" sz="2400" b="1" baseline="30000" dirty="0" smtClean="0">
                <a:solidFill>
                  <a:srgbClr val="000000"/>
                </a:solidFill>
                <a:latin typeface="Lucida Sans Unicode" pitchFamily="-111" charset="-52"/>
                <a:sym typeface="Symbol" pitchFamily="-111" charset="2"/>
              </a:rPr>
              <a:t>2</a:t>
            </a:r>
            <a:r>
              <a:rPr lang="en-US" sz="2400" dirty="0" smtClean="0">
                <a:latin typeface="Lucida Sans Unicode" pitchFamily="-111" charset="-52"/>
                <a:sym typeface="Symbol" pitchFamily="-111" charset="2"/>
              </a:rPr>
              <a:t>, in order to explore:</a:t>
            </a:r>
          </a:p>
          <a:p>
            <a:pPr>
              <a:buNone/>
            </a:pPr>
            <a:endParaRPr lang="en-US" dirty="0" smtClean="0"/>
          </a:p>
          <a:p>
            <a:pPr lvl="1"/>
            <a:r>
              <a:rPr lang="en-US" dirty="0" smtClean="0"/>
              <a:t>The dynamics of the </a:t>
            </a:r>
            <a:r>
              <a:rPr lang="en-US" dirty="0" err="1" smtClean="0"/>
              <a:t>hadronic</a:t>
            </a:r>
            <a:r>
              <a:rPr lang="en-US" dirty="0" smtClean="0"/>
              <a:t> interaction in </a:t>
            </a:r>
            <a:r>
              <a:rPr lang="en-US" dirty="0" err="1" smtClean="0"/>
              <a:t>p-p</a:t>
            </a:r>
            <a:r>
              <a:rPr lang="en-US" dirty="0" smtClean="0"/>
              <a:t> elastic scattering-------UNPOLARIZED CASE</a:t>
            </a:r>
          </a:p>
          <a:p>
            <a:pPr lvl="1">
              <a:buNone/>
            </a:pP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Spin dependence of the </a:t>
            </a:r>
            <a:r>
              <a:rPr lang="en-US" dirty="0" err="1" smtClean="0"/>
              <a:t>hadronic</a:t>
            </a:r>
            <a:r>
              <a:rPr lang="en-US" dirty="0" smtClean="0"/>
              <a:t> interaction in </a:t>
            </a:r>
            <a:r>
              <a:rPr lang="en-US" u="sng" dirty="0" smtClean="0"/>
              <a:t>polarized</a:t>
            </a:r>
            <a:r>
              <a:rPr lang="en-US" dirty="0" smtClean="0"/>
              <a:t> </a:t>
            </a:r>
            <a:r>
              <a:rPr lang="en-US" dirty="0" err="1" smtClean="0"/>
              <a:t>p-p</a:t>
            </a:r>
            <a:r>
              <a:rPr lang="en-US" dirty="0" smtClean="0"/>
              <a:t> elastic scattering--------POLARIZED CASE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pPr algn="ctr"/>
            <a:r>
              <a:rPr lang="en-US" dirty="0" smtClean="0"/>
              <a:t>Optical Theorem</a:t>
            </a:r>
            <a:endParaRPr lang="en-US" dirty="0"/>
          </a:p>
        </p:txBody>
      </p:sp>
      <p:pic>
        <p:nvPicPr>
          <p:cNvPr id="5" name="Picture 4" descr="optical theorem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3719512"/>
            <a:ext cx="3124200" cy="9286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28600" y="5218093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The very existence of scattering requires </a:t>
            </a:r>
            <a:r>
              <a:rPr lang="en-US" sz="2800" u="sng" dirty="0" smtClean="0"/>
              <a:t>scattering in the forward direction.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82296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The total cross section (1 + 2 -&gt; anything) is proportional to the imaginary part of the elastic </a:t>
            </a:r>
          </a:p>
          <a:p>
            <a:pPr algn="ctr"/>
            <a:r>
              <a:rPr lang="en-US" sz="2800" dirty="0" smtClean="0"/>
              <a:t>(1 + 2 -&gt; 1 + 2) scattering amplitude at </a:t>
            </a:r>
            <a:r>
              <a:rPr lang="en-US" sz="2800" dirty="0" err="1" smtClean="0"/>
              <a:t>t</a:t>
            </a:r>
            <a:r>
              <a:rPr lang="en-US" sz="2800" dirty="0" smtClean="0"/>
              <a:t> = 0.</a:t>
            </a:r>
          </a:p>
          <a:p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5562600" y="3505200"/>
            <a:ext cx="990600" cy="533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77000" y="3039070"/>
            <a:ext cx="2362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Elastic Scattering </a:t>
            </a:r>
          </a:p>
          <a:p>
            <a:pPr algn="ctr"/>
            <a:r>
              <a:rPr lang="en-US" dirty="0" smtClean="0"/>
              <a:t>Amplitude </a:t>
            </a:r>
          </a:p>
          <a:p>
            <a:pPr algn="ctr"/>
            <a:r>
              <a:rPr lang="en-US" dirty="0" smtClean="0"/>
              <a:t>at </a:t>
            </a:r>
            <a:r>
              <a:rPr lang="en-US" dirty="0" err="1" smtClean="0"/>
              <a:t>t</a:t>
            </a:r>
            <a:r>
              <a:rPr lang="en-US" dirty="0" smtClean="0"/>
              <a:t>=0</a:t>
            </a:r>
          </a:p>
          <a:p>
            <a:pPr algn="ctr"/>
            <a:r>
              <a:rPr lang="en-US" dirty="0" smtClean="0"/>
              <a:t> (forward direction)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Differential Elastic Cross Section </a:t>
            </a:r>
            <a:endParaRPr lang="en-US" dirty="0"/>
          </a:p>
        </p:txBody>
      </p:sp>
      <p:pic>
        <p:nvPicPr>
          <p:cNvPr id="8" name="Picture 7" descr="diff cross section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90700"/>
            <a:ext cx="2413000" cy="876300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9" name="Picture 8" descr="hadronic term.tif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895600"/>
            <a:ext cx="4368800" cy="800100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10" name="Picture 9" descr="coulomb term.tif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826000"/>
            <a:ext cx="3327400" cy="889000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11" name="Picture 10" descr="coulomb phase.tif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6900" y="5715000"/>
            <a:ext cx="3060700" cy="9017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12" name="TextBox 11"/>
          <p:cNvSpPr txBox="1"/>
          <p:nvPr/>
        </p:nvSpPr>
        <p:spPr>
          <a:xfrm>
            <a:off x="5410200" y="2895600"/>
            <a:ext cx="3276600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Spin Independent </a:t>
            </a:r>
            <a:r>
              <a:rPr lang="en-US" sz="2400" dirty="0" err="1" smtClean="0"/>
              <a:t>Hadronic</a:t>
            </a:r>
            <a:r>
              <a:rPr lang="en-US" sz="2400" dirty="0" smtClean="0"/>
              <a:t> Amplitude</a:t>
            </a:r>
          </a:p>
          <a:p>
            <a:endParaRPr lang="en-US" sz="2400" dirty="0"/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2590800" y="2209800"/>
            <a:ext cx="1054100" cy="914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644900" y="1790700"/>
            <a:ext cx="4051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Ratio of the real to imaginary part of the nuclear amplitude at </a:t>
            </a:r>
            <a:r>
              <a:rPr lang="en-US" dirty="0" err="1" smtClean="0"/>
              <a:t>t</a:t>
            </a:r>
            <a:r>
              <a:rPr lang="en-US" dirty="0" smtClean="0"/>
              <a:t> = 0</a:t>
            </a:r>
          </a:p>
          <a:p>
            <a:endParaRPr lang="en-US" dirty="0"/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4419600" y="2714030"/>
            <a:ext cx="1676400" cy="4101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96000" y="2514600"/>
            <a:ext cx="362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Nuclear slope parameter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495800" y="4884003"/>
            <a:ext cx="3276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Coulomb Amplitude</a:t>
            </a:r>
          </a:p>
          <a:p>
            <a:endParaRPr lang="en-US" sz="2400" dirty="0"/>
          </a:p>
        </p:txBody>
      </p:sp>
      <p:cxnSp>
        <p:nvCxnSpPr>
          <p:cNvPr id="31" name="Straight Arrow Connector 30"/>
          <p:cNvCxnSpPr/>
          <p:nvPr/>
        </p:nvCxnSpPr>
        <p:spPr>
          <a:xfrm rot="10800000">
            <a:off x="1143000" y="4324530"/>
            <a:ext cx="762001" cy="5594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7200" y="3955197"/>
            <a:ext cx="256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Fine structure constant</a:t>
            </a:r>
            <a:endParaRPr lang="en-US" dirty="0"/>
          </a:p>
        </p:txBody>
      </p:sp>
      <p:cxnSp>
        <p:nvCxnSpPr>
          <p:cNvPr id="36" name="Straight Arrow Connector 35"/>
          <p:cNvCxnSpPr>
            <a:stCxn id="10" idx="0"/>
          </p:cNvCxnSpPr>
          <p:nvPr/>
        </p:nvCxnSpPr>
        <p:spPr>
          <a:xfrm rot="5400000" flipH="1" flipV="1">
            <a:off x="2708365" y="3889465"/>
            <a:ext cx="501471" cy="1371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733800" y="4038600"/>
            <a:ext cx="375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Proton electric form factor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2057400" y="5950803"/>
            <a:ext cx="3276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Coulomb Phase</a:t>
            </a: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Differential Elastic Cross Section</a:t>
            </a:r>
            <a:endParaRPr lang="en-US" dirty="0"/>
          </a:p>
        </p:txBody>
      </p:sp>
      <p:pic>
        <p:nvPicPr>
          <p:cNvPr id="6" name="Picture 5" descr="diff elastic cross section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790700"/>
            <a:ext cx="4470400" cy="4610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 descr=" 3 term cross section.tif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788" y="1797050"/>
            <a:ext cx="3656012" cy="300355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5" name="TextBox 4"/>
          <p:cNvSpPr txBox="1"/>
          <p:nvPr/>
        </p:nvSpPr>
        <p:spPr>
          <a:xfrm>
            <a:off x="458788" y="4800600"/>
            <a:ext cx="3656012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Coulomb Amplitude</a:t>
            </a:r>
          </a:p>
          <a:p>
            <a:pPr marL="342900" indent="-342900">
              <a:buAutoNum type="arabicPeriod"/>
            </a:pPr>
            <a:r>
              <a:rPr lang="en-US" dirty="0" err="1" smtClean="0"/>
              <a:t>Hadronic</a:t>
            </a:r>
            <a:r>
              <a:rPr lang="en-US" dirty="0" smtClean="0"/>
              <a:t> Amplitude</a:t>
            </a:r>
          </a:p>
          <a:p>
            <a:pPr marL="342900" indent="-342900">
              <a:buAutoNum type="arabicPeriod"/>
            </a:pPr>
            <a:r>
              <a:rPr lang="en-US" dirty="0" smtClean="0"/>
              <a:t>Coulomb Nuclear Interference Term, (CNI) region, small </a:t>
            </a:r>
            <a:r>
              <a:rPr lang="en-US" dirty="0" err="1" smtClean="0"/>
              <a:t>t</a:t>
            </a:r>
            <a:r>
              <a:rPr lang="en-US" dirty="0" smtClean="0"/>
              <a:t>: </a:t>
            </a:r>
          </a:p>
          <a:p>
            <a:r>
              <a:rPr lang="en-US" b="1" dirty="0" smtClean="0">
                <a:solidFill>
                  <a:srgbClr val="000000"/>
                </a:solidFill>
                <a:latin typeface="Lucida Sans Unicode" pitchFamily="-111" charset="-52"/>
                <a:sym typeface="Symbol" pitchFamily="-111" charset="2"/>
              </a:rPr>
              <a:t> 4</a:t>
            </a:r>
            <a:r>
              <a:rPr lang="en-US" b="1" dirty="0" smtClean="0">
                <a:solidFill>
                  <a:srgbClr val="000000"/>
                </a:solidFill>
                <a:latin typeface="Lucida Sans Unicode" pitchFamily="-111" charset="-52"/>
                <a:ea typeface="Lucida Sans Unicode" pitchFamily="-111" charset="-52"/>
                <a:cs typeface="Lucida Sans Unicode" pitchFamily="-111" charset="-52"/>
                <a:sym typeface="Romantic" pitchFamily="2" charset="2"/>
              </a:rPr>
              <a:t>•</a:t>
            </a:r>
            <a:r>
              <a:rPr lang="en-US" b="1" dirty="0" smtClean="0">
                <a:solidFill>
                  <a:srgbClr val="000000"/>
                </a:solidFill>
                <a:latin typeface="Lucida Sans Unicode" pitchFamily="-111" charset="-52"/>
              </a:rPr>
              <a:t>10</a:t>
            </a:r>
            <a:r>
              <a:rPr lang="en-US" b="1" baseline="30000" dirty="0" smtClean="0">
                <a:solidFill>
                  <a:srgbClr val="000000"/>
                </a:solidFill>
                <a:latin typeface="Lucida Sans Unicode" pitchFamily="-111" charset="-52"/>
                <a:ea typeface="Times New Roman" pitchFamily="-111" charset="0"/>
                <a:cs typeface="Times New Roman" pitchFamily="-111" charset="0"/>
              </a:rPr>
              <a:t>–</a:t>
            </a:r>
            <a:r>
              <a:rPr lang="en-US" b="1" baseline="30000" dirty="0" smtClean="0">
                <a:solidFill>
                  <a:srgbClr val="000000"/>
                </a:solidFill>
                <a:latin typeface="Lucida Sans Unicode" pitchFamily="-111" charset="-52"/>
              </a:rPr>
              <a:t>4 </a:t>
            </a:r>
            <a:r>
              <a:rPr lang="en-US" b="1" dirty="0" smtClean="0">
                <a:solidFill>
                  <a:srgbClr val="000000"/>
                </a:solidFill>
                <a:latin typeface="Lucida Sans Unicode" pitchFamily="-111" charset="-52"/>
                <a:sym typeface="Symbol" pitchFamily="-111" charset="2"/>
              </a:rPr>
              <a:t>GeV</a:t>
            </a:r>
            <a:r>
              <a:rPr lang="en-US" b="1" baseline="30000" dirty="0" smtClean="0">
                <a:solidFill>
                  <a:srgbClr val="000000"/>
                </a:solidFill>
                <a:latin typeface="Lucida Sans Unicode" pitchFamily="-111" charset="-52"/>
                <a:sym typeface="Symbol" pitchFamily="-111" charset="2"/>
              </a:rPr>
              <a:t>2</a:t>
            </a:r>
            <a:r>
              <a:rPr lang="en-US" b="1" baseline="30000" dirty="0" smtClean="0">
                <a:solidFill>
                  <a:srgbClr val="000000"/>
                </a:solidFill>
                <a:latin typeface="Lucida Sans Unicode" pitchFamily="-111" charset="-52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latin typeface="Lucida Sans Unicode" pitchFamily="-111" charset="-52"/>
                <a:sym typeface="Symbol" pitchFamily="-111" charset="2"/>
              </a:rPr>
              <a:t></a:t>
            </a:r>
            <a:r>
              <a:rPr lang="en-US" b="1" dirty="0" smtClean="0">
                <a:solidFill>
                  <a:srgbClr val="000000"/>
                </a:solidFill>
                <a:latin typeface="Lucida Sans Unicode" pitchFamily="-111" charset="-52"/>
                <a:sym typeface="Symbol" pitchFamily="-111" charset="2"/>
              </a:rPr>
              <a:t> |</a:t>
            </a:r>
            <a:r>
              <a:rPr lang="en-US" b="1" i="1" dirty="0" err="1" smtClean="0">
                <a:solidFill>
                  <a:srgbClr val="000000"/>
                </a:solidFill>
                <a:latin typeface="Lucida Sans Unicode" pitchFamily="-111" charset="-52"/>
                <a:sym typeface="Symbol" pitchFamily="-111" charset="2"/>
              </a:rPr>
              <a:t>t</a:t>
            </a:r>
            <a:r>
              <a:rPr lang="en-US" b="1" i="1" dirty="0" smtClean="0">
                <a:solidFill>
                  <a:srgbClr val="000000"/>
                </a:solidFill>
                <a:latin typeface="Lucida Sans Unicode" pitchFamily="-111" charset="-52"/>
                <a:sym typeface="Symbol" pitchFamily="-111" charset="2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Lucida Sans Unicode" pitchFamily="-111" charset="-52"/>
                <a:sym typeface="Symbol" pitchFamily="-111" charset="2"/>
              </a:rPr>
              <a:t>| </a:t>
            </a:r>
            <a:r>
              <a:rPr lang="en-US" b="1" dirty="0" err="1" smtClean="0">
                <a:solidFill>
                  <a:srgbClr val="000000"/>
                </a:solidFill>
                <a:latin typeface="Lucida Sans Unicode" pitchFamily="-111" charset="-52"/>
                <a:sym typeface="Symbol" pitchFamily="-111" charset="2"/>
              </a:rPr>
              <a:t></a:t>
            </a:r>
            <a:r>
              <a:rPr lang="en-US" b="1" dirty="0" smtClean="0">
                <a:solidFill>
                  <a:srgbClr val="000000"/>
                </a:solidFill>
                <a:latin typeface="Lucida Sans Unicode" pitchFamily="-111" charset="-52"/>
                <a:sym typeface="Symbol" pitchFamily="-111" charset="2"/>
              </a:rPr>
              <a:t> 0.03 GeV</a:t>
            </a:r>
            <a:r>
              <a:rPr lang="en-US" b="1" baseline="30000" dirty="0" smtClean="0">
                <a:solidFill>
                  <a:srgbClr val="000000"/>
                </a:solidFill>
                <a:latin typeface="Lucida Sans Unicode" pitchFamily="-111" charset="-52"/>
                <a:sym typeface="Symbol" pitchFamily="-111" charset="2"/>
              </a:rPr>
              <a:t>2</a:t>
            </a:r>
            <a:r>
              <a:rPr lang="en-US" dirty="0" smtClean="0"/>
              <a:t> </a:t>
            </a:r>
          </a:p>
          <a:p>
            <a:endParaRPr lang="en-US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4343400" y="6324600"/>
            <a:ext cx="447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By courtesy of S. </a:t>
            </a:r>
            <a:r>
              <a:rPr lang="en-US" dirty="0" err="1" smtClean="0"/>
              <a:t>Bueltmann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3600" dirty="0" smtClean="0"/>
              <a:t>Measurements in </a:t>
            </a:r>
            <a:r>
              <a:rPr lang="en-US" sz="3600" dirty="0" err="1" smtClean="0"/>
              <a:t>p-p</a:t>
            </a:r>
            <a:r>
              <a:rPr lang="en-US" sz="3600" dirty="0" smtClean="0"/>
              <a:t> and </a:t>
            </a:r>
            <a:r>
              <a:rPr lang="en-US" sz="3600" dirty="0" err="1" smtClean="0"/>
              <a:t>p-pbar</a:t>
            </a:r>
            <a:r>
              <a:rPr lang="en-US" sz="3600" dirty="0" smtClean="0"/>
              <a:t> Collisions </a:t>
            </a:r>
            <a:endParaRPr lang="en-US" sz="3600" dirty="0"/>
          </a:p>
        </p:txBody>
      </p:sp>
      <p:pic>
        <p:nvPicPr>
          <p:cNvPr id="5" name="Picture 4" descr="pp2pp range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2057400"/>
            <a:ext cx="4203700" cy="4648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 descr="ratio of cross sections.tif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200" y="1219200"/>
            <a:ext cx="1714500" cy="9144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6" name="TextBox 5"/>
          <p:cNvSpPr txBox="1"/>
          <p:nvPr/>
        </p:nvSpPr>
        <p:spPr>
          <a:xfrm>
            <a:off x="304800" y="1066800"/>
            <a:ext cx="3733800" cy="6001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2400" dirty="0" smtClean="0"/>
              <a:t> At large </a:t>
            </a:r>
            <a:r>
              <a:rPr lang="en-US" sz="2400" dirty="0" err="1" smtClean="0"/>
              <a:t>s</a:t>
            </a:r>
            <a:r>
              <a:rPr lang="en-US" sz="2400" dirty="0" smtClean="0"/>
              <a:t>:</a:t>
            </a:r>
          </a:p>
          <a:p>
            <a:pPr>
              <a:buFont typeface="Arial"/>
              <a:buChar char="•"/>
            </a:pPr>
            <a:endParaRPr lang="en-US" sz="2400" dirty="0" smtClean="0"/>
          </a:p>
          <a:p>
            <a:endParaRPr lang="en-US" sz="2400" dirty="0" smtClean="0"/>
          </a:p>
          <a:p>
            <a:pPr>
              <a:buFont typeface="Arial"/>
              <a:buChar char="•"/>
            </a:pPr>
            <a:r>
              <a:rPr lang="en-US" sz="2400" dirty="0" smtClean="0"/>
              <a:t> Measure </a:t>
            </a:r>
            <a:r>
              <a:rPr lang="en-US" sz="2400" dirty="0" err="1" smtClean="0"/>
              <a:t>p-p</a:t>
            </a:r>
            <a:r>
              <a:rPr lang="en-US" sz="2400" dirty="0" smtClean="0"/>
              <a:t> </a:t>
            </a:r>
            <a:r>
              <a:rPr lang="en-US" sz="2400" b="1" dirty="0" smtClean="0"/>
              <a:t>total cross </a:t>
            </a:r>
          </a:p>
          <a:p>
            <a:r>
              <a:rPr lang="en-US" sz="2400" b="1" dirty="0" smtClean="0"/>
              <a:t>  section </a:t>
            </a:r>
            <a:r>
              <a:rPr lang="en-US" sz="2400" dirty="0" smtClean="0"/>
              <a:t>at the uncovered </a:t>
            </a:r>
          </a:p>
          <a:p>
            <a:r>
              <a:rPr lang="en-US" sz="2400" dirty="0" smtClean="0"/>
              <a:t>  energy range and</a:t>
            </a:r>
          </a:p>
          <a:p>
            <a:r>
              <a:rPr lang="en-US" sz="2400" dirty="0" smtClean="0"/>
              <a:t>  compare to </a:t>
            </a:r>
            <a:r>
              <a:rPr lang="en-US" sz="2400" dirty="0" err="1" smtClean="0"/>
              <a:t>p-pbar</a:t>
            </a:r>
            <a:endParaRPr lang="en-US" sz="2400" dirty="0" smtClean="0"/>
          </a:p>
          <a:p>
            <a:endParaRPr lang="en-US" sz="2400" dirty="0" smtClean="0"/>
          </a:p>
          <a:p>
            <a:pPr>
              <a:buFont typeface="Arial"/>
              <a:buChar char="•"/>
            </a:pPr>
            <a:r>
              <a:rPr lang="en-US" sz="2400" dirty="0" smtClean="0"/>
              <a:t> </a:t>
            </a:r>
            <a:r>
              <a:rPr lang="en-US" sz="2400" b="1" dirty="0" err="1" smtClean="0"/>
              <a:t>ρ</a:t>
            </a:r>
            <a:r>
              <a:rPr lang="en-US" sz="2400" b="1" dirty="0" smtClean="0"/>
              <a:t>: </a:t>
            </a:r>
            <a:r>
              <a:rPr lang="en-US" sz="2400" dirty="0" smtClean="0"/>
              <a:t>ratio of real to </a:t>
            </a:r>
          </a:p>
          <a:p>
            <a:r>
              <a:rPr lang="en-US" sz="2400" dirty="0" smtClean="0"/>
              <a:t>  imaginary part of nuclear </a:t>
            </a:r>
          </a:p>
          <a:p>
            <a:r>
              <a:rPr lang="en-US" sz="2400" dirty="0" smtClean="0"/>
              <a:t>  amplitude at </a:t>
            </a:r>
            <a:r>
              <a:rPr lang="en-US" sz="2400" dirty="0" err="1" smtClean="0"/>
              <a:t>t</a:t>
            </a:r>
            <a:r>
              <a:rPr lang="en-US" sz="2400" dirty="0" smtClean="0"/>
              <a:t> = 0</a:t>
            </a:r>
          </a:p>
          <a:p>
            <a:endParaRPr lang="en-US" sz="2400" dirty="0" smtClean="0"/>
          </a:p>
          <a:p>
            <a:pPr>
              <a:buFont typeface="Arial"/>
              <a:buChar char="•"/>
            </a:pPr>
            <a:r>
              <a:rPr lang="en-US" sz="2400" dirty="0" smtClean="0"/>
              <a:t> </a:t>
            </a:r>
            <a:r>
              <a:rPr lang="en-US" sz="2400" b="1" dirty="0" err="1" smtClean="0"/>
              <a:t>b</a:t>
            </a:r>
            <a:r>
              <a:rPr lang="en-US" sz="2400" b="1" dirty="0" smtClean="0"/>
              <a:t>: </a:t>
            </a:r>
            <a:r>
              <a:rPr lang="en-US" sz="2400" dirty="0" smtClean="0"/>
              <a:t>the nuclear slope </a:t>
            </a:r>
          </a:p>
          <a:p>
            <a:r>
              <a:rPr lang="en-US" sz="2400" dirty="0" smtClean="0"/>
              <a:t>  parameter</a:t>
            </a:r>
          </a:p>
          <a:p>
            <a:pPr>
              <a:buFont typeface="Arial"/>
              <a:buChar char="•"/>
            </a:pPr>
            <a:endParaRPr lang="en-US" sz="2400" dirty="0" smtClean="0"/>
          </a:p>
          <a:p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7239000" y="1371600"/>
            <a:ext cx="13843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Tevatron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105400" y="137160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ISR at CERN</a:t>
            </a:r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 rot="5400000" flipH="1" flipV="1">
            <a:off x="7429500" y="2019300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0" idx="2"/>
          </p:cNvCxnSpPr>
          <p:nvPr/>
        </p:nvCxnSpPr>
        <p:spPr>
          <a:xfrm rot="5400000" flipH="1" flipV="1">
            <a:off x="5442466" y="2318266"/>
            <a:ext cx="1154668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-3810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Roman Pots</a:t>
            </a:r>
            <a:endParaRPr lang="en-US" dirty="0"/>
          </a:p>
        </p:txBody>
      </p:sp>
      <p:pic>
        <p:nvPicPr>
          <p:cNvPr id="7" name="Picture 6" descr="vertical RP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97000"/>
            <a:ext cx="4419600" cy="5156200"/>
          </a:xfrm>
          <a:prstGeom prst="rect">
            <a:avLst/>
          </a:prstGeom>
        </p:spPr>
      </p:pic>
      <p:pic>
        <p:nvPicPr>
          <p:cNvPr id="8" name="Picture 7" descr="pots.tif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200" y="762000"/>
            <a:ext cx="2590800" cy="2089356"/>
          </a:xfrm>
          <a:prstGeom prst="rect">
            <a:avLst/>
          </a:prstGeom>
        </p:spPr>
      </p:pic>
      <p:pic>
        <p:nvPicPr>
          <p:cNvPr id="9" name="Picture 8" descr="RP design.tif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200" y="4114800"/>
            <a:ext cx="2590800" cy="24468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0" y="1447800"/>
            <a:ext cx="24384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2800" dirty="0" smtClean="0"/>
              <a:t> Cylindrical </a:t>
            </a:r>
          </a:p>
          <a:p>
            <a:r>
              <a:rPr lang="en-US" sz="2800" dirty="0" smtClean="0"/>
              <a:t>  vessels that   </a:t>
            </a:r>
          </a:p>
          <a:p>
            <a:r>
              <a:rPr lang="en-US" sz="2800" dirty="0" smtClean="0"/>
              <a:t>  house the  </a:t>
            </a:r>
          </a:p>
          <a:p>
            <a:r>
              <a:rPr lang="en-US" sz="2800" dirty="0" smtClean="0"/>
              <a:t>  detectors. </a:t>
            </a:r>
          </a:p>
          <a:p>
            <a:endParaRPr lang="en-US" sz="2800" dirty="0" smtClean="0"/>
          </a:p>
          <a:p>
            <a:pPr>
              <a:buFont typeface="Arial"/>
              <a:buChar char="•"/>
            </a:pPr>
            <a:r>
              <a:rPr lang="en-US" sz="2800" dirty="0" smtClean="0"/>
              <a:t> Can be </a:t>
            </a:r>
          </a:p>
          <a:p>
            <a:r>
              <a:rPr lang="en-US" sz="2800" dirty="0" smtClean="0"/>
              <a:t>  inserted </a:t>
            </a:r>
          </a:p>
          <a:p>
            <a:r>
              <a:rPr lang="en-US" sz="2800" dirty="0" smtClean="0"/>
              <a:t>  close to the </a:t>
            </a:r>
          </a:p>
          <a:p>
            <a:r>
              <a:rPr lang="en-US" sz="2800" dirty="0" smtClean="0"/>
              <a:t>  beam for  </a:t>
            </a:r>
          </a:p>
          <a:p>
            <a:r>
              <a:rPr lang="en-US" sz="2800" dirty="0" smtClean="0"/>
              <a:t>  data taking. 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algn="ctr"/>
            <a:r>
              <a:rPr lang="en-US" dirty="0" smtClean="0"/>
              <a:t>Silicon Strip Detectors</a:t>
            </a:r>
            <a:endParaRPr lang="en-US" dirty="0"/>
          </a:p>
        </p:txBody>
      </p:sp>
      <p:pic>
        <p:nvPicPr>
          <p:cNvPr id="4" name="Picture 3" descr="sil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752600"/>
            <a:ext cx="4038534" cy="1905000"/>
          </a:xfrm>
          <a:prstGeom prst="rect">
            <a:avLst/>
          </a:prstGeom>
          <a:scene3d>
            <a:camera prst="orthographicFront">
              <a:rot lat="300000" lon="0" rev="0"/>
            </a:camera>
            <a:lightRig rig="threePt" dir="t"/>
          </a:scene3d>
        </p:spPr>
      </p:pic>
      <p:sp>
        <p:nvSpPr>
          <p:cNvPr id="6" name="TextBox 5"/>
          <p:cNvSpPr txBox="1"/>
          <p:nvPr/>
        </p:nvSpPr>
        <p:spPr>
          <a:xfrm>
            <a:off x="152400" y="1290935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Silicon Detector Package for One Pot</a:t>
            </a:r>
            <a:endParaRPr lang="en-US" sz="2400" dirty="0"/>
          </a:p>
        </p:txBody>
      </p:sp>
      <p:pic>
        <p:nvPicPr>
          <p:cNvPr id="7" name="Picture 6" descr="detector board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391" y="1727200"/>
            <a:ext cx="2407009" cy="1930400"/>
          </a:xfrm>
          <a:prstGeom prst="rect">
            <a:avLst/>
          </a:prstGeom>
        </p:spPr>
      </p:pic>
      <p:pic>
        <p:nvPicPr>
          <p:cNvPr id="8" name="Picture 7" descr="strip detector.tif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727201"/>
            <a:ext cx="2438400" cy="1930400"/>
          </a:xfrm>
          <a:prstGeom prst="rect">
            <a:avLst/>
          </a:prstGeom>
        </p:spPr>
      </p:pic>
      <p:pic>
        <p:nvPicPr>
          <p:cNvPr id="9" name="Picture 8" descr="trigger scintillator.tif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753427"/>
            <a:ext cx="2540000" cy="27997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2768600" y="4038600"/>
            <a:ext cx="6299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2400" dirty="0" smtClean="0"/>
              <a:t>Hamamatsu Silicon Strip Detectors</a:t>
            </a:r>
          </a:p>
          <a:p>
            <a:pPr>
              <a:buFont typeface="Arial"/>
              <a:buChar char="•"/>
            </a:pPr>
            <a:r>
              <a:rPr lang="en-US" sz="2400" dirty="0" smtClean="0"/>
              <a:t>Two types: </a:t>
            </a:r>
          </a:p>
          <a:p>
            <a:pPr lvl="1">
              <a:buFont typeface="Arial"/>
              <a:buChar char="•"/>
            </a:pPr>
            <a:r>
              <a:rPr lang="en-US" sz="2400" dirty="0" smtClean="0"/>
              <a:t> X-View : vertical strips</a:t>
            </a:r>
          </a:p>
          <a:p>
            <a:pPr lvl="1">
              <a:buFont typeface="Arial"/>
              <a:buChar char="•"/>
            </a:pPr>
            <a:r>
              <a:rPr lang="en-US" sz="2400" dirty="0" smtClean="0"/>
              <a:t> Y-View : horizontal strips</a:t>
            </a:r>
          </a:p>
          <a:p>
            <a:pPr>
              <a:buFont typeface="Arial"/>
              <a:buChar char="•"/>
            </a:pPr>
            <a:r>
              <a:rPr lang="en-US" sz="2400" dirty="0" smtClean="0"/>
              <a:t> 500 um cut edge to first strip closest to beam</a:t>
            </a:r>
          </a:p>
          <a:p>
            <a:pPr>
              <a:buFont typeface="Arial"/>
              <a:buChar char="•"/>
            </a:pPr>
            <a:r>
              <a:rPr lang="en-US" sz="2400" dirty="0" smtClean="0"/>
              <a:t> 74 </a:t>
            </a:r>
            <a:r>
              <a:rPr lang="en-US" sz="2400" dirty="0" err="1" smtClean="0"/>
              <a:t>x</a:t>
            </a:r>
            <a:r>
              <a:rPr lang="en-US" sz="2400" dirty="0" smtClean="0"/>
              <a:t> 45 mm area, 400 um thick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pPr algn="ctr"/>
            <a:r>
              <a:rPr lang="en-US" dirty="0" smtClean="0"/>
              <a:t>Experimental Layout</a:t>
            </a:r>
            <a:endParaRPr lang="en-US" dirty="0"/>
          </a:p>
        </p:txBody>
      </p:sp>
      <p:pic>
        <p:nvPicPr>
          <p:cNvPr id="6" name="Picture 5" descr="Exp Lay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676400"/>
            <a:ext cx="6248400" cy="4876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 descr="y position in arm A.tif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676400"/>
            <a:ext cx="2057400" cy="2438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781800" y="4114800"/>
            <a:ext cx="18288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 smtClean="0"/>
              <a:t>Collinearity</a:t>
            </a:r>
            <a:r>
              <a:rPr lang="en-US" sz="2400" dirty="0" smtClean="0"/>
              <a:t> condition for elastic events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 smtClean="0"/>
              <a:t>Measurement Technique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Very forward detectors detect protons that scatter elastically at very small angles. </a:t>
            </a:r>
          </a:p>
          <a:p>
            <a:r>
              <a:rPr lang="en-US" dirty="0" smtClean="0"/>
              <a:t>Detectors are at a position where the scattered protons are well separated from beam protons.</a:t>
            </a:r>
          </a:p>
          <a:p>
            <a:r>
              <a:rPr lang="en-US" dirty="0" smtClean="0"/>
              <a:t>Trajectories of scattered particles are determined by  the </a:t>
            </a:r>
            <a:r>
              <a:rPr lang="en-US" u="sng" dirty="0" smtClean="0"/>
              <a:t>beam transport equations</a:t>
            </a:r>
            <a:r>
              <a:rPr lang="en-US" dirty="0" smtClean="0"/>
              <a:t>: (* = at IP)</a:t>
            </a:r>
          </a:p>
          <a:p>
            <a:r>
              <a:rPr lang="en-US" dirty="0" smtClean="0"/>
              <a:t>a</a:t>
            </a:r>
            <a:r>
              <a:rPr lang="en-US" baseline="-25000" dirty="0" smtClean="0"/>
              <a:t>11</a:t>
            </a:r>
            <a:r>
              <a:rPr lang="en-US" dirty="0" smtClean="0"/>
              <a:t>, </a:t>
            </a:r>
            <a:r>
              <a:rPr lang="en-US" dirty="0" err="1" smtClean="0"/>
              <a:t>L</a:t>
            </a:r>
            <a:r>
              <a:rPr lang="en-US" baseline="-25000" dirty="0" err="1" smtClean="0"/>
              <a:t>eff</a:t>
            </a:r>
            <a:r>
              <a:rPr lang="en-US" dirty="0" smtClean="0"/>
              <a:t>, a</a:t>
            </a:r>
            <a:r>
              <a:rPr lang="en-US" baseline="-25000" dirty="0" smtClean="0"/>
              <a:t>12</a:t>
            </a:r>
            <a:r>
              <a:rPr lang="en-US" dirty="0" smtClean="0"/>
              <a:t>, a</a:t>
            </a:r>
            <a:r>
              <a:rPr lang="en-US" baseline="-25000" dirty="0" smtClean="0"/>
              <a:t>22</a:t>
            </a:r>
            <a:r>
              <a:rPr lang="en-US" dirty="0" smtClean="0"/>
              <a:t> are the beam transport matrix elements</a:t>
            </a:r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err="1" smtClean="0"/>
              <a:t>y</a:t>
            </a:r>
            <a:r>
              <a:rPr lang="en-US" dirty="0" smtClean="0"/>
              <a:t> = a</a:t>
            </a:r>
            <a:r>
              <a:rPr lang="en-US" baseline="-25000" dirty="0" smtClean="0"/>
              <a:t>11</a:t>
            </a:r>
            <a:r>
              <a:rPr lang="en-US" dirty="0" smtClean="0"/>
              <a:t>y</a:t>
            </a:r>
            <a:r>
              <a:rPr lang="en-US" baseline="30000" dirty="0" smtClean="0"/>
              <a:t>*</a:t>
            </a:r>
            <a:r>
              <a:rPr lang="en-US" dirty="0" smtClean="0"/>
              <a:t> + </a:t>
            </a:r>
            <a:r>
              <a:rPr lang="en-US" dirty="0" err="1" smtClean="0"/>
              <a:t>L</a:t>
            </a:r>
            <a:r>
              <a:rPr lang="en-US" baseline="-25000" dirty="0" err="1" smtClean="0"/>
              <a:t>eff</a:t>
            </a:r>
            <a:r>
              <a:rPr lang="en-US" dirty="0" err="1" smtClean="0"/>
              <a:t>θ</a:t>
            </a:r>
            <a:r>
              <a:rPr lang="en-US" baseline="30000" dirty="0" smtClean="0"/>
              <a:t>*</a:t>
            </a:r>
            <a:r>
              <a:rPr lang="en-US" baseline="-25000" dirty="0" err="1" smtClean="0"/>
              <a:t>y</a:t>
            </a:r>
            <a:r>
              <a:rPr lang="en-US" baseline="-25000" dirty="0" smtClean="0"/>
              <a:t> </a:t>
            </a:r>
          </a:p>
          <a:p>
            <a:pPr algn="ctr">
              <a:buNone/>
            </a:pPr>
            <a:endParaRPr lang="en-US" baseline="-25000" dirty="0" smtClean="0"/>
          </a:p>
          <a:p>
            <a:pPr algn="ctr">
              <a:buNone/>
            </a:pPr>
            <a:r>
              <a:rPr lang="en-US" dirty="0" smtClean="0"/>
              <a:t> </a:t>
            </a:r>
            <a:r>
              <a:rPr lang="en-US" dirty="0" err="1" smtClean="0"/>
              <a:t>θ</a:t>
            </a:r>
            <a:r>
              <a:rPr lang="en-US" baseline="-25000" dirty="0" err="1" smtClean="0"/>
              <a:t>y</a:t>
            </a:r>
            <a:r>
              <a:rPr lang="en-US" dirty="0" smtClean="0"/>
              <a:t> = a</a:t>
            </a:r>
            <a:r>
              <a:rPr lang="en-US" baseline="-25000" dirty="0" smtClean="0"/>
              <a:t>12</a:t>
            </a:r>
            <a:r>
              <a:rPr lang="en-US" dirty="0" smtClean="0"/>
              <a:t>y</a:t>
            </a:r>
            <a:r>
              <a:rPr lang="en-US" baseline="30000" dirty="0" smtClean="0"/>
              <a:t>*</a:t>
            </a:r>
            <a:r>
              <a:rPr lang="en-US" dirty="0" smtClean="0"/>
              <a:t> + a</a:t>
            </a:r>
            <a:r>
              <a:rPr lang="en-US" baseline="-25000" dirty="0" smtClean="0"/>
              <a:t>22</a:t>
            </a:r>
            <a:r>
              <a:rPr lang="en-US" dirty="0" smtClean="0"/>
              <a:t>θ</a:t>
            </a:r>
            <a:r>
              <a:rPr lang="en-US" baseline="30000" dirty="0" smtClean="0"/>
              <a:t>*</a:t>
            </a:r>
            <a:r>
              <a:rPr lang="en-US" baseline="-25000" dirty="0" err="1" smtClean="0"/>
              <a:t>y</a:t>
            </a:r>
            <a:r>
              <a:rPr lang="en-US" dirty="0" smtClean="0"/>
              <a:t> </a:t>
            </a:r>
          </a:p>
          <a:p>
            <a:pPr algn="ctr">
              <a:buNone/>
            </a:pPr>
            <a:r>
              <a:rPr lang="en-US" dirty="0" smtClean="0"/>
              <a:t> </a:t>
            </a:r>
          </a:p>
          <a:p>
            <a:r>
              <a:rPr lang="en-US" dirty="0" smtClean="0"/>
              <a:t>Let a</a:t>
            </a:r>
            <a:r>
              <a:rPr lang="en-US" baseline="-25000" dirty="0" smtClean="0"/>
              <a:t>11</a:t>
            </a:r>
            <a:r>
              <a:rPr lang="en-US" dirty="0" smtClean="0"/>
              <a:t>~0, “parallel to point focusing”, measure only </a:t>
            </a:r>
            <a:r>
              <a:rPr lang="en-US" dirty="0" err="1" smtClean="0"/>
              <a:t>y</a:t>
            </a:r>
            <a:r>
              <a:rPr lang="en-US" dirty="0" smtClean="0"/>
              <a:t> and extract the scattering angle </a:t>
            </a:r>
            <a:r>
              <a:rPr lang="en-US" dirty="0" err="1" smtClean="0"/>
              <a:t>θ</a:t>
            </a:r>
            <a:r>
              <a:rPr lang="en-US" baseline="30000" dirty="0" smtClean="0"/>
              <a:t>*</a:t>
            </a:r>
            <a:r>
              <a:rPr lang="en-US" baseline="-25000" dirty="0" err="1" smtClean="0"/>
              <a:t>y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400" dirty="0" smtClean="0"/>
              <a:t>Slope Parameter (at </a:t>
            </a:r>
            <a:r>
              <a:rPr lang="en-US" sz="4400" b="1" dirty="0" err="1" smtClean="0">
                <a:latin typeface="Lucida Sans Unicode" pitchFamily="-111" charset="-52"/>
                <a:sym typeface="Symbol" pitchFamily="-111" charset="2"/>
              </a:rPr>
              <a:t>s</a:t>
            </a:r>
            <a:r>
              <a:rPr lang="en-US" sz="4400" b="1" dirty="0" smtClean="0">
                <a:latin typeface="Lucida Sans Unicode" pitchFamily="-111" charset="-52"/>
                <a:sym typeface="Symbol" pitchFamily="-111" charset="2"/>
              </a:rPr>
              <a:t> = 200 </a:t>
            </a:r>
            <a:r>
              <a:rPr lang="en-US" sz="4400" b="1" dirty="0" err="1" smtClean="0">
                <a:latin typeface="Lucida Sans Unicode" pitchFamily="-111" charset="-52"/>
                <a:sym typeface="Symbol" pitchFamily="-111" charset="2"/>
              </a:rPr>
              <a:t>GeV</a:t>
            </a:r>
            <a:r>
              <a:rPr lang="en-US" sz="4400" b="1" dirty="0" smtClean="0">
                <a:latin typeface="Lucida Sans Unicode" pitchFamily="-111" charset="-52"/>
                <a:sym typeface="Symbol" pitchFamily="-111" charset="2"/>
              </a:rPr>
              <a:t>)</a:t>
            </a:r>
            <a:endParaRPr lang="en-US" sz="4400" dirty="0"/>
          </a:p>
        </p:txBody>
      </p:sp>
      <p:pic>
        <p:nvPicPr>
          <p:cNvPr id="4" name="Picture 3" descr="extracting b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52600"/>
            <a:ext cx="4254500" cy="37338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5" name="TextBox 4"/>
          <p:cNvSpPr txBox="1"/>
          <p:nvPr/>
        </p:nvSpPr>
        <p:spPr>
          <a:xfrm>
            <a:off x="457200" y="5486399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By courtesy of  S. </a:t>
            </a:r>
            <a:r>
              <a:rPr lang="en-US" dirty="0" err="1" smtClean="0"/>
              <a:t>Bueltmann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737100" y="2465082"/>
            <a:ext cx="3949700" cy="3859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en-US" sz="2400" dirty="0" smtClean="0"/>
              <a:t>Fit with equation that represents differential elastic cross section. </a:t>
            </a:r>
            <a:r>
              <a:rPr lang="en-US" sz="2400" dirty="0" smtClean="0">
                <a:latin typeface="Lucida Sans Unicode" pitchFamily="-111" charset="-52"/>
                <a:ea typeface="Lucida Sans Unicode" pitchFamily="-111" charset="-52"/>
                <a:cs typeface="Lucida Sans Unicode" pitchFamily="-111" charset="-52"/>
                <a:sym typeface="Symbol" pitchFamily="-111" charset="2"/>
              </a:rPr>
              <a:t>Using</a:t>
            </a:r>
            <a:r>
              <a:rPr lang="en-US" sz="2400" b="1" dirty="0" smtClean="0">
                <a:latin typeface="Lucida Sans Unicode" pitchFamily="-111" charset="-52"/>
                <a:ea typeface="Lucida Sans Unicode" pitchFamily="-111" charset="-52"/>
                <a:cs typeface="Lucida Sans Unicode" pitchFamily="-111" charset="-52"/>
                <a:sym typeface="Symbol" pitchFamily="-111" charset="2"/>
              </a:rPr>
              <a:t> </a:t>
            </a:r>
            <a:r>
              <a:rPr lang="en-US" sz="2400" dirty="0" err="1" smtClean="0">
                <a:latin typeface="Symbol" pitchFamily="-111" charset="2"/>
              </a:rPr>
              <a:t>s</a:t>
            </a:r>
            <a:r>
              <a:rPr lang="en-US" sz="2400" baseline="-25000" dirty="0" err="1" smtClean="0">
                <a:latin typeface="Lucida Sans Unicode" pitchFamily="-111" charset="-52"/>
              </a:rPr>
              <a:t>tot</a:t>
            </a:r>
            <a:r>
              <a:rPr lang="en-US" sz="2400" dirty="0" smtClean="0">
                <a:latin typeface="Symbol" pitchFamily="-111" charset="2"/>
              </a:rPr>
              <a:t> </a:t>
            </a:r>
            <a:r>
              <a:rPr lang="en-US" sz="2400" dirty="0" smtClean="0"/>
              <a:t>= 51.6 </a:t>
            </a:r>
            <a:r>
              <a:rPr lang="en-US" sz="2400" dirty="0" err="1" smtClean="0"/>
              <a:t>mb</a:t>
            </a:r>
            <a:r>
              <a:rPr lang="en-US" sz="2400" dirty="0" smtClean="0"/>
              <a:t>, </a:t>
            </a:r>
            <a:r>
              <a:rPr lang="en-US" sz="2400" dirty="0" err="1" smtClean="0">
                <a:latin typeface="Symbol" pitchFamily="-111" charset="2"/>
              </a:rPr>
              <a:t>r</a:t>
            </a:r>
            <a:r>
              <a:rPr lang="en-US" sz="2400" dirty="0" smtClean="0">
                <a:latin typeface="Symbol" pitchFamily="-111" charset="2"/>
              </a:rPr>
              <a:t> </a:t>
            </a:r>
            <a:r>
              <a:rPr lang="en-US" sz="2400" dirty="0" smtClean="0"/>
              <a:t>= 0.13 and the final selection of 58.511 elastic events, extract </a:t>
            </a:r>
            <a:r>
              <a:rPr lang="en-US" sz="2400" dirty="0" err="1" smtClean="0"/>
              <a:t>b</a:t>
            </a:r>
            <a:r>
              <a:rPr lang="en-US" sz="2400" dirty="0" smtClean="0"/>
              <a:t>:</a:t>
            </a:r>
            <a:endParaRPr lang="en-US" sz="2400" dirty="0" smtClean="0">
              <a:latin typeface="Lucida Sans Unicode" pitchFamily="-111" charset="-52"/>
              <a:ea typeface="Lucida Sans Unicode" pitchFamily="-111" charset="-52"/>
              <a:cs typeface="Lucida Sans Unicode" pitchFamily="-111" charset="-52"/>
              <a:sym typeface="Symbol" pitchFamily="-111" charset="2"/>
            </a:endParaRPr>
          </a:p>
          <a:p>
            <a:pPr>
              <a:spcBef>
                <a:spcPct val="50000"/>
              </a:spcBef>
            </a:pPr>
            <a:r>
              <a:rPr lang="en-US" sz="2400" b="1" i="1" dirty="0" smtClean="0"/>
              <a:t>         </a:t>
            </a:r>
            <a:r>
              <a:rPr lang="en-US" sz="2400" b="1" i="1" dirty="0" err="1" smtClean="0"/>
              <a:t>b</a:t>
            </a:r>
            <a:r>
              <a:rPr lang="en-US" sz="2400" b="1" dirty="0" smtClean="0"/>
              <a:t> = 16.3 </a:t>
            </a:r>
            <a:r>
              <a:rPr lang="en-US" sz="2400" b="1" dirty="0" err="1" smtClean="0">
                <a:sym typeface="Symbol" pitchFamily="-111" charset="2"/>
              </a:rPr>
              <a:t></a:t>
            </a:r>
            <a:r>
              <a:rPr lang="en-US" sz="2400" b="1" dirty="0" smtClean="0"/>
              <a:t> 1.6(stat.)</a:t>
            </a:r>
            <a:r>
              <a:rPr lang="en-US" sz="2400" b="1" dirty="0" smtClean="0">
                <a:sym typeface="Symbol" pitchFamily="-111" charset="2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sz="2400" b="1" dirty="0" smtClean="0">
                <a:sym typeface="Symbol" pitchFamily="-111" charset="2"/>
              </a:rPr>
              <a:t>          </a:t>
            </a:r>
            <a:r>
              <a:rPr lang="en-US" sz="2400" b="1" dirty="0" err="1" smtClean="0">
                <a:sym typeface="Symbol" pitchFamily="-111" charset="2"/>
              </a:rPr>
              <a:t></a:t>
            </a:r>
            <a:r>
              <a:rPr lang="en-US" sz="2400" b="1" dirty="0" smtClean="0">
                <a:sym typeface="Symbol" pitchFamily="-111" charset="2"/>
              </a:rPr>
              <a:t> </a:t>
            </a:r>
            <a:r>
              <a:rPr lang="en-US" sz="2400" b="1" dirty="0" smtClean="0"/>
              <a:t>0.9(sys.)  (GeV/c)</a:t>
            </a:r>
            <a:r>
              <a:rPr lang="en-US" sz="2400" b="1" baseline="30000" dirty="0" smtClean="0"/>
              <a:t>-2</a:t>
            </a:r>
            <a:endParaRPr 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737100" y="1752600"/>
            <a:ext cx="3949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 -</a:t>
            </a:r>
            <a:r>
              <a:rPr lang="en-US" sz="2800" b="1" dirty="0" err="1" smtClean="0"/>
              <a:t>t</a:t>
            </a:r>
            <a:r>
              <a:rPr lang="en-US" sz="2800" b="1" dirty="0" smtClean="0"/>
              <a:t> = (</a:t>
            </a:r>
            <a:r>
              <a:rPr lang="en-US" sz="2800" b="1" dirty="0" err="1" smtClean="0"/>
              <a:t>p</a:t>
            </a:r>
            <a:r>
              <a:rPr lang="en-US" sz="2800" b="1" baseline="30000" dirty="0" smtClean="0"/>
              <a:t>*</a:t>
            </a:r>
            <a:r>
              <a:rPr lang="en-US" sz="2800" b="1" dirty="0" smtClean="0"/>
              <a:t>θ)</a:t>
            </a:r>
            <a:r>
              <a:rPr lang="en-US" sz="2800" b="1" baseline="30000" dirty="0" smtClean="0"/>
              <a:t>2</a:t>
            </a:r>
            <a:endParaRPr lang="en-US" sz="2800" b="1" baseline="30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57400" y="76200"/>
            <a:ext cx="1905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RHIC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533400" y="990600"/>
            <a:ext cx="190500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Heavy Ion Collisions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3733800" y="997803"/>
            <a:ext cx="266700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Polarized Proton Collisions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2590800" y="2205335"/>
            <a:ext cx="1905000" cy="1200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Elastic Scattering</a:t>
            </a:r>
          </a:p>
          <a:p>
            <a:pPr algn="ctr"/>
            <a:r>
              <a:rPr lang="en-US" sz="2400" u="sng" dirty="0" smtClean="0"/>
              <a:t>PP2PP</a:t>
            </a:r>
            <a:endParaRPr lang="en-US" sz="2400" u="sng" dirty="0"/>
          </a:p>
        </p:txBody>
      </p:sp>
      <p:sp>
        <p:nvSpPr>
          <p:cNvPr id="8" name="TextBox 7"/>
          <p:cNvSpPr txBox="1"/>
          <p:nvPr/>
        </p:nvSpPr>
        <p:spPr>
          <a:xfrm>
            <a:off x="5638800" y="2205335"/>
            <a:ext cx="190500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Inelastic Scattering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3611940"/>
            <a:ext cx="236220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FF0000"/>
                </a:solidFill>
              </a:rPr>
              <a:t>Forward Scattering 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</a:rPr>
              <a:t>(small </a:t>
            </a:r>
            <a:r>
              <a:rPr lang="en-US" sz="2400" dirty="0" err="1" smtClean="0">
                <a:solidFill>
                  <a:srgbClr val="FF0000"/>
                </a:solidFill>
              </a:rPr>
              <a:t>t</a:t>
            </a:r>
            <a:r>
              <a:rPr lang="en-US" sz="2400" dirty="0" smtClean="0">
                <a:solidFill>
                  <a:srgbClr val="FF0000"/>
                </a:solidFill>
              </a:rPr>
              <a:t>)</a:t>
            </a:r>
          </a:p>
          <a:p>
            <a:pPr algn="ctr"/>
            <a:r>
              <a:rPr lang="en-US" sz="2400" u="sng" dirty="0" smtClean="0">
                <a:solidFill>
                  <a:srgbClr val="FF0000"/>
                </a:solidFill>
              </a:rPr>
              <a:t>Existing PP2PP</a:t>
            </a:r>
            <a:endParaRPr lang="en-US" sz="2400" u="sng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91000" y="3840540"/>
            <a:ext cx="190500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Elastic Differential Cross Section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676400" y="5634335"/>
            <a:ext cx="190500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Coulomb Interaction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4191000" y="5943600"/>
            <a:ext cx="1905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CNI  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6781800" y="5562600"/>
            <a:ext cx="190500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 smtClean="0"/>
              <a:t>Hadronic</a:t>
            </a:r>
            <a:r>
              <a:rPr lang="en-US" sz="2400" dirty="0" smtClean="0"/>
              <a:t> Interaction </a:t>
            </a:r>
            <a:endParaRPr lang="en-US" sz="2400" dirty="0"/>
          </a:p>
        </p:txBody>
      </p:sp>
      <p:cxnSp>
        <p:nvCxnSpPr>
          <p:cNvPr id="16" name="Straight Arrow Connector 15"/>
          <p:cNvCxnSpPr/>
          <p:nvPr/>
        </p:nvCxnSpPr>
        <p:spPr>
          <a:xfrm rot="10800000" flipV="1">
            <a:off x="1371600" y="537864"/>
            <a:ext cx="1066800" cy="4527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3581400" y="537863"/>
            <a:ext cx="1524000" cy="4527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10800000" flipV="1">
            <a:off x="3581400" y="1828799"/>
            <a:ext cx="609600" cy="3765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8" idx="0"/>
          </p:cNvCxnSpPr>
          <p:nvPr/>
        </p:nvCxnSpPr>
        <p:spPr>
          <a:xfrm>
            <a:off x="5638800" y="1821597"/>
            <a:ext cx="952500" cy="38373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7" idx="2"/>
          </p:cNvCxnSpPr>
          <p:nvPr/>
        </p:nvCxnSpPr>
        <p:spPr>
          <a:xfrm rot="16200000" flipH="1">
            <a:off x="4106912" y="2842051"/>
            <a:ext cx="434877" cy="1562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1" idx="1"/>
            <a:endCxn id="12" idx="0"/>
          </p:cNvCxnSpPr>
          <p:nvPr/>
        </p:nvCxnSpPr>
        <p:spPr>
          <a:xfrm rot="10800000" flipV="1">
            <a:off x="2628900" y="4625369"/>
            <a:ext cx="1562100" cy="10089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1" idx="2"/>
            <a:endCxn id="13" idx="0"/>
          </p:cNvCxnSpPr>
          <p:nvPr/>
        </p:nvCxnSpPr>
        <p:spPr>
          <a:xfrm rot="5400000">
            <a:off x="4876800" y="5676900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1" idx="3"/>
            <a:endCxn id="14" idx="0"/>
          </p:cNvCxnSpPr>
          <p:nvPr/>
        </p:nvCxnSpPr>
        <p:spPr>
          <a:xfrm>
            <a:off x="6096000" y="4625370"/>
            <a:ext cx="1638300" cy="9372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229600" cy="5334000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US" sz="3200" dirty="0" smtClean="0">
              <a:solidFill>
                <a:srgbClr val="FF0000"/>
              </a:solidFill>
            </a:endParaRPr>
          </a:p>
          <a:p>
            <a:pPr algn="ctr">
              <a:buNone/>
            </a:pPr>
            <a:r>
              <a:rPr lang="en-US" sz="4400" dirty="0" smtClean="0">
                <a:solidFill>
                  <a:srgbClr val="FF0000"/>
                </a:solidFill>
              </a:rPr>
              <a:t>Best Wishes to Everybody</a:t>
            </a:r>
          </a:p>
          <a:p>
            <a:pPr algn="ctr">
              <a:buNone/>
            </a:pPr>
            <a:endParaRPr lang="en-US" sz="4400" dirty="0" smtClean="0">
              <a:solidFill>
                <a:srgbClr val="FF0000"/>
              </a:solidFill>
            </a:endParaRPr>
          </a:p>
          <a:p>
            <a:pPr algn="ctr">
              <a:buNone/>
            </a:pPr>
            <a:r>
              <a:rPr lang="en-US" sz="4400" dirty="0" smtClean="0">
                <a:solidFill>
                  <a:srgbClr val="FF0000"/>
                </a:solidFill>
              </a:rPr>
              <a:t> and</a:t>
            </a:r>
          </a:p>
          <a:p>
            <a:pPr algn="ctr">
              <a:buNone/>
            </a:pPr>
            <a:endParaRPr lang="en-US" sz="4400" dirty="0" smtClean="0">
              <a:solidFill>
                <a:srgbClr val="FF0000"/>
              </a:solidFill>
            </a:endParaRPr>
          </a:p>
          <a:p>
            <a:pPr algn="ctr">
              <a:buNone/>
            </a:pPr>
            <a:r>
              <a:rPr lang="en-US" sz="4400" dirty="0" smtClean="0">
                <a:solidFill>
                  <a:srgbClr val="FF0000"/>
                </a:solidFill>
              </a:rPr>
              <a:t> Success in Your Studies!</a:t>
            </a:r>
            <a:endParaRPr lang="en-US" sz="4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ＭＳ Ｐ明朝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Flow.thmx</Template>
  <TotalTime>6395</TotalTime>
  <Words>970</Words>
  <Application>Microsoft Macintosh PowerPoint</Application>
  <PresentationFormat>On-screen Show (4:3)</PresentationFormat>
  <Paragraphs>199</Paragraphs>
  <Slides>20</Slides>
  <Notes>17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Flow</vt:lpstr>
      <vt:lpstr>Proton-Proton Elastic Scattering at RHIC</vt:lpstr>
      <vt:lpstr>Outline</vt:lpstr>
      <vt:lpstr>RHIC at Brookhaven National Laboratory (BNL)</vt:lpstr>
      <vt:lpstr>Birds Eye View of RHIC</vt:lpstr>
      <vt:lpstr>RHIC at BNL </vt:lpstr>
      <vt:lpstr>Proton-Proton Elastic Scattering</vt:lpstr>
      <vt:lpstr>Some useful variables…</vt:lpstr>
      <vt:lpstr>Past, present, future…</vt:lpstr>
      <vt:lpstr>PP2PP Experiment at RHIC</vt:lpstr>
      <vt:lpstr>Optical Theorem</vt:lpstr>
      <vt:lpstr>Differential Elastic Cross Section </vt:lpstr>
      <vt:lpstr>Differential Elastic Cross Section</vt:lpstr>
      <vt:lpstr>Measurements in p-p and p-pbar Collisions </vt:lpstr>
      <vt:lpstr>Roman Pots</vt:lpstr>
      <vt:lpstr>Silicon Strip Detectors</vt:lpstr>
      <vt:lpstr>Experimental Layout</vt:lpstr>
      <vt:lpstr>Measurement Technique</vt:lpstr>
      <vt:lpstr>Slope Parameter (at s = 200 GeV)</vt:lpstr>
      <vt:lpstr>Slide 19</vt:lpstr>
      <vt:lpstr>Slide 20</vt:lpstr>
    </vt:vector>
  </TitlesOfParts>
  <Company> Old Dominion University</Company>
  <LinksUpToDate>false</LinksUpToDate>
  <SharedDoc>false</SharedDoc>
  <HyperlinksChanged>false</HyperlinksChanged>
  <AppVersion>12.0256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Proton-Proton Elastic Scattering at RHIC</dc:title>
  <dc:creator>Donika Plyku</dc:creator>
  <cp:lastModifiedBy>Donika Plyku</cp:lastModifiedBy>
  <cp:revision>370</cp:revision>
  <dcterms:created xsi:type="dcterms:W3CDTF">2008-06-23T20:00:43Z</dcterms:created>
  <dcterms:modified xsi:type="dcterms:W3CDTF">2008-06-23T20:05:09Z</dcterms:modified>
</cp:coreProperties>
</file>