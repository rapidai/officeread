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notesSlides/notesSlide16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102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notesSlides/notesSlide7.xml" ContentType="application/vnd.openxmlformats-officedocument.presentationml.notesSlide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50.xml" ContentType="application/vnd.openxmlformats-officedocument.presentationml.slideLayout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99.xml" ContentType="application/vnd.openxmlformats-officedocument.presentationml.slideLayout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7.xml" ContentType="application/vnd.openxmlformats-officedocument.theme+xml"/>
  <Override PartName="/ppt/theme/theme11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0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theme/theme12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45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52.xml" ContentType="application/vnd.openxmlformats-officedocument.presentationml.slideLayout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notesSlides/notesSlide23.xml" ContentType="application/vnd.openxmlformats-officedocument.presentationml.notesSlide+xml"/>
  <Override PartName="/ppt/theme/theme14.xml" ContentType="application/vnd.openxmlformats-officedocument.theme+xml"/>
  <Override PartName="/ppt/notesSlides/notesSlide12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Default Extension="bin" ContentType="application/vnd.openxmlformats-officedocument.oleObject"/>
  <Override PartName="/ppt/slideLayouts/slideLayout14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  <p:sldMasterId id="2147483675" r:id="rId3"/>
    <p:sldMasterId id="2147483689" r:id="rId4"/>
    <p:sldMasterId id="2147483703" r:id="rId5"/>
    <p:sldMasterId id="2147483731" r:id="rId6"/>
    <p:sldMasterId id="2147483775" r:id="rId7"/>
    <p:sldMasterId id="2147483789" r:id="rId8"/>
    <p:sldMasterId id="2147483805" r:id="rId9"/>
    <p:sldMasterId id="2147483817" r:id="rId10"/>
    <p:sldMasterId id="2147483832" r:id="rId11"/>
    <p:sldMasterId id="2147483846" r:id="rId12"/>
  </p:sldMasterIdLst>
  <p:notesMasterIdLst>
    <p:notesMasterId r:id="rId49"/>
  </p:notesMasterIdLst>
  <p:handoutMasterIdLst>
    <p:handoutMasterId r:id="rId50"/>
  </p:handoutMasterIdLst>
  <p:sldIdLst>
    <p:sldId id="259" r:id="rId13"/>
    <p:sldId id="280" r:id="rId14"/>
    <p:sldId id="269" r:id="rId15"/>
    <p:sldId id="283" r:id="rId16"/>
    <p:sldId id="282" r:id="rId17"/>
    <p:sldId id="284" r:id="rId18"/>
    <p:sldId id="285" r:id="rId19"/>
    <p:sldId id="287" r:id="rId20"/>
    <p:sldId id="290" r:id="rId21"/>
    <p:sldId id="291" r:id="rId22"/>
    <p:sldId id="292" r:id="rId23"/>
    <p:sldId id="293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9" r:id="rId37"/>
    <p:sldId id="310" r:id="rId38"/>
    <p:sldId id="311" r:id="rId39"/>
    <p:sldId id="317" r:id="rId40"/>
    <p:sldId id="270" r:id="rId41"/>
    <p:sldId id="268" r:id="rId42"/>
    <p:sldId id="272" r:id="rId43"/>
    <p:sldId id="312" r:id="rId44"/>
    <p:sldId id="313" r:id="rId45"/>
    <p:sldId id="316" r:id="rId46"/>
    <p:sldId id="314" r:id="rId47"/>
    <p:sldId id="315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slide" Target="slides/slide2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4FD97-0E21-4ED5-A84D-F872D0949714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CF012-206A-407F-B5D9-58D1111FFA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73F5D-42C2-4AC0-83ED-E430F868B0E5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97264-EC26-447B-B2E3-29F644AEA9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F07070-A923-48A7-BBE6-1719D15D931D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8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88414A-E5EF-4798-9737-E4B6E59EF636}" type="slidenum">
              <a:rPr lang="en-US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D65E19-3C15-449A-9BDD-3CD862291577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8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EED00-1076-4E9C-8ECC-C9433D770C8A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9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655B4F-395C-4946-828A-E34197FB6C0D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9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 noChangeArrowheads="1"/>
          </p:cNvSpPr>
          <p:nvPr/>
        </p:nvSpPr>
        <p:spPr bwMode="auto">
          <a:xfrm>
            <a:off x="3884852" y="8685862"/>
            <a:ext cx="2971593" cy="45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6" tIns="45713" rIns="91426" bIns="45713" anchor="b"/>
          <a:lstStyle/>
          <a:p>
            <a:pPr algn="r" defTabSz="914274" fontAlgn="base">
              <a:spcBef>
                <a:spcPct val="0"/>
              </a:spcBef>
              <a:spcAft>
                <a:spcPct val="0"/>
              </a:spcAft>
            </a:pPr>
            <a:fld id="{EF53B1CD-1004-4866-866B-9D455A627BE0}" type="slidenum">
              <a:rPr lang="zh-CN" altLang="en-US" sz="1200" smtClean="0">
                <a:solidFill>
                  <a:prstClr val="black"/>
                </a:solidFill>
                <a:latin typeface="Arial" charset="0"/>
              </a:rPr>
              <a:pPr algn="r" defTabSz="914274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200" dirty="0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260" y="4343713"/>
            <a:ext cx="5031482" cy="4113862"/>
          </a:xfrm>
          <a:noFill/>
          <a:ln/>
        </p:spPr>
        <p:txBody>
          <a:bodyPr/>
          <a:lstStyle/>
          <a:p>
            <a:pPr eaLnBrk="1" hangingPunct="1"/>
            <a:endParaRPr lang="en-US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F4427F-907B-4E08-B381-0E7266BB9364}" type="slidenum">
              <a:rPr lang="zh-CN" altLang="en-US">
                <a:solidFill>
                  <a:prstClr val="black"/>
                </a:solidFill>
                <a:latin typeface="Arial" charset="0"/>
              </a:rPr>
              <a:pPr/>
              <a:t>14</a:t>
            </a:fld>
            <a:endParaRPr lang="en-US" altLang="zh-CN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260" y="4343713"/>
            <a:ext cx="5031482" cy="4113862"/>
          </a:xfrm>
          <a:noFill/>
          <a:ln/>
        </p:spPr>
        <p:txBody>
          <a:bodyPr/>
          <a:lstStyle/>
          <a:p>
            <a:pPr eaLnBrk="1" hangingPunct="1"/>
            <a:endParaRPr lang="en-US" altLang="zh-CN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5D53A3-EC8E-4F34-BEA4-B3AEB2CCBE94}" type="slidenum">
              <a:rPr lang="zh-CN" altLang="en-US">
                <a:solidFill>
                  <a:prstClr val="black"/>
                </a:solidFill>
              </a:rPr>
              <a:pPr/>
              <a:t>20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4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BE1E0C-2ED7-46A0-B396-729EE8D39638}" type="slidenum">
              <a:rPr lang="zh-CN" altLang="en-US">
                <a:solidFill>
                  <a:prstClr val="black"/>
                </a:solidFill>
              </a:rPr>
              <a:pPr/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4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7F1310-013F-4CDC-A61A-5F7B22FA3C54}" type="slidenum">
              <a:rPr lang="zh-CN" altLang="en-US">
                <a:solidFill>
                  <a:prstClr val="black"/>
                </a:solidFill>
              </a:rPr>
              <a:pPr/>
              <a:t>22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A70ABC-4B2A-49F9-8182-B7077D7F9653}" type="slidenum">
              <a:rPr lang="zh-CN" altLang="en-US">
                <a:solidFill>
                  <a:prstClr val="black"/>
                </a:solidFill>
              </a:rPr>
              <a:pPr/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4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E2E4-8841-423E-81E8-422EF6E99810}" type="slidenum">
              <a:rPr lang="en-US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0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8A8A-8CE7-464E-BA06-F6D7ACC548B6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48BE-8B52-4B79-BCF0-9C2821D944B6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51285-784F-4DF2-8E55-15B4ED64DB9E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D762-966F-43A3-B93B-903EC822824A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D7C1-8C10-4D5D-800B-134CFF9F04DC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DBC4-B9CF-45EC-8BDC-6C21581835DF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C5E2A-DB78-4A4C-9D5B-18C9E5E6A8CE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CDD6-8427-445D-8B7B-702555F608CD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AFCF-7455-4A74-B528-4ECED418A3F4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BEE48-C664-47B9-ACB8-6A5D0B666DDB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F7E7-E289-494B-AE3E-38ADCC5FED82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3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343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4343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3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4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142D38-8453-4572-96BD-807193780D62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3443" name="Rectangle 19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4" name="Rectangle 20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1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3446" name="Rectangle 22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7" name="Rectangle 23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43448" name="Rectangle 24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49" name="Rectangle 25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50" name="Rectangle 26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4F04C-2B43-4098-8F1D-104ED9FECF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E550-3E03-41CB-96EC-65182FF5A7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E7D32-4222-43F4-86B9-FA4322F4402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843DA-E66C-4B53-930E-D4052145418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9CAAA-084B-4699-9CD8-28EFC533E2B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E28E2-3E8D-4EFA-B91F-893BA3F794D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89B1F-7EFF-4D28-9022-B3258F2981B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91703-76C5-4E6F-AA1C-010D35B1C31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655EF5-26C6-4B11-BCE2-4E0C90FC74E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1DE48-E611-4720-BB48-8D828180115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AE5F76-9833-41DE-8D83-48EB55EDC6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4A3300-29EF-4DF2-B6DE-CCAC1203B4D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3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343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4343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3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4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142D38-8453-4572-96BD-807193780D62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3443" name="Rectangle 19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4" name="Rectangle 20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1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3446" name="Rectangle 22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7" name="Rectangle 23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43448" name="Rectangle 24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49" name="Rectangle 25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50" name="Rectangle 26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4F04C-2B43-4098-8F1D-104ED9FECF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E550-3E03-41CB-96EC-65182FF5A7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E7D32-4222-43F4-86B9-FA4322F4402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843DA-E66C-4B53-930E-D4052145418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9CAAA-084B-4699-9CD8-28EFC533E2B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E28E2-3E8D-4EFA-B91F-893BA3F794D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89B1F-7EFF-4D28-9022-B3258F2981B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91703-76C5-4E6F-AA1C-010D35B1C31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655EF5-26C6-4B11-BCE2-4E0C90FC74E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1DE48-E611-4720-BB48-8D828180115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AE5F76-9833-41DE-8D83-48EB55EDC6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4A3300-29EF-4DF2-B6DE-CCAC1203B4D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3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343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4343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3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4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142D38-8453-4572-96BD-807193780D62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3443" name="Rectangle 19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4" name="Rectangle 20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1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3446" name="Rectangle 22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7" name="Rectangle 23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43448" name="Rectangle 24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49" name="Rectangle 25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50" name="Rectangle 26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4F04C-2B43-4098-8F1D-104ED9FECF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E550-3E03-41CB-96EC-65182FF5A7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E7D32-4222-43F4-86B9-FA4322F4402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843DA-E66C-4B53-930E-D4052145418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9CAAA-084B-4699-9CD8-28EFC533E2B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E28E2-3E8D-4EFA-B91F-893BA3F794D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89B1F-7EFF-4D28-9022-B3258F2981B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91703-76C5-4E6F-AA1C-010D35B1C31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655EF5-26C6-4B11-BCE2-4E0C90FC74E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1DE48-E611-4720-BB48-8D828180115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AE5F76-9833-41DE-8D83-48EB55EDC6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4A3300-29EF-4DF2-B6DE-CCAC1203B4D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3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343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4343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3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4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142D38-8453-4572-96BD-807193780D62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3443" name="Rectangle 19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4" name="Rectangle 20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1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3446" name="Rectangle 22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7" name="Rectangle 23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43448" name="Rectangle 24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49" name="Rectangle 25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50" name="Rectangle 26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4F04C-2B43-4098-8F1D-104ED9FECF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E550-3E03-41CB-96EC-65182FF5A7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E7D32-4222-43F4-86B9-FA4322F4402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843DA-E66C-4B53-930E-D4052145418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9CAAA-084B-4699-9CD8-28EFC533E2B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E28E2-3E8D-4EFA-B91F-893BA3F794D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89B1F-7EFF-4D28-9022-B3258F2981B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91703-76C5-4E6F-AA1C-010D35B1C31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655EF5-26C6-4B11-BCE2-4E0C90FC74E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1DE48-E611-4720-BB48-8D828180115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AE5F76-9833-41DE-8D83-48EB55EDC6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4A3300-29EF-4DF2-B6DE-CCAC1203B4D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3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343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4343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3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4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142D38-8453-4572-96BD-807193780D62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3443" name="Rectangle 19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4" name="Rectangle 20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1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3446" name="Rectangle 22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7" name="Rectangle 23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43448" name="Rectangle 24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49" name="Rectangle 25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50" name="Rectangle 26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4F04C-2B43-4098-8F1D-104ED9FECF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9E550-3E03-41CB-96EC-65182FF5A7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E7D32-4222-43F4-86B9-FA4322F4402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843DA-E66C-4B53-930E-D4052145418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9CAAA-084B-4699-9CD8-28EFC533E2B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E28E2-3E8D-4EFA-B91F-893BA3F794D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89B1F-7EFF-4D28-9022-B3258F2981B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91703-76C5-4E6F-AA1C-010D35B1C31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655EF5-26C6-4B11-BCE2-4E0C90FC74E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1DE48-E611-4720-BB48-8D828180115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AE5F76-9833-41DE-8D83-48EB55EDC6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4A3300-29EF-4DF2-B6DE-CCAC1203B4D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3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343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4343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3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1C1C1C"/>
              </a:solidFill>
            </a:endParaRPr>
          </a:p>
        </p:txBody>
      </p:sp>
      <p:sp>
        <p:nvSpPr>
          <p:cNvPr id="74344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D429A7C-5CE1-43E2-AED9-A8AC5767BE8B}" type="slidenum">
              <a:rPr lang="en-US">
                <a:solidFill>
                  <a:srgbClr val="1C1C1C"/>
                </a:solidFill>
              </a:rPr>
              <a:pPr/>
              <a:t>‹#›</a:t>
            </a:fld>
            <a:endParaRPr lang="en-US">
              <a:solidFill>
                <a:srgbClr val="1C1C1C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18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3443" name="Rectangle 19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4" name="Rectangle 20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21"/>
            <p:cNvGrpSpPr>
              <a:grpSpLocks/>
            </p:cNvGrpSpPr>
            <p:nvPr userDrawn="1"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3446" name="Rectangle 22"/>
              <p:cNvSpPr>
                <a:spLocks noChangeArrowheads="1"/>
              </p:cNvSpPr>
              <p:nvPr userDrawn="1"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3447" name="Rectangle 23"/>
              <p:cNvSpPr>
                <a:spLocks noChangeArrowheads="1"/>
              </p:cNvSpPr>
              <p:nvPr userDrawn="1"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43448" name="Rectangle 24"/>
            <p:cNvSpPr>
              <a:spLocks noChangeArrowheads="1"/>
            </p:cNvSpPr>
            <p:nvPr userDrawn="1"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49" name="Rectangle 25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743450" name="Rectangle 26"/>
            <p:cNvSpPr>
              <a:spLocks noChangeArrowheads="1"/>
            </p:cNvSpPr>
            <p:nvPr userDrawn="1"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CD5AE-FFD3-45DB-BDB9-D635FA245A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7BD97-CE8A-4954-8A9B-5416461A7BD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56FB6-2243-4A8E-B777-20B2C566C9D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BCD55-E2DD-4A8F-B275-1194C9D2BCE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B25737-49E9-4BAF-8B1A-BBCA72D317C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27A52-8A7E-404A-94AE-9AD3B06D36C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67CF55-279B-4ADC-BC18-A9FA1ACD3CB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A9DE2-5351-4578-AD2A-FC10145BE00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A23D3-84B5-431F-B167-0891BA9EE81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012130-30CE-42B5-8DF1-68ABDDADC7E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96569B2-2E4D-46C3-A2DA-490BAFA3380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1B77CE6-9244-4F6B-ABDC-6FDDCAEBEB6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8A19D-C932-4A0A-B605-851B275138E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7FAC1-553B-4039-8962-002EFF32AA2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F4258-20B4-4D18-91E6-0F823821B2B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91EE6-D4D6-4EF3-9898-C19FA647179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C7EAF-AFA6-4C11-BDAD-03D72C1C3AC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7E059-2C22-4B7D-B32A-C471FBA9B41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mtClean="0">
                <a:solidFill>
                  <a:srgbClr val="000000"/>
                </a:solidFill>
              </a:rPr>
              <a:t>Chen Li, Jiaheng Lu, Yiming Lu</a:t>
            </a:r>
            <a:endParaRPr lang="en-US" altLang="zh-CN" smtClean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60DF10-CABC-41C9-815B-8682A0ED76AC}" type="slidenum">
              <a:rPr lang="zh-CN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3BB5B-22E6-4F82-8C90-27601D708EED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CFE50-F5FC-4C7C-B641-C231260913D4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819DF-C73A-47EE-B4FB-052370967D4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91277-B24B-42A4-A586-8B5F89EA8CC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4B815-2B5A-462B-B9A5-E70F462A2C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13E7E-996E-45D4-96B6-232BEFEDFD9E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10EA86-73E5-4EE6-92B9-93F653CA902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8A19D-C932-4A0A-B605-851B275138E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7FAC1-553B-4039-8962-002EFF32AA2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F4258-20B4-4D18-91E6-0F823821B2B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91EE6-D4D6-4EF3-9898-C19FA647179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C7EAF-AFA6-4C11-BDAD-03D72C1C3AC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7E059-2C22-4B7D-B32A-C471FBA9B41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C6F7F-5945-48F4-B73F-DDABD81CC41E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3BB5B-22E6-4F82-8C90-27601D708EED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CFE50-F5FC-4C7C-B641-C231260913D4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819DF-C73A-47EE-B4FB-052370967D4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91277-B24B-42A4-A586-8B5F89EA8CC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4B815-2B5A-462B-B9A5-E70F462A2C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13E7E-996E-45D4-96B6-232BEFEDFD9E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zh-CN" altLang="en-US">
                <a:solidFill>
                  <a:srgbClr val="000000"/>
                </a:solidFill>
              </a:rPr>
              <a:t>Chen Li, Jiaheng Lu, Yiming Lu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10EA86-73E5-4EE6-92B9-93F653CA902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zh-CN"/>
              <a:t>单击此处编辑母版标题样式</a:t>
            </a:r>
          </a:p>
        </p:txBody>
      </p:sp>
      <p:sp>
        <p:nvSpPr>
          <p:cNvPr id="1146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zh-CN"/>
              <a:t>单击此处编辑母版副标题样式</a:t>
            </a:r>
          </a:p>
        </p:txBody>
      </p:sp>
      <p:sp>
        <p:nvSpPr>
          <p:cNvPr id="11469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7A74335-8C72-4694-8B63-D0C8BBEDD75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114697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698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699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0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1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2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3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4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5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6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7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8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09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0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1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2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3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4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5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6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7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8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19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0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1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2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3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4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5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6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4727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114728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3B0ED-4F64-41C1-A320-B12F1779A1C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87753-21EB-4E7E-9BDD-8665DD44909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A4E66D-EDC2-4CE8-9490-C57C0D91ED4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58AF55-E67C-4F62-8259-981A7F246E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E9ACF-1BF3-444E-934A-951AB412AD4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07001A-32E5-497D-8731-4D2D762D581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9641A-0700-4CF5-B2A3-C5E502681D7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42F192-AD39-478C-BD63-4462E4E5841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59284-9B29-40C5-A196-1965351B0E3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05F2D9-FE07-4F80-BB8A-35565268B42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0CE7A2F-E117-4BC1-9F5B-DB50B969706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3ADBF00-436D-4149-9A93-EDF1290D665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 descr="UCI_White_Templat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1775" y="2089150"/>
            <a:ext cx="8574088" cy="1554163"/>
          </a:xfrm>
        </p:spPr>
        <p:txBody>
          <a:bodyPr anchor="b"/>
          <a:lstStyle>
            <a:lvl1pPr>
              <a:lnSpc>
                <a:spcPct val="90000"/>
              </a:lnSpc>
              <a:defRPr sz="4600" b="1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1775" y="4035425"/>
            <a:ext cx="8574088" cy="1377950"/>
          </a:xfrm>
        </p:spPr>
        <p:txBody>
          <a:bodyPr/>
          <a:lstStyle>
            <a:lvl1pPr marL="0" indent="0" algn="ctr">
              <a:spcBef>
                <a:spcPct val="30000"/>
              </a:spcBef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16650"/>
            <a:ext cx="2133600" cy="477838"/>
          </a:xfrm>
        </p:spPr>
        <p:txBody>
          <a:bodyPr/>
          <a:lstStyle>
            <a:lvl1pPr>
              <a:defRPr/>
            </a:lvl1pPr>
          </a:lstStyle>
          <a:p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125413" y="6223000"/>
            <a:ext cx="214312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5625" y="6329363"/>
            <a:ext cx="844550" cy="477837"/>
          </a:xfrm>
        </p:spPr>
        <p:txBody>
          <a:bodyPr/>
          <a:lstStyle>
            <a:lvl1pPr>
              <a:defRPr/>
            </a:lvl1pPr>
          </a:lstStyle>
          <a:p>
            <a:fld id="{B3C40B3F-776D-4B50-89F5-5790E01E5CDD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3729038" y="91210"/>
            <a:ext cx="5414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dirty="0" smtClean="0">
                <a:solidFill>
                  <a:srgbClr val="FFFFFF"/>
                </a:solidFill>
                <a:ea typeface="宋体" pitchFamily="2" charset="-122"/>
                <a:cs typeface="Arial" charset="0"/>
              </a:rPr>
              <a:t>Speaker: Alexander </a:t>
            </a:r>
            <a:r>
              <a:rPr lang="en-US" altLang="zh-CN" sz="1600" b="1" dirty="0" err="1" smtClean="0">
                <a:solidFill>
                  <a:srgbClr val="FFFFFF"/>
                </a:solidFill>
                <a:ea typeface="宋体" pitchFamily="2" charset="-122"/>
                <a:cs typeface="Arial" charset="0"/>
              </a:rPr>
              <a:t>Behm</a:t>
            </a:r>
            <a:endParaRPr lang="en-US" altLang="zh-CN" sz="1600" b="1" dirty="0">
              <a:solidFill>
                <a:srgbClr val="FFFFFF"/>
              </a:solidFill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CC1775-5182-4FE2-A0BB-A1F56EEC7035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EB7919-9886-40C2-A6A9-6AF876A938BF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2189163"/>
            <a:ext cx="4070350" cy="3248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3750" y="2189163"/>
            <a:ext cx="4070350" cy="3248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E6B86D-292A-4EE4-A621-C4537D68AE7D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F14688-5C44-4165-B7EF-4510666C638E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0C4721-2678-461B-902A-F7B6C08EA3F2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2BD1DA-945B-49BB-BC60-64D9AE7F0F6D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672238-2B7C-4B9F-ACAF-6E8E751702D9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756544-4415-45B9-9FFD-06DA011C017F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99AC55-2E6A-4A3C-81B7-7A48FC3B4509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4800" y="828675"/>
            <a:ext cx="2155825" cy="4608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563" y="828675"/>
            <a:ext cx="6319837" cy="4608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B6D1BE-A4DD-4A0D-BDC9-170E24440207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82563" y="828675"/>
            <a:ext cx="8628062" cy="46085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59EA84-922A-4563-9DF0-79646904EDDA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63" y="828675"/>
            <a:ext cx="862806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2189163"/>
            <a:ext cx="4070350" cy="32480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3750" y="2189163"/>
            <a:ext cx="4070350" cy="32480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B9C6DE-7B2B-47D9-B03A-E0F931EADEA8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91.xml"/><Relationship Id="rId16" Type="http://schemas.openxmlformats.org/officeDocument/2006/relationships/theme" Target="../theme/theme8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27.xml"/><Relationship Id="rId17" Type="http://schemas.openxmlformats.org/officeDocument/2006/relationships/oleObject" Target="../embeddings/oleObject2.bin"/><Relationship Id="rId2" Type="http://schemas.openxmlformats.org/officeDocument/2006/relationships/slideLayout" Target="../slideLayouts/slideLayout117.xml"/><Relationship Id="rId16" Type="http://schemas.openxmlformats.org/officeDocument/2006/relationships/vmlDrawing" Target="../drawings/vmlDrawing2.vml"/><Relationship Id="rId1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0.xml"/><Relationship Id="rId15" Type="http://schemas.openxmlformats.org/officeDocument/2006/relationships/theme" Target="../theme/theme10.xml"/><Relationship Id="rId10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4.xml"/><Relationship Id="rId14" Type="http://schemas.openxmlformats.org/officeDocument/2006/relationships/slideLayout" Target="../slideLayouts/slideLayout12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13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Relationship Id="rId14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8ADB5-94A6-4DD0-9A06-2B53D76A2716}" type="datetime1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1B260-71FF-4466-8ED1-88FC67F9EF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ChangeArrowheads="1"/>
          </p:cNvSpPr>
          <p:nvPr userDrawn="1"/>
        </p:nvSpPr>
        <p:spPr bwMode="ltGray">
          <a:xfrm>
            <a:off x="436563" y="7461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3" name="Rectangle 3"/>
          <p:cNvSpPr>
            <a:spLocks noChangeArrowheads="1"/>
          </p:cNvSpPr>
          <p:nvPr userDrawn="1"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4" name="Rectangle 4"/>
          <p:cNvSpPr>
            <a:spLocks noChangeArrowheads="1"/>
          </p:cNvSpPr>
          <p:nvPr userDrawn="1"/>
        </p:nvSpPr>
        <p:spPr bwMode="ltGray">
          <a:xfrm>
            <a:off x="598488" y="10541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5" name="Rectangle 5"/>
          <p:cNvSpPr>
            <a:spLocks noChangeArrowheads="1"/>
          </p:cNvSpPr>
          <p:nvPr userDrawn="1"/>
        </p:nvSpPr>
        <p:spPr bwMode="ltGray">
          <a:xfrm>
            <a:off x="882650" y="9017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6" name="Rectangle 6"/>
          <p:cNvSpPr>
            <a:spLocks noChangeArrowheads="1"/>
          </p:cNvSpPr>
          <p:nvPr userDrawn="1"/>
        </p:nvSpPr>
        <p:spPr bwMode="ltGray">
          <a:xfrm>
            <a:off x="184150" y="10287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7" name="Rectangle 7"/>
          <p:cNvSpPr>
            <a:spLocks noChangeArrowheads="1"/>
          </p:cNvSpPr>
          <p:nvPr userDrawn="1"/>
        </p:nvSpPr>
        <p:spPr bwMode="gray">
          <a:xfrm>
            <a:off x="666750" y="69532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8" name="Rectangle 8"/>
          <p:cNvSpPr>
            <a:spLocks noChangeArrowheads="1"/>
          </p:cNvSpPr>
          <p:nvPr userDrawn="1"/>
        </p:nvSpPr>
        <p:spPr bwMode="gray">
          <a:xfrm>
            <a:off x="442913" y="15906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424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4241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0F045-4606-4707-AEA4-0AFF2EE4D35D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—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ChangeArrowheads="1"/>
          </p:cNvSpPr>
          <p:nvPr userDrawn="1"/>
        </p:nvSpPr>
        <p:spPr bwMode="ltGray">
          <a:xfrm>
            <a:off x="436563" y="7461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3" name="Rectangle 3"/>
          <p:cNvSpPr>
            <a:spLocks noChangeArrowheads="1"/>
          </p:cNvSpPr>
          <p:nvPr userDrawn="1"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4" name="Rectangle 4"/>
          <p:cNvSpPr>
            <a:spLocks noChangeArrowheads="1"/>
          </p:cNvSpPr>
          <p:nvPr userDrawn="1"/>
        </p:nvSpPr>
        <p:spPr bwMode="ltGray">
          <a:xfrm>
            <a:off x="598488" y="10541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5" name="Rectangle 5"/>
          <p:cNvSpPr>
            <a:spLocks noChangeArrowheads="1"/>
          </p:cNvSpPr>
          <p:nvPr userDrawn="1"/>
        </p:nvSpPr>
        <p:spPr bwMode="ltGray">
          <a:xfrm>
            <a:off x="882650" y="9017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6" name="Rectangle 6"/>
          <p:cNvSpPr>
            <a:spLocks noChangeArrowheads="1"/>
          </p:cNvSpPr>
          <p:nvPr userDrawn="1"/>
        </p:nvSpPr>
        <p:spPr bwMode="ltGray">
          <a:xfrm>
            <a:off x="184150" y="10287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7" name="Rectangle 7"/>
          <p:cNvSpPr>
            <a:spLocks noChangeArrowheads="1"/>
          </p:cNvSpPr>
          <p:nvPr userDrawn="1"/>
        </p:nvSpPr>
        <p:spPr bwMode="gray">
          <a:xfrm>
            <a:off x="666750" y="69532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8" name="Rectangle 8"/>
          <p:cNvSpPr>
            <a:spLocks noChangeArrowheads="1"/>
          </p:cNvSpPr>
          <p:nvPr userDrawn="1"/>
        </p:nvSpPr>
        <p:spPr bwMode="gray">
          <a:xfrm>
            <a:off x="442913" y="15906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424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4241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0F045-4606-4707-AEA4-0AFF2EE4D35D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—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ChangeArrowheads="1"/>
          </p:cNvSpPr>
          <p:nvPr userDrawn="1"/>
        </p:nvSpPr>
        <p:spPr bwMode="ltGray">
          <a:xfrm>
            <a:off x="436563" y="7461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3" name="Rectangle 3"/>
          <p:cNvSpPr>
            <a:spLocks noChangeArrowheads="1"/>
          </p:cNvSpPr>
          <p:nvPr userDrawn="1"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4" name="Rectangle 4"/>
          <p:cNvSpPr>
            <a:spLocks noChangeArrowheads="1"/>
          </p:cNvSpPr>
          <p:nvPr userDrawn="1"/>
        </p:nvSpPr>
        <p:spPr bwMode="ltGray">
          <a:xfrm>
            <a:off x="598488" y="10541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5" name="Rectangle 5"/>
          <p:cNvSpPr>
            <a:spLocks noChangeArrowheads="1"/>
          </p:cNvSpPr>
          <p:nvPr userDrawn="1"/>
        </p:nvSpPr>
        <p:spPr bwMode="ltGray">
          <a:xfrm>
            <a:off x="882650" y="9017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6" name="Rectangle 6"/>
          <p:cNvSpPr>
            <a:spLocks noChangeArrowheads="1"/>
          </p:cNvSpPr>
          <p:nvPr userDrawn="1"/>
        </p:nvSpPr>
        <p:spPr bwMode="ltGray">
          <a:xfrm>
            <a:off x="184150" y="10287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7" name="Rectangle 7"/>
          <p:cNvSpPr>
            <a:spLocks noChangeArrowheads="1"/>
          </p:cNvSpPr>
          <p:nvPr userDrawn="1"/>
        </p:nvSpPr>
        <p:spPr bwMode="gray">
          <a:xfrm>
            <a:off x="666750" y="69532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8" name="Rectangle 8"/>
          <p:cNvSpPr>
            <a:spLocks noChangeArrowheads="1"/>
          </p:cNvSpPr>
          <p:nvPr userDrawn="1"/>
        </p:nvSpPr>
        <p:spPr bwMode="gray">
          <a:xfrm>
            <a:off x="442913" y="15906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424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4241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0F045-4606-4707-AEA4-0AFF2EE4D35D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—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ChangeArrowheads="1"/>
          </p:cNvSpPr>
          <p:nvPr userDrawn="1"/>
        </p:nvSpPr>
        <p:spPr bwMode="ltGray">
          <a:xfrm>
            <a:off x="436563" y="7461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3" name="Rectangle 3"/>
          <p:cNvSpPr>
            <a:spLocks noChangeArrowheads="1"/>
          </p:cNvSpPr>
          <p:nvPr userDrawn="1"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4" name="Rectangle 4"/>
          <p:cNvSpPr>
            <a:spLocks noChangeArrowheads="1"/>
          </p:cNvSpPr>
          <p:nvPr userDrawn="1"/>
        </p:nvSpPr>
        <p:spPr bwMode="ltGray">
          <a:xfrm>
            <a:off x="598488" y="10541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5" name="Rectangle 5"/>
          <p:cNvSpPr>
            <a:spLocks noChangeArrowheads="1"/>
          </p:cNvSpPr>
          <p:nvPr userDrawn="1"/>
        </p:nvSpPr>
        <p:spPr bwMode="ltGray">
          <a:xfrm>
            <a:off x="882650" y="9017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6" name="Rectangle 6"/>
          <p:cNvSpPr>
            <a:spLocks noChangeArrowheads="1"/>
          </p:cNvSpPr>
          <p:nvPr userDrawn="1"/>
        </p:nvSpPr>
        <p:spPr bwMode="ltGray">
          <a:xfrm>
            <a:off x="184150" y="10287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7" name="Rectangle 7"/>
          <p:cNvSpPr>
            <a:spLocks noChangeArrowheads="1"/>
          </p:cNvSpPr>
          <p:nvPr userDrawn="1"/>
        </p:nvSpPr>
        <p:spPr bwMode="gray">
          <a:xfrm>
            <a:off x="666750" y="69532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8" name="Rectangle 8"/>
          <p:cNvSpPr>
            <a:spLocks noChangeArrowheads="1"/>
          </p:cNvSpPr>
          <p:nvPr userDrawn="1"/>
        </p:nvSpPr>
        <p:spPr bwMode="gray">
          <a:xfrm>
            <a:off x="442913" y="15906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424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4241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0F045-4606-4707-AEA4-0AFF2EE4D35D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—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ChangeArrowheads="1"/>
          </p:cNvSpPr>
          <p:nvPr userDrawn="1"/>
        </p:nvSpPr>
        <p:spPr bwMode="ltGray">
          <a:xfrm>
            <a:off x="436563" y="7461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3" name="Rectangle 3"/>
          <p:cNvSpPr>
            <a:spLocks noChangeArrowheads="1"/>
          </p:cNvSpPr>
          <p:nvPr userDrawn="1"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4" name="Rectangle 4"/>
          <p:cNvSpPr>
            <a:spLocks noChangeArrowheads="1"/>
          </p:cNvSpPr>
          <p:nvPr userDrawn="1"/>
        </p:nvSpPr>
        <p:spPr bwMode="ltGray">
          <a:xfrm>
            <a:off x="598488" y="10541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5" name="Rectangle 5"/>
          <p:cNvSpPr>
            <a:spLocks noChangeArrowheads="1"/>
          </p:cNvSpPr>
          <p:nvPr userDrawn="1"/>
        </p:nvSpPr>
        <p:spPr bwMode="ltGray">
          <a:xfrm>
            <a:off x="882650" y="9017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6" name="Rectangle 6"/>
          <p:cNvSpPr>
            <a:spLocks noChangeArrowheads="1"/>
          </p:cNvSpPr>
          <p:nvPr userDrawn="1"/>
        </p:nvSpPr>
        <p:spPr bwMode="ltGray">
          <a:xfrm>
            <a:off x="184150" y="10287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7" name="Rectangle 7"/>
          <p:cNvSpPr>
            <a:spLocks noChangeArrowheads="1"/>
          </p:cNvSpPr>
          <p:nvPr userDrawn="1"/>
        </p:nvSpPr>
        <p:spPr bwMode="gray">
          <a:xfrm>
            <a:off x="666750" y="69532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8" name="Rectangle 8"/>
          <p:cNvSpPr>
            <a:spLocks noChangeArrowheads="1"/>
          </p:cNvSpPr>
          <p:nvPr userDrawn="1"/>
        </p:nvSpPr>
        <p:spPr bwMode="gray">
          <a:xfrm>
            <a:off x="442913" y="15906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424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4241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0F045-4606-4707-AEA4-0AFF2EE4D35D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—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ChangeArrowheads="1"/>
          </p:cNvSpPr>
          <p:nvPr userDrawn="1"/>
        </p:nvSpPr>
        <p:spPr bwMode="ltGray">
          <a:xfrm>
            <a:off x="436563" y="7461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3" name="Rectangle 3"/>
          <p:cNvSpPr>
            <a:spLocks noChangeArrowheads="1"/>
          </p:cNvSpPr>
          <p:nvPr userDrawn="1"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4" name="Rectangle 4"/>
          <p:cNvSpPr>
            <a:spLocks noChangeArrowheads="1"/>
          </p:cNvSpPr>
          <p:nvPr userDrawn="1"/>
        </p:nvSpPr>
        <p:spPr bwMode="ltGray">
          <a:xfrm>
            <a:off x="598488" y="10541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5" name="Rectangle 5"/>
          <p:cNvSpPr>
            <a:spLocks noChangeArrowheads="1"/>
          </p:cNvSpPr>
          <p:nvPr userDrawn="1"/>
        </p:nvSpPr>
        <p:spPr bwMode="ltGray">
          <a:xfrm>
            <a:off x="882650" y="9017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6" name="Rectangle 6"/>
          <p:cNvSpPr>
            <a:spLocks noChangeArrowheads="1"/>
          </p:cNvSpPr>
          <p:nvPr userDrawn="1"/>
        </p:nvSpPr>
        <p:spPr bwMode="ltGray">
          <a:xfrm>
            <a:off x="184150" y="10287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7" name="Rectangle 7"/>
          <p:cNvSpPr>
            <a:spLocks noChangeArrowheads="1"/>
          </p:cNvSpPr>
          <p:nvPr userDrawn="1"/>
        </p:nvSpPr>
        <p:spPr bwMode="gray">
          <a:xfrm>
            <a:off x="666750" y="69532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8" name="Rectangle 8"/>
          <p:cNvSpPr>
            <a:spLocks noChangeArrowheads="1"/>
          </p:cNvSpPr>
          <p:nvPr userDrawn="1"/>
        </p:nvSpPr>
        <p:spPr bwMode="gray">
          <a:xfrm>
            <a:off x="442913" y="15906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 smtClean="0">
              <a:solidFill>
                <a:srgbClr val="000000"/>
              </a:solidFill>
            </a:endParaRPr>
          </a:p>
        </p:txBody>
      </p:sp>
      <p:sp>
        <p:nvSpPr>
          <p:cNvPr id="7424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424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4241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4241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7AB4AA-E438-4176-AD7E-B91822B5B44A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—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5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mtClean="0">
                <a:solidFill>
                  <a:srgbClr val="000000"/>
                </a:solidFill>
              </a:rPr>
              <a:t>Chen Li, Jiaheng Lu, Yiming Lu</a:t>
            </a:r>
            <a:endParaRPr lang="en-US" altLang="zh-CN" smtClean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60DF10-CABC-41C9-815B-8682A0ED76AC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6781800" y="6096000"/>
          <a:ext cx="1447800" cy="579438"/>
        </p:xfrm>
        <a:graphic>
          <a:graphicData uri="http://schemas.openxmlformats.org/presentationml/2006/ole">
            <p:oleObj spid="_x0000_s185346" name="Bitmap Image" r:id="rId18" imgW="2076740" imgH="828791" progId="PBrush">
              <p:embed/>
            </p:oleObj>
          </a:graphicData>
        </a:graphic>
      </p:graphicFrame>
      <p:sp>
        <p:nvSpPr>
          <p:cNvPr id="5132" name="Text Box 12"/>
          <p:cNvSpPr txBox="1">
            <a:spLocks noChangeArrowheads="1"/>
          </p:cNvSpPr>
          <p:nvPr userDrawn="1"/>
        </p:nvSpPr>
        <p:spPr bwMode="auto">
          <a:xfrm>
            <a:off x="381000" y="6172200"/>
            <a:ext cx="22098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  <a:ea typeface="宋体" pitchFamily="2" charset="-122"/>
              </a:rPr>
              <a:t>Chen Li, </a:t>
            </a:r>
            <a:r>
              <a:rPr lang="en-US" altLang="zh-CN" sz="1000" u="sng" smtClean="0">
                <a:solidFill>
                  <a:srgbClr val="0066FF"/>
                </a:solidFill>
                <a:ea typeface="宋体" pitchFamily="2" charset="-122"/>
              </a:rPr>
              <a:t>Jiaheng Lu</a:t>
            </a:r>
            <a:r>
              <a:rPr lang="en-US" altLang="zh-CN" sz="1000" smtClean="0">
                <a:solidFill>
                  <a:srgbClr val="000000"/>
                </a:solidFill>
                <a:ea typeface="宋体" pitchFamily="2" charset="-122"/>
              </a:rPr>
              <a:t>, Yiming Lu</a:t>
            </a: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804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0C1C3-F2EA-4E01-9707-9AA47311F9F7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58691-1A70-4F65-8644-8C99987F22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mtClean="0">
                <a:solidFill>
                  <a:srgbClr val="000000"/>
                </a:solidFill>
              </a:rPr>
              <a:t>Chen Li, Jiaheng Lu, Yiming Lu</a:t>
            </a:r>
            <a:endParaRPr lang="en-US" altLang="zh-CN" smtClean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60DF10-CABC-41C9-815B-8682A0ED76AC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6781800" y="6096000"/>
          <a:ext cx="1447800" cy="579438"/>
        </p:xfrm>
        <a:graphic>
          <a:graphicData uri="http://schemas.openxmlformats.org/presentationml/2006/ole">
            <p:oleObj spid="_x0000_s186370" name="Bitmap Image" r:id="rId17" imgW="2076740" imgH="828791" progId="PBrush">
              <p:embed/>
            </p:oleObj>
          </a:graphicData>
        </a:graphic>
      </p:graphicFrame>
      <p:sp>
        <p:nvSpPr>
          <p:cNvPr id="5132" name="Text Box 12"/>
          <p:cNvSpPr txBox="1">
            <a:spLocks noChangeArrowheads="1"/>
          </p:cNvSpPr>
          <p:nvPr userDrawn="1"/>
        </p:nvSpPr>
        <p:spPr bwMode="auto">
          <a:xfrm>
            <a:off x="381000" y="6172200"/>
            <a:ext cx="22098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000" smtClean="0">
                <a:solidFill>
                  <a:srgbClr val="000000"/>
                </a:solidFill>
                <a:ea typeface="宋体" pitchFamily="2" charset="-122"/>
              </a:rPr>
              <a:t>Chen Li, </a:t>
            </a:r>
            <a:r>
              <a:rPr lang="en-US" altLang="zh-CN" sz="1000" u="sng" smtClean="0">
                <a:solidFill>
                  <a:srgbClr val="0066FF"/>
                </a:solidFill>
                <a:ea typeface="宋体" pitchFamily="2" charset="-122"/>
              </a:rPr>
              <a:t>Jiaheng Lu</a:t>
            </a:r>
            <a:r>
              <a:rPr lang="en-US" altLang="zh-CN" sz="1000" smtClean="0">
                <a:solidFill>
                  <a:srgbClr val="000000"/>
                </a:solidFill>
                <a:ea typeface="宋体" pitchFamily="2" charset="-122"/>
              </a:rPr>
              <a:t>, Yiming Lu</a:t>
            </a: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单击此处编辑母版标题样式</a:t>
            </a:r>
          </a:p>
        </p:txBody>
      </p:sp>
      <p:sp>
        <p:nvSpPr>
          <p:cNvPr id="11366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单击此处编辑母版文本样式</a:t>
            </a:r>
          </a:p>
          <a:p>
            <a:pPr lvl="1"/>
            <a:r>
              <a:rPr lang="en-US" altLang="zh-CN" smtClean="0"/>
              <a:t>第二级</a:t>
            </a:r>
          </a:p>
          <a:p>
            <a:pPr lvl="2"/>
            <a:r>
              <a:rPr lang="en-US" altLang="zh-CN" smtClean="0"/>
              <a:t>第三级</a:t>
            </a:r>
          </a:p>
          <a:p>
            <a:pPr lvl="3"/>
            <a:r>
              <a:rPr lang="en-US" altLang="zh-CN" smtClean="0"/>
              <a:t>第四级</a:t>
            </a:r>
          </a:p>
          <a:p>
            <a:pPr lvl="4"/>
            <a:r>
              <a:rPr lang="en-US" altLang="zh-CN" smtClean="0"/>
              <a:t>第五级</a:t>
            </a:r>
          </a:p>
        </p:txBody>
      </p:sp>
      <p:sp>
        <p:nvSpPr>
          <p:cNvPr id="11366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11367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</a:rPr>
              <a:t>VGRAM</a:t>
            </a:r>
          </a:p>
        </p:txBody>
      </p:sp>
      <p:sp>
        <p:nvSpPr>
          <p:cNvPr id="11367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BE8D6D-A5D7-4B69-8240-A1CE8E48E56B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316913" y="188913"/>
            <a:ext cx="485775" cy="900112"/>
            <a:chOff x="5136" y="960"/>
            <a:chExt cx="528" cy="864"/>
          </a:xfrm>
        </p:grpSpPr>
        <p:sp>
          <p:nvSpPr>
            <p:cNvPr id="11367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7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7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7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7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7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7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8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69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70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70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70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1370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UCI_White_Template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563" y="828675"/>
            <a:ext cx="8628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400" tIns="40200" rIns="80400" bIns="402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2189163"/>
            <a:ext cx="82931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275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5413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>
            <a:lvl1pPr>
              <a:defRPr sz="13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75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>
            <a:lvl1pPr algn="ctr">
              <a:defRPr sz="13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31213" y="6245225"/>
            <a:ext cx="588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1475A3D-7D69-42A9-A347-57EF2DB6ABEA}" type="slidenum">
              <a:rPr lang="zh-CN" altLang="en-US">
                <a:solidFill>
                  <a:srgbClr val="000000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3729038" y="91210"/>
            <a:ext cx="5414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dirty="0" smtClean="0">
                <a:solidFill>
                  <a:srgbClr val="FFFFFF"/>
                </a:solidFill>
                <a:ea typeface="宋体" pitchFamily="2" charset="-122"/>
                <a:cs typeface="Arial" charset="0"/>
              </a:rPr>
              <a:t>Speaker: Alexander </a:t>
            </a:r>
            <a:r>
              <a:rPr lang="en-US" altLang="zh-CN" sz="1600" b="1" dirty="0" err="1" smtClean="0">
                <a:solidFill>
                  <a:srgbClr val="FFFFFF"/>
                </a:solidFill>
                <a:ea typeface="宋体" pitchFamily="2" charset="-122"/>
                <a:cs typeface="Arial" charset="0"/>
              </a:rPr>
              <a:t>Behm</a:t>
            </a:r>
            <a:endParaRPr lang="en-US" altLang="zh-CN" sz="1600" b="1" dirty="0">
              <a:solidFill>
                <a:srgbClr val="FFFFFF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0" y="6586682"/>
            <a:ext cx="9144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Space-Constrained Gram-Based Indexing for Efficient Approximate String Search, </a:t>
            </a:r>
            <a:r>
              <a:rPr lang="en-US" altLang="zh-CN" sz="1400" b="1" dirty="0" smtClean="0">
                <a:solidFill>
                  <a:srgbClr val="000000"/>
                </a:solidFill>
                <a:ea typeface="宋体" pitchFamily="2" charset="-122"/>
                <a:cs typeface="Arial" charset="0"/>
              </a:rPr>
              <a:t>ICDE 2009</a:t>
            </a:r>
            <a:r>
              <a:rPr lang="en-US" altLang="zh-CN" sz="1400" b="1" dirty="0">
                <a:solidFill>
                  <a:srgbClr val="000000"/>
                </a:solidFill>
                <a:ea typeface="宋体" pitchFamily="2" charset="-122"/>
                <a:cs typeface="Arial" charset="0"/>
              </a:rPr>
              <a:t>, Shanghai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</p:sldLayoutIdLst>
  <p:timing>
    <p:tnLst>
      <p:par>
        <p:cTn id="1" dur="indefinite" restart="never" nodeType="tmRoot"/>
      </p:par>
    </p:tnLst>
  </p:timing>
  <p:txStyles>
    <p:titleStyle>
      <a:lvl1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+mj-lt"/>
          <a:ea typeface="+mj-ea"/>
          <a:cs typeface="+mj-cs"/>
        </a:defRPr>
      </a:lvl1pPr>
      <a:lvl2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2pPr>
      <a:lvl3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3pPr>
      <a:lvl4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4pPr>
      <a:lvl5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5pPr>
      <a:lvl6pPr marL="4572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6pPr>
      <a:lvl7pPr marL="9144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7pPr>
      <a:lvl8pPr marL="13716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8pPr>
      <a:lvl9pPr marL="18288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9pPr>
    </p:titleStyle>
    <p:bodyStyle>
      <a:lvl1pPr marL="346075" indent="-346075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0988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500">
          <a:solidFill>
            <a:schemeClr val="tx1"/>
          </a:solidFill>
          <a:latin typeface="+mn-lt"/>
        </a:defRPr>
      </a:lvl2pPr>
      <a:lvl3pPr marL="1150938" indent="-295275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300">
          <a:solidFill>
            <a:schemeClr val="tx1"/>
          </a:solidFill>
          <a:latin typeface="+mn-lt"/>
        </a:defRPr>
      </a:lvl3pPr>
      <a:lvl4pPr marL="1608138" indent="-342900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4pPr>
      <a:lvl5pPr marL="2001838" indent="-279400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5pPr>
      <a:lvl6pPr marL="24590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6pPr>
      <a:lvl7pPr marL="29162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7pPr>
      <a:lvl8pPr marL="33734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8pPr>
      <a:lvl9pPr marL="38306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lamingo.ics.uci.edu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ormatik.uni-trier.de/~ley/db/indices/a-tree/b/Bernstein:Philip_A=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informatik.uni-trier.de/~ley/db/indices/a-tree/c/Chiu:Dah=Ming_W=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5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2.bin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5.bin"/><Relationship Id="rId39" Type="http://schemas.openxmlformats.org/officeDocument/2006/relationships/oleObject" Target="../embeddings/oleObject38.bin"/><Relationship Id="rId3" Type="http://schemas.openxmlformats.org/officeDocument/2006/relationships/notesSlide" Target="../notesSlides/notesSlide7.xml"/><Relationship Id="rId21" Type="http://schemas.openxmlformats.org/officeDocument/2006/relationships/oleObject" Target="../embeddings/oleObject20.bin"/><Relationship Id="rId34" Type="http://schemas.openxmlformats.org/officeDocument/2006/relationships/oleObject" Target="../embeddings/oleObject33.bin"/><Relationship Id="rId42" Type="http://schemas.openxmlformats.org/officeDocument/2006/relationships/oleObject" Target="../embeddings/oleObject41.bin"/><Relationship Id="rId7" Type="http://schemas.openxmlformats.org/officeDocument/2006/relationships/oleObject" Target="../embeddings/oleObject6.bin"/><Relationship Id="rId12" Type="http://schemas.openxmlformats.org/officeDocument/2006/relationships/oleObject" Target="../embeddings/oleObject11.bin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4.bin"/><Relationship Id="rId33" Type="http://schemas.openxmlformats.org/officeDocument/2006/relationships/oleObject" Target="../embeddings/oleObject32.bin"/><Relationship Id="rId38" Type="http://schemas.openxmlformats.org/officeDocument/2006/relationships/oleObject" Target="../embeddings/oleObject37.bin"/><Relationship Id="rId2" Type="http://schemas.openxmlformats.org/officeDocument/2006/relationships/slideLayout" Target="../slideLayouts/slideLayout78.xml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9.bin"/><Relationship Id="rId29" Type="http://schemas.openxmlformats.org/officeDocument/2006/relationships/oleObject" Target="../embeddings/oleObject28.bin"/><Relationship Id="rId41" Type="http://schemas.openxmlformats.org/officeDocument/2006/relationships/oleObject" Target="../embeddings/oleObject4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10.bin"/><Relationship Id="rId24" Type="http://schemas.openxmlformats.org/officeDocument/2006/relationships/oleObject" Target="../embeddings/oleObject23.bin"/><Relationship Id="rId32" Type="http://schemas.openxmlformats.org/officeDocument/2006/relationships/oleObject" Target="../embeddings/oleObject31.bin"/><Relationship Id="rId37" Type="http://schemas.openxmlformats.org/officeDocument/2006/relationships/oleObject" Target="../embeddings/oleObject36.bin"/><Relationship Id="rId40" Type="http://schemas.openxmlformats.org/officeDocument/2006/relationships/oleObject" Target="../embeddings/oleObject39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22.bin"/><Relationship Id="rId28" Type="http://schemas.openxmlformats.org/officeDocument/2006/relationships/oleObject" Target="../embeddings/oleObject27.bin"/><Relationship Id="rId36" Type="http://schemas.openxmlformats.org/officeDocument/2006/relationships/oleObject" Target="../embeddings/oleObject35.bin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18.bin"/><Relationship Id="rId31" Type="http://schemas.openxmlformats.org/officeDocument/2006/relationships/oleObject" Target="../embeddings/oleObject30.bin"/><Relationship Id="rId44" Type="http://schemas.openxmlformats.org/officeDocument/2006/relationships/oleObject" Target="../embeddings/oleObject43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21.bin"/><Relationship Id="rId27" Type="http://schemas.openxmlformats.org/officeDocument/2006/relationships/oleObject" Target="../embeddings/oleObject26.bin"/><Relationship Id="rId30" Type="http://schemas.openxmlformats.org/officeDocument/2006/relationships/oleObject" Target="../embeddings/oleObject29.bin"/><Relationship Id="rId35" Type="http://schemas.openxmlformats.org/officeDocument/2006/relationships/oleObject" Target="../embeddings/oleObject34.bin"/><Relationship Id="rId43" Type="http://schemas.openxmlformats.org/officeDocument/2006/relationships/oleObject" Target="../embeddings/oleObject4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8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9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flamingo.ics.uci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838199"/>
            <a:ext cx="7772400" cy="1143001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Flamingo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Software Package on Approximate String Queries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2209800"/>
            <a:ext cx="6400800" cy="16764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Chen Li</a:t>
            </a:r>
          </a:p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UC Irvine and </a:t>
            </a:r>
            <a:r>
              <a:rPr lang="en-US" sz="40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Bimaple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2530" name="Picture 2" descr="http://flamingo.ics.uci.edu/images/flamingo_midd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3733800"/>
            <a:ext cx="1600200" cy="2261617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429000" y="6019800"/>
            <a:ext cx="2776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hlinkClick r:id="rId3"/>
              </a:rPr>
              <a:t>http://flamingo.ics.uci.edu/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762000"/>
            <a:ext cx="7772400" cy="1295400"/>
          </a:xfrm>
        </p:spPr>
        <p:txBody>
          <a:bodyPr/>
          <a:lstStyle/>
          <a:p>
            <a:r>
              <a:rPr lang="en-US" dirty="0" smtClean="0"/>
              <a:t>Personal Journey: 2001 …</a:t>
            </a:r>
            <a:endParaRPr lang="en-US" dirty="0"/>
          </a:p>
        </p:txBody>
      </p:sp>
      <p:pic>
        <p:nvPicPr>
          <p:cNvPr id="18436" name="Picture 4" descr="http://cva.stanford.edu/people/davidbbs/photos/stanford_memorial_church/memorial%20church%20stanford%20large%20panorama%2020M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1" y="2590800"/>
            <a:ext cx="3883906" cy="2590800"/>
          </a:xfrm>
          <a:prstGeom prst="rect">
            <a:avLst/>
          </a:prstGeom>
          <a:noFill/>
        </p:spPr>
      </p:pic>
      <p:pic>
        <p:nvPicPr>
          <p:cNvPr id="7" name="Picture 2" descr="http://chem.ps.uci.edu/~lawm/UCI%20seal%20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5181600"/>
            <a:ext cx="3200400" cy="825420"/>
          </a:xfrm>
          <a:prstGeom prst="rect">
            <a:avLst/>
          </a:prstGeom>
          <a:noFill/>
        </p:spPr>
      </p:pic>
      <p:pic>
        <p:nvPicPr>
          <p:cNvPr id="8" name="Picture 4" descr="http://www.wildnatureimages.com/images%203/Newport-Beach.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2590800"/>
            <a:ext cx="3905729" cy="2590800"/>
          </a:xfrm>
          <a:prstGeom prst="rect">
            <a:avLst/>
          </a:prstGeom>
          <a:noFill/>
        </p:spPr>
      </p:pic>
      <p:pic>
        <p:nvPicPr>
          <p:cNvPr id="1026" name="Picture 2" descr="Stanford University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3000" y="5334000"/>
            <a:ext cx="2428875" cy="5715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Integration Problems?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242" name="AutoShape 2" descr="data:image/jpg;base64,/9j/4AAQSkZJRgABAQAAAQABAAD/2wCEAAkGBhAQDw0PEhQSExQWFRQVEBQUFBAQHBQPFRYVFRUXHhUXHCceIBolHhkSKzsgIycpLSw4Fx8xNTAsNTIrLC4BCQoKDgwNGA8PGikiGSQqNCopKTUsNikuLSosKSwpKiwpLCkpKTApKTIsNTUsNi8qKTYsNikpLCwuKSkpKSksKf/AABEIAHgAUAMBIgACEQEDEQH/xAAcAAEAAgMBAQEAAAAAAAAAAAAAAQUEBgcDCAL/xAA3EAABAwIEBAIGCQUAAAAAAAABAAIDBBEFEiExBhNBYVGRByJxgaGxCBQjMnKCosLhQkNSU2L/xAAYAQEBAQEBAAAAAAAAAAAAAAAAAgEDBP/EAB0RAQEAAgIDAQAAAAAAAAAAAAABAhESIQNBYTH/2gAMAwEAAhEDEQA/AO4qERAREQeNZWxwsdJK9sbBu5xDQPeVh4VxJSVRcIJo5CNw06+2x1t3XD/TfxFNJiH1Zrjy4Q0Bt9OY4AuNvHWy07DMRnp3slaXMkaQQRmB7e5Ttcw6fWihVvDeIvqKSnmkYWPc0Z2uaW2dsTY9Dv71ZKkCIiApREEKHvDQSSABuTovOqqOWwu9w9p2Wt43Uue2FpO8zNL5QQLu/b8FrZNud+kvBKeXEc1z9plcT0OmU2Php8Fa8FcPCWoaHxxkR2JN8/qi9tCNNh5q04poGy09K57Xxvc9jWnKJDE92tnBp1BtbQ72PRbDwhhscFOxzAS6S7nvcAHEdAdTt4bLjfHeXx6p5pPHr22MBEBUrq8iFKIghFKIKjiB+kTfFxPkP5+CqaqMcymLwDZ1/YQCP3FW2PPsYdLi7r/pVVXtLmNsCBfQ2vl/hVGsjkO5MgaQb5jESL5HC+T2gEBZNDTv5VHZ5aGMaZBa5f6g0PhrfovOhdZgBttuNisn60xv2N7PEYcBbdgOUkdDbr4XHiFrFhTuuPevVYtFLcW8llKL+gilEEIiIK/HMPdNFZhs8G7dSOxC1hmLOhfyn2DmnKRcaW+a3daLjmHMfUz3t965B7gLYqMTi3ijk0jnRkhxIHq7tBO9hr037qi4ZxKSp15l5CdS5wzWt4E3t2Wfi2EMcxrQ3bYqoo+HmuyhwBF/AHrbqpyw5Xt1wz4zp0GahmyNySEO63GjtO2oCzMNr+QDHM5t9MjWZnuOmvqgZjr2XlR8H0/Lic3mxGwJ5U00YP5Q7L8FeU1GyMWY0Da56m3UuOpPcrLhjcpl7cud1pNNU5wTle38bS2/exXqiKkpUIiAtBxue1bMe9v0hb8uf8Rx2q5u5B8wEVH7ALwsehj9V3Z7wPc5ZNAfVC8MGcHRSkf7pxp2kcFbG/Uh+zj/AAj5L2XjSMIjjB3DRdeqhiUUIglFCIJXFvTVjNXQ11NNC6zJYbOa4B7TJG8g6HY2czZdoXGvpFwXZhj/AAM7fMREfIoNHk9LtaIiGRwMdtzA17rH2OdlvusLgjEKqsxPDoJJpHMdUtkczMQ0kPMzyWjQ3IO/itbmqG8jl/1c3P8AlyZfmug/R+w4SYrJKf7MD3N/E8tj+Rcg+jkUIglFCIJREQQuSfSJmjFHQtJPMMr3MbYm8YZZ+vSxdH5rri5h6e8J5tDTSj70c1hpe4kbYi/TUN8kHztIwkXXcPo5YfEI8QnzXlLo48n+MQBcHX/6JI/Iqn0T4JS1lFiNJK0PcZGEutqz1CGkX2IPM81c8B8DYph2Isa0MdT5jzJBYXi16b5ttNdveg7IilEBERBCIiAq/H8EiraaWmlvleNxu1w1Dh3BREGt8EejlmGGYiR0rpLXJAbYC9tLnXXe/Rbm1tkRBKIiAiIg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data:image/jpg;base64,/9j/4AAQSkZJRgABAQAAAQABAAD/2wCEAAkGBhAQDw0PEhQSExQWFRQVEBQUFBAQHBQPFRYVFRUXHhUXHCceIBolHhkSKzsgIycpLSw4Fx8xNTAsNTIrLC4BCQoKDgwNGA8PGikiGSQqNCopKTUsNikuLSosKSwpKiwpLCkpKTApKTIsNTUsNi8qKTYsNikpLCwuKSkpKSksKf/AABEIAHgAUAMBIgACEQEDEQH/xAAcAAEAAgMBAQEAAAAAAAAAAAAAAQUEBgcDCAL/xAA3EAABAwIEBAIGCQUAAAAAAAABAAIDBBEFEiExBhNBYVGRByJxgaGxCBQjMnKCosLhQkNSU2L/xAAYAQEBAQEBAAAAAAAAAAAAAAAAAgEDBP/EAB0RAQEAAgIDAQAAAAAAAAAAAAABAhESIQNBYTH/2gAMAwEAAhEDEQA/AO4qERAREQeNZWxwsdJK9sbBu5xDQPeVh4VxJSVRcIJo5CNw06+2x1t3XD/TfxFNJiH1Zrjy4Q0Bt9OY4AuNvHWy07DMRnp3slaXMkaQQRmB7e5Ttcw6fWihVvDeIvqKSnmkYWPc0Z2uaW2dsTY9Dv71ZKkCIiApREEKHvDQSSABuTovOqqOWwu9w9p2Wt43Uue2FpO8zNL5QQLu/b8FrZNud+kvBKeXEc1z9plcT0OmU2Php8Fa8FcPCWoaHxxkR2JN8/qi9tCNNh5q04poGy09K57Xxvc9jWnKJDE92tnBp1BtbQ72PRbDwhhscFOxzAS6S7nvcAHEdAdTt4bLjfHeXx6p5pPHr22MBEBUrq8iFKIghFKIKjiB+kTfFxPkP5+CqaqMcymLwDZ1/YQCP3FW2PPsYdLi7r/pVVXtLmNsCBfQ2vl/hVGsjkO5MgaQb5jESL5HC+T2gEBZNDTv5VHZ5aGMaZBa5f6g0PhrfovOhdZgBttuNisn60xv2N7PEYcBbdgOUkdDbr4XHiFrFhTuuPevVYtFLcW8llKL+gilEEIiIK/HMPdNFZhs8G7dSOxC1hmLOhfyn2DmnKRcaW+a3daLjmHMfUz3t965B7gLYqMTi3ijk0jnRkhxIHq7tBO9hr037qi4ZxKSp15l5CdS5wzWt4E3t2Wfi2EMcxrQ3bYqoo+HmuyhwBF/AHrbqpyw5Xt1wz4zp0GahmyNySEO63GjtO2oCzMNr+QDHM5t9MjWZnuOmvqgZjr2XlR8H0/Lic3mxGwJ5U00YP5Q7L8FeU1GyMWY0Da56m3UuOpPcrLhjcpl7cud1pNNU5wTle38bS2/exXqiKkpUIiAtBxue1bMe9v0hb8uf8Rx2q5u5B8wEVH7ALwsehj9V3Z7wPc5ZNAfVC8MGcHRSkf7pxp2kcFbG/Uh+zj/AAj5L2XjSMIjjB3DRdeqhiUUIglFCIJXFvTVjNXQ11NNC6zJYbOa4B7TJG8g6HY2czZdoXGvpFwXZhj/AAM7fMREfIoNHk9LtaIiGRwMdtzA17rH2OdlvusLgjEKqsxPDoJJpHMdUtkczMQ0kPMzyWjQ3IO/itbmqG8jl/1c3P8AlyZfmug/R+w4SYrJKf7MD3N/E8tj+Rcg+jkUIglFCIJREQQuSfSJmjFHQtJPMMr3MbYm8YZZ+vSxdH5rri5h6e8J5tDTSj70c1hpe4kbYi/TUN8kHztIwkXXcPo5YfEI8QnzXlLo48n+MQBcHX/6JI/Iqn0T4JS1lFiNJK0PcZGEutqz1CGkX2IPM81c8B8DYph2Isa0MdT5jzJBYXi16b5ttNdveg7IilEBERBCIiAq/H8EiraaWmlvleNxu1w1Dh3BREGt8EejlmGGYiR0rpLXJAbYC9tLnXXe/Rbm1tkRBKIiAiIg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6" name="AutoShape 6" descr="data:image/jpg;base64,/9j/4AAQSkZJRgABAQAAAQABAAD/2wCEAAkGBhAQDw0PEhQSExQWFRQVEBQUFBAQHBQPFRYVFRUXHhUXHCceIBolHhkSKzsgIycpLSw4Fx8xNTAsNTIrLC4BCQoKDgwNGA8PGikiGSQqNCopKTUsNikuLSosKSwpKiwpLCkpKTApKTIsNTUsNi8qKTYsNikpLCwuKSkpKSksKf/AABEIAHgAUAMBIgACEQEDEQH/xAAcAAEAAgMBAQEAAAAAAAAAAAAAAQUEBgcDCAL/xAA3EAABAwIEBAIGCQUAAAAAAAABAAIDBBEFEiExBhNBYVGRByJxgaGxCBQjMnKCosLhQkNSU2L/xAAYAQEBAQEBAAAAAAAAAAAAAAAAAgEDBP/EAB0RAQEAAgIDAQAAAAAAAAAAAAABAhESIQNBYTH/2gAMAwEAAhEDEQA/AO4qERAREQeNZWxwsdJK9sbBu5xDQPeVh4VxJSVRcIJo5CNw06+2x1t3XD/TfxFNJiH1Zrjy4Q0Bt9OY4AuNvHWy07DMRnp3slaXMkaQQRmB7e5Ttcw6fWihVvDeIvqKSnmkYWPc0Z2uaW2dsTY9Dv71ZKkCIiApREEKHvDQSSABuTovOqqOWwu9w9p2Wt43Uue2FpO8zNL5QQLu/b8FrZNud+kvBKeXEc1z9plcT0OmU2Php8Fa8FcPCWoaHxxkR2JN8/qi9tCNNh5q04poGy09K57Xxvc9jWnKJDE92tnBp1BtbQ72PRbDwhhscFOxzAS6S7nvcAHEdAdTt4bLjfHeXx6p5pPHr22MBEBUrq8iFKIghFKIKjiB+kTfFxPkP5+CqaqMcymLwDZ1/YQCP3FW2PPsYdLi7r/pVVXtLmNsCBfQ2vl/hVGsjkO5MgaQb5jESL5HC+T2gEBZNDTv5VHZ5aGMaZBa5f6g0PhrfovOhdZgBttuNisn60xv2N7PEYcBbdgOUkdDbr4XHiFrFhTuuPevVYtFLcW8llKL+gilEEIiIK/HMPdNFZhs8G7dSOxC1hmLOhfyn2DmnKRcaW+a3daLjmHMfUz3t965B7gLYqMTi3ijk0jnRkhxIHq7tBO9hr037qi4ZxKSp15l5CdS5wzWt4E3t2Wfi2EMcxrQ3bYqoo+HmuyhwBF/AHrbqpyw5Xt1wz4zp0GahmyNySEO63GjtO2oCzMNr+QDHM5t9MjWZnuOmvqgZjr2XlR8H0/Lic3mxGwJ5U00YP5Q7L8FeU1GyMWY0Da56m3UuOpPcrLhjcpl7cud1pNNU5wTle38bS2/exXqiKkpUIiAtBxue1bMe9v0hb8uf8Rx2q5u5B8wEVH7ALwsehj9V3Z7wPc5ZNAfVC8MGcHRSkf7pxp2kcFbG/Uh+zj/AAj5L2XjSMIjjB3DRdeqhiUUIglFCIJXFvTVjNXQ11NNC6zJYbOa4B7TJG8g6HY2czZdoXGvpFwXZhj/AAM7fMREfIoNHk9LtaIiGRwMdtzA17rH2OdlvusLgjEKqsxPDoJJpHMdUtkczMQ0kPMzyWjQ3IO/itbmqG8jl/1c3P8AlyZfmug/R+w4SYrJKf7MD3N/E8tj+Rcg+jkUIglFCIJREQQuSfSJmjFHQtJPMMr3MbYm8YZZ+vSxdH5rri5h6e8J5tDTSj70c1hpe4kbYi/TUN8kHztIwkXXcPo5YfEI8QnzXlLo48n+MQBcHX/6JI/Iqn0T4JS1lFiNJK0PcZGEutqz1CGkX2IPM81c8B8DYph2Isa0MdT5jzJBYXi16b5ttNdveg7IilEBERBCIiAq/H8EiraaWmlvleNxu1w1Dh3BREGt8EejlmGGYiR0rpLXJAbYC9tLnXXe/Rbm1tkRBKIiAiIg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48" name="Picture 8" descr="http://www.cdc.gov/niosh/blog/images/eh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752600"/>
            <a:ext cx="4724400" cy="3149600"/>
          </a:xfrm>
          <a:prstGeom prst="rect">
            <a:avLst/>
          </a:prstGeom>
          <a:noFill/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5257800"/>
            <a:ext cx="8229600" cy="8683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Talking to medical doctors…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A250-071A-4F33-9609-0F45341377BA}" type="slidenum">
              <a:rPr lang="en-US">
                <a:solidFill>
                  <a:srgbClr val="000000"/>
                </a:solidFill>
              </a:rPr>
              <a:pPr/>
              <a:t>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38238" y="465138"/>
            <a:ext cx="5697537" cy="1143000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Example</a:t>
            </a:r>
          </a:p>
        </p:txBody>
      </p:sp>
      <p:graphicFrame>
        <p:nvGraphicFramePr>
          <p:cNvPr id="880754" name="Group 114"/>
          <p:cNvGraphicFramePr>
            <a:graphicFrameLocks noGrp="1"/>
          </p:cNvGraphicFramePr>
          <p:nvPr>
            <p:ph idx="1"/>
          </p:nvPr>
        </p:nvGraphicFramePr>
        <p:xfrm>
          <a:off x="192088" y="2711450"/>
          <a:ext cx="4341812" cy="1678940"/>
        </p:xfrm>
        <a:graphic>
          <a:graphicData uri="http://schemas.openxmlformats.org/drawingml/2006/table">
            <a:tbl>
              <a:tblPr/>
              <a:tblGrid>
                <a:gridCol w="1450975"/>
                <a:gridCol w="1604962"/>
                <a:gridCol w="1285875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Jack Lemmon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430-871-8294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Maple 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Harrison Ford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292-918-2913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Culver Blvd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Tom Hanks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234-762-1234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Main 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0720" name="Rectangle 80"/>
          <p:cNvSpPr>
            <a:spLocks noChangeArrowheads="1"/>
          </p:cNvSpPr>
          <p:nvPr/>
        </p:nvSpPr>
        <p:spPr bwMode="auto">
          <a:xfrm>
            <a:off x="1550988" y="2176463"/>
            <a:ext cx="10334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smtClean="0">
                <a:solidFill>
                  <a:srgbClr val="000000"/>
                </a:solidFill>
                <a:ea typeface="宋体" pitchFamily="2" charset="-122"/>
              </a:rPr>
              <a:t>Table R</a:t>
            </a:r>
            <a:endParaRPr lang="en-US" sz="2000" smtClean="0">
              <a:solidFill>
                <a:srgbClr val="000000"/>
              </a:solidFill>
            </a:endParaRPr>
          </a:p>
        </p:txBody>
      </p:sp>
      <p:graphicFrame>
        <p:nvGraphicFramePr>
          <p:cNvPr id="880796" name="Group 156"/>
          <p:cNvGraphicFramePr>
            <a:graphicFrameLocks noGrp="1"/>
          </p:cNvGraphicFramePr>
          <p:nvPr/>
        </p:nvGraphicFramePr>
        <p:xfrm>
          <a:off x="4598988" y="2711450"/>
          <a:ext cx="4341812" cy="1678940"/>
        </p:xfrm>
        <a:graphic>
          <a:graphicData uri="http://schemas.openxmlformats.org/drawingml/2006/table">
            <a:tbl>
              <a:tblPr/>
              <a:tblGrid>
                <a:gridCol w="1450975"/>
                <a:gridCol w="1604962"/>
                <a:gridCol w="1285875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Ton Hanks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234-162-1234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Main Street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Kevin Spacey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928-184-2813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Frost Blvd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Jack Lemon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430-817-8294</a:t>
                      </a:r>
                      <a:endParaRPr kumimoji="0" lang="en-US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Maple Street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0781" name="Rectangle 141"/>
          <p:cNvSpPr>
            <a:spLocks noChangeArrowheads="1"/>
          </p:cNvSpPr>
          <p:nvPr/>
        </p:nvSpPr>
        <p:spPr bwMode="auto">
          <a:xfrm>
            <a:off x="5957888" y="2176463"/>
            <a:ext cx="10175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smtClean="0">
                <a:solidFill>
                  <a:srgbClr val="000000"/>
                </a:solidFill>
                <a:ea typeface="宋体" pitchFamily="2" charset="-122"/>
              </a:rPr>
              <a:t>Table S</a:t>
            </a:r>
            <a:endParaRPr lang="en-US" sz="2000" smtClean="0">
              <a:solidFill>
                <a:srgbClr val="000000"/>
              </a:solidFill>
            </a:endParaRPr>
          </a:p>
        </p:txBody>
      </p:sp>
      <p:sp>
        <p:nvSpPr>
          <p:cNvPr id="880782" name="Rectangle 142"/>
          <p:cNvSpPr>
            <a:spLocks noChangeArrowheads="1"/>
          </p:cNvSpPr>
          <p:nvPr/>
        </p:nvSpPr>
        <p:spPr bwMode="auto">
          <a:xfrm>
            <a:off x="698500" y="4926013"/>
            <a:ext cx="78359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60000"/>
              <a:buFont typeface="Wingdings" pitchFamily="2" charset="2"/>
              <a:buChar char="n"/>
            </a:pPr>
            <a:r>
              <a:rPr lang="en-US" altLang="zh-CN" sz="2800" smtClean="0">
                <a:solidFill>
                  <a:srgbClr val="000000"/>
                </a:solidFill>
                <a:ea typeface="宋体" pitchFamily="2" charset="-122"/>
              </a:rPr>
              <a:t>Find records from different datasets that could be the same entity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FFDD-300B-4CA3-88B6-02F70C329F64}" type="slidenum">
              <a:rPr lang="en-US">
                <a:solidFill>
                  <a:srgbClr val="000000"/>
                </a:solidFill>
              </a:rPr>
              <a:pPr/>
              <a:t>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9038" y="436563"/>
            <a:ext cx="7793037" cy="1143000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Another Example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2913"/>
            <a:ext cx="7772400" cy="4419600"/>
          </a:xfrm>
        </p:spPr>
        <p:txBody>
          <a:bodyPr/>
          <a:lstStyle/>
          <a:p>
            <a:r>
              <a:rPr lang="en-US" altLang="zh-CN" sz="2800">
                <a:ea typeface="宋体" pitchFamily="2" charset="-122"/>
                <a:hlinkClick r:id="rId3"/>
              </a:rPr>
              <a:t>P. Bernstein</a:t>
            </a:r>
            <a:r>
              <a:rPr lang="en-US" altLang="zh-CN" sz="2800">
                <a:ea typeface="宋体" pitchFamily="2" charset="-122"/>
              </a:rPr>
              <a:t>, </a:t>
            </a:r>
            <a:r>
              <a:rPr lang="en-US" altLang="zh-CN" sz="2800">
                <a:ea typeface="宋体" pitchFamily="2" charset="-122"/>
                <a:hlinkClick r:id="rId4"/>
              </a:rPr>
              <a:t>D. Chiu</a:t>
            </a:r>
            <a:r>
              <a:rPr lang="en-US" altLang="zh-CN" sz="2800">
                <a:ea typeface="宋体" pitchFamily="2" charset="-122"/>
              </a:rPr>
              <a:t>: Using Semi-Joins to Solve Relational Queries. </a:t>
            </a:r>
            <a:r>
              <a:rPr lang="en-US" altLang="zh-CN" sz="2800">
                <a:solidFill>
                  <a:schemeClr val="folHlink"/>
                </a:solidFill>
                <a:ea typeface="宋体" pitchFamily="2" charset="-122"/>
              </a:rPr>
              <a:t>JACM 28(1)</a:t>
            </a:r>
            <a:r>
              <a:rPr lang="en-US" altLang="zh-CN" sz="2800">
                <a:ea typeface="宋体" pitchFamily="2" charset="-122"/>
              </a:rPr>
              <a:t>: 25-40(1981)</a:t>
            </a:r>
          </a:p>
          <a:p>
            <a:r>
              <a:rPr lang="en-US" altLang="zh-CN" sz="2800">
                <a:solidFill>
                  <a:schemeClr val="hlink"/>
                </a:solidFill>
                <a:latin typeface="Verdana" pitchFamily="34" charset="0"/>
                <a:ea typeface="宋体" pitchFamily="2" charset="-122"/>
              </a:rPr>
              <a:t>Philip A. Bernstein, Dah-Ming W. Chiu</a:t>
            </a:r>
            <a:r>
              <a:rPr lang="en-US" altLang="zh-CN" sz="2800">
                <a:latin typeface="Verdana" pitchFamily="34" charset="0"/>
                <a:ea typeface="宋体" pitchFamily="2" charset="-122"/>
              </a:rPr>
              <a:t>, Using Semi-Joins to Solve Relational Queries, </a:t>
            </a:r>
            <a:r>
              <a:rPr lang="en-US" altLang="zh-CN" sz="2800">
                <a:solidFill>
                  <a:schemeClr val="folHlink"/>
                </a:solidFill>
                <a:latin typeface="Verdana" pitchFamily="34" charset="0"/>
                <a:ea typeface="宋体" pitchFamily="2" charset="-122"/>
              </a:rPr>
              <a:t>Journal of the ACM (JACM)</a:t>
            </a:r>
            <a:r>
              <a:rPr lang="en-US" altLang="zh-CN" sz="2800">
                <a:latin typeface="Verdana" pitchFamily="34" charset="0"/>
                <a:ea typeface="宋体" pitchFamily="2" charset="-122"/>
              </a:rPr>
              <a:t>, v.28 n.1, p.25-40, Jan. 1981 </a:t>
            </a:r>
            <a:endParaRPr lang="en-US" altLang="zh-CN" sz="280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9F-D580-4FDB-932A-F6E34EDDBA2A}" type="slidenum">
              <a:rPr lang="en-US">
                <a:solidFill>
                  <a:srgbClr val="000000"/>
                </a:solidFill>
              </a:rPr>
              <a:pPr/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463" y="417513"/>
            <a:ext cx="7793037" cy="1143000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Challenges </a:t>
            </a:r>
          </a:p>
        </p:txBody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363" y="1779588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How to define </a:t>
            </a:r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good similarity functions</a:t>
            </a:r>
            <a:r>
              <a:rPr lang="en-US" altLang="zh-CN" sz="2800" dirty="0">
                <a:ea typeface="宋体" pitchFamily="2" charset="-122"/>
              </a:rPr>
              <a:t>?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Many functions proposed (edit distance, cosine similarity, …)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Domain knowledge is critical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Names: “Wall </a:t>
            </a:r>
            <a:r>
              <a:rPr lang="en-US" altLang="zh-CN" sz="2000" dirty="0">
                <a:solidFill>
                  <a:schemeClr val="folHlink"/>
                </a:solidFill>
                <a:ea typeface="宋体" pitchFamily="2" charset="-122"/>
              </a:rPr>
              <a:t>Street</a:t>
            </a:r>
            <a:r>
              <a:rPr lang="en-US" altLang="zh-CN" sz="2000" dirty="0">
                <a:ea typeface="宋体" pitchFamily="2" charset="-122"/>
              </a:rPr>
              <a:t> Journal” and “LA Times”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Address: “Main </a:t>
            </a:r>
            <a:r>
              <a:rPr lang="en-US" altLang="zh-CN" sz="2000" dirty="0">
                <a:solidFill>
                  <a:schemeClr val="folHlink"/>
                </a:solidFill>
                <a:ea typeface="宋体" pitchFamily="2" charset="-122"/>
              </a:rPr>
              <a:t>Street</a:t>
            </a:r>
            <a:r>
              <a:rPr lang="en-US" altLang="zh-CN" sz="2000" dirty="0">
                <a:ea typeface="宋体" pitchFamily="2" charset="-122"/>
              </a:rPr>
              <a:t>” versus “Main St”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How to do matching </a:t>
            </a:r>
            <a:r>
              <a:rPr lang="en-US" altLang="zh-CN" sz="2800" dirty="0" smtClean="0">
                <a:solidFill>
                  <a:schemeClr val="hlink"/>
                </a:solidFill>
                <a:ea typeface="宋体" pitchFamily="2" charset="-122"/>
              </a:rPr>
              <a:t>efficiently</a:t>
            </a:r>
            <a:endParaRPr lang="en-US" altLang="zh-CN" sz="200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60B1-399D-4D8A-8573-30A7B5C19B65}" type="slidenum">
              <a:rPr lang="en-US">
                <a:solidFill>
                  <a:srgbClr val="000000"/>
                </a:solidFill>
              </a:rPr>
              <a:pPr/>
              <a:t>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17538"/>
            <a:ext cx="6916737" cy="100012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Nested-loop?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6438" y="1751013"/>
            <a:ext cx="7829550" cy="1095375"/>
          </a:xfrm>
        </p:spPr>
        <p:txBody>
          <a:bodyPr/>
          <a:lstStyle/>
          <a:p>
            <a:r>
              <a:rPr lang="en-US" altLang="zh-CN" sz="2400" dirty="0">
                <a:ea typeface="宋体" pitchFamily="2" charset="-122"/>
              </a:rPr>
              <a:t>Not desirable for large data sets</a:t>
            </a:r>
          </a:p>
          <a:p>
            <a:r>
              <a:rPr lang="en-US" altLang="zh-CN" sz="2400" dirty="0">
                <a:ea typeface="宋体" pitchFamily="2" charset="-122"/>
              </a:rPr>
              <a:t>5 hours for 30K strings</a:t>
            </a:r>
            <a:r>
              <a:rPr lang="en-US" altLang="zh-CN" sz="2400" dirty="0" smtClean="0">
                <a:ea typeface="宋体" pitchFamily="2" charset="-122"/>
              </a:rPr>
              <a:t>! (in 2002)</a:t>
            </a:r>
            <a:endParaRPr lang="en-US" altLang="zh-CN" sz="2400" dirty="0">
              <a:ea typeface="宋体" pitchFamily="2" charset="-122"/>
            </a:endParaRPr>
          </a:p>
        </p:txBody>
      </p:sp>
      <p:pic>
        <p:nvPicPr>
          <p:cNvPr id="890884" name="Picture 4" descr="nes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0625" y="2605088"/>
            <a:ext cx="5786438" cy="4043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2A5D-6358-4CA2-A611-86A91B0D3C98}" type="slidenum">
              <a:rPr lang="en-US">
                <a:solidFill>
                  <a:srgbClr val="000000"/>
                </a:solidFill>
              </a:rPr>
              <a:pPr/>
              <a:t>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463" y="436563"/>
            <a:ext cx="7412037" cy="1143000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Our first attempt </a:t>
            </a: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</a:rPr>
              <a:t>(DASFAA 2003)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894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776413"/>
            <a:ext cx="8834437" cy="1042987"/>
          </a:xfrm>
        </p:spPr>
        <p:txBody>
          <a:bodyPr/>
          <a:lstStyle/>
          <a:p>
            <a:pPr>
              <a:buNone/>
            </a:pPr>
            <a:r>
              <a:rPr lang="en-US" altLang="zh-CN" sz="2800" dirty="0" smtClean="0">
                <a:latin typeface="+mn-ea"/>
              </a:rPr>
              <a:t>- Map strings into a high-dimensional Euclidean space</a:t>
            </a:r>
          </a:p>
          <a:p>
            <a:pPr>
              <a:buNone/>
            </a:pPr>
            <a:r>
              <a:rPr lang="en-US" altLang="zh-CN" sz="2800" dirty="0" smtClean="0">
                <a:latin typeface="+mn-ea"/>
              </a:rPr>
              <a:t>- Do a similarity join in the Euclidean space</a:t>
            </a:r>
            <a:endParaRPr lang="en-US" altLang="zh-CN" sz="2800" dirty="0">
              <a:latin typeface="+mn-ea"/>
            </a:endParaRPr>
          </a:p>
        </p:txBody>
      </p:sp>
      <p:pic>
        <p:nvPicPr>
          <p:cNvPr id="894980" name="Picture 4" descr="oldpoi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914650"/>
            <a:ext cx="4572000" cy="3429000"/>
          </a:xfrm>
          <a:prstGeom prst="rect">
            <a:avLst/>
          </a:prstGeom>
          <a:noFill/>
        </p:spPr>
      </p:pic>
      <p:pic>
        <p:nvPicPr>
          <p:cNvPr id="894981" name="Picture 5" descr="newpoin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9575" y="2733675"/>
            <a:ext cx="4343400" cy="3257550"/>
          </a:xfrm>
          <a:prstGeom prst="rect">
            <a:avLst/>
          </a:prstGeom>
          <a:noFill/>
        </p:spPr>
      </p:pic>
      <p:pic>
        <p:nvPicPr>
          <p:cNvPr id="894982" name="Picture 6" descr="arrow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43375" y="3768725"/>
            <a:ext cx="990600" cy="576263"/>
          </a:xfrm>
          <a:prstGeom prst="rect">
            <a:avLst/>
          </a:prstGeom>
          <a:noFill/>
        </p:spPr>
      </p:pic>
      <p:sp>
        <p:nvSpPr>
          <p:cNvPr id="894983" name="Rectangle 7"/>
          <p:cNvSpPr>
            <a:spLocks noChangeArrowheads="1"/>
          </p:cNvSpPr>
          <p:nvPr/>
        </p:nvSpPr>
        <p:spPr bwMode="auto">
          <a:xfrm>
            <a:off x="1862138" y="5627688"/>
            <a:ext cx="21828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000000"/>
                </a:solidFill>
                <a:ea typeface="宋体" pitchFamily="2" charset="-122"/>
              </a:rPr>
              <a:t>Metric Space</a:t>
            </a:r>
            <a:endParaRPr lang="en-US" sz="2800" smtClean="0">
              <a:solidFill>
                <a:srgbClr val="000000"/>
              </a:solidFill>
            </a:endParaRPr>
          </a:p>
        </p:txBody>
      </p:sp>
      <p:sp>
        <p:nvSpPr>
          <p:cNvPr id="894984" name="Rectangle 8"/>
          <p:cNvSpPr>
            <a:spLocks noChangeArrowheads="1"/>
          </p:cNvSpPr>
          <p:nvPr/>
        </p:nvSpPr>
        <p:spPr bwMode="auto">
          <a:xfrm>
            <a:off x="5500688" y="5675313"/>
            <a:ext cx="27225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000000"/>
                </a:solidFill>
                <a:ea typeface="宋体" pitchFamily="2" charset="-122"/>
              </a:rPr>
              <a:t>Euclidean Space</a:t>
            </a:r>
            <a:endParaRPr lang="en-US" sz="28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30238" y="1808163"/>
            <a:ext cx="7772400" cy="11064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>
                <a:ea typeface="SimSun" pitchFamily="2" charset="-122"/>
              </a:rPr>
              <a:t>Use data set 1 (54K names) as an example</a:t>
            </a:r>
          </a:p>
          <a:p>
            <a:pPr>
              <a:lnSpc>
                <a:spcPct val="90000"/>
              </a:lnSpc>
            </a:pPr>
            <a:r>
              <a:rPr lang="en-US" altLang="zh-CN" sz="2400">
                <a:ea typeface="SimSun" pitchFamily="2" charset="-122"/>
              </a:rPr>
              <a:t>k=2, d=20</a:t>
            </a:r>
          </a:p>
          <a:p>
            <a:pPr lvl="1">
              <a:lnSpc>
                <a:spcPct val="90000"/>
              </a:lnSpc>
            </a:pPr>
            <a:r>
              <a:rPr lang="en-US" altLang="zh-CN" sz="2000">
                <a:ea typeface="SimSun" pitchFamily="2" charset="-122"/>
              </a:rPr>
              <a:t>Use k’=5.2 to differentiate similar and dissimilar pairs.</a:t>
            </a:r>
          </a:p>
        </p:txBody>
      </p:sp>
      <p:pic>
        <p:nvPicPr>
          <p:cNvPr id="907267" name="Picture 3" descr="dissimil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3352800"/>
            <a:ext cx="3838575" cy="2862263"/>
          </a:xfrm>
          <a:prstGeom prst="rect">
            <a:avLst/>
          </a:prstGeom>
          <a:noFill/>
        </p:spPr>
      </p:pic>
      <p:pic>
        <p:nvPicPr>
          <p:cNvPr id="907268" name="Picture 4" descr="simila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3311525"/>
            <a:ext cx="3856038" cy="2940050"/>
          </a:xfrm>
          <a:prstGeom prst="rect">
            <a:avLst/>
          </a:prstGeom>
          <a:noFill/>
        </p:spPr>
      </p:pic>
      <p:sp>
        <p:nvSpPr>
          <p:cNvPr id="907269" name="Line 5"/>
          <p:cNvSpPr>
            <a:spLocks noChangeShapeType="1"/>
          </p:cNvSpPr>
          <p:nvPr/>
        </p:nvSpPr>
        <p:spPr bwMode="auto">
          <a:xfrm>
            <a:off x="5905500" y="3362325"/>
            <a:ext cx="0" cy="2771775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/>
              <a:t>Can it preserve distances?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330700" y="3552825"/>
            <a:ext cx="1536700" cy="2374900"/>
            <a:chOff x="2728" y="2238"/>
            <a:chExt cx="968" cy="1496"/>
          </a:xfrm>
        </p:grpSpPr>
        <p:sp>
          <p:nvSpPr>
            <p:cNvPr id="907271" name="Line 7"/>
            <p:cNvSpPr>
              <a:spLocks noChangeShapeType="1"/>
            </p:cNvSpPr>
            <p:nvPr/>
          </p:nvSpPr>
          <p:spPr bwMode="auto">
            <a:xfrm>
              <a:off x="2728" y="2238"/>
              <a:ext cx="968" cy="13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907272" name="Line 8"/>
            <p:cNvSpPr>
              <a:spLocks noChangeShapeType="1"/>
            </p:cNvSpPr>
            <p:nvPr/>
          </p:nvSpPr>
          <p:spPr bwMode="auto">
            <a:xfrm flipH="1" flipV="1">
              <a:off x="2728" y="3704"/>
              <a:ext cx="936" cy="3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miter lim="800000"/>
              <a:headEnd type="triangle" w="med" len="med"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07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07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6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10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altLang="zh-CN" sz="3600" dirty="0" smtClean="0">
                <a:ea typeface="SimSun" pitchFamily="2" charset="-122"/>
              </a:rPr>
              <a:t>2</a:t>
            </a:r>
            <a:r>
              <a:rPr lang="en-US" altLang="zh-CN" sz="3600" baseline="30000" dirty="0" smtClean="0">
                <a:ea typeface="SimSun" pitchFamily="2" charset="-122"/>
              </a:rPr>
              <a:t>nd</a:t>
            </a:r>
            <a:r>
              <a:rPr lang="en-US" altLang="zh-CN" sz="3600" dirty="0" smtClean="0">
                <a:ea typeface="SimSun" pitchFamily="2" charset="-122"/>
              </a:rPr>
              <a:t> Problem: Selectivity Estimation</a:t>
            </a:r>
            <a:endParaRPr lang="en-US" sz="3600" dirty="0"/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2743200" y="2819400"/>
          <a:ext cx="2478087" cy="2136775"/>
        </p:xfrm>
        <a:graphic>
          <a:graphicData uri="http://schemas.openxmlformats.org/presentationml/2006/ole">
            <p:oleObj spid="_x0000_s120834" name="Visio" r:id="rId4" imgW="1953720" imgH="1622880" progId="Visio.Drawing.11">
              <p:embed/>
            </p:oleObj>
          </a:graphicData>
        </a:graphic>
      </p:graphicFrame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804862" y="3538538"/>
            <a:ext cx="19288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latin typeface="Arial" charset="0"/>
                <a:ea typeface="SimSun" pitchFamily="2" charset="-122"/>
              </a:rPr>
              <a:t>A bag of strings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1528762" y="2360613"/>
            <a:ext cx="38100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990000"/>
                </a:solidFill>
                <a:ea typeface="SimSun" pitchFamily="2" charset="-122"/>
              </a:rPr>
              <a:t>Input</a:t>
            </a:r>
            <a:r>
              <a:rPr lang="en-US" altLang="zh-CN" smtClean="0">
                <a:solidFill>
                  <a:srgbClr val="000000"/>
                </a:solidFill>
                <a:ea typeface="SimSun" pitchFamily="2" charset="-122"/>
              </a:rPr>
              <a:t>: fuzzy string predicate </a:t>
            </a:r>
            <a:r>
              <a:rPr lang="en-US" altLang="zh-CN" i="1" smtClean="0">
                <a:solidFill>
                  <a:srgbClr val="000000"/>
                </a:solidFill>
                <a:ea typeface="SimSun" pitchFamily="2" charset="-122"/>
              </a:rPr>
              <a:t>P(q, </a:t>
            </a:r>
            <a:r>
              <a:rPr lang="el-GR" altLang="zh-CN" i="1" smtClean="0">
                <a:solidFill>
                  <a:srgbClr val="000000"/>
                </a:solidFill>
                <a:cs typeface="Arial" charset="0"/>
              </a:rPr>
              <a:t>δ</a:t>
            </a:r>
            <a:r>
              <a:rPr lang="en-US" altLang="zh-CN" i="1" smtClean="0">
                <a:solidFill>
                  <a:srgbClr val="000000"/>
                </a:solidFill>
                <a:ea typeface="SimSun" pitchFamily="2" charset="-122"/>
              </a:rPr>
              <a:t>)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5403850" y="2346325"/>
            <a:ext cx="32337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3333CC"/>
                </a:solidFill>
                <a:latin typeface="Garamond" pitchFamily="18" charset="0"/>
                <a:ea typeface="SimSun" pitchFamily="2" charset="-122"/>
              </a:rPr>
              <a:t>star </a:t>
            </a:r>
            <a:r>
              <a:rPr lang="en-US" altLang="zh-CN" u="sng" smtClean="0">
                <a:solidFill>
                  <a:srgbClr val="990000"/>
                </a:solidFill>
                <a:latin typeface="Garamond" pitchFamily="18" charset="0"/>
                <a:ea typeface="SimSun" pitchFamily="2" charset="-122"/>
              </a:rPr>
              <a:t>SIMILARTO</a:t>
            </a:r>
            <a:r>
              <a:rPr lang="en-US" altLang="zh-CN" smtClean="0">
                <a:solidFill>
                  <a:srgbClr val="3333CC"/>
                </a:solidFill>
                <a:latin typeface="Garamond" pitchFamily="18" charset="0"/>
                <a:ea typeface="SimSun" pitchFamily="2" charset="-122"/>
              </a:rPr>
              <a:t> ’Schwarrzenger’</a:t>
            </a:r>
            <a:endParaRPr lang="en-US" smtClean="0">
              <a:solidFill>
                <a:srgbClr val="3333CC"/>
              </a:solidFill>
              <a:latin typeface="Garamond" pitchFamily="18" charset="0"/>
              <a:ea typeface="SimSun" pitchFamily="2" charset="-122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1428750" y="5122863"/>
            <a:ext cx="5081587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990000"/>
                </a:solidFill>
                <a:ea typeface="SimSun" pitchFamily="2" charset="-122"/>
              </a:rPr>
              <a:t>Output</a:t>
            </a:r>
            <a:r>
              <a:rPr lang="en-US" altLang="zh-CN" smtClean="0">
                <a:solidFill>
                  <a:srgbClr val="000000"/>
                </a:solidFill>
                <a:ea typeface="SimSun" pitchFamily="2" charset="-122"/>
              </a:rPr>
              <a:t>: # of strings </a:t>
            </a:r>
            <a:r>
              <a:rPr lang="en-US" altLang="zh-CN" i="1" smtClean="0">
                <a:solidFill>
                  <a:srgbClr val="000000"/>
                </a:solidFill>
                <a:ea typeface="SimSun" pitchFamily="2" charset="-122"/>
              </a:rPr>
              <a:t>s</a:t>
            </a:r>
            <a:r>
              <a:rPr lang="en-US" altLang="zh-CN" smtClean="0">
                <a:solidFill>
                  <a:srgbClr val="000000"/>
                </a:solidFill>
                <a:ea typeface="SimSun" pitchFamily="2" charset="-122"/>
              </a:rPr>
              <a:t> that satisfy </a:t>
            </a:r>
            <a:r>
              <a:rPr lang="en-US" altLang="zh-CN" i="1" smtClean="0">
                <a:solidFill>
                  <a:srgbClr val="3333CC"/>
                </a:solidFill>
                <a:ea typeface="SimSun" pitchFamily="2" charset="-122"/>
              </a:rPr>
              <a:t>dist(s,q) &lt;= </a:t>
            </a:r>
            <a:r>
              <a:rPr lang="el-GR" altLang="zh-CN" i="1" smtClean="0">
                <a:solidFill>
                  <a:srgbClr val="3333CC"/>
                </a:solidFill>
                <a:cs typeface="Arial" charset="0"/>
              </a:rPr>
              <a:t>δ</a:t>
            </a:r>
            <a:endParaRPr lang="en-US" altLang="zh-CN" i="1" smtClean="0">
              <a:solidFill>
                <a:srgbClr val="3333CC"/>
              </a:solidFill>
              <a:ea typeface="SimSun" pitchFamily="2" charset="-122"/>
            </a:endParaRPr>
          </a:p>
        </p:txBody>
      </p:sp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4271962" y="4146550"/>
          <a:ext cx="100013" cy="100013"/>
        </p:xfrm>
        <a:graphic>
          <a:graphicData uri="http://schemas.openxmlformats.org/presentationml/2006/ole">
            <p:oleObj spid="_x0000_s120835" name="Visio" r:id="rId5" imgW="100800" imgH="100800" progId="Visio.Drawing.11">
              <p:embed/>
            </p:oleObj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/>
        </p:nvGraphicFramePr>
        <p:xfrm>
          <a:off x="4271962" y="3575050"/>
          <a:ext cx="100013" cy="100013"/>
        </p:xfrm>
        <a:graphic>
          <a:graphicData uri="http://schemas.openxmlformats.org/presentationml/2006/ole">
            <p:oleObj spid="_x0000_s120836" name="Visio" r:id="rId6" imgW="100800" imgH="100800" progId="Visio.Drawing.11">
              <p:embed/>
            </p:oleObj>
          </a:graphicData>
        </a:graphic>
      </p:graphicFrame>
      <p:graphicFrame>
        <p:nvGraphicFramePr>
          <p:cNvPr id="19" name="Object 14"/>
          <p:cNvGraphicFramePr>
            <a:graphicFrameLocks noChangeAspect="1"/>
          </p:cNvGraphicFramePr>
          <p:nvPr/>
        </p:nvGraphicFramePr>
        <p:xfrm>
          <a:off x="4424362" y="3927475"/>
          <a:ext cx="100013" cy="100013"/>
        </p:xfrm>
        <a:graphic>
          <a:graphicData uri="http://schemas.openxmlformats.org/presentationml/2006/ole">
            <p:oleObj spid="_x0000_s120837" name="Visio" r:id="rId7" imgW="100800" imgH="100800" progId="Visio.Drawing.11">
              <p:embed/>
            </p:oleObj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4424362" y="3355975"/>
          <a:ext cx="100013" cy="100013"/>
        </p:xfrm>
        <a:graphic>
          <a:graphicData uri="http://schemas.openxmlformats.org/presentationml/2006/ole">
            <p:oleObj spid="_x0000_s120838" name="Visio" r:id="rId8" imgW="100800" imgH="100800" progId="Visio.Drawing.11">
              <p:embed/>
            </p:oleObj>
          </a:graphicData>
        </a:graphic>
      </p:graphicFrame>
      <p:graphicFrame>
        <p:nvGraphicFramePr>
          <p:cNvPr id="21" name="Object 16"/>
          <p:cNvGraphicFramePr>
            <a:graphicFrameLocks noChangeAspect="1"/>
          </p:cNvGraphicFramePr>
          <p:nvPr/>
        </p:nvGraphicFramePr>
        <p:xfrm>
          <a:off x="3719512" y="4298950"/>
          <a:ext cx="100013" cy="100013"/>
        </p:xfrm>
        <a:graphic>
          <a:graphicData uri="http://schemas.openxmlformats.org/presentationml/2006/ole">
            <p:oleObj spid="_x0000_s120839" name="Visio" r:id="rId9" imgW="100800" imgH="100800" progId="Visio.Drawing.11">
              <p:embed/>
            </p:oleObj>
          </a:graphicData>
        </a:graphic>
      </p:graphicFrame>
      <p:graphicFrame>
        <p:nvGraphicFramePr>
          <p:cNvPr id="22" name="Object 17"/>
          <p:cNvGraphicFramePr>
            <a:graphicFrameLocks noChangeAspect="1"/>
          </p:cNvGraphicFramePr>
          <p:nvPr/>
        </p:nvGraphicFramePr>
        <p:xfrm>
          <a:off x="3719512" y="3727450"/>
          <a:ext cx="100013" cy="100013"/>
        </p:xfrm>
        <a:graphic>
          <a:graphicData uri="http://schemas.openxmlformats.org/presentationml/2006/ole">
            <p:oleObj spid="_x0000_s120840" name="Visio" r:id="rId10" imgW="100800" imgH="100800" progId="Visio.Drawing.11">
              <p:embed/>
            </p:oleObj>
          </a:graphicData>
        </a:graphic>
      </p:graphicFrame>
      <p:graphicFrame>
        <p:nvGraphicFramePr>
          <p:cNvPr id="23" name="Object 18"/>
          <p:cNvGraphicFramePr>
            <a:graphicFrameLocks noChangeAspect="1"/>
          </p:cNvGraphicFramePr>
          <p:nvPr/>
        </p:nvGraphicFramePr>
        <p:xfrm>
          <a:off x="3871912" y="4079875"/>
          <a:ext cx="100013" cy="100013"/>
        </p:xfrm>
        <a:graphic>
          <a:graphicData uri="http://schemas.openxmlformats.org/presentationml/2006/ole">
            <p:oleObj spid="_x0000_s120841" name="Visio" r:id="rId11" imgW="100800" imgH="100800" progId="Visio.Drawing.11">
              <p:embed/>
            </p:oleObj>
          </a:graphicData>
        </a:graphic>
      </p:graphicFrame>
      <p:graphicFrame>
        <p:nvGraphicFramePr>
          <p:cNvPr id="24" name="Object 19"/>
          <p:cNvGraphicFramePr>
            <a:graphicFrameLocks noChangeAspect="1"/>
          </p:cNvGraphicFramePr>
          <p:nvPr/>
        </p:nvGraphicFramePr>
        <p:xfrm>
          <a:off x="3871912" y="3508375"/>
          <a:ext cx="100013" cy="100013"/>
        </p:xfrm>
        <a:graphic>
          <a:graphicData uri="http://schemas.openxmlformats.org/presentationml/2006/ole">
            <p:oleObj spid="_x0000_s120842" name="Visio" r:id="rId12" imgW="100800" imgH="100800" progId="Visio.Drawing.11">
              <p:embed/>
            </p:oleObj>
          </a:graphicData>
        </a:graphic>
      </p:graphicFrame>
      <p:graphicFrame>
        <p:nvGraphicFramePr>
          <p:cNvPr id="25" name="Object 20"/>
          <p:cNvGraphicFramePr>
            <a:graphicFrameLocks noChangeAspect="1"/>
          </p:cNvGraphicFramePr>
          <p:nvPr/>
        </p:nvGraphicFramePr>
        <p:xfrm>
          <a:off x="3824287" y="3860800"/>
          <a:ext cx="100013" cy="100013"/>
        </p:xfrm>
        <a:graphic>
          <a:graphicData uri="http://schemas.openxmlformats.org/presentationml/2006/ole">
            <p:oleObj spid="_x0000_s120843" name="Visio" r:id="rId13" imgW="100800" imgH="100800" progId="Visio.Drawing.11">
              <p:embed/>
            </p:oleObj>
          </a:graphicData>
        </a:graphic>
      </p:graphicFrame>
      <p:graphicFrame>
        <p:nvGraphicFramePr>
          <p:cNvPr id="26" name="Object 21"/>
          <p:cNvGraphicFramePr>
            <a:graphicFrameLocks noChangeAspect="1"/>
          </p:cNvGraphicFramePr>
          <p:nvPr/>
        </p:nvGraphicFramePr>
        <p:xfrm>
          <a:off x="3824287" y="3289300"/>
          <a:ext cx="100013" cy="100013"/>
        </p:xfrm>
        <a:graphic>
          <a:graphicData uri="http://schemas.openxmlformats.org/presentationml/2006/ole">
            <p:oleObj spid="_x0000_s120844" name="Visio" r:id="rId14" imgW="100800" imgH="100800" progId="Visio.Drawing.11">
              <p:embed/>
            </p:oleObj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3976687" y="3641725"/>
          <a:ext cx="100013" cy="100013"/>
        </p:xfrm>
        <a:graphic>
          <a:graphicData uri="http://schemas.openxmlformats.org/presentationml/2006/ole">
            <p:oleObj spid="_x0000_s120845" name="Visio" r:id="rId15" imgW="100800" imgH="100800" progId="Visio.Drawing.11">
              <p:embed/>
            </p:oleObj>
          </a:graphicData>
        </a:graphic>
      </p:graphicFrame>
      <p:graphicFrame>
        <p:nvGraphicFramePr>
          <p:cNvPr id="28" name="Object 23"/>
          <p:cNvGraphicFramePr>
            <a:graphicFrameLocks noChangeAspect="1"/>
          </p:cNvGraphicFramePr>
          <p:nvPr/>
        </p:nvGraphicFramePr>
        <p:xfrm>
          <a:off x="3994150" y="2990850"/>
          <a:ext cx="100012" cy="100013"/>
        </p:xfrm>
        <a:graphic>
          <a:graphicData uri="http://schemas.openxmlformats.org/presentationml/2006/ole">
            <p:oleObj spid="_x0000_s120846" name="Visio" r:id="rId16" imgW="100800" imgH="100800" progId="Visio.Drawing.11">
              <p:embed/>
            </p:oleObj>
          </a:graphicData>
        </a:graphic>
      </p:graphicFrame>
      <p:graphicFrame>
        <p:nvGraphicFramePr>
          <p:cNvPr id="29" name="Object 24"/>
          <p:cNvGraphicFramePr>
            <a:graphicFrameLocks noChangeAspect="1"/>
          </p:cNvGraphicFramePr>
          <p:nvPr/>
        </p:nvGraphicFramePr>
        <p:xfrm>
          <a:off x="3271837" y="4013200"/>
          <a:ext cx="100013" cy="100013"/>
        </p:xfrm>
        <a:graphic>
          <a:graphicData uri="http://schemas.openxmlformats.org/presentationml/2006/ole">
            <p:oleObj spid="_x0000_s120847" name="Visio" r:id="rId17" imgW="100800" imgH="100800" progId="Visio.Drawing.11">
              <p:embed/>
            </p:oleObj>
          </a:graphicData>
        </a:graphic>
      </p:graphicFrame>
      <p:graphicFrame>
        <p:nvGraphicFramePr>
          <p:cNvPr id="30" name="Object 25"/>
          <p:cNvGraphicFramePr>
            <a:graphicFrameLocks noChangeAspect="1"/>
          </p:cNvGraphicFramePr>
          <p:nvPr/>
        </p:nvGraphicFramePr>
        <p:xfrm>
          <a:off x="3271837" y="3441700"/>
          <a:ext cx="100013" cy="100013"/>
        </p:xfrm>
        <a:graphic>
          <a:graphicData uri="http://schemas.openxmlformats.org/presentationml/2006/ole">
            <p:oleObj spid="_x0000_s120848" name="Visio" r:id="rId18" imgW="100800" imgH="100800" progId="Visio.Drawing.11">
              <p:embed/>
            </p:oleObj>
          </a:graphicData>
        </a:graphic>
      </p:graphicFrame>
      <p:graphicFrame>
        <p:nvGraphicFramePr>
          <p:cNvPr id="31" name="Object 26"/>
          <p:cNvGraphicFramePr>
            <a:graphicFrameLocks noChangeAspect="1"/>
          </p:cNvGraphicFramePr>
          <p:nvPr/>
        </p:nvGraphicFramePr>
        <p:xfrm>
          <a:off x="3424237" y="3794125"/>
          <a:ext cx="100013" cy="100013"/>
        </p:xfrm>
        <a:graphic>
          <a:graphicData uri="http://schemas.openxmlformats.org/presentationml/2006/ole">
            <p:oleObj spid="_x0000_s120849" name="Visio" r:id="rId19" imgW="100800" imgH="100800" progId="Visio.Drawing.11">
              <p:embed/>
            </p:oleObj>
          </a:graphicData>
        </a:graphic>
      </p:graphicFrame>
      <p:graphicFrame>
        <p:nvGraphicFramePr>
          <p:cNvPr id="32" name="Object 27"/>
          <p:cNvGraphicFramePr>
            <a:graphicFrameLocks noChangeAspect="1"/>
          </p:cNvGraphicFramePr>
          <p:nvPr/>
        </p:nvGraphicFramePr>
        <p:xfrm>
          <a:off x="3424237" y="3222625"/>
          <a:ext cx="100013" cy="100013"/>
        </p:xfrm>
        <a:graphic>
          <a:graphicData uri="http://schemas.openxmlformats.org/presentationml/2006/ole">
            <p:oleObj spid="_x0000_s120850" name="Visio" r:id="rId20" imgW="100800" imgH="100800" progId="Visio.Drawing.11">
              <p:embed/>
            </p:oleObj>
          </a:graphicData>
        </a:graphic>
      </p:graphicFrame>
      <p:graphicFrame>
        <p:nvGraphicFramePr>
          <p:cNvPr id="33" name="Object 28"/>
          <p:cNvGraphicFramePr>
            <a:graphicFrameLocks noChangeAspect="1"/>
          </p:cNvGraphicFramePr>
          <p:nvPr/>
        </p:nvGraphicFramePr>
        <p:xfrm>
          <a:off x="4672012" y="4556125"/>
          <a:ext cx="100013" cy="100013"/>
        </p:xfrm>
        <a:graphic>
          <a:graphicData uri="http://schemas.openxmlformats.org/presentationml/2006/ole">
            <p:oleObj spid="_x0000_s120851" name="Visio" r:id="rId21" imgW="100800" imgH="100800" progId="Visio.Drawing.11">
              <p:embed/>
            </p:oleObj>
          </a:graphicData>
        </a:graphic>
      </p:graphicFrame>
      <p:graphicFrame>
        <p:nvGraphicFramePr>
          <p:cNvPr id="34" name="Object 29"/>
          <p:cNvGraphicFramePr>
            <a:graphicFrameLocks noChangeAspect="1"/>
          </p:cNvGraphicFramePr>
          <p:nvPr/>
        </p:nvGraphicFramePr>
        <p:xfrm>
          <a:off x="4672012" y="3984625"/>
          <a:ext cx="100013" cy="100013"/>
        </p:xfrm>
        <a:graphic>
          <a:graphicData uri="http://schemas.openxmlformats.org/presentationml/2006/ole">
            <p:oleObj spid="_x0000_s120852" name="Visio" r:id="rId22" imgW="100800" imgH="100800" progId="Visio.Drawing.11">
              <p:embed/>
            </p:oleObj>
          </a:graphicData>
        </a:graphic>
      </p:graphicFrame>
      <p:graphicFrame>
        <p:nvGraphicFramePr>
          <p:cNvPr id="35" name="Object 30"/>
          <p:cNvGraphicFramePr>
            <a:graphicFrameLocks noChangeAspect="1"/>
          </p:cNvGraphicFramePr>
          <p:nvPr/>
        </p:nvGraphicFramePr>
        <p:xfrm>
          <a:off x="4824412" y="4337050"/>
          <a:ext cx="100013" cy="100013"/>
        </p:xfrm>
        <a:graphic>
          <a:graphicData uri="http://schemas.openxmlformats.org/presentationml/2006/ole">
            <p:oleObj spid="_x0000_s120853" name="Visio" r:id="rId23" imgW="100800" imgH="100800" progId="Visio.Drawing.11">
              <p:embed/>
            </p:oleObj>
          </a:graphicData>
        </a:graphic>
      </p:graphicFrame>
      <p:graphicFrame>
        <p:nvGraphicFramePr>
          <p:cNvPr id="36" name="Object 31"/>
          <p:cNvGraphicFramePr>
            <a:graphicFrameLocks noChangeAspect="1"/>
          </p:cNvGraphicFramePr>
          <p:nvPr/>
        </p:nvGraphicFramePr>
        <p:xfrm>
          <a:off x="4824412" y="3765550"/>
          <a:ext cx="100013" cy="100013"/>
        </p:xfrm>
        <a:graphic>
          <a:graphicData uri="http://schemas.openxmlformats.org/presentationml/2006/ole">
            <p:oleObj spid="_x0000_s120854" name="Visio" r:id="rId24" imgW="100800" imgH="100800" progId="Visio.Drawing.11">
              <p:embed/>
            </p:oleObj>
          </a:graphicData>
        </a:graphic>
      </p:graphicFrame>
      <p:graphicFrame>
        <p:nvGraphicFramePr>
          <p:cNvPr id="37" name="Object 32"/>
          <p:cNvGraphicFramePr>
            <a:graphicFrameLocks noChangeAspect="1"/>
          </p:cNvGraphicFramePr>
          <p:nvPr/>
        </p:nvGraphicFramePr>
        <p:xfrm>
          <a:off x="4119562" y="4708525"/>
          <a:ext cx="100013" cy="100013"/>
        </p:xfrm>
        <a:graphic>
          <a:graphicData uri="http://schemas.openxmlformats.org/presentationml/2006/ole">
            <p:oleObj spid="_x0000_s120855" name="Visio" r:id="rId25" imgW="100800" imgH="100800" progId="Visio.Drawing.11">
              <p:embed/>
            </p:oleObj>
          </a:graphicData>
        </a:graphic>
      </p:graphicFrame>
      <p:graphicFrame>
        <p:nvGraphicFramePr>
          <p:cNvPr id="38" name="Object 33"/>
          <p:cNvGraphicFramePr>
            <a:graphicFrameLocks noChangeAspect="1"/>
          </p:cNvGraphicFramePr>
          <p:nvPr/>
        </p:nvGraphicFramePr>
        <p:xfrm>
          <a:off x="4119562" y="4137025"/>
          <a:ext cx="100013" cy="100013"/>
        </p:xfrm>
        <a:graphic>
          <a:graphicData uri="http://schemas.openxmlformats.org/presentationml/2006/ole">
            <p:oleObj spid="_x0000_s120856" name="Visio" r:id="rId26" imgW="100800" imgH="100800" progId="Visio.Drawing.11">
              <p:embed/>
            </p:oleObj>
          </a:graphicData>
        </a:graphic>
      </p:graphicFrame>
      <p:graphicFrame>
        <p:nvGraphicFramePr>
          <p:cNvPr id="39" name="Object 34"/>
          <p:cNvGraphicFramePr>
            <a:graphicFrameLocks noChangeAspect="1"/>
          </p:cNvGraphicFramePr>
          <p:nvPr/>
        </p:nvGraphicFramePr>
        <p:xfrm>
          <a:off x="4271962" y="4489450"/>
          <a:ext cx="100013" cy="100013"/>
        </p:xfrm>
        <a:graphic>
          <a:graphicData uri="http://schemas.openxmlformats.org/presentationml/2006/ole">
            <p:oleObj spid="_x0000_s120857" name="Visio" r:id="rId27" imgW="100800" imgH="100800" progId="Visio.Drawing.11">
              <p:embed/>
            </p:oleObj>
          </a:graphicData>
        </a:graphic>
      </p:graphicFrame>
      <p:graphicFrame>
        <p:nvGraphicFramePr>
          <p:cNvPr id="40" name="Object 35"/>
          <p:cNvGraphicFramePr>
            <a:graphicFrameLocks noChangeAspect="1"/>
          </p:cNvGraphicFramePr>
          <p:nvPr/>
        </p:nvGraphicFramePr>
        <p:xfrm>
          <a:off x="4271962" y="3917950"/>
          <a:ext cx="100013" cy="100013"/>
        </p:xfrm>
        <a:graphic>
          <a:graphicData uri="http://schemas.openxmlformats.org/presentationml/2006/ole">
            <p:oleObj spid="_x0000_s120858" name="Visio" r:id="rId28" imgW="100800" imgH="100800" progId="Visio.Drawing.11">
              <p:embed/>
            </p:oleObj>
          </a:graphicData>
        </a:graphic>
      </p:graphicFrame>
      <p:graphicFrame>
        <p:nvGraphicFramePr>
          <p:cNvPr id="41" name="Object 36"/>
          <p:cNvGraphicFramePr>
            <a:graphicFrameLocks noChangeAspect="1"/>
          </p:cNvGraphicFramePr>
          <p:nvPr/>
        </p:nvGraphicFramePr>
        <p:xfrm>
          <a:off x="3448050" y="3694113"/>
          <a:ext cx="100012" cy="100012"/>
        </p:xfrm>
        <a:graphic>
          <a:graphicData uri="http://schemas.openxmlformats.org/presentationml/2006/ole">
            <p:oleObj spid="_x0000_s120859" name="Visio" r:id="rId29" imgW="100800" imgH="100800" progId="Visio.Drawing.11">
              <p:embed/>
            </p:oleObj>
          </a:graphicData>
        </a:graphic>
      </p:graphicFrame>
      <p:graphicFrame>
        <p:nvGraphicFramePr>
          <p:cNvPr id="42" name="Object 37"/>
          <p:cNvGraphicFramePr>
            <a:graphicFrameLocks noChangeAspect="1"/>
          </p:cNvGraphicFramePr>
          <p:nvPr/>
        </p:nvGraphicFramePr>
        <p:xfrm>
          <a:off x="3448050" y="3122613"/>
          <a:ext cx="100012" cy="100012"/>
        </p:xfrm>
        <a:graphic>
          <a:graphicData uri="http://schemas.openxmlformats.org/presentationml/2006/ole">
            <p:oleObj spid="_x0000_s120860" name="Visio" r:id="rId30" imgW="100800" imgH="100800" progId="Visio.Drawing.11">
              <p:embed/>
            </p:oleObj>
          </a:graphicData>
        </a:graphic>
      </p:graphicFrame>
      <p:graphicFrame>
        <p:nvGraphicFramePr>
          <p:cNvPr id="43" name="Object 38"/>
          <p:cNvGraphicFramePr>
            <a:graphicFrameLocks noChangeAspect="1"/>
          </p:cNvGraphicFramePr>
          <p:nvPr/>
        </p:nvGraphicFramePr>
        <p:xfrm>
          <a:off x="3600450" y="3475038"/>
          <a:ext cx="100012" cy="100012"/>
        </p:xfrm>
        <a:graphic>
          <a:graphicData uri="http://schemas.openxmlformats.org/presentationml/2006/ole">
            <p:oleObj spid="_x0000_s120861" name="Visio" r:id="rId31" imgW="100800" imgH="100800" progId="Visio.Drawing.11">
              <p:embed/>
            </p:oleObj>
          </a:graphicData>
        </a:graphic>
      </p:graphicFrame>
      <p:graphicFrame>
        <p:nvGraphicFramePr>
          <p:cNvPr id="44" name="Object 39"/>
          <p:cNvGraphicFramePr>
            <a:graphicFrameLocks noChangeAspect="1"/>
          </p:cNvGraphicFramePr>
          <p:nvPr/>
        </p:nvGraphicFramePr>
        <p:xfrm>
          <a:off x="4754562" y="3143250"/>
          <a:ext cx="100013" cy="100013"/>
        </p:xfrm>
        <a:graphic>
          <a:graphicData uri="http://schemas.openxmlformats.org/presentationml/2006/ole">
            <p:oleObj spid="_x0000_s120862" name="Visio" r:id="rId32" imgW="100800" imgH="100800" progId="Visio.Drawing.11">
              <p:embed/>
            </p:oleObj>
          </a:graphicData>
        </a:graphic>
      </p:graphicFrame>
      <p:graphicFrame>
        <p:nvGraphicFramePr>
          <p:cNvPr id="45" name="Object 40"/>
          <p:cNvGraphicFramePr>
            <a:graphicFrameLocks noChangeAspect="1"/>
          </p:cNvGraphicFramePr>
          <p:nvPr/>
        </p:nvGraphicFramePr>
        <p:xfrm>
          <a:off x="4813300" y="3562350"/>
          <a:ext cx="100012" cy="100013"/>
        </p:xfrm>
        <a:graphic>
          <a:graphicData uri="http://schemas.openxmlformats.org/presentationml/2006/ole">
            <p:oleObj spid="_x0000_s120863" name="Visio" r:id="rId33" imgW="100800" imgH="100800" progId="Visio.Drawing.11">
              <p:embed/>
            </p:oleObj>
          </a:graphicData>
        </a:graphic>
      </p:graphicFrame>
      <p:graphicFrame>
        <p:nvGraphicFramePr>
          <p:cNvPr id="46" name="Object 41"/>
          <p:cNvGraphicFramePr>
            <a:graphicFrameLocks noChangeAspect="1"/>
          </p:cNvGraphicFramePr>
          <p:nvPr/>
        </p:nvGraphicFramePr>
        <p:xfrm>
          <a:off x="2895600" y="3275013"/>
          <a:ext cx="100012" cy="100012"/>
        </p:xfrm>
        <a:graphic>
          <a:graphicData uri="http://schemas.openxmlformats.org/presentationml/2006/ole">
            <p:oleObj spid="_x0000_s120864" name="Visio" r:id="rId34" imgW="100800" imgH="100800" progId="Visio.Drawing.11">
              <p:embed/>
            </p:oleObj>
          </a:graphicData>
        </a:graphic>
      </p:graphicFrame>
      <p:graphicFrame>
        <p:nvGraphicFramePr>
          <p:cNvPr id="47" name="Object 42"/>
          <p:cNvGraphicFramePr>
            <a:graphicFrameLocks noChangeAspect="1"/>
          </p:cNvGraphicFramePr>
          <p:nvPr/>
        </p:nvGraphicFramePr>
        <p:xfrm>
          <a:off x="3048000" y="3627438"/>
          <a:ext cx="100012" cy="100012"/>
        </p:xfrm>
        <a:graphic>
          <a:graphicData uri="http://schemas.openxmlformats.org/presentationml/2006/ole">
            <p:oleObj spid="_x0000_s120865" name="Visio" r:id="rId35" imgW="100800" imgH="100800" progId="Visio.Drawing.11">
              <p:embed/>
            </p:oleObj>
          </a:graphicData>
        </a:graphic>
      </p:graphicFrame>
      <p:graphicFrame>
        <p:nvGraphicFramePr>
          <p:cNvPr id="48" name="Object 43"/>
          <p:cNvGraphicFramePr>
            <a:graphicFrameLocks noChangeAspect="1"/>
          </p:cNvGraphicFramePr>
          <p:nvPr/>
        </p:nvGraphicFramePr>
        <p:xfrm>
          <a:off x="3048000" y="3055938"/>
          <a:ext cx="100012" cy="100012"/>
        </p:xfrm>
        <a:graphic>
          <a:graphicData uri="http://schemas.openxmlformats.org/presentationml/2006/ole">
            <p:oleObj spid="_x0000_s120866" name="Visio" r:id="rId36" imgW="100800" imgH="100800" progId="Visio.Drawing.11">
              <p:embed/>
            </p:oleObj>
          </a:graphicData>
        </a:graphic>
      </p:graphicFrame>
      <p:graphicFrame>
        <p:nvGraphicFramePr>
          <p:cNvPr id="49" name="Object 44"/>
          <p:cNvGraphicFramePr>
            <a:graphicFrameLocks noChangeAspect="1"/>
          </p:cNvGraphicFramePr>
          <p:nvPr/>
        </p:nvGraphicFramePr>
        <p:xfrm>
          <a:off x="4192587" y="3452813"/>
          <a:ext cx="100013" cy="100012"/>
        </p:xfrm>
        <a:graphic>
          <a:graphicData uri="http://schemas.openxmlformats.org/presentationml/2006/ole">
            <p:oleObj spid="_x0000_s120867" name="Visio" r:id="rId37" imgW="100800" imgH="100800" progId="Visio.Drawing.11">
              <p:embed/>
            </p:oleObj>
          </a:graphicData>
        </a:graphic>
      </p:graphicFrame>
      <p:graphicFrame>
        <p:nvGraphicFramePr>
          <p:cNvPr id="50" name="Object 45"/>
          <p:cNvGraphicFramePr>
            <a:graphicFrameLocks noChangeAspect="1"/>
          </p:cNvGraphicFramePr>
          <p:nvPr/>
        </p:nvGraphicFramePr>
        <p:xfrm>
          <a:off x="4362450" y="3154363"/>
          <a:ext cx="100012" cy="100012"/>
        </p:xfrm>
        <a:graphic>
          <a:graphicData uri="http://schemas.openxmlformats.org/presentationml/2006/ole">
            <p:oleObj spid="_x0000_s120868" name="Visio" r:id="rId38" imgW="100800" imgH="100800" progId="Visio.Drawing.11">
              <p:embed/>
            </p:oleObj>
          </a:graphicData>
        </a:graphic>
      </p:graphicFrame>
      <p:graphicFrame>
        <p:nvGraphicFramePr>
          <p:cNvPr id="51" name="Object 46"/>
          <p:cNvGraphicFramePr>
            <a:graphicFrameLocks noChangeAspect="1"/>
          </p:cNvGraphicFramePr>
          <p:nvPr/>
        </p:nvGraphicFramePr>
        <p:xfrm>
          <a:off x="3792537" y="3386138"/>
          <a:ext cx="100013" cy="100012"/>
        </p:xfrm>
        <a:graphic>
          <a:graphicData uri="http://schemas.openxmlformats.org/presentationml/2006/ole">
            <p:oleObj spid="_x0000_s120869" name="Visio" r:id="rId39" imgW="100800" imgH="100800" progId="Visio.Drawing.11">
              <p:embed/>
            </p:oleObj>
          </a:graphicData>
        </a:graphic>
      </p:graphicFrame>
      <p:graphicFrame>
        <p:nvGraphicFramePr>
          <p:cNvPr id="52" name="Object 47"/>
          <p:cNvGraphicFramePr>
            <a:graphicFrameLocks noChangeAspect="1"/>
          </p:cNvGraphicFramePr>
          <p:nvPr/>
        </p:nvGraphicFramePr>
        <p:xfrm>
          <a:off x="3744912" y="3167063"/>
          <a:ext cx="100013" cy="100012"/>
        </p:xfrm>
        <a:graphic>
          <a:graphicData uri="http://schemas.openxmlformats.org/presentationml/2006/ole">
            <p:oleObj spid="_x0000_s120870" name="Visio" r:id="rId40" imgW="100800" imgH="100800" progId="Visio.Drawing.11">
              <p:embed/>
            </p:oleObj>
          </a:graphicData>
        </a:graphic>
      </p:graphicFrame>
      <p:graphicFrame>
        <p:nvGraphicFramePr>
          <p:cNvPr id="53" name="Object 48"/>
          <p:cNvGraphicFramePr>
            <a:graphicFrameLocks noChangeAspect="1"/>
          </p:cNvGraphicFramePr>
          <p:nvPr/>
        </p:nvGraphicFramePr>
        <p:xfrm>
          <a:off x="3959225" y="3341688"/>
          <a:ext cx="100012" cy="100012"/>
        </p:xfrm>
        <a:graphic>
          <a:graphicData uri="http://schemas.openxmlformats.org/presentationml/2006/ole">
            <p:oleObj spid="_x0000_s120871" name="Visio" r:id="rId41" imgW="100800" imgH="100800" progId="Visio.Drawing.11">
              <p:embed/>
            </p:oleObj>
          </a:graphicData>
        </a:graphic>
      </p:graphicFrame>
      <p:graphicFrame>
        <p:nvGraphicFramePr>
          <p:cNvPr id="54" name="Object 49"/>
          <p:cNvGraphicFramePr>
            <a:graphicFrameLocks noChangeAspect="1"/>
          </p:cNvGraphicFramePr>
          <p:nvPr/>
        </p:nvGraphicFramePr>
        <p:xfrm>
          <a:off x="3914775" y="2868613"/>
          <a:ext cx="100012" cy="100012"/>
        </p:xfrm>
        <a:graphic>
          <a:graphicData uri="http://schemas.openxmlformats.org/presentationml/2006/ole">
            <p:oleObj spid="_x0000_s120872" name="Visio" r:id="rId42" imgW="100800" imgH="100800" progId="Visio.Drawing.11">
              <p:embed/>
            </p:oleObj>
          </a:graphicData>
        </a:graphic>
      </p:graphicFrame>
      <p:graphicFrame>
        <p:nvGraphicFramePr>
          <p:cNvPr id="55" name="Object 50"/>
          <p:cNvGraphicFramePr>
            <a:graphicFrameLocks noChangeAspect="1"/>
          </p:cNvGraphicFramePr>
          <p:nvPr/>
        </p:nvGraphicFramePr>
        <p:xfrm>
          <a:off x="4675187" y="3021013"/>
          <a:ext cx="100013" cy="100012"/>
        </p:xfrm>
        <a:graphic>
          <a:graphicData uri="http://schemas.openxmlformats.org/presentationml/2006/ole">
            <p:oleObj spid="_x0000_s120873" name="Visio" r:id="rId43" imgW="100800" imgH="100800" progId="Visio.Drawing.11">
              <p:embed/>
            </p:oleObj>
          </a:graphicData>
        </a:graphic>
      </p:graphicFrame>
      <p:graphicFrame>
        <p:nvGraphicFramePr>
          <p:cNvPr id="56" name="Object 51"/>
          <p:cNvGraphicFramePr>
            <a:graphicFrameLocks noChangeAspect="1"/>
          </p:cNvGraphicFramePr>
          <p:nvPr/>
        </p:nvGraphicFramePr>
        <p:xfrm>
          <a:off x="4733925" y="3440113"/>
          <a:ext cx="100012" cy="100012"/>
        </p:xfrm>
        <a:graphic>
          <a:graphicData uri="http://schemas.openxmlformats.org/presentationml/2006/ole">
            <p:oleObj spid="_x0000_s120874" name="Visio" r:id="rId44" imgW="100800" imgH="100800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altLang="zh-CN" sz="3600" dirty="0" smtClean="0">
                <a:ea typeface="SimSun" pitchFamily="2" charset="-122"/>
              </a:rPr>
              <a:t>SEPIA: Intuition </a:t>
            </a: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</a:rPr>
              <a:t>(VLDB 2005)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57" name="Slide Number Placeholder 4"/>
          <p:cNvSpPr txBox="1">
            <a:spLocks/>
          </p:cNvSpPr>
          <p:nvPr/>
        </p:nvSpPr>
        <p:spPr bwMode="auto">
          <a:xfrm>
            <a:off x="3116263" y="6338888"/>
            <a:ext cx="1905000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39F07-833E-4CAC-A645-FB91DD95213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8" name="Object 6"/>
          <p:cNvGraphicFramePr>
            <a:graphicFrameLocks noChangeAspect="1"/>
          </p:cNvGraphicFramePr>
          <p:nvPr/>
        </p:nvGraphicFramePr>
        <p:xfrm>
          <a:off x="874713" y="2300288"/>
          <a:ext cx="6192837" cy="4090987"/>
        </p:xfrm>
        <a:graphic>
          <a:graphicData uri="http://schemas.openxmlformats.org/presentationml/2006/ole">
            <p:oleObj spid="_x0000_s184363" name="Visio" r:id="rId4" imgW="3097080" imgH="2046960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30238" y="1808163"/>
            <a:ext cx="7751762" cy="4516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4000" dirty="0" smtClean="0">
                <a:ea typeface="SimSun" pitchFamily="2" charset="-122"/>
              </a:rPr>
              <a:t>1M strings in 1ms</a:t>
            </a:r>
          </a:p>
          <a:p>
            <a:pPr>
              <a:lnSpc>
                <a:spcPct val="90000"/>
              </a:lnSpc>
            </a:pPr>
            <a:r>
              <a:rPr lang="en-US" altLang="zh-CN" sz="4000" dirty="0" smtClean="0">
                <a:ea typeface="SimSun" pitchFamily="2" charset="-122"/>
              </a:rPr>
              <a:t>10M strings in 10ms</a:t>
            </a: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Story of “1-1-10-10”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ln/>
        </p:spPr>
        <p:txBody>
          <a:bodyPr/>
          <a:lstStyle/>
          <a:p>
            <a:pPr>
              <a:defRPr/>
            </a:pPr>
            <a:fld id="{D35C30B8-A0CC-4531-BF4C-127307A0A77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314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1F14C937-1257-4840-BB22-25C80B73C93D}" type="slidenum">
              <a:rPr lang="zh-CN" altLang="en-US" sz="1000" smtClean="0">
                <a:solidFill>
                  <a:srgbClr val="000000"/>
                </a:solidFill>
                <a:ea typeface="宋体" pitchFamily="2" charset="-122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0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41300" y="122238"/>
            <a:ext cx="8075613" cy="1295400"/>
          </a:xfrm>
        </p:spPr>
        <p:txBody>
          <a:bodyPr/>
          <a:lstStyle/>
          <a:p>
            <a:pPr eaLnBrk="1" hangingPunct="1"/>
            <a:r>
              <a:rPr lang="en-US" altLang="zh-CN" sz="4100" b="1" smtClean="0">
                <a:ea typeface="宋体" pitchFamily="2" charset="-122"/>
              </a:rPr>
              <a:t> String </a:t>
            </a:r>
            <a:r>
              <a:rPr lang="en-US" altLang="zh-CN" sz="4100" b="1" smtClean="0">
                <a:ea typeface="宋体" pitchFamily="2" charset="-122"/>
                <a:sym typeface="Wingdings" pitchFamily="2" charset="2"/>
              </a:rPr>
              <a:t> </a:t>
            </a:r>
            <a:r>
              <a:rPr lang="en-US" altLang="zh-CN" sz="4100" b="1" smtClean="0">
                <a:ea typeface="宋体" pitchFamily="2" charset="-122"/>
              </a:rPr>
              <a:t>Grams</a:t>
            </a:r>
            <a:endParaRPr lang="zh-CN" altLang="en-US" sz="4100" b="1" smtClean="0">
              <a:ea typeface="宋体" pitchFamily="2" charset="-122"/>
            </a:endParaRP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84313"/>
            <a:ext cx="8229600" cy="630237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q-grams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136246" name="Text Box 54"/>
          <p:cNvSpPr txBox="1">
            <a:spLocks noChangeArrowheads="1"/>
          </p:cNvSpPr>
          <p:nvPr/>
        </p:nvSpPr>
        <p:spPr bwMode="auto">
          <a:xfrm>
            <a:off x="1143000" y="5410200"/>
            <a:ext cx="6934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000000"/>
                </a:solidFill>
                <a:ea typeface="宋体" pitchFamily="2" charset="-122"/>
              </a:rPr>
              <a:t>(un),(ni),(iv),(ve),(er),(rs),(sa),(al)</a:t>
            </a:r>
          </a:p>
        </p:txBody>
      </p:sp>
      <p:sp>
        <p:nvSpPr>
          <p:cNvPr id="13318" name="TextBox 24"/>
          <p:cNvSpPr txBox="1">
            <a:spLocks noChangeArrowheads="1"/>
          </p:cNvSpPr>
          <p:nvPr/>
        </p:nvSpPr>
        <p:spPr bwMode="auto">
          <a:xfrm>
            <a:off x="914400" y="2286000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For example: 2-gram</a:t>
            </a:r>
          </a:p>
        </p:txBody>
      </p:sp>
      <p:graphicFrame>
        <p:nvGraphicFramePr>
          <p:cNvPr id="139290" name="Group 26"/>
          <p:cNvGraphicFramePr>
            <a:graphicFrameLocks noGrp="1"/>
          </p:cNvGraphicFramePr>
          <p:nvPr/>
        </p:nvGraphicFramePr>
        <p:xfrm>
          <a:off x="2133600" y="2971800"/>
          <a:ext cx="4800600" cy="2286000"/>
        </p:xfrm>
        <a:graphic>
          <a:graphicData uri="http://schemas.openxmlformats.org/drawingml/2006/table">
            <a:tbl>
              <a:tblPr/>
              <a:tblGrid>
                <a:gridCol w="534988"/>
                <a:gridCol w="530225"/>
                <a:gridCol w="534987"/>
                <a:gridCol w="534988"/>
                <a:gridCol w="530225"/>
                <a:gridCol w="534987"/>
                <a:gridCol w="534988"/>
                <a:gridCol w="530225"/>
                <a:gridCol w="534987"/>
              </a:tblGrid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6269" name="Line 77"/>
          <p:cNvSpPr>
            <a:spLocks noChangeShapeType="1"/>
          </p:cNvSpPr>
          <p:nvPr/>
        </p:nvSpPr>
        <p:spPr bwMode="auto">
          <a:xfrm flipV="1">
            <a:off x="2133600" y="34290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" name="Line 77"/>
          <p:cNvSpPr>
            <a:spLocks noChangeShapeType="1"/>
          </p:cNvSpPr>
          <p:nvPr/>
        </p:nvSpPr>
        <p:spPr bwMode="auto">
          <a:xfrm flipV="1">
            <a:off x="2667000" y="35814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3" name="Line 77"/>
          <p:cNvSpPr>
            <a:spLocks noChangeShapeType="1"/>
          </p:cNvSpPr>
          <p:nvPr/>
        </p:nvSpPr>
        <p:spPr bwMode="auto">
          <a:xfrm flipV="1">
            <a:off x="3200400" y="38100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4" name="Line 77"/>
          <p:cNvSpPr>
            <a:spLocks noChangeShapeType="1"/>
          </p:cNvSpPr>
          <p:nvPr/>
        </p:nvSpPr>
        <p:spPr bwMode="auto">
          <a:xfrm flipV="1">
            <a:off x="3733800" y="40386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" name="Line 77"/>
          <p:cNvSpPr>
            <a:spLocks noChangeShapeType="1"/>
          </p:cNvSpPr>
          <p:nvPr/>
        </p:nvSpPr>
        <p:spPr bwMode="auto">
          <a:xfrm flipV="1">
            <a:off x="4267200" y="42672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" name="Line 77"/>
          <p:cNvSpPr>
            <a:spLocks noChangeShapeType="1"/>
          </p:cNvSpPr>
          <p:nvPr/>
        </p:nvSpPr>
        <p:spPr bwMode="auto">
          <a:xfrm flipV="1">
            <a:off x="4800600" y="44958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" name="Line 77"/>
          <p:cNvSpPr>
            <a:spLocks noChangeShapeType="1"/>
          </p:cNvSpPr>
          <p:nvPr/>
        </p:nvSpPr>
        <p:spPr bwMode="auto">
          <a:xfrm flipV="1">
            <a:off x="5334000" y="48006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" name="Line 77"/>
          <p:cNvSpPr>
            <a:spLocks noChangeShapeType="1"/>
          </p:cNvSpPr>
          <p:nvPr/>
        </p:nvSpPr>
        <p:spPr bwMode="auto">
          <a:xfrm flipV="1">
            <a:off x="5867400" y="50292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3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46" grpId="0"/>
      <p:bldP spid="136269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>
              <a:defRPr/>
            </a:pPr>
            <a:fld id="{5DF32880-C0D2-4C08-95CA-8909AF1D3B2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338" name="Slide Number Placeholder 6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DA401A9-9465-44C2-9607-A819A806EAC3}" type="slidenum">
              <a:rPr lang="zh-CN" altLang="en-US" sz="1000" smtClean="0">
                <a:solidFill>
                  <a:srgbClr val="000000"/>
                </a:solidFill>
                <a:ea typeface="宋体" pitchFamily="2" charset="-122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 sz="10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100" b="1" smtClean="0">
                <a:ea typeface="宋体" pitchFamily="2" charset="-122"/>
              </a:rPr>
              <a:t>Inverted lists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15200" cy="4530725"/>
          </a:xfrm>
        </p:spPr>
        <p:txBody>
          <a:bodyPr/>
          <a:lstStyle/>
          <a:p>
            <a:pPr eaLnBrk="1" hangingPunct="1"/>
            <a:r>
              <a:rPr lang="en-US" altLang="zh-CN" sz="2000" smtClean="0">
                <a:ea typeface="宋体" pitchFamily="2" charset="-122"/>
              </a:rPr>
              <a:t>Convert strings to gram inverted lists </a:t>
            </a:r>
            <a:endParaRPr lang="en-US" altLang="zh-CN" sz="2000" b="1" smtClean="0">
              <a:solidFill>
                <a:schemeClr val="tx2"/>
              </a:solidFill>
              <a:ea typeface="宋体" pitchFamily="2" charset="-122"/>
            </a:endParaRPr>
          </a:p>
          <a:p>
            <a:pPr lvl="1" eaLnBrk="1" hangingPunct="1"/>
            <a:endParaRPr lang="en-US" altLang="zh-CN" sz="1800" smtClean="0"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50950" y="2708275"/>
            <a:ext cx="1800225" cy="2305050"/>
            <a:chOff x="158" y="2205"/>
            <a:chExt cx="1134" cy="145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90" y="2205"/>
              <a:ext cx="1097" cy="1435"/>
              <a:chOff x="463" y="1797"/>
              <a:chExt cx="1097" cy="1435"/>
            </a:xfrm>
          </p:grpSpPr>
          <p:sp>
            <p:nvSpPr>
              <p:cNvPr id="14432" name="Text Box 6"/>
              <p:cNvSpPr txBox="1">
                <a:spLocks noChangeArrowheads="1"/>
              </p:cNvSpPr>
              <p:nvPr/>
            </p:nvSpPr>
            <p:spPr bwMode="auto">
              <a:xfrm>
                <a:off x="463" y="1797"/>
                <a:ext cx="109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id     strings</a:t>
                </a:r>
              </a:p>
            </p:txBody>
          </p:sp>
          <p:sp>
            <p:nvSpPr>
              <p:cNvPr id="14433" name="Text Box 7"/>
              <p:cNvSpPr txBox="1">
                <a:spLocks noChangeArrowheads="1"/>
              </p:cNvSpPr>
              <p:nvPr/>
            </p:nvSpPr>
            <p:spPr bwMode="auto">
              <a:xfrm>
                <a:off x="463" y="2024"/>
                <a:ext cx="223" cy="1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0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1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2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3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4434" name="Text Box 8"/>
              <p:cNvSpPr txBox="1">
                <a:spLocks noChangeArrowheads="1"/>
              </p:cNvSpPr>
              <p:nvPr/>
            </p:nvSpPr>
            <p:spPr bwMode="auto">
              <a:xfrm>
                <a:off x="884" y="2024"/>
                <a:ext cx="564" cy="1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rich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stick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stich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stuck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static</a:t>
                </a:r>
              </a:p>
            </p:txBody>
          </p:sp>
        </p:grpSp>
        <p:sp>
          <p:nvSpPr>
            <p:cNvPr id="14429" name="Rectangle 9"/>
            <p:cNvSpPr>
              <a:spLocks noChangeArrowheads="1"/>
            </p:cNvSpPr>
            <p:nvPr/>
          </p:nvSpPr>
          <p:spPr bwMode="auto">
            <a:xfrm>
              <a:off x="158" y="2205"/>
              <a:ext cx="1134" cy="14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4430" name="Line 10"/>
            <p:cNvSpPr>
              <a:spLocks noChangeShapeType="1"/>
            </p:cNvSpPr>
            <p:nvPr/>
          </p:nvSpPr>
          <p:spPr bwMode="auto">
            <a:xfrm>
              <a:off x="158" y="2477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4431" name="Line 11"/>
            <p:cNvSpPr>
              <a:spLocks noChangeShapeType="1"/>
            </p:cNvSpPr>
            <p:nvPr/>
          </p:nvSpPr>
          <p:spPr bwMode="auto">
            <a:xfrm>
              <a:off x="520" y="2205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124200" y="2133600"/>
            <a:ext cx="4959350" cy="3743325"/>
            <a:chOff x="1338" y="1843"/>
            <a:chExt cx="3124" cy="2358"/>
          </a:xfrm>
        </p:grpSpPr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2352" y="1867"/>
              <a:ext cx="528" cy="250"/>
              <a:chOff x="3024" y="2870"/>
              <a:chExt cx="528" cy="250"/>
            </a:xfrm>
          </p:grpSpPr>
          <p:sp>
            <p:nvSpPr>
              <p:cNvPr id="14425" name="Text Box 1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4426" name="Rectangle 1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27" name="Line 1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2878" y="3043"/>
              <a:ext cx="528" cy="250"/>
              <a:chOff x="3024" y="2870"/>
              <a:chExt cx="528" cy="250"/>
            </a:xfrm>
          </p:grpSpPr>
          <p:sp>
            <p:nvSpPr>
              <p:cNvPr id="14422" name="Text Box 18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4423" name="Rectangle 19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24" name="Line 20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3406" y="3043"/>
              <a:ext cx="528" cy="250"/>
              <a:chOff x="3024" y="2870"/>
              <a:chExt cx="528" cy="250"/>
            </a:xfrm>
          </p:grpSpPr>
          <p:sp>
            <p:nvSpPr>
              <p:cNvPr id="14419" name="Text Box 2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4420" name="Rectangle 2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21" name="Line 2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2353" y="2817"/>
              <a:ext cx="528" cy="250"/>
              <a:chOff x="3024" y="2870"/>
              <a:chExt cx="528" cy="250"/>
            </a:xfrm>
          </p:grpSpPr>
          <p:sp>
            <p:nvSpPr>
              <p:cNvPr id="14416" name="Text Box 2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14417" name="Rectangle 2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18" name="Line 2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2350" y="3050"/>
              <a:ext cx="528" cy="250"/>
              <a:chOff x="3024" y="2870"/>
              <a:chExt cx="528" cy="250"/>
            </a:xfrm>
          </p:grpSpPr>
          <p:sp>
            <p:nvSpPr>
              <p:cNvPr id="14413" name="Text Box 3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4414" name="Rectangle 3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15" name="Line 3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0" name="Group 33"/>
            <p:cNvGrpSpPr>
              <a:grpSpLocks/>
            </p:cNvGrpSpPr>
            <p:nvPr/>
          </p:nvGrpSpPr>
          <p:grpSpPr bwMode="auto">
            <a:xfrm>
              <a:off x="3934" y="3036"/>
              <a:ext cx="528" cy="250"/>
              <a:chOff x="3024" y="2870"/>
              <a:chExt cx="528" cy="250"/>
            </a:xfrm>
          </p:grpSpPr>
          <p:sp>
            <p:nvSpPr>
              <p:cNvPr id="14410" name="Text Box 3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4411" name="Rectangle 3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12" name="Line 3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349" name="Text Box 37"/>
            <p:cNvSpPr txBox="1">
              <a:spLocks noChangeArrowheads="1"/>
            </p:cNvSpPr>
            <p:nvPr/>
          </p:nvSpPr>
          <p:spPr bwMode="auto">
            <a:xfrm>
              <a:off x="1338" y="2655"/>
              <a:ext cx="6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mtClean="0">
                  <a:solidFill>
                    <a:srgbClr val="000000"/>
                  </a:solidFill>
                  <a:latin typeface="Arial" charset="0"/>
                  <a:ea typeface="宋体" pitchFamily="2" charset="-122"/>
                </a:rPr>
                <a:t>2-grams</a:t>
              </a:r>
            </a:p>
          </p:txBody>
        </p: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1941" y="1843"/>
              <a:ext cx="409" cy="2358"/>
              <a:chOff x="1941" y="1843"/>
              <a:chExt cx="409" cy="2358"/>
            </a:xfrm>
          </p:grpSpPr>
          <p:sp>
            <p:nvSpPr>
              <p:cNvPr id="14408" name="Text Box 39"/>
              <p:cNvSpPr txBox="1">
                <a:spLocks noChangeArrowheads="1"/>
              </p:cNvSpPr>
              <p:nvPr/>
            </p:nvSpPr>
            <p:spPr bwMode="auto">
              <a:xfrm>
                <a:off x="2006" y="1843"/>
                <a:ext cx="319" cy="2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at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ch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ck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ic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ri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st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ta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ti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tu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  <a:latin typeface="Arial" charset="0"/>
                    <a:ea typeface="宋体" pitchFamily="2" charset="-122"/>
                  </a:rPr>
                  <a:t>uc</a:t>
                </a:r>
              </a:p>
            </p:txBody>
          </p:sp>
          <p:sp>
            <p:nvSpPr>
              <p:cNvPr id="14409" name="Rectangle 40"/>
              <p:cNvSpPr>
                <a:spLocks noChangeArrowheads="1"/>
              </p:cNvSpPr>
              <p:nvPr/>
            </p:nvSpPr>
            <p:spPr bwMode="auto">
              <a:xfrm>
                <a:off x="1941" y="1888"/>
                <a:ext cx="409" cy="231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12" name="Group 41"/>
            <p:cNvGrpSpPr>
              <a:grpSpLocks/>
            </p:cNvGrpSpPr>
            <p:nvPr/>
          </p:nvGrpSpPr>
          <p:grpSpPr bwMode="auto">
            <a:xfrm>
              <a:off x="2882" y="2101"/>
              <a:ext cx="528" cy="250"/>
              <a:chOff x="3024" y="2870"/>
              <a:chExt cx="528" cy="250"/>
            </a:xfrm>
          </p:grpSpPr>
          <p:sp>
            <p:nvSpPr>
              <p:cNvPr id="14405" name="Text Box 4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4406" name="Rectangle 4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07" name="Line 4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" name="Group 45"/>
            <p:cNvGrpSpPr>
              <a:grpSpLocks/>
            </p:cNvGrpSpPr>
            <p:nvPr/>
          </p:nvGrpSpPr>
          <p:grpSpPr bwMode="auto">
            <a:xfrm>
              <a:off x="2354" y="2108"/>
              <a:ext cx="528" cy="250"/>
              <a:chOff x="3024" y="2870"/>
              <a:chExt cx="528" cy="250"/>
            </a:xfrm>
          </p:grpSpPr>
          <p:sp>
            <p:nvSpPr>
              <p:cNvPr id="14402" name="Text Box 4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14403" name="Rectangle 4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04" name="Line 4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4" name="Group 49"/>
            <p:cNvGrpSpPr>
              <a:grpSpLocks/>
            </p:cNvGrpSpPr>
            <p:nvPr/>
          </p:nvGrpSpPr>
          <p:grpSpPr bwMode="auto">
            <a:xfrm>
              <a:off x="2350" y="2357"/>
              <a:ext cx="528" cy="250"/>
              <a:chOff x="3024" y="2870"/>
              <a:chExt cx="528" cy="250"/>
            </a:xfrm>
          </p:grpSpPr>
          <p:sp>
            <p:nvSpPr>
              <p:cNvPr id="14399" name="Text Box 5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4400" name="Rectangle 5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401" name="Line 5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5" name="Group 53"/>
            <p:cNvGrpSpPr>
              <a:grpSpLocks/>
            </p:cNvGrpSpPr>
            <p:nvPr/>
          </p:nvGrpSpPr>
          <p:grpSpPr bwMode="auto">
            <a:xfrm>
              <a:off x="2878" y="2357"/>
              <a:ext cx="528" cy="250"/>
              <a:chOff x="3024" y="2870"/>
              <a:chExt cx="528" cy="250"/>
            </a:xfrm>
          </p:grpSpPr>
          <p:sp>
            <p:nvSpPr>
              <p:cNvPr id="14396" name="Text Box 5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4397" name="Rectangle 5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98" name="Line 5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6" name="Group 57"/>
            <p:cNvGrpSpPr>
              <a:grpSpLocks/>
            </p:cNvGrpSpPr>
            <p:nvPr/>
          </p:nvGrpSpPr>
          <p:grpSpPr bwMode="auto">
            <a:xfrm>
              <a:off x="2349" y="2582"/>
              <a:ext cx="528" cy="250"/>
              <a:chOff x="3024" y="2870"/>
              <a:chExt cx="528" cy="250"/>
            </a:xfrm>
          </p:grpSpPr>
          <p:sp>
            <p:nvSpPr>
              <p:cNvPr id="14393" name="Text Box 58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14394" name="Rectangle 59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95" name="Line 60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" name="Group 61"/>
            <p:cNvGrpSpPr>
              <a:grpSpLocks/>
            </p:cNvGrpSpPr>
            <p:nvPr/>
          </p:nvGrpSpPr>
          <p:grpSpPr bwMode="auto">
            <a:xfrm>
              <a:off x="2877" y="2582"/>
              <a:ext cx="528" cy="250"/>
              <a:chOff x="3024" y="2870"/>
              <a:chExt cx="528" cy="250"/>
            </a:xfrm>
          </p:grpSpPr>
          <p:sp>
            <p:nvSpPr>
              <p:cNvPr id="14390" name="Text Box 6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4391" name="Rectangle 6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92" name="Line 6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8" name="Group 65"/>
            <p:cNvGrpSpPr>
              <a:grpSpLocks/>
            </p:cNvGrpSpPr>
            <p:nvPr/>
          </p:nvGrpSpPr>
          <p:grpSpPr bwMode="auto">
            <a:xfrm>
              <a:off x="3405" y="2582"/>
              <a:ext cx="528" cy="250"/>
              <a:chOff x="3024" y="2870"/>
              <a:chExt cx="528" cy="250"/>
            </a:xfrm>
          </p:grpSpPr>
          <p:sp>
            <p:nvSpPr>
              <p:cNvPr id="14387" name="Text Box 6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4388" name="Rectangle 6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89" name="Line 6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9" name="Group 69"/>
            <p:cNvGrpSpPr>
              <a:grpSpLocks/>
            </p:cNvGrpSpPr>
            <p:nvPr/>
          </p:nvGrpSpPr>
          <p:grpSpPr bwMode="auto">
            <a:xfrm>
              <a:off x="3933" y="2582"/>
              <a:ext cx="528" cy="250"/>
              <a:chOff x="3024" y="2870"/>
              <a:chExt cx="528" cy="250"/>
            </a:xfrm>
          </p:grpSpPr>
          <p:sp>
            <p:nvSpPr>
              <p:cNvPr id="14384" name="Text Box 7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4385" name="Rectangle 7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86" name="Line 7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0" name="Group 73"/>
            <p:cNvGrpSpPr>
              <a:grpSpLocks/>
            </p:cNvGrpSpPr>
            <p:nvPr/>
          </p:nvGrpSpPr>
          <p:grpSpPr bwMode="auto">
            <a:xfrm>
              <a:off x="2350" y="3271"/>
              <a:ext cx="528" cy="250"/>
              <a:chOff x="3024" y="2870"/>
              <a:chExt cx="528" cy="250"/>
            </a:xfrm>
          </p:grpSpPr>
          <p:sp>
            <p:nvSpPr>
              <p:cNvPr id="14381" name="Text Box 7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4382" name="Rectangle 7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83" name="Line 7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1" name="Group 77"/>
            <p:cNvGrpSpPr>
              <a:grpSpLocks/>
            </p:cNvGrpSpPr>
            <p:nvPr/>
          </p:nvGrpSpPr>
          <p:grpSpPr bwMode="auto">
            <a:xfrm>
              <a:off x="2350" y="3496"/>
              <a:ext cx="528" cy="250"/>
              <a:chOff x="3024" y="2870"/>
              <a:chExt cx="528" cy="250"/>
            </a:xfrm>
          </p:grpSpPr>
          <p:sp>
            <p:nvSpPr>
              <p:cNvPr id="14378" name="Text Box 78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4379" name="Rectangle 79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80" name="Line 80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" name="Group 81"/>
            <p:cNvGrpSpPr>
              <a:grpSpLocks/>
            </p:cNvGrpSpPr>
            <p:nvPr/>
          </p:nvGrpSpPr>
          <p:grpSpPr bwMode="auto">
            <a:xfrm>
              <a:off x="2878" y="3496"/>
              <a:ext cx="528" cy="250"/>
              <a:chOff x="3024" y="2870"/>
              <a:chExt cx="528" cy="250"/>
            </a:xfrm>
          </p:grpSpPr>
          <p:sp>
            <p:nvSpPr>
              <p:cNvPr id="14375" name="Text Box 8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4376" name="Rectangle 8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77" name="Line 8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3" name="Group 85"/>
            <p:cNvGrpSpPr>
              <a:grpSpLocks/>
            </p:cNvGrpSpPr>
            <p:nvPr/>
          </p:nvGrpSpPr>
          <p:grpSpPr bwMode="auto">
            <a:xfrm>
              <a:off x="3406" y="3496"/>
              <a:ext cx="528" cy="250"/>
              <a:chOff x="3024" y="2870"/>
              <a:chExt cx="528" cy="250"/>
            </a:xfrm>
          </p:grpSpPr>
          <p:sp>
            <p:nvSpPr>
              <p:cNvPr id="14372" name="Text Box 8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4373" name="Rectangle 8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74" name="Line 8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4" name="Group 89"/>
            <p:cNvGrpSpPr>
              <a:grpSpLocks/>
            </p:cNvGrpSpPr>
            <p:nvPr/>
          </p:nvGrpSpPr>
          <p:grpSpPr bwMode="auto">
            <a:xfrm>
              <a:off x="2353" y="3724"/>
              <a:ext cx="528" cy="250"/>
              <a:chOff x="3024" y="2870"/>
              <a:chExt cx="528" cy="250"/>
            </a:xfrm>
          </p:grpSpPr>
          <p:sp>
            <p:nvSpPr>
              <p:cNvPr id="14369" name="Text Box 9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4370" name="Rectangle 9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71" name="Line 9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5" name="Group 93"/>
            <p:cNvGrpSpPr>
              <a:grpSpLocks/>
            </p:cNvGrpSpPr>
            <p:nvPr/>
          </p:nvGrpSpPr>
          <p:grpSpPr bwMode="auto">
            <a:xfrm>
              <a:off x="2350" y="3951"/>
              <a:ext cx="528" cy="250"/>
              <a:chOff x="3024" y="2870"/>
              <a:chExt cx="528" cy="250"/>
            </a:xfrm>
          </p:grpSpPr>
          <p:sp>
            <p:nvSpPr>
              <p:cNvPr id="14366" name="Text Box 9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4367" name="Rectangle 9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mtClean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14368" name="Line 9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365" name="AutoShape 97"/>
            <p:cNvSpPr>
              <a:spLocks noChangeArrowheads="1"/>
            </p:cNvSpPr>
            <p:nvPr/>
          </p:nvSpPr>
          <p:spPr bwMode="auto">
            <a:xfrm>
              <a:off x="1383" y="2931"/>
              <a:ext cx="499" cy="227"/>
            </a:xfrm>
            <a:prstGeom prst="rightArrow">
              <a:avLst>
                <a:gd name="adj1" fmla="val 50000"/>
                <a:gd name="adj2" fmla="val 54956"/>
              </a:avLst>
            </a:prstGeom>
            <a:solidFill>
              <a:srgbClr val="FFFF00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mtClean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14436" name="Oval 100"/>
          <p:cNvSpPr>
            <a:spLocks noChangeArrowheads="1"/>
          </p:cNvSpPr>
          <p:nvPr/>
        </p:nvSpPr>
        <p:spPr bwMode="auto">
          <a:xfrm>
            <a:off x="990600" y="3810000"/>
            <a:ext cx="2057400" cy="381000"/>
          </a:xfrm>
          <a:prstGeom prst="ellipse">
            <a:avLst/>
          </a:prstGeom>
          <a:noFill/>
          <a:ln w="28575" algn="ctr">
            <a:solidFill>
              <a:srgbClr val="FF6600"/>
            </a:solidFill>
            <a:round/>
            <a:headEnd/>
            <a:tailEnd/>
          </a:ln>
          <a:effectLst>
            <a:prstShdw prst="shdw17" dist="17961" dir="2700000">
              <a:srgbClr val="FF66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4437" name="Oval 101"/>
          <p:cNvSpPr>
            <a:spLocks noChangeArrowheads="1"/>
          </p:cNvSpPr>
          <p:nvPr/>
        </p:nvSpPr>
        <p:spPr bwMode="auto">
          <a:xfrm>
            <a:off x="5867400" y="2590800"/>
            <a:ext cx="762000" cy="304800"/>
          </a:xfrm>
          <a:prstGeom prst="ellipse">
            <a:avLst/>
          </a:prstGeom>
          <a:noFill/>
          <a:ln w="28575" algn="ctr">
            <a:solidFill>
              <a:srgbClr val="FF6600"/>
            </a:solidFill>
            <a:round/>
            <a:headEnd/>
            <a:tailEnd/>
          </a:ln>
          <a:effectLst>
            <a:prstShdw prst="shdw17" dist="17961" dir="2700000">
              <a:srgbClr val="FF66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4438" name="Oval 102"/>
          <p:cNvSpPr>
            <a:spLocks noChangeArrowheads="1"/>
          </p:cNvSpPr>
          <p:nvPr/>
        </p:nvSpPr>
        <p:spPr bwMode="auto">
          <a:xfrm>
            <a:off x="6629400" y="3352800"/>
            <a:ext cx="762000" cy="304800"/>
          </a:xfrm>
          <a:prstGeom prst="ellipse">
            <a:avLst/>
          </a:prstGeom>
          <a:noFill/>
          <a:ln w="28575" algn="ctr">
            <a:solidFill>
              <a:srgbClr val="FF6600"/>
            </a:solidFill>
            <a:round/>
            <a:headEnd/>
            <a:tailEnd/>
          </a:ln>
          <a:effectLst>
            <a:prstShdw prst="shdw17" dist="17961" dir="2700000">
              <a:srgbClr val="FF66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4439" name="Oval 103"/>
          <p:cNvSpPr>
            <a:spLocks noChangeArrowheads="1"/>
          </p:cNvSpPr>
          <p:nvPr/>
        </p:nvSpPr>
        <p:spPr bwMode="auto">
          <a:xfrm>
            <a:off x="5791200" y="4114800"/>
            <a:ext cx="762000" cy="304800"/>
          </a:xfrm>
          <a:prstGeom prst="ellipse">
            <a:avLst/>
          </a:prstGeom>
          <a:noFill/>
          <a:ln w="28575" algn="ctr">
            <a:solidFill>
              <a:srgbClr val="FF6600"/>
            </a:solidFill>
            <a:round/>
            <a:headEnd/>
            <a:tailEnd/>
          </a:ln>
          <a:effectLst>
            <a:prstShdw prst="shdw17" dist="17961" dir="2700000">
              <a:srgbClr val="FF66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4440" name="Oval 104"/>
          <p:cNvSpPr>
            <a:spLocks noChangeArrowheads="1"/>
          </p:cNvSpPr>
          <p:nvPr/>
        </p:nvSpPr>
        <p:spPr bwMode="auto">
          <a:xfrm>
            <a:off x="5867400" y="4800600"/>
            <a:ext cx="762000" cy="304800"/>
          </a:xfrm>
          <a:prstGeom prst="ellipse">
            <a:avLst/>
          </a:prstGeom>
          <a:noFill/>
          <a:ln w="28575" algn="ctr">
            <a:solidFill>
              <a:srgbClr val="FF6600"/>
            </a:solidFill>
            <a:round/>
            <a:headEnd/>
            <a:tailEnd/>
          </a:ln>
          <a:effectLst>
            <a:prstShdw prst="shdw17" dist="17961" dir="2700000">
              <a:srgbClr val="FF66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6" grpId="0" animBg="1"/>
      <p:bldP spid="14437" grpId="0" animBg="1"/>
      <p:bldP spid="14438" grpId="0" animBg="1"/>
      <p:bldP spid="14439" grpId="0" animBg="1"/>
      <p:bldP spid="144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ln/>
        </p:spPr>
        <p:txBody>
          <a:bodyPr/>
          <a:lstStyle/>
          <a:p>
            <a:pPr>
              <a:defRPr/>
            </a:pPr>
            <a:fld id="{2E1BC341-1FD2-4E8F-87B5-B8FA70F7ABE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1922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709469E5-A96E-44CE-9178-82E849AE8A83}" type="slidenum">
              <a:rPr lang="zh-CN" altLang="en-US" sz="1000" smtClean="0">
                <a:solidFill>
                  <a:srgbClr val="000000"/>
                </a:solidFill>
                <a:ea typeface="宋体" pitchFamily="2" charset="-122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 sz="10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ea typeface="宋体" pitchFamily="2" charset="-122"/>
              </a:rPr>
              <a:t>Main Example</a:t>
            </a:r>
          </a:p>
        </p:txBody>
      </p:sp>
      <p:sp>
        <p:nvSpPr>
          <p:cNvPr id="141327" name="Text Box 15"/>
          <p:cNvSpPr txBox="1">
            <a:spLocks noChangeArrowheads="1"/>
          </p:cNvSpPr>
          <p:nvPr/>
        </p:nvSpPr>
        <p:spPr bwMode="auto">
          <a:xfrm>
            <a:off x="3200400" y="16764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Query</a:t>
            </a:r>
          </a:p>
        </p:txBody>
      </p:sp>
      <p:sp>
        <p:nvSpPr>
          <p:cNvPr id="141332" name="Text Box 20"/>
          <p:cNvSpPr txBox="1">
            <a:spLocks noChangeArrowheads="1"/>
          </p:cNvSpPr>
          <p:nvPr/>
        </p:nvSpPr>
        <p:spPr bwMode="auto">
          <a:xfrm>
            <a:off x="7239000" y="4419600"/>
            <a:ext cx="1066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Merge</a:t>
            </a:r>
          </a:p>
        </p:txBody>
      </p:sp>
      <p:sp>
        <p:nvSpPr>
          <p:cNvPr id="81931" name="Text Box 25"/>
          <p:cNvSpPr txBox="1">
            <a:spLocks noChangeArrowheads="1"/>
          </p:cNvSpPr>
          <p:nvPr/>
        </p:nvSpPr>
        <p:spPr bwMode="auto">
          <a:xfrm>
            <a:off x="1828800" y="28956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81932" name="Text Box 34"/>
          <p:cNvSpPr txBox="1">
            <a:spLocks noChangeArrowheads="1"/>
          </p:cNvSpPr>
          <p:nvPr/>
        </p:nvSpPr>
        <p:spPr bwMode="auto">
          <a:xfrm>
            <a:off x="1600200" y="41148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1933" name="AutoShape 36"/>
          <p:cNvSpPr>
            <a:spLocks noChangeArrowheads="1"/>
          </p:cNvSpPr>
          <p:nvPr/>
        </p:nvSpPr>
        <p:spPr bwMode="auto">
          <a:xfrm>
            <a:off x="3733800" y="4648200"/>
            <a:ext cx="914400" cy="304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1934" name="Text Box 37"/>
          <p:cNvSpPr txBox="1">
            <a:spLocks noChangeArrowheads="1"/>
          </p:cNvSpPr>
          <p:nvPr/>
        </p:nvSpPr>
        <p:spPr bwMode="auto">
          <a:xfrm>
            <a:off x="4724400" y="28956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Grams</a:t>
            </a:r>
          </a:p>
        </p:txBody>
      </p:sp>
      <p:sp>
        <p:nvSpPr>
          <p:cNvPr id="141351" name="Text Box 39"/>
          <p:cNvSpPr txBox="1">
            <a:spLocks noChangeArrowheads="1"/>
          </p:cNvSpPr>
          <p:nvPr/>
        </p:nvSpPr>
        <p:spPr bwMode="auto">
          <a:xfrm>
            <a:off x="3276600" y="2133600"/>
            <a:ext cx="838200" cy="36671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stick</a:t>
            </a:r>
          </a:p>
        </p:txBody>
      </p:sp>
      <p:sp>
        <p:nvSpPr>
          <p:cNvPr id="141352" name="AutoShape 40"/>
          <p:cNvSpPr>
            <a:spLocks noChangeArrowheads="1"/>
          </p:cNvSpPr>
          <p:nvPr/>
        </p:nvSpPr>
        <p:spPr bwMode="auto">
          <a:xfrm>
            <a:off x="4419600" y="21336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41353" name="Text Box 41"/>
          <p:cNvSpPr txBox="1">
            <a:spLocks noChangeArrowheads="1"/>
          </p:cNvSpPr>
          <p:nvPr/>
        </p:nvSpPr>
        <p:spPr bwMode="auto">
          <a:xfrm>
            <a:off x="4953000" y="20574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(</a:t>
            </a:r>
            <a:r>
              <a:rPr lang="en-US" altLang="zh-CN" smtClean="0">
                <a:solidFill>
                  <a:srgbClr val="93074D"/>
                </a:solidFill>
                <a:ea typeface="宋体" pitchFamily="2" charset="-122"/>
              </a:rPr>
              <a:t>st</a:t>
            </a: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,</a:t>
            </a:r>
            <a:r>
              <a:rPr lang="en-US" altLang="zh-CN" smtClean="0">
                <a:solidFill>
                  <a:srgbClr val="93074D"/>
                </a:solidFill>
                <a:ea typeface="宋体" pitchFamily="2" charset="-122"/>
              </a:rPr>
              <a:t>ti</a:t>
            </a: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,</a:t>
            </a:r>
            <a:r>
              <a:rPr lang="en-US" altLang="zh-CN" smtClean="0">
                <a:solidFill>
                  <a:srgbClr val="93074D"/>
                </a:solidFill>
                <a:ea typeface="宋体" pitchFamily="2" charset="-122"/>
              </a:rPr>
              <a:t>ic</a:t>
            </a: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,</a:t>
            </a:r>
            <a:r>
              <a:rPr lang="en-US" altLang="zh-CN" smtClean="0">
                <a:solidFill>
                  <a:srgbClr val="93074D"/>
                </a:solidFill>
                <a:ea typeface="宋体" pitchFamily="2" charset="-122"/>
              </a:rPr>
              <a:t>ck</a:t>
            </a: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141368" name="Text Box 56"/>
          <p:cNvSpPr txBox="1">
            <a:spLocks noChangeArrowheads="1"/>
          </p:cNvSpPr>
          <p:nvPr/>
        </p:nvSpPr>
        <p:spPr bwMode="auto">
          <a:xfrm>
            <a:off x="7162800" y="48768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count &gt;=2</a:t>
            </a:r>
          </a:p>
        </p:txBody>
      </p:sp>
      <p:graphicFrame>
        <p:nvGraphicFramePr>
          <p:cNvPr id="141509" name="Group 197"/>
          <p:cNvGraphicFramePr>
            <a:graphicFrameLocks noGrp="1"/>
          </p:cNvGraphicFramePr>
          <p:nvPr>
            <p:ph idx="4294967295"/>
          </p:nvPr>
        </p:nvGraphicFramePr>
        <p:xfrm>
          <a:off x="1524000" y="3505200"/>
          <a:ext cx="1905000" cy="2363789"/>
        </p:xfrm>
        <a:graphic>
          <a:graphicData uri="http://schemas.openxmlformats.org/drawingml/2006/table">
            <a:tbl>
              <a:tblPr/>
              <a:tblGrid>
                <a:gridCol w="601663"/>
                <a:gridCol w="1303337"/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strings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rich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stick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stich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stuck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static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973" name="Rectangle 198"/>
          <p:cNvSpPr>
            <a:spLocks noChangeArrowheads="1"/>
          </p:cNvSpPr>
          <p:nvPr/>
        </p:nvSpPr>
        <p:spPr bwMode="auto">
          <a:xfrm>
            <a:off x="4876800" y="3429000"/>
            <a:ext cx="3810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ck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ic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st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ta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ti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…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1974" name="Rectangle 287"/>
          <p:cNvSpPr>
            <a:spLocks noChangeArrowheads="1"/>
          </p:cNvSpPr>
          <p:nvPr/>
        </p:nvSpPr>
        <p:spPr bwMode="auto">
          <a:xfrm>
            <a:off x="5562600" y="3505200"/>
            <a:ext cx="1295400" cy="2286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1,3</a:t>
            </a:r>
          </a:p>
        </p:txBody>
      </p:sp>
      <p:sp>
        <p:nvSpPr>
          <p:cNvPr id="81975" name="Line 288"/>
          <p:cNvSpPr>
            <a:spLocks noChangeShapeType="1"/>
          </p:cNvSpPr>
          <p:nvPr/>
        </p:nvSpPr>
        <p:spPr bwMode="auto">
          <a:xfrm>
            <a:off x="5257800" y="3581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1977" name="Rectangle 290"/>
          <p:cNvSpPr>
            <a:spLocks noChangeArrowheads="1"/>
          </p:cNvSpPr>
          <p:nvPr/>
        </p:nvSpPr>
        <p:spPr bwMode="auto">
          <a:xfrm>
            <a:off x="5562600" y="4038600"/>
            <a:ext cx="1295400" cy="2286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1978" name="Rectangle 291"/>
          <p:cNvSpPr>
            <a:spLocks noChangeArrowheads="1"/>
          </p:cNvSpPr>
          <p:nvPr/>
        </p:nvSpPr>
        <p:spPr bwMode="auto">
          <a:xfrm>
            <a:off x="5562600" y="4495800"/>
            <a:ext cx="1295400" cy="2286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1,2,3,4</a:t>
            </a:r>
          </a:p>
        </p:txBody>
      </p:sp>
      <p:sp>
        <p:nvSpPr>
          <p:cNvPr id="81979" name="Line 292"/>
          <p:cNvSpPr>
            <a:spLocks noChangeShapeType="1"/>
          </p:cNvSpPr>
          <p:nvPr/>
        </p:nvSpPr>
        <p:spPr bwMode="auto">
          <a:xfrm>
            <a:off x="5257800" y="4114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1980" name="Line 293"/>
          <p:cNvSpPr>
            <a:spLocks noChangeShapeType="1"/>
          </p:cNvSpPr>
          <p:nvPr/>
        </p:nvSpPr>
        <p:spPr bwMode="auto">
          <a:xfrm>
            <a:off x="52578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1981" name="Line 294"/>
          <p:cNvSpPr>
            <a:spLocks noChangeShapeType="1"/>
          </p:cNvSpPr>
          <p:nvPr/>
        </p:nvSpPr>
        <p:spPr bwMode="auto">
          <a:xfrm>
            <a:off x="5257800" y="525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1982" name="Rectangle 295"/>
          <p:cNvSpPr>
            <a:spLocks noChangeArrowheads="1"/>
          </p:cNvSpPr>
          <p:nvPr/>
        </p:nvSpPr>
        <p:spPr bwMode="auto">
          <a:xfrm>
            <a:off x="5638800" y="5105400"/>
            <a:ext cx="1295400" cy="2286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81983" name="Rectangle 296"/>
          <p:cNvSpPr>
            <a:spLocks noChangeArrowheads="1"/>
          </p:cNvSpPr>
          <p:nvPr/>
        </p:nvSpPr>
        <p:spPr bwMode="auto">
          <a:xfrm>
            <a:off x="5638800" y="5715000"/>
            <a:ext cx="1295400" cy="228600"/>
          </a:xfrm>
          <a:prstGeom prst="rect">
            <a:avLst/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1,2,4</a:t>
            </a:r>
          </a:p>
        </p:txBody>
      </p:sp>
      <p:sp>
        <p:nvSpPr>
          <p:cNvPr id="81984" name="Line 297"/>
          <p:cNvSpPr>
            <a:spLocks noChangeShapeType="1"/>
          </p:cNvSpPr>
          <p:nvPr/>
        </p:nvSpPr>
        <p:spPr bwMode="auto">
          <a:xfrm>
            <a:off x="5257800" y="5791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41616" name="Text Box 304"/>
          <p:cNvSpPr txBox="1">
            <a:spLocks noChangeArrowheads="1"/>
          </p:cNvSpPr>
          <p:nvPr/>
        </p:nvSpPr>
        <p:spPr bwMode="auto">
          <a:xfrm>
            <a:off x="4038600" y="1676400"/>
            <a:ext cx="16764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ed(s,q)≤1</a:t>
            </a:r>
          </a:p>
        </p:txBody>
      </p:sp>
      <p:sp>
        <p:nvSpPr>
          <p:cNvPr id="82005" name="Text Box 85"/>
          <p:cNvSpPr txBox="1">
            <a:spLocks noChangeArrowheads="1"/>
          </p:cNvSpPr>
          <p:nvPr/>
        </p:nvSpPr>
        <p:spPr bwMode="auto">
          <a:xfrm>
            <a:off x="5486400" y="3962400"/>
            <a:ext cx="5334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0,</a:t>
            </a:r>
          </a:p>
        </p:txBody>
      </p:sp>
      <p:sp>
        <p:nvSpPr>
          <p:cNvPr id="82006" name="Text Box 86"/>
          <p:cNvSpPr txBox="1">
            <a:spLocks noChangeArrowheads="1"/>
          </p:cNvSpPr>
          <p:nvPr/>
        </p:nvSpPr>
        <p:spPr bwMode="auto">
          <a:xfrm>
            <a:off x="5410200" y="3962400"/>
            <a:ext cx="14478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1,2,4</a:t>
            </a:r>
          </a:p>
        </p:txBody>
      </p:sp>
      <p:sp>
        <p:nvSpPr>
          <p:cNvPr id="82008" name="Oval 88"/>
          <p:cNvSpPr>
            <a:spLocks noChangeArrowheads="1"/>
          </p:cNvSpPr>
          <p:nvPr/>
        </p:nvSpPr>
        <p:spPr bwMode="auto">
          <a:xfrm>
            <a:off x="4800600" y="3352800"/>
            <a:ext cx="533400" cy="381000"/>
          </a:xfrm>
          <a:prstGeom prst="ellipse">
            <a:avLst/>
          </a:prstGeom>
          <a:noFill/>
          <a:ln w="28575" algn="ctr">
            <a:solidFill>
              <a:srgbClr val="93074D"/>
            </a:solidFill>
            <a:round/>
            <a:headEnd/>
            <a:tailEnd/>
          </a:ln>
          <a:effectLst>
            <a:prstShdw prst="shdw17" dist="17961" dir="2700000">
              <a:srgbClr val="93074D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2009" name="Oval 89"/>
          <p:cNvSpPr>
            <a:spLocks noChangeArrowheads="1"/>
          </p:cNvSpPr>
          <p:nvPr/>
        </p:nvSpPr>
        <p:spPr bwMode="auto">
          <a:xfrm>
            <a:off x="4800600" y="3962400"/>
            <a:ext cx="533400" cy="381000"/>
          </a:xfrm>
          <a:prstGeom prst="ellipse">
            <a:avLst/>
          </a:prstGeom>
          <a:noFill/>
          <a:ln w="28575" algn="ctr">
            <a:solidFill>
              <a:srgbClr val="93074D"/>
            </a:solidFill>
            <a:round/>
            <a:headEnd/>
            <a:tailEnd/>
          </a:ln>
          <a:effectLst>
            <a:prstShdw prst="shdw17" dist="17961" dir="2700000">
              <a:srgbClr val="93074D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2010" name="Oval 90"/>
          <p:cNvSpPr>
            <a:spLocks noChangeArrowheads="1"/>
          </p:cNvSpPr>
          <p:nvPr/>
        </p:nvSpPr>
        <p:spPr bwMode="auto">
          <a:xfrm>
            <a:off x="4800600" y="4495800"/>
            <a:ext cx="533400" cy="381000"/>
          </a:xfrm>
          <a:prstGeom prst="ellipse">
            <a:avLst/>
          </a:prstGeom>
          <a:noFill/>
          <a:ln w="28575" algn="ctr">
            <a:solidFill>
              <a:srgbClr val="93074D"/>
            </a:solidFill>
            <a:round/>
            <a:headEnd/>
            <a:tailEnd/>
          </a:ln>
          <a:effectLst>
            <a:prstShdw prst="shdw17" dist="17961" dir="2700000">
              <a:srgbClr val="93074D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2011" name="Oval 91"/>
          <p:cNvSpPr>
            <a:spLocks noChangeArrowheads="1"/>
          </p:cNvSpPr>
          <p:nvPr/>
        </p:nvSpPr>
        <p:spPr bwMode="auto">
          <a:xfrm>
            <a:off x="4800600" y="5562600"/>
            <a:ext cx="533400" cy="381000"/>
          </a:xfrm>
          <a:prstGeom prst="ellipse">
            <a:avLst/>
          </a:prstGeom>
          <a:noFill/>
          <a:ln w="28575" algn="ctr">
            <a:solidFill>
              <a:srgbClr val="93074D"/>
            </a:solidFill>
            <a:round/>
            <a:headEnd/>
            <a:tailEnd/>
          </a:ln>
          <a:effectLst>
            <a:prstShdw prst="shdw17" dist="17961" dir="2700000">
              <a:srgbClr val="93074D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82019" name="Picture 99" descr="MCj0434713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267200"/>
            <a:ext cx="396875" cy="417513"/>
          </a:xfrm>
          <a:prstGeom prst="rect">
            <a:avLst/>
          </a:prstGeom>
          <a:noFill/>
        </p:spPr>
      </p:pic>
      <p:pic>
        <p:nvPicPr>
          <p:cNvPr id="82020" name="Picture 100" descr="MCj0434713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724400"/>
            <a:ext cx="396875" cy="417513"/>
          </a:xfrm>
          <a:prstGeom prst="rect">
            <a:avLst/>
          </a:prstGeom>
          <a:noFill/>
        </p:spPr>
      </p:pic>
      <p:pic>
        <p:nvPicPr>
          <p:cNvPr id="82021" name="Picture 101" descr="MCj0434713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5105400"/>
            <a:ext cx="396875" cy="417513"/>
          </a:xfrm>
          <a:prstGeom prst="rect">
            <a:avLst/>
          </a:prstGeom>
          <a:noFill/>
        </p:spPr>
      </p:pic>
      <p:sp>
        <p:nvSpPr>
          <p:cNvPr id="82022" name="Rectangle 102"/>
          <p:cNvSpPr>
            <a:spLocks noChangeArrowheads="1"/>
          </p:cNvSpPr>
          <p:nvPr/>
        </p:nvSpPr>
        <p:spPr bwMode="auto">
          <a:xfrm>
            <a:off x="5638800" y="3429000"/>
            <a:ext cx="457200" cy="381000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FF00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2023" name="Rectangle 103"/>
          <p:cNvSpPr>
            <a:spLocks noChangeArrowheads="1"/>
          </p:cNvSpPr>
          <p:nvPr/>
        </p:nvSpPr>
        <p:spPr bwMode="auto">
          <a:xfrm>
            <a:off x="6019800" y="3962400"/>
            <a:ext cx="457200" cy="381000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FF000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82024" name="AutoShape 104"/>
          <p:cNvSpPr>
            <a:spLocks noChangeArrowheads="1"/>
          </p:cNvSpPr>
          <p:nvPr/>
        </p:nvSpPr>
        <p:spPr bwMode="auto">
          <a:xfrm>
            <a:off x="6172200" y="2819400"/>
            <a:ext cx="1828800" cy="381000"/>
          </a:xfrm>
          <a:prstGeom prst="wedgeRectCallout">
            <a:avLst>
              <a:gd name="adj1" fmla="val -49824"/>
              <a:gd name="adj2" fmla="val 218333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Candidates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7" grpId="0"/>
      <p:bldP spid="141332" grpId="0"/>
      <p:bldP spid="141351" grpId="0" animBg="1"/>
      <p:bldP spid="141352" grpId="0" animBg="1"/>
      <p:bldP spid="141353" grpId="0"/>
      <p:bldP spid="141368" grpId="0"/>
      <p:bldP spid="141616" grpId="0"/>
      <p:bldP spid="82008" grpId="0" animBg="1"/>
      <p:bldP spid="82009" grpId="0" animBg="1"/>
      <p:bldP spid="82010" grpId="0" animBg="1"/>
      <p:bldP spid="82011" grpId="0" animBg="1"/>
      <p:bldP spid="82022" grpId="0" animBg="1"/>
      <p:bldP spid="82023" grpId="0" animBg="1"/>
      <p:bldP spid="820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>
              <a:defRPr/>
            </a:pPr>
            <a:fld id="{6A86E342-FFEE-467C-A24C-4532E6A4135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6386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03B30ED0-BB94-460C-A9E3-330A9108B596}" type="slidenum">
              <a:rPr lang="zh-CN" altLang="en-US" sz="1000" smtClean="0">
                <a:solidFill>
                  <a:srgbClr val="000000"/>
                </a:solidFill>
                <a:ea typeface="宋体" pitchFamily="2" charset="-122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sz="10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ea typeface="宋体" pitchFamily="2" charset="-122"/>
              </a:rPr>
              <a:t>Problem definition: </a:t>
            </a:r>
          </a:p>
        </p:txBody>
      </p:sp>
      <p:sp>
        <p:nvSpPr>
          <p:cNvPr id="16393" name="Line 5"/>
          <p:cNvSpPr>
            <a:spLocks noChangeShapeType="1"/>
          </p:cNvSpPr>
          <p:nvPr/>
        </p:nvSpPr>
        <p:spPr bwMode="auto">
          <a:xfrm>
            <a:off x="2057400" y="2438400"/>
            <a:ext cx="0" cy="22860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394" name="Oval 13"/>
          <p:cNvSpPr>
            <a:spLocks noChangeArrowheads="1"/>
          </p:cNvSpPr>
          <p:nvPr/>
        </p:nvSpPr>
        <p:spPr bwMode="auto">
          <a:xfrm>
            <a:off x="1905000" y="32766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396" name="Line 26"/>
          <p:cNvSpPr>
            <a:spLocks noChangeShapeType="1"/>
          </p:cNvSpPr>
          <p:nvPr/>
        </p:nvSpPr>
        <p:spPr bwMode="auto">
          <a:xfrm>
            <a:off x="3429000" y="2514600"/>
            <a:ext cx="0" cy="25908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397" name="Oval 27"/>
          <p:cNvSpPr>
            <a:spLocks noChangeArrowheads="1"/>
          </p:cNvSpPr>
          <p:nvPr/>
        </p:nvSpPr>
        <p:spPr bwMode="auto">
          <a:xfrm>
            <a:off x="3276600" y="39624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399" name="Line 30"/>
          <p:cNvSpPr>
            <a:spLocks noChangeShapeType="1"/>
          </p:cNvSpPr>
          <p:nvPr/>
        </p:nvSpPr>
        <p:spPr bwMode="auto">
          <a:xfrm>
            <a:off x="4343400" y="2514600"/>
            <a:ext cx="0" cy="9906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400" name="Oval 31"/>
          <p:cNvSpPr>
            <a:spLocks noChangeArrowheads="1"/>
          </p:cNvSpPr>
          <p:nvPr/>
        </p:nvSpPr>
        <p:spPr bwMode="auto">
          <a:xfrm>
            <a:off x="4191000" y="25146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402" name="Line 34"/>
          <p:cNvSpPr>
            <a:spLocks noChangeShapeType="1"/>
          </p:cNvSpPr>
          <p:nvPr/>
        </p:nvSpPr>
        <p:spPr bwMode="auto">
          <a:xfrm>
            <a:off x="5257800" y="2514600"/>
            <a:ext cx="0" cy="18288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403" name="Oval 35"/>
          <p:cNvSpPr>
            <a:spLocks noChangeArrowheads="1"/>
          </p:cNvSpPr>
          <p:nvPr/>
        </p:nvSpPr>
        <p:spPr bwMode="auto">
          <a:xfrm>
            <a:off x="5105400" y="30480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405" name="Line 38"/>
          <p:cNvSpPr>
            <a:spLocks noChangeShapeType="1"/>
          </p:cNvSpPr>
          <p:nvPr/>
        </p:nvSpPr>
        <p:spPr bwMode="auto">
          <a:xfrm>
            <a:off x="6172200" y="2514600"/>
            <a:ext cx="0" cy="17526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406" name="Oval 39"/>
          <p:cNvSpPr>
            <a:spLocks noChangeArrowheads="1"/>
          </p:cNvSpPr>
          <p:nvPr/>
        </p:nvSpPr>
        <p:spPr bwMode="auto">
          <a:xfrm>
            <a:off x="6019800" y="35052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408" name="Line 42"/>
          <p:cNvSpPr>
            <a:spLocks noChangeShapeType="1"/>
          </p:cNvSpPr>
          <p:nvPr/>
        </p:nvSpPr>
        <p:spPr bwMode="auto">
          <a:xfrm>
            <a:off x="7086600" y="2438400"/>
            <a:ext cx="0" cy="20574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412" name="Line 42"/>
          <p:cNvSpPr>
            <a:spLocks noChangeShapeType="1"/>
          </p:cNvSpPr>
          <p:nvPr/>
        </p:nvSpPr>
        <p:spPr bwMode="auto">
          <a:xfrm>
            <a:off x="2743200" y="2514600"/>
            <a:ext cx="0" cy="20574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413" name="Text Box 16"/>
          <p:cNvSpPr txBox="1">
            <a:spLocks noChangeArrowheads="1"/>
          </p:cNvSpPr>
          <p:nvPr/>
        </p:nvSpPr>
        <p:spPr bwMode="auto">
          <a:xfrm>
            <a:off x="1747838" y="5334000"/>
            <a:ext cx="6162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smtClean="0">
                <a:solidFill>
                  <a:srgbClr val="0033CC"/>
                </a:solidFill>
                <a:ea typeface="宋体" pitchFamily="2" charset="-122"/>
              </a:rPr>
              <a:t>Find elements whose occurrences ≥ T </a:t>
            </a: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381000" y="2895600"/>
            <a:ext cx="1676400" cy="7794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Ascending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order</a:t>
            </a:r>
          </a:p>
        </p:txBody>
      </p:sp>
      <p:sp>
        <p:nvSpPr>
          <p:cNvPr id="16416" name="AutoShape 32"/>
          <p:cNvSpPr>
            <a:spLocks/>
          </p:cNvSpPr>
          <p:nvPr/>
        </p:nvSpPr>
        <p:spPr bwMode="auto">
          <a:xfrm rot="5400000" flipH="1">
            <a:off x="4324350" y="-438150"/>
            <a:ext cx="495300" cy="5181600"/>
          </a:xfrm>
          <a:prstGeom prst="rightBrace">
            <a:avLst>
              <a:gd name="adj1" fmla="val 871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2743200" y="1524000"/>
            <a:ext cx="3657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smtClean="0">
                <a:solidFill>
                  <a:srgbClr val="FF6600"/>
                </a:solidFill>
                <a:ea typeface="宋体" pitchFamily="2" charset="-122"/>
              </a:rPr>
              <a:t>Merge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>
              <a:defRPr/>
            </a:pPr>
            <a:fld id="{30C7BB8C-5D6D-4633-AA6F-A825105EE9A3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410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30EB2A07-E3C2-401F-A923-542CC8A17D87}" type="slidenum">
              <a:rPr lang="zh-CN" altLang="en-US" sz="1000" smtClean="0">
                <a:solidFill>
                  <a:srgbClr val="000000"/>
                </a:solidFill>
                <a:ea typeface="宋体" pitchFamily="2" charset="-122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 sz="10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ea typeface="宋体" pitchFamily="2" charset="-122"/>
              </a:rPr>
              <a:t>Example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itchFamily="2" charset="-122"/>
              </a:rPr>
              <a:t>T = 4</a:t>
            </a:r>
          </a:p>
        </p:txBody>
      </p:sp>
      <p:sp>
        <p:nvSpPr>
          <p:cNvPr id="17413" name="Text Box 18"/>
          <p:cNvSpPr txBox="1">
            <a:spLocks noChangeArrowheads="1"/>
          </p:cNvSpPr>
          <p:nvPr/>
        </p:nvSpPr>
        <p:spPr bwMode="auto">
          <a:xfrm>
            <a:off x="2590800" y="5562600"/>
            <a:ext cx="487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000000"/>
                </a:solidFill>
                <a:ea typeface="宋体" pitchFamily="2" charset="-122"/>
              </a:rPr>
              <a:t>Result: 13</a:t>
            </a:r>
          </a:p>
        </p:txBody>
      </p:sp>
      <p:sp>
        <p:nvSpPr>
          <p:cNvPr id="17414" name="Text Box 19"/>
          <p:cNvSpPr txBox="1">
            <a:spLocks noChangeArrowheads="1"/>
          </p:cNvSpPr>
          <p:nvPr/>
        </p:nvSpPr>
        <p:spPr bwMode="auto">
          <a:xfrm>
            <a:off x="1600200" y="2590800"/>
            <a:ext cx="838200" cy="2489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1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3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5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10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b="1" smtClean="0">
                <a:solidFill>
                  <a:srgbClr val="FF3399"/>
                </a:solidFill>
                <a:ea typeface="宋体" pitchFamily="2" charset="-122"/>
              </a:rPr>
              <a:t>13</a:t>
            </a:r>
          </a:p>
        </p:txBody>
      </p:sp>
      <p:sp>
        <p:nvSpPr>
          <p:cNvPr id="17415" name="Text Box 20"/>
          <p:cNvSpPr txBox="1">
            <a:spLocks noChangeArrowheads="1"/>
          </p:cNvSpPr>
          <p:nvPr/>
        </p:nvSpPr>
        <p:spPr bwMode="auto">
          <a:xfrm>
            <a:off x="2819400" y="2590800"/>
            <a:ext cx="914400" cy="1981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10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b="1" smtClean="0">
                <a:solidFill>
                  <a:srgbClr val="FF3399"/>
                </a:solidFill>
                <a:ea typeface="宋体" pitchFamily="2" charset="-122"/>
              </a:rPr>
              <a:t>13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15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GB" sz="24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Text Box 21"/>
          <p:cNvSpPr txBox="1">
            <a:spLocks noChangeArrowheads="1"/>
          </p:cNvSpPr>
          <p:nvPr/>
        </p:nvSpPr>
        <p:spPr bwMode="auto">
          <a:xfrm>
            <a:off x="4267200" y="2590800"/>
            <a:ext cx="762000" cy="1981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5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7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b="1" smtClean="0">
                <a:solidFill>
                  <a:srgbClr val="FF3399"/>
                </a:solidFill>
                <a:ea typeface="宋体" pitchFamily="2" charset="-122"/>
              </a:rPr>
              <a:t>13</a:t>
            </a:r>
          </a:p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altLang="en-GB" sz="24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Text Box 22"/>
          <p:cNvSpPr txBox="1">
            <a:spLocks noChangeArrowheads="1"/>
          </p:cNvSpPr>
          <p:nvPr/>
        </p:nvSpPr>
        <p:spPr bwMode="auto">
          <a:xfrm>
            <a:off x="5181600" y="2590800"/>
            <a:ext cx="7620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b="1" smtClean="0">
                <a:solidFill>
                  <a:srgbClr val="FF3399"/>
                </a:solidFill>
                <a:ea typeface="宋体" pitchFamily="2" charset="-122"/>
              </a:rPr>
              <a:t>13</a:t>
            </a:r>
          </a:p>
        </p:txBody>
      </p:sp>
      <p:sp>
        <p:nvSpPr>
          <p:cNvPr id="17418" name="Text Box 23"/>
          <p:cNvSpPr txBox="1">
            <a:spLocks noChangeArrowheads="1"/>
          </p:cNvSpPr>
          <p:nvPr/>
        </p:nvSpPr>
        <p:spPr bwMode="auto">
          <a:xfrm>
            <a:off x="6629400" y="2590800"/>
            <a:ext cx="7620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 eaLnBrk="0" fontAlgn="base" hangingPunct="0">
              <a:spcBef>
                <a:spcPts val="11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400" smtClean="0">
                <a:solidFill>
                  <a:srgbClr val="000000"/>
                </a:solidFill>
                <a:ea typeface="宋体" pitchFamily="2" charset="-122"/>
              </a:rPr>
              <a:t>15</a:t>
            </a:r>
          </a:p>
        </p:txBody>
      </p:sp>
      <p:sp>
        <p:nvSpPr>
          <p:cNvPr id="17419" name="Rectangle 29"/>
          <p:cNvSpPr>
            <a:spLocks noChangeArrowheads="1"/>
          </p:cNvSpPr>
          <p:nvPr/>
        </p:nvSpPr>
        <p:spPr bwMode="auto">
          <a:xfrm>
            <a:off x="2819400" y="2590800"/>
            <a:ext cx="685800" cy="160020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20" name="Rectangle 30"/>
          <p:cNvSpPr>
            <a:spLocks noChangeArrowheads="1"/>
          </p:cNvSpPr>
          <p:nvPr/>
        </p:nvSpPr>
        <p:spPr bwMode="auto">
          <a:xfrm>
            <a:off x="1600200" y="2590800"/>
            <a:ext cx="533400" cy="259080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4267200" y="2590800"/>
            <a:ext cx="685800" cy="160020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22" name="Rectangle 32"/>
          <p:cNvSpPr>
            <a:spLocks noChangeArrowheads="1"/>
          </p:cNvSpPr>
          <p:nvPr/>
        </p:nvSpPr>
        <p:spPr bwMode="auto">
          <a:xfrm>
            <a:off x="5257800" y="2590800"/>
            <a:ext cx="533400" cy="68580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23" name="Rectangle 33"/>
          <p:cNvSpPr>
            <a:spLocks noChangeArrowheads="1"/>
          </p:cNvSpPr>
          <p:nvPr/>
        </p:nvSpPr>
        <p:spPr bwMode="auto">
          <a:xfrm>
            <a:off x="6629400" y="2514600"/>
            <a:ext cx="533400" cy="60960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>
              <a:defRPr/>
            </a:pPr>
            <a:fld id="{D3CBEC0C-1C82-4FEB-B3B9-BE66B9E8A14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9458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798719B6-54DA-4F1D-AF77-61C624B189FE}" type="slidenum">
              <a:rPr lang="zh-CN" altLang="en-US" sz="1000" smtClean="0">
                <a:solidFill>
                  <a:srgbClr val="000000"/>
                </a:solidFill>
                <a:ea typeface="宋体" pitchFamily="2" charset="-122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 sz="100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smtClean="0">
                <a:ea typeface="宋体" pitchFamily="2" charset="-122"/>
              </a:rPr>
              <a:t>Five Merge Algorithms </a:t>
            </a:r>
            <a:r>
              <a:rPr lang="en-US" altLang="zh-CN" sz="2800" b="1" dirty="0" smtClean="0">
                <a:solidFill>
                  <a:srgbClr val="FF0000"/>
                </a:solidFill>
                <a:ea typeface="宋体" pitchFamily="2" charset="-122"/>
              </a:rPr>
              <a:t>(icde2008)</a:t>
            </a:r>
          </a:p>
        </p:txBody>
      </p:sp>
      <p:sp>
        <p:nvSpPr>
          <p:cNvPr id="19461" name="AutoShape 6"/>
          <p:cNvSpPr>
            <a:spLocks noChangeArrowheads="1"/>
          </p:cNvSpPr>
          <p:nvPr/>
        </p:nvSpPr>
        <p:spPr bwMode="auto">
          <a:xfrm>
            <a:off x="914400" y="1828800"/>
            <a:ext cx="2819400" cy="1676400"/>
          </a:xfrm>
          <a:prstGeom prst="flowChartAlternateProcess">
            <a:avLst/>
          </a:prstGeom>
          <a:solidFill>
            <a:srgbClr val="0066FF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0066FF"/>
            </a:extrusionClr>
          </a:sp3d>
        </p:spPr>
        <p:txBody>
          <a:bodyPr wrap="none" anchor="ctr">
            <a:flatTx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990600" y="1981200"/>
            <a:ext cx="2438400" cy="3800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FFFFFF"/>
                </a:solidFill>
                <a:ea typeface="宋体" pitchFamily="2" charset="-122"/>
              </a:rPr>
              <a:t>HeapMerger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FFFFFF"/>
                </a:solidFill>
                <a:ea typeface="宋体" pitchFamily="2" charset="-122"/>
              </a:rPr>
              <a:t>[Sarawagi,SIGMOD 2004]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2800" smtClean="0">
              <a:solidFill>
                <a:srgbClr val="FFFFFF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2800" smtClean="0">
              <a:solidFill>
                <a:srgbClr val="FFFFFF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2800" smtClean="0">
              <a:solidFill>
                <a:srgbClr val="FFFFFF"/>
              </a:solidFill>
              <a:ea typeface="宋体" pitchFamily="2" charset="-122"/>
            </a:endParaRP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 sz="2800" smtClean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19463" name="AutoShape 8"/>
          <p:cNvSpPr>
            <a:spLocks noChangeArrowheads="1"/>
          </p:cNvSpPr>
          <p:nvPr/>
        </p:nvSpPr>
        <p:spPr bwMode="auto">
          <a:xfrm>
            <a:off x="3810000" y="2743200"/>
            <a:ext cx="990600" cy="609600"/>
          </a:xfrm>
          <a:prstGeom prst="rightArrow">
            <a:avLst>
              <a:gd name="adj1" fmla="val 50000"/>
              <a:gd name="adj2" fmla="val 40625"/>
            </a:avLst>
          </a:prstGeom>
          <a:solidFill>
            <a:schemeClr val="accent1"/>
          </a:solidFill>
          <a:ln w="285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64" name="AutoShape 9"/>
          <p:cNvSpPr>
            <a:spLocks noChangeArrowheads="1"/>
          </p:cNvSpPr>
          <p:nvPr/>
        </p:nvSpPr>
        <p:spPr bwMode="auto">
          <a:xfrm>
            <a:off x="5257800" y="1981200"/>
            <a:ext cx="2819400" cy="1524000"/>
          </a:xfrm>
          <a:prstGeom prst="flowChartAlternateProcess">
            <a:avLst/>
          </a:prstGeom>
          <a:solidFill>
            <a:srgbClr val="0066FF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0066FF"/>
            </a:extrusionClr>
          </a:sp3d>
        </p:spPr>
        <p:txBody>
          <a:bodyPr wrap="none" anchor="ctr">
            <a:flatTx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65" name="Text Box 10"/>
          <p:cNvSpPr txBox="1">
            <a:spLocks noChangeArrowheads="1"/>
          </p:cNvSpPr>
          <p:nvPr/>
        </p:nvSpPr>
        <p:spPr bwMode="auto">
          <a:xfrm>
            <a:off x="5257800" y="1981200"/>
            <a:ext cx="2895600" cy="1292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FFFFFF"/>
                </a:solidFill>
                <a:ea typeface="宋体" pitchFamily="2" charset="-122"/>
              </a:rPr>
              <a:t>MergeOpt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smtClean="0">
                <a:solidFill>
                  <a:srgbClr val="FFFFFF"/>
                </a:solidFill>
                <a:ea typeface="宋体" pitchFamily="2" charset="-122"/>
              </a:rPr>
              <a:t>[Sarawagi,SIGMOD 2004]</a:t>
            </a:r>
          </a:p>
        </p:txBody>
      </p:sp>
      <p:sp>
        <p:nvSpPr>
          <p:cNvPr id="19466" name="Line 11"/>
          <p:cNvSpPr>
            <a:spLocks noChangeShapeType="1"/>
          </p:cNvSpPr>
          <p:nvPr/>
        </p:nvSpPr>
        <p:spPr bwMode="auto">
          <a:xfrm>
            <a:off x="381000" y="3962400"/>
            <a:ext cx="8458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9467" name="Text Box 12"/>
          <p:cNvSpPr txBox="1">
            <a:spLocks noChangeArrowheads="1"/>
          </p:cNvSpPr>
          <p:nvPr/>
        </p:nvSpPr>
        <p:spPr bwMode="auto">
          <a:xfrm>
            <a:off x="7848600" y="3505200"/>
            <a:ext cx="12954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Previous</a:t>
            </a:r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7848600" y="3962400"/>
            <a:ext cx="12954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New</a:t>
            </a:r>
          </a:p>
        </p:txBody>
      </p:sp>
      <p:sp>
        <p:nvSpPr>
          <p:cNvPr id="19470" name="AutoShape 15"/>
          <p:cNvSpPr>
            <a:spLocks noChangeArrowheads="1"/>
          </p:cNvSpPr>
          <p:nvPr/>
        </p:nvSpPr>
        <p:spPr bwMode="auto">
          <a:xfrm>
            <a:off x="533400" y="4800600"/>
            <a:ext cx="2133600" cy="1066800"/>
          </a:xfrm>
          <a:prstGeom prst="flowChartAlternateProcess">
            <a:avLst/>
          </a:prstGeom>
          <a:solidFill>
            <a:srgbClr val="93074D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3074D"/>
            </a:extrusionClr>
          </a:sp3d>
        </p:spPr>
        <p:txBody>
          <a:bodyPr wrap="none" anchor="ctr">
            <a:flatTx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71" name="Text Box 16"/>
          <p:cNvSpPr txBox="1">
            <a:spLocks noChangeArrowheads="1"/>
          </p:cNvSpPr>
          <p:nvPr/>
        </p:nvSpPr>
        <p:spPr bwMode="auto">
          <a:xfrm>
            <a:off x="457200" y="5029200"/>
            <a:ext cx="24384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FFFFFF"/>
                </a:solidFill>
                <a:ea typeface="宋体" pitchFamily="2" charset="-122"/>
              </a:rPr>
              <a:t>ScanCount</a:t>
            </a:r>
          </a:p>
        </p:txBody>
      </p:sp>
      <p:sp>
        <p:nvSpPr>
          <p:cNvPr id="19472" name="AutoShape 17"/>
          <p:cNvSpPr>
            <a:spLocks noChangeArrowheads="1"/>
          </p:cNvSpPr>
          <p:nvPr/>
        </p:nvSpPr>
        <p:spPr bwMode="auto">
          <a:xfrm>
            <a:off x="2667000" y="5105400"/>
            <a:ext cx="914400" cy="6096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285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73" name="AutoShape 18"/>
          <p:cNvSpPr>
            <a:spLocks noChangeArrowheads="1"/>
          </p:cNvSpPr>
          <p:nvPr/>
        </p:nvSpPr>
        <p:spPr bwMode="auto">
          <a:xfrm>
            <a:off x="3657600" y="4876800"/>
            <a:ext cx="2133600" cy="1066800"/>
          </a:xfrm>
          <a:prstGeom prst="flowChartAlternateProcess">
            <a:avLst/>
          </a:prstGeom>
          <a:solidFill>
            <a:srgbClr val="93074D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3074D"/>
            </a:extrusionClr>
          </a:sp3d>
        </p:spPr>
        <p:txBody>
          <a:bodyPr wrap="none" anchor="ctr">
            <a:flatTx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74" name="Text Box 19"/>
          <p:cNvSpPr txBox="1">
            <a:spLocks noChangeArrowheads="1"/>
          </p:cNvSpPr>
          <p:nvPr/>
        </p:nvSpPr>
        <p:spPr bwMode="auto">
          <a:xfrm>
            <a:off x="3429000" y="5105400"/>
            <a:ext cx="24384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FFFFFF"/>
                </a:solidFill>
                <a:ea typeface="宋体" pitchFamily="2" charset="-122"/>
              </a:rPr>
              <a:t>MergeSkip</a:t>
            </a:r>
          </a:p>
        </p:txBody>
      </p:sp>
      <p:sp>
        <p:nvSpPr>
          <p:cNvPr id="19475" name="AutoShape 20"/>
          <p:cNvSpPr>
            <a:spLocks noChangeArrowheads="1"/>
          </p:cNvSpPr>
          <p:nvPr/>
        </p:nvSpPr>
        <p:spPr bwMode="auto">
          <a:xfrm>
            <a:off x="5867400" y="5105400"/>
            <a:ext cx="685800" cy="609600"/>
          </a:xfrm>
          <a:prstGeom prst="rightArrow">
            <a:avLst>
              <a:gd name="adj1" fmla="val 50000"/>
              <a:gd name="adj2" fmla="val 28125"/>
            </a:avLst>
          </a:prstGeom>
          <a:solidFill>
            <a:schemeClr val="accent1"/>
          </a:solidFill>
          <a:ln w="2857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76" name="AutoShape 21"/>
          <p:cNvSpPr>
            <a:spLocks noChangeArrowheads="1"/>
          </p:cNvSpPr>
          <p:nvPr/>
        </p:nvSpPr>
        <p:spPr bwMode="auto">
          <a:xfrm>
            <a:off x="6705600" y="4876800"/>
            <a:ext cx="2133600" cy="1066800"/>
          </a:xfrm>
          <a:prstGeom prst="flowChartAlternateProcess">
            <a:avLst/>
          </a:prstGeom>
          <a:solidFill>
            <a:srgbClr val="93074D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3074D"/>
            </a:extrusionClr>
          </a:sp3d>
        </p:spPr>
        <p:txBody>
          <a:bodyPr wrap="none" anchor="ctr">
            <a:flatTx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9477" name="Text Box 22"/>
          <p:cNvSpPr txBox="1">
            <a:spLocks noChangeArrowheads="1"/>
          </p:cNvSpPr>
          <p:nvPr/>
        </p:nvSpPr>
        <p:spPr bwMode="auto">
          <a:xfrm>
            <a:off x="6477000" y="5105400"/>
            <a:ext cx="24384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smtClean="0">
                <a:solidFill>
                  <a:srgbClr val="FFFFFF"/>
                </a:solidFill>
                <a:ea typeface="宋体" pitchFamily="2" charset="-122"/>
              </a:rPr>
              <a:t>DivideSkip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30238" y="1808163"/>
            <a:ext cx="7751762" cy="4516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4000" dirty="0" smtClean="0">
                <a:ea typeface="SimSun" pitchFamily="2" charset="-122"/>
              </a:rPr>
              <a:t>1M strings in 1ms  </a:t>
            </a:r>
            <a:r>
              <a:rPr lang="en-US" altLang="zh-CN" sz="4000" dirty="0" smtClean="0">
                <a:ea typeface="SimSun" pitchFamily="2" charset="-122"/>
                <a:sym typeface="Wingdings" pitchFamily="2" charset="2"/>
              </a:rPr>
              <a:t> </a:t>
            </a:r>
            <a:endParaRPr lang="en-US" altLang="zh-CN" sz="40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4000" dirty="0" smtClean="0">
                <a:ea typeface="SimSun" pitchFamily="2" charset="-122"/>
              </a:rPr>
              <a:t>10M strings in 10ms</a:t>
            </a:r>
          </a:p>
          <a:p>
            <a:pPr>
              <a:lnSpc>
                <a:spcPct val="90000"/>
              </a:lnSpc>
            </a:pPr>
            <a:endParaRPr lang="en-US" altLang="zh-CN" sz="40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4000" dirty="0" smtClean="0">
                <a:ea typeface="SimSun" pitchFamily="2" charset="-122"/>
              </a:rPr>
              <a:t>Next: VGRAM</a:t>
            </a: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Story of “1-1-10-10”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620F-FB7D-45D1-BF49-0807BD9ED09E}" type="slidenum">
              <a:rPr lang="en-US" altLang="zh-CN">
                <a:solidFill>
                  <a:srgbClr val="000000"/>
                </a:solidFill>
              </a:rPr>
              <a:pPr/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100" b="0" dirty="0"/>
              <a:t>Observation 1: dilemma of choosing “q”</a:t>
            </a:r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411662"/>
          </a:xfrm>
        </p:spPr>
        <p:txBody>
          <a:bodyPr/>
          <a:lstStyle/>
          <a:p>
            <a:r>
              <a:rPr lang="en-US" altLang="zh-CN" sz="2600"/>
              <a:t>Increasing “q” causing:</a:t>
            </a:r>
          </a:p>
          <a:p>
            <a:pPr lvl="1"/>
            <a:r>
              <a:rPr lang="en-US" altLang="zh-CN" sz="2200"/>
              <a:t>Longer grams </a:t>
            </a:r>
            <a:r>
              <a:rPr lang="en-US" altLang="zh-CN" sz="2200">
                <a:sym typeface="Wingdings" pitchFamily="2" charset="2"/>
              </a:rPr>
              <a:t> Shorter lists </a:t>
            </a:r>
          </a:p>
          <a:p>
            <a:pPr lvl="1"/>
            <a:r>
              <a:rPr lang="en-US" altLang="zh-CN" sz="2200">
                <a:sym typeface="Wingdings" pitchFamily="2" charset="2"/>
              </a:rPr>
              <a:t>Smaller # of common grams of similar strings</a:t>
            </a:r>
            <a:endParaRPr lang="en-US" altLang="zh-CN" sz="2200" b="1">
              <a:solidFill>
                <a:schemeClr val="tx2"/>
              </a:solidFill>
            </a:endParaRPr>
          </a:p>
          <a:p>
            <a:pPr lvl="1"/>
            <a:endParaRPr lang="en-US" altLang="zh-CN" sz="22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0825" y="3500438"/>
            <a:ext cx="1800225" cy="2305050"/>
            <a:chOff x="158" y="2205"/>
            <a:chExt cx="1134" cy="145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90" y="2205"/>
              <a:ext cx="1097" cy="1435"/>
              <a:chOff x="463" y="1797"/>
              <a:chExt cx="1097" cy="1435"/>
            </a:xfrm>
          </p:grpSpPr>
          <p:sp>
            <p:nvSpPr>
              <p:cNvPr id="440326" name="Text Box 6"/>
              <p:cNvSpPr txBox="1">
                <a:spLocks noChangeArrowheads="1"/>
              </p:cNvSpPr>
              <p:nvPr/>
            </p:nvSpPr>
            <p:spPr bwMode="auto">
              <a:xfrm>
                <a:off x="463" y="1797"/>
                <a:ext cx="109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id     strings</a:t>
                </a:r>
              </a:p>
            </p:txBody>
          </p:sp>
          <p:sp>
            <p:nvSpPr>
              <p:cNvPr id="440327" name="Text Box 7"/>
              <p:cNvSpPr txBox="1">
                <a:spLocks noChangeArrowheads="1"/>
              </p:cNvSpPr>
              <p:nvPr/>
            </p:nvSpPr>
            <p:spPr bwMode="auto">
              <a:xfrm>
                <a:off x="463" y="2024"/>
                <a:ext cx="223" cy="1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0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1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2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3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440328" name="Text Box 8"/>
              <p:cNvSpPr txBox="1">
                <a:spLocks noChangeArrowheads="1"/>
              </p:cNvSpPr>
              <p:nvPr/>
            </p:nvSpPr>
            <p:spPr bwMode="auto">
              <a:xfrm>
                <a:off x="884" y="2024"/>
                <a:ext cx="564" cy="1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rich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stick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stich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stuck</a:t>
                </a:r>
              </a:p>
              <a:p>
                <a:pPr marL="457200" indent="-4572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static</a:t>
                </a:r>
              </a:p>
            </p:txBody>
          </p:sp>
        </p:grpSp>
        <p:sp>
          <p:nvSpPr>
            <p:cNvPr id="440329" name="Rectangle 9"/>
            <p:cNvSpPr>
              <a:spLocks noChangeArrowheads="1"/>
            </p:cNvSpPr>
            <p:nvPr/>
          </p:nvSpPr>
          <p:spPr bwMode="auto">
            <a:xfrm>
              <a:off x="158" y="2205"/>
              <a:ext cx="1134" cy="14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40330" name="Line 10"/>
            <p:cNvSpPr>
              <a:spLocks noChangeShapeType="1"/>
            </p:cNvSpPr>
            <p:nvPr/>
          </p:nvSpPr>
          <p:spPr bwMode="auto">
            <a:xfrm>
              <a:off x="158" y="2477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40331" name="Line 11"/>
            <p:cNvSpPr>
              <a:spLocks noChangeShapeType="1"/>
            </p:cNvSpPr>
            <p:nvPr/>
          </p:nvSpPr>
          <p:spPr bwMode="auto">
            <a:xfrm>
              <a:off x="520" y="2205"/>
              <a:ext cx="0" cy="1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124075" y="2925763"/>
            <a:ext cx="4959350" cy="3743325"/>
            <a:chOff x="1338" y="1843"/>
            <a:chExt cx="3124" cy="2358"/>
          </a:xfrm>
        </p:grpSpPr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2352" y="1867"/>
              <a:ext cx="528" cy="250"/>
              <a:chOff x="3024" y="2870"/>
              <a:chExt cx="528" cy="250"/>
            </a:xfrm>
          </p:grpSpPr>
          <p:sp>
            <p:nvSpPr>
              <p:cNvPr id="440334" name="Text Box 1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440335" name="Rectangle 1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36" name="Line 1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2878" y="3043"/>
              <a:ext cx="528" cy="250"/>
              <a:chOff x="3024" y="2870"/>
              <a:chExt cx="528" cy="250"/>
            </a:xfrm>
          </p:grpSpPr>
          <p:sp>
            <p:nvSpPr>
              <p:cNvPr id="440338" name="Text Box 18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440339" name="Rectangle 19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40" name="Line 20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3406" y="3043"/>
              <a:ext cx="528" cy="250"/>
              <a:chOff x="3024" y="2870"/>
              <a:chExt cx="528" cy="250"/>
            </a:xfrm>
          </p:grpSpPr>
          <p:sp>
            <p:nvSpPr>
              <p:cNvPr id="440342" name="Text Box 2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440343" name="Rectangle 2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44" name="Line 2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2353" y="2817"/>
              <a:ext cx="528" cy="250"/>
              <a:chOff x="3024" y="2870"/>
              <a:chExt cx="528" cy="250"/>
            </a:xfrm>
          </p:grpSpPr>
          <p:sp>
            <p:nvSpPr>
              <p:cNvPr id="440346" name="Text Box 2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</a:rPr>
                  <a:t>0</a:t>
                </a:r>
              </a:p>
            </p:txBody>
          </p:sp>
          <p:sp>
            <p:nvSpPr>
              <p:cNvPr id="440347" name="Rectangle 2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48" name="Line 2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2350" y="3050"/>
              <a:ext cx="528" cy="250"/>
              <a:chOff x="3024" y="2870"/>
              <a:chExt cx="528" cy="250"/>
            </a:xfrm>
          </p:grpSpPr>
          <p:sp>
            <p:nvSpPr>
              <p:cNvPr id="440350" name="Text Box 3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440351" name="Rectangle 3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52" name="Line 3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0" name="Group 33"/>
            <p:cNvGrpSpPr>
              <a:grpSpLocks/>
            </p:cNvGrpSpPr>
            <p:nvPr/>
          </p:nvGrpSpPr>
          <p:grpSpPr bwMode="auto">
            <a:xfrm>
              <a:off x="3934" y="3036"/>
              <a:ext cx="528" cy="250"/>
              <a:chOff x="3024" y="2870"/>
              <a:chExt cx="528" cy="250"/>
            </a:xfrm>
          </p:grpSpPr>
          <p:sp>
            <p:nvSpPr>
              <p:cNvPr id="440354" name="Text Box 3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440355" name="Rectangle 3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56" name="Line 3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0357" name="Text Box 37"/>
            <p:cNvSpPr txBox="1">
              <a:spLocks noChangeArrowheads="1"/>
            </p:cNvSpPr>
            <p:nvPr/>
          </p:nvSpPr>
          <p:spPr bwMode="auto">
            <a:xfrm>
              <a:off x="1338" y="2655"/>
              <a:ext cx="6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mtClean="0">
                  <a:solidFill>
                    <a:srgbClr val="000000"/>
                  </a:solidFill>
                </a:rPr>
                <a:t>2-grams</a:t>
              </a:r>
            </a:p>
          </p:txBody>
        </p: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1941" y="1843"/>
              <a:ext cx="409" cy="2358"/>
              <a:chOff x="1941" y="1843"/>
              <a:chExt cx="409" cy="2358"/>
            </a:xfrm>
          </p:grpSpPr>
          <p:sp>
            <p:nvSpPr>
              <p:cNvPr id="440359" name="Text Box 39"/>
              <p:cNvSpPr txBox="1">
                <a:spLocks noChangeArrowheads="1"/>
              </p:cNvSpPr>
              <p:nvPr/>
            </p:nvSpPr>
            <p:spPr bwMode="auto">
              <a:xfrm>
                <a:off x="2006" y="1843"/>
                <a:ext cx="319" cy="2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at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ch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ck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ic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ri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st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ta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ti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tu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smtClean="0">
                    <a:solidFill>
                      <a:srgbClr val="000000"/>
                    </a:solidFill>
                  </a:rPr>
                  <a:t>uc</a:t>
                </a:r>
              </a:p>
            </p:txBody>
          </p:sp>
          <p:sp>
            <p:nvSpPr>
              <p:cNvPr id="440360" name="Rectangle 40"/>
              <p:cNvSpPr>
                <a:spLocks noChangeArrowheads="1"/>
              </p:cNvSpPr>
              <p:nvPr/>
            </p:nvSpPr>
            <p:spPr bwMode="auto">
              <a:xfrm>
                <a:off x="1941" y="1888"/>
                <a:ext cx="409" cy="231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" name="Group 41"/>
            <p:cNvGrpSpPr>
              <a:grpSpLocks/>
            </p:cNvGrpSpPr>
            <p:nvPr/>
          </p:nvGrpSpPr>
          <p:grpSpPr bwMode="auto">
            <a:xfrm>
              <a:off x="2882" y="2101"/>
              <a:ext cx="528" cy="250"/>
              <a:chOff x="3024" y="2870"/>
              <a:chExt cx="528" cy="250"/>
            </a:xfrm>
          </p:grpSpPr>
          <p:sp>
            <p:nvSpPr>
              <p:cNvPr id="440362" name="Text Box 4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440363" name="Rectangle 4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64" name="Line 4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" name="Group 45"/>
            <p:cNvGrpSpPr>
              <a:grpSpLocks/>
            </p:cNvGrpSpPr>
            <p:nvPr/>
          </p:nvGrpSpPr>
          <p:grpSpPr bwMode="auto">
            <a:xfrm>
              <a:off x="2354" y="2108"/>
              <a:ext cx="528" cy="250"/>
              <a:chOff x="3024" y="2870"/>
              <a:chExt cx="528" cy="250"/>
            </a:xfrm>
          </p:grpSpPr>
          <p:sp>
            <p:nvSpPr>
              <p:cNvPr id="440366" name="Text Box 4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0</a:t>
                </a:r>
              </a:p>
            </p:txBody>
          </p:sp>
          <p:sp>
            <p:nvSpPr>
              <p:cNvPr id="440367" name="Rectangle 4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68" name="Line 4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4" name="Group 49"/>
            <p:cNvGrpSpPr>
              <a:grpSpLocks/>
            </p:cNvGrpSpPr>
            <p:nvPr/>
          </p:nvGrpSpPr>
          <p:grpSpPr bwMode="auto">
            <a:xfrm>
              <a:off x="2350" y="2357"/>
              <a:ext cx="528" cy="250"/>
              <a:chOff x="3024" y="2870"/>
              <a:chExt cx="528" cy="250"/>
            </a:xfrm>
          </p:grpSpPr>
          <p:sp>
            <p:nvSpPr>
              <p:cNvPr id="440370" name="Text Box 5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440371" name="Rectangle 5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72" name="Line 5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5" name="Group 53"/>
            <p:cNvGrpSpPr>
              <a:grpSpLocks/>
            </p:cNvGrpSpPr>
            <p:nvPr/>
          </p:nvGrpSpPr>
          <p:grpSpPr bwMode="auto">
            <a:xfrm>
              <a:off x="2878" y="2357"/>
              <a:ext cx="528" cy="250"/>
              <a:chOff x="3024" y="2870"/>
              <a:chExt cx="528" cy="250"/>
            </a:xfrm>
          </p:grpSpPr>
          <p:sp>
            <p:nvSpPr>
              <p:cNvPr id="440374" name="Text Box 5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440375" name="Rectangle 5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76" name="Line 5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6" name="Group 57"/>
            <p:cNvGrpSpPr>
              <a:grpSpLocks/>
            </p:cNvGrpSpPr>
            <p:nvPr/>
          </p:nvGrpSpPr>
          <p:grpSpPr bwMode="auto">
            <a:xfrm>
              <a:off x="2349" y="2582"/>
              <a:ext cx="528" cy="250"/>
              <a:chOff x="3024" y="2870"/>
              <a:chExt cx="528" cy="250"/>
            </a:xfrm>
          </p:grpSpPr>
          <p:sp>
            <p:nvSpPr>
              <p:cNvPr id="440378" name="Text Box 58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0</a:t>
                </a:r>
              </a:p>
            </p:txBody>
          </p:sp>
          <p:sp>
            <p:nvSpPr>
              <p:cNvPr id="440379" name="Rectangle 59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80" name="Line 60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" name="Group 61"/>
            <p:cNvGrpSpPr>
              <a:grpSpLocks/>
            </p:cNvGrpSpPr>
            <p:nvPr/>
          </p:nvGrpSpPr>
          <p:grpSpPr bwMode="auto">
            <a:xfrm>
              <a:off x="2877" y="2582"/>
              <a:ext cx="528" cy="250"/>
              <a:chOff x="3024" y="2870"/>
              <a:chExt cx="528" cy="250"/>
            </a:xfrm>
          </p:grpSpPr>
          <p:sp>
            <p:nvSpPr>
              <p:cNvPr id="440382" name="Text Box 6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440383" name="Rectangle 6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84" name="Line 6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8" name="Group 65"/>
            <p:cNvGrpSpPr>
              <a:grpSpLocks/>
            </p:cNvGrpSpPr>
            <p:nvPr/>
          </p:nvGrpSpPr>
          <p:grpSpPr bwMode="auto">
            <a:xfrm>
              <a:off x="3405" y="2582"/>
              <a:ext cx="528" cy="250"/>
              <a:chOff x="3024" y="2870"/>
              <a:chExt cx="528" cy="250"/>
            </a:xfrm>
          </p:grpSpPr>
          <p:sp>
            <p:nvSpPr>
              <p:cNvPr id="440386" name="Text Box 6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440387" name="Rectangle 6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88" name="Line 6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9" name="Group 69"/>
            <p:cNvGrpSpPr>
              <a:grpSpLocks/>
            </p:cNvGrpSpPr>
            <p:nvPr/>
          </p:nvGrpSpPr>
          <p:grpSpPr bwMode="auto">
            <a:xfrm>
              <a:off x="3933" y="2582"/>
              <a:ext cx="528" cy="250"/>
              <a:chOff x="3024" y="2870"/>
              <a:chExt cx="528" cy="250"/>
            </a:xfrm>
          </p:grpSpPr>
          <p:sp>
            <p:nvSpPr>
              <p:cNvPr id="440390" name="Text Box 7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440391" name="Rectangle 7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92" name="Line 7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0" name="Group 73"/>
            <p:cNvGrpSpPr>
              <a:grpSpLocks/>
            </p:cNvGrpSpPr>
            <p:nvPr/>
          </p:nvGrpSpPr>
          <p:grpSpPr bwMode="auto">
            <a:xfrm>
              <a:off x="2350" y="3271"/>
              <a:ext cx="528" cy="250"/>
              <a:chOff x="3024" y="2870"/>
              <a:chExt cx="528" cy="250"/>
            </a:xfrm>
          </p:grpSpPr>
          <p:sp>
            <p:nvSpPr>
              <p:cNvPr id="440394" name="Text Box 7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440395" name="Rectangle 7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396" name="Line 7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1" name="Group 77"/>
            <p:cNvGrpSpPr>
              <a:grpSpLocks/>
            </p:cNvGrpSpPr>
            <p:nvPr/>
          </p:nvGrpSpPr>
          <p:grpSpPr bwMode="auto">
            <a:xfrm>
              <a:off x="2350" y="3496"/>
              <a:ext cx="528" cy="250"/>
              <a:chOff x="3024" y="2870"/>
              <a:chExt cx="528" cy="250"/>
            </a:xfrm>
          </p:grpSpPr>
          <p:sp>
            <p:nvSpPr>
              <p:cNvPr id="440398" name="Text Box 78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440399" name="Rectangle 79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400" name="Line 80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" name="Group 81"/>
            <p:cNvGrpSpPr>
              <a:grpSpLocks/>
            </p:cNvGrpSpPr>
            <p:nvPr/>
          </p:nvGrpSpPr>
          <p:grpSpPr bwMode="auto">
            <a:xfrm>
              <a:off x="2878" y="3496"/>
              <a:ext cx="528" cy="250"/>
              <a:chOff x="3024" y="2870"/>
              <a:chExt cx="528" cy="250"/>
            </a:xfrm>
          </p:grpSpPr>
          <p:sp>
            <p:nvSpPr>
              <p:cNvPr id="440402" name="Text Box 82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smtClean="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440403" name="Rectangle 83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404" name="Line 84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3" name="Group 85"/>
            <p:cNvGrpSpPr>
              <a:grpSpLocks/>
            </p:cNvGrpSpPr>
            <p:nvPr/>
          </p:nvGrpSpPr>
          <p:grpSpPr bwMode="auto">
            <a:xfrm>
              <a:off x="3406" y="3496"/>
              <a:ext cx="528" cy="250"/>
              <a:chOff x="3024" y="2870"/>
              <a:chExt cx="528" cy="250"/>
            </a:xfrm>
          </p:grpSpPr>
          <p:sp>
            <p:nvSpPr>
              <p:cNvPr id="440406" name="Text Box 86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4</a:t>
                </a:r>
              </a:p>
            </p:txBody>
          </p:sp>
          <p:sp>
            <p:nvSpPr>
              <p:cNvPr id="440407" name="Rectangle 87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408" name="Line 88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4" name="Group 89"/>
            <p:cNvGrpSpPr>
              <a:grpSpLocks/>
            </p:cNvGrpSpPr>
            <p:nvPr/>
          </p:nvGrpSpPr>
          <p:grpSpPr bwMode="auto">
            <a:xfrm>
              <a:off x="2353" y="3724"/>
              <a:ext cx="528" cy="250"/>
              <a:chOff x="3024" y="2870"/>
              <a:chExt cx="528" cy="250"/>
            </a:xfrm>
          </p:grpSpPr>
          <p:sp>
            <p:nvSpPr>
              <p:cNvPr id="440410" name="Text Box 90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440411" name="Rectangle 91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412" name="Line 92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5" name="Group 93"/>
            <p:cNvGrpSpPr>
              <a:grpSpLocks/>
            </p:cNvGrpSpPr>
            <p:nvPr/>
          </p:nvGrpSpPr>
          <p:grpSpPr bwMode="auto">
            <a:xfrm>
              <a:off x="2350" y="3951"/>
              <a:ext cx="528" cy="250"/>
              <a:chOff x="3024" y="2870"/>
              <a:chExt cx="528" cy="250"/>
            </a:xfrm>
          </p:grpSpPr>
          <p:sp>
            <p:nvSpPr>
              <p:cNvPr id="440414" name="Text Box 94"/>
              <p:cNvSpPr txBox="1">
                <a:spLocks noChangeArrowheads="1"/>
              </p:cNvSpPr>
              <p:nvPr/>
            </p:nvSpPr>
            <p:spPr bwMode="auto">
              <a:xfrm>
                <a:off x="3312" y="2870"/>
                <a:ext cx="2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smtClean="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  <p:sp>
            <p:nvSpPr>
              <p:cNvPr id="440415" name="Rectangle 95"/>
              <p:cNvSpPr>
                <a:spLocks noChangeArrowheads="1"/>
              </p:cNvSpPr>
              <p:nvPr/>
            </p:nvSpPr>
            <p:spPr bwMode="auto">
              <a:xfrm>
                <a:off x="3278" y="2914"/>
                <a:ext cx="274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416" name="Line 96"/>
              <p:cNvSpPr>
                <a:spLocks noChangeShapeType="1"/>
              </p:cNvSpPr>
              <p:nvPr/>
            </p:nvSpPr>
            <p:spPr bwMode="auto">
              <a:xfrm>
                <a:off x="3024" y="299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0417" name="AutoShape 97"/>
            <p:cNvSpPr>
              <a:spLocks noChangeArrowheads="1"/>
            </p:cNvSpPr>
            <p:nvPr/>
          </p:nvSpPr>
          <p:spPr bwMode="auto">
            <a:xfrm>
              <a:off x="1383" y="2931"/>
              <a:ext cx="499" cy="227"/>
            </a:xfrm>
            <a:prstGeom prst="rightArrow">
              <a:avLst>
                <a:gd name="adj1" fmla="val 50000"/>
                <a:gd name="adj2" fmla="val 54956"/>
              </a:avLst>
            </a:prstGeom>
            <a:solidFill>
              <a:srgbClr val="FFFF00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440418" name="Line 98"/>
          <p:cNvSpPr>
            <a:spLocks noChangeShapeType="1"/>
          </p:cNvSpPr>
          <p:nvPr/>
        </p:nvSpPr>
        <p:spPr bwMode="auto">
          <a:xfrm>
            <a:off x="457200" y="1371600"/>
            <a:ext cx="8229600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F4A5-EC03-4F2F-88EB-FFAD93CC837A}" type="slidenum">
              <a:rPr lang="en-US" altLang="zh-CN">
                <a:solidFill>
                  <a:srgbClr val="000000"/>
                </a:solidFill>
              </a:rPr>
              <a:pPr/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786688" cy="1295400"/>
          </a:xfrm>
        </p:spPr>
        <p:txBody>
          <a:bodyPr/>
          <a:lstStyle/>
          <a:p>
            <a:r>
              <a:rPr lang="en-US" altLang="zh-CN" sz="2300" b="0"/>
              <a:t>Observation 2: skew distributions of gram frequencies</a:t>
            </a:r>
            <a:endParaRPr lang="zh-CN" altLang="en-US" sz="2300" b="0"/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4648200"/>
          </a:xfrm>
        </p:spPr>
        <p:txBody>
          <a:bodyPr/>
          <a:lstStyle/>
          <a:p>
            <a:r>
              <a:rPr lang="en-US" altLang="zh-CN" sz="2000"/>
              <a:t>DBLP: </a:t>
            </a:r>
            <a:r>
              <a:rPr lang="zh-CN" altLang="en-US" sz="2000"/>
              <a:t>276,699 </a:t>
            </a:r>
            <a:r>
              <a:rPr lang="en-US" altLang="zh-CN" sz="2000"/>
              <a:t>article titles</a:t>
            </a:r>
          </a:p>
          <a:p>
            <a:r>
              <a:rPr lang="en-US" altLang="zh-CN" sz="2200"/>
              <a:t>Popular 5-grams: </a:t>
            </a:r>
            <a:r>
              <a:rPr lang="en-US" altLang="zh-CN" sz="2200">
                <a:solidFill>
                  <a:srgbClr val="FF3300"/>
                </a:solidFill>
              </a:rPr>
              <a:t>ation </a:t>
            </a:r>
            <a:r>
              <a:rPr lang="en-US" altLang="zh-CN" sz="2200"/>
              <a:t>(&gt;114K times), </a:t>
            </a:r>
            <a:r>
              <a:rPr lang="en-US" altLang="zh-CN" sz="2200">
                <a:solidFill>
                  <a:srgbClr val="FF3300"/>
                </a:solidFill>
              </a:rPr>
              <a:t>tions</a:t>
            </a:r>
            <a:r>
              <a:rPr lang="en-US" altLang="zh-CN" sz="2200"/>
              <a:t>, </a:t>
            </a:r>
            <a:r>
              <a:rPr lang="en-US" altLang="zh-CN" sz="2200">
                <a:solidFill>
                  <a:srgbClr val="FF3300"/>
                </a:solidFill>
              </a:rPr>
              <a:t>ystem</a:t>
            </a:r>
            <a:r>
              <a:rPr lang="en-US" altLang="zh-CN" sz="2200"/>
              <a:t>, </a:t>
            </a:r>
            <a:r>
              <a:rPr lang="en-US" altLang="zh-CN" sz="2200">
                <a:solidFill>
                  <a:srgbClr val="FF3300"/>
                </a:solidFill>
              </a:rPr>
              <a:t>catio</a:t>
            </a:r>
            <a:endParaRPr lang="en-US" altLang="zh-CN" sz="2000"/>
          </a:p>
        </p:txBody>
      </p:sp>
      <p:sp>
        <p:nvSpPr>
          <p:cNvPr id="442372" name="Line 4"/>
          <p:cNvSpPr>
            <a:spLocks noChangeShapeType="1"/>
          </p:cNvSpPr>
          <p:nvPr/>
        </p:nvSpPr>
        <p:spPr bwMode="auto">
          <a:xfrm>
            <a:off x="457200" y="1371600"/>
            <a:ext cx="8229600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44237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9863" y="2924175"/>
            <a:ext cx="6335712" cy="31623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59F58-7E11-4D0B-B402-C6196422CE9B}" type="slidenum">
              <a:rPr lang="en-US" altLang="zh-CN">
                <a:solidFill>
                  <a:srgbClr val="000000"/>
                </a:solidFill>
              </a:rPr>
              <a:pPr/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VGRAM: Main idea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/>
              <a:t>Grams with </a:t>
            </a:r>
            <a:r>
              <a:rPr lang="en-US" altLang="zh-CN">
                <a:solidFill>
                  <a:srgbClr val="0000FF"/>
                </a:solidFill>
              </a:rPr>
              <a:t>variable lengths </a:t>
            </a:r>
            <a:r>
              <a:rPr lang="en-US" altLang="zh-CN"/>
              <a:t>(between </a:t>
            </a:r>
            <a:r>
              <a:rPr lang="en-US" altLang="zh-CN" i="1"/>
              <a:t>q</a:t>
            </a:r>
            <a:r>
              <a:rPr lang="en-US" altLang="zh-CN" baseline="-25000"/>
              <a:t>min</a:t>
            </a:r>
            <a:r>
              <a:rPr lang="en-US" altLang="zh-CN"/>
              <a:t> and q</a:t>
            </a:r>
            <a:r>
              <a:rPr lang="en-US" altLang="zh-CN" baseline="-25000"/>
              <a:t>max</a:t>
            </a:r>
            <a:r>
              <a:rPr lang="en-US" altLang="zh-CN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rgbClr val="FF0000"/>
                </a:solidFill>
                <a:latin typeface="Gungsuh" pitchFamily="18" charset="-127"/>
                <a:ea typeface="Gungsuh" pitchFamily="18" charset="-127"/>
              </a:rPr>
              <a:t>zebra</a:t>
            </a:r>
          </a:p>
          <a:p>
            <a:pPr lvl="2">
              <a:lnSpc>
                <a:spcPct val="90000"/>
              </a:lnSpc>
            </a:pPr>
            <a:r>
              <a:rPr lang="en-US" altLang="zh-CN"/>
              <a:t>ze(123)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solidFill>
                  <a:srgbClr val="FF0000"/>
                </a:solidFill>
                <a:latin typeface="Gungsuh" pitchFamily="18" charset="-127"/>
                <a:ea typeface="Gungsuh" pitchFamily="18" charset="-127"/>
              </a:rPr>
              <a:t>corrasion</a:t>
            </a:r>
          </a:p>
          <a:p>
            <a:pPr lvl="2">
              <a:lnSpc>
                <a:spcPct val="90000"/>
              </a:lnSpc>
            </a:pPr>
            <a:r>
              <a:rPr lang="en-US" altLang="zh-CN"/>
              <a:t>co(5213), cor(859), corr(171)</a:t>
            </a:r>
          </a:p>
          <a:p>
            <a:pPr>
              <a:lnSpc>
                <a:spcPct val="90000"/>
              </a:lnSpc>
            </a:pPr>
            <a:r>
              <a:rPr lang="en-US" altLang="zh-CN"/>
              <a:t>Advantages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Reduce index size </a:t>
            </a:r>
            <a:r>
              <a:rPr lang="en-US" altLang="zh-CN">
                <a:sym typeface="Wingdings" pitchFamily="2" charset="2"/>
              </a:rPr>
              <a:t>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Reducing running time </a:t>
            </a:r>
            <a:r>
              <a:rPr lang="en-US" altLang="zh-CN">
                <a:sym typeface="Wingdings" pitchFamily="2" charset="2"/>
              </a:rPr>
              <a:t>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Adoptable by many algorithms </a:t>
            </a:r>
            <a:r>
              <a:rPr lang="en-US" altLang="zh-CN">
                <a:sym typeface="Wingdings" pitchFamily="2" charset="2"/>
              </a:rPr>
              <a:t></a:t>
            </a:r>
            <a:endParaRPr lang="en-US" altLang="zh-CN"/>
          </a:p>
        </p:txBody>
      </p:sp>
      <p:sp>
        <p:nvSpPr>
          <p:cNvPr id="444420" name="Line 4"/>
          <p:cNvSpPr>
            <a:spLocks noChangeShapeType="1"/>
          </p:cNvSpPr>
          <p:nvPr/>
        </p:nvSpPr>
        <p:spPr bwMode="auto">
          <a:xfrm>
            <a:off x="457200" y="1371600"/>
            <a:ext cx="8229600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177FD-214F-405A-BA30-F3FD584D6480}" type="slidenum">
              <a:rPr lang="en-US" altLang="zh-CN">
                <a:solidFill>
                  <a:srgbClr val="000000"/>
                </a:solidFill>
              </a:rPr>
              <a:pPr/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500"/>
              <a:t>Challenges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19263"/>
            <a:ext cx="8748712" cy="4011612"/>
          </a:xfrm>
        </p:spPr>
        <p:txBody>
          <a:bodyPr/>
          <a:lstStyle/>
          <a:p>
            <a:r>
              <a:rPr lang="en-US" altLang="zh-CN" sz="2800"/>
              <a:t>Generating</a:t>
            </a:r>
            <a:r>
              <a:rPr lang="en-US" altLang="zh-CN" sz="2800">
                <a:solidFill>
                  <a:srgbClr val="800000"/>
                </a:solidFill>
              </a:rPr>
              <a:t> </a:t>
            </a:r>
            <a:r>
              <a:rPr lang="en-US" altLang="zh-CN" sz="2800">
                <a:solidFill>
                  <a:srgbClr val="0000FF"/>
                </a:solidFill>
              </a:rPr>
              <a:t>variable-length</a:t>
            </a:r>
            <a:r>
              <a:rPr lang="en-US" altLang="zh-CN" sz="2800"/>
              <a:t> grams?</a:t>
            </a:r>
          </a:p>
          <a:p>
            <a:r>
              <a:rPr lang="en-US" altLang="zh-CN" sz="2800"/>
              <a:t>Constructing a </a:t>
            </a:r>
            <a:r>
              <a:rPr lang="en-US" altLang="zh-CN" sz="2800">
                <a:solidFill>
                  <a:srgbClr val="0000FF"/>
                </a:solidFill>
              </a:rPr>
              <a:t>high-quality</a:t>
            </a:r>
            <a:r>
              <a:rPr lang="en-US" altLang="zh-CN" sz="2800"/>
              <a:t> gram dictionary?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Relationship</a:t>
            </a:r>
            <a:r>
              <a:rPr lang="en-US" altLang="zh-CN" sz="2800"/>
              <a:t> between string similarity and their gram-set similarity?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Adopting</a:t>
            </a:r>
            <a:r>
              <a:rPr lang="en-US" altLang="zh-CN" sz="2800"/>
              <a:t> VGRAM in existing algorithms?</a:t>
            </a:r>
            <a:endParaRPr lang="en-US" altLang="zh-CN" sz="3200"/>
          </a:p>
          <a:p>
            <a:pPr lvl="1"/>
            <a:endParaRPr lang="zh-CN" altLang="en-US" sz="2800"/>
          </a:p>
        </p:txBody>
      </p:sp>
      <p:sp>
        <p:nvSpPr>
          <p:cNvPr id="446468" name="Line 4"/>
          <p:cNvSpPr>
            <a:spLocks noChangeShapeType="1"/>
          </p:cNvSpPr>
          <p:nvPr/>
        </p:nvSpPr>
        <p:spPr bwMode="auto">
          <a:xfrm>
            <a:off x="457200" y="1371600"/>
            <a:ext cx="8229600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446469" name="Picture 5" descr="thin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6375" y="4292600"/>
            <a:ext cx="1628775" cy="2232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24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30238" y="1808163"/>
            <a:ext cx="7751762" cy="4516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4000" dirty="0" smtClean="0">
                <a:ea typeface="SimSun" pitchFamily="2" charset="-122"/>
              </a:rPr>
              <a:t>1M strings in 1ms  </a:t>
            </a:r>
            <a:r>
              <a:rPr lang="en-US" altLang="zh-CN" sz="4000" dirty="0" smtClean="0">
                <a:ea typeface="SimSun" pitchFamily="2" charset="-122"/>
                <a:sym typeface="Wingdings" pitchFamily="2" charset="2"/>
              </a:rPr>
              <a:t> </a:t>
            </a:r>
            <a:endParaRPr lang="en-US" altLang="zh-CN" sz="40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4000" dirty="0" smtClean="0">
                <a:ea typeface="SimSun" pitchFamily="2" charset="-122"/>
              </a:rPr>
              <a:t>10M strings in 10ms</a:t>
            </a:r>
          </a:p>
          <a:p>
            <a:pPr lvl="1">
              <a:lnSpc>
                <a:spcPct val="90000"/>
              </a:lnSpc>
            </a:pPr>
            <a:r>
              <a:rPr lang="en-US" altLang="zh-CN" sz="3600" dirty="0" smtClean="0">
                <a:ea typeface="SimSun" pitchFamily="2" charset="-122"/>
              </a:rPr>
              <a:t>Challenge: large index size</a:t>
            </a: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Story of “1-1-10-10”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Contributions </a:t>
            </a:r>
            <a:r>
              <a:rPr lang="en-US" sz="3200" dirty="0" smtClean="0">
                <a:solidFill>
                  <a:srgbClr val="FF0000"/>
                </a:solidFill>
              </a:rPr>
              <a:t>(icde2009)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2087563"/>
            <a:ext cx="8596313" cy="379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Proposed two 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lossy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 compression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techniques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Answer queries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exactly</a:t>
            </a:r>
          </a:p>
          <a:p>
            <a:pPr marL="742950" marR="0" lvl="1" indent="-28575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Index fits into a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space budget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Queries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sym typeface="Wingdings" pitchFamily="2" charset="2"/>
              </a:rPr>
              <a:t>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faster on the compressed indexes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sym typeface="Wingdings" pitchFamily="2" charset="2"/>
              </a:rPr>
              <a:t>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Flexibility</a:t>
            </a:r>
            <a:r>
              <a:rPr kumimoji="0" lang="en-US" altLang="zh-CN" sz="20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to choose space / time tradeoff</a:t>
            </a:r>
          </a:p>
          <a:p>
            <a:pPr marL="742950" marR="0" lvl="1" indent="-28575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Existing list-merging algorithms: re-use + compression specific optimizations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sz="3600" dirty="0" smtClean="0"/>
              <a:t>Intuition of compression techniques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919287" y="2895600"/>
            <a:ext cx="0" cy="22860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7" name="Oval 13"/>
          <p:cNvSpPr>
            <a:spLocks noChangeArrowheads="1"/>
          </p:cNvSpPr>
          <p:nvPr/>
        </p:nvSpPr>
        <p:spPr bwMode="auto">
          <a:xfrm>
            <a:off x="1766887" y="37338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" name="Line 26"/>
          <p:cNvSpPr>
            <a:spLocks noChangeShapeType="1"/>
          </p:cNvSpPr>
          <p:nvPr/>
        </p:nvSpPr>
        <p:spPr bwMode="auto">
          <a:xfrm>
            <a:off x="3290887" y="2971800"/>
            <a:ext cx="0" cy="25908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" name="Oval 27"/>
          <p:cNvSpPr>
            <a:spLocks noChangeArrowheads="1"/>
          </p:cNvSpPr>
          <p:nvPr/>
        </p:nvSpPr>
        <p:spPr bwMode="auto">
          <a:xfrm>
            <a:off x="3138487" y="44196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1" name="Line 30"/>
          <p:cNvSpPr>
            <a:spLocks noChangeShapeType="1"/>
          </p:cNvSpPr>
          <p:nvPr/>
        </p:nvSpPr>
        <p:spPr bwMode="auto">
          <a:xfrm>
            <a:off x="4205287" y="2971800"/>
            <a:ext cx="0" cy="9906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2" name="Oval 31"/>
          <p:cNvSpPr>
            <a:spLocks noChangeArrowheads="1"/>
          </p:cNvSpPr>
          <p:nvPr/>
        </p:nvSpPr>
        <p:spPr bwMode="auto">
          <a:xfrm>
            <a:off x="4052887" y="29718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3" name="Line 34"/>
          <p:cNvSpPr>
            <a:spLocks noChangeShapeType="1"/>
          </p:cNvSpPr>
          <p:nvPr/>
        </p:nvSpPr>
        <p:spPr bwMode="auto">
          <a:xfrm>
            <a:off x="5119687" y="2971800"/>
            <a:ext cx="0" cy="18288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4" name="Oval 35"/>
          <p:cNvSpPr>
            <a:spLocks noChangeArrowheads="1"/>
          </p:cNvSpPr>
          <p:nvPr/>
        </p:nvSpPr>
        <p:spPr bwMode="auto">
          <a:xfrm>
            <a:off x="4967287" y="35052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5" name="Line 38"/>
          <p:cNvSpPr>
            <a:spLocks noChangeShapeType="1"/>
          </p:cNvSpPr>
          <p:nvPr/>
        </p:nvSpPr>
        <p:spPr bwMode="auto">
          <a:xfrm>
            <a:off x="6034087" y="2971800"/>
            <a:ext cx="0" cy="17526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6" name="Oval 39"/>
          <p:cNvSpPr>
            <a:spLocks noChangeArrowheads="1"/>
          </p:cNvSpPr>
          <p:nvPr/>
        </p:nvSpPr>
        <p:spPr bwMode="auto">
          <a:xfrm>
            <a:off x="5881687" y="3962400"/>
            <a:ext cx="304800" cy="304800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" name="Line 42"/>
          <p:cNvSpPr>
            <a:spLocks noChangeShapeType="1"/>
          </p:cNvSpPr>
          <p:nvPr/>
        </p:nvSpPr>
        <p:spPr bwMode="auto">
          <a:xfrm>
            <a:off x="6948487" y="2895600"/>
            <a:ext cx="0" cy="20574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8" name="Line 42"/>
          <p:cNvSpPr>
            <a:spLocks noChangeShapeType="1"/>
          </p:cNvSpPr>
          <p:nvPr/>
        </p:nvSpPr>
        <p:spPr bwMode="auto">
          <a:xfrm>
            <a:off x="2605087" y="2971800"/>
            <a:ext cx="0" cy="2057400"/>
          </a:xfrm>
          <a:prstGeom prst="line">
            <a:avLst/>
          </a:prstGeom>
          <a:noFill/>
          <a:ln w="127000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1609725" y="5791200"/>
            <a:ext cx="6162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0033CC"/>
                </a:solidFill>
                <a:ea typeface="宋体" pitchFamily="2" charset="-122"/>
              </a:rPr>
              <a:t>Find elements whose occurrences ≥ T </a:t>
            </a:r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242887" y="3352800"/>
            <a:ext cx="1676400" cy="7794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Ascending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mtClean="0">
                <a:solidFill>
                  <a:srgbClr val="000000"/>
                </a:solidFill>
                <a:ea typeface="宋体" pitchFamily="2" charset="-122"/>
              </a:rPr>
              <a:t>order</a:t>
            </a:r>
          </a:p>
        </p:txBody>
      </p:sp>
      <p:sp>
        <p:nvSpPr>
          <p:cNvPr id="21" name="AutoShape 32"/>
          <p:cNvSpPr>
            <a:spLocks/>
          </p:cNvSpPr>
          <p:nvPr/>
        </p:nvSpPr>
        <p:spPr bwMode="auto">
          <a:xfrm rot="5400000" flipH="1">
            <a:off x="4186237" y="19050"/>
            <a:ext cx="495300" cy="5181600"/>
          </a:xfrm>
          <a:prstGeom prst="rightBrace">
            <a:avLst>
              <a:gd name="adj1" fmla="val 8717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2" name="Text Box 33"/>
          <p:cNvSpPr txBox="1">
            <a:spLocks noChangeArrowheads="1"/>
          </p:cNvSpPr>
          <p:nvPr/>
        </p:nvSpPr>
        <p:spPr bwMode="auto">
          <a:xfrm>
            <a:off x="2605087" y="1981200"/>
            <a:ext cx="3657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smtClean="0">
                <a:solidFill>
                  <a:srgbClr val="FF6600"/>
                </a:solidFill>
                <a:ea typeface="宋体" pitchFamily="2" charset="-122"/>
              </a:rPr>
              <a:t>Merge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27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Content of Flamingo Package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1600201"/>
            <a:ext cx="859631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List mergers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lang="en-US" altLang="zh-CN" sz="2800" kern="0" dirty="0" smtClean="0">
                <a:ea typeface="宋体" pitchFamily="2" charset="-122"/>
              </a:rPr>
              <a:t>SEPIA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Stringmap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</a:endParaRP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lang="en-US" altLang="zh-CN" sz="2800" kern="0" noProof="0" dirty="0" smtClean="0">
                <a:ea typeface="宋体" pitchFamily="2" charset="-122"/>
              </a:rPr>
              <a:t>Location-based fuzzy search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kumimoji="0" lang="en-US" altLang="zh-CN" sz="2800" b="0" i="0" u="none" strike="noStrike" kern="0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PartEnum</a:t>
            </a:r>
            <a:r>
              <a:rPr kumimoji="0" lang="en-US" altLang="zh-CN" sz="2800" b="0" i="0" u="none" strike="noStrike" kern="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 (fuzzy join)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lang="en-US" altLang="zh-CN" sz="2800" kern="0" baseline="0" noProof="0" dirty="0" smtClean="0">
                <a:ea typeface="宋体" pitchFamily="2" charset="-122"/>
              </a:rPr>
              <a:t>Fuzzy join using </a:t>
            </a:r>
            <a:r>
              <a:rPr lang="en-US" altLang="zh-CN" sz="2800" kern="0" baseline="0" noProof="0" dirty="0" err="1" smtClean="0">
                <a:ea typeface="宋体" pitchFamily="2" charset="-122"/>
              </a:rPr>
              <a:t>MapReduce</a:t>
            </a:r>
            <a:endParaRPr lang="en-US" altLang="zh-CN" sz="2800" kern="0" baseline="0" noProof="0" dirty="0" smtClean="0">
              <a:ea typeface="宋体" pitchFamily="2" charset="-122"/>
            </a:endParaRP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lang="en-US" altLang="zh-CN" sz="2800" kern="0" dirty="0" smtClean="0">
                <a:ea typeface="宋体" pitchFamily="2" charset="-122"/>
              </a:rPr>
              <a:t>…</a:t>
            </a:r>
            <a:r>
              <a:rPr lang="en-US" altLang="zh-CN" sz="2800" kern="0" baseline="0" noProof="0" dirty="0" smtClean="0">
                <a:ea typeface="宋体" pitchFamily="2" charset="-122"/>
              </a:rPr>
              <a:t>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28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Development of Flamingo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2087563"/>
            <a:ext cx="8596313" cy="379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C++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Contributors: 9</a:t>
            </a:r>
            <a:r>
              <a:rPr kumimoji="0" lang="en-US" altLang="zh-CN" sz="32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</a:rPr>
              <a:t> people (different times)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lang="en-US" altLang="zh-CN" sz="3200" kern="0" dirty="0" smtClean="0">
                <a:ea typeface="宋体" pitchFamily="2" charset="-122"/>
              </a:rPr>
              <a:t> Four releases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5000"/>
              <a:buFontTx/>
              <a:buChar char="—"/>
            </a:pPr>
            <a:r>
              <a:rPr lang="en-US" altLang="zh-CN" sz="3200" kern="0" dirty="0" smtClean="0">
                <a:ea typeface="宋体" pitchFamily="2" charset="-122"/>
              </a:rPr>
              <a:t>Well received by various communities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Making an impact?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295400"/>
            <a:ext cx="8790503" cy="391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UCI People Search</a:t>
            </a:r>
            <a:endParaRPr lang="en-US" sz="3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28600" y="1447800"/>
            <a:ext cx="8458200" cy="495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8130" y="1295400"/>
            <a:ext cx="8012470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/>
          </a:bodyPr>
          <a:lstStyle/>
          <a:p>
            <a:r>
              <a:rPr lang="en-US" sz="3600" dirty="0" err="1" smtClean="0"/>
              <a:t>PSearch</a:t>
            </a:r>
            <a:endParaRPr lang="en-US" sz="3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Chen Li, UC Irvine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B260-71FF-4466-8ED1-88FC67F9EFA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28600" y="1447800"/>
            <a:ext cx="8458200" cy="495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447800"/>
            <a:ext cx="717232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32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Other systems built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2087563"/>
            <a:ext cx="8596313" cy="379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3200" kern="0" dirty="0" err="1" smtClean="0">
                <a:solidFill>
                  <a:srgbClr val="000000"/>
                </a:solidFill>
                <a:ea typeface="宋体" pitchFamily="2" charset="-122"/>
              </a:rPr>
              <a:t>iPubmed</a:t>
            </a:r>
            <a:r>
              <a:rPr lang="en-US" altLang="zh-CN" sz="3200" kern="0" dirty="0" smtClean="0">
                <a:solidFill>
                  <a:srgbClr val="000000"/>
                </a:solidFill>
                <a:ea typeface="宋体" pitchFamily="2" charset="-122"/>
              </a:rPr>
              <a:t>: http://ipubmed.ics.uci.edu</a:t>
            </a:r>
            <a:endParaRPr lang="en-US" altLang="zh-CN" sz="3200" kern="0" dirty="0" smtClean="0">
              <a:solidFill>
                <a:srgbClr val="000000"/>
              </a:solidFill>
              <a:ea typeface="宋体" pitchFamily="2" charset="-122"/>
            </a:endParaRP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3200" kern="0" dirty="0" smtClean="0">
                <a:solidFill>
                  <a:srgbClr val="000000"/>
                </a:solidFill>
                <a:ea typeface="宋体" pitchFamily="2" charset="-122"/>
              </a:rPr>
              <a:t>Location-based instant search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3200" kern="0" dirty="0" smtClean="0">
                <a:solidFill>
                  <a:srgbClr val="000000"/>
                </a:solidFill>
                <a:ea typeface="宋体" pitchFamily="2" charset="-122"/>
              </a:rPr>
              <a:t>…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3200" kern="0" dirty="0" smtClean="0">
                <a:solidFill>
                  <a:srgbClr val="000000"/>
                </a:solidFill>
                <a:ea typeface="宋体" pitchFamily="2" charset="-122"/>
              </a:rPr>
              <a:t>Started a company: </a:t>
            </a:r>
            <a:r>
              <a:rPr lang="en-US" altLang="zh-CN" sz="3200" kern="0" dirty="0" err="1" smtClean="0">
                <a:solidFill>
                  <a:srgbClr val="000000"/>
                </a:solidFill>
                <a:ea typeface="宋体" pitchFamily="2" charset="-122"/>
              </a:rPr>
              <a:t>Bimaple</a:t>
            </a:r>
            <a:endParaRPr lang="en-US" altLang="zh-CN" sz="3200" kern="0" dirty="0" smtClean="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33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Lessons learned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2" descr="http://www.cdresponse.org/images/DirtyHand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828800"/>
            <a:ext cx="6095999" cy="4071258"/>
          </a:xfrm>
          <a:prstGeom prst="rect">
            <a:avLst/>
          </a:prstGeom>
          <a:noFill/>
        </p:spPr>
      </p:pic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2749650" y="6019800"/>
            <a:ext cx="3558988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0033CC"/>
                </a:solidFill>
                <a:ea typeface="宋体" pitchFamily="2" charset="-122"/>
              </a:rPr>
              <a:t>Hands-on experiences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34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Lessons learned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1676401"/>
            <a:ext cx="8596313" cy="420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</a:pPr>
            <a:r>
              <a:rPr lang="en-US" altLang="zh-CN" sz="2800" kern="0" dirty="0" smtClean="0">
                <a:solidFill>
                  <a:srgbClr val="000000"/>
                </a:solidFill>
                <a:ea typeface="宋体" pitchFamily="2" charset="-122"/>
              </a:rPr>
              <a:t>Research management</a:t>
            </a:r>
          </a:p>
          <a:p>
            <a:pPr marL="742950" lvl="1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2800" kern="0" dirty="0" smtClean="0">
                <a:solidFill>
                  <a:srgbClr val="000000"/>
                </a:solidFill>
                <a:ea typeface="宋体" pitchFamily="2" charset="-122"/>
              </a:rPr>
              <a:t>Software development: code sharing</a:t>
            </a:r>
          </a:p>
          <a:p>
            <a:pPr marL="742950" lvl="1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2800" kern="0" dirty="0" smtClean="0">
                <a:solidFill>
                  <a:srgbClr val="000000"/>
                </a:solidFill>
                <a:ea typeface="宋体" pitchFamily="2" charset="-122"/>
              </a:rPr>
              <a:t>Tools: </a:t>
            </a:r>
            <a:r>
              <a:rPr lang="en-US" altLang="zh-CN" sz="2800" kern="0" dirty="0" err="1" smtClean="0">
                <a:solidFill>
                  <a:srgbClr val="000000"/>
                </a:solidFill>
                <a:ea typeface="宋体" pitchFamily="2" charset="-122"/>
              </a:rPr>
              <a:t>svn</a:t>
            </a:r>
            <a:r>
              <a:rPr lang="en-US" altLang="zh-CN" sz="2800" kern="0" dirty="0" smtClean="0">
                <a:solidFill>
                  <a:srgbClr val="000000"/>
                </a:solidFill>
                <a:ea typeface="宋体" pitchFamily="2" charset="-122"/>
              </a:rPr>
              <a:t>, wiki, etc.</a:t>
            </a:r>
          </a:p>
          <a:p>
            <a:pPr marL="742950" lvl="1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2800" kern="0" dirty="0" smtClean="0">
                <a:solidFill>
                  <a:srgbClr val="000000"/>
                </a:solidFill>
                <a:ea typeface="宋体" pitchFamily="2" charset="-122"/>
              </a:rPr>
              <a:t>Team environment</a:t>
            </a:r>
          </a:p>
          <a:p>
            <a:pPr marL="742950" lvl="1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2800" kern="0" dirty="0" smtClean="0">
                <a:solidFill>
                  <a:srgbClr val="000000"/>
                </a:solidFill>
                <a:ea typeface="宋体" pitchFamily="2" charset="-122"/>
              </a:rPr>
              <a:t>Research continuity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35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8" y="465138"/>
            <a:ext cx="7793037" cy="1143000"/>
          </a:xfrm>
        </p:spPr>
        <p:txBody>
          <a:bodyPr/>
          <a:lstStyle/>
          <a:p>
            <a:r>
              <a:rPr lang="en-US" dirty="0" smtClean="0"/>
              <a:t>Lessons learned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" y="1676401"/>
            <a:ext cx="8596313" cy="420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3600" kern="0" dirty="0" smtClean="0">
                <a:solidFill>
                  <a:srgbClr val="000000"/>
                </a:solidFill>
                <a:ea typeface="宋体" pitchFamily="2" charset="-122"/>
              </a:rPr>
              <a:t>Impact </a:t>
            </a:r>
          </a:p>
          <a:p>
            <a:pPr marL="285750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r>
              <a:rPr lang="en-US" altLang="zh-CN" sz="3600" kern="0" dirty="0" smtClean="0">
                <a:solidFill>
                  <a:srgbClr val="000000"/>
                </a:solidFill>
                <a:ea typeface="宋体" pitchFamily="2" charset="-122"/>
              </a:rPr>
              <a:t>Outreach activities</a:t>
            </a:r>
          </a:p>
          <a:p>
            <a:pPr marL="742950" lvl="1" indent="-285750" fontAlgn="base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55000"/>
              <a:buFontTx/>
              <a:buChar char="—"/>
            </a:pPr>
            <a:endParaRPr lang="en-US" altLang="zh-CN" sz="3600" kern="0" dirty="0" smtClean="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12-65C4-472E-BD22-389C0ED7AE53}" type="slidenum">
              <a:rPr lang="en-US">
                <a:solidFill>
                  <a:srgbClr val="000000"/>
                </a:solidFill>
              </a:rPr>
              <a:pPr/>
              <a:t>36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07270" name="Rectangle 6"/>
          <p:cNvSpPr>
            <a:spLocks noGrp="1" noChangeArrowheads="1"/>
          </p:cNvSpPr>
          <p:nvPr>
            <p:ph type="title"/>
          </p:nvPr>
        </p:nvSpPr>
        <p:spPr>
          <a:xfrm>
            <a:off x="1093789" y="465138"/>
            <a:ext cx="7212012" cy="1143000"/>
          </a:xfrm>
        </p:spPr>
        <p:txBody>
          <a:bodyPr/>
          <a:lstStyle/>
          <a:p>
            <a:pPr algn="ctr"/>
            <a:r>
              <a:rPr lang="en-US" dirty="0" smtClean="0"/>
              <a:t>Thank you!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2" descr="http://flamingo.ics.uci.edu/images/flamingo_midd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1752600"/>
            <a:ext cx="2590800" cy="3661666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2209800" y="5638800"/>
            <a:ext cx="4681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hlinkClick r:id="rId4"/>
              </a:rPr>
              <a:t>http://flamingo.ics.uci.edu/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UCI Master">
  <a:themeElements>
    <a:clrScheme name="UCI Master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UCI 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032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50800" cap="flat" cmpd="sng" algn="ctr">
          <a:solidFill>
            <a:srgbClr val="FFC000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UCI 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953</Words>
  <Application>Microsoft Office PowerPoint</Application>
  <PresentationFormat>On-screen Show (4:3)</PresentationFormat>
  <Paragraphs>391</Paragraphs>
  <Slides>36</Slides>
  <Notes>26</Notes>
  <HiddenSlides>0</HiddenSlides>
  <MMClips>0</MMClips>
  <ScaleCrop>false</ScaleCrop>
  <HeadingPairs>
    <vt:vector size="6" baseType="variant">
      <vt:variant>
        <vt:lpstr>Theme</vt:lpstr>
      </vt:variant>
      <vt:variant>
        <vt:i4>12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Office Theme</vt:lpstr>
      <vt:lpstr>Blends</vt:lpstr>
      <vt:lpstr>1_Blends</vt:lpstr>
      <vt:lpstr>2_Blends</vt:lpstr>
      <vt:lpstr>3_Blends</vt:lpstr>
      <vt:lpstr>5_Blends</vt:lpstr>
      <vt:lpstr>7_Blends</vt:lpstr>
      <vt:lpstr>Level</vt:lpstr>
      <vt:lpstr>Custom Design</vt:lpstr>
      <vt:lpstr>1_Level</vt:lpstr>
      <vt:lpstr>Network</vt:lpstr>
      <vt:lpstr>UCI Master</vt:lpstr>
      <vt:lpstr>Bitmap Image</vt:lpstr>
      <vt:lpstr>Visio</vt:lpstr>
      <vt:lpstr>The Flamingo Software Package on Approximate String Queries</vt:lpstr>
      <vt:lpstr>Personal Journey: 2001 …</vt:lpstr>
      <vt:lpstr>Data Integration Problems?</vt:lpstr>
      <vt:lpstr>Example</vt:lpstr>
      <vt:lpstr>Another Example</vt:lpstr>
      <vt:lpstr>Challenges </vt:lpstr>
      <vt:lpstr>Nested-loop?</vt:lpstr>
      <vt:lpstr>Our first attempt (DASFAA 2003)</vt:lpstr>
      <vt:lpstr>Can it preserve distances?</vt:lpstr>
      <vt:lpstr>2nd Problem: Selectivity Estimation</vt:lpstr>
      <vt:lpstr>SEPIA: Intuition (VLDB 2005)</vt:lpstr>
      <vt:lpstr>Story of “1-1-10-10”</vt:lpstr>
      <vt:lpstr> String  Grams</vt:lpstr>
      <vt:lpstr>Inverted lists</vt:lpstr>
      <vt:lpstr>Main Example</vt:lpstr>
      <vt:lpstr>Problem definition: </vt:lpstr>
      <vt:lpstr>Example</vt:lpstr>
      <vt:lpstr>Five Merge Algorithms (icde2008)</vt:lpstr>
      <vt:lpstr>Story of “1-1-10-10”</vt:lpstr>
      <vt:lpstr>Observation 1: dilemma of choosing “q”</vt:lpstr>
      <vt:lpstr>Observation 2: skew distributions of gram frequencies</vt:lpstr>
      <vt:lpstr>VGRAM: Main idea</vt:lpstr>
      <vt:lpstr>Challenges</vt:lpstr>
      <vt:lpstr>Story of “1-1-10-10”</vt:lpstr>
      <vt:lpstr>Contributions (icde2009)</vt:lpstr>
      <vt:lpstr>Intuition of compression techniques</vt:lpstr>
      <vt:lpstr>Content of Flamingo Package</vt:lpstr>
      <vt:lpstr>Development of Flamingo</vt:lpstr>
      <vt:lpstr>Making an impact?</vt:lpstr>
      <vt:lpstr>UCI People Search</vt:lpstr>
      <vt:lpstr>PSearch</vt:lpstr>
      <vt:lpstr>Other systems built</vt:lpstr>
      <vt:lpstr>Lessons learned</vt:lpstr>
      <vt:lpstr>Lessons learned</vt:lpstr>
      <vt:lpstr>Lessons learned</vt:lpstr>
      <vt:lpstr>Thank you!</vt:lpstr>
    </vt:vector>
  </TitlesOfParts>
  <Company>Bren School of Information and Computer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Writing</dc:title>
  <dc:creator>chenli</dc:creator>
  <cp:lastModifiedBy>Chen Li</cp:lastModifiedBy>
  <cp:revision>90</cp:revision>
  <dcterms:created xsi:type="dcterms:W3CDTF">2009-06-22T14:37:19Z</dcterms:created>
  <dcterms:modified xsi:type="dcterms:W3CDTF">2011-04-28T04:41:30Z</dcterms:modified>
</cp:coreProperties>
</file>