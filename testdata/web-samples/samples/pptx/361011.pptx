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0" r:id="rId3"/>
    <p:sldId id="291" r:id="rId4"/>
    <p:sldId id="273" r:id="rId5"/>
    <p:sldId id="293" r:id="rId6"/>
    <p:sldId id="274" r:id="rId7"/>
    <p:sldId id="275" r:id="rId8"/>
    <p:sldId id="263" r:id="rId9"/>
    <p:sldId id="264" r:id="rId10"/>
    <p:sldId id="265" r:id="rId11"/>
    <p:sldId id="288" r:id="rId12"/>
    <p:sldId id="289" r:id="rId13"/>
    <p:sldId id="292" r:id="rId14"/>
    <p:sldId id="276" r:id="rId15"/>
    <p:sldId id="277" r:id="rId16"/>
    <p:sldId id="258" r:id="rId17"/>
    <p:sldId id="261" r:id="rId18"/>
    <p:sldId id="262" r:id="rId19"/>
    <p:sldId id="259" r:id="rId20"/>
    <p:sldId id="272" r:id="rId21"/>
    <p:sldId id="278" r:id="rId22"/>
    <p:sldId id="271" r:id="rId23"/>
    <p:sldId id="279" r:id="rId24"/>
    <p:sldId id="280" r:id="rId25"/>
    <p:sldId id="281" r:id="rId26"/>
    <p:sldId id="282" r:id="rId27"/>
    <p:sldId id="283" r:id="rId28"/>
    <p:sldId id="266" r:id="rId29"/>
    <p:sldId id="267" r:id="rId30"/>
    <p:sldId id="268" r:id="rId31"/>
    <p:sldId id="269" r:id="rId32"/>
    <p:sldId id="270" r:id="rId33"/>
    <p:sldId id="284" r:id="rId34"/>
    <p:sldId id="285" r:id="rId35"/>
    <p:sldId id="286" r:id="rId36"/>
    <p:sldId id="287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0A1EB6"/>
    <a:srgbClr val="99CC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2" d="100"/>
          <a:sy n="52" d="100"/>
        </p:scale>
        <p:origin x="-46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9/11/2008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9/11/2008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9/11/2008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9/11/2008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9/11/2008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9/11/2008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A014B-3907-4EDB-B727-05145C23E24C}" type="datetimeFigureOut">
              <a:rPr lang="en-US" smtClean="0"/>
              <a:pPr/>
              <a:t>9/11/2008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gif"/><Relationship Id="rId5" Type="http://schemas.openxmlformats.org/officeDocument/2006/relationships/image" Target="../media/image7.gif"/><Relationship Id="rId4" Type="http://schemas.openxmlformats.org/officeDocument/2006/relationships/image" Target="../media/image6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gif"/><Relationship Id="rId5" Type="http://schemas.openxmlformats.org/officeDocument/2006/relationships/image" Target="../media/image7.gif"/><Relationship Id="rId4" Type="http://schemas.openxmlformats.org/officeDocument/2006/relationships/image" Target="../media/image6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2.gif"/><Relationship Id="rId4" Type="http://schemas.openxmlformats.org/officeDocument/2006/relationships/image" Target="../media/image11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gif"/><Relationship Id="rId5" Type="http://schemas.openxmlformats.org/officeDocument/2006/relationships/image" Target="../media/image13.gif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0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gi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6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gif"/><Relationship Id="rId5" Type="http://schemas.openxmlformats.org/officeDocument/2006/relationships/image" Target="../media/image20.gif"/><Relationship Id="rId4" Type="http://schemas.openxmlformats.org/officeDocument/2006/relationships/image" Target="../media/image19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6.gif"/><Relationship Id="rId5" Type="http://schemas.openxmlformats.org/officeDocument/2006/relationships/image" Target="../media/image25.gif"/><Relationship Id="rId4" Type="http://schemas.openxmlformats.org/officeDocument/2006/relationships/image" Target="../media/image24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4" Type="http://schemas.openxmlformats.org/officeDocument/2006/relationships/image" Target="../media/image30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gif"/><Relationship Id="rId4" Type="http://schemas.openxmlformats.org/officeDocument/2006/relationships/image" Target="../media/image33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gif"/><Relationship Id="rId4" Type="http://schemas.openxmlformats.org/officeDocument/2006/relationships/image" Target="../media/image33.gi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gif"/><Relationship Id="rId4" Type="http://schemas.openxmlformats.org/officeDocument/2006/relationships/image" Target="../media/image39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gif"/><Relationship Id="rId4" Type="http://schemas.openxmlformats.org/officeDocument/2006/relationships/image" Target="../media/image45.gi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gif"/><Relationship Id="rId2" Type="http://schemas.openxmlformats.org/officeDocument/2006/relationships/image" Target="../media/image47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gif"/><Relationship Id="rId4" Type="http://schemas.openxmlformats.org/officeDocument/2006/relationships/image" Target="../media/image49.gi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gif"/><Relationship Id="rId2" Type="http://schemas.openxmlformats.org/officeDocument/2006/relationships/image" Target="../media/image52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gi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gi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gif"/><Relationship Id="rId2" Type="http://schemas.openxmlformats.org/officeDocument/2006/relationships/image" Target="../media/image57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gif"/><Relationship Id="rId4" Type="http://schemas.openxmlformats.org/officeDocument/2006/relationships/image" Target="../media/image59.gi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gi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gi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gi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00200" y="2057400"/>
            <a:ext cx="4873449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Run 8 </a:t>
            </a:r>
            <a:r>
              <a:rPr lang="en-US" sz="4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pC</a:t>
            </a: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results</a:t>
            </a:r>
          </a:p>
          <a:p>
            <a:pPr algn="ctr"/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Vipuli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Dharmawardane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 (NMSU)</a:t>
            </a:r>
          </a:p>
          <a:p>
            <a:pPr algn="ctr"/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RSC meeting</a:t>
            </a:r>
          </a:p>
          <a:p>
            <a:pPr algn="ctr"/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Sep 12</a:t>
            </a:r>
            <a:r>
              <a:rPr lang="en-US" sz="2800" i="1" baseline="30000" dirty="0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 2008</a:t>
            </a:r>
            <a:endParaRPr lang="en-US" sz="2800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95600" y="228600"/>
            <a:ext cx="32207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Run Selection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" y="2133600"/>
            <a:ext cx="44374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Same quality checks as run 05 and 06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000" y="2438400"/>
            <a:ext cx="8153400" cy="1785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Carbon mass position deviation : &lt; 0.5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GeV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from the Carbon mass</a:t>
            </a:r>
          </a:p>
          <a:p>
            <a:pPr marL="342900" indent="-34290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Carbon mass width : deviation below 1.9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sigmas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Number of events in banana :  strips inside 20% from the average</a:t>
            </a:r>
          </a:p>
          <a:p>
            <a:pPr marL="342900" indent="-34290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Fill #s: </a:t>
            </a:r>
            <a:r>
              <a:rPr lang="en-US" sz="2200" u="sng" dirty="0" smtClean="0">
                <a:latin typeface="Times New Roman" pitchFamily="18" charset="0"/>
                <a:cs typeface="Times New Roman" pitchFamily="18" charset="0"/>
              </a:rPr>
              <a:t>9942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9947, </a:t>
            </a:r>
            <a:r>
              <a:rPr lang="en-US" sz="2200" u="sng" dirty="0" smtClean="0">
                <a:latin typeface="Times New Roman" pitchFamily="18" charset="0"/>
                <a:cs typeface="Times New Roman" pitchFamily="18" charset="0"/>
              </a:rPr>
              <a:t>9948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problems with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pC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data → Borrow results from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HJet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457200" y="1066800"/>
            <a:ext cx="8251424" cy="923330"/>
            <a:chOff x="457200" y="3200400"/>
            <a:chExt cx="8251424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57200" y="3429000"/>
              <a:ext cx="696024" cy="64633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 smtClean="0"/>
                <a:t>Good</a:t>
              </a:r>
            </a:p>
            <a:p>
              <a:r>
                <a:rPr lang="en-US" dirty="0" smtClean="0"/>
                <a:t>Runs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828800" y="3429000"/>
              <a:ext cx="1838901" cy="64633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 smtClean="0"/>
                <a:t>Calibrations/</a:t>
              </a:r>
            </a:p>
            <a:p>
              <a:r>
                <a:rPr lang="en-US" dirty="0" smtClean="0"/>
                <a:t>Energy correction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95800" y="3200400"/>
              <a:ext cx="1490601" cy="92333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 smtClean="0"/>
                <a:t>Asymmetry/</a:t>
              </a:r>
            </a:p>
            <a:p>
              <a:r>
                <a:rPr lang="en-US" dirty="0" smtClean="0"/>
                <a:t>Polarization</a:t>
              </a:r>
            </a:p>
            <a:p>
              <a:r>
                <a:rPr lang="en-US" dirty="0" smtClean="0"/>
                <a:t>Profile </a:t>
              </a:r>
              <a:r>
                <a:rPr lang="en-US" dirty="0" err="1" smtClean="0"/>
                <a:t>parms</a:t>
              </a:r>
              <a:r>
                <a:rPr lang="en-US" dirty="0" smtClean="0"/>
                <a:t>.</a:t>
              </a:r>
              <a:endParaRPr lang="en-US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629400" y="3352800"/>
              <a:ext cx="2079224" cy="64633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 smtClean="0"/>
                <a:t>Extract Polarization/</a:t>
              </a:r>
            </a:p>
            <a:p>
              <a:r>
                <a:rPr lang="en-US" dirty="0" smtClean="0"/>
                <a:t>Normalize to </a:t>
              </a:r>
              <a:r>
                <a:rPr lang="en-US" dirty="0" err="1" smtClean="0"/>
                <a:t>HJet</a:t>
              </a:r>
              <a:endParaRPr lang="en-US" dirty="0"/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>
              <a:off x="1295400" y="3733800"/>
              <a:ext cx="381000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3810000" y="3733800"/>
              <a:ext cx="533400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6096000" y="3733800"/>
              <a:ext cx="381000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" name="Picture 24" descr="banana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4038599"/>
            <a:ext cx="4243560" cy="28194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95600" y="228600"/>
            <a:ext cx="32207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Run Selection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DL_each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5600"/>
            <a:ext cx="4800600" cy="3194685"/>
          </a:xfrm>
          <a:prstGeom prst="rect">
            <a:avLst/>
          </a:prstGeom>
        </p:spPr>
      </p:pic>
      <p:pic>
        <p:nvPicPr>
          <p:cNvPr id="12" name="Picture 11" descr="DL_each_yellow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971800"/>
            <a:ext cx="4800600" cy="3194685"/>
          </a:xfrm>
          <a:prstGeom prst="rect">
            <a:avLst/>
          </a:prstGeom>
        </p:spPr>
      </p:pic>
      <p:grpSp>
        <p:nvGrpSpPr>
          <p:cNvPr id="3" name="Group 23"/>
          <p:cNvGrpSpPr/>
          <p:nvPr/>
        </p:nvGrpSpPr>
        <p:grpSpPr>
          <a:xfrm>
            <a:off x="457200" y="1066800"/>
            <a:ext cx="8251424" cy="923330"/>
            <a:chOff x="457200" y="3200400"/>
            <a:chExt cx="8251424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57200" y="3429000"/>
              <a:ext cx="696024" cy="64633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 smtClean="0"/>
                <a:t>Good</a:t>
              </a:r>
            </a:p>
            <a:p>
              <a:r>
                <a:rPr lang="en-US" dirty="0" smtClean="0"/>
                <a:t>Runs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828800" y="3429000"/>
              <a:ext cx="1838901" cy="64633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 smtClean="0"/>
                <a:t>Calibrations/</a:t>
              </a:r>
            </a:p>
            <a:p>
              <a:r>
                <a:rPr lang="en-US" dirty="0" smtClean="0"/>
                <a:t>Energy correction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95800" y="3200400"/>
              <a:ext cx="1490601" cy="92333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 smtClean="0"/>
                <a:t>Asymmetry/</a:t>
              </a:r>
            </a:p>
            <a:p>
              <a:r>
                <a:rPr lang="en-US" dirty="0" smtClean="0"/>
                <a:t>Polarization</a:t>
              </a:r>
            </a:p>
            <a:p>
              <a:r>
                <a:rPr lang="en-US" dirty="0" smtClean="0"/>
                <a:t>Profile </a:t>
              </a:r>
              <a:r>
                <a:rPr lang="en-US" dirty="0" err="1" smtClean="0"/>
                <a:t>parms</a:t>
              </a:r>
              <a:r>
                <a:rPr lang="en-US" dirty="0" smtClean="0"/>
                <a:t>.</a:t>
              </a:r>
              <a:endParaRPr lang="en-US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629400" y="3352800"/>
              <a:ext cx="2079224" cy="64633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 smtClean="0"/>
                <a:t>Extract Polarization/</a:t>
              </a:r>
            </a:p>
            <a:p>
              <a:r>
                <a:rPr lang="en-US" dirty="0" smtClean="0"/>
                <a:t>Normalize to </a:t>
              </a:r>
              <a:r>
                <a:rPr lang="en-US" dirty="0" err="1" smtClean="0"/>
                <a:t>HJet</a:t>
              </a:r>
              <a:endParaRPr lang="en-US" dirty="0"/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>
              <a:off x="1295400" y="3733800"/>
              <a:ext cx="381000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3810000" y="3733800"/>
              <a:ext cx="533400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6096000" y="3733800"/>
              <a:ext cx="381000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2819400" y="2514600"/>
            <a:ext cx="257423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 smtClean="0">
                <a:latin typeface="+mj-lt"/>
                <a:cs typeface="Times New Roman" pitchFamily="18" charset="0"/>
              </a:rPr>
              <a:t>Energy correction</a:t>
            </a:r>
            <a:endParaRPr lang="en-US" sz="2600" dirty="0">
              <a:latin typeface="+mj-lt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0" y="228600"/>
            <a:ext cx="44634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Profile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" name="Group 26"/>
          <p:cNvGrpSpPr/>
          <p:nvPr/>
        </p:nvGrpSpPr>
        <p:grpSpPr>
          <a:xfrm>
            <a:off x="-609600" y="838200"/>
            <a:ext cx="6217170" cy="6019800"/>
            <a:chOff x="0" y="838200"/>
            <a:chExt cx="6217170" cy="6019800"/>
          </a:xfrm>
        </p:grpSpPr>
        <p:grpSp>
          <p:nvGrpSpPr>
            <p:cNvPr id="6" name="Group 20"/>
            <p:cNvGrpSpPr/>
            <p:nvPr/>
          </p:nvGrpSpPr>
          <p:grpSpPr>
            <a:xfrm>
              <a:off x="0" y="838200"/>
              <a:ext cx="6217170" cy="6019800"/>
              <a:chOff x="0" y="838200"/>
              <a:chExt cx="6217170" cy="6019800"/>
            </a:xfrm>
          </p:grpSpPr>
          <p:pic>
            <p:nvPicPr>
              <p:cNvPr id="5" name="Picture 4" descr="profile.gif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838200"/>
                <a:ext cx="6217170" cy="6019800"/>
              </a:xfrm>
              <a:prstGeom prst="rect">
                <a:avLst/>
              </a:prstGeom>
            </p:spPr>
          </p:pic>
          <p:cxnSp>
            <p:nvCxnSpPr>
              <p:cNvPr id="7" name="Straight Arrow Connector 6"/>
              <p:cNvCxnSpPr/>
              <p:nvPr/>
            </p:nvCxnSpPr>
            <p:spPr>
              <a:xfrm>
                <a:off x="2971800" y="5715000"/>
                <a:ext cx="27432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 rot="5400000" flipH="1" flipV="1">
                <a:off x="2286000" y="5029200"/>
                <a:ext cx="13716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>
                <a:off x="1143000" y="1524000"/>
                <a:ext cx="14478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 rot="5400000">
                <a:off x="794" y="2666206"/>
                <a:ext cx="22860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rot="10800000">
                <a:off x="1143000" y="1981200"/>
                <a:ext cx="3276600" cy="1588"/>
              </a:xfrm>
              <a:prstGeom prst="line">
                <a:avLst/>
              </a:prstGeom>
              <a:ln>
                <a:solidFill>
                  <a:srgbClr val="0B10DB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rot="10800000">
                <a:off x="1219200" y="3124200"/>
                <a:ext cx="3276600" cy="1588"/>
              </a:xfrm>
              <a:prstGeom prst="line">
                <a:avLst/>
              </a:prstGeom>
              <a:ln>
                <a:solidFill>
                  <a:srgbClr val="0B10DB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rot="5400000">
                <a:off x="2172494" y="4075906"/>
                <a:ext cx="3276600" cy="1588"/>
              </a:xfrm>
              <a:prstGeom prst="line">
                <a:avLst/>
              </a:prstGeom>
              <a:ln>
                <a:solidFill>
                  <a:srgbClr val="0B10DB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rot="5400000">
                <a:off x="3391694" y="4075906"/>
                <a:ext cx="3276600" cy="1588"/>
              </a:xfrm>
              <a:prstGeom prst="line">
                <a:avLst/>
              </a:prstGeom>
              <a:ln>
                <a:solidFill>
                  <a:srgbClr val="0B10DB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/>
            <p:cNvSpPr txBox="1"/>
            <p:nvPr/>
          </p:nvSpPr>
          <p:spPr>
            <a:xfrm rot="16200000">
              <a:off x="1844238" y="4488406"/>
              <a:ext cx="137745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Intensity/</a:t>
              </a:r>
            </a:p>
            <a:p>
              <a:pPr algn="ctr"/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Polarization</a:t>
              </a:r>
            </a:p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profile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819400" y="1066800"/>
              <a:ext cx="263777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VERTICAL / HORIZONTAL</a:t>
              </a:r>
            </a:p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SCANS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rot="5400000">
              <a:off x="3848894" y="5143500"/>
              <a:ext cx="1142206" cy="794"/>
            </a:xfrm>
            <a:prstGeom prst="line">
              <a:avLst/>
            </a:prstGeom>
            <a:ln w="50800">
              <a:solidFill>
                <a:srgbClr val="BF47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2819400" y="5943600"/>
              <a:ext cx="3276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BF479D"/>
                  </a:solidFill>
                </a:rPr>
                <a:t>Fixed target measurements</a:t>
              </a:r>
            </a:p>
            <a:p>
              <a:pPr algn="ctr"/>
              <a:r>
                <a:rPr lang="en-US" sz="2000" b="1" dirty="0" err="1" smtClean="0">
                  <a:solidFill>
                    <a:srgbClr val="BF479D"/>
                  </a:solidFill>
                </a:rPr>
                <a:t>P</a:t>
              </a:r>
              <a:r>
                <a:rPr lang="en-US" sz="2000" b="1" baseline="-25000" dirty="0" err="1" smtClean="0">
                  <a:solidFill>
                    <a:srgbClr val="BF479D"/>
                  </a:solidFill>
                </a:rPr>
                <a:t>max</a:t>
              </a:r>
              <a:endParaRPr lang="en-US" sz="2000" b="1" baseline="-25000" dirty="0">
                <a:solidFill>
                  <a:srgbClr val="BF479D"/>
                </a:solidFill>
              </a:endParaRP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eq3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066800"/>
            <a:ext cx="3324225" cy="1133475"/>
          </a:xfrm>
          <a:prstGeom prst="rect">
            <a:avLst/>
          </a:prstGeom>
        </p:spPr>
      </p:pic>
      <p:pic>
        <p:nvPicPr>
          <p:cNvPr id="31" name="Picture 30" descr="eq1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200400"/>
            <a:ext cx="1742441" cy="1143000"/>
          </a:xfrm>
          <a:prstGeom prst="rect">
            <a:avLst/>
          </a:prstGeom>
        </p:spPr>
      </p:pic>
      <p:pic>
        <p:nvPicPr>
          <p:cNvPr id="34" name="Picture 33" descr="Fill_V_PVsI9938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1600" y="2819400"/>
            <a:ext cx="3962400" cy="3825765"/>
          </a:xfrm>
          <a:prstGeom prst="rect">
            <a:avLst/>
          </a:prstGeom>
        </p:spPr>
      </p:pic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6705600" y="5181600"/>
          <a:ext cx="2061135" cy="787399"/>
        </p:xfrm>
        <a:graphic>
          <a:graphicData uri="http://schemas.openxmlformats.org/presentationml/2006/ole">
            <p:oleObj spid="_x0000_s1026" name="Equation" r:id="rId7" imgW="1396800" imgH="431640" progId="Equation.3">
              <p:embed/>
            </p:oleObj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648200" y="2362200"/>
            <a:ext cx="350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BF479D"/>
                </a:solidFill>
                <a:latin typeface="Comic Sans MS" pitchFamily="66" charset="0"/>
              </a:rPr>
              <a:t>A fit to P Vs L/</a:t>
            </a:r>
            <a:r>
              <a:rPr lang="en-US" sz="2000" dirty="0" err="1" smtClean="0">
                <a:solidFill>
                  <a:srgbClr val="BF479D"/>
                </a:solidFill>
                <a:latin typeface="Comic Sans MS" pitchFamily="66" charset="0"/>
              </a:rPr>
              <a:t>L</a:t>
            </a:r>
            <a:r>
              <a:rPr lang="en-US" sz="2000" baseline="-25000" dirty="0" err="1" smtClean="0">
                <a:solidFill>
                  <a:srgbClr val="BF479D"/>
                </a:solidFill>
                <a:latin typeface="Comic Sans MS" pitchFamily="66" charset="0"/>
              </a:rPr>
              <a:t>max</a:t>
            </a:r>
            <a:r>
              <a:rPr lang="en-US" sz="2000" dirty="0" smtClean="0">
                <a:solidFill>
                  <a:srgbClr val="BF479D"/>
                </a:solidFill>
                <a:latin typeface="Comic Sans MS" pitchFamily="66" charset="0"/>
              </a:rPr>
              <a:t> to determine </a:t>
            </a:r>
            <a:r>
              <a:rPr lang="en-US" sz="2000" dirty="0" err="1" smtClean="0">
                <a:solidFill>
                  <a:srgbClr val="BF479D"/>
                </a:solidFill>
                <a:latin typeface="Comic Sans MS" pitchFamily="66" charset="0"/>
              </a:rPr>
              <a:t>P</a:t>
            </a:r>
            <a:r>
              <a:rPr lang="en-US" sz="2000" baseline="-25000" dirty="0" err="1" smtClean="0">
                <a:solidFill>
                  <a:srgbClr val="BF479D"/>
                </a:solidFill>
                <a:latin typeface="Comic Sans MS" pitchFamily="66" charset="0"/>
              </a:rPr>
              <a:t>max</a:t>
            </a:r>
            <a:r>
              <a:rPr lang="en-US" sz="2000" baseline="-25000" dirty="0" smtClean="0">
                <a:solidFill>
                  <a:srgbClr val="BF479D"/>
                </a:solidFill>
                <a:latin typeface="Comic Sans MS" pitchFamily="66" charset="0"/>
              </a:rPr>
              <a:t> </a:t>
            </a:r>
            <a:r>
              <a:rPr lang="en-US" sz="2000" dirty="0" smtClean="0">
                <a:solidFill>
                  <a:srgbClr val="BF479D"/>
                </a:solidFill>
                <a:latin typeface="Comic Sans MS" pitchFamily="66" charset="0"/>
              </a:rPr>
              <a:t>and </a:t>
            </a:r>
            <a:r>
              <a:rPr lang="en-US" sz="2000" dirty="0" err="1" smtClean="0">
                <a:solidFill>
                  <a:srgbClr val="BF479D"/>
                </a:solidFill>
                <a:latin typeface="Symbol" pitchFamily="18" charset="2"/>
              </a:rPr>
              <a:t>s</a:t>
            </a:r>
            <a:r>
              <a:rPr lang="en-US" sz="2000" baseline="-25000" dirty="0" err="1" smtClean="0">
                <a:solidFill>
                  <a:srgbClr val="BF479D"/>
                </a:solidFill>
                <a:latin typeface="Comic Sans MS" pitchFamily="66" charset="0"/>
              </a:rPr>
              <a:t>L</a:t>
            </a:r>
            <a:r>
              <a:rPr lang="en-US" sz="2000" dirty="0" smtClean="0">
                <a:solidFill>
                  <a:srgbClr val="BF479D"/>
                </a:solidFill>
                <a:latin typeface="Comic Sans MS" pitchFamily="66" charset="0"/>
              </a:rPr>
              <a:t>/</a:t>
            </a:r>
            <a:r>
              <a:rPr lang="en-US" sz="2000" dirty="0" err="1" smtClean="0">
                <a:solidFill>
                  <a:srgbClr val="BF479D"/>
                </a:solidFill>
                <a:latin typeface="Symbol" pitchFamily="18" charset="2"/>
              </a:rPr>
              <a:t>s</a:t>
            </a:r>
            <a:r>
              <a:rPr lang="en-US" sz="2000" baseline="-25000" dirty="0" err="1" smtClean="0">
                <a:solidFill>
                  <a:srgbClr val="BF479D"/>
                </a:solidFill>
                <a:latin typeface="Comic Sans MS" pitchFamily="66" charset="0"/>
              </a:rPr>
              <a:t>P</a:t>
            </a:r>
            <a:endParaRPr lang="en-US" sz="2000" baseline="-25000" dirty="0">
              <a:solidFill>
                <a:srgbClr val="BF479D"/>
              </a:solidFill>
              <a:latin typeface="Comic Sans MS" pitchFamily="66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81600" y="914400"/>
            <a:ext cx="729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HJet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0" y="228600"/>
            <a:ext cx="44634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Profile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" name="Group 26"/>
          <p:cNvGrpSpPr/>
          <p:nvPr/>
        </p:nvGrpSpPr>
        <p:grpSpPr>
          <a:xfrm>
            <a:off x="-609600" y="838200"/>
            <a:ext cx="6217170" cy="6019800"/>
            <a:chOff x="0" y="838200"/>
            <a:chExt cx="6217170" cy="6019800"/>
          </a:xfrm>
        </p:grpSpPr>
        <p:grpSp>
          <p:nvGrpSpPr>
            <p:cNvPr id="6" name="Group 20"/>
            <p:cNvGrpSpPr/>
            <p:nvPr/>
          </p:nvGrpSpPr>
          <p:grpSpPr>
            <a:xfrm>
              <a:off x="0" y="838200"/>
              <a:ext cx="6217170" cy="6019800"/>
              <a:chOff x="0" y="838200"/>
              <a:chExt cx="6217170" cy="6019800"/>
            </a:xfrm>
          </p:grpSpPr>
          <p:pic>
            <p:nvPicPr>
              <p:cNvPr id="5" name="Picture 4" descr="profile.gif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838200"/>
                <a:ext cx="6217170" cy="6019800"/>
              </a:xfrm>
              <a:prstGeom prst="rect">
                <a:avLst/>
              </a:prstGeom>
            </p:spPr>
          </p:pic>
          <p:cxnSp>
            <p:nvCxnSpPr>
              <p:cNvPr id="7" name="Straight Arrow Connector 6"/>
              <p:cNvCxnSpPr/>
              <p:nvPr/>
            </p:nvCxnSpPr>
            <p:spPr>
              <a:xfrm>
                <a:off x="2971800" y="5715000"/>
                <a:ext cx="27432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 rot="5400000" flipH="1" flipV="1">
                <a:off x="2286000" y="5029200"/>
                <a:ext cx="13716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>
                <a:off x="1143000" y="1524000"/>
                <a:ext cx="14478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 rot="5400000">
                <a:off x="794" y="2666206"/>
                <a:ext cx="22860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rot="10800000">
                <a:off x="1143000" y="1981200"/>
                <a:ext cx="3276600" cy="1588"/>
              </a:xfrm>
              <a:prstGeom prst="line">
                <a:avLst/>
              </a:prstGeom>
              <a:ln>
                <a:solidFill>
                  <a:srgbClr val="0B10DB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rot="10800000">
                <a:off x="1219200" y="3124200"/>
                <a:ext cx="3276600" cy="1588"/>
              </a:xfrm>
              <a:prstGeom prst="line">
                <a:avLst/>
              </a:prstGeom>
              <a:ln>
                <a:solidFill>
                  <a:srgbClr val="0B10DB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rot="5400000">
                <a:off x="2172494" y="4075906"/>
                <a:ext cx="3276600" cy="1588"/>
              </a:xfrm>
              <a:prstGeom prst="line">
                <a:avLst/>
              </a:prstGeom>
              <a:ln>
                <a:solidFill>
                  <a:srgbClr val="0B10DB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rot="5400000">
                <a:off x="3391694" y="4075906"/>
                <a:ext cx="3276600" cy="1588"/>
              </a:xfrm>
              <a:prstGeom prst="line">
                <a:avLst/>
              </a:prstGeom>
              <a:ln>
                <a:solidFill>
                  <a:srgbClr val="0B10DB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/>
            <p:cNvSpPr txBox="1"/>
            <p:nvPr/>
          </p:nvSpPr>
          <p:spPr>
            <a:xfrm rot="16200000">
              <a:off x="1844238" y="4488406"/>
              <a:ext cx="137745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Intensity/</a:t>
              </a:r>
            </a:p>
            <a:p>
              <a:pPr algn="ctr"/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Polarization</a:t>
              </a:r>
            </a:p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profile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819400" y="1066800"/>
              <a:ext cx="263777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VERTICAL / HORIZONTAL</a:t>
              </a:r>
            </a:p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SCANS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rot="5400000">
              <a:off x="3848894" y="5143500"/>
              <a:ext cx="1142206" cy="794"/>
            </a:xfrm>
            <a:prstGeom prst="line">
              <a:avLst/>
            </a:prstGeom>
            <a:ln w="50800">
              <a:solidFill>
                <a:srgbClr val="BF47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2819400" y="5943600"/>
              <a:ext cx="3276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BF479D"/>
                  </a:solidFill>
                </a:rPr>
                <a:t>Fixed target measurements</a:t>
              </a:r>
            </a:p>
            <a:p>
              <a:pPr algn="ctr"/>
              <a:r>
                <a:rPr lang="en-US" sz="2000" b="1" dirty="0" err="1" smtClean="0">
                  <a:solidFill>
                    <a:srgbClr val="BF479D"/>
                  </a:solidFill>
                </a:rPr>
                <a:t>P</a:t>
              </a:r>
              <a:r>
                <a:rPr lang="en-US" sz="2000" b="1" baseline="-25000" dirty="0" err="1" smtClean="0">
                  <a:solidFill>
                    <a:srgbClr val="BF479D"/>
                  </a:solidFill>
                </a:rPr>
                <a:t>max</a:t>
              </a:r>
              <a:endParaRPr lang="en-US" sz="2000" b="1" baseline="-25000" dirty="0">
                <a:solidFill>
                  <a:srgbClr val="BF479D"/>
                </a:solidFill>
              </a:endParaRP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eq3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066800"/>
            <a:ext cx="3324225" cy="1133475"/>
          </a:xfrm>
          <a:prstGeom prst="rect">
            <a:avLst/>
          </a:prstGeom>
        </p:spPr>
      </p:pic>
      <p:pic>
        <p:nvPicPr>
          <p:cNvPr id="31" name="Picture 30" descr="eq1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200400"/>
            <a:ext cx="1742441" cy="1143000"/>
          </a:xfrm>
          <a:prstGeom prst="rect">
            <a:avLst/>
          </a:prstGeom>
        </p:spPr>
      </p:pic>
      <p:pic>
        <p:nvPicPr>
          <p:cNvPr id="34" name="Picture 33" descr="Fill_V_PVsI9938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1600" y="2819400"/>
            <a:ext cx="3962400" cy="3825765"/>
          </a:xfrm>
          <a:prstGeom prst="rect">
            <a:avLst/>
          </a:prstGeom>
        </p:spPr>
      </p:pic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6705600" y="5181600"/>
          <a:ext cx="2061135" cy="787399"/>
        </p:xfrm>
        <a:graphic>
          <a:graphicData uri="http://schemas.openxmlformats.org/presentationml/2006/ole">
            <p:oleObj spid="_x0000_s27650" name="Equation" r:id="rId7" imgW="1396800" imgH="431640" progId="Equation.3">
              <p:embed/>
            </p:oleObj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648200" y="2362200"/>
            <a:ext cx="350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BF479D"/>
                </a:solidFill>
                <a:latin typeface="Comic Sans MS" pitchFamily="66" charset="0"/>
              </a:rPr>
              <a:t>A fit to P Vs L/</a:t>
            </a:r>
            <a:r>
              <a:rPr lang="en-US" sz="2000" dirty="0" err="1" smtClean="0">
                <a:solidFill>
                  <a:srgbClr val="BF479D"/>
                </a:solidFill>
                <a:latin typeface="Comic Sans MS" pitchFamily="66" charset="0"/>
              </a:rPr>
              <a:t>L</a:t>
            </a:r>
            <a:r>
              <a:rPr lang="en-US" sz="2000" baseline="-25000" dirty="0" err="1" smtClean="0">
                <a:solidFill>
                  <a:srgbClr val="BF479D"/>
                </a:solidFill>
                <a:latin typeface="Comic Sans MS" pitchFamily="66" charset="0"/>
              </a:rPr>
              <a:t>max</a:t>
            </a:r>
            <a:r>
              <a:rPr lang="en-US" sz="2000" dirty="0" smtClean="0">
                <a:solidFill>
                  <a:srgbClr val="BF479D"/>
                </a:solidFill>
                <a:latin typeface="Comic Sans MS" pitchFamily="66" charset="0"/>
              </a:rPr>
              <a:t> to determine </a:t>
            </a:r>
            <a:r>
              <a:rPr lang="en-US" sz="2000" dirty="0" err="1" smtClean="0">
                <a:solidFill>
                  <a:srgbClr val="BF479D"/>
                </a:solidFill>
                <a:latin typeface="Comic Sans MS" pitchFamily="66" charset="0"/>
              </a:rPr>
              <a:t>P</a:t>
            </a:r>
            <a:r>
              <a:rPr lang="en-US" sz="2000" baseline="-25000" dirty="0" err="1" smtClean="0">
                <a:solidFill>
                  <a:srgbClr val="BF479D"/>
                </a:solidFill>
                <a:latin typeface="Comic Sans MS" pitchFamily="66" charset="0"/>
              </a:rPr>
              <a:t>max</a:t>
            </a:r>
            <a:r>
              <a:rPr lang="en-US" sz="2000" baseline="-25000" dirty="0" smtClean="0">
                <a:solidFill>
                  <a:srgbClr val="BF479D"/>
                </a:solidFill>
                <a:latin typeface="Comic Sans MS" pitchFamily="66" charset="0"/>
              </a:rPr>
              <a:t> </a:t>
            </a:r>
            <a:r>
              <a:rPr lang="en-US" sz="2000" dirty="0" smtClean="0">
                <a:solidFill>
                  <a:srgbClr val="BF479D"/>
                </a:solidFill>
                <a:latin typeface="Comic Sans MS" pitchFamily="66" charset="0"/>
              </a:rPr>
              <a:t>and </a:t>
            </a:r>
            <a:r>
              <a:rPr lang="en-US" sz="2000" dirty="0" err="1" smtClean="0">
                <a:solidFill>
                  <a:srgbClr val="BF479D"/>
                </a:solidFill>
                <a:latin typeface="Symbol" pitchFamily="18" charset="2"/>
              </a:rPr>
              <a:t>s</a:t>
            </a:r>
            <a:r>
              <a:rPr lang="en-US" sz="2000" baseline="-25000" dirty="0" err="1" smtClean="0">
                <a:solidFill>
                  <a:srgbClr val="BF479D"/>
                </a:solidFill>
                <a:latin typeface="Comic Sans MS" pitchFamily="66" charset="0"/>
              </a:rPr>
              <a:t>L</a:t>
            </a:r>
            <a:r>
              <a:rPr lang="en-US" sz="2000" dirty="0" smtClean="0">
                <a:solidFill>
                  <a:srgbClr val="BF479D"/>
                </a:solidFill>
                <a:latin typeface="Comic Sans MS" pitchFamily="66" charset="0"/>
              </a:rPr>
              <a:t>/</a:t>
            </a:r>
            <a:r>
              <a:rPr lang="en-US" sz="2000" dirty="0" err="1" smtClean="0">
                <a:solidFill>
                  <a:srgbClr val="BF479D"/>
                </a:solidFill>
                <a:latin typeface="Symbol" pitchFamily="18" charset="2"/>
              </a:rPr>
              <a:t>s</a:t>
            </a:r>
            <a:r>
              <a:rPr lang="en-US" sz="2000" baseline="-25000" dirty="0" err="1" smtClean="0">
                <a:solidFill>
                  <a:srgbClr val="BF479D"/>
                </a:solidFill>
                <a:latin typeface="Comic Sans MS" pitchFamily="66" charset="0"/>
              </a:rPr>
              <a:t>P</a:t>
            </a:r>
            <a:endParaRPr lang="en-US" sz="2000" baseline="-25000" dirty="0">
              <a:solidFill>
                <a:srgbClr val="BF479D"/>
              </a:solidFill>
              <a:latin typeface="Comic Sans MS" pitchFamily="66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81600" y="914400"/>
            <a:ext cx="729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HJet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28600"/>
            <a:ext cx="45916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Profile 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ill_V_Lum9905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33600"/>
            <a:ext cx="4444093" cy="4290848"/>
          </a:xfrm>
          <a:prstGeom prst="rect">
            <a:avLst/>
          </a:prstGeom>
        </p:spPr>
      </p:pic>
      <p:pic>
        <p:nvPicPr>
          <p:cNvPr id="11" name="Picture 10" descr="sin_phi_fit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066799"/>
            <a:ext cx="4047695" cy="2691325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11"/>
          <p:cNvSpPr/>
          <p:nvPr/>
        </p:nvSpPr>
        <p:spPr>
          <a:xfrm>
            <a:off x="2514600" y="4343400"/>
            <a:ext cx="304800" cy="228600"/>
          </a:xfrm>
          <a:prstGeom prst="rect">
            <a:avLst/>
          </a:prstGeom>
          <a:solidFill>
            <a:srgbClr val="D6369D">
              <a:alpha val="0"/>
            </a:srgb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rot="5400000" flipH="1" flipV="1">
            <a:off x="2400300" y="3314700"/>
            <a:ext cx="1447800" cy="60960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Run_9906.105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923393"/>
            <a:ext cx="3429000" cy="29346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10400" y="2819400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Comic Sans MS" pitchFamily="66" charset="0"/>
              </a:rPr>
              <a:t>RUN08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ymbol" pitchFamily="18" charset="2"/>
              </a:rPr>
              <a:t>F</a:t>
            </a:r>
            <a:r>
              <a:rPr lang="en-US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ymbol" pitchFamily="18" charset="2"/>
              </a:rPr>
              <a:t>0</a:t>
            </a:r>
            <a:r>
              <a:rPr lang="en-US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was kept fixed at average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ymbol" pitchFamily="18" charset="2"/>
              </a:rPr>
              <a:t>F</a:t>
            </a:r>
            <a:r>
              <a:rPr lang="en-US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0</a:t>
            </a:r>
            <a:endParaRPr lang="en-US" baseline="-25000" dirty="0">
              <a:solidFill>
                <a:schemeClr val="tx1">
                  <a:lumMod val="75000"/>
                  <a:lumOff val="2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76600" y="3886200"/>
            <a:ext cx="2514600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Polarization for  each target position is determined by doing a sin phi fit to asymmetry Vs phi measured at  each target position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Comic Sans MS" pitchFamily="66" charset="0"/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4495800" y="2667000"/>
          <a:ext cx="1752600" cy="339213"/>
        </p:xfrm>
        <a:graphic>
          <a:graphicData uri="http://schemas.openxmlformats.org/presentationml/2006/ole">
            <p:oleObj spid="_x0000_s2050" name="Equation" r:id="rId6" imgW="1180800" imgH="228600" progId="Equation.3">
              <p:embed/>
            </p:oleObj>
          </a:graphicData>
        </a:graphic>
      </p:graphicFrame>
      <p:cxnSp>
        <p:nvCxnSpPr>
          <p:cNvPr id="19" name="Straight Connector 18"/>
          <p:cNvCxnSpPr/>
          <p:nvPr/>
        </p:nvCxnSpPr>
        <p:spPr>
          <a:xfrm>
            <a:off x="5867400" y="2971800"/>
            <a:ext cx="304800" cy="1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28600"/>
            <a:ext cx="45916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Profile 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sin_phi_fi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066799"/>
            <a:ext cx="4047695" cy="2691325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/>
          <p:cNvSpPr txBox="1"/>
          <p:nvPr/>
        </p:nvSpPr>
        <p:spPr>
          <a:xfrm>
            <a:off x="7010400" y="2819400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Comic Sans MS" pitchFamily="66" charset="0"/>
              </a:rPr>
              <a:t>RUN08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ymbol" pitchFamily="18" charset="2"/>
              </a:rPr>
              <a:t>F</a:t>
            </a:r>
            <a:r>
              <a:rPr lang="en-US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ymbol" pitchFamily="18" charset="2"/>
              </a:rPr>
              <a:t>0</a:t>
            </a:r>
            <a:r>
              <a:rPr lang="en-US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was kept fixed at average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ymbol" pitchFamily="18" charset="2"/>
              </a:rPr>
              <a:t>F</a:t>
            </a:r>
            <a:r>
              <a:rPr lang="en-US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0</a:t>
            </a:r>
            <a:endParaRPr lang="en-US" baseline="-25000" dirty="0">
              <a:solidFill>
                <a:schemeClr val="tx1">
                  <a:lumMod val="75000"/>
                  <a:lumOff val="25000"/>
                </a:schemeClr>
              </a:solidFill>
              <a:latin typeface="Comic Sans MS" pitchFamily="66" charset="0"/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4495800" y="2667000"/>
          <a:ext cx="1752600" cy="339213"/>
        </p:xfrm>
        <a:graphic>
          <a:graphicData uri="http://schemas.openxmlformats.org/presentationml/2006/ole">
            <p:oleObj spid="_x0000_s3074" name="Equation" r:id="rId4" imgW="1180800" imgH="228600" progId="Equation.3">
              <p:embed/>
            </p:oleObj>
          </a:graphicData>
        </a:graphic>
      </p:graphicFrame>
      <p:cxnSp>
        <p:nvCxnSpPr>
          <p:cNvPr id="19" name="Straight Connector 18"/>
          <p:cNvCxnSpPr/>
          <p:nvPr/>
        </p:nvCxnSpPr>
        <p:spPr>
          <a:xfrm>
            <a:off x="5867400" y="2971800"/>
            <a:ext cx="304800" cy="1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Phase_ave_yellow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994785"/>
            <a:ext cx="4269105" cy="2863215"/>
          </a:xfrm>
          <a:prstGeom prst="rect">
            <a:avLst/>
          </a:prstGeom>
        </p:spPr>
      </p:pic>
      <p:pic>
        <p:nvPicPr>
          <p:cNvPr id="20" name="Picture 19" descr="Phase_ave_blue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4895" y="3994785"/>
            <a:ext cx="4269105" cy="286321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4400" y="3962400"/>
            <a:ext cx="1302408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latin typeface="Symbol" pitchFamily="18" charset="2"/>
              </a:rPr>
              <a:t>F</a:t>
            </a:r>
            <a:r>
              <a:rPr lang="en-US" baseline="-25000" dirty="0" smtClean="0"/>
              <a:t>0</a:t>
            </a:r>
            <a:r>
              <a:rPr lang="en-US" dirty="0" smtClean="0"/>
              <a:t> YELLOW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715000" y="3962400"/>
            <a:ext cx="1008481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latin typeface="Symbol" pitchFamily="18" charset="2"/>
              </a:rPr>
              <a:t>F</a:t>
            </a:r>
            <a:r>
              <a:rPr lang="en-US" baseline="-25000" dirty="0" smtClean="0"/>
              <a:t>0</a:t>
            </a:r>
            <a:r>
              <a:rPr lang="en-US" dirty="0" smtClean="0"/>
              <a:t> BLUE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228600"/>
            <a:ext cx="71790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Profile 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 descr="Fill_V_Pol9905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990600"/>
            <a:ext cx="331470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 rot="16200000" flipV="1">
            <a:off x="6633385" y="3272615"/>
            <a:ext cx="3868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HORIZONTAL SCANS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Picture 12" descr="R_V_yellow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4195762"/>
            <a:ext cx="4000500" cy="2662238"/>
          </a:xfrm>
          <a:prstGeom prst="rect">
            <a:avLst/>
          </a:prstGeom>
        </p:spPr>
      </p:pic>
      <p:graphicFrame>
        <p:nvGraphicFramePr>
          <p:cNvPr id="8193" name="Object 2"/>
          <p:cNvGraphicFramePr>
            <a:graphicFrameLocks noChangeAspect="1"/>
          </p:cNvGraphicFramePr>
          <p:nvPr/>
        </p:nvGraphicFramePr>
        <p:xfrm>
          <a:off x="4876800" y="4191000"/>
          <a:ext cx="1600200" cy="611479"/>
        </p:xfrm>
        <a:graphic>
          <a:graphicData uri="http://schemas.openxmlformats.org/presentationml/2006/ole">
            <p:oleObj spid="_x0000_s8193" name="Equation" r:id="rId5" imgW="1396800" imgH="431640" progId="Equation.3">
              <p:embed/>
            </p:oleObj>
          </a:graphicData>
        </a:graphic>
      </p:graphicFrame>
      <p:pic>
        <p:nvPicPr>
          <p:cNvPr id="10" name="Picture 9" descr="Pmax_V_yellow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962400"/>
            <a:ext cx="4000500" cy="2662238"/>
          </a:xfrm>
          <a:prstGeom prst="rect">
            <a:avLst/>
          </a:prstGeom>
        </p:spPr>
      </p:pic>
      <p:pic>
        <p:nvPicPr>
          <p:cNvPr id="7" name="Picture 6" descr="Fill_V_Lum9905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914400"/>
            <a:ext cx="3314700" cy="3200400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228600"/>
            <a:ext cx="62860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Profile : BLUE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5400000">
            <a:off x="7496334" y="2104866"/>
            <a:ext cx="23238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B10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VERTICAL SCANS</a:t>
            </a:r>
            <a:endParaRPr lang="en-US" sz="2000" dirty="0">
              <a:solidFill>
                <a:srgbClr val="0B10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 rot="5400000">
            <a:off x="7273677" y="5070723"/>
            <a:ext cx="27691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B10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HORIZONTAL  SCANS</a:t>
            </a:r>
            <a:endParaRPr lang="en-US" sz="2000" dirty="0">
              <a:solidFill>
                <a:srgbClr val="0B10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Picture 13" descr="R_H_blu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990600"/>
            <a:ext cx="4000500" cy="2662238"/>
          </a:xfrm>
          <a:prstGeom prst="rect">
            <a:avLst/>
          </a:prstGeom>
        </p:spPr>
      </p:pic>
      <p:pic>
        <p:nvPicPr>
          <p:cNvPr id="18" name="Picture 17" descr="R_V_blu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4195762"/>
            <a:ext cx="4000500" cy="2662238"/>
          </a:xfrm>
          <a:prstGeom prst="rect">
            <a:avLst/>
          </a:prstGeom>
        </p:spPr>
      </p:pic>
      <p:pic>
        <p:nvPicPr>
          <p:cNvPr id="11" name="Picture 10" descr="Pmax_H_blue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90600"/>
            <a:ext cx="4000500" cy="2662238"/>
          </a:xfrm>
          <a:prstGeom prst="rect">
            <a:avLst/>
          </a:prstGeom>
        </p:spPr>
      </p:pic>
      <p:pic>
        <p:nvPicPr>
          <p:cNvPr id="13" name="Picture 12" descr="Pmax_V_blue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195762"/>
            <a:ext cx="4000500" cy="2662238"/>
          </a:xfrm>
          <a:prstGeom prst="rect">
            <a:avLst/>
          </a:prstGeom>
        </p:spPr>
      </p:pic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304800" y="3581400"/>
          <a:ext cx="1995053" cy="762000"/>
        </p:xfrm>
        <a:graphic>
          <a:graphicData uri="http://schemas.openxmlformats.org/presentationml/2006/ole">
            <p:oleObj spid="_x0000_s7170" name="Equation" r:id="rId7" imgW="1396800" imgH="431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0"/>
            <a:ext cx="89277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 profile: consistency checks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ol_compare_blu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90600"/>
            <a:ext cx="4000500" cy="2662238"/>
          </a:xfrm>
          <a:prstGeom prst="rect">
            <a:avLst/>
          </a:prstGeom>
        </p:spPr>
      </p:pic>
      <p:pic>
        <p:nvPicPr>
          <p:cNvPr id="6" name="Picture 5" descr="Pol_diff_blu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90600"/>
            <a:ext cx="4000500" cy="2662238"/>
          </a:xfrm>
          <a:prstGeom prst="rect">
            <a:avLst/>
          </a:prstGeom>
        </p:spPr>
      </p:pic>
      <p:pic>
        <p:nvPicPr>
          <p:cNvPr id="7" name="Picture 6" descr="Pol_compare_yellow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977640"/>
            <a:ext cx="4269105" cy="2880360"/>
          </a:xfrm>
          <a:prstGeom prst="rect">
            <a:avLst/>
          </a:prstGeom>
        </p:spPr>
      </p:pic>
      <p:pic>
        <p:nvPicPr>
          <p:cNvPr id="8" name="Picture 7" descr="Pol_diff_yellow1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5800" y="3977640"/>
            <a:ext cx="4269105" cy="2880360"/>
          </a:xfrm>
          <a:prstGeom prst="rect">
            <a:avLst/>
          </a:prstGeom>
        </p:spPr>
      </p:pic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219200" y="2438400"/>
          <a:ext cx="1380565" cy="711200"/>
        </p:xfrm>
        <a:graphic>
          <a:graphicData uri="http://schemas.openxmlformats.org/presentationml/2006/ole">
            <p:oleObj spid="_x0000_s26626" name="Equation" r:id="rId7" imgW="838080" imgH="431640" progId="Equation.3">
              <p:embed/>
            </p:oleObj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90600" y="3581400"/>
            <a:ext cx="17327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Average over all </a:t>
            </a:r>
          </a:p>
          <a:p>
            <a:r>
              <a:rPr lang="en-US" dirty="0" smtClean="0"/>
              <a:t>scan  positions </a:t>
            </a:r>
            <a:endParaRPr lang="en-US" dirty="0"/>
          </a:p>
        </p:txBody>
      </p:sp>
      <p:cxnSp>
        <p:nvCxnSpPr>
          <p:cNvPr id="25" name="Elbow Connector 24"/>
          <p:cNvCxnSpPr/>
          <p:nvPr/>
        </p:nvCxnSpPr>
        <p:spPr>
          <a:xfrm>
            <a:off x="2514600" y="4038600"/>
            <a:ext cx="381000" cy="30480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28600"/>
            <a:ext cx="42450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decay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VStime_Fill9880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0600"/>
            <a:ext cx="4608195" cy="3109144"/>
          </a:xfrm>
          <a:prstGeom prst="rect">
            <a:avLst/>
          </a:prstGeom>
        </p:spPr>
      </p:pic>
      <p:pic>
        <p:nvPicPr>
          <p:cNvPr id="7" name="Picture 6" descr="decay_Fill9880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3721865"/>
            <a:ext cx="4648200" cy="31361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5400" y="1295400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Fill 9880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1524000"/>
            <a:ext cx="457200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300" dirty="0" smtClean="0">
                <a:latin typeface="Comic Sans MS" pitchFamily="66" charset="0"/>
                <a:cs typeface="Times New Roman" pitchFamily="18" charset="0"/>
              </a:rPr>
              <a:t>Both linear and exponential fits to Polarization for each fill </a:t>
            </a:r>
          </a:p>
          <a:p>
            <a:pPr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300" dirty="0" smtClean="0">
                <a:latin typeface="Comic Sans MS" pitchFamily="66" charset="0"/>
                <a:cs typeface="Times New Roman" pitchFamily="18" charset="0"/>
              </a:rPr>
              <a:t>Assume the functional form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5105400" y="2895600"/>
          <a:ext cx="3192463" cy="417513"/>
        </p:xfrm>
        <a:graphic>
          <a:graphicData uri="http://schemas.openxmlformats.org/presentationml/2006/ole">
            <p:oleObj spid="_x0000_s25602" name="Equation" r:id="rId5" imgW="1942920" imgH="253800" progId="Equation.3">
              <p:embed/>
            </p:oleObj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14400" y="4191000"/>
            <a:ext cx="27206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Comic Sans MS" pitchFamily="66" charset="0"/>
                <a:cs typeface="Times New Roman" pitchFamily="18" charset="0"/>
              </a:rPr>
              <a:t>Average Polarization </a:t>
            </a:r>
            <a:endParaRPr lang="en-US" sz="2000" dirty="0">
              <a:latin typeface="Comic Sans MS" pitchFamily="66" charset="0"/>
              <a:cs typeface="Times New Roman" pitchFamily="18" charset="0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762000" y="4724400"/>
          <a:ext cx="2680855" cy="1092200"/>
        </p:xfrm>
        <a:graphic>
          <a:graphicData uri="http://schemas.openxmlformats.org/presentationml/2006/ole">
            <p:oleObj spid="_x0000_s25603" name="Equation" r:id="rId6" imgW="1371600" imgH="558720" progId="Equation.3">
              <p:embed/>
            </p:oleObj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90600" y="5943600"/>
            <a:ext cx="23123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Assumed </a:t>
            </a:r>
            <a:r>
              <a:rPr lang="en-US" sz="2000" dirty="0" err="1" smtClean="0">
                <a:latin typeface="Symbol" pitchFamily="18" charset="2"/>
              </a:rPr>
              <a:t>a</a:t>
            </a:r>
            <a:r>
              <a:rPr lang="en-US" sz="2000" baseline="-25000" dirty="0" err="1" smtClean="0"/>
              <a:t>L</a:t>
            </a:r>
            <a:r>
              <a:rPr lang="en-US" sz="2000" dirty="0" smtClean="0"/>
              <a:t> = 15 hrs</a:t>
            </a:r>
            <a:endParaRPr lang="en-US" sz="200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5257800" y="4572000"/>
            <a:ext cx="1295400" cy="1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733800" y="1524000"/>
            <a:ext cx="762000" cy="1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28600"/>
            <a:ext cx="42450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decay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Decay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4000500" cy="2662238"/>
          </a:xfrm>
          <a:prstGeom prst="rect">
            <a:avLst/>
          </a:prstGeom>
        </p:spPr>
      </p:pic>
      <p:pic>
        <p:nvPicPr>
          <p:cNvPr id="6" name="Picture 5" descr="PDecay_yellow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62400"/>
            <a:ext cx="4000500" cy="2662238"/>
          </a:xfrm>
          <a:prstGeom prst="rect">
            <a:avLst/>
          </a:prstGeom>
        </p:spPr>
      </p:pic>
      <p:pic>
        <p:nvPicPr>
          <p:cNvPr id="7" name="Picture 6" descr="PDiff_Blu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1066800"/>
            <a:ext cx="4000500" cy="2662238"/>
          </a:xfrm>
          <a:prstGeom prst="rect">
            <a:avLst/>
          </a:prstGeom>
        </p:spPr>
      </p:pic>
      <p:pic>
        <p:nvPicPr>
          <p:cNvPr id="8" name="Picture 7" descr="PDiff_yellow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600" y="3962400"/>
            <a:ext cx="4000500" cy="26622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8200" y="4343400"/>
            <a:ext cx="1437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</a:t>
            </a:r>
            <a:r>
              <a:rPr lang="en-US" baseline="-25000" dirty="0" err="1" smtClean="0"/>
              <a:t>decay</a:t>
            </a:r>
            <a:r>
              <a:rPr lang="en-US" dirty="0" smtClean="0"/>
              <a:t> ≈ 90 hrs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38200" y="1371600"/>
            <a:ext cx="1554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</a:t>
            </a:r>
            <a:r>
              <a:rPr lang="en-US" baseline="-25000" dirty="0" err="1" smtClean="0"/>
              <a:t>decay</a:t>
            </a:r>
            <a:r>
              <a:rPr lang="en-US" dirty="0" smtClean="0"/>
              <a:t> ≈ 370 hrs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 rot="5400000">
            <a:off x="7950620" y="2031580"/>
            <a:ext cx="9287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0B10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BLUE</a:t>
            </a:r>
            <a:endParaRPr lang="en-US" sz="2800" dirty="0">
              <a:solidFill>
                <a:srgbClr val="0B10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 rot="5400000">
            <a:off x="7801213" y="4774780"/>
            <a:ext cx="13799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YELLOW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28600"/>
            <a:ext cx="42450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decay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Decay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4000500" cy="2662238"/>
          </a:xfrm>
          <a:prstGeom prst="rect">
            <a:avLst/>
          </a:prstGeom>
        </p:spPr>
      </p:pic>
      <p:pic>
        <p:nvPicPr>
          <p:cNvPr id="6" name="Picture 5" descr="PDecay_yellow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62400"/>
            <a:ext cx="4000500" cy="2662238"/>
          </a:xfrm>
          <a:prstGeom prst="rect">
            <a:avLst/>
          </a:prstGeom>
        </p:spPr>
      </p:pic>
      <p:pic>
        <p:nvPicPr>
          <p:cNvPr id="7" name="Picture 6" descr="PDiff_Blu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1066800"/>
            <a:ext cx="4000500" cy="2662238"/>
          </a:xfrm>
          <a:prstGeom prst="rect">
            <a:avLst/>
          </a:prstGeom>
        </p:spPr>
      </p:pic>
      <p:pic>
        <p:nvPicPr>
          <p:cNvPr id="8" name="Picture 7" descr="PDiff_yellow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600" y="3962400"/>
            <a:ext cx="4000500" cy="26622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8200" y="4343400"/>
            <a:ext cx="1437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</a:t>
            </a:r>
            <a:r>
              <a:rPr lang="en-US" baseline="-25000" dirty="0" err="1" smtClean="0"/>
              <a:t>decay</a:t>
            </a:r>
            <a:r>
              <a:rPr lang="en-US" dirty="0" smtClean="0"/>
              <a:t> ≈ 90 hrs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38200" y="1371600"/>
            <a:ext cx="1554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</a:t>
            </a:r>
            <a:r>
              <a:rPr lang="en-US" baseline="-25000" dirty="0" err="1" smtClean="0"/>
              <a:t>decay</a:t>
            </a:r>
            <a:r>
              <a:rPr lang="en-US" dirty="0" smtClean="0"/>
              <a:t> ≈ 370 hrs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 rot="5400000">
            <a:off x="7950620" y="2031580"/>
            <a:ext cx="9287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0B10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BLUE</a:t>
            </a:r>
            <a:endParaRPr lang="en-US" sz="2800" dirty="0">
              <a:solidFill>
                <a:srgbClr val="0B10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 rot="5400000">
            <a:off x="7801213" y="4774780"/>
            <a:ext cx="13799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YELLOW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8200" y="3048000"/>
            <a:ext cx="5334000" cy="1323439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SzPct val="125000"/>
              <a:buFont typeface="Arial" pitchFamily="34" charset="0"/>
              <a:buChar char="•"/>
            </a:pPr>
            <a:r>
              <a:rPr lang="en-US" sz="2000" dirty="0" smtClean="0"/>
              <a:t>Yellow beam shows a faster polarization decay</a:t>
            </a:r>
          </a:p>
          <a:p>
            <a:pPr>
              <a:buSzPct val="125000"/>
              <a:buFont typeface="Arial" pitchFamily="34" charset="0"/>
              <a:buChar char="•"/>
            </a:pPr>
            <a:r>
              <a:rPr lang="en-US" sz="2000" dirty="0" smtClean="0"/>
              <a:t>Difference between the average polarization calculated assuming  no decay  and  exponential </a:t>
            </a:r>
            <a:r>
              <a:rPr lang="en-US" sz="2000" smtClean="0"/>
              <a:t>decay is </a:t>
            </a:r>
            <a:r>
              <a:rPr lang="en-US" sz="2000" dirty="0" smtClean="0"/>
              <a:t>consistent with zero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228600"/>
            <a:ext cx="70225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NORMALIZATION TO HJET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38200" y="1219200"/>
          <a:ext cx="60960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 PERIOD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err="1" smtClean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pC</a:t>
                      </a: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 average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err="1" smtClean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pC</a:t>
                      </a: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/</a:t>
                      </a:r>
                      <a:r>
                        <a:rPr lang="en-US" sz="2000" b="0" dirty="0" err="1" smtClean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HJet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All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39.59± 0.39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1.091± 0.035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1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41.00 ±0.61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1.045± 0.054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2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38.16±</a:t>
                      </a:r>
                      <a:r>
                        <a:rPr lang="en-US" sz="2000" b="0" baseline="0" dirty="0" smtClean="0">
                          <a:latin typeface="+mj-lt"/>
                          <a:cs typeface="Times New Roman" pitchFamily="18" charset="0"/>
                        </a:rPr>
                        <a:t> 0.73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1.124± 0.069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3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39.55±</a:t>
                      </a:r>
                      <a:r>
                        <a:rPr lang="en-US" sz="2000" b="0" baseline="0" dirty="0" smtClean="0">
                          <a:latin typeface="+mj-lt"/>
                          <a:cs typeface="Times New Roman" pitchFamily="18" charset="0"/>
                        </a:rPr>
                        <a:t> 0.69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1.110± 0.062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38200" y="3581400"/>
          <a:ext cx="60960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PERIOD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pC</a:t>
                      </a:r>
                      <a:r>
                        <a:rPr lang="en-US" sz="2000" dirty="0" smtClean="0"/>
                        <a:t> average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pC</a:t>
                      </a:r>
                      <a:r>
                        <a:rPr lang="en-US" sz="2000" dirty="0" smtClean="0"/>
                        <a:t>/</a:t>
                      </a:r>
                      <a:r>
                        <a:rPr lang="en-US" sz="2000" dirty="0" err="1" smtClean="0"/>
                        <a:t>HJet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ALL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47.96 ±0.53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1.062± 0.029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52.02± 0.65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1.086± 0.055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3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47.02± 0.74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1.090± 0.044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47.80± 1.38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0.982± 0.057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0" y="5867400"/>
            <a:ext cx="36086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/>
              <a:t>Run 5   ≈  1.01     Run 6 ≈  1.15</a:t>
            </a:r>
            <a:endParaRPr lang="en-US" sz="2200" dirty="0"/>
          </a:p>
        </p:txBody>
      </p:sp>
      <p:sp>
        <p:nvSpPr>
          <p:cNvPr id="7" name="TextBox 6"/>
          <p:cNvSpPr txBox="1"/>
          <p:nvPr/>
        </p:nvSpPr>
        <p:spPr>
          <a:xfrm>
            <a:off x="7315200" y="1447800"/>
            <a:ext cx="1351652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Golden runs</a:t>
            </a:r>
          </a:p>
          <a:p>
            <a:r>
              <a:rPr lang="en-US" dirty="0" smtClean="0"/>
              <a:t>1.101±0.053</a:t>
            </a:r>
          </a:p>
          <a:p>
            <a:endParaRPr lang="en-US" dirty="0" smtClean="0"/>
          </a:p>
          <a:p>
            <a:r>
              <a:rPr lang="en-US" dirty="0" smtClean="0"/>
              <a:t>OK runs</a:t>
            </a:r>
          </a:p>
          <a:p>
            <a:r>
              <a:rPr lang="en-US" dirty="0" smtClean="0"/>
              <a:t>1.078±0.048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Golden runs</a:t>
            </a:r>
          </a:p>
          <a:p>
            <a:r>
              <a:rPr lang="en-US" dirty="0" smtClean="0"/>
              <a:t>1.086±0.082</a:t>
            </a:r>
          </a:p>
          <a:p>
            <a:endParaRPr lang="en-US" dirty="0" smtClean="0"/>
          </a:p>
          <a:p>
            <a:r>
              <a:rPr lang="en-US" dirty="0" smtClean="0"/>
              <a:t>OK runs</a:t>
            </a:r>
          </a:p>
          <a:p>
            <a:r>
              <a:rPr lang="en-US" dirty="0" smtClean="0"/>
              <a:t>1.051±0.031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228600"/>
            <a:ext cx="70225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NORMALIZATION TO HJET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norm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1570"/>
            <a:ext cx="4541520" cy="5090160"/>
          </a:xfrm>
          <a:prstGeom prst="rect">
            <a:avLst/>
          </a:prstGeom>
        </p:spPr>
      </p:pic>
      <p:pic>
        <p:nvPicPr>
          <p:cNvPr id="9" name="Picture 8" descr="norm_yellow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480" y="1219200"/>
            <a:ext cx="4541520" cy="5090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990600"/>
            <a:ext cx="91440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62000" y="304800"/>
            <a:ext cx="7571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Uncertainties due to polarization profile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1" y="1219200"/>
            <a:ext cx="7924800" cy="489364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Same approach as run 6</a:t>
            </a:r>
          </a:p>
          <a:p>
            <a:pPr>
              <a:buClr>
                <a:srgbClr val="FF0000"/>
              </a:buClr>
              <a:buSzPct val="125000"/>
              <a:buFont typeface="Wingdings" pitchFamily="2" charset="2"/>
              <a:buChar char="ü"/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000" baseline="-25000" dirty="0" err="1" smtClean="0">
                <a:latin typeface="Times New Roman" pitchFamily="18" charset="0"/>
                <a:cs typeface="Times New Roman" pitchFamily="18" charset="0"/>
              </a:rPr>
              <a:t>max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determination  &lt; 0.2%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Scan is not continuous → We may miss the maximum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FF0000"/>
              </a:buClr>
              <a:buSzPct val="125000"/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Target vibrations  (flat profiles) &lt;1%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Simulations done by Sasha → Uncertainty is negligible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FF0000"/>
              </a:buClr>
              <a:buSzPct val="125000"/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Assumption that the profiles are Gaussian  &lt; 0.5%</a:t>
            </a:r>
          </a:p>
          <a:p>
            <a:pPr>
              <a:buClr>
                <a:srgbClr val="FF0000"/>
              </a:buClr>
              <a:buSzPct val="125000"/>
              <a:buFont typeface="Wingdings" pitchFamily="2" charset="2"/>
              <a:buChar char="ü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FF0000"/>
              </a:buClr>
              <a:buSzPct val="125000"/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 distributions for vertical/horizontal profile </a:t>
            </a:r>
          </a:p>
          <a:p>
            <a:pPr>
              <a:buClr>
                <a:srgbClr val="FF0000"/>
              </a:buClr>
              <a:buSzPct val="125000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●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Studied the variation in R</a:t>
            </a:r>
          </a:p>
          <a:p>
            <a:pPr>
              <a:buClr>
                <a:srgbClr val="FF0000"/>
              </a:buClr>
              <a:buSzPct val="125000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●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Blue we have both vertical and horizontal scans</a:t>
            </a:r>
          </a:p>
          <a:p>
            <a:pPr>
              <a:buClr>
                <a:srgbClr val="FF0000"/>
              </a:buClr>
              <a:buSzPct val="125000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●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Yellow we only have horizontal scans   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 rot="16200000">
            <a:off x="7354225" y="2780375"/>
            <a:ext cx="2364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TOTAL &lt; ≈ 1.1%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ight Brace 6"/>
          <p:cNvSpPr/>
          <p:nvPr/>
        </p:nvSpPr>
        <p:spPr>
          <a:xfrm>
            <a:off x="7924800" y="1676400"/>
            <a:ext cx="304800" cy="25146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/>
          <p:cNvSpPr/>
          <p:nvPr/>
        </p:nvSpPr>
        <p:spPr>
          <a:xfrm>
            <a:off x="7848600" y="4648200"/>
            <a:ext cx="228600" cy="1524000"/>
          </a:xfrm>
          <a:prstGeom prst="righ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 rot="16200000">
            <a:off x="7741532" y="4983868"/>
            <a:ext cx="15023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RUN 8 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SPECIFIC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990600"/>
            <a:ext cx="91440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0" y="228600"/>
            <a:ext cx="87126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Uncertainties due to polarization profile -Blue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 descr="Hist_Rdist_H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371600"/>
            <a:ext cx="3195638" cy="2662238"/>
          </a:xfrm>
          <a:prstGeom prst="rect">
            <a:avLst/>
          </a:prstGeom>
        </p:spPr>
      </p:pic>
      <p:pic>
        <p:nvPicPr>
          <p:cNvPr id="9" name="Picture 8" descr="Hist_Rdist_VBlu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962400"/>
            <a:ext cx="3195638" cy="2662238"/>
          </a:xfrm>
          <a:prstGeom prst="rect">
            <a:avLst/>
          </a:prstGeom>
        </p:spPr>
      </p:pic>
      <p:pic>
        <p:nvPicPr>
          <p:cNvPr id="10" name="Picture 9" descr="Hist_dRdist_HBlu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1371600"/>
            <a:ext cx="3195638" cy="2662238"/>
          </a:xfrm>
          <a:prstGeom prst="rect">
            <a:avLst/>
          </a:prstGeom>
        </p:spPr>
      </p:pic>
      <p:pic>
        <p:nvPicPr>
          <p:cNvPr id="11" name="Picture 10" descr="Hist_dRdist_VBlue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0" y="3962400"/>
            <a:ext cx="3195638" cy="26622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71800" y="2286000"/>
            <a:ext cx="1701043" cy="7078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Vertical Scans </a:t>
            </a:r>
          </a:p>
          <a:p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 →0.07-0.26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24200" y="4724400"/>
            <a:ext cx="1994970" cy="7078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Horizontal Scans </a:t>
            </a:r>
          </a:p>
          <a:p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R→0.04-0.24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10000" y="5791200"/>
            <a:ext cx="1444626" cy="707886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 average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0.15±0.11</a:t>
            </a:r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4800" y="1066800"/>
            <a:ext cx="1883849" cy="461665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 distribution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81600" y="1066800"/>
            <a:ext cx="2036135" cy="461665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mbol" pitchFamily="18" charset="2"/>
                <a:cs typeface="Times New Roman" pitchFamily="18" charset="0"/>
              </a:rPr>
              <a:t>d</a:t>
            </a:r>
            <a:r>
              <a:rPr lang="en-US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distribution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0" y="2133600"/>
            <a:ext cx="2057400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Global uncertainty is zero → R is known for  both vertical and  horizontal  scans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990600"/>
            <a:ext cx="91440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0" y="228600"/>
            <a:ext cx="91537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Uncertainties due to polarization profile -Yellow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2000" y="5029200"/>
            <a:ext cx="6477094" cy="1384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 smtClean="0"/>
              <a:t>No vertical scans for Yellow</a:t>
            </a:r>
          </a:p>
          <a:p>
            <a:r>
              <a:rPr lang="en-US" sz="2800" dirty="0" smtClean="0"/>
              <a:t>Assume 0-0.39 variation in  R </a:t>
            </a:r>
          </a:p>
          <a:p>
            <a:r>
              <a:rPr lang="en-US" sz="2800" dirty="0" smtClean="0"/>
              <a:t>Fill uncertainty and global uncertainty ≈ 5%</a:t>
            </a:r>
            <a:endParaRPr lang="en-US" sz="2800" dirty="0"/>
          </a:p>
        </p:txBody>
      </p:sp>
      <p:pic>
        <p:nvPicPr>
          <p:cNvPr id="8" name="Picture 7" descr="Hist_Rdist_yello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0"/>
            <a:ext cx="3834765" cy="3194685"/>
          </a:xfrm>
          <a:prstGeom prst="rect">
            <a:avLst/>
          </a:prstGeom>
        </p:spPr>
      </p:pic>
      <p:pic>
        <p:nvPicPr>
          <p:cNvPr id="9" name="Picture 8" descr="Hist_dRdist_yellow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1371600"/>
            <a:ext cx="3834765" cy="31946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819400" y="2362200"/>
            <a:ext cx="1994970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Horizontal Scans </a:t>
            </a:r>
          </a:p>
          <a:p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R→0.20-0.39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24400" y="1143000"/>
            <a:ext cx="2036135" cy="461665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mbol" pitchFamily="18" charset="2"/>
                <a:cs typeface="Times New Roman" pitchFamily="18" charset="0"/>
              </a:rPr>
              <a:t>d</a:t>
            </a:r>
            <a:r>
              <a:rPr lang="en-US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distribution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4800" y="1219200"/>
            <a:ext cx="1883849" cy="461665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 distribution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990600"/>
            <a:ext cx="91440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90600" y="228600"/>
            <a:ext cx="5904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Uncertainty due to Dead Layer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DLave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3195638" cy="2662238"/>
          </a:xfrm>
          <a:prstGeom prst="rect">
            <a:avLst/>
          </a:prstGeom>
        </p:spPr>
      </p:pic>
      <p:pic>
        <p:nvPicPr>
          <p:cNvPr id="7" name="Picture 6" descr="Hist_DL_diff_blu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066800"/>
            <a:ext cx="3195638" cy="2662238"/>
          </a:xfrm>
          <a:prstGeom prst="rect">
            <a:avLst/>
          </a:prstGeom>
        </p:spPr>
      </p:pic>
      <p:pic>
        <p:nvPicPr>
          <p:cNvPr id="8" name="Picture 7" descr="DLave_yellow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810000"/>
            <a:ext cx="3195638" cy="2662238"/>
          </a:xfrm>
          <a:prstGeom prst="rect">
            <a:avLst/>
          </a:prstGeom>
        </p:spPr>
      </p:pic>
      <p:pic>
        <p:nvPicPr>
          <p:cNvPr id="9" name="Picture 8" descr="Hist_DL_diff_yellow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810000"/>
            <a:ext cx="3195638" cy="26622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76600" y="4419600"/>
            <a:ext cx="21164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Dead layer  variation</a:t>
            </a:r>
          </a:p>
          <a:p>
            <a:r>
              <a:rPr lang="en-US" dirty="0" smtClean="0"/>
              <a:t>within  ±4 </a:t>
            </a:r>
            <a:r>
              <a:rPr lang="en-US" dirty="0" smtClean="0">
                <a:latin typeface="Symbol" pitchFamily="18" charset="2"/>
              </a:rPr>
              <a:t>m</a:t>
            </a:r>
            <a:r>
              <a:rPr lang="en-US" dirty="0" smtClean="0"/>
              <a:t>g/cm</a:t>
            </a:r>
            <a:r>
              <a:rPr lang="en-US" baseline="30000" dirty="0" smtClean="0"/>
              <a:t>2</a:t>
            </a:r>
          </a:p>
          <a:p>
            <a:endParaRPr lang="en-US" dirty="0" smtClean="0"/>
          </a:p>
          <a:p>
            <a:r>
              <a:rPr lang="en-US" dirty="0" smtClean="0"/>
              <a:t>Polarization ±2.5%</a:t>
            </a:r>
            <a:endParaRPr lang="en-US" dirty="0"/>
          </a:p>
        </p:txBody>
      </p:sp>
      <p:sp>
        <p:nvSpPr>
          <p:cNvPr id="11" name="Down Arrow 10"/>
          <p:cNvSpPr/>
          <p:nvPr/>
        </p:nvSpPr>
        <p:spPr>
          <a:xfrm>
            <a:off x="3886200" y="5105400"/>
            <a:ext cx="609600" cy="15240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429000" y="1752600"/>
            <a:ext cx="2109104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Fill to fill uncertainty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429000" y="2286000"/>
            <a:ext cx="21164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Dead layer  variation</a:t>
            </a:r>
          </a:p>
          <a:p>
            <a:r>
              <a:rPr lang="en-US" dirty="0" smtClean="0"/>
              <a:t>within  ±3 </a:t>
            </a:r>
            <a:r>
              <a:rPr lang="en-US" dirty="0" smtClean="0">
                <a:latin typeface="Symbol" pitchFamily="18" charset="2"/>
              </a:rPr>
              <a:t>m</a:t>
            </a:r>
            <a:r>
              <a:rPr lang="en-US" dirty="0" smtClean="0"/>
              <a:t>g/cm</a:t>
            </a:r>
            <a:r>
              <a:rPr lang="en-US" baseline="30000" dirty="0" smtClean="0"/>
              <a:t>2</a:t>
            </a:r>
          </a:p>
          <a:p>
            <a:endParaRPr lang="en-US" dirty="0" smtClean="0"/>
          </a:p>
          <a:p>
            <a:r>
              <a:rPr lang="en-US" dirty="0" smtClean="0"/>
              <a:t>Polarization ±1.8%</a:t>
            </a:r>
            <a:endParaRPr lang="en-US" dirty="0"/>
          </a:p>
        </p:txBody>
      </p:sp>
      <p:sp>
        <p:nvSpPr>
          <p:cNvPr id="14" name="Down Arrow 13"/>
          <p:cNvSpPr/>
          <p:nvPr/>
        </p:nvSpPr>
        <p:spPr>
          <a:xfrm>
            <a:off x="3962400" y="2971800"/>
            <a:ext cx="609600" cy="15240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467600" y="1981200"/>
            <a:ext cx="157754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Fill uncertainty</a:t>
            </a:r>
          </a:p>
          <a:p>
            <a:r>
              <a:rPr lang="en-US" dirty="0" smtClean="0"/>
              <a:t>1.6*0.6 ≈ 1%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315200" y="4648200"/>
            <a:ext cx="157754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Fill uncertainty</a:t>
            </a:r>
          </a:p>
          <a:p>
            <a:r>
              <a:rPr lang="en-US" dirty="0" smtClean="0"/>
              <a:t>1.1*0.6 ≈ 0.7%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990600"/>
            <a:ext cx="91440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981200" y="304800"/>
            <a:ext cx="5032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Uncertainties : Summary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524000"/>
            <a:ext cx="710136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Fill to fill uncertainties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Horizontal/Vertical profile                            </a:t>
            </a:r>
            <a:r>
              <a:rPr lang="en-US" sz="2200" dirty="0" smtClean="0">
                <a:solidFill>
                  <a:srgbClr val="0A1EB6"/>
                </a:solidFill>
                <a:latin typeface="Times New Roman" pitchFamily="18" charset="0"/>
                <a:cs typeface="Times New Roman" pitchFamily="18" charset="0"/>
              </a:rPr>
              <a:t>3.0%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5.0%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Energy correction/dead layer                        </a:t>
            </a:r>
            <a:r>
              <a:rPr lang="en-US" sz="2200" dirty="0" smtClean="0">
                <a:solidFill>
                  <a:srgbClr val="0A1EB6"/>
                </a:solidFill>
                <a:latin typeface="Times New Roman" pitchFamily="18" charset="0"/>
                <a:cs typeface="Times New Roman" pitchFamily="18" charset="0"/>
              </a:rPr>
              <a:t>1.0%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0.7%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Global </a:t>
            </a:r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uncertainties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Jet normalization (profile)                            </a:t>
            </a:r>
            <a:r>
              <a:rPr lang="en-US" sz="2200" dirty="0" smtClean="0">
                <a:solidFill>
                  <a:srgbClr val="0A1EB6"/>
                </a:solidFill>
                <a:latin typeface="Times New Roman" pitchFamily="18" charset="0"/>
                <a:cs typeface="Times New Roman" pitchFamily="18" charset="0"/>
              </a:rPr>
              <a:t>1.1%         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1.1%</a:t>
            </a:r>
          </a:p>
          <a:p>
            <a:r>
              <a:rPr lang="en-US" sz="2200" smtClean="0">
                <a:latin typeface="Times New Roman" pitchFamily="18" charset="0"/>
                <a:cs typeface="Times New Roman" pitchFamily="18" charset="0"/>
              </a:rPr>
              <a:t>Pol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 Profile (for experiments)                       </a:t>
            </a:r>
            <a:r>
              <a:rPr lang="en-US" sz="2200" dirty="0" smtClean="0">
                <a:solidFill>
                  <a:srgbClr val="0A1EB6"/>
                </a:solidFill>
                <a:latin typeface="Times New Roman" pitchFamily="18" charset="0"/>
                <a:cs typeface="Times New Roman" pitchFamily="18" charset="0"/>
              </a:rPr>
              <a:t>0.0%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5.0%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Energy correction/deal layer                         </a:t>
            </a:r>
            <a:r>
              <a:rPr lang="en-US" sz="2200" dirty="0" smtClean="0">
                <a:solidFill>
                  <a:srgbClr val="0A1EB6"/>
                </a:solidFill>
                <a:latin typeface="Times New Roman" pitchFamily="18" charset="0"/>
                <a:cs typeface="Times New Roman" pitchFamily="18" charset="0"/>
              </a:rPr>
              <a:t>1.8%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2.5%</a:t>
            </a:r>
            <a:endParaRPr lang="en-US" sz="2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990600"/>
            <a:ext cx="91440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981200" y="304800"/>
            <a:ext cx="53957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Online/Offline comparison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Pol_onoff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71600"/>
            <a:ext cx="4000500" cy="2662238"/>
          </a:xfrm>
          <a:prstGeom prst="rect">
            <a:avLst/>
          </a:prstGeom>
        </p:spPr>
      </p:pic>
      <p:pic>
        <p:nvPicPr>
          <p:cNvPr id="6" name="Picture 5" descr="Pol_onoff_yellow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95762"/>
            <a:ext cx="4000500" cy="2662238"/>
          </a:xfrm>
          <a:prstGeom prst="rect">
            <a:avLst/>
          </a:prstGeom>
        </p:spPr>
      </p:pic>
      <p:pic>
        <p:nvPicPr>
          <p:cNvPr id="7" name="Picture 6" descr="Pol_onoff_diff_blu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1371600"/>
            <a:ext cx="4000500" cy="2662238"/>
          </a:xfrm>
          <a:prstGeom prst="rect">
            <a:avLst/>
          </a:prstGeom>
        </p:spPr>
      </p:pic>
      <p:pic>
        <p:nvPicPr>
          <p:cNvPr id="8" name="Picture 7" descr="Pol_onoff_diff_yellow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800" y="4195762"/>
            <a:ext cx="4000500" cy="26622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1066800"/>
            <a:ext cx="374025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 smtClean="0"/>
              <a:t>In case you are curious …..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81200"/>
            <a:ext cx="8229600" cy="1143000"/>
          </a:xfrm>
        </p:spPr>
        <p:txBody>
          <a:bodyPr/>
          <a:lstStyle/>
          <a:p>
            <a:r>
              <a:rPr lang="en-US" dirty="0" smtClean="0"/>
              <a:t>BACKUP SLIDES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95600" y="228600"/>
            <a:ext cx="32207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Run Selection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43000"/>
            <a:ext cx="44374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Same quality checks as run 05 and 06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1524000"/>
            <a:ext cx="7371120" cy="1015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Carbon mass position deviation : &lt; 0.5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GeV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from the Carbon mass</a:t>
            </a:r>
          </a:p>
          <a:p>
            <a:pPr marL="342900" indent="-34290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Carbon mass width : deviation below 1.9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sigmas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Number of events in banana :  strips inside 20% from the average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" name="Group 8"/>
          <p:cNvGrpSpPr/>
          <p:nvPr/>
        </p:nvGrpSpPr>
        <p:grpSpPr>
          <a:xfrm>
            <a:off x="4267200" y="3124200"/>
            <a:ext cx="4630640" cy="3076575"/>
            <a:chOff x="3886200" y="3124200"/>
            <a:chExt cx="4630640" cy="3076575"/>
          </a:xfrm>
        </p:grpSpPr>
        <p:pic>
          <p:nvPicPr>
            <p:cNvPr id="7" name="Picture 6" descr="Cyields_WCM.gi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86200" y="3124200"/>
              <a:ext cx="4630640" cy="3076575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4724400" y="5029200"/>
              <a:ext cx="3652347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B10DB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Data taken with Blue vertical target 5</a:t>
              </a:r>
            </a:p>
            <a:p>
              <a:r>
                <a:rPr lang="en-US" dirty="0" smtClean="0"/>
                <a:t>Fill #s :9942,9947,9948,9949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alib_yellow_Mar06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4556760" cy="2941320"/>
          </a:xfrm>
          <a:prstGeom prst="rect">
            <a:avLst/>
          </a:prstGeom>
        </p:spPr>
      </p:pic>
      <p:pic>
        <p:nvPicPr>
          <p:cNvPr id="6" name="Picture 5" descr="calib_blue_Mar06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240" y="914400"/>
            <a:ext cx="4556760" cy="294132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895600" y="228600"/>
            <a:ext cx="29225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Calibrations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8200" y="2971800"/>
            <a:ext cx="971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YELLOW</a:t>
            </a:r>
            <a:endParaRPr lang="en-US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10200" y="2971800"/>
            <a:ext cx="669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B10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BLUE</a:t>
            </a:r>
            <a:endParaRPr lang="en-US" b="1" dirty="0">
              <a:solidFill>
                <a:srgbClr val="0B10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9" descr="yellow_leakag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4038600"/>
            <a:ext cx="3086100" cy="2579370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1" name="Oval 10"/>
          <p:cNvSpPr/>
          <p:nvPr/>
        </p:nvSpPr>
        <p:spPr>
          <a:xfrm>
            <a:off x="2667000" y="1066800"/>
            <a:ext cx="1219200" cy="91440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urved Connector 24"/>
          <p:cNvCxnSpPr/>
          <p:nvPr/>
        </p:nvCxnSpPr>
        <p:spPr>
          <a:xfrm rot="16200000" flipH="1">
            <a:off x="3048000" y="2286000"/>
            <a:ext cx="2514600" cy="838200"/>
          </a:xfrm>
          <a:prstGeom prst="curvedConnector3">
            <a:avLst>
              <a:gd name="adj1" fmla="val -86"/>
            </a:avLst>
          </a:prstGeom>
          <a:ln w="15875">
            <a:solidFill>
              <a:srgbClr val="FFC000"/>
            </a:solidFill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28600" y="4191000"/>
            <a:ext cx="43508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FFC000"/>
              </a:buClr>
              <a:buSzPct val="150000"/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Feb 13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constants for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det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1,2,3,4 and 6</a:t>
            </a:r>
          </a:p>
          <a:p>
            <a:pPr>
              <a:buClr>
                <a:srgbClr val="FFC000"/>
              </a:buClr>
              <a:buSzPct val="150000"/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Detector 5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Upto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Fill 9886 Feb 13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constants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Feb 27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constants after Fill 9886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3733800"/>
            <a:ext cx="256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C000"/>
                </a:solidFill>
              </a:rPr>
              <a:t>Feb 16</a:t>
            </a:r>
            <a:r>
              <a:rPr lang="en-US" b="1" baseline="30000" dirty="0" smtClean="0">
                <a:solidFill>
                  <a:srgbClr val="FFC000"/>
                </a:solidFill>
              </a:rPr>
              <a:t>th</a:t>
            </a:r>
            <a:r>
              <a:rPr lang="en-US" b="1" dirty="0" smtClean="0">
                <a:solidFill>
                  <a:srgbClr val="FFC000"/>
                </a:solidFill>
              </a:rPr>
              <a:t> 2008 (Fill 9886)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 rot="5400000">
            <a:off x="7219265" y="4896535"/>
            <a:ext cx="2057400" cy="6463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Jump in Detector 5 current</a:t>
            </a:r>
            <a:endParaRPr lang="en-US" dirty="0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477000" y="1295400"/>
            <a:ext cx="609600" cy="1588"/>
          </a:xfrm>
          <a:prstGeom prst="straightConnector1">
            <a:avLst/>
          </a:prstGeom>
          <a:ln>
            <a:solidFill>
              <a:srgbClr val="0B10D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162800" y="114300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B10DB"/>
                </a:solidFill>
              </a:rPr>
              <a:t>All runs</a:t>
            </a:r>
            <a:endParaRPr lang="en-US" dirty="0">
              <a:solidFill>
                <a:srgbClr val="0B10DB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5000" y="228600"/>
            <a:ext cx="52699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Dead layer 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Dead_Layer_flattop_pass1_yello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47247"/>
            <a:ext cx="8215313" cy="57107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0" y="228600"/>
            <a:ext cx="43768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Dead layer : BLUE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Dead_Layer_flattop_pass1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66800"/>
            <a:ext cx="8331041" cy="579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0" y="228600"/>
            <a:ext cx="39036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Rate dependence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Rate_DL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85825" y="638175"/>
            <a:ext cx="2914650" cy="3771900"/>
          </a:xfrm>
          <a:prstGeom prst="rect">
            <a:avLst/>
          </a:prstGeom>
        </p:spPr>
      </p:pic>
      <p:pic>
        <p:nvPicPr>
          <p:cNvPr id="7" name="Picture 6" descr="Rate_DL_Yellow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000625" y="638175"/>
            <a:ext cx="2914650" cy="3771900"/>
          </a:xfrm>
          <a:prstGeom prst="rect">
            <a:avLst/>
          </a:prstGeom>
        </p:spPr>
      </p:pic>
      <p:pic>
        <p:nvPicPr>
          <p:cNvPr id="8" name="Picture 7" descr="Rate_T0_Blu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62025" y="3514725"/>
            <a:ext cx="2914650" cy="3771900"/>
          </a:xfrm>
          <a:prstGeom prst="rect">
            <a:avLst/>
          </a:prstGeom>
        </p:spPr>
      </p:pic>
      <p:pic>
        <p:nvPicPr>
          <p:cNvPr id="9" name="Picture 8" descr="Rate_T0_Yellow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5000625" y="3514725"/>
            <a:ext cx="2914650" cy="3771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990600"/>
            <a:ext cx="3775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Dead layer rate dependence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3886200"/>
            <a:ext cx="2667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T0 rate dependence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28600"/>
            <a:ext cx="48141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: BLUE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Pol_diff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8001000" cy="5324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28600"/>
            <a:ext cx="57072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 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ol_compare_yello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7026"/>
            <a:ext cx="8686800" cy="58609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"/>
            <a:ext cx="55789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Pol_diff_yellow1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66800"/>
            <a:ext cx="8583385" cy="579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7800" y="228600"/>
            <a:ext cx="57072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 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ol_diff_yellow2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97026"/>
            <a:ext cx="8686800" cy="58609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228600"/>
            <a:ext cx="57072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 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ol_diff_yellow3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48438"/>
            <a:ext cx="8610600" cy="58095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0200" y="228600"/>
            <a:ext cx="50449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Online/Offline: BLUE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Pol_onoff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43000"/>
            <a:ext cx="8001000" cy="5324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28600"/>
            <a:ext cx="50449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Online/Offline: BLUE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ol_onoff_diff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43000"/>
            <a:ext cx="8001000" cy="5324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228600"/>
            <a:ext cx="59380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Online/Offline: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ol_onoff_yello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143000"/>
            <a:ext cx="8001000" cy="5324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228600"/>
            <a:ext cx="59380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Online/Offline: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Pol_onoff_diff_yello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43000"/>
            <a:ext cx="8001000" cy="5324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811</Words>
  <Application>Microsoft Office PowerPoint</Application>
  <PresentationFormat>On-screen Show (4:3)</PresentationFormat>
  <Paragraphs>224</Paragraphs>
  <Slides>36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8" baseType="lpstr">
      <vt:lpstr>Office Theme</vt:lpstr>
      <vt:lpstr>Equation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BACKUP SLIDES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Jefferson Science Associates, LLC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Myung Bang</dc:creator>
  <cp:lastModifiedBy>Myung Bang</cp:lastModifiedBy>
  <cp:revision>197</cp:revision>
  <dcterms:created xsi:type="dcterms:W3CDTF">2008-09-09T16:48:37Z</dcterms:created>
  <dcterms:modified xsi:type="dcterms:W3CDTF">2008-09-12T00:41:27Z</dcterms:modified>
</cp:coreProperties>
</file>