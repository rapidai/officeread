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Override PartName="/ppt/slides/slide14.xml" ContentType="application/vnd.openxmlformats-officedocument.presentationml.slide+xml"/>
  <Override PartName="/ppt/slideMasters/slideMaster2.xml" ContentType="application/vnd.openxmlformats-officedocument.presentationml.slideMaster+xml"/>
  <Default Extension="xml" ContentType="application/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slideLayouts/slideLayout16.xml" ContentType="application/vnd.openxmlformats-officedocument.presentationml.slideLayout+xml"/>
  <Override PartName="/ppt/slides/slide28.xml" ContentType="application/vnd.openxmlformats-officedocument.presentationml.slide+xml"/>
  <Override PartName="/ppt/slides/slide54.xml" ContentType="application/vnd.openxmlformats-officedocument.presentationml.slide+xml"/>
  <Override PartName="/ppt/slides/slide21.xml" ContentType="application/vnd.openxmlformats-officedocument.presentationml.slide+xml"/>
  <Override PartName="/ppt/slides/slide37.xml" ContentType="application/vnd.openxmlformats-officedocument.presentationml.slide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slides/slide44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15.xml" ContentType="application/vnd.openxmlformats-officedocument.presentationml.slideLayout+xml"/>
  <Override PartName="/ppt/slides/slide27.xml" ContentType="application/vnd.openxmlformats-officedocument.presentationml.slide+xml"/>
  <Override PartName="/ppt/slides/slide53.xml" ContentType="application/vnd.openxmlformats-officedocument.presentationml.slide+xml"/>
  <Override PartName="/ppt/slides/slide20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Default Extension="png" ContentType="image/png"/>
  <Override PartName="/ppt/notesSlides/notesSlide8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slides/slide43.xml" ContentType="application/vnd.openxmlformats-officedocument.presentationml.slide+xml"/>
  <Override PartName="/ppt/slides/slide26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52.xml" ContentType="application/vnd.openxmlformats-officedocument.presentationml.slide+xml"/>
  <Override PartName="/ppt/slides/slide3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11.xml" ContentType="application/vnd.openxmlformats-officedocument.presentationml.slide+xml"/>
  <Override PartName="/ppt/slides/slide49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42.xml" ContentType="application/vnd.openxmlformats-officedocument.presentationml.slide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s/slide25.xml" ContentType="application/vnd.openxmlformats-officedocument.presentationml.slide+xml"/>
  <Override PartName="/ppt/slides/slide51.xml" ContentType="application/vnd.openxmlformats-officedocument.presentationml.slide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docProps/app.xml" ContentType="application/vnd.openxmlformats-officedocument.extended-properties+xml"/>
  <Override PartName="/ppt/slides/slide48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s/slide41.xml" ContentType="application/vnd.openxmlformats-officedocument.presentationml.slide+xml"/>
  <Override PartName="/ppt/slides/slide57.xml" ContentType="application/vnd.openxmlformats-officedocument.presentationml.slide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s/slide24.xml" ContentType="application/vnd.openxmlformats-officedocument.presentationml.slide+xml"/>
  <Override PartName="/ppt/slides/slide50.xml" ContentType="application/vnd.openxmlformats-officedocument.presentationml.slide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viewProps.xml" ContentType="application/vnd.openxmlformats-officedocument.presentationml.viewProps+xml"/>
  <Default Extension="jpeg" ContentType="image/jpeg"/>
  <Override PartName="/ppt/slides/slide47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8.xml" ContentType="application/vnd.openxmlformats-officedocument.presentationml.slideLayout+xml"/>
  <Override PartName="/ppt/slides/slide40.xml" ContentType="application/vnd.openxmlformats-officedocument.presentationml.slide+xml"/>
  <Override PartName="/ppt/slides/slide56.xml" ContentType="application/vnd.openxmlformats-officedocument.presentationml.slide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s/slide39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5.xml" ContentType="application/vnd.openxmlformats-officedocument.presentationml.slide+xml"/>
  <Override PartName="/ppt/slides/slide4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9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55.xml" ContentType="application/vnd.openxmlformats-officedocument.presentationml.slide+xml"/>
  <Override PartName="/ppt/theme/theme1.xml" ContentType="application/vnd.openxmlformats-officedocument.theme+xml"/>
  <Override PartName="/ppt/slides/slide22.xml" ContentType="application/vnd.openxmlformats-officedocument.presentationml.slide+xml"/>
  <Override PartName="/ppt/slides/slide38.xml" ContentType="application/vnd.openxmlformats-officedocument.presentationml.slide+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1.xml" ContentType="application/vnd.openxmlformats-officedocument.presentationml.slide+xml"/>
  <Default Extension="bin" ContentType="application/vnd.openxmlformats-officedocument.presentationml.printerSettings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 autoCompressPictures="0">
  <p:sldMasterIdLst>
    <p:sldMasterId id="2147483648" r:id="rId1"/>
    <p:sldMasterId id="2147483649" r:id="rId2"/>
  </p:sldMasterIdLst>
  <p:notesMasterIdLst>
    <p:notesMasterId r:id="rId60"/>
  </p:notesMasterIdLst>
  <p:handoutMasterIdLst>
    <p:handoutMasterId r:id="rId61"/>
  </p:handoutMasterIdLst>
  <p:sldIdLst>
    <p:sldId id="263" r:id="rId3"/>
    <p:sldId id="299" r:id="rId4"/>
    <p:sldId id="376" r:id="rId5"/>
    <p:sldId id="422" r:id="rId6"/>
    <p:sldId id="423" r:id="rId7"/>
    <p:sldId id="424" r:id="rId8"/>
    <p:sldId id="425" r:id="rId9"/>
    <p:sldId id="435" r:id="rId10"/>
    <p:sldId id="382" r:id="rId11"/>
    <p:sldId id="318" r:id="rId12"/>
    <p:sldId id="388" r:id="rId13"/>
    <p:sldId id="385" r:id="rId14"/>
    <p:sldId id="420" r:id="rId15"/>
    <p:sldId id="421" r:id="rId16"/>
    <p:sldId id="377" r:id="rId17"/>
    <p:sldId id="415" r:id="rId18"/>
    <p:sldId id="443" r:id="rId19"/>
    <p:sldId id="319" r:id="rId20"/>
    <p:sldId id="427" r:id="rId21"/>
    <p:sldId id="428" r:id="rId22"/>
    <p:sldId id="328" r:id="rId23"/>
    <p:sldId id="326" r:id="rId24"/>
    <p:sldId id="310" r:id="rId25"/>
    <p:sldId id="304" r:id="rId26"/>
    <p:sldId id="305" r:id="rId27"/>
    <p:sldId id="325" r:id="rId28"/>
    <p:sldId id="331" r:id="rId29"/>
    <p:sldId id="409" r:id="rId30"/>
    <p:sldId id="339" r:id="rId31"/>
    <p:sldId id="340" r:id="rId32"/>
    <p:sldId id="341" r:id="rId33"/>
    <p:sldId id="342" r:id="rId34"/>
    <p:sldId id="449" r:id="rId35"/>
    <p:sldId id="437" r:id="rId36"/>
    <p:sldId id="395" r:id="rId37"/>
    <p:sldId id="394" r:id="rId38"/>
    <p:sldId id="398" r:id="rId39"/>
    <p:sldId id="396" r:id="rId40"/>
    <p:sldId id="404" r:id="rId41"/>
    <p:sldId id="405" r:id="rId42"/>
    <p:sldId id="351" r:id="rId43"/>
    <p:sldId id="343" r:id="rId44"/>
    <p:sldId id="406" r:id="rId45"/>
    <p:sldId id="352" r:id="rId46"/>
    <p:sldId id="412" r:id="rId47"/>
    <p:sldId id="413" r:id="rId48"/>
    <p:sldId id="414" r:id="rId49"/>
    <p:sldId id="431" r:id="rId50"/>
    <p:sldId id="445" r:id="rId51"/>
    <p:sldId id="446" r:id="rId52"/>
    <p:sldId id="447" r:id="rId53"/>
    <p:sldId id="448" r:id="rId54"/>
    <p:sldId id="434" r:id="rId55"/>
    <p:sldId id="419" r:id="rId56"/>
    <p:sldId id="349" r:id="rId57"/>
    <p:sldId id="350" r:id="rId58"/>
    <p:sldId id="418" r:id="rId59"/>
  </p:sldIdLst>
  <p:sldSz cx="13004800" cy="9753600"/>
  <p:notesSz cx="9144000" cy="6858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Times New Roman" charset="0"/>
        <a:ea typeface="ヒラギノ明朝 ProN W3" charset="-128"/>
        <a:cs typeface="ヒラギノ明朝 ProN W3" charset="-128"/>
        <a:sym typeface="Times New Roman" charset="0"/>
      </a:defRPr>
    </a:lvl1pPr>
    <a:lvl2pPr marL="457200" algn="ctr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Times New Roman" charset="0"/>
        <a:ea typeface="ヒラギノ明朝 ProN W3" charset="-128"/>
        <a:cs typeface="ヒラギノ明朝 ProN W3" charset="-128"/>
        <a:sym typeface="Times New Roman" charset="0"/>
      </a:defRPr>
    </a:lvl2pPr>
    <a:lvl3pPr marL="914400" algn="ctr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Times New Roman" charset="0"/>
        <a:ea typeface="ヒラギノ明朝 ProN W3" charset="-128"/>
        <a:cs typeface="ヒラギノ明朝 ProN W3" charset="-128"/>
        <a:sym typeface="Times New Roman" charset="0"/>
      </a:defRPr>
    </a:lvl3pPr>
    <a:lvl4pPr marL="1371600" algn="ctr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Times New Roman" charset="0"/>
        <a:ea typeface="ヒラギノ明朝 ProN W3" charset="-128"/>
        <a:cs typeface="ヒラギノ明朝 ProN W3" charset="-128"/>
        <a:sym typeface="Times New Roman" charset="0"/>
      </a:defRPr>
    </a:lvl4pPr>
    <a:lvl5pPr marL="1828800" algn="ctr" rtl="0" fontAlgn="base">
      <a:spcBef>
        <a:spcPct val="0"/>
      </a:spcBef>
      <a:spcAft>
        <a:spcPct val="0"/>
      </a:spcAft>
      <a:defRPr sz="3400" kern="1200">
        <a:solidFill>
          <a:srgbClr val="000000"/>
        </a:solidFill>
        <a:latin typeface="Times New Roman" charset="0"/>
        <a:ea typeface="ヒラギノ明朝 ProN W3" charset="-128"/>
        <a:cs typeface="ヒラギノ明朝 ProN W3" charset="-128"/>
        <a:sym typeface="Times New Roman" charset="0"/>
      </a:defRPr>
    </a:lvl5pPr>
    <a:lvl6pPr marL="2286000" algn="l" defTabSz="457200" rtl="0" eaLnBrk="1" latinLnBrk="0" hangingPunct="1">
      <a:defRPr sz="3400" kern="1200">
        <a:solidFill>
          <a:srgbClr val="000000"/>
        </a:solidFill>
        <a:latin typeface="Times New Roman" charset="0"/>
        <a:ea typeface="ヒラギノ明朝 ProN W3" charset="-128"/>
        <a:cs typeface="ヒラギノ明朝 ProN W3" charset="-128"/>
        <a:sym typeface="Times New Roman" charset="0"/>
      </a:defRPr>
    </a:lvl6pPr>
    <a:lvl7pPr marL="2743200" algn="l" defTabSz="457200" rtl="0" eaLnBrk="1" latinLnBrk="0" hangingPunct="1">
      <a:defRPr sz="3400" kern="1200">
        <a:solidFill>
          <a:srgbClr val="000000"/>
        </a:solidFill>
        <a:latin typeface="Times New Roman" charset="0"/>
        <a:ea typeface="ヒラギノ明朝 ProN W3" charset="-128"/>
        <a:cs typeface="ヒラギノ明朝 ProN W3" charset="-128"/>
        <a:sym typeface="Times New Roman" charset="0"/>
      </a:defRPr>
    </a:lvl7pPr>
    <a:lvl8pPr marL="3200400" algn="l" defTabSz="457200" rtl="0" eaLnBrk="1" latinLnBrk="0" hangingPunct="1">
      <a:defRPr sz="3400" kern="1200">
        <a:solidFill>
          <a:srgbClr val="000000"/>
        </a:solidFill>
        <a:latin typeface="Times New Roman" charset="0"/>
        <a:ea typeface="ヒラギノ明朝 ProN W3" charset="-128"/>
        <a:cs typeface="ヒラギノ明朝 ProN W3" charset="-128"/>
        <a:sym typeface="Times New Roman" charset="0"/>
      </a:defRPr>
    </a:lvl8pPr>
    <a:lvl9pPr marL="3657600" algn="l" defTabSz="457200" rtl="0" eaLnBrk="1" latinLnBrk="0" hangingPunct="1">
      <a:defRPr sz="3400" kern="1200">
        <a:solidFill>
          <a:srgbClr val="000000"/>
        </a:solidFill>
        <a:latin typeface="Times New Roman" charset="0"/>
        <a:ea typeface="ヒラギノ明朝 ProN W3" charset="-128"/>
        <a:cs typeface="ヒラギノ明朝 ProN W3" charset="-128"/>
        <a:sym typeface="Times New Roman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prnWhat="handouts4" clrMode="bw" frameSlides="1"/>
  <p:clrMru>
    <a:srgbClr val="66FF66"/>
    <a:srgbClr val="E3D6D4"/>
    <a:srgbClr val="FFFF93"/>
    <a:srgbClr val="F5E7BB"/>
    <a:srgbClr val="FFFFFF"/>
    <a:srgbClr val="958FD6"/>
    <a:srgbClr val="FFE069"/>
    <a:srgbClr val="6E79E5"/>
    <a:srgbClr val="FF8000"/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24643" autoAdjust="0"/>
    <p:restoredTop sz="87563" autoAdjust="0"/>
  </p:normalViewPr>
  <p:slideViewPr>
    <p:cSldViewPr>
      <p:cViewPr varScale="1">
        <p:scale>
          <a:sx n="60" d="100"/>
          <a:sy n="60" d="100"/>
        </p:scale>
        <p:origin x="-512" y="-104"/>
      </p:cViewPr>
      <p:guideLst>
        <p:guide orient="horz" pos="3072"/>
        <p:guide pos="409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94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interSettings" Target="printerSettings/printerSettings1.bin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charset="0"/>
                <a:ea typeface="ヒラギノ明朝 ProN W3" charset="-128"/>
                <a:cs typeface="ヒラギノ明朝 ProN W3" charset="-128"/>
                <a:sym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59" name="Rectangle 3"/>
          <p:cNvSpPr>
            <a:spLocks noGrp="1"/>
          </p:cNvSpPr>
          <p:nvPr>
            <p:ph type="dt" sz="quarter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ヒラギノ明朝 ProN W3" charset="-128"/>
                <a:cs typeface="ヒラギノ明朝 ProN W3" charset="-128"/>
                <a:sym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60" name="Rectangle 4"/>
          <p:cNvSpPr>
            <a:spLocks noGrp="1"/>
          </p:cNvSpPr>
          <p:nvPr>
            <p:ph type="ftr" sz="quarter" idx="2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charset="0"/>
                <a:ea typeface="ヒラギノ明朝 ProN W3" charset="-128"/>
                <a:cs typeface="ヒラギノ明朝 ProN W3" charset="-128"/>
                <a:sym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61" name="Rectangle 5"/>
          <p:cNvSpPr>
            <a:spLocks noGrp="1"/>
          </p:cNvSpPr>
          <p:nvPr>
            <p:ph type="sldNum" sz="quarter" idx="3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ヒラギノ明朝 ProN W3" charset="-128"/>
                <a:cs typeface="ヒラギノ明朝 ProN W3" charset="-128"/>
                <a:sym typeface="Times New Roman" charset="0"/>
              </a:defRPr>
            </a:lvl1pPr>
          </a:lstStyle>
          <a:p>
            <a:pPr>
              <a:defRPr/>
            </a:pPr>
            <a:fld id="{EE6D32FB-5715-364E-A962-8B8BC4CCD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Times New Roman" charset="0"/>
                <a:ea typeface="ヒラギノ明朝 ProN W3" charset="-128"/>
                <a:cs typeface="ヒラギノ明朝 ProN W3" charset="-128"/>
                <a:sym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charset="0"/>
                <a:ea typeface="ヒラギノ明朝 ProN W3" charset="-128"/>
                <a:cs typeface="ヒラギノ明朝 ProN W3" charset="-128"/>
                <a:sym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Times New Roman" charset="0"/>
                <a:ea typeface="ヒラギノ明朝 ProN W3" charset="-128"/>
                <a:cs typeface="ヒラギノ明朝 ProN W3" charset="-128"/>
                <a:sym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90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charset="0"/>
                <a:ea typeface="ヒラギノ明朝 ProN W3" charset="-128"/>
                <a:cs typeface="ヒラギノ明朝 ProN W3" charset="-128"/>
                <a:sym typeface="Times New Roman" charset="0"/>
              </a:defRPr>
            </a:lvl1pPr>
          </a:lstStyle>
          <a:p>
            <a:pPr>
              <a:defRPr/>
            </a:pPr>
            <a:fld id="{2EEE5FE3-598A-ED4B-80A5-38AB78B736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Allen_Newell" TargetMode="External"/><Relationship Id="rId4" Type="http://schemas.openxmlformats.org/officeDocument/2006/relationships/hyperlink" Target="http://en.wikipedia.org/wiki/Herbert_A._Simon" TargetMode="External"/><Relationship Id="rId5" Type="http://schemas.openxmlformats.org/officeDocument/2006/relationships/hyperlink" Target="http://portal.acm.org/citation.cfm?id=360022" TargetMode="External"/><Relationship Id="rId6" Type="http://schemas.openxmlformats.org/officeDocument/2006/relationships/hyperlink" Target="http://en.wikipedia.org/wiki/Digital_object_identifier" TargetMode="External"/><Relationship Id="rId7" Type="http://schemas.openxmlformats.org/officeDocument/2006/relationships/hyperlink" Target="http://dx.doi.org/10.1145/360018.360022" TargetMode="External"/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FD7D28-81F2-D14A-8389-711FB87FB710}" type="slidenum">
              <a:rPr lang="en-GB"/>
              <a:pPr/>
              <a:t>1</a:t>
            </a:fld>
            <a:endParaRPr lang="en-GB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EE5FE3-598A-ED4B-80A5-38AB78B7364E}" type="slidenum">
              <a:rPr lang="en-GB"/>
              <a:pPr>
                <a:defRPr/>
              </a:pPr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References:</a:t>
            </a:r>
          </a:p>
          <a:p>
            <a:r>
              <a:rPr lang="en-US" baseline="30000" dirty="0" smtClean="0"/>
              <a:t>1</a:t>
            </a:r>
            <a:r>
              <a:rPr lang="en-US" dirty="0" smtClean="0"/>
              <a:t> See Herb Simon and Allen Newell.  Numerous</a:t>
            </a:r>
            <a:r>
              <a:rPr lang="en-US" baseline="0" dirty="0" smtClean="0"/>
              <a:t> publications.  Most accessible is probably Simon’s </a:t>
            </a:r>
            <a:r>
              <a:rPr lang="en-US" i="1" baseline="0" dirty="0" smtClean="0"/>
              <a:t>Sciences of the Artificial.  </a:t>
            </a:r>
          </a:p>
          <a:p>
            <a:r>
              <a:rPr lang="en-US" i="0" baseline="0" dirty="0" smtClean="0"/>
              <a:t>See also </a:t>
            </a:r>
          </a:p>
          <a:p>
            <a:r>
              <a:rPr lang="en-US" dirty="0" smtClean="0">
                <a:hlinkClick r:id="rId3" tooltip="Allen Newell"/>
              </a:rPr>
              <a:t>Newell, Allen</a:t>
            </a:r>
            <a:r>
              <a:rPr lang="en-US" dirty="0" smtClean="0"/>
              <a:t>; </a:t>
            </a:r>
            <a:r>
              <a:rPr lang="en-US" dirty="0" smtClean="0">
                <a:hlinkClick r:id="rId4" tooltip="Herbert A. Simon"/>
              </a:rPr>
              <a:t>Simon, H. A.</a:t>
            </a:r>
            <a:r>
              <a:rPr lang="en-US" dirty="0" smtClean="0"/>
              <a:t> (1976), </a:t>
            </a:r>
            <a:r>
              <a:rPr lang="en-US" i="1" dirty="0" smtClean="0">
                <a:hlinkClick r:id="rId5"/>
              </a:rPr>
              <a:t>Computer Science as Empirical Inquiry: Symbols and Search</a:t>
            </a:r>
            <a:r>
              <a:rPr lang="en-US" dirty="0" smtClean="0"/>
              <a:t>, "Communications of the ACM", </a:t>
            </a:r>
            <a:r>
              <a:rPr lang="en-US" i="1" dirty="0" smtClean="0"/>
              <a:t>Communications of the ACM</a:t>
            </a:r>
            <a:r>
              <a:rPr lang="en-US" dirty="0" smtClean="0"/>
              <a:t> </a:t>
            </a:r>
            <a:r>
              <a:rPr lang="en-US" b="1" dirty="0" smtClean="0"/>
              <a:t>19</a:t>
            </a:r>
            <a:r>
              <a:rPr lang="en-US" dirty="0" smtClean="0"/>
              <a:t> (3): 113–126, </a:t>
            </a:r>
            <a:r>
              <a:rPr lang="en-US" dirty="0" smtClean="0">
                <a:hlinkClick r:id="rId6" tooltip="Digital object identifier"/>
              </a:rPr>
              <a:t>doi</a:t>
            </a:r>
            <a:r>
              <a:rPr lang="en-US" dirty="0" smtClean="0"/>
              <a:t>:</a:t>
            </a:r>
            <a:r>
              <a:rPr lang="en-US" dirty="0" smtClean="0">
                <a:hlinkClick r:id="rId7"/>
              </a:rPr>
              <a:t>10.1145/360018.360022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EE5FE3-598A-ED4B-80A5-38AB78B7364E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EE5FE3-598A-ED4B-80A5-38AB78B7364E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E9B035-6FA3-9A45-920B-359C49FA5915}" type="slidenum">
              <a:rPr lang="en-GB"/>
              <a:pPr/>
              <a:t>15</a:t>
            </a:fld>
            <a:endParaRPr lang="en-GB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8K-35K kinds of burns, depending on number of dimensions and number of levels in each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6424F1-2B8B-1444-853F-1E72FC5EECDB}" type="slidenum">
              <a:rPr lang="en-GB"/>
              <a:pPr/>
              <a:t>27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EE5FE3-598A-ED4B-80A5-38AB78B7364E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EE5FE3-598A-ED4B-80A5-38AB78B7364E}" type="slidenum">
              <a:rPr lang="en-GB" smtClean="0"/>
              <a:pPr>
                <a:defRPr/>
              </a:pPr>
              <a:t>37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EE5FE3-598A-ED4B-80A5-38AB78B7364E}" type="slidenum">
              <a:rPr lang="en-GB"/>
              <a:pPr>
                <a:defRPr/>
              </a:pPr>
              <a:t>42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3675" y="3808413"/>
            <a:ext cx="4959350" cy="5843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5425" y="3808413"/>
            <a:ext cx="4959350" cy="5843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7000" y="1754188"/>
            <a:ext cx="2517775" cy="7897812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3675" y="1754188"/>
            <a:ext cx="7400925" cy="7897812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5D6679-951E-7349-B0E7-A6814A0A31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0DB06-E9B1-5841-9CF7-AA51433F02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475" y="2185988"/>
            <a:ext cx="5778500" cy="6870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29375" y="2185988"/>
            <a:ext cx="5778500" cy="6870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2358F-3CF1-A64A-A422-E7D37A701F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5BD85-0796-6C4E-8B19-BE9A666C52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B9874-F0AA-CA45-8AEE-299C27D2AC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B415D-1C16-1C48-8C37-15F215DD8E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C76446-7FF3-C044-B0C9-792BD26032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B4338-6245-4D4C-863F-87D54C5F50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463CA-C230-8849-B80E-ACEBF2BD11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0525" y="200025"/>
            <a:ext cx="2927350" cy="8856663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8475" y="200025"/>
            <a:ext cx="8629650" cy="8856663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Box 2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21A32-A2EB-AA4E-9E77-1EA7E6E38F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rgbClr val="536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736725" y="1754188"/>
            <a:ext cx="9525000" cy="1130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pic>
        <p:nvPicPr>
          <p:cNvPr id="1027" name="Picture 2"/>
          <p:cNvPicPr>
            <a:picLocks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3225800" cy="2770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" name="Rectangle 3"/>
          <p:cNvSpPr>
            <a:spLocks/>
          </p:cNvSpPr>
          <p:nvPr/>
        </p:nvSpPr>
        <p:spPr bwMode="auto">
          <a:xfrm>
            <a:off x="1741488" y="4699000"/>
            <a:ext cx="9499600" cy="299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57760" bIns="0">
            <a:prstTxWarp prst="textNoShape">
              <a:avLst/>
            </a:prstTxWarp>
          </a:bodyPr>
          <a:lstStyle/>
          <a:p>
            <a:pPr marL="57150">
              <a:defRPr/>
            </a:pPr>
            <a:endParaRPr lang="en-US" sz="3200">
              <a:solidFill>
                <a:srgbClr val="FFFFFF"/>
              </a:solidFill>
              <a:latin typeface="Arial" charset="0"/>
              <a:sym typeface="Arial" charset="0"/>
            </a:endParaRPr>
          </a:p>
          <a:p>
            <a:pPr marL="57150">
              <a:defRPr/>
            </a:pPr>
            <a:endParaRPr lang="en-US" sz="3200">
              <a:solidFill>
                <a:srgbClr val="FFFFFF"/>
              </a:solidFill>
              <a:latin typeface="Arial" charset="0"/>
              <a:sym typeface="Arial" charset="0"/>
            </a:endParaRPr>
          </a:p>
          <a:p>
            <a:pPr marL="57150">
              <a:defRPr/>
            </a:pPr>
            <a:r>
              <a:rPr lang="en-US" sz="3200">
                <a:solidFill>
                  <a:srgbClr val="FFFFFF"/>
                </a:solidFill>
                <a:latin typeface="Arial" charset="0"/>
                <a:sym typeface="Arial" charset="0"/>
              </a:rPr>
              <a:t>                              </a:t>
            </a:r>
          </a:p>
          <a:p>
            <a:pPr marL="57150" algn="l">
              <a:defRPr/>
            </a:pPr>
            <a:endParaRPr lang="en-US">
              <a:solidFill>
                <a:schemeClr val="tx1"/>
              </a:solidFill>
              <a:ea typeface="Times" charset="0"/>
              <a:cs typeface="Times" charset="0"/>
            </a:endParaRPr>
          </a:p>
          <a:p>
            <a:pPr marL="57150" algn="l">
              <a:defRPr/>
            </a:pPr>
            <a:endParaRPr lang="en-US">
              <a:solidFill>
                <a:schemeClr val="tx1"/>
              </a:solidFill>
              <a:ea typeface="Times" charset="0"/>
              <a:cs typeface="Times" charset="0"/>
            </a:endParaRPr>
          </a:p>
          <a:p>
            <a:pPr marL="57150" algn="l">
              <a:defRPr/>
            </a:pPr>
            <a:endParaRPr lang="en-US">
              <a:solidFill>
                <a:schemeClr val="tx1"/>
              </a:solidFill>
              <a:ea typeface="Times" charset="0"/>
              <a:cs typeface="Times" charset="0"/>
            </a:endParaRPr>
          </a:p>
        </p:txBody>
      </p:sp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572875" y="8801100"/>
            <a:ext cx="1301750" cy="830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63675" y="3808413"/>
            <a:ext cx="10071100" cy="5843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180809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/>
  <p:txStyles>
    <p:titleStyle>
      <a:lvl1pPr marL="57150" indent="-57150" algn="ctr" rtl="0" eaLnBrk="0" fontAlgn="base" hangingPunct="0">
        <a:spcBef>
          <a:spcPct val="0"/>
        </a:spcBef>
        <a:spcAft>
          <a:spcPct val="0"/>
        </a:spcAft>
        <a:defRPr sz="47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charset="-128"/>
          <a:cs typeface="ＭＳ Ｐゴシック" charset="-128"/>
          <a:sym typeface="Arial" charset="0"/>
        </a:defRPr>
      </a:lvl1pPr>
      <a:lvl2pPr marL="57150" indent="-57150" algn="ctr" rtl="0" eaLnBrk="0" fontAlgn="base" hangingPunct="0">
        <a:spcBef>
          <a:spcPct val="0"/>
        </a:spcBef>
        <a:spcAft>
          <a:spcPct val="0"/>
        </a:spcAft>
        <a:defRPr sz="47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  <a:cs typeface="ＭＳ Ｐゴシック" charset="-128"/>
          <a:sym typeface="Arial" charset="0"/>
        </a:defRPr>
      </a:lvl2pPr>
      <a:lvl3pPr marL="57150" indent="-57150" algn="ctr" rtl="0" eaLnBrk="0" fontAlgn="base" hangingPunct="0">
        <a:spcBef>
          <a:spcPct val="0"/>
        </a:spcBef>
        <a:spcAft>
          <a:spcPct val="0"/>
        </a:spcAft>
        <a:defRPr sz="47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  <a:cs typeface="ＭＳ Ｐゴシック" charset="-128"/>
          <a:sym typeface="Arial" charset="0"/>
        </a:defRPr>
      </a:lvl3pPr>
      <a:lvl4pPr marL="57150" indent="-57150" algn="ctr" rtl="0" eaLnBrk="0" fontAlgn="base" hangingPunct="0">
        <a:spcBef>
          <a:spcPct val="0"/>
        </a:spcBef>
        <a:spcAft>
          <a:spcPct val="0"/>
        </a:spcAft>
        <a:defRPr sz="47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  <a:cs typeface="ＭＳ Ｐゴシック" charset="-128"/>
          <a:sym typeface="Arial" charset="0"/>
        </a:defRPr>
      </a:lvl4pPr>
      <a:lvl5pPr marL="57150" indent="-57150" algn="ctr" rtl="0" eaLnBrk="0" fontAlgn="base" hangingPunct="0">
        <a:spcBef>
          <a:spcPct val="0"/>
        </a:spcBef>
        <a:spcAft>
          <a:spcPct val="0"/>
        </a:spcAft>
        <a:defRPr sz="47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  <a:cs typeface="ＭＳ Ｐゴシック" charset="-128"/>
          <a:sym typeface="Arial" charset="0"/>
        </a:defRPr>
      </a:lvl5pPr>
      <a:lvl6pPr marL="514350" indent="-57150" algn="ctr" rtl="0" fontAlgn="base">
        <a:spcBef>
          <a:spcPct val="0"/>
        </a:spcBef>
        <a:spcAft>
          <a:spcPct val="0"/>
        </a:spcAft>
        <a:defRPr sz="47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sym typeface="Arial" charset="0"/>
        </a:defRPr>
      </a:lvl6pPr>
      <a:lvl7pPr marL="971550" indent="-57150" algn="ctr" rtl="0" fontAlgn="base">
        <a:spcBef>
          <a:spcPct val="0"/>
        </a:spcBef>
        <a:spcAft>
          <a:spcPct val="0"/>
        </a:spcAft>
        <a:defRPr sz="47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sym typeface="Arial" charset="0"/>
        </a:defRPr>
      </a:lvl7pPr>
      <a:lvl8pPr marL="1428750" indent="-57150" algn="ctr" rtl="0" fontAlgn="base">
        <a:spcBef>
          <a:spcPct val="0"/>
        </a:spcBef>
        <a:spcAft>
          <a:spcPct val="0"/>
        </a:spcAft>
        <a:defRPr sz="47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sym typeface="Arial" charset="0"/>
        </a:defRPr>
      </a:lvl8pPr>
      <a:lvl9pPr marL="1885950" indent="-57150" algn="ctr" rtl="0" fontAlgn="base">
        <a:spcBef>
          <a:spcPct val="0"/>
        </a:spcBef>
        <a:spcAft>
          <a:spcPct val="0"/>
        </a:spcAft>
        <a:defRPr sz="47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sym typeface="Arial" charset="0"/>
        </a:defRPr>
      </a:lvl9pPr>
    </p:titleStyle>
    <p:bodyStyle>
      <a:lvl1pPr marL="342900" indent="-342900" algn="ctr" rtl="0" eaLnBrk="0" fontAlgn="base" hangingPunct="0">
        <a:spcBef>
          <a:spcPts val="800"/>
        </a:spcBef>
        <a:spcAft>
          <a:spcPct val="0"/>
        </a:spcAft>
        <a:defRPr sz="3300">
          <a:solidFill>
            <a:srgbClr val="FFFFFF"/>
          </a:solidFill>
          <a:latin typeface="+mn-lt"/>
          <a:ea typeface="ＭＳ Ｐゴシック" charset="-128"/>
          <a:cs typeface="ＭＳ Ｐゴシック" charset="-128"/>
          <a:sym typeface="Arial" charset="0"/>
        </a:defRPr>
      </a:lvl1pPr>
      <a:lvl2pPr marL="742950" indent="-285750" algn="ctr" rtl="0" eaLnBrk="0" fontAlgn="base" hangingPunct="0">
        <a:spcBef>
          <a:spcPts val="600"/>
        </a:spcBef>
        <a:spcAft>
          <a:spcPct val="0"/>
        </a:spcAft>
        <a:defRPr sz="2400">
          <a:solidFill>
            <a:srgbClr val="FFFF93"/>
          </a:solidFill>
          <a:latin typeface="+mn-lt"/>
          <a:ea typeface="ＭＳ Ｐゴシック" charset="-128"/>
          <a:sym typeface="Arial" charset="0"/>
        </a:defRPr>
      </a:lvl2pPr>
      <a:lvl3pPr marL="1143000" indent="-228600" algn="ctr" rtl="0" eaLnBrk="0" fontAlgn="base" hangingPunct="0">
        <a:spcBef>
          <a:spcPts val="500"/>
        </a:spcBef>
        <a:spcAft>
          <a:spcPct val="0"/>
        </a:spcAft>
        <a:defRPr sz="2200">
          <a:solidFill>
            <a:srgbClr val="FFFFFF"/>
          </a:solidFill>
          <a:latin typeface="+mn-lt"/>
          <a:ea typeface="ＭＳ Ｐゴシック" charset="-128"/>
          <a:sym typeface="Arial" charset="0"/>
        </a:defRPr>
      </a:lvl3pPr>
      <a:lvl4pPr marL="1600200" indent="-228600" algn="ctr" rtl="0" eaLnBrk="0" fontAlgn="base" hangingPunct="0">
        <a:spcBef>
          <a:spcPts val="500"/>
        </a:spcBef>
        <a:spcAft>
          <a:spcPct val="0"/>
        </a:spcAft>
        <a:defRPr sz="2200"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4pPr>
      <a:lvl5pPr marL="2057400" indent="-228600" algn="ctr" rtl="0" eaLnBrk="0" fontAlgn="base" hangingPunct="0">
        <a:spcBef>
          <a:spcPts val="500"/>
        </a:spcBef>
        <a:spcAft>
          <a:spcPct val="0"/>
        </a:spcAft>
        <a:defRPr sz="2200"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5pPr>
      <a:lvl6pPr marL="457200" algn="ctr" rtl="0" fontAlgn="base">
        <a:spcBef>
          <a:spcPts val="500"/>
        </a:spcBef>
        <a:spcAft>
          <a:spcPct val="0"/>
        </a:spcAft>
        <a:defRPr sz="2200"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6pPr>
      <a:lvl7pPr marL="914400" algn="ctr" rtl="0" fontAlgn="base">
        <a:spcBef>
          <a:spcPts val="500"/>
        </a:spcBef>
        <a:spcAft>
          <a:spcPct val="0"/>
        </a:spcAft>
        <a:defRPr sz="2200"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7pPr>
      <a:lvl8pPr marL="1371600" algn="ctr" rtl="0" fontAlgn="base">
        <a:spcBef>
          <a:spcPts val="500"/>
        </a:spcBef>
        <a:spcAft>
          <a:spcPct val="0"/>
        </a:spcAft>
        <a:defRPr sz="2200"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8pPr>
      <a:lvl9pPr marL="1828800" algn="ctr" rtl="0" fontAlgn="base">
        <a:spcBef>
          <a:spcPts val="500"/>
        </a:spcBef>
        <a:spcAft>
          <a:spcPct val="0"/>
        </a:spcAft>
        <a:defRPr sz="2200"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rgbClr val="5367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592263" y="200025"/>
            <a:ext cx="9525000" cy="1473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title style</a:t>
            </a:r>
          </a:p>
        </p:txBody>
      </p:sp>
      <p:sp>
        <p:nvSpPr>
          <p:cNvPr id="2050" name="Text Box 2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12255500" y="9156700"/>
            <a:ext cx="495300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60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  <a:sym typeface="Times New Roman" charset="0"/>
              </a:defRPr>
            </a:lvl1pPr>
          </a:lstStyle>
          <a:p>
            <a:pPr>
              <a:defRPr/>
            </a:pPr>
            <a:fld id="{7FD5E7A8-E2A0-914C-BD53-CA24A2F91A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5867400" y="4241800"/>
            <a:ext cx="1270000" cy="1270000"/>
          </a:xfrm>
          <a:prstGeom prst="line">
            <a:avLst/>
          </a:prstGeom>
          <a:noFill/>
          <a:ln w="12700">
            <a:noFill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31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8475" y="2185988"/>
            <a:ext cx="11709400" cy="687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180809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>
                <a:sym typeface="Arial" charset="0"/>
              </a:rPr>
              <a:t>Second level</a:t>
            </a:r>
          </a:p>
          <a:p>
            <a:pPr lvl="2"/>
            <a:r>
              <a:rPr lang="en-US">
                <a:sym typeface="Arial" charset="0"/>
              </a:rPr>
              <a:t>Third level</a:t>
            </a:r>
          </a:p>
          <a:p>
            <a:pPr lvl="3"/>
            <a:r>
              <a:rPr lang="en-US">
                <a:sym typeface="Arial" charset="0"/>
              </a:rPr>
              <a:t>Fourth level</a:t>
            </a:r>
          </a:p>
          <a:p>
            <a:pPr lvl="4"/>
            <a:r>
              <a:rPr lang="en-US">
                <a:sym typeface="Arial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marL="57150" indent="-57150"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charset="-128"/>
          <a:cs typeface="ＭＳ Ｐゴシック" charset="-128"/>
          <a:sym typeface="Arial" charset="0"/>
        </a:defRPr>
      </a:lvl1pPr>
      <a:lvl2pPr marL="57150" indent="-57150"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  <a:cs typeface="ＭＳ Ｐゴシック" charset="-128"/>
          <a:sym typeface="Arial" charset="0"/>
        </a:defRPr>
      </a:lvl2pPr>
      <a:lvl3pPr marL="57150" indent="-57150"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  <a:cs typeface="ＭＳ Ｐゴシック" charset="-128"/>
          <a:sym typeface="Arial" charset="0"/>
        </a:defRPr>
      </a:lvl3pPr>
      <a:lvl4pPr marL="57150" indent="-57150"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  <a:cs typeface="ＭＳ Ｐゴシック" charset="-128"/>
          <a:sym typeface="Arial" charset="0"/>
        </a:defRPr>
      </a:lvl4pPr>
      <a:lvl5pPr marL="57150" indent="-57150"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  <a:cs typeface="ＭＳ Ｐゴシック" charset="-128"/>
          <a:sym typeface="Arial" charset="0"/>
        </a:defRPr>
      </a:lvl5pPr>
      <a:lvl6pPr marL="514350" indent="-5715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sym typeface="Arial" charset="0"/>
        </a:defRPr>
      </a:lvl6pPr>
      <a:lvl7pPr marL="971550" indent="-5715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sym typeface="Arial" charset="0"/>
        </a:defRPr>
      </a:lvl7pPr>
      <a:lvl8pPr marL="1428750" indent="-5715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sym typeface="Arial" charset="0"/>
        </a:defRPr>
      </a:lvl8pPr>
      <a:lvl9pPr marL="1885950" indent="-5715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sym typeface="Arial" charset="0"/>
        </a:defRPr>
      </a:lvl9pPr>
    </p:titleStyle>
    <p:bodyStyle>
      <a:lvl1pPr marL="509588" indent="-503238" algn="l" rtl="0" eaLnBrk="0" fontAlgn="base" hangingPunct="0">
        <a:spcBef>
          <a:spcPts val="2000"/>
        </a:spcBef>
        <a:spcAft>
          <a:spcPct val="0"/>
        </a:spcAft>
        <a:buSzPct val="100000"/>
        <a:buFont typeface="Arial" charset="0"/>
        <a:buChar char="►"/>
        <a:defRPr sz="3400" b="1">
          <a:solidFill>
            <a:srgbClr val="FFFFFF"/>
          </a:solidFill>
          <a:latin typeface="+mn-lt"/>
          <a:ea typeface="ＭＳ Ｐゴシック" charset="-128"/>
          <a:cs typeface="ＭＳ Ｐゴシック" charset="-128"/>
          <a:sym typeface="Arial" charset="0"/>
        </a:defRPr>
      </a:lvl1pPr>
      <a:lvl2pPr marL="1130300" indent="-363538" algn="l" rtl="0" eaLnBrk="0" fontAlgn="base" hangingPunct="0">
        <a:spcBef>
          <a:spcPts val="1000"/>
        </a:spcBef>
        <a:spcAft>
          <a:spcPct val="0"/>
        </a:spcAft>
        <a:buSzPct val="100000"/>
        <a:buFont typeface="Arial" charset="0"/>
        <a:buChar char="►"/>
        <a:defRPr sz="2800" b="1">
          <a:solidFill>
            <a:srgbClr val="FFFF93"/>
          </a:solidFill>
          <a:latin typeface="+mn-lt"/>
          <a:ea typeface="ＭＳ Ｐゴシック" charset="-128"/>
          <a:sym typeface="Arial" charset="0"/>
        </a:defRPr>
      </a:lvl2pPr>
      <a:lvl3pPr marL="1682750" indent="-276225" algn="l" rtl="0" eaLnBrk="0" fontAlgn="base" hangingPunct="0">
        <a:spcBef>
          <a:spcPts val="600"/>
        </a:spcBef>
        <a:spcAft>
          <a:spcPct val="0"/>
        </a:spcAft>
        <a:buSzPct val="100000"/>
        <a:buFont typeface="Arial" charset="0"/>
        <a:buChar char="•"/>
        <a:defRPr sz="2400" b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3pPr>
      <a:lvl4pPr marL="2062163" indent="-276225" algn="l" rtl="0" eaLnBrk="0" fontAlgn="base" hangingPunct="0">
        <a:spcBef>
          <a:spcPts val="200"/>
        </a:spcBef>
        <a:spcAft>
          <a:spcPct val="0"/>
        </a:spcAft>
        <a:buSzPct val="100000"/>
        <a:buFont typeface="Lucida Grande" charset="0"/>
        <a:buChar char="‣"/>
        <a:defRPr sz="2000" b="1"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4pPr>
      <a:lvl5pPr marL="2452688" indent="-276225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-"/>
        <a:defRPr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5pPr>
      <a:lvl6pPr marL="2909888" indent="-276225" algn="l" rtl="0" fontAlgn="base">
        <a:spcBef>
          <a:spcPct val="0"/>
        </a:spcBef>
        <a:spcAft>
          <a:spcPct val="0"/>
        </a:spcAft>
        <a:buSzPct val="100000"/>
        <a:buFont typeface="Arial" charset="0"/>
        <a:buChar char="-"/>
        <a:defRPr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6pPr>
      <a:lvl7pPr marL="3367088" indent="-276225" algn="l" rtl="0" fontAlgn="base">
        <a:spcBef>
          <a:spcPct val="0"/>
        </a:spcBef>
        <a:spcAft>
          <a:spcPct val="0"/>
        </a:spcAft>
        <a:buSzPct val="100000"/>
        <a:buFont typeface="Arial" charset="0"/>
        <a:buChar char="-"/>
        <a:defRPr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7pPr>
      <a:lvl8pPr marL="3824288" indent="-276225" algn="l" rtl="0" fontAlgn="base">
        <a:spcBef>
          <a:spcPct val="0"/>
        </a:spcBef>
        <a:spcAft>
          <a:spcPct val="0"/>
        </a:spcAft>
        <a:buSzPct val="100000"/>
        <a:buFont typeface="Arial" charset="0"/>
        <a:buChar char="-"/>
        <a:defRPr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8pPr>
      <a:lvl9pPr marL="4281488" indent="-276225" algn="l" rtl="0" fontAlgn="base">
        <a:spcBef>
          <a:spcPct val="0"/>
        </a:spcBef>
        <a:spcAft>
          <a:spcPct val="0"/>
        </a:spcAft>
        <a:buSzPct val="100000"/>
        <a:buFont typeface="Arial" charset="0"/>
        <a:buChar char="-"/>
        <a:defRPr i="1">
          <a:solidFill>
            <a:srgbClr val="FFFFFF"/>
          </a:solidFill>
          <a:latin typeface="+mn-lt"/>
          <a:ea typeface="ＭＳ Ｐゴシック" charset="-128"/>
          <a:sym typeface="Aria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ector@cs.manchester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jpeg"/><Relationship Id="rId3" Type="http://schemas.openxmlformats.org/officeDocument/2006/relationships/image" Target="../media/image10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gi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0.jpeg"/><Relationship Id="rId3" Type="http://schemas.openxmlformats.org/officeDocument/2006/relationships/image" Target="../media/image21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914400"/>
            <a:ext cx="12344400" cy="3276599"/>
          </a:xfrm>
        </p:spPr>
        <p:txBody>
          <a:bodyPr rIns="166320"/>
          <a:lstStyle/>
          <a:p>
            <a:pPr marL="0" indent="0" eaLnBrk="1" hangingPunct="1">
              <a:defRPr/>
            </a:pPr>
            <a:r>
              <a:rPr lang="en-GB" sz="4400" dirty="0" smtClean="0">
                <a:ea typeface="+mj-ea"/>
                <a:cs typeface="+mj-cs"/>
              </a:rPr>
              <a:t>Truth or Consequences:</a:t>
            </a:r>
            <a:br>
              <a:rPr lang="en-GB" sz="4400" dirty="0" smtClean="0">
                <a:ea typeface="+mj-ea"/>
                <a:cs typeface="+mj-cs"/>
              </a:rPr>
            </a:br>
            <a:r>
              <a:rPr lang="en-GB" sz="4400" dirty="0" smtClean="0">
                <a:ea typeface="+mj-ea"/>
                <a:cs typeface="+mj-cs"/>
              </a:rPr>
              <a:t>The case for evidence-based ontologies</a:t>
            </a:r>
            <a:br>
              <a:rPr lang="en-GB" sz="4400" dirty="0" smtClean="0">
                <a:ea typeface="+mj-ea"/>
                <a:cs typeface="+mj-cs"/>
              </a:rPr>
            </a:br>
            <a:r>
              <a:rPr lang="en-GB" sz="4400" dirty="0" smtClean="0">
                <a:ea typeface="+mj-ea"/>
                <a:cs typeface="+mj-cs"/>
              </a:rPr>
              <a:t/>
            </a:r>
            <a:br>
              <a:rPr lang="en-GB" sz="4400" dirty="0" smtClean="0">
                <a:ea typeface="+mj-ea"/>
                <a:cs typeface="+mj-cs"/>
              </a:rPr>
            </a:br>
            <a:r>
              <a:rPr lang="en-GB" sz="4400" dirty="0" smtClean="0">
                <a:ea typeface="+mj-ea"/>
                <a:cs typeface="+mj-cs"/>
              </a:rPr>
              <a:t>in an</a:t>
            </a:r>
            <a:br>
              <a:rPr lang="en-GB" sz="4400" dirty="0" smtClean="0">
                <a:ea typeface="+mj-ea"/>
                <a:cs typeface="+mj-cs"/>
              </a:rPr>
            </a:br>
            <a:r>
              <a:rPr lang="en-GB" sz="4400" dirty="0" smtClean="0">
                <a:ea typeface="+mj-ea"/>
                <a:cs typeface="+mj-cs"/>
              </a:rPr>
              <a:t>Ecology of Knowledge Representation</a:t>
            </a:r>
            <a:br>
              <a:rPr lang="en-GB" sz="4400" dirty="0" smtClean="0">
                <a:ea typeface="+mj-ea"/>
                <a:cs typeface="+mj-cs"/>
              </a:rPr>
            </a:br>
            <a:r>
              <a:rPr lang="en-GB" sz="4400" dirty="0" smtClean="0">
                <a:ea typeface="+mj-ea"/>
                <a:cs typeface="+mj-cs"/>
              </a:rPr>
              <a:t/>
            </a:r>
            <a:br>
              <a:rPr lang="en-GB" sz="4400" dirty="0" smtClean="0">
                <a:ea typeface="+mj-ea"/>
                <a:cs typeface="+mj-cs"/>
              </a:rPr>
            </a:br>
            <a:r>
              <a:rPr lang="en-GB" sz="4400" dirty="0" smtClean="0">
                <a:ea typeface="+mj-ea"/>
                <a:cs typeface="+mj-cs"/>
              </a:rPr>
              <a:t/>
            </a:r>
            <a:br>
              <a:rPr lang="en-GB" sz="4400" dirty="0" smtClean="0">
                <a:ea typeface="+mj-ea"/>
                <a:cs typeface="+mj-cs"/>
              </a:rPr>
            </a:br>
            <a:endParaRPr lang="en-US" sz="4300" dirty="0">
              <a:solidFill>
                <a:srgbClr val="FFCC66"/>
              </a:solidFill>
              <a:ea typeface="+mj-ea"/>
              <a:cs typeface="+mj-cs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92200" y="4343400"/>
            <a:ext cx="10515600" cy="2743200"/>
          </a:xfrm>
          <a:noFill/>
        </p:spPr>
        <p:txBody>
          <a:bodyPr rIns="310818"/>
          <a:lstStyle/>
          <a:p>
            <a:pPr marL="0" indent="0" eaLnBrk="1" hangingPunct="1"/>
            <a:endParaRPr lang="en-US" dirty="0" smtClean="0"/>
          </a:p>
          <a:p>
            <a:pPr marL="0" indent="0" eaLnBrk="1" hangingPunct="1"/>
            <a:r>
              <a:rPr lang="en-US" dirty="0" smtClean="0"/>
              <a:t>Alan </a:t>
            </a:r>
            <a:r>
              <a:rPr lang="en-US" dirty="0"/>
              <a:t>Rector</a:t>
            </a:r>
            <a:br>
              <a:rPr lang="en-US" dirty="0"/>
            </a:br>
            <a:r>
              <a:rPr lang="en-US" dirty="0"/>
              <a:t>BioHealth Informatics Group</a:t>
            </a:r>
            <a:br>
              <a:rPr lang="en-US" dirty="0"/>
            </a:br>
            <a:r>
              <a:rPr lang="en-US" dirty="0"/>
              <a:t>University of Manchester</a:t>
            </a:r>
            <a:br>
              <a:rPr lang="en-US" dirty="0"/>
            </a:br>
            <a:r>
              <a:rPr lang="en-US" dirty="0">
                <a:hlinkClick r:id="rId3"/>
              </a:rPr>
              <a:t>rector@cs.manchester.ac.uk</a:t>
            </a:r>
            <a:endParaRPr lang="en-US" dirty="0"/>
          </a:p>
          <a:p>
            <a:pPr marL="0" indent="0" eaLnBrk="1" hangingPunct="1"/>
            <a:r>
              <a:rPr lang="en-US" dirty="0"/>
              <a:t>http://</a:t>
            </a:r>
            <a:r>
              <a:rPr lang="en-US" dirty="0" err="1"/>
              <a:t>www.cs.manchester.ac.ui</a:t>
            </a:r>
            <a:r>
              <a:rPr lang="en-US" dirty="0"/>
              <a:t>/~rector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8239125" y="4327525"/>
            <a:ext cx="184150" cy="609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/>
          </p:cNvSpPr>
          <p:nvPr/>
        </p:nvSpPr>
        <p:spPr bwMode="auto">
          <a:xfrm>
            <a:off x="-38100" y="9296400"/>
            <a:ext cx="115062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57760" bIns="0">
            <a:prstTxWarp prst="textNoShape">
              <a:avLst/>
            </a:prstTxWarp>
          </a:bodyPr>
          <a:lstStyle/>
          <a:p>
            <a:pPr marL="57150"/>
            <a:r>
              <a:rPr lang="en-US" sz="1700" b="1">
                <a:solidFill>
                  <a:srgbClr val="FFFFFF"/>
                </a:solidFill>
                <a:ea typeface="Times New Roman" charset="0"/>
                <a:cs typeface="Times New Roman" charset="0"/>
              </a:rPr>
              <a:t>Copyright University of Manchester 2012 Licensed under Creative Commons Attribution Non-commercial Licence v3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1" y="0"/>
            <a:ext cx="12445999" cy="1473200"/>
          </a:xfrm>
        </p:spPr>
        <p:txBody>
          <a:bodyPr/>
          <a:lstStyle/>
          <a:p>
            <a:r>
              <a:rPr lang="en-US" dirty="0" smtClean="0"/>
              <a:t>“Ontologies”: What are they for?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524000"/>
            <a:ext cx="11709400" cy="6870700"/>
          </a:xfrm>
        </p:spPr>
        <p:txBody>
          <a:bodyPr/>
          <a:lstStyle/>
          <a:p>
            <a:r>
              <a:rPr lang="en-US" dirty="0"/>
              <a:t>To use in information systems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claim is that “ontologies” are key components of modern biomedical information </a:t>
            </a:r>
            <a:r>
              <a:rPr lang="en-US" dirty="0" smtClean="0"/>
              <a:t>system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If so, it follows that…</a:t>
            </a:r>
          </a:p>
          <a:p>
            <a:pPr lvl="1"/>
            <a:r>
              <a:rPr lang="en-US" dirty="0" smtClean="0"/>
              <a:t>The criteria for “ontologies” should be</a:t>
            </a:r>
            <a:br>
              <a:rPr lang="en-US" dirty="0" smtClean="0"/>
            </a:br>
            <a:r>
              <a:rPr lang="en-US" i="1" dirty="0" smtClean="0"/>
              <a:t>The consequences for Information Systems </a:t>
            </a:r>
            <a:endParaRPr lang="en-US" dirty="0" smtClean="0"/>
          </a:p>
          <a:p>
            <a:pPr lvl="2"/>
            <a:r>
              <a:rPr lang="en-US" dirty="0" smtClean="0"/>
              <a:t>Their fitness for the purposes of their roles in information systems</a:t>
            </a:r>
          </a:p>
          <a:p>
            <a:pPr lvl="2"/>
            <a:r>
              <a:rPr lang="en-US" dirty="0" smtClean="0"/>
              <a:t>Whether or not they lead to errors</a:t>
            </a:r>
          </a:p>
          <a:p>
            <a:pPr lvl="2"/>
            <a:r>
              <a:rPr lang="en-US" dirty="0" smtClean="0"/>
              <a:t>Their </a:t>
            </a:r>
            <a:r>
              <a:rPr lang="en-US" dirty="0" err="1" smtClean="0"/>
              <a:t>faithfullness</a:t>
            </a:r>
            <a:r>
              <a:rPr lang="en-US" dirty="0" smtClean="0"/>
              <a:t> to the information to be represented</a:t>
            </a:r>
          </a:p>
          <a:p>
            <a:pPr lvl="2"/>
            <a:r>
              <a:rPr lang="en-US" dirty="0" smtClean="0"/>
              <a:t>The repeatability of their use in information systems</a:t>
            </a:r>
          </a:p>
          <a:p>
            <a:pPr lvl="2"/>
            <a:r>
              <a:rPr lang="en-US" dirty="0" smtClean="0"/>
              <a:t>Their role in the broader ecology of knowledge in info systems</a:t>
            </a:r>
          </a:p>
          <a:p>
            <a:pPr lvl="2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talk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600200"/>
            <a:ext cx="11709400" cy="6870700"/>
          </a:xfrm>
        </p:spPr>
        <p:txBody>
          <a:bodyPr/>
          <a:lstStyle/>
          <a:p>
            <a:r>
              <a:rPr lang="en-US" dirty="0" smtClean="0"/>
              <a:t>What have been doing recently – my motivations</a:t>
            </a:r>
          </a:p>
          <a:p>
            <a:r>
              <a:rPr lang="en-US" dirty="0" smtClean="0"/>
              <a:t>What </a:t>
            </a:r>
            <a:r>
              <a:rPr lang="en-US" dirty="0"/>
              <a:t>is an </a:t>
            </a:r>
            <a:r>
              <a:rPr lang="en-US" dirty="0" smtClean="0"/>
              <a:t>ontology – narrow sense &amp; broad sense</a:t>
            </a:r>
          </a:p>
          <a:p>
            <a:pPr lvl="1"/>
            <a:r>
              <a:rPr lang="en-US" dirty="0" smtClean="0"/>
              <a:t>The word has drifted until it can mean anything or nothing:  </a:t>
            </a:r>
          </a:p>
          <a:p>
            <a:pPr lvl="1"/>
            <a:r>
              <a:rPr lang="en-US" dirty="0" smtClean="0"/>
              <a:t>I will try to define </a:t>
            </a:r>
            <a:r>
              <a:rPr lang="en-US" dirty="0" err="1" smtClean="0"/>
              <a:t>Ontology</a:t>
            </a:r>
            <a:r>
              <a:rPr lang="en-US" baseline="-25000" dirty="0" err="1" smtClean="0"/>
              <a:t>NarrowSense</a:t>
            </a:r>
            <a:r>
              <a:rPr lang="en-US" baseline="-25000" dirty="0" smtClean="0"/>
              <a:t> </a:t>
            </a:r>
            <a:r>
              <a:rPr lang="en-US" dirty="0" smtClean="0"/>
              <a:t> </a:t>
            </a:r>
            <a:endParaRPr lang="en-US" baseline="-25000" dirty="0" smtClean="0"/>
          </a:p>
          <a:p>
            <a:r>
              <a:rPr lang="en-US" dirty="0" smtClean="0"/>
              <a:t>Some example conundrums </a:t>
            </a:r>
            <a:r>
              <a:rPr lang="en-US" dirty="0"/>
              <a:t>to illustrate</a:t>
            </a:r>
            <a:r>
              <a:rPr lang="en-US" dirty="0" smtClean="0"/>
              <a:t> methods of argument</a:t>
            </a:r>
          </a:p>
          <a:p>
            <a:pPr lvl="1"/>
            <a:r>
              <a:rPr lang="en-US" dirty="0" smtClean="0"/>
              <a:t>How we should make decisions “ontologies”</a:t>
            </a:r>
          </a:p>
          <a:p>
            <a:pPr lvl="3"/>
            <a:r>
              <a:rPr lang="en-US" dirty="0" smtClean="0"/>
              <a:t>What counts as arguments?</a:t>
            </a:r>
          </a:p>
          <a:p>
            <a:pPr lvl="3"/>
            <a:r>
              <a:rPr lang="en-US" dirty="0" smtClean="0"/>
              <a:t>What counts as evidence?</a:t>
            </a:r>
          </a:p>
          <a:p>
            <a:r>
              <a:rPr lang="en-US" dirty="0"/>
              <a:t>Some</a:t>
            </a:r>
            <a:r>
              <a:rPr lang="en-US" dirty="0" smtClean="0"/>
              <a:t> areas where ontologies need to interwork with other knowledge representation in an “ecosystem”</a:t>
            </a:r>
          </a:p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Problems I am trying to solve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82600" y="1219200"/>
            <a:ext cx="11709400" cy="4800600"/>
          </a:xfrm>
        </p:spPr>
        <p:txBody>
          <a:bodyPr/>
          <a:lstStyle/>
          <a:p>
            <a:r>
              <a:rPr lang="en-US" dirty="0"/>
              <a:t>How to generate complex forms for patient situations with multiple diseases and considerations</a:t>
            </a:r>
          </a:p>
          <a:p>
            <a:pPr lvl="1"/>
            <a:r>
              <a:rPr lang="en-US" dirty="0"/>
              <a:t>“An elderly man with confusion, rapid breathing, and extensive bruising as seen by the Emergency room Medic”</a:t>
            </a:r>
          </a:p>
          <a:p>
            <a:pPr lvl="2"/>
            <a:r>
              <a:rPr lang="en-US" sz="2000" dirty="0"/>
              <a:t>Pneumonia </a:t>
            </a:r>
            <a:r>
              <a:rPr lang="en-US" sz="2000" dirty="0" err="1"/>
              <a:t>v</a:t>
            </a:r>
            <a:r>
              <a:rPr lang="en-US" sz="2000" dirty="0"/>
              <a:t>  alcohol </a:t>
            </a:r>
            <a:r>
              <a:rPr lang="en-US" sz="2000" dirty="0" err="1"/>
              <a:t>v</a:t>
            </a:r>
            <a:r>
              <a:rPr lang="en-US" sz="2000" dirty="0"/>
              <a:t> liver disease </a:t>
            </a:r>
            <a:r>
              <a:rPr lang="en-US" sz="2000" dirty="0" err="1"/>
              <a:t>v</a:t>
            </a:r>
            <a:r>
              <a:rPr lang="en-US" sz="2000" dirty="0"/>
              <a:t> head injury </a:t>
            </a:r>
            <a:r>
              <a:rPr lang="en-US" sz="2000" dirty="0" err="1"/>
              <a:t>v</a:t>
            </a:r>
            <a:r>
              <a:rPr lang="en-US" sz="2000" dirty="0"/>
              <a:t> diabetic coma…</a:t>
            </a:r>
          </a:p>
          <a:p>
            <a:pPr lvl="3"/>
            <a:r>
              <a:rPr lang="en-US" dirty="0"/>
              <a:t>Probably more than one</a:t>
            </a:r>
          </a:p>
          <a:p>
            <a:pPr lvl="1"/>
            <a:r>
              <a:rPr lang="en-US" dirty="0"/>
              <a:t>Without combinatorial explosion &amp; assuring correctness</a:t>
            </a:r>
          </a:p>
          <a:p>
            <a:pPr lvl="2"/>
            <a:r>
              <a:rPr lang="en-US" dirty="0"/>
              <a:t>A typical hospital has several thousand forms many of which take over a person-year to develop; A typical patient may need several.</a:t>
            </a:r>
          </a:p>
          <a:p>
            <a:pPr lvl="3"/>
            <a:r>
              <a:rPr lang="en-US" dirty="0"/>
              <a:t>… and they don’t begin to cover what’s needed – THE bottleneck</a:t>
            </a:r>
          </a:p>
          <a:p>
            <a:pPr lvl="3"/>
            <a:endParaRPr 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D5658BA-A3C7-314A-9AEB-94790185871D}" type="slidenum">
              <a:rPr lang="en-US"/>
              <a:pPr/>
              <a:t>4</a:t>
            </a:fld>
            <a:endParaRPr lang="en-US"/>
          </a:p>
        </p:txBody>
      </p:sp>
      <p:pic>
        <p:nvPicPr>
          <p:cNvPr id="31749" name="Picture 5" descr="form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000" y="6705600"/>
            <a:ext cx="2833688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0" name="Picture 4" descr="forms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30600" y="7086600"/>
            <a:ext cx="2849563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1" name="Picture 7" descr="tu05.fig6.gi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92800" y="7772400"/>
            <a:ext cx="2443163" cy="314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2" name="TextBox 8"/>
          <p:cNvSpPr txBox="1">
            <a:spLocks noChangeArrowheads="1"/>
          </p:cNvSpPr>
          <p:nvPr/>
        </p:nvSpPr>
        <p:spPr bwMode="auto">
          <a:xfrm>
            <a:off x="1147763" y="6096000"/>
            <a:ext cx="19827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 i="1">
                <a:solidFill>
                  <a:srgbClr val="FF8000"/>
                </a:solidFill>
              </a:rPr>
              <a:t>Too many</a:t>
            </a:r>
          </a:p>
        </p:txBody>
      </p:sp>
      <p:sp>
        <p:nvSpPr>
          <p:cNvPr id="31753" name="TextBox 9"/>
          <p:cNvSpPr txBox="1">
            <a:spLocks noChangeArrowheads="1"/>
          </p:cNvSpPr>
          <p:nvPr/>
        </p:nvSpPr>
        <p:spPr bwMode="auto">
          <a:xfrm>
            <a:off x="4235450" y="6553200"/>
            <a:ext cx="15732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 i="1">
                <a:solidFill>
                  <a:srgbClr val="FF8000"/>
                </a:solidFill>
              </a:rPr>
              <a:t>Too big</a:t>
            </a:r>
          </a:p>
        </p:txBody>
      </p:sp>
      <p:sp>
        <p:nvSpPr>
          <p:cNvPr id="31754" name="TextBox 10"/>
          <p:cNvSpPr txBox="1">
            <a:spLocks noChangeArrowheads="1"/>
          </p:cNvSpPr>
          <p:nvPr/>
        </p:nvSpPr>
        <p:spPr bwMode="auto">
          <a:xfrm>
            <a:off x="6654800" y="6705600"/>
            <a:ext cx="307816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i="1">
                <a:solidFill>
                  <a:srgbClr val="FF8000"/>
                </a:solidFill>
              </a:rPr>
              <a:t>Too complicated</a:t>
            </a:r>
            <a:br>
              <a:rPr lang="en-US" sz="3200" b="1" i="1">
                <a:solidFill>
                  <a:srgbClr val="FF8000"/>
                </a:solidFill>
              </a:rPr>
            </a:br>
            <a:r>
              <a:rPr lang="en-US" sz="3200" b="1" i="1">
                <a:solidFill>
                  <a:srgbClr val="FF8000"/>
                </a:solidFill>
              </a:rPr>
              <a:t>&amp; repetitive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263" y="200025"/>
            <a:ext cx="10701337" cy="1473200"/>
          </a:xfrm>
        </p:spPr>
        <p:txBody>
          <a:bodyPr/>
          <a:lstStyle/>
          <a:p>
            <a:pPr>
              <a:defRPr/>
            </a:pPr>
            <a:r>
              <a:rPr lang="en-US"/>
              <a:t>Problems I am trying to solve (II)</a:t>
            </a:r>
            <a:br>
              <a:rPr lang="en-US"/>
            </a:br>
            <a:r>
              <a:rPr lang="en-US"/>
              <a:t>How to tell if SNOMED is safe to use </a:t>
            </a:r>
            <a:br>
              <a:rPr lang="en-US"/>
            </a:br>
            <a:r>
              <a:rPr lang="en-US" sz="3200"/>
              <a:t>(or any other big terminology – 50K..500K classes )</a:t>
            </a:r>
            <a:endParaRPr lang="en-US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82600" y="2133600"/>
            <a:ext cx="12522200" cy="2971800"/>
          </a:xfrm>
        </p:spPr>
        <p:txBody>
          <a:bodyPr/>
          <a:lstStyle/>
          <a:p>
            <a:r>
              <a:rPr lang="en-US"/>
              <a:t>Is it correct clinically?  Formally?</a:t>
            </a:r>
          </a:p>
          <a:p>
            <a:r>
              <a:rPr lang="en-US"/>
              <a:t>Will “users” understand it sufficiently to use it correctly?</a:t>
            </a:r>
          </a:p>
          <a:p>
            <a:pPr lvl="1"/>
            <a:r>
              <a:rPr lang="en-US"/>
              <a:t>End users?  Knowledge &amp; software engineer users?</a:t>
            </a:r>
          </a:p>
          <a:p>
            <a:pPr lvl="2"/>
            <a:r>
              <a:rPr lang="en-US"/>
              <a:t>(See JAMIA, J Biomed Informatics, &amp; KCAP papers on my website</a:t>
            </a:r>
            <a:br>
              <a:rPr lang="en-US"/>
            </a:br>
            <a:r>
              <a:rPr lang="en-US"/>
              <a:t>  http://cs.man.ac.uk/~rector)</a:t>
            </a:r>
          </a:p>
          <a:p>
            <a:pPr lvl="1"/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BE83824-A99A-B94C-B5D0-65E61650736E}" type="slidenum">
              <a:rPr lang="en-US"/>
              <a:pPr/>
              <a:t>5</a:t>
            </a:fld>
            <a:endParaRPr lang="en-US"/>
          </a:p>
        </p:txBody>
      </p:sp>
      <p:pic>
        <p:nvPicPr>
          <p:cNvPr id="32773" name="Picture 4" descr="Acute MI (not under IHD)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" y="5257800"/>
            <a:ext cx="600075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731000" y="5105400"/>
            <a:ext cx="6019800" cy="464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50800" tIns="50800" rIns="180809" bIns="50800">
            <a:prstTxWarp prst="textNoShape">
              <a:avLst/>
            </a:prstTxWarp>
          </a:bodyPr>
          <a:lstStyle/>
          <a:p>
            <a:pPr marL="509588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  <a:defRPr/>
            </a:pP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Why isn’t 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Myocardial Infarction </a:t>
            </a: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a kind of 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Ischemic Heart Disease</a:t>
            </a: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?</a:t>
            </a:r>
          </a:p>
          <a:p>
            <a:pPr marL="509588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  <a:defRPr/>
            </a:pP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Why isn’t 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Subdural hematoma</a:t>
            </a: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 a kind of 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Intracranial bleed?</a:t>
            </a:r>
          </a:p>
          <a:p>
            <a:pPr marL="509588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  <a:defRPr/>
            </a:pP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Why isn’t 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Chronic duodenal ulcer </a:t>
            </a: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a kind of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 Chronic disease?</a:t>
            </a:r>
          </a:p>
          <a:p>
            <a:pPr marL="509588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  <a:defRPr/>
            </a:pP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Why is 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Thrombophlebitis of breast</a:t>
            </a: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 a kind of 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Disorder of leg</a:t>
            </a: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?</a:t>
            </a:r>
            <a:b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</a:b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Why is 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Thrombosis of ankle vein</a:t>
            </a: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 a </a:t>
            </a:r>
            <a:r>
              <a:rPr lang="en-US" sz="2000" b="1" i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Disorder of pelvis</a:t>
            </a:r>
            <a:r>
              <a:rPr lang="en-US" sz="2000" b="1" kern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?</a:t>
            </a:r>
          </a:p>
          <a:p>
            <a:pPr marL="509588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  <a:defRPr/>
            </a:pPr>
            <a:endParaRPr lang="en-US" sz="2400" b="1" i="1" kern="0">
              <a:solidFill>
                <a:srgbClr val="FFFFFF"/>
              </a:solidFill>
              <a:latin typeface="+mn-lt"/>
              <a:ea typeface="ＭＳ Ｐゴシック" charset="-128"/>
              <a:cs typeface="ＭＳ Ｐゴシック" charset="-128"/>
              <a:sym typeface="Arial" charset="0"/>
            </a:endParaRPr>
          </a:p>
          <a:p>
            <a:pPr marL="1130300" lvl="1" indent="-363538" algn="l" eaLnBrk="0" hangingPunct="0">
              <a:spcBef>
                <a:spcPts val="1000"/>
              </a:spcBef>
              <a:buSzPct val="100000"/>
              <a:buFont typeface="Arial" charset="0"/>
              <a:buChar char="►"/>
              <a:defRPr/>
            </a:pPr>
            <a:endParaRPr lang="en-US" sz="1600" b="1" kern="0">
              <a:solidFill>
                <a:srgbClr val="FFFFFF"/>
              </a:solidFill>
              <a:latin typeface="+mn-lt"/>
              <a:ea typeface="ＭＳ Ｐゴシック" charset="-128"/>
              <a:sym typeface="Arial" charset="0"/>
            </a:endParaRPr>
          </a:p>
          <a:p>
            <a:pPr marL="1130300" lvl="1" indent="-363538" algn="l" eaLnBrk="0" hangingPunct="0">
              <a:spcBef>
                <a:spcPts val="1000"/>
              </a:spcBef>
              <a:buSzPct val="100000"/>
              <a:buFont typeface="Arial" charset="0"/>
              <a:buChar char="►"/>
              <a:defRPr/>
            </a:pPr>
            <a:endParaRPr lang="en-US" sz="2000" b="1" kern="0">
              <a:solidFill>
                <a:srgbClr val="FFFF93"/>
              </a:solidFill>
              <a:latin typeface="+mn-lt"/>
              <a:ea typeface="ＭＳ Ｐゴシック" charset="-128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Problems I am trying to solve (III)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558800" y="1371600"/>
            <a:ext cx="12446000" cy="6870700"/>
          </a:xfrm>
        </p:spPr>
        <p:txBody>
          <a:bodyPr/>
          <a:lstStyle/>
          <a:p>
            <a:r>
              <a:rPr lang="en-US" dirty="0"/>
              <a:t>How to reconcile </a:t>
            </a:r>
            <a:r>
              <a:rPr lang="en-US" dirty="0" err="1" smtClean="0"/>
              <a:t>ICD’s</a:t>
            </a:r>
            <a:r>
              <a:rPr lang="en-US" dirty="0" smtClean="0"/>
              <a:t> </a:t>
            </a:r>
            <a:r>
              <a:rPr lang="en-US" dirty="0"/>
              <a:t>traditional classification and legacy with new requirements</a:t>
            </a:r>
          </a:p>
          <a:p>
            <a:pPr lvl="1"/>
            <a:r>
              <a:rPr lang="en-US" dirty="0"/>
              <a:t>Retain stability with previous versions</a:t>
            </a:r>
          </a:p>
          <a:p>
            <a:pPr lvl="2"/>
            <a:r>
              <a:rPr lang="en-US" dirty="0"/>
              <a:t>A classification – not an ontology</a:t>
            </a:r>
          </a:p>
          <a:p>
            <a:pPr lvl="2"/>
            <a:r>
              <a:rPr lang="en-US" dirty="0"/>
              <a:t>Fixed depth; mutually exclusive and exhaustive at every level</a:t>
            </a:r>
          </a:p>
          <a:p>
            <a:pPr lvl="3"/>
            <a:r>
              <a:rPr lang="en-US" dirty="0"/>
              <a:t>Every patient event counted exactly once at every granularity</a:t>
            </a:r>
          </a:p>
          <a:p>
            <a:pPr lvl="1"/>
            <a:r>
              <a:rPr lang="en-US" dirty="0"/>
              <a:t>Overcome major problems</a:t>
            </a:r>
          </a:p>
          <a:p>
            <a:pPr lvl="2"/>
            <a:r>
              <a:rPr lang="en-US" dirty="0"/>
              <a:t>Shorten 20-year revision cycle &amp; support Social Computing approaches </a:t>
            </a:r>
          </a:p>
          <a:p>
            <a:pPr lvl="2"/>
            <a:r>
              <a:rPr lang="en-US" dirty="0"/>
              <a:t>Support multiple views &amp; new requirements</a:t>
            </a:r>
          </a:p>
          <a:p>
            <a:r>
              <a:rPr lang="en-US" dirty="0"/>
              <a:t>Multi-layered structure</a:t>
            </a:r>
          </a:p>
          <a:p>
            <a:pPr lvl="1"/>
            <a:r>
              <a:rPr lang="en-US" i="1" dirty="0"/>
              <a:t>Ontology layer </a:t>
            </a:r>
            <a:r>
              <a:rPr lang="en-US" dirty="0"/>
              <a:t>– hopefully reconciled with SNOMED</a:t>
            </a:r>
          </a:p>
          <a:p>
            <a:pPr lvl="1"/>
            <a:r>
              <a:rPr lang="en-US" sz="2400" i="1" dirty="0"/>
              <a:t>Foundation layer </a:t>
            </a:r>
            <a:r>
              <a:rPr lang="en-US" sz="2400" dirty="0"/>
              <a:t>– lots more around the “skeleton” of the ontology</a:t>
            </a:r>
          </a:p>
          <a:p>
            <a:pPr lvl="1"/>
            <a:r>
              <a:rPr lang="en-US" sz="2400" i="1" dirty="0"/>
              <a:t>“Linearizations” </a:t>
            </a:r>
            <a:r>
              <a:rPr lang="en-US" sz="2400" dirty="0"/>
              <a:t>– traditional classifications linked to Foundation layer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494943C-A78F-7144-82A9-7131C598ED23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Problems I am trying to solve (IV)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558800" y="1676400"/>
            <a:ext cx="12023725" cy="6870700"/>
          </a:xfrm>
        </p:spPr>
        <p:txBody>
          <a:bodyPr/>
          <a:lstStyle/>
          <a:p>
            <a:r>
              <a:rPr lang="en-US" dirty="0"/>
              <a:t>How to create an “Ontology of Clinical Research” that fits into standards</a:t>
            </a:r>
          </a:p>
          <a:p>
            <a:pPr lvl="1"/>
            <a:r>
              <a:rPr lang="en-US" dirty="0"/>
              <a:t>Must ultimately integrate with UML to specify a “system”</a:t>
            </a:r>
          </a:p>
          <a:p>
            <a:pPr lvl="1"/>
            <a:r>
              <a:rPr lang="en-US" dirty="0"/>
              <a:t>System of which it is part must carry many arbitrary “rules” and “calculations”</a:t>
            </a:r>
          </a:p>
          <a:p>
            <a:pPr lvl="2"/>
            <a:r>
              <a:rPr lang="en-US" dirty="0"/>
              <a:t>Mix of formal and text</a:t>
            </a:r>
          </a:p>
          <a:p>
            <a:pPr lvl="2"/>
            <a:r>
              <a:rPr lang="en-US" dirty="0" err="1"/>
              <a:t>Eg</a:t>
            </a:r>
            <a:endParaRPr lang="en-US" dirty="0"/>
          </a:p>
          <a:p>
            <a:pPr lvl="3"/>
            <a:r>
              <a:rPr lang="en-US" dirty="0"/>
              <a:t>Criteria for inclusion and exclusion of patients</a:t>
            </a:r>
          </a:p>
          <a:p>
            <a:pPr lvl="3"/>
            <a:r>
              <a:rPr lang="en-US" dirty="0"/>
              <a:t>Algorithms for calculation of statistics</a:t>
            </a:r>
          </a:p>
          <a:p>
            <a:pPr lvl="1"/>
            <a:r>
              <a:rPr lang="en-US" dirty="0"/>
              <a:t>System must provide a way of</a:t>
            </a:r>
          </a:p>
          <a:p>
            <a:pPr lvl="2"/>
            <a:r>
              <a:rPr lang="en-US" dirty="0"/>
              <a:t>Indexing and discovering trials as a whole based on its characteristics</a:t>
            </a:r>
          </a:p>
          <a:p>
            <a:pPr lvl="2"/>
            <a:r>
              <a:rPr lang="en-US" dirty="0"/>
              <a:t>Represent or link to detailed trial protocols</a:t>
            </a:r>
          </a:p>
          <a:p>
            <a:pPr lvl="3"/>
            <a:r>
              <a:rPr lang="en-US" dirty="0"/>
              <a:t>Complex contingent transition networks / plans</a:t>
            </a:r>
          </a:p>
          <a:p>
            <a:pPr lvl="2"/>
            <a:r>
              <a:rPr lang="en-US" dirty="0"/>
              <a:t>Recording “</a:t>
            </a:r>
            <a:r>
              <a:rPr lang="en-US" dirty="0" smtClean="0"/>
              <a:t>journeys</a:t>
            </a:r>
            <a:r>
              <a:rPr lang="en-US" dirty="0"/>
              <a:t>” of individual patients through those protocol</a:t>
            </a:r>
          </a:p>
          <a:p>
            <a:pPr lvl="3"/>
            <a:r>
              <a:rPr lang="en-US" dirty="0"/>
              <a:t>Which may or may not conform to the protocols</a:t>
            </a:r>
          </a:p>
          <a:p>
            <a:pPr lvl="4"/>
            <a:r>
              <a:rPr lang="en-US" dirty="0"/>
              <a:t>And can describe the reasons for deviations from protocol</a:t>
            </a:r>
          </a:p>
          <a:p>
            <a:pPr lvl="3"/>
            <a:endParaRPr 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4D7D570-D0FB-EE4F-A242-C785979DEBAC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143000"/>
          </a:xfrm>
        </p:spPr>
        <p:txBody>
          <a:bodyPr/>
          <a:lstStyle/>
          <a:p>
            <a:r>
              <a:rPr lang="en-US"/>
              <a:t>What is an ontology?</a:t>
            </a:r>
            <a:br>
              <a:rPr lang="en-US"/>
            </a:br>
            <a:r>
              <a:rPr lang="en-US"/>
              <a:t>Historical defintions…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676400"/>
            <a:ext cx="11658600" cy="8458200"/>
          </a:xfrm>
        </p:spPr>
        <p:txBody>
          <a:bodyPr/>
          <a:lstStyle/>
          <a:p>
            <a:r>
              <a:rPr lang="en-US" dirty="0" err="1"/>
              <a:t>Ontology</a:t>
            </a:r>
            <a:r>
              <a:rPr lang="en-US" baseline="-25000" dirty="0" err="1"/>
              <a:t>Philosophy</a:t>
            </a:r>
            <a:r>
              <a:rPr lang="en-US" baseline="-25000" dirty="0"/>
              <a:t> </a:t>
            </a:r>
            <a:endParaRPr lang="en-US" dirty="0"/>
          </a:p>
          <a:p>
            <a:pPr lvl="1"/>
            <a:r>
              <a:rPr lang="en-US" dirty="0"/>
              <a:t>The study of “being” – of “What there is”</a:t>
            </a:r>
          </a:p>
          <a:p>
            <a:pPr lvl="1"/>
            <a:r>
              <a:rPr lang="en-US" dirty="0"/>
              <a:t>The study of “universals” – “What is </a:t>
            </a:r>
            <a:r>
              <a:rPr lang="en-US" i="1" dirty="0"/>
              <a:t>necessarily </a:t>
            </a:r>
            <a:r>
              <a:rPr lang="en-US" dirty="0"/>
              <a:t>true”</a:t>
            </a:r>
          </a:p>
          <a:p>
            <a:pPr lvl="2"/>
            <a:r>
              <a:rPr lang="en-US" dirty="0"/>
              <a:t>As opposed to:</a:t>
            </a:r>
            <a:br>
              <a:rPr lang="en-US" dirty="0"/>
            </a:br>
            <a:r>
              <a:rPr lang="en-US" dirty="0"/>
              <a:t>“Particulars” – What happens to be true in this world/time-place</a:t>
            </a:r>
          </a:p>
          <a:p>
            <a:pPr lvl="2"/>
            <a:r>
              <a:rPr lang="en-US" dirty="0"/>
              <a:t>… but not all of the study of knowledge</a:t>
            </a:r>
          </a:p>
          <a:p>
            <a:pPr lvl="3"/>
            <a:endParaRPr lang="en-US" dirty="0"/>
          </a:p>
          <a:p>
            <a:r>
              <a:rPr lang="en-US" dirty="0" err="1"/>
              <a:t>Ontology</a:t>
            </a:r>
            <a:r>
              <a:rPr lang="en-US" baseline="-25000" dirty="0" err="1"/>
              <a:t>Information</a:t>
            </a:r>
            <a:r>
              <a:rPr lang="en-US" baseline="-25000" dirty="0"/>
              <a:t> systems</a:t>
            </a:r>
          </a:p>
          <a:p>
            <a:pPr lvl="1"/>
            <a:r>
              <a:rPr lang="en-US" dirty="0"/>
              <a:t>Gruber’s fancy word to describe “static knowledge base” </a:t>
            </a:r>
            <a:endParaRPr lang="en-US" dirty="0" smtClean="0"/>
          </a:p>
          <a:p>
            <a:pPr lvl="2"/>
            <a:r>
              <a:rPr lang="en-US" dirty="0" smtClean="0"/>
              <a:t>Gave it a fancy </a:t>
            </a:r>
            <a:r>
              <a:rPr lang="en-US" dirty="0"/>
              <a:t>definition: “A </a:t>
            </a:r>
            <a:r>
              <a:rPr lang="en-US" dirty="0" err="1"/>
              <a:t>conceptualisation</a:t>
            </a:r>
            <a:r>
              <a:rPr lang="en-US" dirty="0"/>
              <a:t> of a domain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A fancy word for a common terminology used in a set of data structures and/or applications</a:t>
            </a:r>
          </a:p>
          <a:p>
            <a:pPr lvl="1"/>
            <a:r>
              <a:rPr lang="en-US" strike="sngStrike" dirty="0" smtClean="0">
                <a:solidFill>
                  <a:srgbClr val="FFFF93">
                    <a:alpha val="48000"/>
                  </a:srgbClr>
                </a:solidFill>
              </a:rPr>
              <a:t>What </a:t>
            </a:r>
            <a:r>
              <a:rPr lang="en-US" strike="sngStrike" dirty="0">
                <a:solidFill>
                  <a:srgbClr val="FFFF93">
                    <a:alpha val="48000"/>
                  </a:srgbClr>
                </a:solidFill>
              </a:rPr>
              <a:t>we can implement in OWL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 bwMode="auto">
          <a:xfrm>
            <a:off x="4445000" y="4724400"/>
            <a:ext cx="2667000" cy="838200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>
              <a:latin typeface="+mn-lt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902200" y="304800"/>
            <a:ext cx="8415338" cy="3657600"/>
          </a:xfrm>
        </p:spPr>
        <p:txBody>
          <a:bodyPr/>
          <a:lstStyle/>
          <a:p>
            <a:r>
              <a:rPr lang="en-US" dirty="0"/>
              <a:t>… What do we mean by</a:t>
            </a:r>
            <a:br>
              <a:rPr lang="en-US" dirty="0"/>
            </a:br>
            <a:r>
              <a:rPr lang="en-US" dirty="0"/>
              <a:t>    “</a:t>
            </a:r>
            <a:r>
              <a:rPr lang="en-US" dirty="0" err="1" smtClean="0"/>
              <a:t>ontology</a:t>
            </a:r>
            <a:r>
              <a:rPr lang="en-US" baseline="-25000" dirty="0" err="1" smtClean="0"/>
              <a:t>NarrowSense</a:t>
            </a:r>
            <a:r>
              <a:rPr lang="en-US" dirty="0" smtClean="0"/>
              <a:t>”</a:t>
            </a:r>
            <a:r>
              <a:rPr lang="en-US" dirty="0"/>
              <a:t>?</a:t>
            </a:r>
            <a:br>
              <a:rPr lang="en-US" dirty="0"/>
            </a:br>
            <a:r>
              <a:rPr lang="en-US" sz="3600" dirty="0"/>
              <a:t>*   </a:t>
            </a:r>
            <a:r>
              <a:rPr lang="en-US" sz="3200" i="1" dirty="0"/>
              <a:t>One part of study of knowledge</a:t>
            </a:r>
            <a:br>
              <a:rPr lang="en-US" sz="3200" i="1" dirty="0"/>
            </a:br>
            <a:r>
              <a:rPr lang="en-US" sz="3200" i="1" dirty="0"/>
              <a:t>*   One part of knowledge representation </a:t>
            </a:r>
            <a:br>
              <a:rPr lang="en-US" sz="3200" i="1" dirty="0"/>
            </a:br>
            <a:r>
              <a:rPr lang="en-US" sz="3200" i="1" dirty="0"/>
              <a:t>*   The source of the </a:t>
            </a:r>
            <a:r>
              <a:rPr lang="en-US" sz="3200" i="1" dirty="0" smtClean="0"/>
              <a:t>entities/terminology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8" name="Oval 7"/>
          <p:cNvSpPr/>
          <p:nvPr/>
        </p:nvSpPr>
        <p:spPr bwMode="auto">
          <a:xfrm>
            <a:off x="0" y="381000"/>
            <a:ext cx="4978400" cy="4419600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ヒラギノ明朝 ProN W3" charset="-128"/>
                <a:cs typeface="ヒラギノ明朝 ProN W3" charset="-128"/>
                <a:sym typeface="Times New Roman" charset="0"/>
              </a:rPr>
              <a:t>Philosophy</a:t>
            </a:r>
            <a:r>
              <a:rPr kumimoji="0" lang="en-US" sz="3200" b="0" i="0" u="none" strike="noStrike" cap="none" normalizeH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ヒラギノ明朝 ProN W3" charset="-128"/>
                <a:cs typeface="ヒラギノ明朝 ProN W3" charset="-128"/>
                <a:sym typeface="Times New Roman" charset="0"/>
              </a:rPr>
              <a:t> of </a:t>
            </a:r>
            <a:r>
              <a:rPr kumimoji="0" lang="en-US" sz="3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ヒラギノ明朝 ProN W3" charset="-128"/>
                <a:cs typeface="ヒラギノ明朝 ProN W3" charset="-128"/>
                <a:sym typeface="Times New Roman" charset="0"/>
              </a:rPr>
              <a:t>Knowledge</a:t>
            </a:r>
            <a:br>
              <a:rPr kumimoji="0" lang="en-US" sz="3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ヒラギノ明朝 ProN W3" charset="-128"/>
                <a:cs typeface="ヒラギノ明朝 ProN W3" charset="-128"/>
                <a:sym typeface="Times New Roman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n-lt"/>
              <a:ea typeface="ヒラギノ明朝 ProN W3" charset="-128"/>
              <a:cs typeface="ヒラギノ明朝 ProN W3" charset="-128"/>
              <a:sym typeface="Times New Roman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787400" y="3505200"/>
            <a:ext cx="3505200" cy="990600"/>
          </a:xfrm>
          <a:prstGeom prst="ellipse">
            <a:avLst/>
          </a:prstGeom>
          <a:solidFill>
            <a:srgbClr val="66FF6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400" dirty="0" err="1" smtClean="0">
                <a:latin typeface="+mn-lt"/>
              </a:rPr>
              <a:t>Ontology</a:t>
            </a:r>
            <a:r>
              <a:rPr lang="en-US" sz="2400" baseline="-25000" dirty="0" err="1" smtClean="0">
                <a:latin typeface="+mn-lt"/>
              </a:rPr>
              <a:t>Philosophy</a:t>
            </a:r>
            <a:r>
              <a:rPr lang="en-US" sz="2400" dirty="0" smtClean="0">
                <a:latin typeface="+mn-lt"/>
              </a:rPr>
              <a:t/>
            </a:r>
            <a:br>
              <a:rPr lang="en-US" sz="2400" dirty="0" smtClean="0">
                <a:latin typeface="+mn-lt"/>
              </a:rPr>
            </a:br>
            <a:endParaRPr lang="en-US" sz="1800" i="1" dirty="0">
              <a:latin typeface="+mn-lt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406400" y="4724400"/>
            <a:ext cx="11049000" cy="5181600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n-lt"/>
              <a:ea typeface="ヒラギノ明朝 ProN W3" charset="-128"/>
              <a:cs typeface="ヒラギノ明朝 ProN W3" charset="-128"/>
              <a:sym typeface="Times New Roman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7874000" y="6248400"/>
            <a:ext cx="2667000" cy="8382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>
              <a:latin typeface="+mn-lt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7874000" y="6553200"/>
            <a:ext cx="2667000" cy="8382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Heuristics</a:t>
            </a:r>
          </a:p>
        </p:txBody>
      </p:sp>
      <p:sp>
        <p:nvSpPr>
          <p:cNvPr id="20" name="Oval 19"/>
          <p:cNvSpPr/>
          <p:nvPr/>
        </p:nvSpPr>
        <p:spPr bwMode="auto">
          <a:xfrm>
            <a:off x="8026400" y="7010400"/>
            <a:ext cx="2438400" cy="6858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Rules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7188200" y="8077200"/>
            <a:ext cx="2362200" cy="914400"/>
          </a:xfrm>
          <a:prstGeom prst="ellipse">
            <a:avLst/>
          </a:prstGeom>
          <a:solidFill>
            <a:srgbClr val="FFFF9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Classifica-tions</a:t>
            </a:r>
          </a:p>
        </p:txBody>
      </p:sp>
      <p:sp>
        <p:nvSpPr>
          <p:cNvPr id="14" name="Oval 13"/>
          <p:cNvSpPr/>
          <p:nvPr/>
        </p:nvSpPr>
        <p:spPr bwMode="auto">
          <a:xfrm>
            <a:off x="1854200" y="8153400"/>
            <a:ext cx="2286000" cy="762000"/>
          </a:xfrm>
          <a:prstGeom prst="ellipse">
            <a:avLst/>
          </a:prstGeom>
          <a:solidFill>
            <a:srgbClr val="FFFF9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Schemas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8600" y="2514600"/>
            <a:ext cx="1638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n-lt"/>
              </a:rPr>
              <a:t>Particulars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5435600" y="7772400"/>
            <a:ext cx="2057400" cy="838200"/>
          </a:xfrm>
          <a:prstGeom prst="ellipse">
            <a:avLst/>
          </a:prstGeom>
          <a:solidFill>
            <a:srgbClr val="FFFF9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Lexicons</a:t>
            </a:r>
          </a:p>
        </p:txBody>
      </p:sp>
      <p:sp>
        <p:nvSpPr>
          <p:cNvPr id="35" name="Oval 34"/>
          <p:cNvSpPr/>
          <p:nvPr/>
        </p:nvSpPr>
        <p:spPr bwMode="auto">
          <a:xfrm>
            <a:off x="6426200" y="4876800"/>
            <a:ext cx="2895600" cy="13716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Probablities /  Bayes networks</a:t>
            </a:r>
          </a:p>
        </p:txBody>
      </p:sp>
      <p:sp>
        <p:nvSpPr>
          <p:cNvPr id="21" name="Oval 20"/>
          <p:cNvSpPr/>
          <p:nvPr/>
        </p:nvSpPr>
        <p:spPr bwMode="auto">
          <a:xfrm>
            <a:off x="711200" y="6248400"/>
            <a:ext cx="3276600" cy="4572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Data structures</a:t>
            </a:r>
          </a:p>
        </p:txBody>
      </p:sp>
      <p:sp>
        <p:nvSpPr>
          <p:cNvPr id="23" name="Oval 22"/>
          <p:cNvSpPr/>
          <p:nvPr/>
        </p:nvSpPr>
        <p:spPr bwMode="auto">
          <a:xfrm>
            <a:off x="1930400" y="5638800"/>
            <a:ext cx="2667000" cy="5334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Protocols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7600" y="6019800"/>
            <a:ext cx="65024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>
                <a:latin typeface="+mn-lt"/>
              </a:rPr>
              <a:t>Knowledge</a:t>
            </a:r>
            <a:br>
              <a:rPr lang="en-US" sz="3200">
                <a:latin typeface="+mn-lt"/>
              </a:rPr>
            </a:br>
            <a:r>
              <a:rPr lang="en-US" sz="3200">
                <a:latin typeface="+mn-lt"/>
              </a:rPr>
              <a:t>Representation</a:t>
            </a:r>
          </a:p>
        </p:txBody>
      </p:sp>
      <p:sp>
        <p:nvSpPr>
          <p:cNvPr id="26" name="Oval 25"/>
          <p:cNvSpPr/>
          <p:nvPr/>
        </p:nvSpPr>
        <p:spPr bwMode="auto">
          <a:xfrm>
            <a:off x="3378200" y="4724400"/>
            <a:ext cx="2667000" cy="8382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>
              <a:latin typeface="+mn-lt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2997200" y="4800600"/>
            <a:ext cx="2667000" cy="8382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>
              <a:latin typeface="+mn-lt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2616200" y="4876800"/>
            <a:ext cx="2667000" cy="8382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Pathways/</a:t>
            </a:r>
            <a:br>
              <a:rPr lang="en-US" sz="2400">
                <a:latin typeface="+mn-lt"/>
              </a:rPr>
            </a:br>
            <a:r>
              <a:rPr lang="en-US" sz="2400">
                <a:latin typeface="+mn-lt"/>
              </a:rPr>
              <a:t>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800" y="2667000"/>
            <a:ext cx="1638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n-lt"/>
              </a:rPr>
              <a:t>Particulars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54200" y="3048000"/>
            <a:ext cx="1638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n-lt"/>
              </a:rPr>
              <a:t>Particulars</a:t>
            </a:r>
          </a:p>
        </p:txBody>
      </p:sp>
      <p:sp>
        <p:nvSpPr>
          <p:cNvPr id="34" name="Oval 33"/>
          <p:cNvSpPr/>
          <p:nvPr/>
        </p:nvSpPr>
        <p:spPr bwMode="auto">
          <a:xfrm>
            <a:off x="939800" y="7391400"/>
            <a:ext cx="2209800" cy="4572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Facts</a:t>
            </a:r>
          </a:p>
        </p:txBody>
      </p:sp>
      <p:sp>
        <p:nvSpPr>
          <p:cNvPr id="36" name="Oval 35"/>
          <p:cNvSpPr/>
          <p:nvPr/>
        </p:nvSpPr>
        <p:spPr bwMode="auto">
          <a:xfrm>
            <a:off x="6426200" y="5029200"/>
            <a:ext cx="2895600" cy="13716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Probablities /  Bayes networks</a:t>
            </a:r>
          </a:p>
        </p:txBody>
      </p:sp>
      <p:sp>
        <p:nvSpPr>
          <p:cNvPr id="18" name="Oval 17"/>
          <p:cNvSpPr/>
          <p:nvPr/>
        </p:nvSpPr>
        <p:spPr bwMode="auto">
          <a:xfrm>
            <a:off x="6502400" y="5105400"/>
            <a:ext cx="2895600" cy="13716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Probablities /  Bayes networks</a:t>
            </a:r>
          </a:p>
        </p:txBody>
      </p:sp>
      <p:sp>
        <p:nvSpPr>
          <p:cNvPr id="37" name="Oval 36"/>
          <p:cNvSpPr/>
          <p:nvPr/>
        </p:nvSpPr>
        <p:spPr bwMode="auto">
          <a:xfrm>
            <a:off x="1244600" y="6781800"/>
            <a:ext cx="2667000" cy="4572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possibilities</a:t>
            </a:r>
          </a:p>
        </p:txBody>
      </p:sp>
      <p:sp>
        <p:nvSpPr>
          <p:cNvPr id="38" name="Oval 37"/>
          <p:cNvSpPr/>
          <p:nvPr/>
        </p:nvSpPr>
        <p:spPr bwMode="auto">
          <a:xfrm>
            <a:off x="3302000" y="7239000"/>
            <a:ext cx="2667000" cy="457200"/>
          </a:xfrm>
          <a:prstGeom prst="ellipse">
            <a:avLst/>
          </a:prstGeom>
          <a:solidFill>
            <a:srgbClr val="958FD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associations</a:t>
            </a:r>
          </a:p>
        </p:txBody>
      </p:sp>
      <p:sp>
        <p:nvSpPr>
          <p:cNvPr id="39" name="Oval 38"/>
          <p:cNvSpPr/>
          <p:nvPr/>
        </p:nvSpPr>
        <p:spPr bwMode="auto">
          <a:xfrm>
            <a:off x="3606800" y="7772400"/>
            <a:ext cx="2057400" cy="838200"/>
          </a:xfrm>
          <a:prstGeom prst="ellipse">
            <a:avLst/>
          </a:prstGeom>
          <a:solidFill>
            <a:srgbClr val="FFFF9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>
                <a:latin typeface="+mn-lt"/>
              </a:rPr>
              <a:t>Thesauri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3073400" y="8382000"/>
            <a:ext cx="4572000" cy="1295400"/>
          </a:xfrm>
          <a:prstGeom prst="ellipse">
            <a:avLst/>
          </a:prstGeom>
          <a:solidFill>
            <a:srgbClr val="66FF6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400" dirty="0" err="1" smtClean="0">
                <a:latin typeface="+mn-lt"/>
              </a:rPr>
              <a:t>Ontology</a:t>
            </a:r>
            <a:r>
              <a:rPr lang="en-US" sz="2400" baseline="-25000" dirty="0" err="1" smtClean="0">
                <a:latin typeface="+mn-lt"/>
              </a:rPr>
              <a:t>InformationSystems</a:t>
            </a:r>
            <a:r>
              <a:rPr lang="en-US" sz="2400" dirty="0" smtClean="0">
                <a:latin typeface="+mn-lt"/>
              </a:rPr>
              <a:t/>
            </a:r>
            <a:br>
              <a:rPr lang="en-US" sz="2400" dirty="0" smtClean="0">
                <a:latin typeface="+mn-lt"/>
              </a:rPr>
            </a:br>
            <a:endParaRPr lang="en-US" sz="2000" i="1" dirty="0">
              <a:latin typeface="+mn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94775" y="4114800"/>
            <a:ext cx="1552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/>
              <a:t>(Universals)</a:t>
            </a:r>
            <a:endParaRPr lang="en-US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3378200" y="9067800"/>
            <a:ext cx="4089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/>
              <a:t>(definitions &amp; indefeasible statements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919142" y="9255427"/>
            <a:ext cx="18466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Hypotheses / Doctrines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62200"/>
            <a:ext cx="13004800" cy="6870700"/>
          </a:xfrm>
        </p:spPr>
        <p:txBody>
          <a:bodyPr/>
          <a:lstStyle/>
          <a:p>
            <a:pPr marL="520700" indent="-514350">
              <a:buFont typeface="+mj-lt"/>
              <a:buAutoNum type="arabicPeriod"/>
            </a:pPr>
            <a:r>
              <a:rPr lang="en-US" dirty="0"/>
              <a:t>Weak version</a:t>
            </a:r>
          </a:p>
          <a:p>
            <a:pPr lvl="1"/>
            <a:r>
              <a:rPr lang="en-US" dirty="0" err="1"/>
              <a:t>Ontology</a:t>
            </a:r>
            <a:r>
              <a:rPr lang="en-US" baseline="-25000" dirty="0" err="1"/>
              <a:t>Philosophy</a:t>
            </a:r>
            <a:r>
              <a:rPr lang="en-US" dirty="0"/>
              <a:t> has useful insights for </a:t>
            </a:r>
            <a:r>
              <a:rPr lang="en-US" dirty="0" err="1"/>
              <a:t>Ontology</a:t>
            </a:r>
            <a:r>
              <a:rPr lang="en-US" baseline="-25000" dirty="0" err="1"/>
              <a:t>InformationSystems</a:t>
            </a:r>
            <a:endParaRPr lang="en-US" baseline="-25000" dirty="0"/>
          </a:p>
          <a:p>
            <a:pPr lvl="2"/>
            <a:r>
              <a:rPr lang="en-US" dirty="0"/>
              <a:t>It would be surprising if 2500 years of thinking had nothing to offer</a:t>
            </a:r>
            <a:endParaRPr lang="en-US" baseline="-25000" dirty="0"/>
          </a:p>
          <a:p>
            <a:pPr marL="520700" indent="-514350">
              <a:buFont typeface="+mj-lt"/>
              <a:buAutoNum type="arabicPeriod"/>
            </a:pPr>
            <a:r>
              <a:rPr lang="en-US" dirty="0"/>
              <a:t>Strong version</a:t>
            </a:r>
          </a:p>
          <a:p>
            <a:pPr lvl="1"/>
            <a:r>
              <a:rPr lang="en-US" dirty="0" err="1"/>
              <a:t>Ontology</a:t>
            </a:r>
            <a:r>
              <a:rPr lang="en-US" baseline="-25000" dirty="0" err="1"/>
              <a:t>Philosophy</a:t>
            </a:r>
            <a:r>
              <a:rPr lang="en-US" dirty="0"/>
              <a:t> should set the criteria for </a:t>
            </a:r>
            <a:r>
              <a:rPr lang="en-US" dirty="0" err="1"/>
              <a:t>Ontology</a:t>
            </a:r>
            <a:r>
              <a:rPr lang="en-US" baseline="-25000" dirty="0" err="1"/>
              <a:t>InformationSystems</a:t>
            </a:r>
            <a:endParaRPr lang="en-US" baseline="-25000" dirty="0"/>
          </a:p>
          <a:p>
            <a:pPr lvl="2"/>
            <a:r>
              <a:rPr lang="en-US" dirty="0"/>
              <a:t>It would be surprising if thinking from before information systems could be accepted uncritically for information </a:t>
            </a:r>
            <a:r>
              <a:rPr lang="en-US" dirty="0" err="1"/>
              <a:t>sytems</a:t>
            </a:r>
            <a:r>
              <a:rPr lang="en-US" dirty="0"/>
              <a:t> </a:t>
            </a:r>
          </a:p>
          <a:p>
            <a:pPr lvl="2"/>
            <a:endParaRPr lang="en-US" sz="2400" dirty="0">
              <a:solidFill>
                <a:srgbClr val="FFFFFF"/>
              </a:solidFill>
            </a:endParaRPr>
          </a:p>
          <a:p>
            <a:r>
              <a:rPr lang="en-US" dirty="0"/>
              <a:t>Can we find empirical evidence?</a:t>
            </a:r>
            <a:r>
              <a:rPr lang="en-US" dirty="0" smtClean="0"/>
              <a:t> `</a:t>
            </a:r>
            <a:br>
              <a:rPr lang="en-US" dirty="0" smtClean="0"/>
            </a:br>
            <a:r>
              <a:rPr lang="en-US" dirty="0" smtClean="0"/>
              <a:t>Can we find a rational basis of argument?</a:t>
            </a:r>
          </a:p>
          <a:p>
            <a:pPr lvl="1"/>
            <a:r>
              <a:rPr lang="en-US" dirty="0"/>
              <a:t>What would count as evidence</a:t>
            </a:r>
            <a:r>
              <a:rPr lang="en-US" dirty="0" smtClean="0"/>
              <a:t>?  Arguments?</a:t>
            </a:r>
          </a:p>
          <a:p>
            <a:pPr lvl="1"/>
            <a:r>
              <a:rPr lang="en-US" dirty="0"/>
              <a:t>Can we refine the hypotheses?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“Ontology</a:t>
            </a:r>
            <a:r>
              <a:rPr lang="en-US" baseline="-25000"/>
              <a:t>InformationSystems</a:t>
            </a:r>
            <a:r>
              <a:rPr lang="en-US"/>
              <a:t>”</a:t>
            </a:r>
            <a:br>
              <a:rPr lang="en-US"/>
            </a:br>
            <a:r>
              <a:rPr lang="en-US"/>
              <a:t>for purposes of this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905000"/>
            <a:ext cx="12446000" cy="6870700"/>
          </a:xfrm>
        </p:spPr>
        <p:txBody>
          <a:bodyPr/>
          <a:lstStyle/>
          <a:p>
            <a:r>
              <a:rPr lang="en-US" dirty="0"/>
              <a:t>That part of knowledge representation that can be expressed as positive universal statements in </a:t>
            </a:r>
            <a:r>
              <a:rPr lang="en-US" dirty="0" smtClean="0"/>
              <a:t>logic: “∀</a:t>
            </a:r>
            <a:r>
              <a:rPr lang="en-US" dirty="0" err="1"/>
              <a:t>x</a:t>
            </a:r>
            <a:r>
              <a:rPr lang="en-US" dirty="0"/>
              <a:t> . </a:t>
            </a:r>
            <a:r>
              <a:rPr lang="en-US" dirty="0" err="1"/>
              <a:t>C(x</a:t>
            </a:r>
            <a:r>
              <a:rPr lang="en-US" dirty="0"/>
              <a:t>) … </a:t>
            </a:r>
            <a:r>
              <a:rPr lang="en-US" dirty="0" err="1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…”</a:t>
            </a:r>
          </a:p>
          <a:p>
            <a:pPr lvl="1"/>
            <a:r>
              <a:rPr lang="en-US" dirty="0" smtClean="0">
                <a:sym typeface="Wingdings"/>
              </a:rPr>
              <a:t>Often in the form hierarchies of statements: </a:t>
            </a:r>
            <a:br>
              <a:rPr lang="en-US" dirty="0" smtClean="0">
                <a:sym typeface="Wingdings"/>
              </a:rPr>
            </a:br>
            <a:r>
              <a:rPr lang="en-US" dirty="0" smtClean="0">
                <a:sym typeface="Wingdings"/>
              </a:rPr>
              <a:t>	“Cs are kinds of Ds” == “All Cs are Ds”</a:t>
            </a:r>
          </a:p>
          <a:p>
            <a:pPr lvl="1"/>
            <a:r>
              <a:rPr lang="en-US" dirty="0">
                <a:sym typeface="Wingdings"/>
              </a:rPr>
              <a:t>One important subset:  what can be expressed in OWL</a:t>
            </a:r>
            <a:endParaRPr lang="en-US" dirty="0" smtClean="0">
              <a:sym typeface="Wingdings"/>
            </a:endParaRPr>
          </a:p>
          <a:p>
            <a:pPr lvl="2"/>
            <a:r>
              <a:rPr lang="en-US" dirty="0" smtClean="0">
                <a:sym typeface="Wingdings"/>
              </a:rPr>
              <a:t>Other </a:t>
            </a:r>
            <a:r>
              <a:rPr lang="en-US" dirty="0">
                <a:sym typeface="Wingdings"/>
              </a:rPr>
              <a:t>important </a:t>
            </a:r>
            <a:r>
              <a:rPr lang="en-US" dirty="0" smtClean="0">
                <a:sym typeface="Wingdings"/>
              </a:rPr>
              <a:t>subsets:  Less </a:t>
            </a:r>
            <a:r>
              <a:rPr lang="en-US" dirty="0">
                <a:sym typeface="Wingdings"/>
              </a:rPr>
              <a:t>expressive but easier computationally (EL++, </a:t>
            </a:r>
            <a:r>
              <a:rPr lang="en-US" dirty="0" err="1">
                <a:sym typeface="Wingdings"/>
              </a:rPr>
              <a:t>CQs</a:t>
            </a:r>
            <a:r>
              <a:rPr lang="en-US" dirty="0">
                <a:sym typeface="Wingdings"/>
              </a:rPr>
              <a:t>, …</a:t>
            </a:r>
            <a:r>
              <a:rPr lang="en-US" dirty="0" smtClean="0">
                <a:sym typeface="Wingdings"/>
              </a:rPr>
              <a:t>)</a:t>
            </a:r>
          </a:p>
          <a:p>
            <a:r>
              <a:rPr lang="en-US" dirty="0" smtClean="0">
                <a:sym typeface="Wingdings"/>
              </a:rPr>
              <a:t>Linked to language for communication with human users</a:t>
            </a:r>
          </a:p>
          <a:p>
            <a:r>
              <a:rPr lang="en-US" dirty="0" smtClean="0">
                <a:sym typeface="Wingdings"/>
              </a:rPr>
              <a:t>Forms part of a system of “Knowledge Representation”:</a:t>
            </a:r>
          </a:p>
          <a:p>
            <a:pPr lvl="1"/>
            <a:r>
              <a:rPr lang="en-US" dirty="0" smtClean="0">
                <a:sym typeface="Wingdings"/>
              </a:rPr>
              <a:t>Physical </a:t>
            </a:r>
            <a:r>
              <a:rPr lang="en-US" dirty="0">
                <a:sym typeface="Wingdings"/>
              </a:rPr>
              <a:t>symbol systems that</a:t>
            </a:r>
            <a:r>
              <a:rPr lang="en-US" dirty="0" smtClean="0">
                <a:sym typeface="Wingdings"/>
              </a:rPr>
              <a:t> model </a:t>
            </a:r>
            <a:r>
              <a:rPr lang="en-US" dirty="0">
                <a:sym typeface="Wingdings"/>
              </a:rPr>
              <a:t>our knowledge of some topic </a:t>
            </a:r>
            <a:r>
              <a:rPr lang="en-US" sz="2000" dirty="0">
                <a:sym typeface="Wingdings"/>
              </a:rPr>
              <a:t>(after Newell &amp; Simon)</a:t>
            </a:r>
            <a:endParaRPr lang="en-US" dirty="0" smtClean="0">
              <a:sym typeface="Wingdings"/>
            </a:endParaRPr>
          </a:p>
          <a:p>
            <a:pPr lvl="2"/>
            <a:r>
              <a:rPr lang="en-US" dirty="0" smtClean="0"/>
              <a:t>As models, always have limitations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200025"/>
            <a:ext cx="12522199" cy="1473200"/>
          </a:xfrm>
        </p:spPr>
        <p:txBody>
          <a:bodyPr/>
          <a:lstStyle/>
          <a:p>
            <a:r>
              <a:rPr lang="en-US"/>
              <a:t>Exclude artefacts that are not “ontologies”</a:t>
            </a:r>
            <a:br>
              <a:rPr lang="en-US"/>
            </a:br>
            <a:r>
              <a:rPr lang="en-US"/>
              <a:t>…</a:t>
            </a:r>
            <a:r>
              <a:rPr lang="en-US" sz="4000"/>
              <a:t>but have hierarchies &amp; look a bit like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2185988"/>
            <a:ext cx="12750800" cy="7567612"/>
          </a:xfrm>
        </p:spPr>
        <p:txBody>
          <a:bodyPr/>
          <a:lstStyle/>
          <a:p>
            <a:r>
              <a:rPr lang="en-US" dirty="0"/>
              <a:t>Classifications &amp; Groupings – ICD, </a:t>
            </a:r>
            <a:r>
              <a:rPr lang="en-US" dirty="0" err="1"/>
              <a:t>DRGs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Designed for counting / remuneration</a:t>
            </a:r>
          </a:p>
          <a:p>
            <a:r>
              <a:rPr lang="en-US" dirty="0"/>
              <a:t>Thesauri, Library catalogues, SKOS networks (also </a:t>
            </a:r>
            <a:r>
              <a:rPr lang="en-US" dirty="0" err="1"/>
              <a:t>MindMaps</a:t>
            </a:r>
            <a:r>
              <a:rPr lang="en-US" dirty="0"/>
              <a:t>, etc.)</a:t>
            </a:r>
          </a:p>
          <a:p>
            <a:pPr lvl="1"/>
            <a:r>
              <a:rPr lang="en-US" dirty="0" err="1"/>
              <a:t>Desgned</a:t>
            </a:r>
            <a:r>
              <a:rPr lang="en-US" dirty="0"/>
              <a:t> for navigation by human users</a:t>
            </a:r>
          </a:p>
          <a:p>
            <a:r>
              <a:rPr lang="en-US" dirty="0"/>
              <a:t>Lexicons &amp; other Linguistic resources</a:t>
            </a:r>
          </a:p>
          <a:p>
            <a:pPr lvl="1"/>
            <a:r>
              <a:rPr lang="en-US" dirty="0"/>
              <a:t>Designed for language processing (</a:t>
            </a:r>
            <a:r>
              <a:rPr lang="en-US" dirty="0" err="1"/>
              <a:t>WordNet</a:t>
            </a:r>
            <a:r>
              <a:rPr lang="en-US" dirty="0"/>
              <a:t>, UMLS SN, etc.)</a:t>
            </a:r>
          </a:p>
          <a:p>
            <a:pPr lvl="2"/>
            <a:r>
              <a:rPr lang="en-US" dirty="0"/>
              <a:t>Although may be linked to “ontologies” to form “terminologies”</a:t>
            </a:r>
          </a:p>
          <a:p>
            <a:r>
              <a:rPr lang="en-US" dirty="0"/>
              <a:t>Data schemas, structures &amp; databases (UML, etc.)</a:t>
            </a:r>
          </a:p>
          <a:p>
            <a:pPr lvl="1"/>
            <a:r>
              <a:rPr lang="en-US" dirty="0"/>
              <a:t>Information on particulars and how to store it</a:t>
            </a:r>
            <a:endParaRPr lang="en-US" dirty="0" smtClean="0"/>
          </a:p>
          <a:p>
            <a:r>
              <a:rPr lang="en-US" dirty="0" smtClean="0"/>
              <a:t>Other </a:t>
            </a:r>
            <a:r>
              <a:rPr lang="en-US" dirty="0" err="1" smtClean="0"/>
              <a:t>logico</a:t>
            </a:r>
            <a:r>
              <a:rPr lang="en-US" dirty="0" smtClean="0"/>
              <a:t>/mathematical modelling techniques</a:t>
            </a:r>
          </a:p>
          <a:p>
            <a:pPr lvl="1"/>
            <a:r>
              <a:rPr lang="en-US" dirty="0" smtClean="0"/>
              <a:t>Bayesian </a:t>
            </a:r>
            <a:r>
              <a:rPr lang="en-US" dirty="0"/>
              <a:t>networks, neural networks, equation </a:t>
            </a:r>
            <a:r>
              <a:rPr lang="en-US" dirty="0" smtClean="0"/>
              <a:t>systems,…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6273800" cy="1019175"/>
          </a:xfrm>
        </p:spPr>
        <p:txBody>
          <a:bodyPr/>
          <a:lstStyle/>
          <a:p>
            <a:r>
              <a:rPr lang="en-US" dirty="0" smtClean="0"/>
              <a:t>Most common use case: 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B415D-1C16-1C48-8C37-15F215DD8E0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3695"/>
            <a:ext cx="13004800" cy="8863705"/>
          </a:xfrm>
          <a:prstGeom prst="rect">
            <a:avLst/>
          </a:prstGeom>
        </p:spPr>
      </p:pic>
      <p:sp>
        <p:nvSpPr>
          <p:cNvPr id="6" name="Title 4"/>
          <p:cNvSpPr txBox="1">
            <a:spLocks/>
          </p:cNvSpPr>
          <p:nvPr/>
        </p:nvSpPr>
        <p:spPr bwMode="auto">
          <a:xfrm>
            <a:off x="558800" y="7924800"/>
            <a:ext cx="5562600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marL="57150" marR="0" lvl="0" indent="-57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ＭＳ Ｐゴシック" charset="-128"/>
              <a:cs typeface="ＭＳ Ｐゴシック" charset="-128"/>
              <a:sym typeface="Arial" charset="0"/>
            </a:endParaRPr>
          </a:p>
          <a:p>
            <a:pPr marL="57150" marR="0" lvl="0" indent="-57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Data structure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ＭＳ Ｐゴシック" charset="-128"/>
              <a:cs typeface="ＭＳ Ｐゴシック" charset="-128"/>
              <a:sym typeface="Arial" charset="0"/>
            </a:endParaRPr>
          </a:p>
        </p:txBody>
      </p:sp>
      <p:sp>
        <p:nvSpPr>
          <p:cNvPr id="9" name="Title 4"/>
          <p:cNvSpPr txBox="1">
            <a:spLocks/>
          </p:cNvSpPr>
          <p:nvPr/>
        </p:nvSpPr>
        <p:spPr bwMode="auto">
          <a:xfrm>
            <a:off x="7442200" y="0"/>
            <a:ext cx="5562600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marL="57150" marR="0" lvl="0" indent="-57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Ontology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0" y="779071"/>
            <a:ext cx="13055600" cy="8898329"/>
          </a:xfrm>
          <a:prstGeom prst="rect">
            <a:avLst/>
          </a:prstGeom>
        </p:spPr>
      </p:pic>
      <p:sp>
        <p:nvSpPr>
          <p:cNvPr id="115" name="Title 4"/>
          <p:cNvSpPr txBox="1">
            <a:spLocks/>
          </p:cNvSpPr>
          <p:nvPr/>
        </p:nvSpPr>
        <p:spPr bwMode="auto">
          <a:xfrm>
            <a:off x="7442200" y="0"/>
            <a:ext cx="5562600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marL="57150" marR="0" lvl="0" indent="-57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“Ontology”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ＭＳ Ｐゴシック" charset="-128"/>
              <a:cs typeface="ＭＳ Ｐゴシック" charset="-128"/>
              <a:sym typeface="Arial" charset="0"/>
            </a:endParaRPr>
          </a:p>
        </p:txBody>
      </p:sp>
      <p:sp>
        <p:nvSpPr>
          <p:cNvPr id="116" name="Title 4"/>
          <p:cNvSpPr txBox="1">
            <a:spLocks/>
          </p:cNvSpPr>
          <p:nvPr/>
        </p:nvSpPr>
        <p:spPr bwMode="auto">
          <a:xfrm>
            <a:off x="558800" y="7924800"/>
            <a:ext cx="5562600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marL="57150" marR="0" lvl="0" indent="-57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ＭＳ Ｐゴシック" charset="-128"/>
              <a:cs typeface="ＭＳ Ｐゴシック" charset="-128"/>
              <a:sym typeface="Arial" charset="0"/>
            </a:endParaRPr>
          </a:p>
          <a:p>
            <a:pPr marL="57150" marR="0" lvl="0" indent="-57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Data structure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ＭＳ Ｐゴシック" charset="-128"/>
              <a:cs typeface="ＭＳ Ｐゴシック" charset="-128"/>
              <a:sym typeface="Arial" charset="0"/>
            </a:endParaRPr>
          </a:p>
        </p:txBody>
      </p:sp>
      <p:sp>
        <p:nvSpPr>
          <p:cNvPr id="6" name="Title 4"/>
          <p:cNvSpPr txBox="1">
            <a:spLocks/>
          </p:cNvSpPr>
          <p:nvPr/>
        </p:nvSpPr>
        <p:spPr bwMode="auto">
          <a:xfrm>
            <a:off x="0" y="0"/>
            <a:ext cx="6273800" cy="1019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marL="57150" marR="0" lvl="0" indent="-57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Most common use case:  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ＭＳ Ｐゴシック" charset="-128"/>
              <a:cs typeface="ＭＳ Ｐゴシック" charset="-128"/>
              <a:sym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ED24C9B-83C2-154D-8459-71C4AA43E027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25600" y="0"/>
            <a:ext cx="11056937" cy="1473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 pitchFamily="1" charset="-128"/>
                <a:cs typeface="ＭＳ Ｐゴシック" pitchFamily="1" charset="-128"/>
                <a:sym typeface="Arial" pitchFamily="1" charset="0"/>
              </a:rPr>
              <a:t>Why I use </a:t>
            </a:r>
            <a:r>
              <a:rPr lang="en-US" dirty="0" err="1">
                <a:ea typeface="ＭＳ Ｐゴシック" pitchFamily="1" charset="-128"/>
                <a:cs typeface="ＭＳ Ｐゴシック" pitchFamily="1" charset="-128"/>
                <a:sym typeface="Arial" pitchFamily="1" charset="0"/>
              </a:rPr>
              <a:t>DLs</a:t>
            </a:r>
            <a:r>
              <a:rPr lang="en-US" dirty="0">
                <a:ea typeface="ＭＳ Ｐゴシック" pitchFamily="1" charset="-128"/>
                <a:cs typeface="ＭＳ Ｐゴシック" pitchFamily="1" charset="-128"/>
                <a:sym typeface="Arial" pitchFamily="1" charset="0"/>
              </a:rPr>
              <a:t>/OWL for Ontologies in Information Systems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524000"/>
            <a:ext cx="11709400" cy="8763000"/>
          </a:xfrm>
        </p:spPr>
        <p:txBody>
          <a:bodyPr/>
          <a:lstStyle/>
          <a:p>
            <a:pPr eaLnBrk="1" hangingPunct="1"/>
            <a:r>
              <a:rPr lang="en-US" sz="3200" i="1" dirty="0" smtClean="0"/>
              <a:t>Composition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400" dirty="0" smtClean="0"/>
              <a:t> “Burn </a:t>
            </a:r>
            <a:r>
              <a:rPr lang="en-US" sz="2400" i="1" dirty="0" smtClean="0"/>
              <a:t>that </a:t>
            </a:r>
            <a:r>
              <a:rPr lang="en-US" sz="2400" dirty="0" err="1" smtClean="0"/>
              <a:t>has_site</a:t>
            </a:r>
            <a:r>
              <a:rPr lang="en-US" sz="2400" dirty="0" smtClean="0"/>
              <a:t> </a:t>
            </a:r>
            <a:r>
              <a:rPr lang="en-US" sz="2400" i="1" dirty="0" smtClean="0"/>
              <a:t>some </a:t>
            </a:r>
            <a:r>
              <a:rPr lang="en-US" sz="2400" dirty="0" smtClean="0"/>
              <a:t>(Foot </a:t>
            </a:r>
            <a:r>
              <a:rPr lang="en-US" sz="2400" i="1" dirty="0" smtClean="0"/>
              <a:t>that </a:t>
            </a:r>
            <a:r>
              <a:rPr lang="en-US" sz="2400" dirty="0" err="1" smtClean="0"/>
              <a:t>has_laterality</a:t>
            </a:r>
            <a:r>
              <a:rPr lang="en-US" sz="2400" dirty="0" smtClean="0"/>
              <a:t> </a:t>
            </a:r>
            <a:r>
              <a:rPr lang="en-US" sz="2400" i="1" dirty="0" smtClean="0"/>
              <a:t>some </a:t>
            </a:r>
            <a:r>
              <a:rPr lang="en-US" sz="2400" dirty="0" smtClean="0"/>
              <a:t>Left) &amp;</a:t>
            </a:r>
            <a:br>
              <a:rPr lang="en-US" sz="2400" dirty="0" smtClean="0"/>
            </a:br>
            <a:r>
              <a:rPr lang="en-US" sz="2400" dirty="0" smtClean="0"/>
              <a:t>   </a:t>
            </a:r>
            <a:r>
              <a:rPr lang="en-US" sz="2400" dirty="0" err="1" smtClean="0"/>
              <a:t>has_penetration</a:t>
            </a:r>
            <a:r>
              <a:rPr lang="en-US" sz="2400" dirty="0" smtClean="0"/>
              <a:t> </a:t>
            </a:r>
            <a:r>
              <a:rPr lang="en-US" sz="2400" i="1" dirty="0" smtClean="0"/>
              <a:t>some </a:t>
            </a:r>
            <a:r>
              <a:rPr lang="en-US" sz="2400" dirty="0" err="1" smtClean="0"/>
              <a:t>Full_thickness</a:t>
            </a:r>
            <a:r>
              <a:rPr lang="en-US" sz="2400" dirty="0" smtClean="0"/>
              <a:t> &amp;</a:t>
            </a:r>
            <a:br>
              <a:rPr lang="en-US" sz="2400" dirty="0" smtClean="0"/>
            </a:br>
            <a:r>
              <a:rPr lang="en-US" sz="2400" dirty="0" smtClean="0"/>
              <a:t>   </a:t>
            </a:r>
            <a:r>
              <a:rPr lang="en-US" sz="2400" dirty="0" err="1" smtClean="0"/>
              <a:t>has_extent</a:t>
            </a:r>
            <a:r>
              <a:rPr lang="en-US" sz="2400" dirty="0" smtClean="0"/>
              <a:t> …&amp;  … &amp; … &amp; …” </a:t>
            </a:r>
            <a:endParaRPr lang="en-US" sz="3200" dirty="0" smtClean="0"/>
          </a:p>
          <a:p>
            <a:pPr lvl="1" eaLnBrk="1" hangingPunct="1"/>
            <a:r>
              <a:rPr lang="en-US" sz="2400" dirty="0" smtClean="0">
                <a:cs typeface="ＭＳ Ｐゴシック" charset="-128"/>
              </a:rPr>
              <a:t>Avoid combinatorial explosion –</a:t>
            </a:r>
          </a:p>
          <a:p>
            <a:pPr lvl="2" eaLnBrk="1" hangingPunct="1"/>
            <a:r>
              <a:rPr lang="en-US" sz="2000" dirty="0" smtClean="0">
                <a:cs typeface="ＭＳ Ｐゴシック" charset="-128"/>
              </a:rPr>
              <a:t>Smaller terminologies that say more</a:t>
            </a:r>
          </a:p>
          <a:p>
            <a:pPr lvl="2" eaLnBrk="1" hangingPunct="1"/>
            <a:r>
              <a:rPr lang="en-US" sz="2000" dirty="0" smtClean="0">
                <a:cs typeface="ＭＳ Ｐゴシック" charset="-128"/>
              </a:rPr>
              <a:t>Support for expressions as well as names (“post-coordination”)</a:t>
            </a:r>
          </a:p>
          <a:p>
            <a:pPr lvl="1" eaLnBrk="1" hangingPunct="1"/>
            <a:r>
              <a:rPr lang="en-US" sz="2400" dirty="0" smtClean="0">
                <a:cs typeface="ＭＳ Ｐゴシック" charset="-128"/>
              </a:rPr>
              <a:t>Express context</a:t>
            </a:r>
          </a:p>
          <a:p>
            <a:pPr lvl="2" eaLnBrk="1" hangingPunct="1"/>
            <a:r>
              <a:rPr lang="en-US" sz="2000" dirty="0" smtClean="0">
                <a:cs typeface="ＭＳ Ｐゴシック" charset="-128"/>
              </a:rPr>
              <a:t>The “size of elephants” </a:t>
            </a:r>
            <a:r>
              <a:rPr lang="en-US" sz="2000" dirty="0" err="1" smtClean="0">
                <a:cs typeface="ＭＳ Ｐゴシック" charset="-128"/>
              </a:rPr>
              <a:t>vs</a:t>
            </a:r>
            <a:r>
              <a:rPr lang="en-US" sz="2000" dirty="0" smtClean="0">
                <a:cs typeface="ＭＳ Ｐゴシック" charset="-128"/>
              </a:rPr>
              <a:t> the “size of mice”</a:t>
            </a:r>
          </a:p>
          <a:p>
            <a:pPr lvl="1" eaLnBrk="1" hangingPunct="1"/>
            <a:r>
              <a:rPr lang="en-US" sz="2400" dirty="0" smtClean="0">
                <a:cs typeface="ＭＳ Ｐゴシック" charset="-128"/>
              </a:rPr>
              <a:t>Coordinate hierarchies and index information, e.g. hierarchies for:</a:t>
            </a:r>
          </a:p>
          <a:p>
            <a:pPr lvl="2" eaLnBrk="1" hangingPunct="1"/>
            <a:r>
              <a:rPr lang="en-US" sz="2000" dirty="0" smtClean="0">
                <a:cs typeface="ＭＳ Ｐゴシック" charset="-128"/>
              </a:rPr>
              <a:t>“</a:t>
            </a:r>
            <a:r>
              <a:rPr lang="en-US" sz="2000" dirty="0" err="1" smtClean="0">
                <a:cs typeface="ＭＳ Ｐゴシック" charset="-128"/>
              </a:rPr>
              <a:t>Cancer”,”Family</a:t>
            </a:r>
            <a:r>
              <a:rPr lang="en-US" sz="2000" dirty="0" smtClean="0">
                <a:cs typeface="ＭＳ Ｐゴシック" charset="-128"/>
              </a:rPr>
              <a:t> history of cancer”,  “Treatment of cancer”, “Risk of cancer”, “Data structure for cancer”, “Data entry form for cancer”,  “Pointer to rules for Cancer”,   …</a:t>
            </a:r>
          </a:p>
          <a:p>
            <a:pPr lvl="1" eaLnBrk="1" hangingPunct="1"/>
            <a:r>
              <a:rPr lang="en-US" sz="2600" dirty="0" smtClean="0"/>
              <a:t>How else to get it correct?</a:t>
            </a:r>
          </a:p>
          <a:p>
            <a:pPr eaLnBrk="1" hangingPunct="1"/>
            <a:r>
              <a:rPr lang="en-US" sz="3200" dirty="0" smtClean="0"/>
              <a:t>Quality assurance</a:t>
            </a:r>
          </a:p>
          <a:p>
            <a:pPr eaLnBrk="1" hangingPunct="1"/>
            <a:r>
              <a:rPr lang="en-US" sz="3200" dirty="0" smtClean="0"/>
              <a:t>Computational tractability</a:t>
            </a:r>
          </a:p>
          <a:p>
            <a:pPr eaLnBrk="1" hangingPunct="1"/>
            <a:r>
              <a:rPr lang="en-US" sz="3200" dirty="0" smtClean="0"/>
              <a:t>A standard</a:t>
            </a:r>
          </a:p>
          <a:p>
            <a:pPr lvl="1" eaLnBrk="1" hangingPunct="1">
              <a:buNone/>
            </a:pPr>
            <a:endParaRPr lang="en-US" sz="2600" dirty="0" smtClean="0"/>
          </a:p>
          <a:p>
            <a:pPr lvl="2" eaLnBrk="1" hangingPunct="1">
              <a:buFont typeface="Arial" charset="0"/>
              <a:buNone/>
            </a:pPr>
            <a:endParaRPr lang="en-US" dirty="0" smtClean="0">
              <a:cs typeface="ＭＳ Ｐゴシック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8102FA7-682E-654B-B392-314B39AA8939}" type="slidenum">
              <a:rPr lang="en-GB"/>
              <a:pPr/>
              <a:t>16</a:t>
            </a:fld>
            <a:endParaRPr lang="en-GB"/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484688" y="204788"/>
            <a:ext cx="7545387" cy="1625600"/>
          </a:xfrm>
        </p:spPr>
        <p:txBody>
          <a:bodyPr/>
          <a:lstStyle/>
          <a:p>
            <a:pPr>
              <a:defRPr/>
            </a:pPr>
            <a:r>
              <a:rPr lang="en-GB" sz="3400"/>
              <a:t>Composition:</a:t>
            </a:r>
            <a:br>
              <a:rPr lang="en-GB" sz="3400"/>
            </a:br>
            <a:r>
              <a:rPr lang="en-GB" sz="3400"/>
              <a:t>Building with “Conceptual Lego”</a:t>
            </a:r>
            <a:br>
              <a:rPr lang="en-GB" sz="3400"/>
            </a:br>
            <a:r>
              <a:rPr lang="en-GB" sz="3400"/>
              <a:t>Parallel families of hierarchies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17525" y="1084263"/>
            <a:ext cx="1023938" cy="1920875"/>
            <a:chOff x="901" y="1536"/>
            <a:chExt cx="454" cy="851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912" y="1536"/>
              <a:ext cx="443" cy="453"/>
              <a:chOff x="666" y="2634"/>
              <a:chExt cx="462" cy="510"/>
            </a:xfrm>
          </p:grpSpPr>
          <p:sp>
            <p:nvSpPr>
              <p:cNvPr id="39040" name="Line 5"/>
              <p:cNvSpPr>
                <a:spLocks noChangeShapeType="1"/>
              </p:cNvSpPr>
              <p:nvPr/>
            </p:nvSpPr>
            <p:spPr bwMode="auto">
              <a:xfrm flipH="1">
                <a:off x="894" y="2634"/>
                <a:ext cx="6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41" name="Line 6"/>
              <p:cNvSpPr>
                <a:spLocks noChangeShapeType="1"/>
              </p:cNvSpPr>
              <p:nvPr/>
            </p:nvSpPr>
            <p:spPr bwMode="auto">
              <a:xfrm flipH="1">
                <a:off x="708" y="2652"/>
                <a:ext cx="186" cy="438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42" name="Line 7"/>
              <p:cNvSpPr>
                <a:spLocks noChangeShapeType="1"/>
              </p:cNvSpPr>
              <p:nvPr/>
            </p:nvSpPr>
            <p:spPr bwMode="auto">
              <a:xfrm>
                <a:off x="900" y="2670"/>
                <a:ext cx="102" cy="420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43" name="Line 8"/>
              <p:cNvSpPr>
                <a:spLocks noChangeShapeType="1"/>
              </p:cNvSpPr>
              <p:nvPr/>
            </p:nvSpPr>
            <p:spPr bwMode="auto">
              <a:xfrm>
                <a:off x="912" y="2658"/>
                <a:ext cx="168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44" name="Oval 9"/>
              <p:cNvSpPr>
                <a:spLocks noChangeArrowheads="1"/>
              </p:cNvSpPr>
              <p:nvPr/>
            </p:nvSpPr>
            <p:spPr bwMode="auto">
              <a:xfrm>
                <a:off x="1044" y="3060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45" name="Oval 10"/>
              <p:cNvSpPr>
                <a:spLocks noChangeArrowheads="1"/>
              </p:cNvSpPr>
              <p:nvPr/>
            </p:nvSpPr>
            <p:spPr bwMode="auto">
              <a:xfrm>
                <a:off x="942" y="3024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46" name="Oval 11"/>
              <p:cNvSpPr>
                <a:spLocks noChangeArrowheads="1"/>
              </p:cNvSpPr>
              <p:nvPr/>
            </p:nvSpPr>
            <p:spPr bwMode="auto">
              <a:xfrm>
                <a:off x="84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47" name="Oval 12"/>
              <p:cNvSpPr>
                <a:spLocks noChangeArrowheads="1"/>
              </p:cNvSpPr>
              <p:nvPr/>
            </p:nvSpPr>
            <p:spPr bwMode="auto">
              <a:xfrm>
                <a:off x="66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901" y="1933"/>
              <a:ext cx="442" cy="454"/>
              <a:chOff x="666" y="2634"/>
              <a:chExt cx="462" cy="510"/>
            </a:xfrm>
          </p:grpSpPr>
          <p:sp>
            <p:nvSpPr>
              <p:cNvPr id="39032" name="Line 14"/>
              <p:cNvSpPr>
                <a:spLocks noChangeShapeType="1"/>
              </p:cNvSpPr>
              <p:nvPr/>
            </p:nvSpPr>
            <p:spPr bwMode="auto">
              <a:xfrm flipH="1">
                <a:off x="894" y="2634"/>
                <a:ext cx="6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33" name="Line 15"/>
              <p:cNvSpPr>
                <a:spLocks noChangeShapeType="1"/>
              </p:cNvSpPr>
              <p:nvPr/>
            </p:nvSpPr>
            <p:spPr bwMode="auto">
              <a:xfrm flipH="1">
                <a:off x="708" y="2652"/>
                <a:ext cx="186" cy="438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34" name="Line 16"/>
              <p:cNvSpPr>
                <a:spLocks noChangeShapeType="1"/>
              </p:cNvSpPr>
              <p:nvPr/>
            </p:nvSpPr>
            <p:spPr bwMode="auto">
              <a:xfrm>
                <a:off x="900" y="2670"/>
                <a:ext cx="102" cy="420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35" name="Line 17"/>
              <p:cNvSpPr>
                <a:spLocks noChangeShapeType="1"/>
              </p:cNvSpPr>
              <p:nvPr/>
            </p:nvSpPr>
            <p:spPr bwMode="auto">
              <a:xfrm>
                <a:off x="912" y="2658"/>
                <a:ext cx="168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36" name="Oval 18"/>
              <p:cNvSpPr>
                <a:spLocks noChangeArrowheads="1"/>
              </p:cNvSpPr>
              <p:nvPr/>
            </p:nvSpPr>
            <p:spPr bwMode="auto">
              <a:xfrm>
                <a:off x="1044" y="3060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37" name="Oval 19"/>
              <p:cNvSpPr>
                <a:spLocks noChangeArrowheads="1"/>
              </p:cNvSpPr>
              <p:nvPr/>
            </p:nvSpPr>
            <p:spPr bwMode="auto">
              <a:xfrm>
                <a:off x="942" y="3024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38" name="Oval 20"/>
              <p:cNvSpPr>
                <a:spLocks noChangeArrowheads="1"/>
              </p:cNvSpPr>
              <p:nvPr/>
            </p:nvSpPr>
            <p:spPr bwMode="auto">
              <a:xfrm>
                <a:off x="84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39" name="Oval 21"/>
              <p:cNvSpPr>
                <a:spLocks noChangeArrowheads="1"/>
              </p:cNvSpPr>
              <p:nvPr/>
            </p:nvSpPr>
            <p:spPr bwMode="auto">
              <a:xfrm>
                <a:off x="66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8917" name="Text Box 22"/>
          <p:cNvSpPr txBox="1">
            <a:spLocks noChangeArrowheads="1"/>
          </p:cNvSpPr>
          <p:nvPr/>
        </p:nvSpPr>
        <p:spPr bwMode="auto">
          <a:xfrm>
            <a:off x="2709863" y="541338"/>
            <a:ext cx="1203325" cy="565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lIns="130046" tIns="65023" rIns="130046" bIns="65023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GB" sz="2800">
                <a:solidFill>
                  <a:srgbClr val="EAEAEA"/>
                </a:solidFill>
              </a:rPr>
              <a:t>Genes</a:t>
            </a:r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2817813" y="1192213"/>
            <a:ext cx="1025525" cy="1920875"/>
            <a:chOff x="901" y="1536"/>
            <a:chExt cx="454" cy="851"/>
          </a:xfrm>
        </p:grpSpPr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912" y="1536"/>
              <a:ext cx="443" cy="453"/>
              <a:chOff x="666" y="2634"/>
              <a:chExt cx="462" cy="510"/>
            </a:xfrm>
          </p:grpSpPr>
          <p:sp>
            <p:nvSpPr>
              <p:cNvPr id="39022" name="Line 25"/>
              <p:cNvSpPr>
                <a:spLocks noChangeShapeType="1"/>
              </p:cNvSpPr>
              <p:nvPr/>
            </p:nvSpPr>
            <p:spPr bwMode="auto">
              <a:xfrm flipH="1">
                <a:off x="894" y="2634"/>
                <a:ext cx="6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23" name="Line 26"/>
              <p:cNvSpPr>
                <a:spLocks noChangeShapeType="1"/>
              </p:cNvSpPr>
              <p:nvPr/>
            </p:nvSpPr>
            <p:spPr bwMode="auto">
              <a:xfrm flipH="1">
                <a:off x="708" y="2652"/>
                <a:ext cx="186" cy="438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24" name="Line 27"/>
              <p:cNvSpPr>
                <a:spLocks noChangeShapeType="1"/>
              </p:cNvSpPr>
              <p:nvPr/>
            </p:nvSpPr>
            <p:spPr bwMode="auto">
              <a:xfrm>
                <a:off x="900" y="2670"/>
                <a:ext cx="102" cy="420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25" name="Line 28"/>
              <p:cNvSpPr>
                <a:spLocks noChangeShapeType="1"/>
              </p:cNvSpPr>
              <p:nvPr/>
            </p:nvSpPr>
            <p:spPr bwMode="auto">
              <a:xfrm>
                <a:off x="912" y="2658"/>
                <a:ext cx="168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26" name="Oval 29"/>
              <p:cNvSpPr>
                <a:spLocks noChangeArrowheads="1"/>
              </p:cNvSpPr>
              <p:nvPr/>
            </p:nvSpPr>
            <p:spPr bwMode="auto">
              <a:xfrm>
                <a:off x="1044" y="3060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27" name="Oval 30"/>
              <p:cNvSpPr>
                <a:spLocks noChangeArrowheads="1"/>
              </p:cNvSpPr>
              <p:nvPr/>
            </p:nvSpPr>
            <p:spPr bwMode="auto">
              <a:xfrm>
                <a:off x="942" y="3024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28" name="Oval 31"/>
              <p:cNvSpPr>
                <a:spLocks noChangeArrowheads="1"/>
              </p:cNvSpPr>
              <p:nvPr/>
            </p:nvSpPr>
            <p:spPr bwMode="auto">
              <a:xfrm>
                <a:off x="84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29" name="Oval 32"/>
              <p:cNvSpPr>
                <a:spLocks noChangeArrowheads="1"/>
              </p:cNvSpPr>
              <p:nvPr/>
            </p:nvSpPr>
            <p:spPr bwMode="auto">
              <a:xfrm>
                <a:off x="66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33"/>
            <p:cNvGrpSpPr>
              <a:grpSpLocks/>
            </p:cNvGrpSpPr>
            <p:nvPr/>
          </p:nvGrpSpPr>
          <p:grpSpPr bwMode="auto">
            <a:xfrm>
              <a:off x="901" y="1933"/>
              <a:ext cx="442" cy="454"/>
              <a:chOff x="666" y="2634"/>
              <a:chExt cx="462" cy="510"/>
            </a:xfrm>
          </p:grpSpPr>
          <p:sp>
            <p:nvSpPr>
              <p:cNvPr id="39014" name="Line 34"/>
              <p:cNvSpPr>
                <a:spLocks noChangeShapeType="1"/>
              </p:cNvSpPr>
              <p:nvPr/>
            </p:nvSpPr>
            <p:spPr bwMode="auto">
              <a:xfrm flipH="1">
                <a:off x="894" y="2634"/>
                <a:ext cx="6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15" name="Line 35"/>
              <p:cNvSpPr>
                <a:spLocks noChangeShapeType="1"/>
              </p:cNvSpPr>
              <p:nvPr/>
            </p:nvSpPr>
            <p:spPr bwMode="auto">
              <a:xfrm flipH="1">
                <a:off x="708" y="2652"/>
                <a:ext cx="186" cy="438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16" name="Line 36"/>
              <p:cNvSpPr>
                <a:spLocks noChangeShapeType="1"/>
              </p:cNvSpPr>
              <p:nvPr/>
            </p:nvSpPr>
            <p:spPr bwMode="auto">
              <a:xfrm>
                <a:off x="900" y="2670"/>
                <a:ext cx="102" cy="420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17" name="Line 37"/>
              <p:cNvSpPr>
                <a:spLocks noChangeShapeType="1"/>
              </p:cNvSpPr>
              <p:nvPr/>
            </p:nvSpPr>
            <p:spPr bwMode="auto">
              <a:xfrm>
                <a:off x="912" y="2658"/>
                <a:ext cx="168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18" name="Oval 38"/>
              <p:cNvSpPr>
                <a:spLocks noChangeArrowheads="1"/>
              </p:cNvSpPr>
              <p:nvPr/>
            </p:nvSpPr>
            <p:spPr bwMode="auto">
              <a:xfrm>
                <a:off x="1044" y="3060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19" name="Oval 39"/>
              <p:cNvSpPr>
                <a:spLocks noChangeArrowheads="1"/>
              </p:cNvSpPr>
              <p:nvPr/>
            </p:nvSpPr>
            <p:spPr bwMode="auto">
              <a:xfrm>
                <a:off x="942" y="3024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20" name="Oval 40"/>
              <p:cNvSpPr>
                <a:spLocks noChangeArrowheads="1"/>
              </p:cNvSpPr>
              <p:nvPr/>
            </p:nvSpPr>
            <p:spPr bwMode="auto">
              <a:xfrm>
                <a:off x="84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21" name="Oval 41"/>
              <p:cNvSpPr>
                <a:spLocks noChangeArrowheads="1"/>
              </p:cNvSpPr>
              <p:nvPr/>
            </p:nvSpPr>
            <p:spPr bwMode="auto">
              <a:xfrm>
                <a:off x="66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8919" name="Text Box 42"/>
          <p:cNvSpPr txBox="1">
            <a:spLocks noChangeArrowheads="1"/>
          </p:cNvSpPr>
          <p:nvPr/>
        </p:nvSpPr>
        <p:spPr bwMode="auto">
          <a:xfrm>
            <a:off x="541338" y="433388"/>
            <a:ext cx="1163637" cy="485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lIns="130046" tIns="65023" rIns="130046" bIns="65023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GB" sz="2300">
                <a:solidFill>
                  <a:srgbClr val="EAEAEA"/>
                </a:solidFill>
              </a:rPr>
              <a:t>Species</a:t>
            </a:r>
          </a:p>
        </p:txBody>
      </p: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4659313" y="1843088"/>
            <a:ext cx="1111250" cy="2570162"/>
            <a:chOff x="2640" y="1200"/>
            <a:chExt cx="492" cy="1139"/>
          </a:xfrm>
        </p:grpSpPr>
        <p:grpSp>
          <p:nvGrpSpPr>
            <p:cNvPr id="9" name="Group 44"/>
            <p:cNvGrpSpPr>
              <a:grpSpLocks/>
            </p:cNvGrpSpPr>
            <p:nvPr/>
          </p:nvGrpSpPr>
          <p:grpSpPr bwMode="auto">
            <a:xfrm>
              <a:off x="2640" y="1488"/>
              <a:ext cx="454" cy="851"/>
              <a:chOff x="901" y="1536"/>
              <a:chExt cx="454" cy="851"/>
            </a:xfrm>
          </p:grpSpPr>
          <p:grpSp>
            <p:nvGrpSpPr>
              <p:cNvPr id="10" name="Group 45"/>
              <p:cNvGrpSpPr>
                <a:grpSpLocks/>
              </p:cNvGrpSpPr>
              <p:nvPr/>
            </p:nvGrpSpPr>
            <p:grpSpPr bwMode="auto">
              <a:xfrm>
                <a:off x="912" y="1536"/>
                <a:ext cx="443" cy="453"/>
                <a:chOff x="666" y="2634"/>
                <a:chExt cx="462" cy="510"/>
              </a:xfrm>
            </p:grpSpPr>
            <p:sp>
              <p:nvSpPr>
                <p:cNvPr id="39004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894" y="2634"/>
                  <a:ext cx="6" cy="444"/>
                </a:xfrm>
                <a:prstGeom prst="line">
                  <a:avLst/>
                </a:prstGeom>
                <a:noFill/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05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708" y="2652"/>
                  <a:ext cx="186" cy="438"/>
                </a:xfrm>
                <a:prstGeom prst="line">
                  <a:avLst/>
                </a:prstGeom>
                <a:noFill/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06" name="Line 48"/>
                <p:cNvSpPr>
                  <a:spLocks noChangeShapeType="1"/>
                </p:cNvSpPr>
                <p:nvPr/>
              </p:nvSpPr>
              <p:spPr bwMode="auto">
                <a:xfrm>
                  <a:off x="900" y="2670"/>
                  <a:ext cx="102" cy="420"/>
                </a:xfrm>
                <a:prstGeom prst="line">
                  <a:avLst/>
                </a:prstGeom>
                <a:noFill/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07" name="Line 49"/>
                <p:cNvSpPr>
                  <a:spLocks noChangeShapeType="1"/>
                </p:cNvSpPr>
                <p:nvPr/>
              </p:nvSpPr>
              <p:spPr bwMode="auto">
                <a:xfrm>
                  <a:off x="912" y="2658"/>
                  <a:ext cx="168" cy="444"/>
                </a:xfrm>
                <a:prstGeom prst="line">
                  <a:avLst/>
                </a:prstGeom>
                <a:noFill/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08" name="Oval 50"/>
                <p:cNvSpPr>
                  <a:spLocks noChangeArrowheads="1"/>
                </p:cNvSpPr>
                <p:nvPr/>
              </p:nvSpPr>
              <p:spPr bwMode="auto">
                <a:xfrm>
                  <a:off x="1044" y="3060"/>
                  <a:ext cx="84" cy="8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09" name="Oval 51"/>
                <p:cNvSpPr>
                  <a:spLocks noChangeArrowheads="1"/>
                </p:cNvSpPr>
                <p:nvPr/>
              </p:nvSpPr>
              <p:spPr bwMode="auto">
                <a:xfrm>
                  <a:off x="942" y="3024"/>
                  <a:ext cx="84" cy="8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10" name="Oval 52"/>
                <p:cNvSpPr>
                  <a:spLocks noChangeArrowheads="1"/>
                </p:cNvSpPr>
                <p:nvPr/>
              </p:nvSpPr>
              <p:spPr bwMode="auto">
                <a:xfrm>
                  <a:off x="846" y="3048"/>
                  <a:ext cx="84" cy="8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11" name="Oval 53"/>
                <p:cNvSpPr>
                  <a:spLocks noChangeArrowheads="1"/>
                </p:cNvSpPr>
                <p:nvPr/>
              </p:nvSpPr>
              <p:spPr bwMode="auto">
                <a:xfrm>
                  <a:off x="666" y="3048"/>
                  <a:ext cx="84" cy="8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54"/>
              <p:cNvGrpSpPr>
                <a:grpSpLocks/>
              </p:cNvGrpSpPr>
              <p:nvPr/>
            </p:nvGrpSpPr>
            <p:grpSpPr bwMode="auto">
              <a:xfrm>
                <a:off x="901" y="1933"/>
                <a:ext cx="442" cy="454"/>
                <a:chOff x="666" y="2634"/>
                <a:chExt cx="462" cy="510"/>
              </a:xfrm>
            </p:grpSpPr>
            <p:sp>
              <p:nvSpPr>
                <p:cNvPr id="38996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894" y="2634"/>
                  <a:ext cx="6" cy="444"/>
                </a:xfrm>
                <a:prstGeom prst="line">
                  <a:avLst/>
                </a:prstGeom>
                <a:noFill/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97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708" y="2652"/>
                  <a:ext cx="186" cy="438"/>
                </a:xfrm>
                <a:prstGeom prst="line">
                  <a:avLst/>
                </a:prstGeom>
                <a:noFill/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98" name="Line 57"/>
                <p:cNvSpPr>
                  <a:spLocks noChangeShapeType="1"/>
                </p:cNvSpPr>
                <p:nvPr/>
              </p:nvSpPr>
              <p:spPr bwMode="auto">
                <a:xfrm>
                  <a:off x="900" y="2670"/>
                  <a:ext cx="102" cy="420"/>
                </a:xfrm>
                <a:prstGeom prst="line">
                  <a:avLst/>
                </a:prstGeom>
                <a:noFill/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99" name="Line 58"/>
                <p:cNvSpPr>
                  <a:spLocks noChangeShapeType="1"/>
                </p:cNvSpPr>
                <p:nvPr/>
              </p:nvSpPr>
              <p:spPr bwMode="auto">
                <a:xfrm>
                  <a:off x="912" y="2658"/>
                  <a:ext cx="168" cy="444"/>
                </a:xfrm>
                <a:prstGeom prst="line">
                  <a:avLst/>
                </a:prstGeom>
                <a:noFill/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00" name="Oval 59"/>
                <p:cNvSpPr>
                  <a:spLocks noChangeArrowheads="1"/>
                </p:cNvSpPr>
                <p:nvPr/>
              </p:nvSpPr>
              <p:spPr bwMode="auto">
                <a:xfrm>
                  <a:off x="1044" y="3060"/>
                  <a:ext cx="84" cy="8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01" name="Oval 60"/>
                <p:cNvSpPr>
                  <a:spLocks noChangeArrowheads="1"/>
                </p:cNvSpPr>
                <p:nvPr/>
              </p:nvSpPr>
              <p:spPr bwMode="auto">
                <a:xfrm>
                  <a:off x="942" y="3024"/>
                  <a:ext cx="84" cy="8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02" name="Oval 61"/>
                <p:cNvSpPr>
                  <a:spLocks noChangeArrowheads="1"/>
                </p:cNvSpPr>
                <p:nvPr/>
              </p:nvSpPr>
              <p:spPr bwMode="auto">
                <a:xfrm>
                  <a:off x="846" y="3048"/>
                  <a:ext cx="84" cy="8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03" name="Oval 62"/>
                <p:cNvSpPr>
                  <a:spLocks noChangeArrowheads="1"/>
                </p:cNvSpPr>
                <p:nvPr/>
              </p:nvSpPr>
              <p:spPr bwMode="auto">
                <a:xfrm>
                  <a:off x="666" y="3048"/>
                  <a:ext cx="84" cy="8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38993" name="Text Box 63"/>
            <p:cNvSpPr txBox="1">
              <a:spLocks noChangeArrowheads="1"/>
            </p:cNvSpPr>
            <p:nvPr/>
          </p:nvSpPr>
          <p:spPr bwMode="auto">
            <a:xfrm>
              <a:off x="2670" y="1200"/>
              <a:ext cx="462" cy="19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GB" sz="2300">
                  <a:solidFill>
                    <a:srgbClr val="EAEAEA"/>
                  </a:solidFill>
                </a:rPr>
                <a:t>Protein</a:t>
              </a:r>
            </a:p>
          </p:txBody>
        </p:sp>
      </p:grpSp>
      <p:grpSp>
        <p:nvGrpSpPr>
          <p:cNvPr id="12" name="Group 64"/>
          <p:cNvGrpSpPr>
            <a:grpSpLocks/>
          </p:cNvGrpSpPr>
          <p:nvPr/>
        </p:nvGrpSpPr>
        <p:grpSpPr bwMode="auto">
          <a:xfrm>
            <a:off x="5851525" y="3792538"/>
            <a:ext cx="1025525" cy="1922462"/>
            <a:chOff x="901" y="1536"/>
            <a:chExt cx="454" cy="851"/>
          </a:xfrm>
        </p:grpSpPr>
        <p:grpSp>
          <p:nvGrpSpPr>
            <p:cNvPr id="13" name="Group 65"/>
            <p:cNvGrpSpPr>
              <a:grpSpLocks/>
            </p:cNvGrpSpPr>
            <p:nvPr/>
          </p:nvGrpSpPr>
          <p:grpSpPr bwMode="auto">
            <a:xfrm>
              <a:off x="912" y="1536"/>
              <a:ext cx="443" cy="453"/>
              <a:chOff x="666" y="2634"/>
              <a:chExt cx="462" cy="510"/>
            </a:xfrm>
          </p:grpSpPr>
          <p:sp>
            <p:nvSpPr>
              <p:cNvPr id="38984" name="Line 66"/>
              <p:cNvSpPr>
                <a:spLocks noChangeShapeType="1"/>
              </p:cNvSpPr>
              <p:nvPr/>
            </p:nvSpPr>
            <p:spPr bwMode="auto">
              <a:xfrm flipH="1">
                <a:off x="894" y="2634"/>
                <a:ext cx="6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85" name="Line 67"/>
              <p:cNvSpPr>
                <a:spLocks noChangeShapeType="1"/>
              </p:cNvSpPr>
              <p:nvPr/>
            </p:nvSpPr>
            <p:spPr bwMode="auto">
              <a:xfrm flipH="1">
                <a:off x="708" y="2652"/>
                <a:ext cx="186" cy="438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86" name="Line 68"/>
              <p:cNvSpPr>
                <a:spLocks noChangeShapeType="1"/>
              </p:cNvSpPr>
              <p:nvPr/>
            </p:nvSpPr>
            <p:spPr bwMode="auto">
              <a:xfrm>
                <a:off x="900" y="2670"/>
                <a:ext cx="102" cy="420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87" name="Line 69"/>
              <p:cNvSpPr>
                <a:spLocks noChangeShapeType="1"/>
              </p:cNvSpPr>
              <p:nvPr/>
            </p:nvSpPr>
            <p:spPr bwMode="auto">
              <a:xfrm>
                <a:off x="912" y="2658"/>
                <a:ext cx="168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88" name="Oval 70"/>
              <p:cNvSpPr>
                <a:spLocks noChangeArrowheads="1"/>
              </p:cNvSpPr>
              <p:nvPr/>
            </p:nvSpPr>
            <p:spPr bwMode="auto">
              <a:xfrm>
                <a:off x="1044" y="3060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89" name="Oval 71"/>
              <p:cNvSpPr>
                <a:spLocks noChangeArrowheads="1"/>
              </p:cNvSpPr>
              <p:nvPr/>
            </p:nvSpPr>
            <p:spPr bwMode="auto">
              <a:xfrm>
                <a:off x="942" y="3024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90" name="Oval 72"/>
              <p:cNvSpPr>
                <a:spLocks noChangeArrowheads="1"/>
              </p:cNvSpPr>
              <p:nvPr/>
            </p:nvSpPr>
            <p:spPr bwMode="auto">
              <a:xfrm>
                <a:off x="84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91" name="Oval 73"/>
              <p:cNvSpPr>
                <a:spLocks noChangeArrowheads="1"/>
              </p:cNvSpPr>
              <p:nvPr/>
            </p:nvSpPr>
            <p:spPr bwMode="auto">
              <a:xfrm>
                <a:off x="66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74"/>
            <p:cNvGrpSpPr>
              <a:grpSpLocks/>
            </p:cNvGrpSpPr>
            <p:nvPr/>
          </p:nvGrpSpPr>
          <p:grpSpPr bwMode="auto">
            <a:xfrm>
              <a:off x="901" y="1933"/>
              <a:ext cx="442" cy="454"/>
              <a:chOff x="666" y="2634"/>
              <a:chExt cx="462" cy="510"/>
            </a:xfrm>
          </p:grpSpPr>
          <p:sp>
            <p:nvSpPr>
              <p:cNvPr id="38976" name="Line 75"/>
              <p:cNvSpPr>
                <a:spLocks noChangeShapeType="1"/>
              </p:cNvSpPr>
              <p:nvPr/>
            </p:nvSpPr>
            <p:spPr bwMode="auto">
              <a:xfrm flipH="1">
                <a:off x="894" y="2634"/>
                <a:ext cx="6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77" name="Line 76"/>
              <p:cNvSpPr>
                <a:spLocks noChangeShapeType="1"/>
              </p:cNvSpPr>
              <p:nvPr/>
            </p:nvSpPr>
            <p:spPr bwMode="auto">
              <a:xfrm flipH="1">
                <a:off x="708" y="2652"/>
                <a:ext cx="186" cy="438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78" name="Line 77"/>
              <p:cNvSpPr>
                <a:spLocks noChangeShapeType="1"/>
              </p:cNvSpPr>
              <p:nvPr/>
            </p:nvSpPr>
            <p:spPr bwMode="auto">
              <a:xfrm>
                <a:off x="900" y="2670"/>
                <a:ext cx="102" cy="420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79" name="Line 78"/>
              <p:cNvSpPr>
                <a:spLocks noChangeShapeType="1"/>
              </p:cNvSpPr>
              <p:nvPr/>
            </p:nvSpPr>
            <p:spPr bwMode="auto">
              <a:xfrm>
                <a:off x="912" y="2658"/>
                <a:ext cx="168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80" name="Oval 79"/>
              <p:cNvSpPr>
                <a:spLocks noChangeArrowheads="1"/>
              </p:cNvSpPr>
              <p:nvPr/>
            </p:nvSpPr>
            <p:spPr bwMode="auto">
              <a:xfrm>
                <a:off x="1044" y="3060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81" name="Oval 80"/>
              <p:cNvSpPr>
                <a:spLocks noChangeArrowheads="1"/>
              </p:cNvSpPr>
              <p:nvPr/>
            </p:nvSpPr>
            <p:spPr bwMode="auto">
              <a:xfrm>
                <a:off x="942" y="3024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82" name="Oval 81"/>
              <p:cNvSpPr>
                <a:spLocks noChangeArrowheads="1"/>
              </p:cNvSpPr>
              <p:nvPr/>
            </p:nvSpPr>
            <p:spPr bwMode="auto">
              <a:xfrm>
                <a:off x="84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83" name="Oval 82"/>
              <p:cNvSpPr>
                <a:spLocks noChangeArrowheads="1"/>
              </p:cNvSpPr>
              <p:nvPr/>
            </p:nvSpPr>
            <p:spPr bwMode="auto">
              <a:xfrm>
                <a:off x="66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5" name="Group 83"/>
          <p:cNvGrpSpPr>
            <a:grpSpLocks/>
          </p:cNvGrpSpPr>
          <p:nvPr/>
        </p:nvGrpSpPr>
        <p:grpSpPr bwMode="auto">
          <a:xfrm>
            <a:off x="7272338" y="5094288"/>
            <a:ext cx="1025525" cy="1920875"/>
            <a:chOff x="901" y="1536"/>
            <a:chExt cx="454" cy="851"/>
          </a:xfrm>
        </p:grpSpPr>
        <p:grpSp>
          <p:nvGrpSpPr>
            <p:cNvPr id="16" name="Group 84"/>
            <p:cNvGrpSpPr>
              <a:grpSpLocks/>
            </p:cNvGrpSpPr>
            <p:nvPr/>
          </p:nvGrpSpPr>
          <p:grpSpPr bwMode="auto">
            <a:xfrm>
              <a:off x="912" y="1536"/>
              <a:ext cx="443" cy="453"/>
              <a:chOff x="666" y="2634"/>
              <a:chExt cx="462" cy="510"/>
            </a:xfrm>
          </p:grpSpPr>
          <p:sp>
            <p:nvSpPr>
              <p:cNvPr id="38966" name="Line 85"/>
              <p:cNvSpPr>
                <a:spLocks noChangeShapeType="1"/>
              </p:cNvSpPr>
              <p:nvPr/>
            </p:nvSpPr>
            <p:spPr bwMode="auto">
              <a:xfrm flipH="1">
                <a:off x="894" y="2634"/>
                <a:ext cx="6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67" name="Line 86"/>
              <p:cNvSpPr>
                <a:spLocks noChangeShapeType="1"/>
              </p:cNvSpPr>
              <p:nvPr/>
            </p:nvSpPr>
            <p:spPr bwMode="auto">
              <a:xfrm flipH="1">
                <a:off x="708" y="2652"/>
                <a:ext cx="186" cy="438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68" name="Line 87"/>
              <p:cNvSpPr>
                <a:spLocks noChangeShapeType="1"/>
              </p:cNvSpPr>
              <p:nvPr/>
            </p:nvSpPr>
            <p:spPr bwMode="auto">
              <a:xfrm>
                <a:off x="900" y="2670"/>
                <a:ext cx="102" cy="420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69" name="Line 88"/>
              <p:cNvSpPr>
                <a:spLocks noChangeShapeType="1"/>
              </p:cNvSpPr>
              <p:nvPr/>
            </p:nvSpPr>
            <p:spPr bwMode="auto">
              <a:xfrm>
                <a:off x="912" y="2658"/>
                <a:ext cx="168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70" name="Oval 89"/>
              <p:cNvSpPr>
                <a:spLocks noChangeArrowheads="1"/>
              </p:cNvSpPr>
              <p:nvPr/>
            </p:nvSpPr>
            <p:spPr bwMode="auto">
              <a:xfrm>
                <a:off x="1044" y="3060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71" name="Oval 90"/>
              <p:cNvSpPr>
                <a:spLocks noChangeArrowheads="1"/>
              </p:cNvSpPr>
              <p:nvPr/>
            </p:nvSpPr>
            <p:spPr bwMode="auto">
              <a:xfrm>
                <a:off x="942" y="3024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72" name="Oval 91"/>
              <p:cNvSpPr>
                <a:spLocks noChangeArrowheads="1"/>
              </p:cNvSpPr>
              <p:nvPr/>
            </p:nvSpPr>
            <p:spPr bwMode="auto">
              <a:xfrm>
                <a:off x="84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73" name="Oval 92"/>
              <p:cNvSpPr>
                <a:spLocks noChangeArrowheads="1"/>
              </p:cNvSpPr>
              <p:nvPr/>
            </p:nvSpPr>
            <p:spPr bwMode="auto">
              <a:xfrm>
                <a:off x="66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7" name="Group 93"/>
            <p:cNvGrpSpPr>
              <a:grpSpLocks/>
            </p:cNvGrpSpPr>
            <p:nvPr/>
          </p:nvGrpSpPr>
          <p:grpSpPr bwMode="auto">
            <a:xfrm>
              <a:off x="901" y="1933"/>
              <a:ext cx="442" cy="454"/>
              <a:chOff x="666" y="2634"/>
              <a:chExt cx="462" cy="510"/>
            </a:xfrm>
          </p:grpSpPr>
          <p:sp>
            <p:nvSpPr>
              <p:cNvPr id="38958" name="Line 94"/>
              <p:cNvSpPr>
                <a:spLocks noChangeShapeType="1"/>
              </p:cNvSpPr>
              <p:nvPr/>
            </p:nvSpPr>
            <p:spPr bwMode="auto">
              <a:xfrm flipH="1">
                <a:off x="894" y="2634"/>
                <a:ext cx="6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59" name="Line 95"/>
              <p:cNvSpPr>
                <a:spLocks noChangeShapeType="1"/>
              </p:cNvSpPr>
              <p:nvPr/>
            </p:nvSpPr>
            <p:spPr bwMode="auto">
              <a:xfrm flipH="1">
                <a:off x="708" y="2652"/>
                <a:ext cx="186" cy="438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60" name="Line 96"/>
              <p:cNvSpPr>
                <a:spLocks noChangeShapeType="1"/>
              </p:cNvSpPr>
              <p:nvPr/>
            </p:nvSpPr>
            <p:spPr bwMode="auto">
              <a:xfrm>
                <a:off x="900" y="2670"/>
                <a:ext cx="102" cy="420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61" name="Line 97"/>
              <p:cNvSpPr>
                <a:spLocks noChangeShapeType="1"/>
              </p:cNvSpPr>
              <p:nvPr/>
            </p:nvSpPr>
            <p:spPr bwMode="auto">
              <a:xfrm>
                <a:off x="912" y="2658"/>
                <a:ext cx="168" cy="444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62" name="Oval 98"/>
              <p:cNvSpPr>
                <a:spLocks noChangeArrowheads="1"/>
              </p:cNvSpPr>
              <p:nvPr/>
            </p:nvSpPr>
            <p:spPr bwMode="auto">
              <a:xfrm>
                <a:off x="1044" y="3060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63" name="Oval 99"/>
              <p:cNvSpPr>
                <a:spLocks noChangeArrowheads="1"/>
              </p:cNvSpPr>
              <p:nvPr/>
            </p:nvSpPr>
            <p:spPr bwMode="auto">
              <a:xfrm>
                <a:off x="942" y="3024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64" name="Oval 100"/>
              <p:cNvSpPr>
                <a:spLocks noChangeArrowheads="1"/>
              </p:cNvSpPr>
              <p:nvPr/>
            </p:nvSpPr>
            <p:spPr bwMode="auto">
              <a:xfrm>
                <a:off x="84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65" name="Oval 101"/>
              <p:cNvSpPr>
                <a:spLocks noChangeArrowheads="1"/>
              </p:cNvSpPr>
              <p:nvPr/>
            </p:nvSpPr>
            <p:spPr bwMode="auto">
              <a:xfrm>
                <a:off x="666" y="3048"/>
                <a:ext cx="84" cy="84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8923" name="Text Box 102"/>
          <p:cNvSpPr txBox="1">
            <a:spLocks noChangeArrowheads="1"/>
          </p:cNvSpPr>
          <p:nvPr/>
        </p:nvSpPr>
        <p:spPr bwMode="auto">
          <a:xfrm>
            <a:off x="5772150" y="3143250"/>
            <a:ext cx="1314450" cy="484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lIns="130046" tIns="65023" rIns="130046" bIns="65023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GB" sz="2300">
                <a:solidFill>
                  <a:srgbClr val="EAEAEA"/>
                </a:solidFill>
              </a:rPr>
              <a:t>Function</a:t>
            </a:r>
          </a:p>
        </p:txBody>
      </p:sp>
      <p:sp>
        <p:nvSpPr>
          <p:cNvPr id="38924" name="Text Box 103"/>
          <p:cNvSpPr txBox="1">
            <a:spLocks noChangeArrowheads="1"/>
          </p:cNvSpPr>
          <p:nvPr/>
        </p:nvSpPr>
        <p:spPr bwMode="auto">
          <a:xfrm>
            <a:off x="7259638" y="4443413"/>
            <a:ext cx="1181100" cy="485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lIns="130046" tIns="65023" rIns="130046" bIns="65023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GB" sz="2300">
                <a:solidFill>
                  <a:srgbClr val="EAEAEA"/>
                </a:solidFill>
              </a:rPr>
              <a:t>Disease</a:t>
            </a:r>
          </a:p>
        </p:txBody>
      </p:sp>
      <p:grpSp>
        <p:nvGrpSpPr>
          <p:cNvPr id="18" name="Group 104"/>
          <p:cNvGrpSpPr>
            <a:grpSpLocks/>
          </p:cNvGrpSpPr>
          <p:nvPr/>
        </p:nvGrpSpPr>
        <p:grpSpPr bwMode="auto">
          <a:xfrm>
            <a:off x="1512888" y="2709863"/>
            <a:ext cx="3273425" cy="3074987"/>
            <a:chOff x="687" y="1200"/>
            <a:chExt cx="1450" cy="1362"/>
          </a:xfrm>
        </p:grpSpPr>
        <p:grpSp>
          <p:nvGrpSpPr>
            <p:cNvPr id="19" name="Group 105"/>
            <p:cNvGrpSpPr>
              <a:grpSpLocks/>
            </p:cNvGrpSpPr>
            <p:nvPr/>
          </p:nvGrpSpPr>
          <p:grpSpPr bwMode="auto">
            <a:xfrm>
              <a:off x="687" y="1200"/>
              <a:ext cx="1450" cy="1362"/>
              <a:chOff x="687" y="1200"/>
              <a:chExt cx="1450" cy="1362"/>
            </a:xfrm>
          </p:grpSpPr>
          <p:grpSp>
            <p:nvGrpSpPr>
              <p:cNvPr id="20" name="Group 106"/>
              <p:cNvGrpSpPr>
                <a:grpSpLocks/>
              </p:cNvGrpSpPr>
              <p:nvPr/>
            </p:nvGrpSpPr>
            <p:grpSpPr bwMode="auto">
              <a:xfrm>
                <a:off x="687" y="1728"/>
                <a:ext cx="1450" cy="834"/>
                <a:chOff x="639" y="2448"/>
                <a:chExt cx="1450" cy="834"/>
              </a:xfrm>
            </p:grpSpPr>
            <p:sp>
              <p:nvSpPr>
                <p:cNvPr id="38953" name="Line 107"/>
                <p:cNvSpPr>
                  <a:spLocks noChangeShapeType="1"/>
                </p:cNvSpPr>
                <p:nvPr/>
              </p:nvSpPr>
              <p:spPr bwMode="auto">
                <a:xfrm>
                  <a:off x="1543" y="2448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rgbClr val="FF99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54" name="Oval 108"/>
                <p:cNvSpPr>
                  <a:spLocks noChangeArrowheads="1"/>
                </p:cNvSpPr>
                <p:nvPr/>
              </p:nvSpPr>
              <p:spPr bwMode="auto">
                <a:xfrm>
                  <a:off x="1431" y="2784"/>
                  <a:ext cx="224" cy="144"/>
                </a:xfrm>
                <a:prstGeom prst="ellipse">
                  <a:avLst/>
                </a:prstGeom>
                <a:solidFill>
                  <a:srgbClr val="FF9900"/>
                </a:solidFill>
                <a:ln w="28575">
                  <a:solidFill>
                    <a:srgbClr val="FF99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5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39" y="2928"/>
                  <a:ext cx="1450" cy="35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GB" sz="2300">
                      <a:solidFill>
                        <a:srgbClr val="FF9900"/>
                      </a:solidFill>
                    </a:rPr>
                    <a:t>Protein  coded by</a:t>
                  </a:r>
                  <a:br>
                    <a:rPr lang="en-GB" sz="2300">
                      <a:solidFill>
                        <a:srgbClr val="FF9900"/>
                      </a:solidFill>
                    </a:rPr>
                  </a:br>
                  <a:r>
                    <a:rPr lang="en-GB" sz="2300">
                      <a:solidFill>
                        <a:srgbClr val="FF9900"/>
                      </a:solidFill>
                    </a:rPr>
                    <a:t>(CFTRgene &amp; in humans)</a:t>
                  </a:r>
                  <a:endParaRPr lang="en-GB" sz="2300"/>
                </a:p>
              </p:txBody>
            </p:sp>
          </p:grpSp>
          <p:sp>
            <p:nvSpPr>
              <p:cNvPr id="38952" name="Arc 110"/>
              <p:cNvSpPr>
                <a:spLocks/>
              </p:cNvSpPr>
              <p:nvPr/>
            </p:nvSpPr>
            <p:spPr bwMode="auto">
              <a:xfrm rot="8162603">
                <a:off x="1248" y="1200"/>
                <a:ext cx="720" cy="672"/>
              </a:xfrm>
              <a:custGeom>
                <a:avLst/>
                <a:gdLst>
                  <a:gd name="T0" fmla="*/ 0 w 21600"/>
                  <a:gd name="T1" fmla="*/ 0 h 21600"/>
                  <a:gd name="T2" fmla="*/ 24 w 21600"/>
                  <a:gd name="T3" fmla="*/ 21 h 21600"/>
                  <a:gd name="T4" fmla="*/ 0 w 21600"/>
                  <a:gd name="T5" fmla="*/ 21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8950" name="Line 111"/>
            <p:cNvSpPr>
              <a:spLocks noChangeShapeType="1"/>
            </p:cNvSpPr>
            <p:nvPr/>
          </p:nvSpPr>
          <p:spPr bwMode="auto">
            <a:xfrm flipV="1">
              <a:off x="1968" y="1536"/>
              <a:ext cx="144" cy="9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1" name="Group 112"/>
          <p:cNvGrpSpPr>
            <a:grpSpLocks/>
          </p:cNvGrpSpPr>
          <p:nvPr/>
        </p:nvGrpSpPr>
        <p:grpSpPr bwMode="auto">
          <a:xfrm>
            <a:off x="1763713" y="3941763"/>
            <a:ext cx="4162425" cy="3348037"/>
            <a:chOff x="781" y="1746"/>
            <a:chExt cx="1844" cy="1483"/>
          </a:xfrm>
        </p:grpSpPr>
        <p:grpSp>
          <p:nvGrpSpPr>
            <p:cNvPr id="22" name="Group 113"/>
            <p:cNvGrpSpPr>
              <a:grpSpLocks/>
            </p:cNvGrpSpPr>
            <p:nvPr/>
          </p:nvGrpSpPr>
          <p:grpSpPr bwMode="auto">
            <a:xfrm>
              <a:off x="781" y="1746"/>
              <a:ext cx="1820" cy="1483"/>
              <a:chOff x="781" y="1746"/>
              <a:chExt cx="1820" cy="1483"/>
            </a:xfrm>
          </p:grpSpPr>
          <p:sp>
            <p:nvSpPr>
              <p:cNvPr id="38944" name="Arc 114"/>
              <p:cNvSpPr>
                <a:spLocks/>
              </p:cNvSpPr>
              <p:nvPr/>
            </p:nvSpPr>
            <p:spPr bwMode="auto">
              <a:xfrm rot="8162603">
                <a:off x="1761" y="1746"/>
                <a:ext cx="720" cy="672"/>
              </a:xfrm>
              <a:custGeom>
                <a:avLst/>
                <a:gdLst>
                  <a:gd name="T0" fmla="*/ 0 w 21600"/>
                  <a:gd name="T1" fmla="*/ 0 h 21600"/>
                  <a:gd name="T2" fmla="*/ 24 w 21600"/>
                  <a:gd name="T3" fmla="*/ 21 h 21600"/>
                  <a:gd name="T4" fmla="*/ 0 w 21600"/>
                  <a:gd name="T5" fmla="*/ 21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3" name="Group 115"/>
              <p:cNvGrpSpPr>
                <a:grpSpLocks/>
              </p:cNvGrpSpPr>
              <p:nvPr/>
            </p:nvGrpSpPr>
            <p:grpSpPr bwMode="auto">
              <a:xfrm>
                <a:off x="781" y="2282"/>
                <a:ext cx="1820" cy="947"/>
                <a:chOff x="781" y="2282"/>
                <a:chExt cx="1820" cy="947"/>
              </a:xfrm>
            </p:grpSpPr>
            <p:sp>
              <p:nvSpPr>
                <p:cNvPr id="38946" name="Line 116"/>
                <p:cNvSpPr>
                  <a:spLocks noChangeShapeType="1"/>
                </p:cNvSpPr>
                <p:nvPr/>
              </p:nvSpPr>
              <p:spPr bwMode="auto">
                <a:xfrm>
                  <a:off x="2135" y="2282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rgbClr val="FF99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47" name="Oval 117"/>
                <p:cNvSpPr>
                  <a:spLocks noChangeArrowheads="1"/>
                </p:cNvSpPr>
                <p:nvPr/>
              </p:nvSpPr>
              <p:spPr bwMode="auto">
                <a:xfrm>
                  <a:off x="2023" y="2618"/>
                  <a:ext cx="224" cy="144"/>
                </a:xfrm>
                <a:prstGeom prst="ellipse">
                  <a:avLst/>
                </a:prstGeom>
                <a:solidFill>
                  <a:srgbClr val="FF9900"/>
                </a:solidFill>
                <a:ln w="28575">
                  <a:solidFill>
                    <a:srgbClr val="FF99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48" name="Text Box 118"/>
                <p:cNvSpPr txBox="1">
                  <a:spLocks noChangeArrowheads="1"/>
                </p:cNvSpPr>
                <p:nvPr/>
              </p:nvSpPr>
              <p:spPr bwMode="auto">
                <a:xfrm>
                  <a:off x="781" y="2718"/>
                  <a:ext cx="1820" cy="51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GB" sz="2300">
                      <a:solidFill>
                        <a:srgbClr val="FF9900"/>
                      </a:solidFill>
                    </a:rPr>
                    <a:t>Membrane transport mediated by</a:t>
                  </a:r>
                  <a:br>
                    <a:rPr lang="en-GB" sz="2300">
                      <a:solidFill>
                        <a:srgbClr val="FF9900"/>
                      </a:solidFill>
                    </a:rPr>
                  </a:br>
                  <a:r>
                    <a:rPr lang="en-GB" sz="2300">
                      <a:solidFill>
                        <a:srgbClr val="FF9900"/>
                      </a:solidFill>
                    </a:rPr>
                    <a:t>  (Protein  coded by</a:t>
                  </a:r>
                  <a:br>
                    <a:rPr lang="en-GB" sz="2300">
                      <a:solidFill>
                        <a:srgbClr val="FF9900"/>
                      </a:solidFill>
                    </a:rPr>
                  </a:br>
                  <a:r>
                    <a:rPr lang="en-GB" sz="2300">
                      <a:solidFill>
                        <a:srgbClr val="FF9900"/>
                      </a:solidFill>
                    </a:rPr>
                    <a:t>    (CFTRgene  in humans))</a:t>
                  </a:r>
                  <a:endParaRPr lang="en-GB" sz="2300"/>
                </a:p>
              </p:txBody>
            </p:sp>
          </p:grpSp>
        </p:grpSp>
        <p:sp>
          <p:nvSpPr>
            <p:cNvPr id="38943" name="Line 119"/>
            <p:cNvSpPr>
              <a:spLocks noChangeShapeType="1"/>
            </p:cNvSpPr>
            <p:nvPr/>
          </p:nvSpPr>
          <p:spPr bwMode="auto">
            <a:xfrm flipV="1">
              <a:off x="2481" y="2082"/>
              <a:ext cx="144" cy="9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" name="Group 120"/>
          <p:cNvGrpSpPr>
            <a:grpSpLocks/>
          </p:cNvGrpSpPr>
          <p:nvPr/>
        </p:nvGrpSpPr>
        <p:grpSpPr bwMode="auto">
          <a:xfrm>
            <a:off x="4049713" y="5310188"/>
            <a:ext cx="6475412" cy="3716337"/>
            <a:chOff x="1794" y="2352"/>
            <a:chExt cx="2868" cy="1646"/>
          </a:xfrm>
        </p:grpSpPr>
        <p:grpSp>
          <p:nvGrpSpPr>
            <p:cNvPr id="25" name="Group 121"/>
            <p:cNvGrpSpPr>
              <a:grpSpLocks/>
            </p:cNvGrpSpPr>
            <p:nvPr/>
          </p:nvGrpSpPr>
          <p:grpSpPr bwMode="auto">
            <a:xfrm>
              <a:off x="1794" y="2352"/>
              <a:ext cx="2868" cy="1646"/>
              <a:chOff x="1794" y="2352"/>
              <a:chExt cx="2868" cy="1646"/>
            </a:xfrm>
          </p:grpSpPr>
          <p:sp>
            <p:nvSpPr>
              <p:cNvPr id="38937" name="Arc 122"/>
              <p:cNvSpPr>
                <a:spLocks/>
              </p:cNvSpPr>
              <p:nvPr/>
            </p:nvSpPr>
            <p:spPr bwMode="auto">
              <a:xfrm rot="8162603">
                <a:off x="2400" y="2352"/>
                <a:ext cx="720" cy="672"/>
              </a:xfrm>
              <a:custGeom>
                <a:avLst/>
                <a:gdLst>
                  <a:gd name="T0" fmla="*/ 0 w 21600"/>
                  <a:gd name="T1" fmla="*/ 0 h 21600"/>
                  <a:gd name="T2" fmla="*/ 24 w 21600"/>
                  <a:gd name="T3" fmla="*/ 21 h 21600"/>
                  <a:gd name="T4" fmla="*/ 0 w 21600"/>
                  <a:gd name="T5" fmla="*/ 21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6" name="Group 123"/>
              <p:cNvGrpSpPr>
                <a:grpSpLocks/>
              </p:cNvGrpSpPr>
              <p:nvPr/>
            </p:nvGrpSpPr>
            <p:grpSpPr bwMode="auto">
              <a:xfrm>
                <a:off x="1794" y="2880"/>
                <a:ext cx="2868" cy="1118"/>
                <a:chOff x="1794" y="2880"/>
                <a:chExt cx="2868" cy="1118"/>
              </a:xfrm>
            </p:grpSpPr>
            <p:sp>
              <p:nvSpPr>
                <p:cNvPr id="38939" name="Line 124"/>
                <p:cNvSpPr>
                  <a:spLocks noChangeShapeType="1"/>
                </p:cNvSpPr>
                <p:nvPr/>
              </p:nvSpPr>
              <p:spPr bwMode="auto">
                <a:xfrm>
                  <a:off x="2771" y="2880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rgbClr val="FF99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40" name="Oval 125"/>
                <p:cNvSpPr>
                  <a:spLocks noChangeArrowheads="1"/>
                </p:cNvSpPr>
                <p:nvPr/>
              </p:nvSpPr>
              <p:spPr bwMode="auto">
                <a:xfrm>
                  <a:off x="2659" y="3216"/>
                  <a:ext cx="224" cy="144"/>
                </a:xfrm>
                <a:prstGeom prst="ellipse">
                  <a:avLst/>
                </a:prstGeom>
                <a:solidFill>
                  <a:srgbClr val="FF9900"/>
                </a:solidFill>
                <a:ln w="28575">
                  <a:solidFill>
                    <a:srgbClr val="FF99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41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1794" y="3330"/>
                  <a:ext cx="2868" cy="66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GB" sz="2300">
                      <a:solidFill>
                        <a:srgbClr val="FF9900"/>
                      </a:solidFill>
                    </a:rPr>
                    <a:t>Disease  caused by </a:t>
                  </a:r>
                  <a:br>
                    <a:rPr lang="en-GB" sz="2300">
                      <a:solidFill>
                        <a:srgbClr val="FF9900"/>
                      </a:solidFill>
                    </a:rPr>
                  </a:br>
                  <a:r>
                    <a:rPr lang="en-GB" sz="2300">
                      <a:solidFill>
                        <a:srgbClr val="FF9900"/>
                      </a:solidFill>
                    </a:rPr>
                    <a:t> (abnormality  in</a:t>
                  </a:r>
                  <a:br>
                    <a:rPr lang="en-GB" sz="2300">
                      <a:solidFill>
                        <a:srgbClr val="FF9900"/>
                      </a:solidFill>
                    </a:rPr>
                  </a:br>
                  <a:r>
                    <a:rPr lang="en-GB" sz="2300">
                      <a:solidFill>
                        <a:srgbClr val="FF9900"/>
                      </a:solidFill>
                    </a:rPr>
                    <a:t>    (Membrane transport mediated by </a:t>
                  </a:r>
                  <a:br>
                    <a:rPr lang="en-GB" sz="2300">
                      <a:solidFill>
                        <a:srgbClr val="FF9900"/>
                      </a:solidFill>
                    </a:rPr>
                  </a:br>
                  <a:r>
                    <a:rPr lang="en-GB" sz="2300">
                      <a:solidFill>
                        <a:srgbClr val="FF9900"/>
                      </a:solidFill>
                    </a:rPr>
                    <a:t>        (Protein  coded by (CTFR gene &amp; in humans))))</a:t>
                  </a:r>
                  <a:endParaRPr lang="en-GB" sz="2300"/>
                </a:p>
              </p:txBody>
            </p:sp>
          </p:grpSp>
        </p:grpSp>
        <p:sp>
          <p:nvSpPr>
            <p:cNvPr id="38936" name="Line 127"/>
            <p:cNvSpPr>
              <a:spLocks noChangeShapeType="1"/>
            </p:cNvSpPr>
            <p:nvPr/>
          </p:nvSpPr>
          <p:spPr bwMode="auto">
            <a:xfrm flipV="1">
              <a:off x="3120" y="2688"/>
              <a:ext cx="144" cy="9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oup 128"/>
          <p:cNvGrpSpPr>
            <a:grpSpLocks/>
          </p:cNvGrpSpPr>
          <p:nvPr/>
        </p:nvGrpSpPr>
        <p:grpSpPr bwMode="auto">
          <a:xfrm>
            <a:off x="647700" y="1517650"/>
            <a:ext cx="2913063" cy="2505075"/>
            <a:chOff x="287" y="672"/>
            <a:chExt cx="1290" cy="1110"/>
          </a:xfrm>
        </p:grpSpPr>
        <p:sp>
          <p:nvSpPr>
            <p:cNvPr id="38929" name="Line 129"/>
            <p:cNvSpPr>
              <a:spLocks noChangeShapeType="1"/>
            </p:cNvSpPr>
            <p:nvPr/>
          </p:nvSpPr>
          <p:spPr bwMode="auto">
            <a:xfrm flipV="1">
              <a:off x="1344" y="912"/>
              <a:ext cx="144" cy="9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8" name="Group 130"/>
            <p:cNvGrpSpPr>
              <a:grpSpLocks/>
            </p:cNvGrpSpPr>
            <p:nvPr/>
          </p:nvGrpSpPr>
          <p:grpSpPr bwMode="auto">
            <a:xfrm>
              <a:off x="287" y="672"/>
              <a:ext cx="1290" cy="1110"/>
              <a:chOff x="239" y="1392"/>
              <a:chExt cx="1290" cy="1110"/>
            </a:xfrm>
          </p:grpSpPr>
          <p:sp>
            <p:nvSpPr>
              <p:cNvPr id="38931" name="Arc 131"/>
              <p:cNvSpPr>
                <a:spLocks/>
              </p:cNvSpPr>
              <p:nvPr/>
            </p:nvSpPr>
            <p:spPr bwMode="auto">
              <a:xfrm rot="8291606">
                <a:off x="720" y="1392"/>
                <a:ext cx="528" cy="528"/>
              </a:xfrm>
              <a:custGeom>
                <a:avLst/>
                <a:gdLst>
                  <a:gd name="T0" fmla="*/ 0 w 21600"/>
                  <a:gd name="T1" fmla="*/ 0 h 21600"/>
                  <a:gd name="T2" fmla="*/ 13 w 21600"/>
                  <a:gd name="T3" fmla="*/ 13 h 21600"/>
                  <a:gd name="T4" fmla="*/ 0 w 21600"/>
                  <a:gd name="T5" fmla="*/ 13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32" name="Line 132"/>
              <p:cNvSpPr>
                <a:spLocks noChangeShapeType="1"/>
              </p:cNvSpPr>
              <p:nvPr/>
            </p:nvSpPr>
            <p:spPr bwMode="auto">
              <a:xfrm>
                <a:off x="983" y="1824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33" name="Oval 133"/>
              <p:cNvSpPr>
                <a:spLocks noChangeArrowheads="1"/>
              </p:cNvSpPr>
              <p:nvPr/>
            </p:nvSpPr>
            <p:spPr bwMode="auto">
              <a:xfrm>
                <a:off x="911" y="2160"/>
                <a:ext cx="144" cy="144"/>
              </a:xfrm>
              <a:prstGeom prst="ellipse">
                <a:avLst/>
              </a:prstGeom>
              <a:solidFill>
                <a:srgbClr val="FF9900"/>
              </a:solidFill>
              <a:ln w="28575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34" name="Text Box 134"/>
              <p:cNvSpPr txBox="1">
                <a:spLocks noChangeArrowheads="1"/>
              </p:cNvSpPr>
              <p:nvPr/>
            </p:nvSpPr>
            <p:spPr bwMode="auto">
              <a:xfrm>
                <a:off x="239" y="2304"/>
                <a:ext cx="1290" cy="19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n-GB" sz="2300">
                    <a:solidFill>
                      <a:srgbClr val="FF9900"/>
                    </a:solidFill>
                  </a:rPr>
                  <a:t>CFTRGene  in humans</a:t>
                </a:r>
                <a:endParaRPr lang="en-GB" sz="2300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use OWL/</a:t>
            </a:r>
            <a:r>
              <a:rPr lang="en-US" dirty="0" err="1" smtClean="0"/>
              <a:t>DLs</a:t>
            </a:r>
            <a:r>
              <a:rPr lang="en-US" dirty="0" smtClean="0"/>
              <a:t> for many things, </a:t>
            </a:r>
            <a:br>
              <a:rPr lang="en-US" dirty="0" smtClean="0"/>
            </a:br>
            <a:r>
              <a:rPr lang="en-US" dirty="0" smtClean="0"/>
              <a:t>but…</a:t>
            </a:r>
            <a:br>
              <a:rPr lang="en-US" dirty="0" smtClean="0"/>
            </a:b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5" y="1600200"/>
            <a:ext cx="12506325" cy="6870700"/>
          </a:xfrm>
        </p:spPr>
        <p:txBody>
          <a:bodyPr/>
          <a:lstStyle/>
          <a:p>
            <a:r>
              <a:rPr lang="en-US" dirty="0"/>
              <a:t>Not everything written in OWL is an </a:t>
            </a:r>
            <a:r>
              <a:rPr lang="en-US" dirty="0" smtClean="0"/>
              <a:t>ontology</a:t>
            </a:r>
          </a:p>
          <a:p>
            <a:r>
              <a:rPr lang="en-US" dirty="0" smtClean="0"/>
              <a:t>Not </a:t>
            </a:r>
            <a:r>
              <a:rPr lang="en-US" dirty="0"/>
              <a:t>every ontology need be, or can be, written in OWL.</a:t>
            </a:r>
          </a:p>
          <a:p>
            <a:endParaRPr lang="en-US" dirty="0"/>
          </a:p>
          <a:p>
            <a:r>
              <a:rPr lang="en-US" dirty="0"/>
              <a:t>OWL is a logic language – a subset of First order Logic </a:t>
            </a:r>
          </a:p>
          <a:p>
            <a:pPr lvl="1"/>
            <a:r>
              <a:rPr lang="en-US" dirty="0"/>
              <a:t>Designed to make it easy to represent (aspects of) ontologies</a:t>
            </a:r>
          </a:p>
          <a:p>
            <a:pPr lvl="2"/>
            <a:r>
              <a:rPr lang="en-US" dirty="0"/>
              <a:t>But can be used for other things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Has many limitations</a:t>
            </a:r>
          </a:p>
          <a:p>
            <a:pPr lvl="3"/>
            <a:r>
              <a:rPr lang="en-US" dirty="0" smtClean="0"/>
              <a:t>First order, binary-relational, tree-model property, …</a:t>
            </a:r>
          </a:p>
          <a:p>
            <a:pPr lvl="2"/>
            <a:r>
              <a:rPr lang="en-US" dirty="0" smtClean="0"/>
              <a:t>And many serious flaws</a:t>
            </a:r>
          </a:p>
          <a:p>
            <a:pPr lvl="3"/>
            <a:r>
              <a:rPr lang="en-US" dirty="0" smtClean="0"/>
              <a:t>Handling of meta-data, relation to RDF, …</a:t>
            </a:r>
          </a:p>
          <a:p>
            <a:r>
              <a:rPr lang="en-US" dirty="0" smtClean="0"/>
              <a:t>But it is a standard and computationally tractable</a:t>
            </a:r>
          </a:p>
          <a:p>
            <a:pPr lvl="1"/>
            <a:r>
              <a:rPr lang="en-US" dirty="0"/>
              <a:t>Usually worth using a standard for</a:t>
            </a:r>
            <a:r>
              <a:rPr lang="en-US" dirty="0" smtClean="0"/>
              <a:t> that </a:t>
            </a:r>
            <a:r>
              <a:rPr lang="en-US" dirty="0"/>
              <a:t>part of a task that it </a:t>
            </a:r>
            <a:r>
              <a:rPr lang="en-US" dirty="0" smtClean="0"/>
              <a:t>covers</a:t>
            </a:r>
          </a:p>
          <a:p>
            <a:pPr lvl="2"/>
            <a:r>
              <a:rPr lang="en-US" dirty="0" smtClean="0"/>
              <a:t>But using it where it doesn’t work, doesn’t work.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Before</a:t>
            </a:r>
            <a:r>
              <a:rPr lang="en-US" dirty="0" smtClean="0"/>
              <a:t> going further: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63600" y="5527675"/>
            <a:ext cx="11506200" cy="2492375"/>
          </a:xfrm>
        </p:spPr>
        <p:txBody>
          <a:bodyPr/>
          <a:lstStyle/>
          <a:p>
            <a:pPr algn="l"/>
            <a:r>
              <a:rPr lang="en-US" sz="4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Some history &amp; 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evolution of</a:t>
            </a:r>
            <a:r>
              <a:rPr lang="en-US" sz="4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 meaning of the word “ontology”</a:t>
            </a:r>
          </a:p>
          <a:p>
            <a:pPr algn="l"/>
            <a:endParaRPr lang="en-US" sz="4400" dirty="0" smtClean="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  <a:p>
            <a:pPr algn="l"/>
            <a:endParaRPr lang="en-US" sz="4400" dirty="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262" y="200025"/>
            <a:ext cx="10396537" cy="14732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ym typeface="Arial" pitchFamily="1" charset="0"/>
              </a:rPr>
              <a:t>Early Knowledge representation</a:t>
            </a:r>
            <a:endParaRPr lang="en-US" dirty="0">
              <a:sym typeface="Arial" pitchFamily="1" charset="0"/>
            </a:endParaRP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>
          <a:xfrm>
            <a:off x="1" y="1752600"/>
            <a:ext cx="13004800" cy="8001000"/>
          </a:xfrm>
        </p:spPr>
        <p:txBody>
          <a:bodyPr/>
          <a:lstStyle/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Mid 1980s</a:t>
            </a:r>
            <a:r>
              <a:rPr lang="en-US" dirty="0"/>
              <a:t>, AI toolkits (KEE, ART, </a:t>
            </a:r>
            <a:r>
              <a:rPr lang="en-US" dirty="0" err="1"/>
              <a:t>KnowledgeCraft</a:t>
            </a:r>
            <a:r>
              <a:rPr lang="en-US" dirty="0"/>
              <a:t>…)</a:t>
            </a:r>
          </a:p>
          <a:p>
            <a:pPr lvl="1"/>
            <a:r>
              <a:rPr lang="en-US" dirty="0"/>
              <a:t>Tripartite “Knowledge based systems”</a:t>
            </a:r>
          </a:p>
          <a:p>
            <a:pPr lvl="2"/>
            <a:r>
              <a:rPr lang="en-US" dirty="0"/>
              <a:t>Static knowledge base – Semantic Networks &amp; frames</a:t>
            </a:r>
          </a:p>
          <a:p>
            <a:pPr lvl="3"/>
            <a:r>
              <a:rPr lang="en-US" dirty="0">
                <a:solidFill>
                  <a:srgbClr val="FFFFFF"/>
                </a:solidFill>
              </a:rPr>
              <a:t>Included both “universal” and “particular” knowledge </a:t>
            </a:r>
          </a:p>
          <a:p>
            <a:pPr lvl="2"/>
            <a:r>
              <a:rPr lang="en-US" dirty="0"/>
              <a:t>Rules</a:t>
            </a:r>
          </a:p>
          <a:p>
            <a:pPr lvl="2"/>
            <a:r>
              <a:rPr lang="en-US" dirty="0"/>
              <a:t>Dynamic knowledge base</a:t>
            </a:r>
          </a:p>
          <a:p>
            <a:pPr lvl="2"/>
            <a:r>
              <a:rPr lang="en-US" dirty="0"/>
              <a:t>Plus Metadata, attached procedures, event driven </a:t>
            </a:r>
            <a:r>
              <a:rPr lang="en-US" dirty="0" err="1"/>
              <a:t>Uis</a:t>
            </a:r>
            <a:r>
              <a:rPr lang="en-US" dirty="0"/>
              <a:t>, …</a:t>
            </a:r>
          </a:p>
          <a:p>
            <a:pPr lvl="1">
              <a:buNone/>
            </a:pPr>
            <a:endParaRPr lang="en-US" dirty="0"/>
          </a:p>
          <a:p>
            <a:pPr lvl="1"/>
            <a:r>
              <a:rPr lang="en-US" dirty="0"/>
              <a:t>Addressed good questions in knowledge representation, and gave some good answers, even if sometimes limited</a:t>
            </a:r>
          </a:p>
          <a:p>
            <a:pPr lvl="2"/>
            <a:r>
              <a:rPr lang="en-US" dirty="0"/>
              <a:t>Heuristic</a:t>
            </a:r>
          </a:p>
          <a:p>
            <a:pPr lvl="3"/>
            <a:r>
              <a:rPr lang="en-US" dirty="0"/>
              <a:t>Programming languages rather than </a:t>
            </a:r>
            <a:r>
              <a:rPr lang="en-US" dirty="0" smtClean="0"/>
              <a:t>logics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89CFA69-CC50-D843-863C-2BF5DD0D24F0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200025"/>
            <a:ext cx="12827000" cy="1473200"/>
          </a:xfrm>
        </p:spPr>
        <p:txBody>
          <a:bodyPr/>
          <a:lstStyle/>
          <a:p>
            <a:pPr>
              <a:defRPr/>
            </a:pPr>
            <a:r>
              <a:rPr lang="en-US"/>
              <a:t>… some systems resembled Rube Goldberg  </a:t>
            </a:r>
            <a:br>
              <a:rPr lang="en-US"/>
            </a:br>
            <a:r>
              <a:rPr lang="en-US"/>
              <a:t>    machines</a:t>
            </a:r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2695238" y="9299575"/>
            <a:ext cx="495300" cy="520700"/>
          </a:xfrm>
          <a:noFill/>
        </p:spPr>
        <p:txBody>
          <a:bodyPr/>
          <a:lstStyle/>
          <a:p>
            <a:fld id="{81BE7F99-B258-1746-94B1-916F54E2DF73}" type="slidenum">
              <a:rPr lang="en-US"/>
              <a:pPr/>
              <a:t>20</a:t>
            </a:fld>
            <a:endParaRPr lang="en-US"/>
          </a:p>
        </p:txBody>
      </p:sp>
      <p:pic>
        <p:nvPicPr>
          <p:cNvPr id="77828" name="Picture 5" descr="rube-goldberg-machin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000" y="1524000"/>
            <a:ext cx="6604000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39800" y="4114800"/>
            <a:ext cx="5410200" cy="5410200"/>
            <a:chOff x="7416800" y="4114800"/>
            <a:chExt cx="5410200" cy="5410200"/>
          </a:xfrm>
        </p:grpSpPr>
        <p:sp>
          <p:nvSpPr>
            <p:cNvPr id="77831" name="Rectangle 7"/>
            <p:cNvSpPr>
              <a:spLocks noChangeArrowheads="1"/>
            </p:cNvSpPr>
            <p:nvPr/>
          </p:nvSpPr>
          <p:spPr bwMode="auto">
            <a:xfrm>
              <a:off x="7416800" y="4114800"/>
              <a:ext cx="5410200" cy="541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77832" name="Picture 6" descr="34hvpjo.jp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93000" y="4191000"/>
              <a:ext cx="5267325" cy="526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Box 9"/>
          <p:cNvSpPr txBox="1"/>
          <p:nvPr/>
        </p:nvSpPr>
        <p:spPr>
          <a:xfrm>
            <a:off x="6731000" y="5715000"/>
            <a:ext cx="6273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3200" dirty="0" smtClean="0">
                <a:solidFill>
                  <a:srgbClr val="FFFFFF"/>
                </a:solidFill>
                <a:latin typeface="+mn-lt"/>
              </a:rPr>
              <a:t>But good enough that still asked:</a:t>
            </a:r>
            <a:br>
              <a:rPr lang="en-US" sz="3200" dirty="0" smtClean="0">
                <a:solidFill>
                  <a:srgbClr val="FFFFFF"/>
                </a:solidFill>
                <a:latin typeface="+mn-lt"/>
              </a:rPr>
            </a:br>
            <a:r>
              <a:rPr lang="en-US" sz="3200" dirty="0" smtClean="0">
                <a:solidFill>
                  <a:srgbClr val="FFFF93"/>
                </a:solidFill>
                <a:latin typeface="+mn-lt"/>
              </a:rPr>
              <a:t>“Why can’t we get back to 1985?”</a:t>
            </a:r>
          </a:p>
          <a:p>
            <a:pPr algn="l">
              <a:defRPr/>
            </a:pPr>
            <a:endParaRPr lang="en-US" sz="3200" dirty="0" smtClean="0">
              <a:solidFill>
                <a:srgbClr val="FFFFFF"/>
              </a:solidFill>
              <a:latin typeface="+mn-lt"/>
            </a:endParaRPr>
          </a:p>
          <a:p>
            <a:pPr lvl="1" algn="l">
              <a:defRPr/>
            </a:pPr>
            <a:r>
              <a:rPr lang="en-US" sz="2400" dirty="0" smtClean="0">
                <a:solidFill>
                  <a:srgbClr val="FFFFFF"/>
                </a:solidFill>
                <a:latin typeface="+mn-lt"/>
              </a:rPr>
              <a:t>Serious question from Zak </a:t>
            </a:r>
            <a:r>
              <a:rPr lang="en-US" sz="2400" dirty="0" err="1" smtClean="0">
                <a:solidFill>
                  <a:srgbClr val="FFFFFF"/>
                </a:solidFill>
                <a:latin typeface="+mn-lt"/>
              </a:rPr>
              <a:t>Kohane</a:t>
            </a:r>
            <a:r>
              <a:rPr lang="en-US" sz="2400" dirty="0" smtClean="0">
                <a:solidFill>
                  <a:srgbClr val="FFFFFF"/>
                </a:solidFill>
                <a:latin typeface="+mn-lt"/>
              </a:rPr>
              <a:t>, top HI researcher, PhD in AI from MIT.</a:t>
            </a:r>
            <a:endParaRPr 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88200" y="3200400"/>
            <a:ext cx="52715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defRPr/>
            </a:pPr>
            <a:r>
              <a:rPr lang="en-US" sz="3200" dirty="0">
                <a:solidFill>
                  <a:srgbClr val="FFFFFF"/>
                </a:solidFill>
                <a:latin typeface="+mn-lt"/>
              </a:rPr>
              <a:t>Neither complete, decidable</a:t>
            </a:r>
            <a:br>
              <a:rPr lang="en-US" sz="3200" dirty="0">
                <a:solidFill>
                  <a:srgbClr val="FFFFFF"/>
                </a:solidFill>
                <a:latin typeface="+mn-lt"/>
              </a:rPr>
            </a:br>
            <a:r>
              <a:rPr lang="en-US" sz="3200" dirty="0">
                <a:solidFill>
                  <a:srgbClr val="FFFFFF"/>
                </a:solidFill>
                <a:latin typeface="+mn-lt"/>
              </a:rPr>
              <a:t>nor provably sound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262" y="200025"/>
            <a:ext cx="11412537" cy="1473200"/>
          </a:xfrm>
        </p:spPr>
        <p:txBody>
          <a:bodyPr/>
          <a:lstStyle/>
          <a:p>
            <a:r>
              <a:rPr lang="en-US" dirty="0"/>
              <a:t>Knowledge Based Systems co-evolved with</a:t>
            </a:r>
            <a:r>
              <a:rPr lang="en-US" dirty="0" smtClean="0"/>
              <a:t> semantic networks &amp; frames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8475" y="2185988"/>
            <a:ext cx="11709400" cy="3452812"/>
          </a:xfrm>
        </p:spPr>
        <p:txBody>
          <a:bodyPr/>
          <a:lstStyle/>
          <a:p>
            <a:r>
              <a:rPr lang="en-US"/>
              <a:t>“Frame” coined by Minsky for computer vision but rapidly adopted by knowledge representation</a:t>
            </a:r>
          </a:p>
          <a:p>
            <a:r>
              <a:rPr lang="en-US"/>
              <a:t>Convenient way to represent Object-Attribute-Value triples &amp; semantic networks</a:t>
            </a:r>
          </a:p>
          <a:p>
            <a:pPr lvl="1"/>
            <a:r>
              <a:rPr lang="en-US"/>
              <a:t>Protégé-frames / OKBS is modern descendant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AB9874-F0AA-CA45-8AEE-299C27D2ACCC}" type="slidenum">
              <a:rPr lang="en-US"/>
              <a:pPr>
                <a:defRPr/>
              </a:pPr>
              <a:t>21</a:t>
            </a:fld>
            <a:endParaRPr lang="en-US"/>
          </a:p>
        </p:txBody>
      </p:sp>
      <p:pic>
        <p:nvPicPr>
          <p:cNvPr id="5" name="Picture 4" descr="sem_net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5" y="5867400"/>
            <a:ext cx="3755227" cy="2819400"/>
          </a:xfrm>
          <a:prstGeom prst="rect">
            <a:avLst/>
          </a:prstGeom>
        </p:spPr>
      </p:pic>
      <p:pic>
        <p:nvPicPr>
          <p:cNvPr id="6" name="Picture 5" descr="Semantic-Network-Map-of-Global-Knowledge-Related-Policy-Discour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800" y="5181600"/>
            <a:ext cx="4847951" cy="3276600"/>
          </a:xfrm>
          <a:prstGeom prst="rect">
            <a:avLst/>
          </a:prstGeom>
        </p:spPr>
      </p:pic>
      <p:pic>
        <p:nvPicPr>
          <p:cNvPr id="7" name="Picture 6" descr="semantic-network-imgre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600" y="6476278"/>
            <a:ext cx="4419600" cy="327732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1121"/>
            <a:ext cx="13004800" cy="2040128"/>
          </a:xfrm>
        </p:spPr>
        <p:txBody>
          <a:bodyPr/>
          <a:lstStyle/>
          <a:p>
            <a:r>
              <a:rPr lang="en-GB"/>
              <a:t>Key event 1: Logicians asked ‘What’s it mean?’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219200"/>
            <a:ext cx="12522200" cy="815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600" dirty="0"/>
              <a:t>Questions about  Semantic Networks and Frames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Wood: </a:t>
            </a:r>
            <a:r>
              <a:rPr lang="en-US" i="1" dirty="0"/>
              <a:t>What’s in a Link</a:t>
            </a:r>
            <a:r>
              <a:rPr lang="en-US" dirty="0"/>
              <a:t>; </a:t>
            </a:r>
            <a:r>
              <a:rPr lang="en-US" dirty="0" err="1"/>
              <a:t>Brachman</a:t>
            </a:r>
            <a:r>
              <a:rPr lang="en-US" dirty="0"/>
              <a:t> </a:t>
            </a:r>
            <a:r>
              <a:rPr lang="en-US" i="1" dirty="0"/>
              <a:t>What IS-A is and IS-A isn’t</a:t>
            </a:r>
            <a:r>
              <a:rPr lang="en-US" dirty="0"/>
              <a:t>. </a:t>
            </a:r>
          </a:p>
          <a:p>
            <a:pPr>
              <a:lnSpc>
                <a:spcPct val="90000"/>
              </a:lnSpc>
            </a:pPr>
            <a:r>
              <a:rPr lang="en-US" sz="3600" dirty="0"/>
              <a:t>First </a:t>
            </a:r>
            <a:r>
              <a:rPr lang="en-US" sz="3600" dirty="0" err="1"/>
              <a:t>Formalisation</a:t>
            </a:r>
            <a:r>
              <a:rPr lang="en-US" sz="3600" dirty="0"/>
              <a:t> (1980)</a:t>
            </a:r>
          </a:p>
          <a:p>
            <a:pPr lvl="1">
              <a:lnSpc>
                <a:spcPct val="90000"/>
              </a:lnSpc>
            </a:pPr>
            <a:r>
              <a:rPr lang="en-US" dirty="0" err="1"/>
              <a:t>Bobrow</a:t>
            </a:r>
            <a:r>
              <a:rPr lang="en-US" dirty="0"/>
              <a:t> </a:t>
            </a:r>
            <a:r>
              <a:rPr lang="en-US" i="1" dirty="0"/>
              <a:t>KRL</a:t>
            </a:r>
            <a:r>
              <a:rPr lang="en-US" dirty="0"/>
              <a:t>, </a:t>
            </a:r>
            <a:endParaRPr lang="en-US" i="1" dirty="0"/>
          </a:p>
          <a:p>
            <a:pPr lvl="2">
              <a:lnSpc>
                <a:spcPct val="90000"/>
              </a:lnSpc>
            </a:pPr>
            <a:r>
              <a:rPr lang="en-US" i="1" dirty="0"/>
              <a:t>Cognitive Science </a:t>
            </a:r>
            <a:r>
              <a:rPr lang="en-US" i="1" dirty="0" err="1"/>
              <a:t>Vol</a:t>
            </a:r>
            <a:r>
              <a:rPr lang="en-US" i="1" dirty="0"/>
              <a:t> 1 Issue 1 Page 1</a:t>
            </a:r>
          </a:p>
          <a:p>
            <a:pPr lvl="1">
              <a:lnSpc>
                <a:spcPct val="90000"/>
              </a:lnSpc>
            </a:pPr>
            <a:r>
              <a:rPr lang="en-US" dirty="0" err="1"/>
              <a:t>Brachman</a:t>
            </a:r>
            <a:r>
              <a:rPr lang="en-US" dirty="0"/>
              <a:t>: </a:t>
            </a:r>
            <a:r>
              <a:rPr lang="en-US" i="1" dirty="0"/>
              <a:t>KL-ONE</a:t>
            </a:r>
          </a:p>
          <a:p>
            <a:pPr lvl="2">
              <a:lnSpc>
                <a:spcPct val="90000"/>
              </a:lnSpc>
            </a:pPr>
            <a:r>
              <a:rPr lang="en-US" i="1" dirty="0"/>
              <a:t>Went on to be the ancestor of </a:t>
            </a:r>
            <a:r>
              <a:rPr lang="en-US" i="1" dirty="0" err="1"/>
              <a:t>DLs</a:t>
            </a:r>
            <a:endParaRPr lang="en-US" i="1" dirty="0"/>
          </a:p>
          <a:p>
            <a:pPr lvl="2">
              <a:lnSpc>
                <a:spcPct val="90000"/>
              </a:lnSpc>
            </a:pPr>
            <a:r>
              <a:rPr lang="en-US" i="1" dirty="0"/>
              <a:t>…of rather its failure stimulated the development of </a:t>
            </a:r>
            <a:r>
              <a:rPr lang="en-US" i="1" dirty="0" err="1"/>
              <a:t>DLs</a:t>
            </a:r>
            <a:endParaRPr lang="en-US" i="1" dirty="0"/>
          </a:p>
          <a:p>
            <a:pPr>
              <a:lnSpc>
                <a:spcPct val="90000"/>
              </a:lnSpc>
            </a:pPr>
            <a:r>
              <a:rPr lang="en-US" sz="3600" dirty="0"/>
              <a:t>All useful systems are intractable</a:t>
            </a:r>
            <a:r>
              <a:rPr lang="en-US" sz="3600" dirty="0" smtClean="0"/>
              <a:t> (1983)</a:t>
            </a:r>
          </a:p>
          <a:p>
            <a:pPr lvl="2">
              <a:lnSpc>
                <a:spcPct val="90000"/>
              </a:lnSpc>
            </a:pPr>
            <a:r>
              <a:rPr lang="en-US" dirty="0" err="1"/>
              <a:t>Brachman</a:t>
            </a:r>
            <a:r>
              <a:rPr lang="en-US" dirty="0"/>
              <a:t> &amp; Levesque: </a:t>
            </a:r>
            <a:r>
              <a:rPr lang="en-US" i="1" dirty="0"/>
              <a:t>A fundamental tradeoff </a:t>
            </a:r>
            <a:r>
              <a:rPr lang="en-US" dirty="0"/>
              <a:t>(AAAI 1983)</a:t>
            </a:r>
            <a:endParaRPr lang="en-US" i="1" dirty="0"/>
          </a:p>
          <a:p>
            <a:pPr lvl="1">
              <a:lnSpc>
                <a:spcPct val="90000"/>
              </a:lnSpc>
            </a:pPr>
            <a:r>
              <a:rPr lang="en-US" sz="3100" dirty="0"/>
              <a:t>Hybrid systems: T-Box and A-Box</a:t>
            </a:r>
          </a:p>
          <a:p>
            <a:pPr lvl="3">
              <a:lnSpc>
                <a:spcPct val="90000"/>
              </a:lnSpc>
            </a:pPr>
            <a:r>
              <a:rPr lang="en-US" sz="2300" dirty="0"/>
              <a:t>Focus on Terminology (T-Box) – </a:t>
            </a:r>
            <a:r>
              <a:rPr lang="en-US" sz="2100" dirty="0"/>
              <a:t> Universal knowledge</a:t>
            </a:r>
          </a:p>
          <a:p>
            <a:pPr lvl="4">
              <a:lnSpc>
                <a:spcPct val="90000"/>
              </a:lnSpc>
            </a:pPr>
            <a:r>
              <a:rPr lang="en-US" sz="1900" dirty="0"/>
              <a:t>Became what I now call </a:t>
            </a:r>
            <a:r>
              <a:rPr lang="en-US" sz="1900" dirty="0" err="1"/>
              <a:t>Ontology</a:t>
            </a:r>
            <a:r>
              <a:rPr lang="en-US" sz="1900" baseline="-25000" dirty="0" err="1"/>
              <a:t>InformationSystems</a:t>
            </a:r>
            <a:endParaRPr lang="en-US" sz="1900" baseline="-25000" dirty="0"/>
          </a:p>
          <a:p>
            <a:pPr>
              <a:lnSpc>
                <a:spcPct val="90000"/>
              </a:lnSpc>
            </a:pPr>
            <a:r>
              <a:rPr lang="en-US" sz="3600" dirty="0"/>
              <a:t>All tractable systems are useless (1987-1990)</a:t>
            </a:r>
            <a:endParaRPr lang="en-US" sz="4100" dirty="0"/>
          </a:p>
          <a:p>
            <a:pPr lvl="2">
              <a:lnSpc>
                <a:spcPct val="90000"/>
              </a:lnSpc>
            </a:pPr>
            <a:r>
              <a:rPr lang="en-US" dirty="0" err="1"/>
              <a:t>Doyl</a:t>
            </a:r>
            <a:r>
              <a:rPr lang="en-US" dirty="0"/>
              <a:t> and </a:t>
            </a:r>
            <a:r>
              <a:rPr lang="en-US" dirty="0" err="1"/>
              <a:t>Patil</a:t>
            </a:r>
            <a:r>
              <a:rPr lang="en-US" dirty="0"/>
              <a:t>: </a:t>
            </a:r>
            <a:r>
              <a:rPr lang="en-US" i="1" dirty="0"/>
              <a:t>Two dogmas of Knowledge Representation AI </a:t>
            </a:r>
            <a:r>
              <a:rPr lang="en-US" i="1" dirty="0" err="1"/>
              <a:t>vol</a:t>
            </a:r>
            <a:r>
              <a:rPr lang="en-US" i="1" dirty="0"/>
              <a:t> 48 pp 261-297 (1991</a:t>
            </a:r>
            <a:r>
              <a:rPr lang="en-US" i="1" dirty="0" smtClean="0"/>
              <a:t>)</a:t>
            </a:r>
            <a:endParaRPr lang="en-US" i="1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152400"/>
            <a:ext cx="11158537" cy="1473200"/>
          </a:xfrm>
        </p:spPr>
        <p:txBody>
          <a:bodyPr/>
          <a:lstStyle/>
          <a:p>
            <a:r>
              <a:rPr lang="en-GB"/>
              <a:t>Emergence of DLs and “Tbox” reasoning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600" y="1600200"/>
            <a:ext cx="12903200" cy="68707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3100" dirty="0"/>
              <a:t>‘Maverick’ </a:t>
            </a:r>
            <a:r>
              <a:rPr lang="en-US" sz="3100" dirty="0" smtClean="0"/>
              <a:t>incomplete tractable in practice Tbox/logic </a:t>
            </a:r>
            <a:r>
              <a:rPr lang="en-US" sz="3100" dirty="0"/>
              <a:t>systems (1985-90)</a:t>
            </a:r>
          </a:p>
          <a:p>
            <a:pPr lvl="1">
              <a:lnSpc>
                <a:spcPct val="80000"/>
              </a:lnSpc>
            </a:pPr>
            <a:r>
              <a:rPr lang="en-US" sz="2600" dirty="0" smtClean="0"/>
              <a:t>GRAIL, </a:t>
            </a:r>
            <a:r>
              <a:rPr lang="en-US" sz="2600" dirty="0" err="1"/>
              <a:t>Krep</a:t>
            </a:r>
            <a:r>
              <a:rPr lang="en-US" sz="2600" dirty="0"/>
              <a:t> (SNOMED),</a:t>
            </a:r>
            <a:r>
              <a:rPr lang="en-US" sz="2600" dirty="0" smtClean="0"/>
              <a:t>  LOOM, </a:t>
            </a:r>
            <a:r>
              <a:rPr lang="en-US" sz="2600" dirty="0" err="1" smtClean="0"/>
              <a:t>Cyc</a:t>
            </a:r>
            <a:r>
              <a:rPr lang="en-US" sz="2600" dirty="0" smtClean="0"/>
              <a:t>,…</a:t>
            </a:r>
            <a:r>
              <a:rPr lang="en-US" sz="2600" dirty="0"/>
              <a:t>, 	</a:t>
            </a:r>
            <a:br>
              <a:rPr lang="en-US" sz="2600" dirty="0"/>
            </a:br>
            <a:endParaRPr lang="en-US" sz="3100" dirty="0"/>
          </a:p>
          <a:p>
            <a:pPr>
              <a:lnSpc>
                <a:spcPct val="80000"/>
              </a:lnSpc>
            </a:pPr>
            <a:r>
              <a:rPr lang="en-US" sz="3100" dirty="0"/>
              <a:t>The German School: Description Logics (1988-98)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Complete decidable algorithms using tableaux methods (1991-1992)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Detailed catalogue of complexity  of family – “alphabet soup” of </a:t>
            </a:r>
            <a:r>
              <a:rPr lang="en-US" sz="2600" dirty="0" smtClean="0"/>
              <a:t>logics</a:t>
            </a:r>
          </a:p>
          <a:p>
            <a:pPr lvl="1">
              <a:lnSpc>
                <a:spcPct val="80000"/>
              </a:lnSpc>
            </a:pPr>
            <a:r>
              <a:rPr lang="en-US" sz="2600" dirty="0" err="1" smtClean="0"/>
              <a:t>Horrocks</a:t>
            </a:r>
            <a:r>
              <a:rPr lang="en-US" sz="2600" dirty="0" smtClean="0"/>
              <a:t> (&amp; </a:t>
            </a:r>
            <a:r>
              <a:rPr lang="en-US" sz="2600" dirty="0" err="1" smtClean="0"/>
              <a:t>Nowlan</a:t>
            </a:r>
            <a:r>
              <a:rPr lang="en-US" sz="2600" dirty="0" smtClean="0"/>
              <a:t>): practically tractable even if worst case intractable</a:t>
            </a:r>
            <a:endParaRPr lang="en-US" sz="2500" dirty="0" smtClean="0"/>
          </a:p>
          <a:p>
            <a:pPr>
              <a:lnSpc>
                <a:spcPct val="80000"/>
              </a:lnSpc>
            </a:pPr>
            <a:r>
              <a:rPr lang="en-US" sz="3100" dirty="0"/>
              <a:t>Emergence of the Semantic Web &amp; OWL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Development of DAML (frames), OIL (</a:t>
            </a:r>
            <a:r>
              <a:rPr lang="en-US" sz="2600" dirty="0" err="1"/>
              <a:t>DLs</a:t>
            </a:r>
            <a:r>
              <a:rPr lang="en-US" sz="2600" dirty="0"/>
              <a:t>) </a:t>
            </a:r>
            <a:r>
              <a:rPr lang="en-US" sz="2600" dirty="0" err="1">
                <a:sym typeface="Wingdings" charset="2"/>
              </a:rPr>
              <a:t></a:t>
            </a:r>
            <a:r>
              <a:rPr lang="en-US" sz="2600" dirty="0">
                <a:sym typeface="Wingdings" charset="2"/>
              </a:rPr>
              <a:t> DAML+OIL </a:t>
            </a:r>
            <a:r>
              <a:rPr lang="en-US" sz="2600" dirty="0" err="1">
                <a:sym typeface="Wingdings" charset="2"/>
              </a:rPr>
              <a:t></a:t>
            </a:r>
            <a:r>
              <a:rPr lang="en-US" sz="2600" dirty="0">
                <a:sym typeface="Wingdings" charset="2"/>
              </a:rPr>
              <a:t> OWL</a:t>
            </a:r>
            <a:r>
              <a:rPr lang="en-US" sz="2600" dirty="0">
                <a:sym typeface="Wingdings"/>
              </a:rPr>
              <a:t> OWL2</a:t>
            </a:r>
            <a:r>
              <a:rPr lang="en-US" sz="2600" dirty="0"/>
              <a:t> </a:t>
            </a:r>
          </a:p>
          <a:p>
            <a:pPr lvl="1">
              <a:lnSpc>
                <a:spcPct val="80000"/>
              </a:lnSpc>
            </a:pPr>
            <a:endParaRPr lang="en-US" sz="2600" dirty="0"/>
          </a:p>
          <a:p>
            <a:pPr>
              <a:lnSpc>
                <a:spcPct val="80000"/>
              </a:lnSpc>
            </a:pPr>
            <a:r>
              <a:rPr lang="en-US" sz="3100" dirty="0"/>
              <a:t>Emergence of Tractable Subsets of </a:t>
            </a:r>
            <a:r>
              <a:rPr lang="en-US" sz="3100" dirty="0" err="1"/>
              <a:t>DLs</a:t>
            </a:r>
            <a:r>
              <a:rPr lang="en-US" sz="3100" dirty="0"/>
              <a:t>/OWL– EL</a:t>
            </a:r>
            <a:r>
              <a:rPr lang="en-US" sz="3100" baseline="30000" dirty="0"/>
              <a:t>++</a:t>
            </a:r>
            <a:r>
              <a:rPr lang="en-US" sz="3100" dirty="0"/>
              <a:t>, Conjunctive queries, … (2005..current)</a:t>
            </a:r>
            <a:endParaRPr lang="en-US" sz="3100" baseline="30000" dirty="0"/>
          </a:p>
          <a:p>
            <a:pPr lvl="1">
              <a:lnSpc>
                <a:spcPct val="80000"/>
              </a:lnSpc>
            </a:pPr>
            <a:r>
              <a:rPr lang="en-US" sz="2500" dirty="0"/>
              <a:t>Roughly what GRAIL and SNOMED had been doing but logically proven</a:t>
            </a:r>
          </a:p>
          <a:p>
            <a:pPr lvl="2">
              <a:lnSpc>
                <a:spcPct val="80000"/>
              </a:lnSpc>
            </a:pPr>
            <a:r>
              <a:rPr lang="en-US" sz="2100" dirty="0"/>
              <a:t>Missed completely by early DL developers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endParaRPr lang="en-US" sz="31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200025"/>
            <a:ext cx="12674599" cy="1473200"/>
          </a:xfrm>
        </p:spPr>
        <p:txBody>
          <a:bodyPr/>
          <a:lstStyle/>
          <a:p>
            <a:pPr>
              <a:defRPr/>
            </a:pPr>
            <a:r>
              <a:rPr lang="en-US"/>
              <a:t>…but Description logics are very different from    </a:t>
            </a:r>
            <a:br>
              <a:rPr lang="en-US"/>
            </a:br>
            <a:r>
              <a:rPr lang="en-US"/>
              <a:t>   frames </a:t>
            </a:r>
            <a:r>
              <a:rPr lang="en-US" sz="4000"/>
              <a:t>(even though intended to formalise them)</a:t>
            </a:r>
            <a:r>
              <a:rPr lang="en-US"/>
              <a:t/>
            </a:r>
            <a:br>
              <a:rPr lang="en-US"/>
            </a:br>
            <a:endParaRPr lang="en-US" i="1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254001" y="1981200"/>
            <a:ext cx="12750800" cy="6870700"/>
          </a:xfrm>
        </p:spPr>
        <p:txBody>
          <a:bodyPr/>
          <a:lstStyle/>
          <a:p>
            <a:r>
              <a:rPr lang="en-US" sz="4000"/>
              <a:t>Frames are systems of </a:t>
            </a:r>
            <a:r>
              <a:rPr lang="en-US" sz="4000" i="1">
                <a:solidFill>
                  <a:srgbClr val="00FF00"/>
                </a:solidFill>
              </a:rPr>
              <a:t>Templates </a:t>
            </a:r>
            <a:r>
              <a:rPr lang="en-US" sz="4000"/>
              <a:t/>
            </a:r>
            <a:br>
              <a:rPr lang="en-US" sz="4000"/>
            </a:br>
            <a:r>
              <a:rPr lang="en-US" sz="4000"/>
              <a:t>Description logics/OWL are sets of </a:t>
            </a:r>
            <a:r>
              <a:rPr lang="en-US" sz="4000" i="1">
                <a:solidFill>
                  <a:srgbClr val="FF6600"/>
                </a:solidFill>
              </a:rPr>
              <a:t>Axioms</a:t>
            </a:r>
          </a:p>
          <a:p>
            <a:pPr lvl="1"/>
            <a:r>
              <a:rPr lang="en-US" sz="3600"/>
              <a:t>Failures to realise the difference led to confusion</a:t>
            </a:r>
          </a:p>
          <a:p>
            <a:pPr lvl="2"/>
            <a:r>
              <a:rPr lang="en-US" sz="3200"/>
              <a:t>Most SW Engineering paradigms use templates</a:t>
            </a:r>
          </a:p>
          <a:p>
            <a:pPr lvl="3"/>
            <a:r>
              <a:rPr lang="en-US" sz="2800"/>
              <a:t>OO Programming (e.g. Java objects)</a:t>
            </a:r>
          </a:p>
          <a:p>
            <a:pPr lvl="3"/>
            <a:r>
              <a:rPr lang="en-US" sz="2800"/>
              <a:t>UML Class diagrams, Model Driven Architectures (MDA/OMG)</a:t>
            </a:r>
          </a:p>
          <a:p>
            <a:pPr lvl="3"/>
            <a:endParaRPr lang="en-US" sz="2800"/>
          </a:p>
          <a:p>
            <a:pPr lvl="2"/>
            <a:r>
              <a:rPr lang="en-US" sz="3200"/>
              <a:t>Many general knowledge representations use templates</a:t>
            </a:r>
          </a:p>
          <a:p>
            <a:pPr lvl="3"/>
            <a:r>
              <a:rPr lang="en-US" sz="2800"/>
              <a:t>Frames (Protégé frames)</a:t>
            </a:r>
          </a:p>
          <a:p>
            <a:pPr lvl="3"/>
            <a:r>
              <a:rPr lang="en-US" sz="2800"/>
              <a:t>Cannonical Graphs in Sowa’s Conceptual Graphs</a:t>
            </a:r>
          </a:p>
          <a:p>
            <a:pPr lvl="3"/>
            <a:r>
              <a:rPr lang="en-US" sz="2800"/>
              <a:t>RDF(S)  (as usually used)</a:t>
            </a:r>
          </a:p>
          <a:p>
            <a:pPr lvl="3"/>
            <a:r>
              <a:rPr lang="en-US" sz="2800"/>
              <a:t>F-Logic, …</a:t>
            </a:r>
          </a:p>
          <a:p>
            <a:pPr lvl="3"/>
            <a:r>
              <a:rPr lang="en-US" sz="2800"/>
              <a:t>Protocols, guidelines, …</a:t>
            </a:r>
          </a:p>
          <a:p>
            <a:endParaRPr lang="en-US"/>
          </a:p>
          <a:p>
            <a:pPr lvl="3"/>
            <a:endParaRPr lang="en-US"/>
          </a:p>
          <a:p>
            <a:pPr lvl="3"/>
            <a:endParaRPr lang="en-US"/>
          </a:p>
          <a:p>
            <a:pPr lvl="3"/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4754634-71E2-7D42-864B-D5F9550099F7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3004800" cy="1473200"/>
          </a:xfrm>
        </p:spPr>
        <p:txBody>
          <a:bodyPr/>
          <a:lstStyle/>
          <a:p>
            <a:pPr>
              <a:defRPr/>
            </a:pPr>
            <a:r>
              <a:rPr lang="en-US"/>
              <a:t>Axioms &amp; Templates: </a:t>
            </a:r>
            <a:r>
              <a:rPr lang="en-US" i="1"/>
              <a:t>Fundamentally different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254000" y="685800"/>
            <a:ext cx="12446000" cy="8382000"/>
          </a:xfrm>
        </p:spPr>
        <p:txBody>
          <a:bodyPr/>
          <a:lstStyle/>
          <a:p>
            <a:r>
              <a:rPr lang="en-US" sz="3600" dirty="0">
                <a:solidFill>
                  <a:srgbClr val="FF6600"/>
                </a:solidFill>
              </a:rPr>
              <a:t>Axioms restrict</a:t>
            </a:r>
          </a:p>
          <a:p>
            <a:pPr lvl="1"/>
            <a:r>
              <a:rPr lang="en-US" sz="2400" dirty="0"/>
              <a:t>The more you know the less you can say</a:t>
            </a:r>
          </a:p>
          <a:p>
            <a:pPr lvl="2"/>
            <a:r>
              <a:rPr lang="en-US" sz="2000" dirty="0"/>
              <a:t>If there are no axioms, you can say anything</a:t>
            </a:r>
          </a:p>
          <a:p>
            <a:pPr lvl="2"/>
            <a:r>
              <a:rPr lang="en-US" sz="2000" dirty="0"/>
              <a:t>“Sanctioning” hard - Hard to ask “what can be said here?”</a:t>
            </a:r>
          </a:p>
          <a:p>
            <a:pPr lvl="1"/>
            <a:r>
              <a:rPr lang="en-US" sz="2400" dirty="0"/>
              <a:t>Global – any change can affect anything anywhere</a:t>
            </a:r>
          </a:p>
          <a:p>
            <a:pPr lvl="1"/>
            <a:r>
              <a:rPr lang="en-US" sz="2400" dirty="0"/>
              <a:t>Violations of axioms </a:t>
            </a:r>
            <a:r>
              <a:rPr lang="en-US" sz="2400" dirty="0" err="1">
                <a:sym typeface="Wingdings" charset="2"/>
              </a:rPr>
              <a:t></a:t>
            </a:r>
            <a:r>
              <a:rPr lang="en-US" sz="2400" dirty="0">
                <a:sym typeface="Wingdings" charset="2"/>
              </a:rPr>
              <a:t> unintended inferences (often of unsatisfiability)</a:t>
            </a:r>
            <a:endParaRPr lang="en-US" sz="2000" dirty="0">
              <a:sym typeface="Wingdings" charset="2"/>
            </a:endParaRPr>
          </a:p>
          <a:p>
            <a:pPr lvl="1"/>
            <a:r>
              <a:rPr lang="en-US" sz="2400" dirty="0">
                <a:sym typeface="Wingdings" charset="2"/>
              </a:rPr>
              <a:t>Over-riding impossible - monotonic</a:t>
            </a:r>
            <a:endParaRPr lang="en-US" sz="2400" dirty="0"/>
          </a:p>
          <a:p>
            <a:pPr lvl="1"/>
            <a:r>
              <a:rPr lang="en-US" sz="2400" dirty="0"/>
              <a:t>Open world - Must be closed for instance </a:t>
            </a:r>
            <a:r>
              <a:rPr lang="en-US" sz="2400" dirty="0" smtClean="0"/>
              <a:t>validation of missing values</a:t>
            </a:r>
          </a:p>
          <a:p>
            <a:pPr lvl="1"/>
            <a:r>
              <a:rPr lang="en-US" sz="2400" dirty="0"/>
              <a:t>Inferentially rich; most semantics internal &amp; standard, composition natural</a:t>
            </a:r>
          </a:p>
          <a:p>
            <a:r>
              <a:rPr lang="en-US" sz="3600" dirty="0">
                <a:solidFill>
                  <a:srgbClr val="00FF00"/>
                </a:solidFill>
              </a:rPr>
              <a:t>Templates permit</a:t>
            </a:r>
          </a:p>
          <a:p>
            <a:pPr lvl="1"/>
            <a:r>
              <a:rPr lang="en-US" sz="2400" dirty="0"/>
              <a:t>The more you know the more you can say</a:t>
            </a:r>
          </a:p>
          <a:p>
            <a:pPr lvl="2"/>
            <a:r>
              <a:rPr lang="en-US" sz="2000" dirty="0"/>
              <a:t>If there is no  field/slot in the template you just can’t say it</a:t>
            </a:r>
          </a:p>
          <a:p>
            <a:pPr lvl="2"/>
            <a:r>
              <a:rPr lang="en-US" sz="2000" dirty="0"/>
              <a:t>“</a:t>
            </a:r>
            <a:r>
              <a:rPr lang="en-US" sz="2000" dirty="0" err="1"/>
              <a:t>Sanctioing</a:t>
            </a:r>
            <a:r>
              <a:rPr lang="en-US" sz="2000" dirty="0"/>
              <a:t> easy” – Easy to ask “what can be said here?”</a:t>
            </a:r>
            <a:endParaRPr lang="en-US" dirty="0">
              <a:solidFill>
                <a:srgbClr val="FFFF93"/>
              </a:solidFill>
            </a:endParaRPr>
          </a:p>
          <a:p>
            <a:pPr lvl="1"/>
            <a:r>
              <a:rPr lang="en-US" sz="2400" dirty="0"/>
              <a:t>Local – changes affect only a class &amp; its descendants</a:t>
            </a:r>
          </a:p>
          <a:p>
            <a:pPr lvl="1"/>
            <a:r>
              <a:rPr lang="en-US" sz="2400" dirty="0"/>
              <a:t>Violations of templates </a:t>
            </a:r>
            <a:r>
              <a:rPr lang="en-US" sz="2400" dirty="0" err="1">
                <a:sym typeface="Wingdings" charset="2"/>
              </a:rPr>
              <a:t></a:t>
            </a:r>
            <a:r>
              <a:rPr lang="en-US" sz="2400" dirty="0">
                <a:sym typeface="Wingdings" charset="2"/>
              </a:rPr>
              <a:t> </a:t>
            </a:r>
            <a:r>
              <a:rPr lang="en-US" sz="2400" dirty="0"/>
              <a:t>validation errors</a:t>
            </a:r>
            <a:endParaRPr lang="en-US" sz="2000" dirty="0"/>
          </a:p>
          <a:p>
            <a:pPr lvl="1"/>
            <a:r>
              <a:rPr lang="en-US" sz="2400" dirty="0"/>
              <a:t>Over-riding natural – usually non-monotonic</a:t>
            </a:r>
          </a:p>
          <a:p>
            <a:pPr lvl="1"/>
            <a:r>
              <a:rPr lang="en-US" sz="2400" dirty="0"/>
              <a:t>Closed world - Instance validation natural &amp; local</a:t>
            </a:r>
          </a:p>
          <a:p>
            <a:pPr lvl="1"/>
            <a:r>
              <a:rPr lang="en-US" sz="2400" dirty="0"/>
              <a:t>Inferentially weak; most semantics external in queries, no composition</a:t>
            </a: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7C58147-97FE-5443-92EC-F4099996D4E5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49400" y="200025"/>
            <a:ext cx="11455399" cy="1473200"/>
          </a:xfrm>
        </p:spPr>
        <p:txBody>
          <a:bodyPr/>
          <a:lstStyle/>
          <a:p>
            <a:pPr>
              <a:defRPr/>
            </a:pPr>
            <a:r>
              <a:rPr lang="en-US"/>
              <a:t>Key event 2: Borrowing of the word “ontology” for InformationSystems</a:t>
            </a:r>
          </a:p>
        </p:txBody>
      </p:sp>
      <p:sp>
        <p:nvSpPr>
          <p:cNvPr id="79875" name="Content Placeholder 6"/>
          <p:cNvSpPr>
            <a:spLocks noGrp="1"/>
          </p:cNvSpPr>
          <p:nvPr>
            <p:ph idx="1"/>
          </p:nvPr>
        </p:nvSpPr>
        <p:spPr>
          <a:xfrm>
            <a:off x="482600" y="1676400"/>
            <a:ext cx="12522200" cy="7567613"/>
          </a:xfrm>
        </p:spPr>
        <p:txBody>
          <a:bodyPr/>
          <a:lstStyle/>
          <a:p>
            <a:r>
              <a:rPr lang="en-US" dirty="0" smtClean="0"/>
              <a:t>Most </a:t>
            </a:r>
            <a:r>
              <a:rPr lang="en-US" dirty="0"/>
              <a:t>notably by Tom Gruber</a:t>
            </a:r>
          </a:p>
          <a:p>
            <a:pPr lvl="1"/>
            <a:r>
              <a:rPr lang="en-US" dirty="0"/>
              <a:t>But “in the air”.  UML and Model Based Architectures on the rise.</a:t>
            </a:r>
            <a:endParaRPr lang="en-US" dirty="0" smtClean="0"/>
          </a:p>
          <a:p>
            <a:r>
              <a:rPr lang="en-US" dirty="0" smtClean="0"/>
              <a:t>Victim of our own success</a:t>
            </a:r>
            <a:endParaRPr lang="en-US" dirty="0"/>
          </a:p>
          <a:p>
            <a:pPr lvl="1"/>
            <a:r>
              <a:rPr lang="en-US" dirty="0"/>
              <a:t>“Ontology” ~ “Good”</a:t>
            </a:r>
          </a:p>
          <a:p>
            <a:r>
              <a:rPr lang="en-US" dirty="0"/>
              <a:t>But did not</a:t>
            </a:r>
            <a:r>
              <a:rPr lang="en-US" dirty="0" smtClean="0"/>
              <a:t> initially differentiate  “ontologies”  </a:t>
            </a:r>
            <a:r>
              <a:rPr lang="en-US" dirty="0"/>
              <a:t>from “Knowledge Representation” or “information modelling”</a:t>
            </a:r>
          </a:p>
          <a:p>
            <a:pPr lvl="1"/>
            <a:r>
              <a:rPr lang="en-US" dirty="0"/>
              <a:t>Confused the </a:t>
            </a:r>
            <a:r>
              <a:rPr lang="en-US" i="1" dirty="0">
                <a:solidFill>
                  <a:srgbClr val="FFFFFF"/>
                </a:solidFill>
              </a:rPr>
              <a:t>universal </a:t>
            </a:r>
            <a:r>
              <a:rPr lang="en-US" dirty="0"/>
              <a:t>&amp; </a:t>
            </a:r>
            <a:r>
              <a:rPr lang="en-US" i="1" dirty="0">
                <a:solidFill>
                  <a:srgbClr val="FFFFFF"/>
                </a:solidFill>
              </a:rPr>
              <a:t>particular</a:t>
            </a:r>
            <a:r>
              <a:rPr lang="en-US" i="1" dirty="0"/>
              <a:t/>
            </a:r>
            <a:br>
              <a:rPr lang="en-US" i="1" dirty="0"/>
            </a:br>
            <a:r>
              <a:rPr lang="en-US" i="1" dirty="0"/>
              <a:t>                      </a:t>
            </a:r>
            <a:r>
              <a:rPr lang="en-US" i="1" dirty="0">
                <a:solidFill>
                  <a:srgbClr val="FFFFFF"/>
                </a:solidFill>
              </a:rPr>
              <a:t>any world  </a:t>
            </a:r>
            <a:r>
              <a:rPr lang="en-US" i="1" dirty="0"/>
              <a:t>&amp; </a:t>
            </a:r>
            <a:r>
              <a:rPr lang="en-US" i="1" dirty="0">
                <a:solidFill>
                  <a:srgbClr val="FFFFFF"/>
                </a:solidFill>
              </a:rPr>
              <a:t>this world</a:t>
            </a:r>
            <a:r>
              <a:rPr lang="en-US" i="1" dirty="0"/>
              <a:t/>
            </a:r>
            <a:br>
              <a:rPr lang="en-US" i="1" dirty="0"/>
            </a:br>
            <a:r>
              <a:rPr lang="en-US" i="1" dirty="0"/>
              <a:t>        </a:t>
            </a:r>
            <a:r>
              <a:rPr lang="en-US" i="1" dirty="0">
                <a:solidFill>
                  <a:srgbClr val="FFFFFF"/>
                </a:solidFill>
              </a:rPr>
              <a:t>things in the world </a:t>
            </a:r>
            <a:r>
              <a:rPr lang="en-US" i="1" dirty="0"/>
              <a:t>&amp; </a:t>
            </a:r>
            <a:r>
              <a:rPr lang="en-US" i="1" dirty="0">
                <a:solidFill>
                  <a:srgbClr val="FFFFFF"/>
                </a:solidFill>
              </a:rPr>
              <a:t>information about them</a:t>
            </a:r>
          </a:p>
          <a:p>
            <a:r>
              <a:rPr lang="en-US" dirty="0"/>
              <a:t>…and invited philosophers to both clarify and </a:t>
            </a:r>
            <a:r>
              <a:rPr lang="en-US" dirty="0" smtClean="0"/>
              <a:t>confuse</a:t>
            </a:r>
          </a:p>
          <a:p>
            <a:r>
              <a:rPr lang="en-US" dirty="0" smtClean="0"/>
              <a:t>… and then became identified with T-Boxes, </a:t>
            </a:r>
            <a:r>
              <a:rPr lang="en-US" dirty="0" err="1" smtClean="0"/>
              <a:t>DLs</a:t>
            </a:r>
            <a:r>
              <a:rPr lang="en-US" dirty="0" smtClean="0"/>
              <a:t>/OWL</a:t>
            </a:r>
          </a:p>
          <a:p>
            <a:pPr lvl="1"/>
            <a:r>
              <a:rPr lang="en-US" dirty="0" smtClean="0"/>
              <a:t>At least by some communities</a:t>
            </a:r>
          </a:p>
          <a:p>
            <a:pPr lvl="2"/>
            <a:r>
              <a:rPr lang="en-US" dirty="0" smtClean="0"/>
              <a:t>… and distored to do many things for which never intended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</a:p>
          <a:p>
            <a:pPr lvl="1"/>
            <a:endParaRPr lang="en-US" dirty="0"/>
          </a:p>
        </p:txBody>
      </p:sp>
      <p:sp>
        <p:nvSpPr>
          <p:cNvPr id="7987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03FA38E-CCD3-B048-85C5-B81021681831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262" y="200025"/>
            <a:ext cx="11412537" cy="1473200"/>
          </a:xfrm>
        </p:spPr>
        <p:txBody>
          <a:bodyPr/>
          <a:lstStyle/>
          <a:p>
            <a:pPr>
              <a:defRPr/>
            </a:pPr>
            <a:r>
              <a:rPr lang="en-US">
                <a:sym typeface="Arial" pitchFamily="1" charset="0"/>
              </a:rPr>
              <a:t>…but there is much more to knowledge </a:t>
            </a:r>
            <a:br>
              <a:rPr lang="en-US">
                <a:sym typeface="Arial" pitchFamily="1" charset="0"/>
              </a:rPr>
            </a:br>
            <a:r>
              <a:rPr lang="en-US">
                <a:sym typeface="Arial" pitchFamily="1" charset="0"/>
              </a:rPr>
              <a:t>   representation than ontologies / DLs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635000" y="1828800"/>
            <a:ext cx="12268200" cy="7404100"/>
          </a:xfrm>
        </p:spPr>
        <p:txBody>
          <a:bodyPr/>
          <a:lstStyle/>
          <a:p>
            <a:r>
              <a:rPr lang="en-US" dirty="0" err="1"/>
              <a:t>DLs</a:t>
            </a:r>
            <a:r>
              <a:rPr lang="en-US" dirty="0"/>
              <a:t> / </a:t>
            </a:r>
            <a:r>
              <a:rPr lang="en-US" dirty="0" smtClean="0"/>
              <a:t>OWL / T-Boxes represents </a:t>
            </a:r>
            <a:r>
              <a:rPr lang="en-US" dirty="0"/>
              <a:t>“universal knowledge” </a:t>
            </a:r>
            <a:endParaRPr lang="en-US" dirty="0" smtClean="0"/>
          </a:p>
          <a:p>
            <a:pPr lvl="1"/>
            <a:r>
              <a:rPr lang="en-US" dirty="0" err="1" smtClean="0"/>
              <a:t>Univeral</a:t>
            </a:r>
            <a:r>
              <a:rPr lang="en-US" dirty="0" smtClean="0"/>
              <a:t>, two </a:t>
            </a:r>
            <a:r>
              <a:rPr lang="en-US" dirty="0"/>
              <a:t>valued, monotonic, first</a:t>
            </a:r>
            <a:r>
              <a:rPr lang="en-US" dirty="0" smtClean="0"/>
              <a:t>-order</a:t>
            </a:r>
            <a:r>
              <a:rPr lang="en-US" dirty="0"/>
              <a:t>…</a:t>
            </a:r>
          </a:p>
          <a:p>
            <a:r>
              <a:rPr lang="en-US" i="1" dirty="0"/>
              <a:t>Most knowledge is not “universal” (“particular”)</a:t>
            </a:r>
          </a:p>
          <a:p>
            <a:pPr lvl="1"/>
            <a:r>
              <a:rPr lang="en-US" dirty="0"/>
              <a:t>About this “world”, rather than all “worlds”</a:t>
            </a:r>
          </a:p>
          <a:p>
            <a:r>
              <a:rPr lang="en-US" i="1" dirty="0"/>
              <a:t>Much knowledge is not first order, monotonic or even logical</a:t>
            </a:r>
          </a:p>
          <a:p>
            <a:pPr lvl="1"/>
            <a:r>
              <a:rPr lang="en-US" dirty="0" err="1"/>
              <a:t>Probabalistic</a:t>
            </a:r>
            <a:r>
              <a:rPr lang="en-US" dirty="0"/>
              <a:t>, </a:t>
            </a:r>
            <a:r>
              <a:rPr lang="en-US" dirty="0" err="1"/>
              <a:t>possibilistic</a:t>
            </a:r>
            <a:r>
              <a:rPr lang="en-US" dirty="0"/>
              <a:t>, fuzzy, </a:t>
            </a:r>
            <a:r>
              <a:rPr lang="en-US" dirty="0" err="1"/>
              <a:t>associationist</a:t>
            </a:r>
            <a:r>
              <a:rPr lang="en-US" dirty="0"/>
              <a:t>, navigational, linguistic, procedural,</a:t>
            </a:r>
            <a:r>
              <a:rPr lang="en-US" dirty="0" smtClean="0"/>
              <a:t> heuristic, </a:t>
            </a:r>
            <a:r>
              <a:rPr lang="en-US" dirty="0" err="1"/>
              <a:t>defeasible</a:t>
            </a:r>
            <a:r>
              <a:rPr lang="en-US" dirty="0"/>
              <a:t>, higher order, </a:t>
            </a:r>
            <a:r>
              <a:rPr lang="en-US" dirty="0" smtClean="0"/>
              <a:t>epistemic, …</a:t>
            </a:r>
          </a:p>
          <a:p>
            <a:r>
              <a:rPr lang="en-US" dirty="0" smtClean="0"/>
              <a:t>So the question is:</a:t>
            </a:r>
          </a:p>
          <a:p>
            <a:pPr lvl="1"/>
            <a:r>
              <a:rPr lang="en-US" dirty="0" smtClean="0"/>
              <a:t>How do “ontologies” fit into the rest of knowledge representation?</a:t>
            </a:r>
          </a:p>
          <a:p>
            <a:pPr lvl="1"/>
            <a:endParaRPr lang="en-US" dirty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01B6D0A-379F-CE4C-896E-F4D44AC818B4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82600" y="3429000"/>
            <a:ext cx="12344400" cy="2090737"/>
          </a:xfrm>
        </p:spPr>
        <p:txBody>
          <a:bodyPr/>
          <a:lstStyle/>
          <a:p>
            <a:pPr algn="ctr"/>
            <a:r>
              <a:rPr lang="en-US" dirty="0" smtClean="0"/>
              <a:t>Deeply intertwined with thinking about how “</a:t>
            </a:r>
            <a:r>
              <a:rPr lang="en-US" dirty="0" err="1" smtClean="0"/>
              <a:t>Ontologies</a:t>
            </a:r>
            <a:r>
              <a:rPr lang="en-US" baseline="-25000" dirty="0" err="1" smtClean="0"/>
              <a:t>InformationSystems</a:t>
            </a:r>
            <a:r>
              <a:rPr lang="en-US" dirty="0" smtClean="0"/>
              <a:t>” should be built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930400" y="6400800"/>
            <a:ext cx="9102725" cy="2492375"/>
          </a:xfrm>
        </p:spPr>
        <p:txBody>
          <a:bodyPr/>
          <a:lstStyle/>
          <a:p>
            <a:r>
              <a:rPr lang="en-US" dirty="0" smtClean="0"/>
              <a:t>Examples from use for Terminology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conundrums &amp; approaches to</a:t>
            </a:r>
            <a:br>
              <a:rPr lang="en-US" dirty="0" smtClean="0"/>
            </a:br>
            <a:r>
              <a:rPr lang="en-US" dirty="0" smtClean="0"/>
              <a:t>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8" name="Title 4"/>
          <p:cNvSpPr txBox="1">
            <a:spLocks/>
          </p:cNvSpPr>
          <p:nvPr/>
        </p:nvSpPr>
        <p:spPr bwMode="auto">
          <a:xfrm>
            <a:off x="0" y="838200"/>
            <a:ext cx="13004800" cy="20907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marL="57150" marR="0" lvl="0" indent="-571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942638" algn="l"/>
              </a:tabLst>
              <a:defRPr/>
            </a:pP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How</a:t>
            </a:r>
            <a:r>
              <a:rPr kumimoji="0" lang="en-US" sz="4400" b="1" i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 do ontologies relate to the rest of Knowledge Representation </a:t>
            </a:r>
            <a:r>
              <a:rPr kumimoji="0" lang="en-US" sz="3600" b="1" i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(&amp; Information systems)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ＭＳ Ｐゴシック" charset="-128"/>
              <a:cs typeface="ＭＳ Ｐゴシック" charset="-128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matters &amp; what doesn’t:</a:t>
            </a:r>
            <a:br>
              <a:rPr lang="en-US"/>
            </a:br>
            <a:r>
              <a:rPr lang="en-US"/>
              <a:t>How do we know if it is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828800"/>
            <a:ext cx="12496800" cy="6870700"/>
          </a:xfrm>
        </p:spPr>
        <p:txBody>
          <a:bodyPr/>
          <a:lstStyle/>
          <a:p>
            <a:r>
              <a:rPr lang="en-US" dirty="0"/>
              <a:t>If I ask questions, do I get the correct answers?</a:t>
            </a:r>
          </a:p>
          <a:p>
            <a:pPr lvl="1"/>
            <a:r>
              <a:rPr lang="en-US" dirty="0"/>
              <a:t>Inferences and responses to queries</a:t>
            </a:r>
          </a:p>
          <a:p>
            <a:pPr lvl="2"/>
            <a:r>
              <a:rPr lang="en-US" dirty="0"/>
              <a:t>As judged by domain experts</a:t>
            </a:r>
          </a:p>
          <a:p>
            <a:pPr lvl="2"/>
            <a:r>
              <a:rPr lang="en-US" dirty="0"/>
              <a:t>As tested by empirical studies</a:t>
            </a:r>
          </a:p>
          <a:p>
            <a:pPr lvl="2"/>
            <a:r>
              <a:rPr lang="en-US" dirty="0"/>
              <a:t>As</a:t>
            </a:r>
            <a:r>
              <a:rPr lang="en-US" dirty="0" smtClean="0"/>
              <a:t> tested by results when used </a:t>
            </a:r>
            <a:r>
              <a:rPr lang="en-US" dirty="0"/>
              <a:t>in applications </a:t>
            </a:r>
          </a:p>
          <a:p>
            <a:r>
              <a:rPr lang="en-US" dirty="0"/>
              <a:t>Some errors are obvious in applications</a:t>
            </a:r>
          </a:p>
          <a:p>
            <a:pPr lvl="1"/>
            <a:r>
              <a:rPr lang="en-US" dirty="0"/>
              <a:t>Omissions:</a:t>
            </a:r>
          </a:p>
          <a:p>
            <a:pPr lvl="2"/>
            <a:r>
              <a:rPr lang="en-US" dirty="0">
                <a:solidFill>
                  <a:srgbClr val="FFFF93"/>
                </a:solidFill>
              </a:rPr>
              <a:t>Myocardial infarction </a:t>
            </a:r>
            <a:r>
              <a:rPr lang="en-US" dirty="0"/>
              <a:t>should be kind of </a:t>
            </a:r>
            <a:r>
              <a:rPr lang="en-US" dirty="0">
                <a:solidFill>
                  <a:srgbClr val="FFFF93"/>
                </a:solidFill>
              </a:rPr>
              <a:t>Ischemic heart disease</a:t>
            </a:r>
          </a:p>
          <a:p>
            <a:pPr lvl="3"/>
            <a:r>
              <a:rPr lang="en-US" dirty="0"/>
              <a:t>Queries for </a:t>
            </a:r>
            <a:r>
              <a:rPr lang="en-US" i="0" dirty="0">
                <a:solidFill>
                  <a:srgbClr val="FFFF93"/>
                </a:solidFill>
              </a:rPr>
              <a:t>Ischemic Heart disease </a:t>
            </a:r>
            <a:r>
              <a:rPr lang="en-US" dirty="0"/>
              <a:t>are expected to return </a:t>
            </a:r>
            <a:r>
              <a:rPr lang="en-US" i="0" dirty="0" smtClean="0">
                <a:solidFill>
                  <a:srgbClr val="FFFF93"/>
                </a:solidFill>
              </a:rPr>
              <a:t>Myocardial Infarctions</a:t>
            </a:r>
            <a:endParaRPr lang="en-US" dirty="0" smtClean="0"/>
          </a:p>
          <a:p>
            <a:pPr lvl="3"/>
            <a:r>
              <a:rPr lang="en-US" dirty="0"/>
              <a:t>Rules </a:t>
            </a:r>
            <a:r>
              <a:rPr lang="en-US" i="0" dirty="0"/>
              <a:t>for </a:t>
            </a:r>
            <a:r>
              <a:rPr lang="en-US" i="0" dirty="0">
                <a:solidFill>
                  <a:srgbClr val="FFFF93"/>
                </a:solidFill>
              </a:rPr>
              <a:t>Ischemic Heart Disease </a:t>
            </a:r>
            <a:r>
              <a:rPr lang="en-US" dirty="0"/>
              <a:t>should apply </a:t>
            </a:r>
            <a:r>
              <a:rPr lang="en-US" i="0" dirty="0"/>
              <a:t>to </a:t>
            </a:r>
            <a:r>
              <a:rPr lang="en-US" i="0" dirty="0">
                <a:solidFill>
                  <a:srgbClr val="FFFF93"/>
                </a:solidFill>
              </a:rPr>
              <a:t>Myocardial </a:t>
            </a:r>
            <a:r>
              <a:rPr lang="en-US" i="0" dirty="0" smtClean="0">
                <a:solidFill>
                  <a:srgbClr val="FFFF93"/>
                </a:solidFill>
              </a:rPr>
              <a:t>infarctions</a:t>
            </a:r>
            <a:endParaRPr lang="en-US" i="0" dirty="0">
              <a:solidFill>
                <a:srgbClr val="FFFF93"/>
              </a:solidFill>
            </a:endParaRPr>
          </a:p>
          <a:p>
            <a:pPr lvl="2"/>
            <a:r>
              <a:rPr lang="en-US" dirty="0"/>
              <a:t>Definition: “</a:t>
            </a:r>
            <a:r>
              <a:rPr lang="en-US" dirty="0">
                <a:solidFill>
                  <a:srgbClr val="FFFF93"/>
                </a:solidFill>
              </a:rPr>
              <a:t>Infarction</a:t>
            </a:r>
            <a:r>
              <a:rPr lang="en-US" dirty="0"/>
              <a:t>” == “</a:t>
            </a:r>
            <a:r>
              <a:rPr lang="en-US" dirty="0">
                <a:solidFill>
                  <a:srgbClr val="FFFF93"/>
                </a:solidFill>
              </a:rPr>
              <a:t>Cell death due to ischemia</a:t>
            </a:r>
            <a:r>
              <a:rPr lang="en-US" dirty="0"/>
              <a:t>”</a:t>
            </a:r>
          </a:p>
          <a:p>
            <a:pPr lvl="3"/>
            <a:r>
              <a:rPr lang="en-US" dirty="0"/>
              <a:t>Omitted in prior versions of SNOMED</a:t>
            </a:r>
          </a:p>
          <a:p>
            <a:pPr lvl="1"/>
            <a:r>
              <a:rPr lang="en-US" i="0" dirty="0"/>
              <a:t>Commissions</a:t>
            </a:r>
          </a:p>
          <a:p>
            <a:pPr lvl="2"/>
            <a:r>
              <a:rPr lang="en-US" dirty="0">
                <a:solidFill>
                  <a:srgbClr val="FFFF93"/>
                </a:solidFill>
              </a:rPr>
              <a:t>Injuries to arteries of the ankle</a:t>
            </a:r>
            <a:r>
              <a:rPr lang="en-US" dirty="0">
                <a:solidFill>
                  <a:srgbClr val="F5E7BB"/>
                </a:solidFill>
              </a:rPr>
              <a:t> </a:t>
            </a:r>
            <a:r>
              <a:rPr lang="en-US" dirty="0"/>
              <a:t>are not </a:t>
            </a:r>
            <a:r>
              <a:rPr lang="en-US" dirty="0">
                <a:solidFill>
                  <a:srgbClr val="FFFF93"/>
                </a:solidFill>
              </a:rPr>
              <a:t>disorders of the pelvis</a:t>
            </a:r>
          </a:p>
          <a:p>
            <a:pPr lvl="3"/>
            <a:r>
              <a:rPr lang="en-US" dirty="0"/>
              <a:t>Schema error in SNOMED</a:t>
            </a:r>
          </a:p>
          <a:p>
            <a:pPr lvl="2"/>
            <a:r>
              <a:rPr lang="en-US" dirty="0">
                <a:solidFill>
                  <a:srgbClr val="FFFF93"/>
                </a:solidFill>
              </a:rPr>
              <a:t>Thrombophlebitis of breast </a:t>
            </a:r>
            <a:r>
              <a:rPr lang="en-US" dirty="0"/>
              <a:t>is not a </a:t>
            </a:r>
            <a:r>
              <a:rPr lang="en-US" dirty="0">
                <a:solidFill>
                  <a:srgbClr val="FFFF93"/>
                </a:solidFill>
              </a:rPr>
              <a:t>disorder of the lower extremity</a:t>
            </a:r>
          </a:p>
          <a:p>
            <a:pPr lvl="3"/>
            <a:r>
              <a:rPr lang="en-US" dirty="0"/>
              <a:t>Simple accident in anatomy compounded by same schema error in SNOMED</a:t>
            </a:r>
          </a:p>
          <a:p>
            <a:pPr lvl="3"/>
            <a:endParaRPr lang="en-US" i="0" dirty="0">
              <a:solidFill>
                <a:srgbClr val="FFFF93"/>
              </a:solidFill>
            </a:endParaRP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200024"/>
            <a:ext cx="12750800" cy="2238375"/>
          </a:xfrm>
        </p:spPr>
        <p:txBody>
          <a:bodyPr/>
          <a:lstStyle/>
          <a:p>
            <a:r>
              <a:rPr lang="en-US" dirty="0"/>
              <a:t>Some seem natural from the language but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Can </a:t>
            </a:r>
            <a:r>
              <a:rPr lang="en-US" dirty="0"/>
              <a:t>l</a:t>
            </a:r>
            <a:r>
              <a:rPr lang="en-US" i="1" dirty="0"/>
              <a:t>ead </a:t>
            </a:r>
            <a:r>
              <a:rPr lang="en-US" dirty="0"/>
              <a:t>to</a:t>
            </a:r>
            <a:r>
              <a:rPr lang="en-US" i="1" dirty="0" smtClean="0"/>
              <a:t> dangerous </a:t>
            </a:r>
            <a:r>
              <a:rPr lang="en-US" i="1" dirty="0" err="1" smtClean="0"/>
              <a:t>mis</a:t>
            </a:r>
            <a:r>
              <a:rPr lang="en-US" i="1" dirty="0"/>
              <a:t>-</a:t>
            </a:r>
            <a:r>
              <a:rPr lang="en-US" i="1" dirty="0" smtClean="0"/>
              <a:t>interpretations</a:t>
            </a:r>
            <a:br>
              <a:rPr lang="en-US" i="1" dirty="0" smtClean="0"/>
            </a:br>
            <a:r>
              <a:rPr lang="en-US" dirty="0" smtClean="0"/>
              <a:t>in applications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38400"/>
            <a:ext cx="11709400" cy="6870700"/>
          </a:xfrm>
        </p:spPr>
        <p:txBody>
          <a:bodyPr/>
          <a:lstStyle/>
          <a:p>
            <a:r>
              <a:rPr lang="en-US" dirty="0"/>
              <a:t>In SNOMED, “Subdural Hematoma” is not a kind of intracranial bleed.</a:t>
            </a:r>
          </a:p>
          <a:p>
            <a:pPr lvl="1"/>
            <a:r>
              <a:rPr lang="en-US" dirty="0"/>
              <a:t>One of</a:t>
            </a:r>
            <a:r>
              <a:rPr lang="en-US" dirty="0" smtClean="0"/>
              <a:t> 1000 most common </a:t>
            </a:r>
            <a:r>
              <a:rPr lang="en-US" dirty="0"/>
              <a:t>entries in hospital </a:t>
            </a:r>
            <a:br>
              <a:rPr lang="en-US" dirty="0"/>
            </a:br>
            <a:r>
              <a:rPr lang="en-US" dirty="0"/>
              <a:t>systems</a:t>
            </a:r>
          </a:p>
          <a:p>
            <a:pPr lvl="2"/>
            <a:r>
              <a:rPr lang="en-US" dirty="0"/>
              <a:t>Life threatening &amp; requires immediate action</a:t>
            </a:r>
          </a:p>
          <a:p>
            <a:pPr lvl="2"/>
            <a:endParaRPr lang="en-US" dirty="0"/>
          </a:p>
          <a:p>
            <a:r>
              <a:rPr lang="en-US" dirty="0"/>
              <a:t>Literally, there are “spinal subdural hematomas”</a:t>
            </a:r>
          </a:p>
          <a:p>
            <a:pPr lvl="2"/>
            <a:r>
              <a:rPr lang="en-US" dirty="0"/>
              <a:t>The dura covers both brain and spinal cord </a:t>
            </a:r>
          </a:p>
          <a:p>
            <a:pPr lvl="1"/>
            <a:r>
              <a:rPr lang="en-US" dirty="0"/>
              <a:t>Roughly .5% of all Subdural hematomas</a:t>
            </a:r>
          </a:p>
          <a:p>
            <a:pPr lvl="2"/>
            <a:r>
              <a:rPr lang="en-US" dirty="0"/>
              <a:t>Always specified as “Spinal subdural hematoma”</a:t>
            </a:r>
          </a:p>
          <a:p>
            <a:pPr lvl="1"/>
            <a:r>
              <a:rPr lang="en-US" dirty="0"/>
              <a:t>Strong evidence that when doctors </a:t>
            </a:r>
            <a:br>
              <a:rPr lang="en-US" dirty="0"/>
            </a:br>
            <a:r>
              <a:rPr lang="en-US" dirty="0"/>
              <a:t>write/code “Subdural hematoma” they mean “</a:t>
            </a:r>
            <a:r>
              <a:rPr lang="en-US" dirty="0" err="1"/>
              <a:t>intracanial</a:t>
            </a:r>
            <a:r>
              <a:rPr lang="en-US" dirty="0"/>
              <a:t>”</a:t>
            </a:r>
            <a:endParaRPr lang="en-US" dirty="0" smtClean="0"/>
          </a:p>
          <a:p>
            <a:pPr lvl="2"/>
            <a:r>
              <a:rPr lang="en-US" dirty="0" smtClean="0"/>
              <a:t>Failing to represent this is life-threatening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0" y="3048000"/>
            <a:ext cx="2605367" cy="2362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400" y="6019800"/>
            <a:ext cx="1930400" cy="295193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Labelling needs to be at multiple levels to avoid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2185988"/>
            <a:ext cx="12506325" cy="6870700"/>
          </a:xfrm>
        </p:spPr>
        <p:txBody>
          <a:bodyPr/>
          <a:lstStyle/>
          <a:p>
            <a:r>
              <a:rPr lang="en-US" dirty="0"/>
              <a:t>Fully specified names</a:t>
            </a:r>
          </a:p>
          <a:p>
            <a:pPr lvl="1"/>
            <a:r>
              <a:rPr lang="en-US" dirty="0"/>
              <a:t>Need an entities for </a:t>
            </a:r>
          </a:p>
          <a:p>
            <a:pPr lvl="2"/>
            <a:r>
              <a:rPr lang="en-US" dirty="0"/>
              <a:t>“Subdural hematoma, spinal AND/OR intracranial”</a:t>
            </a:r>
          </a:p>
          <a:p>
            <a:pPr lvl="2"/>
            <a:r>
              <a:rPr lang="en-US" dirty="0"/>
              <a:t>“Intracranial subdural hematoma”</a:t>
            </a:r>
            <a:endParaRPr lang="en-US" dirty="0" smtClean="0"/>
          </a:p>
          <a:p>
            <a:pPr lvl="2"/>
            <a:r>
              <a:rPr lang="en-US" dirty="0" smtClean="0"/>
              <a:t>“Spinal </a:t>
            </a:r>
            <a:r>
              <a:rPr lang="en-US" dirty="0"/>
              <a:t>subdural </a:t>
            </a:r>
            <a:r>
              <a:rPr lang="en-US" dirty="0" smtClean="0"/>
              <a:t>hematoma”</a:t>
            </a:r>
          </a:p>
          <a:p>
            <a:r>
              <a:rPr lang="en-US" dirty="0"/>
              <a:t>Preferred named</a:t>
            </a:r>
          </a:p>
          <a:p>
            <a:pPr lvl="1"/>
            <a:r>
              <a:rPr lang="en-US" dirty="0"/>
              <a:t>“Subdural hematoma”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“Intracranial subdural hematoma”</a:t>
            </a:r>
          </a:p>
          <a:p>
            <a:r>
              <a:rPr lang="en-US" dirty="0"/>
              <a:t>Text definitions</a:t>
            </a:r>
          </a:p>
          <a:p>
            <a:pPr lvl="1"/>
            <a:r>
              <a:rPr lang="en-US" dirty="0"/>
              <a:t>To be completely unambiguous – but don’t count on their being read</a:t>
            </a:r>
          </a:p>
          <a:p>
            <a:r>
              <a:rPr lang="en-US" dirty="0"/>
              <a:t>Synonyms</a:t>
            </a:r>
          </a:p>
          <a:p>
            <a:r>
              <a:rPr lang="en-US" dirty="0"/>
              <a:t>Search terms (hidden labels)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labels make little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47800"/>
            <a:ext cx="11709400" cy="6870700"/>
          </a:xfrm>
        </p:spPr>
        <p:txBody>
          <a:bodyPr/>
          <a:lstStyle/>
          <a:p>
            <a:r>
              <a:rPr lang="en-US" dirty="0"/>
              <a:t>Most ontology formalisms require a single root node</a:t>
            </a:r>
          </a:p>
          <a:p>
            <a:pPr lvl="1"/>
            <a:r>
              <a:rPr lang="en-US" dirty="0" err="1"/>
              <a:t>Labelled</a:t>
            </a:r>
            <a:r>
              <a:rPr lang="en-US" dirty="0"/>
              <a:t> in different systems:</a:t>
            </a:r>
            <a:br>
              <a:rPr lang="en-US" dirty="0"/>
            </a:br>
            <a:r>
              <a:rPr lang="en-US" dirty="0"/>
              <a:t> “Top”, “Entity”, “TopThing”, “Thing”, “Concept”, “Category”, “Class”, “</a:t>
            </a:r>
            <a:r>
              <a:rPr lang="en-US" dirty="0" err="1"/>
              <a:t>MetaClass</a:t>
            </a:r>
            <a:r>
              <a:rPr lang="en-US" dirty="0"/>
              <a:t> Class”, “U”…</a:t>
            </a:r>
          </a:p>
          <a:p>
            <a:pPr lvl="2"/>
            <a:r>
              <a:rPr lang="en-US" dirty="0"/>
              <a:t>Main consideration is that it not conflict with the name for something else</a:t>
            </a:r>
          </a:p>
          <a:p>
            <a:pPr lvl="3"/>
            <a:r>
              <a:rPr lang="en-US" dirty="0"/>
              <a:t>But content of root note is almost always nil</a:t>
            </a:r>
          </a:p>
          <a:p>
            <a:pPr lvl="3"/>
            <a:r>
              <a:rPr lang="en-US" dirty="0"/>
              <a:t>Label rarely affects consequences </a:t>
            </a:r>
            <a:br>
              <a:rPr lang="en-US" dirty="0"/>
            </a:br>
            <a:endParaRPr lang="en-US" dirty="0" smtClean="0"/>
          </a:p>
          <a:p>
            <a:r>
              <a:rPr lang="en-US" dirty="0" smtClean="0"/>
              <a:t>Other cases where arguments are about words rather than the entities themselves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Neoplasm”</a:t>
            </a:r>
          </a:p>
          <a:p>
            <a:pPr lvl="2"/>
            <a:r>
              <a:rPr lang="en-US" dirty="0"/>
              <a:t>We need a nodes for</a:t>
            </a:r>
            <a:br>
              <a:rPr lang="en-US" dirty="0"/>
            </a:br>
            <a:r>
              <a:rPr lang="en-US" dirty="0"/>
              <a:t>“Proliferation or tumour, </a:t>
            </a:r>
            <a:r>
              <a:rPr lang="en-US" dirty="0" smtClean="0"/>
              <a:t>benign </a:t>
            </a:r>
            <a:r>
              <a:rPr lang="en-US" dirty="0"/>
              <a:t>or malignant”</a:t>
            </a:r>
            <a:br>
              <a:rPr lang="en-US" dirty="0"/>
            </a:br>
            <a:r>
              <a:rPr lang="en-US" dirty="0"/>
              <a:t>“Malignant proliferation or tumour”</a:t>
            </a:r>
          </a:p>
          <a:p>
            <a:pPr lvl="3"/>
            <a:r>
              <a:rPr lang="en-US" dirty="0"/>
              <a:t>But which should be “neoplasm”?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EC036-9473-8E4E-B95C-7DBF10E4F6BF}" type="slidenum">
              <a:rPr/>
              <a:pPr/>
              <a:t>33</a:t>
            </a:fld>
            <a:endParaRPr lang="en-US"/>
          </a:p>
        </p:txBody>
      </p:sp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92262" y="200025"/>
            <a:ext cx="11412537" cy="1473200"/>
          </a:xfrm>
        </p:spPr>
        <p:txBody>
          <a:bodyPr/>
          <a:lstStyle/>
          <a:p>
            <a:r>
              <a:rPr lang="en-US"/>
              <a:t>And some really are about conventions: </a:t>
            </a:r>
            <a:br>
              <a:rPr lang="en-US"/>
            </a:br>
            <a:r>
              <a:rPr lang="en-US"/>
              <a:t>2 hands &amp; 2 Feet? 4 hands? 4 feet?</a:t>
            </a:r>
          </a:p>
        </p:txBody>
      </p:sp>
      <p:pic>
        <p:nvPicPr>
          <p:cNvPr id="126979" name="Picture 3" descr="TarGomb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02000" y="2590800"/>
            <a:ext cx="6090111" cy="68275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0025"/>
            <a:ext cx="12522199" cy="1473200"/>
          </a:xfrm>
        </p:spPr>
        <p:txBody>
          <a:bodyPr/>
          <a:lstStyle/>
          <a:p>
            <a:r>
              <a:rPr lang="en-US" dirty="0" smtClean="0"/>
              <a:t>Some artefacts present special problems:</a:t>
            </a:r>
            <a:br>
              <a:rPr lang="en-US" dirty="0" smtClean="0"/>
            </a:br>
            <a:r>
              <a:rPr lang="en-US" sz="4000" dirty="0" smtClean="0">
                <a:solidFill>
                  <a:srgbClr val="FFFF93"/>
                </a:solidFill>
              </a:rPr>
              <a:t>Recent </a:t>
            </a:r>
            <a:r>
              <a:rPr lang="en-US" sz="4000" dirty="0">
                <a:solidFill>
                  <a:srgbClr val="FFFF93"/>
                </a:solidFill>
              </a:rPr>
              <a:t>example: What do </a:t>
            </a:r>
            <a:r>
              <a:rPr lang="en-US" sz="4000" dirty="0" smtClean="0">
                <a:solidFill>
                  <a:srgbClr val="FFFF93"/>
                </a:solidFill>
              </a:rPr>
              <a:t>SNOMED &amp;/or ICD disease </a:t>
            </a:r>
            <a:r>
              <a:rPr lang="en-US" sz="4000" i="1" dirty="0" smtClean="0">
                <a:solidFill>
                  <a:srgbClr val="FFFF93"/>
                </a:solidFill>
              </a:rPr>
              <a:t>codes </a:t>
            </a:r>
            <a:r>
              <a:rPr lang="en-US" sz="4000" dirty="0">
                <a:solidFill>
                  <a:srgbClr val="FFFF93"/>
                </a:solidFill>
              </a:rPr>
              <a:t>represent? </a:t>
            </a:r>
            <a:r>
              <a:rPr lang="en-US" sz="2800" dirty="0">
                <a:solidFill>
                  <a:srgbClr val="FFFF93"/>
                </a:solidFill>
              </a:rPr>
              <a:t>(Thanks to Stefan Schulz</a:t>
            </a:r>
            <a:r>
              <a:rPr lang="en-US" sz="2800" dirty="0"/>
              <a:t>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2362200"/>
            <a:ext cx="12938125" cy="6870700"/>
          </a:xfrm>
        </p:spPr>
        <p:txBody>
          <a:bodyPr/>
          <a:lstStyle/>
          <a:p>
            <a:r>
              <a:rPr lang="en-US" dirty="0"/>
              <a:t>A “disorder”? (or “dispositiion”)</a:t>
            </a:r>
          </a:p>
          <a:p>
            <a:pPr lvl="1"/>
            <a:r>
              <a:rPr lang="en-US" dirty="0"/>
              <a:t>“Condition” interpretation</a:t>
            </a:r>
          </a:p>
          <a:p>
            <a:r>
              <a:rPr lang="en-US" dirty="0"/>
              <a:t>“having a disorder”?</a:t>
            </a:r>
          </a:p>
          <a:p>
            <a:pPr lvl="1"/>
            <a:r>
              <a:rPr lang="en-US" dirty="0"/>
              <a:t>“Situation” interpretation</a:t>
            </a:r>
          </a:p>
          <a:p>
            <a:pPr lvl="2"/>
            <a:r>
              <a:rPr lang="en-US" dirty="0"/>
              <a:t> “Situation of having a disorder” / “Patient having the disorder at a given place and time as observed by a given clinician”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It does make a difference</a:t>
            </a:r>
          </a:p>
          <a:p>
            <a:pPr lvl="1"/>
            <a:r>
              <a:rPr lang="en-US" dirty="0" smtClean="0"/>
              <a:t>For codes </a:t>
            </a:r>
            <a:r>
              <a:rPr lang="en-US" dirty="0"/>
              <a:t>representing compound diagnosis, e.g.</a:t>
            </a:r>
            <a:br>
              <a:rPr lang="en-US" dirty="0"/>
            </a:br>
            <a:r>
              <a:rPr lang="en-US" dirty="0"/>
              <a:t>“Fracture of Radius and Ulna”</a:t>
            </a:r>
            <a:endParaRPr lang="en-US" dirty="0" smtClean="0"/>
          </a:p>
          <a:p>
            <a:pPr lvl="1"/>
            <a:r>
              <a:rPr lang="en-US" dirty="0" smtClean="0"/>
              <a:t>For complications: </a:t>
            </a:r>
            <a:br>
              <a:rPr lang="en-US" dirty="0" smtClean="0"/>
            </a:br>
            <a:r>
              <a:rPr lang="en-US" dirty="0" smtClean="0"/>
              <a:t>“Diabetic retinitis”</a:t>
            </a:r>
          </a:p>
          <a:p>
            <a:r>
              <a:rPr lang="en-US" dirty="0" smtClean="0"/>
              <a:t>How to decide?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262" y="200025"/>
            <a:ext cx="10777537" cy="1473200"/>
          </a:xfrm>
        </p:spPr>
        <p:txBody>
          <a:bodyPr/>
          <a:lstStyle/>
          <a:p>
            <a:r>
              <a:rPr lang="en-US" dirty="0" smtClean="0"/>
              <a:t>Consider: Fracture </a:t>
            </a:r>
            <a:r>
              <a:rPr lang="en-US" dirty="0"/>
              <a:t>of Radius &amp; </a:t>
            </a:r>
            <a:r>
              <a:rPr lang="en-US" dirty="0" smtClean="0"/>
              <a:t>Ulna</a:t>
            </a:r>
            <a:br>
              <a:rPr lang="en-US" dirty="0" smtClean="0"/>
            </a:br>
            <a:r>
              <a:rPr lang="en-US" dirty="0" smtClean="0"/>
              <a:t>                 (</a:t>
            </a:r>
            <a:r>
              <a:rPr lang="en-US" dirty="0"/>
              <a:t>Forearm</a:t>
            </a:r>
            <a:r>
              <a:rPr lang="en-US" dirty="0" smtClean="0"/>
              <a:t>) – a single code in</a:t>
            </a:r>
            <a:br>
              <a:rPr lang="en-US" dirty="0" smtClean="0"/>
            </a:br>
            <a:r>
              <a:rPr lang="en-US" dirty="0" smtClean="0"/>
              <a:t>                 ICD and SNOMED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638800"/>
            <a:ext cx="12750800" cy="5029200"/>
          </a:xfrm>
        </p:spPr>
        <p:txBody>
          <a:bodyPr/>
          <a:lstStyle/>
          <a:p>
            <a:r>
              <a:rPr lang="en-US" dirty="0"/>
              <a:t>“Condition interpretation”</a:t>
            </a:r>
          </a:p>
          <a:p>
            <a:pPr lvl="1"/>
            <a:r>
              <a:rPr lang="en-US" dirty="0"/>
              <a:t>Nothing can </a:t>
            </a:r>
            <a:r>
              <a:rPr lang="en-US" i="1" dirty="0"/>
              <a:t>be </a:t>
            </a:r>
            <a:r>
              <a:rPr lang="en-US" dirty="0"/>
              <a:t>both a “fracture of radius” and “fracture of ulna”</a:t>
            </a:r>
          </a:p>
          <a:p>
            <a:r>
              <a:rPr lang="en-US" dirty="0"/>
              <a:t>“Situation interpretation”</a:t>
            </a:r>
          </a:p>
          <a:p>
            <a:pPr lvl="1"/>
            <a:r>
              <a:rPr lang="en-US" dirty="0"/>
              <a:t>A patient can simultaneously </a:t>
            </a:r>
            <a:r>
              <a:rPr lang="en-US" i="1" dirty="0"/>
              <a:t>have </a:t>
            </a:r>
            <a:r>
              <a:rPr lang="en-US" dirty="0"/>
              <a:t>both a “fracture of radius” and “fracture of ulna”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2743200"/>
            <a:ext cx="8385276" cy="259079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800" y="200025"/>
            <a:ext cx="10896599" cy="1473200"/>
          </a:xfrm>
        </p:spPr>
        <p:txBody>
          <a:bodyPr/>
          <a:lstStyle/>
          <a:p>
            <a:r>
              <a:rPr lang="en-US" dirty="0" smtClean="0"/>
              <a:t>What might count as evidence?</a:t>
            </a:r>
            <a:br>
              <a:rPr lang="en-US" dirty="0" smtClean="0"/>
            </a:br>
            <a:r>
              <a:rPr lang="en-US" dirty="0" smtClean="0"/>
              <a:t>What is the question?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4419600"/>
            <a:ext cx="12496800" cy="4051300"/>
          </a:xfrm>
        </p:spPr>
        <p:txBody>
          <a:bodyPr/>
          <a:lstStyle/>
          <a:p>
            <a:r>
              <a:rPr lang="en-US" dirty="0"/>
              <a:t>Should responses to queries for patients with “</a:t>
            </a:r>
            <a:r>
              <a:rPr lang="en-US" i="1" dirty="0"/>
              <a:t>Fracture of Radius</a:t>
            </a:r>
            <a:r>
              <a:rPr lang="en-US" dirty="0"/>
              <a:t>” include patients with </a:t>
            </a:r>
            <a:br>
              <a:rPr lang="en-US" dirty="0"/>
            </a:br>
            <a:r>
              <a:rPr lang="en-US" dirty="0"/>
              <a:t>“</a:t>
            </a:r>
            <a:r>
              <a:rPr lang="en-US" i="1" dirty="0" smtClean="0"/>
              <a:t>Fracture </a:t>
            </a:r>
            <a:r>
              <a:rPr lang="en-US" i="1" dirty="0"/>
              <a:t>of the radius &amp; ulna</a:t>
            </a:r>
            <a:r>
              <a:rPr lang="en-US" dirty="0"/>
              <a:t>”?</a:t>
            </a:r>
          </a:p>
          <a:p>
            <a:pPr lvl="1"/>
            <a:r>
              <a:rPr lang="en-US" dirty="0"/>
              <a:t>Most doctors say “yes”</a:t>
            </a:r>
          </a:p>
          <a:p>
            <a:pPr lvl="1"/>
            <a:r>
              <a:rPr lang="en-US" dirty="0"/>
              <a:t>Both SNOMED and ICD are</a:t>
            </a:r>
            <a:r>
              <a:rPr lang="en-US" dirty="0" smtClean="0"/>
              <a:t> hierarchies classify:</a:t>
            </a:r>
          </a:p>
          <a:p>
            <a:pPr lvl="2"/>
            <a:r>
              <a:rPr lang="en-US" dirty="0" smtClean="0"/>
              <a:t>“</a:t>
            </a:r>
            <a:r>
              <a:rPr lang="en-US" dirty="0"/>
              <a:t>Fracture of Radius” and Ulna as a kind of “Fracture of Radius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0" y="2209800"/>
            <a:ext cx="5486400" cy="169513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0025"/>
            <a:ext cx="13004799" cy="1473200"/>
          </a:xfrm>
        </p:spPr>
        <p:txBody>
          <a:bodyPr/>
          <a:lstStyle/>
          <a:p>
            <a:r>
              <a:rPr lang="en-US"/>
              <a:t>What do we ask the questions for?</a:t>
            </a:r>
            <a:br>
              <a:rPr lang="en-US"/>
            </a:br>
            <a:r>
              <a:rPr lang="en-US"/>
              <a:t>What is the right answer for these purposes?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905000"/>
            <a:ext cx="11709400" cy="6870700"/>
          </a:xfrm>
        </p:spPr>
        <p:txBody>
          <a:bodyPr/>
          <a:lstStyle/>
          <a:p>
            <a:r>
              <a:rPr lang="en-US" dirty="0"/>
              <a:t>Deciding patients’ treatment</a:t>
            </a:r>
          </a:p>
          <a:p>
            <a:pPr lvl="1"/>
            <a:r>
              <a:rPr lang="en-US" dirty="0"/>
              <a:t>As antecedents of rules</a:t>
            </a:r>
          </a:p>
          <a:p>
            <a:r>
              <a:rPr lang="en-US" dirty="0"/>
              <a:t>Counting patients’ by causes of illness &amp; death (</a:t>
            </a:r>
            <a:r>
              <a:rPr lang="en-US" dirty="0" err="1"/>
              <a:t>morbity</a:t>
            </a:r>
            <a:r>
              <a:rPr lang="en-US" dirty="0"/>
              <a:t> &amp; mortality)</a:t>
            </a:r>
          </a:p>
          <a:p>
            <a:pPr lvl="1"/>
            <a:r>
              <a:rPr lang="en-US" dirty="0"/>
              <a:t>To contribute to vital statistics</a:t>
            </a:r>
          </a:p>
          <a:p>
            <a:r>
              <a:rPr lang="en-US" dirty="0"/>
              <a:t>Counting patient episodes for </a:t>
            </a:r>
            <a:r>
              <a:rPr lang="en-US" dirty="0" smtClean="0"/>
              <a:t>remuneration </a:t>
            </a:r>
            <a:r>
              <a:rPr lang="en-US" dirty="0"/>
              <a:t>&amp; Health Care Planning</a:t>
            </a:r>
          </a:p>
          <a:p>
            <a:pPr lvl="1"/>
            <a:r>
              <a:rPr lang="en-US" dirty="0"/>
              <a:t>To manage the healthcare system</a:t>
            </a:r>
          </a:p>
          <a:p>
            <a:r>
              <a:rPr lang="en-US" dirty="0"/>
              <a:t>Counting patient events for research into cause and effect</a:t>
            </a:r>
          </a:p>
          <a:p>
            <a:pPr lvl="1"/>
            <a:r>
              <a:rPr lang="en-US" dirty="0"/>
              <a:t>As nodes in a  causal network</a:t>
            </a:r>
          </a:p>
          <a:p>
            <a:pPr lvl="1"/>
            <a:r>
              <a:rPr lang="en-US" dirty="0"/>
              <a:t>As part of the inclusion/</a:t>
            </a:r>
            <a:r>
              <a:rPr lang="en-US" dirty="0" err="1"/>
              <a:t>excluson</a:t>
            </a:r>
            <a:r>
              <a:rPr lang="en-US" dirty="0"/>
              <a:t>/outcome criteria for clinical studies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further </a:t>
            </a:r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2185988"/>
            <a:ext cx="12785725" cy="6870700"/>
          </a:xfrm>
        </p:spPr>
        <p:txBody>
          <a:bodyPr/>
          <a:lstStyle/>
          <a:p>
            <a:r>
              <a:rPr lang="en-US" dirty="0"/>
              <a:t>Should </a:t>
            </a:r>
            <a:r>
              <a:rPr lang="en-US" i="1" dirty="0"/>
              <a:t>“Diabetic kidney disease” </a:t>
            </a:r>
            <a:r>
              <a:rPr lang="en-US" dirty="0"/>
              <a:t>be classified under</a:t>
            </a:r>
            <a:br>
              <a:rPr lang="en-US" dirty="0"/>
            </a:br>
            <a:r>
              <a:rPr lang="en-US" i="1" dirty="0"/>
              <a:t>Diabetes</a:t>
            </a:r>
            <a:r>
              <a:rPr lang="en-US" dirty="0"/>
              <a:t>? </a:t>
            </a:r>
            <a:r>
              <a:rPr lang="en-US" i="1" dirty="0"/>
              <a:t>Kidney disease</a:t>
            </a:r>
            <a:r>
              <a:rPr lang="en-US" dirty="0"/>
              <a:t>? </a:t>
            </a:r>
            <a:r>
              <a:rPr lang="en-US" i="1" dirty="0"/>
              <a:t>Both</a:t>
            </a:r>
            <a:r>
              <a:rPr lang="en-US" dirty="0"/>
              <a:t>? </a:t>
            </a:r>
            <a:r>
              <a:rPr lang="en-US" i="1" dirty="0"/>
              <a:t>Neither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Should queries for patients with “</a:t>
            </a:r>
            <a:r>
              <a:rPr lang="en-US" i="1" dirty="0"/>
              <a:t>Diabetes</a:t>
            </a:r>
            <a:r>
              <a:rPr lang="en-US" dirty="0"/>
              <a:t>” include those coded only for “</a:t>
            </a:r>
            <a:r>
              <a:rPr lang="en-US" i="1" dirty="0"/>
              <a:t>Diabetic kidney disease</a:t>
            </a:r>
            <a:r>
              <a:rPr lang="en-US" dirty="0"/>
              <a:t>”</a:t>
            </a:r>
          </a:p>
          <a:p>
            <a:pPr lvl="2"/>
            <a:r>
              <a:rPr lang="en-US" dirty="0"/>
              <a:t>Can anyone have “</a:t>
            </a:r>
            <a:r>
              <a:rPr lang="en-US" i="1" dirty="0"/>
              <a:t>Diabetic kidney disease</a:t>
            </a:r>
            <a:r>
              <a:rPr lang="en-US" dirty="0"/>
              <a:t>” without having “</a:t>
            </a:r>
            <a:r>
              <a:rPr lang="en-US" i="1" dirty="0"/>
              <a:t>Diabetes</a:t>
            </a:r>
            <a:r>
              <a:rPr lang="en-US" dirty="0" smtClean="0"/>
              <a:t>”?</a:t>
            </a:r>
          </a:p>
          <a:p>
            <a:pPr lvl="2"/>
            <a:endParaRPr lang="en-US" dirty="0"/>
          </a:p>
          <a:p>
            <a:r>
              <a:rPr lang="en-US" dirty="0"/>
              <a:t>Many similar cases examined and experiments performed</a:t>
            </a:r>
          </a:p>
          <a:p>
            <a:pPr lvl="1"/>
            <a:r>
              <a:rPr lang="en-US" dirty="0" smtClean="0"/>
              <a:t>Conclusion:</a:t>
            </a:r>
            <a:br>
              <a:rPr lang="en-US" dirty="0" smtClean="0"/>
            </a:br>
            <a:r>
              <a:rPr lang="en-US" dirty="0" smtClean="0"/>
              <a:t>“</a:t>
            </a:r>
            <a:r>
              <a:rPr lang="en-US" dirty="0"/>
              <a:t>having a condition” (“</a:t>
            </a:r>
            <a:r>
              <a:rPr lang="en-US" dirty="0" smtClean="0"/>
              <a:t>Situation interpretation”</a:t>
            </a:r>
            <a:r>
              <a:rPr lang="en-US" dirty="0"/>
              <a:t>)</a:t>
            </a:r>
          </a:p>
          <a:p>
            <a:pPr marL="1863725" lvl="2" indent="-457200"/>
            <a:r>
              <a:rPr lang="en-US" dirty="0"/>
              <a:t>Best fit for both:</a:t>
            </a:r>
          </a:p>
          <a:p>
            <a:pPr marL="2243138" lvl="3" indent="-457200"/>
            <a:r>
              <a:rPr lang="en-US" dirty="0">
                <a:solidFill>
                  <a:srgbClr val="FFFF93"/>
                </a:solidFill>
              </a:rPr>
              <a:t>Current practice</a:t>
            </a:r>
          </a:p>
          <a:p>
            <a:pPr marL="2243138" lvl="3" indent="-457200"/>
            <a:r>
              <a:rPr lang="en-US" dirty="0">
                <a:solidFill>
                  <a:srgbClr val="FFFF93"/>
                </a:solidFill>
              </a:rPr>
              <a:t>Intended consequences</a:t>
            </a:r>
          </a:p>
          <a:p>
            <a:pPr marL="2243138" lvl="3" indent="-457200"/>
            <a:r>
              <a:rPr lang="en-US" dirty="0">
                <a:solidFill>
                  <a:srgbClr val="FFFF93"/>
                </a:solidFill>
              </a:rPr>
              <a:t>The reality of clinical </a:t>
            </a:r>
            <a:r>
              <a:rPr lang="en-US" dirty="0" smtClean="0">
                <a:solidFill>
                  <a:srgbClr val="FFFF93"/>
                </a:solidFill>
              </a:rPr>
              <a:t>practice</a:t>
            </a:r>
          </a:p>
          <a:p>
            <a:pPr marL="2243138" lvl="3" indent="-457200"/>
            <a:r>
              <a:rPr lang="en-US" dirty="0" smtClean="0">
                <a:solidFill>
                  <a:srgbClr val="FFFF93"/>
                </a:solidFill>
              </a:rPr>
              <a:t>Safety in clinical decision support</a:t>
            </a:r>
          </a:p>
          <a:p>
            <a:pPr marL="1311275" lvl="1" indent="-457200"/>
            <a:r>
              <a:rPr lang="en-US" dirty="0" smtClean="0"/>
              <a:t>Can fit into an ontological framework, but not in the </a:t>
            </a:r>
            <a:r>
              <a:rPr lang="en-US" smtClean="0"/>
              <a:t>obvious way</a:t>
            </a:r>
            <a:endParaRPr lang="en-US" dirty="0">
              <a:solidFill>
                <a:srgbClr val="FFFF9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Conundrum 2: What do biomedical experts mean by is_part_of?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2209800"/>
            <a:ext cx="11709400" cy="6870700"/>
          </a:xfrm>
        </p:spPr>
        <p:txBody>
          <a:bodyPr/>
          <a:lstStyle/>
          <a:p>
            <a:r>
              <a:rPr lang="en-US" dirty="0"/>
              <a:t>In medicine, function is often more important than structure </a:t>
            </a:r>
            <a:r>
              <a:rPr lang="en-US" sz="3200" dirty="0"/>
              <a:t>(except for surgeons &amp; anatomists)</a:t>
            </a:r>
          </a:p>
          <a:p>
            <a:pPr marL="1281112" lvl="1" indent="-514350"/>
            <a:r>
              <a:rPr lang="en-US" sz="2600" dirty="0"/>
              <a:t> “A fault in the part is a fault in the whole”</a:t>
            </a:r>
            <a:br>
              <a:rPr lang="en-US" sz="2600" dirty="0"/>
            </a:br>
            <a:r>
              <a:rPr lang="en-US" sz="2600" dirty="0"/>
              <a:t>   Conclusion or Criterion?</a:t>
            </a:r>
          </a:p>
          <a:p>
            <a:pPr marL="1833562" lvl="2" indent="-514350"/>
            <a:r>
              <a:rPr lang="en-US" sz="2200" dirty="0"/>
              <a:t>Is the radio part of the electrical system of my car?</a:t>
            </a:r>
          </a:p>
          <a:p>
            <a:pPr marL="1833562" lvl="2" indent="-514350"/>
            <a:r>
              <a:rPr lang="en-US" sz="2200" dirty="0"/>
              <a:t>Are T cells part of the immune system?</a:t>
            </a:r>
          </a:p>
          <a:p>
            <a:pPr marL="1833562" lvl="2" indent="-514350"/>
            <a:r>
              <a:rPr lang="en-US" sz="2200" dirty="0"/>
              <a:t>Is there any structure that can be called the “endocrine system”</a:t>
            </a:r>
          </a:p>
          <a:p>
            <a:pPr marL="1281112" lvl="1" indent="-514350"/>
            <a:r>
              <a:rPr lang="en-US" sz="2600" dirty="0"/>
              <a:t>Is the brain part of the skull? The pericardium part of the Heart?</a:t>
            </a:r>
          </a:p>
          <a:p>
            <a:pPr marL="660400" indent="-514350"/>
            <a:r>
              <a:rPr lang="en-US" sz="3200" dirty="0"/>
              <a:t>Accidents</a:t>
            </a:r>
            <a:r>
              <a:rPr lang="en-US" sz="3200" dirty="0" smtClean="0"/>
              <a:t> &amp; </a:t>
            </a:r>
            <a:r>
              <a:rPr lang="en-US" sz="3200" dirty="0"/>
              <a:t>abnormalities often ignored</a:t>
            </a:r>
          </a:p>
          <a:p>
            <a:pPr marL="1281112" lvl="1" indent="-514350"/>
            <a:r>
              <a:rPr lang="en-US" sz="2600" dirty="0"/>
              <a:t>e.g. “Finger”</a:t>
            </a:r>
            <a:r>
              <a:rPr lang="en-US" sz="2600" dirty="0" smtClean="0"/>
              <a:t> defined as part </a:t>
            </a:r>
            <a:r>
              <a:rPr lang="en-US" sz="2600" dirty="0"/>
              <a:t>of hand</a:t>
            </a:r>
          </a:p>
          <a:p>
            <a:pPr marL="1833562" lvl="2" indent="-514350"/>
            <a:r>
              <a:rPr lang="en-US" sz="2200" dirty="0"/>
              <a:t>Even if amputated, crushed, or congenitally missing</a:t>
            </a:r>
          </a:p>
          <a:p>
            <a:pPr marL="1833562" lvl="2" indent="-514350"/>
            <a:r>
              <a:rPr lang="en-US" sz="2200" dirty="0"/>
              <a:t>Even though rarely arises congenitally someplace else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answers do we want to our </a:t>
            </a:r>
            <a:r>
              <a:rPr lang="en-US" dirty="0" smtClean="0"/>
              <a:t>questions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2185988"/>
            <a:ext cx="12506325" cy="7567612"/>
          </a:xfrm>
        </p:spPr>
        <p:txBody>
          <a:bodyPr/>
          <a:lstStyle/>
          <a:p>
            <a:r>
              <a:rPr lang="en-US" sz="3200" dirty="0"/>
              <a:t>What are the parts of the hand?</a:t>
            </a:r>
            <a:endParaRPr lang="en-US" sz="3200" dirty="0" smtClean="0"/>
          </a:p>
          <a:p>
            <a:pPr lvl="1"/>
            <a:r>
              <a:rPr lang="en-US" sz="2400" dirty="0" smtClean="0"/>
              <a:t>What </a:t>
            </a:r>
            <a:r>
              <a:rPr lang="en-US" sz="2400" dirty="0"/>
              <a:t>is in that path bottle that is/was “John’s finger”</a:t>
            </a:r>
            <a:endParaRPr lang="en-US" sz="2400" dirty="0" smtClean="0"/>
          </a:p>
          <a:p>
            <a:r>
              <a:rPr lang="en-US" sz="3200" dirty="0" smtClean="0"/>
              <a:t>What are the disorders of the hand</a:t>
            </a:r>
          </a:p>
          <a:p>
            <a:pPr lvl="1"/>
            <a:r>
              <a:rPr lang="en-US" sz="2400" dirty="0" smtClean="0"/>
              <a:t>Fracture of finger? Amputation of Finger? Missing finger?</a:t>
            </a:r>
          </a:p>
          <a:p>
            <a:pPr lvl="1"/>
            <a:r>
              <a:rPr lang="en-US" sz="2400" dirty="0" smtClean="0"/>
              <a:t>Mitochondrial disease (that includes mitochondria in cells of the hand)?</a:t>
            </a:r>
          </a:p>
          <a:p>
            <a:r>
              <a:rPr lang="en-US" sz="3200" dirty="0" smtClean="0"/>
              <a:t>Is </a:t>
            </a:r>
            <a:r>
              <a:rPr lang="en-US" sz="3200" dirty="0" err="1" smtClean="0"/>
              <a:t>pericarditis</a:t>
            </a:r>
            <a:r>
              <a:rPr lang="en-US" sz="3200" dirty="0" smtClean="0"/>
              <a:t> a heart disease?</a:t>
            </a:r>
          </a:p>
          <a:p>
            <a:pPr lvl="1"/>
            <a:r>
              <a:rPr lang="en-US" sz="2600" dirty="0" smtClean="0"/>
              <a:t>Clinically yes, contrary to FMA</a:t>
            </a:r>
          </a:p>
          <a:p>
            <a:r>
              <a:rPr lang="en-US" sz="3200" dirty="0" smtClean="0"/>
              <a:t>Is a brain disease a disease of the skull? </a:t>
            </a:r>
          </a:p>
          <a:p>
            <a:pPr lvl="1"/>
            <a:r>
              <a:rPr lang="en-US" sz="2600" dirty="0" smtClean="0"/>
              <a:t>Clinically no, consistent with FMA</a:t>
            </a:r>
          </a:p>
          <a:p>
            <a:r>
              <a:rPr lang="en-US" sz="3200" dirty="0"/>
              <a:t>A real problem for Foundational Model of Anatomy</a:t>
            </a:r>
          </a:p>
          <a:p>
            <a:pPr lvl="1"/>
            <a:r>
              <a:rPr lang="en-US" sz="2400" dirty="0"/>
              <a:t>If used “as is” </a:t>
            </a:r>
            <a:r>
              <a:rPr lang="en-US" sz="2400" dirty="0" smtClean="0"/>
              <a:t>gives some answers inappropriate </a:t>
            </a:r>
            <a:r>
              <a:rPr lang="en-US" sz="2400" dirty="0"/>
              <a:t>clinically</a:t>
            </a:r>
          </a:p>
          <a:p>
            <a:pPr lvl="2"/>
            <a:r>
              <a:rPr lang="en-US" sz="2000" dirty="0"/>
              <a:t>Even when</a:t>
            </a:r>
            <a:r>
              <a:rPr lang="en-US" sz="2000" dirty="0" smtClean="0"/>
              <a:t> ontologically </a:t>
            </a:r>
            <a:r>
              <a:rPr lang="en-US" sz="2000" dirty="0"/>
              <a:t>and anatomically </a:t>
            </a:r>
            <a:r>
              <a:rPr lang="en-US" sz="2000" dirty="0" smtClean="0"/>
              <a:t>correct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0025"/>
            <a:ext cx="13004799" cy="1473200"/>
          </a:xfrm>
        </p:spPr>
        <p:txBody>
          <a:bodyPr/>
          <a:lstStyle/>
          <a:p>
            <a:r>
              <a:rPr lang="en-US" dirty="0"/>
              <a:t>Conundrum III: When to argue</a:t>
            </a:r>
            <a:br>
              <a:rPr lang="en-US" dirty="0"/>
            </a:br>
            <a:r>
              <a:rPr lang="en-US" dirty="0"/>
              <a:t>Some choices make little difference </a:t>
            </a:r>
            <a:br>
              <a:rPr lang="en-US" dirty="0"/>
            </a:br>
            <a:r>
              <a:rPr lang="en-US" sz="2800" dirty="0"/>
              <a:t>(as long as we adhere to standards)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Logical / mathematical equivalence, </a:t>
            </a:r>
            <a:r>
              <a:rPr lang="en-US" i="1"/>
              <a:t>e.g.</a:t>
            </a:r>
          </a:p>
          <a:p>
            <a:pPr lvl="1"/>
            <a:r>
              <a:rPr lang="en-US"/>
              <a:t>Should location be specified using Rectangular or Polar coordinates?</a:t>
            </a:r>
          </a:p>
          <a:p>
            <a:pPr lvl="2"/>
            <a:r>
              <a:rPr lang="en-US"/>
              <a:t>Choose according to ease of use &amp;  calculation</a:t>
            </a:r>
          </a:p>
          <a:p>
            <a:pPr lvl="3"/>
            <a:r>
              <a:rPr lang="en-US"/>
              <a:t>Not something to argue about in principle</a:t>
            </a:r>
          </a:p>
          <a:p>
            <a:pPr lvl="1"/>
            <a:r>
              <a:rPr lang="en-US"/>
              <a:t>Should we use metric or imperial units?</a:t>
            </a:r>
          </a:p>
          <a:p>
            <a:r>
              <a:rPr lang="en-US"/>
              <a:t> Approximations fit for purpose</a:t>
            </a:r>
          </a:p>
          <a:p>
            <a:pPr lvl="1"/>
            <a:r>
              <a:rPr lang="en-US"/>
              <a:t>Euclidean geometry to survey my property</a:t>
            </a:r>
          </a:p>
          <a:p>
            <a:pPr lvl="2"/>
            <a:r>
              <a:rPr lang="en-US"/>
              <a:t>Spherical geometry to navigate around the world</a:t>
            </a:r>
          </a:p>
          <a:p>
            <a:pPr lvl="1"/>
            <a:r>
              <a:rPr lang="en-US"/>
              <a:t>Newtonian laws of motion to calculate planetary motions</a:t>
            </a:r>
          </a:p>
          <a:p>
            <a:pPr lvl="2"/>
            <a:r>
              <a:rPr lang="en-US"/>
              <a:t>Relativity to calculate motion at cosmic distances at LHC</a:t>
            </a:r>
          </a:p>
          <a:p>
            <a:r>
              <a:rPr lang="en-US"/>
              <a:t>But standards do matter</a:t>
            </a:r>
          </a:p>
          <a:p>
            <a:pPr lvl="1"/>
            <a:r>
              <a:rPr lang="en-US"/>
              <a:t>A Mars probe was lost because of confusion between metric and imperial units!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" y="200025"/>
            <a:ext cx="12420599" cy="1473200"/>
          </a:xfrm>
        </p:spPr>
        <p:txBody>
          <a:bodyPr/>
          <a:lstStyle/>
          <a:p>
            <a:r>
              <a:rPr lang="en-US" dirty="0" smtClean="0"/>
              <a:t>Example of logical approximations: 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>
                <a:solidFill>
                  <a:srgbClr val="FFFF93"/>
                </a:solidFill>
              </a:rPr>
              <a:t>Entity-Quality</a:t>
            </a:r>
            <a:r>
              <a:rPr lang="en-US" i="1" dirty="0" smtClean="0">
                <a:solidFill>
                  <a:srgbClr val="FFFF93"/>
                </a:solidFill>
              </a:rPr>
              <a:t> </a:t>
            </a:r>
            <a:r>
              <a:rPr lang="en-US" i="1" dirty="0" err="1" smtClean="0">
                <a:solidFill>
                  <a:srgbClr val="FFFF93"/>
                </a:solidFill>
              </a:rPr>
              <a:t>vs</a:t>
            </a:r>
            <a:r>
              <a:rPr lang="en-US" i="1" dirty="0" smtClean="0">
                <a:solidFill>
                  <a:srgbClr val="FFFF93"/>
                </a:solidFill>
              </a:rPr>
              <a:t> Entity</a:t>
            </a:r>
            <a:r>
              <a:rPr lang="en-US" i="1" dirty="0">
                <a:solidFill>
                  <a:srgbClr val="FFFF93"/>
                </a:solidFill>
              </a:rPr>
              <a:t>-Quality-Value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514600"/>
            <a:ext cx="13004800" cy="2286000"/>
          </a:xfrm>
        </p:spPr>
        <p:txBody>
          <a:bodyPr/>
          <a:lstStyle/>
          <a:p>
            <a:pPr marL="520700" indent="-514350">
              <a:buFont typeface="+mj-lt"/>
              <a:buAutoNum type="arabicPeriod"/>
            </a:pPr>
            <a:r>
              <a:rPr lang="en-US"/>
              <a:t>Red_Ball == Ball &amp; bears some Red_quality</a:t>
            </a:r>
          </a:p>
          <a:p>
            <a:pPr marL="520700" indent="-514350">
              <a:buFont typeface="+mj-lt"/>
              <a:buAutoNum type="arabicPeriod"/>
            </a:pPr>
            <a:r>
              <a:rPr lang="en-US" sz="3200" dirty="0" smtClean="0"/>
              <a:t>Red_Ball</a:t>
            </a:r>
            <a:r>
              <a:rPr lang="en-US" sz="3200"/>
              <a:t> </a:t>
            </a:r>
            <a:r>
              <a:rPr lang="en-US"/>
              <a:t>== Ball &amp; has_quality some </a:t>
            </a:r>
            <a:br>
              <a:rPr lang="en-US"/>
            </a:br>
            <a:r>
              <a:rPr lang="en-US"/>
              <a:t>				(Colour &amp; has_value some Red_value)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732876" y="9023327"/>
            <a:ext cx="18466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" y="4495800"/>
            <a:ext cx="13004800" cy="350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180809" bIns="50800" numCol="1" anchor="t" anchorCtr="0" compatLnSpc="1">
            <a:prstTxWarp prst="textNoShape">
              <a:avLst/>
            </a:prstTxWarp>
          </a:bodyPr>
          <a:lstStyle/>
          <a:p>
            <a:pPr marL="509588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  <a:defRPr/>
            </a:pPr>
            <a:r>
              <a:rPr lang="en-US" b="1" kern="0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What difference does it make?</a:t>
            </a:r>
          </a:p>
          <a:p>
            <a:pPr marL="966788" lvl="1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  <a:defRPr/>
            </a:pPr>
            <a:r>
              <a:rPr lang="en-US" sz="3200" b="1" kern="0" dirty="0">
                <a:solidFill>
                  <a:srgbClr val="FFFF93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Assume</a:t>
            </a:r>
            <a:br>
              <a:rPr lang="en-US" sz="3200" b="1" kern="0" dirty="0">
                <a:solidFill>
                  <a:srgbClr val="FFFF93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</a:br>
            <a:r>
              <a:rPr lang="en-US" sz="3200" b="1" kern="0" dirty="0" err="1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Red_quality</a:t>
            </a:r>
            <a:r>
              <a:rPr lang="en-US" sz="3200" b="1" kern="0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 == (Colour &amp; </a:t>
            </a:r>
            <a:r>
              <a:rPr lang="en-US" sz="3200" b="1" kern="0" dirty="0" err="1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has_value</a:t>
            </a:r>
            <a:r>
              <a:rPr lang="en-US" sz="3200" b="1" kern="0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 some </a:t>
            </a:r>
            <a:r>
              <a:rPr lang="en-US" sz="3200" b="1" kern="0" dirty="0" err="1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Red_value</a:t>
            </a:r>
            <a:r>
              <a:rPr lang="en-US" sz="3200" b="1" kern="0" dirty="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)</a:t>
            </a:r>
            <a:endParaRPr lang="en-US" sz="3200" b="1" kern="0" dirty="0" smtClean="0">
              <a:solidFill>
                <a:srgbClr val="FFFFFF"/>
              </a:solidFill>
              <a:latin typeface="+mn-lt"/>
              <a:ea typeface="ＭＳ Ｐゴシック" charset="-128"/>
              <a:cs typeface="ＭＳ Ｐゴシック" charset="-128"/>
              <a:sym typeface="Arial" charset="0"/>
            </a:endParaRPr>
          </a:p>
          <a:p>
            <a:pPr marL="966788" lvl="1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93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For inference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93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, usually very little </a:t>
            </a:r>
            <a:endParaRPr kumimoji="0" 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FFFF93"/>
              </a:solidFill>
              <a:effectLst/>
              <a:uLnTx/>
              <a:uFillTx/>
              <a:latin typeface="+mn-lt"/>
              <a:ea typeface="ＭＳ Ｐゴシック" charset="-128"/>
              <a:cs typeface="ＭＳ Ｐゴシック" charset="-128"/>
              <a:sym typeface="Arial" charset="0"/>
            </a:endParaRPr>
          </a:p>
          <a:p>
            <a:pPr marL="966788" lvl="1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</a:pPr>
            <a:r>
              <a:rPr lang="en-US" sz="3200" b="1" kern="0" dirty="0" smtClean="0">
                <a:solidFill>
                  <a:srgbClr val="FFFF93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For asking what </a:t>
            </a:r>
            <a:r>
              <a:rPr lang="en-US" sz="3200" b="1" kern="0" dirty="0">
                <a:solidFill>
                  <a:srgbClr val="FFFF93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can say be said, a lot</a:t>
            </a:r>
            <a:endParaRPr lang="en-US" b="1" kern="0" dirty="0">
              <a:solidFill>
                <a:srgbClr val="FFFF93"/>
              </a:solidFill>
              <a:latin typeface="+mn-lt"/>
              <a:ea typeface="ＭＳ Ｐゴシック" charset="-128"/>
              <a:cs typeface="ＭＳ Ｐゴシック" charset="-128"/>
              <a:sym typeface="Arial" charset="0"/>
            </a:endParaRPr>
          </a:p>
          <a:p>
            <a:pPr marL="1587500" lvl="2" indent="-363538" algn="l" eaLnBrk="0" hangingPunct="0">
              <a:spcBef>
                <a:spcPts val="1000"/>
              </a:spcBef>
              <a:buSzPct val="100000"/>
              <a:buFont typeface="Arial" charset="0"/>
              <a:buChar char="►"/>
            </a:pPr>
            <a:r>
              <a:rPr lang="en-US" sz="2800" b="1" dirty="0">
                <a:solidFill>
                  <a:srgbClr val="FFFFFF"/>
                </a:solidFill>
                <a:latin typeface="+mn-lt"/>
                <a:ea typeface="ＭＳ Ｐゴシック" charset="-128"/>
                <a:sym typeface="Arial" charset="0"/>
              </a:rPr>
              <a:t>Easy to ask what qualities and values apply where in 2. </a:t>
            </a:r>
          </a:p>
          <a:p>
            <a:pPr marL="2044700" lvl="3" indent="-363538" algn="l" eaLnBrk="0" hangingPunct="0">
              <a:spcBef>
                <a:spcPts val="1000"/>
              </a:spcBef>
              <a:buSzPct val="100000"/>
              <a:buFont typeface="Arial" charset="0"/>
              <a:buChar char="►"/>
            </a:pPr>
            <a:r>
              <a:rPr lang="en-US" sz="2400" b="1" dirty="0">
                <a:solidFill>
                  <a:srgbClr val="FFFFFF"/>
                </a:solidFill>
                <a:latin typeface="+mn-lt"/>
                <a:ea typeface="ＭＳ Ｐゴシック" charset="-128"/>
                <a:sym typeface="Arial" charset="0"/>
              </a:rPr>
              <a:t>Does this matter to systems? Which systems? For what tasks?</a:t>
            </a:r>
          </a:p>
          <a:p>
            <a:pPr marL="966788" lvl="1" indent="-503238" algn="l" eaLnBrk="0" hangingPunct="0">
              <a:spcBef>
                <a:spcPts val="2000"/>
              </a:spcBef>
              <a:buSzPct val="100000"/>
              <a:buFont typeface="Arial" charset="0"/>
              <a:buChar char="►"/>
            </a:pPr>
            <a:r>
              <a:rPr lang="en-US" sz="3200" b="1" kern="0" dirty="0">
                <a:solidFill>
                  <a:srgbClr val="FFFF93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1) can be </a:t>
            </a:r>
            <a:r>
              <a:rPr lang="en-US" sz="3200" b="1" kern="0" dirty="0" smtClean="0">
                <a:solidFill>
                  <a:srgbClr val="FFFF93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seen </a:t>
            </a:r>
            <a:r>
              <a:rPr lang="en-US" sz="3200" b="1" kern="0" dirty="0">
                <a:solidFill>
                  <a:srgbClr val="FFFF93"/>
                </a:solidFill>
                <a:latin typeface="+mn-lt"/>
                <a:ea typeface="ＭＳ Ｐゴシック" charset="-128"/>
                <a:cs typeface="ＭＳ Ｐゴシック" charset="-128"/>
                <a:sym typeface="Arial" charset="0"/>
              </a:rPr>
              <a:t>as an approximation of 2) but not vice versa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0025"/>
            <a:ext cx="12750799" cy="1473200"/>
          </a:xfrm>
        </p:spPr>
        <p:txBody>
          <a:bodyPr/>
          <a:lstStyle/>
          <a:p>
            <a:r>
              <a:rPr lang="en-US"/>
              <a:t>Conundrum IV: How strong can ontological commitments before they become problems?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5" y="1905000"/>
            <a:ext cx="12506325" cy="6870700"/>
          </a:xfrm>
        </p:spPr>
        <p:txBody>
          <a:bodyPr/>
          <a:lstStyle/>
          <a:p>
            <a:r>
              <a:rPr lang="en-US" dirty="0"/>
              <a:t>Mutually exhaustive &amp; </a:t>
            </a:r>
            <a:r>
              <a:rPr lang="en-US" dirty="0" err="1"/>
              <a:t>pairwise</a:t>
            </a:r>
            <a:r>
              <a:rPr lang="en-US" dirty="0"/>
              <a:t> disjoint</a:t>
            </a:r>
          </a:p>
          <a:p>
            <a:pPr lvl="1"/>
            <a:r>
              <a:rPr lang="en-US" dirty="0"/>
              <a:t>Few biological classifications are exhaustive – diseases, organisms, etc.</a:t>
            </a:r>
          </a:p>
          <a:p>
            <a:pPr lvl="2"/>
            <a:r>
              <a:rPr lang="en-US" dirty="0"/>
              <a:t>without =“residual categories”:  “other”, “not elsewhere classified”, </a:t>
            </a:r>
            <a:r>
              <a:rPr lang="en-US" dirty="0" smtClean="0"/>
              <a:t>etc</a:t>
            </a:r>
          </a:p>
          <a:p>
            <a:pPr lvl="1"/>
            <a:r>
              <a:rPr lang="en-US" dirty="0" smtClean="0"/>
              <a:t>Even some disjoints can be awkward</a:t>
            </a:r>
          </a:p>
          <a:p>
            <a:pPr lvl="2"/>
            <a:r>
              <a:rPr lang="en-US" dirty="0" smtClean="0"/>
              <a:t>Hybrids, chimeras, …</a:t>
            </a:r>
          </a:p>
          <a:p>
            <a:pPr lvl="1"/>
            <a:r>
              <a:rPr lang="en-US" dirty="0" smtClean="0"/>
              <a:t>Need even Continuant </a:t>
            </a:r>
            <a:r>
              <a:rPr lang="en-US" dirty="0"/>
              <a:t>and </a:t>
            </a:r>
            <a:r>
              <a:rPr lang="en-US" dirty="0" err="1"/>
              <a:t>Occurrent</a:t>
            </a:r>
            <a:r>
              <a:rPr lang="en-US" dirty="0"/>
              <a:t> be exhaustive ?</a:t>
            </a:r>
            <a:endParaRPr lang="en-US" dirty="0" smtClean="0"/>
          </a:p>
          <a:p>
            <a:pPr lvl="2"/>
            <a:r>
              <a:rPr lang="en-US" dirty="0" smtClean="0"/>
              <a:t>E.g. Are </a:t>
            </a:r>
            <a:r>
              <a:rPr lang="en-US" dirty="0"/>
              <a:t>time and space best represented</a:t>
            </a:r>
            <a:r>
              <a:rPr lang="en-US" dirty="0" smtClean="0"/>
              <a:t> as neither? </a:t>
            </a:r>
          </a:p>
          <a:p>
            <a:r>
              <a:rPr lang="en-US" dirty="0" smtClean="0"/>
              <a:t>Many </a:t>
            </a:r>
            <a:r>
              <a:rPr lang="en-US" dirty="0"/>
              <a:t>biomedical ontologies do not implement disjointness, </a:t>
            </a:r>
            <a:r>
              <a:rPr lang="en-US" i="1" dirty="0"/>
              <a:t>e.g.</a:t>
            </a:r>
            <a:r>
              <a:rPr lang="en-US" dirty="0"/>
              <a:t> SNOMED, GO</a:t>
            </a:r>
          </a:p>
          <a:p>
            <a:pPr lvl="1"/>
            <a:r>
              <a:rPr lang="en-US" dirty="0"/>
              <a:t>Requires a </a:t>
            </a:r>
            <a:r>
              <a:rPr lang="en-US" dirty="0" err="1"/>
              <a:t>surprising</a:t>
            </a:r>
            <a:r>
              <a:rPr lang="en-US" dirty="0"/>
              <a:t> amount of extra work; easy to make errors</a:t>
            </a:r>
          </a:p>
          <a:p>
            <a:pPr lvl="1"/>
            <a:r>
              <a:rPr lang="en-US" dirty="0"/>
              <a:t>But not doing so sacrifices much consistency checking</a:t>
            </a:r>
          </a:p>
          <a:p>
            <a:pPr lvl="2"/>
            <a:r>
              <a:rPr lang="en-US" dirty="0"/>
              <a:t>No class can be</a:t>
            </a:r>
            <a:r>
              <a:rPr lang="en-US" dirty="0" smtClean="0"/>
              <a:t> inferred to </a:t>
            </a:r>
            <a:r>
              <a:rPr lang="en-US" dirty="0"/>
              <a:t>be inconsistent in </a:t>
            </a:r>
            <a:r>
              <a:rPr lang="en-US" dirty="0" err="1"/>
              <a:t>FoL</a:t>
            </a:r>
            <a:r>
              <a:rPr lang="en-US" dirty="0"/>
              <a:t>, OWL, or </a:t>
            </a:r>
            <a:r>
              <a:rPr lang="en-US" dirty="0" smtClean="0"/>
              <a:t>related formalisms </a:t>
            </a:r>
            <a:r>
              <a:rPr lang="en-US" dirty="0"/>
              <a:t>without negation</a:t>
            </a:r>
            <a:r>
              <a:rPr lang="en-US" dirty="0" smtClean="0"/>
              <a:t> and/or </a:t>
            </a:r>
            <a:r>
              <a:rPr lang="en-US" dirty="0"/>
              <a:t>disjointness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262" y="200025"/>
            <a:ext cx="11412537" cy="1473200"/>
          </a:xfrm>
        </p:spPr>
        <p:txBody>
          <a:bodyPr/>
          <a:lstStyle/>
          <a:p>
            <a:r>
              <a:rPr lang="en-US" dirty="0"/>
              <a:t>Conundrum V: </a:t>
            </a:r>
            <a:r>
              <a:rPr lang="en-US" dirty="0" err="1" smtClean="0"/>
              <a:t>Hypotheticals</a:t>
            </a:r>
            <a:r>
              <a:rPr lang="en-US" dirty="0" smtClean="0"/>
              <a:t>, counter-</a:t>
            </a:r>
            <a:r>
              <a:rPr lang="en-US" dirty="0" err="1" smtClean="0"/>
              <a:t>factuals</a:t>
            </a:r>
            <a:r>
              <a:rPr lang="en-US" dirty="0" smtClean="0"/>
              <a:t> </a:t>
            </a:r>
            <a:r>
              <a:rPr lang="en-US" dirty="0"/>
              <a:t>&amp; imaginary constructs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2185988"/>
            <a:ext cx="12506325" cy="5662612"/>
          </a:xfrm>
        </p:spPr>
        <p:txBody>
          <a:bodyPr/>
          <a:lstStyle/>
          <a:p>
            <a:r>
              <a:rPr lang="en-US" i="1" dirty="0"/>
              <a:t>Unicorn == Horse that has_part exactly 1 Horn</a:t>
            </a:r>
            <a:r>
              <a:rPr lang="en-US" i="1" dirty="0">
                <a:sym typeface="Wingdings"/>
              </a:rPr>
              <a:t/>
            </a:r>
            <a:br>
              <a:rPr lang="en-US" i="1" dirty="0">
                <a:sym typeface="Wingdings"/>
              </a:rPr>
            </a:br>
            <a:r>
              <a:rPr lang="en-US" i="1" dirty="0">
                <a:sym typeface="Wingdings"/>
              </a:rPr>
              <a:t>Unicorn </a:t>
            </a:r>
            <a:r>
              <a:rPr lang="en-US" i="1" dirty="0" err="1">
                <a:sym typeface="Wingdings"/>
              </a:rPr>
              <a:t></a:t>
            </a:r>
            <a:r>
              <a:rPr lang="en-US" i="1" dirty="0">
                <a:sym typeface="Wingdings"/>
              </a:rPr>
              <a:t> </a:t>
            </a:r>
            <a:r>
              <a:rPr lang="en-US" i="1" dirty="0" smtClean="0">
                <a:sym typeface="Wingdings"/>
              </a:rPr>
              <a:t>Bottom  </a:t>
            </a:r>
            <a:r>
              <a:rPr lang="en-US" sz="2800" i="1" dirty="0" smtClean="0">
                <a:sym typeface="Wingdings"/>
              </a:rPr>
              <a:t>(</a:t>
            </a:r>
            <a:r>
              <a:rPr lang="en-US" sz="2800" dirty="0" smtClean="0">
                <a:sym typeface="Wingdings"/>
              </a:rPr>
              <a:t>or </a:t>
            </a:r>
            <a:r>
              <a:rPr lang="en-US" sz="2800" i="1" dirty="0" err="1" smtClean="0">
                <a:sym typeface="Wingdings"/>
              </a:rPr>
              <a:t>has_status</a:t>
            </a:r>
            <a:r>
              <a:rPr lang="en-US" sz="2800" i="1" dirty="0" smtClean="0">
                <a:sym typeface="Wingdings"/>
              </a:rPr>
              <a:t> mythological)</a:t>
            </a:r>
            <a:endParaRPr lang="en-US" i="1" dirty="0" smtClean="0">
              <a:sym typeface="Wingdings"/>
            </a:endParaRPr>
          </a:p>
          <a:p>
            <a:pPr lvl="1"/>
            <a:r>
              <a:rPr lang="en-US" dirty="0">
                <a:sym typeface="Wingdings"/>
              </a:rPr>
              <a:t>To say/infer something does not exist, I must first define it</a:t>
            </a:r>
          </a:p>
          <a:p>
            <a:pPr lvl="2"/>
            <a:r>
              <a:rPr lang="en-US" dirty="0">
                <a:sym typeface="Wingdings"/>
              </a:rPr>
              <a:t>To say nothing, leaves the question formally open </a:t>
            </a:r>
          </a:p>
          <a:p>
            <a:pPr lvl="3"/>
            <a:r>
              <a:rPr lang="en-US" dirty="0">
                <a:sym typeface="Wingdings"/>
              </a:rPr>
              <a:t>But we don’t want to clutter our ontologies </a:t>
            </a:r>
          </a:p>
          <a:p>
            <a:pPr lvl="3"/>
            <a:r>
              <a:rPr lang="en-US" dirty="0" smtClean="0">
                <a:sym typeface="Wingdings"/>
              </a:rPr>
              <a:t>Or </a:t>
            </a:r>
            <a:r>
              <a:rPr lang="en-US" dirty="0">
                <a:sym typeface="Wingdings"/>
              </a:rPr>
              <a:t>close them impractically</a:t>
            </a:r>
          </a:p>
          <a:p>
            <a:r>
              <a:rPr lang="en-US" dirty="0">
                <a:sym typeface="Wingdings"/>
              </a:rPr>
              <a:t>Higgs Boson,  Gene for obesity, for high cholesterol?...</a:t>
            </a:r>
          </a:p>
          <a:p>
            <a:pPr lvl="1"/>
            <a:r>
              <a:rPr lang="en-US" dirty="0">
                <a:sym typeface="Wingdings"/>
              </a:rPr>
              <a:t>Lots of information to be recorded before confirmed to exist</a:t>
            </a:r>
          </a:p>
          <a:p>
            <a:r>
              <a:rPr lang="en-US" dirty="0">
                <a:sym typeface="Wingdings"/>
              </a:rPr>
              <a:t>Art and Architecture ontology (includes Archeology)</a:t>
            </a:r>
          </a:p>
          <a:p>
            <a:pPr lvl="1"/>
            <a:r>
              <a:rPr lang="en-US" dirty="0">
                <a:sym typeface="Wingdings"/>
              </a:rPr>
              <a:t>Full of mythological creatures as topics of art</a:t>
            </a:r>
          </a:p>
          <a:p>
            <a:pPr lvl="1"/>
            <a:endParaRPr lang="en-US" dirty="0">
              <a:sym typeface="Wingding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092200" y="7848600"/>
            <a:ext cx="11412537" cy="1473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marL="57150" marR="0" lvl="0" indent="-57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If there is information about it, I need to represent it in my ontology</a:t>
            </a:r>
            <a:r>
              <a:rPr kumimoji="0" lang="en-US" sz="4400" b="1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InformationSystems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Ontologies &amp; the Ecology of Knowledge Representation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 need both dictionaries &amp; encyclopedias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Ontologies as </a:t>
            </a:r>
            <a:br>
              <a:rPr lang="en-US"/>
            </a:br>
            <a:r>
              <a:rPr lang="en-US"/>
              <a:t>“Conceptual coat-racks”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828800"/>
            <a:ext cx="11709400" cy="6870700"/>
          </a:xfrm>
        </p:spPr>
        <p:txBody>
          <a:bodyPr/>
          <a:lstStyle/>
          <a:p>
            <a:r>
              <a:rPr lang="en-US" dirty="0"/>
              <a:t>The framework on which to hang other knowledge</a:t>
            </a:r>
          </a:p>
          <a:p>
            <a:pPr lvl="1"/>
            <a:r>
              <a:rPr lang="en-US" dirty="0"/>
              <a:t>The source definitions, values and value-</a:t>
            </a:r>
            <a:r>
              <a:rPr lang="en-US" dirty="0" smtClean="0"/>
              <a:t>sets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To use in other formalisms about</a:t>
            </a:r>
          </a:p>
          <a:p>
            <a:pPr lvl="1"/>
            <a:r>
              <a:rPr lang="en-US" dirty="0"/>
              <a:t>“may” – diabetes may cause renal disease</a:t>
            </a:r>
          </a:p>
          <a:p>
            <a:pPr lvl="1"/>
            <a:r>
              <a:rPr lang="en-US" dirty="0"/>
              <a:t>“probably”/”usually” – Appendicitis usually causes pain in           </a:t>
            </a:r>
            <a:br>
              <a:rPr lang="en-US" dirty="0"/>
            </a:br>
            <a:r>
              <a:rPr lang="en-US" dirty="0"/>
              <a:t>                                       the right lower quadrant</a:t>
            </a:r>
          </a:p>
          <a:p>
            <a:pPr lvl="1"/>
            <a:r>
              <a:rPr lang="en-US" dirty="0"/>
              <a:t>“facts” –  </a:t>
            </a:r>
            <a:r>
              <a:rPr lang="en-US" dirty="0" err="1"/>
              <a:t>Metformin</a:t>
            </a:r>
            <a:r>
              <a:rPr lang="en-US" dirty="0"/>
              <a:t> is licensed for treatment Diabetes type 2</a:t>
            </a:r>
          </a:p>
          <a:p>
            <a:pPr lvl="1"/>
            <a:r>
              <a:rPr lang="en-US" dirty="0"/>
              <a:t>Mathematical </a:t>
            </a:r>
            <a:r>
              <a:rPr lang="en-US" dirty="0" err="1" smtClean="0"/>
              <a:t>formulatations</a:t>
            </a:r>
            <a:r>
              <a:rPr lang="en-US" dirty="0" smtClean="0"/>
              <a:t> </a:t>
            </a:r>
            <a:r>
              <a:rPr lang="en-US" dirty="0"/>
              <a:t>– sets of partial differential equations, etc. </a:t>
            </a:r>
          </a:p>
          <a:p>
            <a:r>
              <a:rPr lang="en-US" dirty="0"/>
              <a:t>There are many other knowledge representation formalisms                     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integrate or interoperate?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295400"/>
            <a:ext cx="11709400" cy="3505200"/>
          </a:xfrm>
        </p:spPr>
        <p:txBody>
          <a:bodyPr/>
          <a:lstStyle/>
          <a:p>
            <a:r>
              <a:rPr lang="en-US" dirty="0" smtClean="0"/>
              <a:t>Four choices</a:t>
            </a:r>
            <a:endParaRPr lang="en-US" dirty="0"/>
          </a:p>
          <a:p>
            <a:pPr lvl="1"/>
            <a:r>
              <a:rPr lang="en-US" dirty="0"/>
              <a:t>Integrate other methods into </a:t>
            </a:r>
            <a:r>
              <a:rPr lang="en-US" dirty="0" smtClean="0"/>
              <a:t>ontologies</a:t>
            </a:r>
          </a:p>
          <a:p>
            <a:pPr lvl="2"/>
            <a:r>
              <a:rPr lang="en-US" dirty="0" smtClean="0"/>
              <a:t>Risks “mission creep” &amp; loosing ontologies’ unique value</a:t>
            </a:r>
          </a:p>
          <a:p>
            <a:pPr lvl="2"/>
            <a:r>
              <a:rPr lang="en-US" dirty="0" smtClean="0"/>
              <a:t>Risks ignoring well developed work in other discplines</a:t>
            </a:r>
          </a:p>
          <a:p>
            <a:pPr lvl="1"/>
            <a:r>
              <a:rPr lang="en-US" dirty="0"/>
              <a:t>Make ontology implementations “friendly” to hybrid systems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Define interfaces &amp; formulations for convenient interworking</a:t>
            </a:r>
          </a:p>
          <a:p>
            <a:pPr lvl="3"/>
            <a:r>
              <a:rPr lang="en-US" dirty="0" smtClean="0"/>
              <a:t>Leverages other work, but requires compromise and new understanding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47</a:t>
            </a:fld>
            <a:endParaRPr lang="en-US"/>
          </a:p>
        </p:txBody>
      </p:sp>
      <p:pic>
        <p:nvPicPr>
          <p:cNvPr id="6" name="Picture 4" descr="Silo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59800" y="6096000"/>
            <a:ext cx="32639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334000"/>
            <a:ext cx="3098800" cy="3718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2335544" y="5257800"/>
            <a:ext cx="9500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30300" lvl="1" indent="-363538" algn="l" eaLnBrk="0" hangingPunct="0">
              <a:spcBef>
                <a:spcPts val="1000"/>
              </a:spcBef>
              <a:buSzPct val="100000"/>
              <a:buFont typeface="Arial" charset="0"/>
              <a:buChar char="►"/>
            </a:pPr>
            <a:r>
              <a:rPr lang="en-US" sz="2800" b="1" dirty="0" smtClean="0">
                <a:solidFill>
                  <a:srgbClr val="FFFF93"/>
                </a:solidFill>
                <a:latin typeface="+mn-lt"/>
                <a:ea typeface="ＭＳ Ｐゴシック" charset="-128"/>
                <a:sym typeface="Arial" charset="0"/>
              </a:rPr>
              <a:t>Force knowledge representation onto an ontological procrustean bed?</a:t>
            </a:r>
            <a:endParaRPr lang="en-US" sz="2800" b="1" dirty="0">
              <a:solidFill>
                <a:srgbClr val="FFFF93"/>
              </a:solidFill>
              <a:latin typeface="+mn-lt"/>
              <a:ea typeface="ＭＳ Ｐゴシック" charset="-128"/>
              <a:sym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16400" y="6324600"/>
            <a:ext cx="4343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30300" lvl="1" indent="-363538" algn="r" eaLnBrk="0" hangingPunct="0">
              <a:spcBef>
                <a:spcPts val="1000"/>
              </a:spcBef>
              <a:buSzPct val="100000"/>
              <a:buFont typeface="Arial" charset="0"/>
              <a:buChar char="►"/>
            </a:pPr>
            <a:r>
              <a:rPr lang="en-US" sz="2800" b="1" dirty="0" smtClean="0">
                <a:solidFill>
                  <a:srgbClr val="FFFF93"/>
                </a:solidFill>
                <a:latin typeface="+mn-lt"/>
                <a:ea typeface="ＭＳ Ｐゴシック" charset="-128"/>
                <a:sym typeface="Arial" charset="0"/>
              </a:rPr>
              <a:t>Keep each form of knowledge in its own silo? </a:t>
            </a:r>
            <a:endParaRPr lang="en-US" sz="2800" b="1" dirty="0">
              <a:solidFill>
                <a:srgbClr val="FFFF93"/>
              </a:solidFill>
              <a:latin typeface="+mn-lt"/>
              <a:ea typeface="ＭＳ Ｐゴシック" charset="-128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we need to interoperate with?  Where is the added value?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600200"/>
            <a:ext cx="11709400" cy="7924800"/>
          </a:xfrm>
        </p:spPr>
        <p:txBody>
          <a:bodyPr/>
          <a:lstStyle/>
          <a:p>
            <a:r>
              <a:rPr lang="en-US" sz="2800" dirty="0" smtClean="0"/>
              <a:t>The rest of the ontology &amp; semantic web community </a:t>
            </a:r>
          </a:p>
          <a:p>
            <a:pPr lvl="1"/>
            <a:r>
              <a:rPr lang="en-US" sz="2200" dirty="0" smtClean="0"/>
              <a:t>IAOA, </a:t>
            </a:r>
            <a:r>
              <a:rPr lang="en-US" sz="2200" dirty="0" err="1" smtClean="0"/>
              <a:t>Ontolog</a:t>
            </a:r>
            <a:r>
              <a:rPr lang="en-US" sz="2200" dirty="0" smtClean="0"/>
              <a:t>, ontology summits, Linked Open Data, … </a:t>
            </a:r>
          </a:p>
          <a:p>
            <a:r>
              <a:rPr lang="en-US" sz="2800" dirty="0" smtClean="0"/>
              <a:t>Data structures, UML &amp; Model Driven Architectures</a:t>
            </a:r>
          </a:p>
          <a:p>
            <a:pPr lvl="1"/>
            <a:r>
              <a:rPr lang="en-US" sz="2000" dirty="0" smtClean="0"/>
              <a:t>Key parts of today’s software engineering</a:t>
            </a:r>
          </a:p>
          <a:p>
            <a:pPr lvl="1"/>
            <a:r>
              <a:rPr lang="en-US" sz="2000" dirty="0" smtClean="0"/>
              <a:t>Made much easier by some choices than other</a:t>
            </a:r>
          </a:p>
          <a:p>
            <a:pPr lvl="2"/>
            <a:r>
              <a:rPr lang="en-US" sz="1800" dirty="0" smtClean="0"/>
              <a:t>Reifying relations, E-Q-V rather than E-Q</a:t>
            </a:r>
          </a:p>
          <a:p>
            <a:pPr lvl="3"/>
            <a:r>
              <a:rPr lang="en-US" sz="1600" dirty="0" smtClean="0"/>
              <a:t>An urgent problem</a:t>
            </a:r>
          </a:p>
          <a:p>
            <a:r>
              <a:rPr lang="en-US" sz="2800" dirty="0" smtClean="0"/>
              <a:t>Clinical decision support, Trial Protocols, and Biological pathways</a:t>
            </a:r>
          </a:p>
          <a:p>
            <a:pPr lvl="1"/>
            <a:r>
              <a:rPr lang="en-US" sz="2000" dirty="0" smtClean="0"/>
              <a:t>Not primarily ontological but need ontologies</a:t>
            </a:r>
          </a:p>
          <a:p>
            <a:pPr lvl="2"/>
            <a:r>
              <a:rPr lang="en-US" sz="1800" i="1" dirty="0" smtClean="0"/>
              <a:t>A mission critical challenge – if we are irrelevant here, then we are irrelevant to healthcare</a:t>
            </a:r>
          </a:p>
          <a:p>
            <a:r>
              <a:rPr lang="en-US" sz="2800" dirty="0" smtClean="0"/>
              <a:t>Probabilities and Bayesian Networks</a:t>
            </a:r>
          </a:p>
          <a:p>
            <a:pPr lvl="1"/>
            <a:r>
              <a:rPr lang="en-US" sz="2000" dirty="0" smtClean="0"/>
              <a:t>Highly developed theory  and community </a:t>
            </a:r>
          </a:p>
          <a:p>
            <a:pPr lvl="2"/>
            <a:r>
              <a:rPr lang="en-US" sz="1800" dirty="0" smtClean="0"/>
              <a:t>How best to leverage &amp; interact</a:t>
            </a:r>
          </a:p>
          <a:p>
            <a:pPr lvl="3"/>
            <a:r>
              <a:rPr lang="en-US" sz="1600" dirty="0" smtClean="0"/>
              <a:t>A grand challenge</a:t>
            </a:r>
          </a:p>
          <a:p>
            <a:r>
              <a:rPr lang="en-US" sz="2600" dirty="0" smtClean="0"/>
              <a:t>Question answering</a:t>
            </a:r>
          </a:p>
          <a:p>
            <a:pPr lvl="1"/>
            <a:r>
              <a:rPr lang="en-US" sz="2000" dirty="0" smtClean="0"/>
              <a:t>Did Watson need an “ontology”?  What kind?</a:t>
            </a:r>
          </a:p>
          <a:p>
            <a:pPr lvl="2"/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200025"/>
            <a:ext cx="12192000" cy="1473200"/>
          </a:xfrm>
        </p:spPr>
        <p:txBody>
          <a:bodyPr/>
          <a:lstStyle/>
          <a:p>
            <a:r>
              <a:rPr lang="en-US" dirty="0" smtClean="0"/>
              <a:t>One Example of making ontologies friendly to other formalisms: UML &amp; frames: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Easier if we reify relations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3276600"/>
            <a:ext cx="11963400" cy="6477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Simplified </a:t>
            </a:r>
            <a:r>
              <a:rPr lang="en-US" dirty="0"/>
              <a:t>sketch:</a:t>
            </a:r>
          </a:p>
          <a:p>
            <a:pPr lvl="1">
              <a:defRPr/>
            </a:pPr>
            <a:r>
              <a:rPr lang="en-US" dirty="0"/>
              <a:t>CLASS: </a:t>
            </a:r>
            <a:r>
              <a:rPr lang="en-US" dirty="0" err="1"/>
              <a:t>MyAssociation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Association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2"/>
              </a:rPr>
              <a:t> </a:t>
            </a:r>
            <a:r>
              <a:rPr lang="en-US" dirty="0" err="1"/>
              <a:t>hasTopic</a:t>
            </a:r>
            <a:r>
              <a:rPr lang="en-US" dirty="0"/>
              <a:t> some Class1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2"/>
              </a:rPr>
              <a:t> </a:t>
            </a:r>
            <a:r>
              <a:rPr lang="en-US" dirty="0" err="1"/>
              <a:t>hasObject</a:t>
            </a:r>
            <a:r>
              <a:rPr lang="en-US" dirty="0"/>
              <a:t> some Class2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ym typeface="Wingdings"/>
              </a:rPr>
              <a:t></a:t>
            </a:r>
            <a:r>
              <a:rPr lang="en-US" dirty="0">
                <a:sym typeface="Wingdings" charset="2"/>
              </a:rPr>
              <a:t> </a:t>
            </a:r>
            <a:r>
              <a:rPr lang="en-US" dirty="0"/>
              <a:t>Key: (</a:t>
            </a:r>
            <a:r>
              <a:rPr lang="en-US" dirty="0" err="1"/>
              <a:t>hasTopic</a:t>
            </a:r>
            <a:r>
              <a:rPr lang="en-US" dirty="0"/>
              <a:t>, </a:t>
            </a:r>
            <a:r>
              <a:rPr lang="en-US" dirty="0" err="1"/>
              <a:t>hasObject</a:t>
            </a:r>
            <a:r>
              <a:rPr lang="en-US" dirty="0"/>
              <a:t>)</a:t>
            </a:r>
          </a:p>
          <a:p>
            <a:pPr>
              <a:defRPr/>
            </a:pPr>
            <a:r>
              <a:rPr lang="en-US" dirty="0"/>
              <a:t>Most of the benefits of UML models but retains composition</a:t>
            </a:r>
          </a:p>
          <a:p>
            <a:pPr lvl="1">
              <a:defRPr/>
            </a:pPr>
            <a:r>
              <a:rPr lang="en-US" dirty="0"/>
              <a:t>At the cost of an extra level of nesting (to be hidden)</a:t>
            </a:r>
            <a:endParaRPr lang="en-US" dirty="0" smtClean="0"/>
          </a:p>
          <a:p>
            <a:pPr lvl="2">
              <a:defRPr/>
            </a:pPr>
            <a:r>
              <a:rPr lang="en-US" dirty="0" smtClean="0"/>
              <a:t>(close to “DRL-</a:t>
            </a:r>
            <a:r>
              <a:rPr lang="en-US" dirty="0" err="1" smtClean="0"/>
              <a:t>lite</a:t>
            </a:r>
            <a:r>
              <a:rPr lang="en-US" dirty="0" smtClean="0"/>
              <a:t>” </a:t>
            </a:r>
            <a:r>
              <a:rPr lang="en-US" dirty="0" err="1" smtClean="0"/>
              <a:t>Berardi</a:t>
            </a:r>
            <a:r>
              <a:rPr lang="en-US" dirty="0" smtClean="0"/>
              <a:t> et al 2005)</a:t>
            </a:r>
          </a:p>
          <a:p>
            <a:pPr lvl="1">
              <a:defRPr/>
            </a:pPr>
            <a:r>
              <a:rPr lang="en-US" dirty="0" smtClean="0"/>
              <a:t>Loss of some power of ontologies for property paths, transitivity etc</a:t>
            </a:r>
          </a:p>
          <a:p>
            <a:pPr lvl="2">
              <a:defRPr/>
            </a:pPr>
            <a:r>
              <a:rPr lang="en-US" dirty="0" smtClean="0"/>
              <a:t>May need to filter out a few unwanted inferences</a:t>
            </a:r>
          </a:p>
          <a:p>
            <a:pPr lvl="2">
              <a:defRPr/>
            </a:pPr>
            <a:endParaRPr lang="en-US" dirty="0" smtClean="0"/>
          </a:p>
          <a:p>
            <a:pPr lvl="2"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446000" cy="1473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Side benefit</a:t>
            </a:r>
            <a:br>
              <a:rPr lang="en-US" dirty="0" smtClean="0"/>
            </a:br>
            <a:r>
              <a:rPr lang="en-US" dirty="0"/>
              <a:t>Take advantage of good diagramming tools</a:t>
            </a:r>
          </a:p>
        </p:txBody>
      </p:sp>
      <p:sp>
        <p:nvSpPr>
          <p:cNvPr id="53251" name="Vertical Text Placeholder 28"/>
          <p:cNvSpPr>
            <a:spLocks noGrp="1"/>
          </p:cNvSpPr>
          <p:nvPr>
            <p:ph type="body" orient="vert" idx="1"/>
          </p:nvPr>
        </p:nvSpPr>
        <p:spPr>
          <a:xfrm rot="16200000">
            <a:off x="5791200" y="2159000"/>
            <a:ext cx="2971800" cy="11455400"/>
          </a:xfrm>
        </p:spPr>
        <p:txBody>
          <a:bodyPr/>
          <a:lstStyle/>
          <a:p>
            <a:r>
              <a:rPr lang="en-US" sz="2400" dirty="0"/>
              <a:t>Plus a bit of effort to sort out the multiplicities ad cardinalities</a:t>
            </a:r>
          </a:p>
          <a:p>
            <a:r>
              <a:rPr lang="en-US" sz="2400" dirty="0"/>
              <a:t>If we use </a:t>
            </a:r>
            <a:r>
              <a:rPr lang="en-US" sz="2400" dirty="0" err="1"/>
              <a:t>subproperties</a:t>
            </a:r>
            <a:r>
              <a:rPr lang="en-US" sz="2400" dirty="0"/>
              <a:t> &amp; property paths &amp; a bit of external checking, </a:t>
            </a:r>
            <a:br>
              <a:rPr lang="en-US" sz="2400" dirty="0"/>
            </a:br>
            <a:r>
              <a:rPr lang="en-US" sz="2400" dirty="0"/>
              <a:t>we can produce a bridging property, which can be transitive</a:t>
            </a:r>
          </a:p>
          <a:p>
            <a:pPr lvl="1"/>
            <a:r>
              <a:rPr lang="en-US" sz="1800" dirty="0" err="1"/>
              <a:t>has_cause</a:t>
            </a:r>
            <a:r>
              <a:rPr lang="en-US" sz="1800" dirty="0"/>
              <a:t> ⊑ </a:t>
            </a:r>
            <a:r>
              <a:rPr lang="en-US" sz="1800" dirty="0" err="1"/>
              <a:t>inv(hasTopicC</a:t>
            </a:r>
            <a:r>
              <a:rPr lang="en-US" sz="1800" dirty="0"/>
              <a:t>) </a:t>
            </a:r>
            <a:r>
              <a:rPr lang="en-US" sz="1800" dirty="0" err="1"/>
              <a:t>o</a:t>
            </a:r>
            <a:r>
              <a:rPr lang="en-US" sz="1800" dirty="0"/>
              <a:t> </a:t>
            </a:r>
            <a:r>
              <a:rPr lang="en-US" sz="1800" dirty="0" err="1"/>
              <a:t>hasObjectC</a:t>
            </a:r>
            <a:endParaRPr lang="en-US" sz="1800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81A6FEF-4FCE-274B-BAE1-0F10D69B6A48}" type="slidenum">
              <a:rPr lang="en-US"/>
              <a:pPr/>
              <a:t>50</a:t>
            </a:fld>
            <a:endParaRPr lang="en-US"/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1625600" y="4724400"/>
            <a:ext cx="23622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sz="2400"/>
              <a:t>Pneumonia</a:t>
            </a:r>
          </a:p>
        </p:txBody>
      </p:sp>
      <p:sp>
        <p:nvSpPr>
          <p:cNvPr id="53254" name="Rectangle 5"/>
          <p:cNvSpPr>
            <a:spLocks noChangeArrowheads="1"/>
          </p:cNvSpPr>
          <p:nvPr/>
        </p:nvSpPr>
        <p:spPr bwMode="auto">
          <a:xfrm>
            <a:off x="9017000" y="4724400"/>
            <a:ext cx="23622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sz="2400"/>
              <a:t>Bacterium</a:t>
            </a:r>
          </a:p>
        </p:txBody>
      </p:sp>
      <p:sp>
        <p:nvSpPr>
          <p:cNvPr id="53255" name="Rectangle 6"/>
          <p:cNvSpPr>
            <a:spLocks noChangeArrowheads="1"/>
          </p:cNvSpPr>
          <p:nvPr/>
        </p:nvSpPr>
        <p:spPr bwMode="auto">
          <a:xfrm>
            <a:off x="5359400" y="4724400"/>
            <a:ext cx="23622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sz="2400"/>
              <a:t>Cause</a:t>
            </a:r>
          </a:p>
        </p:txBody>
      </p:sp>
      <p:cxnSp>
        <p:nvCxnSpPr>
          <p:cNvPr id="53256" name="Straight Arrow Connector 8"/>
          <p:cNvCxnSpPr>
            <a:cxnSpLocks noChangeShapeType="1"/>
            <a:stCxn id="53255" idx="1"/>
            <a:endCxn id="53253" idx="3"/>
          </p:cNvCxnSpPr>
          <p:nvPr/>
        </p:nvCxnSpPr>
        <p:spPr bwMode="auto">
          <a:xfrm rot="10800000">
            <a:off x="3987800" y="5105400"/>
            <a:ext cx="1371600" cy="1588"/>
          </a:xfrm>
          <a:prstGeom prst="straightConnector1">
            <a:avLst/>
          </a:prstGeom>
          <a:noFill/>
          <a:ln w="12700">
            <a:solidFill>
              <a:srgbClr val="E6E6E6"/>
            </a:solidFill>
            <a:round/>
            <a:headEnd/>
            <a:tailEnd type="arrow" w="med" len="med"/>
          </a:ln>
        </p:spPr>
      </p:cxnSp>
      <p:cxnSp>
        <p:nvCxnSpPr>
          <p:cNvPr id="53257" name="Straight Arrow Connector 10"/>
          <p:cNvCxnSpPr>
            <a:cxnSpLocks noChangeShapeType="1"/>
            <a:stCxn id="53255" idx="3"/>
            <a:endCxn id="53254" idx="1"/>
          </p:cNvCxnSpPr>
          <p:nvPr/>
        </p:nvCxnSpPr>
        <p:spPr bwMode="auto">
          <a:xfrm>
            <a:off x="7721600" y="5105400"/>
            <a:ext cx="1295400" cy="1588"/>
          </a:xfrm>
          <a:prstGeom prst="straightConnector1">
            <a:avLst/>
          </a:prstGeom>
          <a:noFill/>
          <a:ln w="12700">
            <a:solidFill>
              <a:srgbClr val="E6E6E6"/>
            </a:solidFill>
            <a:round/>
            <a:headEnd/>
            <a:tailEnd type="arrow" w="med" len="med"/>
          </a:ln>
        </p:spPr>
      </p:cxnSp>
      <p:sp>
        <p:nvSpPr>
          <p:cNvPr id="53258" name="TextBox 11"/>
          <p:cNvSpPr txBox="1">
            <a:spLocks noChangeArrowheads="1"/>
          </p:cNvSpPr>
          <p:nvPr/>
        </p:nvSpPr>
        <p:spPr bwMode="auto">
          <a:xfrm>
            <a:off x="4054475" y="4724400"/>
            <a:ext cx="12779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E6E6E6"/>
                </a:solidFill>
              </a:rPr>
              <a:t>hasTopicC</a:t>
            </a:r>
          </a:p>
        </p:txBody>
      </p:sp>
      <p:sp>
        <p:nvSpPr>
          <p:cNvPr id="53259" name="TextBox 12"/>
          <p:cNvSpPr txBox="1">
            <a:spLocks noChangeArrowheads="1"/>
          </p:cNvSpPr>
          <p:nvPr/>
        </p:nvSpPr>
        <p:spPr bwMode="auto">
          <a:xfrm>
            <a:off x="7661275" y="4724400"/>
            <a:ext cx="13811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E6E6E6"/>
                </a:solidFill>
              </a:rPr>
              <a:t>hasObjectC</a:t>
            </a:r>
          </a:p>
        </p:txBody>
      </p:sp>
      <p:sp>
        <p:nvSpPr>
          <p:cNvPr id="53260" name="Rectangle 15"/>
          <p:cNvSpPr>
            <a:spLocks noChangeArrowheads="1"/>
          </p:cNvSpPr>
          <p:nvPr/>
        </p:nvSpPr>
        <p:spPr bwMode="auto">
          <a:xfrm>
            <a:off x="7188200" y="3124200"/>
            <a:ext cx="23622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sz="2400"/>
              <a:t>Association</a:t>
            </a:r>
          </a:p>
        </p:txBody>
      </p:sp>
      <p:sp>
        <p:nvSpPr>
          <p:cNvPr id="53261" name="Rectangle 16"/>
          <p:cNvSpPr>
            <a:spLocks noChangeArrowheads="1"/>
          </p:cNvSpPr>
          <p:nvPr/>
        </p:nvSpPr>
        <p:spPr bwMode="auto">
          <a:xfrm>
            <a:off x="2921000" y="3124200"/>
            <a:ext cx="23622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sz="2400"/>
              <a:t>Domain</a:t>
            </a:r>
            <a:br>
              <a:rPr lang="en-US" sz="2400"/>
            </a:br>
            <a:r>
              <a:rPr lang="en-US" sz="2400"/>
              <a:t>Entity</a:t>
            </a:r>
          </a:p>
        </p:txBody>
      </p:sp>
      <p:sp>
        <p:nvSpPr>
          <p:cNvPr id="53262" name="Rectangle 17"/>
          <p:cNvSpPr>
            <a:spLocks noChangeArrowheads="1"/>
          </p:cNvSpPr>
          <p:nvPr/>
        </p:nvSpPr>
        <p:spPr bwMode="auto">
          <a:xfrm>
            <a:off x="5054600" y="1905000"/>
            <a:ext cx="2362200" cy="762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sz="2400"/>
              <a:t>Top</a:t>
            </a:r>
          </a:p>
        </p:txBody>
      </p:sp>
      <p:cxnSp>
        <p:nvCxnSpPr>
          <p:cNvPr id="53263" name="Straight Arrow Connector 19"/>
          <p:cNvCxnSpPr>
            <a:cxnSpLocks noChangeShapeType="1"/>
            <a:stCxn id="53253" idx="0"/>
            <a:endCxn id="53261" idx="2"/>
          </p:cNvCxnSpPr>
          <p:nvPr/>
        </p:nvCxnSpPr>
        <p:spPr bwMode="auto">
          <a:xfrm rot="5400000" flipH="1" flipV="1">
            <a:off x="3035300" y="3657600"/>
            <a:ext cx="838200" cy="1295400"/>
          </a:xfrm>
          <a:prstGeom prst="straightConnector1">
            <a:avLst/>
          </a:prstGeom>
          <a:noFill/>
          <a:ln w="12700">
            <a:solidFill>
              <a:srgbClr val="E6E6E6"/>
            </a:solidFill>
            <a:round/>
            <a:headEnd/>
            <a:tailEnd type="arrow" w="med" len="med"/>
          </a:ln>
        </p:spPr>
      </p:cxnSp>
      <p:cxnSp>
        <p:nvCxnSpPr>
          <p:cNvPr id="53264" name="Straight Arrow Connector 21"/>
          <p:cNvCxnSpPr>
            <a:cxnSpLocks noChangeShapeType="1"/>
            <a:stCxn id="53254" idx="0"/>
            <a:endCxn id="53261" idx="2"/>
          </p:cNvCxnSpPr>
          <p:nvPr/>
        </p:nvCxnSpPr>
        <p:spPr bwMode="auto">
          <a:xfrm rot="16200000" flipV="1">
            <a:off x="6731000" y="1257300"/>
            <a:ext cx="838200" cy="6096000"/>
          </a:xfrm>
          <a:prstGeom prst="straightConnector1">
            <a:avLst/>
          </a:prstGeom>
          <a:noFill/>
          <a:ln w="12700">
            <a:solidFill>
              <a:srgbClr val="E6E6E6"/>
            </a:solidFill>
            <a:round/>
            <a:headEnd/>
            <a:tailEnd type="arrow" w="med" len="med"/>
          </a:ln>
        </p:spPr>
      </p:cxnSp>
      <p:cxnSp>
        <p:nvCxnSpPr>
          <p:cNvPr id="53265" name="Straight Arrow Connector 23"/>
          <p:cNvCxnSpPr>
            <a:cxnSpLocks noChangeShapeType="1"/>
            <a:stCxn id="53255" idx="0"/>
            <a:endCxn id="53260" idx="2"/>
          </p:cNvCxnSpPr>
          <p:nvPr/>
        </p:nvCxnSpPr>
        <p:spPr bwMode="auto">
          <a:xfrm rot="5400000" flipH="1" flipV="1">
            <a:off x="7035800" y="3390900"/>
            <a:ext cx="838200" cy="1828800"/>
          </a:xfrm>
          <a:prstGeom prst="straightConnector1">
            <a:avLst/>
          </a:prstGeom>
          <a:noFill/>
          <a:ln w="12700">
            <a:solidFill>
              <a:srgbClr val="E6E6E6"/>
            </a:solidFill>
            <a:round/>
            <a:headEnd/>
            <a:tailEnd type="arrow" w="med" len="med"/>
          </a:ln>
        </p:spPr>
      </p:cxnSp>
      <p:cxnSp>
        <p:nvCxnSpPr>
          <p:cNvPr id="53266" name="Straight Arrow Connector 25"/>
          <p:cNvCxnSpPr>
            <a:cxnSpLocks noChangeShapeType="1"/>
            <a:stCxn id="53261" idx="0"/>
            <a:endCxn id="53262" idx="2"/>
          </p:cNvCxnSpPr>
          <p:nvPr/>
        </p:nvCxnSpPr>
        <p:spPr bwMode="auto">
          <a:xfrm rot="5400000" flipH="1" flipV="1">
            <a:off x="4940300" y="1828800"/>
            <a:ext cx="457200" cy="2133600"/>
          </a:xfrm>
          <a:prstGeom prst="straightConnector1">
            <a:avLst/>
          </a:prstGeom>
          <a:noFill/>
          <a:ln w="12700">
            <a:solidFill>
              <a:srgbClr val="E6E6E6"/>
            </a:solidFill>
            <a:round/>
            <a:headEnd/>
            <a:tailEnd type="arrow" w="med" len="med"/>
          </a:ln>
        </p:spPr>
      </p:cxnSp>
      <p:cxnSp>
        <p:nvCxnSpPr>
          <p:cNvPr id="53267" name="Straight Arrow Connector 27"/>
          <p:cNvCxnSpPr>
            <a:cxnSpLocks noChangeShapeType="1"/>
            <a:stCxn id="53260" idx="0"/>
            <a:endCxn id="53262" idx="2"/>
          </p:cNvCxnSpPr>
          <p:nvPr/>
        </p:nvCxnSpPr>
        <p:spPr bwMode="auto">
          <a:xfrm rot="16200000" flipV="1">
            <a:off x="7073900" y="1828800"/>
            <a:ext cx="457200" cy="2133600"/>
          </a:xfrm>
          <a:prstGeom prst="straightConnector1">
            <a:avLst/>
          </a:prstGeom>
          <a:noFill/>
          <a:ln w="12700">
            <a:solidFill>
              <a:srgbClr val="E6E6E6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00025"/>
            <a:ext cx="12115800" cy="94297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Other side benefits</a:t>
            </a:r>
            <a:endParaRPr lang="en-US" dirty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98475" y="1371600"/>
            <a:ext cx="12506325" cy="6477000"/>
          </a:xfrm>
        </p:spPr>
        <p:txBody>
          <a:bodyPr/>
          <a:lstStyle/>
          <a:p>
            <a:r>
              <a:rPr lang="en-US" dirty="0" smtClean="0"/>
              <a:t>Natural </a:t>
            </a:r>
            <a:r>
              <a:rPr lang="en-US" dirty="0"/>
              <a:t>representation for “sanctioning”</a:t>
            </a:r>
          </a:p>
          <a:p>
            <a:pPr lvl="1"/>
            <a:r>
              <a:rPr lang="en-US" dirty="0"/>
              <a:t>Just ask for minimal</a:t>
            </a:r>
            <a:r>
              <a:rPr lang="en-US" dirty="0" smtClean="0"/>
              <a:t>  </a:t>
            </a:r>
            <a:r>
              <a:rPr lang="en-US" dirty="0"/>
              <a:t>set of associations with a  given </a:t>
            </a:r>
            <a:r>
              <a:rPr lang="en-US" dirty="0" smtClean="0"/>
              <a:t>topic</a:t>
            </a:r>
          </a:p>
          <a:p>
            <a:r>
              <a:rPr lang="en-US" dirty="0" smtClean="0"/>
              <a:t>Natural approach to reconciling with frames</a:t>
            </a:r>
            <a:endParaRPr lang="en-US" dirty="0" smtClean="0"/>
          </a:p>
          <a:p>
            <a:r>
              <a:rPr lang="en-US" dirty="0" smtClean="0"/>
              <a:t>Link provides attachment point for second order information on strengths of association/probabilities</a:t>
            </a:r>
          </a:p>
          <a:p>
            <a:r>
              <a:rPr lang="en-US" dirty="0"/>
              <a:t>Natural representation for “some”/“may”</a:t>
            </a:r>
            <a:endParaRPr lang="en-US" dirty="0" smtClean="0"/>
          </a:p>
          <a:p>
            <a:pPr lvl="1"/>
            <a:r>
              <a:rPr lang="en-US" dirty="0" smtClean="0"/>
              <a:t>“Pneumonia may be caused by Bacteria”</a:t>
            </a:r>
          </a:p>
          <a:p>
            <a:pPr lvl="2"/>
            <a:r>
              <a:rPr lang="en-US" dirty="0"/>
              <a:t>E.g. Pneumonia may be caused by Bacteria</a:t>
            </a:r>
            <a:r>
              <a:rPr lang="en-US" dirty="0" smtClean="0"/>
              <a:t>?</a:t>
            </a:r>
          </a:p>
          <a:p>
            <a:pPr lvl="2"/>
            <a:r>
              <a:rPr lang="en-US" dirty="0" err="1" smtClean="0"/>
              <a:t>Causal_link_bacteria_pneumonia</a:t>
            </a:r>
            <a:r>
              <a:rPr lang="en-US" dirty="0" smtClean="0"/>
              <a:t> ==</a:t>
            </a:r>
            <a:br>
              <a:rPr lang="en-US" dirty="0" smtClean="0"/>
            </a:br>
            <a:r>
              <a:rPr lang="en-US" dirty="0" smtClean="0"/>
              <a:t>   </a:t>
            </a:r>
            <a:r>
              <a:rPr lang="en-US" dirty="0" err="1" smtClean="0"/>
              <a:t>Causal_link</a:t>
            </a:r>
            <a:r>
              <a:rPr lang="en-US" dirty="0" smtClean="0"/>
              <a:t> &amp;</a:t>
            </a:r>
            <a:br>
              <a:rPr lang="en-US" dirty="0" smtClean="0"/>
            </a:br>
            <a:r>
              <a:rPr lang="en-US" dirty="0" smtClean="0"/>
              <a:t>       </a:t>
            </a:r>
            <a:r>
              <a:rPr lang="en-US" dirty="0" err="1" smtClean="0"/>
              <a:t>has_topic</a:t>
            </a:r>
            <a:r>
              <a:rPr lang="en-US" dirty="0" smtClean="0"/>
              <a:t> some Pneumonia &amp;</a:t>
            </a:r>
            <a:br>
              <a:rPr lang="en-US" dirty="0" smtClean="0"/>
            </a:br>
            <a:r>
              <a:rPr lang="en-US" dirty="0" smtClean="0"/>
              <a:t>       </a:t>
            </a:r>
            <a:r>
              <a:rPr lang="en-US" dirty="0" err="1" smtClean="0"/>
              <a:t>has_object</a:t>
            </a:r>
            <a:r>
              <a:rPr lang="en-US" dirty="0" smtClean="0"/>
              <a:t> some Bacteria</a:t>
            </a:r>
          </a:p>
          <a:p>
            <a:pPr lvl="1"/>
            <a:r>
              <a:rPr lang="en-US" dirty="0" smtClean="0"/>
              <a:t>It’s logic / OWL – but is it ontology</a:t>
            </a:r>
          </a:p>
          <a:p>
            <a:endParaRPr lang="en-US" dirty="0" smtClean="0"/>
          </a:p>
          <a:p>
            <a:pPr lvl="2"/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B965C19-32C7-4C43-9E7B-AA10A29D9693}" type="slidenum">
              <a:rPr lang="en-US"/>
              <a:pPr/>
              <a:t>51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863600" y="8810625"/>
            <a:ext cx="10406063" cy="942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800" tIns="50800" rIns="108560" bIns="50800" numCol="1" anchor="t" anchorCtr="0" compatLnSpc="1">
            <a:prstTxWarp prst="textNoShape">
              <a:avLst/>
            </a:prstTxWarp>
          </a:bodyPr>
          <a:lstStyle/>
          <a:p>
            <a:pPr marL="57150" marR="0" lvl="0" indent="-571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1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An interface </a:t>
            </a:r>
            <a:r>
              <a:rPr lang="en-US" sz="4400" b="1" i="1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between Ontology &amp; KR</a:t>
            </a:r>
            <a:r>
              <a:rPr lang="en-US" sz="4400" b="1" i="1" kern="0" noProof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ＭＳ Ｐゴシック" charset="-128"/>
                <a:cs typeface="ＭＳ Ｐゴシック" charset="-128"/>
                <a:sym typeface="Arial" charset="0"/>
              </a:rPr>
              <a:t>?</a:t>
            </a:r>
            <a:endParaRPr kumimoji="0" lang="en-US" sz="44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ＭＳ Ｐゴシック" charset="-128"/>
              <a:cs typeface="ＭＳ Ｐゴシック" charset="-128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263" y="200025"/>
            <a:ext cx="11412537" cy="1473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Related issue - Value </a:t>
            </a:r>
            <a:r>
              <a:rPr lang="en-US" dirty="0"/>
              <a:t>sets: </a:t>
            </a:r>
            <a:br>
              <a:rPr lang="en-US" dirty="0"/>
            </a:br>
            <a:r>
              <a:rPr lang="en-US" i="1" dirty="0"/>
              <a:t>Mission critical for medical applications</a:t>
            </a:r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sz="4000" i="1" dirty="0" smtClean="0"/>
              <a:t/>
            </a:r>
            <a:br>
              <a:rPr lang="en-US" sz="4000" i="1" dirty="0" smtClean="0"/>
            </a:br>
            <a:endParaRPr lang="en-US" i="1" dirty="0"/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558800" y="2209800"/>
            <a:ext cx="11718925" cy="9091613"/>
          </a:xfrm>
        </p:spPr>
        <p:txBody>
          <a:bodyPr/>
          <a:lstStyle/>
          <a:p>
            <a:r>
              <a:rPr lang="en-US" dirty="0"/>
              <a:t>Three cases</a:t>
            </a:r>
            <a:r>
              <a:rPr lang="en-US" dirty="0" smtClean="0"/>
              <a:t> </a:t>
            </a:r>
          </a:p>
          <a:p>
            <a:pPr lvl="1"/>
            <a:r>
              <a:rPr lang="en-US" dirty="0"/>
              <a:t>Value types – often specialist – validated lexically</a:t>
            </a:r>
          </a:p>
          <a:p>
            <a:pPr lvl="2"/>
            <a:r>
              <a:rPr lang="en-US" dirty="0"/>
              <a:t>Strings numbers, date-time, quantities, …</a:t>
            </a:r>
          </a:p>
          <a:p>
            <a:pPr lvl="2"/>
            <a:r>
              <a:rPr lang="en-US" dirty="0"/>
              <a:t>Biological units per </a:t>
            </a:r>
            <a:r>
              <a:rPr lang="en-US" dirty="0" err="1"/>
              <a:t>f(weight</a:t>
            </a:r>
            <a:r>
              <a:rPr lang="en-US" dirty="0"/>
              <a:t>, height, lab test value)</a:t>
            </a:r>
          </a:p>
          <a:p>
            <a:pPr lvl="2"/>
            <a:r>
              <a:rPr lang="en-US" dirty="0"/>
              <a:t>Fingers, +..++++, grade </a:t>
            </a:r>
            <a:r>
              <a:rPr lang="en-US" dirty="0" err="1"/>
              <a:t>i..iv</a:t>
            </a:r>
            <a:r>
              <a:rPr lang="en-US" dirty="0"/>
              <a:t>, …</a:t>
            </a:r>
          </a:p>
          <a:p>
            <a:pPr lvl="1"/>
            <a:r>
              <a:rPr lang="en-US" dirty="0"/>
              <a:t>Enumerated lists of entities from some domain</a:t>
            </a:r>
          </a:p>
          <a:p>
            <a:pPr lvl="2"/>
            <a:r>
              <a:rPr lang="en-US" i="1" dirty="0"/>
              <a:t>Pain radiates to: Left/Right Shoulder, Left/Right Arm, Abdomen, Back, Left </a:t>
            </a:r>
            <a:r>
              <a:rPr lang="en-US" i="1" dirty="0" err="1"/>
              <a:t>Axilla</a:t>
            </a:r>
            <a:endParaRPr lang="en-US" i="1" dirty="0"/>
          </a:p>
          <a:p>
            <a:pPr lvl="3"/>
            <a:r>
              <a:rPr lang="en-US" dirty="0"/>
              <a:t>But NOT their subclasses</a:t>
            </a:r>
          </a:p>
          <a:p>
            <a:pPr lvl="1"/>
            <a:r>
              <a:rPr lang="en-US" dirty="0"/>
              <a:t>Systematic lists</a:t>
            </a:r>
          </a:p>
          <a:p>
            <a:pPr lvl="2"/>
            <a:r>
              <a:rPr lang="en-US" i="1" dirty="0"/>
              <a:t>Regions of skin of the face excluding the eyelid</a:t>
            </a:r>
          </a:p>
          <a:p>
            <a:pPr lvl="3"/>
            <a:r>
              <a:rPr lang="en-US" i="0" dirty="0"/>
              <a:t>to a designated granularity</a:t>
            </a:r>
            <a:endParaRPr lang="en-US" i="0" dirty="0" smtClean="0"/>
          </a:p>
          <a:p>
            <a:r>
              <a:rPr lang="en-US" dirty="0" smtClean="0"/>
              <a:t>NB Often non-monotonic</a:t>
            </a:r>
          </a:p>
          <a:p>
            <a:pPr lvl="1"/>
            <a:r>
              <a:rPr lang="en-US" dirty="0" smtClean="0"/>
              <a:t>More specific over-rides more general</a:t>
            </a:r>
          </a:p>
          <a:p>
            <a:pPr lvl="2"/>
            <a:r>
              <a:rPr lang="en-US" dirty="0" smtClean="0"/>
              <a:t>Is this ontology? How can ontology add value? 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0614572-60EA-D147-900F-031B06FAFB48}" type="slidenum">
              <a:rPr lang="en-US"/>
              <a:pPr/>
              <a:t>52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choice:</a:t>
            </a:r>
            <a:endParaRPr lang="en-US" dirty="0"/>
          </a:p>
        </p:txBody>
      </p:sp>
      <p:sp>
        <p:nvSpPr>
          <p:cNvPr id="87043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45DF0B3-99CF-354D-98B0-A202373AFCBB}" type="slidenum">
              <a:rPr lang="en-US"/>
              <a:pPr/>
              <a:t>53</a:t>
            </a:fld>
            <a:endParaRPr lang="en-US"/>
          </a:p>
        </p:txBody>
      </p:sp>
      <p:pic>
        <p:nvPicPr>
          <p:cNvPr id="4" name="Picture 3" descr="2601712-8-blue-3d-figures-in-a-circle-each-holding-a-coin-and-facing-inward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11400" y="2362200"/>
            <a:ext cx="77787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2601713-8-blue-3d-figures-in-a-circle-each-holding-a-coin-and-facing-outward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7600" y="2438400"/>
            <a:ext cx="7586663" cy="542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454400" y="8382000"/>
            <a:ext cx="578326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  <a:latin typeface="+mn-lt"/>
              </a:rPr>
              <a:t>“Ontology” too often faces </a:t>
            </a:r>
            <a:r>
              <a:rPr lang="en-US" dirty="0">
                <a:solidFill>
                  <a:srgbClr val="FFFFFF"/>
                </a:solidFill>
                <a:latin typeface="+mn-lt"/>
              </a:rPr>
              <a:t>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0354" y="8382000"/>
            <a:ext cx="500746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  <a:latin typeface="+mn-lt"/>
              </a:rPr>
              <a:t>Can we  Face outwards?</a:t>
            </a:r>
            <a:endParaRPr lang="en-US" dirty="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30200" y="3030538"/>
            <a:ext cx="12674600" cy="2090737"/>
          </a:xfrm>
        </p:spPr>
        <p:txBody>
          <a:bodyPr/>
          <a:lstStyle/>
          <a:p>
            <a:pPr algn="ctr"/>
            <a:r>
              <a:rPr lang="en-US" dirty="0" smtClean="0"/>
              <a:t>Summary: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Ontologies</a:t>
            </a:r>
            <a:r>
              <a:rPr lang="en-US" baseline="-25000" dirty="0" err="1" smtClean="0"/>
              <a:t>InformationSystems</a:t>
            </a:r>
            <a:r>
              <a:rPr lang="en-US" dirty="0" smtClean="0"/>
              <a:t> &amp; </a:t>
            </a:r>
            <a:r>
              <a:rPr lang="en-US" dirty="0" err="1" smtClean="0"/>
              <a:t>Ontologies</a:t>
            </a:r>
            <a:r>
              <a:rPr lang="en-US" baseline="-25000" dirty="0" err="1" smtClean="0"/>
              <a:t>Philosophy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an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Ecology of Knowledge Representation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0B415D-1C16-1C48-8C37-15F215DD8E0B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Ontologies</a:t>
            </a:r>
            <a:r>
              <a:rPr lang="en-US" baseline="-25000"/>
              <a:t>BroadSense</a:t>
            </a:r>
            <a:r>
              <a:rPr lang="en-US"/>
              <a:t> vs</a:t>
            </a:r>
            <a:br>
              <a:rPr lang="en-US"/>
            </a:br>
            <a:r>
              <a:rPr lang="en-US"/>
              <a:t>Ontologies</a:t>
            </a:r>
            <a:r>
              <a:rPr lang="en-US" baseline="-25000"/>
              <a:t>NarrowSense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“Ontologies” often used just to mean “Knowledge Representation”</a:t>
            </a:r>
            <a:endParaRPr lang="en-US" dirty="0" smtClean="0"/>
          </a:p>
          <a:p>
            <a:pPr lvl="1"/>
            <a:r>
              <a:rPr lang="en-US" dirty="0" smtClean="0"/>
              <a:t>Can we </a:t>
            </a:r>
            <a:r>
              <a:rPr lang="en-US" dirty="0"/>
              <a:t>recapture</a:t>
            </a:r>
            <a:r>
              <a:rPr lang="en-US" dirty="0" smtClean="0"/>
              <a:t> the narrow sense? </a:t>
            </a:r>
          </a:p>
          <a:p>
            <a:pPr lvl="2"/>
            <a:r>
              <a:rPr lang="en-US" dirty="0" smtClean="0"/>
              <a:t>Do we need a new phrase?  A campaign for the narrow sense?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key to effective information systems is effective factoring of problems</a:t>
            </a:r>
            <a:endParaRPr lang="en-US" dirty="0" smtClean="0"/>
          </a:p>
          <a:p>
            <a:pPr lvl="1"/>
            <a:r>
              <a:rPr lang="en-US" dirty="0" smtClean="0"/>
              <a:t>Over</a:t>
            </a:r>
            <a:r>
              <a:rPr lang="en-US" dirty="0"/>
              <a:t>-broad</a:t>
            </a:r>
            <a:r>
              <a:rPr lang="en-US" dirty="0" smtClean="0"/>
              <a:t> usage of “ontology” obscures distinctions</a:t>
            </a:r>
          </a:p>
          <a:p>
            <a:pPr lvl="2"/>
            <a:r>
              <a:rPr lang="en-US" dirty="0" smtClean="0"/>
              <a:t>Mission creep for ontologies leads to poor factoring &amp; poor systems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Summary: Ontologies</a:t>
            </a:r>
            <a:r>
              <a:rPr lang="en-US" baseline="-25000"/>
              <a:t>NarrowSense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219200"/>
            <a:ext cx="12446000" cy="8382000"/>
          </a:xfrm>
        </p:spPr>
        <p:txBody>
          <a:bodyPr/>
          <a:lstStyle/>
          <a:p>
            <a:r>
              <a:rPr lang="en-US" sz="2800" dirty="0"/>
              <a:t>Ontologies are just a small part of knowledge representation</a:t>
            </a:r>
            <a:endParaRPr lang="en-US" sz="2800" dirty="0" smtClean="0"/>
          </a:p>
          <a:p>
            <a:pPr lvl="1"/>
            <a:r>
              <a:rPr lang="en-US" sz="2200" dirty="0" smtClean="0"/>
              <a:t>Most knowledge is not universal</a:t>
            </a:r>
          </a:p>
          <a:p>
            <a:r>
              <a:rPr lang="en-US" sz="2800" dirty="0" err="1" smtClean="0"/>
              <a:t>Ontologies</a:t>
            </a:r>
            <a:r>
              <a:rPr lang="en-US" sz="2800" baseline="-25000" dirty="0" err="1" smtClean="0"/>
              <a:t>InformationSystems</a:t>
            </a:r>
            <a:r>
              <a:rPr lang="en-US" sz="2800" dirty="0" smtClean="0"/>
              <a:t> should be </a:t>
            </a:r>
            <a:r>
              <a:rPr lang="en-US" sz="2800" dirty="0"/>
              <a:t>judged on their consequences for Information Systems</a:t>
            </a:r>
          </a:p>
          <a:p>
            <a:pPr lvl="1"/>
            <a:r>
              <a:rPr lang="en-US" sz="2000" dirty="0"/>
              <a:t>Do they</a:t>
            </a:r>
            <a:r>
              <a:rPr lang="en-US" sz="2000" dirty="0" smtClean="0"/>
              <a:t> lead to the </a:t>
            </a:r>
            <a:r>
              <a:rPr lang="en-US" sz="2000" dirty="0"/>
              <a:t>right answers? Wrong answers</a:t>
            </a:r>
            <a:r>
              <a:rPr lang="en-US" sz="2000" dirty="0" smtClean="0"/>
              <a:t>? Appropriate / Inappropriate decisions?</a:t>
            </a:r>
          </a:p>
          <a:p>
            <a:pPr lvl="1"/>
            <a:r>
              <a:rPr lang="en-US" sz="2000" dirty="0" smtClean="0"/>
              <a:t>2500 years of thinking should not be ignored, but…</a:t>
            </a:r>
          </a:p>
          <a:p>
            <a:pPr lvl="2"/>
            <a:r>
              <a:rPr lang="en-US" sz="1800" dirty="0" smtClean="0"/>
              <a:t>Test each principle from </a:t>
            </a:r>
            <a:r>
              <a:rPr lang="en-US" sz="1800" dirty="0" err="1" smtClean="0"/>
              <a:t>Ontology</a:t>
            </a:r>
            <a:r>
              <a:rPr lang="en-US" sz="1800" baseline="-25000" dirty="0" err="1" smtClean="0"/>
              <a:t>Philosophy</a:t>
            </a:r>
            <a:r>
              <a:rPr lang="en-US" sz="1800" dirty="0" smtClean="0"/>
              <a:t>  empirically before acceptance in information systems</a:t>
            </a:r>
          </a:p>
          <a:p>
            <a:r>
              <a:rPr lang="en-US" sz="2800" dirty="0" smtClean="0"/>
              <a:t>All </a:t>
            </a:r>
            <a:r>
              <a:rPr lang="en-US" sz="2800" dirty="0" err="1"/>
              <a:t>Ontologies</a:t>
            </a:r>
            <a:r>
              <a:rPr lang="en-US" sz="2800" baseline="-25000" dirty="0" err="1"/>
              <a:t>InformationSystems</a:t>
            </a:r>
            <a:r>
              <a:rPr lang="en-US" sz="2800" dirty="0"/>
              <a:t> are </a:t>
            </a:r>
            <a:r>
              <a:rPr lang="en-US" sz="2800" dirty="0" smtClean="0"/>
              <a:t>models </a:t>
            </a:r>
            <a:r>
              <a:rPr lang="en-US" sz="2400" dirty="0" smtClean="0"/>
              <a:t>(Physical symbol systems)</a:t>
            </a:r>
            <a:endParaRPr lang="en-US" sz="2800" dirty="0" smtClean="0"/>
          </a:p>
          <a:p>
            <a:pPr lvl="1"/>
            <a:r>
              <a:rPr lang="en-US" sz="2000" dirty="0"/>
              <a:t>All are imperfect:   There is no one </a:t>
            </a:r>
            <a:r>
              <a:rPr lang="en-US" sz="2000" dirty="0" smtClean="0"/>
              <a:t>way, although there are wrong ways</a:t>
            </a:r>
          </a:p>
          <a:p>
            <a:pPr lvl="2"/>
            <a:r>
              <a:rPr lang="en-US" sz="1800" dirty="0" smtClean="0"/>
              <a:t>Tests are  ultimately empirical:  fitness for purpose,  inferences, queries, inter-rater reliability,…</a:t>
            </a:r>
            <a:endParaRPr lang="en-US" sz="1400" dirty="0" smtClean="0"/>
          </a:p>
          <a:p>
            <a:r>
              <a:rPr lang="en-US" sz="2800" dirty="0" smtClean="0"/>
              <a:t> </a:t>
            </a:r>
            <a:r>
              <a:rPr lang="en-US" sz="2800" dirty="0"/>
              <a:t>Language </a:t>
            </a:r>
            <a:r>
              <a:rPr lang="en-US" sz="2800" dirty="0" smtClean="0"/>
              <a:t>matters if </a:t>
            </a:r>
            <a:r>
              <a:rPr lang="en-US" sz="2800" dirty="0"/>
              <a:t>leads to misinterpretation</a:t>
            </a:r>
            <a:endParaRPr lang="en-US" sz="2800" dirty="0" smtClean="0"/>
          </a:p>
          <a:p>
            <a:pPr lvl="1"/>
            <a:r>
              <a:rPr lang="en-US" sz="2000" dirty="0" smtClean="0"/>
              <a:t>But can be a distraction</a:t>
            </a:r>
          </a:p>
          <a:p>
            <a:r>
              <a:rPr lang="en-US" sz="2600" dirty="0" smtClean="0"/>
              <a:t> Axioms and Templates are different</a:t>
            </a:r>
          </a:p>
          <a:p>
            <a:pPr lvl="1"/>
            <a:r>
              <a:rPr lang="en-US" sz="2000" dirty="0" smtClean="0"/>
              <a:t>Reconciliation a “grand challenge”</a:t>
            </a:r>
          </a:p>
          <a:p>
            <a:r>
              <a:rPr lang="en-US" sz="2600" i="1" dirty="0" smtClean="0"/>
              <a:t>Time to look outwards </a:t>
            </a:r>
          </a:p>
          <a:p>
            <a:pPr lvl="1"/>
            <a:r>
              <a:rPr lang="en-US" sz="2000" i="1" dirty="0" smtClean="0"/>
              <a:t>Become part of a larger ecology of knowledge representation – many challenges</a:t>
            </a:r>
          </a:p>
          <a:p>
            <a:endParaRPr lang="en-US" sz="2000" dirty="0"/>
          </a:p>
          <a:p>
            <a:pPr lvl="2"/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  - </a:t>
            </a:r>
            <a:r>
              <a:rPr lang="en-US" dirty="0" err="1" smtClean="0"/>
              <a:t>Outcuts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1538AF-2D09-4642-95A8-9343C2F5AE79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Man">
  <a:themeElements>
    <a:clrScheme name="">
      <a:dk1>
        <a:srgbClr val="000000"/>
      </a:dk1>
      <a:lt1>
        <a:srgbClr val="5368E0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B3B9ED"/>
      </a:accent3>
      <a:accent4>
        <a:srgbClr val="000000"/>
      </a:accent4>
      <a:accent5>
        <a:srgbClr val="DAEDEF"/>
      </a:accent5>
      <a:accent6>
        <a:srgbClr val="2D2D8A"/>
      </a:accent6>
      <a:hlink>
        <a:srgbClr val="FFF600"/>
      </a:hlink>
      <a:folHlink>
        <a:srgbClr val="FFCC66"/>
      </a:folHlink>
    </a:clrScheme>
    <a:fontScheme name="U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-128"/>
            <a:cs typeface="ヒラギノ明朝 ProN W3" charset="-128"/>
            <a:sym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-128"/>
            <a:cs typeface="ヒラギノ明朝 ProN W3" charset="-128"/>
            <a:sym typeface="Times New Roman" charset="0"/>
          </a:defRPr>
        </a:defPPr>
      </a:lstStyle>
    </a:lnDef>
  </a:objectDefaults>
  <a:extraClrSchemeLst>
    <a:extraClrScheme>
      <a:clrScheme name="UMa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5368E0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B3B9ED"/>
      </a:accent3>
      <a:accent4>
        <a:srgbClr val="000000"/>
      </a:accent4>
      <a:accent5>
        <a:srgbClr val="DAEDEF"/>
      </a:accent5>
      <a:accent6>
        <a:srgbClr val="2D2D8A"/>
      </a:accent6>
      <a:hlink>
        <a:srgbClr val="FFF600"/>
      </a:hlink>
      <a:folHlink>
        <a:srgbClr val="FFCC66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-128"/>
            <a:cs typeface="ヒラギノ明朝 ProN W3" charset="-128"/>
            <a:sym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-128"/>
            <a:cs typeface="ヒラギノ明朝 ProN W3" charset="-128"/>
            <a:sym typeface="Times New Roman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ALR13inHD:Applications:Microsoft Office 2004:Templates:My Templates:UMan.pot</Template>
  <TotalTime>67779</TotalTime>
  <Pages>0</Pages>
  <Words>5475</Words>
  <Characters>0</Characters>
  <Application>Microsoft Macintosh PowerPoint</Application>
  <PresentationFormat>Custom</PresentationFormat>
  <Lines>0</Lines>
  <Paragraphs>659</Paragraphs>
  <Slides>57</Slides>
  <Notes>9</Notes>
  <HiddenSlides>1</HiddenSlides>
  <MMClips>0</MMClips>
  <ScaleCrop>false</ScaleCrop>
  <HeadingPairs>
    <vt:vector size="4" baseType="variant">
      <vt:variant>
        <vt:lpstr>Design Template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59" baseType="lpstr">
      <vt:lpstr>UMan</vt:lpstr>
      <vt:lpstr>Blank Presentation</vt:lpstr>
      <vt:lpstr>Truth or Consequences: The case for evidence-based ontologies  in an Ecology of Knowledge Representation   </vt:lpstr>
      <vt:lpstr>“Ontologies”: What are they for?</vt:lpstr>
      <vt:lpstr>About this talk </vt:lpstr>
      <vt:lpstr>Problems I am trying to solve</vt:lpstr>
      <vt:lpstr>Problems I am trying to solve (II) How to tell if SNOMED is safe to use  (or any other big terminology – 50K..500K classes )</vt:lpstr>
      <vt:lpstr>Problems I am trying to solve (III)</vt:lpstr>
      <vt:lpstr>Problems I am trying to solve (IV)</vt:lpstr>
      <vt:lpstr>What is an ontology? Historical defintions…</vt:lpstr>
      <vt:lpstr>… What do we mean by     “ontologyNarrowSense”? *   One part of study of knowledge *   One part of knowledge representation  *   The source of the entities/terminology </vt:lpstr>
      <vt:lpstr>Two Hypotheses / Doctrines</vt:lpstr>
      <vt:lpstr>“OntologyInformationSystems” for purposes of this talk</vt:lpstr>
      <vt:lpstr>Exclude artefacts that are not “ontologies” …but have hierarchies &amp; look a bit like them</vt:lpstr>
      <vt:lpstr>Most common use case:  </vt:lpstr>
      <vt:lpstr>Slide 14</vt:lpstr>
      <vt:lpstr>Why I use DLs/OWL for Ontologies in Information Systems</vt:lpstr>
      <vt:lpstr>Composition: Building with “Conceptual Lego” Parallel families of hierarchies</vt:lpstr>
      <vt:lpstr>I use OWL/DLs for many things,  but… </vt:lpstr>
      <vt:lpstr>Before going further: </vt:lpstr>
      <vt:lpstr>Early Knowledge representation</vt:lpstr>
      <vt:lpstr>… some systems resembled Rube Goldberg       machines</vt:lpstr>
      <vt:lpstr>Knowledge Based Systems co-evolved with semantic networks &amp; frames</vt:lpstr>
      <vt:lpstr>Key event 1: Logicians asked ‘What’s it mean?’</vt:lpstr>
      <vt:lpstr>Emergence of DLs and “Tbox” reasoning</vt:lpstr>
      <vt:lpstr>…but Description logics are very different from        frames (even though intended to formalise them) </vt:lpstr>
      <vt:lpstr>Axioms &amp; Templates: Fundamentally different</vt:lpstr>
      <vt:lpstr>Key event 2: Borrowing of the word “ontology” for InformationSystems</vt:lpstr>
      <vt:lpstr>…but there is much more to knowledge     representation than ontologies / DLs</vt:lpstr>
      <vt:lpstr>Deeply intertwined with thinking about how “OntologiesInformationSystems” should be built</vt:lpstr>
      <vt:lpstr>What matters &amp; what doesn’t: How do we know if it is correct?</vt:lpstr>
      <vt:lpstr>Some seem natural from the language but Can lead to dangerous mis-interpretations in applications </vt:lpstr>
      <vt:lpstr>Labelling needs to be at multiple levels to avoid confusion</vt:lpstr>
      <vt:lpstr>Other labels make little difference</vt:lpstr>
      <vt:lpstr>And some really are about conventions:  2 hands &amp; 2 Feet? 4 hands? 4 feet?</vt:lpstr>
      <vt:lpstr>Some artefacts present special problems: Recent example: What do SNOMED &amp;/or ICD disease codes represent? (Thanks to Stefan Schulz)</vt:lpstr>
      <vt:lpstr>Consider: Fracture of Radius &amp; Ulna                  (Forearm) – a single code in                  ICD and SNOMED </vt:lpstr>
      <vt:lpstr>What might count as evidence? What is the question?</vt:lpstr>
      <vt:lpstr>What do we ask the questions for? What is the right answer for these purposes?</vt:lpstr>
      <vt:lpstr>A further example</vt:lpstr>
      <vt:lpstr>Conundrum 2: What do biomedical experts mean by is_part_of?</vt:lpstr>
      <vt:lpstr>What answers do we want to our questions</vt:lpstr>
      <vt:lpstr>Conundrum III: When to argue Some choices make little difference  (as long as we adhere to standards)</vt:lpstr>
      <vt:lpstr>Example of logical approximations:  Entity-Quality vs Entity-Quality-Value</vt:lpstr>
      <vt:lpstr>Conundrum IV: How strong can ontological commitments before they become problems?</vt:lpstr>
      <vt:lpstr>Conundrum V: Hypotheticals, counter-factuals &amp; imaginary constructs </vt:lpstr>
      <vt:lpstr>Ontologies &amp; the Ecology of Knowledge Representation</vt:lpstr>
      <vt:lpstr>Ontologies as  “Conceptual coat-racks”</vt:lpstr>
      <vt:lpstr>To integrate or interoperate?</vt:lpstr>
      <vt:lpstr>What do we need to interoperate with?  Where is the added value?</vt:lpstr>
      <vt:lpstr>One Example of making ontologies friendly to other formalisms: UML &amp; frames:  Easier if we reify relations </vt:lpstr>
      <vt:lpstr>Side benefit Take advantage of good diagramming tools</vt:lpstr>
      <vt:lpstr>Other side benefits</vt:lpstr>
      <vt:lpstr>Related issue - Value sets:  Mission critical for medical applications  </vt:lpstr>
      <vt:lpstr>The choice:</vt:lpstr>
      <vt:lpstr>Summary:   OntologiesInformationSystems &amp; OntologiesPhilosophy  in an   Ecology of Knowledge Representation</vt:lpstr>
      <vt:lpstr>OntologiesBroadSense vs OntologiesNarrowSense</vt:lpstr>
      <vt:lpstr>Summary: OntologiesNarrowSense</vt:lpstr>
      <vt:lpstr>END  - Outcuts</vt:lpstr>
    </vt:vector>
  </TitlesOfParts>
  <Company>University of Manchester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Paradigms and Schemas June 2010</dc:title>
  <dc:subject/>
  <dc:creator>Alan  Rector2</dc:creator>
  <cp:keywords/>
  <dc:description/>
  <cp:lastModifiedBy>Alan Rector</cp:lastModifiedBy>
  <cp:revision>269</cp:revision>
  <cp:lastPrinted>2012-07-20T13:58:36Z</cp:lastPrinted>
  <dcterms:created xsi:type="dcterms:W3CDTF">2012-07-23T07:52:45Z</dcterms:created>
  <dcterms:modified xsi:type="dcterms:W3CDTF">2012-07-23T08:01:15Z</dcterms:modified>
</cp:coreProperties>
</file>