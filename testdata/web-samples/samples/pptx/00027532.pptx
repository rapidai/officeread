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rts/chart3.xml" ContentType="application/vnd.openxmlformats-officedocument.drawingml.chart+xml"/>
  <Override PartName="/ppt/charts/chart4.xml" ContentType="application/vnd.openxmlformats-officedocument.drawingml.chart+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30279975" cy="42808525"/>
  <p:notesSz cx="6797675" cy="9928225"/>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a:srgbClr val="BCF0FA"/>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588" autoAdjust="0"/>
    <p:restoredTop sz="86391" autoAdjust="0"/>
  </p:normalViewPr>
  <p:slideViewPr>
    <p:cSldViewPr>
      <p:cViewPr>
        <p:scale>
          <a:sx n="60" d="100"/>
          <a:sy n="60" d="100"/>
        </p:scale>
        <p:origin x="1656" y="6546"/>
      </p:cViewPr>
      <p:guideLst>
        <p:guide orient="horz" pos="13483"/>
        <p:guide pos="9537"/>
      </p:guideLst>
    </p:cSldViewPr>
  </p:slideViewPr>
  <p:outlineViewPr>
    <p:cViewPr>
      <p:scale>
        <a:sx n="33" d="100"/>
        <a:sy n="33" d="100"/>
      </p:scale>
      <p:origin x="21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bradbury\Desktop\Book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Documents%20and%20Settings\bradbury\Desktop\Book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Documents%20and%20Settings\bradbury\Desktop\Book2.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Documents%20and%20Settings\bradbury\Desktop\Book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AU"/>
  <c:style val="35"/>
  <c:chart>
    <c:view3D>
      <c:perspective val="30"/>
    </c:view3D>
    <c:sideWall>
      <c:spPr>
        <a:gradFill>
          <a:gsLst>
            <a:gs pos="0">
              <a:srgbClr val="5E9EFF"/>
            </a:gs>
            <a:gs pos="39999">
              <a:srgbClr val="85C2FF"/>
            </a:gs>
            <a:gs pos="70000">
              <a:srgbClr val="C4D6EB"/>
            </a:gs>
            <a:gs pos="100000">
              <a:srgbClr val="FFEBFA"/>
            </a:gs>
          </a:gsLst>
          <a:lin ang="2700000" scaled="0"/>
        </a:gradFill>
      </c:spPr>
    </c:sideWall>
    <c:backWall>
      <c:spPr>
        <a:gradFill>
          <a:gsLst>
            <a:gs pos="0">
              <a:srgbClr val="5E9EFF"/>
            </a:gs>
            <a:gs pos="39999">
              <a:srgbClr val="85C2FF"/>
            </a:gs>
            <a:gs pos="70000">
              <a:srgbClr val="C4D6EB"/>
            </a:gs>
            <a:gs pos="100000">
              <a:srgbClr val="FFEBFA"/>
            </a:gs>
          </a:gsLst>
          <a:lin ang="2700000" scaled="0"/>
        </a:gradFill>
      </c:spPr>
    </c:backWall>
    <c:plotArea>
      <c:layout>
        <c:manualLayout>
          <c:layoutTarget val="inner"/>
          <c:xMode val="edge"/>
          <c:yMode val="edge"/>
          <c:x val="3.0835293595490896E-2"/>
          <c:y val="3.2055635062001965E-2"/>
          <c:w val="0.94272087943985972"/>
          <c:h val="0.73824535398809055"/>
        </c:manualLayout>
      </c:layout>
      <c:bar3DChart>
        <c:barDir val="col"/>
        <c:grouping val="standard"/>
        <c:ser>
          <c:idx val="0"/>
          <c:order val="0"/>
          <c:tx>
            <c:strRef>
              <c:f>'Publishing open access'!$A$45</c:f>
              <c:strCache>
                <c:ptCount val="1"/>
                <c:pt idx="0">
                  <c:v>Researchers</c:v>
                </c:pt>
              </c:strCache>
            </c:strRef>
          </c:tx>
          <c:dLbls>
            <c:dLbl>
              <c:idx val="0"/>
              <c:layout>
                <c:manualLayout>
                  <c:x val="3.0941981105413307E-3"/>
                  <c:y val="7.6426711019773552E-2"/>
                </c:manualLayout>
              </c:layout>
              <c:tx>
                <c:rich>
                  <a:bodyPr/>
                  <a:lstStyle/>
                  <a:p>
                    <a:pPr>
                      <a:defRPr sz="1600" b="1">
                        <a:solidFill>
                          <a:schemeClr val="bg1"/>
                        </a:solidFill>
                      </a:defRPr>
                    </a:pPr>
                    <a:r>
                      <a:rPr lang="en-US" smtClean="0"/>
                      <a:t>19.8%</a:t>
                    </a:r>
                    <a:endParaRPr lang="en-US"/>
                  </a:p>
                </c:rich>
              </c:tx>
              <c:spPr/>
              <c:showVal val="1"/>
            </c:dLbl>
            <c:dLbl>
              <c:idx val="1"/>
              <c:layout>
                <c:manualLayout>
                  <c:x val="-2.0627987403608852E-3"/>
                  <c:y val="0.10876108875890864"/>
                </c:manualLayout>
              </c:layout>
              <c:tx>
                <c:rich>
                  <a:bodyPr/>
                  <a:lstStyle/>
                  <a:p>
                    <a:pPr>
                      <a:defRPr sz="1600" b="1">
                        <a:solidFill>
                          <a:schemeClr val="bg1"/>
                        </a:solidFill>
                      </a:defRPr>
                    </a:pPr>
                    <a:r>
                      <a:rPr lang="en-US" smtClean="0"/>
                      <a:t>34.4%</a:t>
                    </a:r>
                    <a:endParaRPr lang="en-US"/>
                  </a:p>
                </c:rich>
              </c:tx>
              <c:spPr/>
              <c:showVal val="1"/>
            </c:dLbl>
            <c:dLbl>
              <c:idx val="2"/>
              <c:layout>
                <c:manualLayout>
                  <c:x val="-1.019475678039627E-3"/>
                  <c:y val="6.9939546946891445E-2"/>
                </c:manualLayout>
              </c:layout>
              <c:tx>
                <c:rich>
                  <a:bodyPr/>
                  <a:lstStyle/>
                  <a:p>
                    <a:pPr>
                      <a:defRPr sz="1600" b="1">
                        <a:solidFill>
                          <a:schemeClr val="bg1"/>
                        </a:solidFill>
                      </a:defRPr>
                    </a:pPr>
                    <a:r>
                      <a:rPr lang="en-US" dirty="0" smtClean="0"/>
                      <a:t>26.5%</a:t>
                    </a:r>
                    <a:endParaRPr lang="en-US" dirty="0"/>
                  </a:p>
                </c:rich>
              </c:tx>
              <c:spPr/>
              <c:showVal val="1"/>
            </c:dLbl>
            <c:dLbl>
              <c:idx val="3"/>
              <c:layout>
                <c:manualLayout>
                  <c:x val="1.0194611255019764E-3"/>
                  <c:y val="6.9534188223111471E-2"/>
                </c:manualLayout>
              </c:layout>
              <c:tx>
                <c:rich>
                  <a:bodyPr/>
                  <a:lstStyle/>
                  <a:p>
                    <a:pPr>
                      <a:defRPr sz="1600" b="1">
                        <a:solidFill>
                          <a:schemeClr val="bg1"/>
                        </a:solidFill>
                      </a:defRPr>
                    </a:pPr>
                    <a:r>
                      <a:rPr lang="en-US" dirty="0" smtClean="0"/>
                      <a:t>19.3%</a:t>
                    </a:r>
                    <a:endParaRPr lang="en-US" dirty="0"/>
                  </a:p>
                </c:rich>
              </c:tx>
              <c:spPr/>
              <c:showVal val="1"/>
            </c:dLbl>
            <c:txPr>
              <a:bodyPr/>
              <a:lstStyle/>
              <a:p>
                <a:pPr>
                  <a:defRPr sz="1600" b="1"/>
                </a:pPr>
                <a:endParaRPr lang="en-US"/>
              </a:p>
            </c:txPr>
            <c:showVal val="1"/>
          </c:dLbls>
          <c:cat>
            <c:strRef>
              <c:f>'Publishing open access'!$B$44:$E$44</c:f>
              <c:strCache>
                <c:ptCount val="4"/>
                <c:pt idx="0">
                  <c:v>No knowledge</c:v>
                </c:pt>
                <c:pt idx="1">
                  <c:v> Awareness</c:v>
                </c:pt>
                <c:pt idx="2">
                  <c:v>Basic Skills</c:v>
                </c:pt>
                <c:pt idx="3">
                  <c:v>Competent- Advanced</c:v>
                </c:pt>
              </c:strCache>
            </c:strRef>
          </c:cat>
          <c:val>
            <c:numRef>
              <c:f>'Publishing open access'!$B$45:$E$45</c:f>
              <c:numCache>
                <c:formatCode>General</c:formatCode>
                <c:ptCount val="4"/>
                <c:pt idx="0">
                  <c:v>19.8</c:v>
                </c:pt>
                <c:pt idx="1">
                  <c:v>34.4</c:v>
                </c:pt>
                <c:pt idx="2">
                  <c:v>26.5</c:v>
                </c:pt>
                <c:pt idx="3">
                  <c:v>19.3</c:v>
                </c:pt>
              </c:numCache>
            </c:numRef>
          </c:val>
        </c:ser>
        <c:ser>
          <c:idx val="1"/>
          <c:order val="1"/>
          <c:tx>
            <c:strRef>
              <c:f>'Publishing open access'!$A$46</c:f>
              <c:strCache>
                <c:ptCount val="1"/>
                <c:pt idx="0">
                  <c:v>Liaison Librarians</c:v>
                </c:pt>
              </c:strCache>
            </c:strRef>
          </c:tx>
          <c:spPr>
            <a:solidFill>
              <a:srgbClr val="CCECFF"/>
            </a:solidFill>
          </c:spPr>
          <c:dLbls>
            <c:dLbl>
              <c:idx val="0"/>
              <c:layout/>
              <c:tx>
                <c:rich>
                  <a:bodyPr/>
                  <a:lstStyle/>
                  <a:p>
                    <a:r>
                      <a:rPr lang="en-US" smtClean="0"/>
                      <a:t>4.2%</a:t>
                    </a:r>
                    <a:endParaRPr lang="en-US"/>
                  </a:p>
                </c:rich>
              </c:tx>
              <c:showVal val="1"/>
            </c:dLbl>
            <c:dLbl>
              <c:idx val="1"/>
              <c:layout>
                <c:manualLayout>
                  <c:x val="3.0941981105413298E-3"/>
                  <c:y val="1.1757955541503617E-2"/>
                </c:manualLayout>
              </c:layout>
              <c:tx>
                <c:rich>
                  <a:bodyPr/>
                  <a:lstStyle/>
                  <a:p>
                    <a:r>
                      <a:rPr lang="en-US" smtClean="0"/>
                      <a:t>54.2%</a:t>
                    </a:r>
                    <a:endParaRPr lang="en-US"/>
                  </a:p>
                </c:rich>
              </c:tx>
              <c:showVal val="1"/>
            </c:dLbl>
            <c:dLbl>
              <c:idx val="2"/>
              <c:layout/>
              <c:tx>
                <c:rich>
                  <a:bodyPr/>
                  <a:lstStyle/>
                  <a:p>
                    <a:r>
                      <a:rPr lang="en-US" smtClean="0"/>
                      <a:t>20.8%</a:t>
                    </a:r>
                    <a:endParaRPr lang="en-US"/>
                  </a:p>
                </c:rich>
              </c:tx>
              <c:showVal val="1"/>
            </c:dLbl>
            <c:dLbl>
              <c:idx val="3"/>
              <c:layout/>
              <c:tx>
                <c:rich>
                  <a:bodyPr/>
                  <a:lstStyle/>
                  <a:p>
                    <a:r>
                      <a:rPr lang="en-US" smtClean="0"/>
                      <a:t>20.9%</a:t>
                    </a:r>
                    <a:endParaRPr lang="en-US"/>
                  </a:p>
                </c:rich>
              </c:tx>
              <c:showVal val="1"/>
            </c:dLbl>
            <c:txPr>
              <a:bodyPr/>
              <a:lstStyle/>
              <a:p>
                <a:pPr>
                  <a:defRPr sz="1600" b="1"/>
                </a:pPr>
                <a:endParaRPr lang="en-US"/>
              </a:p>
            </c:txPr>
            <c:showVal val="1"/>
          </c:dLbls>
          <c:cat>
            <c:strRef>
              <c:f>'Publishing open access'!$B$44:$E$44</c:f>
              <c:strCache>
                <c:ptCount val="4"/>
                <c:pt idx="0">
                  <c:v>No knowledge</c:v>
                </c:pt>
                <c:pt idx="1">
                  <c:v> Awareness</c:v>
                </c:pt>
                <c:pt idx="2">
                  <c:v>Basic Skills</c:v>
                </c:pt>
                <c:pt idx="3">
                  <c:v>Competent- Advanced</c:v>
                </c:pt>
              </c:strCache>
            </c:strRef>
          </c:cat>
          <c:val>
            <c:numRef>
              <c:f>'Publishing open access'!$B$46:$E$46</c:f>
              <c:numCache>
                <c:formatCode>General</c:formatCode>
                <c:ptCount val="4"/>
                <c:pt idx="0">
                  <c:v>4.2</c:v>
                </c:pt>
                <c:pt idx="1">
                  <c:v>54.2</c:v>
                </c:pt>
                <c:pt idx="2">
                  <c:v>20.8</c:v>
                </c:pt>
                <c:pt idx="3">
                  <c:v>20.9</c:v>
                </c:pt>
              </c:numCache>
            </c:numRef>
          </c:val>
        </c:ser>
        <c:dLbls>
          <c:showVal val="1"/>
        </c:dLbls>
        <c:gapWidth val="75"/>
        <c:shape val="box"/>
        <c:axId val="86612608"/>
        <c:axId val="86516096"/>
        <c:axId val="77215040"/>
      </c:bar3DChart>
      <c:catAx>
        <c:axId val="86612608"/>
        <c:scaling>
          <c:orientation val="minMax"/>
        </c:scaling>
        <c:axPos val="b"/>
        <c:majorTickMark val="none"/>
        <c:tickLblPos val="nextTo"/>
        <c:txPr>
          <a:bodyPr/>
          <a:lstStyle/>
          <a:p>
            <a:pPr>
              <a:defRPr sz="2000" b="1"/>
            </a:pPr>
            <a:endParaRPr lang="en-US"/>
          </a:p>
        </c:txPr>
        <c:crossAx val="86516096"/>
        <c:crosses val="autoZero"/>
        <c:auto val="1"/>
        <c:lblAlgn val="ctr"/>
        <c:lblOffset val="100"/>
      </c:catAx>
      <c:valAx>
        <c:axId val="86516096"/>
        <c:scaling>
          <c:orientation val="minMax"/>
        </c:scaling>
        <c:axPos val="l"/>
        <c:numFmt formatCode="General" sourceLinked="1"/>
        <c:majorTickMark val="none"/>
        <c:tickLblPos val="nextTo"/>
        <c:crossAx val="86612608"/>
        <c:crosses val="autoZero"/>
        <c:crossBetween val="between"/>
      </c:valAx>
      <c:serAx>
        <c:axId val="77215040"/>
        <c:scaling>
          <c:orientation val="minMax"/>
        </c:scaling>
        <c:delete val="1"/>
        <c:axPos val="b"/>
        <c:tickLblPos val="none"/>
        <c:crossAx val="86516096"/>
        <c:crosses val="autoZero"/>
      </c:serAx>
    </c:plotArea>
    <c:legend>
      <c:legendPos val="b"/>
      <c:layout>
        <c:manualLayout>
          <c:xMode val="edge"/>
          <c:yMode val="edge"/>
          <c:x val="1.8172324685190023E-2"/>
          <c:y val="0.85225767363507299"/>
          <c:w val="0.34929796165730603"/>
          <c:h val="8.7110293691381332E-2"/>
        </c:manualLayout>
      </c:layout>
      <c:txPr>
        <a:bodyPr/>
        <a:lstStyle/>
        <a:p>
          <a:pPr>
            <a:defRPr sz="2000" b="1"/>
          </a:pPr>
          <a:endParaRPr lang="en-US"/>
        </a:p>
      </c:txPr>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AU"/>
  <c:style val="35"/>
  <c:chart>
    <c:view3D>
      <c:perspective val="30"/>
    </c:view3D>
    <c:sideWall>
      <c:spPr>
        <a:gradFill>
          <a:gsLst>
            <a:gs pos="0">
              <a:srgbClr val="5E9EFF"/>
            </a:gs>
            <a:gs pos="39999">
              <a:srgbClr val="85C2FF"/>
            </a:gs>
            <a:gs pos="70000">
              <a:srgbClr val="C4D6EB"/>
            </a:gs>
            <a:gs pos="100000">
              <a:srgbClr val="FFEBFA"/>
            </a:gs>
          </a:gsLst>
          <a:lin ang="2700000" scaled="0"/>
        </a:gradFill>
      </c:spPr>
    </c:sideWall>
    <c:backWall>
      <c:spPr>
        <a:gradFill>
          <a:gsLst>
            <a:gs pos="0">
              <a:srgbClr val="5E9EFF"/>
            </a:gs>
            <a:gs pos="39999">
              <a:srgbClr val="85C2FF"/>
            </a:gs>
            <a:gs pos="70000">
              <a:srgbClr val="C4D6EB"/>
            </a:gs>
            <a:gs pos="100000">
              <a:srgbClr val="FFEBFA"/>
            </a:gs>
          </a:gsLst>
          <a:lin ang="2700000" scaled="0"/>
        </a:gradFill>
      </c:spPr>
    </c:backWall>
    <c:plotArea>
      <c:layout>
        <c:manualLayout>
          <c:layoutTarget val="inner"/>
          <c:xMode val="edge"/>
          <c:yMode val="edge"/>
          <c:x val="3.8911377445044637E-2"/>
          <c:y val="3.3052051085088137E-2"/>
          <c:w val="0.9498279994225407"/>
          <c:h val="0.72713199700238562"/>
        </c:manualLayout>
      </c:layout>
      <c:bar3DChart>
        <c:barDir val="col"/>
        <c:grouping val="standard"/>
        <c:ser>
          <c:idx val="0"/>
          <c:order val="0"/>
          <c:tx>
            <c:strRef>
              <c:f>'creative commons'!$A$44</c:f>
              <c:strCache>
                <c:ptCount val="1"/>
                <c:pt idx="0">
                  <c:v>Researchers</c:v>
                </c:pt>
              </c:strCache>
            </c:strRef>
          </c:tx>
          <c:dLbls>
            <c:dLbl>
              <c:idx val="0"/>
              <c:layout/>
              <c:tx>
                <c:rich>
                  <a:bodyPr/>
                  <a:lstStyle/>
                  <a:p>
                    <a:r>
                      <a:rPr lang="en-US" b="1" dirty="0" smtClean="0">
                        <a:solidFill>
                          <a:schemeClr val="bg1"/>
                        </a:solidFill>
                      </a:rPr>
                      <a:t>56.5%</a:t>
                    </a:r>
                    <a:endParaRPr lang="en-US" b="1" dirty="0">
                      <a:solidFill>
                        <a:schemeClr val="bg1"/>
                      </a:solidFill>
                    </a:endParaRPr>
                  </a:p>
                </c:rich>
              </c:tx>
              <c:showVal val="1"/>
            </c:dLbl>
            <c:dLbl>
              <c:idx val="1"/>
              <c:layout>
                <c:manualLayout>
                  <c:x val="0"/>
                  <c:y val="8.037863517593169E-2"/>
                </c:manualLayout>
              </c:layout>
              <c:tx>
                <c:rich>
                  <a:bodyPr/>
                  <a:lstStyle/>
                  <a:p>
                    <a:pPr>
                      <a:defRPr sz="1600" b="1">
                        <a:solidFill>
                          <a:schemeClr val="bg1"/>
                        </a:solidFill>
                      </a:defRPr>
                    </a:pPr>
                    <a:r>
                      <a:rPr lang="en-US" dirty="0" smtClean="0"/>
                      <a:t>27.7%</a:t>
                    </a:r>
                    <a:endParaRPr lang="en-US" dirty="0"/>
                  </a:p>
                </c:rich>
              </c:tx>
              <c:spPr/>
              <c:showVal val="1"/>
            </c:dLbl>
            <c:dLbl>
              <c:idx val="2"/>
              <c:spPr/>
              <c:txPr>
                <a:bodyPr/>
                <a:lstStyle/>
                <a:p>
                  <a:pPr>
                    <a:defRPr sz="1600" b="1">
                      <a:solidFill>
                        <a:schemeClr val="bg1"/>
                      </a:solidFill>
                    </a:defRPr>
                  </a:pPr>
                  <a:endParaRPr lang="en-US"/>
                </a:p>
              </c:txPr>
            </c:dLbl>
            <c:dLbl>
              <c:idx val="3"/>
              <c:spPr/>
              <c:txPr>
                <a:bodyPr/>
                <a:lstStyle/>
                <a:p>
                  <a:pPr>
                    <a:defRPr sz="1600" b="1">
                      <a:solidFill>
                        <a:schemeClr val="bg1"/>
                      </a:solidFill>
                    </a:defRPr>
                  </a:pPr>
                  <a:endParaRPr lang="en-US"/>
                </a:p>
              </c:txPr>
            </c:dLbl>
            <c:txPr>
              <a:bodyPr/>
              <a:lstStyle/>
              <a:p>
                <a:pPr>
                  <a:defRPr sz="1600" b="1"/>
                </a:pPr>
                <a:endParaRPr lang="en-US"/>
              </a:p>
            </c:txPr>
            <c:showVal val="1"/>
          </c:dLbls>
          <c:cat>
            <c:strRef>
              <c:f>'creative commons'!$B$43:$E$43</c:f>
              <c:strCache>
                <c:ptCount val="4"/>
                <c:pt idx="0">
                  <c:v>No knowledge</c:v>
                </c:pt>
                <c:pt idx="1">
                  <c:v>Awareness</c:v>
                </c:pt>
                <c:pt idx="2">
                  <c:v>Basic Skills</c:v>
                </c:pt>
                <c:pt idx="3">
                  <c:v>Competent - Advanced </c:v>
                </c:pt>
              </c:strCache>
            </c:strRef>
          </c:cat>
          <c:val>
            <c:numRef>
              <c:f>'creative commons'!$B$44:$E$44</c:f>
              <c:numCache>
                <c:formatCode>0.0</c:formatCode>
                <c:ptCount val="4"/>
                <c:pt idx="0">
                  <c:v>56.5</c:v>
                </c:pt>
                <c:pt idx="1">
                  <c:v>27.7</c:v>
                </c:pt>
                <c:pt idx="2">
                  <c:v>7.9</c:v>
                </c:pt>
                <c:pt idx="3">
                  <c:v>7.9</c:v>
                </c:pt>
              </c:numCache>
            </c:numRef>
          </c:val>
        </c:ser>
        <c:ser>
          <c:idx val="1"/>
          <c:order val="1"/>
          <c:tx>
            <c:strRef>
              <c:f>'creative commons'!$A$45</c:f>
              <c:strCache>
                <c:ptCount val="1"/>
                <c:pt idx="0">
                  <c:v>Liaison Librarians</c:v>
                </c:pt>
              </c:strCache>
            </c:strRef>
          </c:tx>
          <c:spPr>
            <a:solidFill>
              <a:srgbClr val="CCECFF"/>
            </a:solidFill>
          </c:spPr>
          <c:dLbls>
            <c:dLbl>
              <c:idx val="0"/>
              <c:layout>
                <c:manualLayout>
                  <c:x val="1.24495971035898E-2"/>
                  <c:y val="1.4223330024262541E-2"/>
                </c:manualLayout>
              </c:layout>
              <c:tx>
                <c:rich>
                  <a:bodyPr/>
                  <a:lstStyle/>
                  <a:p>
                    <a:r>
                      <a:rPr lang="en-US" smtClean="0"/>
                      <a:t>8.3%</a:t>
                    </a:r>
                    <a:endParaRPr lang="en-US"/>
                  </a:p>
                </c:rich>
              </c:tx>
              <c:showVal val="1"/>
            </c:dLbl>
            <c:dLbl>
              <c:idx val="1"/>
              <c:layout>
                <c:manualLayout>
                  <c:x val="0"/>
                  <c:y val="6.2582652106755163E-2"/>
                </c:manualLayout>
              </c:layout>
              <c:tx>
                <c:rich>
                  <a:bodyPr/>
                  <a:lstStyle/>
                  <a:p>
                    <a:r>
                      <a:rPr lang="en-US" smtClean="0"/>
                      <a:t>58.4%</a:t>
                    </a:r>
                    <a:endParaRPr lang="en-US"/>
                  </a:p>
                </c:rich>
              </c:tx>
              <c:showVal val="1"/>
            </c:dLbl>
            <c:dLbl>
              <c:idx val="2"/>
              <c:layout/>
              <c:tx>
                <c:rich>
                  <a:bodyPr/>
                  <a:lstStyle/>
                  <a:p>
                    <a:r>
                      <a:rPr lang="en-US" sz="1600" dirty="0" smtClean="0"/>
                      <a:t>16.7%</a:t>
                    </a:r>
                    <a:endParaRPr lang="en-US" sz="1600" dirty="0"/>
                  </a:p>
                </c:rich>
              </c:tx>
              <c:showVal val="1"/>
            </c:dLbl>
            <c:dLbl>
              <c:idx val="3"/>
              <c:layout/>
              <c:tx>
                <c:rich>
                  <a:bodyPr/>
                  <a:lstStyle/>
                  <a:p>
                    <a:r>
                      <a:rPr lang="en-US" smtClean="0"/>
                      <a:t>16.6%</a:t>
                    </a:r>
                    <a:endParaRPr lang="en-US" dirty="0"/>
                  </a:p>
                </c:rich>
              </c:tx>
              <c:showVal val="1"/>
            </c:dLbl>
            <c:txPr>
              <a:bodyPr/>
              <a:lstStyle/>
              <a:p>
                <a:pPr>
                  <a:defRPr sz="1600" b="1"/>
                </a:pPr>
                <a:endParaRPr lang="en-US"/>
              </a:p>
            </c:txPr>
            <c:showVal val="1"/>
          </c:dLbls>
          <c:cat>
            <c:strRef>
              <c:f>'creative commons'!$B$43:$E$43</c:f>
              <c:strCache>
                <c:ptCount val="4"/>
                <c:pt idx="0">
                  <c:v>No knowledge</c:v>
                </c:pt>
                <c:pt idx="1">
                  <c:v>Awareness</c:v>
                </c:pt>
                <c:pt idx="2">
                  <c:v>Basic Skills</c:v>
                </c:pt>
                <c:pt idx="3">
                  <c:v>Competent - Advanced </c:v>
                </c:pt>
              </c:strCache>
            </c:strRef>
          </c:cat>
          <c:val>
            <c:numRef>
              <c:f>'creative commons'!$B$45:$E$45</c:f>
              <c:numCache>
                <c:formatCode>0.0</c:formatCode>
                <c:ptCount val="4"/>
                <c:pt idx="0">
                  <c:v>8.3000000000000007</c:v>
                </c:pt>
                <c:pt idx="1">
                  <c:v>58.4</c:v>
                </c:pt>
                <c:pt idx="2">
                  <c:v>16.7</c:v>
                </c:pt>
                <c:pt idx="3">
                  <c:v>16.600000000000001</c:v>
                </c:pt>
              </c:numCache>
            </c:numRef>
          </c:val>
        </c:ser>
        <c:dLbls>
          <c:showVal val="1"/>
        </c:dLbls>
        <c:gapWidth val="75"/>
        <c:shape val="box"/>
        <c:axId val="86548480"/>
        <c:axId val="86550016"/>
        <c:axId val="77217280"/>
      </c:bar3DChart>
      <c:catAx>
        <c:axId val="86548480"/>
        <c:scaling>
          <c:orientation val="minMax"/>
        </c:scaling>
        <c:axPos val="b"/>
        <c:majorTickMark val="none"/>
        <c:tickLblPos val="nextTo"/>
        <c:txPr>
          <a:bodyPr/>
          <a:lstStyle/>
          <a:p>
            <a:pPr>
              <a:defRPr sz="2000" b="1"/>
            </a:pPr>
            <a:endParaRPr lang="en-US"/>
          </a:p>
        </c:txPr>
        <c:crossAx val="86550016"/>
        <c:crosses val="autoZero"/>
        <c:auto val="1"/>
        <c:lblAlgn val="ctr"/>
        <c:lblOffset val="100"/>
      </c:catAx>
      <c:valAx>
        <c:axId val="86550016"/>
        <c:scaling>
          <c:orientation val="minMax"/>
        </c:scaling>
        <c:axPos val="l"/>
        <c:numFmt formatCode="0.0" sourceLinked="1"/>
        <c:majorTickMark val="none"/>
        <c:tickLblPos val="nextTo"/>
        <c:crossAx val="86548480"/>
        <c:crosses val="autoZero"/>
        <c:crossBetween val="between"/>
      </c:valAx>
      <c:serAx>
        <c:axId val="77217280"/>
        <c:scaling>
          <c:orientation val="minMax"/>
        </c:scaling>
        <c:delete val="1"/>
        <c:axPos val="b"/>
        <c:tickLblPos val="none"/>
        <c:crossAx val="86550016"/>
        <c:crosses val="autoZero"/>
      </c:serAx>
    </c:plotArea>
    <c:legend>
      <c:legendPos val="b"/>
      <c:layout>
        <c:manualLayout>
          <c:xMode val="edge"/>
          <c:yMode val="edge"/>
          <c:x val="1.2442464623950383E-2"/>
          <c:y val="0.86255018976530429"/>
          <c:w val="0.35270963882740236"/>
          <c:h val="8.9818026426732506E-2"/>
        </c:manualLayout>
      </c:layout>
      <c:txPr>
        <a:bodyPr/>
        <a:lstStyle/>
        <a:p>
          <a:pPr>
            <a:defRPr sz="2000" b="1"/>
          </a:pPr>
          <a:endParaRPr lang="en-US"/>
        </a:p>
      </c:txPr>
    </c:legend>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AU"/>
  <c:style val="35"/>
  <c:chart>
    <c:view3D>
      <c:perspective val="30"/>
    </c:view3D>
    <c:sideWall>
      <c:spPr>
        <a:gradFill>
          <a:gsLst>
            <a:gs pos="0">
              <a:srgbClr val="5E9EFF"/>
            </a:gs>
            <a:gs pos="39999">
              <a:srgbClr val="85C2FF"/>
            </a:gs>
            <a:gs pos="70000">
              <a:srgbClr val="C4D6EB"/>
            </a:gs>
            <a:gs pos="100000">
              <a:srgbClr val="FFEBFA"/>
            </a:gs>
          </a:gsLst>
          <a:lin ang="2700000" scaled="0"/>
        </a:gradFill>
      </c:spPr>
    </c:sideWall>
    <c:backWall>
      <c:spPr>
        <a:gradFill>
          <a:gsLst>
            <a:gs pos="0">
              <a:srgbClr val="5E9EFF"/>
            </a:gs>
            <a:gs pos="39999">
              <a:srgbClr val="85C2FF"/>
            </a:gs>
            <a:gs pos="70000">
              <a:srgbClr val="C4D6EB"/>
            </a:gs>
            <a:gs pos="100000">
              <a:srgbClr val="FFEBFA"/>
            </a:gs>
          </a:gsLst>
          <a:lin ang="2700000" scaled="0"/>
        </a:gradFill>
      </c:spPr>
    </c:backWall>
    <c:plotArea>
      <c:layout>
        <c:manualLayout>
          <c:layoutTarget val="inner"/>
          <c:xMode val="edge"/>
          <c:yMode val="edge"/>
          <c:x val="5.6908511436070487E-2"/>
          <c:y val="1.5985640933405331E-2"/>
          <c:w val="0.93836930539932506"/>
          <c:h val="0.85732066476740654"/>
        </c:manualLayout>
      </c:layout>
      <c:bar3DChart>
        <c:barDir val="col"/>
        <c:grouping val="standard"/>
        <c:ser>
          <c:idx val="0"/>
          <c:order val="0"/>
          <c:tx>
            <c:strRef>
              <c:f>eprints!$A$28</c:f>
              <c:strCache>
                <c:ptCount val="1"/>
                <c:pt idx="0">
                  <c:v>Researchers</c:v>
                </c:pt>
              </c:strCache>
            </c:strRef>
          </c:tx>
          <c:dLbls>
            <c:dLbl>
              <c:idx val="0"/>
              <c:layout/>
              <c:tx>
                <c:rich>
                  <a:bodyPr/>
                  <a:lstStyle/>
                  <a:p>
                    <a:r>
                      <a:rPr lang="en-US" smtClean="0"/>
                      <a:t>13.5%</a:t>
                    </a:r>
                    <a:endParaRPr lang="en-US"/>
                  </a:p>
                </c:rich>
              </c:tx>
              <c:showVal val="1"/>
            </c:dLbl>
            <c:dLbl>
              <c:idx val="1"/>
              <c:layout/>
              <c:tx>
                <c:rich>
                  <a:bodyPr/>
                  <a:lstStyle/>
                  <a:p>
                    <a:r>
                      <a:rPr lang="en-US" smtClean="0"/>
                      <a:t>28.3%</a:t>
                    </a:r>
                    <a:endParaRPr lang="en-US"/>
                  </a:p>
                </c:rich>
              </c:tx>
              <c:showVal val="1"/>
            </c:dLbl>
            <c:dLbl>
              <c:idx val="2"/>
              <c:layout>
                <c:manualLayout>
                  <c:x val="3.1212090826693694E-3"/>
                  <c:y val="6.1729252305299465E-2"/>
                </c:manualLayout>
              </c:layout>
              <c:tx>
                <c:rich>
                  <a:bodyPr/>
                  <a:lstStyle/>
                  <a:p>
                    <a:r>
                      <a:rPr lang="en-US" dirty="0" smtClean="0"/>
                      <a:t>21.8%</a:t>
                    </a:r>
                    <a:endParaRPr lang="en-US" dirty="0"/>
                  </a:p>
                </c:rich>
              </c:tx>
              <c:showVal val="1"/>
            </c:dLbl>
            <c:dLbl>
              <c:idx val="3"/>
              <c:layout>
                <c:manualLayout>
                  <c:x val="0"/>
                  <c:y val="3.8213346665185416E-2"/>
                </c:manualLayout>
              </c:layout>
              <c:tx>
                <c:rich>
                  <a:bodyPr/>
                  <a:lstStyle/>
                  <a:p>
                    <a:r>
                      <a:rPr lang="en-US" dirty="0" smtClean="0"/>
                      <a:t>36.1%</a:t>
                    </a:r>
                    <a:endParaRPr lang="en-US" dirty="0"/>
                  </a:p>
                </c:rich>
              </c:tx>
              <c:showVal val="1"/>
            </c:dLbl>
            <c:txPr>
              <a:bodyPr/>
              <a:lstStyle/>
              <a:p>
                <a:pPr>
                  <a:defRPr sz="1600" b="1">
                    <a:solidFill>
                      <a:schemeClr val="bg1"/>
                    </a:solidFill>
                  </a:defRPr>
                </a:pPr>
                <a:endParaRPr lang="en-US"/>
              </a:p>
            </c:txPr>
            <c:showVal val="1"/>
          </c:dLbls>
          <c:cat>
            <c:strRef>
              <c:f>eprints!$B$26:$E$27</c:f>
              <c:strCache>
                <c:ptCount val="4"/>
                <c:pt idx="0">
                  <c:v>No Knowledge</c:v>
                </c:pt>
                <c:pt idx="1">
                  <c:v>Awareness</c:v>
                </c:pt>
                <c:pt idx="2">
                  <c:v>Basic Skills</c:v>
                </c:pt>
                <c:pt idx="3">
                  <c:v>Competent - Advanced</c:v>
                </c:pt>
              </c:strCache>
            </c:strRef>
          </c:cat>
          <c:val>
            <c:numRef>
              <c:f>eprints!$B$28:$E$28</c:f>
              <c:numCache>
                <c:formatCode>General</c:formatCode>
                <c:ptCount val="4"/>
                <c:pt idx="0">
                  <c:v>13.5</c:v>
                </c:pt>
                <c:pt idx="1">
                  <c:v>28.3</c:v>
                </c:pt>
                <c:pt idx="2">
                  <c:v>21.8</c:v>
                </c:pt>
                <c:pt idx="3">
                  <c:v>36.1</c:v>
                </c:pt>
              </c:numCache>
            </c:numRef>
          </c:val>
        </c:ser>
        <c:ser>
          <c:idx val="1"/>
          <c:order val="1"/>
          <c:tx>
            <c:strRef>
              <c:f>eprints!$A$29</c:f>
              <c:strCache>
                <c:ptCount val="1"/>
                <c:pt idx="0">
                  <c:v>Liaison Librarians</c:v>
                </c:pt>
              </c:strCache>
            </c:strRef>
          </c:tx>
          <c:spPr>
            <a:solidFill>
              <a:srgbClr val="CCECFF"/>
            </a:solidFill>
          </c:spPr>
          <c:dLbls>
            <c:dLbl>
              <c:idx val="0"/>
              <c:layout/>
              <c:tx>
                <c:rich>
                  <a:bodyPr/>
                  <a:lstStyle/>
                  <a:p>
                    <a:r>
                      <a:rPr lang="en-US" smtClean="0"/>
                      <a:t>0.0%</a:t>
                    </a:r>
                    <a:endParaRPr lang="en-US"/>
                  </a:p>
                </c:rich>
              </c:tx>
              <c:showVal val="1"/>
            </c:dLbl>
            <c:dLbl>
              <c:idx val="1"/>
              <c:layout>
                <c:manualLayout>
                  <c:x val="2.3929269633797778E-2"/>
                  <c:y val="5.8789764100285174E-3"/>
                </c:manualLayout>
              </c:layout>
              <c:tx>
                <c:rich>
                  <a:bodyPr/>
                  <a:lstStyle/>
                  <a:p>
                    <a:r>
                      <a:rPr lang="en-US" smtClean="0"/>
                      <a:t>4.2%</a:t>
                    </a:r>
                    <a:endParaRPr lang="en-US"/>
                  </a:p>
                </c:rich>
              </c:tx>
              <c:showVal val="1"/>
            </c:dLbl>
            <c:dLbl>
              <c:idx val="2"/>
              <c:layout/>
              <c:tx>
                <c:rich>
                  <a:bodyPr/>
                  <a:lstStyle/>
                  <a:p>
                    <a:r>
                      <a:rPr lang="en-US" smtClean="0"/>
                      <a:t>20.8%</a:t>
                    </a:r>
                    <a:endParaRPr lang="en-US"/>
                  </a:p>
                </c:rich>
              </c:tx>
              <c:showVal val="1"/>
            </c:dLbl>
            <c:dLbl>
              <c:idx val="3"/>
              <c:layout/>
              <c:tx>
                <c:rich>
                  <a:bodyPr/>
                  <a:lstStyle/>
                  <a:p>
                    <a:r>
                      <a:rPr lang="en-US" smtClean="0"/>
                      <a:t>75.0%</a:t>
                    </a:r>
                    <a:endParaRPr lang="en-US"/>
                  </a:p>
                </c:rich>
              </c:tx>
              <c:showVal val="1"/>
            </c:dLbl>
            <c:txPr>
              <a:bodyPr/>
              <a:lstStyle/>
              <a:p>
                <a:pPr>
                  <a:defRPr sz="1600" b="1"/>
                </a:pPr>
                <a:endParaRPr lang="en-US"/>
              </a:p>
            </c:txPr>
            <c:showVal val="1"/>
          </c:dLbls>
          <c:cat>
            <c:strRef>
              <c:f>eprints!$B$26:$E$27</c:f>
              <c:strCache>
                <c:ptCount val="4"/>
                <c:pt idx="0">
                  <c:v>No Knowledge</c:v>
                </c:pt>
                <c:pt idx="1">
                  <c:v>Awareness</c:v>
                </c:pt>
                <c:pt idx="2">
                  <c:v>Basic Skills</c:v>
                </c:pt>
                <c:pt idx="3">
                  <c:v>Competent - Advanced</c:v>
                </c:pt>
              </c:strCache>
            </c:strRef>
          </c:cat>
          <c:val>
            <c:numRef>
              <c:f>eprints!$B$29:$E$29</c:f>
              <c:numCache>
                <c:formatCode>0.0</c:formatCode>
                <c:ptCount val="4"/>
                <c:pt idx="0">
                  <c:v>0</c:v>
                </c:pt>
                <c:pt idx="1">
                  <c:v>4.1666666666666661</c:v>
                </c:pt>
                <c:pt idx="2">
                  <c:v>20.83333333333319</c:v>
                </c:pt>
                <c:pt idx="3">
                  <c:v>75</c:v>
                </c:pt>
              </c:numCache>
            </c:numRef>
          </c:val>
        </c:ser>
        <c:dLbls>
          <c:showVal val="1"/>
        </c:dLbls>
        <c:gapWidth val="75"/>
        <c:shape val="box"/>
        <c:axId val="86806528"/>
        <c:axId val="86808064"/>
        <c:axId val="86521600"/>
      </c:bar3DChart>
      <c:catAx>
        <c:axId val="86806528"/>
        <c:scaling>
          <c:orientation val="minMax"/>
        </c:scaling>
        <c:axPos val="b"/>
        <c:majorTickMark val="none"/>
        <c:tickLblPos val="nextTo"/>
        <c:txPr>
          <a:bodyPr/>
          <a:lstStyle/>
          <a:p>
            <a:pPr>
              <a:defRPr sz="2000" b="1"/>
            </a:pPr>
            <a:endParaRPr lang="en-US"/>
          </a:p>
        </c:txPr>
        <c:crossAx val="86808064"/>
        <c:crosses val="autoZero"/>
        <c:auto val="1"/>
        <c:lblAlgn val="ctr"/>
        <c:lblOffset val="100"/>
      </c:catAx>
      <c:valAx>
        <c:axId val="86808064"/>
        <c:scaling>
          <c:orientation val="minMax"/>
        </c:scaling>
        <c:axPos val="l"/>
        <c:numFmt formatCode="General" sourceLinked="1"/>
        <c:majorTickMark val="none"/>
        <c:tickLblPos val="nextTo"/>
        <c:txPr>
          <a:bodyPr/>
          <a:lstStyle/>
          <a:p>
            <a:pPr>
              <a:defRPr b="1"/>
            </a:pPr>
            <a:endParaRPr lang="en-US"/>
          </a:p>
        </c:txPr>
        <c:crossAx val="86806528"/>
        <c:crosses val="autoZero"/>
        <c:crossBetween val="between"/>
      </c:valAx>
      <c:serAx>
        <c:axId val="86521600"/>
        <c:scaling>
          <c:orientation val="minMax"/>
        </c:scaling>
        <c:delete val="1"/>
        <c:axPos val="b"/>
        <c:tickLblPos val="none"/>
        <c:crossAx val="86808064"/>
        <c:crosses val="autoZero"/>
      </c:serAx>
    </c:plotArea>
    <c:legend>
      <c:legendPos val="b"/>
      <c:layout>
        <c:manualLayout>
          <c:xMode val="edge"/>
          <c:yMode val="edge"/>
          <c:x val="2.3598224859439063E-2"/>
          <c:y val="0.87663349905566068"/>
          <c:w val="0.35145060035350889"/>
          <c:h val="9.5021436110274041E-2"/>
        </c:manualLayout>
      </c:layout>
      <c:txPr>
        <a:bodyPr/>
        <a:lstStyle/>
        <a:p>
          <a:pPr>
            <a:defRPr sz="2000" b="1"/>
          </a:pPr>
          <a:endParaRPr lang="en-US"/>
        </a:p>
      </c:txPr>
    </c:legend>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AU"/>
  <c:style val="35"/>
  <c:chart>
    <c:view3D>
      <c:perspective val="30"/>
    </c:view3D>
    <c:sideWall>
      <c:spPr>
        <a:gradFill>
          <a:gsLst>
            <a:gs pos="0">
              <a:srgbClr val="5E9EFF"/>
            </a:gs>
            <a:gs pos="39999">
              <a:srgbClr val="85C2FF"/>
            </a:gs>
            <a:gs pos="70000">
              <a:srgbClr val="C4D6EB"/>
            </a:gs>
            <a:gs pos="100000">
              <a:srgbClr val="FFEBFA"/>
            </a:gs>
          </a:gsLst>
          <a:lin ang="2700000" scaled="0"/>
        </a:gradFill>
      </c:spPr>
    </c:sideWall>
    <c:backWall>
      <c:spPr>
        <a:gradFill>
          <a:gsLst>
            <a:gs pos="0">
              <a:srgbClr val="5E9EFF"/>
            </a:gs>
            <a:gs pos="39999">
              <a:srgbClr val="85C2FF"/>
            </a:gs>
            <a:gs pos="70000">
              <a:srgbClr val="C4D6EB"/>
            </a:gs>
            <a:gs pos="100000">
              <a:srgbClr val="FFEBFA"/>
            </a:gs>
          </a:gsLst>
          <a:lin ang="2700000" scaled="0"/>
        </a:gradFill>
      </c:spPr>
    </c:backWall>
    <c:plotArea>
      <c:layout>
        <c:manualLayout>
          <c:layoutTarget val="inner"/>
          <c:xMode val="edge"/>
          <c:yMode val="edge"/>
          <c:x val="4.9218172052817734E-2"/>
          <c:y val="1.6571672451278403E-2"/>
          <c:w val="0.94669777764265961"/>
          <c:h val="0.85044569164741102"/>
        </c:manualLayout>
      </c:layout>
      <c:bar3DChart>
        <c:barDir val="col"/>
        <c:grouping val="standard"/>
        <c:ser>
          <c:idx val="0"/>
          <c:order val="0"/>
          <c:tx>
            <c:strRef>
              <c:f>copyright!$A$55</c:f>
              <c:strCache>
                <c:ptCount val="1"/>
                <c:pt idx="0">
                  <c:v>Researchers </c:v>
                </c:pt>
              </c:strCache>
            </c:strRef>
          </c:tx>
          <c:dLbls>
            <c:dLbl>
              <c:idx val="0"/>
              <c:layout/>
              <c:tx>
                <c:rich>
                  <a:bodyPr/>
                  <a:lstStyle/>
                  <a:p>
                    <a:r>
                      <a:rPr lang="en-US" smtClean="0"/>
                      <a:t>21.4%</a:t>
                    </a:r>
                    <a:endParaRPr lang="en-US"/>
                  </a:p>
                </c:rich>
              </c:tx>
              <c:showVal val="1"/>
            </c:dLbl>
            <c:dLbl>
              <c:idx val="1"/>
              <c:layout>
                <c:manualLayout>
                  <c:x val="3.1123992758974616E-3"/>
                  <c:y val="3.5302097000155672E-2"/>
                </c:manualLayout>
              </c:layout>
              <c:tx>
                <c:rich>
                  <a:bodyPr/>
                  <a:lstStyle/>
                  <a:p>
                    <a:r>
                      <a:rPr lang="en-US" smtClean="0"/>
                      <a:t>31.6%</a:t>
                    </a:r>
                    <a:endParaRPr lang="en-US"/>
                  </a:p>
                </c:rich>
              </c:tx>
              <c:showVal val="1"/>
            </c:dLbl>
            <c:dLbl>
              <c:idx val="2"/>
              <c:layout>
                <c:manualLayout>
                  <c:x val="3.1123992758974616E-3"/>
                  <c:y val="3.2586551077066817E-2"/>
                </c:manualLayout>
              </c:layout>
              <c:tx>
                <c:rich>
                  <a:bodyPr/>
                  <a:lstStyle/>
                  <a:p>
                    <a:r>
                      <a:rPr lang="en-US" smtClean="0"/>
                      <a:t>30.4%</a:t>
                    </a:r>
                    <a:endParaRPr lang="en-US" dirty="0"/>
                  </a:p>
                </c:rich>
              </c:tx>
              <c:showVal val="1"/>
            </c:dLbl>
            <c:dLbl>
              <c:idx val="3"/>
              <c:layout>
                <c:manualLayout>
                  <c:x val="0"/>
                  <c:y val="6.2457556231044813E-2"/>
                </c:manualLayout>
              </c:layout>
              <c:tx>
                <c:rich>
                  <a:bodyPr/>
                  <a:lstStyle/>
                  <a:p>
                    <a:r>
                      <a:rPr lang="en-US" dirty="0" smtClean="0"/>
                      <a:t>16.6%</a:t>
                    </a:r>
                    <a:endParaRPr lang="en-US" dirty="0"/>
                  </a:p>
                </c:rich>
              </c:tx>
              <c:showVal val="1"/>
            </c:dLbl>
            <c:txPr>
              <a:bodyPr/>
              <a:lstStyle/>
              <a:p>
                <a:pPr>
                  <a:defRPr sz="1600" b="1">
                    <a:solidFill>
                      <a:schemeClr val="bg1"/>
                    </a:solidFill>
                  </a:defRPr>
                </a:pPr>
                <a:endParaRPr lang="en-US"/>
              </a:p>
            </c:txPr>
            <c:showVal val="1"/>
          </c:dLbls>
          <c:cat>
            <c:strRef>
              <c:f>copyright!$B$54:$E$54</c:f>
              <c:strCache>
                <c:ptCount val="4"/>
                <c:pt idx="0">
                  <c:v>No knowledge</c:v>
                </c:pt>
                <c:pt idx="1">
                  <c:v>Awareness</c:v>
                </c:pt>
                <c:pt idx="2">
                  <c:v>Basic Skills</c:v>
                </c:pt>
                <c:pt idx="3">
                  <c:v>Competent - Advanced</c:v>
                </c:pt>
              </c:strCache>
            </c:strRef>
          </c:cat>
          <c:val>
            <c:numRef>
              <c:f>copyright!$B$55:$E$55</c:f>
              <c:numCache>
                <c:formatCode>0.0</c:formatCode>
                <c:ptCount val="4"/>
                <c:pt idx="0" formatCode="General">
                  <c:v>21.4</c:v>
                </c:pt>
                <c:pt idx="1">
                  <c:v>31.6</c:v>
                </c:pt>
                <c:pt idx="2" formatCode="General">
                  <c:v>30.4</c:v>
                </c:pt>
                <c:pt idx="3" formatCode="General">
                  <c:v>16.600000000000001</c:v>
                </c:pt>
              </c:numCache>
            </c:numRef>
          </c:val>
        </c:ser>
        <c:ser>
          <c:idx val="1"/>
          <c:order val="1"/>
          <c:tx>
            <c:strRef>
              <c:f>copyright!$A$56</c:f>
              <c:strCache>
                <c:ptCount val="1"/>
                <c:pt idx="0">
                  <c:v>Liaison Librarians</c:v>
                </c:pt>
              </c:strCache>
            </c:strRef>
          </c:tx>
          <c:spPr>
            <a:solidFill>
              <a:srgbClr val="CCECFF"/>
            </a:solidFill>
          </c:spPr>
          <c:dLbls>
            <c:dLbl>
              <c:idx val="0"/>
              <c:layout/>
              <c:tx>
                <c:rich>
                  <a:bodyPr/>
                  <a:lstStyle/>
                  <a:p>
                    <a:r>
                      <a:rPr lang="en-US" smtClean="0"/>
                      <a:t>16.7%</a:t>
                    </a:r>
                    <a:endParaRPr lang="en-US"/>
                  </a:p>
                </c:rich>
              </c:tx>
              <c:showVal val="1"/>
            </c:dLbl>
            <c:dLbl>
              <c:idx val="1"/>
              <c:layout>
                <c:manualLayout>
                  <c:x val="5.187332126495749E-3"/>
                  <c:y val="1.9008821461622284E-2"/>
                </c:manualLayout>
              </c:layout>
              <c:tx>
                <c:rich>
                  <a:bodyPr/>
                  <a:lstStyle/>
                  <a:p>
                    <a:r>
                      <a:rPr lang="en-US" smtClean="0"/>
                      <a:t>58.3%</a:t>
                    </a:r>
                    <a:endParaRPr lang="en-US"/>
                  </a:p>
                </c:rich>
              </c:tx>
              <c:showVal val="1"/>
            </c:dLbl>
            <c:dLbl>
              <c:idx val="2"/>
              <c:layout>
                <c:manualLayout>
                  <c:x val="5.0379549076589675E-2"/>
                  <c:y val="-5.4310918461778143E-3"/>
                </c:manualLayout>
              </c:layout>
              <c:tx>
                <c:rich>
                  <a:bodyPr/>
                  <a:lstStyle/>
                  <a:p>
                    <a:r>
                      <a:rPr lang="en-US" dirty="0" smtClean="0"/>
                      <a:t>4.2%</a:t>
                    </a:r>
                    <a:endParaRPr lang="en-US" dirty="0"/>
                  </a:p>
                </c:rich>
              </c:tx>
              <c:showVal val="1"/>
            </c:dLbl>
            <c:dLbl>
              <c:idx val="3"/>
              <c:layout/>
              <c:tx>
                <c:rich>
                  <a:bodyPr/>
                  <a:lstStyle/>
                  <a:p>
                    <a:r>
                      <a:rPr lang="en-US" smtClean="0"/>
                      <a:t>20.9%</a:t>
                    </a:r>
                    <a:endParaRPr lang="en-US"/>
                  </a:p>
                </c:rich>
              </c:tx>
              <c:showVal val="1"/>
            </c:dLbl>
            <c:txPr>
              <a:bodyPr/>
              <a:lstStyle/>
              <a:p>
                <a:pPr>
                  <a:defRPr sz="1600" b="1">
                    <a:solidFill>
                      <a:schemeClr val="tx1"/>
                    </a:solidFill>
                  </a:defRPr>
                </a:pPr>
                <a:endParaRPr lang="en-US"/>
              </a:p>
            </c:txPr>
            <c:showVal val="1"/>
          </c:dLbls>
          <c:cat>
            <c:strRef>
              <c:f>copyright!$B$54:$E$54</c:f>
              <c:strCache>
                <c:ptCount val="4"/>
                <c:pt idx="0">
                  <c:v>No knowledge</c:v>
                </c:pt>
                <c:pt idx="1">
                  <c:v>Awareness</c:v>
                </c:pt>
                <c:pt idx="2">
                  <c:v>Basic Skills</c:v>
                </c:pt>
                <c:pt idx="3">
                  <c:v>Competent - Advanced</c:v>
                </c:pt>
              </c:strCache>
            </c:strRef>
          </c:cat>
          <c:val>
            <c:numRef>
              <c:f>copyright!$B$56:$E$56</c:f>
              <c:numCache>
                <c:formatCode>General</c:formatCode>
                <c:ptCount val="4"/>
                <c:pt idx="0">
                  <c:v>16.7</c:v>
                </c:pt>
                <c:pt idx="1">
                  <c:v>58.3</c:v>
                </c:pt>
                <c:pt idx="2">
                  <c:v>4.2</c:v>
                </c:pt>
                <c:pt idx="3">
                  <c:v>20.9</c:v>
                </c:pt>
              </c:numCache>
            </c:numRef>
          </c:val>
        </c:ser>
        <c:dLbls>
          <c:showVal val="1"/>
        </c:dLbls>
        <c:gapWidth val="75"/>
        <c:shape val="box"/>
        <c:axId val="86958080"/>
        <c:axId val="86959616"/>
        <c:axId val="86802432"/>
      </c:bar3DChart>
      <c:catAx>
        <c:axId val="86958080"/>
        <c:scaling>
          <c:orientation val="minMax"/>
        </c:scaling>
        <c:axPos val="b"/>
        <c:majorTickMark val="none"/>
        <c:tickLblPos val="nextTo"/>
        <c:txPr>
          <a:bodyPr/>
          <a:lstStyle/>
          <a:p>
            <a:pPr>
              <a:defRPr sz="2000" b="1"/>
            </a:pPr>
            <a:endParaRPr lang="en-US"/>
          </a:p>
        </c:txPr>
        <c:crossAx val="86959616"/>
        <c:crosses val="autoZero"/>
        <c:auto val="1"/>
        <c:lblAlgn val="ctr"/>
        <c:lblOffset val="100"/>
      </c:catAx>
      <c:valAx>
        <c:axId val="86959616"/>
        <c:scaling>
          <c:orientation val="minMax"/>
        </c:scaling>
        <c:axPos val="l"/>
        <c:numFmt formatCode="General" sourceLinked="1"/>
        <c:majorTickMark val="none"/>
        <c:tickLblPos val="nextTo"/>
        <c:crossAx val="86958080"/>
        <c:crosses val="autoZero"/>
        <c:crossBetween val="between"/>
      </c:valAx>
      <c:serAx>
        <c:axId val="86802432"/>
        <c:scaling>
          <c:orientation val="minMax"/>
        </c:scaling>
        <c:delete val="1"/>
        <c:axPos val="b"/>
        <c:tickLblPos val="none"/>
        <c:crossAx val="86959616"/>
        <c:crosses val="autoZero"/>
      </c:serAx>
    </c:plotArea>
    <c:legend>
      <c:legendPos val="b"/>
      <c:layout>
        <c:manualLayout>
          <c:xMode val="edge"/>
          <c:yMode val="edge"/>
          <c:x val="1.2710234258747243E-2"/>
          <c:y val="0.9072076575829161"/>
          <c:w val="0.37399668667206948"/>
          <c:h val="8.1930158724728322E-2"/>
        </c:manualLayout>
      </c:layout>
      <c:txPr>
        <a:bodyPr/>
        <a:lstStyle/>
        <a:p>
          <a:pPr>
            <a:defRPr sz="2000" b="1"/>
          </a:pPr>
          <a:endParaRPr lang="en-US"/>
        </a:p>
      </c:txPr>
    </c:legend>
    <c:plotVisOnly val="1"/>
  </c:chart>
  <c:externalData r:id="rId1"/>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13298404"/>
            <a:ext cx="25737979" cy="9176087"/>
          </a:xfrm>
        </p:spPr>
        <p:txBody>
          <a:bodyPr/>
          <a:lstStyle/>
          <a:p>
            <a:r>
              <a:rPr lang="en-US" smtClean="0"/>
              <a:t>Click to edit Master title style</a:t>
            </a:r>
            <a:endParaRPr lang="en-AU"/>
          </a:p>
        </p:txBody>
      </p:sp>
      <p:sp>
        <p:nvSpPr>
          <p:cNvPr id="3" name="Subtitle 2"/>
          <p:cNvSpPr>
            <a:spLocks noGrp="1"/>
          </p:cNvSpPr>
          <p:nvPr>
            <p:ph type="subTitle" idx="1"/>
          </p:nvPr>
        </p:nvSpPr>
        <p:spPr>
          <a:xfrm>
            <a:off x="4541996" y="24258164"/>
            <a:ext cx="21195983" cy="10939956"/>
          </a:xfrm>
        </p:spPr>
        <p:txBody>
          <a:bodyPr/>
          <a:lstStyle>
            <a:lvl1pPr marL="0" indent="0" algn="ctr">
              <a:buNone/>
              <a:defRPr>
                <a:solidFill>
                  <a:schemeClr val="tx1">
                    <a:tint val="75000"/>
                  </a:schemeClr>
                </a:solidFill>
              </a:defRPr>
            </a:lvl1pPr>
            <a:lvl2pPr marL="2087393" indent="0" algn="ctr">
              <a:buNone/>
              <a:defRPr>
                <a:solidFill>
                  <a:schemeClr val="tx1">
                    <a:tint val="75000"/>
                  </a:schemeClr>
                </a:solidFill>
              </a:defRPr>
            </a:lvl2pPr>
            <a:lvl3pPr marL="4174795" indent="0" algn="ctr">
              <a:buNone/>
              <a:defRPr>
                <a:solidFill>
                  <a:schemeClr val="tx1">
                    <a:tint val="75000"/>
                  </a:schemeClr>
                </a:solidFill>
              </a:defRPr>
            </a:lvl3pPr>
            <a:lvl4pPr marL="6262189" indent="0" algn="ctr">
              <a:buNone/>
              <a:defRPr>
                <a:solidFill>
                  <a:schemeClr val="tx1">
                    <a:tint val="75000"/>
                  </a:schemeClr>
                </a:solidFill>
              </a:defRPr>
            </a:lvl4pPr>
            <a:lvl5pPr marL="8349582" indent="0" algn="ctr">
              <a:buNone/>
              <a:defRPr>
                <a:solidFill>
                  <a:schemeClr val="tx1">
                    <a:tint val="75000"/>
                  </a:schemeClr>
                </a:solidFill>
              </a:defRPr>
            </a:lvl5pPr>
            <a:lvl6pPr marL="10436984" indent="0" algn="ctr">
              <a:buNone/>
              <a:defRPr>
                <a:solidFill>
                  <a:schemeClr val="tx1">
                    <a:tint val="75000"/>
                  </a:schemeClr>
                </a:solidFill>
              </a:defRPr>
            </a:lvl6pPr>
            <a:lvl7pPr marL="12524377" indent="0" algn="ctr">
              <a:buNone/>
              <a:defRPr>
                <a:solidFill>
                  <a:schemeClr val="tx1">
                    <a:tint val="75000"/>
                  </a:schemeClr>
                </a:solidFill>
              </a:defRPr>
            </a:lvl7pPr>
            <a:lvl8pPr marL="14611770" indent="0" algn="ctr">
              <a:buNone/>
              <a:defRPr>
                <a:solidFill>
                  <a:schemeClr val="tx1">
                    <a:tint val="75000"/>
                  </a:schemeClr>
                </a:solidFill>
              </a:defRPr>
            </a:lvl8pPr>
            <a:lvl9pPr marL="16699173"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909" y="27508457"/>
            <a:ext cx="25737979" cy="8502249"/>
          </a:xfrm>
        </p:spPr>
        <p:txBody>
          <a:bodyPr anchor="t"/>
          <a:lstStyle>
            <a:lvl1pPr algn="l">
              <a:defRPr sz="18300" b="1" cap="all"/>
            </a:lvl1pPr>
          </a:lstStyle>
          <a:p>
            <a:r>
              <a:rPr lang="en-US" smtClean="0"/>
              <a:t>Click to edit Master title style</a:t>
            </a:r>
            <a:endParaRPr lang="en-AU"/>
          </a:p>
        </p:txBody>
      </p:sp>
      <p:sp>
        <p:nvSpPr>
          <p:cNvPr id="3" name="Text Placeholder 2"/>
          <p:cNvSpPr>
            <a:spLocks noGrp="1"/>
          </p:cNvSpPr>
          <p:nvPr>
            <p:ph type="body" idx="1"/>
          </p:nvPr>
        </p:nvSpPr>
        <p:spPr>
          <a:xfrm>
            <a:off x="2391909" y="18144082"/>
            <a:ext cx="25737979" cy="9364362"/>
          </a:xfrm>
        </p:spPr>
        <p:txBody>
          <a:bodyPr anchor="b"/>
          <a:lstStyle>
            <a:lvl1pPr marL="0" indent="0">
              <a:buNone/>
              <a:defRPr sz="9100">
                <a:solidFill>
                  <a:schemeClr val="tx1">
                    <a:tint val="75000"/>
                  </a:schemeClr>
                </a:solidFill>
              </a:defRPr>
            </a:lvl1pPr>
            <a:lvl2pPr marL="2087393" indent="0">
              <a:buNone/>
              <a:defRPr sz="8200">
                <a:solidFill>
                  <a:schemeClr val="tx1">
                    <a:tint val="75000"/>
                  </a:schemeClr>
                </a:solidFill>
              </a:defRPr>
            </a:lvl2pPr>
            <a:lvl3pPr marL="4174795" indent="0">
              <a:buNone/>
              <a:defRPr sz="7300">
                <a:solidFill>
                  <a:schemeClr val="tx1">
                    <a:tint val="75000"/>
                  </a:schemeClr>
                </a:solidFill>
              </a:defRPr>
            </a:lvl3pPr>
            <a:lvl4pPr marL="6262189" indent="0">
              <a:buNone/>
              <a:defRPr sz="6400">
                <a:solidFill>
                  <a:schemeClr val="tx1">
                    <a:tint val="75000"/>
                  </a:schemeClr>
                </a:solidFill>
              </a:defRPr>
            </a:lvl4pPr>
            <a:lvl5pPr marL="8349582" indent="0">
              <a:buNone/>
              <a:defRPr sz="6400">
                <a:solidFill>
                  <a:schemeClr val="tx1">
                    <a:tint val="75000"/>
                  </a:schemeClr>
                </a:solidFill>
              </a:defRPr>
            </a:lvl5pPr>
            <a:lvl6pPr marL="10436984" indent="0">
              <a:buNone/>
              <a:defRPr sz="6400">
                <a:solidFill>
                  <a:schemeClr val="tx1">
                    <a:tint val="75000"/>
                  </a:schemeClr>
                </a:solidFill>
              </a:defRPr>
            </a:lvl6pPr>
            <a:lvl7pPr marL="12524377" indent="0">
              <a:buNone/>
              <a:defRPr sz="6400">
                <a:solidFill>
                  <a:schemeClr val="tx1">
                    <a:tint val="75000"/>
                  </a:schemeClr>
                </a:solidFill>
              </a:defRPr>
            </a:lvl7pPr>
            <a:lvl8pPr marL="14611770" indent="0">
              <a:buNone/>
              <a:defRPr sz="6400">
                <a:solidFill>
                  <a:schemeClr val="tx1">
                    <a:tint val="75000"/>
                  </a:schemeClr>
                </a:solidFill>
              </a:defRPr>
            </a:lvl8pPr>
            <a:lvl9pPr marL="16699173"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5015129" y="62349824"/>
            <a:ext cx="44867985" cy="17634734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50387773" y="62349824"/>
            <a:ext cx="44867982" cy="17634734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99" y="1714326"/>
            <a:ext cx="27251978" cy="7134754"/>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1513999" y="9582375"/>
            <a:ext cx="13378914" cy="3993477"/>
          </a:xfrm>
        </p:spPr>
        <p:txBody>
          <a:bodyPr anchor="b"/>
          <a:lstStyle>
            <a:lvl1pPr marL="0" indent="0">
              <a:buNone/>
              <a:defRPr sz="11000" b="1"/>
            </a:lvl1pPr>
            <a:lvl2pPr marL="2087393" indent="0">
              <a:buNone/>
              <a:defRPr sz="9100" b="1"/>
            </a:lvl2pPr>
            <a:lvl3pPr marL="4174795" indent="0">
              <a:buNone/>
              <a:defRPr sz="8200" b="1"/>
            </a:lvl3pPr>
            <a:lvl4pPr marL="6262189" indent="0">
              <a:buNone/>
              <a:defRPr sz="7300" b="1"/>
            </a:lvl4pPr>
            <a:lvl5pPr marL="8349582" indent="0">
              <a:buNone/>
              <a:defRPr sz="7300" b="1"/>
            </a:lvl5pPr>
            <a:lvl6pPr marL="10436984" indent="0">
              <a:buNone/>
              <a:defRPr sz="7300" b="1"/>
            </a:lvl6pPr>
            <a:lvl7pPr marL="12524377" indent="0">
              <a:buNone/>
              <a:defRPr sz="7300" b="1"/>
            </a:lvl7pPr>
            <a:lvl8pPr marL="14611770" indent="0">
              <a:buNone/>
              <a:defRPr sz="7300" b="1"/>
            </a:lvl8pPr>
            <a:lvl9pPr marL="16699173" indent="0">
              <a:buNone/>
              <a:defRPr sz="7300" b="1"/>
            </a:lvl9pPr>
          </a:lstStyle>
          <a:p>
            <a:pPr lvl="0"/>
            <a:r>
              <a:rPr lang="en-US" smtClean="0"/>
              <a:t>Click to edit Master text styles</a:t>
            </a:r>
          </a:p>
        </p:txBody>
      </p:sp>
      <p:sp>
        <p:nvSpPr>
          <p:cNvPr id="4" name="Content Placeholder 3"/>
          <p:cNvSpPr>
            <a:spLocks noGrp="1"/>
          </p:cNvSpPr>
          <p:nvPr>
            <p:ph sz="half" idx="2"/>
          </p:nvPr>
        </p:nvSpPr>
        <p:spPr>
          <a:xfrm>
            <a:off x="1513999" y="13575852"/>
            <a:ext cx="13378914"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15381808" y="9582375"/>
            <a:ext cx="13384170" cy="3993477"/>
          </a:xfrm>
        </p:spPr>
        <p:txBody>
          <a:bodyPr anchor="b"/>
          <a:lstStyle>
            <a:lvl1pPr marL="0" indent="0">
              <a:buNone/>
              <a:defRPr sz="11000" b="1"/>
            </a:lvl1pPr>
            <a:lvl2pPr marL="2087393" indent="0">
              <a:buNone/>
              <a:defRPr sz="9100" b="1"/>
            </a:lvl2pPr>
            <a:lvl3pPr marL="4174795" indent="0">
              <a:buNone/>
              <a:defRPr sz="8200" b="1"/>
            </a:lvl3pPr>
            <a:lvl4pPr marL="6262189" indent="0">
              <a:buNone/>
              <a:defRPr sz="7300" b="1"/>
            </a:lvl4pPr>
            <a:lvl5pPr marL="8349582" indent="0">
              <a:buNone/>
              <a:defRPr sz="7300" b="1"/>
            </a:lvl5pPr>
            <a:lvl6pPr marL="10436984" indent="0">
              <a:buNone/>
              <a:defRPr sz="7300" b="1"/>
            </a:lvl6pPr>
            <a:lvl7pPr marL="12524377" indent="0">
              <a:buNone/>
              <a:defRPr sz="7300" b="1"/>
            </a:lvl7pPr>
            <a:lvl8pPr marL="14611770" indent="0">
              <a:buNone/>
              <a:defRPr sz="7300" b="1"/>
            </a:lvl8pPr>
            <a:lvl9pPr marL="16699173" indent="0">
              <a:buNone/>
              <a:defRPr sz="7300" b="1"/>
            </a:lvl9pPr>
          </a:lstStyle>
          <a:p>
            <a:pPr lvl="0"/>
            <a:r>
              <a:rPr lang="en-US" smtClean="0"/>
              <a:t>Click to edit Master text styles</a:t>
            </a:r>
          </a:p>
        </p:txBody>
      </p:sp>
      <p:sp>
        <p:nvSpPr>
          <p:cNvPr id="6" name="Content Placeholder 5"/>
          <p:cNvSpPr>
            <a:spLocks noGrp="1"/>
          </p:cNvSpPr>
          <p:nvPr>
            <p:ph sz="quarter" idx="4"/>
          </p:nvPr>
        </p:nvSpPr>
        <p:spPr>
          <a:xfrm>
            <a:off x="15381808" y="13575852"/>
            <a:ext cx="13384170"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007" y="1704413"/>
            <a:ext cx="9961903" cy="7253667"/>
          </a:xfrm>
        </p:spPr>
        <p:txBody>
          <a:bodyPr anchor="b"/>
          <a:lstStyle>
            <a:lvl1pPr algn="l">
              <a:defRPr sz="9100" b="1"/>
            </a:lvl1pPr>
          </a:lstStyle>
          <a:p>
            <a:r>
              <a:rPr lang="en-US" smtClean="0"/>
              <a:t>Click to edit Master title style</a:t>
            </a:r>
            <a:endParaRPr lang="en-AU"/>
          </a:p>
        </p:txBody>
      </p:sp>
      <p:sp>
        <p:nvSpPr>
          <p:cNvPr id="3" name="Content Placeholder 2"/>
          <p:cNvSpPr>
            <a:spLocks noGrp="1"/>
          </p:cNvSpPr>
          <p:nvPr>
            <p:ph idx="1"/>
          </p:nvPr>
        </p:nvSpPr>
        <p:spPr>
          <a:xfrm>
            <a:off x="11838629" y="1704429"/>
            <a:ext cx="16927347" cy="36535890"/>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1514007" y="8958096"/>
            <a:ext cx="9961903" cy="29282223"/>
          </a:xfrm>
        </p:spPr>
        <p:txBody>
          <a:bodyPr/>
          <a:lstStyle>
            <a:lvl1pPr marL="0" indent="0">
              <a:buNone/>
              <a:defRPr sz="6400"/>
            </a:lvl1pPr>
            <a:lvl2pPr marL="2087393" indent="0">
              <a:buNone/>
              <a:defRPr sz="5500"/>
            </a:lvl2pPr>
            <a:lvl3pPr marL="4174795" indent="0">
              <a:buNone/>
              <a:defRPr sz="4600"/>
            </a:lvl3pPr>
            <a:lvl4pPr marL="6262189" indent="0">
              <a:buNone/>
              <a:defRPr sz="4100"/>
            </a:lvl4pPr>
            <a:lvl5pPr marL="8349582" indent="0">
              <a:buNone/>
              <a:defRPr sz="4100"/>
            </a:lvl5pPr>
            <a:lvl6pPr marL="10436984" indent="0">
              <a:buNone/>
              <a:defRPr sz="4100"/>
            </a:lvl6pPr>
            <a:lvl7pPr marL="12524377" indent="0">
              <a:buNone/>
              <a:defRPr sz="4100"/>
            </a:lvl7pPr>
            <a:lvl8pPr marL="14611770" indent="0">
              <a:buNone/>
              <a:defRPr sz="4100"/>
            </a:lvl8pPr>
            <a:lvl9pPr marL="16699173" indent="0">
              <a:buNone/>
              <a:defRPr sz="4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5087" y="29965968"/>
            <a:ext cx="18167985" cy="3537652"/>
          </a:xfrm>
        </p:spPr>
        <p:txBody>
          <a:bodyPr anchor="b"/>
          <a:lstStyle>
            <a:lvl1pPr algn="l">
              <a:defRPr sz="9100" b="1"/>
            </a:lvl1pPr>
          </a:lstStyle>
          <a:p>
            <a:r>
              <a:rPr lang="en-US" smtClean="0"/>
              <a:t>Click to edit Master title style</a:t>
            </a:r>
            <a:endParaRPr lang="en-AU"/>
          </a:p>
        </p:txBody>
      </p:sp>
      <p:sp>
        <p:nvSpPr>
          <p:cNvPr id="3" name="Picture Placeholder 2"/>
          <p:cNvSpPr>
            <a:spLocks noGrp="1"/>
          </p:cNvSpPr>
          <p:nvPr>
            <p:ph type="pic" idx="1"/>
          </p:nvPr>
        </p:nvSpPr>
        <p:spPr>
          <a:xfrm>
            <a:off x="5935087" y="3825021"/>
            <a:ext cx="18167985" cy="25685115"/>
          </a:xfrm>
        </p:spPr>
        <p:txBody>
          <a:bodyPr/>
          <a:lstStyle>
            <a:lvl1pPr marL="0" indent="0">
              <a:buNone/>
              <a:defRPr sz="14600"/>
            </a:lvl1pPr>
            <a:lvl2pPr marL="2087393" indent="0">
              <a:buNone/>
              <a:defRPr sz="12800"/>
            </a:lvl2pPr>
            <a:lvl3pPr marL="4174795" indent="0">
              <a:buNone/>
              <a:defRPr sz="11000"/>
            </a:lvl3pPr>
            <a:lvl4pPr marL="6262189" indent="0">
              <a:buNone/>
              <a:defRPr sz="9100"/>
            </a:lvl4pPr>
            <a:lvl5pPr marL="8349582" indent="0">
              <a:buNone/>
              <a:defRPr sz="9100"/>
            </a:lvl5pPr>
            <a:lvl6pPr marL="10436984" indent="0">
              <a:buNone/>
              <a:defRPr sz="9100"/>
            </a:lvl6pPr>
            <a:lvl7pPr marL="12524377" indent="0">
              <a:buNone/>
              <a:defRPr sz="9100"/>
            </a:lvl7pPr>
            <a:lvl8pPr marL="14611770" indent="0">
              <a:buNone/>
              <a:defRPr sz="9100"/>
            </a:lvl8pPr>
            <a:lvl9pPr marL="16699173" indent="0">
              <a:buNone/>
              <a:defRPr sz="9100"/>
            </a:lvl9pPr>
          </a:lstStyle>
          <a:p>
            <a:endParaRPr lang="en-AU"/>
          </a:p>
        </p:txBody>
      </p:sp>
      <p:sp>
        <p:nvSpPr>
          <p:cNvPr id="4" name="Text Placeholder 3"/>
          <p:cNvSpPr>
            <a:spLocks noGrp="1"/>
          </p:cNvSpPr>
          <p:nvPr>
            <p:ph type="body" sz="half" idx="2"/>
          </p:nvPr>
        </p:nvSpPr>
        <p:spPr>
          <a:xfrm>
            <a:off x="5935087" y="33503620"/>
            <a:ext cx="18167985" cy="5024053"/>
          </a:xfrm>
        </p:spPr>
        <p:txBody>
          <a:bodyPr/>
          <a:lstStyle>
            <a:lvl1pPr marL="0" indent="0">
              <a:buNone/>
              <a:defRPr sz="6400"/>
            </a:lvl1pPr>
            <a:lvl2pPr marL="2087393" indent="0">
              <a:buNone/>
              <a:defRPr sz="5500"/>
            </a:lvl2pPr>
            <a:lvl3pPr marL="4174795" indent="0">
              <a:buNone/>
              <a:defRPr sz="4600"/>
            </a:lvl3pPr>
            <a:lvl4pPr marL="6262189" indent="0">
              <a:buNone/>
              <a:defRPr sz="4100"/>
            </a:lvl4pPr>
            <a:lvl5pPr marL="8349582" indent="0">
              <a:buNone/>
              <a:defRPr sz="4100"/>
            </a:lvl5pPr>
            <a:lvl6pPr marL="10436984" indent="0">
              <a:buNone/>
              <a:defRPr sz="4100"/>
            </a:lvl6pPr>
            <a:lvl7pPr marL="12524377" indent="0">
              <a:buNone/>
              <a:defRPr sz="4100"/>
            </a:lvl7pPr>
            <a:lvl8pPr marL="14611770" indent="0">
              <a:buNone/>
              <a:defRPr sz="4100"/>
            </a:lvl8pPr>
            <a:lvl9pPr marL="16699173" indent="0">
              <a:buNone/>
              <a:defRPr sz="4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698227" y="10702131"/>
            <a:ext cx="22557528" cy="227995033"/>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5015129" y="10702131"/>
            <a:ext cx="67178439" cy="2279950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71E081-B814-4648-A975-D70A1511974A}" type="datetimeFigureOut">
              <a:rPr lang="en-US" smtClean="0"/>
              <a:pPr/>
              <a:t>10/15/2010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6F10DD-A3FF-4EB0-8716-6ABFFD9974A1}"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999" y="1714326"/>
            <a:ext cx="27251978" cy="7134754"/>
          </a:xfrm>
          <a:prstGeom prst="rect">
            <a:avLst/>
          </a:prstGeom>
        </p:spPr>
        <p:txBody>
          <a:bodyPr vert="horz" lIns="417479" tIns="208739" rIns="417479" bIns="208739"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1513999" y="9988665"/>
            <a:ext cx="27251978" cy="28251648"/>
          </a:xfrm>
          <a:prstGeom prst="rect">
            <a:avLst/>
          </a:prstGeom>
        </p:spPr>
        <p:txBody>
          <a:bodyPr vert="horz" lIns="417479" tIns="208739" rIns="417479" bIns="20873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1513999" y="39677176"/>
            <a:ext cx="7065328" cy="2279158"/>
          </a:xfrm>
          <a:prstGeom prst="rect">
            <a:avLst/>
          </a:prstGeom>
        </p:spPr>
        <p:txBody>
          <a:bodyPr vert="horz" lIns="417479" tIns="208739" rIns="417479" bIns="208739" rtlCol="0" anchor="ctr"/>
          <a:lstStyle>
            <a:lvl1pPr algn="l">
              <a:defRPr sz="5500">
                <a:solidFill>
                  <a:schemeClr val="tx1">
                    <a:tint val="75000"/>
                  </a:schemeClr>
                </a:solidFill>
              </a:defRPr>
            </a:lvl1pPr>
          </a:lstStyle>
          <a:p>
            <a:fld id="{5C71E081-B814-4648-A975-D70A1511974A}" type="datetimeFigureOut">
              <a:rPr lang="en-US" smtClean="0"/>
              <a:pPr/>
              <a:t>10/15/2010</a:t>
            </a:fld>
            <a:endParaRPr lang="en-AU"/>
          </a:p>
        </p:txBody>
      </p:sp>
      <p:sp>
        <p:nvSpPr>
          <p:cNvPr id="5" name="Footer Placeholder 4"/>
          <p:cNvSpPr>
            <a:spLocks noGrp="1"/>
          </p:cNvSpPr>
          <p:nvPr>
            <p:ph type="ftr" sz="quarter" idx="3"/>
          </p:nvPr>
        </p:nvSpPr>
        <p:spPr>
          <a:xfrm>
            <a:off x="10345658" y="39677176"/>
            <a:ext cx="9588659" cy="2279158"/>
          </a:xfrm>
          <a:prstGeom prst="rect">
            <a:avLst/>
          </a:prstGeom>
        </p:spPr>
        <p:txBody>
          <a:bodyPr vert="horz" lIns="417479" tIns="208739" rIns="417479" bIns="208739" rtlCol="0" anchor="ctr"/>
          <a:lstStyle>
            <a:lvl1pPr algn="ctr">
              <a:defRPr sz="55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21700649" y="39677176"/>
            <a:ext cx="7065328" cy="2279158"/>
          </a:xfrm>
          <a:prstGeom prst="rect">
            <a:avLst/>
          </a:prstGeom>
        </p:spPr>
        <p:txBody>
          <a:bodyPr vert="horz" lIns="417479" tIns="208739" rIns="417479" bIns="208739" rtlCol="0" anchor="ctr"/>
          <a:lstStyle>
            <a:lvl1pPr algn="r">
              <a:defRPr sz="5500">
                <a:solidFill>
                  <a:schemeClr val="tx1">
                    <a:tint val="75000"/>
                  </a:schemeClr>
                </a:solidFill>
              </a:defRPr>
            </a:lvl1pPr>
          </a:lstStyle>
          <a:p>
            <a:fld id="{C56F10DD-A3FF-4EB0-8716-6ABFFD9974A1}" type="slidenum">
              <a:rPr lang="en-AU" smtClean="0"/>
              <a:pPr/>
              <a:t>‹#›</a:t>
            </a:fld>
            <a:endParaRPr lang="en-AU"/>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174795" rtl="0" eaLnBrk="1" latinLnBrk="0" hangingPunct="1">
        <a:spcBef>
          <a:spcPct val="0"/>
        </a:spcBef>
        <a:buNone/>
        <a:defRPr sz="20100" kern="1200">
          <a:solidFill>
            <a:schemeClr val="tx1"/>
          </a:solidFill>
          <a:latin typeface="+mj-lt"/>
          <a:ea typeface="+mj-ea"/>
          <a:cs typeface="+mj-cs"/>
        </a:defRPr>
      </a:lvl1pPr>
    </p:titleStyle>
    <p:bodyStyle>
      <a:lvl1pPr marL="1565549" indent="-1565549" algn="l" defTabSz="4174795"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2016" indent="-1304623" algn="l" defTabSz="4174795"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18492" indent="-1043697" algn="l" defTabSz="4174795"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5885"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3287"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0681"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8074"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5476"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2869" indent="-1043697" algn="l" defTabSz="4174795"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4795" rtl="0" eaLnBrk="1" latinLnBrk="0" hangingPunct="1">
        <a:defRPr sz="8200" kern="1200">
          <a:solidFill>
            <a:schemeClr val="tx1"/>
          </a:solidFill>
          <a:latin typeface="+mn-lt"/>
          <a:ea typeface="+mn-ea"/>
          <a:cs typeface="+mn-cs"/>
        </a:defRPr>
      </a:lvl1pPr>
      <a:lvl2pPr marL="2087393" algn="l" defTabSz="4174795" rtl="0" eaLnBrk="1" latinLnBrk="0" hangingPunct="1">
        <a:defRPr sz="8200" kern="1200">
          <a:solidFill>
            <a:schemeClr val="tx1"/>
          </a:solidFill>
          <a:latin typeface="+mn-lt"/>
          <a:ea typeface="+mn-ea"/>
          <a:cs typeface="+mn-cs"/>
        </a:defRPr>
      </a:lvl2pPr>
      <a:lvl3pPr marL="4174795" algn="l" defTabSz="4174795" rtl="0" eaLnBrk="1" latinLnBrk="0" hangingPunct="1">
        <a:defRPr sz="8200" kern="1200">
          <a:solidFill>
            <a:schemeClr val="tx1"/>
          </a:solidFill>
          <a:latin typeface="+mn-lt"/>
          <a:ea typeface="+mn-ea"/>
          <a:cs typeface="+mn-cs"/>
        </a:defRPr>
      </a:lvl3pPr>
      <a:lvl4pPr marL="6262189" algn="l" defTabSz="4174795" rtl="0" eaLnBrk="1" latinLnBrk="0" hangingPunct="1">
        <a:defRPr sz="8200" kern="1200">
          <a:solidFill>
            <a:schemeClr val="tx1"/>
          </a:solidFill>
          <a:latin typeface="+mn-lt"/>
          <a:ea typeface="+mn-ea"/>
          <a:cs typeface="+mn-cs"/>
        </a:defRPr>
      </a:lvl4pPr>
      <a:lvl5pPr marL="8349582" algn="l" defTabSz="4174795" rtl="0" eaLnBrk="1" latinLnBrk="0" hangingPunct="1">
        <a:defRPr sz="8200" kern="1200">
          <a:solidFill>
            <a:schemeClr val="tx1"/>
          </a:solidFill>
          <a:latin typeface="+mn-lt"/>
          <a:ea typeface="+mn-ea"/>
          <a:cs typeface="+mn-cs"/>
        </a:defRPr>
      </a:lvl5pPr>
      <a:lvl6pPr marL="10436984" algn="l" defTabSz="4174795" rtl="0" eaLnBrk="1" latinLnBrk="0" hangingPunct="1">
        <a:defRPr sz="8200" kern="1200">
          <a:solidFill>
            <a:schemeClr val="tx1"/>
          </a:solidFill>
          <a:latin typeface="+mn-lt"/>
          <a:ea typeface="+mn-ea"/>
          <a:cs typeface="+mn-cs"/>
        </a:defRPr>
      </a:lvl6pPr>
      <a:lvl7pPr marL="12524377" algn="l" defTabSz="4174795" rtl="0" eaLnBrk="1" latinLnBrk="0" hangingPunct="1">
        <a:defRPr sz="8200" kern="1200">
          <a:solidFill>
            <a:schemeClr val="tx1"/>
          </a:solidFill>
          <a:latin typeface="+mn-lt"/>
          <a:ea typeface="+mn-ea"/>
          <a:cs typeface="+mn-cs"/>
        </a:defRPr>
      </a:lvl7pPr>
      <a:lvl8pPr marL="14611770" algn="l" defTabSz="4174795" rtl="0" eaLnBrk="1" latinLnBrk="0" hangingPunct="1">
        <a:defRPr sz="8200" kern="1200">
          <a:solidFill>
            <a:schemeClr val="tx1"/>
          </a:solidFill>
          <a:latin typeface="+mn-lt"/>
          <a:ea typeface="+mn-ea"/>
          <a:cs typeface="+mn-cs"/>
        </a:defRPr>
      </a:lvl8pPr>
      <a:lvl9pPr marL="16699173" algn="l" defTabSz="4174795"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www.flickr.com/photos/creativecommons/559937689" TargetMode="External"/><Relationship Id="rId13" Type="http://schemas.openxmlformats.org/officeDocument/2006/relationships/image" Target="../media/image3.png"/><Relationship Id="rId18" Type="http://schemas.openxmlformats.org/officeDocument/2006/relationships/chart" Target="../charts/chart1.xml"/><Relationship Id="rId3" Type="http://schemas.openxmlformats.org/officeDocument/2006/relationships/hyperlink" Target="mailto:s.bradbury@qut.edu.au" TargetMode="External"/><Relationship Id="rId21" Type="http://schemas.openxmlformats.org/officeDocument/2006/relationships/chart" Target="../charts/chart4.xml"/><Relationship Id="rId7" Type="http://schemas.openxmlformats.org/officeDocument/2006/relationships/hyperlink" Target="http://www.flickr.com/photos/djackmanson/470738012" TargetMode="Externa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image" Target="../media/image1.png"/><Relationship Id="rId16" Type="http://schemas.openxmlformats.org/officeDocument/2006/relationships/image" Target="../media/image6.png"/><Relationship Id="rId20" Type="http://schemas.openxmlformats.org/officeDocument/2006/relationships/chart" Target="../charts/chart3.xml"/><Relationship Id="rId1" Type="http://schemas.openxmlformats.org/officeDocument/2006/relationships/slideLayout" Target="../slideLayouts/slideLayout1.xml"/><Relationship Id="rId6" Type="http://schemas.openxmlformats.org/officeDocument/2006/relationships/hyperlink" Target="http://www.flickr.com/photos/dalziel_86/81463031/" TargetMode="External"/><Relationship Id="rId11" Type="http://schemas.openxmlformats.org/officeDocument/2006/relationships/hyperlink" Target="http://www.flickr.com/photos/angels_have_the_phone_box/4947544618/" TargetMode="External"/><Relationship Id="rId5" Type="http://schemas.openxmlformats.org/officeDocument/2006/relationships/hyperlink" Target="http://www.flickr.com/photos/newnowknowhow/4701363903/" TargetMode="External"/><Relationship Id="rId15" Type="http://schemas.openxmlformats.org/officeDocument/2006/relationships/image" Target="../media/image5.png"/><Relationship Id="rId23" Type="http://schemas.openxmlformats.org/officeDocument/2006/relationships/image" Target="../media/image9.png"/><Relationship Id="rId10" Type="http://schemas.openxmlformats.org/officeDocument/2006/relationships/hyperlink" Target="http://www.flickr.com/photos/s13_eisbaer/4261259811/" TargetMode="External"/><Relationship Id="rId19" Type="http://schemas.openxmlformats.org/officeDocument/2006/relationships/chart" Target="../charts/chart2.xml"/><Relationship Id="rId4" Type="http://schemas.openxmlformats.org/officeDocument/2006/relationships/hyperlink" Target="http://www.flickr.com/photos/monkeyc/136375121" TargetMode="External"/><Relationship Id="rId9" Type="http://schemas.openxmlformats.org/officeDocument/2006/relationships/hyperlink" Target="http://www.flickr.com/photos/monitors/3559652912" TargetMode="External"/><Relationship Id="rId14" Type="http://schemas.openxmlformats.org/officeDocument/2006/relationships/image" Target="../media/image4.png"/><Relationship Id="rId2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0"/>
          <p:cNvSpPr>
            <a:spLocks noChangeArrowheads="1"/>
          </p:cNvSpPr>
          <p:nvPr/>
        </p:nvSpPr>
        <p:spPr bwMode="auto">
          <a:xfrm>
            <a:off x="666379" y="5778526"/>
            <a:ext cx="14246308" cy="33699744"/>
          </a:xfrm>
          <a:prstGeom prst="roundRect">
            <a:avLst>
              <a:gd name="adj" fmla="val 7000"/>
            </a:avLst>
          </a:prstGeom>
          <a:solidFill>
            <a:schemeClr val="bg1"/>
          </a:solidFill>
          <a:ln w="9525">
            <a:solidFill>
              <a:schemeClr val="tx1"/>
            </a:solidFill>
            <a:round/>
            <a:headEnd/>
            <a:tailEnd/>
          </a:ln>
          <a:effectLst/>
        </p:spPr>
        <p:txBody>
          <a:bodyPr wrap="none" lIns="87005" tIns="43503" rIns="87005" bIns="43503" anchor="ctr"/>
          <a:lstStyle/>
          <a:p>
            <a:endParaRPr lang="en-AU" dirty="0"/>
          </a:p>
        </p:txBody>
      </p:sp>
      <p:pic>
        <p:nvPicPr>
          <p:cNvPr id="1031" name="Picture 7"/>
          <p:cNvPicPr>
            <a:picLocks noChangeAspect="1" noChangeArrowheads="1"/>
          </p:cNvPicPr>
          <p:nvPr/>
        </p:nvPicPr>
        <p:blipFill>
          <a:blip r:embed="rId2" cstate="print"/>
          <a:srcRect/>
          <a:stretch>
            <a:fillRect/>
          </a:stretch>
        </p:blipFill>
        <p:spPr bwMode="auto">
          <a:xfrm>
            <a:off x="3618707" y="39982326"/>
            <a:ext cx="3768264" cy="2826198"/>
          </a:xfrm>
          <a:prstGeom prst="rect">
            <a:avLst/>
          </a:prstGeom>
          <a:noFill/>
          <a:ln w="9525">
            <a:noFill/>
            <a:miter lim="800000"/>
            <a:headEnd/>
            <a:tailEnd/>
          </a:ln>
        </p:spPr>
      </p:pic>
      <p:sp>
        <p:nvSpPr>
          <p:cNvPr id="4" name="AutoShape 50"/>
          <p:cNvSpPr>
            <a:spLocks noChangeArrowheads="1"/>
          </p:cNvSpPr>
          <p:nvPr/>
        </p:nvSpPr>
        <p:spPr bwMode="auto">
          <a:xfrm>
            <a:off x="15572035" y="5778526"/>
            <a:ext cx="13814260" cy="33699744"/>
          </a:xfrm>
          <a:prstGeom prst="roundRect">
            <a:avLst>
              <a:gd name="adj" fmla="val 7000"/>
            </a:avLst>
          </a:prstGeom>
          <a:solidFill>
            <a:schemeClr val="bg1"/>
          </a:solidFill>
          <a:ln w="9525">
            <a:solidFill>
              <a:schemeClr val="tx1"/>
            </a:solidFill>
            <a:round/>
            <a:headEnd/>
            <a:tailEnd/>
          </a:ln>
          <a:effectLst/>
        </p:spPr>
        <p:txBody>
          <a:bodyPr wrap="none" lIns="87005" tIns="43503" rIns="87005" bIns="43503" anchor="ctr"/>
          <a:lstStyle/>
          <a:p>
            <a:endParaRPr lang="en-AU"/>
          </a:p>
        </p:txBody>
      </p:sp>
      <p:sp>
        <p:nvSpPr>
          <p:cNvPr id="6" name="Text Box 9"/>
          <p:cNvSpPr txBox="1">
            <a:spLocks noChangeArrowheads="1"/>
          </p:cNvSpPr>
          <p:nvPr/>
        </p:nvSpPr>
        <p:spPr bwMode="auto">
          <a:xfrm>
            <a:off x="1098427" y="7002662"/>
            <a:ext cx="13897544" cy="8705599"/>
          </a:xfrm>
          <a:prstGeom prst="rect">
            <a:avLst/>
          </a:prstGeom>
          <a:noFill/>
          <a:ln w="9525">
            <a:noFill/>
            <a:miter lim="800000"/>
            <a:headEnd/>
            <a:tailEnd/>
          </a:ln>
          <a:effectLst/>
        </p:spPr>
        <p:txBody>
          <a:bodyPr wrap="square" lIns="87005" tIns="43503" rIns="87005" bIns="43503">
            <a:spAutoFit/>
          </a:bodyPr>
          <a:lstStyle/>
          <a:p>
            <a:r>
              <a:rPr lang="en-AU" sz="2400" dirty="0" smtClean="0">
                <a:cs typeface="Arial" pitchFamily="34" charset="0"/>
              </a:rPr>
              <a:t>As the research landscape continues to change with new technologies, advances in data management and new means, expectations and polices surrounding scholarly communication, the role of the Library and Librarian in supporting research is shifting.   </a:t>
            </a:r>
            <a:br>
              <a:rPr lang="en-AU" sz="2400" dirty="0" smtClean="0">
                <a:cs typeface="Arial" pitchFamily="34" charset="0"/>
              </a:rPr>
            </a:br>
            <a:endParaRPr lang="en-AU" sz="2400" dirty="0" smtClean="0">
              <a:cs typeface="Arial" pitchFamily="34" charset="0"/>
            </a:endParaRPr>
          </a:p>
          <a:p>
            <a:r>
              <a:rPr lang="en-AU" sz="2400" dirty="0" smtClean="0">
                <a:cs typeface="Arial" pitchFamily="34" charset="0"/>
              </a:rPr>
              <a:t>At the Queensland University of Technology (QUT), the Library has made a positive impact on the scholarly communication practices of QUT researchers in the last decade in several ways:  </a:t>
            </a:r>
            <a:br>
              <a:rPr lang="en-AU" sz="2400" dirty="0" smtClean="0">
                <a:cs typeface="Arial" pitchFamily="34" charset="0"/>
              </a:rPr>
            </a:br>
            <a:endParaRPr lang="en-AU" sz="2400" dirty="0" smtClean="0">
              <a:cs typeface="Arial" pitchFamily="34" charset="0"/>
            </a:endParaRPr>
          </a:p>
          <a:p>
            <a:pPr marL="514350" lvl="0" indent="-514350">
              <a:buFont typeface="+mj-lt"/>
              <a:buAutoNum type="arabicPeriod"/>
            </a:pPr>
            <a:r>
              <a:rPr lang="en-AU" sz="2400" dirty="0" smtClean="0">
                <a:cs typeface="Arial" pitchFamily="34" charset="0"/>
              </a:rPr>
              <a:t>A university-wide deposit mandate on self-archiving was introduced in 2003.  It states that QUT authors must place the author’s accepted manuscript version of refereed research articles and conference papers in the digital repository QUT </a:t>
            </a:r>
            <a:r>
              <a:rPr lang="en-AU" sz="2400" dirty="0" err="1" smtClean="0">
                <a:cs typeface="Arial" pitchFamily="34" charset="0"/>
              </a:rPr>
              <a:t>ePrints</a:t>
            </a:r>
            <a:r>
              <a:rPr lang="en-AU" sz="2400" dirty="0" smtClean="0">
                <a:cs typeface="Arial" pitchFamily="34" charset="0"/>
              </a:rPr>
              <a:t>. </a:t>
            </a:r>
          </a:p>
          <a:p>
            <a:pPr marL="514350" lvl="0" indent="-514350">
              <a:buFont typeface="+mj-lt"/>
              <a:buAutoNum type="arabicPeriod"/>
            </a:pPr>
            <a:r>
              <a:rPr lang="en-AU" sz="2400" dirty="0" smtClean="0">
                <a:cs typeface="Arial" pitchFamily="34" charset="0"/>
              </a:rPr>
              <a:t>Liaison Librarians remind  their researchers to self-deposit their accepted manuscript versions of peer-reviewed research outputs into QUT </a:t>
            </a:r>
            <a:r>
              <a:rPr lang="en-AU" sz="2400" dirty="0" err="1" smtClean="0">
                <a:cs typeface="Arial" pitchFamily="34" charset="0"/>
              </a:rPr>
              <a:t>ePrints</a:t>
            </a:r>
            <a:r>
              <a:rPr lang="en-AU" sz="2400" dirty="0" smtClean="0">
                <a:cs typeface="Arial" pitchFamily="34" charset="0"/>
              </a:rPr>
              <a:t>, and provide training and support when needed.</a:t>
            </a:r>
          </a:p>
          <a:p>
            <a:pPr marL="514350" lvl="0" indent="-514350">
              <a:buFont typeface="+mj-lt"/>
              <a:buAutoNum type="arabicPeriod"/>
            </a:pPr>
            <a:r>
              <a:rPr lang="en-AU" sz="2400" dirty="0" smtClean="0">
                <a:cs typeface="Arial" pitchFamily="34" charset="0"/>
              </a:rPr>
              <a:t>The Library pays author publication fees for true gold road open access publishers including:</a:t>
            </a:r>
          </a:p>
          <a:p>
            <a:pPr marL="2602565" lvl="1" indent="-514350">
              <a:buFont typeface="+mj-lt"/>
              <a:buAutoNum type="arabicPeriod"/>
            </a:pPr>
            <a:r>
              <a:rPr lang="en-AU" sz="2400" dirty="0" err="1" smtClean="0">
                <a:cs typeface="Arial" pitchFamily="34" charset="0"/>
              </a:rPr>
              <a:t>BioMed</a:t>
            </a:r>
            <a:r>
              <a:rPr lang="en-AU" sz="2400" dirty="0" smtClean="0">
                <a:cs typeface="Arial" pitchFamily="34" charset="0"/>
              </a:rPr>
              <a:t> Central</a:t>
            </a:r>
          </a:p>
          <a:p>
            <a:pPr marL="2602565" lvl="1" indent="-514350">
              <a:buFont typeface="+mj-lt"/>
              <a:buAutoNum type="arabicPeriod"/>
            </a:pPr>
            <a:r>
              <a:rPr lang="en-AU" sz="2400" dirty="0" smtClean="0">
                <a:cs typeface="Arial" pitchFamily="34" charset="0"/>
              </a:rPr>
              <a:t>Public Library of Science</a:t>
            </a:r>
          </a:p>
          <a:p>
            <a:pPr marL="2602565" lvl="1" indent="-514350">
              <a:buFont typeface="+mj-lt"/>
              <a:buAutoNum type="arabicPeriod"/>
            </a:pPr>
            <a:r>
              <a:rPr lang="en-AU" sz="2400" dirty="0" err="1" smtClean="0">
                <a:cs typeface="Arial" pitchFamily="34" charset="0"/>
              </a:rPr>
              <a:t>Hindawi</a:t>
            </a:r>
            <a:r>
              <a:rPr lang="en-AU" sz="2400" dirty="0" smtClean="0">
                <a:cs typeface="Arial" pitchFamily="34" charset="0"/>
              </a:rPr>
              <a:t> Press</a:t>
            </a:r>
          </a:p>
          <a:p>
            <a:pPr marL="514350" indent="-514350">
              <a:buFont typeface="+mj-lt"/>
              <a:buAutoNum type="arabicPeriod"/>
            </a:pPr>
            <a:r>
              <a:rPr lang="en-AU" sz="2400" dirty="0" smtClean="0">
                <a:cs typeface="Arial" pitchFamily="34" charset="0"/>
              </a:rPr>
              <a:t>Liaison Librarians actively assist researchers in the gold road publishing process.</a:t>
            </a:r>
            <a:br>
              <a:rPr lang="en-AU" sz="2400" dirty="0" smtClean="0">
                <a:cs typeface="Arial" pitchFamily="34" charset="0"/>
              </a:rPr>
            </a:br>
            <a:endParaRPr lang="en-AU" sz="2400" dirty="0" smtClean="0">
              <a:cs typeface="Arial" pitchFamily="34" charset="0"/>
            </a:endParaRPr>
          </a:p>
          <a:p>
            <a:r>
              <a:rPr lang="en-AU" sz="2400" dirty="0" smtClean="0">
                <a:cs typeface="Arial" pitchFamily="34" charset="0"/>
              </a:rPr>
              <a:t>Liaison Librarians play a key role in educating their researchers on university policy and the latest advances in scholarly communication.  However, their knowledge and skills related to scholarly communication practices have largely been learnt on the job or self-taught.  </a:t>
            </a:r>
            <a:r>
              <a:rPr lang="en-AU" sz="2400" b="1" i="1" dirty="0" smtClean="0">
                <a:cs typeface="Arial" pitchFamily="34" charset="0"/>
              </a:rPr>
              <a:t>QUT Library wanted to investigate how Liaison Librarians rated their skills in various practices related to eResearch, including scholarly communication.</a:t>
            </a:r>
            <a:endParaRPr lang="en-AU" sz="2400" dirty="0" smtClean="0">
              <a:cs typeface="Arial" pitchFamily="34" charset="0"/>
            </a:endParaRPr>
          </a:p>
          <a:p>
            <a:pPr lvl="0"/>
            <a:endParaRPr lang="en-AU" sz="3200" dirty="0" smtClean="0"/>
          </a:p>
        </p:txBody>
      </p:sp>
      <p:sp>
        <p:nvSpPr>
          <p:cNvPr id="7" name="Text Box 10"/>
          <p:cNvSpPr txBox="1">
            <a:spLocks noChangeArrowheads="1"/>
          </p:cNvSpPr>
          <p:nvPr/>
        </p:nvSpPr>
        <p:spPr bwMode="auto">
          <a:xfrm>
            <a:off x="3834731" y="15427598"/>
            <a:ext cx="6781453" cy="918852"/>
          </a:xfrm>
          <a:prstGeom prst="rect">
            <a:avLst/>
          </a:prstGeom>
          <a:noFill/>
          <a:ln w="9525">
            <a:noFill/>
            <a:miter lim="800000"/>
            <a:headEnd/>
            <a:tailEnd/>
          </a:ln>
          <a:effectLst/>
        </p:spPr>
        <p:txBody>
          <a:bodyPr lIns="87005" tIns="43503" rIns="87005" bIns="43503">
            <a:spAutoFit/>
          </a:bodyPr>
          <a:lstStyle/>
          <a:p>
            <a:pPr algn="ctr" defTabSz="4176550">
              <a:spcBef>
                <a:spcPct val="50000"/>
              </a:spcBef>
            </a:pPr>
            <a:r>
              <a:rPr lang="en-US" sz="5400" b="1" dirty="0" smtClean="0"/>
              <a:t>Method</a:t>
            </a:r>
            <a:endParaRPr lang="en-US" sz="5400" b="1" dirty="0"/>
          </a:p>
        </p:txBody>
      </p:sp>
      <p:sp>
        <p:nvSpPr>
          <p:cNvPr id="8" name="Text Box 11"/>
          <p:cNvSpPr txBox="1">
            <a:spLocks noChangeArrowheads="1"/>
          </p:cNvSpPr>
          <p:nvPr/>
        </p:nvSpPr>
        <p:spPr bwMode="auto">
          <a:xfrm>
            <a:off x="18740387" y="26444822"/>
            <a:ext cx="6781453" cy="918852"/>
          </a:xfrm>
          <a:prstGeom prst="rect">
            <a:avLst/>
          </a:prstGeom>
          <a:noFill/>
          <a:ln w="9525">
            <a:noFill/>
            <a:miter lim="800000"/>
            <a:headEnd/>
            <a:tailEnd/>
          </a:ln>
          <a:effectLst/>
        </p:spPr>
        <p:txBody>
          <a:bodyPr lIns="87005" tIns="43503" rIns="87005" bIns="43503">
            <a:spAutoFit/>
          </a:bodyPr>
          <a:lstStyle/>
          <a:p>
            <a:pPr algn="ctr" defTabSz="4176550">
              <a:spcBef>
                <a:spcPct val="50000"/>
              </a:spcBef>
            </a:pPr>
            <a:r>
              <a:rPr lang="en-US" sz="5400" b="1" dirty="0"/>
              <a:t>Conclusions</a:t>
            </a:r>
          </a:p>
        </p:txBody>
      </p:sp>
      <p:sp>
        <p:nvSpPr>
          <p:cNvPr id="9" name="AutoShape 13"/>
          <p:cNvSpPr>
            <a:spLocks noChangeArrowheads="1"/>
          </p:cNvSpPr>
          <p:nvPr/>
        </p:nvSpPr>
        <p:spPr bwMode="auto">
          <a:xfrm>
            <a:off x="522363" y="521943"/>
            <a:ext cx="29333726" cy="4968552"/>
          </a:xfrm>
          <a:prstGeom prst="roundRect">
            <a:avLst>
              <a:gd name="adj" fmla="val 10870"/>
            </a:avLst>
          </a:prstGeom>
          <a:solidFill>
            <a:schemeClr val="accent1">
              <a:lumMod val="75000"/>
            </a:schemeClr>
          </a:solidFill>
          <a:ln>
            <a:headEnd/>
            <a:tailEnd/>
          </a:ln>
          <a:effectLst>
            <a:glow rad="228600">
              <a:schemeClr val="accent5">
                <a:satMod val="175000"/>
                <a:alpha val="40000"/>
              </a:schemeClr>
            </a:glow>
            <a:outerShdw blurRad="40000" dist="20000" dir="5400000" rotWithShape="0">
              <a:srgbClr val="000000">
                <a:alpha val="38000"/>
              </a:srgbClr>
            </a:outerShdw>
            <a:softEdge rad="635000"/>
          </a:effectLst>
        </p:spPr>
        <p:style>
          <a:lnRef idx="1">
            <a:schemeClr val="accent5"/>
          </a:lnRef>
          <a:fillRef idx="2">
            <a:schemeClr val="accent5"/>
          </a:fillRef>
          <a:effectRef idx="1">
            <a:schemeClr val="accent5"/>
          </a:effectRef>
          <a:fontRef idx="minor">
            <a:schemeClr val="dk1"/>
          </a:fontRef>
        </p:style>
        <p:txBody>
          <a:bodyPr wrap="none" lIns="87005" tIns="43503" rIns="87005" bIns="43503" anchor="ctr"/>
          <a:lstStyle/>
          <a:p>
            <a:pPr defTabSz="4176550"/>
            <a:endParaRPr lang="en-US" dirty="0">
              <a:solidFill>
                <a:schemeClr val="bg1"/>
              </a:solidFill>
            </a:endParaRPr>
          </a:p>
        </p:txBody>
      </p:sp>
      <p:sp>
        <p:nvSpPr>
          <p:cNvPr id="10" name="Text Box 14"/>
          <p:cNvSpPr txBox="1">
            <a:spLocks noChangeArrowheads="1"/>
          </p:cNvSpPr>
          <p:nvPr/>
        </p:nvSpPr>
        <p:spPr bwMode="auto">
          <a:xfrm>
            <a:off x="998819" y="1734141"/>
            <a:ext cx="28229768" cy="3227177"/>
          </a:xfrm>
          <a:prstGeom prst="rect">
            <a:avLst/>
          </a:prstGeom>
          <a:noFill/>
          <a:ln w="9525">
            <a:noFill/>
            <a:miter lim="800000"/>
            <a:headEnd/>
            <a:tailEnd/>
          </a:ln>
          <a:effectLst/>
        </p:spPr>
        <p:txBody>
          <a:bodyPr lIns="87005" tIns="43503" rIns="87005" bIns="43503">
            <a:spAutoFit/>
          </a:bodyPr>
          <a:lstStyle/>
          <a:p>
            <a:pPr algn="ctr" defTabSz="4176550">
              <a:spcBef>
                <a:spcPct val="50000"/>
              </a:spcBef>
            </a:pPr>
            <a:r>
              <a:rPr lang="en-US" sz="6600" b="1" dirty="0" err="1" smtClean="0">
                <a:solidFill>
                  <a:schemeClr val="bg1"/>
                </a:solidFill>
              </a:rPr>
              <a:t>Upskilling</a:t>
            </a:r>
            <a:r>
              <a:rPr lang="en-US" sz="6600" b="1" dirty="0" smtClean="0">
                <a:solidFill>
                  <a:schemeClr val="bg1"/>
                </a:solidFill>
              </a:rPr>
              <a:t> in Scholarly Communication Practices</a:t>
            </a:r>
          </a:p>
          <a:p>
            <a:pPr algn="ctr" defTabSz="4176550">
              <a:spcBef>
                <a:spcPct val="50000"/>
              </a:spcBef>
            </a:pPr>
            <a:r>
              <a:rPr lang="en-US" sz="3600" b="1" dirty="0" smtClean="0">
                <a:solidFill>
                  <a:schemeClr val="bg1"/>
                </a:solidFill>
              </a:rPr>
              <a:t>Stephanie Bradbury</a:t>
            </a:r>
          </a:p>
          <a:p>
            <a:pPr algn="ctr" defTabSz="4176550">
              <a:spcBef>
                <a:spcPct val="50000"/>
              </a:spcBef>
            </a:pPr>
            <a:r>
              <a:rPr lang="en-US" sz="3600" b="1" dirty="0" smtClean="0">
                <a:solidFill>
                  <a:schemeClr val="bg1"/>
                </a:solidFill>
              </a:rPr>
              <a:t>Research Support Librarian, Queensland University of Technology, Brisbane, Australia</a:t>
            </a:r>
          </a:p>
          <a:p>
            <a:pPr algn="ctr" defTabSz="4176550">
              <a:spcBef>
                <a:spcPct val="50000"/>
              </a:spcBef>
            </a:pPr>
            <a:endParaRPr lang="en-US" sz="2000" b="1" dirty="0" smtClean="0">
              <a:solidFill>
                <a:schemeClr val="bg1"/>
              </a:solidFill>
              <a:hlinkClick r:id="rId3"/>
            </a:endParaRPr>
          </a:p>
        </p:txBody>
      </p:sp>
      <p:sp>
        <p:nvSpPr>
          <p:cNvPr id="13" name="Text Box 25"/>
          <p:cNvSpPr txBox="1">
            <a:spLocks noChangeArrowheads="1"/>
          </p:cNvSpPr>
          <p:nvPr/>
        </p:nvSpPr>
        <p:spPr bwMode="auto">
          <a:xfrm>
            <a:off x="16508139" y="25508718"/>
            <a:ext cx="12385376" cy="457188"/>
          </a:xfrm>
          <a:prstGeom prst="rect">
            <a:avLst/>
          </a:prstGeom>
          <a:noFill/>
          <a:ln w="9525">
            <a:noFill/>
            <a:miter lim="800000"/>
            <a:headEnd/>
            <a:tailEnd/>
          </a:ln>
          <a:effectLst/>
        </p:spPr>
        <p:txBody>
          <a:bodyPr wrap="square" lIns="87005" tIns="43503" rIns="87005" bIns="43503">
            <a:spAutoFit/>
          </a:bodyPr>
          <a:lstStyle/>
          <a:p>
            <a:pPr defTabSz="4176550">
              <a:spcBef>
                <a:spcPct val="50000"/>
              </a:spcBef>
            </a:pPr>
            <a:r>
              <a:rPr lang="en-US" sz="2400" b="1" dirty="0"/>
              <a:t>Figure </a:t>
            </a:r>
            <a:r>
              <a:rPr lang="en-US" sz="2400" b="1" dirty="0" smtClean="0"/>
              <a:t>4.  Percentages of responses to rating of skills in </a:t>
            </a:r>
            <a:r>
              <a:rPr lang="en-US" sz="2400" b="1" i="1" dirty="0" smtClean="0"/>
              <a:t>publishing in an Open Access journal </a:t>
            </a:r>
            <a:endParaRPr lang="en-US" sz="2400" b="1" i="1" dirty="0"/>
          </a:p>
        </p:txBody>
      </p:sp>
      <p:sp>
        <p:nvSpPr>
          <p:cNvPr id="17" name="Text Box 36"/>
          <p:cNvSpPr txBox="1">
            <a:spLocks noChangeArrowheads="1"/>
          </p:cNvSpPr>
          <p:nvPr/>
        </p:nvSpPr>
        <p:spPr bwMode="auto">
          <a:xfrm>
            <a:off x="1098427" y="16435711"/>
            <a:ext cx="13681520" cy="16617149"/>
          </a:xfrm>
          <a:prstGeom prst="rect">
            <a:avLst/>
          </a:prstGeom>
          <a:noFill/>
          <a:ln w="57150" cmpd="thinThick">
            <a:noFill/>
            <a:miter lim="800000"/>
            <a:headEnd/>
            <a:tailEnd/>
          </a:ln>
          <a:effectLst/>
        </p:spPr>
        <p:txBody>
          <a:bodyPr wrap="square" lIns="58203" tIns="29101" rIns="58203" bIns="29101">
            <a:spAutoFit/>
          </a:bodyPr>
          <a:lstStyle/>
          <a:p>
            <a:r>
              <a:rPr lang="en-AU" sz="2400" dirty="0" smtClean="0">
                <a:cs typeface="Arial" pitchFamily="34" charset="0"/>
              </a:rPr>
              <a:t>In 2009, QUT Library and High Performance Computing and Research Support Group (HPC) undertook two surveys that investigated the eResearch practices and skill levels of QUT </a:t>
            </a:r>
            <a:r>
              <a:rPr lang="en-AU" sz="2400" b="1" i="1" dirty="0" smtClean="0">
                <a:cs typeface="Arial" pitchFamily="34" charset="0"/>
              </a:rPr>
              <a:t>researchers</a:t>
            </a:r>
            <a:r>
              <a:rPr lang="en-AU" sz="2400" dirty="0" smtClean="0">
                <a:cs typeface="Arial" pitchFamily="34" charset="0"/>
              </a:rPr>
              <a:t> and </a:t>
            </a:r>
            <a:r>
              <a:rPr lang="en-AU" sz="2400" b="1" i="1" dirty="0" smtClean="0">
                <a:cs typeface="Arial" pitchFamily="34" charset="0"/>
              </a:rPr>
              <a:t>divisional research support staff</a:t>
            </a:r>
            <a:r>
              <a:rPr lang="en-AU" sz="2400" dirty="0" smtClean="0">
                <a:cs typeface="Arial" pitchFamily="34" charset="0"/>
              </a:rPr>
              <a:t>, including Liaison Librarians.  The surveys, designed as a skills audits, were part of a Building eResearch Capability and Capacity project.   </a:t>
            </a:r>
          </a:p>
          <a:p>
            <a:endParaRPr lang="en-AU" sz="2400" dirty="0" smtClean="0">
              <a:cs typeface="Arial" pitchFamily="34" charset="0"/>
            </a:endParaRPr>
          </a:p>
          <a:p>
            <a:r>
              <a:rPr lang="en-AU" sz="2400" dirty="0" smtClean="0">
                <a:cs typeface="Arial" pitchFamily="34" charset="0"/>
              </a:rPr>
              <a:t>The surveys asked  Researchers to rate how they would describe their skill level in a selection of eResearch practices and Divisional respondents to rate how they would describe their ability to </a:t>
            </a:r>
            <a:r>
              <a:rPr lang="en-AU" sz="2400" b="1" i="1" dirty="0" smtClean="0">
                <a:cs typeface="Arial" pitchFamily="34" charset="0"/>
              </a:rPr>
              <a:t>support researchers </a:t>
            </a:r>
            <a:r>
              <a:rPr lang="en-AU" sz="2400" dirty="0" smtClean="0">
                <a:cs typeface="Arial" pitchFamily="34" charset="0"/>
              </a:rPr>
              <a:t>in the same selection of eResearch practices.  The categories of eResearch skills were identical.  They were:</a:t>
            </a:r>
          </a:p>
          <a:p>
            <a:endParaRPr lang="en-AU" sz="2400" dirty="0" smtClean="0">
              <a:latin typeface="Arial" pitchFamily="34" charset="0"/>
              <a:cs typeface="Arial" pitchFamily="34" charset="0"/>
            </a:endParaRPr>
          </a:p>
          <a:p>
            <a:endParaRPr lang="en-AU" sz="2400" dirty="0" smtClean="0">
              <a:latin typeface="Arial" pitchFamily="34" charset="0"/>
              <a:cs typeface="Arial" pitchFamily="34" charset="0"/>
            </a:endParaRPr>
          </a:p>
          <a:p>
            <a:endParaRPr lang="en-AU" sz="2000" dirty="0" smtClean="0">
              <a:latin typeface="Arial" pitchFamily="34" charset="0"/>
              <a:cs typeface="Arial" pitchFamily="34" charset="0"/>
            </a:endParaRPr>
          </a:p>
          <a:p>
            <a:r>
              <a:rPr lang="en-AU" sz="2400" dirty="0" smtClean="0">
                <a:latin typeface="Arial" pitchFamily="34" charset="0"/>
                <a:cs typeface="Arial" pitchFamily="34" charset="0"/>
              </a:rPr>
              <a:t> </a:t>
            </a:r>
          </a:p>
          <a:p>
            <a:endParaRPr lang="en-AU" sz="2400" dirty="0" smtClean="0">
              <a:latin typeface="Arial" pitchFamily="34" charset="0"/>
              <a:cs typeface="Arial" pitchFamily="34" charset="0"/>
            </a:endParaRPr>
          </a:p>
          <a:p>
            <a:r>
              <a:rPr lang="en-AU" sz="2400" dirty="0" smtClean="0">
                <a:cs typeface="Arial" pitchFamily="34" charset="0"/>
              </a:rPr>
              <a:t>The scale used for the Divisional Research support staff, including Liaison Librarians was:</a:t>
            </a:r>
          </a:p>
          <a:p>
            <a:endParaRPr lang="en-AU" sz="2400" dirty="0" smtClean="0">
              <a:latin typeface="Arial" pitchFamily="34" charset="0"/>
              <a:cs typeface="Arial" pitchFamily="34" charset="0"/>
            </a:endParaRPr>
          </a:p>
          <a:p>
            <a:r>
              <a:rPr lang="en-AU" sz="2400" dirty="0" smtClean="0">
                <a:latin typeface="Arial" pitchFamily="34" charset="0"/>
                <a:cs typeface="Arial" pitchFamily="34" charset="0"/>
              </a:rPr>
              <a:t/>
            </a:r>
            <a:br>
              <a:rPr lang="en-AU" sz="2400" dirty="0" smtClean="0">
                <a:latin typeface="Arial" pitchFamily="34" charset="0"/>
                <a:cs typeface="Arial" pitchFamily="34" charset="0"/>
              </a:rPr>
            </a:br>
            <a:r>
              <a:rPr lang="en-AU" sz="2400" dirty="0" smtClean="0">
                <a:latin typeface="Arial" pitchFamily="34" charset="0"/>
                <a:cs typeface="Arial" pitchFamily="34" charset="0"/>
              </a:rPr>
              <a:t/>
            </a:r>
            <a:br>
              <a:rPr lang="en-AU" sz="2400" dirty="0" smtClean="0">
                <a:latin typeface="Arial" pitchFamily="34" charset="0"/>
                <a:cs typeface="Arial" pitchFamily="34" charset="0"/>
              </a:rPr>
            </a:br>
            <a:r>
              <a:rPr lang="en-AU" sz="2400" dirty="0" smtClean="0">
                <a:cs typeface="Arial" pitchFamily="34" charset="0"/>
              </a:rPr>
              <a:t>The scale used for Researchers was:</a:t>
            </a:r>
          </a:p>
          <a:p>
            <a:endParaRPr lang="en-AU" sz="2400" dirty="0" smtClean="0">
              <a:cs typeface="Arial" pitchFamily="34" charset="0"/>
            </a:endParaRPr>
          </a:p>
          <a:p>
            <a:r>
              <a:rPr lang="en-AU" sz="2400" dirty="0" smtClean="0">
                <a:latin typeface="Arial" pitchFamily="34" charset="0"/>
                <a:cs typeface="Arial" pitchFamily="34" charset="0"/>
              </a:rPr>
              <a:t/>
            </a:r>
            <a:br>
              <a:rPr lang="en-AU" sz="2400" dirty="0" smtClean="0">
                <a:latin typeface="Arial" pitchFamily="34" charset="0"/>
                <a:cs typeface="Arial" pitchFamily="34" charset="0"/>
              </a:rPr>
            </a:br>
            <a:endParaRPr lang="en-AU" sz="2400" dirty="0" smtClean="0">
              <a:latin typeface="Arial" pitchFamily="34" charset="0"/>
              <a:cs typeface="Arial" pitchFamily="34" charset="0"/>
            </a:endParaRPr>
          </a:p>
          <a:p>
            <a:endParaRPr lang="en-AU" sz="2400" dirty="0" smtClean="0">
              <a:cs typeface="Arial" pitchFamily="34" charset="0"/>
            </a:endParaRPr>
          </a:p>
          <a:p>
            <a:r>
              <a:rPr lang="en-AU" sz="2400" dirty="0" smtClean="0">
                <a:cs typeface="Arial" pitchFamily="34" charset="0"/>
              </a:rPr>
              <a:t>The surveys were broad in scope and asked respondents a wide range of questions relating to eResearch practices and how they learn about new advances in the practices, including: </a:t>
            </a:r>
          </a:p>
          <a:p>
            <a:pPr marL="2545415" lvl="1" indent="-457200">
              <a:buAutoNum type="alphaLcParenR"/>
            </a:pPr>
            <a:r>
              <a:rPr lang="en-AU" sz="2400" dirty="0" smtClean="0">
                <a:cs typeface="Arial" pitchFamily="34" charset="0"/>
              </a:rPr>
              <a:t>list their top three eResearch training requirements; </a:t>
            </a:r>
          </a:p>
          <a:p>
            <a:pPr marL="2545415" lvl="1" indent="-457200">
              <a:buAutoNum type="alphaLcParenR"/>
            </a:pPr>
            <a:r>
              <a:rPr lang="en-AU" sz="2400" dirty="0" smtClean="0">
                <a:cs typeface="Arial" pitchFamily="34" charset="0"/>
              </a:rPr>
              <a:t>indicate how they like to learn new technologies.</a:t>
            </a:r>
          </a:p>
          <a:p>
            <a:r>
              <a:rPr lang="en-AU" sz="2400" dirty="0" smtClean="0">
                <a:cs typeface="Arial" pitchFamily="34" charset="0"/>
              </a:rPr>
              <a:t> </a:t>
            </a:r>
          </a:p>
          <a:p>
            <a:r>
              <a:rPr lang="en-AU" sz="2400" dirty="0" smtClean="0">
                <a:cs typeface="Arial" pitchFamily="34" charset="0"/>
              </a:rPr>
              <a:t>The survey was open for two weeks and a coffee voucher was offered as an incentive for staff members and researchers to complete it.  73 staff members completed the survey, of which 24 were Liaison Librarians (n=24).   254 researchers completed the survey (n=254) of which 33.1% (n=84) were higher degree research students.</a:t>
            </a:r>
          </a:p>
          <a:p>
            <a:endParaRPr lang="en-AU" sz="2400" dirty="0" smtClean="0">
              <a:cs typeface="Arial" pitchFamily="34" charset="0"/>
            </a:endParaRPr>
          </a:p>
          <a:p>
            <a:r>
              <a:rPr lang="en-AU" sz="2400" dirty="0" smtClean="0">
                <a:cs typeface="Arial" pitchFamily="34" charset="0"/>
              </a:rPr>
              <a:t>Nine practices of scholarly communication were included in the survey.  The question was presented as:</a:t>
            </a:r>
          </a:p>
          <a:p>
            <a:endParaRPr lang="en-AU" sz="2400" dirty="0" smtClean="0">
              <a:cs typeface="Arial" pitchFamily="34" charset="0"/>
            </a:endParaRPr>
          </a:p>
          <a:p>
            <a:pPr lvl="1"/>
            <a:r>
              <a:rPr lang="en-AU" sz="2000" dirty="0" smtClean="0">
                <a:latin typeface="Times New Roman" pitchFamily="18" charset="0"/>
                <a:cs typeface="Times New Roman" pitchFamily="18" charset="0"/>
              </a:rPr>
              <a:t>How would you describe your ability to support researcher in scholarly communication practices of:</a:t>
            </a:r>
            <a:br>
              <a:rPr lang="en-AU" sz="2000" dirty="0" smtClean="0">
                <a:latin typeface="Times New Roman" pitchFamily="18" charset="0"/>
                <a:cs typeface="Times New Roman" pitchFamily="18" charset="0"/>
              </a:rPr>
            </a:br>
            <a:endParaRPr lang="en-AU" sz="2000" dirty="0" smtClean="0">
              <a:latin typeface="Times New Roman" pitchFamily="18" charset="0"/>
              <a:cs typeface="Times New Roman" pitchFamily="18" charset="0"/>
            </a:endParaRPr>
          </a:p>
          <a:p>
            <a:pPr marL="2545415" lvl="1" indent="-457200">
              <a:buAutoNum type="alphaLcParenR"/>
            </a:pPr>
            <a:r>
              <a:rPr lang="en-AU" sz="2000" b="1" i="1" dirty="0" smtClean="0">
                <a:latin typeface="Times New Roman" pitchFamily="18" charset="0"/>
                <a:cs typeface="Times New Roman" pitchFamily="18" charset="0"/>
              </a:rPr>
              <a:t>Managing copyright in relation to publishing (e.g. negotiating publisher agreements)</a:t>
            </a:r>
          </a:p>
          <a:p>
            <a:pPr marL="2545415" lvl="1" indent="-457200">
              <a:buAutoNum type="alphaLcParenR"/>
            </a:pPr>
            <a:r>
              <a:rPr lang="en-AU" sz="2000" b="1" i="1" dirty="0" smtClean="0">
                <a:latin typeface="Times New Roman" pitchFamily="18" charset="0"/>
                <a:cs typeface="Times New Roman" pitchFamily="18" charset="0"/>
              </a:rPr>
              <a:t>Depositing the </a:t>
            </a:r>
            <a:r>
              <a:rPr lang="en-AU" sz="2000" b="1" i="1" dirty="0" err="1" smtClean="0">
                <a:latin typeface="Times New Roman" pitchFamily="18" charset="0"/>
                <a:cs typeface="Times New Roman" pitchFamily="18" charset="0"/>
              </a:rPr>
              <a:t>fulltext</a:t>
            </a:r>
            <a:r>
              <a:rPr lang="en-AU" sz="2000" b="1" i="1" dirty="0" smtClean="0">
                <a:latin typeface="Times New Roman" pitchFamily="18" charset="0"/>
                <a:cs typeface="Times New Roman" pitchFamily="18" charset="0"/>
              </a:rPr>
              <a:t> of a manuscript into QUT </a:t>
            </a:r>
            <a:r>
              <a:rPr lang="en-AU" sz="2000" b="1" i="1" dirty="0" err="1" smtClean="0">
                <a:latin typeface="Times New Roman" pitchFamily="18" charset="0"/>
                <a:cs typeface="Times New Roman" pitchFamily="18" charset="0"/>
              </a:rPr>
              <a:t>ePrints</a:t>
            </a:r>
            <a:endParaRPr lang="en-AU" sz="2000" b="1" i="1" dirty="0" smtClean="0">
              <a:latin typeface="Times New Roman" pitchFamily="18" charset="0"/>
              <a:cs typeface="Times New Roman" pitchFamily="18" charset="0"/>
            </a:endParaRPr>
          </a:p>
          <a:p>
            <a:pPr marL="2545415" lvl="1" indent="-457200">
              <a:buAutoNum type="alphaLcParenR"/>
            </a:pPr>
            <a:r>
              <a:rPr lang="en-AU" sz="2000" b="1" i="1" dirty="0" smtClean="0">
                <a:latin typeface="Times New Roman" pitchFamily="18" charset="0"/>
                <a:cs typeface="Times New Roman" pitchFamily="18" charset="0"/>
              </a:rPr>
              <a:t>Publishing in an open access journal</a:t>
            </a:r>
          </a:p>
          <a:p>
            <a:pPr marL="2545415" lvl="1" indent="-457200">
              <a:buAutoNum type="alphaLcParenR"/>
            </a:pPr>
            <a:r>
              <a:rPr lang="en-AU" sz="2000" b="1" i="1" dirty="0" smtClean="0">
                <a:latin typeface="Times New Roman" pitchFamily="18" charset="0"/>
                <a:cs typeface="Times New Roman" pitchFamily="18" charset="0"/>
              </a:rPr>
              <a:t>Publishing work with a creative commons License</a:t>
            </a:r>
          </a:p>
          <a:p>
            <a:pPr marL="2545415" lvl="1" indent="-457200">
              <a:buAutoNum type="alphaLcParenR"/>
            </a:pPr>
            <a:r>
              <a:rPr lang="en-AU" sz="2000" dirty="0" smtClean="0">
                <a:latin typeface="Times New Roman" pitchFamily="18" charset="0"/>
                <a:cs typeface="Times New Roman" pitchFamily="18" charset="0"/>
              </a:rPr>
              <a:t>Managing references using EndNote</a:t>
            </a:r>
          </a:p>
          <a:p>
            <a:pPr marL="2545415" lvl="1" indent="-457200">
              <a:buAutoNum type="alphaLcParenR"/>
            </a:pPr>
            <a:r>
              <a:rPr lang="en-AU" sz="2000" dirty="0" smtClean="0">
                <a:latin typeface="Times New Roman" pitchFamily="18" charset="0"/>
                <a:cs typeface="Times New Roman" pitchFamily="18" charset="0"/>
              </a:rPr>
              <a:t>Managing references using software other than EndNote (e.g. </a:t>
            </a:r>
            <a:r>
              <a:rPr lang="en-AU" sz="2000" dirty="0" err="1" smtClean="0">
                <a:latin typeface="Times New Roman" pitchFamily="18" charset="0"/>
                <a:cs typeface="Times New Roman" pitchFamily="18" charset="0"/>
              </a:rPr>
              <a:t>Zotero</a:t>
            </a:r>
            <a:r>
              <a:rPr lang="en-AU" sz="2000" dirty="0" smtClean="0">
                <a:latin typeface="Times New Roman" pitchFamily="18" charset="0"/>
                <a:cs typeface="Times New Roman" pitchFamily="18" charset="0"/>
              </a:rPr>
              <a:t>, </a:t>
            </a:r>
            <a:r>
              <a:rPr lang="en-AU" sz="2000" dirty="0" err="1" smtClean="0">
                <a:latin typeface="Times New Roman" pitchFamily="18" charset="0"/>
                <a:cs typeface="Times New Roman" pitchFamily="18" charset="0"/>
              </a:rPr>
              <a:t>BibTex</a:t>
            </a:r>
            <a:r>
              <a:rPr lang="en-AU" sz="2000" dirty="0" smtClean="0">
                <a:latin typeface="Times New Roman" pitchFamily="18" charset="0"/>
                <a:cs typeface="Times New Roman" pitchFamily="18" charset="0"/>
              </a:rPr>
              <a:t>)</a:t>
            </a:r>
          </a:p>
          <a:p>
            <a:pPr marL="2545415" lvl="1" indent="-457200">
              <a:buAutoNum type="alphaLcParenR"/>
            </a:pPr>
            <a:r>
              <a:rPr lang="en-AU" sz="2000" dirty="0" smtClean="0">
                <a:latin typeface="Times New Roman" pitchFamily="18" charset="0"/>
                <a:cs typeface="Times New Roman" pitchFamily="18" charset="0"/>
              </a:rPr>
              <a:t>Calculating bibliometric indicators that measure research impact (e.g. </a:t>
            </a:r>
            <a:r>
              <a:rPr lang="en-AU" sz="2000" i="1" dirty="0" smtClean="0">
                <a:latin typeface="Times New Roman" pitchFamily="18" charset="0"/>
                <a:cs typeface="Times New Roman" pitchFamily="18" charset="0"/>
              </a:rPr>
              <a:t>h</a:t>
            </a:r>
            <a:r>
              <a:rPr lang="en-AU" sz="2000" dirty="0" smtClean="0">
                <a:latin typeface="Times New Roman" pitchFamily="18" charset="0"/>
                <a:cs typeface="Times New Roman" pitchFamily="18" charset="0"/>
              </a:rPr>
              <a:t>-index)</a:t>
            </a:r>
          </a:p>
          <a:p>
            <a:pPr marL="2545415" lvl="1" indent="-457200">
              <a:buAutoNum type="alphaLcParenR"/>
            </a:pPr>
            <a:r>
              <a:rPr lang="en-AU" sz="2000" dirty="0" smtClean="0">
                <a:latin typeface="Times New Roman" pitchFamily="18" charset="0"/>
                <a:cs typeface="Times New Roman" pitchFamily="18" charset="0"/>
              </a:rPr>
              <a:t>Citing a dataset in a publication</a:t>
            </a:r>
          </a:p>
          <a:p>
            <a:endParaRPr lang="en-AU" sz="2400" dirty="0" smtClean="0">
              <a:cs typeface="Arial" pitchFamily="34" charset="0"/>
            </a:endParaRPr>
          </a:p>
          <a:p>
            <a:r>
              <a:rPr lang="en-AU" sz="2400" dirty="0" smtClean="0">
                <a:cs typeface="Arial" pitchFamily="34" charset="0"/>
              </a:rPr>
              <a:t>This poster focuses on the survey results of Liaison Librarians  and researchers to </a:t>
            </a:r>
            <a:r>
              <a:rPr lang="en-AU" sz="2400" b="1" dirty="0" smtClean="0">
                <a:cs typeface="Arial" pitchFamily="34" charset="0"/>
              </a:rPr>
              <a:t>the first four Scholarly Communication practices listed above (a-d).</a:t>
            </a:r>
            <a:endParaRPr lang="en-US" sz="2300" b="1" dirty="0">
              <a:latin typeface="Times New Roman" pitchFamily="18" charset="0"/>
            </a:endParaRPr>
          </a:p>
        </p:txBody>
      </p:sp>
      <p:sp>
        <p:nvSpPr>
          <p:cNvPr id="18" name="Text Box 38"/>
          <p:cNvSpPr txBox="1">
            <a:spLocks noChangeArrowheads="1"/>
          </p:cNvSpPr>
          <p:nvPr/>
        </p:nvSpPr>
        <p:spPr bwMode="auto">
          <a:xfrm>
            <a:off x="16364123" y="37318030"/>
            <a:ext cx="12606984" cy="1742308"/>
          </a:xfrm>
          <a:prstGeom prst="rect">
            <a:avLst/>
          </a:prstGeom>
          <a:noFill/>
          <a:ln w="57150" cmpd="thinThick">
            <a:noFill/>
            <a:miter lim="800000"/>
            <a:headEnd/>
            <a:tailEnd/>
          </a:ln>
          <a:effectLst/>
        </p:spPr>
        <p:txBody>
          <a:bodyPr wrap="square" lIns="58203" tIns="29101" rIns="58203" bIns="29101">
            <a:spAutoFit/>
          </a:bodyPr>
          <a:lstStyle/>
          <a:p>
            <a:pPr marL="326269" indent="-326269" defTabSz="583055" eaLnBrk="0" hangingPunct="0">
              <a:lnSpc>
                <a:spcPct val="95000"/>
              </a:lnSpc>
            </a:pPr>
            <a:r>
              <a:rPr lang="en-US" sz="1200" b="1" dirty="0" smtClean="0"/>
              <a:t>Photography Acknowledgements</a:t>
            </a:r>
            <a:endParaRPr lang="en-US" sz="1200" b="1" dirty="0" smtClean="0">
              <a:cs typeface="Arial" pitchFamily="34" charset="0"/>
            </a:endParaRPr>
          </a:p>
          <a:p>
            <a:pPr marL="514350" lvl="0" indent="-514350">
              <a:buFont typeface="+mj-lt"/>
              <a:buAutoNum type="arabicPeriod"/>
            </a:pPr>
            <a:r>
              <a:rPr lang="en-AU" sz="1200" dirty="0" smtClean="0">
                <a:cs typeface="Arial" pitchFamily="34" charset="0"/>
              </a:rPr>
              <a:t>Monkyc.net. (2006). </a:t>
            </a:r>
            <a:r>
              <a:rPr lang="en-AU" sz="1200" u="sng" dirty="0" smtClean="0">
                <a:cs typeface="Arial" pitchFamily="34" charset="0"/>
                <a:hlinkClick r:id="rId4"/>
              </a:rPr>
              <a:t>http://www.flickr.com/photos/monkeyc/136375121</a:t>
            </a:r>
            <a:r>
              <a:rPr lang="en-AU" sz="1200" dirty="0" smtClean="0">
                <a:cs typeface="Arial" pitchFamily="34" charset="0"/>
              </a:rPr>
              <a:t> </a:t>
            </a:r>
          </a:p>
          <a:p>
            <a:pPr marL="514350" lvl="0" indent="-514350">
              <a:buFont typeface="+mj-lt"/>
              <a:buAutoNum type="arabicPeriod"/>
            </a:pPr>
            <a:r>
              <a:rPr lang="en-AU" sz="1200" dirty="0" smtClean="0">
                <a:cs typeface="Arial" pitchFamily="34" charset="0"/>
              </a:rPr>
              <a:t>Kraal, B. (2010). </a:t>
            </a:r>
            <a:r>
              <a:rPr lang="en-AU" sz="1200" u="sng" dirty="0" smtClean="0">
                <a:cs typeface="Arial" pitchFamily="34" charset="0"/>
                <a:hlinkClick r:id="rId5"/>
              </a:rPr>
              <a:t>http://www.flickr.com/photos/newnowknowhow/4701363903/</a:t>
            </a:r>
            <a:endParaRPr lang="en-AU" sz="1200" dirty="0" smtClean="0">
              <a:cs typeface="Arial" pitchFamily="34" charset="0"/>
            </a:endParaRPr>
          </a:p>
          <a:p>
            <a:pPr marL="514350" lvl="0" indent="-514350">
              <a:buFont typeface="+mj-lt"/>
              <a:buAutoNum type="arabicPeriod"/>
            </a:pPr>
            <a:r>
              <a:rPr lang="en-AU" sz="1200" dirty="0" smtClean="0">
                <a:cs typeface="Arial" pitchFamily="34" charset="0"/>
              </a:rPr>
              <a:t>Dalziel_86. (2006). </a:t>
            </a:r>
            <a:r>
              <a:rPr lang="en-AU" sz="1200" u="sng" dirty="0" smtClean="0">
                <a:cs typeface="Arial" pitchFamily="34" charset="0"/>
                <a:hlinkClick r:id="rId6"/>
              </a:rPr>
              <a:t>http://www.flickr.com/photos/dalziel_86/81463031/</a:t>
            </a:r>
            <a:r>
              <a:rPr lang="en-AU" sz="1200" dirty="0" smtClean="0">
                <a:cs typeface="Arial" pitchFamily="34" charset="0"/>
              </a:rPr>
              <a:t> </a:t>
            </a:r>
          </a:p>
          <a:p>
            <a:pPr marL="514350" lvl="0" indent="-514350">
              <a:buFont typeface="+mj-lt"/>
              <a:buAutoNum type="arabicPeriod"/>
            </a:pPr>
            <a:r>
              <a:rPr lang="en-AU" sz="1200" dirty="0" err="1" smtClean="0">
                <a:cs typeface="Arial" pitchFamily="34" charset="0"/>
              </a:rPr>
              <a:t>Jackmanson</a:t>
            </a:r>
            <a:r>
              <a:rPr lang="en-AU" sz="1200" dirty="0" smtClean="0">
                <a:cs typeface="Arial" pitchFamily="34" charset="0"/>
              </a:rPr>
              <a:t>, D. (2007). </a:t>
            </a:r>
            <a:r>
              <a:rPr lang="en-AU" sz="1200" u="sng" dirty="0" smtClean="0">
                <a:cs typeface="Arial" pitchFamily="34" charset="0"/>
                <a:hlinkClick r:id="rId7"/>
              </a:rPr>
              <a:t>http://www.flickr.com/photos/djackmanson/470738012</a:t>
            </a:r>
            <a:r>
              <a:rPr lang="en-AU" sz="1200" dirty="0" smtClean="0">
                <a:cs typeface="Arial" pitchFamily="34" charset="0"/>
              </a:rPr>
              <a:t> </a:t>
            </a:r>
          </a:p>
          <a:p>
            <a:pPr marL="514350" lvl="0" indent="-514350">
              <a:buFont typeface="+mj-lt"/>
              <a:buAutoNum type="arabicPeriod"/>
            </a:pPr>
            <a:r>
              <a:rPr lang="en-AU" sz="1200" dirty="0" err="1" smtClean="0">
                <a:cs typeface="Arial" pitchFamily="34" charset="0"/>
              </a:rPr>
              <a:t>Creativecommons</a:t>
            </a:r>
            <a:r>
              <a:rPr lang="en-AU" sz="1200" dirty="0" smtClean="0">
                <a:cs typeface="Arial" pitchFamily="34" charset="0"/>
              </a:rPr>
              <a:t>. (2007). </a:t>
            </a:r>
            <a:r>
              <a:rPr lang="en-AU" sz="1200" u="sng" dirty="0" smtClean="0">
                <a:cs typeface="Arial" pitchFamily="34" charset="0"/>
                <a:hlinkClick r:id="rId8"/>
              </a:rPr>
              <a:t>http://www.flickr.com/photos/creativecommons/559937689</a:t>
            </a:r>
            <a:endParaRPr lang="en-AU" sz="1200" dirty="0" smtClean="0">
              <a:cs typeface="Arial" pitchFamily="34" charset="0"/>
            </a:endParaRPr>
          </a:p>
          <a:p>
            <a:pPr marL="514350" lvl="0" indent="-514350">
              <a:buFont typeface="+mj-lt"/>
              <a:buAutoNum type="arabicPeriod"/>
            </a:pPr>
            <a:r>
              <a:rPr lang="en-AU" sz="1200" dirty="0" smtClean="0">
                <a:cs typeface="Arial" pitchFamily="34" charset="0"/>
              </a:rPr>
              <a:t>Baker, C. (2009). </a:t>
            </a:r>
            <a:r>
              <a:rPr lang="en-AU" sz="1200" u="sng" dirty="0" smtClean="0">
                <a:cs typeface="Arial" pitchFamily="34" charset="0"/>
                <a:hlinkClick r:id="rId9"/>
              </a:rPr>
              <a:t>http://www.flickr.com/photos/monitors/3559652912</a:t>
            </a:r>
            <a:endParaRPr lang="en-AU" sz="1200" dirty="0" smtClean="0">
              <a:cs typeface="Arial" pitchFamily="34" charset="0"/>
            </a:endParaRPr>
          </a:p>
          <a:p>
            <a:pPr marL="514350" lvl="0" indent="-514350">
              <a:buFont typeface="+mj-lt"/>
              <a:buAutoNum type="arabicPeriod"/>
            </a:pPr>
            <a:r>
              <a:rPr lang="en-AU" sz="1200" dirty="0" smtClean="0">
                <a:cs typeface="Arial" pitchFamily="34" charset="0"/>
              </a:rPr>
              <a:t>S13_eisbaer. (2010). </a:t>
            </a:r>
            <a:r>
              <a:rPr lang="en-AU" sz="1200" u="sng" dirty="0" smtClean="0">
                <a:cs typeface="Arial" pitchFamily="34" charset="0"/>
                <a:hlinkClick r:id="rId10"/>
              </a:rPr>
              <a:t>http://www.flickr.com/photos/s13_eisbaer/4261259811/</a:t>
            </a:r>
            <a:r>
              <a:rPr lang="en-AU" sz="1200" dirty="0" smtClean="0">
                <a:cs typeface="Arial" pitchFamily="34" charset="0"/>
              </a:rPr>
              <a:t>  </a:t>
            </a:r>
          </a:p>
          <a:p>
            <a:pPr marL="514350" lvl="0" indent="-514350">
              <a:buFont typeface="+mj-lt"/>
              <a:buAutoNum type="arabicPeriod"/>
            </a:pPr>
            <a:r>
              <a:rPr lang="en-US" sz="1200" dirty="0" err="1" smtClean="0"/>
              <a:t>haikugirlOz</a:t>
            </a:r>
            <a:r>
              <a:rPr lang="en-US" sz="1200" dirty="0" smtClean="0"/>
              <a:t> (2010). </a:t>
            </a:r>
            <a:r>
              <a:rPr lang="en-US" sz="1200" dirty="0" smtClean="0">
                <a:hlinkClick r:id="rId11"/>
              </a:rPr>
              <a:t>http://www.flickr.com/photos/angels_have_the_phone_box/4947544618</a:t>
            </a:r>
            <a:r>
              <a:rPr lang="en-US" sz="1400" dirty="0" smtClean="0">
                <a:hlinkClick r:id="rId11"/>
              </a:rPr>
              <a:t>/</a:t>
            </a:r>
            <a:r>
              <a:rPr lang="en-US" sz="1400" dirty="0" smtClean="0"/>
              <a:t> </a:t>
            </a:r>
            <a:endParaRPr lang="en-US" sz="1400" dirty="0"/>
          </a:p>
        </p:txBody>
      </p:sp>
      <p:sp>
        <p:nvSpPr>
          <p:cNvPr id="19" name="Text Box 39"/>
          <p:cNvSpPr txBox="1">
            <a:spLocks noChangeArrowheads="1"/>
          </p:cNvSpPr>
          <p:nvPr/>
        </p:nvSpPr>
        <p:spPr bwMode="auto">
          <a:xfrm>
            <a:off x="954411" y="34221686"/>
            <a:ext cx="13537504" cy="4826999"/>
          </a:xfrm>
          <a:prstGeom prst="rect">
            <a:avLst/>
          </a:prstGeom>
          <a:noFill/>
          <a:ln w="57150" cmpd="thinThick">
            <a:noFill/>
            <a:miter lim="800000"/>
            <a:headEnd/>
            <a:tailEnd/>
          </a:ln>
          <a:effectLst/>
        </p:spPr>
        <p:txBody>
          <a:bodyPr wrap="square" lIns="58203" tIns="29101" rIns="58203" bIns="29101">
            <a:spAutoFit/>
          </a:bodyPr>
          <a:lstStyle/>
          <a:p>
            <a:pPr algn="l" defTabSz="583055" eaLnBrk="0" hangingPunct="0"/>
            <a:r>
              <a:rPr lang="en-US" sz="2400" dirty="0" smtClean="0"/>
              <a:t>To present a clearer picture of skill levels, the rating results were combined as below and percentages presented in Figures 1-4.  Divisional Research Support staff ratings of “Awareness only” and “Aware: Can refer for further help” were combined.  As well as “Competent” and “Advanced Skills”.</a:t>
            </a:r>
          </a:p>
          <a:p>
            <a:pPr algn="l" defTabSz="583055" eaLnBrk="0" hangingPunct="0"/>
            <a:endParaRPr lang="en-US" sz="2400" dirty="0" smtClean="0"/>
          </a:p>
          <a:p>
            <a:pPr algn="l" defTabSz="583055" eaLnBrk="0" hangingPunct="0"/>
            <a:endParaRPr lang="en-US" sz="2400" dirty="0" smtClean="0"/>
          </a:p>
          <a:p>
            <a:pPr algn="l" defTabSz="583055" eaLnBrk="0" hangingPunct="0"/>
            <a:endParaRPr lang="en-US" sz="2400" dirty="0" smtClean="0"/>
          </a:p>
          <a:p>
            <a:pPr algn="l" defTabSz="583055" eaLnBrk="0" hangingPunct="0"/>
            <a:endParaRPr lang="en-US" sz="2400" dirty="0" smtClean="0"/>
          </a:p>
          <a:p>
            <a:pPr defTabSz="583055" eaLnBrk="0" hangingPunct="0"/>
            <a:r>
              <a:rPr lang="en-US" sz="2400" dirty="0" smtClean="0"/>
              <a:t>And Researchers’ ratings of “Not applicable to my research” and “Unaware” were combined. As well as “Competent” and “Advanced Skills”.</a:t>
            </a:r>
          </a:p>
          <a:p>
            <a:pPr algn="l" defTabSz="583055" eaLnBrk="0" hangingPunct="0"/>
            <a:endParaRPr lang="en-US" sz="2400" dirty="0" smtClean="0"/>
          </a:p>
          <a:p>
            <a:pPr algn="l" defTabSz="583055" eaLnBrk="0" hangingPunct="0"/>
            <a:endParaRPr lang="en-US" sz="2400" dirty="0" smtClean="0"/>
          </a:p>
          <a:p>
            <a:pPr algn="l" defTabSz="583055" eaLnBrk="0" hangingPunct="0"/>
            <a:r>
              <a:rPr lang="en-US" sz="2400" dirty="0" smtClean="0"/>
              <a:t>  </a:t>
            </a:r>
            <a:endParaRPr lang="en-US" sz="2400" b="1" dirty="0"/>
          </a:p>
          <a:p>
            <a:pPr algn="l" defTabSz="583055" eaLnBrk="0" hangingPunct="0">
              <a:lnSpc>
                <a:spcPct val="95000"/>
              </a:lnSpc>
            </a:pPr>
            <a:endParaRPr lang="en-US" sz="2300" dirty="0">
              <a:latin typeface="Times New Roman" pitchFamily="18" charset="0"/>
            </a:endParaRPr>
          </a:p>
        </p:txBody>
      </p:sp>
      <p:sp>
        <p:nvSpPr>
          <p:cNvPr id="21" name="Text Box 42"/>
          <p:cNvSpPr txBox="1">
            <a:spLocks noChangeArrowheads="1"/>
          </p:cNvSpPr>
          <p:nvPr/>
        </p:nvSpPr>
        <p:spPr bwMode="auto">
          <a:xfrm>
            <a:off x="3906739" y="5922542"/>
            <a:ext cx="6781453" cy="918852"/>
          </a:xfrm>
          <a:prstGeom prst="rect">
            <a:avLst/>
          </a:prstGeom>
          <a:noFill/>
          <a:ln w="9525">
            <a:noFill/>
            <a:miter lim="800000"/>
            <a:headEnd/>
            <a:tailEnd/>
          </a:ln>
          <a:effectLst/>
        </p:spPr>
        <p:txBody>
          <a:bodyPr lIns="87005" tIns="43503" rIns="87005" bIns="43503">
            <a:spAutoFit/>
          </a:bodyPr>
          <a:lstStyle/>
          <a:p>
            <a:pPr algn="ctr" defTabSz="4176550">
              <a:spcBef>
                <a:spcPct val="50000"/>
              </a:spcBef>
            </a:pPr>
            <a:r>
              <a:rPr lang="en-US" sz="5400" b="1" dirty="0"/>
              <a:t>Introduction</a:t>
            </a:r>
          </a:p>
        </p:txBody>
      </p:sp>
      <p:pic>
        <p:nvPicPr>
          <p:cNvPr id="24" name="Picture 23" descr="qut_logo.JPG"/>
          <p:cNvPicPr>
            <a:picLocks noChangeAspect="1"/>
          </p:cNvPicPr>
          <p:nvPr/>
        </p:nvPicPr>
        <p:blipFill>
          <a:blip r:embed="rId12" cstate="print"/>
          <a:stretch>
            <a:fillRect/>
          </a:stretch>
        </p:blipFill>
        <p:spPr>
          <a:xfrm>
            <a:off x="1386459" y="1674070"/>
            <a:ext cx="2808312" cy="2808312"/>
          </a:xfrm>
          <a:prstGeom prst="rect">
            <a:avLst/>
          </a:prstGeom>
        </p:spPr>
      </p:pic>
      <p:sp>
        <p:nvSpPr>
          <p:cNvPr id="26" name="Text Box 43"/>
          <p:cNvSpPr txBox="1">
            <a:spLocks noChangeArrowheads="1"/>
          </p:cNvSpPr>
          <p:nvPr/>
        </p:nvSpPr>
        <p:spPr bwMode="auto">
          <a:xfrm>
            <a:off x="3690715" y="33141566"/>
            <a:ext cx="6781453" cy="918852"/>
          </a:xfrm>
          <a:prstGeom prst="rect">
            <a:avLst/>
          </a:prstGeom>
          <a:noFill/>
          <a:ln w="9525">
            <a:noFill/>
            <a:miter lim="800000"/>
            <a:headEnd/>
            <a:tailEnd/>
          </a:ln>
          <a:effectLst/>
        </p:spPr>
        <p:txBody>
          <a:bodyPr lIns="87005" tIns="43503" rIns="87005" bIns="43503">
            <a:spAutoFit/>
          </a:bodyPr>
          <a:lstStyle/>
          <a:p>
            <a:pPr algn="ctr" defTabSz="4176550">
              <a:spcBef>
                <a:spcPct val="50000"/>
              </a:spcBef>
            </a:pPr>
            <a:r>
              <a:rPr lang="en-US" sz="5400" b="1" dirty="0"/>
              <a:t>Results</a:t>
            </a:r>
          </a:p>
        </p:txBody>
      </p:sp>
      <p:sp>
        <p:nvSpPr>
          <p:cNvPr id="28" name="Text Box 19"/>
          <p:cNvSpPr txBox="1">
            <a:spLocks noChangeArrowheads="1"/>
          </p:cNvSpPr>
          <p:nvPr/>
        </p:nvSpPr>
        <p:spPr bwMode="auto">
          <a:xfrm>
            <a:off x="16436131" y="15571614"/>
            <a:ext cx="12313368" cy="457188"/>
          </a:xfrm>
          <a:prstGeom prst="rect">
            <a:avLst/>
          </a:prstGeom>
          <a:noFill/>
          <a:ln w="9525">
            <a:noFill/>
            <a:miter lim="800000"/>
            <a:headEnd/>
            <a:tailEnd/>
          </a:ln>
          <a:effectLst/>
        </p:spPr>
        <p:txBody>
          <a:bodyPr wrap="square" lIns="87005" tIns="43503" rIns="87005" bIns="43503">
            <a:spAutoFit/>
          </a:bodyPr>
          <a:lstStyle/>
          <a:p>
            <a:pPr defTabSz="4176550">
              <a:spcBef>
                <a:spcPct val="50000"/>
              </a:spcBef>
            </a:pPr>
            <a:r>
              <a:rPr lang="en-US" sz="2400" b="1" dirty="0"/>
              <a:t>Figure </a:t>
            </a:r>
            <a:r>
              <a:rPr lang="en-US" sz="2400" b="1" dirty="0" smtClean="0"/>
              <a:t>2.  Percentages of responses to rating of skills in </a:t>
            </a:r>
            <a:r>
              <a:rPr lang="en-US" sz="2400" b="1" i="1" dirty="0" smtClean="0"/>
              <a:t>depositing the </a:t>
            </a:r>
            <a:r>
              <a:rPr lang="en-US" sz="2400" b="1" i="1" dirty="0" err="1" smtClean="0"/>
              <a:t>fulltext</a:t>
            </a:r>
            <a:r>
              <a:rPr lang="en-US" sz="2400" b="1" i="1" dirty="0" smtClean="0"/>
              <a:t>  into QUT </a:t>
            </a:r>
            <a:r>
              <a:rPr lang="en-US" sz="2400" b="1" i="1" dirty="0" err="1" smtClean="0"/>
              <a:t>ePrints</a:t>
            </a:r>
            <a:endParaRPr lang="en-US" sz="2400" b="1" i="1" dirty="0"/>
          </a:p>
        </p:txBody>
      </p:sp>
      <p:sp>
        <p:nvSpPr>
          <p:cNvPr id="32" name="Text Box 19"/>
          <p:cNvSpPr txBox="1">
            <a:spLocks noChangeArrowheads="1"/>
          </p:cNvSpPr>
          <p:nvPr/>
        </p:nvSpPr>
        <p:spPr bwMode="auto">
          <a:xfrm>
            <a:off x="16508139" y="20612174"/>
            <a:ext cx="12385376" cy="457188"/>
          </a:xfrm>
          <a:prstGeom prst="rect">
            <a:avLst/>
          </a:prstGeom>
          <a:noFill/>
          <a:ln w="9525">
            <a:noFill/>
            <a:miter lim="800000"/>
            <a:headEnd/>
            <a:tailEnd/>
          </a:ln>
          <a:effectLst/>
        </p:spPr>
        <p:txBody>
          <a:bodyPr wrap="square" lIns="87005" tIns="43503" rIns="87005" bIns="43503">
            <a:spAutoFit/>
          </a:bodyPr>
          <a:lstStyle/>
          <a:p>
            <a:pPr defTabSz="4176550">
              <a:spcBef>
                <a:spcPct val="50000"/>
              </a:spcBef>
            </a:pPr>
            <a:r>
              <a:rPr lang="en-US" sz="2400" b="1" dirty="0"/>
              <a:t>Figure </a:t>
            </a:r>
            <a:r>
              <a:rPr lang="en-US" sz="2400" b="1" dirty="0" smtClean="0"/>
              <a:t>3. Percentages of responses to rating of skills in </a:t>
            </a:r>
            <a:r>
              <a:rPr lang="en-US" sz="2400" b="1" i="1" dirty="0" smtClean="0"/>
              <a:t>applying Creative Commons License</a:t>
            </a:r>
            <a:endParaRPr lang="en-US" sz="2400" b="1" i="1" dirty="0"/>
          </a:p>
        </p:txBody>
      </p:sp>
      <p:pic>
        <p:nvPicPr>
          <p:cNvPr id="1029" name="Picture 5"/>
          <p:cNvPicPr>
            <a:picLocks noChangeAspect="1" noChangeArrowheads="1"/>
          </p:cNvPicPr>
          <p:nvPr/>
        </p:nvPicPr>
        <p:blipFill>
          <a:blip r:embed="rId13" cstate="print"/>
          <a:srcRect/>
          <a:stretch>
            <a:fillRect/>
          </a:stretch>
        </p:blipFill>
        <p:spPr bwMode="auto">
          <a:xfrm>
            <a:off x="0" y="39982326"/>
            <a:ext cx="3654073" cy="2826198"/>
          </a:xfrm>
          <a:prstGeom prst="rect">
            <a:avLst/>
          </a:prstGeom>
          <a:noFill/>
          <a:ln w="9525">
            <a:noFill/>
            <a:miter lim="800000"/>
            <a:headEnd/>
            <a:tailEnd/>
          </a:ln>
        </p:spPr>
      </p:pic>
      <p:pic>
        <p:nvPicPr>
          <p:cNvPr id="1030" name="Picture 6"/>
          <p:cNvPicPr>
            <a:picLocks noChangeAspect="1" noChangeArrowheads="1"/>
          </p:cNvPicPr>
          <p:nvPr/>
        </p:nvPicPr>
        <p:blipFill>
          <a:blip r:embed="rId14" cstate="print"/>
          <a:srcRect/>
          <a:stretch>
            <a:fillRect/>
          </a:stretch>
        </p:blipFill>
        <p:spPr bwMode="auto">
          <a:xfrm>
            <a:off x="7363123" y="39982326"/>
            <a:ext cx="3824628" cy="2826197"/>
          </a:xfrm>
          <a:prstGeom prst="rect">
            <a:avLst/>
          </a:prstGeom>
          <a:noFill/>
          <a:ln w="9525">
            <a:noFill/>
            <a:miter lim="800000"/>
            <a:headEnd/>
            <a:tailEnd/>
          </a:ln>
        </p:spPr>
      </p:pic>
      <p:pic>
        <p:nvPicPr>
          <p:cNvPr id="1033" name="Picture 9"/>
          <p:cNvPicPr>
            <a:picLocks noChangeAspect="1" noChangeArrowheads="1"/>
          </p:cNvPicPr>
          <p:nvPr/>
        </p:nvPicPr>
        <p:blipFill>
          <a:blip r:embed="rId15" cstate="print"/>
          <a:srcRect/>
          <a:stretch>
            <a:fillRect/>
          </a:stretch>
        </p:blipFill>
        <p:spPr bwMode="auto">
          <a:xfrm>
            <a:off x="11179547" y="39982326"/>
            <a:ext cx="4510642" cy="2826199"/>
          </a:xfrm>
          <a:prstGeom prst="rect">
            <a:avLst/>
          </a:prstGeom>
          <a:noFill/>
          <a:ln w="9525">
            <a:noFill/>
            <a:miter lim="800000"/>
            <a:headEnd/>
            <a:tailEnd/>
          </a:ln>
        </p:spPr>
      </p:pic>
      <p:pic>
        <p:nvPicPr>
          <p:cNvPr id="1034" name="Picture 10"/>
          <p:cNvPicPr>
            <a:picLocks noChangeAspect="1" noChangeArrowheads="1"/>
          </p:cNvPicPr>
          <p:nvPr/>
        </p:nvPicPr>
        <p:blipFill>
          <a:blip r:embed="rId16" cstate="print"/>
          <a:srcRect/>
          <a:stretch>
            <a:fillRect/>
          </a:stretch>
        </p:blipFill>
        <p:spPr bwMode="auto">
          <a:xfrm>
            <a:off x="15644043" y="39982326"/>
            <a:ext cx="3792268" cy="2826199"/>
          </a:xfrm>
          <a:prstGeom prst="rect">
            <a:avLst/>
          </a:prstGeom>
          <a:noFill/>
          <a:ln w="9525">
            <a:noFill/>
            <a:miter lim="800000"/>
            <a:headEnd/>
            <a:tailEnd/>
          </a:ln>
        </p:spPr>
      </p:pic>
      <p:pic>
        <p:nvPicPr>
          <p:cNvPr id="1036" name="Picture 12"/>
          <p:cNvPicPr>
            <a:picLocks noChangeAspect="1" noChangeArrowheads="1"/>
          </p:cNvPicPr>
          <p:nvPr/>
        </p:nvPicPr>
        <p:blipFill>
          <a:blip r:embed="rId17" cstate="print"/>
          <a:srcRect/>
          <a:stretch>
            <a:fillRect/>
          </a:stretch>
        </p:blipFill>
        <p:spPr bwMode="auto">
          <a:xfrm>
            <a:off x="19388459" y="39981201"/>
            <a:ext cx="4257619" cy="2827324"/>
          </a:xfrm>
          <a:prstGeom prst="rect">
            <a:avLst/>
          </a:prstGeom>
          <a:noFill/>
          <a:ln w="9525">
            <a:noFill/>
            <a:miter lim="800000"/>
            <a:headEnd/>
            <a:tailEnd/>
          </a:ln>
        </p:spPr>
      </p:pic>
      <p:graphicFrame>
        <p:nvGraphicFramePr>
          <p:cNvPr id="36" name="Table 35"/>
          <p:cNvGraphicFramePr>
            <a:graphicFrameLocks noGrp="1"/>
          </p:cNvGraphicFramePr>
          <p:nvPr/>
        </p:nvGraphicFramePr>
        <p:xfrm>
          <a:off x="1170435" y="21692294"/>
          <a:ext cx="13033447" cy="701040"/>
        </p:xfrm>
        <a:graphic>
          <a:graphicData uri="http://schemas.openxmlformats.org/drawingml/2006/table">
            <a:tbl>
              <a:tblPr firstRow="1" bandRow="1">
                <a:tableStyleId>{5C22544A-7EE6-4342-B048-85BDC9FD1C3A}</a:tableStyleId>
              </a:tblPr>
              <a:tblGrid>
                <a:gridCol w="2376264"/>
                <a:gridCol w="1872208"/>
                <a:gridCol w="2880320"/>
                <a:gridCol w="1584176"/>
                <a:gridCol w="2016224"/>
                <a:gridCol w="2304255"/>
              </a:tblGrid>
              <a:tr h="629032">
                <a:tc>
                  <a:txBody>
                    <a:bodyPr/>
                    <a:lstStyle/>
                    <a:p>
                      <a:r>
                        <a:rPr lang="en-AU" sz="2000" dirty="0" smtClean="0">
                          <a:solidFill>
                            <a:schemeClr val="bg1"/>
                          </a:solidFill>
                        </a:rPr>
                        <a:t>No knowledge</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Awareness</a:t>
                      </a:r>
                      <a:r>
                        <a:rPr lang="en-AU" sz="2000" baseline="0" dirty="0" smtClean="0">
                          <a:solidFill>
                            <a:schemeClr val="bg1"/>
                          </a:solidFill>
                        </a:rPr>
                        <a:t> only</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Aware: Can refer</a:t>
                      </a:r>
                      <a:r>
                        <a:rPr lang="en-AU" sz="2000" baseline="0" dirty="0" smtClean="0">
                          <a:solidFill>
                            <a:schemeClr val="bg1"/>
                          </a:solidFill>
                        </a:rPr>
                        <a:t> for further help</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Basic</a:t>
                      </a:r>
                      <a:r>
                        <a:rPr lang="en-AU" sz="2000" baseline="0" dirty="0" smtClean="0">
                          <a:solidFill>
                            <a:schemeClr val="bg1"/>
                          </a:solidFill>
                        </a:rPr>
                        <a:t> skills</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Competent</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Advanced skills</a:t>
                      </a:r>
                      <a:endParaRPr lang="en-AU" sz="2000" dirty="0">
                        <a:solidFill>
                          <a:schemeClr val="bg1"/>
                        </a:solidFill>
                      </a:endParaRPr>
                    </a:p>
                  </a:txBody>
                  <a:tcPr>
                    <a:solidFill>
                      <a:srgbClr val="4F81BD"/>
                    </a:solidFill>
                  </a:tcPr>
                </a:tc>
              </a:tr>
            </a:tbl>
          </a:graphicData>
        </a:graphic>
      </p:graphicFrame>
      <p:graphicFrame>
        <p:nvGraphicFramePr>
          <p:cNvPr id="33" name="Table 32"/>
          <p:cNvGraphicFramePr>
            <a:graphicFrameLocks noGrp="1"/>
          </p:cNvGraphicFramePr>
          <p:nvPr/>
        </p:nvGraphicFramePr>
        <p:xfrm>
          <a:off x="1170435" y="19532054"/>
          <a:ext cx="13177464" cy="1188720"/>
        </p:xfrm>
        <a:graphic>
          <a:graphicData uri="http://schemas.openxmlformats.org/drawingml/2006/table">
            <a:tbl>
              <a:tblPr firstRow="1" bandRow="1">
                <a:tableStyleId>{D113A9D2-9D6B-4929-AA2D-F23B5EE8CBE7}</a:tableStyleId>
              </a:tblPr>
              <a:tblGrid>
                <a:gridCol w="4049325"/>
                <a:gridCol w="2539407"/>
                <a:gridCol w="1921714"/>
                <a:gridCol w="4667018"/>
              </a:tblGrid>
              <a:tr h="370840">
                <a:tc>
                  <a:txBody>
                    <a:bodyPr/>
                    <a:lstStyle/>
                    <a:p>
                      <a:r>
                        <a:rPr lang="en-AU" sz="2000" b="1" kern="1200" dirty="0" smtClean="0"/>
                        <a:t>Scholarly Communication practices</a:t>
                      </a: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gridSpan="2">
                  <a:txBody>
                    <a:bodyPr/>
                    <a:lstStyle/>
                    <a:p>
                      <a:r>
                        <a:rPr lang="en-AU" sz="2000" b="1" kern="1200" dirty="0" smtClean="0"/>
                        <a:t>Data collection &amp; analysis techniques</a:t>
                      </a: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xBody>
                    <a:bodyPr/>
                    <a:lstStyle/>
                    <a:p>
                      <a:endParaRPr lang="en-AU"/>
                    </a:p>
                  </a:txBody>
                  <a:tcPr/>
                </a:tc>
                <a:tc>
                  <a:txBody>
                    <a:bodyPr/>
                    <a:lstStyle/>
                    <a:p>
                      <a:pPr marL="0" marR="0" indent="0" algn="l" defTabSz="4174795" rtl="0" eaLnBrk="1" fontAlgn="auto" latinLnBrk="0" hangingPunct="1">
                        <a:lnSpc>
                          <a:spcPct val="100000"/>
                        </a:lnSpc>
                        <a:spcBef>
                          <a:spcPts val="0"/>
                        </a:spcBef>
                        <a:spcAft>
                          <a:spcPts val="0"/>
                        </a:spcAft>
                        <a:buClrTx/>
                        <a:buSzTx/>
                        <a:buFontTx/>
                        <a:buNone/>
                        <a:tabLst/>
                        <a:defRPr/>
                      </a:pPr>
                      <a:r>
                        <a:rPr lang="en-AU" sz="2000" b="1" kern="1200" dirty="0" smtClean="0"/>
                        <a:t>Using visualization tools</a:t>
                      </a: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70840">
                <a:tc gridSpan="2">
                  <a:txBody>
                    <a:bodyPr/>
                    <a:lstStyle/>
                    <a:p>
                      <a:pPr algn="l"/>
                      <a:r>
                        <a:rPr lang="en-AU" sz="2000" b="1" dirty="0" smtClean="0"/>
                        <a:t>Data</a:t>
                      </a:r>
                      <a:r>
                        <a:rPr lang="en-AU" sz="2000" b="1" baseline="0" dirty="0" smtClean="0"/>
                        <a:t> management practices</a:t>
                      </a:r>
                      <a:endParaRPr lang="en-AU" sz="2000" b="1"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xBody>
                    <a:bodyPr/>
                    <a:lstStyle/>
                    <a:p>
                      <a:endParaRPr lang="en-AU" sz="2000" b="1"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gridSpan="2">
                  <a:txBody>
                    <a:bodyPr/>
                    <a:lstStyle/>
                    <a:p>
                      <a:pPr algn="l"/>
                      <a:r>
                        <a:rPr lang="en-AU" sz="2000" b="1" dirty="0" smtClean="0"/>
                        <a:t>Using collaborative </a:t>
                      </a:r>
                      <a:r>
                        <a:rPr lang="en-AU" sz="2000" b="1" kern="1200" dirty="0" smtClean="0"/>
                        <a:t>technologies</a:t>
                      </a:r>
                      <a:endParaRPr lang="en-AU" sz="2000" b="1"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xBody>
                    <a:bodyPr/>
                    <a:lstStyle/>
                    <a:p>
                      <a:pPr marL="0" marR="0" indent="0" algn="l" defTabSz="4174795" rtl="0" eaLnBrk="1" fontAlgn="auto" latinLnBrk="0" hangingPunct="1">
                        <a:lnSpc>
                          <a:spcPct val="100000"/>
                        </a:lnSpc>
                        <a:spcBef>
                          <a:spcPts val="0"/>
                        </a:spcBef>
                        <a:spcAft>
                          <a:spcPts val="0"/>
                        </a:spcAft>
                        <a:buClrTx/>
                        <a:buSzTx/>
                        <a:buFontTx/>
                        <a:buNone/>
                        <a:tabLst/>
                        <a:defRPr/>
                      </a:pPr>
                      <a:endParaRPr lang="en-AU" sz="2000" b="1"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70840">
                <a:tc gridSpan="2">
                  <a:txBody>
                    <a:bodyPr/>
                    <a:lstStyle/>
                    <a:p>
                      <a:pPr algn="l"/>
                      <a:r>
                        <a:rPr lang="en-AU" sz="2000" b="1" kern="1200" dirty="0" smtClean="0"/>
                        <a:t>Using computation tools or activities</a:t>
                      </a: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xBody>
                    <a:bodyPr/>
                    <a:lstStyle/>
                    <a:p>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gridSpan="2">
                  <a:txBody>
                    <a:bodyPr/>
                    <a:lstStyle/>
                    <a:p>
                      <a:pPr algn="l"/>
                      <a:r>
                        <a:rPr lang="en-AU" sz="2000" b="1" kern="1200" dirty="0" smtClean="0"/>
                        <a:t>Managing different types of data</a:t>
                      </a: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xBody>
                    <a:bodyPr/>
                    <a:lstStyle/>
                    <a:p>
                      <a:pPr marL="0" marR="0" indent="0" algn="l" defTabSz="4174795" rtl="0" eaLnBrk="1" fontAlgn="auto" latinLnBrk="0" hangingPunct="1">
                        <a:lnSpc>
                          <a:spcPct val="100000"/>
                        </a:lnSpc>
                        <a:spcBef>
                          <a:spcPts val="0"/>
                        </a:spcBef>
                        <a:spcAft>
                          <a:spcPts val="0"/>
                        </a:spcAft>
                        <a:buClrTx/>
                        <a:buSzTx/>
                        <a:buFontTx/>
                        <a:buNone/>
                        <a:tabLst/>
                        <a:defRPr/>
                      </a:pPr>
                      <a:endParaRPr lang="en-AU" sz="2000" b="1" kern="1200" dirty="0" smtClean="0">
                        <a:solidFill>
                          <a:schemeClr val="dk1"/>
                        </a:solidFill>
                        <a:latin typeface="+mn-lt"/>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38" name="Text Box 19"/>
          <p:cNvSpPr txBox="1">
            <a:spLocks noChangeArrowheads="1"/>
          </p:cNvSpPr>
          <p:nvPr/>
        </p:nvSpPr>
        <p:spPr bwMode="auto">
          <a:xfrm>
            <a:off x="16508139" y="10675070"/>
            <a:ext cx="12673408" cy="457188"/>
          </a:xfrm>
          <a:prstGeom prst="rect">
            <a:avLst/>
          </a:prstGeom>
          <a:noFill/>
          <a:ln w="9525">
            <a:noFill/>
            <a:miter lim="800000"/>
            <a:headEnd/>
            <a:tailEnd/>
          </a:ln>
          <a:effectLst/>
        </p:spPr>
        <p:txBody>
          <a:bodyPr wrap="square" lIns="87005" tIns="43503" rIns="87005" bIns="43503">
            <a:spAutoFit/>
          </a:bodyPr>
          <a:lstStyle/>
          <a:p>
            <a:pPr defTabSz="4176550">
              <a:spcBef>
                <a:spcPct val="50000"/>
              </a:spcBef>
            </a:pPr>
            <a:r>
              <a:rPr lang="en-US" sz="2400" b="1" dirty="0"/>
              <a:t>Figure </a:t>
            </a:r>
            <a:r>
              <a:rPr lang="en-US" sz="2400" b="1" dirty="0" smtClean="0"/>
              <a:t>1. Percentages of responses to rating of skills in </a:t>
            </a:r>
            <a:r>
              <a:rPr lang="en-US" sz="2400" b="1" i="1" dirty="0" smtClean="0"/>
              <a:t>managing copyright related to publications</a:t>
            </a:r>
            <a:endParaRPr lang="en-US" sz="2400" b="1" i="1" dirty="0"/>
          </a:p>
        </p:txBody>
      </p:sp>
      <p:graphicFrame>
        <p:nvGraphicFramePr>
          <p:cNvPr id="41" name="Table 40"/>
          <p:cNvGraphicFramePr>
            <a:graphicFrameLocks noGrp="1"/>
          </p:cNvGraphicFramePr>
          <p:nvPr/>
        </p:nvGraphicFramePr>
        <p:xfrm>
          <a:off x="1170435" y="23420486"/>
          <a:ext cx="12961439" cy="701040"/>
        </p:xfrm>
        <a:graphic>
          <a:graphicData uri="http://schemas.openxmlformats.org/drawingml/2006/table">
            <a:tbl>
              <a:tblPr firstRow="1" bandRow="1">
                <a:tableStyleId>{5C22544A-7EE6-4342-B048-85BDC9FD1C3A}</a:tableStyleId>
              </a:tblPr>
              <a:tblGrid>
                <a:gridCol w="2291525"/>
                <a:gridCol w="2005085"/>
                <a:gridCol w="2792796"/>
                <a:gridCol w="1647034"/>
                <a:gridCol w="1933474"/>
                <a:gridCol w="2291525"/>
              </a:tblGrid>
              <a:tr h="370840">
                <a:tc>
                  <a:txBody>
                    <a:bodyPr/>
                    <a:lstStyle/>
                    <a:p>
                      <a:r>
                        <a:rPr lang="en-AU" sz="2000" dirty="0" smtClean="0"/>
                        <a:t>Not applicable to my research</a:t>
                      </a:r>
                      <a:endParaRPr lang="en-AU" sz="2000" dirty="0"/>
                    </a:p>
                  </a:txBody>
                  <a:tcPr>
                    <a:solidFill>
                      <a:schemeClr val="accent1">
                        <a:lumMod val="75000"/>
                      </a:schemeClr>
                    </a:solidFill>
                  </a:tcPr>
                </a:tc>
                <a:tc>
                  <a:txBody>
                    <a:bodyPr/>
                    <a:lstStyle/>
                    <a:p>
                      <a:r>
                        <a:rPr lang="en-AU" sz="2000" dirty="0" smtClean="0"/>
                        <a:t>Unaware</a:t>
                      </a:r>
                      <a:endParaRPr lang="en-AU" sz="2000" dirty="0"/>
                    </a:p>
                  </a:txBody>
                  <a:tcPr>
                    <a:solidFill>
                      <a:schemeClr val="accent1">
                        <a:lumMod val="75000"/>
                      </a:schemeClr>
                    </a:solidFill>
                  </a:tcPr>
                </a:tc>
                <a:tc>
                  <a:txBody>
                    <a:bodyPr/>
                    <a:lstStyle/>
                    <a:p>
                      <a:r>
                        <a:rPr lang="en-AU" sz="2000" dirty="0" smtClean="0"/>
                        <a:t>Aware: No Experience</a:t>
                      </a:r>
                      <a:endParaRPr lang="en-AU" sz="2000" dirty="0"/>
                    </a:p>
                  </a:txBody>
                  <a:tcPr>
                    <a:solidFill>
                      <a:schemeClr val="accent1">
                        <a:lumMod val="75000"/>
                      </a:schemeClr>
                    </a:solidFill>
                  </a:tcPr>
                </a:tc>
                <a:tc>
                  <a:txBody>
                    <a:bodyPr/>
                    <a:lstStyle/>
                    <a:p>
                      <a:r>
                        <a:rPr lang="en-AU" sz="2000" dirty="0" smtClean="0"/>
                        <a:t>Basic skills</a:t>
                      </a:r>
                      <a:endParaRPr lang="en-AU" sz="2000" dirty="0"/>
                    </a:p>
                  </a:txBody>
                  <a:tcPr>
                    <a:solidFill>
                      <a:schemeClr val="accent1">
                        <a:lumMod val="75000"/>
                      </a:schemeClr>
                    </a:solidFill>
                  </a:tcPr>
                </a:tc>
                <a:tc>
                  <a:txBody>
                    <a:bodyPr/>
                    <a:lstStyle/>
                    <a:p>
                      <a:r>
                        <a:rPr lang="en-AU" sz="2000" dirty="0" smtClean="0"/>
                        <a:t>Competent</a:t>
                      </a:r>
                      <a:r>
                        <a:rPr lang="en-AU" sz="2000" baseline="0" dirty="0" smtClean="0"/>
                        <a:t> </a:t>
                      </a:r>
                      <a:endParaRPr lang="en-AU" sz="2000" dirty="0"/>
                    </a:p>
                  </a:txBody>
                  <a:tcPr>
                    <a:solidFill>
                      <a:schemeClr val="accent1">
                        <a:lumMod val="75000"/>
                      </a:schemeClr>
                    </a:solidFill>
                  </a:tcPr>
                </a:tc>
                <a:tc>
                  <a:txBody>
                    <a:bodyPr/>
                    <a:lstStyle/>
                    <a:p>
                      <a:r>
                        <a:rPr lang="en-AU" sz="2000" dirty="0" smtClean="0"/>
                        <a:t>Expert</a:t>
                      </a:r>
                      <a:endParaRPr lang="en-AU" sz="2000" dirty="0"/>
                    </a:p>
                  </a:txBody>
                  <a:tcPr>
                    <a:solidFill>
                      <a:schemeClr val="accent1">
                        <a:lumMod val="75000"/>
                      </a:schemeClr>
                    </a:solidFill>
                  </a:tcPr>
                </a:tc>
              </a:tr>
            </a:tbl>
          </a:graphicData>
        </a:graphic>
      </p:graphicFrame>
      <p:graphicFrame>
        <p:nvGraphicFramePr>
          <p:cNvPr id="43" name="Chart 42"/>
          <p:cNvGraphicFramePr/>
          <p:nvPr/>
        </p:nvGraphicFramePr>
        <p:xfrm>
          <a:off x="16508139" y="21188238"/>
          <a:ext cx="12313368" cy="4320479"/>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44" name="Chart 43"/>
          <p:cNvGraphicFramePr/>
          <p:nvPr/>
        </p:nvGraphicFramePr>
        <p:xfrm>
          <a:off x="16508140" y="16147678"/>
          <a:ext cx="12241360" cy="4464496"/>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34" name="Chart 33"/>
          <p:cNvGraphicFramePr/>
          <p:nvPr/>
        </p:nvGraphicFramePr>
        <p:xfrm>
          <a:off x="16508139" y="11179126"/>
          <a:ext cx="12206808" cy="4320480"/>
        </p:xfrm>
        <a:graphic>
          <a:graphicData uri="http://schemas.openxmlformats.org/drawingml/2006/chart">
            <c:chart xmlns:c="http://schemas.openxmlformats.org/drawingml/2006/chart" xmlns:r="http://schemas.openxmlformats.org/officeDocument/2006/relationships" r:id="rId20"/>
          </a:graphicData>
        </a:graphic>
      </p:graphicFrame>
      <p:graphicFrame>
        <p:nvGraphicFramePr>
          <p:cNvPr id="35" name="Chart 34"/>
          <p:cNvGraphicFramePr/>
          <p:nvPr/>
        </p:nvGraphicFramePr>
        <p:xfrm>
          <a:off x="16508139" y="5922542"/>
          <a:ext cx="12241360" cy="4676776"/>
        </p:xfrm>
        <a:graphic>
          <a:graphicData uri="http://schemas.openxmlformats.org/drawingml/2006/chart">
            <c:chart xmlns:c="http://schemas.openxmlformats.org/drawingml/2006/chart" xmlns:r="http://schemas.openxmlformats.org/officeDocument/2006/relationships" r:id="rId21"/>
          </a:graphicData>
        </a:graphic>
      </p:graphicFrame>
      <p:graphicFrame>
        <p:nvGraphicFramePr>
          <p:cNvPr id="37" name="Table 36"/>
          <p:cNvGraphicFramePr>
            <a:graphicFrameLocks noGrp="1"/>
          </p:cNvGraphicFramePr>
          <p:nvPr/>
        </p:nvGraphicFramePr>
        <p:xfrm>
          <a:off x="1098427" y="35517830"/>
          <a:ext cx="13033447" cy="701040"/>
        </p:xfrm>
        <a:graphic>
          <a:graphicData uri="http://schemas.openxmlformats.org/drawingml/2006/table">
            <a:tbl>
              <a:tblPr firstRow="1" bandRow="1">
                <a:tableStyleId>{5C22544A-7EE6-4342-B048-85BDC9FD1C3A}</a:tableStyleId>
              </a:tblPr>
              <a:tblGrid>
                <a:gridCol w="2376264"/>
                <a:gridCol w="1872208"/>
                <a:gridCol w="2880320"/>
                <a:gridCol w="1584176"/>
                <a:gridCol w="2016224"/>
                <a:gridCol w="2304255"/>
              </a:tblGrid>
              <a:tr h="629032">
                <a:tc>
                  <a:txBody>
                    <a:bodyPr/>
                    <a:lstStyle/>
                    <a:p>
                      <a:r>
                        <a:rPr lang="en-AU" sz="2000" dirty="0" smtClean="0">
                          <a:solidFill>
                            <a:schemeClr val="bg1"/>
                          </a:solidFill>
                        </a:rPr>
                        <a:t>No knowledge</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Awareness</a:t>
                      </a:r>
                      <a:r>
                        <a:rPr lang="en-AU" sz="2000" baseline="0" dirty="0" smtClean="0">
                          <a:solidFill>
                            <a:schemeClr val="bg1"/>
                          </a:solidFill>
                        </a:rPr>
                        <a:t> only</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Aware: Can refer</a:t>
                      </a:r>
                      <a:r>
                        <a:rPr lang="en-AU" sz="2000" baseline="0" dirty="0" smtClean="0">
                          <a:solidFill>
                            <a:schemeClr val="bg1"/>
                          </a:solidFill>
                        </a:rPr>
                        <a:t> for further help</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Basic</a:t>
                      </a:r>
                      <a:r>
                        <a:rPr lang="en-AU" sz="2000" baseline="0" dirty="0" smtClean="0">
                          <a:solidFill>
                            <a:schemeClr val="bg1"/>
                          </a:solidFill>
                        </a:rPr>
                        <a:t> skills</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Competent</a:t>
                      </a:r>
                      <a:endParaRPr lang="en-AU" sz="2000" dirty="0">
                        <a:solidFill>
                          <a:schemeClr val="bg1"/>
                        </a:solidFill>
                      </a:endParaRPr>
                    </a:p>
                  </a:txBody>
                  <a:tcPr>
                    <a:solidFill>
                      <a:srgbClr val="4F81BD"/>
                    </a:solidFill>
                  </a:tcPr>
                </a:tc>
                <a:tc>
                  <a:txBody>
                    <a:bodyPr/>
                    <a:lstStyle/>
                    <a:p>
                      <a:r>
                        <a:rPr lang="en-AU" sz="2000" dirty="0" smtClean="0">
                          <a:solidFill>
                            <a:schemeClr val="bg1"/>
                          </a:solidFill>
                        </a:rPr>
                        <a:t>Advanced skills</a:t>
                      </a:r>
                      <a:endParaRPr lang="en-AU" sz="2000" dirty="0">
                        <a:solidFill>
                          <a:schemeClr val="bg1"/>
                        </a:solidFill>
                      </a:endParaRPr>
                    </a:p>
                  </a:txBody>
                  <a:tcPr>
                    <a:solidFill>
                      <a:srgbClr val="4F81BD"/>
                    </a:solidFill>
                  </a:tcPr>
                </a:tc>
              </a:tr>
            </a:tbl>
          </a:graphicData>
        </a:graphic>
      </p:graphicFrame>
      <p:graphicFrame>
        <p:nvGraphicFramePr>
          <p:cNvPr id="40" name="Table 39"/>
          <p:cNvGraphicFramePr>
            <a:graphicFrameLocks noGrp="1"/>
          </p:cNvGraphicFramePr>
          <p:nvPr/>
        </p:nvGraphicFramePr>
        <p:xfrm>
          <a:off x="1170436" y="37894094"/>
          <a:ext cx="12961439" cy="701040"/>
        </p:xfrm>
        <a:graphic>
          <a:graphicData uri="http://schemas.openxmlformats.org/drawingml/2006/table">
            <a:tbl>
              <a:tblPr firstRow="1" bandRow="1">
                <a:tableStyleId>{5C22544A-7EE6-4342-B048-85BDC9FD1C3A}</a:tableStyleId>
              </a:tblPr>
              <a:tblGrid>
                <a:gridCol w="2291525"/>
                <a:gridCol w="2005085"/>
                <a:gridCol w="2792796"/>
                <a:gridCol w="1647034"/>
                <a:gridCol w="1933474"/>
                <a:gridCol w="2291525"/>
              </a:tblGrid>
              <a:tr h="370840">
                <a:tc>
                  <a:txBody>
                    <a:bodyPr/>
                    <a:lstStyle/>
                    <a:p>
                      <a:r>
                        <a:rPr lang="en-AU" sz="2000" dirty="0" smtClean="0"/>
                        <a:t>Not applicable to my research</a:t>
                      </a:r>
                      <a:endParaRPr lang="en-AU" sz="2000" dirty="0"/>
                    </a:p>
                  </a:txBody>
                  <a:tcPr>
                    <a:solidFill>
                      <a:schemeClr val="accent1">
                        <a:lumMod val="75000"/>
                      </a:schemeClr>
                    </a:solidFill>
                  </a:tcPr>
                </a:tc>
                <a:tc>
                  <a:txBody>
                    <a:bodyPr/>
                    <a:lstStyle/>
                    <a:p>
                      <a:r>
                        <a:rPr lang="en-AU" sz="2000" dirty="0" smtClean="0"/>
                        <a:t>Unaware</a:t>
                      </a:r>
                      <a:endParaRPr lang="en-AU" sz="2000" dirty="0"/>
                    </a:p>
                  </a:txBody>
                  <a:tcPr>
                    <a:solidFill>
                      <a:schemeClr val="accent1">
                        <a:lumMod val="75000"/>
                      </a:schemeClr>
                    </a:solidFill>
                  </a:tcPr>
                </a:tc>
                <a:tc>
                  <a:txBody>
                    <a:bodyPr/>
                    <a:lstStyle/>
                    <a:p>
                      <a:r>
                        <a:rPr lang="en-AU" sz="2000" dirty="0" smtClean="0"/>
                        <a:t>Aware: No Experience</a:t>
                      </a:r>
                      <a:endParaRPr lang="en-AU" sz="2000" dirty="0"/>
                    </a:p>
                  </a:txBody>
                  <a:tcPr>
                    <a:solidFill>
                      <a:schemeClr val="accent1">
                        <a:lumMod val="75000"/>
                      </a:schemeClr>
                    </a:solidFill>
                  </a:tcPr>
                </a:tc>
                <a:tc>
                  <a:txBody>
                    <a:bodyPr/>
                    <a:lstStyle/>
                    <a:p>
                      <a:r>
                        <a:rPr lang="en-AU" sz="2000" dirty="0" smtClean="0"/>
                        <a:t>Basic skills</a:t>
                      </a:r>
                      <a:endParaRPr lang="en-AU" sz="2000" dirty="0"/>
                    </a:p>
                  </a:txBody>
                  <a:tcPr>
                    <a:solidFill>
                      <a:schemeClr val="accent1">
                        <a:lumMod val="75000"/>
                      </a:schemeClr>
                    </a:solidFill>
                  </a:tcPr>
                </a:tc>
                <a:tc>
                  <a:txBody>
                    <a:bodyPr/>
                    <a:lstStyle/>
                    <a:p>
                      <a:r>
                        <a:rPr lang="en-AU" sz="2000" dirty="0" smtClean="0"/>
                        <a:t>Competent</a:t>
                      </a:r>
                      <a:r>
                        <a:rPr lang="en-AU" sz="2000" baseline="0" dirty="0" smtClean="0"/>
                        <a:t> </a:t>
                      </a:r>
                      <a:endParaRPr lang="en-AU" sz="2000" dirty="0"/>
                    </a:p>
                  </a:txBody>
                  <a:tcPr>
                    <a:solidFill>
                      <a:schemeClr val="accent1">
                        <a:lumMod val="75000"/>
                      </a:schemeClr>
                    </a:solidFill>
                  </a:tcPr>
                </a:tc>
                <a:tc>
                  <a:txBody>
                    <a:bodyPr/>
                    <a:lstStyle/>
                    <a:p>
                      <a:r>
                        <a:rPr lang="en-AU" sz="2000" dirty="0" smtClean="0"/>
                        <a:t>Expert</a:t>
                      </a:r>
                      <a:endParaRPr lang="en-AU" sz="2000" dirty="0"/>
                    </a:p>
                  </a:txBody>
                  <a:tcPr>
                    <a:solidFill>
                      <a:schemeClr val="accent1">
                        <a:lumMod val="75000"/>
                      </a:schemeClr>
                    </a:solidFill>
                  </a:tcPr>
                </a:tc>
              </a:tr>
            </a:tbl>
          </a:graphicData>
        </a:graphic>
      </p:graphicFrame>
      <p:sp>
        <p:nvSpPr>
          <p:cNvPr id="42" name="Right Brace 41"/>
          <p:cNvSpPr/>
          <p:nvPr/>
        </p:nvSpPr>
        <p:spPr>
          <a:xfrm rot="5400000">
            <a:off x="5742943" y="34185682"/>
            <a:ext cx="360040" cy="4608512"/>
          </a:xfrm>
          <a:prstGeom prst="rightBrace">
            <a:avLst>
              <a:gd name="adj1" fmla="val 8333"/>
              <a:gd name="adj2" fmla="val 52552"/>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5" name="Right Brace 44"/>
          <p:cNvSpPr/>
          <p:nvPr/>
        </p:nvSpPr>
        <p:spPr>
          <a:xfrm rot="5400000">
            <a:off x="11827619" y="34365702"/>
            <a:ext cx="360040" cy="4248472"/>
          </a:xfrm>
          <a:prstGeom prst="rightBrace">
            <a:avLst>
              <a:gd name="adj1" fmla="val 8333"/>
              <a:gd name="adj2" fmla="val 52552"/>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6" name="Right Brace 45"/>
          <p:cNvSpPr/>
          <p:nvPr/>
        </p:nvSpPr>
        <p:spPr>
          <a:xfrm rot="5400000">
            <a:off x="3114651" y="36669958"/>
            <a:ext cx="360040" cy="4248472"/>
          </a:xfrm>
          <a:prstGeom prst="rightBrace">
            <a:avLst>
              <a:gd name="adj1" fmla="val 8333"/>
              <a:gd name="adj2" fmla="val 52552"/>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7" name="Right Brace 46"/>
          <p:cNvSpPr/>
          <p:nvPr/>
        </p:nvSpPr>
        <p:spPr>
          <a:xfrm rot="5400000">
            <a:off x="11755611" y="36741966"/>
            <a:ext cx="432048" cy="4176464"/>
          </a:xfrm>
          <a:prstGeom prst="rightBrace">
            <a:avLst>
              <a:gd name="adj1" fmla="val 8333"/>
              <a:gd name="adj2" fmla="val 52552"/>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8" name="Text Box 40"/>
          <p:cNvSpPr txBox="1">
            <a:spLocks noChangeArrowheads="1"/>
          </p:cNvSpPr>
          <p:nvPr/>
        </p:nvSpPr>
        <p:spPr bwMode="auto">
          <a:xfrm>
            <a:off x="16076091" y="27524942"/>
            <a:ext cx="12961440" cy="9292067"/>
          </a:xfrm>
          <a:prstGeom prst="rect">
            <a:avLst/>
          </a:prstGeom>
          <a:noFill/>
          <a:ln w="57150" cmpd="thinThick">
            <a:noFill/>
            <a:miter lim="800000"/>
            <a:headEnd/>
            <a:tailEnd/>
          </a:ln>
          <a:effectLst/>
        </p:spPr>
        <p:txBody>
          <a:bodyPr wrap="square" lIns="58203" tIns="29101" rIns="58203" bIns="29101">
            <a:spAutoFit/>
          </a:bodyPr>
          <a:lstStyle/>
          <a:p>
            <a:r>
              <a:rPr lang="en-AU" sz="2400" dirty="0" smtClean="0"/>
              <a:t>Currently,  only a minority of QUT researchers (36.1%) are confident about their ability to upload material to QUT </a:t>
            </a:r>
            <a:r>
              <a:rPr lang="en-AU" sz="2400" dirty="0" err="1" smtClean="0"/>
              <a:t>ePrints</a:t>
            </a:r>
            <a:r>
              <a:rPr lang="en-AU" sz="2400" dirty="0" smtClean="0"/>
              <a:t> and a surprising number admitted they were unaware that the option existed - even though the deposit 'mandate' has been in place for over six years.  Perhaps these were relatively new to QUT.  In contrast, the majority of Liaison Librarians (75%) rated themselves as competent or highly skilled in the area and only a tiny minority (4%) reported having no experience.  </a:t>
            </a:r>
            <a:r>
              <a:rPr lang="en-AU" sz="2400" b="1" dirty="0" smtClean="0"/>
              <a:t>Consequently, the survey confirmed that QUT Liaison Librarians have the skills needed to promote, train and support researchers in this process.</a:t>
            </a:r>
          </a:p>
          <a:p>
            <a:r>
              <a:rPr lang="en-AU" sz="2400" dirty="0" smtClean="0"/>
              <a:t> </a:t>
            </a:r>
          </a:p>
          <a:p>
            <a:r>
              <a:rPr lang="en-AU" sz="2400" dirty="0" smtClean="0"/>
              <a:t>The Librarians reported significantly higher levels of awareness than researchers about publishing in an open access journal and Creative Commons (CC) licences but there was very little difference between the two groups in terms of skills.  Most researchers and many librarians regularly disseminate presentations (from conference or teaching sessions) so, clearly, </a:t>
            </a:r>
            <a:r>
              <a:rPr lang="en-AU" sz="2400" b="1" dirty="0" smtClean="0"/>
              <a:t>there is scope for more training for both groups in how to choose and apply a Creative Commons license.</a:t>
            </a:r>
          </a:p>
          <a:p>
            <a:r>
              <a:rPr lang="en-AU" sz="2400" dirty="0" smtClean="0"/>
              <a:t> </a:t>
            </a:r>
          </a:p>
          <a:p>
            <a:r>
              <a:rPr lang="en-AU" sz="2400" dirty="0" smtClean="0"/>
              <a:t>The skill level ratings of researchers and librarians were very similar in the area of publishing in an open access journal.  However, many more researchers than librarians reported no awareness of the concept.  We concluded that </a:t>
            </a:r>
            <a:r>
              <a:rPr lang="en-AU" sz="2400" b="1" dirty="0" smtClean="0"/>
              <a:t>there is scope for additional training and awareness raising for researchers in this area (publishing in gold open access journals) and scope for training for both groups.</a:t>
            </a:r>
          </a:p>
          <a:p>
            <a:r>
              <a:rPr lang="en-AU" sz="2400" b="1" dirty="0" smtClean="0"/>
              <a:t> </a:t>
            </a:r>
          </a:p>
          <a:p>
            <a:r>
              <a:rPr lang="en-AU" sz="2400" dirty="0" smtClean="0"/>
              <a:t>It would appear from the results that the researchers were more confident about their skills in the area of copyright management than the librarians.  However, it is possible that a higher proportion of the librarians  understood  the implications of the University's </a:t>
            </a:r>
            <a:r>
              <a:rPr lang="en-AU" sz="2400" dirty="0" err="1" smtClean="0"/>
              <a:t>Eprint</a:t>
            </a:r>
            <a:r>
              <a:rPr lang="en-AU" sz="2400" dirty="0" smtClean="0"/>
              <a:t> Deposit mandate and Intellectual Property Policy (which requires QUT researchers to retain certain rights) than the researchers who rated themselves as skilled in this area.  There is </a:t>
            </a:r>
            <a:r>
              <a:rPr lang="en-AU" sz="2400" b="1" dirty="0" smtClean="0"/>
              <a:t>scope for further awareness raising to researchers on copyright management plus more investigation is required here. </a:t>
            </a:r>
            <a:endParaRPr lang="en-US" sz="1900" b="1" dirty="0">
              <a:solidFill>
                <a:srgbClr val="C00000"/>
              </a:solidFill>
              <a:latin typeface="Times New Roman" pitchFamily="18" charset="0"/>
            </a:endParaRPr>
          </a:p>
        </p:txBody>
      </p:sp>
      <p:pic>
        <p:nvPicPr>
          <p:cNvPr id="1027" name="Picture 3"/>
          <p:cNvPicPr>
            <a:picLocks noChangeAspect="1" noChangeArrowheads="1"/>
          </p:cNvPicPr>
          <p:nvPr/>
        </p:nvPicPr>
        <p:blipFill>
          <a:blip r:embed="rId22" cstate="print"/>
          <a:srcRect/>
          <a:stretch>
            <a:fillRect/>
          </a:stretch>
        </p:blipFill>
        <p:spPr bwMode="auto">
          <a:xfrm>
            <a:off x="26535559" y="40000213"/>
            <a:ext cx="3744416" cy="2808312"/>
          </a:xfrm>
          <a:prstGeom prst="rect">
            <a:avLst/>
          </a:prstGeom>
          <a:noFill/>
          <a:ln w="9525">
            <a:noFill/>
            <a:miter lim="800000"/>
            <a:headEnd/>
            <a:tailEnd/>
          </a:ln>
        </p:spPr>
      </p:pic>
      <p:pic>
        <p:nvPicPr>
          <p:cNvPr id="1035" name="Picture 11"/>
          <p:cNvPicPr>
            <a:picLocks noChangeAspect="1" noChangeArrowheads="1"/>
          </p:cNvPicPr>
          <p:nvPr/>
        </p:nvPicPr>
        <p:blipFill>
          <a:blip r:embed="rId23" cstate="print"/>
          <a:srcRect/>
          <a:stretch>
            <a:fillRect/>
          </a:stretch>
        </p:blipFill>
        <p:spPr bwMode="auto">
          <a:xfrm>
            <a:off x="22412795" y="39973997"/>
            <a:ext cx="4248472" cy="2834528"/>
          </a:xfrm>
          <a:prstGeom prst="rect">
            <a:avLst/>
          </a:prstGeom>
          <a:noFill/>
          <a:ln w="9525">
            <a:noFill/>
            <a:miter lim="800000"/>
            <a:headEnd/>
            <a:tailEnd/>
          </a:ln>
        </p:spPr>
      </p:pic>
      <p:sp>
        <p:nvSpPr>
          <p:cNvPr id="49" name="TextBox 48"/>
          <p:cNvSpPr txBox="1"/>
          <p:nvPr/>
        </p:nvSpPr>
        <p:spPr>
          <a:xfrm>
            <a:off x="23348899" y="38110118"/>
            <a:ext cx="5328592" cy="1015663"/>
          </a:xfrm>
          <a:prstGeom prst="rect">
            <a:avLst/>
          </a:prstGeom>
          <a:noFill/>
        </p:spPr>
        <p:txBody>
          <a:bodyPr wrap="square" rtlCol="0">
            <a:spAutoFit/>
          </a:bodyPr>
          <a:lstStyle/>
          <a:p>
            <a:pPr algn="r"/>
            <a:r>
              <a:rPr lang="en-AU" sz="2000" b="1" dirty="0" smtClean="0"/>
              <a:t>Stephanie Bradbury, Research Support Librarian</a:t>
            </a:r>
          </a:p>
          <a:p>
            <a:pPr algn="r"/>
            <a:r>
              <a:rPr lang="en-AU" sz="2000" b="1" dirty="0" smtClean="0"/>
              <a:t>Queensland University of Technology</a:t>
            </a:r>
          </a:p>
          <a:p>
            <a:pPr algn="r"/>
            <a:r>
              <a:rPr lang="en-AU" sz="2000" b="1" dirty="0" smtClean="0">
                <a:hlinkClick r:id="rId3"/>
              </a:rPr>
              <a:t>s.bradbury@qut.edu.au</a:t>
            </a:r>
            <a:r>
              <a:rPr lang="en-AU" sz="2000" b="1" dirty="0" smtClean="0"/>
              <a:t> </a:t>
            </a:r>
            <a:endParaRPr lang="en-AU" sz="2000" dirty="0"/>
          </a:p>
        </p:txBody>
      </p:sp>
      <p:sp>
        <p:nvSpPr>
          <p:cNvPr id="50" name="TextBox 49"/>
          <p:cNvSpPr txBox="1"/>
          <p:nvPr/>
        </p:nvSpPr>
        <p:spPr>
          <a:xfrm>
            <a:off x="24068979" y="37174014"/>
            <a:ext cx="4464496" cy="738664"/>
          </a:xfrm>
          <a:prstGeom prst="rect">
            <a:avLst/>
          </a:prstGeom>
          <a:noFill/>
        </p:spPr>
        <p:txBody>
          <a:bodyPr wrap="square" rtlCol="0">
            <a:spAutoFit/>
          </a:bodyPr>
          <a:lstStyle/>
          <a:p>
            <a:pPr algn="r"/>
            <a:r>
              <a:rPr lang="en-AU" sz="1400" b="1" dirty="0" smtClean="0"/>
              <a:t>Acknowledgement</a:t>
            </a:r>
          </a:p>
          <a:p>
            <a:pPr algn="r"/>
            <a:r>
              <a:rPr lang="en-AU" sz="1400" dirty="0" smtClean="0"/>
              <a:t>Thank you to Paula Callan, eResearch Access Coordinator  QUT,  for assistance in summarising the conclusions.</a:t>
            </a:r>
            <a:endParaRPr lang="en-AU"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2718</TotalTime>
  <Words>695</Words>
  <Application>Microsoft Office PowerPoint</Application>
  <PresentationFormat>Custom</PresentationFormat>
  <Paragraphs>145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QUT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degney</dc:creator>
  <cp:lastModifiedBy>bradbury</cp:lastModifiedBy>
  <cp:revision>220</cp:revision>
  <dcterms:created xsi:type="dcterms:W3CDTF">2009-06-16T03:37:25Z</dcterms:created>
  <dcterms:modified xsi:type="dcterms:W3CDTF">2010-10-15T08:58:25Z</dcterms:modified>
</cp:coreProperties>
</file>