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8" r:id="rId2"/>
    <p:sldId id="266" r:id="rId3"/>
    <p:sldId id="267" r:id="rId4"/>
    <p:sldId id="547" r:id="rId5"/>
    <p:sldId id="552" r:id="rId6"/>
    <p:sldId id="500" r:id="rId7"/>
    <p:sldId id="415" r:id="rId8"/>
    <p:sldId id="501" r:id="rId9"/>
    <p:sldId id="568" r:id="rId10"/>
    <p:sldId id="559" r:id="rId11"/>
    <p:sldId id="441" r:id="rId12"/>
    <p:sldId id="269" r:id="rId13"/>
    <p:sldId id="436" r:id="rId14"/>
    <p:sldId id="437" r:id="rId15"/>
    <p:sldId id="270" r:id="rId16"/>
    <p:sldId id="557" r:id="rId17"/>
    <p:sldId id="504" r:id="rId18"/>
    <p:sldId id="560" r:id="rId19"/>
    <p:sldId id="566" r:id="rId20"/>
    <p:sldId id="506" r:id="rId21"/>
    <p:sldId id="507" r:id="rId22"/>
    <p:sldId id="466" r:id="rId23"/>
    <p:sldId id="465" r:id="rId24"/>
    <p:sldId id="567" r:id="rId25"/>
    <p:sldId id="509" r:id="rId26"/>
    <p:sldId id="561" r:id="rId27"/>
    <p:sldId id="513" r:id="rId28"/>
    <p:sldId id="515" r:id="rId29"/>
    <p:sldId id="569" r:id="rId30"/>
    <p:sldId id="562" r:id="rId31"/>
    <p:sldId id="542" r:id="rId32"/>
    <p:sldId id="543" r:id="rId33"/>
    <p:sldId id="544" r:id="rId34"/>
    <p:sldId id="546" r:id="rId35"/>
    <p:sldId id="545" r:id="rId36"/>
    <p:sldId id="551" r:id="rId37"/>
    <p:sldId id="563" r:id="rId38"/>
    <p:sldId id="530" r:id="rId39"/>
    <p:sldId id="322" r:id="rId40"/>
    <p:sldId id="328" r:id="rId41"/>
    <p:sldId id="326" r:id="rId42"/>
    <p:sldId id="323" r:id="rId43"/>
    <p:sldId id="324" r:id="rId44"/>
    <p:sldId id="316" r:id="rId45"/>
    <p:sldId id="317" r:id="rId46"/>
    <p:sldId id="320" r:id="rId47"/>
    <p:sldId id="321" r:id="rId48"/>
    <p:sldId id="325" r:id="rId49"/>
    <p:sldId id="398" r:id="rId50"/>
    <p:sldId id="327" r:id="rId51"/>
    <p:sldId id="336" r:id="rId52"/>
    <p:sldId id="531" r:id="rId53"/>
    <p:sldId id="532" r:id="rId54"/>
    <p:sldId id="304" r:id="rId55"/>
    <p:sldId id="535" r:id="rId56"/>
    <p:sldId id="536" r:id="rId57"/>
    <p:sldId id="565" r:id="rId58"/>
    <p:sldId id="564" r:id="rId59"/>
    <p:sldId id="537" r:id="rId6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0824F2"/>
    <a:srgbClr val="061B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000" autoAdjust="0"/>
    <p:restoredTop sz="78516" autoAdjust="0"/>
  </p:normalViewPr>
  <p:slideViewPr>
    <p:cSldViewPr>
      <p:cViewPr varScale="1">
        <p:scale>
          <a:sx n="87" d="100"/>
          <a:sy n="87" d="100"/>
        </p:scale>
        <p:origin x="-200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0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interSettings" Target="printerSettings/printerSettings1.bin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Macintosh%20HD:Users:jshalf:Desktop:SystemDataMovement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oleObject" Target="Macintosh%20HD:Users:jshalf:Desktop:SystemDataMovemen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pPr>
              <a:solidFill>
                <a:srgbClr val="0000FF"/>
              </a:solidFill>
              <a:ln>
                <a:solidFill>
                  <a:srgbClr val="0000FF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100.0</c:v>
                </c:pt>
                <c:pt idx="2">
                  <c:v>3.5</c:v>
                </c:pt>
                <c:pt idx="3">
                  <c:v>3.5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2000.0</c:v>
                </c:pt>
                <c:pt idx="9">
                  <c:v>2000.0</c:v>
                </c:pt>
                <c:pt idx="10">
                  <c:v>2500.0</c:v>
                </c:pt>
                <c:pt idx="11">
                  <c:v>2500.0</c:v>
                </c:pt>
                <c:pt idx="12">
                  <c:v>3000.0</c:v>
                </c:pt>
                <c:pt idx="13">
                  <c:v>3000.0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solidFill>
                <a:srgbClr val="008000"/>
              </a:solidFill>
            </a:ln>
          </c:spPr>
          <c:marker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25.0</c:v>
                </c:pt>
                <c:pt idx="1">
                  <c:v>25.0</c:v>
                </c:pt>
                <c:pt idx="2">
                  <c:v>1.5</c:v>
                </c:pt>
                <c:pt idx="3">
                  <c:v>1.5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850.0</c:v>
                </c:pt>
                <c:pt idx="9">
                  <c:v>850.0</c:v>
                </c:pt>
                <c:pt idx="10">
                  <c:v>1000.0</c:v>
                </c:pt>
                <c:pt idx="11">
                  <c:v>1000.0</c:v>
                </c:pt>
                <c:pt idx="12">
                  <c:v>1500.0</c:v>
                </c:pt>
                <c:pt idx="13">
                  <c:v>1500.0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9574536"/>
        <c:axId val="599579224"/>
      </c:lineChart>
      <c:catAx>
        <c:axId val="5995745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599579224"/>
        <c:crosses val="autoZero"/>
        <c:auto val="1"/>
        <c:lblAlgn val="ctr"/>
        <c:lblOffset val="100"/>
        <c:noMultiLvlLbl val="0"/>
      </c:catAx>
      <c:valAx>
        <c:axId val="599579224"/>
        <c:scaling>
          <c:logBase val="10.0"/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PicoJoules</a:t>
                </a:r>
              </a:p>
            </c:rich>
          </c:tx>
          <c:layout>
            <c:manualLayout>
              <c:xMode val="edge"/>
              <c:yMode val="edge"/>
              <c:x val="0.0262345679012346"/>
              <c:y val="0.3110979917423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995745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3552043841742"/>
          <c:y val="0.385193383154038"/>
          <c:w val="0.133306722076407"/>
          <c:h val="0.165074261543897"/>
        </c:manualLayout>
      </c:layout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pPr>
              <a:solidFill>
                <a:srgbClr val="0000FF"/>
              </a:solidFill>
              <a:ln>
                <a:solidFill>
                  <a:srgbClr val="0000FF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100.0</c:v>
                </c:pt>
                <c:pt idx="2">
                  <c:v>3.5</c:v>
                </c:pt>
                <c:pt idx="3">
                  <c:v>3.5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2000.0</c:v>
                </c:pt>
                <c:pt idx="9">
                  <c:v>2000.0</c:v>
                </c:pt>
                <c:pt idx="10">
                  <c:v>2500.0</c:v>
                </c:pt>
                <c:pt idx="11">
                  <c:v>2500.0</c:v>
                </c:pt>
                <c:pt idx="12">
                  <c:v>3000.0</c:v>
                </c:pt>
                <c:pt idx="13">
                  <c:v>3000.0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solidFill>
                <a:srgbClr val="008000"/>
              </a:solidFill>
            </a:ln>
          </c:spPr>
          <c:marker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25.0</c:v>
                </c:pt>
                <c:pt idx="1">
                  <c:v>25.0</c:v>
                </c:pt>
                <c:pt idx="2">
                  <c:v>1.5</c:v>
                </c:pt>
                <c:pt idx="3">
                  <c:v>1.5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850.0</c:v>
                </c:pt>
                <c:pt idx="9">
                  <c:v>850.0</c:v>
                </c:pt>
                <c:pt idx="10">
                  <c:v>1000.0</c:v>
                </c:pt>
                <c:pt idx="11">
                  <c:v>1000.0</c:v>
                </c:pt>
                <c:pt idx="12">
                  <c:v>1500.0</c:v>
                </c:pt>
                <c:pt idx="13">
                  <c:v>1500.0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1502280"/>
        <c:axId val="611506936"/>
      </c:lineChart>
      <c:catAx>
        <c:axId val="61150228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611506936"/>
        <c:crosses val="autoZero"/>
        <c:auto val="1"/>
        <c:lblAlgn val="ctr"/>
        <c:lblOffset val="100"/>
        <c:noMultiLvlLbl val="0"/>
      </c:catAx>
      <c:valAx>
        <c:axId val="611506936"/>
        <c:scaling>
          <c:logBase val="10.0"/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PicoJoules</a:t>
                </a:r>
              </a:p>
            </c:rich>
          </c:tx>
          <c:layout>
            <c:manualLayout>
              <c:xMode val="edge"/>
              <c:yMode val="edge"/>
              <c:x val="0.0262345679012346"/>
              <c:y val="0.3110979917423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6115022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3552043841742"/>
          <c:y val="0.385193383154038"/>
          <c:w val="0.133306722076407"/>
          <c:h val="0.165074261543897"/>
        </c:manualLayout>
      </c:layout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E49B3-93D5-0147-B19D-BB6E8CC8C533}" type="datetimeFigureOut">
              <a:rPr lang="en-US" smtClean="0"/>
              <a:t>11/20/12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AA59E-2B1F-9447-935C-5667B439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96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650EA-0944-4F0A-B372-5D493974E0F3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DC26A-4628-467A-BDD3-FE7E900548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9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2008</a:t>
            </a:r>
            <a:r>
              <a:rPr lang="en-US" baseline="0" dirty="0" smtClean="0"/>
              <a:t> DARPA </a:t>
            </a:r>
            <a:r>
              <a:rPr lang="en-US" baseline="0" dirty="0" err="1" smtClean="0"/>
              <a:t>Exascale</a:t>
            </a:r>
            <a:r>
              <a:rPr lang="en-US" baseline="0" dirty="0" smtClean="0"/>
              <a:t> report has similar prediction:</a:t>
            </a:r>
          </a:p>
          <a:p>
            <a:r>
              <a:rPr lang="en-US" baseline="0" dirty="0" smtClean="0"/>
              <a:t>Gap between DRAM access time and flops will increase </a:t>
            </a:r>
          </a:p>
          <a:p>
            <a:r>
              <a:rPr lang="en-US" baseline="0" dirty="0" smtClean="0"/>
              <a:t>100x over coming decade to balance power usage between </a:t>
            </a:r>
          </a:p>
          <a:p>
            <a:r>
              <a:rPr lang="en-US" baseline="0" dirty="0" smtClean="0"/>
              <a:t>processors, DRAM</a:t>
            </a:r>
          </a:p>
          <a:p>
            <a:endParaRPr lang="en-US" baseline="0" dirty="0" smtClean="0"/>
          </a:p>
          <a:p>
            <a:r>
              <a:rPr lang="en-US" baseline="0" dirty="0" smtClean="0"/>
              <a:t>2011 NRC Report: “The Future of Computing Performance: Game Over or Next Level?”</a:t>
            </a:r>
          </a:p>
          <a:p>
            <a:r>
              <a:rPr lang="en-US" baseline="0" dirty="0" smtClean="0"/>
              <a:t>Millett and Fuller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2008</a:t>
            </a:r>
            <a:r>
              <a:rPr lang="en-US" baseline="0" dirty="0" smtClean="0"/>
              <a:t> DARPA </a:t>
            </a:r>
            <a:r>
              <a:rPr lang="en-US" baseline="0" dirty="0" err="1" smtClean="0"/>
              <a:t>Exascale</a:t>
            </a:r>
            <a:r>
              <a:rPr lang="en-US" baseline="0" dirty="0" smtClean="0"/>
              <a:t> report has similar prediction:</a:t>
            </a:r>
          </a:p>
          <a:p>
            <a:r>
              <a:rPr lang="en-US" baseline="0" dirty="0" smtClean="0"/>
              <a:t>Gap between DRAM access time and flops will increase </a:t>
            </a:r>
          </a:p>
          <a:p>
            <a:r>
              <a:rPr lang="en-US" baseline="0" dirty="0" smtClean="0"/>
              <a:t>100x over coming decade to balance power usage between </a:t>
            </a:r>
          </a:p>
          <a:p>
            <a:r>
              <a:rPr lang="en-US" baseline="0" dirty="0" smtClean="0"/>
              <a:t>processors, DRAM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Sparse: depends on George, Rose, </a:t>
            </a:r>
            <a:r>
              <a:rPr lang="en-US" dirty="0" err="1" smtClean="0"/>
              <a:t>Tarjan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01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/>
              <a:t>ScaLAPACK</a:t>
            </a:r>
            <a:r>
              <a:rPr lang="en-US" dirty="0" smtClean="0"/>
              <a:t> assumes best block size chosen</a:t>
            </a:r>
          </a:p>
          <a:p>
            <a:r>
              <a:rPr lang="en-US" dirty="0" smtClean="0"/>
              <a:t>Many references, blue are ours</a:t>
            </a:r>
          </a:p>
          <a:p>
            <a:r>
              <a:rPr lang="en-US" dirty="0" smtClean="0"/>
              <a:t>LU: uses tournament pivoting, different stability,</a:t>
            </a:r>
            <a:r>
              <a:rPr lang="en-US" baseline="0" dirty="0" smtClean="0"/>
              <a:t> speedup up to 29X predicted on </a:t>
            </a:r>
            <a:r>
              <a:rPr lang="en-US" baseline="0" dirty="0" err="1" smtClean="0"/>
              <a:t>exascale</a:t>
            </a:r>
            <a:endParaRPr lang="en-US" dirty="0" smtClean="0"/>
          </a:p>
          <a:p>
            <a:r>
              <a:rPr lang="en-US" dirty="0" smtClean="0"/>
              <a:t>QR uses TSQR, speedup</a:t>
            </a:r>
            <a:r>
              <a:rPr lang="en-US" baseline="0" dirty="0" smtClean="0"/>
              <a:t> up to 8x on Intel </a:t>
            </a:r>
            <a:r>
              <a:rPr lang="en-US" baseline="0" dirty="0" err="1" smtClean="0"/>
              <a:t>Clovertown</a:t>
            </a:r>
            <a:r>
              <a:rPr lang="en-US" baseline="0" dirty="0" smtClean="0"/>
              <a:t>, 13x on Tesla, up on cloud</a:t>
            </a:r>
            <a:endParaRPr lang="en-US" dirty="0" smtClean="0"/>
          </a:p>
          <a:p>
            <a:r>
              <a:rPr lang="en-US" dirty="0" err="1" smtClean="0"/>
              <a:t>Symeig</a:t>
            </a:r>
            <a:r>
              <a:rPr lang="en-US" baseline="0" dirty="0" smtClean="0"/>
              <a:t> uses variant of SBR, speedup up to</a:t>
            </a:r>
            <a:r>
              <a:rPr lang="en-US" dirty="0" smtClean="0"/>
              <a:t> </a:t>
            </a:r>
            <a:r>
              <a:rPr lang="en-US" b="1" dirty="0" smtClean="0"/>
              <a:t>30x</a:t>
            </a:r>
            <a:r>
              <a:rPr lang="en-US" dirty="0" smtClean="0"/>
              <a:t> on AMD </a:t>
            </a:r>
            <a:r>
              <a:rPr lang="en-US" dirty="0" err="1" smtClean="0"/>
              <a:t>Magny-Cours</a:t>
            </a:r>
            <a:r>
              <a:rPr lang="en-US" dirty="0" smtClean="0"/>
              <a:t>, </a:t>
            </a:r>
            <a:r>
              <a:rPr lang="en-US" dirty="0" err="1" smtClean="0"/>
              <a:t>vs</a:t>
            </a:r>
            <a:r>
              <a:rPr lang="en-US" dirty="0" smtClean="0"/>
              <a:t> ACML 4.4</a:t>
            </a:r>
          </a:p>
          <a:p>
            <a:pPr lvl="1"/>
            <a:r>
              <a:rPr lang="en-US" dirty="0" smtClean="0"/>
              <a:t>n=12000, b=500, 6 threads</a:t>
            </a:r>
            <a:endParaRPr lang="en-US" baseline="0" dirty="0" smtClean="0"/>
          </a:p>
          <a:p>
            <a:r>
              <a:rPr lang="en-US" baseline="0" dirty="0" err="1" smtClean="0"/>
              <a:t>Nonsymeig</a:t>
            </a:r>
            <a:r>
              <a:rPr lang="en-US" baseline="0" dirty="0" smtClean="0"/>
              <a:t>, uses randomization in two ways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A5644A-7184-4478-A98B-0804BDABBC9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SC’11 paper about need to fully utilize 3D torus network on BG/P to get this to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76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can use these models to answer many questions, including:</a:t>
            </a:r>
          </a:p>
          <a:p>
            <a:endParaRPr lang="en-US" dirty="0" smtClean="0"/>
          </a:p>
          <a:p>
            <a:r>
              <a:rPr lang="en-US" dirty="0" smtClean="0"/>
              <a:t>What is the minimum energy required for a computation?</a:t>
            </a:r>
          </a:p>
          <a:p>
            <a:r>
              <a:rPr lang="en-US" dirty="0" smtClean="0"/>
              <a:t>Given a maximum allowed runtime </a:t>
            </a:r>
            <a:r>
              <a:rPr lang="en-US" b="1" dirty="0" smtClean="0"/>
              <a:t>T</a:t>
            </a:r>
            <a:r>
              <a:rPr lang="en-US" dirty="0" smtClean="0"/>
              <a:t> , what is the minimum energy </a:t>
            </a:r>
            <a:r>
              <a:rPr lang="en-US" b="1" dirty="0" smtClean="0"/>
              <a:t>E </a:t>
            </a:r>
            <a:r>
              <a:rPr lang="en-US" dirty="0" smtClean="0"/>
              <a:t> needed to achieve it?</a:t>
            </a:r>
          </a:p>
          <a:p>
            <a:r>
              <a:rPr lang="en-US" dirty="0" smtClean="0"/>
              <a:t>Given a maximum energy budget </a:t>
            </a:r>
            <a:r>
              <a:rPr lang="en-US" b="1" dirty="0" smtClean="0"/>
              <a:t>E</a:t>
            </a:r>
            <a:r>
              <a:rPr lang="en-US" dirty="0" smtClean="0"/>
              <a:t> , what is the minimum runtime </a:t>
            </a:r>
            <a:r>
              <a:rPr lang="en-US" b="1" dirty="0" smtClean="0"/>
              <a:t>T </a:t>
            </a:r>
            <a:r>
              <a:rPr lang="en-US" dirty="0" smtClean="0"/>
              <a:t> that we can attain?</a:t>
            </a:r>
          </a:p>
          <a:p>
            <a:r>
              <a:rPr lang="en-US" dirty="0" smtClean="0"/>
              <a:t>The ratio </a:t>
            </a:r>
            <a:r>
              <a:rPr lang="en-US" b="1" dirty="0" smtClean="0"/>
              <a:t>P </a:t>
            </a:r>
            <a:r>
              <a:rPr lang="en-US" dirty="0" smtClean="0"/>
              <a:t>= </a:t>
            </a:r>
            <a:r>
              <a:rPr lang="en-US" b="1" dirty="0" smtClean="0"/>
              <a:t>E/T </a:t>
            </a:r>
            <a:r>
              <a:rPr lang="en-US" dirty="0" smtClean="0"/>
              <a:t> gives us the average power required to run the algorithm. Can we minimize the average power consumed?</a:t>
            </a:r>
          </a:p>
          <a:p>
            <a:r>
              <a:rPr lang="en-US" dirty="0" smtClean="0"/>
              <a:t>Given an algorithm, problem size, number of processors and target energy efficiency (GFLOPS/W), can we determine a set of architectural parameters to describe a conforming computer architecture?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88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But only bandwidth may decrease with c&gt;1, not latency</a:t>
            </a:r>
          </a:p>
          <a:p>
            <a:endParaRPr lang="en-US" dirty="0" smtClean="0"/>
          </a:p>
          <a:p>
            <a:r>
              <a:rPr lang="en-US" dirty="0" err="1" smtClean="0"/>
              <a:t>Qbox</a:t>
            </a:r>
            <a:r>
              <a:rPr lang="en-US" dirty="0" smtClean="0"/>
              <a:t> </a:t>
            </a:r>
            <a:r>
              <a:rPr lang="en-US" baseline="0" dirty="0" smtClean="0"/>
              <a:t>code – Francois </a:t>
            </a:r>
            <a:r>
              <a:rPr lang="en-US" baseline="0" dirty="0" err="1" smtClean="0"/>
              <a:t>Gygi</a:t>
            </a:r>
            <a:r>
              <a:rPr lang="en-US" baseline="0" dirty="0" smtClean="0"/>
              <a:t> @ UC Davis, also LLNL, first principle molecular dynamics, </a:t>
            </a:r>
          </a:p>
          <a:p>
            <a:r>
              <a:rPr lang="en-US" baseline="0" dirty="0" smtClean="0"/>
              <a:t>    uses Density Functional Theory to solve Kohn Sham equations, won Gordon Bell Prize in 2006 </a:t>
            </a:r>
          </a:p>
          <a:p>
            <a:r>
              <a:rPr lang="en-US" baseline="0" dirty="0" smtClean="0"/>
              <a:t>CTF – Cyclops Tensor Framework,</a:t>
            </a:r>
          </a:p>
          <a:p>
            <a:r>
              <a:rPr lang="en-US" baseline="0" dirty="0" smtClean="0"/>
              <a:t>            faster symmetric tensor contractions for “coupled cluster” electronic structure calculations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94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Detailed talk Thursday  4-4:30pm at SC12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2n^3/time 184% is at 7203 ours 7056 theirs (per node).</a:t>
            </a:r>
          </a:p>
          <a:p>
            <a:r>
              <a:rPr lang="en-US" dirty="0" smtClean="0"/>
              <a:t>Strong scaling range up to about p=1000</a:t>
            </a:r>
          </a:p>
          <a:p>
            <a:r>
              <a:rPr lang="en-US" dirty="0" smtClean="0"/>
              <a:t>Top on this plot: p = 7200, recent data up to 20K</a:t>
            </a:r>
          </a:p>
          <a:p>
            <a:endParaRPr lang="en-US" dirty="0" smtClean="0"/>
          </a:p>
          <a:p>
            <a:r>
              <a:rPr lang="en-US" dirty="0" smtClean="0"/>
              <a:t>2(.5)D-Strassen means 2(.5)D-outer, and </a:t>
            </a:r>
            <a:r>
              <a:rPr lang="en-US" dirty="0" err="1" smtClean="0"/>
              <a:t>Strassen</a:t>
            </a:r>
            <a:r>
              <a:rPr lang="en-US" dirty="0" smtClean="0"/>
              <a:t>-inner, on the small local matrices</a:t>
            </a:r>
          </a:p>
          <a:p>
            <a:r>
              <a:rPr lang="en-US" dirty="0" smtClean="0"/>
              <a:t>Strassen-2D means x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Strassen</a:t>
            </a:r>
            <a:r>
              <a:rPr lang="en-US" baseline="0" dirty="0" smtClean="0"/>
              <a:t> steps, followed by 2D classical for the 7^x </a:t>
            </a:r>
            <a:r>
              <a:rPr lang="en-US" baseline="0" dirty="0" err="1" smtClean="0"/>
              <a:t>subproblems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Detailed talk Thursday  4-4:30pm at SC12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49AD85-19F3-4FEB-898F-F699572E6052}" type="slidenum">
              <a:rPr lang="he-IL" smtClean="0"/>
              <a:pPr>
                <a:defRPr/>
              </a:pPr>
              <a:t>28</a:t>
            </a:fld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84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Detailed talk Thursday  4-4:30pm at SC12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2n^3/time 184% is at 7203 ours 7056 theirs (per node).</a:t>
            </a:r>
          </a:p>
          <a:p>
            <a:r>
              <a:rPr lang="en-US" dirty="0" smtClean="0"/>
              <a:t>Strong scaling range up to about p=1000</a:t>
            </a:r>
          </a:p>
          <a:p>
            <a:r>
              <a:rPr lang="en-US" dirty="0" smtClean="0"/>
              <a:t>Top on this plot: p = 7200, recent data up to 20K</a:t>
            </a:r>
          </a:p>
          <a:p>
            <a:endParaRPr lang="en-US" dirty="0" smtClean="0"/>
          </a:p>
          <a:p>
            <a:r>
              <a:rPr lang="en-US" dirty="0" smtClean="0"/>
              <a:t>2(.5)D-Strassen means 2(.5)D-outer, and </a:t>
            </a:r>
            <a:r>
              <a:rPr lang="en-US" dirty="0" err="1" smtClean="0"/>
              <a:t>Strassen</a:t>
            </a:r>
            <a:r>
              <a:rPr lang="en-US" dirty="0" smtClean="0"/>
              <a:t>-inner, on the small local matrices</a:t>
            </a:r>
          </a:p>
          <a:p>
            <a:r>
              <a:rPr lang="en-US" dirty="0" smtClean="0"/>
              <a:t>Strassen-2D means x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Strassen</a:t>
            </a:r>
            <a:r>
              <a:rPr lang="en-US" baseline="0" dirty="0" smtClean="0"/>
              <a:t> steps, followed by 2D classical for the 7^x </a:t>
            </a:r>
            <a:r>
              <a:rPr lang="en-US" baseline="0" dirty="0" err="1" smtClean="0"/>
              <a:t>subproblems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Detailed talk Thursday  4-4:30pm at SC12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49AD85-19F3-4FEB-898F-F699572E6052}" type="slidenum">
              <a:rPr lang="he-IL" smtClean="0"/>
              <a:pPr>
                <a:defRPr/>
              </a:pPr>
              <a:t>29</a:t>
            </a:fld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84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Intrepid: 163,480 core IBM BG/P at Argonne NL </a:t>
            </a:r>
            <a:r>
              <a:rPr lang="en-US" baseline="0" dirty="0" smtClean="0"/>
              <a:t> (ALCF)</a:t>
            </a:r>
            <a:endParaRPr lang="en-US" dirty="0" smtClean="0"/>
          </a:p>
          <a:p>
            <a:r>
              <a:rPr lang="en-US" dirty="0" smtClean="0"/>
              <a:t>Each node is one quad-core in a 3D torus</a:t>
            </a:r>
          </a:p>
          <a:p>
            <a:endParaRPr lang="en-US" dirty="0" smtClean="0"/>
          </a:p>
          <a:p>
            <a:r>
              <a:rPr lang="en-US" dirty="0" smtClean="0"/>
              <a:t>C=1(tree) uses special</a:t>
            </a:r>
            <a:r>
              <a:rPr lang="en-US" baseline="0" dirty="0" smtClean="0"/>
              <a:t> HW collective network, (no tree) just used regular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86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Generality:</a:t>
            </a:r>
            <a:r>
              <a:rPr lang="en-US" baseline="0" dirty="0" smtClean="0"/>
              <a:t> indirection ok </a:t>
            </a:r>
            <a:r>
              <a:rPr lang="en-US" baseline="0" dirty="0" err="1" smtClean="0"/>
              <a:t>sparsity</a:t>
            </a:r>
            <a:r>
              <a:rPr lang="en-US" baseline="0" dirty="0" smtClean="0"/>
              <a:t>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94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2000">
                <a:latin typeface="Calibri" charset="0"/>
                <a:ea typeface="ＭＳ Ｐゴシック" charset="0"/>
              </a:rPr>
              <a:t>Well – partitioned =  modest surface-to-volume ratio</a:t>
            </a:r>
            <a:endParaRPr lang="en-US" sz="190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1900">
                <a:latin typeface="Calibri" charset="0"/>
                <a:ea typeface="ＭＳ Ｐゴシック" charset="0"/>
              </a:rPr>
              <a:t>See bebop.cs.berkeley.edu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1900">
                <a:latin typeface="Calibri" charset="0"/>
                <a:ea typeface="ＭＳ Ｐゴシック" charset="0"/>
              </a:rPr>
              <a:t>CG: [van Rosendale, 83], [Chronopoulos and Gear, 89]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1900">
                <a:latin typeface="Calibri" charset="0"/>
                <a:ea typeface="ＭＳ Ｐゴシック" charset="0"/>
              </a:rPr>
              <a:t>GMRES: [Walker, 88], [Joubert and Carey, 92], [Bai et al., 94]</a:t>
            </a:r>
            <a:endParaRPr lang="en-US">
              <a:latin typeface="Calibri" charset="0"/>
              <a:ea typeface="ＭＳ Ｐゴシック" charset="0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8B3476FE-7FD0-814C-9B2B-C1DE5CD3F313}" type="slidenum">
              <a:rPr lang="en-US" sz="1200"/>
              <a:pPr eaLnBrk="1" hangingPunct="1"/>
              <a:t>38</a:t>
            </a:fld>
            <a:endParaRPr 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C. J. Pfeifer, Data flow and storage allocation for the PDQ-5 program</a:t>
            </a:r>
            <a:br>
              <a:rPr lang="en-US" dirty="0" smtClean="0"/>
            </a:br>
            <a:r>
              <a:rPr lang="en-US" dirty="0" smtClean="0"/>
              <a:t>on the Philco-2000, Comm. ACM 6, No. 7 (1963), 365366.</a:t>
            </a:r>
          </a:p>
          <a:p>
            <a:endParaRPr lang="en-US" dirty="0" smtClean="0"/>
          </a:p>
          <a:p>
            <a:r>
              <a:rPr lang="en-US" dirty="0" smtClean="0"/>
              <a:t>Referred to in paper by </a:t>
            </a:r>
            <a:r>
              <a:rPr lang="en-US" dirty="0" err="1" smtClean="0"/>
              <a:t>Leiserson</a:t>
            </a:r>
            <a:r>
              <a:rPr lang="en-US" dirty="0" smtClean="0"/>
              <a:t>/</a:t>
            </a:r>
            <a:r>
              <a:rPr lang="en-US" dirty="0" err="1" smtClean="0"/>
              <a:t>Rao</a:t>
            </a:r>
            <a:r>
              <a:rPr lang="en-US" dirty="0" smtClean="0"/>
              <a:t>/Toledo/ in 1993 paper </a:t>
            </a:r>
            <a:r>
              <a:rPr lang="en-US" smtClean="0"/>
              <a:t>on blocking covers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Red needed for k=1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Green also needed for k=2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Blue also needed for k=3</a:t>
            </a:r>
          </a:p>
        </p:txBody>
      </p:sp>
      <p:sp>
        <p:nvSpPr>
          <p:cNvPr id="30310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893992">
              <a:defRPr/>
            </a:pPr>
            <a:fld id="{9D58864D-29E8-4E5F-9B53-C24FEDD6ADF1}" type="slidenum">
              <a:rPr lang="en-US" smtClean="0"/>
              <a:pPr defTabSz="893992">
                <a:defRPr/>
              </a:pPr>
              <a:t>51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For Matrix</a:t>
            </a:r>
            <a:r>
              <a:rPr lang="en-US" baseline="0" dirty="0" smtClean="0"/>
              <a:t> pde900, U Florida collection,</a:t>
            </a:r>
            <a:r>
              <a:rPr lang="en-US" dirty="0" smtClean="0"/>
              <a:t> 2D Model problem, </a:t>
            </a:r>
            <a:r>
              <a:rPr lang="en-US" dirty="0" err="1" smtClean="0"/>
              <a:t>Nx</a:t>
            </a:r>
            <a:r>
              <a:rPr lang="en-US" dirty="0" smtClean="0"/>
              <a:t>=30,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Ny</a:t>
            </a:r>
            <a:r>
              <a:rPr lang="en-US" baseline="0" dirty="0" smtClean="0"/>
              <a:t>=30, non-normal.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Cond ~ 120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93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47856-6065-4A7E-A8BB-4EEBC5A1204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90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CS267 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C1DB8-F248-42BB-BDE3-451471CF73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2BE1A-6E79-45AA-87B6-3B5276F3DFE9}" type="datetimeFigureOut">
              <a:rPr lang="en-US" smtClean="0"/>
              <a:pPr/>
              <a:t>11/20/12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gi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4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4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s.berkeley.edu/~demmel" TargetMode="External"/><Relationship Id="rId3" Type="http://schemas.openxmlformats.org/officeDocument/2006/relationships/hyperlink" Target="http://www.xsede.org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153400" cy="1470025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Communication-Avoiding Algorithms</a:t>
            </a:r>
            <a:endParaRPr lang="en-US" sz="32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343400"/>
            <a:ext cx="6553200" cy="1752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Jim </a:t>
            </a:r>
            <a:r>
              <a:rPr lang="en-US" dirty="0" err="1" smtClean="0">
                <a:solidFill>
                  <a:schemeClr val="tx2"/>
                </a:solidFill>
              </a:rPr>
              <a:t>Demmel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>EECS &amp; Math Departments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UC Berkeley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293051-DFCA-41C4-B519-7E8337936010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7411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6388"/>
            <a:ext cx="83058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avoid communication? (1/3)</a:t>
            </a:r>
          </a:p>
        </p:txBody>
      </p:sp>
      <p:sp>
        <p:nvSpPr>
          <p:cNvPr id="17412" name="Rectangle 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9600" y="914400"/>
            <a:ext cx="8272463" cy="2322513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US" sz="2800" dirty="0" smtClean="0"/>
              <a:t>Algorithms have two costs (measured in time or energy):</a:t>
            </a:r>
          </a:p>
          <a:p>
            <a:pPr>
              <a:buFontTx/>
              <a:buAutoNum type="arabicPeriod"/>
            </a:pPr>
            <a:r>
              <a:rPr lang="en-US" sz="2800" dirty="0" smtClean="0"/>
              <a:t>Arithmetic (FLOPS)</a:t>
            </a:r>
          </a:p>
          <a:p>
            <a:pPr>
              <a:buFontTx/>
              <a:buAutoNum type="arabicPeriod"/>
            </a:pPr>
            <a:r>
              <a:rPr lang="en-US" sz="2800" dirty="0" smtClean="0"/>
              <a:t>Communication: moving data between </a:t>
            </a:r>
          </a:p>
          <a:p>
            <a:pPr lvl="1"/>
            <a:r>
              <a:rPr lang="en-US" sz="2400" dirty="0" smtClean="0"/>
              <a:t>levels of a memory hierarchy (sequential case) </a:t>
            </a:r>
          </a:p>
          <a:p>
            <a:pPr lvl="1"/>
            <a:r>
              <a:rPr lang="en-US" sz="2400" dirty="0" smtClean="0"/>
              <a:t>processors over a network (parallel case). </a:t>
            </a:r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933450" y="3640138"/>
            <a:ext cx="3551238" cy="2608262"/>
            <a:chOff x="2710" y="1618"/>
            <a:chExt cx="2422" cy="1779"/>
          </a:xfrm>
        </p:grpSpPr>
        <p:sp>
          <p:nvSpPr>
            <p:cNvPr id="17423" name="AutoShape 76"/>
            <p:cNvSpPr>
              <a:spLocks noChangeArrowheads="1"/>
            </p:cNvSpPr>
            <p:nvPr/>
          </p:nvSpPr>
          <p:spPr bwMode="auto">
            <a:xfrm>
              <a:off x="3418" y="1618"/>
              <a:ext cx="1036" cy="714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Cache</a:t>
              </a:r>
            </a:p>
          </p:txBody>
        </p:sp>
        <p:sp>
          <p:nvSpPr>
            <p:cNvPr id="17424" name="AutoShape 77"/>
            <p:cNvSpPr>
              <a:spLocks noChangeArrowheads="1"/>
            </p:cNvSpPr>
            <p:nvPr/>
          </p:nvSpPr>
          <p:spPr bwMode="auto">
            <a:xfrm flipV="1">
              <a:off x="2710" y="2578"/>
              <a:ext cx="2422" cy="8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15 w 21600"/>
                <a:gd name="T13" fmla="*/ 4431 h 21600"/>
                <a:gd name="T14" fmla="*/ 17185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35" y="21600"/>
                  </a:lnTo>
                  <a:lnTo>
                    <a:pt x="16365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25" name="AutoShape 78"/>
            <p:cNvSpPr>
              <a:spLocks noChangeArrowheads="1"/>
            </p:cNvSpPr>
            <p:nvPr/>
          </p:nvSpPr>
          <p:spPr bwMode="auto">
            <a:xfrm>
              <a:off x="3792" y="2332"/>
              <a:ext cx="274" cy="246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96"/>
          <p:cNvGrpSpPr>
            <a:grpSpLocks/>
          </p:cNvGrpSpPr>
          <p:nvPr/>
        </p:nvGrpSpPr>
        <p:grpSpPr bwMode="auto">
          <a:xfrm>
            <a:off x="4984750" y="3640138"/>
            <a:ext cx="3135313" cy="2617787"/>
            <a:chOff x="530" y="2195"/>
            <a:chExt cx="1975" cy="1649"/>
          </a:xfrm>
        </p:grpSpPr>
        <p:sp>
          <p:nvSpPr>
            <p:cNvPr id="17415" name="AutoShape 86"/>
            <p:cNvSpPr>
              <a:spLocks noChangeArrowheads="1"/>
            </p:cNvSpPr>
            <p:nvPr/>
          </p:nvSpPr>
          <p:spPr bwMode="auto">
            <a:xfrm>
              <a:off x="530" y="2195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6" name="AutoShape 87"/>
            <p:cNvSpPr>
              <a:spLocks noChangeArrowheads="1"/>
            </p:cNvSpPr>
            <p:nvPr/>
          </p:nvSpPr>
          <p:spPr bwMode="auto">
            <a:xfrm>
              <a:off x="699" y="2677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AutoShape 88"/>
            <p:cNvSpPr>
              <a:spLocks noChangeArrowheads="1"/>
            </p:cNvSpPr>
            <p:nvPr/>
          </p:nvSpPr>
          <p:spPr bwMode="auto">
            <a:xfrm>
              <a:off x="1806" y="3362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8" name="AutoShape 89"/>
            <p:cNvSpPr>
              <a:spLocks noChangeArrowheads="1"/>
            </p:cNvSpPr>
            <p:nvPr/>
          </p:nvSpPr>
          <p:spPr bwMode="auto">
            <a:xfrm>
              <a:off x="530" y="3362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9" name="AutoShape 90"/>
            <p:cNvSpPr>
              <a:spLocks noChangeArrowheads="1"/>
            </p:cNvSpPr>
            <p:nvPr/>
          </p:nvSpPr>
          <p:spPr bwMode="auto">
            <a:xfrm>
              <a:off x="1806" y="2195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20" name="AutoShape 91"/>
            <p:cNvSpPr>
              <a:spLocks noChangeArrowheads="1"/>
            </p:cNvSpPr>
            <p:nvPr/>
          </p:nvSpPr>
          <p:spPr bwMode="auto">
            <a:xfrm>
              <a:off x="1983" y="2673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AutoShape 92"/>
            <p:cNvSpPr>
              <a:spLocks noChangeArrowheads="1"/>
            </p:cNvSpPr>
            <p:nvPr/>
          </p:nvSpPr>
          <p:spPr bwMode="auto">
            <a:xfrm rot="-5400000">
              <a:off x="1347" y="2149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AutoShape 93"/>
            <p:cNvSpPr>
              <a:spLocks noChangeArrowheads="1"/>
            </p:cNvSpPr>
            <p:nvPr/>
          </p:nvSpPr>
          <p:spPr bwMode="auto">
            <a:xfrm rot="-5400000">
              <a:off x="1343" y="3322"/>
              <a:ext cx="344" cy="686"/>
            </a:xfrm>
            <a:prstGeom prst="upDownArrow">
              <a:avLst>
                <a:gd name="adj1" fmla="val 50000"/>
                <a:gd name="adj2" fmla="val 39884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8" name="Straight Connector 17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1" y="152400"/>
            <a:ext cx="82296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avoid communication? (2/3)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09600" y="719138"/>
            <a:ext cx="8001000" cy="152876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mtClean="0"/>
              <a:t>Running time of an algorithm is sum of 3 terms: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flops * time_per_flop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words moved / bandwidth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messages * latency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53263" y="6299200"/>
            <a:ext cx="1905000" cy="457200"/>
          </a:xfrm>
        </p:spPr>
        <p:txBody>
          <a:bodyPr/>
          <a:lstStyle/>
          <a:p>
            <a:pPr>
              <a:defRPr/>
            </a:pPr>
            <a:fld id="{096107BD-A7FD-4D6B-9533-9467B80703DB}" type="slidenum">
              <a:rPr lang="en-US" smtClean="0">
                <a:latin typeface="Helvetica"/>
              </a:rPr>
              <a:pPr>
                <a:defRPr/>
              </a:pPr>
              <a:t>3</a:t>
            </a:fld>
            <a:endParaRPr lang="en-US" dirty="0" smtClean="0">
              <a:latin typeface="Helvetica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145088" y="1473200"/>
            <a:ext cx="2398712" cy="762000"/>
            <a:chOff x="5105400" y="2133600"/>
            <a:chExt cx="2399879" cy="762000"/>
          </a:xfrm>
        </p:grpSpPr>
        <p:sp>
          <p:nvSpPr>
            <p:cNvPr id="6" name="Right Brace 5"/>
            <p:cNvSpPr/>
            <p:nvPr/>
          </p:nvSpPr>
          <p:spPr>
            <a:xfrm>
              <a:off x="5105400" y="2133600"/>
              <a:ext cx="152474" cy="7620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8469" name="TextBox 4"/>
            <p:cNvSpPr txBox="1">
              <a:spLocks noChangeArrowheads="1"/>
            </p:cNvSpPr>
            <p:nvPr/>
          </p:nvSpPr>
          <p:spPr bwMode="auto">
            <a:xfrm>
              <a:off x="5334000" y="2286000"/>
              <a:ext cx="217127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dirty="0">
                  <a:solidFill>
                    <a:schemeClr val="tx1"/>
                  </a:solidFill>
                  <a:latin typeface="Calibri" pitchFamily="34" charset="0"/>
                </a:rPr>
                <a:t>communication</a:t>
              </a:r>
            </a:p>
          </p:txBody>
        </p:sp>
      </p:grp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41338" y="2287588"/>
            <a:ext cx="8001000" cy="3079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marL="285750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 err="1">
                <a:solidFill>
                  <a:schemeClr val="tx1"/>
                </a:solidFill>
                <a:latin typeface="+mn-lt"/>
                <a:cs typeface="+mn-cs"/>
              </a:rPr>
              <a:t>Time_per_flop</a:t>
            </a:r>
            <a:r>
              <a:rPr lang="en-US" sz="2400" b="0" kern="0" dirty="0">
                <a:solidFill>
                  <a:schemeClr val="tx1"/>
                </a:solidFill>
                <a:latin typeface="+mn-lt"/>
                <a:cs typeface="+mn-cs"/>
              </a:rPr>
              <a:t>  &lt;&lt;  1/ bandwidth  &lt;&lt;  latency</a:t>
            </a: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>
                <a:solidFill>
                  <a:schemeClr val="tx1"/>
                </a:solidFill>
                <a:latin typeface="+mn-lt"/>
                <a:cs typeface="+mn-cs"/>
              </a:rPr>
              <a:t>Gaps growing exponentially with </a:t>
            </a:r>
            <a:r>
              <a:rPr lang="en-US" sz="2400" b="0" kern="0" dirty="0" smtClean="0">
                <a:solidFill>
                  <a:schemeClr val="tx1"/>
                </a:solidFill>
                <a:latin typeface="+mn-lt"/>
                <a:cs typeface="+mn-cs"/>
              </a:rPr>
              <a:t>time [FOSC</a:t>
            </a:r>
            <a:r>
              <a:rPr lang="en-US" sz="2400" kern="0" dirty="0" smtClean="0"/>
              <a:t>]</a:t>
            </a: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kern="0" dirty="0" smtClean="0"/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kern="0" dirty="0" smtClean="0"/>
          </a:p>
          <a:p>
            <a:pPr marL="285750" indent="-285750" eaLnBrk="0" hangingPunct="0"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 smtClean="0">
                <a:solidFill>
                  <a:schemeClr val="tx1"/>
                </a:solidFill>
                <a:latin typeface="+mn-lt"/>
                <a:cs typeface="+mn-cs"/>
              </a:rPr>
              <a:t>Avoid communication to save time</a:t>
            </a: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279" y="7010400"/>
            <a:ext cx="8534400" cy="1750223"/>
            <a:chOff x="541338" y="4486791"/>
            <a:chExt cx="8534400" cy="1749582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 bwMode="auto">
            <a:xfrm>
              <a:off x="541338" y="4486791"/>
              <a:ext cx="8534400" cy="1749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marL="342900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 typeface="Arial" pitchFamily="34" charset="0"/>
                <a:buChar char="•"/>
                <a:defRPr/>
              </a:pP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Goal : reorganize </a:t>
              </a:r>
              <a:r>
                <a:rPr lang="en-US" sz="2400" kern="0" dirty="0" smtClean="0"/>
                <a:t>algorithms</a:t>
              </a:r>
              <a:r>
                <a:rPr lang="en-US" sz="2400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to </a:t>
              </a:r>
              <a:r>
                <a:rPr lang="en-US" sz="2400" b="0" i="1" kern="0" dirty="0">
                  <a:solidFill>
                    <a:schemeClr val="tx1"/>
                  </a:solidFill>
                  <a:latin typeface="+mn-lt"/>
                  <a:cs typeface="+mn-cs"/>
                </a:rPr>
                <a:t>avoid</a:t>
              </a: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 communication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Between all memory hierarchy levels </a:t>
              </a:r>
            </a:p>
            <a:p>
              <a:pPr marL="1257300" lvl="2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L1         L2         DRAM          network,  etc 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kern="0" dirty="0" smtClean="0"/>
                <a:t>Very large</a:t>
              </a:r>
              <a:r>
                <a:rPr lang="en-US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speedups </a:t>
              </a:r>
              <a:r>
                <a:rPr lang="en-US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possible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1800" kern="0" dirty="0" smtClean="0"/>
                <a:t>Energy savings too!</a:t>
              </a:r>
              <a:endParaRPr lang="en-US" sz="1800" b="0" kern="0" dirty="0">
                <a:solidFill>
                  <a:srgbClr val="000099"/>
                </a:solidFill>
                <a:latin typeface="+mn-lt"/>
                <a:cs typeface="+mn-cs"/>
              </a:endParaRPr>
            </a:p>
          </p:txBody>
        </p:sp>
        <p:cxnSp>
          <p:nvCxnSpPr>
            <p:cNvPr id="18465" name="Straight Arrow Connector 10"/>
            <p:cNvCxnSpPr>
              <a:cxnSpLocks noChangeShapeType="1"/>
            </p:cNvCxnSpPr>
            <p:nvPr/>
          </p:nvCxnSpPr>
          <p:spPr bwMode="auto">
            <a:xfrm>
              <a:off x="2041525" y="5418312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6" name="Straight Arrow Connector 11"/>
            <p:cNvCxnSpPr>
              <a:cxnSpLocks noChangeShapeType="1"/>
            </p:cNvCxnSpPr>
            <p:nvPr/>
          </p:nvCxnSpPr>
          <p:spPr bwMode="auto">
            <a:xfrm>
              <a:off x="2727325" y="5419899"/>
              <a:ext cx="430213" cy="158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7" name="Straight Arrow Connector 11"/>
            <p:cNvCxnSpPr>
              <a:cxnSpLocks noChangeShapeType="1"/>
            </p:cNvCxnSpPr>
            <p:nvPr/>
          </p:nvCxnSpPr>
          <p:spPr bwMode="auto">
            <a:xfrm>
              <a:off x="3870325" y="5419899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285875" y="3217863"/>
          <a:ext cx="665298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3245"/>
                <a:gridCol w="1663245"/>
                <a:gridCol w="1663245"/>
                <a:gridCol w="1663245"/>
              </a:tblGrid>
              <a:tr h="344034">
                <a:tc gridSpan="4">
                  <a:txBody>
                    <a:bodyPr/>
                    <a:lstStyle/>
                    <a:p>
                      <a:pPr algn="ctr"/>
                      <a:r>
                        <a:rPr lang="en-US" baseline="0" dirty="0" smtClean="0"/>
                        <a:t>Annual improvements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196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Time_per_flop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Bandwidth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Latency</a:t>
                      </a:r>
                      <a:endParaRPr lang="en-US" dirty="0"/>
                    </a:p>
                  </a:txBody>
                  <a:tcPr/>
                </a:tc>
              </a:tr>
              <a:tr h="229196"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Network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15%</a:t>
                      </a:r>
                      <a:endParaRPr lang="en-US" dirty="0"/>
                    </a:p>
                  </a:txBody>
                  <a:tcPr/>
                </a:tc>
              </a:tr>
              <a:tr h="22919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787525" y="4137025"/>
            <a:ext cx="6461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0">
                <a:solidFill>
                  <a:schemeClr val="tx1"/>
                </a:solidFill>
              </a:rPr>
              <a:t>59%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81000" y="68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Minimize Communication? </a:t>
            </a:r>
            <a:r>
              <a:rPr lang="en-US" dirty="0" smtClean="0"/>
              <a:t>(</a:t>
            </a:r>
            <a:r>
              <a:rPr lang="en-US" dirty="0"/>
              <a:t>3</a:t>
            </a:r>
            <a:r>
              <a:rPr lang="en-US" dirty="0" smtClean="0"/>
              <a:t>/</a:t>
            </a:r>
            <a:r>
              <a:rPr lang="en-US" dirty="0"/>
              <a:t>3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957057"/>
              </p:ext>
            </p:extLst>
          </p:nvPr>
        </p:nvGraphicFramePr>
        <p:xfrm>
          <a:off x="9296400" y="14478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72200" y="6172200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Source: John </a:t>
            </a:r>
            <a:r>
              <a:rPr lang="en-US" dirty="0" err="1" smtClean="0"/>
              <a:t>Shalf</a:t>
            </a:r>
            <a:r>
              <a:rPr lang="en-US" dirty="0" smtClean="0"/>
              <a:t>, LBL</a:t>
            </a:r>
            <a:endParaRPr lang="en-US" dirty="0"/>
          </a:p>
        </p:txBody>
      </p:sp>
      <p:pic>
        <p:nvPicPr>
          <p:cNvPr id="7" name="Picture 6" descr="shalf_energ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" y="1390889"/>
            <a:ext cx="9132142" cy="546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703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Minimize Communication? </a:t>
            </a:r>
            <a:r>
              <a:rPr lang="en-US" dirty="0" smtClean="0"/>
              <a:t>(3/</a:t>
            </a:r>
            <a:r>
              <a:rPr lang="en-US" dirty="0"/>
              <a:t>3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330825"/>
              </p:ext>
            </p:extLst>
          </p:nvPr>
        </p:nvGraphicFramePr>
        <p:xfrm>
          <a:off x="9296400" y="14478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72200" y="6172200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Source: John </a:t>
            </a:r>
            <a:r>
              <a:rPr lang="en-US" dirty="0" err="1" smtClean="0"/>
              <a:t>Shalf</a:t>
            </a:r>
            <a:r>
              <a:rPr lang="en-US" dirty="0" smtClean="0"/>
              <a:t>, LBL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33600" y="762000"/>
            <a:ext cx="5262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Minimize communication to save energy</a:t>
            </a:r>
            <a:endParaRPr lang="en-US" sz="2400" dirty="0"/>
          </a:p>
        </p:txBody>
      </p:sp>
      <p:pic>
        <p:nvPicPr>
          <p:cNvPr id="5" name="Picture 4" descr="shalf_annot_energ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3049"/>
            <a:ext cx="9124918" cy="547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59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1" y="152400"/>
            <a:ext cx="82296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Goals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53263" y="6299200"/>
            <a:ext cx="1905000" cy="457200"/>
          </a:xfrm>
        </p:spPr>
        <p:txBody>
          <a:bodyPr/>
          <a:lstStyle/>
          <a:p>
            <a:pPr>
              <a:defRPr/>
            </a:pPr>
            <a:fld id="{096107BD-A7FD-4D6B-9533-9467B80703DB}" type="slidenum">
              <a:rPr lang="en-US" smtClean="0">
                <a:latin typeface="Helvetica"/>
              </a:rPr>
              <a:pPr>
                <a:defRPr/>
              </a:pPr>
              <a:t>6</a:t>
            </a:fld>
            <a:endParaRPr lang="en-US" dirty="0" smtClean="0">
              <a:latin typeface="Helvetica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52400" y="1447800"/>
            <a:ext cx="8893039" cy="3633815"/>
            <a:chOff x="32624" y="4486791"/>
            <a:chExt cx="9263965" cy="3632480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 bwMode="auto">
            <a:xfrm>
              <a:off x="32624" y="4486791"/>
              <a:ext cx="9263965" cy="3632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 marL="342900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 typeface="Arial" pitchFamily="34" charset="0"/>
                <a:buChar char="•"/>
                <a:defRPr/>
              </a:pPr>
              <a:r>
                <a:rPr lang="en-US" sz="3600" kern="0" dirty="0" smtClean="0"/>
                <a:t>R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edesign </a:t>
              </a:r>
              <a:r>
                <a:rPr lang="en-US" sz="3600" kern="0" dirty="0" smtClean="0"/>
                <a:t>algorithms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 to </a:t>
              </a:r>
              <a:r>
                <a:rPr lang="en-US" sz="3600" b="0" i="1" kern="0" dirty="0" smtClean="0">
                  <a:solidFill>
                    <a:schemeClr val="tx1"/>
                  </a:solidFill>
                </a:rPr>
                <a:t>avoid 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communication</a:t>
              </a:r>
              <a:endParaRPr lang="en-US" sz="3600" b="0" kern="0" dirty="0">
                <a:solidFill>
                  <a:schemeClr val="tx1"/>
                </a:solidFill>
              </a:endParaRP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3200" b="0" kern="0" dirty="0">
                  <a:solidFill>
                    <a:schemeClr val="tx1"/>
                  </a:solidFill>
                </a:rPr>
                <a:t>Between all memory hierarchy levels </a:t>
              </a:r>
            </a:p>
            <a:p>
              <a:pPr marL="1257300" lvl="2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3200" b="0" kern="0" dirty="0">
                  <a:solidFill>
                    <a:schemeClr val="tx1"/>
                  </a:solidFill>
                </a:rPr>
                <a:t>L1         L2         DRAM          network,  </a:t>
              </a:r>
              <a:r>
                <a:rPr lang="en-US" sz="3200" b="0" kern="0" dirty="0" err="1">
                  <a:solidFill>
                    <a:schemeClr val="tx1"/>
                  </a:solidFill>
                </a:rPr>
                <a:t>etc</a:t>
              </a:r>
              <a:r>
                <a:rPr lang="en-US" sz="3200" b="0" kern="0" dirty="0">
                  <a:solidFill>
                    <a:schemeClr val="tx1"/>
                  </a:solidFill>
                </a:rPr>
                <a:t> </a:t>
              </a:r>
              <a:endParaRPr lang="en-US" sz="3200" b="0" kern="0" dirty="0" smtClean="0">
                <a:solidFill>
                  <a:schemeClr val="tx1"/>
                </a:solidFill>
              </a:endParaRPr>
            </a:p>
            <a:p>
              <a:pPr marL="342900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600" kern="0" dirty="0" smtClean="0"/>
                <a:t>Attain lower bounds if possible</a:t>
              </a:r>
              <a:endParaRPr lang="en-US" sz="3600" kern="0" dirty="0"/>
            </a:p>
            <a:p>
              <a:pPr marL="800100" lvl="1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200" kern="0" dirty="0" smtClean="0"/>
                <a:t>Current algorithms often far from lower bounds</a:t>
              </a:r>
            </a:p>
            <a:p>
              <a:pPr marL="800100" lvl="1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200" kern="0" dirty="0"/>
                <a:t>L</a:t>
              </a:r>
              <a:r>
                <a:rPr lang="en-US" sz="3200" kern="0" dirty="0" smtClean="0"/>
                <a:t>arge</a:t>
              </a:r>
              <a:r>
                <a:rPr lang="en-US" sz="3200" b="0" kern="0" dirty="0" smtClean="0">
                  <a:solidFill>
                    <a:schemeClr val="tx1"/>
                  </a:solidFill>
                </a:rPr>
                <a:t> </a:t>
              </a:r>
              <a:r>
                <a:rPr lang="en-US" sz="3200" b="0" kern="0" dirty="0">
                  <a:solidFill>
                    <a:schemeClr val="tx1"/>
                  </a:solidFill>
                </a:rPr>
                <a:t>speedups </a:t>
              </a:r>
              <a:r>
                <a:rPr lang="en-US" sz="3200" b="0" kern="0" dirty="0" smtClean="0">
                  <a:solidFill>
                    <a:schemeClr val="tx1"/>
                  </a:solidFill>
                </a:rPr>
                <a:t>and energy savings possible </a:t>
              </a:r>
            </a:p>
          </p:txBody>
        </p:sp>
        <p:cxnSp>
          <p:nvCxnSpPr>
            <p:cNvPr id="18465" name="Straight Arrow Connector 10"/>
            <p:cNvCxnSpPr>
              <a:cxnSpLocks noChangeShapeType="1"/>
            </p:cNvCxnSpPr>
            <p:nvPr/>
          </p:nvCxnSpPr>
          <p:spPr bwMode="auto">
            <a:xfrm>
              <a:off x="1937703" y="6008644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6" name="Straight Arrow Connector 11"/>
            <p:cNvCxnSpPr>
              <a:cxnSpLocks noChangeShapeType="1"/>
            </p:cNvCxnSpPr>
            <p:nvPr/>
          </p:nvCxnSpPr>
          <p:spPr bwMode="auto">
            <a:xfrm>
              <a:off x="3253812" y="6008643"/>
              <a:ext cx="430213" cy="158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7" name="Straight Arrow Connector 11"/>
            <p:cNvCxnSpPr>
              <a:cxnSpLocks noChangeShapeType="1"/>
            </p:cNvCxnSpPr>
            <p:nvPr/>
          </p:nvCxnSpPr>
          <p:spPr bwMode="auto">
            <a:xfrm>
              <a:off x="5238270" y="6008644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cxnSp>
        <p:nvCxnSpPr>
          <p:cNvPr id="16" name="Straight Connector 15"/>
          <p:cNvCxnSpPr/>
          <p:nvPr/>
        </p:nvCxnSpPr>
        <p:spPr>
          <a:xfrm>
            <a:off x="381000" y="68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2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600201"/>
            <a:ext cx="8610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“New Algorithm Improves Performance and Accuracy on Extreme-Scale Computing Systems. </a:t>
            </a:r>
            <a:r>
              <a:rPr lang="en-US" sz="2200" b="1" dirty="0" smtClean="0"/>
              <a:t>On modern computer architectures, communication between processors takes longer than the performance of a floating point arithmetic operation by a given processor. </a:t>
            </a:r>
            <a:r>
              <a:rPr lang="en-US" sz="2200" dirty="0" smtClean="0"/>
              <a:t>ASCR researchers have developed a new method, derived from commonly used linear algebra methods, to </a:t>
            </a:r>
            <a:r>
              <a:rPr lang="en-US" sz="2200" b="1" dirty="0" smtClean="0"/>
              <a:t>minimize communications between processors and the memory hierarchy, by reformulating the communication patterns specified within the algorithm</a:t>
            </a:r>
            <a:r>
              <a:rPr lang="en-US" sz="2200" dirty="0" smtClean="0"/>
              <a:t>. This method has been implemented in the TRILINOS framework, a highly-regarded suite of software, which provides functionality for researchers around the world to solve large scale, complex multi-physics problems.”</a:t>
            </a:r>
          </a:p>
          <a:p>
            <a:endParaRPr lang="en-US" sz="2000" dirty="0" smtClean="0"/>
          </a:p>
          <a:p>
            <a:pPr algn="r"/>
            <a:r>
              <a:rPr lang="en-US" sz="1600" dirty="0" smtClean="0"/>
              <a:t>FY 2010 Congressional Budget, Volume 4, FY2010 Accomplishments, Advanced Scientific Computing Research (ASCR), pages 65-67.</a:t>
            </a:r>
            <a:endParaRPr lang="en-US" sz="1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President Obama cites Communication-Avoiding Algorithms in the FY 2012 Department of Energy Budget Request to Congress: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5943600"/>
            <a:ext cx="49530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CA-GMRES (</a:t>
            </a:r>
            <a:r>
              <a:rPr lang="en-US" sz="1600" b="1" dirty="0" err="1" smtClean="0"/>
              <a:t>Hoemmen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Mohiyuddin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Yelick</a:t>
            </a:r>
            <a:r>
              <a:rPr lang="en-US" sz="1600" b="1" dirty="0" smtClean="0"/>
              <a:t>, JD)</a:t>
            </a:r>
          </a:p>
          <a:p>
            <a:pPr algn="ctr"/>
            <a:r>
              <a:rPr lang="en-US" sz="1600" b="1" dirty="0" smtClean="0"/>
              <a:t>“Tall-Skinny” QR (</a:t>
            </a:r>
            <a:r>
              <a:rPr lang="en-US" sz="1600" b="1" dirty="0" err="1" smtClean="0"/>
              <a:t>Grigori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Hoemmen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Langou</a:t>
            </a:r>
            <a:r>
              <a:rPr lang="en-US" sz="1600" b="1" dirty="0" smtClean="0"/>
              <a:t>,  JD)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rot="16200000" flipV="1">
            <a:off x="1790700" y="5067300"/>
            <a:ext cx="1676400" cy="76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Survey state of the art of CA (</a:t>
            </a:r>
            <a:r>
              <a:rPr lang="en-US" dirty="0" err="1" smtClean="0"/>
              <a:t>Comm</a:t>
            </a:r>
            <a:r>
              <a:rPr lang="en-US" dirty="0" smtClean="0"/>
              <a:t>-Avoiding) algorithms</a:t>
            </a:r>
          </a:p>
          <a:p>
            <a:pPr lvl="1"/>
            <a:r>
              <a:rPr lang="en-US" dirty="0" smtClean="0"/>
              <a:t>CA O(n</a:t>
            </a:r>
            <a:r>
              <a:rPr lang="en-US" baseline="30000" dirty="0" smtClean="0"/>
              <a:t>3</a:t>
            </a:r>
            <a:r>
              <a:rPr lang="en-US" dirty="0" smtClean="0"/>
              <a:t>) 2.5D </a:t>
            </a:r>
            <a:r>
              <a:rPr lang="en-US" dirty="0" err="1" smtClean="0"/>
              <a:t>Matmul</a:t>
            </a:r>
            <a:endParaRPr lang="en-US" dirty="0" smtClean="0"/>
          </a:p>
          <a:p>
            <a:pPr lvl="1"/>
            <a:r>
              <a:rPr lang="en-US" dirty="0" smtClean="0"/>
              <a:t>CA </a:t>
            </a:r>
            <a:r>
              <a:rPr lang="en-US" dirty="0" err="1" smtClean="0"/>
              <a:t>Strassen</a:t>
            </a:r>
            <a:r>
              <a:rPr lang="en-US" dirty="0" smtClean="0"/>
              <a:t> </a:t>
            </a:r>
            <a:r>
              <a:rPr lang="en-US" dirty="0" err="1" smtClean="0"/>
              <a:t>Matmul</a:t>
            </a:r>
            <a:endParaRPr lang="en-US" dirty="0" smtClean="0"/>
          </a:p>
          <a:p>
            <a:r>
              <a:rPr lang="en-US" dirty="0" smtClean="0"/>
              <a:t>Beyond linear algebra</a:t>
            </a:r>
          </a:p>
          <a:p>
            <a:pPr lvl="1"/>
            <a:r>
              <a:rPr lang="en-US" dirty="0" smtClean="0"/>
              <a:t>Extending lower bounds to any algorithm with arrays</a:t>
            </a:r>
          </a:p>
          <a:p>
            <a:pPr lvl="1"/>
            <a:r>
              <a:rPr lang="en-US" dirty="0" smtClean="0"/>
              <a:t>Communication-optimal N-body algorithm </a:t>
            </a:r>
          </a:p>
          <a:p>
            <a:r>
              <a:rPr lang="en-US" dirty="0" smtClean="0"/>
              <a:t>CA-</a:t>
            </a:r>
            <a:r>
              <a:rPr lang="en-US" dirty="0" err="1" smtClean="0"/>
              <a:t>Krylov</a:t>
            </a:r>
            <a:r>
              <a:rPr lang="en-US" dirty="0" smtClean="0"/>
              <a:t>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08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Collaborators and Supporters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Michael Christ, Jack </a:t>
            </a:r>
            <a:r>
              <a:rPr lang="en-US" dirty="0" err="1" smtClean="0"/>
              <a:t>Dongarra</a:t>
            </a:r>
            <a:r>
              <a:rPr lang="en-US" dirty="0" smtClean="0"/>
              <a:t>, </a:t>
            </a:r>
            <a:r>
              <a:rPr lang="en-US" dirty="0" err="1" smtClean="0"/>
              <a:t>Ioana</a:t>
            </a:r>
            <a:r>
              <a:rPr lang="en-US" dirty="0" smtClean="0"/>
              <a:t> </a:t>
            </a:r>
            <a:r>
              <a:rPr lang="en-US" dirty="0" err="1" smtClean="0"/>
              <a:t>Dumitriu</a:t>
            </a:r>
            <a:r>
              <a:rPr lang="en-US" dirty="0" smtClean="0"/>
              <a:t>, Armando Fox,  David </a:t>
            </a:r>
            <a:r>
              <a:rPr lang="en-US" dirty="0" err="1" smtClean="0"/>
              <a:t>Gleich</a:t>
            </a:r>
            <a:r>
              <a:rPr lang="en-US" dirty="0" smtClean="0"/>
              <a:t>, Laura </a:t>
            </a:r>
            <a:r>
              <a:rPr lang="en-US" dirty="0" err="1" smtClean="0"/>
              <a:t>Grigori</a:t>
            </a:r>
            <a:r>
              <a:rPr lang="en-US" dirty="0" smtClean="0"/>
              <a:t>, Ming </a:t>
            </a:r>
            <a:r>
              <a:rPr lang="en-US" dirty="0" err="1" smtClean="0"/>
              <a:t>Gu</a:t>
            </a:r>
            <a:r>
              <a:rPr lang="en-US" dirty="0" smtClean="0"/>
              <a:t>, Mike </a:t>
            </a:r>
            <a:r>
              <a:rPr lang="en-US" dirty="0" err="1" smtClean="0"/>
              <a:t>Heroux</a:t>
            </a:r>
            <a:r>
              <a:rPr lang="en-US" dirty="0" smtClean="0"/>
              <a:t>, Mark </a:t>
            </a:r>
            <a:r>
              <a:rPr lang="en-US" dirty="0" err="1" smtClean="0"/>
              <a:t>Hoemmen</a:t>
            </a:r>
            <a:r>
              <a:rPr lang="en-US" dirty="0" smtClean="0"/>
              <a:t>, Olga Holtz, Kurt </a:t>
            </a:r>
            <a:r>
              <a:rPr lang="en-US" dirty="0" err="1" smtClean="0"/>
              <a:t>Keutzer</a:t>
            </a:r>
            <a:r>
              <a:rPr lang="en-US" dirty="0" smtClean="0"/>
              <a:t>, </a:t>
            </a:r>
            <a:r>
              <a:rPr lang="en-US" dirty="0" err="1" smtClean="0"/>
              <a:t>Julien</a:t>
            </a:r>
            <a:r>
              <a:rPr lang="en-US" dirty="0" smtClean="0"/>
              <a:t> </a:t>
            </a:r>
            <a:r>
              <a:rPr lang="en-US" dirty="0" err="1" smtClean="0"/>
              <a:t>Langou</a:t>
            </a:r>
            <a:r>
              <a:rPr lang="en-US" dirty="0" smtClean="0"/>
              <a:t>, Tom Scanlon, Michelle </a:t>
            </a:r>
            <a:r>
              <a:rPr lang="en-US" dirty="0" err="1" smtClean="0"/>
              <a:t>Strout</a:t>
            </a:r>
            <a:r>
              <a:rPr lang="en-US" dirty="0" smtClean="0"/>
              <a:t>, Sam Williams,  </a:t>
            </a:r>
            <a:r>
              <a:rPr lang="en-US" dirty="0" err="1" smtClean="0"/>
              <a:t>Hua</a:t>
            </a:r>
            <a:r>
              <a:rPr lang="en-US" dirty="0" smtClean="0"/>
              <a:t> Xiang, Kathy </a:t>
            </a:r>
            <a:r>
              <a:rPr lang="en-US" dirty="0" err="1" smtClean="0"/>
              <a:t>Yelick</a:t>
            </a:r>
            <a:endParaRPr lang="en-US" dirty="0" smtClean="0"/>
          </a:p>
          <a:p>
            <a:r>
              <a:rPr lang="en-US" dirty="0" smtClean="0"/>
              <a:t>Michael Anderson, Grey Ballard, Austin Benson, </a:t>
            </a:r>
            <a:r>
              <a:rPr lang="en-US" dirty="0" err="1" smtClean="0"/>
              <a:t>Abhinav</a:t>
            </a:r>
            <a:r>
              <a:rPr lang="en-US" dirty="0" smtClean="0"/>
              <a:t> </a:t>
            </a:r>
            <a:r>
              <a:rPr lang="en-US" dirty="0" err="1" smtClean="0"/>
              <a:t>Bhatele</a:t>
            </a:r>
            <a:r>
              <a:rPr lang="en-US" dirty="0" smtClean="0"/>
              <a:t>, </a:t>
            </a:r>
            <a:r>
              <a:rPr lang="en-US" dirty="0" err="1" smtClean="0"/>
              <a:t>Aydin</a:t>
            </a:r>
            <a:r>
              <a:rPr lang="en-US" dirty="0" smtClean="0"/>
              <a:t> </a:t>
            </a:r>
            <a:r>
              <a:rPr lang="en-US" dirty="0" err="1" smtClean="0"/>
              <a:t>Buluc</a:t>
            </a:r>
            <a:r>
              <a:rPr lang="en-US" dirty="0" smtClean="0"/>
              <a:t>,   Erin Carson, Maryam </a:t>
            </a:r>
            <a:r>
              <a:rPr lang="en-US" dirty="0" err="1" smtClean="0"/>
              <a:t>Dehnavi</a:t>
            </a:r>
            <a:r>
              <a:rPr lang="en-US" dirty="0" smtClean="0"/>
              <a:t>, Michael Driscoll, </a:t>
            </a:r>
            <a:r>
              <a:rPr lang="en-US" dirty="0" err="1" smtClean="0"/>
              <a:t>Evangelos</a:t>
            </a:r>
            <a:r>
              <a:rPr lang="en-US" dirty="0" smtClean="0"/>
              <a:t> </a:t>
            </a:r>
            <a:r>
              <a:rPr lang="en-US" dirty="0" err="1" smtClean="0"/>
              <a:t>Georganas</a:t>
            </a:r>
            <a:r>
              <a:rPr lang="en-US" dirty="0" smtClean="0"/>
              <a:t>, Nicholas Knight, </a:t>
            </a:r>
            <a:r>
              <a:rPr lang="en-US" dirty="0" err="1" smtClean="0"/>
              <a:t>Penporn</a:t>
            </a:r>
            <a:r>
              <a:rPr lang="en-US" dirty="0" smtClean="0"/>
              <a:t> </a:t>
            </a:r>
            <a:r>
              <a:rPr lang="en-US" dirty="0" err="1" smtClean="0"/>
              <a:t>Koanantakool</a:t>
            </a:r>
            <a:r>
              <a:rPr lang="en-US" dirty="0" smtClean="0"/>
              <a:t>, Ben </a:t>
            </a:r>
            <a:r>
              <a:rPr lang="en-US" dirty="0" err="1" smtClean="0"/>
              <a:t>Lipshitz</a:t>
            </a:r>
            <a:r>
              <a:rPr lang="en-US" dirty="0" smtClean="0"/>
              <a:t>, </a:t>
            </a:r>
            <a:r>
              <a:rPr lang="en-US" dirty="0" err="1" smtClean="0"/>
              <a:t>Marghoob</a:t>
            </a:r>
            <a:r>
              <a:rPr lang="en-US" dirty="0" smtClean="0"/>
              <a:t> </a:t>
            </a:r>
            <a:r>
              <a:rPr lang="en-US" dirty="0" err="1" smtClean="0"/>
              <a:t>Mohiyuddin</a:t>
            </a:r>
            <a:r>
              <a:rPr lang="en-US" dirty="0" smtClean="0"/>
              <a:t>,  </a:t>
            </a:r>
            <a:r>
              <a:rPr lang="en-US" dirty="0" err="1" smtClean="0"/>
              <a:t>Oded</a:t>
            </a:r>
            <a:r>
              <a:rPr lang="en-US" dirty="0" smtClean="0"/>
              <a:t> Schwartz, Edgar </a:t>
            </a:r>
            <a:r>
              <a:rPr lang="en-US" dirty="0" err="1" smtClean="0"/>
              <a:t>Solomonik</a:t>
            </a:r>
            <a:endParaRPr lang="en-US" dirty="0" smtClean="0"/>
          </a:p>
          <a:p>
            <a:r>
              <a:rPr lang="en-US" dirty="0" smtClean="0"/>
              <a:t>Other members of </a:t>
            </a:r>
            <a:r>
              <a:rPr lang="en-US" dirty="0" err="1" smtClean="0"/>
              <a:t>ParLab</a:t>
            </a:r>
            <a:r>
              <a:rPr lang="en-US" dirty="0"/>
              <a:t>, BEBOP, CACHE, EASI</a:t>
            </a:r>
            <a:r>
              <a:rPr lang="en-US" dirty="0" smtClean="0"/>
              <a:t>, </a:t>
            </a:r>
            <a:r>
              <a:rPr lang="en-US" dirty="0" err="1" smtClean="0"/>
              <a:t>FASTMath</a:t>
            </a:r>
            <a:r>
              <a:rPr lang="en-US" dirty="0" smtClean="0"/>
              <a:t>, </a:t>
            </a:r>
            <a:r>
              <a:rPr lang="en-US" dirty="0"/>
              <a:t>MAGMA, PLASMA, TOPS </a:t>
            </a:r>
            <a:r>
              <a:rPr lang="en-US" dirty="0" smtClean="0"/>
              <a:t>projects</a:t>
            </a:r>
          </a:p>
          <a:p>
            <a:endParaRPr lang="en-US" dirty="0" smtClean="0"/>
          </a:p>
          <a:p>
            <a:r>
              <a:rPr lang="en-US" dirty="0" smtClean="0"/>
              <a:t>Thanks to NSF, </a:t>
            </a:r>
            <a:r>
              <a:rPr lang="en-US" dirty="0"/>
              <a:t>DOE, UC </a:t>
            </a:r>
            <a:r>
              <a:rPr lang="en-US" dirty="0" smtClean="0"/>
              <a:t>Discovery, Intel</a:t>
            </a:r>
            <a:r>
              <a:rPr lang="en-US" dirty="0"/>
              <a:t>, Microsoft, </a:t>
            </a:r>
            <a:r>
              <a:rPr lang="en-US" dirty="0" err="1"/>
              <a:t>Mathworks</a:t>
            </a:r>
            <a:r>
              <a:rPr lang="en-US" dirty="0"/>
              <a:t>, National Instruments, NEC, Nokia, NVIDIA, Samsung, </a:t>
            </a:r>
            <a:r>
              <a:rPr lang="en-US" dirty="0" smtClean="0"/>
              <a:t>Oracle </a:t>
            </a:r>
          </a:p>
          <a:p>
            <a:endParaRPr lang="en-US" dirty="0"/>
          </a:p>
          <a:p>
            <a:r>
              <a:rPr lang="en-US" dirty="0" err="1"/>
              <a:t>b</a:t>
            </a:r>
            <a:r>
              <a:rPr lang="en-US" dirty="0" err="1" smtClean="0"/>
              <a:t>ebop.cs.berkeley.edu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133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Survey state of the art of CA (</a:t>
            </a:r>
            <a:r>
              <a:rPr lang="en-US" dirty="0" err="1" smtClean="0"/>
              <a:t>Comm</a:t>
            </a:r>
            <a:r>
              <a:rPr lang="en-US" dirty="0" smtClean="0"/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11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CA Linear Algebra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2400" y="1371600"/>
            <a:ext cx="8991600" cy="5181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“Direct” Linear Algebra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Lower bounds on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communication for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 algebra problems like Ax=b, least squares, Ax = </a:t>
            </a:r>
            <a:r>
              <a:rPr kumimoji="0" lang="el-G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λ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SVD, etc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/>
              <a:t>Not attained by algorithms in standard libraries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/>
              <a:t>New a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lgorithms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attain these lower bounds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smtClean="0"/>
              <a:t>Being added to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libraries: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/LAPACK,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PLASMA, MAGMA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Large speed-ups possible</a:t>
            </a:r>
          </a:p>
          <a:p>
            <a:pPr marL="685800" lvl="1" indent="-2286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err="1" smtClean="0"/>
              <a:t>Autotuning</a:t>
            </a:r>
            <a:r>
              <a:rPr lang="en-US" sz="2800" dirty="0" smtClean="0"/>
              <a:t> to find optimal implementation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Ditto for “Iterative” Linear Algebra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1143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07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“n</a:t>
            </a:r>
            <a:r>
              <a:rPr lang="en-US" sz="3600" baseline="30000" dirty="0" smtClean="0"/>
              <a:t>3</a:t>
            </a:r>
            <a:r>
              <a:rPr lang="en-US" sz="3600" dirty="0" smtClean="0"/>
              <a:t>-like”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86000" y="4191000"/>
            <a:ext cx="67056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0" y="4648200"/>
            <a:ext cx="67056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2209800"/>
            <a:ext cx="91440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“n</a:t>
            </a:r>
            <a:r>
              <a:rPr lang="en-US" sz="3600" baseline="30000" dirty="0" smtClean="0"/>
              <a:t>3</a:t>
            </a:r>
            <a:r>
              <a:rPr lang="en-US" sz="3600" dirty="0" smtClean="0"/>
              <a:t>-like”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 ≥  #</a:t>
            </a:r>
            <a:r>
              <a:rPr lang="en-US" sz="2400" b="1" dirty="0" err="1" smtClean="0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 / </a:t>
            </a:r>
            <a:r>
              <a:rPr lang="en-US" sz="2400" b="1" dirty="0" err="1" smtClean="0">
                <a:solidFill>
                  <a:schemeClr val="tx1"/>
                </a:solidFill>
                <a:sym typeface="Symbol" pitchFamily="18" charset="2"/>
              </a:rPr>
              <a:t>largest_message_size</a:t>
            </a: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19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“n</a:t>
            </a:r>
            <a:r>
              <a:rPr lang="en-US" sz="3600" baseline="30000" dirty="0" smtClean="0"/>
              <a:t>3</a:t>
            </a:r>
            <a:r>
              <a:rPr lang="en-US" sz="3600" dirty="0" smtClean="0"/>
              <a:t>-like”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200" y="5414427"/>
            <a:ext cx="7620000" cy="126188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SIAM SIAG/Linear Algebra Prize, 2012</a:t>
            </a:r>
          </a:p>
          <a:p>
            <a:pPr algn="ctr"/>
            <a:r>
              <a:rPr lang="en-US" sz="2400" b="1" dirty="0" smtClean="0">
                <a:solidFill>
                  <a:srgbClr val="0000FF"/>
                </a:solidFill>
              </a:rPr>
              <a:t>Ballard, D., Holtz, Schwartz</a:t>
            </a:r>
          </a:p>
          <a:p>
            <a:pPr algn="ctr"/>
            <a:endParaRPr 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536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798512" y="306388"/>
            <a:ext cx="8116887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Can we attain these lower bounds?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53988" y="914400"/>
            <a:ext cx="8961437" cy="5851525"/>
          </a:xfrm>
        </p:spPr>
        <p:txBody>
          <a:bodyPr>
            <a:normAutofit/>
          </a:bodyPr>
          <a:lstStyle/>
          <a:p>
            <a:r>
              <a:rPr lang="en-US" dirty="0" smtClean="0"/>
              <a:t>Do conventional dense algorithms as implemented in  LAPACK and </a:t>
            </a:r>
            <a:r>
              <a:rPr lang="en-US" dirty="0" err="1" smtClean="0"/>
              <a:t>ScaLAPACK</a:t>
            </a:r>
            <a:r>
              <a:rPr lang="en-US" dirty="0" smtClean="0"/>
              <a:t> attain these bounds?</a:t>
            </a:r>
          </a:p>
          <a:p>
            <a:pPr lvl="1"/>
            <a:r>
              <a:rPr lang="en-US" dirty="0" smtClean="0"/>
              <a:t>Often not </a:t>
            </a:r>
          </a:p>
          <a:p>
            <a:r>
              <a:rPr lang="en-US" dirty="0" smtClean="0"/>
              <a:t>If not, are there other algorithms that do?</a:t>
            </a:r>
          </a:p>
          <a:p>
            <a:pPr lvl="1"/>
            <a:r>
              <a:rPr lang="en-US" dirty="0" smtClean="0"/>
              <a:t>Yes, for much of dense linear algebra</a:t>
            </a:r>
          </a:p>
          <a:p>
            <a:pPr lvl="1"/>
            <a:r>
              <a:rPr lang="en-US" dirty="0" smtClean="0"/>
              <a:t>New algorithms, with new numerical properties,               new ways to encode answers,  new data structures                             </a:t>
            </a:r>
          </a:p>
          <a:p>
            <a:pPr lvl="1"/>
            <a:r>
              <a:rPr lang="en-US" dirty="0" smtClean="0"/>
              <a:t>Not just loop transformations (need those too!)</a:t>
            </a:r>
          </a:p>
          <a:p>
            <a:r>
              <a:rPr lang="en-US" dirty="0" smtClean="0"/>
              <a:t>Only a few sparse algorithms so far</a:t>
            </a:r>
          </a:p>
          <a:p>
            <a:r>
              <a:rPr lang="en-US" dirty="0" smtClean="0"/>
              <a:t>Lots of work in progress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352800" y="6416675"/>
            <a:ext cx="2133600" cy="365125"/>
          </a:xfrm>
        </p:spPr>
        <p:txBody>
          <a:bodyPr/>
          <a:lstStyle/>
          <a:p>
            <a:pPr algn="ctr">
              <a:defRPr/>
            </a:pPr>
            <a:fld id="{5839375E-32BF-43EE-A881-86705A256A45}" type="slidenum">
              <a:rPr lang="en-US" smtClean="0"/>
              <a:pPr algn="ctr">
                <a:defRPr/>
              </a:pPr>
              <a:t>15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itle 1"/>
          <p:cNvSpPr>
            <a:spLocks noGrp="1"/>
          </p:cNvSpPr>
          <p:nvPr>
            <p:ph type="title"/>
          </p:nvPr>
        </p:nvSpPr>
        <p:spPr>
          <a:xfrm>
            <a:off x="779463" y="11570"/>
            <a:ext cx="7296150" cy="80168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Summary of dense </a:t>
            </a:r>
            <a:r>
              <a:rPr lang="en-US" sz="3200" i="1" u="sng" dirty="0" smtClean="0"/>
              <a:t>parallel</a:t>
            </a:r>
            <a:r>
              <a:rPr lang="en-US" sz="3200" dirty="0" smtClean="0"/>
              <a:t> algorithms </a:t>
            </a:r>
            <a:br>
              <a:rPr lang="en-US" sz="3200" dirty="0" smtClean="0"/>
            </a:br>
            <a:r>
              <a:rPr lang="en-US" sz="3200" dirty="0" smtClean="0"/>
              <a:t>attaining communication lower bounds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832975" y="6400800"/>
            <a:ext cx="1905000" cy="457200"/>
          </a:xfrm>
        </p:spPr>
        <p:txBody>
          <a:bodyPr/>
          <a:lstStyle/>
          <a:p>
            <a:pPr>
              <a:defRPr/>
            </a:pPr>
            <a:fld id="{1110692E-4516-4640-ACA1-F899B3563FB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0727" name="Rectangle 11"/>
          <p:cNvSpPr>
            <a:spLocks noChangeArrowheads="1"/>
          </p:cNvSpPr>
          <p:nvPr/>
        </p:nvSpPr>
        <p:spPr bwMode="auto">
          <a:xfrm>
            <a:off x="6796088" y="4476750"/>
            <a:ext cx="1843087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6861175" y="5118100"/>
            <a:ext cx="1843088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6778625" y="5773738"/>
            <a:ext cx="1843088" cy="280987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6778625" y="6400800"/>
            <a:ext cx="1843088" cy="280988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1" name="TextBox 7"/>
          <p:cNvSpPr txBox="1">
            <a:spLocks noChangeArrowheads="1"/>
          </p:cNvSpPr>
          <p:nvPr/>
        </p:nvSpPr>
        <p:spPr bwMode="auto">
          <a:xfrm>
            <a:off x="260284" y="1032808"/>
            <a:ext cx="8327921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0" dirty="0">
                <a:solidFill>
                  <a:schemeClr val="tx1"/>
                </a:solidFill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</a:rPr>
              <a:t>Assume </a:t>
            </a:r>
            <a:r>
              <a:rPr lang="en-US" sz="2400" b="0" dirty="0" err="1">
                <a:solidFill>
                  <a:schemeClr val="tx1"/>
                </a:solidFill>
              </a:rPr>
              <a:t>nxn</a:t>
            </a:r>
            <a:r>
              <a:rPr lang="en-US" sz="2400" b="0" dirty="0">
                <a:solidFill>
                  <a:schemeClr val="tx1"/>
                </a:solidFill>
              </a:rPr>
              <a:t> matrices on P </a:t>
            </a:r>
            <a:r>
              <a:rPr lang="en-US" sz="2400" b="0" dirty="0" smtClean="0">
                <a:solidFill>
                  <a:schemeClr val="tx1"/>
                </a:solidFill>
              </a:rPr>
              <a:t>processors</a:t>
            </a:r>
            <a:r>
              <a:rPr lang="en-US" sz="2400" dirty="0" smtClean="0"/>
              <a:t> </a:t>
            </a:r>
          </a:p>
          <a:p>
            <a:pPr marL="342900" indent="-342900" algn="l">
              <a:buFont typeface="Arial"/>
              <a:buChar char="•"/>
            </a:pPr>
            <a:r>
              <a:rPr lang="en-US" sz="2400" b="0" dirty="0"/>
              <a:t> </a:t>
            </a:r>
            <a:r>
              <a:rPr lang="en-US" sz="2400" b="0" dirty="0" smtClean="0"/>
              <a:t>Minimum</a:t>
            </a:r>
            <a:r>
              <a:rPr lang="en-US" sz="2400" dirty="0" smtClean="0"/>
              <a:t> </a:t>
            </a:r>
            <a:r>
              <a:rPr lang="en-US" sz="2400" b="0" dirty="0" smtClean="0"/>
              <a:t>M</a:t>
            </a:r>
            <a:r>
              <a:rPr lang="en-US" sz="2400" b="0" dirty="0" smtClean="0">
                <a:solidFill>
                  <a:schemeClr val="tx1"/>
                </a:solidFill>
              </a:rPr>
              <a:t>emory </a:t>
            </a:r>
            <a:r>
              <a:rPr lang="en-US" sz="2400" b="0" dirty="0">
                <a:solidFill>
                  <a:schemeClr val="tx1"/>
                </a:solidFill>
              </a:rPr>
              <a:t>per processor = </a:t>
            </a:r>
            <a:r>
              <a:rPr lang="en-US" sz="2400" b="0" dirty="0" smtClean="0">
                <a:solidFill>
                  <a:schemeClr val="tx1"/>
                </a:solidFill>
              </a:rPr>
              <a:t> M = O(n</a:t>
            </a:r>
            <a:r>
              <a:rPr lang="en-US" sz="2400" b="0" baseline="30000" dirty="0" smtClean="0">
                <a:solidFill>
                  <a:schemeClr val="tx1"/>
                </a:solidFill>
              </a:rPr>
              <a:t>2</a:t>
            </a:r>
            <a:r>
              <a:rPr lang="en-US" sz="2400" b="0" dirty="0" smtClean="0">
                <a:solidFill>
                  <a:schemeClr val="tx1"/>
                </a:solidFill>
              </a:rPr>
              <a:t> </a:t>
            </a:r>
            <a:r>
              <a:rPr lang="en-US" sz="2400" b="0" dirty="0">
                <a:solidFill>
                  <a:schemeClr val="tx1"/>
                </a:solidFill>
              </a:rPr>
              <a:t>/ P</a:t>
            </a:r>
            <a:r>
              <a:rPr lang="en-US" sz="2400" b="0" dirty="0" smtClean="0">
                <a:solidFill>
                  <a:schemeClr val="tx1"/>
                </a:solidFill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 Recall lower bounds: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</a:rPr>
              <a:t>#</a:t>
            </a:r>
            <a:r>
              <a:rPr lang="en-US" sz="2400" b="0" dirty="0" err="1" smtClean="0">
                <a:solidFill>
                  <a:schemeClr val="tx1"/>
                </a:solidFill>
              </a:rPr>
              <a:t>words_moved</a:t>
            </a:r>
            <a:r>
              <a:rPr lang="en-US" sz="2400" b="0" dirty="0" smtClean="0">
                <a:solidFill>
                  <a:schemeClr val="tx1"/>
                </a:solidFill>
              </a:rPr>
              <a:t>    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1/2</a:t>
            </a:r>
            <a:r>
              <a:rPr lang="en-US" sz="2400" b="0" dirty="0" smtClean="0">
                <a:sym typeface="Symbol" pitchFamily="18" charset="2"/>
              </a:rPr>
              <a:t> )  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n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/ 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    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messages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  </a:t>
            </a:r>
            <a:r>
              <a:rPr lang="en-US" sz="2400" b="0" dirty="0" smtClean="0"/>
              <a:t>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3/2</a:t>
            </a:r>
            <a:r>
              <a:rPr lang="en-US" sz="2400" b="0" dirty="0" smtClean="0">
                <a:sym typeface="Symbol" pitchFamily="18" charset="2"/>
              </a:rPr>
              <a:t> )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  <a:endParaRPr lang="en-US" sz="2400" dirty="0">
              <a:sym typeface="Symbol" pitchFamily="18" charset="2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 smtClean="0">
                <a:sym typeface="Symbol" pitchFamily="18" charset="2"/>
              </a:rPr>
              <a:t>Does </a:t>
            </a:r>
            <a:r>
              <a:rPr lang="en-US" sz="2400" dirty="0" err="1" smtClean="0">
                <a:sym typeface="Symbol" pitchFamily="18" charset="2"/>
              </a:rPr>
              <a:t>ScaLAPACK</a:t>
            </a:r>
            <a:r>
              <a:rPr lang="en-US" sz="2400" dirty="0" smtClean="0">
                <a:sym typeface="Symbol" pitchFamily="18" charset="2"/>
              </a:rPr>
              <a:t> attain these bounds?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 smtClean="0">
                <a:sym typeface="Symbol" pitchFamily="18" charset="2"/>
              </a:rPr>
              <a:t>For #</a:t>
            </a:r>
            <a:r>
              <a:rPr lang="en-US" sz="2400" dirty="0" err="1" smtClean="0">
                <a:sym typeface="Symbol" pitchFamily="18" charset="2"/>
              </a:rPr>
              <a:t>words_moved</a:t>
            </a:r>
            <a:r>
              <a:rPr lang="en-US" sz="2400" dirty="0" smtClean="0">
                <a:sym typeface="Symbol" pitchFamily="18" charset="2"/>
              </a:rPr>
              <a:t>: mostly, except </a:t>
            </a:r>
            <a:r>
              <a:rPr lang="en-US" sz="2400" dirty="0" err="1" smtClean="0">
                <a:sym typeface="Symbol" pitchFamily="18" charset="2"/>
              </a:rPr>
              <a:t>nonsym</a:t>
            </a:r>
            <a:r>
              <a:rPr lang="en-US" sz="2400" dirty="0" smtClean="0">
                <a:sym typeface="Symbol" pitchFamily="18" charset="2"/>
              </a:rPr>
              <a:t>. </a:t>
            </a:r>
            <a:r>
              <a:rPr lang="en-US" sz="2400" dirty="0" err="1" smtClean="0">
                <a:sym typeface="Symbol" pitchFamily="18" charset="2"/>
              </a:rPr>
              <a:t>Eigenproblem</a:t>
            </a:r>
            <a:endParaRPr lang="en-US" sz="2400" dirty="0" smtClean="0">
              <a:sym typeface="Symbol" pitchFamily="18" charset="2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 dirty="0" smtClean="0">
                <a:sym typeface="Symbol" pitchFamily="18" charset="2"/>
              </a:rPr>
              <a:t>For #messages: asymptotically worse, except </a:t>
            </a:r>
            <a:r>
              <a:rPr lang="en-US" sz="2400" dirty="0" err="1" smtClean="0">
                <a:sym typeface="Symbol" pitchFamily="18" charset="2"/>
              </a:rPr>
              <a:t>Cholesky</a:t>
            </a:r>
            <a:endParaRPr lang="en-US" sz="2400" dirty="0" smtClean="0">
              <a:sym typeface="Symbol" pitchFamily="18" charset="2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 smtClean="0">
                <a:sym typeface="Symbol" pitchFamily="18" charset="2"/>
              </a:rPr>
              <a:t>New algorithms attain all bounds, up to </a:t>
            </a:r>
            <a:r>
              <a:rPr lang="en-US" sz="2400" dirty="0" err="1" smtClean="0">
                <a:sym typeface="Symbol" pitchFamily="18" charset="2"/>
              </a:rPr>
              <a:t>polylog</a:t>
            </a:r>
            <a:r>
              <a:rPr lang="en-US" sz="2400" dirty="0" smtClean="0">
                <a:sym typeface="Symbol" pitchFamily="18" charset="2"/>
              </a:rPr>
              <a:t>(P) factors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 err="1" smtClean="0">
                <a:sym typeface="Symbol" pitchFamily="18" charset="2"/>
              </a:rPr>
              <a:t>Cholesky</a:t>
            </a:r>
            <a:r>
              <a:rPr lang="en-US" sz="2400" dirty="0" smtClean="0">
                <a:sym typeface="Symbol" pitchFamily="18" charset="2"/>
              </a:rPr>
              <a:t>, LU, QR, Sym. and </a:t>
            </a:r>
            <a:r>
              <a:rPr lang="en-US" sz="2400" dirty="0" err="1" smtClean="0">
                <a:sym typeface="Symbol" pitchFamily="18" charset="2"/>
              </a:rPr>
              <a:t>Nonsym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err="1" smtClean="0">
                <a:sym typeface="Symbol" pitchFamily="18" charset="2"/>
              </a:rPr>
              <a:t>eigenproblems</a:t>
            </a:r>
            <a:r>
              <a:rPr lang="en-US" sz="2400" dirty="0" smtClean="0">
                <a:sym typeface="Symbol" pitchFamily="18" charset="2"/>
              </a:rPr>
              <a:t>, SVD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81000" y="990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33600" y="5257800"/>
            <a:ext cx="47805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824F2"/>
                </a:solidFill>
              </a:rPr>
              <a:t>Can we do Better?</a:t>
            </a:r>
            <a:endParaRPr lang="en-US" sz="4800" dirty="0">
              <a:solidFill>
                <a:srgbClr val="0824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60769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we do better?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Aren’t we already optimal?</a:t>
            </a:r>
          </a:p>
          <a:p>
            <a:r>
              <a:rPr lang="en-US" dirty="0" smtClean="0"/>
              <a:t>Why assume M = O(n</a:t>
            </a:r>
            <a:r>
              <a:rPr lang="en-US" baseline="30000" dirty="0" smtClean="0"/>
              <a:t>2</a:t>
            </a:r>
            <a:r>
              <a:rPr lang="en-US" dirty="0" smtClean="0"/>
              <a:t>/p), i.e. minimal?</a:t>
            </a:r>
          </a:p>
          <a:p>
            <a:pPr lvl="1"/>
            <a:r>
              <a:rPr lang="en-US" dirty="0" smtClean="0"/>
              <a:t>Lower bound still true (and smaller) if M larger</a:t>
            </a:r>
          </a:p>
          <a:p>
            <a:pPr lvl="1"/>
            <a:r>
              <a:rPr lang="en-US" dirty="0" smtClean="0"/>
              <a:t>Can we attain it?</a:t>
            </a:r>
          </a:p>
        </p:txBody>
      </p:sp>
    </p:spTree>
    <p:extLst>
      <p:ext uri="{BB962C8B-B14F-4D97-AF65-F5344CB8AC3E}">
        <p14:creationId xmlns:p14="http://schemas.microsoft.com/office/powerpoint/2010/main" val="1840089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/>
              <a:t>CA O(n</a:t>
            </a:r>
            <a:r>
              <a:rPr lang="en-US" baseline="30000" dirty="0" smtClean="0"/>
              <a:t>3</a:t>
            </a:r>
            <a:r>
              <a:rPr lang="en-US" dirty="0" smtClean="0"/>
              <a:t>) 2.5D </a:t>
            </a:r>
            <a:r>
              <a:rPr lang="en-US" dirty="0" err="1" smtClean="0"/>
              <a:t>Matmul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8307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643688" y="6335713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499C425B-940E-4BEB-BD0A-E0B0176C0AFA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 algn="ctr"/>
              <a:t>19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1" cy="422275"/>
          </a:xfrm>
        </p:spPr>
        <p:txBody>
          <a:bodyPr>
            <a:normAutofit fontScale="90000"/>
          </a:bodyPr>
          <a:lstStyle/>
          <a:p>
            <a:r>
              <a:rPr lang="en-US" dirty="0"/>
              <a:t>SUMMA– n x n </a:t>
            </a:r>
            <a:r>
              <a:rPr lang="en-US" dirty="0" err="1"/>
              <a:t>matmul</a:t>
            </a:r>
            <a:r>
              <a:rPr lang="en-US" dirty="0"/>
              <a:t> on P</a:t>
            </a:r>
            <a:r>
              <a:rPr lang="en-US" baseline="30000" dirty="0"/>
              <a:t>1/2 </a:t>
            </a:r>
            <a:r>
              <a:rPr lang="en-US" dirty="0"/>
              <a:t>x P</a:t>
            </a:r>
            <a:r>
              <a:rPr lang="en-US" baseline="30000" dirty="0"/>
              <a:t>1/2 </a:t>
            </a:r>
            <a:r>
              <a:rPr lang="en-US" dirty="0" smtClean="0"/>
              <a:t>grid</a:t>
            </a:r>
            <a:br>
              <a:rPr lang="en-US" dirty="0" smtClean="0"/>
            </a:br>
            <a:r>
              <a:rPr lang="en-US" sz="3600" dirty="0" smtClean="0"/>
              <a:t>(nearly) optimal using minimum memory M=O(n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/P) </a:t>
            </a:r>
            <a:endParaRPr lang="en-US" dirty="0" smtClean="0"/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9372600" y="3048000"/>
            <a:ext cx="7959725" cy="3498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For k=0 to n-1     </a:t>
            </a:r>
            <a:r>
              <a:rPr lang="en-US" dirty="0">
                <a:solidFill>
                  <a:schemeClr val="accent2"/>
                </a:solidFill>
              </a:rPr>
              <a:t>… </a:t>
            </a:r>
            <a:r>
              <a:rPr lang="en-US" dirty="0">
                <a:solidFill>
                  <a:srgbClr val="7030A0"/>
                </a:solidFill>
              </a:rPr>
              <a:t>or n/b-1 where b is the block size 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rgbClr val="7030A0"/>
                </a:solidFill>
              </a:rPr>
              <a:t>                            …  = # cols in A(</a:t>
            </a:r>
            <a:r>
              <a:rPr lang="en-US" dirty="0" err="1">
                <a:solidFill>
                  <a:srgbClr val="7030A0"/>
                </a:solidFill>
              </a:rPr>
              <a:t>i,k</a:t>
            </a:r>
            <a:r>
              <a:rPr lang="en-US" dirty="0">
                <a:solidFill>
                  <a:srgbClr val="7030A0"/>
                </a:solidFill>
              </a:rPr>
              <a:t>) and # rows in B(</a:t>
            </a:r>
            <a:r>
              <a:rPr lang="en-US" dirty="0" err="1">
                <a:solidFill>
                  <a:srgbClr val="7030A0"/>
                </a:solidFill>
              </a:rPr>
              <a:t>k,j</a:t>
            </a:r>
            <a:r>
              <a:rPr lang="en-US" dirty="0">
                <a:solidFill>
                  <a:srgbClr val="7030A0"/>
                </a:solidFill>
              </a:rPr>
              <a:t>) 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for all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= 1 to </a:t>
            </a:r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sz="3200" baseline="-16000" dirty="0" err="1">
                <a:solidFill>
                  <a:schemeClr val="tx1"/>
                </a:solidFill>
              </a:rPr>
              <a:t>r</a:t>
            </a:r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rgbClr val="7030A0"/>
                </a:solidFill>
              </a:rPr>
              <a:t>… in parallel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      owner of </a:t>
            </a:r>
            <a:r>
              <a:rPr lang="en-US" dirty="0">
                <a:solidFill>
                  <a:srgbClr val="FF0000"/>
                </a:solidFill>
              </a:rPr>
              <a:t>A(</a:t>
            </a:r>
            <a:r>
              <a:rPr lang="en-US" dirty="0" err="1">
                <a:solidFill>
                  <a:srgbClr val="FF0000"/>
                </a:solidFill>
              </a:rPr>
              <a:t>i,k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broadcasts it to whole processor row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for all j = 1 to p</a:t>
            </a:r>
            <a:r>
              <a:rPr lang="en-US" sz="3200" baseline="-16000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rgbClr val="7030A0"/>
                </a:solidFill>
              </a:rPr>
              <a:t>… in parallel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       owner of </a:t>
            </a:r>
            <a:r>
              <a:rPr lang="en-US" dirty="0">
                <a:solidFill>
                  <a:srgbClr val="0824F2"/>
                </a:solidFill>
              </a:rPr>
              <a:t>B(</a:t>
            </a:r>
            <a:r>
              <a:rPr lang="en-US" dirty="0" err="1">
                <a:solidFill>
                  <a:srgbClr val="0824F2"/>
                </a:solidFill>
              </a:rPr>
              <a:t>k,j</a:t>
            </a:r>
            <a:r>
              <a:rPr lang="en-US" dirty="0">
                <a:solidFill>
                  <a:srgbClr val="0824F2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broadcasts it to whole processor column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Receive </a:t>
            </a:r>
            <a:r>
              <a:rPr lang="en-US" dirty="0">
                <a:solidFill>
                  <a:srgbClr val="FF0000"/>
                </a:solidFill>
              </a:rPr>
              <a:t>A(</a:t>
            </a:r>
            <a:r>
              <a:rPr lang="en-US" dirty="0" err="1">
                <a:solidFill>
                  <a:srgbClr val="FF0000"/>
                </a:solidFill>
              </a:rPr>
              <a:t>i,k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into </a:t>
            </a:r>
            <a:r>
              <a:rPr lang="en-US" dirty="0" err="1">
                <a:solidFill>
                  <a:srgbClr val="FF0000"/>
                </a:solidFill>
              </a:rPr>
              <a:t>Acol</a:t>
            </a:r>
            <a:endParaRPr lang="en-US" dirty="0">
              <a:solidFill>
                <a:srgbClr val="FF0000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Receive </a:t>
            </a:r>
            <a:r>
              <a:rPr lang="en-US" dirty="0">
                <a:solidFill>
                  <a:srgbClr val="0824F2"/>
                </a:solidFill>
              </a:rPr>
              <a:t>B(</a:t>
            </a:r>
            <a:r>
              <a:rPr lang="en-US" dirty="0" err="1">
                <a:solidFill>
                  <a:srgbClr val="0824F2"/>
                </a:solidFill>
              </a:rPr>
              <a:t>k,j</a:t>
            </a:r>
            <a:r>
              <a:rPr lang="en-US" dirty="0">
                <a:solidFill>
                  <a:srgbClr val="0824F2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into </a:t>
            </a:r>
            <a:r>
              <a:rPr lang="en-US" dirty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rgbClr val="006600"/>
                </a:solidFill>
              </a:rPr>
              <a:t>C_myproc</a:t>
            </a:r>
            <a:r>
              <a:rPr lang="en-US" dirty="0">
                <a:solidFill>
                  <a:srgbClr val="00CC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6600"/>
                </a:solidFill>
              </a:rPr>
              <a:t>C_myproc</a:t>
            </a:r>
            <a:r>
              <a:rPr lang="en-US" dirty="0">
                <a:solidFill>
                  <a:srgbClr val="00CC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+ </a:t>
            </a:r>
            <a:r>
              <a:rPr lang="en-US" dirty="0" err="1">
                <a:solidFill>
                  <a:srgbClr val="FF0000"/>
                </a:solidFill>
              </a:rPr>
              <a:t>Acol</a:t>
            </a:r>
            <a:r>
              <a:rPr lang="en-US" dirty="0">
                <a:solidFill>
                  <a:schemeClr val="tx1"/>
                </a:solidFill>
              </a:rPr>
              <a:t> * </a:t>
            </a:r>
            <a:r>
              <a:rPr lang="en-US" dirty="0">
                <a:solidFill>
                  <a:srgbClr val="0824F2"/>
                </a:solidFill>
              </a:rPr>
              <a:t>Brow</a:t>
            </a:r>
          </a:p>
        </p:txBody>
      </p:sp>
      <p:sp>
        <p:nvSpPr>
          <p:cNvPr id="52" name="Text Box 3"/>
          <p:cNvSpPr txBox="1">
            <a:spLocks noChangeArrowheads="1"/>
          </p:cNvSpPr>
          <p:nvPr/>
        </p:nvSpPr>
        <p:spPr bwMode="auto">
          <a:xfrm>
            <a:off x="-9220200" y="3566279"/>
            <a:ext cx="8915400" cy="313932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For k=0 to n/b-1</a:t>
            </a: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for all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 = 1 to </a:t>
            </a:r>
            <a:r>
              <a:rPr lang="en-US" sz="1800" dirty="0" smtClean="0">
                <a:solidFill>
                  <a:schemeClr val="tx1"/>
                </a:solidFill>
              </a:rPr>
              <a:t>P</a:t>
            </a:r>
            <a:r>
              <a:rPr lang="en-US" sz="1800" baseline="30000" dirty="0" smtClean="0">
                <a:solidFill>
                  <a:schemeClr val="tx1"/>
                </a:solidFill>
              </a:rPr>
              <a:t>1/2 </a:t>
            </a:r>
          </a:p>
          <a:p>
            <a:pPr algn="l">
              <a:spcBef>
                <a:spcPct val="25000"/>
              </a:spcBef>
            </a:pPr>
            <a:r>
              <a:rPr lang="en-US" sz="1800" baseline="300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            owner </a:t>
            </a:r>
            <a:r>
              <a:rPr lang="en-US" sz="1800" dirty="0">
                <a:solidFill>
                  <a:schemeClr val="tx1"/>
                </a:solidFill>
              </a:rPr>
              <a:t>of </a:t>
            </a:r>
            <a:r>
              <a:rPr lang="en-US" sz="1800" dirty="0">
                <a:solidFill>
                  <a:srgbClr val="FF0000"/>
                </a:solidFill>
              </a:rPr>
              <a:t>A(</a:t>
            </a:r>
            <a:r>
              <a:rPr lang="en-US" sz="1800" dirty="0" err="1">
                <a:solidFill>
                  <a:srgbClr val="FF0000"/>
                </a:solidFill>
              </a:rPr>
              <a:t>i,k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broadcasts it to whole processor </a:t>
            </a:r>
            <a:r>
              <a:rPr lang="en-US" sz="1800" dirty="0" smtClean="0">
                <a:solidFill>
                  <a:schemeClr val="tx1"/>
                </a:solidFill>
              </a:rPr>
              <a:t>row (using binary tree)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spcBef>
                <a:spcPct val="2500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     for </a:t>
            </a:r>
            <a:r>
              <a:rPr lang="en-US" sz="1800" dirty="0">
                <a:solidFill>
                  <a:schemeClr val="tx1"/>
                </a:solidFill>
              </a:rPr>
              <a:t>all j = 1 to  </a:t>
            </a:r>
            <a:r>
              <a:rPr lang="en-US" sz="1800" dirty="0" smtClean="0">
                <a:solidFill>
                  <a:schemeClr val="tx1"/>
                </a:solidFill>
              </a:rPr>
              <a:t>P</a:t>
            </a:r>
            <a:r>
              <a:rPr lang="en-US" sz="1800" baseline="30000" dirty="0" smtClean="0">
                <a:solidFill>
                  <a:schemeClr val="tx1"/>
                </a:solidFill>
              </a:rPr>
              <a:t>1/2</a:t>
            </a:r>
            <a:endParaRPr lang="en-US" sz="1800" baseline="30000" dirty="0">
              <a:solidFill>
                <a:schemeClr val="tx1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       owner of </a:t>
            </a:r>
            <a:r>
              <a:rPr lang="en-US" sz="1800" dirty="0">
                <a:solidFill>
                  <a:srgbClr val="0824F2"/>
                </a:solidFill>
              </a:rPr>
              <a:t>B(</a:t>
            </a:r>
            <a:r>
              <a:rPr lang="en-US" sz="1800" dirty="0" err="1">
                <a:solidFill>
                  <a:srgbClr val="0824F2"/>
                </a:solidFill>
              </a:rPr>
              <a:t>k,j</a:t>
            </a:r>
            <a:r>
              <a:rPr lang="en-US" sz="1800" dirty="0">
                <a:solidFill>
                  <a:srgbClr val="0824F2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broadcasts it to whole processor </a:t>
            </a:r>
            <a:r>
              <a:rPr lang="en-US" sz="1800" dirty="0" smtClean="0">
                <a:solidFill>
                  <a:schemeClr val="tx1"/>
                </a:solidFill>
              </a:rPr>
              <a:t>column (using bin. </a:t>
            </a:r>
            <a:r>
              <a:rPr lang="en-US" sz="1800" dirty="0">
                <a:solidFill>
                  <a:schemeClr val="tx1"/>
                </a:solidFill>
              </a:rPr>
              <a:t>t</a:t>
            </a:r>
            <a:r>
              <a:rPr lang="en-US" sz="1800" dirty="0" smtClean="0">
                <a:solidFill>
                  <a:schemeClr val="tx1"/>
                </a:solidFill>
              </a:rPr>
              <a:t>ree)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     Receive </a:t>
            </a:r>
            <a:r>
              <a:rPr lang="en-US" sz="1800" dirty="0">
                <a:solidFill>
                  <a:srgbClr val="FF0000"/>
                </a:solidFill>
              </a:rPr>
              <a:t>A(</a:t>
            </a:r>
            <a:r>
              <a:rPr lang="en-US" sz="1800" dirty="0" err="1">
                <a:solidFill>
                  <a:srgbClr val="FF0000"/>
                </a:solidFill>
              </a:rPr>
              <a:t>i,k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into </a:t>
            </a:r>
            <a:r>
              <a:rPr lang="en-US" sz="1800" dirty="0" err="1">
                <a:solidFill>
                  <a:srgbClr val="FF0000"/>
                </a:solidFill>
              </a:rPr>
              <a:t>Acol</a:t>
            </a:r>
            <a:endParaRPr lang="en-US" sz="1800" dirty="0">
              <a:solidFill>
                <a:srgbClr val="FF0000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Receive </a:t>
            </a:r>
            <a:r>
              <a:rPr lang="en-US" sz="1800" dirty="0">
                <a:solidFill>
                  <a:srgbClr val="0824F2"/>
                </a:solidFill>
              </a:rPr>
              <a:t>B(</a:t>
            </a:r>
            <a:r>
              <a:rPr lang="en-US" sz="1800" dirty="0" err="1">
                <a:solidFill>
                  <a:srgbClr val="0824F2"/>
                </a:solidFill>
              </a:rPr>
              <a:t>k,j</a:t>
            </a:r>
            <a:r>
              <a:rPr lang="en-US" sz="1800" dirty="0">
                <a:solidFill>
                  <a:srgbClr val="0824F2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into </a:t>
            </a:r>
            <a:r>
              <a:rPr lang="en-US" sz="1800" dirty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</a:t>
            </a:r>
            <a:r>
              <a:rPr lang="en-US" sz="1800" dirty="0" err="1">
                <a:solidFill>
                  <a:srgbClr val="008000"/>
                </a:solidFill>
              </a:rPr>
              <a:t>C_myproc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dirty="0" err="1">
                <a:solidFill>
                  <a:srgbClr val="008000"/>
                </a:solidFill>
              </a:rPr>
              <a:t>C_myproc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dirty="0" err="1">
                <a:solidFill>
                  <a:srgbClr val="FF0000"/>
                </a:solidFill>
              </a:rPr>
              <a:t>Acol</a:t>
            </a:r>
            <a:r>
              <a:rPr lang="en-US" sz="1800" dirty="0">
                <a:solidFill>
                  <a:schemeClr val="tx1"/>
                </a:solidFill>
              </a:rPr>
              <a:t> * </a:t>
            </a:r>
            <a:r>
              <a:rPr lang="en-US" sz="1800" dirty="0" smtClean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endParaRPr lang="en-US" sz="1800" dirty="0">
              <a:solidFill>
                <a:srgbClr val="0824F2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15938" y="1295400"/>
            <a:ext cx="8405866" cy="2423557"/>
            <a:chOff x="515938" y="841375"/>
            <a:chExt cx="8405866" cy="2423557"/>
          </a:xfrm>
        </p:grpSpPr>
        <p:grpSp>
          <p:nvGrpSpPr>
            <p:cNvPr id="2" name="Group 1"/>
            <p:cNvGrpSpPr/>
            <p:nvPr/>
          </p:nvGrpSpPr>
          <p:grpSpPr>
            <a:xfrm>
              <a:off x="515938" y="841375"/>
              <a:ext cx="7335837" cy="2130425"/>
              <a:chOff x="515938" y="612775"/>
              <a:chExt cx="7335837" cy="2130425"/>
            </a:xfrm>
          </p:grpSpPr>
          <p:grpSp>
            <p:nvGrpSpPr>
              <p:cNvPr id="59397" name="Group 4"/>
              <p:cNvGrpSpPr>
                <a:grpSpLocks/>
              </p:cNvGrpSpPr>
              <p:nvPr/>
            </p:nvGrpSpPr>
            <p:grpSpPr bwMode="auto">
              <a:xfrm>
                <a:off x="1447800" y="990600"/>
                <a:ext cx="1828800" cy="1752600"/>
                <a:chOff x="960" y="528"/>
                <a:chExt cx="1152" cy="1104"/>
              </a:xfrm>
            </p:grpSpPr>
            <p:sp>
              <p:nvSpPr>
                <p:cNvPr id="59436" name="Rectangle 5"/>
                <p:cNvSpPr>
                  <a:spLocks noChangeArrowheads="1"/>
                </p:cNvSpPr>
                <p:nvPr/>
              </p:nvSpPr>
              <p:spPr bwMode="auto">
                <a:xfrm>
                  <a:off x="960" y="528"/>
                  <a:ext cx="1152" cy="110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9437" name="Line 6"/>
                <p:cNvSpPr>
                  <a:spLocks noChangeShapeType="1"/>
                </p:cNvSpPr>
                <p:nvPr/>
              </p:nvSpPr>
              <p:spPr bwMode="auto">
                <a:xfrm>
                  <a:off x="960" y="1056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8" name="Line 7"/>
                <p:cNvSpPr>
                  <a:spLocks noChangeShapeType="1"/>
                </p:cNvSpPr>
                <p:nvPr/>
              </p:nvSpPr>
              <p:spPr bwMode="auto">
                <a:xfrm>
                  <a:off x="960" y="768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9" name="Line 8"/>
                <p:cNvSpPr>
                  <a:spLocks noChangeShapeType="1"/>
                </p:cNvSpPr>
                <p:nvPr/>
              </p:nvSpPr>
              <p:spPr bwMode="auto">
                <a:xfrm>
                  <a:off x="960" y="1344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40" name="Line 9"/>
                <p:cNvSpPr>
                  <a:spLocks noChangeShapeType="1"/>
                </p:cNvSpPr>
                <p:nvPr/>
              </p:nvSpPr>
              <p:spPr bwMode="auto">
                <a:xfrm>
                  <a:off x="1536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41" name="Line 10"/>
                <p:cNvSpPr>
                  <a:spLocks noChangeShapeType="1"/>
                </p:cNvSpPr>
                <p:nvPr/>
              </p:nvSpPr>
              <p:spPr bwMode="auto">
                <a:xfrm>
                  <a:off x="1248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42" name="Line 11"/>
                <p:cNvSpPr>
                  <a:spLocks noChangeShapeType="1"/>
                </p:cNvSpPr>
                <p:nvPr/>
              </p:nvSpPr>
              <p:spPr bwMode="auto">
                <a:xfrm>
                  <a:off x="1824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</p:grpSp>
          <p:grpSp>
            <p:nvGrpSpPr>
              <p:cNvPr id="59398" name="Group 12"/>
              <p:cNvGrpSpPr>
                <a:grpSpLocks/>
              </p:cNvGrpSpPr>
              <p:nvPr/>
            </p:nvGrpSpPr>
            <p:grpSpPr bwMode="auto">
              <a:xfrm>
                <a:off x="3733800" y="990600"/>
                <a:ext cx="1828800" cy="1752600"/>
                <a:chOff x="960" y="528"/>
                <a:chExt cx="1152" cy="1104"/>
              </a:xfrm>
            </p:grpSpPr>
            <p:sp>
              <p:nvSpPr>
                <p:cNvPr id="59429" name="Rectangle 13"/>
                <p:cNvSpPr>
                  <a:spLocks noChangeArrowheads="1"/>
                </p:cNvSpPr>
                <p:nvPr/>
              </p:nvSpPr>
              <p:spPr bwMode="auto">
                <a:xfrm>
                  <a:off x="960" y="528"/>
                  <a:ext cx="1152" cy="110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9430" name="Line 14"/>
                <p:cNvSpPr>
                  <a:spLocks noChangeShapeType="1"/>
                </p:cNvSpPr>
                <p:nvPr/>
              </p:nvSpPr>
              <p:spPr bwMode="auto">
                <a:xfrm>
                  <a:off x="960" y="1056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1" name="Line 15"/>
                <p:cNvSpPr>
                  <a:spLocks noChangeShapeType="1"/>
                </p:cNvSpPr>
                <p:nvPr/>
              </p:nvSpPr>
              <p:spPr bwMode="auto">
                <a:xfrm>
                  <a:off x="960" y="768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2" name="Line 16"/>
                <p:cNvSpPr>
                  <a:spLocks noChangeShapeType="1"/>
                </p:cNvSpPr>
                <p:nvPr/>
              </p:nvSpPr>
              <p:spPr bwMode="auto">
                <a:xfrm>
                  <a:off x="960" y="1344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3" name="Line 17"/>
                <p:cNvSpPr>
                  <a:spLocks noChangeShapeType="1"/>
                </p:cNvSpPr>
                <p:nvPr/>
              </p:nvSpPr>
              <p:spPr bwMode="auto">
                <a:xfrm>
                  <a:off x="1536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4" name="Line 18"/>
                <p:cNvSpPr>
                  <a:spLocks noChangeShapeType="1"/>
                </p:cNvSpPr>
                <p:nvPr/>
              </p:nvSpPr>
              <p:spPr bwMode="auto">
                <a:xfrm>
                  <a:off x="1248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5" name="Line 19"/>
                <p:cNvSpPr>
                  <a:spLocks noChangeShapeType="1"/>
                </p:cNvSpPr>
                <p:nvPr/>
              </p:nvSpPr>
              <p:spPr bwMode="auto">
                <a:xfrm>
                  <a:off x="1824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</p:grpSp>
          <p:sp>
            <p:nvSpPr>
              <p:cNvPr id="59399" name="Rectangle 20"/>
              <p:cNvSpPr>
                <a:spLocks noChangeArrowheads="1"/>
              </p:cNvSpPr>
              <p:nvPr/>
            </p:nvSpPr>
            <p:spPr bwMode="auto">
              <a:xfrm>
                <a:off x="6019800" y="990600"/>
                <a:ext cx="1828800" cy="17526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00" name="Line 21"/>
              <p:cNvSpPr>
                <a:spLocks noChangeShapeType="1"/>
              </p:cNvSpPr>
              <p:nvPr/>
            </p:nvSpPr>
            <p:spPr bwMode="auto">
              <a:xfrm>
                <a:off x="6019800" y="1828800"/>
                <a:ext cx="182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1" name="Line 22"/>
              <p:cNvSpPr>
                <a:spLocks noChangeShapeType="1"/>
              </p:cNvSpPr>
              <p:nvPr/>
            </p:nvSpPr>
            <p:spPr bwMode="auto">
              <a:xfrm>
                <a:off x="6019800" y="1371600"/>
                <a:ext cx="182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2" name="Line 23"/>
              <p:cNvSpPr>
                <a:spLocks noChangeShapeType="1"/>
              </p:cNvSpPr>
              <p:nvPr/>
            </p:nvSpPr>
            <p:spPr bwMode="auto">
              <a:xfrm>
                <a:off x="6019800" y="2286000"/>
                <a:ext cx="182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3" name="Line 24"/>
              <p:cNvSpPr>
                <a:spLocks noChangeShapeType="1"/>
              </p:cNvSpPr>
              <p:nvPr/>
            </p:nvSpPr>
            <p:spPr bwMode="auto">
              <a:xfrm>
                <a:off x="6934200" y="990600"/>
                <a:ext cx="0" cy="1752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4" name="Line 25"/>
              <p:cNvSpPr>
                <a:spLocks noChangeShapeType="1"/>
              </p:cNvSpPr>
              <p:nvPr/>
            </p:nvSpPr>
            <p:spPr bwMode="auto">
              <a:xfrm>
                <a:off x="6477000" y="990600"/>
                <a:ext cx="0" cy="1752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5" name="Line 26"/>
              <p:cNvSpPr>
                <a:spLocks noChangeShapeType="1"/>
              </p:cNvSpPr>
              <p:nvPr/>
            </p:nvSpPr>
            <p:spPr bwMode="auto">
              <a:xfrm>
                <a:off x="7391400" y="990600"/>
                <a:ext cx="0" cy="1752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6" name="Text Box 27"/>
              <p:cNvSpPr txBox="1">
                <a:spLocks noChangeArrowheads="1"/>
              </p:cNvSpPr>
              <p:nvPr/>
            </p:nvSpPr>
            <p:spPr bwMode="auto">
              <a:xfrm>
                <a:off x="3336925" y="1563688"/>
                <a:ext cx="30321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2400">
                    <a:solidFill>
                      <a:schemeClr val="tx1"/>
                    </a:solidFill>
                  </a:rPr>
                  <a:t>*</a:t>
                </a:r>
              </a:p>
            </p:txBody>
          </p:sp>
          <p:sp>
            <p:nvSpPr>
              <p:cNvPr id="59407" name="Text Box 28"/>
              <p:cNvSpPr txBox="1">
                <a:spLocks noChangeArrowheads="1"/>
              </p:cNvSpPr>
              <p:nvPr/>
            </p:nvSpPr>
            <p:spPr bwMode="auto">
              <a:xfrm>
                <a:off x="5546725" y="1611313"/>
                <a:ext cx="401638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>
                    <a:solidFill>
                      <a:schemeClr val="tx1"/>
                    </a:solidFill>
                  </a:rPr>
                  <a:t> =</a:t>
                </a:r>
              </a:p>
            </p:txBody>
          </p:sp>
          <p:sp>
            <p:nvSpPr>
              <p:cNvPr id="59408" name="Text Box 29"/>
              <p:cNvSpPr txBox="1">
                <a:spLocks noChangeArrowheads="1"/>
              </p:cNvSpPr>
              <p:nvPr/>
            </p:nvSpPr>
            <p:spPr bwMode="auto">
              <a:xfrm>
                <a:off x="1127125" y="1865313"/>
                <a:ext cx="2476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i</a:t>
                </a:r>
              </a:p>
            </p:txBody>
          </p:sp>
          <p:sp>
            <p:nvSpPr>
              <p:cNvPr id="59409" name="Text Box 30"/>
              <p:cNvSpPr txBox="1">
                <a:spLocks noChangeArrowheads="1"/>
              </p:cNvSpPr>
              <p:nvPr/>
            </p:nvSpPr>
            <p:spPr bwMode="auto">
              <a:xfrm>
                <a:off x="5165725" y="646113"/>
                <a:ext cx="2476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j</a:t>
                </a:r>
              </a:p>
            </p:txBody>
          </p:sp>
          <p:sp>
            <p:nvSpPr>
              <p:cNvPr id="59410" name="Text Box 31"/>
              <p:cNvSpPr txBox="1">
                <a:spLocks noChangeArrowheads="1"/>
              </p:cNvSpPr>
              <p:nvPr/>
            </p:nvSpPr>
            <p:spPr bwMode="auto">
              <a:xfrm>
                <a:off x="515938" y="2389188"/>
                <a:ext cx="690562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tx1"/>
                    </a:solidFill>
                    <a:latin typeface="Helvetica" charset="0"/>
                  </a:rPr>
                  <a:t>A(i,k)</a:t>
                </a:r>
              </a:p>
            </p:txBody>
          </p:sp>
          <p:sp>
            <p:nvSpPr>
              <p:cNvPr id="59411" name="Line 32"/>
              <p:cNvSpPr>
                <a:spLocks noChangeShapeType="1"/>
              </p:cNvSpPr>
              <p:nvPr/>
            </p:nvSpPr>
            <p:spPr bwMode="auto">
              <a:xfrm flipV="1">
                <a:off x="1125538" y="2133600"/>
                <a:ext cx="457200" cy="304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12" name="Text Box 33"/>
              <p:cNvSpPr txBox="1">
                <a:spLocks noChangeArrowheads="1"/>
              </p:cNvSpPr>
              <p:nvPr/>
            </p:nvSpPr>
            <p:spPr bwMode="auto">
              <a:xfrm>
                <a:off x="1584325" y="646113"/>
                <a:ext cx="3111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k</a:t>
                </a:r>
              </a:p>
            </p:txBody>
          </p:sp>
          <p:sp>
            <p:nvSpPr>
              <p:cNvPr id="59413" name="Text Box 34"/>
              <p:cNvSpPr txBox="1">
                <a:spLocks noChangeArrowheads="1"/>
              </p:cNvSpPr>
              <p:nvPr/>
            </p:nvSpPr>
            <p:spPr bwMode="auto">
              <a:xfrm>
                <a:off x="5562600" y="993775"/>
                <a:ext cx="3111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k</a:t>
                </a:r>
              </a:p>
            </p:txBody>
          </p:sp>
          <p:sp>
            <p:nvSpPr>
              <p:cNvPr id="59414" name="Text Box 35"/>
              <p:cNvSpPr txBox="1">
                <a:spLocks noChangeArrowheads="1"/>
              </p:cNvSpPr>
              <p:nvPr/>
            </p:nvSpPr>
            <p:spPr bwMode="auto">
              <a:xfrm>
                <a:off x="5486400" y="612775"/>
                <a:ext cx="7556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B(k,j)</a:t>
                </a:r>
              </a:p>
            </p:txBody>
          </p:sp>
          <p:sp>
            <p:nvSpPr>
              <p:cNvPr id="59415" name="Line 36"/>
              <p:cNvSpPr>
                <a:spLocks noChangeShapeType="1"/>
              </p:cNvSpPr>
              <p:nvPr/>
            </p:nvSpPr>
            <p:spPr bwMode="auto">
              <a:xfrm flipH="1">
                <a:off x="5334000" y="838200"/>
                <a:ext cx="228600" cy="304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16" name="Rectangle 37"/>
              <p:cNvSpPr>
                <a:spLocks noChangeArrowheads="1"/>
              </p:cNvSpPr>
              <p:nvPr/>
            </p:nvSpPr>
            <p:spPr bwMode="auto">
              <a:xfrm flipH="1">
                <a:off x="1584325" y="993775"/>
                <a:ext cx="92075" cy="1749425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it-IT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59417" name="Group 38"/>
              <p:cNvGrpSpPr>
                <a:grpSpLocks/>
              </p:cNvGrpSpPr>
              <p:nvPr/>
            </p:nvGrpSpPr>
            <p:grpSpPr bwMode="auto">
              <a:xfrm>
                <a:off x="1692275" y="1690688"/>
                <a:ext cx="1393825" cy="385762"/>
                <a:chOff x="1038" y="525"/>
                <a:chExt cx="878" cy="243"/>
              </a:xfrm>
            </p:grpSpPr>
            <p:sp>
              <p:nvSpPr>
                <p:cNvPr id="59426" name="Line 39"/>
                <p:cNvSpPr>
                  <a:spLocks noChangeShapeType="1"/>
                </p:cNvSpPr>
                <p:nvPr/>
              </p:nvSpPr>
              <p:spPr bwMode="auto">
                <a:xfrm>
                  <a:off x="1056" y="768"/>
                  <a:ext cx="3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59427" name="Freeform 40"/>
                <p:cNvSpPr>
                  <a:spLocks/>
                </p:cNvSpPr>
                <p:nvPr/>
              </p:nvSpPr>
              <p:spPr bwMode="auto">
                <a:xfrm>
                  <a:off x="1042" y="539"/>
                  <a:ext cx="604" cy="220"/>
                </a:xfrm>
                <a:custGeom>
                  <a:avLst/>
                  <a:gdLst>
                    <a:gd name="T0" fmla="*/ 0 w 604"/>
                    <a:gd name="T1" fmla="*/ 220 h 220"/>
                    <a:gd name="T2" fmla="*/ 412 w 604"/>
                    <a:gd name="T3" fmla="*/ 0 h 220"/>
                    <a:gd name="T4" fmla="*/ 604 w 604"/>
                    <a:gd name="T5" fmla="*/ 220 h 220"/>
                    <a:gd name="T6" fmla="*/ 0 60000 65536"/>
                    <a:gd name="T7" fmla="*/ 0 60000 65536"/>
                    <a:gd name="T8" fmla="*/ 0 60000 65536"/>
                    <a:gd name="T9" fmla="*/ 0 w 604"/>
                    <a:gd name="T10" fmla="*/ 0 h 220"/>
                    <a:gd name="T11" fmla="*/ 604 w 604"/>
                    <a:gd name="T12" fmla="*/ 220 h 2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4" h="220">
                      <a:moveTo>
                        <a:pt x="0" y="220"/>
                      </a:moveTo>
                      <a:cubicBezTo>
                        <a:pt x="155" y="110"/>
                        <a:pt x="311" y="0"/>
                        <a:pt x="412" y="0"/>
                      </a:cubicBezTo>
                      <a:cubicBezTo>
                        <a:pt x="513" y="0"/>
                        <a:pt x="558" y="110"/>
                        <a:pt x="604" y="2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59428" name="Freeform 41"/>
                <p:cNvSpPr>
                  <a:spLocks/>
                </p:cNvSpPr>
                <p:nvPr/>
              </p:nvSpPr>
              <p:spPr bwMode="auto">
                <a:xfrm>
                  <a:off x="1038" y="525"/>
                  <a:ext cx="878" cy="220"/>
                </a:xfrm>
                <a:custGeom>
                  <a:avLst/>
                  <a:gdLst>
                    <a:gd name="T0" fmla="*/ 0 w 604"/>
                    <a:gd name="T1" fmla="*/ 220 h 220"/>
                    <a:gd name="T2" fmla="*/ 8216 w 604"/>
                    <a:gd name="T3" fmla="*/ 0 h 220"/>
                    <a:gd name="T4" fmla="*/ 12041 w 604"/>
                    <a:gd name="T5" fmla="*/ 220 h 220"/>
                    <a:gd name="T6" fmla="*/ 0 60000 65536"/>
                    <a:gd name="T7" fmla="*/ 0 60000 65536"/>
                    <a:gd name="T8" fmla="*/ 0 60000 65536"/>
                    <a:gd name="T9" fmla="*/ 0 w 604"/>
                    <a:gd name="T10" fmla="*/ 0 h 220"/>
                    <a:gd name="T11" fmla="*/ 604 w 604"/>
                    <a:gd name="T12" fmla="*/ 220 h 2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4" h="220">
                      <a:moveTo>
                        <a:pt x="0" y="220"/>
                      </a:moveTo>
                      <a:cubicBezTo>
                        <a:pt x="155" y="110"/>
                        <a:pt x="311" y="0"/>
                        <a:pt x="412" y="0"/>
                      </a:cubicBezTo>
                      <a:cubicBezTo>
                        <a:pt x="513" y="0"/>
                        <a:pt x="558" y="110"/>
                        <a:pt x="604" y="2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</p:grpSp>
          <p:sp>
            <p:nvSpPr>
              <p:cNvPr id="59418" name="Rectangle 42"/>
              <p:cNvSpPr>
                <a:spLocks noChangeArrowheads="1"/>
              </p:cNvSpPr>
              <p:nvPr/>
            </p:nvSpPr>
            <p:spPr bwMode="auto">
              <a:xfrm>
                <a:off x="3733800" y="1112838"/>
                <a:ext cx="1828800" cy="106362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19" name="Rectangle 43"/>
              <p:cNvSpPr>
                <a:spLocks noChangeArrowheads="1"/>
              </p:cNvSpPr>
              <p:nvPr/>
            </p:nvSpPr>
            <p:spPr bwMode="auto">
              <a:xfrm>
                <a:off x="7388225" y="1828800"/>
                <a:ext cx="463550" cy="465138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1400" b="0">
                    <a:solidFill>
                      <a:schemeClr val="tx1"/>
                    </a:solidFill>
                  </a:rPr>
                  <a:t>C(i,j)</a:t>
                </a:r>
              </a:p>
            </p:txBody>
          </p:sp>
          <p:sp>
            <p:nvSpPr>
              <p:cNvPr id="59420" name="Rectangle 44"/>
              <p:cNvSpPr>
                <a:spLocks noChangeArrowheads="1"/>
              </p:cNvSpPr>
              <p:nvPr/>
            </p:nvSpPr>
            <p:spPr bwMode="auto">
              <a:xfrm>
                <a:off x="7388225" y="1730375"/>
                <a:ext cx="463550" cy="98425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21" name="Rectangle 45"/>
              <p:cNvSpPr>
                <a:spLocks noChangeArrowheads="1"/>
              </p:cNvSpPr>
              <p:nvPr/>
            </p:nvSpPr>
            <p:spPr bwMode="auto">
              <a:xfrm flipH="1">
                <a:off x="7296150" y="1828800"/>
                <a:ext cx="9525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grpSp>
            <p:nvGrpSpPr>
              <p:cNvPr id="59422" name="Group 46"/>
              <p:cNvGrpSpPr>
                <a:grpSpLocks/>
              </p:cNvGrpSpPr>
              <p:nvPr/>
            </p:nvGrpSpPr>
            <p:grpSpPr bwMode="auto">
              <a:xfrm rot="5400000">
                <a:off x="4802981" y="1726407"/>
                <a:ext cx="1393825" cy="385762"/>
                <a:chOff x="1038" y="525"/>
                <a:chExt cx="878" cy="243"/>
              </a:xfrm>
            </p:grpSpPr>
            <p:sp>
              <p:nvSpPr>
                <p:cNvPr id="59423" name="Line 47"/>
                <p:cNvSpPr>
                  <a:spLocks noChangeShapeType="1"/>
                </p:cNvSpPr>
                <p:nvPr/>
              </p:nvSpPr>
              <p:spPr bwMode="auto">
                <a:xfrm>
                  <a:off x="1056" y="768"/>
                  <a:ext cx="3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59424" name="Freeform 48"/>
                <p:cNvSpPr>
                  <a:spLocks/>
                </p:cNvSpPr>
                <p:nvPr/>
              </p:nvSpPr>
              <p:spPr bwMode="auto">
                <a:xfrm>
                  <a:off x="1042" y="539"/>
                  <a:ext cx="604" cy="220"/>
                </a:xfrm>
                <a:custGeom>
                  <a:avLst/>
                  <a:gdLst>
                    <a:gd name="T0" fmla="*/ 0 w 604"/>
                    <a:gd name="T1" fmla="*/ 220 h 220"/>
                    <a:gd name="T2" fmla="*/ 412 w 604"/>
                    <a:gd name="T3" fmla="*/ 0 h 220"/>
                    <a:gd name="T4" fmla="*/ 604 w 604"/>
                    <a:gd name="T5" fmla="*/ 220 h 220"/>
                    <a:gd name="T6" fmla="*/ 0 60000 65536"/>
                    <a:gd name="T7" fmla="*/ 0 60000 65536"/>
                    <a:gd name="T8" fmla="*/ 0 60000 65536"/>
                    <a:gd name="T9" fmla="*/ 0 w 604"/>
                    <a:gd name="T10" fmla="*/ 0 h 220"/>
                    <a:gd name="T11" fmla="*/ 604 w 604"/>
                    <a:gd name="T12" fmla="*/ 220 h 2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4" h="220">
                      <a:moveTo>
                        <a:pt x="0" y="220"/>
                      </a:moveTo>
                      <a:cubicBezTo>
                        <a:pt x="155" y="110"/>
                        <a:pt x="311" y="0"/>
                        <a:pt x="412" y="0"/>
                      </a:cubicBezTo>
                      <a:cubicBezTo>
                        <a:pt x="513" y="0"/>
                        <a:pt x="558" y="110"/>
                        <a:pt x="604" y="2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59425" name="Freeform 49"/>
                <p:cNvSpPr>
                  <a:spLocks/>
                </p:cNvSpPr>
                <p:nvPr/>
              </p:nvSpPr>
              <p:spPr bwMode="auto">
                <a:xfrm>
                  <a:off x="1038" y="525"/>
                  <a:ext cx="878" cy="220"/>
                </a:xfrm>
                <a:custGeom>
                  <a:avLst/>
                  <a:gdLst>
                    <a:gd name="T0" fmla="*/ 0 w 604"/>
                    <a:gd name="T1" fmla="*/ 220 h 220"/>
                    <a:gd name="T2" fmla="*/ 8216 w 604"/>
                    <a:gd name="T3" fmla="*/ 0 h 220"/>
                    <a:gd name="T4" fmla="*/ 12041 w 604"/>
                    <a:gd name="T5" fmla="*/ 220 h 220"/>
                    <a:gd name="T6" fmla="*/ 0 60000 65536"/>
                    <a:gd name="T7" fmla="*/ 0 60000 65536"/>
                    <a:gd name="T8" fmla="*/ 0 60000 65536"/>
                    <a:gd name="T9" fmla="*/ 0 w 604"/>
                    <a:gd name="T10" fmla="*/ 0 h 220"/>
                    <a:gd name="T11" fmla="*/ 604 w 604"/>
                    <a:gd name="T12" fmla="*/ 220 h 2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4" h="220">
                      <a:moveTo>
                        <a:pt x="0" y="220"/>
                      </a:moveTo>
                      <a:cubicBezTo>
                        <a:pt x="155" y="110"/>
                        <a:pt x="311" y="0"/>
                        <a:pt x="412" y="0"/>
                      </a:cubicBezTo>
                      <a:cubicBezTo>
                        <a:pt x="513" y="0"/>
                        <a:pt x="558" y="110"/>
                        <a:pt x="604" y="2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</p:grpSp>
        </p:grpSp>
        <p:sp>
          <p:nvSpPr>
            <p:cNvPr id="3" name="TextBox 2"/>
            <p:cNvSpPr txBox="1"/>
            <p:nvPr/>
          </p:nvSpPr>
          <p:spPr>
            <a:xfrm>
              <a:off x="8229600" y="1752600"/>
              <a:ext cx="692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0824F2"/>
                  </a:solidFill>
                </a:rPr>
                <a:t>Brow</a:t>
              </a:r>
              <a:endParaRPr lang="en-US" b="1" dirty="0">
                <a:solidFill>
                  <a:srgbClr val="0824F2"/>
                </a:solidFill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7924800" y="1981200"/>
              <a:ext cx="304800" cy="0"/>
            </a:xfrm>
            <a:prstGeom prst="straightConnector1">
              <a:avLst/>
            </a:prstGeom>
            <a:ln>
              <a:solidFill>
                <a:srgbClr val="0824F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7010400" y="2895600"/>
              <a:ext cx="601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>
                  <a:solidFill>
                    <a:srgbClr val="FF0000"/>
                  </a:solidFill>
                </a:rPr>
                <a:t>Acol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7315200" y="2590800"/>
              <a:ext cx="0" cy="457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3"/>
          <p:cNvSpPr txBox="1">
            <a:spLocks noChangeArrowheads="1"/>
          </p:cNvSpPr>
          <p:nvPr/>
        </p:nvSpPr>
        <p:spPr>
          <a:xfrm>
            <a:off x="381000" y="4038600"/>
            <a:ext cx="8482013" cy="21336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</a:t>
            </a:r>
            <a:r>
              <a:rPr lang="en-US" dirty="0" smtClean="0"/>
              <a:t>Using more than the minimum memory</a:t>
            </a:r>
            <a:endParaRPr lang="en-US" sz="2400" dirty="0" smtClean="0"/>
          </a:p>
          <a:p>
            <a:r>
              <a:rPr lang="en-US" sz="2400" dirty="0" smtClean="0"/>
              <a:t>What if matrix small enough to fit c&gt;1 copies, so M = cn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/P ? </a:t>
            </a:r>
          </a:p>
          <a:p>
            <a:pPr lvl="1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 </a:t>
            </a:r>
            <a:r>
              <a:rPr lang="en-US" sz="2400" dirty="0" err="1" smtClean="0"/>
              <a:t>Ω</a:t>
            </a:r>
            <a:r>
              <a:rPr lang="en-US" sz="2400" dirty="0" smtClean="0"/>
              <a:t>( #flops / M</a:t>
            </a:r>
            <a:r>
              <a:rPr lang="en-US" sz="2400" baseline="30000" dirty="0" smtClean="0"/>
              <a:t>1/2</a:t>
            </a:r>
            <a:r>
              <a:rPr lang="en-US" sz="2400" dirty="0" smtClean="0"/>
              <a:t> )  = </a:t>
            </a:r>
            <a:r>
              <a:rPr lang="en-US" sz="2400" dirty="0" err="1" smtClean="0"/>
              <a:t>Ω</a:t>
            </a:r>
            <a:r>
              <a:rPr lang="en-US" sz="2400" dirty="0" smtClean="0"/>
              <a:t>(  n</a:t>
            </a:r>
            <a:r>
              <a:rPr lang="en-US" sz="2400" baseline="30000" dirty="0" smtClean="0"/>
              <a:t>2 </a:t>
            </a:r>
            <a:r>
              <a:rPr lang="en-US" sz="2400" dirty="0" smtClean="0"/>
              <a:t>/ ( c</a:t>
            </a:r>
            <a:r>
              <a:rPr lang="en-US" sz="2400" baseline="30000" dirty="0" smtClean="0"/>
              <a:t>1/2 </a:t>
            </a:r>
            <a:r>
              <a:rPr lang="en-US" sz="2400" dirty="0" smtClean="0"/>
              <a:t>P</a:t>
            </a:r>
            <a:r>
              <a:rPr lang="en-US" sz="2400" baseline="30000" dirty="0" smtClean="0"/>
              <a:t>1/2</a:t>
            </a:r>
            <a:r>
              <a:rPr lang="en-US" sz="2400" dirty="0" smtClean="0"/>
              <a:t> ))</a:t>
            </a:r>
          </a:p>
          <a:p>
            <a:pPr lvl="1"/>
            <a:r>
              <a:rPr lang="en-US" sz="2400" dirty="0" smtClean="0"/>
              <a:t>#messages         = </a:t>
            </a:r>
            <a:r>
              <a:rPr lang="en-US" sz="2400" dirty="0" err="1" smtClean="0"/>
              <a:t>Ω</a:t>
            </a:r>
            <a:r>
              <a:rPr lang="en-US" sz="2400" dirty="0" smtClean="0"/>
              <a:t>( #flops / M</a:t>
            </a:r>
            <a:r>
              <a:rPr lang="en-US" sz="2400" baseline="30000" dirty="0" smtClean="0"/>
              <a:t>3/2</a:t>
            </a:r>
            <a:r>
              <a:rPr lang="en-US" sz="2400" dirty="0" smtClean="0"/>
              <a:t> )  = </a:t>
            </a:r>
            <a:r>
              <a:rPr lang="en-US" sz="2400" dirty="0" err="1" smtClean="0"/>
              <a:t>Ω</a:t>
            </a:r>
            <a:r>
              <a:rPr lang="en-US" sz="2400" dirty="0" smtClean="0"/>
              <a:t>(  P</a:t>
            </a:r>
            <a:r>
              <a:rPr lang="en-US" sz="2400" baseline="30000" dirty="0" smtClean="0"/>
              <a:t>1/2</a:t>
            </a:r>
            <a:r>
              <a:rPr lang="en-US" sz="2400" dirty="0" smtClean="0"/>
              <a:t> /c</a:t>
            </a:r>
            <a:r>
              <a:rPr lang="en-US" sz="2400" baseline="30000" dirty="0" smtClean="0"/>
              <a:t>3/2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Can we attain new lower bound?</a:t>
            </a:r>
          </a:p>
        </p:txBody>
      </p:sp>
    </p:spTree>
    <p:extLst>
      <p:ext uri="{BB962C8B-B14F-4D97-AF65-F5344CB8AC3E}">
        <p14:creationId xmlns:p14="http://schemas.microsoft.com/office/powerpoint/2010/main" val="13232139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2.5D Matrix Multiplication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dirty="0" smtClean="0"/>
              <a:t>Assume can fit cn</a:t>
            </a:r>
            <a:r>
              <a:rPr lang="en-US" baseline="30000" dirty="0" smtClean="0"/>
              <a:t>2</a:t>
            </a:r>
            <a:r>
              <a:rPr lang="en-US" dirty="0" smtClean="0"/>
              <a:t>/P data per processor, c &gt; 1</a:t>
            </a:r>
          </a:p>
          <a:p>
            <a:r>
              <a:rPr lang="en-US" dirty="0" smtClean="0"/>
              <a:t>Processors form (P/c)</a:t>
            </a:r>
            <a:r>
              <a:rPr lang="en-US" baseline="30000" dirty="0" smtClean="0"/>
              <a:t>1/2</a:t>
            </a:r>
            <a:r>
              <a:rPr lang="en-US" dirty="0" smtClean="0"/>
              <a:t>  x  (P/c)</a:t>
            </a:r>
            <a:r>
              <a:rPr lang="en-US" baseline="30000" dirty="0" smtClean="0"/>
              <a:t>1/2</a:t>
            </a:r>
            <a:r>
              <a:rPr lang="en-US" dirty="0" smtClean="0"/>
              <a:t>  x  c  grid</a:t>
            </a: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914400" y="2819400"/>
            <a:ext cx="4191000" cy="2209800"/>
            <a:chOff x="2057400" y="2819400"/>
            <a:chExt cx="4191000" cy="2209800"/>
          </a:xfrm>
        </p:grpSpPr>
        <p:grpSp>
          <p:nvGrpSpPr>
            <p:cNvPr id="32" name="Group 31"/>
            <p:cNvGrpSpPr/>
            <p:nvPr/>
          </p:nvGrpSpPr>
          <p:grpSpPr>
            <a:xfrm>
              <a:off x="2590800" y="3505200"/>
              <a:ext cx="3657600" cy="1524000"/>
              <a:chOff x="2590800" y="3505200"/>
              <a:chExt cx="3657600" cy="1524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590800" y="4419600"/>
                <a:ext cx="2133600" cy="6096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6248400" y="35052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V="1">
                <a:off x="4724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V="1">
                <a:off x="4724400" y="41148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2590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114800" y="35052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3581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4114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0480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352800" y="3962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733800" y="37338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2971800" y="41910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5814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1148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5105400" y="41910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486400" y="39624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867400" y="37338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4" idx="1"/>
                <a:endCxn id="4" idx="3"/>
              </p:cNvCxnSpPr>
              <p:nvPr/>
            </p:nvCxnSpPr>
            <p:spPr>
              <a:xfrm>
                <a:off x="2590800" y="4724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4" idx="3"/>
              </p:cNvCxnSpPr>
              <p:nvPr/>
            </p:nvCxnSpPr>
            <p:spPr>
              <a:xfrm flipV="1">
                <a:off x="4724400" y="38100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Arrow Connector 33"/>
            <p:cNvCxnSpPr/>
            <p:nvPr/>
          </p:nvCxnSpPr>
          <p:spPr>
            <a:xfrm>
              <a:off x="2438400" y="4419600"/>
              <a:ext cx="0" cy="6096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4114800" y="3352800"/>
              <a:ext cx="21336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2438400" y="3352800"/>
              <a:ext cx="1752600" cy="10668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2057400" y="4495800"/>
              <a:ext cx="3148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24400" y="2819400"/>
              <a:ext cx="11144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(P/c)</a:t>
              </a:r>
              <a:r>
                <a:rPr lang="en-US" sz="2800" baseline="30000" dirty="0" smtClean="0"/>
                <a:t>1/2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 rot="19657307">
              <a:off x="2590800" y="3390627"/>
              <a:ext cx="11144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(P/c)</a:t>
              </a:r>
              <a:r>
                <a:rPr lang="en-US" sz="2800" baseline="30000" dirty="0" smtClean="0"/>
                <a:t>1/2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5562600" y="3733800"/>
            <a:ext cx="3026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Example: P =  32,  c =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25297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2.5D Matrix Multiplication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dirty="0" smtClean="0"/>
              <a:t>Assume can fit cn</a:t>
            </a:r>
            <a:r>
              <a:rPr lang="en-US" baseline="30000" dirty="0" smtClean="0"/>
              <a:t>2</a:t>
            </a:r>
            <a:r>
              <a:rPr lang="en-US" dirty="0" smtClean="0"/>
              <a:t>/P data per processor, c &gt; 1</a:t>
            </a:r>
          </a:p>
          <a:p>
            <a:r>
              <a:rPr lang="en-US" dirty="0" smtClean="0"/>
              <a:t>Processors form (P/c)</a:t>
            </a:r>
            <a:r>
              <a:rPr lang="en-US" baseline="30000" dirty="0" smtClean="0"/>
              <a:t>1/2</a:t>
            </a:r>
            <a:r>
              <a:rPr lang="en-US" dirty="0" smtClean="0"/>
              <a:t>  x  (P/c)</a:t>
            </a:r>
            <a:r>
              <a:rPr lang="en-US" baseline="30000" dirty="0" smtClean="0"/>
              <a:t>1/2</a:t>
            </a:r>
            <a:r>
              <a:rPr lang="en-US" dirty="0" smtClean="0"/>
              <a:t>  x  c  grid</a:t>
            </a: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914400" y="2819400"/>
            <a:ext cx="4191000" cy="2209800"/>
            <a:chOff x="2057400" y="2819400"/>
            <a:chExt cx="4191000" cy="2209800"/>
          </a:xfrm>
        </p:grpSpPr>
        <p:grpSp>
          <p:nvGrpSpPr>
            <p:cNvPr id="32" name="Group 31"/>
            <p:cNvGrpSpPr/>
            <p:nvPr/>
          </p:nvGrpSpPr>
          <p:grpSpPr>
            <a:xfrm>
              <a:off x="2590800" y="3505200"/>
              <a:ext cx="3657600" cy="1524000"/>
              <a:chOff x="2590800" y="3505200"/>
              <a:chExt cx="3657600" cy="1524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590800" y="4419600"/>
                <a:ext cx="2133600" cy="6096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6248400" y="35052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V="1">
                <a:off x="4724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V="1">
                <a:off x="4724400" y="41148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2590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114800" y="35052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3581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4114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0480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352800" y="3962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733800" y="37338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2971800" y="41910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5814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1148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5105400" y="41910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486400" y="39624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867400" y="37338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4" idx="1"/>
                <a:endCxn id="4" idx="3"/>
              </p:cNvCxnSpPr>
              <p:nvPr/>
            </p:nvCxnSpPr>
            <p:spPr>
              <a:xfrm>
                <a:off x="2590800" y="4724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4" idx="3"/>
              </p:cNvCxnSpPr>
              <p:nvPr/>
            </p:nvCxnSpPr>
            <p:spPr>
              <a:xfrm flipV="1">
                <a:off x="4724400" y="38100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/>
            <p:cNvSpPr txBox="1"/>
            <p:nvPr/>
          </p:nvSpPr>
          <p:spPr>
            <a:xfrm>
              <a:off x="2057400" y="4495800"/>
              <a:ext cx="325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24400" y="2819400"/>
              <a:ext cx="2711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j</a:t>
              </a:r>
              <a:endParaRPr lang="en-US" sz="2800" baseline="30000" dirty="0" smtClean="0"/>
            </a:p>
          </p:txBody>
        </p:sp>
        <p:sp>
          <p:nvSpPr>
            <p:cNvPr id="43" name="TextBox 42"/>
            <p:cNvSpPr txBox="1"/>
            <p:nvPr/>
          </p:nvSpPr>
          <p:spPr>
            <a:xfrm rot="19657307">
              <a:off x="3020370" y="3390627"/>
              <a:ext cx="255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i</a:t>
              </a:r>
              <a:endParaRPr lang="en-US" sz="2800" baseline="30000" dirty="0" smtClean="0"/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2971800" y="3352800"/>
            <a:ext cx="2133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295400" y="44196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295400" y="3352800"/>
            <a:ext cx="1676400" cy="1066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0" y="3773269"/>
            <a:ext cx="3520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Initially P(i,j,0) owns A(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and B(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   each of size n(c/P)</a:t>
            </a:r>
            <a:r>
              <a:rPr lang="en-US" sz="2000" baseline="30000" dirty="0" smtClean="0"/>
              <a:t>1/2</a:t>
            </a:r>
            <a:r>
              <a:rPr lang="en-US" dirty="0" smtClean="0"/>
              <a:t> x n(c/P)</a:t>
            </a:r>
            <a:r>
              <a:rPr lang="en-US" sz="2000" baseline="30000" dirty="0" smtClean="0"/>
              <a:t>1/2</a:t>
            </a:r>
            <a:endParaRPr lang="en-US" baseline="30000" dirty="0"/>
          </a:p>
        </p:txBody>
      </p:sp>
      <p:sp>
        <p:nvSpPr>
          <p:cNvPr id="35" name="TextBox 34"/>
          <p:cNvSpPr txBox="1"/>
          <p:nvPr/>
        </p:nvSpPr>
        <p:spPr>
          <a:xfrm>
            <a:off x="838200" y="5486400"/>
            <a:ext cx="7977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(1)  P(i,j,0) broadcasts A(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and B(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to P(</a:t>
            </a:r>
            <a:r>
              <a:rPr lang="en-US" dirty="0" err="1"/>
              <a:t>i</a:t>
            </a:r>
            <a:r>
              <a:rPr lang="en-US" dirty="0" err="1" smtClean="0"/>
              <a:t>,j,k</a:t>
            </a:r>
            <a:r>
              <a:rPr lang="en-US" dirty="0" smtClean="0"/>
              <a:t>)</a:t>
            </a:r>
          </a:p>
          <a:p>
            <a:r>
              <a:rPr lang="en-US" dirty="0" smtClean="0"/>
              <a:t>(2)  Processors at level k perform 1/c-</a:t>
            </a:r>
            <a:r>
              <a:rPr lang="en-US" dirty="0" err="1" smtClean="0"/>
              <a:t>th</a:t>
            </a:r>
            <a:r>
              <a:rPr lang="en-US" dirty="0" smtClean="0"/>
              <a:t> of SUMMA, i.e. 1/c-</a:t>
            </a:r>
            <a:r>
              <a:rPr lang="en-US" dirty="0" err="1" smtClean="0"/>
              <a:t>th</a:t>
            </a:r>
            <a:r>
              <a:rPr lang="en-US" dirty="0" smtClean="0"/>
              <a:t> of  </a:t>
            </a:r>
            <a:r>
              <a:rPr lang="en-US" dirty="0" err="1" smtClean="0"/>
              <a:t>Σ</a:t>
            </a:r>
            <a:r>
              <a:rPr lang="en-US" sz="2400" baseline="-25000" dirty="0" err="1" smtClean="0"/>
              <a:t>m</a:t>
            </a:r>
            <a:r>
              <a:rPr lang="en-US" dirty="0" smtClean="0"/>
              <a:t> A(</a:t>
            </a:r>
            <a:r>
              <a:rPr lang="en-US" dirty="0" err="1"/>
              <a:t>i</a:t>
            </a:r>
            <a:r>
              <a:rPr lang="en-US" dirty="0" err="1" smtClean="0"/>
              <a:t>,m</a:t>
            </a:r>
            <a:r>
              <a:rPr lang="en-US" dirty="0" smtClean="0"/>
              <a:t>)*B(</a:t>
            </a:r>
            <a:r>
              <a:rPr lang="en-US" dirty="0" err="1" smtClean="0"/>
              <a:t>m,j</a:t>
            </a:r>
            <a:r>
              <a:rPr lang="en-US" dirty="0" smtClean="0"/>
              <a:t>)</a:t>
            </a:r>
          </a:p>
          <a:p>
            <a:r>
              <a:rPr lang="en-US" dirty="0" smtClean="0"/>
              <a:t>(3)  Sum-reduce partial sums </a:t>
            </a:r>
            <a:r>
              <a:rPr lang="en-US" dirty="0" err="1"/>
              <a:t>Σ</a:t>
            </a:r>
            <a:r>
              <a:rPr lang="en-US" sz="2400" baseline="-25000" dirty="0" err="1"/>
              <a:t>m</a:t>
            </a:r>
            <a:r>
              <a:rPr lang="en-US" dirty="0"/>
              <a:t> A(</a:t>
            </a:r>
            <a:r>
              <a:rPr lang="en-US" dirty="0" err="1"/>
              <a:t>i,m</a:t>
            </a:r>
            <a:r>
              <a:rPr lang="en-US" dirty="0"/>
              <a:t>)*B(</a:t>
            </a:r>
            <a:r>
              <a:rPr lang="en-US" dirty="0" err="1"/>
              <a:t>m,j</a:t>
            </a:r>
            <a:r>
              <a:rPr lang="en-US" dirty="0"/>
              <a:t>)</a:t>
            </a:r>
            <a:r>
              <a:rPr lang="en-US" dirty="0" smtClean="0"/>
              <a:t> along k-axis so P(i,j,0) owns C(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90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2.5D </a:t>
            </a:r>
            <a:r>
              <a:rPr lang="en-US" sz="3600" dirty="0" err="1"/>
              <a:t>Matmul</a:t>
            </a:r>
            <a:r>
              <a:rPr lang="en-US" sz="3600" dirty="0"/>
              <a:t> on BG/P, 16K </a:t>
            </a:r>
            <a:r>
              <a:rPr lang="en-US" sz="3600" dirty="0" smtClean="0"/>
              <a:t>nodes </a:t>
            </a:r>
            <a:r>
              <a:rPr lang="en-US" sz="3600" dirty="0"/>
              <a:t>/ 64K cores</a:t>
            </a:r>
          </a:p>
        </p:txBody>
      </p:sp>
      <p:pic>
        <p:nvPicPr>
          <p:cNvPr id="4" name="Content Placeholder 3" descr="mm_p16384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557" r="-135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615910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563562"/>
          </a:xfrm>
        </p:spPr>
        <p:txBody>
          <a:bodyPr>
            <a:noAutofit/>
          </a:bodyPr>
          <a:lstStyle/>
          <a:p>
            <a:r>
              <a:rPr lang="en-US" sz="3600" dirty="0" smtClean="0"/>
              <a:t>2.5D </a:t>
            </a:r>
            <a:r>
              <a:rPr lang="en-US" sz="3600" dirty="0" err="1" smtClean="0"/>
              <a:t>Matmul</a:t>
            </a:r>
            <a:r>
              <a:rPr lang="en-US" sz="3600" dirty="0" smtClean="0"/>
              <a:t> on BG/P, 16K nodes / 64K cores</a:t>
            </a:r>
            <a:endParaRPr lang="en-US" sz="3600" dirty="0"/>
          </a:p>
        </p:txBody>
      </p:sp>
      <p:pic>
        <p:nvPicPr>
          <p:cNvPr id="4" name="Content Placeholder 3" descr="mm_time_p16384.pd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85" r="-11885"/>
          <a:stretch>
            <a:fillRect/>
          </a:stretch>
        </p:blipFill>
        <p:spPr>
          <a:xfrm>
            <a:off x="457199" y="1066800"/>
            <a:ext cx="8904155" cy="5029200"/>
          </a:xfrm>
        </p:spPr>
      </p:pic>
      <p:sp>
        <p:nvSpPr>
          <p:cNvPr id="5" name="TextBox 4"/>
          <p:cNvSpPr txBox="1"/>
          <p:nvPr/>
        </p:nvSpPr>
        <p:spPr>
          <a:xfrm>
            <a:off x="3486676" y="83820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 = 16 copies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7374" y="5791200"/>
            <a:ext cx="84184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824F2"/>
                </a:solidFill>
              </a:rPr>
              <a:t>Distinguished Paper Award, EuroPar’11 (</a:t>
            </a:r>
            <a:r>
              <a:rPr lang="en-US" sz="2800" b="1" dirty="0" err="1" smtClean="0">
                <a:solidFill>
                  <a:srgbClr val="0824F2"/>
                </a:solidFill>
              </a:rPr>
              <a:t>Solomonik</a:t>
            </a:r>
            <a:r>
              <a:rPr lang="en-US" sz="2800" b="1" dirty="0" smtClean="0">
                <a:solidFill>
                  <a:srgbClr val="0824F2"/>
                </a:solidFill>
              </a:rPr>
              <a:t>, D.)</a:t>
            </a:r>
          </a:p>
          <a:p>
            <a:pPr algn="ctr"/>
            <a:r>
              <a:rPr lang="en-US" sz="2800" b="1" dirty="0" smtClean="0">
                <a:solidFill>
                  <a:srgbClr val="0824F2"/>
                </a:solidFill>
              </a:rPr>
              <a:t>SC’11 paper by </a:t>
            </a:r>
            <a:r>
              <a:rPr lang="en-US" sz="2800" b="1" dirty="0" err="1" smtClean="0">
                <a:solidFill>
                  <a:srgbClr val="0824F2"/>
                </a:solidFill>
              </a:rPr>
              <a:t>Solomonik</a:t>
            </a:r>
            <a:r>
              <a:rPr lang="en-US" sz="2800" b="1" dirty="0" smtClean="0">
                <a:solidFill>
                  <a:srgbClr val="0824F2"/>
                </a:solidFill>
              </a:rPr>
              <a:t>, </a:t>
            </a:r>
            <a:r>
              <a:rPr lang="en-US" sz="2800" b="1" dirty="0" err="1" smtClean="0">
                <a:solidFill>
                  <a:srgbClr val="0824F2"/>
                </a:solidFill>
              </a:rPr>
              <a:t>Bhatele</a:t>
            </a:r>
            <a:r>
              <a:rPr lang="en-US" sz="2800" b="1" dirty="0" smtClean="0">
                <a:solidFill>
                  <a:srgbClr val="0824F2"/>
                </a:solidFill>
              </a:rPr>
              <a:t>, D.</a:t>
            </a:r>
            <a:endParaRPr lang="en-US" sz="2800" b="1" dirty="0">
              <a:solidFill>
                <a:srgbClr val="0824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8665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824F2"/>
                </a:solidFill>
              </a:rPr>
              <a:t>Perfect Strong Scaling </a:t>
            </a:r>
            <a:r>
              <a:rPr lang="en-US" sz="3600" dirty="0" smtClean="0"/>
              <a:t>– in Time and </a:t>
            </a:r>
            <a:r>
              <a:rPr lang="en-US" sz="3600" smtClean="0"/>
              <a:t>Energy 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295400"/>
            <a:ext cx="9296400" cy="5410200"/>
          </a:xfrm>
        </p:spPr>
        <p:txBody>
          <a:bodyPr>
            <a:normAutofit fontScale="62500" lnSpcReduction="20000"/>
          </a:bodyPr>
          <a:lstStyle/>
          <a:p>
            <a:r>
              <a:rPr lang="en-US" sz="3800" dirty="0" smtClean="0"/>
              <a:t>Every time you add a processor, you should use its memory M too</a:t>
            </a:r>
          </a:p>
          <a:p>
            <a:r>
              <a:rPr lang="en-US" sz="3800" dirty="0" smtClean="0"/>
              <a:t>Start with minimal number of </a:t>
            </a:r>
            <a:r>
              <a:rPr lang="en-US" sz="3800" dirty="0" err="1" smtClean="0"/>
              <a:t>procs</a:t>
            </a:r>
            <a:r>
              <a:rPr lang="en-US" sz="3800" dirty="0" smtClean="0"/>
              <a:t>: PM = 3n</a:t>
            </a:r>
            <a:r>
              <a:rPr lang="en-US" sz="3800" baseline="30000" dirty="0" smtClean="0"/>
              <a:t>2</a:t>
            </a:r>
            <a:endParaRPr lang="en-US" sz="3800" dirty="0" smtClean="0"/>
          </a:p>
          <a:p>
            <a:r>
              <a:rPr lang="en-US" sz="3800" dirty="0" smtClean="0"/>
              <a:t>Increase P by a factor of c </a:t>
            </a:r>
            <a:r>
              <a:rPr lang="en-US" sz="3800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3800" dirty="0" smtClean="0"/>
              <a:t> total memory increases by a factor of c</a:t>
            </a:r>
          </a:p>
          <a:p>
            <a:r>
              <a:rPr lang="en-US" sz="3800" dirty="0" smtClean="0"/>
              <a:t>Notation for timing model:</a:t>
            </a:r>
          </a:p>
          <a:p>
            <a:pPr lvl="1"/>
            <a:r>
              <a:rPr lang="en-US" sz="3800" dirty="0" err="1" smtClean="0"/>
              <a:t>γ</a:t>
            </a:r>
            <a:r>
              <a:rPr lang="en-US" sz="3800" baseline="-25000" dirty="0" err="1" smtClean="0"/>
              <a:t>T</a:t>
            </a:r>
            <a:r>
              <a:rPr lang="en-US" sz="3800" baseline="-25000" dirty="0" smtClean="0"/>
              <a:t> </a:t>
            </a:r>
            <a:r>
              <a:rPr lang="en-US" sz="3800" dirty="0" smtClean="0"/>
              <a:t>, β</a:t>
            </a:r>
            <a:r>
              <a:rPr lang="en-US" sz="3800" baseline="-25000" dirty="0" smtClean="0"/>
              <a:t>T</a:t>
            </a:r>
            <a:r>
              <a:rPr lang="en-US" sz="3800" dirty="0" smtClean="0"/>
              <a:t> , α</a:t>
            </a:r>
            <a:r>
              <a:rPr lang="en-US" sz="3800" baseline="-25000" dirty="0" smtClean="0"/>
              <a:t>T</a:t>
            </a:r>
            <a:r>
              <a:rPr lang="en-US" sz="3800" dirty="0"/>
              <a:t> </a:t>
            </a:r>
            <a:r>
              <a:rPr lang="en-US" sz="3800" dirty="0" smtClean="0"/>
              <a:t>= </a:t>
            </a:r>
            <a:r>
              <a:rPr lang="en-US" sz="3800" dirty="0" err="1" smtClean="0"/>
              <a:t>secs</a:t>
            </a:r>
            <a:r>
              <a:rPr lang="en-US" sz="3800" dirty="0" smtClean="0"/>
              <a:t> per flop, per </a:t>
            </a:r>
            <a:r>
              <a:rPr lang="en-US" sz="3800" dirty="0" err="1" smtClean="0"/>
              <a:t>word_moved</a:t>
            </a:r>
            <a:r>
              <a:rPr lang="en-US" sz="3800" dirty="0" smtClean="0"/>
              <a:t>, per message of size m</a:t>
            </a:r>
          </a:p>
          <a:p>
            <a:r>
              <a:rPr lang="en-US" sz="3800" dirty="0">
                <a:solidFill>
                  <a:srgbClr val="0824F2"/>
                </a:solidFill>
              </a:rPr>
              <a:t>T(</a:t>
            </a:r>
            <a:r>
              <a:rPr lang="en-US" sz="3800" dirty="0" err="1">
                <a:solidFill>
                  <a:srgbClr val="0824F2"/>
                </a:solidFill>
              </a:rPr>
              <a:t>cP</a:t>
            </a:r>
            <a:r>
              <a:rPr lang="en-US" sz="3800" dirty="0">
                <a:solidFill>
                  <a:srgbClr val="0824F2"/>
                </a:solidFill>
              </a:rPr>
              <a:t>) </a:t>
            </a:r>
            <a:r>
              <a:rPr lang="en-US" sz="3800" dirty="0"/>
              <a:t>= n</a:t>
            </a:r>
            <a:r>
              <a:rPr lang="en-US" sz="3800" baseline="30000" dirty="0"/>
              <a:t>3</a:t>
            </a:r>
            <a:r>
              <a:rPr lang="en-US" sz="3800" dirty="0"/>
              <a:t>/(</a:t>
            </a:r>
            <a:r>
              <a:rPr lang="en-US" sz="3800" dirty="0" err="1"/>
              <a:t>cP</a:t>
            </a:r>
            <a:r>
              <a:rPr lang="en-US" sz="3800" dirty="0"/>
              <a:t>) [ </a:t>
            </a:r>
            <a:r>
              <a:rPr lang="en-US" sz="3800" dirty="0" err="1"/>
              <a:t>γ</a:t>
            </a:r>
            <a:r>
              <a:rPr lang="en-US" sz="3800" baseline="-25000" dirty="0" err="1"/>
              <a:t>T</a:t>
            </a:r>
            <a:r>
              <a:rPr lang="en-US" sz="3800" dirty="0"/>
              <a:t>+ β</a:t>
            </a:r>
            <a:r>
              <a:rPr lang="en-US" sz="3800" baseline="-25000" dirty="0"/>
              <a:t>T</a:t>
            </a:r>
            <a:r>
              <a:rPr lang="en-US" sz="3800" dirty="0"/>
              <a:t>/M</a:t>
            </a:r>
            <a:r>
              <a:rPr lang="en-US" sz="3800" baseline="30000" dirty="0"/>
              <a:t>1/2</a:t>
            </a:r>
            <a:r>
              <a:rPr lang="en-US" sz="3800" dirty="0"/>
              <a:t> + α</a:t>
            </a:r>
            <a:r>
              <a:rPr lang="en-US" sz="3800" baseline="-25000" dirty="0"/>
              <a:t>T</a:t>
            </a:r>
            <a:r>
              <a:rPr lang="en-US" sz="3800" dirty="0"/>
              <a:t>/(mM</a:t>
            </a:r>
            <a:r>
              <a:rPr lang="en-US" sz="3800" baseline="30000" dirty="0"/>
              <a:t>1/2</a:t>
            </a:r>
            <a:r>
              <a:rPr lang="en-US" sz="3800" dirty="0"/>
              <a:t>) ]</a:t>
            </a:r>
          </a:p>
          <a:p>
            <a:pPr marL="0" indent="0">
              <a:buNone/>
            </a:pPr>
            <a:r>
              <a:rPr lang="en-US" sz="3800" dirty="0"/>
              <a:t>               </a:t>
            </a:r>
            <a:r>
              <a:rPr lang="en-US" sz="3800" dirty="0" smtClean="0">
                <a:solidFill>
                  <a:srgbClr val="0824F2"/>
                </a:solidFill>
              </a:rPr>
              <a:t>= </a:t>
            </a:r>
            <a:r>
              <a:rPr lang="en-US" sz="3800" dirty="0">
                <a:solidFill>
                  <a:srgbClr val="0824F2"/>
                </a:solidFill>
              </a:rPr>
              <a:t>T(P)/c</a:t>
            </a:r>
          </a:p>
          <a:p>
            <a:r>
              <a:rPr lang="en-US" sz="3800" dirty="0" smtClean="0"/>
              <a:t>Notation for energy model:</a:t>
            </a:r>
          </a:p>
          <a:p>
            <a:pPr lvl="1"/>
            <a:r>
              <a:rPr lang="en-US" sz="3800" dirty="0" err="1" smtClean="0"/>
              <a:t>γ</a:t>
            </a:r>
            <a:r>
              <a:rPr lang="en-US" sz="3800" baseline="-25000" dirty="0" err="1" smtClean="0"/>
              <a:t>E</a:t>
            </a:r>
            <a:r>
              <a:rPr lang="en-US" sz="3800" baseline="-25000" dirty="0" smtClean="0"/>
              <a:t> </a:t>
            </a:r>
            <a:r>
              <a:rPr lang="en-US" sz="3800" dirty="0"/>
              <a:t>, </a:t>
            </a:r>
            <a:r>
              <a:rPr lang="en-US" sz="3800" dirty="0" smtClean="0"/>
              <a:t>β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 </a:t>
            </a:r>
            <a:r>
              <a:rPr lang="en-US" sz="3800" dirty="0"/>
              <a:t>, </a:t>
            </a:r>
            <a:r>
              <a:rPr lang="en-US" sz="3800" dirty="0" smtClean="0"/>
              <a:t>α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 = joules for same operations</a:t>
            </a:r>
          </a:p>
          <a:p>
            <a:pPr lvl="1"/>
            <a:r>
              <a:rPr lang="en-US" sz="3800" dirty="0" err="1" smtClean="0"/>
              <a:t>δ</a:t>
            </a:r>
            <a:r>
              <a:rPr lang="en-US" sz="3800" baseline="-25000" dirty="0" err="1" smtClean="0"/>
              <a:t>E</a:t>
            </a:r>
            <a:r>
              <a:rPr lang="en-US" sz="3800" baseline="-25000" dirty="0" smtClean="0"/>
              <a:t> </a:t>
            </a:r>
            <a:r>
              <a:rPr lang="en-US" sz="3800" dirty="0" smtClean="0"/>
              <a:t>= joules per word of memory used per sec</a:t>
            </a:r>
          </a:p>
          <a:p>
            <a:pPr lvl="1"/>
            <a:r>
              <a:rPr lang="en-US" sz="3800" dirty="0" err="1" smtClean="0"/>
              <a:t>ε</a:t>
            </a:r>
            <a:r>
              <a:rPr lang="en-US" sz="3800" baseline="-25000" dirty="0" err="1" smtClean="0"/>
              <a:t>E</a:t>
            </a:r>
            <a:r>
              <a:rPr lang="en-US" sz="3800" dirty="0"/>
              <a:t> </a:t>
            </a:r>
            <a:r>
              <a:rPr lang="en-US" sz="3800" dirty="0" smtClean="0"/>
              <a:t>= joules per sec for leakage, etc.</a:t>
            </a:r>
          </a:p>
          <a:p>
            <a:r>
              <a:rPr lang="en-US" sz="3800" dirty="0" smtClean="0">
                <a:solidFill>
                  <a:srgbClr val="0824F2"/>
                </a:solidFill>
              </a:rPr>
              <a:t>E(</a:t>
            </a:r>
            <a:r>
              <a:rPr lang="en-US" sz="3800" dirty="0" err="1" smtClean="0">
                <a:solidFill>
                  <a:srgbClr val="0824F2"/>
                </a:solidFill>
              </a:rPr>
              <a:t>cP</a:t>
            </a:r>
            <a:r>
              <a:rPr lang="en-US" sz="3800" dirty="0" smtClean="0">
                <a:solidFill>
                  <a:srgbClr val="0824F2"/>
                </a:solidFill>
              </a:rPr>
              <a:t>) </a:t>
            </a:r>
            <a:r>
              <a:rPr lang="en-US" sz="3800" dirty="0" smtClean="0"/>
              <a:t>= </a:t>
            </a:r>
            <a:r>
              <a:rPr lang="en-US" sz="3800" dirty="0" err="1" smtClean="0"/>
              <a:t>cP</a:t>
            </a:r>
            <a:r>
              <a:rPr lang="en-US" sz="3800" dirty="0" smtClean="0"/>
              <a:t> { n</a:t>
            </a:r>
            <a:r>
              <a:rPr lang="en-US" sz="3800" baseline="30000" dirty="0" smtClean="0"/>
              <a:t>3</a:t>
            </a:r>
            <a:r>
              <a:rPr lang="en-US" sz="3800" dirty="0"/>
              <a:t>/(</a:t>
            </a:r>
            <a:r>
              <a:rPr lang="en-US" sz="3800" dirty="0" err="1"/>
              <a:t>cP</a:t>
            </a:r>
            <a:r>
              <a:rPr lang="en-US" sz="3800" dirty="0"/>
              <a:t>) [ </a:t>
            </a:r>
            <a:r>
              <a:rPr lang="en-US" sz="3800" dirty="0" err="1" smtClean="0"/>
              <a:t>γ</a:t>
            </a:r>
            <a:r>
              <a:rPr lang="en-US" sz="3800" baseline="-25000" dirty="0" err="1" smtClean="0"/>
              <a:t>E</a:t>
            </a:r>
            <a:r>
              <a:rPr lang="en-US" sz="3800" dirty="0" smtClean="0"/>
              <a:t>+ β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/</a:t>
            </a:r>
            <a:r>
              <a:rPr lang="en-US" sz="3800" dirty="0"/>
              <a:t>M</a:t>
            </a:r>
            <a:r>
              <a:rPr lang="en-US" sz="3800" baseline="30000" dirty="0"/>
              <a:t>1/2</a:t>
            </a:r>
            <a:r>
              <a:rPr lang="en-US" sz="3800" dirty="0"/>
              <a:t> + </a:t>
            </a:r>
            <a:r>
              <a:rPr lang="en-US" sz="3800" dirty="0" smtClean="0"/>
              <a:t>α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/</a:t>
            </a:r>
            <a:r>
              <a:rPr lang="en-US" sz="3800" dirty="0"/>
              <a:t>(mM</a:t>
            </a:r>
            <a:r>
              <a:rPr lang="en-US" sz="3800" baseline="30000" dirty="0"/>
              <a:t>1/2</a:t>
            </a:r>
            <a:r>
              <a:rPr lang="en-US" sz="3800" dirty="0"/>
              <a:t>) </a:t>
            </a:r>
            <a:r>
              <a:rPr lang="en-US" sz="3800" dirty="0" smtClean="0"/>
              <a:t>] + </a:t>
            </a:r>
            <a:r>
              <a:rPr lang="en-US" sz="3800" dirty="0" err="1" smtClean="0"/>
              <a:t>δ</a:t>
            </a:r>
            <a:r>
              <a:rPr lang="en-US" sz="3800" baseline="-25000" dirty="0" err="1" smtClean="0"/>
              <a:t>E</a:t>
            </a:r>
            <a:r>
              <a:rPr lang="en-US" sz="3800" dirty="0" err="1" smtClean="0"/>
              <a:t>MT</a:t>
            </a:r>
            <a:r>
              <a:rPr lang="en-US" sz="3800" dirty="0" smtClean="0"/>
              <a:t>(</a:t>
            </a:r>
            <a:r>
              <a:rPr lang="en-US" sz="3800" dirty="0" err="1" smtClean="0"/>
              <a:t>cP</a:t>
            </a:r>
            <a:r>
              <a:rPr lang="en-US" sz="3800" dirty="0" smtClean="0"/>
              <a:t>) + </a:t>
            </a:r>
            <a:r>
              <a:rPr lang="en-US" sz="3800" dirty="0" err="1" smtClean="0"/>
              <a:t>ε</a:t>
            </a:r>
            <a:r>
              <a:rPr lang="en-US" sz="3800" baseline="-25000" dirty="0" err="1" smtClean="0"/>
              <a:t>E</a:t>
            </a:r>
            <a:r>
              <a:rPr lang="en-US" sz="3800" dirty="0" err="1" smtClean="0"/>
              <a:t>T</a:t>
            </a:r>
            <a:r>
              <a:rPr lang="en-US" sz="3800" dirty="0" smtClean="0"/>
              <a:t>(</a:t>
            </a:r>
            <a:r>
              <a:rPr lang="en-US" sz="3800" dirty="0" err="1" smtClean="0"/>
              <a:t>cP</a:t>
            </a:r>
            <a:r>
              <a:rPr lang="en-US" sz="3800" dirty="0" smtClean="0"/>
              <a:t>) }</a:t>
            </a:r>
          </a:p>
          <a:p>
            <a:pPr marL="0" indent="0">
              <a:buNone/>
            </a:pPr>
            <a:r>
              <a:rPr lang="en-US" sz="3800" dirty="0"/>
              <a:t> </a:t>
            </a:r>
            <a:r>
              <a:rPr lang="en-US" sz="3800" dirty="0" smtClean="0"/>
              <a:t>              </a:t>
            </a:r>
            <a:r>
              <a:rPr lang="en-US" sz="3800" dirty="0" smtClean="0">
                <a:solidFill>
                  <a:srgbClr val="0824F2"/>
                </a:solidFill>
              </a:rPr>
              <a:t>= E(P)</a:t>
            </a:r>
          </a:p>
          <a:p>
            <a:r>
              <a:rPr lang="en-US" sz="3800" dirty="0" smtClean="0"/>
              <a:t>Perfect scaling extends to n-body, </a:t>
            </a:r>
            <a:r>
              <a:rPr lang="en-US" sz="3800" dirty="0" err="1" smtClean="0"/>
              <a:t>Strassen</a:t>
            </a:r>
            <a:r>
              <a:rPr lang="en-US" sz="3800" dirty="0" smtClean="0"/>
              <a:t>, …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169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Lots more work on</a:t>
            </a:r>
          </a:p>
          <a:p>
            <a:pPr lvl="1"/>
            <a:r>
              <a:rPr lang="en-US" dirty="0" smtClean="0"/>
              <a:t>Algorithms: </a:t>
            </a:r>
          </a:p>
          <a:p>
            <a:pPr lvl="2"/>
            <a:r>
              <a:rPr lang="en-US" dirty="0" smtClean="0"/>
              <a:t>LDL</a:t>
            </a:r>
            <a:r>
              <a:rPr lang="en-US" sz="2700" baseline="30000" dirty="0" smtClean="0"/>
              <a:t>T</a:t>
            </a:r>
            <a:r>
              <a:rPr lang="en-US" dirty="0" smtClean="0"/>
              <a:t>, QR with pivoting, other pivoting schemes, </a:t>
            </a:r>
            <a:r>
              <a:rPr lang="en-US" dirty="0" err="1" smtClean="0"/>
              <a:t>eigenproblems</a:t>
            </a:r>
            <a:r>
              <a:rPr lang="en-US" dirty="0" smtClean="0"/>
              <a:t>, …     </a:t>
            </a:r>
          </a:p>
          <a:p>
            <a:pPr lvl="2"/>
            <a:r>
              <a:rPr lang="en-US" dirty="0" smtClean="0"/>
              <a:t>All-pairs-shortest-path, …</a:t>
            </a:r>
          </a:p>
          <a:p>
            <a:pPr lvl="2"/>
            <a:r>
              <a:rPr lang="en-US" dirty="0" smtClean="0"/>
              <a:t>Both 2D (c=1) and 2.5D (c&gt;1)  </a:t>
            </a:r>
          </a:p>
          <a:p>
            <a:pPr lvl="1"/>
            <a:r>
              <a:rPr lang="en-US" dirty="0" smtClean="0"/>
              <a:t>Platforms: </a:t>
            </a:r>
          </a:p>
          <a:p>
            <a:pPr lvl="2"/>
            <a:r>
              <a:rPr lang="en-US" dirty="0"/>
              <a:t>M</a:t>
            </a:r>
            <a:r>
              <a:rPr lang="en-US" dirty="0" smtClean="0"/>
              <a:t>ulticore, cluster, GPU, cloud, </a:t>
            </a:r>
            <a:r>
              <a:rPr lang="en-US" dirty="0"/>
              <a:t>h</a:t>
            </a:r>
            <a:r>
              <a:rPr lang="en-US" dirty="0" smtClean="0"/>
              <a:t>eterogeneous,  low-energy, …</a:t>
            </a:r>
          </a:p>
          <a:p>
            <a:pPr lvl="1"/>
            <a:r>
              <a:rPr lang="en-US" dirty="0" smtClean="0"/>
              <a:t>Software: 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ntegration into </a:t>
            </a:r>
            <a:r>
              <a:rPr lang="en-US" dirty="0" err="1" smtClean="0"/>
              <a:t>Sca</a:t>
            </a:r>
            <a:r>
              <a:rPr lang="en-US" dirty="0" smtClean="0"/>
              <a:t>/LAPACK, PLASMA,  MAGMA,…</a:t>
            </a:r>
          </a:p>
          <a:p>
            <a:r>
              <a:rPr lang="en-US" dirty="0" smtClean="0"/>
              <a:t>Integration into applications (on IBM BG/Q)</a:t>
            </a:r>
          </a:p>
          <a:p>
            <a:pPr lvl="1"/>
            <a:r>
              <a:rPr lang="en-US" dirty="0" err="1" smtClean="0"/>
              <a:t>Qbox</a:t>
            </a:r>
            <a:r>
              <a:rPr lang="en-US" dirty="0"/>
              <a:t> </a:t>
            </a:r>
            <a:r>
              <a:rPr lang="en-US" dirty="0" smtClean="0"/>
              <a:t>(with LLNL, IBM): molecular dynamics</a:t>
            </a:r>
          </a:p>
          <a:p>
            <a:pPr lvl="1"/>
            <a:r>
              <a:rPr lang="en-US" dirty="0" smtClean="0"/>
              <a:t>CTF (with ANL): symmetric tensor contractions</a:t>
            </a:r>
          </a:p>
        </p:txBody>
      </p:sp>
    </p:spTree>
    <p:extLst>
      <p:ext uri="{BB962C8B-B14F-4D97-AF65-F5344CB8AC3E}">
        <p14:creationId xmlns:p14="http://schemas.microsoft.com/office/powerpoint/2010/main" val="1439649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 smtClean="0"/>
              <a:t>CA </a:t>
            </a:r>
            <a:r>
              <a:rPr lang="en-US" dirty="0" err="1" smtClean="0"/>
              <a:t>Strassen</a:t>
            </a:r>
            <a:r>
              <a:rPr lang="en-US" dirty="0" smtClean="0"/>
              <a:t> </a:t>
            </a:r>
            <a:r>
              <a:rPr lang="en-US" dirty="0" err="1" smtClean="0"/>
              <a:t>Matmul</a:t>
            </a:r>
            <a:endParaRPr lang="en-US" dirty="0" smtClean="0"/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459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Lower Bounds for </a:t>
            </a:r>
            <a:r>
              <a:rPr lang="en-US" dirty="0" err="1" smtClean="0"/>
              <a:t>Strassen</a:t>
            </a:r>
            <a:r>
              <a:rPr lang="en-US" dirty="0" smtClean="0"/>
              <a:t>-like </a:t>
            </a:r>
            <a:r>
              <a:rPr lang="en-US" dirty="0" err="1" smtClean="0"/>
              <a:t>matmul</a:t>
            </a:r>
            <a:r>
              <a:rPr lang="en-US" dirty="0" smtClean="0"/>
              <a:t>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0"/>
            <a:ext cx="87630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Proof: graph expansion (different from classical </a:t>
            </a:r>
            <a:r>
              <a:rPr lang="en-US" sz="2800" dirty="0" err="1" smtClean="0"/>
              <a:t>matmul</a:t>
            </a:r>
            <a:r>
              <a:rPr lang="en-US" sz="2800" dirty="0" smtClean="0"/>
              <a:t>)</a:t>
            </a:r>
          </a:p>
          <a:p>
            <a:pPr lvl="1"/>
            <a:r>
              <a:rPr lang="en-US" sz="2400" dirty="0" err="1" smtClean="0"/>
              <a:t>Strassen</a:t>
            </a:r>
            <a:r>
              <a:rPr lang="en-US" sz="2400" dirty="0" smtClean="0"/>
              <a:t>-like: DAG must be “regular” and connected</a:t>
            </a:r>
          </a:p>
          <a:p>
            <a:r>
              <a:rPr lang="en-US" sz="2800" dirty="0" smtClean="0"/>
              <a:t>Extends up to M = n</a:t>
            </a:r>
            <a:r>
              <a:rPr lang="en-US" baseline="30000" dirty="0" smtClean="0"/>
              <a:t>2</a:t>
            </a:r>
            <a:r>
              <a:rPr lang="en-US" sz="2800" dirty="0" smtClean="0"/>
              <a:t> / p</a:t>
            </a:r>
            <a:r>
              <a:rPr lang="en-US" baseline="30000" dirty="0" smtClean="0"/>
              <a:t>2/</a:t>
            </a:r>
            <a:r>
              <a:rPr lang="en-US" baseline="30000" dirty="0" err="1" smtClean="0"/>
              <a:t>ω</a:t>
            </a:r>
            <a:endParaRPr lang="en-US" baseline="30000" dirty="0" smtClean="0"/>
          </a:p>
          <a:p>
            <a:r>
              <a:rPr lang="en-US" sz="2800" dirty="0" smtClean="0">
                <a:solidFill>
                  <a:srgbClr val="0824F2"/>
                </a:solidFill>
              </a:rPr>
              <a:t>Best Paper Prize (SPAA’11), Ballard, D., Holtz, Schwartz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0824F2"/>
                </a:solidFill>
              </a:rPr>
              <a:t>        to appear in JACM</a:t>
            </a:r>
            <a:endParaRPr lang="en-US" sz="2400" dirty="0" smtClean="0">
              <a:solidFill>
                <a:srgbClr val="0824F2"/>
              </a:solidFill>
            </a:endParaRPr>
          </a:p>
          <a:p>
            <a:r>
              <a:rPr lang="en-US" sz="2800" dirty="0" smtClean="0">
                <a:solidFill>
                  <a:srgbClr val="000000"/>
                </a:solidFill>
              </a:rPr>
              <a:t>Is the lower bound attainable?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027" y="1676400"/>
            <a:ext cx="2434964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Classical </a:t>
            </a:r>
          </a:p>
          <a:p>
            <a:pPr algn="ctr"/>
            <a:r>
              <a:rPr lang="en-US" sz="2400" dirty="0" smtClean="0"/>
              <a:t>O(n</a:t>
            </a:r>
            <a:r>
              <a:rPr lang="en-US" sz="2800" baseline="30000" dirty="0" smtClean="0">
                <a:solidFill>
                  <a:srgbClr val="FF0000"/>
                </a:solidFill>
              </a:rPr>
              <a:t>3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smtClean="0">
                <a:solidFill>
                  <a:srgbClr val="FF0000"/>
                </a:solidFill>
              </a:rPr>
              <a:t>3</a:t>
            </a:r>
            <a:r>
              <a:rPr lang="en-US" sz="2800" dirty="0" smtClean="0"/>
              <a:t>/P)</a:t>
            </a:r>
            <a:endParaRPr lang="en-US" sz="2800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3301620" y="1676400"/>
            <a:ext cx="2602578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Strassen’s</a:t>
            </a:r>
            <a:r>
              <a:rPr lang="en-US" sz="2400" dirty="0" smtClean="0"/>
              <a:t> </a:t>
            </a:r>
          </a:p>
          <a:p>
            <a:pPr algn="ctr"/>
            <a:r>
              <a:rPr lang="en-US" sz="2400" dirty="0" smtClean="0"/>
              <a:t>O(n</a:t>
            </a:r>
            <a:r>
              <a:rPr lang="en-US" sz="2800" baseline="30000" dirty="0" smtClean="0">
                <a:solidFill>
                  <a:srgbClr val="FF0000"/>
                </a:solidFill>
              </a:rPr>
              <a:t>lg7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pPr algn="ctr"/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smtClean="0">
                <a:solidFill>
                  <a:srgbClr val="FF0000"/>
                </a:solidFill>
              </a:rPr>
              <a:t>lg7</a:t>
            </a:r>
            <a:r>
              <a:rPr lang="en-US" sz="2800" dirty="0" smtClean="0">
                <a:solidFill>
                  <a:srgbClr val="000000"/>
                </a:solidFill>
              </a:rPr>
              <a:t>/P</a:t>
            </a:r>
            <a:r>
              <a:rPr lang="en-US" sz="2800" dirty="0" smtClean="0"/>
              <a:t>)</a:t>
            </a:r>
            <a:endParaRPr lang="en-US" sz="2800" baseline="30000" dirty="0"/>
          </a:p>
        </p:txBody>
      </p:sp>
      <p:sp>
        <p:nvSpPr>
          <p:cNvPr id="6" name="TextBox 5"/>
          <p:cNvSpPr txBox="1"/>
          <p:nvPr/>
        </p:nvSpPr>
        <p:spPr>
          <a:xfrm>
            <a:off x="6182151" y="1676400"/>
            <a:ext cx="2480316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Strassen</a:t>
            </a:r>
            <a:r>
              <a:rPr lang="en-US" sz="2400" dirty="0" smtClean="0"/>
              <a:t>-like </a:t>
            </a:r>
          </a:p>
          <a:p>
            <a:pPr algn="ctr"/>
            <a:r>
              <a:rPr lang="en-US" sz="2400" dirty="0" smtClean="0"/>
              <a:t>O(</a:t>
            </a:r>
            <a:r>
              <a:rPr lang="en-US" sz="2400" dirty="0" err="1" smtClean="0"/>
              <a:t>n</a:t>
            </a:r>
            <a:r>
              <a:rPr lang="en-US" sz="2800" baseline="30000" dirty="0" err="1" smtClean="0">
                <a:solidFill>
                  <a:srgbClr val="FF0000"/>
                </a:solidFill>
              </a:rPr>
              <a:t>ω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pPr algn="ctr"/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err="1" smtClean="0">
                <a:solidFill>
                  <a:srgbClr val="FF0000"/>
                </a:solidFill>
              </a:rPr>
              <a:t>ω</a:t>
            </a:r>
            <a:r>
              <a:rPr lang="en-US" sz="2800" dirty="0" smtClean="0">
                <a:solidFill>
                  <a:srgbClr val="000000"/>
                </a:solidFill>
              </a:rPr>
              <a:t>/P</a:t>
            </a:r>
            <a:r>
              <a:rPr lang="en-US" sz="2800" dirty="0" smtClean="0"/>
              <a:t>)</a:t>
            </a:r>
            <a:endParaRPr lang="en-US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1645862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2429E1-B9F3-41B4-B2B6-A121E4BC8C07}" type="slidenum">
              <a:rPr lang="he-IL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1" y="935986"/>
            <a:ext cx="8686800" cy="5785489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00498" y="309430"/>
            <a:ext cx="8212873" cy="647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5pPr>
            <a:lvl6pPr marL="4572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6pPr>
            <a:lvl7pPr marL="9144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7pPr>
            <a:lvl8pPr marL="13716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8pPr>
            <a:lvl9pPr marL="18288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sz="2400" dirty="0" smtClean="0"/>
              <a:t>Strong Scaling of </a:t>
            </a:r>
            <a:r>
              <a:rPr lang="en-US" sz="2400" dirty="0" err="1" smtClean="0"/>
              <a:t>Strassen</a:t>
            </a:r>
            <a:r>
              <a:rPr lang="en-US" sz="2400" dirty="0" smtClean="0"/>
              <a:t> and other </a:t>
            </a:r>
            <a:r>
              <a:rPr lang="en-US" sz="2400" dirty="0" err="1" smtClean="0"/>
              <a:t>Matmuls</a:t>
            </a:r>
            <a:endParaRPr lang="en-US" sz="2400" dirty="0"/>
          </a:p>
          <a:p>
            <a:pPr algn="ctr"/>
            <a:r>
              <a:rPr lang="en-US" sz="2000" b="0" dirty="0" smtClean="0">
                <a:solidFill>
                  <a:schemeClr val="tx1"/>
                </a:solidFill>
              </a:rPr>
              <a:t>Franklin </a:t>
            </a:r>
            <a:r>
              <a:rPr lang="en-US" sz="2000" b="0" dirty="0">
                <a:solidFill>
                  <a:schemeClr val="tx1"/>
                </a:solidFill>
              </a:rPr>
              <a:t>(Cray XT4</a:t>
            </a:r>
            <a:r>
              <a:rPr lang="en-US" sz="2000" b="0" dirty="0" smtClean="0">
                <a:solidFill>
                  <a:schemeClr val="tx1"/>
                </a:solidFill>
              </a:rPr>
              <a:t>) n </a:t>
            </a:r>
            <a:r>
              <a:rPr lang="en-US" sz="2000" b="0" dirty="0">
                <a:solidFill>
                  <a:schemeClr val="tx1"/>
                </a:solidFill>
              </a:rPr>
              <a:t>= 94080</a:t>
            </a:r>
            <a:endParaRPr lang="en-US" sz="14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16181" y="5292436"/>
            <a:ext cx="509847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/>
              <a:t>Speedups: 24%-184%</a:t>
            </a:r>
            <a:r>
              <a:rPr lang="en-US" dirty="0"/>
              <a:t/>
            </a:r>
            <a:br>
              <a:rPr lang="en-US" dirty="0"/>
            </a:br>
            <a:r>
              <a:rPr lang="en-US" sz="1400" b="0" dirty="0" smtClean="0"/>
              <a:t>(</a:t>
            </a:r>
            <a:r>
              <a:rPr lang="en-US" sz="1400" b="0" dirty="0"/>
              <a:t>over </a:t>
            </a:r>
            <a:r>
              <a:rPr lang="en-US" sz="1400" b="0" dirty="0" smtClean="0"/>
              <a:t>previous </a:t>
            </a:r>
            <a:r>
              <a:rPr lang="en-US" sz="1400" b="0" dirty="0" err="1" smtClean="0"/>
              <a:t>Strassen</a:t>
            </a:r>
            <a:r>
              <a:rPr lang="en-US" sz="1400" b="0" dirty="0"/>
              <a:t>-</a:t>
            </a:r>
            <a:r>
              <a:rPr lang="en-US" sz="1400" b="0" dirty="0" smtClean="0"/>
              <a:t>based algorithms)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644620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2429E1-B9F3-41B4-B2B6-A121E4BC8C07}" type="slidenum">
              <a:rPr lang="he-IL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1" y="935986"/>
            <a:ext cx="8686800" cy="5785489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00498" y="309430"/>
            <a:ext cx="8212873" cy="647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5pPr>
            <a:lvl6pPr marL="4572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6pPr>
            <a:lvl7pPr marL="9144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7pPr>
            <a:lvl8pPr marL="13716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8pPr>
            <a:lvl9pPr marL="18288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sz="2400" dirty="0" smtClean="0"/>
              <a:t>Strong Scaling of </a:t>
            </a:r>
            <a:r>
              <a:rPr lang="en-US" sz="2400" dirty="0" err="1" smtClean="0"/>
              <a:t>Strassen</a:t>
            </a:r>
            <a:r>
              <a:rPr lang="en-US" sz="2400" dirty="0" smtClean="0"/>
              <a:t> and other </a:t>
            </a:r>
            <a:r>
              <a:rPr lang="en-US" sz="2400" dirty="0" err="1" smtClean="0"/>
              <a:t>Matmuls</a:t>
            </a:r>
            <a:endParaRPr lang="en-US" sz="2400" dirty="0"/>
          </a:p>
          <a:p>
            <a:pPr algn="ctr"/>
            <a:r>
              <a:rPr lang="en-US" sz="2000" b="0" dirty="0" smtClean="0">
                <a:solidFill>
                  <a:schemeClr val="tx1"/>
                </a:solidFill>
              </a:rPr>
              <a:t>Franklin </a:t>
            </a:r>
            <a:r>
              <a:rPr lang="en-US" sz="2000" b="0" dirty="0">
                <a:solidFill>
                  <a:schemeClr val="tx1"/>
                </a:solidFill>
              </a:rPr>
              <a:t>(Cray XT4</a:t>
            </a:r>
            <a:r>
              <a:rPr lang="en-US" sz="2000" b="0" dirty="0" smtClean="0">
                <a:solidFill>
                  <a:schemeClr val="tx1"/>
                </a:solidFill>
              </a:rPr>
              <a:t>) n </a:t>
            </a:r>
            <a:r>
              <a:rPr lang="en-US" sz="2000" b="0" dirty="0">
                <a:solidFill>
                  <a:schemeClr val="tx1"/>
                </a:solidFill>
              </a:rPr>
              <a:t>= 94080</a:t>
            </a:r>
            <a:endParaRPr lang="en-US" sz="14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16181" y="5292436"/>
            <a:ext cx="509847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/>
              <a:t>Speedups: 24%-184%</a:t>
            </a:r>
            <a:r>
              <a:rPr lang="en-US" dirty="0"/>
              <a:t/>
            </a:r>
            <a:br>
              <a:rPr lang="en-US" dirty="0"/>
            </a:br>
            <a:r>
              <a:rPr lang="en-US" sz="1400" b="0" dirty="0" smtClean="0"/>
              <a:t>(</a:t>
            </a:r>
            <a:r>
              <a:rPr lang="en-US" sz="1400" b="0" dirty="0"/>
              <a:t>over </a:t>
            </a:r>
            <a:r>
              <a:rPr lang="en-US" sz="1400" b="0" dirty="0" smtClean="0"/>
              <a:t>previous </a:t>
            </a:r>
            <a:r>
              <a:rPr lang="en-US" sz="1400" b="0" dirty="0" err="1" smtClean="0"/>
              <a:t>Strassen</a:t>
            </a:r>
            <a:r>
              <a:rPr lang="en-US" sz="1400" b="0" dirty="0"/>
              <a:t>-</a:t>
            </a:r>
            <a:r>
              <a:rPr lang="en-US" sz="1400" b="0" dirty="0" smtClean="0"/>
              <a:t>based algorithms)</a:t>
            </a:r>
            <a:endParaRPr lang="en-US" b="0" dirty="0"/>
          </a:p>
        </p:txBody>
      </p:sp>
      <p:sp>
        <p:nvSpPr>
          <p:cNvPr id="8" name="TextBox 7"/>
          <p:cNvSpPr txBox="1"/>
          <p:nvPr/>
        </p:nvSpPr>
        <p:spPr>
          <a:xfrm>
            <a:off x="1295400" y="2743200"/>
            <a:ext cx="6781800" cy="2554545"/>
          </a:xfrm>
          <a:prstGeom prst="rect">
            <a:avLst/>
          </a:prstGeom>
          <a:solidFill>
            <a:schemeClr val="bg1"/>
          </a:solidFill>
          <a:ln w="57150" cmpd="sng">
            <a:solidFill>
              <a:srgbClr val="0824F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4000" dirty="0" smtClean="0">
                <a:solidFill>
                  <a:srgbClr val="0824F2"/>
                </a:solidFill>
              </a:rPr>
              <a:t>For details, see SC12 talk  on</a:t>
            </a:r>
          </a:p>
          <a:p>
            <a:r>
              <a:rPr lang="en-US" sz="4000" dirty="0" smtClean="0">
                <a:solidFill>
                  <a:srgbClr val="0824F2"/>
                </a:solidFill>
              </a:rPr>
              <a:t>“Communication-Avoiding Parallel </a:t>
            </a:r>
            <a:r>
              <a:rPr lang="en-US" sz="4000" dirty="0" err="1" smtClean="0">
                <a:solidFill>
                  <a:srgbClr val="0824F2"/>
                </a:solidFill>
              </a:rPr>
              <a:t>Strassen</a:t>
            </a:r>
            <a:r>
              <a:rPr lang="en-US" sz="4000" dirty="0" smtClean="0">
                <a:solidFill>
                  <a:srgbClr val="0824F2"/>
                </a:solidFill>
              </a:rPr>
              <a:t>” by </a:t>
            </a:r>
          </a:p>
          <a:p>
            <a:r>
              <a:rPr lang="en-US" sz="4000" dirty="0" smtClean="0">
                <a:solidFill>
                  <a:srgbClr val="0824F2"/>
                </a:solidFill>
              </a:rPr>
              <a:t>Grey Ballard  et al 11/15 at 4pm</a:t>
            </a:r>
            <a:endParaRPr lang="en-US" sz="4000" dirty="0">
              <a:solidFill>
                <a:srgbClr val="0824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875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 smtClean="0"/>
              <a:t>Beyond linear algebra</a:t>
            </a:r>
          </a:p>
          <a:p>
            <a:pPr lvl="1"/>
            <a:r>
              <a:rPr lang="en-US" dirty="0" smtClean="0"/>
              <a:t>Extending lower bounds to any algorithm with arrays</a:t>
            </a:r>
          </a:p>
          <a:p>
            <a:pPr lvl="1"/>
            <a:r>
              <a:rPr lang="en-US" dirty="0" smtClean="0"/>
              <a:t>Communication-optimal N-body algorithm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052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Recall optimal sequential </a:t>
            </a:r>
            <a:r>
              <a:rPr lang="en-US" dirty="0" err="1" smtClean="0"/>
              <a:t>Matmul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Na</a:t>
            </a:r>
            <a:r>
              <a:rPr lang="fr-FR" dirty="0" err="1" smtClean="0"/>
              <a:t>ï</a:t>
            </a:r>
            <a:r>
              <a:rPr lang="en-US" dirty="0" err="1" smtClean="0"/>
              <a:t>ve</a:t>
            </a:r>
            <a:r>
              <a:rPr lang="en-US" dirty="0" smtClean="0"/>
              <a:t> code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for </a:t>
            </a:r>
            <a:r>
              <a:rPr lang="en-US" dirty="0" err="1" smtClean="0"/>
              <a:t>i</a:t>
            </a:r>
            <a:r>
              <a:rPr lang="en-US" dirty="0" smtClean="0"/>
              <a:t>=1:n, for j=1:n, for k=1:n, C(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)+=A(</a:t>
            </a:r>
            <a:r>
              <a:rPr lang="en-US" dirty="0" err="1"/>
              <a:t>i</a:t>
            </a:r>
            <a:r>
              <a:rPr lang="en-US" dirty="0" err="1" smtClean="0"/>
              <a:t>,k</a:t>
            </a:r>
            <a:r>
              <a:rPr lang="en-US" dirty="0" smtClean="0"/>
              <a:t>)*B(</a:t>
            </a:r>
            <a:r>
              <a:rPr lang="en-US" dirty="0" err="1" smtClean="0"/>
              <a:t>k,j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“Blocked” code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for i1 = 1:b:n,  for j1 = 1:b:n,   for k1 = 1:b:n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for i2 = 0:b-1,  for j2 = 0:b-1,   for k2 = 0:b-1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 err="1" smtClean="0"/>
              <a:t>i</a:t>
            </a:r>
            <a:r>
              <a:rPr lang="en-US" dirty="0" smtClean="0"/>
              <a:t>=i1+i2,  j = j1+j2,  k = k1+k2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/>
              <a:t>C(</a:t>
            </a:r>
            <a:r>
              <a:rPr lang="en-US" dirty="0" err="1"/>
              <a:t>i,j</a:t>
            </a:r>
            <a:r>
              <a:rPr lang="en-US" dirty="0"/>
              <a:t>)+=A(</a:t>
            </a:r>
            <a:r>
              <a:rPr lang="en-US" dirty="0" err="1"/>
              <a:t>i,k</a:t>
            </a:r>
            <a:r>
              <a:rPr lang="en-US" dirty="0"/>
              <a:t>)*B(</a:t>
            </a:r>
            <a:r>
              <a:rPr lang="en-US" dirty="0" err="1"/>
              <a:t>k,j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err="1" smtClean="0"/>
              <a:t>Thm</a:t>
            </a:r>
            <a:r>
              <a:rPr lang="en-US" dirty="0" smtClean="0"/>
              <a:t>: Picking b = 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1/2 </a:t>
            </a:r>
            <a:r>
              <a:rPr lang="en-US" dirty="0" smtClean="0"/>
              <a:t>attains lower bound: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 smtClean="0"/>
              <a:t>Ω</a:t>
            </a:r>
            <a:r>
              <a:rPr lang="en-US" dirty="0" smtClean="0"/>
              <a:t>(n</a:t>
            </a:r>
            <a:r>
              <a:rPr lang="en-US" sz="3300" b="1" baseline="30000" dirty="0" smtClean="0"/>
              <a:t>3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)</a:t>
            </a:r>
          </a:p>
          <a:p>
            <a:r>
              <a:rPr lang="en-US" dirty="0" smtClean="0"/>
              <a:t>Where does </a:t>
            </a:r>
            <a:r>
              <a:rPr lang="en-US" b="1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 come from?</a:t>
            </a: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7010400" y="3733800"/>
            <a:ext cx="228600" cy="1066800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391400" y="4038600"/>
            <a:ext cx="1752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  <a:r>
              <a:rPr lang="en-US" sz="2000" dirty="0" smtClean="0"/>
              <a:t> x b </a:t>
            </a:r>
            <a:r>
              <a:rPr lang="en-US" sz="2000" dirty="0" err="1" smtClean="0"/>
              <a:t>matmul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67493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</a:t>
            </a:r>
            <a:r>
              <a:rPr lang="en-US" dirty="0" err="1" smtClean="0"/>
              <a:t>Matmul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20200" cy="5486400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=1:n, for j=1:n, for k=1:n, C(</a:t>
            </a:r>
            <a:r>
              <a:rPr lang="en-US" dirty="0" err="1"/>
              <a:t>i,j</a:t>
            </a:r>
            <a:r>
              <a:rPr lang="en-US" dirty="0" smtClean="0"/>
              <a:t>) += A</a:t>
            </a:r>
            <a:r>
              <a:rPr lang="en-US" dirty="0"/>
              <a:t>(</a:t>
            </a:r>
            <a:r>
              <a:rPr lang="en-US" dirty="0" err="1"/>
              <a:t>i,k</a:t>
            </a:r>
            <a:r>
              <a:rPr lang="en-US" dirty="0"/>
              <a:t>)*B(</a:t>
            </a:r>
            <a:r>
              <a:rPr lang="en-US" dirty="0" err="1"/>
              <a:t>k,j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Record array indices in matrix </a:t>
            </a:r>
            <a:r>
              <a:rPr lang="en-US" dirty="0" err="1" smtClean="0"/>
              <a:t>Δ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</a:t>
            </a:r>
            <a:r>
              <a:rPr lang="en-US" dirty="0" err="1" smtClean="0"/>
              <a:t>xi,xj,xk</a:t>
            </a:r>
            <a:r>
              <a:rPr lang="en-US" dirty="0" smtClean="0"/>
              <a:t>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 </a:t>
            </a:r>
            <a:r>
              <a:rPr lang="en-US" dirty="0" err="1" smtClean="0"/>
              <a:t>s.t.</a:t>
            </a:r>
            <a:r>
              <a:rPr lang="en-US" dirty="0" smtClean="0"/>
              <a:t>  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]</a:t>
            </a:r>
            <a:r>
              <a:rPr lang="en-US" sz="3200" baseline="30000" dirty="0" smtClean="0"/>
              <a:t>T</a:t>
            </a:r>
            <a:r>
              <a:rPr lang="en-US" dirty="0" smtClean="0"/>
              <a:t>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3/2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0824F2"/>
                </a:solidFill>
              </a:rPr>
              <a:t>s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(n</a:t>
            </a:r>
            <a:r>
              <a:rPr lang="en-US" sz="3300" b="1" baseline="30000" dirty="0"/>
              <a:t>3</a:t>
            </a:r>
            <a:r>
              <a:rPr lang="en-US" dirty="0"/>
              <a:t>/</a:t>
            </a:r>
            <a:r>
              <a:rPr lang="en-US" dirty="0" smtClean="0"/>
              <a:t>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(n</a:t>
            </a:r>
            <a:r>
              <a:rPr lang="en-US" sz="3300" b="1" baseline="30000" dirty="0"/>
              <a:t>3</a:t>
            </a:r>
            <a:r>
              <a:rPr lang="en-US" dirty="0"/>
              <a:t>/M</a:t>
            </a:r>
            <a:r>
              <a:rPr lang="en-US" sz="3500" b="1" baseline="30000" dirty="0">
                <a:solidFill>
                  <a:srgbClr val="0824F2"/>
                </a:solidFill>
              </a:rPr>
              <a:t>1/2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</a:t>
            </a:r>
            <a:r>
              <a:rPr lang="en-US" dirty="0" err="1" smtClean="0"/>
              <a:t>M</a:t>
            </a:r>
            <a:r>
              <a:rPr lang="en-US" b="1" baseline="30000" dirty="0" err="1" smtClean="0"/>
              <a:t>xi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xj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xk</a:t>
            </a:r>
            <a:r>
              <a:rPr lang="en-US" dirty="0" smtClean="0"/>
              <a:t> = 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956464"/>
              </p:ext>
            </p:extLst>
          </p:nvPr>
        </p:nvGraphicFramePr>
        <p:xfrm>
          <a:off x="2590800" y="2438400"/>
          <a:ext cx="3733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760"/>
                <a:gridCol w="746760"/>
                <a:gridCol w="746760"/>
                <a:gridCol w="746760"/>
                <a:gridCol w="746760"/>
              </a:tblGrid>
              <a:tr h="2184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Δ</a:t>
                      </a:r>
                      <a:r>
                        <a:rPr lang="en-US" sz="2400" dirty="0" smtClean="0"/>
                        <a:t>   =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Double Bracket 8"/>
          <p:cNvSpPr/>
          <p:nvPr/>
        </p:nvSpPr>
        <p:spPr>
          <a:xfrm>
            <a:off x="3429000" y="2971800"/>
            <a:ext cx="2057400" cy="12954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377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Direct N-Body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20200" cy="5486400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=1:n, for j=1:n</a:t>
            </a:r>
            <a:r>
              <a:rPr lang="en-US" dirty="0" smtClean="0"/>
              <a:t>, F(</a:t>
            </a:r>
            <a:r>
              <a:rPr lang="en-US" dirty="0" err="1" smtClean="0"/>
              <a:t>i</a:t>
            </a:r>
            <a:r>
              <a:rPr lang="en-US" dirty="0" smtClean="0"/>
              <a:t>) += force( P(</a:t>
            </a:r>
            <a:r>
              <a:rPr lang="en-US" dirty="0" err="1" smtClean="0"/>
              <a:t>i</a:t>
            </a:r>
            <a:r>
              <a:rPr lang="en-US" dirty="0" smtClean="0"/>
              <a:t>) , P(j) )</a:t>
            </a:r>
          </a:p>
          <a:p>
            <a:r>
              <a:rPr lang="en-US" dirty="0" smtClean="0"/>
              <a:t>Record array indices in matrix </a:t>
            </a:r>
            <a:r>
              <a:rPr lang="en-US" dirty="0" err="1" smtClean="0"/>
              <a:t>Δ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</a:t>
            </a:r>
            <a:r>
              <a:rPr lang="en-US" dirty="0" err="1" smtClean="0"/>
              <a:t>xi,xj</a:t>
            </a:r>
            <a:r>
              <a:rPr lang="en-US" dirty="0" smtClean="0"/>
              <a:t>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</a:t>
            </a:r>
            <a:r>
              <a:rPr lang="en-US" dirty="0" err="1" smtClean="0"/>
              <a:t>s.t.</a:t>
            </a:r>
            <a:r>
              <a:rPr lang="en-US" dirty="0" smtClean="0"/>
              <a:t>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],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824F2"/>
                </a:solidFill>
              </a:rPr>
              <a:t>s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 smtClean="0"/>
              <a:t>2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 smtClean="0"/>
              <a:t>2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</a:t>
            </a:r>
            <a:r>
              <a:rPr lang="en-US" dirty="0" err="1" smtClean="0"/>
              <a:t>M</a:t>
            </a:r>
            <a:r>
              <a:rPr lang="en-US" b="1" baseline="30000" dirty="0" err="1" smtClean="0"/>
              <a:t>xi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xj</a:t>
            </a:r>
            <a:r>
              <a:rPr lang="en-US" dirty="0" smtClean="0"/>
              <a:t> = M</a:t>
            </a:r>
            <a:r>
              <a:rPr lang="en-US" b="1" baseline="30000" dirty="0" smtClean="0">
                <a:solidFill>
                  <a:srgbClr val="061BBA"/>
                </a:solidFill>
              </a:rPr>
              <a:t>1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</a:t>
            </a: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sp>
        <p:nvSpPr>
          <p:cNvPr id="9" name="Double Bracket 8"/>
          <p:cNvSpPr/>
          <p:nvPr/>
        </p:nvSpPr>
        <p:spPr>
          <a:xfrm>
            <a:off x="3810000" y="2971800"/>
            <a:ext cx="1600200" cy="12954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122980"/>
              </p:ext>
            </p:extLst>
          </p:nvPr>
        </p:nvGraphicFramePr>
        <p:xfrm>
          <a:off x="2743200" y="2438400"/>
          <a:ext cx="3733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3450"/>
                <a:gridCol w="933450"/>
                <a:gridCol w="933450"/>
                <a:gridCol w="933450"/>
              </a:tblGrid>
              <a:tr h="4381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F</a:t>
                      </a:r>
                      <a:endParaRPr lang="en-US" sz="2400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/>
                        <a:t>Δ</a:t>
                      </a:r>
                      <a:r>
                        <a:rPr lang="en-US" sz="2400" dirty="0" smtClean="0"/>
                        <a:t>  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P(</a:t>
                      </a:r>
                      <a:r>
                        <a:rPr lang="en-US" sz="2400" dirty="0" err="1" smtClean="0"/>
                        <a:t>i</a:t>
                      </a:r>
                      <a:r>
                        <a:rPr lang="en-US" sz="2400" dirty="0" smtClean="0"/>
                        <a:t>)</a:t>
                      </a:r>
                      <a:endParaRPr lang="en-US" sz="2400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P(j)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3947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249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N-Body Speedups on IBM-BG/P (Intrepid)</a:t>
            </a:r>
            <a:br>
              <a:rPr lang="en-US" dirty="0" smtClean="0"/>
            </a:br>
            <a:r>
              <a:rPr lang="en-US" dirty="0" smtClean="0"/>
              <a:t>8K cores, 32K particles</a:t>
            </a:r>
            <a:endParaRPr lang="en-US" dirty="0"/>
          </a:p>
        </p:txBody>
      </p:sp>
      <p:pic>
        <p:nvPicPr>
          <p:cNvPr id="4" name="Content Placeholder 3" descr="Nbody_Fig2c_Intrepid_8K_32K.gi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89" t="-126" r="-996" b="-1645"/>
          <a:stretch/>
        </p:blipFill>
        <p:spPr>
          <a:xfrm>
            <a:off x="457200" y="1810357"/>
            <a:ext cx="7942810" cy="4742843"/>
          </a:xfrm>
        </p:spPr>
      </p:pic>
      <p:cxnSp>
        <p:nvCxnSpPr>
          <p:cNvPr id="6" name="Straight Arrow Connector 5"/>
          <p:cNvCxnSpPr/>
          <p:nvPr/>
        </p:nvCxnSpPr>
        <p:spPr>
          <a:xfrm>
            <a:off x="3200400" y="6324600"/>
            <a:ext cx="4038600" cy="0"/>
          </a:xfrm>
          <a:prstGeom prst="straightConnector1">
            <a:avLst/>
          </a:prstGeom>
          <a:ln>
            <a:solidFill>
              <a:srgbClr val="0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43400" y="6324600"/>
            <a:ext cx="1703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11.8x speedup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389156" y="1676400"/>
            <a:ext cx="636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K. </a:t>
            </a:r>
            <a:r>
              <a:rPr lang="en-US" dirty="0" err="1" smtClean="0"/>
              <a:t>Yelick</a:t>
            </a:r>
            <a:r>
              <a:rPr lang="en-US" dirty="0" smtClean="0"/>
              <a:t>, E. </a:t>
            </a:r>
            <a:r>
              <a:rPr lang="en-US" dirty="0" err="1" smtClean="0"/>
              <a:t>Georganas</a:t>
            </a:r>
            <a:r>
              <a:rPr lang="en-US" dirty="0" smtClean="0"/>
              <a:t>, M. Driscoll, P. </a:t>
            </a:r>
            <a:r>
              <a:rPr lang="en-US" dirty="0" err="1" smtClean="0"/>
              <a:t>Koanantakool</a:t>
            </a:r>
            <a:r>
              <a:rPr lang="en-US" dirty="0" smtClean="0"/>
              <a:t>, E. </a:t>
            </a:r>
            <a:r>
              <a:rPr lang="en-US" dirty="0" err="1" smtClean="0"/>
              <a:t>Solomonik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379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Random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964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</a:t>
            </a:r>
            <a:r>
              <a:rPr lang="en-US" dirty="0" smtClean="0"/>
              <a:t>i1=</a:t>
            </a:r>
            <a:r>
              <a:rPr lang="en-US" dirty="0"/>
              <a:t>1:n, for </a:t>
            </a:r>
            <a:r>
              <a:rPr lang="en-US" dirty="0" smtClean="0"/>
              <a:t>i2=</a:t>
            </a:r>
            <a:r>
              <a:rPr lang="en-US" dirty="0"/>
              <a:t>1:n</a:t>
            </a:r>
            <a:r>
              <a:rPr lang="en-US" dirty="0" smtClean="0"/>
              <a:t>, … , for i6=1:n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sz="3000" dirty="0" smtClean="0"/>
              <a:t>A1(i1,i3,i6) += func1(A2(i1,i2,i4),A3(i2,i3,i5),A4(i3,i4,i6))</a:t>
            </a:r>
          </a:p>
          <a:p>
            <a:pPr marL="0" indent="0">
              <a:buNone/>
            </a:pPr>
            <a:r>
              <a:rPr lang="en-US" sz="3000" dirty="0"/>
              <a:t> </a:t>
            </a:r>
            <a:r>
              <a:rPr lang="en-US" sz="3000" dirty="0" smtClean="0"/>
              <a:t>     A5(i2,i6) += func2(A6(i1,i4,i5),A3(i3,i4,i6))</a:t>
            </a:r>
          </a:p>
          <a:p>
            <a:r>
              <a:rPr lang="en-US" dirty="0" smtClean="0"/>
              <a:t>Record array indices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in matrix </a:t>
            </a:r>
            <a:r>
              <a:rPr lang="en-US" dirty="0" err="1" smtClean="0"/>
              <a:t>Δ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[x1,…,x7]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</a:t>
            </a:r>
            <a:r>
              <a:rPr lang="en-US" dirty="0" err="1" smtClean="0"/>
              <a:t>s.t.</a:t>
            </a:r>
            <a:r>
              <a:rPr lang="en-US" dirty="0" smtClean="0"/>
              <a:t>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2/7,3/7,1/7,2/7,3/7,4/7</a:t>
            </a:r>
            <a:r>
              <a:rPr lang="en-US" dirty="0" smtClean="0"/>
              <a:t>],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15/7</a:t>
            </a:r>
            <a:r>
              <a:rPr lang="en-US" dirty="0" smtClean="0"/>
              <a:t> =</a:t>
            </a:r>
            <a:r>
              <a:rPr lang="en-US" dirty="0" smtClean="0">
                <a:solidFill>
                  <a:srgbClr val="0824F2"/>
                </a:solidFill>
              </a:rPr>
              <a:t> s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/>
              <a:t>6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/>
              <a:t>6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8/7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M</a:t>
            </a:r>
            <a:r>
              <a:rPr lang="en-US" b="1" baseline="30000" dirty="0" smtClean="0">
                <a:solidFill>
                  <a:srgbClr val="061BBA"/>
                </a:solidFill>
              </a:rPr>
              <a:t>2/7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3/7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1/7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2/7</a:t>
            </a:r>
            <a:r>
              <a:rPr lang="en-US" dirty="0"/>
              <a:t>,M</a:t>
            </a:r>
            <a:r>
              <a:rPr lang="en-US" b="1" baseline="30000" dirty="0">
                <a:solidFill>
                  <a:srgbClr val="061BBA"/>
                </a:solidFill>
              </a:rPr>
              <a:t>3/</a:t>
            </a:r>
            <a:r>
              <a:rPr lang="en-US" b="1" baseline="30000" dirty="0" smtClean="0">
                <a:solidFill>
                  <a:srgbClr val="061BBA"/>
                </a:solidFill>
              </a:rPr>
              <a:t>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4/</a:t>
            </a:r>
            <a:r>
              <a:rPr lang="en-US" b="1" baseline="30000" dirty="0">
                <a:solidFill>
                  <a:srgbClr val="061BBA"/>
                </a:solidFill>
              </a:rPr>
              <a:t>7</a:t>
            </a: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724832"/>
              </p:ext>
            </p:extLst>
          </p:nvPr>
        </p:nvGraphicFramePr>
        <p:xfrm>
          <a:off x="4114800" y="2743199"/>
          <a:ext cx="5029200" cy="2194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267517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A1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A2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Δ</a:t>
                      </a:r>
                      <a:r>
                        <a:rPr lang="en-US" sz="1800" dirty="0" smtClean="0"/>
                        <a:t> =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A3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A3,A4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A5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A6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Double Bracket 6"/>
          <p:cNvSpPr/>
          <p:nvPr/>
        </p:nvSpPr>
        <p:spPr>
          <a:xfrm>
            <a:off x="4724400" y="3124200"/>
            <a:ext cx="3733800" cy="18288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886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and Ongoing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334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Communication lower bounds extend to any program accessing arrays with subscripts that are “linear functions” of loop indices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Ex: A(i1+2*i2,i3-i2), B(pointer(i4+i5)), …</a:t>
            </a:r>
          </a:p>
          <a:p>
            <a:pPr lvl="1">
              <a:lnSpc>
                <a:spcPct val="90000"/>
              </a:lnSpc>
            </a:pPr>
            <a:r>
              <a:rPr lang="en-US" sz="2000" dirty="0" err="1" smtClean="0"/>
              <a:t>Sparsity</a:t>
            </a:r>
            <a:r>
              <a:rPr lang="en-US" sz="2000" dirty="0" smtClean="0"/>
              <a:t>, indirect addressing, parallelism all included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When can we write down LP for lower bound explicitly?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General case hard: Hilbert’s 10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problem over </a:t>
            </a:r>
            <a:r>
              <a:rPr lang="en-US" sz="2000" dirty="0" err="1" smtClean="0"/>
              <a:t>rationals</a:t>
            </a:r>
            <a:r>
              <a:rPr lang="en-US" sz="2000" dirty="0" smtClean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Works for many special cases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Ex: subscripts are subsets of loop indices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Can always approximate lower bound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When can we attain lower bound?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Works for many special cases (if loop dependencies permit)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Have yet to find a case where we cannot attain lower bound </a:t>
            </a:r>
            <a:r>
              <a:rPr lang="en-US" sz="2000" dirty="0" smtClean="0"/>
              <a:t>          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Can </a:t>
            </a:r>
            <a:r>
              <a:rPr lang="en-US" sz="2000" dirty="0"/>
              <a:t>we prove this</a:t>
            </a:r>
            <a:r>
              <a:rPr lang="en-US" sz="2000" dirty="0" smtClean="0"/>
              <a:t>?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Can extend “perfect scaling” results for time and energy 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Incorporate into compilers</a:t>
            </a:r>
          </a:p>
        </p:txBody>
      </p:sp>
    </p:spTree>
    <p:extLst>
      <p:ext uri="{BB962C8B-B14F-4D97-AF65-F5344CB8AC3E}">
        <p14:creationId xmlns:p14="http://schemas.microsoft.com/office/powerpoint/2010/main" val="357481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/>
              <a:t>CA-</a:t>
            </a:r>
            <a:r>
              <a:rPr lang="en-US" dirty="0" err="1" smtClean="0"/>
              <a:t>Krylov</a:t>
            </a:r>
            <a:r>
              <a:rPr lang="en-US" dirty="0" smtClean="0"/>
              <a:t>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9337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>
          <a:xfrm>
            <a:off x="155575" y="196850"/>
            <a:ext cx="8994775" cy="425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>
                <a:latin typeface="Calibri" charset="0"/>
                <a:ea typeface="ＭＳ Ｐゴシック" charset="0"/>
                <a:cs typeface="ＭＳ Ｐゴシック" charset="0"/>
              </a:rPr>
              <a:t>Avoiding Communication in Iterative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5024"/>
            <a:ext cx="9144000" cy="602297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k-steps of iterative solver for sparse Ax=b or Ax=</a:t>
            </a:r>
            <a:r>
              <a:rPr lang="el-GR" sz="3000" dirty="0">
                <a:latin typeface="Calibri" charset="0"/>
                <a:ea typeface="ＭＳ Ｐゴシック" charset="0"/>
                <a:cs typeface="ＭＳ Ｐゴシック" charset="0"/>
              </a:rPr>
              <a:t>λ</a:t>
            </a: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x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Does k </a:t>
            </a:r>
            <a:r>
              <a:rPr lang="en-US" sz="2600" dirty="0" err="1">
                <a:latin typeface="Calibri" charset="0"/>
                <a:ea typeface="ＭＳ Ｐゴシック" charset="0"/>
              </a:rPr>
              <a:t>SpMVs</a:t>
            </a:r>
            <a:r>
              <a:rPr lang="en-US" sz="2600" dirty="0">
                <a:latin typeface="Calibri" charset="0"/>
                <a:ea typeface="ＭＳ Ｐゴシック" charset="0"/>
              </a:rPr>
              <a:t> with A and starting vector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Many such </a:t>
            </a:r>
            <a:r>
              <a:rPr lang="ja-JP" altLang="en-US" sz="2600" dirty="0">
                <a:latin typeface="Calibri" charset="0"/>
                <a:ea typeface="ＭＳ Ｐゴシック" charset="0"/>
              </a:rPr>
              <a:t>“</a:t>
            </a:r>
            <a:r>
              <a:rPr lang="en-US" altLang="ja-JP" sz="2600" dirty="0" err="1">
                <a:latin typeface="Calibri" charset="0"/>
                <a:ea typeface="ＭＳ Ｐゴシック" charset="0"/>
              </a:rPr>
              <a:t>Krylov</a:t>
            </a:r>
            <a:r>
              <a:rPr lang="en-US" altLang="ja-JP" sz="2600" dirty="0">
                <a:latin typeface="Calibri" charset="0"/>
                <a:ea typeface="ＭＳ Ｐゴシック" charset="0"/>
              </a:rPr>
              <a:t> Subspace Methods</a:t>
            </a:r>
            <a:r>
              <a:rPr lang="ja-JP" altLang="en-US" sz="2600" dirty="0">
                <a:latin typeface="Calibri" charset="0"/>
                <a:ea typeface="ＭＳ Ｐゴシック" charset="0"/>
              </a:rPr>
              <a:t>”</a:t>
            </a:r>
            <a:endParaRPr lang="en-US" altLang="ja-JP" sz="2600" dirty="0">
              <a:latin typeface="Calibri" charset="0"/>
              <a:ea typeface="ＭＳ Ｐゴシック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dirty="0">
                <a:latin typeface="Calibri" charset="0"/>
                <a:ea typeface="ＭＳ Ｐゴシック" charset="0"/>
              </a:rPr>
              <a:t>Conjugate Gradients (CG), GMRES, </a:t>
            </a:r>
            <a:r>
              <a:rPr lang="en-US" dirty="0" err="1">
                <a:latin typeface="Calibri" charset="0"/>
                <a:ea typeface="ＭＳ Ｐゴシック" charset="0"/>
              </a:rPr>
              <a:t>Lanczos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Arnoldi</a:t>
            </a:r>
            <a:r>
              <a:rPr lang="en-US" dirty="0">
                <a:latin typeface="Calibri" charset="0"/>
                <a:ea typeface="ＭＳ Ｐゴシック" charset="0"/>
              </a:rPr>
              <a:t>, … </a:t>
            </a:r>
          </a:p>
          <a:p>
            <a:pPr eaLnBrk="1" hangingPunct="1">
              <a:lnSpc>
                <a:spcPct val="80000"/>
              </a:lnSpc>
            </a:pP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Goal: minimize communication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Assume matrix </a:t>
            </a:r>
            <a:r>
              <a:rPr lang="ja-JP" altLang="en-US" sz="2600" dirty="0">
                <a:latin typeface="Calibri" charset="0"/>
                <a:ea typeface="ＭＳ Ｐゴシック" charset="0"/>
              </a:rPr>
              <a:t>“</a:t>
            </a:r>
            <a:r>
              <a:rPr lang="en-US" sz="2600" dirty="0">
                <a:latin typeface="Calibri" charset="0"/>
                <a:ea typeface="ＭＳ Ｐゴシック" charset="0"/>
              </a:rPr>
              <a:t>well-partitioned</a:t>
            </a:r>
            <a:r>
              <a:rPr lang="ja-JP" altLang="en-US" sz="2600" dirty="0">
                <a:latin typeface="Calibri" charset="0"/>
                <a:ea typeface="ＭＳ Ｐゴシック" charset="0"/>
              </a:rPr>
              <a:t>”</a:t>
            </a:r>
            <a:endParaRPr lang="en-US" sz="26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Serial implementation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>
                <a:latin typeface="Calibri" charset="0"/>
                <a:ea typeface="ＭＳ Ｐゴシック" charset="0"/>
              </a:rPr>
              <a:t>Conventional: O(k) moves of data from slow to fast memory</a:t>
            </a:r>
          </a:p>
          <a:p>
            <a:pPr lvl="2" eaLnBrk="1" hangingPunct="1">
              <a:lnSpc>
                <a:spcPct val="80000"/>
              </a:lnSpc>
            </a:pPr>
            <a:r>
              <a:rPr lang="en-US" b="1" dirty="0">
                <a:latin typeface="Calibri" charset="0"/>
                <a:ea typeface="ＭＳ Ｐゴシック" charset="0"/>
              </a:rPr>
              <a:t>New</a:t>
            </a:r>
            <a:r>
              <a:rPr lang="en-US" dirty="0">
                <a:latin typeface="Calibri" charset="0"/>
                <a:ea typeface="ＭＳ Ｐゴシック" charset="0"/>
              </a:rPr>
              <a:t>: </a:t>
            </a:r>
            <a:r>
              <a:rPr lang="en-US" b="1" dirty="0">
                <a:latin typeface="Calibri" charset="0"/>
                <a:ea typeface="ＭＳ Ｐゴシック" charset="0"/>
              </a:rPr>
              <a:t>O(1) moves of data – optimal</a:t>
            </a:r>
            <a:endParaRPr lang="en-US" sz="22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Parallel implementation on p processors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>
                <a:latin typeface="Calibri" charset="0"/>
                <a:ea typeface="ＭＳ Ｐゴシック" charset="0"/>
              </a:rPr>
              <a:t>Conventional: O(k log p) messages  (k </a:t>
            </a:r>
            <a:r>
              <a:rPr lang="en-US" dirty="0" err="1">
                <a:latin typeface="Calibri" charset="0"/>
                <a:ea typeface="ＭＳ Ｐゴシック" charset="0"/>
              </a:rPr>
              <a:t>SpMV</a:t>
            </a:r>
            <a:r>
              <a:rPr lang="en-US" dirty="0">
                <a:latin typeface="Calibri" charset="0"/>
                <a:ea typeface="ＭＳ Ｐゴシック" charset="0"/>
              </a:rPr>
              <a:t> calls, dot prods)</a:t>
            </a:r>
          </a:p>
          <a:p>
            <a:pPr lvl="2" eaLnBrk="1" hangingPunct="1">
              <a:lnSpc>
                <a:spcPct val="80000"/>
              </a:lnSpc>
            </a:pPr>
            <a:r>
              <a:rPr lang="en-US" b="1" dirty="0">
                <a:latin typeface="Calibri" charset="0"/>
                <a:ea typeface="ＭＳ Ｐゴシック" charset="0"/>
              </a:rPr>
              <a:t>New: O(log p) messages - optimal</a:t>
            </a:r>
          </a:p>
          <a:p>
            <a:pPr eaLnBrk="1" hangingPunct="1">
              <a:lnSpc>
                <a:spcPct val="80000"/>
              </a:lnSpc>
            </a:pP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Lots of speed up possible (modeled and measured)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Price: some redundant </a:t>
            </a:r>
            <a:r>
              <a:rPr lang="en-US" sz="2600" dirty="0" smtClean="0">
                <a:latin typeface="Calibri" charset="0"/>
                <a:ea typeface="ＭＳ Ｐゴシック" charset="0"/>
              </a:rPr>
              <a:t>computation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 smtClean="0">
                <a:latin typeface="Calibri" charset="0"/>
                <a:ea typeface="ＭＳ Ｐゴシック" charset="0"/>
              </a:rPr>
              <a:t>Challenges: Poor partitioning, Preconditioning, Stability</a:t>
            </a:r>
            <a:endParaRPr lang="en-US" sz="26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  <a:buFont typeface="Arial" charset="0"/>
              <a:buNone/>
            </a:pPr>
            <a:endParaRPr lang="en-US" sz="26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600" dirty="0">
              <a:latin typeface="Calibri" charset="0"/>
              <a:ea typeface="ＭＳ Ｐゴシック" charset="0"/>
            </a:endParaRPr>
          </a:p>
        </p:txBody>
      </p:sp>
      <p:sp>
        <p:nvSpPr>
          <p:cNvPr id="99332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fld id="{2636A7F5-BEE7-4140-8B8D-100FFF9D85AF}" type="slidenum">
              <a:rPr lang="en-US" sz="1400"/>
              <a:pPr algn="r" eaLnBrk="1" hangingPunct="1"/>
              <a:t>38</a:t>
            </a:fld>
            <a:endParaRPr lang="en-US" sz="1800"/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117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3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Works for any “well-partitioned” A</a:t>
            </a: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3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/>
          <p:cNvCxnSpPr/>
          <p:nvPr/>
        </p:nvCxnSpPr>
        <p:spPr>
          <a:xfrm rot="5400000">
            <a:off x="1143000" y="3886200"/>
            <a:ext cx="304800" cy="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/>
          <p:cNvCxnSpPr/>
          <p:nvPr/>
        </p:nvCxnSpPr>
        <p:spPr>
          <a:xfrm rot="5400000">
            <a:off x="1028700" y="3771900"/>
            <a:ext cx="304800" cy="22860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rot="16200000" flipH="1">
            <a:off x="1257300" y="3771900"/>
            <a:ext cx="304800" cy="22860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/>
        </p:nvCxnSpPr>
        <p:spPr>
          <a:xfrm rot="5400000" flipH="1" flipV="1">
            <a:off x="1066800" y="4038600"/>
            <a:ext cx="0" cy="0"/>
          </a:xfrm>
          <a:prstGeom prst="line">
            <a:avLst/>
          </a:prstGeom>
          <a:ln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3" name="Straight Connector 522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Isosceles Triangle 521"/>
          <p:cNvSpPr/>
          <p:nvPr/>
        </p:nvSpPr>
        <p:spPr>
          <a:xfrm>
            <a:off x="4114800" y="2895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Isosceles Triangle 521"/>
          <p:cNvSpPr/>
          <p:nvPr/>
        </p:nvSpPr>
        <p:spPr>
          <a:xfrm>
            <a:off x="3581400" y="2895600"/>
            <a:ext cx="1676400" cy="1219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rapezoid 520"/>
          <p:cNvSpPr/>
          <p:nvPr/>
        </p:nvSpPr>
        <p:spPr>
          <a:xfrm>
            <a:off x="2590800" y="2895600"/>
            <a:ext cx="3429000" cy="1219200"/>
          </a:xfrm>
          <a:prstGeom prst="trapezoid">
            <a:avLst>
              <a:gd name="adj" fmla="val 65625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3" name="Straight Connector 522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Sequential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9" name="Straight Connector 528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0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Sequential Algorithm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5" name="TextBox 534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6" name="TextBox 535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arallelogram 523"/>
          <p:cNvSpPr/>
          <p:nvPr/>
        </p:nvSpPr>
        <p:spPr>
          <a:xfrm flipH="1">
            <a:off x="3962400" y="2895600"/>
            <a:ext cx="2895600" cy="1219200"/>
          </a:xfrm>
          <a:prstGeom prst="parallelogram">
            <a:avLst>
              <a:gd name="adj" fmla="val 68478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9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30" name="Straight Connector 529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5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Sequential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4572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Step  3</a:t>
            </a:r>
            <a:endParaRPr lang="en-US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ight Triangle 529"/>
          <p:cNvSpPr/>
          <p:nvPr/>
        </p:nvSpPr>
        <p:spPr>
          <a:xfrm flipH="1" flipV="1">
            <a:off x="6019800" y="2895600"/>
            <a:ext cx="838200" cy="1219200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/>
          <p:cNvSpPr/>
          <p:nvPr/>
        </p:nvSpPr>
        <p:spPr>
          <a:xfrm>
            <a:off x="6858000" y="2895600"/>
            <a:ext cx="1981200" cy="1219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Parallelogram 523"/>
          <p:cNvSpPr/>
          <p:nvPr/>
        </p:nvSpPr>
        <p:spPr>
          <a:xfrm flipH="1">
            <a:off x="3962400" y="2895600"/>
            <a:ext cx="2895600" cy="1219200"/>
          </a:xfrm>
          <a:prstGeom prst="parallelogram">
            <a:avLst>
              <a:gd name="adj" fmla="val 68478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5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36" name="Straight Connector 535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7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Sequential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40" name="TextBox 539"/>
          <p:cNvSpPr txBox="1"/>
          <p:nvPr/>
        </p:nvSpPr>
        <p:spPr>
          <a:xfrm>
            <a:off x="4572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Step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647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Step  4</a:t>
            </a:r>
            <a:endParaRPr 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rapezoid 534"/>
          <p:cNvSpPr/>
          <p:nvPr/>
        </p:nvSpPr>
        <p:spPr>
          <a:xfrm>
            <a:off x="19812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27432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6" name="Isosceles Triangle 535"/>
          <p:cNvSpPr/>
          <p:nvPr/>
        </p:nvSpPr>
        <p:spPr>
          <a:xfrm>
            <a:off x="1981200" y="2895600"/>
            <a:ext cx="1600200" cy="12192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Isosceles Triangle 537"/>
          <p:cNvSpPr/>
          <p:nvPr/>
        </p:nvSpPr>
        <p:spPr>
          <a:xfrm>
            <a:off x="4038600" y="2895600"/>
            <a:ext cx="1524000" cy="12192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40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45" name="Straight Connector 54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Content Placeholder 2"/>
          <p:cNvSpPr txBox="1">
            <a:spLocks/>
          </p:cNvSpPr>
          <p:nvPr/>
        </p:nvSpPr>
        <p:spPr>
          <a:xfrm>
            <a:off x="228600" y="1447800"/>
            <a:ext cx="90678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noProof="0" dirty="0" smtClean="0"/>
              <a:t>Parallel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Each processor communicates once with neighbors 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990600" y="2514600"/>
            <a:ext cx="77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Proc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32898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Proc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5410200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Proc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74046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Proc  4</a:t>
            </a:r>
            <a:endParaRPr lang="en-US" b="1" dirty="0">
              <a:solidFill>
                <a:srgbClr val="FFC000"/>
              </a:solidFill>
            </a:endParaRPr>
          </a:p>
        </p:txBody>
      </p:sp>
      <p:cxnSp>
        <p:nvCxnSpPr>
          <p:cNvPr id="295" name="Straight Connector 294"/>
          <p:cNvCxnSpPr/>
          <p:nvPr/>
        </p:nvCxnSpPr>
        <p:spPr>
          <a:xfrm rot="5400000">
            <a:off x="62484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/>
          <p:cNvCxnSpPr/>
          <p:nvPr/>
        </p:nvCxnSpPr>
        <p:spPr>
          <a:xfrm rot="5400000">
            <a:off x="21336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rot="5400000">
            <a:off x="41910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Rounded Rectangle 297"/>
          <p:cNvSpPr/>
          <p:nvPr/>
        </p:nvSpPr>
        <p:spPr>
          <a:xfrm>
            <a:off x="4876800" y="3886200"/>
            <a:ext cx="685800" cy="381000"/>
          </a:xfrm>
          <a:prstGeom prst="roundRect">
            <a:avLst/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ounded Rectangle 302"/>
          <p:cNvSpPr/>
          <p:nvPr/>
        </p:nvSpPr>
        <p:spPr>
          <a:xfrm>
            <a:off x="1981200" y="3886200"/>
            <a:ext cx="685800" cy="381000"/>
          </a:xfrm>
          <a:prstGeom prst="roundRect">
            <a:avLst/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animBg="1"/>
      <p:bldP spid="30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rapezoid 534"/>
          <p:cNvSpPr/>
          <p:nvPr/>
        </p:nvSpPr>
        <p:spPr>
          <a:xfrm>
            <a:off x="19812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/>
          <p:cNvSpPr/>
          <p:nvPr/>
        </p:nvSpPr>
        <p:spPr>
          <a:xfrm>
            <a:off x="6858000" y="2895600"/>
            <a:ext cx="1981200" cy="1219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27432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9812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6" name="Isosceles Triangle 535"/>
          <p:cNvSpPr/>
          <p:nvPr/>
        </p:nvSpPr>
        <p:spPr>
          <a:xfrm>
            <a:off x="1981200" y="2895600"/>
            <a:ext cx="1600200" cy="1219200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Trapezoid 536"/>
          <p:cNvSpPr/>
          <p:nvPr/>
        </p:nvSpPr>
        <p:spPr>
          <a:xfrm>
            <a:off x="40386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Isosceles Triangle 537"/>
          <p:cNvSpPr/>
          <p:nvPr/>
        </p:nvSpPr>
        <p:spPr>
          <a:xfrm>
            <a:off x="4038600" y="2895600"/>
            <a:ext cx="1524000" cy="121920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Isosceles Triangle 538"/>
          <p:cNvSpPr/>
          <p:nvPr/>
        </p:nvSpPr>
        <p:spPr>
          <a:xfrm>
            <a:off x="6096000" y="2895600"/>
            <a:ext cx="1524000" cy="1219200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40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45" name="Straight Connector 54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Content Placeholder 2"/>
          <p:cNvSpPr txBox="1">
            <a:spLocks/>
          </p:cNvSpPr>
          <p:nvPr/>
        </p:nvSpPr>
        <p:spPr>
          <a:xfrm>
            <a:off x="228600" y="1447800"/>
            <a:ext cx="90678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noProof="0" dirty="0" smtClean="0"/>
              <a:t>Parallel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Each processor works on (overlapping) trapezoid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990600" y="2514600"/>
            <a:ext cx="77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Proc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32898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Proc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5410200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Proc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74046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Proc  4</a:t>
            </a:r>
            <a:endParaRPr 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pa1_gener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6664" y="2514600"/>
            <a:ext cx="4052936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914400" y="1686580"/>
            <a:ext cx="7467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</a:rPr>
              <a:t>Same idea works for general sparse matrices</a:t>
            </a:r>
            <a:endParaRPr lang="en-US" sz="2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3400" y="3048000"/>
            <a:ext cx="32519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Simple block-row partitioning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dirty="0">
                <a:sym typeface="Wingdings"/>
              </a:rPr>
              <a:t> </a:t>
            </a:r>
            <a:endParaRPr lang="en-US" dirty="0" smtClean="0">
              <a:sym typeface="Wingdings"/>
            </a:endParaRPr>
          </a:p>
          <a:p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   (hyper)graph partitioning</a:t>
            </a:r>
          </a:p>
          <a:p>
            <a:endParaRPr lang="en-US" dirty="0">
              <a:sym typeface="Wingdings"/>
            </a:endParaRPr>
          </a:p>
          <a:p>
            <a:r>
              <a:rPr lang="en-US" dirty="0" smtClean="0">
                <a:sym typeface="Wingdings"/>
              </a:rPr>
              <a:t>Top-to-bottom processing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</a:p>
          <a:p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 </a:t>
            </a:r>
            <a:r>
              <a:rPr lang="en-US" dirty="0" smtClean="0">
                <a:ea typeface="Wingdings"/>
                <a:cs typeface="Wingdings"/>
                <a:sym typeface="Wingdings"/>
              </a:rPr>
              <a:t>Traveling Salesman Problem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3825" y="152400"/>
            <a:ext cx="9099550" cy="425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>
                <a:latin typeface="Calibri" charset="0"/>
                <a:ea typeface="ＭＳ Ｐゴシック" charset="0"/>
                <a:cs typeface="ＭＳ Ｐゴシック" charset="0"/>
              </a:rPr>
              <a:t>Minimizing Communication of GMRES to solve Ax=b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04850"/>
            <a:ext cx="8915400" cy="842963"/>
          </a:xfrm>
        </p:spPr>
        <p:txBody>
          <a:bodyPr/>
          <a:lstStyle/>
          <a:p>
            <a:pPr eaLnBrk="1" hangingPunct="1"/>
            <a:r>
              <a:rPr lang="en-US" sz="2800">
                <a:latin typeface="Calibri" charset="0"/>
                <a:ea typeface="ＭＳ Ｐゴシック" charset="0"/>
                <a:cs typeface="ＭＳ Ｐゴシック" charset="0"/>
              </a:rPr>
              <a:t>GMRES: find x in span{b,Ab,…,A</a:t>
            </a:r>
            <a:r>
              <a:rPr lang="en-US" sz="2800" baseline="30000">
                <a:latin typeface="Calibri" charset="0"/>
                <a:ea typeface="ＭＳ Ｐゴシック" charset="0"/>
                <a:cs typeface="ＭＳ Ｐゴシック" charset="0"/>
              </a:rPr>
              <a:t>k</a:t>
            </a:r>
            <a:r>
              <a:rPr lang="en-US" sz="2800">
                <a:latin typeface="Calibri" charset="0"/>
                <a:ea typeface="ＭＳ Ｐゴシック" charset="0"/>
                <a:cs typeface="ＭＳ Ｐゴシック" charset="0"/>
              </a:rPr>
              <a:t>b} minimizing || Ax-b ||</a:t>
            </a:r>
            <a:r>
              <a:rPr lang="en-US" sz="2800" baseline="-25000">
                <a:latin typeface="Calibri" charset="0"/>
                <a:ea typeface="ＭＳ Ｐゴシック" charset="0"/>
                <a:cs typeface="ＭＳ Ｐゴシック" charset="0"/>
              </a:rPr>
              <a:t>2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746125" y="1631950"/>
            <a:ext cx="3524250" cy="295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Standard GMRES</a:t>
            </a:r>
          </a:p>
          <a:p>
            <a:pPr eaLnBrk="1" hangingPunct="1"/>
            <a:r>
              <a:rPr lang="en-US"/>
              <a:t>  for i=1 to k</a:t>
            </a:r>
          </a:p>
          <a:p>
            <a:pPr eaLnBrk="1" hangingPunct="1"/>
            <a:r>
              <a:rPr lang="en-US"/>
              <a:t>     w = A · v(i-1)   </a:t>
            </a:r>
            <a:r>
              <a:rPr lang="en-US" i="1"/>
              <a:t>… SpMV</a:t>
            </a:r>
          </a:p>
          <a:p>
            <a:pPr eaLnBrk="1" hangingPunct="1"/>
            <a:r>
              <a:rPr lang="en-US"/>
              <a:t>     MGS(w, v(0),…,v(i-1))</a:t>
            </a:r>
          </a:p>
          <a:p>
            <a:pPr eaLnBrk="1" hangingPunct="1"/>
            <a:r>
              <a:rPr lang="en-US"/>
              <a:t>     update v(i), H</a:t>
            </a:r>
          </a:p>
          <a:p>
            <a:pPr eaLnBrk="1" hangingPunct="1"/>
            <a:r>
              <a:rPr lang="en-US"/>
              <a:t>  endfor</a:t>
            </a:r>
          </a:p>
          <a:p>
            <a:pPr eaLnBrk="1" hangingPunct="1"/>
            <a:r>
              <a:rPr lang="en-US"/>
              <a:t>  solve LSQ problem with H</a:t>
            </a:r>
          </a:p>
          <a:p>
            <a:pPr eaLnBrk="1" hangingPunct="1"/>
            <a:endParaRPr lang="en-US" sz="1800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572000" y="1631950"/>
            <a:ext cx="45720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Communication-avoiding GMRES</a:t>
            </a:r>
          </a:p>
          <a:p>
            <a:pPr eaLnBrk="1" hangingPunct="1"/>
            <a:r>
              <a:rPr lang="en-US" dirty="0"/>
              <a:t>   W = [ v, Av, A</a:t>
            </a:r>
            <a:r>
              <a:rPr lang="en-US" sz="2800" baseline="30000" dirty="0"/>
              <a:t>2</a:t>
            </a:r>
            <a:r>
              <a:rPr lang="en-US" dirty="0"/>
              <a:t>v, … , </a:t>
            </a:r>
            <a:r>
              <a:rPr lang="en-US" dirty="0" err="1"/>
              <a:t>A</a:t>
            </a:r>
            <a:r>
              <a:rPr lang="en-US" sz="2800" baseline="30000" dirty="0" err="1"/>
              <a:t>k</a:t>
            </a:r>
            <a:r>
              <a:rPr lang="en-US" dirty="0" err="1"/>
              <a:t>v</a:t>
            </a:r>
            <a:r>
              <a:rPr lang="en-US" dirty="0"/>
              <a:t> ]</a:t>
            </a:r>
          </a:p>
          <a:p>
            <a:pPr eaLnBrk="1" hangingPunct="1"/>
            <a:r>
              <a:rPr lang="en-US" dirty="0"/>
              <a:t>   [Q,R] = TSQR(W)  </a:t>
            </a:r>
          </a:p>
          <a:p>
            <a:pPr eaLnBrk="1" hangingPunct="1"/>
            <a:r>
              <a:rPr lang="en-US" dirty="0"/>
              <a:t>          </a:t>
            </a:r>
            <a:r>
              <a:rPr lang="en-US" i="1" dirty="0"/>
              <a:t>…  </a:t>
            </a:r>
            <a:r>
              <a:rPr lang="ja-JP" altLang="en-US" i="1" dirty="0"/>
              <a:t>“</a:t>
            </a:r>
            <a:r>
              <a:rPr lang="en-US" i="1" dirty="0"/>
              <a:t>Tall Skinny QR</a:t>
            </a:r>
            <a:r>
              <a:rPr lang="ja-JP" altLang="en-US" i="1" dirty="0"/>
              <a:t>”</a:t>
            </a:r>
            <a:endParaRPr lang="en-US" i="1" dirty="0"/>
          </a:p>
          <a:p>
            <a:pPr eaLnBrk="1" hangingPunct="1"/>
            <a:r>
              <a:rPr lang="en-US" dirty="0"/>
              <a:t>   build H from R </a:t>
            </a:r>
          </a:p>
          <a:p>
            <a:pPr eaLnBrk="1" hangingPunct="1"/>
            <a:r>
              <a:rPr lang="en-US" dirty="0"/>
              <a:t>   solve LSQ problem with H</a:t>
            </a:r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57200" y="6089650"/>
            <a:ext cx="7167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2800">
                <a:solidFill>
                  <a:srgbClr val="C00000"/>
                </a:solidFill>
              </a:rPr>
              <a:t>Oops – W from power method, precision lost!</a:t>
            </a:r>
            <a:endParaRPr lang="en-US" sz="1800">
              <a:solidFill>
                <a:srgbClr val="C00000"/>
              </a:solidFill>
            </a:endParaRPr>
          </a:p>
        </p:txBody>
      </p:sp>
      <p:sp>
        <p:nvSpPr>
          <p:cNvPr id="115719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fld id="{5602AB2C-A094-E449-A75C-3A5BACDD6A64}" type="slidenum">
              <a:rPr lang="en-US" sz="1400"/>
              <a:pPr algn="r" eaLnBrk="1" hangingPunct="1"/>
              <a:t>52</a:t>
            </a:fld>
            <a:endParaRPr lang="en-US" sz="1800"/>
          </a:p>
        </p:txBody>
      </p:sp>
      <p:cxnSp>
        <p:nvCxnSpPr>
          <p:cNvPr id="8" name="Straight Connector 7"/>
          <p:cNvCxnSpPr/>
          <p:nvPr/>
        </p:nvCxnSpPr>
        <p:spPr>
          <a:xfrm>
            <a:off x="381000" y="609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990600" y="4800600"/>
            <a:ext cx="7356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Sequential case: #words moved decreases by a factor of k</a:t>
            </a:r>
          </a:p>
          <a:p>
            <a:pPr eaLnBrk="1" hangingPunct="1"/>
            <a:r>
              <a:rPr lang="en-US"/>
              <a:t>Parallel case: #messages decreases by a factor of k</a:t>
            </a:r>
          </a:p>
        </p:txBody>
      </p:sp>
    </p:spTree>
    <p:extLst>
      <p:ext uri="{BB962C8B-B14F-4D97-AF65-F5344CB8AC3E}">
        <p14:creationId xmlns:p14="http://schemas.microsoft.com/office/powerpoint/2010/main" val="4138717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9850"/>
            <a:ext cx="82296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Text Box 8"/>
          <p:cNvSpPr txBox="1">
            <a:spLocks noChangeArrowheads="1"/>
          </p:cNvSpPr>
          <p:nvPr/>
        </p:nvSpPr>
        <p:spPr bwMode="auto">
          <a:xfrm>
            <a:off x="1817688" y="688975"/>
            <a:ext cx="35242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ja-JP" altLang="en-US" sz="2000" b="1">
                <a:solidFill>
                  <a:srgbClr val="0824F2"/>
                </a:solidFill>
              </a:rPr>
              <a:t>“</a:t>
            </a:r>
            <a:r>
              <a:rPr lang="en-US" sz="2000" b="1">
                <a:solidFill>
                  <a:srgbClr val="0824F2"/>
                </a:solidFill>
              </a:rPr>
              <a:t>Monomial</a:t>
            </a:r>
            <a:r>
              <a:rPr lang="ja-JP" altLang="en-US" sz="2000" b="1">
                <a:solidFill>
                  <a:srgbClr val="0824F2"/>
                </a:solidFill>
              </a:rPr>
              <a:t>”</a:t>
            </a:r>
            <a:r>
              <a:rPr lang="en-US" sz="2000" b="1">
                <a:solidFill>
                  <a:srgbClr val="0824F2"/>
                </a:solidFill>
              </a:rPr>
              <a:t> basis [Ax,…,A</a:t>
            </a:r>
            <a:r>
              <a:rPr lang="en-US" sz="2000" b="1" baseline="30000">
                <a:solidFill>
                  <a:srgbClr val="0824F2"/>
                </a:solidFill>
              </a:rPr>
              <a:t>k</a:t>
            </a:r>
            <a:r>
              <a:rPr lang="en-US" sz="2000" b="1">
                <a:solidFill>
                  <a:srgbClr val="0824F2"/>
                </a:solidFill>
              </a:rPr>
              <a:t>x]  </a:t>
            </a:r>
          </a:p>
          <a:p>
            <a:pPr algn="ctr" eaLnBrk="1" hangingPunct="1"/>
            <a:r>
              <a:rPr lang="en-US" sz="2000" b="1">
                <a:solidFill>
                  <a:srgbClr val="0824F2"/>
                </a:solidFill>
              </a:rPr>
              <a:t>fails to converge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3170238" y="4202113"/>
            <a:ext cx="50593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C00000"/>
                </a:solidFill>
              </a:rPr>
              <a:t> </a:t>
            </a:r>
            <a:r>
              <a:rPr lang="en-US" sz="2000" b="1">
                <a:solidFill>
                  <a:srgbClr val="00B050"/>
                </a:solidFill>
              </a:rPr>
              <a:t>Different polynomial basis  [p</a:t>
            </a:r>
            <a:r>
              <a:rPr lang="en-US" sz="2000" b="1" baseline="-25000">
                <a:solidFill>
                  <a:srgbClr val="00B050"/>
                </a:solidFill>
              </a:rPr>
              <a:t>1</a:t>
            </a:r>
            <a:r>
              <a:rPr lang="en-US" sz="2000" b="1">
                <a:solidFill>
                  <a:srgbClr val="00B050"/>
                </a:solidFill>
              </a:rPr>
              <a:t>(A)x,…,p</a:t>
            </a:r>
            <a:r>
              <a:rPr lang="en-US" sz="2000" b="1" baseline="-25000">
                <a:solidFill>
                  <a:srgbClr val="00B050"/>
                </a:solidFill>
              </a:rPr>
              <a:t>k</a:t>
            </a:r>
            <a:r>
              <a:rPr lang="en-US" sz="2000" b="1">
                <a:solidFill>
                  <a:srgbClr val="00B050"/>
                </a:solidFill>
              </a:rPr>
              <a:t>(A)x]</a:t>
            </a:r>
          </a:p>
          <a:p>
            <a:pPr eaLnBrk="1" hangingPunct="1"/>
            <a:r>
              <a:rPr lang="en-US" sz="2000" b="1">
                <a:solidFill>
                  <a:srgbClr val="00B050"/>
                </a:solidFill>
              </a:rPr>
              <a:t> does converge</a:t>
            </a:r>
          </a:p>
        </p:txBody>
      </p:sp>
      <p:cxnSp>
        <p:nvCxnSpPr>
          <p:cNvPr id="6" name="Straight Arrow Connector 5"/>
          <p:cNvCxnSpPr>
            <a:cxnSpLocks noChangeShapeType="1"/>
            <a:stCxn id="4" idx="1"/>
          </p:cNvCxnSpPr>
          <p:nvPr/>
        </p:nvCxnSpPr>
        <p:spPr bwMode="auto">
          <a:xfrm rot="10800000" flipV="1">
            <a:off x="2857500" y="4556125"/>
            <a:ext cx="312738" cy="46038"/>
          </a:xfrm>
          <a:prstGeom prst="straightConnector1">
            <a:avLst/>
          </a:prstGeom>
          <a:noFill/>
          <a:ln w="12700">
            <a:solidFill>
              <a:srgbClr val="00B05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6742" name="Slide Number Placeholder 3"/>
          <p:cNvSpPr txBox="1">
            <a:spLocks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fld id="{74C757AA-94F7-284C-AA37-D8A3EB2AE80D}" type="slidenum">
              <a:rPr lang="en-US" sz="1400">
                <a:ea typeface="MS PGothic" charset="0"/>
                <a:cs typeface="MS PGothic" charset="0"/>
              </a:rPr>
              <a:pPr algn="r" eaLnBrk="1" hangingPunct="1"/>
              <a:t>53</a:t>
            </a:fld>
            <a:endParaRPr lang="en-US" sz="1400"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6812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3"/>
          <p:cNvSpPr>
            <a:spLocks noGrp="1"/>
          </p:cNvSpPr>
          <p:nvPr>
            <p:ph type="title"/>
          </p:nvPr>
        </p:nvSpPr>
        <p:spPr>
          <a:xfrm>
            <a:off x="473075" y="296863"/>
            <a:ext cx="8413750" cy="801687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Speed ups of GMRES on 8-core Intel </a:t>
            </a:r>
            <a:r>
              <a:rPr lang="en-US" sz="3200" dirty="0" err="1" smtClean="0"/>
              <a:t>Clovertown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pic>
        <p:nvPicPr>
          <p:cNvPr id="58371" name="Picture 4" descr="bar_r60_p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422400"/>
            <a:ext cx="7543800" cy="535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2" name="TextBox 3"/>
          <p:cNvSpPr txBox="1">
            <a:spLocks noChangeArrowheads="1"/>
          </p:cNvSpPr>
          <p:nvPr/>
        </p:nvSpPr>
        <p:spPr bwMode="auto">
          <a:xfrm>
            <a:off x="3835400" y="1060450"/>
            <a:ext cx="1397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[MHDY09]</a:t>
            </a:r>
          </a:p>
        </p:txBody>
      </p:sp>
      <p:sp>
        <p:nvSpPr>
          <p:cNvPr id="58373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A0CED5E-3E17-48CE-8D11-444C9ABDC9B6}" type="slidenum">
              <a:rPr lang="en-US" sz="1400" b="0">
                <a:solidFill>
                  <a:schemeClr val="tx1"/>
                </a:solidFill>
              </a:rPr>
              <a:pPr algn="r"/>
              <a:t>54</a:t>
            </a:fld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9800" y="609600"/>
            <a:ext cx="4681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Requires Co-tuning Kernels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rin\Desktop\legend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erin\Desktop\cabicgstab_s32norest.t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00"/>
            <a:ext cx="7854696" cy="56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erin\Desktop\legend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248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57400" y="2895600"/>
            <a:ext cx="1752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057400" y="3810000"/>
            <a:ext cx="1447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73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erin\Desktop\cabicgstab_s32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095"/>
            <a:ext cx="7856538" cy="566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erin\Desktop\legend.t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13270"/>
              </p:ext>
            </p:extLst>
          </p:nvPr>
        </p:nvGraphicFramePr>
        <p:xfrm>
          <a:off x="685800" y="5802052"/>
          <a:ext cx="8106295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259"/>
                <a:gridCol w="1621259"/>
                <a:gridCol w="1621259"/>
                <a:gridCol w="1621259"/>
                <a:gridCol w="162125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Naive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Monomial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Newton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Chebyshev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Replacement</a:t>
                      </a:r>
                      <a:r>
                        <a:rPr lang="en-US" sz="1600" b="0" baseline="0" dirty="0" smtClean="0"/>
                        <a:t> Its.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74</a:t>
                      </a:r>
                      <a:r>
                        <a:rPr lang="en-US" sz="1600" b="1" dirty="0" smtClean="0"/>
                        <a:t> (1)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[7, 15, 24, 31, …, 92, 97, 103] </a:t>
                      </a:r>
                      <a:r>
                        <a:rPr lang="en-US" sz="1600" b="1" dirty="0" smtClean="0"/>
                        <a:t>(17)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[67,</a:t>
                      </a:r>
                      <a:r>
                        <a:rPr lang="en-US" sz="1600" b="0" baseline="0" dirty="0" smtClean="0"/>
                        <a:t> 98] </a:t>
                      </a:r>
                      <a:r>
                        <a:rPr lang="en-US" sz="1600" b="1" baseline="0" dirty="0" smtClean="0"/>
                        <a:t>(2)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68</a:t>
                      </a:r>
                      <a:r>
                        <a:rPr lang="en-US" sz="1600" b="1" baseline="0" dirty="0" smtClean="0"/>
                        <a:t> (1)</a:t>
                      </a:r>
                      <a:endParaRPr lang="en-US" sz="16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57600" y="533400"/>
            <a:ext cx="42233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With Residual Replacement (RR) </a:t>
            </a:r>
          </a:p>
          <a:p>
            <a:r>
              <a:rPr lang="en-US" sz="2400" dirty="0" smtClean="0"/>
              <a:t>a la Van der Vorst and Ye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7024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Summary of Iterative Linear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New lower bounds, optimal algorithms,                  big speedups in theory and practice</a:t>
            </a:r>
          </a:p>
          <a:p>
            <a:r>
              <a:rPr lang="en-US" dirty="0" smtClean="0"/>
              <a:t>Lots of other progress, open problems</a:t>
            </a:r>
          </a:p>
          <a:p>
            <a:pPr lvl="1"/>
            <a:r>
              <a:rPr lang="en-US" dirty="0" smtClean="0"/>
              <a:t> Many different algorithms reorganized </a:t>
            </a:r>
          </a:p>
          <a:p>
            <a:pPr lvl="2"/>
            <a:r>
              <a:rPr lang="en-US" dirty="0" smtClean="0"/>
              <a:t>More underway, more to be done</a:t>
            </a:r>
          </a:p>
          <a:p>
            <a:pPr lvl="1"/>
            <a:r>
              <a:rPr lang="en-US" dirty="0" smtClean="0"/>
              <a:t>Need to recognize stable variants more easily</a:t>
            </a:r>
          </a:p>
          <a:p>
            <a:pPr lvl="1"/>
            <a:r>
              <a:rPr lang="en-US" dirty="0" smtClean="0"/>
              <a:t>Preconditioning  </a:t>
            </a:r>
          </a:p>
          <a:p>
            <a:pPr lvl="2"/>
            <a:r>
              <a:rPr lang="en-US" dirty="0" smtClean="0"/>
              <a:t>Hierarchically </a:t>
            </a:r>
            <a:r>
              <a:rPr lang="en-US" dirty="0" err="1" smtClean="0"/>
              <a:t>Semiseparable</a:t>
            </a:r>
            <a:r>
              <a:rPr lang="en-US" dirty="0" smtClean="0"/>
              <a:t> Matrices</a:t>
            </a:r>
          </a:p>
          <a:p>
            <a:pPr lvl="1"/>
            <a:r>
              <a:rPr lang="en-US" dirty="0" err="1" smtClean="0"/>
              <a:t>Autotuning</a:t>
            </a:r>
            <a:r>
              <a:rPr lang="en-US" dirty="0" smtClean="0"/>
              <a:t> and synthesis</a:t>
            </a:r>
          </a:p>
          <a:p>
            <a:pPr lvl="2"/>
            <a:r>
              <a:rPr lang="en-US" dirty="0" err="1"/>
              <a:t>pOSKI</a:t>
            </a:r>
            <a:r>
              <a:rPr lang="en-US" dirty="0"/>
              <a:t> for </a:t>
            </a:r>
            <a:r>
              <a:rPr lang="en-US" dirty="0" err="1"/>
              <a:t>SpMV</a:t>
            </a:r>
            <a:r>
              <a:rPr lang="en-US" dirty="0"/>
              <a:t> – available at </a:t>
            </a:r>
            <a:r>
              <a:rPr lang="en-US" dirty="0" err="1" smtClean="0"/>
              <a:t>bebop.cs.berkeley.edu</a:t>
            </a:r>
            <a:endParaRPr lang="en-US" dirty="0" smtClean="0"/>
          </a:p>
          <a:p>
            <a:pPr lvl="2"/>
            <a:r>
              <a:rPr lang="en-US" dirty="0" smtClean="0"/>
              <a:t>Different kinds of “sparse matrices”</a:t>
            </a:r>
          </a:p>
        </p:txBody>
      </p:sp>
    </p:spTree>
    <p:extLst>
      <p:ext uri="{BB962C8B-B14F-4D97-AF65-F5344CB8AC3E}">
        <p14:creationId xmlns:p14="http://schemas.microsoft.com/office/powerpoint/2010/main" val="1093189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more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Bebop.cs.berkeley.edu</a:t>
            </a:r>
            <a:endParaRPr lang="en-US" dirty="0" smtClean="0"/>
          </a:p>
          <a:p>
            <a:r>
              <a:rPr lang="en-US" dirty="0" smtClean="0"/>
              <a:t>CS267 – Berkeley’s Parallel Computing Course</a:t>
            </a:r>
          </a:p>
          <a:p>
            <a:pPr lvl="1"/>
            <a:r>
              <a:rPr lang="en-US" dirty="0" smtClean="0"/>
              <a:t>Live broadcast in Spring 2013</a:t>
            </a:r>
          </a:p>
          <a:p>
            <a:pPr lvl="2"/>
            <a:r>
              <a:rPr lang="en-US" dirty="0" smtClean="0">
                <a:hlinkClick r:id="rId2"/>
              </a:rPr>
              <a:t>www.cs.berkeley.edu/~demmel</a:t>
            </a:r>
            <a:endParaRPr lang="en-US" dirty="0" smtClean="0"/>
          </a:p>
          <a:p>
            <a:pPr lvl="2"/>
            <a:r>
              <a:rPr lang="en-US" dirty="0" smtClean="0"/>
              <a:t>All slides, video available from 2012</a:t>
            </a:r>
          </a:p>
          <a:p>
            <a:pPr lvl="1"/>
            <a:r>
              <a:rPr lang="en-US" dirty="0" smtClean="0"/>
              <a:t>Prerecorded version planned in Spring 2013</a:t>
            </a:r>
          </a:p>
          <a:p>
            <a:pPr lvl="2"/>
            <a:r>
              <a:rPr lang="en-US" dirty="0" smtClean="0">
                <a:hlinkClick r:id="rId3"/>
              </a:rPr>
              <a:t>www.xsede.org</a:t>
            </a:r>
            <a:endParaRPr lang="en-US" dirty="0"/>
          </a:p>
          <a:p>
            <a:pPr lvl="2"/>
            <a:r>
              <a:rPr lang="en-US" dirty="0" smtClean="0"/>
              <a:t>Free supercomputer accounts to do homework!</a:t>
            </a:r>
          </a:p>
          <a:p>
            <a:pPr lvl="2"/>
            <a:r>
              <a:rPr lang="en-US" dirty="0" smtClean="0"/>
              <a:t>Free </a:t>
            </a:r>
            <a:r>
              <a:rPr lang="en-US" dirty="0" err="1" smtClean="0"/>
              <a:t>autograding</a:t>
            </a:r>
            <a:r>
              <a:rPr lang="en-US" dirty="0"/>
              <a:t> </a:t>
            </a:r>
            <a:r>
              <a:rPr lang="en-US" dirty="0" smtClean="0"/>
              <a:t>of homework!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064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/>
          <p:cNvSpPr>
            <a:spLocks noGrp="1"/>
          </p:cNvSpPr>
          <p:nvPr>
            <p:ph type="title"/>
          </p:nvPr>
        </p:nvSpPr>
        <p:spPr>
          <a:xfrm>
            <a:off x="2133600" y="457200"/>
            <a:ext cx="4603750" cy="425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Calibri" charset="0"/>
                <a:ea typeface="ＭＳ Ｐゴシック" charset="0"/>
                <a:cs typeface="ＭＳ Ｐゴシック" charset="0"/>
              </a:rPr>
              <a:t>Summary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609600" y="3733800"/>
            <a:ext cx="8001000" cy="74453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3600" dirty="0" smtClean="0">
                <a:latin typeface="Calibri" charset="0"/>
                <a:ea typeface="ＭＳ Ｐゴシック" charset="0"/>
                <a:cs typeface="ＭＳ Ｐゴシック" charset="0"/>
              </a:rPr>
              <a:t>Don’t </a:t>
            </a:r>
            <a:r>
              <a:rPr lang="en-US" sz="3600" dirty="0" err="1">
                <a:latin typeface="Calibri" charset="0"/>
                <a:ea typeface="ＭＳ Ｐゴシック" charset="0"/>
                <a:cs typeface="ＭＳ Ｐゴシック" charset="0"/>
              </a:rPr>
              <a:t>Communic</a:t>
            </a:r>
            <a:r>
              <a:rPr lang="en-US" sz="3600" dirty="0">
                <a:latin typeface="Calibri" charset="0"/>
                <a:ea typeface="ＭＳ Ｐゴシック" charset="0"/>
                <a:cs typeface="ＭＳ Ｐゴシック" charset="0"/>
              </a:rPr>
              <a:t>…</a:t>
            </a:r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l" eaLnBrk="1" hangingPunct="1"/>
            <a:fld id="{4C04EDC3-CDC3-F74F-9074-1311483BFF13}" type="slidenum">
              <a:rPr lang="en-US" sz="1200">
                <a:solidFill>
                  <a:srgbClr val="898989"/>
                </a:solidFill>
              </a:rPr>
              <a:pPr algn="l" eaLnBrk="1" hangingPunct="1"/>
              <a:t>59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23909" name="Content Placeholder 2"/>
          <p:cNvSpPr txBox="1">
            <a:spLocks/>
          </p:cNvSpPr>
          <p:nvPr/>
        </p:nvSpPr>
        <p:spPr bwMode="auto">
          <a:xfrm>
            <a:off x="152400" y="1447800"/>
            <a:ext cx="8991600" cy="1676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spcBef>
                <a:spcPct val="15000"/>
              </a:spcBef>
              <a:buSzPct val="100000"/>
            </a:pPr>
            <a:r>
              <a:rPr lang="en-US" sz="3200" dirty="0"/>
              <a:t>Time to redesign all linear </a:t>
            </a:r>
            <a:r>
              <a:rPr lang="en-US" sz="3200" dirty="0" smtClean="0"/>
              <a:t>algebra, n-body, …  </a:t>
            </a:r>
            <a:endParaRPr lang="en-US" sz="3200" dirty="0"/>
          </a:p>
          <a:p>
            <a:pPr algn="ctr">
              <a:spcBef>
                <a:spcPct val="15000"/>
              </a:spcBef>
              <a:buSzPct val="100000"/>
            </a:pPr>
            <a:r>
              <a:rPr lang="en-US" sz="3200" dirty="0"/>
              <a:t>algorithms and </a:t>
            </a:r>
            <a:r>
              <a:rPr lang="en-US" sz="3200" dirty="0" smtClean="0"/>
              <a:t>software</a:t>
            </a:r>
          </a:p>
          <a:p>
            <a:pPr algn="ctr">
              <a:spcBef>
                <a:spcPct val="15000"/>
              </a:spcBef>
              <a:buSzPct val="100000"/>
            </a:pPr>
            <a:r>
              <a:rPr lang="en-US" sz="3200" dirty="0" smtClean="0"/>
              <a:t>(and compilers)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921153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44139</TotalTime>
  <Words>5750</Words>
  <Application>Microsoft Macintosh PowerPoint</Application>
  <PresentationFormat>On-screen Show (4:3)</PresentationFormat>
  <Paragraphs>852</Paragraphs>
  <Slides>59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Communication-Avoiding Algorithms</vt:lpstr>
      <vt:lpstr>Why avoid communication? (1/3)</vt:lpstr>
      <vt:lpstr>Why avoid communication? (2/3)</vt:lpstr>
      <vt:lpstr>Why Minimize Communication? (3/3)</vt:lpstr>
      <vt:lpstr>Why Minimize Communication? (3/3)</vt:lpstr>
      <vt:lpstr>Goals</vt:lpstr>
      <vt:lpstr>PowerPoint Presentation</vt:lpstr>
      <vt:lpstr>Outline</vt:lpstr>
      <vt:lpstr>Collaborators and Supporters</vt:lpstr>
      <vt:lpstr>Outline</vt:lpstr>
      <vt:lpstr>Summary of CA Linear Algebra</vt:lpstr>
      <vt:lpstr>Lower bound for all “n3-like” linear algebra</vt:lpstr>
      <vt:lpstr>Lower bound for all “n3-like” linear algebra</vt:lpstr>
      <vt:lpstr>Lower bound for all “n3-like” linear algebra</vt:lpstr>
      <vt:lpstr>Can we attain these lower bounds?</vt:lpstr>
      <vt:lpstr>Summary of dense parallel algorithms  attaining communication lower bounds</vt:lpstr>
      <vt:lpstr>Can we do better?</vt:lpstr>
      <vt:lpstr>Outline</vt:lpstr>
      <vt:lpstr>SUMMA– n x n matmul on P1/2 x P1/2 grid (nearly) optimal using minimum memory M=O(n2/P) </vt:lpstr>
      <vt:lpstr>2.5D Matrix Multiplication </vt:lpstr>
      <vt:lpstr>2.5D Matrix Multiplication </vt:lpstr>
      <vt:lpstr>2.5D Matmul on BG/P, 16K nodes / 64K cores</vt:lpstr>
      <vt:lpstr>2.5D Matmul on BG/P, 16K nodes / 64K cores</vt:lpstr>
      <vt:lpstr>Perfect Strong Scaling – in Time and Energy </vt:lpstr>
      <vt:lpstr>Ongoing Work</vt:lpstr>
      <vt:lpstr>Outline</vt:lpstr>
      <vt:lpstr>Communication Lower Bounds for Strassen-like matmul algorithms</vt:lpstr>
      <vt:lpstr>PowerPoint Presentation</vt:lpstr>
      <vt:lpstr>PowerPoint Presentation</vt:lpstr>
      <vt:lpstr>Outline</vt:lpstr>
      <vt:lpstr>Recall optimal sequential Matmul</vt:lpstr>
      <vt:lpstr>New Thm applied to Matmul</vt:lpstr>
      <vt:lpstr>New Thm applied to Direct N-Body</vt:lpstr>
      <vt:lpstr>N-Body Speedups on IBM-BG/P (Intrepid) 8K cores, 32K particles</vt:lpstr>
      <vt:lpstr>New Thm applied to Random Code</vt:lpstr>
      <vt:lpstr>Summary and Ongoing Work</vt:lpstr>
      <vt:lpstr>Outline</vt:lpstr>
      <vt:lpstr>Avoiding Communication in Iterative Linear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Minimizing Communication of GMRES to solve Ax=b</vt:lpstr>
      <vt:lpstr>PowerPoint Presentation</vt:lpstr>
      <vt:lpstr>Speed ups of GMRES on 8-core Intel Clovertown </vt:lpstr>
      <vt:lpstr>PowerPoint Presentation</vt:lpstr>
      <vt:lpstr>PowerPoint Presentation</vt:lpstr>
      <vt:lpstr>Summary of Iterative Linear Algebra</vt:lpstr>
      <vt:lpstr>For more details</vt:lpstr>
      <vt:lpstr>Summary</vt:lpstr>
    </vt:vector>
  </TitlesOfParts>
  <Company>EECS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Past, Present and Future of  High Performance  Linear Algebra Libraries</dc:title>
  <dc:creator>EECS</dc:creator>
  <cp:lastModifiedBy>James Demmel</cp:lastModifiedBy>
  <cp:revision>474</cp:revision>
  <cp:lastPrinted>2012-11-01T16:32:26Z</cp:lastPrinted>
  <dcterms:created xsi:type="dcterms:W3CDTF">2010-11-11T01:36:48Z</dcterms:created>
  <dcterms:modified xsi:type="dcterms:W3CDTF">2012-11-20T17:34:42Z</dcterms:modified>
</cp:coreProperties>
</file>