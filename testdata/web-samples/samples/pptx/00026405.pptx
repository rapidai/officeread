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08" r:id="rId2"/>
    <p:sldId id="282" r:id="rId3"/>
    <p:sldId id="283" r:id="rId4"/>
    <p:sldId id="285" r:id="rId5"/>
    <p:sldId id="306" r:id="rId6"/>
    <p:sldId id="307" r:id="rId7"/>
    <p:sldId id="286" r:id="rId8"/>
    <p:sldId id="287" r:id="rId9"/>
    <p:sldId id="304" r:id="rId10"/>
    <p:sldId id="305" r:id="rId11"/>
    <p:sldId id="322" r:id="rId12"/>
    <p:sldId id="291" r:id="rId13"/>
    <p:sldId id="311" r:id="rId14"/>
    <p:sldId id="312" r:id="rId15"/>
    <p:sldId id="309" r:id="rId16"/>
    <p:sldId id="277" r:id="rId17"/>
    <p:sldId id="274" r:id="rId18"/>
    <p:sldId id="275" r:id="rId19"/>
    <p:sldId id="321" r:id="rId20"/>
    <p:sldId id="276" r:id="rId21"/>
    <p:sldId id="261" r:id="rId22"/>
    <p:sldId id="278" r:id="rId23"/>
    <p:sldId id="294" r:id="rId24"/>
    <p:sldId id="295" r:id="rId25"/>
    <p:sldId id="298" r:id="rId26"/>
    <p:sldId id="281" r:id="rId27"/>
    <p:sldId id="296" r:id="rId28"/>
    <p:sldId id="299" r:id="rId29"/>
    <p:sldId id="300" r:id="rId30"/>
    <p:sldId id="301" r:id="rId31"/>
    <p:sldId id="302" r:id="rId32"/>
    <p:sldId id="32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1007" autoAdjust="0"/>
    <p:restoredTop sz="86571" autoAdjust="0"/>
  </p:normalViewPr>
  <p:slideViewPr>
    <p:cSldViewPr showGuides="1">
      <p:cViewPr>
        <p:scale>
          <a:sx n="66" d="100"/>
          <a:sy n="66" d="100"/>
        </p:scale>
        <p:origin x="-1398" y="-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C22FD-3F14-4580-A993-0961D7F0641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33A9-7C7D-4B98-8D61-25F1BAF6B50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F33A9-7C7D-4B98-8D61-25F1BAF6B50C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F33A9-7C7D-4B98-8D61-25F1BAF6B50C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F33A9-7C7D-4B98-8D61-25F1BAF6B50C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7248F-6C04-4079-A8F0-44C9179AE44C}" type="datetimeFigureOut">
              <a:rPr lang="en-GB" smtClean="0"/>
              <a:pPr/>
              <a:t>17/11/2011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7AFC8-2E0E-45CF-A5F6-C41A68BB366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Introduction</a:t>
            </a:r>
            <a:r>
              <a:rPr lang="en-GB" dirty="0" smtClean="0">
                <a:latin typeface="Corbel" pitchFamily="34" charset="0"/>
              </a:rPr>
              <a:t> to </a:t>
            </a:r>
            <a:r>
              <a:rPr lang="en-GB" dirty="0" err="1" smtClean="0">
                <a:latin typeface="Corbel" pitchFamily="34" charset="0"/>
              </a:rPr>
              <a:t>LuaTeX</a:t>
            </a:r>
            <a:endParaRPr lang="en-GB" dirty="0">
              <a:latin typeface="Corbe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What is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?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An extension of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pdfTeX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as an embedded scripting language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Incorporates a number of components:</a:t>
            </a:r>
          </a:p>
          <a:p>
            <a:pPr lvl="1"/>
            <a:r>
              <a:rPr lang="en-GB" dirty="0" err="1" smtClean="0">
                <a:latin typeface="Arial" pitchFamily="34" charset="0"/>
                <a:cs typeface="Arial" pitchFamily="34" charset="0"/>
              </a:rPr>
              <a:t>FontForge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font editor 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OpenType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font loading)</a:t>
            </a: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Aleph typesetting engine</a:t>
            </a: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METAPOST graphics engine</a:t>
            </a:r>
          </a:p>
          <a:p>
            <a:pPr lvl="1"/>
            <a:r>
              <a:rPr lang="en-GB" dirty="0" err="1" smtClean="0">
                <a:latin typeface="Arial" pitchFamily="34" charset="0"/>
                <a:cs typeface="Arial" pitchFamily="34" charset="0"/>
              </a:rPr>
              <a:t>Poppler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(PDF parsing library)</a:t>
            </a: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C libraries (PNG, ZIP support)</a:t>
            </a:r>
          </a:p>
          <a:p>
            <a:pPr lvl="0"/>
            <a:r>
              <a:rPr lang="en-GB" dirty="0" smtClean="0">
                <a:latin typeface="Arial" pitchFamily="34" charset="0"/>
                <a:cs typeface="Arial" pitchFamily="34" charset="0"/>
              </a:rPr>
              <a:t>Plus lots of custom C code to bind together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Some key features of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scripting language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Many more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internals now accessible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Access to fundamental structures: node lists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OpenType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font support (via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fontspec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luaotfload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Unicode UTF-8 text input/output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epdf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library (examining external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pdf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files)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OpenType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math fonts/typesetting 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Callback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functions: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calling your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Networking functionality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Can extend through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plugins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(.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dll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.so)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complex calculations in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not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pass data to/from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engine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“events” in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engine  call your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Replace some internal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functions with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 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Replace file-searching  routines with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Pre-process text for passing into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engine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Access to deepest typesetting structures: node lists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Build highly sophisticated PDFs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use external libraries for specialist 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The magic of 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{}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New primitive provided by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gateway to using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interface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Run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 embedded in your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document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or stored in external file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{} is expanded according to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rules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then code sent to the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interpreter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Watch out for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catcodes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!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http://wiki.luatex.org/index.php/Writing_Lua_in_TeX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Example of 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expansion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documentclass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[11pt,twoside]{article}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\begin{document}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\def\xx{Hello}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\def\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yy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{(}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\def\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zz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{)}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newcommand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helloTUG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}[1]{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	function Hello(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str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	 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tex.print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str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	end 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\xx\yy#1\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zz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}}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helloTUG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{"Hello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"}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\end{document}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141912" y="1600200"/>
            <a:ext cx="40386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sees \xx\yy#1\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zz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and expands it:</a:t>
            </a:r>
          </a:p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marL="536575" indent="0"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\xx </a:t>
            </a:r>
            <a:r>
              <a:rPr lang="en-GB" dirty="0" smtClean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Hello</a:t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yy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(</a:t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#1  </a:t>
            </a:r>
            <a:r>
              <a:rPr lang="en-GB" dirty="0" smtClean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“Hello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zz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)</a:t>
            </a:r>
          </a:p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marL="0" indent="0">
              <a:buNone/>
            </a:pP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sees  Hello(“Hello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”)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and executes</a:t>
            </a:r>
          </a:p>
          <a:p>
            <a:pPr>
              <a:buNone/>
            </a:pPr>
            <a:endParaRPr lang="en-GB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	function Hello(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str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 </a:t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	 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tex.print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str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 </a:t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end </a:t>
            </a: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calls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tex.print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(“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Hello”)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typesets some 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can connect to networks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luasocket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TCP/IP networking library is built into the executable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luasocket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features include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HTTP (e.g., web access)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SMTP (sending e-mails)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FTP (uploading and downloading files)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Pull files or data from a server via HTTP/FTP, make calls to databases, call to web services.</a:t>
            </a: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Making an HTTP call in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local ltn12 = require("ltn12")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local http = require("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socket.http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")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function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grabtext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httplink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local tab = {}</a:t>
            </a:r>
          </a:p>
          <a:p>
            <a:pPr>
              <a:buFont typeface="+mj-lt"/>
              <a:buAutoNum type="arabicPeriod"/>
              <a:tabLst>
                <a:tab pos="363538" algn="l"/>
              </a:tabLst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	local res =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http.request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{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url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=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httplink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, </a:t>
            </a:r>
          </a:p>
          <a:p>
            <a:pPr>
              <a:buFont typeface="+mj-lt"/>
              <a:buAutoNum type="arabicPeriod"/>
              <a:tabLst>
                <a:tab pos="363538" algn="l"/>
              </a:tabLst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 	sink = ltn12.sink.table(tab)}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return tab 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end</a:t>
            </a:r>
          </a:p>
          <a:p>
            <a:pPr>
              <a:buFont typeface="+mj-lt"/>
              <a:buAutoNum type="arabicPeriod"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local t =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grabtext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("http://your_url_here")</a:t>
            </a:r>
          </a:p>
          <a:p>
            <a:pPr>
              <a:buFont typeface="+mj-lt"/>
              <a:buAutoNum type="arabicPeriod"/>
            </a:pPr>
            <a:r>
              <a:rPr lang="en-GB" dirty="0" err="1" smtClean="0">
                <a:latin typeface="Arial" pitchFamily="34" charset="0"/>
                <a:cs typeface="Arial" pitchFamily="34" charset="0"/>
              </a:rPr>
              <a:t>tex.print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(t[1])</a:t>
            </a:r>
          </a:p>
          <a:p>
            <a:pPr>
              <a:buFont typeface="+mj-lt"/>
              <a:buAutoNum type="arabicPeriod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}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Load the networking modules 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luasocket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function to make an http request</a:t>
            </a:r>
            <a:br>
              <a:rPr lang="en-GB" dirty="0" smtClean="0">
                <a:latin typeface="Arial" pitchFamily="34" charset="0"/>
                <a:cs typeface="Arial" pitchFamily="34" charset="0"/>
              </a:rPr>
            </a:b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HTTP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request to download a text file</a:t>
            </a:r>
          </a:p>
          <a:p>
            <a:pPr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Typeset the downloaded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file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Using external C/C++ libraries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many open source C/C++ libraries and applications</a:t>
            </a:r>
          </a:p>
          <a:p>
            <a:pPr lvl="1"/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ImageMagick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GhostScript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FreeType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etc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specialist text processing (e.g., XML)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provide your own interface to these libraries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more control, better integration than shell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returns objects/data to use in your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control/feed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results to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Loading a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C library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Content Placeholder 5"/>
          <p:cNvSpPr>
            <a:spLocks noGrp="1"/>
          </p:cNvSpPr>
          <p:nvPr>
            <p:ph idx="1"/>
          </p:nvPr>
        </p:nvSpPr>
        <p:spPr>
          <a:xfrm>
            <a:off x="61156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From version 0.46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supports the loading of external C libraries (Woo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Hoo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!!!) 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dll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(Windows) or .so (Linux etc)</a:t>
            </a: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standard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rules for loading C libraries apply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Need to tell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) where to locate your C library)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need a line in your texmf.cnf </a:t>
            </a:r>
          </a:p>
          <a:p>
            <a:pPr lvl="1"/>
            <a:r>
              <a:rPr lang="en-GB" dirty="0" smtClean="0">
                <a:latin typeface="Arial" pitchFamily="34" charset="0"/>
                <a:cs typeface="Arial" pitchFamily="34" charset="0"/>
              </a:rPr>
              <a:t>the setting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for this variable is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CLUAINPUTS</a:t>
            </a:r>
          </a:p>
          <a:p>
            <a:pPr lvl="1">
              <a:buNone/>
            </a:pP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CLUAINPUTS=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your_path_to_DLLs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Loading a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C library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618856" cy="44930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{...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local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obj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=require(“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mymodule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")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-- access functions/objects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-- send data to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925888" y="1600200"/>
            <a:ext cx="4038600" cy="4525963"/>
          </a:xfrm>
        </p:spPr>
        <p:txBody>
          <a:bodyPr>
            <a:normAutofit/>
          </a:bodyPr>
          <a:lstStyle/>
          <a:p>
            <a:pPr marL="514350" indent="-514350"/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eventually looks for a .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dll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/.so file</a:t>
            </a:r>
          </a:p>
          <a:p>
            <a:pPr marL="514350" indent="-514350"/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514350" indent="-514350"/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en-GB" sz="2400" dirty="0" smtClean="0">
                <a:latin typeface="Arial" pitchFamily="34" charset="0"/>
                <a:cs typeface="Arial" pitchFamily="34" charset="0"/>
              </a:rPr>
              <a:t>if found,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loads the .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dll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/.so</a:t>
            </a:r>
          </a:p>
          <a:p>
            <a:pPr marL="514350" indent="-514350"/>
            <a:r>
              <a:rPr lang="en-GB" sz="2400" dirty="0" smtClean="0">
                <a:latin typeface="Arial" pitchFamily="34" charset="0"/>
                <a:cs typeface="Arial" pitchFamily="34" charset="0"/>
              </a:rPr>
              <a:t>makes objects/functions available to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code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4572000" y="2721114"/>
            <a:ext cx="3312368" cy="707886"/>
            <a:chOff x="4355976" y="2635171"/>
            <a:chExt cx="3312368" cy="707886"/>
          </a:xfrm>
        </p:grpSpPr>
        <p:sp>
          <p:nvSpPr>
            <p:cNvPr id="9" name="Rectangle 8"/>
            <p:cNvSpPr/>
            <p:nvPr/>
          </p:nvSpPr>
          <p:spPr>
            <a:xfrm>
              <a:off x="5796136" y="2635171"/>
              <a:ext cx="1872208" cy="4337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68144" y="2635171"/>
              <a:ext cx="16561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mymodule.dll</a:t>
              </a:r>
              <a:endParaRPr lang="en-GB" sz="20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355976" y="2708920"/>
              <a:ext cx="1440160" cy="34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4355976" y="2852936"/>
              <a:ext cx="1440160" cy="34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Wonderful world of nodes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Nodes are the internal representation of typeset material sitting in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TeX’s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memory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Many types of node including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glyphs, glue, penalties, kerns,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whatsits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Joined together in a linked list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often deeply nested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Extensive features for manipulating node lists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 process node lists through recursion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Wonderful world of nodes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Content Placeholder 11" descr="nod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1844824"/>
            <a:ext cx="8229600" cy="3208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46856" y="5085184"/>
            <a:ext cx="8229600" cy="1512168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Processing node lists offers powerful document processing solutions</a:t>
            </a:r>
          </a:p>
        </p:txBody>
      </p:sp>
      <p:sp>
        <p:nvSpPr>
          <p:cNvPr id="12" name="Content Placeholder 9"/>
          <p:cNvSpPr txBox="1">
            <a:spLocks/>
          </p:cNvSpPr>
          <p:nvPr/>
        </p:nvSpPr>
        <p:spPr>
          <a:xfrm>
            <a:off x="446856" y="126876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Graphica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 representation of a node list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nodezz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3568" y="4437112"/>
            <a:ext cx="6050794" cy="2133334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Example: from nodes to PostScript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46856" y="3861048"/>
            <a:ext cx="8229600" cy="1512168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Same paragraph output by walking the node list and exporting PostScript code</a:t>
            </a: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Content Placeholder 9"/>
          <p:cNvSpPr txBox="1">
            <a:spLocks/>
          </p:cNvSpPr>
          <p:nvPr/>
        </p:nvSpPr>
        <p:spPr>
          <a:xfrm>
            <a:off x="446856" y="1268760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Paragraph as typeset by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nodezza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6152" y="1833484"/>
            <a:ext cx="6038096" cy="1955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Building a minimal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installation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Why create your own installation?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Through the process of "rolling your own setup" you can learn a lot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Build a minimal environment for testing and development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fewer unknowns/dependencies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want a non-standard installation on server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you want to stay “bleeding edge” with latest updates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packages undergoing rapid development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Expand as your experience grows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Steps to creating a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installation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Obtain a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executable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Appreciate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kpathsea’s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role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Set up a directory structure (TDS)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Install fonts, and other required files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Create a minimal texmf.cnf file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Hook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into your computer environment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Build formats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Ready to go!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Obtaining a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executable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Download binary releases via luatex.org.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Build it yourself from source code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some initial setup (especially Windows)</a:t>
            </a:r>
          </a:p>
        </p:txBody>
      </p:sp>
      <p:pic>
        <p:nvPicPr>
          <p:cNvPr id="4" name="Picture 3" descr="downloa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3768" y="2190904"/>
            <a:ext cx="3225397" cy="2476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Building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from source code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download a copy of the code repository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using SVN (Apache Subversion) client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Windows: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TortoiseSVN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is excellent SVN tool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building on Windows needs additional tools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MSYS (Minimal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SYStem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2"/>
            <a:r>
              <a:rPr lang="en-GB" dirty="0" smtClean="0">
                <a:latin typeface="Arial" pitchFamily="34" charset="0"/>
                <a:cs typeface="Arial" pitchFamily="34" charset="0"/>
              </a:rPr>
              <a:t>a Bourne Shell command line interpreter</a:t>
            </a:r>
          </a:p>
          <a:p>
            <a:pPr lvl="1"/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MinGW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(Minimalist GNU for Windows)</a:t>
            </a:r>
          </a:p>
          <a:p>
            <a:pPr lvl="2"/>
            <a:r>
              <a:rPr lang="en-GB" dirty="0" smtClean="0">
                <a:latin typeface="Arial" pitchFamily="34" charset="0"/>
                <a:cs typeface="Arial" pitchFamily="34" charset="0"/>
              </a:rPr>
              <a:t>a minimalist development environment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compile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using “build.sh” provided</a:t>
            </a: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err="1" smtClean="0">
                <a:latin typeface="Corbel" pitchFamily="34" charset="0"/>
              </a:rPr>
              <a:t>kpathsea</a:t>
            </a:r>
            <a:r>
              <a:rPr lang="en-GB" dirty="0" smtClean="0">
                <a:latin typeface="Corbel" pitchFamily="34" charset="0"/>
              </a:rPr>
              <a:t>: an introduction</a:t>
            </a:r>
            <a:endParaRPr lang="en-GB" dirty="0">
              <a:latin typeface="Corbe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is a C library for applications to locate files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“return a filename from a list of directories specified by the user”  (texmf.cnf)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locates the files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is looking for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 fonts, graphics, style files, format files etc 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included within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binary, or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a separate compiled library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inimaltexmf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13941"/>
            <a:ext cx="3024336" cy="603011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83768" y="274638"/>
            <a:ext cx="6203032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Set up the directory structure (TDS)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483768" y="1600200"/>
            <a:ext cx="6203032" cy="4853136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This is a minimal “plain”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setup</a:t>
            </a:r>
          </a:p>
          <a:p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requires many different files to process a document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Need to organise them into a manageable directory structure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Could create your own, but preferable to follow best practice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Use the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Directory Structure (TDS)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Even if you are building an experimental installation of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You’ll be glad you followed the rules!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inimaltexmf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13941"/>
            <a:ext cx="3024336" cy="60301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776" y="274638"/>
            <a:ext cx="6131024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Installing fonts, and other files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816" y="2852937"/>
            <a:ext cx="5770984" cy="1584176"/>
          </a:xfrm>
        </p:spPr>
        <p:txBody>
          <a:bodyPr>
            <a:norm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But where do you get the files you need...?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Live 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Content Placeholder 3" descr="texliv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8152" y="1340768"/>
            <a:ext cx="5115976" cy="481174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Corbel" pitchFamily="34" charset="0"/>
              </a:rPr>
              <a:t>Piecing it all together</a:t>
            </a:r>
            <a:endParaRPr lang="en-GB" dirty="0">
              <a:latin typeface="Corbe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At this point you have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 a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executable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directory structure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a lot of files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Is that all you need to do?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No, provide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with a starting point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set the TEXMFCNF environment variable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location of the vital texmf.cnf file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Also set up your computer’s PATH variable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Set environment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variables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TEXMFCNF=&lt;path to texmf.cnf&gt;</a:t>
            </a: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Enable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debugging environment variables: 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KPATHSEA_DEBUG_OUTPUT=/home/graham/kspsluatex.log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KPATHSEA_DEBUG=-1</a:t>
            </a:r>
          </a:p>
          <a:p>
            <a:pPr lvl="2"/>
            <a:r>
              <a:rPr lang="en-GB" dirty="0" smtClean="0">
                <a:latin typeface="Arial" pitchFamily="34" charset="0"/>
                <a:cs typeface="Arial" pitchFamily="34" charset="0"/>
              </a:rPr>
              <a:t>value of -1 logs everything!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3848" y="274638"/>
            <a:ext cx="5482952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Minimal texmf.cnf for plain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TeX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856" y="1600200"/>
            <a:ext cx="561662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TEXMF=/home/graham/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texmf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WEB2C=$TEXMF/web2c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TEXINPUTS = .;$TEXMF/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//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TEXFONTMAPS = $TEXMF/fonts/map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TEXFORMATS=$TEXMF/web2c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TFMFONTS = $TEXMF/fonts/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tfm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//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T1FONTS = $TEXMF/fonts/type1//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ENCFONTS = $TEXMF/fonts/enc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minimaltexmf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13941"/>
            <a:ext cx="3024336" cy="60301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Other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kpathsea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goodies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It sets some useful environment variables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defining paths of the executable: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 SELFAUTOLOC </a:t>
            </a:r>
            <a:r>
              <a:rPr lang="en-GB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location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SELFAUTODIR </a:t>
            </a:r>
            <a:r>
              <a:rPr lang="en-GB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parent  directory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SELFAUTOPARENT </a:t>
            </a:r>
            <a:r>
              <a:rPr lang="en-GB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grandparent  directory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to find these values</a:t>
            </a:r>
          </a:p>
          <a:p>
            <a:pPr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    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{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tex.print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os.getenv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("SELFAUTOLOC")) }</a:t>
            </a: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Building formats for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 smtClean="0">
                <a:latin typeface="Arial" pitchFamily="34" charset="0"/>
                <a:cs typeface="Arial" pitchFamily="34" charset="0"/>
              </a:rPr>
              <a:t>A format file is a compiled macro package</a:t>
            </a:r>
          </a:p>
          <a:p>
            <a:pPr lvl="1"/>
            <a:r>
              <a:rPr lang="en-GB" sz="2600" dirty="0" smtClean="0">
                <a:latin typeface="Arial" pitchFamily="34" charset="0"/>
                <a:cs typeface="Arial" pitchFamily="34" charset="0"/>
              </a:rPr>
              <a:t>fast loading of macro packages</a:t>
            </a:r>
          </a:p>
          <a:p>
            <a:pPr lvl="1"/>
            <a:r>
              <a:rPr lang="en-GB" sz="2600" dirty="0" err="1" smtClean="0">
                <a:latin typeface="Arial" pitchFamily="34" charset="0"/>
                <a:cs typeface="Arial" pitchFamily="34" charset="0"/>
              </a:rPr>
              <a:t>TeX’s</a:t>
            </a:r>
            <a:r>
              <a:rPr lang="en-GB" sz="2600" dirty="0" smtClean="0">
                <a:latin typeface="Arial" pitchFamily="34" charset="0"/>
                <a:cs typeface="Arial" pitchFamily="34" charset="0"/>
              </a:rPr>
              <a:t> “binary brain dump”</a:t>
            </a:r>
          </a:p>
          <a:p>
            <a:pPr lvl="1"/>
            <a:endParaRPr lang="en-GB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600" dirty="0" smtClean="0">
                <a:latin typeface="Arial" pitchFamily="34" charset="0"/>
                <a:cs typeface="Arial" pitchFamily="34" charset="0"/>
              </a:rPr>
              <a:t>Created by putting </a:t>
            </a:r>
            <a:r>
              <a:rPr lang="en-GB" sz="26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600" dirty="0" smtClean="0">
                <a:latin typeface="Arial" pitchFamily="34" charset="0"/>
                <a:cs typeface="Arial" pitchFamily="34" charset="0"/>
              </a:rPr>
              <a:t> into a special “mode”</a:t>
            </a:r>
          </a:p>
          <a:p>
            <a:pPr lvl="1"/>
            <a:r>
              <a:rPr lang="en-GB" sz="2600" dirty="0" smtClean="0">
                <a:latin typeface="Arial" pitchFamily="34" charset="0"/>
                <a:cs typeface="Arial" pitchFamily="34" charset="0"/>
              </a:rPr>
              <a:t>via the command line</a:t>
            </a:r>
          </a:p>
          <a:p>
            <a:pPr lvl="1"/>
            <a:endParaRPr lang="en-GB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600" dirty="0" smtClean="0">
                <a:latin typeface="Arial" pitchFamily="34" charset="0"/>
                <a:cs typeface="Arial" pitchFamily="34" charset="0"/>
              </a:rPr>
              <a:t>Once built, re-use for processing your .</a:t>
            </a:r>
            <a:r>
              <a:rPr lang="en-GB" sz="2600" dirty="0" err="1" smtClean="0">
                <a:latin typeface="Arial" pitchFamily="34" charset="0"/>
                <a:cs typeface="Arial" pitchFamily="34" charset="0"/>
              </a:rPr>
              <a:t>tex</a:t>
            </a:r>
            <a:r>
              <a:rPr lang="en-GB" sz="2600" dirty="0" smtClean="0">
                <a:latin typeface="Arial" pitchFamily="34" charset="0"/>
                <a:cs typeface="Arial" pitchFamily="34" charset="0"/>
              </a:rPr>
              <a:t> files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Defining your format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Create a small file to pull in everything required to build the format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also can set defaults/options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I called mine “luaplain.ini”</a:t>
            </a:r>
          </a:p>
          <a:p>
            <a:pPr marL="0" indent="0"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	\input plain</a:t>
            </a:r>
          </a:p>
          <a:p>
            <a:pPr marL="0" indent="0"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	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{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tex.enableprimitives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('', 	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tex.extraprimitives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())} </a:t>
            </a:r>
          </a:p>
          <a:p>
            <a:pPr marL="0" indent="0"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	\dump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Enabling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LuaTeX’s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extra commands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raw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executable understands a limited set of commands</a:t>
            </a: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TeX82 primitives plus 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{...} 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“switch on” the other primitives</a:t>
            </a:r>
          </a:p>
          <a:p>
            <a:pPr marL="363538" indent="-363538"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	\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directlua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{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tex.enableprimitives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('',  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tex.extraprimitives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())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Details in the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Reference Manual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And finally...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799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Place luaplain.ini where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can find it</a:t>
            </a:r>
          </a:p>
          <a:p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3000" dirty="0" smtClean="0">
                <a:latin typeface="Arial" pitchFamily="34" charset="0"/>
                <a:cs typeface="Arial" pitchFamily="34" charset="0"/>
              </a:rPr>
              <a:t>Run the command line “</a:t>
            </a:r>
            <a:r>
              <a:rPr lang="en-GB" sz="3000" dirty="0" err="1" smtClean="0">
                <a:latin typeface="Arial" pitchFamily="34" charset="0"/>
                <a:cs typeface="Arial" pitchFamily="34" charset="0"/>
              </a:rPr>
              <a:t>luatex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–</a:t>
            </a:r>
            <a:r>
              <a:rPr lang="en-GB" sz="3000" dirty="0" err="1" smtClean="0">
                <a:latin typeface="Arial" pitchFamily="34" charset="0"/>
                <a:cs typeface="Arial" pitchFamily="34" charset="0"/>
              </a:rPr>
              <a:t>ini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luaplain.ini”</a:t>
            </a:r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GB" sz="2400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his creates luaplain.fmt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move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luaplain.fmt to web2c</a:t>
            </a: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luaplai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2204864"/>
            <a:ext cx="5277978" cy="252028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187624" y="2564904"/>
            <a:ext cx="7272808" cy="1440160"/>
            <a:chOff x="1187624" y="2420888"/>
            <a:chExt cx="7272808" cy="1440160"/>
          </a:xfrm>
        </p:grpSpPr>
        <p:sp>
          <p:nvSpPr>
            <p:cNvPr id="6" name="Rounded Rectangle 5"/>
            <p:cNvSpPr/>
            <p:nvPr/>
          </p:nvSpPr>
          <p:spPr>
            <a:xfrm>
              <a:off x="1187624" y="3429000"/>
              <a:ext cx="5112568" cy="43204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327576" y="2420888"/>
              <a:ext cx="31328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Create a folder for your format in  the TDS tree</a:t>
              </a:r>
              <a:endParaRPr lang="en-GB" sz="20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2627784" y="2852936"/>
              <a:ext cx="2664296" cy="7920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pPr algn="l"/>
            <a:r>
              <a:rPr lang="en-GB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really finally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...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799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Use your format file luaplain.fmt to run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luatex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3000" dirty="0" err="1" smtClean="0">
                <a:latin typeface="Courier New" pitchFamily="49" charset="0"/>
                <a:cs typeface="Courier New" pitchFamily="49" charset="0"/>
              </a:rPr>
              <a:t>luatex</a:t>
            </a:r>
            <a:r>
              <a:rPr lang="en-GB" sz="3000" dirty="0" smtClean="0">
                <a:latin typeface="Courier New" pitchFamily="49" charset="0"/>
                <a:cs typeface="Courier New" pitchFamily="49" charset="0"/>
              </a:rPr>
              <a:t> --</a:t>
            </a:r>
            <a:r>
              <a:rPr lang="en-GB" sz="3000" dirty="0" err="1" smtClean="0">
                <a:latin typeface="Courier New" pitchFamily="49" charset="0"/>
                <a:cs typeface="Courier New" pitchFamily="49" charset="0"/>
              </a:rPr>
              <a:t>fmt</a:t>
            </a:r>
            <a:r>
              <a:rPr lang="en-GB" sz="30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GB" sz="3000" dirty="0" err="1" smtClean="0">
                <a:latin typeface="Courier New" pitchFamily="49" charset="0"/>
                <a:cs typeface="Courier New" pitchFamily="49" charset="0"/>
              </a:rPr>
              <a:t>luaplain</a:t>
            </a:r>
            <a:r>
              <a:rPr lang="en-GB" sz="3000" dirty="0" smtClean="0">
                <a:latin typeface="Courier New" pitchFamily="49" charset="0"/>
                <a:cs typeface="Courier New" pitchFamily="49" charset="0"/>
              </a:rPr>
              <a:t> myfile.tex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6485</TotalTime>
  <Words>1313</Words>
  <Application>Microsoft Office PowerPoint</Application>
  <PresentationFormat>On-screen Show (4:3)</PresentationFormat>
  <Paragraphs>279</Paragraphs>
  <Slides>32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Introduction to LuaTeX</vt:lpstr>
      <vt:lpstr>What is LuaTeX?</vt:lpstr>
      <vt:lpstr>Some key features of LuaTeX</vt:lpstr>
      <vt:lpstr>The Lua in LuaTeX</vt:lpstr>
      <vt:lpstr>The magic of \directlua {}</vt:lpstr>
      <vt:lpstr>Example of \directlua expansion</vt:lpstr>
      <vt:lpstr>LuaTeX can connect to networks</vt:lpstr>
      <vt:lpstr>Making an HTTP call in LuaTeX</vt:lpstr>
      <vt:lpstr>Using external C/C++ libraries</vt:lpstr>
      <vt:lpstr>Loading a C library with Lua</vt:lpstr>
      <vt:lpstr>Loading a C library with Lua</vt:lpstr>
      <vt:lpstr>Wonderful world of nodes</vt:lpstr>
      <vt:lpstr>Wonderful world of nodes</vt:lpstr>
      <vt:lpstr>Example: from nodes to PostScript</vt:lpstr>
      <vt:lpstr>Building a minimal LuaTeX installation</vt:lpstr>
      <vt:lpstr>Why create your own installation?</vt:lpstr>
      <vt:lpstr>Steps to creating a LuaTeX installation</vt:lpstr>
      <vt:lpstr>Obtaining a LuaTeX executable</vt:lpstr>
      <vt:lpstr>Building LuaTeX from source code</vt:lpstr>
      <vt:lpstr>kpathsea: an introduction</vt:lpstr>
      <vt:lpstr>Set up the directory structure (TDS)</vt:lpstr>
      <vt:lpstr>Installing fonts, and other files required</vt:lpstr>
      <vt:lpstr>From TeX Live </vt:lpstr>
      <vt:lpstr>Piecing it all together</vt:lpstr>
      <vt:lpstr>Set environment variables</vt:lpstr>
      <vt:lpstr>Minimal texmf.cnf for plain TeX</vt:lpstr>
      <vt:lpstr>Other kpathsea goodies</vt:lpstr>
      <vt:lpstr>Building formats for LuaTeX</vt:lpstr>
      <vt:lpstr>Defining your format</vt:lpstr>
      <vt:lpstr>Enabling LuaTeX’s extra commands</vt:lpstr>
      <vt:lpstr>And finally...</vt:lpstr>
      <vt:lpstr>And really finally...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443</cp:revision>
  <dcterms:created xsi:type="dcterms:W3CDTF">2011-09-24T11:35:05Z</dcterms:created>
  <dcterms:modified xsi:type="dcterms:W3CDTF">2011-11-17T13:14:55Z</dcterms:modified>
</cp:coreProperties>
</file>