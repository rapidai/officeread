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272" r:id="rId4"/>
    <p:sldId id="273" r:id="rId5"/>
    <p:sldId id="274" r:id="rId6"/>
    <p:sldId id="275" r:id="rId7"/>
    <p:sldId id="277" r:id="rId8"/>
    <p:sldId id="278" r:id="rId9"/>
    <p:sldId id="279" r:id="rId10"/>
    <p:sldId id="280" r:id="rId11"/>
    <p:sldId id="270" r:id="rId12"/>
    <p:sldId id="282" r:id="rId13"/>
    <p:sldId id="264" r:id="rId14"/>
    <p:sldId id="258" r:id="rId15"/>
    <p:sldId id="259" r:id="rId16"/>
    <p:sldId id="283" r:id="rId17"/>
    <p:sldId id="260" r:id="rId18"/>
    <p:sldId id="263" r:id="rId19"/>
    <p:sldId id="266" r:id="rId20"/>
    <p:sldId id="267" r:id="rId21"/>
    <p:sldId id="268" r:id="rId22"/>
    <p:sldId id="265" r:id="rId23"/>
    <p:sldId id="28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315BA-62A1-43F4-BD94-01B37B5A7F28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DF73-C2E7-489C-B520-59D29E8B4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7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D20CA65-F47F-47ED-AE63-D2C42CAC0770}" type="slidenum">
              <a:rPr lang="en-US" sz="1200" smtClean="0"/>
              <a:pPr eaLnBrk="1" hangingPunct="1"/>
              <a:t>2</a:t>
            </a:fld>
            <a:endParaRPr lang="en-US" sz="1200" smtClean="0"/>
          </a:p>
        </p:txBody>
      </p:sp>
      <p:sp>
        <p:nvSpPr>
          <p:cNvPr id="265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5E650F5-20DF-42E4-B4FC-7EC3E55009E5}" type="slidenum">
              <a:rPr lang="en-US" sz="1200" smtClean="0"/>
              <a:pPr eaLnBrk="1" hangingPunct="1"/>
              <a:t>3</a:t>
            </a:fld>
            <a:endParaRPr lang="en-US" sz="1200" smtClean="0"/>
          </a:p>
        </p:txBody>
      </p:sp>
      <p:sp>
        <p:nvSpPr>
          <p:cNvPr id="261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FE78F11-30B0-4FA7-AD82-8463230A616B}" type="slidenum">
              <a:rPr lang="en-US" sz="1200" smtClean="0"/>
              <a:pPr eaLnBrk="1" hangingPunct="1"/>
              <a:t>4</a:t>
            </a:fld>
            <a:endParaRPr lang="en-US" sz="1200" smtClean="0"/>
          </a:p>
        </p:txBody>
      </p:sp>
      <p:sp>
        <p:nvSpPr>
          <p:cNvPr id="262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A4931FD-20F9-47C8-9CA5-AAE6184EF684}" type="slidenum">
              <a:rPr lang="en-US" sz="1200" smtClean="0"/>
              <a:pPr eaLnBrk="1" hangingPunct="1"/>
              <a:t>5</a:t>
            </a:fld>
            <a:endParaRPr lang="en-US" sz="1200" smtClean="0"/>
          </a:p>
        </p:txBody>
      </p:sp>
      <p:sp>
        <p:nvSpPr>
          <p:cNvPr id="263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C7909F4-CF60-4B60-887F-F2020B3DC7DE}" type="slidenum">
              <a:rPr lang="en-US" sz="1200" smtClean="0"/>
              <a:pPr eaLnBrk="1" hangingPunct="1"/>
              <a:t>6</a:t>
            </a:fld>
            <a:endParaRPr lang="en-US" sz="1200" smtClean="0"/>
          </a:p>
        </p:txBody>
      </p:sp>
      <p:sp>
        <p:nvSpPr>
          <p:cNvPr id="264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794548C-CCF1-40E5-869D-2F37786B08EE}" type="slidenum">
              <a:rPr lang="en-US" sz="1200" smtClean="0"/>
              <a:pPr eaLnBrk="1" hangingPunct="1"/>
              <a:t>7</a:t>
            </a:fld>
            <a:endParaRPr lang="en-US" sz="1200" smtClean="0"/>
          </a:p>
        </p:txBody>
      </p:sp>
      <p:sp>
        <p:nvSpPr>
          <p:cNvPr id="266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6971C7E-8A58-4359-80B4-09767A4533BF}" type="slidenum">
              <a:rPr lang="en-US" sz="1200" smtClean="0"/>
              <a:pPr eaLnBrk="1" hangingPunct="1"/>
              <a:t>8</a:t>
            </a:fld>
            <a:endParaRPr lang="en-US" sz="1200" smtClean="0"/>
          </a:p>
        </p:txBody>
      </p:sp>
      <p:sp>
        <p:nvSpPr>
          <p:cNvPr id="267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0750565-052D-4217-973C-EB5A79C8D246}" type="slidenum">
              <a:rPr lang="en-US" sz="1200" smtClean="0"/>
              <a:pPr eaLnBrk="1" hangingPunct="1"/>
              <a:t>9</a:t>
            </a:fld>
            <a:endParaRPr lang="en-US" sz="1200" smtClean="0"/>
          </a:p>
        </p:txBody>
      </p:sp>
      <p:sp>
        <p:nvSpPr>
          <p:cNvPr id="268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1427" tIns="45713" rIns="91427" bIns="45713"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46B1212-4FA8-4680-984E-B9BF382C16F0}" type="slidenum">
              <a:rPr lang="en-US" sz="1200" smtClean="0"/>
              <a:pPr eaLnBrk="1" hangingPunct="1"/>
              <a:t>10</a:t>
            </a:fld>
            <a:endParaRPr lang="en-US" sz="1200" smtClean="0"/>
          </a:p>
        </p:txBody>
      </p:sp>
      <p:sp>
        <p:nvSpPr>
          <p:cNvPr id="269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2EB5833-BC80-4503-AD94-0F4D5ED6059C}" type="slidenum">
              <a:rPr lang="en-US" sz="1200" smtClean="0"/>
              <a:pPr eaLnBrk="1" hangingPunct="1"/>
              <a:t>19</a:t>
            </a:fld>
            <a:endParaRPr lang="en-US" sz="1200" smtClean="0"/>
          </a:p>
        </p:txBody>
      </p:sp>
      <p:sp>
        <p:nvSpPr>
          <p:cNvPr id="1689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E23542B-015B-458F-AA66-F1A23038E410}" type="slidenum">
              <a:rPr lang="en-US" sz="1200" smtClean="0"/>
              <a:pPr eaLnBrk="1" hangingPunct="1"/>
              <a:t>20</a:t>
            </a:fld>
            <a:endParaRPr lang="en-US" sz="1200" smtClean="0"/>
          </a:p>
        </p:txBody>
      </p:sp>
      <p:sp>
        <p:nvSpPr>
          <p:cNvPr id="1699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F58A28B-718E-4729-89DF-8043C12A6F9F}" type="slidenum">
              <a:rPr lang="en-US" sz="1200" smtClean="0"/>
              <a:pPr eaLnBrk="1" hangingPunct="1"/>
              <a:t>21</a:t>
            </a:fld>
            <a:endParaRPr lang="en-US" sz="1200" smtClean="0"/>
          </a:p>
        </p:txBody>
      </p:sp>
      <p:sp>
        <p:nvSpPr>
          <p:cNvPr id="1710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1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7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5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6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1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7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1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7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5DE52-E96C-4635-A29E-602B79D967AF}" type="datetimeFigureOut">
              <a:rPr lang="en-US" smtClean="0"/>
              <a:t>3/6/2012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F1309-A71F-412A-8368-EFA2AC5ED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6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ba.mit.edu/media/logo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notesSlide" Target="../notesSlides/notesSlide1.xml"/><Relationship Id="rId7" Type="http://schemas.openxmlformats.org/officeDocument/2006/relationships/hyperlink" Target="http://cba.mit.edu/media/logos/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.jpeg"/><Relationship Id="rId5" Type="http://schemas.openxmlformats.org/officeDocument/2006/relationships/image" Target="../media/image15.jpeg"/><Relationship Id="rId10" Type="http://schemas.openxmlformats.org/officeDocument/2006/relationships/hyperlink" Target="http://cba.mit.edu/media/logos/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jpeg"/><Relationship Id="rId4" Type="http://schemas.openxmlformats.org/officeDocument/2006/relationships/hyperlink" Target="http://cba.mit.edu/media/logos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png"/><Relationship Id="rId11" Type="http://schemas.openxmlformats.org/officeDocument/2006/relationships/image" Target="../media/image5.jpe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.jpeg"/><Relationship Id="rId4" Type="http://schemas.openxmlformats.org/officeDocument/2006/relationships/image" Target="../media/image20.jpeg"/><Relationship Id="rId9" Type="http://schemas.openxmlformats.org/officeDocument/2006/relationships/hyperlink" Target="http://cba.mit.edu/media/logo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newobjective.com/electrospray/" TargetMode="External"/><Relationship Id="rId4" Type="http://schemas.openxmlformats.org/officeDocument/2006/relationships/hyperlink" Target="http://www.waters.com/waters/nav.htm?cid=10073251&amp;locale=en_U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www.youtube.com/watch?v=x9sE0cisM58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iwishihadthis.com/2008/ja-henckels-twin-cuisine-20-piece-block-set/" TargetMode="Externa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lZgRfXXeDwM" TargetMode="External"/><Relationship Id="rId7" Type="http://schemas.openxmlformats.org/officeDocument/2006/relationships/image" Target="../media/image35.png"/><Relationship Id="rId2" Type="http://schemas.openxmlformats.org/officeDocument/2006/relationships/hyperlink" Target="http://www.youtube.com/watch?v=YQIMGV5vtd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hyperlink" Target="http://www.youtube.com/watch?v=W18Z3UnnS_0" TargetMode="Externa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://www.youtube.com/watch?v=qBUFX41e1mc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hyperlink" Target="http://micro.seas.harvard.edu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gq3rkMHCwnE" TargetMode="External"/><Relationship Id="rId2" Type="http://schemas.openxmlformats.org/officeDocument/2006/relationships/hyperlink" Target="http://www.youtube.com/watch?v=rTcp2UkgvS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jpeg"/><Relationship Id="rId4" Type="http://schemas.openxmlformats.org/officeDocument/2006/relationships/hyperlink" Target="http://www.youtube.com/watch?v=4oSavAHf0dg&amp;NR=1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../../../Presentations/Saul/mechrep_cd.mov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hyperlink" Target="http://www.youtube.com/watch?v=LumLzSQE5Vw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../../../Presentations/Saul/penrose2.mov" TargetMode="External"/><Relationship Id="rId5" Type="http://schemas.openxmlformats.org/officeDocument/2006/relationships/image" Target="../media/image41.png"/><Relationship Id="rId4" Type="http://schemas.openxmlformats.org/officeDocument/2006/relationships/hyperlink" Target="http://www.youtube.com/watch?v=7rwXiVb2QEk" TargetMode="External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4.png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5.png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mitpressjournals.org/doi/pdf/10.1162/artl_a_00056" TargetMode="Externa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DrawingHands.jpg" TargetMode="Externa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nanofac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396770"/>
            <a:ext cx="4953000" cy="430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7" descr="0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5" y="79621"/>
            <a:ext cx="2394255" cy="529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s://encrypted-tbn1.google.com/images?q=tbn:ANd9GcTn9JBXSjgqvLsu37efSBrG-OLgawGuS9yPqfUw4BYfDTxkH78n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2"/>
          <a:stretch/>
        </p:blipFill>
        <p:spPr bwMode="auto">
          <a:xfrm>
            <a:off x="6705600" y="-1"/>
            <a:ext cx="2438400" cy="115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15975"/>
            <a:ext cx="9144000" cy="1470025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Self Replicating Mechanical </a:t>
            </a:r>
            <a:r>
              <a:rPr lang="en-US" sz="3600" b="1" dirty="0" smtClean="0"/>
              <a:t>Systems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MAS.S62 </a:t>
            </a:r>
            <a:r>
              <a:rPr lang="en-US" sz="3600" dirty="0" smtClean="0"/>
              <a:t>FAB</a:t>
            </a:r>
            <a:r>
              <a:rPr lang="en-US" sz="3600" baseline="30000" dirty="0" smtClean="0"/>
              <a:t>2</a:t>
            </a:r>
            <a:br>
              <a:rPr lang="en-US" sz="3600" baseline="30000" dirty="0" smtClean="0"/>
            </a:br>
            <a:r>
              <a:rPr lang="en-US" sz="3600" baseline="30000" dirty="0" smtClean="0"/>
              <a:t>3.6.12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16436" y="3505200"/>
            <a:ext cx="30305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0] Complexity Per Cost</a:t>
            </a:r>
          </a:p>
          <a:p>
            <a:r>
              <a:rPr lang="en-US" b="1" dirty="0" smtClean="0"/>
              <a:t>1] Exponential Manufacturing</a:t>
            </a:r>
          </a:p>
          <a:p>
            <a:r>
              <a:rPr lang="en-US" b="1" dirty="0" smtClean="0"/>
              <a:t>2] Swarm Robotics</a:t>
            </a:r>
          </a:p>
          <a:p>
            <a:r>
              <a:rPr lang="en-US" b="1" dirty="0"/>
              <a:t>3</a:t>
            </a:r>
            <a:r>
              <a:rPr lang="en-US" b="1" dirty="0" smtClean="0"/>
              <a:t>] Reconfigurable Robotics</a:t>
            </a:r>
          </a:p>
          <a:p>
            <a:r>
              <a:rPr lang="en-US" b="1" dirty="0"/>
              <a:t>4</a:t>
            </a:r>
            <a:r>
              <a:rPr lang="en-US" b="1" dirty="0" smtClean="0"/>
              <a:t>] Self Replicating Systems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360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47625" y="5715000"/>
            <a:ext cx="9096375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…Can we use this map as a guide towards future directions in fabrication</a:t>
            </a:r>
            <a:r>
              <a:rPr lang="en-US" sz="4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0" y="1778000"/>
          <a:ext cx="9144000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Worksheet" r:id="rId4" imgW="6591300" imgH="2924251" progId="Excel.Sheet.8">
                  <p:embed/>
                </p:oleObj>
              </mc:Choice>
              <mc:Fallback>
                <p:oleObj name="Worksheet" r:id="rId4" imgW="6591300" imgH="292425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78000"/>
                        <a:ext cx="9144000" cy="410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220" name="Picture 4" descr="mit-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6858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21" name="Picture 5" descr="02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0"/>
            <a:ext cx="175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0" y="434975"/>
            <a:ext cx="91440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48" tIns="41025" rIns="82048" bIns="41025">
            <a:spAutoFit/>
          </a:bodyPr>
          <a:lstStyle>
            <a:lvl1pPr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3600" b="1">
                <a:solidFill>
                  <a:srgbClr val="000099"/>
                </a:solidFill>
                <a:cs typeface="Times New Roman" pitchFamily="18" charset="0"/>
              </a:rPr>
              <a:t>Cost Per Resolution Element</a:t>
            </a:r>
          </a:p>
          <a:p>
            <a:pPr algn="ctr"/>
            <a:r>
              <a:rPr lang="en-US" sz="3600" b="1">
                <a:solidFill>
                  <a:srgbClr val="000099"/>
                </a:solidFill>
                <a:cs typeface="Times New Roman" pitchFamily="18" charset="0"/>
              </a:rPr>
              <a:t>The Case for Printed Electronics</a:t>
            </a:r>
          </a:p>
        </p:txBody>
      </p:sp>
    </p:spTree>
    <p:extLst>
      <p:ext uri="{BB962C8B-B14F-4D97-AF65-F5344CB8AC3E}">
        <p14:creationId xmlns:p14="http://schemas.microsoft.com/office/powerpoint/2010/main" val="111013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6" descr="tut52fi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37465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3" name="Rectangle 12"/>
          <p:cNvSpPr>
            <a:spLocks noChangeArrowheads="1"/>
          </p:cNvSpPr>
          <p:nvPr/>
        </p:nvSpPr>
        <p:spPr bwMode="auto">
          <a:xfrm>
            <a:off x="3276600" y="6400800"/>
            <a:ext cx="5846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Stephen Chou (Michigan/Princeton) et. al.</a:t>
            </a: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/>
              <a:t>Imprint Lithography</a:t>
            </a:r>
          </a:p>
        </p:txBody>
      </p:sp>
      <p:pic>
        <p:nvPicPr>
          <p:cNvPr id="133125" name="Picture 16" descr="image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1676400"/>
            <a:ext cx="50482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28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5" descr="5-steps-of-SFIL-for-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03066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7" name="Rectangle 6"/>
          <p:cNvSpPr>
            <a:spLocks noChangeArrowheads="1"/>
          </p:cNvSpPr>
          <p:nvPr/>
        </p:nvSpPr>
        <p:spPr bwMode="auto">
          <a:xfrm>
            <a:off x="0" y="6400800"/>
            <a:ext cx="879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http://www.molecularimprints.com/Technology/technology2.html</a:t>
            </a:r>
          </a:p>
        </p:txBody>
      </p:sp>
      <p:pic>
        <p:nvPicPr>
          <p:cNvPr id="13414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4500"/>
            <a:ext cx="5105400" cy="610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4149" name="Text Box 8"/>
          <p:cNvSpPr txBox="1">
            <a:spLocks noChangeArrowheads="1"/>
          </p:cNvSpPr>
          <p:nvPr/>
        </p:nvSpPr>
        <p:spPr bwMode="auto">
          <a:xfrm>
            <a:off x="4800600" y="115888"/>
            <a:ext cx="3608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Step &amp; Flash Lithography</a:t>
            </a:r>
          </a:p>
        </p:txBody>
      </p:sp>
    </p:spTree>
    <p:extLst>
      <p:ext uri="{BB962C8B-B14F-4D97-AF65-F5344CB8AC3E}">
        <p14:creationId xmlns:p14="http://schemas.microsoft.com/office/powerpoint/2010/main" val="62923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4"/>
          <p:cNvSpPr>
            <a:spLocks noChangeArrowheads="1"/>
          </p:cNvSpPr>
          <p:nvPr/>
        </p:nvSpPr>
        <p:spPr bwMode="auto">
          <a:xfrm>
            <a:off x="0" y="6218238"/>
            <a:ext cx="91440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/>
              <a:t>Emerging Lithographic Technologies X, edited by Michael J. Lercel,</a:t>
            </a:r>
          </a:p>
          <a:p>
            <a:r>
              <a:rPr lang="en-US" sz="1200"/>
              <a:t>Proc. of SPIE Vol. 6151, 61510J, (2006) · 0277-786X/06/$15 · doi: 10.1117/12.655604</a:t>
            </a:r>
          </a:p>
          <a:p>
            <a:r>
              <a:rPr lang="en-US" sz="1200"/>
              <a:t>Proc. of SPIE Vol. 6151 61510J-1</a:t>
            </a:r>
          </a:p>
        </p:txBody>
      </p:sp>
      <p:pic>
        <p:nvPicPr>
          <p:cNvPr id="1351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655955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172" name="Text Box 6"/>
          <p:cNvSpPr txBox="1">
            <a:spLocks noChangeArrowheads="1"/>
          </p:cNvSpPr>
          <p:nvPr/>
        </p:nvSpPr>
        <p:spPr bwMode="auto">
          <a:xfrm>
            <a:off x="2422525" y="39688"/>
            <a:ext cx="540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MultiLayer Step and Flash Lithography</a:t>
            </a:r>
          </a:p>
        </p:txBody>
      </p:sp>
      <p:pic>
        <p:nvPicPr>
          <p:cNvPr id="13517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88" y="2971800"/>
            <a:ext cx="4354512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126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36195" name="Group 3"/>
          <p:cNvGrpSpPr>
            <a:grpSpLocks/>
          </p:cNvGrpSpPr>
          <p:nvPr/>
        </p:nvGrpSpPr>
        <p:grpSpPr bwMode="auto">
          <a:xfrm>
            <a:off x="2017713" y="2057400"/>
            <a:ext cx="5108575" cy="2667000"/>
            <a:chOff x="0" y="0"/>
            <a:chExt cx="3218" cy="1680"/>
          </a:xfrm>
        </p:grpSpPr>
        <p:sp>
          <p:nvSpPr>
            <p:cNvPr id="136200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3218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620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18" cy="1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9" tIns="45714" rIns="91429" bIns="45714"/>
            <a:lstStyle/>
            <a:p>
              <a:r>
                <a:rPr lang="en-US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16900">
                  <a:latin typeface="Times New Roman" pitchFamily="18" charset="0"/>
                  <a:cs typeface="Times New Roman" pitchFamily="18" charset="0"/>
                </a:rPr>
                <a:t> </a:t>
              </a:r>
              <a:r>
                <a:rPr lang="en-US">
                  <a:latin typeface="Times New Roman" pitchFamily="18" charset="0"/>
                  <a:cs typeface="Times New Roman" pitchFamily="18" charset="0"/>
                </a:rPr>
                <a:t>                                    </a:t>
              </a:r>
            </a:p>
          </p:txBody>
        </p:sp>
      </p:grpSp>
      <p:pic>
        <p:nvPicPr>
          <p:cNvPr id="136196" name="Picture 6" descr="Photo: Inside the DVD manufacturing pla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914400"/>
            <a:ext cx="4138613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7" name="Text Box 7"/>
          <p:cNvSpPr txBox="1">
            <a:spLocks noChangeArrowheads="1"/>
          </p:cNvSpPr>
          <p:nvPr/>
        </p:nvSpPr>
        <p:spPr bwMode="auto">
          <a:xfrm>
            <a:off x="6965950" y="6491288"/>
            <a:ext cx="2101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www.panasonic.com</a:t>
            </a:r>
          </a:p>
        </p:txBody>
      </p:sp>
      <p:sp>
        <p:nvSpPr>
          <p:cNvPr id="136198" name="Text Box 8"/>
          <p:cNvSpPr txBox="1">
            <a:spLocks noChangeArrowheads="1"/>
          </p:cNvSpPr>
          <p:nvPr/>
        </p:nvSpPr>
        <p:spPr bwMode="auto">
          <a:xfrm>
            <a:off x="2362200" y="273050"/>
            <a:ext cx="4756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6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DVD6 Disk Replication</a:t>
            </a:r>
          </a:p>
        </p:txBody>
      </p:sp>
      <p:sp>
        <p:nvSpPr>
          <p:cNvPr id="136199" name="Text Box 9"/>
          <p:cNvSpPr txBox="1">
            <a:spLocks noChangeArrowheads="1"/>
          </p:cNvSpPr>
          <p:nvPr/>
        </p:nvSpPr>
        <p:spPr bwMode="auto">
          <a:xfrm>
            <a:off x="76200" y="4800600"/>
            <a:ext cx="462915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3 second replication time.</a:t>
            </a:r>
          </a:p>
          <a:p>
            <a:pPr eaLnBrk="1" hangingPunct="1"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~ 3 cents per disk</a:t>
            </a:r>
          </a:p>
          <a:p>
            <a:pPr eaLnBrk="1" hangingPunct="1"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20 GB Data</a:t>
            </a:r>
          </a:p>
          <a:p>
            <a:pPr eaLnBrk="1" hangingPunct="1"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Pit Size: 0.25 um</a:t>
            </a:r>
          </a:p>
        </p:txBody>
      </p:sp>
    </p:spTree>
    <p:extLst>
      <p:ext uri="{BB962C8B-B14F-4D97-AF65-F5344CB8AC3E}">
        <p14:creationId xmlns:p14="http://schemas.microsoft.com/office/powerpoint/2010/main" val="290546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685800" y="1219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 anchor="ctr"/>
          <a:lstStyle/>
          <a:p>
            <a:pPr algn="ctr"/>
            <a:r>
              <a:rPr lang="en-US" sz="2700"/>
              <a:t>All-Printed All-Inorganic Transistors </a:t>
            </a:r>
            <a:br>
              <a:rPr lang="en-US" sz="2700"/>
            </a:br>
            <a:r>
              <a:rPr lang="en-US" sz="2700"/>
              <a:t>Solution Based Inorganic </a:t>
            </a:r>
            <a:br>
              <a:rPr lang="en-US" sz="2700"/>
            </a:br>
            <a:r>
              <a:rPr lang="en-US" sz="2700"/>
              <a:t>Semiconductor Chemistry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4267200" y="4724400"/>
            <a:ext cx="4851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>
                <a:latin typeface="Times New Roman" pitchFamily="18" charset="0"/>
                <a:cs typeface="Times New Roman" pitchFamily="18" charset="0"/>
              </a:rPr>
              <a:t>Ridley et al.,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286, 746 (1999)</a:t>
            </a:r>
          </a:p>
          <a:p>
            <a:r>
              <a:rPr lang="en-US" i="1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297,416 (2000)</a:t>
            </a:r>
          </a:p>
        </p:txBody>
      </p:sp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1828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8245" name="Picture 5" descr="rxn-cdse-partial-work-u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43200"/>
            <a:ext cx="3124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6248400" y="2743200"/>
          <a:ext cx="1828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Bitmap Image" r:id="rId6" imgW="2381582" imgH="2228571" progId="Paint.Picture">
                  <p:embed/>
                </p:oleObj>
              </mc:Choice>
              <mc:Fallback>
                <p:oleObj name="Bitmap Image" r:id="rId6" imgW="2381582" imgH="22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743200"/>
                        <a:ext cx="1828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954088" y="6172200"/>
            <a:ext cx="7808912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48" tIns="41025" rIns="82048" bIns="41025">
            <a:spAutoFit/>
          </a:bodyPr>
          <a:lstStyle>
            <a:lvl1pPr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25000"/>
              </a:lnSpc>
              <a:buFont typeface="Webdings" pitchFamily="18" charset="2"/>
              <a:buNone/>
            </a:pPr>
            <a:r>
              <a:rPr lang="en-US" sz="1600" b="1">
                <a:solidFill>
                  <a:srgbClr val="FF9900"/>
                </a:solidFill>
                <a:cs typeface="Times New Roman" pitchFamily="18" charset="0"/>
              </a:rPr>
              <a:t>Molecular Machines (Jacobson) Group - MIT</a:t>
            </a:r>
          </a:p>
          <a:p>
            <a:pPr algn="ctr">
              <a:lnSpc>
                <a:spcPct val="125000"/>
              </a:lnSpc>
              <a:buFont typeface="Webdings" pitchFamily="18" charset="2"/>
              <a:buNone/>
            </a:pPr>
            <a:r>
              <a:rPr lang="en-US" sz="1600" b="1">
                <a:solidFill>
                  <a:srgbClr val="FF9900"/>
                </a:solidFill>
                <a:cs typeface="Times New Roman" pitchFamily="18" charset="0"/>
              </a:rPr>
              <a:t>www.media.mit.edu/molecular</a:t>
            </a:r>
          </a:p>
        </p:txBody>
      </p:sp>
      <p:pic>
        <p:nvPicPr>
          <p:cNvPr id="138248" name="Picture 8" descr="The Technology Review Te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156686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0" y="30480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18" tIns="45709" rIns="91418" bIns="45709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3600" b="1">
                <a:solidFill>
                  <a:srgbClr val="000099"/>
                </a:solidFill>
                <a:cs typeface="Times New Roman" pitchFamily="18" charset="0"/>
              </a:rPr>
              <a:t>NanoTectonics</a:t>
            </a:r>
          </a:p>
        </p:txBody>
      </p:sp>
      <p:pic>
        <p:nvPicPr>
          <p:cNvPr id="138250" name="Picture 10" descr="mit-log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6858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51" name="Picture 11" descr="02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0"/>
            <a:ext cx="175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74209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0" y="88265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 b="1">
                <a:solidFill>
                  <a:srgbClr val="000099"/>
                </a:solidFill>
              </a:rPr>
              <a:t>Offset Liquid Embossing (OLE)</a:t>
            </a:r>
            <a:endParaRPr lang="en-US" sz="36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139267" name="Group 3"/>
          <p:cNvGrpSpPr>
            <a:grpSpLocks/>
          </p:cNvGrpSpPr>
          <p:nvPr/>
        </p:nvGrpSpPr>
        <p:grpSpPr bwMode="auto">
          <a:xfrm>
            <a:off x="1371600" y="1524000"/>
            <a:ext cx="6932613" cy="5334000"/>
            <a:chOff x="864" y="960"/>
            <a:chExt cx="4367" cy="3360"/>
          </a:xfrm>
        </p:grpSpPr>
        <p:pic>
          <p:nvPicPr>
            <p:cNvPr id="139273" name="Picture 4" descr="014419APL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928"/>
            <a:stretch>
              <a:fillRect/>
            </a:stretch>
          </p:blipFill>
          <p:spPr bwMode="auto">
            <a:xfrm>
              <a:off x="864" y="960"/>
              <a:ext cx="2303" cy="3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274" name="Picture 5" descr="014419APL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821"/>
            <a:stretch>
              <a:fillRect/>
            </a:stretch>
          </p:blipFill>
          <p:spPr bwMode="auto">
            <a:xfrm>
              <a:off x="2928" y="999"/>
              <a:ext cx="2303" cy="2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9268" name="Picture 6" descr="02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6200"/>
            <a:ext cx="2514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9269" name="Group 7"/>
          <p:cNvGrpSpPr>
            <a:grpSpLocks/>
          </p:cNvGrpSpPr>
          <p:nvPr/>
        </p:nvGrpSpPr>
        <p:grpSpPr bwMode="auto">
          <a:xfrm>
            <a:off x="685800" y="0"/>
            <a:ext cx="4495800" cy="833438"/>
            <a:chOff x="2016" y="3"/>
            <a:chExt cx="2832" cy="525"/>
          </a:xfrm>
        </p:grpSpPr>
        <p:pic>
          <p:nvPicPr>
            <p:cNvPr id="139271" name="Picture 8" descr="mit-logo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3"/>
              <a:ext cx="528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272" name="Text Box 9"/>
            <p:cNvSpPr txBox="1">
              <a:spLocks noChangeArrowheads="1"/>
            </p:cNvSpPr>
            <p:nvPr/>
          </p:nvSpPr>
          <p:spPr bwMode="auto">
            <a:xfrm>
              <a:off x="2496" y="38"/>
              <a:ext cx="235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2000" b="1"/>
                <a:t>Department of </a:t>
              </a:r>
            </a:p>
            <a:p>
              <a:pPr eaLnBrk="1" hangingPunct="1"/>
              <a:r>
                <a:rPr lang="en-US" sz="2000" b="1"/>
                <a:t>Mechanical Engineering</a:t>
              </a:r>
            </a:p>
          </p:txBody>
        </p:sp>
      </p:grpSp>
      <p:sp>
        <p:nvSpPr>
          <p:cNvPr id="139270" name="Line 10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2553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0" y="6461125"/>
            <a:ext cx="5181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sz="2000" i="1">
                <a:latin typeface="Times New Roman" pitchFamily="18" charset="0"/>
              </a:rPr>
              <a:t>Bulthaup et. Al. APL</a:t>
            </a:r>
            <a:r>
              <a:rPr lang="en-US" sz="2000">
                <a:latin typeface="Times New Roman" pitchFamily="18" charset="0"/>
              </a:rPr>
              <a:t> 79(10): 1525 (2001)</a:t>
            </a:r>
            <a:r>
              <a:rPr lang="en-US" sz="1800">
                <a:latin typeface="Helvetica" pitchFamily="34" charset="0"/>
              </a:rPr>
              <a:t> </a:t>
            </a:r>
            <a:endParaRPr lang="en-US" sz="1200" i="1">
              <a:latin typeface="Times New Roman" pitchFamily="18" charset="0"/>
            </a:endParaRPr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5240338" y="6469063"/>
            <a:ext cx="39036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125000"/>
              </a:lnSpc>
              <a:buFont typeface="Webdings" pitchFamily="18" charset="2"/>
              <a:buNone/>
            </a:pPr>
            <a:r>
              <a:rPr lang="en-US" sz="1600" b="1">
                <a:solidFill>
                  <a:srgbClr val="FF9900"/>
                </a:solidFill>
              </a:rPr>
              <a:t>Molecular Machines (Jacobson) Group</a:t>
            </a:r>
          </a:p>
        </p:txBody>
      </p:sp>
      <p:pic>
        <p:nvPicPr>
          <p:cNvPr id="140292" name="Picture 4" descr="kapton-pri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1746250"/>
            <a:ext cx="3206750" cy="213836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685800" y="4038600"/>
          <a:ext cx="324485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Bitmap Image" r:id="rId5" imgW="4067743" imgH="2209524" progId="Paint.Picture">
                  <p:embed/>
                </p:oleObj>
              </mc:Choice>
              <mc:Fallback>
                <p:oleObj name="Bitmap Image" r:id="rId5" imgW="4067743" imgH="22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1471"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3244850" cy="23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1295400" y="4114800"/>
            <a:ext cx="2798763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820738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1600" b="1">
                <a:solidFill>
                  <a:schemeClr val="bg1"/>
                </a:solidFill>
              </a:rPr>
              <a:t>Multilayer Liquid Assembly</a:t>
            </a:r>
          </a:p>
        </p:txBody>
      </p:sp>
      <p:sp>
        <p:nvSpPr>
          <p:cNvPr id="140295" name="Rectangle 7"/>
          <p:cNvSpPr>
            <a:spLocks noChangeArrowheads="1"/>
          </p:cNvSpPr>
          <p:nvPr/>
        </p:nvSpPr>
        <p:spPr bwMode="auto">
          <a:xfrm>
            <a:off x="2082800" y="1612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2078038" y="172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40297" name="Object 9"/>
          <p:cNvGraphicFramePr>
            <a:graphicFrameLocks noChangeAspect="1"/>
          </p:cNvGraphicFramePr>
          <p:nvPr/>
        </p:nvGraphicFramePr>
        <p:xfrm>
          <a:off x="41275" y="1733550"/>
          <a:ext cx="3209925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r:id="rId7" imgW="6133333" imgH="4315427" progId="Paint.Picture">
                  <p:embed/>
                </p:oleObj>
              </mc:Choice>
              <mc:Fallback>
                <p:oleObj r:id="rId7" imgW="6133333" imgH="431542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" y="1733550"/>
                        <a:ext cx="3209925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2082800" y="1612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6172200" y="1524000"/>
            <a:ext cx="3276600" cy="229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endParaRPr lang="en-US" sz="2900" b="1">
              <a:latin typeface="Times New Roman" pitchFamily="18" charset="0"/>
            </a:endParaRPr>
          </a:p>
          <a:p>
            <a:pPr algn="ctr"/>
            <a:r>
              <a:rPr lang="en-US" sz="2900" b="1">
                <a:latin typeface="Times New Roman" pitchFamily="18" charset="0"/>
              </a:rPr>
              <a:t>All Printed-All Inorganic Logic Elements</a:t>
            </a:r>
            <a:endParaRPr lang="en-US" sz="2200" b="1" i="1">
              <a:latin typeface="Times New Roman" pitchFamily="18" charset="0"/>
            </a:endParaRPr>
          </a:p>
          <a:p>
            <a:pPr algn="ctr"/>
            <a:endParaRPr lang="en-US" sz="2900">
              <a:latin typeface="Times New Roman" pitchFamily="18" charset="0"/>
            </a:endParaRPr>
          </a:p>
        </p:txBody>
      </p:sp>
      <p:pic>
        <p:nvPicPr>
          <p:cNvPr id="140300" name="Picture 12" descr="02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6200"/>
            <a:ext cx="2514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0301" name="Group 13"/>
          <p:cNvGrpSpPr>
            <a:grpSpLocks/>
          </p:cNvGrpSpPr>
          <p:nvPr/>
        </p:nvGrpSpPr>
        <p:grpSpPr bwMode="auto">
          <a:xfrm>
            <a:off x="685800" y="0"/>
            <a:ext cx="4495800" cy="833438"/>
            <a:chOff x="2016" y="3"/>
            <a:chExt cx="2832" cy="525"/>
          </a:xfrm>
        </p:grpSpPr>
        <p:pic>
          <p:nvPicPr>
            <p:cNvPr id="140306" name="Picture 14" descr="mit-logo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3"/>
              <a:ext cx="528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0307" name="Text Box 15"/>
            <p:cNvSpPr txBox="1">
              <a:spLocks noChangeArrowheads="1"/>
            </p:cNvSpPr>
            <p:nvPr/>
          </p:nvSpPr>
          <p:spPr bwMode="auto">
            <a:xfrm>
              <a:off x="2496" y="38"/>
              <a:ext cx="235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2000" b="1"/>
                <a:t>Department of </a:t>
              </a:r>
            </a:p>
            <a:p>
              <a:pPr eaLnBrk="1" hangingPunct="1"/>
              <a:r>
                <a:rPr lang="en-US" sz="2000" b="1"/>
                <a:t>Mechanical Engineering</a:t>
              </a:r>
            </a:p>
          </p:txBody>
        </p:sp>
      </p:grpSp>
      <p:sp>
        <p:nvSpPr>
          <p:cNvPr id="140302" name="Line 16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3" name="Text Box 17"/>
          <p:cNvSpPr txBox="1">
            <a:spLocks noChangeArrowheads="1"/>
          </p:cNvSpPr>
          <p:nvPr/>
        </p:nvSpPr>
        <p:spPr bwMode="auto">
          <a:xfrm>
            <a:off x="0" y="99060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18" tIns="45709" rIns="91418" bIns="45709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b="1">
                <a:solidFill>
                  <a:srgbClr val="000099"/>
                </a:solidFill>
              </a:rPr>
              <a:t>NANOTECTONICS</a:t>
            </a:r>
          </a:p>
        </p:txBody>
      </p:sp>
      <p:pic>
        <p:nvPicPr>
          <p:cNvPr id="140304" name="Picture 18" descr="sog_sem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3" b="53525"/>
          <a:stretch>
            <a:fillRect/>
          </a:stretch>
        </p:blipFill>
        <p:spPr bwMode="auto">
          <a:xfrm>
            <a:off x="3352800" y="3962400"/>
            <a:ext cx="3124200" cy="239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0305" name="Picture 19" descr="sample 570 0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13163"/>
            <a:ext cx="2133600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168687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14" name="Group 2"/>
          <p:cNvGrpSpPr>
            <a:grpSpLocks/>
          </p:cNvGrpSpPr>
          <p:nvPr/>
        </p:nvGrpSpPr>
        <p:grpSpPr bwMode="auto">
          <a:xfrm>
            <a:off x="609600" y="1905000"/>
            <a:ext cx="7467600" cy="2819400"/>
            <a:chOff x="384" y="1200"/>
            <a:chExt cx="4704" cy="1776"/>
          </a:xfrm>
        </p:grpSpPr>
        <p:grpSp>
          <p:nvGrpSpPr>
            <p:cNvPr id="141316" name="Group 3"/>
            <p:cNvGrpSpPr>
              <a:grpSpLocks/>
            </p:cNvGrpSpPr>
            <p:nvPr/>
          </p:nvGrpSpPr>
          <p:grpSpPr bwMode="auto">
            <a:xfrm>
              <a:off x="384" y="1200"/>
              <a:ext cx="2304" cy="1776"/>
              <a:chOff x="384" y="528"/>
              <a:chExt cx="2736" cy="2053"/>
            </a:xfrm>
          </p:grpSpPr>
          <p:pic>
            <p:nvPicPr>
              <p:cNvPr id="141321" name="Picture 4" descr="au_transfer_on_wafer1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528"/>
                <a:ext cx="2736" cy="2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1322" name="Line 5"/>
              <p:cNvSpPr>
                <a:spLocks noChangeShapeType="1"/>
              </p:cNvSpPr>
              <p:nvPr/>
            </p:nvSpPr>
            <p:spPr bwMode="auto">
              <a:xfrm>
                <a:off x="2160" y="720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3" name="Text Box 6"/>
              <p:cNvSpPr txBox="1">
                <a:spLocks noChangeArrowheads="1"/>
              </p:cNvSpPr>
              <p:nvPr/>
            </p:nvSpPr>
            <p:spPr bwMode="auto">
              <a:xfrm>
                <a:off x="1968" y="708"/>
                <a:ext cx="816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cs typeface="Times New Roman" pitchFamily="18" charset="0"/>
                  </a:rPr>
                  <a:t>2 </a:t>
                </a:r>
                <a:r>
                  <a:rPr lang="en-US">
                    <a:latin typeface="Symbol" pitchFamily="18" charset="2"/>
                    <a:cs typeface="Times New Roman" pitchFamily="18" charset="0"/>
                  </a:rPr>
                  <a:t>m</a:t>
                </a:r>
                <a:r>
                  <a:rPr lang="en-US">
                    <a:cs typeface="Times New Roman" pitchFamily="18" charset="0"/>
                  </a:rPr>
                  <a:t>m</a:t>
                </a:r>
              </a:p>
            </p:txBody>
          </p:sp>
        </p:grpSp>
        <p:grpSp>
          <p:nvGrpSpPr>
            <p:cNvPr id="141317" name="Group 7"/>
            <p:cNvGrpSpPr>
              <a:grpSpLocks/>
            </p:cNvGrpSpPr>
            <p:nvPr/>
          </p:nvGrpSpPr>
          <p:grpSpPr bwMode="auto">
            <a:xfrm>
              <a:off x="2832" y="1200"/>
              <a:ext cx="2256" cy="1776"/>
              <a:chOff x="2640" y="2209"/>
              <a:chExt cx="2736" cy="2053"/>
            </a:xfrm>
          </p:grpSpPr>
          <p:pic>
            <p:nvPicPr>
              <p:cNvPr id="141318" name="Picture 8" descr="au_transfer_on_wafer0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0" y="2209"/>
                <a:ext cx="2736" cy="2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1319" name="Line 9"/>
              <p:cNvSpPr>
                <a:spLocks noChangeShapeType="1"/>
              </p:cNvSpPr>
              <p:nvPr/>
            </p:nvSpPr>
            <p:spPr bwMode="auto">
              <a:xfrm>
                <a:off x="4656" y="2364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0" name="Text Box 10"/>
              <p:cNvSpPr txBox="1">
                <a:spLocks noChangeArrowheads="1"/>
              </p:cNvSpPr>
              <p:nvPr/>
            </p:nvSpPr>
            <p:spPr bwMode="auto">
              <a:xfrm>
                <a:off x="4464" y="2352"/>
                <a:ext cx="816" cy="5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cs typeface="Times New Roman" pitchFamily="18" charset="0"/>
                  </a:rPr>
                  <a:t>200 nm</a:t>
                </a:r>
              </a:p>
            </p:txBody>
          </p:sp>
        </p:grpSp>
      </p:grpSp>
      <p:sp>
        <p:nvSpPr>
          <p:cNvPr id="141315" name="Text Box 11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>
                <a:cs typeface="Times New Roman" pitchFamily="18" charset="0"/>
              </a:rPr>
              <a:t>Offset Liquid Embossed Gold</a:t>
            </a:r>
            <a:endParaRPr lang="en-US" sz="36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514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228600" y="1843088"/>
            <a:ext cx="19050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 smtClean="0">
                <a:solidFill>
                  <a:schemeClr val="accent2"/>
                </a:solidFill>
              </a:rPr>
              <a:t>Exponential Replication</a:t>
            </a:r>
            <a:br>
              <a:rPr lang="en-US" sz="3600" smtClean="0">
                <a:solidFill>
                  <a:schemeClr val="accent2"/>
                </a:solidFill>
              </a:rPr>
            </a:br>
            <a:r>
              <a:rPr lang="en-US" sz="2400" b="1" smtClean="0">
                <a:solidFill>
                  <a:schemeClr val="accent2"/>
                </a:solidFill>
              </a:rPr>
              <a:t>Stamp and Shrink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717550" y="2254250"/>
            <a:ext cx="882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b="1"/>
              <a:t>MIT</a:t>
            </a:r>
          </a:p>
        </p:txBody>
      </p:sp>
      <p:sp>
        <p:nvSpPr>
          <p:cNvPr id="4101" name="Rectangle 7"/>
          <p:cNvSpPr>
            <a:spLocks noChangeArrowheads="1"/>
          </p:cNvSpPr>
          <p:nvPr/>
        </p:nvSpPr>
        <p:spPr bwMode="auto">
          <a:xfrm>
            <a:off x="2667000" y="1385888"/>
            <a:ext cx="3810000" cy="23479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3505200" y="2254250"/>
            <a:ext cx="882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b="1"/>
              <a:t>MIT</a:t>
            </a:r>
          </a:p>
        </p:txBody>
      </p:sp>
      <p:sp>
        <p:nvSpPr>
          <p:cNvPr id="4103" name="Text Box 9"/>
          <p:cNvSpPr txBox="1">
            <a:spLocks noChangeArrowheads="1"/>
          </p:cNvSpPr>
          <p:nvPr/>
        </p:nvSpPr>
        <p:spPr bwMode="auto">
          <a:xfrm>
            <a:off x="4572000" y="2254250"/>
            <a:ext cx="882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b="1"/>
              <a:t>MIT</a:t>
            </a:r>
          </a:p>
        </p:txBody>
      </p:sp>
      <p:sp>
        <p:nvSpPr>
          <p:cNvPr id="4104" name="Text Box 10"/>
          <p:cNvSpPr txBox="1">
            <a:spLocks noChangeArrowheads="1"/>
          </p:cNvSpPr>
          <p:nvPr/>
        </p:nvSpPr>
        <p:spPr bwMode="auto">
          <a:xfrm>
            <a:off x="2667000" y="3976688"/>
            <a:ext cx="3810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/>
              <a:t>Stretched</a:t>
            </a:r>
          </a:p>
        </p:txBody>
      </p:sp>
      <p:sp>
        <p:nvSpPr>
          <p:cNvPr id="4105" name="Line 13"/>
          <p:cNvSpPr>
            <a:spLocks noChangeShapeType="1"/>
          </p:cNvSpPr>
          <p:nvPr/>
        </p:nvSpPr>
        <p:spPr bwMode="auto">
          <a:xfrm>
            <a:off x="2209800" y="2605088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Rectangle 14"/>
          <p:cNvSpPr>
            <a:spLocks noChangeArrowheads="1"/>
          </p:cNvSpPr>
          <p:nvPr/>
        </p:nvSpPr>
        <p:spPr bwMode="auto">
          <a:xfrm>
            <a:off x="7162800" y="1843088"/>
            <a:ext cx="19050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5"/>
          <p:cNvSpPr>
            <a:spLocks noChangeShapeType="1"/>
          </p:cNvSpPr>
          <p:nvPr/>
        </p:nvSpPr>
        <p:spPr bwMode="auto">
          <a:xfrm>
            <a:off x="6629400" y="2605088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8" name="Text Box 16"/>
          <p:cNvSpPr txBox="1">
            <a:spLocks noChangeArrowheads="1"/>
          </p:cNvSpPr>
          <p:nvPr/>
        </p:nvSpPr>
        <p:spPr bwMode="auto">
          <a:xfrm>
            <a:off x="7543800" y="2376488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09" name="Text Box 17"/>
          <p:cNvSpPr txBox="1">
            <a:spLocks noChangeArrowheads="1"/>
          </p:cNvSpPr>
          <p:nvPr/>
        </p:nvSpPr>
        <p:spPr bwMode="auto">
          <a:xfrm>
            <a:off x="8153400" y="2376488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10" name="Rectangle 20"/>
          <p:cNvSpPr>
            <a:spLocks noChangeArrowheads="1"/>
          </p:cNvSpPr>
          <p:nvPr/>
        </p:nvSpPr>
        <p:spPr bwMode="auto">
          <a:xfrm>
            <a:off x="2667000" y="4433888"/>
            <a:ext cx="3810000" cy="22717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24"/>
          <p:cNvSpPr>
            <a:spLocks noChangeShapeType="1"/>
          </p:cNvSpPr>
          <p:nvPr/>
        </p:nvSpPr>
        <p:spPr bwMode="auto">
          <a:xfrm>
            <a:off x="2209800" y="5805488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Rectangle 25"/>
          <p:cNvSpPr>
            <a:spLocks noChangeArrowheads="1"/>
          </p:cNvSpPr>
          <p:nvPr/>
        </p:nvSpPr>
        <p:spPr bwMode="auto">
          <a:xfrm>
            <a:off x="7162800" y="5043488"/>
            <a:ext cx="19050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26"/>
          <p:cNvSpPr>
            <a:spLocks noChangeShapeType="1"/>
          </p:cNvSpPr>
          <p:nvPr/>
        </p:nvSpPr>
        <p:spPr bwMode="auto">
          <a:xfrm>
            <a:off x="6629400" y="5805488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Rectangle 29"/>
          <p:cNvSpPr>
            <a:spLocks noChangeArrowheads="1"/>
          </p:cNvSpPr>
          <p:nvPr/>
        </p:nvSpPr>
        <p:spPr bwMode="auto">
          <a:xfrm>
            <a:off x="228600" y="5105400"/>
            <a:ext cx="19050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5" name="Text Box 30"/>
          <p:cNvSpPr txBox="1">
            <a:spLocks noChangeArrowheads="1"/>
          </p:cNvSpPr>
          <p:nvPr/>
        </p:nvSpPr>
        <p:spPr bwMode="auto">
          <a:xfrm>
            <a:off x="609600" y="563880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16" name="Text Box 31"/>
          <p:cNvSpPr txBox="1">
            <a:spLocks noChangeArrowheads="1"/>
          </p:cNvSpPr>
          <p:nvPr/>
        </p:nvSpPr>
        <p:spPr bwMode="auto">
          <a:xfrm>
            <a:off x="1219200" y="563880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17" name="Text Box 32"/>
          <p:cNvSpPr txBox="1">
            <a:spLocks noChangeArrowheads="1"/>
          </p:cNvSpPr>
          <p:nvPr/>
        </p:nvSpPr>
        <p:spPr bwMode="auto">
          <a:xfrm>
            <a:off x="3962400" y="510540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18" name="Text Box 33"/>
          <p:cNvSpPr txBox="1">
            <a:spLocks noChangeArrowheads="1"/>
          </p:cNvSpPr>
          <p:nvPr/>
        </p:nvSpPr>
        <p:spPr bwMode="auto">
          <a:xfrm>
            <a:off x="4572000" y="510540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19" name="Text Box 34"/>
          <p:cNvSpPr txBox="1">
            <a:spLocks noChangeArrowheads="1"/>
          </p:cNvSpPr>
          <p:nvPr/>
        </p:nvSpPr>
        <p:spPr bwMode="auto">
          <a:xfrm>
            <a:off x="3962400" y="591185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20" name="Text Box 35"/>
          <p:cNvSpPr txBox="1">
            <a:spLocks noChangeArrowheads="1"/>
          </p:cNvSpPr>
          <p:nvPr/>
        </p:nvSpPr>
        <p:spPr bwMode="auto">
          <a:xfrm>
            <a:off x="4572000" y="5911850"/>
            <a:ext cx="534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/>
              <a:t>MIT</a:t>
            </a:r>
          </a:p>
        </p:txBody>
      </p:sp>
      <p:sp>
        <p:nvSpPr>
          <p:cNvPr id="4121" name="Text Box 36"/>
          <p:cNvSpPr txBox="1">
            <a:spLocks noChangeArrowheads="1"/>
          </p:cNvSpPr>
          <p:nvPr/>
        </p:nvSpPr>
        <p:spPr bwMode="auto">
          <a:xfrm>
            <a:off x="7543800" y="5237163"/>
            <a:ext cx="3587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00" b="1"/>
              <a:t>MIT</a:t>
            </a:r>
          </a:p>
        </p:txBody>
      </p:sp>
      <p:sp>
        <p:nvSpPr>
          <p:cNvPr id="4122" name="Text Box 37"/>
          <p:cNvSpPr txBox="1">
            <a:spLocks noChangeArrowheads="1"/>
          </p:cNvSpPr>
          <p:nvPr/>
        </p:nvSpPr>
        <p:spPr bwMode="auto">
          <a:xfrm>
            <a:off x="8153400" y="5237163"/>
            <a:ext cx="3587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00" b="1"/>
              <a:t>MIT</a:t>
            </a:r>
          </a:p>
        </p:txBody>
      </p:sp>
      <p:sp>
        <p:nvSpPr>
          <p:cNvPr id="4123" name="Text Box 38"/>
          <p:cNvSpPr txBox="1">
            <a:spLocks noChangeArrowheads="1"/>
          </p:cNvSpPr>
          <p:nvPr/>
        </p:nvSpPr>
        <p:spPr bwMode="auto">
          <a:xfrm>
            <a:off x="7543800" y="6043613"/>
            <a:ext cx="3587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00" b="1"/>
              <a:t>MIT</a:t>
            </a:r>
          </a:p>
        </p:txBody>
      </p:sp>
      <p:sp>
        <p:nvSpPr>
          <p:cNvPr id="4124" name="Text Box 39"/>
          <p:cNvSpPr txBox="1">
            <a:spLocks noChangeArrowheads="1"/>
          </p:cNvSpPr>
          <p:nvPr/>
        </p:nvSpPr>
        <p:spPr bwMode="auto">
          <a:xfrm>
            <a:off x="8153400" y="6043613"/>
            <a:ext cx="3587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00" b="1"/>
              <a:t>MIT</a:t>
            </a:r>
          </a:p>
        </p:txBody>
      </p:sp>
      <p:sp>
        <p:nvSpPr>
          <p:cNvPr id="4125" name="Line 40"/>
          <p:cNvSpPr>
            <a:spLocks noChangeShapeType="1"/>
          </p:cNvSpPr>
          <p:nvPr/>
        </p:nvSpPr>
        <p:spPr bwMode="auto">
          <a:xfrm>
            <a:off x="6629400" y="3733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6" name="Text Box 41"/>
          <p:cNvSpPr txBox="1">
            <a:spLocks noChangeArrowheads="1"/>
          </p:cNvSpPr>
          <p:nvPr/>
        </p:nvSpPr>
        <p:spPr bwMode="auto">
          <a:xfrm>
            <a:off x="7467600" y="3962400"/>
            <a:ext cx="1377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Elastomeric</a:t>
            </a:r>
          </a:p>
          <a:p>
            <a:pPr eaLnBrk="1" hangingPunct="1"/>
            <a:r>
              <a:rPr lang="en-US"/>
              <a:t>Sheet</a:t>
            </a:r>
          </a:p>
        </p:txBody>
      </p:sp>
    </p:spTree>
    <p:extLst>
      <p:ext uri="{BB962C8B-B14F-4D97-AF65-F5344CB8AC3E}">
        <p14:creationId xmlns:p14="http://schemas.microsoft.com/office/powerpoint/2010/main" val="409915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057650" cy="143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3505200" cy="374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3962400" y="228600"/>
            <a:ext cx="5038725" cy="5905500"/>
            <a:chOff x="198293" y="1438154"/>
            <a:chExt cx="5038725" cy="5905500"/>
          </a:xfrm>
        </p:grpSpPr>
        <p:pic>
          <p:nvPicPr>
            <p:cNvPr id="3174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93" y="1438154"/>
              <a:ext cx="5038725" cy="4467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74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5905379"/>
              <a:ext cx="2105025" cy="143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6793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072" y="228600"/>
            <a:ext cx="9151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Electrospray</a:t>
            </a:r>
            <a:endParaRPr lang="en-US" sz="3600" b="1" dirty="0"/>
          </a:p>
        </p:txBody>
      </p:sp>
      <p:pic>
        <p:nvPicPr>
          <p:cNvPr id="5122" name="Picture 2" descr="Diagrams of droplets in electrospray 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10" y="1447801"/>
            <a:ext cx="7397527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www.waters.com/webassets/cms/category/media/other_images/primer_ms_Id_AP%20ESI%20fig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001" y="3430732"/>
            <a:ext cx="4429125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-7073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smtClean="0">
                <a:hlinkClick r:id="rId4"/>
              </a:rPr>
              <a:t>http://www.waters.com/waters/nav.htm?cid=10073251&amp;locale=en_US</a:t>
            </a:r>
            <a:endParaRPr lang="en-US" sz="800" dirty="0"/>
          </a:p>
        </p:txBody>
      </p:sp>
      <p:sp>
        <p:nvSpPr>
          <p:cNvPr id="4" name="Rectangle 3"/>
          <p:cNvSpPr/>
          <p:nvPr/>
        </p:nvSpPr>
        <p:spPr>
          <a:xfrm>
            <a:off x="0" y="3581400"/>
            <a:ext cx="20826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hlinkClick r:id="rId5"/>
              </a:rPr>
              <a:t>http://www.newobjective.com/electrospray/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4607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804356"/>
            <a:ext cx="3429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2"/>
              </a:rPr>
              <a:t>http://www.youtube.com/watch?v=x9sE0cisM58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1452562" y="160020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Puff Pastry</a:t>
            </a:r>
            <a:endParaRPr lang="en-US" sz="2000" b="1" dirty="0"/>
          </a:p>
        </p:txBody>
      </p:sp>
      <p:pic>
        <p:nvPicPr>
          <p:cNvPr id="2054" name="Picture 6" descr="https://encrypted-tbn1.google.com/images?q=tbn:ANd9GcRBMBT9m_umFcJUlbzZHHaVrYVVIiVSlmptmKW90P8vx2ghk1BqF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36671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zwillli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83" b="44392"/>
          <a:stretch/>
        </p:blipFill>
        <p:spPr bwMode="auto">
          <a:xfrm>
            <a:off x="4267200" y="2971800"/>
            <a:ext cx="4575464" cy="136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69183" y="3967162"/>
            <a:ext cx="73930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u="sng" dirty="0">
                <a:hlinkClick r:id="rId5" tooltip="February 22, 2008"/>
              </a:rPr>
              <a:t>J.A. </a:t>
            </a:r>
            <a:r>
              <a:rPr lang="en-US" sz="800" b="1" u="sng" dirty="0" err="1">
                <a:hlinkClick r:id="rId5" tooltip="February 22, 2008"/>
              </a:rPr>
              <a:t>Henckels</a:t>
            </a:r>
            <a:endParaRPr lang="en-US" sz="800" dirty="0"/>
          </a:p>
        </p:txBody>
      </p:sp>
      <p:sp>
        <p:nvSpPr>
          <p:cNvPr id="5" name="TextBox 4"/>
          <p:cNvSpPr txBox="1"/>
          <p:nvPr/>
        </p:nvSpPr>
        <p:spPr>
          <a:xfrm>
            <a:off x="1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Geometric Scaling Manufacturing</a:t>
            </a:r>
            <a:endParaRPr lang="en-US" sz="3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908964" y="1620982"/>
            <a:ext cx="167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Damascus Steel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181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Swarm  Robotics</a:t>
            </a:r>
            <a:endParaRPr lang="en-US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1295400" y="3429000"/>
            <a:ext cx="2286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2"/>
              </a:rPr>
              <a:t>http://www.youtube.com/watch?v=YQIMGV5vtd4</a:t>
            </a:r>
            <a:endParaRPr 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1719880" y="990600"/>
            <a:ext cx="132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Quadcoptor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5611642" y="4432756"/>
            <a:ext cx="2286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3"/>
              </a:rPr>
              <a:t>http://www.youtube.com/watch?v=lZgRfXXeDwM</a:t>
            </a:r>
            <a:endParaRPr lang="en-US" sz="800" dirty="0"/>
          </a:p>
        </p:txBody>
      </p:sp>
      <p:pic>
        <p:nvPicPr>
          <p:cNvPr id="3074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209800"/>
            <a:ext cx="3214979" cy="220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263802" y="6109156"/>
            <a:ext cx="243202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5"/>
              </a:rPr>
              <a:t>http://www.youtube.com/watch?v=W18Z3UnnS_0</a:t>
            </a:r>
            <a:endParaRPr lang="en-US" sz="800" dirty="0"/>
          </a:p>
        </p:txBody>
      </p:sp>
      <p:pic>
        <p:nvPicPr>
          <p:cNvPr id="3379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90" y="1431442"/>
            <a:ext cx="3597481" cy="1994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>
            <a:hlinkClick r:id="rId5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90" y="4038600"/>
            <a:ext cx="3604408" cy="1982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666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3594556"/>
            <a:ext cx="24384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2"/>
              </a:rPr>
              <a:t>http://www.youtube.com/watch?v=qBUFX41e1mc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3981849" y="83820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Kilobot</a:t>
            </a:r>
            <a:endParaRPr lang="en-US" b="1" dirty="0"/>
          </a:p>
        </p:txBody>
      </p:sp>
      <p:pic>
        <p:nvPicPr>
          <p:cNvPr id="4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985" y="1191120"/>
            <a:ext cx="3265684" cy="2403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Building Swarms</a:t>
            </a:r>
            <a:endParaRPr lang="en-US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3826443" y="6566356"/>
            <a:ext cx="14911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hlinkClick r:id="rId4"/>
              </a:rPr>
              <a:t>http://micro.seas.harvard.edu/</a:t>
            </a:r>
            <a:endParaRPr lang="en-US" sz="800" dirty="0"/>
          </a:p>
        </p:txBody>
      </p:sp>
      <p:pic>
        <p:nvPicPr>
          <p:cNvPr id="34818" name="Picture 2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608731"/>
            <a:ext cx="3517856" cy="194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500600" y="4001869"/>
            <a:ext cx="1985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Harvard – </a:t>
            </a:r>
            <a:r>
              <a:rPr lang="en-US" b="1" dirty="0" err="1" smtClean="0"/>
              <a:t>Mobee</a:t>
            </a:r>
            <a:endParaRPr lang="en-US" b="1" dirty="0" smtClean="0"/>
          </a:p>
          <a:p>
            <a:pPr algn="ctr"/>
            <a:r>
              <a:rPr lang="en-US" b="1" dirty="0" smtClean="0"/>
              <a:t>Pop-up Fabrication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347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18" y="4508956"/>
            <a:ext cx="24477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2"/>
              </a:rPr>
              <a:t>http://www.youtube.com/watch?v=rTcp2UkgvSk</a:t>
            </a:r>
            <a:endParaRPr lang="en-US" sz="800" dirty="0"/>
          </a:p>
        </p:txBody>
      </p:sp>
      <p:sp>
        <p:nvSpPr>
          <p:cNvPr id="5" name="TextBox 4"/>
          <p:cNvSpPr txBox="1"/>
          <p:nvPr/>
        </p:nvSpPr>
        <p:spPr>
          <a:xfrm>
            <a:off x="4858630" y="1813993"/>
            <a:ext cx="362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Reconfigurable Snake robot-MTRAN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4599544" y="4341749"/>
            <a:ext cx="241069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3"/>
              </a:rPr>
              <a:t>http://www.youtube.com/watch?v=gq3rkMHCwnE</a:t>
            </a:r>
            <a:endParaRPr lang="en-US" sz="800" dirty="0"/>
          </a:p>
        </p:txBody>
      </p:sp>
      <p:pic>
        <p:nvPicPr>
          <p:cNvPr id="4098" name="Picture 2" descr="http://upload.wikimedia.org/wikipedia/en/e/ee/4leg2Cat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18" y="2395975"/>
            <a:ext cx="3907337" cy="179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5463" y="4191123"/>
            <a:ext cx="261470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4"/>
              </a:rPr>
              <a:t>http://www.youtube.com/watch?v=4oSavAHf0dg&amp;NR=1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62345" y="152400"/>
            <a:ext cx="9053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Reconfigurable Robotics</a:t>
            </a:r>
            <a:endParaRPr lang="en-US" sz="3600" b="1" dirty="0"/>
          </a:p>
        </p:txBody>
      </p:sp>
      <p:pic>
        <p:nvPicPr>
          <p:cNvPr id="11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01" y="1873463"/>
            <a:ext cx="3333342" cy="2635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582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6324599"/>
            <a:ext cx="24384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2"/>
              </a:rPr>
              <a:t>http://www.youtube.com/watch?v=LumLzSQE5Vw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946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Self Replicating Systems</a:t>
            </a:r>
            <a:endParaRPr lang="en-US" sz="3600" b="1" dirty="0"/>
          </a:p>
        </p:txBody>
      </p:sp>
      <p:pic>
        <p:nvPicPr>
          <p:cNvPr id="3584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3542237" cy="2514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01800" y="6179052"/>
            <a:ext cx="2286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hlinkClick r:id="rId4"/>
              </a:rPr>
              <a:t>http://www.youtube.com/watch?v=7rwXiVb2QEk</a:t>
            </a:r>
            <a:endParaRPr lang="en-US" sz="800" dirty="0"/>
          </a:p>
        </p:txBody>
      </p:sp>
      <p:pic>
        <p:nvPicPr>
          <p:cNvPr id="35843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934536"/>
            <a:ext cx="3048000" cy="223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545268" y="3547421"/>
            <a:ext cx="799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Lipson</a:t>
            </a:r>
            <a:endParaRPr lang="en-US" b="1" dirty="0"/>
          </a:p>
        </p:txBody>
      </p:sp>
      <p:pic>
        <p:nvPicPr>
          <p:cNvPr id="35844" name="Picture 4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20118"/>
            <a:ext cx="3048000" cy="229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955284" y="713509"/>
            <a:ext cx="952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Penrose</a:t>
            </a:r>
            <a:endParaRPr lang="en-US" b="1" dirty="0"/>
          </a:p>
        </p:txBody>
      </p:sp>
      <p:pic>
        <p:nvPicPr>
          <p:cNvPr id="35845" name="Picture 5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1130030"/>
            <a:ext cx="305752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381811" y="6858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Griffith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97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669864"/>
              </p:ext>
            </p:extLst>
          </p:nvPr>
        </p:nvGraphicFramePr>
        <p:xfrm>
          <a:off x="1257300" y="838200"/>
          <a:ext cx="6629400" cy="581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Bitmap Image" r:id="rId4" imgW="5742857" imgH="5038095" progId="Paint.Picture">
                  <p:embed/>
                </p:oleObj>
              </mc:Choice>
              <mc:Fallback>
                <p:oleObj name="Bitmap Image" r:id="rId4" imgW="5742857" imgH="50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838200"/>
                        <a:ext cx="6629400" cy="581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166171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ko-KR" dirty="0" smtClean="0">
                <a:ea typeface="Gulim" pitchFamily="34" charset="-127"/>
              </a:rPr>
              <a:t>St</a:t>
            </a:r>
            <a:endParaRPr lang="en-US" altLang="ko-KR" dirty="0">
              <a:ea typeface="Gulim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946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Stochastic Self Replicating Systems</a:t>
            </a:r>
            <a:endParaRPr lang="en-US" sz="3600" b="1" dirty="0"/>
          </a:p>
        </p:txBody>
      </p:sp>
      <p:sp>
        <p:nvSpPr>
          <p:cNvPr id="2" name="Rectangle 1"/>
          <p:cNvSpPr/>
          <p:nvPr/>
        </p:nvSpPr>
        <p:spPr>
          <a:xfrm rot="16200000">
            <a:off x="5905895" y="3455713"/>
            <a:ext cx="5640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Saul Griffith, Dan Goldwater,</a:t>
            </a:r>
          </a:p>
          <a:p>
            <a:r>
              <a:rPr lang="en-US" b="1" dirty="0" err="1"/>
              <a:t>JosephM</a:t>
            </a:r>
            <a:r>
              <a:rPr lang="en-US" b="1" dirty="0"/>
              <a:t>. </a:t>
            </a:r>
            <a:r>
              <a:rPr lang="en-US" b="1" dirty="0" smtClean="0"/>
              <a:t>Jacobson </a:t>
            </a:r>
            <a:r>
              <a:rPr lang="en-US" b="1" dirty="0" err="1" smtClean="0"/>
              <a:t>NATURE|Vol</a:t>
            </a:r>
            <a:r>
              <a:rPr lang="en-US" b="1" dirty="0" smtClean="0"/>
              <a:t> </a:t>
            </a:r>
            <a:r>
              <a:rPr lang="en-US" b="1" dirty="0"/>
              <a:t>437|29 September 2005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2105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510749"/>
              </p:ext>
            </p:extLst>
          </p:nvPr>
        </p:nvGraphicFramePr>
        <p:xfrm>
          <a:off x="1066800" y="0"/>
          <a:ext cx="672782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Bitmap Image" r:id="rId4" imgW="4761905" imgH="5447619" progId="Paint.Picture">
                  <p:embed/>
                </p:oleObj>
              </mc:Choice>
              <mc:Fallback>
                <p:oleObj name="Bitmap Image" r:id="rId4" imgW="4761905" imgH="54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0"/>
                        <a:ext cx="672782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 rot="16200000">
            <a:off x="5905895" y="3455713"/>
            <a:ext cx="5640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Saul Griffith, Dan Goldwater,</a:t>
            </a:r>
          </a:p>
          <a:p>
            <a:r>
              <a:rPr lang="en-US" b="1" dirty="0" err="1"/>
              <a:t>JosephM</a:t>
            </a:r>
            <a:r>
              <a:rPr lang="en-US" b="1" dirty="0"/>
              <a:t>. </a:t>
            </a:r>
            <a:r>
              <a:rPr lang="en-US" b="1" dirty="0" smtClean="0"/>
              <a:t>Jacobson </a:t>
            </a:r>
            <a:r>
              <a:rPr lang="en-US" b="1" dirty="0" err="1" smtClean="0"/>
              <a:t>NATURE|Vol</a:t>
            </a:r>
            <a:r>
              <a:rPr lang="en-US" b="1" dirty="0" smtClean="0"/>
              <a:t> </a:t>
            </a:r>
            <a:r>
              <a:rPr lang="en-US" b="1" dirty="0"/>
              <a:t>437|29 September 2005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895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51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92723" y="6211669"/>
            <a:ext cx="5640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Saul Griffith, Dan Goldwater,</a:t>
            </a:r>
          </a:p>
          <a:p>
            <a:r>
              <a:rPr lang="en-US" b="1" dirty="0" err="1"/>
              <a:t>JosephM</a:t>
            </a:r>
            <a:r>
              <a:rPr lang="en-US" b="1" dirty="0"/>
              <a:t>. </a:t>
            </a:r>
            <a:r>
              <a:rPr lang="en-US" b="1" dirty="0" smtClean="0"/>
              <a:t>Jacobson </a:t>
            </a:r>
            <a:r>
              <a:rPr lang="en-US" b="1" dirty="0" err="1" smtClean="0"/>
              <a:t>NATURE|Vol</a:t>
            </a:r>
            <a:r>
              <a:rPr lang="en-US" b="1" dirty="0" smtClean="0"/>
              <a:t> </a:t>
            </a:r>
            <a:r>
              <a:rPr lang="en-US" b="1" dirty="0"/>
              <a:t>437|29 September 2005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0798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" y="34636"/>
            <a:ext cx="57340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3028950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133600"/>
            <a:ext cx="41529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95600" y="6252730"/>
            <a:ext cx="626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See also: Evolvable physical Self replicators 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</a:t>
            </a:r>
            <a:r>
              <a:rPr lang="en-US" dirty="0" smtClean="0">
                <a:hlinkClick r:id="rId5"/>
              </a:rPr>
              <a:t>://www.mitpressjournals.org/doi/pdf/10.1162/artl_a_00056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1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le:DrawingHand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2" y="1371600"/>
            <a:ext cx="5354666" cy="462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533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BEGINNING</a:t>
            </a:r>
            <a:endParaRPr lang="en-US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4572000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>
                <a:hlinkClick r:id="rId3"/>
              </a:rPr>
              <a:t>http://en.wikipedia.org/wiki/File:DrawingHands.jpg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8979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384</Words>
  <Application>Microsoft Office PowerPoint</Application>
  <PresentationFormat>On-screen Show (4:3)</PresentationFormat>
  <Paragraphs>117</Paragraphs>
  <Slides>23</Slides>
  <Notes>12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Office Theme</vt:lpstr>
      <vt:lpstr>Bitmap Image</vt:lpstr>
      <vt:lpstr>Microsoft Excel Worksheet</vt:lpstr>
      <vt:lpstr>Self Replicating Mechanical Systems MAS.S62 FAB2 3.6.12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Exponential Replication Stamp and Shrink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Replicating Mechanical Systems</dc:title>
  <dc:creator>Joe</dc:creator>
  <cp:lastModifiedBy>Joe</cp:lastModifiedBy>
  <cp:revision>32</cp:revision>
  <dcterms:created xsi:type="dcterms:W3CDTF">2012-03-05T21:28:07Z</dcterms:created>
  <dcterms:modified xsi:type="dcterms:W3CDTF">2012-03-06T17:21:15Z</dcterms:modified>
</cp:coreProperties>
</file>