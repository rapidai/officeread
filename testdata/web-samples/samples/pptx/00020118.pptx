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27"/>
  </p:notesMasterIdLst>
  <p:sldIdLst>
    <p:sldId id="256" r:id="rId2"/>
    <p:sldId id="263" r:id="rId3"/>
    <p:sldId id="297" r:id="rId4"/>
    <p:sldId id="300" r:id="rId5"/>
    <p:sldId id="296" r:id="rId6"/>
    <p:sldId id="312" r:id="rId7"/>
    <p:sldId id="302" r:id="rId8"/>
    <p:sldId id="303" r:id="rId9"/>
    <p:sldId id="304" r:id="rId10"/>
    <p:sldId id="298" r:id="rId11"/>
    <p:sldId id="305" r:id="rId12"/>
    <p:sldId id="299" r:id="rId13"/>
    <p:sldId id="306" r:id="rId14"/>
    <p:sldId id="355" r:id="rId15"/>
    <p:sldId id="308" r:id="rId16"/>
    <p:sldId id="307" r:id="rId17"/>
    <p:sldId id="310" r:id="rId18"/>
    <p:sldId id="316" r:id="rId19"/>
    <p:sldId id="329" r:id="rId20"/>
    <p:sldId id="330" r:id="rId21"/>
    <p:sldId id="313" r:id="rId22"/>
    <p:sldId id="314" r:id="rId23"/>
    <p:sldId id="315" r:id="rId24"/>
    <p:sldId id="317" r:id="rId25"/>
    <p:sldId id="354" r:id="rId26"/>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F1031F"/>
    <a:srgbClr val="FFC145"/>
    <a:srgbClr val="FF99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40" autoAdjust="0"/>
    <p:restoredTop sz="94643" autoAdjust="0"/>
  </p:normalViewPr>
  <p:slideViewPr>
    <p:cSldViewPr>
      <p:cViewPr varScale="1">
        <p:scale>
          <a:sx n="104" d="100"/>
          <a:sy n="104" d="100"/>
        </p:scale>
        <p:origin x="-1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77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endParaRPr lang="en-US"/>
          </a:p>
        </p:txBody>
      </p:sp>
      <p:sp>
        <p:nvSpPr>
          <p:cNvPr id="11776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endParaRPr lang="en-US"/>
          </a:p>
        </p:txBody>
      </p:sp>
      <p:sp>
        <p:nvSpPr>
          <p:cNvPr id="117764"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1776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1776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endParaRPr lang="en-US"/>
          </a:p>
        </p:txBody>
      </p:sp>
      <p:sp>
        <p:nvSpPr>
          <p:cNvPr id="11776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0D7FB67D-0204-42B3-BF9E-D3A1F2B190A6}"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5BFE06-D1B3-4D2B-A3D5-BFDFE8C9882F}" type="slidenum">
              <a:rPr lang="en-US"/>
              <a:pPr/>
              <a:t>1</a:t>
            </a:fld>
            <a:endParaRPr lang="en-US"/>
          </a:p>
        </p:txBody>
      </p:sp>
      <p:sp>
        <p:nvSpPr>
          <p:cNvPr id="118786" name="Rectangle 2"/>
          <p:cNvSpPr>
            <a:spLocks noRot="1" noChangeArrowheads="1" noTextEdit="1"/>
          </p:cNvSpPr>
          <p:nvPr>
            <p:ph type="sldImg"/>
          </p:nvPr>
        </p:nvSpPr>
        <p:spPr>
          <a:ln/>
        </p:spPr>
      </p:sp>
      <p:sp>
        <p:nvSpPr>
          <p:cNvPr id="118787"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242" name="Group 2"/>
          <p:cNvGrpSpPr>
            <a:grpSpLocks/>
          </p:cNvGrpSpPr>
          <p:nvPr/>
        </p:nvGrpSpPr>
        <p:grpSpPr bwMode="auto">
          <a:xfrm>
            <a:off x="381000" y="457200"/>
            <a:ext cx="8397875" cy="5562600"/>
            <a:chOff x="240" y="288"/>
            <a:chExt cx="5290" cy="3504"/>
          </a:xfrm>
        </p:grpSpPr>
        <p:sp>
          <p:nvSpPr>
            <p:cNvPr id="10243" name="Rectangle 3"/>
            <p:cNvSpPr>
              <a:spLocks noChangeArrowheads="1"/>
            </p:cNvSpPr>
            <p:nvPr/>
          </p:nvSpPr>
          <p:spPr bwMode="blackWhite">
            <a:xfrm>
              <a:off x="240" y="288"/>
              <a:ext cx="5290" cy="3504"/>
            </a:xfrm>
            <a:prstGeom prst="rect">
              <a:avLst/>
            </a:prstGeom>
            <a:solidFill>
              <a:schemeClr val="bg1"/>
            </a:solidFill>
            <a:ln w="50800">
              <a:solidFill>
                <a:schemeClr val="folHlink"/>
              </a:solidFill>
              <a:miter lim="800000"/>
              <a:headEnd/>
              <a:tailEnd/>
            </a:ln>
            <a:effectLst/>
          </p:spPr>
          <p:txBody>
            <a:bodyPr wrap="none" anchor="ctr"/>
            <a:lstStyle/>
            <a:p>
              <a:pPr algn="ctr" eaLnBrk="1" hangingPunct="1"/>
              <a:endParaRPr lang="en-US" sz="2400">
                <a:latin typeface="Times New Roman" pitchFamily="18" charset="0"/>
              </a:endParaRPr>
            </a:p>
          </p:txBody>
        </p:sp>
        <p:sp>
          <p:nvSpPr>
            <p:cNvPr id="10244" name="Rectangle 4"/>
            <p:cNvSpPr>
              <a:spLocks noChangeArrowheads="1"/>
            </p:cNvSpPr>
            <p:nvPr/>
          </p:nvSpPr>
          <p:spPr bwMode="auto">
            <a:xfrm>
              <a:off x="285" y="336"/>
              <a:ext cx="5184" cy="3408"/>
            </a:xfrm>
            <a:prstGeom prst="rect">
              <a:avLst/>
            </a:prstGeom>
            <a:noFill/>
            <a:ln w="9525">
              <a:solidFill>
                <a:schemeClr val="folHlink"/>
              </a:solidFill>
              <a:miter lim="800000"/>
              <a:headEnd/>
              <a:tailEnd/>
            </a:ln>
            <a:effectLst/>
          </p:spPr>
          <p:txBody>
            <a:bodyPr wrap="none" anchor="ctr"/>
            <a:lstStyle/>
            <a:p>
              <a:pPr algn="ctr" eaLnBrk="1" hangingPunct="1"/>
              <a:endParaRPr lang="en-US" sz="2400">
                <a:latin typeface="Times New Roman" pitchFamily="18" charset="0"/>
              </a:endParaRPr>
            </a:p>
          </p:txBody>
        </p:sp>
        <p:sp>
          <p:nvSpPr>
            <p:cNvPr id="10245" name="Line 5"/>
            <p:cNvSpPr>
              <a:spLocks noChangeShapeType="1"/>
            </p:cNvSpPr>
            <p:nvPr/>
          </p:nvSpPr>
          <p:spPr bwMode="auto">
            <a:xfrm>
              <a:off x="576" y="2256"/>
              <a:ext cx="4608" cy="0"/>
            </a:xfrm>
            <a:prstGeom prst="line">
              <a:avLst/>
            </a:prstGeom>
            <a:noFill/>
            <a:ln w="19050">
              <a:solidFill>
                <a:schemeClr val="accent2"/>
              </a:solidFill>
              <a:round/>
              <a:headEnd/>
              <a:tailEnd/>
            </a:ln>
            <a:effectLst/>
          </p:spPr>
          <p:txBody>
            <a:bodyPr wrap="none" anchor="ctr"/>
            <a:lstStyle/>
            <a:p>
              <a:endParaRPr lang="en-US"/>
            </a:p>
          </p:txBody>
        </p:sp>
      </p:grpSp>
      <p:sp>
        <p:nvSpPr>
          <p:cNvPr id="10246" name="Rectangle 6"/>
          <p:cNvSpPr>
            <a:spLocks noGrp="1" noChangeArrowheads="1"/>
          </p:cNvSpPr>
          <p:nvPr>
            <p:ph type="ctrTitle"/>
          </p:nvPr>
        </p:nvSpPr>
        <p:spPr>
          <a:xfrm>
            <a:off x="1219200" y="838200"/>
            <a:ext cx="6781800" cy="2559050"/>
          </a:xfrm>
        </p:spPr>
        <p:txBody>
          <a:bodyPr anchorCtr="1"/>
          <a:lstStyle>
            <a:lvl1pPr algn="ctr">
              <a:defRPr sz="6200"/>
            </a:lvl1pPr>
          </a:lstStyle>
          <a:p>
            <a:r>
              <a:rPr lang="en-US" smtClean="0"/>
              <a:t>Click to edit Master title style</a:t>
            </a:r>
            <a:endParaRPr lang="en-US"/>
          </a:p>
        </p:txBody>
      </p:sp>
      <p:sp>
        <p:nvSpPr>
          <p:cNvPr id="10247" name="Rectangle 7"/>
          <p:cNvSpPr>
            <a:spLocks noGrp="1" noChangeArrowheads="1"/>
          </p:cNvSpPr>
          <p:nvPr>
            <p:ph type="subTitle" idx="1"/>
          </p:nvPr>
        </p:nvSpPr>
        <p:spPr>
          <a:xfrm>
            <a:off x="1371600" y="3733800"/>
            <a:ext cx="6400800" cy="1873250"/>
          </a:xfrm>
        </p:spPr>
        <p:txBody>
          <a:bodyPr/>
          <a:lstStyle>
            <a:lvl1pPr marL="0" indent="0" algn="ctr">
              <a:buFont typeface="Wingdings" pitchFamily="2" charset="2"/>
              <a:buNone/>
              <a:defRPr sz="3000"/>
            </a:lvl1pPr>
          </a:lstStyle>
          <a:p>
            <a:r>
              <a:rPr lang="en-US" smtClean="0"/>
              <a:t>Click to edit Master subtitle style</a:t>
            </a:r>
            <a:endParaRPr lang="en-US"/>
          </a:p>
        </p:txBody>
      </p:sp>
      <p:sp>
        <p:nvSpPr>
          <p:cNvPr id="10248" name="Rectangle 8"/>
          <p:cNvSpPr>
            <a:spLocks noGrp="1" noChangeArrowheads="1"/>
          </p:cNvSpPr>
          <p:nvPr>
            <p:ph type="dt" sz="half" idx="2"/>
          </p:nvPr>
        </p:nvSpPr>
        <p:spPr>
          <a:xfrm>
            <a:off x="536575" y="6248400"/>
            <a:ext cx="2054225" cy="457200"/>
          </a:xfrm>
        </p:spPr>
        <p:txBody>
          <a:bodyPr/>
          <a:lstStyle>
            <a:lvl1pPr>
              <a:defRPr/>
            </a:lvl1pPr>
          </a:lstStyle>
          <a:p>
            <a:endParaRPr lang="en-US"/>
          </a:p>
        </p:txBody>
      </p:sp>
      <p:sp>
        <p:nvSpPr>
          <p:cNvPr id="10249" name="Rectangle 9"/>
          <p:cNvSpPr>
            <a:spLocks noGrp="1" noChangeArrowheads="1"/>
          </p:cNvSpPr>
          <p:nvPr>
            <p:ph type="ftr" sz="quarter" idx="3"/>
          </p:nvPr>
        </p:nvSpPr>
        <p:spPr>
          <a:xfrm>
            <a:off x="3251200" y="6248400"/>
            <a:ext cx="2887663" cy="457200"/>
          </a:xfrm>
        </p:spPr>
        <p:txBody>
          <a:bodyPr/>
          <a:lstStyle>
            <a:lvl1pPr>
              <a:defRPr/>
            </a:lvl1pPr>
          </a:lstStyle>
          <a:p>
            <a:endParaRPr lang="en-US"/>
          </a:p>
        </p:txBody>
      </p:sp>
      <p:sp>
        <p:nvSpPr>
          <p:cNvPr id="10250" name="Rectangle 10"/>
          <p:cNvSpPr>
            <a:spLocks noGrp="1" noChangeArrowheads="1"/>
          </p:cNvSpPr>
          <p:nvPr>
            <p:ph type="sldNum" sz="quarter" idx="4"/>
          </p:nvPr>
        </p:nvSpPr>
        <p:spPr>
          <a:xfrm>
            <a:off x="6788150" y="6257925"/>
            <a:ext cx="1905000" cy="457200"/>
          </a:xfrm>
        </p:spPr>
        <p:txBody>
          <a:bodyPr/>
          <a:lstStyle>
            <a:lvl1pPr>
              <a:defRPr/>
            </a:lvl1pPr>
          </a:lstStyle>
          <a:p>
            <a:fld id="{87958277-E36D-44D2-BEC0-77B7955A788D}"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7850EB5-F61A-44DD-9F43-E1C3C75D8406}"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9CED8A5-7559-4411-963F-ED6FA8C56796}"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33400" y="1828800"/>
            <a:ext cx="40005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828800"/>
            <a:ext cx="40005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281F8813-9071-4A57-8DCA-6DB6EFD6743D}"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0A236698-0BF7-4490-983D-98461242E422}"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8B5FA034-6B5A-4202-88FD-974B2620A31B}"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11544D47-705F-44B2-9B5F-7AE53597BA5D}"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F89A758-F654-4631-8A92-3343EF029C9C}"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C8C4C3C7-2832-41FF-9A8D-C34B5DB585E4}"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5F325A6-B3C4-4B3F-A314-2C7A9EC262BC}"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8450" y="473075"/>
            <a:ext cx="2038350" cy="53943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33400" y="473075"/>
            <a:ext cx="5962650" cy="53943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6B5D5FC-88BF-49D9-8A55-FF24B8A84DAB}"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73075"/>
            <a:ext cx="8153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533400" y="1828800"/>
            <a:ext cx="4000500"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828800"/>
            <a:ext cx="4000500"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533400" y="6248400"/>
            <a:ext cx="2057400" cy="457200"/>
          </a:xfrm>
        </p:spPr>
        <p:txBody>
          <a:bodyPr/>
          <a:lstStyle>
            <a:lvl1pPr>
              <a:defRPr/>
            </a:lvl1pPr>
          </a:lstStyle>
          <a:p>
            <a:endParaRPr lang="en-US"/>
          </a:p>
        </p:txBody>
      </p:sp>
      <p:sp>
        <p:nvSpPr>
          <p:cNvPr id="6" name="Footer Placeholder 5"/>
          <p:cNvSpPr>
            <a:spLocks noGrp="1"/>
          </p:cNvSpPr>
          <p:nvPr>
            <p:ph type="ftr" sz="quarter" idx="11"/>
          </p:nvPr>
        </p:nvSpPr>
        <p:spPr>
          <a:xfrm>
            <a:off x="32385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781800" y="6248400"/>
            <a:ext cx="1905000" cy="457200"/>
          </a:xfrm>
        </p:spPr>
        <p:txBody>
          <a:bodyPr/>
          <a:lstStyle>
            <a:lvl1pPr>
              <a:defRPr/>
            </a:lvl1pPr>
          </a:lstStyle>
          <a:p>
            <a:fld id="{110AFF46-D9A7-4823-92F1-57E0100F5998}"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73075"/>
            <a:ext cx="8153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533400" y="1828800"/>
            <a:ext cx="4000500"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86300" y="1828800"/>
            <a:ext cx="4000500" cy="19431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86300" y="3924300"/>
            <a:ext cx="4000500" cy="19431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533400" y="6248400"/>
            <a:ext cx="2057400" cy="457200"/>
          </a:xfrm>
        </p:spPr>
        <p:txBody>
          <a:bodyPr/>
          <a:lstStyle>
            <a:lvl1pPr>
              <a:defRPr/>
            </a:lvl1pPr>
          </a:lstStyle>
          <a:p>
            <a:endParaRPr lang="en-US"/>
          </a:p>
        </p:txBody>
      </p:sp>
      <p:sp>
        <p:nvSpPr>
          <p:cNvPr id="7" name="Footer Placeholder 6"/>
          <p:cNvSpPr>
            <a:spLocks noGrp="1"/>
          </p:cNvSpPr>
          <p:nvPr>
            <p:ph type="ftr" sz="quarter" idx="11"/>
          </p:nvPr>
        </p:nvSpPr>
        <p:spPr>
          <a:xfrm>
            <a:off x="3238500" y="6248400"/>
            <a:ext cx="2895600" cy="457200"/>
          </a:xfrm>
        </p:spPr>
        <p:txBody>
          <a:bodyPr/>
          <a:lstStyle>
            <a:lvl1pPr>
              <a:defRPr/>
            </a:lvl1pPr>
          </a:lstStyle>
          <a:p>
            <a:endParaRPr lang="en-US"/>
          </a:p>
        </p:txBody>
      </p:sp>
      <p:sp>
        <p:nvSpPr>
          <p:cNvPr id="8" name="Slide Number Placeholder 7"/>
          <p:cNvSpPr>
            <a:spLocks noGrp="1"/>
          </p:cNvSpPr>
          <p:nvPr>
            <p:ph type="sldNum" sz="quarter" idx="12"/>
          </p:nvPr>
        </p:nvSpPr>
        <p:spPr>
          <a:xfrm>
            <a:off x="6781800" y="6248400"/>
            <a:ext cx="1905000" cy="457200"/>
          </a:xfrm>
        </p:spPr>
        <p:txBody>
          <a:bodyPr/>
          <a:lstStyle>
            <a:lvl1pPr>
              <a:defRPr/>
            </a:lvl1pPr>
          </a:lstStyle>
          <a:p>
            <a:fld id="{A1B98BF3-915D-48C5-B4F3-65F8A85D121C}"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73075"/>
            <a:ext cx="81534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533400" y="1828800"/>
            <a:ext cx="4000500" cy="4038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86300" y="1828800"/>
            <a:ext cx="4000500" cy="19431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86300" y="3924300"/>
            <a:ext cx="4000500" cy="19431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533400" y="6248400"/>
            <a:ext cx="2057400" cy="457200"/>
          </a:xfrm>
        </p:spPr>
        <p:txBody>
          <a:bodyPr/>
          <a:lstStyle>
            <a:lvl1pPr>
              <a:defRPr/>
            </a:lvl1pPr>
          </a:lstStyle>
          <a:p>
            <a:endParaRPr lang="en-US"/>
          </a:p>
        </p:txBody>
      </p:sp>
      <p:sp>
        <p:nvSpPr>
          <p:cNvPr id="7" name="Footer Placeholder 6"/>
          <p:cNvSpPr>
            <a:spLocks noGrp="1"/>
          </p:cNvSpPr>
          <p:nvPr>
            <p:ph type="ftr" sz="quarter" idx="11"/>
          </p:nvPr>
        </p:nvSpPr>
        <p:spPr>
          <a:xfrm>
            <a:off x="3238500" y="6248400"/>
            <a:ext cx="2895600" cy="457200"/>
          </a:xfrm>
        </p:spPr>
        <p:txBody>
          <a:bodyPr/>
          <a:lstStyle>
            <a:lvl1pPr>
              <a:defRPr/>
            </a:lvl1pPr>
          </a:lstStyle>
          <a:p>
            <a:endParaRPr lang="en-US"/>
          </a:p>
        </p:txBody>
      </p:sp>
      <p:sp>
        <p:nvSpPr>
          <p:cNvPr id="8" name="Slide Number Placeholder 7"/>
          <p:cNvSpPr>
            <a:spLocks noGrp="1"/>
          </p:cNvSpPr>
          <p:nvPr>
            <p:ph type="sldNum" sz="quarter" idx="12"/>
          </p:nvPr>
        </p:nvSpPr>
        <p:spPr>
          <a:xfrm>
            <a:off x="6781800" y="6248400"/>
            <a:ext cx="1905000" cy="457200"/>
          </a:xfrm>
        </p:spPr>
        <p:txBody>
          <a:bodyPr/>
          <a:lstStyle>
            <a:lvl1pPr>
              <a:defRPr/>
            </a:lvl1pPr>
          </a:lstStyle>
          <a:p>
            <a:fld id="{977A57BD-27E2-41EA-807B-05CB57D3683F}"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218" name="Group 2"/>
          <p:cNvGrpSpPr>
            <a:grpSpLocks/>
          </p:cNvGrpSpPr>
          <p:nvPr/>
        </p:nvGrpSpPr>
        <p:grpSpPr bwMode="auto">
          <a:xfrm>
            <a:off x="228600" y="228600"/>
            <a:ext cx="8686800" cy="5943600"/>
            <a:chOff x="144" y="144"/>
            <a:chExt cx="5472" cy="3744"/>
          </a:xfrm>
        </p:grpSpPr>
        <p:sp>
          <p:nvSpPr>
            <p:cNvPr id="9219" name="Rectangle 3"/>
            <p:cNvSpPr>
              <a:spLocks noChangeArrowheads="1"/>
            </p:cNvSpPr>
            <p:nvPr/>
          </p:nvSpPr>
          <p:spPr bwMode="auto">
            <a:xfrm>
              <a:off x="144" y="144"/>
              <a:ext cx="5472" cy="3744"/>
            </a:xfrm>
            <a:prstGeom prst="rect">
              <a:avLst/>
            </a:prstGeom>
            <a:solidFill>
              <a:schemeClr val="bg1"/>
            </a:solidFill>
            <a:ln w="44450">
              <a:solidFill>
                <a:schemeClr val="folHlink"/>
              </a:solidFill>
              <a:miter lim="800000"/>
              <a:headEnd/>
              <a:tailEnd/>
            </a:ln>
            <a:effectLst/>
          </p:spPr>
          <p:txBody>
            <a:bodyPr wrap="none" anchor="ctr"/>
            <a:lstStyle/>
            <a:p>
              <a:pPr algn="ctr" eaLnBrk="1" hangingPunct="1"/>
              <a:endParaRPr lang="en-US" sz="2400">
                <a:latin typeface="Times New Roman" pitchFamily="18" charset="0"/>
              </a:endParaRPr>
            </a:p>
          </p:txBody>
        </p:sp>
        <p:sp>
          <p:nvSpPr>
            <p:cNvPr id="9220" name="Rectangle 4"/>
            <p:cNvSpPr>
              <a:spLocks noChangeArrowheads="1"/>
            </p:cNvSpPr>
            <p:nvPr/>
          </p:nvSpPr>
          <p:spPr bwMode="blackWhite">
            <a:xfrm>
              <a:off x="193" y="193"/>
              <a:ext cx="5373" cy="3635"/>
            </a:xfrm>
            <a:prstGeom prst="rect">
              <a:avLst/>
            </a:prstGeom>
            <a:solidFill>
              <a:schemeClr val="bg1"/>
            </a:solidFill>
            <a:ln w="9525">
              <a:solidFill>
                <a:schemeClr val="folHlink"/>
              </a:solidFill>
              <a:miter lim="800000"/>
              <a:headEnd/>
              <a:tailEnd/>
            </a:ln>
            <a:effectLst/>
          </p:spPr>
          <p:txBody>
            <a:bodyPr wrap="none" anchor="ctr"/>
            <a:lstStyle/>
            <a:p>
              <a:pPr algn="ctr" eaLnBrk="1" hangingPunct="1"/>
              <a:endParaRPr lang="en-US" sz="2400">
                <a:latin typeface="Times New Roman" pitchFamily="18" charset="0"/>
              </a:endParaRPr>
            </a:p>
          </p:txBody>
        </p:sp>
        <p:sp>
          <p:nvSpPr>
            <p:cNvPr id="9221" name="Line 5"/>
            <p:cNvSpPr>
              <a:spLocks noChangeShapeType="1"/>
            </p:cNvSpPr>
            <p:nvPr/>
          </p:nvSpPr>
          <p:spPr bwMode="auto">
            <a:xfrm>
              <a:off x="336" y="1092"/>
              <a:ext cx="5136" cy="0"/>
            </a:xfrm>
            <a:prstGeom prst="line">
              <a:avLst/>
            </a:prstGeom>
            <a:noFill/>
            <a:ln w="12700">
              <a:solidFill>
                <a:schemeClr val="accent2"/>
              </a:solidFill>
              <a:round/>
              <a:headEnd/>
              <a:tailEnd/>
            </a:ln>
            <a:effectLst/>
          </p:spPr>
          <p:txBody>
            <a:bodyPr/>
            <a:lstStyle/>
            <a:p>
              <a:endParaRPr lang="en-US"/>
            </a:p>
          </p:txBody>
        </p:sp>
      </p:grpSp>
      <p:sp>
        <p:nvSpPr>
          <p:cNvPr id="9222" name="Rectangle 6"/>
          <p:cNvSpPr>
            <a:spLocks noGrp="1" noChangeArrowheads="1"/>
          </p:cNvSpPr>
          <p:nvPr>
            <p:ph type="title"/>
          </p:nvPr>
        </p:nvSpPr>
        <p:spPr bwMode="auto">
          <a:xfrm>
            <a:off x="533400" y="473075"/>
            <a:ext cx="8153400" cy="1143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smtClean="0"/>
              <a:t>Click to edit Master title style</a:t>
            </a:r>
            <a:endParaRPr lang="en-US" smtClean="0"/>
          </a:p>
        </p:txBody>
      </p:sp>
      <p:sp>
        <p:nvSpPr>
          <p:cNvPr id="9223" name="Rectangle 7"/>
          <p:cNvSpPr>
            <a:spLocks noGrp="1" noChangeArrowheads="1"/>
          </p:cNvSpPr>
          <p:nvPr>
            <p:ph type="body" idx="1"/>
          </p:nvPr>
        </p:nvSpPr>
        <p:spPr bwMode="auto">
          <a:xfrm>
            <a:off x="533400" y="1828800"/>
            <a:ext cx="8153400" cy="403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smtClean="0"/>
          </a:p>
        </p:txBody>
      </p:sp>
      <p:sp>
        <p:nvSpPr>
          <p:cNvPr id="9224" name="Rectangle 8"/>
          <p:cNvSpPr>
            <a:spLocks noGrp="1" noChangeArrowheads="1"/>
          </p:cNvSpPr>
          <p:nvPr>
            <p:ph type="dt" sz="half" idx="2"/>
          </p:nvPr>
        </p:nvSpPr>
        <p:spPr bwMode="auto">
          <a:xfrm>
            <a:off x="533400" y="6248400"/>
            <a:ext cx="2057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000"/>
            </a:lvl1pPr>
          </a:lstStyle>
          <a:p>
            <a:endParaRPr lang="en-US"/>
          </a:p>
        </p:txBody>
      </p:sp>
      <p:sp>
        <p:nvSpPr>
          <p:cNvPr id="9225" name="Rectangle 9"/>
          <p:cNvSpPr>
            <a:spLocks noGrp="1" noChangeArrowheads="1"/>
          </p:cNvSpPr>
          <p:nvPr>
            <p:ph type="ftr" sz="quarter" idx="3"/>
          </p:nvPr>
        </p:nvSpPr>
        <p:spPr bwMode="auto">
          <a:xfrm>
            <a:off x="32385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000"/>
            </a:lvl1pPr>
          </a:lstStyle>
          <a:p>
            <a:endParaRPr lang="en-US"/>
          </a:p>
        </p:txBody>
      </p:sp>
      <p:sp>
        <p:nvSpPr>
          <p:cNvPr id="9226" name="Rectangle 10"/>
          <p:cNvSpPr>
            <a:spLocks noGrp="1" noChangeArrowheads="1"/>
          </p:cNvSpPr>
          <p:nvPr>
            <p:ph type="sldNum" sz="quarter" idx="4"/>
          </p:nvPr>
        </p:nvSpPr>
        <p:spPr bwMode="auto">
          <a:xfrm>
            <a:off x="67818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00"/>
            </a:lvl1pPr>
          </a:lstStyle>
          <a:p>
            <a:fld id="{7BC8F872-CA80-44BE-AC5A-74FE695FA2C3}" type="slidenum">
              <a:rPr lang="en-US"/>
              <a:pPr/>
              <a:t>‹#›</a:t>
            </a:fld>
            <a:endParaRPr lang="en-US"/>
          </a:p>
        </p:txBody>
      </p:sp>
    </p:spTree>
  </p:cSld>
  <p:clrMap bg1="dk2" tx1="lt1" bg2="dk1"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Lst>
  <p:txStyles>
    <p:titleStyle>
      <a:lvl1pPr algn="l" rtl="0" eaLnBrk="1" fontAlgn="base" hangingPunct="1">
        <a:lnSpc>
          <a:spcPct val="80000"/>
        </a:lnSpc>
        <a:spcBef>
          <a:spcPct val="0"/>
        </a:spcBef>
        <a:spcAft>
          <a:spcPct val="0"/>
        </a:spcAft>
        <a:defRPr sz="4400">
          <a:solidFill>
            <a:schemeClr val="tx2"/>
          </a:solidFill>
          <a:latin typeface="+mj-lt"/>
          <a:ea typeface="+mj-ea"/>
          <a:cs typeface="+mj-cs"/>
        </a:defRPr>
      </a:lvl1pPr>
      <a:lvl2pPr algn="l" rtl="0" eaLnBrk="1" fontAlgn="base" hangingPunct="1">
        <a:lnSpc>
          <a:spcPct val="80000"/>
        </a:lnSpc>
        <a:spcBef>
          <a:spcPct val="0"/>
        </a:spcBef>
        <a:spcAft>
          <a:spcPct val="0"/>
        </a:spcAft>
        <a:defRPr sz="4400">
          <a:solidFill>
            <a:schemeClr val="tx2"/>
          </a:solidFill>
          <a:latin typeface="Times New Roman" pitchFamily="18" charset="0"/>
        </a:defRPr>
      </a:lvl2pPr>
      <a:lvl3pPr algn="l" rtl="0" eaLnBrk="1" fontAlgn="base" hangingPunct="1">
        <a:lnSpc>
          <a:spcPct val="80000"/>
        </a:lnSpc>
        <a:spcBef>
          <a:spcPct val="0"/>
        </a:spcBef>
        <a:spcAft>
          <a:spcPct val="0"/>
        </a:spcAft>
        <a:defRPr sz="4400">
          <a:solidFill>
            <a:schemeClr val="tx2"/>
          </a:solidFill>
          <a:latin typeface="Times New Roman" pitchFamily="18" charset="0"/>
        </a:defRPr>
      </a:lvl3pPr>
      <a:lvl4pPr algn="l" rtl="0" eaLnBrk="1" fontAlgn="base" hangingPunct="1">
        <a:lnSpc>
          <a:spcPct val="80000"/>
        </a:lnSpc>
        <a:spcBef>
          <a:spcPct val="0"/>
        </a:spcBef>
        <a:spcAft>
          <a:spcPct val="0"/>
        </a:spcAft>
        <a:defRPr sz="4400">
          <a:solidFill>
            <a:schemeClr val="tx2"/>
          </a:solidFill>
          <a:latin typeface="Times New Roman" pitchFamily="18" charset="0"/>
        </a:defRPr>
      </a:lvl4pPr>
      <a:lvl5pPr algn="l" rtl="0" eaLnBrk="1" fontAlgn="base" hangingPunct="1">
        <a:lnSpc>
          <a:spcPct val="80000"/>
        </a:lnSpc>
        <a:spcBef>
          <a:spcPct val="0"/>
        </a:spcBef>
        <a:spcAft>
          <a:spcPct val="0"/>
        </a:spcAft>
        <a:defRPr sz="4400">
          <a:solidFill>
            <a:schemeClr val="tx2"/>
          </a:solidFill>
          <a:latin typeface="Times New Roman" pitchFamily="18" charset="0"/>
        </a:defRPr>
      </a:lvl5pPr>
      <a:lvl6pPr marL="457200" algn="l" rtl="0" eaLnBrk="1" fontAlgn="base" hangingPunct="1">
        <a:lnSpc>
          <a:spcPct val="80000"/>
        </a:lnSpc>
        <a:spcBef>
          <a:spcPct val="0"/>
        </a:spcBef>
        <a:spcAft>
          <a:spcPct val="0"/>
        </a:spcAft>
        <a:defRPr sz="4400">
          <a:solidFill>
            <a:schemeClr val="tx2"/>
          </a:solidFill>
          <a:latin typeface="Times New Roman" pitchFamily="18" charset="0"/>
        </a:defRPr>
      </a:lvl6pPr>
      <a:lvl7pPr marL="914400" algn="l" rtl="0" eaLnBrk="1" fontAlgn="base" hangingPunct="1">
        <a:lnSpc>
          <a:spcPct val="80000"/>
        </a:lnSpc>
        <a:spcBef>
          <a:spcPct val="0"/>
        </a:spcBef>
        <a:spcAft>
          <a:spcPct val="0"/>
        </a:spcAft>
        <a:defRPr sz="4400">
          <a:solidFill>
            <a:schemeClr val="tx2"/>
          </a:solidFill>
          <a:latin typeface="Times New Roman" pitchFamily="18" charset="0"/>
        </a:defRPr>
      </a:lvl7pPr>
      <a:lvl8pPr marL="1371600" algn="l" rtl="0" eaLnBrk="1" fontAlgn="base" hangingPunct="1">
        <a:lnSpc>
          <a:spcPct val="80000"/>
        </a:lnSpc>
        <a:spcBef>
          <a:spcPct val="0"/>
        </a:spcBef>
        <a:spcAft>
          <a:spcPct val="0"/>
        </a:spcAft>
        <a:defRPr sz="4400">
          <a:solidFill>
            <a:schemeClr val="tx2"/>
          </a:solidFill>
          <a:latin typeface="Times New Roman" pitchFamily="18" charset="0"/>
        </a:defRPr>
      </a:lvl8pPr>
      <a:lvl9pPr marL="1828800" algn="l" rtl="0" eaLnBrk="1" fontAlgn="base" hangingPunct="1">
        <a:lnSpc>
          <a:spcPct val="80000"/>
        </a:lnSpc>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lr>
          <a:schemeClr val="accent2"/>
        </a:buClr>
        <a:buSzPct val="75000"/>
        <a:buFont typeface="Wingdings" pitchFamily="2" charset="2"/>
        <a:buChar char="n"/>
        <a:defRPr sz="31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SzPct val="65000"/>
        <a:buFont typeface="Wingdings" pitchFamily="2" charset="2"/>
        <a:buChar char="n"/>
        <a:defRPr sz="2600">
          <a:solidFill>
            <a:schemeClr val="tx1"/>
          </a:solidFill>
          <a:latin typeface="+mn-lt"/>
        </a:defRPr>
      </a:lvl2pPr>
      <a:lvl3pPr marL="1143000" indent="-228600" algn="l" rtl="0" eaLnBrk="1" fontAlgn="base" hangingPunct="1">
        <a:spcBef>
          <a:spcPct val="20000"/>
        </a:spcBef>
        <a:spcAft>
          <a:spcPct val="0"/>
        </a:spcAft>
        <a:buClr>
          <a:schemeClr val="hlink"/>
        </a:buClr>
        <a:buSzPct val="55000"/>
        <a:buFont typeface="Wingdings" pitchFamily="2" charset="2"/>
        <a:buChar char="n"/>
        <a:defRPr sz="2400">
          <a:solidFill>
            <a:schemeClr val="tx1"/>
          </a:solidFill>
          <a:latin typeface="+mn-lt"/>
        </a:defRPr>
      </a:lvl3pPr>
      <a:lvl4pPr marL="1600200" indent="-228600"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4pPr>
      <a:lvl5pPr marL="2057400" indent="-228600" algn="l" rtl="0" eaLnBrk="1" fontAlgn="base" hangingPunct="1">
        <a:spcBef>
          <a:spcPct val="20000"/>
        </a:spcBef>
        <a:spcAft>
          <a:spcPct val="0"/>
        </a:spcAft>
        <a:buClr>
          <a:schemeClr val="tx1"/>
        </a:buClr>
        <a:buSzPct val="85000"/>
        <a:buFont typeface="Wingdings" pitchFamily="2" charset="2"/>
        <a:buChar char="§"/>
        <a:defRPr sz="2000">
          <a:solidFill>
            <a:schemeClr val="tx1"/>
          </a:solidFill>
          <a:latin typeface="+mn-lt"/>
        </a:defRPr>
      </a:lvl5pPr>
      <a:lvl6pPr marL="2514600" indent="-228600" algn="l" rtl="0" eaLnBrk="1" fontAlgn="base" hangingPunct="1">
        <a:spcBef>
          <a:spcPct val="20000"/>
        </a:spcBef>
        <a:spcAft>
          <a:spcPct val="0"/>
        </a:spcAft>
        <a:buClr>
          <a:schemeClr val="tx1"/>
        </a:buClr>
        <a:buSzPct val="85000"/>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Clr>
          <a:schemeClr val="tx1"/>
        </a:buClr>
        <a:buSzPct val="85000"/>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Clr>
          <a:schemeClr val="tx1"/>
        </a:buClr>
        <a:buSzPct val="85000"/>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Clr>
          <a:schemeClr val="tx1"/>
        </a:buClr>
        <a:buSzPct val="8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13.xml"/><Relationship Id="rId1" Type="http://schemas.openxmlformats.org/officeDocument/2006/relationships/vmlDrawing" Target="../drawings/vmlDrawing3.vml"/><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4.v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5.v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6.v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7.v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2.xml"/><Relationship Id="rId1" Type="http://schemas.openxmlformats.org/officeDocument/2006/relationships/vmlDrawing" Target="../drawings/vmlDrawing8.vml"/></Relationships>
</file>

<file path=ppt/slides/_rels/slide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219200" y="838200"/>
            <a:ext cx="6781800" cy="2209800"/>
          </a:xfrm>
        </p:spPr>
        <p:txBody>
          <a:bodyPr/>
          <a:lstStyle/>
          <a:p>
            <a:r>
              <a:rPr lang="en-US" sz="4800">
                <a:solidFill>
                  <a:srgbClr val="FFC145"/>
                </a:solidFill>
              </a:rPr>
              <a:t>Science Fiction, Philosophy, and the Future</a:t>
            </a:r>
            <a:br>
              <a:rPr lang="en-US" sz="4800">
                <a:solidFill>
                  <a:srgbClr val="FFC145"/>
                </a:solidFill>
              </a:rPr>
            </a:br>
            <a:r>
              <a:rPr lang="en-US" sz="2400">
                <a:solidFill>
                  <a:srgbClr val="FFC145"/>
                </a:solidFill>
              </a:rPr>
              <a:t/>
            </a:r>
            <a:br>
              <a:rPr lang="en-US" sz="2400">
                <a:solidFill>
                  <a:srgbClr val="FFC145"/>
                </a:solidFill>
              </a:rPr>
            </a:br>
            <a:r>
              <a:rPr lang="en-US" sz="2400">
                <a:solidFill>
                  <a:srgbClr val="FFC145"/>
                </a:solidFill>
              </a:rPr>
              <a:t>Nanoethics Lecture IX</a:t>
            </a:r>
          </a:p>
        </p:txBody>
      </p:sp>
      <p:sp>
        <p:nvSpPr>
          <p:cNvPr id="2051" name="Rectangle 3"/>
          <p:cNvSpPr>
            <a:spLocks noGrp="1" noChangeArrowheads="1"/>
          </p:cNvSpPr>
          <p:nvPr>
            <p:ph type="subTitle" idx="1"/>
          </p:nvPr>
        </p:nvSpPr>
        <p:spPr/>
        <p:txBody>
          <a:bodyPr/>
          <a:lstStyle/>
          <a:p>
            <a:r>
              <a:rPr lang="en-US" sz="3600">
                <a:solidFill>
                  <a:srgbClr val="FFC145"/>
                </a:solidFill>
              </a:rPr>
              <a:t>Roderick T. Long</a:t>
            </a:r>
          </a:p>
          <a:p>
            <a:r>
              <a:rPr lang="en-US" sz="3600">
                <a:solidFill>
                  <a:srgbClr val="FFC145"/>
                </a:solidFill>
              </a:rPr>
              <a:t>Auburn Dept. of Philosophy</a:t>
            </a:r>
            <a:endParaRPr lang="en-US" sz="360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title"/>
          </p:nvPr>
        </p:nvSpPr>
        <p:spPr/>
        <p:txBody>
          <a:bodyPr/>
          <a:lstStyle/>
          <a:p>
            <a:pPr algn="ctr"/>
            <a:r>
              <a:rPr lang="en-US" sz="5400">
                <a:solidFill>
                  <a:srgbClr val="FFBF1F"/>
                </a:solidFill>
              </a:rPr>
              <a:t>Origin of Science Fiction</a:t>
            </a:r>
          </a:p>
        </p:txBody>
      </p:sp>
      <p:sp>
        <p:nvSpPr>
          <p:cNvPr id="553987" name="Rectangle 3"/>
          <p:cNvSpPr>
            <a:spLocks noGrp="1" noChangeArrowheads="1"/>
          </p:cNvSpPr>
          <p:nvPr>
            <p:ph type="body" sz="half" idx="1"/>
          </p:nvPr>
        </p:nvSpPr>
        <p:spPr>
          <a:xfrm>
            <a:off x="533400" y="1828800"/>
            <a:ext cx="4114800" cy="4038600"/>
          </a:xfrm>
        </p:spPr>
        <p:txBody>
          <a:bodyPr/>
          <a:lstStyle/>
          <a:p>
            <a:pPr>
              <a:buFont typeface="Wingdings" pitchFamily="2" charset="2"/>
              <a:buNone/>
            </a:pPr>
            <a:r>
              <a:rPr lang="en-US" sz="3600">
                <a:solidFill>
                  <a:srgbClr val="FFBF1F"/>
                </a:solidFill>
              </a:rPr>
              <a:t>As a distinctive literary genre, science fiction originates in the 19</a:t>
            </a:r>
            <a:r>
              <a:rPr lang="en-US" sz="3600" baseline="30000">
                <a:solidFill>
                  <a:srgbClr val="FFBF1F"/>
                </a:solidFill>
              </a:rPr>
              <a:t>th</a:t>
            </a:r>
            <a:r>
              <a:rPr lang="en-US" sz="3600">
                <a:solidFill>
                  <a:srgbClr val="FFBF1F"/>
                </a:solidFill>
              </a:rPr>
              <a:t> century</a:t>
            </a:r>
          </a:p>
          <a:p>
            <a:pPr>
              <a:buFont typeface="Wingdings" pitchFamily="2" charset="2"/>
              <a:buNone/>
            </a:pPr>
            <a:r>
              <a:rPr lang="en-US" sz="3600">
                <a:solidFill>
                  <a:srgbClr val="FFBF1F"/>
                </a:solidFill>
              </a:rPr>
              <a:t>Why?</a:t>
            </a:r>
          </a:p>
        </p:txBody>
      </p:sp>
      <p:pic>
        <p:nvPicPr>
          <p:cNvPr id="554000" name="Picture 16" descr="Jules%20Verne%20illus"/>
          <p:cNvPicPr>
            <a:picLocks noChangeAspect="1" noChangeArrowheads="1"/>
          </p:cNvPicPr>
          <p:nvPr>
            <p:ph sz="half" idx="2"/>
          </p:nvPr>
        </p:nvPicPr>
        <p:blipFill>
          <a:blip r:embed="rId2"/>
          <a:srcRect/>
          <a:stretch>
            <a:fillRect/>
          </a:stretch>
        </p:blipFill>
        <p:spPr>
          <a:xfrm>
            <a:off x="4881563" y="1828800"/>
            <a:ext cx="3609975" cy="4038600"/>
          </a:xfrm>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2"/>
          <p:cNvSpPr>
            <a:spLocks noGrp="1" noChangeArrowheads="1"/>
          </p:cNvSpPr>
          <p:nvPr>
            <p:ph type="title"/>
          </p:nvPr>
        </p:nvSpPr>
        <p:spPr/>
        <p:txBody>
          <a:bodyPr/>
          <a:lstStyle/>
          <a:p>
            <a:pPr algn="ctr"/>
            <a:r>
              <a:rPr lang="en-US" sz="5400">
                <a:solidFill>
                  <a:srgbClr val="FFBF1F"/>
                </a:solidFill>
              </a:rPr>
              <a:t>Origin of Science Fiction</a:t>
            </a:r>
          </a:p>
        </p:txBody>
      </p:sp>
      <p:sp>
        <p:nvSpPr>
          <p:cNvPr id="604163" name="Rectangle 3"/>
          <p:cNvSpPr>
            <a:spLocks noGrp="1" noChangeArrowheads="1"/>
          </p:cNvSpPr>
          <p:nvPr>
            <p:ph type="body" sz="half" idx="1"/>
          </p:nvPr>
        </p:nvSpPr>
        <p:spPr>
          <a:xfrm>
            <a:off x="533400" y="1828800"/>
            <a:ext cx="4724400" cy="4038600"/>
          </a:xfrm>
        </p:spPr>
        <p:txBody>
          <a:bodyPr/>
          <a:lstStyle/>
          <a:p>
            <a:pPr>
              <a:buFont typeface="Wingdings" pitchFamily="2" charset="2"/>
              <a:buNone/>
            </a:pPr>
            <a:r>
              <a:rPr lang="en-US" sz="3600">
                <a:solidFill>
                  <a:srgbClr val="FFBF1F"/>
                </a:solidFill>
              </a:rPr>
              <a:t>The </a:t>
            </a:r>
            <a:r>
              <a:rPr lang="en-US" sz="3600" i="1">
                <a:solidFill>
                  <a:srgbClr val="FFBF1F"/>
                </a:solidFill>
              </a:rPr>
              <a:t>Industrial Revolution</a:t>
            </a:r>
            <a:r>
              <a:rPr lang="en-US" sz="3600">
                <a:solidFill>
                  <a:srgbClr val="FFBF1F"/>
                </a:solidFill>
              </a:rPr>
              <a:t> showed that technology could dramatically alter our lives – for better, or worse, or some of each </a:t>
            </a:r>
          </a:p>
        </p:txBody>
      </p:sp>
      <p:pic>
        <p:nvPicPr>
          <p:cNvPr id="604165" name="Picture 5" descr="series-first%20industrial%20rev"/>
          <p:cNvPicPr>
            <a:picLocks noChangeAspect="1" noChangeArrowheads="1"/>
          </p:cNvPicPr>
          <p:nvPr>
            <p:ph sz="half" idx="2"/>
          </p:nvPr>
        </p:nvPicPr>
        <p:blipFill>
          <a:blip r:embed="rId2"/>
          <a:srcRect/>
          <a:stretch>
            <a:fillRect/>
          </a:stretch>
        </p:blipFill>
        <p:spPr>
          <a:xfrm>
            <a:off x="5410200" y="1828800"/>
            <a:ext cx="3148013" cy="4038600"/>
          </a:xfrm>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2"/>
          <p:cNvSpPr>
            <a:spLocks noGrp="1" noChangeArrowheads="1"/>
          </p:cNvSpPr>
          <p:nvPr>
            <p:ph type="title"/>
          </p:nvPr>
        </p:nvSpPr>
        <p:spPr/>
        <p:txBody>
          <a:bodyPr/>
          <a:lstStyle/>
          <a:p>
            <a:pPr algn="ctr"/>
            <a:r>
              <a:rPr lang="en-US" sz="5400">
                <a:solidFill>
                  <a:srgbClr val="FFBF1F"/>
                </a:solidFill>
              </a:rPr>
              <a:t>Origin of Science Fiction</a:t>
            </a:r>
          </a:p>
        </p:txBody>
      </p:sp>
      <p:sp>
        <p:nvSpPr>
          <p:cNvPr id="607235" name="Rectangle 3"/>
          <p:cNvSpPr>
            <a:spLocks noGrp="1" noChangeArrowheads="1"/>
          </p:cNvSpPr>
          <p:nvPr>
            <p:ph type="body" sz="half" idx="1"/>
          </p:nvPr>
        </p:nvSpPr>
        <p:spPr>
          <a:xfrm>
            <a:off x="533400" y="1828800"/>
            <a:ext cx="3581400" cy="4038600"/>
          </a:xfrm>
        </p:spPr>
        <p:txBody>
          <a:bodyPr/>
          <a:lstStyle/>
          <a:p>
            <a:pPr>
              <a:lnSpc>
                <a:spcPct val="80000"/>
              </a:lnSpc>
              <a:buFont typeface="Wingdings" pitchFamily="2" charset="2"/>
              <a:buNone/>
            </a:pPr>
            <a:r>
              <a:rPr lang="en-US" sz="3600">
                <a:solidFill>
                  <a:srgbClr val="FFBF1F"/>
                </a:solidFill>
              </a:rPr>
              <a:t>The </a:t>
            </a:r>
            <a:r>
              <a:rPr lang="en-US" sz="3600" i="1">
                <a:solidFill>
                  <a:srgbClr val="FFBF1F"/>
                </a:solidFill>
              </a:rPr>
              <a:t>French and American Revolutions</a:t>
            </a:r>
            <a:r>
              <a:rPr lang="en-US" sz="3600">
                <a:solidFill>
                  <a:srgbClr val="FFBF1F"/>
                </a:solidFill>
              </a:rPr>
              <a:t> showed that political and sociological changes could do likewise</a:t>
            </a:r>
          </a:p>
        </p:txBody>
      </p:sp>
      <p:pic>
        <p:nvPicPr>
          <p:cNvPr id="607239" name="Picture 7" descr="La%20Marianne"/>
          <p:cNvPicPr>
            <a:picLocks noChangeAspect="1" noChangeArrowheads="1"/>
          </p:cNvPicPr>
          <p:nvPr>
            <p:ph sz="half" idx="2"/>
          </p:nvPr>
        </p:nvPicPr>
        <p:blipFill>
          <a:blip r:embed="rId2"/>
          <a:srcRect/>
          <a:stretch>
            <a:fillRect/>
          </a:stretch>
        </p:blipFill>
        <p:spPr>
          <a:xfrm>
            <a:off x="4114800" y="1981200"/>
            <a:ext cx="4495800" cy="3548063"/>
          </a:xfrm>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p:cNvSpPr>
            <a:spLocks noGrp="1" noChangeArrowheads="1"/>
          </p:cNvSpPr>
          <p:nvPr>
            <p:ph type="title"/>
          </p:nvPr>
        </p:nvSpPr>
        <p:spPr/>
        <p:txBody>
          <a:bodyPr/>
          <a:lstStyle/>
          <a:p>
            <a:pPr algn="ctr"/>
            <a:r>
              <a:rPr lang="en-US" sz="5400">
                <a:solidFill>
                  <a:srgbClr val="FFBF1F"/>
                </a:solidFill>
              </a:rPr>
              <a:t>Origin of Science Fiction</a:t>
            </a:r>
          </a:p>
        </p:txBody>
      </p:sp>
      <p:sp>
        <p:nvSpPr>
          <p:cNvPr id="603139" name="Rectangle 3"/>
          <p:cNvSpPr>
            <a:spLocks noGrp="1" noChangeArrowheads="1"/>
          </p:cNvSpPr>
          <p:nvPr>
            <p:ph type="body" sz="half" idx="1"/>
          </p:nvPr>
        </p:nvSpPr>
        <p:spPr>
          <a:xfrm>
            <a:off x="533400" y="1828800"/>
            <a:ext cx="4876800" cy="4038600"/>
          </a:xfrm>
        </p:spPr>
        <p:txBody>
          <a:bodyPr/>
          <a:lstStyle/>
          <a:p>
            <a:pPr>
              <a:lnSpc>
                <a:spcPct val="80000"/>
              </a:lnSpc>
              <a:buFont typeface="Wingdings" pitchFamily="2" charset="2"/>
              <a:buNone/>
            </a:pPr>
            <a:r>
              <a:rPr lang="en-US" sz="2800">
                <a:solidFill>
                  <a:srgbClr val="FFBF1F"/>
                </a:solidFill>
              </a:rPr>
              <a:t>Result: the expectation that the future can and will be </a:t>
            </a:r>
            <a:r>
              <a:rPr lang="en-US" sz="2800" i="1">
                <a:solidFill>
                  <a:srgbClr val="FFBF1F"/>
                </a:solidFill>
              </a:rPr>
              <a:t>different from the past</a:t>
            </a:r>
            <a:r>
              <a:rPr lang="en-US" sz="2800">
                <a:solidFill>
                  <a:srgbClr val="FFBF1F"/>
                </a:solidFill>
              </a:rPr>
              <a:t> – that current forms of technology and social organisation may give way to new and very different ones</a:t>
            </a:r>
          </a:p>
          <a:p>
            <a:pPr>
              <a:lnSpc>
                <a:spcPct val="80000"/>
              </a:lnSpc>
              <a:buFont typeface="Wingdings" pitchFamily="2" charset="2"/>
              <a:buNone/>
            </a:pPr>
            <a:r>
              <a:rPr lang="en-US" sz="2800">
                <a:solidFill>
                  <a:srgbClr val="FFBF1F"/>
                </a:solidFill>
              </a:rPr>
              <a:t>This is a </a:t>
            </a:r>
            <a:r>
              <a:rPr lang="en-US" sz="2900" i="1">
                <a:solidFill>
                  <a:srgbClr val="FFBF1F"/>
                </a:solidFill>
              </a:rPr>
              <a:t>new</a:t>
            </a:r>
            <a:r>
              <a:rPr lang="en-US" sz="2900">
                <a:solidFill>
                  <a:srgbClr val="FFBF1F"/>
                </a:solidFill>
              </a:rPr>
              <a:t> outlook, and demands a new genre to explore it</a:t>
            </a:r>
          </a:p>
        </p:txBody>
      </p:sp>
      <p:pic>
        <p:nvPicPr>
          <p:cNvPr id="603141" name="Picture 5" descr="City_of_the_Future"/>
          <p:cNvPicPr>
            <a:picLocks noChangeAspect="1" noChangeArrowheads="1"/>
          </p:cNvPicPr>
          <p:nvPr>
            <p:ph sz="half" idx="2"/>
          </p:nvPr>
        </p:nvPicPr>
        <p:blipFill>
          <a:blip r:embed="rId2"/>
          <a:srcRect/>
          <a:stretch>
            <a:fillRect/>
          </a:stretch>
        </p:blipFill>
        <p:spPr>
          <a:xfrm>
            <a:off x="5791200" y="1828800"/>
            <a:ext cx="2789238" cy="4191000"/>
          </a:xfrm>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Grp="1" noChangeArrowheads="1"/>
          </p:cNvSpPr>
          <p:nvPr>
            <p:ph type="title"/>
          </p:nvPr>
        </p:nvSpPr>
        <p:spPr/>
        <p:txBody>
          <a:bodyPr/>
          <a:lstStyle/>
          <a:p>
            <a:pPr algn="ctr"/>
            <a:r>
              <a:rPr lang="en-US" sz="5400">
                <a:solidFill>
                  <a:srgbClr val="FFBF1F"/>
                </a:solidFill>
              </a:rPr>
              <a:t>Cautionary Note</a:t>
            </a:r>
          </a:p>
        </p:txBody>
      </p:sp>
      <p:sp>
        <p:nvSpPr>
          <p:cNvPr id="620547" name="Rectangle 3"/>
          <p:cNvSpPr>
            <a:spLocks noGrp="1" noChangeArrowheads="1"/>
          </p:cNvSpPr>
          <p:nvPr>
            <p:ph type="body" sz="half" idx="1"/>
          </p:nvPr>
        </p:nvSpPr>
        <p:spPr>
          <a:xfrm>
            <a:off x="2286000" y="1828800"/>
            <a:ext cx="3962400" cy="4038600"/>
          </a:xfrm>
        </p:spPr>
        <p:txBody>
          <a:bodyPr/>
          <a:lstStyle/>
          <a:p>
            <a:pPr>
              <a:lnSpc>
                <a:spcPct val="90000"/>
              </a:lnSpc>
              <a:buFont typeface="Wingdings" pitchFamily="2" charset="2"/>
              <a:buNone/>
            </a:pPr>
            <a:r>
              <a:rPr lang="en-US" sz="2500">
                <a:solidFill>
                  <a:srgbClr val="FFBF1F"/>
                </a:solidFill>
              </a:rPr>
              <a:t>  If you know science fiction only through movies and tv shows rather than through novels and short stories, then you know it in what is (</a:t>
            </a:r>
            <a:r>
              <a:rPr lang="en-US" sz="2500" i="1">
                <a:solidFill>
                  <a:srgbClr val="FFBF1F"/>
                </a:solidFill>
              </a:rPr>
              <a:t>usually </a:t>
            </a:r>
            <a:r>
              <a:rPr lang="en-US" sz="2500">
                <a:solidFill>
                  <a:srgbClr val="FFBF1F"/>
                </a:solidFill>
              </a:rPr>
              <a:t>– there are honourable exceptions!) its least sophisticated, least thoughtful form</a:t>
            </a:r>
          </a:p>
        </p:txBody>
      </p:sp>
      <p:graphicFrame>
        <p:nvGraphicFramePr>
          <p:cNvPr id="620550" name="Object 6"/>
          <p:cNvGraphicFramePr>
            <a:graphicFrameLocks noChangeAspect="1"/>
          </p:cNvGraphicFramePr>
          <p:nvPr>
            <p:ph sz="quarter" idx="2"/>
          </p:nvPr>
        </p:nvGraphicFramePr>
        <p:xfrm>
          <a:off x="6248400" y="2133600"/>
          <a:ext cx="2433638" cy="3276600"/>
        </p:xfrm>
        <a:graphic>
          <a:graphicData uri="http://schemas.openxmlformats.org/presentationml/2006/ole">
            <p:oleObj spid="_x0000_s620550" name="Bitmap Image" r:id="rId3" imgW="2448267" imgH="3296110" progId="Paint.Picture">
              <p:embed/>
            </p:oleObj>
          </a:graphicData>
        </a:graphic>
      </p:graphicFrame>
      <p:pic>
        <p:nvPicPr>
          <p:cNvPr id="620553" name="Picture 9" descr="t130532cms5"/>
          <p:cNvPicPr>
            <a:picLocks noChangeAspect="1" noChangeArrowheads="1"/>
          </p:cNvPicPr>
          <p:nvPr>
            <p:ph sz="quarter" idx="3"/>
          </p:nvPr>
        </p:nvPicPr>
        <p:blipFill>
          <a:blip r:embed="rId4"/>
          <a:srcRect/>
          <a:stretch>
            <a:fillRect/>
          </a:stretch>
        </p:blipFill>
        <p:spPr>
          <a:xfrm>
            <a:off x="381000" y="2133600"/>
            <a:ext cx="2124075" cy="3048000"/>
          </a:xfrm>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p:cNvSpPr>
            <a:spLocks noGrp="1" noChangeArrowheads="1"/>
          </p:cNvSpPr>
          <p:nvPr>
            <p:ph type="title"/>
          </p:nvPr>
        </p:nvSpPr>
        <p:spPr/>
        <p:txBody>
          <a:bodyPr/>
          <a:lstStyle/>
          <a:p>
            <a:pPr algn="ctr"/>
            <a:r>
              <a:rPr lang="en-US" sz="5400">
                <a:solidFill>
                  <a:srgbClr val="FFBF1F"/>
                </a:solidFill>
              </a:rPr>
              <a:t>Mary Shelley</a:t>
            </a:r>
          </a:p>
        </p:txBody>
      </p:sp>
      <p:sp>
        <p:nvSpPr>
          <p:cNvPr id="610307" name="Rectangle 3"/>
          <p:cNvSpPr>
            <a:spLocks noGrp="1" noChangeArrowheads="1"/>
          </p:cNvSpPr>
          <p:nvPr>
            <p:ph type="body" sz="half" idx="1"/>
          </p:nvPr>
        </p:nvSpPr>
        <p:spPr>
          <a:xfrm>
            <a:off x="533400" y="1828800"/>
            <a:ext cx="5029200" cy="4495800"/>
          </a:xfrm>
        </p:spPr>
        <p:txBody>
          <a:bodyPr/>
          <a:lstStyle/>
          <a:p>
            <a:pPr>
              <a:lnSpc>
                <a:spcPct val="90000"/>
              </a:lnSpc>
              <a:buFont typeface="Wingdings" pitchFamily="2" charset="2"/>
              <a:buNone/>
            </a:pPr>
            <a:r>
              <a:rPr lang="en-US" sz="2500">
                <a:solidFill>
                  <a:srgbClr val="FFBF1F"/>
                </a:solidFill>
              </a:rPr>
              <a:t>Mary Shelley (1797-1851), a pioneer of science fiction, was the daughter of Mary Wollstonecraft, pioneer of feminism, and of William Godwin, pioneer of anarchism; her husband was Percy Shelley, romantic poet and political radical</a:t>
            </a:r>
          </a:p>
          <a:p>
            <a:pPr>
              <a:lnSpc>
                <a:spcPct val="90000"/>
              </a:lnSpc>
              <a:buFont typeface="Wingdings" pitchFamily="2" charset="2"/>
              <a:buNone/>
            </a:pPr>
            <a:r>
              <a:rPr lang="en-US" sz="2500">
                <a:solidFill>
                  <a:srgbClr val="FFBF1F"/>
                </a:solidFill>
              </a:rPr>
              <a:t>In short, she was deeply immersed in the futurist thought of her day</a:t>
            </a:r>
          </a:p>
        </p:txBody>
      </p:sp>
      <p:pic>
        <p:nvPicPr>
          <p:cNvPr id="610315" name="Picture 11" descr="shelley"/>
          <p:cNvPicPr>
            <a:picLocks noChangeAspect="1" noChangeArrowheads="1"/>
          </p:cNvPicPr>
          <p:nvPr>
            <p:ph sz="half" idx="2"/>
          </p:nvPr>
        </p:nvPicPr>
        <p:blipFill>
          <a:blip r:embed="rId2"/>
          <a:srcRect/>
          <a:stretch>
            <a:fillRect/>
          </a:stretch>
        </p:blipFill>
        <p:spPr>
          <a:xfrm>
            <a:off x="5562600" y="1981200"/>
            <a:ext cx="3117850" cy="3886200"/>
          </a:xfrm>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p:cNvSpPr>
            <a:spLocks noGrp="1" noChangeArrowheads="1"/>
          </p:cNvSpPr>
          <p:nvPr>
            <p:ph type="title"/>
          </p:nvPr>
        </p:nvSpPr>
        <p:spPr/>
        <p:txBody>
          <a:bodyPr/>
          <a:lstStyle/>
          <a:p>
            <a:pPr algn="ctr"/>
            <a:r>
              <a:rPr lang="en-US" sz="5400">
                <a:solidFill>
                  <a:srgbClr val="FFBF1F"/>
                </a:solidFill>
              </a:rPr>
              <a:t>Mary Shelley</a:t>
            </a:r>
          </a:p>
        </p:txBody>
      </p:sp>
      <p:sp>
        <p:nvSpPr>
          <p:cNvPr id="611331" name="Rectangle 3"/>
          <p:cNvSpPr>
            <a:spLocks noGrp="1" noChangeArrowheads="1"/>
          </p:cNvSpPr>
          <p:nvPr>
            <p:ph type="body" sz="half" idx="1"/>
          </p:nvPr>
        </p:nvSpPr>
        <p:spPr>
          <a:xfrm>
            <a:off x="381000" y="1828800"/>
            <a:ext cx="3657600" cy="4343400"/>
          </a:xfrm>
        </p:spPr>
        <p:txBody>
          <a:bodyPr/>
          <a:lstStyle/>
          <a:p>
            <a:pPr>
              <a:buFont typeface="Wingdings" pitchFamily="2" charset="2"/>
              <a:buNone/>
            </a:pPr>
            <a:r>
              <a:rPr lang="en-US" sz="2400">
                <a:solidFill>
                  <a:srgbClr val="FFBF1F"/>
                </a:solidFill>
              </a:rPr>
              <a:t> Her novel </a:t>
            </a:r>
            <a:r>
              <a:rPr lang="en-US" sz="2400" i="1">
                <a:solidFill>
                  <a:srgbClr val="FFBF1F"/>
                </a:solidFill>
              </a:rPr>
              <a:t>Frankenstein: or The Modern Prometheus </a:t>
            </a:r>
            <a:r>
              <a:rPr lang="en-US" sz="2400">
                <a:solidFill>
                  <a:srgbClr val="FFBF1F"/>
                </a:solidFill>
              </a:rPr>
              <a:t>(1818) dramatizes a scientist’s inability to control, and unwillingness to accept responsibility for, the destructive forces he unleashes</a:t>
            </a:r>
          </a:p>
        </p:txBody>
      </p:sp>
      <p:pic>
        <p:nvPicPr>
          <p:cNvPr id="611332" name="Picture 4" descr="young_frankenstein_doc_small"/>
          <p:cNvPicPr>
            <a:picLocks noChangeAspect="1" noChangeArrowheads="1"/>
          </p:cNvPicPr>
          <p:nvPr>
            <p:ph sz="half" idx="2"/>
          </p:nvPr>
        </p:nvPicPr>
        <p:blipFill>
          <a:blip r:embed="rId2"/>
          <a:srcRect/>
          <a:stretch>
            <a:fillRect/>
          </a:stretch>
        </p:blipFill>
        <p:spPr>
          <a:xfrm>
            <a:off x="4114800" y="2057400"/>
            <a:ext cx="4572000" cy="3656013"/>
          </a:xfrm>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p:txBody>
          <a:bodyPr/>
          <a:lstStyle/>
          <a:p>
            <a:pPr algn="ctr"/>
            <a:r>
              <a:rPr lang="en-US" sz="5400">
                <a:solidFill>
                  <a:srgbClr val="FFBF1F"/>
                </a:solidFill>
              </a:rPr>
              <a:t>Mary Shelley</a:t>
            </a:r>
          </a:p>
        </p:txBody>
      </p:sp>
      <p:sp>
        <p:nvSpPr>
          <p:cNvPr id="612355" name="Rectangle 3"/>
          <p:cNvSpPr>
            <a:spLocks noGrp="1" noChangeArrowheads="1"/>
          </p:cNvSpPr>
          <p:nvPr>
            <p:ph type="body" sz="half" idx="1"/>
          </p:nvPr>
        </p:nvSpPr>
        <p:spPr>
          <a:xfrm>
            <a:off x="228600" y="1828800"/>
            <a:ext cx="3657600" cy="4343400"/>
          </a:xfrm>
        </p:spPr>
        <p:txBody>
          <a:bodyPr/>
          <a:lstStyle/>
          <a:p>
            <a:pPr>
              <a:buFont typeface="Wingdings" pitchFamily="2" charset="2"/>
              <a:buNone/>
            </a:pPr>
            <a:r>
              <a:rPr lang="en-US" sz="2400">
                <a:solidFill>
                  <a:srgbClr val="FFBF1F"/>
                </a:solidFill>
              </a:rPr>
              <a:t>  Her lesser-known novel </a:t>
            </a:r>
            <a:r>
              <a:rPr lang="en-US" sz="2400" i="1">
                <a:solidFill>
                  <a:srgbClr val="FFBF1F"/>
                </a:solidFill>
              </a:rPr>
              <a:t>The Last Man </a:t>
            </a:r>
            <a:r>
              <a:rPr lang="en-US" sz="2400">
                <a:solidFill>
                  <a:srgbClr val="FFBF1F"/>
                </a:solidFill>
              </a:rPr>
              <a:t>(1826) depicts a 21</a:t>
            </a:r>
            <a:r>
              <a:rPr lang="en-US" sz="2400" baseline="30000">
                <a:solidFill>
                  <a:srgbClr val="FFBF1F"/>
                </a:solidFill>
              </a:rPr>
              <a:t>st</a:t>
            </a:r>
            <a:r>
              <a:rPr lang="en-US" sz="2400">
                <a:solidFill>
                  <a:srgbClr val="FFBF1F"/>
                </a:solidFill>
              </a:rPr>
              <a:t>-century world of airship travel, an America divided into independent northern and southern confederacies, and a plague that wipes out the entire human race except for the narrator</a:t>
            </a:r>
          </a:p>
        </p:txBody>
      </p:sp>
      <p:graphicFrame>
        <p:nvGraphicFramePr>
          <p:cNvPr id="612358" name="Object 6"/>
          <p:cNvGraphicFramePr>
            <a:graphicFrameLocks noChangeAspect="1"/>
          </p:cNvGraphicFramePr>
          <p:nvPr>
            <p:ph sz="half" idx="2"/>
          </p:nvPr>
        </p:nvGraphicFramePr>
        <p:xfrm>
          <a:off x="3962400" y="1981200"/>
          <a:ext cx="4800600" cy="3521075"/>
        </p:xfrm>
        <a:graphic>
          <a:graphicData uri="http://schemas.openxmlformats.org/presentationml/2006/ole">
            <p:oleObj spid="_x0000_s612358" name="Bitmap Image" r:id="rId3" imgW="3572374" imgH="2619048" progId="Paint.Picture">
              <p:embed/>
            </p:oleObj>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p:txBody>
          <a:bodyPr/>
          <a:lstStyle/>
          <a:p>
            <a:pPr algn="ctr"/>
            <a:r>
              <a:rPr lang="en-US">
                <a:solidFill>
                  <a:srgbClr val="FFBF1F"/>
                </a:solidFill>
              </a:rPr>
              <a:t>Two Prolific Pioneers </a:t>
            </a:r>
            <a:br>
              <a:rPr lang="en-US">
                <a:solidFill>
                  <a:srgbClr val="FFBF1F"/>
                </a:solidFill>
              </a:rPr>
            </a:br>
            <a:r>
              <a:rPr lang="en-US">
                <a:solidFill>
                  <a:srgbClr val="FFBF1F"/>
                </a:solidFill>
              </a:rPr>
              <a:t>of Science Fiction</a:t>
            </a:r>
          </a:p>
        </p:txBody>
      </p:sp>
      <p:sp>
        <p:nvSpPr>
          <p:cNvPr id="605187" name="Rectangle 3"/>
          <p:cNvSpPr>
            <a:spLocks noGrp="1" noChangeArrowheads="1"/>
          </p:cNvSpPr>
          <p:nvPr>
            <p:ph type="body" sz="half" idx="1"/>
          </p:nvPr>
        </p:nvSpPr>
        <p:spPr>
          <a:xfrm>
            <a:off x="533400" y="5410200"/>
            <a:ext cx="8077200" cy="457200"/>
          </a:xfrm>
        </p:spPr>
        <p:txBody>
          <a:bodyPr/>
          <a:lstStyle/>
          <a:p>
            <a:pPr>
              <a:lnSpc>
                <a:spcPct val="80000"/>
              </a:lnSpc>
              <a:buFont typeface="Wingdings" pitchFamily="2" charset="2"/>
              <a:buNone/>
            </a:pPr>
            <a:r>
              <a:rPr lang="en-US" sz="2400">
                <a:solidFill>
                  <a:srgbClr val="FFBF1F"/>
                </a:solidFill>
              </a:rPr>
              <a:t> Jules Verne (1828-1905)            H. G. Wells (1866-1946)</a:t>
            </a:r>
          </a:p>
        </p:txBody>
      </p:sp>
      <p:pic>
        <p:nvPicPr>
          <p:cNvPr id="605192" name="Picture 8" descr="JwellsH"/>
          <p:cNvPicPr>
            <a:picLocks noChangeAspect="1" noChangeArrowheads="1"/>
          </p:cNvPicPr>
          <p:nvPr>
            <p:ph sz="quarter" idx="3"/>
          </p:nvPr>
        </p:nvPicPr>
        <p:blipFill>
          <a:blip r:embed="rId3"/>
          <a:srcRect/>
          <a:stretch>
            <a:fillRect/>
          </a:stretch>
        </p:blipFill>
        <p:spPr>
          <a:xfrm>
            <a:off x="5638800" y="1828800"/>
            <a:ext cx="2322513" cy="3505200"/>
          </a:xfrm>
          <a:noFill/>
          <a:ln/>
        </p:spPr>
      </p:pic>
      <p:graphicFrame>
        <p:nvGraphicFramePr>
          <p:cNvPr id="605199" name="Object 15"/>
          <p:cNvGraphicFramePr>
            <a:graphicFrameLocks noChangeAspect="1"/>
          </p:cNvGraphicFramePr>
          <p:nvPr>
            <p:ph sz="quarter" idx="2"/>
          </p:nvPr>
        </p:nvGraphicFramePr>
        <p:xfrm>
          <a:off x="1066800" y="1828800"/>
          <a:ext cx="2679700" cy="3505200"/>
        </p:xfrm>
        <a:graphic>
          <a:graphicData uri="http://schemas.openxmlformats.org/presentationml/2006/ole">
            <p:oleObj spid="_x0000_s605199" name="Bitmap Image" r:id="rId4" imgW="2352381" imgH="3076190" progId="Paint.Picture">
              <p:embed/>
            </p:oleObj>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378" name="Rectangle 2"/>
          <p:cNvSpPr>
            <a:spLocks noGrp="1" noChangeArrowheads="1"/>
          </p:cNvSpPr>
          <p:nvPr>
            <p:ph type="title"/>
          </p:nvPr>
        </p:nvSpPr>
        <p:spPr/>
        <p:txBody>
          <a:bodyPr/>
          <a:lstStyle/>
          <a:p>
            <a:pPr algn="ctr"/>
            <a:r>
              <a:rPr lang="en-US" sz="5400">
                <a:solidFill>
                  <a:srgbClr val="FFBF1F"/>
                </a:solidFill>
              </a:rPr>
              <a:t>Verne and Wells</a:t>
            </a:r>
          </a:p>
        </p:txBody>
      </p:sp>
      <p:sp>
        <p:nvSpPr>
          <p:cNvPr id="613379" name="Rectangle 3"/>
          <p:cNvSpPr>
            <a:spLocks noGrp="1" noChangeArrowheads="1"/>
          </p:cNvSpPr>
          <p:nvPr>
            <p:ph type="body" sz="half" idx="1"/>
          </p:nvPr>
        </p:nvSpPr>
        <p:spPr>
          <a:xfrm>
            <a:off x="533400" y="1828800"/>
            <a:ext cx="4876800" cy="4038600"/>
          </a:xfrm>
        </p:spPr>
        <p:txBody>
          <a:bodyPr/>
          <a:lstStyle/>
          <a:p>
            <a:pPr>
              <a:lnSpc>
                <a:spcPct val="90000"/>
              </a:lnSpc>
              <a:buFont typeface="Wingdings" pitchFamily="2" charset="2"/>
              <a:buNone/>
            </a:pPr>
            <a:r>
              <a:rPr lang="en-US" sz="3000">
                <a:solidFill>
                  <a:srgbClr val="FFBF1F"/>
                </a:solidFill>
              </a:rPr>
              <a:t>Verne’s characters travel by balloon (</a:t>
            </a:r>
            <a:r>
              <a:rPr lang="en-US" sz="3000" i="1">
                <a:solidFill>
                  <a:srgbClr val="FFBF1F"/>
                </a:solidFill>
              </a:rPr>
              <a:t>Five Weeks in a Balloon,</a:t>
            </a:r>
            <a:r>
              <a:rPr lang="en-US" sz="3000">
                <a:solidFill>
                  <a:srgbClr val="FFBF1F"/>
                </a:solidFill>
              </a:rPr>
              <a:t> 1863)</a:t>
            </a:r>
            <a:r>
              <a:rPr lang="en-US" sz="3000" i="1">
                <a:solidFill>
                  <a:srgbClr val="FFBF1F"/>
                </a:solidFill>
              </a:rPr>
              <a:t>,</a:t>
            </a:r>
            <a:r>
              <a:rPr lang="en-US" sz="3000">
                <a:solidFill>
                  <a:srgbClr val="FFBF1F"/>
                </a:solidFill>
              </a:rPr>
              <a:t> by submarine (</a:t>
            </a:r>
            <a:r>
              <a:rPr lang="en-US" sz="3000" i="1">
                <a:solidFill>
                  <a:srgbClr val="FFBF1F"/>
                </a:solidFill>
              </a:rPr>
              <a:t>20,000 Leagues Under the Sea</a:t>
            </a:r>
            <a:r>
              <a:rPr lang="en-US" sz="3000">
                <a:solidFill>
                  <a:srgbClr val="FFBF1F"/>
                </a:solidFill>
              </a:rPr>
              <a:t>, 1870) and by airplane/helicopter (</a:t>
            </a:r>
            <a:r>
              <a:rPr lang="en-US" sz="3000" i="1">
                <a:solidFill>
                  <a:srgbClr val="FFBF1F"/>
                </a:solidFill>
              </a:rPr>
              <a:t>Robur the Conqueror, </a:t>
            </a:r>
            <a:r>
              <a:rPr lang="en-US" sz="3000">
                <a:solidFill>
                  <a:srgbClr val="FFBF1F"/>
                </a:solidFill>
              </a:rPr>
              <a:t>1886)</a:t>
            </a:r>
          </a:p>
        </p:txBody>
      </p:sp>
      <p:pic>
        <p:nvPicPr>
          <p:cNvPr id="613380" name="Picture 4" descr="robur_epouvante"/>
          <p:cNvPicPr>
            <a:picLocks noChangeAspect="1" noChangeArrowheads="1"/>
          </p:cNvPicPr>
          <p:nvPr>
            <p:ph sz="half" idx="2"/>
          </p:nvPr>
        </p:nvPicPr>
        <p:blipFill>
          <a:blip r:embed="rId2"/>
          <a:srcRect/>
          <a:stretch>
            <a:fillRect/>
          </a:stretch>
        </p:blipFill>
        <p:spPr>
          <a:xfrm>
            <a:off x="5791200" y="1905000"/>
            <a:ext cx="2655888" cy="3992563"/>
          </a:xfrm>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p:cNvSpPr>
            <a:spLocks noGrp="1" noChangeArrowheads="1"/>
          </p:cNvSpPr>
          <p:nvPr>
            <p:ph type="title"/>
          </p:nvPr>
        </p:nvSpPr>
        <p:spPr/>
        <p:txBody>
          <a:bodyPr/>
          <a:lstStyle/>
          <a:p>
            <a:pPr algn="ctr"/>
            <a:r>
              <a:rPr lang="en-US" sz="5400">
                <a:solidFill>
                  <a:srgbClr val="FFBF1F"/>
                </a:solidFill>
              </a:rPr>
              <a:t>Verne and Wells</a:t>
            </a:r>
          </a:p>
        </p:txBody>
      </p:sp>
      <p:sp>
        <p:nvSpPr>
          <p:cNvPr id="606211" name="Rectangle 3"/>
          <p:cNvSpPr>
            <a:spLocks noGrp="1" noChangeArrowheads="1"/>
          </p:cNvSpPr>
          <p:nvPr>
            <p:ph type="body" sz="half" idx="1"/>
          </p:nvPr>
        </p:nvSpPr>
        <p:spPr>
          <a:xfrm>
            <a:off x="533400" y="1828800"/>
            <a:ext cx="4876800" cy="4191000"/>
          </a:xfrm>
        </p:spPr>
        <p:txBody>
          <a:bodyPr/>
          <a:lstStyle/>
          <a:p>
            <a:pPr>
              <a:buFont typeface="Wingdings" pitchFamily="2" charset="2"/>
              <a:buNone/>
            </a:pPr>
            <a:r>
              <a:rPr lang="en-US" sz="3300">
                <a:solidFill>
                  <a:srgbClr val="FFBF1F"/>
                </a:solidFill>
              </a:rPr>
              <a:t>In Verne’s first two Gun Club novels, </a:t>
            </a:r>
            <a:r>
              <a:rPr lang="en-US" sz="3300" i="1">
                <a:solidFill>
                  <a:srgbClr val="FFBF1F"/>
                </a:solidFill>
              </a:rPr>
              <a:t>From the Earth to the Moon</a:t>
            </a:r>
            <a:r>
              <a:rPr lang="en-US" sz="3300">
                <a:solidFill>
                  <a:srgbClr val="FFBF1F"/>
                </a:solidFill>
              </a:rPr>
              <a:t> (1865) and </a:t>
            </a:r>
            <a:r>
              <a:rPr lang="en-US" sz="3300" i="1">
                <a:solidFill>
                  <a:srgbClr val="FFBF1F"/>
                </a:solidFill>
              </a:rPr>
              <a:t>Around the Moon</a:t>
            </a:r>
            <a:r>
              <a:rPr lang="en-US" sz="3300">
                <a:solidFill>
                  <a:srgbClr val="FFBF1F"/>
                </a:solidFill>
              </a:rPr>
              <a:t> (1870), Verne depicts a moon launch from Florida and splashdown return</a:t>
            </a:r>
          </a:p>
        </p:txBody>
      </p:sp>
      <p:pic>
        <p:nvPicPr>
          <p:cNvPr id="606213" name="Picture 5" descr="not-science-fiction"/>
          <p:cNvPicPr>
            <a:picLocks noChangeAspect="1" noChangeArrowheads="1"/>
          </p:cNvPicPr>
          <p:nvPr>
            <p:ph sz="half" idx="2"/>
          </p:nvPr>
        </p:nvPicPr>
        <p:blipFill>
          <a:blip r:embed="rId2"/>
          <a:srcRect/>
          <a:stretch>
            <a:fillRect/>
          </a:stretch>
        </p:blipFill>
        <p:spPr>
          <a:xfrm>
            <a:off x="5715000" y="1828800"/>
            <a:ext cx="2743200" cy="4114800"/>
          </a:xfrm>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2" name="Rectangle 2"/>
          <p:cNvSpPr>
            <a:spLocks noGrp="1" noChangeArrowheads="1"/>
          </p:cNvSpPr>
          <p:nvPr>
            <p:ph type="title"/>
          </p:nvPr>
        </p:nvSpPr>
        <p:spPr/>
        <p:txBody>
          <a:bodyPr/>
          <a:lstStyle/>
          <a:p>
            <a:pPr algn="ctr"/>
            <a:r>
              <a:rPr lang="en-US" sz="5400">
                <a:solidFill>
                  <a:srgbClr val="FFBF1F"/>
                </a:solidFill>
              </a:rPr>
              <a:t>Verne and Wells</a:t>
            </a:r>
          </a:p>
        </p:txBody>
      </p:sp>
      <p:sp>
        <p:nvSpPr>
          <p:cNvPr id="614403" name="Rectangle 3"/>
          <p:cNvSpPr>
            <a:spLocks noGrp="1" noChangeArrowheads="1"/>
          </p:cNvSpPr>
          <p:nvPr>
            <p:ph type="body" sz="half" idx="1"/>
          </p:nvPr>
        </p:nvSpPr>
        <p:spPr>
          <a:xfrm>
            <a:off x="304800" y="1828800"/>
            <a:ext cx="4724400" cy="4191000"/>
          </a:xfrm>
        </p:spPr>
        <p:txBody>
          <a:bodyPr/>
          <a:lstStyle/>
          <a:p>
            <a:pPr>
              <a:lnSpc>
                <a:spcPct val="80000"/>
              </a:lnSpc>
              <a:buFont typeface="Wingdings" pitchFamily="2" charset="2"/>
              <a:buNone/>
            </a:pPr>
            <a:r>
              <a:rPr lang="en-US" sz="2800">
                <a:solidFill>
                  <a:srgbClr val="FFBF1F"/>
                </a:solidFill>
              </a:rPr>
              <a:t> In Verne’s third Gun Club novel, </a:t>
            </a:r>
            <a:r>
              <a:rPr lang="en-US" sz="2800" i="1">
                <a:solidFill>
                  <a:srgbClr val="FFBF1F"/>
                </a:solidFill>
              </a:rPr>
              <a:t>Topsy-Turvy</a:t>
            </a:r>
            <a:r>
              <a:rPr lang="en-US" sz="2800">
                <a:solidFill>
                  <a:srgbClr val="FFBF1F"/>
                </a:solidFill>
              </a:rPr>
              <a:t> (1890), engineers buy up land in the arctic and then attempt to knock the earth off its axis to make their land warmer and so raise property values</a:t>
            </a:r>
          </a:p>
          <a:p>
            <a:pPr>
              <a:lnSpc>
                <a:spcPct val="80000"/>
              </a:lnSpc>
              <a:buFont typeface="Wingdings" pitchFamily="2" charset="2"/>
              <a:buNone/>
            </a:pPr>
            <a:r>
              <a:rPr lang="en-US" sz="2800">
                <a:solidFill>
                  <a:srgbClr val="FFBF1F"/>
                </a:solidFill>
              </a:rPr>
              <a:t> Anthropogenic global climate change, including melting icecaps!</a:t>
            </a:r>
          </a:p>
        </p:txBody>
      </p:sp>
      <p:graphicFrame>
        <p:nvGraphicFramePr>
          <p:cNvPr id="614410" name="Object 10"/>
          <p:cNvGraphicFramePr>
            <a:graphicFrameLocks noChangeAspect="1"/>
          </p:cNvGraphicFramePr>
          <p:nvPr>
            <p:ph sz="half" idx="2"/>
          </p:nvPr>
        </p:nvGraphicFramePr>
        <p:xfrm>
          <a:off x="5029200" y="2057400"/>
          <a:ext cx="3733800" cy="3722688"/>
        </p:xfrm>
        <a:graphic>
          <a:graphicData uri="http://schemas.openxmlformats.org/presentationml/2006/ole">
            <p:oleObj spid="_x0000_s614410" name="Bitmap Image" r:id="rId3" imgW="3191320" imgH="3180952" progId="Paint.Picture">
              <p:embed/>
            </p:oleObj>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p:cNvSpPr>
            <a:spLocks noGrp="1" noChangeArrowheads="1"/>
          </p:cNvSpPr>
          <p:nvPr>
            <p:ph type="title"/>
          </p:nvPr>
        </p:nvSpPr>
        <p:spPr/>
        <p:txBody>
          <a:bodyPr/>
          <a:lstStyle/>
          <a:p>
            <a:pPr algn="ctr"/>
            <a:r>
              <a:rPr lang="en-US" sz="5400">
                <a:solidFill>
                  <a:srgbClr val="FFBF1F"/>
                </a:solidFill>
              </a:rPr>
              <a:t>Verne and Wells</a:t>
            </a:r>
          </a:p>
        </p:txBody>
      </p:sp>
      <p:sp>
        <p:nvSpPr>
          <p:cNvPr id="709635" name="Rectangle 3"/>
          <p:cNvSpPr>
            <a:spLocks noGrp="1" noChangeArrowheads="1"/>
          </p:cNvSpPr>
          <p:nvPr>
            <p:ph type="body" sz="half" idx="1"/>
          </p:nvPr>
        </p:nvSpPr>
        <p:spPr>
          <a:xfrm>
            <a:off x="304800" y="1828800"/>
            <a:ext cx="4191000" cy="4191000"/>
          </a:xfrm>
        </p:spPr>
        <p:txBody>
          <a:bodyPr/>
          <a:lstStyle/>
          <a:p>
            <a:pPr>
              <a:buFont typeface="Wingdings" pitchFamily="2" charset="2"/>
              <a:buNone/>
            </a:pPr>
            <a:r>
              <a:rPr lang="en-US" sz="2500">
                <a:solidFill>
                  <a:srgbClr val="FFBF1F"/>
                </a:solidFill>
              </a:rPr>
              <a:t> While Verne got his astronauts to the moon by shooting them out of giant cannons, Wells had his </a:t>
            </a:r>
            <a:r>
              <a:rPr lang="en-US" sz="2500" i="1">
                <a:solidFill>
                  <a:srgbClr val="FFBF1F"/>
                </a:solidFill>
              </a:rPr>
              <a:t>First Men in the Moon</a:t>
            </a:r>
            <a:r>
              <a:rPr lang="en-US" sz="2500">
                <a:solidFill>
                  <a:srgbClr val="FFBF1F"/>
                </a:solidFill>
              </a:rPr>
              <a:t> (1901) use a special alloy that shielded against gravity</a:t>
            </a:r>
          </a:p>
          <a:p>
            <a:pPr>
              <a:buFont typeface="Wingdings" pitchFamily="2" charset="2"/>
              <a:buNone/>
            </a:pPr>
            <a:r>
              <a:rPr lang="en-US" sz="2500">
                <a:solidFill>
                  <a:srgbClr val="FFBF1F"/>
                </a:solidFill>
              </a:rPr>
              <a:t> Interestingly, neither author used rockets ….</a:t>
            </a:r>
          </a:p>
        </p:txBody>
      </p:sp>
      <p:graphicFrame>
        <p:nvGraphicFramePr>
          <p:cNvPr id="709638" name="Object 6"/>
          <p:cNvGraphicFramePr>
            <a:graphicFrameLocks noChangeAspect="1"/>
          </p:cNvGraphicFramePr>
          <p:nvPr>
            <p:ph sz="half" idx="2"/>
          </p:nvPr>
        </p:nvGraphicFramePr>
        <p:xfrm>
          <a:off x="4713288" y="1828800"/>
          <a:ext cx="3946525" cy="4038600"/>
        </p:xfrm>
        <a:graphic>
          <a:graphicData uri="http://schemas.openxmlformats.org/presentationml/2006/ole">
            <p:oleObj spid="_x0000_s709638" name="Bitmap Image" r:id="rId3" imgW="4486901" imgH="4590476" progId="Paint.Picture">
              <p:embed/>
            </p:oleObj>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0" name="Rectangle 2"/>
          <p:cNvSpPr>
            <a:spLocks noGrp="1" noChangeArrowheads="1"/>
          </p:cNvSpPr>
          <p:nvPr>
            <p:ph type="title"/>
          </p:nvPr>
        </p:nvSpPr>
        <p:spPr/>
        <p:txBody>
          <a:bodyPr/>
          <a:lstStyle/>
          <a:p>
            <a:pPr algn="ctr"/>
            <a:r>
              <a:rPr lang="en-US" sz="5400">
                <a:solidFill>
                  <a:srgbClr val="FFBF1F"/>
                </a:solidFill>
              </a:rPr>
              <a:t>Verne and Wells</a:t>
            </a:r>
          </a:p>
        </p:txBody>
      </p:sp>
      <p:sp>
        <p:nvSpPr>
          <p:cNvPr id="616451" name="Rectangle 3"/>
          <p:cNvSpPr>
            <a:spLocks noGrp="1" noChangeArrowheads="1"/>
          </p:cNvSpPr>
          <p:nvPr>
            <p:ph type="body" sz="half" idx="1"/>
          </p:nvPr>
        </p:nvSpPr>
        <p:spPr>
          <a:xfrm>
            <a:off x="457200" y="1828800"/>
            <a:ext cx="5334000" cy="4191000"/>
          </a:xfrm>
        </p:spPr>
        <p:txBody>
          <a:bodyPr/>
          <a:lstStyle/>
          <a:p>
            <a:pPr>
              <a:buFont typeface="Wingdings" pitchFamily="2" charset="2"/>
              <a:buNone/>
            </a:pPr>
            <a:r>
              <a:rPr lang="en-US" sz="3200">
                <a:solidFill>
                  <a:srgbClr val="FFBF1F"/>
                </a:solidFill>
              </a:rPr>
              <a:t> Wells’ </a:t>
            </a:r>
            <a:r>
              <a:rPr lang="en-US" sz="3200" i="1">
                <a:solidFill>
                  <a:srgbClr val="FFBF1F"/>
                </a:solidFill>
              </a:rPr>
              <a:t>Island of Dr. Moreau</a:t>
            </a:r>
            <a:r>
              <a:rPr lang="en-US" sz="3200">
                <a:solidFill>
                  <a:srgbClr val="FFBF1F"/>
                </a:solidFill>
              </a:rPr>
              <a:t> (1896) and </a:t>
            </a:r>
            <a:r>
              <a:rPr lang="en-US" sz="3200" i="1">
                <a:solidFill>
                  <a:srgbClr val="FFBF1F"/>
                </a:solidFill>
              </a:rPr>
              <a:t>Food of the Gods</a:t>
            </a:r>
            <a:r>
              <a:rPr lang="en-US" sz="3200">
                <a:solidFill>
                  <a:srgbClr val="FFBF1F"/>
                </a:solidFill>
              </a:rPr>
              <a:t> (1904) portray the results of biological experimentation (animal-human hybrids and giant animals, respectively) gone wrong</a:t>
            </a:r>
          </a:p>
        </p:txBody>
      </p:sp>
      <p:graphicFrame>
        <p:nvGraphicFramePr>
          <p:cNvPr id="616454" name="Object 6"/>
          <p:cNvGraphicFramePr>
            <a:graphicFrameLocks noChangeAspect="1"/>
          </p:cNvGraphicFramePr>
          <p:nvPr>
            <p:ph sz="half" idx="2"/>
          </p:nvPr>
        </p:nvGraphicFramePr>
        <p:xfrm>
          <a:off x="5791200" y="1905000"/>
          <a:ext cx="2817813" cy="4038600"/>
        </p:xfrm>
        <a:graphic>
          <a:graphicData uri="http://schemas.openxmlformats.org/presentationml/2006/ole">
            <p:oleObj spid="_x0000_s616454" name="Bitmap Image" r:id="rId3" imgW="4219048" imgH="6047619" progId="Paint.Picture">
              <p:embed/>
            </p:oleObj>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
          <p:cNvSpPr>
            <a:spLocks noGrp="1" noChangeArrowheads="1"/>
          </p:cNvSpPr>
          <p:nvPr>
            <p:ph type="title"/>
          </p:nvPr>
        </p:nvSpPr>
        <p:spPr/>
        <p:txBody>
          <a:bodyPr/>
          <a:lstStyle/>
          <a:p>
            <a:pPr algn="ctr"/>
            <a:r>
              <a:rPr lang="en-US" sz="5400">
                <a:solidFill>
                  <a:srgbClr val="FFBF1F"/>
                </a:solidFill>
              </a:rPr>
              <a:t>Verne and Wells</a:t>
            </a:r>
          </a:p>
        </p:txBody>
      </p:sp>
      <p:sp>
        <p:nvSpPr>
          <p:cNvPr id="615427" name="Rectangle 3"/>
          <p:cNvSpPr>
            <a:spLocks noGrp="1" noChangeArrowheads="1"/>
          </p:cNvSpPr>
          <p:nvPr>
            <p:ph type="body" sz="half" idx="1"/>
          </p:nvPr>
        </p:nvSpPr>
        <p:spPr>
          <a:xfrm>
            <a:off x="304800" y="1828800"/>
            <a:ext cx="6019800" cy="4191000"/>
          </a:xfrm>
        </p:spPr>
        <p:txBody>
          <a:bodyPr/>
          <a:lstStyle/>
          <a:p>
            <a:pPr>
              <a:lnSpc>
                <a:spcPct val="90000"/>
              </a:lnSpc>
              <a:buFont typeface="Wingdings" pitchFamily="2" charset="2"/>
              <a:buNone/>
            </a:pPr>
            <a:r>
              <a:rPr lang="en-US" sz="2500">
                <a:solidFill>
                  <a:srgbClr val="FFBF1F"/>
                </a:solidFill>
              </a:rPr>
              <a:t> Verne’s </a:t>
            </a:r>
            <a:r>
              <a:rPr lang="en-US" sz="2500" i="1">
                <a:solidFill>
                  <a:srgbClr val="FFBF1F"/>
                </a:solidFill>
              </a:rPr>
              <a:t>Paris in the 20</a:t>
            </a:r>
            <a:r>
              <a:rPr lang="en-US" sz="2500" i="1" baseline="30000">
                <a:solidFill>
                  <a:srgbClr val="FFBF1F"/>
                </a:solidFill>
              </a:rPr>
              <a:t>th</a:t>
            </a:r>
            <a:r>
              <a:rPr lang="en-US" sz="2500" i="1">
                <a:solidFill>
                  <a:srgbClr val="FFBF1F"/>
                </a:solidFill>
              </a:rPr>
              <a:t> Century</a:t>
            </a:r>
            <a:r>
              <a:rPr lang="en-US" sz="2500">
                <a:solidFill>
                  <a:srgbClr val="FFBF1F"/>
                </a:solidFill>
              </a:rPr>
              <a:t> (1863) depicts a future of technological marvels – but also of social regimentation by all-powerful government-sponsored corporations, a world in which science and engineering are prized but art and literature are scorned</a:t>
            </a:r>
          </a:p>
          <a:p>
            <a:pPr>
              <a:lnSpc>
                <a:spcPct val="90000"/>
              </a:lnSpc>
              <a:buFont typeface="Wingdings" pitchFamily="2" charset="2"/>
              <a:buNone/>
            </a:pPr>
            <a:r>
              <a:rPr lang="en-US" sz="2500">
                <a:solidFill>
                  <a:srgbClr val="FFBF1F"/>
                </a:solidFill>
              </a:rPr>
              <a:t> It ends with the hero, a poet, collapsing in despair in Père Lachaise cemetery</a:t>
            </a:r>
          </a:p>
          <a:p>
            <a:pPr>
              <a:lnSpc>
                <a:spcPct val="90000"/>
              </a:lnSpc>
              <a:buFont typeface="Wingdings" pitchFamily="2" charset="2"/>
              <a:buNone/>
            </a:pPr>
            <a:r>
              <a:rPr lang="en-US" sz="2500">
                <a:solidFill>
                  <a:srgbClr val="FFBF1F"/>
                </a:solidFill>
              </a:rPr>
              <a:t> Verne’s publisher refused to publish it</a:t>
            </a:r>
          </a:p>
        </p:txBody>
      </p:sp>
      <p:graphicFrame>
        <p:nvGraphicFramePr>
          <p:cNvPr id="615430" name="Object 6"/>
          <p:cNvGraphicFramePr>
            <a:graphicFrameLocks noChangeAspect="1"/>
          </p:cNvGraphicFramePr>
          <p:nvPr>
            <p:ph sz="half" idx="2"/>
          </p:nvPr>
        </p:nvGraphicFramePr>
        <p:xfrm>
          <a:off x="6629400" y="1828800"/>
          <a:ext cx="1989138" cy="4114800"/>
        </p:xfrm>
        <a:graphic>
          <a:graphicData uri="http://schemas.openxmlformats.org/presentationml/2006/ole">
            <p:oleObj spid="_x0000_s615430" name="Bitmap Image" r:id="rId3" imgW="1380952" imgH="2857899" progId="Paint.Picture">
              <p:embed/>
            </p:oleObj>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Rectangle 2"/>
          <p:cNvSpPr>
            <a:spLocks noGrp="1" noChangeArrowheads="1"/>
          </p:cNvSpPr>
          <p:nvPr>
            <p:ph type="title"/>
          </p:nvPr>
        </p:nvSpPr>
        <p:spPr/>
        <p:txBody>
          <a:bodyPr/>
          <a:lstStyle/>
          <a:p>
            <a:pPr algn="ctr"/>
            <a:r>
              <a:rPr lang="en-US" sz="5400">
                <a:solidFill>
                  <a:srgbClr val="FFBF1F"/>
                </a:solidFill>
              </a:rPr>
              <a:t>Verne and Wells</a:t>
            </a:r>
          </a:p>
        </p:txBody>
      </p:sp>
      <p:sp>
        <p:nvSpPr>
          <p:cNvPr id="618499" name="Rectangle 3"/>
          <p:cNvSpPr>
            <a:spLocks noGrp="1" noChangeArrowheads="1"/>
          </p:cNvSpPr>
          <p:nvPr>
            <p:ph type="body" sz="half" idx="1"/>
          </p:nvPr>
        </p:nvSpPr>
        <p:spPr>
          <a:xfrm>
            <a:off x="304800" y="1828800"/>
            <a:ext cx="5334000" cy="4191000"/>
          </a:xfrm>
        </p:spPr>
        <p:txBody>
          <a:bodyPr/>
          <a:lstStyle/>
          <a:p>
            <a:pPr>
              <a:lnSpc>
                <a:spcPct val="90000"/>
              </a:lnSpc>
              <a:buFont typeface="Wingdings" pitchFamily="2" charset="2"/>
              <a:buNone/>
            </a:pPr>
            <a:r>
              <a:rPr lang="en-US" sz="2500">
                <a:solidFill>
                  <a:srgbClr val="FFBF1F"/>
                </a:solidFill>
              </a:rPr>
              <a:t> Wells’ </a:t>
            </a:r>
            <a:r>
              <a:rPr lang="en-US" sz="2500" i="1">
                <a:solidFill>
                  <a:srgbClr val="FFBF1F"/>
                </a:solidFill>
              </a:rPr>
              <a:t>The Time Machine</a:t>
            </a:r>
            <a:r>
              <a:rPr lang="en-US" sz="2500">
                <a:solidFill>
                  <a:srgbClr val="FFBF1F"/>
                </a:solidFill>
              </a:rPr>
              <a:t> (1895) depicts a future in which divisions between socioeconomic classes have advanced to the point where humanity is divided between the childlike, surface-dwelling Eloi and the bestial, subterranean, technology-using Morlocks</a:t>
            </a:r>
          </a:p>
          <a:p>
            <a:pPr>
              <a:lnSpc>
                <a:spcPct val="90000"/>
              </a:lnSpc>
              <a:buFont typeface="Wingdings" pitchFamily="2" charset="2"/>
              <a:buNone/>
            </a:pPr>
            <a:r>
              <a:rPr lang="en-US" sz="2500">
                <a:solidFill>
                  <a:srgbClr val="FFBF1F"/>
                </a:solidFill>
              </a:rPr>
              <a:t> His </a:t>
            </a:r>
            <a:r>
              <a:rPr lang="en-US" sz="2500" i="1">
                <a:solidFill>
                  <a:srgbClr val="FFBF1F"/>
                </a:solidFill>
              </a:rPr>
              <a:t>The Sleeper Awakes</a:t>
            </a:r>
            <a:r>
              <a:rPr lang="en-US" sz="2500">
                <a:solidFill>
                  <a:srgbClr val="FFBF1F"/>
                </a:solidFill>
              </a:rPr>
              <a:t> and </a:t>
            </a:r>
            <a:r>
              <a:rPr lang="en-US" sz="2500" i="1">
                <a:solidFill>
                  <a:srgbClr val="FFBF1F"/>
                </a:solidFill>
              </a:rPr>
              <a:t>Story of the Days to Come</a:t>
            </a:r>
            <a:r>
              <a:rPr lang="en-US" sz="2500">
                <a:solidFill>
                  <a:srgbClr val="FFBF1F"/>
                </a:solidFill>
              </a:rPr>
              <a:t> (both 1899) explore similar themes</a:t>
            </a:r>
          </a:p>
        </p:txBody>
      </p:sp>
      <p:pic>
        <p:nvPicPr>
          <p:cNvPr id="618503" name="Picture 7" descr="time-machine-DVDcover"/>
          <p:cNvPicPr>
            <a:picLocks noChangeAspect="1" noChangeArrowheads="1"/>
          </p:cNvPicPr>
          <p:nvPr>
            <p:ph sz="half" idx="2"/>
          </p:nvPr>
        </p:nvPicPr>
        <p:blipFill>
          <a:blip r:embed="rId2"/>
          <a:srcRect/>
          <a:stretch>
            <a:fillRect/>
          </a:stretch>
        </p:blipFill>
        <p:spPr>
          <a:xfrm>
            <a:off x="5791200" y="1828800"/>
            <a:ext cx="2762250" cy="4114800"/>
          </a:xfrm>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Rectangle 2"/>
          <p:cNvSpPr>
            <a:spLocks noGrp="1" noChangeArrowheads="1"/>
          </p:cNvSpPr>
          <p:nvPr>
            <p:ph type="title"/>
          </p:nvPr>
        </p:nvSpPr>
        <p:spPr/>
        <p:txBody>
          <a:bodyPr/>
          <a:lstStyle/>
          <a:p>
            <a:pPr algn="ctr"/>
            <a:r>
              <a:rPr lang="en-US" sz="5400">
                <a:solidFill>
                  <a:srgbClr val="FFBF1F"/>
                </a:solidFill>
              </a:rPr>
              <a:t>Verne and Wells</a:t>
            </a:r>
          </a:p>
        </p:txBody>
      </p:sp>
      <p:sp>
        <p:nvSpPr>
          <p:cNvPr id="625667" name="Rectangle 3"/>
          <p:cNvSpPr>
            <a:spLocks noGrp="1" noChangeArrowheads="1"/>
          </p:cNvSpPr>
          <p:nvPr>
            <p:ph type="body" sz="half" idx="1"/>
          </p:nvPr>
        </p:nvSpPr>
        <p:spPr>
          <a:xfrm>
            <a:off x="3429000" y="1828800"/>
            <a:ext cx="5334000" cy="4038600"/>
          </a:xfrm>
        </p:spPr>
        <p:txBody>
          <a:bodyPr/>
          <a:lstStyle/>
          <a:p>
            <a:pPr>
              <a:lnSpc>
                <a:spcPct val="80000"/>
              </a:lnSpc>
              <a:buFont typeface="Wingdings" pitchFamily="2" charset="2"/>
              <a:buNone/>
            </a:pPr>
            <a:r>
              <a:rPr lang="en-US" sz="2400">
                <a:solidFill>
                  <a:srgbClr val="FFBF1F"/>
                </a:solidFill>
              </a:rPr>
              <a:t>    Wells’ concern </a:t>
            </a:r>
          </a:p>
          <a:p>
            <a:pPr>
              <a:lnSpc>
                <a:spcPct val="80000"/>
              </a:lnSpc>
              <a:buFont typeface="Wingdings" pitchFamily="2" charset="2"/>
              <a:buNone/>
            </a:pPr>
            <a:r>
              <a:rPr lang="en-US" sz="2400">
                <a:solidFill>
                  <a:srgbClr val="FFBF1F"/>
                </a:solidFill>
              </a:rPr>
              <a:t>    with the future </a:t>
            </a:r>
          </a:p>
          <a:p>
            <a:pPr>
              <a:lnSpc>
                <a:spcPct val="80000"/>
              </a:lnSpc>
              <a:buFont typeface="Wingdings" pitchFamily="2" charset="2"/>
              <a:buNone/>
            </a:pPr>
            <a:r>
              <a:rPr lang="en-US" sz="2400">
                <a:solidFill>
                  <a:srgbClr val="FFBF1F"/>
                </a:solidFill>
              </a:rPr>
              <a:t>    of the class </a:t>
            </a:r>
          </a:p>
          <a:p>
            <a:pPr>
              <a:lnSpc>
                <a:spcPct val="80000"/>
              </a:lnSpc>
              <a:buFont typeface="Wingdings" pitchFamily="2" charset="2"/>
              <a:buNone/>
            </a:pPr>
            <a:r>
              <a:rPr lang="en-US" sz="2400">
                <a:solidFill>
                  <a:srgbClr val="FFBF1F"/>
                </a:solidFill>
              </a:rPr>
              <a:t>    struggle is also</a:t>
            </a:r>
          </a:p>
          <a:p>
            <a:pPr>
              <a:lnSpc>
                <a:spcPct val="80000"/>
              </a:lnSpc>
              <a:buFont typeface="Wingdings" pitchFamily="2" charset="2"/>
              <a:buNone/>
            </a:pPr>
            <a:r>
              <a:rPr lang="en-US" sz="2400">
                <a:solidFill>
                  <a:srgbClr val="FFBF1F"/>
                </a:solidFill>
              </a:rPr>
              <a:t>    reflected in </a:t>
            </a:r>
          </a:p>
          <a:p>
            <a:pPr>
              <a:lnSpc>
                <a:spcPct val="80000"/>
              </a:lnSpc>
              <a:buFont typeface="Wingdings" pitchFamily="2" charset="2"/>
              <a:buNone/>
            </a:pPr>
            <a:r>
              <a:rPr lang="en-US" sz="2400">
                <a:solidFill>
                  <a:srgbClr val="FFBF1F"/>
                </a:solidFill>
              </a:rPr>
              <a:t>    Fritz Lang’s </a:t>
            </a:r>
          </a:p>
          <a:p>
            <a:pPr>
              <a:lnSpc>
                <a:spcPct val="80000"/>
              </a:lnSpc>
              <a:buFont typeface="Wingdings" pitchFamily="2" charset="2"/>
              <a:buNone/>
            </a:pPr>
            <a:r>
              <a:rPr lang="en-US" sz="2400">
                <a:solidFill>
                  <a:srgbClr val="FFBF1F"/>
                </a:solidFill>
              </a:rPr>
              <a:t>    classic 1927 film</a:t>
            </a:r>
          </a:p>
          <a:p>
            <a:pPr>
              <a:lnSpc>
                <a:spcPct val="80000"/>
              </a:lnSpc>
              <a:buFont typeface="Wingdings" pitchFamily="2" charset="2"/>
              <a:buNone/>
            </a:pPr>
            <a:r>
              <a:rPr lang="en-US" sz="2400">
                <a:solidFill>
                  <a:srgbClr val="FFBF1F"/>
                </a:solidFill>
              </a:rPr>
              <a:t>    </a:t>
            </a:r>
            <a:r>
              <a:rPr lang="en-US" sz="2400" i="1">
                <a:solidFill>
                  <a:srgbClr val="FFBF1F"/>
                </a:solidFill>
              </a:rPr>
              <a:t>Metropolis</a:t>
            </a:r>
            <a:r>
              <a:rPr lang="en-US" sz="2400">
                <a:solidFill>
                  <a:srgbClr val="FFBF1F"/>
                </a:solidFill>
              </a:rPr>
              <a:t>, featuring a conflict between wealthy, idle surface-dwellers and dehumanised</a:t>
            </a:r>
          </a:p>
          <a:p>
            <a:pPr>
              <a:lnSpc>
                <a:spcPct val="80000"/>
              </a:lnSpc>
              <a:buFont typeface="Wingdings" pitchFamily="2" charset="2"/>
              <a:buNone/>
            </a:pPr>
            <a:r>
              <a:rPr lang="en-US" sz="2400">
                <a:solidFill>
                  <a:srgbClr val="FFBF1F"/>
                </a:solidFill>
              </a:rPr>
              <a:t>    subterranean workers</a:t>
            </a:r>
          </a:p>
        </p:txBody>
      </p:sp>
      <p:pic>
        <p:nvPicPr>
          <p:cNvPr id="625671" name="Picture 7" descr="IMAGE LINK"/>
          <p:cNvPicPr>
            <a:picLocks noChangeAspect="1" noChangeArrowheads="1"/>
          </p:cNvPicPr>
          <p:nvPr>
            <p:ph sz="quarter" idx="2"/>
          </p:nvPr>
        </p:nvPicPr>
        <p:blipFill>
          <a:blip r:embed="rId2"/>
          <a:srcRect/>
          <a:stretch>
            <a:fillRect/>
          </a:stretch>
        </p:blipFill>
        <p:spPr>
          <a:xfrm>
            <a:off x="457200" y="1828800"/>
            <a:ext cx="3252788" cy="3886200"/>
          </a:xfrm>
          <a:noFill/>
          <a:ln/>
        </p:spPr>
      </p:pic>
      <p:pic>
        <p:nvPicPr>
          <p:cNvPr id="625674" name="Picture 10" descr="metropolis-worker"/>
          <p:cNvPicPr>
            <a:picLocks noChangeAspect="1" noChangeArrowheads="1"/>
          </p:cNvPicPr>
          <p:nvPr>
            <p:ph sz="quarter" idx="3"/>
          </p:nvPr>
        </p:nvPicPr>
        <p:blipFill>
          <a:blip r:embed="rId3"/>
          <a:srcRect/>
          <a:stretch>
            <a:fillRect/>
          </a:stretch>
        </p:blipFill>
        <p:spPr>
          <a:xfrm>
            <a:off x="6096000" y="1905000"/>
            <a:ext cx="2590800" cy="2112963"/>
          </a:xfrm>
          <a:no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2"/>
          <p:cNvSpPr>
            <a:spLocks noGrp="1" noChangeArrowheads="1"/>
          </p:cNvSpPr>
          <p:nvPr>
            <p:ph type="title"/>
          </p:nvPr>
        </p:nvSpPr>
        <p:spPr/>
        <p:txBody>
          <a:bodyPr/>
          <a:lstStyle/>
          <a:p>
            <a:pPr algn="ctr"/>
            <a:r>
              <a:rPr lang="en-US" sz="5400">
                <a:solidFill>
                  <a:srgbClr val="FFBF1F"/>
                </a:solidFill>
              </a:rPr>
              <a:t>Verne and Wells</a:t>
            </a:r>
          </a:p>
        </p:txBody>
      </p:sp>
      <p:sp>
        <p:nvSpPr>
          <p:cNvPr id="669699" name="Rectangle 3"/>
          <p:cNvSpPr>
            <a:spLocks noGrp="1" noChangeArrowheads="1"/>
          </p:cNvSpPr>
          <p:nvPr>
            <p:ph type="body" sz="half" idx="1"/>
          </p:nvPr>
        </p:nvSpPr>
        <p:spPr>
          <a:xfrm>
            <a:off x="228600" y="1828800"/>
            <a:ext cx="8458200" cy="4191000"/>
          </a:xfrm>
        </p:spPr>
        <p:txBody>
          <a:bodyPr/>
          <a:lstStyle/>
          <a:p>
            <a:pPr>
              <a:buFont typeface="Wingdings" pitchFamily="2" charset="2"/>
              <a:buNone/>
            </a:pPr>
            <a:r>
              <a:rPr lang="en-US" sz="3200">
                <a:solidFill>
                  <a:srgbClr val="FFBF1F"/>
                </a:solidFill>
              </a:rPr>
              <a:t> Wells’ </a:t>
            </a:r>
            <a:r>
              <a:rPr lang="en-US" sz="3200" i="1">
                <a:solidFill>
                  <a:srgbClr val="FFBF1F"/>
                </a:solidFill>
              </a:rPr>
              <a:t>War of the </a:t>
            </a:r>
          </a:p>
          <a:p>
            <a:pPr>
              <a:buFont typeface="Wingdings" pitchFamily="2" charset="2"/>
              <a:buNone/>
            </a:pPr>
            <a:r>
              <a:rPr lang="en-US" sz="3200" i="1">
                <a:solidFill>
                  <a:srgbClr val="FFBF1F"/>
                </a:solidFill>
              </a:rPr>
              <a:t>   Worlds</a:t>
            </a:r>
            <a:r>
              <a:rPr lang="en-US" sz="3200">
                <a:solidFill>
                  <a:srgbClr val="FFBF1F"/>
                </a:solidFill>
              </a:rPr>
              <a:t> (1898) </a:t>
            </a:r>
          </a:p>
          <a:p>
            <a:pPr>
              <a:buFont typeface="Wingdings" pitchFamily="2" charset="2"/>
              <a:buNone/>
            </a:pPr>
            <a:r>
              <a:rPr lang="en-US" sz="3200">
                <a:solidFill>
                  <a:srgbClr val="FFBF1F"/>
                </a:solidFill>
              </a:rPr>
              <a:t>   depicts first contact </a:t>
            </a:r>
          </a:p>
          <a:p>
            <a:pPr>
              <a:buFont typeface="Wingdings" pitchFamily="2" charset="2"/>
              <a:buNone/>
            </a:pPr>
            <a:r>
              <a:rPr lang="en-US" sz="3200">
                <a:solidFill>
                  <a:srgbClr val="FFBF1F"/>
                </a:solidFill>
              </a:rPr>
              <a:t>   between humans </a:t>
            </a:r>
          </a:p>
          <a:p>
            <a:pPr>
              <a:buFont typeface="Wingdings" pitchFamily="2" charset="2"/>
              <a:buNone/>
            </a:pPr>
            <a:r>
              <a:rPr lang="en-US" sz="3200">
                <a:solidFill>
                  <a:srgbClr val="FFBF1F"/>
                </a:solidFill>
              </a:rPr>
              <a:t>   and intelligent </a:t>
            </a:r>
          </a:p>
          <a:p>
            <a:pPr>
              <a:buFont typeface="Wingdings" pitchFamily="2" charset="2"/>
              <a:buNone/>
            </a:pPr>
            <a:r>
              <a:rPr lang="en-US" sz="3200">
                <a:solidFill>
                  <a:srgbClr val="FFBF1F"/>
                </a:solidFill>
              </a:rPr>
              <a:t>   extraterrestrials</a:t>
            </a:r>
          </a:p>
          <a:p>
            <a:pPr>
              <a:buFont typeface="Wingdings" pitchFamily="2" charset="2"/>
              <a:buNone/>
            </a:pPr>
            <a:r>
              <a:rPr lang="en-US" sz="3200">
                <a:solidFill>
                  <a:srgbClr val="FFBF1F"/>
                </a:solidFill>
              </a:rPr>
              <a:t> The results are not encouraging</a:t>
            </a:r>
          </a:p>
        </p:txBody>
      </p:sp>
      <p:pic>
        <p:nvPicPr>
          <p:cNvPr id="669700" name="Picture 4" descr="tom_cruise13"/>
          <p:cNvPicPr>
            <a:picLocks noChangeAspect="1" noChangeArrowheads="1"/>
          </p:cNvPicPr>
          <p:nvPr>
            <p:ph sz="half" idx="2"/>
          </p:nvPr>
        </p:nvPicPr>
        <p:blipFill>
          <a:blip r:embed="rId2"/>
          <a:srcRect/>
          <a:stretch>
            <a:fillRect/>
          </a:stretch>
        </p:blipFill>
        <p:spPr>
          <a:xfrm>
            <a:off x="4495800" y="1828800"/>
            <a:ext cx="4267200" cy="2987675"/>
          </a:xfrm>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Rectangle 2"/>
          <p:cNvSpPr>
            <a:spLocks noGrp="1" noChangeArrowheads="1"/>
          </p:cNvSpPr>
          <p:nvPr>
            <p:ph type="title"/>
          </p:nvPr>
        </p:nvSpPr>
        <p:spPr/>
        <p:txBody>
          <a:bodyPr/>
          <a:lstStyle/>
          <a:p>
            <a:pPr algn="ctr"/>
            <a:r>
              <a:rPr lang="en-US" sz="5400">
                <a:solidFill>
                  <a:srgbClr val="FFBF1F"/>
                </a:solidFill>
              </a:rPr>
              <a:t>Verne and Wells</a:t>
            </a:r>
          </a:p>
        </p:txBody>
      </p:sp>
      <p:sp>
        <p:nvSpPr>
          <p:cNvPr id="670723" name="Rectangle 3"/>
          <p:cNvSpPr>
            <a:spLocks noGrp="1" noChangeArrowheads="1"/>
          </p:cNvSpPr>
          <p:nvPr>
            <p:ph type="body" sz="half" idx="1"/>
          </p:nvPr>
        </p:nvSpPr>
        <p:spPr>
          <a:xfrm>
            <a:off x="152400" y="1828800"/>
            <a:ext cx="8458200" cy="4191000"/>
          </a:xfrm>
        </p:spPr>
        <p:txBody>
          <a:bodyPr/>
          <a:lstStyle/>
          <a:p>
            <a:pPr>
              <a:buFont typeface="Wingdings" pitchFamily="2" charset="2"/>
              <a:buNone/>
            </a:pPr>
            <a:r>
              <a:rPr lang="en-US" sz="3200">
                <a:solidFill>
                  <a:srgbClr val="FFBF1F"/>
                </a:solidFill>
              </a:rPr>
              <a:t>  </a:t>
            </a:r>
            <a:r>
              <a:rPr lang="en-US" sz="2400">
                <a:solidFill>
                  <a:srgbClr val="FFBF1F"/>
                </a:solidFill>
              </a:rPr>
              <a:t>American writer Garrett </a:t>
            </a:r>
          </a:p>
          <a:p>
            <a:pPr>
              <a:buFont typeface="Wingdings" pitchFamily="2" charset="2"/>
              <a:buNone/>
            </a:pPr>
            <a:r>
              <a:rPr lang="en-US" sz="2400">
                <a:solidFill>
                  <a:srgbClr val="FFBF1F"/>
                </a:solidFill>
              </a:rPr>
              <a:t>   Serviss was dissatisfied </a:t>
            </a:r>
          </a:p>
          <a:p>
            <a:pPr>
              <a:buFont typeface="Wingdings" pitchFamily="2" charset="2"/>
              <a:buNone/>
            </a:pPr>
            <a:r>
              <a:rPr lang="en-US" sz="2400">
                <a:solidFill>
                  <a:srgbClr val="FFBF1F"/>
                </a:solidFill>
              </a:rPr>
              <a:t>   enough with Wells’ gloomy </a:t>
            </a:r>
          </a:p>
          <a:p>
            <a:pPr>
              <a:buFont typeface="Wingdings" pitchFamily="2" charset="2"/>
              <a:buNone/>
            </a:pPr>
            <a:r>
              <a:rPr lang="en-US" sz="2400">
                <a:solidFill>
                  <a:srgbClr val="FFBF1F"/>
                </a:solidFill>
              </a:rPr>
              <a:t>   </a:t>
            </a:r>
            <a:r>
              <a:rPr lang="en-US" sz="2400" i="1">
                <a:solidFill>
                  <a:srgbClr val="FFBF1F"/>
                </a:solidFill>
              </a:rPr>
              <a:t>War of the Worlds</a:t>
            </a:r>
            <a:r>
              <a:rPr lang="en-US" sz="2400">
                <a:solidFill>
                  <a:srgbClr val="FFBF1F"/>
                </a:solidFill>
              </a:rPr>
              <a:t> to write an </a:t>
            </a:r>
          </a:p>
          <a:p>
            <a:pPr>
              <a:buFont typeface="Wingdings" pitchFamily="2" charset="2"/>
              <a:buNone/>
            </a:pPr>
            <a:r>
              <a:rPr lang="en-US" sz="2400">
                <a:solidFill>
                  <a:srgbClr val="FFBF1F"/>
                </a:solidFill>
              </a:rPr>
              <a:t>   unauthorised (and surprisingly </a:t>
            </a:r>
          </a:p>
          <a:p>
            <a:pPr>
              <a:buFont typeface="Wingdings" pitchFamily="2" charset="2"/>
              <a:buNone/>
            </a:pPr>
            <a:r>
              <a:rPr lang="en-US" sz="2400">
                <a:solidFill>
                  <a:srgbClr val="FFBF1F"/>
                </a:solidFill>
              </a:rPr>
              <a:t>   scientifically accurate) sequel, </a:t>
            </a:r>
          </a:p>
          <a:p>
            <a:pPr>
              <a:buFont typeface="Wingdings" pitchFamily="2" charset="2"/>
              <a:buNone/>
            </a:pPr>
            <a:r>
              <a:rPr lang="en-US" sz="2400">
                <a:solidFill>
                  <a:srgbClr val="FFBF1F"/>
                </a:solidFill>
              </a:rPr>
              <a:t>   </a:t>
            </a:r>
            <a:r>
              <a:rPr lang="en-US" sz="2400" i="1">
                <a:solidFill>
                  <a:srgbClr val="FFBF1F"/>
                </a:solidFill>
              </a:rPr>
              <a:t>Edison’s Conquest of Mars</a:t>
            </a:r>
            <a:r>
              <a:rPr lang="en-US" sz="2400">
                <a:solidFill>
                  <a:srgbClr val="FFBF1F"/>
                </a:solidFill>
              </a:rPr>
              <a:t> (1898), in which real-life</a:t>
            </a:r>
          </a:p>
          <a:p>
            <a:pPr>
              <a:buFont typeface="Wingdings" pitchFamily="2" charset="2"/>
              <a:buNone/>
            </a:pPr>
            <a:r>
              <a:rPr lang="en-US" sz="2400">
                <a:solidFill>
                  <a:srgbClr val="FFBF1F"/>
                </a:solidFill>
              </a:rPr>
              <a:t>   inventor Thomas Edison builds a fleet of spaceships and</a:t>
            </a:r>
          </a:p>
          <a:p>
            <a:pPr>
              <a:buFont typeface="Wingdings" pitchFamily="2" charset="2"/>
              <a:buNone/>
            </a:pPr>
            <a:r>
              <a:rPr lang="en-US" sz="2400">
                <a:solidFill>
                  <a:srgbClr val="FFBF1F"/>
                </a:solidFill>
              </a:rPr>
              <a:t>   rayguns so humans can retaliate and kick Martian butt</a:t>
            </a:r>
          </a:p>
        </p:txBody>
      </p:sp>
      <p:pic>
        <p:nvPicPr>
          <p:cNvPr id="670724" name="Picture 4" descr="Edison on Mars"/>
          <p:cNvPicPr>
            <a:picLocks noChangeAspect="1" noChangeArrowheads="1"/>
          </p:cNvPicPr>
          <p:nvPr>
            <p:ph sz="half" idx="2"/>
          </p:nvPr>
        </p:nvPicPr>
        <p:blipFill>
          <a:blip r:embed="rId2"/>
          <a:srcRect/>
          <a:stretch>
            <a:fillRect/>
          </a:stretch>
        </p:blipFill>
        <p:spPr>
          <a:xfrm>
            <a:off x="4724400" y="1752600"/>
            <a:ext cx="3810000" cy="2862263"/>
          </a:xfrm>
          <a:no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Rectangle 2"/>
          <p:cNvSpPr>
            <a:spLocks noGrp="1" noChangeArrowheads="1"/>
          </p:cNvSpPr>
          <p:nvPr>
            <p:ph type="title"/>
          </p:nvPr>
        </p:nvSpPr>
        <p:spPr/>
        <p:txBody>
          <a:bodyPr/>
          <a:lstStyle/>
          <a:p>
            <a:pPr algn="ctr"/>
            <a:r>
              <a:rPr lang="en-US" sz="5400">
                <a:solidFill>
                  <a:srgbClr val="FFBF1F"/>
                </a:solidFill>
              </a:rPr>
              <a:t>Verne and Wells</a:t>
            </a:r>
          </a:p>
        </p:txBody>
      </p:sp>
      <p:sp>
        <p:nvSpPr>
          <p:cNvPr id="621571" name="Rectangle 3"/>
          <p:cNvSpPr>
            <a:spLocks noGrp="1" noChangeArrowheads="1"/>
          </p:cNvSpPr>
          <p:nvPr>
            <p:ph type="body" sz="half" idx="1"/>
          </p:nvPr>
        </p:nvSpPr>
        <p:spPr>
          <a:xfrm>
            <a:off x="304800" y="1828800"/>
            <a:ext cx="4800600" cy="4191000"/>
          </a:xfrm>
        </p:spPr>
        <p:txBody>
          <a:bodyPr/>
          <a:lstStyle/>
          <a:p>
            <a:pPr>
              <a:lnSpc>
                <a:spcPct val="90000"/>
              </a:lnSpc>
              <a:buFont typeface="Wingdings" pitchFamily="2" charset="2"/>
              <a:buNone/>
            </a:pPr>
            <a:r>
              <a:rPr lang="en-US" sz="2900">
                <a:solidFill>
                  <a:srgbClr val="FFBF1F"/>
                </a:solidFill>
              </a:rPr>
              <a:t> In the 1870s, Verne’s mentor Victor Hugo had predicted that air travel would make war obsolete</a:t>
            </a:r>
          </a:p>
          <a:p>
            <a:pPr>
              <a:lnSpc>
                <a:spcPct val="90000"/>
              </a:lnSpc>
              <a:buFont typeface="Wingdings" pitchFamily="2" charset="2"/>
              <a:buNone/>
            </a:pPr>
            <a:r>
              <a:rPr lang="en-US" sz="2900">
                <a:solidFill>
                  <a:srgbClr val="FFBF1F"/>
                </a:solidFill>
              </a:rPr>
              <a:t> Verne, by contrast, predicted military use of airplanes (</a:t>
            </a:r>
            <a:r>
              <a:rPr lang="en-US" sz="2900" i="1">
                <a:solidFill>
                  <a:srgbClr val="FFBF1F"/>
                </a:solidFill>
              </a:rPr>
              <a:t>Master of the World</a:t>
            </a:r>
            <a:r>
              <a:rPr lang="en-US" sz="2900">
                <a:solidFill>
                  <a:srgbClr val="FFBF1F"/>
                </a:solidFill>
              </a:rPr>
              <a:t>, 1904) as well as long-range missiles (</a:t>
            </a:r>
            <a:r>
              <a:rPr lang="en-US" sz="2900" i="1">
                <a:solidFill>
                  <a:srgbClr val="FFBF1F"/>
                </a:solidFill>
              </a:rPr>
              <a:t>The Begum’s Millions</a:t>
            </a:r>
            <a:r>
              <a:rPr lang="en-US" sz="2900">
                <a:solidFill>
                  <a:srgbClr val="FFBF1F"/>
                </a:solidFill>
              </a:rPr>
              <a:t>, 1879)</a:t>
            </a:r>
          </a:p>
        </p:txBody>
      </p:sp>
      <p:graphicFrame>
        <p:nvGraphicFramePr>
          <p:cNvPr id="621574" name="Object 6"/>
          <p:cNvGraphicFramePr>
            <a:graphicFrameLocks noChangeAspect="1"/>
          </p:cNvGraphicFramePr>
          <p:nvPr>
            <p:ph sz="half" idx="2"/>
          </p:nvPr>
        </p:nvGraphicFramePr>
        <p:xfrm>
          <a:off x="5257800" y="1828800"/>
          <a:ext cx="3343275" cy="4038600"/>
        </p:xfrm>
        <a:graphic>
          <a:graphicData uri="http://schemas.openxmlformats.org/presentationml/2006/ole">
            <p:oleObj spid="_x0000_s621574" name="Bitmap Image" r:id="rId3" imgW="3801006" imgH="4590476" progId="Paint.Picture">
              <p:embed/>
            </p:oleObj>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nvPr>
        </p:nvSpPr>
        <p:spPr/>
        <p:txBody>
          <a:bodyPr/>
          <a:lstStyle/>
          <a:p>
            <a:pPr algn="ctr"/>
            <a:r>
              <a:rPr lang="en-US" sz="5400">
                <a:solidFill>
                  <a:srgbClr val="FFBF1F"/>
                </a:solidFill>
              </a:rPr>
              <a:t>Verne and Wells</a:t>
            </a:r>
          </a:p>
        </p:txBody>
      </p:sp>
      <p:sp>
        <p:nvSpPr>
          <p:cNvPr id="622595" name="Rectangle 3"/>
          <p:cNvSpPr>
            <a:spLocks noGrp="1" noChangeArrowheads="1"/>
          </p:cNvSpPr>
          <p:nvPr>
            <p:ph type="body" sz="half" idx="1"/>
          </p:nvPr>
        </p:nvSpPr>
        <p:spPr>
          <a:xfrm>
            <a:off x="228600" y="1828800"/>
            <a:ext cx="5638800" cy="4191000"/>
          </a:xfrm>
        </p:spPr>
        <p:txBody>
          <a:bodyPr/>
          <a:lstStyle/>
          <a:p>
            <a:pPr>
              <a:lnSpc>
                <a:spcPct val="90000"/>
              </a:lnSpc>
              <a:buFont typeface="Wingdings" pitchFamily="2" charset="2"/>
              <a:buNone/>
            </a:pPr>
            <a:r>
              <a:rPr lang="en-US" sz="3200">
                <a:solidFill>
                  <a:srgbClr val="FFBF1F"/>
                </a:solidFill>
              </a:rPr>
              <a:t> Gloomier still, Wells predicted tanks (</a:t>
            </a:r>
            <a:r>
              <a:rPr lang="en-US" sz="3200" i="1">
                <a:solidFill>
                  <a:srgbClr val="FFBF1F"/>
                </a:solidFill>
              </a:rPr>
              <a:t>The Land Ironclads</a:t>
            </a:r>
            <a:r>
              <a:rPr lang="en-US" sz="3200">
                <a:solidFill>
                  <a:srgbClr val="FFBF1F"/>
                </a:solidFill>
              </a:rPr>
              <a:t>, 1904), aerial bombardment of cities (</a:t>
            </a:r>
            <a:r>
              <a:rPr lang="en-US" sz="3200" i="1">
                <a:solidFill>
                  <a:srgbClr val="FFBF1F"/>
                </a:solidFill>
              </a:rPr>
              <a:t>War in the Air</a:t>
            </a:r>
            <a:r>
              <a:rPr lang="en-US" sz="3200">
                <a:solidFill>
                  <a:srgbClr val="FFBF1F"/>
                </a:solidFill>
              </a:rPr>
              <a:t>, 1908), atomic bombs (</a:t>
            </a:r>
            <a:r>
              <a:rPr lang="en-US" sz="3200" i="1">
                <a:solidFill>
                  <a:srgbClr val="FFBF1F"/>
                </a:solidFill>
              </a:rPr>
              <a:t>World Set Free</a:t>
            </a:r>
            <a:r>
              <a:rPr lang="en-US" sz="3200">
                <a:solidFill>
                  <a:srgbClr val="FFBF1F"/>
                </a:solidFill>
              </a:rPr>
              <a:t>, 1914), and submarine-launched missiles (</a:t>
            </a:r>
            <a:r>
              <a:rPr lang="en-US" sz="3200" i="1">
                <a:solidFill>
                  <a:srgbClr val="FFBF1F"/>
                </a:solidFill>
              </a:rPr>
              <a:t>Shape of Things to Come</a:t>
            </a:r>
            <a:r>
              <a:rPr lang="en-US" sz="3200">
                <a:solidFill>
                  <a:srgbClr val="FFBF1F"/>
                </a:solidFill>
              </a:rPr>
              <a:t>, 1933)</a:t>
            </a:r>
          </a:p>
        </p:txBody>
      </p:sp>
      <p:pic>
        <p:nvPicPr>
          <p:cNvPr id="622599" name="Picture 7" descr="Things_to_come"/>
          <p:cNvPicPr>
            <a:picLocks noChangeAspect="1" noChangeArrowheads="1"/>
          </p:cNvPicPr>
          <p:nvPr>
            <p:ph sz="half" idx="2"/>
          </p:nvPr>
        </p:nvPicPr>
        <p:blipFill>
          <a:blip r:embed="rId2"/>
          <a:srcRect/>
          <a:stretch>
            <a:fillRect/>
          </a:stretch>
        </p:blipFill>
        <p:spPr>
          <a:xfrm>
            <a:off x="6019800" y="1828800"/>
            <a:ext cx="2746375" cy="4191000"/>
          </a:xfrm>
          <a:no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8" name="Rectangle 2"/>
          <p:cNvSpPr>
            <a:spLocks noGrp="1" noChangeArrowheads="1"/>
          </p:cNvSpPr>
          <p:nvPr>
            <p:ph type="title"/>
          </p:nvPr>
        </p:nvSpPr>
        <p:spPr/>
        <p:txBody>
          <a:bodyPr/>
          <a:lstStyle/>
          <a:p>
            <a:pPr algn="ctr"/>
            <a:r>
              <a:rPr lang="en-US" sz="5400">
                <a:solidFill>
                  <a:srgbClr val="FFBF1F"/>
                </a:solidFill>
              </a:rPr>
              <a:t>Verne and Wells</a:t>
            </a:r>
          </a:p>
        </p:txBody>
      </p:sp>
      <p:sp>
        <p:nvSpPr>
          <p:cNvPr id="623619" name="Rectangle 3"/>
          <p:cNvSpPr>
            <a:spLocks noGrp="1" noChangeArrowheads="1"/>
          </p:cNvSpPr>
          <p:nvPr>
            <p:ph type="body" sz="half" idx="1"/>
          </p:nvPr>
        </p:nvSpPr>
        <p:spPr>
          <a:xfrm>
            <a:off x="228600" y="1828800"/>
            <a:ext cx="5638800" cy="4191000"/>
          </a:xfrm>
        </p:spPr>
        <p:txBody>
          <a:bodyPr/>
          <a:lstStyle/>
          <a:p>
            <a:pPr>
              <a:lnSpc>
                <a:spcPct val="90000"/>
              </a:lnSpc>
              <a:buFont typeface="Wingdings" pitchFamily="2" charset="2"/>
              <a:buNone/>
            </a:pPr>
            <a:r>
              <a:rPr lang="en-US" sz="3200">
                <a:solidFill>
                  <a:srgbClr val="FFBF1F"/>
                </a:solidFill>
              </a:rPr>
              <a:t> But not all their predictions were negative</a:t>
            </a:r>
          </a:p>
          <a:p>
            <a:pPr>
              <a:lnSpc>
                <a:spcPct val="90000"/>
              </a:lnSpc>
              <a:buFont typeface="Wingdings" pitchFamily="2" charset="2"/>
              <a:buNone/>
            </a:pPr>
            <a:r>
              <a:rPr lang="en-US" sz="3200">
                <a:solidFill>
                  <a:srgbClr val="FFBF1F"/>
                </a:solidFill>
              </a:rPr>
              <a:t> Verne’s </a:t>
            </a:r>
            <a:r>
              <a:rPr lang="en-US" sz="3200" i="1">
                <a:solidFill>
                  <a:srgbClr val="FFBF1F"/>
                </a:solidFill>
              </a:rPr>
              <a:t>In the Year 2889</a:t>
            </a:r>
            <a:r>
              <a:rPr lang="en-US" sz="3200">
                <a:solidFill>
                  <a:srgbClr val="FFBF1F"/>
                </a:solidFill>
              </a:rPr>
              <a:t> (1889), co-authored with his son Michel, depicts all the technological wonders of his  </a:t>
            </a:r>
            <a:r>
              <a:rPr lang="en-US" sz="3200" i="1">
                <a:solidFill>
                  <a:srgbClr val="FFBF1F"/>
                </a:solidFill>
              </a:rPr>
              <a:t>Paris in the 20</a:t>
            </a:r>
            <a:r>
              <a:rPr lang="en-US" sz="3200" i="1" baseline="30000">
                <a:solidFill>
                  <a:srgbClr val="FFBF1F"/>
                </a:solidFill>
              </a:rPr>
              <a:t>th</a:t>
            </a:r>
            <a:r>
              <a:rPr lang="en-US" sz="3200" i="1">
                <a:solidFill>
                  <a:srgbClr val="FFBF1F"/>
                </a:solidFill>
              </a:rPr>
              <a:t> Century</a:t>
            </a:r>
            <a:r>
              <a:rPr lang="en-US" sz="3200">
                <a:solidFill>
                  <a:srgbClr val="FFBF1F"/>
                </a:solidFill>
              </a:rPr>
              <a:t> without the negative social accompaniments</a:t>
            </a:r>
          </a:p>
        </p:txBody>
      </p:sp>
      <p:pic>
        <p:nvPicPr>
          <p:cNvPr id="623623" name="Picture 7" descr="paris01"/>
          <p:cNvPicPr>
            <a:picLocks noChangeAspect="1" noChangeArrowheads="1"/>
          </p:cNvPicPr>
          <p:nvPr>
            <p:ph sz="half" idx="2"/>
          </p:nvPr>
        </p:nvPicPr>
        <p:blipFill>
          <a:blip r:embed="rId2"/>
          <a:srcRect/>
          <a:stretch>
            <a:fillRect/>
          </a:stretch>
        </p:blipFill>
        <p:spPr>
          <a:xfrm>
            <a:off x="6019800" y="1828800"/>
            <a:ext cx="2560638" cy="4114800"/>
          </a:xfrm>
          <a:no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4" name="Rectangle 2"/>
          <p:cNvSpPr>
            <a:spLocks noGrp="1" noChangeArrowheads="1"/>
          </p:cNvSpPr>
          <p:nvPr>
            <p:ph type="title"/>
          </p:nvPr>
        </p:nvSpPr>
        <p:spPr/>
        <p:txBody>
          <a:bodyPr/>
          <a:lstStyle/>
          <a:p>
            <a:pPr algn="ctr"/>
            <a:r>
              <a:rPr lang="en-US" sz="5400">
                <a:solidFill>
                  <a:srgbClr val="FFBF1F"/>
                </a:solidFill>
              </a:rPr>
              <a:t>Verne and Wells</a:t>
            </a:r>
          </a:p>
        </p:txBody>
      </p:sp>
      <p:sp>
        <p:nvSpPr>
          <p:cNvPr id="627715" name="Rectangle 3"/>
          <p:cNvSpPr>
            <a:spLocks noGrp="1" noChangeArrowheads="1"/>
          </p:cNvSpPr>
          <p:nvPr>
            <p:ph type="body" sz="half" idx="1"/>
          </p:nvPr>
        </p:nvSpPr>
        <p:spPr>
          <a:xfrm>
            <a:off x="228600" y="1828800"/>
            <a:ext cx="8305800" cy="4191000"/>
          </a:xfrm>
        </p:spPr>
        <p:txBody>
          <a:bodyPr/>
          <a:lstStyle/>
          <a:p>
            <a:pPr>
              <a:buFont typeface="Wingdings" pitchFamily="2" charset="2"/>
              <a:buNone/>
            </a:pPr>
            <a:r>
              <a:rPr lang="en-US" sz="3200">
                <a:solidFill>
                  <a:srgbClr val="FFBF1F"/>
                </a:solidFill>
              </a:rPr>
              <a:t>  In Well’s </a:t>
            </a:r>
            <a:r>
              <a:rPr lang="en-US" sz="3200" i="1">
                <a:solidFill>
                  <a:srgbClr val="FFBF1F"/>
                </a:solidFill>
              </a:rPr>
              <a:t>Modern </a:t>
            </a:r>
          </a:p>
          <a:p>
            <a:pPr>
              <a:buFont typeface="Wingdings" pitchFamily="2" charset="2"/>
              <a:buNone/>
            </a:pPr>
            <a:r>
              <a:rPr lang="en-US" sz="3200" i="1">
                <a:solidFill>
                  <a:srgbClr val="FFBF1F"/>
                </a:solidFill>
              </a:rPr>
              <a:t>  Utopia</a:t>
            </a:r>
            <a:r>
              <a:rPr lang="en-US" sz="3200">
                <a:solidFill>
                  <a:srgbClr val="FFBF1F"/>
                </a:solidFill>
              </a:rPr>
              <a:t> (1905) and </a:t>
            </a:r>
          </a:p>
          <a:p>
            <a:pPr>
              <a:buFont typeface="Wingdings" pitchFamily="2" charset="2"/>
              <a:buNone/>
            </a:pPr>
            <a:r>
              <a:rPr lang="en-US" sz="3200">
                <a:solidFill>
                  <a:srgbClr val="FFBF1F"/>
                </a:solidFill>
              </a:rPr>
              <a:t>  </a:t>
            </a:r>
            <a:r>
              <a:rPr lang="en-US" sz="3200" i="1">
                <a:solidFill>
                  <a:srgbClr val="FFBF1F"/>
                </a:solidFill>
              </a:rPr>
              <a:t>Men Like Gods</a:t>
            </a:r>
            <a:r>
              <a:rPr lang="en-US" sz="3200">
                <a:solidFill>
                  <a:srgbClr val="FFBF1F"/>
                </a:solidFill>
              </a:rPr>
              <a:t> </a:t>
            </a:r>
          </a:p>
          <a:p>
            <a:pPr>
              <a:buFont typeface="Wingdings" pitchFamily="2" charset="2"/>
              <a:buNone/>
            </a:pPr>
            <a:r>
              <a:rPr lang="en-US" sz="3200">
                <a:solidFill>
                  <a:srgbClr val="FFBF1F"/>
                </a:solidFill>
              </a:rPr>
              <a:t>  (1923), advances</a:t>
            </a:r>
          </a:p>
          <a:p>
            <a:pPr>
              <a:buFont typeface="Wingdings" pitchFamily="2" charset="2"/>
              <a:buNone/>
            </a:pPr>
            <a:r>
              <a:rPr lang="en-US" sz="3200">
                <a:solidFill>
                  <a:srgbClr val="FFBF1F"/>
                </a:solidFill>
              </a:rPr>
              <a:t>  in technology and</a:t>
            </a:r>
          </a:p>
          <a:p>
            <a:pPr>
              <a:buFont typeface="Wingdings" pitchFamily="2" charset="2"/>
              <a:buNone/>
            </a:pPr>
            <a:r>
              <a:rPr lang="en-US" sz="3200">
                <a:solidFill>
                  <a:srgbClr val="FFBF1F"/>
                </a:solidFill>
              </a:rPr>
              <a:t>  social science create a paradise on earth,</a:t>
            </a:r>
          </a:p>
          <a:p>
            <a:pPr>
              <a:buFont typeface="Wingdings" pitchFamily="2" charset="2"/>
              <a:buNone/>
            </a:pPr>
            <a:r>
              <a:rPr lang="en-US" sz="3200">
                <a:solidFill>
                  <a:srgbClr val="FFBF1F"/>
                </a:solidFill>
              </a:rPr>
              <a:t>  free of poverty and crime</a:t>
            </a:r>
          </a:p>
        </p:txBody>
      </p:sp>
      <p:pic>
        <p:nvPicPr>
          <p:cNvPr id="627719" name="Picture 7" descr="techno-utopia"/>
          <p:cNvPicPr>
            <a:picLocks noChangeAspect="1" noChangeArrowheads="1"/>
          </p:cNvPicPr>
          <p:nvPr>
            <p:ph sz="half" idx="2"/>
          </p:nvPr>
        </p:nvPicPr>
        <p:blipFill>
          <a:blip r:embed="rId2"/>
          <a:srcRect/>
          <a:stretch>
            <a:fillRect/>
          </a:stretch>
        </p:blipFill>
        <p:spPr>
          <a:xfrm>
            <a:off x="4419600" y="1905000"/>
            <a:ext cx="4191000" cy="2797175"/>
          </a:xfrm>
          <a:noFill/>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10" name="Rectangle 2"/>
          <p:cNvSpPr>
            <a:spLocks noGrp="1" noChangeArrowheads="1"/>
          </p:cNvSpPr>
          <p:nvPr>
            <p:ph type="title"/>
          </p:nvPr>
        </p:nvSpPr>
        <p:spPr/>
        <p:txBody>
          <a:bodyPr/>
          <a:lstStyle/>
          <a:p>
            <a:pPr algn="ctr"/>
            <a:r>
              <a:rPr lang="en-US" sz="5400">
                <a:solidFill>
                  <a:srgbClr val="FFBF1F"/>
                </a:solidFill>
              </a:rPr>
              <a:t>Verne and Wells</a:t>
            </a:r>
          </a:p>
        </p:txBody>
      </p:sp>
      <p:sp>
        <p:nvSpPr>
          <p:cNvPr id="708611" name="Rectangle 3"/>
          <p:cNvSpPr>
            <a:spLocks noGrp="1" noChangeArrowheads="1"/>
          </p:cNvSpPr>
          <p:nvPr>
            <p:ph type="body" sz="half" idx="1"/>
          </p:nvPr>
        </p:nvSpPr>
        <p:spPr>
          <a:xfrm>
            <a:off x="152400" y="1828800"/>
            <a:ext cx="5562600" cy="4191000"/>
          </a:xfrm>
        </p:spPr>
        <p:txBody>
          <a:bodyPr/>
          <a:lstStyle/>
          <a:p>
            <a:pPr>
              <a:lnSpc>
                <a:spcPct val="80000"/>
              </a:lnSpc>
              <a:buFont typeface="Wingdings" pitchFamily="2" charset="2"/>
              <a:buNone/>
            </a:pPr>
            <a:r>
              <a:rPr lang="en-US" sz="2800">
                <a:solidFill>
                  <a:srgbClr val="FFBF1F"/>
                </a:solidFill>
              </a:rPr>
              <a:t>   “Wells imagined both dark and bright futures because his creed allowed both while promising neither, and because the eighty years of his life were years of immense intellectual and technological accomplishment and appalling violence and destruction.”</a:t>
            </a:r>
          </a:p>
          <a:p>
            <a:pPr>
              <a:lnSpc>
                <a:spcPct val="80000"/>
              </a:lnSpc>
              <a:buFont typeface="Wingdings" pitchFamily="2" charset="2"/>
              <a:buNone/>
            </a:pPr>
            <a:endParaRPr lang="en-US" sz="1600">
              <a:solidFill>
                <a:srgbClr val="FFBF1F"/>
              </a:solidFill>
            </a:endParaRPr>
          </a:p>
          <a:p>
            <a:pPr>
              <a:lnSpc>
                <a:spcPct val="80000"/>
              </a:lnSpc>
              <a:buFont typeface="Wingdings" pitchFamily="2" charset="2"/>
              <a:buNone/>
            </a:pPr>
            <a:r>
              <a:rPr lang="en-US" sz="2800">
                <a:solidFill>
                  <a:srgbClr val="FFBF1F"/>
                </a:solidFill>
              </a:rPr>
              <a:t>   – science fiction author Ursula Le Guin </a:t>
            </a:r>
          </a:p>
        </p:txBody>
      </p:sp>
      <p:pic>
        <p:nvPicPr>
          <p:cNvPr id="708615" name="Picture 7" descr="nameless-ursula"/>
          <p:cNvPicPr>
            <a:picLocks noChangeAspect="1" noChangeArrowheads="1"/>
          </p:cNvPicPr>
          <p:nvPr>
            <p:ph sz="half" idx="2"/>
          </p:nvPr>
        </p:nvPicPr>
        <p:blipFill>
          <a:blip r:embed="rId2"/>
          <a:srcRect/>
          <a:stretch>
            <a:fillRect/>
          </a:stretch>
        </p:blipFill>
        <p:spPr>
          <a:xfrm>
            <a:off x="5638800" y="1905000"/>
            <a:ext cx="3111500" cy="3733800"/>
          </a:xfrm>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RL-Nanoethics-9">
  <a:themeElements>
    <a:clrScheme name="Refined 1">
      <a:dk1>
        <a:srgbClr val="666633"/>
      </a:dk1>
      <a:lt1>
        <a:srgbClr val="FFFFFF"/>
      </a:lt1>
      <a:dk2>
        <a:srgbClr val="000000"/>
      </a:dk2>
      <a:lt2>
        <a:srgbClr val="FFFFFF"/>
      </a:lt2>
      <a:accent1>
        <a:srgbClr val="666699"/>
      </a:accent1>
      <a:accent2>
        <a:srgbClr val="990000"/>
      </a:accent2>
      <a:accent3>
        <a:srgbClr val="AAAAAA"/>
      </a:accent3>
      <a:accent4>
        <a:srgbClr val="DADADA"/>
      </a:accent4>
      <a:accent5>
        <a:srgbClr val="B8B8CA"/>
      </a:accent5>
      <a:accent6>
        <a:srgbClr val="8A0000"/>
      </a:accent6>
      <a:hlink>
        <a:srgbClr val="999900"/>
      </a:hlink>
      <a:folHlink>
        <a:srgbClr val="FFFFFF"/>
      </a:folHlink>
    </a:clrScheme>
    <a:fontScheme name="Refined">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Refined 1">
        <a:dk1>
          <a:srgbClr val="666633"/>
        </a:dk1>
        <a:lt1>
          <a:srgbClr val="FFFFFF"/>
        </a:lt1>
        <a:dk2>
          <a:srgbClr val="000000"/>
        </a:dk2>
        <a:lt2>
          <a:srgbClr val="FFFFFF"/>
        </a:lt2>
        <a:accent1>
          <a:srgbClr val="666699"/>
        </a:accent1>
        <a:accent2>
          <a:srgbClr val="990000"/>
        </a:accent2>
        <a:accent3>
          <a:srgbClr val="AAAAAA"/>
        </a:accent3>
        <a:accent4>
          <a:srgbClr val="DADADA"/>
        </a:accent4>
        <a:accent5>
          <a:srgbClr val="B8B8CA"/>
        </a:accent5>
        <a:accent6>
          <a:srgbClr val="8A0000"/>
        </a:accent6>
        <a:hlink>
          <a:srgbClr val="999900"/>
        </a:hlink>
        <a:folHlink>
          <a:srgbClr val="FFFFFF"/>
        </a:folHlink>
      </a:clrScheme>
      <a:clrMap bg1="dk2" tx1="lt1" bg2="dk1" tx2="lt2" accent1="accent1" accent2="accent2" accent3="accent3" accent4="accent4" accent5="accent5" accent6="accent6" hlink="hlink" folHlink="folHlink"/>
    </a:extraClrScheme>
    <a:extraClrScheme>
      <a:clrScheme name="Refined 2">
        <a:dk1>
          <a:srgbClr val="4D4D4D"/>
        </a:dk1>
        <a:lt1>
          <a:srgbClr val="FFFFFF"/>
        </a:lt1>
        <a:dk2>
          <a:srgbClr val="4A1102"/>
        </a:dk2>
        <a:lt2>
          <a:srgbClr val="FFFFFF"/>
        </a:lt2>
        <a:accent1>
          <a:srgbClr val="CC3300"/>
        </a:accent1>
        <a:accent2>
          <a:srgbClr val="666699"/>
        </a:accent2>
        <a:accent3>
          <a:srgbClr val="B1AAAA"/>
        </a:accent3>
        <a:accent4>
          <a:srgbClr val="DADADA"/>
        </a:accent4>
        <a:accent5>
          <a:srgbClr val="E2ADAA"/>
        </a:accent5>
        <a:accent6>
          <a:srgbClr val="5C5C8A"/>
        </a:accent6>
        <a:hlink>
          <a:srgbClr val="FF9900"/>
        </a:hlink>
        <a:folHlink>
          <a:srgbClr val="FFFFFF"/>
        </a:folHlink>
      </a:clrScheme>
      <a:clrMap bg1="dk2" tx1="lt1" bg2="dk1" tx2="lt2" accent1="accent1" accent2="accent2" accent3="accent3" accent4="accent4" accent5="accent5" accent6="accent6" hlink="hlink" folHlink="folHlink"/>
    </a:extraClrScheme>
    <a:extraClrScheme>
      <a:clrScheme name="Refined 3">
        <a:dk1>
          <a:srgbClr val="666699"/>
        </a:dk1>
        <a:lt1>
          <a:srgbClr val="FFFFFF"/>
        </a:lt1>
        <a:dk2>
          <a:srgbClr val="400040"/>
        </a:dk2>
        <a:lt2>
          <a:srgbClr val="FFFFFF"/>
        </a:lt2>
        <a:accent1>
          <a:srgbClr val="FFCC00"/>
        </a:accent1>
        <a:accent2>
          <a:srgbClr val="FF3300"/>
        </a:accent2>
        <a:accent3>
          <a:srgbClr val="AFAAAF"/>
        </a:accent3>
        <a:accent4>
          <a:srgbClr val="DADADA"/>
        </a:accent4>
        <a:accent5>
          <a:srgbClr val="FFE2AA"/>
        </a:accent5>
        <a:accent6>
          <a:srgbClr val="E72D00"/>
        </a:accent6>
        <a:hlink>
          <a:srgbClr val="CC9900"/>
        </a:hlink>
        <a:folHlink>
          <a:srgbClr val="CC3300"/>
        </a:folHlink>
      </a:clrScheme>
      <a:clrMap bg1="dk2" tx1="lt1" bg2="dk1" tx2="lt2" accent1="accent1" accent2="accent2" accent3="accent3" accent4="accent4" accent5="accent5" accent6="accent6" hlink="hlink" folHlink="folHlink"/>
    </a:extraClrScheme>
    <a:extraClrScheme>
      <a:clrScheme name="Refined 4">
        <a:dk1>
          <a:srgbClr val="4D4D4D"/>
        </a:dk1>
        <a:lt1>
          <a:srgbClr val="FFFFFF"/>
        </a:lt1>
        <a:dk2>
          <a:srgbClr val="006699"/>
        </a:dk2>
        <a:lt2>
          <a:srgbClr val="CCECFF"/>
        </a:lt2>
        <a:accent1>
          <a:srgbClr val="339966"/>
        </a:accent1>
        <a:accent2>
          <a:srgbClr val="3366FF"/>
        </a:accent2>
        <a:accent3>
          <a:srgbClr val="AAB8CA"/>
        </a:accent3>
        <a:accent4>
          <a:srgbClr val="DADADA"/>
        </a:accent4>
        <a:accent5>
          <a:srgbClr val="ADCAB8"/>
        </a:accent5>
        <a:accent6>
          <a:srgbClr val="2D5CE7"/>
        </a:accent6>
        <a:hlink>
          <a:srgbClr val="33CCFF"/>
        </a:hlink>
        <a:folHlink>
          <a:srgbClr val="FFFFFF"/>
        </a:folHlink>
      </a:clrScheme>
      <a:clrMap bg1="dk2" tx1="lt1" bg2="dk1" tx2="lt2" accent1="accent1" accent2="accent2" accent3="accent3" accent4="accent4" accent5="accent5" accent6="accent6" hlink="hlink" folHlink="folHlink"/>
    </a:extraClrScheme>
    <a:extraClrScheme>
      <a:clrScheme name="Refined 5">
        <a:dk1>
          <a:srgbClr val="000000"/>
        </a:dk1>
        <a:lt1>
          <a:srgbClr val="FFFFFF"/>
        </a:lt1>
        <a:dk2>
          <a:srgbClr val="CC0000"/>
        </a:dk2>
        <a:lt2>
          <a:srgbClr val="666699"/>
        </a:lt2>
        <a:accent1>
          <a:srgbClr val="FF6600"/>
        </a:accent1>
        <a:accent2>
          <a:srgbClr val="FF9933"/>
        </a:accent2>
        <a:accent3>
          <a:srgbClr val="FFFFFF"/>
        </a:accent3>
        <a:accent4>
          <a:srgbClr val="000000"/>
        </a:accent4>
        <a:accent5>
          <a:srgbClr val="FFB8AA"/>
        </a:accent5>
        <a:accent6>
          <a:srgbClr val="E78A2D"/>
        </a:accent6>
        <a:hlink>
          <a:srgbClr val="FFCC00"/>
        </a:hlink>
        <a:folHlink>
          <a:srgbClr val="333399"/>
        </a:folHlink>
      </a:clrScheme>
      <a:clrMap bg1="lt1" tx1="dk1" bg2="lt2" tx2="dk2" accent1="accent1" accent2="accent2" accent3="accent3" accent4="accent4" accent5="accent5" accent6="accent6" hlink="hlink" folHlink="folHlink"/>
    </a:extraClrScheme>
    <a:extraClrScheme>
      <a:clrScheme name="Refined 6">
        <a:dk1>
          <a:srgbClr val="000000"/>
        </a:dk1>
        <a:lt1>
          <a:srgbClr val="FFFFFF"/>
        </a:lt1>
        <a:dk2>
          <a:srgbClr val="000000"/>
        </a:dk2>
        <a:lt2>
          <a:srgbClr val="C0C0C0"/>
        </a:lt2>
        <a:accent1>
          <a:srgbClr val="CC3300"/>
        </a:accent1>
        <a:accent2>
          <a:srgbClr val="666699"/>
        </a:accent2>
        <a:accent3>
          <a:srgbClr val="FFFFFF"/>
        </a:accent3>
        <a:accent4>
          <a:srgbClr val="000000"/>
        </a:accent4>
        <a:accent5>
          <a:srgbClr val="E2ADAA"/>
        </a:accent5>
        <a:accent6>
          <a:srgbClr val="5C5C8A"/>
        </a:accent6>
        <a:hlink>
          <a:srgbClr val="999900"/>
        </a:hlink>
        <a:folHlink>
          <a:srgbClr val="4D4D4D"/>
        </a:folHlink>
      </a:clrScheme>
      <a:clrMap bg1="lt1" tx1="dk1" bg2="lt2" tx2="dk2" accent1="accent1" accent2="accent2" accent3="accent3" accent4="accent4" accent5="accent5" accent6="accent6" hlink="hlink" folHlink="folHlink"/>
    </a:extraClrScheme>
    <a:extraClrScheme>
      <a:clrScheme name="Refined 7">
        <a:dk1>
          <a:srgbClr val="000000"/>
        </a:dk1>
        <a:lt1>
          <a:srgbClr val="FFFFFF"/>
        </a:lt1>
        <a:dk2>
          <a:srgbClr val="000066"/>
        </a:dk2>
        <a:lt2>
          <a:srgbClr val="333399"/>
        </a:lt2>
        <a:accent1>
          <a:srgbClr val="3399FF"/>
        </a:accent1>
        <a:accent2>
          <a:srgbClr val="9999FF"/>
        </a:accent2>
        <a:accent3>
          <a:srgbClr val="FFFFFF"/>
        </a:accent3>
        <a:accent4>
          <a:srgbClr val="000000"/>
        </a:accent4>
        <a:accent5>
          <a:srgbClr val="ADCAFF"/>
        </a:accent5>
        <a:accent6>
          <a:srgbClr val="8A8AE7"/>
        </a:accent6>
        <a:hlink>
          <a:srgbClr val="00CCFF"/>
        </a:hlink>
        <a:folHlink>
          <a:srgbClr val="5F5F5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RL-Nanoethics-9</Template>
  <TotalTime>12</TotalTime>
  <Words>1054</Words>
  <Application>Microsoft PowerPoint</Application>
  <PresentationFormat>On-screen Show (4:3)</PresentationFormat>
  <Paragraphs>92</Paragraphs>
  <Slides>25</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0" baseType="lpstr">
      <vt:lpstr>Arial</vt:lpstr>
      <vt:lpstr>Times New Roman</vt:lpstr>
      <vt:lpstr>Wingdings</vt:lpstr>
      <vt:lpstr>RL-Nanoethics-9</vt:lpstr>
      <vt:lpstr>Bitmap Image</vt:lpstr>
      <vt:lpstr>Science Fiction, Philosophy, and the Future  Nanoethics Lecture IX</vt:lpstr>
      <vt:lpstr>Origin of Science Fiction</vt:lpstr>
      <vt:lpstr>Origin of Science Fiction</vt:lpstr>
      <vt:lpstr>Origin of Science Fiction</vt:lpstr>
      <vt:lpstr>Origin of Science Fiction</vt:lpstr>
      <vt:lpstr>Cautionary Note</vt:lpstr>
      <vt:lpstr>Mary Shelley</vt:lpstr>
      <vt:lpstr>Mary Shelley</vt:lpstr>
      <vt:lpstr>Mary Shelley</vt:lpstr>
      <vt:lpstr>Two Prolific Pioneers  of Science Fiction</vt:lpstr>
      <vt:lpstr>Verne and Wells</vt:lpstr>
      <vt:lpstr>Verne and Wells</vt:lpstr>
      <vt:lpstr>Verne and Wells</vt:lpstr>
      <vt:lpstr>Verne and Wells</vt:lpstr>
      <vt:lpstr>Verne and Wells</vt:lpstr>
      <vt:lpstr>Verne and Wells</vt:lpstr>
      <vt:lpstr>Verne and Wells</vt:lpstr>
      <vt:lpstr>Verne and Wells</vt:lpstr>
      <vt:lpstr>Verne and Wells</vt:lpstr>
      <vt:lpstr>Verne and Wells</vt:lpstr>
      <vt:lpstr>Verne and Wells</vt:lpstr>
      <vt:lpstr>Verne and Wells</vt:lpstr>
      <vt:lpstr>Verne and Wells</vt:lpstr>
      <vt:lpstr>Verne and Wells</vt:lpstr>
      <vt:lpstr>Verne and Wells</vt:lpstr>
    </vt:vector>
  </TitlesOfParts>
  <Company>Auburn University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Fiction, Philosophy, and the Future  Nanoethics Lecture IX</dc:title>
  <dc:creator>Roderick Tracy Long</dc:creator>
  <cp:lastModifiedBy>Roderick Tracy Long</cp:lastModifiedBy>
  <cp:revision>13</cp:revision>
  <dcterms:created xsi:type="dcterms:W3CDTF">2008-04-18T20:55:49Z</dcterms:created>
  <dcterms:modified xsi:type="dcterms:W3CDTF">2008-04-18T21:08:26Z</dcterms:modified>
</cp:coreProperties>
</file>