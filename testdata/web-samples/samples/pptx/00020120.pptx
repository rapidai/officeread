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slides/slide38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Default Extension="jpeg" ContentType="image/jpeg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slides/slide42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9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Default Extension="gif" ContentType="image/gif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36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44"/>
  </p:notesMasterIdLst>
  <p:sldIdLst>
    <p:sldId id="257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70" r:id="rId12"/>
    <p:sldId id="271" r:id="rId13"/>
    <p:sldId id="272" r:id="rId14"/>
    <p:sldId id="273" r:id="rId15"/>
    <p:sldId id="280" r:id="rId16"/>
    <p:sldId id="281" r:id="rId17"/>
    <p:sldId id="282" r:id="rId18"/>
    <p:sldId id="283" r:id="rId19"/>
    <p:sldId id="284" r:id="rId20"/>
    <p:sldId id="285" r:id="rId21"/>
    <p:sldId id="287" r:id="rId22"/>
    <p:sldId id="288" r:id="rId23"/>
    <p:sldId id="286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76" r:id="rId35"/>
    <p:sldId id="277" r:id="rId36"/>
    <p:sldId id="278" r:id="rId37"/>
    <p:sldId id="279" r:id="rId38"/>
    <p:sldId id="299" r:id="rId39"/>
    <p:sldId id="268" r:id="rId40"/>
    <p:sldId id="301" r:id="rId41"/>
    <p:sldId id="302" r:id="rId42"/>
    <p:sldId id="303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02" autoAdjust="0"/>
    <p:restoredTop sz="95277" autoAdjust="0"/>
  </p:normalViewPr>
  <p:slideViewPr>
    <p:cSldViewPr snapToGrid="0" showGuides="1">
      <p:cViewPr>
        <p:scale>
          <a:sx n="125" d="100"/>
          <a:sy n="125" d="100"/>
        </p:scale>
        <p:origin x="-264" y="424"/>
      </p:cViewPr>
      <p:guideLst>
        <p:guide orient="horz" pos="3728"/>
        <p:guide pos="2880"/>
      </p:guideLst>
    </p:cSldViewPr>
  </p:slideViewPr>
  <p:outlineViewPr>
    <p:cViewPr>
      <p:scale>
        <a:sx n="33" d="100"/>
        <a:sy n="33" d="100"/>
      </p:scale>
      <p:origin x="0" y="17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49187-B504-0B4F-B012-5D80F37A8904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22936-89E1-A24E-B1BF-D9D86285062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</a:t>
            </a:r>
            <a:r>
              <a:rPr lang="en-US" baseline="0" dirty="0" smtClean="0"/>
              <a:t> usable is our website?  How </a:t>
            </a:r>
            <a:r>
              <a:rPr lang="en-US" baseline="0" dirty="0" err="1" smtClean="0"/>
              <a:t>satsified</a:t>
            </a:r>
            <a:r>
              <a:rPr lang="en-US" baseline="0" dirty="0" smtClean="0"/>
              <a:t> are its users?  -leads to my GA study,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22936-89E1-A24E-B1BF-D9D86285062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This is impossible to achieve!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22936-89E1-A24E-B1BF-D9D86285062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</a:t>
            </a:r>
            <a:r>
              <a:rPr lang="en-US" baseline="0" dirty="0" smtClean="0"/>
              <a:t> usable is our website?  How </a:t>
            </a:r>
            <a:r>
              <a:rPr lang="en-US" baseline="0" dirty="0" err="1" smtClean="0"/>
              <a:t>satsified</a:t>
            </a:r>
            <a:r>
              <a:rPr lang="en-US" baseline="0" dirty="0" smtClean="0"/>
              <a:t> are its users?  -leads to my GA study,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22936-89E1-A24E-B1BF-D9D86285062E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22936-89E1-A24E-B1BF-D9D86285062E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</a:t>
            </a:r>
            <a:r>
              <a:rPr lang="en-US" baseline="0" dirty="0" smtClean="0"/>
              <a:t> usable is our website?  How </a:t>
            </a:r>
            <a:r>
              <a:rPr lang="en-US" baseline="0" dirty="0" err="1" smtClean="0"/>
              <a:t>satsified</a:t>
            </a:r>
            <a:r>
              <a:rPr lang="en-US" baseline="0" dirty="0" smtClean="0"/>
              <a:t> are its users?  -leads to my GA study,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22936-89E1-A24E-B1BF-D9D86285062E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345B8-4810-E240-8FE3-63DECB06F186}" type="datetimeFigureOut">
              <a:rPr lang="en-US" smtClean="0"/>
              <a:pPr/>
              <a:t>10/26/10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F6DAE-EAC7-D449-85C4-DA34A0809F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urveysystem.com/sscalc.htm" TargetMode="External"/><Relationship Id="rId3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jstor.org/stable/4306378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cords.viu.ca/~johnstoi/maybe/title.htm" TargetMode="External"/><Relationship Id="rId4" Type="http://schemas.openxmlformats.org/officeDocument/2006/relationships/hyperlink" Target="http://www.custominsight.com/articles/random-sampling.asp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avidmlane.com/hyperstat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gi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ocs.limesurvey.org/tiki-index.php?page=question+types" TargetMode="External"/><Relationship Id="rId3" Type="http://schemas.openxmlformats.org/officeDocument/2006/relationships/image" Target="../media/image1.gi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9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10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../media/image1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3221" y="343258"/>
            <a:ext cx="8408933" cy="2871921"/>
          </a:xfrm>
        </p:spPr>
        <p:txBody>
          <a:bodyPr anchor="t" anchorCtr="0">
            <a:normAutofit fontScale="90000"/>
          </a:bodyPr>
          <a:lstStyle/>
          <a:p>
            <a:r>
              <a:rPr lang="en-US" b="1" i="1" dirty="0" smtClean="0"/>
              <a:t>Quantitative Methods: Conducting a User Survey and Interpreting Data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667" dirty="0" smtClean="0"/>
              <a:t>Midwest Archives Conference Fall Symposium</a:t>
            </a:r>
            <a:br>
              <a:rPr lang="en-US" sz="2667" dirty="0" smtClean="0"/>
            </a:br>
            <a:r>
              <a:rPr lang="en-US" sz="2667" dirty="0" smtClean="0"/>
              <a:t>October 22, 2010</a:t>
            </a:r>
            <a:br>
              <a:rPr lang="en-US" sz="2667" dirty="0" smtClean="0"/>
            </a:br>
            <a:r>
              <a:rPr lang="en-US" sz="2667" dirty="0" smtClean="0"/>
              <a:t>Dayton, Ohio </a:t>
            </a:r>
            <a:endParaRPr lang="en-US" sz="2667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96206"/>
            <a:ext cx="6156397" cy="1384473"/>
          </a:xfrm>
        </p:spPr>
        <p:txBody>
          <a:bodyPr>
            <a:noAutofit/>
          </a:bodyPr>
          <a:lstStyle/>
          <a:p>
            <a:r>
              <a:rPr lang="en-US" sz="1800" dirty="0" smtClean="0"/>
              <a:t>Christopher J. Prom, PhD</a:t>
            </a:r>
          </a:p>
          <a:p>
            <a:r>
              <a:rPr lang="en-US" sz="1800" dirty="0" smtClean="0"/>
              <a:t>Assistant University Archivist and Associate Professor</a:t>
            </a:r>
          </a:p>
          <a:p>
            <a:r>
              <a:rPr lang="en-US" sz="1800" dirty="0" smtClean="0"/>
              <a:t>University of Illinois at Urbana-Champaign</a:t>
            </a:r>
          </a:p>
          <a:p>
            <a:r>
              <a:rPr lang="en-US" sz="1800" dirty="0" err="1" smtClean="0"/>
              <a:t>prom@illinois.edu</a:t>
            </a:r>
            <a:endParaRPr lang="en-US" sz="1800" dirty="0"/>
          </a:p>
        </p:txBody>
      </p:sp>
      <p:pic>
        <p:nvPicPr>
          <p:cNvPr id="6" name="Picture 5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My Quantitative Background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i="1" dirty="0" smtClean="0"/>
              <a:t>"</a:t>
            </a:r>
            <a:r>
              <a:rPr lang="en-US" i="1" dirty="0"/>
              <a:t>The EAD Cookbook</a:t>
            </a:r>
            <a:r>
              <a:rPr lang="en-US" dirty="0"/>
              <a:t>: a Survey and Usability Study".  </a:t>
            </a:r>
            <a:r>
              <a:rPr lang="en-US" i="1" dirty="0"/>
              <a:t>American Archivist</a:t>
            </a:r>
            <a:r>
              <a:rPr lang="en-US" dirty="0"/>
              <a:t> 65, no. </a:t>
            </a:r>
            <a:r>
              <a:rPr lang="en-US" dirty="0" smtClean="0"/>
              <a:t>2 (2002): </a:t>
            </a:r>
            <a:r>
              <a:rPr lang="en-US" dirty="0"/>
              <a:t>257-275.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Survey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“User </a:t>
            </a:r>
            <a:r>
              <a:rPr lang="en-US" dirty="0"/>
              <a:t>Interactions with Electronic Finding Aids in a Controlled Setting." </a:t>
            </a:r>
            <a:r>
              <a:rPr lang="en-US" i="1" dirty="0"/>
              <a:t>American Archivist</a:t>
            </a:r>
            <a:r>
              <a:rPr lang="en-US" dirty="0"/>
              <a:t> 67, no. </a:t>
            </a:r>
            <a:r>
              <a:rPr lang="en-US" dirty="0" smtClean="0"/>
              <a:t>2 (2004): </a:t>
            </a:r>
            <a:r>
              <a:rPr lang="en-US" dirty="0"/>
              <a:t>234-68.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Observational research </a:t>
            </a:r>
            <a:r>
              <a:rPr lang="en-US" dirty="0" err="1" smtClean="0">
                <a:solidFill>
                  <a:srgbClr val="FF0000"/>
                </a:solidFill>
              </a:rPr>
              <a:t>w</a:t>
            </a:r>
            <a:r>
              <a:rPr lang="en-US" dirty="0" smtClean="0">
                <a:solidFill>
                  <a:srgbClr val="FF0000"/>
                </a:solidFill>
              </a:rPr>
              <a:t>/stats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“Optimum </a:t>
            </a:r>
            <a:r>
              <a:rPr lang="en-US" dirty="0"/>
              <a:t>Access?  A Survey of Processing in College and University Archives.”</a:t>
            </a:r>
            <a:r>
              <a:rPr lang="en-US" dirty="0" smtClean="0"/>
              <a:t> </a:t>
            </a:r>
            <a:r>
              <a:rPr lang="en-US" i="1" dirty="0" smtClean="0"/>
              <a:t>CU Reader, 2007. </a:t>
            </a:r>
            <a:r>
              <a:rPr lang="en-US" dirty="0" smtClean="0">
                <a:solidFill>
                  <a:srgbClr val="FF0000"/>
                </a:solidFill>
              </a:rPr>
              <a:t>Survey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w</a:t>
            </a:r>
            <a:r>
              <a:rPr lang="en-US" dirty="0" smtClean="0"/>
              <a:t>/ Ellen </a:t>
            </a:r>
            <a:r>
              <a:rPr lang="en-US" dirty="0"/>
              <a:t>D. Swain   "From College Democrats to the Falling Illini: Identifying, Appraising, and Capturing Student Organization Web Sites."  </a:t>
            </a:r>
            <a:r>
              <a:rPr lang="en-US" i="1" dirty="0"/>
              <a:t>American Archivist</a:t>
            </a:r>
            <a:r>
              <a:rPr lang="en-US" dirty="0"/>
              <a:t> 70/2 (2007): 344-363.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Descriptive statistics, sample of websites, Survey.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“</a:t>
            </a:r>
            <a:r>
              <a:rPr lang="en-US" dirty="0"/>
              <a:t>Using Web Analytics to Improve Online Access to Archival </a:t>
            </a:r>
            <a:r>
              <a:rPr lang="en-US" dirty="0" smtClean="0"/>
              <a:t>Resources.” Forthcoming Spring 2011. </a:t>
            </a:r>
            <a:r>
              <a:rPr lang="en-US" i="1" dirty="0" smtClean="0"/>
              <a:t>The American Archivist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FF0000"/>
                </a:solidFill>
              </a:rPr>
              <a:t>Weblog statistics.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Archon/AT User Survey (current). </a:t>
            </a:r>
            <a:r>
              <a:rPr lang="en-US" dirty="0" smtClean="0">
                <a:solidFill>
                  <a:srgbClr val="FF0000"/>
                </a:solidFill>
              </a:rPr>
              <a:t>Survey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smtClean="0"/>
              <a:t>Big Proviso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Session Goals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GB" dirty="0" smtClean="0"/>
              <a:t>You will be able to:</a:t>
            </a:r>
          </a:p>
          <a:p>
            <a:pPr lvl="1"/>
            <a:r>
              <a:rPr lang="en-GB" dirty="0" smtClean="0"/>
              <a:t>List the steps to be taken when designing a research study than includes a survey</a:t>
            </a:r>
          </a:p>
          <a:p>
            <a:pPr lvl="1"/>
            <a:r>
              <a:rPr lang="en-GB" dirty="0" smtClean="0"/>
              <a:t>Identify problems/issues when reading literature that uses surveys</a:t>
            </a:r>
          </a:p>
          <a:p>
            <a:pPr lvl="1"/>
            <a:r>
              <a:rPr lang="en-GB" dirty="0" smtClean="0"/>
              <a:t>Describe some elements affecting survey reliability</a:t>
            </a:r>
          </a:p>
          <a:p>
            <a:pPr lvl="1"/>
            <a:r>
              <a:rPr lang="en-GB" dirty="0" smtClean="0"/>
              <a:t>Find resources to help develop user surveys</a:t>
            </a:r>
          </a:p>
          <a:p>
            <a:pPr lvl="1"/>
            <a:r>
              <a:rPr lang="en-GB" dirty="0" smtClean="0"/>
              <a:t>Describe Excel tools for analyzing data</a:t>
            </a:r>
          </a:p>
          <a:p>
            <a:pPr lvl="1"/>
            <a:r>
              <a:rPr lang="en-GB" dirty="0" smtClean="0"/>
              <a:t>Avoid some common survey design, implementation and interpretation errors  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Session Structure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Overview of Survey Planning/Design Methodology (70 min)</a:t>
            </a:r>
          </a:p>
          <a:p>
            <a:pPr lvl="1"/>
            <a:r>
              <a:rPr lang="en-GB" dirty="0" smtClean="0"/>
              <a:t>Planning</a:t>
            </a:r>
          </a:p>
          <a:p>
            <a:pPr lvl="1"/>
            <a:r>
              <a:rPr lang="en-GB" dirty="0" smtClean="0"/>
              <a:t>Formulating an effective </a:t>
            </a:r>
            <a:r>
              <a:rPr lang="en-GB" dirty="0"/>
              <a:t>s</a:t>
            </a:r>
            <a:r>
              <a:rPr lang="en-GB" dirty="0" smtClean="0"/>
              <a:t>urvey instrument and survey process</a:t>
            </a:r>
          </a:p>
          <a:p>
            <a:pPr lvl="1"/>
            <a:r>
              <a:rPr lang="en-GB" dirty="0" smtClean="0"/>
              <a:t>Dos and Don’ts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Using Excel to Analyze Data 15 min)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 smtClean="0"/>
              <a:t>Basic statistical concepts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 smtClean="0"/>
              <a:t>Feature overview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GB" dirty="0" smtClean="0"/>
              <a:t>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Discussion/Your Questions (5 min)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407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 smtClean="0"/>
              <a:t>I: Overview of Survey Planning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6" name="Picture 5" descr="Screen shot 2010-10-19 at 7.47.21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" y="1179822"/>
            <a:ext cx="8686800" cy="47144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 flipV="1">
            <a:off x="1534160" y="2875280"/>
            <a:ext cx="4084320" cy="203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1473200" y="3667760"/>
            <a:ext cx="4074160" cy="1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6200000" flipH="1">
            <a:off x="5369560" y="3093720"/>
            <a:ext cx="965200" cy="487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47360" y="3677920"/>
            <a:ext cx="365760" cy="1219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624320" y="4521200"/>
            <a:ext cx="243840" cy="1727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 flipH="1" flipV="1">
            <a:off x="7421880" y="4018280"/>
            <a:ext cx="934720" cy="3962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8076406" y="4500880"/>
            <a:ext cx="1575594" cy="1095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8036560" y="5618480"/>
            <a:ext cx="914400" cy="1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6200000" flipH="1">
            <a:off x="502920" y="3693160"/>
            <a:ext cx="294640" cy="101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 flipH="1" flipV="1">
            <a:off x="919480" y="3429000"/>
            <a:ext cx="619760" cy="345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Critical Steps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Determine purpose/plan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Identify population and sample that represents it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Formulate effective </a:t>
            </a:r>
            <a:r>
              <a:rPr lang="en-GB" dirty="0"/>
              <a:t>s</a:t>
            </a:r>
            <a:r>
              <a:rPr lang="en-GB" dirty="0" smtClean="0"/>
              <a:t>urvey instrument</a:t>
            </a:r>
          </a:p>
          <a:p>
            <a:pPr marL="914400" lvl="1" indent="-514350"/>
            <a:r>
              <a:rPr lang="en-GB" dirty="0" smtClean="0"/>
              <a:t>Pre-test and revise</a:t>
            </a:r>
          </a:p>
          <a:p>
            <a:pPr marL="914400" lvl="1" indent="-514350"/>
            <a:r>
              <a:rPr lang="en-GB" dirty="0" smtClean="0"/>
              <a:t>Follow up with non-respondents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GB" dirty="0" smtClean="0"/>
              <a:t>Analyze and report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Step 1: Determine Purpose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8960" y="1463040"/>
          <a:ext cx="80264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040"/>
                <a:gridCol w="402336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Don’t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 smtClean="0"/>
                        <a:t>Set</a:t>
                      </a:r>
                      <a:r>
                        <a:rPr lang="en-US" baseline="0" dirty="0" smtClean="0"/>
                        <a:t> aside a month (or more) for planning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 right to question</a:t>
                      </a:r>
                      <a:r>
                        <a:rPr lang="en-US" baseline="0" dirty="0" smtClean="0"/>
                        <a:t> writing</a:t>
                      </a:r>
                      <a:endParaRPr lang="en-US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Know what you are</a:t>
                      </a:r>
                      <a:r>
                        <a:rPr lang="en-US" baseline="0" dirty="0" smtClean="0"/>
                        <a:t> trying to measure.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Survey just for ‘reporting’</a:t>
                      </a:r>
                      <a:r>
                        <a:rPr lang="en-US" baseline="0" dirty="0" smtClean="0"/>
                        <a:t> or ‘statistical’ purposes</a:t>
                      </a:r>
                      <a:endParaRPr lang="en-US" dirty="0"/>
                    </a:p>
                  </a:txBody>
                  <a:tcPr/>
                </a:tc>
              </a:tr>
              <a:tr h="634724">
                <a:tc>
                  <a:txBody>
                    <a:bodyPr/>
                    <a:lstStyle/>
                    <a:p>
                      <a:r>
                        <a:rPr lang="en-US" dirty="0" smtClean="0"/>
                        <a:t>Limit your self to</a:t>
                      </a:r>
                      <a:r>
                        <a:rPr lang="en-US" baseline="0" dirty="0" smtClean="0"/>
                        <a:t> one major research question (</a:t>
                      </a:r>
                      <a:r>
                        <a:rPr lang="en-US" dirty="0" smtClean="0"/>
                        <a:t>Do you need a survey?)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Conflate disparate issues in one survey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Formulate </a:t>
                      </a:r>
                      <a:r>
                        <a:rPr lang="en-US" b="1" baseline="0" dirty="0" smtClean="0"/>
                        <a:t>s</a:t>
                      </a:r>
                      <a:r>
                        <a:rPr lang="en-US" b="1" dirty="0" smtClean="0"/>
                        <a:t>pecific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aseline="0" dirty="0" smtClean="0"/>
                        <a:t>hypotheses to prove or disprove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Have a vague,</a:t>
                      </a:r>
                      <a:r>
                        <a:rPr lang="en-US" baseline="0" dirty="0" smtClean="0"/>
                        <a:t> general purpose</a:t>
                      </a:r>
                      <a:endParaRPr lang="en-US" dirty="0"/>
                    </a:p>
                  </a:txBody>
                  <a:tcPr/>
                </a:tc>
              </a:tr>
              <a:tr h="275085">
                <a:tc>
                  <a:txBody>
                    <a:bodyPr/>
                    <a:lstStyle/>
                    <a:p>
                      <a:r>
                        <a:rPr lang="en-US" dirty="0" smtClean="0"/>
                        <a:t>Think</a:t>
                      </a:r>
                      <a:r>
                        <a:rPr lang="en-US" baseline="0" dirty="0" smtClean="0"/>
                        <a:t> about measurable data points that speak to each hypothesis (correlation)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Ask only open-ended questions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Doris </a:t>
            </a:r>
            <a:r>
              <a:rPr lang="en-US" dirty="0" err="1" smtClean="0"/>
              <a:t>Malkmus</a:t>
            </a:r>
            <a:r>
              <a:rPr lang="en-US" dirty="0" smtClean="0"/>
              <a:t>, Teaching History to Undergraduates with Primary Sources: Survey of Current Practices</a:t>
            </a:r>
            <a:r>
              <a:rPr lang="en-US" i="1" dirty="0" smtClean="0"/>
              <a:t>, Archival Issues </a:t>
            </a:r>
            <a:r>
              <a:rPr lang="en-US" i="1" dirty="0" err="1" smtClean="0"/>
              <a:t>Vol</a:t>
            </a:r>
            <a:r>
              <a:rPr lang="en-US" i="1" dirty="0" smtClean="0"/>
              <a:t> 31:1.</a:t>
            </a:r>
          </a:p>
          <a:p>
            <a:pPr lvl="1"/>
            <a:r>
              <a:rPr lang="en-US" i="1" dirty="0" smtClean="0"/>
              <a:t>How do faculty use </a:t>
            </a:r>
            <a:r>
              <a:rPr lang="en-US" i="1" dirty="0"/>
              <a:t>p</a:t>
            </a:r>
            <a:r>
              <a:rPr lang="en-US" i="1" dirty="0" smtClean="0"/>
              <a:t>rimary </a:t>
            </a:r>
            <a:r>
              <a:rPr lang="en-US" i="1" dirty="0"/>
              <a:t>s</a:t>
            </a:r>
            <a:r>
              <a:rPr lang="en-US" i="1" dirty="0" smtClean="0"/>
              <a:t>ources in classroom?</a:t>
            </a:r>
          </a:p>
          <a:p>
            <a:pPr lvl="1"/>
            <a:r>
              <a:rPr lang="en-US" i="1" dirty="0" smtClean="0"/>
              <a:t>12 straightforward questions—</a:t>
            </a:r>
          </a:p>
          <a:p>
            <a:pPr lvl="2"/>
            <a:r>
              <a:rPr lang="en-US" i="1" dirty="0" smtClean="0"/>
              <a:t>10 clearly quantitative</a:t>
            </a:r>
          </a:p>
          <a:p>
            <a:pPr lvl="2"/>
            <a:r>
              <a:rPr lang="en-US" i="1" dirty="0"/>
              <a:t>O</a:t>
            </a:r>
            <a:r>
              <a:rPr lang="en-US" i="1" dirty="0" smtClean="0"/>
              <a:t>ne coded to categories</a:t>
            </a:r>
          </a:p>
          <a:p>
            <a:pPr lvl="2"/>
            <a:r>
              <a:rPr lang="en-US" i="1" dirty="0"/>
              <a:t>O</a:t>
            </a:r>
            <a:r>
              <a:rPr lang="en-US" i="1" dirty="0" smtClean="0"/>
              <a:t>ne simple comment field</a:t>
            </a:r>
          </a:p>
          <a:p>
            <a:pPr lvl="1"/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2: My processing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“What factors correlate with low processing speed?”</a:t>
            </a:r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2753360"/>
          <a:ext cx="6096000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Demographic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Practices/Tools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Repos. Size/type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of techniques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holdings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Staffing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Descriptive 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Processed holdings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Access 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Holdings</a:t>
                      </a:r>
                      <a:r>
                        <a:rPr lang="en-US" baseline="0" dirty="0" smtClean="0"/>
                        <a:t> online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</a:t>
                      </a:r>
                      <a:r>
                        <a:rPr lang="en-US" baseline="0" dirty="0" smtClean="0"/>
                        <a:t> of metadata standards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a partner</a:t>
            </a:r>
          </a:p>
          <a:p>
            <a:r>
              <a:rPr lang="en-US" dirty="0" smtClean="0"/>
              <a:t>Working together, formulate:</a:t>
            </a:r>
          </a:p>
          <a:p>
            <a:pPr lvl="1"/>
            <a:r>
              <a:rPr lang="en-US" dirty="0" smtClean="0"/>
              <a:t>An research question relevant to one of both of your repositories</a:t>
            </a:r>
          </a:p>
          <a:p>
            <a:pPr lvl="1"/>
            <a:r>
              <a:rPr lang="en-US" dirty="0" smtClean="0"/>
              <a:t>Three data points that potentially speak to it.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Develop Sampling Plan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3388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Sampling is useful for non-survey (e.g. descriptive statistics) and survey work</a:t>
            </a:r>
          </a:p>
          <a:p>
            <a:r>
              <a:rPr lang="en-US" dirty="0" smtClean="0"/>
              <a:t>Population:  The total group of things (e.g. people) who you want to measure)</a:t>
            </a:r>
          </a:p>
          <a:p>
            <a:r>
              <a:rPr lang="en-US" dirty="0" smtClean="0"/>
              <a:t>Sample: A selected part of the population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924560" y="3251200"/>
            <a:ext cx="5029200" cy="2854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677920" y="4643120"/>
            <a:ext cx="1483360" cy="10058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42080" y="5019040"/>
            <a:ext cx="98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sample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72640" y="390144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Population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2: Develop Sampling Plan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8960" y="1463040"/>
          <a:ext cx="8026400" cy="2400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0"/>
                <a:gridCol w="40132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Don’t</a:t>
                      </a:r>
                      <a:endParaRPr lang="en-US" dirty="0"/>
                    </a:p>
                  </a:txBody>
                  <a:tcPr/>
                </a:tc>
              </a:tr>
              <a:tr h="723882">
                <a:tc>
                  <a:txBody>
                    <a:bodyPr/>
                    <a:lstStyle/>
                    <a:p>
                      <a:r>
                        <a:rPr lang="en-US" dirty="0" smtClean="0"/>
                        <a:t>Carefully</a:t>
                      </a:r>
                      <a:r>
                        <a:rPr lang="en-US" baseline="0" dirty="0" smtClean="0"/>
                        <a:t> identify the largest possible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Inadvertently</a:t>
                      </a:r>
                      <a:r>
                        <a:rPr lang="en-US" baseline="0" dirty="0" smtClean="0"/>
                        <a:t> limit the population</a:t>
                      </a:r>
                      <a:endParaRPr lang="en-US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Aim for 95%</a:t>
                      </a:r>
                      <a:r>
                        <a:rPr lang="en-US" baseline="0" dirty="0" smtClean="0"/>
                        <a:t> confidence-level sample </a:t>
                      </a:r>
                      <a:r>
                        <a:rPr lang="en-US" b="1" baseline="0" dirty="0" smtClean="0"/>
                        <a:t>OR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Consider</a:t>
                      </a:r>
                      <a:r>
                        <a:rPr lang="en-US" baseline="0" dirty="0" smtClean="0"/>
                        <a:t> ‘sampling’ entire population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Inadvertently</a:t>
                      </a:r>
                      <a:r>
                        <a:rPr lang="en-US" baseline="0" dirty="0" smtClean="0"/>
                        <a:t> introduce bias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8355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Consider stratified</a:t>
                      </a:r>
                      <a:r>
                        <a:rPr lang="en-US" baseline="0" dirty="0" smtClean="0"/>
                        <a:t> sampling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Over or under represent ‘statistically-significant’ groups in the population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you Sample: Gold Standard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Random</a:t>
            </a:r>
            <a:r>
              <a:rPr lang="en-US" dirty="0" smtClean="0"/>
              <a:t>: Every member has equal chance of being chosen</a:t>
            </a:r>
          </a:p>
          <a:p>
            <a:r>
              <a:rPr lang="en-US" b="1" dirty="0" smtClean="0"/>
              <a:t>Complete</a:t>
            </a:r>
            <a:r>
              <a:rPr lang="en-US" dirty="0" smtClean="0"/>
              <a:t>: Every member in sample responds</a:t>
            </a:r>
          </a:p>
          <a:p>
            <a:r>
              <a:rPr lang="en-US" b="1" dirty="0" smtClean="0"/>
              <a:t>Representative</a:t>
            </a:r>
            <a:r>
              <a:rPr lang="en-US" dirty="0" smtClean="0"/>
              <a:t>: Sample represents characteristics of population as a whole</a:t>
            </a:r>
          </a:p>
          <a:p>
            <a:r>
              <a:rPr lang="en-US" dirty="0" smtClean="0"/>
              <a:t>All sampling involves inferential statistics</a:t>
            </a: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Population and Sample Means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1162050"/>
            <a:ext cx="8623300" cy="45339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2976880" y="1869440"/>
            <a:ext cx="1564640" cy="12293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 flipV="1">
            <a:off x="4826000" y="2336800"/>
            <a:ext cx="1320800" cy="995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513840" y="2550160"/>
            <a:ext cx="2082800" cy="14020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7000240" y="3931920"/>
            <a:ext cx="2021840" cy="6807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80160" y="159512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Population mean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224536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Sample A mean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055360" y="204216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Sample B mean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939280" y="288544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Sample C mean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Scary Sampling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Central Limit Theorem</a:t>
            </a:r>
          </a:p>
          <a:p>
            <a:pPr lvl="1"/>
            <a:r>
              <a:rPr lang="en-US" dirty="0" smtClean="0"/>
              <a:t>For any distribution of a population, the distribution of  the means of all random samples is itself approximately normal</a:t>
            </a:r>
          </a:p>
          <a:p>
            <a:r>
              <a:rPr lang="en-US" dirty="0" smtClean="0"/>
              <a:t>Confidence Level</a:t>
            </a:r>
          </a:p>
          <a:p>
            <a:pPr lvl="1"/>
            <a:r>
              <a:rPr lang="en-US" dirty="0" smtClean="0"/>
              <a:t>A range of numbers within with the population mean will lie, with the stated probability (e.g. 95%, 99%)</a:t>
            </a:r>
          </a:p>
          <a:p>
            <a:r>
              <a:rPr lang="en-US" dirty="0" smtClean="0"/>
              <a:t>Standard Error</a:t>
            </a:r>
          </a:p>
          <a:p>
            <a:pPr lvl="1"/>
            <a:r>
              <a:rPr lang="en-US" dirty="0" smtClean="0"/>
              <a:t>How much variability to expect, for a given sample.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easy methods to increase confidence that your sample’s characteristics matches those of the population</a:t>
            </a:r>
          </a:p>
          <a:p>
            <a:r>
              <a:rPr lang="en-US" dirty="0" smtClean="0"/>
              <a:t>When selecting sample, you need to</a:t>
            </a:r>
          </a:p>
          <a:p>
            <a:pPr lvl="1"/>
            <a:r>
              <a:rPr lang="en-US" b="1" dirty="0" smtClean="0"/>
              <a:t>A: reduce bias</a:t>
            </a:r>
            <a:r>
              <a:rPr lang="en-US" dirty="0" smtClean="0"/>
              <a:t>; best way to do this is to select a truly random sample</a:t>
            </a:r>
          </a:p>
          <a:p>
            <a:pPr lvl="1"/>
            <a:r>
              <a:rPr lang="en-US" dirty="0" smtClean="0"/>
              <a:t>B: </a:t>
            </a:r>
            <a:r>
              <a:rPr lang="en-US" b="1" dirty="0" smtClean="0"/>
              <a:t>Ensure sufficient sample size</a:t>
            </a:r>
            <a:r>
              <a:rPr lang="en-US" dirty="0" smtClean="0"/>
              <a:t>; must be measured against confidence level and  standard error (aka ‘margin of error’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Number Generators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Excel (must install Analysis Tools)</a:t>
            </a:r>
          </a:p>
          <a:p>
            <a:r>
              <a:rPr lang="en-US" dirty="0" smtClean="0"/>
              <a:t>http://</a:t>
            </a:r>
            <a:r>
              <a:rPr lang="en-US" dirty="0" err="1" smtClean="0"/>
              <a:t>www.random.org</a:t>
            </a:r>
            <a:r>
              <a:rPr lang="en-US" dirty="0" smtClean="0"/>
              <a:t>/integers/</a:t>
            </a:r>
            <a:endParaRPr lang="en-US" dirty="0"/>
          </a:p>
        </p:txBody>
      </p:sp>
      <p:pic>
        <p:nvPicPr>
          <p:cNvPr id="4" name="Picture 3" descr="Screen shot 2010-10-20 at 3.11.1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63" y="2844800"/>
            <a:ext cx="6660438" cy="366786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Sample Size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http://www.surveysystem.com/sscalc.htm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Screen shot 2010-10-20 at 3.14.1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80" y="2603500"/>
            <a:ext cx="46482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Sample Badly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Abraham </a:t>
            </a:r>
            <a:r>
              <a:rPr lang="en-US" dirty="0" err="1" smtClean="0"/>
              <a:t>Brookstein</a:t>
            </a:r>
            <a:r>
              <a:rPr lang="en-US" dirty="0" smtClean="0"/>
              <a:t>, Library Quarterly 44:2 (1974): 124-32</a:t>
            </a:r>
          </a:p>
          <a:p>
            <a:r>
              <a:rPr lang="en-US" dirty="0" smtClean="0">
                <a:hlinkClick r:id="rId2"/>
              </a:rPr>
              <a:t>http://www.jstor.org/stable/4306378</a:t>
            </a:r>
            <a:endParaRPr lang="en-US" dirty="0" smtClean="0"/>
          </a:p>
          <a:p>
            <a:pPr lvl="1"/>
            <a:r>
              <a:rPr lang="en-US" dirty="0" smtClean="0"/>
              <a:t>Sample is not truly random (each one does not have equal chance of being picked)</a:t>
            </a:r>
          </a:p>
          <a:p>
            <a:pPr lvl="1"/>
            <a:r>
              <a:rPr lang="en-US" dirty="0" smtClean="0"/>
              <a:t>Sample does not represent differences in population</a:t>
            </a:r>
          </a:p>
          <a:p>
            <a:pPr lvl="1"/>
            <a:r>
              <a:rPr lang="en-US" dirty="0" smtClean="0"/>
              <a:t>Population itself is not correctly identified</a:t>
            </a:r>
          </a:p>
          <a:p>
            <a:pPr lvl="1"/>
            <a:r>
              <a:rPr lang="en-US" dirty="0" smtClean="0"/>
              <a:t>Surveys: Special problems</a:t>
            </a:r>
          </a:p>
          <a:p>
            <a:pPr lvl="2"/>
            <a:r>
              <a:rPr lang="en-US" dirty="0" smtClean="0"/>
              <a:t>Aim to get 95% confidence level, 3% interval</a:t>
            </a:r>
          </a:p>
          <a:p>
            <a:pPr lvl="2"/>
            <a:r>
              <a:rPr lang="en-US" dirty="0" smtClean="0"/>
              <a:t>If you can’t, retrospectively calculate them (don’t just say, we had a response rate of 13%) and report variable ‘n’ for each question</a:t>
            </a:r>
          </a:p>
          <a:p>
            <a:pPr lvl="2"/>
            <a:r>
              <a:rPr lang="en-US" dirty="0" smtClean="0"/>
              <a:t>Take active steps to ensure that respondents represent population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Exercise 2: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Work with your Partner</a:t>
            </a:r>
          </a:p>
          <a:p>
            <a:r>
              <a:rPr lang="en-US" dirty="0" smtClean="0"/>
              <a:t>Identify a group that you think serves as a representative population that can answer your research question.</a:t>
            </a:r>
          </a:p>
          <a:p>
            <a:r>
              <a:rPr lang="en-US" dirty="0" smtClean="0"/>
              <a:t>List three factors you will need to keep in mind to limit bias among respondents to a survey regarding your research question.</a:t>
            </a:r>
          </a:p>
          <a:p>
            <a:r>
              <a:rPr lang="en-US" dirty="0" smtClean="0"/>
              <a:t>My Example: Student Org</a:t>
            </a:r>
            <a:r>
              <a:rPr lang="en-US" dirty="0"/>
              <a:t>s</a:t>
            </a:r>
            <a:r>
              <a:rPr lang="en-US" dirty="0" smtClean="0"/>
              <a:t> project</a:t>
            </a:r>
          </a:p>
          <a:p>
            <a:pPr lvl="2"/>
            <a:r>
              <a:rPr lang="en-US" dirty="0" smtClean="0"/>
              <a:t>Websites; Carnegie list, stratified</a:t>
            </a:r>
          </a:p>
          <a:p>
            <a:pPr lvl="2"/>
            <a:r>
              <a:rPr lang="en-US" dirty="0" smtClean="0"/>
              <a:t>Every </a:t>
            </a:r>
            <a:r>
              <a:rPr lang="en-US" dirty="0" err="1" smtClean="0"/>
              <a:t>x</a:t>
            </a:r>
            <a:r>
              <a:rPr lang="en-US" dirty="0" smtClean="0"/>
              <a:t> number, random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Sampling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http://www.davidmlane.com/hyperstat/</a:t>
            </a:r>
            <a:endParaRPr lang="en-US" dirty="0" smtClean="0"/>
          </a:p>
          <a:p>
            <a:r>
              <a:rPr lang="en-US" dirty="0" smtClean="0"/>
              <a:t>Ian Johnson, “I’ll give you a definite maybe,” </a:t>
            </a:r>
            <a:r>
              <a:rPr lang="en-US" dirty="0" smtClean="0">
                <a:hlinkClick r:id="rId3"/>
              </a:rPr>
              <a:t>https://records.viu.ca/~johnstoi/maybe/title.htm</a:t>
            </a:r>
            <a:r>
              <a:rPr lang="en-US" dirty="0" smtClean="0"/>
              <a:t>  (Section 6)</a:t>
            </a:r>
          </a:p>
          <a:p>
            <a:r>
              <a:rPr lang="en-US" dirty="0" smtClean="0"/>
              <a:t>Random Samples and Statistical Accuracy, </a:t>
            </a:r>
            <a:r>
              <a:rPr lang="en-US" dirty="0" smtClean="0">
                <a:hlinkClick r:id="rId4"/>
              </a:rPr>
              <a:t>http://www.custominsight.com/articles/random-sampling.asp</a:t>
            </a:r>
            <a:r>
              <a:rPr lang="en-US" dirty="0" smtClean="0"/>
              <a:t> </a:t>
            </a:r>
            <a:r>
              <a:rPr lang="en-US" i="1" dirty="0" smtClean="0"/>
              <a:t>(good for stratified sampling)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Step 3: Formulate Survey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8960" y="1463040"/>
          <a:ext cx="8026400" cy="331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040"/>
                <a:gridCol w="402336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Don’t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 smtClean="0"/>
                        <a:t>Set aside</a:t>
                      </a:r>
                      <a:r>
                        <a:rPr lang="en-US" baseline="0" dirty="0" smtClean="0"/>
                        <a:t> two months or more for this 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Rush ahead without pre-testing</a:t>
                      </a:r>
                      <a:endParaRPr lang="en-US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Use</a:t>
                      </a:r>
                      <a:r>
                        <a:rPr lang="en-US" baseline="0" dirty="0" smtClean="0"/>
                        <a:t> appropriate technologies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complex</a:t>
                      </a:r>
                      <a:r>
                        <a:rPr lang="en-US" baseline="0" dirty="0" smtClean="0"/>
                        <a:t> features or question types unless you understand them fully</a:t>
                      </a:r>
                      <a:endParaRPr lang="en-US" dirty="0"/>
                    </a:p>
                  </a:txBody>
                  <a:tcPr/>
                </a:tc>
              </a:tr>
              <a:tr h="634724">
                <a:tc>
                  <a:txBody>
                    <a:bodyPr/>
                    <a:lstStyle/>
                    <a:p>
                      <a:r>
                        <a:rPr lang="en-US" dirty="0" smtClean="0"/>
                        <a:t>Write</a:t>
                      </a:r>
                      <a:r>
                        <a:rPr lang="en-US" baseline="0" dirty="0" smtClean="0"/>
                        <a:t> “correlate-able” questions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Ask all open-ended questions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Ensure questions are not leading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Make</a:t>
                      </a:r>
                      <a:r>
                        <a:rPr lang="en-US" baseline="0" dirty="0" smtClean="0"/>
                        <a:t> the survey overly complex</a:t>
                      </a:r>
                      <a:endParaRPr lang="en-US" dirty="0"/>
                    </a:p>
                  </a:txBody>
                  <a:tcPr/>
                </a:tc>
              </a:tr>
              <a:tr h="275085">
                <a:tc>
                  <a:txBody>
                    <a:bodyPr/>
                    <a:lstStyle/>
                    <a:p>
                      <a:r>
                        <a:rPr lang="en-US" dirty="0" smtClean="0"/>
                        <a:t>Carefully weigh</a:t>
                      </a:r>
                      <a:r>
                        <a:rPr lang="en-US" baseline="0" dirty="0" smtClean="0"/>
                        <a:t> meaning of each word in a question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Ask too many questions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Types of Surveys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3600" y="1381762"/>
          <a:ext cx="7457440" cy="460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60"/>
                <a:gridCol w="1864360"/>
                <a:gridCol w="1864360"/>
                <a:gridCol w="1864360"/>
              </a:tblGrid>
              <a:tr h="5325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Interview</a:t>
                      </a:r>
                      <a:r>
                        <a:rPr lang="en-US" sz="2800" baseline="0" dirty="0" smtClean="0"/>
                        <a:t> Based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Web Based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3251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Con</a:t>
                      </a:r>
                      <a:endParaRPr lang="en-US" b="1" dirty="0"/>
                    </a:p>
                  </a:txBody>
                  <a:tcPr/>
                </a:tc>
              </a:tr>
              <a:tr h="919142"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r>
                        <a:rPr lang="en-US" baseline="0" dirty="0" smtClean="0"/>
                        <a:t> response rate for small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consuming to</a:t>
                      </a:r>
                      <a:r>
                        <a:rPr lang="en-US" baseline="0" dirty="0" smtClean="0"/>
                        <a:t> do interviews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Sufficient response rate for large population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 consuming</a:t>
                      </a:r>
                      <a:r>
                        <a:rPr lang="en-US" baseline="0" dirty="0" smtClean="0"/>
                        <a:t> to set up</a:t>
                      </a:r>
                      <a:endParaRPr lang="en-US" dirty="0"/>
                    </a:p>
                  </a:txBody>
                  <a:tcPr/>
                </a:tc>
              </a:tr>
              <a:tr h="919142">
                <a:tc>
                  <a:txBody>
                    <a:bodyPr/>
                    <a:lstStyle/>
                    <a:p>
                      <a:r>
                        <a:rPr lang="en-US" dirty="0" smtClean="0"/>
                        <a:t>Flexible questioning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Easy</a:t>
                      </a:r>
                      <a:r>
                        <a:rPr lang="en-US" baseline="0" dirty="0" smtClean="0"/>
                        <a:t> to introduce bias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Ability to easily correlate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need attention to question design</a:t>
                      </a:r>
                      <a:endParaRPr lang="en-US" dirty="0"/>
                    </a:p>
                  </a:txBody>
                  <a:tcPr/>
                </a:tc>
              </a:tr>
              <a:tr h="532519">
                <a:tc>
                  <a:txBody>
                    <a:bodyPr/>
                    <a:lstStyle/>
                    <a:p>
                      <a:r>
                        <a:rPr lang="en-US" dirty="0" smtClean="0"/>
                        <a:t>Low/not tech 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Post processing</a:t>
                      </a:r>
                      <a:r>
                        <a:rPr lang="en-US" baseline="0" dirty="0" smtClean="0"/>
                        <a:t> time consuming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</a:t>
                      </a:r>
                      <a:r>
                        <a:rPr lang="en-US" baseline="0" dirty="0" smtClean="0"/>
                        <a:t> analysis/post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Higher</a:t>
                      </a:r>
                      <a:r>
                        <a:rPr lang="en-US" baseline="0" dirty="0" smtClean="0"/>
                        <a:t> initial tech requirements</a:t>
                      </a:r>
                      <a:endParaRPr lang="en-US" dirty="0"/>
                    </a:p>
                  </a:txBody>
                  <a:tcPr/>
                </a:tc>
              </a:tr>
              <a:tr h="5325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25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Technical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Survey Monkey (free, $200 year to remove limits)</a:t>
            </a:r>
          </a:p>
          <a:p>
            <a:pPr lvl="1"/>
            <a:r>
              <a:rPr lang="en-US" dirty="0" smtClean="0"/>
              <a:t>10 question limit</a:t>
            </a:r>
          </a:p>
          <a:p>
            <a:pPr lvl="1"/>
            <a:r>
              <a:rPr lang="en-US" dirty="0" smtClean="0"/>
              <a:t>100 response limit</a:t>
            </a:r>
          </a:p>
          <a:p>
            <a:r>
              <a:rPr lang="en-US" dirty="0" err="1" smtClean="0"/>
              <a:t>SurveyGizmo</a:t>
            </a:r>
            <a:r>
              <a:rPr lang="en-US" dirty="0" smtClean="0"/>
              <a:t> (higher limits to free account, lower cost, branching, etc.)</a:t>
            </a:r>
          </a:p>
          <a:p>
            <a:r>
              <a:rPr lang="en-US" dirty="0" err="1" smtClean="0"/>
              <a:t>LimeSurvey</a:t>
            </a:r>
            <a:r>
              <a:rPr lang="en-US" dirty="0" smtClean="0"/>
              <a:t> (free, need PHP and </a:t>
            </a:r>
            <a:r>
              <a:rPr lang="en-US" dirty="0" err="1" smtClean="0"/>
              <a:t>mysql</a:t>
            </a:r>
            <a:r>
              <a:rPr lang="en-US" dirty="0" smtClean="0"/>
              <a:t>; install on own site, many webhosts support it)</a:t>
            </a: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LiveSurvey</a:t>
            </a:r>
            <a:r>
              <a:rPr lang="en-US" dirty="0" smtClean="0"/>
              <a:t> Interface</a:t>
            </a:r>
            <a:endParaRPr lang="en-US" dirty="0"/>
          </a:p>
        </p:txBody>
      </p:sp>
      <p:pic>
        <p:nvPicPr>
          <p:cNvPr id="4" name="Content Placeholder 3" descr="Screen shot 2010-10-20 at 4.13.03 PM.png"/>
          <p:cNvPicPr>
            <a:picLocks noGrp="1" noChangeAspect="1"/>
          </p:cNvPicPr>
          <p:nvPr>
            <p:ph idx="1"/>
          </p:nvPr>
        </p:nvPicPr>
        <p:blipFill>
          <a:blip r:embed="rId2"/>
          <a:srcRect t="-25987" b="-25987"/>
          <a:stretch>
            <a:fillRect/>
          </a:stretch>
        </p:blipFill>
        <p:spPr>
          <a:xfrm>
            <a:off x="457200" y="1041400"/>
            <a:ext cx="8229600" cy="4525963"/>
          </a:xfrm>
        </p:spPr>
      </p:pic>
      <p:pic>
        <p:nvPicPr>
          <p:cNvPr id="5" name="Picture 4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Rule 1: Use Appropriate Question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Easy to compare/correlate</a:t>
            </a:r>
          </a:p>
          <a:p>
            <a:pPr lvl="1"/>
            <a:r>
              <a:rPr lang="en-US" dirty="0" smtClean="0"/>
              <a:t>Yes/No</a:t>
            </a:r>
          </a:p>
          <a:p>
            <a:pPr lvl="1"/>
            <a:r>
              <a:rPr lang="en-US" dirty="0" smtClean="0"/>
              <a:t>Numerical Value</a:t>
            </a:r>
          </a:p>
          <a:p>
            <a:pPr lvl="1"/>
            <a:r>
              <a:rPr lang="en-US" dirty="0" smtClean="0"/>
              <a:t>List of Options (multiple choice, select one)</a:t>
            </a:r>
          </a:p>
          <a:p>
            <a:pPr lvl="2"/>
            <a:r>
              <a:rPr lang="en-US" dirty="0" smtClean="0"/>
              <a:t>Numerical ranges</a:t>
            </a:r>
          </a:p>
          <a:p>
            <a:pPr lvl="2"/>
            <a:r>
              <a:rPr lang="en-US" dirty="0"/>
              <a:t>O</a:t>
            </a:r>
            <a:r>
              <a:rPr lang="en-US" dirty="0" smtClean="0"/>
              <a:t>r with weighted values</a:t>
            </a:r>
          </a:p>
          <a:p>
            <a:pPr lvl="1"/>
            <a:r>
              <a:rPr lang="en-US" dirty="0" smtClean="0"/>
              <a:t>Arrays (be careful in how you implement)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Array Question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7" name="Content Placeholder 6" descr="Screen shot 2010-10-20 at 4.25.18 PM.png"/>
          <p:cNvPicPr>
            <a:picLocks noGrp="1" noChangeAspect="1"/>
          </p:cNvPicPr>
          <p:nvPr>
            <p:ph idx="1"/>
          </p:nvPr>
        </p:nvPicPr>
        <p:blipFill>
          <a:blip r:embed="rId3"/>
          <a:srcRect t="-6690" b="-6690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Rule 1: Use Appropriate Question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Difficult to compare/correlate</a:t>
            </a:r>
          </a:p>
          <a:p>
            <a:pPr lvl="1"/>
            <a:r>
              <a:rPr lang="en-US" dirty="0" smtClean="0"/>
              <a:t>List of Options (checkbox, select multiple)</a:t>
            </a:r>
          </a:p>
          <a:p>
            <a:pPr lvl="1"/>
            <a:r>
              <a:rPr lang="en-US" dirty="0" smtClean="0"/>
              <a:t>Any open-ended question</a:t>
            </a:r>
          </a:p>
          <a:p>
            <a:r>
              <a:rPr lang="en-US" dirty="0" smtClean="0"/>
              <a:t>Good list of question types</a:t>
            </a:r>
          </a:p>
          <a:p>
            <a:pPr lvl="1"/>
            <a:r>
              <a:rPr lang="en-US" dirty="0" smtClean="0">
                <a:hlinkClick r:id="rId2"/>
              </a:rPr>
              <a:t>http://docs.limesurvey.org/tiki-index.php?page=question+types</a:t>
            </a:r>
            <a:endParaRPr lang="en-US" dirty="0" smtClean="0"/>
          </a:p>
          <a:p>
            <a:pPr lvl="1"/>
            <a:r>
              <a:rPr lang="en-US" dirty="0" smtClean="0"/>
              <a:t>Use existing models (Archival Metrics)</a:t>
            </a:r>
          </a:p>
          <a:p>
            <a:r>
              <a:rPr lang="en-US" dirty="0" smtClean="0"/>
              <a:t>Other bad questions</a:t>
            </a:r>
          </a:p>
          <a:p>
            <a:pPr lvl="1"/>
            <a:r>
              <a:rPr lang="en-US" dirty="0" smtClean="0"/>
              <a:t>Any that do not speak to your research question or gather essential demographic information</a:t>
            </a: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2: Use Appropriate Pacing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consent process (IRB review probably necessary)</a:t>
            </a:r>
          </a:p>
          <a:p>
            <a:r>
              <a:rPr lang="en-US" dirty="0" smtClean="0"/>
              <a:t>Most important/interesting questions first</a:t>
            </a:r>
          </a:p>
          <a:p>
            <a:r>
              <a:rPr lang="en-US" dirty="0" smtClean="0"/>
              <a:t>Not too many questions per page or total</a:t>
            </a:r>
          </a:p>
          <a:p>
            <a:r>
              <a:rPr lang="en-US" dirty="0" smtClean="0"/>
              <a:t>Use software that can be ‘left off’ and picked up</a:t>
            </a:r>
          </a:p>
          <a:p>
            <a:r>
              <a:rPr lang="en-US" dirty="0" smtClean="0"/>
              <a:t>Demographic questions at end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3: Group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Demographics</a:t>
            </a:r>
          </a:p>
          <a:p>
            <a:pPr lvl="1"/>
            <a:r>
              <a:rPr lang="en-US" dirty="0" smtClean="0"/>
              <a:t>Nature of those responding (type of user, age, archival experience, etc)</a:t>
            </a:r>
          </a:p>
          <a:p>
            <a:r>
              <a:rPr lang="en-US" dirty="0" smtClean="0"/>
              <a:t>Subject of study</a:t>
            </a:r>
          </a:p>
          <a:p>
            <a:pPr lvl="1"/>
            <a:r>
              <a:rPr lang="en-US" dirty="0" smtClean="0"/>
              <a:t>experiences with website</a:t>
            </a:r>
          </a:p>
          <a:p>
            <a:pPr lvl="1"/>
            <a:r>
              <a:rPr lang="en-US" dirty="0" smtClean="0"/>
              <a:t>Service </a:t>
            </a:r>
            <a:r>
              <a:rPr lang="en-US" dirty="0" err="1" smtClean="0"/>
              <a:t>satifaction</a:t>
            </a:r>
            <a:endParaRPr lang="en-US" dirty="0" smtClean="0"/>
          </a:p>
          <a:p>
            <a:pPr lvl="1"/>
            <a:r>
              <a:rPr lang="en-US" dirty="0" smtClean="0"/>
              <a:t>Etc.</a:t>
            </a: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4: Word Questions Carefully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but precise language</a:t>
            </a:r>
          </a:p>
          <a:p>
            <a:r>
              <a:rPr lang="en-US" dirty="0" smtClean="0"/>
              <a:t>Terms unambiguous or defined</a:t>
            </a:r>
          </a:p>
          <a:p>
            <a:r>
              <a:rPr lang="en-US" dirty="0" smtClean="0"/>
              <a:t>Pre-test every question among target audience.</a:t>
            </a:r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Working with your partner, look back to the list of potential data points that you might wish to measure to help answer your research question.</a:t>
            </a:r>
          </a:p>
          <a:p>
            <a:r>
              <a:rPr lang="en-US" dirty="0" smtClean="0"/>
              <a:t>Write a multiple choice question that you might present to the population.</a:t>
            </a:r>
          </a:p>
          <a:p>
            <a:r>
              <a:rPr lang="en-US" dirty="0" smtClean="0"/>
              <a:t>Exchange questions with another group and provide each other feedback.</a:t>
            </a:r>
          </a:p>
          <a:p>
            <a:r>
              <a:rPr lang="en-US" dirty="0" smtClean="0"/>
              <a:t>Then, rewrite your original question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Step 4: Data Analysis and Reporting</a:t>
            </a:r>
            <a:endParaRPr lang="en-GB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8960" y="1463040"/>
          <a:ext cx="80264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040"/>
                <a:gridCol w="402336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Don’t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 smtClean="0"/>
                        <a:t>Read</a:t>
                      </a:r>
                      <a:r>
                        <a:rPr lang="en-US" baseline="0" dirty="0" smtClean="0"/>
                        <a:t> about basic statistical concepts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concepts</a:t>
                      </a:r>
                      <a:r>
                        <a:rPr lang="en-US" baseline="0" dirty="0" smtClean="0"/>
                        <a:t> you don’t understand</a:t>
                      </a:r>
                      <a:endParaRPr lang="en-US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Install Excel’s “analysis tools”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</a:t>
                      </a:r>
                      <a:r>
                        <a:rPr lang="en-US" baseline="0" dirty="0" smtClean="0"/>
                        <a:t> them without understanding what they are doing</a:t>
                      </a:r>
                      <a:endParaRPr lang="en-US" dirty="0"/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lang="en-US" dirty="0" smtClean="0"/>
                        <a:t>Clean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Massage data in the process of cleaning it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Report provisos</a:t>
                      </a:r>
                      <a:r>
                        <a:rPr lang="en-US" baseline="0" dirty="0" smtClean="0"/>
                        <a:t> to your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Attempt</a:t>
                      </a:r>
                      <a:r>
                        <a:rPr lang="en-US" baseline="0" dirty="0" smtClean="0"/>
                        <a:t> to whitewash or ignore problems with the sample</a:t>
                      </a:r>
                      <a:endParaRPr lang="en-US" dirty="0"/>
                    </a:p>
                  </a:txBody>
                  <a:tcPr/>
                </a:tc>
              </a:tr>
              <a:tr h="275085">
                <a:tc>
                  <a:txBody>
                    <a:bodyPr/>
                    <a:lstStyle/>
                    <a:p>
                      <a:r>
                        <a:rPr lang="en-US" dirty="0" smtClean="0"/>
                        <a:t>Think carefully about what your</a:t>
                      </a:r>
                      <a:r>
                        <a:rPr lang="en-US" baseline="0" dirty="0" smtClean="0"/>
                        <a:t> results really mean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Just</a:t>
                      </a:r>
                      <a:r>
                        <a:rPr lang="en-US" baseline="0" dirty="0" smtClean="0"/>
                        <a:t> report the data with minimal analysis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Excel Descriptive Statistics Tools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6" name="Content Placeholder 5" descr="Excel1.jpg"/>
          <p:cNvPicPr>
            <a:picLocks noGrp="1" noChangeAspect="1"/>
          </p:cNvPicPr>
          <p:nvPr>
            <p:ph idx="1"/>
          </p:nvPr>
        </p:nvPicPr>
        <p:blipFill>
          <a:blip r:embed="rId3"/>
          <a:srcRect l="-24139" r="-24139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Excel Descriptive Statistics Tools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7" name="Content Placeholder 6" descr="Excel2.jpg"/>
          <p:cNvPicPr>
            <a:picLocks noGrp="1" noChangeAspect="1"/>
          </p:cNvPicPr>
          <p:nvPr>
            <p:ph idx="1"/>
          </p:nvPr>
        </p:nvPicPr>
        <p:blipFill>
          <a:blip r:embed="rId3"/>
          <a:srcRect l="-6822" r="-6822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Excel Descriptive Statistics Tools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7" name="Content Placeholder 6" descr="Excel3.jpg"/>
          <p:cNvPicPr>
            <a:picLocks noGrp="1" noChangeAspect="1"/>
          </p:cNvPicPr>
          <p:nvPr>
            <p:ph idx="1"/>
          </p:nvPr>
        </p:nvPicPr>
        <p:blipFill>
          <a:blip r:embed="rId3"/>
          <a:srcRect t="-5136" b="-5136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Excel Descriptive Statistics Tools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pic>
        <p:nvPicPr>
          <p:cNvPr id="8" name="Content Placeholder 7" descr="excelds.jpg"/>
          <p:cNvPicPr>
            <a:picLocks noGrp="1" noChangeAspect="1"/>
          </p:cNvPicPr>
          <p:nvPr>
            <p:ph idx="1"/>
          </p:nvPr>
        </p:nvPicPr>
        <p:blipFill>
          <a:blip r:embed="rId3"/>
          <a:srcRect l="-42682" r="-42682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68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Rule 1: Don’t Compare Apples to Oranges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47" y="1007110"/>
            <a:ext cx="8050506" cy="5505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Rule 2: Use Tables and Charts Sparingly</a:t>
            </a:r>
            <a:endParaRPr lang="en-US" dirty="0"/>
          </a:p>
        </p:txBody>
      </p:sp>
      <p:pic>
        <p:nvPicPr>
          <p:cNvPr id="5" name="Content Placeholder 4" descr="Screen shot 2010-10-22 at 6.57.58 AM.png"/>
          <p:cNvPicPr>
            <a:picLocks noGrp="1" noChangeAspect="1"/>
          </p:cNvPicPr>
          <p:nvPr>
            <p:ph idx="1"/>
          </p:nvPr>
        </p:nvPicPr>
        <p:blipFill>
          <a:blip r:embed="rId2"/>
          <a:srcRect l="-32619" r="-32619"/>
          <a:stretch>
            <a:fillRect/>
          </a:stretch>
        </p:blipFill>
        <p:spPr/>
      </p:pic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Rule 3: Report What’s Meaningful</a:t>
            </a:r>
            <a:endParaRPr lang="en-US" dirty="0"/>
          </a:p>
        </p:txBody>
      </p:sp>
      <p:pic>
        <p:nvPicPr>
          <p:cNvPr id="4" name="Picture 3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Common methods to show statistical significance</a:t>
            </a:r>
          </a:p>
          <a:p>
            <a:pPr lvl="1"/>
            <a:r>
              <a:rPr lang="en-US" dirty="0" smtClean="0"/>
              <a:t>Limitations of Descriptive Stats</a:t>
            </a:r>
          </a:p>
          <a:p>
            <a:pPr lvl="1"/>
            <a:r>
              <a:rPr lang="en-US" dirty="0" smtClean="0"/>
              <a:t>Correlation (CAUTION)</a:t>
            </a:r>
          </a:p>
          <a:p>
            <a:pPr lvl="1"/>
            <a:r>
              <a:rPr lang="en-US" dirty="0" smtClean="0"/>
              <a:t>Variation from mean (in terms of standard deviations)</a:t>
            </a:r>
          </a:p>
          <a:p>
            <a:pPr lvl="1"/>
            <a:r>
              <a:rPr lang="en-US" dirty="0" smtClean="0"/>
              <a:t>T-test (is difference between two means significant)</a:t>
            </a:r>
          </a:p>
          <a:p>
            <a:r>
              <a:rPr lang="en-US" dirty="0" smtClean="0"/>
              <a:t>Use qualitative information to support the ‘why’ questions</a:t>
            </a:r>
          </a:p>
          <a:p>
            <a:r>
              <a:rPr lang="en-US" dirty="0" smtClean="0"/>
              <a:t>Persuasive analysis should comprise heart of your report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Rule 4: Use Figures to Tell the Story</a:t>
            </a:r>
            <a:endParaRPr lang="en-US" dirty="0"/>
          </a:p>
        </p:txBody>
      </p:sp>
      <p:pic>
        <p:nvPicPr>
          <p:cNvPr id="4" name="Content Placeholder 3" descr="Untitled1.png"/>
          <p:cNvPicPr>
            <a:picLocks noGrp="1" noChangeAspect="1"/>
          </p:cNvPicPr>
          <p:nvPr>
            <p:ph idx="1"/>
          </p:nvPr>
        </p:nvPicPr>
        <p:blipFill>
          <a:blip r:embed="rId2"/>
          <a:srcRect l="-60313" r="-60313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3221" y="343258"/>
            <a:ext cx="8408933" cy="2871921"/>
          </a:xfrm>
        </p:spPr>
        <p:txBody>
          <a:bodyPr anchor="t" anchorCtr="0">
            <a:normAutofit fontScale="90000"/>
          </a:bodyPr>
          <a:lstStyle/>
          <a:p>
            <a:r>
              <a:rPr lang="en-US" b="1" i="1" dirty="0" smtClean="0"/>
              <a:t>Quantitative Methods: Conducting a User Survey and Interpreting Data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667" dirty="0" smtClean="0"/>
              <a:t>Midwest Archives Conference Fall Symposium</a:t>
            </a:r>
            <a:br>
              <a:rPr lang="en-US" sz="2667" dirty="0" smtClean="0"/>
            </a:br>
            <a:r>
              <a:rPr lang="en-US" sz="2667" dirty="0" smtClean="0"/>
              <a:t>October 22, 2010</a:t>
            </a:r>
            <a:br>
              <a:rPr lang="en-US" sz="2667" dirty="0" smtClean="0"/>
            </a:br>
            <a:r>
              <a:rPr lang="en-US" sz="2667" dirty="0" smtClean="0"/>
              <a:t>Dayton, Ohio </a:t>
            </a:r>
            <a:endParaRPr lang="en-US" sz="2667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96206"/>
            <a:ext cx="6156397" cy="1384473"/>
          </a:xfrm>
        </p:spPr>
        <p:txBody>
          <a:bodyPr>
            <a:noAutofit/>
          </a:bodyPr>
          <a:lstStyle/>
          <a:p>
            <a:r>
              <a:rPr lang="en-US" sz="1800" dirty="0" smtClean="0"/>
              <a:t>Christopher J. Prom, PhD</a:t>
            </a:r>
          </a:p>
          <a:p>
            <a:r>
              <a:rPr lang="en-US" sz="1800" dirty="0" smtClean="0"/>
              <a:t>Assistant University Archivist and Associate Professor</a:t>
            </a:r>
          </a:p>
          <a:p>
            <a:r>
              <a:rPr lang="en-US" sz="1800" dirty="0" smtClean="0"/>
              <a:t>University of Illinois at Urbana-Champaign</a:t>
            </a:r>
          </a:p>
          <a:p>
            <a:r>
              <a:rPr lang="en-US" sz="1800" dirty="0" err="1" smtClean="0"/>
              <a:t>prom@illinois.edu</a:t>
            </a:r>
            <a:endParaRPr lang="en-US" sz="1800" dirty="0"/>
          </a:p>
        </p:txBody>
      </p:sp>
      <p:pic>
        <p:nvPicPr>
          <p:cNvPr id="6" name="Picture 5" descr="full_mark_vert_pr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30" y="5904382"/>
            <a:ext cx="2365939" cy="95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3376</TotalTime>
  <Words>1900</Words>
  <Application>Microsoft Macintosh PowerPoint</Application>
  <PresentationFormat>On-screen Show (4:3)</PresentationFormat>
  <Paragraphs>264</Paragraphs>
  <Slides>42</Slides>
  <Notes>5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Quantitative Methods: Conducting a User Survey and Interpreting Data  Midwest Archives Conference Fall Symposium October 22, 2010 Dayton, Ohio </vt:lpstr>
      <vt:lpstr>My Quantitative Background</vt:lpstr>
      <vt:lpstr>Session Goals</vt:lpstr>
      <vt:lpstr>Session Structure</vt:lpstr>
      <vt:lpstr>I: Overview of Survey Planning</vt:lpstr>
      <vt:lpstr>Critical Steps</vt:lpstr>
      <vt:lpstr>Step 1: Determine Purpose</vt:lpstr>
      <vt:lpstr>Example 1</vt:lpstr>
      <vt:lpstr>Example 2: My processing survey</vt:lpstr>
      <vt:lpstr>Exercise 1</vt:lpstr>
      <vt:lpstr>Step 2: Develop Sampling Plan</vt:lpstr>
      <vt:lpstr>Step 2: Develop Sampling Plan</vt:lpstr>
      <vt:lpstr>If you Sample: Gold Standard</vt:lpstr>
      <vt:lpstr>Population and Sample Means</vt:lpstr>
      <vt:lpstr>Scary Sampling Terminology</vt:lpstr>
      <vt:lpstr>Bottom Line</vt:lpstr>
      <vt:lpstr>Random Number Generators</vt:lpstr>
      <vt:lpstr>Sample Size Calculator</vt:lpstr>
      <vt:lpstr>How to Sample Badly</vt:lpstr>
      <vt:lpstr>Exercise 2: Sampling</vt:lpstr>
      <vt:lpstr>Other Sampling Resources</vt:lpstr>
      <vt:lpstr>Step 3: Formulate Survey</vt:lpstr>
      <vt:lpstr>Types of Surveys</vt:lpstr>
      <vt:lpstr>Some Technical Options</vt:lpstr>
      <vt:lpstr>LiveSurvey Interface</vt:lpstr>
      <vt:lpstr>Rule 1: Use Appropriate Question Types</vt:lpstr>
      <vt:lpstr>Array Question</vt:lpstr>
      <vt:lpstr>Rule 1: Use Appropriate Question Types</vt:lpstr>
      <vt:lpstr>Rule 2: Use Appropriate Pacing</vt:lpstr>
      <vt:lpstr>Rule 3: Group Questions</vt:lpstr>
      <vt:lpstr>Rule 4: Word Questions Carefully</vt:lpstr>
      <vt:lpstr>Exercise 3</vt:lpstr>
      <vt:lpstr>Step 4: Data Analysis and Reporting</vt:lpstr>
      <vt:lpstr>Using Excel Descriptive Statistics Tools</vt:lpstr>
      <vt:lpstr>Using Excel Descriptive Statistics Tools</vt:lpstr>
      <vt:lpstr>Using Excel Descriptive Statistics Tools</vt:lpstr>
      <vt:lpstr>Using Excel Descriptive Statistics Tools</vt:lpstr>
      <vt:lpstr>Rule 1: Don’t Compare Apples to Oranges</vt:lpstr>
      <vt:lpstr>Rule 2: Use Tables and Charts Sparingly</vt:lpstr>
      <vt:lpstr>Rule 3: Report What’s Meaningful</vt:lpstr>
      <vt:lpstr>Rule 4: Use Figures to Tell the Story</vt:lpstr>
      <vt:lpstr>Quantitative Methods: Conducting a User Survey and Interpreting Data  Midwest Archives Conference Fall Symposium October 22, 2010 Dayton, Ohio </vt:lpstr>
    </vt:vector>
  </TitlesOfParts>
  <Company>University of Dundee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Methods: Conducting a User Survey and Interpreting Data  Midwest Archives Conference Fall Symposium October 22, 2010 Dayton, Ohio </dc:title>
  <dc:creator>Chris Prom</dc:creator>
  <cp:lastModifiedBy>Chris Prom</cp:lastModifiedBy>
  <cp:revision>35</cp:revision>
  <dcterms:created xsi:type="dcterms:W3CDTF">2010-10-26T18:31:01Z</dcterms:created>
  <dcterms:modified xsi:type="dcterms:W3CDTF">2010-10-26T18:40:29Z</dcterms:modified>
</cp:coreProperties>
</file>