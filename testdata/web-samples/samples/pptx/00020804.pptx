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355" r:id="rId3"/>
    <p:sldId id="278" r:id="rId4"/>
    <p:sldId id="311" r:id="rId5"/>
    <p:sldId id="313" r:id="rId6"/>
    <p:sldId id="308" r:id="rId7"/>
    <p:sldId id="279" r:id="rId8"/>
    <p:sldId id="281" r:id="rId9"/>
    <p:sldId id="284" r:id="rId10"/>
    <p:sldId id="280" r:id="rId11"/>
    <p:sldId id="356" r:id="rId12"/>
    <p:sldId id="349" r:id="rId13"/>
    <p:sldId id="269" r:id="rId14"/>
    <p:sldId id="271" r:id="rId15"/>
    <p:sldId id="314" r:id="rId16"/>
    <p:sldId id="275" r:id="rId17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12" autoAdjust="0"/>
    <p:restoredTop sz="94660"/>
  </p:normalViewPr>
  <p:slideViewPr>
    <p:cSldViewPr>
      <p:cViewPr varScale="1">
        <p:scale>
          <a:sx n="65" d="100"/>
          <a:sy n="65" d="100"/>
        </p:scale>
        <p:origin x="-87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868" y="-10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878820E-0F0A-4DD0-BD1B-32F245003720}" type="datetimeFigureOut">
              <a:rPr lang="fr-FR"/>
              <a:pPr>
                <a:defRPr/>
              </a:pPr>
              <a:t>06/10/2011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00DCA04-A9B8-4365-8DA4-4738210FA5E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fr-FR" dirty="0" err="1" smtClean="0"/>
              <a:t>T.Lawwson</a:t>
            </a:r>
            <a:r>
              <a:rPr lang="fr-FR" dirty="0" smtClean="0"/>
              <a:t>/LeanRFID Strategy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966FD78-31F6-4A86-9F21-DB85FDEB816D}" type="datetimeFigureOut">
              <a:rPr lang="fr-FR"/>
              <a:pPr>
                <a:defRPr/>
              </a:pPr>
              <a:t>06/10/2011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AF7CA05-4100-4234-90F9-DF080178153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AA777BC-6C17-4FB1-A2CC-C55E07E67F07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8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870BEA-ADDE-400F-8062-B3282235EE70}" type="slidenum">
              <a:rPr lang="fr-FR" smtClean="0"/>
              <a:pPr>
                <a:defRPr/>
              </a:pPr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69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DB15100-204E-4621-B39A-97E571222D6C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80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3879A1-D967-4BBC-A53A-D0FD2610D420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0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EAE7C7B-BEE4-4A1A-8D10-AC6CA45CD0B2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167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6077E9F-65FD-47A7-8DD7-6AE4CA67E873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4521534-1E79-40EF-B412-CC06E277D2EC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fr-FR" smtClean="0"/>
              <a:t>Etape 1, 5S  “Nettoyage et Inspection”</a:t>
            </a:r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fr-FR" smtClean="0"/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fr-FR" smtClean="0"/>
              <a:t>Exemple, Question, Y a-t-il ici quelqu’un qui pratique le tir (pigeons d’argile, etc) ? – “toujours nettoyer le fusil après son utilisation et l’inspecter, tout dommage pourrait engendrer un risque mortel”</a:t>
            </a:r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fr-FR" smtClean="0"/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fr-FR" smtClean="0"/>
              <a:t>Début de la mise en place de la transparence ; vos comportements / actions sont à présent essentiels</a:t>
            </a:r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fr-FR" smtClean="0"/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fr-FR" smtClean="0"/>
              <a:t>Etape 2, Exemple, avant l’Etape 1, huile autour de la machine ? Qu’est-ce que ça signifie ?</a:t>
            </a:r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fr-FR" smtClean="0"/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fr-FR" smtClean="0"/>
              <a:t>Etape 1 en place - à présent, l’huile signifie qu’il y a un problème ? Revenons au comportement et à l’action - sans un suivi, nous ne pouvons plus passer d’une étape à l’étape suivante</a:t>
            </a:r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fr-FR" smtClean="0"/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fr-FR" smtClean="0"/>
              <a:t>Attendez-vous à de nombreux problèmes dès le départ, ex. Processus Etiquettes Rouges, les équipements ont l’air d’un sapin de Noël, priorités absolues, IL FAUT AGIR, retour à nouveau au comportement et aux actions</a:t>
            </a:r>
            <a:r>
              <a:rPr lang="en-GB" smtClean="0"/>
              <a:t>. </a:t>
            </a:r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0993F4C-0A82-4BC0-AF57-1CD03E9A189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fr-FR" smtClean="0"/>
              <a:t>Etape 1, 5S  “Nettoyage et Inspection”</a:t>
            </a:r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fr-FR" smtClean="0"/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fr-FR" smtClean="0"/>
              <a:t>Exemple, Question, Y a-t-il ici quelqu’un qui pratique le tir (pigeons d’argile, etc) ? – “toujours nettoyer le fusil après son utilisation et l’inspecter, tout dommage pourrait engendrer un risque mortel”</a:t>
            </a:r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fr-FR" smtClean="0"/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fr-FR" smtClean="0"/>
              <a:t>Début de la mise en place de la transparence ; vos comportements / actions sont à présent essentiels</a:t>
            </a:r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fr-FR" smtClean="0"/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fr-FR" smtClean="0"/>
              <a:t>Etape 2, Exemple, avant l’Etape 1, huile autour de la machine ? Qu’est-ce que ça signifie ?</a:t>
            </a:r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fr-FR" smtClean="0"/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fr-FR" smtClean="0"/>
              <a:t>Etape 1 en place - à présent, l’huile signifie qu’il y a un problème ? Revenons au comportement et à l’action - sans un suivi, nous ne pouvons plus passer d’une étape à l’étape suivante</a:t>
            </a:r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fr-FR" smtClean="0"/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fr-FR" smtClean="0"/>
              <a:t>Attendez-vous à de nombreux problèmes dès le départ, ex. Processus Etiquettes Rouges, les équipements ont l’air d’un sapin de Noël, priorités absolues, IL FAUT AGIR, retour à nouveau au comportement et aux actions</a:t>
            </a:r>
            <a:r>
              <a:rPr lang="en-GB" smtClean="0"/>
              <a:t>. </a:t>
            </a:r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37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259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10EE6E5-D6E4-4C0F-9C37-24EA2AD54070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8F69F62-F1A5-450A-BFE5-7FD6E847B4B0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1EFAA1E-AB1E-4DE6-8689-EC03CA803825}" type="slidenum">
              <a:rPr lang="fr-FR" smtClean="0"/>
              <a:pPr>
                <a:defRPr/>
              </a:pPr>
              <a:t>11</a:t>
            </a:fld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79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BA7933-1AA9-43BF-B0AA-6CC1EB405D0C}" type="slidenum">
              <a:rPr lang="fr-FR" smtClean="0"/>
              <a:pPr>
                <a:defRPr/>
              </a:pPr>
              <a:t>12</a:t>
            </a:fld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02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46C3E5D-A05B-4EA5-848D-44C6DFAD6C2F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9B0904D-70AD-4ABD-BB4E-73C7B96CE27B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53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C24A76-C799-4569-9641-337F072EE732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40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36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DDD961-C94D-4E21-BD40-855A0D4ABC63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0"/>
            <a:ext cx="9144000" cy="86042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000" b="1" dirty="0">
                <a:solidFill>
                  <a:schemeClr val="bg1"/>
                </a:solidFill>
                <a:latin typeface="Calibri" pitchFamily="34" charset="0"/>
                <a:cs typeface="+mn-cs"/>
              </a:rPr>
              <a:t>TOTAL PRODUCTIVE MAINTENANCE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3A6636-91D2-417E-A7C5-D878F4CBAE95}" type="datetime1">
              <a:rPr lang="fr-FR"/>
              <a:pPr>
                <a:defRPr/>
              </a:pPr>
              <a:t>06/10/2011</a:t>
            </a:fld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BB43A-DF31-4151-85A1-985FA5F92A6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 userDrawn="1"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fr-FR" dirty="0" err="1" smtClean="0"/>
              <a:t>T.LAWSON</a:t>
            </a:r>
            <a:r>
              <a:rPr lang="fr-FR" dirty="0" smtClean="0"/>
              <a:t>   LeanRFID Strategy</a:t>
            </a:r>
            <a:endParaRPr lang="fr-F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B2905B-9EF2-4AD3-942C-ECC3A17BC415}" type="datetime1">
              <a:rPr lang="fr-FR"/>
              <a:pPr>
                <a:defRPr/>
              </a:pPr>
              <a:t>06/10/2011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D2CF3-EB1B-42E8-98EC-D9F24DDAC15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7" name="Espace réservé du pied de page 7"/>
          <p:cNvSpPr>
            <a:spLocks noGrp="1"/>
          </p:cNvSpPr>
          <p:nvPr userDrawn="1"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fr-FR" dirty="0" err="1"/>
              <a:t>T.LAWSON</a:t>
            </a:r>
            <a:r>
              <a:rPr lang="fr-FR" dirty="0"/>
              <a:t>  </a:t>
            </a:r>
            <a:r>
              <a:rPr lang="fr-FR" dirty="0" smtClean="0"/>
              <a:t> LeanRFID Strategy</a:t>
            </a:r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F1E0F-D9D7-42B9-92AC-252CA101826E}" type="datetime1">
              <a:rPr lang="fr-FR"/>
              <a:pPr>
                <a:defRPr/>
              </a:pPr>
              <a:t>06/10/2011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8CDCDB-9474-4E64-BD4A-6F236896E26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7" name="Espace réservé du pied de page 7"/>
          <p:cNvSpPr>
            <a:spLocks noGrp="1"/>
          </p:cNvSpPr>
          <p:nvPr userDrawn="1"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fr-FR" dirty="0" err="1"/>
              <a:t>T.LAWSON</a:t>
            </a:r>
            <a:r>
              <a:rPr lang="fr-FR" dirty="0"/>
              <a:t>  </a:t>
            </a:r>
            <a:r>
              <a:rPr lang="fr-FR" dirty="0" smtClean="0"/>
              <a:t> LeanRFID Strategy</a:t>
            </a:r>
            <a:endParaRPr lang="fr-F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306FB4-AA74-4D70-ADE5-87375EA359D4}" type="datetime1">
              <a:rPr lang="fr-FR"/>
              <a:pPr>
                <a:defRPr/>
              </a:pPr>
              <a:t>06/10/2011</a:t>
            </a:fld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352B6-07EA-4C42-8303-CEED814A016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 userDrawn="1"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fr-FR" dirty="0" err="1"/>
              <a:t>T.LAWSON</a:t>
            </a:r>
            <a:r>
              <a:rPr lang="fr-FR" dirty="0"/>
              <a:t>  </a:t>
            </a:r>
            <a:r>
              <a:rPr lang="fr-FR" dirty="0" smtClean="0"/>
              <a:t> LeanRFID Strategy</a:t>
            </a:r>
            <a:endParaRPr lang="fr-F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45AEE5-0D0C-488E-B682-8B0A6000F664}" type="datetime1">
              <a:rPr lang="fr-FR"/>
              <a:pPr>
                <a:defRPr/>
              </a:pPr>
              <a:t>06/10/2011</a:t>
            </a:fld>
            <a:endParaRPr lang="fr-FR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DEE20-7724-4436-80AF-232F40847B9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0" name="Espace réservé du pied de page 7"/>
          <p:cNvSpPr>
            <a:spLocks noGrp="1"/>
          </p:cNvSpPr>
          <p:nvPr userDrawn="1"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fr-FR" dirty="0" err="1"/>
              <a:t>T.LAWSON</a:t>
            </a:r>
            <a:r>
              <a:rPr lang="fr-FR" dirty="0"/>
              <a:t>  </a:t>
            </a:r>
            <a:r>
              <a:rPr lang="fr-FR" dirty="0" smtClean="0"/>
              <a:t> LeanRFID Strategy</a:t>
            </a:r>
            <a:endParaRPr lang="fr-F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2CD1A-103A-4921-B9AA-896F2DC0BC2B}" type="datetime1">
              <a:rPr lang="fr-FR"/>
              <a:pPr>
                <a:defRPr/>
              </a:pPr>
              <a:t>06/10/2011</a:t>
            </a:fld>
            <a:endParaRPr lang="fr-FR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5F04F-69F9-4023-A6AF-88B4F83537B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6" name="Espace réservé du pied de page 7"/>
          <p:cNvSpPr>
            <a:spLocks noGrp="1"/>
          </p:cNvSpPr>
          <p:nvPr userDrawn="1"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fr-FR" dirty="0" err="1"/>
              <a:t>T.LAWSON</a:t>
            </a:r>
            <a:r>
              <a:rPr lang="fr-FR" dirty="0"/>
              <a:t>  </a:t>
            </a:r>
            <a:r>
              <a:rPr lang="fr-FR" dirty="0" smtClean="0"/>
              <a:t> LeanRFID Strategy</a:t>
            </a:r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E2A87F-E09D-4F3E-95FB-75CB133253D6}" type="datetime1">
              <a:rPr lang="fr-FR"/>
              <a:pPr>
                <a:defRPr/>
              </a:pPr>
              <a:t>06/10/2011</a:t>
            </a:fld>
            <a:endParaRPr lang="fr-FR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18373C-C3B6-4BC4-BB92-63DC7819856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5" name="Espace réservé du pied de page 7"/>
          <p:cNvSpPr>
            <a:spLocks noGrp="1"/>
          </p:cNvSpPr>
          <p:nvPr userDrawn="1"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fr-FR" dirty="0" err="1"/>
              <a:t>T.LAWSON</a:t>
            </a:r>
            <a:r>
              <a:rPr lang="fr-FR" dirty="0"/>
              <a:t>  </a:t>
            </a:r>
            <a:r>
              <a:rPr lang="fr-FR" dirty="0" smtClean="0"/>
              <a:t> LeanRFID Strategy</a:t>
            </a:r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C5F10-DC7D-425C-8DAD-E7CCA819033C}" type="datetime1">
              <a:rPr lang="fr-FR"/>
              <a:pPr>
                <a:defRPr/>
              </a:pPr>
              <a:t>06/10/2011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8B61A1-370D-4093-A0BC-355309F6F15C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7" name="Espace réservé du pied de page 7"/>
          <p:cNvSpPr>
            <a:spLocks noGrp="1"/>
          </p:cNvSpPr>
          <p:nvPr userDrawn="1">
            <p:ph type="ftr" sz="quarter" idx="11"/>
          </p:nvPr>
        </p:nvSpPr>
        <p:spPr>
          <a:xfrm>
            <a:off x="3347864" y="5445224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3" hasCustomPrompt="1"/>
          </p:nvPr>
        </p:nvSpPr>
        <p:spPr>
          <a:xfrm>
            <a:off x="3419872" y="6381328"/>
            <a:ext cx="2447925" cy="288627"/>
          </a:xfr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fr-FR" dirty="0" err="1" smtClean="0"/>
              <a:t>T.LAWSON</a:t>
            </a:r>
            <a:r>
              <a:rPr lang="fr-FR" dirty="0" smtClean="0"/>
              <a:t>   LeanRFID Strategy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183601-3510-4D30-89AB-6ED39EEB9DEB}" type="datetime1">
              <a:rPr lang="fr-FR"/>
              <a:pPr>
                <a:defRPr/>
              </a:pPr>
              <a:t>06/10/2011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05D2-3359-410D-8248-74E8F26BFA9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7" name="Espace réservé du pied de page 7"/>
          <p:cNvSpPr>
            <a:spLocks noGrp="1"/>
          </p:cNvSpPr>
          <p:nvPr userDrawn="1"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 dirty="0" err="1"/>
              <a:t>T.LAWSON</a:t>
            </a:r>
            <a:r>
              <a:rPr lang="fr-FR" dirty="0"/>
              <a:t>  </a:t>
            </a:r>
            <a:r>
              <a:rPr lang="fr-FR" dirty="0" smtClean="0"/>
              <a:t> LeanRFID Strategy</a:t>
            </a:r>
            <a:endParaRPr lang="fr-FR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067D29-108D-4B60-92F4-4AAA5D70CA6F}" type="datetime1">
              <a:rPr lang="fr-FR"/>
              <a:pPr>
                <a:defRPr/>
              </a:pPr>
              <a:t>06/10/2011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06893-F96A-4822-AA52-0DF40669A4A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7" name="Espace réservé du pied de page 7"/>
          <p:cNvSpPr>
            <a:spLocks noGrp="1"/>
          </p:cNvSpPr>
          <p:nvPr userDrawn="1"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 dirty="0" err="1"/>
              <a:t>T.LAWSON</a:t>
            </a:r>
            <a:r>
              <a:rPr lang="fr-FR" dirty="0"/>
              <a:t>  </a:t>
            </a:r>
            <a:r>
              <a:rPr lang="fr-FR" dirty="0" smtClean="0"/>
              <a:t> LeanRFID Strategy</a:t>
            </a:r>
            <a:endParaRPr lang="fr-FR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B9FF2B-AE07-4A67-AA2F-345809BCC382}" type="datetime1">
              <a:rPr lang="fr-FR"/>
              <a:pPr>
                <a:defRPr/>
              </a:pPr>
              <a:t>06/10/2011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1396A-8FAB-46A0-B3D4-305F2C3F4C7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7" name="Espace réservé du pied de page 7"/>
          <p:cNvSpPr>
            <a:spLocks noGrp="1"/>
          </p:cNvSpPr>
          <p:nvPr userDrawn="1"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 dirty="0" err="1"/>
              <a:t>T.LAWSON</a:t>
            </a:r>
            <a:r>
              <a:rPr lang="fr-FR" dirty="0"/>
              <a:t>  </a:t>
            </a:r>
            <a:r>
              <a:rPr lang="fr-FR" dirty="0" smtClean="0"/>
              <a:t> LeanRFID Strategy</a:t>
            </a:r>
            <a:endParaRPr lang="fr-FR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6510FB4-9C52-4E6D-90ED-63FE7477A986}" type="datetime1">
              <a:rPr lang="fr-FR"/>
              <a:pPr>
                <a:defRPr/>
              </a:pPr>
              <a:t>06/10/2011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1528EF8-6727-42EC-B9E7-232B16ED70D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7" name="Rectangle 3"/>
          <p:cNvSpPr>
            <a:spLocks noChangeArrowheads="1"/>
          </p:cNvSpPr>
          <p:nvPr userDrawn="1"/>
        </p:nvSpPr>
        <p:spPr bwMode="auto">
          <a:xfrm>
            <a:off x="0" y="0"/>
            <a:ext cx="9144000" cy="86042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000" b="1" dirty="0">
                <a:solidFill>
                  <a:schemeClr val="bg1"/>
                </a:solidFill>
                <a:latin typeface="Calibri" pitchFamily="34" charset="0"/>
                <a:cs typeface="+mn-cs"/>
              </a:rPr>
              <a:t>TOTAL PRODUCTIVE MAINTENANCE</a:t>
            </a:r>
          </a:p>
        </p:txBody>
      </p:sp>
      <p:sp>
        <p:nvSpPr>
          <p:cNvPr id="8" name="Espace réservé du pied de page 7"/>
          <p:cNvSpPr>
            <a:spLocks noGrp="1"/>
          </p:cNvSpPr>
          <p:nvPr userDrawn="1"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algn="ctr">
              <a:defRPr sz="900"/>
            </a:lvl1pPr>
          </a:lstStyle>
          <a:p>
            <a:pPr>
              <a:defRPr/>
            </a:pPr>
            <a:r>
              <a:rPr lang="fr-FR" smtClean="0"/>
              <a:t>T.LAWSON   LeanRFID Strategy</a:t>
            </a:r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48" r:id="rId8"/>
    <p:sldLayoutId id="2147483742" r:id="rId9"/>
    <p:sldLayoutId id="2147483744" r:id="rId10"/>
    <p:sldLayoutId id="2147483745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r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20193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3600"/>
              </a:spcBef>
              <a:spcAft>
                <a:spcPts val="3600"/>
              </a:spcAft>
            </a:pPr>
            <a:r>
              <a:rPr lang="fr-FR" dirty="0" smtClean="0"/>
              <a:t>TPM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sz="2800" dirty="0" smtClean="0"/>
              <a:t>Journée d’études </a:t>
            </a:r>
            <a:r>
              <a:rPr lang="fr-FR" sz="2800" dirty="0" err="1" smtClean="0"/>
              <a:t>URBH</a:t>
            </a:r>
            <a:r>
              <a:rPr lang="fr-FR" sz="2800" dirty="0" smtClean="0"/>
              <a:t> 2011</a:t>
            </a:r>
            <a:br>
              <a:rPr lang="fr-FR" sz="2800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sz="1200" dirty="0" smtClean="0"/>
              <a:t>06 octobre 2011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0F2114-103D-4BE8-84DE-75F10779E307}" type="slidenum">
              <a:rPr lang="fr-FR"/>
              <a:pPr>
                <a:defRPr/>
              </a:pPr>
              <a:t>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fr-FR" dirty="0" err="1"/>
              <a:t>T.LAWSON</a:t>
            </a:r>
            <a:r>
              <a:rPr lang="fr-FR" dirty="0"/>
              <a:t>  </a:t>
            </a:r>
            <a:r>
              <a:rPr lang="fr-FR" dirty="0" smtClean="0"/>
              <a:t>LeanRFID Strategy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u contenu 2"/>
          <p:cNvSpPr>
            <a:spLocks noGrp="1"/>
          </p:cNvSpPr>
          <p:nvPr>
            <p:ph idx="1"/>
          </p:nvPr>
        </p:nvSpPr>
        <p:spPr>
          <a:xfrm>
            <a:off x="971550" y="2924175"/>
            <a:ext cx="7345363" cy="893763"/>
          </a:xfrm>
        </p:spPr>
        <p:txBody>
          <a:bodyPr/>
          <a:lstStyle/>
          <a:p>
            <a:pPr algn="ctr" eaLnBrk="1" hangingPunct="1">
              <a:buFont typeface="Arial" pitchFamily="34" charset="0"/>
              <a:buNone/>
            </a:pPr>
            <a:r>
              <a:rPr lang="fr-FR" sz="5400" b="1" smtClean="0"/>
              <a:t>COMPRENDRE  LA TPM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50586D-300E-4D35-8689-791623B4CB0A}" type="slidenum">
              <a:rPr lang="fr-FR" smtClean="0"/>
              <a:pPr>
                <a:defRPr/>
              </a:pPr>
              <a:t>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B09193-9BDB-4BA9-9963-82D9C2F49044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755576" y="2276872"/>
            <a:ext cx="741682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TEMPS TOTAL DISPONIBLE</a:t>
            </a:r>
            <a:endParaRPr lang="fr-FR" b="1" dirty="0"/>
          </a:p>
        </p:txBody>
      </p:sp>
      <p:sp>
        <p:nvSpPr>
          <p:cNvPr id="6" name="Rectangle 5"/>
          <p:cNvSpPr/>
          <p:nvPr/>
        </p:nvSpPr>
        <p:spPr>
          <a:xfrm>
            <a:off x="755576" y="2996952"/>
            <a:ext cx="6192688" cy="7200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TEMPS BRUT DE FONCTIONNEMENT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5576" y="3717032"/>
            <a:ext cx="5400600" cy="72008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TEMPS NET DE FONCTIONNEMENT</a:t>
            </a:r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755576" y="4437112"/>
            <a:ext cx="4464496" cy="7200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TEMPS UTILE</a:t>
            </a:r>
            <a:endParaRPr lang="fr-FR" b="1" dirty="0"/>
          </a:p>
        </p:txBody>
      </p:sp>
      <p:sp>
        <p:nvSpPr>
          <p:cNvPr id="11" name="Rectangle 10"/>
          <p:cNvSpPr/>
          <p:nvPr/>
        </p:nvSpPr>
        <p:spPr>
          <a:xfrm>
            <a:off x="6948264" y="2996952"/>
            <a:ext cx="1224136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ARRET</a:t>
            </a:r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6156176" y="3717032"/>
            <a:ext cx="792088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NON</a:t>
            </a:r>
          </a:p>
          <a:p>
            <a:pPr algn="ctr"/>
            <a:r>
              <a:rPr lang="fr-FR" dirty="0" smtClean="0"/>
              <a:t>PERF</a:t>
            </a:r>
            <a:endParaRPr lang="fr-FR" dirty="0"/>
          </a:p>
        </p:txBody>
      </p:sp>
      <p:sp>
        <p:nvSpPr>
          <p:cNvPr id="13" name="Rectangle 12"/>
          <p:cNvSpPr/>
          <p:nvPr/>
        </p:nvSpPr>
        <p:spPr>
          <a:xfrm>
            <a:off x="5220072" y="4437112"/>
            <a:ext cx="93610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/>
              <a:t>NON QUALITE</a:t>
            </a:r>
            <a:endParaRPr lang="fr-FR" sz="1600" dirty="0"/>
          </a:p>
        </p:txBody>
      </p:sp>
      <p:sp>
        <p:nvSpPr>
          <p:cNvPr id="15" name="ZoneTexte 14"/>
          <p:cNvSpPr txBox="1"/>
          <p:nvPr/>
        </p:nvSpPr>
        <p:spPr>
          <a:xfrm>
            <a:off x="827584" y="1124744"/>
            <a:ext cx="3065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L’UTILISATION DU TEMPS</a:t>
            </a:r>
            <a:endParaRPr lang="fr-FR" b="1" dirty="0"/>
          </a:p>
        </p:txBody>
      </p:sp>
      <p:sp>
        <p:nvSpPr>
          <p:cNvPr id="16" name="ZoneTexte 15"/>
          <p:cNvSpPr txBox="1"/>
          <p:nvPr/>
        </p:nvSpPr>
        <p:spPr>
          <a:xfrm>
            <a:off x="827584" y="1700808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FACTEUR D’EGALITE  1mn = 60S POUR TOUS</a:t>
            </a:r>
            <a:endParaRPr lang="fr-FR" b="1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5220072" y="5085184"/>
            <a:ext cx="0" cy="1080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>
            <a:stCxn id="11" idx="3"/>
          </p:cNvCxnSpPr>
          <p:nvPr/>
        </p:nvCxnSpPr>
        <p:spPr>
          <a:xfrm>
            <a:off x="8172400" y="3356992"/>
            <a:ext cx="0" cy="2880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ouble flèche horizontale 20"/>
          <p:cNvSpPr/>
          <p:nvPr/>
        </p:nvSpPr>
        <p:spPr>
          <a:xfrm>
            <a:off x="5220072" y="5733256"/>
            <a:ext cx="2952328" cy="216024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6084168" y="5445224"/>
            <a:ext cx="1103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PERTES</a:t>
            </a:r>
            <a:endParaRPr lang="fr-FR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6" dur="2000" fill="hold"/>
                                        <p:tgtEl>
                                          <p:spTgt spid="2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6" grpId="0"/>
      <p:bldP spid="21" grpId="0" animBg="1"/>
      <p:bldP spid="22" grpId="0"/>
      <p:bldP spid="2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89525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Bef>
                <a:spcPts val="1800"/>
              </a:spcBef>
              <a:spcAft>
                <a:spcPts val="1200"/>
              </a:spcAft>
              <a:buFont typeface="Arial" pitchFamily="34" charset="0"/>
              <a:buNone/>
              <a:defRPr/>
            </a:pPr>
            <a:r>
              <a:rPr lang="fr-FR" sz="2400" dirty="0" smtClean="0"/>
              <a:t>TPM définition!</a:t>
            </a:r>
          </a:p>
          <a:p>
            <a:pPr marL="987425" eaLnBrk="1" fontAlgn="auto" hangingPunct="1">
              <a:spcBef>
                <a:spcPts val="1800"/>
              </a:spcBef>
              <a:spcAft>
                <a:spcPts val="1200"/>
              </a:spcAft>
              <a:buFont typeface="Arial" pitchFamily="34" charset="0"/>
              <a:buNone/>
              <a:defRPr/>
            </a:pPr>
            <a:r>
              <a:rPr lang="fr-FR" sz="2400" dirty="0" smtClean="0"/>
              <a:t>Qu’est ce que ce n’est pas?</a:t>
            </a:r>
          </a:p>
          <a:p>
            <a:pPr marL="987425" eaLnBrk="1" fontAlgn="auto" hangingPunct="1">
              <a:spcBef>
                <a:spcPts val="1800"/>
              </a:spcBef>
              <a:spcAft>
                <a:spcPts val="1200"/>
              </a:spcAft>
              <a:buFont typeface="Arial" pitchFamily="34" charset="0"/>
              <a:buNone/>
              <a:defRPr/>
            </a:pPr>
            <a:r>
              <a:rPr lang="fr-FR" sz="2400" dirty="0" smtClean="0"/>
              <a:t>Kaizen vous connaissez?</a:t>
            </a:r>
          </a:p>
          <a:p>
            <a:pPr marL="987425" eaLnBrk="1" fontAlgn="auto" hangingPunct="1">
              <a:spcBef>
                <a:spcPts val="1800"/>
              </a:spcBef>
              <a:spcAft>
                <a:spcPts val="1200"/>
              </a:spcAft>
              <a:buFont typeface="Arial" pitchFamily="34" charset="0"/>
              <a:buNone/>
              <a:defRPr/>
            </a:pPr>
            <a:r>
              <a:rPr lang="fr-FR" sz="2400" dirty="0" smtClean="0"/>
              <a:t>Kaizen dans TPM?</a:t>
            </a:r>
          </a:p>
          <a:p>
            <a:pPr marL="987425" eaLnBrk="1" fontAlgn="auto" hangingPunct="1">
              <a:spcBef>
                <a:spcPts val="1800"/>
              </a:spcBef>
              <a:spcAft>
                <a:spcPts val="1200"/>
              </a:spcAft>
              <a:buFont typeface="Arial" pitchFamily="34" charset="0"/>
              <a:buNone/>
              <a:defRPr/>
            </a:pPr>
            <a:r>
              <a:rPr lang="fr-FR" sz="2400" dirty="0" smtClean="0"/>
              <a:t>Le sens de la maintenance? ( SEULEMENT REPARER?)</a:t>
            </a:r>
          </a:p>
          <a:p>
            <a:pPr marL="987425" eaLnBrk="1" fontAlgn="auto" hangingPunct="1">
              <a:spcBef>
                <a:spcPts val="1800"/>
              </a:spcBef>
              <a:spcAft>
                <a:spcPts val="1200"/>
              </a:spcAft>
              <a:buFont typeface="Arial" pitchFamily="34" charset="0"/>
              <a:buNone/>
              <a:defRPr/>
            </a:pPr>
            <a:r>
              <a:rPr lang="fr-FR" sz="2400" dirty="0" smtClean="0"/>
              <a:t>Pourquoi mesurer?</a:t>
            </a:r>
          </a:p>
          <a:p>
            <a:pPr marL="987425" eaLnBrk="1" fontAlgn="auto" hangingPunct="1">
              <a:spcBef>
                <a:spcPts val="1800"/>
              </a:spcBef>
              <a:spcAft>
                <a:spcPts val="1200"/>
              </a:spcAft>
              <a:buFont typeface="Arial" pitchFamily="34" charset="0"/>
              <a:buNone/>
              <a:defRPr/>
            </a:pPr>
            <a:r>
              <a:rPr lang="fr-FR" sz="2400" dirty="0" smtClean="0"/>
              <a:t>Comment remonter aux causes racines?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sz="2400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sz="2400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sz="24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0A64B2-9661-46A3-922F-026D9951830B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250825" y="1600200"/>
            <a:ext cx="8435975" cy="45259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fr-FR" dirty="0" smtClean="0"/>
              <a:t>La TPM utilise des outils:</a:t>
            </a:r>
          </a:p>
          <a:p>
            <a:pPr marL="1257300" eaLnBrk="1" fontAlgn="auto" hangingPunct="1">
              <a:spcBef>
                <a:spcPts val="1800"/>
              </a:spcBef>
              <a:spcAft>
                <a:spcPts val="1200"/>
              </a:spcAft>
              <a:buClr>
                <a:srgbClr val="C00000"/>
              </a:buClr>
              <a:buFont typeface="Wingdings" pitchFamily="2" charset="2"/>
              <a:buChar char="q"/>
              <a:defRPr/>
            </a:pPr>
            <a:r>
              <a:rPr lang="fr-FR" dirty="0" smtClean="0"/>
              <a:t>L’esprit Kaizen</a:t>
            </a:r>
          </a:p>
          <a:p>
            <a:pPr marL="1257300" eaLnBrk="1" fontAlgn="auto" hangingPunct="1">
              <a:spcBef>
                <a:spcPts val="1800"/>
              </a:spcBef>
              <a:spcAft>
                <a:spcPts val="1200"/>
              </a:spcAft>
              <a:buClr>
                <a:srgbClr val="C00000"/>
              </a:buClr>
              <a:buFont typeface="Wingdings" pitchFamily="2" charset="2"/>
              <a:buChar char="q"/>
              <a:defRPr/>
            </a:pPr>
            <a:r>
              <a:rPr lang="fr-FR" dirty="0" smtClean="0"/>
              <a:t>Tous les outils d’analyse et de résolution de problèmes: de Pareto à l’analyse PM en passant par les 5 pourquoi et  Ishikawa</a:t>
            </a:r>
          </a:p>
          <a:p>
            <a:pPr marL="1257300" eaLnBrk="1" fontAlgn="auto" hangingPunct="1">
              <a:spcBef>
                <a:spcPts val="1800"/>
              </a:spcBef>
              <a:spcAft>
                <a:spcPts val="1200"/>
              </a:spcAft>
              <a:buClr>
                <a:srgbClr val="C00000"/>
              </a:buClr>
              <a:buFont typeface="Wingdings" pitchFamily="2" charset="2"/>
              <a:buChar char="q"/>
              <a:defRPr/>
            </a:pPr>
            <a:r>
              <a:rPr lang="fr-FR" dirty="0" smtClean="0"/>
              <a:t>La maintenance autonome.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256037-F419-4712-8897-B38DFC9CE693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32EB4-F86C-401B-B326-B45F79BBC464}" type="slidenum">
              <a:rPr lang="fr-FR"/>
              <a:pPr>
                <a:defRPr/>
              </a:pPr>
              <a:t>6</a:t>
            </a:fld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95536" y="2420888"/>
            <a:ext cx="8229600" cy="964704"/>
          </a:xfrm>
        </p:spPr>
        <p:txBody>
          <a:bodyPr/>
          <a:lstStyle/>
          <a:p>
            <a:pPr algn="ctr">
              <a:buNone/>
            </a:pPr>
            <a:r>
              <a:rPr lang="fr-FR" dirty="0" smtClean="0"/>
              <a:t>Comment voir les anomalies?</a:t>
            </a:r>
            <a:endParaRPr lang="fr-FR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214313" y="1500188"/>
            <a:ext cx="8578850" cy="3946525"/>
            <a:chOff x="117" y="581"/>
            <a:chExt cx="5404" cy="2486"/>
          </a:xfrm>
        </p:grpSpPr>
        <p:sp>
          <p:nvSpPr>
            <p:cNvPr id="35846" name="Text Box 2"/>
            <p:cNvSpPr txBox="1">
              <a:spLocks noChangeArrowheads="1"/>
            </p:cNvSpPr>
            <p:nvPr/>
          </p:nvSpPr>
          <p:spPr bwMode="auto">
            <a:xfrm>
              <a:off x="134" y="581"/>
              <a:ext cx="35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fr-FR" b="1" u="sng">
                  <a:latin typeface="Calibri" pitchFamily="34" charset="0"/>
                </a:rPr>
                <a:t>Etape 1: Nettoyage initial – découverte de défauts</a:t>
              </a:r>
              <a:endParaRPr lang="en-GB" b="1" u="sng">
                <a:latin typeface="Calibri" pitchFamily="34" charset="0"/>
              </a:endParaRPr>
            </a:p>
          </p:txBody>
        </p:sp>
        <p:sp>
          <p:nvSpPr>
            <p:cNvPr id="35847" name="Text Box 3"/>
            <p:cNvSpPr txBox="1">
              <a:spLocks noChangeArrowheads="1"/>
            </p:cNvSpPr>
            <p:nvPr/>
          </p:nvSpPr>
          <p:spPr bwMode="auto">
            <a:xfrm>
              <a:off x="117" y="1000"/>
              <a:ext cx="3915" cy="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fr-FR" b="1">
                  <a:latin typeface="Calibri" pitchFamily="34" charset="0"/>
                </a:rPr>
                <a:t>Application des 5S aux équipements et à la zone de travail</a:t>
              </a:r>
            </a:p>
            <a:p>
              <a:pPr>
                <a:buClr>
                  <a:schemeClr val="accent2"/>
                </a:buClr>
                <a:buSzPct val="80000"/>
              </a:pPr>
              <a:r>
                <a:rPr lang="fr-FR" b="1">
                  <a:latin typeface="Calibri" pitchFamily="34" charset="0"/>
                </a:rPr>
                <a:t> Les problèmes deviennent visibles</a:t>
              </a:r>
            </a:p>
            <a:p>
              <a:pPr>
                <a:buClr>
                  <a:schemeClr val="accent2"/>
                </a:buClr>
                <a:buSzPct val="80000"/>
              </a:pPr>
              <a:r>
                <a:rPr lang="fr-FR" b="1">
                  <a:latin typeface="Calibri" pitchFamily="34" charset="0"/>
                </a:rPr>
                <a:t> Les problèmes </a:t>
              </a:r>
              <a:r>
                <a:rPr lang="fr-LU" b="1">
                  <a:latin typeface="Calibri" pitchFamily="34" charset="0"/>
                </a:rPr>
                <a:t>s’auto-identifient</a:t>
              </a:r>
              <a:endParaRPr lang="fr-FR" b="1">
                <a:latin typeface="Calibri" pitchFamily="34" charset="0"/>
              </a:endParaRPr>
            </a:p>
            <a:p>
              <a:pPr>
                <a:buClr>
                  <a:schemeClr val="accent2"/>
                </a:buClr>
                <a:buSzPct val="80000"/>
              </a:pPr>
              <a:r>
                <a:rPr lang="fr-FR" b="1">
                  <a:latin typeface="Calibri" pitchFamily="34" charset="0"/>
                </a:rPr>
                <a:t> Favorise la rigueur</a:t>
              </a:r>
            </a:p>
          </p:txBody>
        </p:sp>
        <p:pic>
          <p:nvPicPr>
            <p:cNvPr id="35848" name="Picture 5" descr="TPM'd &amp; 5s'd cell"/>
            <p:cNvPicPr>
              <a:picLocks noChangeAspect="1" noChangeArrowheads="1"/>
            </p:cNvPicPr>
            <p:nvPr/>
          </p:nvPicPr>
          <p:blipFill>
            <a:blip r:embed="rId3" cstate="print"/>
            <a:srcRect t="2061"/>
            <a:stretch>
              <a:fillRect/>
            </a:stretch>
          </p:blipFill>
          <p:spPr bwMode="auto">
            <a:xfrm>
              <a:off x="3915" y="1931"/>
              <a:ext cx="1606" cy="1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</p:grpSp>
      <p:sp>
        <p:nvSpPr>
          <p:cNvPr id="35844" name="Rectangle 7"/>
          <p:cNvSpPr>
            <a:spLocks noChangeArrowheads="1"/>
          </p:cNvSpPr>
          <p:nvPr/>
        </p:nvSpPr>
        <p:spPr bwMode="auto">
          <a:xfrm>
            <a:off x="3206750" y="1141413"/>
            <a:ext cx="11715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fr-FR" b="1">
                <a:solidFill>
                  <a:srgbClr val="FFFFFF"/>
                </a:solidFill>
                <a:latin typeface="Calibri" pitchFamily="34" charset="0"/>
              </a:rPr>
              <a:t>Les Etapes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B4B617-E400-40FE-AF6A-22B283D04A5A}" type="slidenum">
              <a:rPr lang="fr-FR"/>
              <a:pPr>
                <a:defRPr/>
              </a:pPr>
              <a:t>7</a:t>
            </a:fld>
            <a:endParaRPr lang="fr-F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 algn="ctr">
              <a:defRPr/>
            </a:pPr>
            <a:r>
              <a:rPr lang="fr-FR"/>
              <a:t>Page </a:t>
            </a:r>
            <a:fld id="{6D973F75-C17D-421A-B085-A00D43EB1EFF}" type="slidenum">
              <a:rPr lang="fr-FR"/>
              <a:pPr algn="ctr">
                <a:defRPr/>
              </a:pPr>
              <a:t>8</a:t>
            </a:fld>
            <a:endParaRPr lang="fr-FR"/>
          </a:p>
        </p:txBody>
      </p:sp>
      <p:pic>
        <p:nvPicPr>
          <p:cNvPr id="36867" name="Picture 5" descr="TPM'd &amp; 5s'd cell"/>
          <p:cNvPicPr>
            <a:picLocks noChangeAspect="1" noChangeArrowheads="1"/>
          </p:cNvPicPr>
          <p:nvPr/>
        </p:nvPicPr>
        <p:blipFill>
          <a:blip r:embed="rId3" cstate="print"/>
          <a:srcRect t="2061"/>
          <a:stretch>
            <a:fillRect/>
          </a:stretch>
        </p:blipFill>
        <p:spPr bwMode="auto">
          <a:xfrm>
            <a:off x="571500" y="4714875"/>
            <a:ext cx="2549525" cy="180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85738" y="1857375"/>
            <a:ext cx="8958262" cy="2281238"/>
            <a:chOff x="115" y="2217"/>
            <a:chExt cx="5643" cy="1437"/>
          </a:xfrm>
        </p:grpSpPr>
        <p:sp>
          <p:nvSpPr>
            <p:cNvPr id="36870" name="Text Box 7"/>
            <p:cNvSpPr txBox="1">
              <a:spLocks noChangeArrowheads="1"/>
            </p:cNvSpPr>
            <p:nvPr/>
          </p:nvSpPr>
          <p:spPr bwMode="auto">
            <a:xfrm>
              <a:off x="138" y="2217"/>
              <a:ext cx="45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fr-FR" b="1" u="sng">
                  <a:latin typeface="Calibri" pitchFamily="34" charset="0"/>
                </a:rPr>
                <a:t>Etape 2 : Eliminer les causes de salissures / faciliter le nettoyage</a:t>
              </a:r>
              <a:endParaRPr lang="en-GB" b="1" u="sng">
                <a:latin typeface="Calibri" pitchFamily="34" charset="0"/>
              </a:endParaRPr>
            </a:p>
          </p:txBody>
        </p:sp>
        <p:sp>
          <p:nvSpPr>
            <p:cNvPr id="36871" name="Text Box 8"/>
            <p:cNvSpPr txBox="1">
              <a:spLocks noChangeArrowheads="1"/>
            </p:cNvSpPr>
            <p:nvPr/>
          </p:nvSpPr>
          <p:spPr bwMode="auto">
            <a:xfrm>
              <a:off x="115" y="2636"/>
              <a:ext cx="5643" cy="9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fr-FR" sz="1600" b="1" dirty="0">
                  <a:latin typeface="Calibri" pitchFamily="34" charset="0"/>
                </a:rPr>
                <a:t>Identifier les problèmes et éliminer la/les cause(s) racine(s):</a:t>
              </a:r>
            </a:p>
            <a:p>
              <a:pPr>
                <a:buClr>
                  <a:schemeClr val="accent2"/>
                </a:buClr>
                <a:buSzPct val="80000"/>
              </a:pPr>
              <a:r>
                <a:rPr lang="fr-FR" sz="1600" b="1" dirty="0">
                  <a:latin typeface="Calibri" pitchFamily="34" charset="0"/>
                </a:rPr>
                <a:t> Fuites</a:t>
              </a:r>
            </a:p>
            <a:p>
              <a:pPr>
                <a:buClr>
                  <a:schemeClr val="accent2"/>
                </a:buClr>
                <a:buSzPct val="80000"/>
              </a:pPr>
              <a:r>
                <a:rPr lang="fr-FR" sz="1600" b="1" dirty="0">
                  <a:latin typeface="Calibri" pitchFamily="34" charset="0"/>
                </a:rPr>
                <a:t> </a:t>
              </a:r>
              <a:r>
                <a:rPr lang="fr-FR" sz="1600" b="1" dirty="0" smtClean="0">
                  <a:latin typeface="Calibri" pitchFamily="34" charset="0"/>
                </a:rPr>
                <a:t>salissures et autres …</a:t>
              </a:r>
              <a:endParaRPr lang="fr-FR" sz="1600" b="1" dirty="0">
                <a:latin typeface="Calibri" pitchFamily="34" charset="0"/>
              </a:endParaRPr>
            </a:p>
            <a:p>
              <a:pPr>
                <a:buClr>
                  <a:schemeClr val="accent2"/>
                </a:buClr>
                <a:buSzPct val="80000"/>
              </a:pPr>
              <a:r>
                <a:rPr lang="fr-FR" sz="1600" b="1" dirty="0">
                  <a:latin typeface="Calibri" pitchFamily="34" charset="0"/>
                </a:rPr>
                <a:t> Mise à disposition des outils / équipements appropriés</a:t>
              </a:r>
              <a:br>
                <a:rPr lang="fr-FR" sz="1600" b="1" dirty="0">
                  <a:latin typeface="Calibri" pitchFamily="34" charset="0"/>
                </a:rPr>
              </a:br>
              <a:r>
                <a:rPr lang="fr-FR" sz="1600" b="1" dirty="0">
                  <a:latin typeface="Calibri" pitchFamily="34" charset="0"/>
                </a:rPr>
                <a:t>  à maintenir</a:t>
              </a:r>
            </a:p>
            <a:p>
              <a:pPr>
                <a:buClr>
                  <a:schemeClr val="accent2"/>
                </a:buClr>
                <a:buSzPct val="80000"/>
              </a:pPr>
              <a:endParaRPr lang="fr-FR" sz="1600" b="1" dirty="0">
                <a:latin typeface="Calibri" pitchFamily="34" charset="0"/>
              </a:endParaRPr>
            </a:p>
          </p:txBody>
        </p:sp>
        <p:pic>
          <p:nvPicPr>
            <p:cNvPr id="36872" name="Picture 9" descr="IMG_1307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749" y="2506"/>
              <a:ext cx="1597" cy="11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 algn="ctr">
              <a:defRPr/>
            </a:pPr>
            <a:r>
              <a:rPr lang="fr-FR"/>
              <a:t>Page </a:t>
            </a:r>
            <a:fld id="{260F042F-11AB-4B13-8BB7-F007F6A44BD6}" type="slidenum">
              <a:rPr lang="fr-FR"/>
              <a:pPr algn="ctr">
                <a:defRPr/>
              </a:pPr>
              <a:t>9</a:t>
            </a:fld>
            <a:endParaRPr lang="fr-FR"/>
          </a:p>
        </p:txBody>
      </p:sp>
      <p:pic>
        <p:nvPicPr>
          <p:cNvPr id="101380" name="Picture 5" descr="TPM'd &amp; 5s'd cell"/>
          <p:cNvPicPr>
            <a:picLocks noChangeAspect="1" noChangeArrowheads="1"/>
          </p:cNvPicPr>
          <p:nvPr/>
        </p:nvPicPr>
        <p:blipFill>
          <a:blip r:embed="rId3" cstate="print"/>
          <a:srcRect t="2075"/>
          <a:stretch>
            <a:fillRect/>
          </a:stretch>
        </p:blipFill>
        <p:spPr bwMode="auto">
          <a:xfrm>
            <a:off x="339725" y="193675"/>
            <a:ext cx="8531225" cy="603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7" name="Text Box 3"/>
          <p:cNvSpPr txBox="1">
            <a:spLocks noChangeArrowheads="1"/>
          </p:cNvSpPr>
          <p:nvPr/>
        </p:nvSpPr>
        <p:spPr bwMode="auto">
          <a:xfrm>
            <a:off x="381000" y="1395413"/>
            <a:ext cx="86026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3200">
                <a:latin typeface="Calibri" pitchFamily="34" charset="0"/>
              </a:rPr>
              <a:t>“Nettoyer c’est inspecter”</a:t>
            </a:r>
          </a:p>
        </p:txBody>
      </p:sp>
      <p:sp>
        <p:nvSpPr>
          <p:cNvPr id="548868" name="Text Box 4"/>
          <p:cNvSpPr txBox="1">
            <a:spLocks noChangeArrowheads="1"/>
          </p:cNvSpPr>
          <p:nvPr/>
        </p:nvSpPr>
        <p:spPr bwMode="auto">
          <a:xfrm>
            <a:off x="2427288" y="2665413"/>
            <a:ext cx="471646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3200">
                <a:latin typeface="Calibri" pitchFamily="34" charset="0"/>
              </a:rPr>
              <a:t>“Inspecter c’est Détecter”</a:t>
            </a:r>
            <a:endParaRPr lang="en-US" sz="3200">
              <a:latin typeface="Calibri" pitchFamily="34" charset="0"/>
            </a:endParaRPr>
          </a:p>
        </p:txBody>
      </p:sp>
      <p:sp>
        <p:nvSpPr>
          <p:cNvPr id="548869" name="Text Box 5"/>
          <p:cNvSpPr txBox="1">
            <a:spLocks noChangeArrowheads="1"/>
          </p:cNvSpPr>
          <p:nvPr/>
        </p:nvSpPr>
        <p:spPr bwMode="auto">
          <a:xfrm>
            <a:off x="2528888" y="4046538"/>
            <a:ext cx="44132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3200">
                <a:latin typeface="Calibri" pitchFamily="34" charset="0"/>
              </a:rPr>
              <a:t>“</a:t>
            </a:r>
            <a:r>
              <a:rPr lang="fr-FR" sz="3200">
                <a:latin typeface="Calibri" pitchFamily="34" charset="0"/>
              </a:rPr>
              <a:t>Détecter</a:t>
            </a:r>
            <a:r>
              <a:rPr lang="en-GB" sz="3200">
                <a:latin typeface="Calibri" pitchFamily="34" charset="0"/>
              </a:rPr>
              <a:t> pour  </a:t>
            </a:r>
            <a:r>
              <a:rPr lang="fr-FR" sz="3200">
                <a:latin typeface="Calibri" pitchFamily="34" charset="0"/>
              </a:rPr>
              <a:t>Corriger</a:t>
            </a:r>
            <a:r>
              <a:rPr lang="en-GB" sz="3200">
                <a:latin typeface="Calibri" pitchFamily="34" charset="0"/>
              </a:rPr>
              <a:t>”</a:t>
            </a:r>
            <a:endParaRPr lang="en-US" sz="3200">
              <a:latin typeface="Calibri" pitchFamily="34" charset="0"/>
            </a:endParaRPr>
          </a:p>
        </p:txBody>
      </p:sp>
      <p:sp>
        <p:nvSpPr>
          <p:cNvPr id="548870" name="Text Box 6"/>
          <p:cNvSpPr txBox="1">
            <a:spLocks noChangeArrowheads="1"/>
          </p:cNvSpPr>
          <p:nvPr/>
        </p:nvSpPr>
        <p:spPr bwMode="auto">
          <a:xfrm>
            <a:off x="1785938" y="5143500"/>
            <a:ext cx="632262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3200" smtClean="0">
                <a:latin typeface="Calibri" pitchFamily="34" charset="0"/>
              </a:rPr>
              <a:t>“Corriger  évite le problème et l’arret</a:t>
            </a:r>
            <a:endParaRPr lang="fr-FR" sz="3200"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8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867" grpId="0" autoUpdateAnimBg="0"/>
      <p:bldP spid="548868" grpId="0" autoUpdateAnimBg="0"/>
      <p:bldP spid="548869" grpId="0" autoUpdateAnimBg="0"/>
      <p:bldP spid="54887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57B05-1B6B-4246-92A5-E4C123654362}" type="slidenum">
              <a:rPr lang="fr-FR" smtClean="0"/>
              <a:pPr>
                <a:defRPr/>
              </a:pPr>
              <a:t>11</a:t>
            </a:fld>
            <a:endParaRPr lang="fr-FR"/>
          </a:p>
        </p:txBody>
      </p:sp>
      <p:sp>
        <p:nvSpPr>
          <p:cNvPr id="53252" name="ZoneTexte 3"/>
          <p:cNvSpPr txBox="1">
            <a:spLocks noChangeArrowheads="1"/>
          </p:cNvSpPr>
          <p:nvPr/>
        </p:nvSpPr>
        <p:spPr bwMode="auto">
          <a:xfrm>
            <a:off x="1042988" y="3357563"/>
            <a:ext cx="71135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400"/>
              <a:t>LA MAINTENANCE DES EQUIPEMENTS ET TPM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0" y="836613"/>
            <a:ext cx="9144000" cy="313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fr-FR" sz="1600" b="1" dirty="0" smtClean="0">
                <a:solidFill>
                  <a:srgbClr val="000099"/>
                </a:solidFill>
                <a:latin typeface="Albertus Extra Bold"/>
              </a:rPr>
              <a:t>LES VRAIES ET LES FAUSSES IDEES</a:t>
            </a:r>
            <a:endParaRPr lang="fr-FR" sz="1600" b="1" i="1" dirty="0">
              <a:solidFill>
                <a:srgbClr val="000099"/>
              </a:solidFill>
              <a:latin typeface="Albertus Extra Bold"/>
            </a:endParaRPr>
          </a:p>
        </p:txBody>
      </p:sp>
      <p:sp>
        <p:nvSpPr>
          <p:cNvPr id="69635" name="Text Box 5"/>
          <p:cNvSpPr txBox="1">
            <a:spLocks noChangeArrowheads="1"/>
          </p:cNvSpPr>
          <p:nvPr/>
        </p:nvSpPr>
        <p:spPr bwMode="auto">
          <a:xfrm>
            <a:off x="76200" y="1552575"/>
            <a:ext cx="87280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Clr>
                <a:srgbClr val="800000"/>
              </a:buClr>
              <a:buSzPct val="110000"/>
            </a:pPr>
            <a:r>
              <a:rPr lang="en-GB" sz="1600" b="1" dirty="0" err="1"/>
              <a:t>Coûts</a:t>
            </a:r>
            <a:r>
              <a:rPr lang="en-GB" sz="1600" b="1" dirty="0"/>
              <a:t>  :</a:t>
            </a:r>
          </a:p>
        </p:txBody>
      </p:sp>
      <p:sp>
        <p:nvSpPr>
          <p:cNvPr id="69636" name="Text Box 12"/>
          <p:cNvSpPr txBox="1">
            <a:spLocks noChangeArrowheads="1"/>
          </p:cNvSpPr>
          <p:nvPr/>
        </p:nvSpPr>
        <p:spPr bwMode="auto">
          <a:xfrm>
            <a:off x="533400" y="2228850"/>
            <a:ext cx="8610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562100" lvl="3" indent="-190500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Font typeface="Symbol" pitchFamily="18" charset="2"/>
              <a:buChar char="-"/>
            </a:pPr>
            <a:r>
              <a:rPr lang="en-GB" sz="1600" dirty="0" err="1"/>
              <a:t>Coûts</a:t>
            </a:r>
            <a:r>
              <a:rPr lang="en-GB" sz="1600" dirty="0"/>
              <a:t> main d’oeuvre.</a:t>
            </a:r>
          </a:p>
        </p:txBody>
      </p:sp>
      <p:sp>
        <p:nvSpPr>
          <p:cNvPr id="69637" name="Text Box 13"/>
          <p:cNvSpPr txBox="1">
            <a:spLocks noChangeArrowheads="1"/>
          </p:cNvSpPr>
          <p:nvPr/>
        </p:nvSpPr>
        <p:spPr bwMode="auto">
          <a:xfrm>
            <a:off x="533400" y="2476500"/>
            <a:ext cx="8610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562100" lvl="3" indent="-190500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Font typeface="Symbol" pitchFamily="18" charset="2"/>
              <a:buChar char="-"/>
            </a:pPr>
            <a:r>
              <a:rPr lang="en-GB" sz="1600" dirty="0" err="1"/>
              <a:t>Coûts</a:t>
            </a:r>
            <a:r>
              <a:rPr lang="en-GB" sz="1600" dirty="0"/>
              <a:t> des </a:t>
            </a:r>
            <a:r>
              <a:rPr lang="en-GB" sz="1600" dirty="0" err="1"/>
              <a:t>pièces</a:t>
            </a:r>
            <a:r>
              <a:rPr lang="en-GB" sz="1600" dirty="0"/>
              <a:t> de </a:t>
            </a:r>
            <a:r>
              <a:rPr lang="en-GB" sz="1600" dirty="0" err="1"/>
              <a:t>rechange</a:t>
            </a:r>
            <a:r>
              <a:rPr lang="en-GB" sz="1600" dirty="0"/>
              <a:t>.</a:t>
            </a:r>
          </a:p>
        </p:txBody>
      </p:sp>
      <p:sp>
        <p:nvSpPr>
          <p:cNvPr id="69638" name="Text Box 14"/>
          <p:cNvSpPr txBox="1">
            <a:spLocks noChangeArrowheads="1"/>
          </p:cNvSpPr>
          <p:nvPr/>
        </p:nvSpPr>
        <p:spPr bwMode="auto">
          <a:xfrm>
            <a:off x="533400" y="2724150"/>
            <a:ext cx="8610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562100" lvl="3" indent="-190500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Font typeface="Symbol" pitchFamily="18" charset="2"/>
              <a:buChar char="-"/>
            </a:pPr>
            <a:r>
              <a:rPr lang="en-GB" sz="1600" dirty="0" err="1" smtClean="0"/>
              <a:t>Coûts</a:t>
            </a:r>
            <a:r>
              <a:rPr lang="en-GB" sz="1600" dirty="0" smtClean="0"/>
              <a:t> des temps </a:t>
            </a:r>
            <a:r>
              <a:rPr lang="en-GB" sz="1600" dirty="0" err="1" smtClean="0"/>
              <a:t>d’attente</a:t>
            </a:r>
            <a:r>
              <a:rPr lang="en-GB" sz="1600" dirty="0" smtClean="0"/>
              <a:t>.</a:t>
            </a:r>
            <a:endParaRPr lang="en-GB" sz="1600" dirty="0"/>
          </a:p>
        </p:txBody>
      </p:sp>
      <p:sp>
        <p:nvSpPr>
          <p:cNvPr id="69639" name="Text Box 15"/>
          <p:cNvSpPr txBox="1">
            <a:spLocks noChangeArrowheads="1"/>
          </p:cNvSpPr>
          <p:nvPr/>
        </p:nvSpPr>
        <p:spPr bwMode="auto">
          <a:xfrm>
            <a:off x="533400" y="3068960"/>
            <a:ext cx="8610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90500" indent="-190500">
              <a:lnSpc>
                <a:spcPct val="80000"/>
              </a:lnSpc>
              <a:spcBef>
                <a:spcPts val="2400"/>
              </a:spcBef>
              <a:buClr>
                <a:schemeClr val="tx1"/>
              </a:buClr>
              <a:buFont typeface="Arial" pitchFamily="34" charset="0"/>
              <a:buChar char="•"/>
            </a:pPr>
            <a:r>
              <a:rPr lang="en-GB" sz="1600" b="1" dirty="0" err="1" smtClean="0"/>
              <a:t>Coûts</a:t>
            </a:r>
            <a:r>
              <a:rPr lang="en-GB" sz="1600" b="1" dirty="0" smtClean="0"/>
              <a:t> </a:t>
            </a:r>
            <a:r>
              <a:rPr lang="en-GB" sz="1600" b="1" dirty="0"/>
              <a:t>de la </a:t>
            </a:r>
            <a:r>
              <a:rPr lang="en-GB" sz="1600" b="1" dirty="0" err="1"/>
              <a:t>sous</a:t>
            </a:r>
            <a:r>
              <a:rPr lang="en-GB" sz="1600" b="1" dirty="0"/>
              <a:t>-traitance</a:t>
            </a:r>
            <a:r>
              <a:rPr lang="en-GB" sz="1600" dirty="0"/>
              <a:t>.</a:t>
            </a:r>
          </a:p>
        </p:txBody>
      </p:sp>
      <p:sp>
        <p:nvSpPr>
          <p:cNvPr id="69640" name="Text Box 16"/>
          <p:cNvSpPr txBox="1">
            <a:spLocks noChangeArrowheads="1"/>
          </p:cNvSpPr>
          <p:nvPr/>
        </p:nvSpPr>
        <p:spPr bwMode="auto">
          <a:xfrm>
            <a:off x="381000" y="1981200"/>
            <a:ext cx="8610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90500" indent="-190500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GB" sz="1600" b="1" dirty="0"/>
              <a:t>Diminution des </a:t>
            </a:r>
            <a:r>
              <a:rPr lang="en-GB" sz="1600" b="1" dirty="0" err="1"/>
              <a:t>coûts</a:t>
            </a:r>
            <a:r>
              <a:rPr lang="en-GB" sz="1600" b="1" dirty="0"/>
              <a:t> de maintenance  </a:t>
            </a:r>
            <a:r>
              <a:rPr lang="en-GB" sz="1600" dirty="0"/>
              <a:t>:</a:t>
            </a:r>
          </a:p>
        </p:txBody>
      </p:sp>
      <p:sp>
        <p:nvSpPr>
          <p:cNvPr id="69641" name="Text Box 21"/>
          <p:cNvSpPr txBox="1">
            <a:spLocks noChangeArrowheads="1"/>
          </p:cNvSpPr>
          <p:nvPr/>
        </p:nvSpPr>
        <p:spPr bwMode="auto">
          <a:xfrm>
            <a:off x="533400" y="3429000"/>
            <a:ext cx="8610600" cy="24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562100" lvl="3" indent="-190500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GB" sz="1200" dirty="0"/>
              <a:t>Diminution des </a:t>
            </a:r>
            <a:r>
              <a:rPr lang="en-GB" sz="1200" dirty="0" err="1"/>
              <a:t>coûts</a:t>
            </a:r>
            <a:r>
              <a:rPr lang="en-GB" sz="1200" dirty="0"/>
              <a:t> des </a:t>
            </a:r>
            <a:r>
              <a:rPr lang="en-GB" sz="1200" dirty="0" err="1"/>
              <a:t>consommables</a:t>
            </a:r>
            <a:r>
              <a:rPr lang="en-GB" sz="1200" dirty="0" smtClean="0"/>
              <a:t>. </a:t>
            </a:r>
            <a:r>
              <a:rPr lang="en-GB" sz="1200" dirty="0"/>
              <a:t>?</a:t>
            </a:r>
          </a:p>
        </p:txBody>
      </p:sp>
      <p:sp>
        <p:nvSpPr>
          <p:cNvPr id="69642" name="Text Box 22"/>
          <p:cNvSpPr txBox="1">
            <a:spLocks noChangeArrowheads="1"/>
          </p:cNvSpPr>
          <p:nvPr/>
        </p:nvSpPr>
        <p:spPr bwMode="auto">
          <a:xfrm>
            <a:off x="533400" y="3645024"/>
            <a:ext cx="8610600" cy="24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562100" lvl="3" indent="-190500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GB" sz="1200" dirty="0"/>
              <a:t>Diminution des </a:t>
            </a:r>
            <a:r>
              <a:rPr lang="en-GB" sz="1200" dirty="0" err="1"/>
              <a:t>coûts</a:t>
            </a:r>
            <a:r>
              <a:rPr lang="en-GB" sz="1200" dirty="0"/>
              <a:t> des </a:t>
            </a:r>
            <a:r>
              <a:rPr lang="en-GB" sz="1200" dirty="0" err="1"/>
              <a:t>énergies</a:t>
            </a:r>
            <a:r>
              <a:rPr lang="en-GB" sz="1200" dirty="0"/>
              <a:t> et des </a:t>
            </a:r>
            <a:r>
              <a:rPr lang="en-GB" sz="1200" dirty="0" err="1"/>
              <a:t>fluides</a:t>
            </a:r>
            <a:r>
              <a:rPr lang="en-GB" sz="1200" dirty="0" smtClean="0"/>
              <a:t>.?</a:t>
            </a:r>
            <a:endParaRPr lang="en-GB" sz="1200" dirty="0"/>
          </a:p>
        </p:txBody>
      </p:sp>
      <p:sp>
        <p:nvSpPr>
          <p:cNvPr id="69643" name="Text Box 23"/>
          <p:cNvSpPr txBox="1">
            <a:spLocks noChangeArrowheads="1"/>
          </p:cNvSpPr>
          <p:nvPr/>
        </p:nvSpPr>
        <p:spPr bwMode="auto">
          <a:xfrm>
            <a:off x="533400" y="3933056"/>
            <a:ext cx="8610600" cy="24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562100" lvl="3" indent="-190500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GB" sz="1200" dirty="0"/>
              <a:t>Diminution des </a:t>
            </a:r>
            <a:r>
              <a:rPr lang="en-GB" sz="1200" dirty="0" err="1"/>
              <a:t>coûts</a:t>
            </a:r>
            <a:r>
              <a:rPr lang="en-GB" sz="1200" dirty="0"/>
              <a:t> de </a:t>
            </a:r>
            <a:r>
              <a:rPr lang="en-GB" sz="1200" dirty="0" err="1"/>
              <a:t>de</a:t>
            </a:r>
            <a:r>
              <a:rPr lang="en-GB" sz="1200" dirty="0"/>
              <a:t> </a:t>
            </a:r>
            <a:r>
              <a:rPr lang="en-GB" sz="1200" dirty="0" smtClean="0"/>
              <a:t>non-</a:t>
            </a:r>
            <a:r>
              <a:rPr lang="en-GB" sz="1200" dirty="0" err="1" smtClean="0"/>
              <a:t>qualité</a:t>
            </a:r>
            <a:r>
              <a:rPr lang="en-GB" sz="1200" dirty="0" smtClean="0"/>
              <a:t>?</a:t>
            </a:r>
            <a:endParaRPr lang="en-GB" sz="1200" dirty="0"/>
          </a:p>
        </p:txBody>
      </p:sp>
      <p:sp>
        <p:nvSpPr>
          <p:cNvPr id="69644" name="Text Box 24"/>
          <p:cNvSpPr txBox="1">
            <a:spLocks noChangeArrowheads="1"/>
          </p:cNvSpPr>
          <p:nvPr/>
        </p:nvSpPr>
        <p:spPr bwMode="auto">
          <a:xfrm>
            <a:off x="533400" y="4221088"/>
            <a:ext cx="8610600" cy="24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562100" lvl="3" indent="-190500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GB" sz="1200" dirty="0"/>
              <a:t>Diminution des </a:t>
            </a:r>
            <a:r>
              <a:rPr lang="en-GB" sz="1200" dirty="0" err="1"/>
              <a:t>coûts</a:t>
            </a:r>
            <a:r>
              <a:rPr lang="en-GB" sz="1200" dirty="0"/>
              <a:t> des retours clients et des </a:t>
            </a:r>
            <a:r>
              <a:rPr lang="en-GB" sz="1200" dirty="0" err="1"/>
              <a:t>réclamations</a:t>
            </a:r>
            <a:r>
              <a:rPr lang="en-GB" sz="1200" dirty="0"/>
              <a:t> clients</a:t>
            </a:r>
            <a:r>
              <a:rPr lang="en-GB" sz="1200" dirty="0" smtClean="0"/>
              <a:t>.?</a:t>
            </a:r>
            <a:endParaRPr lang="en-GB" sz="1200" dirty="0"/>
          </a:p>
        </p:txBody>
      </p:sp>
      <p:sp>
        <p:nvSpPr>
          <p:cNvPr id="69645" name="Text Box 25"/>
          <p:cNvSpPr txBox="1">
            <a:spLocks noChangeArrowheads="1"/>
          </p:cNvSpPr>
          <p:nvPr/>
        </p:nvSpPr>
        <p:spPr bwMode="auto">
          <a:xfrm>
            <a:off x="76200" y="4389438"/>
            <a:ext cx="87280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Clr>
                <a:srgbClr val="800000"/>
              </a:buClr>
              <a:buSzPct val="110000"/>
            </a:pPr>
            <a:r>
              <a:rPr lang="en-GB" sz="1600" b="1" dirty="0" err="1"/>
              <a:t>Délais</a:t>
            </a:r>
            <a:r>
              <a:rPr lang="en-GB" sz="1600" b="1" dirty="0"/>
              <a:t>  :</a:t>
            </a:r>
          </a:p>
        </p:txBody>
      </p:sp>
      <p:sp>
        <p:nvSpPr>
          <p:cNvPr id="69646" name="Text Box 26"/>
          <p:cNvSpPr txBox="1">
            <a:spLocks noChangeArrowheads="1"/>
          </p:cNvSpPr>
          <p:nvPr/>
        </p:nvSpPr>
        <p:spPr bwMode="auto">
          <a:xfrm>
            <a:off x="381000" y="4818063"/>
            <a:ext cx="8610600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90500" indent="-190500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GB" sz="1600"/>
              <a:t>Diminution des retards de livraison.</a:t>
            </a:r>
          </a:p>
        </p:txBody>
      </p:sp>
      <p:sp>
        <p:nvSpPr>
          <p:cNvPr id="69647" name="Text Box 27"/>
          <p:cNvSpPr txBox="1">
            <a:spLocks noChangeArrowheads="1"/>
          </p:cNvSpPr>
          <p:nvPr/>
        </p:nvSpPr>
        <p:spPr bwMode="auto">
          <a:xfrm>
            <a:off x="76200" y="5303838"/>
            <a:ext cx="87280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Clr>
                <a:srgbClr val="800000"/>
              </a:buClr>
              <a:buSzPct val="110000"/>
            </a:pPr>
            <a:r>
              <a:rPr lang="en-GB" sz="1600" b="1" dirty="0" err="1"/>
              <a:t>Sécurité</a:t>
            </a:r>
            <a:r>
              <a:rPr lang="en-GB" sz="1600" b="1" dirty="0"/>
              <a:t>  :</a:t>
            </a:r>
          </a:p>
        </p:txBody>
      </p:sp>
      <p:sp>
        <p:nvSpPr>
          <p:cNvPr id="69648" name="Text Box 28"/>
          <p:cNvSpPr txBox="1">
            <a:spLocks noChangeArrowheads="1"/>
          </p:cNvSpPr>
          <p:nvPr/>
        </p:nvSpPr>
        <p:spPr bwMode="auto">
          <a:xfrm>
            <a:off x="381000" y="5732463"/>
            <a:ext cx="8610600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90500" indent="-190500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GB" sz="1600"/>
              <a:t>Diminution du taux de fréquence et de gravité des accidents.</a:t>
            </a:r>
          </a:p>
        </p:txBody>
      </p:sp>
      <p:sp>
        <p:nvSpPr>
          <p:cNvPr id="69649" name="Text Box 29"/>
          <p:cNvSpPr txBox="1">
            <a:spLocks noChangeArrowheads="1"/>
          </p:cNvSpPr>
          <p:nvPr/>
        </p:nvSpPr>
        <p:spPr bwMode="auto">
          <a:xfrm>
            <a:off x="7239000" y="6521450"/>
            <a:ext cx="990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sz="1600"/>
              <a:t>…/...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70779-4703-4E81-9BB1-B45E77DD090C}" type="slidenum">
              <a:rPr lang="fr-FR"/>
              <a:pPr>
                <a:defRPr/>
              </a:pPr>
              <a:t>13</a:t>
            </a:fld>
            <a:endParaRPr lang="fr-FR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229600" cy="4276725"/>
          </a:xfrm>
        </p:spPr>
        <p:txBody>
          <a:bodyPr anchor="ctr"/>
          <a:lstStyle/>
          <a:p>
            <a:pPr algn="ctr" eaLnBrk="1" hangingPunct="1">
              <a:lnSpc>
                <a:spcPct val="200000"/>
              </a:lnSpc>
              <a:buFontTx/>
              <a:buNone/>
            </a:pPr>
            <a:r>
              <a:rPr lang="fr-FR" b="1" smtClean="0"/>
              <a:t>LES OBJECTIFS SONT DICTES </a:t>
            </a:r>
          </a:p>
          <a:p>
            <a:pPr algn="ctr" eaLnBrk="1" hangingPunct="1">
              <a:lnSpc>
                <a:spcPct val="200000"/>
              </a:lnSpc>
              <a:buFontTx/>
              <a:buNone/>
            </a:pPr>
            <a:r>
              <a:rPr lang="fr-FR" b="1" smtClean="0"/>
              <a:t>PAR  LA</a:t>
            </a:r>
          </a:p>
          <a:p>
            <a:pPr algn="ctr" eaLnBrk="1" hangingPunct="1">
              <a:lnSpc>
                <a:spcPct val="200000"/>
              </a:lnSpc>
              <a:buFontTx/>
              <a:buNone/>
            </a:pPr>
            <a:r>
              <a:rPr lang="fr-FR" b="1" smtClean="0"/>
              <a:t> SATISFACTION DES CLIENTS.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7EBC3C-8CE8-4718-993B-CF097C542DC8}" type="slidenum">
              <a:rPr lang="fr-FR"/>
              <a:pPr>
                <a:defRPr/>
              </a:pPr>
              <a:t>14</a:t>
            </a:fld>
            <a:endParaRPr lang="fr-F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2852738"/>
            <a:ext cx="7869238" cy="1152525"/>
          </a:xfrm>
        </p:spPr>
        <p:txBody>
          <a:bodyPr rtlCol="0">
            <a:normAutofit lnSpcReduction="10000"/>
          </a:bodyPr>
          <a:lstStyle/>
          <a:p>
            <a:pPr algn="ctr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fr-FR" sz="7200" b="1"/>
              <a:t>Les 5S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2"/>
          <p:cNvGraphicFramePr>
            <a:graphicFrameLocks noGrp="1"/>
          </p:cNvGraphicFramePr>
          <p:nvPr/>
        </p:nvGraphicFramePr>
        <p:xfrm>
          <a:off x="323850" y="1052513"/>
          <a:ext cx="8569325" cy="4980623"/>
        </p:xfrm>
        <a:graphic>
          <a:graphicData uri="http://schemas.openxmlformats.org/drawingml/2006/table">
            <a:tbl>
              <a:tblPr/>
              <a:tblGrid>
                <a:gridCol w="1503363"/>
                <a:gridCol w="7065962"/>
              </a:tblGrid>
              <a:tr h="574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Arial" charset="0"/>
                        </a:rPr>
                        <a:t>SEIRI</a:t>
                      </a:r>
                      <a:endParaRPr kumimoji="0" lang="fr-FR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Arial" charset="0"/>
                        </a:rPr>
                        <a:t>SÉPARER L’UTILE DE L’INUTILE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Arial" charset="0"/>
                        </a:rPr>
                        <a:t>SEITON		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Arial" charset="0"/>
                        </a:rPr>
                        <a:t>RANGER SELON L’UTILISATION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Arial" charset="0"/>
                        </a:rPr>
                        <a:t>SEISO	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Arial" charset="0"/>
                        </a:rPr>
                        <a:t>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Arial" charset="0"/>
                        </a:rPr>
                        <a:t>NETTOYAGE INITIAL . INSPECTION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Arial" charset="0"/>
                        </a:rPr>
                        <a:t>SEIKETSU	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Arial" charset="0"/>
                        </a:rPr>
                        <a:t>STANDARDISATION ,DÉFINITION DE RÈGLE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Arial" charset="0"/>
                        </a:rPr>
                        <a:t>(PLANNING, MODE OPÉRATOIRE…)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95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Arial" charset="0"/>
                        </a:rPr>
                        <a:t>SHITSUKE	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Arial" charset="0"/>
                        </a:rPr>
                        <a:t>DISCIPLINE D’APPLICATION DES RÈGLES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26436A-DE1D-4BF7-835E-FED8A7A09AAA}" type="slidenum">
              <a:rPr lang="fr-FR"/>
              <a:pPr>
                <a:defRPr/>
              </a:pPr>
              <a:t>15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8313" y="1196975"/>
            <a:ext cx="8281987" cy="4895850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fr-FR" sz="2800" b="1"/>
              <a:t>L’ AMÉLIORATION CONTINUE</a:t>
            </a:r>
            <a:r>
              <a:rPr lang="fr-FR" sz="2800"/>
              <a:t>   ? 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fr-FR" sz="280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fr-FR" sz="2400">
                <a:solidFill>
                  <a:schemeClr val="folHlink"/>
                </a:solidFill>
              </a:rPr>
              <a:t>TENDRE CONTINUELLEMENT VERS LA PERFECTION</a:t>
            </a:r>
            <a:r>
              <a:rPr lang="fr-FR" sz="2800">
                <a:solidFill>
                  <a:schemeClr val="folHlink"/>
                </a:solidFill>
              </a:rPr>
              <a:t> !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fr-FR" sz="2800">
              <a:solidFill>
                <a:srgbClr val="CC3966"/>
              </a:solidFill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fr-FR" sz="2800"/>
              <a:t>CHANGER LE FAÇON DONT NOUS   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fr-FR" sz="2800"/>
              <a:t> VIVONS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fr-FR" sz="2800"/>
              <a:t>PENSONS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fr-FR" sz="2800"/>
              <a:t>TRAVAILLONS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fr-FR" sz="280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fr-FR" sz="2800"/>
              <a:t>A TOUS LES NIVEAUX.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A69902-E20A-45F1-A115-162A5DE13845}" type="slidenum">
              <a:rPr lang="fr-FR"/>
              <a:pPr>
                <a:defRPr/>
              </a:pPr>
              <a:t>16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2126</TotalTime>
  <Words>717</Words>
  <Application>Microsoft Office PowerPoint</Application>
  <PresentationFormat>Affichage à l'écran (4:3)</PresentationFormat>
  <Paragraphs>137</Paragraphs>
  <Slides>16</Slides>
  <Notes>16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Thème Office</vt:lpstr>
      <vt:lpstr>TPM  Journée d’études URBH 2011  06 octobre 2011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TOSHIBA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Tevi  Lawson</dc:creator>
  <cp:lastModifiedBy>Tevi Lawson</cp:lastModifiedBy>
  <cp:revision>29</cp:revision>
  <dcterms:created xsi:type="dcterms:W3CDTF">2010-06-07T07:36:55Z</dcterms:created>
  <dcterms:modified xsi:type="dcterms:W3CDTF">2011-10-06T10:27:37Z</dcterms:modified>
</cp:coreProperties>
</file>