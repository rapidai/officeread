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52" autoAdjust="0"/>
  </p:normalViewPr>
  <p:slideViewPr>
    <p:cSldViewPr snapToGrid="0" snapToObjects="1">
      <p:cViewPr varScale="1">
        <p:scale>
          <a:sx n="41" d="100"/>
          <a:sy n="41" d="100"/>
        </p:scale>
        <p:origin x="-3024"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interSettings" Target="printerSettings/printerSettings1.bin"/><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C531C29-8632-4F4E-919A-A031D925265D}" type="datetimeFigureOut">
              <a:rPr lang="en-US" smtClean="0"/>
              <a:t>17/04/12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DC41DFD-9536-E44B-A59A-C6293B9C8C8C}" type="slidenum">
              <a:rPr lang="en-US" smtClean="0"/>
              <a:t>‹#›</a:t>
            </a:fld>
            <a:endParaRPr lang="en-US"/>
          </a:p>
        </p:txBody>
      </p:sp>
    </p:spTree>
    <p:extLst>
      <p:ext uri="{BB962C8B-B14F-4D97-AF65-F5344CB8AC3E}">
        <p14:creationId xmlns:p14="http://schemas.microsoft.com/office/powerpoint/2010/main" val="424095386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We</a:t>
            </a:r>
            <a:r>
              <a:rPr lang="en-US" baseline="0" dirty="0" smtClean="0"/>
              <a:t> can work with </a:t>
            </a:r>
            <a:r>
              <a:rPr lang="en-US" baseline="0" dirty="0" err="1" smtClean="0"/>
              <a:t>iOS</a:t>
            </a:r>
            <a:r>
              <a:rPr lang="en-US" baseline="0" dirty="0" smtClean="0"/>
              <a:t> </a:t>
            </a:r>
            <a:r>
              <a:rPr lang="en-US" baseline="0" smtClean="0"/>
              <a:t>SDK 5.1 </a:t>
            </a:r>
            <a:r>
              <a:rPr lang="en-US" baseline="0" dirty="0" smtClean="0"/>
              <a:t>but will not </a:t>
            </a:r>
            <a:r>
              <a:rPr lang="en-US" baseline="0" dirty="0" err="1" smtClean="0"/>
              <a:t>utilise</a:t>
            </a:r>
            <a:r>
              <a:rPr lang="en-US" baseline="0" dirty="0" smtClean="0"/>
              <a:t> any of it’s new features.  You must have </a:t>
            </a:r>
            <a:r>
              <a:rPr lang="en-US" baseline="0" dirty="0" err="1" smtClean="0"/>
              <a:t>iOS</a:t>
            </a:r>
            <a:r>
              <a:rPr lang="en-US" baseline="0" dirty="0" smtClean="0"/>
              <a:t> SDK 4.2 or 4.3 still installed.</a:t>
            </a:r>
            <a:endParaRPr lang="en-US" dirty="0"/>
          </a:p>
        </p:txBody>
      </p:sp>
      <p:sp>
        <p:nvSpPr>
          <p:cNvPr id="4" name="Slide Number Placeholder 3"/>
          <p:cNvSpPr>
            <a:spLocks noGrp="1"/>
          </p:cNvSpPr>
          <p:nvPr>
            <p:ph type="sldNum" sz="quarter" idx="10"/>
          </p:nvPr>
        </p:nvSpPr>
        <p:spPr/>
        <p:txBody>
          <a:bodyPr/>
          <a:lstStyle/>
          <a:p>
            <a:fld id="{7DC41DFD-9536-E44B-A59A-C6293B9C8C8C}" type="slidenum">
              <a:rPr lang="en-US" smtClean="0"/>
              <a:t>3</a:t>
            </a:fld>
            <a:endParaRPr lang="en-US"/>
          </a:p>
        </p:txBody>
      </p:sp>
    </p:spTree>
    <p:extLst>
      <p:ext uri="{BB962C8B-B14F-4D97-AF65-F5344CB8AC3E}">
        <p14:creationId xmlns:p14="http://schemas.microsoft.com/office/powerpoint/2010/main" val="1519429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sandbox</a:t>
            </a:r>
            <a:r>
              <a:rPr lang="en-US" baseline="0" dirty="0" smtClean="0"/>
              <a:t> deployment of Apps isolates the App from the underlying OS but you can still interact with the file system of the sand box</a:t>
            </a:r>
          </a:p>
          <a:p>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.app</a:t>
            </a:r>
            <a:r>
              <a:rPr lang="en-US" sz="1200" kern="1200" baseline="0" dirty="0" smtClean="0">
                <a:solidFill>
                  <a:schemeClr val="tx1"/>
                </a:solidFill>
                <a:latin typeface="+mn-lt"/>
                <a:ea typeface="+mn-ea"/>
                <a:cs typeface="+mn-cs"/>
              </a:rPr>
              <a:t> bundle: </a:t>
            </a:r>
            <a:r>
              <a:rPr lang="en-US" sz="1200" kern="1200" dirty="0" smtClean="0">
                <a:solidFill>
                  <a:schemeClr val="tx1"/>
                </a:solidFill>
                <a:latin typeface="+mn-lt"/>
                <a:ea typeface="+mn-ea"/>
                <a:cs typeface="+mn-cs"/>
              </a:rPr>
              <a:t>This is the bundle directory containing the app itself. Do not write anything to this directory. To prevent tampering, the bundle directory is signed at installation time. Writing to this directory changes the signature and prevents your app from launching again.	</a:t>
            </a:r>
          </a:p>
          <a:p>
            <a:r>
              <a:rPr lang="en-US" dirty="0" smtClean="0"/>
              <a:t>Documents: </a:t>
            </a:r>
            <a:r>
              <a:rPr lang="en-US" sz="1200" kern="1200" dirty="0" smtClean="0">
                <a:solidFill>
                  <a:schemeClr val="tx1"/>
                </a:solidFill>
                <a:latin typeface="+mn-lt"/>
                <a:ea typeface="+mn-ea"/>
                <a:cs typeface="+mn-cs"/>
              </a:rPr>
              <a:t>Use this directory to store critical user documents and app data files. Critical data is any data that cannot be recreated by your app, such as user-generated content.</a:t>
            </a:r>
          </a:p>
          <a:p>
            <a:r>
              <a:rPr lang="en-US" sz="1200" kern="1200" dirty="0" smtClean="0">
                <a:solidFill>
                  <a:schemeClr val="tx1"/>
                </a:solidFill>
                <a:latin typeface="+mn-lt"/>
                <a:ea typeface="+mn-ea"/>
                <a:cs typeface="+mn-cs"/>
              </a:rPr>
              <a:t>Library: </a:t>
            </a:r>
            <a:r>
              <a:rPr lang="en-US" dirty="0" smtClean="0"/>
              <a:t> Storage of app </a:t>
            </a:r>
            <a:r>
              <a:rPr lang="en-US" dirty="0" err="1" smtClean="0"/>
              <a:t>specfic</a:t>
            </a:r>
            <a:r>
              <a:rPr lang="en-US" baseline="0" dirty="0" smtClean="0"/>
              <a:t> files such as data files.</a:t>
            </a:r>
            <a:endParaRPr lang="en-US" dirty="0" smtClean="0"/>
          </a:p>
          <a:p>
            <a:r>
              <a:rPr lang="en-US" dirty="0" err="1" smtClean="0"/>
              <a:t>tmp</a:t>
            </a:r>
            <a:r>
              <a:rPr lang="en-US" dirty="0" smtClean="0"/>
              <a:t>: </a:t>
            </a:r>
            <a:r>
              <a:rPr lang="en-US" sz="1200" kern="1200" dirty="0" smtClean="0">
                <a:solidFill>
                  <a:schemeClr val="tx1"/>
                </a:solidFill>
                <a:latin typeface="+mn-lt"/>
                <a:ea typeface="+mn-ea"/>
                <a:cs typeface="+mn-cs"/>
              </a:rPr>
              <a:t>Use this directory to write temporary files that do not need to persist between launches of your app</a:t>
            </a:r>
            <a:endParaRPr lang="en-US" dirty="0"/>
          </a:p>
        </p:txBody>
      </p:sp>
      <p:sp>
        <p:nvSpPr>
          <p:cNvPr id="4" name="Slide Number Placeholder 3"/>
          <p:cNvSpPr>
            <a:spLocks noGrp="1"/>
          </p:cNvSpPr>
          <p:nvPr>
            <p:ph type="sldNum" sz="quarter" idx="10"/>
          </p:nvPr>
        </p:nvSpPr>
        <p:spPr/>
        <p:txBody>
          <a:bodyPr/>
          <a:lstStyle/>
          <a:p>
            <a:fld id="{7DC41DFD-9536-E44B-A59A-C6293B9C8C8C}" type="slidenum">
              <a:rPr lang="en-US" smtClean="0"/>
              <a:t>5</a:t>
            </a:fld>
            <a:endParaRPr lang="en-US"/>
          </a:p>
        </p:txBody>
      </p:sp>
    </p:spTree>
    <p:extLst>
      <p:ext uri="{BB962C8B-B14F-4D97-AF65-F5344CB8AC3E}">
        <p14:creationId xmlns:p14="http://schemas.microsoft.com/office/powerpoint/2010/main" val="1350720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Develop</a:t>
            </a:r>
            <a:r>
              <a:rPr lang="en-US" baseline="0" dirty="0" smtClean="0"/>
              <a:t>er Program: Build and deploy apps via the </a:t>
            </a:r>
            <a:r>
              <a:rPr lang="en-US" baseline="0" dirty="0" err="1" smtClean="0"/>
              <a:t>AppStore</a:t>
            </a:r>
            <a:endParaRPr lang="en-US" baseline="0" dirty="0" smtClean="0"/>
          </a:p>
          <a:p>
            <a:r>
              <a:rPr lang="en-US" baseline="0" dirty="0" smtClean="0"/>
              <a:t>Developer Enterprise: Build and deploy apps on an internal </a:t>
            </a:r>
            <a:r>
              <a:rPr lang="en-US" baseline="0" dirty="0" err="1" smtClean="0"/>
              <a:t>appstore</a:t>
            </a:r>
            <a:r>
              <a:rPr lang="en-US" baseline="0" dirty="0" smtClean="0"/>
              <a:t> within a corporation</a:t>
            </a:r>
          </a:p>
          <a:p>
            <a:r>
              <a:rPr lang="en-US" baseline="0" dirty="0" smtClean="0"/>
              <a:t>Developer University: Introducing </a:t>
            </a:r>
            <a:r>
              <a:rPr lang="en-US" baseline="0" dirty="0" err="1" smtClean="0"/>
              <a:t>iOS</a:t>
            </a:r>
            <a:r>
              <a:rPr lang="en-US" baseline="0" dirty="0" smtClean="0"/>
              <a:t> development to a university</a:t>
            </a:r>
            <a:endParaRPr lang="en-US" dirty="0"/>
          </a:p>
        </p:txBody>
      </p:sp>
      <p:sp>
        <p:nvSpPr>
          <p:cNvPr id="4" name="Slide Number Placeholder 3"/>
          <p:cNvSpPr>
            <a:spLocks noGrp="1"/>
          </p:cNvSpPr>
          <p:nvPr>
            <p:ph type="sldNum" sz="quarter" idx="10"/>
          </p:nvPr>
        </p:nvSpPr>
        <p:spPr/>
        <p:txBody>
          <a:bodyPr/>
          <a:lstStyle/>
          <a:p>
            <a:fld id="{7DC41DFD-9536-E44B-A59A-C6293B9C8C8C}" type="slidenum">
              <a:rPr lang="en-US" smtClean="0"/>
              <a:t>9</a:t>
            </a:fld>
            <a:endParaRPr lang="en-US"/>
          </a:p>
        </p:txBody>
      </p:sp>
    </p:spTree>
    <p:extLst>
      <p:ext uri="{BB962C8B-B14F-4D97-AF65-F5344CB8AC3E}">
        <p14:creationId xmlns:p14="http://schemas.microsoft.com/office/powerpoint/2010/main" val="4203136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AU"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smtClean="0"/>
              <a:t>Click to edit Master subtitle style</a:t>
            </a:r>
            <a:endParaRPr lang="en-US"/>
          </a:p>
        </p:txBody>
      </p:sp>
      <p:sp>
        <p:nvSpPr>
          <p:cNvPr id="4" name="Date Placeholder 3"/>
          <p:cNvSpPr>
            <a:spLocks noGrp="1"/>
          </p:cNvSpPr>
          <p:nvPr>
            <p:ph type="dt" sz="half" idx="10"/>
          </p:nvPr>
        </p:nvSpPr>
        <p:spPr/>
        <p:txBody>
          <a:bodyPr/>
          <a:lstStyle/>
          <a:p>
            <a:fld id="{75FCF0F3-7C4C-1048-8751-DDABA2DF5CDC}" type="datetimeFigureOut">
              <a:rPr lang="en-US" smtClean="0"/>
              <a:t>17/04/12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2694756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75FCF0F3-7C4C-1048-8751-DDABA2DF5CDC}" type="datetimeFigureOut">
              <a:rPr lang="en-US" smtClean="0"/>
              <a:t>17/04/12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3549226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smtClean="0"/>
              <a:t>Click to edit Master text styles</a:t>
            </a:r>
          </a:p>
        </p:txBody>
      </p:sp>
      <p:sp>
        <p:nvSpPr>
          <p:cNvPr id="4" name="Date Placeholder 3"/>
          <p:cNvSpPr>
            <a:spLocks noGrp="1"/>
          </p:cNvSpPr>
          <p:nvPr>
            <p:ph type="dt" sz="half" idx="10"/>
          </p:nvPr>
        </p:nvSpPr>
        <p:spPr/>
        <p:txBody>
          <a:bodyPr/>
          <a:lstStyle/>
          <a:p>
            <a:fld id="{75FCF0F3-7C4C-1048-8751-DDABA2DF5CDC}" type="datetimeFigureOut">
              <a:rPr lang="en-US" smtClean="0"/>
              <a:t>17/04/12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2040625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Date Placeholder 4"/>
          <p:cNvSpPr>
            <a:spLocks noGrp="1"/>
          </p:cNvSpPr>
          <p:nvPr>
            <p:ph type="dt" sz="half" idx="10"/>
          </p:nvPr>
        </p:nvSpPr>
        <p:spPr/>
        <p:txBody>
          <a:bodyPr/>
          <a:lstStyle/>
          <a:p>
            <a:fld id="{75FCF0F3-7C4C-1048-8751-DDABA2DF5CDC}" type="datetimeFigureOut">
              <a:rPr lang="en-US" smtClean="0"/>
              <a:t>17/04/12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3715863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Date Placeholder 6"/>
          <p:cNvSpPr>
            <a:spLocks noGrp="1"/>
          </p:cNvSpPr>
          <p:nvPr>
            <p:ph type="dt" sz="half" idx="10"/>
          </p:nvPr>
        </p:nvSpPr>
        <p:spPr/>
        <p:txBody>
          <a:bodyPr/>
          <a:lstStyle/>
          <a:p>
            <a:fld id="{75FCF0F3-7C4C-1048-8751-DDABA2DF5CDC}" type="datetimeFigureOut">
              <a:rPr lang="en-US" smtClean="0"/>
              <a:t>17/04/12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59543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Date Placeholder 2"/>
          <p:cNvSpPr>
            <a:spLocks noGrp="1"/>
          </p:cNvSpPr>
          <p:nvPr>
            <p:ph type="dt" sz="half" idx="10"/>
          </p:nvPr>
        </p:nvSpPr>
        <p:spPr/>
        <p:txBody>
          <a:bodyPr/>
          <a:lstStyle/>
          <a:p>
            <a:fld id="{75FCF0F3-7C4C-1048-8751-DDABA2DF5CDC}" type="datetimeFigureOut">
              <a:rPr lang="en-US" smtClean="0"/>
              <a:t>17/04/12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1357851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CF0F3-7C4C-1048-8751-DDABA2DF5CDC}" type="datetimeFigureOut">
              <a:rPr lang="en-US" smtClean="0"/>
              <a:t>17/04/12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2713246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75FCF0F3-7C4C-1048-8751-DDABA2DF5CDC}" type="datetimeFigureOut">
              <a:rPr lang="en-US" smtClean="0"/>
              <a:t>17/04/12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161451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Date Placeholder 4"/>
          <p:cNvSpPr>
            <a:spLocks noGrp="1"/>
          </p:cNvSpPr>
          <p:nvPr>
            <p:ph type="dt" sz="half" idx="10"/>
          </p:nvPr>
        </p:nvSpPr>
        <p:spPr/>
        <p:txBody>
          <a:bodyPr/>
          <a:lstStyle/>
          <a:p>
            <a:fld id="{75FCF0F3-7C4C-1048-8751-DDABA2DF5CDC}" type="datetimeFigureOut">
              <a:rPr lang="en-US" smtClean="0"/>
              <a:t>17/04/12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1104106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75FCF0F3-7C4C-1048-8751-DDABA2DF5CDC}" type="datetimeFigureOut">
              <a:rPr lang="en-US" smtClean="0"/>
              <a:t>17/04/12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2958486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10"/>
          </p:nvPr>
        </p:nvSpPr>
        <p:spPr/>
        <p:txBody>
          <a:bodyPr/>
          <a:lstStyle/>
          <a:p>
            <a:fld id="{75FCF0F3-7C4C-1048-8751-DDABA2DF5CDC}" type="datetimeFigureOut">
              <a:rPr lang="en-US" smtClean="0"/>
              <a:t>17/04/12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4C5AA5-D4F4-6548-968A-27913BF9B7B7}" type="slidenum">
              <a:rPr lang="en-US" smtClean="0"/>
              <a:t>‹#›</a:t>
            </a:fld>
            <a:endParaRPr lang="en-US"/>
          </a:p>
        </p:txBody>
      </p:sp>
    </p:spTree>
    <p:extLst>
      <p:ext uri="{BB962C8B-B14F-4D97-AF65-F5344CB8AC3E}">
        <p14:creationId xmlns:p14="http://schemas.microsoft.com/office/powerpoint/2010/main" val="249944756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AU"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CF0F3-7C4C-1048-8751-DDABA2DF5CDC}" type="datetimeFigureOut">
              <a:rPr lang="en-US" smtClean="0"/>
              <a:t>17/04/12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4C5AA5-D4F4-6548-968A-27913BF9B7B7}" type="slidenum">
              <a:rPr lang="en-US" smtClean="0"/>
              <a:t>‹#›</a:t>
            </a:fld>
            <a:endParaRPr lang="en-US"/>
          </a:p>
        </p:txBody>
      </p:sp>
    </p:spTree>
    <p:extLst>
      <p:ext uri="{BB962C8B-B14F-4D97-AF65-F5344CB8AC3E}">
        <p14:creationId xmlns:p14="http://schemas.microsoft.com/office/powerpoint/2010/main" val="2438440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docwiki.embarcadero.com/RADStudio/XE2/en/Components_Not_Used_in_iOS_App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developer.apple.com/programs/start/io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tindex.net/iOSCompiler.html" TargetMode="External"/><Relationship Id="rId4" Type="http://schemas.openxmlformats.org/officeDocument/2006/relationships/hyperlink" Target="http://wiert.wordpress.com/2011/12/20/delphi-xe2-and-ios-things-you-should-not-do/" TargetMode="External"/><Relationship Id="rId5" Type="http://schemas.openxmlformats.org/officeDocument/2006/relationships/hyperlink" Target="http://developer.apple.com" TargetMode="External"/><Relationship Id="rId6" Type="http://schemas.openxmlformats.org/officeDocument/2006/relationships/hyperlink" Target="http://edn.embarcadero.com" TargetMode="External"/><Relationship Id="rId1" Type="http://schemas.openxmlformats.org/officeDocument/2006/relationships/slideLayout" Target="../slideLayouts/slideLayout2.xml"/><Relationship Id="rId2" Type="http://schemas.openxmlformats.org/officeDocument/2006/relationships/hyperlink" Target="http://blogs.embarcadero.com/a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short road to </a:t>
            </a:r>
            <a:r>
              <a:rPr lang="en-US" dirty="0" err="1" smtClean="0"/>
              <a:t>iOS</a:t>
            </a:r>
            <a:r>
              <a:rPr lang="en-US" dirty="0" smtClean="0"/>
              <a:t> development</a:t>
            </a:r>
            <a:endParaRPr lang="en-US" dirty="0"/>
          </a:p>
        </p:txBody>
      </p:sp>
      <p:sp>
        <p:nvSpPr>
          <p:cNvPr id="3" name="Subtitle 2"/>
          <p:cNvSpPr>
            <a:spLocks noGrp="1"/>
          </p:cNvSpPr>
          <p:nvPr>
            <p:ph type="subTitle" idx="1"/>
          </p:nvPr>
        </p:nvSpPr>
        <p:spPr/>
        <p:txBody>
          <a:bodyPr/>
          <a:lstStyle/>
          <a:p>
            <a:r>
              <a:rPr lang="en-US" dirty="0" smtClean="0"/>
              <a:t>Delphi for </a:t>
            </a:r>
            <a:r>
              <a:rPr lang="en-US" dirty="0" err="1" smtClean="0"/>
              <a:t>iOS</a:t>
            </a:r>
            <a:endParaRPr lang="en-US" dirty="0"/>
          </a:p>
        </p:txBody>
      </p:sp>
    </p:spTree>
    <p:extLst>
      <p:ext uri="{BB962C8B-B14F-4D97-AF65-F5344CB8AC3E}">
        <p14:creationId xmlns:p14="http://schemas.microsoft.com/office/powerpoint/2010/main" val="3462793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Stop 1: Configure your environment</a:t>
            </a:r>
          </a:p>
          <a:p>
            <a:r>
              <a:rPr lang="en-US" dirty="0" smtClean="0"/>
              <a:t>Stop 2: FMX Components</a:t>
            </a:r>
          </a:p>
          <a:p>
            <a:r>
              <a:rPr lang="en-US" dirty="0" smtClean="0"/>
              <a:t>Stop 3: File I/O</a:t>
            </a:r>
          </a:p>
          <a:p>
            <a:r>
              <a:rPr lang="en-US" dirty="0" smtClean="0"/>
              <a:t>Stop 4: Local DB development</a:t>
            </a:r>
          </a:p>
          <a:p>
            <a:r>
              <a:rPr lang="en-US" dirty="0" smtClean="0"/>
              <a:t>Stop 5: Remote DB development </a:t>
            </a:r>
          </a:p>
          <a:p>
            <a:r>
              <a:rPr lang="en-US" dirty="0" smtClean="0"/>
              <a:t>Stop 6: Access to Cocoa</a:t>
            </a:r>
          </a:p>
          <a:p>
            <a:r>
              <a:rPr lang="en-US" dirty="0" smtClean="0"/>
              <a:t>Stop 7: Apple Developer Account Overview</a:t>
            </a:r>
            <a:endParaRPr lang="en-US" dirty="0"/>
          </a:p>
        </p:txBody>
      </p:sp>
    </p:spTree>
    <p:extLst>
      <p:ext uri="{BB962C8B-B14F-4D97-AF65-F5344CB8AC3E}">
        <p14:creationId xmlns:p14="http://schemas.microsoft.com/office/powerpoint/2010/main" val="222513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1: Configuration</a:t>
            </a:r>
            <a:endParaRPr lang="en-US" dirty="0"/>
          </a:p>
        </p:txBody>
      </p:sp>
      <p:sp>
        <p:nvSpPr>
          <p:cNvPr id="3" name="Content Placeholder 2"/>
          <p:cNvSpPr>
            <a:spLocks noGrp="1"/>
          </p:cNvSpPr>
          <p:nvPr>
            <p:ph idx="1"/>
          </p:nvPr>
        </p:nvSpPr>
        <p:spPr/>
        <p:txBody>
          <a:bodyPr/>
          <a:lstStyle/>
          <a:p>
            <a:r>
              <a:rPr lang="en-US" dirty="0" smtClean="0"/>
              <a:t>Windows: </a:t>
            </a:r>
          </a:p>
          <a:p>
            <a:pPr lvl="1"/>
            <a:r>
              <a:rPr lang="en-US" dirty="0" smtClean="0"/>
              <a:t>XE2 </a:t>
            </a:r>
            <a:r>
              <a:rPr lang="en-US" dirty="0" smtClean="0">
                <a:sym typeface="Wingdings"/>
              </a:rPr>
              <a:t></a:t>
            </a:r>
          </a:p>
          <a:p>
            <a:pPr lvl="1"/>
            <a:r>
              <a:rPr lang="en-US" dirty="0">
                <a:sym typeface="Wingdings"/>
              </a:rPr>
              <a:t>d</a:t>
            </a:r>
            <a:r>
              <a:rPr lang="en-US" dirty="0" smtClean="0">
                <a:sym typeface="Wingdings"/>
              </a:rPr>
              <a:t>pr2xcode.exe</a:t>
            </a:r>
          </a:p>
          <a:p>
            <a:r>
              <a:rPr lang="en-US" dirty="0" smtClean="0">
                <a:sym typeface="Wingdings"/>
              </a:rPr>
              <a:t>OSX: </a:t>
            </a:r>
          </a:p>
          <a:p>
            <a:pPr lvl="1"/>
            <a:r>
              <a:rPr lang="en-US" dirty="0" err="1" smtClean="0">
                <a:sym typeface="Wingdings"/>
              </a:rPr>
              <a:t>Xcode</a:t>
            </a:r>
            <a:r>
              <a:rPr lang="en-US" dirty="0" smtClean="0">
                <a:sym typeface="Wingdings"/>
              </a:rPr>
              <a:t> (3.2.5, 3.2.6 or 4.0.2)</a:t>
            </a:r>
          </a:p>
          <a:p>
            <a:pPr lvl="1"/>
            <a:r>
              <a:rPr lang="en-US" dirty="0" err="1" smtClean="0">
                <a:sym typeface="Wingdings"/>
              </a:rPr>
              <a:t>iOS</a:t>
            </a:r>
            <a:r>
              <a:rPr lang="en-US" dirty="0" smtClean="0">
                <a:sym typeface="Wingdings"/>
              </a:rPr>
              <a:t> SDK (4.2, 4.3)</a:t>
            </a:r>
          </a:p>
          <a:p>
            <a:pPr lvl="1"/>
            <a:r>
              <a:rPr lang="en-US" dirty="0" err="1" smtClean="0"/>
              <a:t>FireMonkey-iOS.dmg</a:t>
            </a:r>
            <a:r>
              <a:rPr lang="en-US" dirty="0" smtClean="0"/>
              <a:t> (FMX libraries &amp; FPC)</a:t>
            </a:r>
          </a:p>
          <a:p>
            <a:pPr lvl="1"/>
            <a:r>
              <a:rPr lang="en-US" dirty="0" smtClean="0"/>
              <a:t>Consult </a:t>
            </a:r>
            <a:r>
              <a:rPr lang="en-US" dirty="0" err="1" smtClean="0"/>
              <a:t>Install.htm</a:t>
            </a:r>
            <a:r>
              <a:rPr lang="en-US" dirty="0" smtClean="0"/>
              <a:t> for specific details</a:t>
            </a:r>
            <a:endParaRPr lang="en-US" dirty="0"/>
          </a:p>
        </p:txBody>
      </p:sp>
    </p:spTree>
    <p:extLst>
      <p:ext uri="{BB962C8B-B14F-4D97-AF65-F5344CB8AC3E}">
        <p14:creationId xmlns:p14="http://schemas.microsoft.com/office/powerpoint/2010/main" val="2628715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2: FMX Components</a:t>
            </a:r>
            <a:endParaRPr lang="en-US" dirty="0"/>
          </a:p>
        </p:txBody>
      </p:sp>
      <p:sp>
        <p:nvSpPr>
          <p:cNvPr id="3" name="Content Placeholder 2"/>
          <p:cNvSpPr>
            <a:spLocks noGrp="1"/>
          </p:cNvSpPr>
          <p:nvPr>
            <p:ph idx="1"/>
          </p:nvPr>
        </p:nvSpPr>
        <p:spPr/>
        <p:txBody>
          <a:bodyPr/>
          <a:lstStyle/>
          <a:p>
            <a:r>
              <a:rPr lang="en-US" dirty="0" smtClean="0"/>
              <a:t>All Visual Components are available</a:t>
            </a:r>
          </a:p>
          <a:p>
            <a:r>
              <a:rPr lang="en-US" dirty="0" smtClean="0"/>
              <a:t>Animations &amp; 3D support available</a:t>
            </a:r>
          </a:p>
          <a:p>
            <a:r>
              <a:rPr lang="en-US" dirty="0" smtClean="0"/>
              <a:t>Some non visual components not available: </a:t>
            </a:r>
            <a:r>
              <a:rPr lang="en-US" dirty="0" smtClean="0">
                <a:hlinkClick r:id="rId2"/>
              </a:rPr>
              <a:t>http://docwiki.embarcadero.com/RADStudio/XE2/en/Components_Not_Used_in_iOS_Apps</a:t>
            </a:r>
            <a:endParaRPr lang="en-US" dirty="0" smtClean="0"/>
          </a:p>
          <a:p>
            <a:r>
              <a:rPr lang="en-US" dirty="0" err="1" smtClean="0"/>
              <a:t>iOS</a:t>
            </a:r>
            <a:r>
              <a:rPr lang="en-US" dirty="0" smtClean="0"/>
              <a:t> Style</a:t>
            </a:r>
          </a:p>
          <a:p>
            <a:pPr lvl="1"/>
            <a:endParaRPr lang="en-US" dirty="0"/>
          </a:p>
        </p:txBody>
      </p:sp>
    </p:spTree>
    <p:extLst>
      <p:ext uri="{BB962C8B-B14F-4D97-AF65-F5344CB8AC3E}">
        <p14:creationId xmlns:p14="http://schemas.microsoft.com/office/powerpoint/2010/main" val="2887465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3: File I/O</a:t>
            </a:r>
            <a:endParaRPr lang="en-US" dirty="0"/>
          </a:p>
        </p:txBody>
      </p:sp>
      <p:sp>
        <p:nvSpPr>
          <p:cNvPr id="3" name="Content Placeholder 2"/>
          <p:cNvSpPr>
            <a:spLocks noGrp="1"/>
          </p:cNvSpPr>
          <p:nvPr>
            <p:ph idx="1"/>
          </p:nvPr>
        </p:nvSpPr>
        <p:spPr/>
        <p:txBody>
          <a:bodyPr>
            <a:normAutofit lnSpcReduction="10000"/>
          </a:bodyPr>
          <a:lstStyle/>
          <a:p>
            <a:r>
              <a:rPr lang="en-US" dirty="0" err="1" smtClean="0"/>
              <a:t>iOS</a:t>
            </a:r>
            <a:r>
              <a:rPr lang="en-US" dirty="0" smtClean="0"/>
              <a:t> Apps are sandboxed</a:t>
            </a:r>
          </a:p>
          <a:p>
            <a:pPr lvl="1"/>
            <a:r>
              <a:rPr lang="en-US" dirty="0" smtClean="0"/>
              <a:t>Exceptions: accessing contacts or music</a:t>
            </a:r>
          </a:p>
          <a:p>
            <a:pPr lvl="1"/>
            <a:r>
              <a:rPr lang="en-US" dirty="0" smtClean="0"/>
              <a:t>Use cloud for sharing</a:t>
            </a:r>
          </a:p>
          <a:p>
            <a:r>
              <a:rPr lang="en-US" dirty="0" smtClean="0"/>
              <a:t>An ‘App’ folder is created</a:t>
            </a:r>
          </a:p>
          <a:p>
            <a:pPr lvl="1"/>
            <a:r>
              <a:rPr lang="en-US" dirty="0" smtClean="0"/>
              <a:t>.app bundle</a:t>
            </a:r>
          </a:p>
          <a:p>
            <a:pPr lvl="1"/>
            <a:r>
              <a:rPr lang="en-US" dirty="0" smtClean="0"/>
              <a:t>Documents</a:t>
            </a:r>
          </a:p>
          <a:p>
            <a:pPr lvl="1"/>
            <a:r>
              <a:rPr lang="en-US" dirty="0" smtClean="0"/>
              <a:t>Library</a:t>
            </a:r>
          </a:p>
          <a:p>
            <a:pPr lvl="1"/>
            <a:r>
              <a:rPr lang="en-US" dirty="0" err="1" smtClean="0"/>
              <a:t>Tmp</a:t>
            </a:r>
            <a:endParaRPr lang="en-US" dirty="0" smtClean="0"/>
          </a:p>
          <a:p>
            <a:r>
              <a:rPr lang="en-US" dirty="0" smtClean="0"/>
              <a:t>You can use </a:t>
            </a:r>
            <a:r>
              <a:rPr lang="en-US" dirty="0" err="1" smtClean="0"/>
              <a:t>SysUtils</a:t>
            </a:r>
            <a:r>
              <a:rPr lang="en-US" dirty="0" smtClean="0"/>
              <a:t> to access some of this…</a:t>
            </a:r>
          </a:p>
          <a:p>
            <a:endParaRPr lang="en-US" dirty="0"/>
          </a:p>
        </p:txBody>
      </p:sp>
    </p:spTree>
    <p:extLst>
      <p:ext uri="{BB962C8B-B14F-4D97-AF65-F5344CB8AC3E}">
        <p14:creationId xmlns:p14="http://schemas.microsoft.com/office/powerpoint/2010/main" val="495036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4: Local DB Development	</a:t>
            </a:r>
            <a:endParaRPr lang="en-US" dirty="0"/>
          </a:p>
        </p:txBody>
      </p:sp>
      <p:sp>
        <p:nvSpPr>
          <p:cNvPr id="3" name="Content Placeholder 2"/>
          <p:cNvSpPr>
            <a:spLocks noGrp="1"/>
          </p:cNvSpPr>
          <p:nvPr>
            <p:ph idx="1"/>
          </p:nvPr>
        </p:nvSpPr>
        <p:spPr/>
        <p:txBody>
          <a:bodyPr/>
          <a:lstStyle/>
          <a:p>
            <a:r>
              <a:rPr lang="en-US" dirty="0" smtClean="0"/>
              <a:t>Embeddable databases: SQLite, FileMaker, </a:t>
            </a:r>
          </a:p>
          <a:p>
            <a:r>
              <a:rPr lang="en-US" dirty="0" smtClean="0"/>
              <a:t>SQLite is already part of </a:t>
            </a:r>
            <a:r>
              <a:rPr lang="en-US" dirty="0" err="1" smtClean="0"/>
              <a:t>iOS</a:t>
            </a:r>
            <a:r>
              <a:rPr lang="en-US" smtClean="0"/>
              <a:t> </a:t>
            </a:r>
            <a:r>
              <a:rPr lang="en-US" smtClean="0"/>
              <a:t>SDK</a:t>
            </a:r>
            <a:endParaRPr lang="en-US" dirty="0" smtClean="0"/>
          </a:p>
          <a:p>
            <a:r>
              <a:rPr lang="en-US" dirty="0" smtClean="0"/>
              <a:t>Example</a:t>
            </a:r>
          </a:p>
        </p:txBody>
      </p:sp>
    </p:spTree>
    <p:extLst>
      <p:ext uri="{BB962C8B-B14F-4D97-AF65-F5344CB8AC3E}">
        <p14:creationId xmlns:p14="http://schemas.microsoft.com/office/powerpoint/2010/main" val="4244634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5: Remote DB Development</a:t>
            </a:r>
            <a:endParaRPr lang="en-US" dirty="0"/>
          </a:p>
        </p:txBody>
      </p:sp>
      <p:sp>
        <p:nvSpPr>
          <p:cNvPr id="3" name="Content Placeholder 2"/>
          <p:cNvSpPr>
            <a:spLocks noGrp="1"/>
          </p:cNvSpPr>
          <p:nvPr>
            <p:ph idx="1"/>
          </p:nvPr>
        </p:nvSpPr>
        <p:spPr/>
        <p:txBody>
          <a:bodyPr/>
          <a:lstStyle/>
          <a:p>
            <a:r>
              <a:rPr lang="en-US" dirty="0" smtClean="0"/>
              <a:t>Currently: </a:t>
            </a:r>
          </a:p>
          <a:p>
            <a:pPr lvl="1"/>
            <a:r>
              <a:rPr lang="en-US" dirty="0" smtClean="0"/>
              <a:t>No </a:t>
            </a:r>
            <a:r>
              <a:rPr lang="en-US" dirty="0" err="1" smtClean="0"/>
              <a:t>dbExpress</a:t>
            </a:r>
            <a:r>
              <a:rPr lang="en-US" dirty="0" smtClean="0"/>
              <a:t>…</a:t>
            </a:r>
          </a:p>
          <a:p>
            <a:pPr lvl="1"/>
            <a:r>
              <a:rPr lang="en-US" dirty="0" smtClean="0"/>
              <a:t>No </a:t>
            </a:r>
            <a:r>
              <a:rPr lang="en-US" dirty="0" err="1" smtClean="0"/>
              <a:t>IBExpress</a:t>
            </a:r>
            <a:r>
              <a:rPr lang="en-US" dirty="0" smtClean="0"/>
              <a:t>…</a:t>
            </a:r>
          </a:p>
          <a:p>
            <a:pPr lvl="1"/>
            <a:r>
              <a:rPr lang="en-US" dirty="0" smtClean="0"/>
              <a:t>No ODBC…</a:t>
            </a:r>
          </a:p>
          <a:p>
            <a:r>
              <a:rPr lang="en-US" dirty="0" smtClean="0"/>
              <a:t>How about </a:t>
            </a:r>
            <a:r>
              <a:rPr lang="en-US" dirty="0" err="1" smtClean="0"/>
              <a:t>DataSnap</a:t>
            </a:r>
            <a:r>
              <a:rPr lang="en-US" dirty="0" smtClean="0"/>
              <a:t>?</a:t>
            </a:r>
            <a:endParaRPr lang="en-US" dirty="0"/>
          </a:p>
        </p:txBody>
      </p:sp>
    </p:spTree>
    <p:extLst>
      <p:ext uri="{BB962C8B-B14F-4D97-AF65-F5344CB8AC3E}">
        <p14:creationId xmlns:p14="http://schemas.microsoft.com/office/powerpoint/2010/main" val="3656617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6: Access to Cocoa</a:t>
            </a:r>
            <a:endParaRPr lang="en-US" dirty="0"/>
          </a:p>
        </p:txBody>
      </p:sp>
      <p:sp>
        <p:nvSpPr>
          <p:cNvPr id="3" name="Content Placeholder 2"/>
          <p:cNvSpPr>
            <a:spLocks noGrp="1"/>
          </p:cNvSpPr>
          <p:nvPr>
            <p:ph idx="1"/>
          </p:nvPr>
        </p:nvSpPr>
        <p:spPr/>
        <p:txBody>
          <a:bodyPr/>
          <a:lstStyle/>
          <a:p>
            <a:r>
              <a:rPr lang="en-US" dirty="0" smtClean="0"/>
              <a:t>How do I access Compass, GPS, Contacts, etc…</a:t>
            </a:r>
          </a:p>
          <a:p>
            <a:r>
              <a:rPr lang="en-US" dirty="0" smtClean="0"/>
              <a:t>Enter… Cocoa:</a:t>
            </a:r>
          </a:p>
          <a:p>
            <a:pPr lvl="1"/>
            <a:r>
              <a:rPr lang="en-US" dirty="0" smtClean="0"/>
              <a:t>‘Native’ API for accessing OSX and </a:t>
            </a:r>
            <a:r>
              <a:rPr lang="en-US" dirty="0" err="1" smtClean="0"/>
              <a:t>iOS</a:t>
            </a:r>
            <a:endParaRPr lang="en-US" dirty="0" smtClean="0"/>
          </a:p>
          <a:p>
            <a:pPr lvl="1"/>
            <a:r>
              <a:rPr lang="en-US" dirty="0" smtClean="0"/>
              <a:t>High proportion of headers have been parsed to </a:t>
            </a:r>
            <a:r>
              <a:rPr lang="en-US" dirty="0" err="1" smtClean="0"/>
              <a:t>pascal</a:t>
            </a:r>
            <a:r>
              <a:rPr lang="en-US" dirty="0" smtClean="0"/>
              <a:t>:</a:t>
            </a:r>
          </a:p>
          <a:p>
            <a:r>
              <a:rPr lang="en-US" dirty="0" smtClean="0"/>
              <a:t>/</a:t>
            </a:r>
            <a:r>
              <a:rPr lang="en-US" dirty="0" err="1" smtClean="0"/>
              <a:t>fpc</a:t>
            </a:r>
            <a:r>
              <a:rPr lang="en-US" dirty="0" smtClean="0"/>
              <a:t>/packages/</a:t>
            </a:r>
            <a:r>
              <a:rPr lang="en-US" dirty="0" err="1" smtClean="0"/>
              <a:t>cocoaint</a:t>
            </a:r>
            <a:r>
              <a:rPr lang="en-US" dirty="0" smtClean="0"/>
              <a:t>/</a:t>
            </a:r>
            <a:r>
              <a:rPr lang="en-US" dirty="0" err="1" smtClean="0"/>
              <a:t>utils</a:t>
            </a:r>
            <a:r>
              <a:rPr lang="en-US" dirty="0" smtClean="0"/>
              <a:t>/</a:t>
            </a:r>
            <a:r>
              <a:rPr lang="en-US" dirty="0" err="1" smtClean="0"/>
              <a:t>uikit-skel</a:t>
            </a:r>
            <a:r>
              <a:rPr lang="en-US" dirty="0" smtClean="0"/>
              <a:t>/</a:t>
            </a:r>
            <a:r>
              <a:rPr lang="en-US" dirty="0" err="1" smtClean="0"/>
              <a:t>src</a:t>
            </a:r>
            <a:r>
              <a:rPr lang="en-US" dirty="0" smtClean="0"/>
              <a:t>/foundation </a:t>
            </a:r>
          </a:p>
          <a:p>
            <a:r>
              <a:rPr lang="en-US" dirty="0" smtClean="0"/>
              <a:t>Example</a:t>
            </a:r>
          </a:p>
          <a:p>
            <a:pPr lvl="1"/>
            <a:endParaRPr lang="en-US" dirty="0" smtClean="0"/>
          </a:p>
          <a:p>
            <a:endParaRPr lang="en-US" dirty="0"/>
          </a:p>
        </p:txBody>
      </p:sp>
    </p:spTree>
    <p:extLst>
      <p:ext uri="{BB962C8B-B14F-4D97-AF65-F5344CB8AC3E}">
        <p14:creationId xmlns:p14="http://schemas.microsoft.com/office/powerpoint/2010/main" val="1579437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 7: Apple Developer Account</a:t>
            </a:r>
            <a:endParaRPr lang="en-US" dirty="0"/>
          </a:p>
        </p:txBody>
      </p:sp>
      <p:sp>
        <p:nvSpPr>
          <p:cNvPr id="3" name="Content Placeholder 2"/>
          <p:cNvSpPr>
            <a:spLocks noGrp="1"/>
          </p:cNvSpPr>
          <p:nvPr>
            <p:ph idx="1"/>
          </p:nvPr>
        </p:nvSpPr>
        <p:spPr/>
        <p:txBody>
          <a:bodyPr/>
          <a:lstStyle/>
          <a:p>
            <a:r>
              <a:rPr lang="en-US" dirty="0" smtClean="0"/>
              <a:t>How do I deploy my App to a device?</a:t>
            </a:r>
          </a:p>
          <a:p>
            <a:r>
              <a:rPr lang="en-US" dirty="0" smtClean="0"/>
              <a:t>Purchase an Apple Developer Account:</a:t>
            </a:r>
          </a:p>
          <a:p>
            <a:pPr lvl="1"/>
            <a:r>
              <a:rPr lang="en-US" dirty="0" err="1" smtClean="0"/>
              <a:t>iOS</a:t>
            </a:r>
            <a:r>
              <a:rPr lang="en-US" dirty="0" smtClean="0"/>
              <a:t> Developer Program : 99USD</a:t>
            </a:r>
          </a:p>
          <a:p>
            <a:pPr lvl="1"/>
            <a:r>
              <a:rPr lang="en-US" dirty="0" err="1" smtClean="0"/>
              <a:t>iOS</a:t>
            </a:r>
            <a:r>
              <a:rPr lang="en-US" dirty="0" smtClean="0"/>
              <a:t> Developer Enterprise Program: 299USD</a:t>
            </a:r>
          </a:p>
          <a:p>
            <a:pPr lvl="1"/>
            <a:r>
              <a:rPr lang="en-US" dirty="0" err="1" smtClean="0"/>
              <a:t>iOS</a:t>
            </a:r>
            <a:r>
              <a:rPr lang="en-US" dirty="0" smtClean="0"/>
              <a:t> Developer University Program: free</a:t>
            </a:r>
          </a:p>
          <a:p>
            <a:pPr lvl="1"/>
            <a:r>
              <a:rPr lang="en-US" dirty="0" smtClean="0">
                <a:hlinkClick r:id="rId3"/>
              </a:rPr>
              <a:t>https://developer.apple.com/programs/start/ios/</a:t>
            </a:r>
            <a:r>
              <a:rPr lang="en-US" dirty="0" smtClean="0"/>
              <a:t> </a:t>
            </a:r>
            <a:endParaRPr lang="en-US" dirty="0"/>
          </a:p>
        </p:txBody>
      </p:sp>
    </p:spTree>
    <p:extLst>
      <p:ext uri="{BB962C8B-B14F-4D97-AF65-F5344CB8AC3E}">
        <p14:creationId xmlns:p14="http://schemas.microsoft.com/office/powerpoint/2010/main" val="2161234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Wrap Up</a:t>
            </a:r>
            <a:endParaRPr lang="en-US" dirty="0"/>
          </a:p>
        </p:txBody>
      </p:sp>
      <p:sp>
        <p:nvSpPr>
          <p:cNvPr id="3" name="Content Placeholder 2"/>
          <p:cNvSpPr>
            <a:spLocks noGrp="1"/>
          </p:cNvSpPr>
          <p:nvPr>
            <p:ph idx="1"/>
          </p:nvPr>
        </p:nvSpPr>
        <p:spPr/>
        <p:txBody>
          <a:bodyPr/>
          <a:lstStyle/>
          <a:p>
            <a:r>
              <a:rPr lang="en-US" dirty="0" smtClean="0"/>
              <a:t>Use Delphi to:</a:t>
            </a:r>
          </a:p>
          <a:p>
            <a:pPr lvl="1"/>
            <a:r>
              <a:rPr lang="en-US" dirty="0" smtClean="0"/>
              <a:t>Create rich UI’s</a:t>
            </a:r>
          </a:p>
          <a:p>
            <a:pPr lvl="1"/>
            <a:r>
              <a:rPr lang="en-US" dirty="0" smtClean="0"/>
              <a:t>Access the File System</a:t>
            </a:r>
          </a:p>
          <a:p>
            <a:pPr lvl="1"/>
            <a:r>
              <a:rPr lang="en-US" dirty="0" smtClean="0"/>
              <a:t>Access Databases</a:t>
            </a:r>
          </a:p>
          <a:p>
            <a:pPr lvl="1"/>
            <a:r>
              <a:rPr lang="en-US" dirty="0" smtClean="0"/>
              <a:t>Include </a:t>
            </a:r>
            <a:r>
              <a:rPr lang="en-US" dirty="0" err="1" smtClean="0"/>
              <a:t>iOS</a:t>
            </a:r>
            <a:r>
              <a:rPr lang="en-US" dirty="0" smtClean="0"/>
              <a:t> in multi-tiered architectures</a:t>
            </a:r>
          </a:p>
          <a:p>
            <a:pPr lvl="1"/>
            <a:r>
              <a:rPr lang="en-US" dirty="0" smtClean="0"/>
              <a:t>Access more specific </a:t>
            </a:r>
            <a:r>
              <a:rPr lang="en-US" dirty="0" err="1" smtClean="0"/>
              <a:t>iOS</a:t>
            </a:r>
            <a:r>
              <a:rPr lang="en-US" dirty="0" smtClean="0"/>
              <a:t> APIs with Cocoa</a:t>
            </a:r>
          </a:p>
          <a:p>
            <a:pPr lvl="1"/>
            <a:endParaRPr lang="en-US" dirty="0"/>
          </a:p>
        </p:txBody>
      </p:sp>
    </p:spTree>
    <p:extLst>
      <p:ext uri="{BB962C8B-B14F-4D97-AF65-F5344CB8AC3E}">
        <p14:creationId xmlns:p14="http://schemas.microsoft.com/office/powerpoint/2010/main" val="3564331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Links</a:t>
            </a:r>
            <a:endParaRPr lang="en-US" dirty="0"/>
          </a:p>
        </p:txBody>
      </p:sp>
      <p:sp>
        <p:nvSpPr>
          <p:cNvPr id="3" name="Content Placeholder 2"/>
          <p:cNvSpPr>
            <a:spLocks noGrp="1"/>
          </p:cNvSpPr>
          <p:nvPr>
            <p:ph idx="1"/>
          </p:nvPr>
        </p:nvSpPr>
        <p:spPr/>
        <p:txBody>
          <a:bodyPr/>
          <a:lstStyle/>
          <a:p>
            <a:r>
              <a:rPr lang="en-US" dirty="0">
                <a:hlinkClick r:id="rId2"/>
              </a:rPr>
              <a:t>http://blogs.embarcadero.com/</a:t>
            </a:r>
            <a:r>
              <a:rPr lang="en-US" dirty="0" smtClean="0">
                <a:hlinkClick r:id="rId2"/>
              </a:rPr>
              <a:t>ao</a:t>
            </a:r>
            <a:endParaRPr lang="en-US" dirty="0" smtClean="0"/>
          </a:p>
          <a:p>
            <a:r>
              <a:rPr lang="en-US" dirty="0">
                <a:hlinkClick r:id="rId3"/>
              </a:rPr>
              <a:t>http://www.tindex.net/</a:t>
            </a:r>
            <a:r>
              <a:rPr lang="en-US" dirty="0" smtClean="0">
                <a:hlinkClick r:id="rId3"/>
              </a:rPr>
              <a:t>iOSCompiler.html</a:t>
            </a:r>
            <a:endParaRPr lang="en-US" dirty="0" smtClean="0"/>
          </a:p>
          <a:p>
            <a:r>
              <a:rPr lang="en-US" dirty="0">
                <a:hlinkClick r:id="rId4"/>
              </a:rPr>
              <a:t>http://wiert.wordpress.com/2011/12/20/delphi-xe2-and-ios-things-you-should-not-do</a:t>
            </a:r>
            <a:r>
              <a:rPr lang="en-US" dirty="0" smtClean="0">
                <a:hlinkClick r:id="rId4"/>
              </a:rPr>
              <a:t>/</a:t>
            </a:r>
            <a:endParaRPr lang="en-US" dirty="0" smtClean="0"/>
          </a:p>
          <a:p>
            <a:r>
              <a:rPr lang="en-US" dirty="0">
                <a:hlinkClick r:id="rId5"/>
              </a:rPr>
              <a:t>http://</a:t>
            </a:r>
            <a:r>
              <a:rPr lang="en-US" dirty="0" smtClean="0">
                <a:hlinkClick r:id="rId5"/>
              </a:rPr>
              <a:t>developer.apple.com</a:t>
            </a:r>
            <a:endParaRPr lang="en-US" dirty="0" smtClean="0"/>
          </a:p>
          <a:p>
            <a:r>
              <a:rPr lang="en-US" dirty="0" smtClean="0">
                <a:hlinkClick r:id="rId6"/>
              </a:rPr>
              <a:t>http://edn.embarcadero.com</a:t>
            </a:r>
            <a:endParaRPr lang="en-US" dirty="0" smtClean="0"/>
          </a:p>
          <a:p>
            <a:endParaRPr lang="en-US" dirty="0"/>
          </a:p>
        </p:txBody>
      </p:sp>
    </p:spTree>
    <p:extLst>
      <p:ext uri="{BB962C8B-B14F-4D97-AF65-F5344CB8AC3E}">
        <p14:creationId xmlns:p14="http://schemas.microsoft.com/office/powerpoint/2010/main" val="1143040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thanks to:</a:t>
            </a:r>
            <a:endParaRPr lang="en-US" dirty="0"/>
          </a:p>
        </p:txBody>
      </p:sp>
      <p:sp>
        <p:nvSpPr>
          <p:cNvPr id="3" name="Content Placeholder 2"/>
          <p:cNvSpPr>
            <a:spLocks noGrp="1"/>
          </p:cNvSpPr>
          <p:nvPr>
            <p:ph idx="1"/>
          </p:nvPr>
        </p:nvSpPr>
        <p:spPr/>
        <p:txBody>
          <a:bodyPr/>
          <a:lstStyle/>
          <a:p>
            <a:endParaRPr lang="en-US" dirty="0" smtClean="0"/>
          </a:p>
          <a:p>
            <a:endParaRPr lang="en-US" dirty="0"/>
          </a:p>
          <a:p>
            <a:r>
              <a:rPr lang="en-US" dirty="0" smtClean="0"/>
              <a:t>Phil Hess</a:t>
            </a:r>
          </a:p>
          <a:p>
            <a:r>
              <a:rPr lang="en-US" dirty="0" smtClean="0"/>
              <a:t>Anders </a:t>
            </a:r>
            <a:r>
              <a:rPr lang="en-US" dirty="0" err="1" smtClean="0"/>
              <a:t>Ohlsson</a:t>
            </a:r>
            <a:endParaRPr lang="en-US" dirty="0" smtClean="0"/>
          </a:p>
          <a:p>
            <a:r>
              <a:rPr lang="en-US" dirty="0" smtClean="0"/>
              <a:t>Andre </a:t>
            </a:r>
            <a:r>
              <a:rPr lang="en-US" dirty="0" err="1" smtClean="0"/>
              <a:t>Miertschenk</a:t>
            </a:r>
            <a:endParaRPr lang="en-US" dirty="0" smtClean="0"/>
          </a:p>
          <a:p>
            <a:endParaRPr lang="en-US" dirty="0"/>
          </a:p>
        </p:txBody>
      </p:sp>
    </p:spTree>
    <p:extLst>
      <p:ext uri="{BB962C8B-B14F-4D97-AF65-F5344CB8AC3E}">
        <p14:creationId xmlns:p14="http://schemas.microsoft.com/office/powerpoint/2010/main" val="2298300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3600" dirty="0" smtClean="0"/>
              <a:t>E: </a:t>
            </a:r>
            <a:r>
              <a:rPr lang="en-US" sz="3600" dirty="0" err="1" smtClean="0"/>
              <a:t>damien.bootsma@embarcadero.com</a:t>
            </a:r>
            <a:r>
              <a:rPr lang="en-US" sz="3600" dirty="0" smtClean="0"/>
              <a:t/>
            </a:r>
            <a:br>
              <a:rPr lang="en-US" sz="3600" dirty="0" smtClean="0"/>
            </a:br>
            <a:r>
              <a:rPr lang="en-US" sz="3600" dirty="0" smtClean="0"/>
              <a:t>T: </a:t>
            </a:r>
            <a:r>
              <a:rPr lang="en-US" sz="3600" dirty="0" err="1" smtClean="0"/>
              <a:t>damien_bootsma</a:t>
            </a:r>
            <a:endParaRPr lang="en-US" sz="36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26664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520</TotalTime>
  <Words>564</Words>
  <Application>Microsoft Macintosh PowerPoint</Application>
  <PresentationFormat>On-screen Show (4:3)</PresentationFormat>
  <Paragraphs>91</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The short road to iOS development</vt:lpstr>
      <vt:lpstr>Agenda</vt:lpstr>
      <vt:lpstr>Stop 1: Configuration</vt:lpstr>
      <vt:lpstr>Stop 2: FMX Components</vt:lpstr>
      <vt:lpstr>Stop 3: File I/O</vt:lpstr>
      <vt:lpstr>Stop 4: Local DB Development </vt:lpstr>
      <vt:lpstr>Stop 5: Remote DB Development</vt:lpstr>
      <vt:lpstr>Stop 6: Access to Cocoa</vt:lpstr>
      <vt:lpstr>Stop 7: Apple Developer Account</vt:lpstr>
      <vt:lpstr>Wrap Up</vt:lpstr>
      <vt:lpstr>Useful Links</vt:lpstr>
      <vt:lpstr>Many thanks to:</vt:lpstr>
      <vt:lpstr>E: damien.bootsma@embarcadero.com T: damien_bootsma</vt:lpstr>
    </vt:vector>
  </TitlesOfParts>
  <Company>Embarcadero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short road to iOS development</dc:title>
  <dc:creator>Damien Bootsma</dc:creator>
  <cp:lastModifiedBy>Damien Bootsma</cp:lastModifiedBy>
  <cp:revision>34</cp:revision>
  <dcterms:created xsi:type="dcterms:W3CDTF">2012-04-12T23:35:38Z</dcterms:created>
  <dcterms:modified xsi:type="dcterms:W3CDTF">2012-04-16T21:02:41Z</dcterms:modified>
</cp:coreProperties>
</file>