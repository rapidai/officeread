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gif" ContentType="image/gif"/>
  <Default Extension="bin" ContentType="application/vnd.openxmlformats-officedocument.presentationml.printerSettings"/>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3"/>
  </p:handoutMasterIdLst>
  <p:sldIdLst>
    <p:sldId id="256" r:id="rId2"/>
    <p:sldId id="295" r:id="rId3"/>
    <p:sldId id="271" r:id="rId4"/>
    <p:sldId id="289" r:id="rId5"/>
    <p:sldId id="287" r:id="rId6"/>
    <p:sldId id="293" r:id="rId7"/>
    <p:sldId id="273" r:id="rId8"/>
    <p:sldId id="291" r:id="rId9"/>
    <p:sldId id="257" r:id="rId10"/>
    <p:sldId id="290" r:id="rId11"/>
    <p:sldId id="260" r:id="rId12"/>
    <p:sldId id="266" r:id="rId13"/>
    <p:sldId id="278" r:id="rId14"/>
    <p:sldId id="279" r:id="rId15"/>
    <p:sldId id="281" r:id="rId16"/>
    <p:sldId id="282" r:id="rId17"/>
    <p:sldId id="283" r:id="rId18"/>
    <p:sldId id="284" r:id="rId19"/>
    <p:sldId id="285" r:id="rId20"/>
    <p:sldId id="294" r:id="rId21"/>
    <p:sldId id="292"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2584" y="-1104"/>
      </p:cViewPr>
      <p:guideLst>
        <p:guide orient="horz" pos="2160"/>
        <p:guide pos="2880"/>
      </p:guideLst>
    </p:cSldViewPr>
  </p:slideViewPr>
  <p:notesTextViewPr>
    <p:cViewPr>
      <p:scale>
        <a:sx n="1" d="1"/>
        <a:sy n="1" d="1"/>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handoutMaster" Target="handoutMasters/handoutMaster1.xml"/><Relationship Id="rId24" Type="http://schemas.openxmlformats.org/officeDocument/2006/relationships/printerSettings" Target="printerSettings/printerSettings1.bin"/><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0.wmf"/><Relationship Id="rId20" Type="http://schemas.openxmlformats.org/officeDocument/2006/relationships/image" Target="../media/image21.wmf"/><Relationship Id="rId21" Type="http://schemas.openxmlformats.org/officeDocument/2006/relationships/image" Target="../media/image22.wmf"/><Relationship Id="rId22" Type="http://schemas.openxmlformats.org/officeDocument/2006/relationships/image" Target="../media/image23.wmf"/><Relationship Id="rId23" Type="http://schemas.openxmlformats.org/officeDocument/2006/relationships/image" Target="../media/image24.wmf"/><Relationship Id="rId24" Type="http://schemas.openxmlformats.org/officeDocument/2006/relationships/image" Target="../media/image25.wmf"/><Relationship Id="rId25" Type="http://schemas.openxmlformats.org/officeDocument/2006/relationships/image" Target="../media/image26.wmf"/><Relationship Id="rId26" Type="http://schemas.openxmlformats.org/officeDocument/2006/relationships/image" Target="../media/image27.wmf"/><Relationship Id="rId27" Type="http://schemas.openxmlformats.org/officeDocument/2006/relationships/image" Target="../media/image28.wmf"/><Relationship Id="rId28" Type="http://schemas.openxmlformats.org/officeDocument/2006/relationships/image" Target="../media/image29.wmf"/><Relationship Id="rId29" Type="http://schemas.openxmlformats.org/officeDocument/2006/relationships/image" Target="../media/image30.wmf"/><Relationship Id="rId30" Type="http://schemas.openxmlformats.org/officeDocument/2006/relationships/image" Target="../media/image31.wmf"/><Relationship Id="rId31" Type="http://schemas.openxmlformats.org/officeDocument/2006/relationships/image" Target="../media/image32.wmf"/><Relationship Id="rId10" Type="http://schemas.openxmlformats.org/officeDocument/2006/relationships/image" Target="../media/image11.wmf"/><Relationship Id="rId11" Type="http://schemas.openxmlformats.org/officeDocument/2006/relationships/image" Target="../media/image12.wmf"/><Relationship Id="rId12" Type="http://schemas.openxmlformats.org/officeDocument/2006/relationships/image" Target="../media/image13.wmf"/><Relationship Id="rId13" Type="http://schemas.openxmlformats.org/officeDocument/2006/relationships/image" Target="../media/image14.wmf"/><Relationship Id="rId14" Type="http://schemas.openxmlformats.org/officeDocument/2006/relationships/image" Target="../media/image15.wmf"/><Relationship Id="rId15" Type="http://schemas.openxmlformats.org/officeDocument/2006/relationships/image" Target="../media/image16.wmf"/><Relationship Id="rId16" Type="http://schemas.openxmlformats.org/officeDocument/2006/relationships/image" Target="../media/image17.wmf"/><Relationship Id="rId17" Type="http://schemas.openxmlformats.org/officeDocument/2006/relationships/image" Target="../media/image18.wmf"/><Relationship Id="rId18" Type="http://schemas.openxmlformats.org/officeDocument/2006/relationships/image" Target="../media/image19.wmf"/><Relationship Id="rId19" Type="http://schemas.openxmlformats.org/officeDocument/2006/relationships/image" Target="../media/image20.wmf"/><Relationship Id="rId1" Type="http://schemas.openxmlformats.org/officeDocument/2006/relationships/image" Target="../media/image2.wmf"/><Relationship Id="rId2" Type="http://schemas.openxmlformats.org/officeDocument/2006/relationships/image" Target="../media/image3.wmf"/><Relationship Id="rId3" Type="http://schemas.openxmlformats.org/officeDocument/2006/relationships/image" Target="../media/image4.wmf"/><Relationship Id="rId4" Type="http://schemas.openxmlformats.org/officeDocument/2006/relationships/image" Target="../media/image5.wmf"/><Relationship Id="rId5" Type="http://schemas.openxmlformats.org/officeDocument/2006/relationships/image" Target="../media/image6.wmf"/><Relationship Id="rId6" Type="http://schemas.openxmlformats.org/officeDocument/2006/relationships/image" Target="../media/image7.wmf"/><Relationship Id="rId7" Type="http://schemas.openxmlformats.org/officeDocument/2006/relationships/image" Target="../media/image8.wmf"/><Relationship Id="rId8"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67F84C-86AA-4E0D-8207-98DEF8665C34}" type="datetimeFigureOut">
              <a:rPr lang="en-US" smtClean="0"/>
              <a:t>10/12/12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CE53352-BB27-4537-8958-BBCBC79087A8}" type="slidenum">
              <a:rPr lang="en-US" smtClean="0"/>
              <a:t>‹#›</a:t>
            </a:fld>
            <a:endParaRPr lang="en-US"/>
          </a:p>
        </p:txBody>
      </p:sp>
    </p:spTree>
    <p:extLst>
      <p:ext uri="{BB962C8B-B14F-4D97-AF65-F5344CB8AC3E}">
        <p14:creationId xmlns:p14="http://schemas.microsoft.com/office/powerpoint/2010/main" val="325520374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AA19515-38F8-490F-A7F1-E6ECA67957B6}" type="datetimeFigureOut">
              <a:rPr lang="en-US" smtClean="0"/>
              <a:t>10/12/12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328650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A19515-38F8-490F-A7F1-E6ECA67957B6}" type="datetimeFigureOut">
              <a:rPr lang="en-US" smtClean="0"/>
              <a:t>10/12/12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1012596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A19515-38F8-490F-A7F1-E6ECA67957B6}" type="datetimeFigureOut">
              <a:rPr lang="en-US" smtClean="0"/>
              <a:t>10/12/12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2078297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AA19515-38F8-490F-A7F1-E6ECA67957B6}" type="datetimeFigureOut">
              <a:rPr lang="en-US" smtClean="0"/>
              <a:t>10/12/12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279997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A19515-38F8-490F-A7F1-E6ECA67957B6}" type="datetimeFigureOut">
              <a:rPr lang="en-US" smtClean="0"/>
              <a:t>10/12/12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173752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A19515-38F8-490F-A7F1-E6ECA67957B6}" type="datetimeFigureOut">
              <a:rPr lang="en-US" smtClean="0"/>
              <a:t>10/12/12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3628619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A19515-38F8-490F-A7F1-E6ECA67957B6}" type="datetimeFigureOut">
              <a:rPr lang="en-US" smtClean="0"/>
              <a:t>10/12/12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278505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A19515-38F8-490F-A7F1-E6ECA67957B6}" type="datetimeFigureOut">
              <a:rPr lang="en-US" smtClean="0"/>
              <a:t>10/12/12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319579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A19515-38F8-490F-A7F1-E6ECA67957B6}" type="datetimeFigureOut">
              <a:rPr lang="en-US" smtClean="0"/>
              <a:t>10/12/12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165256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A19515-38F8-490F-A7F1-E6ECA67957B6}" type="datetimeFigureOut">
              <a:rPr lang="en-US" smtClean="0"/>
              <a:t>10/12/12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412233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A19515-38F8-490F-A7F1-E6ECA67957B6}" type="datetimeFigureOut">
              <a:rPr lang="en-US" smtClean="0"/>
              <a:t>10/12/12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E24971-D013-4C78-A4E5-675617032A02}" type="slidenum">
              <a:rPr lang="en-US" smtClean="0"/>
              <a:t>‹#›</a:t>
            </a:fld>
            <a:endParaRPr lang="en-US"/>
          </a:p>
        </p:txBody>
      </p:sp>
    </p:spTree>
    <p:extLst>
      <p:ext uri="{BB962C8B-B14F-4D97-AF65-F5344CB8AC3E}">
        <p14:creationId xmlns:p14="http://schemas.microsoft.com/office/powerpoint/2010/main" val="266609023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19515-38F8-490F-A7F1-E6ECA67957B6}" type="datetimeFigureOut">
              <a:rPr lang="en-US" smtClean="0"/>
              <a:t>10/12/12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24971-D013-4C78-A4E5-675617032A02}" type="slidenum">
              <a:rPr lang="en-US" smtClean="0"/>
              <a:t>‹#›</a:t>
            </a:fld>
            <a:endParaRPr lang="en-US"/>
          </a:p>
        </p:txBody>
      </p:sp>
    </p:spTree>
    <p:extLst>
      <p:ext uri="{BB962C8B-B14F-4D97-AF65-F5344CB8AC3E}">
        <p14:creationId xmlns:p14="http://schemas.microsoft.com/office/powerpoint/2010/main" val="2157587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46" Type="http://schemas.openxmlformats.org/officeDocument/2006/relationships/image" Target="../media/image34.jpeg"/><Relationship Id="rId47" Type="http://schemas.openxmlformats.org/officeDocument/2006/relationships/hyperlink" Target="http://s942.photobucket.com/profile/ChuckZZN2" TargetMode="External"/><Relationship Id="rId48" Type="http://schemas.openxmlformats.org/officeDocument/2006/relationships/image" Target="../media/image35.jpeg"/><Relationship Id="rId49" Type="http://schemas.openxmlformats.org/officeDocument/2006/relationships/image" Target="../media/image36.gif"/><Relationship Id="rId20" Type="http://schemas.openxmlformats.org/officeDocument/2006/relationships/hyperlink" Target="http://s1264.photobucket.com/albums/jj492/Crosby0637/?action=themeadd" TargetMode="External"/><Relationship Id="rId21" Type="http://schemas.openxmlformats.org/officeDocument/2006/relationships/hyperlink" Target="http://s1264.photobucket.com/home/Crosby0637/tags" TargetMode="External"/><Relationship Id="rId22" Type="http://schemas.openxmlformats.org/officeDocument/2006/relationships/hyperlink" Target="http://s1264.photobucket.com/albums/jj492/Crosby0637/?action=tools" TargetMode="External"/><Relationship Id="rId23" Type="http://schemas.openxmlformats.org/officeDocument/2006/relationships/hyperlink" Target="http://media.photobucket.com/popular/images" TargetMode="External"/><Relationship Id="rId24" Type="http://schemas.openxmlformats.org/officeDocument/2006/relationships/hyperlink" Target="http://media.photobucket.com/recent/images" TargetMode="External"/><Relationship Id="rId25" Type="http://schemas.openxmlformats.org/officeDocument/2006/relationships/hyperlink" Target="http://photobucket.com/groupalbums" TargetMode="External"/><Relationship Id="rId26" Type="http://schemas.openxmlformats.org/officeDocument/2006/relationships/hyperlink" Target="http://photobucket.com/contests" TargetMode="External"/><Relationship Id="rId27" Type="http://schemas.openxmlformats.org/officeDocument/2006/relationships/hyperlink" Target="http://register.photobucket.com/?ref=joinus" TargetMode="External"/><Relationship Id="rId28" Type="http://schemas.openxmlformats.org/officeDocument/2006/relationships/hyperlink" Target="http://photobucket.com/about" TargetMode="External"/><Relationship Id="rId29" Type="http://schemas.openxmlformats.org/officeDocument/2006/relationships/hyperlink" Target="http://blog.photobucket.com/" TargetMode="External"/><Relationship Id="rId1" Type="http://schemas.openxmlformats.org/officeDocument/2006/relationships/vmlDrawing" Target="../drawings/vmlDrawing1.vml"/><Relationship Id="rId2" Type="http://schemas.openxmlformats.org/officeDocument/2006/relationships/slideLayout" Target="../slideLayouts/slideLayout1.xml"/><Relationship Id="rId3" Type="http://schemas.openxmlformats.org/officeDocument/2006/relationships/hyperlink" Target="http://s1264.photobucket.com/home/Crosby0637/index" TargetMode="External"/><Relationship Id="rId4" Type="http://schemas.openxmlformats.org/officeDocument/2006/relationships/hyperlink" Target="http://s1264.photobucket.com/albums/jj492/Crosby0637/" TargetMode="External"/><Relationship Id="rId5" Type="http://schemas.openxmlformats.org/officeDocument/2006/relationships/hyperlink" Target="http://photobucket.com/findstuff/" TargetMode="External"/><Relationship Id="rId30" Type="http://schemas.openxmlformats.org/officeDocument/2006/relationships/hyperlink" Target="http://photobucket.com/about/advertise-with-us" TargetMode="External"/><Relationship Id="rId31" Type="http://schemas.openxmlformats.org/officeDocument/2006/relationships/hyperlink" Target="http://www.smartrecruiters.com/cgi-bin/WebObjects/jobmarket.woa/wa/jobMarketHomePage?fp1=50146071" TargetMode="External"/><Relationship Id="rId32" Type="http://schemas.openxmlformats.org/officeDocument/2006/relationships/hyperlink" Target="http://photobucket.com/about/contact-us" TargetMode="External"/><Relationship Id="rId9" Type="http://schemas.openxmlformats.org/officeDocument/2006/relationships/hyperlink" Target="http://photobucket.com/upgrade" TargetMode="External"/><Relationship Id="rId6" Type="http://schemas.openxmlformats.org/officeDocument/2006/relationships/hyperlink" Target="http://s1264.photobucket.com/upload/albums/Crosby0637/" TargetMode="External"/><Relationship Id="rId7" Type="http://schemas.openxmlformats.org/officeDocument/2006/relationships/hyperlink" Target="http://s1264.photobucket.com/albums/jj492/Crosby0637/?action=accountoptions" TargetMode="External"/><Relationship Id="rId8" Type="http://schemas.openxmlformats.org/officeDocument/2006/relationships/hyperlink" Target="http://support.photobucket.com/access/remote?name=Crosby0637&amp;email=mikecrosby@aol.com&amp;timestamp=1343117987&amp;hash=3be9c6e201ed8b28ac3427cdac19518d&amp;tags=silo35,beta_disabled,free_user&amp;return_to=http://support.photobucket.com/" TargetMode="External"/><Relationship Id="rId33" Type="http://schemas.openxmlformats.org/officeDocument/2006/relationships/hyperlink" Target="http://photobucket.com/redirect/album?action=tools" TargetMode="External"/><Relationship Id="rId34" Type="http://schemas.openxmlformats.org/officeDocument/2006/relationships/hyperlink" Target="http://photobucket.com/mobile" TargetMode="External"/><Relationship Id="rId35" Type="http://schemas.openxmlformats.org/officeDocument/2006/relationships/hyperlink" Target="http://photobucket.com/developer" TargetMode="External"/><Relationship Id="rId36" Type="http://schemas.openxmlformats.org/officeDocument/2006/relationships/hyperlink" Target="http://photobucket.com/snapbucket" TargetMode="External"/><Relationship Id="rId10" Type="http://schemas.openxmlformats.org/officeDocument/2006/relationships/hyperlink" Target="http://photobucket.com/logout" TargetMode="External"/><Relationship Id="rId11" Type="http://schemas.openxmlformats.org/officeDocument/2006/relationships/hyperlink" Target="http://photobucket.com/home/Crosby0637/index" TargetMode="External"/><Relationship Id="rId12" Type="http://schemas.openxmlformats.org/officeDocument/2006/relationships/hyperlink" Target="http://photobucket.com/profile/Crosby0637/index" TargetMode="External"/><Relationship Id="rId13" Type="http://schemas.openxmlformats.org/officeDocument/2006/relationships/hyperlink" Target="http://photobucket.com/profile/Crosby0637/likes" TargetMode="External"/><Relationship Id="rId14" Type="http://schemas.openxmlformats.org/officeDocument/2006/relationships/hyperlink" Target="http://photobucket.com/profile/Crosby0637/following" TargetMode="External"/><Relationship Id="rId15" Type="http://schemas.openxmlformats.org/officeDocument/2006/relationships/hyperlink" Target="http://photobucket.com/profile/Crosby0637/followers" TargetMode="External"/><Relationship Id="rId16" Type="http://schemas.openxmlformats.org/officeDocument/2006/relationships/hyperlink" Target="http://s1264.photobucket.com/friendfinder/index" TargetMode="External"/><Relationship Id="rId17" Type="http://schemas.openxmlformats.org/officeDocument/2006/relationships/hyperlink" Target="http://photobucket.com/home/Crosby0637/stats" TargetMode="External"/><Relationship Id="rId18" Type="http://schemas.openxmlformats.org/officeDocument/2006/relationships/hyperlink" Target="http://s1264.photobucket.com/albums/jj492/Crosby0637/?action=imagepicker" TargetMode="External"/><Relationship Id="rId19" Type="http://schemas.openxmlformats.org/officeDocument/2006/relationships/hyperlink" Target="http://s1264.photobucket.com/albums/jj492/Crosby0637/?action=organize" TargetMode="External"/><Relationship Id="rId37" Type="http://schemas.openxmlformats.org/officeDocument/2006/relationships/hyperlink" Target="http://photobucket.com/iphone" TargetMode="External"/><Relationship Id="rId38" Type="http://schemas.openxmlformats.org/officeDocument/2006/relationships/hyperlink" Target="http://photobucket.com/android" TargetMode="External"/><Relationship Id="rId39" Type="http://schemas.openxmlformats.org/officeDocument/2006/relationships/hyperlink" Target="http://photobucket.com/mobile/apps" TargetMode="External"/><Relationship Id="rId40" Type="http://schemas.openxmlformats.org/officeDocument/2006/relationships/hyperlink" Target="http://photobucket.com/blackberry" TargetMode="External"/><Relationship Id="rId41" Type="http://schemas.openxmlformats.org/officeDocument/2006/relationships/hyperlink" Target="http://photobucket.com/iphoto" TargetMode="External"/><Relationship Id="rId42" Type="http://schemas.openxmlformats.org/officeDocument/2006/relationships/hyperlink" Target="http://photobucket.com/privacyPolicy" TargetMode="External"/><Relationship Id="rId43" Type="http://schemas.openxmlformats.org/officeDocument/2006/relationships/hyperlink" Target="http://photobucket.com/terms" TargetMode="External"/><Relationship Id="rId44" Type="http://schemas.openxmlformats.org/officeDocument/2006/relationships/hyperlink" Target="http://photobucket.com/sitemap" TargetMode="External"/><Relationship Id="rId45" Type="http://schemas.openxmlformats.org/officeDocument/2006/relationships/image" Target="../media/image3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2438399"/>
          </a:xfrm>
        </p:spPr>
        <p:txBody>
          <a:bodyPr>
            <a:normAutofit/>
          </a:bodyPr>
          <a:lstStyle/>
          <a:p>
            <a:r>
              <a:rPr lang="en-US" sz="5400" b="1" dirty="0" smtClean="0">
                <a:solidFill>
                  <a:srgbClr val="0000CC"/>
                </a:solidFill>
              </a:rPr>
              <a:t>PRIESTHOOD OF THE FAITHFUL</a:t>
            </a:r>
            <a:endParaRPr lang="en-US" sz="5400" b="1" dirty="0">
              <a:solidFill>
                <a:srgbClr val="0000CC"/>
              </a:solidFill>
            </a:endParaRPr>
          </a:p>
        </p:txBody>
      </p:sp>
      <p:sp>
        <p:nvSpPr>
          <p:cNvPr id="3" name="Subtitle 2"/>
          <p:cNvSpPr>
            <a:spLocks noGrp="1"/>
          </p:cNvSpPr>
          <p:nvPr>
            <p:ph type="subTitle" idx="1"/>
          </p:nvPr>
        </p:nvSpPr>
        <p:spPr>
          <a:xfrm>
            <a:off x="1371600" y="2667000"/>
            <a:ext cx="6400800" cy="3886200"/>
          </a:xfrm>
        </p:spPr>
        <p:txBody>
          <a:bodyPr>
            <a:normAutofit/>
          </a:bodyPr>
          <a:lstStyle/>
          <a:p>
            <a:r>
              <a:rPr lang="en-US" sz="4000" dirty="0" smtClean="0">
                <a:solidFill>
                  <a:schemeClr val="tx1"/>
                </a:solidFill>
              </a:rPr>
              <a:t>First Friday Gathering</a:t>
            </a:r>
          </a:p>
          <a:p>
            <a:r>
              <a:rPr lang="en-US" sz="4000" dirty="0" smtClean="0">
                <a:solidFill>
                  <a:schemeClr val="tx1"/>
                </a:solidFill>
              </a:rPr>
              <a:t>Akron, Ohio</a:t>
            </a:r>
          </a:p>
          <a:p>
            <a:endParaRPr lang="en-US" dirty="0" smtClean="0"/>
          </a:p>
          <a:p>
            <a:r>
              <a:rPr lang="en-US" b="1" dirty="0" smtClean="0">
                <a:solidFill>
                  <a:srgbClr val="0000CC"/>
                </a:solidFill>
              </a:rPr>
              <a:t>Michael H. Crosby, OFMCap.</a:t>
            </a:r>
          </a:p>
          <a:p>
            <a:r>
              <a:rPr lang="en-US" b="1" dirty="0" smtClean="0">
                <a:solidFill>
                  <a:srgbClr val="0000CC"/>
                </a:solidFill>
              </a:rPr>
              <a:t>September 7, 2012</a:t>
            </a:r>
            <a:endParaRPr lang="en-US" b="1" dirty="0">
              <a:solidFill>
                <a:srgbClr val="0000CC"/>
              </a:solidFill>
            </a:endParaRPr>
          </a:p>
        </p:txBody>
      </p:sp>
    </p:spTree>
    <p:extLst>
      <p:ext uri="{BB962C8B-B14F-4D97-AF65-F5344CB8AC3E}">
        <p14:creationId xmlns:p14="http://schemas.microsoft.com/office/powerpoint/2010/main" val="2705799786"/>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1066800"/>
          </a:xfrm>
        </p:spPr>
        <p:txBody>
          <a:bodyPr>
            <a:noAutofit/>
          </a:bodyPr>
          <a:lstStyle/>
          <a:p>
            <a:r>
              <a:rPr lang="en-US" sz="4000" b="1" dirty="0" smtClean="0">
                <a:solidFill>
                  <a:srgbClr val="0000CC"/>
                </a:solidFill>
              </a:rPr>
              <a:t>TWO POLES ON THE CONTINUUM OF                        OUR UNDERSTANDING OF CHURCH</a:t>
            </a:r>
            <a:endParaRPr lang="en-US" sz="4000" b="1" dirty="0">
              <a:solidFill>
                <a:srgbClr val="0000CC"/>
              </a:solidFill>
            </a:endParaRPr>
          </a:p>
        </p:txBody>
      </p:sp>
      <p:sp>
        <p:nvSpPr>
          <p:cNvPr id="6147" name="Rectangle 3"/>
          <p:cNvSpPr>
            <a:spLocks noGrp="1" noChangeArrowheads="1"/>
          </p:cNvSpPr>
          <p:nvPr>
            <p:ph type="body" sz="half" idx="1"/>
          </p:nvPr>
        </p:nvSpPr>
        <p:spPr>
          <a:xfrm>
            <a:off x="0" y="1066800"/>
            <a:ext cx="4495800" cy="5943600"/>
          </a:xfrm>
        </p:spPr>
        <p:txBody>
          <a:bodyPr>
            <a:normAutofit/>
          </a:bodyPr>
          <a:lstStyle/>
          <a:p>
            <a:pPr>
              <a:lnSpc>
                <a:spcPct val="90000"/>
              </a:lnSpc>
            </a:pPr>
            <a:r>
              <a:rPr lang="en-US" sz="2400" dirty="0"/>
              <a:t>Matthew 10:1-4; 28:16-20; 16: 17-19</a:t>
            </a:r>
          </a:p>
          <a:p>
            <a:pPr>
              <a:lnSpc>
                <a:spcPct val="90000"/>
              </a:lnSpc>
            </a:pPr>
            <a:r>
              <a:rPr lang="en-US" sz="2400" dirty="0"/>
              <a:t>Church as Organization established by Jesus Christ</a:t>
            </a:r>
          </a:p>
          <a:p>
            <a:pPr>
              <a:lnSpc>
                <a:spcPct val="90000"/>
              </a:lnSpc>
            </a:pPr>
            <a:r>
              <a:rPr lang="en-US" sz="2400" dirty="0"/>
              <a:t>“Church” as What / Us-Them</a:t>
            </a:r>
          </a:p>
          <a:p>
            <a:pPr>
              <a:lnSpc>
                <a:spcPct val="90000"/>
              </a:lnSpc>
            </a:pPr>
            <a:r>
              <a:rPr lang="en-US" sz="2400" dirty="0"/>
              <a:t>“Church” as the Pope, the Vatican and Bishops: “The Church invites her children”</a:t>
            </a:r>
          </a:p>
          <a:p>
            <a:pPr>
              <a:lnSpc>
                <a:spcPct val="90000"/>
              </a:lnSpc>
            </a:pPr>
            <a:r>
              <a:rPr lang="en-US" sz="2400" dirty="0"/>
              <a:t>Ordination as key element; separation from laity</a:t>
            </a:r>
          </a:p>
          <a:p>
            <a:pPr>
              <a:lnSpc>
                <a:spcPct val="90000"/>
              </a:lnSpc>
            </a:pPr>
            <a:r>
              <a:rPr lang="en-US" sz="2400" dirty="0"/>
              <a:t>Hierarchy </a:t>
            </a:r>
            <a:r>
              <a:rPr lang="en-US" sz="2400" dirty="0" smtClean="0"/>
              <a:t>that is only male</a:t>
            </a:r>
            <a:endParaRPr lang="en-US" sz="2400" dirty="0"/>
          </a:p>
          <a:p>
            <a:pPr>
              <a:lnSpc>
                <a:spcPct val="90000"/>
              </a:lnSpc>
            </a:pPr>
            <a:r>
              <a:rPr lang="en-US" sz="2400" dirty="0"/>
              <a:t>Obedience to leaders </a:t>
            </a:r>
            <a:r>
              <a:rPr lang="en-US" sz="2400" dirty="0" err="1" smtClean="0"/>
              <a:t>represen</a:t>
            </a:r>
            <a:r>
              <a:rPr lang="en-US" sz="2400" dirty="0" smtClean="0"/>
              <a:t>-ting </a:t>
            </a:r>
            <a:r>
              <a:rPr lang="en-US" sz="2400" dirty="0"/>
              <a:t>“Mt. 16” magisterium as sign of fidelity to “the church”</a:t>
            </a:r>
          </a:p>
          <a:p>
            <a:pPr>
              <a:lnSpc>
                <a:spcPct val="90000"/>
              </a:lnSpc>
            </a:pPr>
            <a:r>
              <a:rPr lang="en-US" sz="2400" dirty="0"/>
              <a:t>Eucharist as action of the ordained priests</a:t>
            </a:r>
          </a:p>
        </p:txBody>
      </p:sp>
      <p:sp>
        <p:nvSpPr>
          <p:cNvPr id="6148" name="Rectangle 4"/>
          <p:cNvSpPr>
            <a:spLocks noGrp="1" noChangeArrowheads="1"/>
          </p:cNvSpPr>
          <p:nvPr>
            <p:ph type="body" sz="half" idx="2"/>
          </p:nvPr>
        </p:nvSpPr>
        <p:spPr>
          <a:xfrm>
            <a:off x="4648200" y="1066800"/>
            <a:ext cx="4495800" cy="5943600"/>
          </a:xfrm>
        </p:spPr>
        <p:txBody>
          <a:bodyPr>
            <a:normAutofit/>
          </a:bodyPr>
          <a:lstStyle/>
          <a:p>
            <a:pPr>
              <a:lnSpc>
                <a:spcPct val="90000"/>
              </a:lnSpc>
            </a:pPr>
            <a:r>
              <a:rPr lang="en-US" sz="2400" dirty="0"/>
              <a:t>Luke 4:18-19; Acts 2:1-4, 17-21; Rom. 12: 3-8</a:t>
            </a:r>
          </a:p>
          <a:p>
            <a:pPr>
              <a:lnSpc>
                <a:spcPct val="90000"/>
              </a:lnSpc>
            </a:pPr>
            <a:r>
              <a:rPr lang="en-US" sz="2400" dirty="0"/>
              <a:t>Church as Organism of the living members of Christ</a:t>
            </a:r>
          </a:p>
          <a:p>
            <a:pPr>
              <a:lnSpc>
                <a:spcPct val="90000"/>
              </a:lnSpc>
            </a:pPr>
            <a:r>
              <a:rPr lang="en-US" sz="2400" dirty="0"/>
              <a:t>“Church” as a Who / We</a:t>
            </a:r>
          </a:p>
          <a:p>
            <a:pPr>
              <a:lnSpc>
                <a:spcPct val="90000"/>
              </a:lnSpc>
            </a:pPr>
            <a:r>
              <a:rPr lang="en-US" sz="2400" dirty="0"/>
              <a:t>“Church” as the Community of Disciples: The Church gathered with its leaders</a:t>
            </a:r>
          </a:p>
          <a:p>
            <a:pPr>
              <a:lnSpc>
                <a:spcPct val="90000"/>
              </a:lnSpc>
            </a:pPr>
            <a:r>
              <a:rPr lang="en-US" sz="2400" dirty="0"/>
              <a:t>Baptism as the key identifier of “belonging”</a:t>
            </a:r>
          </a:p>
          <a:p>
            <a:pPr>
              <a:lnSpc>
                <a:spcPct val="90000"/>
              </a:lnSpc>
            </a:pPr>
            <a:r>
              <a:rPr lang="en-US" sz="2400" dirty="0" err="1" smtClean="0"/>
              <a:t>Holarchy</a:t>
            </a:r>
            <a:r>
              <a:rPr lang="en-US" sz="2400" dirty="0" smtClean="0"/>
              <a:t>: The </a:t>
            </a:r>
            <a:r>
              <a:rPr lang="en-US" sz="2400" dirty="0"/>
              <a:t>Gifts of the Spirit</a:t>
            </a:r>
          </a:p>
          <a:p>
            <a:pPr>
              <a:lnSpc>
                <a:spcPct val="90000"/>
              </a:lnSpc>
            </a:pPr>
            <a:r>
              <a:rPr lang="en-US" sz="2400" dirty="0"/>
              <a:t>The body </a:t>
            </a:r>
            <a:r>
              <a:rPr lang="en-US" sz="2400" dirty="0" smtClean="0"/>
              <a:t>dependent </a:t>
            </a:r>
            <a:r>
              <a:rPr lang="en-US" sz="2400" dirty="0"/>
              <a:t>on </a:t>
            </a:r>
            <a:r>
              <a:rPr lang="en-US" sz="2400" dirty="0" smtClean="0"/>
              <a:t>mutual cooperation </a:t>
            </a:r>
            <a:r>
              <a:rPr lang="en-US" sz="2400" dirty="0"/>
              <a:t>of all </a:t>
            </a:r>
            <a:r>
              <a:rPr lang="en-US" sz="2400" dirty="0" smtClean="0"/>
              <a:t>(Mt. 16 &amp; 18)</a:t>
            </a:r>
            <a:endParaRPr lang="en-US" sz="2400" dirty="0"/>
          </a:p>
          <a:p>
            <a:pPr>
              <a:lnSpc>
                <a:spcPct val="90000"/>
              </a:lnSpc>
            </a:pPr>
            <a:r>
              <a:rPr lang="en-US" sz="2400" dirty="0"/>
              <a:t>Eucharist as the full </a:t>
            </a:r>
            <a:r>
              <a:rPr lang="en-US" sz="2400" dirty="0" err="1" smtClean="0"/>
              <a:t>participa-tion</a:t>
            </a:r>
            <a:r>
              <a:rPr lang="en-US" sz="2400" dirty="0" smtClean="0"/>
              <a:t> </a:t>
            </a:r>
            <a:r>
              <a:rPr lang="en-US" sz="2400" dirty="0"/>
              <a:t>of </a:t>
            </a:r>
            <a:r>
              <a:rPr lang="en-US" sz="2400" dirty="0" smtClean="0"/>
              <a:t>everyone—priests and people</a:t>
            </a:r>
            <a:endParaRPr lang="en-US" sz="2400" dirty="0"/>
          </a:p>
        </p:txBody>
      </p:sp>
    </p:spTree>
    <p:extLst>
      <p:ext uri="{BB962C8B-B14F-4D97-AF65-F5344CB8AC3E}">
        <p14:creationId xmlns:p14="http://schemas.microsoft.com/office/powerpoint/2010/main" val="42366022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148">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148">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14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build="p"/>
      <p:bldP spid="614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600199"/>
          </a:xfrm>
        </p:spPr>
        <p:txBody>
          <a:bodyPr/>
          <a:lstStyle/>
          <a:p>
            <a:r>
              <a:rPr lang="en-US" b="1" dirty="0" smtClean="0">
                <a:solidFill>
                  <a:srgbClr val="0000CC"/>
                </a:solidFill>
              </a:rPr>
              <a:t>THE UNIVERSAL PRIESTHOOD OF          ALL THOSE WHO ARE BAPTIZED</a:t>
            </a:r>
            <a:endParaRPr lang="en-US" b="1" dirty="0">
              <a:solidFill>
                <a:srgbClr val="0000CC"/>
              </a:solidFill>
            </a:endParaRPr>
          </a:p>
        </p:txBody>
      </p:sp>
      <p:sp>
        <p:nvSpPr>
          <p:cNvPr id="3" name="Subtitle 2"/>
          <p:cNvSpPr>
            <a:spLocks noGrp="1"/>
          </p:cNvSpPr>
          <p:nvPr>
            <p:ph type="subTitle" idx="1"/>
          </p:nvPr>
        </p:nvSpPr>
        <p:spPr>
          <a:xfrm>
            <a:off x="0" y="1524000"/>
            <a:ext cx="9144000" cy="5334000"/>
          </a:xfrm>
        </p:spPr>
        <p:txBody>
          <a:bodyPr>
            <a:normAutofit/>
          </a:bodyPr>
          <a:lstStyle/>
          <a:p>
            <a:pPr algn="l"/>
            <a:r>
              <a:rPr lang="en-US" dirty="0" smtClean="0">
                <a:solidFill>
                  <a:schemeClr val="tx1"/>
                </a:solidFill>
              </a:rPr>
              <a:t>“Christ the Lord, High Priest taken from among the people </a:t>
            </a:r>
            <a:r>
              <a:rPr lang="en-US" sz="2000" dirty="0" smtClean="0">
                <a:solidFill>
                  <a:schemeClr val="tx1"/>
                </a:solidFill>
              </a:rPr>
              <a:t>(cf. Heb. 5:1-5), </a:t>
            </a:r>
            <a:r>
              <a:rPr lang="en-US" dirty="0" smtClean="0">
                <a:solidFill>
                  <a:schemeClr val="tx1"/>
                </a:solidFill>
              </a:rPr>
              <a:t>‘made a kingdom and priests to God his Father “ </a:t>
            </a:r>
            <a:r>
              <a:rPr lang="en-US" sz="2000" dirty="0" smtClean="0">
                <a:solidFill>
                  <a:schemeClr val="tx1"/>
                </a:solidFill>
              </a:rPr>
              <a:t>(Rev. 1:6; cf. 5:9-10) </a:t>
            </a:r>
            <a:r>
              <a:rPr lang="en-US" dirty="0" smtClean="0">
                <a:solidFill>
                  <a:schemeClr val="tx1"/>
                </a:solidFill>
              </a:rPr>
              <a:t>out of this new people. The baptized, by regeneration and anointing of the Holy Spirit, are consecrated into a spiritual house an a holy priesthood.” They:</a:t>
            </a:r>
          </a:p>
          <a:p>
            <a:pPr marL="514350" indent="-514350" algn="l">
              <a:buAutoNum type="arabicPeriod"/>
            </a:pPr>
            <a:r>
              <a:rPr lang="en-US" dirty="0" smtClean="0">
                <a:solidFill>
                  <a:schemeClr val="tx1"/>
                </a:solidFill>
              </a:rPr>
              <a:t>Offer spiritual sacrifices and proclaim with power</a:t>
            </a:r>
          </a:p>
          <a:p>
            <a:pPr marL="514350" indent="-514350" algn="l">
              <a:buAutoNum type="arabicPeriod"/>
            </a:pPr>
            <a:r>
              <a:rPr lang="en-US" dirty="0" smtClean="0">
                <a:solidFill>
                  <a:schemeClr val="tx1"/>
                </a:solidFill>
              </a:rPr>
              <a:t>Should present themselves as spiritual sacrifices</a:t>
            </a:r>
          </a:p>
          <a:p>
            <a:pPr marL="514350" indent="-514350" algn="l">
              <a:buAutoNum type="arabicPeriod"/>
            </a:pPr>
            <a:r>
              <a:rPr lang="en-US" dirty="0" smtClean="0">
                <a:solidFill>
                  <a:schemeClr val="tx1"/>
                </a:solidFill>
              </a:rPr>
              <a:t>Must give evidence of the faith in them </a:t>
            </a:r>
            <a:r>
              <a:rPr lang="en-US" sz="2000" dirty="0" smtClean="0">
                <a:solidFill>
                  <a:schemeClr val="tx1"/>
                </a:solidFill>
              </a:rPr>
              <a:t>(cf. 1 Pet 3:15).</a:t>
            </a:r>
          </a:p>
          <a:p>
            <a:pPr algn="l"/>
            <a:r>
              <a:rPr lang="en-US" sz="2000" dirty="0">
                <a:solidFill>
                  <a:schemeClr val="tx1"/>
                </a:solidFill>
              </a:rPr>
              <a:t>	</a:t>
            </a:r>
            <a:r>
              <a:rPr lang="en-US" sz="2000" dirty="0" smtClean="0">
                <a:solidFill>
                  <a:schemeClr val="tx1"/>
                </a:solidFill>
              </a:rPr>
              <a:t>						     Lumen Gentium, 10</a:t>
            </a:r>
            <a:endParaRPr lang="en-US" sz="2000" dirty="0">
              <a:solidFill>
                <a:schemeClr val="tx1"/>
              </a:solidFill>
            </a:endParaRPr>
          </a:p>
        </p:txBody>
      </p:sp>
    </p:spTree>
    <p:extLst>
      <p:ext uri="{BB962C8B-B14F-4D97-AF65-F5344CB8AC3E}">
        <p14:creationId xmlns:p14="http://schemas.microsoft.com/office/powerpoint/2010/main" val="384155027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447799"/>
          </a:xfrm>
        </p:spPr>
        <p:txBody>
          <a:bodyPr>
            <a:normAutofit/>
          </a:bodyPr>
          <a:lstStyle/>
          <a:p>
            <a:r>
              <a:rPr lang="en-US" b="1" dirty="0" smtClean="0">
                <a:solidFill>
                  <a:srgbClr val="0000CC"/>
                </a:solidFill>
              </a:rPr>
              <a:t>THE UNIVERSAL PRIESTHOOD OF          ALL THOSE WHO ARE BAPTIZED</a:t>
            </a:r>
            <a:endParaRPr lang="en-US" b="1" dirty="0">
              <a:solidFill>
                <a:srgbClr val="0000CC"/>
              </a:solidFill>
            </a:endParaRPr>
          </a:p>
        </p:txBody>
      </p:sp>
      <p:sp>
        <p:nvSpPr>
          <p:cNvPr id="3" name="Subtitle 2"/>
          <p:cNvSpPr>
            <a:spLocks noGrp="1"/>
          </p:cNvSpPr>
          <p:nvPr>
            <p:ph type="subTitle" idx="1"/>
          </p:nvPr>
        </p:nvSpPr>
        <p:spPr>
          <a:xfrm>
            <a:off x="0" y="1524000"/>
            <a:ext cx="9144000" cy="5334000"/>
          </a:xfrm>
        </p:spPr>
        <p:txBody>
          <a:bodyPr>
            <a:normAutofit fontScale="92500" lnSpcReduction="10000"/>
          </a:bodyPr>
          <a:lstStyle/>
          <a:p>
            <a:pPr algn="l"/>
            <a:r>
              <a:rPr lang="en-US" dirty="0" smtClean="0">
                <a:solidFill>
                  <a:schemeClr val="tx1"/>
                </a:solidFill>
              </a:rPr>
              <a:t>“Though they differ from one another in essence and not only in degree, the common priesthood of the faithful and the ministerial or hierarchical priesthood are nonetheless interrelated. Each of them in its own special way is a participation in the one priesthood of Christ.</a:t>
            </a:r>
          </a:p>
          <a:p>
            <a:pPr marL="457200" indent="-457200" algn="l">
              <a:buAutoNum type="arabicPeriod"/>
            </a:pPr>
            <a:r>
              <a:rPr lang="en-US" dirty="0" smtClean="0">
                <a:solidFill>
                  <a:schemeClr val="tx1"/>
                </a:solidFill>
              </a:rPr>
              <a:t>The ministerial priest, by the sacred power he enjoys, molds and rules the priestly people.</a:t>
            </a:r>
          </a:p>
          <a:p>
            <a:pPr marL="457200" indent="-457200" algn="l">
              <a:buAutoNum type="arabicPeriod"/>
            </a:pPr>
            <a:r>
              <a:rPr lang="en-US" dirty="0" smtClean="0">
                <a:solidFill>
                  <a:schemeClr val="tx1"/>
                </a:solidFill>
              </a:rPr>
              <a:t>Acting in the person of Christ, he brings about the Eucharistic Sacrifice . . .</a:t>
            </a:r>
          </a:p>
          <a:p>
            <a:pPr marL="457200" indent="-457200" algn="l">
              <a:buAutoNum type="arabicPeriod"/>
            </a:pPr>
            <a:r>
              <a:rPr lang="en-US" dirty="0" smtClean="0">
                <a:solidFill>
                  <a:schemeClr val="tx1"/>
                </a:solidFill>
              </a:rPr>
              <a:t>For their part, the faithful join in the offering of the Eucharist by virtue of their royal priesthood.”</a:t>
            </a:r>
            <a:r>
              <a:rPr lang="en-US" dirty="0">
                <a:solidFill>
                  <a:schemeClr val="tx1"/>
                </a:solidFill>
              </a:rPr>
              <a:t>	</a:t>
            </a:r>
            <a:r>
              <a:rPr lang="en-US" sz="2000" dirty="0" smtClean="0">
                <a:solidFill>
                  <a:schemeClr val="tx1"/>
                </a:solidFill>
              </a:rPr>
              <a:t>						                        Lumen Gentium, 10</a:t>
            </a:r>
            <a:endParaRPr lang="en-US" sz="2000" dirty="0">
              <a:solidFill>
                <a:schemeClr val="tx1"/>
              </a:solidFill>
            </a:endParaRPr>
          </a:p>
        </p:txBody>
      </p:sp>
    </p:spTree>
    <p:extLst>
      <p:ext uri="{BB962C8B-B14F-4D97-AF65-F5344CB8AC3E}">
        <p14:creationId xmlns:p14="http://schemas.microsoft.com/office/powerpoint/2010/main" val="33502351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85800"/>
            <a:ext cx="8915400" cy="6172200"/>
          </a:xfrm>
        </p:spPr>
        <p:txBody>
          <a:bodyPr>
            <a:noAutofit/>
          </a:bodyPr>
          <a:lstStyle/>
          <a:p>
            <a:pPr algn="l"/>
            <a:r>
              <a:rPr lang="en-US" sz="2800" dirty="0" smtClean="0"/>
              <a:t>“It </a:t>
            </a:r>
            <a:r>
              <a:rPr lang="en-US" sz="2800" dirty="0"/>
              <a:t>is necessary to improve pastoral structures in such a way that the co-responsibility of all the members of the People of God in their entirety is gradually promoted, with respect for vocations and for the respective roles of the consecrated and of lay people. This demands a change in mindset, particularly concerning lay people. They must no longer be viewed as "collaborators" of the clergy but truly recognized as "co-responsible", for the Church's being and action, thereby fostering the consolidation of a mature and committed laity. This common awareness of being Church of all the baptized in no way diminishes the responsibility of parish priests. It is precisely your task, dear parish priests, to nurture the spiritual and apostolic growth of those who are already committed to working hard in the parishes</a:t>
            </a:r>
            <a:r>
              <a:rPr lang="en-US" sz="2800" dirty="0" smtClean="0"/>
              <a:t>.” </a:t>
            </a:r>
            <a:r>
              <a:rPr lang="en-US" sz="2000" dirty="0"/>
              <a:t>05.26.09 </a:t>
            </a:r>
          </a:p>
        </p:txBody>
      </p:sp>
      <p:sp>
        <p:nvSpPr>
          <p:cNvPr id="3" name="TextBox 2"/>
          <p:cNvSpPr txBox="1"/>
          <p:nvPr/>
        </p:nvSpPr>
        <p:spPr>
          <a:xfrm>
            <a:off x="76199" y="0"/>
            <a:ext cx="9144001" cy="830997"/>
          </a:xfrm>
          <a:prstGeom prst="rect">
            <a:avLst/>
          </a:prstGeom>
          <a:noFill/>
        </p:spPr>
        <p:txBody>
          <a:bodyPr wrap="square" rtlCol="0">
            <a:spAutoFit/>
          </a:bodyPr>
          <a:lstStyle/>
          <a:p>
            <a:r>
              <a:rPr lang="en-US" sz="2800" b="1" dirty="0" smtClean="0">
                <a:solidFill>
                  <a:srgbClr val="0000CC"/>
                </a:solidFill>
              </a:rPr>
              <a:t>POPE BENEDICT ON RESPONSIBILITY OF ALL IN THE CHURCH</a:t>
            </a:r>
            <a:r>
              <a:rPr lang="en-US" sz="2000" b="1" dirty="0" smtClean="0">
                <a:solidFill>
                  <a:srgbClr val="0000CC"/>
                </a:solidFill>
              </a:rPr>
              <a:t>               	</a:t>
            </a:r>
            <a:r>
              <a:rPr lang="en-US" sz="2000" dirty="0" smtClean="0"/>
              <a:t>www.vati</a:t>
            </a:r>
            <a:r>
              <a:rPr lang="en-US" sz="2000" b="1" dirty="0" smtClean="0"/>
              <a:t>can</a:t>
            </a:r>
            <a:r>
              <a:rPr lang="en-US" sz="2000" dirty="0" smtClean="0"/>
              <a:t>.va</a:t>
            </a:r>
            <a:r>
              <a:rPr lang="en-US" sz="2000" dirty="0"/>
              <a:t>/.../</a:t>
            </a:r>
            <a:r>
              <a:rPr lang="en-US" sz="2000" b="1" dirty="0" err="1"/>
              <a:t>benedict</a:t>
            </a:r>
            <a:r>
              <a:rPr lang="en-US" sz="2000" dirty="0" err="1"/>
              <a:t>_</a:t>
            </a:r>
            <a:r>
              <a:rPr lang="en-US" sz="2000" b="1" dirty="0" err="1"/>
              <a:t>xvi</a:t>
            </a:r>
            <a:r>
              <a:rPr lang="en-US" sz="2000" dirty="0"/>
              <a:t>/.../hf_ben-</a:t>
            </a:r>
            <a:r>
              <a:rPr lang="en-US" sz="2000" b="1" dirty="0"/>
              <a:t>xvi</a:t>
            </a:r>
            <a:r>
              <a:rPr lang="en-US" sz="2000" dirty="0"/>
              <a:t>_spe_20090526_conv...</a:t>
            </a:r>
            <a:endParaRPr lang="en-US" sz="2000" b="1" dirty="0">
              <a:solidFill>
                <a:srgbClr val="0000CC"/>
              </a:solidFill>
            </a:endParaRPr>
          </a:p>
        </p:txBody>
      </p:sp>
    </p:spTree>
    <p:extLst>
      <p:ext uri="{BB962C8B-B14F-4D97-AF65-F5344CB8AC3E}">
        <p14:creationId xmlns:p14="http://schemas.microsoft.com/office/powerpoint/2010/main" val="13916272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762000"/>
            <a:ext cx="9144000" cy="1371600"/>
          </a:xfrm>
        </p:spPr>
        <p:txBody>
          <a:bodyPr>
            <a:normAutofit fontScale="90000"/>
          </a:bodyPr>
          <a:lstStyle/>
          <a:p>
            <a:r>
              <a:rPr lang="en-US" sz="2800" dirty="0"/>
              <a:t/>
            </a:r>
            <a:br>
              <a:rPr lang="en-US" sz="2800" dirty="0"/>
            </a:br>
            <a:r>
              <a:rPr lang="en-US" sz="4000" b="1" dirty="0" smtClean="0">
                <a:solidFill>
                  <a:srgbClr val="0000CC"/>
                </a:solidFill>
              </a:rPr>
              <a:t>   PRIESTLY           PROPHETIC         POLITICAL</a:t>
            </a:r>
            <a:r>
              <a:rPr lang="en-US" sz="3200" dirty="0">
                <a:solidFill>
                  <a:srgbClr val="000066"/>
                </a:solidFill>
              </a:rPr>
              <a:t/>
            </a:r>
            <a:br>
              <a:rPr lang="en-US" sz="3200" dirty="0">
                <a:solidFill>
                  <a:srgbClr val="000066"/>
                </a:solidFill>
              </a:rPr>
            </a:br>
            <a:r>
              <a:rPr lang="en-US" sz="3200" dirty="0" smtClean="0">
                <a:solidFill>
                  <a:srgbClr val="000066"/>
                </a:solidFill>
              </a:rPr>
              <a:t>   </a:t>
            </a:r>
            <a:r>
              <a:rPr lang="en-US" sz="2800" b="1" dirty="0" smtClean="0">
                <a:solidFill>
                  <a:srgbClr val="0000CC"/>
                </a:solidFill>
              </a:rPr>
              <a:t>CULTIC                       WORD/GOSPEL                 SOCIETAL</a:t>
            </a:r>
            <a:endParaRPr lang="en-US" sz="2800" b="1" dirty="0">
              <a:solidFill>
                <a:srgbClr val="0000CC"/>
              </a:solidFill>
            </a:endParaRPr>
          </a:p>
        </p:txBody>
      </p:sp>
      <p:sp>
        <p:nvSpPr>
          <p:cNvPr id="59395" name="Text Box 3"/>
          <p:cNvSpPr txBox="1">
            <a:spLocks noChangeArrowheads="1"/>
          </p:cNvSpPr>
          <p:nvPr/>
        </p:nvSpPr>
        <p:spPr bwMode="auto">
          <a:xfrm>
            <a:off x="0" y="5334000"/>
            <a:ext cx="9144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4000" b="1" dirty="0">
                <a:solidFill>
                  <a:srgbClr val="0000CC"/>
                </a:solidFill>
              </a:rPr>
              <a:t>ALL THOSE BAPTIZED IN CHRIST</a:t>
            </a:r>
          </a:p>
          <a:p>
            <a:pPr algn="ctr"/>
            <a:r>
              <a:rPr lang="en-US" sz="4000" b="1" dirty="0">
                <a:solidFill>
                  <a:srgbClr val="0000CC"/>
                </a:solidFill>
              </a:rPr>
              <a:t>SHARE IN ALL THREE </a:t>
            </a:r>
            <a:r>
              <a:rPr lang="en-US" sz="4000" b="1" dirty="0" smtClean="0">
                <a:solidFill>
                  <a:srgbClr val="0000CC"/>
                </a:solidFill>
              </a:rPr>
              <a:t>MISSIONS</a:t>
            </a:r>
            <a:endParaRPr lang="en-US" sz="4000" b="1" dirty="0">
              <a:solidFill>
                <a:srgbClr val="0000CC"/>
              </a:solidFill>
            </a:endParaRPr>
          </a:p>
        </p:txBody>
      </p:sp>
      <p:sp>
        <p:nvSpPr>
          <p:cNvPr id="59396" name="Text Box 4"/>
          <p:cNvSpPr txBox="1">
            <a:spLocks noChangeArrowheads="1"/>
          </p:cNvSpPr>
          <p:nvPr/>
        </p:nvSpPr>
        <p:spPr bwMode="auto">
          <a:xfrm>
            <a:off x="0" y="2133600"/>
            <a:ext cx="30480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b="1" dirty="0"/>
              <a:t>THE ORDAINED</a:t>
            </a:r>
          </a:p>
          <a:p>
            <a:pPr algn="ctr"/>
            <a:r>
              <a:rPr lang="en-US" sz="2800" b="1" dirty="0"/>
              <a:t>PRIESTS TO</a:t>
            </a:r>
          </a:p>
          <a:p>
            <a:pPr algn="ctr"/>
            <a:r>
              <a:rPr lang="en-US" sz="2800" b="1" dirty="0"/>
              <a:t>BE A SIGN TO </a:t>
            </a:r>
          </a:p>
          <a:p>
            <a:pPr algn="ctr"/>
            <a:r>
              <a:rPr lang="en-US" sz="2800" b="1" dirty="0"/>
              <a:t>ALL OF THEIR</a:t>
            </a:r>
          </a:p>
          <a:p>
            <a:pPr algn="ctr"/>
            <a:r>
              <a:rPr lang="en-US" sz="2800" b="1" dirty="0"/>
              <a:t>PRIESTLY </a:t>
            </a:r>
          </a:p>
          <a:p>
            <a:pPr algn="ctr"/>
            <a:r>
              <a:rPr lang="en-US" sz="2800" b="1" dirty="0"/>
              <a:t>IDENTITY</a:t>
            </a:r>
          </a:p>
        </p:txBody>
      </p:sp>
      <p:sp>
        <p:nvSpPr>
          <p:cNvPr id="59397" name="Text Box 5"/>
          <p:cNvSpPr txBox="1">
            <a:spLocks noChangeArrowheads="1"/>
          </p:cNvSpPr>
          <p:nvPr/>
        </p:nvSpPr>
        <p:spPr bwMode="auto">
          <a:xfrm>
            <a:off x="6248400" y="2133600"/>
            <a:ext cx="289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800" b="1" dirty="0"/>
              <a:t>LAY PEOPLES’ WITNESS </a:t>
            </a:r>
            <a:r>
              <a:rPr lang="en-US" sz="2800" b="1" dirty="0" smtClean="0"/>
              <a:t>TO BE IN THE </a:t>
            </a:r>
            <a:r>
              <a:rPr lang="en-US" sz="2800" b="1" dirty="0"/>
              <a:t>ECONOMIC AND POLITICAL </a:t>
            </a:r>
            <a:r>
              <a:rPr lang="en-US" sz="2800" b="1" dirty="0" smtClean="0"/>
              <a:t>SPHERES OF SOCIETY</a:t>
            </a:r>
            <a:endParaRPr lang="en-US" b="1" dirty="0"/>
          </a:p>
        </p:txBody>
      </p:sp>
      <p:sp>
        <p:nvSpPr>
          <p:cNvPr id="59398" name="Text Box 6"/>
          <p:cNvSpPr txBox="1">
            <a:spLocks noChangeArrowheads="1"/>
          </p:cNvSpPr>
          <p:nvPr/>
        </p:nvSpPr>
        <p:spPr bwMode="auto">
          <a:xfrm>
            <a:off x="2971800" y="2133600"/>
            <a:ext cx="3200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800" b="1" dirty="0"/>
              <a:t>RELIGIOUS LIFE TO SERVE AS “CRITIQUE” OF ABERRATIONS IN OTHER ROLES</a:t>
            </a:r>
          </a:p>
        </p:txBody>
      </p:sp>
      <p:sp>
        <p:nvSpPr>
          <p:cNvPr id="59399" name="Text Box 7"/>
          <p:cNvSpPr txBox="1">
            <a:spLocks noChangeArrowheads="1"/>
          </p:cNvSpPr>
          <p:nvPr/>
        </p:nvSpPr>
        <p:spPr bwMode="auto">
          <a:xfrm>
            <a:off x="0" y="0"/>
            <a:ext cx="914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4000" b="1" dirty="0" smtClean="0">
                <a:solidFill>
                  <a:srgbClr val="0000CC"/>
                </a:solidFill>
              </a:rPr>
              <a:t>THREEFOLD </a:t>
            </a:r>
            <a:r>
              <a:rPr lang="en-US" sz="4000" b="1" dirty="0">
                <a:solidFill>
                  <a:srgbClr val="0000CC"/>
                </a:solidFill>
              </a:rPr>
              <a:t>MISSION of JESUS CHRIST</a:t>
            </a:r>
          </a:p>
        </p:txBody>
      </p:sp>
      <p:sp>
        <p:nvSpPr>
          <p:cNvPr id="59405" name="Line 13"/>
          <p:cNvSpPr>
            <a:spLocks noChangeShapeType="1"/>
          </p:cNvSpPr>
          <p:nvPr/>
        </p:nvSpPr>
        <p:spPr bwMode="auto">
          <a:xfrm flipV="1">
            <a:off x="4495800" y="4787900"/>
            <a:ext cx="3276600" cy="6223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6" name="Line 14"/>
          <p:cNvSpPr>
            <a:spLocks noChangeShapeType="1"/>
          </p:cNvSpPr>
          <p:nvPr/>
        </p:nvSpPr>
        <p:spPr bwMode="auto">
          <a:xfrm flipV="1">
            <a:off x="4495800" y="4648200"/>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7" name="Line 15"/>
          <p:cNvSpPr>
            <a:spLocks noChangeShapeType="1"/>
          </p:cNvSpPr>
          <p:nvPr/>
        </p:nvSpPr>
        <p:spPr bwMode="auto">
          <a:xfrm flipH="1" flipV="1">
            <a:off x="1524000" y="4760861"/>
            <a:ext cx="2971800" cy="64933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0" name="Line 18"/>
          <p:cNvSpPr>
            <a:spLocks noChangeShapeType="1"/>
          </p:cNvSpPr>
          <p:nvPr/>
        </p:nvSpPr>
        <p:spPr bwMode="auto">
          <a:xfrm>
            <a:off x="4572000" y="563564"/>
            <a:ext cx="3264310" cy="65563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1" name="Line 19"/>
          <p:cNvSpPr>
            <a:spLocks noChangeShapeType="1"/>
          </p:cNvSpPr>
          <p:nvPr/>
        </p:nvSpPr>
        <p:spPr bwMode="auto">
          <a:xfrm flipH="1">
            <a:off x="1524000" y="563563"/>
            <a:ext cx="3048000" cy="5794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2" name="Line 20"/>
          <p:cNvSpPr>
            <a:spLocks noChangeShapeType="1"/>
          </p:cNvSpPr>
          <p:nvPr/>
        </p:nvSpPr>
        <p:spPr bwMode="auto">
          <a:xfrm>
            <a:off x="4572000" y="597976"/>
            <a:ext cx="0" cy="62122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431177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4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4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4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3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4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4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39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P spid="59395" grpId="0"/>
      <p:bldP spid="59396" grpId="0"/>
      <p:bldP spid="59397" grpId="0"/>
      <p:bldP spid="59398" grpId="0"/>
      <p:bldP spid="59399" grpId="0"/>
      <p:bldP spid="59405" grpId="0" animBg="1"/>
      <p:bldP spid="59406" grpId="0" animBg="1"/>
      <p:bldP spid="59407" grpId="0" animBg="1"/>
      <p:bldP spid="59410" grpId="0" animBg="1"/>
      <p:bldP spid="59411" grpId="0" animBg="1"/>
      <p:bldP spid="594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7315200"/>
          </a:xfrm>
        </p:spPr>
        <p:txBody>
          <a:bodyPr>
            <a:normAutofit fontScale="90000"/>
          </a:bodyPr>
          <a:lstStyle/>
          <a:p>
            <a:pPr algn="l"/>
            <a:r>
              <a:rPr lang="en-NZ" dirty="0" smtClean="0"/>
              <a:t>Considering the </a:t>
            </a:r>
            <a:r>
              <a:rPr lang="en-NZ" dirty="0"/>
              <a:t>fact that the </a:t>
            </a:r>
            <a:r>
              <a:rPr lang="en-NZ" i="1" dirty="0"/>
              <a:t>prophetic, priestly and royal </a:t>
            </a:r>
            <a:r>
              <a:rPr lang="en-NZ" dirty="0"/>
              <a:t>condition is common to all the People of God </a:t>
            </a:r>
            <a:r>
              <a:rPr lang="en-NZ" sz="2200" dirty="0"/>
              <a:t>(cf. </a:t>
            </a:r>
            <a:r>
              <a:rPr lang="en-NZ" sz="2200" i="1" dirty="0"/>
              <a:t>LG</a:t>
            </a:r>
            <a:r>
              <a:rPr lang="en-NZ" sz="2200" dirty="0"/>
              <a:t> 9, 10, 34, 35, 36), </a:t>
            </a:r>
            <a:r>
              <a:rPr lang="en-NZ" dirty="0"/>
              <a:t>it seems useful to outline the competency of religious </a:t>
            </a:r>
            <a:r>
              <a:rPr lang="en-NZ" dirty="0" smtClean="0"/>
              <a:t>authority</a:t>
            </a:r>
            <a:r>
              <a:rPr lang="en-NZ" dirty="0"/>
              <a:t>, paralleling it by analogy to the three-fold function of pastoral ministry, namely, of teaching, sanctifying and governing without, however, confusing one authority with the other or equating them. </a:t>
            </a:r>
            <a:r>
              <a:rPr lang="en-NZ" dirty="0" smtClean="0"/>
              <a:t>	</a:t>
            </a:r>
            <a:r>
              <a:rPr lang="en-NZ" sz="2000" dirty="0" smtClean="0"/>
              <a:t>		</a:t>
            </a:r>
            <a:br>
              <a:rPr lang="en-NZ" sz="2000" dirty="0" smtClean="0"/>
            </a:br>
            <a:r>
              <a:rPr lang="en-NZ" sz="2000" dirty="0" smtClean="0"/>
              <a:t>      </a:t>
            </a:r>
            <a:r>
              <a:rPr lang="en-NZ" sz="2000" i="1" dirty="0" smtClean="0"/>
              <a:t>Directives </a:t>
            </a:r>
            <a:r>
              <a:rPr lang="en-NZ" sz="2000" i="1" dirty="0"/>
              <a:t>for the Mutual Relations Between Bishops and Religious in the </a:t>
            </a:r>
            <a:r>
              <a:rPr lang="en-NZ" sz="2000" i="1" dirty="0" smtClean="0"/>
              <a:t>Church</a:t>
            </a:r>
            <a:r>
              <a:rPr lang="en-NZ" sz="2000" dirty="0" smtClean="0"/>
              <a:t>, 1978, 13</a:t>
            </a:r>
            <a:r>
              <a:rPr lang="en-US" dirty="0"/>
              <a:t/>
            </a:r>
            <a:br>
              <a:rPr lang="en-US" dirty="0"/>
            </a:br>
            <a:endParaRPr lang="en-US" dirty="0"/>
          </a:p>
        </p:txBody>
      </p:sp>
    </p:spTree>
    <p:extLst>
      <p:ext uri="{BB962C8B-B14F-4D97-AF65-F5344CB8AC3E}">
        <p14:creationId xmlns:p14="http://schemas.microsoft.com/office/powerpoint/2010/main" val="1772948107"/>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38303" cy="3657600"/>
          </a:xfrm>
        </p:spPr>
        <p:txBody>
          <a:bodyPr>
            <a:normAutofit fontScale="90000"/>
          </a:bodyPr>
          <a:lstStyle/>
          <a:p>
            <a:pPr algn="l"/>
            <a:r>
              <a:rPr lang="en-US" sz="4000" dirty="0" smtClean="0">
                <a:latin typeface="+mn-lt"/>
              </a:rPr>
              <a:t>Christ </a:t>
            </a:r>
            <a:r>
              <a:rPr lang="en-US" sz="4000" dirty="0">
                <a:latin typeface="+mn-lt"/>
              </a:rPr>
              <a:t>was a true and effective priest because he was full of the power of the Holy Spirit, he was the culmination of all the fullness of the love of God "on the night he was betrayed," precisely in the "hour of darkness" </a:t>
            </a:r>
            <a:r>
              <a:rPr lang="en-US" sz="2000" dirty="0"/>
              <a:t>(cf. Luke 22:53</a:t>
            </a:r>
            <a:r>
              <a:rPr lang="en-US" sz="2000" dirty="0" smtClean="0"/>
              <a:t>) </a:t>
            </a:r>
            <a:r>
              <a:rPr lang="en-US" sz="3200" dirty="0" smtClean="0"/>
              <a:t>.  . </a:t>
            </a:r>
            <a:r>
              <a:rPr lang="en-US" sz="3200" dirty="0"/>
              <a:t> </a:t>
            </a:r>
            <a:r>
              <a:rPr lang="en-US" sz="3200" dirty="0" smtClean="0"/>
              <a:t>.</a:t>
            </a:r>
            <a:br>
              <a:rPr lang="en-US" sz="3200" dirty="0" smtClean="0"/>
            </a:br>
            <a:r>
              <a:rPr lang="en-US" sz="3200" dirty="0"/>
              <a:t/>
            </a:r>
            <a:br>
              <a:rPr lang="en-US" sz="3200" dirty="0"/>
            </a:br>
            <a:r>
              <a:rPr lang="en-US" sz="3200" dirty="0" smtClean="0"/>
              <a:t>	</a:t>
            </a:r>
            <a:endParaRPr lang="en-US" sz="2000" dirty="0"/>
          </a:p>
        </p:txBody>
      </p:sp>
      <p:sp>
        <p:nvSpPr>
          <p:cNvPr id="3" name="TextBox 2"/>
          <p:cNvSpPr txBox="1"/>
          <p:nvPr/>
        </p:nvSpPr>
        <p:spPr>
          <a:xfrm rot="10800000" flipV="1">
            <a:off x="0" y="2652118"/>
            <a:ext cx="9144000" cy="4278094"/>
          </a:xfrm>
          <a:prstGeom prst="rect">
            <a:avLst/>
          </a:prstGeom>
          <a:noFill/>
        </p:spPr>
        <p:txBody>
          <a:bodyPr wrap="square" rtlCol="0">
            <a:spAutoFit/>
          </a:bodyPr>
          <a:lstStyle/>
          <a:p>
            <a:r>
              <a:rPr lang="en-US" sz="3600" dirty="0" smtClean="0"/>
              <a:t>         This </a:t>
            </a:r>
            <a:r>
              <a:rPr lang="en-US" sz="3600" dirty="0"/>
              <a:t>is the work of the priesthood of Christ, which the Church has inherited and continues to perpetuate, in the twofold form of ordinary </a:t>
            </a:r>
            <a:r>
              <a:rPr lang="en-US" sz="3600" dirty="0" smtClean="0"/>
              <a:t>priesthood </a:t>
            </a:r>
            <a:r>
              <a:rPr lang="en-US" sz="3600" dirty="0"/>
              <a:t>of the baptized and that of the ordained ministers, to transform the world with the love of God. All, priests and faithful, are nourished by the same Eucharist . . .  </a:t>
            </a:r>
            <a:r>
              <a:rPr lang="en-US" sz="2000" dirty="0" smtClean="0"/>
              <a:t>Pope </a:t>
            </a:r>
            <a:r>
              <a:rPr lang="en-US" sz="2000" dirty="0"/>
              <a:t>Benedict XVI, Corpus Christ Homily, 2010</a:t>
            </a:r>
          </a:p>
        </p:txBody>
      </p:sp>
    </p:spTree>
    <p:extLst>
      <p:ext uri="{BB962C8B-B14F-4D97-AF65-F5344CB8AC3E}">
        <p14:creationId xmlns:p14="http://schemas.microsoft.com/office/powerpoint/2010/main" val="39928463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4400"/>
            <a:ext cx="9144000" cy="6096000"/>
          </a:xfrm>
        </p:spPr>
        <p:txBody>
          <a:bodyPr>
            <a:normAutofit/>
          </a:bodyPr>
          <a:lstStyle/>
          <a:p>
            <a:pPr algn="l"/>
            <a:r>
              <a:rPr lang="en-US" sz="4800" dirty="0" smtClean="0"/>
              <a:t>“Episcopal </a:t>
            </a:r>
            <a:r>
              <a:rPr lang="en-US" sz="4800" dirty="0"/>
              <a:t>consecration has </a:t>
            </a:r>
            <a:r>
              <a:rPr lang="en-US" sz="4800" dirty="0" smtClean="0"/>
              <a:t>con-</a:t>
            </a:r>
            <a:r>
              <a:rPr lang="en-US" sz="4800" dirty="0" err="1" smtClean="0"/>
              <a:t>ferred</a:t>
            </a:r>
            <a:r>
              <a:rPr lang="en-US" sz="4800" dirty="0" smtClean="0"/>
              <a:t> </a:t>
            </a:r>
            <a:r>
              <a:rPr lang="en-US" sz="4800" dirty="0"/>
              <a:t>upon you the fullness of the sacrament of Orders which, in the </a:t>
            </a:r>
            <a:r>
              <a:rPr lang="en-US" sz="4800" dirty="0" smtClean="0"/>
              <a:t>ecclesial </a:t>
            </a:r>
            <a:r>
              <a:rPr lang="en-US" sz="4800" dirty="0"/>
              <a:t>community, is placed at the service of the common </a:t>
            </a:r>
            <a:r>
              <a:rPr lang="en-US" sz="4800" dirty="0" smtClean="0"/>
              <a:t>priest-hood </a:t>
            </a:r>
            <a:r>
              <a:rPr lang="en-US" sz="4800" dirty="0"/>
              <a:t>of the faithful, of their </a:t>
            </a:r>
            <a:r>
              <a:rPr lang="en-US" sz="4800" dirty="0" err="1" smtClean="0"/>
              <a:t>spiritu</a:t>
            </a:r>
            <a:r>
              <a:rPr lang="en-US" sz="4800" dirty="0" smtClean="0"/>
              <a:t>-al </a:t>
            </a:r>
            <a:r>
              <a:rPr lang="en-US" sz="4800" dirty="0"/>
              <a:t>growth and of their holiness</a:t>
            </a:r>
            <a:r>
              <a:rPr lang="en-US" sz="4800" dirty="0" smtClean="0"/>
              <a:t>.”</a:t>
            </a:r>
            <a:r>
              <a:rPr lang="en-US" sz="2000" dirty="0" smtClean="0"/>
              <a:t>			       					September 15, 2011</a:t>
            </a:r>
            <a:endParaRPr lang="en-US" sz="2000" dirty="0"/>
          </a:p>
        </p:txBody>
      </p:sp>
      <p:sp>
        <p:nvSpPr>
          <p:cNvPr id="3" name="TextBox 2"/>
          <p:cNvSpPr txBox="1"/>
          <p:nvPr/>
        </p:nvSpPr>
        <p:spPr>
          <a:xfrm>
            <a:off x="0" y="0"/>
            <a:ext cx="9144000" cy="1292662"/>
          </a:xfrm>
          <a:prstGeom prst="rect">
            <a:avLst/>
          </a:prstGeom>
          <a:noFill/>
        </p:spPr>
        <p:txBody>
          <a:bodyPr wrap="square" rtlCol="0">
            <a:spAutoFit/>
          </a:bodyPr>
          <a:lstStyle/>
          <a:p>
            <a:pPr algn="ctr"/>
            <a:r>
              <a:rPr lang="en-US" sz="5400" b="1" dirty="0" smtClean="0">
                <a:solidFill>
                  <a:srgbClr val="0000CC"/>
                </a:solidFill>
              </a:rPr>
              <a:t>POPE BENEDICT TO BISHOPS</a:t>
            </a:r>
            <a:endParaRPr lang="en-US" sz="2000" b="1" dirty="0" smtClean="0">
              <a:solidFill>
                <a:srgbClr val="0000CC"/>
              </a:solidFill>
            </a:endParaRPr>
          </a:p>
          <a:p>
            <a:pPr algn="ctr"/>
            <a:r>
              <a:rPr lang="en-US" sz="2400" dirty="0"/>
              <a:t>www.vatican.va/...fat</a:t>
            </a:r>
            <a:r>
              <a:rPr lang="en-US" sz="2400" b="1" dirty="0"/>
              <a:t>her</a:t>
            </a:r>
            <a:r>
              <a:rPr lang="en-US" sz="2400" dirty="0"/>
              <a:t>/</a:t>
            </a:r>
            <a:r>
              <a:rPr lang="en-US" sz="2400" b="1" dirty="0" err="1"/>
              <a:t>benedict</a:t>
            </a:r>
            <a:r>
              <a:rPr lang="en-US" sz="2400" dirty="0" err="1"/>
              <a:t>_</a:t>
            </a:r>
            <a:r>
              <a:rPr lang="en-US" sz="2400" b="1" dirty="0" err="1"/>
              <a:t>xvi</a:t>
            </a:r>
            <a:r>
              <a:rPr lang="en-US" sz="2400" dirty="0"/>
              <a:t>/.../hf_ben-</a:t>
            </a:r>
            <a:r>
              <a:rPr lang="en-US" sz="2400" b="1" dirty="0"/>
              <a:t>xvi</a:t>
            </a:r>
            <a:r>
              <a:rPr lang="en-US" sz="2400" dirty="0"/>
              <a:t>_spe_20110915...</a:t>
            </a:r>
            <a:endParaRPr lang="en-US" sz="2400" b="1" dirty="0">
              <a:solidFill>
                <a:srgbClr val="0000CC"/>
              </a:solidFill>
            </a:endParaRPr>
          </a:p>
        </p:txBody>
      </p:sp>
    </p:spTree>
    <p:extLst>
      <p:ext uri="{BB962C8B-B14F-4D97-AF65-F5344CB8AC3E}">
        <p14:creationId xmlns:p14="http://schemas.microsoft.com/office/powerpoint/2010/main" val="4248908200"/>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391400"/>
          </a:xfrm>
        </p:spPr>
        <p:txBody>
          <a:bodyPr>
            <a:normAutofit fontScale="90000"/>
          </a:bodyPr>
          <a:lstStyle/>
          <a:p>
            <a:pPr algn="l"/>
            <a:r>
              <a:rPr lang="en-US" sz="3100" dirty="0"/>
              <a:t>The purpose and mission of ministerial priesthood, in fact, is to enliven the priesthood of the faithful, who, by virtue of Baptism, share in their own way in the one priesthood of Christ, as the Conciliar Constitution </a:t>
            </a:r>
            <a:r>
              <a:rPr lang="en-US" sz="3100" i="1" dirty="0"/>
              <a:t>Lumen Gentium</a:t>
            </a:r>
            <a:r>
              <a:rPr lang="en-US" sz="3100" dirty="0"/>
              <a:t> says: "The common priesthood of the faithful and the ministerial or hierarchical priesthood are none the less ordered one to another; each in its own proper way shares in the one priesthood of Christ" (n. 10). For this reason it is the task of bishops to watch over the baptized and work to enable them to develop in grace and in accordance with the charisms that the Holy Spirit awakens in their hearts and in their communities. The Second Vatican Council recalled that while the Holy Spirit unifies "the Church in communion and in the works of ministry, he bestows upon her varied hierarchic and charismatic gifts... and adorns her with his fruits" </a:t>
            </a:r>
            <a:r>
              <a:rPr lang="en-US" sz="2200" dirty="0"/>
              <a:t>(cf. </a:t>
            </a:r>
            <a:r>
              <a:rPr lang="en-US" sz="2200" i="1" dirty="0"/>
              <a:t>ibid</a:t>
            </a:r>
            <a:r>
              <a:rPr lang="en-US" sz="2200" dirty="0"/>
              <a:t>., n. 4).  </a:t>
            </a:r>
            <a:r>
              <a:rPr lang="en-US" sz="2200" dirty="0" smtClean="0"/>
              <a:t>		           Pope </a:t>
            </a:r>
            <a:r>
              <a:rPr lang="en-US" sz="2200" dirty="0"/>
              <a:t>Benedict XVI to Recently Appointed Prelates, 09.15.11</a:t>
            </a:r>
            <a:r>
              <a:rPr lang="en-US" sz="3200" dirty="0"/>
              <a:t/>
            </a:r>
            <a:br>
              <a:rPr lang="en-US" sz="3200" dirty="0"/>
            </a:br>
            <a:endParaRPr lang="en-US" dirty="0"/>
          </a:p>
        </p:txBody>
      </p:sp>
    </p:spTree>
    <p:extLst>
      <p:ext uri="{BB962C8B-B14F-4D97-AF65-F5344CB8AC3E}">
        <p14:creationId xmlns:p14="http://schemas.microsoft.com/office/powerpoint/2010/main" val="151686113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990599"/>
          </a:xfrm>
        </p:spPr>
        <p:txBody>
          <a:bodyPr/>
          <a:lstStyle/>
          <a:p>
            <a:r>
              <a:rPr lang="en-US" b="1" dirty="0" smtClean="0">
                <a:solidFill>
                  <a:srgbClr val="0000CC"/>
                </a:solidFill>
              </a:rPr>
              <a:t>The Bishops’ Role: Nurture Priesthood</a:t>
            </a:r>
            <a:endParaRPr lang="en-US" b="1" dirty="0">
              <a:solidFill>
                <a:srgbClr val="0000CC"/>
              </a:solidFill>
            </a:endParaRPr>
          </a:p>
        </p:txBody>
      </p:sp>
      <p:sp>
        <p:nvSpPr>
          <p:cNvPr id="3" name="Subtitle 2"/>
          <p:cNvSpPr>
            <a:spLocks noGrp="1"/>
          </p:cNvSpPr>
          <p:nvPr>
            <p:ph type="subTitle" idx="1"/>
          </p:nvPr>
        </p:nvSpPr>
        <p:spPr>
          <a:xfrm>
            <a:off x="0" y="838200"/>
            <a:ext cx="9144000" cy="6019800"/>
          </a:xfrm>
        </p:spPr>
        <p:txBody>
          <a:bodyPr>
            <a:normAutofit fontScale="92500" lnSpcReduction="20000"/>
          </a:bodyPr>
          <a:lstStyle/>
          <a:p>
            <a:pPr algn="l"/>
            <a:r>
              <a:rPr lang="en-US" sz="2800" dirty="0">
                <a:solidFill>
                  <a:schemeClr val="tx1"/>
                </a:solidFill>
              </a:rPr>
              <a:t>The fundamental gift that you are called to nurture in the faithful entrusted to your pastoral care is first and foremost that of divine filiation, which is the participation of each person in Trinitarian communion. The essential is that we truly become sons and daughters in the Son. Baptism which makes human beings "sons in the Son" and members of the Church, is the root and source of all the other charismatic gifts. With your ministry of sanctification you teach the faithful to participate ever more intensely in the prophetic and royal office of Christ, helping them to build the Church in accordance with the gifts received from God, in an active and co-responsible way. In fact, we must always bear in mind that the gifts of the Spirit, whether they are extraordinary or simple and humble, are always given freely for the edification of all. The Bishop, as a visible sign of the unity of his particular Church (cf. </a:t>
            </a:r>
            <a:r>
              <a:rPr lang="en-US" sz="2800" i="1" dirty="0">
                <a:solidFill>
                  <a:schemeClr val="tx1"/>
                </a:solidFill>
              </a:rPr>
              <a:t>ibid</a:t>
            </a:r>
            <a:r>
              <a:rPr lang="en-US" sz="2800" dirty="0">
                <a:solidFill>
                  <a:schemeClr val="tx1"/>
                </a:solidFill>
              </a:rPr>
              <a:t>., n. 23), has the task of unifying and harmonizing charismatic diversity in the unity of the Church, encouraging reciprocity between the hierarchical priesthood and the baptismal priesthood</a:t>
            </a:r>
            <a:r>
              <a:rPr lang="en-US" sz="2800" dirty="0" smtClean="0">
                <a:solidFill>
                  <a:schemeClr val="tx1"/>
                </a:solidFill>
              </a:rPr>
              <a:t>.						09.15.11</a:t>
            </a:r>
            <a:endParaRPr lang="en-US" sz="2800" dirty="0">
              <a:solidFill>
                <a:schemeClr val="tx1"/>
              </a:solidFill>
            </a:endParaRPr>
          </a:p>
          <a:p>
            <a:pPr algn="l"/>
            <a:endParaRPr lang="en-US" sz="2000" dirty="0"/>
          </a:p>
        </p:txBody>
      </p:sp>
    </p:spTree>
    <p:extLst>
      <p:ext uri="{BB962C8B-B14F-4D97-AF65-F5344CB8AC3E}">
        <p14:creationId xmlns:p14="http://schemas.microsoft.com/office/powerpoint/2010/main" val="374514234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142999"/>
          </a:xfrm>
        </p:spPr>
        <p:txBody>
          <a:bodyPr>
            <a:normAutofit/>
          </a:bodyPr>
          <a:lstStyle/>
          <a:p>
            <a:r>
              <a:rPr lang="en-US" sz="4800" b="1" dirty="0" smtClean="0">
                <a:solidFill>
                  <a:srgbClr val="0000CC"/>
                </a:solidFill>
              </a:rPr>
              <a:t>NEW MENTALITY NEEDED FOR ALL</a:t>
            </a:r>
            <a:endParaRPr lang="en-US" sz="4800" b="1" dirty="0">
              <a:solidFill>
                <a:srgbClr val="0000CC"/>
              </a:solidFill>
            </a:endParaRPr>
          </a:p>
        </p:txBody>
      </p:sp>
      <p:sp>
        <p:nvSpPr>
          <p:cNvPr id="3" name="Subtitle 2"/>
          <p:cNvSpPr>
            <a:spLocks noGrp="1"/>
          </p:cNvSpPr>
          <p:nvPr>
            <p:ph type="subTitle" idx="1"/>
          </p:nvPr>
        </p:nvSpPr>
        <p:spPr>
          <a:xfrm>
            <a:off x="76200" y="1066800"/>
            <a:ext cx="8915400" cy="5791200"/>
          </a:xfrm>
        </p:spPr>
        <p:txBody>
          <a:bodyPr>
            <a:normAutofit/>
          </a:bodyPr>
          <a:lstStyle/>
          <a:p>
            <a:pPr algn="l"/>
            <a:r>
              <a:rPr lang="en-US" dirty="0" smtClean="0">
                <a:solidFill>
                  <a:schemeClr val="tx1"/>
                </a:solidFill>
              </a:rPr>
              <a:t>“Co-responsibility </a:t>
            </a:r>
            <a:r>
              <a:rPr lang="en-US" dirty="0">
                <a:solidFill>
                  <a:schemeClr val="tx1"/>
                </a:solidFill>
              </a:rPr>
              <a:t>requires a change in mentality, particularly with regard to the role of the laity in the Church, who should be considered not as “</a:t>
            </a:r>
            <a:r>
              <a:rPr lang="en-US" dirty="0" err="1" smtClean="0">
                <a:solidFill>
                  <a:schemeClr val="tx1"/>
                </a:solidFill>
              </a:rPr>
              <a:t>collabora</a:t>
            </a:r>
            <a:r>
              <a:rPr lang="en-US" dirty="0" smtClean="0">
                <a:solidFill>
                  <a:schemeClr val="tx1"/>
                </a:solidFill>
              </a:rPr>
              <a:t>-tors</a:t>
            </a:r>
            <a:r>
              <a:rPr lang="en-US" dirty="0">
                <a:solidFill>
                  <a:schemeClr val="tx1"/>
                </a:solidFill>
              </a:rPr>
              <a:t>” with the clergy, but as persons truly “</a:t>
            </a:r>
            <a:r>
              <a:rPr lang="en-US" dirty="0" smtClean="0">
                <a:solidFill>
                  <a:schemeClr val="tx1"/>
                </a:solidFill>
              </a:rPr>
              <a:t>co-</a:t>
            </a:r>
            <a:r>
              <a:rPr lang="en-US" dirty="0" err="1" smtClean="0">
                <a:solidFill>
                  <a:schemeClr val="tx1"/>
                </a:solidFill>
              </a:rPr>
              <a:t>respo</a:t>
            </a:r>
            <a:r>
              <a:rPr lang="en-US" dirty="0" smtClean="0">
                <a:solidFill>
                  <a:schemeClr val="tx1"/>
                </a:solidFill>
              </a:rPr>
              <a:t>-</a:t>
            </a:r>
            <a:r>
              <a:rPr lang="en-US" dirty="0" err="1" smtClean="0">
                <a:solidFill>
                  <a:schemeClr val="tx1"/>
                </a:solidFill>
              </a:rPr>
              <a:t>nsible</a:t>
            </a:r>
            <a:r>
              <a:rPr lang="en-US" dirty="0">
                <a:solidFill>
                  <a:schemeClr val="tx1"/>
                </a:solidFill>
              </a:rPr>
              <a:t>” for the being and activity of the Church. It is important, therefore, that a mature and committed laity be united, who are able to make their own specific contribution to the Church’s mission, in accordance with the ministries and tasks each one has in the life of the Church, and always in cordial communion with the bishops</a:t>
            </a:r>
            <a:r>
              <a:rPr lang="en-US" dirty="0" smtClean="0">
                <a:solidFill>
                  <a:schemeClr val="tx1"/>
                </a:solidFill>
              </a:rPr>
              <a:t>.”</a:t>
            </a:r>
            <a:r>
              <a:rPr lang="en-US" sz="2000" dirty="0" smtClean="0">
                <a:solidFill>
                  <a:schemeClr val="tx1"/>
                </a:solidFill>
              </a:rPr>
              <a:t> 								                       Pope Benedict XVI, August 24, 2012</a:t>
            </a:r>
            <a:endParaRPr lang="en-US" dirty="0">
              <a:solidFill>
                <a:schemeClr val="tx1"/>
              </a:solidFill>
            </a:endParaRPr>
          </a:p>
          <a:p>
            <a:pPr algn="l"/>
            <a:endParaRPr lang="en-US" dirty="0"/>
          </a:p>
        </p:txBody>
      </p:sp>
    </p:spTree>
    <p:extLst>
      <p:ext uri="{BB962C8B-B14F-4D97-AF65-F5344CB8AC3E}">
        <p14:creationId xmlns:p14="http://schemas.microsoft.com/office/powerpoint/2010/main" val="17582128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onut 2"/>
          <p:cNvSpPr/>
          <p:nvPr/>
        </p:nvSpPr>
        <p:spPr>
          <a:xfrm>
            <a:off x="2743200" y="1143000"/>
            <a:ext cx="3886200" cy="4114800"/>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4" name="TextBox 3"/>
          <p:cNvSpPr txBox="1"/>
          <p:nvPr/>
        </p:nvSpPr>
        <p:spPr>
          <a:xfrm>
            <a:off x="2819400" y="2819400"/>
            <a:ext cx="3809999" cy="769441"/>
          </a:xfrm>
          <a:prstGeom prst="rect">
            <a:avLst/>
          </a:prstGeom>
          <a:noFill/>
        </p:spPr>
        <p:txBody>
          <a:bodyPr wrap="square" rtlCol="0">
            <a:spAutoFit/>
          </a:bodyPr>
          <a:lstStyle/>
          <a:p>
            <a:pPr algn="ctr"/>
            <a:r>
              <a:rPr lang="en-US" sz="4400" b="1" dirty="0" smtClean="0"/>
              <a:t>CHRISTOLOGY</a:t>
            </a:r>
            <a:endParaRPr lang="en-US" sz="4400" b="1" dirty="0"/>
          </a:p>
        </p:txBody>
      </p:sp>
      <p:sp>
        <p:nvSpPr>
          <p:cNvPr id="6" name="TextBox 5"/>
          <p:cNvSpPr txBox="1"/>
          <p:nvPr/>
        </p:nvSpPr>
        <p:spPr>
          <a:xfrm>
            <a:off x="3429000" y="76200"/>
            <a:ext cx="2407647" cy="1077218"/>
          </a:xfrm>
          <a:prstGeom prst="rect">
            <a:avLst/>
          </a:prstGeom>
          <a:noFill/>
        </p:spPr>
        <p:txBody>
          <a:bodyPr wrap="none" rtlCol="0">
            <a:spAutoFit/>
          </a:bodyPr>
          <a:lstStyle/>
          <a:p>
            <a:pPr algn="ctr"/>
            <a:r>
              <a:rPr lang="en-US" sz="3200" dirty="0" smtClean="0"/>
              <a:t>CHURCH AS </a:t>
            </a:r>
          </a:p>
          <a:p>
            <a:pPr algn="ctr"/>
            <a:r>
              <a:rPr lang="en-US" sz="3200" dirty="0" smtClean="0"/>
              <a:t>COMMUNITY</a:t>
            </a:r>
            <a:endParaRPr lang="en-US" sz="3200" dirty="0"/>
          </a:p>
        </p:txBody>
      </p:sp>
      <p:sp>
        <p:nvSpPr>
          <p:cNvPr id="7" name="TextBox 6"/>
          <p:cNvSpPr txBox="1"/>
          <p:nvPr/>
        </p:nvSpPr>
        <p:spPr>
          <a:xfrm>
            <a:off x="681058" y="1143000"/>
            <a:ext cx="2138342" cy="1077218"/>
          </a:xfrm>
          <a:prstGeom prst="rect">
            <a:avLst/>
          </a:prstGeom>
          <a:noFill/>
        </p:spPr>
        <p:txBody>
          <a:bodyPr wrap="none" rtlCol="0">
            <a:spAutoFit/>
          </a:bodyPr>
          <a:lstStyle/>
          <a:p>
            <a:pPr algn="ctr"/>
            <a:r>
              <a:rPr lang="en-US" sz="3200" dirty="0" smtClean="0"/>
              <a:t>CHURCH AS</a:t>
            </a:r>
          </a:p>
          <a:p>
            <a:pPr algn="ctr"/>
            <a:r>
              <a:rPr lang="en-US" sz="3200" dirty="0" smtClean="0"/>
              <a:t>SERVANT</a:t>
            </a:r>
            <a:endParaRPr lang="en-US" sz="3200" dirty="0"/>
          </a:p>
        </p:txBody>
      </p:sp>
      <p:sp>
        <p:nvSpPr>
          <p:cNvPr id="8" name="TextBox 7"/>
          <p:cNvSpPr txBox="1"/>
          <p:nvPr/>
        </p:nvSpPr>
        <p:spPr>
          <a:xfrm>
            <a:off x="-49274" y="4180582"/>
            <a:ext cx="3630674" cy="1077218"/>
          </a:xfrm>
          <a:prstGeom prst="rect">
            <a:avLst/>
          </a:prstGeom>
          <a:noFill/>
        </p:spPr>
        <p:txBody>
          <a:bodyPr wrap="none" rtlCol="0">
            <a:spAutoFit/>
          </a:bodyPr>
          <a:lstStyle/>
          <a:p>
            <a:pPr algn="ctr"/>
            <a:r>
              <a:rPr lang="en-US" sz="3200" dirty="0" smtClean="0"/>
              <a:t>CHURCH AS </a:t>
            </a:r>
          </a:p>
          <a:p>
            <a:pPr algn="ctr"/>
            <a:r>
              <a:rPr lang="en-US" sz="3200" dirty="0" smtClean="0"/>
              <a:t>WORD-PROCLAIMER</a:t>
            </a:r>
            <a:endParaRPr lang="en-US" sz="3200" dirty="0"/>
          </a:p>
        </p:txBody>
      </p:sp>
      <p:sp>
        <p:nvSpPr>
          <p:cNvPr id="9" name="TextBox 8"/>
          <p:cNvSpPr txBox="1"/>
          <p:nvPr/>
        </p:nvSpPr>
        <p:spPr>
          <a:xfrm>
            <a:off x="6553200" y="1143000"/>
            <a:ext cx="2301015" cy="1077218"/>
          </a:xfrm>
          <a:prstGeom prst="rect">
            <a:avLst/>
          </a:prstGeom>
          <a:noFill/>
        </p:spPr>
        <p:txBody>
          <a:bodyPr wrap="none" rtlCol="0">
            <a:spAutoFit/>
          </a:bodyPr>
          <a:lstStyle/>
          <a:p>
            <a:pPr algn="ctr"/>
            <a:r>
              <a:rPr lang="en-US" sz="3200" dirty="0" smtClean="0"/>
              <a:t>CHURCH AS</a:t>
            </a:r>
          </a:p>
          <a:p>
            <a:pPr algn="ctr"/>
            <a:r>
              <a:rPr lang="en-US" sz="3200" dirty="0" smtClean="0"/>
              <a:t>SACRAMENT</a:t>
            </a:r>
            <a:endParaRPr lang="en-US" sz="3200" dirty="0"/>
          </a:p>
        </p:txBody>
      </p:sp>
      <p:sp>
        <p:nvSpPr>
          <p:cNvPr id="10" name="TextBox 9"/>
          <p:cNvSpPr txBox="1"/>
          <p:nvPr/>
        </p:nvSpPr>
        <p:spPr>
          <a:xfrm>
            <a:off x="6705599" y="2656582"/>
            <a:ext cx="2438401" cy="1077218"/>
          </a:xfrm>
          <a:prstGeom prst="rect">
            <a:avLst/>
          </a:prstGeom>
          <a:noFill/>
        </p:spPr>
        <p:txBody>
          <a:bodyPr wrap="square" rtlCol="0">
            <a:spAutoFit/>
          </a:bodyPr>
          <a:lstStyle/>
          <a:p>
            <a:pPr algn="ctr"/>
            <a:r>
              <a:rPr lang="en-US" sz="3200" dirty="0" smtClean="0"/>
              <a:t>CHURCH AS</a:t>
            </a:r>
          </a:p>
          <a:p>
            <a:pPr algn="ctr"/>
            <a:r>
              <a:rPr lang="en-US" sz="3200" dirty="0" smtClean="0"/>
              <a:t>INSTITUTION</a:t>
            </a:r>
            <a:endParaRPr lang="en-US" sz="3200" dirty="0"/>
          </a:p>
        </p:txBody>
      </p:sp>
      <p:sp>
        <p:nvSpPr>
          <p:cNvPr id="11" name="TextBox 10"/>
          <p:cNvSpPr txBox="1"/>
          <p:nvPr/>
        </p:nvSpPr>
        <p:spPr>
          <a:xfrm>
            <a:off x="435684" y="2743200"/>
            <a:ext cx="2231316" cy="1077218"/>
          </a:xfrm>
          <a:prstGeom prst="rect">
            <a:avLst/>
          </a:prstGeom>
          <a:noFill/>
        </p:spPr>
        <p:txBody>
          <a:bodyPr wrap="none" rtlCol="0">
            <a:spAutoFit/>
          </a:bodyPr>
          <a:lstStyle/>
          <a:p>
            <a:pPr algn="ctr"/>
            <a:r>
              <a:rPr lang="en-US" sz="3200" dirty="0" smtClean="0"/>
              <a:t>CHURCH AS </a:t>
            </a:r>
          </a:p>
          <a:p>
            <a:pPr algn="ctr"/>
            <a:r>
              <a:rPr lang="en-US" sz="3200" dirty="0" smtClean="0"/>
              <a:t>FAMILY</a:t>
            </a:r>
            <a:endParaRPr lang="en-US" sz="3200" dirty="0"/>
          </a:p>
        </p:txBody>
      </p:sp>
      <p:sp>
        <p:nvSpPr>
          <p:cNvPr id="12" name="TextBox 11"/>
          <p:cNvSpPr txBox="1"/>
          <p:nvPr/>
        </p:nvSpPr>
        <p:spPr>
          <a:xfrm>
            <a:off x="5827843" y="4180582"/>
            <a:ext cx="3370859" cy="1077218"/>
          </a:xfrm>
          <a:prstGeom prst="rect">
            <a:avLst/>
          </a:prstGeom>
          <a:noFill/>
        </p:spPr>
        <p:txBody>
          <a:bodyPr wrap="none" rtlCol="0">
            <a:spAutoFit/>
          </a:bodyPr>
          <a:lstStyle/>
          <a:p>
            <a:pPr algn="ctr"/>
            <a:r>
              <a:rPr lang="en-US" sz="3200" dirty="0" smtClean="0"/>
              <a:t>CHURCH AS </a:t>
            </a:r>
          </a:p>
          <a:p>
            <a:pPr algn="ctr"/>
            <a:r>
              <a:rPr lang="en-US" sz="3200" dirty="0" smtClean="0"/>
              <a:t>BELIEVERS IN EXILE</a:t>
            </a:r>
            <a:endParaRPr lang="en-US" sz="3200" dirty="0"/>
          </a:p>
        </p:txBody>
      </p:sp>
      <p:sp>
        <p:nvSpPr>
          <p:cNvPr id="13" name="TextBox 12"/>
          <p:cNvSpPr txBox="1"/>
          <p:nvPr/>
        </p:nvSpPr>
        <p:spPr>
          <a:xfrm>
            <a:off x="3459753" y="5334000"/>
            <a:ext cx="2407647" cy="1569660"/>
          </a:xfrm>
          <a:prstGeom prst="rect">
            <a:avLst/>
          </a:prstGeom>
          <a:noFill/>
        </p:spPr>
        <p:txBody>
          <a:bodyPr wrap="none" rtlCol="0">
            <a:spAutoFit/>
          </a:bodyPr>
          <a:lstStyle/>
          <a:p>
            <a:pPr algn="ctr"/>
            <a:r>
              <a:rPr lang="en-US" sz="3200" dirty="0" smtClean="0"/>
              <a:t>CHURCH AS</a:t>
            </a:r>
          </a:p>
          <a:p>
            <a:pPr algn="ctr"/>
            <a:r>
              <a:rPr lang="en-US" sz="3200" dirty="0" smtClean="0"/>
              <a:t>COMMUNITY</a:t>
            </a:r>
          </a:p>
          <a:p>
            <a:pPr algn="ctr"/>
            <a:r>
              <a:rPr lang="en-US" sz="3200" dirty="0" smtClean="0"/>
              <a:t>OF DISCIPLES</a:t>
            </a:r>
            <a:endParaRPr lang="en-US" sz="3200" dirty="0"/>
          </a:p>
        </p:txBody>
      </p:sp>
      <p:sp>
        <p:nvSpPr>
          <p:cNvPr id="14" name="TextBox 13"/>
          <p:cNvSpPr txBox="1"/>
          <p:nvPr/>
        </p:nvSpPr>
        <p:spPr>
          <a:xfrm>
            <a:off x="3267162" y="1524000"/>
            <a:ext cx="2676438" cy="584775"/>
          </a:xfrm>
          <a:prstGeom prst="rect">
            <a:avLst/>
          </a:prstGeom>
          <a:noFill/>
        </p:spPr>
        <p:txBody>
          <a:bodyPr wrap="none" rtlCol="0">
            <a:spAutoFit/>
          </a:bodyPr>
          <a:lstStyle/>
          <a:p>
            <a:r>
              <a:rPr lang="en-US" sz="3200" b="1" dirty="0" smtClean="0">
                <a:solidFill>
                  <a:schemeClr val="bg1"/>
                </a:solidFill>
              </a:rPr>
              <a:t>ECCLESIOLOGY</a:t>
            </a:r>
            <a:endParaRPr lang="en-US" sz="3200" b="1" dirty="0">
              <a:solidFill>
                <a:schemeClr val="bg1"/>
              </a:solidFill>
            </a:endParaRPr>
          </a:p>
        </p:txBody>
      </p:sp>
      <p:sp>
        <p:nvSpPr>
          <p:cNvPr id="15" name="TextBox 14"/>
          <p:cNvSpPr txBox="1"/>
          <p:nvPr/>
        </p:nvSpPr>
        <p:spPr>
          <a:xfrm>
            <a:off x="3267162" y="4343400"/>
            <a:ext cx="2676438" cy="584775"/>
          </a:xfrm>
          <a:prstGeom prst="rect">
            <a:avLst/>
          </a:prstGeom>
          <a:noFill/>
        </p:spPr>
        <p:txBody>
          <a:bodyPr wrap="none" rtlCol="0">
            <a:spAutoFit/>
          </a:bodyPr>
          <a:lstStyle/>
          <a:p>
            <a:r>
              <a:rPr lang="en-US" sz="3200" b="1" dirty="0" smtClean="0">
                <a:solidFill>
                  <a:schemeClr val="bg1"/>
                </a:solidFill>
              </a:rPr>
              <a:t>ECCLESIOLOGY</a:t>
            </a:r>
            <a:endParaRPr lang="en-US" sz="3200" b="1" dirty="0">
              <a:solidFill>
                <a:schemeClr val="bg1"/>
              </a:solidFill>
            </a:endParaRPr>
          </a:p>
        </p:txBody>
      </p:sp>
    </p:spTree>
    <p:extLst>
      <p:ext uri="{BB962C8B-B14F-4D97-AF65-F5344CB8AC3E}">
        <p14:creationId xmlns:p14="http://schemas.microsoft.com/office/powerpoint/2010/main" val="134227031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
                                            <p:txEl>
                                              <p:pRg st="0" end="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0" end="0"/>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523999"/>
          </a:xfrm>
        </p:spPr>
        <p:txBody>
          <a:bodyPr>
            <a:normAutofit/>
          </a:bodyPr>
          <a:lstStyle/>
          <a:p>
            <a:r>
              <a:rPr lang="en-US" b="1" dirty="0" smtClean="0">
                <a:solidFill>
                  <a:srgbClr val="0000CC"/>
                </a:solidFill>
              </a:rPr>
              <a:t>CHURCH AS SACRAMENT: THE THEOLOGY OF EUCHARIST IN JOHN</a:t>
            </a:r>
            <a:endParaRPr lang="en-US" b="1" dirty="0">
              <a:solidFill>
                <a:srgbClr val="0000CC"/>
              </a:solidFill>
            </a:endParaRPr>
          </a:p>
        </p:txBody>
      </p:sp>
      <p:sp>
        <p:nvSpPr>
          <p:cNvPr id="3" name="Subtitle 2"/>
          <p:cNvSpPr>
            <a:spLocks noGrp="1"/>
          </p:cNvSpPr>
          <p:nvPr>
            <p:ph type="subTitle" idx="1"/>
          </p:nvPr>
        </p:nvSpPr>
        <p:spPr>
          <a:xfrm>
            <a:off x="4648200" y="1600200"/>
            <a:ext cx="4419600" cy="5257800"/>
          </a:xfrm>
        </p:spPr>
        <p:txBody>
          <a:bodyPr>
            <a:normAutofit/>
          </a:bodyPr>
          <a:lstStyle/>
          <a:p>
            <a:r>
              <a:rPr lang="en-US" sz="4400" b="1" dirty="0" smtClean="0">
                <a:solidFill>
                  <a:schemeClr val="tx1"/>
                </a:solidFill>
              </a:rPr>
              <a:t>“There is a boy here, who has five loaves of barley bread and fish. But what good are they for all these people?”</a:t>
            </a:r>
            <a:endParaRPr lang="en-US" sz="4400" b="1" dirty="0">
              <a:solidFill>
                <a:schemeClr val="tx1"/>
              </a:solidFill>
            </a:endParaRPr>
          </a:p>
        </p:txBody>
      </p:sp>
      <p:pic>
        <p:nvPicPr>
          <p:cNvPr id="6" name="Picture 1" descr="Description: http://upload.wikimedia.org/wikipedia/commons/thumb/6/67/Christ_feeding_the_multitude.jpg/180px-Christ_feeding_the_multitu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4343400"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34276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57550"/>
            <a:ext cx="9144000" cy="3600450"/>
          </a:xfrm>
        </p:spPr>
        <p:txBody>
          <a:bodyPr>
            <a:normAutofit/>
          </a:bodyPr>
          <a:lstStyle/>
          <a:p>
            <a:r>
              <a:rPr lang="en-US" sz="4000" b="1" dirty="0" smtClean="0"/>
              <a:t>WHAT DO WE BRING TO THE EUCHARIST FOR NEEDY PEOPLE AROUND US</a:t>
            </a:r>
            <a:br>
              <a:rPr lang="en-US" sz="4000" b="1" dirty="0" smtClean="0"/>
            </a:br>
            <a:r>
              <a:rPr lang="en-US" sz="4000" b="1" dirty="0" smtClean="0"/>
              <a:t> THAT JESUS WILL USE SO THAT HE CAN    </a:t>
            </a:r>
            <a:r>
              <a:rPr lang="en-US" sz="4800" b="1" dirty="0" smtClean="0">
                <a:solidFill>
                  <a:srgbClr val="002060"/>
                </a:solidFill>
              </a:rPr>
              <a:t>TAKE, BLESS, BREAK AND GIVE IT</a:t>
            </a:r>
            <a:r>
              <a:rPr lang="en-US" sz="4000" b="1" dirty="0" smtClean="0"/>
              <a:t>               TO MEET THE NEEDS OF “THE CROWD”?</a:t>
            </a:r>
            <a:endParaRPr lang="en-US" sz="4000" b="1" dirty="0"/>
          </a:p>
        </p:txBody>
      </p:sp>
      <p:sp>
        <p:nvSpPr>
          <p:cNvPr id="3" name="Subtitle 2"/>
          <p:cNvSpPr>
            <a:spLocks noGrp="1"/>
          </p:cNvSpPr>
          <p:nvPr>
            <p:ph type="subTitle" idx="1"/>
          </p:nvPr>
        </p:nvSpPr>
        <p:spPr>
          <a:xfrm>
            <a:off x="0" y="0"/>
            <a:ext cx="9144000" cy="3124200"/>
          </a:xfrm>
        </p:spPr>
        <p:txBody>
          <a:bodyPr>
            <a:noAutofit/>
          </a:bodyPr>
          <a:lstStyle/>
          <a:p>
            <a:r>
              <a:rPr lang="en-US" sz="4800" b="1" dirty="0" smtClean="0">
                <a:solidFill>
                  <a:schemeClr val="tx1"/>
                </a:solidFill>
              </a:rPr>
              <a:t>In John’s Gospel, Jesus did not </a:t>
            </a:r>
          </a:p>
          <a:p>
            <a:r>
              <a:rPr lang="en-US" sz="4800" b="1" dirty="0" smtClean="0">
                <a:solidFill>
                  <a:schemeClr val="tx1"/>
                </a:solidFill>
              </a:rPr>
              <a:t>“do what he did” without the boy providing him the means to           </a:t>
            </a:r>
          </a:p>
          <a:p>
            <a:r>
              <a:rPr lang="en-US" sz="4800" b="1" dirty="0" smtClean="0">
                <a:solidFill>
                  <a:schemeClr val="tx1"/>
                </a:solidFill>
              </a:rPr>
              <a:t>“</a:t>
            </a:r>
            <a:r>
              <a:rPr lang="en-US" sz="4800" b="1" i="1" dirty="0" smtClean="0">
                <a:solidFill>
                  <a:srgbClr val="002060"/>
                </a:solidFill>
              </a:rPr>
              <a:t>DO THIS</a:t>
            </a:r>
            <a:r>
              <a:rPr lang="en-US" sz="4800" b="1" dirty="0" smtClean="0">
                <a:solidFill>
                  <a:schemeClr val="tx1"/>
                </a:solidFill>
              </a:rPr>
              <a:t>.”</a:t>
            </a:r>
            <a:endParaRPr lang="en-US" sz="4800" b="1" dirty="0">
              <a:solidFill>
                <a:schemeClr val="tx1"/>
              </a:solidFill>
            </a:endParaRPr>
          </a:p>
        </p:txBody>
      </p:sp>
    </p:spTree>
    <p:extLst>
      <p:ext uri="{BB962C8B-B14F-4D97-AF65-F5344CB8AC3E}">
        <p14:creationId xmlns:p14="http://schemas.microsoft.com/office/powerpoint/2010/main" val="203237507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838201"/>
          </a:xfrm>
        </p:spPr>
        <p:txBody>
          <a:bodyPr>
            <a:noAutofit/>
          </a:bodyPr>
          <a:lstStyle/>
          <a:p>
            <a:r>
              <a:rPr lang="en-US" sz="4800" b="1" dirty="0" smtClean="0">
                <a:solidFill>
                  <a:schemeClr val="tx1"/>
                </a:solidFill>
              </a:rPr>
              <a:t>JESUS FEEDS THE FIVE THOUSAND</a:t>
            </a:r>
            <a:endParaRPr lang="en-US" sz="4800" b="1" dirty="0">
              <a:solidFill>
                <a:schemeClr val="tx1"/>
              </a:solidFill>
            </a:endParaRPr>
          </a:p>
        </p:txBody>
      </p:sp>
      <p:graphicFrame>
        <p:nvGraphicFramePr>
          <p:cNvPr id="4" name="Table 3"/>
          <p:cNvGraphicFramePr>
            <a:graphicFrameLocks noGrp="1"/>
          </p:cNvGraphicFramePr>
          <p:nvPr/>
        </p:nvGraphicFramePr>
        <p:xfrm>
          <a:off x="457200" y="3726021"/>
          <a:ext cx="8229600" cy="274320"/>
        </p:xfrm>
        <a:graphic>
          <a:graphicData uri="http://schemas.openxmlformats.org/drawingml/2006/table">
            <a:tbl>
              <a:tblPr/>
              <a:tblGrid>
                <a:gridCol w="2743200"/>
                <a:gridCol w="2743200"/>
                <a:gridCol w="2743200"/>
              </a:tblGrid>
              <a:tr h="0">
                <a:tc>
                  <a:txBody>
                    <a:bodyPr/>
                    <a:lstStyle/>
                    <a:p>
                      <a:endParaRPr lang="en-US"/>
                    </a:p>
                  </a:txBody>
                  <a:tcPr marL="0" marR="0" marT="0" marB="0" anchor="ctr">
                    <a:lnL>
                      <a:noFill/>
                    </a:lnL>
                    <a:lnR>
                      <a:noFill/>
                    </a:lnR>
                    <a:lnT>
                      <a:noFill/>
                    </a:lnT>
                    <a:lnB>
                      <a:noFill/>
                    </a:lnB>
                  </a:tcPr>
                </a:tc>
                <a:tc>
                  <a:txBody>
                    <a:bodyPr/>
                    <a:lstStyle/>
                    <a:p>
                      <a:endParaRPr lang="en-US"/>
                    </a:p>
                  </a:txBody>
                  <a:tcPr marL="0" marR="0" marT="0" marB="0" anchor="ctr">
                    <a:lnL>
                      <a:noFill/>
                    </a:lnL>
                    <a:lnR>
                      <a:noFill/>
                    </a:lnR>
                    <a:lnT>
                      <a:noFill/>
                    </a:lnT>
                    <a:lnB>
                      <a:noFill/>
                    </a:lnB>
                  </a:tcPr>
                </a:tc>
                <a:tc>
                  <a:txBody>
                    <a:bodyPr/>
                    <a:lstStyle/>
                    <a:p>
                      <a:endParaRPr lang="en-US"/>
                    </a:p>
                  </a:txBody>
                  <a:tcPr marL="0" marR="0" marT="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3645263" y="1600200"/>
          <a:ext cx="1853473" cy="4525962"/>
        </p:xfrm>
        <a:graphic>
          <a:graphicData uri="http://schemas.openxmlformats.org/drawingml/2006/table">
            <a:tbl>
              <a:tblPr/>
              <a:tblGrid>
                <a:gridCol w="25400"/>
                <a:gridCol w="25400"/>
                <a:gridCol w="200297"/>
                <a:gridCol w="200297"/>
                <a:gridCol w="200297"/>
                <a:gridCol w="200297"/>
                <a:gridCol w="200297"/>
                <a:gridCol w="200297"/>
                <a:gridCol w="200297"/>
                <a:gridCol w="200297"/>
                <a:gridCol w="200297"/>
              </a:tblGrid>
              <a:tr h="82290">
                <a:tc>
                  <a:txBody>
                    <a:bodyPr/>
                    <a:lstStyle/>
                    <a:p>
                      <a:endParaRPr lang="en-US" sz="400"/>
                    </a:p>
                  </a:txBody>
                  <a:tcPr marL="0" marR="0" marT="0" marB="0" anchor="ctr">
                    <a:lnL>
                      <a:noFill/>
                    </a:lnL>
                    <a:lnR>
                      <a:noFill/>
                    </a:lnR>
                    <a:lnT>
                      <a:noFill/>
                    </a:lnT>
                    <a:lnB>
                      <a:noFill/>
                    </a:lnB>
                  </a:tcPr>
                </a:tc>
                <a:tc>
                  <a:txBody>
                    <a:bodyPr/>
                    <a:lstStyle/>
                    <a:p>
                      <a:endParaRPr lang="en-US" sz="400"/>
                    </a:p>
                  </a:txBody>
                  <a:tcPr marL="0" marR="0" marT="0" marB="0" anchor="ctr">
                    <a:lnL>
                      <a:noFill/>
                    </a:lnL>
                    <a:lnR>
                      <a:noFill/>
                    </a:lnR>
                    <a:lnT>
                      <a:noFill/>
                    </a:lnT>
                    <a:lnB>
                      <a:noFill/>
                    </a:lnB>
                  </a:tcPr>
                </a:tc>
                <a:tc>
                  <a:txBody>
                    <a:bodyPr/>
                    <a:lstStyle/>
                    <a:p>
                      <a:r>
                        <a:rPr lang="en-US" sz="400">
                          <a:hlinkClick r:id="rId3"/>
                        </a:rPr>
                        <a:t>Home</a:t>
                      </a:r>
                      <a:endParaRPr lang="en-US" sz="400"/>
                    </a:p>
                  </a:txBody>
                  <a:tcPr marL="0" marR="0" marT="0" marB="0" anchor="ctr">
                    <a:lnL>
                      <a:noFill/>
                    </a:lnL>
                    <a:lnR>
                      <a:noFill/>
                    </a:lnR>
                    <a:lnT>
                      <a:noFill/>
                    </a:lnT>
                    <a:lnB>
                      <a:noFill/>
                    </a:lnB>
                  </a:tcPr>
                </a:tc>
                <a:tc>
                  <a:txBody>
                    <a:bodyPr/>
                    <a:lstStyle/>
                    <a:p>
                      <a:endParaRPr lang="en-US" sz="400"/>
                    </a:p>
                  </a:txBody>
                  <a:tcPr marL="0" marR="0" marT="0" marB="0" anchor="ctr">
                    <a:lnL>
                      <a:noFill/>
                    </a:lnL>
                    <a:lnR>
                      <a:noFill/>
                    </a:lnR>
                    <a:lnT>
                      <a:noFill/>
                    </a:lnT>
                    <a:lnB>
                      <a:noFill/>
                    </a:lnB>
                  </a:tcPr>
                </a:tc>
                <a:tc>
                  <a:txBody>
                    <a:bodyPr/>
                    <a:lstStyle/>
                    <a:p>
                      <a:r>
                        <a:rPr lang="en-US" sz="400">
                          <a:hlinkClick r:id="rId4"/>
                        </a:rPr>
                        <a:t>Albums</a:t>
                      </a:r>
                      <a:endParaRPr lang="en-US" sz="400"/>
                    </a:p>
                  </a:txBody>
                  <a:tcPr marL="0" marR="0" marT="0" marB="0" anchor="ctr">
                    <a:lnL>
                      <a:noFill/>
                    </a:lnL>
                    <a:lnR>
                      <a:noFill/>
                    </a:lnR>
                    <a:lnT>
                      <a:noFill/>
                    </a:lnT>
                    <a:lnB>
                      <a:noFill/>
                    </a:lnB>
                  </a:tcPr>
                </a:tc>
                <a:tc>
                  <a:txBody>
                    <a:bodyPr/>
                    <a:lstStyle/>
                    <a:p>
                      <a:endParaRPr lang="en-US" sz="400"/>
                    </a:p>
                  </a:txBody>
                  <a:tcPr marL="0" marR="0" marT="0" marB="0" anchor="ctr">
                    <a:lnL>
                      <a:noFill/>
                    </a:lnL>
                    <a:lnR>
                      <a:noFill/>
                    </a:lnR>
                    <a:lnT>
                      <a:noFill/>
                    </a:lnT>
                    <a:lnB>
                      <a:noFill/>
                    </a:lnB>
                  </a:tcPr>
                </a:tc>
                <a:tc>
                  <a:txBody>
                    <a:bodyPr/>
                    <a:lstStyle/>
                    <a:p>
                      <a:r>
                        <a:rPr lang="en-US" sz="400">
                          <a:hlinkClick r:id="rId5"/>
                        </a:rPr>
                        <a:t>Explore</a:t>
                      </a:r>
                      <a:endParaRPr lang="en-US" sz="400"/>
                    </a:p>
                  </a:txBody>
                  <a:tcPr marL="0" marR="0" marT="0" marB="0" anchor="ctr">
                    <a:lnL>
                      <a:noFill/>
                    </a:lnL>
                    <a:lnR>
                      <a:noFill/>
                    </a:lnR>
                    <a:lnT>
                      <a:noFill/>
                    </a:lnT>
                    <a:lnB>
                      <a:noFill/>
                    </a:lnB>
                  </a:tcPr>
                </a:tc>
                <a:tc>
                  <a:txBody>
                    <a:bodyPr/>
                    <a:lstStyle/>
                    <a:p>
                      <a:endParaRPr lang="en-US" sz="400"/>
                    </a:p>
                  </a:txBody>
                  <a:tcPr marL="0" marR="0" marT="0" marB="0" anchor="ctr">
                    <a:lnL>
                      <a:noFill/>
                    </a:lnL>
                    <a:lnR>
                      <a:noFill/>
                    </a:lnR>
                    <a:lnT>
                      <a:noFill/>
                    </a:lnT>
                    <a:lnB>
                      <a:noFill/>
                    </a:lnB>
                  </a:tcPr>
                </a:tc>
                <a:tc>
                  <a:txBody>
                    <a:bodyPr/>
                    <a:lstStyle/>
                    <a:p>
                      <a:r>
                        <a:rPr lang="en-US" sz="400">
                          <a:hlinkClick r:id="rId6"/>
                        </a:rPr>
                        <a:t>Upload</a:t>
                      </a:r>
                      <a:endParaRPr lang="en-US" sz="400"/>
                    </a:p>
                  </a:txBody>
                  <a:tcPr marL="0" marR="0" marT="0" marB="0" anchor="ctr">
                    <a:lnL>
                      <a:noFill/>
                    </a:lnL>
                    <a:lnR>
                      <a:noFill/>
                    </a:lnR>
                    <a:lnT>
                      <a:noFill/>
                    </a:lnT>
                    <a:lnB>
                      <a:noFill/>
                    </a:lnB>
                  </a:tcPr>
                </a:tc>
                <a:tc>
                  <a:txBody>
                    <a:bodyPr/>
                    <a:lstStyle/>
                    <a:p>
                      <a:endParaRPr lang="en-US" sz="400"/>
                    </a:p>
                  </a:txBody>
                  <a:tcPr marL="0" marR="0" marT="0" marB="0" anchor="ctr">
                    <a:lnL>
                      <a:noFill/>
                    </a:lnL>
                    <a:lnR>
                      <a:noFill/>
                    </a:lnR>
                    <a:lnT>
                      <a:noFill/>
                    </a:lnT>
                    <a:lnB>
                      <a:noFill/>
                    </a:lnB>
                  </a:tcPr>
                </a:tc>
                <a:tc>
                  <a:txBody>
                    <a:bodyPr/>
                    <a:lstStyle/>
                    <a:p>
                      <a:endParaRPr lang="en-US" sz="400"/>
                    </a:p>
                  </a:txBody>
                  <a:tcPr marL="20573" marR="20573" marT="10286" marB="10286">
                    <a:lnL>
                      <a:noFill/>
                    </a:lnL>
                  </a:tcPr>
                </a:tc>
              </a:tr>
              <a:tr h="2900731">
                <a:tc>
                  <a:txBody>
                    <a:bodyPr/>
                    <a:lstStyle/>
                    <a:p>
                      <a:r>
                        <a:rPr lang="en-US" sz="400"/>
                        <a:t>Crosby0637 ▾</a:t>
                      </a:r>
                    </a:p>
                    <a:p>
                      <a:r>
                        <a:rPr lang="en-US" sz="400">
                          <a:hlinkClick r:id="rId7"/>
                        </a:rPr>
                        <a:t>Account Settings </a:t>
                      </a:r>
                      <a:r>
                        <a:rPr lang="en-US" sz="400">
                          <a:hlinkClick r:id="rId8"/>
                        </a:rPr>
                        <a:t>Help </a:t>
                      </a:r>
                      <a:r>
                        <a:rPr lang="en-US" sz="400">
                          <a:hlinkClick r:id="rId9"/>
                        </a:rPr>
                        <a:t>Go Pro </a:t>
                      </a:r>
                      <a:r>
                        <a:rPr lang="en-US" sz="400">
                          <a:hlinkClick r:id="rId10"/>
                        </a:rPr>
                        <a:t>Sign Out </a:t>
                      </a:r>
                      <a:endParaRPr lang="en-US" sz="400"/>
                    </a:p>
                  </a:txBody>
                  <a:tcPr marL="0" marR="0" marT="0" marB="0" anchor="ctr">
                    <a:lnL>
                      <a:noFill/>
                    </a:lnL>
                    <a:lnR>
                      <a:noFill/>
                    </a:lnR>
                    <a:lnT>
                      <a:noFill/>
                    </a:lnT>
                    <a:lnB>
                      <a:noFill/>
                    </a:lnB>
                  </a:tcPr>
                </a:tc>
                <a:tc>
                  <a:txBody>
                    <a:bodyPr/>
                    <a:lstStyle/>
                    <a:p>
                      <a:r>
                        <a:rPr lang="en-US" sz="400">
                          <a:effectLst/>
                        </a:rPr>
                        <a:t>▾</a:t>
                      </a:r>
                    </a:p>
                    <a:p>
                      <a:r>
                        <a:rPr lang="en-US" sz="400">
                          <a:effectLst/>
                        </a:rPr>
                        <a:t>PhotosVideosGroupsAlbumUsers</a:t>
                      </a:r>
                    </a:p>
                  </a:txBody>
                  <a:tcPr marL="0" marR="0" marT="0" marB="0" anchor="ctr">
                    <a:lnL>
                      <a:noFill/>
                    </a:lnL>
                    <a:lnR>
                      <a:noFill/>
                    </a:lnR>
                    <a:lnT>
                      <a:noFill/>
                    </a:lnT>
                    <a:lnB>
                      <a:noFill/>
                    </a:lnB>
                  </a:tcPr>
                </a:tc>
                <a:tc>
                  <a:txBody>
                    <a:bodyPr/>
                    <a:lstStyle/>
                    <a:p>
                      <a:endParaRPr lang="en-US" sz="400"/>
                    </a:p>
                  </a:txBody>
                  <a:tcPr marL="20573" marR="20573" marT="10286" marB="10286">
                    <a:lnL>
                      <a:noFill/>
                    </a:lnL>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lnT>
                      <a:noFill/>
                    </a:lnT>
                  </a:tcPr>
                </a:tc>
                <a:tc>
                  <a:txBody>
                    <a:bodyPr/>
                    <a:lstStyle/>
                    <a:p>
                      <a:endParaRPr lang="en-US" sz="400"/>
                    </a:p>
                  </a:txBody>
                  <a:tcPr marL="20573" marR="20573" marT="10286" marB="10286"/>
                </a:tc>
              </a:tr>
              <a:tr h="432024">
                <a:tc>
                  <a:txBody>
                    <a:bodyPr/>
                    <a:lstStyle/>
                    <a:p>
                      <a:endParaRPr lang="en-US" sz="400"/>
                    </a:p>
                  </a:txBody>
                  <a:tcPr marL="0" marR="0" marT="0" marB="0" anchor="ctr">
                    <a:lnL>
                      <a:noFill/>
                    </a:lnL>
                    <a:lnR>
                      <a:noFill/>
                    </a:lnR>
                    <a:lnT>
                      <a:noFill/>
                    </a:lnT>
                    <a:lnB>
                      <a:noFill/>
                    </a:lnB>
                  </a:tcPr>
                </a:tc>
                <a:tc gridSpan="10">
                  <a:txBody>
                    <a:bodyPr/>
                    <a:lstStyle/>
                    <a:p>
                      <a:r>
                        <a:rPr lang="en-US" sz="400">
                          <a:hlinkClick r:id="rId11"/>
                        </a:rPr>
                        <a:t>Community</a:t>
                      </a:r>
                      <a:endParaRPr lang="en-US" sz="400"/>
                    </a:p>
                    <a:p>
                      <a:r>
                        <a:rPr lang="en-US" sz="400">
                          <a:hlinkClick r:id="rId12"/>
                        </a:rPr>
                        <a:t>Profile</a:t>
                      </a:r>
                      <a:endParaRPr lang="en-US" sz="400"/>
                    </a:p>
                    <a:p>
                      <a:r>
                        <a:rPr lang="en-US" sz="400">
                          <a:hlinkClick r:id="rId13"/>
                        </a:rPr>
                        <a:t>Likes</a:t>
                      </a:r>
                      <a:endParaRPr lang="en-US" sz="400"/>
                    </a:p>
                    <a:p>
                      <a:r>
                        <a:rPr lang="en-US" sz="400">
                          <a:hlinkClick r:id="rId14"/>
                        </a:rPr>
                        <a:t>Following</a:t>
                      </a:r>
                      <a:endParaRPr lang="en-US" sz="400"/>
                    </a:p>
                    <a:p>
                      <a:r>
                        <a:rPr lang="en-US" sz="400">
                          <a:hlinkClick r:id="rId15"/>
                        </a:rPr>
                        <a:t>Followers</a:t>
                      </a:r>
                      <a:endParaRPr lang="en-US" sz="400"/>
                    </a:p>
                    <a:p>
                      <a:r>
                        <a:rPr lang="en-US" sz="400">
                          <a:hlinkClick r:id="rId16"/>
                        </a:rPr>
                        <a:t>Find Friends</a:t>
                      </a:r>
                      <a:endParaRPr lang="en-US" sz="400"/>
                    </a:p>
                    <a:p>
                      <a:r>
                        <a:rPr lang="en-US" sz="400">
                          <a:hlinkClick r:id="rId17"/>
                        </a:rPr>
                        <a:t>Stats</a:t>
                      </a:r>
                      <a:endParaRPr lang="en-US" sz="400"/>
                    </a:p>
                  </a:txBody>
                  <a:tcPr marL="0" marR="0" marT="0" marB="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93741">
                <a:tc>
                  <a:txBody>
                    <a:bodyPr/>
                    <a:lstStyle/>
                    <a:p>
                      <a:endParaRPr lang="en-US" sz="400"/>
                    </a:p>
                  </a:txBody>
                  <a:tcPr marL="0" marR="0" marT="0" marB="0" anchor="ctr">
                    <a:lnL>
                      <a:noFill/>
                    </a:lnL>
                    <a:lnR>
                      <a:noFill/>
                    </a:lnR>
                    <a:lnT>
                      <a:noFill/>
                    </a:lnT>
                    <a:lnB>
                      <a:noFill/>
                    </a:lnB>
                  </a:tcPr>
                </a:tc>
                <a:tc gridSpan="10">
                  <a:txBody>
                    <a:bodyPr/>
                    <a:lstStyle/>
                    <a:p>
                      <a:r>
                        <a:rPr lang="en-US" sz="400">
                          <a:hlinkClick r:id="rId4"/>
                        </a:rPr>
                        <a:t>Album</a:t>
                      </a:r>
                      <a:endParaRPr lang="en-US" sz="400"/>
                    </a:p>
                    <a:p>
                      <a:r>
                        <a:rPr lang="en-US" sz="400"/>
                        <a:t>All Albums</a:t>
                      </a:r>
                    </a:p>
                    <a:p>
                      <a:r>
                        <a:rPr lang="en-US" sz="400">
                          <a:hlinkClick r:id="rId18"/>
                        </a:rPr>
                        <a:t>Edit Photos</a:t>
                      </a:r>
                      <a:endParaRPr lang="en-US" sz="400"/>
                    </a:p>
                    <a:p>
                      <a:r>
                        <a:rPr lang="en-US" sz="400">
                          <a:hlinkClick r:id="rId19"/>
                        </a:rPr>
                        <a:t>Organize</a:t>
                      </a:r>
                      <a:endParaRPr lang="en-US" sz="400"/>
                    </a:p>
                    <a:p>
                      <a:r>
                        <a:rPr lang="en-US" sz="400">
                          <a:hlinkClick r:id="rId20"/>
                        </a:rPr>
                        <a:t>Themes</a:t>
                      </a:r>
                      <a:endParaRPr lang="en-US" sz="400"/>
                    </a:p>
                    <a:p>
                      <a:r>
                        <a:rPr lang="en-US" sz="400">
                          <a:hlinkClick r:id="rId21"/>
                        </a:rPr>
                        <a:t>Tags</a:t>
                      </a:r>
                      <a:endParaRPr lang="en-US" sz="400"/>
                    </a:p>
                    <a:p>
                      <a:r>
                        <a:rPr lang="en-US" sz="400"/>
                        <a:t>Order Prints &amp; More</a:t>
                      </a:r>
                    </a:p>
                    <a:p>
                      <a:r>
                        <a:rPr lang="en-US" sz="400">
                          <a:hlinkClick r:id="rId22"/>
                        </a:rPr>
                        <a:t>Tools</a:t>
                      </a:r>
                      <a:endParaRPr lang="en-US" sz="400"/>
                    </a:p>
                  </a:txBody>
                  <a:tcPr marL="0" marR="0" marT="0" marB="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08588">
                <a:tc>
                  <a:txBody>
                    <a:bodyPr/>
                    <a:lstStyle/>
                    <a:p>
                      <a:endParaRPr lang="en-US" sz="400"/>
                    </a:p>
                  </a:txBody>
                  <a:tcPr marL="0" marR="0" marT="0" marB="0" anchor="ctr">
                    <a:lnL>
                      <a:noFill/>
                    </a:lnL>
                    <a:lnR>
                      <a:noFill/>
                    </a:lnR>
                    <a:lnT>
                      <a:noFill/>
                    </a:lnT>
                    <a:lnB>
                      <a:noFill/>
                    </a:lnB>
                  </a:tcPr>
                </a:tc>
                <a:tc gridSpan="10">
                  <a:txBody>
                    <a:bodyPr/>
                    <a:lstStyle/>
                    <a:p>
                      <a:r>
                        <a:rPr lang="en-US" sz="400">
                          <a:hlinkClick r:id="rId5"/>
                        </a:rPr>
                        <a:t>Top Categories</a:t>
                      </a:r>
                      <a:endParaRPr lang="en-US" sz="400"/>
                    </a:p>
                    <a:p>
                      <a:r>
                        <a:rPr lang="en-US" sz="400">
                          <a:hlinkClick r:id="rId23" action="ppaction://hlinkfile"/>
                        </a:rPr>
                        <a:t>Popular</a:t>
                      </a:r>
                      <a:endParaRPr lang="en-US" sz="400"/>
                    </a:p>
                    <a:p>
                      <a:r>
                        <a:rPr lang="en-US" sz="400">
                          <a:hlinkClick r:id="rId24" action="ppaction://hlinkfile"/>
                        </a:rPr>
                        <a:t>Recent</a:t>
                      </a:r>
                      <a:endParaRPr lang="en-US" sz="400"/>
                    </a:p>
                    <a:p>
                      <a:r>
                        <a:rPr lang="en-US" sz="400">
                          <a:hlinkClick r:id="rId25"/>
                        </a:rPr>
                        <a:t>Group Albums</a:t>
                      </a:r>
                      <a:endParaRPr lang="en-US" sz="400"/>
                    </a:p>
                    <a:p>
                      <a:r>
                        <a:rPr lang="en-US" sz="400">
                          <a:hlinkClick r:id="rId26"/>
                        </a:rPr>
                        <a:t>Competitions</a:t>
                      </a:r>
                      <a:endParaRPr lang="en-US" sz="400"/>
                    </a:p>
                  </a:txBody>
                  <a:tcPr marL="0" marR="0" marT="0" marB="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08588">
                <a:tc>
                  <a:txBody>
                    <a:bodyPr/>
                    <a:lstStyle/>
                    <a:p>
                      <a:endParaRPr lang="en-US" sz="400"/>
                    </a:p>
                  </a:txBody>
                  <a:tcPr marL="0" marR="0" marT="0" marB="0" anchor="ctr">
                    <a:lnL>
                      <a:noFill/>
                    </a:lnL>
                    <a:lnR>
                      <a:noFill/>
                    </a:lnR>
                    <a:lnT>
                      <a:noFill/>
                    </a:lnT>
                    <a:lnB>
                      <a:noFill/>
                    </a:lnB>
                  </a:tcPr>
                </a:tc>
                <a:tc gridSpan="10">
                  <a:txBody>
                    <a:bodyPr/>
                    <a:lstStyle/>
                    <a:p>
                      <a:r>
                        <a:rPr lang="en-US" sz="400">
                          <a:hlinkClick r:id="rId5"/>
                        </a:rPr>
                        <a:t>Top Categories</a:t>
                      </a:r>
                      <a:endParaRPr lang="en-US" sz="400"/>
                    </a:p>
                    <a:p>
                      <a:r>
                        <a:rPr lang="en-US" sz="400">
                          <a:hlinkClick r:id="rId23" action="ppaction://hlinkfile"/>
                        </a:rPr>
                        <a:t>Popular</a:t>
                      </a:r>
                      <a:endParaRPr lang="en-US" sz="400"/>
                    </a:p>
                    <a:p>
                      <a:r>
                        <a:rPr lang="en-US" sz="400">
                          <a:hlinkClick r:id="rId24" action="ppaction://hlinkfile"/>
                        </a:rPr>
                        <a:t>Recent</a:t>
                      </a:r>
                      <a:endParaRPr lang="en-US" sz="400"/>
                    </a:p>
                    <a:p>
                      <a:r>
                        <a:rPr lang="en-US" sz="400">
                          <a:hlinkClick r:id="rId25"/>
                        </a:rPr>
                        <a:t>Group Albums</a:t>
                      </a:r>
                      <a:endParaRPr lang="en-US" sz="400"/>
                    </a:p>
                    <a:p>
                      <a:r>
                        <a:rPr lang="en-US" sz="400">
                          <a:hlinkClick r:id="rId26"/>
                        </a:rPr>
                        <a:t>Competitions</a:t>
                      </a:r>
                      <a:endParaRPr lang="en-US" sz="400"/>
                    </a:p>
                  </a:txBody>
                  <a:tcPr marL="0" marR="0" marT="0" marB="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graphicFrame>
        <p:nvGraphicFramePr>
          <p:cNvPr id="9" name="Table 8"/>
          <p:cNvGraphicFramePr>
            <a:graphicFrameLocks noGrp="1"/>
          </p:cNvGraphicFramePr>
          <p:nvPr/>
        </p:nvGraphicFramePr>
        <p:xfrm>
          <a:off x="2942652" y="1600200"/>
          <a:ext cx="3258695" cy="4525963"/>
        </p:xfrm>
        <a:graphic>
          <a:graphicData uri="http://schemas.openxmlformats.org/drawingml/2006/table">
            <a:tbl>
              <a:tblPr/>
              <a:tblGrid>
                <a:gridCol w="651739"/>
                <a:gridCol w="651739"/>
                <a:gridCol w="651739"/>
                <a:gridCol w="651739"/>
                <a:gridCol w="651739"/>
              </a:tblGrid>
              <a:tr h="4272509">
                <a:tc>
                  <a:txBody>
                    <a:bodyPr/>
                    <a:lstStyle/>
                    <a:p>
                      <a:endParaRPr lang="en-US" sz="700"/>
                    </a:p>
                    <a:p>
                      <a:r>
                        <a:rPr lang="en-US" sz="700">
                          <a:effectLst/>
                        </a:rPr>
                        <a:t>Photobucket is the place to store, create and share photos and videos for life. Upload all your best pictures, images, graphics, icons, and videos and share them by email or link them to your favorite sites like Facebook and Twitter. Personalize your photos by using our photo editor or make slideshows to share with friends. Join our large community by entering competitions or searching our huge photo and video library. Use Photobucket on the Web or on your mobile phone. </a:t>
                      </a:r>
                      <a:r>
                        <a:rPr lang="en-US" sz="700">
                          <a:effectLst/>
                          <a:hlinkClick r:id="rId27"/>
                        </a:rPr>
                        <a:t>Sign up today!</a:t>
                      </a:r>
                      <a:endParaRPr lang="en-US" sz="700">
                        <a:effectLst/>
                      </a:endParaRPr>
                    </a:p>
                  </a:txBody>
                  <a:tcPr marL="36208" marR="36208" marT="18104" marB="18104" anchor="ctr">
                    <a:lnL>
                      <a:noFill/>
                    </a:lnL>
                    <a:lnR>
                      <a:noFill/>
                    </a:lnR>
                    <a:lnT>
                      <a:noFill/>
                    </a:lnT>
                    <a:lnB>
                      <a:noFill/>
                    </a:lnB>
                  </a:tcPr>
                </a:tc>
                <a:tc>
                  <a:txBody>
                    <a:bodyPr/>
                    <a:lstStyle/>
                    <a:p>
                      <a:r>
                        <a:rPr lang="en-US" sz="700"/>
                        <a:t>Photobucket</a:t>
                      </a:r>
                    </a:p>
                    <a:p>
                      <a:pPr>
                        <a:buFont typeface="Arial"/>
                        <a:buChar char="•"/>
                      </a:pPr>
                      <a:r>
                        <a:rPr lang="en-US" sz="700">
                          <a:hlinkClick r:id="rId28"/>
                        </a:rPr>
                        <a:t>About us</a:t>
                      </a:r>
                      <a:endParaRPr lang="en-US" sz="700"/>
                    </a:p>
                    <a:p>
                      <a:pPr>
                        <a:buFont typeface="Arial"/>
                        <a:buChar char="•"/>
                      </a:pPr>
                      <a:r>
                        <a:rPr lang="en-US" sz="700">
                          <a:hlinkClick r:id="rId29"/>
                        </a:rPr>
                        <a:t>Blog</a:t>
                      </a:r>
                      <a:endParaRPr lang="en-US" sz="700"/>
                    </a:p>
                    <a:p>
                      <a:pPr>
                        <a:buFont typeface="Arial"/>
                        <a:buChar char="•"/>
                      </a:pPr>
                      <a:r>
                        <a:rPr lang="en-US" sz="700">
                          <a:hlinkClick r:id="rId30"/>
                        </a:rPr>
                        <a:t>Advertise</a:t>
                      </a:r>
                      <a:endParaRPr lang="en-US" sz="700"/>
                    </a:p>
                    <a:p>
                      <a:pPr>
                        <a:buFont typeface="Arial"/>
                        <a:buChar char="•"/>
                      </a:pPr>
                      <a:r>
                        <a:rPr lang="en-US" sz="700">
                          <a:hlinkClick r:id="rId31"/>
                        </a:rPr>
                        <a:t>Careers</a:t>
                      </a:r>
                      <a:endParaRPr lang="en-US" sz="700"/>
                    </a:p>
                    <a:p>
                      <a:pPr>
                        <a:buFont typeface="Arial"/>
                        <a:buChar char="•"/>
                      </a:pPr>
                      <a:r>
                        <a:rPr lang="en-US" sz="700">
                          <a:hlinkClick r:id="rId32"/>
                        </a:rPr>
                        <a:t>Contact us</a:t>
                      </a:r>
                      <a:endParaRPr lang="en-US" sz="700"/>
                    </a:p>
                  </a:txBody>
                  <a:tcPr marL="36208" marR="36208" marT="18104" marB="18104" anchor="ctr">
                    <a:lnL>
                      <a:noFill/>
                    </a:lnL>
                    <a:lnR>
                      <a:noFill/>
                    </a:lnR>
                    <a:lnT>
                      <a:noFill/>
                    </a:lnT>
                    <a:lnB>
                      <a:noFill/>
                    </a:lnB>
                  </a:tcPr>
                </a:tc>
                <a:tc>
                  <a:txBody>
                    <a:bodyPr/>
                    <a:lstStyle/>
                    <a:p>
                      <a:r>
                        <a:rPr lang="en-US" sz="700"/>
                        <a:t>Support</a:t>
                      </a:r>
                    </a:p>
                    <a:p>
                      <a:pPr>
                        <a:buFont typeface="Arial"/>
                        <a:buChar char="•"/>
                      </a:pPr>
                      <a:r>
                        <a:rPr lang="en-US" sz="700">
                          <a:hlinkClick r:id="rId33"/>
                        </a:rPr>
                        <a:t>Tools</a:t>
                      </a:r>
                      <a:endParaRPr lang="en-US" sz="700"/>
                    </a:p>
                    <a:p>
                      <a:pPr>
                        <a:buFont typeface="Arial"/>
                        <a:buChar char="•"/>
                      </a:pPr>
                      <a:r>
                        <a:rPr lang="en-US" sz="700">
                          <a:hlinkClick r:id="rId34"/>
                        </a:rPr>
                        <a:t>Mobile</a:t>
                      </a:r>
                      <a:endParaRPr lang="en-US" sz="700"/>
                    </a:p>
                    <a:p>
                      <a:pPr>
                        <a:buFont typeface="Arial"/>
                        <a:buChar char="•"/>
                      </a:pPr>
                      <a:r>
                        <a:rPr lang="en-US" sz="700">
                          <a:hlinkClick r:id="rId35"/>
                        </a:rPr>
                        <a:t>Developers</a:t>
                      </a:r>
                      <a:endParaRPr lang="en-US" sz="700"/>
                    </a:p>
                    <a:p>
                      <a:pPr>
                        <a:buFont typeface="Arial"/>
                        <a:buChar char="•"/>
                      </a:pPr>
                      <a:r>
                        <a:rPr lang="en-US" sz="700">
                          <a:hlinkClick r:id="rId8"/>
                        </a:rPr>
                        <a:t>Help</a:t>
                      </a:r>
                      <a:endParaRPr lang="en-US" sz="700"/>
                    </a:p>
                  </a:txBody>
                  <a:tcPr marL="36208" marR="36208" marT="18104" marB="18104" anchor="ctr">
                    <a:lnL>
                      <a:noFill/>
                    </a:lnL>
                    <a:lnR>
                      <a:noFill/>
                    </a:lnR>
                    <a:lnT>
                      <a:noFill/>
                    </a:lnT>
                    <a:lnB>
                      <a:noFill/>
                    </a:lnB>
                  </a:tcPr>
                </a:tc>
                <a:tc>
                  <a:txBody>
                    <a:bodyPr/>
                    <a:lstStyle/>
                    <a:p>
                      <a:r>
                        <a:rPr lang="en-US" sz="700"/>
                        <a:t>Downloads</a:t>
                      </a:r>
                    </a:p>
                    <a:p>
                      <a:pPr>
                        <a:buFont typeface="Arial"/>
                        <a:buChar char="•"/>
                      </a:pPr>
                      <a:r>
                        <a:rPr lang="en-US" sz="700">
                          <a:hlinkClick r:id="rId36"/>
                        </a:rPr>
                        <a:t>Snapbucket</a:t>
                      </a:r>
                      <a:endParaRPr lang="en-US" sz="700"/>
                    </a:p>
                    <a:p>
                      <a:pPr>
                        <a:buFont typeface="Arial"/>
                        <a:buChar char="•"/>
                      </a:pPr>
                      <a:r>
                        <a:rPr lang="en-US" sz="700">
                          <a:hlinkClick r:id="rId37"/>
                        </a:rPr>
                        <a:t>iPhone App</a:t>
                      </a:r>
                      <a:endParaRPr lang="en-US" sz="700"/>
                    </a:p>
                    <a:p>
                      <a:pPr>
                        <a:buFont typeface="Arial"/>
                        <a:buChar char="•"/>
                      </a:pPr>
                      <a:r>
                        <a:rPr lang="en-US" sz="700">
                          <a:hlinkClick r:id="rId38"/>
                        </a:rPr>
                        <a:t>Android App</a:t>
                      </a:r>
                      <a:endParaRPr lang="en-US" sz="700"/>
                    </a:p>
                    <a:p>
                      <a:pPr>
                        <a:buFont typeface="Arial"/>
                        <a:buChar char="•"/>
                      </a:pPr>
                      <a:r>
                        <a:rPr lang="en-US" sz="700">
                          <a:hlinkClick r:id="rId39"/>
                        </a:rPr>
                        <a:t>Windows Phone 7 App</a:t>
                      </a:r>
                      <a:endParaRPr lang="en-US" sz="700"/>
                    </a:p>
                    <a:p>
                      <a:pPr>
                        <a:buFont typeface="Arial"/>
                        <a:buChar char="•"/>
                      </a:pPr>
                      <a:r>
                        <a:rPr lang="en-US" sz="700">
                          <a:hlinkClick r:id="rId40"/>
                        </a:rPr>
                        <a:t>Blackberry App</a:t>
                      </a:r>
                      <a:endParaRPr lang="en-US" sz="700"/>
                    </a:p>
                    <a:p>
                      <a:pPr>
                        <a:buFont typeface="Arial"/>
                        <a:buChar char="•"/>
                      </a:pPr>
                      <a:r>
                        <a:rPr lang="en-US" sz="700">
                          <a:hlinkClick r:id="rId41"/>
                        </a:rPr>
                        <a:t>iPhoto plugin</a:t>
                      </a:r>
                      <a:endParaRPr lang="en-US" sz="700"/>
                    </a:p>
                  </a:txBody>
                  <a:tcPr marL="36208" marR="36208" marT="18104" marB="18104" anchor="ctr">
                    <a:lnL>
                      <a:noFill/>
                    </a:lnL>
                    <a:lnR>
                      <a:noFill/>
                    </a:lnR>
                    <a:lnT>
                      <a:noFill/>
                    </a:lnT>
                    <a:lnB>
                      <a:noFill/>
                    </a:lnB>
                  </a:tcPr>
                </a:tc>
                <a:tc>
                  <a:txBody>
                    <a:bodyPr/>
                    <a:lstStyle/>
                    <a:p>
                      <a:r>
                        <a:rPr lang="en-US" sz="700"/>
                        <a:t>Follow us on:</a:t>
                      </a:r>
                    </a:p>
                  </a:txBody>
                  <a:tcPr marL="36208" marR="36208" marT="18104" marB="18104" anchor="ctr">
                    <a:lnL>
                      <a:noFill/>
                    </a:lnL>
                    <a:lnR>
                      <a:noFill/>
                    </a:lnR>
                    <a:lnT>
                      <a:noFill/>
                    </a:lnT>
                    <a:lnB>
                      <a:noFill/>
                    </a:lnB>
                  </a:tcPr>
                </a:tc>
              </a:tr>
              <a:tr h="253454">
                <a:tc gridSpan="5">
                  <a:txBody>
                    <a:bodyPr/>
                    <a:lstStyle/>
                    <a:p>
                      <a:r>
                        <a:rPr lang="en-US" sz="700" dirty="0"/>
                        <a:t>Copyright 2012 </a:t>
                      </a:r>
                      <a:r>
                        <a:rPr lang="en-US" sz="700" dirty="0" err="1"/>
                        <a:t>Photobucket</a:t>
                      </a:r>
                      <a:r>
                        <a:rPr lang="en-US" sz="700" dirty="0"/>
                        <a:t> Corporation. All rights reserved. | </a:t>
                      </a:r>
                      <a:r>
                        <a:rPr lang="en-US" sz="700" dirty="0">
                          <a:hlinkClick r:id="rId42"/>
                        </a:rPr>
                        <a:t>Privacy policy</a:t>
                      </a:r>
                      <a:r>
                        <a:rPr lang="en-US" sz="700" dirty="0"/>
                        <a:t> | </a:t>
                      </a:r>
                      <a:r>
                        <a:rPr lang="en-US" sz="700" dirty="0">
                          <a:hlinkClick r:id="rId43"/>
                        </a:rPr>
                        <a:t>Terms of use</a:t>
                      </a:r>
                      <a:r>
                        <a:rPr lang="en-US" sz="700" dirty="0"/>
                        <a:t> | </a:t>
                      </a:r>
                      <a:r>
                        <a:rPr lang="en-US" sz="700" dirty="0">
                          <a:hlinkClick r:id="rId44"/>
                        </a:rPr>
                        <a:t>Site map</a:t>
                      </a:r>
                      <a:endParaRPr lang="en-US" sz="700" dirty="0"/>
                    </a:p>
                  </a:txBody>
                  <a:tcPr marL="36208" marR="36208" marT="18104" marB="18104"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pic>
        <p:nvPicPr>
          <p:cNvPr id="1039" name="Picture 15" descr="http://i1264.photobucket.com/albums/jj492/Crosby0637/pbprofilepics/profile_picture.jpg?cb=1343118122"/>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943225" y="1600200"/>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6"/>
          <p:cNvSpPr>
            <a:spLocks noChangeArrowheads="1"/>
          </p:cNvSpPr>
          <p:nvPr/>
        </p:nvSpPr>
        <p:spPr bwMode="auto">
          <a:xfrm>
            <a:off x="2943225" y="1600200"/>
            <a:ext cx="9144000" cy="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3" name="Rectangle 17"/>
          <p:cNvSpPr>
            <a:spLocks noChangeArrowheads="1"/>
          </p:cNvSpPr>
          <p:nvPr/>
        </p:nvSpPr>
        <p:spPr bwMode="auto">
          <a:xfrm>
            <a:off x="2943225" y="1600200"/>
            <a:ext cx="9144000" cy="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4" name="Rectangle 18"/>
          <p:cNvSpPr>
            <a:spLocks noChangeArrowheads="1"/>
          </p:cNvSpPr>
          <p:nvPr/>
        </p:nvSpPr>
        <p:spPr bwMode="auto">
          <a:xfrm>
            <a:off x="2943225" y="1600200"/>
            <a:ext cx="9144000" cy="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5" name="Rectangle 19"/>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6" name="Rectangle 20"/>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7" name="Rectangle 21"/>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8" name="Rectangle 22"/>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9" name="Rectangle 23"/>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0" name="Rectangle 24"/>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1" name="Rectangle 25"/>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2" name="Rectangle 26"/>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3" name="Rectangle 27"/>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4" name="Rectangle 28"/>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5" name="Rectangle 29"/>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6" name="Rectangle 30"/>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7" name="Rectangle 31"/>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8" name="Rectangle 32"/>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29" name="Rectangle 33"/>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30" name="Rectangle 34"/>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31" name="Rectangle 35"/>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24" name="Rectangle 36"/>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25" name="Rectangle 37"/>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26" name="Rectangle 38"/>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27" name="Rectangle 39"/>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28" name="Rectangle 40"/>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29" name="Rectangle 41"/>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0" name="Rectangle 42"/>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1" name="Rectangle 43"/>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2" name="Rectangle 44"/>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3" name="Rectangle 45"/>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4" name="Rectangle 46"/>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5" name="Rectangle 47"/>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6" name="Rectangle 48"/>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7" name="Rectangle 49"/>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38" name="Rectangle 50"/>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0" name="Rectangle 51"/>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1" name="Rectangle 52"/>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2" name="Rectangle 53"/>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3" name="Rectangle 54"/>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4" name="Rectangle 55"/>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5" name="Rectangle 56"/>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6" name="Rectangle 57"/>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7" name="Rectangle 58"/>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8" name="Rectangle 59"/>
          <p:cNvSpPr>
            <a:spLocks noChangeArrowheads="1"/>
          </p:cNvSpPr>
          <p:nvPr/>
        </p:nvSpPr>
        <p:spPr bwMode="auto">
          <a:xfrm>
            <a:off x="2943225" y="1600200"/>
            <a:ext cx="9144000" cy="0"/>
          </a:xfrm>
          <a:prstGeom prst="rect">
            <a:avLst/>
          </a:prstGeom>
          <a:solidFill>
            <a:srgbClr val="C7BB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49" name="Rectangle 60"/>
          <p:cNvSpPr>
            <a:spLocks noChangeArrowheads="1"/>
          </p:cNvSpPr>
          <p:nvPr/>
        </p:nvSpPr>
        <p:spPr bwMode="auto">
          <a:xfrm>
            <a:off x="2943225" y="1600200"/>
            <a:ext cx="9144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pic>
        <p:nvPicPr>
          <p:cNvPr id="1085" name="Picture 61" descr="http://i1264.photobucket.com/albums/jj492/Crosby0637/pbprofilepics/profile_picture.jpg?cb=1343118122"/>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943225" y="1600200"/>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62"/>
          <p:cNvSpPr>
            <a:spLocks noChangeArrowheads="1"/>
          </p:cNvSpPr>
          <p:nvPr/>
        </p:nvSpPr>
        <p:spPr bwMode="auto">
          <a:xfrm>
            <a:off x="2943225" y="1600200"/>
            <a:ext cx="9144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cs typeface="Arial" pitchFamily="34" charset="0"/>
              </a:rPr>
              <a:t>Rotation</a:t>
            </a:r>
          </a:p>
          <a:p>
            <a:pPr marL="457200" marR="0" lvl="1" indent="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cs typeface="Arial" pitchFamily="34" charset="0"/>
              </a:rPr>
              <a:t>Rotate left</a:t>
            </a:r>
          </a:p>
          <a:p>
            <a:pPr marL="457200" marR="0" lvl="1" indent="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cs typeface="Arial" pitchFamily="34" charset="0"/>
              </a:rPr>
              <a:t>Rotate right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rgbClr val="999999"/>
                </a:solidFill>
                <a:effectLst/>
                <a:latin typeface="Arial" pitchFamily="34" charset="0"/>
                <a:cs typeface="Arial" pitchFamily="34" charset="0"/>
              </a:rPr>
              <a:t>Preview</a:t>
            </a:r>
            <a:endParaRPr kumimoji="0" lang="en-US" sz="800" b="0"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cs typeface="Arial" pitchFamily="34"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smtClean="0">
                <a:ln>
                  <a:noFill/>
                </a:ln>
                <a:solidFill>
                  <a:srgbClr val="1C64B4"/>
                </a:solidFill>
                <a:effectLst/>
                <a:latin typeface="Arial" pitchFamily="34" charset="0"/>
                <a:cs typeface="Arial" pitchFamily="34" charset="0"/>
              </a:rPr>
              <a:t>Cancel</a:t>
            </a:r>
            <a:endParaRPr kumimoji="0" lang="en-US" sz="800" b="0"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smtClean="0">
                <a:ln>
                  <a:noFill/>
                </a:ln>
                <a:solidFill>
                  <a:srgbClr val="1C64B4"/>
                </a:solidFill>
                <a:effectLst/>
                <a:latin typeface="Arial" pitchFamily="34" charset="0"/>
                <a:cs typeface="Arial" pitchFamily="34" charset="0"/>
              </a:rPr>
              <a:t> </a:t>
            </a:r>
            <a:endParaRPr kumimoji="0" lang="en-US" sz="1500" b="0" i="0" u="none" strike="noStrike" cap="none" normalizeH="0" baseline="0" smtClean="0">
              <a:ln>
                <a:noFill/>
              </a:ln>
              <a:solidFill>
                <a:srgbClr val="1C64B4"/>
              </a:solidFill>
              <a:effectLst/>
              <a:latin typeface="Arial" pitchFamily="34" charset="0"/>
              <a:cs typeface="Arial" pitchFamily="34" charset="0"/>
            </a:endParaRPr>
          </a:p>
        </p:txBody>
      </p:sp>
      <p:sp>
        <p:nvSpPr>
          <p:cNvPr id="1051" name="Rectangle 70"/>
          <p:cNvSpPr>
            <a:spLocks noChangeArrowheads="1"/>
          </p:cNvSpPr>
          <p:nvPr/>
        </p:nvSpPr>
        <p:spPr bwMode="auto">
          <a:xfrm>
            <a:off x="2943225" y="1600200"/>
            <a:ext cx="9144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52" name="Rectangle 71"/>
          <p:cNvSpPr>
            <a:spLocks noChangeArrowheads="1"/>
          </p:cNvSpPr>
          <p:nvPr/>
        </p:nvSpPr>
        <p:spPr bwMode="auto">
          <a:xfrm>
            <a:off x="2943225" y="1600200"/>
            <a:ext cx="9144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endParaRPr lang="en-US"/>
          </a:p>
        </p:txBody>
      </p:sp>
      <p:sp>
        <p:nvSpPr>
          <p:cNvPr id="1054" name="Rectangle 101"/>
          <p:cNvSpPr>
            <a:spLocks noChangeArrowheads="1"/>
          </p:cNvSpPr>
          <p:nvPr/>
        </p:nvSpPr>
        <p:spPr bwMode="auto">
          <a:xfrm>
            <a:off x="2943225" y="1824038"/>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Char char="•"/>
              <a:tabLst/>
            </a:pPr>
            <a:r>
              <a:rPr kumimoji="0" lang="en-US" sz="900" b="1" i="0" u="none" strike="noStrike" cap="none" normalizeH="0" baseline="0" smtClean="0">
                <a:ln>
                  <a:noFill/>
                </a:ln>
                <a:solidFill>
                  <a:srgbClr val="FFFFFF"/>
                </a:solidFill>
                <a:effectLst/>
                <a:latin typeface="Arial" pitchFamily="34" charset="0"/>
                <a:cs typeface="Arial" pitchFamily="34" charset="0"/>
              </a:rPr>
              <a:t>▼</a:t>
            </a:r>
            <a:endParaRPr kumimoji="0" lang="en-US" sz="900" b="1" i="0" u="none" strike="noStrike" cap="none" normalizeH="0" baseline="0" smtClean="0">
              <a:ln>
                <a:noFill/>
              </a:ln>
              <a:solidFill>
                <a:srgbClr val="000000"/>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None/>
              <a:tabLst/>
            </a:pPr>
            <a:r>
              <a:rPr kumimoji="0" lang="en-US" sz="900" b="1" i="0" u="none" strike="noStrike" cap="none" normalizeH="0" baseline="0" smtClean="0">
                <a:ln>
                  <a:noFill/>
                </a:ln>
                <a:solidFill>
                  <a:srgbClr val="000000"/>
                </a:solidFill>
                <a:effectLst/>
                <a:latin typeface="Arial" pitchFamily="34" charset="0"/>
                <a:cs typeface="Arial" pitchFamily="34" charset="0"/>
              </a:rPr>
              <a:t>Links</a:t>
            </a:r>
          </a:p>
          <a:p>
            <a:pPr marL="0" marR="0" lvl="0" indent="0" algn="l" defTabSz="914400" rtl="0" eaLnBrk="0" fontAlgn="t" latinLnBrk="0" hangingPunct="0">
              <a:lnSpc>
                <a:spcPct val="100000"/>
              </a:lnSpc>
              <a:spcBef>
                <a:spcPct val="0"/>
              </a:spcBef>
              <a:spcAft>
                <a:spcPct val="0"/>
              </a:spcAft>
              <a:buClrTx/>
              <a:buSzTx/>
              <a:buFontTx/>
              <a:buNone/>
              <a:tabLst/>
            </a:pPr>
            <a:r>
              <a:rPr kumimoji="0" lang="en-US" sz="900" b="1" i="0" u="none" strike="noStrike" cap="none" normalizeH="0" baseline="0" smtClean="0">
                <a:ln>
                  <a:noFill/>
                </a:ln>
                <a:solidFill>
                  <a:srgbClr val="FFFFFF"/>
                </a:solidFill>
                <a:effectLst/>
                <a:latin typeface="Arial" pitchFamily="34" charset="0"/>
                <a:cs typeface="Arial" pitchFamily="34" charset="0"/>
              </a:rPr>
              <a:t>Email &amp; IM</a:t>
            </a:r>
            <a:endParaRPr kumimoji="0" lang="en-US" sz="900" b="0" i="0" u="none" strike="noStrike" cap="none" normalizeH="0" baseline="0" smtClean="0">
              <a:ln>
                <a:noFill/>
              </a:ln>
              <a:solidFill>
                <a:srgbClr val="000000"/>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None/>
              <a:tabLst/>
            </a:pPr>
            <a:r>
              <a:rPr kumimoji="0" lang="en-US" sz="900" b="1" i="0" u="none" strike="noStrike" cap="none" normalizeH="0" baseline="0" smtClean="0">
                <a:ln>
                  <a:noFill/>
                </a:ln>
                <a:solidFill>
                  <a:srgbClr val="FFFFFF"/>
                </a:solidFill>
                <a:effectLst/>
                <a:latin typeface="Arial" pitchFamily="34" charset="0"/>
                <a:cs typeface="Arial" pitchFamily="34" charset="0"/>
              </a:rPr>
              <a:t>Direct link</a:t>
            </a:r>
            <a:endParaRPr kumimoji="0" lang="en-US" sz="900" b="0" i="0" u="none" strike="noStrike" cap="none" normalizeH="0" baseline="0" smtClean="0">
              <a:ln>
                <a:noFill/>
              </a:ln>
              <a:solidFill>
                <a:srgbClr val="000000"/>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None/>
              <a:tabLst/>
            </a:pPr>
            <a:r>
              <a:rPr kumimoji="0" lang="en-US" sz="900" b="1" i="0" u="none" strike="noStrike" cap="none" normalizeH="0" baseline="0" smtClean="0">
                <a:ln>
                  <a:noFill/>
                </a:ln>
                <a:solidFill>
                  <a:srgbClr val="FFFFFF"/>
                </a:solidFill>
                <a:effectLst/>
                <a:latin typeface="Arial" pitchFamily="34" charset="0"/>
                <a:cs typeface="Arial" pitchFamily="34" charset="0"/>
              </a:rPr>
              <a:t>HTML code</a:t>
            </a:r>
            <a:endParaRPr kumimoji="0" lang="en-US" sz="900" b="0" i="0" u="none" strike="noStrike" cap="none" normalizeH="0" baseline="0" smtClean="0">
              <a:ln>
                <a:noFill/>
              </a:ln>
              <a:solidFill>
                <a:srgbClr val="000000"/>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None/>
              <a:tabLst/>
            </a:pPr>
            <a:r>
              <a:rPr kumimoji="0" lang="en-US" sz="900" b="1" i="0" u="none" strike="noStrike" cap="none" normalizeH="0" baseline="0" smtClean="0">
                <a:ln>
                  <a:noFill/>
                </a:ln>
                <a:solidFill>
                  <a:srgbClr val="FFFFFF"/>
                </a:solidFill>
                <a:effectLst/>
                <a:latin typeface="Arial" pitchFamily="34" charset="0"/>
                <a:cs typeface="Arial" pitchFamily="34" charset="0"/>
              </a:rPr>
              <a:t>IMG code</a:t>
            </a:r>
            <a:endParaRPr kumimoji="0" lang="en-US" sz="900" b="0" i="0" u="none" strike="noStrike" cap="none" normalizeH="0" baseline="0" smtClean="0">
              <a:ln>
                <a:noFill/>
              </a:ln>
              <a:solidFill>
                <a:srgbClr val="000000"/>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Char char="•"/>
              <a:tabLst/>
            </a:pPr>
            <a:r>
              <a:rPr kumimoji="0" lang="en-US" sz="900" b="1" i="0" u="none" strike="noStrike" cap="none" normalizeH="0" baseline="0" smtClean="0">
                <a:ln>
                  <a:noFill/>
                </a:ln>
                <a:solidFill>
                  <a:srgbClr val="FFFFFF"/>
                </a:solidFill>
                <a:effectLst/>
                <a:latin typeface="Arial" pitchFamily="34" charset="0"/>
                <a:cs typeface="Arial" pitchFamily="34" charset="0"/>
              </a:rPr>
              <a:t>▶</a:t>
            </a:r>
            <a:endParaRPr kumimoji="0" lang="en-US" sz="900" b="1" i="0" u="none" strike="noStrike" cap="none" normalizeH="0" baseline="0" smtClean="0">
              <a:ln>
                <a:noFill/>
              </a:ln>
              <a:solidFill>
                <a:srgbClr val="000000"/>
              </a:solidFill>
              <a:effectLst/>
              <a:latin typeface="Arial" pitchFamily="34" charset="0"/>
              <a:cs typeface="Arial" pitchFamily="34" charset="0"/>
            </a:endParaRPr>
          </a:p>
          <a:p>
            <a:pPr marL="0" marR="0" lvl="0" indent="0" algn="l" defTabSz="914400" rtl="0" eaLnBrk="0" fontAlgn="t" latinLnBrk="0" hangingPunct="0">
              <a:lnSpc>
                <a:spcPct val="100000"/>
              </a:lnSpc>
              <a:spcBef>
                <a:spcPct val="0"/>
              </a:spcBef>
              <a:spcAft>
                <a:spcPct val="0"/>
              </a:spcAft>
              <a:buClrTx/>
              <a:buSzTx/>
              <a:buFontTx/>
              <a:buNone/>
              <a:tabLst/>
            </a:pPr>
            <a:r>
              <a:rPr kumimoji="0" lang="en-US" sz="900" b="1" i="0" u="none" strike="noStrike" cap="none" normalizeH="0" baseline="0" smtClean="0">
                <a:ln>
                  <a:noFill/>
                </a:ln>
                <a:solidFill>
                  <a:srgbClr val="000000"/>
                </a:solidFill>
                <a:effectLst/>
                <a:latin typeface="Arial" pitchFamily="34" charset="0"/>
                <a:cs typeface="Arial" pitchFamily="34" charset="0"/>
              </a:rPr>
              <a:t>Photo info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55" name="Rectangle 106"/>
          <p:cNvSpPr>
            <a:spLocks noChangeArrowheads="1"/>
          </p:cNvSpPr>
          <p:nvPr/>
        </p:nvSpPr>
        <p:spPr bwMode="auto">
          <a:xfrm>
            <a:off x="2943225" y="1824038"/>
            <a:ext cx="9144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t" anchorCtr="0" compatLnSpc="1">
            <a:prstTxWarp prst="textNoShape">
              <a:avLst/>
            </a:prstTxWarp>
            <a:spAutoFit/>
          </a:bodyPr>
          <a:lstStyle/>
          <a:p>
            <a:endParaRPr lang="en-US"/>
          </a:p>
        </p:txBody>
      </p:sp>
      <p:sp>
        <p:nvSpPr>
          <p:cNvPr id="1056" name="Rectangle 107"/>
          <p:cNvSpPr>
            <a:spLocks noChangeArrowheads="1"/>
          </p:cNvSpPr>
          <p:nvPr/>
        </p:nvSpPr>
        <p:spPr bwMode="auto">
          <a:xfrm>
            <a:off x="2943225" y="1824038"/>
            <a:ext cx="9144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0" numCol="1" anchor="t" anchorCtr="0" compatLnSpc="1">
            <a:prstTxWarp prst="textNoShape">
              <a:avLst/>
            </a:prstTxWarp>
            <a:spAutoFit/>
          </a:bodyPr>
          <a:lstStyle/>
          <a:p>
            <a:endParaRPr lang="en-US"/>
          </a:p>
        </p:txBody>
      </p:sp>
      <p:pic>
        <p:nvPicPr>
          <p:cNvPr id="1059" name="Picture 14" descr="http://i1264.photobucket.com/albums/jj492/Crosby0637/pbprofilepics/profile_picture.jpg?cb=1343118122"/>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362200" y="838201"/>
            <a:ext cx="6775449" cy="6019800"/>
          </a:xfrm>
          <a:prstGeom prst="rect">
            <a:avLst/>
          </a:prstGeom>
          <a:noFill/>
          <a:extLst>
            <a:ext uri="{909E8E84-426E-40dd-AFC4-6F175D3DCCD1}">
              <a14:hiddenFill xmlns:a14="http://schemas.microsoft.com/office/drawing/2010/main">
                <a:solidFill>
                  <a:srgbClr val="FFFFFF"/>
                </a:solidFill>
              </a14:hiddenFill>
            </a:ext>
          </a:extLst>
        </p:spPr>
      </p:pic>
      <p:pic>
        <p:nvPicPr>
          <p:cNvPr id="1099" name="Picture 75" descr="B17th - Jesus Feeds 5,000 Men - John Chapter 06 Verses 01 to 15 - 17th Sunday in Ordinary Time #05"/>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006725" y="-7710488"/>
            <a:ext cx="4686300" cy="3514725"/>
          </a:xfrm>
          <a:prstGeom prst="rect">
            <a:avLst/>
          </a:prstGeom>
          <a:noFill/>
          <a:extLst>
            <a:ext uri="{909E8E84-426E-40dd-AFC4-6F175D3DCCD1}">
              <a14:hiddenFill xmlns:a14="http://schemas.microsoft.com/office/drawing/2010/main">
                <a:solidFill>
                  <a:srgbClr val="FFFFFF"/>
                </a:solidFill>
              </a14:hiddenFill>
            </a:ext>
          </a:extLst>
        </p:spPr>
      </p:pic>
      <p:pic>
        <p:nvPicPr>
          <p:cNvPr id="1100" name="Picture 76" descr="http://pic.pbsrc.com/icon/profile_male.jpg">
            <a:hlinkClick r:id="rId47"/>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3722688" y="-6753225"/>
            <a:ext cx="142875" cy="142875"/>
          </a:xfrm>
          <a:prstGeom prst="rect">
            <a:avLst/>
          </a:prstGeom>
          <a:noFill/>
          <a:extLst>
            <a:ext uri="{909E8E84-426E-40dd-AFC4-6F175D3DCCD1}">
              <a14:hiddenFill xmlns:a14="http://schemas.microsoft.com/office/drawing/2010/main">
                <a:solidFill>
                  <a:srgbClr val="FFFFFF"/>
                </a:solidFill>
              </a14:hiddenFill>
            </a:ext>
          </a:extLst>
        </p:spPr>
      </p:pic>
      <p:pic>
        <p:nvPicPr>
          <p:cNvPr id="1135" name="Picture 111" descr="http://d.audienceiq.com/r/dd/id/L2NzaWQvNS9jaWQvMzE1ODQ5MC90LzI/extpid/9/extuid/8a21036b46f3998b325f27c4280af1ca"/>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4854238" y="1493838"/>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120" name="TextBox 1119"/>
          <p:cNvSpPr txBox="1"/>
          <p:nvPr/>
        </p:nvSpPr>
        <p:spPr>
          <a:xfrm>
            <a:off x="0" y="833021"/>
            <a:ext cx="2362200" cy="6093976"/>
          </a:xfrm>
          <a:prstGeom prst="rect">
            <a:avLst/>
          </a:prstGeom>
          <a:noFill/>
        </p:spPr>
        <p:txBody>
          <a:bodyPr wrap="square" rtlCol="0">
            <a:spAutoFit/>
          </a:bodyPr>
          <a:lstStyle/>
          <a:p>
            <a:pPr algn="ctr"/>
            <a:r>
              <a:rPr lang="en-US" sz="4800" b="1" dirty="0" smtClean="0"/>
              <a:t>TODAY</a:t>
            </a:r>
          </a:p>
          <a:p>
            <a:pPr algn="ctr"/>
            <a:r>
              <a:rPr lang="en-US" sz="4800" b="1" dirty="0" smtClean="0"/>
              <a:t>WITH WHAT </a:t>
            </a:r>
            <a:r>
              <a:rPr lang="en-US" sz="5400" b="1" i="1" dirty="0" smtClean="0">
                <a:solidFill>
                  <a:srgbClr val="002060"/>
                </a:solidFill>
              </a:rPr>
              <a:t>WE DO </a:t>
            </a:r>
            <a:r>
              <a:rPr lang="en-US" sz="4800" b="1" dirty="0" smtClean="0"/>
              <a:t>TO  FEED THE CROWD</a:t>
            </a:r>
            <a:endParaRPr lang="en-US" sz="6000" b="1" i="1" dirty="0"/>
          </a:p>
        </p:txBody>
      </p:sp>
    </p:spTree>
    <p:extLst>
      <p:ext uri="{BB962C8B-B14F-4D97-AF65-F5344CB8AC3E}">
        <p14:creationId xmlns:p14="http://schemas.microsoft.com/office/powerpoint/2010/main" val="257590457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9883" y="762000"/>
            <a:ext cx="4564117" cy="6096000"/>
          </a:xfrm>
        </p:spPr>
        <p:txBody>
          <a:bodyPr>
            <a:noAutofit/>
          </a:bodyPr>
          <a:lstStyle/>
          <a:p>
            <a:r>
              <a:rPr lang="en-US" b="1" dirty="0" smtClean="0"/>
              <a:t>AND SHARE WHAT WE HAVE WITH THE CROWD WE WILL NOT BE OFFERING THE BREAD OF OUR PRIESTLY LIVES IN THE MODEL OF JESUS</a:t>
            </a:r>
            <a:endParaRPr lang="en-US" b="1" dirty="0"/>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121" name="Picture 1" descr="Description: http://upload.wikimedia.org/wikipedia/commons/thumb/6/67/Christ_feeding_the_multitude.jpg/180px-Christ_feeding_the_multitu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0"/>
            <a:ext cx="4572000" cy="6096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3667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Book Antiqua" pitchFamily="18" charset="0"/>
                <a:ea typeface="Calibri" pitchFamily="34" charset="0"/>
                <a:cs typeface="Times New Roman" pitchFamily="18" charset="0"/>
              </a:rPr>
              <a: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TextBox 5"/>
          <p:cNvSpPr txBox="1"/>
          <p:nvPr/>
        </p:nvSpPr>
        <p:spPr>
          <a:xfrm>
            <a:off x="15766" y="-7441"/>
            <a:ext cx="9128234" cy="769441"/>
          </a:xfrm>
          <a:prstGeom prst="rect">
            <a:avLst/>
          </a:prstGeom>
          <a:noFill/>
        </p:spPr>
        <p:txBody>
          <a:bodyPr wrap="square" rtlCol="0">
            <a:spAutoFit/>
          </a:bodyPr>
          <a:lstStyle/>
          <a:p>
            <a:pPr algn="ctr"/>
            <a:r>
              <a:rPr lang="en-US" sz="4400" b="1" dirty="0" smtClean="0">
                <a:solidFill>
                  <a:srgbClr val="0000CC"/>
                </a:solidFill>
              </a:rPr>
              <a:t>UNLESS WE BECOME LIKE THE CHILD</a:t>
            </a:r>
            <a:endParaRPr lang="en-US" sz="4400" b="1" dirty="0">
              <a:solidFill>
                <a:srgbClr val="0000CC"/>
              </a:solidFill>
            </a:endParaRPr>
          </a:p>
        </p:txBody>
      </p:sp>
    </p:spTree>
    <p:extLst>
      <p:ext uri="{BB962C8B-B14F-4D97-AF65-F5344CB8AC3E}">
        <p14:creationId xmlns:p14="http://schemas.microsoft.com/office/powerpoint/2010/main" val="257174016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0"/>
            <a:ext cx="9144000" cy="1828800"/>
          </a:xfrm>
        </p:spPr>
        <p:txBody>
          <a:bodyPr>
            <a:normAutofit fontScale="90000"/>
          </a:bodyPr>
          <a:lstStyle/>
          <a:p>
            <a:pPr eaLnBrk="1" hangingPunct="1"/>
            <a:r>
              <a:rPr lang="en-US" sz="4000" b="1" dirty="0" smtClean="0">
                <a:solidFill>
                  <a:srgbClr val="000099"/>
                </a:solidFill>
              </a:rPr>
              <a:t>FOUR FORMS OF THE</a:t>
            </a:r>
            <a:r>
              <a:rPr lang="en-US" sz="4000" dirty="0" smtClean="0">
                <a:solidFill>
                  <a:srgbClr val="000099"/>
                </a:solidFill>
              </a:rPr>
              <a:t> </a:t>
            </a:r>
            <a:br>
              <a:rPr lang="en-US" sz="4000" dirty="0" smtClean="0">
                <a:solidFill>
                  <a:srgbClr val="000099"/>
                </a:solidFill>
              </a:rPr>
            </a:br>
            <a:r>
              <a:rPr lang="en-US" sz="5300" b="1" dirty="0" smtClean="0"/>
              <a:t>REAL PRESENCE OF JESUS CHRIST </a:t>
            </a:r>
            <a:r>
              <a:rPr lang="en-US" sz="5300" dirty="0" smtClean="0">
                <a:solidFill>
                  <a:srgbClr val="000099"/>
                </a:solidFill>
              </a:rPr>
              <a:t>                       </a:t>
            </a:r>
            <a:r>
              <a:rPr lang="en-US" sz="4000" b="1" dirty="0" smtClean="0">
                <a:solidFill>
                  <a:srgbClr val="000099"/>
                </a:solidFill>
              </a:rPr>
              <a:t>IN THE EUCHARIST</a:t>
            </a:r>
          </a:p>
        </p:txBody>
      </p:sp>
      <p:sp>
        <p:nvSpPr>
          <p:cNvPr id="12291" name="Rectangle 3"/>
          <p:cNvSpPr>
            <a:spLocks noGrp="1" noChangeArrowheads="1"/>
          </p:cNvSpPr>
          <p:nvPr>
            <p:ph idx="1"/>
          </p:nvPr>
        </p:nvSpPr>
        <p:spPr>
          <a:xfrm>
            <a:off x="0" y="1905000"/>
            <a:ext cx="9144000" cy="5029200"/>
          </a:xfrm>
        </p:spPr>
        <p:txBody>
          <a:bodyPr>
            <a:normAutofit fontScale="92500"/>
          </a:bodyPr>
          <a:lstStyle/>
          <a:p>
            <a:pPr eaLnBrk="1" hangingPunct="1">
              <a:lnSpc>
                <a:spcPct val="90000"/>
              </a:lnSpc>
              <a:buFontTx/>
              <a:buNone/>
            </a:pPr>
            <a:r>
              <a:rPr lang="en-US" sz="4000" b="1" dirty="0" smtClean="0"/>
              <a:t>“In the celebration of Mass, in which the Sacrifice of the Cross is perpetuated,      </a:t>
            </a:r>
            <a:r>
              <a:rPr lang="en-US" sz="6500" b="1" dirty="0" smtClean="0">
                <a:solidFill>
                  <a:srgbClr val="0000CC"/>
                </a:solidFill>
              </a:rPr>
              <a:t>CHRIST IS REALLY PRESENT</a:t>
            </a:r>
          </a:p>
          <a:p>
            <a:pPr eaLnBrk="1" hangingPunct="1">
              <a:lnSpc>
                <a:spcPct val="90000"/>
              </a:lnSpc>
            </a:pPr>
            <a:r>
              <a:rPr lang="en-US" sz="4000" b="1" dirty="0"/>
              <a:t>i</a:t>
            </a:r>
            <a:r>
              <a:rPr lang="en-US" sz="4000" b="1" dirty="0" smtClean="0"/>
              <a:t>n the very assembly gathered in his name;</a:t>
            </a:r>
          </a:p>
          <a:p>
            <a:pPr eaLnBrk="1" hangingPunct="1">
              <a:lnSpc>
                <a:spcPct val="90000"/>
              </a:lnSpc>
            </a:pPr>
            <a:r>
              <a:rPr lang="en-US" sz="4000" b="1" dirty="0"/>
              <a:t>i</a:t>
            </a:r>
            <a:r>
              <a:rPr lang="en-US" sz="4000" b="1" dirty="0" smtClean="0"/>
              <a:t>n the person of the minister,</a:t>
            </a:r>
          </a:p>
          <a:p>
            <a:pPr eaLnBrk="1" hangingPunct="1">
              <a:lnSpc>
                <a:spcPct val="90000"/>
              </a:lnSpc>
            </a:pPr>
            <a:r>
              <a:rPr lang="en-US" sz="4000" b="1" dirty="0" smtClean="0"/>
              <a:t>in his word,</a:t>
            </a:r>
          </a:p>
          <a:p>
            <a:pPr eaLnBrk="1" hangingPunct="1">
              <a:lnSpc>
                <a:spcPct val="90000"/>
              </a:lnSpc>
            </a:pPr>
            <a:r>
              <a:rPr lang="en-US" sz="4000" b="1" dirty="0" smtClean="0"/>
              <a:t>and indeed substantially and permanently under the </a:t>
            </a:r>
            <a:r>
              <a:rPr lang="en-US" sz="4000" b="1" dirty="0"/>
              <a:t>E</a:t>
            </a:r>
            <a:r>
              <a:rPr lang="en-US" sz="4000" b="1" dirty="0" smtClean="0"/>
              <a:t>ucharistic species. </a:t>
            </a:r>
            <a:r>
              <a:rPr lang="en-US" dirty="0" smtClean="0"/>
              <a:t>        </a:t>
            </a:r>
            <a:r>
              <a:rPr lang="en-US" sz="2800" i="1" dirty="0" smtClean="0"/>
              <a:t>GIRM</a:t>
            </a:r>
            <a:r>
              <a:rPr lang="en-US" sz="2800" dirty="0" smtClean="0"/>
              <a:t> II, I, 27</a:t>
            </a:r>
          </a:p>
        </p:txBody>
      </p:sp>
    </p:spTree>
    <p:extLst>
      <p:ext uri="{BB962C8B-B14F-4D97-AF65-F5344CB8AC3E}">
        <p14:creationId xmlns:p14="http://schemas.microsoft.com/office/powerpoint/2010/main" val="415442782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0" y="3048000"/>
            <a:ext cx="22860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dirty="0"/>
              <a:t>CHURCH</a:t>
            </a:r>
          </a:p>
          <a:p>
            <a:pPr eaLnBrk="1" hangingPunct="1"/>
            <a:r>
              <a:rPr lang="en-US" sz="3200" dirty="0" smtClean="0">
                <a:solidFill>
                  <a:srgbClr val="000099"/>
                </a:solidFill>
              </a:rPr>
              <a:t>We Belong</a:t>
            </a:r>
            <a:endParaRPr lang="en-US" sz="3200" dirty="0">
              <a:solidFill>
                <a:srgbClr val="000099"/>
              </a:solidFill>
            </a:endParaRPr>
          </a:p>
        </p:txBody>
      </p:sp>
      <p:sp>
        <p:nvSpPr>
          <p:cNvPr id="8195" name="Text Box 3"/>
          <p:cNvSpPr txBox="1">
            <a:spLocks noChangeArrowheads="1"/>
          </p:cNvSpPr>
          <p:nvPr/>
        </p:nvSpPr>
        <p:spPr bwMode="auto">
          <a:xfrm>
            <a:off x="1981200" y="3048000"/>
            <a:ext cx="45720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dirty="0"/>
              <a:t>THE BODY OF CHRIST</a:t>
            </a:r>
          </a:p>
          <a:p>
            <a:pPr algn="ctr" eaLnBrk="1" hangingPunct="1"/>
            <a:r>
              <a:rPr lang="en-US" sz="3200" dirty="0" smtClean="0">
                <a:solidFill>
                  <a:srgbClr val="000099"/>
                </a:solidFill>
              </a:rPr>
              <a:t>We are members of</a:t>
            </a:r>
            <a:endParaRPr lang="en-US" sz="3200" dirty="0">
              <a:solidFill>
                <a:srgbClr val="000099"/>
              </a:solidFill>
            </a:endParaRPr>
          </a:p>
        </p:txBody>
      </p:sp>
      <p:sp>
        <p:nvSpPr>
          <p:cNvPr id="8196" name="Text Box 4"/>
          <p:cNvSpPr txBox="1">
            <a:spLocks noChangeArrowheads="1"/>
          </p:cNvSpPr>
          <p:nvPr/>
        </p:nvSpPr>
        <p:spPr bwMode="auto">
          <a:xfrm>
            <a:off x="6553200" y="3048000"/>
            <a:ext cx="25908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dirty="0"/>
              <a:t>EUCHARIST</a:t>
            </a:r>
          </a:p>
          <a:p>
            <a:pPr eaLnBrk="1" hangingPunct="1"/>
            <a:r>
              <a:rPr lang="en-US" sz="3200" dirty="0" smtClean="0">
                <a:solidFill>
                  <a:srgbClr val="000099"/>
                </a:solidFill>
              </a:rPr>
              <a:t> We are in it</a:t>
            </a:r>
            <a:endParaRPr lang="en-US" sz="3200" dirty="0">
              <a:solidFill>
                <a:srgbClr val="000099"/>
              </a:solidFill>
            </a:endParaRPr>
          </a:p>
        </p:txBody>
      </p:sp>
      <p:sp>
        <p:nvSpPr>
          <p:cNvPr id="3" name="TextBox 2"/>
          <p:cNvSpPr txBox="1"/>
          <p:nvPr/>
        </p:nvSpPr>
        <p:spPr>
          <a:xfrm>
            <a:off x="0" y="0"/>
            <a:ext cx="9144001" cy="2985433"/>
          </a:xfrm>
          <a:prstGeom prst="rect">
            <a:avLst/>
          </a:prstGeom>
          <a:noFill/>
        </p:spPr>
        <p:txBody>
          <a:bodyPr wrap="square" rtlCol="0">
            <a:spAutoFit/>
          </a:bodyPr>
          <a:lstStyle/>
          <a:p>
            <a:pPr algn="ctr"/>
            <a:r>
              <a:rPr lang="en-US" sz="3600" b="1" dirty="0" smtClean="0"/>
              <a:t>THE ONLY WAY                                                         </a:t>
            </a:r>
            <a:r>
              <a:rPr lang="en-US" sz="4000" b="1" dirty="0" smtClean="0"/>
              <a:t>JESUS CHRIST IS REALLY PRESENT TODAY</a:t>
            </a:r>
            <a:r>
              <a:rPr lang="en-US" sz="3600" b="1" dirty="0" smtClean="0"/>
              <a:t>,                    </a:t>
            </a:r>
            <a:r>
              <a:rPr lang="en-US" sz="4000" b="1" dirty="0" smtClean="0">
                <a:solidFill>
                  <a:srgbClr val="0000CC"/>
                </a:solidFill>
              </a:rPr>
              <a:t>INCLUDING HIS EUCHARISTIC PRESENCE</a:t>
            </a:r>
            <a:r>
              <a:rPr lang="en-US" sz="3600" b="1" dirty="0" smtClean="0"/>
              <a:t>,</a:t>
            </a:r>
          </a:p>
          <a:p>
            <a:pPr algn="ctr"/>
            <a:r>
              <a:rPr lang="en-US" sz="3600" b="1" dirty="0" smtClean="0"/>
              <a:t>IS BY BEING IN COMMUNION WITH US AS THE HEAD OF HIS MYSTICAL BODY, THE CHURCH.</a:t>
            </a:r>
            <a:endParaRPr lang="en-US" sz="3600" b="1" dirty="0"/>
          </a:p>
        </p:txBody>
      </p:sp>
      <p:sp>
        <p:nvSpPr>
          <p:cNvPr id="4" name="TextBox 3"/>
          <p:cNvSpPr txBox="1"/>
          <p:nvPr/>
        </p:nvSpPr>
        <p:spPr>
          <a:xfrm>
            <a:off x="-95276" y="4191000"/>
            <a:ext cx="9239276" cy="3477875"/>
          </a:xfrm>
          <a:prstGeom prst="rect">
            <a:avLst/>
          </a:prstGeom>
          <a:noFill/>
        </p:spPr>
        <p:txBody>
          <a:bodyPr wrap="square" rtlCol="0">
            <a:spAutoFit/>
          </a:bodyPr>
          <a:lstStyle/>
          <a:p>
            <a:pPr algn="ctr"/>
            <a:r>
              <a:rPr lang="en-US" sz="4000" b="1" dirty="0">
                <a:solidFill>
                  <a:srgbClr val="0000CC"/>
                </a:solidFill>
              </a:rPr>
              <a:t>WHEN WE ASSEMBLE </a:t>
            </a:r>
            <a:r>
              <a:rPr lang="en-US" sz="4000" b="1" dirty="0" smtClean="0">
                <a:solidFill>
                  <a:srgbClr val="0000CC"/>
                </a:solidFill>
              </a:rPr>
              <a:t>                                      AS </a:t>
            </a:r>
            <a:r>
              <a:rPr lang="en-US" sz="4000" b="1" dirty="0">
                <a:solidFill>
                  <a:srgbClr val="0000CC"/>
                </a:solidFill>
              </a:rPr>
              <a:t>AN OBSERVABLE BODY OF BELIEVERS </a:t>
            </a:r>
          </a:p>
          <a:p>
            <a:pPr algn="ctr"/>
            <a:r>
              <a:rPr lang="en-US" sz="4000" b="1" dirty="0" smtClean="0"/>
              <a:t>WE </a:t>
            </a:r>
            <a:r>
              <a:rPr lang="en-US" sz="4000" b="1" dirty="0"/>
              <a:t>ARE THE MYSTICAL BODY OF </a:t>
            </a:r>
            <a:r>
              <a:rPr lang="en-US" sz="4000" b="1" dirty="0" smtClean="0"/>
              <a:t>CHRIST:</a:t>
            </a:r>
            <a:r>
              <a:rPr lang="en-US" sz="4000" b="1" dirty="0" smtClean="0">
                <a:solidFill>
                  <a:srgbClr val="0000CC"/>
                </a:solidFill>
              </a:rPr>
              <a:t> </a:t>
            </a:r>
            <a:r>
              <a:rPr lang="en-US" sz="6000" b="1" dirty="0">
                <a:solidFill>
                  <a:srgbClr val="0000CC"/>
                </a:solidFill>
              </a:rPr>
              <a:t>THE EUCHARIST CAN </a:t>
            </a:r>
            <a:r>
              <a:rPr lang="en-US" sz="6000" b="1" dirty="0" smtClean="0">
                <a:solidFill>
                  <a:srgbClr val="0000CC"/>
                </a:solidFill>
              </a:rPr>
              <a:t>BEGIN</a:t>
            </a:r>
            <a:endParaRPr lang="en-US" sz="6000" b="1" dirty="0">
              <a:solidFill>
                <a:srgbClr val="0000CC"/>
              </a:solidFill>
            </a:endParaRPr>
          </a:p>
          <a:p>
            <a:endParaRPr lang="en-US" sz="4000" dirty="0"/>
          </a:p>
        </p:txBody>
      </p:sp>
    </p:spTree>
    <p:extLst>
      <p:ext uri="{BB962C8B-B14F-4D97-AF65-F5344CB8AC3E}">
        <p14:creationId xmlns:p14="http://schemas.microsoft.com/office/powerpoint/2010/main" val="86396121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5" grpId="0"/>
      <p:bldP spid="8196" grpId="0"/>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600199"/>
          </a:xfrm>
        </p:spPr>
        <p:txBody>
          <a:bodyPr>
            <a:normAutofit/>
          </a:bodyPr>
          <a:lstStyle/>
          <a:p>
            <a:r>
              <a:rPr lang="en-US" b="1" dirty="0" smtClean="0">
                <a:solidFill>
                  <a:srgbClr val="0000CC"/>
                </a:solidFill>
              </a:rPr>
              <a:t>WOMEN’S SCRIPTURE </a:t>
            </a:r>
            <a:r>
              <a:rPr lang="en-US" b="1" smtClean="0">
                <a:solidFill>
                  <a:srgbClr val="0000CC"/>
                </a:solidFill>
              </a:rPr>
              <a:t>REFLECTION         </a:t>
            </a:r>
            <a:r>
              <a:rPr lang="en-US" b="1" smtClean="0">
                <a:solidFill>
                  <a:srgbClr val="0000CC"/>
                </a:solidFill>
              </a:rPr>
              <a:t>GROUP 08.07.12</a:t>
            </a:r>
            <a:endParaRPr lang="en-US" b="1" dirty="0">
              <a:solidFill>
                <a:srgbClr val="0000CC"/>
              </a:solidFill>
            </a:endParaRPr>
          </a:p>
        </p:txBody>
      </p:sp>
      <p:sp>
        <p:nvSpPr>
          <p:cNvPr id="3" name="Subtitle 2"/>
          <p:cNvSpPr>
            <a:spLocks noGrp="1"/>
          </p:cNvSpPr>
          <p:nvPr>
            <p:ph type="subTitle" idx="1"/>
          </p:nvPr>
        </p:nvSpPr>
        <p:spPr>
          <a:xfrm>
            <a:off x="0" y="1752600"/>
            <a:ext cx="9144000" cy="5334000"/>
          </a:xfrm>
        </p:spPr>
        <p:txBody>
          <a:bodyPr>
            <a:normAutofit fontScale="77500" lnSpcReduction="20000"/>
          </a:bodyPr>
          <a:lstStyle/>
          <a:p>
            <a:pPr algn="l"/>
            <a:r>
              <a:rPr lang="en-US" dirty="0">
                <a:solidFill>
                  <a:schemeClr val="tx1"/>
                </a:solidFill>
              </a:rPr>
              <a:t>Our Savior has made us to offer acceptable sacrifice to the </a:t>
            </a:r>
          </a:p>
          <a:p>
            <a:pPr algn="l"/>
            <a:r>
              <a:rPr lang="en-US" dirty="0">
                <a:solidFill>
                  <a:schemeClr val="tx1"/>
                </a:solidFill>
              </a:rPr>
              <a:t>Father.   Let us call upon him in gratitude:</a:t>
            </a:r>
          </a:p>
          <a:p>
            <a:pPr algn="l"/>
            <a:r>
              <a:rPr lang="en-US" dirty="0">
                <a:solidFill>
                  <a:schemeClr val="tx1"/>
                </a:solidFill>
              </a:rPr>
              <a:t>   </a:t>
            </a:r>
            <a:r>
              <a:rPr lang="en-US" i="1" dirty="0">
                <a:solidFill>
                  <a:schemeClr val="tx1"/>
                </a:solidFill>
              </a:rPr>
              <a:t>Preserve us in your ministry, Lord.</a:t>
            </a:r>
            <a:endParaRPr lang="en-US" dirty="0">
              <a:solidFill>
                <a:schemeClr val="tx1"/>
              </a:solidFill>
            </a:endParaRPr>
          </a:p>
          <a:p>
            <a:pPr algn="l"/>
            <a:r>
              <a:rPr lang="en-US" dirty="0">
                <a:solidFill>
                  <a:schemeClr val="tx1"/>
                </a:solidFill>
              </a:rPr>
              <a:t>Christ, eternal priest, you conferred the holy priesthood on your people,</a:t>
            </a:r>
          </a:p>
          <a:p>
            <a:pPr algn="l"/>
            <a:r>
              <a:rPr lang="en-US" i="1" dirty="0">
                <a:solidFill>
                  <a:schemeClr val="tx1"/>
                </a:solidFill>
              </a:rPr>
              <a:t>   grant that we may offer spiritual sacrifices acceptable </a:t>
            </a:r>
            <a:r>
              <a:rPr lang="en-US" i="1" dirty="0" smtClean="0">
                <a:solidFill>
                  <a:schemeClr val="tx1"/>
                </a:solidFill>
              </a:rPr>
              <a:t>to </a:t>
            </a:r>
            <a:r>
              <a:rPr lang="en-US" i="1" dirty="0">
                <a:solidFill>
                  <a:schemeClr val="tx1"/>
                </a:solidFill>
              </a:rPr>
              <a:t>the Father</a:t>
            </a:r>
            <a:endParaRPr lang="en-US" dirty="0">
              <a:solidFill>
                <a:schemeClr val="tx1"/>
              </a:solidFill>
            </a:endParaRPr>
          </a:p>
          <a:p>
            <a:pPr algn="l"/>
            <a:r>
              <a:rPr lang="en-US" dirty="0">
                <a:solidFill>
                  <a:schemeClr val="tx1"/>
                </a:solidFill>
              </a:rPr>
              <a:t>In your goodness pour out on us the fruits of your Spirit,</a:t>
            </a:r>
          </a:p>
          <a:p>
            <a:pPr algn="l"/>
            <a:r>
              <a:rPr lang="en-US" dirty="0">
                <a:solidFill>
                  <a:schemeClr val="tx1"/>
                </a:solidFill>
              </a:rPr>
              <a:t>  </a:t>
            </a:r>
            <a:r>
              <a:rPr lang="en-US" i="1" dirty="0">
                <a:solidFill>
                  <a:schemeClr val="tx1"/>
                </a:solidFill>
              </a:rPr>
              <a:t>patience, kindness and gentleness.</a:t>
            </a:r>
            <a:endParaRPr lang="en-US" dirty="0">
              <a:solidFill>
                <a:schemeClr val="tx1"/>
              </a:solidFill>
            </a:endParaRPr>
          </a:p>
          <a:p>
            <a:pPr algn="l"/>
            <a:r>
              <a:rPr lang="en-US" dirty="0">
                <a:solidFill>
                  <a:schemeClr val="tx1"/>
                </a:solidFill>
              </a:rPr>
              <a:t>May we love you and possess you, for you are love,</a:t>
            </a:r>
          </a:p>
          <a:p>
            <a:pPr algn="l"/>
            <a:r>
              <a:rPr lang="en-US" dirty="0">
                <a:solidFill>
                  <a:schemeClr val="tx1"/>
                </a:solidFill>
              </a:rPr>
              <a:t>  </a:t>
            </a:r>
            <a:r>
              <a:rPr lang="en-US" i="1" dirty="0">
                <a:solidFill>
                  <a:schemeClr val="tx1"/>
                </a:solidFill>
              </a:rPr>
              <a:t>and may every action of our lives praise you.</a:t>
            </a:r>
            <a:endParaRPr lang="en-US" dirty="0">
              <a:solidFill>
                <a:schemeClr val="tx1"/>
              </a:solidFill>
            </a:endParaRPr>
          </a:p>
          <a:p>
            <a:pPr algn="l"/>
            <a:r>
              <a:rPr lang="en-US" dirty="0">
                <a:solidFill>
                  <a:schemeClr val="tx1"/>
                </a:solidFill>
              </a:rPr>
              <a:t>May we seek those things which are beneficial to our brothers </a:t>
            </a:r>
          </a:p>
          <a:p>
            <a:pPr algn="l"/>
            <a:r>
              <a:rPr lang="en-US" dirty="0">
                <a:solidFill>
                  <a:schemeClr val="tx1"/>
                </a:solidFill>
              </a:rPr>
              <a:t>and sisters, without counting the cost,</a:t>
            </a:r>
          </a:p>
          <a:p>
            <a:pPr algn="l"/>
            <a:r>
              <a:rPr lang="en-US" dirty="0">
                <a:solidFill>
                  <a:schemeClr val="tx1"/>
                </a:solidFill>
              </a:rPr>
              <a:t>    </a:t>
            </a:r>
            <a:r>
              <a:rPr lang="en-US" i="1" dirty="0">
                <a:solidFill>
                  <a:schemeClr val="tx1"/>
                </a:solidFill>
              </a:rPr>
              <a:t>to help them on the way to salvation.</a:t>
            </a:r>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71245018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142999"/>
          </a:xfrm>
        </p:spPr>
        <p:txBody>
          <a:bodyPr>
            <a:normAutofit/>
          </a:bodyPr>
          <a:lstStyle/>
          <a:p>
            <a:r>
              <a:rPr lang="en-US" sz="4800" b="1" dirty="0" smtClean="0">
                <a:solidFill>
                  <a:srgbClr val="0000CC"/>
                </a:solidFill>
              </a:rPr>
              <a:t>NEW MENTALITY NEEDED FOR ALL</a:t>
            </a:r>
            <a:endParaRPr lang="en-US" sz="4800" b="1" dirty="0">
              <a:solidFill>
                <a:srgbClr val="0000CC"/>
              </a:solidFill>
            </a:endParaRPr>
          </a:p>
        </p:txBody>
      </p:sp>
      <p:sp>
        <p:nvSpPr>
          <p:cNvPr id="3" name="Subtitle 2"/>
          <p:cNvSpPr>
            <a:spLocks noGrp="1"/>
          </p:cNvSpPr>
          <p:nvPr>
            <p:ph type="subTitle" idx="1"/>
          </p:nvPr>
        </p:nvSpPr>
        <p:spPr>
          <a:xfrm>
            <a:off x="76200" y="1066800"/>
            <a:ext cx="8915400" cy="5791200"/>
          </a:xfrm>
        </p:spPr>
        <p:txBody>
          <a:bodyPr>
            <a:normAutofit/>
          </a:bodyPr>
          <a:lstStyle/>
          <a:p>
            <a:pPr algn="l"/>
            <a:r>
              <a:rPr lang="en-US" dirty="0" smtClean="0">
                <a:solidFill>
                  <a:schemeClr val="tx1"/>
                </a:solidFill>
              </a:rPr>
              <a:t>“Co-responsibility </a:t>
            </a:r>
            <a:r>
              <a:rPr lang="en-US" dirty="0">
                <a:solidFill>
                  <a:schemeClr val="tx1"/>
                </a:solidFill>
              </a:rPr>
              <a:t>requires a change in mentality, particularly with regard to the role of the laity in the Church, who should be considered not as “</a:t>
            </a:r>
            <a:r>
              <a:rPr lang="en-US" dirty="0" err="1" smtClean="0">
                <a:solidFill>
                  <a:schemeClr val="tx1"/>
                </a:solidFill>
              </a:rPr>
              <a:t>collabora</a:t>
            </a:r>
            <a:r>
              <a:rPr lang="en-US" dirty="0" smtClean="0">
                <a:solidFill>
                  <a:schemeClr val="tx1"/>
                </a:solidFill>
              </a:rPr>
              <a:t>-tors</a:t>
            </a:r>
            <a:r>
              <a:rPr lang="en-US" dirty="0">
                <a:solidFill>
                  <a:schemeClr val="tx1"/>
                </a:solidFill>
              </a:rPr>
              <a:t>” with the clergy, but as persons truly “</a:t>
            </a:r>
            <a:r>
              <a:rPr lang="en-US" dirty="0" smtClean="0">
                <a:solidFill>
                  <a:schemeClr val="tx1"/>
                </a:solidFill>
              </a:rPr>
              <a:t>co-</a:t>
            </a:r>
            <a:r>
              <a:rPr lang="en-US" dirty="0" err="1" smtClean="0">
                <a:solidFill>
                  <a:schemeClr val="tx1"/>
                </a:solidFill>
              </a:rPr>
              <a:t>respo</a:t>
            </a:r>
            <a:r>
              <a:rPr lang="en-US" dirty="0" smtClean="0">
                <a:solidFill>
                  <a:schemeClr val="tx1"/>
                </a:solidFill>
              </a:rPr>
              <a:t>-</a:t>
            </a:r>
            <a:r>
              <a:rPr lang="en-US" dirty="0" err="1" smtClean="0">
                <a:solidFill>
                  <a:schemeClr val="tx1"/>
                </a:solidFill>
              </a:rPr>
              <a:t>nsible</a:t>
            </a:r>
            <a:r>
              <a:rPr lang="en-US" dirty="0">
                <a:solidFill>
                  <a:schemeClr val="tx1"/>
                </a:solidFill>
              </a:rPr>
              <a:t>” for the being and activity of the Church. It is important, therefore, that a mature and committed laity be united, who are able to make their own specific contribution to the Church’s mission, in accordance with the ministries and tasks each one has in the life of the Church, and always in cordial communion with the bishops</a:t>
            </a:r>
            <a:r>
              <a:rPr lang="en-US" dirty="0" smtClean="0">
                <a:solidFill>
                  <a:schemeClr val="tx1"/>
                </a:solidFill>
              </a:rPr>
              <a:t>.”</a:t>
            </a:r>
            <a:r>
              <a:rPr lang="en-US" sz="2000" dirty="0" smtClean="0">
                <a:solidFill>
                  <a:schemeClr val="tx1"/>
                </a:solidFill>
              </a:rPr>
              <a:t> 								                       Pope Benedict XVI, August 24, 2012</a:t>
            </a:r>
            <a:endParaRPr lang="en-US" dirty="0">
              <a:solidFill>
                <a:schemeClr val="tx1"/>
              </a:solidFill>
            </a:endParaRPr>
          </a:p>
          <a:p>
            <a:pPr algn="l"/>
            <a:endParaRPr lang="en-US" dirty="0"/>
          </a:p>
        </p:txBody>
      </p:sp>
    </p:spTree>
    <p:extLst>
      <p:ext uri="{BB962C8B-B14F-4D97-AF65-F5344CB8AC3E}">
        <p14:creationId xmlns:p14="http://schemas.microsoft.com/office/powerpoint/2010/main" val="29028945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1646</TotalTime>
  <Words>2247</Words>
  <Application>Microsoft Macintosh PowerPoint</Application>
  <PresentationFormat>On-screen Show (4:3)</PresentationFormat>
  <Paragraphs>195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PRIESTHOOD OF THE FAITHFUL</vt:lpstr>
      <vt:lpstr>TWO POLES ON THE CONTINUUM OF                        OUR UNDERSTANDING OF CHURCH</vt:lpstr>
      <vt:lpstr>THE UNIVERSAL PRIESTHOOD OF          ALL THOSE WHO ARE BAPTIZED</vt:lpstr>
      <vt:lpstr>THE UNIVERSAL PRIESTHOOD OF          ALL THOSE WHO ARE BAPTIZED</vt:lpstr>
      <vt:lpstr>“It is necessary to improve pastoral structures in such a way that the co-responsibility of all the members of the People of God in their entirety is gradually promoted, with respect for vocations and for the respective roles of the consecrated and of lay people. This demands a change in mindset, particularly concerning lay people. They must no longer be viewed as "collaborators" of the clergy but truly recognized as "co-responsible", for the Church's being and action, thereby fostering the consolidation of a mature and committed laity. This common awareness of being Church of all the baptized in no way diminishes the responsibility of parish priests. It is precisely your task, dear parish priests, to nurture the spiritual and apostolic growth of those who are already committed to working hard in the parishes.” 05.26.09 </vt:lpstr>
      <vt:lpstr>    PRIESTLY           PROPHETIC         POLITICAL    CULTIC                       WORD/GOSPEL                 SOCIETAL</vt:lpstr>
      <vt:lpstr>Considering the fact that the prophetic, priestly and royal condition is common to all the People of God (cf. LG 9, 10, 34, 35, 36), it seems useful to outline the competency of religious authority, paralleling it by analogy to the three-fold function of pastoral ministry, namely, of teaching, sanctifying and governing without, however, confusing one authority with the other or equating them.           Directives for the Mutual Relations Between Bishops and Religious in the Church, 1978, 13 </vt:lpstr>
      <vt:lpstr>Christ was a true and effective priest because he was full of the power of the Holy Spirit, he was the culmination of all the fullness of the love of God "on the night he was betrayed," precisely in the "hour of darkness" (cf. Luke 22:53) .  .  .   </vt:lpstr>
      <vt:lpstr>“Episcopal consecration has con-ferred upon you the fullness of the sacrament of Orders which, in the ecclesial community, is placed at the service of the common priest-hood of the faithful, of their spiritu-al growth and of their holiness.”               September 15, 2011</vt:lpstr>
      <vt:lpstr>The purpose and mission of ministerial priesthood, in fact, is to enliven the priesthood of the faithful, who, by virtue of Baptism, share in their own way in the one priesthood of Christ, as the Conciliar Constitution Lumen Gentium says: "The common priesthood of the faithful and the ministerial or hierarchical priesthood are none the less ordered one to another; each in its own proper way shares in the one priesthood of Christ" (n. 10). For this reason it is the task of bishops to watch over the baptized and work to enable them to develop in grace and in accordance with the charisms that the Holy Spirit awakens in their hearts and in their communities. The Second Vatican Council recalled that while the Holy Spirit unifies "the Church in communion and in the works of ministry, he bestows upon her varied hierarchic and charismatic gifts... and adorns her with his fruits" (cf. ibid., n. 4).               Pope Benedict XVI to Recently Appointed Prelates, 09.15.11 </vt:lpstr>
      <vt:lpstr>The Bishops’ Role: Nurture Priesthood</vt:lpstr>
      <vt:lpstr>NEW MENTALITY NEEDED FOR ALL</vt:lpstr>
      <vt:lpstr>PowerPoint Presentation</vt:lpstr>
      <vt:lpstr>CHURCH AS SACRAMENT: THE THEOLOGY OF EUCHARIST IN JOHN</vt:lpstr>
      <vt:lpstr>WHAT DO WE BRING TO THE EUCHARIST FOR NEEDY PEOPLE AROUND US  THAT JESUS WILL USE SO THAT HE CAN    TAKE, BLESS, BREAK AND GIVE IT               TO MEET THE NEEDS OF “THE CROWD”?</vt:lpstr>
      <vt:lpstr>PowerPoint Presentation</vt:lpstr>
      <vt:lpstr>AND SHARE WHAT WE HAVE WITH THE CROWD WE WILL NOT BE OFFERING THE BREAD OF OUR PRIESTLY LIVES IN THE MODEL OF JESUS</vt:lpstr>
      <vt:lpstr>FOUR FORMS OF THE  REAL PRESENCE OF JESUS CHRIST                        IN THE EUCHARIST</vt:lpstr>
      <vt:lpstr>PowerPoint Presentation</vt:lpstr>
      <vt:lpstr>WOMEN’S SCRIPTURE REFLECTION         GROUP 08.07.12</vt:lpstr>
      <vt:lpstr>NEW MENTALITY NEEDED FOR ALL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PRIESTHOOD OF FAITHFUL</dc:title>
  <dc:creator>Mike</dc:creator>
  <cp:lastModifiedBy>Phillip Gardner</cp:lastModifiedBy>
  <cp:revision>82</cp:revision>
  <cp:lastPrinted>2012-09-06T17:54:41Z</cp:lastPrinted>
  <dcterms:created xsi:type="dcterms:W3CDTF">2012-07-22T08:08:34Z</dcterms:created>
  <dcterms:modified xsi:type="dcterms:W3CDTF">2012-10-12T13:12:40Z</dcterms:modified>
</cp:coreProperties>
</file>