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58" r:id="rId4"/>
    <p:sldId id="259" r:id="rId5"/>
    <p:sldId id="257" r:id="rId6"/>
    <p:sldId id="268" r:id="rId7"/>
    <p:sldId id="263" r:id="rId8"/>
    <p:sldId id="274" r:id="rId9"/>
    <p:sldId id="262" r:id="rId10"/>
    <p:sldId id="265" r:id="rId11"/>
    <p:sldId id="266" r:id="rId12"/>
    <p:sldId id="270" r:id="rId13"/>
    <p:sldId id="267" r:id="rId14"/>
    <p:sldId id="271" r:id="rId15"/>
    <p:sldId id="276" r:id="rId16"/>
    <p:sldId id="275" r:id="rId17"/>
    <p:sldId id="269" r:id="rId18"/>
    <p:sldId id="272" r:id="rId19"/>
    <p:sldId id="260" r:id="rId20"/>
    <p:sldId id="264" r:id="rId21"/>
  </p:sldIdLst>
  <p:sldSz cx="9144000" cy="6858000" type="screen4x3"/>
  <p:notesSz cx="6858000" cy="9144000"/>
  <p:defaultTextStyle>
    <a:defPPr>
      <a:defRPr lang="he-IL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83398" autoAdjust="0"/>
  </p:normalViewPr>
  <p:slideViewPr>
    <p:cSldViewPr>
      <p:cViewPr varScale="1">
        <p:scale>
          <a:sx n="114" d="100"/>
          <a:sy n="114" d="100"/>
        </p:scale>
        <p:origin x="-156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rtl="1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B5DBC3E-15B9-4542-8AC0-F355D9689E51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rtl="1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38822147-0752-483B-B804-7D6A0C5826F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Moreover, method calls are statically bound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during construction, which may result in an exception at runtime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if one tries to invoke a virtual method of an abstract class (see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Fig. 4 below). (Determining whether this happens is an intractable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problem [4].)</a:t>
            </a:r>
            <a:endParaRPr lang="he-IL" smtClean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95CF51-8A33-4934-AB68-CCC9B517B5BE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he-I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Another source of subtle bugs is due to the synchronization barrier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at the end of a constructor [8] after which all assignments to final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fields are guaranteed to be written. The programmer is warned (in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the documentation only!) that immutable objects (using final fields)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are thread-safe only if this does not escape its constructor. Finally,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if the type-system is augmented, for example, with non-null types,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then a default value no longer exists, which leads to complicated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type-systems for initialization [3, 9].</a:t>
            </a:r>
          </a:p>
          <a:p>
            <a:pPr algn="l" rtl="0" eaLnBrk="1" hangingPunct="1">
              <a:spcBef>
                <a:spcPct val="0"/>
              </a:spcBef>
            </a:pPr>
            <a:endParaRPr lang="en-US" smtClean="0">
              <a:cs typeface="Arial" charset="0"/>
            </a:endParaRP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final fields in Java enable thread-safe immutable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objects, but the user must be careful from the pitfall of leaking this.</a:t>
            </a:r>
          </a:p>
          <a:p>
            <a:pPr algn="l" rtl="0" eaLnBrk="1" hangingPunct="1">
              <a:spcBef>
                <a:spcPct val="0"/>
              </a:spcBef>
            </a:pPr>
            <a:endParaRPr lang="en-US" smtClean="0">
              <a:cs typeface="Arial" charset="0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38893E-6EF6-46E9-A0FB-AB7DACA84153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he-I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Cannot read uninitialized fields 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One should not be able to read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uninitialized fields. In C++ it is possible to read uninitialized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fields, returning an unspecified value which can lead to unpredictable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behavior. In Java, fields are zero initialized before the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constructor begins to execute, so it is possible to read the default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or zero value, but never an unspecified value.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Single value for final fields 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Final fields can be assigned exactly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once, and should be read only after assigned. In Java it is possible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to read a final field before it was assigned, therefore returning its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default value.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Immutable objects are thread-safe </a:t>
            </a:r>
            <a:br>
              <a:rPr lang="en-US" b="1" dirty="0" smtClean="0"/>
            </a:br>
            <a:r>
              <a:rPr lang="en-US" b="1" dirty="0" smtClean="0"/>
              <a:t>Immutable classes are a common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pattern where fields are final/const and instances have no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mutable state, e.g., String in Java. Immutable objects are often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shared between threads without any explicit synchronization, because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programmers assume that if another thread gets a handle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to an object that that thread should see all assignments done during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initialization. However, weak memory models today do not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necessarily have this guarantee and immutable objects could be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thread-</a:t>
            </a:r>
            <a:r>
              <a:rPr lang="en-US" i="1" dirty="0" smtClean="0"/>
              <a:t>unsafe! Fig. 1 below will show that this can happen in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Java if this escapes from the constructor [8].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Simple 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The order of initialization should be clear from the syntax,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and should not surprise the user. Dynamic dispatching during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construction disrupts the order of initialization by executing a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subclass’s method before the </a:t>
            </a:r>
            <a:r>
              <a:rPr lang="en-US" dirty="0" err="1" smtClean="0"/>
              <a:t>superclass</a:t>
            </a:r>
            <a:r>
              <a:rPr lang="en-US" dirty="0" smtClean="0"/>
              <a:t> finished its initialization.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is error-prone and often surprises the user.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Flexible 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The user should be able to express the common idioms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found in other languages with minor variations.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Type safe 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/>
              <a:t>The language should continue to be statically type-safe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even if it has rich types that do not have a default or zero value,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such as non-null types (T{self!=null} in X10’s syntax). </a:t>
            </a:r>
            <a:r>
              <a:rPr lang="en-US" dirty="0" err="1" smtClean="0"/>
              <a:t>Typesafety</a:t>
            </a: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implies that reading from a non-null type should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return null. Adding non-null types to Java [2, 3, 9] has been a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challenge precisely due to Java’s relaxed initialization rules.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believe the hardhat design in X10 has these desirable properties,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however they come at a cost of limiting flexibility: it is not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possible to express cyclic immutable structures in X10 version 2.1.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Alternative designs for initialization are described in Sec. 3, such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as the proto design (that was part of X10 version 2.0) that allows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cyclic immutable structures at the cost of a more complicated design.</a:t>
            </a:r>
            <a:endParaRPr lang="he-IL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70E1BDD-6579-42AF-B435-F6B44131C738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he-I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60D69DD-10E0-4751-AA8B-482BAFF594DF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he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and super are </a:t>
            </a:r>
            <a:r>
              <a:rPr lang="en-US" i="1" dirty="0" smtClean="0"/>
              <a:t>raw in non-escaping methods and in field </a:t>
            </a:r>
            <a:r>
              <a:rPr lang="en-US" i="1" dirty="0" err="1" smtClean="0"/>
              <a:t>initializers</a:t>
            </a:r>
            <a:r>
              <a:rPr lang="en-US" i="1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 method is non-escaping if it is a constructor, or annotated with @</a:t>
            </a:r>
            <a:r>
              <a:rPr lang="en-US" dirty="0" err="1" smtClean="0"/>
              <a:t>NonEscaping</a:t>
            </a:r>
            <a:r>
              <a:rPr lang="en-US" dirty="0" smtClean="0"/>
              <a:t> or @</a:t>
            </a:r>
            <a:r>
              <a:rPr lang="en-US" dirty="0" err="1" smtClean="0"/>
              <a:t>NoThisAccess</a:t>
            </a:r>
            <a:r>
              <a:rPr lang="en-US" dirty="0" smtClean="0"/>
              <a:t>, or a method that is called on a raw this receiver.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marL="0" lvl="1"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An object is </a:t>
            </a:r>
            <a:r>
              <a:rPr lang="en-US" b="1" i="1" dirty="0" smtClean="0"/>
              <a:t>raw</a:t>
            </a:r>
            <a:r>
              <a:rPr lang="en-US" dirty="0" smtClean="0"/>
              <a:t> until its constructor finishes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2: A non-escaping method must be private or final, unless it has @</a:t>
            </a:r>
            <a:r>
              <a:rPr lang="en-US" dirty="0" err="1" smtClean="0"/>
              <a:t>NoThisAccess</a:t>
            </a:r>
            <a:r>
              <a:rPr lang="en-US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3: A method with @</a:t>
            </a:r>
            <a:r>
              <a:rPr lang="en-US" dirty="0" err="1" smtClean="0"/>
              <a:t>NoThisAccess</a:t>
            </a:r>
            <a:r>
              <a:rPr lang="en-US" dirty="0" smtClean="0"/>
              <a:t> cannot access 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this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47E1E4-AAD2-4FC2-AA2F-3CC24CE8A9BE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he-I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and super are </a:t>
            </a:r>
            <a:r>
              <a:rPr lang="en-US" i="1" dirty="0" smtClean="0"/>
              <a:t>raw in non-escaping methods and in field </a:t>
            </a:r>
            <a:r>
              <a:rPr lang="en-US" i="1" dirty="0" err="1" smtClean="0"/>
              <a:t>initializers</a:t>
            </a:r>
            <a:r>
              <a:rPr lang="en-US" i="1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 method is non-escaping if it is a constructor, or annotated with @</a:t>
            </a:r>
            <a:r>
              <a:rPr lang="en-US" dirty="0" err="1" smtClean="0"/>
              <a:t>NonEscaping</a:t>
            </a:r>
            <a:r>
              <a:rPr lang="en-US" dirty="0" smtClean="0"/>
              <a:t> or @</a:t>
            </a:r>
            <a:r>
              <a:rPr lang="en-US" dirty="0" err="1" smtClean="0"/>
              <a:t>NoThisAccess</a:t>
            </a:r>
            <a:r>
              <a:rPr lang="en-US" dirty="0" smtClean="0"/>
              <a:t>, or a method that is called on a raw this receiver.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marL="0" lvl="1"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An object is </a:t>
            </a:r>
            <a:r>
              <a:rPr lang="en-US" b="1" i="1" dirty="0" smtClean="0"/>
              <a:t>raw</a:t>
            </a:r>
            <a:r>
              <a:rPr lang="en-US" dirty="0" smtClean="0"/>
              <a:t> until its constructor finishes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2: A non-escaping method must be private or final, unless it has @</a:t>
            </a:r>
            <a:r>
              <a:rPr lang="en-US" dirty="0" err="1" smtClean="0"/>
              <a:t>NoThisAccess</a:t>
            </a:r>
            <a:r>
              <a:rPr lang="en-US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3: A method with @</a:t>
            </a:r>
            <a:r>
              <a:rPr lang="en-US" dirty="0" err="1" smtClean="0"/>
              <a:t>NoThisAccess</a:t>
            </a:r>
            <a:r>
              <a:rPr lang="en-US" dirty="0" smtClean="0"/>
              <a:t> cannot access 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this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27651" name="Slide Number Placeholder 3"/>
          <p:cNvSpPr txBox="1">
            <a:spLocks noGrp="1"/>
          </p:cNvSpPr>
          <p:nvPr/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rtl="1"/>
            <a:fld id="{3DFC9634-004A-4FD9-BF97-176819FBB102}" type="slidenum">
              <a:rPr lang="ar-SA" sz="1200" b="0"/>
              <a:pPr rtl="1"/>
              <a:t>8</a:t>
            </a:fld>
            <a:endParaRPr lang="he-IL" sz="1200" b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and super are </a:t>
            </a:r>
            <a:r>
              <a:rPr lang="en-US" i="1" dirty="0" smtClean="0"/>
              <a:t>raw in non-escaping methods and in field </a:t>
            </a:r>
            <a:r>
              <a:rPr lang="en-US" i="1" dirty="0" err="1" smtClean="0"/>
              <a:t>initializers</a:t>
            </a:r>
            <a:r>
              <a:rPr lang="en-US" i="1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 method is non-escaping if it is a constructor, or annotated with @</a:t>
            </a:r>
            <a:r>
              <a:rPr lang="en-US" dirty="0" err="1" smtClean="0"/>
              <a:t>NonEscaping</a:t>
            </a:r>
            <a:r>
              <a:rPr lang="en-US" dirty="0" smtClean="0"/>
              <a:t> or @</a:t>
            </a:r>
            <a:r>
              <a:rPr lang="en-US" dirty="0" err="1" smtClean="0"/>
              <a:t>NoThisAccess</a:t>
            </a:r>
            <a:r>
              <a:rPr lang="en-US" dirty="0" smtClean="0"/>
              <a:t>, or a method that is called on a raw this receiver.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BF6C07-48B9-4E2B-A0A7-5F8A5237013B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he-I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and super are </a:t>
            </a:r>
            <a:r>
              <a:rPr lang="en-US" i="1" dirty="0" smtClean="0"/>
              <a:t>raw in non-escaping methods and in field </a:t>
            </a:r>
            <a:r>
              <a:rPr lang="en-US" i="1" dirty="0" err="1" smtClean="0"/>
              <a:t>initializers</a:t>
            </a:r>
            <a:r>
              <a:rPr lang="en-US" i="1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 method is non-escaping if it is a constructor, or annotated with @</a:t>
            </a:r>
            <a:r>
              <a:rPr lang="en-US" dirty="0" err="1" smtClean="0"/>
              <a:t>NonEscaping</a:t>
            </a:r>
            <a:r>
              <a:rPr lang="en-US" dirty="0" smtClean="0"/>
              <a:t> or @</a:t>
            </a:r>
            <a:r>
              <a:rPr lang="en-US" dirty="0" err="1" smtClean="0"/>
              <a:t>NoThisAccess</a:t>
            </a:r>
            <a:r>
              <a:rPr lang="en-US" dirty="0" smtClean="0"/>
              <a:t>, or a method that is called on a raw this receiver.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marL="0" lvl="1"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An object is </a:t>
            </a:r>
            <a:r>
              <a:rPr lang="en-US" b="1" i="1" dirty="0" smtClean="0"/>
              <a:t>raw</a:t>
            </a:r>
            <a:r>
              <a:rPr lang="en-US" dirty="0" smtClean="0"/>
              <a:t> until its constructor finishes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2: A non-escaping method must be private or final, unless it has @</a:t>
            </a:r>
            <a:r>
              <a:rPr lang="en-US" dirty="0" err="1" smtClean="0"/>
              <a:t>NoThisAccess</a:t>
            </a:r>
            <a:r>
              <a:rPr lang="en-US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3: A method with @</a:t>
            </a:r>
            <a:r>
              <a:rPr lang="en-US" dirty="0" err="1" smtClean="0"/>
              <a:t>NoThisAccess</a:t>
            </a:r>
            <a:r>
              <a:rPr lang="en-US" dirty="0" smtClean="0"/>
              <a:t> cannot access 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this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3CB23A-A62A-4277-B960-C72DDAD46B7F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he-I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and super are </a:t>
            </a:r>
            <a:r>
              <a:rPr lang="en-US" i="1" dirty="0" smtClean="0"/>
              <a:t>raw in non-escaping methods and in field </a:t>
            </a:r>
            <a:r>
              <a:rPr lang="en-US" i="1" dirty="0" err="1" smtClean="0"/>
              <a:t>initializers</a:t>
            </a:r>
            <a:r>
              <a:rPr lang="en-US" i="1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 method is non-escaping if it is a constructor, or annotated with @</a:t>
            </a:r>
            <a:r>
              <a:rPr lang="en-US" dirty="0" err="1" smtClean="0"/>
              <a:t>NonEscaping</a:t>
            </a:r>
            <a:r>
              <a:rPr lang="en-US" dirty="0" smtClean="0"/>
              <a:t> or @</a:t>
            </a:r>
            <a:r>
              <a:rPr lang="en-US" dirty="0" err="1" smtClean="0"/>
              <a:t>NoThisAccess</a:t>
            </a:r>
            <a:r>
              <a:rPr lang="en-US" dirty="0" smtClean="0"/>
              <a:t>, or a method that is called on a raw this receiver.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marL="0" lvl="1"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An object is </a:t>
            </a:r>
            <a:r>
              <a:rPr lang="en-US" b="1" i="1" dirty="0" smtClean="0"/>
              <a:t>raw</a:t>
            </a:r>
            <a:r>
              <a:rPr lang="en-US" dirty="0" smtClean="0"/>
              <a:t> until its constructor finishes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2: A non-escaping method must be private or final, unless it has @</a:t>
            </a:r>
            <a:r>
              <a:rPr lang="en-US" dirty="0" err="1" smtClean="0"/>
              <a:t>NoThisAccess</a:t>
            </a:r>
            <a:r>
              <a:rPr lang="en-US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3: A method with @</a:t>
            </a:r>
            <a:r>
              <a:rPr lang="en-US" dirty="0" err="1" smtClean="0"/>
              <a:t>NoThisAccess</a:t>
            </a:r>
            <a:r>
              <a:rPr lang="en-US" dirty="0" smtClean="0"/>
              <a:t> cannot access 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this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87C9C13-5263-4728-92F4-C862EE54C963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he-I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70A260-34B5-46EB-9557-8513C9671CD5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he-I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and super are </a:t>
            </a:r>
            <a:r>
              <a:rPr lang="en-US" i="1" dirty="0" smtClean="0"/>
              <a:t>raw in non-escaping methods and in field </a:t>
            </a:r>
            <a:r>
              <a:rPr lang="en-US" i="1" dirty="0" err="1" smtClean="0"/>
              <a:t>initializers</a:t>
            </a:r>
            <a:r>
              <a:rPr lang="en-US" i="1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 method is non-escaping if it is a constructor, or annotated with @</a:t>
            </a:r>
            <a:r>
              <a:rPr lang="en-US" dirty="0" err="1" smtClean="0"/>
              <a:t>NonEscaping</a:t>
            </a:r>
            <a:r>
              <a:rPr lang="en-US" dirty="0" smtClean="0"/>
              <a:t> or @</a:t>
            </a:r>
            <a:r>
              <a:rPr lang="en-US" dirty="0" err="1" smtClean="0"/>
              <a:t>NoThisAccess</a:t>
            </a:r>
            <a:r>
              <a:rPr lang="en-US" dirty="0" smtClean="0"/>
              <a:t>, or a method that is called on a raw this receiver.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marL="0" lvl="1"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An object is </a:t>
            </a:r>
            <a:r>
              <a:rPr lang="en-US" b="1" i="1" dirty="0" smtClean="0"/>
              <a:t>raw</a:t>
            </a:r>
            <a:r>
              <a:rPr lang="en-US" dirty="0" smtClean="0"/>
              <a:t> until its constructor finishes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2: A non-escaping method must be private or final, unless it has @</a:t>
            </a:r>
            <a:r>
              <a:rPr lang="en-US" dirty="0" err="1" smtClean="0"/>
              <a:t>NoThisAccess</a:t>
            </a:r>
            <a:r>
              <a:rPr lang="en-US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3: A method with @</a:t>
            </a:r>
            <a:r>
              <a:rPr lang="en-US" dirty="0" err="1" smtClean="0"/>
              <a:t>NoThisAccess</a:t>
            </a:r>
            <a:r>
              <a:rPr lang="en-US" dirty="0" smtClean="0"/>
              <a:t> cannot access 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this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9D50FE-E8A4-4628-8DF1-AEC8C7803B1C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he-I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FF4ACC-255D-4912-AA99-0F4E7EFA67CB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he-I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45059" name="Slide Number Placeholder 3"/>
          <p:cNvSpPr txBox="1">
            <a:spLocks noGrp="1"/>
          </p:cNvSpPr>
          <p:nvPr/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rtlCol="1" anchor="b"/>
          <a:lstStyle/>
          <a:p>
            <a:pPr rtl="1">
              <a:defRPr/>
            </a:pPr>
            <a:fld id="{6F573463-3AC8-48E9-A500-A9D26DE97AC6}" type="slidenum">
              <a:rPr lang="ar-SA" sz="1200" b="0">
                <a:latin typeface="+mn-lt"/>
                <a:cs typeface="+mn-cs"/>
              </a:rPr>
              <a:pPr rtl="1">
                <a:defRPr/>
              </a:pPr>
              <a:t>15</a:t>
            </a:fld>
            <a:endParaRPr lang="he-IL" sz="1200" b="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45059" name="Slide Number Placeholder 3"/>
          <p:cNvSpPr txBox="1">
            <a:spLocks noGrp="1"/>
          </p:cNvSpPr>
          <p:nvPr/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rtlCol="1" anchor="b"/>
          <a:lstStyle/>
          <a:p>
            <a:pPr rtl="1">
              <a:defRPr/>
            </a:pPr>
            <a:fld id="{CF96CDB0-0521-4EA9-9D73-E074F7201A22}" type="slidenum">
              <a:rPr lang="ar-SA" sz="1200" b="0">
                <a:latin typeface="+mn-lt"/>
                <a:cs typeface="+mn-cs"/>
              </a:rPr>
              <a:pPr rtl="1">
                <a:defRPr/>
              </a:pPr>
              <a:t>16</a:t>
            </a:fld>
            <a:endParaRPr lang="he-IL" sz="1200" b="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and super are </a:t>
            </a:r>
            <a:r>
              <a:rPr lang="en-US" i="1" dirty="0" smtClean="0"/>
              <a:t>raw in non-escaping methods and in field </a:t>
            </a:r>
            <a:r>
              <a:rPr lang="en-US" i="1" dirty="0" err="1" smtClean="0"/>
              <a:t>initializers</a:t>
            </a:r>
            <a:r>
              <a:rPr lang="en-US" i="1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 method is non-escaping if it is a constructor, or annotated with @</a:t>
            </a:r>
            <a:r>
              <a:rPr lang="en-US" dirty="0" err="1" smtClean="0"/>
              <a:t>NonEscaping</a:t>
            </a:r>
            <a:r>
              <a:rPr lang="en-US" dirty="0" smtClean="0"/>
              <a:t> or @</a:t>
            </a:r>
            <a:r>
              <a:rPr lang="en-US" dirty="0" err="1" smtClean="0"/>
              <a:t>NoThisAccess</a:t>
            </a:r>
            <a:r>
              <a:rPr lang="en-US" dirty="0" smtClean="0"/>
              <a:t>, or a method that is called on a raw this receiver.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AD8B2C-E0C4-4A6B-A7F5-188A23D54C1C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he-I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D23557-7C59-4759-A438-54CF66D1F64D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he-I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Concurrent and distributed fibonacci example. Concurrent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code is expressed using async and finish: async starts an asynchronous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activity, and finish waits for all spawned activities to finish.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Distributed code uses at to shift between </a:t>
            </a:r>
            <a:r>
              <a:rPr lang="en-US" i="1" smtClean="0">
                <a:cs typeface="Arial" charset="0"/>
              </a:rPr>
              <a:t>places; here denotes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the current place. at(p) E evaluates expression E in place p, and finally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copies the result back; any final variables captured in E from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the outer environment (e.g., n) are first copied to place p. Possible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initialization pitfall: </a:t>
            </a:r>
            <a:r>
              <a:rPr lang="en-US" b="1" u="sng" smtClean="0">
                <a:cs typeface="Arial" charset="0"/>
              </a:rPr>
              <a:t>(i) forget to use finish, and read from fib2 before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b="1" u="sng" smtClean="0">
                <a:cs typeface="Arial" charset="0"/>
              </a:rPr>
              <a:t>its write finished, (ii) write to field fib2 in another place, i.e.,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b="1" u="sng" smtClean="0">
                <a:cs typeface="Arial" charset="0"/>
              </a:rPr>
              <a:t>at(p) this.fib2=..., </a:t>
            </a:r>
            <a:r>
              <a:rPr lang="en-US" smtClean="0">
                <a:cs typeface="Arial" charset="0"/>
              </a:rPr>
              <a:t>which causes this to be copied to p so one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mtClean="0">
                <a:cs typeface="Arial" charset="0"/>
              </a:rPr>
              <a:t>writes to a copy of this.</a:t>
            </a: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643C44B-901B-47AF-A8BA-69EE89005849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he-I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>
            <a:normAutofit fontScale="85000" lnSpcReduction="20000"/>
          </a:bodyPr>
          <a:lstStyle/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this and super are </a:t>
            </a:r>
            <a:r>
              <a:rPr lang="en-US" i="1" dirty="0" smtClean="0"/>
              <a:t>raw in non-escaping methods and in field </a:t>
            </a:r>
            <a:r>
              <a:rPr lang="en-US" i="1" dirty="0" err="1" smtClean="0"/>
              <a:t>initializers</a:t>
            </a:r>
            <a:r>
              <a:rPr lang="en-US" i="1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 method is non-escaping if it is a constructor, or annotated with @</a:t>
            </a:r>
            <a:r>
              <a:rPr lang="en-US" dirty="0" err="1" smtClean="0"/>
              <a:t>NonEscaping</a:t>
            </a:r>
            <a:r>
              <a:rPr lang="en-US" dirty="0" smtClean="0"/>
              <a:t> or @</a:t>
            </a:r>
            <a:r>
              <a:rPr lang="en-US" dirty="0" err="1" smtClean="0"/>
              <a:t>NoThisAccess</a:t>
            </a:r>
            <a:r>
              <a:rPr lang="en-US" dirty="0" smtClean="0"/>
              <a:t>, or a method that is called on a raw this receiver.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marL="0" lvl="1"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An object is </a:t>
            </a:r>
            <a:r>
              <a:rPr lang="en-US" b="1" i="1" dirty="0" smtClean="0"/>
              <a:t>raw</a:t>
            </a:r>
            <a:r>
              <a:rPr lang="en-US" dirty="0" smtClean="0"/>
              <a:t> until its constructor finishes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2: A non-escaping method must be private or final, unless it has @</a:t>
            </a:r>
            <a:r>
              <a:rPr lang="en-US" dirty="0" err="1" smtClean="0"/>
              <a:t>NoThisAccess</a:t>
            </a:r>
            <a:r>
              <a:rPr lang="en-US" dirty="0" smtClean="0"/>
              <a:t>.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Rule 3: A method with @</a:t>
            </a:r>
            <a:r>
              <a:rPr lang="en-US" dirty="0" err="1" smtClean="0"/>
              <a:t>NoThisAccess</a:t>
            </a:r>
            <a:r>
              <a:rPr lang="en-US" dirty="0" smtClean="0"/>
              <a:t> cannot access 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this</a:t>
            </a:r>
          </a:p>
          <a:p>
            <a:pPr algn="l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35C265-483F-49BF-BEA5-EDE252232871}" type="slidenum">
              <a:rPr lang="ar-SA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he-I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019BB-18C4-4A89-B114-093395556C66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D06F2-4CFA-4E11-8C9B-9E0F8D89116A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F75AE-9F66-4ED5-97FC-72E19CF19CCD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5517C-E3D4-47A8-B4AF-FA874DE29A24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718A45-FBCB-4CA9-A78A-E45288E4BC70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3B6090-1E61-464B-8D05-EA8353CCF304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F6ACF-EEF8-42A7-BC92-AB5CAFC086D2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DFA62-C865-4165-9376-1C542E1425D4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A0F81-431C-45C2-9E17-A5973117DE6C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7332C-9E3B-4290-A216-EC002F8DF4E2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DA71CD-3EE0-4DD5-9CDF-F026F355BA84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DC32F-C0A5-4A40-AD83-9BCB8B2F4C41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12889-6E35-4BB6-87A2-12A938AA7336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05819-9F1C-4B11-9B97-E0371FB3A9D1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B6E76-93B1-434E-9CDC-9E7C6B068084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44DCE-4BDC-415C-A570-7F1A0FC710D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040CD-6CA9-4EFB-9F0D-3A4A33A93143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F2AF5-2D1E-4490-ADB7-956830096C32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C650B-4AAA-4143-8DD7-A7AC28ADA35A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3AE0D-9E22-468F-982A-B66C205355AC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3C270-6C86-4223-AD4E-748C232E6320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C89BF-9419-46A9-983F-925AEF27F643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C28B687-AF25-4AEC-A193-9E7917CC48DB}" type="datetimeFigureOut">
              <a:rPr lang="he-IL"/>
              <a:pPr>
                <a:defRPr/>
              </a:pPr>
              <a:t>כ"ד/סיון/תשע"ב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 rtl="1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rtl="1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41B19F-434B-4A49-8039-7E26D8FEB373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684213" y="476250"/>
            <a:ext cx="7772400" cy="1470025"/>
          </a:xfrm>
        </p:spPr>
        <p:txBody>
          <a:bodyPr/>
          <a:lstStyle/>
          <a:p>
            <a:pPr eaLnBrk="1" hangingPunct="1"/>
            <a:r>
              <a:rPr lang="en-US" b="1" smtClean="0">
                <a:cs typeface="Times New Roman" pitchFamily="18" charset="0"/>
              </a:rPr>
              <a:t>Object Initialization in X10</a:t>
            </a:r>
            <a:endParaRPr lang="he-IL" smtClean="0"/>
          </a:p>
        </p:txBody>
      </p:sp>
      <p:sp>
        <p:nvSpPr>
          <p:cNvPr id="14338" name="Subtitle 2"/>
          <p:cNvSpPr>
            <a:spLocks noGrp="1"/>
          </p:cNvSpPr>
          <p:nvPr>
            <p:ph type="subTitle" idx="1"/>
          </p:nvPr>
        </p:nvSpPr>
        <p:spPr>
          <a:xfrm>
            <a:off x="539750" y="1844675"/>
            <a:ext cx="8135938" cy="4752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chemeClr val="tx1"/>
                </a:solidFill>
                <a:cs typeface="Arial" charset="0"/>
              </a:rPr>
              <a:t>Yoav Zibin (**)</a:t>
            </a:r>
            <a:br>
              <a:rPr lang="en-US" smtClean="0">
                <a:solidFill>
                  <a:schemeClr val="tx1"/>
                </a:solidFill>
                <a:cs typeface="Arial" charset="0"/>
              </a:rPr>
            </a:br>
            <a:r>
              <a:rPr lang="en-US" smtClean="0">
                <a:solidFill>
                  <a:schemeClr val="tx1"/>
                </a:solidFill>
                <a:cs typeface="Arial" charset="0"/>
              </a:rPr>
              <a:t>David Cunningham (*) </a:t>
            </a:r>
            <a:br>
              <a:rPr lang="en-US" smtClean="0">
                <a:solidFill>
                  <a:schemeClr val="tx1"/>
                </a:solidFill>
                <a:cs typeface="Arial" charset="0"/>
              </a:rPr>
            </a:br>
            <a:r>
              <a:rPr lang="en-US" smtClean="0">
                <a:solidFill>
                  <a:schemeClr val="tx1"/>
                </a:solidFill>
                <a:cs typeface="Arial" charset="0"/>
              </a:rPr>
              <a:t>Igor Peshansky (**)</a:t>
            </a:r>
            <a:br>
              <a:rPr lang="en-US" smtClean="0">
                <a:solidFill>
                  <a:schemeClr val="tx1"/>
                </a:solidFill>
                <a:cs typeface="Arial" charset="0"/>
              </a:rPr>
            </a:br>
            <a:r>
              <a:rPr lang="en-US" smtClean="0">
                <a:solidFill>
                  <a:schemeClr val="tx1"/>
                </a:solidFill>
                <a:cs typeface="Arial" charset="0"/>
              </a:rPr>
              <a:t>Vijay Saraswat (*)</a:t>
            </a:r>
            <a:br>
              <a:rPr lang="en-US" smtClean="0">
                <a:solidFill>
                  <a:schemeClr val="tx1"/>
                </a:solidFill>
                <a:cs typeface="Arial" charset="0"/>
              </a:rPr>
            </a:br>
            <a:endParaRPr lang="en-US" smtClean="0">
              <a:solidFill>
                <a:schemeClr val="tx1"/>
              </a:solidFill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chemeClr val="tx1"/>
                </a:solidFill>
                <a:cs typeface="Arial" charset="0"/>
              </a:rPr>
              <a:t>(*) IBM TJ Watson Research Center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chemeClr val="tx1"/>
                </a:solidFill>
                <a:cs typeface="Arial" charset="0"/>
              </a:rPr>
              <a:t>(**) Google Labs (ex IBMers)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solidFill>
                <a:schemeClr val="tx1"/>
              </a:solidFill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chemeClr val="tx1"/>
                </a:solidFill>
                <a:cs typeface="Arial" charset="0"/>
              </a:rPr>
              <a:t>ECOOP2012</a:t>
            </a:r>
            <a:endParaRPr lang="he-IL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cs typeface="Times New Roman" pitchFamily="18" charset="0"/>
              </a:rPr>
              <a:t>Avoid access to uninitialized fields</a:t>
            </a:r>
          </a:p>
        </p:txBody>
      </p:sp>
      <p:sp>
        <p:nvSpPr>
          <p:cNvPr id="15362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marL="660400" indent="-660400" algn="l" rtl="0" eaLnBrk="1" hangingPunct="1">
              <a:buFont typeface="Arial" charset="0"/>
              <a:buNone/>
            </a:pPr>
            <a:r>
              <a:rPr lang="en-US" smtClean="0">
                <a:cs typeface="Arial" charset="0"/>
              </a:rPr>
              <a:t>Well-studied problem in Java</a:t>
            </a:r>
          </a:p>
          <a:p>
            <a:pPr marL="660400" indent="-660400" algn="l" rtl="0" eaLnBrk="1" hangingPunct="1">
              <a:buFont typeface="Arial" charset="0"/>
              <a:buNone/>
            </a:pPr>
            <a:r>
              <a:rPr lang="en-US" smtClean="0">
                <a:cs typeface="Arial" charset="0"/>
              </a:rPr>
              <a:t>X10 is very like Java</a:t>
            </a:r>
          </a:p>
          <a:p>
            <a:pPr marL="660400" indent="-660400" algn="l" rtl="0" eaLnBrk="1" hangingPunct="1">
              <a:buFont typeface="Arial" charset="0"/>
              <a:buNone/>
            </a:pPr>
            <a:endParaRPr lang="en-US" smtClean="0">
              <a:cs typeface="Arial" charset="0"/>
            </a:endParaRPr>
          </a:p>
          <a:p>
            <a:pPr marL="660400" indent="-660400" algn="l" rtl="0" eaLnBrk="1" hangingPunct="1">
              <a:buFont typeface="Arial" charset="0"/>
              <a:buNone/>
            </a:pPr>
            <a:r>
              <a:rPr lang="en-US" b="1" smtClean="0">
                <a:cs typeface="Arial" charset="0"/>
              </a:rPr>
              <a:t>What is interesting about X10?</a:t>
            </a:r>
          </a:p>
          <a:p>
            <a:pPr marL="660400" indent="-660400" algn="l" rtl="0" eaLnBrk="1" hangingPunct="1"/>
            <a:r>
              <a:rPr lang="en-US" smtClean="0">
                <a:cs typeface="Arial" charset="0"/>
              </a:rPr>
              <a:t>Uninitialized fields more serious than Java</a:t>
            </a:r>
          </a:p>
          <a:p>
            <a:pPr marL="660400" indent="-660400" algn="l" rtl="0" eaLnBrk="1" hangingPunct="1"/>
            <a:r>
              <a:rPr lang="en-US" smtClean="0">
                <a:cs typeface="Arial" charset="0"/>
              </a:rPr>
              <a:t>Interactions with distribution/concurrency</a:t>
            </a:r>
          </a:p>
          <a:p>
            <a:pPr marL="660400" indent="-660400" algn="l" rtl="0" eaLnBrk="1" hangingPunct="1"/>
            <a:r>
              <a:rPr lang="en-US" smtClean="0">
                <a:cs typeface="Arial" charset="0"/>
              </a:rPr>
              <a:t>Pragmatic balance of power/bureaucracy/simplicity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Initialization Can be Tricky</a:t>
            </a:r>
            <a:endParaRPr lang="he-IL" smtClean="0"/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36638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Reason 1: dynamic dispatching</a:t>
            </a:r>
            <a:endParaRPr lang="he-IL" smtClean="0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50825" y="2852738"/>
            <a:ext cx="8101013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abstract class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A() {</a:t>
            </a:r>
            <a:br>
              <a:rPr lang="en-US" sz="2000">
                <a:latin typeface="Courier New" pitchFamily="49" charset="0"/>
                <a:cs typeface="Courier New" pitchFamily="49" charset="0"/>
              </a:rPr>
            </a:br>
            <a:r>
              <a:rPr lang="en-US" sz="2000">
                <a:latin typeface="Courier New" pitchFamily="49" charset="0"/>
                <a:cs typeface="Courier New" pitchFamily="49" charset="0"/>
              </a:rPr>
              <a:t>    System.out.println(“me=“+this.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description()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abstract String 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description()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B extends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int b = 2;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public String 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description()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 return “b=“+b;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388" name="Line 5"/>
          <p:cNvSpPr>
            <a:spLocks noChangeShapeType="1"/>
          </p:cNvSpPr>
          <p:nvPr/>
        </p:nvSpPr>
        <p:spPr bwMode="auto">
          <a:xfrm flipH="1">
            <a:off x="2339975" y="4508500"/>
            <a:ext cx="316865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5508625" y="4221163"/>
            <a:ext cx="35274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/>
              <a:t>In X10, one could write</a:t>
            </a:r>
          </a:p>
          <a:p>
            <a:r>
              <a:rPr lang="en-US" sz="2400">
                <a:latin typeface="Courier New" pitchFamily="49" charset="0"/>
                <a:cs typeface="Courier New" pitchFamily="49" charset="0"/>
              </a:rPr>
              <a:t>Int{self!=0}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Initialization Can be Tricky</a:t>
            </a:r>
            <a:endParaRPr lang="he-IL" smtClean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36638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Reason 2: leaking an uninitialized object</a:t>
            </a:r>
            <a:endParaRPr lang="he-IL" smtClean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042988" y="2636838"/>
            <a:ext cx="7489825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public static HashSet set = new HashSet();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A() {</a:t>
            </a:r>
            <a:br>
              <a:rPr lang="en-US" sz="2000">
                <a:latin typeface="Courier New" pitchFamily="49" charset="0"/>
                <a:cs typeface="Courier New" pitchFamily="49" charset="0"/>
              </a:rPr>
            </a:br>
            <a:r>
              <a:rPr lang="en-US" sz="2000">
                <a:latin typeface="Courier New" pitchFamily="49" charset="0"/>
                <a:cs typeface="Courier New" pitchFamily="49" charset="0"/>
              </a:rPr>
              <a:t>    set.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add(this)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B extends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final int b = 2;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Desired Initialization Properties</a:t>
            </a:r>
            <a:endParaRPr lang="he-IL" smtClean="0"/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8525"/>
          </a:xfrm>
        </p:spPr>
        <p:txBody>
          <a:bodyPr/>
          <a:lstStyle/>
          <a:p>
            <a:pPr algn="l" rtl="0" eaLnBrk="1" hangingPunct="1">
              <a:lnSpc>
                <a:spcPct val="80000"/>
              </a:lnSpc>
            </a:pPr>
            <a:r>
              <a:rPr lang="en-US" sz="3000" smtClean="0">
                <a:cs typeface="Arial" charset="0"/>
              </a:rPr>
              <a:t>Cannot read uninitialized fields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sz="2600" smtClean="0">
                <a:cs typeface="Arial" charset="0"/>
              </a:rPr>
              <a:t>C++: uninitialized fields have unspecified value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sz="2600" smtClean="0">
                <a:cs typeface="Arial" charset="0"/>
              </a:rPr>
              <a:t>Java: fields are zero initialized</a:t>
            </a:r>
          </a:p>
          <a:p>
            <a:pPr algn="l" rtl="0" eaLnBrk="1" hangingPunct="1">
              <a:lnSpc>
                <a:spcPct val="80000"/>
              </a:lnSpc>
            </a:pPr>
            <a:r>
              <a:rPr lang="en-US" sz="3000" smtClean="0">
                <a:cs typeface="Arial" charset="0"/>
              </a:rPr>
              <a:t>Final fields 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sz="2600" smtClean="0">
                <a:cs typeface="Arial" charset="0"/>
              </a:rPr>
              <a:t>Written exactly once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sz="2600" smtClean="0">
                <a:cs typeface="Arial" charset="0"/>
              </a:rPr>
              <a:t>Single value for final fields</a:t>
            </a:r>
          </a:p>
          <a:p>
            <a:pPr algn="l" rtl="0" eaLnBrk="1" hangingPunct="1">
              <a:lnSpc>
                <a:spcPct val="80000"/>
              </a:lnSpc>
            </a:pPr>
            <a:r>
              <a:rPr lang="en-US" sz="3000" smtClean="0">
                <a:cs typeface="Arial" charset="0"/>
              </a:rPr>
              <a:t>Immutable objects are thread-safe</a:t>
            </a:r>
          </a:p>
          <a:p>
            <a:pPr algn="l" rtl="0" eaLnBrk="1" hangingPunct="1">
              <a:lnSpc>
                <a:spcPct val="80000"/>
              </a:lnSpc>
            </a:pPr>
            <a:r>
              <a:rPr lang="en-US" sz="3000" smtClean="0">
                <a:cs typeface="Arial" charset="0"/>
              </a:rPr>
              <a:t>Type safety in X10’s type system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sz="2600" smtClean="0">
                <a:cs typeface="Arial" charset="0"/>
              </a:rPr>
              <a:t>i.e. for  Int{self!=0},   Object{self!=null},   etc</a:t>
            </a:r>
          </a:p>
          <a:p>
            <a:pPr algn="l" rtl="0" eaLnBrk="1" hangingPunct="1">
              <a:lnSpc>
                <a:spcPct val="80000"/>
              </a:lnSpc>
            </a:pPr>
            <a:r>
              <a:rPr lang="en-US" sz="3000" smtClean="0">
                <a:cs typeface="Arial" charset="0"/>
              </a:rPr>
              <a:t>Default initialize if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179388" y="53975"/>
            <a:ext cx="8785225" cy="1143000"/>
          </a:xfrm>
        </p:spPr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X10 Initialization: Hard hat design</a:t>
            </a:r>
            <a:endParaRPr lang="he-IL" smtClean="0"/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5327650"/>
          </a:xfrm>
        </p:spPr>
        <p:txBody>
          <a:bodyPr/>
          <a:lstStyle/>
          <a:p>
            <a:pPr algn="l" rtl="0" eaLnBrk="1" hangingPunct="1">
              <a:spcBef>
                <a:spcPct val="0"/>
              </a:spcBef>
              <a:buFont typeface="Arial" charset="0"/>
              <a:buNone/>
            </a:pPr>
            <a:r>
              <a:rPr lang="en-US" sz="2600" b="1" smtClean="0">
                <a:cs typeface="Arial" charset="0"/>
              </a:rPr>
              <a:t>Strict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z="2600" smtClean="0">
                <a:cs typeface="Arial" charset="0"/>
              </a:rPr>
              <a:t>limit dynamic dispatching on </a:t>
            </a:r>
            <a:r>
              <a:rPr lang="en-US" sz="2600" b="1" smtClean="0">
                <a:latin typeface="Courier New" pitchFamily="49" charset="0"/>
                <a:cs typeface="Courier New" pitchFamily="49" charset="0"/>
              </a:rPr>
              <a:t>this</a:t>
            </a:r>
            <a:endParaRPr lang="en-US" sz="2600" smtClean="0">
              <a:cs typeface="Arial" charset="0"/>
            </a:endParaRPr>
          </a:p>
          <a:p>
            <a:pPr algn="l" rtl="0" eaLnBrk="1" hangingPunct="1">
              <a:spcBef>
                <a:spcPct val="0"/>
              </a:spcBef>
            </a:pPr>
            <a:r>
              <a:rPr lang="en-US" sz="2600" smtClean="0">
                <a:cs typeface="Arial" charset="0"/>
              </a:rPr>
              <a:t>no leaking </a:t>
            </a:r>
            <a:r>
              <a:rPr lang="en-US" sz="2600" b="1" smtClean="0">
                <a:latin typeface="Courier New" pitchFamily="49" charset="0"/>
                <a:cs typeface="Courier New" pitchFamily="49" charset="0"/>
              </a:rPr>
              <a:t>this</a:t>
            </a:r>
          </a:p>
          <a:p>
            <a:pPr algn="l" rtl="0" eaLnBrk="1" hangingPunct="1">
              <a:spcBef>
                <a:spcPct val="0"/>
              </a:spcBef>
              <a:buFont typeface="Arial" charset="0"/>
              <a:buNone/>
            </a:pPr>
            <a:endParaRPr lang="en-US" sz="2600" smtClean="0">
              <a:cs typeface="Arial" charset="0"/>
            </a:endParaRPr>
          </a:p>
          <a:p>
            <a:pPr algn="l" rtl="0" eaLnBrk="1" hangingPunct="1">
              <a:spcBef>
                <a:spcPct val="0"/>
              </a:spcBef>
              <a:buFont typeface="Arial" charset="0"/>
              <a:buNone/>
            </a:pPr>
            <a:r>
              <a:rPr lang="en-US" sz="2600" b="1" smtClean="0">
                <a:cs typeface="Arial" charset="0"/>
              </a:rPr>
              <a:t>Pros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z="2600" smtClean="0">
                <a:cs typeface="Arial" charset="0"/>
              </a:rPr>
              <a:t>Has desired language properties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z="2600" smtClean="0">
                <a:cs typeface="Arial" charset="0"/>
              </a:rPr>
              <a:t>Annotation overhead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z="2600" smtClean="0">
                <a:cs typeface="Arial" charset="0"/>
              </a:rPr>
              <a:t>Compile speed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z="2600" smtClean="0">
                <a:cs typeface="Arial" charset="0"/>
              </a:rPr>
              <a:t>Simplicity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z="2600" smtClean="0">
                <a:cs typeface="Arial" charset="0"/>
              </a:rPr>
              <a:t>Expressive enough (for us)</a:t>
            </a:r>
          </a:p>
          <a:p>
            <a:pPr algn="l" rtl="0" eaLnBrk="1" hangingPunct="1">
              <a:spcBef>
                <a:spcPct val="0"/>
              </a:spcBef>
            </a:pPr>
            <a:endParaRPr lang="en-US" sz="2600" smtClean="0">
              <a:cs typeface="Arial" charset="0"/>
            </a:endParaRPr>
          </a:p>
          <a:p>
            <a:pPr algn="l" rtl="0" eaLnBrk="1" hangingPunct="1">
              <a:spcBef>
                <a:spcPct val="0"/>
              </a:spcBef>
              <a:buFont typeface="Arial" charset="0"/>
              <a:buNone/>
            </a:pPr>
            <a:r>
              <a:rPr lang="en-US" sz="2600" b="1" smtClean="0">
                <a:cs typeface="Arial" charset="0"/>
              </a:rPr>
              <a:t>Cons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z="2600" smtClean="0">
                <a:cs typeface="Arial" charset="0"/>
              </a:rPr>
              <a:t>Can’t express cyclic immutable object graphs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836613"/>
          </a:xfrm>
        </p:spPr>
        <p:txBody>
          <a:bodyPr/>
          <a:lstStyle/>
          <a:p>
            <a:pPr rtl="0" eaLnBrk="1" hangingPunct="1"/>
            <a:r>
              <a:rPr lang="en-US" sz="4000" smtClean="0">
                <a:cs typeface="Arial" charset="0"/>
              </a:rPr>
              <a:t>Constructor rules (</a:t>
            </a:r>
            <a:r>
              <a:rPr lang="en-US" sz="4000" smtClean="0">
                <a:latin typeface="Courier New" pitchFamily="49" charset="0"/>
                <a:cs typeface="Courier New" pitchFamily="49" charset="0"/>
              </a:rPr>
              <a:t>@NonEscaping</a:t>
            </a:r>
            <a:r>
              <a:rPr lang="en-US" sz="4000" smtClean="0">
                <a:cs typeface="Arial" charset="0"/>
              </a:rPr>
              <a:t>)</a:t>
            </a:r>
            <a:endParaRPr lang="he-IL" sz="4000" smtClean="0">
              <a:cs typeface="Arial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250825" y="765175"/>
            <a:ext cx="8642350" cy="2116138"/>
          </a:xfrm>
        </p:spPr>
        <p:txBody>
          <a:bodyPr/>
          <a:lstStyle/>
          <a:p>
            <a:pPr algn="l" rtl="0" eaLnBrk="1" hangingPunct="1"/>
            <a:r>
              <a:rPr lang="en-US" sz="2400" smtClean="0">
                <a:cs typeface="Arial" charset="0"/>
              </a:rPr>
              <a:t>Flow sensitive analysis:</a:t>
            </a:r>
          </a:p>
          <a:p>
            <a:pPr lvl="1" algn="l" rtl="0" eaLnBrk="1" hangingPunct="1"/>
            <a:r>
              <a:rPr lang="en-US" sz="2000" smtClean="0">
                <a:cs typeface="Arial" charset="0"/>
              </a:rPr>
              <a:t>Cannot read uninitialized fields</a:t>
            </a:r>
          </a:p>
          <a:p>
            <a:pPr lvl="1" algn="l" rtl="0" eaLnBrk="1" hangingPunct="1"/>
            <a:r>
              <a:rPr lang="en-US" sz="2000" smtClean="0">
                <a:cs typeface="Arial" charset="0"/>
              </a:rPr>
              <a:t>Can assign only once</a:t>
            </a:r>
          </a:p>
          <a:p>
            <a:pPr algn="l" rtl="0" eaLnBrk="1" hangingPunct="1"/>
            <a:r>
              <a:rPr lang="en-US" sz="2400" smtClean="0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sz="2400" smtClean="0">
                <a:cs typeface="Arial" charset="0"/>
              </a:rPr>
              <a:t> cannot escape (assign to var, field, param of method, etc)</a:t>
            </a:r>
          </a:p>
          <a:p>
            <a:pPr algn="l" rtl="0" eaLnBrk="1" hangingPunct="1"/>
            <a:r>
              <a:rPr lang="en-US" sz="2400" smtClean="0">
                <a:cs typeface="Arial" charset="0"/>
              </a:rPr>
              <a:t>this.m() must be final/static/private (with 1 exception…)</a:t>
            </a:r>
          </a:p>
          <a:p>
            <a:pPr algn="l" rtl="0" eaLnBrk="1" hangingPunct="1"/>
            <a:r>
              <a:rPr lang="en-US" sz="2400" smtClean="0">
                <a:cs typeface="Arial" charset="0"/>
              </a:rPr>
              <a:t>(Body of m() also subject to constructor rules)</a:t>
            </a:r>
          </a:p>
          <a:p>
            <a:pPr algn="l" rtl="0" eaLnBrk="1" hangingPunct="1"/>
            <a:r>
              <a:rPr lang="en-US" sz="2400" smtClean="0">
                <a:cs typeface="Arial" charset="0"/>
              </a:rPr>
              <a:t>If m() in a superclass, must be annotated (separate compilation)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4427538" y="3817938"/>
            <a:ext cx="4500562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B extends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val f:Int;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def this()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m1();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f = 42;</a:t>
            </a:r>
          </a:p>
          <a:p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LeakIt.leak(this); // ERR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def m1() { m2();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def m2() { m3();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179388" y="3789363"/>
            <a:ext cx="4500562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@NonEscaping</a:t>
            </a:r>
          </a:p>
          <a:p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final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def m3() {}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792162"/>
          </a:xfrm>
        </p:spPr>
        <p:txBody>
          <a:bodyPr/>
          <a:lstStyle/>
          <a:p>
            <a:pPr rtl="0" eaLnBrk="1" hangingPunct="1"/>
            <a:r>
              <a:rPr lang="en-US" sz="4000" smtClean="0">
                <a:cs typeface="Times New Roman" pitchFamily="18" charset="0"/>
              </a:rPr>
              <a:t>Constructor rules (</a:t>
            </a:r>
            <a:r>
              <a:rPr lang="en-US" sz="4000" smtClean="0">
                <a:latin typeface="Courier New" pitchFamily="49" charset="0"/>
                <a:cs typeface="Courier New" pitchFamily="49" charset="0"/>
              </a:rPr>
              <a:t>@NoThisAccess</a:t>
            </a:r>
            <a:r>
              <a:rPr lang="en-US" sz="4000" smtClean="0">
                <a:cs typeface="Times New Roman" pitchFamily="18" charset="0"/>
              </a:rPr>
              <a:t>)</a:t>
            </a:r>
            <a:endParaRPr lang="he-IL" sz="4000" smtClean="0"/>
          </a:p>
        </p:txBody>
      </p:sp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323850" y="1557338"/>
            <a:ext cx="52197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Tree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val root:Node;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def this()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 root = makeNode();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200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  @NoThisAccess</a:t>
            </a:r>
          </a:p>
          <a:p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def makeNode() = new Node();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2000">
              <a:latin typeface="Courier New" pitchFamily="49" charset="0"/>
              <a:cs typeface="Courier New" pitchFamily="49" charset="0"/>
            </a:endParaRPr>
          </a:p>
          <a:p>
            <a:endParaRPr lang="en-US" sz="2000">
              <a:latin typeface="Courier New" pitchFamily="49" charset="0"/>
              <a:cs typeface="Courier New" pitchFamily="49" charset="0"/>
            </a:endParaRP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MyNode extends Node { }</a:t>
            </a:r>
          </a:p>
          <a:p>
            <a:endParaRPr lang="en-US" sz="2000">
              <a:latin typeface="Courier New" pitchFamily="49" charset="0"/>
              <a:cs typeface="Courier New" pitchFamily="49" charset="0"/>
            </a:endParaRP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MyTree extends Tree {</a:t>
            </a:r>
          </a:p>
          <a:p>
            <a:r>
              <a:rPr lang="en-US" sz="200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  @NoThisAccess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def makeNode() = new MyNode();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6627" name="Content Placeholder 2"/>
          <p:cNvSpPr>
            <a:spLocks/>
          </p:cNvSpPr>
          <p:nvPr/>
        </p:nvSpPr>
        <p:spPr bwMode="auto">
          <a:xfrm>
            <a:off x="5148263" y="981075"/>
            <a:ext cx="3836987" cy="2116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None/>
            </a:pPr>
            <a:r>
              <a:rPr lang="en-US" b="0"/>
              <a:t>Real example:  Taken from Ogre3D, a free rendering engine</a:t>
            </a:r>
          </a:p>
        </p:txBody>
      </p:sp>
      <p:sp>
        <p:nvSpPr>
          <p:cNvPr id="26628" name="Line 9"/>
          <p:cNvSpPr>
            <a:spLocks noChangeShapeType="1"/>
          </p:cNvSpPr>
          <p:nvPr/>
        </p:nvSpPr>
        <p:spPr bwMode="auto">
          <a:xfrm flipH="1" flipV="1">
            <a:off x="2916238" y="3789363"/>
            <a:ext cx="29511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29" name="Content Placeholder 2"/>
          <p:cNvSpPr>
            <a:spLocks/>
          </p:cNvSpPr>
          <p:nvPr/>
        </p:nvSpPr>
        <p:spPr bwMode="auto">
          <a:xfrm>
            <a:off x="5580063" y="3789363"/>
            <a:ext cx="2613025" cy="139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None/>
            </a:pPr>
            <a:r>
              <a:rPr lang="en-US" b="0"/>
              <a:t>Parameters also allowed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Default initialization: Has-zero</a:t>
            </a:r>
            <a:endParaRPr lang="he-IL" smtClean="0"/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924425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Definition of 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T haszero</a:t>
            </a:r>
          </a:p>
          <a:p>
            <a:pPr lvl="1" algn="l" rtl="0" eaLnBrk="1" hangingPunct="1"/>
            <a:r>
              <a:rPr lang="en-US" smtClean="0">
                <a:cs typeface="Arial" charset="0"/>
              </a:rPr>
              <a:t>A type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haszero</a:t>
            </a:r>
            <a:r>
              <a:rPr lang="en-US" smtClean="0">
                <a:cs typeface="Arial" charset="0"/>
              </a:rPr>
              <a:t> if it has null, false, or 0</a:t>
            </a:r>
          </a:p>
          <a:p>
            <a:pPr lvl="1" algn="l" rtl="0" eaLnBrk="1" hangingPunct="1"/>
            <a:r>
              <a:rPr lang="en-US" smtClean="0">
                <a:cs typeface="Arial" charset="0"/>
              </a:rPr>
              <a:t>Extend to X10 structs recursively </a:t>
            </a:r>
          </a:p>
          <a:p>
            <a:pPr algn="l" rtl="0" eaLnBrk="1" hangingPunct="1"/>
            <a:endParaRPr lang="en-US" smtClean="0">
              <a:cs typeface="Arial" charset="0"/>
            </a:endParaRPr>
          </a:p>
          <a:p>
            <a:pPr algn="l" rtl="0" eaLnBrk="1" hangingPunct="1"/>
            <a:r>
              <a:rPr lang="en-US" smtClean="0">
                <a:cs typeface="Arial" charset="0"/>
              </a:rPr>
              <a:t>A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mtClean="0">
                <a:cs typeface="Arial" charset="0"/>
              </a:rPr>
              <a:t> field that lacks an initializer and whose type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haszero</a:t>
            </a:r>
            <a:r>
              <a:rPr lang="en-US" smtClean="0">
                <a:cs typeface="Arial" charset="0"/>
              </a:rPr>
              <a:t>, is implicitly zero-initialized. </a:t>
            </a:r>
            <a:endParaRPr lang="en-US" b="1" smtClean="0">
              <a:latin typeface="Courier New" pitchFamily="49" charset="0"/>
              <a:cs typeface="Courier New" pitchFamily="49" charset="0"/>
            </a:endParaRPr>
          </a:p>
          <a:p>
            <a:pPr lvl="1" algn="l" rtl="0" eaLnBrk="1" hangingPunct="1"/>
            <a:endParaRPr lang="en-US" smtClean="0">
              <a:cs typeface="Arial" charset="0"/>
            </a:endParaRPr>
          </a:p>
          <a:p>
            <a:pPr lvl="1" algn="l" rtl="0" eaLnBrk="1" hangingPunct="1"/>
            <a:endParaRPr lang="en-US" smtClean="0">
              <a:cs typeface="Arial" charset="0"/>
            </a:endParaRPr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3529013" y="4908550"/>
            <a:ext cx="45720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var i0:Int;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var i1:</a:t>
            </a:r>
            <a:r>
              <a:rPr lang="en-US" sz="2000">
                <a:solidFill>
                  <a:srgbClr val="CC0000"/>
                </a:solidFill>
                <a:latin typeface="Courier New" pitchFamily="49" charset="0"/>
                <a:cs typeface="Courier New" pitchFamily="49" charset="0"/>
              </a:rPr>
              <a:t>Int{self!=0}; //ERR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i2: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Int; //ERR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Generics</a:t>
            </a:r>
            <a:endParaRPr lang="he-IL" smtClean="0"/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2116138"/>
          </a:xfrm>
        </p:spPr>
        <p:txBody>
          <a:bodyPr/>
          <a:lstStyle/>
          <a:p>
            <a:pPr algn="l" rtl="0" eaLnBrk="1" hangingPunct="1"/>
            <a:r>
              <a:rPr lang="en-US" b="1" smtClean="0">
                <a:latin typeface="Courier New" pitchFamily="49" charset="0"/>
                <a:cs typeface="Courier New" pitchFamily="49" charset="0"/>
              </a:rPr>
              <a:t>haszero</a:t>
            </a:r>
            <a:r>
              <a:rPr lang="en-US" smtClean="0">
                <a:cs typeface="Arial" charset="0"/>
              </a:rPr>
              <a:t> type predicate</a:t>
            </a:r>
            <a:endParaRPr lang="en-US" b="1" smtClean="0">
              <a:latin typeface="Courier New" pitchFamily="49" charset="0"/>
              <a:cs typeface="Courier New" pitchFamily="49" charset="0"/>
            </a:endParaRPr>
          </a:p>
          <a:p>
            <a:pPr lvl="1" algn="l" rtl="0" eaLnBrk="1" hangingPunct="1"/>
            <a:endParaRPr lang="en-US" smtClean="0">
              <a:cs typeface="Arial" charset="0"/>
            </a:endParaRPr>
          </a:p>
          <a:p>
            <a:pPr lvl="1" algn="l" rtl="0" eaLnBrk="1" hangingPunct="1"/>
            <a:endParaRPr lang="en-US" smtClean="0">
              <a:cs typeface="Arial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971550" y="2492375"/>
            <a:ext cx="7272338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B[T] {T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haszero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}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var f1:T;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val f2:T =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Zero.get[T]()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Usage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var b1:B[Int];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var b2: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B[Int{self!=0}]; //ERR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Array[T]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def this(size:Int) {T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haszero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} {…}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def this(defaultElement:T,size:Int) {…}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720725"/>
          </a:xfrm>
        </p:spPr>
        <p:txBody>
          <a:bodyPr/>
          <a:lstStyle/>
          <a:p>
            <a:pPr rtl="0" eaLnBrk="1" hangingPunct="1"/>
            <a:r>
              <a:rPr lang="en-US" sz="4000" smtClean="0">
                <a:cs typeface="Times New Roman" pitchFamily="18" charset="0"/>
              </a:rPr>
              <a:t>Concurrent programming</a:t>
            </a:r>
            <a:endParaRPr lang="he-IL" sz="4000" smtClean="0"/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>
          <a:xfrm>
            <a:off x="468313" y="4797425"/>
            <a:ext cx="8229600" cy="1655763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Using scoped language features for sync means compiler can understand it easily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Rules are strict, but can still parallel-initialize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900113" y="1557338"/>
            <a:ext cx="6985000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val f1:Int;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val f2:Int;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def this()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async f1 = 2; // ERR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finish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async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f2 = 3;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1143000"/>
          </a:xfrm>
        </p:spPr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How it works</a:t>
            </a:r>
            <a:endParaRPr lang="he-IL" smtClean="0"/>
          </a:p>
        </p:txBody>
      </p:sp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611188" y="1292225"/>
            <a:ext cx="7777162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var i:Int{self!=0} , j:Int{self!=0};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def this()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finish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asyncWriteI(); //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asyncAssigned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={i}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writeJ(); // ERR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} //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assigned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={i}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writeJ();// assigned={i,j}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} 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private def asyncWriteI () {// asyncAssigned={i}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async this.i=1;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} 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private def writeJ() {// reads={i} assigned={j}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if (this.i==1) this.j = 2; else this.j = 1;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Distributed programming</a:t>
            </a:r>
            <a:endParaRPr lang="he-IL" smtClean="0"/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1655763"/>
          </a:xfrm>
        </p:spPr>
        <p:txBody>
          <a:bodyPr/>
          <a:lstStyle/>
          <a:p>
            <a:pPr algn="l" rtl="0" eaLnBrk="1" hangingPunct="1"/>
            <a:r>
              <a:rPr lang="en-US" b="1" smtClean="0">
                <a:latin typeface="Courier New" pitchFamily="49" charset="0"/>
                <a:cs typeface="Courier New" pitchFamily="49" charset="0"/>
              </a:rPr>
              <a:t>at </a:t>
            </a:r>
            <a:r>
              <a:rPr lang="en-US" smtClean="0">
                <a:cs typeface="Arial" charset="0"/>
              </a:rPr>
              <a:t>shifts execution to another place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Implies serialization (field access)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So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at</a:t>
            </a:r>
            <a:r>
              <a:rPr lang="en-US" smtClean="0">
                <a:cs typeface="Arial" charset="0"/>
              </a:rPr>
              <a:t> cannot capture uninitialized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smtClean="0">
                <a:cs typeface="Arial" charset="0"/>
              </a:rPr>
              <a:t>.</a:t>
            </a:r>
          </a:p>
          <a:p>
            <a:pPr lvl="1" algn="l" rtl="0" eaLnBrk="1" hangingPunct="1"/>
            <a:endParaRPr lang="en-US" smtClean="0">
              <a:cs typeface="Arial" charset="0"/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1187450" y="3357563"/>
            <a:ext cx="7273925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val f1:Int{self!=0};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val f2:Int{self!=0};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def this()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 this.f1 = 1;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at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(here.next())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   Console.OUT.println(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this.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f1); 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//ERR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Previous work</a:t>
            </a:r>
            <a:endParaRPr lang="he-IL" smtClean="0"/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C++ : don’t do it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Java : don’t do it but at least type safe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Non-null types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Summers &amp; Muller		(similar to old X10)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Masked types (Qi and Meyers)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Detector uninitialized fields</a:t>
            </a:r>
          </a:p>
          <a:p>
            <a:pPr lvl="1" algn="l" rtl="0" eaLnBrk="1" hangingPunct="1"/>
            <a:endParaRPr lang="en-US" sz="3200" smtClean="0">
              <a:cs typeface="Arial" charset="0"/>
            </a:endParaRPr>
          </a:p>
          <a:p>
            <a:pPr lvl="1" algn="l" rtl="0" eaLnBrk="1" hangingPunct="1"/>
            <a:endParaRPr lang="en-US" sz="320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Evaluation / Conclusion</a:t>
            </a:r>
            <a:endParaRPr lang="he-IL" smtClean="0"/>
          </a:p>
        </p:txBody>
      </p:sp>
      <p:sp>
        <p:nvSpPr>
          <p:cNvPr id="40962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Language is safe (formalism in paper)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Annotations rarely required (analysis in paper)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Sufficiently expressive for ~300000 LOC</a:t>
            </a:r>
          </a:p>
          <a:p>
            <a:pPr lvl="1" algn="l" rtl="0" eaLnBrk="1" hangingPunct="1"/>
            <a:r>
              <a:rPr lang="en-US" smtClean="0">
                <a:cs typeface="Arial" charset="0"/>
              </a:rPr>
              <a:t>(but can’t do immutable object cycles)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Simple rules (simpler than related work)</a:t>
            </a:r>
          </a:p>
          <a:p>
            <a:pPr lvl="1" algn="l" rtl="0" eaLnBrk="1" hangingPunct="1"/>
            <a:endParaRPr lang="en-US" smtClean="0">
              <a:cs typeface="Arial" charset="0"/>
            </a:endParaRPr>
          </a:p>
          <a:p>
            <a:pPr lvl="1" algn="l" rtl="0" eaLnBrk="1" hangingPunct="1"/>
            <a:endParaRPr lang="en-US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Questions?</a:t>
            </a:r>
            <a:endParaRPr lang="he-IL" smtClean="0"/>
          </a:p>
        </p:txBody>
      </p:sp>
      <p:sp>
        <p:nvSpPr>
          <p:cNvPr id="43010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lvl="1" algn="l" rtl="0" eaLnBrk="1" hangingPunct="1"/>
            <a:endParaRPr lang="en-US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Constructor Rules Overview</a:t>
            </a:r>
            <a:endParaRPr lang="he-IL" smtClean="0"/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Demonstrate the rules by examples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Initialization is a cross-cutting concern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Dynamic dispatching and leaking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this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Default/zero value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Generics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Concurrent and distributed programming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More in the paper: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Inner classes, properties, exceptions, closures, structs, serialization, …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Conclusion</a:t>
            </a:r>
            <a:endParaRPr lang="he-IL" smtClean="0"/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Java and C++ initialization is error-prone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X10 initialization design</a:t>
            </a:r>
          </a:p>
          <a:p>
            <a:pPr lvl="1" algn="l" rtl="0" eaLnBrk="1" hangingPunct="1"/>
            <a:r>
              <a:rPr lang="en-US" smtClean="0">
                <a:cs typeface="Arial" charset="0"/>
              </a:rPr>
              <a:t>Strict: protects from errors</a:t>
            </a:r>
          </a:p>
          <a:p>
            <a:pPr lvl="1" algn="l" rtl="0" eaLnBrk="1" hangingPunct="1"/>
            <a:r>
              <a:rPr lang="en-US" smtClean="0">
                <a:cs typeface="Arial" charset="0"/>
              </a:rPr>
              <a:t>Simple</a:t>
            </a:r>
          </a:p>
          <a:p>
            <a:pPr lvl="1" algn="l" rtl="0" eaLnBrk="1" hangingPunct="1"/>
            <a:r>
              <a:rPr lang="en-US" smtClean="0">
                <a:cs typeface="Arial" charset="0"/>
              </a:rPr>
              <a:t>Flexible (but cannot express cyclic immutability)</a:t>
            </a:r>
          </a:p>
          <a:p>
            <a:pPr lvl="1" algn="l" rtl="0" eaLnBrk="1" hangingPunct="1"/>
            <a:r>
              <a:rPr lang="en-US" smtClean="0">
                <a:cs typeface="Arial" charset="0"/>
              </a:rPr>
              <a:t>Type safe</a:t>
            </a:r>
          </a:p>
          <a:p>
            <a:pPr lvl="1" algn="l" rtl="0" eaLnBrk="1" hangingPunct="1"/>
            <a:r>
              <a:rPr lang="en-US" smtClean="0">
                <a:cs typeface="Arial" charset="0"/>
              </a:rPr>
              <a:t>Final fields has a single value</a:t>
            </a:r>
          </a:p>
          <a:p>
            <a:pPr algn="l" rtl="0" eaLnBrk="1" hangingPunct="1"/>
            <a:r>
              <a:rPr lang="en-US" smtClean="0">
                <a:cs typeface="Arial" charset="0"/>
              </a:rPr>
              <a:t>See paper for alternative designs (e.g., proto)</a:t>
            </a:r>
          </a:p>
          <a:p>
            <a:pPr algn="l" rtl="0" eaLnBrk="1" hangingPunct="1"/>
            <a:r>
              <a:rPr lang="en-US" sz="2800" b="1" smtClean="0">
                <a:latin typeface="Courier New" pitchFamily="49" charset="0"/>
                <a:cs typeface="Courier New" pitchFamily="49" charset="0"/>
              </a:rPr>
              <a:t>Questions?</a:t>
            </a:r>
          </a:p>
          <a:p>
            <a:pPr lvl="1" algn="l" rtl="0" eaLnBrk="1" hangingPunct="1"/>
            <a:endParaRPr lang="en-US" smtClean="0">
              <a:cs typeface="Arial" charset="0"/>
            </a:endParaRPr>
          </a:p>
          <a:p>
            <a:pPr lvl="1" algn="l" rtl="0" eaLnBrk="1" hangingPunct="1"/>
            <a:endParaRPr lang="en-US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Initialization Can be Tricky</a:t>
            </a:r>
            <a:endParaRPr lang="he-IL" smtClean="0"/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1036637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Reason 3: concurrent and distributed code</a:t>
            </a:r>
            <a:endParaRPr lang="he-IL" smtClean="0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574675" y="2060575"/>
            <a:ext cx="8569325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Fib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val fib2:Int; // fib(n-2)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val fib1:Int; // fib(n-1)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val fib:Int; // fib(n)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def this(n:Int)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finish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async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 val p = here.next();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 fib2 = </a:t>
            </a:r>
            <a:r>
              <a:rPr lang="en-US" sz="200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at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(p) n&lt;=1 ? 0 : new Fib(n-2).fib;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 fib1 = n&lt;=0 ? 0 : n&lt;=1 ? 1 : new Fib(n-1).fib;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fib = fib2+fib1;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en-US" smtClean="0">
                <a:cs typeface="Times New Roman" pitchFamily="18" charset="0"/>
              </a:rPr>
              <a:t>Properties</a:t>
            </a:r>
            <a:endParaRPr lang="he-IL" smtClean="0"/>
          </a:p>
        </p:txBody>
      </p:sp>
      <p:sp>
        <p:nvSpPr>
          <p:cNvPr id="51202" name="Content Placeholder 2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2116138"/>
          </a:xfrm>
        </p:spPr>
        <p:txBody>
          <a:bodyPr/>
          <a:lstStyle/>
          <a:p>
            <a:pPr algn="l" rtl="0" eaLnBrk="1" hangingPunct="1"/>
            <a:r>
              <a:rPr lang="en-US" smtClean="0">
                <a:cs typeface="Arial" charset="0"/>
              </a:rPr>
              <a:t>Properties are final fields that are initialized first using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property(...);</a:t>
            </a:r>
          </a:p>
          <a:p>
            <a:pPr lvl="1" algn="l" rtl="0" eaLnBrk="1" hangingPunct="1"/>
            <a:endParaRPr lang="en-US" smtClean="0">
              <a:cs typeface="Arial" charset="0"/>
            </a:endParaRPr>
          </a:p>
          <a:p>
            <a:pPr lvl="1" algn="l" rtl="0" eaLnBrk="1" hangingPunct="1"/>
            <a:endParaRPr lang="en-US" smtClean="0">
              <a:cs typeface="Arial" charset="0"/>
            </a:endParaRP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2087563" y="2852738"/>
            <a:ext cx="5221287" cy="347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A(a:Int) {}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class B(b:Int) {b==a} extends A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val f1 = a+b;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def this(x:Int) {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super(x);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val i1 = super.a;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val i2 = </a:t>
            </a:r>
            <a:r>
              <a:rPr lang="en-US" sz="20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this.f1; //ERR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property(x);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 val i3 = this.f1; 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 }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}</a:t>
            </a:r>
            <a:endParaRPr lang="he-IL" sz="200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rot="5400000" flipH="1" flipV="1">
            <a:off x="2159793" y="4256882"/>
            <a:ext cx="360363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 flipH="1" flipV="1">
            <a:off x="1908175" y="4868863"/>
            <a:ext cx="863600" cy="0"/>
          </a:xfrm>
          <a:prstGeom prst="line">
            <a:avLst/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 flipH="1" flipV="1">
            <a:off x="2159794" y="5480844"/>
            <a:ext cx="360362" cy="0"/>
          </a:xfrm>
          <a:prstGeom prst="line">
            <a:avLst/>
          </a:prstGeom>
          <a:ln w="25400"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ular Callout 11"/>
          <p:cNvSpPr/>
          <p:nvPr/>
        </p:nvSpPr>
        <p:spPr>
          <a:xfrm>
            <a:off x="6516688" y="4221163"/>
            <a:ext cx="2447925" cy="1439862"/>
          </a:xfrm>
          <a:prstGeom prst="wedgeRoundRectCallout">
            <a:avLst>
              <a:gd name="adj1" fmla="val -140272"/>
              <a:gd name="adj2" fmla="val 2480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dirty="0"/>
              <a:t>Field </a:t>
            </a:r>
            <a:r>
              <a:rPr lang="en-US" sz="2000" b="0" dirty="0" err="1"/>
              <a:t>initializers</a:t>
            </a:r>
            <a:r>
              <a:rPr lang="en-US" sz="2000" b="0" dirty="0"/>
              <a:t> are executed after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property(…)</a:t>
            </a:r>
            <a:endParaRPr lang="he-IL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395288" y="4076700"/>
            <a:ext cx="1728787" cy="431800"/>
          </a:xfrm>
          <a:prstGeom prst="wedgeRoundRectCallout">
            <a:avLst>
              <a:gd name="adj1" fmla="val 61645"/>
              <a:gd name="adj2" fmla="val -562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dirty="0"/>
              <a:t>super init</a:t>
            </a:r>
            <a:endParaRPr lang="he-IL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395288" y="4652963"/>
            <a:ext cx="1728787" cy="431800"/>
          </a:xfrm>
          <a:prstGeom prst="wedgeRoundRectCallout">
            <a:avLst>
              <a:gd name="adj1" fmla="val 61645"/>
              <a:gd name="adj2" fmla="val -562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dirty="0"/>
              <a:t>Properties init</a:t>
            </a:r>
            <a:endParaRPr lang="he-IL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395288" y="5229225"/>
            <a:ext cx="1728787" cy="431800"/>
          </a:xfrm>
          <a:prstGeom prst="wedgeRoundRectCallout">
            <a:avLst>
              <a:gd name="adj1" fmla="val 61645"/>
              <a:gd name="adj2" fmla="val -562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dirty="0"/>
              <a:t>Field init</a:t>
            </a:r>
            <a:endParaRPr lang="he-IL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1896</Words>
  <Application>Microsoft Office PowerPoint</Application>
  <PresentationFormat>On-screen Show (4:3)</PresentationFormat>
  <Paragraphs>378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Arial</vt:lpstr>
      <vt:lpstr>Times New Roman</vt:lpstr>
      <vt:lpstr>Courier New</vt:lpstr>
      <vt:lpstr>Office Theme</vt:lpstr>
      <vt:lpstr>Object Initialization in X10</vt:lpstr>
      <vt:lpstr>Avoid access to uninitialized fields</vt:lpstr>
      <vt:lpstr>Initialization Can be Tricky</vt:lpstr>
      <vt:lpstr>Initialization Can be Tricky</vt:lpstr>
      <vt:lpstr>Desired Initialization Properties</vt:lpstr>
      <vt:lpstr>X10 Initialization: Hard hat design</vt:lpstr>
      <vt:lpstr>Constructor rules (@NonEscaping)</vt:lpstr>
      <vt:lpstr>Constructor rules (@NoThisAccess)</vt:lpstr>
      <vt:lpstr>Default initialization: Has-zero</vt:lpstr>
      <vt:lpstr>Generics</vt:lpstr>
      <vt:lpstr>Concurrent programming</vt:lpstr>
      <vt:lpstr>How it works</vt:lpstr>
      <vt:lpstr>Distributed programming</vt:lpstr>
      <vt:lpstr>Previous work</vt:lpstr>
      <vt:lpstr>Evaluation / Conclusion</vt:lpstr>
      <vt:lpstr>Questions?</vt:lpstr>
      <vt:lpstr>Constructor Rules Overview</vt:lpstr>
      <vt:lpstr>Conclusion</vt:lpstr>
      <vt:lpstr>Initialization Can be Tricky</vt:lpstr>
      <vt:lpstr>Properties</vt:lpstr>
    </vt:vector>
  </TitlesOfParts>
  <Company>IBM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Initialization in X10</dc:title>
  <dc:creator>Yoav Zibin, Dave Cunningham</dc:creator>
  <cp:lastModifiedBy>dcunnin</cp:lastModifiedBy>
  <cp:revision>40</cp:revision>
  <dcterms:created xsi:type="dcterms:W3CDTF">2011-06-03T20:32:07Z</dcterms:created>
  <dcterms:modified xsi:type="dcterms:W3CDTF">2012-06-14T08:14:21Z</dcterms:modified>
</cp:coreProperties>
</file>