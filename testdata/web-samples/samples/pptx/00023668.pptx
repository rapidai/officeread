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9" r:id="rId1"/>
  </p:sldMasterIdLst>
  <p:notesMasterIdLst>
    <p:notesMasterId r:id="rId53"/>
  </p:notesMasterIdLst>
  <p:handoutMasterIdLst>
    <p:handoutMasterId r:id="rId54"/>
  </p:handoutMasterIdLst>
  <p:sldIdLst>
    <p:sldId id="256" r:id="rId2"/>
    <p:sldId id="257" r:id="rId3"/>
    <p:sldId id="258" r:id="rId4"/>
    <p:sldId id="408" r:id="rId5"/>
    <p:sldId id="268" r:id="rId6"/>
    <p:sldId id="377" r:id="rId7"/>
    <p:sldId id="305" r:id="rId8"/>
    <p:sldId id="346" r:id="rId9"/>
    <p:sldId id="411" r:id="rId10"/>
    <p:sldId id="383" r:id="rId11"/>
    <p:sldId id="412" r:id="rId12"/>
    <p:sldId id="347" r:id="rId13"/>
    <p:sldId id="414" r:id="rId14"/>
    <p:sldId id="415" r:id="rId15"/>
    <p:sldId id="423" r:id="rId16"/>
    <p:sldId id="419" r:id="rId17"/>
    <p:sldId id="420" r:id="rId18"/>
    <p:sldId id="421" r:id="rId19"/>
    <p:sldId id="422" r:id="rId20"/>
    <p:sldId id="418" r:id="rId21"/>
    <p:sldId id="374" r:id="rId22"/>
    <p:sldId id="338" r:id="rId23"/>
    <p:sldId id="363" r:id="rId24"/>
    <p:sldId id="365" r:id="rId25"/>
    <p:sldId id="369" r:id="rId26"/>
    <p:sldId id="391" r:id="rId27"/>
    <p:sldId id="403" r:id="rId28"/>
    <p:sldId id="410" r:id="rId29"/>
    <p:sldId id="393" r:id="rId30"/>
    <p:sldId id="398" r:id="rId31"/>
    <p:sldId id="397" r:id="rId32"/>
    <p:sldId id="370" r:id="rId33"/>
    <p:sldId id="375" r:id="rId34"/>
    <p:sldId id="381" r:id="rId35"/>
    <p:sldId id="299" r:id="rId36"/>
    <p:sldId id="350" r:id="rId37"/>
    <p:sldId id="424" r:id="rId38"/>
    <p:sldId id="416" r:id="rId39"/>
    <p:sldId id="402" r:id="rId40"/>
    <p:sldId id="409" r:id="rId41"/>
    <p:sldId id="400" r:id="rId42"/>
    <p:sldId id="317" r:id="rId43"/>
    <p:sldId id="335" r:id="rId44"/>
    <p:sldId id="389" r:id="rId45"/>
    <p:sldId id="319" r:id="rId46"/>
    <p:sldId id="333" r:id="rId47"/>
    <p:sldId id="404" r:id="rId48"/>
    <p:sldId id="323" r:id="rId49"/>
    <p:sldId id="417" r:id="rId50"/>
    <p:sldId id="334" r:id="rId51"/>
    <p:sldId id="405" r:id="rId5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7DFF"/>
    <a:srgbClr val="9933FF"/>
    <a:srgbClr val="FF0000"/>
    <a:srgbClr val="008000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6" autoAdjust="0"/>
    <p:restoredTop sz="80122" autoAdjust="0"/>
  </p:normalViewPr>
  <p:slideViewPr>
    <p:cSldViewPr snapToGrid="0">
      <p:cViewPr>
        <p:scale>
          <a:sx n="66" d="100"/>
          <a:sy n="66" d="100"/>
        </p:scale>
        <p:origin x="-384" y="-7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114"/>
    </p:cViewPr>
  </p:sorterViewPr>
  <p:notesViewPr>
    <p:cSldViewPr snapToGrid="0">
      <p:cViewPr varScale="1">
        <p:scale>
          <a:sx n="65" d="100"/>
          <a:sy n="65" d="100"/>
        </p:scale>
        <p:origin x="-1530" y="-10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3BCB05-BE89-4E4D-905E-34BE72B3601F}" type="datetimeFigureOut">
              <a:rPr lang="en-US"/>
              <a:pPr>
                <a:defRPr/>
              </a:pPr>
              <a:t>10/15/2012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CBC9480-B96F-4AD4-B7BE-43A7145CF8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077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pPr>
              <a:defRPr/>
            </a:pPr>
            <a:fld id="{AE5E6360-32E8-46EA-A75A-AB6853093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11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B89F2FF-29C0-4628-A505-DFDCAD4223E7}" type="slidenum">
              <a:rPr lang="en-US" b="0" smtClean="0"/>
              <a:pPr eaLnBrk="1" hangingPunct="1"/>
              <a:t>0</a:t>
            </a:fld>
            <a:endParaRPr lang="en-US" b="0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D84AFF0-6AFD-4287-A8DA-B97174B78680}" type="slidenum">
              <a:rPr lang="en-US" b="0" smtClean="0"/>
              <a:pPr eaLnBrk="1" hangingPunct="1"/>
              <a:t>1</a:t>
            </a:fld>
            <a:endParaRPr lang="en-US" b="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21E2B9E-6DA6-4D82-887E-EDC36A1C093D}" type="slidenum">
              <a:rPr lang="en-US" b="0" smtClean="0"/>
              <a:pPr eaLnBrk="1" hangingPunct="1"/>
              <a:t>2</a:t>
            </a:fld>
            <a:endParaRPr lang="en-US" b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0E7BB71-5AE0-426C-B4FF-5C350AE33BE9}" type="slidenum">
              <a:rPr lang="en-US" b="0" smtClean="0"/>
              <a:pPr eaLnBrk="1" hangingPunct="1"/>
              <a:t>3</a:t>
            </a:fld>
            <a:endParaRPr lang="en-US" b="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229AFD-BB75-48D2-B612-59BF3CC0F110}" type="slidenum">
              <a:rPr lang="en-US" b="0" smtClean="0"/>
              <a:pPr eaLnBrk="1" hangingPunct="1"/>
              <a:t>4</a:t>
            </a:fld>
            <a:endParaRPr lang="en-US" b="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2ED5CD0-AFBA-4925-AB2E-65AB0561E648}" type="slidenum">
              <a:rPr lang="en-US" b="0" smtClean="0"/>
              <a:pPr eaLnBrk="1" hangingPunct="1"/>
              <a:t>5</a:t>
            </a:fld>
            <a:endParaRPr lang="en-US" b="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3DD7A5-C3D8-490E-801E-DCBBBFC51DED}" type="slidenum">
              <a:rPr lang="en-US" b="0" smtClean="0"/>
              <a:pPr eaLnBrk="1" hangingPunct="1"/>
              <a:t>6</a:t>
            </a:fld>
            <a:endParaRPr lang="en-US" b="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FC6E590-FE8F-4933-97BA-09FFC0341E38}" type="slidenum">
              <a:rPr lang="en-US" b="0" smtClean="0"/>
              <a:pPr eaLnBrk="1" hangingPunct="1"/>
              <a:t>7</a:t>
            </a:fld>
            <a:endParaRPr lang="en-US" b="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B18E5B-0A70-4284-9ED4-D48AF9DED32D}" type="slidenum">
              <a:rPr lang="en-US" b="0" smtClean="0"/>
              <a:pPr eaLnBrk="1" hangingPunct="1"/>
              <a:t>8</a:t>
            </a:fld>
            <a:endParaRPr lang="en-US" b="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78F1D9C-0DB8-4358-9612-9DDAE35479D7}" type="slidenum">
              <a:rPr lang="en-US" b="0" smtClean="0"/>
              <a:pPr eaLnBrk="1" hangingPunct="1"/>
              <a:t>9</a:t>
            </a:fld>
            <a:endParaRPr lang="en-US" b="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2704524-890C-4AA5-BB22-7CC9828BC580}" type="slidenum">
              <a:rPr lang="en-US" b="0" smtClean="0"/>
              <a:pPr eaLnBrk="1" hangingPunct="1"/>
              <a:t>10</a:t>
            </a:fld>
            <a:endParaRPr lang="en-US" b="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8E9A10C-44B3-4E60-BB46-7715D8F08DF7}" type="slidenum">
              <a:rPr lang="en-US" b="0" smtClean="0"/>
              <a:pPr eaLnBrk="1" hangingPunct="1"/>
              <a:t>11</a:t>
            </a:fld>
            <a:endParaRPr lang="en-US" b="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5742174-078D-4C3E-9944-B65E9150C413}" type="slidenum">
              <a:rPr lang="en-US" b="0" smtClean="0"/>
              <a:pPr eaLnBrk="1" hangingPunct="1"/>
              <a:t>12</a:t>
            </a:fld>
            <a:endParaRPr lang="en-US" b="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70C63F7-E0C1-4C63-A95A-1D863C9B17CE}" type="slidenum">
              <a:rPr lang="en-US" b="0" smtClean="0"/>
              <a:pPr eaLnBrk="1" hangingPunct="1"/>
              <a:t>13</a:t>
            </a:fld>
            <a:endParaRPr lang="en-US" b="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2B83D47-A81C-4A55-A7A7-429712BCF2FC}" type="slidenum">
              <a:rPr lang="en-US" b="0" smtClean="0"/>
              <a:pPr eaLnBrk="1" hangingPunct="1"/>
              <a:t>14</a:t>
            </a:fld>
            <a:endParaRPr lang="en-US" b="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196B55E-2A1D-4592-A8CA-B89FE122C408}" type="slidenum">
              <a:rPr lang="en-US" b="0" smtClean="0"/>
              <a:pPr eaLnBrk="1" hangingPunct="1"/>
              <a:t>16</a:t>
            </a:fld>
            <a:endParaRPr lang="en-US" b="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A0CA6F-B966-401A-8B7C-2E5F5270E897}" type="slidenum">
              <a:rPr lang="en-US" b="0" smtClean="0"/>
              <a:pPr eaLnBrk="1" hangingPunct="1"/>
              <a:t>17</a:t>
            </a:fld>
            <a:endParaRPr lang="en-US" b="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B243C5D-E652-4FC6-82B1-23CF49CC7929}" type="slidenum">
              <a:rPr lang="en-US" b="0" smtClean="0"/>
              <a:pPr eaLnBrk="1" hangingPunct="1"/>
              <a:t>18</a:t>
            </a:fld>
            <a:endParaRPr lang="en-US" b="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7013" indent="-227013"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FF34B29-270E-4A7F-8CAD-A173D8ABA0AB}" type="slidenum">
              <a:rPr lang="en-US" b="0" smtClean="0"/>
              <a:pPr eaLnBrk="1" hangingPunct="1"/>
              <a:t>19</a:t>
            </a:fld>
            <a:endParaRPr lang="en-US" b="0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1795F9D-171A-432E-AA3B-FD8464F843A5}" type="slidenum">
              <a:rPr lang="en-US" b="0" smtClean="0"/>
              <a:pPr eaLnBrk="1" hangingPunct="1"/>
              <a:t>20</a:t>
            </a:fld>
            <a:endParaRPr lang="en-US" b="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7E61CD7-C218-4477-9025-43FC5773A06A}" type="slidenum">
              <a:rPr lang="en-US" b="0" smtClean="0"/>
              <a:pPr eaLnBrk="1" hangingPunct="1"/>
              <a:t>21</a:t>
            </a:fld>
            <a:endParaRPr lang="en-US" b="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4A6056-ADBC-41F9-BA56-73EABA8825D3}" type="slidenum">
              <a:rPr lang="en-US" b="0" smtClean="0"/>
              <a:pPr eaLnBrk="1" hangingPunct="1"/>
              <a:t>22</a:t>
            </a:fld>
            <a:endParaRPr lang="en-US" b="0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A90B587-4F45-4558-90DB-4BC59440F762}" type="slidenum">
              <a:rPr lang="en-US" b="0" smtClean="0"/>
              <a:pPr eaLnBrk="1" hangingPunct="1"/>
              <a:t>23</a:t>
            </a:fld>
            <a:endParaRPr lang="en-US" b="0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BDEE4FF-6A70-4FB6-A5AF-89F5887FC322}" type="slidenum">
              <a:rPr lang="en-US" b="0" smtClean="0"/>
              <a:pPr eaLnBrk="1" hangingPunct="1"/>
              <a:t>24</a:t>
            </a:fld>
            <a:endParaRPr lang="en-US" b="0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46495F2-DAB1-4CA8-B9F6-C4F5A96278D1}" type="slidenum">
              <a:rPr lang="en-US" b="0" smtClean="0"/>
              <a:pPr eaLnBrk="1" hangingPunct="1"/>
              <a:t>25</a:t>
            </a:fld>
            <a:endParaRPr lang="en-US" b="0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5B03BD-0B45-4506-8861-FF822396BC3F}" type="slidenum">
              <a:rPr lang="en-US" b="0" smtClean="0"/>
              <a:pPr eaLnBrk="1" hangingPunct="1"/>
              <a:t>26</a:t>
            </a:fld>
            <a:endParaRPr lang="en-US" b="0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78EA901-ED39-4E4A-8999-0EB7484F74D6}" type="slidenum">
              <a:rPr lang="en-US" b="0" smtClean="0"/>
              <a:pPr eaLnBrk="1" hangingPunct="1"/>
              <a:t>27</a:t>
            </a:fld>
            <a:endParaRPr lang="en-US" b="0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5FB61D-7D77-4ACF-802A-919492F387CD}" type="slidenum">
              <a:rPr lang="en-US" b="0" smtClean="0"/>
              <a:pPr eaLnBrk="1" hangingPunct="1"/>
              <a:t>28</a:t>
            </a:fld>
            <a:endParaRPr lang="en-US" b="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36644D-E41A-4592-A73B-397E4848B1B0}" type="slidenum">
              <a:rPr lang="en-US" b="0" smtClean="0"/>
              <a:pPr eaLnBrk="1" hangingPunct="1"/>
              <a:t>29</a:t>
            </a:fld>
            <a:endParaRPr lang="en-US" b="0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32FD02B-DCEE-4B67-92FA-1A86E910B2F7}" type="slidenum">
              <a:rPr lang="en-US" b="0" smtClean="0"/>
              <a:pPr eaLnBrk="1" hangingPunct="1"/>
              <a:t>30</a:t>
            </a:fld>
            <a:endParaRPr lang="en-US" b="0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7FC121-EAA3-446A-8BDA-B6FECA9744AE}" type="slidenum">
              <a:rPr lang="en-US" b="0" smtClean="0"/>
              <a:pPr eaLnBrk="1" hangingPunct="1"/>
              <a:t>31</a:t>
            </a:fld>
            <a:endParaRPr lang="en-US" b="0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8EC043-9BBA-44A7-A3B7-557F29C42B55}" type="slidenum">
              <a:rPr lang="en-US" b="0" smtClean="0"/>
              <a:pPr eaLnBrk="1" hangingPunct="1"/>
              <a:t>32</a:t>
            </a:fld>
            <a:endParaRPr lang="en-US" b="0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FED694-F1BD-4780-92C3-19B346004EEA}" type="slidenum">
              <a:rPr lang="en-US" b="0" smtClean="0"/>
              <a:pPr eaLnBrk="1" hangingPunct="1"/>
              <a:t>33</a:t>
            </a:fld>
            <a:endParaRPr lang="en-US" b="0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7ED3D1-4997-4E37-9919-1EEDC702B474}" type="slidenum">
              <a:rPr lang="en-US" b="0" smtClean="0"/>
              <a:pPr eaLnBrk="1" hangingPunct="1"/>
              <a:t>34</a:t>
            </a:fld>
            <a:endParaRPr lang="en-US" b="0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A5CB3E7-54DE-4381-8CF9-FBBF2F147927}" type="slidenum">
              <a:rPr lang="en-US" b="0" smtClean="0"/>
              <a:pPr eaLnBrk="1" hangingPunct="1"/>
              <a:t>35</a:t>
            </a:fld>
            <a:endParaRPr lang="en-US" b="0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A5CB3E7-54DE-4381-8CF9-FBBF2F147927}" type="slidenum">
              <a:rPr lang="en-US" b="0" smtClean="0"/>
              <a:pPr eaLnBrk="1" hangingPunct="1"/>
              <a:t>36</a:t>
            </a:fld>
            <a:endParaRPr lang="en-US" b="0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63245F-5890-4493-9749-E1DC80EFF930}" type="slidenum">
              <a:rPr lang="en-US" b="0" smtClean="0"/>
              <a:pPr eaLnBrk="1" hangingPunct="1"/>
              <a:t>37</a:t>
            </a:fld>
            <a:endParaRPr lang="en-US" b="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F4DD8F6-FD80-4059-B5B7-4B9F8BCDCA50}" type="slidenum">
              <a:rPr lang="en-US" b="0" smtClean="0"/>
              <a:pPr eaLnBrk="1" hangingPunct="1"/>
              <a:t>38</a:t>
            </a:fld>
            <a:endParaRPr lang="en-US" b="0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11A21C-C9C2-4BF0-AF76-94646A150F40}" type="slidenum">
              <a:rPr lang="en-US" b="0" smtClean="0"/>
              <a:pPr eaLnBrk="1" hangingPunct="1"/>
              <a:t>39</a:t>
            </a:fld>
            <a:endParaRPr lang="en-US" b="0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D738663-0553-41CC-BE8E-D17A486B3698}" type="slidenum">
              <a:rPr lang="en-US" b="0" smtClean="0"/>
              <a:pPr eaLnBrk="1" hangingPunct="1"/>
              <a:t>40</a:t>
            </a:fld>
            <a:endParaRPr lang="en-US" b="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1B17457-8BF1-404A-A15B-5C2FFE9799EE}" type="slidenum">
              <a:rPr lang="en-US" b="0" smtClean="0"/>
              <a:pPr eaLnBrk="1" hangingPunct="1"/>
              <a:t>41</a:t>
            </a:fld>
            <a:endParaRPr lang="en-US" b="0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203C761-62DE-421A-8705-4AF55A1F60B1}" type="slidenum">
              <a:rPr lang="en-US" b="0" smtClean="0"/>
              <a:pPr eaLnBrk="1" hangingPunct="1"/>
              <a:t>42</a:t>
            </a:fld>
            <a:endParaRPr lang="en-US" b="0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52487E3-0296-4358-B9B8-E61ACEFFC0E4}" type="slidenum">
              <a:rPr lang="en-US" b="0" smtClean="0"/>
              <a:pPr eaLnBrk="1" hangingPunct="1"/>
              <a:t>43</a:t>
            </a:fld>
            <a:endParaRPr lang="en-US" b="0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5D71A4-8234-43F0-A751-191EE65EB6AC}" type="slidenum">
              <a:rPr lang="en-US" b="0" smtClean="0"/>
              <a:pPr eaLnBrk="1" hangingPunct="1"/>
              <a:t>44</a:t>
            </a:fld>
            <a:endParaRPr lang="en-US" b="0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DD68F0B-BE83-497A-9C76-08E9021E189A}" type="slidenum">
              <a:rPr lang="en-US" b="0" smtClean="0"/>
              <a:pPr eaLnBrk="1" hangingPunct="1"/>
              <a:t>45</a:t>
            </a:fld>
            <a:endParaRPr lang="en-US" b="0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D5BD785-E0E7-46A6-B08E-80787807E572}" type="slidenum">
              <a:rPr lang="en-US" b="0" smtClean="0"/>
              <a:pPr eaLnBrk="1" hangingPunct="1"/>
              <a:t>47</a:t>
            </a:fld>
            <a:endParaRPr lang="en-US" b="0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DD573AD-ECAE-40FE-A629-D5D00B55294F}" type="slidenum">
              <a:rPr lang="en-US" b="0" smtClean="0"/>
              <a:pPr eaLnBrk="1" hangingPunct="1"/>
              <a:t>48</a:t>
            </a:fld>
            <a:endParaRPr lang="en-US" b="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B82FE2-44F0-45C2-8C11-06F29887CC5A}" type="slidenum">
              <a:rPr lang="en-US" b="0" smtClean="0"/>
              <a:pPr eaLnBrk="1" hangingPunct="1"/>
              <a:t>49</a:t>
            </a:fld>
            <a:endParaRPr lang="en-US" b="0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/>
              <a:t>Refer to http://www.fgdc.gov/training/training-materials.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 rot="5400000">
            <a:off x="-228600" y="228600"/>
            <a:ext cx="3124200" cy="2667000"/>
          </a:xfrm>
          <a:prstGeom prst="rtTriangle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-7938" y="6276975"/>
            <a:ext cx="9151938" cy="588963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lang="en-US" sz="1600" b="0" i="1" dirty="0" err="1"/>
              <a:t>vers</a:t>
            </a:r>
            <a:r>
              <a:rPr lang="en-US" sz="1600" b="0" i="1" dirty="0"/>
              <a:t>. </a:t>
            </a:r>
            <a:r>
              <a:rPr lang="en-US" sz="1600" b="0" i="1" dirty="0" smtClean="0"/>
              <a:t>20121015</a:t>
            </a:r>
            <a:endParaRPr lang="en-US" sz="1600" b="0" i="1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-33791" y="0"/>
            <a:ext cx="3352801" cy="6858000"/>
          </a:xfrm>
          <a:prstGeom prst="moon">
            <a:avLst>
              <a:gd name="adj" fmla="val 36079"/>
            </a:avLst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588963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2000" b="0">
                <a:latin typeface="Bookman Old Style" pitchFamily="18" charset="0"/>
              </a:rPr>
              <a:t>national spatial data infrastructure training program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 rot="5400000" flipH="1">
            <a:off x="-76200" y="3810000"/>
            <a:ext cx="3124200" cy="2971800"/>
          </a:xfrm>
          <a:prstGeom prst="rtTriangle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8" descr="FGDClogo_tra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5303838"/>
            <a:ext cx="2244725" cy="152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990600" y="1200150"/>
            <a:ext cx="7772400" cy="1657350"/>
          </a:xfrm>
          <a:prstGeom prst="rect">
            <a:avLst/>
          </a:prstGeom>
          <a:solidFill>
            <a:srgbClr val="66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4000" i="1">
              <a:solidFill>
                <a:schemeClr val="bg1"/>
              </a:solidFill>
            </a:endParaRPr>
          </a:p>
          <a:p>
            <a:r>
              <a:rPr lang="en-US" sz="2400" b="0" u="sng">
                <a:solidFill>
                  <a:schemeClr val="bg1"/>
                </a:solidFill>
              </a:rPr>
              <a:t>NSDI Cooperative Agreements Program (CAP)</a:t>
            </a:r>
          </a:p>
          <a:p>
            <a:r>
              <a:rPr lang="en-US" sz="4000" i="1">
                <a:solidFill>
                  <a:schemeClr val="bg1"/>
                </a:solidFill>
              </a:rPr>
              <a:t>Submitting an NSDI CAP Proposal</a:t>
            </a:r>
          </a:p>
          <a:p>
            <a:endParaRPr lang="en-US" sz="4000" i="1">
              <a:solidFill>
                <a:schemeClr val="bg1"/>
              </a:solidFill>
            </a:endParaRP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190750" y="2990850"/>
            <a:ext cx="6400800" cy="1924050"/>
          </a:xfrm>
        </p:spPr>
        <p:txBody>
          <a:bodyPr/>
          <a:lstStyle>
            <a:lvl1pPr marL="0" indent="0"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7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417D2-D6BD-4BB7-94D6-C85234C736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0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917CF-24E1-4204-95C1-F4E9F2E1A4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9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3716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3716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324B2-9B61-432A-9E0F-9A28408D8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2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37B45-0362-49BD-92A7-E3CC1273B7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69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055C37-27B7-4400-9BD2-D67EB52A67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2EE7F-5C99-448D-AD6C-20FF1186B1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87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D6846-C06C-4471-9C96-AFC1C4A0E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1E54F-3454-47BB-9670-E5C0D71FC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4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6F5FC-5CA2-4D1B-972B-027E6E80E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7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00" y="381000"/>
            <a:ext cx="20955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61341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A85BDC-00B3-433B-92B7-41390271B7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3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b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119188"/>
            <a:ext cx="784225" cy="5486400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6275388"/>
            <a:ext cx="9144000" cy="588962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400" b="0">
              <a:latin typeface="Bookman Old Style" pitchFamily="18" charset="0"/>
            </a:endParaRPr>
          </a:p>
        </p:txBody>
      </p:sp>
      <p:pic>
        <p:nvPicPr>
          <p:cNvPr id="1029" name="Picture 5" descr="FGDClogo_trans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12713"/>
            <a:ext cx="1376363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381000"/>
            <a:ext cx="7391400" cy="609600"/>
          </a:xfrm>
          <a:prstGeom prst="rect">
            <a:avLst/>
          </a:prstGeom>
          <a:solidFill>
            <a:srgbClr val="66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371600"/>
            <a:ext cx="8382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38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929D729B-3A82-490F-A689-A1DA73FE2A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6427788"/>
            <a:ext cx="5373688" cy="304800"/>
          </a:xfrm>
          <a:prstGeom prst="rect">
            <a:avLst/>
          </a:prstGeom>
          <a:solidFill>
            <a:srgbClr val="7D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00" b="0" smtClean="0">
                <a:latin typeface="Bookman Old Style" pitchFamily="18" charset="0"/>
              </a:rPr>
              <a:t>national spatial data infrastructure training program</a:t>
            </a: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1676400" y="76200"/>
            <a:ext cx="73914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b="0" i="1" smtClean="0"/>
              <a:t>Submitting an NSDI CAP Proposal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b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Blip>
          <a:blip r:embed="rId14"/>
        </a:buBlip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4pPr>
      <a:lvl5pPr marL="2057400" indent="-2794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5pPr>
      <a:lvl6pPr marL="25146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6pPr>
      <a:lvl7pPr marL="29718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7pPr>
      <a:lvl8pPr marL="34290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8pPr>
      <a:lvl9pPr marL="38862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gdc.gov/gran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rants.gov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applicants/app_help_reso.js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iaisons.usgs.gov/geospatial/" TargetMode="External"/><Relationship Id="rId4" Type="http://schemas.openxmlformats.org/officeDocument/2006/relationships/hyperlink" Target="http://www.fgdc.gov/grants/2013CAP/FAQ_2013NSDICAP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07.grants.gov/applicants/organization_registration.js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nb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m.gov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uscontractorregistration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applicants/apply_for_grants.js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applicants/apply_for_grants.js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applicants/apply_for_grants.jsp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liaisons.usgs.gov/geospatia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usgs.gov/foia/index.html" TargetMode="External"/><Relationship Id="rId4" Type="http://schemas.openxmlformats.org/officeDocument/2006/relationships/hyperlink" Target="http://www.fgdc.gov/grants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ly07.grants.gov/apply/checkApplStatus.face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dgc.gov/grants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burbanma@fgdc.gov" TargetMode="External"/><Relationship Id="rId4" Type="http://schemas.openxmlformats.org/officeDocument/2006/relationships/hyperlink" Target="http://www.fgdc.gov/grants/2013CAP/2013CAPDescriptions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sda.gov/oc/photo/00di0877.htm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Step-by-step guidance on how to submit a proposal to the National Spatial Data Infrastructure (NSDI) Cooperative Agreements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CF9912-DA8F-400C-8BF5-A25F79E72151}" type="slidenum">
              <a:rPr lang="en-US" b="0" smtClean="0"/>
              <a:pPr eaLnBrk="1" hangingPunct="1"/>
              <a:t>1</a:t>
            </a:fld>
            <a:endParaRPr lang="en-US" b="0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460500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sz="2800" smtClean="0"/>
              <a:t>After completing this module the student can:</a:t>
            </a:r>
          </a:p>
          <a:p>
            <a:pPr marL="692150" lvl="1" indent="-395288" eaLnBrk="1" hangingPunct="1"/>
            <a:r>
              <a:rPr lang="en-US" smtClean="0"/>
              <a:t>Access the NSDI CAP program announcement</a:t>
            </a:r>
          </a:p>
          <a:p>
            <a:pPr marL="692150" lvl="1" indent="-395288" eaLnBrk="1" hangingPunct="1"/>
            <a:r>
              <a:rPr lang="en-US" smtClean="0"/>
              <a:t>Plan and execute proposal preparation in accord with the CAP schedule</a:t>
            </a:r>
          </a:p>
          <a:p>
            <a:pPr marL="692150" lvl="1" indent="-395288" eaLnBrk="1" hangingPunct="1"/>
            <a:r>
              <a:rPr lang="en-US" smtClean="0"/>
              <a:t>Download the application package from Grants.gov </a:t>
            </a:r>
          </a:p>
          <a:p>
            <a:pPr marL="692150" lvl="1" indent="-395288" eaLnBrk="1" hangingPunct="1"/>
            <a:r>
              <a:rPr lang="en-US" smtClean="0"/>
              <a:t>Complete each CAP proposal form and address each requirement </a:t>
            </a:r>
          </a:p>
          <a:p>
            <a:pPr marL="692150" lvl="1" indent="-395288" eaLnBrk="1" hangingPunct="1"/>
            <a:r>
              <a:rPr lang="en-US" smtClean="0"/>
              <a:t>Identify contacts and resources that can aid in developing the CAP proposals</a:t>
            </a:r>
          </a:p>
          <a:p>
            <a:pPr marL="692150" lvl="1" indent="-395288" eaLnBrk="1" hangingPunct="1"/>
            <a:r>
              <a:rPr lang="en-US" smtClean="0"/>
              <a:t>Submit a complete CAP proposal via Grants.gov </a:t>
            </a:r>
          </a:p>
          <a:p>
            <a:pPr marL="692150" lvl="1" indent="-395288" eaLnBrk="1" hangingPunct="1"/>
            <a:r>
              <a:rPr lang="en-US" smtClean="0"/>
              <a:t>Outline the steps of the CAP review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13F2051-9714-46CA-B6EE-62FF36C01F64}" type="slidenum">
              <a:rPr lang="en-US" b="0" smtClean="0"/>
              <a:pPr eaLnBrk="1" hangingPunct="1"/>
              <a:t>2</a:t>
            </a:fld>
            <a:endParaRPr lang="en-US" b="0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Access CAP Grant Information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47813"/>
            <a:ext cx="8131175" cy="4708525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</a:pPr>
            <a:r>
              <a:rPr lang="en-US" sz="2800" smtClean="0"/>
              <a:t>Where to find the CAP announcement</a:t>
            </a:r>
          </a:p>
          <a:p>
            <a:pPr marL="754063" lvl="1" indent="-457200" eaLnBrk="1" hangingPunct="1"/>
            <a:r>
              <a:rPr lang="en-US" b="1" smtClean="0"/>
              <a:t>NSDI CAP Web site </a:t>
            </a:r>
            <a:br>
              <a:rPr lang="en-US" b="1" smtClean="0"/>
            </a:br>
            <a:r>
              <a:rPr lang="en-US" b="1" i="1" smtClean="0">
                <a:solidFill>
                  <a:srgbClr val="7D7DFF"/>
                </a:solidFill>
                <a:hlinkClick r:id="rId3"/>
              </a:rPr>
              <a:t>http://www.fgdc.gov/grants</a:t>
            </a:r>
            <a:r>
              <a:rPr lang="en-US" b="1" i="1" smtClean="0">
                <a:solidFill>
                  <a:srgbClr val="7D7DFF"/>
                </a:solidFill>
              </a:rPr>
              <a:t> </a:t>
            </a:r>
            <a:br>
              <a:rPr lang="en-US" b="1" i="1" smtClean="0">
                <a:solidFill>
                  <a:srgbClr val="7D7DFF"/>
                </a:solidFill>
              </a:rPr>
            </a:br>
            <a:r>
              <a:rPr lang="en-US" smtClean="0"/>
              <a:t>includes schedule information and brief descriptions of the categories</a:t>
            </a:r>
          </a:p>
          <a:p>
            <a:pPr marL="754063" lvl="1" indent="-457200" eaLnBrk="1" hangingPunct="1"/>
            <a:r>
              <a:rPr lang="en-US" b="1" smtClean="0"/>
              <a:t>Grants.gov Web site </a:t>
            </a:r>
            <a:br>
              <a:rPr lang="en-US" b="1" smtClean="0"/>
            </a:br>
            <a:r>
              <a:rPr lang="en-US" b="1" smtClean="0">
                <a:hlinkClick r:id="rId4"/>
              </a:rPr>
              <a:t>http://www.grants.gov/</a:t>
            </a:r>
            <a:r>
              <a:rPr lang="en-US" b="1" smtClean="0"/>
              <a:t/>
            </a:r>
            <a:br>
              <a:rPr lang="en-US" b="1" smtClean="0"/>
            </a:br>
            <a:r>
              <a:rPr lang="en-US" smtClean="0"/>
              <a:t>centralized site for federal government grant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1C73829-F989-4A42-9C68-B8BD132C3C14}" type="slidenum">
              <a:rPr lang="en-US" b="0" smtClean="0"/>
              <a:pPr eaLnBrk="1" hangingPunct="1"/>
              <a:t>3</a:t>
            </a:fld>
            <a:endParaRPr lang="en-US" b="0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Access CAP Grant Information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47813"/>
            <a:ext cx="8131175" cy="4708525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</a:pPr>
            <a:r>
              <a:rPr lang="en-US" sz="2800" smtClean="0"/>
              <a:t>Where to find help</a:t>
            </a:r>
          </a:p>
          <a:p>
            <a:pPr marL="754063" lvl="1" indent="-457200" eaLnBrk="1" hangingPunct="1"/>
            <a:r>
              <a:rPr lang="en-US" b="1" smtClean="0">
                <a:solidFill>
                  <a:srgbClr val="000000"/>
                </a:solidFill>
              </a:rPr>
              <a:t>Grants.gov Applicant Resources</a:t>
            </a:r>
            <a:br>
              <a:rPr lang="en-US" b="1" smtClean="0">
                <a:solidFill>
                  <a:srgbClr val="000000"/>
                </a:solidFill>
              </a:rPr>
            </a:br>
            <a:r>
              <a:rPr lang="en-US" sz="2000" b="1" smtClean="0">
                <a:hlinkClick r:id="rId3"/>
              </a:rPr>
              <a:t>http://www.grants.gov/applicants/app_help_reso.jsp</a:t>
            </a:r>
            <a:r>
              <a:rPr lang="en-US" b="1" smtClean="0"/>
              <a:t/>
            </a:r>
            <a:br>
              <a:rPr lang="en-US" b="1" smtClean="0"/>
            </a:br>
            <a:r>
              <a:rPr lang="en-US" smtClean="0"/>
              <a:t>tutorials and documents to help with Grants.gov</a:t>
            </a:r>
          </a:p>
          <a:p>
            <a:pPr marL="754063" lvl="1" indent="-457200" eaLnBrk="1" hangingPunct="1"/>
            <a:r>
              <a:rPr lang="en-US" b="1" smtClean="0"/>
              <a:t>CAP Frequently Asked Questions </a:t>
            </a:r>
            <a:r>
              <a:rPr lang="en-US" sz="2000" b="1" smtClean="0">
                <a:hlinkClick r:id="rId4"/>
              </a:rPr>
              <a:t>http://www.fgdc.gov/grants/2013CAP/FAQ_2013NSDICAP</a:t>
            </a:r>
            <a:endParaRPr lang="en-US" sz="2000" b="1" smtClean="0"/>
          </a:p>
          <a:p>
            <a:pPr marL="754063" lvl="1" indent="-457200" eaLnBrk="1" hangingPunct="1"/>
            <a:r>
              <a:rPr lang="en-US" b="1" smtClean="0"/>
              <a:t>USGS Geospatial Liaisons </a:t>
            </a:r>
            <a:r>
              <a:rPr lang="en-US" b="1" smtClean="0">
                <a:hlinkClick r:id="rId5"/>
              </a:rPr>
              <a:t>http://liaisons.usgs.gov/geospatial/</a:t>
            </a:r>
            <a:r>
              <a:rPr lang="en-US" b="1" smtClean="0"/>
              <a:t> </a:t>
            </a:r>
            <a:br>
              <a:rPr lang="en-US" b="1" smtClean="0"/>
            </a:br>
            <a:r>
              <a:rPr lang="en-US" smtClean="0"/>
              <a:t>great resource for support and helping with collaborations</a:t>
            </a:r>
            <a:endParaRPr 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BCE46A-B120-4E3C-8DAD-0D0A92CE65C2}" type="slidenum">
              <a:rPr lang="en-US" b="0" smtClean="0"/>
              <a:pPr eaLnBrk="1" hangingPunct="1"/>
              <a:t>4</a:t>
            </a:fld>
            <a:endParaRPr lang="en-US" b="0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446215"/>
            <a:ext cx="81311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</a:pPr>
            <a:r>
              <a:rPr lang="en-US" sz="2800" dirty="0" smtClean="0"/>
              <a:t>Proposal Submission</a:t>
            </a:r>
          </a:p>
          <a:p>
            <a:pPr lvl="1" indent="-388938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dirty="0" smtClean="0"/>
              <a:t>Submittal period varies between sixty and ninety days after the Announcement opens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Program Announcement will be posted by November 2012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2013 program expected to close on January 29, 2013 at 2 pm</a:t>
            </a:r>
          </a:p>
          <a:p>
            <a:pPr lvl="1" indent="-388938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b="1" dirty="0" smtClean="0"/>
              <a:t>All</a:t>
            </a:r>
            <a:r>
              <a:rPr lang="en-US" dirty="0" smtClean="0"/>
              <a:t> proposals must be submitted electronically via Grants.gov therefore you must register with Grants.gov </a:t>
            </a:r>
            <a:r>
              <a:rPr lang="en-US" i="1" dirty="0" smtClean="0"/>
              <a:t>before</a:t>
            </a:r>
            <a:r>
              <a:rPr lang="en-US" dirty="0" smtClean="0"/>
              <a:t> you can submit your proposal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the registration process requires 1-4 weeks so register early… register now!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once registered, you can apply to all federal grant programs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2D36214-2DCC-4491-9E25-A23AC0217BF1}" type="slidenum">
              <a:rPr lang="en-US" b="0" smtClean="0"/>
              <a:pPr eaLnBrk="1" hangingPunct="1"/>
              <a:t>5</a:t>
            </a:fld>
            <a:endParaRPr lang="en-US" b="0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47813"/>
            <a:ext cx="81311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</a:pPr>
            <a:r>
              <a:rPr lang="en-US" sz="2800" smtClean="0"/>
              <a:t>Proposal Review and Award</a:t>
            </a:r>
          </a:p>
          <a:p>
            <a:pPr lvl="1" indent="-388938" eaLnBrk="1" hangingPunct="1">
              <a:spcBef>
                <a:spcPct val="50000"/>
              </a:spcBef>
            </a:pPr>
            <a:r>
              <a:rPr lang="en-US" smtClean="0"/>
              <a:t>Proposal review period requires four to six weeks after the closing date</a:t>
            </a:r>
          </a:p>
          <a:p>
            <a:pPr lvl="1" indent="-388938" eaLnBrk="1" hangingPunct="1">
              <a:spcBef>
                <a:spcPct val="50000"/>
              </a:spcBef>
            </a:pPr>
            <a:r>
              <a:rPr lang="en-US" smtClean="0"/>
              <a:t>CAP Awards are announced as soon as the reviews are completed and a final decision is made</a:t>
            </a:r>
          </a:p>
          <a:p>
            <a:pPr lvl="2" eaLnBrk="1" hangingPunct="1"/>
            <a:r>
              <a:rPr lang="en-US" smtClean="0"/>
              <a:t>2013 CAP Awards will be announced in Spring 2013</a:t>
            </a:r>
          </a:p>
          <a:p>
            <a:pPr lvl="2" eaLnBrk="1" hangingPunct="1">
              <a:spcBef>
                <a:spcPct val="50000"/>
              </a:spcBef>
              <a:buFontTx/>
              <a:buBlip>
                <a:blip r:embed="rId3"/>
              </a:buBlip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D87777-E90B-4A7C-9D6C-3D7B11E825D2}" type="slidenum">
              <a:rPr lang="en-US" b="0" smtClean="0"/>
              <a:pPr eaLnBrk="1" hangingPunct="1"/>
              <a:t>6</a:t>
            </a:fld>
            <a:endParaRPr lang="en-US" b="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4850" y="1333500"/>
            <a:ext cx="8153400" cy="49657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Project Implementation</a:t>
            </a:r>
          </a:p>
          <a:p>
            <a:pPr lvl="1" eaLnBrk="1" hangingPunct="1"/>
            <a:r>
              <a:rPr lang="en-US" dirty="0" smtClean="0"/>
              <a:t>Project Start Date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based on the date listed by recipient in the proposal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must start before end of fiscal year (September 30)</a:t>
            </a:r>
          </a:p>
          <a:p>
            <a:pPr lvl="1" eaLnBrk="1" hangingPunct="1"/>
            <a:r>
              <a:rPr lang="en-US" dirty="0" smtClean="0"/>
              <a:t>Category-specific Orientation Workshops or Kick-Off Meetings</a:t>
            </a:r>
            <a:endParaRPr lang="en-US" sz="2200" i="1" dirty="0" smtClean="0"/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generally scheduled within 60 days of award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Category Lead coordinates workshop site and date with recipients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in 2013 these will be held via teleconference/webinar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purpose is to meet, collaborate, review schedule and reporting requirements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if necessary, CAP funding is used to cover travel costs and is considered part of the award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8A3229-BEE0-4036-9ED8-90CDB3C54187}" type="slidenum">
              <a:rPr lang="en-US" b="0" smtClean="0"/>
              <a:pPr eaLnBrk="1" hangingPunct="1"/>
              <a:t>7</a:t>
            </a:fld>
            <a:endParaRPr lang="en-US" b="0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Submitting  Your Proposal via Grants.gov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31175" cy="4708525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en-US" dirty="0" smtClean="0"/>
              <a:t>Submitting a proposal application package:</a:t>
            </a:r>
          </a:p>
          <a:p>
            <a:pPr marL="754063" lvl="1" indent="-457200" eaLnBrk="1" hangingPunct="1">
              <a:buFontTx/>
              <a:buAutoNum type="arabicPeriod"/>
              <a:defRPr/>
            </a:pPr>
            <a:r>
              <a:rPr lang="en-US" dirty="0" smtClean="0"/>
              <a:t>Register with Grants.gov</a:t>
            </a:r>
          </a:p>
          <a:p>
            <a:pPr marL="914400" lvl="2" indent="0" eaLnBrk="1" hangingPunct="1">
              <a:buFont typeface="Wingdings" pitchFamily="2" charset="2"/>
              <a:buNone/>
              <a:defRPr/>
            </a:pPr>
            <a:r>
              <a:rPr lang="en-US" dirty="0" smtClean="0">
                <a:hlinkClick r:id="rId3"/>
              </a:rPr>
              <a:t>http://www.grants.gov/</a:t>
            </a:r>
            <a:endParaRPr lang="en-US" dirty="0" smtClean="0"/>
          </a:p>
          <a:p>
            <a:pPr marL="1371600" lvl="3" indent="0" eaLnBrk="1" hangingPunct="1">
              <a:buFontTx/>
              <a:buNone/>
              <a:defRPr/>
            </a:pPr>
            <a:r>
              <a:rPr lang="en-US" dirty="0" smtClean="0"/>
              <a:t>Registration takes 1 to 4 weeks </a:t>
            </a:r>
            <a:r>
              <a:rPr lang="en-US" b="1" i="1" dirty="0" smtClean="0"/>
              <a:t>so start early</a:t>
            </a:r>
            <a:r>
              <a:rPr lang="en-US" dirty="0" smtClean="0"/>
              <a:t>. Once registered, your organization can use the same information for all other Grant.gov applications</a:t>
            </a:r>
          </a:p>
          <a:p>
            <a:pPr marL="754063" lvl="1" indent="-457200" eaLnBrk="1" hangingPunct="1">
              <a:buFontTx/>
              <a:buAutoNum type="arabicPeriod"/>
              <a:defRPr/>
            </a:pPr>
            <a:r>
              <a:rPr lang="en-US" dirty="0" smtClean="0"/>
              <a:t>Prepare proposal </a:t>
            </a:r>
          </a:p>
          <a:p>
            <a:pPr marL="1211263" lvl="3" indent="0" eaLnBrk="1" hangingPunct="1">
              <a:buFontTx/>
              <a:buNone/>
              <a:defRPr/>
            </a:pPr>
            <a:r>
              <a:rPr lang="en-US" dirty="0" smtClean="0"/>
              <a:t>Pay attention to CAP and category specific requirements</a:t>
            </a:r>
          </a:p>
          <a:p>
            <a:pPr marL="754063" lvl="1" indent="-457200" eaLnBrk="1" hangingPunct="1">
              <a:buFontTx/>
              <a:buAutoNum type="arabicPeriod"/>
              <a:defRPr/>
            </a:pPr>
            <a:r>
              <a:rPr lang="en-US" dirty="0" smtClean="0"/>
              <a:t>Submit package to Grants.gov</a:t>
            </a:r>
          </a:p>
        </p:txBody>
      </p:sp>
      <p:pic>
        <p:nvPicPr>
          <p:cNvPr id="10245" name="Picture 6" descr="\\Igsaaahmfsm002\hq-gio\HINGPOGIC\NSDI CAP\CAP Training\Webinar\graphics\Grants 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5245100"/>
            <a:ext cx="25812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4905D01-025F-44CB-8E63-4D57C9F6E798}" type="slidenum">
              <a:rPr lang="en-US" b="0" smtClean="0"/>
              <a:pPr eaLnBrk="1" hangingPunct="1"/>
              <a:t>8</a:t>
            </a:fld>
            <a:endParaRPr lang="en-US" b="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smtClean="0"/>
              <a:t>Register with Grants.gov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31175" cy="4708525"/>
          </a:xfrm>
        </p:spPr>
        <p:txBody>
          <a:bodyPr/>
          <a:lstStyle/>
          <a:p>
            <a:pPr marL="182563" indent="-182563" eaLnBrk="1" hangingPunct="1"/>
            <a:r>
              <a:rPr lang="en-US" sz="2800" smtClean="0"/>
              <a:t>Grants.gov</a:t>
            </a:r>
            <a:r>
              <a:rPr lang="en-US" smtClean="0"/>
              <a:t> </a:t>
            </a:r>
          </a:p>
          <a:p>
            <a:pPr lvl="1" indent="-388938" eaLnBrk="1" hangingPunct="1">
              <a:buFontTx/>
              <a:buNone/>
            </a:pPr>
            <a:r>
              <a:rPr lang="en-US" smtClean="0"/>
              <a:t>A centralized location to explore, access and apply to U.S. federal government grant opportunities</a:t>
            </a:r>
          </a:p>
          <a:p>
            <a:pPr lvl="1" indent="-388938" eaLnBrk="1" hangingPunct="1"/>
            <a:r>
              <a:rPr lang="en-US" sz="2200" b="1" smtClean="0"/>
              <a:t>ALL</a:t>
            </a:r>
            <a:r>
              <a:rPr lang="en-US" sz="2200" smtClean="0"/>
              <a:t> CAP proposals must be submitted via Grants.gov</a:t>
            </a:r>
          </a:p>
          <a:p>
            <a:pPr lvl="1" indent="-388938" eaLnBrk="1" hangingPunct="1"/>
            <a:r>
              <a:rPr lang="en-US" sz="2200" b="1" smtClean="0"/>
              <a:t>NO</a:t>
            </a:r>
            <a:r>
              <a:rPr lang="en-US" sz="2200" smtClean="0"/>
              <a:t> hardcopy proposals are accepted</a:t>
            </a:r>
          </a:p>
          <a:p>
            <a:pPr lvl="1" indent="-388938" eaLnBrk="1" hangingPunct="1"/>
            <a:r>
              <a:rPr lang="en-US" sz="2200" smtClean="0"/>
              <a:t>Grants.gov application process requires prior registration with external federal and business registries – so plan ahead and register now</a:t>
            </a:r>
          </a:p>
          <a:p>
            <a:pPr lvl="1" indent="-388938" eaLnBrk="1" hangingPunct="1"/>
            <a:r>
              <a:rPr lang="en-US" sz="2200" smtClean="0"/>
              <a:t>More information is available at:</a:t>
            </a:r>
            <a:br>
              <a:rPr lang="en-US" sz="2200" smtClean="0"/>
            </a:br>
            <a:r>
              <a:rPr lang="en-US" smtClean="0">
                <a:hlinkClick r:id="rId3"/>
              </a:rPr>
              <a:t>http://www.grants.gov/</a:t>
            </a:r>
            <a:r>
              <a:rPr lang="en-US" smtClean="0"/>
              <a:t> </a:t>
            </a:r>
            <a:endParaRPr lang="en-US" sz="2200" smtClean="0"/>
          </a:p>
        </p:txBody>
      </p:sp>
      <p:pic>
        <p:nvPicPr>
          <p:cNvPr id="11269" name="Picture 6" descr="\\Igsaaahmfsm002\hq-gio\HINGPOGIC\NSDI CAP\CAP Training\Webinar\graphics\Grants 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5245100"/>
            <a:ext cx="25812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7471183-33D8-4C20-94D8-F9F8AD2D6064}" type="slidenum">
              <a:rPr lang="en-US" b="0" smtClean="0"/>
              <a:pPr eaLnBrk="1" hangingPunct="1"/>
              <a:t>9</a:t>
            </a:fld>
            <a:endParaRPr lang="en-US" b="0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smtClean="0"/>
              <a:t>Register with Grants.gov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31175" cy="4708525"/>
          </a:xfrm>
        </p:spPr>
        <p:txBody>
          <a:bodyPr/>
          <a:lstStyle/>
          <a:p>
            <a:pPr marL="182563" indent="-182563" eaLnBrk="1" hangingPunct="1"/>
            <a:r>
              <a:rPr lang="en-US" sz="2800" dirty="0" smtClean="0"/>
              <a:t>Steps for registration on Grants.gov</a:t>
            </a:r>
          </a:p>
          <a:p>
            <a:pPr marL="182563" indent="-182563">
              <a:buFontTx/>
              <a:buAutoNum type="arabicPeriod"/>
            </a:pPr>
            <a:r>
              <a:rPr lang="en-US" sz="2000" dirty="0" smtClean="0"/>
              <a:t> Obtain DUNS Number</a:t>
            </a:r>
          </a:p>
          <a:p>
            <a:pPr marL="639763" lvl="2" indent="0">
              <a:buFont typeface="Wingdings" pitchFamily="2" charset="2"/>
              <a:buNone/>
            </a:pPr>
            <a:r>
              <a:rPr lang="en-US" sz="2000" dirty="0" smtClean="0"/>
              <a:t>	- </a:t>
            </a:r>
            <a:r>
              <a:rPr lang="en-US" sz="1800" dirty="0" smtClean="0"/>
              <a:t>Same day</a:t>
            </a:r>
          </a:p>
          <a:p>
            <a:pPr marL="182563" indent="-182563">
              <a:buFontTx/>
              <a:buAutoNum type="arabicPeriod"/>
            </a:pPr>
            <a:r>
              <a:rPr lang="en-US" sz="2000" dirty="0" smtClean="0"/>
              <a:t> Register with SAM (System for Award Management)</a:t>
            </a:r>
          </a:p>
          <a:p>
            <a:pPr marL="365125" lvl="1" indent="0">
              <a:buFontTx/>
              <a:buNone/>
            </a:pPr>
            <a:r>
              <a:rPr lang="en-US" sz="1800" dirty="0" smtClean="0"/>
              <a:t>	- Three to five business days or up to two weeks</a:t>
            </a:r>
          </a:p>
          <a:p>
            <a:pPr marL="182563" indent="-182563">
              <a:buFontTx/>
              <a:buAutoNum type="arabicPeriod"/>
            </a:pPr>
            <a:r>
              <a:rPr lang="en-US" sz="2000" dirty="0" smtClean="0"/>
              <a:t> Complete AOR (Authorized Organization Representative) profile on Grants.gov </a:t>
            </a:r>
          </a:p>
          <a:p>
            <a:pPr marL="365125" lvl="1" indent="0">
              <a:buFontTx/>
              <a:buNone/>
            </a:pPr>
            <a:r>
              <a:rPr lang="en-US" sz="1000" dirty="0" smtClean="0"/>
              <a:t>	</a:t>
            </a:r>
            <a:r>
              <a:rPr lang="en-US" sz="1800" dirty="0" smtClean="0"/>
              <a:t>- Same day</a:t>
            </a:r>
          </a:p>
          <a:p>
            <a:pPr marL="182563" indent="-182563">
              <a:buFontTx/>
              <a:buAutoNum type="arabicPeriod"/>
            </a:pPr>
            <a:r>
              <a:rPr lang="en-US" sz="2000" dirty="0" smtClean="0"/>
              <a:t> AOR Authorization by E-Business Point of Contact (E-Biz POC)</a:t>
            </a:r>
          </a:p>
          <a:p>
            <a:pPr marL="457200" lvl="1" indent="0">
              <a:buNone/>
            </a:pPr>
            <a:r>
              <a:rPr lang="en-US" sz="1000" dirty="0" smtClean="0"/>
              <a:t>	</a:t>
            </a:r>
            <a:r>
              <a:rPr lang="en-US" sz="1800" dirty="0" smtClean="0"/>
              <a:t>- Time depends on responsiveness of your E-Biz POC </a:t>
            </a:r>
          </a:p>
          <a:p>
            <a:pPr marL="182563" indent="-182563"/>
            <a:endParaRPr lang="en-US" sz="600" dirty="0" smtClean="0"/>
          </a:p>
          <a:p>
            <a:pPr marL="182563" indent="-182563" eaLnBrk="1" hangingPunct="1"/>
            <a:r>
              <a:rPr lang="en-US" sz="2000" dirty="0" smtClean="0"/>
              <a:t>Information at 	</a:t>
            </a:r>
            <a:r>
              <a:rPr lang="en-US" sz="1800" dirty="0" smtClean="0">
                <a:hlinkClick r:id="rId3"/>
              </a:rPr>
              <a:t>http://www07.grants.gov/applicants/organization_registration.jsp</a:t>
            </a:r>
            <a:endParaRPr lang="en-US" sz="1800" dirty="0" smtClean="0"/>
          </a:p>
        </p:txBody>
      </p:sp>
      <p:pic>
        <p:nvPicPr>
          <p:cNvPr id="12293" name="Picture 6" descr="\\Igsaaahmfsm002\hq-gio\HINGPOGIC\NSDI CAP\CAP Training\Webinar\graphics\Grants 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275" y="1376363"/>
            <a:ext cx="25812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6D69B7E-3814-472E-B241-F674723C40FF}" type="slidenum">
              <a:rPr lang="en-US" b="0" smtClean="0"/>
              <a:pPr eaLnBrk="1" hangingPunct="1"/>
              <a:t>10</a:t>
            </a:fld>
            <a:endParaRPr lang="en-US" b="0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smtClean="0"/>
              <a:t>Register with Grants.gov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31175" cy="4708525"/>
          </a:xfrm>
        </p:spPr>
        <p:txBody>
          <a:bodyPr/>
          <a:lstStyle/>
          <a:p>
            <a:pPr marL="182563" indent="-182563" eaLnBrk="1" hangingPunct="1"/>
            <a:r>
              <a:rPr lang="en-US" sz="2800" smtClean="0"/>
              <a:t>Step 1: Access your DUNS Number</a:t>
            </a:r>
            <a:r>
              <a:rPr lang="en-US" smtClean="0"/>
              <a:t> </a:t>
            </a:r>
          </a:p>
          <a:p>
            <a:pPr lvl="1" indent="-388938" eaLnBrk="1" hangingPunct="1">
              <a:buFontTx/>
              <a:buNone/>
            </a:pPr>
            <a:r>
              <a:rPr lang="en-US" smtClean="0"/>
              <a:t>A Data Universal Number System (DUNS) Number is required to submit a CAP Proposal</a:t>
            </a:r>
          </a:p>
          <a:p>
            <a:pPr lvl="1" indent="-388938" eaLnBrk="1" hangingPunct="1"/>
            <a:r>
              <a:rPr lang="en-US" sz="2200" smtClean="0"/>
              <a:t>A DUNS Number is a unique nine-digit sequence recognized as the universal standard for identifying and keeping track of over 100 million businesses worldwide</a:t>
            </a:r>
            <a:r>
              <a:rPr lang="en-US" smtClean="0"/>
              <a:t>  </a:t>
            </a:r>
          </a:p>
          <a:p>
            <a:pPr lvl="1" indent="-388938" eaLnBrk="1" hangingPunct="1"/>
            <a:r>
              <a:rPr lang="en-US" sz="2200" smtClean="0"/>
              <a:t>If your organization does not have a DUNS Number request one from:</a:t>
            </a:r>
            <a:br>
              <a:rPr lang="en-US" sz="2200" smtClean="0"/>
            </a:br>
            <a:r>
              <a:rPr lang="en-US" smtClean="0">
                <a:hlinkClick r:id="rId3"/>
              </a:rPr>
              <a:t>http://www.dnb.com/</a:t>
            </a:r>
            <a:r>
              <a:rPr lang="en-US" smtClean="0"/>
              <a:t>  </a:t>
            </a:r>
            <a:endParaRPr lang="en-US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C1A86F-3CE6-45B4-B4D0-AD80137EE66C}" type="slidenum">
              <a:rPr lang="en-US" b="0" smtClean="0"/>
              <a:pPr eaLnBrk="1" hangingPunct="1"/>
              <a:t>11</a:t>
            </a:fld>
            <a:endParaRPr lang="en-US" b="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smtClean="0"/>
              <a:t>Register with Grants.gov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31175" cy="4708525"/>
          </a:xfrm>
        </p:spPr>
        <p:txBody>
          <a:bodyPr/>
          <a:lstStyle/>
          <a:p>
            <a:pPr marL="44450" indent="0"/>
            <a:r>
              <a:rPr lang="en-US" sz="2800" dirty="0" smtClean="0"/>
              <a:t>Step 2: Register with System for Award Management (SAM)</a:t>
            </a:r>
          </a:p>
          <a:p>
            <a:pPr marL="960438" lvl="1" indent="-331788" eaLnBrk="1" hangingPunct="1">
              <a:buFontTx/>
              <a:buNone/>
            </a:pPr>
            <a:r>
              <a:rPr lang="en-US" dirty="0" smtClean="0"/>
              <a:t>Registrant database for government contractors (it replaces CCR)</a:t>
            </a:r>
          </a:p>
          <a:p>
            <a:pPr marL="960438" lvl="1" indent="-331788" eaLnBrk="1" hangingPunct="1"/>
            <a:r>
              <a:rPr lang="en-US" sz="2000" dirty="0" smtClean="0"/>
              <a:t>For information and to register</a:t>
            </a:r>
          </a:p>
          <a:p>
            <a:pPr marL="1417638" lvl="2" indent="-331788" eaLnBrk="1" hangingPunct="1"/>
            <a:r>
              <a:rPr lang="en-US" sz="1800" dirty="0" smtClean="0">
                <a:hlinkClick r:id="rId3"/>
              </a:rPr>
              <a:t>https://www.sam.gov/</a:t>
            </a:r>
            <a:endParaRPr lang="en-US" sz="2000" dirty="0" smtClean="0">
              <a:solidFill>
                <a:srgbClr val="FF0000"/>
              </a:solidFill>
            </a:endParaRPr>
          </a:p>
          <a:p>
            <a:pPr marL="1417638" lvl="2" indent="-331788" eaLnBrk="1" hangingPunct="1"/>
            <a:r>
              <a:rPr lang="en-US" sz="1800" dirty="0" smtClean="0"/>
              <a:t>877-252-2700</a:t>
            </a:r>
          </a:p>
          <a:p>
            <a:pPr marL="1417638" lvl="2" indent="-331788" eaLnBrk="1" hangingPunct="1"/>
            <a:r>
              <a:rPr lang="en-US" sz="1800" dirty="0" smtClean="0"/>
              <a:t>Additional link - </a:t>
            </a:r>
            <a:r>
              <a:rPr lang="en-US" sz="1800" dirty="0" smtClean="0">
                <a:hlinkClick r:id="rId4"/>
              </a:rPr>
              <a:t>https://www.uscontractorregistration.com/</a:t>
            </a:r>
            <a:r>
              <a:rPr lang="en-US" sz="1800" dirty="0" smtClean="0"/>
              <a:t> </a:t>
            </a:r>
            <a:br>
              <a:rPr lang="en-US" sz="1800" dirty="0" smtClean="0"/>
            </a:br>
            <a:endParaRPr lang="en-US" sz="20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C4C0A5-E4F8-4BF0-890C-313C6D420725}" type="slidenum">
              <a:rPr lang="en-US" b="0" smtClean="0"/>
              <a:pPr eaLnBrk="1" hangingPunct="1"/>
              <a:t>12</a:t>
            </a:fld>
            <a:endParaRPr lang="en-US" b="0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smtClean="0"/>
              <a:t>Register with Grants.gov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31175" cy="4708525"/>
          </a:xfrm>
        </p:spPr>
        <p:txBody>
          <a:bodyPr/>
          <a:lstStyle/>
          <a:p>
            <a:pPr marL="44450" indent="0"/>
            <a:r>
              <a:rPr lang="en-US" sz="2800" dirty="0" smtClean="0"/>
              <a:t>Step 3: Complete AOR (Authorized Organization Representative) profile on Grants.gov </a:t>
            </a:r>
            <a:r>
              <a:rPr lang="en-US" sz="1800" dirty="0" smtClean="0"/>
              <a:t>	</a:t>
            </a:r>
          </a:p>
          <a:p>
            <a:pPr marL="44450" indent="0"/>
            <a:endParaRPr lang="en-US" dirty="0" smtClean="0"/>
          </a:p>
          <a:p>
            <a:pPr marL="960438" lvl="1" indent="-331788" eaLnBrk="1" hangingPunct="1"/>
            <a:r>
              <a:rPr lang="en-US" dirty="0" smtClean="0"/>
              <a:t>Need organization’s DUNS Number to complete this step</a:t>
            </a:r>
          </a:p>
          <a:p>
            <a:pPr marL="960438" lvl="1" indent="-331788" eaLnBrk="1" hangingPunct="1"/>
            <a:r>
              <a:rPr lang="en-US" dirty="0" smtClean="0"/>
              <a:t>Create your username and password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B6E2BE5-6731-4452-8F0A-34B407D9D793}" type="slidenum">
              <a:rPr lang="en-US" b="0" smtClean="0"/>
              <a:pPr eaLnBrk="1" hangingPunct="1"/>
              <a:t>13</a:t>
            </a:fld>
            <a:endParaRPr lang="en-US" b="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smtClean="0"/>
              <a:t>Register with Grants.gov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31175" cy="4708525"/>
          </a:xfrm>
        </p:spPr>
        <p:txBody>
          <a:bodyPr/>
          <a:lstStyle/>
          <a:p>
            <a:pPr marL="44450" indent="0"/>
            <a:r>
              <a:rPr lang="en-US" sz="2800" smtClean="0"/>
              <a:t>Step 4: AOR Authorization by E-Biz POC</a:t>
            </a:r>
          </a:p>
          <a:p>
            <a:pPr marL="44450" indent="0"/>
            <a:r>
              <a:rPr lang="en-US" sz="1800" smtClean="0"/>
              <a:t>	</a:t>
            </a:r>
            <a:endParaRPr lang="en-US" smtClean="0"/>
          </a:p>
          <a:p>
            <a:pPr marL="960438" lvl="1" indent="-331788" eaLnBrk="1" hangingPunct="1"/>
            <a:r>
              <a:rPr lang="en-US" smtClean="0"/>
              <a:t>The E-Business Point of Contact (E-Biz POC) at your organization must login to Grants.gov to confirm you as an Authorized Organization Representative (AOR)</a:t>
            </a:r>
          </a:p>
          <a:p>
            <a:pPr marL="960438" lvl="1" indent="-331788" eaLnBrk="1" hangingPunct="1"/>
            <a:r>
              <a:rPr lang="en-US" smtClean="0"/>
              <a:t>There can be more than one AOR for your organization</a:t>
            </a:r>
          </a:p>
          <a:p>
            <a:pPr marL="960438" lvl="1" indent="-331788" eaLnBrk="1" hangingPunct="1"/>
            <a:r>
              <a:rPr lang="en-US" smtClean="0"/>
              <a:t>In some cases the E-Biz POC is also the AOR for an organization</a:t>
            </a:r>
            <a:endParaRPr lang="en-US" sz="20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F528596-100B-4A18-823D-77815879F0F4}" type="slidenum">
              <a:rPr lang="en-US" b="0" smtClean="0"/>
              <a:pPr eaLnBrk="1" hangingPunct="1"/>
              <a:t>14</a:t>
            </a:fld>
            <a:endParaRPr lang="en-US" b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Prepare Proposal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2105025"/>
            <a:ext cx="8359775" cy="4170363"/>
          </a:xfrm>
        </p:spPr>
        <p:txBody>
          <a:bodyPr/>
          <a:lstStyle/>
          <a:p>
            <a:pPr marL="400050" indent="-400050" algn="ctr" eaLnBrk="1" hangingPunct="1"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While the Grants.gov registration process </a:t>
            </a:r>
          </a:p>
          <a:p>
            <a:pPr marL="400050" indent="-400050" algn="ctr" eaLnBrk="1" hangingPunct="1"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is being completed</a:t>
            </a:r>
          </a:p>
          <a:p>
            <a:pPr marL="400050" indent="-400050" algn="ctr" eaLnBrk="1" hangingPunct="1"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you can prepare your NSDI CAP proposal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mtClean="0"/>
              <a:t>Prepare Proposal</a:t>
            </a:r>
            <a:endParaRPr lang="en-US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317B0C9-C315-4546-B410-10E6329C58AE}" type="slidenum">
              <a:rPr lang="en-US" b="0" smtClean="0"/>
              <a:pPr eaLnBrk="1" hangingPunct="1"/>
              <a:t>15</a:t>
            </a:fld>
            <a:endParaRPr lang="en-US" b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85825" y="1566863"/>
            <a:ext cx="8097838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79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5pPr>
            <a:lvl6pPr marL="25146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6pPr>
            <a:lvl7pPr marL="29718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7pPr>
            <a:lvl8pPr marL="34290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8pPr>
            <a:lvl9pPr marL="38862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182563" indent="-182563" eaLnBrk="1" hangingPunct="1">
              <a:defRPr/>
            </a:pPr>
            <a:r>
              <a:rPr lang="en-US" sz="2800" dirty="0" smtClean="0"/>
              <a:t>Steps for Preparing and Submitting Proposal on Grants.gov</a:t>
            </a:r>
          </a:p>
          <a:p>
            <a:pPr marL="502920" indent="-457200">
              <a:buFont typeface="+mj-lt"/>
              <a:buAutoNum type="arabicParenR"/>
              <a:defRPr/>
            </a:pPr>
            <a:r>
              <a:rPr lang="en-US" sz="2400" b="0" dirty="0" smtClean="0"/>
              <a:t>Download Application Package</a:t>
            </a:r>
          </a:p>
          <a:p>
            <a:pPr marL="502920" indent="-457200">
              <a:buFont typeface="+mj-lt"/>
              <a:buAutoNum type="arabicParenR"/>
              <a:defRPr/>
            </a:pPr>
            <a:r>
              <a:rPr lang="en-US" sz="2400" b="0" dirty="0" smtClean="0"/>
              <a:t>Complete the Application Package</a:t>
            </a:r>
          </a:p>
          <a:p>
            <a:pPr marL="502920" indent="-457200">
              <a:buFont typeface="+mj-lt"/>
              <a:buAutoNum type="arabicParenR"/>
              <a:defRPr/>
            </a:pPr>
            <a:r>
              <a:rPr lang="en-US" sz="2400" b="0" dirty="0" smtClean="0"/>
              <a:t>Submit the Completed Application Package</a:t>
            </a:r>
          </a:p>
          <a:p>
            <a:pPr marL="502920" indent="-457200">
              <a:buFont typeface="+mj-lt"/>
              <a:buAutoNum type="arabicParenR"/>
              <a:defRPr/>
            </a:pPr>
            <a:r>
              <a:rPr lang="en-US" sz="2400" b="0" dirty="0" smtClean="0"/>
              <a:t>Track the Status of a Submitted Application Package</a:t>
            </a:r>
          </a:p>
          <a:p>
            <a:pPr marL="502920" indent="-457200">
              <a:buFont typeface="+mj-lt"/>
              <a:buAutoNum type="arabicParenR"/>
              <a:defRPr/>
            </a:pPr>
            <a:endParaRPr lang="en-US" sz="600" dirty="0" smtClean="0"/>
          </a:p>
          <a:p>
            <a:pPr marL="0" indent="-160338">
              <a:defRPr/>
            </a:pPr>
            <a:r>
              <a:rPr lang="en-US" sz="2000" dirty="0" smtClean="0"/>
              <a:t>Information at 	</a:t>
            </a:r>
            <a:r>
              <a:rPr lang="en-US" sz="2000" dirty="0" smtClean="0">
                <a:hlinkClick r:id="rId3"/>
              </a:rPr>
              <a:t>http://www.grants.gov/applicants/apply_for_grants.jsp</a:t>
            </a:r>
            <a:endParaRPr lang="en-US" sz="800" dirty="0" smtClean="0"/>
          </a:p>
          <a:p>
            <a:pPr marL="182563" indent="-182563" eaLnBrk="1" hangingPunct="1">
              <a:defRPr/>
            </a:pPr>
            <a:r>
              <a:rPr lang="en-US" sz="700" dirty="0" smtClean="0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93CDBF9-FC9A-4EB8-832B-690FFDA3BF01}" type="slidenum">
              <a:rPr lang="en-US" b="0" smtClean="0"/>
              <a:pPr eaLnBrk="1" hangingPunct="1"/>
              <a:t>16</a:t>
            </a:fld>
            <a:endParaRPr lang="en-US" b="0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Prepare Proposal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400050" indent="-400050" eaLnBrk="1" hangingPunct="1"/>
            <a:r>
              <a:rPr lang="en-US" sz="2800" smtClean="0"/>
              <a:t>Step 1: Download the NSDI CAP Application Package from Grants.gov</a:t>
            </a:r>
          </a:p>
          <a:p>
            <a:pPr marL="857250" lvl="1" eaLnBrk="1" hangingPunct="1">
              <a:buFontTx/>
              <a:buNone/>
            </a:pPr>
            <a:r>
              <a:rPr lang="en-US" smtClean="0"/>
              <a:t>Downloading a grant application package allows you to complete it offline and route it through your organization for review before submitting</a:t>
            </a:r>
          </a:p>
          <a:p>
            <a:pPr marL="857250" lvl="1" eaLnBrk="1" hangingPunct="1"/>
            <a:r>
              <a:rPr lang="en-US" sz="2200" smtClean="0"/>
              <a:t>Download the application package from:</a:t>
            </a:r>
            <a:br>
              <a:rPr lang="en-US" sz="2200" smtClean="0"/>
            </a:br>
            <a:r>
              <a:rPr lang="en-US" sz="2000" smtClean="0">
                <a:hlinkClick r:id="rId3"/>
              </a:rPr>
              <a:t>http://www.grants.gov/applicants/apply_for_grants.jsp</a:t>
            </a:r>
            <a:endParaRPr lang="en-US" sz="2000" smtClean="0"/>
          </a:p>
          <a:p>
            <a:pPr marL="857250" lvl="1" eaLnBrk="1" hangingPunct="1"/>
            <a:r>
              <a:rPr lang="en-US" sz="2200" smtClean="0"/>
              <a:t>Provide the CFDA Number, ‘</a:t>
            </a:r>
            <a:r>
              <a:rPr lang="en-US" sz="2200" b="1" smtClean="0"/>
              <a:t>15.809</a:t>
            </a:r>
            <a:r>
              <a:rPr lang="en-US" sz="2200" smtClean="0"/>
              <a:t>’ to access the NSDI CAP application package</a:t>
            </a:r>
            <a:r>
              <a:rPr lang="en-US" sz="260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4C53E87-6F11-4E44-8A48-98EE55C3BB34}" type="slidenum">
              <a:rPr lang="en-US" b="0" smtClean="0"/>
              <a:pPr eaLnBrk="1" hangingPunct="1"/>
              <a:t>17</a:t>
            </a:fld>
            <a:endParaRPr lang="en-US" b="0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Prepare Proposal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400050" indent="-400050" eaLnBrk="1" hangingPunct="1"/>
            <a:r>
              <a:rPr lang="en-US" sz="2800" smtClean="0"/>
              <a:t>Step 2: Complete the NSDI CAP Application Package</a:t>
            </a:r>
            <a:endParaRPr lang="en-US" smtClean="0"/>
          </a:p>
          <a:p>
            <a:pPr marL="857250" lvl="1" eaLnBrk="1" hangingPunct="1">
              <a:buFontTx/>
              <a:buNone/>
            </a:pPr>
            <a:r>
              <a:rPr lang="en-US" smtClean="0"/>
              <a:t>Complete the application on your own computer</a:t>
            </a:r>
          </a:p>
          <a:p>
            <a:pPr marL="857250" lvl="1" eaLnBrk="1" hangingPunct="1"/>
            <a:r>
              <a:rPr lang="en-US" sz="2200" smtClean="0"/>
              <a:t>Instructions on how to open and use the forms in the package are on the application package cover sheet</a:t>
            </a:r>
          </a:p>
          <a:p>
            <a:pPr marL="857250" lvl="1" eaLnBrk="1" hangingPunct="1"/>
            <a:r>
              <a:rPr lang="en-US" sz="2200" smtClean="0"/>
              <a:t>Edits to your application are saved locally </a:t>
            </a:r>
          </a:p>
          <a:p>
            <a:pPr marL="857250" lvl="1" eaLnBrk="1" hangingPunct="1"/>
            <a:r>
              <a:rPr lang="en-US" sz="2200" smtClean="0"/>
              <a:t>The package cannot be submitted until all required fields have been completed</a:t>
            </a:r>
          </a:p>
          <a:p>
            <a:pPr marL="857250" lvl="1" eaLnBrk="1" hangingPunct="1"/>
            <a:r>
              <a:rPr lang="en-US" sz="2200" smtClean="0"/>
              <a:t>A narrated tutorial on how to complete a grant application package is provided at:</a:t>
            </a:r>
            <a:br>
              <a:rPr lang="en-US" sz="2200" smtClean="0"/>
            </a:br>
            <a:r>
              <a:rPr lang="en-US" sz="2200" smtClean="0"/>
              <a:t> </a:t>
            </a:r>
            <a:r>
              <a:rPr lang="en-US" sz="2000" smtClean="0">
                <a:hlinkClick r:id="rId3"/>
              </a:rPr>
              <a:t>http://www.grants.gov/applicants/apply_for_grants.jsp</a:t>
            </a:r>
            <a:endParaRPr lang="en-US" sz="2000" smtClean="0"/>
          </a:p>
          <a:p>
            <a:pPr marL="857250" lvl="1" eaLnBrk="1" hangingPunct="1"/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A3A690-99C8-4101-AAC0-D282BE6BE2AD}" type="slidenum">
              <a:rPr lang="en-US" b="0" smtClean="0"/>
              <a:pPr eaLnBrk="1" hangingPunct="1"/>
              <a:t>18</a:t>
            </a:fld>
            <a:endParaRPr lang="en-US" b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514350" lvl="1" indent="0" eaLnBrk="1" hangingPunct="1">
              <a:buFontTx/>
              <a:buNone/>
            </a:pPr>
            <a:endParaRPr lang="en-US" sz="2000" smtClean="0"/>
          </a:p>
        </p:txBody>
      </p:sp>
      <p:pic>
        <p:nvPicPr>
          <p:cNvPr id="21508" name="Picture 2" descr="U:\NSDI CAP\Webinar\ApplicationCover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5" y="115888"/>
            <a:ext cx="7859713" cy="674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9656" y="812800"/>
            <a:ext cx="5080045" cy="46166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Example Application Cover Sheet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6D115F-3D9C-4CE6-A463-488865B27B67}" type="slidenum">
              <a:rPr lang="en-US" b="0" smtClean="0"/>
              <a:pPr eaLnBrk="1" hangingPunct="1"/>
              <a:t>19</a:t>
            </a:fld>
            <a:endParaRPr lang="en-US" b="0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Prepare Proposal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41450"/>
            <a:ext cx="83820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Summary of </a:t>
            </a:r>
            <a:r>
              <a:rPr lang="en-US" sz="2800" u="sng" dirty="0" smtClean="0"/>
              <a:t>Required</a:t>
            </a:r>
            <a:r>
              <a:rPr lang="en-US" sz="2800" dirty="0" smtClean="0"/>
              <a:t> Proposal Components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Application for Federal Assistance - SF 424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Budget Information - SF 424A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Assurances – SF 424B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Project Narrative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Budget Breakdown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Negotiated Rate Agreement for State and university applicants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Other category-specific requirements as specified in the CAP announcement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14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u="sng" dirty="0" smtClean="0"/>
              <a:t>Format for submittal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Adobe Acrobat (.</a:t>
            </a:r>
            <a:r>
              <a:rPr lang="en-US" dirty="0" err="1" smtClean="0"/>
              <a:t>pdf</a:t>
            </a:r>
            <a:r>
              <a:rPr lang="en-US" dirty="0" smtClean="0"/>
              <a:t>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6158AE0-99DA-42E5-AFD1-47E703522B37}" type="slidenum">
              <a:rPr lang="en-US" b="0" smtClean="0"/>
              <a:pPr eaLnBrk="1" hangingPunct="1"/>
              <a:t>20</a:t>
            </a:fld>
            <a:endParaRPr lang="en-US" b="0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Components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3820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Summary of </a:t>
            </a:r>
            <a:r>
              <a:rPr lang="en-US" sz="2800" u="sng" dirty="0" smtClean="0"/>
              <a:t>Optional</a:t>
            </a:r>
            <a:r>
              <a:rPr lang="en-US" sz="2800" dirty="0" smtClean="0"/>
              <a:t> Components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Letters of Support  or Participation</a:t>
            </a:r>
            <a:endParaRPr lang="en-US" sz="22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Related Reports</a:t>
            </a:r>
          </a:p>
          <a:p>
            <a:pPr lvl="1"/>
            <a:r>
              <a:rPr lang="en-US" dirty="0"/>
              <a:t>Documents that affirm leadership role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Memoranda of Understanding or other formal agreements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Project personnel resumes or Curriculum Vitae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endParaRPr lang="en-US" sz="1000" u="sng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u="sng" dirty="0" smtClean="0"/>
              <a:t>Format for submittal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Adobe Acrobat (.</a:t>
            </a:r>
            <a:r>
              <a:rPr lang="en-US" dirty="0" err="1" smtClean="0"/>
              <a:t>pdf</a:t>
            </a:r>
            <a:r>
              <a:rPr lang="en-US" dirty="0" smtClean="0"/>
              <a:t>)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Tagged Image File Format (.</a:t>
            </a:r>
            <a:r>
              <a:rPr lang="en-US" dirty="0" err="1" smtClean="0"/>
              <a:t>tif</a:t>
            </a:r>
            <a:r>
              <a:rPr lang="en-US" dirty="0" smtClean="0"/>
              <a:t>) or other scanned document format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8E89149-8B3E-4BF7-950F-095045C2B03A}" type="slidenum">
              <a:rPr lang="en-US" b="0" smtClean="0"/>
              <a:pPr eaLnBrk="1" hangingPunct="1"/>
              <a:t>21</a:t>
            </a:fld>
            <a:endParaRPr lang="en-US" b="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153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Application for Federal Assistance SF-424</a:t>
            </a:r>
          </a:p>
          <a:p>
            <a:pPr marL="342900" lvl="1" indent="0"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The core government-wide standard forms for grant application packages</a:t>
            </a:r>
          </a:p>
          <a:p>
            <a:pPr marL="342900" lvl="1" indent="0" eaLnBrk="1" hangingPunct="1">
              <a:lnSpc>
                <a:spcPct val="90000"/>
              </a:lnSpc>
            </a:pPr>
            <a:r>
              <a:rPr lang="en-US" dirty="0" smtClean="0"/>
              <a:t> SF424 Core Form</a:t>
            </a:r>
          </a:p>
          <a:p>
            <a:pPr marL="857250"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A general information page that documents the:</a:t>
            </a:r>
          </a:p>
          <a:p>
            <a:pPr marL="857250" lvl="2" eaLnBrk="1" hangingPunct="1"/>
            <a:r>
              <a:rPr lang="en-US" dirty="0" smtClean="0"/>
              <a:t>contact information for submitting organization </a:t>
            </a:r>
          </a:p>
          <a:p>
            <a:pPr marL="857250" lvl="2" eaLnBrk="1" hangingPunct="1"/>
            <a:r>
              <a:rPr lang="en-US" dirty="0" smtClean="0"/>
              <a:t>CAP category to which the proposal is submitted</a:t>
            </a:r>
          </a:p>
          <a:p>
            <a:pPr marL="857250" lvl="2" eaLnBrk="1" hangingPunct="1"/>
            <a:r>
              <a:rPr lang="en-US" dirty="0" smtClean="0"/>
              <a:t>project title</a:t>
            </a:r>
          </a:p>
          <a:p>
            <a:pPr marL="857250" lvl="2" eaLnBrk="1" hangingPunct="1"/>
            <a:r>
              <a:rPr lang="en-US" dirty="0" smtClean="0"/>
              <a:t>project duration</a:t>
            </a:r>
          </a:p>
          <a:p>
            <a:pPr marL="857250" lvl="2" eaLnBrk="1" hangingPunct="1"/>
            <a:r>
              <a:rPr lang="en-US" dirty="0" smtClean="0"/>
              <a:t>geographic impact of the project</a:t>
            </a:r>
          </a:p>
          <a:p>
            <a:pPr marL="857250" lvl="2" eaLnBrk="1" hangingPunct="1"/>
            <a:r>
              <a:rPr lang="en-US" dirty="0" smtClean="0"/>
              <a:t>amount of funding requested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61997E1-6B76-4413-A78B-D49D49FF73D3}" type="slidenum">
              <a:rPr lang="en-US" b="0" smtClean="0"/>
              <a:pPr eaLnBrk="1" hangingPunct="1"/>
              <a:t>22</a:t>
            </a:fld>
            <a:endParaRPr lang="en-US" b="0" smtClean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153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Application for Federal Assistance SF-424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SF424 Core Form (cont’d)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Once registered at Grants.gov much of the required information automatically loads into the form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Item 8f: </a:t>
            </a:r>
            <a:r>
              <a:rPr lang="en-US" i="1" smtClean="0"/>
              <a:t>Name and Contact Information</a:t>
            </a:r>
          </a:p>
          <a:p>
            <a:pPr marL="1371600" lvl="3" indent="0" eaLnBrk="1" hangingPunct="1">
              <a:lnSpc>
                <a:spcPct val="90000"/>
              </a:lnSpc>
              <a:buFontTx/>
              <a:buNone/>
            </a:pPr>
            <a:r>
              <a:rPr lang="en-US" sz="1800" smtClean="0"/>
              <a:t>provide information for the NSDI CAP project lead, </a:t>
            </a:r>
            <a:r>
              <a:rPr lang="en-US" sz="1800" smtClean="0">
                <a:solidFill>
                  <a:srgbClr val="FF0000"/>
                </a:solidFill>
              </a:rPr>
              <a:t>all project correspondence will go to this person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Item 15: </a:t>
            </a:r>
            <a:r>
              <a:rPr lang="en-US" i="1" smtClean="0"/>
              <a:t>Descriptive Title of Applicants Project</a:t>
            </a:r>
            <a:r>
              <a:rPr lang="en-US" smtClean="0"/>
              <a:t> </a:t>
            </a:r>
          </a:p>
          <a:p>
            <a:pPr marL="1371600" lvl="3" indent="0" eaLnBrk="1" hangingPunct="1">
              <a:lnSpc>
                <a:spcPct val="90000"/>
              </a:lnSpc>
              <a:buFontTx/>
              <a:buNone/>
            </a:pPr>
            <a:r>
              <a:rPr lang="en-US" sz="1800" smtClean="0"/>
              <a:t>be sure to preface your project title with the NSDI CAP Category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Item 17: </a:t>
            </a:r>
            <a:r>
              <a:rPr lang="en-US" i="1" smtClean="0"/>
              <a:t>Proposed Project</a:t>
            </a:r>
          </a:p>
          <a:p>
            <a:pPr marL="1371600" lvl="3" indent="0" eaLnBrk="1" hangingPunct="1">
              <a:lnSpc>
                <a:spcPct val="90000"/>
              </a:lnSpc>
              <a:buFontTx/>
              <a:buNone/>
            </a:pPr>
            <a:r>
              <a:rPr lang="en-US" sz="1800" smtClean="0"/>
              <a:t>the start and end date can be modified after the award is granted, sometimes this is to accommodate the CAP orientation workshop but grant period should not exceed one year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A7A8404-B8AA-4BD8-B917-7BFF00A8ADDD}" type="slidenum">
              <a:rPr lang="en-US" b="0" smtClean="0"/>
              <a:pPr eaLnBrk="1" hangingPunct="1"/>
              <a:t>23</a:t>
            </a:fld>
            <a:endParaRPr lang="en-US" b="0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153400" cy="4659313"/>
          </a:xfrm>
        </p:spPr>
        <p:txBody>
          <a:bodyPr/>
          <a:lstStyle/>
          <a:p>
            <a:pPr eaLnBrk="1" hangingPunct="1"/>
            <a:r>
              <a:rPr lang="en-US" sz="2400" dirty="0" smtClean="0"/>
              <a:t>Application for Federal Assistance SF-424</a:t>
            </a:r>
            <a:endParaRPr lang="en-US" sz="2800" dirty="0" smtClean="0"/>
          </a:p>
          <a:p>
            <a:pPr lvl="1" eaLnBrk="1" hangingPunct="1"/>
            <a:r>
              <a:rPr lang="en-US" sz="2000" dirty="0" smtClean="0"/>
              <a:t>SF424-A: Budget Information Non-Construction Programs</a:t>
            </a:r>
            <a:br>
              <a:rPr lang="en-US" sz="2000" dirty="0" smtClean="0"/>
            </a:br>
            <a:r>
              <a:rPr lang="en-US" sz="2000" dirty="0" smtClean="0"/>
              <a:t>A summary of the project budget by:</a:t>
            </a:r>
          </a:p>
          <a:p>
            <a:pPr marL="971550" lvl="2" indent="-171450" eaLnBrk="1" hangingPunct="1"/>
            <a:r>
              <a:rPr lang="en-US" sz="2000" dirty="0" smtClean="0"/>
              <a:t>tasks</a:t>
            </a:r>
          </a:p>
          <a:p>
            <a:pPr marL="971550" lvl="2" indent="-171450" eaLnBrk="1" hangingPunct="1"/>
            <a:r>
              <a:rPr lang="en-US" sz="2000" dirty="0" smtClean="0"/>
              <a:t>expense categories (salary, travel, supplies, etc.)</a:t>
            </a:r>
          </a:p>
          <a:p>
            <a:pPr marL="971550" lvl="2" indent="-171450" eaLnBrk="1" hangingPunct="1"/>
            <a:r>
              <a:rPr lang="en-US" sz="2000" dirty="0" smtClean="0"/>
              <a:t>In Column 1 - cost category allocation of federal funds</a:t>
            </a:r>
          </a:p>
          <a:p>
            <a:pPr marL="971550" lvl="2" indent="-171450" eaLnBrk="1" hangingPunct="1"/>
            <a:r>
              <a:rPr lang="en-US" sz="2000" dirty="0" smtClean="0"/>
              <a:t>In Column 2 - cost category allocation of applicant in-kind match</a:t>
            </a:r>
          </a:p>
          <a:p>
            <a:pPr marL="971550" lvl="2" indent="-171450" eaLnBrk="1" hangingPunct="1"/>
            <a:r>
              <a:rPr lang="en-US" sz="2000" dirty="0" smtClean="0"/>
              <a:t>This is addition to the detailed Budget Breakdown document</a:t>
            </a:r>
          </a:p>
          <a:p>
            <a:pPr marL="971550" lvl="2" indent="-171450" eaLnBrk="1" hangingPunct="1">
              <a:buFont typeface="Wingdings" pitchFamily="2" charset="2"/>
              <a:buNone/>
            </a:pPr>
            <a:endParaRPr lang="en-US" dirty="0" smtClean="0"/>
          </a:p>
          <a:p>
            <a:pPr lvl="1" eaLnBrk="1" hangingPunct="1"/>
            <a:r>
              <a:rPr lang="en-US" sz="2000" dirty="0" smtClean="0"/>
              <a:t>SF424-B: Assurances Non-Construction Programs</a:t>
            </a:r>
            <a:br>
              <a:rPr lang="en-US" sz="2000" dirty="0" smtClean="0"/>
            </a:br>
            <a:r>
              <a:rPr lang="en-US" sz="2000" dirty="0" smtClean="0"/>
              <a:t>A listing of varied assurances that the applicant must make with regard to eligibility for funding and compliance with federal laws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AFC960C-48A2-498B-9027-F949F189579F}" type="slidenum">
              <a:rPr lang="en-US" b="0" smtClean="0"/>
              <a:pPr eaLnBrk="1" hangingPunct="1"/>
              <a:t>24</a:t>
            </a:fld>
            <a:endParaRPr lang="en-US" b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93825"/>
            <a:ext cx="8382000" cy="5065713"/>
          </a:xfrm>
        </p:spPr>
        <p:txBody>
          <a:bodyPr/>
          <a:lstStyle/>
          <a:p>
            <a:pPr eaLnBrk="1" hangingPunct="1"/>
            <a:r>
              <a:rPr lang="en-US" sz="2800" dirty="0" smtClean="0"/>
              <a:t>Project Narrative</a:t>
            </a:r>
          </a:p>
          <a:p>
            <a:pPr marL="628650" lvl="1" indent="-285750" eaLnBrk="1" hangingPunct="1">
              <a:buFontTx/>
              <a:buNone/>
            </a:pPr>
            <a:r>
              <a:rPr lang="en-US" dirty="0" smtClean="0"/>
              <a:t>A brief (max. 5 page, about 3000 words) project description </a:t>
            </a:r>
          </a:p>
          <a:p>
            <a:pPr marL="628650" lvl="1" indent="-285750" eaLnBrk="1" hangingPunct="1"/>
            <a:r>
              <a:rPr lang="en-US" sz="2200" dirty="0" smtClean="0"/>
              <a:t>Primary document evaluated by the review panel</a:t>
            </a:r>
          </a:p>
          <a:p>
            <a:pPr marL="628650" lvl="1" indent="-285750" eaLnBrk="1" hangingPunct="1"/>
            <a:r>
              <a:rPr lang="en-US" sz="2200" dirty="0" smtClean="0"/>
              <a:t>Exact content specified for each CAP Category but generally includes: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project scope 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expected benefits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technical approach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deliverables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project and/or NSDI-related experience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commitment to effort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organizational capacity and resources</a:t>
            </a:r>
          </a:p>
          <a:p>
            <a:pPr marL="971550" lvl="2" eaLnBrk="1" hangingPunct="1">
              <a:lnSpc>
                <a:spcPct val="90000"/>
              </a:lnSpc>
            </a:pPr>
            <a:r>
              <a:rPr lang="en-US" sz="1800" dirty="0" smtClean="0"/>
              <a:t>budget breakdown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001C6DC-C1A0-4279-B26D-526177228367}" type="slidenum">
              <a:rPr lang="en-US" b="0" smtClean="0"/>
              <a:pPr eaLnBrk="1" hangingPunct="1"/>
              <a:t>25</a:t>
            </a:fld>
            <a:endParaRPr lang="en-US" b="0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382000" cy="4876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sz="2800" smtClean="0"/>
              <a:t>Budget Breakdown</a:t>
            </a:r>
          </a:p>
          <a:p>
            <a:pPr marL="0" indent="0" eaLnBrk="1" hangingPunct="1">
              <a:lnSpc>
                <a:spcPct val="90000"/>
              </a:lnSpc>
            </a:pPr>
            <a:endParaRPr lang="en-US" sz="2800" smtClean="0"/>
          </a:p>
          <a:p>
            <a:pPr marL="114300" lvl="1" indent="0" eaLnBrk="1" hangingPunct="1">
              <a:lnSpc>
                <a:spcPct val="90000"/>
              </a:lnSpc>
              <a:buFontTx/>
              <a:buNone/>
            </a:pPr>
            <a:r>
              <a:rPr lang="en-US" smtClean="0"/>
              <a:t>An explanation of the specific individuals, events and/or materials that are supported by the following SF 4242-A</a:t>
            </a:r>
          </a:p>
          <a:p>
            <a:pPr marL="114300" lvl="1" indent="0" eaLnBrk="1" hangingPunct="1">
              <a:lnSpc>
                <a:spcPct val="90000"/>
              </a:lnSpc>
              <a:buFontTx/>
              <a:buNone/>
            </a:pPr>
            <a:endParaRPr lang="en-US" smtClean="0"/>
          </a:p>
          <a:p>
            <a:pPr marL="114300" lvl="1" indent="0" eaLnBrk="1" hangingPunct="1">
              <a:lnSpc>
                <a:spcPct val="90000"/>
              </a:lnSpc>
              <a:buFontTx/>
              <a:buNone/>
            </a:pPr>
            <a:r>
              <a:rPr lang="en-US" smtClean="0"/>
              <a:t>This expands on the information provided in the SF-424A and is required if the proposal is awarded</a:t>
            </a:r>
            <a:endParaRPr lang="en-US" sz="2500" smtClean="0"/>
          </a:p>
          <a:p>
            <a:pPr marL="914400" lvl="2" indent="-342900" eaLnBrk="1" hangingPunct="1">
              <a:lnSpc>
                <a:spcPct val="90000"/>
              </a:lnSpc>
              <a:buFontTx/>
              <a:buBlip>
                <a:blip r:embed="rId3"/>
              </a:buBlip>
            </a:pPr>
            <a:endParaRPr lang="en-US" sz="800" b="1" smtClean="0">
              <a:solidFill>
                <a:schemeClr val="accent2"/>
              </a:solidFill>
            </a:endParaRPr>
          </a:p>
          <a:p>
            <a:pPr marL="0" indent="0" algn="ctr" eaLnBrk="1" hangingPunct="1">
              <a:lnSpc>
                <a:spcPct val="90000"/>
              </a:lnSpc>
            </a:pPr>
            <a:r>
              <a:rPr lang="en-US" sz="2300" b="1" smtClean="0">
                <a:solidFill>
                  <a:schemeClr val="accent2"/>
                </a:solidFill>
              </a:rPr>
              <a:t>See the CAP Announcement for budget breakdown details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3E5DD74-7A44-4EA4-B447-193F31D17AC7}" type="slidenum">
              <a:rPr lang="en-US" b="0" smtClean="0"/>
              <a:pPr eaLnBrk="1" hangingPunct="1"/>
              <a:t>26</a:t>
            </a:fld>
            <a:endParaRPr lang="en-US" b="0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382000" cy="47307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en-US" sz="2800" dirty="0" smtClean="0"/>
              <a:t>Budget Breakdown (</a:t>
            </a:r>
            <a:r>
              <a:rPr lang="en-US" sz="2800" dirty="0" err="1" smtClean="0"/>
              <a:t>con’t</a:t>
            </a:r>
            <a:r>
              <a:rPr lang="en-US" sz="2800" dirty="0" smtClean="0"/>
              <a:t>)</a:t>
            </a:r>
          </a:p>
          <a:p>
            <a:pPr marL="114300" lvl="1" indent="0" eaLnBrk="1" hangingPunct="1">
              <a:lnSpc>
                <a:spcPct val="90000"/>
              </a:lnSpc>
              <a:buFontTx/>
              <a:buNone/>
              <a:defRPr/>
            </a:pPr>
            <a:endParaRPr lang="en-US" sz="800" dirty="0" smtClean="0"/>
          </a:p>
          <a:p>
            <a:pPr marL="1143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Budget Items:</a:t>
            </a:r>
          </a:p>
          <a:p>
            <a:pPr marL="914400" lvl="2" indent="-342900" eaLnBrk="1" hangingPunct="1">
              <a:lnSpc>
                <a:spcPct val="80000"/>
              </a:lnSpc>
              <a:buFontTx/>
              <a:buBlip>
                <a:blip r:embed="rId3"/>
              </a:buBlip>
              <a:defRPr/>
            </a:pPr>
            <a:r>
              <a:rPr lang="en-US" sz="2400" dirty="0" smtClean="0"/>
              <a:t>Salaries and wages</a:t>
            </a:r>
          </a:p>
          <a:p>
            <a:pPr marL="914400" lvl="2" indent="-342900" eaLnBrk="1" hangingPunct="1">
              <a:lnSpc>
                <a:spcPct val="80000"/>
              </a:lnSpc>
              <a:buFontTx/>
              <a:buBlip>
                <a:blip r:embed="rId3"/>
              </a:buBlip>
              <a:defRPr/>
            </a:pPr>
            <a:r>
              <a:rPr lang="en-US" sz="2400" dirty="0" smtClean="0"/>
              <a:t>Travel/field expenses</a:t>
            </a:r>
          </a:p>
          <a:p>
            <a:pPr marL="914400" lvl="2" indent="-342900" eaLnBrk="1" hangingPunct="1">
              <a:lnSpc>
                <a:spcPct val="80000"/>
              </a:lnSpc>
              <a:buFontTx/>
              <a:buBlip>
                <a:blip r:embed="rId3"/>
              </a:buBlip>
              <a:defRPr/>
            </a:pPr>
            <a:r>
              <a:rPr lang="en-US" sz="2400" dirty="0" smtClean="0"/>
              <a:t>Other direct costs such as</a:t>
            </a:r>
            <a:r>
              <a:rPr lang="en-US" dirty="0" smtClean="0"/>
              <a:t>:</a:t>
            </a:r>
          </a:p>
          <a:p>
            <a:pPr marL="1485900" lvl="3" indent="-457200" eaLnBrk="1" hangingPunct="1"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en-US" sz="2200" dirty="0" smtClean="0"/>
              <a:t>supplies</a:t>
            </a:r>
          </a:p>
          <a:p>
            <a:pPr marL="1485900" lvl="3" indent="-457200" eaLnBrk="1" hangingPunct="1"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en-US" sz="2200" dirty="0" smtClean="0"/>
              <a:t>equipment</a:t>
            </a:r>
          </a:p>
          <a:p>
            <a:pPr marL="1485900" lvl="3" indent="-457200" eaLnBrk="1" hangingPunct="1"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en-US" sz="2200" dirty="0" smtClean="0"/>
              <a:t>contracted services</a:t>
            </a:r>
          </a:p>
          <a:p>
            <a:pPr marL="914400" lvl="2" indent="-342900" eaLnBrk="1" hangingPunct="1">
              <a:lnSpc>
                <a:spcPct val="80000"/>
              </a:lnSpc>
              <a:buFontTx/>
              <a:buBlip>
                <a:blip r:embed="rId3"/>
              </a:buBlip>
              <a:defRPr/>
            </a:pPr>
            <a:r>
              <a:rPr lang="en-US" sz="2400" dirty="0" smtClean="0"/>
              <a:t>Indirect / overhead charges</a:t>
            </a:r>
          </a:p>
          <a:p>
            <a:pPr marL="114300" lvl="1" indent="0" algn="r" eaLnBrk="1" hangingPunct="1">
              <a:lnSpc>
                <a:spcPct val="80000"/>
              </a:lnSpc>
              <a:buFontTx/>
              <a:buNone/>
              <a:defRPr/>
            </a:pPr>
            <a:endParaRPr lang="en-US" sz="2600" dirty="0" smtClean="0"/>
          </a:p>
          <a:p>
            <a:pPr marL="114300" lvl="1" indent="0" algn="r" eaLnBrk="1" hangingPunct="1">
              <a:lnSpc>
                <a:spcPct val="80000"/>
              </a:lnSpc>
              <a:buFontTx/>
              <a:buNone/>
              <a:defRPr/>
            </a:pPr>
            <a:r>
              <a:rPr lang="en-US" sz="2600" i="1" dirty="0" smtClean="0">
                <a:solidFill>
                  <a:schemeClr val="accent6">
                    <a:lumMod val="75000"/>
                  </a:schemeClr>
                </a:solidFill>
              </a:rPr>
              <a:t>Example of a Budget Breakdown is in the 2013 CAP announcement</a:t>
            </a:r>
            <a:endParaRPr lang="en-US" sz="1800" b="1" i="1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E29E82-D8C6-4212-9E53-BC7DC8EE4AAD}" type="slidenum">
              <a:rPr lang="en-US" b="0" smtClean="0"/>
              <a:pPr eaLnBrk="1" hangingPunct="1"/>
              <a:t>27</a:t>
            </a:fld>
            <a:endParaRPr lang="en-US" b="0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382000" cy="47307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sz="2800" smtClean="0"/>
              <a:t>Budget Breakdown (con’t)</a:t>
            </a:r>
          </a:p>
          <a:p>
            <a:pPr marL="114300" lvl="1" indent="0" eaLnBrk="1" hangingPunct="1">
              <a:lnSpc>
                <a:spcPct val="90000"/>
              </a:lnSpc>
              <a:buFontTx/>
              <a:buNone/>
            </a:pPr>
            <a:endParaRPr lang="en-US" sz="800" smtClean="0"/>
          </a:p>
          <a:p>
            <a:pPr marL="914400" lvl="2" indent="-342900" eaLnBrk="1" hangingPunct="1">
              <a:lnSpc>
                <a:spcPct val="80000"/>
              </a:lnSpc>
              <a:buFont typeface="Wingdings" pitchFamily="2" charset="2"/>
              <a:buBlip>
                <a:blip r:embed="rId3"/>
              </a:buBlip>
            </a:pPr>
            <a:r>
              <a:rPr lang="en-US" sz="2400" smtClean="0"/>
              <a:t>Itemize the costs to the greatest extent possible</a:t>
            </a:r>
          </a:p>
          <a:p>
            <a:pPr marL="914400" lvl="2" indent="-342900" eaLnBrk="1" hangingPunct="1">
              <a:lnSpc>
                <a:spcPct val="80000"/>
              </a:lnSpc>
              <a:buFontTx/>
              <a:buBlip>
                <a:blip r:embed="rId3"/>
              </a:buBlip>
            </a:pPr>
            <a:r>
              <a:rPr lang="en-US" sz="2400" smtClean="0"/>
              <a:t>Travel expenses need to be justified </a:t>
            </a:r>
          </a:p>
          <a:p>
            <a:pPr marL="1371600" lvl="3" indent="-342900" eaLnBrk="1" hangingPunct="1">
              <a:lnSpc>
                <a:spcPct val="80000"/>
              </a:lnSpc>
              <a:buFontTx/>
              <a:buBlip>
                <a:blip r:embed="rId3"/>
              </a:buBlip>
            </a:pPr>
            <a:r>
              <a:rPr lang="en-US" smtClean="0"/>
              <a:t>Examples:</a:t>
            </a:r>
          </a:p>
          <a:p>
            <a:pPr marL="1828800" lvl="4" indent="-342900" eaLnBrk="1" hangingPunct="1">
              <a:lnSpc>
                <a:spcPct val="80000"/>
              </a:lnSpc>
              <a:buFont typeface="Arial" charset="0"/>
              <a:buChar char="•"/>
            </a:pPr>
            <a:r>
              <a:rPr lang="en-US" smtClean="0"/>
              <a:t>Give presentation on the project at a conference</a:t>
            </a:r>
          </a:p>
          <a:p>
            <a:pPr marL="1828800" lvl="4" indent="-342900" eaLnBrk="1" hangingPunct="1">
              <a:lnSpc>
                <a:spcPct val="80000"/>
              </a:lnSpc>
              <a:buFont typeface="Arial" charset="0"/>
              <a:buChar char="•"/>
            </a:pPr>
            <a:r>
              <a:rPr lang="en-US" smtClean="0"/>
              <a:t>Attend training</a:t>
            </a:r>
          </a:p>
          <a:p>
            <a:pPr marL="914400" lvl="2" indent="-342900" eaLnBrk="1" hangingPunct="1">
              <a:lnSpc>
                <a:spcPct val="80000"/>
              </a:lnSpc>
              <a:buFont typeface="Wingdings" pitchFamily="2" charset="2"/>
              <a:buBlip>
                <a:blip r:embed="rId3"/>
              </a:buBlip>
            </a:pPr>
            <a:r>
              <a:rPr lang="en-US" sz="2400" smtClean="0"/>
              <a:t>For contractual services provide the criteria by which contractors will be or have been selected. </a:t>
            </a:r>
          </a:p>
          <a:p>
            <a:pPr marL="914400" lvl="2" indent="-342900" eaLnBrk="1" hangingPunct="1">
              <a:lnSpc>
                <a:spcPct val="80000"/>
              </a:lnSpc>
              <a:buFont typeface="Wingdings" pitchFamily="2" charset="2"/>
              <a:buBlip>
                <a:blip r:embed="rId3"/>
              </a:buBlip>
            </a:pPr>
            <a:r>
              <a:rPr lang="en-US" sz="2400" smtClean="0"/>
              <a:t>If purchasing hardware, software, or supplies these need to be dedicated to the project</a:t>
            </a:r>
          </a:p>
          <a:p>
            <a:pPr marL="914400" lvl="2" indent="-342900" eaLnBrk="1" hangingPunct="1">
              <a:lnSpc>
                <a:spcPct val="80000"/>
              </a:lnSpc>
              <a:buFont typeface="Wingdings" pitchFamily="2" charset="2"/>
              <a:buBlip>
                <a:blip r:embed="rId3"/>
              </a:buBlip>
            </a:pPr>
            <a:endParaRPr lang="en-US" sz="2400" smtClean="0"/>
          </a:p>
          <a:p>
            <a:pPr marL="114300" lvl="1" indent="0" algn="r" eaLnBrk="1" hangingPunct="1">
              <a:lnSpc>
                <a:spcPct val="80000"/>
              </a:lnSpc>
              <a:buClr>
                <a:srgbClr val="333399"/>
              </a:buClr>
              <a:buFontTx/>
              <a:buNone/>
            </a:pPr>
            <a:r>
              <a:rPr lang="en-US" sz="2600" i="1" smtClean="0">
                <a:solidFill>
                  <a:srgbClr val="222268"/>
                </a:solidFill>
              </a:rPr>
              <a:t>Example of a Budget Breakdown is in the 2013 CAP announcement</a:t>
            </a:r>
            <a:endParaRPr lang="en-US" sz="1800" b="1" i="1" smtClean="0">
              <a:solidFill>
                <a:srgbClr val="333399"/>
              </a:solidFill>
            </a:endParaRPr>
          </a:p>
          <a:p>
            <a:pPr marL="914400" lvl="2" indent="-342900" eaLnBrk="1" hangingPunct="1">
              <a:lnSpc>
                <a:spcPct val="80000"/>
              </a:lnSpc>
              <a:buFont typeface="Wingdings" pitchFamily="2" charset="2"/>
              <a:buBlip>
                <a:blip r:embed="rId3"/>
              </a:buBlip>
            </a:pPr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FA1547F-D316-4435-8631-8CD14C02D503}" type="slidenum">
              <a:rPr lang="en-US" b="0" smtClean="0"/>
              <a:pPr eaLnBrk="1" hangingPunct="1"/>
              <a:t>28</a:t>
            </a:fld>
            <a:endParaRPr lang="en-US" b="0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153400" cy="4724400"/>
          </a:xfrm>
        </p:spPr>
        <p:txBody>
          <a:bodyPr/>
          <a:lstStyle/>
          <a:p>
            <a:pPr eaLnBrk="1" hangingPunct="1"/>
            <a:r>
              <a:rPr lang="en-US" sz="2800" smtClean="0"/>
              <a:t>Budget Restrictions</a:t>
            </a:r>
            <a:endParaRPr lang="en-US" smtClean="0"/>
          </a:p>
          <a:p>
            <a:pPr marL="342900" lvl="1" indent="0" eaLnBrk="1" hangingPunct="1">
              <a:buFontTx/>
              <a:buNone/>
            </a:pPr>
            <a:r>
              <a:rPr lang="en-US" smtClean="0"/>
              <a:t>Individual CAP Categories may exclude or limit the use of funds for expenditures such as:</a:t>
            </a:r>
          </a:p>
          <a:p>
            <a:pPr marL="971550" lvl="2" indent="-342900" eaLnBrk="1" hangingPunct="1">
              <a:buFontTx/>
              <a:buChar char="•"/>
            </a:pPr>
            <a:r>
              <a:rPr lang="en-US" smtClean="0"/>
              <a:t>Data collection</a:t>
            </a:r>
          </a:p>
          <a:p>
            <a:pPr marL="971550" lvl="2" indent="-342900" eaLnBrk="1" hangingPunct="1">
              <a:buFontTx/>
              <a:buChar char="•"/>
            </a:pPr>
            <a:r>
              <a:rPr lang="en-US" smtClean="0"/>
              <a:t>Data purchase</a:t>
            </a:r>
          </a:p>
          <a:p>
            <a:pPr marL="971550" lvl="2" indent="-342900" eaLnBrk="1" hangingPunct="1">
              <a:buFontTx/>
              <a:buChar char="•"/>
            </a:pPr>
            <a:r>
              <a:rPr lang="en-US" smtClean="0"/>
              <a:t>Hardware purchase</a:t>
            </a:r>
          </a:p>
          <a:p>
            <a:pPr marL="971550" lvl="2" indent="-342900" eaLnBrk="1" hangingPunct="1">
              <a:buFontTx/>
              <a:buChar char="•"/>
            </a:pPr>
            <a:r>
              <a:rPr lang="en-US" smtClean="0"/>
              <a:t>Software purchase</a:t>
            </a:r>
          </a:p>
          <a:p>
            <a:pPr marL="971550" lvl="2" indent="-342900" eaLnBrk="1" hangingPunct="1">
              <a:buFontTx/>
              <a:buChar char="•"/>
            </a:pPr>
            <a:r>
              <a:rPr lang="en-US" smtClean="0"/>
              <a:t>Contractor support</a:t>
            </a:r>
          </a:p>
          <a:p>
            <a:pPr marL="342900" lvl="1" indent="0" eaLnBrk="1" hangingPunct="1"/>
            <a:endParaRPr lang="en-US" sz="2200" smtClean="0"/>
          </a:p>
          <a:p>
            <a:pPr marL="342900" lvl="1" indent="0" algn="ctr" eaLnBrk="1" hangingPunct="1">
              <a:buFontTx/>
              <a:buNone/>
            </a:pPr>
            <a:r>
              <a:rPr lang="en-US" b="1" smtClean="0">
                <a:solidFill>
                  <a:schemeClr val="accent2"/>
                </a:solidFill>
              </a:rPr>
              <a:t>Read the CAP Announcement carefully to determine funding restrictions that may apply to your project</a:t>
            </a:r>
            <a:endParaRPr lang="en-US" sz="2500" b="1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603777-9433-4FE4-95AF-4D78F6B725E3}" type="slidenum">
              <a:rPr lang="en-US" b="0" smtClean="0"/>
              <a:pPr eaLnBrk="1" hangingPunct="1"/>
              <a:t>29</a:t>
            </a:fld>
            <a:endParaRPr lang="en-US" b="0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43050"/>
            <a:ext cx="8153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In-kind Resource Match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Requirement varies for each category and ranges between 30% to 50%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Funding commonly used as In-kind Match:</a:t>
            </a: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salaries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funds from non-federal contributors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hardware and/or software dedicated to the project</a:t>
            </a: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indirect costs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Funding that cannot be used as In-kind Match:</a:t>
            </a: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funding from other federal agencies </a:t>
            </a: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value of geospatial data holdings (some exceptions)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</a:pPr>
            <a:endParaRPr lang="en-US" sz="800" smtClean="0"/>
          </a:p>
          <a:p>
            <a:pPr algn="ctr" eaLnBrk="1" hangingPunct="1">
              <a:lnSpc>
                <a:spcPct val="90000"/>
              </a:lnSpc>
            </a:pPr>
            <a:r>
              <a:rPr lang="en-US" sz="2400" b="1" smtClean="0">
                <a:solidFill>
                  <a:schemeClr val="accent2"/>
                </a:solidFill>
              </a:rPr>
              <a:t>Read the CAP Announcement carefully to determine the In-kind Match requirements specific your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F66E476-3169-482E-B466-F5227F4B8610}" type="slidenum">
              <a:rPr lang="en-US" b="0" smtClean="0"/>
              <a:pPr eaLnBrk="1" hangingPunct="1"/>
              <a:t>30</a:t>
            </a:fld>
            <a:endParaRPr lang="en-US" b="0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Required Proposal Components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49375"/>
            <a:ext cx="8153400" cy="507047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Category-specific Requirements</a:t>
            </a:r>
            <a:endParaRPr lang="en-US" dirty="0" smtClean="0"/>
          </a:p>
          <a:p>
            <a:pPr marL="628650" lvl="1" indent="-285750" eaLnBrk="1" hangingPunct="1">
              <a:buFontTx/>
              <a:buNone/>
              <a:defRPr/>
            </a:pPr>
            <a:r>
              <a:rPr lang="en-US" dirty="0" smtClean="0"/>
              <a:t>Each CAP Category may require specific proposal components. For example:</a:t>
            </a:r>
          </a:p>
          <a:p>
            <a:pPr marL="628650" lvl="1" indent="-285750" eaLnBrk="1" hangingPunct="1">
              <a:defRPr/>
            </a:pPr>
            <a:r>
              <a:rPr lang="en-US" sz="2000" i="1" dirty="0" smtClean="0"/>
              <a:t>Category 4: </a:t>
            </a:r>
            <a:r>
              <a:rPr lang="en-US" sz="2000" i="1" dirty="0"/>
              <a:t>Fifty States Initiative: Business Plan Development and </a:t>
            </a:r>
            <a:r>
              <a:rPr lang="en-US" sz="2000" i="1" dirty="0" smtClean="0"/>
              <a:t>Implementation </a:t>
            </a:r>
            <a:r>
              <a:rPr lang="en-US" sz="2000" dirty="0" smtClean="0"/>
              <a:t>is not open to institutions that have received a Category 4 CAP award in 2011 or 2012</a:t>
            </a:r>
          </a:p>
          <a:p>
            <a:pPr marL="628650" lvl="1" indent="-285750" eaLnBrk="1" hangingPunct="1">
              <a:defRPr/>
            </a:pPr>
            <a:r>
              <a:rPr lang="en-US" sz="2000" i="1" dirty="0"/>
              <a:t>Category </a:t>
            </a:r>
            <a:r>
              <a:rPr lang="en-US" sz="2000" i="1" dirty="0" smtClean="0"/>
              <a:t>7: </a:t>
            </a:r>
            <a:r>
              <a:rPr lang="en-US" sz="2000" i="1" dirty="0"/>
              <a:t>Geospatial Platform Cloud Service Test-bed </a:t>
            </a:r>
            <a:r>
              <a:rPr lang="en-US" sz="2000" dirty="0" smtClean="0"/>
              <a:t>is </a:t>
            </a:r>
            <a:r>
              <a:rPr lang="en-US" sz="2000" dirty="0"/>
              <a:t>not open to institutions that have received a Category </a:t>
            </a:r>
            <a:r>
              <a:rPr lang="en-US" sz="2000" dirty="0" smtClean="0"/>
              <a:t>7 </a:t>
            </a:r>
            <a:r>
              <a:rPr lang="en-US" sz="2000" dirty="0"/>
              <a:t>CAP award in </a:t>
            </a:r>
            <a:r>
              <a:rPr lang="en-US" sz="2000" dirty="0" smtClean="0"/>
              <a:t>2012</a:t>
            </a:r>
          </a:p>
          <a:p>
            <a:pPr marL="628650" lvl="1" indent="-285750" eaLnBrk="1" hangingPunct="1">
              <a:buFont typeface="Symbol" pitchFamily="18" charset="2"/>
              <a:buBlip>
                <a:blip r:embed="rId3"/>
              </a:buBlip>
              <a:defRPr/>
            </a:pPr>
            <a:r>
              <a:rPr lang="en-US" sz="2000" dirty="0" smtClean="0"/>
              <a:t>State Geospatial Strategic Plan</a:t>
            </a:r>
          </a:p>
          <a:p>
            <a:pPr marL="628650" lvl="1" indent="-285750" eaLnBrk="1" hangingPunct="1">
              <a:buFont typeface="Symbol" pitchFamily="18" charset="2"/>
              <a:buBlip>
                <a:blip r:embed="rId3"/>
              </a:buBlip>
              <a:defRPr/>
            </a:pPr>
            <a:r>
              <a:rPr lang="en-US" sz="2000" dirty="0" smtClean="0"/>
              <a:t>Letters of Support or Participation</a:t>
            </a:r>
          </a:p>
          <a:p>
            <a:pPr marL="628650" lvl="1" indent="-285750" eaLnBrk="1" hangingPunct="1">
              <a:buFont typeface="Symbol" pitchFamily="18" charset="2"/>
              <a:buBlip>
                <a:blip r:embed="rId3"/>
              </a:buBlip>
              <a:defRPr/>
            </a:pPr>
            <a:r>
              <a:rPr lang="en-US" sz="2000" dirty="0" smtClean="0"/>
              <a:t>Negotiated Rate Agreement for state and university applicants</a:t>
            </a:r>
          </a:p>
          <a:p>
            <a:pPr marL="342900" lvl="1" indent="0" eaLnBrk="1" hangingPunct="1">
              <a:buFontTx/>
              <a:buNone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C2ADE19-BA25-4031-B018-101F6E2855F4}" type="slidenum">
              <a:rPr lang="en-US" b="0" smtClean="0"/>
              <a:pPr eaLnBrk="1" hangingPunct="1"/>
              <a:t>31</a:t>
            </a:fld>
            <a:endParaRPr lang="en-US" b="0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Optional Proposal Components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04950"/>
            <a:ext cx="8134350" cy="4876800"/>
          </a:xfrm>
        </p:spPr>
        <p:txBody>
          <a:bodyPr/>
          <a:lstStyle/>
          <a:p>
            <a:pPr eaLnBrk="1" hangingPunct="1"/>
            <a:r>
              <a:rPr lang="en-US" sz="2800" smtClean="0"/>
              <a:t>Optional Proposal Components</a:t>
            </a:r>
          </a:p>
          <a:p>
            <a:pPr lvl="1" eaLnBrk="1" hangingPunct="1"/>
            <a:r>
              <a:rPr lang="en-US" smtClean="0"/>
              <a:t>Letters of Support/Commitment</a:t>
            </a:r>
          </a:p>
          <a:p>
            <a:pPr lvl="2" eaLnBrk="1" hangingPunct="1"/>
            <a:r>
              <a:rPr lang="en-US" smtClean="0"/>
              <a:t>from collaborators and/or project stakeholders</a:t>
            </a:r>
          </a:p>
          <a:p>
            <a:pPr lvl="2" eaLnBrk="1" hangingPunct="1"/>
            <a:r>
              <a:rPr lang="en-US" smtClean="0"/>
              <a:t>may be </a:t>
            </a:r>
            <a:r>
              <a:rPr lang="en-US" b="1" smtClean="0">
                <a:solidFill>
                  <a:srgbClr val="FF0000"/>
                </a:solidFill>
              </a:rPr>
              <a:t>required</a:t>
            </a:r>
            <a:r>
              <a:rPr lang="en-US" smtClean="0">
                <a:solidFill>
                  <a:srgbClr val="FF0000"/>
                </a:solidFill>
              </a:rPr>
              <a:t> </a:t>
            </a:r>
            <a:r>
              <a:rPr lang="en-US" smtClean="0"/>
              <a:t>for Categories focused on partnership and collaboration </a:t>
            </a:r>
          </a:p>
          <a:p>
            <a:pPr lvl="2" eaLnBrk="1" hangingPunct="1"/>
            <a:r>
              <a:rPr lang="en-US" smtClean="0"/>
              <a:t>Federal employees </a:t>
            </a:r>
            <a:r>
              <a:rPr lang="en-US" b="1" smtClean="0"/>
              <a:t>cannot</a:t>
            </a:r>
            <a:r>
              <a:rPr lang="en-US" smtClean="0"/>
              <a:t> provide letters</a:t>
            </a:r>
          </a:p>
          <a:p>
            <a:pPr lvl="1" eaLnBrk="1" hangingPunct="1"/>
            <a:r>
              <a:rPr lang="en-US" smtClean="0"/>
              <a:t>Related Reports</a:t>
            </a:r>
            <a:endParaRPr lang="en-US" sz="800" u="sng" smtClean="0"/>
          </a:p>
          <a:p>
            <a:pPr lvl="2" eaLnBrk="1" hangingPunct="1"/>
            <a:r>
              <a:rPr lang="en-US" smtClean="0"/>
              <a:t>related project summaries that exhibit capabilities and capacity</a:t>
            </a:r>
          </a:p>
          <a:p>
            <a:pPr lvl="2" eaLnBrk="1" hangingPunct="1"/>
            <a:r>
              <a:rPr lang="en-US" smtClean="0"/>
              <a:t>annual reports that demonstrate engagement in the NSDI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AB8BAA5-8C80-456F-BD90-E1D870783C63}" type="slidenum">
              <a:rPr lang="en-US" b="0" smtClean="0"/>
              <a:pPr eaLnBrk="1" hangingPunct="1"/>
              <a:t>32</a:t>
            </a:fld>
            <a:endParaRPr lang="en-US" b="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Optional Proposal Components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04950"/>
            <a:ext cx="8382000" cy="4876800"/>
          </a:xfrm>
        </p:spPr>
        <p:txBody>
          <a:bodyPr/>
          <a:lstStyle/>
          <a:p>
            <a:pPr eaLnBrk="1" hangingPunct="1"/>
            <a:r>
              <a:rPr lang="en-US" sz="2800" smtClean="0"/>
              <a:t>Optional Proposal Components</a:t>
            </a:r>
          </a:p>
          <a:p>
            <a:pPr lvl="1" eaLnBrk="1" hangingPunct="1"/>
            <a:r>
              <a:rPr lang="en-US" smtClean="0"/>
              <a:t>Other supporting documents</a:t>
            </a:r>
            <a:endParaRPr lang="en-US" sz="800" u="sng" smtClean="0"/>
          </a:p>
          <a:p>
            <a:pPr lvl="2" eaLnBrk="1" hangingPunct="1"/>
            <a:r>
              <a:rPr lang="en-US" smtClean="0"/>
              <a:t>organizational documents that affirm leadership role</a:t>
            </a:r>
          </a:p>
          <a:p>
            <a:pPr lvl="2" eaLnBrk="1" hangingPunct="1"/>
            <a:r>
              <a:rPr lang="en-US" smtClean="0"/>
              <a:t>items that support statements made in the Project Narrative</a:t>
            </a:r>
          </a:p>
          <a:p>
            <a:pPr lvl="1" eaLnBrk="1" hangingPunct="1"/>
            <a:r>
              <a:rPr lang="en-US" smtClean="0"/>
              <a:t>Project personnel resumes or Curriculum Vitae</a:t>
            </a:r>
          </a:p>
          <a:p>
            <a:pPr lvl="2" eaLnBrk="1" hangingPunct="1"/>
            <a:r>
              <a:rPr lang="en-US" smtClean="0"/>
              <a:t>Principal Investigator</a:t>
            </a:r>
          </a:p>
          <a:p>
            <a:pPr lvl="2" eaLnBrk="1" hangingPunct="1"/>
            <a:r>
              <a:rPr lang="en-US" smtClean="0"/>
              <a:t>key technical personnel</a:t>
            </a:r>
          </a:p>
          <a:p>
            <a:pPr lvl="2" eaLnBrk="1" hangingPunct="1"/>
            <a:r>
              <a:rPr lang="en-US" smtClean="0"/>
              <a:t>consultants (if allowed by the category)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504B71-070C-4C44-B4F5-03B3F339A9F8}" type="slidenum">
              <a:rPr lang="en-US" b="0" smtClean="0"/>
              <a:pPr eaLnBrk="1" hangingPunct="1"/>
              <a:t>33</a:t>
            </a:fld>
            <a:endParaRPr lang="en-US" b="0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Prepare Proposal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32000"/>
            <a:ext cx="7815263" cy="4387850"/>
          </a:xfrm>
        </p:spPr>
        <p:txBody>
          <a:bodyPr/>
          <a:lstStyle/>
          <a:p>
            <a:pPr lvl="1"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Remember to read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the CAP Announcement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carefully to determine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the application requirements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specific your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BB2880A-2CEA-49E4-9E55-EB5224148528}" type="slidenum">
              <a:rPr lang="en-US" b="0" smtClean="0"/>
              <a:pPr eaLnBrk="1" hangingPunct="1"/>
              <a:t>34</a:t>
            </a:fld>
            <a:endParaRPr lang="en-US" b="0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Help with Proposals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47813"/>
            <a:ext cx="8359775" cy="4708525"/>
          </a:xfrm>
        </p:spPr>
        <p:txBody>
          <a:bodyPr/>
          <a:lstStyle/>
          <a:p>
            <a:pPr marL="533400" indent="-533400" eaLnBrk="1" hangingPunct="1"/>
            <a:r>
              <a:rPr lang="en-US" sz="2800" smtClean="0"/>
              <a:t>Topic Development and Collaborative Resources</a:t>
            </a:r>
          </a:p>
          <a:p>
            <a:pPr marL="677863" lvl="1" indent="-381000" eaLnBrk="1" hangingPunct="1"/>
            <a:r>
              <a:rPr lang="en-US" sz="2000" smtClean="0"/>
              <a:t>Contact your regional USGS Geospatial Liaisons at: </a:t>
            </a:r>
            <a:r>
              <a:rPr lang="en-US" sz="2000" smtClean="0">
                <a:hlinkClick r:id="rId3"/>
              </a:rPr>
              <a:t>http://liaisons.usgs.gov/geospatial</a:t>
            </a:r>
            <a:endParaRPr lang="en-US" sz="2000" smtClean="0"/>
          </a:p>
          <a:p>
            <a:pPr marL="677863" lvl="1" indent="-381000" eaLnBrk="1" hangingPunct="1"/>
            <a:r>
              <a:rPr lang="en-US" sz="2000" smtClean="0"/>
              <a:t>Review reports from past CAP recipients available from: </a:t>
            </a:r>
            <a:r>
              <a:rPr lang="en-US" sz="2000" smtClean="0">
                <a:hlinkClick r:id="rId4"/>
              </a:rPr>
              <a:t>http://www.fgdc.gov/grants</a:t>
            </a:r>
            <a:r>
              <a:rPr lang="en-US" sz="2000" smtClean="0"/>
              <a:t> </a:t>
            </a:r>
          </a:p>
          <a:p>
            <a:pPr marL="677863" lvl="1" indent="-381000" eaLnBrk="1" hangingPunct="1"/>
            <a:r>
              <a:rPr lang="en-US" sz="2000" smtClean="0"/>
              <a:t>Contact the CAP Coordinator or CAP Category Lead identified in the CAP Announcement</a:t>
            </a:r>
          </a:p>
          <a:p>
            <a:pPr marL="677863" lvl="1" indent="-381000" eaLnBrk="1" hangingPunct="1"/>
            <a:r>
              <a:rPr lang="en-US" sz="2000" smtClean="0"/>
              <a:t>Review a successful, past proposal by: </a:t>
            </a:r>
          </a:p>
          <a:p>
            <a:pPr marL="1295400" lvl="2" indent="-381000" eaLnBrk="1" hangingPunct="1"/>
            <a:r>
              <a:rPr lang="en-US" sz="2000" smtClean="0"/>
              <a:t>sending a formal request for the proposal information via the FOIA office (</a:t>
            </a:r>
            <a:r>
              <a:rPr lang="en-US" sz="2000" smtClean="0">
                <a:hlinkClick r:id="rId5"/>
              </a:rPr>
              <a:t>http://www.usgs.gov/foia/index.html</a:t>
            </a:r>
            <a:r>
              <a:rPr lang="en-US" sz="2000" smtClean="0"/>
              <a:t>), or </a:t>
            </a:r>
          </a:p>
          <a:p>
            <a:pPr marL="1295400" lvl="2" indent="-381000" eaLnBrk="1" hangingPunct="1"/>
            <a:r>
              <a:rPr lang="en-US" sz="2000" smtClean="0"/>
              <a:t>sending an informal request to the CAP Coordinator who will request permission from the submitting organization to share the document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F57BF71-671A-44CA-8C34-6126C41BD7A3}" type="slidenum">
              <a:rPr lang="en-US" b="0" smtClean="0"/>
              <a:pPr eaLnBrk="1" hangingPunct="1"/>
              <a:t>35</a:t>
            </a:fld>
            <a:endParaRPr lang="en-US" b="0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Prepare Proposal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938" y="1465263"/>
            <a:ext cx="8359775" cy="4708525"/>
          </a:xfrm>
        </p:spPr>
        <p:txBody>
          <a:bodyPr/>
          <a:lstStyle/>
          <a:p>
            <a:pPr marL="400050" indent="-400050" eaLnBrk="1" hangingPunct="1"/>
            <a:r>
              <a:rPr lang="en-US" sz="2800" dirty="0" smtClean="0"/>
              <a:t>Step 3: Submit the Completed NSDI CAP Application Package</a:t>
            </a:r>
            <a:endParaRPr lang="en-US" dirty="0" smtClean="0"/>
          </a:p>
          <a:p>
            <a:pPr marL="857250" lvl="1" eaLnBrk="1" hangingPunct="1"/>
            <a:r>
              <a:rPr lang="en-US" sz="2000" dirty="0" smtClean="0"/>
              <a:t>This cannot be done until the Grants.gov registration process has been completed </a:t>
            </a:r>
          </a:p>
          <a:p>
            <a:pPr marL="857250" lvl="1" eaLnBrk="1" hangingPunct="1"/>
            <a:r>
              <a:rPr lang="en-US" sz="2000" dirty="0" smtClean="0"/>
              <a:t>The AOR (Authorized Organization Representative) does this step</a:t>
            </a:r>
          </a:p>
          <a:p>
            <a:pPr marL="857250" lvl="1" eaLnBrk="1" hangingPunct="1"/>
            <a:r>
              <a:rPr lang="en-US" sz="2000" dirty="0" smtClean="0"/>
              <a:t>The AOR could be you, the E-Biz POC, or someone else in your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F57BF71-671A-44CA-8C34-6126C41BD7A3}" type="slidenum">
              <a:rPr lang="en-US" b="0" smtClean="0"/>
              <a:pPr eaLnBrk="1" hangingPunct="1"/>
              <a:t>36</a:t>
            </a:fld>
            <a:endParaRPr lang="en-US" b="0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Prepare Proposal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938" y="1465263"/>
            <a:ext cx="8359775" cy="4708525"/>
          </a:xfrm>
        </p:spPr>
        <p:txBody>
          <a:bodyPr/>
          <a:lstStyle/>
          <a:p>
            <a:pPr marL="400050" indent="-400050" eaLnBrk="1" hangingPunct="1"/>
            <a:r>
              <a:rPr lang="en-US" sz="2800" dirty="0" smtClean="0"/>
              <a:t>Step 3: Submit the Completed NSDI CAP Application Package (</a:t>
            </a:r>
            <a:r>
              <a:rPr lang="en-US" sz="2800" dirty="0" err="1" smtClean="0"/>
              <a:t>con’t</a:t>
            </a:r>
            <a:r>
              <a:rPr lang="en-US" sz="2800" dirty="0" smtClean="0"/>
              <a:t>)</a:t>
            </a:r>
            <a:endParaRPr lang="en-US" dirty="0" smtClean="0"/>
          </a:p>
          <a:p>
            <a:pPr marL="857250" lvl="1" eaLnBrk="1" hangingPunct="1"/>
            <a:r>
              <a:rPr lang="en-US" sz="2000" dirty="0" smtClean="0"/>
              <a:t>Click the submit button located at the top of the application package cover page. It will not be active until you have: </a:t>
            </a:r>
          </a:p>
          <a:p>
            <a:pPr marL="1314450" lvl="2" eaLnBrk="1" hangingPunct="1"/>
            <a:r>
              <a:rPr lang="en-US" sz="1800" dirty="0" smtClean="0"/>
              <a:t>completed all required forms </a:t>
            </a:r>
          </a:p>
          <a:p>
            <a:pPr marL="1314450" lvl="2" eaLnBrk="1" hangingPunct="1"/>
            <a:r>
              <a:rPr lang="en-US" sz="1800" dirty="0" smtClean="0"/>
              <a:t>attached all required documents </a:t>
            </a:r>
          </a:p>
          <a:p>
            <a:pPr marL="1314450" lvl="2" eaLnBrk="1" hangingPunct="1"/>
            <a:r>
              <a:rPr lang="en-US" sz="1800" dirty="0" smtClean="0"/>
              <a:t>saved your application package</a:t>
            </a:r>
            <a:r>
              <a:rPr lang="en-US" sz="2000" dirty="0" smtClean="0"/>
              <a:t> </a:t>
            </a:r>
          </a:p>
          <a:p>
            <a:pPr marL="857250" lvl="1" eaLnBrk="1" hangingPunct="1"/>
            <a:r>
              <a:rPr lang="en-US" sz="2000" dirty="0" smtClean="0"/>
              <a:t>Log in to Grants.gov using your AOR username and password</a:t>
            </a:r>
          </a:p>
          <a:p>
            <a:pPr marL="857250" lvl="1" eaLnBrk="1" hangingPunct="1"/>
            <a:r>
              <a:rPr lang="en-US" sz="2000" dirty="0" smtClean="0"/>
              <a:t>Click the "Sign and Submit" button on the summary page</a:t>
            </a:r>
          </a:p>
          <a:p>
            <a:pPr marL="857250" lvl="1" eaLnBrk="1" hangingPunct="1"/>
            <a:r>
              <a:rPr lang="en-US" sz="2000" dirty="0" smtClean="0"/>
              <a:t>A Grants.gov tracking number will be provided at the bottom of this screen, as well as the submission's official date and time - </a:t>
            </a:r>
            <a:r>
              <a:rPr lang="en-US" sz="2000" i="1" dirty="0" smtClean="0">
                <a:solidFill>
                  <a:srgbClr val="FF0000"/>
                </a:solidFill>
              </a:rPr>
              <a:t>record the tracking number</a:t>
            </a:r>
            <a:endParaRPr lang="en-US" sz="2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28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CC4BE1D-ACC1-4634-A3D8-F0FB488B0373}" type="slidenum">
              <a:rPr lang="en-US" b="0" smtClean="0"/>
              <a:pPr eaLnBrk="1" hangingPunct="1"/>
              <a:t>37</a:t>
            </a:fld>
            <a:endParaRPr lang="en-US" b="0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Prepare Proposal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938" y="1465263"/>
            <a:ext cx="8359775" cy="4708525"/>
          </a:xfrm>
        </p:spPr>
        <p:txBody>
          <a:bodyPr/>
          <a:lstStyle/>
          <a:p>
            <a:pPr marL="400050" indent="-400050" eaLnBrk="1" hangingPunct="1"/>
            <a:r>
              <a:rPr lang="en-US" sz="2800" smtClean="0"/>
              <a:t>Step 4: Track the Status of a Submitted Application Package</a:t>
            </a:r>
            <a:endParaRPr lang="en-US" smtClean="0"/>
          </a:p>
          <a:p>
            <a:pPr marL="857250" lvl="1" eaLnBrk="1" hangingPunct="1"/>
            <a:r>
              <a:rPr lang="en-US" sz="2000" smtClean="0"/>
              <a:t>Once your application has been submitted, you can check the status on the Track My Application</a:t>
            </a:r>
          </a:p>
          <a:p>
            <a:pPr marL="1314450" lvl="2" eaLnBrk="1" hangingPunct="1"/>
            <a:r>
              <a:rPr lang="en-US" sz="1800" smtClean="0">
                <a:hlinkClick r:id="rId3"/>
              </a:rPr>
              <a:t>https://apply07.grants.gov/apply/checkApplStatus.faces</a:t>
            </a:r>
            <a:endParaRPr lang="en-US" sz="1800" smtClean="0"/>
          </a:p>
          <a:p>
            <a:pPr marL="857250" lvl="1" eaLnBrk="1" hangingPunct="1"/>
            <a:r>
              <a:rPr lang="en-US" sz="2000" smtClean="0"/>
              <a:t>You can identify your application by</a:t>
            </a:r>
          </a:p>
          <a:p>
            <a:pPr marL="1314450" lvl="2" eaLnBrk="1" hangingPunct="1"/>
            <a:r>
              <a:rPr lang="en-US" sz="1800" smtClean="0"/>
              <a:t>CFDA Number</a:t>
            </a:r>
          </a:p>
          <a:p>
            <a:pPr marL="1314450" lvl="2" eaLnBrk="1" hangingPunct="1"/>
            <a:r>
              <a:rPr lang="en-US" sz="1800" smtClean="0"/>
              <a:t>Funding Opportunity Number</a:t>
            </a:r>
          </a:p>
          <a:p>
            <a:pPr marL="1314450" lvl="2" eaLnBrk="1" hangingPunct="1"/>
            <a:r>
              <a:rPr lang="en-US" sz="1800" smtClean="0"/>
              <a:t>Competition ID</a:t>
            </a:r>
          </a:p>
          <a:p>
            <a:pPr marL="1314450" lvl="2" eaLnBrk="1" hangingPunct="1"/>
            <a:r>
              <a:rPr lang="en-US" sz="1800" smtClean="0"/>
              <a:t>Grants.gov Tracking Number</a:t>
            </a:r>
          </a:p>
          <a:p>
            <a:pPr marL="857250" lvl="1" eaLnBrk="1" hangingPunct="1"/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7D102E-5F91-4185-966B-9C7B646CFFB2}" type="slidenum">
              <a:rPr lang="en-US" b="0" smtClean="0"/>
              <a:pPr eaLnBrk="1" hangingPunct="1"/>
              <a:t>38</a:t>
            </a:fld>
            <a:endParaRPr lang="en-US" b="0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Submitting Multiple Proposals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84225" y="1422400"/>
            <a:ext cx="8359775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79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5pPr>
            <a:lvl6pPr marL="25146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6pPr>
            <a:lvl7pPr marL="29718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7pPr>
            <a:lvl8pPr marL="34290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8pPr>
            <a:lvl9pPr marL="3886200" indent="-279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ourier New" pitchFamily="49" charset="0"/>
              <a:buChar char="-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sz="2800" dirty="0" smtClean="0"/>
              <a:t>Organizations </a:t>
            </a:r>
            <a:r>
              <a:rPr lang="en-US" sz="2800" dirty="0"/>
              <a:t>may submit proposals for more than one </a:t>
            </a:r>
            <a:r>
              <a:rPr lang="en-US" sz="2800" dirty="0" smtClean="0"/>
              <a:t>category. </a:t>
            </a:r>
          </a:p>
          <a:p>
            <a:pPr>
              <a:defRPr/>
            </a:pPr>
            <a:endParaRPr lang="en-US" sz="1200" u="sng" dirty="0" smtClean="0"/>
          </a:p>
          <a:p>
            <a:pPr marL="692150" lvl="1" indent="-395288" eaLnBrk="1" hangingPunct="1">
              <a:buClr>
                <a:srgbClr val="333399"/>
              </a:buClr>
              <a:defRPr/>
            </a:pPr>
            <a:r>
              <a:rPr lang="en-US" b="0" kern="0" dirty="0" smtClean="0">
                <a:solidFill>
                  <a:srgbClr val="000000"/>
                </a:solidFill>
              </a:rPr>
              <a:t>A </a:t>
            </a:r>
            <a:r>
              <a:rPr lang="en-US" b="0" kern="0" dirty="0">
                <a:solidFill>
                  <a:srgbClr val="000000"/>
                </a:solidFill>
              </a:rPr>
              <a:t>complete and separate application package is required for each category submission</a:t>
            </a:r>
            <a:r>
              <a:rPr lang="en-US" b="0" kern="0" dirty="0" smtClean="0">
                <a:solidFill>
                  <a:srgbClr val="000000"/>
                </a:solidFill>
              </a:rPr>
              <a:t>. </a:t>
            </a:r>
          </a:p>
          <a:p>
            <a:pPr marL="692150" lvl="1" indent="-395288" eaLnBrk="1" hangingPunct="1">
              <a:buClr>
                <a:srgbClr val="333399"/>
              </a:buClr>
              <a:defRPr/>
            </a:pPr>
            <a:endParaRPr lang="en-US" b="0" kern="0" dirty="0" smtClean="0">
              <a:solidFill>
                <a:srgbClr val="000000"/>
              </a:solidFill>
            </a:endParaRPr>
          </a:p>
          <a:p>
            <a:pPr marL="692150" lvl="1" indent="-395288" eaLnBrk="1" hangingPunct="1">
              <a:buClr>
                <a:srgbClr val="333399"/>
              </a:buClr>
              <a:defRPr/>
            </a:pPr>
            <a:endParaRPr lang="en-US" b="0" dirty="0" smtClean="0"/>
          </a:p>
          <a:p>
            <a:pPr marL="514350" lvl="1" indent="0" eaLnBrk="1" hangingPunct="1">
              <a:buFontTx/>
              <a:buNone/>
              <a:defRPr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EC04F74-7CD2-4364-927A-771112FEEFA2}" type="slidenum">
              <a:rPr lang="en-US" b="0" smtClean="0"/>
              <a:pPr eaLnBrk="1" hangingPunct="1"/>
              <a:t>39</a:t>
            </a:fld>
            <a:endParaRPr lang="en-US" b="0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Selection Process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382000" cy="4876800"/>
          </a:xfrm>
        </p:spPr>
        <p:txBody>
          <a:bodyPr/>
          <a:lstStyle/>
          <a:p>
            <a:pPr marL="800100" lvl="1" indent="-457200" eaLnBrk="1" hangingPunct="1">
              <a:buFontTx/>
              <a:buAutoNum type="arabicPeriod"/>
            </a:pPr>
            <a:r>
              <a:rPr lang="en-US" smtClean="0"/>
              <a:t>CAP Coordinator and Category Leads review proposals to ensure compliance to all requirements </a:t>
            </a:r>
          </a:p>
          <a:p>
            <a:pPr marL="800100" lvl="1" indent="-457200" eaLnBrk="1" hangingPunct="1">
              <a:buFontTx/>
              <a:buAutoNum type="arabicPeriod"/>
            </a:pPr>
            <a:r>
              <a:rPr lang="en-US" smtClean="0"/>
              <a:t>Category Leads recruit individuals with Category-specific expertise to serve on Review Panels</a:t>
            </a:r>
          </a:p>
          <a:p>
            <a:pPr marL="800100" lvl="1" indent="-457200" eaLnBrk="1" hangingPunct="1">
              <a:buFontTx/>
              <a:buAutoNum type="arabicPeriod"/>
            </a:pPr>
            <a:r>
              <a:rPr lang="en-US" smtClean="0"/>
              <a:t>Compliant proposals are shared with Review Panel members</a:t>
            </a:r>
          </a:p>
          <a:p>
            <a:pPr marL="800100" lvl="1" indent="-457200" eaLnBrk="1" hangingPunct="1">
              <a:buFontTx/>
              <a:buAutoNum type="arabicPeriod"/>
            </a:pPr>
            <a:r>
              <a:rPr lang="en-US" smtClean="0"/>
              <a:t>Each Review Panel member reviews the assigned proposals individually using a provided score sheet</a:t>
            </a:r>
          </a:p>
          <a:p>
            <a:pPr marL="1333500" lvl="2" indent="-419100" eaLnBrk="1" hangingPunct="1"/>
            <a:r>
              <a:rPr lang="en-US" smtClean="0"/>
              <a:t>scoring is based on the exact criteria and point allotment specified in the CAP Announcement</a:t>
            </a:r>
          </a:p>
          <a:p>
            <a:pPr marL="1333500" lvl="2" indent="-419100" eaLnBrk="1" hangingPunct="1"/>
            <a:r>
              <a:rPr lang="en-US" smtClean="0"/>
              <a:t>completed score sheets are preserved so that the selection process can be revisited at any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3DEDF83-22D3-4489-A202-9CB3CF8F69D2}" type="slidenum">
              <a:rPr lang="en-US" b="0" smtClean="0"/>
              <a:pPr eaLnBrk="1" hangingPunct="1"/>
              <a:t>40</a:t>
            </a:fld>
            <a:endParaRPr lang="en-US" b="0" smtClean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Selection Process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382000" cy="4876800"/>
          </a:xfrm>
        </p:spPr>
        <p:txBody>
          <a:bodyPr/>
          <a:lstStyle/>
          <a:p>
            <a:pPr marL="800100" lvl="1" indent="-457200" eaLnBrk="1" hangingPunct="1"/>
            <a:r>
              <a:rPr lang="en-US" smtClean="0"/>
              <a:t>The panels meet either in person or via teleconference to discuss the proposals and their scores</a:t>
            </a:r>
          </a:p>
          <a:p>
            <a:pPr marL="800100" lvl="1" indent="-457200" eaLnBrk="1" hangingPunct="1"/>
            <a:r>
              <a:rPr lang="en-US" smtClean="0"/>
              <a:t>The Category Lead compiles all the reviews and scores and ranks the proposals</a:t>
            </a:r>
          </a:p>
          <a:p>
            <a:pPr marL="800100" lvl="1" indent="-457200" eaLnBrk="1" hangingPunct="1"/>
            <a:r>
              <a:rPr lang="en-US" smtClean="0"/>
              <a:t>The information is passed to the FGDC Secretariat Director for final selection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DC5D5C-C79C-43C2-ADCA-27F2D8EDB342}" type="slidenum">
              <a:rPr lang="en-US" b="0" smtClean="0"/>
              <a:pPr eaLnBrk="1" hangingPunct="1"/>
              <a:t>41</a:t>
            </a:fld>
            <a:endParaRPr lang="en-US" b="0" smtClean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Selection Process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382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Review Panels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Category leads recruit volunteers from: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previous CAP recipient organizations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USGS Geospatial Liaisons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FGDC Coordination Group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Federal, state and local government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University, non-profit and private sector organizations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Recruitment attempts to diversify the type of organizations represented by review panel members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Panels are composed of 5 to 16 individuals depending on the number of proposals to review and the CAP category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C227125-F3DB-48E4-A7F9-8EFB5F2E61CD}" type="slidenum">
              <a:rPr lang="en-US" b="0" smtClean="0"/>
              <a:pPr eaLnBrk="1" hangingPunct="1"/>
              <a:t>42</a:t>
            </a:fld>
            <a:endParaRPr lang="en-US" b="0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Selection Process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04950"/>
            <a:ext cx="8382000" cy="4876800"/>
          </a:xfrm>
        </p:spPr>
        <p:txBody>
          <a:bodyPr/>
          <a:lstStyle/>
          <a:p>
            <a:pPr eaLnBrk="1" hangingPunct="1"/>
            <a:r>
              <a:rPr lang="en-US" sz="2800" smtClean="0"/>
              <a:t>Hints for Successful Proposals</a:t>
            </a:r>
          </a:p>
          <a:p>
            <a:pPr lvl="1" eaLnBrk="1" hangingPunct="1"/>
            <a:r>
              <a:rPr lang="en-US" smtClean="0"/>
              <a:t>Address </a:t>
            </a:r>
            <a:r>
              <a:rPr lang="en-US" u="sng" smtClean="0"/>
              <a:t>all</a:t>
            </a:r>
            <a:r>
              <a:rPr lang="en-US" smtClean="0"/>
              <a:t> criteria and provide </a:t>
            </a:r>
            <a:r>
              <a:rPr lang="en-US" u="sng" smtClean="0"/>
              <a:t>all</a:t>
            </a:r>
            <a:r>
              <a:rPr lang="en-US" smtClean="0"/>
              <a:t> requested items and information</a:t>
            </a:r>
          </a:p>
          <a:p>
            <a:pPr lvl="1" eaLnBrk="1" hangingPunct="1"/>
            <a:r>
              <a:rPr lang="en-US" smtClean="0"/>
              <a:t>Comply with proposal size/length limitations</a:t>
            </a:r>
          </a:p>
          <a:p>
            <a:pPr lvl="1" eaLnBrk="1" hangingPunct="1"/>
            <a:r>
              <a:rPr lang="en-US" smtClean="0"/>
              <a:t>Follow the proposal format provided in the CAP announcement</a:t>
            </a:r>
          </a:p>
          <a:p>
            <a:pPr lvl="1" eaLnBrk="1" hangingPunct="1"/>
            <a:r>
              <a:rPr lang="en-US" smtClean="0"/>
              <a:t>Observe CAP and category-specific funding restrictions </a:t>
            </a:r>
          </a:p>
          <a:p>
            <a:pPr lvl="1" eaLnBrk="1" hangingPunct="1"/>
            <a:r>
              <a:rPr lang="en-US" smtClean="0"/>
              <a:t>Budget work and expenditures to meet both project objectives and funding limits</a:t>
            </a:r>
          </a:p>
          <a:p>
            <a:pPr lvl="1" eaLnBrk="1" hangingPunct="1"/>
            <a:r>
              <a:rPr lang="en-US" smtClean="0"/>
              <a:t>Clearly state the source and value of in-kind match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2C8E5C3-E18C-4ADC-B93A-7BDB006B7E96}" type="slidenum">
              <a:rPr lang="en-US" b="0" smtClean="0"/>
              <a:pPr eaLnBrk="1" hangingPunct="1"/>
              <a:t>43</a:t>
            </a:fld>
            <a:endParaRPr lang="en-US" b="0" smtClean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Selection Process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17638"/>
            <a:ext cx="8382000" cy="4876800"/>
          </a:xfrm>
        </p:spPr>
        <p:txBody>
          <a:bodyPr/>
          <a:lstStyle/>
          <a:p>
            <a:pPr eaLnBrk="1" hangingPunct="1"/>
            <a:r>
              <a:rPr lang="en-US" sz="2800" smtClean="0"/>
              <a:t>Hints for Successful Proposals (con’t)</a:t>
            </a:r>
          </a:p>
          <a:p>
            <a:pPr lvl="1" eaLnBrk="1" hangingPunct="1"/>
            <a:r>
              <a:rPr lang="en-US" smtClean="0"/>
              <a:t>Include Letters of Support for organizations indicated as project collaborators or prime benefactors</a:t>
            </a:r>
          </a:p>
          <a:p>
            <a:pPr lvl="1" eaLnBrk="1" hangingPunct="1"/>
            <a:r>
              <a:rPr lang="en-US" smtClean="0"/>
              <a:t>Discuss how your organization will sustain the project outcomes after the CAP project ends</a:t>
            </a:r>
          </a:p>
          <a:p>
            <a:pPr lvl="1" eaLnBrk="1" hangingPunct="1"/>
            <a:r>
              <a:rPr lang="en-US" smtClean="0"/>
              <a:t>Focus on partnerships with other organizations</a:t>
            </a:r>
          </a:p>
          <a:p>
            <a:pPr lvl="1" eaLnBrk="1" hangingPunct="1"/>
            <a:r>
              <a:rPr lang="en-US" smtClean="0"/>
              <a:t>Discuss plans to share the project outcomes</a:t>
            </a:r>
          </a:p>
          <a:p>
            <a:pPr lvl="1" eaLnBrk="1" hangingPunct="1"/>
            <a:r>
              <a:rPr lang="en-US" smtClean="0"/>
              <a:t>Proposed realistic, achievable goals</a:t>
            </a:r>
          </a:p>
          <a:p>
            <a:pPr lvl="1" eaLnBrk="1" hangingPunct="1">
              <a:buFontTx/>
              <a:buNone/>
            </a:pPr>
            <a:r>
              <a:rPr lang="en-US" smtClean="0"/>
              <a:t>and…  </a:t>
            </a:r>
          </a:p>
          <a:p>
            <a:pPr lvl="1" eaLnBrk="1" hangingPunct="1">
              <a:buFontTx/>
              <a:buNone/>
            </a:pPr>
            <a:r>
              <a:rPr lang="en-US" smtClean="0"/>
              <a:t>did we mention?</a:t>
            </a:r>
            <a:endParaRPr lang="en-US" sz="2800" b="1" smtClean="0">
              <a:solidFill>
                <a:schemeClr val="accent2"/>
              </a:solidFill>
            </a:endParaRPr>
          </a:p>
          <a:p>
            <a:pPr lvl="1" algn="r" eaLnBrk="1" hangingPunct="1">
              <a:buFontTx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Read the CAP Announcement carefully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5E78E79-3FFF-41BA-990A-99EF7E2E4987}" type="slidenum">
              <a:rPr lang="en-US" b="0" smtClean="0"/>
              <a:pPr eaLnBrk="1" hangingPunct="1"/>
              <a:t>44</a:t>
            </a:fld>
            <a:endParaRPr lang="en-US" b="0" smtClean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Selection Process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382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Notification of Awards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Successful applicants receive: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informal notification from the CAP Coordinator or Category Lead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formal notification from the USGS Office of Acquisitions and Grants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Selected projects are posted to the FDGC Web site and announced to the public via email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Unsuccessful applicants receive notification from the CAP Coordinator that includes: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reason(s) the project was not selected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suggestions for other funding venues, if known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USGS Geospatial Liaisons or other organizations that could help move the project forward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47A7D7-2299-4958-BE22-B465AAA78175}" type="slidenum">
              <a:rPr lang="en-US" b="0" smtClean="0"/>
              <a:pPr eaLnBrk="1" hangingPunct="1"/>
              <a:t>45</a:t>
            </a:fld>
            <a:endParaRPr lang="en-US" b="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Selection Process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3820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Award Processing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8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dirty="0" smtClean="0"/>
              <a:t>Award processing requires two to four weeks to complete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A requisition is issued to authorize the expenditure of CAP funds to support the project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The Office of Acquisitions and Grants (OAG) assigns a Federal Project Number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An OAG Grants Officer is assigned to the project to review the budget and complete the award package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An audit report is performed if the CAP recipient has expended over $500,000 in federal awards in a fiscal year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Award package is signed by USGS Contracts Officer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Completed award package is sent to the CAP recipient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This is the conclusion of </a:t>
            </a:r>
            <a:r>
              <a:rPr lang="en-US" sz="2800" smtClean="0"/>
              <a:t>“NSDI Cap Proposal” You now should be able to: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Access the NSDI CAP program announcement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Plan and execute proposal preparation in accord with the CAP schedule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Complete each CAP proposal form and address each requirement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Identify contacts and resources that can aid in developing the CAP proposals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Download the application package from Grants.gov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Submit a complete CAP proposal via Grants.gov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Outline the steps of the CAP review process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CDE87F-17F0-4F68-AFB7-67BEC085BCC9}" type="slidenum">
              <a:rPr lang="en-US" b="0" smtClean="0"/>
              <a:pPr eaLnBrk="1" hangingPunct="1"/>
              <a:t>47</a:t>
            </a:fld>
            <a:endParaRPr lang="en-US" b="0" smtClean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Conclusion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sz="2800" smtClean="0"/>
              <a:t>Successful submittal of an NSDI CAP proposal requires</a:t>
            </a:r>
            <a:r>
              <a:rPr lang="en-US" smtClean="0"/>
              <a:t>:</a:t>
            </a:r>
          </a:p>
          <a:p>
            <a:pPr marL="800100" lvl="1" indent="-457200" eaLnBrk="1" hangingPunct="1"/>
            <a:r>
              <a:rPr lang="en-US" smtClean="0"/>
              <a:t>Advanced planning and registration</a:t>
            </a:r>
          </a:p>
          <a:p>
            <a:pPr marL="800100" lvl="1" indent="-457200" eaLnBrk="1" hangingPunct="1"/>
            <a:r>
              <a:rPr lang="en-US" smtClean="0"/>
              <a:t>Careful review of the CAP Announcement</a:t>
            </a:r>
          </a:p>
          <a:p>
            <a:pPr marL="800100" lvl="1" indent="-457200" eaLnBrk="1" hangingPunct="1"/>
            <a:r>
              <a:rPr lang="en-US" smtClean="0"/>
              <a:t>Collaboration and partnership</a:t>
            </a:r>
          </a:p>
          <a:p>
            <a:pPr marL="800100" lvl="1" indent="-457200" eaLnBrk="1" hangingPunct="1"/>
            <a:r>
              <a:rPr lang="en-US" smtClean="0"/>
              <a:t>Demonstrated capabilities</a:t>
            </a:r>
          </a:p>
          <a:p>
            <a:pPr marL="800100" lvl="1" indent="-457200" eaLnBrk="1" hangingPunct="1">
              <a:buFontTx/>
              <a:buNone/>
            </a:pPr>
            <a:endParaRPr lang="en-US" sz="1800" smtClean="0"/>
          </a:p>
          <a:p>
            <a:pPr marL="800100" lvl="1" indent="-457200" eaLnBrk="1" hangingPunct="1">
              <a:buFontTx/>
              <a:buNone/>
            </a:pPr>
            <a:endParaRPr lang="en-US" b="1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B8CCA80-E9B2-472A-9764-16168C4CE9F8}" type="slidenum">
              <a:rPr lang="en-US" b="0" smtClean="0"/>
              <a:pPr eaLnBrk="1" hangingPunct="1"/>
              <a:t>48</a:t>
            </a:fld>
            <a:endParaRPr lang="en-US" b="0" smtClean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Conclusion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247775"/>
            <a:ext cx="8897937" cy="5000625"/>
          </a:xfrm>
        </p:spPr>
        <p:txBody>
          <a:bodyPr/>
          <a:lstStyle/>
          <a:p>
            <a:pPr marL="800100" lvl="1" indent="-457200" eaLnBrk="1" hangingPunct="1">
              <a:buFontTx/>
              <a:buNone/>
              <a:defRPr/>
            </a:pPr>
            <a:endParaRPr lang="en-US" sz="1800" dirty="0" smtClean="0"/>
          </a:p>
          <a:p>
            <a:pPr marL="800100" lvl="1" indent="-457200" algn="ctr" eaLnBrk="1" hangingPunct="1">
              <a:buFontTx/>
              <a:buNone/>
              <a:defRPr/>
            </a:pPr>
            <a:r>
              <a:rPr lang="en-US" b="1" dirty="0" smtClean="0"/>
              <a:t>For more information</a:t>
            </a:r>
          </a:p>
          <a:p>
            <a:pPr marL="800100" lvl="1" indent="-457200" algn="ctr" eaLnBrk="1" hangingPunct="1">
              <a:buFontTx/>
              <a:buNone/>
              <a:defRPr/>
            </a:pPr>
            <a:endParaRPr lang="en-US" sz="1100" dirty="0" smtClean="0"/>
          </a:p>
          <a:p>
            <a:pPr marL="342900" lvl="1" indent="0" algn="ctr" eaLnBrk="1" hangingPunct="1">
              <a:buFontTx/>
              <a:buNone/>
              <a:defRPr/>
            </a:pPr>
            <a:r>
              <a:rPr lang="en-US" sz="2500" dirty="0"/>
              <a:t>V</a:t>
            </a:r>
            <a:r>
              <a:rPr lang="en-US" sz="2500" dirty="0" smtClean="0"/>
              <a:t>isit </a:t>
            </a:r>
          </a:p>
          <a:p>
            <a:pPr marL="342900" lvl="1" indent="0" algn="ctr" eaLnBrk="1" hangingPunct="1">
              <a:buFontTx/>
              <a:buNone/>
              <a:defRPr/>
            </a:pPr>
            <a:r>
              <a:rPr lang="en-US" dirty="0" smtClean="0">
                <a:hlinkClick r:id="rId3"/>
              </a:rPr>
              <a:t>www.fdgc.gov/grants</a:t>
            </a:r>
            <a:endParaRPr lang="en-US" dirty="0" smtClean="0"/>
          </a:p>
          <a:p>
            <a:pPr marL="342900" lvl="1" indent="0" algn="ctr" eaLnBrk="1" hangingPunct="1">
              <a:buFontTx/>
              <a:buNone/>
              <a:defRPr/>
            </a:pPr>
            <a:r>
              <a:rPr lang="en-US" dirty="0" smtClean="0">
                <a:hlinkClick r:id="rId4"/>
              </a:rPr>
              <a:t>http://www.fgdc.gov/grants/2013CAP/2013CAPDescriptions</a:t>
            </a:r>
            <a:endParaRPr lang="en-US" dirty="0" smtClean="0"/>
          </a:p>
          <a:p>
            <a:pPr marL="342900" lvl="1" indent="0" algn="ctr" eaLnBrk="1" hangingPunct="1">
              <a:buFontTx/>
              <a:buNone/>
              <a:defRPr/>
            </a:pPr>
            <a:endParaRPr lang="en-US" sz="2500" dirty="0" smtClean="0"/>
          </a:p>
          <a:p>
            <a:pPr marL="342900" lvl="1" indent="0" algn="ctr" eaLnBrk="1" hangingPunct="1">
              <a:buFontTx/>
              <a:buNone/>
              <a:defRPr/>
            </a:pPr>
            <a:r>
              <a:rPr lang="en-US" sz="2500" b="1" dirty="0" smtClean="0"/>
              <a:t>Contact CAP Coordinator</a:t>
            </a:r>
          </a:p>
          <a:p>
            <a:pPr marL="342900" lvl="1" indent="0" algn="ctr" eaLnBrk="1" hangingPunct="1">
              <a:buFontTx/>
              <a:buNone/>
              <a:defRPr/>
            </a:pPr>
            <a:r>
              <a:rPr lang="en-US" sz="2500" dirty="0" smtClean="0"/>
              <a:t>Gita Urban-</a:t>
            </a:r>
            <a:r>
              <a:rPr lang="en-US" sz="2500" dirty="0" err="1" smtClean="0"/>
              <a:t>Mathieux</a:t>
            </a:r>
            <a:endParaRPr lang="en-US" sz="2500" dirty="0"/>
          </a:p>
          <a:p>
            <a:pPr marL="342900" lvl="1" indent="0" algn="ctr" eaLnBrk="1" hangingPunct="1">
              <a:buFontTx/>
              <a:buNone/>
              <a:defRPr/>
            </a:pPr>
            <a:r>
              <a:rPr lang="en-US" sz="2500" dirty="0" smtClean="0">
                <a:hlinkClick r:id="rId5"/>
              </a:rPr>
              <a:t>burbanma@fgdc.gov</a:t>
            </a:r>
            <a:endParaRPr lang="en-US" sz="2500" dirty="0" smtClean="0"/>
          </a:p>
          <a:p>
            <a:pPr marL="342900" lvl="1" indent="0" algn="ctr" eaLnBrk="1" hangingPunct="1">
              <a:buFontTx/>
              <a:buNone/>
              <a:defRPr/>
            </a:pPr>
            <a:r>
              <a:rPr lang="en-US" sz="2500" dirty="0" smtClean="0"/>
              <a:t>703-648-5175</a:t>
            </a:r>
            <a:endParaRPr lang="en-US" dirty="0" smtClean="0">
              <a:solidFill>
                <a:srgbClr val="FF0000"/>
              </a:solidFill>
            </a:endParaRPr>
          </a:p>
          <a:p>
            <a:pPr marL="800100" lvl="1" indent="-457200" eaLnBrk="1" hangingPunct="1">
              <a:buFontTx/>
              <a:buNone/>
              <a:defRPr/>
            </a:pPr>
            <a:endParaRPr lang="en-US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3425" y="3135313"/>
            <a:ext cx="3765550" cy="1044575"/>
          </a:xfrm>
        </p:spPr>
        <p:txBody>
          <a:bodyPr/>
          <a:lstStyle/>
          <a:p>
            <a:pPr algn="ctr" eaLnBrk="1" hangingPunct="1"/>
            <a:endParaRPr lang="en-US" sz="800" smtClean="0"/>
          </a:p>
          <a:p>
            <a:pPr algn="ctr" eaLnBrk="1" hangingPunct="1"/>
            <a:r>
              <a:rPr lang="en-US" smtClean="0"/>
              <a:t>Start writing your proposal …</a:t>
            </a:r>
          </a:p>
        </p:txBody>
      </p:sp>
      <p:sp>
        <p:nvSpPr>
          <p:cNvPr id="5222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656B3BB-C007-4824-8C71-3DB3D6945158}" type="slidenum">
              <a:rPr lang="en-US" b="0" smtClean="0"/>
              <a:pPr eaLnBrk="1" hangingPunct="1"/>
              <a:t>49</a:t>
            </a:fld>
            <a:endParaRPr lang="en-US" b="0" smtClean="0"/>
          </a:p>
        </p:txBody>
      </p:sp>
      <p:pic>
        <p:nvPicPr>
          <p:cNvPr id="52228" name="Picture 4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28713"/>
            <a:ext cx="4141788" cy="531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Finally ....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84225" y="1408113"/>
            <a:ext cx="8359775" cy="4708525"/>
          </a:xfrm>
        </p:spPr>
        <p:txBody>
          <a:bodyPr/>
          <a:lstStyle/>
          <a:p>
            <a:pPr marL="182563" indent="-182563" defTabSz="334963"/>
            <a:endParaRPr lang="en-US" sz="4000" b="1" i="1" smtClean="0">
              <a:solidFill>
                <a:schemeClr val="bg1"/>
              </a:solidFill>
            </a:endParaRP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785813" y="1408113"/>
            <a:ext cx="7383462" cy="214471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u="sng"/>
              <a:t>NSDI Cooperative Agreements Program:</a:t>
            </a:r>
          </a:p>
          <a:p>
            <a:pPr eaLnBrk="1" hangingPunct="1">
              <a:spcBef>
                <a:spcPct val="50000"/>
              </a:spcBef>
            </a:pPr>
            <a:endParaRPr lang="en-US" sz="2000" u="sng"/>
          </a:p>
          <a:p>
            <a:pPr eaLnBrk="1" hangingPunct="1"/>
            <a:r>
              <a:rPr lang="en-US" sz="2800"/>
              <a:t>Introduction to CAP</a:t>
            </a:r>
          </a:p>
          <a:p>
            <a:pPr eaLnBrk="1" hangingPunct="1"/>
            <a:endParaRPr lang="en-US" sz="2800"/>
          </a:p>
          <a:p>
            <a:pPr eaLnBrk="1" hangingPunct="1"/>
            <a:r>
              <a:rPr lang="en-US" sz="2800"/>
              <a:t>How to Implement Your NSDI CAP Project</a:t>
            </a: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7391400" cy="876300"/>
          </a:xfrm>
        </p:spPr>
        <p:txBody>
          <a:bodyPr/>
          <a:lstStyle/>
          <a:p>
            <a:r>
              <a:rPr lang="en-US" sz="2800" smtClean="0"/>
              <a:t>Other Lessons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NSDITrainingTemplate</Template>
  <TotalTime>7783</TotalTime>
  <Words>2608</Words>
  <Application>Microsoft Office PowerPoint</Application>
  <PresentationFormat>On-screen Show (4:3)</PresentationFormat>
  <Paragraphs>509</Paragraphs>
  <Slides>51</Slides>
  <Notes>49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Custom Design</vt:lpstr>
      <vt:lpstr>PowerPoint Presentation</vt:lpstr>
      <vt:lpstr>Learning Objectives</vt:lpstr>
      <vt:lpstr>Access CAP Grant Information</vt:lpstr>
      <vt:lpstr>Access CAP Grant Information</vt:lpstr>
      <vt:lpstr>Schedule</vt:lpstr>
      <vt:lpstr>Schedule</vt:lpstr>
      <vt:lpstr>Schedule</vt:lpstr>
      <vt:lpstr>Submitting  Your Proposal via Grants.gov</vt:lpstr>
      <vt:lpstr>Register with Grants.gov</vt:lpstr>
      <vt:lpstr>Register with Grants.gov</vt:lpstr>
      <vt:lpstr>Register with Grants.gov</vt:lpstr>
      <vt:lpstr>Register with Grants.gov</vt:lpstr>
      <vt:lpstr>Register with Grants.gov</vt:lpstr>
      <vt:lpstr>Register with Grants.gov</vt:lpstr>
      <vt:lpstr>Prepare Proposal</vt:lpstr>
      <vt:lpstr>Prepare Proposal</vt:lpstr>
      <vt:lpstr>Prepare Proposal</vt:lpstr>
      <vt:lpstr>Prepare Proposal</vt:lpstr>
      <vt:lpstr>PowerPoint Presentation</vt:lpstr>
      <vt:lpstr>Prepare Proposal</vt:lpstr>
      <vt:lpstr>Proposal Components</vt:lpstr>
      <vt:lpstr>Required Proposal Components</vt:lpstr>
      <vt:lpstr>Required Proposal Components</vt:lpstr>
      <vt:lpstr>Required Proposal Components</vt:lpstr>
      <vt:lpstr>Required Proposal Components</vt:lpstr>
      <vt:lpstr>Required Proposal Components</vt:lpstr>
      <vt:lpstr>Required Proposal Components</vt:lpstr>
      <vt:lpstr>Required Proposal Components</vt:lpstr>
      <vt:lpstr>Required Proposal Components</vt:lpstr>
      <vt:lpstr>Required Proposal Components</vt:lpstr>
      <vt:lpstr>Required Proposal Components</vt:lpstr>
      <vt:lpstr>Optional Proposal Components</vt:lpstr>
      <vt:lpstr>Optional Proposal Components</vt:lpstr>
      <vt:lpstr>Prepare Proposal</vt:lpstr>
      <vt:lpstr>Help with Proposals</vt:lpstr>
      <vt:lpstr>Prepare Proposal</vt:lpstr>
      <vt:lpstr>Prepare Proposal</vt:lpstr>
      <vt:lpstr>Prepare Proposal</vt:lpstr>
      <vt:lpstr>Submitting Multiple Proposals</vt:lpstr>
      <vt:lpstr>Proposal Selection Process</vt:lpstr>
      <vt:lpstr>Proposal Selection Process</vt:lpstr>
      <vt:lpstr>Proposal Selection Process</vt:lpstr>
      <vt:lpstr>Proposal Selection Process</vt:lpstr>
      <vt:lpstr>Proposal Selection Process</vt:lpstr>
      <vt:lpstr>Proposal Selection Process</vt:lpstr>
      <vt:lpstr>Proposal Selection Process</vt:lpstr>
      <vt:lpstr>Summary</vt:lpstr>
      <vt:lpstr>Conclusion</vt:lpstr>
      <vt:lpstr>Conclusion</vt:lpstr>
      <vt:lpstr>Finally .... </vt:lpstr>
      <vt:lpstr>Other Lessons</vt:lpstr>
    </vt:vector>
  </TitlesOfParts>
  <Company>GeoMaxim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</dc:title>
  <dc:creator>Lynda Wayne</dc:creator>
  <cp:lastModifiedBy>Brigitta Urban-Mathieux</cp:lastModifiedBy>
  <cp:revision>154</cp:revision>
  <dcterms:created xsi:type="dcterms:W3CDTF">2006-09-20T16:38:25Z</dcterms:created>
  <dcterms:modified xsi:type="dcterms:W3CDTF">2012-10-15T17:21:57Z</dcterms:modified>
</cp:coreProperties>
</file>