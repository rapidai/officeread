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74" r:id="rId2"/>
    <p:sldId id="271" r:id="rId3"/>
    <p:sldId id="276" r:id="rId4"/>
    <p:sldId id="273" r:id="rId5"/>
    <p:sldId id="272" r:id="rId6"/>
    <p:sldId id="275" r:id="rId7"/>
    <p:sldId id="288" r:id="rId8"/>
    <p:sldId id="277" r:id="rId9"/>
    <p:sldId id="292" r:id="rId10"/>
    <p:sldId id="293" r:id="rId11"/>
    <p:sldId id="287" r:id="rId12"/>
    <p:sldId id="278" r:id="rId13"/>
    <p:sldId id="279" r:id="rId14"/>
    <p:sldId id="284" r:id="rId15"/>
    <p:sldId id="290" r:id="rId16"/>
    <p:sldId id="280" r:id="rId17"/>
    <p:sldId id="281" r:id="rId18"/>
    <p:sldId id="282" r:id="rId19"/>
    <p:sldId id="286" r:id="rId20"/>
    <p:sldId id="285" r:id="rId21"/>
  </p:sldIdLst>
  <p:sldSz cx="9144000" cy="6858000" type="letter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Book Antiqua" pitchFamily="18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Book Antiqua" pitchFamily="18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Book Antiqua" pitchFamily="18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Book Antiqu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</p:showPr>
  <p:clrMru>
    <a:srgbClr val="FF0000"/>
    <a:srgbClr val="0000FF"/>
    <a:srgbClr val="DEF915"/>
    <a:srgbClr val="DFF31F"/>
    <a:srgbClr val="33CC3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inimized" horzBarState="maximized">
    <p:restoredLeft sz="15620" autoAdjust="0"/>
    <p:restoredTop sz="94660" autoAdjust="0"/>
  </p:normalViewPr>
  <p:slideViewPr>
    <p:cSldViewPr snapToObjects="1">
      <p:cViewPr varScale="1">
        <p:scale>
          <a:sx n="75" d="100"/>
          <a:sy n="75" d="100"/>
        </p:scale>
        <p:origin x="-70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3263122" y="9145343"/>
            <a:ext cx="827583" cy="2749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2289" tIns="46983" rIns="92289" bIns="46983">
            <a:spAutoFit/>
          </a:bodyPr>
          <a:lstStyle/>
          <a:p>
            <a:pPr algn="ctr" defTabSz="918244">
              <a:lnSpc>
                <a:spcPct val="90000"/>
              </a:lnSpc>
            </a:pPr>
            <a:r>
              <a:rPr lang="en-US" sz="1300" b="0" dirty="0">
                <a:latin typeface="Arial" charset="0"/>
              </a:rPr>
              <a:t>Page </a:t>
            </a:r>
            <a:fld id="{952A5B94-774A-403D-9B01-FB86485E653A}" type="slidenum">
              <a:rPr lang="en-US" sz="1300" b="0">
                <a:latin typeface="Arial" charset="0"/>
              </a:rPr>
              <a:pPr algn="ctr" defTabSz="918244">
                <a:lnSpc>
                  <a:spcPct val="90000"/>
                </a:lnSpc>
              </a:pPr>
              <a:t>‹#›</a:t>
            </a:fld>
            <a:endParaRPr lang="en-US" sz="1300" b="0" dirty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471" y="4560239"/>
            <a:ext cx="5364260" cy="43215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5646" tIns="46983" rIns="95646" bIns="469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5238" y="725488"/>
            <a:ext cx="4783137" cy="35877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3263122" y="9145343"/>
            <a:ext cx="827583" cy="2749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2289" tIns="46983" rIns="92289" bIns="46983">
            <a:spAutoFit/>
          </a:bodyPr>
          <a:lstStyle/>
          <a:p>
            <a:pPr algn="ctr" defTabSz="918244">
              <a:lnSpc>
                <a:spcPct val="90000"/>
              </a:lnSpc>
            </a:pPr>
            <a:r>
              <a:rPr lang="en-US" sz="1300" b="0" dirty="0">
                <a:latin typeface="Arial" charset="0"/>
              </a:rPr>
              <a:t>Page </a:t>
            </a:r>
            <a:fld id="{954168A1-4438-4D71-8F43-825A01650A30}" type="slidenum">
              <a:rPr lang="en-US" sz="1300" b="0">
                <a:latin typeface="Arial" charset="0"/>
              </a:rPr>
              <a:pPr algn="ctr" defTabSz="918244">
                <a:lnSpc>
                  <a:spcPct val="90000"/>
                </a:lnSpc>
              </a:pPr>
              <a:t>‹#›</a:t>
            </a:fld>
            <a:endParaRPr lang="en-US" sz="1300" b="0" dirty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0177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190500"/>
            <a:ext cx="6297612" cy="8382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52400"/>
            <a:ext cx="6172200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1350" y="1257300"/>
            <a:ext cx="37719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5650" y="1257300"/>
            <a:ext cx="37719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474788" y="190500"/>
            <a:ext cx="6297612" cy="838200"/>
          </a:xfrm>
          <a:prstGeom prst="rect">
            <a:avLst/>
          </a:prstGeom>
          <a:gradFill rotWithShape="0">
            <a:gsLst>
              <a:gs pos="0">
                <a:srgbClr val="0000FF">
                  <a:gamma/>
                  <a:tint val="34510"/>
                  <a:invGamma/>
                </a:srgbClr>
              </a:gs>
              <a:gs pos="100000">
                <a:srgbClr val="0000FF"/>
              </a:gs>
            </a:gsLst>
            <a:lin ang="0" scaled="1"/>
          </a:gradFill>
          <a:ln w="12700">
            <a:noFill/>
            <a:miter lim="800000"/>
            <a:headEnd/>
            <a:tailEnd/>
          </a:ln>
          <a:effectLst>
            <a:outerShdw dist="53882" dir="2700000" algn="ctr" rotWithShape="0">
              <a:srgbClr val="FFFFFF"/>
            </a:outerShdw>
          </a:effec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652463" y="6602413"/>
            <a:ext cx="908904" cy="24365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sz="1000" dirty="0" smtClean="0">
                <a:solidFill>
                  <a:schemeClr val="tx2"/>
                </a:solidFill>
                <a:latin typeface="Arial" charset="0"/>
              </a:rPr>
              <a:t>CMS </a:t>
            </a:r>
            <a:r>
              <a:rPr lang="en-US" sz="1000" baseline="0" dirty="0" err="1" smtClean="0">
                <a:solidFill>
                  <a:schemeClr val="tx2"/>
                </a:solidFill>
                <a:latin typeface="Arial" charset="0"/>
              </a:rPr>
              <a:t>JetMet</a:t>
            </a:r>
            <a:endParaRPr lang="en-US" sz="1000" dirty="0">
              <a:solidFill>
                <a:schemeClr val="tx2"/>
              </a:solidFill>
              <a:latin typeface="Arial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8081963" y="6602413"/>
            <a:ext cx="336550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fld id="{112C20A3-EBDB-4D2F-BAD0-9BCA665B8481}" type="slidenum">
              <a:rPr lang="en-US" sz="1000">
                <a:solidFill>
                  <a:schemeClr val="tx2"/>
                </a:solidFill>
                <a:latin typeface="Arial" charset="0"/>
              </a:rPr>
              <a:pPr/>
              <a:t>‹#›</a:t>
            </a:fld>
            <a:endParaRPr lang="en-US" sz="1000">
              <a:solidFill>
                <a:schemeClr val="tx2"/>
              </a:solidFill>
              <a:latin typeface="Arial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679450" y="6565900"/>
            <a:ext cx="7683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1350" y="1257300"/>
            <a:ext cx="7696200" cy="5105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679450" y="241300"/>
            <a:ext cx="121920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7223125" y="-15875"/>
            <a:ext cx="1841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41350" y="190500"/>
            <a:ext cx="833438" cy="838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pic>
        <p:nvPicPr>
          <p:cNvPr id="1039" name="Picture 15" descr="LPC_final_small"/>
          <p:cNvPicPr>
            <a:picLocks noChangeAspect="1" noChangeArrowheads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716700" y="152400"/>
            <a:ext cx="730525" cy="914400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 userDrawn="1"/>
        </p:nvSpPr>
        <p:spPr>
          <a:xfrm>
            <a:off x="4000369" y="6611779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latin typeface="Arial" pitchFamily="34" charset="0"/>
              </a:rPr>
              <a:t>Frank Chlebana</a:t>
            </a:r>
            <a:endParaRPr lang="en-US" sz="1000" dirty="0" smtClean="0">
              <a:latin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defRPr sz="3000" b="1">
          <a:solidFill>
            <a:srgbClr val="FC0128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 b="1">
          <a:solidFill>
            <a:srgbClr val="114FFB"/>
          </a:solidFill>
          <a:latin typeface="+mn-lt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>
          <a:solidFill>
            <a:srgbClr val="005400"/>
          </a:solidFill>
          <a:latin typeface="+mn-lt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b="1">
          <a:solidFill>
            <a:srgbClr val="DC0081"/>
          </a:solidFill>
          <a:latin typeface="+mn-lt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>
          <a:solidFill>
            <a:schemeClr val="tx2"/>
          </a:solidFill>
          <a:latin typeface="+mn-lt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>
          <a:solidFill>
            <a:schemeClr val="tx2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>
          <a:solidFill>
            <a:schemeClr val="tx2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>
          <a:solidFill>
            <a:schemeClr val="tx2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gi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gi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43000"/>
            <a:ext cx="7772400" cy="2895599"/>
          </a:xfrm>
        </p:spPr>
        <p:txBody>
          <a:bodyPr/>
          <a:lstStyle/>
          <a:p>
            <a:r>
              <a:rPr lang="en-US" dirty="0" err="1" smtClean="0"/>
              <a:t>FastSim</a:t>
            </a:r>
            <a:r>
              <a:rPr lang="en-US" dirty="0" smtClean="0"/>
              <a:t>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en-US" dirty="0" err="1" smtClean="0"/>
              <a:t>FullSim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and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PileUp</a:t>
            </a:r>
            <a:r>
              <a:rPr lang="en-US" dirty="0" smtClean="0"/>
              <a:t> Studies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48200"/>
            <a:ext cx="6400800" cy="1752600"/>
          </a:xfrm>
        </p:spPr>
        <p:txBody>
          <a:bodyPr/>
          <a:lstStyle/>
          <a:p>
            <a:r>
              <a:rPr lang="en-US" dirty="0" smtClean="0"/>
              <a:t>Frank Chlebana</a:t>
            </a:r>
          </a:p>
          <a:p>
            <a:r>
              <a:rPr lang="en-US" dirty="0" err="1" smtClean="0"/>
              <a:t>JetMET</a:t>
            </a:r>
            <a:r>
              <a:rPr lang="en-US" dirty="0" smtClean="0"/>
              <a:t>, Feb 14 2008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FastSim</a:t>
            </a:r>
            <a:r>
              <a:rPr lang="en-US" dirty="0" smtClean="0"/>
              <a:t>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en-US" dirty="0" err="1" smtClean="0"/>
              <a:t>FullSim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1000" y="1190685"/>
            <a:ext cx="8229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Arial" pitchFamily="34" charset="0"/>
              </a:rPr>
              <a:t>Comparison of </a:t>
            </a:r>
            <a:r>
              <a:rPr lang="en-US" sz="2400" dirty="0" err="1" smtClean="0">
                <a:latin typeface="Arial" pitchFamily="34" charset="0"/>
              </a:rPr>
              <a:t>FullSim</a:t>
            </a:r>
            <a:r>
              <a:rPr lang="en-US" sz="2400" dirty="0" smtClean="0">
                <a:latin typeface="Arial" pitchFamily="34" charset="0"/>
              </a:rPr>
              <a:t> (CMSSW 1.5.2) and </a:t>
            </a:r>
          </a:p>
          <a:p>
            <a:r>
              <a:rPr lang="en-US" sz="2400" dirty="0" err="1" smtClean="0">
                <a:latin typeface="Arial" pitchFamily="34" charset="0"/>
              </a:rPr>
              <a:t>FastSim</a:t>
            </a:r>
            <a:r>
              <a:rPr lang="en-US" sz="2400" dirty="0" smtClean="0">
                <a:latin typeface="Arial" pitchFamily="34" charset="0"/>
              </a:rPr>
              <a:t> (CMSSW 1.6.8)</a:t>
            </a:r>
          </a:p>
          <a:p>
            <a:endParaRPr lang="en-US" sz="2400" dirty="0" smtClean="0">
              <a:latin typeface="Arial" pitchFamily="34" charset="0"/>
            </a:endParaRPr>
          </a:p>
          <a:p>
            <a:r>
              <a:rPr lang="en-US" sz="2400" dirty="0" err="1" smtClean="0">
                <a:latin typeface="Arial" pitchFamily="34" charset="0"/>
              </a:rPr>
              <a:t>FullSim</a:t>
            </a:r>
            <a:r>
              <a:rPr lang="en-US" sz="2400" dirty="0" smtClean="0">
                <a:latin typeface="Arial" pitchFamily="34" charset="0"/>
              </a:rPr>
              <a:t>: read data files and run analysis code</a:t>
            </a:r>
          </a:p>
          <a:p>
            <a:endParaRPr lang="en-US" sz="2400" dirty="0" smtClean="0">
              <a:latin typeface="Arial" pitchFamily="34" charset="0"/>
            </a:endParaRPr>
          </a:p>
          <a:p>
            <a:r>
              <a:rPr lang="en-US" sz="2400" dirty="0" err="1" smtClean="0">
                <a:latin typeface="Arial" pitchFamily="34" charset="0"/>
              </a:rPr>
              <a:t>FastSim</a:t>
            </a:r>
            <a:r>
              <a:rPr lang="en-US" sz="2400" dirty="0" smtClean="0">
                <a:latin typeface="Arial" pitchFamily="34" charset="0"/>
              </a:rPr>
              <a:t>: generate events and run </a:t>
            </a:r>
            <a:r>
              <a:rPr lang="en-US" sz="2400" i="1" u="sng" dirty="0" smtClean="0">
                <a:solidFill>
                  <a:srgbClr val="FF0000"/>
                </a:solidFill>
                <a:latin typeface="Arial" pitchFamily="34" charset="0"/>
              </a:rPr>
              <a:t>same</a:t>
            </a:r>
            <a:r>
              <a:rPr lang="en-US" sz="2400" dirty="0" smtClean="0">
                <a:latin typeface="Arial" pitchFamily="34" charset="0"/>
              </a:rPr>
              <a:t> analysis code</a:t>
            </a:r>
          </a:p>
          <a:p>
            <a:endParaRPr lang="en-US" sz="2400" dirty="0" smtClean="0">
              <a:latin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</a:rPr>
              <a:t>Looked at three QCD samples</a:t>
            </a:r>
          </a:p>
          <a:p>
            <a:endParaRPr lang="en-US" sz="2400" dirty="0" smtClean="0">
              <a:latin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</a:rPr>
              <a:t>    </a:t>
            </a:r>
            <a:r>
              <a:rPr lang="en-US" sz="2400" dirty="0" err="1" smtClean="0">
                <a:latin typeface="Arial" pitchFamily="34" charset="0"/>
              </a:rPr>
              <a:t>pT</a:t>
            </a:r>
            <a:r>
              <a:rPr lang="en-US" sz="2400" dirty="0" smtClean="0">
                <a:latin typeface="Arial" pitchFamily="34" charset="0"/>
              </a:rPr>
              <a:t> = (80 – 120) </a:t>
            </a:r>
          </a:p>
          <a:p>
            <a:r>
              <a:rPr lang="en-US" sz="2400" dirty="0" smtClean="0">
                <a:latin typeface="Arial" pitchFamily="34" charset="0"/>
              </a:rPr>
              <a:t>    </a:t>
            </a:r>
            <a:r>
              <a:rPr lang="en-US" sz="2400" dirty="0" err="1" smtClean="0">
                <a:latin typeface="Arial" pitchFamily="34" charset="0"/>
              </a:rPr>
              <a:t>pT</a:t>
            </a:r>
            <a:r>
              <a:rPr lang="en-US" sz="2400" dirty="0" smtClean="0">
                <a:latin typeface="Arial" pitchFamily="34" charset="0"/>
              </a:rPr>
              <a:t> = (600 – 800)  </a:t>
            </a:r>
          </a:p>
          <a:p>
            <a:r>
              <a:rPr lang="en-US" sz="2400" dirty="0" smtClean="0">
                <a:latin typeface="Arial" pitchFamily="34" charset="0"/>
              </a:rPr>
              <a:t>    </a:t>
            </a:r>
            <a:r>
              <a:rPr lang="en-US" sz="2400" dirty="0" err="1" smtClean="0">
                <a:latin typeface="Arial" pitchFamily="34" charset="0"/>
              </a:rPr>
              <a:t>pT</a:t>
            </a:r>
            <a:r>
              <a:rPr lang="en-US" sz="2400" dirty="0" smtClean="0">
                <a:latin typeface="Arial" pitchFamily="34" charset="0"/>
              </a:rPr>
              <a:t> = (3500 – </a:t>
            </a:r>
            <a:r>
              <a:rPr lang="en-US" sz="2400" dirty="0" err="1" smtClean="0">
                <a:latin typeface="Arial" pitchFamily="34" charset="0"/>
              </a:rPr>
              <a:t>inf</a:t>
            </a:r>
            <a:r>
              <a:rPr lang="en-US" sz="2400" dirty="0" smtClean="0">
                <a:latin typeface="Arial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FastSim</a:t>
            </a:r>
            <a:r>
              <a:rPr lang="en-US" dirty="0" smtClean="0"/>
              <a:t>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en-US" dirty="0" err="1" smtClean="0"/>
              <a:t>FullSim</a:t>
            </a:r>
            <a:endParaRPr lang="en-US" dirty="0"/>
          </a:p>
        </p:txBody>
      </p:sp>
      <p:pic>
        <p:nvPicPr>
          <p:cNvPr id="4" name="Picture 3" descr="QCD600Compare7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1" y="2344545"/>
            <a:ext cx="3886200" cy="2608455"/>
          </a:xfrm>
          <a:prstGeom prst="rect">
            <a:avLst/>
          </a:prstGeom>
        </p:spPr>
      </p:pic>
      <p:pic>
        <p:nvPicPr>
          <p:cNvPr id="5" name="Picture 4" descr="QCD3500Compare71.gif"/>
          <p:cNvPicPr>
            <a:picLocks noChangeAspect="1"/>
          </p:cNvPicPr>
          <p:nvPr/>
        </p:nvPicPr>
        <p:blipFill>
          <a:blip r:embed="rId3"/>
          <a:srcRect r="4089"/>
          <a:stretch>
            <a:fillRect/>
          </a:stretch>
        </p:blipFill>
        <p:spPr>
          <a:xfrm>
            <a:off x="3886201" y="2850800"/>
            <a:ext cx="5181599" cy="36261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800" y="5029200"/>
            <a:ext cx="32015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itchFamily="34" charset="0"/>
              </a:rPr>
              <a:t>Jet are constructed with </a:t>
            </a:r>
          </a:p>
          <a:p>
            <a:r>
              <a:rPr lang="en-US" sz="2000" dirty="0" smtClean="0">
                <a:latin typeface="Arial" pitchFamily="34" charset="0"/>
              </a:rPr>
              <a:t>higher </a:t>
            </a:r>
            <a:r>
              <a:rPr lang="en-US" sz="2000" dirty="0" err="1" smtClean="0">
                <a:latin typeface="Arial" pitchFamily="34" charset="0"/>
              </a:rPr>
              <a:t>pT</a:t>
            </a:r>
            <a:r>
              <a:rPr lang="en-US" sz="2000" dirty="0" smtClean="0">
                <a:latin typeface="Arial" pitchFamily="34" charset="0"/>
              </a:rPr>
              <a:t> in the high </a:t>
            </a:r>
            <a:r>
              <a:rPr lang="en-US" sz="2000" dirty="0" err="1" smtClean="0">
                <a:latin typeface="Arial" pitchFamily="34" charset="0"/>
              </a:rPr>
              <a:t>pT</a:t>
            </a:r>
            <a:r>
              <a:rPr lang="en-US" sz="2000" dirty="0" smtClean="0">
                <a:latin typeface="Arial" pitchFamily="34" charset="0"/>
              </a:rPr>
              <a:t> </a:t>
            </a:r>
          </a:p>
          <a:p>
            <a:r>
              <a:rPr lang="en-US" sz="2000" dirty="0" smtClean="0">
                <a:latin typeface="Arial" pitchFamily="34" charset="0"/>
              </a:rPr>
              <a:t>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6925" y="2205335"/>
            <a:ext cx="4459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Arial" pitchFamily="34" charset="0"/>
              </a:rPr>
              <a:t>Generated quantities agree…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1066800"/>
            <a:ext cx="61975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Arial" pitchFamily="34" charset="0"/>
              </a:rPr>
              <a:t>Looked at many other distributions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6784" y="1676400"/>
            <a:ext cx="58160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</a:rPr>
              <a:t>http://ncdf76.fnal.gov/~chlebana/CMS/FastSim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FastSim</a:t>
            </a:r>
            <a:r>
              <a:rPr lang="en-US" dirty="0" smtClean="0"/>
              <a:t>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en-US" dirty="0" err="1" smtClean="0"/>
              <a:t>FullSim</a:t>
            </a:r>
            <a:endParaRPr lang="en-US" dirty="0"/>
          </a:p>
        </p:txBody>
      </p:sp>
      <p:pic>
        <p:nvPicPr>
          <p:cNvPr id="5" name="Picture 4" descr="QCD600Compare1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90" y="1828800"/>
            <a:ext cx="4072620" cy="2761892"/>
          </a:xfrm>
          <a:prstGeom prst="rect">
            <a:avLst/>
          </a:prstGeom>
        </p:spPr>
      </p:pic>
      <p:pic>
        <p:nvPicPr>
          <p:cNvPr id="6" name="Picture 5" descr="QCD3500Compare1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3305938"/>
            <a:ext cx="4724400" cy="31710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91000" y="1219200"/>
            <a:ext cx="484139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itchFamily="34" charset="0"/>
              </a:rPr>
              <a:t>Comparison of Gen and Cal quantities</a:t>
            </a:r>
          </a:p>
          <a:p>
            <a:endParaRPr lang="en-US" sz="2000" dirty="0" smtClean="0">
              <a:latin typeface="Arial" pitchFamily="34" charset="0"/>
            </a:endParaRPr>
          </a:p>
          <a:p>
            <a:r>
              <a:rPr lang="en-US" sz="2000" dirty="0" smtClean="0">
                <a:latin typeface="Arial" pitchFamily="34" charset="0"/>
              </a:rPr>
              <a:t>Gen quantities agree in both samples</a:t>
            </a:r>
          </a:p>
          <a:p>
            <a:endParaRPr lang="en-US" sz="2000" dirty="0" smtClean="0">
              <a:latin typeface="Arial" pitchFamily="34" charset="0"/>
            </a:endParaRPr>
          </a:p>
          <a:p>
            <a:r>
              <a:rPr lang="en-US" sz="2000" dirty="0" smtClean="0">
                <a:latin typeface="Arial" pitchFamily="34" charset="0"/>
              </a:rPr>
              <a:t>    Black:  </a:t>
            </a:r>
            <a:r>
              <a:rPr lang="en-US" sz="2000" dirty="0" err="1" smtClean="0">
                <a:latin typeface="Arial" pitchFamily="34" charset="0"/>
              </a:rPr>
              <a:t>fullsim</a:t>
            </a:r>
            <a:endParaRPr lang="en-US" sz="2000" dirty="0" smtClean="0">
              <a:latin typeface="Arial" pitchFamily="34" charset="0"/>
            </a:endParaRPr>
          </a:p>
          <a:p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</a:rPr>
              <a:t>    Red:     </a:t>
            </a:r>
            <a:r>
              <a:rPr lang="en-US" sz="2000" dirty="0" err="1" smtClean="0">
                <a:solidFill>
                  <a:srgbClr val="FF0000"/>
                </a:solidFill>
                <a:latin typeface="Arial" pitchFamily="34" charset="0"/>
              </a:rPr>
              <a:t>fastsim</a:t>
            </a:r>
            <a:endParaRPr lang="en-US" sz="2000" dirty="0" smtClean="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581090"/>
            <a:ext cx="6832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70C0"/>
                </a:solidFill>
                <a:latin typeface="Arial" pitchFamily="34" charset="0"/>
              </a:rPr>
              <a:t>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581090"/>
            <a:ext cx="583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70C0"/>
                </a:solidFill>
                <a:latin typeface="Arial" pitchFamily="34" charset="0"/>
              </a:rPr>
              <a:t>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5083314"/>
            <a:ext cx="39837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itchFamily="34" charset="0"/>
              </a:rPr>
              <a:t>See better agreement for Cal </a:t>
            </a:r>
          </a:p>
          <a:p>
            <a:r>
              <a:rPr lang="en-US" sz="2000" dirty="0" smtClean="0">
                <a:latin typeface="Arial" pitchFamily="34" charset="0"/>
              </a:rPr>
              <a:t>quantities in the low </a:t>
            </a:r>
            <a:r>
              <a:rPr lang="en-US" sz="2000" dirty="0" err="1" smtClean="0">
                <a:latin typeface="Arial" pitchFamily="34" charset="0"/>
              </a:rPr>
              <a:t>pT</a:t>
            </a:r>
            <a:r>
              <a:rPr lang="en-US" sz="2000" dirty="0" smtClean="0">
                <a:latin typeface="Arial" pitchFamily="34" charset="0"/>
              </a:rPr>
              <a:t> sample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45" y="2038290"/>
            <a:ext cx="498855" cy="400110"/>
          </a:xfrm>
          <a:prstGeom prst="rect">
            <a:avLst/>
          </a:prstGeom>
          <a:solidFill>
            <a:srgbClr val="DFF31F">
              <a:alpha val="8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latin typeface="Arial" pitchFamily="34" charset="0"/>
              </a:rPr>
              <a:t>pT</a:t>
            </a:r>
            <a:endParaRPr lang="en-US" sz="2000" dirty="0" smtClean="0">
              <a:latin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200" y="2952690"/>
            <a:ext cx="341760" cy="400110"/>
          </a:xfrm>
          <a:prstGeom prst="rect">
            <a:avLst/>
          </a:prstGeom>
          <a:solidFill>
            <a:srgbClr val="DFF31F">
              <a:alpha val="80000"/>
            </a:srgbClr>
          </a:solidFill>
        </p:spPr>
        <p:txBody>
          <a:bodyPr wrap="none" rtlCol="0">
            <a:spAutoFit/>
          </a:bodyPr>
          <a:lstStyle/>
          <a:p>
            <a:r>
              <a:rPr lang="el-GR" sz="2000" dirty="0" smtClean="0">
                <a:latin typeface="Arial" pitchFamily="34" charset="0"/>
              </a:rPr>
              <a:t>η</a:t>
            </a:r>
            <a:endParaRPr lang="en-US" sz="2000" dirty="0" smtClean="0">
              <a:latin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592" y="3867090"/>
            <a:ext cx="367408" cy="400110"/>
          </a:xfrm>
          <a:prstGeom prst="rect">
            <a:avLst/>
          </a:prstGeom>
          <a:solidFill>
            <a:srgbClr val="DFF31F">
              <a:alpha val="80000"/>
            </a:srgbClr>
          </a:solidFill>
        </p:spPr>
        <p:txBody>
          <a:bodyPr wrap="none" rtlCol="0">
            <a:spAutoFit/>
          </a:bodyPr>
          <a:lstStyle/>
          <a:p>
            <a:r>
              <a:rPr lang="el-GR" sz="2000" dirty="0" smtClean="0">
                <a:latin typeface="Arial" pitchFamily="34" charset="0"/>
              </a:rPr>
              <a:t>φ</a:t>
            </a:r>
            <a:endParaRPr lang="en-US" sz="2000" dirty="0" smtClean="0">
              <a:latin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53200" y="2819400"/>
            <a:ext cx="2539478" cy="4001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 err="1" smtClean="0">
                <a:solidFill>
                  <a:schemeClr val="bg2"/>
                </a:solidFill>
                <a:latin typeface="Arial" pitchFamily="34" charset="0"/>
              </a:rPr>
              <a:t>pT</a:t>
            </a:r>
            <a:r>
              <a:rPr lang="en-US" sz="2000" dirty="0" smtClean="0">
                <a:solidFill>
                  <a:schemeClr val="bg2"/>
                </a:solidFill>
                <a:latin typeface="Arial" pitchFamily="34" charset="0"/>
              </a:rPr>
              <a:t> = 3500 </a:t>
            </a:r>
            <a:r>
              <a:rPr lang="en-US" sz="2000" dirty="0" smtClean="0">
                <a:solidFill>
                  <a:schemeClr val="bg2"/>
                </a:solidFill>
                <a:latin typeface="Arial" pitchFamily="34" charset="0"/>
              </a:rPr>
              <a:t>– </a:t>
            </a:r>
            <a:r>
              <a:rPr lang="en-US" sz="2000" dirty="0" err="1" smtClean="0">
                <a:solidFill>
                  <a:schemeClr val="bg2"/>
                </a:solidFill>
                <a:latin typeface="Arial" pitchFamily="34" charset="0"/>
              </a:rPr>
              <a:t>inf</a:t>
            </a:r>
            <a:r>
              <a:rPr lang="en-US" sz="2000" dirty="0" smtClean="0">
                <a:solidFill>
                  <a:schemeClr val="bg2"/>
                </a:solidFill>
                <a:latin typeface="Arial" pitchFamily="34" charset="0"/>
              </a:rPr>
              <a:t> </a:t>
            </a:r>
            <a:r>
              <a:rPr lang="en-US" sz="2000" dirty="0" err="1" smtClean="0">
                <a:solidFill>
                  <a:schemeClr val="bg2"/>
                </a:solidFill>
                <a:latin typeface="Arial" pitchFamily="34" charset="0"/>
              </a:rPr>
              <a:t>GeV</a:t>
            </a:r>
            <a:endParaRPr lang="en-US" sz="2000" dirty="0" smtClean="0">
              <a:solidFill>
                <a:schemeClr val="bg2"/>
              </a:solidFill>
              <a:latin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8600" y="1200090"/>
            <a:ext cx="2369559" cy="4001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 err="1" smtClean="0">
                <a:solidFill>
                  <a:schemeClr val="bg2"/>
                </a:solidFill>
                <a:latin typeface="Arial" pitchFamily="34" charset="0"/>
              </a:rPr>
              <a:t>pT</a:t>
            </a:r>
            <a:r>
              <a:rPr lang="en-US" sz="2000" dirty="0" smtClean="0">
                <a:solidFill>
                  <a:schemeClr val="bg2"/>
                </a:solidFill>
                <a:latin typeface="Arial" pitchFamily="34" charset="0"/>
              </a:rPr>
              <a:t> = 80 </a:t>
            </a:r>
            <a:r>
              <a:rPr lang="en-US" sz="2000" dirty="0" smtClean="0">
                <a:solidFill>
                  <a:schemeClr val="bg2"/>
                </a:solidFill>
                <a:latin typeface="Arial" pitchFamily="34" charset="0"/>
              </a:rPr>
              <a:t>– 120 </a:t>
            </a:r>
            <a:r>
              <a:rPr lang="en-US" sz="2000" dirty="0" err="1" smtClean="0">
                <a:solidFill>
                  <a:schemeClr val="bg2"/>
                </a:solidFill>
                <a:latin typeface="Arial" pitchFamily="34" charset="0"/>
              </a:rPr>
              <a:t>GeV</a:t>
            </a:r>
            <a:endParaRPr lang="en-US" sz="2000" dirty="0" smtClean="0">
              <a:solidFill>
                <a:schemeClr val="bg2"/>
              </a:solidFill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FastSim</a:t>
            </a:r>
            <a:r>
              <a:rPr lang="en-US" dirty="0" smtClean="0"/>
              <a:t>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en-US" dirty="0" err="1" smtClean="0"/>
              <a:t>FullSim</a:t>
            </a:r>
            <a:endParaRPr lang="en-US" dirty="0"/>
          </a:p>
        </p:txBody>
      </p:sp>
      <p:pic>
        <p:nvPicPr>
          <p:cNvPr id="4" name="Picture 3" descr="QCD600Compare5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7" y="1066800"/>
            <a:ext cx="4719234" cy="3200400"/>
          </a:xfrm>
          <a:prstGeom prst="rect">
            <a:avLst/>
          </a:prstGeom>
        </p:spPr>
      </p:pic>
      <p:pic>
        <p:nvPicPr>
          <p:cNvPr id="5" name="Picture 4" descr="QCD3500Compare51.gif"/>
          <p:cNvPicPr>
            <a:picLocks noChangeAspect="1"/>
          </p:cNvPicPr>
          <p:nvPr/>
        </p:nvPicPr>
        <p:blipFill>
          <a:blip r:embed="rId3"/>
          <a:srcRect r="8955"/>
          <a:stretch>
            <a:fillRect/>
          </a:stretch>
        </p:blipFill>
        <p:spPr>
          <a:xfrm>
            <a:off x="4419600" y="2888484"/>
            <a:ext cx="4648200" cy="34622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33600" y="1200090"/>
            <a:ext cx="2170787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latin typeface="Arial" pitchFamily="34" charset="0"/>
              </a:rPr>
              <a:t>pT</a:t>
            </a:r>
            <a:r>
              <a:rPr lang="en-US" sz="2000" dirty="0" smtClean="0">
                <a:latin typeface="Arial" pitchFamily="34" charset="0"/>
              </a:rPr>
              <a:t> = 80-120 </a:t>
            </a:r>
            <a:r>
              <a:rPr lang="en-US" sz="2000" dirty="0" err="1" smtClean="0">
                <a:latin typeface="Arial" pitchFamily="34" charset="0"/>
              </a:rPr>
              <a:t>GeV</a:t>
            </a:r>
            <a:endParaRPr lang="en-US" sz="2000" dirty="0" smtClean="0">
              <a:latin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81800" y="2819400"/>
            <a:ext cx="2340705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latin typeface="Arial" pitchFamily="34" charset="0"/>
              </a:rPr>
              <a:t>pT</a:t>
            </a:r>
            <a:r>
              <a:rPr lang="en-US" sz="2000" dirty="0" smtClean="0">
                <a:latin typeface="Arial" pitchFamily="34" charset="0"/>
              </a:rPr>
              <a:t> = 3500-inf </a:t>
            </a:r>
            <a:r>
              <a:rPr lang="en-US" sz="2000" dirty="0" err="1" smtClean="0">
                <a:latin typeface="Arial" pitchFamily="34" charset="0"/>
              </a:rPr>
              <a:t>GeV</a:t>
            </a:r>
            <a:endParaRPr lang="en-US" sz="2000" dirty="0" smtClean="0">
              <a:latin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72083" y="1425714"/>
            <a:ext cx="34147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itchFamily="34" charset="0"/>
              </a:rPr>
              <a:t>At higher </a:t>
            </a:r>
            <a:r>
              <a:rPr lang="en-US" sz="2000" dirty="0" err="1" smtClean="0">
                <a:latin typeface="Arial" pitchFamily="34" charset="0"/>
              </a:rPr>
              <a:t>pT</a:t>
            </a:r>
            <a:r>
              <a:rPr lang="en-US" sz="2000" dirty="0" smtClean="0">
                <a:latin typeface="Arial" pitchFamily="34" charset="0"/>
              </a:rPr>
              <a:t> we see fewer </a:t>
            </a:r>
          </a:p>
          <a:p>
            <a:r>
              <a:rPr lang="en-US" sz="2000" dirty="0" smtClean="0">
                <a:latin typeface="Arial" pitchFamily="34" charset="0"/>
              </a:rPr>
              <a:t>towers</a:t>
            </a:r>
          </a:p>
        </p:txBody>
      </p:sp>
      <p:cxnSp>
        <p:nvCxnSpPr>
          <p:cNvPr id="10" name="Straight Arrow Connector 9"/>
          <p:cNvCxnSpPr/>
          <p:nvPr/>
        </p:nvCxnSpPr>
        <p:spPr bwMode="auto">
          <a:xfrm rot="16200000" flipH="1">
            <a:off x="5383141" y="2716141"/>
            <a:ext cx="968516" cy="1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10200" y="4191000"/>
            <a:ext cx="3485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itchFamily="34" charset="0"/>
              </a:rPr>
              <a:t>Towers have higher energy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3655" y="5715000"/>
            <a:ext cx="32159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itchFamily="34" charset="0"/>
              </a:rPr>
              <a:t>Find more energetic jets</a:t>
            </a:r>
          </a:p>
        </p:txBody>
      </p:sp>
      <p:cxnSp>
        <p:nvCxnSpPr>
          <p:cNvPr id="12" name="Straight Arrow Connector 11"/>
          <p:cNvCxnSpPr/>
          <p:nvPr/>
        </p:nvCxnSpPr>
        <p:spPr bwMode="auto">
          <a:xfrm>
            <a:off x="7924800" y="4591110"/>
            <a:ext cx="914400" cy="914400"/>
          </a:xfrm>
          <a:prstGeom prst="straightConnector1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 rot="10800000" flipV="1">
            <a:off x="7734300" y="4572088"/>
            <a:ext cx="342900" cy="228511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 bwMode="auto">
          <a:xfrm flipV="1">
            <a:off x="8050212" y="5791200"/>
            <a:ext cx="484188" cy="173098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81000" y="4626114"/>
            <a:ext cx="3615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itchFamily="34" charset="0"/>
              </a:rPr>
              <a:t>See better agreement in the </a:t>
            </a:r>
          </a:p>
          <a:p>
            <a:r>
              <a:rPr lang="en-US" sz="2000" dirty="0" smtClean="0">
                <a:latin typeface="Arial" pitchFamily="34" charset="0"/>
              </a:rPr>
              <a:t>low </a:t>
            </a:r>
            <a:r>
              <a:rPr lang="en-US" sz="2000" dirty="0" err="1" smtClean="0">
                <a:latin typeface="Arial" pitchFamily="34" charset="0"/>
              </a:rPr>
              <a:t>pT</a:t>
            </a:r>
            <a:r>
              <a:rPr lang="en-US" sz="2000" dirty="0" smtClean="0">
                <a:latin typeface="Arial" pitchFamily="34" charset="0"/>
              </a:rPr>
              <a:t> sample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FastSim</a:t>
            </a:r>
            <a:r>
              <a:rPr lang="en-US" dirty="0" smtClean="0"/>
              <a:t>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en-US" dirty="0" err="1" smtClean="0"/>
              <a:t>FullSim</a:t>
            </a:r>
            <a:endParaRPr lang="en-US" dirty="0"/>
          </a:p>
        </p:txBody>
      </p:sp>
      <p:pic>
        <p:nvPicPr>
          <p:cNvPr id="4" name="Picture 3" descr="QCD600Compare2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3767292"/>
            <a:ext cx="3810000" cy="2557308"/>
          </a:xfrm>
          <a:prstGeom prst="rect">
            <a:avLst/>
          </a:prstGeom>
        </p:spPr>
      </p:pic>
      <p:pic>
        <p:nvPicPr>
          <p:cNvPr id="5" name="Picture 4" descr="QCD3500Compare2.gif"/>
          <p:cNvPicPr>
            <a:picLocks noChangeAspect="1"/>
          </p:cNvPicPr>
          <p:nvPr/>
        </p:nvPicPr>
        <p:blipFill>
          <a:blip r:embed="rId3"/>
          <a:srcRect r="8177"/>
          <a:stretch>
            <a:fillRect/>
          </a:stretch>
        </p:blipFill>
        <p:spPr>
          <a:xfrm>
            <a:off x="3810000" y="2800350"/>
            <a:ext cx="5133975" cy="3752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62400" y="1371600"/>
            <a:ext cx="51219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latin typeface="Arial" pitchFamily="34" charset="0"/>
              </a:rPr>
              <a:t>Hadronic</a:t>
            </a:r>
            <a:r>
              <a:rPr lang="en-US" sz="2000" dirty="0" smtClean="0">
                <a:latin typeface="Arial" pitchFamily="34" charset="0"/>
              </a:rPr>
              <a:t> fraction of the Leading Jet is </a:t>
            </a:r>
          </a:p>
          <a:p>
            <a:r>
              <a:rPr lang="en-US" sz="2000" dirty="0" smtClean="0">
                <a:latin typeface="Arial" pitchFamily="34" charset="0"/>
              </a:rPr>
              <a:t>smaller in the low </a:t>
            </a:r>
            <a:r>
              <a:rPr lang="en-US" sz="2000" dirty="0" err="1" smtClean="0">
                <a:latin typeface="Arial" pitchFamily="34" charset="0"/>
              </a:rPr>
              <a:t>pT</a:t>
            </a:r>
            <a:r>
              <a:rPr lang="en-US" sz="2000" dirty="0" smtClean="0">
                <a:latin typeface="Arial" pitchFamily="34" charset="0"/>
              </a:rPr>
              <a:t> sample and higher </a:t>
            </a:r>
          </a:p>
          <a:p>
            <a:r>
              <a:rPr lang="en-US" sz="2000" dirty="0" smtClean="0">
                <a:latin typeface="Arial" pitchFamily="34" charset="0"/>
              </a:rPr>
              <a:t>in the high </a:t>
            </a:r>
            <a:r>
              <a:rPr lang="en-US" sz="2000" dirty="0" err="1" smtClean="0">
                <a:latin typeface="Arial" pitchFamily="34" charset="0"/>
              </a:rPr>
              <a:t>pT</a:t>
            </a:r>
            <a:r>
              <a:rPr lang="en-US" sz="2000" dirty="0" smtClean="0">
                <a:latin typeface="Arial" pitchFamily="34" charset="0"/>
              </a:rPr>
              <a:t> sample</a:t>
            </a:r>
          </a:p>
        </p:txBody>
      </p:sp>
      <p:pic>
        <p:nvPicPr>
          <p:cNvPr id="8" name="Picture 7" descr="QCD80Compare2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1" y="1219200"/>
            <a:ext cx="3581400" cy="24038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4728" y="2667000"/>
            <a:ext cx="157607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latin typeface="Arial" pitchFamily="34" charset="0"/>
              </a:rPr>
              <a:t>pT</a:t>
            </a:r>
            <a:r>
              <a:rPr lang="en-US" dirty="0" smtClean="0">
                <a:latin typeface="Arial" pitchFamily="34" charset="0"/>
              </a:rPr>
              <a:t> = 80 - 120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887" y="5334000"/>
            <a:ext cx="170431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latin typeface="Arial" pitchFamily="34" charset="0"/>
              </a:rPr>
              <a:t>pT</a:t>
            </a:r>
            <a:r>
              <a:rPr lang="en-US" dirty="0" smtClean="0">
                <a:latin typeface="Arial" pitchFamily="34" charset="0"/>
              </a:rPr>
              <a:t> = 600 - 800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0039" y="5314890"/>
            <a:ext cx="172996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>
                <a:latin typeface="Arial" pitchFamily="34" charset="0"/>
              </a:rPr>
              <a:t>pT</a:t>
            </a:r>
            <a:r>
              <a:rPr lang="en-US" dirty="0" smtClean="0">
                <a:latin typeface="Arial" pitchFamily="34" charset="0"/>
              </a:rPr>
              <a:t> = 3500 - </a:t>
            </a:r>
            <a:r>
              <a:rPr lang="en-US" dirty="0" err="1" smtClean="0">
                <a:latin typeface="Arial" pitchFamily="34" charset="0"/>
              </a:rPr>
              <a:t>inf</a:t>
            </a:r>
            <a:endParaRPr lang="en-US" dirty="0" smtClean="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FastSim</a:t>
            </a:r>
            <a:r>
              <a:rPr lang="en-US" dirty="0" smtClean="0"/>
              <a:t>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en-US" dirty="0" err="1" smtClean="0"/>
              <a:t>FullSim</a:t>
            </a:r>
            <a:endParaRPr lang="en-US" dirty="0"/>
          </a:p>
        </p:txBody>
      </p:sp>
      <p:pic>
        <p:nvPicPr>
          <p:cNvPr id="4" name="Picture 3" descr="QCD80Compare016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2070673"/>
            <a:ext cx="4067175" cy="2729927"/>
          </a:xfrm>
          <a:prstGeom prst="rect">
            <a:avLst/>
          </a:prstGeom>
        </p:spPr>
      </p:pic>
      <p:pic>
        <p:nvPicPr>
          <p:cNvPr id="6" name="Picture 5" descr="QCD3500Compare0161.gif"/>
          <p:cNvPicPr>
            <a:picLocks noChangeAspect="1"/>
          </p:cNvPicPr>
          <p:nvPr/>
        </p:nvPicPr>
        <p:blipFill>
          <a:blip r:embed="rId3"/>
          <a:srcRect r="4089"/>
          <a:stretch>
            <a:fillRect/>
          </a:stretch>
        </p:blipFill>
        <p:spPr>
          <a:xfrm>
            <a:off x="4267200" y="3117432"/>
            <a:ext cx="4800600" cy="33595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066800"/>
            <a:ext cx="67345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</a:rPr>
              <a:t>EM and HAD energy in three </a:t>
            </a:r>
            <a:r>
              <a:rPr lang="el-GR" sz="2800" dirty="0" smtClean="0">
                <a:solidFill>
                  <a:srgbClr val="0000FF"/>
                </a:solidFill>
                <a:latin typeface="Arial" pitchFamily="34" charset="0"/>
              </a:rPr>
              <a:t>η</a:t>
            </a:r>
            <a:r>
              <a:rPr lang="en-US" sz="2800" dirty="0" smtClean="0">
                <a:solidFill>
                  <a:srgbClr val="0000FF"/>
                </a:solidFill>
                <a:latin typeface="Arial" pitchFamily="34" charset="0"/>
              </a:rPr>
              <a:t> regions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569" y="5314890"/>
            <a:ext cx="37274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itchFamily="34" charset="0"/>
              </a:rPr>
              <a:t>For |</a:t>
            </a:r>
            <a:r>
              <a:rPr lang="el-GR" sz="2000" dirty="0" smtClean="0">
                <a:latin typeface="Arial" pitchFamily="34" charset="0"/>
              </a:rPr>
              <a:t>η</a:t>
            </a:r>
            <a:r>
              <a:rPr lang="en-US" sz="2000" dirty="0" smtClean="0">
                <a:latin typeface="Arial" pitchFamily="34" charset="0"/>
              </a:rPr>
              <a:t>| &gt; 3: EM low, HAD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44969" y="2190690"/>
            <a:ext cx="29418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itchFamily="34" charset="0"/>
              </a:rPr>
              <a:t>For |</a:t>
            </a:r>
            <a:r>
              <a:rPr lang="el-GR" sz="2000" dirty="0" smtClean="0">
                <a:latin typeface="Arial" pitchFamily="34" charset="0"/>
              </a:rPr>
              <a:t>η</a:t>
            </a:r>
            <a:r>
              <a:rPr lang="en-US" sz="2000" dirty="0" smtClean="0">
                <a:latin typeface="Arial" pitchFamily="34" charset="0"/>
              </a:rPr>
              <a:t>| &lt; 1.3: HAD 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1733490"/>
            <a:ext cx="1786066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latin typeface="Arial" pitchFamily="34" charset="0"/>
              </a:rPr>
              <a:t>pT</a:t>
            </a:r>
            <a:r>
              <a:rPr lang="en-US" sz="2000" dirty="0" smtClean="0">
                <a:latin typeface="Arial" pitchFamily="34" charset="0"/>
              </a:rPr>
              <a:t> = </a:t>
            </a:r>
            <a:r>
              <a:rPr lang="en-US" sz="2000" dirty="0" smtClean="0">
                <a:latin typeface="Arial" pitchFamily="34" charset="0"/>
              </a:rPr>
              <a:t>80 </a:t>
            </a:r>
            <a:r>
              <a:rPr lang="en-US" sz="2000" dirty="0" smtClean="0">
                <a:latin typeface="Arial" pitchFamily="34" charset="0"/>
              </a:rPr>
              <a:t>– </a:t>
            </a:r>
            <a:r>
              <a:rPr lang="en-US" sz="2000" dirty="0" smtClean="0">
                <a:latin typeface="Arial" pitchFamily="34" charset="0"/>
              </a:rPr>
              <a:t>120</a:t>
            </a:r>
            <a:endParaRPr lang="en-US" sz="2000" dirty="0" smtClean="0">
              <a:latin typeface="Arial" pitchFamily="34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 bwMode="auto">
          <a:xfrm rot="5400000" flipH="1" flipV="1">
            <a:off x="1991549" y="4961761"/>
            <a:ext cx="590490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 bwMode="auto">
          <a:xfrm>
            <a:off x="2258034" y="5715000"/>
            <a:ext cx="2085366" cy="4572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 bwMode="auto">
          <a:xfrm rot="5400000">
            <a:off x="7924006" y="3123406"/>
            <a:ext cx="914400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444815" y="2667000"/>
            <a:ext cx="1955985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latin typeface="Arial" pitchFamily="34" charset="0"/>
              </a:rPr>
              <a:t>pT</a:t>
            </a:r>
            <a:r>
              <a:rPr lang="en-US" sz="2000" dirty="0" smtClean="0">
                <a:latin typeface="Arial" pitchFamily="34" charset="0"/>
              </a:rPr>
              <a:t> = </a:t>
            </a:r>
            <a:r>
              <a:rPr lang="en-US" sz="2000" dirty="0" smtClean="0">
                <a:latin typeface="Arial" pitchFamily="34" charset="0"/>
              </a:rPr>
              <a:t>3500 </a:t>
            </a:r>
            <a:r>
              <a:rPr lang="en-US" sz="2000" dirty="0" smtClean="0">
                <a:latin typeface="Arial" pitchFamily="34" charset="0"/>
              </a:rPr>
              <a:t>– </a:t>
            </a:r>
            <a:r>
              <a:rPr lang="en-US" sz="2000" dirty="0" err="1" smtClean="0">
                <a:latin typeface="Arial" pitchFamily="34" charset="0"/>
              </a:rPr>
              <a:t>inf</a:t>
            </a:r>
            <a:endParaRPr lang="en-US" sz="2000" dirty="0" smtClean="0">
              <a:latin typeface="Arial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44959" y="3200400"/>
            <a:ext cx="1132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itchFamily="34" charset="0"/>
              </a:rPr>
              <a:t>|</a:t>
            </a:r>
            <a:r>
              <a:rPr lang="el-GR" sz="2000" dirty="0" smtClean="0">
                <a:latin typeface="Arial" pitchFamily="34" charset="0"/>
              </a:rPr>
              <a:t>η</a:t>
            </a:r>
            <a:r>
              <a:rPr lang="en-US" sz="2000" dirty="0" smtClean="0">
                <a:latin typeface="Arial" pitchFamily="34" charset="0"/>
              </a:rPr>
              <a:t>| &lt; 1.3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6800" y="4419600"/>
            <a:ext cx="15648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itchFamily="34" charset="0"/>
              </a:rPr>
              <a:t>1.3 &lt; |</a:t>
            </a:r>
            <a:r>
              <a:rPr lang="el-GR" sz="2000" dirty="0" smtClean="0">
                <a:latin typeface="Arial" pitchFamily="34" charset="0"/>
              </a:rPr>
              <a:t>η</a:t>
            </a:r>
            <a:r>
              <a:rPr lang="en-US" sz="2000" dirty="0" smtClean="0">
                <a:latin typeface="Arial" pitchFamily="34" charset="0"/>
              </a:rPr>
              <a:t>| &lt;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4959" y="5619690"/>
            <a:ext cx="7777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itchFamily="34" charset="0"/>
              </a:rPr>
              <a:t>|</a:t>
            </a:r>
            <a:r>
              <a:rPr lang="el-GR" sz="2000" dirty="0" smtClean="0">
                <a:latin typeface="Arial" pitchFamily="34" charset="0"/>
              </a:rPr>
              <a:t>η</a:t>
            </a:r>
            <a:r>
              <a:rPr lang="en-US" sz="2000" dirty="0" smtClean="0">
                <a:latin typeface="Arial" pitchFamily="34" charset="0"/>
              </a:rPr>
              <a:t>|&gt;3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5400" y="2266890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itchFamily="34" charset="0"/>
              </a:rPr>
              <a:t>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9889" y="2266890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itchFamily="34" charset="0"/>
              </a:rPr>
              <a:t>HAD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FastSim</a:t>
            </a:r>
            <a:r>
              <a:rPr lang="en-US" dirty="0" smtClean="0"/>
              <a:t>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en-US" dirty="0" err="1" smtClean="0"/>
              <a:t>FullSim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577939" y="1671935"/>
            <a:ext cx="5413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Arial" pitchFamily="34" charset="0"/>
              </a:rPr>
              <a:t>Dijet Mass from the two leading jets</a:t>
            </a:r>
          </a:p>
        </p:txBody>
      </p:sp>
      <p:pic>
        <p:nvPicPr>
          <p:cNvPr id="7" name="Picture 6" descr="QCD3500Compare61.gif"/>
          <p:cNvPicPr>
            <a:picLocks noChangeAspect="1"/>
          </p:cNvPicPr>
          <p:nvPr/>
        </p:nvPicPr>
        <p:blipFill>
          <a:blip r:embed="rId2"/>
          <a:srcRect r="6814" b="2030"/>
          <a:stretch>
            <a:fillRect/>
          </a:stretch>
        </p:blipFill>
        <p:spPr>
          <a:xfrm>
            <a:off x="3886200" y="2819400"/>
            <a:ext cx="5210175" cy="3676650"/>
          </a:xfrm>
          <a:prstGeom prst="rect">
            <a:avLst/>
          </a:prstGeom>
        </p:spPr>
      </p:pic>
      <p:pic>
        <p:nvPicPr>
          <p:cNvPr id="9" name="Picture 8" descr="QCD600Compare6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3641385"/>
            <a:ext cx="3997581" cy="2683215"/>
          </a:xfrm>
          <a:prstGeom prst="rect">
            <a:avLst/>
          </a:prstGeom>
        </p:spPr>
      </p:pic>
      <p:pic>
        <p:nvPicPr>
          <p:cNvPr id="10" name="Picture 9" descr="QCD80Compare6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12" y="1143000"/>
            <a:ext cx="3405188" cy="22855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FastSim</a:t>
            </a:r>
            <a:r>
              <a:rPr lang="en-US" dirty="0" smtClean="0"/>
              <a:t>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en-US" dirty="0" err="1" smtClean="0"/>
              <a:t>FullSim</a:t>
            </a:r>
            <a:endParaRPr lang="en-US" dirty="0"/>
          </a:p>
        </p:txBody>
      </p:sp>
      <p:pic>
        <p:nvPicPr>
          <p:cNvPr id="4" name="Picture 3" descr="QCD80Compare3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1143000"/>
            <a:ext cx="4086950" cy="2743200"/>
          </a:xfrm>
          <a:prstGeom prst="rect">
            <a:avLst/>
          </a:prstGeom>
        </p:spPr>
      </p:pic>
      <p:pic>
        <p:nvPicPr>
          <p:cNvPr id="5" name="Picture 4" descr="QCD600Compare3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733800"/>
            <a:ext cx="4086950" cy="2743200"/>
          </a:xfrm>
          <a:prstGeom prst="rect">
            <a:avLst/>
          </a:prstGeom>
        </p:spPr>
      </p:pic>
      <p:pic>
        <p:nvPicPr>
          <p:cNvPr id="6" name="Picture 5" descr="QCD3500Compare3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613" y="3429000"/>
            <a:ext cx="4395787" cy="29504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43400" y="1610380"/>
            <a:ext cx="412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Arial" pitchFamily="34" charset="0"/>
              </a:rPr>
              <a:t>Et(tower) / Et (Jet) </a:t>
            </a:r>
            <a:r>
              <a:rPr lang="en-US" sz="2800" dirty="0" err="1" smtClean="0">
                <a:latin typeface="Arial" pitchFamily="34" charset="0"/>
              </a:rPr>
              <a:t>vs</a:t>
            </a:r>
            <a:r>
              <a:rPr lang="en-US" sz="2800" dirty="0" smtClean="0">
                <a:latin typeface="Arial" pitchFamily="34" charset="0"/>
              </a:rPr>
              <a:t> R</a:t>
            </a:r>
            <a:endParaRPr lang="en-US" sz="2800" dirty="0" smtClean="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FastSim</a:t>
            </a:r>
            <a:r>
              <a:rPr lang="en-US" dirty="0" smtClean="0"/>
              <a:t>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en-US" dirty="0" err="1" smtClean="0"/>
              <a:t>FullSim</a:t>
            </a:r>
            <a:endParaRPr lang="en-US" dirty="0"/>
          </a:p>
        </p:txBody>
      </p:sp>
      <p:pic>
        <p:nvPicPr>
          <p:cNvPr id="4" name="Picture 3" descr="QCD80Compare015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828800"/>
            <a:ext cx="6925110" cy="464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1219200"/>
            <a:ext cx="36840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Arial" pitchFamily="34" charset="0"/>
              </a:rPr>
              <a:t>Jet Response </a:t>
            </a:r>
            <a:r>
              <a:rPr lang="en-US" sz="2800" dirty="0" err="1" smtClean="0">
                <a:latin typeface="Arial" pitchFamily="34" charset="0"/>
              </a:rPr>
              <a:t>vs</a:t>
            </a:r>
            <a:r>
              <a:rPr lang="en-US" sz="2800" dirty="0" smtClean="0">
                <a:latin typeface="Arial" pitchFamily="34" charset="0"/>
              </a:rPr>
              <a:t> Eta</a:t>
            </a:r>
            <a:endParaRPr lang="en-US" sz="2800" dirty="0" smtClean="0">
              <a:latin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52800" y="2647890"/>
            <a:ext cx="21371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itchFamily="34" charset="0"/>
              </a:rPr>
              <a:t>Known Problem</a:t>
            </a:r>
            <a:endParaRPr lang="en-US" sz="2000" dirty="0" smtClean="0">
              <a:latin typeface="Arial" pitchFamily="34" charset="0"/>
            </a:endParaRPr>
          </a:p>
        </p:txBody>
      </p:sp>
      <p:cxnSp>
        <p:nvCxnSpPr>
          <p:cNvPr id="8" name="Straight Arrow Connector 7"/>
          <p:cNvCxnSpPr>
            <a:stCxn id="6" idx="3"/>
          </p:cNvCxnSpPr>
          <p:nvPr/>
        </p:nvCxnSpPr>
        <p:spPr bwMode="auto">
          <a:xfrm>
            <a:off x="5489924" y="2847945"/>
            <a:ext cx="834676" cy="4765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 bwMode="auto">
          <a:xfrm>
            <a:off x="1447800" y="3048000"/>
            <a:ext cx="2057400" cy="1600200"/>
          </a:xfrm>
          <a:prstGeom prst="ellipse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CMSSW152 </a:t>
            </a:r>
            <a:r>
              <a:rPr lang="en-US" dirty="0" err="1" smtClean="0"/>
              <a:t>vs</a:t>
            </a:r>
            <a:r>
              <a:rPr lang="en-US" dirty="0" smtClean="0"/>
              <a:t> CMSSW167</a:t>
            </a:r>
            <a:endParaRPr lang="en-US" dirty="0"/>
          </a:p>
        </p:txBody>
      </p:sp>
      <p:pic>
        <p:nvPicPr>
          <p:cNvPr id="4" name="Picture 3" descr="QCD80Compare015_v167.gif"/>
          <p:cNvPicPr>
            <a:picLocks noChangeAspect="1"/>
          </p:cNvPicPr>
          <p:nvPr/>
        </p:nvPicPr>
        <p:blipFill>
          <a:blip r:embed="rId2"/>
          <a:srcRect t="4569" r="7325" b="8122"/>
          <a:stretch>
            <a:fillRect/>
          </a:stretch>
        </p:blipFill>
        <p:spPr>
          <a:xfrm>
            <a:off x="76200" y="3048000"/>
            <a:ext cx="5181600" cy="3276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4653" y="1066800"/>
            <a:ext cx="785522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itchFamily="34" charset="0"/>
              </a:rPr>
              <a:t>Working with the CMSSW152 samples because they are easier </a:t>
            </a:r>
          </a:p>
          <a:p>
            <a:r>
              <a:rPr lang="en-US" sz="2000" dirty="0" smtClean="0">
                <a:latin typeface="Arial" pitchFamily="34" charset="0"/>
              </a:rPr>
              <a:t>to get at and cover a wider </a:t>
            </a:r>
            <a:r>
              <a:rPr lang="en-US" sz="2000" dirty="0" err="1" smtClean="0">
                <a:latin typeface="Arial" pitchFamily="34" charset="0"/>
              </a:rPr>
              <a:t>pT</a:t>
            </a:r>
            <a:r>
              <a:rPr lang="en-US" sz="2000" dirty="0" smtClean="0">
                <a:latin typeface="Arial" pitchFamily="34" charset="0"/>
              </a:rPr>
              <a:t> range</a:t>
            </a:r>
          </a:p>
          <a:p>
            <a:endParaRPr lang="en-US" sz="2000" dirty="0" smtClean="0">
              <a:latin typeface="Arial" pitchFamily="34" charset="0"/>
            </a:endParaRPr>
          </a:p>
          <a:p>
            <a:r>
              <a:rPr lang="en-US" sz="2000" dirty="0" smtClean="0">
                <a:latin typeface="Arial" pitchFamily="34" charset="0"/>
              </a:rPr>
              <a:t>Compared CMSSW152 </a:t>
            </a:r>
            <a:r>
              <a:rPr lang="en-US" sz="2000" dirty="0" smtClean="0">
                <a:latin typeface="Arial" pitchFamily="34" charset="0"/>
              </a:rPr>
              <a:t>(black) with </a:t>
            </a:r>
            <a:endParaRPr lang="en-US" sz="2000" dirty="0" smtClean="0">
              <a:latin typeface="Arial" pitchFamily="34" charset="0"/>
            </a:endParaRPr>
          </a:p>
          <a:p>
            <a:r>
              <a:rPr lang="en-US" sz="2000" dirty="0" smtClean="0">
                <a:latin typeface="Arial" pitchFamily="34" charset="0"/>
              </a:rPr>
              <a:t>CMSSW167 (red), </a:t>
            </a:r>
            <a:r>
              <a:rPr lang="en-US" sz="2000" dirty="0" err="1" smtClean="0">
                <a:latin typeface="Arial" pitchFamily="34" charset="0"/>
              </a:rPr>
              <a:t>pT</a:t>
            </a:r>
            <a:r>
              <a:rPr lang="en-US" sz="2000" dirty="0" smtClean="0">
                <a:latin typeface="Arial" pitchFamily="34" charset="0"/>
              </a:rPr>
              <a:t> = (80 – 120)</a:t>
            </a:r>
          </a:p>
          <a:p>
            <a:r>
              <a:rPr lang="en-US" sz="2800" i="1" dirty="0" smtClean="0">
                <a:solidFill>
                  <a:srgbClr val="FF0000"/>
                </a:solidFill>
                <a:latin typeface="Arial" pitchFamily="34" charset="0"/>
              </a:rPr>
              <a:t>→</a:t>
            </a:r>
            <a:r>
              <a:rPr lang="en-US" sz="2000" i="1" dirty="0" smtClean="0">
                <a:solidFill>
                  <a:srgbClr val="FF0000"/>
                </a:solidFill>
                <a:latin typeface="Arial" pitchFamily="34" charset="0"/>
              </a:rPr>
              <a:t> distributions </a:t>
            </a:r>
            <a:r>
              <a:rPr lang="en-US" sz="2000" i="1" dirty="0" smtClean="0">
                <a:solidFill>
                  <a:srgbClr val="FF0000"/>
                </a:solidFill>
                <a:latin typeface="Arial" pitchFamily="34" charset="0"/>
              </a:rPr>
              <a:t>look very similar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92269"/>
            <a:ext cx="2501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 pitchFamily="34" charset="0"/>
              </a:rPr>
              <a:t>HCAL Gains too high</a:t>
            </a:r>
          </a:p>
          <a:p>
            <a:r>
              <a:rPr lang="en-US" i="1" dirty="0" smtClean="0">
                <a:latin typeface="Arial" pitchFamily="34" charset="0"/>
              </a:rPr>
              <a:t>Fixed in CMSSW168</a:t>
            </a:r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3733800" y="3806280"/>
            <a:ext cx="533400" cy="15612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Picture 11" descr="QCD80Compare013_v167.gif"/>
          <p:cNvPicPr>
            <a:picLocks noChangeAspect="1"/>
          </p:cNvPicPr>
          <p:nvPr/>
        </p:nvPicPr>
        <p:blipFill>
          <a:blip r:embed="rId3"/>
          <a:srcRect l="5845" r="5885"/>
          <a:stretch>
            <a:fillRect/>
          </a:stretch>
        </p:blipFill>
        <p:spPr>
          <a:xfrm>
            <a:off x="5257800" y="1447800"/>
            <a:ext cx="3733800" cy="28391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4600" y="2647890"/>
            <a:ext cx="2621230" cy="400110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itchFamily="34" charset="0"/>
              </a:rPr>
              <a:t>Lead Jet EM Energy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0" y="4038600"/>
            <a:ext cx="2794355" cy="400110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itchFamily="34" charset="0"/>
              </a:rPr>
              <a:t>Lead Jet HAD Energy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FastSim</a:t>
            </a:r>
            <a:r>
              <a:rPr lang="en-US" dirty="0" smtClean="0"/>
              <a:t>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en-US" dirty="0" err="1" smtClean="0"/>
              <a:t>FullSim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4655" y="1066800"/>
            <a:ext cx="7443063" cy="5447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i="1" dirty="0" smtClean="0">
                <a:solidFill>
                  <a:srgbClr val="00B0F0"/>
                </a:solidFill>
                <a:latin typeface="Arial" pitchFamily="34" charset="0"/>
              </a:rPr>
              <a:t>Results have been shown to experts… several email </a:t>
            </a:r>
          </a:p>
          <a:p>
            <a:r>
              <a:rPr lang="en-US" sz="2400" b="0" i="1" dirty="0" smtClean="0">
                <a:solidFill>
                  <a:srgbClr val="00B0F0"/>
                </a:solidFill>
                <a:latin typeface="Arial" pitchFamily="34" charset="0"/>
              </a:rPr>
              <a:t>exchanges</a:t>
            </a:r>
            <a:endParaRPr lang="en-US" sz="2400" u="sng" dirty="0" smtClean="0">
              <a:latin typeface="Arial" pitchFamily="34" charset="0"/>
            </a:endParaRPr>
          </a:p>
          <a:p>
            <a:r>
              <a:rPr lang="en-US" sz="2400" u="sng" dirty="0" smtClean="0">
                <a:latin typeface="Arial" pitchFamily="34" charset="0"/>
              </a:rPr>
              <a:t>High </a:t>
            </a:r>
            <a:r>
              <a:rPr lang="en-US" sz="2400" u="sng" dirty="0" err="1" smtClean="0">
                <a:latin typeface="Arial" pitchFamily="34" charset="0"/>
              </a:rPr>
              <a:t>pT</a:t>
            </a:r>
            <a:r>
              <a:rPr lang="en-US" sz="2400" u="sng" dirty="0" smtClean="0">
                <a:latin typeface="Arial" pitchFamily="34" charset="0"/>
              </a:rPr>
              <a:t> </a:t>
            </a:r>
            <a:r>
              <a:rPr lang="en-US" sz="2400" u="sng" dirty="0" smtClean="0">
                <a:latin typeface="Arial" pitchFamily="34" charset="0"/>
              </a:rPr>
              <a:t>sample</a:t>
            </a:r>
            <a:r>
              <a:rPr lang="en-US" sz="2400" dirty="0" smtClean="0">
                <a:latin typeface="Arial" pitchFamily="34" charset="0"/>
              </a:rPr>
              <a:t> </a:t>
            </a:r>
            <a:r>
              <a:rPr lang="en-US" sz="2400" dirty="0" smtClean="0">
                <a:solidFill>
                  <a:srgbClr val="0070C0"/>
                </a:solidFill>
                <a:latin typeface="Arial" pitchFamily="34" charset="0"/>
              </a:rPr>
              <a:t>(first time looking at high </a:t>
            </a:r>
            <a:r>
              <a:rPr lang="en-US" sz="2400" dirty="0" err="1" smtClean="0">
                <a:solidFill>
                  <a:srgbClr val="0070C0"/>
                </a:solidFill>
                <a:latin typeface="Arial" pitchFamily="34" charset="0"/>
              </a:rPr>
              <a:t>pT</a:t>
            </a:r>
            <a:r>
              <a:rPr lang="en-US" sz="2400" dirty="0" smtClean="0">
                <a:solidFill>
                  <a:srgbClr val="0070C0"/>
                </a:solidFill>
                <a:latin typeface="Arial" pitchFamily="34" charset="0"/>
              </a:rPr>
              <a:t>)</a:t>
            </a:r>
            <a:endParaRPr lang="en-US" sz="2400" dirty="0" smtClean="0">
              <a:solidFill>
                <a:srgbClr val="0070C0"/>
              </a:solidFill>
              <a:latin typeface="Arial" pitchFamily="34" charset="0"/>
            </a:endParaRPr>
          </a:p>
          <a:p>
            <a:endParaRPr lang="en-US" sz="2400" dirty="0" smtClean="0">
              <a:latin typeface="Arial" pitchFamily="34" charset="0"/>
            </a:endParaRPr>
          </a:p>
          <a:p>
            <a:r>
              <a:rPr lang="en-US" sz="2000" dirty="0" smtClean="0">
                <a:latin typeface="Arial" pitchFamily="34" charset="0"/>
              </a:rPr>
              <a:t>See fewer towers </a:t>
            </a:r>
            <a:r>
              <a:rPr lang="en-US" sz="2000" i="1" dirty="0" smtClean="0">
                <a:latin typeface="Arial" pitchFamily="34" charset="0"/>
              </a:rPr>
              <a:t>and</a:t>
            </a:r>
            <a:r>
              <a:rPr lang="en-US" sz="2000" dirty="0" smtClean="0">
                <a:latin typeface="Arial" pitchFamily="34" charset="0"/>
              </a:rPr>
              <a:t> towers </a:t>
            </a:r>
            <a:r>
              <a:rPr lang="en-US" sz="2000" i="1" u="sng" dirty="0" smtClean="0">
                <a:latin typeface="Arial" pitchFamily="34" charset="0"/>
              </a:rPr>
              <a:t>have more energy</a:t>
            </a:r>
          </a:p>
          <a:p>
            <a:pPr>
              <a:buFont typeface="Wingdings" pitchFamily="2" charset="2"/>
              <a:buChar char="Ø"/>
            </a:pPr>
            <a:r>
              <a:rPr lang="en-US" sz="2000" i="1" dirty="0" smtClean="0">
                <a:solidFill>
                  <a:srgbClr val="FF0000"/>
                </a:solidFill>
                <a:latin typeface="Arial" pitchFamily="34" charset="0"/>
              </a:rPr>
              <a:t> Lateral shower spread</a:t>
            </a:r>
          </a:p>
          <a:p>
            <a:endParaRPr lang="en-US" sz="2000" dirty="0" smtClean="0">
              <a:latin typeface="Arial" pitchFamily="34" charset="0"/>
            </a:endParaRPr>
          </a:p>
          <a:p>
            <a:r>
              <a:rPr lang="en-US" sz="2000" dirty="0" err="1" smtClean="0">
                <a:latin typeface="Arial" pitchFamily="34" charset="0"/>
              </a:rPr>
              <a:t>FastSim</a:t>
            </a:r>
            <a:r>
              <a:rPr lang="en-US" sz="2000" dirty="0" smtClean="0">
                <a:latin typeface="Arial" pitchFamily="34" charset="0"/>
              </a:rPr>
              <a:t> jets are </a:t>
            </a:r>
            <a:r>
              <a:rPr lang="en-US" sz="2000" i="1" u="sng" dirty="0" smtClean="0">
                <a:latin typeface="Arial" pitchFamily="34" charset="0"/>
              </a:rPr>
              <a:t>more energetic</a:t>
            </a:r>
          </a:p>
          <a:p>
            <a:pPr>
              <a:buFont typeface="Wingdings" pitchFamily="2" charset="2"/>
              <a:buChar char="Ø"/>
            </a:pPr>
            <a:r>
              <a:rPr lang="en-US" sz="2000" i="1" dirty="0" smtClean="0">
                <a:solidFill>
                  <a:srgbClr val="FF0000"/>
                </a:solidFill>
                <a:latin typeface="Arial" pitchFamily="34" charset="0"/>
              </a:rPr>
              <a:t> Energy scale/linearity</a:t>
            </a:r>
          </a:p>
          <a:p>
            <a:endParaRPr lang="en-US" sz="2000" dirty="0" smtClean="0">
              <a:latin typeface="Arial" pitchFamily="34" charset="0"/>
            </a:endParaRPr>
          </a:p>
          <a:p>
            <a:r>
              <a:rPr lang="en-US" sz="2000" dirty="0" err="1" smtClean="0">
                <a:latin typeface="Arial" pitchFamily="34" charset="0"/>
              </a:rPr>
              <a:t>FastSim</a:t>
            </a:r>
            <a:r>
              <a:rPr lang="en-US" sz="2000" dirty="0" smtClean="0">
                <a:latin typeface="Arial" pitchFamily="34" charset="0"/>
              </a:rPr>
              <a:t> jets have a </a:t>
            </a:r>
            <a:r>
              <a:rPr lang="en-US" sz="2000" i="1" u="sng" dirty="0" smtClean="0">
                <a:latin typeface="Arial" pitchFamily="34" charset="0"/>
              </a:rPr>
              <a:t>larger </a:t>
            </a:r>
            <a:r>
              <a:rPr lang="en-US" sz="2000" i="1" u="sng" dirty="0" err="1" smtClean="0">
                <a:latin typeface="Arial" pitchFamily="34" charset="0"/>
              </a:rPr>
              <a:t>hadronic</a:t>
            </a:r>
            <a:r>
              <a:rPr lang="en-US" sz="2000" i="1" u="sng" dirty="0" smtClean="0">
                <a:latin typeface="Arial" pitchFamily="34" charset="0"/>
              </a:rPr>
              <a:t> component</a:t>
            </a:r>
          </a:p>
          <a:p>
            <a:pPr>
              <a:buFont typeface="Wingdings" pitchFamily="2" charset="2"/>
              <a:buChar char="Ø"/>
            </a:pPr>
            <a:r>
              <a:rPr lang="en-US" sz="2000" i="1" dirty="0" smtClean="0">
                <a:solidFill>
                  <a:srgbClr val="FF0000"/>
                </a:solidFill>
                <a:latin typeface="Arial" pitchFamily="34" charset="0"/>
              </a:rPr>
              <a:t> Longitudinal shower</a:t>
            </a:r>
          </a:p>
          <a:p>
            <a:endParaRPr lang="en-US" sz="2400" i="1" dirty="0" smtClean="0">
              <a:solidFill>
                <a:srgbClr val="FF0000"/>
              </a:solidFill>
              <a:latin typeface="Arial" pitchFamily="34" charset="0"/>
            </a:endParaRPr>
          </a:p>
          <a:p>
            <a:r>
              <a:rPr lang="en-US" sz="2400" u="sng" dirty="0" smtClean="0">
                <a:latin typeface="Arial" pitchFamily="34" charset="0"/>
              </a:rPr>
              <a:t>Forward </a:t>
            </a:r>
            <a:r>
              <a:rPr lang="en-US" sz="2400" u="sng" dirty="0" smtClean="0">
                <a:latin typeface="Arial" pitchFamily="34" charset="0"/>
              </a:rPr>
              <a:t>Region</a:t>
            </a:r>
            <a:r>
              <a:rPr lang="en-US" sz="2400" dirty="0" smtClean="0">
                <a:latin typeface="Arial" pitchFamily="34" charset="0"/>
              </a:rPr>
              <a:t> </a:t>
            </a:r>
            <a:r>
              <a:rPr lang="en-US" sz="2400" dirty="0" smtClean="0">
                <a:solidFill>
                  <a:srgbClr val="0070C0"/>
                </a:solidFill>
                <a:latin typeface="Arial" pitchFamily="34" charset="0"/>
              </a:rPr>
              <a:t>(</a:t>
            </a:r>
            <a:r>
              <a:rPr lang="en-US" sz="2400" dirty="0" smtClean="0">
                <a:solidFill>
                  <a:srgbClr val="0070C0"/>
                </a:solidFill>
                <a:latin typeface="Arial" pitchFamily="34" charset="0"/>
              </a:rPr>
              <a:t>known </a:t>
            </a:r>
            <a:r>
              <a:rPr lang="en-US" sz="2400" dirty="0" smtClean="0">
                <a:solidFill>
                  <a:srgbClr val="0070C0"/>
                </a:solidFill>
                <a:latin typeface="Arial" pitchFamily="34" charset="0"/>
              </a:rPr>
              <a:t>issue</a:t>
            </a:r>
            <a:r>
              <a:rPr lang="en-US" sz="2400" dirty="0" smtClean="0">
                <a:solidFill>
                  <a:srgbClr val="0070C0"/>
                </a:solidFill>
                <a:latin typeface="Arial" pitchFamily="34" charset="0"/>
              </a:rPr>
              <a:t>)</a:t>
            </a:r>
            <a:endParaRPr lang="en-US" sz="2400" dirty="0" smtClean="0">
              <a:solidFill>
                <a:srgbClr val="0070C0"/>
              </a:solidFill>
              <a:latin typeface="Arial" pitchFamily="34" charset="0"/>
            </a:endParaRPr>
          </a:p>
          <a:p>
            <a:endParaRPr lang="en-US" sz="2400" u="sng" dirty="0" smtClean="0">
              <a:latin typeface="Arial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</a:rPr>
              <a:t> </a:t>
            </a:r>
            <a:r>
              <a:rPr lang="en-US" sz="2000" i="1" dirty="0" smtClean="0">
                <a:solidFill>
                  <a:srgbClr val="FF0000"/>
                </a:solidFill>
                <a:latin typeface="Arial" pitchFamily="34" charset="0"/>
              </a:rPr>
              <a:t>FCAL short/long </a:t>
            </a:r>
            <a:r>
              <a:rPr lang="en-US" sz="2000" i="1" dirty="0" err="1" smtClean="0">
                <a:solidFill>
                  <a:srgbClr val="FF0000"/>
                </a:solidFill>
                <a:latin typeface="Arial" pitchFamily="34" charset="0"/>
              </a:rPr>
              <a:t>fibre</a:t>
            </a:r>
            <a:r>
              <a:rPr lang="en-US" sz="2000" i="1" dirty="0" smtClean="0">
                <a:solidFill>
                  <a:srgbClr val="FF0000"/>
                </a:solidFill>
                <a:latin typeface="Arial" pitchFamily="34" charset="0"/>
              </a:rPr>
              <a:t> geometry not properly </a:t>
            </a:r>
            <a:r>
              <a:rPr lang="en-US" sz="2000" i="1" dirty="0" smtClean="0">
                <a:solidFill>
                  <a:srgbClr val="FF0000"/>
                </a:solidFill>
                <a:latin typeface="Arial" pitchFamily="34" charset="0"/>
              </a:rPr>
              <a:t>simulated</a:t>
            </a:r>
            <a:endParaRPr lang="en-US" sz="2000" i="1" dirty="0" smtClean="0">
              <a:solidFill>
                <a:srgbClr val="FF0000"/>
              </a:solidFill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PileUp</a:t>
            </a:r>
            <a:r>
              <a:rPr lang="en-US" dirty="0" smtClean="0"/>
              <a:t> Studies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33622" y="1524000"/>
            <a:ext cx="8124340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Arial" pitchFamily="34" charset="0"/>
              </a:rPr>
              <a:t>Study pileup effects using  </a:t>
            </a:r>
            <a:r>
              <a:rPr lang="en-US" sz="2400" dirty="0" err="1" smtClean="0">
                <a:latin typeface="Arial" pitchFamily="34" charset="0"/>
              </a:rPr>
              <a:t>FastSim</a:t>
            </a:r>
            <a:endParaRPr lang="en-US" sz="2400" dirty="0" smtClean="0">
              <a:latin typeface="Arial" pitchFamily="34" charset="0"/>
            </a:endParaRPr>
          </a:p>
          <a:p>
            <a:endParaRPr lang="en-US" sz="2400" dirty="0" smtClean="0">
              <a:latin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</a:rPr>
              <a:t>Saw differences in response for </a:t>
            </a:r>
            <a:r>
              <a:rPr lang="en-US" sz="2400" dirty="0" err="1" smtClean="0">
                <a:latin typeface="Arial" pitchFamily="34" charset="0"/>
              </a:rPr>
              <a:t>FastSim</a:t>
            </a:r>
            <a:r>
              <a:rPr lang="en-US" sz="2400" dirty="0" smtClean="0">
                <a:latin typeface="Arial" pitchFamily="34" charset="0"/>
              </a:rPr>
              <a:t> </a:t>
            </a:r>
            <a:r>
              <a:rPr lang="en-US" sz="2400" dirty="0" err="1" smtClean="0">
                <a:latin typeface="Arial" pitchFamily="34" charset="0"/>
              </a:rPr>
              <a:t>vs</a:t>
            </a:r>
            <a:r>
              <a:rPr lang="en-US" sz="2400" dirty="0" smtClean="0">
                <a:latin typeface="Arial" pitchFamily="34" charset="0"/>
              </a:rPr>
              <a:t> </a:t>
            </a:r>
            <a:r>
              <a:rPr lang="en-US" sz="2400" dirty="0" err="1" smtClean="0">
                <a:latin typeface="Arial" pitchFamily="34" charset="0"/>
              </a:rPr>
              <a:t>FullSim</a:t>
            </a:r>
            <a:r>
              <a:rPr lang="en-US" sz="2400" dirty="0" smtClean="0">
                <a:latin typeface="Arial" pitchFamily="34" charset="0"/>
              </a:rPr>
              <a:t> </a:t>
            </a:r>
          </a:p>
          <a:p>
            <a:r>
              <a:rPr lang="en-US" sz="2400" dirty="0" smtClean="0">
                <a:latin typeface="Arial" pitchFamily="34" charset="0"/>
              </a:rPr>
              <a:t>but should be ok for pileup studies</a:t>
            </a:r>
          </a:p>
          <a:p>
            <a:endParaRPr lang="en-US" sz="2400" dirty="0" smtClean="0">
              <a:latin typeface="Arial" pitchFamily="34" charset="0"/>
            </a:endParaRPr>
          </a:p>
          <a:p>
            <a:r>
              <a:rPr lang="en-US" sz="2400" dirty="0" err="1" smtClean="0">
                <a:latin typeface="Arial" pitchFamily="34" charset="0"/>
              </a:rPr>
              <a:t>FastSim</a:t>
            </a:r>
            <a:r>
              <a:rPr lang="en-US" sz="2400" dirty="0" smtClean="0">
                <a:latin typeface="Arial" pitchFamily="34" charset="0"/>
              </a:rPr>
              <a:t> pileup simulation only includes in-time pileup</a:t>
            </a:r>
          </a:p>
          <a:p>
            <a:endParaRPr lang="en-US" sz="2400" dirty="0" smtClean="0">
              <a:latin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</a:rPr>
              <a:t>Compared </a:t>
            </a:r>
            <a:r>
              <a:rPr lang="en-US" sz="2400" dirty="0" err="1" smtClean="0">
                <a:latin typeface="Arial" pitchFamily="34" charset="0"/>
              </a:rPr>
              <a:t>evts</a:t>
            </a:r>
            <a:r>
              <a:rPr lang="en-US" sz="2400" dirty="0" smtClean="0">
                <a:latin typeface="Arial" pitchFamily="34" charset="0"/>
              </a:rPr>
              <a:t>=0 with </a:t>
            </a:r>
            <a:r>
              <a:rPr lang="en-US" sz="2400" dirty="0" err="1" smtClean="0">
                <a:latin typeface="Arial" pitchFamily="34" charset="0"/>
              </a:rPr>
              <a:t>evts</a:t>
            </a:r>
            <a:r>
              <a:rPr lang="en-US" sz="2400" dirty="0" smtClean="0">
                <a:latin typeface="Arial" pitchFamily="34" charset="0"/>
              </a:rPr>
              <a:t>=20</a:t>
            </a:r>
          </a:p>
          <a:p>
            <a:endParaRPr lang="en-US" sz="2400" dirty="0" smtClean="0">
              <a:latin typeface="Arial" pitchFamily="34" charset="0"/>
            </a:endParaRPr>
          </a:p>
          <a:p>
            <a:r>
              <a:rPr lang="en-US" sz="2400" i="1" dirty="0" smtClean="0">
                <a:solidFill>
                  <a:srgbClr val="FF0000"/>
                </a:solidFill>
                <a:latin typeface="Arial" pitchFamily="34" charset="0"/>
              </a:rPr>
              <a:t>Goal is to demonstrate that the performance of</a:t>
            </a:r>
          </a:p>
          <a:p>
            <a:r>
              <a:rPr lang="en-US" sz="2400" i="1" dirty="0" err="1" smtClean="0">
                <a:solidFill>
                  <a:srgbClr val="FF0000"/>
                </a:solidFill>
                <a:latin typeface="Arial" pitchFamily="34" charset="0"/>
              </a:rPr>
              <a:t>SISCone</a:t>
            </a:r>
            <a:r>
              <a:rPr lang="en-US" sz="2400" i="1" dirty="0" smtClean="0">
                <a:solidFill>
                  <a:srgbClr val="FF0000"/>
                </a:solidFill>
                <a:latin typeface="Arial" pitchFamily="34" charset="0"/>
              </a:rPr>
              <a:t> is not compromised when </a:t>
            </a:r>
            <a:r>
              <a:rPr lang="en-US" sz="2400" i="1" dirty="0" err="1" smtClean="0">
                <a:solidFill>
                  <a:srgbClr val="FF0000"/>
                </a:solidFill>
                <a:latin typeface="Arial" pitchFamily="34" charset="0"/>
              </a:rPr>
              <a:t>PileUp</a:t>
            </a:r>
            <a:r>
              <a:rPr lang="en-US" sz="2400" i="1" dirty="0" smtClean="0">
                <a:solidFill>
                  <a:srgbClr val="FF0000"/>
                </a:solidFill>
                <a:latin typeface="Arial" pitchFamily="34" charset="0"/>
              </a:rPr>
              <a:t> is </a:t>
            </a:r>
            <a:r>
              <a:rPr lang="en-US" sz="2400" i="1" dirty="0" smtClean="0">
                <a:solidFill>
                  <a:srgbClr val="FF0000"/>
                </a:solidFill>
                <a:latin typeface="Arial" pitchFamily="34" charset="0"/>
              </a:rPr>
              <a:t>present</a:t>
            </a:r>
          </a:p>
          <a:p>
            <a:r>
              <a:rPr lang="en-US" sz="2400" i="1" dirty="0" smtClean="0">
                <a:solidFill>
                  <a:srgbClr val="FF0000"/>
                </a:solidFill>
                <a:latin typeface="Arial" pitchFamily="34" charset="0"/>
              </a:rPr>
              <a:t>(If that is really the case….) </a:t>
            </a:r>
            <a:endParaRPr lang="en-US" sz="2400" i="1" dirty="0" smtClean="0">
              <a:solidFill>
                <a:srgbClr val="FF0000"/>
              </a:solidFill>
              <a:latin typeface="Arial" pitchFamily="34" charset="0"/>
            </a:endParaRPr>
          </a:p>
          <a:p>
            <a:endParaRPr lang="en-US" sz="2000" dirty="0" smtClean="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PileUp</a:t>
            </a:r>
            <a:r>
              <a:rPr lang="en-US" dirty="0" smtClean="0"/>
              <a:t> Studies</a:t>
            </a:r>
            <a:endParaRPr lang="en-US" dirty="0"/>
          </a:p>
        </p:txBody>
      </p:sp>
      <p:pic>
        <p:nvPicPr>
          <p:cNvPr id="4" name="Picture 3" descr="Compare10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1981200"/>
            <a:ext cx="6629400" cy="449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23795" y="2249269"/>
            <a:ext cx="19672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Arial" pitchFamily="34" charset="0"/>
              </a:rPr>
              <a:t>Red: with pileup</a:t>
            </a:r>
          </a:p>
          <a:p>
            <a:r>
              <a:rPr lang="en-US" dirty="0" smtClean="0">
                <a:latin typeface="Arial" pitchFamily="34" charset="0"/>
              </a:rPr>
              <a:t>Black: no pileup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227" y="1276290"/>
            <a:ext cx="3039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itchFamily="34" charset="0"/>
              </a:rPr>
              <a:t>QCD: </a:t>
            </a:r>
            <a:r>
              <a:rPr lang="en-US" sz="2000" dirty="0" err="1" smtClean="0">
                <a:latin typeface="Arial" pitchFamily="34" charset="0"/>
              </a:rPr>
              <a:t>pT</a:t>
            </a:r>
            <a:r>
              <a:rPr lang="en-US" sz="2000" dirty="0" smtClean="0">
                <a:latin typeface="Arial" pitchFamily="34" charset="0"/>
              </a:rPr>
              <a:t> = </a:t>
            </a:r>
            <a:r>
              <a:rPr lang="en-US" sz="2000" dirty="0" smtClean="0">
                <a:latin typeface="Arial" pitchFamily="34" charset="0"/>
              </a:rPr>
              <a:t>600-800 </a:t>
            </a:r>
            <a:r>
              <a:rPr lang="en-US" sz="2000" dirty="0" err="1" smtClean="0">
                <a:latin typeface="Arial" pitchFamily="34" charset="0"/>
              </a:rPr>
              <a:t>GeV</a:t>
            </a:r>
            <a:endParaRPr lang="en-US" sz="2000" dirty="0" smtClean="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PileUp</a:t>
            </a:r>
            <a:r>
              <a:rPr lang="en-US" dirty="0" smtClean="0"/>
              <a:t> Studies</a:t>
            </a:r>
            <a:endParaRPr lang="en-US" dirty="0"/>
          </a:p>
        </p:txBody>
      </p:sp>
      <p:pic>
        <p:nvPicPr>
          <p:cNvPr id="4" name="Picture 3" descr="PileUp80_0-20Compare018.gif"/>
          <p:cNvPicPr>
            <a:picLocks noChangeAspect="1"/>
          </p:cNvPicPr>
          <p:nvPr/>
        </p:nvPicPr>
        <p:blipFill>
          <a:blip r:embed="rId2"/>
          <a:srcRect t="6599" r="6814" b="6091"/>
          <a:stretch>
            <a:fillRect/>
          </a:stretch>
        </p:blipFill>
        <p:spPr>
          <a:xfrm>
            <a:off x="3933825" y="3276600"/>
            <a:ext cx="5210175" cy="3276600"/>
          </a:xfrm>
          <a:prstGeom prst="rect">
            <a:avLst/>
          </a:prstGeom>
        </p:spPr>
      </p:pic>
      <p:pic>
        <p:nvPicPr>
          <p:cNvPr id="5" name="Picture 4" descr="PileUp80_0-20Compare017.gif"/>
          <p:cNvPicPr>
            <a:picLocks noChangeAspect="1"/>
          </p:cNvPicPr>
          <p:nvPr/>
        </p:nvPicPr>
        <p:blipFill>
          <a:blip r:embed="rId3"/>
          <a:srcRect l="5451" r="7325"/>
          <a:stretch>
            <a:fillRect/>
          </a:stretch>
        </p:blipFill>
        <p:spPr>
          <a:xfrm>
            <a:off x="0" y="1047751"/>
            <a:ext cx="3886587" cy="2990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16555" y="1219200"/>
            <a:ext cx="1241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latin typeface="Arial" pitchFamily="34" charset="0"/>
              </a:rPr>
              <a:t>SISCone</a:t>
            </a:r>
            <a:endParaRPr lang="en-US" sz="2000" dirty="0" smtClean="0">
              <a:latin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38400" y="2209800"/>
            <a:ext cx="12250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latin typeface="Arial" pitchFamily="34" charset="0"/>
              </a:rPr>
              <a:t>IterCone</a:t>
            </a:r>
            <a:endParaRPr lang="en-US" sz="2000" dirty="0" smtClean="0">
              <a:latin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90907" y="3200400"/>
            <a:ext cx="1266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latin typeface="Arial" pitchFamily="34" charset="0"/>
              </a:rPr>
              <a:t>MidPoint</a:t>
            </a:r>
            <a:endParaRPr lang="en-US" sz="2000" dirty="0" smtClean="0">
              <a:latin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52459" y="1524000"/>
            <a:ext cx="428194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latin typeface="Arial" pitchFamily="34" charset="0"/>
              </a:rPr>
              <a:t>pT</a:t>
            </a:r>
            <a:r>
              <a:rPr lang="en-US" sz="2000" dirty="0" smtClean="0">
                <a:latin typeface="Arial" pitchFamily="34" charset="0"/>
              </a:rPr>
              <a:t> distribution of </a:t>
            </a:r>
            <a:r>
              <a:rPr lang="en-US" sz="2000" u="sng" dirty="0" smtClean="0">
                <a:latin typeface="Arial" pitchFamily="34" charset="0"/>
              </a:rPr>
              <a:t>two leading jets</a:t>
            </a:r>
          </a:p>
          <a:p>
            <a:endParaRPr lang="en-US" sz="2000" u="sng" dirty="0" smtClean="0">
              <a:latin typeface="Arial" pitchFamily="34" charset="0"/>
            </a:endParaRPr>
          </a:p>
          <a:p>
            <a:r>
              <a:rPr lang="en-US" sz="2000" dirty="0" smtClean="0">
                <a:latin typeface="Arial" pitchFamily="34" charset="0"/>
              </a:rPr>
              <a:t>no pileup:     black</a:t>
            </a:r>
          </a:p>
          <a:p>
            <a:r>
              <a:rPr lang="en-US" sz="2000" dirty="0" smtClean="0">
                <a:solidFill>
                  <a:srgbClr val="FF0000"/>
                </a:solidFill>
                <a:latin typeface="Arial" pitchFamily="34" charset="0"/>
              </a:rPr>
              <a:t>with pileup : red</a:t>
            </a:r>
            <a:endParaRPr lang="en-US" sz="2000" dirty="0" smtClean="0">
              <a:solidFill>
                <a:srgbClr val="FF0000"/>
              </a:solidFill>
              <a:latin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6148" y="4772561"/>
            <a:ext cx="381546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itchFamily="34" charset="0"/>
              </a:rPr>
              <a:t>C</a:t>
            </a:r>
            <a:r>
              <a:rPr lang="en-US" sz="2000" dirty="0" smtClean="0">
                <a:latin typeface="Arial" pitchFamily="34" charset="0"/>
              </a:rPr>
              <a:t>hange in the </a:t>
            </a:r>
            <a:r>
              <a:rPr lang="en-US" sz="2000" dirty="0" err="1" smtClean="0">
                <a:latin typeface="Arial" pitchFamily="34" charset="0"/>
              </a:rPr>
              <a:t>pT</a:t>
            </a:r>
            <a:r>
              <a:rPr lang="en-US" sz="2000" dirty="0" smtClean="0">
                <a:latin typeface="Arial" pitchFamily="34" charset="0"/>
              </a:rPr>
              <a:t> distribution </a:t>
            </a:r>
          </a:p>
          <a:p>
            <a:r>
              <a:rPr lang="en-US" sz="2000" dirty="0" smtClean="0">
                <a:latin typeface="Arial" pitchFamily="34" charset="0"/>
              </a:rPr>
              <a:t>in the presence of</a:t>
            </a:r>
            <a:r>
              <a:rPr lang="en-US" sz="2000" dirty="0" smtClean="0">
                <a:latin typeface="Arial" pitchFamily="34" charset="0"/>
              </a:rPr>
              <a:t> pileup </a:t>
            </a:r>
          </a:p>
          <a:p>
            <a:r>
              <a:rPr lang="en-US" sz="2000" dirty="0" smtClean="0">
                <a:latin typeface="Arial" pitchFamily="34" charset="0"/>
              </a:rPr>
              <a:t>looks similar for the </a:t>
            </a:r>
            <a:r>
              <a:rPr lang="en-US" sz="2000" dirty="0" smtClean="0">
                <a:latin typeface="Arial" pitchFamily="34" charset="0"/>
              </a:rPr>
              <a:t>different </a:t>
            </a:r>
          </a:p>
          <a:p>
            <a:r>
              <a:rPr lang="en-US" sz="2000" dirty="0" smtClean="0">
                <a:latin typeface="Arial" pitchFamily="34" charset="0"/>
              </a:rPr>
              <a:t>jet algorithms</a:t>
            </a:r>
            <a:endParaRPr lang="en-US" sz="2000" dirty="0" smtClean="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PileUp</a:t>
            </a:r>
            <a:r>
              <a:rPr lang="en-US" dirty="0" smtClean="0"/>
              <a:t> Studies</a:t>
            </a:r>
            <a:endParaRPr lang="en-US" dirty="0"/>
          </a:p>
        </p:txBody>
      </p:sp>
      <p:pic>
        <p:nvPicPr>
          <p:cNvPr id="6" name="Picture 5" descr="PileUp3500_0-20Compare71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128" y="3276600"/>
            <a:ext cx="4719233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1624" y="1560493"/>
            <a:ext cx="333937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Arial" pitchFamily="34" charset="0"/>
              </a:rPr>
              <a:t>Distributions look </a:t>
            </a:r>
          </a:p>
          <a:p>
            <a:r>
              <a:rPr lang="en-US" sz="2800" dirty="0" smtClean="0">
                <a:latin typeface="Arial" pitchFamily="34" charset="0"/>
              </a:rPr>
              <a:t>reasonable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4495800"/>
            <a:ext cx="28841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Arial" pitchFamily="34" charset="0"/>
              </a:rPr>
              <a:t>More lower </a:t>
            </a:r>
            <a:r>
              <a:rPr lang="en-US" sz="2400" dirty="0" err="1" smtClean="0">
                <a:latin typeface="Arial" pitchFamily="34" charset="0"/>
              </a:rPr>
              <a:t>pT</a:t>
            </a:r>
            <a:r>
              <a:rPr lang="en-US" sz="2400" dirty="0" smtClean="0">
                <a:latin typeface="Arial" pitchFamily="34" charset="0"/>
              </a:rPr>
              <a:t> jets</a:t>
            </a:r>
          </a:p>
          <a:p>
            <a:r>
              <a:rPr lang="en-US" sz="2400" dirty="0" smtClean="0">
                <a:latin typeface="Arial" pitchFamily="34" charset="0"/>
              </a:rPr>
              <a:t>(as expected)</a:t>
            </a:r>
          </a:p>
        </p:txBody>
      </p:sp>
      <p:pic>
        <p:nvPicPr>
          <p:cNvPr id="9" name="Picture 8" descr="PileUp80_0-20Compare72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635900"/>
            <a:ext cx="4147290" cy="2783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4800" y="1200090"/>
            <a:ext cx="1728358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latin typeface="Arial" pitchFamily="34" charset="0"/>
              </a:rPr>
              <a:t>pT</a:t>
            </a:r>
            <a:r>
              <a:rPr lang="en-US" sz="2000" dirty="0" smtClean="0">
                <a:latin typeface="Arial" pitchFamily="34" charset="0"/>
              </a:rPr>
              <a:t> = 80 - 120</a:t>
            </a:r>
            <a:endParaRPr lang="en-US" sz="2000" dirty="0" smtClean="0">
              <a:latin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24128" y="2895600"/>
            <a:ext cx="1898277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latin typeface="Arial" pitchFamily="34" charset="0"/>
              </a:rPr>
              <a:t>pT</a:t>
            </a:r>
            <a:r>
              <a:rPr lang="en-US" sz="2000" dirty="0" smtClean="0">
                <a:latin typeface="Arial" pitchFamily="34" charset="0"/>
              </a:rPr>
              <a:t> = 3500 - </a:t>
            </a:r>
            <a:r>
              <a:rPr lang="en-US" sz="2000" dirty="0" err="1" smtClean="0">
                <a:latin typeface="Arial" pitchFamily="34" charset="0"/>
              </a:rPr>
              <a:t>inf</a:t>
            </a:r>
            <a:endParaRPr lang="en-US" sz="2000" dirty="0" smtClean="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PileUp</a:t>
            </a:r>
            <a:r>
              <a:rPr lang="en-US" dirty="0" smtClean="0"/>
              <a:t> Studies</a:t>
            </a:r>
            <a:endParaRPr lang="en-US" dirty="0"/>
          </a:p>
        </p:txBody>
      </p:sp>
      <p:pic>
        <p:nvPicPr>
          <p:cNvPr id="4" name="Picture 3" descr="PileUp600_0-20Compare5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5" y="1066800"/>
            <a:ext cx="4269783" cy="2895600"/>
          </a:xfrm>
          <a:prstGeom prst="rect">
            <a:avLst/>
          </a:prstGeom>
        </p:spPr>
      </p:pic>
      <p:pic>
        <p:nvPicPr>
          <p:cNvPr id="5" name="Picture 4" descr="PileUp3500_0-20Compare5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025" y="2878794"/>
            <a:ext cx="5133975" cy="34816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0" y="1595735"/>
            <a:ext cx="46650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Arial" pitchFamily="34" charset="0"/>
              </a:rPr>
              <a:t>Jets have slightly more towers</a:t>
            </a:r>
          </a:p>
          <a:p>
            <a:r>
              <a:rPr lang="en-US" sz="2400" i="1" dirty="0" smtClean="0">
                <a:latin typeface="Arial" pitchFamily="34" charset="0"/>
              </a:rPr>
              <a:t>(as expected)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07" y="4476690"/>
            <a:ext cx="40959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itchFamily="34" charset="0"/>
              </a:rPr>
              <a:t>Finding more jets with lower  </a:t>
            </a:r>
            <a:r>
              <a:rPr lang="en-US" sz="2000" dirty="0" err="1" smtClean="0">
                <a:latin typeface="Arial" pitchFamily="34" charset="0"/>
              </a:rPr>
              <a:t>pT</a:t>
            </a:r>
            <a:endParaRPr lang="en-US" sz="2000" dirty="0" smtClean="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PileUp</a:t>
            </a:r>
            <a:r>
              <a:rPr lang="en-US" dirty="0" smtClean="0"/>
              <a:t> Studies</a:t>
            </a:r>
            <a:endParaRPr lang="en-US" dirty="0"/>
          </a:p>
        </p:txBody>
      </p:sp>
      <p:pic>
        <p:nvPicPr>
          <p:cNvPr id="4" name="Picture 3" descr="PileUp600_0-20Compare6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1" y="3810000"/>
            <a:ext cx="4038599" cy="2710747"/>
          </a:xfrm>
          <a:prstGeom prst="rect">
            <a:avLst/>
          </a:prstGeom>
        </p:spPr>
      </p:pic>
      <p:pic>
        <p:nvPicPr>
          <p:cNvPr id="5" name="Picture 4" descr="PileUp3500_0-20Compare6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25" y="2910106"/>
            <a:ext cx="5210175" cy="35333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0" y="1219200"/>
            <a:ext cx="45239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itchFamily="34" charset="0"/>
              </a:rPr>
              <a:t>Dijet mass determined from the two</a:t>
            </a:r>
          </a:p>
          <a:p>
            <a:r>
              <a:rPr lang="en-US" sz="2000" dirty="0" smtClean="0">
                <a:latin typeface="Arial" pitchFamily="34" charset="0"/>
              </a:rPr>
              <a:t>leading jets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46" y="4095690"/>
            <a:ext cx="2313454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latin typeface="Arial" pitchFamily="34" charset="0"/>
              </a:rPr>
              <a:t>pT</a:t>
            </a:r>
            <a:r>
              <a:rPr lang="en-US" sz="2000" dirty="0" smtClean="0">
                <a:latin typeface="Arial" pitchFamily="34" charset="0"/>
              </a:rPr>
              <a:t> = 600-800 </a:t>
            </a:r>
            <a:r>
              <a:rPr lang="en-US" sz="2000" dirty="0" err="1" smtClean="0">
                <a:latin typeface="Arial" pitchFamily="34" charset="0"/>
              </a:rPr>
              <a:t>GeV</a:t>
            </a:r>
            <a:endParaRPr lang="en-US" sz="2000" dirty="0" smtClean="0">
              <a:latin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46095" y="2952690"/>
            <a:ext cx="2340705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latin typeface="Arial" pitchFamily="34" charset="0"/>
              </a:rPr>
              <a:t>pT</a:t>
            </a:r>
            <a:r>
              <a:rPr lang="en-US" sz="2000" dirty="0" smtClean="0">
                <a:latin typeface="Arial" pitchFamily="34" charset="0"/>
              </a:rPr>
              <a:t> = 3500-inf </a:t>
            </a:r>
            <a:r>
              <a:rPr lang="en-US" sz="2000" dirty="0" err="1" smtClean="0">
                <a:latin typeface="Arial" pitchFamily="34" charset="0"/>
              </a:rPr>
              <a:t>GeV</a:t>
            </a:r>
            <a:endParaRPr lang="en-US" sz="2000" dirty="0" smtClean="0">
              <a:latin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57800" y="2035314"/>
            <a:ext cx="37689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itchFamily="34" charset="0"/>
              </a:rPr>
              <a:t>Similar distributions with and</a:t>
            </a:r>
          </a:p>
          <a:p>
            <a:r>
              <a:rPr lang="en-US" sz="2000" dirty="0" smtClean="0">
                <a:latin typeface="Arial" pitchFamily="34" charset="0"/>
              </a:rPr>
              <a:t>without pileup…</a:t>
            </a:r>
          </a:p>
        </p:txBody>
      </p:sp>
      <p:pic>
        <p:nvPicPr>
          <p:cNvPr id="12" name="Picture 11" descr="PileUp80_0-20Compare61.gif"/>
          <p:cNvPicPr>
            <a:picLocks noChangeAspect="1"/>
          </p:cNvPicPr>
          <p:nvPr/>
        </p:nvPicPr>
        <p:blipFill>
          <a:blip r:embed="rId4"/>
          <a:srcRect r="6250" b="1695"/>
          <a:stretch>
            <a:fillRect/>
          </a:stretch>
        </p:blipFill>
        <p:spPr>
          <a:xfrm>
            <a:off x="0" y="1066800"/>
            <a:ext cx="3857625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86813" y="1371600"/>
            <a:ext cx="2170787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latin typeface="Arial" pitchFamily="34" charset="0"/>
              </a:rPr>
              <a:t>pT</a:t>
            </a:r>
            <a:r>
              <a:rPr lang="en-US" sz="2000" dirty="0" smtClean="0">
                <a:latin typeface="Arial" pitchFamily="34" charset="0"/>
              </a:rPr>
              <a:t> = 80-120 </a:t>
            </a:r>
            <a:r>
              <a:rPr lang="en-US" sz="2000" dirty="0" err="1" smtClean="0">
                <a:latin typeface="Arial" pitchFamily="34" charset="0"/>
              </a:rPr>
              <a:t>GeV</a:t>
            </a:r>
            <a:endParaRPr lang="en-US" sz="2000" dirty="0" smtClean="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pT</a:t>
            </a:r>
            <a:r>
              <a:rPr lang="en-US" dirty="0" smtClean="0"/>
              <a:t> Resolution</a:t>
            </a:r>
            <a:endParaRPr lang="en-US" dirty="0"/>
          </a:p>
        </p:txBody>
      </p:sp>
      <p:pic>
        <p:nvPicPr>
          <p:cNvPr id="4" name="Picture 3" descr="Compare12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1828800"/>
            <a:ext cx="6629400" cy="449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00200" y="1657290"/>
            <a:ext cx="1241045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latin typeface="Arial" pitchFamily="34" charset="0"/>
              </a:rPr>
              <a:t>SISCone</a:t>
            </a:r>
            <a:endParaRPr lang="en-US" sz="2000" dirty="0" smtClean="0">
              <a:latin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76800" y="1657290"/>
            <a:ext cx="1225015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latin typeface="Arial" pitchFamily="34" charset="0"/>
              </a:rPr>
              <a:t>IterCone</a:t>
            </a:r>
            <a:endParaRPr lang="en-US" sz="2000" dirty="0" smtClean="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PileUp</a:t>
            </a:r>
            <a:r>
              <a:rPr lang="en-US" dirty="0" smtClean="0"/>
              <a:t> </a:t>
            </a:r>
            <a:r>
              <a:rPr lang="en-US" dirty="0" smtClean="0"/>
              <a:t>Studies: Summary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45686" y="1752600"/>
            <a:ext cx="773641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Arial" pitchFamily="34" charset="0"/>
              </a:rPr>
              <a:t>Using </a:t>
            </a:r>
            <a:r>
              <a:rPr lang="en-US" sz="2400" dirty="0" err="1" smtClean="0">
                <a:latin typeface="Arial" pitchFamily="34" charset="0"/>
              </a:rPr>
              <a:t>FastSim</a:t>
            </a:r>
            <a:r>
              <a:rPr lang="en-US" sz="2400" dirty="0" smtClean="0">
                <a:latin typeface="Arial" pitchFamily="34" charset="0"/>
              </a:rPr>
              <a:t> to study the effects of </a:t>
            </a:r>
            <a:r>
              <a:rPr lang="en-US" sz="2400" dirty="0" err="1" smtClean="0">
                <a:latin typeface="Arial" pitchFamily="34" charset="0"/>
              </a:rPr>
              <a:t>PileUp</a:t>
            </a:r>
            <a:r>
              <a:rPr lang="en-US" sz="2400" dirty="0" smtClean="0">
                <a:latin typeface="Arial" pitchFamily="34" charset="0"/>
              </a:rPr>
              <a:t> on the </a:t>
            </a:r>
          </a:p>
          <a:p>
            <a:r>
              <a:rPr lang="en-US" sz="2400" dirty="0" smtClean="0">
                <a:latin typeface="Arial" pitchFamily="34" charset="0"/>
              </a:rPr>
              <a:t>jet </a:t>
            </a:r>
            <a:r>
              <a:rPr lang="en-US" sz="2400" dirty="0" smtClean="0">
                <a:latin typeface="Arial" pitchFamily="34" charset="0"/>
              </a:rPr>
              <a:t>algorithms</a:t>
            </a:r>
            <a:endParaRPr lang="en-US" sz="2400" dirty="0" smtClean="0">
              <a:latin typeface="Arial" pitchFamily="34" charset="0"/>
            </a:endParaRPr>
          </a:p>
          <a:p>
            <a:endParaRPr lang="en-US" sz="2400" dirty="0" smtClean="0">
              <a:latin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</a:rPr>
              <a:t>So far see that results for </a:t>
            </a:r>
            <a:r>
              <a:rPr lang="en-US" sz="2400" dirty="0" err="1" smtClean="0">
                <a:latin typeface="Arial" pitchFamily="34" charset="0"/>
              </a:rPr>
              <a:t>SISCone</a:t>
            </a:r>
            <a:r>
              <a:rPr lang="en-US" sz="2400" dirty="0" smtClean="0">
                <a:latin typeface="Arial" pitchFamily="34" charset="0"/>
              </a:rPr>
              <a:t>, </a:t>
            </a:r>
            <a:r>
              <a:rPr lang="en-US" sz="2400" dirty="0" err="1" smtClean="0">
                <a:latin typeface="Arial" pitchFamily="34" charset="0"/>
              </a:rPr>
              <a:t>MidPoint</a:t>
            </a:r>
            <a:r>
              <a:rPr lang="en-US" sz="2400" dirty="0" smtClean="0">
                <a:latin typeface="Arial" pitchFamily="34" charset="0"/>
              </a:rPr>
              <a:t>, and</a:t>
            </a:r>
          </a:p>
          <a:p>
            <a:r>
              <a:rPr lang="en-US" sz="2400" dirty="0" smtClean="0">
                <a:latin typeface="Arial" pitchFamily="34" charset="0"/>
              </a:rPr>
              <a:t> </a:t>
            </a:r>
            <a:r>
              <a:rPr lang="en-US" sz="2400" dirty="0" err="1" smtClean="0">
                <a:latin typeface="Arial" pitchFamily="34" charset="0"/>
              </a:rPr>
              <a:t>IterCone</a:t>
            </a:r>
            <a:r>
              <a:rPr lang="en-US" sz="2400" dirty="0" smtClean="0">
                <a:latin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</a:rPr>
              <a:t>are very </a:t>
            </a:r>
            <a:r>
              <a:rPr lang="en-US" sz="2400" dirty="0" smtClean="0">
                <a:latin typeface="Arial" pitchFamily="34" charset="0"/>
              </a:rPr>
              <a:t>similar </a:t>
            </a:r>
            <a:endParaRPr lang="en-US" sz="2400" dirty="0" smtClean="0">
              <a:latin typeface="Arial" pitchFamily="34" charset="0"/>
            </a:endParaRPr>
          </a:p>
          <a:p>
            <a:endParaRPr lang="en-US" sz="2400" dirty="0" smtClean="0">
              <a:latin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</a:rPr>
              <a:t>More plots can be found at:</a:t>
            </a:r>
          </a:p>
          <a:p>
            <a:endParaRPr lang="en-US" sz="2400" dirty="0" smtClean="0">
              <a:latin typeface="Arial" pitchFamily="34" charset="0"/>
            </a:endParaRPr>
          </a:p>
          <a:p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</a:rPr>
              <a:t>     http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</a:rPr>
              <a:t>://ncdf76.fnal.gov/~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</a:rPr>
              <a:t>chlebana/CMS/PileUp</a:t>
            </a:r>
            <a:endParaRPr lang="en-US" sz="2400" dirty="0" smtClean="0">
              <a:solidFill>
                <a:srgbClr val="FF0000"/>
              </a:solidFill>
              <a:latin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003E3E"/>
      </a:lt2>
      <a:accent1>
        <a:srgbClr val="FFD798"/>
      </a:accent1>
      <a:accent2>
        <a:srgbClr val="8CF4EA"/>
      </a:accent2>
      <a:accent3>
        <a:srgbClr val="FFFFFF"/>
      </a:accent3>
      <a:accent4>
        <a:srgbClr val="000000"/>
      </a:accent4>
      <a:accent5>
        <a:srgbClr val="FFE8CA"/>
      </a:accent5>
      <a:accent6>
        <a:srgbClr val="7EDDD4"/>
      </a:accent6>
      <a:hlink>
        <a:srgbClr val="FE9B03"/>
      </a:hlink>
      <a:folHlink>
        <a:srgbClr val="00D0D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 Antiqua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 Antiqua" pitchFamily="18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2000" dirty="0" smtClean="0">
            <a:latin typeface="Arial" pitchFamily="34" charset="0"/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1349</TotalTime>
  <Words>668</Words>
  <Application>Microsoft PowerPoint</Application>
  <PresentationFormat>Letter Paper (8.5x11 in)</PresentationFormat>
  <Paragraphs>162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Default Design</vt:lpstr>
      <vt:lpstr>FastSim vs FullSim  and   PileUp Studies</vt:lpstr>
      <vt:lpstr>FastSim vs FullSim</vt:lpstr>
      <vt:lpstr>FastSim vs FullSim</vt:lpstr>
      <vt:lpstr>FastSim vs FullSim</vt:lpstr>
      <vt:lpstr>FastSim vs FullSim</vt:lpstr>
      <vt:lpstr>FastSim vs FullSim</vt:lpstr>
      <vt:lpstr>FastSim vs FullSim</vt:lpstr>
      <vt:lpstr>FastSim vs FullSim</vt:lpstr>
      <vt:lpstr>FastSim vs FullSim</vt:lpstr>
      <vt:lpstr>FastSim vs FullSim</vt:lpstr>
      <vt:lpstr>CMSSW152 vs CMSSW167</vt:lpstr>
      <vt:lpstr>FastSim vs FullSim</vt:lpstr>
      <vt:lpstr>PileUp Studies</vt:lpstr>
      <vt:lpstr>PileUp Studies</vt:lpstr>
      <vt:lpstr>PileUp Studies</vt:lpstr>
      <vt:lpstr>PileUp Studies</vt:lpstr>
      <vt:lpstr>PileUp Studies</vt:lpstr>
      <vt:lpstr>PileUp Studies</vt:lpstr>
      <vt:lpstr>pT Resolution</vt:lpstr>
      <vt:lpstr>PileUp Studies: Summary</vt:lpstr>
    </vt:vector>
  </TitlesOfParts>
  <Company>CMS-Fermilab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Title Goes Here</dc:title>
  <dc:creator>Dan Green</dc:creator>
  <cp:lastModifiedBy>chlebana</cp:lastModifiedBy>
  <cp:revision>27</cp:revision>
  <cp:lastPrinted>1998-12-21T22:38:24Z</cp:lastPrinted>
  <dcterms:created xsi:type="dcterms:W3CDTF">1998-04-13T17:33:42Z</dcterms:created>
  <dcterms:modified xsi:type="dcterms:W3CDTF">2008-02-13T20:55:26Z</dcterms:modified>
</cp:coreProperties>
</file>