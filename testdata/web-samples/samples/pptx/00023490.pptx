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tiff" ContentType="image/tiff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61" r:id="rId4"/>
    <p:sldId id="259" r:id="rId5"/>
    <p:sldId id="260" r:id="rId6"/>
    <p:sldId id="266" r:id="rId7"/>
    <p:sldId id="267" r:id="rId8"/>
    <p:sldId id="268" r:id="rId9"/>
    <p:sldId id="283" r:id="rId10"/>
    <p:sldId id="269" r:id="rId11"/>
    <p:sldId id="272" r:id="rId12"/>
    <p:sldId id="273" r:id="rId13"/>
    <p:sldId id="282" r:id="rId14"/>
    <p:sldId id="274" r:id="rId15"/>
    <p:sldId id="275" r:id="rId16"/>
    <p:sldId id="276" r:id="rId17"/>
    <p:sldId id="278" r:id="rId18"/>
    <p:sldId id="277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00605E"/>
    <a:srgbClr val="000066"/>
    <a:srgbClr val="008080"/>
    <a:srgbClr val="777777"/>
    <a:srgbClr val="CB7023"/>
    <a:srgbClr val="737373"/>
    <a:srgbClr val="C97A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-32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-109" charset="0"/>
              </a:defRPr>
            </a:lvl1pPr>
          </a:lstStyle>
          <a:p>
            <a:pPr>
              <a:defRPr/>
            </a:pPr>
            <a:fld id="{CCDC3F12-4532-4105-AA0C-B77F655FF069}" type="datetime1">
              <a:rPr lang="en-US"/>
              <a:pPr>
                <a:defRPr/>
              </a:pPr>
              <a:t>8/9/2011</a:t>
            </a:fld>
            <a:endParaRPr lang="en-US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-109" charset="0"/>
              </a:defRPr>
            </a:lvl1pPr>
          </a:lstStyle>
          <a:p>
            <a:pPr>
              <a:defRPr/>
            </a:pPr>
            <a:fld id="{61016653-E6E0-45DF-9E0D-94E0DC723E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D1E163A-95BA-4710-A995-7C2F340EC16F}" type="datetime1">
              <a:rPr lang="en-US"/>
              <a:pPr>
                <a:defRPr/>
              </a:pPr>
              <a:t>8/9/2011</a:t>
            </a:fld>
            <a:endParaRPr lang="en-US" dirty="0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E85600B-450A-4124-8DD6-A7E8948E0C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80" charset="0"/>
        <a:ea typeface="ＭＳ Ｐゴシック" pitchFamily="-109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80" charset="0"/>
        <a:ea typeface="ＭＳ Ｐゴシック" pitchFamily="-109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80" charset="0"/>
        <a:ea typeface="ＭＳ Ｐゴシック" pitchFamily="-109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80" charset="0"/>
        <a:ea typeface="ＭＳ Ｐゴシック" pitchFamily="-109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80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itle_Background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Title_Footer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143500"/>
            <a:ext cx="9144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PNNL_Logo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2875" y="5670550"/>
            <a:ext cx="2651125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8" descr="Proudly_Operated_by_Battelle_Onyx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9900" y="1831975"/>
            <a:ext cx="8212138" cy="906463"/>
          </a:xfrm>
        </p:spPr>
        <p:txBody>
          <a:bodyPr lIns="91440" tIns="45720" rIns="91440" bIns="45720"/>
          <a:lstStyle>
            <a:lvl1pPr>
              <a:defRPr sz="4000">
                <a:solidFill>
                  <a:srgbClr val="C97A00"/>
                </a:solidFill>
              </a:defRPr>
            </a:lvl1pPr>
          </a:lstStyle>
          <a:p>
            <a:r>
              <a:rPr lang="cs-CZ" smtClean="0"/>
              <a:t>Klepnutím lze upravit styl předlohy nadpisů.</a:t>
            </a: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1488" y="2973388"/>
            <a:ext cx="8208962" cy="2279650"/>
          </a:xfrm>
        </p:spPr>
        <p:txBody>
          <a:bodyPr lIns="91440" tIns="45720" rIns="91440" bIns="45720"/>
          <a:lstStyle>
            <a:lvl1pPr marL="0" indent="0">
              <a:defRPr/>
            </a:lvl1pPr>
          </a:lstStyle>
          <a:p>
            <a:r>
              <a:rPr lang="cs-CZ" smtClean="0"/>
              <a:t>Klepnutím lze upravit styl předlohy podnadpisů.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6F425F-F1A6-42B3-8DDF-6BE0B94D85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esentation_Footer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43500"/>
            <a:ext cx="9144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PNNL_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875" y="5670550"/>
            <a:ext cx="2651125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9" descr="Proudly_Operated_by_Battelle_Onyx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1C8DAB5-A1E1-4AA0-A8EF-7FD563BFA0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esentation_Footer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43500"/>
            <a:ext cx="9144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PNNL_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875" y="5670550"/>
            <a:ext cx="2651125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D575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7" name="Picture 9" descr="Proudly_Operated_by_Battelle_Onyx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Klepnutím lze upravit styl předlohy nadpisů.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AD9717-5C13-4AB1-BBF8-902602EEF59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NNL_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2875" y="5670550"/>
            <a:ext cx="2651125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588" y="0"/>
            <a:ext cx="9144000" cy="914400"/>
          </a:xfrm>
          <a:prstGeom prst="rect">
            <a:avLst/>
          </a:prstGeom>
          <a:solidFill>
            <a:srgbClr val="D575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6" name="Picture 9" descr="Proudly_Operated_by_Battelle_Onyx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Klepnutím lze upravit styl předlohy nadpisů.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5E3FE3-2A3C-481D-BC61-FBC8762399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NNL_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2875" y="5670550"/>
            <a:ext cx="2651125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1311275"/>
          </a:xfrm>
          <a:prstGeom prst="rect">
            <a:avLst/>
          </a:prstGeom>
          <a:solidFill>
            <a:srgbClr val="D575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6" name="Picture 9" descr="Proudly_Operated_by_Battelle_Onyx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Klepnutím lze upravit styl předlohy nadpisů.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buSzPct val="60000"/>
              <a:defRPr/>
            </a:lvl3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F33C3B-03A8-4EFD-805D-E4A25513A2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NNL_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2875" y="5670550"/>
            <a:ext cx="2651125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Proudly_Operated_by_Battelle_Onyx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C473D7-5188-4F46-864F-95DD23A9C2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6865938"/>
          </a:xfrm>
          <a:prstGeom prst="rect">
            <a:avLst/>
          </a:prstGeom>
          <a:solidFill>
            <a:srgbClr val="70727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6" descr="PNNL_Logo_Revers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2875" y="5662613"/>
            <a:ext cx="2651125" cy="7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 descr="Proudly_Operated_by_Battelle_Revers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Klepnutím lze upravit styl předlohy nadpisů.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FontTx/>
              <a:buBlip>
                <a:blip r:embed="rId5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85E7C8D-1EDC-4499-A2C8-0647C5EBF8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575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6" descr="PNNL_Logo_Revers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2875" y="5662613"/>
            <a:ext cx="2651125" cy="7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 descr="Proudly_Operated_by_Battelle_Revers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875" y="6400800"/>
            <a:ext cx="2651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Klepnutím lze upravit styl předlohy nadpisů.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FontTx/>
              <a:buBlip>
                <a:blip r:embed="rId5"/>
              </a:buBlip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8F9FAA5-BA46-4A94-96C2-72E3B91BBC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cs-CZ" smtClean="0"/>
              <a:t>Klepnutím lze upravit styl předlohy podnadpisů.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12713" y="6483350"/>
            <a:ext cx="509587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0C4623-D960-4A4A-B79B-1DD0D5B02A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4663" y="460375"/>
            <a:ext cx="8204200" cy="98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smtClean="0"/>
              <a:t>Klepnutím lze upravit styl předlohy nadpisů.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676400"/>
            <a:ext cx="8186738" cy="357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smtClean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73038" y="6453188"/>
            <a:ext cx="509587" cy="268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smtClean="0"/>
            </a:lvl1pPr>
          </a:lstStyle>
          <a:p>
            <a:pPr>
              <a:defRPr/>
            </a:pPr>
            <a:fld id="{533F15E4-7981-4A15-AA2F-08544543B3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1" r:id="rId1"/>
    <p:sldLayoutId id="2147484582" r:id="rId2"/>
    <p:sldLayoutId id="2147484583" r:id="rId3"/>
    <p:sldLayoutId id="2147484584" r:id="rId4"/>
    <p:sldLayoutId id="2147484585" r:id="rId5"/>
    <p:sldLayoutId id="2147484586" r:id="rId6"/>
    <p:sldLayoutId id="2147484587" r:id="rId7"/>
    <p:sldLayoutId id="2147484588" r:id="rId8"/>
    <p:sldLayoutId id="2147484589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+mj-lt"/>
          <a:ea typeface="ＭＳ Ｐゴシック" pitchFamily="-109" charset="-128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  <a:ea typeface="ＭＳ Ｐゴシック" pitchFamily="-109" charset="-128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  <a:ea typeface="ＭＳ Ｐゴシック" pitchFamily="-109" charset="-128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  <a:ea typeface="ＭＳ Ｐゴシック" pitchFamily="-109" charset="-128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  <a:ea typeface="ＭＳ Ｐゴシック" pitchFamily="-109" charset="-128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CB7023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folHlink"/>
        </a:buClr>
        <a:buBlip>
          <a:blip r:embed="rId11"/>
        </a:buBlip>
        <a:defRPr sz="2400">
          <a:solidFill>
            <a:schemeClr val="tx1"/>
          </a:solidFill>
          <a:latin typeface="+mn-lt"/>
          <a:ea typeface="ＭＳ Ｐゴシック" pitchFamily="-109" charset="-128"/>
          <a:cs typeface="+mn-cs"/>
        </a:defRPr>
      </a:lvl1pPr>
      <a:lvl2pPr marL="742950" indent="-28575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tx2"/>
        </a:buClr>
        <a:buSzPct val="80000"/>
        <a:buBlip>
          <a:blip r:embed="rId12"/>
        </a:buBlip>
        <a:defRPr sz="2000">
          <a:solidFill>
            <a:schemeClr val="tx1"/>
          </a:solidFill>
          <a:latin typeface="+mn-lt"/>
          <a:ea typeface="ＭＳ Ｐゴシック" pitchFamily="-109" charset="-128"/>
        </a:defRPr>
      </a:lvl2pPr>
      <a:lvl3pPr marL="1143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rgbClr val="737373"/>
        </a:buClr>
        <a:buSzPct val="6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pitchFamily="-109" charset="-128"/>
        </a:defRPr>
      </a:lvl3pPr>
      <a:lvl4pPr marL="1600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Blip>
          <a:blip r:embed="rId14"/>
        </a:buBlip>
        <a:defRPr sz="1600">
          <a:solidFill>
            <a:schemeClr val="tx1"/>
          </a:solidFill>
          <a:latin typeface="+mn-lt"/>
          <a:ea typeface="ＭＳ Ｐゴシック" pitchFamily="-109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1400">
          <a:solidFill>
            <a:schemeClr val="tx1"/>
          </a:solidFill>
          <a:latin typeface="+mn-lt"/>
          <a:ea typeface="ＭＳ Ｐゴシック" pitchFamily="-109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479839" y="2653220"/>
            <a:ext cx="8212138" cy="1182354"/>
          </a:xfrm>
        </p:spPr>
        <p:txBody>
          <a:bodyPr/>
          <a:lstStyle/>
          <a:p>
            <a:r>
              <a:rPr lang="en-US" dirty="0" smtClean="0"/>
              <a:t>Nuclear waste vitrification efficiency: cold cap</a:t>
            </a:r>
          </a:p>
        </p:txBody>
      </p:sp>
      <p:sp>
        <p:nvSpPr>
          <p:cNvPr id="11267" name="Subtitle 2"/>
          <p:cNvSpPr>
            <a:spLocks noGrp="1"/>
          </p:cNvSpPr>
          <p:nvPr>
            <p:ph type="subTitle" idx="1"/>
          </p:nvPr>
        </p:nvSpPr>
        <p:spPr>
          <a:xfrm>
            <a:off x="471488" y="4411573"/>
            <a:ext cx="8208962" cy="1412758"/>
          </a:xfrm>
        </p:spPr>
        <p:txBody>
          <a:bodyPr/>
          <a:lstStyle/>
          <a:p>
            <a:pPr>
              <a:buNone/>
            </a:pPr>
            <a:r>
              <a:rPr lang="cs-CZ" dirty="0" smtClean="0"/>
              <a:t>Pavel Hrma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Albert A. Kruger</a:t>
            </a:r>
            <a:endParaRPr lang="cs-CZ" dirty="0" smtClean="0"/>
          </a:p>
          <a:p>
            <a:pPr>
              <a:buNone/>
            </a:pPr>
            <a:r>
              <a:rPr lang="cs-CZ" dirty="0" smtClean="0"/>
              <a:t>Richard Pokorný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2D98635-7255-42BE-B496-0D04A155F69D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6" name="Pravoúhlý trojúhelník 5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5298" name="Picture 2" descr="http://www.wedc.wa.gov/images/PNNL_Color_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963" y="277250"/>
            <a:ext cx="2488967" cy="1468754"/>
          </a:xfrm>
          <a:prstGeom prst="rect">
            <a:avLst/>
          </a:prstGeom>
          <a:noFill/>
        </p:spPr>
      </p:pic>
      <p:pic>
        <p:nvPicPr>
          <p:cNvPr id="55299" name="Picture 3" descr="C:\Risa\POSTECH\dane_logo_colour.jpg"/>
          <p:cNvPicPr>
            <a:picLocks noChangeAspect="1" noChangeArrowheads="1"/>
          </p:cNvPicPr>
          <p:nvPr/>
        </p:nvPicPr>
        <p:blipFill>
          <a:blip r:embed="rId3" cstate="print"/>
          <a:srcRect t="5407" b="27011"/>
          <a:stretch>
            <a:fillRect/>
          </a:stretch>
        </p:blipFill>
        <p:spPr bwMode="auto">
          <a:xfrm>
            <a:off x="2769006" y="201573"/>
            <a:ext cx="2677637" cy="1506809"/>
          </a:xfrm>
          <a:prstGeom prst="rect">
            <a:avLst/>
          </a:prstGeom>
          <a:noFill/>
        </p:spPr>
      </p:pic>
      <p:pic>
        <p:nvPicPr>
          <p:cNvPr id="57345" name="Picture 1" descr="C:\Users\D3E171\Desktop\CurrentWork2011\Conferences\RPI2011\New_DOE_Logo_Color_Hi-Res_04280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90430" y="355357"/>
            <a:ext cx="3553570" cy="8933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úhlý trojúhelník 6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Hanford</a:t>
            </a:r>
            <a:r>
              <a:rPr lang="cs-CZ" dirty="0" smtClean="0"/>
              <a:t> </a:t>
            </a:r>
            <a:r>
              <a:rPr lang="cs-CZ" dirty="0" err="1" smtClean="0"/>
              <a:t>site</a:t>
            </a:r>
            <a:endParaRPr lang="cs-CZ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2</a:t>
            </a:fld>
            <a:endParaRPr lang="en-US" dirty="0"/>
          </a:p>
        </p:txBody>
      </p:sp>
      <p:pic>
        <p:nvPicPr>
          <p:cNvPr id="13317" name="Picture 5" descr="C:\Risa\VSCHT\Prezentace\Hanford_Reach_National_Monum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72879"/>
            <a:ext cx="5475086" cy="5785121"/>
          </a:xfrm>
          <a:prstGeom prst="rect">
            <a:avLst/>
          </a:prstGeom>
          <a:noFill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25978" y="1347537"/>
            <a:ext cx="3753853" cy="4636165"/>
          </a:xfrm>
        </p:spPr>
        <p:txBody>
          <a:bodyPr/>
          <a:lstStyle/>
          <a:p>
            <a:r>
              <a:rPr lang="en-US" dirty="0" smtClean="0"/>
              <a:t>Manhattan project</a:t>
            </a:r>
            <a:endParaRPr lang="cs-CZ" dirty="0" smtClean="0"/>
          </a:p>
          <a:p>
            <a:r>
              <a:rPr lang="cs-CZ" dirty="0" smtClean="0"/>
              <a:t>Washington, USA</a:t>
            </a:r>
            <a:endParaRPr lang="en-US" dirty="0" smtClean="0"/>
          </a:p>
          <a:p>
            <a:r>
              <a:rPr lang="en-US" dirty="0" smtClean="0"/>
              <a:t>B – reactor</a:t>
            </a:r>
          </a:p>
          <a:p>
            <a:pPr lvl="1"/>
            <a:r>
              <a:rPr lang="en-US" dirty="0" smtClean="0"/>
              <a:t>1. nuclear reactor</a:t>
            </a:r>
          </a:p>
          <a:p>
            <a:pPr lvl="1"/>
            <a:r>
              <a:rPr lang="en-US" dirty="0" smtClean="0"/>
              <a:t>Plutonium production (World War II.)</a:t>
            </a:r>
          </a:p>
          <a:p>
            <a:r>
              <a:rPr lang="en-US" dirty="0" smtClean="0"/>
              <a:t>Peak production reached during cold war</a:t>
            </a:r>
          </a:p>
          <a:p>
            <a:pPr lvl="1"/>
            <a:r>
              <a:rPr lang="en-US" dirty="0" smtClean="0"/>
              <a:t>9</a:t>
            </a:r>
            <a:r>
              <a:rPr lang="cs-CZ" dirty="0" smtClean="0"/>
              <a:t> </a:t>
            </a:r>
            <a:r>
              <a:rPr lang="en-US" dirty="0" smtClean="0"/>
              <a:t>running nuclear reactors</a:t>
            </a:r>
          </a:p>
          <a:p>
            <a:r>
              <a:rPr lang="en-US" dirty="0" smtClean="0"/>
              <a:t>The legacy of Pu production: Nuclear waste</a:t>
            </a:r>
          </a:p>
          <a:p>
            <a:r>
              <a:rPr lang="en-US" dirty="0" smtClean="0"/>
              <a:t>Today – clean up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Nuclear</a:t>
            </a:r>
            <a:r>
              <a:rPr lang="cs-CZ" dirty="0" smtClean="0"/>
              <a:t> </a:t>
            </a:r>
            <a:r>
              <a:rPr lang="cs-CZ" dirty="0" err="1" smtClean="0"/>
              <a:t>waste</a:t>
            </a:r>
            <a:endParaRPr lang="cs-CZ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3</a:t>
            </a:fld>
            <a:endParaRPr lang="en-US" dirty="0"/>
          </a:p>
        </p:txBody>
      </p:sp>
      <p:pic>
        <p:nvPicPr>
          <p:cNvPr id="7" name="Picture 5" descr="8405531-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1746"/>
            <a:ext cx="9144000" cy="595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ástupný symbol pro obsah 8"/>
          <p:cNvSpPr>
            <a:spLocks noGrp="1"/>
          </p:cNvSpPr>
          <p:nvPr>
            <p:ph idx="1"/>
          </p:nvPr>
        </p:nvSpPr>
        <p:spPr>
          <a:xfrm>
            <a:off x="0" y="6058059"/>
            <a:ext cx="5049078" cy="799941"/>
          </a:xfrm>
          <a:solidFill>
            <a:schemeClr val="bg1"/>
          </a:solidFill>
        </p:spPr>
        <p:txBody>
          <a:bodyPr/>
          <a:lstStyle/>
          <a:p>
            <a:r>
              <a:rPr lang="en-US" dirty="0" smtClean="0"/>
              <a:t>177 underground tanks</a:t>
            </a:r>
          </a:p>
          <a:p>
            <a:r>
              <a:rPr lang="en-US" dirty="0" smtClean="0"/>
              <a:t>206 630 m</a:t>
            </a:r>
            <a:r>
              <a:rPr lang="en-US" baseline="30000" dirty="0" smtClean="0"/>
              <a:t>3 </a:t>
            </a:r>
            <a:r>
              <a:rPr lang="en-US" dirty="0" smtClean="0"/>
              <a:t>of nuclear waste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úhlý trojúhelník 5"/>
          <p:cNvSpPr/>
          <p:nvPr/>
        </p:nvSpPr>
        <p:spPr>
          <a:xfrm rot="16200000">
            <a:off x="5690937" y="3420979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34818" name="Picture 2" descr="http://www.hanfordvitplant.com/photobook/ssp/albums/album-130/lg/021128_09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1680" y="902368"/>
            <a:ext cx="7940842" cy="5955632"/>
          </a:xfrm>
          <a:prstGeom prst="rect">
            <a:avLst/>
          </a:prstGeom>
          <a:noFill/>
        </p:spPr>
      </p:pic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Waste treatment plant (“Vitrification plant”)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88757" y="1114927"/>
            <a:ext cx="8662737" cy="2077452"/>
          </a:xfrm>
        </p:spPr>
        <p:txBody>
          <a:bodyPr/>
          <a:lstStyle/>
          <a:p>
            <a:r>
              <a:rPr lang="en-US" dirty="0" smtClean="0"/>
              <a:t>Vitrification</a:t>
            </a:r>
            <a:endParaRPr lang="cs-CZ" dirty="0" smtClean="0"/>
          </a:p>
          <a:p>
            <a:pPr lvl="1"/>
            <a:r>
              <a:rPr lang="cs-CZ" dirty="0" err="1" smtClean="0"/>
              <a:t>Immobilization</a:t>
            </a:r>
            <a:r>
              <a:rPr lang="cs-CZ" dirty="0" smtClean="0"/>
              <a:t> </a:t>
            </a:r>
            <a:r>
              <a:rPr lang="cs-CZ" dirty="0" err="1" smtClean="0"/>
              <a:t>of</a:t>
            </a:r>
            <a:r>
              <a:rPr lang="cs-CZ" dirty="0" smtClean="0"/>
              <a:t>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waste</a:t>
            </a:r>
            <a:r>
              <a:rPr lang="cs-CZ" dirty="0" smtClean="0"/>
              <a:t> in </a:t>
            </a:r>
            <a:r>
              <a:rPr lang="cs-CZ" dirty="0" err="1" smtClean="0"/>
              <a:t>the</a:t>
            </a:r>
            <a:r>
              <a:rPr lang="cs-CZ" dirty="0" smtClean="0"/>
              <a:t> </a:t>
            </a:r>
            <a:r>
              <a:rPr lang="cs-CZ" dirty="0" err="1" smtClean="0"/>
              <a:t>form</a:t>
            </a:r>
            <a:r>
              <a:rPr lang="cs-CZ" dirty="0" smtClean="0"/>
              <a:t> </a:t>
            </a:r>
            <a:r>
              <a:rPr lang="cs-CZ" dirty="0" err="1" smtClean="0"/>
              <a:t>of</a:t>
            </a:r>
            <a:r>
              <a:rPr lang="cs-CZ" dirty="0" smtClean="0"/>
              <a:t> </a:t>
            </a:r>
            <a:r>
              <a:rPr lang="cs-CZ" dirty="0" err="1" smtClean="0"/>
              <a:t>glass</a:t>
            </a:r>
            <a:endParaRPr lang="en-US" dirty="0" smtClean="0"/>
          </a:p>
          <a:p>
            <a:pPr lvl="1"/>
            <a:r>
              <a:rPr lang="en-US" dirty="0" smtClean="0"/>
              <a:t>Waste + Glass forming additives --&gt; heated to 1150 C</a:t>
            </a:r>
          </a:p>
          <a:p>
            <a:pPr lvl="1"/>
            <a:r>
              <a:rPr lang="cs-CZ" dirty="0" err="1" smtClean="0"/>
              <a:t>The</a:t>
            </a:r>
            <a:r>
              <a:rPr lang="cs-CZ" dirty="0" smtClean="0"/>
              <a:t> melt</a:t>
            </a:r>
            <a:r>
              <a:rPr lang="en-US" dirty="0" smtClean="0"/>
              <a:t> then poured to stainless steel canister</a:t>
            </a:r>
            <a:r>
              <a:rPr lang="cs-CZ" dirty="0" smtClean="0"/>
              <a:t>s</a:t>
            </a:r>
            <a:r>
              <a:rPr lang="en-US" dirty="0" smtClean="0"/>
              <a:t> to cool and solidify</a:t>
            </a:r>
          </a:p>
          <a:p>
            <a:pPr lvl="1"/>
            <a:r>
              <a:rPr lang="en-US" dirty="0" smtClean="0"/>
              <a:t>In this form, the waste is stable and safer for the environment</a:t>
            </a:r>
          </a:p>
          <a:p>
            <a:r>
              <a:rPr lang="en-US" dirty="0" smtClean="0"/>
              <a:t>Current </a:t>
            </a:r>
            <a:r>
              <a:rPr lang="cs-CZ" dirty="0" err="1" smtClean="0"/>
              <a:t>state</a:t>
            </a:r>
            <a:r>
              <a:rPr lang="en-US" dirty="0" smtClean="0"/>
              <a:t> (February 2011)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úhlý trojúhelník 5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Glass melting</a:t>
            </a:r>
            <a:endParaRPr lang="cs-CZ" dirty="0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2125" y="1106905"/>
            <a:ext cx="8186738" cy="4144545"/>
          </a:xfrm>
        </p:spPr>
        <p:txBody>
          <a:bodyPr/>
          <a:lstStyle/>
          <a:p>
            <a:r>
              <a:rPr lang="en-US" dirty="0" smtClean="0"/>
              <a:t>Waste glass melter – a schematic image</a:t>
            </a:r>
            <a:endParaRPr lang="cs-CZ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7" name="Obdélník 88"/>
          <p:cNvSpPr/>
          <p:nvPr/>
        </p:nvSpPr>
        <p:spPr>
          <a:xfrm>
            <a:off x="2968487" y="3773556"/>
            <a:ext cx="2971800" cy="14478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cxnSp>
        <p:nvCxnSpPr>
          <p:cNvPr id="8" name="Straight Connector 9"/>
          <p:cNvCxnSpPr/>
          <p:nvPr/>
        </p:nvCxnSpPr>
        <p:spPr>
          <a:xfrm rot="5400000">
            <a:off x="1825487" y="4078356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1"/>
          <p:cNvCxnSpPr/>
          <p:nvPr/>
        </p:nvCxnSpPr>
        <p:spPr>
          <a:xfrm>
            <a:off x="2968487" y="5221356"/>
            <a:ext cx="2971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3"/>
          <p:cNvCxnSpPr/>
          <p:nvPr/>
        </p:nvCxnSpPr>
        <p:spPr>
          <a:xfrm>
            <a:off x="2968487" y="2935356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5"/>
          <p:cNvCxnSpPr/>
          <p:nvPr/>
        </p:nvCxnSpPr>
        <p:spPr>
          <a:xfrm rot="5400000" flipH="1" flipV="1">
            <a:off x="3730487" y="2706756"/>
            <a:ext cx="45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7"/>
          <p:cNvCxnSpPr/>
          <p:nvPr/>
        </p:nvCxnSpPr>
        <p:spPr>
          <a:xfrm rot="5400000">
            <a:off x="4416287" y="2706756"/>
            <a:ext cx="45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9"/>
          <p:cNvCxnSpPr/>
          <p:nvPr/>
        </p:nvCxnSpPr>
        <p:spPr>
          <a:xfrm>
            <a:off x="4644887" y="2935356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21"/>
          <p:cNvCxnSpPr/>
          <p:nvPr/>
        </p:nvCxnSpPr>
        <p:spPr>
          <a:xfrm rot="5400000">
            <a:off x="4530587" y="3887856"/>
            <a:ext cx="1905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25"/>
          <p:cNvCxnSpPr/>
          <p:nvPr/>
        </p:nvCxnSpPr>
        <p:spPr>
          <a:xfrm>
            <a:off x="5483087" y="4840356"/>
            <a:ext cx="45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own Arrow 36"/>
          <p:cNvSpPr/>
          <p:nvPr/>
        </p:nvSpPr>
        <p:spPr>
          <a:xfrm>
            <a:off x="4187687" y="2173356"/>
            <a:ext cx="228600" cy="990600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Right Arrow 38"/>
          <p:cNvSpPr/>
          <p:nvPr/>
        </p:nvSpPr>
        <p:spPr>
          <a:xfrm>
            <a:off x="5711687" y="4992756"/>
            <a:ext cx="762000" cy="4603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bdélník 91"/>
          <p:cNvSpPr/>
          <p:nvPr/>
        </p:nvSpPr>
        <p:spPr>
          <a:xfrm>
            <a:off x="3273287" y="3697356"/>
            <a:ext cx="1905000" cy="15240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cxnSp>
        <p:nvCxnSpPr>
          <p:cNvPr id="19" name="Přímá spojovací čára 93"/>
          <p:cNvCxnSpPr/>
          <p:nvPr/>
        </p:nvCxnSpPr>
        <p:spPr>
          <a:xfrm rot="5400000">
            <a:off x="1939788" y="3735456"/>
            <a:ext cx="2362200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římá spojovací čára 94"/>
          <p:cNvCxnSpPr/>
          <p:nvPr/>
        </p:nvCxnSpPr>
        <p:spPr>
          <a:xfrm rot="5400000">
            <a:off x="2054881" y="3696562"/>
            <a:ext cx="2286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římá spojovací čára 96"/>
          <p:cNvCxnSpPr/>
          <p:nvPr/>
        </p:nvCxnSpPr>
        <p:spPr>
          <a:xfrm rot="10800000">
            <a:off x="3197087" y="4840356"/>
            <a:ext cx="304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ovací čára 99"/>
          <p:cNvCxnSpPr/>
          <p:nvPr/>
        </p:nvCxnSpPr>
        <p:spPr>
          <a:xfrm rot="10800000">
            <a:off x="3120887" y="4916556"/>
            <a:ext cx="381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římá spojovací čára 101"/>
          <p:cNvCxnSpPr/>
          <p:nvPr/>
        </p:nvCxnSpPr>
        <p:spPr>
          <a:xfrm rot="5400000">
            <a:off x="3463788" y="4878456"/>
            <a:ext cx="76200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35"/>
          <p:cNvSpPr>
            <a:spLocks noChangeArrowheads="1"/>
          </p:cNvSpPr>
          <p:nvPr/>
        </p:nvSpPr>
        <p:spPr bwMode="auto">
          <a:xfrm flipV="1">
            <a:off x="3578087" y="3697356"/>
            <a:ext cx="252413" cy="168275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25" name="Oval 34"/>
          <p:cNvSpPr>
            <a:spLocks noChangeArrowheads="1"/>
          </p:cNvSpPr>
          <p:nvPr/>
        </p:nvSpPr>
        <p:spPr bwMode="auto">
          <a:xfrm flipV="1">
            <a:off x="3578087" y="4002156"/>
            <a:ext cx="220663" cy="147638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grpSp>
        <p:nvGrpSpPr>
          <p:cNvPr id="26" name="Group 184"/>
          <p:cNvGrpSpPr>
            <a:grpSpLocks/>
          </p:cNvGrpSpPr>
          <p:nvPr/>
        </p:nvGrpSpPr>
        <p:grpSpPr bwMode="auto">
          <a:xfrm>
            <a:off x="3503475" y="4154556"/>
            <a:ext cx="533400" cy="685800"/>
            <a:chOff x="7414" y="6892"/>
            <a:chExt cx="1267" cy="1407"/>
          </a:xfrm>
        </p:grpSpPr>
        <p:sp>
          <p:nvSpPr>
            <p:cNvPr id="27" name="Oval 187"/>
            <p:cNvSpPr>
              <a:spLocks noChangeArrowheads="1"/>
            </p:cNvSpPr>
            <p:nvPr/>
          </p:nvSpPr>
          <p:spPr bwMode="auto">
            <a:xfrm flipV="1">
              <a:off x="7414" y="6892"/>
              <a:ext cx="1267" cy="1407"/>
            </a:xfrm>
            <a:prstGeom prst="ellips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cs-CZ">
                <a:latin typeface="Calibri" pitchFamily="34" charset="0"/>
              </a:endParaRPr>
            </a:p>
          </p:txBody>
        </p:sp>
        <p:sp>
          <p:nvSpPr>
            <p:cNvPr id="28" name="Line 186"/>
            <p:cNvSpPr>
              <a:spLocks noChangeShapeType="1"/>
            </p:cNvSpPr>
            <p:nvPr/>
          </p:nvSpPr>
          <p:spPr bwMode="auto">
            <a:xfrm>
              <a:off x="7424" y="7597"/>
              <a:ext cx="2" cy="113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Line 185"/>
            <p:cNvSpPr>
              <a:spLocks noChangeShapeType="1"/>
            </p:cNvSpPr>
            <p:nvPr/>
          </p:nvSpPr>
          <p:spPr bwMode="auto">
            <a:xfrm flipH="1" flipV="1">
              <a:off x="8670" y="7457"/>
              <a:ext cx="11" cy="105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0" name="Oval 31"/>
          <p:cNvSpPr>
            <a:spLocks noChangeArrowheads="1"/>
          </p:cNvSpPr>
          <p:nvPr/>
        </p:nvSpPr>
        <p:spPr bwMode="auto">
          <a:xfrm flipV="1">
            <a:off x="3538400" y="4778444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503725" y="3741806"/>
            <a:ext cx="457200" cy="1066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grpSp>
        <p:nvGrpSpPr>
          <p:cNvPr id="32" name="Group 188"/>
          <p:cNvGrpSpPr>
            <a:grpSpLocks/>
          </p:cNvGrpSpPr>
          <p:nvPr/>
        </p:nvGrpSpPr>
        <p:grpSpPr bwMode="auto">
          <a:xfrm flipH="1">
            <a:off x="4490900" y="4154556"/>
            <a:ext cx="555625" cy="696913"/>
            <a:chOff x="7414" y="6892"/>
            <a:chExt cx="1267" cy="1407"/>
          </a:xfrm>
        </p:grpSpPr>
        <p:sp>
          <p:nvSpPr>
            <p:cNvPr id="33" name="Oval 191"/>
            <p:cNvSpPr>
              <a:spLocks noChangeArrowheads="1"/>
            </p:cNvSpPr>
            <p:nvPr/>
          </p:nvSpPr>
          <p:spPr bwMode="auto">
            <a:xfrm flipV="1">
              <a:off x="7414" y="6892"/>
              <a:ext cx="1267" cy="1407"/>
            </a:xfrm>
            <a:prstGeom prst="ellips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cs-CZ">
                <a:latin typeface="Calibri" pitchFamily="34" charset="0"/>
              </a:endParaRPr>
            </a:p>
          </p:txBody>
        </p:sp>
        <p:sp>
          <p:nvSpPr>
            <p:cNvPr id="34" name="Line 190"/>
            <p:cNvSpPr>
              <a:spLocks noChangeShapeType="1"/>
            </p:cNvSpPr>
            <p:nvPr/>
          </p:nvSpPr>
          <p:spPr bwMode="auto">
            <a:xfrm>
              <a:off x="7424" y="7597"/>
              <a:ext cx="2" cy="113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Line 189"/>
            <p:cNvSpPr>
              <a:spLocks noChangeShapeType="1"/>
            </p:cNvSpPr>
            <p:nvPr/>
          </p:nvSpPr>
          <p:spPr bwMode="auto">
            <a:xfrm flipH="1" flipV="1">
              <a:off x="8670" y="7457"/>
              <a:ext cx="11" cy="105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6" name="Rectangle 193"/>
          <p:cNvSpPr>
            <a:spLocks noChangeArrowheads="1"/>
          </p:cNvSpPr>
          <p:nvPr/>
        </p:nvSpPr>
        <p:spPr bwMode="auto">
          <a:xfrm flipH="1">
            <a:off x="5373550" y="4154556"/>
            <a:ext cx="79375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37" name="Rectangle 193"/>
          <p:cNvSpPr>
            <a:spLocks noChangeArrowheads="1"/>
          </p:cNvSpPr>
          <p:nvPr/>
        </p:nvSpPr>
        <p:spPr bwMode="auto">
          <a:xfrm flipH="1">
            <a:off x="2989125" y="4154556"/>
            <a:ext cx="79375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cs-CZ"/>
          </a:p>
        </p:txBody>
      </p:sp>
      <p:sp>
        <p:nvSpPr>
          <p:cNvPr id="38" name="TextovéPole 39"/>
          <p:cNvSpPr txBox="1">
            <a:spLocks noChangeArrowheads="1"/>
          </p:cNvSpPr>
          <p:nvPr/>
        </p:nvSpPr>
        <p:spPr bwMode="auto">
          <a:xfrm>
            <a:off x="3728900" y="1855856"/>
            <a:ext cx="11352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 dirty="0">
                <a:latin typeface="Bookman Old Style" pitchFamily="18" charset="0"/>
              </a:rPr>
              <a:t>Slurry feed</a:t>
            </a:r>
          </a:p>
        </p:txBody>
      </p:sp>
      <p:sp>
        <p:nvSpPr>
          <p:cNvPr id="39" name="Oval 31"/>
          <p:cNvSpPr>
            <a:spLocks noChangeArrowheads="1"/>
          </p:cNvSpPr>
          <p:nvPr/>
        </p:nvSpPr>
        <p:spPr bwMode="auto">
          <a:xfrm flipV="1">
            <a:off x="4340087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0" name="Oval 31"/>
          <p:cNvSpPr>
            <a:spLocks noChangeArrowheads="1"/>
          </p:cNvSpPr>
          <p:nvPr/>
        </p:nvSpPr>
        <p:spPr bwMode="auto">
          <a:xfrm flipV="1">
            <a:off x="4467087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1" name="Oval 31"/>
          <p:cNvSpPr>
            <a:spLocks noChangeArrowheads="1"/>
          </p:cNvSpPr>
          <p:nvPr/>
        </p:nvSpPr>
        <p:spPr bwMode="auto">
          <a:xfrm flipV="1">
            <a:off x="4589325" y="3870394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2" name="Oval 31"/>
          <p:cNvSpPr>
            <a:spLocks noChangeArrowheads="1"/>
          </p:cNvSpPr>
          <p:nvPr/>
        </p:nvSpPr>
        <p:spPr bwMode="auto">
          <a:xfrm flipV="1">
            <a:off x="4730612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3" name="Oval 31"/>
          <p:cNvSpPr>
            <a:spLocks noChangeArrowheads="1"/>
          </p:cNvSpPr>
          <p:nvPr/>
        </p:nvSpPr>
        <p:spPr bwMode="auto">
          <a:xfrm flipV="1">
            <a:off x="3827325" y="3849756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4" name="Oval 31"/>
          <p:cNvSpPr>
            <a:spLocks noChangeArrowheads="1"/>
          </p:cNvSpPr>
          <p:nvPr/>
        </p:nvSpPr>
        <p:spPr bwMode="auto">
          <a:xfrm flipV="1">
            <a:off x="3944800" y="3860869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5" name="Oval 31"/>
          <p:cNvSpPr>
            <a:spLocks noChangeArrowheads="1"/>
          </p:cNvSpPr>
          <p:nvPr/>
        </p:nvSpPr>
        <p:spPr bwMode="auto">
          <a:xfrm flipV="1">
            <a:off x="4090850" y="3849756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6" name="Oval 31"/>
          <p:cNvSpPr>
            <a:spLocks noChangeArrowheads="1"/>
          </p:cNvSpPr>
          <p:nvPr/>
        </p:nvSpPr>
        <p:spPr bwMode="auto">
          <a:xfrm flipV="1">
            <a:off x="4217850" y="3810069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7" name="Oval 31"/>
          <p:cNvSpPr>
            <a:spLocks noChangeArrowheads="1"/>
          </p:cNvSpPr>
          <p:nvPr/>
        </p:nvSpPr>
        <p:spPr bwMode="auto">
          <a:xfrm flipV="1">
            <a:off x="3317737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8" name="Oval 31"/>
          <p:cNvSpPr>
            <a:spLocks noChangeArrowheads="1"/>
          </p:cNvSpPr>
          <p:nvPr/>
        </p:nvSpPr>
        <p:spPr bwMode="auto">
          <a:xfrm flipV="1">
            <a:off x="3444737" y="3838644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49" name="Oval 31"/>
          <p:cNvSpPr>
            <a:spLocks noChangeArrowheads="1"/>
          </p:cNvSpPr>
          <p:nvPr/>
        </p:nvSpPr>
        <p:spPr bwMode="auto">
          <a:xfrm flipV="1">
            <a:off x="3579675" y="3849756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0" name="Oval 31"/>
          <p:cNvSpPr>
            <a:spLocks noChangeArrowheads="1"/>
          </p:cNvSpPr>
          <p:nvPr/>
        </p:nvSpPr>
        <p:spPr bwMode="auto">
          <a:xfrm flipV="1">
            <a:off x="3717787" y="3838644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1" name="Oval 31"/>
          <p:cNvSpPr>
            <a:spLocks noChangeArrowheads="1"/>
          </p:cNvSpPr>
          <p:nvPr/>
        </p:nvSpPr>
        <p:spPr bwMode="auto">
          <a:xfrm flipV="1">
            <a:off x="4862375" y="3829119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2" name="Oval 31"/>
          <p:cNvSpPr>
            <a:spLocks noChangeArrowheads="1"/>
          </p:cNvSpPr>
          <p:nvPr/>
        </p:nvSpPr>
        <p:spPr bwMode="auto">
          <a:xfrm flipV="1">
            <a:off x="4990962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3" name="Oval 31"/>
          <p:cNvSpPr>
            <a:spLocks noChangeArrowheads="1"/>
          </p:cNvSpPr>
          <p:nvPr/>
        </p:nvSpPr>
        <p:spPr bwMode="auto">
          <a:xfrm flipV="1">
            <a:off x="5125900" y="3849756"/>
            <a:ext cx="122237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4" name="Oval 31"/>
          <p:cNvSpPr>
            <a:spLocks noChangeArrowheads="1"/>
          </p:cNvSpPr>
          <p:nvPr/>
        </p:nvSpPr>
        <p:spPr bwMode="auto">
          <a:xfrm flipV="1">
            <a:off x="5178287" y="37735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5" name="Oval 31"/>
          <p:cNvSpPr>
            <a:spLocks noChangeArrowheads="1"/>
          </p:cNvSpPr>
          <p:nvPr/>
        </p:nvSpPr>
        <p:spPr bwMode="auto">
          <a:xfrm flipV="1">
            <a:off x="3197087" y="37735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6" name="Oval 31"/>
          <p:cNvSpPr>
            <a:spLocks noChangeArrowheads="1"/>
          </p:cNvSpPr>
          <p:nvPr/>
        </p:nvSpPr>
        <p:spPr bwMode="auto">
          <a:xfrm flipV="1">
            <a:off x="3044687" y="37735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7" name="Oval 31"/>
          <p:cNvSpPr>
            <a:spLocks noChangeArrowheads="1"/>
          </p:cNvSpPr>
          <p:nvPr/>
        </p:nvSpPr>
        <p:spPr bwMode="auto">
          <a:xfrm flipV="1">
            <a:off x="5254487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8" name="Oval 31"/>
          <p:cNvSpPr>
            <a:spLocks noChangeArrowheads="1"/>
          </p:cNvSpPr>
          <p:nvPr/>
        </p:nvSpPr>
        <p:spPr bwMode="auto">
          <a:xfrm flipV="1">
            <a:off x="5330687" y="37735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59" name="Oval 31"/>
          <p:cNvSpPr>
            <a:spLocks noChangeArrowheads="1"/>
          </p:cNvSpPr>
          <p:nvPr/>
        </p:nvSpPr>
        <p:spPr bwMode="auto">
          <a:xfrm flipV="1">
            <a:off x="3152637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60" name="Oval 31"/>
          <p:cNvSpPr>
            <a:spLocks noChangeArrowheads="1"/>
          </p:cNvSpPr>
          <p:nvPr/>
        </p:nvSpPr>
        <p:spPr bwMode="auto">
          <a:xfrm flipV="1">
            <a:off x="2968487" y="3849756"/>
            <a:ext cx="122238" cy="952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61" name="TextovéPole 39"/>
          <p:cNvSpPr txBox="1">
            <a:spLocks noChangeArrowheads="1"/>
          </p:cNvSpPr>
          <p:nvPr/>
        </p:nvSpPr>
        <p:spPr bwMode="auto">
          <a:xfrm>
            <a:off x="1917562" y="4013269"/>
            <a:ext cx="10759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 dirty="0">
                <a:latin typeface="Bookman Old Style" pitchFamily="18" charset="0"/>
              </a:rPr>
              <a:t>Electrodes</a:t>
            </a:r>
          </a:p>
        </p:txBody>
      </p:sp>
      <p:cxnSp>
        <p:nvCxnSpPr>
          <p:cNvPr id="62" name="Přímá spojovací šipka 62"/>
          <p:cNvCxnSpPr>
            <a:stCxn id="61" idx="2"/>
            <a:endCxn id="37" idx="3"/>
          </p:cNvCxnSpPr>
          <p:nvPr/>
        </p:nvCxnSpPr>
        <p:spPr>
          <a:xfrm rot="16200000" flipH="1">
            <a:off x="2672222" y="4104353"/>
            <a:ext cx="100210" cy="5335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ovéPole 39"/>
          <p:cNvSpPr txBox="1">
            <a:spLocks noChangeArrowheads="1"/>
          </p:cNvSpPr>
          <p:nvPr/>
        </p:nvSpPr>
        <p:spPr bwMode="auto">
          <a:xfrm>
            <a:off x="3705087" y="4883219"/>
            <a:ext cx="126028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 dirty="0">
                <a:latin typeface="Bookman Old Style" pitchFamily="18" charset="0"/>
              </a:rPr>
              <a:t>Molten glass</a:t>
            </a:r>
          </a:p>
        </p:txBody>
      </p:sp>
      <p:sp>
        <p:nvSpPr>
          <p:cNvPr id="64" name="TextovéPole 39"/>
          <p:cNvSpPr txBox="1">
            <a:spLocks noChangeArrowheads="1"/>
          </p:cNvSpPr>
          <p:nvPr/>
        </p:nvSpPr>
        <p:spPr bwMode="auto">
          <a:xfrm>
            <a:off x="3838437" y="3411606"/>
            <a:ext cx="9348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 dirty="0">
                <a:latin typeface="Bookman Old Style" pitchFamily="18" charset="0"/>
              </a:rPr>
              <a:t>Cold cap</a:t>
            </a:r>
          </a:p>
        </p:txBody>
      </p:sp>
      <p:sp>
        <p:nvSpPr>
          <p:cNvPr id="65" name="TextovéPole 39"/>
          <p:cNvSpPr txBox="1">
            <a:spLocks noChangeArrowheads="1"/>
          </p:cNvSpPr>
          <p:nvPr/>
        </p:nvSpPr>
        <p:spPr bwMode="auto">
          <a:xfrm>
            <a:off x="2722425" y="2249556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 dirty="0">
                <a:latin typeface="Bookman Old Style" pitchFamily="18" charset="0"/>
              </a:rPr>
              <a:t>Bubbler</a:t>
            </a:r>
          </a:p>
        </p:txBody>
      </p:sp>
      <p:sp>
        <p:nvSpPr>
          <p:cNvPr id="66" name="Oval 33"/>
          <p:cNvSpPr>
            <a:spLocks noChangeArrowheads="1"/>
          </p:cNvSpPr>
          <p:nvPr/>
        </p:nvSpPr>
        <p:spPr bwMode="auto">
          <a:xfrm flipV="1">
            <a:off x="3578087" y="4306956"/>
            <a:ext cx="203200" cy="122238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  <p:sp>
        <p:nvSpPr>
          <p:cNvPr id="67" name="Oval 32"/>
          <p:cNvSpPr>
            <a:spLocks noChangeArrowheads="1"/>
          </p:cNvSpPr>
          <p:nvPr/>
        </p:nvSpPr>
        <p:spPr bwMode="auto">
          <a:xfrm flipV="1">
            <a:off x="3578087" y="4535556"/>
            <a:ext cx="157163" cy="11430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cs-CZ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úhlý trojúhelník 10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5"/>
            <a:ext cx="8678779" cy="987425"/>
          </a:xfrm>
        </p:spPr>
        <p:txBody>
          <a:bodyPr/>
          <a:lstStyle/>
          <a:p>
            <a:r>
              <a:rPr lang="en-US" dirty="0" smtClean="0"/>
              <a:t>Mathematical modeling of cold cap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8757" y="3192379"/>
            <a:ext cx="8662737" cy="2967788"/>
          </a:xfrm>
        </p:spPr>
        <p:txBody>
          <a:bodyPr/>
          <a:lstStyle/>
          <a:p>
            <a:r>
              <a:rPr lang="en-US" dirty="0" smtClean="0"/>
              <a:t>Final goal – implementation of the cold cap mathematical model to the glass melter model</a:t>
            </a:r>
          </a:p>
          <a:p>
            <a:pPr lvl="1"/>
            <a:r>
              <a:rPr lang="en-US" dirty="0" smtClean="0"/>
              <a:t>Mathematical</a:t>
            </a:r>
            <a:r>
              <a:rPr lang="cs-CZ" dirty="0" smtClean="0"/>
              <a:t> </a:t>
            </a:r>
            <a:r>
              <a:rPr lang="en-US" dirty="0" smtClean="0"/>
              <a:t>models</a:t>
            </a:r>
            <a:r>
              <a:rPr lang="cs-CZ" dirty="0" smtClean="0"/>
              <a:t> </a:t>
            </a:r>
            <a:r>
              <a:rPr lang="en-US" dirty="0" smtClean="0"/>
              <a:t>of</a:t>
            </a:r>
            <a:r>
              <a:rPr lang="cs-CZ" dirty="0" smtClean="0"/>
              <a:t> </a:t>
            </a:r>
            <a:r>
              <a:rPr lang="cs-CZ" dirty="0" err="1" smtClean="0"/>
              <a:t>melters</a:t>
            </a:r>
            <a:r>
              <a:rPr lang="cs-CZ" dirty="0" smtClean="0"/>
              <a:t> are </a:t>
            </a:r>
            <a:r>
              <a:rPr lang="en-US" dirty="0" smtClean="0"/>
              <a:t>commonly</a:t>
            </a:r>
            <a:r>
              <a:rPr lang="cs-CZ" dirty="0" smtClean="0"/>
              <a:t> </a:t>
            </a:r>
            <a:r>
              <a:rPr lang="en-US" dirty="0" smtClean="0"/>
              <a:t>used</a:t>
            </a:r>
            <a:r>
              <a:rPr lang="cs-CZ" dirty="0" smtClean="0"/>
              <a:t> </a:t>
            </a:r>
            <a:r>
              <a:rPr lang="en-US" dirty="0" smtClean="0"/>
              <a:t>for</a:t>
            </a:r>
            <a:r>
              <a:rPr lang="cs-CZ" dirty="0" smtClean="0"/>
              <a:t> </a:t>
            </a:r>
            <a:r>
              <a:rPr lang="en-US" dirty="0" smtClean="0"/>
              <a:t>the</a:t>
            </a:r>
            <a:r>
              <a:rPr lang="cs-CZ" dirty="0" smtClean="0"/>
              <a:t> </a:t>
            </a:r>
            <a:r>
              <a:rPr lang="en-US" dirty="0" smtClean="0"/>
              <a:t>simulation</a:t>
            </a:r>
            <a:r>
              <a:rPr lang="cs-CZ" dirty="0" smtClean="0"/>
              <a:t> </a:t>
            </a:r>
            <a:r>
              <a:rPr lang="en-US" dirty="0" smtClean="0"/>
              <a:t>of</a:t>
            </a:r>
            <a:r>
              <a:rPr lang="cs-CZ" dirty="0" smtClean="0"/>
              <a:t> </a:t>
            </a:r>
            <a:r>
              <a:rPr lang="en-US" dirty="0" smtClean="0"/>
              <a:t>melter</a:t>
            </a:r>
            <a:r>
              <a:rPr lang="cs-CZ" dirty="0" smtClean="0"/>
              <a:t> </a:t>
            </a:r>
            <a:r>
              <a:rPr lang="en-US" dirty="0" smtClean="0"/>
              <a:t>behavior</a:t>
            </a:r>
            <a:r>
              <a:rPr lang="cs-CZ" dirty="0" smtClean="0"/>
              <a:t> </a:t>
            </a:r>
            <a:r>
              <a:rPr lang="en-US" dirty="0" smtClean="0"/>
              <a:t>under</a:t>
            </a:r>
            <a:r>
              <a:rPr lang="cs-CZ" dirty="0" smtClean="0"/>
              <a:t> </a:t>
            </a:r>
            <a:r>
              <a:rPr lang="en-US" dirty="0" smtClean="0"/>
              <a:t>different</a:t>
            </a:r>
            <a:r>
              <a:rPr lang="cs-CZ" dirty="0" smtClean="0"/>
              <a:t> </a:t>
            </a:r>
            <a:r>
              <a:rPr lang="en-US" dirty="0" smtClean="0"/>
              <a:t>conditions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3333" r="34044" b="33333"/>
          <a:stretch/>
        </p:blipFill>
        <p:spPr bwMode="auto">
          <a:xfrm>
            <a:off x="1046747" y="1628273"/>
            <a:ext cx="7339013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own Arrow 4"/>
          <p:cNvSpPr/>
          <p:nvPr/>
        </p:nvSpPr>
        <p:spPr>
          <a:xfrm>
            <a:off x="4279231" y="1407694"/>
            <a:ext cx="1143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5"/>
          <p:cNvSpPr txBox="1"/>
          <p:nvPr/>
        </p:nvSpPr>
        <p:spPr>
          <a:xfrm>
            <a:off x="3703715" y="1062607"/>
            <a:ext cx="138163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Slurry feed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3601014" y="2468115"/>
            <a:ext cx="162871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Molten glass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0" name="TextBox 12"/>
          <p:cNvSpPr txBox="1"/>
          <p:nvPr/>
        </p:nvSpPr>
        <p:spPr>
          <a:xfrm>
            <a:off x="2372535" y="2143445"/>
            <a:ext cx="99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Cold cap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68376" y="4471106"/>
            <a:ext cx="5203909" cy="240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úhlý trojúhelník 10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5"/>
            <a:ext cx="8678779" cy="987425"/>
          </a:xfrm>
        </p:spPr>
        <p:txBody>
          <a:bodyPr/>
          <a:lstStyle/>
          <a:p>
            <a:r>
              <a:rPr lang="en-US" dirty="0" smtClean="0"/>
              <a:t>Mathematical modeling of cold cap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8757" y="3128211"/>
            <a:ext cx="8662737" cy="2662989"/>
          </a:xfrm>
          <a:noFill/>
        </p:spPr>
        <p:txBody>
          <a:bodyPr/>
          <a:lstStyle/>
          <a:p>
            <a:r>
              <a:rPr lang="en-US" dirty="0" smtClean="0"/>
              <a:t>The feed is charged into the melter in the form of slurry containing 50 to 60 mass% of water.</a:t>
            </a:r>
          </a:p>
          <a:p>
            <a:r>
              <a:rPr lang="en-US" dirty="0" smtClean="0"/>
              <a:t>Water is boiling and evaporating on the top of the cold cap.</a:t>
            </a:r>
          </a:p>
          <a:p>
            <a:r>
              <a:rPr lang="en-US" dirty="0" smtClean="0"/>
              <a:t>The cold cap of nearly uniform thickness  is spreading over the pool of molten glass.</a:t>
            </a:r>
          </a:p>
          <a:p>
            <a:r>
              <a:rPr lang="en-US" dirty="0" smtClean="0"/>
              <a:t>Only enough feed is being charged to maintain a cold cap that covers ~90% of the surface.</a:t>
            </a:r>
          </a:p>
          <a:p>
            <a:pPr lvl="1"/>
            <a:r>
              <a:rPr lang="cs-CZ" dirty="0" err="1" smtClean="0"/>
              <a:t>Should</a:t>
            </a:r>
            <a:r>
              <a:rPr lang="cs-CZ" dirty="0" smtClean="0"/>
              <a:t> not </a:t>
            </a:r>
            <a:r>
              <a:rPr lang="cs-CZ" dirty="0" err="1" smtClean="0"/>
              <a:t>cover</a:t>
            </a:r>
            <a:r>
              <a:rPr lang="en-US" dirty="0" smtClean="0"/>
              <a:t> more than 95% from technological reasons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3333" r="34044" b="33333"/>
          <a:stretch/>
        </p:blipFill>
        <p:spPr bwMode="auto">
          <a:xfrm>
            <a:off x="1046747" y="1628273"/>
            <a:ext cx="7339013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own Arrow 4"/>
          <p:cNvSpPr/>
          <p:nvPr/>
        </p:nvSpPr>
        <p:spPr>
          <a:xfrm>
            <a:off x="4279231" y="1407694"/>
            <a:ext cx="1143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5"/>
          <p:cNvSpPr txBox="1"/>
          <p:nvPr/>
        </p:nvSpPr>
        <p:spPr>
          <a:xfrm>
            <a:off x="3703715" y="1062607"/>
            <a:ext cx="138163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Slurry feed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3601014" y="2468115"/>
            <a:ext cx="162871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Molten glass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0" name="TextBox 12"/>
          <p:cNvSpPr txBox="1"/>
          <p:nvPr/>
        </p:nvSpPr>
        <p:spPr>
          <a:xfrm>
            <a:off x="2372535" y="2143445"/>
            <a:ext cx="99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Cold cap</a:t>
            </a:r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úhlý trojúhelník 5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5"/>
            <a:ext cx="8678779" cy="987425"/>
          </a:xfrm>
        </p:spPr>
        <p:txBody>
          <a:bodyPr/>
          <a:lstStyle/>
          <a:p>
            <a:r>
              <a:rPr lang="en-US" dirty="0" smtClean="0"/>
              <a:t>Mathematical modeling of cold cap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8757" y="1251284"/>
            <a:ext cx="8662737" cy="5292951"/>
          </a:xfrm>
          <a:solidFill>
            <a:schemeClr val="bg1"/>
          </a:solidFill>
        </p:spPr>
        <p:txBody>
          <a:bodyPr/>
          <a:lstStyle/>
          <a:p>
            <a:r>
              <a:rPr lang="en-US" dirty="0" smtClean="0"/>
              <a:t>As the feed materials move down through the cold cap, their temperature increases from 100˚C to the temperature of molten glass (</a:t>
            </a:r>
            <a:r>
              <a:rPr lang="en-US" dirty="0" smtClean="0">
                <a:sym typeface="Symbol"/>
              </a:rPr>
              <a:t>11</a:t>
            </a:r>
            <a:r>
              <a:rPr lang="cs-CZ" dirty="0" smtClean="0">
                <a:sym typeface="Symbol"/>
              </a:rPr>
              <a:t>0</a:t>
            </a:r>
            <a:r>
              <a:rPr lang="en-US" dirty="0" smtClean="0">
                <a:sym typeface="Symbol"/>
              </a:rPr>
              <a:t>0</a:t>
            </a:r>
            <a:r>
              <a:rPr lang="en-US" dirty="0" smtClean="0"/>
              <a:t>˚C).</a:t>
            </a:r>
          </a:p>
          <a:p>
            <a:endParaRPr lang="en-US" sz="1200" dirty="0" smtClean="0"/>
          </a:p>
          <a:p>
            <a:pPr>
              <a:spcBef>
                <a:spcPts val="0"/>
              </a:spcBef>
              <a:buNone/>
            </a:pPr>
            <a:r>
              <a:rPr lang="en-US" b="1" dirty="0" smtClean="0"/>
              <a:t>The batch reactions include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water evaporation,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release of bonded water (crystalline water, water from hydroxides , oxyhydrates, and boric acid),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melting of oxyionic salts and borates,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reaction of nitrates with organics,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molten salt migration,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reactions of melts with amorphous oxides and hydroxides,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reaction of molten salts with solid silica,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formation of intermediate crystalline phases (e.g., spinel),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formation of a continuous glass-forming melt,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volatilization,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expansion and collapse of foam,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dissolution of residual solids (mainly silica).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avoúhlý trojúhelník 11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6"/>
            <a:ext cx="8678779" cy="583234"/>
          </a:xfrm>
        </p:spPr>
        <p:txBody>
          <a:bodyPr/>
          <a:lstStyle/>
          <a:p>
            <a:r>
              <a:rPr lang="en-US" dirty="0" smtClean="0"/>
              <a:t>Cold cap structure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11339" y="3700671"/>
            <a:ext cx="3130303" cy="17658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9" charset="-128"/>
                <a:cs typeface="+mn-cs"/>
              </a:rPr>
              <a:t>x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9" charset="-128"/>
                <a:cs typeface="+mn-cs"/>
              </a:rPr>
              <a:t> is the vertical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9" charset="-128"/>
                <a:cs typeface="+mn-cs"/>
              </a:rPr>
              <a:t> coordinate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lang="en-US" sz="2000" i="1" kern="0" dirty="0" smtClean="0">
                <a:latin typeface="+mn-lt"/>
              </a:rPr>
              <a:t>h</a:t>
            </a:r>
            <a:r>
              <a:rPr lang="en-US" sz="2000" kern="0" dirty="0" smtClean="0">
                <a:latin typeface="+mn-lt"/>
              </a:rPr>
              <a:t> is the cold cap thickness</a:t>
            </a:r>
            <a:endParaRPr kumimoji="0" lang="en-US" sz="2000" b="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cs-CZ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</p:txBody>
      </p:sp>
      <p:pic>
        <p:nvPicPr>
          <p:cNvPr id="49153" name="Picture 1" descr="C:\Users\D3E171\Desktop\CurrentWork2011\CCMdl&amp;TA\CCModel\tif\Fig1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3179" y="1302095"/>
            <a:ext cx="5143994" cy="5327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TextBox 6"/>
          <p:cNvSpPr txBox="1"/>
          <p:nvPr/>
        </p:nvSpPr>
        <p:spPr>
          <a:xfrm>
            <a:off x="288235" y="1133061"/>
            <a:ext cx="372570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Simplifications: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1D representation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2 phases</a:t>
            </a:r>
          </a:p>
          <a:p>
            <a:pPr lvl="2">
              <a:buFont typeface="Courier New" pitchFamily="49" charset="0"/>
              <a:buChar char="o"/>
            </a:pPr>
            <a:r>
              <a:rPr lang="en-US" sz="2400" dirty="0" smtClean="0"/>
              <a:t>condensed phase</a:t>
            </a:r>
          </a:p>
          <a:p>
            <a:pPr lvl="2">
              <a:buFont typeface="Courier New" pitchFamily="49" charset="0"/>
              <a:buChar char="o"/>
            </a:pPr>
            <a:r>
              <a:rPr lang="en-US" sz="2400" dirty="0" smtClean="0"/>
              <a:t>gas phase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5"/>
            <a:ext cx="8678779" cy="987425"/>
          </a:xfrm>
        </p:spPr>
        <p:txBody>
          <a:bodyPr/>
          <a:lstStyle/>
          <a:p>
            <a:r>
              <a:rPr lang="en-US" dirty="0" smtClean="0"/>
              <a:t>Mathematical modeling of cold cap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8757" y="1155032"/>
            <a:ext cx="8662737" cy="5005135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development of the algorithm to calculate the 1D temperature field in the cold cap: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Mass balance + Energy balance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Constitutive equations for material properties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Boundary conditions</a:t>
            </a:r>
          </a:p>
          <a:p>
            <a:endParaRPr lang="en-US" dirty="0" smtClean="0"/>
          </a:p>
          <a:p>
            <a:r>
              <a:rPr lang="en-US" dirty="0" smtClean="0"/>
              <a:t>Finite difference method was chosen for its simplicity and comprehensibility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6" name="Pravoúhlý trojúhelník 5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 balance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2125" y="1267326"/>
            <a:ext cx="8186738" cy="4810745"/>
          </a:xfrm>
          <a:noFill/>
        </p:spPr>
        <p:txBody>
          <a:bodyPr/>
          <a:lstStyle/>
          <a:p>
            <a:pPr lvl="0"/>
            <a:r>
              <a:rPr lang="en-US" altLang="ja-JP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Neglecting the diffusion, the mass balances of the condensed phase and the gas phase are</a:t>
            </a:r>
          </a:p>
          <a:p>
            <a:pPr lvl="0"/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/>
            <a:endParaRPr lang="en-US" altLang="ja-JP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By the mass conservation law, the total mass balance is </a:t>
            </a:r>
          </a:p>
          <a:p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1"/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ρ is the spatial density</a:t>
            </a:r>
          </a:p>
          <a:p>
            <a:pPr lvl="1"/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v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the velocity</a:t>
            </a:r>
          </a:p>
          <a:p>
            <a:pPr lvl="1"/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the mass change rate (via chemical reactions)</a:t>
            </a:r>
          </a:p>
          <a:p>
            <a:pPr lvl="1"/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subscripts c and g denote the condensed phase and the gas phase, respectively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AD9717-5C13-4AB1-BBF8-902602EEF59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685800" y="2133600"/>
          <a:ext cx="2730500" cy="952500"/>
        </p:xfrm>
        <a:graphic>
          <a:graphicData uri="http://schemas.openxmlformats.org/presentationml/2006/ole">
            <p:oleObj spid="_x0000_s46088" name="Equation" r:id="rId3" imgW="109264" imgH="36034" progId="Equation.3">
              <p:embed/>
            </p:oleObj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5029200" y="2133600"/>
          <a:ext cx="2616200" cy="876300"/>
        </p:xfrm>
        <a:graphic>
          <a:graphicData uri="http://schemas.openxmlformats.org/presentationml/2006/ole">
            <p:oleObj spid="_x0000_s46089" name="Equation" r:id="rId4" imgW="148727" imgH="50598" progId="Equation.3">
              <p:embed/>
            </p:oleObj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3124200" y="3608806"/>
          <a:ext cx="2641600" cy="685800"/>
        </p:xfrm>
        <a:graphic>
          <a:graphicData uri="http://schemas.openxmlformats.org/presentationml/2006/ole">
            <p:oleObj spid="_x0000_s46090" name="Equation" r:id="rId5" imgW="22496" imgH="8548" progId="Equation.3">
              <p:embed/>
            </p:oleObj>
          </a:graphicData>
        </a:graphic>
      </p:graphicFrame>
      <p:sp>
        <p:nvSpPr>
          <p:cNvPr id="8" name="Pravoúhlý trojúhelník 7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 balance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2125" y="1267326"/>
            <a:ext cx="8186738" cy="5101390"/>
          </a:xfrm>
        </p:spPr>
        <p:txBody>
          <a:bodyPr/>
          <a:lstStyle/>
          <a:p>
            <a:pPr lvl="0"/>
            <a:r>
              <a:rPr lang="en-US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In a steady state, the energy balance equations are</a:t>
            </a:r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/>
            <a:endParaRPr lang="en-US" altLang="ja-JP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>
              <a:spcBef>
                <a:spcPct val="0"/>
              </a:spcBef>
              <a:tabLst>
                <a:tab pos="228600" algn="l"/>
                <a:tab pos="457200" algn="l"/>
                <a:tab pos="685800" algn="l"/>
              </a:tabLst>
            </a:pPr>
            <a:endParaRPr lang="en-US" dirty="0" smtClean="0">
              <a:solidFill>
                <a:prstClr val="black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>
              <a:spcBef>
                <a:spcPct val="0"/>
              </a:spcBef>
              <a:tabLst>
                <a:tab pos="228600" algn="l"/>
                <a:tab pos="457200" algn="l"/>
                <a:tab pos="685800" algn="l"/>
              </a:tabLst>
            </a:pPr>
            <a:r>
              <a:rPr lang="en-U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By the Fourier’s law, t</a:t>
            </a:r>
            <a:r>
              <a:rPr lang="en-US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he conductive heat fluxes are: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the heat capacity </a:t>
            </a:r>
          </a:p>
          <a:p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q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the conductive heat fluxes</a:t>
            </a:r>
          </a:p>
          <a:p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the heat source/ sink due to chemical reactions</a:t>
            </a:r>
          </a:p>
          <a:p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the heat transfer between gas phase and condensed phase</a:t>
            </a:r>
          </a:p>
          <a:p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subscripts c and g denote the condensed phase and the gas phase, respectively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AD9717-5C13-4AB1-BBF8-902602EEF59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1026695" y="1717685"/>
          <a:ext cx="3238500" cy="762000"/>
        </p:xfrm>
        <a:graphic>
          <a:graphicData uri="http://schemas.openxmlformats.org/presentationml/2006/ole">
            <p:oleObj spid="_x0000_s47109" name="Equation" r:id="rId3" imgW="835504" imgH="193740" progId="Equation.3">
              <p:embed/>
            </p:oleObj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4894965" y="1735614"/>
          <a:ext cx="2692400" cy="762000"/>
        </p:xfrm>
        <a:graphic>
          <a:graphicData uri="http://schemas.openxmlformats.org/presentationml/2006/ole">
            <p:oleObj spid="_x0000_s47110" name="Equation" r:id="rId4" imgW="261257" imgH="74969" progId="Equation.3">
              <p:embed/>
            </p:oleObj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1298467" y="3126480"/>
          <a:ext cx="1651000" cy="800100"/>
        </p:xfrm>
        <a:graphic>
          <a:graphicData uri="http://schemas.openxmlformats.org/presentationml/2006/ole">
            <p:oleObj spid="_x0000_s47111" name="Equation" r:id="rId5" imgW="75496" imgH="36058" progId="Equation.3">
              <p:embed/>
            </p:oleObj>
          </a:graphicData>
        </a:graphic>
      </p:graphicFrame>
      <p:graphicFrame>
        <p:nvGraphicFramePr>
          <p:cNvPr id="47112" name="Object 8"/>
          <p:cNvGraphicFramePr>
            <a:graphicFrameLocks noChangeAspect="1"/>
          </p:cNvGraphicFramePr>
          <p:nvPr/>
        </p:nvGraphicFramePr>
        <p:xfrm>
          <a:off x="4982017" y="3151369"/>
          <a:ext cx="1905000" cy="863600"/>
        </p:xfrm>
        <a:graphic>
          <a:graphicData uri="http://schemas.openxmlformats.org/presentationml/2006/ole">
            <p:oleObj spid="_x0000_s47112" name="Equation" r:id="rId6" imgW="74642" imgH="34693" progId="Equation.3">
              <p:embed/>
            </p:oleObj>
          </a:graphicData>
        </a:graphic>
      </p:graphicFrame>
      <p:sp>
        <p:nvSpPr>
          <p:cNvPr id="9" name="Pravoúhlý trojúhelník 8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avoúhlý trojúhelník 11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6"/>
            <a:ext cx="8678779" cy="583234"/>
          </a:xfrm>
        </p:spPr>
        <p:txBody>
          <a:bodyPr/>
          <a:lstStyle/>
          <a:p>
            <a:r>
              <a:rPr lang="en-US" dirty="0" smtClean="0"/>
              <a:t>Boundary temperatures and fluxes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61036" y="2696819"/>
            <a:ext cx="3130303" cy="2176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lnSpc>
                <a:spcPct val="85000"/>
              </a:lnSpc>
              <a:spcBef>
                <a:spcPct val="30000"/>
              </a:spcBef>
              <a:buClr>
                <a:schemeClr val="folHlink"/>
              </a:buClr>
              <a:buBlip>
                <a:blip r:embed="rId2"/>
              </a:buBlip>
              <a:defRPr/>
            </a:pPr>
            <a:r>
              <a:rPr lang="en-US" sz="2800" i="1" kern="0" dirty="0" smtClean="0"/>
              <a:t>Q</a:t>
            </a:r>
            <a:r>
              <a:rPr lang="en-US" sz="2800" i="1" kern="0" baseline="-25000" dirty="0" smtClean="0"/>
              <a:t>U</a:t>
            </a:r>
            <a:r>
              <a:rPr lang="en-US" sz="2800" kern="0" dirty="0" smtClean="0"/>
              <a:t> and </a:t>
            </a:r>
            <a:r>
              <a:rPr lang="en-US" sz="2800" i="1" kern="0" dirty="0" smtClean="0"/>
              <a:t>Q</a:t>
            </a:r>
            <a:r>
              <a:rPr lang="en-US" sz="2800" i="1" kern="0" baseline="-25000" dirty="0" smtClean="0"/>
              <a:t>B</a:t>
            </a:r>
            <a:r>
              <a:rPr lang="en-US" sz="2800" kern="0" dirty="0" smtClean="0"/>
              <a:t> are the heat fluxes</a:t>
            </a:r>
          </a:p>
          <a:p>
            <a:pPr marL="342900" lvl="0" indent="-342900">
              <a:lnSpc>
                <a:spcPct val="85000"/>
              </a:lnSpc>
              <a:spcBef>
                <a:spcPct val="30000"/>
              </a:spcBef>
              <a:buClr>
                <a:schemeClr val="folHlink"/>
              </a:buClr>
              <a:buBlip>
                <a:blip r:embed="rId2"/>
              </a:buBlip>
              <a:defRPr/>
            </a:pPr>
            <a:r>
              <a:rPr lang="en-US" sz="2800" i="1" kern="0" dirty="0" smtClean="0"/>
              <a:t>T</a:t>
            </a:r>
            <a:r>
              <a:rPr lang="en-US" sz="2800" i="1" kern="0" baseline="-25000" dirty="0" smtClean="0"/>
              <a:t>U</a:t>
            </a:r>
            <a:r>
              <a:rPr lang="en-US" sz="2800" kern="0" dirty="0" smtClean="0"/>
              <a:t> and </a:t>
            </a:r>
            <a:r>
              <a:rPr lang="en-US" sz="2800" i="1" kern="0" dirty="0" smtClean="0"/>
              <a:t>T</a:t>
            </a:r>
            <a:r>
              <a:rPr lang="en-US" sz="2800" i="1" kern="0" baseline="-25000" dirty="0" smtClean="0"/>
              <a:t>B</a:t>
            </a:r>
            <a:r>
              <a:rPr lang="en-US" sz="2800" kern="0" dirty="0" smtClean="0"/>
              <a:t> are the boundary temperatures</a:t>
            </a:r>
            <a:endParaRPr lang="cs-CZ" sz="2800" kern="0" dirty="0" smtClean="0"/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cs-CZ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</p:txBody>
      </p:sp>
      <p:pic>
        <p:nvPicPr>
          <p:cNvPr id="9" name="Picture 1" descr="C:\Users\D3E171\Desktop\CurrentWork2011\CCMdl&amp;TA\CCModel\tif\Fig1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21170" y="1381608"/>
            <a:ext cx="5143994" cy="5327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Material properties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02064" y="1028787"/>
            <a:ext cx="8186738" cy="968978"/>
          </a:xfrm>
        </p:spPr>
        <p:txBody>
          <a:bodyPr/>
          <a:lstStyle/>
          <a:p>
            <a:pPr lvl="0"/>
            <a:r>
              <a:rPr lang="en-US" altLang="ja-JP" dirty="0" smtClean="0">
                <a:latin typeface="Arial" pitchFamily="34" charset="0"/>
                <a:cs typeface="Arial" pitchFamily="34" charset="0"/>
              </a:rPr>
              <a:t>A typical HLW melter feed has been chosen</a:t>
            </a:r>
          </a:p>
          <a:p>
            <a:pPr lvl="1"/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Its</a:t>
            </a:r>
            <a:r>
              <a:rPr kumimoji="0" lang="en-US" altLang="ja-JP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properties, such as heat capacity, were measured or estimated based on the literature</a:t>
            </a:r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/>
            <a:endParaRPr lang="en-US" altLang="ja-JP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AD9717-5C13-4AB1-BBF8-902602EEF59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48136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065" y="5504448"/>
            <a:ext cx="6289008" cy="91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Pravoúhlý trojúhelník 7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65641" y="2067340"/>
            <a:ext cx="4426489" cy="291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0658" name="Picture 2" descr="Fig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6956" y="2216426"/>
            <a:ext cx="4133492" cy="2644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019" y="2733260"/>
            <a:ext cx="6074051" cy="3932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preview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AD9717-5C13-4AB1-BBF8-902602EEF59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12" name="TextBox 5"/>
          <p:cNvSpPr txBox="1"/>
          <p:nvPr/>
        </p:nvSpPr>
        <p:spPr>
          <a:xfrm>
            <a:off x="5168348" y="4857452"/>
            <a:ext cx="3975652" cy="200054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Q</a:t>
            </a:r>
            <a:r>
              <a:rPr lang="en-US" sz="2000" baseline="-25000" dirty="0" smtClean="0"/>
              <a:t>U</a:t>
            </a:r>
            <a:r>
              <a:rPr lang="en-US" sz="2000" dirty="0" smtClean="0"/>
              <a:t> is the heat flux delivered to the cold cap from above</a:t>
            </a:r>
          </a:p>
          <a:p>
            <a:pPr marL="0" lvl="1"/>
            <a:r>
              <a:rPr lang="en-US" sz="2000" i="1" dirty="0" smtClean="0"/>
              <a:t>Q</a:t>
            </a:r>
            <a:r>
              <a:rPr lang="en-US" sz="2000" baseline="-25000" dirty="0" smtClean="0"/>
              <a:t>S  </a:t>
            </a:r>
            <a:r>
              <a:rPr lang="en-US" sz="2000" dirty="0" smtClean="0"/>
              <a:t>is the heat flux to convert the slurry to 100˚C</a:t>
            </a:r>
            <a:r>
              <a:rPr lang="cs-CZ" sz="2000" dirty="0" smtClean="0"/>
              <a:t> (</a:t>
            </a:r>
            <a:r>
              <a:rPr lang="en-US" sz="2000" dirty="0" smtClean="0"/>
              <a:t>~60% of total heat flux for melting</a:t>
            </a:r>
            <a:r>
              <a:rPr lang="cs-CZ" sz="2000" dirty="0" smtClean="0"/>
              <a:t>)</a:t>
            </a:r>
            <a:endParaRPr lang="en-US" sz="20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8" name="Picture 4"/>
          <p:cNvPicPr/>
          <p:nvPr/>
        </p:nvPicPr>
        <p:blipFill>
          <a:blip r:embed="rId3" cstate="print"/>
          <a:srcRect t="4655"/>
          <a:stretch>
            <a:fillRect/>
          </a:stretch>
        </p:blipFill>
        <p:spPr bwMode="auto">
          <a:xfrm>
            <a:off x="6400800" y="2502568"/>
            <a:ext cx="2261680" cy="1483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2125" y="1090863"/>
            <a:ext cx="8186738" cy="1533067"/>
          </a:xfrm>
        </p:spPr>
        <p:txBody>
          <a:bodyPr/>
          <a:lstStyle/>
          <a:p>
            <a:r>
              <a:rPr lang="en-US" dirty="0" smtClean="0"/>
              <a:t>Effect of upper heating on the cold cap thickness</a:t>
            </a:r>
          </a:p>
          <a:p>
            <a:pPr lvl="1"/>
            <a:r>
              <a:rPr lang="en-US" dirty="0" smtClean="0"/>
              <a:t>The cold-cap thickness decreases as the total heat flux delivered to it increases</a:t>
            </a:r>
            <a:endParaRPr lang="cs-CZ" dirty="0" smtClean="0"/>
          </a:p>
          <a:p>
            <a:pPr lvl="1"/>
            <a:r>
              <a:rPr lang="en-US" dirty="0" smtClean="0"/>
              <a:t>The more heat is delivered from above, the thicker the cold cap becomes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1053" y="2743199"/>
            <a:ext cx="2564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Total heat flux to cold cap in kW m</a:t>
            </a:r>
            <a:r>
              <a:rPr lang="en-US" baseline="30000" dirty="0" smtClean="0"/>
              <a:t>-2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3" name="Picture 3" descr="Fig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086" y="1210635"/>
            <a:ext cx="4035287" cy="3036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Pravoúhlý trojúhelník 13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5"/>
            <a:ext cx="8678779" cy="498849"/>
          </a:xfrm>
        </p:spPr>
        <p:txBody>
          <a:bodyPr/>
          <a:lstStyle/>
          <a:p>
            <a:r>
              <a:rPr lang="en-US" dirty="0" smtClean="0"/>
              <a:t>Foam</a:t>
            </a:r>
            <a:r>
              <a:rPr lang="cs-CZ" dirty="0" smtClean="0"/>
              <a:t> </a:t>
            </a:r>
            <a:r>
              <a:rPr lang="en-US" dirty="0" smtClean="0"/>
              <a:t>layer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989094" y="609600"/>
            <a:ext cx="3769896" cy="2727158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Picture of bubble layer structure under cold cap</a:t>
            </a:r>
          </a:p>
          <a:p>
            <a:r>
              <a:rPr lang="en-US" dirty="0" smtClean="0"/>
              <a:t>X-ray tomography image of foam after melting</a:t>
            </a:r>
          </a:p>
        </p:txBody>
      </p:sp>
      <p:pic>
        <p:nvPicPr>
          <p:cNvPr id="7" name="Picture 3"/>
          <p:cNvPicPr/>
          <p:nvPr/>
        </p:nvPicPr>
        <p:blipFill rotWithShape="1">
          <a:blip r:embed="rId3" cstate="print"/>
          <a:srcRect l="50641" b="10070"/>
          <a:stretch/>
        </p:blipFill>
        <p:spPr bwMode="auto">
          <a:xfrm>
            <a:off x="4329545" y="4648200"/>
            <a:ext cx="481445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932946" y="2943726"/>
            <a:ext cx="3769896" cy="2727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4"/>
              </a:buBlip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9" charset="-128"/>
                <a:cs typeface="+mn-cs"/>
              </a:rPr>
              <a:t>Picture of bubble layer structure under cold cap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9" charset="-128"/>
                <a:cs typeface="+mn-cs"/>
              </a:rPr>
              <a:t>X-ray tomography image of foam after melting</a:t>
            </a:r>
          </a:p>
        </p:txBody>
      </p:sp>
      <p:pic>
        <p:nvPicPr>
          <p:cNvPr id="6" name="Picture 2"/>
          <p:cNvPicPr/>
          <p:nvPr/>
        </p:nvPicPr>
        <p:blipFill>
          <a:blip r:embed="rId5" cstate="print">
            <a:lum bright="8000" contrast="-32000"/>
          </a:blip>
          <a:srcRect/>
          <a:stretch>
            <a:fillRect/>
          </a:stretch>
        </p:blipFill>
        <p:spPr bwMode="auto">
          <a:xfrm rot="10800000">
            <a:off x="4475748" y="1700451"/>
            <a:ext cx="4668252" cy="2229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95001" y="712694"/>
            <a:ext cx="3769896" cy="877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4"/>
              </a:buBlip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4"/>
              </a:buBlip>
              <a:tabLst/>
              <a:defRPr/>
            </a:pPr>
            <a:r>
              <a:rPr lang="en-US" sz="2000" kern="0" dirty="0" smtClean="0">
                <a:latin typeface="+mn-lt"/>
              </a:rPr>
              <a:t>Expansion experiments show presence of foaming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</p:txBody>
      </p:sp>
      <p:pic>
        <p:nvPicPr>
          <p:cNvPr id="71682" name="Picture 2" descr="Fig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9209" y="4175474"/>
            <a:ext cx="4144617" cy="2682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avoúhlý trojúhelník 11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6"/>
            <a:ext cx="8678779" cy="583234"/>
          </a:xfrm>
        </p:spPr>
        <p:txBody>
          <a:bodyPr/>
          <a:lstStyle/>
          <a:p>
            <a:r>
              <a:rPr lang="cs-CZ" dirty="0" err="1" smtClean="0"/>
              <a:t>Foam</a:t>
            </a:r>
            <a:r>
              <a:rPr lang="cs-CZ" dirty="0" smtClean="0"/>
              <a:t> </a:t>
            </a:r>
            <a:r>
              <a:rPr lang="cs-CZ" dirty="0" err="1" smtClean="0"/>
              <a:t>layer</a:t>
            </a:r>
            <a:r>
              <a:rPr lang="cs-CZ" dirty="0" smtClean="0"/>
              <a:t> </a:t>
            </a:r>
            <a:r>
              <a:rPr lang="cs-CZ" dirty="0" err="1" smtClean="0"/>
              <a:t>models</a:t>
            </a:r>
            <a:endParaRPr 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271" y="1013792"/>
            <a:ext cx="3806164" cy="457199"/>
          </a:xfrm>
        </p:spPr>
        <p:txBody>
          <a:bodyPr/>
          <a:lstStyle/>
          <a:p>
            <a:r>
              <a:rPr lang="en-US" dirty="0" smtClean="0"/>
              <a:t>Structure of foam layer</a:t>
            </a:r>
            <a:r>
              <a:rPr lang="cs-CZ" dirty="0" smtClean="0"/>
              <a:t> </a:t>
            </a:r>
            <a:endParaRPr lang="en-US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61036" y="2696819"/>
            <a:ext cx="3130303" cy="1805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09" charset="-128"/>
                <a:cs typeface="+mn-cs"/>
              </a:rPr>
              <a:t>Understanding of foam is essential for the cold cap modeling</a:t>
            </a:r>
            <a:endParaRPr kumimoji="0" lang="cs-CZ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cs-CZ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09" charset="-128"/>
              <a:cs typeface="+mn-cs"/>
            </a:endParaRPr>
          </a:p>
        </p:txBody>
      </p:sp>
      <p:pic>
        <p:nvPicPr>
          <p:cNvPr id="9" name="Picture 1" descr="C:\Users\D3E171\Desktop\CurrentWork2011\CCMdl&amp;TA\CCModel\tif\Fig1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21170" y="1381608"/>
            <a:ext cx="5143994" cy="5327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Risa\POSTECH\dane_logo_colour.jpg"/>
          <p:cNvPicPr>
            <a:picLocks noChangeAspect="1" noChangeArrowheads="1"/>
          </p:cNvPicPr>
          <p:nvPr/>
        </p:nvPicPr>
        <p:blipFill>
          <a:blip r:embed="rId2" cstate="print"/>
          <a:srcRect t="5407" b="27011"/>
          <a:stretch>
            <a:fillRect/>
          </a:stretch>
        </p:blipFill>
        <p:spPr bwMode="auto">
          <a:xfrm>
            <a:off x="2510329" y="5183250"/>
            <a:ext cx="2976072" cy="1674749"/>
          </a:xfrm>
          <a:prstGeom prst="rect">
            <a:avLst/>
          </a:prstGeom>
          <a:noFill/>
        </p:spPr>
      </p:pic>
      <p:pic>
        <p:nvPicPr>
          <p:cNvPr id="7" name="Picture 2" descr="http://www.wedc.wa.gov/images/PNNL_Color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183478"/>
            <a:ext cx="2842591" cy="1674522"/>
          </a:xfrm>
          <a:prstGeom prst="rect">
            <a:avLst/>
          </a:prstGeom>
          <a:noFill/>
        </p:spPr>
      </p:pic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08547" y="460375"/>
            <a:ext cx="8678779" cy="987425"/>
          </a:xfrm>
        </p:spPr>
        <p:txBody>
          <a:bodyPr/>
          <a:lstStyle/>
          <a:p>
            <a:r>
              <a:rPr lang="en-US" dirty="0" smtClean="0"/>
              <a:t>Conclusions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895095-BF19-4192-96CD-707179ADF8BB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8757" y="1090864"/>
            <a:ext cx="8662737" cy="43657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/>
              <a:t>The preliminary 1D model of the cold cap has been developed</a:t>
            </a:r>
          </a:p>
          <a:p>
            <a:pPr>
              <a:spcBef>
                <a:spcPts val="600"/>
              </a:spcBef>
            </a:pPr>
            <a:endParaRPr lang="en-US" dirty="0" smtClean="0"/>
          </a:p>
          <a:p>
            <a:pPr>
              <a:spcBef>
                <a:spcPts val="600"/>
              </a:spcBef>
            </a:pPr>
            <a:r>
              <a:rPr lang="en-US" dirty="0" smtClean="0"/>
              <a:t>The thickness of the cold cap decreases as the feat flux to the cold cap increases and increases as the fractional heat flux from above increases</a:t>
            </a:r>
          </a:p>
          <a:p>
            <a:pPr>
              <a:spcBef>
                <a:spcPts val="600"/>
              </a:spcBef>
            </a:pPr>
            <a:endParaRPr lang="en-US" dirty="0" smtClean="0"/>
          </a:p>
          <a:p>
            <a:pPr>
              <a:spcBef>
                <a:spcPts val="600"/>
              </a:spcBef>
            </a:pPr>
            <a:r>
              <a:rPr lang="en-US" dirty="0" smtClean="0"/>
              <a:t>Empirical data indicate that foaming has a strong impact on the melting rate </a:t>
            </a:r>
          </a:p>
          <a:p>
            <a:pPr>
              <a:spcBef>
                <a:spcPts val="600"/>
              </a:spcBef>
            </a:pPr>
            <a:endParaRPr lang="en-US" dirty="0" smtClean="0"/>
          </a:p>
          <a:p>
            <a:pPr>
              <a:spcBef>
                <a:spcPts val="600"/>
              </a:spcBef>
            </a:pPr>
            <a:r>
              <a:rPr lang="en-US" dirty="0" smtClean="0"/>
              <a:t>Further experimental investigation and mathematical modeling of foaming is underway</a:t>
            </a:r>
          </a:p>
        </p:txBody>
      </p:sp>
      <p:sp>
        <p:nvSpPr>
          <p:cNvPr id="6" name="Pravoúhlý trojúhelník 5"/>
          <p:cNvSpPr/>
          <p:nvPr/>
        </p:nvSpPr>
        <p:spPr>
          <a:xfrm rot="16200000">
            <a:off x="5674895" y="3404937"/>
            <a:ext cx="1387642" cy="548640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9" name="Picture 1" descr="C:\Users\D3E171\Desktop\CurrentWork2011\Conferences\RPI2011\New_DOE_Logo_Color_Hi-Res_04280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90430" y="5811939"/>
            <a:ext cx="3553570" cy="8933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NNL_PowerPoin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NNL_Presentation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NNL_Presentatio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NNL_Presentatio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8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E7B900"/>
        </a:accent6>
        <a:hlink>
          <a:srgbClr val="CC33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9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0000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E7B900"/>
        </a:accent6>
        <a:hlink>
          <a:srgbClr val="006600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10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900"/>
        </a:accent6>
        <a:hlink>
          <a:srgbClr val="008080"/>
        </a:hlink>
        <a:folHlink>
          <a:srgbClr val="9900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NNL_Presentation_Template 11">
        <a:dk1>
          <a:srgbClr val="000000"/>
        </a:dk1>
        <a:lt1>
          <a:srgbClr val="FFFFFF"/>
        </a:lt1>
        <a:dk2>
          <a:srgbClr val="CB7023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PNNL_PowerPoint_Template</Template>
  <TotalTime>2282</TotalTime>
  <Words>855</Words>
  <Application>Microsoft Office PowerPoint</Application>
  <PresentationFormat>On-screen Show (4:3)</PresentationFormat>
  <Paragraphs>165</Paragraphs>
  <Slides>18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PNNL_PowerPoint_Template</vt:lpstr>
      <vt:lpstr>Equation</vt:lpstr>
      <vt:lpstr>Nuclear waste vitrification efficiency: cold cap</vt:lpstr>
      <vt:lpstr>Hanford site</vt:lpstr>
      <vt:lpstr>Nuclear waste</vt:lpstr>
      <vt:lpstr>Waste treatment plant (“Vitrification plant”)</vt:lpstr>
      <vt:lpstr>Glass melting</vt:lpstr>
      <vt:lpstr>Mathematical modeling of cold cap</vt:lpstr>
      <vt:lpstr>Mathematical modeling of cold cap</vt:lpstr>
      <vt:lpstr>Mathematical modeling of cold cap</vt:lpstr>
      <vt:lpstr>Cold cap structure</vt:lpstr>
      <vt:lpstr>Mathematical modeling of cold cap</vt:lpstr>
      <vt:lpstr>Mass balance</vt:lpstr>
      <vt:lpstr>Energy balance</vt:lpstr>
      <vt:lpstr>Boundary temperatures and fluxes</vt:lpstr>
      <vt:lpstr>Material properties</vt:lpstr>
      <vt:lpstr>Results preview</vt:lpstr>
      <vt:lpstr>Foam layer</vt:lpstr>
      <vt:lpstr>Foam layer models</vt:lpstr>
      <vt:lpstr>Conclusions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Richard</dc:creator>
  <cp:lastModifiedBy>d3e171</cp:lastModifiedBy>
  <cp:revision>181</cp:revision>
  <dcterms:created xsi:type="dcterms:W3CDTF">2011-04-07T09:09:01Z</dcterms:created>
  <dcterms:modified xsi:type="dcterms:W3CDTF">2011-08-09T17:09:00Z</dcterms:modified>
</cp:coreProperties>
</file>