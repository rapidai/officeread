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63" r:id="rId9"/>
    <p:sldId id="259" r:id="rId10"/>
    <p:sldId id="269" r:id="rId11"/>
    <p:sldId id="264" r:id="rId12"/>
    <p:sldId id="265" r:id="rId13"/>
    <p:sldId id="270" r:id="rId14"/>
    <p:sldId id="266" r:id="rId15"/>
    <p:sldId id="267" r:id="rId16"/>
    <p:sldId id="276" r:id="rId17"/>
    <p:sldId id="27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80" autoAdjust="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-105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48411-162D-E849-8A2D-F70AC8A6CFC9}" type="datetimeFigureOut">
              <a:rPr lang="en-US" smtClean="0"/>
              <a:pPr/>
              <a:t>11/8/2010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A599C-A876-2246-90FD-FB30DB8B2C5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422CC8-89FC-564B-B22B-2A520D0B4977}" type="datetimeFigureOut">
              <a:rPr lang="en-US" smtClean="0"/>
              <a:pPr/>
              <a:t>11/8/2010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6F081-1CFB-714E-A5D2-2817A0FC8BE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Thanks</a:t>
            </a:r>
            <a:r>
              <a:rPr lang="en-US" baseline="0" dirty="0" smtClean="0"/>
              <a:t> for taking the time to respond to my survey. In doing so, you definitely have made this our presentation rather than mine alone! Yay!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6F081-1CFB-714E-A5D2-2817A0FC8BEE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6F081-1CFB-714E-A5D2-2817A0FC8BEE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000" dirty="0" smtClean="0"/>
              <a:t>Basic Search is a keyword search of indexed fields: countries, years, subject areas and databases </a:t>
            </a:r>
          </a:p>
          <a:p>
            <a:pPr lvl="1"/>
            <a:r>
              <a:rPr lang="en-US" sz="2000" dirty="0" smtClean="0"/>
              <a:t>Site look-and-feel suggests full-text search; little misleading</a:t>
            </a:r>
          </a:p>
          <a:p>
            <a:pPr lvl="1"/>
            <a:endParaRPr lang="en-US" sz="2000" dirty="0" smtClean="0"/>
          </a:p>
          <a:p>
            <a:pPr lvl="1"/>
            <a:r>
              <a:rPr lang="en-US" sz="2000" dirty="0" smtClean="0"/>
              <a:t>Show search for</a:t>
            </a:r>
          </a:p>
          <a:p>
            <a:endParaRPr lang="en-US" b="1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6F081-1CFB-714E-A5D2-2817A0FC8BEE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Break here to search for sustainable</a:t>
            </a:r>
            <a:r>
              <a:rPr lang="en-US" baseline="0" dirty="0" smtClean="0"/>
              <a:t> tourism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6F081-1CFB-714E-A5D2-2817A0FC8BEE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Break</a:t>
            </a:r>
            <a:r>
              <a:rPr lang="en-US" baseline="0" dirty="0" smtClean="0"/>
              <a:t> here to search for sub-national data or political indicators.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6F081-1CFB-714E-A5D2-2817A0FC8BEE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8A8C07-7565-EE4B-B2A9-780C30232531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6A9DC-4926-674B-980C-F67066389B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6A9DC-4926-674B-980C-F67066389B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79F8CA-6F99-CA40-B3EC-2E26CB7D1DCA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6A9DC-4926-674B-980C-F67066389B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E76F01-8955-C04D-BE19-4765808A1A46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6A9DC-4926-674B-980C-F67066389B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249634-D34C-C145-AB4E-B9E85E29057B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6A9DC-4926-674B-980C-F67066389B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D046F1-6177-9F41-8028-06663A006E73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6A9DC-4926-674B-980C-F67066389B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AF9D6C9-EA2D-C14A-A350-8ACECAE5CDF7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6A9DC-4926-674B-980C-F67066389B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4FC71-7C00-FC49-8F83-96FCAA28C423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6A9DC-4926-674B-980C-F67066389B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98B48A-0C85-534B-973D-5746F5D4D4D6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6A9DC-4926-674B-980C-F67066389B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085D66-D474-A445-A0F1-B70E8248D33F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6A9DC-4926-674B-980C-F67066389B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7694696-3F33-F546-8FD5-932DE6DF2AB5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6A9DC-4926-674B-980C-F67066389B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39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5C7EF01-2548-924A-B829-8BFAE57C6C61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9E6A9DC-4926-674B-980C-F67066389B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Stone Sans ITC Semi OS"/>
          <a:ea typeface="ＭＳ Ｐゴシック" pitchFamily="-111" charset="-128"/>
          <a:cs typeface="ＭＳ Ｐゴシック" pitchFamily="31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tone Sans ITC Semi OS" pitchFamily="31" charset="0"/>
          <a:ea typeface="ＭＳ Ｐゴシック" pitchFamily="-111" charset="-128"/>
          <a:cs typeface="ＭＳ Ｐゴシック" pitchFamily="-111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tone Sans ITC Semi OS" pitchFamily="31" charset="0"/>
          <a:ea typeface="ＭＳ Ｐゴシック" pitchFamily="-111" charset="-128"/>
          <a:cs typeface="ＭＳ Ｐゴシック" pitchFamily="-111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tone Sans ITC Semi OS" pitchFamily="31" charset="0"/>
          <a:ea typeface="ＭＳ Ｐゴシック" pitchFamily="-111" charset="-128"/>
          <a:cs typeface="ＭＳ Ｐゴシック" pitchFamily="-111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tone Sans ITC Semi OS" pitchFamily="31" charset="0"/>
          <a:ea typeface="ＭＳ Ｐゴシック" pitchFamily="-111" charset="-128"/>
          <a:cs typeface="ＭＳ Ｐゴシック" pitchFamily="-111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1" charset="0"/>
          <a:ea typeface="ＭＳ Ｐゴシック" pitchFamily="-111" charset="-128"/>
          <a:cs typeface="ＭＳ Ｐゴシック" pitchFamily="-111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1" charset="0"/>
          <a:ea typeface="ＭＳ Ｐゴシック" pitchFamily="-111" charset="-128"/>
          <a:cs typeface="ＭＳ Ｐゴシック" pitchFamily="-111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1" charset="0"/>
          <a:ea typeface="ＭＳ Ｐゴシック" pitchFamily="-111" charset="-128"/>
          <a:cs typeface="ＭＳ Ｐゴシック" pitchFamily="-111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1" charset="0"/>
          <a:ea typeface="ＭＳ Ｐゴシック" pitchFamily="-111" charset="-128"/>
          <a:cs typeface="ＭＳ Ｐゴシック" pitchFamily="-111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Stone Sans ITC Medium"/>
          <a:ea typeface="ＭＳ Ｐゴシック" pitchFamily="-111" charset="-128"/>
          <a:cs typeface="ＭＳ Ｐゴシック" pitchFamily="31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Stone Sans ITC Medium"/>
          <a:ea typeface="ＭＳ Ｐゴシック" pitchFamily="-111" charset="-128"/>
          <a:cs typeface="ＭＳ Ｐゴシック" pitchFamily="31" charset="-128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Stone Sans ITC Medium"/>
          <a:ea typeface="ＭＳ Ｐゴシック" pitchFamily="-111" charset="-128"/>
          <a:cs typeface="ＭＳ Ｐゴシック" pitchFamily="31" charset="-128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Stone Sans ITC Medium"/>
          <a:ea typeface="ＭＳ Ｐゴシック" pitchFamily="-111" charset="-128"/>
          <a:cs typeface="ＭＳ Ｐゴシック" pitchFamily="31" charset="-128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Stone Sans ITC Medium"/>
          <a:ea typeface="ＭＳ Ｐゴシック" pitchFamily="-111" charset="-128"/>
          <a:cs typeface="ＭＳ Ｐゴシック" pitchFamily="31" charset="-128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licious.com/umdatalib" TargetMode="External"/><Relationship Id="rId2" Type="http://schemas.openxmlformats.org/officeDocument/2006/relationships/hyperlink" Target="mailto:westx045@umn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International Organizations &amp; Their 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2010 ICPSR Social Sciences Data Fair</a:t>
            </a:r>
          </a:p>
          <a:p>
            <a:r>
              <a:rPr lang="en-US" dirty="0" smtClean="0"/>
              <a:t>November 10, 2010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Presentation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smtClean="0"/>
              <a:t>undata Overview</a:t>
            </a:r>
          </a:p>
          <a:p>
            <a:pPr lvl="1">
              <a:spcAft>
                <a:spcPts val="600"/>
              </a:spcAft>
            </a:pPr>
            <a:r>
              <a:rPr lang="en-US" sz="2400" dirty="0" smtClean="0"/>
              <a:t>Demonstration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World Bank Data Overview</a:t>
            </a:r>
          </a:p>
          <a:p>
            <a:pPr lvl="1">
              <a:spcAft>
                <a:spcPts val="600"/>
              </a:spcAft>
            </a:pPr>
            <a:r>
              <a:rPr lang="en-US" sz="2400" dirty="0" smtClean="0"/>
              <a:t>Demonstration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Questions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undata</a:t>
            </a:r>
            <a:endParaRPr lang="en-US" dirty="0"/>
          </a:p>
        </p:txBody>
      </p:sp>
      <p:pic>
        <p:nvPicPr>
          <p:cNvPr id="12" name="Content Placeholder 11" descr="UNdata-2.jpg"/>
          <p:cNvPicPr>
            <a:picLocks noGrp="1" noChangeAspect="1"/>
          </p:cNvPicPr>
          <p:nvPr>
            <p:ph idx="1"/>
          </p:nvPr>
        </p:nvPicPr>
        <p:blipFill>
          <a:blip r:embed="rId2"/>
          <a:srcRect t="-17048" b="-17048"/>
          <a:stretch>
            <a:fillRect/>
          </a:stretch>
        </p:blipFill>
        <p:spPr/>
      </p:pic>
      <p:sp>
        <p:nvSpPr>
          <p:cNvPr id="11" name="Text Placeholder 10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 smtClean="0"/>
              <a:t>What is it?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Portal to data from 20 different UN bodies and special agencies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What’s it good for?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Data landscape: which group collects what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Casual data needs with short time periods, common indicators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Persistent, table-level URLs for emailing, citing in papers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Advantages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No access limits: free, platform independent, downloads in common and/or non-proprietary formats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Very liberal terms of use: citation requested</a:t>
            </a:r>
          </a:p>
          <a:p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undata: Data Explorer</a:t>
            </a:r>
            <a:endParaRPr lang="en-US" dirty="0"/>
          </a:p>
        </p:txBody>
      </p:sp>
      <p:pic>
        <p:nvPicPr>
          <p:cNvPr id="9" name="Content Placeholder 8" descr="undata_explorer.jpg"/>
          <p:cNvPicPr>
            <a:picLocks noGrp="1" noChangeAspect="1"/>
          </p:cNvPicPr>
          <p:nvPr>
            <p:ph idx="1"/>
          </p:nvPr>
        </p:nvPicPr>
        <p:blipFill>
          <a:blip r:embed="rId3"/>
          <a:srcRect t="-3558" b="-3558"/>
          <a:stretch>
            <a:fillRect/>
          </a:stretch>
        </p:blipFill>
        <p:spPr/>
      </p:pic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 smtClean="0"/>
              <a:t>Use Cases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You already know what you’re looking for, at least in part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Pros 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Directory structure supports speedy browsing of available data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Cons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Inefficient for any other uses; likely preferred by librarians, experienced researchers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undata: Basic Search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 smtClean="0"/>
              <a:t>Use Cases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Topic searches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Pros 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Path of least resistance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Spelling corrections, alternative terms suggested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Zero result searches bring up full-text search option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Cons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Basic search designed for casual user, but understanding search results presumes knowledge user may not have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Privileging some indicators in search results would help</a:t>
            </a:r>
          </a:p>
          <a:p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1" name="Content Placeholder 10" descr="undata_basic_search-1.jpg"/>
          <p:cNvPicPr>
            <a:picLocks noGrp="1" noChangeAspect="1"/>
          </p:cNvPicPr>
          <p:nvPr>
            <p:ph idx="1"/>
          </p:nvPr>
        </p:nvPicPr>
        <p:blipFill>
          <a:blip r:embed="rId3"/>
          <a:srcRect t="-14880" b="-14880"/>
          <a:stretch>
            <a:fillRect/>
          </a:stretch>
        </p:blipFill>
        <p:spPr/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undata: Advanced Search</a:t>
            </a:r>
            <a:endParaRPr lang="en-US" dirty="0"/>
          </a:p>
        </p:txBody>
      </p:sp>
      <p:pic>
        <p:nvPicPr>
          <p:cNvPr id="11" name="Content Placeholder 10" descr="undata_advancedsearch.jpg"/>
          <p:cNvPicPr>
            <a:picLocks noGrp="1" noChangeAspect="1"/>
          </p:cNvPicPr>
          <p:nvPr>
            <p:ph idx="1"/>
          </p:nvPr>
        </p:nvPicPr>
        <p:blipFill>
          <a:blip r:embed="rId2"/>
          <a:srcRect t="-606" b="-1616"/>
          <a:stretch>
            <a:fillRect/>
          </a:stretch>
        </p:blipFill>
        <p:spPr>
          <a:xfrm>
            <a:off x="3575050" y="830795"/>
            <a:ext cx="5430350" cy="5153412"/>
          </a:xfrm>
        </p:spPr>
      </p:pic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 smtClean="0"/>
              <a:t>Use Cases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User who knows enough to want to set parameters on search, including full-text of undata data series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Pros 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Intuitive layout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Cons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May be simpler to use basic search and refine on results screen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Editorial Comment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I never use this – other features accomplish same ends in a way that matches my workflow better</a:t>
            </a:r>
          </a:p>
          <a:p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undata: Country Profiles</a:t>
            </a:r>
            <a:endParaRPr lang="en-US" dirty="0"/>
          </a:p>
        </p:txBody>
      </p:sp>
      <p:pic>
        <p:nvPicPr>
          <p:cNvPr id="9" name="Content Placeholder 8" descr="undata_countryprofile-1.jpg"/>
          <p:cNvPicPr>
            <a:picLocks noGrp="1" noChangeAspect="1"/>
          </p:cNvPicPr>
          <p:nvPr>
            <p:ph idx="1"/>
          </p:nvPr>
        </p:nvPicPr>
        <p:blipFill>
          <a:blip r:embed="rId2"/>
          <a:srcRect t="-1111" b="-1111"/>
          <a:stretch>
            <a:fillRect/>
          </a:stretch>
        </p:blipFill>
        <p:spPr>
          <a:xfrm>
            <a:off x="3575048" y="672063"/>
            <a:ext cx="5483172" cy="5422392"/>
          </a:xfrm>
        </p:spPr>
      </p:pic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 smtClean="0"/>
              <a:t>Use Case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User needs an overview of current conditions in a country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Pros</a:t>
            </a:r>
            <a:r>
              <a:rPr lang="en-US" sz="1200" dirty="0" smtClean="0"/>
              <a:t> 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Good overview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Links to National Statistical Offices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Cons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Neither detailed nor particularly unique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Distracts from the much more useful search by country which returns all data for that country in undata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Editorial Comment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For this use case, I go to the CIA World Factbook first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undata: Bonus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Venues for updates on content</a:t>
            </a:r>
          </a:p>
          <a:p>
            <a:pPr lvl="1"/>
            <a:r>
              <a:rPr lang="en-US" sz="2000" dirty="0" smtClean="0"/>
              <a:t>Twitter: when new data uploaded</a:t>
            </a:r>
          </a:p>
          <a:p>
            <a:r>
              <a:rPr lang="en-US" dirty="0" smtClean="0"/>
              <a:t>Facebook</a:t>
            </a:r>
          </a:p>
          <a:p>
            <a:pPr lvl="1"/>
            <a:r>
              <a:rPr lang="en-US" sz="2000" dirty="0" smtClean="0"/>
              <a:t>Many users posted data questions and most have been answered</a:t>
            </a:r>
          </a:p>
          <a:p>
            <a:pPr lvl="1"/>
            <a:r>
              <a:rPr lang="en-US" sz="2000" dirty="0" smtClean="0"/>
              <a:t>Still skeptical of value for librarians or instructors</a:t>
            </a:r>
          </a:p>
          <a:p>
            <a:r>
              <a:rPr lang="en-US" dirty="0" smtClean="0"/>
              <a:t>Editorial Comment</a:t>
            </a:r>
          </a:p>
          <a:p>
            <a:pPr lvl="1"/>
            <a:r>
              <a:rPr lang="en-US" sz="2000" dirty="0" smtClean="0"/>
              <a:t>In a resource abundant, attention scarce environment, I value the Twitter notifications because it helps to keep undata on my radar as well as alert me to specific updates</a:t>
            </a:r>
          </a:p>
          <a:p>
            <a:pPr lvl="1"/>
            <a:endParaRPr lang="en-US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World Bank Data (WBD)</a:t>
            </a:r>
            <a:endParaRPr lang="en-US" dirty="0"/>
          </a:p>
        </p:txBody>
      </p:sp>
      <p:pic>
        <p:nvPicPr>
          <p:cNvPr id="7" name="Content Placeholder 6" descr="wbd_home.jpg"/>
          <p:cNvPicPr>
            <a:picLocks noGrp="1" noChangeAspect="1"/>
          </p:cNvPicPr>
          <p:nvPr>
            <p:ph idx="1"/>
          </p:nvPr>
        </p:nvPicPr>
        <p:blipFill>
          <a:blip r:embed="rId2"/>
          <a:srcRect t="-1616" b="-606"/>
          <a:stretch>
            <a:fillRect/>
          </a:stretch>
        </p:blipFill>
        <p:spPr>
          <a:xfrm>
            <a:off x="3575050" y="1050064"/>
            <a:ext cx="5537244" cy="4709160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1600" dirty="0" smtClean="0"/>
              <a:t>What is it?</a:t>
            </a:r>
          </a:p>
          <a:p>
            <a:pPr lvl="1"/>
            <a:r>
              <a:rPr lang="en-US" dirty="0" smtClean="0"/>
              <a:t>A portal that aggregates direct data access, individual databases and links to statistical reports.</a:t>
            </a:r>
          </a:p>
          <a:p>
            <a:r>
              <a:rPr lang="en-US" sz="1600" dirty="0" smtClean="0"/>
              <a:t>What’s it good for?</a:t>
            </a:r>
          </a:p>
          <a:p>
            <a:pPr lvl="1"/>
            <a:r>
              <a:rPr lang="en-US" dirty="0" smtClean="0"/>
              <a:t>Searching World Bank databases</a:t>
            </a:r>
          </a:p>
          <a:p>
            <a:pPr lvl="1"/>
            <a:r>
              <a:rPr lang="en-US" dirty="0" smtClean="0"/>
              <a:t>Embedding live tables into syllabi and research guides</a:t>
            </a:r>
          </a:p>
          <a:p>
            <a:r>
              <a:rPr lang="en-US" sz="1600" dirty="0" smtClean="0"/>
              <a:t>Advantages</a:t>
            </a:r>
          </a:p>
          <a:p>
            <a:pPr lvl="1"/>
            <a:r>
              <a:rPr lang="en-US" dirty="0" smtClean="0"/>
              <a:t>No access limits: free, platform independent, downloads in common and/or non-proprietary formats</a:t>
            </a:r>
          </a:p>
          <a:p>
            <a:pPr lvl="1"/>
            <a:r>
              <a:rPr lang="en-US" dirty="0" smtClean="0"/>
              <a:t>Liberal terms of use: citation requested, some datasets may have more limits someday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WBD: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Databank</a:t>
            </a:r>
          </a:p>
          <a:p>
            <a:pPr lvl="1"/>
            <a:r>
              <a:rPr lang="en-US" sz="2000" dirty="0" smtClean="0"/>
              <a:t>the software platform used to deliver some databases; same software as fee-based World Development Indicators</a:t>
            </a:r>
          </a:p>
          <a:p>
            <a:r>
              <a:rPr lang="en-US" sz="2400" dirty="0" smtClean="0"/>
              <a:t>API</a:t>
            </a:r>
          </a:p>
          <a:p>
            <a:pPr lvl="1"/>
            <a:r>
              <a:rPr lang="en-US" sz="2000" dirty="0" smtClean="0"/>
              <a:t>A way for other websites to get data directly and add their own interfaces</a:t>
            </a:r>
          </a:p>
          <a:p>
            <a:r>
              <a:rPr lang="en-US" sz="2400" dirty="0" smtClean="0"/>
              <a:t>Data Catalog</a:t>
            </a:r>
            <a:endParaRPr lang="en-US" sz="2000" dirty="0" smtClean="0"/>
          </a:p>
          <a:p>
            <a:pPr lvl="1"/>
            <a:r>
              <a:rPr lang="en-US" sz="2000" dirty="0" smtClean="0"/>
              <a:t>Table of contents</a:t>
            </a:r>
          </a:p>
          <a:p>
            <a:r>
              <a:rPr lang="en-US" sz="2400" dirty="0" smtClean="0"/>
              <a:t>Widgets / Embedding /</a:t>
            </a:r>
          </a:p>
          <a:p>
            <a:pPr lvl="1"/>
            <a:r>
              <a:rPr lang="en-US" sz="2000" dirty="0" smtClean="0"/>
              <a:t>Live tables you can embed on web pages, syllabi, research guides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 descr="embed graph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788" y="4619625"/>
            <a:ext cx="457200" cy="406400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wbd_source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50" y="4619625"/>
            <a:ext cx="419100" cy="419100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68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WBD: Major Databases</a:t>
            </a:r>
            <a:endParaRPr lang="en-US" dirty="0"/>
          </a:p>
        </p:txBody>
      </p:sp>
      <p:pic>
        <p:nvPicPr>
          <p:cNvPr id="7" name="Content Placeholder 6" descr="wbd_datacatalog.jpg"/>
          <p:cNvPicPr>
            <a:picLocks noGrp="1" noChangeAspect="1"/>
          </p:cNvPicPr>
          <p:nvPr>
            <p:ph idx="1"/>
          </p:nvPr>
        </p:nvPicPr>
        <p:blipFill>
          <a:blip r:embed="rId2"/>
          <a:srcRect t="-1414" b="-1414"/>
          <a:stretch>
            <a:fillRect/>
          </a:stretch>
        </p:blipFill>
        <p:spPr>
          <a:xfrm>
            <a:off x="3575050" y="794100"/>
            <a:ext cx="5499032" cy="5175504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 smtClean="0"/>
              <a:t>Use Cases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User needs a database she already knows about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Pros 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Big three available – World Development Indicators, Global Development Finance, Africa Development Indicators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Less well-known databases much easier to discover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Cons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Indicators in those databases are also available other ways; potentially confusing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Databank software not perfect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Differing levels of access</a:t>
            </a:r>
          </a:p>
          <a:p>
            <a:pPr>
              <a:spcAft>
                <a:spcPts val="600"/>
              </a:spcAft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WBD: Search</a:t>
            </a:r>
            <a:endParaRPr lang="en-US" dirty="0"/>
          </a:p>
        </p:txBody>
      </p:sp>
      <p:pic>
        <p:nvPicPr>
          <p:cNvPr id="8" name="Content Placeholder 7" descr="wbd_searchresults.jpg"/>
          <p:cNvPicPr>
            <a:picLocks noGrp="1" noChangeAspect="1"/>
          </p:cNvPicPr>
          <p:nvPr>
            <p:ph idx="1"/>
          </p:nvPr>
        </p:nvPicPr>
        <p:blipFill>
          <a:blip r:embed="rId2"/>
          <a:srcRect t="101" b="101"/>
          <a:stretch>
            <a:fillRect/>
          </a:stretch>
        </p:blipFill>
        <p:spPr>
          <a:xfrm>
            <a:off x="3575049" y="1084867"/>
            <a:ext cx="5558881" cy="4599432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 smtClean="0"/>
              <a:t>Use Cases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Topical search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Pros 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Results layout privileges basic data, includes links to databases, provides filtering options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Includes RSS feed for search so that you are alerted as data is updated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Cons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There’s a lot of information to take in; users, especially casual users may be overwhelmed</a:t>
            </a:r>
          </a:p>
          <a:p>
            <a:pPr>
              <a:spcAft>
                <a:spcPts val="600"/>
              </a:spcAft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WBD: Select an Indicator</a:t>
            </a:r>
            <a:endParaRPr lang="en-US" dirty="0"/>
          </a:p>
        </p:txBody>
      </p:sp>
      <p:pic>
        <p:nvPicPr>
          <p:cNvPr id="8" name="Content Placeholder 7" descr="wbd_livetables1.jpg"/>
          <p:cNvPicPr>
            <a:picLocks noGrp="1" noChangeAspect="1"/>
          </p:cNvPicPr>
          <p:nvPr>
            <p:ph idx="1"/>
          </p:nvPr>
        </p:nvPicPr>
        <p:blipFill>
          <a:blip r:embed="rId2"/>
          <a:srcRect t="404" b="404"/>
          <a:stretch>
            <a:fillRect/>
          </a:stretch>
        </p:blipFill>
        <p:spPr>
          <a:xfrm>
            <a:off x="3575050" y="1119537"/>
            <a:ext cx="5561639" cy="4526280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 smtClean="0"/>
              <a:t>Use Cases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User has a specific indicator she’s interested in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Pros</a:t>
            </a:r>
            <a:r>
              <a:rPr lang="en-US" sz="1200" dirty="0" smtClean="0"/>
              <a:t> 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Search has auto-suggest that displays indicators that match search terms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Cons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It’s matching on series titles, not keyword therefore only suitable for fairly knowledgeable users</a:t>
            </a:r>
          </a:p>
          <a:p>
            <a:pPr>
              <a:spcAft>
                <a:spcPts val="600"/>
              </a:spcAft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WBD: Working with Live Tables</a:t>
            </a:r>
            <a:endParaRPr lang="en-US" dirty="0"/>
          </a:p>
        </p:txBody>
      </p:sp>
      <p:pic>
        <p:nvPicPr>
          <p:cNvPr id="7" name="Content Placeholder 6" descr="wbd_embed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575050" y="273050"/>
            <a:ext cx="5111750" cy="3894704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 smtClean="0"/>
              <a:t>Use Cases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Syllabi and research guides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Researchers looking for regularly updated data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Pros</a:t>
            </a:r>
            <a:r>
              <a:rPr lang="en-US" sz="1200" dirty="0" smtClean="0"/>
              <a:t> 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User interface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Easy to embed or link to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Cons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Limited time ranges</a:t>
            </a:r>
          </a:p>
          <a:p>
            <a:pPr>
              <a:spcAft>
                <a:spcPts val="600"/>
              </a:spcAft>
            </a:pPr>
            <a:r>
              <a:rPr lang="en-US" sz="1600" dirty="0" smtClean="0"/>
              <a:t>Editorial Comment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Not always clearly denoted</a:t>
            </a:r>
          </a:p>
          <a:p>
            <a:pPr>
              <a:spcAft>
                <a:spcPts val="600"/>
              </a:spcAft>
            </a:pPr>
            <a:endParaRPr lang="en-US" sz="1200" dirty="0" smtClean="0"/>
          </a:p>
          <a:p>
            <a:pPr>
              <a:spcAft>
                <a:spcPts val="600"/>
              </a:spcAft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Picture 7" descr="wbd_embed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664059"/>
            <a:ext cx="5852160" cy="2325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WBD: Bonus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smtClean="0"/>
              <a:t>Includes microdata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Filter option in Data Catalog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Includes limited sub-national data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You could use the API to pull data from the World Bank for local preservation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smtClean="0"/>
              <a:t>undata is a destination for casual users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undata is a reference tool for experienced users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WBD may be a destination for all users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WBD provides tools particularly useful for instructors and librarians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Contact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Amy West</a:t>
            </a:r>
          </a:p>
          <a:p>
            <a:r>
              <a:rPr lang="en-US" dirty="0" smtClean="0">
                <a:hlinkClick r:id="rId2"/>
              </a:rPr>
              <a:t>westx045@umn.edu</a:t>
            </a:r>
            <a:endParaRPr lang="en-US" dirty="0" smtClean="0"/>
          </a:p>
          <a:p>
            <a:r>
              <a:rPr lang="en-US" dirty="0" smtClean="0"/>
              <a:t>Twitter: @amyewest</a:t>
            </a:r>
          </a:p>
          <a:p>
            <a:r>
              <a:rPr lang="en-US" dirty="0" smtClean="0"/>
              <a:t>Del.icio.us: </a:t>
            </a:r>
            <a:r>
              <a:rPr lang="en-US" dirty="0" smtClean="0">
                <a:hlinkClick r:id="rId3"/>
              </a:rPr>
              <a:t>umdatalib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140E-FAD8-E342-823A-5851C3A3667E}" type="datetime4">
              <a:rPr lang="en-US" smtClean="0"/>
              <a:pPr/>
              <a:t>November 8, 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A9DC-4926-674B-980C-F67066389B7F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ibraries_powerpoint_template_basic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libraries_powerpoint_template_basic-1.thmx</Template>
  <TotalTime>759</TotalTime>
  <Words>893</Words>
  <Application>Microsoft Office PowerPoint</Application>
  <PresentationFormat>On-screen Show (4:3)</PresentationFormat>
  <Paragraphs>177</Paragraphs>
  <Slides>17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libraries_powerpoint_template_basic-1</vt:lpstr>
      <vt:lpstr>International Organizations &amp; Their Data</vt:lpstr>
      <vt:lpstr>Our Presentation Outline</vt:lpstr>
      <vt:lpstr>undata</vt:lpstr>
      <vt:lpstr>undata: Data Explorer</vt:lpstr>
      <vt:lpstr>undata: Basic Search</vt:lpstr>
      <vt:lpstr>undata: Advanced Search</vt:lpstr>
      <vt:lpstr>undata: Country Profiles</vt:lpstr>
      <vt:lpstr>undata: Bonus Features</vt:lpstr>
      <vt:lpstr>World Bank Data (WBD)</vt:lpstr>
      <vt:lpstr>WBD: Terminology</vt:lpstr>
      <vt:lpstr>WBD: Major Databases</vt:lpstr>
      <vt:lpstr>WBD: Search</vt:lpstr>
      <vt:lpstr>WBD: Select an Indicator</vt:lpstr>
      <vt:lpstr>WBD: Working with Live Tables</vt:lpstr>
      <vt:lpstr>WBD: Bonus Features</vt:lpstr>
      <vt:lpstr>Conclusion</vt:lpstr>
      <vt:lpstr>Contact Information</vt:lpstr>
    </vt:vector>
  </TitlesOfParts>
  <Company>University of Minnesota Libraries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Organizations &amp; Their Data</dc:title>
  <dc:creator>Amy West</dc:creator>
  <cp:lastModifiedBy>lindamd</cp:lastModifiedBy>
  <cp:revision>11</cp:revision>
  <dcterms:created xsi:type="dcterms:W3CDTF">2010-11-08T14:37:53Z</dcterms:created>
  <dcterms:modified xsi:type="dcterms:W3CDTF">2010-11-08T20:44:27Z</dcterms:modified>
</cp:coreProperties>
</file>