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60" r:id="rId3"/>
    <p:sldId id="261" r:id="rId4"/>
    <p:sldId id="262" r:id="rId5"/>
    <p:sldId id="263" r:id="rId6"/>
    <p:sldId id="264" r:id="rId7"/>
    <p:sldId id="265" r:id="rId8"/>
    <p:sldId id="266" r:id="rId9"/>
    <p:sldId id="267" r:id="rId10"/>
    <p:sldId id="269" r:id="rId11"/>
    <p:sldId id="270" r:id="rId12"/>
    <p:sldId id="271" r:id="rId13"/>
    <p:sldId id="272" r:id="rId14"/>
    <p:sldId id="273" r:id="rId15"/>
    <p:sldId id="274" r:id="rId16"/>
    <p:sldId id="275" r:id="rId17"/>
    <p:sldId id="268" r:id="rId18"/>
    <p:sldId id="276" r:id="rId19"/>
    <p:sldId id="259" r:id="rId20"/>
  </p:sldIdLst>
  <p:sldSz cx="9144000" cy="5143500" type="screen16x9"/>
  <p:notesSz cx="7315200" cy="96012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109"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109"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109"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109"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109" charset="-128"/>
        <a:cs typeface="+mn-cs"/>
      </a:defRPr>
    </a:lvl5pPr>
    <a:lvl6pPr marL="2286000" algn="l" defTabSz="914400" rtl="0" eaLnBrk="1" latinLnBrk="0" hangingPunct="1">
      <a:defRPr kern="1200">
        <a:solidFill>
          <a:schemeClr val="tx1"/>
        </a:solidFill>
        <a:latin typeface="Arial" charset="0"/>
        <a:ea typeface="ＭＳ Ｐゴシック" pitchFamily="-109" charset="-128"/>
        <a:cs typeface="+mn-cs"/>
      </a:defRPr>
    </a:lvl6pPr>
    <a:lvl7pPr marL="2743200" algn="l" defTabSz="914400" rtl="0" eaLnBrk="1" latinLnBrk="0" hangingPunct="1">
      <a:defRPr kern="1200">
        <a:solidFill>
          <a:schemeClr val="tx1"/>
        </a:solidFill>
        <a:latin typeface="Arial" charset="0"/>
        <a:ea typeface="ＭＳ Ｐゴシック" pitchFamily="-109" charset="-128"/>
        <a:cs typeface="+mn-cs"/>
      </a:defRPr>
    </a:lvl7pPr>
    <a:lvl8pPr marL="3200400" algn="l" defTabSz="914400" rtl="0" eaLnBrk="1" latinLnBrk="0" hangingPunct="1">
      <a:defRPr kern="1200">
        <a:solidFill>
          <a:schemeClr val="tx1"/>
        </a:solidFill>
        <a:latin typeface="Arial" charset="0"/>
        <a:ea typeface="ＭＳ Ｐゴシック" pitchFamily="-109" charset="-128"/>
        <a:cs typeface="+mn-cs"/>
      </a:defRPr>
    </a:lvl8pPr>
    <a:lvl9pPr marL="3657600" algn="l" defTabSz="914400" rtl="0" eaLnBrk="1" latinLnBrk="0" hangingPunct="1">
      <a:defRPr kern="1200">
        <a:solidFill>
          <a:schemeClr val="tx1"/>
        </a:solidFill>
        <a:latin typeface="Arial" charset="0"/>
        <a:ea typeface="ＭＳ Ｐゴシック" pitchFamily="-109"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66"/>
    <a:srgbClr val="000000"/>
    <a:srgbClr val="CC0000"/>
    <a:srgbClr val="005287"/>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78273" autoAdjust="0"/>
  </p:normalViewPr>
  <p:slideViewPr>
    <p:cSldViewPr snapToObjects="1">
      <p:cViewPr>
        <p:scale>
          <a:sx n="100" d="100"/>
          <a:sy n="100" d="100"/>
        </p:scale>
        <p:origin x="-1944" y="-432"/>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66" d="100"/>
          <a:sy n="66" d="100"/>
        </p:scale>
        <p:origin x="-3240" y="-114"/>
      </p:cViewPr>
      <p:guideLst>
        <p:guide orient="horz" pos="3024"/>
        <p:guide pos="2304"/>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0" hangingPunct="0">
              <a:defRPr sz="1300"/>
            </a:lvl1pPr>
          </a:lstStyle>
          <a:p>
            <a:pPr>
              <a:defRPr/>
            </a:pPr>
            <a:endParaRPr lang="en-AU"/>
          </a:p>
        </p:txBody>
      </p:sp>
      <p:sp>
        <p:nvSpPr>
          <p:cNvPr id="16387"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0" hangingPunct="0">
              <a:defRPr sz="1300"/>
            </a:lvl1pPr>
          </a:lstStyle>
          <a:p>
            <a:pPr>
              <a:defRPr/>
            </a:pPr>
            <a:fld id="{998CD655-806C-46B0-BB39-0883574938CD}" type="datetime1">
              <a:rPr lang="en-AU"/>
              <a:pPr>
                <a:defRPr/>
              </a:pPr>
              <a:t>22/05/2012</a:t>
            </a:fld>
            <a:endParaRPr lang="en-AU"/>
          </a:p>
        </p:txBody>
      </p:sp>
      <p:sp>
        <p:nvSpPr>
          <p:cNvPr id="4100"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AU" noProof="0" smtClean="0"/>
              <a:t>Click to edit Master text styles</a:t>
            </a:r>
          </a:p>
          <a:p>
            <a:pPr lvl="1"/>
            <a:r>
              <a:rPr lang="en-AU" noProof="0" smtClean="0"/>
              <a:t>Second level</a:t>
            </a:r>
          </a:p>
          <a:p>
            <a:pPr lvl="2"/>
            <a:r>
              <a:rPr lang="en-AU" noProof="0" smtClean="0"/>
              <a:t>Third level</a:t>
            </a:r>
          </a:p>
          <a:p>
            <a:pPr lvl="3"/>
            <a:r>
              <a:rPr lang="en-AU" noProof="0" smtClean="0"/>
              <a:t>Fourth level</a:t>
            </a:r>
          </a:p>
          <a:p>
            <a:pPr lvl="4"/>
            <a:r>
              <a:rPr lang="en-AU" noProof="0" smtClean="0"/>
              <a:t>Fifth level</a:t>
            </a:r>
          </a:p>
        </p:txBody>
      </p:sp>
      <p:sp>
        <p:nvSpPr>
          <p:cNvPr id="16390"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0" hangingPunct="0">
              <a:defRPr sz="1300"/>
            </a:lvl1pPr>
          </a:lstStyle>
          <a:p>
            <a:pPr>
              <a:defRPr/>
            </a:pPr>
            <a:endParaRPr lang="en-AU"/>
          </a:p>
        </p:txBody>
      </p:sp>
      <p:sp>
        <p:nvSpPr>
          <p:cNvPr id="16391"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0" hangingPunct="0">
              <a:defRPr sz="1300"/>
            </a:lvl1pPr>
          </a:lstStyle>
          <a:p>
            <a:pPr>
              <a:defRPr/>
            </a:pPr>
            <a:fld id="{A608E31B-C042-4E85-B5EB-12506A2C072E}" type="slidenum">
              <a:rPr lang="en-AU"/>
              <a:pPr>
                <a:defRPr/>
              </a:pPr>
              <a:t>‹#›</a:t>
            </a:fld>
            <a:endParaRPr lang="en-AU"/>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1pPr>
    <a:lvl2pPr marL="4572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2pPr>
    <a:lvl3pPr marL="9144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3pPr>
    <a:lvl4pPr marL="13716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4pPr>
    <a:lvl5pPr marL="18288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109"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500" dirty="0" smtClean="0"/>
              <a:t>Child maltreatment is a recognised public health problem worldwide, requiring a public health response which focuses on early identification and intervention across government agencies, particularly child protective services and health. </a:t>
            </a:r>
          </a:p>
          <a:p>
            <a:r>
              <a:rPr lang="en-AU" sz="1500" dirty="0" smtClean="0"/>
              <a:t>The World Health Organization has argued for improved uniformity in the reporting of child maltreatment-related injuries and deaths, and has emphasised the importance of health professionals in the assessment of suspected child maltreatment.</a:t>
            </a:r>
          </a:p>
          <a:p>
            <a:r>
              <a:rPr lang="en-AU" sz="1500" dirty="0" smtClean="0"/>
              <a:t>There are indications that up to 10% of all children presenting to an Emergency Department (ED) may be victims of child maltreatment [2]. Without identification, 35% may be re-injured and up to 5% may die from subsequent injuries.</a:t>
            </a:r>
          </a:p>
          <a:p>
            <a:r>
              <a:rPr lang="en-AU" sz="1500" dirty="0" smtClean="0"/>
              <a:t>Reporting requirements for health staff vary across states and territories, and in Qld (the jurisdiction which our research was conducted) there is a mandatory reporting requirement to child protective services where a doctor or nurse suspects a child has been abused or neglected.</a:t>
            </a:r>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2</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500" dirty="0" smtClean="0"/>
              <a:t>One of the national epidemiological tools we have in Australia to understand health priorities and issues is national hospitalisation data which is collected for all patients for all public and private hospitals nationwide over time.</a:t>
            </a:r>
          </a:p>
          <a:p>
            <a:pPr>
              <a:buFont typeface="Arial" pitchFamily="34" charset="0"/>
              <a:buChar char="•"/>
            </a:pPr>
            <a:r>
              <a:rPr lang="en-AU" sz="1500" dirty="0" smtClean="0"/>
              <a:t>Routinely collected hospital data is a possible source of serious child maltreatment data outside of child protective services (CPS) (which relies on children being reported and recorded in the CPS system)</a:t>
            </a:r>
          </a:p>
          <a:p>
            <a:pPr>
              <a:buFont typeface="Arial" pitchFamily="34" charset="0"/>
              <a:buChar char="•"/>
            </a:pPr>
            <a:r>
              <a:rPr lang="en-AU" sz="1500" dirty="0" smtClean="0"/>
              <a:t>Injury circumstances have been routinely coded in hospitalisation data since the early 90’s and detailed injury information has formed part of the national dataset since the early 2000’s (including information about the documented intent, perpetrator, mechanism, object, place, activity, injury nature and body region) as well as demographics, comorbidities, procedures, length of stay etc</a:t>
            </a:r>
          </a:p>
          <a:p>
            <a:pPr>
              <a:buFont typeface="Arial" pitchFamily="34" charset="0"/>
              <a:buChar char="•"/>
            </a:pPr>
            <a:r>
              <a:rPr lang="en-AU" sz="1500" dirty="0" smtClean="0"/>
              <a:t>However, routine hospitalisation data is event-based not person-based data preventing the construction of histories and outcomes of patients, and it relies on good comprehensive clinical documentation and accurate clinical coding to be used as a reliable indicator.</a:t>
            </a:r>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3</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500" dirty="0" smtClean="0"/>
              <a:t>Data linkage offers significant potential to enhance routinely collected hospitalisation data.</a:t>
            </a:r>
          </a:p>
          <a:p>
            <a:pPr>
              <a:buFont typeface="Arial" pitchFamily="34" charset="0"/>
              <a:buChar char="•"/>
            </a:pPr>
            <a:r>
              <a:rPr lang="en-AU" sz="1500" dirty="0" smtClean="0"/>
              <a:t>Data linkage within health databases allows for the construction of person-based data linking individuals across time and facilities</a:t>
            </a:r>
          </a:p>
          <a:p>
            <a:pPr>
              <a:buFont typeface="Arial" pitchFamily="34" charset="0"/>
              <a:buChar char="•"/>
            </a:pPr>
            <a:r>
              <a:rPr lang="en-AU" sz="1500" dirty="0" smtClean="0"/>
              <a:t>It allows for a detailed picture of emergency department presentation and admission patterns for the child and patterns of utilisation of other health service facilities</a:t>
            </a:r>
          </a:p>
          <a:p>
            <a:pPr>
              <a:buFont typeface="Arial" pitchFamily="34" charset="0"/>
              <a:buChar char="•"/>
            </a:pPr>
            <a:r>
              <a:rPr lang="en-AU" sz="1500" dirty="0" smtClean="0"/>
              <a:t>Extended data linkage can allow pictures of sibling and parental health service utilisation</a:t>
            </a:r>
          </a:p>
          <a:p>
            <a:pPr>
              <a:buFont typeface="Arial" pitchFamily="34" charset="0"/>
              <a:buChar char="•"/>
            </a:pPr>
            <a:r>
              <a:rPr lang="en-AU" sz="1500" dirty="0" smtClean="0"/>
              <a:t>Data linkage of health data with child protective services data can provide a picture of the child’s prior and subsequent involvement with child protective services, and risk factors for being known to child protective services.</a:t>
            </a:r>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4</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sz="1500" dirty="0" smtClean="0"/>
              <a:t>There are several gaps in our knowledge which need to be addressed in the area of use of health data for child maltreatment surveillance, and these gaps informed the development -of our ARC-Linkage funded research study which was conducted between 2008 and 2011. I wont be elaborating on all of these today, but will provide a reference list at the end for papers we have published so far from this work. So some of the gaps in our knowledge are:</a:t>
            </a:r>
          </a:p>
          <a:p>
            <a:pPr lvl="0">
              <a:buFont typeface="Arial" pitchFamily="34" charset="0"/>
              <a:buChar char="•"/>
            </a:pPr>
            <a:r>
              <a:rPr lang="en-AU" sz="1500" dirty="0" smtClean="0"/>
              <a:t>How accurate hospital-based coding of maltreatment is and what the most reliable indicators are of maltreatment</a:t>
            </a:r>
          </a:p>
          <a:p>
            <a:pPr lvl="0">
              <a:buFont typeface="Arial" pitchFamily="34" charset="0"/>
              <a:buChar char="•"/>
            </a:pPr>
            <a:r>
              <a:rPr lang="en-AU" sz="1500" dirty="0" smtClean="0"/>
              <a:t>The completeness of cause of injury documentation in medical records</a:t>
            </a:r>
          </a:p>
          <a:p>
            <a:pPr lvl="0">
              <a:buFont typeface="Arial" pitchFamily="34" charset="0"/>
              <a:buChar char="•"/>
            </a:pPr>
            <a:r>
              <a:rPr lang="en-AU" sz="1500" dirty="0" smtClean="0"/>
              <a:t>The accuracy of identification of maltreatment by clinicians and health staff</a:t>
            </a:r>
          </a:p>
          <a:p>
            <a:pPr lvl="0">
              <a:buFont typeface="Arial" pitchFamily="34" charset="0"/>
              <a:buChar char="•"/>
            </a:pPr>
            <a:r>
              <a:rPr lang="en-AU" sz="1500" dirty="0" smtClean="0"/>
              <a:t>How compliant doctors/nurses are with mandatory reporting requirements</a:t>
            </a:r>
          </a:p>
          <a:p>
            <a:pPr lvl="0">
              <a:buFont typeface="Arial" pitchFamily="34" charset="0"/>
              <a:buChar char="•"/>
            </a:pPr>
            <a:r>
              <a:rPr lang="en-AU" sz="1500" dirty="0" smtClean="0"/>
              <a:t>The CPS histories/outcomes of children hospitalised due to injury (unintentional or intentional injuries)</a:t>
            </a:r>
          </a:p>
          <a:p>
            <a:pPr lvl="0">
              <a:buFont typeface="Arial" pitchFamily="34" charset="0"/>
              <a:buChar char="•"/>
            </a:pPr>
            <a:r>
              <a:rPr lang="en-AU" sz="1500" dirty="0" smtClean="0"/>
              <a:t>Risk factors for being known to CPS if hospitalised due to an injury</a:t>
            </a:r>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5</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500" dirty="0" smtClean="0"/>
              <a:t>The aims of the research component which I am describing today were to:</a:t>
            </a:r>
          </a:p>
          <a:p>
            <a:pPr>
              <a:buFont typeface="Arial" pitchFamily="34" charset="0"/>
              <a:buChar char="•"/>
            </a:pPr>
            <a:r>
              <a:rPr lang="en-AU" sz="1500" dirty="0" smtClean="0"/>
              <a:t>Quantify the concordance of health and CPS data for index event</a:t>
            </a:r>
          </a:p>
          <a:p>
            <a:pPr>
              <a:buFont typeface="Arial" pitchFamily="34" charset="0"/>
              <a:buChar char="•"/>
            </a:pPr>
            <a:r>
              <a:rPr lang="en-AU" sz="1500" dirty="0" smtClean="0"/>
              <a:t>Identify CPS history/outcomes for index cases </a:t>
            </a:r>
          </a:p>
          <a:p>
            <a:pPr>
              <a:buFont typeface="Arial" pitchFamily="34" charset="0"/>
              <a:buChar char="•"/>
            </a:pPr>
            <a:r>
              <a:rPr lang="en-AU" sz="1500" dirty="0" smtClean="0"/>
              <a:t>Identify and compare risk factors for linkage for children with maltreatment-related hospitalisations and unintentional injury-related hospitalisations</a:t>
            </a:r>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6</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500" dirty="0" smtClean="0"/>
              <a:t>We undertook a retrospective medical record review, </a:t>
            </a:r>
            <a:r>
              <a:rPr lang="en-AU" sz="1500" dirty="0" err="1" smtClean="0"/>
              <a:t>ICD</a:t>
            </a:r>
            <a:r>
              <a:rPr lang="en-AU" sz="1500" dirty="0" smtClean="0"/>
              <a:t> recoding and data linkage study for 2 independent samples:</a:t>
            </a:r>
          </a:p>
          <a:p>
            <a:pPr lvl="1">
              <a:buFont typeface="Arial" pitchFamily="34" charset="0"/>
              <a:buChar char="•"/>
            </a:pPr>
            <a:r>
              <a:rPr lang="en-AU" sz="1500" dirty="0" smtClean="0"/>
              <a:t>Cases with codes indicative of possible maltreatment (I wont discuss the code range today due to time limitations but our publication describe these in their entirety)</a:t>
            </a:r>
          </a:p>
          <a:p>
            <a:pPr lvl="1">
              <a:buFont typeface="Arial" pitchFamily="34" charset="0"/>
              <a:buChar char="•"/>
            </a:pPr>
            <a:r>
              <a:rPr lang="en-AU" sz="1500" dirty="0" smtClean="0"/>
              <a:t>Cases with codes indicating an unintentional injury cause</a:t>
            </a:r>
          </a:p>
          <a:p>
            <a:pPr>
              <a:buFont typeface="Arial" pitchFamily="34" charset="0"/>
              <a:buChar char="•"/>
            </a:pPr>
            <a:r>
              <a:rPr lang="en-AU" sz="1500" dirty="0" smtClean="0"/>
              <a:t>20 hospitals Qld-wide were included with sampling aimed at including a representative mix of large/medium/small hospitals in urban/rural/remote locations.  Admissions between 2003-2006 were included (to include data either side of new mandatory reporting requirements for nurses which was one component of the larger study).</a:t>
            </a:r>
          </a:p>
          <a:p>
            <a:pPr>
              <a:buFont typeface="Arial" pitchFamily="34" charset="0"/>
              <a:buChar char="•"/>
            </a:pPr>
            <a:r>
              <a:rPr lang="en-AU" sz="1500" dirty="0" smtClean="0"/>
              <a:t>Data was collected on-site data and recoded by expert coders, and a verbatim extract of all injury circumstances and risk factors was collected in an electronic database designed for the study.</a:t>
            </a:r>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7</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r>
              <a:rPr lang="en-AU" sz="1500" dirty="0" smtClean="0"/>
              <a:t>At the time of undertaking this research, there was limited functionality of the Qld data linkage node for departmental data outside of health data, but there is a whole-of-govt commitment for child safety matters in Qld, so the legislation enabled linkage even if the systems were in their infancy.</a:t>
            </a:r>
          </a:p>
          <a:p>
            <a:pPr lvl="0">
              <a:buFont typeface="Arial" pitchFamily="34" charset="0"/>
              <a:buChar char="•"/>
            </a:pPr>
            <a:r>
              <a:rPr lang="en-AU" sz="1500" dirty="0" smtClean="0"/>
              <a:t>As such, the process we followed was that, for our </a:t>
            </a:r>
            <a:r>
              <a:rPr lang="en-AU" sz="1500" dirty="0" err="1" smtClean="0"/>
              <a:t>targetted</a:t>
            </a:r>
            <a:r>
              <a:rPr lang="en-AU" sz="1500" dirty="0" smtClean="0"/>
              <a:t> sample, the health department released names and aliases/ DOB/ gender/ known addresses/admission dates (but no clinical data) directly to CPS (and CPS did not know whether the sample was from the maltreatment or unintentional injury sample).</a:t>
            </a:r>
          </a:p>
          <a:p>
            <a:pPr lvl="0">
              <a:buFont typeface="Arial" pitchFamily="34" charset="0"/>
              <a:buChar char="•"/>
            </a:pPr>
            <a:r>
              <a:rPr lang="en-AU" sz="1500" dirty="0" smtClean="0"/>
              <a:t>A CPS intake officer manually reviewed all cases and identified matches in system using their standard intake procedure, and a database analyst then extracted CPS data for matched cases.</a:t>
            </a:r>
          </a:p>
          <a:p>
            <a:pPr lvl="0">
              <a:buFont typeface="Arial" pitchFamily="34" charset="0"/>
              <a:buChar char="•"/>
            </a:pPr>
            <a:r>
              <a:rPr lang="en-AU" sz="1500" dirty="0" smtClean="0"/>
              <a:t>A unique identifier included on both the health and CPS data (but no identifying information) was provided to researcher who joined  the clinical/departmental data for the </a:t>
            </a:r>
            <a:r>
              <a:rPr lang="en-AU" sz="1500" dirty="0" err="1" smtClean="0"/>
              <a:t>deidentified</a:t>
            </a:r>
            <a:r>
              <a:rPr lang="en-AU" sz="1500" dirty="0" smtClean="0"/>
              <a:t> sample.</a:t>
            </a:r>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8</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9</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500" dirty="0" smtClean="0"/>
              <a:t>This table shows the linkage results for both samples for ever being known to CPS and for a recent CPS record  (i.e. A notification or substantiation within 6 months either side of the index hospital admission).</a:t>
            </a:r>
          </a:p>
          <a:p>
            <a:r>
              <a:rPr lang="en-AU" sz="1500" dirty="0" smtClean="0"/>
              <a:t>85% of cases in the maltreatment code sample matched a recent CPS record  and 11% of cases in the unintentional injury code sample matched a recent CPS record. Note that the annual Qld notification rate for children to CPS is less than 2.4% in the general community.</a:t>
            </a:r>
          </a:p>
          <a:p>
            <a:endParaRPr lang="en-AU" sz="1500" dirty="0" smtClean="0"/>
          </a:p>
          <a:p>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10</a:t>
            </a:fld>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6400" y="4320540"/>
            <a:ext cx="6502400" cy="4320540"/>
          </a:xfrm>
        </p:spPr>
        <p:txBody>
          <a:bodyPr>
            <a:noAutofit/>
          </a:bodyPr>
          <a:lstStyle/>
          <a:p>
            <a:r>
              <a:rPr lang="en-AU" sz="1500" dirty="0" smtClean="0"/>
              <a:t>This is a fairly detailed figure and probably difficult to read, but it is provided as an illustration to show what kind of patterns of CPS involvement can be examined via data linkage. We looked at:</a:t>
            </a:r>
          </a:p>
          <a:p>
            <a:pPr>
              <a:buFont typeface="Arial" pitchFamily="34" charset="0"/>
              <a:buChar char="•"/>
            </a:pPr>
            <a:r>
              <a:rPr lang="en-AU" sz="1500" dirty="0" smtClean="0"/>
              <a:t>whether children were known to CPS at all (in green)</a:t>
            </a:r>
          </a:p>
          <a:p>
            <a:pPr>
              <a:buFont typeface="Arial" pitchFamily="34" charset="0"/>
              <a:buChar char="•"/>
            </a:pPr>
            <a:r>
              <a:rPr lang="en-AU" sz="1500" dirty="0" smtClean="0"/>
              <a:t>whether they had an active CPS event at the time of hospitalisation (in red) or </a:t>
            </a:r>
          </a:p>
          <a:p>
            <a:pPr>
              <a:buFont typeface="Arial" pitchFamily="34" charset="0"/>
              <a:buChar char="•"/>
            </a:pPr>
            <a:r>
              <a:rPr lang="en-AU" sz="1500" dirty="0" smtClean="0"/>
              <a:t>whether the hospital stay triggered a new event for known children (in orange)</a:t>
            </a:r>
          </a:p>
          <a:p>
            <a:pPr>
              <a:buFont typeface="Arial" pitchFamily="34" charset="0"/>
              <a:buChar char="•"/>
            </a:pPr>
            <a:r>
              <a:rPr lang="en-AU" sz="1500" dirty="0" smtClean="0"/>
              <a:t>whether children </a:t>
            </a:r>
            <a:r>
              <a:rPr lang="en-AU" sz="1500" dirty="0" err="1" smtClean="0"/>
              <a:t>werent</a:t>
            </a:r>
            <a:r>
              <a:rPr lang="en-AU" sz="1500" dirty="0" smtClean="0"/>
              <a:t> known prior but were made known to CPS as a result of the hospital admission (in dark blue)</a:t>
            </a:r>
          </a:p>
          <a:p>
            <a:pPr>
              <a:buFont typeface="Arial" pitchFamily="34" charset="0"/>
              <a:buChar char="•"/>
            </a:pPr>
            <a:r>
              <a:rPr lang="en-AU" sz="1500" dirty="0" smtClean="0"/>
              <a:t>Whether children were known but did not have an event recorded pertaining to the hospitalisation (in light blue)</a:t>
            </a:r>
          </a:p>
          <a:p>
            <a:pPr>
              <a:buFont typeface="Arial" pitchFamily="34" charset="0"/>
              <a:buChar char="•"/>
            </a:pPr>
            <a:r>
              <a:rPr lang="en-AU" sz="1500" dirty="0" smtClean="0"/>
              <a:t>Whether they were known before, but not during or after OR known after but not during or before</a:t>
            </a:r>
          </a:p>
          <a:p>
            <a:pPr>
              <a:buFont typeface="Arial" pitchFamily="34" charset="0"/>
              <a:buChar char="•"/>
            </a:pPr>
            <a:r>
              <a:rPr lang="en-AU" sz="1500" dirty="0" smtClean="0"/>
              <a:t>And whether they had a more historical record in the CPS system but no record during the 3 year period either side of the index hospitalisation.</a:t>
            </a:r>
          </a:p>
          <a:p>
            <a:pPr>
              <a:buFont typeface="Arial" pitchFamily="34" charset="0"/>
              <a:buNone/>
            </a:pPr>
            <a:r>
              <a:rPr lang="en-AU" sz="1500" dirty="0" smtClean="0"/>
              <a:t>I wont elaborate on the findings here today, but wanted to provide this slide to show the potential of the info we can explore via linkage in this space.</a:t>
            </a:r>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11</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defTabSz="483306">
              <a:defRPr/>
            </a:pPr>
            <a:r>
              <a:rPr lang="en-AU" sz="1500" dirty="0" smtClean="0"/>
              <a:t>The final aim in this component of the research was to examine the risk factors for being known to CPS for the two different samples we examined.  For the maltreatment code sample, after controlling for age, sex, hospital size and locality, the following risk factors for linkage were identified:</a:t>
            </a:r>
          </a:p>
          <a:p>
            <a:pPr defTabSz="483306">
              <a:buFont typeface="Arial" pitchFamily="34" charset="0"/>
              <a:buChar char="•"/>
              <a:defRPr/>
            </a:pPr>
            <a:r>
              <a:rPr lang="en-AU" sz="1500" dirty="0" smtClean="0"/>
              <a:t>Children under the age of 1 were more than 6 times more likely than children aged 15-17 to link to a recent CPS event</a:t>
            </a:r>
          </a:p>
          <a:p>
            <a:pPr defTabSz="483306">
              <a:buFont typeface="Arial" pitchFamily="34" charset="0"/>
              <a:buChar char="•"/>
              <a:defRPr/>
            </a:pPr>
            <a:r>
              <a:rPr lang="en-AU" sz="1500" dirty="0" smtClean="0"/>
              <a:t>Compared to children who were not documented as being referred to the hospital child protection team or to CPS, children who were documented as being referred were 3.5 times more likely to link to a recent CPS event</a:t>
            </a:r>
          </a:p>
          <a:p>
            <a:pPr defTabSz="483306">
              <a:buFont typeface="Arial" pitchFamily="34" charset="0"/>
              <a:buChar char="•"/>
              <a:defRPr/>
            </a:pPr>
            <a:r>
              <a:rPr lang="en-AU" sz="1500" dirty="0" smtClean="0"/>
              <a:t>Relative to children with no additional diagnosis from the ‘Factors affecting health status’ ICD-10 chapter, children with an additional diagnosis from this chapter were 4.5 times more likely to link to a recent CPS event</a:t>
            </a:r>
          </a:p>
          <a:p>
            <a:pPr defTabSz="483306">
              <a:buFont typeface="Arial" pitchFamily="34" charset="0"/>
              <a:buChar char="•"/>
              <a:defRPr/>
            </a:pPr>
            <a:r>
              <a:rPr lang="en-AU" sz="1500" dirty="0" smtClean="0"/>
              <a:t>Children assigned a definitive maltreatment code were 4.3 times more likely to have a recent CPS event recorded than children assigned a possible maltreatment code. </a:t>
            </a:r>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12</a:t>
            </a:fld>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500" dirty="0" smtClean="0"/>
              <a:t>In comparison, for the unintentional injury code sample, after controlling for age, sex, hospital size and locality, the following risk factors for linkage were identified: </a:t>
            </a:r>
          </a:p>
          <a:p>
            <a:pPr>
              <a:buFont typeface="Arial" pitchFamily="34" charset="0"/>
              <a:buChar char="•"/>
            </a:pPr>
            <a:r>
              <a:rPr lang="en-AU" sz="1500" dirty="0" smtClean="0"/>
              <a:t>The odds of linkage to a recent CPS event for children discharged from rural hospitals was 2.4 times higher than for children from an urban hospital. </a:t>
            </a:r>
          </a:p>
          <a:p>
            <a:pPr>
              <a:buFont typeface="Arial" pitchFamily="34" charset="0"/>
              <a:buChar char="•"/>
            </a:pPr>
            <a:r>
              <a:rPr lang="en-AU" sz="1500" dirty="0" smtClean="0"/>
              <a:t>Compared to those not documented as being known to CPS, children who were documented as being known to CPS were 50 times more likely to link to a recent CPS event. </a:t>
            </a:r>
          </a:p>
          <a:p>
            <a:pPr>
              <a:buFont typeface="Arial" pitchFamily="34" charset="0"/>
              <a:buChar char="•"/>
            </a:pPr>
            <a:r>
              <a:rPr lang="en-AU" sz="1500" dirty="0" smtClean="0"/>
              <a:t> Relative to children with no additional ICD-10 diagnoses, children with an additional diagnosis were 6.4 times more likely to link to a recent CPS event.</a:t>
            </a:r>
          </a:p>
          <a:p>
            <a:endParaRPr lang="en-AU" sz="1500" dirty="0" smtClean="0"/>
          </a:p>
          <a:p>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13</a:t>
            </a:fld>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r>
              <a:rPr lang="en-AU" sz="1500" dirty="0" smtClean="0"/>
              <a:t>The hospital system for reporting children to CPS appears to be efficient in the great majority of cases in which maltreatment is coded, with similar linkage rates identified to previous research. </a:t>
            </a:r>
          </a:p>
          <a:p>
            <a:pPr lvl="0">
              <a:buFont typeface="Arial" pitchFamily="34" charset="0"/>
              <a:buChar char="•"/>
            </a:pPr>
            <a:r>
              <a:rPr lang="en-AU" sz="1500" dirty="0" smtClean="0"/>
              <a:t>Nearly one in five of the linked children in the present study were identified for the first time during the index hospitalisation, highlighting the importance of systematic monitoring and referral from hospitals. </a:t>
            </a:r>
          </a:p>
          <a:p>
            <a:pPr lvl="0">
              <a:buFont typeface="Arial" pitchFamily="34" charset="0"/>
              <a:buChar char="•"/>
            </a:pPr>
            <a:r>
              <a:rPr lang="en-AU" sz="1500" dirty="0" smtClean="0"/>
              <a:t>However, around one in every fifteen children with a maltreatment code did not link to the CPS and consideration should be given to whether these children have slipped through the safety net. </a:t>
            </a:r>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14</a:t>
            </a:fld>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endParaRPr lang="en-AU" sz="1500" dirty="0" smtClean="0"/>
          </a:p>
          <a:p>
            <a:pPr>
              <a:buFont typeface="Arial" pitchFamily="34" charset="0"/>
              <a:buChar char="•"/>
            </a:pPr>
            <a:r>
              <a:rPr lang="en-AU" sz="1500" dirty="0" smtClean="0"/>
              <a:t>Importantly, one-third of children who presented with an injury coded as being due to an unintentional cause were known to CPS, with 11% of this sample having a recent CPS event recorded. </a:t>
            </a:r>
          </a:p>
          <a:p>
            <a:pPr>
              <a:buFont typeface="Arial" pitchFamily="34" charset="0"/>
              <a:buChar char="•"/>
            </a:pPr>
            <a:r>
              <a:rPr lang="en-AU" sz="1500" dirty="0" smtClean="0"/>
              <a:t>This indicates that the possibility of maltreatment histories should be at least considered for children presenting with an unintentional injury.</a:t>
            </a:r>
          </a:p>
          <a:p>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15</a:t>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500" dirty="0" smtClean="0"/>
              <a:t>Data linkage was vital to construct the histories and subsequent CPS involvement</a:t>
            </a:r>
          </a:p>
          <a:p>
            <a:pPr>
              <a:buFont typeface="Arial" pitchFamily="34" charset="0"/>
              <a:buChar char="•"/>
            </a:pPr>
            <a:r>
              <a:rPr lang="en-AU" sz="1500" dirty="0" smtClean="0"/>
              <a:t>Data linkage highlighted risk factors for CPS matching to target in-hospital early identification and intervention</a:t>
            </a:r>
          </a:p>
          <a:p>
            <a:pPr>
              <a:buFont typeface="Arial" pitchFamily="34" charset="0"/>
              <a:buChar char="•"/>
            </a:pPr>
            <a:r>
              <a:rPr lang="en-AU" sz="1500" dirty="0" smtClean="0"/>
              <a:t>The fact that manual linkage processes had to be used in this study though are problematic limiting the ability to undertake this research at a population level in Qld with the current resources, despite the huge potential of such an investigation for identifying risk factors and intervention opportunities. Improvements in the system level capability for routine linkage in Qld is needed to ensure such work could be undertaken routinely in the future.</a:t>
            </a:r>
          </a:p>
          <a:p>
            <a:endParaRPr lang="en-AU" sz="1500" dirty="0"/>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16</a:t>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17</a:t>
            </a:fld>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18</a:t>
            </a:fld>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A608E31B-C042-4E85-B5EB-12506A2C072E}" type="slidenum">
              <a:rPr lang="en-AU" smtClean="0"/>
              <a:pPr>
                <a:defRPr/>
              </a:pPr>
              <a:t>19</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AU"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AD0D5C7-5948-4F57-AB0E-D5EC64E70B34}" type="datetime1">
              <a:rPr lang="en-US"/>
              <a:pPr>
                <a:defRPr/>
              </a:pPr>
              <a:t>5/22/2012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C6B3756D-0840-41A4-A8CD-C8791CD1E478}" type="slidenum">
              <a:rPr lang="en-US"/>
              <a:pPr>
                <a:defRPr/>
              </a:pPr>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AU" smtClean="0"/>
              <a:t>Click to edit Master title style</a:t>
            </a:r>
            <a:endParaRPr lang="en-US"/>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D6F620F-E073-41EB-A23D-E7C552531162}" type="datetime1">
              <a:rPr lang="en-US"/>
              <a:pPr>
                <a:defRPr/>
              </a:pPr>
              <a:t>5/22/2012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5D6DECAC-6A7B-4A2C-B0DC-8C0CC7BABCF7}" type="slidenum">
              <a:rPr lang="en-US"/>
              <a:pPr>
                <a:defRPr/>
              </a:pPr>
              <a:t>‹#›</a:t>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F3E528F-4FC1-4977-8C16-71779F872F72}" type="datetime1">
              <a:rPr lang="en-US"/>
              <a:pPr>
                <a:defRPr/>
              </a:pPr>
              <a:t>5/22/2012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6D0890EB-7B37-4EDC-B6A8-80F83BE6358F}" type="slidenum">
              <a:rPr lang="en-US"/>
              <a:pPr>
                <a:defRPr/>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84DAA55-DAA2-4CDB-9DF9-FDB6ECE509C1}" type="datetime1">
              <a:rPr lang="en-US"/>
              <a:pPr>
                <a:defRPr/>
              </a:pPr>
              <a:t>5/22/2012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00BAEC39-A42E-4630-A000-60C76417184A}" type="slidenum">
              <a:rPr lang="en-US"/>
              <a:pPr>
                <a:defRPr/>
              </a:pPr>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66ABFB7-C09B-4B5A-9E6C-56FAA4040DC7}" type="datetime1">
              <a:rPr lang="en-US"/>
              <a:pPr>
                <a:defRPr/>
              </a:pPr>
              <a:t>5/22/2012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AU"/>
          </a:p>
        </p:txBody>
      </p:sp>
      <p:sp>
        <p:nvSpPr>
          <p:cNvPr id="9" name="Slide Number Placeholder 5"/>
          <p:cNvSpPr>
            <a:spLocks noGrp="1"/>
          </p:cNvSpPr>
          <p:nvPr>
            <p:ph type="sldNum" sz="quarter" idx="12"/>
          </p:nvPr>
        </p:nvSpPr>
        <p:spPr/>
        <p:txBody>
          <a:bodyPr/>
          <a:lstStyle>
            <a:lvl1pPr>
              <a:defRPr/>
            </a:lvl1pPr>
          </a:lstStyle>
          <a:p>
            <a:pPr>
              <a:defRPr/>
            </a:pPr>
            <a:fld id="{33B6550E-5489-4F30-B728-0E8E532CCD97}" type="slidenum">
              <a:rPr lang="en-US"/>
              <a:pPr>
                <a:defRPr/>
              </a:pPr>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F0966F3-7DBD-455A-B732-8C984759CC7E}" type="datetime1">
              <a:rPr lang="en-US"/>
              <a:pPr>
                <a:defRPr/>
              </a:pPr>
              <a:t>5/22/2012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AU"/>
          </a:p>
        </p:txBody>
      </p:sp>
      <p:sp>
        <p:nvSpPr>
          <p:cNvPr id="5" name="Slide Number Placeholder 5"/>
          <p:cNvSpPr>
            <a:spLocks noGrp="1"/>
          </p:cNvSpPr>
          <p:nvPr>
            <p:ph type="sldNum" sz="quarter" idx="12"/>
          </p:nvPr>
        </p:nvSpPr>
        <p:spPr/>
        <p:txBody>
          <a:bodyPr/>
          <a:lstStyle>
            <a:lvl1pPr>
              <a:defRPr/>
            </a:lvl1pPr>
          </a:lstStyle>
          <a:p>
            <a:pPr>
              <a:defRPr/>
            </a:pPr>
            <a:fld id="{6428128C-6650-4E8C-A9BA-FFF686E11C29}" type="slidenum">
              <a:rPr lang="en-US"/>
              <a:pPr>
                <a:defRPr/>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E94C369-6711-404C-BF28-AA6FCF89364C}" type="datetime1">
              <a:rPr lang="en-US"/>
              <a:pPr>
                <a:defRPr/>
              </a:pPr>
              <a:t>5/22/2012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AU"/>
          </a:p>
        </p:txBody>
      </p:sp>
      <p:sp>
        <p:nvSpPr>
          <p:cNvPr id="4" name="Slide Number Placeholder 5"/>
          <p:cNvSpPr>
            <a:spLocks noGrp="1"/>
          </p:cNvSpPr>
          <p:nvPr>
            <p:ph type="sldNum" sz="quarter" idx="12"/>
          </p:nvPr>
        </p:nvSpPr>
        <p:spPr/>
        <p:txBody>
          <a:bodyPr/>
          <a:lstStyle>
            <a:lvl1pPr>
              <a:defRPr/>
            </a:lvl1pPr>
          </a:lstStyle>
          <a:p>
            <a:pPr>
              <a:defRPr/>
            </a:pPr>
            <a:fld id="{8B235DB9-104B-4345-AAD5-3000A370FBEE}" type="slidenum">
              <a:rPr lang="en-US"/>
              <a:pPr>
                <a:defRPr/>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9C44FD4-997A-41BA-8BD0-640AABBAD1E7}" type="datetime1">
              <a:rPr lang="en-US"/>
              <a:pPr>
                <a:defRPr/>
              </a:pPr>
              <a:t>5/22/2012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78402B14-AD1D-4177-B62B-0AD8DF88B50D}" type="slidenum">
              <a:rPr lang="en-US"/>
              <a:pPr>
                <a:defRPr/>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F8F17BA-A561-4FD9-9165-71115272C1AD}" type="datetime1">
              <a:rPr lang="en-US"/>
              <a:pPr>
                <a:defRPr/>
              </a:pPr>
              <a:t>5/22/2012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4B3356BB-3ACA-48F5-BE0B-FD419E2EB96F}" type="slidenum">
              <a:rPr lang="en-US"/>
              <a:pPr>
                <a:defRPr/>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3D820BB-FC4E-4245-AE46-1E3505EEA079}" type="datetime1">
              <a:rPr lang="en-US"/>
              <a:pPr>
                <a:defRPr/>
              </a:pPr>
              <a:t>5/22/2012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6B281DBB-BADE-4694-B17D-3CF12E36A3BA}" type="slidenum">
              <a:rPr lang="en-US"/>
              <a:pPr>
                <a:defRPr/>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964BD1C-FEC8-4607-9D88-7A40ED23D413}" type="datetime1">
              <a:rPr lang="en-US"/>
              <a:pPr>
                <a:defRPr/>
              </a:pPr>
              <a:t>5/22/2012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52E87B3F-E1AA-4D8C-922B-31A54F656723}" type="slidenum">
              <a:rPr lang="en-US"/>
              <a:pPr>
                <a:defRPr/>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smtClean="0"/>
              <a:t>Click to edit Master title style</a:t>
            </a:r>
            <a:endParaRPr lang="en-US" smtClean="0"/>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smtClean="0"/>
          </a:p>
        </p:txBody>
      </p:sp>
      <p:sp>
        <p:nvSpPr>
          <p:cNvPr id="4" name="Date Placeholder 3"/>
          <p:cNvSpPr>
            <a:spLocks noGrp="1"/>
          </p:cNvSpPr>
          <p:nvPr>
            <p:ph type="dt" sz="half" idx="2"/>
          </p:nvPr>
        </p:nvSpPr>
        <p:spPr>
          <a:xfrm>
            <a:off x="457200" y="4767264"/>
            <a:ext cx="2133600" cy="273844"/>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98B0"/>
                </a:solidFill>
              </a:defRPr>
            </a:lvl1pPr>
          </a:lstStyle>
          <a:p>
            <a:pPr>
              <a:defRPr/>
            </a:pPr>
            <a:fld id="{1AA86C61-CAE5-47B7-8F5B-1B06CE2379F6}" type="datetime1">
              <a:rPr lang="en-US"/>
              <a:pPr>
                <a:defRPr/>
              </a:pPr>
              <a:t>5/22/2012</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98B0"/>
                </a:solidFill>
              </a:defRPr>
            </a:lvl1pPr>
          </a:lstStyle>
          <a:p>
            <a:pPr>
              <a:defRPr/>
            </a:pPr>
            <a:endParaRPr lang="en-AU"/>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98B0"/>
                </a:solidFill>
              </a:defRPr>
            </a:lvl1pPr>
          </a:lstStyle>
          <a:p>
            <a:pPr>
              <a:defRPr/>
            </a:pPr>
            <a:fld id="{D2E06F2D-8121-499C-9B92-D1F803EE1DA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09" charset="-128"/>
          <a:cs typeface="ＭＳ Ｐゴシック" pitchFamily="-109" charset="-128"/>
        </a:defRPr>
      </a:lvl1pPr>
      <a:lvl2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2pPr>
      <a:lvl3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3pPr>
      <a:lvl4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4pPr>
      <a:lvl5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5pPr>
      <a:lvl6pPr marL="4572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6pPr>
      <a:lvl7pPr marL="9144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7pPr>
      <a:lvl8pPr marL="13716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8pPr>
      <a:lvl9pPr marL="18288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109" charset="-128"/>
          <a:cs typeface="ＭＳ Ｐゴシック" pitchFamily="-109"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109"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109"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0" name="Rectangle 4"/>
          <p:cNvSpPr>
            <a:spLocks noChangeArrowheads="1"/>
          </p:cNvSpPr>
          <p:nvPr/>
        </p:nvSpPr>
        <p:spPr bwMode="auto">
          <a:xfrm>
            <a:off x="107950" y="2301479"/>
            <a:ext cx="9036050" cy="756047"/>
          </a:xfrm>
          <a:prstGeom prst="rect">
            <a:avLst/>
          </a:prstGeom>
          <a:noFill/>
          <a:ln w="9525">
            <a:noFill/>
            <a:miter lim="800000"/>
            <a:headEnd/>
            <a:tailEnd/>
          </a:ln>
        </p:spPr>
        <p:txBody>
          <a:bodyPr anchor="ctr"/>
          <a:lstStyle/>
          <a:p>
            <a:pPr eaLnBrk="0" hangingPunct="0"/>
            <a:endParaRPr lang="en-AU" sz="3600">
              <a:solidFill>
                <a:srgbClr val="CC0000"/>
              </a:solidFill>
              <a:latin typeface="Trebuchet MS" pitchFamily="34" charset="0"/>
            </a:endParaRPr>
          </a:p>
        </p:txBody>
      </p:sp>
      <p:sp>
        <p:nvSpPr>
          <p:cNvPr id="2051" name="Rectangle 5"/>
          <p:cNvSpPr>
            <a:spLocks noChangeArrowheads="1"/>
          </p:cNvSpPr>
          <p:nvPr/>
        </p:nvSpPr>
        <p:spPr bwMode="auto">
          <a:xfrm>
            <a:off x="714378" y="2411018"/>
            <a:ext cx="8429625" cy="1458515"/>
          </a:xfrm>
          <a:prstGeom prst="rect">
            <a:avLst/>
          </a:prstGeom>
          <a:noFill/>
          <a:ln w="9525">
            <a:noFill/>
            <a:miter lim="800000"/>
            <a:headEnd/>
            <a:tailEnd/>
          </a:ln>
        </p:spPr>
        <p:txBody>
          <a:bodyPr anchor="ctr"/>
          <a:lstStyle/>
          <a:p>
            <a:pPr defTabSz="914400"/>
            <a:endParaRPr lang="en-AU" sz="1000" b="1">
              <a:solidFill>
                <a:schemeClr val="bg2"/>
              </a:solidFill>
              <a:latin typeface="Trebuchet MS" pitchFamily="34" charset="0"/>
            </a:endParaRPr>
          </a:p>
        </p:txBody>
      </p:sp>
      <p:sp>
        <p:nvSpPr>
          <p:cNvPr id="2052" name="TextBox 3"/>
          <p:cNvSpPr txBox="1">
            <a:spLocks noChangeArrowheads="1"/>
          </p:cNvSpPr>
          <p:nvPr/>
        </p:nvSpPr>
        <p:spPr bwMode="auto">
          <a:xfrm>
            <a:off x="7429500" y="4958954"/>
            <a:ext cx="1714500" cy="246221"/>
          </a:xfrm>
          <a:prstGeom prst="rect">
            <a:avLst/>
          </a:prstGeom>
          <a:noFill/>
          <a:ln w="9525">
            <a:noFill/>
            <a:miter lim="800000"/>
            <a:headEnd/>
            <a:tailEnd/>
          </a:ln>
        </p:spPr>
        <p:txBody>
          <a:bodyPr>
            <a:spAutoFit/>
          </a:bodyPr>
          <a:lstStyle/>
          <a:p>
            <a:r>
              <a:rPr lang="en-AU" sz="1000">
                <a:solidFill>
                  <a:schemeClr val="bg1"/>
                </a:solidFill>
              </a:rPr>
              <a:t>CRICOS No. 00213J</a:t>
            </a:r>
          </a:p>
        </p:txBody>
      </p:sp>
      <p:sp>
        <p:nvSpPr>
          <p:cNvPr id="5" name="Subtitle 2"/>
          <p:cNvSpPr>
            <a:spLocks noGrp="1"/>
          </p:cNvSpPr>
          <p:nvPr>
            <p:ph type="subTitle" idx="1"/>
          </p:nvPr>
        </p:nvSpPr>
        <p:spPr>
          <a:xfrm>
            <a:off x="857253" y="3200400"/>
            <a:ext cx="8143875" cy="971550"/>
          </a:xfrm>
        </p:spPr>
        <p:txBody>
          <a:bodyPr lIns="0" rIns="0" anchor="ctr"/>
          <a:lstStyle/>
          <a:p>
            <a:pPr algn="r" eaLnBrk="1" hangingPunct="1">
              <a:defRPr/>
            </a:pPr>
            <a:r>
              <a:rPr lang="en-US" sz="2000" dirty="0" smtClean="0">
                <a:solidFill>
                  <a:schemeClr val="tx1"/>
                </a:solidFill>
                <a:latin typeface="Cambria" pitchFamily="18" charset="0"/>
                <a:cs typeface="Arial" charset="0"/>
              </a:rPr>
              <a:t>Dr Kirsten McKenzie and Ms Debbie Scott</a:t>
            </a:r>
          </a:p>
          <a:p>
            <a:pPr algn="r" eaLnBrk="1" hangingPunct="1">
              <a:defRPr/>
            </a:pPr>
            <a:r>
              <a:rPr lang="en-AU" sz="1400" dirty="0" smtClean="0">
                <a:latin typeface="Cambria" pitchFamily="18" charset="0"/>
              </a:rPr>
              <a:t>International Data Linkage Conference2nd-4</a:t>
            </a:r>
            <a:r>
              <a:rPr lang="en-AU" sz="1400" baseline="30000" dirty="0" smtClean="0">
                <a:latin typeface="Cambria" pitchFamily="18" charset="0"/>
              </a:rPr>
              <a:t>th</a:t>
            </a:r>
            <a:r>
              <a:rPr lang="en-AU" sz="1400" dirty="0" smtClean="0">
                <a:latin typeface="Cambria" pitchFamily="18" charset="0"/>
              </a:rPr>
              <a:t> May 2012</a:t>
            </a:r>
            <a:endParaRPr lang="en-US" sz="1800" dirty="0" smtClean="0">
              <a:solidFill>
                <a:schemeClr val="tx1"/>
              </a:solidFill>
              <a:cs typeface="Arial" charset="0"/>
            </a:endParaRPr>
          </a:p>
        </p:txBody>
      </p:sp>
      <p:sp>
        <p:nvSpPr>
          <p:cNvPr id="6" name="Title 1"/>
          <p:cNvSpPr>
            <a:spLocks noGrp="1"/>
          </p:cNvSpPr>
          <p:nvPr>
            <p:ph type="ctrTitle"/>
          </p:nvPr>
        </p:nvSpPr>
        <p:spPr>
          <a:xfrm>
            <a:off x="251522" y="2057400"/>
            <a:ext cx="8749605" cy="1306438"/>
          </a:xfrm>
        </p:spPr>
        <p:txBody>
          <a:bodyPr lIns="0" rIns="0"/>
          <a:lstStyle/>
          <a:p>
            <a:pPr algn="r" eaLnBrk="1" hangingPunct="1"/>
            <a:r>
              <a:rPr lang="en-AU" sz="2700" b="1" dirty="0" smtClean="0">
                <a:latin typeface="Cambria" pitchFamily="18" charset="0"/>
                <a:ea typeface="ＭＳ Ｐゴシック"/>
                <a:cs typeface="ＭＳ Ｐゴシック"/>
              </a:rPr>
              <a:t>Assessing the effectiveness of the child safety net: Linkage of hospital and Child Protection Services data on ‘maltreated’ and ‘unintentionally injured’ children</a:t>
            </a:r>
            <a:endParaRPr lang="en-US" sz="2700" b="1" dirty="0" smtClean="0">
              <a:solidFill>
                <a:schemeClr val="tx2"/>
              </a:solidFill>
              <a:latin typeface="Cambria" pitchFamily="18" charset="0"/>
              <a:ea typeface="ＭＳ Ｐゴシック"/>
              <a:cs typeface="ＭＳ Ｐゴシック"/>
            </a:endParaRP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p:nvPr>
        </p:nvSpPr>
        <p:spPr/>
        <p:txBody>
          <a:bodyPr/>
          <a:lstStyle/>
          <a:p>
            <a:r>
              <a:rPr lang="en-AU" dirty="0" smtClean="0">
                <a:ea typeface="ＭＳ Ｐゴシック"/>
                <a:cs typeface="ＭＳ Ｐゴシック"/>
              </a:rPr>
              <a:t>Rationale for Research</a:t>
            </a:r>
          </a:p>
        </p:txBody>
      </p:sp>
      <p:sp>
        <p:nvSpPr>
          <p:cNvPr id="17410" name="Rectangle 3"/>
          <p:cNvSpPr>
            <a:spLocks noGrp="1"/>
          </p:cNvSpPr>
          <p:nvPr>
            <p:ph type="body" idx="1"/>
          </p:nvPr>
        </p:nvSpPr>
        <p:spPr>
          <a:xfrm>
            <a:off x="457200" y="1063229"/>
            <a:ext cx="8229600" cy="3531394"/>
          </a:xfrm>
        </p:spPr>
        <p:txBody>
          <a:bodyPr/>
          <a:lstStyle/>
          <a:p>
            <a:r>
              <a:rPr lang="en-AU" sz="2400" dirty="0" smtClean="0">
                <a:ea typeface="ＭＳ Ｐゴシック"/>
                <a:cs typeface="ＭＳ Ｐゴシック"/>
              </a:rPr>
              <a:t>International recognition of need for public health response to child maltreatment</a:t>
            </a:r>
          </a:p>
          <a:p>
            <a:r>
              <a:rPr lang="en-AU" sz="2400" dirty="0" smtClean="0">
                <a:ea typeface="ＭＳ Ｐゴシック"/>
                <a:cs typeface="ＭＳ Ｐゴシック"/>
              </a:rPr>
              <a:t>Need for early intervention at health system level</a:t>
            </a:r>
          </a:p>
          <a:p>
            <a:r>
              <a:rPr lang="en-AU" sz="2400" dirty="0" smtClean="0">
                <a:ea typeface="ＭＳ Ｐゴシック"/>
                <a:cs typeface="ＭＳ Ｐゴシック"/>
              </a:rPr>
              <a:t>Important role of health professionals in identifying, reporting, documenting </a:t>
            </a:r>
            <a:r>
              <a:rPr lang="en-AU" sz="2400" dirty="0" err="1" smtClean="0">
                <a:ea typeface="ＭＳ Ｐゴシック"/>
                <a:cs typeface="ＭＳ Ｐゴシック"/>
              </a:rPr>
              <a:t>suspician</a:t>
            </a:r>
            <a:r>
              <a:rPr lang="en-AU" sz="2400" dirty="0" smtClean="0">
                <a:ea typeface="ＭＳ Ｐゴシック"/>
                <a:cs typeface="ＭＳ Ｐゴシック"/>
              </a:rPr>
              <a:t> of maltreatment</a:t>
            </a:r>
          </a:p>
          <a:p>
            <a:r>
              <a:rPr lang="en-AU" sz="2400" dirty="0" smtClean="0">
                <a:ea typeface="ＭＳ Ｐゴシック"/>
                <a:cs typeface="ＭＳ Ｐゴシック"/>
              </a:rPr>
              <a:t>Up to 10% of all children presenting at </a:t>
            </a:r>
            <a:r>
              <a:rPr lang="en-AU" sz="2400" dirty="0" err="1" smtClean="0">
                <a:ea typeface="ＭＳ Ｐゴシック"/>
                <a:cs typeface="ＭＳ Ｐゴシック"/>
              </a:rPr>
              <a:t>ED’s</a:t>
            </a:r>
            <a:r>
              <a:rPr lang="en-AU" sz="2400" dirty="0" smtClean="0">
                <a:ea typeface="ＭＳ Ｐゴシック"/>
                <a:cs typeface="ＭＳ Ｐゴシック"/>
              </a:rPr>
              <a:t> are victims and without identification, 35% reinjured and 5% die</a:t>
            </a:r>
          </a:p>
          <a:p>
            <a:r>
              <a:rPr lang="en-AU" sz="2400" dirty="0" smtClean="0">
                <a:ea typeface="ＭＳ Ｐゴシック"/>
                <a:cs typeface="ＭＳ Ｐゴシック"/>
              </a:rPr>
              <a:t>In Qld, mandatory reporting requirement for doctors and nurses for suspected abuse or neglect</a:t>
            </a:r>
            <a:endParaRPr lang="en-AU" dirty="0" smtClean="0">
              <a:ea typeface="ＭＳ Ｐゴシック"/>
              <a:cs typeface="ＭＳ Ｐゴシック"/>
            </a:endParaRP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Value of hospital data</a:t>
            </a:r>
            <a:endParaRPr lang="en-AU" dirty="0"/>
          </a:p>
        </p:txBody>
      </p:sp>
      <p:sp>
        <p:nvSpPr>
          <p:cNvPr id="3" name="Content Placeholder 2"/>
          <p:cNvSpPr>
            <a:spLocks noGrp="1"/>
          </p:cNvSpPr>
          <p:nvPr>
            <p:ph idx="1"/>
          </p:nvPr>
        </p:nvSpPr>
        <p:spPr>
          <a:xfrm>
            <a:off x="251520" y="1200151"/>
            <a:ext cx="8640960" cy="3394472"/>
          </a:xfrm>
        </p:spPr>
        <p:txBody>
          <a:bodyPr/>
          <a:lstStyle/>
          <a:p>
            <a:r>
              <a:rPr lang="en-AU" sz="2400" dirty="0" smtClean="0"/>
              <a:t>Routinely collected hospital data a possible source of child maltreatment data outside of child protective services (CPS)</a:t>
            </a:r>
          </a:p>
          <a:p>
            <a:r>
              <a:rPr lang="en-AU" sz="2400" dirty="0" smtClean="0"/>
              <a:t>Injury circumstances routinely coded since early 90’s and detailed injury info since early 2000’s (including intent, perpetrator, mechanism, object, place, activity, injury nature and body region) as well as demographics, comorbidities, procedures, length of stay etc</a:t>
            </a:r>
          </a:p>
          <a:p>
            <a:r>
              <a:rPr lang="en-AU" sz="2400" dirty="0" smtClean="0"/>
              <a:t>However, event-based not person-based data, relies on clinical documentation and accurate coding</a:t>
            </a:r>
            <a:endParaRPr lang="en-AU" sz="2400"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Value of data linkage</a:t>
            </a:r>
            <a:endParaRPr lang="en-AU" dirty="0"/>
          </a:p>
        </p:txBody>
      </p:sp>
      <p:sp>
        <p:nvSpPr>
          <p:cNvPr id="3" name="Content Placeholder 2"/>
          <p:cNvSpPr>
            <a:spLocks noGrp="1"/>
          </p:cNvSpPr>
          <p:nvPr>
            <p:ph idx="1"/>
          </p:nvPr>
        </p:nvSpPr>
        <p:spPr/>
        <p:txBody>
          <a:bodyPr/>
          <a:lstStyle/>
          <a:p>
            <a:r>
              <a:rPr lang="en-AU" sz="2400" dirty="0" smtClean="0"/>
              <a:t>Ability to construct person-based data</a:t>
            </a:r>
          </a:p>
          <a:p>
            <a:r>
              <a:rPr lang="en-AU" sz="2400" dirty="0" smtClean="0"/>
              <a:t>Admission/ED presentation history</a:t>
            </a:r>
          </a:p>
          <a:p>
            <a:r>
              <a:rPr lang="en-AU" sz="2400" dirty="0" smtClean="0"/>
              <a:t>Utilisation of different health services by patient</a:t>
            </a:r>
          </a:p>
          <a:p>
            <a:r>
              <a:rPr lang="en-AU" sz="2400" dirty="0" smtClean="0"/>
              <a:t>Sibling/parental health service utilisation</a:t>
            </a:r>
          </a:p>
          <a:p>
            <a:r>
              <a:rPr lang="en-AU" sz="2400" dirty="0" smtClean="0"/>
              <a:t>Prior and subsequent CPS services involvement</a:t>
            </a:r>
            <a:endParaRPr lang="en-AU" sz="2400"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Gaps in current knowledge</a:t>
            </a:r>
            <a:endParaRPr lang="en-AU" dirty="0"/>
          </a:p>
        </p:txBody>
      </p:sp>
      <p:sp>
        <p:nvSpPr>
          <p:cNvPr id="3" name="Content Placeholder 2"/>
          <p:cNvSpPr>
            <a:spLocks noGrp="1"/>
          </p:cNvSpPr>
          <p:nvPr>
            <p:ph idx="1"/>
          </p:nvPr>
        </p:nvSpPr>
        <p:spPr>
          <a:xfrm>
            <a:off x="457200" y="1200151"/>
            <a:ext cx="8363272" cy="3394472"/>
          </a:xfrm>
        </p:spPr>
        <p:txBody>
          <a:bodyPr/>
          <a:lstStyle/>
          <a:p>
            <a:r>
              <a:rPr lang="en-AU" sz="2400" dirty="0" smtClean="0"/>
              <a:t>Accuracy of hospital-based coding of maltreatment and most reliable indicators</a:t>
            </a:r>
          </a:p>
          <a:p>
            <a:r>
              <a:rPr lang="en-AU" sz="2400" dirty="0" smtClean="0"/>
              <a:t>Completeness of cause of injury documentation</a:t>
            </a:r>
          </a:p>
          <a:p>
            <a:r>
              <a:rPr lang="en-AU" sz="2400" dirty="0" smtClean="0"/>
              <a:t>Accuracy of identification of maltreatment by clinicians</a:t>
            </a:r>
          </a:p>
          <a:p>
            <a:r>
              <a:rPr lang="en-AU" sz="2400" dirty="0" smtClean="0"/>
              <a:t>Compliance of doctors/nurses with reporting requirements</a:t>
            </a:r>
          </a:p>
          <a:p>
            <a:r>
              <a:rPr lang="en-AU" sz="2400" dirty="0" smtClean="0"/>
              <a:t>CPS histories/outcomes of children hospitalised due to injury (unintentional or intentional)</a:t>
            </a:r>
          </a:p>
          <a:p>
            <a:r>
              <a:rPr lang="en-AU" sz="2400" dirty="0" smtClean="0"/>
              <a:t>Risk factors for being known to CPS</a:t>
            </a:r>
            <a:endParaRPr lang="en-AU" sz="2400" dirty="0"/>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Aims of research</a:t>
            </a:r>
            <a:endParaRPr lang="en-AU" dirty="0"/>
          </a:p>
        </p:txBody>
      </p:sp>
      <p:sp>
        <p:nvSpPr>
          <p:cNvPr id="3" name="Content Placeholder 2"/>
          <p:cNvSpPr>
            <a:spLocks noGrp="1"/>
          </p:cNvSpPr>
          <p:nvPr>
            <p:ph idx="1"/>
          </p:nvPr>
        </p:nvSpPr>
        <p:spPr>
          <a:xfrm>
            <a:off x="251520" y="1200151"/>
            <a:ext cx="8568952" cy="3394472"/>
          </a:xfrm>
        </p:spPr>
        <p:txBody>
          <a:bodyPr/>
          <a:lstStyle/>
          <a:p>
            <a:r>
              <a:rPr lang="en-AU" dirty="0" smtClean="0"/>
              <a:t>Quantify the concordance of health and CPS data for index event</a:t>
            </a:r>
          </a:p>
          <a:p>
            <a:r>
              <a:rPr lang="en-AU" dirty="0" smtClean="0"/>
              <a:t>Identify CPS history/outcomes for index cases </a:t>
            </a:r>
          </a:p>
          <a:p>
            <a:r>
              <a:rPr lang="en-AU" dirty="0" smtClean="0"/>
              <a:t>Identify and compare risk factors for linkage for children with maltreatment-related hospitalisations and unintentional injury-related hospitalisations</a:t>
            </a: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Methods</a:t>
            </a:r>
            <a:endParaRPr lang="en-AU" dirty="0"/>
          </a:p>
        </p:txBody>
      </p:sp>
      <p:sp>
        <p:nvSpPr>
          <p:cNvPr id="3" name="Content Placeholder 2"/>
          <p:cNvSpPr>
            <a:spLocks noGrp="1"/>
          </p:cNvSpPr>
          <p:nvPr>
            <p:ph idx="1"/>
          </p:nvPr>
        </p:nvSpPr>
        <p:spPr>
          <a:xfrm>
            <a:off x="251520" y="1063229"/>
            <a:ext cx="8784976" cy="3531394"/>
          </a:xfrm>
        </p:spPr>
        <p:txBody>
          <a:bodyPr/>
          <a:lstStyle/>
          <a:p>
            <a:r>
              <a:rPr lang="en-AU" sz="2400" dirty="0" smtClean="0"/>
              <a:t>Retrospective medical record review, recoding and data linkage study for 2 independent samples:</a:t>
            </a:r>
          </a:p>
          <a:p>
            <a:pPr lvl="1"/>
            <a:r>
              <a:rPr lang="en-AU" sz="2000" dirty="0" smtClean="0"/>
              <a:t>Cases with codes indicative of possible maltreatment</a:t>
            </a:r>
          </a:p>
          <a:p>
            <a:pPr lvl="1"/>
            <a:r>
              <a:rPr lang="en-AU" sz="2000" dirty="0" smtClean="0"/>
              <a:t>Cases with codes indicating an unintentional injury cause</a:t>
            </a:r>
          </a:p>
          <a:p>
            <a:r>
              <a:rPr lang="en-AU" sz="2400" dirty="0" smtClean="0"/>
              <a:t>20 hospitals Qld-wide (large/medium/small and urban/rural/remote) admissions between 2003-2006</a:t>
            </a:r>
          </a:p>
          <a:p>
            <a:r>
              <a:rPr lang="en-AU" sz="2400" dirty="0" smtClean="0"/>
              <a:t>On-site data collection and recoding by expert coders, including verbatim extracts of injury circumstances</a:t>
            </a:r>
          </a:p>
          <a:p>
            <a:endParaRPr lang="en-AU" sz="2400" dirty="0"/>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316"/>
            <a:ext cx="8229600" cy="857250"/>
          </a:xfrm>
        </p:spPr>
        <p:txBody>
          <a:bodyPr/>
          <a:lstStyle/>
          <a:p>
            <a:r>
              <a:rPr lang="en-AU" dirty="0" smtClean="0"/>
              <a:t>Data Linkage Methods</a:t>
            </a:r>
            <a:endParaRPr lang="en-AU" sz="2000" dirty="0"/>
          </a:p>
        </p:txBody>
      </p:sp>
      <p:sp>
        <p:nvSpPr>
          <p:cNvPr id="3" name="Content Placeholder 2"/>
          <p:cNvSpPr>
            <a:spLocks noGrp="1"/>
          </p:cNvSpPr>
          <p:nvPr>
            <p:ph idx="1"/>
          </p:nvPr>
        </p:nvSpPr>
        <p:spPr>
          <a:xfrm>
            <a:off x="457200" y="915566"/>
            <a:ext cx="8229600" cy="3679057"/>
          </a:xfrm>
        </p:spPr>
        <p:txBody>
          <a:bodyPr/>
          <a:lstStyle/>
          <a:p>
            <a:r>
              <a:rPr lang="en-AU" sz="2200" dirty="0" smtClean="0"/>
              <a:t>Limited functionality of Qld data linkage facility for departmental data outside of health data, but whole-of-govt commitment for child safety matters</a:t>
            </a:r>
          </a:p>
          <a:p>
            <a:r>
              <a:rPr lang="en-AU" sz="2200" dirty="0" smtClean="0"/>
              <a:t>Health released names and aliases/ DOB/ gender/ known addresses/admission dates to CPS</a:t>
            </a:r>
          </a:p>
          <a:p>
            <a:r>
              <a:rPr lang="en-AU" sz="2200" dirty="0" smtClean="0"/>
              <a:t>CPS intake officer manually reviewed all cases and identified matches in system, and database analyst extracted CPS data</a:t>
            </a:r>
          </a:p>
          <a:p>
            <a:r>
              <a:rPr lang="en-AU" sz="2200" dirty="0" smtClean="0"/>
              <a:t>Unique identifier on health and CPS data provided to researcher who joined departmental data for </a:t>
            </a:r>
            <a:r>
              <a:rPr lang="en-AU" sz="2200" dirty="0" err="1" smtClean="0"/>
              <a:t>deidentified</a:t>
            </a:r>
            <a:r>
              <a:rPr lang="en-AU" sz="2200" dirty="0" smtClean="0"/>
              <a:t> cases</a:t>
            </a:r>
          </a:p>
          <a:p>
            <a:pPr lvl="1"/>
            <a:endParaRPr lang="en-AU" sz="2000" dirty="0"/>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Results</a:t>
            </a:r>
            <a:endParaRPr lang="en-AU" dirty="0"/>
          </a:p>
        </p:txBody>
      </p:sp>
      <p:sp>
        <p:nvSpPr>
          <p:cNvPr id="3" name="Content Placeholder 2"/>
          <p:cNvSpPr>
            <a:spLocks noGrp="1"/>
          </p:cNvSpPr>
          <p:nvPr>
            <p:ph idx="1"/>
          </p:nvPr>
        </p:nvSpPr>
        <p:spPr/>
        <p:txBody>
          <a:bodyPr/>
          <a:lstStyle/>
          <a:p>
            <a:pPr>
              <a:buNone/>
            </a:pPr>
            <a:r>
              <a:rPr lang="en-AU" dirty="0" smtClean="0"/>
              <a:t>SAMPLE:</a:t>
            </a:r>
          </a:p>
          <a:p>
            <a:r>
              <a:rPr lang="en-AU" dirty="0" smtClean="0"/>
              <a:t>423 children maltreatment code sample with 93% CPS match</a:t>
            </a:r>
          </a:p>
          <a:p>
            <a:r>
              <a:rPr lang="en-AU" dirty="0" smtClean="0"/>
              <a:t>461 children unintentional injury code sample with 32% CPS match</a:t>
            </a:r>
          </a:p>
          <a:p>
            <a:endParaRPr lang="en-AU" dirty="0"/>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Linkage results</a:t>
            </a:r>
            <a:endParaRPr lang="en-AU" dirty="0"/>
          </a:p>
        </p:txBody>
      </p:sp>
      <p:graphicFrame>
        <p:nvGraphicFramePr>
          <p:cNvPr id="4" name="Table 3"/>
          <p:cNvGraphicFramePr>
            <a:graphicFrameLocks noGrp="1"/>
          </p:cNvGraphicFramePr>
          <p:nvPr/>
        </p:nvGraphicFramePr>
        <p:xfrm>
          <a:off x="755576" y="1063230"/>
          <a:ext cx="7704857" cy="3596750"/>
        </p:xfrm>
        <a:graphic>
          <a:graphicData uri="http://schemas.openxmlformats.org/drawingml/2006/table">
            <a:tbl>
              <a:tblPr/>
              <a:tblGrid>
                <a:gridCol w="3012013"/>
                <a:gridCol w="1231290"/>
                <a:gridCol w="1231290"/>
                <a:gridCol w="1115132"/>
                <a:gridCol w="1115132"/>
              </a:tblGrid>
              <a:tr h="719350">
                <a:tc rowSpan="2">
                  <a:txBody>
                    <a:bodyPr/>
                    <a:lstStyle/>
                    <a:p>
                      <a:pPr algn="ctr">
                        <a:lnSpc>
                          <a:spcPct val="115000"/>
                        </a:lnSpc>
                        <a:spcAft>
                          <a:spcPts val="0"/>
                        </a:spcAft>
                      </a:pPr>
                      <a:r>
                        <a:rPr lang="en-AU" sz="2000" dirty="0">
                          <a:latin typeface="+mj-lt"/>
                          <a:ea typeface="Times New Roman"/>
                          <a:cs typeface="Times New Roman"/>
                        </a:rPr>
                        <a:t>Linkage between hospital and CPS data </a:t>
                      </a:r>
                      <a:endParaRPr lang="en-AU" sz="2000" dirty="0">
                        <a:latin typeface="+mj-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pPr>
                      <a:r>
                        <a:rPr lang="en-AU" sz="2000" dirty="0">
                          <a:solidFill>
                            <a:srgbClr val="000000"/>
                          </a:solidFill>
                          <a:latin typeface="+mj-lt"/>
                          <a:ea typeface="Times New Roman"/>
                          <a:cs typeface="Times New Roman"/>
                        </a:rPr>
                        <a:t>Unintentional injury code sample</a:t>
                      </a:r>
                      <a:endParaRPr lang="en-AU" sz="2000" dirty="0">
                        <a:latin typeface="+mj-lt"/>
                        <a:ea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hMerge="1">
                  <a:txBody>
                    <a:bodyPr/>
                    <a:lstStyle/>
                    <a:p>
                      <a:endParaRPr lang="en-AU"/>
                    </a:p>
                  </a:txBody>
                  <a:tcPr/>
                </a:tc>
                <a:tc gridSpan="2">
                  <a:txBody>
                    <a:bodyPr/>
                    <a:lstStyle/>
                    <a:p>
                      <a:pPr algn="ctr">
                        <a:lnSpc>
                          <a:spcPct val="115000"/>
                        </a:lnSpc>
                        <a:spcAft>
                          <a:spcPts val="0"/>
                        </a:spcAft>
                      </a:pPr>
                      <a:r>
                        <a:rPr lang="en-AU" sz="2000" dirty="0">
                          <a:solidFill>
                            <a:srgbClr val="000000"/>
                          </a:solidFill>
                          <a:latin typeface="+mj-lt"/>
                          <a:ea typeface="Times New Roman"/>
                          <a:cs typeface="Times New Roman"/>
                        </a:rPr>
                        <a:t>Any maltreatment code sample</a:t>
                      </a:r>
                      <a:endParaRPr lang="en-AU" sz="2000" dirty="0">
                        <a:latin typeface="+mj-lt"/>
                        <a:ea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xBody>
                    <a:bodyPr/>
                    <a:lstStyle/>
                    <a:p>
                      <a:endParaRPr lang="en-AU"/>
                    </a:p>
                  </a:txBody>
                  <a:tcPr/>
                </a:tc>
              </a:tr>
              <a:tr h="359675">
                <a:tc vMerge="1">
                  <a:txBody>
                    <a:bodyPr/>
                    <a:lstStyle/>
                    <a:p>
                      <a:endParaRPr lang="en-AU"/>
                    </a:p>
                  </a:txBody>
                  <a:tcPr/>
                </a:tc>
                <a:tc>
                  <a:txBody>
                    <a:bodyPr/>
                    <a:lstStyle/>
                    <a:p>
                      <a:pPr algn="ctr">
                        <a:lnSpc>
                          <a:spcPct val="115000"/>
                        </a:lnSpc>
                        <a:spcAft>
                          <a:spcPts val="0"/>
                        </a:spcAft>
                      </a:pPr>
                      <a:r>
                        <a:rPr lang="en-AU" sz="2000">
                          <a:solidFill>
                            <a:srgbClr val="000000"/>
                          </a:solidFill>
                          <a:latin typeface="+mj-lt"/>
                          <a:ea typeface="Times New Roman"/>
                          <a:cs typeface="Times New Roman"/>
                        </a:rPr>
                        <a:t>n</a:t>
                      </a:r>
                      <a:endParaRPr lang="en-AU" sz="2000">
                        <a:latin typeface="+mj-lt"/>
                        <a:ea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a:t>
                      </a:r>
                      <a:endParaRPr lang="en-AU" sz="2000">
                        <a:latin typeface="+mj-lt"/>
                        <a:ea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n</a:t>
                      </a:r>
                      <a:endParaRPr lang="en-AU" sz="2000">
                        <a:latin typeface="+mj-lt"/>
                        <a:ea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a:t>
                      </a:r>
                      <a:endParaRPr lang="en-AU" sz="2000">
                        <a:latin typeface="+mj-lt"/>
                        <a:ea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r h="359675">
                <a:tc>
                  <a:txBody>
                    <a:bodyPr/>
                    <a:lstStyle/>
                    <a:p>
                      <a:pPr>
                        <a:lnSpc>
                          <a:spcPct val="115000"/>
                        </a:lnSpc>
                        <a:spcAft>
                          <a:spcPts val="0"/>
                        </a:spcAft>
                      </a:pPr>
                      <a:r>
                        <a:rPr lang="en-AU" sz="2000">
                          <a:solidFill>
                            <a:srgbClr val="000000"/>
                          </a:solidFill>
                          <a:latin typeface="+mj-lt"/>
                          <a:ea typeface="Times New Roman"/>
                          <a:cs typeface="Times New Roman"/>
                        </a:rPr>
                        <a:t>Known to CPS</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lnSpc>
                          <a:spcPct val="115000"/>
                        </a:lnSpc>
                        <a:spcAft>
                          <a:spcPts val="0"/>
                        </a:spcAft>
                      </a:pPr>
                      <a:endParaRPr lang="en-AU" sz="2000">
                        <a:solidFill>
                          <a:srgbClr val="000000"/>
                        </a:solidFill>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66FF66"/>
                    </a:solidFill>
                  </a:tcPr>
                </a:tc>
                <a:tc>
                  <a:txBody>
                    <a:bodyPr/>
                    <a:lstStyle/>
                    <a:p>
                      <a:pPr algn="ctr">
                        <a:lnSpc>
                          <a:spcPct val="115000"/>
                        </a:lnSpc>
                        <a:spcAft>
                          <a:spcPts val="0"/>
                        </a:spcAft>
                      </a:pPr>
                      <a:endParaRPr lang="en-AU" sz="2000">
                        <a:solidFill>
                          <a:srgbClr val="000000"/>
                        </a:solidFill>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66FF66"/>
                    </a:solidFill>
                  </a:tcPr>
                </a:tc>
                <a:tc>
                  <a:txBody>
                    <a:bodyPr/>
                    <a:lstStyle/>
                    <a:p>
                      <a:pPr algn="ctr">
                        <a:lnSpc>
                          <a:spcPct val="115000"/>
                        </a:lnSpc>
                        <a:spcAft>
                          <a:spcPts val="0"/>
                        </a:spcAft>
                      </a:pPr>
                      <a:endParaRPr lang="en-AU" sz="2000">
                        <a:solidFill>
                          <a:srgbClr val="000000"/>
                        </a:solidFill>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a:lnSpc>
                          <a:spcPct val="115000"/>
                        </a:lnSpc>
                        <a:spcAft>
                          <a:spcPts val="0"/>
                        </a:spcAft>
                      </a:pPr>
                      <a:endParaRPr lang="en-AU" sz="2000">
                        <a:solidFill>
                          <a:srgbClr val="000000"/>
                        </a:solidFill>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r>
              <a:tr h="359675">
                <a:tc>
                  <a:txBody>
                    <a:bodyPr/>
                    <a:lstStyle/>
                    <a:p>
                      <a:pPr marL="457200">
                        <a:lnSpc>
                          <a:spcPct val="115000"/>
                        </a:lnSpc>
                        <a:spcAft>
                          <a:spcPts val="0"/>
                        </a:spcAft>
                      </a:pPr>
                      <a:r>
                        <a:rPr lang="en-AU" sz="2000">
                          <a:solidFill>
                            <a:srgbClr val="000000"/>
                          </a:solidFill>
                          <a:latin typeface="+mj-lt"/>
                          <a:ea typeface="Times New Roman"/>
                          <a:cs typeface="Times New Roman"/>
                        </a:rPr>
                        <a:t>No</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lnSpc>
                          <a:spcPct val="115000"/>
                        </a:lnSpc>
                        <a:spcAft>
                          <a:spcPts val="0"/>
                        </a:spcAft>
                      </a:pPr>
                      <a:r>
                        <a:rPr lang="en-AU" sz="2000">
                          <a:solidFill>
                            <a:srgbClr val="000000"/>
                          </a:solidFill>
                          <a:latin typeface="+mj-lt"/>
                          <a:ea typeface="Times New Roman"/>
                          <a:cs typeface="Times New Roman"/>
                        </a:rPr>
                        <a:t>313</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67.90%</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29</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6.86%</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C000"/>
                    </a:solidFill>
                  </a:tcPr>
                </a:tc>
              </a:tr>
              <a:tr h="359675">
                <a:tc>
                  <a:txBody>
                    <a:bodyPr/>
                    <a:lstStyle/>
                    <a:p>
                      <a:pPr marL="457200">
                        <a:lnSpc>
                          <a:spcPct val="115000"/>
                        </a:lnSpc>
                        <a:spcAft>
                          <a:spcPts val="0"/>
                        </a:spcAft>
                      </a:pPr>
                      <a:r>
                        <a:rPr lang="en-AU" sz="2000">
                          <a:solidFill>
                            <a:srgbClr val="000000"/>
                          </a:solidFill>
                          <a:latin typeface="+mj-lt"/>
                          <a:ea typeface="Times New Roman"/>
                          <a:cs typeface="Times New Roman"/>
                        </a:rPr>
                        <a:t>Yes</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AU" sz="2000">
                          <a:solidFill>
                            <a:srgbClr val="000000"/>
                          </a:solidFill>
                          <a:latin typeface="+mj-lt"/>
                          <a:ea typeface="Times New Roman"/>
                          <a:cs typeface="Times New Roman"/>
                        </a:rPr>
                        <a:t>148</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32.10%</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394</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93.14%</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000"/>
                    </a:solidFill>
                  </a:tcPr>
                </a:tc>
              </a:tr>
              <a:tr h="359675">
                <a:tc>
                  <a:txBody>
                    <a:bodyPr/>
                    <a:lstStyle/>
                    <a:p>
                      <a:pPr>
                        <a:lnSpc>
                          <a:spcPct val="115000"/>
                        </a:lnSpc>
                        <a:spcAft>
                          <a:spcPts val="0"/>
                        </a:spcAft>
                      </a:pPr>
                      <a:r>
                        <a:rPr lang="en-AU" sz="2000">
                          <a:solidFill>
                            <a:srgbClr val="000000"/>
                          </a:solidFill>
                          <a:latin typeface="+mj-lt"/>
                          <a:ea typeface="Times New Roman"/>
                          <a:cs typeface="Times New Roman"/>
                        </a:rPr>
                        <a:t>Recent CPS event*</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lnSpc>
                          <a:spcPct val="115000"/>
                        </a:lnSpc>
                        <a:spcAft>
                          <a:spcPts val="0"/>
                        </a:spcAft>
                      </a:pPr>
                      <a:endParaRPr lang="en-AU" sz="2000">
                        <a:solidFill>
                          <a:srgbClr val="000000"/>
                        </a:solidFill>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66FF66"/>
                    </a:solidFill>
                  </a:tcPr>
                </a:tc>
                <a:tc>
                  <a:txBody>
                    <a:bodyPr/>
                    <a:lstStyle/>
                    <a:p>
                      <a:pPr algn="ctr">
                        <a:lnSpc>
                          <a:spcPct val="115000"/>
                        </a:lnSpc>
                        <a:spcAft>
                          <a:spcPts val="0"/>
                        </a:spcAft>
                      </a:pPr>
                      <a:endParaRPr lang="en-AU" sz="2000">
                        <a:solidFill>
                          <a:srgbClr val="000000"/>
                        </a:solidFill>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66FF66"/>
                    </a:solidFill>
                  </a:tcPr>
                </a:tc>
                <a:tc>
                  <a:txBody>
                    <a:bodyPr/>
                    <a:lstStyle/>
                    <a:p>
                      <a:pPr algn="ctr">
                        <a:lnSpc>
                          <a:spcPct val="115000"/>
                        </a:lnSpc>
                        <a:spcAft>
                          <a:spcPts val="0"/>
                        </a:spcAft>
                      </a:pPr>
                      <a:endParaRPr lang="en-AU" sz="2000">
                        <a:solidFill>
                          <a:srgbClr val="000000"/>
                        </a:solidFill>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a:lnSpc>
                          <a:spcPct val="115000"/>
                        </a:lnSpc>
                        <a:spcAft>
                          <a:spcPts val="0"/>
                        </a:spcAft>
                      </a:pPr>
                      <a:endParaRPr lang="en-AU" sz="2000">
                        <a:solidFill>
                          <a:srgbClr val="000000"/>
                        </a:solidFill>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r>
              <a:tr h="359675">
                <a:tc>
                  <a:txBody>
                    <a:bodyPr/>
                    <a:lstStyle/>
                    <a:p>
                      <a:pPr marL="457200">
                        <a:lnSpc>
                          <a:spcPct val="115000"/>
                        </a:lnSpc>
                        <a:spcAft>
                          <a:spcPts val="0"/>
                        </a:spcAft>
                      </a:pPr>
                      <a:r>
                        <a:rPr lang="en-AU" sz="2000">
                          <a:solidFill>
                            <a:srgbClr val="000000"/>
                          </a:solidFill>
                          <a:latin typeface="+mj-lt"/>
                          <a:ea typeface="Times New Roman"/>
                          <a:cs typeface="Times New Roman"/>
                        </a:rPr>
                        <a:t>No</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lnSpc>
                          <a:spcPct val="115000"/>
                        </a:lnSpc>
                        <a:spcAft>
                          <a:spcPts val="0"/>
                        </a:spcAft>
                      </a:pPr>
                      <a:r>
                        <a:rPr lang="en-AU" sz="2000">
                          <a:solidFill>
                            <a:srgbClr val="000000"/>
                          </a:solidFill>
                          <a:latin typeface="+mj-lt"/>
                          <a:ea typeface="Times New Roman"/>
                          <a:cs typeface="Times New Roman"/>
                        </a:rPr>
                        <a:t>410</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66FF66"/>
                    </a:solidFill>
                  </a:tcPr>
                </a:tc>
                <a:tc>
                  <a:txBody>
                    <a:bodyPr/>
                    <a:lstStyle/>
                    <a:p>
                      <a:pPr algn="ctr">
                        <a:lnSpc>
                          <a:spcPct val="115000"/>
                        </a:lnSpc>
                        <a:spcAft>
                          <a:spcPts val="0"/>
                        </a:spcAft>
                      </a:pPr>
                      <a:r>
                        <a:rPr lang="en-AU" sz="2000" dirty="0">
                          <a:solidFill>
                            <a:srgbClr val="000000"/>
                          </a:solidFill>
                          <a:latin typeface="+mj-lt"/>
                          <a:ea typeface="Times New Roman"/>
                          <a:cs typeface="Times New Roman"/>
                        </a:rPr>
                        <a:t>88.94%</a:t>
                      </a:r>
                      <a:endParaRPr lang="en-AU" sz="2000"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63</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14.89%</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C000"/>
                    </a:solidFill>
                  </a:tcPr>
                </a:tc>
              </a:tr>
              <a:tr h="359675">
                <a:tc>
                  <a:txBody>
                    <a:bodyPr/>
                    <a:lstStyle/>
                    <a:p>
                      <a:pPr marL="457200">
                        <a:lnSpc>
                          <a:spcPct val="115000"/>
                        </a:lnSpc>
                        <a:spcAft>
                          <a:spcPts val="0"/>
                        </a:spcAft>
                      </a:pPr>
                      <a:r>
                        <a:rPr lang="en-AU" sz="2000">
                          <a:solidFill>
                            <a:srgbClr val="000000"/>
                          </a:solidFill>
                          <a:latin typeface="+mj-lt"/>
                          <a:ea typeface="Times New Roman"/>
                          <a:cs typeface="Times New Roman"/>
                        </a:rPr>
                        <a:t>Yes</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AU" sz="2000">
                          <a:solidFill>
                            <a:srgbClr val="000000"/>
                          </a:solidFill>
                          <a:latin typeface="+mj-lt"/>
                          <a:ea typeface="Times New Roman"/>
                          <a:cs typeface="Times New Roman"/>
                        </a:rPr>
                        <a:t>51</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11.06%</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360</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85.11%</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C000"/>
                    </a:solidFill>
                  </a:tcPr>
                </a:tc>
              </a:tr>
              <a:tr h="359675">
                <a:tc>
                  <a:txBody>
                    <a:bodyPr/>
                    <a:lstStyle/>
                    <a:p>
                      <a:pPr>
                        <a:lnSpc>
                          <a:spcPct val="115000"/>
                        </a:lnSpc>
                        <a:spcAft>
                          <a:spcPts val="0"/>
                        </a:spcAft>
                      </a:pPr>
                      <a:r>
                        <a:rPr lang="en-AU" sz="2000">
                          <a:solidFill>
                            <a:srgbClr val="000000"/>
                          </a:solidFill>
                          <a:latin typeface="+mj-lt"/>
                          <a:ea typeface="Times New Roman"/>
                          <a:cs typeface="Times New Roman"/>
                        </a:rPr>
                        <a:t>TOTAL</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AU" sz="2000">
                          <a:solidFill>
                            <a:srgbClr val="000000"/>
                          </a:solidFill>
                          <a:latin typeface="+mj-lt"/>
                          <a:ea typeface="Times New Roman"/>
                          <a:cs typeface="Times New Roman"/>
                        </a:rPr>
                        <a:t>461</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lgn="ctr">
                        <a:lnSpc>
                          <a:spcPct val="115000"/>
                        </a:lnSpc>
                        <a:spcAft>
                          <a:spcPts val="0"/>
                        </a:spcAft>
                      </a:pPr>
                      <a:r>
                        <a:rPr lang="en-AU" sz="2000" dirty="0">
                          <a:solidFill>
                            <a:srgbClr val="000000"/>
                          </a:solidFill>
                          <a:latin typeface="+mj-lt"/>
                          <a:ea typeface="Times New Roman"/>
                          <a:cs typeface="Times New Roman"/>
                        </a:rPr>
                        <a:t>100.0%</a:t>
                      </a:r>
                      <a:endParaRPr lang="en-AU" sz="2000"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66"/>
                    </a:solidFill>
                  </a:tcPr>
                </a:tc>
                <a:tc>
                  <a:txBody>
                    <a:bodyPr/>
                    <a:lstStyle/>
                    <a:p>
                      <a:pPr algn="ctr">
                        <a:lnSpc>
                          <a:spcPct val="115000"/>
                        </a:lnSpc>
                        <a:spcAft>
                          <a:spcPts val="0"/>
                        </a:spcAft>
                      </a:pPr>
                      <a:r>
                        <a:rPr lang="en-AU" sz="2000">
                          <a:solidFill>
                            <a:srgbClr val="000000"/>
                          </a:solidFill>
                          <a:latin typeface="+mj-lt"/>
                          <a:ea typeface="Times New Roman"/>
                          <a:cs typeface="Times New Roman"/>
                        </a:rPr>
                        <a:t>423</a:t>
                      </a:r>
                      <a:endParaRPr lang="en-AU" sz="200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AU" sz="2000" dirty="0">
                          <a:solidFill>
                            <a:srgbClr val="000000"/>
                          </a:solidFill>
                          <a:latin typeface="+mj-lt"/>
                          <a:ea typeface="Times New Roman"/>
                          <a:cs typeface="Times New Roman"/>
                        </a:rPr>
                        <a:t>100.0%</a:t>
                      </a:r>
                      <a:endParaRPr lang="en-AU" sz="2000" dirty="0">
                        <a:latin typeface="+mj-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bl>
          </a:graphicData>
        </a:graphic>
      </p:graphicFrame>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8" name="Picture 4"/>
          <p:cNvPicPr>
            <a:picLocks noChangeAspect="1" noChangeArrowheads="1"/>
          </p:cNvPicPr>
          <p:nvPr/>
        </p:nvPicPr>
        <p:blipFill>
          <a:blip r:embed="rId3"/>
          <a:srcRect/>
          <a:stretch>
            <a:fillRect/>
          </a:stretch>
        </p:blipFill>
        <p:spPr bwMode="auto">
          <a:xfrm>
            <a:off x="-36512" y="-20537"/>
            <a:ext cx="9217024" cy="5218678"/>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Risk factors for recent CPS linkage for maltreatment code sample</a:t>
            </a:r>
            <a:endParaRPr lang="en-AU" dirty="0"/>
          </a:p>
        </p:txBody>
      </p:sp>
      <p:sp>
        <p:nvSpPr>
          <p:cNvPr id="3" name="Content Placeholder 2"/>
          <p:cNvSpPr>
            <a:spLocks noGrp="1"/>
          </p:cNvSpPr>
          <p:nvPr>
            <p:ph idx="1"/>
          </p:nvPr>
        </p:nvSpPr>
        <p:spPr>
          <a:xfrm>
            <a:off x="251520" y="1563637"/>
            <a:ext cx="8712968" cy="3030985"/>
          </a:xfrm>
        </p:spPr>
        <p:txBody>
          <a:bodyPr/>
          <a:lstStyle/>
          <a:p>
            <a:r>
              <a:rPr lang="en-AU" sz="2400" dirty="0" smtClean="0"/>
              <a:t>Children &lt;1 6x more likely than 15-17yo’s</a:t>
            </a:r>
          </a:p>
          <a:p>
            <a:r>
              <a:rPr lang="en-AU" sz="2400" dirty="0" smtClean="0"/>
              <a:t>Children documented as referred to hospital CPS 3.5x more likely than those with no referral documented</a:t>
            </a:r>
          </a:p>
          <a:p>
            <a:r>
              <a:rPr lang="en-AU" sz="2400" dirty="0" smtClean="0"/>
              <a:t>Children with codes to indicate other factors affecting health status 4.5x more likely than those without these codes</a:t>
            </a:r>
          </a:p>
          <a:p>
            <a:r>
              <a:rPr lang="en-AU" sz="2400" dirty="0" smtClean="0"/>
              <a:t>Children with more definitive maltreatment code 4.3x more likely than those with less definitive code</a:t>
            </a:r>
          </a:p>
          <a:p>
            <a:pPr lvl="1"/>
            <a:endParaRPr lang="en-AU" sz="2000" dirty="0"/>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05979"/>
            <a:ext cx="8229600" cy="857250"/>
          </a:xfrm>
        </p:spPr>
        <p:txBody>
          <a:bodyPr/>
          <a:lstStyle/>
          <a:p>
            <a:r>
              <a:rPr lang="en-AU" dirty="0" smtClean="0"/>
              <a:t>Risk factors for recent CPS linkage for unintentional injury code sample</a:t>
            </a:r>
            <a:endParaRPr lang="en-AU" dirty="0"/>
          </a:p>
        </p:txBody>
      </p:sp>
      <p:sp>
        <p:nvSpPr>
          <p:cNvPr id="5" name="Content Placeholder 2"/>
          <p:cNvSpPr>
            <a:spLocks noGrp="1"/>
          </p:cNvSpPr>
          <p:nvPr>
            <p:ph idx="1"/>
          </p:nvPr>
        </p:nvSpPr>
        <p:spPr>
          <a:xfrm>
            <a:off x="251520" y="1563637"/>
            <a:ext cx="8712968" cy="3030985"/>
          </a:xfrm>
        </p:spPr>
        <p:txBody>
          <a:bodyPr/>
          <a:lstStyle/>
          <a:p>
            <a:r>
              <a:rPr lang="en-AU" sz="2400" dirty="0" smtClean="0"/>
              <a:t>Children admitted to rural hospital 2.4x more likely than urban hospital</a:t>
            </a:r>
          </a:p>
          <a:p>
            <a:r>
              <a:rPr lang="en-AU" sz="2400" dirty="0" smtClean="0"/>
              <a:t>Children documented as being known to CPS 50x more likely than those with no CPS presence documented</a:t>
            </a:r>
          </a:p>
          <a:p>
            <a:r>
              <a:rPr lang="en-AU" sz="2400" dirty="0" smtClean="0"/>
              <a:t>Children with additional diagnosis codes 6.4x more likely than those without additional diagnosis codes</a:t>
            </a: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65571"/>
          </a:xfrm>
        </p:spPr>
        <p:txBody>
          <a:bodyPr/>
          <a:lstStyle/>
          <a:p>
            <a:r>
              <a:rPr lang="en-AU" dirty="0" smtClean="0"/>
              <a:t>Conclusions</a:t>
            </a:r>
            <a:endParaRPr lang="en-AU" dirty="0"/>
          </a:p>
        </p:txBody>
      </p:sp>
      <p:sp>
        <p:nvSpPr>
          <p:cNvPr id="3" name="Content Placeholder 2"/>
          <p:cNvSpPr>
            <a:spLocks noGrp="1"/>
          </p:cNvSpPr>
          <p:nvPr>
            <p:ph idx="1"/>
          </p:nvPr>
        </p:nvSpPr>
        <p:spPr>
          <a:xfrm>
            <a:off x="251520" y="915567"/>
            <a:ext cx="8712968" cy="3679056"/>
          </a:xfrm>
        </p:spPr>
        <p:txBody>
          <a:bodyPr/>
          <a:lstStyle/>
          <a:p>
            <a:r>
              <a:rPr lang="en-AU" sz="2400" dirty="0" smtClean="0"/>
              <a:t>Hospital system for reporting children to CPS appears to be efficient in most cases in which maltreatment coded</a:t>
            </a:r>
          </a:p>
          <a:p>
            <a:r>
              <a:rPr lang="en-AU" sz="2400" dirty="0" smtClean="0"/>
              <a:t>Nearly 1/5 linked children in the present study were identified for the first time during the index hospitalisation -&gt; importance of systematic monitoring and referral from hospitals </a:t>
            </a:r>
          </a:p>
          <a:p>
            <a:r>
              <a:rPr lang="en-AU" sz="2400" dirty="0" smtClean="0"/>
              <a:t>Around 1/15 children with a maltreatment code did not link to the CPS -&gt; ? whether these children have slipped through the safety net</a:t>
            </a:r>
            <a:endParaRPr lang="en-AU" sz="2400" dirty="0"/>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Conclusions </a:t>
            </a:r>
            <a:r>
              <a:rPr lang="en-AU" sz="2000" dirty="0" smtClean="0"/>
              <a:t>(continued)</a:t>
            </a:r>
            <a:endParaRPr lang="en-AU" sz="2000" dirty="0"/>
          </a:p>
        </p:txBody>
      </p:sp>
      <p:sp>
        <p:nvSpPr>
          <p:cNvPr id="3" name="Content Placeholder 2"/>
          <p:cNvSpPr>
            <a:spLocks noGrp="1"/>
          </p:cNvSpPr>
          <p:nvPr>
            <p:ph idx="1"/>
          </p:nvPr>
        </p:nvSpPr>
        <p:spPr/>
        <p:txBody>
          <a:bodyPr/>
          <a:lstStyle/>
          <a:p>
            <a:pPr lvl="0"/>
            <a:r>
              <a:rPr lang="en-AU" sz="2400" dirty="0" smtClean="0"/>
              <a:t>1/3 of children who presented with an injury coded as being due to an unintentional cause were known to CPS, with 11% of this sample having a recent CPS event recorded </a:t>
            </a:r>
          </a:p>
          <a:p>
            <a:pPr lvl="0"/>
            <a:r>
              <a:rPr lang="en-AU" sz="2400" dirty="0" smtClean="0"/>
              <a:t>Possibility of maltreatment histories should be considered for children presenting with an unintentional injury</a:t>
            </a:r>
          </a:p>
          <a:p>
            <a:endParaRPr lang="en-AU" sz="2400" dirty="0"/>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709587"/>
          </a:xfrm>
        </p:spPr>
        <p:txBody>
          <a:bodyPr/>
          <a:lstStyle/>
          <a:p>
            <a:r>
              <a:rPr lang="en-AU" dirty="0" smtClean="0"/>
              <a:t>Data linkage implications</a:t>
            </a:r>
            <a:endParaRPr lang="en-AU" dirty="0"/>
          </a:p>
        </p:txBody>
      </p:sp>
      <p:sp>
        <p:nvSpPr>
          <p:cNvPr id="3" name="Content Placeholder 2"/>
          <p:cNvSpPr>
            <a:spLocks noGrp="1"/>
          </p:cNvSpPr>
          <p:nvPr>
            <p:ph idx="1"/>
          </p:nvPr>
        </p:nvSpPr>
        <p:spPr>
          <a:xfrm>
            <a:off x="457200" y="1063229"/>
            <a:ext cx="8229600" cy="3531394"/>
          </a:xfrm>
        </p:spPr>
        <p:txBody>
          <a:bodyPr/>
          <a:lstStyle/>
          <a:p>
            <a:r>
              <a:rPr lang="en-AU" dirty="0" smtClean="0"/>
              <a:t>Data linkage vital to construct the histories and subsequent CPS involvement</a:t>
            </a:r>
          </a:p>
          <a:p>
            <a:r>
              <a:rPr lang="en-AU" dirty="0" smtClean="0"/>
              <a:t>Data linkage highlighted risk factors for CPS matching to target in-hospital early identification and intervention</a:t>
            </a:r>
          </a:p>
          <a:p>
            <a:r>
              <a:rPr lang="en-AU" dirty="0" smtClean="0"/>
              <a:t>Issues re manual linkage approach required in this study -&gt; improvements in system level capability for routine linkage in Qld</a:t>
            </a:r>
            <a:endParaRPr lang="en-AU" dirty="0"/>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Article details</a:t>
            </a:r>
            <a:endParaRPr lang="en-AU" dirty="0"/>
          </a:p>
        </p:txBody>
      </p:sp>
      <p:sp>
        <p:nvSpPr>
          <p:cNvPr id="3" name="Content Placeholder 2"/>
          <p:cNvSpPr>
            <a:spLocks noGrp="1"/>
          </p:cNvSpPr>
          <p:nvPr>
            <p:ph idx="1"/>
          </p:nvPr>
        </p:nvSpPr>
        <p:spPr/>
        <p:txBody>
          <a:bodyPr/>
          <a:lstStyle/>
          <a:p>
            <a:r>
              <a:rPr lang="en-AU" sz="2000" dirty="0" smtClean="0"/>
              <a:t>McKenzie K, Scott D, Fraser J, Dunne M. 2012. Assessing the effectiveness of the child safety net: Linkage of hospital and Child Protection Services data on ‘maltreated’ and ‘unintentionally injured’ children. Injury Prevention. </a:t>
            </a:r>
          </a:p>
          <a:p>
            <a:pPr lvl="0"/>
            <a:r>
              <a:rPr lang="en-AU" sz="2000" dirty="0" smtClean="0"/>
              <a:t>McKenzie K, Scott D. 2011. Using Routinely Collected Hospital Data for Child Maltreatment Surveillance: Issues, Methods and Patterns. BMC Public Health 11:7. </a:t>
            </a:r>
          </a:p>
          <a:p>
            <a:pPr lvl="0"/>
            <a:r>
              <a:rPr lang="en-AU" sz="2000" dirty="0" smtClean="0"/>
              <a:t>McKenzie K, Scott D, Waller G, Campbell M. 2011. Reliability of Routinely Collected Hospital Data for Child Maltreatment Surveillance. BMC Public Health 11:8.</a:t>
            </a:r>
            <a:endParaRPr lang="en-AU" sz="2000" dirty="0"/>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Acknowledgements</a:t>
            </a:r>
            <a:endParaRPr lang="en-AU" dirty="0"/>
          </a:p>
        </p:txBody>
      </p:sp>
      <p:sp>
        <p:nvSpPr>
          <p:cNvPr id="3" name="Content Placeholder 2"/>
          <p:cNvSpPr>
            <a:spLocks noGrp="1"/>
          </p:cNvSpPr>
          <p:nvPr>
            <p:ph idx="1"/>
          </p:nvPr>
        </p:nvSpPr>
        <p:spPr/>
        <p:txBody>
          <a:bodyPr/>
          <a:lstStyle/>
          <a:p>
            <a:r>
              <a:rPr lang="en-AU" dirty="0" smtClean="0"/>
              <a:t>ARC-Linkage funding</a:t>
            </a:r>
          </a:p>
          <a:p>
            <a:r>
              <a:rPr lang="en-AU" dirty="0" smtClean="0"/>
              <a:t>Industry partners: Department of Communities, Queensland Health, Abused Child Trust</a:t>
            </a:r>
          </a:p>
          <a:p>
            <a:r>
              <a:rPr lang="en-AU" dirty="0" smtClean="0"/>
              <a:t>Data collectors: Garry Waller and Margaret Campbell</a:t>
            </a:r>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49492"/>
            <a:ext cx="8229600" cy="1120446"/>
          </a:xfrm>
        </p:spPr>
        <p:txBody>
          <a:bodyPr/>
          <a:lstStyle/>
          <a:p>
            <a:pPr algn="ctr">
              <a:buNone/>
            </a:pPr>
            <a:r>
              <a:rPr lang="en-AU" sz="4800" b="1" dirty="0" smtClean="0"/>
              <a:t>Questions?</a:t>
            </a:r>
          </a:p>
          <a:p>
            <a:pPr algn="ctr">
              <a:buNone/>
            </a:pPr>
            <a:r>
              <a:rPr lang="en-AU" sz="2400" b="1" dirty="0" smtClean="0"/>
              <a:t>k.mckenzie@qut.edu.au</a:t>
            </a:r>
          </a:p>
        </p:txBody>
      </p:sp>
      <p:pic>
        <p:nvPicPr>
          <p:cNvPr id="9" name="Picture 2" descr="S:\CARRS-Q\Research\Clare\Occupational Safety and Transport Conference\Logos\Conference Logo\OSIT logo.jpg"/>
          <p:cNvPicPr>
            <a:picLocks noChangeAspect="1" noChangeArrowheads="1"/>
          </p:cNvPicPr>
          <p:nvPr/>
        </p:nvPicPr>
        <p:blipFill>
          <a:blip r:embed="rId3" cstate="print"/>
          <a:srcRect/>
          <a:stretch>
            <a:fillRect/>
          </a:stretch>
        </p:blipFill>
        <p:spPr bwMode="auto">
          <a:xfrm>
            <a:off x="377643" y="1769216"/>
            <a:ext cx="1896949" cy="1046129"/>
          </a:xfrm>
          <a:prstGeom prst="rect">
            <a:avLst/>
          </a:prstGeom>
          <a:noFill/>
        </p:spPr>
      </p:pic>
      <p:sp>
        <p:nvSpPr>
          <p:cNvPr id="11" name="Rectangle 10"/>
          <p:cNvSpPr/>
          <p:nvPr/>
        </p:nvSpPr>
        <p:spPr>
          <a:xfrm>
            <a:off x="3414007" y="2628277"/>
            <a:ext cx="2369559" cy="307777"/>
          </a:xfrm>
          <a:prstGeom prst="rect">
            <a:avLst/>
          </a:prstGeom>
        </p:spPr>
        <p:txBody>
          <a:bodyPr wrap="none">
            <a:spAutoFit/>
          </a:bodyPr>
          <a:lstStyle/>
          <a:p>
            <a:r>
              <a:rPr lang="en-AU" sz="1400" b="1" dirty="0" smtClean="0"/>
              <a:t>http://ositconference.com</a:t>
            </a:r>
          </a:p>
        </p:txBody>
      </p:sp>
      <p:sp>
        <p:nvSpPr>
          <p:cNvPr id="12" name="Rectangle 11"/>
          <p:cNvSpPr/>
          <p:nvPr/>
        </p:nvSpPr>
        <p:spPr>
          <a:xfrm>
            <a:off x="2857500" y="2407680"/>
            <a:ext cx="4572000" cy="307777"/>
          </a:xfrm>
          <a:prstGeom prst="rect">
            <a:avLst/>
          </a:prstGeom>
        </p:spPr>
        <p:txBody>
          <a:bodyPr>
            <a:spAutoFit/>
          </a:bodyPr>
          <a:lstStyle/>
          <a:p>
            <a:pPr lvl="1"/>
            <a:r>
              <a:rPr lang="en-AU" sz="1400" b="1" dirty="0" smtClean="0"/>
              <a:t>Registrations Open 5 March </a:t>
            </a:r>
          </a:p>
        </p:txBody>
      </p:sp>
      <p:sp>
        <p:nvSpPr>
          <p:cNvPr id="14" name="Rounded Rectangle 13"/>
          <p:cNvSpPr/>
          <p:nvPr/>
        </p:nvSpPr>
        <p:spPr>
          <a:xfrm>
            <a:off x="251520" y="1592803"/>
            <a:ext cx="6191250" cy="1337958"/>
          </a:xfrm>
          <a:prstGeom prst="roundRect">
            <a:avLst/>
          </a:prstGeom>
          <a:no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16" name="Straight Connector 15"/>
          <p:cNvCxnSpPr/>
          <p:nvPr/>
        </p:nvCxnSpPr>
        <p:spPr>
          <a:xfrm>
            <a:off x="2426394" y="1769216"/>
            <a:ext cx="0" cy="1046129"/>
          </a:xfrm>
          <a:prstGeom prst="line">
            <a:avLst/>
          </a:prstGeom>
          <a:ln w="19050">
            <a:solidFill>
              <a:srgbClr val="00206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426394" y="1561295"/>
            <a:ext cx="4016376" cy="892552"/>
          </a:xfrm>
          <a:prstGeom prst="rect">
            <a:avLst/>
          </a:prstGeom>
          <a:noFill/>
        </p:spPr>
        <p:txBody>
          <a:bodyPr wrap="square" rtlCol="0">
            <a:spAutoFit/>
          </a:bodyPr>
          <a:lstStyle/>
          <a:p>
            <a:pPr algn="ctr">
              <a:lnSpc>
                <a:spcPct val="150000"/>
              </a:lnSpc>
            </a:pPr>
            <a:r>
              <a:rPr lang="en-AU" sz="1600" b="1" dirty="0" smtClean="0"/>
              <a:t>Mark your Diaries!</a:t>
            </a:r>
          </a:p>
          <a:p>
            <a:pPr algn="ctr"/>
            <a:r>
              <a:rPr lang="en-AU" sz="1400" dirty="0" smtClean="0"/>
              <a:t>Occupational Safety in Transport Conference</a:t>
            </a:r>
          </a:p>
          <a:p>
            <a:pPr algn="ctr"/>
            <a:r>
              <a:rPr lang="en-AU" sz="1400" dirty="0" smtClean="0"/>
              <a:t>20-21 September 2012, Gold Coast</a:t>
            </a:r>
            <a:endParaRPr lang="en-AU" sz="1400" dirty="0"/>
          </a:p>
        </p:txBody>
      </p:sp>
      <p:pic>
        <p:nvPicPr>
          <p:cNvPr id="15" name="Picture 14"/>
          <p:cNvPicPr/>
          <p:nvPr/>
        </p:nvPicPr>
        <p:blipFill>
          <a:blip r:embed="rId4"/>
          <a:srcRect/>
          <a:stretch>
            <a:fillRect/>
          </a:stretch>
        </p:blipFill>
        <p:spPr bwMode="auto">
          <a:xfrm>
            <a:off x="6660235" y="1649234"/>
            <a:ext cx="2316075" cy="1281527"/>
          </a:xfrm>
          <a:prstGeom prst="rect">
            <a:avLst/>
          </a:prstGeom>
          <a:noFill/>
          <a:ln w="9525">
            <a:noFill/>
            <a:miter lim="800000"/>
            <a:headEnd/>
            <a:tailEnd/>
          </a:ln>
        </p:spPr>
      </p:pic>
      <p:pic>
        <p:nvPicPr>
          <p:cNvPr id="18" name="Picture 17" descr="http://upload.wikimedia.org/wikipedia/commons/e/ee/Brisbane_CBDandSB.jpg"/>
          <p:cNvPicPr/>
          <p:nvPr/>
        </p:nvPicPr>
        <p:blipFill>
          <a:blip r:embed="rId5"/>
          <a:srcRect/>
          <a:stretch>
            <a:fillRect/>
          </a:stretch>
        </p:blipFill>
        <p:spPr bwMode="auto">
          <a:xfrm>
            <a:off x="6660235" y="3344759"/>
            <a:ext cx="2316075" cy="1222263"/>
          </a:xfrm>
          <a:prstGeom prst="rect">
            <a:avLst/>
          </a:prstGeom>
          <a:noFill/>
          <a:ln w="9525">
            <a:noFill/>
            <a:miter lim="800000"/>
            <a:headEnd/>
            <a:tailEnd/>
          </a:ln>
        </p:spPr>
      </p:pic>
      <p:sp>
        <p:nvSpPr>
          <p:cNvPr id="19" name="Rounded Rectangle 18"/>
          <p:cNvSpPr/>
          <p:nvPr/>
        </p:nvSpPr>
        <p:spPr>
          <a:xfrm>
            <a:off x="251520" y="3229063"/>
            <a:ext cx="6191250" cy="1337958"/>
          </a:xfrm>
          <a:prstGeom prst="roundRect">
            <a:avLst/>
          </a:prstGeom>
          <a:no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20" name="Straight Connector 19"/>
          <p:cNvCxnSpPr/>
          <p:nvPr/>
        </p:nvCxnSpPr>
        <p:spPr>
          <a:xfrm>
            <a:off x="2426394" y="3344759"/>
            <a:ext cx="0" cy="1046129"/>
          </a:xfrm>
          <a:prstGeom prst="line">
            <a:avLst/>
          </a:prstGeom>
          <a:ln w="19050">
            <a:solidFill>
              <a:srgbClr val="002060"/>
            </a:solidFill>
          </a:ln>
        </p:spPr>
        <p:style>
          <a:lnRef idx="2">
            <a:schemeClr val="accent1"/>
          </a:lnRef>
          <a:fillRef idx="0">
            <a:schemeClr val="accent1"/>
          </a:fillRef>
          <a:effectRef idx="1">
            <a:schemeClr val="accent1"/>
          </a:effectRef>
          <a:fontRef idx="minor">
            <a:schemeClr val="tx1"/>
          </a:fontRef>
        </p:style>
      </p:cxnSp>
      <p:pic>
        <p:nvPicPr>
          <p:cNvPr id="1027" name="Picture 3"/>
          <p:cNvPicPr>
            <a:picLocks noChangeAspect="1" noChangeArrowheads="1"/>
          </p:cNvPicPr>
          <p:nvPr/>
        </p:nvPicPr>
        <p:blipFill>
          <a:blip r:embed="rId6"/>
          <a:srcRect/>
          <a:stretch>
            <a:fillRect/>
          </a:stretch>
        </p:blipFill>
        <p:spPr bwMode="auto">
          <a:xfrm>
            <a:off x="457203" y="3339866"/>
            <a:ext cx="1817389" cy="1051020"/>
          </a:xfrm>
          <a:prstGeom prst="rect">
            <a:avLst/>
          </a:prstGeom>
          <a:noFill/>
          <a:ln w="9525">
            <a:noFill/>
            <a:miter lim="800000"/>
            <a:headEnd/>
            <a:tailEnd/>
          </a:ln>
        </p:spPr>
      </p:pic>
      <p:sp>
        <p:nvSpPr>
          <p:cNvPr id="21" name="Rectangle 20"/>
          <p:cNvSpPr/>
          <p:nvPr/>
        </p:nvSpPr>
        <p:spPr>
          <a:xfrm>
            <a:off x="3851921" y="4259245"/>
            <a:ext cx="1555234" cy="307777"/>
          </a:xfrm>
          <a:prstGeom prst="rect">
            <a:avLst/>
          </a:prstGeom>
        </p:spPr>
        <p:txBody>
          <a:bodyPr wrap="none">
            <a:spAutoFit/>
          </a:bodyPr>
          <a:lstStyle/>
          <a:p>
            <a:r>
              <a:rPr lang="en-AU" sz="1400" b="1" dirty="0" smtClean="0"/>
              <a:t>http://t2013.com</a:t>
            </a:r>
          </a:p>
        </p:txBody>
      </p:sp>
      <p:sp>
        <p:nvSpPr>
          <p:cNvPr id="23" name="TextBox 22"/>
          <p:cNvSpPr txBox="1"/>
          <p:nvPr/>
        </p:nvSpPr>
        <p:spPr>
          <a:xfrm>
            <a:off x="2683958" y="3229063"/>
            <a:ext cx="3696900" cy="1107996"/>
          </a:xfrm>
          <a:prstGeom prst="rect">
            <a:avLst/>
          </a:prstGeom>
          <a:noFill/>
        </p:spPr>
        <p:txBody>
          <a:bodyPr wrap="square" rtlCol="0">
            <a:spAutoFit/>
          </a:bodyPr>
          <a:lstStyle/>
          <a:p>
            <a:pPr algn="ctr">
              <a:lnSpc>
                <a:spcPct val="150000"/>
              </a:lnSpc>
            </a:pPr>
            <a:r>
              <a:rPr lang="en-AU" sz="1600" b="1" dirty="0" smtClean="0"/>
              <a:t>Mark your Diaries!</a:t>
            </a:r>
          </a:p>
          <a:p>
            <a:pPr algn="ctr"/>
            <a:r>
              <a:rPr lang="en-AU" sz="1400" dirty="0" smtClean="0"/>
              <a:t>International Council on Alcohol, Drugs and Traffic Safety Conference (2013)</a:t>
            </a:r>
          </a:p>
          <a:p>
            <a:pPr algn="ctr"/>
            <a:r>
              <a:rPr lang="en-AU" sz="1400" dirty="0" smtClean="0"/>
              <a:t>25-28 August 2013, Brisbane</a:t>
            </a:r>
            <a:endParaRPr lang="en-AU" sz="1400" dirty="0"/>
          </a:p>
        </p:txBody>
      </p:sp>
      <p:sp>
        <p:nvSpPr>
          <p:cNvPr id="22" name="TextBox 21"/>
          <p:cNvSpPr txBox="1">
            <a:spLocks noChangeArrowheads="1"/>
          </p:cNvSpPr>
          <p:nvPr/>
        </p:nvSpPr>
        <p:spPr bwMode="auto">
          <a:xfrm>
            <a:off x="7429500" y="4958954"/>
            <a:ext cx="1714500" cy="246221"/>
          </a:xfrm>
          <a:prstGeom prst="rect">
            <a:avLst/>
          </a:prstGeom>
          <a:noFill/>
          <a:ln w="9525">
            <a:noFill/>
            <a:miter lim="800000"/>
            <a:headEnd/>
            <a:tailEnd/>
          </a:ln>
        </p:spPr>
        <p:txBody>
          <a:bodyPr>
            <a:spAutoFit/>
          </a:bodyPr>
          <a:lstStyle/>
          <a:p>
            <a:r>
              <a:rPr lang="en-AU" sz="1000" dirty="0">
                <a:solidFill>
                  <a:schemeClr val="bg1"/>
                </a:solidFill>
              </a:rPr>
              <a:t>CRICOS No. 00213J</a:t>
            </a:r>
          </a:p>
        </p:txBody>
      </p:sp>
    </p:spTree>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3">
      <a:dk1>
        <a:srgbClr val="005287"/>
      </a:dk1>
      <a:lt1>
        <a:sysClr val="window" lastClr="FFFFFF"/>
      </a:lt1>
      <a:dk2>
        <a:srgbClr val="CD1140"/>
      </a:dk2>
      <a:lt2>
        <a:srgbClr val="FFFFFF"/>
      </a:lt2>
      <a:accent1>
        <a:srgbClr val="CD1140"/>
      </a:accent1>
      <a:accent2>
        <a:srgbClr val="E2C54D"/>
      </a:accent2>
      <a:accent3>
        <a:srgbClr val="9BBB59"/>
      </a:accent3>
      <a:accent4>
        <a:srgbClr val="8064A2"/>
      </a:accent4>
      <a:accent5>
        <a:srgbClr val="4BACC6"/>
      </a:accent5>
      <a:accent6>
        <a:srgbClr val="F79646"/>
      </a:accent6>
      <a:hlink>
        <a:srgbClr val="CD1140"/>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1026</TotalTime>
  <Words>2843</Words>
  <Application>Microsoft Office PowerPoint</Application>
  <PresentationFormat>On-screen Show (16:9)</PresentationFormat>
  <Paragraphs>202</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Assessing the effectiveness of the child safety net: Linkage of hospital and Child Protection Services data on ‘maltreated’ and ‘unintentionally injured’ children</vt:lpstr>
      <vt:lpstr>Rationale for Research</vt:lpstr>
      <vt:lpstr>Value of hospital data</vt:lpstr>
      <vt:lpstr>Value of data linkage</vt:lpstr>
      <vt:lpstr>Gaps in current knowledge</vt:lpstr>
      <vt:lpstr>Aims of research</vt:lpstr>
      <vt:lpstr>Methods</vt:lpstr>
      <vt:lpstr>Data Linkage Methods</vt:lpstr>
      <vt:lpstr>Results</vt:lpstr>
      <vt:lpstr>Linkage results</vt:lpstr>
      <vt:lpstr>Slide 11</vt:lpstr>
      <vt:lpstr>Risk factors for recent CPS linkage for maltreatment code sample</vt:lpstr>
      <vt:lpstr>Risk factors for recent CPS linkage for unintentional injury code sample</vt:lpstr>
      <vt:lpstr>Conclusions</vt:lpstr>
      <vt:lpstr>Conclusions (continued)</vt:lpstr>
      <vt:lpstr>Data linkage implications</vt:lpstr>
      <vt:lpstr>Article details</vt:lpstr>
      <vt:lpstr>Acknowledgements</vt:lpstr>
      <vt:lpstr>Slide 19</vt:lpstr>
    </vt:vector>
  </TitlesOfParts>
  <Company>Evans and Hartshorn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Meredith Evans</dc:creator>
  <cp:lastModifiedBy>smithk22</cp:lastModifiedBy>
  <cp:revision>108</cp:revision>
  <dcterms:created xsi:type="dcterms:W3CDTF">2009-02-16T00:16:40Z</dcterms:created>
  <dcterms:modified xsi:type="dcterms:W3CDTF">2012-05-21T23:44:33Z</dcterms:modified>
</cp:coreProperties>
</file>