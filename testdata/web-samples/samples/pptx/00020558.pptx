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4" r:id="rId1"/>
    <p:sldMasterId id="2147483792" r:id="rId2"/>
    <p:sldMasterId id="2147483794" r:id="rId3"/>
  </p:sldMasterIdLst>
  <p:notesMasterIdLst>
    <p:notesMasterId r:id="rId112"/>
  </p:notesMasterIdLst>
  <p:handoutMasterIdLst>
    <p:handoutMasterId r:id="rId113"/>
  </p:handoutMasterIdLst>
  <p:sldIdLst>
    <p:sldId id="433" r:id="rId4"/>
    <p:sldId id="727" r:id="rId5"/>
    <p:sldId id="627" r:id="rId6"/>
    <p:sldId id="643" r:id="rId7"/>
    <p:sldId id="628" r:id="rId8"/>
    <p:sldId id="626" r:id="rId9"/>
    <p:sldId id="632" r:id="rId10"/>
    <p:sldId id="630" r:id="rId11"/>
    <p:sldId id="634" r:id="rId12"/>
    <p:sldId id="635" r:id="rId13"/>
    <p:sldId id="636" r:id="rId14"/>
    <p:sldId id="721" r:id="rId15"/>
    <p:sldId id="639" r:id="rId16"/>
    <p:sldId id="728" r:id="rId17"/>
    <p:sldId id="640" r:id="rId18"/>
    <p:sldId id="731" r:id="rId19"/>
    <p:sldId id="641" r:id="rId20"/>
    <p:sldId id="629" r:id="rId21"/>
    <p:sldId id="654" r:id="rId22"/>
    <p:sldId id="661" r:id="rId23"/>
    <p:sldId id="729" r:id="rId24"/>
    <p:sldId id="653" r:id="rId25"/>
    <p:sldId id="652" r:id="rId26"/>
    <p:sldId id="741" r:id="rId27"/>
    <p:sldId id="742" r:id="rId28"/>
    <p:sldId id="744" r:id="rId29"/>
    <p:sldId id="746" r:id="rId30"/>
    <p:sldId id="745" r:id="rId31"/>
    <p:sldId id="747" r:id="rId32"/>
    <p:sldId id="749" r:id="rId33"/>
    <p:sldId id="651" r:id="rId34"/>
    <p:sldId id="655" r:id="rId35"/>
    <p:sldId id="658" r:id="rId36"/>
    <p:sldId id="656" r:id="rId37"/>
    <p:sldId id="657" r:id="rId38"/>
    <p:sldId id="730" r:id="rId39"/>
    <p:sldId id="659" r:id="rId40"/>
    <p:sldId id="660" r:id="rId41"/>
    <p:sldId id="621" r:id="rId42"/>
    <p:sldId id="738" r:id="rId43"/>
    <p:sldId id="740" r:id="rId44"/>
    <p:sldId id="739" r:id="rId45"/>
    <p:sldId id="737" r:id="rId46"/>
    <p:sldId id="664" r:id="rId47"/>
    <p:sldId id="666" r:id="rId48"/>
    <p:sldId id="667" r:id="rId49"/>
    <p:sldId id="670" r:id="rId50"/>
    <p:sldId id="671" r:id="rId51"/>
    <p:sldId id="672" r:id="rId52"/>
    <p:sldId id="682" r:id="rId53"/>
    <p:sldId id="680" r:id="rId54"/>
    <p:sldId id="681" r:id="rId55"/>
    <p:sldId id="722" r:id="rId56"/>
    <p:sldId id="674" r:id="rId57"/>
    <p:sldId id="675" r:id="rId58"/>
    <p:sldId id="676" r:id="rId59"/>
    <p:sldId id="677" r:id="rId60"/>
    <p:sldId id="678" r:id="rId61"/>
    <p:sldId id="679" r:id="rId62"/>
    <p:sldId id="720" r:id="rId63"/>
    <p:sldId id="736" r:id="rId64"/>
    <p:sldId id="683" r:id="rId65"/>
    <p:sldId id="650" r:id="rId66"/>
    <p:sldId id="750" r:id="rId67"/>
    <p:sldId id="757" r:id="rId68"/>
    <p:sldId id="624" r:id="rId69"/>
    <p:sldId id="684" r:id="rId70"/>
    <p:sldId id="710" r:id="rId71"/>
    <p:sldId id="716" r:id="rId72"/>
    <p:sldId id="712" r:id="rId73"/>
    <p:sldId id="755" r:id="rId74"/>
    <p:sldId id="713" r:id="rId75"/>
    <p:sldId id="714" r:id="rId76"/>
    <p:sldId id="715" r:id="rId77"/>
    <p:sldId id="756" r:id="rId78"/>
    <p:sldId id="711" r:id="rId79"/>
    <p:sldId id="709" r:id="rId80"/>
    <p:sldId id="645" r:id="rId81"/>
    <p:sldId id="732" r:id="rId82"/>
    <p:sldId id="646" r:id="rId83"/>
    <p:sldId id="759" r:id="rId84"/>
    <p:sldId id="760" r:id="rId85"/>
    <p:sldId id="761" r:id="rId86"/>
    <p:sldId id="762" r:id="rId87"/>
    <p:sldId id="763" r:id="rId88"/>
    <p:sldId id="764" r:id="rId89"/>
    <p:sldId id="765" r:id="rId90"/>
    <p:sldId id="766" r:id="rId91"/>
    <p:sldId id="767" r:id="rId92"/>
    <p:sldId id="768" r:id="rId93"/>
    <p:sldId id="769" r:id="rId94"/>
    <p:sldId id="770" r:id="rId95"/>
    <p:sldId id="771" r:id="rId96"/>
    <p:sldId id="772" r:id="rId97"/>
    <p:sldId id="773" r:id="rId98"/>
    <p:sldId id="774" r:id="rId99"/>
    <p:sldId id="775" r:id="rId100"/>
    <p:sldId id="776" r:id="rId101"/>
    <p:sldId id="777" r:id="rId102"/>
    <p:sldId id="778" r:id="rId103"/>
    <p:sldId id="779" r:id="rId104"/>
    <p:sldId id="751" r:id="rId105"/>
    <p:sldId id="752" r:id="rId106"/>
    <p:sldId id="753" r:id="rId107"/>
    <p:sldId id="717" r:id="rId108"/>
    <p:sldId id="718" r:id="rId109"/>
    <p:sldId id="754" r:id="rId110"/>
    <p:sldId id="616" r:id="rId111"/>
  </p:sldIdLst>
  <p:sldSz cx="9144000" cy="6858000" type="screen4x3"/>
  <p:notesSz cx="6858000" cy="9144000"/>
  <p:embeddedFontLst>
    <p:embeddedFont>
      <p:font typeface="Segoe UI" pitchFamily="34" charset="0"/>
      <p:regular r:id="rId114"/>
      <p:bold r:id="rId115"/>
      <p:italic r:id="rId116"/>
      <p:boldItalic r:id="rId117"/>
    </p:embeddedFont>
    <p:embeddedFont>
      <p:font typeface="Consolas" pitchFamily="49" charset="0"/>
      <p:regular r:id="rId118"/>
      <p:bold r:id="rId119"/>
      <p:italic r:id="rId120"/>
      <p:boldItalic r:id="rId121"/>
    </p:embeddedFont>
    <p:embeddedFont>
      <p:font typeface="Segoe Light" pitchFamily="34" charset="0"/>
      <p:regular r:id="rId122"/>
      <p:italic r:id="rId123"/>
    </p:embeddedFont>
    <p:embeddedFont>
      <p:font typeface="Segoe" pitchFamily="34" charset="0"/>
      <p:regular r:id="rId124"/>
      <p:bold r:id="rId125"/>
      <p:italic r:id="rId126"/>
      <p:boldItalic r:id="rId127"/>
    </p:embeddedFont>
  </p:embeddedFontLst>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E. Alban" initials="BE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557EB9"/>
    <a:srgbClr val="FFC211"/>
    <a:srgbClr val="FFFFFF"/>
    <a:srgbClr val="000000"/>
    <a:srgbClr val="292929"/>
    <a:srgbClr val="F8F57B"/>
    <a:srgbClr val="F6AE1E"/>
    <a:srgbClr val="FF0066"/>
    <a:srgbClr val="F3AF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0155" autoAdjust="0"/>
    <p:restoredTop sz="88345" autoAdjust="0"/>
  </p:normalViewPr>
  <p:slideViewPr>
    <p:cSldViewPr snapToGrid="0">
      <p:cViewPr>
        <p:scale>
          <a:sx n="70" d="100"/>
          <a:sy n="70" d="100"/>
        </p:scale>
        <p:origin x="-90" y="-48"/>
      </p:cViewPr>
      <p:guideLst>
        <p:guide orient="horz" pos="272"/>
        <p:guide orient="horz" pos="1200"/>
        <p:guide orient="horz" pos="2736"/>
        <p:guide orient="horz" pos="4048"/>
        <p:guide orient="horz" pos="1488"/>
        <p:guide orient="horz" pos="912"/>
        <p:guide orient="horz" pos="2161"/>
        <p:guide orient="horz" pos="3226"/>
        <p:guide pos="2880"/>
        <p:guide pos="240"/>
        <p:guide pos="903"/>
        <p:guide pos="5519"/>
        <p:guide pos="5417"/>
        <p:guide pos="347"/>
        <p:guide pos="48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1314"/>
    </p:cViewPr>
  </p:sorterViewPr>
  <p:notesViewPr>
    <p:cSldViewPr snapToGrid="0" showGuides="1">
      <p:cViewPr varScale="1">
        <p:scale>
          <a:sx n="74" d="100"/>
          <a:sy n="74" d="100"/>
        </p:scale>
        <p:origin x="-2676"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font" Target="fonts/font4.fntdata"/><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notesMaster" Target="notesMasters/notesMaster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font" Target="fonts/font10.fntdata"/><Relationship Id="rId128" Type="http://schemas.openxmlformats.org/officeDocument/2006/relationships/commentAuthors" Target="commentAuthor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13" Type="http://schemas.openxmlformats.org/officeDocument/2006/relationships/handoutMaster" Target="handoutMasters/handoutMaster1.xml"/><Relationship Id="rId118" Type="http://schemas.openxmlformats.org/officeDocument/2006/relationships/font" Target="fonts/font5.fntdata"/><Relationship Id="rId126" Type="http://schemas.openxmlformats.org/officeDocument/2006/relationships/font" Target="fonts/font13.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font" Target="fonts/font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slide" Target="slides/slide100.xml"/><Relationship Id="rId108" Type="http://schemas.openxmlformats.org/officeDocument/2006/relationships/slide" Target="slides/slide105.xml"/><Relationship Id="rId116" Type="http://schemas.openxmlformats.org/officeDocument/2006/relationships/font" Target="fonts/font3.fntdata"/><Relationship Id="rId124" Type="http://schemas.openxmlformats.org/officeDocument/2006/relationships/font" Target="fonts/font11.fntdata"/><Relationship Id="rId12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11" Type="http://schemas.openxmlformats.org/officeDocument/2006/relationships/slide" Target="slides/slide108.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font" Target="fonts/font1.fntdata"/><Relationship Id="rId119" Type="http://schemas.openxmlformats.org/officeDocument/2006/relationships/font" Target="fonts/font6.fntdata"/><Relationship Id="rId127" Type="http://schemas.openxmlformats.org/officeDocument/2006/relationships/font" Target="fonts/font1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font" Target="fonts/font9.fntdata"/><Relationship Id="rId13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font" Target="fonts/font7.fntdata"/><Relationship Id="rId125" Type="http://schemas.openxmlformats.org/officeDocument/2006/relationships/font" Target="fonts/font12.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font" Target="fonts/font2.fntdata"/><Relationship Id="rId131"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3742FB-222D-4F80-91BA-D0782B0C90B8}"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n-AU"/>
        </a:p>
      </dgm:t>
    </dgm:pt>
    <dgm:pt modelId="{03D0DDC8-B09E-4EA3-B0E5-612229455C59}">
      <dgm:prSet phldrT="[Text]"/>
      <dgm:spPr/>
      <dgm:t>
        <a:bodyPr/>
        <a:lstStyle/>
        <a:p>
          <a:r>
            <a:rPr lang="en-US" dirty="0" smtClean="0">
              <a:solidFill>
                <a:schemeClr val="bg1"/>
              </a:solidFill>
              <a:latin typeface="+mn-lt"/>
            </a:rPr>
            <a:t>Running</a:t>
          </a:r>
          <a:endParaRPr lang="en-AU" dirty="0">
            <a:solidFill>
              <a:schemeClr val="bg1"/>
            </a:solidFill>
            <a:latin typeface="+mn-lt"/>
          </a:endParaRPr>
        </a:p>
      </dgm:t>
    </dgm:pt>
    <dgm:pt modelId="{90DAAB70-E93F-4709-8DAD-BA3D29A5C724}" type="parTrans" cxnId="{7B0A7A2A-D9BC-4799-9C0B-C6BF681F7FCE}">
      <dgm:prSet/>
      <dgm:spPr/>
      <dgm:t>
        <a:bodyPr/>
        <a:lstStyle/>
        <a:p>
          <a:endParaRPr lang="en-AU">
            <a:solidFill>
              <a:schemeClr val="bg1"/>
            </a:solidFill>
            <a:latin typeface="+mn-lt"/>
          </a:endParaRPr>
        </a:p>
      </dgm:t>
    </dgm:pt>
    <dgm:pt modelId="{2B7665D6-27E1-4416-8FBE-2286C17DA16B}" type="sibTrans" cxnId="{7B0A7A2A-D9BC-4799-9C0B-C6BF681F7FCE}">
      <dgm:prSet/>
      <dgm:spPr/>
      <dgm:t>
        <a:bodyPr/>
        <a:lstStyle/>
        <a:p>
          <a:endParaRPr lang="en-AU">
            <a:solidFill>
              <a:schemeClr val="bg1"/>
            </a:solidFill>
            <a:latin typeface="+mn-lt"/>
          </a:endParaRPr>
        </a:p>
      </dgm:t>
    </dgm:pt>
    <dgm:pt modelId="{D9C9F332-5BE0-47FE-A4B2-A93D8A50A65C}">
      <dgm:prSet/>
      <dgm:spPr/>
      <dgm:t>
        <a:bodyPr/>
        <a:lstStyle/>
        <a:p>
          <a:r>
            <a:rPr lang="en-US" dirty="0" smtClean="0">
              <a:solidFill>
                <a:schemeClr val="bg1"/>
              </a:solidFill>
              <a:latin typeface="+mn-lt"/>
            </a:rPr>
            <a:t>Not running</a:t>
          </a:r>
          <a:endParaRPr lang="en-AU" dirty="0">
            <a:solidFill>
              <a:schemeClr val="bg1"/>
            </a:solidFill>
            <a:latin typeface="+mn-lt"/>
          </a:endParaRPr>
        </a:p>
      </dgm:t>
    </dgm:pt>
    <dgm:pt modelId="{1ACBFBD2-11DF-451D-B68A-717D113C80B5}" type="parTrans" cxnId="{678A4500-5D0F-4345-A60D-9B4D2097EA5B}">
      <dgm:prSet/>
      <dgm:spPr/>
      <dgm:t>
        <a:bodyPr/>
        <a:lstStyle/>
        <a:p>
          <a:endParaRPr lang="en-AU">
            <a:solidFill>
              <a:schemeClr val="bg1"/>
            </a:solidFill>
            <a:latin typeface="+mn-lt"/>
          </a:endParaRPr>
        </a:p>
      </dgm:t>
    </dgm:pt>
    <dgm:pt modelId="{79E6761F-A8FD-4767-98B9-303B41979C65}" type="sibTrans" cxnId="{678A4500-5D0F-4345-A60D-9B4D2097EA5B}">
      <dgm:prSet/>
      <dgm:spPr/>
      <dgm:t>
        <a:bodyPr/>
        <a:lstStyle/>
        <a:p>
          <a:endParaRPr lang="en-AU">
            <a:solidFill>
              <a:schemeClr val="bg1"/>
            </a:solidFill>
            <a:latin typeface="+mn-lt"/>
          </a:endParaRPr>
        </a:p>
      </dgm:t>
    </dgm:pt>
    <dgm:pt modelId="{9EA3A495-92D5-4D6F-B433-DF0FCEF21651}">
      <dgm:prSet/>
      <dgm:spPr/>
      <dgm:t>
        <a:bodyPr/>
        <a:lstStyle/>
        <a:p>
          <a:r>
            <a:rPr lang="en-US" dirty="0" smtClean="0">
              <a:solidFill>
                <a:schemeClr val="bg1"/>
              </a:solidFill>
              <a:latin typeface="+mn-lt"/>
            </a:rPr>
            <a:t>Launching</a:t>
          </a:r>
          <a:endParaRPr lang="en-AU" dirty="0">
            <a:solidFill>
              <a:schemeClr val="bg1"/>
            </a:solidFill>
            <a:latin typeface="+mn-lt"/>
          </a:endParaRPr>
        </a:p>
      </dgm:t>
    </dgm:pt>
    <dgm:pt modelId="{A0783D2B-4A54-4533-AE44-862EC43D98F8}" type="parTrans" cxnId="{78F2041F-2F8C-4C10-A8C5-12A082191A1C}">
      <dgm:prSet/>
      <dgm:spPr/>
      <dgm:t>
        <a:bodyPr/>
        <a:lstStyle/>
        <a:p>
          <a:endParaRPr lang="en-AU">
            <a:solidFill>
              <a:schemeClr val="bg1"/>
            </a:solidFill>
            <a:latin typeface="+mn-lt"/>
          </a:endParaRPr>
        </a:p>
      </dgm:t>
    </dgm:pt>
    <dgm:pt modelId="{AB4B6717-CEEF-4B09-8D3F-B41FE160EA50}" type="sibTrans" cxnId="{78F2041F-2F8C-4C10-A8C5-12A082191A1C}">
      <dgm:prSet/>
      <dgm:spPr/>
      <dgm:t>
        <a:bodyPr/>
        <a:lstStyle/>
        <a:p>
          <a:endParaRPr lang="en-AU">
            <a:solidFill>
              <a:schemeClr val="bg1"/>
            </a:solidFill>
            <a:latin typeface="+mn-lt"/>
          </a:endParaRPr>
        </a:p>
      </dgm:t>
    </dgm:pt>
    <dgm:pt modelId="{FAFB3019-B47F-4AB9-936C-6DB1B10A5C76}">
      <dgm:prSet phldrT="[Text]"/>
      <dgm:spPr>
        <a:solidFill>
          <a:schemeClr val="accent5">
            <a:lumMod val="50000"/>
          </a:schemeClr>
        </a:solidFill>
      </dgm:spPr>
      <dgm:t>
        <a:bodyPr/>
        <a:lstStyle/>
        <a:p>
          <a:r>
            <a:rPr lang="en-US" dirty="0" smtClean="0">
              <a:solidFill>
                <a:schemeClr val="bg1"/>
              </a:solidFill>
              <a:latin typeface="+mn-lt"/>
            </a:rPr>
            <a:t>Closing</a:t>
          </a:r>
          <a:endParaRPr lang="en-AU" dirty="0">
            <a:solidFill>
              <a:schemeClr val="bg1"/>
            </a:solidFill>
            <a:latin typeface="+mn-lt"/>
          </a:endParaRPr>
        </a:p>
      </dgm:t>
    </dgm:pt>
    <dgm:pt modelId="{D499BD54-4DB6-4545-90CC-E1318DC97390}" type="parTrans" cxnId="{6E715FA7-12AA-4FA4-BD33-C9C659F4E9AA}">
      <dgm:prSet/>
      <dgm:spPr/>
      <dgm:t>
        <a:bodyPr/>
        <a:lstStyle/>
        <a:p>
          <a:endParaRPr lang="en-AU">
            <a:solidFill>
              <a:schemeClr val="bg1"/>
            </a:solidFill>
            <a:latin typeface="+mn-lt"/>
          </a:endParaRPr>
        </a:p>
      </dgm:t>
    </dgm:pt>
    <dgm:pt modelId="{1ACCF01D-0273-4163-AF19-7008250339DF}" type="sibTrans" cxnId="{6E715FA7-12AA-4FA4-BD33-C9C659F4E9AA}">
      <dgm:prSet/>
      <dgm:spPr>
        <a:solidFill>
          <a:schemeClr val="accent5">
            <a:lumMod val="50000"/>
          </a:schemeClr>
        </a:solidFill>
      </dgm:spPr>
      <dgm:t>
        <a:bodyPr/>
        <a:lstStyle/>
        <a:p>
          <a:endParaRPr lang="en-AU">
            <a:solidFill>
              <a:schemeClr val="bg1"/>
            </a:solidFill>
            <a:latin typeface="+mn-lt"/>
          </a:endParaRPr>
        </a:p>
      </dgm:t>
    </dgm:pt>
    <dgm:pt modelId="{AEC1273E-69AF-418C-98A7-3592EA695D04}" type="pres">
      <dgm:prSet presAssocID="{1D3742FB-222D-4F80-91BA-D0782B0C90B8}" presName="cycle" presStyleCnt="0">
        <dgm:presLayoutVars>
          <dgm:dir/>
          <dgm:resizeHandles val="exact"/>
        </dgm:presLayoutVars>
      </dgm:prSet>
      <dgm:spPr/>
      <dgm:t>
        <a:bodyPr/>
        <a:lstStyle/>
        <a:p>
          <a:endParaRPr lang="en-US"/>
        </a:p>
      </dgm:t>
    </dgm:pt>
    <dgm:pt modelId="{65ECBEB9-F710-4FB5-9FDA-9D7BA5DC9D12}" type="pres">
      <dgm:prSet presAssocID="{D9C9F332-5BE0-47FE-A4B2-A93D8A50A65C}" presName="node" presStyleLbl="node1" presStyleIdx="0" presStyleCnt="4" custScaleX="102210" custScaleY="107589">
        <dgm:presLayoutVars>
          <dgm:bulletEnabled val="1"/>
        </dgm:presLayoutVars>
      </dgm:prSet>
      <dgm:spPr/>
      <dgm:t>
        <a:bodyPr/>
        <a:lstStyle/>
        <a:p>
          <a:endParaRPr lang="en-AU"/>
        </a:p>
      </dgm:t>
    </dgm:pt>
    <dgm:pt modelId="{044FDCD0-2B6D-494B-9863-0CCCAE69F911}" type="pres">
      <dgm:prSet presAssocID="{79E6761F-A8FD-4767-98B9-303B41979C65}" presName="sibTrans" presStyleLbl="sibTrans2D1" presStyleIdx="0" presStyleCnt="4"/>
      <dgm:spPr/>
      <dgm:t>
        <a:bodyPr/>
        <a:lstStyle/>
        <a:p>
          <a:endParaRPr lang="en-US"/>
        </a:p>
      </dgm:t>
    </dgm:pt>
    <dgm:pt modelId="{6D0F2CEC-7B2B-4667-8E37-556F8129FD64}" type="pres">
      <dgm:prSet presAssocID="{79E6761F-A8FD-4767-98B9-303B41979C65}" presName="connectorText" presStyleLbl="sibTrans2D1" presStyleIdx="0" presStyleCnt="4"/>
      <dgm:spPr/>
      <dgm:t>
        <a:bodyPr/>
        <a:lstStyle/>
        <a:p>
          <a:endParaRPr lang="en-US"/>
        </a:p>
      </dgm:t>
    </dgm:pt>
    <dgm:pt modelId="{57172215-9C60-4BCB-BB54-359A4A883967}" type="pres">
      <dgm:prSet presAssocID="{9EA3A495-92D5-4D6F-B433-DF0FCEF21651}" presName="node" presStyleLbl="node1" presStyleIdx="1" presStyleCnt="4" custScaleX="107589" custScaleY="107589">
        <dgm:presLayoutVars>
          <dgm:bulletEnabled val="1"/>
        </dgm:presLayoutVars>
      </dgm:prSet>
      <dgm:spPr/>
      <dgm:t>
        <a:bodyPr/>
        <a:lstStyle/>
        <a:p>
          <a:endParaRPr lang="en-US"/>
        </a:p>
      </dgm:t>
    </dgm:pt>
    <dgm:pt modelId="{1431B9D6-53E8-4491-8FA1-A49DE8DCC3C5}" type="pres">
      <dgm:prSet presAssocID="{AB4B6717-CEEF-4B09-8D3F-B41FE160EA50}" presName="sibTrans" presStyleLbl="sibTrans2D1" presStyleIdx="1" presStyleCnt="4"/>
      <dgm:spPr/>
      <dgm:t>
        <a:bodyPr/>
        <a:lstStyle/>
        <a:p>
          <a:endParaRPr lang="en-US"/>
        </a:p>
      </dgm:t>
    </dgm:pt>
    <dgm:pt modelId="{759657F3-80CE-4C67-BB8D-7CC12A94FFDC}" type="pres">
      <dgm:prSet presAssocID="{AB4B6717-CEEF-4B09-8D3F-B41FE160EA50}" presName="connectorText" presStyleLbl="sibTrans2D1" presStyleIdx="1" presStyleCnt="4"/>
      <dgm:spPr/>
      <dgm:t>
        <a:bodyPr/>
        <a:lstStyle/>
        <a:p>
          <a:endParaRPr lang="en-US"/>
        </a:p>
      </dgm:t>
    </dgm:pt>
    <dgm:pt modelId="{D56E9F4F-34FA-4AAA-A834-D9584C78E36F}" type="pres">
      <dgm:prSet presAssocID="{03D0DDC8-B09E-4EA3-B0E5-612229455C59}" presName="node" presStyleLbl="node1" presStyleIdx="2" presStyleCnt="4" custScaleX="107589" custScaleY="107589">
        <dgm:presLayoutVars>
          <dgm:bulletEnabled val="1"/>
        </dgm:presLayoutVars>
      </dgm:prSet>
      <dgm:spPr/>
      <dgm:t>
        <a:bodyPr/>
        <a:lstStyle/>
        <a:p>
          <a:endParaRPr lang="en-AU"/>
        </a:p>
      </dgm:t>
    </dgm:pt>
    <dgm:pt modelId="{E6904C83-A85B-401F-B94C-A4DAEA094A14}" type="pres">
      <dgm:prSet presAssocID="{2B7665D6-27E1-4416-8FBE-2286C17DA16B}" presName="sibTrans" presStyleLbl="sibTrans2D1" presStyleIdx="2" presStyleCnt="4"/>
      <dgm:spPr/>
      <dgm:t>
        <a:bodyPr/>
        <a:lstStyle/>
        <a:p>
          <a:endParaRPr lang="en-US"/>
        </a:p>
      </dgm:t>
    </dgm:pt>
    <dgm:pt modelId="{0CF37345-4087-4850-B712-B8C0CA2A4047}" type="pres">
      <dgm:prSet presAssocID="{2B7665D6-27E1-4416-8FBE-2286C17DA16B}" presName="connectorText" presStyleLbl="sibTrans2D1" presStyleIdx="2" presStyleCnt="4"/>
      <dgm:spPr/>
      <dgm:t>
        <a:bodyPr/>
        <a:lstStyle/>
        <a:p>
          <a:endParaRPr lang="en-US"/>
        </a:p>
      </dgm:t>
    </dgm:pt>
    <dgm:pt modelId="{7A4BFCEB-AA00-4CDD-8D01-040B4C1A01A9}" type="pres">
      <dgm:prSet presAssocID="{FAFB3019-B47F-4AB9-936C-6DB1B10A5C76}" presName="node" presStyleLbl="node1" presStyleIdx="3" presStyleCnt="4" custScaleX="107589" custScaleY="107589" custRadScaleRad="100506" custRadScaleInc="1365">
        <dgm:presLayoutVars>
          <dgm:bulletEnabled val="1"/>
        </dgm:presLayoutVars>
      </dgm:prSet>
      <dgm:spPr/>
      <dgm:t>
        <a:bodyPr/>
        <a:lstStyle/>
        <a:p>
          <a:endParaRPr lang="en-AU"/>
        </a:p>
      </dgm:t>
    </dgm:pt>
    <dgm:pt modelId="{871DEEF3-E8F0-40CE-A84E-E235D1494FC7}" type="pres">
      <dgm:prSet presAssocID="{1ACCF01D-0273-4163-AF19-7008250339DF}" presName="sibTrans" presStyleLbl="sibTrans2D1" presStyleIdx="3" presStyleCnt="4"/>
      <dgm:spPr/>
      <dgm:t>
        <a:bodyPr/>
        <a:lstStyle/>
        <a:p>
          <a:endParaRPr lang="en-US"/>
        </a:p>
      </dgm:t>
    </dgm:pt>
    <dgm:pt modelId="{71E80F42-61C5-473C-AD8D-F3BC323309A6}" type="pres">
      <dgm:prSet presAssocID="{1ACCF01D-0273-4163-AF19-7008250339DF}" presName="connectorText" presStyleLbl="sibTrans2D1" presStyleIdx="3" presStyleCnt="4"/>
      <dgm:spPr/>
      <dgm:t>
        <a:bodyPr/>
        <a:lstStyle/>
        <a:p>
          <a:endParaRPr lang="en-US"/>
        </a:p>
      </dgm:t>
    </dgm:pt>
  </dgm:ptLst>
  <dgm:cxnLst>
    <dgm:cxn modelId="{12FE4125-5462-47A1-BCDE-CB8D9580FAAD}" type="presOf" srcId="{03D0DDC8-B09E-4EA3-B0E5-612229455C59}" destId="{D56E9F4F-34FA-4AAA-A834-D9584C78E36F}" srcOrd="0" destOrd="0" presId="urn:microsoft.com/office/officeart/2005/8/layout/cycle2"/>
    <dgm:cxn modelId="{6A4E936C-7526-4616-8CAF-5C44271A67DC}" type="presOf" srcId="{79E6761F-A8FD-4767-98B9-303B41979C65}" destId="{6D0F2CEC-7B2B-4667-8E37-556F8129FD64}" srcOrd="1" destOrd="0" presId="urn:microsoft.com/office/officeart/2005/8/layout/cycle2"/>
    <dgm:cxn modelId="{7B0A7A2A-D9BC-4799-9C0B-C6BF681F7FCE}" srcId="{1D3742FB-222D-4F80-91BA-D0782B0C90B8}" destId="{03D0DDC8-B09E-4EA3-B0E5-612229455C59}" srcOrd="2" destOrd="0" parTransId="{90DAAB70-E93F-4709-8DAD-BA3D29A5C724}" sibTransId="{2B7665D6-27E1-4416-8FBE-2286C17DA16B}"/>
    <dgm:cxn modelId="{05036A57-F7CC-45AC-BC5F-AC94FCB6C257}" type="presOf" srcId="{79E6761F-A8FD-4767-98B9-303B41979C65}" destId="{044FDCD0-2B6D-494B-9863-0CCCAE69F911}" srcOrd="0" destOrd="0" presId="urn:microsoft.com/office/officeart/2005/8/layout/cycle2"/>
    <dgm:cxn modelId="{678A4500-5D0F-4345-A60D-9B4D2097EA5B}" srcId="{1D3742FB-222D-4F80-91BA-D0782B0C90B8}" destId="{D9C9F332-5BE0-47FE-A4B2-A93D8A50A65C}" srcOrd="0" destOrd="0" parTransId="{1ACBFBD2-11DF-451D-B68A-717D113C80B5}" sibTransId="{79E6761F-A8FD-4767-98B9-303B41979C65}"/>
    <dgm:cxn modelId="{6E715FA7-12AA-4FA4-BD33-C9C659F4E9AA}" srcId="{1D3742FB-222D-4F80-91BA-D0782B0C90B8}" destId="{FAFB3019-B47F-4AB9-936C-6DB1B10A5C76}" srcOrd="3" destOrd="0" parTransId="{D499BD54-4DB6-4545-90CC-E1318DC97390}" sibTransId="{1ACCF01D-0273-4163-AF19-7008250339DF}"/>
    <dgm:cxn modelId="{1080AB9C-CD40-409B-B21E-17FAA5DCF3D8}" type="presOf" srcId="{FAFB3019-B47F-4AB9-936C-6DB1B10A5C76}" destId="{7A4BFCEB-AA00-4CDD-8D01-040B4C1A01A9}" srcOrd="0" destOrd="0" presId="urn:microsoft.com/office/officeart/2005/8/layout/cycle2"/>
    <dgm:cxn modelId="{39B0B058-77C9-46D2-AA8B-C2F09E06E33D}" type="presOf" srcId="{AB4B6717-CEEF-4B09-8D3F-B41FE160EA50}" destId="{1431B9D6-53E8-4491-8FA1-A49DE8DCC3C5}" srcOrd="0" destOrd="0" presId="urn:microsoft.com/office/officeart/2005/8/layout/cycle2"/>
    <dgm:cxn modelId="{78F2041F-2F8C-4C10-A8C5-12A082191A1C}" srcId="{1D3742FB-222D-4F80-91BA-D0782B0C90B8}" destId="{9EA3A495-92D5-4D6F-B433-DF0FCEF21651}" srcOrd="1" destOrd="0" parTransId="{A0783D2B-4A54-4533-AE44-862EC43D98F8}" sibTransId="{AB4B6717-CEEF-4B09-8D3F-B41FE160EA50}"/>
    <dgm:cxn modelId="{079500B3-FC30-4215-B8BA-F00ABE0CA56F}" type="presOf" srcId="{2B7665D6-27E1-4416-8FBE-2286C17DA16B}" destId="{E6904C83-A85B-401F-B94C-A4DAEA094A14}" srcOrd="0" destOrd="0" presId="urn:microsoft.com/office/officeart/2005/8/layout/cycle2"/>
    <dgm:cxn modelId="{F37566FC-58DF-4D7B-A031-06C75DD928A8}" type="presOf" srcId="{1ACCF01D-0273-4163-AF19-7008250339DF}" destId="{871DEEF3-E8F0-40CE-A84E-E235D1494FC7}" srcOrd="0" destOrd="0" presId="urn:microsoft.com/office/officeart/2005/8/layout/cycle2"/>
    <dgm:cxn modelId="{17382D56-E3BC-4E0A-8217-28678D34A3D2}" type="presOf" srcId="{9EA3A495-92D5-4D6F-B433-DF0FCEF21651}" destId="{57172215-9C60-4BCB-BB54-359A4A883967}" srcOrd="0" destOrd="0" presId="urn:microsoft.com/office/officeart/2005/8/layout/cycle2"/>
    <dgm:cxn modelId="{E75FEDD7-74D0-4796-ACD6-7FD27ACE33DD}" type="presOf" srcId="{D9C9F332-5BE0-47FE-A4B2-A93D8A50A65C}" destId="{65ECBEB9-F710-4FB5-9FDA-9D7BA5DC9D12}" srcOrd="0" destOrd="0" presId="urn:microsoft.com/office/officeart/2005/8/layout/cycle2"/>
    <dgm:cxn modelId="{CF0C74F3-794B-4A93-BD73-0F8103006B99}" type="presOf" srcId="{1ACCF01D-0273-4163-AF19-7008250339DF}" destId="{71E80F42-61C5-473C-AD8D-F3BC323309A6}" srcOrd="1" destOrd="0" presId="urn:microsoft.com/office/officeart/2005/8/layout/cycle2"/>
    <dgm:cxn modelId="{32073454-91E4-49BF-88A7-39518657ECB7}" type="presOf" srcId="{1D3742FB-222D-4F80-91BA-D0782B0C90B8}" destId="{AEC1273E-69AF-418C-98A7-3592EA695D04}" srcOrd="0" destOrd="0" presId="urn:microsoft.com/office/officeart/2005/8/layout/cycle2"/>
    <dgm:cxn modelId="{B00FCDA4-375F-4B8F-B3C5-8BB2DD54BE1F}" type="presOf" srcId="{2B7665D6-27E1-4416-8FBE-2286C17DA16B}" destId="{0CF37345-4087-4850-B712-B8C0CA2A4047}" srcOrd="1" destOrd="0" presId="urn:microsoft.com/office/officeart/2005/8/layout/cycle2"/>
    <dgm:cxn modelId="{BC401885-83A0-4047-9411-3D08C0753290}" type="presOf" srcId="{AB4B6717-CEEF-4B09-8D3F-B41FE160EA50}" destId="{759657F3-80CE-4C67-BB8D-7CC12A94FFDC}" srcOrd="1" destOrd="0" presId="urn:microsoft.com/office/officeart/2005/8/layout/cycle2"/>
    <dgm:cxn modelId="{26A0E7B2-3848-4837-9FEF-43CEC7D9F41E}" type="presParOf" srcId="{AEC1273E-69AF-418C-98A7-3592EA695D04}" destId="{65ECBEB9-F710-4FB5-9FDA-9D7BA5DC9D12}" srcOrd="0" destOrd="0" presId="urn:microsoft.com/office/officeart/2005/8/layout/cycle2"/>
    <dgm:cxn modelId="{926E27CE-11ED-439E-BDC4-0765FF7F8624}" type="presParOf" srcId="{AEC1273E-69AF-418C-98A7-3592EA695D04}" destId="{044FDCD0-2B6D-494B-9863-0CCCAE69F911}" srcOrd="1" destOrd="0" presId="urn:microsoft.com/office/officeart/2005/8/layout/cycle2"/>
    <dgm:cxn modelId="{AF9DE1B5-4435-4197-928B-BE7152620790}" type="presParOf" srcId="{044FDCD0-2B6D-494B-9863-0CCCAE69F911}" destId="{6D0F2CEC-7B2B-4667-8E37-556F8129FD64}" srcOrd="0" destOrd="0" presId="urn:microsoft.com/office/officeart/2005/8/layout/cycle2"/>
    <dgm:cxn modelId="{B19F4E10-0C37-425F-A152-4D02B364E650}" type="presParOf" srcId="{AEC1273E-69AF-418C-98A7-3592EA695D04}" destId="{57172215-9C60-4BCB-BB54-359A4A883967}" srcOrd="2" destOrd="0" presId="urn:microsoft.com/office/officeart/2005/8/layout/cycle2"/>
    <dgm:cxn modelId="{EA138EA2-FA98-4443-B2DE-95870E6BF19B}" type="presParOf" srcId="{AEC1273E-69AF-418C-98A7-3592EA695D04}" destId="{1431B9D6-53E8-4491-8FA1-A49DE8DCC3C5}" srcOrd="3" destOrd="0" presId="urn:microsoft.com/office/officeart/2005/8/layout/cycle2"/>
    <dgm:cxn modelId="{0B8CE5BB-7CB2-40EE-9F41-2AFD3731C77D}" type="presParOf" srcId="{1431B9D6-53E8-4491-8FA1-A49DE8DCC3C5}" destId="{759657F3-80CE-4C67-BB8D-7CC12A94FFDC}" srcOrd="0" destOrd="0" presId="urn:microsoft.com/office/officeart/2005/8/layout/cycle2"/>
    <dgm:cxn modelId="{ADE46B53-E7F7-4A92-B69E-D3A84B412644}" type="presParOf" srcId="{AEC1273E-69AF-418C-98A7-3592EA695D04}" destId="{D56E9F4F-34FA-4AAA-A834-D9584C78E36F}" srcOrd="4" destOrd="0" presId="urn:microsoft.com/office/officeart/2005/8/layout/cycle2"/>
    <dgm:cxn modelId="{7AB5D992-550C-4581-8BAE-A7361ABE1DE1}" type="presParOf" srcId="{AEC1273E-69AF-418C-98A7-3592EA695D04}" destId="{E6904C83-A85B-401F-B94C-A4DAEA094A14}" srcOrd="5" destOrd="0" presId="urn:microsoft.com/office/officeart/2005/8/layout/cycle2"/>
    <dgm:cxn modelId="{DACA081D-A8CC-46ED-83C0-B11F112653B9}" type="presParOf" srcId="{E6904C83-A85B-401F-B94C-A4DAEA094A14}" destId="{0CF37345-4087-4850-B712-B8C0CA2A4047}" srcOrd="0" destOrd="0" presId="urn:microsoft.com/office/officeart/2005/8/layout/cycle2"/>
    <dgm:cxn modelId="{E60D8FD7-FC1D-4BE3-B5E0-612DA38163CE}" type="presParOf" srcId="{AEC1273E-69AF-418C-98A7-3592EA695D04}" destId="{7A4BFCEB-AA00-4CDD-8D01-040B4C1A01A9}" srcOrd="6" destOrd="0" presId="urn:microsoft.com/office/officeart/2005/8/layout/cycle2"/>
    <dgm:cxn modelId="{1E1E44AE-2F32-4A96-A18B-EDB90428F9AE}" type="presParOf" srcId="{AEC1273E-69AF-418C-98A7-3592EA695D04}" destId="{871DEEF3-E8F0-40CE-A84E-E235D1494FC7}" srcOrd="7" destOrd="0" presId="urn:microsoft.com/office/officeart/2005/8/layout/cycle2"/>
    <dgm:cxn modelId="{A4EFF85C-A0DD-4981-BCE6-55879A176D06}" type="presParOf" srcId="{871DEEF3-E8F0-40CE-A84E-E235D1494FC7}" destId="{71E80F42-61C5-473C-AD8D-F3BC323309A6}"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4EF350-B659-4ADB-8E13-710A0C980BA6}" type="doc">
      <dgm:prSet loTypeId="urn:microsoft.com/office/officeart/2005/8/layout/cycle2" loCatId="cycle" qsTypeId="urn:microsoft.com/office/officeart/2005/8/quickstyle/simple1" qsCatId="simple" csTypeId="urn:microsoft.com/office/officeart/2005/8/colors/colorful1#2" csCatId="colorful" phldr="1"/>
      <dgm:spPr/>
      <dgm:t>
        <a:bodyPr/>
        <a:lstStyle/>
        <a:p>
          <a:endParaRPr lang="en-AU"/>
        </a:p>
      </dgm:t>
    </dgm:pt>
    <dgm:pt modelId="{76B2CAD5-08A3-4C5B-8217-CCCEC862AB72}">
      <dgm:prSet phldrT="[Text]" custT="1"/>
      <dgm:spPr>
        <a:solidFill>
          <a:schemeClr val="accent3"/>
        </a:solidFill>
      </dgm:spPr>
      <dgm:t>
        <a:bodyPr/>
        <a:lstStyle/>
        <a:p>
          <a:r>
            <a:rPr lang="en-US" sz="2000" dirty="0" smtClean="0">
              <a:solidFill>
                <a:schemeClr val="bg1"/>
              </a:solidFill>
              <a:latin typeface="+mn-lt"/>
            </a:rPr>
            <a:t>Running</a:t>
          </a:r>
          <a:endParaRPr lang="en-AU" sz="2000" dirty="0">
            <a:solidFill>
              <a:schemeClr val="bg1"/>
            </a:solidFill>
            <a:latin typeface="+mn-lt"/>
          </a:endParaRPr>
        </a:p>
      </dgm:t>
    </dgm:pt>
    <dgm:pt modelId="{8FF2B7CC-8D35-41C2-8290-0097AAF1EFC6}" type="parTrans" cxnId="{1FDAB0B0-92CA-40BA-A683-060B27425406}">
      <dgm:prSet/>
      <dgm:spPr/>
      <dgm:t>
        <a:bodyPr/>
        <a:lstStyle/>
        <a:p>
          <a:endParaRPr lang="en-AU" sz="1600">
            <a:solidFill>
              <a:schemeClr val="bg1"/>
            </a:solidFill>
            <a:latin typeface="+mn-lt"/>
          </a:endParaRPr>
        </a:p>
      </dgm:t>
    </dgm:pt>
    <dgm:pt modelId="{B89AC95B-FE99-41D5-93BD-3C100ED17B76}" type="sibTrans" cxnId="{1FDAB0B0-92CA-40BA-A683-060B27425406}">
      <dgm:prSet custT="1"/>
      <dgm:spPr>
        <a:solidFill>
          <a:schemeClr val="tx2"/>
        </a:solidFill>
      </dgm:spPr>
      <dgm:t>
        <a:bodyPr/>
        <a:lstStyle/>
        <a:p>
          <a:endParaRPr lang="en-AU" sz="1600" dirty="0">
            <a:solidFill>
              <a:schemeClr val="bg1"/>
            </a:solidFill>
            <a:latin typeface="+mn-lt"/>
          </a:endParaRPr>
        </a:p>
      </dgm:t>
    </dgm:pt>
    <dgm:pt modelId="{36F99BEF-0A77-4B51-97CD-722BA1028EF9}">
      <dgm:prSet phldrT="[Text]" custT="1"/>
      <dgm:spPr>
        <a:solidFill>
          <a:schemeClr val="accent2"/>
        </a:solidFill>
      </dgm:spPr>
      <dgm:t>
        <a:bodyPr lIns="0" rIns="0"/>
        <a:lstStyle/>
        <a:p>
          <a:r>
            <a:rPr lang="en-US" sz="1800" b="1" dirty="0" smtClean="0">
              <a:solidFill>
                <a:schemeClr val="bg1"/>
              </a:solidFill>
              <a:latin typeface="+mn-lt"/>
            </a:rPr>
            <a:t>Deactivated</a:t>
          </a:r>
          <a:endParaRPr lang="en-AU" sz="1800" b="1" dirty="0">
            <a:solidFill>
              <a:schemeClr val="bg1"/>
            </a:solidFill>
            <a:latin typeface="+mn-lt"/>
          </a:endParaRPr>
        </a:p>
      </dgm:t>
    </dgm:pt>
    <dgm:pt modelId="{19E7634E-802F-4DC3-BF22-C9F36FD64B21}" type="parTrans" cxnId="{92A199E6-961E-482D-988B-A0AF25AF15F8}">
      <dgm:prSet/>
      <dgm:spPr/>
      <dgm:t>
        <a:bodyPr/>
        <a:lstStyle/>
        <a:p>
          <a:endParaRPr lang="en-AU" sz="1600">
            <a:solidFill>
              <a:schemeClr val="bg1"/>
            </a:solidFill>
            <a:latin typeface="+mn-lt"/>
          </a:endParaRPr>
        </a:p>
      </dgm:t>
    </dgm:pt>
    <dgm:pt modelId="{7A9E2DFC-9523-4449-9FF4-D29A6F67388A}" type="sibTrans" cxnId="{92A199E6-961E-482D-988B-A0AF25AF15F8}">
      <dgm:prSet custT="1"/>
      <dgm:spPr>
        <a:solidFill>
          <a:schemeClr val="accent2"/>
        </a:solidFill>
      </dgm:spPr>
      <dgm:t>
        <a:bodyPr/>
        <a:lstStyle/>
        <a:p>
          <a:endParaRPr lang="en-AU" sz="1600" dirty="0">
            <a:solidFill>
              <a:schemeClr val="bg1"/>
            </a:solidFill>
            <a:latin typeface="+mn-lt"/>
          </a:endParaRPr>
        </a:p>
      </dgm:t>
    </dgm:pt>
    <dgm:pt modelId="{9B327FA5-87CA-4F09-8BBA-A9E4176E7944}">
      <dgm:prSet phldrT="[Text]" custT="1"/>
      <dgm:spPr/>
      <dgm:t>
        <a:bodyPr/>
        <a:lstStyle/>
        <a:p>
          <a:r>
            <a:rPr lang="en-US" sz="1600" b="1" dirty="0" smtClean="0">
              <a:solidFill>
                <a:schemeClr val="bg1"/>
              </a:solidFill>
              <a:latin typeface="+mn-lt"/>
            </a:rPr>
            <a:t>Tombstoned</a:t>
          </a:r>
          <a:r>
            <a:rPr lang="en-US" sz="1800" b="1" dirty="0" smtClean="0">
              <a:solidFill>
                <a:schemeClr val="bg1"/>
              </a:solidFill>
              <a:latin typeface="+mn-lt"/>
            </a:rPr>
            <a:t> </a:t>
          </a:r>
          <a:r>
            <a:rPr lang="en-US" sz="1600" b="1" dirty="0" smtClean="0">
              <a:solidFill>
                <a:schemeClr val="bg1"/>
              </a:solidFill>
              <a:latin typeface="+mn-lt"/>
            </a:rPr>
            <a:t>(in most cases)</a:t>
          </a:r>
          <a:endParaRPr lang="en-AU" sz="1600" b="1" dirty="0">
            <a:solidFill>
              <a:schemeClr val="bg1"/>
            </a:solidFill>
            <a:latin typeface="+mn-lt"/>
          </a:endParaRPr>
        </a:p>
      </dgm:t>
    </dgm:pt>
    <dgm:pt modelId="{FC811754-6131-4DD9-A6B9-8F2AFBAC7E12}" type="parTrans" cxnId="{E34C28E2-E42C-4B52-A083-90F4C6C1EA53}">
      <dgm:prSet/>
      <dgm:spPr/>
      <dgm:t>
        <a:bodyPr/>
        <a:lstStyle/>
        <a:p>
          <a:endParaRPr lang="en-AU" sz="1600">
            <a:solidFill>
              <a:schemeClr val="bg1"/>
            </a:solidFill>
            <a:latin typeface="+mn-lt"/>
          </a:endParaRPr>
        </a:p>
      </dgm:t>
    </dgm:pt>
    <dgm:pt modelId="{D27BB788-E482-4C20-BE0C-20FE68B80BFE}" type="sibTrans" cxnId="{E34C28E2-E42C-4B52-A083-90F4C6C1EA53}">
      <dgm:prSet custT="1"/>
      <dgm:spPr/>
      <dgm:t>
        <a:bodyPr/>
        <a:lstStyle/>
        <a:p>
          <a:endParaRPr lang="en-AU" sz="1600" dirty="0">
            <a:solidFill>
              <a:schemeClr val="bg1"/>
            </a:solidFill>
            <a:latin typeface="+mn-lt"/>
          </a:endParaRPr>
        </a:p>
      </dgm:t>
    </dgm:pt>
    <dgm:pt modelId="{4E1E3DCD-AC5F-4A01-ADCA-D0078EDD945D}">
      <dgm:prSet phldrT="[Text]" custT="1"/>
      <dgm:spPr/>
      <dgm:t>
        <a:bodyPr/>
        <a:lstStyle/>
        <a:p>
          <a:r>
            <a:rPr lang="en-US" sz="2000" b="1" dirty="0" smtClean="0">
              <a:solidFill>
                <a:schemeClr val="tx1"/>
              </a:solidFill>
              <a:latin typeface="+mn-lt"/>
            </a:rPr>
            <a:t>Activated</a:t>
          </a:r>
          <a:endParaRPr lang="en-AU" sz="2000" b="1" dirty="0">
            <a:solidFill>
              <a:schemeClr val="tx1"/>
            </a:solidFill>
            <a:latin typeface="+mn-lt"/>
          </a:endParaRPr>
        </a:p>
      </dgm:t>
    </dgm:pt>
    <dgm:pt modelId="{E3D2D5D8-A100-4668-99E5-CA476BFD1641}" type="parTrans" cxnId="{18B4FB5A-5AB0-4048-A831-3A0B54098760}">
      <dgm:prSet/>
      <dgm:spPr/>
      <dgm:t>
        <a:bodyPr/>
        <a:lstStyle/>
        <a:p>
          <a:endParaRPr lang="en-AU" sz="1600">
            <a:solidFill>
              <a:schemeClr val="bg1"/>
            </a:solidFill>
            <a:latin typeface="+mn-lt"/>
          </a:endParaRPr>
        </a:p>
      </dgm:t>
    </dgm:pt>
    <dgm:pt modelId="{72EF4D4F-532A-4832-A8A3-A1EABF05B5F5}" type="sibTrans" cxnId="{18B4FB5A-5AB0-4048-A831-3A0B54098760}">
      <dgm:prSet custT="1"/>
      <dgm:spPr/>
      <dgm:t>
        <a:bodyPr/>
        <a:lstStyle/>
        <a:p>
          <a:endParaRPr lang="en-AU" sz="1600" dirty="0">
            <a:solidFill>
              <a:schemeClr val="bg1"/>
            </a:solidFill>
            <a:latin typeface="+mn-lt"/>
          </a:endParaRPr>
        </a:p>
      </dgm:t>
    </dgm:pt>
    <dgm:pt modelId="{0D80C7B4-4EF2-4BFF-A316-CA100F0806D7}" type="pres">
      <dgm:prSet presAssocID="{5D4EF350-B659-4ADB-8E13-710A0C980BA6}" presName="cycle" presStyleCnt="0">
        <dgm:presLayoutVars>
          <dgm:dir/>
          <dgm:resizeHandles val="exact"/>
        </dgm:presLayoutVars>
      </dgm:prSet>
      <dgm:spPr/>
      <dgm:t>
        <a:bodyPr/>
        <a:lstStyle/>
        <a:p>
          <a:endParaRPr lang="en-US"/>
        </a:p>
      </dgm:t>
    </dgm:pt>
    <dgm:pt modelId="{C1889A57-4597-45CF-A04E-3426A6E57E26}" type="pres">
      <dgm:prSet presAssocID="{76B2CAD5-08A3-4C5B-8217-CCCEC862AB72}" presName="node" presStyleLbl="node1" presStyleIdx="0" presStyleCnt="4" custScaleX="107572" custScaleY="107572">
        <dgm:presLayoutVars>
          <dgm:bulletEnabled val="1"/>
        </dgm:presLayoutVars>
      </dgm:prSet>
      <dgm:spPr/>
      <dgm:t>
        <a:bodyPr/>
        <a:lstStyle/>
        <a:p>
          <a:endParaRPr lang="en-US"/>
        </a:p>
      </dgm:t>
    </dgm:pt>
    <dgm:pt modelId="{8A929723-0B87-427D-9A8E-D110EB630346}" type="pres">
      <dgm:prSet presAssocID="{B89AC95B-FE99-41D5-93BD-3C100ED17B76}" presName="sibTrans" presStyleLbl="sibTrans2D1" presStyleIdx="0" presStyleCnt="4"/>
      <dgm:spPr/>
      <dgm:t>
        <a:bodyPr/>
        <a:lstStyle/>
        <a:p>
          <a:endParaRPr lang="en-US"/>
        </a:p>
      </dgm:t>
    </dgm:pt>
    <dgm:pt modelId="{1C2F1FA7-9A8F-47B2-B53D-AC3089B8DB90}" type="pres">
      <dgm:prSet presAssocID="{B89AC95B-FE99-41D5-93BD-3C100ED17B76}" presName="connectorText" presStyleLbl="sibTrans2D1" presStyleIdx="0" presStyleCnt="4"/>
      <dgm:spPr/>
      <dgm:t>
        <a:bodyPr/>
        <a:lstStyle/>
        <a:p>
          <a:endParaRPr lang="en-US"/>
        </a:p>
      </dgm:t>
    </dgm:pt>
    <dgm:pt modelId="{7E430E49-5CEC-484C-BEC8-FDADA13A60E8}" type="pres">
      <dgm:prSet presAssocID="{36F99BEF-0A77-4B51-97CD-722BA1028EF9}" presName="node" presStyleLbl="node1" presStyleIdx="1" presStyleCnt="4" custScaleX="107572" custScaleY="107572">
        <dgm:presLayoutVars>
          <dgm:bulletEnabled val="1"/>
        </dgm:presLayoutVars>
      </dgm:prSet>
      <dgm:spPr/>
      <dgm:t>
        <a:bodyPr/>
        <a:lstStyle/>
        <a:p>
          <a:endParaRPr lang="en-US"/>
        </a:p>
      </dgm:t>
    </dgm:pt>
    <dgm:pt modelId="{5875A7C0-609F-4FA0-A1CC-F6411A278CA2}" type="pres">
      <dgm:prSet presAssocID="{7A9E2DFC-9523-4449-9FF4-D29A6F67388A}" presName="sibTrans" presStyleLbl="sibTrans2D1" presStyleIdx="1" presStyleCnt="4"/>
      <dgm:spPr/>
      <dgm:t>
        <a:bodyPr/>
        <a:lstStyle/>
        <a:p>
          <a:endParaRPr lang="en-US"/>
        </a:p>
      </dgm:t>
    </dgm:pt>
    <dgm:pt modelId="{3A0D9F86-7298-440E-A183-4AA5E110D6B9}" type="pres">
      <dgm:prSet presAssocID="{7A9E2DFC-9523-4449-9FF4-D29A6F67388A}" presName="connectorText" presStyleLbl="sibTrans2D1" presStyleIdx="1" presStyleCnt="4"/>
      <dgm:spPr/>
      <dgm:t>
        <a:bodyPr/>
        <a:lstStyle/>
        <a:p>
          <a:endParaRPr lang="en-US"/>
        </a:p>
      </dgm:t>
    </dgm:pt>
    <dgm:pt modelId="{76F5EF53-FA6F-48E2-9D7C-A0514C8407E1}" type="pres">
      <dgm:prSet presAssocID="{9B327FA5-87CA-4F09-8BBA-A9E4176E7944}" presName="node" presStyleLbl="node1" presStyleIdx="2" presStyleCnt="4" custScaleX="107572" custScaleY="107572">
        <dgm:presLayoutVars>
          <dgm:bulletEnabled val="1"/>
        </dgm:presLayoutVars>
      </dgm:prSet>
      <dgm:spPr/>
      <dgm:t>
        <a:bodyPr/>
        <a:lstStyle/>
        <a:p>
          <a:endParaRPr lang="en-US"/>
        </a:p>
      </dgm:t>
    </dgm:pt>
    <dgm:pt modelId="{7F533090-7457-40E3-A09F-6EAA0958F8BB}" type="pres">
      <dgm:prSet presAssocID="{D27BB788-E482-4C20-BE0C-20FE68B80BFE}" presName="sibTrans" presStyleLbl="sibTrans2D1" presStyleIdx="2" presStyleCnt="4"/>
      <dgm:spPr/>
      <dgm:t>
        <a:bodyPr/>
        <a:lstStyle/>
        <a:p>
          <a:endParaRPr lang="en-US"/>
        </a:p>
      </dgm:t>
    </dgm:pt>
    <dgm:pt modelId="{456D2584-207B-433D-9454-B19337C7E5E8}" type="pres">
      <dgm:prSet presAssocID="{D27BB788-E482-4C20-BE0C-20FE68B80BFE}" presName="connectorText" presStyleLbl="sibTrans2D1" presStyleIdx="2" presStyleCnt="4"/>
      <dgm:spPr/>
      <dgm:t>
        <a:bodyPr/>
        <a:lstStyle/>
        <a:p>
          <a:endParaRPr lang="en-US"/>
        </a:p>
      </dgm:t>
    </dgm:pt>
    <dgm:pt modelId="{2167A4BA-3852-44CF-811F-63748F252502}" type="pres">
      <dgm:prSet presAssocID="{4E1E3DCD-AC5F-4A01-ADCA-D0078EDD945D}" presName="node" presStyleLbl="node1" presStyleIdx="3" presStyleCnt="4" custScaleX="107572" custScaleY="107572">
        <dgm:presLayoutVars>
          <dgm:bulletEnabled val="1"/>
        </dgm:presLayoutVars>
      </dgm:prSet>
      <dgm:spPr/>
      <dgm:t>
        <a:bodyPr/>
        <a:lstStyle/>
        <a:p>
          <a:endParaRPr lang="en-US"/>
        </a:p>
      </dgm:t>
    </dgm:pt>
    <dgm:pt modelId="{7EE1718E-8587-495B-98AC-E43EF4D3DAC1}" type="pres">
      <dgm:prSet presAssocID="{72EF4D4F-532A-4832-A8A3-A1EABF05B5F5}" presName="sibTrans" presStyleLbl="sibTrans2D1" presStyleIdx="3" presStyleCnt="4"/>
      <dgm:spPr/>
      <dgm:t>
        <a:bodyPr/>
        <a:lstStyle/>
        <a:p>
          <a:endParaRPr lang="en-US"/>
        </a:p>
      </dgm:t>
    </dgm:pt>
    <dgm:pt modelId="{5A937DF9-D03E-4EE5-BAF0-D11AB0DFCCE8}" type="pres">
      <dgm:prSet presAssocID="{72EF4D4F-532A-4832-A8A3-A1EABF05B5F5}" presName="connectorText" presStyleLbl="sibTrans2D1" presStyleIdx="3" presStyleCnt="4"/>
      <dgm:spPr/>
      <dgm:t>
        <a:bodyPr/>
        <a:lstStyle/>
        <a:p>
          <a:endParaRPr lang="en-US"/>
        </a:p>
      </dgm:t>
    </dgm:pt>
  </dgm:ptLst>
  <dgm:cxnLst>
    <dgm:cxn modelId="{A497727D-D039-46CB-9C97-8A8DDDAD8CE8}" type="presOf" srcId="{72EF4D4F-532A-4832-A8A3-A1EABF05B5F5}" destId="{5A937DF9-D03E-4EE5-BAF0-D11AB0DFCCE8}" srcOrd="1" destOrd="0" presId="urn:microsoft.com/office/officeart/2005/8/layout/cycle2"/>
    <dgm:cxn modelId="{18B4FB5A-5AB0-4048-A831-3A0B54098760}" srcId="{5D4EF350-B659-4ADB-8E13-710A0C980BA6}" destId="{4E1E3DCD-AC5F-4A01-ADCA-D0078EDD945D}" srcOrd="3" destOrd="0" parTransId="{E3D2D5D8-A100-4668-99E5-CA476BFD1641}" sibTransId="{72EF4D4F-532A-4832-A8A3-A1EABF05B5F5}"/>
    <dgm:cxn modelId="{AEB3D535-55B2-4959-822F-1748B21A9F8D}" type="presOf" srcId="{5D4EF350-B659-4ADB-8E13-710A0C980BA6}" destId="{0D80C7B4-4EF2-4BFF-A316-CA100F0806D7}" srcOrd="0" destOrd="0" presId="urn:microsoft.com/office/officeart/2005/8/layout/cycle2"/>
    <dgm:cxn modelId="{3A8EC1FA-55B7-43C2-B1FB-115FBD05A87A}" type="presOf" srcId="{B89AC95B-FE99-41D5-93BD-3C100ED17B76}" destId="{1C2F1FA7-9A8F-47B2-B53D-AC3089B8DB90}" srcOrd="1" destOrd="0" presId="urn:microsoft.com/office/officeart/2005/8/layout/cycle2"/>
    <dgm:cxn modelId="{1FDAB0B0-92CA-40BA-A683-060B27425406}" srcId="{5D4EF350-B659-4ADB-8E13-710A0C980BA6}" destId="{76B2CAD5-08A3-4C5B-8217-CCCEC862AB72}" srcOrd="0" destOrd="0" parTransId="{8FF2B7CC-8D35-41C2-8290-0097AAF1EFC6}" sibTransId="{B89AC95B-FE99-41D5-93BD-3C100ED17B76}"/>
    <dgm:cxn modelId="{92A199E6-961E-482D-988B-A0AF25AF15F8}" srcId="{5D4EF350-B659-4ADB-8E13-710A0C980BA6}" destId="{36F99BEF-0A77-4B51-97CD-722BA1028EF9}" srcOrd="1" destOrd="0" parTransId="{19E7634E-802F-4DC3-BF22-C9F36FD64B21}" sibTransId="{7A9E2DFC-9523-4449-9FF4-D29A6F67388A}"/>
    <dgm:cxn modelId="{B6AE9ACB-CA54-4828-BD9C-AC6C8A74BA2F}" type="presOf" srcId="{D27BB788-E482-4C20-BE0C-20FE68B80BFE}" destId="{456D2584-207B-433D-9454-B19337C7E5E8}" srcOrd="1" destOrd="0" presId="urn:microsoft.com/office/officeart/2005/8/layout/cycle2"/>
    <dgm:cxn modelId="{6F7C5BD3-00DC-45C9-AE72-EA28AA2BBAFE}" type="presOf" srcId="{4E1E3DCD-AC5F-4A01-ADCA-D0078EDD945D}" destId="{2167A4BA-3852-44CF-811F-63748F252502}" srcOrd="0" destOrd="0" presId="urn:microsoft.com/office/officeart/2005/8/layout/cycle2"/>
    <dgm:cxn modelId="{E34C28E2-E42C-4B52-A083-90F4C6C1EA53}" srcId="{5D4EF350-B659-4ADB-8E13-710A0C980BA6}" destId="{9B327FA5-87CA-4F09-8BBA-A9E4176E7944}" srcOrd="2" destOrd="0" parTransId="{FC811754-6131-4DD9-A6B9-8F2AFBAC7E12}" sibTransId="{D27BB788-E482-4C20-BE0C-20FE68B80BFE}"/>
    <dgm:cxn modelId="{5C69DC8E-A4C7-4746-9A01-5FCEA13C047C}" type="presOf" srcId="{D27BB788-E482-4C20-BE0C-20FE68B80BFE}" destId="{7F533090-7457-40E3-A09F-6EAA0958F8BB}" srcOrd="0" destOrd="0" presId="urn:microsoft.com/office/officeart/2005/8/layout/cycle2"/>
    <dgm:cxn modelId="{4854163C-8DEC-41E1-BAE6-182EF72D0268}" type="presOf" srcId="{76B2CAD5-08A3-4C5B-8217-CCCEC862AB72}" destId="{C1889A57-4597-45CF-A04E-3426A6E57E26}" srcOrd="0" destOrd="0" presId="urn:microsoft.com/office/officeart/2005/8/layout/cycle2"/>
    <dgm:cxn modelId="{60F2A431-DB80-44F9-85CF-9C7A27E2690F}" type="presOf" srcId="{7A9E2DFC-9523-4449-9FF4-D29A6F67388A}" destId="{5875A7C0-609F-4FA0-A1CC-F6411A278CA2}" srcOrd="0" destOrd="0" presId="urn:microsoft.com/office/officeart/2005/8/layout/cycle2"/>
    <dgm:cxn modelId="{42E3BF95-1F06-4306-87BF-79167BD1628F}" type="presOf" srcId="{B89AC95B-FE99-41D5-93BD-3C100ED17B76}" destId="{8A929723-0B87-427D-9A8E-D110EB630346}" srcOrd="0" destOrd="0" presId="urn:microsoft.com/office/officeart/2005/8/layout/cycle2"/>
    <dgm:cxn modelId="{45688890-0083-4AD1-9633-B6816A52BE56}" type="presOf" srcId="{7A9E2DFC-9523-4449-9FF4-D29A6F67388A}" destId="{3A0D9F86-7298-440E-A183-4AA5E110D6B9}" srcOrd="1" destOrd="0" presId="urn:microsoft.com/office/officeart/2005/8/layout/cycle2"/>
    <dgm:cxn modelId="{1315DC3E-763C-43D5-B270-2D0F64D5DD37}" type="presOf" srcId="{9B327FA5-87CA-4F09-8BBA-A9E4176E7944}" destId="{76F5EF53-FA6F-48E2-9D7C-A0514C8407E1}" srcOrd="0" destOrd="0" presId="urn:microsoft.com/office/officeart/2005/8/layout/cycle2"/>
    <dgm:cxn modelId="{1E125441-7F4C-4638-9569-ED2DABE7C367}" type="presOf" srcId="{36F99BEF-0A77-4B51-97CD-722BA1028EF9}" destId="{7E430E49-5CEC-484C-BEC8-FDADA13A60E8}" srcOrd="0" destOrd="0" presId="urn:microsoft.com/office/officeart/2005/8/layout/cycle2"/>
    <dgm:cxn modelId="{9578A147-34B0-4650-B263-5C11E1DF5210}" type="presOf" srcId="{72EF4D4F-532A-4832-A8A3-A1EABF05B5F5}" destId="{7EE1718E-8587-495B-98AC-E43EF4D3DAC1}" srcOrd="0" destOrd="0" presId="urn:microsoft.com/office/officeart/2005/8/layout/cycle2"/>
    <dgm:cxn modelId="{DCE41C77-E09D-4F87-8FC5-543062C058EB}" type="presParOf" srcId="{0D80C7B4-4EF2-4BFF-A316-CA100F0806D7}" destId="{C1889A57-4597-45CF-A04E-3426A6E57E26}" srcOrd="0" destOrd="0" presId="urn:microsoft.com/office/officeart/2005/8/layout/cycle2"/>
    <dgm:cxn modelId="{0BD3CEA9-CA00-4EAF-AA2D-B23CB0895431}" type="presParOf" srcId="{0D80C7B4-4EF2-4BFF-A316-CA100F0806D7}" destId="{8A929723-0B87-427D-9A8E-D110EB630346}" srcOrd="1" destOrd="0" presId="urn:microsoft.com/office/officeart/2005/8/layout/cycle2"/>
    <dgm:cxn modelId="{81F8BF23-B009-4CE6-A0F1-08FEBCEA206C}" type="presParOf" srcId="{8A929723-0B87-427D-9A8E-D110EB630346}" destId="{1C2F1FA7-9A8F-47B2-B53D-AC3089B8DB90}" srcOrd="0" destOrd="0" presId="urn:microsoft.com/office/officeart/2005/8/layout/cycle2"/>
    <dgm:cxn modelId="{E3B2A0FB-2BC5-482C-B886-7EC9E80B1567}" type="presParOf" srcId="{0D80C7B4-4EF2-4BFF-A316-CA100F0806D7}" destId="{7E430E49-5CEC-484C-BEC8-FDADA13A60E8}" srcOrd="2" destOrd="0" presId="urn:microsoft.com/office/officeart/2005/8/layout/cycle2"/>
    <dgm:cxn modelId="{40C4278B-01BE-4D31-AE00-A544887B4910}" type="presParOf" srcId="{0D80C7B4-4EF2-4BFF-A316-CA100F0806D7}" destId="{5875A7C0-609F-4FA0-A1CC-F6411A278CA2}" srcOrd="3" destOrd="0" presId="urn:microsoft.com/office/officeart/2005/8/layout/cycle2"/>
    <dgm:cxn modelId="{F92568FF-31AF-48F1-B809-CAFE5B691981}" type="presParOf" srcId="{5875A7C0-609F-4FA0-A1CC-F6411A278CA2}" destId="{3A0D9F86-7298-440E-A183-4AA5E110D6B9}" srcOrd="0" destOrd="0" presId="urn:microsoft.com/office/officeart/2005/8/layout/cycle2"/>
    <dgm:cxn modelId="{552ED924-E924-4678-81E5-74B78928AE02}" type="presParOf" srcId="{0D80C7B4-4EF2-4BFF-A316-CA100F0806D7}" destId="{76F5EF53-FA6F-48E2-9D7C-A0514C8407E1}" srcOrd="4" destOrd="0" presId="urn:microsoft.com/office/officeart/2005/8/layout/cycle2"/>
    <dgm:cxn modelId="{C64B5370-4336-4697-88D0-38918C7D3A0F}" type="presParOf" srcId="{0D80C7B4-4EF2-4BFF-A316-CA100F0806D7}" destId="{7F533090-7457-40E3-A09F-6EAA0958F8BB}" srcOrd="5" destOrd="0" presId="urn:microsoft.com/office/officeart/2005/8/layout/cycle2"/>
    <dgm:cxn modelId="{351600F9-5275-431D-BADA-ADE30DF42FCC}" type="presParOf" srcId="{7F533090-7457-40E3-A09F-6EAA0958F8BB}" destId="{456D2584-207B-433D-9454-B19337C7E5E8}" srcOrd="0" destOrd="0" presId="urn:microsoft.com/office/officeart/2005/8/layout/cycle2"/>
    <dgm:cxn modelId="{C7854221-C794-47F6-BAE6-AA4A7DB6E75F}" type="presParOf" srcId="{0D80C7B4-4EF2-4BFF-A316-CA100F0806D7}" destId="{2167A4BA-3852-44CF-811F-63748F252502}" srcOrd="6" destOrd="0" presId="urn:microsoft.com/office/officeart/2005/8/layout/cycle2"/>
    <dgm:cxn modelId="{D2DD9C54-E9AA-4F03-B754-0A6BB6F028A6}" type="presParOf" srcId="{0D80C7B4-4EF2-4BFF-A316-CA100F0806D7}" destId="{7EE1718E-8587-495B-98AC-E43EF4D3DAC1}" srcOrd="7" destOrd="0" presId="urn:microsoft.com/office/officeart/2005/8/layout/cycle2"/>
    <dgm:cxn modelId="{6AEDEB91-A683-4844-8BBB-90263C35C4FF}" type="presParOf" srcId="{7EE1718E-8587-495B-98AC-E43EF4D3DAC1}" destId="{5A937DF9-D03E-4EE5-BAF0-D11AB0DFCCE8}"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CBEB9-F710-4FB5-9FDA-9D7BA5DC9D12}">
      <dsp:nvSpPr>
        <dsp:cNvPr id="0" name=""/>
        <dsp:cNvSpPr/>
      </dsp:nvSpPr>
      <dsp:spPr>
        <a:xfrm>
          <a:off x="1838311" y="-63609"/>
          <a:ext cx="1737368" cy="1828800"/>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dirty="0" smtClean="0">
              <a:solidFill>
                <a:schemeClr val="bg1"/>
              </a:solidFill>
              <a:latin typeface="+mn-lt"/>
            </a:rPr>
            <a:t>Not running</a:t>
          </a:r>
          <a:endParaRPr lang="en-AU" sz="2100" kern="1200" dirty="0">
            <a:solidFill>
              <a:schemeClr val="bg1"/>
            </a:solidFill>
            <a:latin typeface="+mn-lt"/>
          </a:endParaRPr>
        </a:p>
      </dsp:txBody>
      <dsp:txXfrm>
        <a:off x="2092743" y="204213"/>
        <a:ext cx="1228504" cy="1293156"/>
      </dsp:txXfrm>
    </dsp:sp>
    <dsp:sp modelId="{044FDCD0-2B6D-494B-9863-0CCCAE69F911}">
      <dsp:nvSpPr>
        <dsp:cNvPr id="0" name=""/>
        <dsp:cNvSpPr/>
      </dsp:nvSpPr>
      <dsp:spPr>
        <a:xfrm rot="2700000">
          <a:off x="3395160" y="1450559"/>
          <a:ext cx="396890" cy="57368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AU" sz="1700" kern="1200">
            <a:solidFill>
              <a:schemeClr val="bg1"/>
            </a:solidFill>
            <a:latin typeface="+mn-lt"/>
          </a:endParaRPr>
        </a:p>
      </dsp:txBody>
      <dsp:txXfrm>
        <a:off x="3412597" y="1523199"/>
        <a:ext cx="277823" cy="344209"/>
      </dsp:txXfrm>
    </dsp:sp>
    <dsp:sp modelId="{57172215-9C60-4BCB-BB54-359A4A883967}">
      <dsp:nvSpPr>
        <dsp:cNvPr id="0" name=""/>
        <dsp:cNvSpPr/>
      </dsp:nvSpPr>
      <dsp:spPr>
        <a:xfrm>
          <a:off x="3598485" y="1742281"/>
          <a:ext cx="1828800" cy="182880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dirty="0" smtClean="0">
              <a:solidFill>
                <a:schemeClr val="bg1"/>
              </a:solidFill>
              <a:latin typeface="+mn-lt"/>
            </a:rPr>
            <a:t>Launching</a:t>
          </a:r>
          <a:endParaRPr lang="en-AU" sz="2100" kern="1200" dirty="0">
            <a:solidFill>
              <a:schemeClr val="bg1"/>
            </a:solidFill>
            <a:latin typeface="+mn-lt"/>
          </a:endParaRPr>
        </a:p>
      </dsp:txBody>
      <dsp:txXfrm>
        <a:off x="3866307" y="2010103"/>
        <a:ext cx="1293156" cy="1293156"/>
      </dsp:txXfrm>
    </dsp:sp>
    <dsp:sp modelId="{1431B9D6-53E8-4491-8FA1-A49DE8DCC3C5}">
      <dsp:nvSpPr>
        <dsp:cNvPr id="0" name=""/>
        <dsp:cNvSpPr/>
      </dsp:nvSpPr>
      <dsp:spPr>
        <a:xfrm rot="8100000">
          <a:off x="3425476" y="3265093"/>
          <a:ext cx="384310" cy="57368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AU" sz="1700" kern="1200">
            <a:solidFill>
              <a:schemeClr val="bg1"/>
            </a:solidFill>
            <a:latin typeface="+mn-lt"/>
          </a:endParaRPr>
        </a:p>
      </dsp:txBody>
      <dsp:txXfrm rot="10800000">
        <a:off x="3523885" y="3339068"/>
        <a:ext cx="269017" cy="344209"/>
      </dsp:txXfrm>
    </dsp:sp>
    <dsp:sp modelId="{D56E9F4F-34FA-4AAA-A834-D9584C78E36F}">
      <dsp:nvSpPr>
        <dsp:cNvPr id="0" name=""/>
        <dsp:cNvSpPr/>
      </dsp:nvSpPr>
      <dsp:spPr>
        <a:xfrm>
          <a:off x="1792595" y="3548171"/>
          <a:ext cx="1828800" cy="182880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dirty="0" smtClean="0">
              <a:solidFill>
                <a:schemeClr val="bg1"/>
              </a:solidFill>
              <a:latin typeface="+mn-lt"/>
            </a:rPr>
            <a:t>Running</a:t>
          </a:r>
          <a:endParaRPr lang="en-AU" sz="2100" kern="1200" dirty="0">
            <a:solidFill>
              <a:schemeClr val="bg1"/>
            </a:solidFill>
            <a:latin typeface="+mn-lt"/>
          </a:endParaRPr>
        </a:p>
      </dsp:txBody>
      <dsp:txXfrm>
        <a:off x="2060417" y="3815993"/>
        <a:ext cx="1293156" cy="1293156"/>
      </dsp:txXfrm>
    </dsp:sp>
    <dsp:sp modelId="{E6904C83-A85B-401F-B94C-A4DAEA094A14}">
      <dsp:nvSpPr>
        <dsp:cNvPr id="0" name=""/>
        <dsp:cNvSpPr/>
      </dsp:nvSpPr>
      <dsp:spPr>
        <a:xfrm rot="13518421">
          <a:off x="1616034" y="3270935"/>
          <a:ext cx="391621" cy="57368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AU" sz="1700" kern="1200">
            <a:solidFill>
              <a:schemeClr val="bg1"/>
            </a:solidFill>
            <a:latin typeface="+mn-lt"/>
          </a:endParaRPr>
        </a:p>
      </dsp:txBody>
      <dsp:txXfrm rot="10800000">
        <a:off x="1716091" y="3427432"/>
        <a:ext cx="274135" cy="344209"/>
      </dsp:txXfrm>
    </dsp:sp>
    <dsp:sp modelId="{7A4BFCEB-AA00-4CDD-8D01-040B4C1A01A9}">
      <dsp:nvSpPr>
        <dsp:cNvPr id="0" name=""/>
        <dsp:cNvSpPr/>
      </dsp:nvSpPr>
      <dsp:spPr>
        <a:xfrm>
          <a:off x="-13295" y="1722823"/>
          <a:ext cx="1828800" cy="1828800"/>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dirty="0" smtClean="0">
              <a:solidFill>
                <a:schemeClr val="bg1"/>
              </a:solidFill>
              <a:latin typeface="+mn-lt"/>
            </a:rPr>
            <a:t>Closing</a:t>
          </a:r>
          <a:endParaRPr lang="en-AU" sz="2100" kern="1200" dirty="0">
            <a:solidFill>
              <a:schemeClr val="bg1"/>
            </a:solidFill>
            <a:latin typeface="+mn-lt"/>
          </a:endParaRPr>
        </a:p>
      </dsp:txBody>
      <dsp:txXfrm>
        <a:off x="254527" y="1990645"/>
        <a:ext cx="1293156" cy="1293156"/>
      </dsp:txXfrm>
    </dsp:sp>
    <dsp:sp modelId="{871DEEF3-E8F0-40CE-A84E-E235D1494FC7}">
      <dsp:nvSpPr>
        <dsp:cNvPr id="0" name=""/>
        <dsp:cNvSpPr/>
      </dsp:nvSpPr>
      <dsp:spPr>
        <a:xfrm rot="18918621">
          <a:off x="1609859" y="1456489"/>
          <a:ext cx="389749" cy="573683"/>
        </a:xfrm>
        <a:prstGeom prst="rightArrow">
          <a:avLst>
            <a:gd name="adj1" fmla="val 60000"/>
            <a:gd name="adj2" fmla="val 50000"/>
          </a:avLst>
        </a:prstGeom>
        <a:solidFill>
          <a:schemeClr val="accent5">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AU" sz="1700" kern="1200">
            <a:solidFill>
              <a:schemeClr val="bg1"/>
            </a:solidFill>
            <a:latin typeface="+mn-lt"/>
          </a:endParaRPr>
        </a:p>
      </dsp:txBody>
      <dsp:txXfrm>
        <a:off x="1626759" y="1612341"/>
        <a:ext cx="272824" cy="3442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89A57-4597-45CF-A04E-3426A6E57E26}">
      <dsp:nvSpPr>
        <dsp:cNvPr id="0" name=""/>
        <dsp:cNvSpPr/>
      </dsp:nvSpPr>
      <dsp:spPr>
        <a:xfrm>
          <a:off x="2150506" y="-62699"/>
          <a:ext cx="1828791" cy="1828791"/>
        </a:xfrm>
        <a:prstGeom prst="ellipse">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bg1"/>
              </a:solidFill>
              <a:latin typeface="+mn-lt"/>
            </a:rPr>
            <a:t>Running</a:t>
          </a:r>
          <a:endParaRPr lang="en-AU" sz="2000" kern="1200" dirty="0">
            <a:solidFill>
              <a:schemeClr val="bg1"/>
            </a:solidFill>
            <a:latin typeface="+mn-lt"/>
          </a:endParaRPr>
        </a:p>
      </dsp:txBody>
      <dsp:txXfrm>
        <a:off x="2418326" y="205121"/>
        <a:ext cx="1293151" cy="1293151"/>
      </dsp:txXfrm>
    </dsp:sp>
    <dsp:sp modelId="{8A929723-0B87-427D-9A8E-D110EB630346}">
      <dsp:nvSpPr>
        <dsp:cNvPr id="0" name=""/>
        <dsp:cNvSpPr/>
      </dsp:nvSpPr>
      <dsp:spPr>
        <a:xfrm rot="2700000">
          <a:off x="3767898" y="1459625"/>
          <a:ext cx="383636" cy="573771"/>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AU" sz="1600" kern="1200" dirty="0">
            <a:solidFill>
              <a:schemeClr val="bg1"/>
            </a:solidFill>
            <a:latin typeface="+mn-lt"/>
          </a:endParaRPr>
        </a:p>
      </dsp:txBody>
      <dsp:txXfrm>
        <a:off x="3784753" y="1533688"/>
        <a:ext cx="268545" cy="344263"/>
      </dsp:txXfrm>
    </dsp:sp>
    <dsp:sp modelId="{7E430E49-5CEC-484C-BEC8-FDADA13A60E8}">
      <dsp:nvSpPr>
        <dsp:cNvPr id="0" name=""/>
        <dsp:cNvSpPr/>
      </dsp:nvSpPr>
      <dsp:spPr>
        <a:xfrm>
          <a:off x="3955491" y="1742285"/>
          <a:ext cx="1828791" cy="1828791"/>
        </a:xfrm>
        <a:prstGeom prst="ellipse">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2860" rIns="0" bIns="22860" numCol="1" spcCol="1270" anchor="ctr" anchorCtr="0">
          <a:noAutofit/>
        </a:bodyPr>
        <a:lstStyle/>
        <a:p>
          <a:pPr lvl="0" algn="ctr" defTabSz="800100">
            <a:lnSpc>
              <a:spcPct val="90000"/>
            </a:lnSpc>
            <a:spcBef>
              <a:spcPct val="0"/>
            </a:spcBef>
            <a:spcAft>
              <a:spcPct val="35000"/>
            </a:spcAft>
          </a:pPr>
          <a:r>
            <a:rPr lang="en-US" sz="1800" b="1" kern="1200" dirty="0" smtClean="0">
              <a:solidFill>
                <a:schemeClr val="bg1"/>
              </a:solidFill>
              <a:latin typeface="+mn-lt"/>
            </a:rPr>
            <a:t>Deactivated</a:t>
          </a:r>
          <a:endParaRPr lang="en-AU" sz="1800" b="1" kern="1200" dirty="0">
            <a:solidFill>
              <a:schemeClr val="bg1"/>
            </a:solidFill>
            <a:latin typeface="+mn-lt"/>
          </a:endParaRPr>
        </a:p>
      </dsp:txBody>
      <dsp:txXfrm>
        <a:off x="4223311" y="2010105"/>
        <a:ext cx="1293151" cy="1293151"/>
      </dsp:txXfrm>
    </dsp:sp>
    <dsp:sp modelId="{5875A7C0-609F-4FA0-A1CC-F6411A278CA2}">
      <dsp:nvSpPr>
        <dsp:cNvPr id="0" name=""/>
        <dsp:cNvSpPr/>
      </dsp:nvSpPr>
      <dsp:spPr>
        <a:xfrm rot="8100000">
          <a:off x="3783253" y="3264611"/>
          <a:ext cx="383636" cy="573771"/>
        </a:xfrm>
        <a:prstGeom prst="rightArrow">
          <a:avLst>
            <a:gd name="adj1" fmla="val 60000"/>
            <a:gd name="adj2" fmla="val 50000"/>
          </a:avLst>
        </a:prstGeom>
        <a:solidFill>
          <a:schemeClr val="accent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AU" sz="1600" kern="1200" dirty="0">
            <a:solidFill>
              <a:schemeClr val="bg1"/>
            </a:solidFill>
            <a:latin typeface="+mn-lt"/>
          </a:endParaRPr>
        </a:p>
      </dsp:txBody>
      <dsp:txXfrm rot="10800000">
        <a:off x="3881489" y="3338674"/>
        <a:ext cx="268545" cy="344263"/>
      </dsp:txXfrm>
    </dsp:sp>
    <dsp:sp modelId="{76F5EF53-FA6F-48E2-9D7C-A0514C8407E1}">
      <dsp:nvSpPr>
        <dsp:cNvPr id="0" name=""/>
        <dsp:cNvSpPr/>
      </dsp:nvSpPr>
      <dsp:spPr>
        <a:xfrm>
          <a:off x="2150506" y="3547271"/>
          <a:ext cx="1828791" cy="1828791"/>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solidFill>
              <a:latin typeface="+mn-lt"/>
            </a:rPr>
            <a:t>Tombstoned</a:t>
          </a:r>
          <a:r>
            <a:rPr lang="en-US" sz="1800" b="1" kern="1200" dirty="0" smtClean="0">
              <a:solidFill>
                <a:schemeClr val="bg1"/>
              </a:solidFill>
              <a:latin typeface="+mn-lt"/>
            </a:rPr>
            <a:t> </a:t>
          </a:r>
          <a:r>
            <a:rPr lang="en-US" sz="1600" b="1" kern="1200" dirty="0" smtClean="0">
              <a:solidFill>
                <a:schemeClr val="bg1"/>
              </a:solidFill>
              <a:latin typeface="+mn-lt"/>
            </a:rPr>
            <a:t>(in most cases)</a:t>
          </a:r>
          <a:endParaRPr lang="en-AU" sz="1600" b="1" kern="1200" dirty="0">
            <a:solidFill>
              <a:schemeClr val="bg1"/>
            </a:solidFill>
            <a:latin typeface="+mn-lt"/>
          </a:endParaRPr>
        </a:p>
      </dsp:txBody>
      <dsp:txXfrm>
        <a:off x="2418326" y="3815091"/>
        <a:ext cx="1293151" cy="1293151"/>
      </dsp:txXfrm>
    </dsp:sp>
    <dsp:sp modelId="{7F533090-7457-40E3-A09F-6EAA0958F8BB}">
      <dsp:nvSpPr>
        <dsp:cNvPr id="0" name=""/>
        <dsp:cNvSpPr/>
      </dsp:nvSpPr>
      <dsp:spPr>
        <a:xfrm rot="13500000">
          <a:off x="1978268" y="3279966"/>
          <a:ext cx="383636" cy="57377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AU" sz="1600" kern="1200" dirty="0">
            <a:solidFill>
              <a:schemeClr val="bg1"/>
            </a:solidFill>
            <a:latin typeface="+mn-lt"/>
          </a:endParaRPr>
        </a:p>
      </dsp:txBody>
      <dsp:txXfrm rot="10800000">
        <a:off x="2076504" y="3435411"/>
        <a:ext cx="268545" cy="344263"/>
      </dsp:txXfrm>
    </dsp:sp>
    <dsp:sp modelId="{2167A4BA-3852-44CF-811F-63748F252502}">
      <dsp:nvSpPr>
        <dsp:cNvPr id="0" name=""/>
        <dsp:cNvSpPr/>
      </dsp:nvSpPr>
      <dsp:spPr>
        <a:xfrm>
          <a:off x="345520" y="1742285"/>
          <a:ext cx="1828791" cy="1828791"/>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tx1"/>
              </a:solidFill>
              <a:latin typeface="+mn-lt"/>
            </a:rPr>
            <a:t>Activated</a:t>
          </a:r>
          <a:endParaRPr lang="en-AU" sz="2000" b="1" kern="1200" dirty="0">
            <a:solidFill>
              <a:schemeClr val="tx1"/>
            </a:solidFill>
            <a:latin typeface="+mn-lt"/>
          </a:endParaRPr>
        </a:p>
      </dsp:txBody>
      <dsp:txXfrm>
        <a:off x="613340" y="2010105"/>
        <a:ext cx="1293151" cy="1293151"/>
      </dsp:txXfrm>
    </dsp:sp>
    <dsp:sp modelId="{7EE1718E-8587-495B-98AC-E43EF4D3DAC1}">
      <dsp:nvSpPr>
        <dsp:cNvPr id="0" name=""/>
        <dsp:cNvSpPr/>
      </dsp:nvSpPr>
      <dsp:spPr>
        <a:xfrm rot="18900000">
          <a:off x="1962913" y="1474980"/>
          <a:ext cx="383636" cy="57377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AU" sz="1600" kern="1200" dirty="0">
            <a:solidFill>
              <a:schemeClr val="bg1"/>
            </a:solidFill>
            <a:latin typeface="+mn-lt"/>
          </a:endParaRPr>
        </a:p>
      </dsp:txBody>
      <dsp:txXfrm>
        <a:off x="1979768" y="1630425"/>
        <a:ext cx="268545" cy="34426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latin typeface="Segoe UI" pitchFamily="34" charset="0"/>
              </a:rPr>
              <a:t>Windows Phone 7</a:t>
            </a:r>
            <a:endParaRPr lang="en-US" dirty="0">
              <a:latin typeface="Segoe UI"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Segoe UI" pitchFamily="34" charset="0"/>
              </a:rPr>
              <a:pPr/>
              <a:t>10/3/2010</a:t>
            </a:fld>
            <a:endParaRPr lang="en-US" dirty="0">
              <a:latin typeface="Segoe U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smtClean="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Segoe UI" pitchFamily="34" charset="0"/>
              </a:rPr>
            </a:br>
            <a:r>
              <a:rPr lang="en-US" sz="500" dirty="0" smtClean="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Windows Phone 7</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C3FBCD4-166E-446F-AF18-7D4A0CF9AEF6}" type="datetimeFigureOut">
              <a:rPr lang="en-US" smtClean="0"/>
              <a:pPr/>
              <a:t>10/3/2010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smtClean="0">
                <a:solidFill>
                  <a:srgbClr val="000000"/>
                </a:solidFill>
                <a:latin typeface="Segoe UI" pitchFamily="34" charset="0"/>
              </a:rPr>
              <a:t>© 2010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Segoe UI" pitchFamily="34" charset="0"/>
              </a:rPr>
            </a:br>
            <a:r>
              <a:rPr lang="en-US" dirty="0" smtClean="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Thanks for</a:t>
            </a:r>
            <a:r>
              <a:rPr lang="en-US" baseline="0" dirty="0" smtClean="0"/>
              <a:t> attending my presentation at JAOO 2010!</a:t>
            </a:r>
          </a:p>
          <a:p>
            <a:r>
              <a:rPr lang="en-US" baseline="0" dirty="0" smtClean="0"/>
              <a:t>There are additional hidden slides covering some topics that couldn’t be covered in the one hour session.</a:t>
            </a:r>
          </a:p>
          <a:p>
            <a:r>
              <a:rPr lang="en-US" baseline="0" dirty="0" smtClean="0"/>
              <a:t>Enjoy, and feel free to contact me with any feedback. Thanks, Jeff Wilcox</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171450" indent="-171450">
              <a:buFontTx/>
              <a:buChar char="-"/>
            </a:pPr>
            <a:r>
              <a:rPr lang="en-US" baseline="0" dirty="0" smtClean="0"/>
              <a:t>Calculate the currency conversion, use a Button to update the value</a:t>
            </a:r>
          </a:p>
          <a:p>
            <a:pPr marL="171450" indent="-171450">
              <a:buFontTx/>
              <a:buChar char="-"/>
            </a:pPr>
            <a:r>
              <a:rPr lang="en-US" baseline="0" dirty="0" smtClean="0"/>
              <a:t>Then remove the button by using </a:t>
            </a:r>
            <a:r>
              <a:rPr lang="en-US" baseline="0" dirty="0" err="1" smtClean="0"/>
              <a:t>TextChanged</a:t>
            </a:r>
            <a:r>
              <a:rPr lang="en-US" baseline="0" dirty="0" smtClean="0"/>
              <a:t> event for real-time change</a:t>
            </a:r>
          </a:p>
          <a:p>
            <a:pPr marL="171450" indent="-171450">
              <a:buFontTx/>
              <a:buChar char="-"/>
            </a:pPr>
            <a:r>
              <a:rPr lang="en-US" baseline="0" dirty="0" smtClean="0"/>
              <a:t>Demonstrates </a:t>
            </a:r>
            <a:r>
              <a:rPr lang="en-US" baseline="0" dirty="0" err="1" smtClean="0"/>
              <a:t>InputScope</a:t>
            </a:r>
            <a:r>
              <a:rPr lang="en-US" baseline="0" dirty="0" smtClean="0"/>
              <a:t>, etc.</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10/3/2010 1:49 PM</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23</a:t>
            </a:fld>
            <a:endParaRPr lang="en-US" dirty="0"/>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of the problems in this template:</a:t>
            </a:r>
          </a:p>
          <a:p>
            <a:r>
              <a:rPr lang="en-US" dirty="0" err="1" smtClean="0"/>
              <a:t>StackPanel</a:t>
            </a:r>
            <a:r>
              <a:rPr lang="en-US" dirty="0" smtClean="0"/>
              <a:t> with a horizontal orientation</a:t>
            </a:r>
            <a:r>
              <a:rPr lang="en-US" baseline="0" dirty="0" smtClean="0"/>
              <a:t> will have expensive layout</a:t>
            </a:r>
          </a:p>
          <a:p>
            <a:r>
              <a:rPr lang="en-US" baseline="0" dirty="0" smtClean="0"/>
              <a:t>Multiple panels – </a:t>
            </a:r>
            <a:r>
              <a:rPr lang="en-US" baseline="0" dirty="0" err="1" smtClean="0"/>
              <a:t>stackpanel</a:t>
            </a:r>
            <a:r>
              <a:rPr lang="en-US" baseline="0" dirty="0" smtClean="0"/>
              <a:t> within a </a:t>
            </a:r>
            <a:r>
              <a:rPr lang="en-US" baseline="0" dirty="0" err="1" smtClean="0"/>
              <a:t>stackpanel</a:t>
            </a:r>
            <a:r>
              <a:rPr lang="en-US" baseline="0" dirty="0" smtClean="0"/>
              <a:t>, although there are no other children of the first panel</a:t>
            </a:r>
          </a:p>
          <a:p>
            <a:r>
              <a:rPr lang="en-US" baseline="0" dirty="0" smtClean="0"/>
              <a:t>Binding to width may force an additional layout pass</a:t>
            </a:r>
          </a:p>
          <a:p>
            <a:r>
              <a:rPr lang="en-US" baseline="0" dirty="0" smtClean="0"/>
              <a:t>A custom presence control which might contain other composite controls or complex visuals, making it hard to diagnose</a:t>
            </a:r>
          </a:p>
          <a:p>
            <a:r>
              <a:rPr lang="en-US" baseline="0" dirty="0" smtClean="0"/>
              <a:t>An element name binding which looks in the visual tree for an item, a very expensive operation</a:t>
            </a:r>
          </a:p>
          <a:p>
            <a:r>
              <a:rPr lang="en-US" baseline="0" dirty="0" smtClean="0"/>
              <a:t>Use of converters and converter parameters, relatively expensive in terms of performance</a:t>
            </a:r>
          </a:p>
          <a:p>
            <a:r>
              <a:rPr lang="en-US" baseline="0" dirty="0" smtClean="0"/>
              <a:t>Using a converter for selecting between parameters like blue and red – indicates that the routine likely does parsing of those strings and real-time creation of a solid color brush (or similar) for those selected colors depending on the data binding. Not a cheap operation!</a:t>
            </a:r>
          </a:p>
        </p:txBody>
      </p:sp>
      <p:sp>
        <p:nvSpPr>
          <p:cNvPr id="4" name="Slide Number Placeholder 3"/>
          <p:cNvSpPr>
            <a:spLocks noGrp="1"/>
          </p:cNvSpPr>
          <p:nvPr>
            <p:ph type="sldNum" sz="quarter" idx="10"/>
          </p:nvPr>
        </p:nvSpPr>
        <p:spPr/>
        <p:txBody>
          <a:bodyPr/>
          <a:lstStyle/>
          <a:p>
            <a:fld id="{8B263312-38AA-4E1E-B2B5-0F8F122B24FE}" type="slidenum">
              <a:rPr lang="en-US" smtClean="0"/>
              <a:pPr/>
              <a:t>27</a:t>
            </a:fld>
            <a:endParaRPr lang="en-US" dirty="0"/>
          </a:p>
        </p:txBody>
      </p:sp>
    </p:spTree>
    <p:extLst>
      <p:ext uri="{BB962C8B-B14F-4D97-AF65-F5344CB8AC3E}">
        <p14:creationId xmlns:p14="http://schemas.microsoft.com/office/powerpoint/2010/main" val="247122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171450" indent="-171450">
              <a:buFontTx/>
              <a:buChar char="-"/>
            </a:pPr>
            <a:r>
              <a:rPr lang="en-US" baseline="0" dirty="0" smtClean="0"/>
              <a:t>Calculate the currency conversion, use a Button to update the value</a:t>
            </a:r>
          </a:p>
          <a:p>
            <a:pPr marL="171450" indent="-171450">
              <a:buFontTx/>
              <a:buChar char="-"/>
            </a:pPr>
            <a:r>
              <a:rPr lang="en-US" baseline="0" dirty="0" smtClean="0"/>
              <a:t>Then remove the button by using </a:t>
            </a:r>
            <a:r>
              <a:rPr lang="en-US" baseline="0" dirty="0" err="1" smtClean="0"/>
              <a:t>TextChanged</a:t>
            </a:r>
            <a:r>
              <a:rPr lang="en-US" baseline="0" dirty="0" smtClean="0"/>
              <a:t> event for real-time change</a:t>
            </a:r>
          </a:p>
          <a:p>
            <a:pPr marL="171450" indent="-171450">
              <a:buFontTx/>
              <a:buChar char="-"/>
            </a:pPr>
            <a:r>
              <a:rPr lang="en-US" baseline="0" dirty="0" smtClean="0"/>
              <a:t>Demonstrates </a:t>
            </a:r>
            <a:r>
              <a:rPr lang="en-US" baseline="0" dirty="0" err="1" smtClean="0"/>
              <a:t>InputScope</a:t>
            </a:r>
            <a:r>
              <a:rPr lang="en-US" baseline="0" dirty="0" smtClean="0"/>
              <a:t>, etc.</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10/4/2010 10:39 AM</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30</a:t>
            </a:fld>
            <a:endParaRPr lang="en-US" dirty="0"/>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39</a:t>
            </a:fld>
            <a:endParaRPr lang="en-US" dirty="0"/>
          </a:p>
        </p:txBody>
      </p:sp>
    </p:spTree>
    <p:extLst>
      <p:ext uri="{BB962C8B-B14F-4D97-AF65-F5344CB8AC3E}">
        <p14:creationId xmlns:p14="http://schemas.microsoft.com/office/powerpoint/2010/main" val="2724578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43</a:t>
            </a:fld>
            <a:endParaRPr lang="en-US" dirty="0"/>
          </a:p>
        </p:txBody>
      </p:sp>
    </p:spTree>
    <p:extLst>
      <p:ext uri="{BB962C8B-B14F-4D97-AF65-F5344CB8AC3E}">
        <p14:creationId xmlns:p14="http://schemas.microsoft.com/office/powerpoint/2010/main" val="2724578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44</a:t>
            </a:fld>
            <a:endParaRPr lang="en-US" dirty="0"/>
          </a:p>
        </p:txBody>
      </p:sp>
    </p:spTree>
    <p:extLst>
      <p:ext uri="{BB962C8B-B14F-4D97-AF65-F5344CB8AC3E}">
        <p14:creationId xmlns:p14="http://schemas.microsoft.com/office/powerpoint/2010/main" val="1191914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53</a:t>
            </a:fld>
            <a:endParaRPr lang="en-US" dirty="0"/>
          </a:p>
        </p:txBody>
      </p:sp>
    </p:spTree>
    <p:extLst>
      <p:ext uri="{BB962C8B-B14F-4D97-AF65-F5344CB8AC3E}">
        <p14:creationId xmlns:p14="http://schemas.microsoft.com/office/powerpoint/2010/main" val="2724578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55</a:t>
            </a:fld>
            <a:endParaRPr lang="en-US" dirty="0"/>
          </a:p>
        </p:txBody>
      </p:sp>
    </p:spTree>
    <p:extLst>
      <p:ext uri="{BB962C8B-B14F-4D97-AF65-F5344CB8AC3E}">
        <p14:creationId xmlns:p14="http://schemas.microsoft.com/office/powerpoint/2010/main" val="3867893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E562EAA-E909-4318-AAAE-D75056CF6C04}" type="slidenum">
              <a:rPr lang="en-US" smtClean="0"/>
              <a:pPr/>
              <a:t>56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999350CE-1FB0-4EBD-B06E-A06CDD659130}" type="slidenum">
              <a:rPr lang="en-US" smtClean="0"/>
              <a:pPr/>
              <a:t>63</a:t>
            </a:fld>
            <a:endParaRPr lang="en-US"/>
          </a:p>
        </p:txBody>
      </p:sp>
      <p:sp>
        <p:nvSpPr>
          <p:cNvPr id="5" name="Header Placeholder 4"/>
          <p:cNvSpPr>
            <a:spLocks noGrp="1"/>
          </p:cNvSpPr>
          <p:nvPr>
            <p:ph type="hdr" sz="quarter" idx="11"/>
          </p:nvPr>
        </p:nvSpPr>
        <p:spPr/>
        <p:txBody>
          <a:bodyPr/>
          <a:lstStyle/>
          <a:p>
            <a:r>
              <a:rPr lang="en-US" smtClean="0"/>
              <a:t>The Windows Phone Application Platform</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171450" indent="-171450">
              <a:buFontTx/>
              <a:buChar char="-"/>
            </a:pP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10/4/2010 12:30 PM</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65</a:t>
            </a:fld>
            <a:endParaRPr lang="en-US" dirty="0"/>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66</a:t>
            </a:fld>
            <a:endParaRPr lang="en-US" dirty="0"/>
          </a:p>
        </p:txBody>
      </p:sp>
    </p:spTree>
    <p:extLst>
      <p:ext uri="{BB962C8B-B14F-4D97-AF65-F5344CB8AC3E}">
        <p14:creationId xmlns:p14="http://schemas.microsoft.com/office/powerpoint/2010/main" val="1649190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67</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77</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81</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10/4/2010 2:06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86</a:t>
            </a:fld>
            <a:endParaRPr lang="en-US" dirty="0">
              <a:solidFill>
                <a:prstClr val="black"/>
              </a:solidFill>
            </a:endParaRPr>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10/4/2010 2:06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91</a:t>
            </a:fld>
            <a:endParaRPr lang="en-US" dirty="0">
              <a:solidFill>
                <a:prstClr val="black"/>
              </a:solidFill>
            </a:endParaRPr>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92</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93</a:t>
            </a:fld>
            <a:endParaRPr lang="en-US" dirty="0"/>
          </a:p>
        </p:txBody>
      </p:sp>
    </p:spTree>
    <p:extLst>
      <p:ext uri="{BB962C8B-B14F-4D97-AF65-F5344CB8AC3E}">
        <p14:creationId xmlns:p14="http://schemas.microsoft.com/office/powerpoint/2010/main" val="871867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94</a:t>
            </a:fld>
            <a:endParaRPr lang="en-US" dirty="0"/>
          </a:p>
        </p:txBody>
      </p:sp>
    </p:spTree>
    <p:extLst>
      <p:ext uri="{BB962C8B-B14F-4D97-AF65-F5344CB8AC3E}">
        <p14:creationId xmlns:p14="http://schemas.microsoft.com/office/powerpoint/2010/main" val="29865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96</a:t>
            </a:fld>
            <a:endParaRPr lang="en-US" dirty="0"/>
          </a:p>
        </p:txBody>
      </p:sp>
    </p:spTree>
    <p:extLst>
      <p:ext uri="{BB962C8B-B14F-4D97-AF65-F5344CB8AC3E}">
        <p14:creationId xmlns:p14="http://schemas.microsoft.com/office/powerpoint/2010/main" val="205430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8B263312-38AA-4E1E-B2B5-0F8F122B24FE}" type="slidenum">
              <a:rPr lang="en-US" smtClean="0"/>
              <a:pPr/>
              <a:t>101</a:t>
            </a:fld>
            <a:endParaRPr lang="en-US" dirty="0"/>
          </a:p>
        </p:txBody>
      </p:sp>
    </p:spTree>
    <p:extLst>
      <p:ext uri="{BB962C8B-B14F-4D97-AF65-F5344CB8AC3E}">
        <p14:creationId xmlns:p14="http://schemas.microsoft.com/office/powerpoint/2010/main" val="23533287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102</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105</a:t>
            </a:fld>
            <a:endParaRPr lang="en-US" dirty="0">
              <a:solidFill>
                <a:prstClr val="black"/>
              </a:solidFill>
            </a:endParaRPr>
          </a:p>
        </p:txBody>
      </p:sp>
    </p:spTree>
    <p:extLst>
      <p:ext uri="{BB962C8B-B14F-4D97-AF65-F5344CB8AC3E}">
        <p14:creationId xmlns:p14="http://schemas.microsoft.com/office/powerpoint/2010/main" val="2724578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FYI</a:t>
            </a:r>
            <a:r>
              <a:rPr lang="en-US" baseline="0" dirty="0" smtClean="0"/>
              <a:t> this training is available on Tuesday 10/5</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107</a:t>
            </a:fld>
            <a:endParaRPr lang="en-US" dirty="0"/>
          </a:p>
        </p:txBody>
      </p:sp>
    </p:spTree>
    <p:extLst>
      <p:ext uri="{BB962C8B-B14F-4D97-AF65-F5344CB8AC3E}">
        <p14:creationId xmlns:p14="http://schemas.microsoft.com/office/powerpoint/2010/main" val="39403886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10/3/2010 12:28 PM</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108</a:t>
            </a:fld>
            <a:endParaRPr lang="en-US" dirty="0"/>
          </a:p>
        </p:txBody>
      </p:sp>
      <p:sp>
        <p:nvSpPr>
          <p:cNvPr id="8" name="Footer Placeholder 5"/>
          <p:cNvSpPr>
            <a:spLocks noGrp="1"/>
          </p:cNvSpPr>
          <p:nvPr>
            <p:ph type="ftr" sz="quarter" idx="4"/>
          </p:nvPr>
        </p:nvSpPr>
        <p:spPr>
          <a:xfrm>
            <a:off x="0" y="8685213"/>
            <a:ext cx="6172200" cy="457200"/>
          </a:xfrm>
        </p:spPr>
        <p:txBody>
          <a:bodyPr/>
          <a:lstStyle/>
          <a:p>
            <a:r>
              <a:rPr lang="en-US" sz="500" dirty="0" smtClean="0">
                <a:solidFill>
                  <a:srgbClr val="000000"/>
                </a:solidFill>
              </a:rPr>
              <a:t>© 2010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P7 Annimation ">
    <p:bg>
      <p:bgPr>
        <a:solidFill>
          <a:schemeClr val="bg1"/>
        </a:solidFill>
        <a:effectLst/>
      </p:bgPr>
    </p:bg>
    <p:spTree>
      <p:nvGrpSpPr>
        <p:cNvPr id="1" name=""/>
        <p:cNvGrpSpPr/>
        <p:nvPr/>
      </p:nvGrpSpPr>
      <p:grpSpPr>
        <a:xfrm>
          <a:off x="0" y="0"/>
          <a:ext cx="0" cy="0"/>
          <a:chOff x="0" y="0"/>
          <a:chExt cx="0" cy="0"/>
        </a:xfrm>
      </p:grpSpPr>
      <p:sp>
        <p:nvSpPr>
          <p:cNvPr id="13" name="Rectangle 12"/>
          <p:cNvSpPr/>
          <p:nvPr/>
        </p:nvSpPr>
        <p:spPr bwMode="auto">
          <a:xfrm>
            <a:off x="6539421" y="2362200"/>
            <a:ext cx="2221992" cy="2221992"/>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lvl="0"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4" name="Title 1"/>
          <p:cNvSpPr txBox="1">
            <a:spLocks/>
          </p:cNvSpPr>
          <p:nvPr/>
        </p:nvSpPr>
        <p:spPr>
          <a:xfrm>
            <a:off x="6565940" y="2428875"/>
            <a:ext cx="2187433" cy="2221991"/>
          </a:xfrm>
          <a:prstGeom prst="rect">
            <a:avLst/>
          </a:prstGeom>
        </p:spPr>
        <p:txBody>
          <a:bodyPr vert="horz" wrap="square" lIns="182880" tIns="182880" rIns="182880" bIns="182880" rtlCol="0" anchor="ctr" anchorCtr="0">
            <a:noAutofit/>
          </a:bodyPr>
          <a:lstStyle>
            <a:lvl1pPr algn="l" defTabSz="914363" rtl="0" eaLnBrk="1" latinLnBrk="0" hangingPunct="1">
              <a:lnSpc>
                <a:spcPct val="90000"/>
              </a:lnSpc>
              <a:spcBef>
                <a:spcPct val="0"/>
              </a:spcBef>
              <a:buNone/>
              <a:tabLst>
                <a:tab pos="1504361" algn="l"/>
              </a:tabLst>
              <a:defRPr lang="en-US" sz="4800" b="0" kern="1200" cap="none" spc="-113"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algn="ctr" defTabSz="685961"/>
            <a:r>
              <a:rPr lang="en-US" sz="7200" dirty="0" smtClean="0">
                <a:latin typeface="+mj-lt"/>
              </a:rPr>
              <a:t>7</a:t>
            </a:r>
            <a:endParaRPr lang="en-US" sz="7200" dirty="0">
              <a:latin typeface="+mj-lt"/>
            </a:endParaRPr>
          </a:p>
        </p:txBody>
      </p:sp>
      <p:sp>
        <p:nvSpPr>
          <p:cNvPr id="15" name="Rectangle 14"/>
          <p:cNvSpPr/>
          <p:nvPr/>
        </p:nvSpPr>
        <p:spPr bwMode="auto">
          <a:xfrm>
            <a:off x="381000" y="2362200"/>
            <a:ext cx="6053328" cy="2221992"/>
          </a:xfrm>
          <a:prstGeom prst="rect">
            <a:avLst/>
          </a:prstGeom>
          <a:solidFill>
            <a:schemeClr val="accent4"/>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lvl="0"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accent1"/>
                    </a:gs>
                    <a:gs pos="100000">
                      <a:schemeClr val="accent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1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18" name="Text Placeholder 8"/>
          <p:cNvSpPr>
            <a:spLocks noGrp="1"/>
          </p:cNvSpPr>
          <p:nvPr>
            <p:ph type="body" sz="quarter" idx="11" hasCustomPrompt="1"/>
          </p:nvPr>
        </p:nvSpPr>
        <p:spPr>
          <a:xfrm>
            <a:off x="550864" y="6135082"/>
            <a:ext cx="5667056" cy="291118"/>
          </a:xfrm>
        </p:spPr>
        <p:txBody>
          <a:bodyPr/>
          <a:lstStyle>
            <a:lvl1pPr marL="0" indent="0">
              <a:spcBef>
                <a:spcPts val="0"/>
              </a:spcBef>
              <a:buFontTx/>
              <a:buNone/>
              <a:defRPr sz="2100">
                <a:solidFill>
                  <a:schemeClr val="tx1"/>
                </a:solidFill>
                <a:latin typeface="Segoe Light" pitchFamily="34" charset="0"/>
              </a:defRPr>
            </a:lvl1pPr>
          </a:lstStyle>
          <a:p>
            <a:r>
              <a:rPr lang="en-US" dirty="0" smtClean="0"/>
              <a:t>Click to edit Master subtitle style</a:t>
            </a:r>
            <a:endParaRPr lang="en-US" dirty="0"/>
          </a:p>
        </p:txBody>
      </p:sp>
      <p:sp>
        <p:nvSpPr>
          <p:cNvPr id="28" name="Title 1"/>
          <p:cNvSpPr>
            <a:spLocks noGrp="1"/>
          </p:cNvSpPr>
          <p:nvPr>
            <p:ph type="ctrTitle"/>
          </p:nvPr>
        </p:nvSpPr>
        <p:spPr>
          <a:xfrm>
            <a:off x="555738" y="2924048"/>
            <a:ext cx="4114800" cy="1098296"/>
          </a:xfrm>
        </p:spPr>
        <p:txBody>
          <a:bodyPr anchor="ctr" anchorCtr="0">
            <a:noAutofit/>
          </a:bodyPr>
          <a:lstStyle>
            <a:lvl1pPr>
              <a:lnSpc>
                <a:spcPct val="90000"/>
              </a:lnSpc>
              <a:tabLst>
                <a:tab pos="1504361" algn="l"/>
              </a:tabLst>
              <a:defRPr lang="en-US" sz="4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smtClean="0"/>
              <a:t>Click to edit Master title style</a:t>
            </a:r>
            <a:endParaRPr lang="en-US" dirty="0"/>
          </a:p>
        </p:txBody>
      </p:sp>
      <p:pic>
        <p:nvPicPr>
          <p:cNvPr id="29" name="Picture 2"/>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4777476" y="1664214"/>
            <a:ext cx="2104297" cy="3787261"/>
          </a:xfrm>
          <a:prstGeom prst="rect">
            <a:avLst/>
          </a:prstGeom>
          <a:noFill/>
          <a:ln w="9525">
            <a:noFill/>
            <a:miter lim="800000"/>
            <a:headEnd/>
            <a:tailEnd/>
          </a:ln>
          <a:effectLst>
            <a:outerShdw dist="12700" dir="5400000" algn="t" rotWithShape="0">
              <a:prstClr val="black">
                <a:alpha val="40000"/>
              </a:prstClr>
            </a:outerShdw>
          </a:effectLst>
        </p:spPr>
      </p:pic>
      <p:pic>
        <p:nvPicPr>
          <p:cNvPr id="30"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2"/>
          </p:nvPr>
        </p:nvSpPr>
        <p:spPr>
          <a:xfrm>
            <a:off x="550863" y="4206875"/>
            <a:ext cx="4125912" cy="332399"/>
          </a:xfrm>
        </p:spPr>
        <p:txBody>
          <a:bodyPr/>
          <a:lstStyle>
            <a:lvl1pPr marL="0" indent="0">
              <a:buNone/>
              <a:defRPr sz="2400">
                <a:solidFill>
                  <a:schemeClr val="bg1"/>
                </a:solidFill>
              </a:defRPr>
            </a:lvl1pPr>
          </a:lstStyle>
          <a:p>
            <a:pPr lvl="0"/>
            <a:r>
              <a:rPr lang="en-US" smtClean="0"/>
              <a:t>Click to edit Master text styles</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42" presetClass="path" presetSubtype="0" decel="100000" fill="hold" grpId="2" nodeType="withEffect">
                                  <p:stCondLst>
                                    <p:cond delay="0"/>
                                  </p:stCondLst>
                                  <p:childTnLst>
                                    <p:animMotion origin="layout" path="M 2.5553E-6 -4.07407E-6 L 1.03604 -0.00115 " pathEditMode="relative" rAng="0" ptsTypes="AA">
                                      <p:cBhvr>
                                        <p:cTn id="8" dur="750" spd="-100000" fill="hold"/>
                                        <p:tgtEl>
                                          <p:spTgt spid="15"/>
                                        </p:tgtEl>
                                        <p:attrNameLst>
                                          <p:attrName>ppt_x</p:attrName>
                                          <p:attrName>ppt_y</p:attrName>
                                        </p:attrNameLst>
                                      </p:cBhvr>
                                      <p:rCtr x="51795" y="-69"/>
                                    </p:animMotion>
                                  </p:childTnLst>
                                </p:cTn>
                              </p:par>
                              <p:par>
                                <p:cTn id="9" presetID="1" presetClass="entr" presetSubtype="0" fill="hold" grpId="0" nodeType="withEffect">
                                  <p:stCondLst>
                                    <p:cond delay="300"/>
                                  </p:stCondLst>
                                  <p:childTnLst>
                                    <p:set>
                                      <p:cBhvr>
                                        <p:cTn id="10" dur="1" fill="hold">
                                          <p:stCondLst>
                                            <p:cond delay="0"/>
                                          </p:stCondLst>
                                        </p:cTn>
                                        <p:tgtEl>
                                          <p:spTgt spid="28"/>
                                        </p:tgtEl>
                                        <p:attrNameLst>
                                          <p:attrName>style.visibility</p:attrName>
                                        </p:attrNameLst>
                                      </p:cBhvr>
                                      <p:to>
                                        <p:strVal val="visible"/>
                                      </p:to>
                                    </p:set>
                                  </p:childTnLst>
                                </p:cTn>
                              </p:par>
                              <p:par>
                                <p:cTn id="11" presetID="42" presetClass="path" presetSubtype="0" decel="100000" fill="hold" grpId="1" nodeType="withEffect">
                                  <p:stCondLst>
                                    <p:cond delay="250"/>
                                  </p:stCondLst>
                                  <p:childTnLst>
                                    <p:animMotion origin="layout" path="M 2.20661E-6 -4.07407E-6 L 1.02966 -0.00115 " pathEditMode="relative" rAng="0" ptsTypes="AA">
                                      <p:cBhvr>
                                        <p:cTn id="12" dur="750" spd="-100000" fill="hold"/>
                                        <p:tgtEl>
                                          <p:spTgt spid="28"/>
                                        </p:tgtEl>
                                        <p:attrNameLst>
                                          <p:attrName>ppt_x</p:attrName>
                                          <p:attrName>ppt_y</p:attrName>
                                        </p:attrNameLst>
                                      </p:cBhvr>
                                      <p:rCtr x="51483" y="-69"/>
                                    </p:animMotion>
                                  </p:childTnLst>
                                </p:cTn>
                              </p:par>
                              <p:par>
                                <p:cTn id="13" presetID="2" presetClass="entr" presetSubtype="2" fill="hold" grpId="0" nodeType="withEffect">
                                  <p:stCondLst>
                                    <p:cond delay="25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ppt_y"/>
                                          </p:val>
                                        </p:tav>
                                        <p:tav tm="100000">
                                          <p:val>
                                            <p:strVal val="#ppt_y"/>
                                          </p:val>
                                        </p:tav>
                                      </p:tavLst>
                                    </p:anim>
                                  </p:childTnLst>
                                </p:cTn>
                              </p:par>
                              <p:par>
                                <p:cTn id="17" presetID="1" presetClass="entr" presetSubtype="0" fill="hold" grpId="0" nodeType="withEffect">
                                  <p:stCondLst>
                                    <p:cond delay="50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par>
                                <p:cTn id="19" presetID="42" presetClass="path" presetSubtype="0" decel="100000" fill="hold" grpId="1" nodeType="withEffect">
                                  <p:stCondLst>
                                    <p:cond delay="500"/>
                                  </p:stCondLst>
                                  <p:childTnLst>
                                    <p:animMotion origin="layout" path="M 4.93885E-6 3.7037E-6 L 1.09367 -0.00324 " pathEditMode="relative" rAng="0" ptsTypes="AA">
                                      <p:cBhvr>
                                        <p:cTn id="20" dur="750" spd="-100000" fill="hold"/>
                                        <p:tgtEl>
                                          <p:spTgt spid="16">
                                            <p:txEl>
                                              <p:pRg st="0" end="0"/>
                                            </p:txEl>
                                          </p:spTgt>
                                        </p:tgtEl>
                                        <p:attrNameLst>
                                          <p:attrName>ppt_x</p:attrName>
                                          <p:attrName>ppt_y</p:attrName>
                                        </p:attrNameLst>
                                      </p:cBhvr>
                                      <p:rCtr x="54684" y="-162"/>
                                    </p:animMotion>
                                  </p:childTnLst>
                                </p:cTn>
                              </p:par>
                              <p:par>
                                <p:cTn id="21" presetID="1" presetClass="entr" presetSubtype="0" fill="hold" grpId="0" nodeType="withEffect">
                                  <p:stCondLst>
                                    <p:cond delay="75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42" presetClass="path" presetSubtype="0" decel="100000" fill="hold" grpId="1" nodeType="withEffect">
                                  <p:stCondLst>
                                    <p:cond delay="750"/>
                                  </p:stCondLst>
                                  <p:childTnLst>
                                    <p:animMotion origin="layout" path="M 1.66797E-6 7.40741E-7 L 1.14754 7.40741E-7 " pathEditMode="relative" rAng="0" ptsTypes="AA">
                                      <p:cBhvr>
                                        <p:cTn id="24" dur="750" spd="-100000" fill="hold"/>
                                        <p:tgtEl>
                                          <p:spTgt spid="17">
                                            <p:txEl>
                                              <p:pRg st="0" end="0"/>
                                            </p:txEl>
                                          </p:spTgt>
                                        </p:tgtEl>
                                        <p:attrNameLst>
                                          <p:attrName>ppt_x</p:attrName>
                                          <p:attrName>ppt_y</p:attrName>
                                        </p:attrNameLst>
                                      </p:cBhvr>
                                      <p:rCtr x="57377" y="0"/>
                                    </p:animMotion>
                                  </p:childTnLst>
                                </p:cTn>
                              </p:par>
                              <p:par>
                                <p:cTn id="25" presetID="1" presetClass="entr" presetSubtype="0" fill="hold" grpId="0" nodeType="withEffect">
                                  <p:stCondLst>
                                    <p:cond delay="100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par>
                                <p:cTn id="27" presetID="42" presetClass="path" presetSubtype="0" decel="100000" fill="hold" grpId="1" nodeType="withEffect">
                                  <p:stCondLst>
                                    <p:cond delay="1000"/>
                                  </p:stCondLst>
                                  <p:childTnLst>
                                    <p:animMotion origin="layout" path="M 1.66797E-6 7.40741E-7 L 1.14754 7.40741E-7 " pathEditMode="relative" rAng="0" ptsTypes="AA">
                                      <p:cBhvr>
                                        <p:cTn id="28" dur="750" spd="-100000" fill="hold"/>
                                        <p:tgtEl>
                                          <p:spTgt spid="18">
                                            <p:txEl>
                                              <p:pRg st="0" end="0"/>
                                            </p:txEl>
                                          </p:spTgt>
                                        </p:tgtEl>
                                        <p:attrNameLst>
                                          <p:attrName>ppt_x</p:attrName>
                                          <p:attrName>ppt_y</p:attrName>
                                        </p:attrNameLst>
                                      </p:cBhvr>
                                      <p:rCtr x="57377" y="0"/>
                                    </p:animMotion>
                                  </p:childTnLst>
                                </p:cTn>
                              </p:par>
                              <p:par>
                                <p:cTn id="29" presetID="1" presetClass="entr" presetSubtype="0" fill="hold" grpId="0" nodeType="withEffect">
                                  <p:stCondLst>
                                    <p:cond delay="800"/>
                                  </p:stCondLst>
                                  <p:childTnLst>
                                    <p:set>
                                      <p:cBhvr>
                                        <p:cTn id="30" dur="1" fill="hold">
                                          <p:stCondLst>
                                            <p:cond delay="0"/>
                                          </p:stCondLst>
                                        </p:cTn>
                                        <p:tgtEl>
                                          <p:spTgt spid="14"/>
                                        </p:tgtEl>
                                        <p:attrNameLst>
                                          <p:attrName>style.visibility</p:attrName>
                                        </p:attrNameLst>
                                      </p:cBhvr>
                                      <p:to>
                                        <p:strVal val="visible"/>
                                      </p:to>
                                    </p:set>
                                  </p:childTnLst>
                                </p:cTn>
                              </p:par>
                              <p:par>
                                <p:cTn id="31" presetID="42" presetClass="path" presetSubtype="0" decel="100000" fill="hold" grpId="1" nodeType="withEffect">
                                  <p:stCondLst>
                                    <p:cond delay="800"/>
                                  </p:stCondLst>
                                  <p:childTnLst>
                                    <p:animMotion origin="layout" path="M 2.20661E-6 -4.07407E-6 L 1.02966 -0.00115 " pathEditMode="relative" rAng="0" ptsTypes="AA">
                                      <p:cBhvr>
                                        <p:cTn id="32" dur="750" spd="-100000" fill="hold"/>
                                        <p:tgtEl>
                                          <p:spTgt spid="14"/>
                                        </p:tgtEl>
                                        <p:attrNameLst>
                                          <p:attrName>ppt_x</p:attrName>
                                          <p:attrName>ppt_y</p:attrName>
                                        </p:attrNameLst>
                                      </p:cBhvr>
                                      <p:rCtr x="51483" y="-69"/>
                                    </p:animMotion>
                                  </p:childTnLst>
                                </p:cTn>
                              </p:par>
                              <p:par>
                                <p:cTn id="33" presetID="1" presetClass="entr" presetSubtype="0" fill="hold" grpId="1" nodeType="withEffect">
                                  <p:stCondLst>
                                    <p:cond delay="800"/>
                                  </p:stCondLst>
                                  <p:childTnLst>
                                    <p:set>
                                      <p:cBhvr>
                                        <p:cTn id="34" dur="1" fill="hold">
                                          <p:stCondLst>
                                            <p:cond delay="0"/>
                                          </p:stCondLst>
                                        </p:cTn>
                                        <p:tgtEl>
                                          <p:spTgt spid="13"/>
                                        </p:tgtEl>
                                        <p:attrNameLst>
                                          <p:attrName>style.visibility</p:attrName>
                                        </p:attrNameLst>
                                      </p:cBhvr>
                                      <p:to>
                                        <p:strVal val="visible"/>
                                      </p:to>
                                    </p:set>
                                  </p:childTnLst>
                                </p:cTn>
                              </p:par>
                              <p:par>
                                <p:cTn id="35" presetID="42" presetClass="path" presetSubtype="0" decel="100000" fill="hold" grpId="2" nodeType="withEffect">
                                  <p:stCondLst>
                                    <p:cond delay="800"/>
                                  </p:stCondLst>
                                  <p:childTnLst>
                                    <p:animMotion origin="layout" path="M 2.5553E-6 -4.07407E-6 L 1.03604 -0.00115 " pathEditMode="relative" rAng="0" ptsTypes="AA">
                                      <p:cBhvr>
                                        <p:cTn id="36" dur="750" spd="-100000" fill="hold"/>
                                        <p:tgtEl>
                                          <p:spTgt spid="13"/>
                                        </p:tgtEl>
                                        <p:attrNameLst>
                                          <p:attrName>ppt_x</p:attrName>
                                          <p:attrName>ppt_y</p:attrName>
                                        </p:attrNameLst>
                                      </p:cBhvr>
                                      <p:rCtr x="51795" y="-69"/>
                                    </p:animMotion>
                                  </p:childTnLst>
                                </p:cTn>
                              </p:par>
                              <p:par>
                                <p:cTn id="37" presetID="1" presetClass="entr" presetSubtype="0" fill="hold" nodeType="withEffect">
                                  <p:stCondLst>
                                    <p:cond delay="1000"/>
                                  </p:stCondLst>
                                  <p:childTnLst>
                                    <p:set>
                                      <p:cBhvr>
                                        <p:cTn id="38" dur="1" fill="hold">
                                          <p:stCondLst>
                                            <p:cond delay="0"/>
                                          </p:stCondLst>
                                        </p:cTn>
                                        <p:tgtEl>
                                          <p:spTgt spid="29"/>
                                        </p:tgtEl>
                                        <p:attrNameLst>
                                          <p:attrName>style.visibility</p:attrName>
                                        </p:attrNameLst>
                                      </p:cBhvr>
                                      <p:to>
                                        <p:strVal val="visible"/>
                                      </p:to>
                                    </p:set>
                                  </p:childTnLst>
                                </p:cTn>
                              </p:par>
                              <p:par>
                                <p:cTn id="39" presetID="35" presetClass="path" presetSubtype="0" decel="100000" fill="hold" nodeType="withEffect">
                                  <p:stCondLst>
                                    <p:cond delay="1000"/>
                                  </p:stCondLst>
                                  <p:childTnLst>
                                    <p:animMotion origin="layout" path="M 0.59115 -1.11111E-6 L -0.00612 -1.11111E-6 " pathEditMode="relative" rAng="0" ptsTypes="AA">
                                      <p:cBhvr>
                                        <p:cTn id="40" dur="750" fill="hold"/>
                                        <p:tgtEl>
                                          <p:spTgt spid="29"/>
                                        </p:tgtEl>
                                        <p:attrNameLst>
                                          <p:attrName>ppt_x</p:attrName>
                                          <p:attrName>ppt_y</p:attrName>
                                        </p:attrNameLst>
                                      </p:cBhvr>
                                      <p:rCtr x="-298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P spid="14" grpId="0"/>
      <p:bldP spid="14" grpId="1"/>
      <p:bldP spid="15" grpId="0" animBg="1"/>
      <p:bldP spid="15" grpId="1" animBg="1"/>
      <p:bldP spid="15" grpId="2" animBg="1"/>
      <p:bldP spid="16" grpId="0" build="p">
        <p:tmplLst>
          <p:tmpl lvl="1">
            <p:tnLst>
              <p:par>
                <p:cTn presetID="1" presetClass="entr" presetSubtype="0" fill="hold" nodeType="withEffect">
                  <p:stCondLst>
                    <p:cond delay="50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6" grpId="1"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16"/>
                        </p:tgtEl>
                        <p:attrNameLst>
                          <p:attrName>ppt_x</p:attrName>
                          <p:attrName>ppt_y</p:attrName>
                        </p:attrNameLst>
                      </p:cBhvr>
                      <p:rCtr x="54684" y="-162"/>
                    </p:animMotion>
                  </p:childTnLst>
                </p:cTn>
              </p:par>
            </p:tnLst>
          </p:tmpl>
        </p:tmplLst>
      </p:bldP>
      <p:bldP spid="17" grpId="0" build="p">
        <p:tmplLst>
          <p:tmpl lvl="1">
            <p:tnLst>
              <p:par>
                <p:cTn presetID="1" presetClass="entr" presetSubtype="0" fill="hold" nodeType="withEffect">
                  <p:stCondLst>
                    <p:cond delay="75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7" grpId="1"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17"/>
                        </p:tgtEl>
                        <p:attrNameLst>
                          <p:attrName>ppt_x</p:attrName>
                          <p:attrName>ppt_y</p:attrName>
                        </p:attrNameLst>
                      </p:cBhvr>
                      <p:rCtr x="57377" y="0"/>
                    </p:animMotion>
                  </p:childTnLst>
                </p:cTn>
              </p:par>
            </p:tnLst>
          </p:tmpl>
        </p:tmplLst>
      </p:bldP>
      <p:bldP spid="18" grpId="0" build="p">
        <p:tmplLst>
          <p:tmpl lvl="1">
            <p:tnLst>
              <p:par>
                <p:cTn presetID="1" presetClass="entr" presetSubtype="0" fill="hold" nodeType="withEffect">
                  <p:stCondLst>
                    <p:cond delay="10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8" grpId="1"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18"/>
                        </p:tgtEl>
                        <p:attrNameLst>
                          <p:attrName>ppt_x</p:attrName>
                          <p:attrName>ppt_y</p:attrName>
                        </p:attrNameLst>
                      </p:cBhvr>
                      <p:rCtr x="57377" y="0"/>
                    </p:animMotion>
                  </p:childTnLst>
                </p:cTn>
              </p:par>
            </p:tnLst>
          </p:tmpl>
        </p:tmplLst>
      </p:bldP>
      <p:bldP spid="28" grpId="0"/>
      <p:bldP spid="28" grpId="1"/>
      <p:bldP spid="3" grpId="0" build="p">
        <p:tmplLst>
          <p:tmpl lvl="1">
            <p:tnLst>
              <p:par>
                <p:cTn presetID="2" presetClass="entr" presetSubtype="2"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mo, Video etc. &quot;special&quot; slid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86053"/>
            <a:ext cx="6994362" cy="1523494"/>
          </a:xfrm>
        </p:spPr>
        <p:txBody>
          <a:bodyPr anchor="ctr" anchorCtr="0">
            <a:noAutofit/>
          </a:bodyPr>
          <a:lstStyle>
            <a:lvl1pPr>
              <a:lnSpc>
                <a:spcPct val="90000"/>
              </a:lnSpc>
              <a:defRPr sz="4800" baseline="0">
                <a:gradFill flip="none" rotWithShape="1">
                  <a:gsLst>
                    <a:gs pos="0">
                      <a:schemeClr val="tx1"/>
                    </a:gs>
                    <a:gs pos="86000">
                      <a:schemeClr val="tx1"/>
                    </a:gs>
                  </a:gsLst>
                  <a:lin ang="5400000" scaled="0"/>
                  <a:tileRect/>
                </a:gradFill>
              </a:defRPr>
            </a:lvl1pPr>
          </a:lstStyle>
          <a:p>
            <a:r>
              <a:rPr lang="en-US" smtClean="0"/>
              <a:t>Click to edit Master title style</a:t>
            </a:r>
            <a:endParaRPr lang="en-US" dirty="0"/>
          </a:p>
        </p:txBody>
      </p:sp>
      <p:sp>
        <p:nvSpPr>
          <p:cNvPr id="3" name="Subtitle 2"/>
          <p:cNvSpPr>
            <a:spLocks noGrp="1"/>
          </p:cNvSpPr>
          <p:nvPr>
            <p:ph type="subTitle" idx="1"/>
          </p:nvPr>
        </p:nvSpPr>
        <p:spPr>
          <a:xfrm>
            <a:off x="381000" y="4344990"/>
            <a:ext cx="6994363"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381000" y="2362200"/>
            <a:ext cx="7683914" cy="1378644"/>
          </a:xfrm>
        </p:spPr>
        <p:txBody>
          <a:bodyPr anchor="t" anchorCtr="0">
            <a:noAutofit/>
            <a:scene3d>
              <a:camera prst="orthographicFront"/>
              <a:lightRig rig="flat" dir="t"/>
            </a:scene3d>
            <a:sp3d>
              <a:contourClr>
                <a:schemeClr val="tx1"/>
              </a:contourClr>
            </a:sp3d>
          </a:bodyPr>
          <a:lstStyle>
            <a:lvl1pPr marL="0" indent="0" algn="l">
              <a:buFont typeface="Arial" pitchFamily="34" charset="0"/>
              <a:buNone/>
              <a:defRPr kumimoji="0" lang="en-US" sz="10000" b="0" i="0" u="none" strike="noStrike" kern="1200" cap="none" spc="-150" normalizeH="0" baseline="0" noProof="0" dirty="0" smtClean="0">
                <a:ln w="11430"/>
                <a:gradFill>
                  <a:gsLst>
                    <a:gs pos="0">
                      <a:schemeClr val="tx2"/>
                    </a:gs>
                    <a:gs pos="99000">
                      <a:schemeClr val="tx2"/>
                    </a:gs>
                  </a:gsLst>
                  <a:lin ang="5400000"/>
                </a:gradFill>
                <a:effectLst/>
                <a:uLnTx/>
                <a:uFillTx/>
                <a:latin typeface="Segoe Light" pitchFamily="34" charset="0"/>
                <a:ea typeface="+mn-ea"/>
                <a:cs typeface="+mn-cs"/>
              </a:defRPr>
            </a:lvl1pPr>
          </a:lstStyle>
          <a:p>
            <a:pPr lvl="0"/>
            <a:r>
              <a:rPr lang="en-US" dirty="0" smtClean="0"/>
              <a:t>click to…</a:t>
            </a:r>
          </a:p>
        </p:txBody>
      </p:sp>
      <p:sp>
        <p:nvSpPr>
          <p:cNvPr id="11" name="Slide Number Placeholder 10"/>
          <p:cNvSpPr>
            <a:spLocks noGrp="1"/>
          </p:cNvSpPr>
          <p:nvPr>
            <p:ph type="sldNum" sz="quarter" idx="11"/>
          </p:nvPr>
        </p:nvSpPr>
        <p:spPr/>
        <p:txBody>
          <a:bodyPr/>
          <a:lstStyle/>
          <a:p>
            <a:fld id="{271031BA-9959-4FE2-909F-37D65262A7B4}" type="slidenum">
              <a:rPr lang="en-US" smtClean="0"/>
              <a:pPr/>
              <a:t>‹#›</a:t>
            </a:fld>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75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75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2" decel="10000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1+#ppt_w/2"/>
                          </p:val>
                        </p:tav>
                        <p:tav tm="100000">
                          <p:val>
                            <p:strVal val="#ppt_x"/>
                          </p:val>
                        </p:tav>
                      </p:tavLst>
                    </p:anim>
                    <p:anim calcmode="lin" valueType="num">
                      <p:cBhvr additive="base">
                        <p:cTn dur="750" fill="hold"/>
                        <p:tgtEl>
                          <p:spTgt spid="3"/>
                        </p:tgtEl>
                        <p:attrNameLst>
                          <p:attrName>ppt_y</p:attrName>
                        </p:attrNameLst>
                      </p:cBhvr>
                      <p:tavLst>
                        <p:tav tm="0">
                          <p:val>
                            <p:strVal val="#ppt_y"/>
                          </p:val>
                        </p:tav>
                        <p:tav tm="100000">
                          <p:val>
                            <p:strVal val="#ppt_y"/>
                          </p:val>
                        </p:tav>
                      </p:tavLst>
                    </p:anim>
                  </p:childTnLst>
                </p:cTn>
              </p:par>
            </p:tnLst>
          </p:tmpl>
        </p:tmplLst>
      </p:bldP>
      <p:bldP spid="7" grpId="0" build="p">
        <p:tmplLst>
          <p:tmpl lvl="1">
            <p:tnLst>
              <p:par>
                <p:cTn presetID="2" presetClass="entr" presetSubtype="2" decel="100000"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ppt_y"/>
                          </p:val>
                        </p:tav>
                        <p:tav tm="100000">
                          <p:val>
                            <p:strVal val="#ppt_y"/>
                          </p:val>
                        </p:tav>
                      </p:tavLst>
                    </p:anim>
                  </p:childTnLst>
                </p:cTn>
              </p:par>
            </p:tnLst>
          </p:tmpl>
        </p:tmplLst>
      </p:bldP>
    </p:bldLst>
  </p:timing>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tx1"/>
                    </a:gs>
                    <a:gs pos="100000">
                      <a:schemeClr val="tx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8" name="Text Placeholder 8"/>
          <p:cNvSpPr>
            <a:spLocks noGrp="1"/>
          </p:cNvSpPr>
          <p:nvPr>
            <p:ph type="body" sz="quarter" idx="11" hasCustomPrompt="1"/>
          </p:nvPr>
        </p:nvSpPr>
        <p:spPr>
          <a:xfrm>
            <a:off x="550863" y="6109682"/>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9" name="Title 1"/>
          <p:cNvSpPr>
            <a:spLocks noGrp="1"/>
          </p:cNvSpPr>
          <p:nvPr>
            <p:ph type="ctrTitle"/>
          </p:nvPr>
        </p:nvSpPr>
        <p:spPr>
          <a:xfrm>
            <a:off x="555738" y="2976018"/>
            <a:ext cx="8046720" cy="1098296"/>
          </a:xfrm>
        </p:spPr>
        <p:txBody>
          <a:bodyPr anchor="ctr" anchorCtr="0">
            <a:noAutofit/>
          </a:bodyPr>
          <a:lstStyle>
            <a:lvl1pPr>
              <a:lnSpc>
                <a:spcPct val="90000"/>
              </a:lnSpc>
              <a:tabLst>
                <a:tab pos="1504361" algn="l"/>
              </a:tabLst>
              <a:defRPr lang="en-US" sz="5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smtClean="0"/>
              <a:t>Click to edit Master title style</a:t>
            </a:r>
            <a:endParaRPr lang="en-US" dirty="0"/>
          </a:p>
        </p:txBody>
      </p:sp>
      <p:sp>
        <p:nvSpPr>
          <p:cNvPr id="10" name="Slide Number Placeholder 10"/>
          <p:cNvSpPr>
            <a:spLocks noGrp="1"/>
          </p:cNvSpPr>
          <p:nvPr>
            <p:ph type="sldNum" sz="quarter" idx="12"/>
          </p:nvPr>
        </p:nvSpPr>
        <p:spPr>
          <a:xfrm>
            <a:off x="-1" y="6420022"/>
            <a:ext cx="550863" cy="228600"/>
          </a:xfrm>
        </p:spPr>
        <p:txBody>
          <a:bodyPr/>
          <a:lstStyle/>
          <a:p>
            <a:fld id="{271031BA-9959-4FE2-909F-37D65262A7B4}" type="slidenum">
              <a:rPr lang="en-US" smtClean="0"/>
              <a:pPr/>
              <a:t>‹#›</a:t>
            </a:fld>
            <a:endParaRPr lang="en-US" dirty="0"/>
          </a:p>
        </p:txBody>
      </p:sp>
    </p:spTree>
    <p:extLst>
      <p:ext uri="{BB962C8B-B14F-4D97-AF65-F5344CB8AC3E}">
        <p14:creationId xmlns:p14="http://schemas.microsoft.com/office/powerpoint/2010/main" val="1557447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300"/>
                                  </p:stCondLst>
                                  <p:childTnLst>
                                    <p:set>
                                      <p:cBhvr>
                                        <p:cTn id="6" dur="1" fill="hold">
                                          <p:stCondLst>
                                            <p:cond delay="0"/>
                                          </p:stCondLst>
                                        </p:cTn>
                                        <p:tgtEl>
                                          <p:spTgt spid="9"/>
                                        </p:tgtEl>
                                        <p:attrNameLst>
                                          <p:attrName>style.visibility</p:attrName>
                                        </p:attrNameLst>
                                      </p:cBhvr>
                                      <p:to>
                                        <p:strVal val="visible"/>
                                      </p:to>
                                    </p:set>
                                  </p:childTnLst>
                                </p:cTn>
                              </p:par>
                              <p:par>
                                <p:cTn id="7" presetID="42" presetClass="path" presetSubtype="0" decel="100000" fill="hold" grpId="2" nodeType="withEffect">
                                  <p:stCondLst>
                                    <p:cond delay="250"/>
                                  </p:stCondLst>
                                  <p:childTnLst>
                                    <p:animMotion origin="layout" path="M 2.20661E-6 -4.07407E-6 L 1.02966 -0.00115 " pathEditMode="relative" rAng="0" ptsTypes="AA">
                                      <p:cBhvr>
                                        <p:cTn id="8" dur="750" spd="-100000" fill="hold"/>
                                        <p:tgtEl>
                                          <p:spTgt spid="9"/>
                                        </p:tgtEl>
                                        <p:attrNameLst>
                                          <p:attrName>ppt_x</p:attrName>
                                          <p:attrName>ppt_y</p:attrName>
                                        </p:attrNameLst>
                                      </p:cBhvr>
                                      <p:rCtr x="51483" y="-69"/>
                                    </p:animMotion>
                                  </p:childTnLst>
                                </p:cTn>
                              </p:par>
                              <p:par>
                                <p:cTn id="9" presetID="1" presetClass="entr" presetSubtype="0" fill="hold" grpId="1" nodeType="withEffect">
                                  <p:stCondLst>
                                    <p:cond delay="50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42" presetClass="path" presetSubtype="0" decel="100000" fill="hold" grpId="2" nodeType="withEffect">
                                  <p:stCondLst>
                                    <p:cond delay="500"/>
                                  </p:stCondLst>
                                  <p:childTnLst>
                                    <p:animMotion origin="layout" path="M 4.93885E-6 3.7037E-6 L 1.09367 -0.00324 " pathEditMode="relative" rAng="0" ptsTypes="AA">
                                      <p:cBhvr>
                                        <p:cTn id="12" dur="750" spd="-100000" fill="hold"/>
                                        <p:tgtEl>
                                          <p:spTgt spid="6">
                                            <p:txEl>
                                              <p:pRg st="0" end="0"/>
                                            </p:txEl>
                                          </p:spTgt>
                                        </p:tgtEl>
                                        <p:attrNameLst>
                                          <p:attrName>ppt_x</p:attrName>
                                          <p:attrName>ppt_y</p:attrName>
                                        </p:attrNameLst>
                                      </p:cBhvr>
                                      <p:rCtr x="54684" y="-162"/>
                                    </p:animMotion>
                                  </p:childTnLst>
                                </p:cTn>
                              </p:par>
                              <p:par>
                                <p:cTn id="13" presetID="1" presetClass="entr" presetSubtype="0" fill="hold" grpId="1" nodeType="withEffect">
                                  <p:stCondLst>
                                    <p:cond delay="75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42" presetClass="path" presetSubtype="0" decel="100000" fill="hold" grpId="2" nodeType="withEffect">
                                  <p:stCondLst>
                                    <p:cond delay="750"/>
                                  </p:stCondLst>
                                  <p:childTnLst>
                                    <p:animMotion origin="layout" path="M 1.66797E-6 7.40741E-7 L 1.14754 7.40741E-7 " pathEditMode="relative" rAng="0" ptsTypes="AA">
                                      <p:cBhvr>
                                        <p:cTn id="16" dur="750" spd="-100000" fill="hold"/>
                                        <p:tgtEl>
                                          <p:spTgt spid="7">
                                            <p:txEl>
                                              <p:pRg st="0" end="0"/>
                                            </p:txEl>
                                          </p:spTgt>
                                        </p:tgtEl>
                                        <p:attrNameLst>
                                          <p:attrName>ppt_x</p:attrName>
                                          <p:attrName>ppt_y</p:attrName>
                                        </p:attrNameLst>
                                      </p:cBhvr>
                                      <p:rCtr x="57377" y="0"/>
                                    </p:animMotion>
                                  </p:childTnLst>
                                </p:cTn>
                              </p:par>
                              <p:par>
                                <p:cTn id="17" presetID="1" presetClass="entr" presetSubtype="0" fill="hold" grpId="1" nodeType="withEffect">
                                  <p:stCondLst>
                                    <p:cond delay="100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42" presetClass="path" presetSubtype="0" decel="100000" fill="hold" grpId="2" nodeType="withEffect">
                                  <p:stCondLst>
                                    <p:cond delay="1000"/>
                                  </p:stCondLst>
                                  <p:childTnLst>
                                    <p:animMotion origin="layout" path="M 1.66797E-6 7.40741E-7 L 1.14754 7.40741E-7 " pathEditMode="relative" rAng="0" ptsTypes="AA">
                                      <p:cBhvr>
                                        <p:cTn id="20" dur="750" spd="-100000" fill="hold"/>
                                        <p:tgtEl>
                                          <p:spTgt spid="8">
                                            <p:txEl>
                                              <p:pRg st="0" end="0"/>
                                            </p:txEl>
                                          </p:spTgt>
                                        </p:tgtEl>
                                        <p:attrNameLst>
                                          <p:attrName>ppt_x</p:attrName>
                                          <p:attrName>ppt_y</p:attrName>
                                        </p:attrNameLst>
                                      </p:cBhvr>
                                      <p:rCtr x="57377" y="0"/>
                                    </p:animMotion>
                                  </p:childTnLst>
                                </p:cTn>
                              </p:par>
                              <p:par>
                                <p:cTn id="21" presetID="42" presetClass="path" presetSubtype="0" decel="100000" fill="hold" grpId="0" nodeType="withEffect">
                                  <p:stCondLst>
                                    <p:cond delay="0"/>
                                  </p:stCondLst>
                                  <p:childTnLst>
                                    <p:animMotion origin="layout" path="M -1.04167E-6 -4.07407E-6 L -0.64453 -0.00115 " pathEditMode="relative" rAng="0" ptsTypes="AA">
                                      <p:cBhvr>
                                        <p:cTn id="22" dur="750" fill="hold"/>
                                        <p:tgtEl>
                                          <p:spTgt spid="9"/>
                                        </p:tgtEl>
                                        <p:attrNameLst>
                                          <p:attrName>ppt_x</p:attrName>
                                          <p:attrName>ppt_y</p:attrName>
                                        </p:attrNameLst>
                                      </p:cBhvr>
                                      <p:rCtr x="-32227" y="-69"/>
                                    </p:animMotion>
                                  </p:childTnLst>
                                </p:cTn>
                              </p:par>
                              <p:par>
                                <p:cTn id="23" presetID="42" presetClass="path" presetSubtype="0" decel="100000" fill="hold" grpId="0" nodeType="withEffect">
                                  <p:stCondLst>
                                    <p:cond delay="250"/>
                                  </p:stCondLst>
                                  <p:childTnLst>
                                    <p:animMotion origin="layout" path="M 2.29167E-6 3.7037E-6 L -0.78985 0.00324 " pathEditMode="relative" rAng="0" ptsTypes="AA">
                                      <p:cBhvr>
                                        <p:cTn id="24" dur="750" fill="hold"/>
                                        <p:tgtEl>
                                          <p:spTgt spid="6">
                                            <p:txEl>
                                              <p:pRg st="0" end="0"/>
                                            </p:txEl>
                                          </p:spTgt>
                                        </p:tgtEl>
                                        <p:attrNameLst>
                                          <p:attrName>ppt_x</p:attrName>
                                          <p:attrName>ppt_y</p:attrName>
                                        </p:attrNameLst>
                                      </p:cBhvr>
                                      <p:rCtr x="-39492" y="162"/>
                                    </p:animMotion>
                                  </p:childTnLst>
                                </p:cTn>
                              </p:par>
                              <p:par>
                                <p:cTn id="25" presetID="42" presetClass="path" presetSubtype="0" decel="100000" fill="hold" grpId="0" nodeType="withEffect">
                                  <p:stCondLst>
                                    <p:cond delay="500"/>
                                  </p:stCondLst>
                                  <p:childTnLst>
                                    <p:animMotion origin="layout" path="M -3.26828E-6 7.40741E-7 L -0.72365 0.00393 " pathEditMode="relative" rAng="0" ptsTypes="AA">
                                      <p:cBhvr>
                                        <p:cTn id="26" dur="750" fill="hold"/>
                                        <p:tgtEl>
                                          <p:spTgt spid="7">
                                            <p:txEl>
                                              <p:pRg st="0" end="0"/>
                                            </p:txEl>
                                          </p:spTgt>
                                        </p:tgtEl>
                                        <p:attrNameLst>
                                          <p:attrName>ppt_x</p:attrName>
                                          <p:attrName>ppt_y</p:attrName>
                                        </p:attrNameLst>
                                      </p:cBhvr>
                                      <p:rCtr x="-36183" y="185"/>
                                    </p:animMotion>
                                  </p:childTnLst>
                                </p:cTn>
                              </p:par>
                              <p:par>
                                <p:cTn id="27" presetID="42" presetClass="path" presetSubtype="0" decel="100000" fill="hold" grpId="0" nodeType="withEffect">
                                  <p:stCondLst>
                                    <p:cond delay="750"/>
                                  </p:stCondLst>
                                  <p:childTnLst>
                                    <p:animMotion origin="layout" path="M -3.26828E-6 7.40741E-7 L -0.72365 0.00393 " pathEditMode="relative" rAng="0" ptsTypes="AA">
                                      <p:cBhvr>
                                        <p:cTn id="28" dur="750" fill="hold"/>
                                        <p:tgtEl>
                                          <p:spTgt spid="8">
                                            <p:txEl>
                                              <p:pRg st="0" end="0"/>
                                            </p:txEl>
                                          </p:spTgt>
                                        </p:tgtEl>
                                        <p:attrNameLst>
                                          <p:attrName>ppt_x</p:attrName>
                                          <p:attrName>ppt_y</p:attrName>
                                        </p:attrNameLst>
                                      </p:cBhvr>
                                      <p:rCtr x="-36183"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42" presetClass="path" presetSubtype="0" decel="100000" fill="hold" nodeType="withEffect">
                  <p:stCondLst>
                    <p:cond delay="250"/>
                  </p:stCondLst>
                  <p:childTnLst>
                    <p:animMotion origin="layout" path="M 2.29167E-6 3.7037E-6 L -0.78985 0.00324 " pathEditMode="relative" rAng="0" ptsTypes="AA">
                      <p:cBhvr>
                        <p:cTn dur="750" fill="hold"/>
                        <p:tgtEl>
                          <p:spTgt spid="6"/>
                        </p:tgtEl>
                        <p:attrNameLst>
                          <p:attrName>ppt_x</p:attrName>
                          <p:attrName>ppt_y</p:attrName>
                        </p:attrNameLst>
                      </p:cBhvr>
                      <p:rCtr x="-39492" y="162"/>
                    </p:animMotion>
                  </p:childTnLst>
                </p:cTn>
              </p:par>
            </p:tnLst>
          </p:tmpl>
        </p:tmplLst>
      </p:bldP>
      <p:bldP spid="6" grpId="1" build="p">
        <p:tmplLst>
          <p:tmpl lvl="1">
            <p:tnLst>
              <p:par>
                <p:cTn presetID="1" presetClass="entr" presetSubtype="0" fill="hold" nodeType="withEffect">
                  <p:stCondLst>
                    <p:cond delay="50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6" grpId="2"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6"/>
                        </p:tgtEl>
                        <p:attrNameLst>
                          <p:attrName>ppt_x</p:attrName>
                          <p:attrName>ppt_y</p:attrName>
                        </p:attrNameLst>
                      </p:cBhvr>
                      <p:rCtr x="54684" y="-162"/>
                    </p:animMotion>
                  </p:childTnLst>
                </p:cTn>
              </p:par>
            </p:tnLst>
          </p:tmpl>
        </p:tmplLst>
      </p:bldP>
      <p:bldP spid="7" grpId="0" build="p">
        <p:tmplLst>
          <p:tmpl lvl="1">
            <p:tnLst>
              <p:par>
                <p:cTn presetID="42" presetClass="path" presetSubtype="0" decel="100000" fill="hold" nodeType="withEffect">
                  <p:stCondLst>
                    <p:cond delay="500"/>
                  </p:stCondLst>
                  <p:childTnLst>
                    <p:animMotion origin="layout" path="M -3.26828E-6 7.40741E-7 L -0.72365 0.00393 " pathEditMode="relative" rAng="0" ptsTypes="AA">
                      <p:cBhvr>
                        <p:cTn dur="750" fill="hold"/>
                        <p:tgtEl>
                          <p:spTgt spid="7"/>
                        </p:tgtEl>
                        <p:attrNameLst>
                          <p:attrName>ppt_x</p:attrName>
                          <p:attrName>ppt_y</p:attrName>
                        </p:attrNameLst>
                      </p:cBhvr>
                      <p:rCtr x="-36183" y="185"/>
                    </p:animMotion>
                  </p:childTnLst>
                </p:cTn>
              </p:par>
            </p:tnLst>
          </p:tmpl>
        </p:tmplLst>
      </p:bldP>
      <p:bldP spid="7" grpId="1" build="p">
        <p:tmplLst>
          <p:tmpl lvl="1">
            <p:tnLst>
              <p:par>
                <p:cTn presetID="1" presetClass="entr" presetSubtype="0" fill="hold" nodeType="withEffect">
                  <p:stCondLst>
                    <p:cond delay="75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7" grpId="2"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7"/>
                        </p:tgtEl>
                        <p:attrNameLst>
                          <p:attrName>ppt_x</p:attrName>
                          <p:attrName>ppt_y</p:attrName>
                        </p:attrNameLst>
                      </p:cBhvr>
                      <p:rCtr x="57377" y="0"/>
                    </p:animMotion>
                  </p:childTnLst>
                </p:cTn>
              </p:par>
            </p:tnLst>
          </p:tmpl>
        </p:tmplLst>
      </p:bldP>
      <p:bldP spid="8" grpId="0" build="p">
        <p:tmplLst>
          <p:tmpl lvl="1">
            <p:tnLst>
              <p:par>
                <p:cTn presetID="42" presetClass="path" presetSubtype="0" decel="100000" fill="hold" nodeType="withEffect">
                  <p:stCondLst>
                    <p:cond delay="750"/>
                  </p:stCondLst>
                  <p:childTnLst>
                    <p:animMotion origin="layout" path="M -3.26828E-6 7.40741E-7 L -0.72365 0.00393 " pathEditMode="relative" rAng="0" ptsTypes="AA">
                      <p:cBhvr>
                        <p:cTn dur="750" fill="hold"/>
                        <p:tgtEl>
                          <p:spTgt spid="8"/>
                        </p:tgtEl>
                        <p:attrNameLst>
                          <p:attrName>ppt_x</p:attrName>
                          <p:attrName>ppt_y</p:attrName>
                        </p:attrNameLst>
                      </p:cBhvr>
                      <p:rCtr x="-36183" y="185"/>
                    </p:animMotion>
                  </p:childTnLst>
                </p:cTn>
              </p:par>
            </p:tnLst>
          </p:tmpl>
        </p:tmplLst>
      </p:bldP>
      <p:bldP spid="8" grpId="1" build="p">
        <p:tmplLst>
          <p:tmpl lvl="1">
            <p:tnLst>
              <p:par>
                <p:cTn presetID="1" presetClass="entr" presetSubtype="0" fill="hold" nodeType="withEffect">
                  <p:stCondLst>
                    <p:cond delay="1000"/>
                  </p:stCondLst>
                  <p:childTnLst>
                    <p:set>
                      <p:cBhvr>
                        <p:cTn dur="1" fill="hold">
                          <p:stCondLst>
                            <p:cond delay="0"/>
                          </p:stCondLst>
                        </p:cTn>
                        <p:tgtEl>
                          <p:spTgt spid="8"/>
                        </p:tgtEl>
                        <p:attrNameLst>
                          <p:attrName>style.visibility</p:attrName>
                        </p:attrNameLst>
                      </p:cBhvr>
                      <p:to>
                        <p:strVal val="visible"/>
                      </p:to>
                    </p:set>
                  </p:childTnLst>
                </p:cTn>
              </p:par>
            </p:tnLst>
          </p:tmpl>
        </p:tmplLst>
      </p:bldP>
      <p:bldP spid="8" grpId="2"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8"/>
                        </p:tgtEl>
                        <p:attrNameLst>
                          <p:attrName>ppt_x</p:attrName>
                          <p:attrName>ppt_y</p:attrName>
                        </p:attrNameLst>
                      </p:cBhvr>
                      <p:rCtr x="57377" y="0"/>
                    </p:animMotion>
                  </p:childTnLst>
                </p:cTn>
              </p:par>
            </p:tnLst>
          </p:tmpl>
        </p:tmplLst>
      </p:bldP>
      <p:bldP spid="9" grpId="0"/>
      <p:bldP spid="9" grpId="1"/>
      <p:bldP spid="9" grpId="2"/>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p>
            <a:r>
              <a:rPr lang="en-US" dirty="0" smtClean="0"/>
              <a:t>Master title style</a:t>
            </a:r>
            <a:endParaRPr lang="en-US" dirty="0"/>
          </a:p>
        </p:txBody>
      </p:sp>
      <p:sp>
        <p:nvSpPr>
          <p:cNvPr id="5" name="Text Placeholder 4"/>
          <p:cNvSpPr>
            <a:spLocks noGrp="1"/>
          </p:cNvSpPr>
          <p:nvPr>
            <p:ph type="body" sz="quarter" idx="10"/>
          </p:nvPr>
        </p:nvSpPr>
        <p:spPr>
          <a:xfrm>
            <a:off x="381000" y="1447800"/>
            <a:ext cx="8363938" cy="2068259"/>
          </a:xfrm>
        </p:spPr>
        <p:txBody>
          <a:bodyPr/>
          <a:lstStyle>
            <a:lvl1pPr marL="347663" indent="-347663">
              <a:defRPr sz="3200"/>
            </a:lvl1pPr>
            <a:lvl2pPr marL="744538" indent="-284163">
              <a:defRPr sz="2800"/>
            </a:lvl2pPr>
            <a:lvl3pPr marL="1143000" indent="-287338">
              <a:defRPr sz="2400"/>
            </a:lvl3pPr>
            <a:lvl4pPr marL="1490663" indent="-231775">
              <a:defRPr sz="2000"/>
            </a:lvl4pPr>
            <a:lvl5pPr marL="1828800" indent="-223838">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a:t>
            </a:fld>
            <a:endParaRPr lang="en-US" dirty="0"/>
          </a:p>
        </p:txBody>
      </p:sp>
    </p:spTree>
  </p:cSld>
  <p:clrMapOvr>
    <a:masterClrMapping/>
  </p:clrMapOvr>
  <p:transition>
    <p:fade/>
  </p:transition>
  <p:timing>
    <p:tnLst>
      <p:par>
        <p:cTn id="1" dur="indefinite" restart="never" nodeType="tmRoot"/>
      </p:par>
    </p:tnLst>
  </p:timing>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431800"/>
            <a:ext cx="8363938" cy="923330"/>
          </a:xfrm>
        </p:spPr>
        <p:txBody>
          <a:bodyPr/>
          <a:lstStyle>
            <a:lvl1pPr>
              <a:lnSpc>
                <a:spcPct val="100000"/>
              </a:lnSpc>
              <a:defRPr>
                <a:gradFill flip="none" rotWithShape="1">
                  <a:gsLst>
                    <a:gs pos="0">
                      <a:schemeClr val="bg1"/>
                    </a:gs>
                    <a:gs pos="86000">
                      <a:schemeClr val="bg1"/>
                    </a:gs>
                  </a:gsLst>
                  <a:lin ang="5400000" scaled="0"/>
                  <a:tileRect/>
                </a:gradFill>
              </a:defRPr>
            </a:lvl1pPr>
          </a:lstStyle>
          <a:p>
            <a:r>
              <a:rPr lang="en-US" dirty="0" smtClean="0"/>
              <a:t>Master title style</a:t>
            </a:r>
            <a:endParaRPr lang="en-US" dirty="0"/>
          </a:p>
        </p:txBody>
      </p:sp>
      <p:sp>
        <p:nvSpPr>
          <p:cNvPr id="3" name="Content Placeholder 2"/>
          <p:cNvSpPr>
            <a:spLocks noGrp="1"/>
          </p:cNvSpPr>
          <p:nvPr>
            <p:ph idx="1"/>
          </p:nvPr>
        </p:nvSpPr>
        <p:spPr>
          <a:xfrm>
            <a:off x="380770" y="1905000"/>
            <a:ext cx="8363938" cy="2609945"/>
          </a:xfrm>
        </p:spPr>
        <p:txBody>
          <a:bodyPr/>
          <a:lstStyle>
            <a:lvl1pPr>
              <a:lnSpc>
                <a:spcPct val="90000"/>
              </a:lnSpc>
              <a:defRPr sz="3200"/>
            </a:lvl1pPr>
            <a:lvl2pPr>
              <a:lnSpc>
                <a:spcPct val="90000"/>
              </a:lnSpc>
              <a:defRPr sz="3200"/>
            </a:lvl2pPr>
            <a:lvl3pPr>
              <a:lnSpc>
                <a:spcPct val="90000"/>
              </a:lnSpc>
              <a:defRPr sz="3200"/>
            </a:lvl3pPr>
            <a:lvl4pPr>
              <a:lnSpc>
                <a:spcPct val="90000"/>
              </a:lnSpc>
              <a:defRPr sz="3200"/>
            </a:lvl4pPr>
            <a:lvl5pPr>
              <a:lnSpc>
                <a:spcPct val="90000"/>
              </a:lnSpc>
              <a:defRPr sz="3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4"/>
          <p:cNvSpPr>
            <a:spLocks noGrp="1"/>
          </p:cNvSpPr>
          <p:nvPr>
            <p:ph type="sldNum" sz="quarter" idx="10"/>
          </p:nvPr>
        </p:nvSpPr>
        <p:spPr/>
        <p:txBody>
          <a:bodyPr/>
          <a:lstStyle/>
          <a:p>
            <a:fld id="{271031BA-9959-4FE2-909F-37D65262A7B4}" type="slidenum">
              <a:rPr lang="en-US" smtClean="0"/>
              <a:pPr/>
              <a:t>‹#›</a:t>
            </a:fld>
            <a:endParaRPr lang="en-US" dirty="0"/>
          </a:p>
        </p:txBody>
      </p:sp>
    </p:spTree>
  </p:cSld>
  <p:clrMapOvr>
    <a:masterClrMapping/>
  </p:clrMapOvr>
  <p:transition>
    <p:fade/>
  </p:transition>
  <p:timing>
    <p:tnLst>
      <p:par>
        <p:cTn id="1" dur="indefinite" restart="never" nodeType="tmRoot"/>
      </p:par>
    </p:tnLst>
  </p:timing>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
        <p:nvSpPr>
          <p:cNvPr id="3" name="Content Placeholder 2"/>
          <p:cNvSpPr>
            <a:spLocks noGrp="1"/>
          </p:cNvSpPr>
          <p:nvPr>
            <p:ph sz="half" idx="1"/>
          </p:nvPr>
        </p:nvSpPr>
        <p:spPr>
          <a:xfrm>
            <a:off x="456128" y="1902941"/>
            <a:ext cx="4115872" cy="2351413"/>
          </a:xfrm>
        </p:spPr>
        <p:txBody>
          <a:bodyPr/>
          <a:lstStyle>
            <a:lvl1pPr marL="339976" indent="-339976">
              <a:lnSpc>
                <a:spcPct val="90000"/>
              </a:lnSpc>
              <a:defRPr sz="2800"/>
            </a:lvl1pPr>
            <a:lvl2pPr marL="673338" indent="-325424">
              <a:lnSpc>
                <a:spcPct val="90000"/>
              </a:lnSpc>
              <a:defRPr sz="2800"/>
            </a:lvl2pPr>
            <a:lvl3pPr marL="953785" indent="-288384">
              <a:lnSpc>
                <a:spcPct val="90000"/>
              </a:lnSpc>
              <a:defRPr sz="2800"/>
            </a:lvl3pPr>
            <a:lvl4pPr marL="1227618" indent="-273833">
              <a:lnSpc>
                <a:spcPct val="90000"/>
              </a:lnSpc>
              <a:defRPr sz="2800"/>
            </a:lvl4pPr>
            <a:lvl5pPr marL="1516002" indent="-280447">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4193" y="1902941"/>
            <a:ext cx="4115872" cy="2671501"/>
          </a:xfrm>
        </p:spPr>
        <p:txBody>
          <a:bodyPr/>
          <a:lstStyle>
            <a:lvl1pPr marL="347914" indent="-347914">
              <a:lnSpc>
                <a:spcPct val="90000"/>
              </a:lnSpc>
              <a:defRPr sz="2800"/>
            </a:lvl1pPr>
            <a:lvl2pPr marL="673338" indent="-339976">
              <a:lnSpc>
                <a:spcPct val="90000"/>
              </a:lnSpc>
              <a:defRPr sz="2800"/>
            </a:lvl2pPr>
            <a:lvl3pPr marL="961722" indent="-302936">
              <a:lnSpc>
                <a:spcPct val="90000"/>
              </a:lnSpc>
              <a:defRPr sz="2800"/>
            </a:lvl3pPr>
            <a:lvl4pPr marL="1227618" indent="-265896">
              <a:lnSpc>
                <a:spcPct val="90000"/>
              </a:lnSpc>
              <a:defRPr sz="2800"/>
            </a:lvl4pPr>
            <a:lvl5pPr marL="1516002" indent="-273833">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0"/>
          </p:nvPr>
        </p:nvSpPr>
        <p:spPr/>
        <p:txBody>
          <a:bodyPr/>
          <a:lstStyle/>
          <a:p>
            <a:fld id="{271031BA-9959-4FE2-909F-37D65262A7B4}" type="slidenum">
              <a:rPr lang="en-US" smtClean="0"/>
              <a:pPr/>
              <a:t>‹#›</a:t>
            </a:fld>
            <a:endParaRPr lang="en-US" dirty="0"/>
          </a:p>
        </p:txBody>
      </p:sp>
    </p:spTree>
  </p:cSld>
  <p:clrMapOvr>
    <a:masterClrMapping/>
  </p:clrMapOvr>
  <p:transition>
    <p:fade/>
  </p:transition>
  <p:timing>
    <p:tnLst>
      <p:par>
        <p:cTn id="1" dur="indefinite" restart="never" nodeType="tmRoot"/>
      </p:par>
    </p:tnLst>
  </p:timing>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lvl1pPr>
              <a:defRPr sz="4800"/>
            </a:lvl1pPr>
          </a:lstStyle>
          <a:p>
            <a:r>
              <a:rPr lang="en-US" dirty="0" smtClean="0"/>
              <a:t>Master title style</a:t>
            </a:r>
            <a:endParaRPr lang="en-US" dirty="0"/>
          </a:p>
        </p:txBody>
      </p:sp>
      <p:sp>
        <p:nvSpPr>
          <p:cNvPr id="4" name="Slide Number Placeholder 3"/>
          <p:cNvSpPr>
            <a:spLocks noGrp="1"/>
          </p:cNvSpPr>
          <p:nvPr>
            <p:ph type="sldNum" sz="quarter" idx="10"/>
          </p:nvPr>
        </p:nvSpPr>
        <p:spPr/>
        <p:txBody>
          <a:bodyPr/>
          <a:lstStyle/>
          <a:p>
            <a:fld id="{271031BA-9959-4FE2-909F-37D65262A7B4}" type="slidenum">
              <a:rPr lang="en-US" smtClean="0"/>
              <a:pPr/>
              <a:t>‹#›</a:t>
            </a:fld>
            <a:endParaRPr lang="en-US" dirty="0"/>
          </a:p>
        </p:txBody>
      </p:sp>
    </p:spTree>
  </p:cSld>
  <p:clrMapOvr>
    <a:masterClrMapping/>
  </p:clrMapOvr>
  <p:transition>
    <p:fade/>
  </p:transition>
  <p:timing>
    <p:tnLst>
      <p:par>
        <p:cTn id="1" dur="indefinite" restart="never" nodeType="tmRoot"/>
      </p:par>
    </p:tnLst>
  </p:timing>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gradFill flip="none" rotWithShape="1">
                  <a:gsLst>
                    <a:gs pos="833">
                      <a:srgbClr val="FFFFFF"/>
                    </a:gs>
                    <a:gs pos="100000">
                      <a:srgbClr val="FFFFFF"/>
                    </a:gs>
                  </a:gsLst>
                  <a:lin ang="5400000" scaled="0"/>
                  <a:tileRect/>
                </a:gradFill>
              </a:defRPr>
            </a:lvl1pPr>
          </a:lstStyle>
          <a:p>
            <a:r>
              <a:rPr lang="en-US" dirty="0" smtClean="0"/>
              <a:t>Master title style</a:t>
            </a:r>
            <a:endParaRPr lang="en-US" dirty="0"/>
          </a:p>
        </p:txBody>
      </p:sp>
      <p:sp>
        <p:nvSpPr>
          <p:cNvPr id="6" name="Text Placeholder 5"/>
          <p:cNvSpPr>
            <a:spLocks noGrp="1"/>
          </p:cNvSpPr>
          <p:nvPr>
            <p:ph type="body" sz="quarter" idx="10"/>
          </p:nvPr>
        </p:nvSpPr>
        <p:spPr bwMode="white">
          <a:xfrm>
            <a:off x="389436" y="1447800"/>
            <a:ext cx="8363938"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gradFill>
                  <a:gsLst>
                    <a:gs pos="0">
                      <a:srgbClr val="FFFFFF"/>
                    </a:gs>
                    <a:gs pos="100000">
                      <a:srgbClr val="FFFFFF"/>
                    </a:gs>
                  </a:gsLst>
                  <a:lin ang="5400000" scaled="0"/>
                </a:gradFill>
              </a:defRPr>
            </a:lvl1pPr>
          </a:lstStyle>
          <a:p>
            <a:r>
              <a:rPr lang="en-US" dirty="0" smtClean="0"/>
              <a:t>Master title style</a:t>
            </a:r>
            <a:endParaRPr lang="en-US" dirty="0"/>
          </a:p>
        </p:txBody>
      </p:sp>
      <p:sp>
        <p:nvSpPr>
          <p:cNvPr id="6" name="Text Placeholder 5"/>
          <p:cNvSpPr>
            <a:spLocks noGrp="1"/>
          </p:cNvSpPr>
          <p:nvPr>
            <p:ph type="body" sz="quarter" idx="10"/>
          </p:nvPr>
        </p:nvSpPr>
        <p:spPr bwMode="white">
          <a:xfrm>
            <a:off x="389436" y="1447800"/>
            <a:ext cx="8363938"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pc="-100" baseline="0"/>
            </a:lvl1pPr>
          </a:lstStyle>
          <a:p>
            <a:r>
              <a:rPr lang="en-US" dirty="0" smtClean="0"/>
              <a:t>Master title style</a:t>
            </a:r>
            <a:endParaRPr lang="en-US" dirty="0"/>
          </a:p>
        </p:txBody>
      </p:sp>
      <p:sp>
        <p:nvSpPr>
          <p:cNvPr id="6" name="Text Placeholder 5"/>
          <p:cNvSpPr>
            <a:spLocks noGrp="1"/>
          </p:cNvSpPr>
          <p:nvPr>
            <p:ph type="body" sz="quarter" idx="10"/>
          </p:nvPr>
        </p:nvSpPr>
        <p:spPr>
          <a:xfrm>
            <a:off x="389437" y="1905000"/>
            <a:ext cx="8363937" cy="210826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WP7 Annimation ">
    <p:bg>
      <p:bgPr>
        <a:solidFill>
          <a:schemeClr val="bg1"/>
        </a:solidFill>
        <a:effectLst/>
      </p:bgPr>
    </p:bg>
    <p:spTree>
      <p:nvGrpSpPr>
        <p:cNvPr id="1" name=""/>
        <p:cNvGrpSpPr/>
        <p:nvPr/>
      </p:nvGrpSpPr>
      <p:grpSpPr>
        <a:xfrm>
          <a:off x="0" y="0"/>
          <a:ext cx="0" cy="0"/>
          <a:chOff x="0" y="0"/>
          <a:chExt cx="0" cy="0"/>
        </a:xfrm>
      </p:grpSpPr>
      <p:sp>
        <p:nvSpPr>
          <p:cNvPr id="13" name="Rectangle 12"/>
          <p:cNvSpPr/>
          <p:nvPr/>
        </p:nvSpPr>
        <p:spPr bwMode="auto">
          <a:xfrm>
            <a:off x="6539421" y="2362200"/>
            <a:ext cx="2221992" cy="2221992"/>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4" name="Title 1"/>
          <p:cNvSpPr txBox="1">
            <a:spLocks/>
          </p:cNvSpPr>
          <p:nvPr/>
        </p:nvSpPr>
        <p:spPr>
          <a:xfrm>
            <a:off x="6565940" y="2428875"/>
            <a:ext cx="2187433" cy="2221991"/>
          </a:xfrm>
          <a:prstGeom prst="rect">
            <a:avLst/>
          </a:prstGeom>
        </p:spPr>
        <p:txBody>
          <a:bodyPr vert="horz" wrap="square" lIns="182880" tIns="182880" rIns="182880" bIns="182880" rtlCol="0" anchor="ctr" anchorCtr="0">
            <a:noAutofit/>
          </a:bodyPr>
          <a:lstStyle>
            <a:lvl1pPr algn="l" defTabSz="914363" rtl="0" eaLnBrk="1" latinLnBrk="0" hangingPunct="1">
              <a:lnSpc>
                <a:spcPct val="90000"/>
              </a:lnSpc>
              <a:spcBef>
                <a:spcPct val="0"/>
              </a:spcBef>
              <a:buNone/>
              <a:tabLst>
                <a:tab pos="1504361" algn="l"/>
              </a:tabLst>
              <a:defRPr lang="en-US" sz="4800" b="0" kern="1200" cap="none" spc="-113"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algn="ctr" defTabSz="685961"/>
            <a:r>
              <a:rPr sz="7200" smtClean="0">
                <a:gradFill>
                  <a:gsLst>
                    <a:gs pos="0">
                      <a:srgbClr val="FFFFFF"/>
                    </a:gs>
                    <a:gs pos="100000">
                      <a:srgbClr val="FFFFFF"/>
                    </a:gs>
                  </a:gsLst>
                  <a:lin ang="5400000" scaled="0"/>
                </a:gradFill>
                <a:latin typeface="Segoe"/>
              </a:rPr>
              <a:t>7</a:t>
            </a:r>
            <a:endParaRPr sz="7200">
              <a:gradFill>
                <a:gsLst>
                  <a:gs pos="0">
                    <a:srgbClr val="FFFFFF"/>
                  </a:gs>
                  <a:gs pos="100000">
                    <a:srgbClr val="FFFFFF"/>
                  </a:gs>
                </a:gsLst>
                <a:lin ang="5400000" scaled="0"/>
              </a:gradFill>
              <a:latin typeface="Segoe"/>
            </a:endParaRPr>
          </a:p>
        </p:txBody>
      </p:sp>
      <p:sp>
        <p:nvSpPr>
          <p:cNvPr id="15" name="Rectangle 14"/>
          <p:cNvSpPr/>
          <p:nvPr/>
        </p:nvSpPr>
        <p:spPr bwMode="auto">
          <a:xfrm>
            <a:off x="381000" y="2362200"/>
            <a:ext cx="6053328" cy="2221992"/>
          </a:xfrm>
          <a:prstGeom prst="rect">
            <a:avLst/>
          </a:prstGeom>
          <a:solidFill>
            <a:schemeClr val="accent4"/>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accent1"/>
                    </a:gs>
                    <a:gs pos="100000">
                      <a:schemeClr val="accent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1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18" name="Text Placeholder 8"/>
          <p:cNvSpPr>
            <a:spLocks noGrp="1"/>
          </p:cNvSpPr>
          <p:nvPr>
            <p:ph type="body" sz="quarter" idx="11" hasCustomPrompt="1"/>
          </p:nvPr>
        </p:nvSpPr>
        <p:spPr>
          <a:xfrm>
            <a:off x="550864" y="6135082"/>
            <a:ext cx="5667056" cy="291118"/>
          </a:xfrm>
        </p:spPr>
        <p:txBody>
          <a:bodyPr/>
          <a:lstStyle>
            <a:lvl1pPr marL="0" indent="0">
              <a:spcBef>
                <a:spcPts val="0"/>
              </a:spcBef>
              <a:buFontTx/>
              <a:buNone/>
              <a:defRPr sz="2100">
                <a:solidFill>
                  <a:schemeClr val="tx1"/>
                </a:solidFill>
                <a:latin typeface="Segoe Light" pitchFamily="34" charset="0"/>
              </a:defRPr>
            </a:lvl1pPr>
          </a:lstStyle>
          <a:p>
            <a:r>
              <a:rPr lang="en-US" dirty="0" smtClean="0"/>
              <a:t>Click to edit Master subtitle style</a:t>
            </a:r>
            <a:endParaRPr lang="en-US" dirty="0"/>
          </a:p>
        </p:txBody>
      </p:sp>
      <p:sp>
        <p:nvSpPr>
          <p:cNvPr id="28" name="Title 1"/>
          <p:cNvSpPr>
            <a:spLocks noGrp="1"/>
          </p:cNvSpPr>
          <p:nvPr>
            <p:ph type="ctrTitle"/>
          </p:nvPr>
        </p:nvSpPr>
        <p:spPr>
          <a:xfrm>
            <a:off x="555738" y="2924048"/>
            <a:ext cx="4114800" cy="1098296"/>
          </a:xfrm>
        </p:spPr>
        <p:txBody>
          <a:bodyPr anchor="ctr" anchorCtr="0">
            <a:noAutofit/>
          </a:bodyPr>
          <a:lstStyle>
            <a:lvl1pPr>
              <a:lnSpc>
                <a:spcPct val="90000"/>
              </a:lnSpc>
              <a:tabLst>
                <a:tab pos="1504361" algn="l"/>
              </a:tabLst>
              <a:defRPr lang="en-US" sz="4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smtClean="0"/>
              <a:t>Click to edit Master title style</a:t>
            </a:r>
            <a:endParaRPr lang="en-US" dirty="0"/>
          </a:p>
        </p:txBody>
      </p:sp>
      <p:pic>
        <p:nvPicPr>
          <p:cNvPr id="29" name="Picture 2"/>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4777476" y="1664214"/>
            <a:ext cx="2104297" cy="3787261"/>
          </a:xfrm>
          <a:prstGeom prst="rect">
            <a:avLst/>
          </a:prstGeom>
          <a:noFill/>
          <a:ln w="9525">
            <a:noFill/>
            <a:miter lim="800000"/>
            <a:headEnd/>
            <a:tailEnd/>
          </a:ln>
          <a:effectLst>
            <a:outerShdw dist="12700" dir="5400000" algn="t" rotWithShape="0">
              <a:prstClr val="black">
                <a:alpha val="40000"/>
              </a:prstClr>
            </a:outerShdw>
          </a:effectLst>
        </p:spPr>
      </p:pic>
      <p:pic>
        <p:nvPicPr>
          <p:cNvPr id="30"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2"/>
          </p:nvPr>
        </p:nvSpPr>
        <p:spPr>
          <a:xfrm>
            <a:off x="550863" y="4206875"/>
            <a:ext cx="4125912" cy="332399"/>
          </a:xfrm>
        </p:spPr>
        <p:txBody>
          <a:bodyPr/>
          <a:lstStyle>
            <a:lvl1pPr marL="0" indent="0">
              <a:buNone/>
              <a:defRPr sz="2400">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12413011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42" presetClass="path" presetSubtype="0" decel="100000" fill="hold" grpId="2" nodeType="withEffect">
                                  <p:stCondLst>
                                    <p:cond delay="0"/>
                                  </p:stCondLst>
                                  <p:childTnLst>
                                    <p:animMotion origin="layout" path="M 2.5553E-6 -4.07407E-6 L 1.03604 -0.00115 " pathEditMode="relative" rAng="0" ptsTypes="AA">
                                      <p:cBhvr>
                                        <p:cTn id="8" dur="750" spd="-100000" fill="hold"/>
                                        <p:tgtEl>
                                          <p:spTgt spid="15"/>
                                        </p:tgtEl>
                                        <p:attrNameLst>
                                          <p:attrName>ppt_x</p:attrName>
                                          <p:attrName>ppt_y</p:attrName>
                                        </p:attrNameLst>
                                      </p:cBhvr>
                                      <p:rCtr x="51795" y="-69"/>
                                    </p:animMotion>
                                  </p:childTnLst>
                                </p:cTn>
                              </p:par>
                              <p:par>
                                <p:cTn id="9" presetID="1" presetClass="entr" presetSubtype="0" fill="hold" grpId="0" nodeType="withEffect">
                                  <p:stCondLst>
                                    <p:cond delay="300"/>
                                  </p:stCondLst>
                                  <p:childTnLst>
                                    <p:set>
                                      <p:cBhvr>
                                        <p:cTn id="10" dur="1" fill="hold">
                                          <p:stCondLst>
                                            <p:cond delay="0"/>
                                          </p:stCondLst>
                                        </p:cTn>
                                        <p:tgtEl>
                                          <p:spTgt spid="28"/>
                                        </p:tgtEl>
                                        <p:attrNameLst>
                                          <p:attrName>style.visibility</p:attrName>
                                        </p:attrNameLst>
                                      </p:cBhvr>
                                      <p:to>
                                        <p:strVal val="visible"/>
                                      </p:to>
                                    </p:set>
                                  </p:childTnLst>
                                </p:cTn>
                              </p:par>
                              <p:par>
                                <p:cTn id="11" presetID="42" presetClass="path" presetSubtype="0" decel="100000" fill="hold" grpId="1" nodeType="withEffect">
                                  <p:stCondLst>
                                    <p:cond delay="250"/>
                                  </p:stCondLst>
                                  <p:childTnLst>
                                    <p:animMotion origin="layout" path="M 2.20661E-6 -4.07407E-6 L 1.02966 -0.00115 " pathEditMode="relative" rAng="0" ptsTypes="AA">
                                      <p:cBhvr>
                                        <p:cTn id="12" dur="750" spd="-100000" fill="hold"/>
                                        <p:tgtEl>
                                          <p:spTgt spid="28"/>
                                        </p:tgtEl>
                                        <p:attrNameLst>
                                          <p:attrName>ppt_x</p:attrName>
                                          <p:attrName>ppt_y</p:attrName>
                                        </p:attrNameLst>
                                      </p:cBhvr>
                                      <p:rCtr x="51483" y="-69"/>
                                    </p:animMotion>
                                  </p:childTnLst>
                                </p:cTn>
                              </p:par>
                              <p:par>
                                <p:cTn id="13" presetID="2" presetClass="entr" presetSubtype="2" fill="hold" grpId="0" nodeType="withEffect">
                                  <p:stCondLst>
                                    <p:cond delay="25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ppt_y"/>
                                          </p:val>
                                        </p:tav>
                                        <p:tav tm="100000">
                                          <p:val>
                                            <p:strVal val="#ppt_y"/>
                                          </p:val>
                                        </p:tav>
                                      </p:tavLst>
                                    </p:anim>
                                  </p:childTnLst>
                                </p:cTn>
                              </p:par>
                              <p:par>
                                <p:cTn id="17" presetID="1" presetClass="entr" presetSubtype="0" fill="hold" grpId="0" nodeType="withEffect">
                                  <p:stCondLst>
                                    <p:cond delay="50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par>
                                <p:cTn id="19" presetID="42" presetClass="path" presetSubtype="0" decel="100000" fill="hold" grpId="1" nodeType="withEffect">
                                  <p:stCondLst>
                                    <p:cond delay="500"/>
                                  </p:stCondLst>
                                  <p:childTnLst>
                                    <p:animMotion origin="layout" path="M 4.93885E-6 3.7037E-6 L 1.09367 -0.00324 " pathEditMode="relative" rAng="0" ptsTypes="AA">
                                      <p:cBhvr>
                                        <p:cTn id="20" dur="750" spd="-100000" fill="hold"/>
                                        <p:tgtEl>
                                          <p:spTgt spid="16">
                                            <p:txEl>
                                              <p:pRg st="0" end="0"/>
                                            </p:txEl>
                                          </p:spTgt>
                                        </p:tgtEl>
                                        <p:attrNameLst>
                                          <p:attrName>ppt_x</p:attrName>
                                          <p:attrName>ppt_y</p:attrName>
                                        </p:attrNameLst>
                                      </p:cBhvr>
                                      <p:rCtr x="54684" y="-162"/>
                                    </p:animMotion>
                                  </p:childTnLst>
                                </p:cTn>
                              </p:par>
                              <p:par>
                                <p:cTn id="21" presetID="1" presetClass="entr" presetSubtype="0" fill="hold" grpId="0" nodeType="withEffect">
                                  <p:stCondLst>
                                    <p:cond delay="75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42" presetClass="path" presetSubtype="0" decel="100000" fill="hold" grpId="1" nodeType="withEffect">
                                  <p:stCondLst>
                                    <p:cond delay="750"/>
                                  </p:stCondLst>
                                  <p:childTnLst>
                                    <p:animMotion origin="layout" path="M 1.66797E-6 7.40741E-7 L 1.14754 7.40741E-7 " pathEditMode="relative" rAng="0" ptsTypes="AA">
                                      <p:cBhvr>
                                        <p:cTn id="24" dur="750" spd="-100000" fill="hold"/>
                                        <p:tgtEl>
                                          <p:spTgt spid="17">
                                            <p:txEl>
                                              <p:pRg st="0" end="0"/>
                                            </p:txEl>
                                          </p:spTgt>
                                        </p:tgtEl>
                                        <p:attrNameLst>
                                          <p:attrName>ppt_x</p:attrName>
                                          <p:attrName>ppt_y</p:attrName>
                                        </p:attrNameLst>
                                      </p:cBhvr>
                                      <p:rCtr x="57377" y="0"/>
                                    </p:animMotion>
                                  </p:childTnLst>
                                </p:cTn>
                              </p:par>
                              <p:par>
                                <p:cTn id="25" presetID="1" presetClass="entr" presetSubtype="0" fill="hold" grpId="0" nodeType="withEffect">
                                  <p:stCondLst>
                                    <p:cond delay="100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par>
                                <p:cTn id="27" presetID="42" presetClass="path" presetSubtype="0" decel="100000" fill="hold" grpId="1" nodeType="withEffect">
                                  <p:stCondLst>
                                    <p:cond delay="1000"/>
                                  </p:stCondLst>
                                  <p:childTnLst>
                                    <p:animMotion origin="layout" path="M 1.66797E-6 7.40741E-7 L 1.14754 7.40741E-7 " pathEditMode="relative" rAng="0" ptsTypes="AA">
                                      <p:cBhvr>
                                        <p:cTn id="28" dur="750" spd="-100000" fill="hold"/>
                                        <p:tgtEl>
                                          <p:spTgt spid="18">
                                            <p:txEl>
                                              <p:pRg st="0" end="0"/>
                                            </p:txEl>
                                          </p:spTgt>
                                        </p:tgtEl>
                                        <p:attrNameLst>
                                          <p:attrName>ppt_x</p:attrName>
                                          <p:attrName>ppt_y</p:attrName>
                                        </p:attrNameLst>
                                      </p:cBhvr>
                                      <p:rCtr x="57377" y="0"/>
                                    </p:animMotion>
                                  </p:childTnLst>
                                </p:cTn>
                              </p:par>
                              <p:par>
                                <p:cTn id="29" presetID="1" presetClass="entr" presetSubtype="0" fill="hold" grpId="0" nodeType="withEffect">
                                  <p:stCondLst>
                                    <p:cond delay="800"/>
                                  </p:stCondLst>
                                  <p:childTnLst>
                                    <p:set>
                                      <p:cBhvr>
                                        <p:cTn id="30" dur="1" fill="hold">
                                          <p:stCondLst>
                                            <p:cond delay="0"/>
                                          </p:stCondLst>
                                        </p:cTn>
                                        <p:tgtEl>
                                          <p:spTgt spid="14"/>
                                        </p:tgtEl>
                                        <p:attrNameLst>
                                          <p:attrName>style.visibility</p:attrName>
                                        </p:attrNameLst>
                                      </p:cBhvr>
                                      <p:to>
                                        <p:strVal val="visible"/>
                                      </p:to>
                                    </p:set>
                                  </p:childTnLst>
                                </p:cTn>
                              </p:par>
                              <p:par>
                                <p:cTn id="31" presetID="42" presetClass="path" presetSubtype="0" decel="100000" fill="hold" grpId="1" nodeType="withEffect">
                                  <p:stCondLst>
                                    <p:cond delay="800"/>
                                  </p:stCondLst>
                                  <p:childTnLst>
                                    <p:animMotion origin="layout" path="M 2.20661E-6 -4.07407E-6 L 1.02966 -0.00115 " pathEditMode="relative" rAng="0" ptsTypes="AA">
                                      <p:cBhvr>
                                        <p:cTn id="32" dur="750" spd="-100000" fill="hold"/>
                                        <p:tgtEl>
                                          <p:spTgt spid="14"/>
                                        </p:tgtEl>
                                        <p:attrNameLst>
                                          <p:attrName>ppt_x</p:attrName>
                                          <p:attrName>ppt_y</p:attrName>
                                        </p:attrNameLst>
                                      </p:cBhvr>
                                      <p:rCtr x="51483" y="-69"/>
                                    </p:animMotion>
                                  </p:childTnLst>
                                </p:cTn>
                              </p:par>
                              <p:par>
                                <p:cTn id="33" presetID="1" presetClass="entr" presetSubtype="0" fill="hold" grpId="1" nodeType="withEffect">
                                  <p:stCondLst>
                                    <p:cond delay="800"/>
                                  </p:stCondLst>
                                  <p:childTnLst>
                                    <p:set>
                                      <p:cBhvr>
                                        <p:cTn id="34" dur="1" fill="hold">
                                          <p:stCondLst>
                                            <p:cond delay="0"/>
                                          </p:stCondLst>
                                        </p:cTn>
                                        <p:tgtEl>
                                          <p:spTgt spid="13"/>
                                        </p:tgtEl>
                                        <p:attrNameLst>
                                          <p:attrName>style.visibility</p:attrName>
                                        </p:attrNameLst>
                                      </p:cBhvr>
                                      <p:to>
                                        <p:strVal val="visible"/>
                                      </p:to>
                                    </p:set>
                                  </p:childTnLst>
                                </p:cTn>
                              </p:par>
                              <p:par>
                                <p:cTn id="35" presetID="42" presetClass="path" presetSubtype="0" decel="100000" fill="hold" grpId="2" nodeType="withEffect">
                                  <p:stCondLst>
                                    <p:cond delay="800"/>
                                  </p:stCondLst>
                                  <p:childTnLst>
                                    <p:animMotion origin="layout" path="M 2.5553E-6 -4.07407E-6 L 1.03604 -0.00115 " pathEditMode="relative" rAng="0" ptsTypes="AA">
                                      <p:cBhvr>
                                        <p:cTn id="36" dur="750" spd="-100000" fill="hold"/>
                                        <p:tgtEl>
                                          <p:spTgt spid="13"/>
                                        </p:tgtEl>
                                        <p:attrNameLst>
                                          <p:attrName>ppt_x</p:attrName>
                                          <p:attrName>ppt_y</p:attrName>
                                        </p:attrNameLst>
                                      </p:cBhvr>
                                      <p:rCtr x="51795" y="-69"/>
                                    </p:animMotion>
                                  </p:childTnLst>
                                </p:cTn>
                              </p:par>
                              <p:par>
                                <p:cTn id="37" presetID="1" presetClass="entr" presetSubtype="0" fill="hold" nodeType="withEffect">
                                  <p:stCondLst>
                                    <p:cond delay="1000"/>
                                  </p:stCondLst>
                                  <p:childTnLst>
                                    <p:set>
                                      <p:cBhvr>
                                        <p:cTn id="38" dur="1" fill="hold">
                                          <p:stCondLst>
                                            <p:cond delay="0"/>
                                          </p:stCondLst>
                                        </p:cTn>
                                        <p:tgtEl>
                                          <p:spTgt spid="29"/>
                                        </p:tgtEl>
                                        <p:attrNameLst>
                                          <p:attrName>style.visibility</p:attrName>
                                        </p:attrNameLst>
                                      </p:cBhvr>
                                      <p:to>
                                        <p:strVal val="visible"/>
                                      </p:to>
                                    </p:set>
                                  </p:childTnLst>
                                </p:cTn>
                              </p:par>
                              <p:par>
                                <p:cTn id="39" presetID="35" presetClass="path" presetSubtype="0" decel="100000" fill="hold" nodeType="withEffect">
                                  <p:stCondLst>
                                    <p:cond delay="1000"/>
                                  </p:stCondLst>
                                  <p:childTnLst>
                                    <p:animMotion origin="layout" path="M 0.59115 -1.11111E-6 L -0.00612 -1.11111E-6 " pathEditMode="relative" rAng="0" ptsTypes="AA">
                                      <p:cBhvr>
                                        <p:cTn id="40" dur="750" fill="hold"/>
                                        <p:tgtEl>
                                          <p:spTgt spid="29"/>
                                        </p:tgtEl>
                                        <p:attrNameLst>
                                          <p:attrName>ppt_x</p:attrName>
                                          <p:attrName>ppt_y</p:attrName>
                                        </p:attrNameLst>
                                      </p:cBhvr>
                                      <p:rCtr x="-298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P spid="14" grpId="0"/>
      <p:bldP spid="14" grpId="1"/>
      <p:bldP spid="15" grpId="0" animBg="1"/>
      <p:bldP spid="15" grpId="1" animBg="1"/>
      <p:bldP spid="15" grpId="2" animBg="1"/>
      <p:bldP spid="16" grpId="0" build="p">
        <p:tmplLst>
          <p:tmpl lvl="1">
            <p:tnLst>
              <p:par>
                <p:cTn presetID="1" presetClass="entr" presetSubtype="0" fill="hold" nodeType="withEffect">
                  <p:stCondLst>
                    <p:cond delay="50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6" grpId="1"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16"/>
                        </p:tgtEl>
                        <p:attrNameLst>
                          <p:attrName>ppt_x</p:attrName>
                          <p:attrName>ppt_y</p:attrName>
                        </p:attrNameLst>
                      </p:cBhvr>
                      <p:rCtr x="54684" y="-162"/>
                    </p:animMotion>
                  </p:childTnLst>
                </p:cTn>
              </p:par>
            </p:tnLst>
          </p:tmpl>
        </p:tmplLst>
      </p:bldP>
      <p:bldP spid="17" grpId="0" build="p">
        <p:tmplLst>
          <p:tmpl lvl="1">
            <p:tnLst>
              <p:par>
                <p:cTn presetID="1" presetClass="entr" presetSubtype="0" fill="hold" nodeType="withEffect">
                  <p:stCondLst>
                    <p:cond delay="75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7" grpId="1"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17"/>
                        </p:tgtEl>
                        <p:attrNameLst>
                          <p:attrName>ppt_x</p:attrName>
                          <p:attrName>ppt_y</p:attrName>
                        </p:attrNameLst>
                      </p:cBhvr>
                      <p:rCtr x="57377" y="0"/>
                    </p:animMotion>
                  </p:childTnLst>
                </p:cTn>
              </p:par>
            </p:tnLst>
          </p:tmpl>
        </p:tmplLst>
      </p:bldP>
      <p:bldP spid="18" grpId="0" build="p">
        <p:tmplLst>
          <p:tmpl lvl="1">
            <p:tnLst>
              <p:par>
                <p:cTn presetID="1" presetClass="entr" presetSubtype="0" fill="hold" nodeType="withEffect">
                  <p:stCondLst>
                    <p:cond delay="10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8" grpId="1"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18"/>
                        </p:tgtEl>
                        <p:attrNameLst>
                          <p:attrName>ppt_x</p:attrName>
                          <p:attrName>ppt_y</p:attrName>
                        </p:attrNameLst>
                      </p:cBhvr>
                      <p:rCtr x="57377" y="0"/>
                    </p:animMotion>
                  </p:childTnLst>
                </p:cTn>
              </p:par>
            </p:tnLst>
          </p:tmpl>
        </p:tmplLst>
      </p:bldP>
      <p:bldP spid="28" grpId="0"/>
      <p:bldP spid="28" grpId="1"/>
      <p:bldP spid="3" grpId="0" build="p">
        <p:tmplLst>
          <p:tmpl lvl="1">
            <p:tnLst>
              <p:par>
                <p:cTn presetID="2" presetClass="entr" presetSubtype="2"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Demo, Video etc. &quot;special&quot; slid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86053"/>
            <a:ext cx="6994362" cy="1523494"/>
          </a:xfrm>
        </p:spPr>
        <p:txBody>
          <a:bodyPr anchor="ctr" anchorCtr="0">
            <a:noAutofit/>
          </a:bodyPr>
          <a:lstStyle>
            <a:lvl1pPr>
              <a:lnSpc>
                <a:spcPct val="90000"/>
              </a:lnSpc>
              <a:defRPr sz="4800" baseline="0">
                <a:gradFill flip="none" rotWithShape="1">
                  <a:gsLst>
                    <a:gs pos="0">
                      <a:schemeClr val="tx1"/>
                    </a:gs>
                    <a:gs pos="86000">
                      <a:schemeClr val="tx1"/>
                    </a:gs>
                  </a:gsLst>
                  <a:lin ang="5400000" scaled="0"/>
                  <a:tileRect/>
                </a:gradFill>
              </a:defRPr>
            </a:lvl1pPr>
          </a:lstStyle>
          <a:p>
            <a:r>
              <a:rPr lang="en-US" smtClean="0"/>
              <a:t>Click to edit Master title style</a:t>
            </a:r>
            <a:endParaRPr lang="en-US" dirty="0"/>
          </a:p>
        </p:txBody>
      </p:sp>
      <p:sp>
        <p:nvSpPr>
          <p:cNvPr id="3" name="Subtitle 2"/>
          <p:cNvSpPr>
            <a:spLocks noGrp="1"/>
          </p:cNvSpPr>
          <p:nvPr>
            <p:ph type="subTitle" idx="1"/>
          </p:nvPr>
        </p:nvSpPr>
        <p:spPr>
          <a:xfrm>
            <a:off x="381000" y="4344990"/>
            <a:ext cx="6994363"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381000" y="2362200"/>
            <a:ext cx="7683914" cy="1378644"/>
          </a:xfrm>
        </p:spPr>
        <p:txBody>
          <a:bodyPr anchor="t" anchorCtr="0">
            <a:noAutofit/>
            <a:scene3d>
              <a:camera prst="orthographicFront"/>
              <a:lightRig rig="flat" dir="t"/>
            </a:scene3d>
            <a:sp3d>
              <a:contourClr>
                <a:schemeClr val="tx1"/>
              </a:contourClr>
            </a:sp3d>
          </a:bodyPr>
          <a:lstStyle>
            <a:lvl1pPr marL="0" indent="0" algn="l">
              <a:buFont typeface="Arial" pitchFamily="34" charset="0"/>
              <a:buNone/>
              <a:defRPr kumimoji="0" lang="en-US" sz="10000" b="0" i="0" u="none" strike="noStrike" kern="1200" cap="none" spc="-150" normalizeH="0" baseline="0" noProof="0" dirty="0" smtClean="0">
                <a:ln w="11430"/>
                <a:gradFill>
                  <a:gsLst>
                    <a:gs pos="0">
                      <a:schemeClr val="tx2"/>
                    </a:gs>
                    <a:gs pos="99000">
                      <a:schemeClr val="tx2"/>
                    </a:gs>
                  </a:gsLst>
                  <a:lin ang="5400000"/>
                </a:gradFill>
                <a:effectLst/>
                <a:uLnTx/>
                <a:uFillTx/>
                <a:latin typeface="Segoe Light" pitchFamily="34" charset="0"/>
                <a:ea typeface="+mn-ea"/>
                <a:cs typeface="+mn-cs"/>
              </a:defRPr>
            </a:lvl1pPr>
          </a:lstStyle>
          <a:p>
            <a:pPr lvl="0"/>
            <a:r>
              <a:rPr lang="en-US" dirty="0" smtClean="0"/>
              <a:t>click to…</a:t>
            </a:r>
          </a:p>
        </p:txBody>
      </p:sp>
      <p:sp>
        <p:nvSpPr>
          <p:cNvPr id="11" name="Slide Number Placeholder 10"/>
          <p:cNvSpPr>
            <a:spLocks noGrp="1"/>
          </p:cNvSpPr>
          <p:nvPr>
            <p:ph type="sldNum" sz="quarter" idx="11"/>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2944390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75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75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2" decel="10000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1+#ppt_w/2"/>
                          </p:val>
                        </p:tav>
                        <p:tav tm="100000">
                          <p:val>
                            <p:strVal val="#ppt_x"/>
                          </p:val>
                        </p:tav>
                      </p:tavLst>
                    </p:anim>
                    <p:anim calcmode="lin" valueType="num">
                      <p:cBhvr additive="base">
                        <p:cTn dur="750" fill="hold"/>
                        <p:tgtEl>
                          <p:spTgt spid="3"/>
                        </p:tgtEl>
                        <p:attrNameLst>
                          <p:attrName>ppt_y</p:attrName>
                        </p:attrNameLst>
                      </p:cBhvr>
                      <p:tavLst>
                        <p:tav tm="0">
                          <p:val>
                            <p:strVal val="#ppt_y"/>
                          </p:val>
                        </p:tav>
                        <p:tav tm="100000">
                          <p:val>
                            <p:strVal val="#ppt_y"/>
                          </p:val>
                        </p:tav>
                      </p:tavLst>
                    </p:anim>
                  </p:childTnLst>
                </p:cTn>
              </p:par>
            </p:tnLst>
          </p:tmpl>
        </p:tmplLst>
      </p:bldP>
      <p:bldP spid="7" grpId="0" build="p">
        <p:tmplLst>
          <p:tmpl lvl="1">
            <p:tnLst>
              <p:par>
                <p:cTn presetID="2" presetClass="entr" presetSubtype="2" decel="100000"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tx1"/>
                    </a:gs>
                    <a:gs pos="100000">
                      <a:schemeClr val="tx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8" name="Text Placeholder 8"/>
          <p:cNvSpPr>
            <a:spLocks noGrp="1"/>
          </p:cNvSpPr>
          <p:nvPr>
            <p:ph type="body" sz="quarter" idx="11" hasCustomPrompt="1"/>
          </p:nvPr>
        </p:nvSpPr>
        <p:spPr>
          <a:xfrm>
            <a:off x="550863" y="6109682"/>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9" name="Title 1"/>
          <p:cNvSpPr>
            <a:spLocks noGrp="1"/>
          </p:cNvSpPr>
          <p:nvPr>
            <p:ph type="ctrTitle"/>
          </p:nvPr>
        </p:nvSpPr>
        <p:spPr>
          <a:xfrm>
            <a:off x="555738" y="2976018"/>
            <a:ext cx="8046720" cy="1098296"/>
          </a:xfrm>
        </p:spPr>
        <p:txBody>
          <a:bodyPr anchor="ctr" anchorCtr="0">
            <a:noAutofit/>
          </a:bodyPr>
          <a:lstStyle>
            <a:lvl1pPr>
              <a:lnSpc>
                <a:spcPct val="90000"/>
              </a:lnSpc>
              <a:tabLst>
                <a:tab pos="1504361" algn="l"/>
              </a:tabLst>
              <a:defRPr lang="en-US" sz="5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smtClean="0"/>
              <a:t>Click to edit Master title style</a:t>
            </a:r>
            <a:endParaRPr lang="en-US" dirty="0"/>
          </a:p>
        </p:txBody>
      </p:sp>
      <p:sp>
        <p:nvSpPr>
          <p:cNvPr id="10" name="Slide Number Placeholder 10"/>
          <p:cNvSpPr>
            <a:spLocks noGrp="1"/>
          </p:cNvSpPr>
          <p:nvPr>
            <p:ph type="sldNum" sz="quarter" idx="12"/>
          </p:nvPr>
        </p:nvSpPr>
        <p:spPr>
          <a:xfrm>
            <a:off x="-1" y="6420022"/>
            <a:ext cx="550863" cy="228600"/>
          </a:xfrm>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2343638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300"/>
                                  </p:stCondLst>
                                  <p:childTnLst>
                                    <p:set>
                                      <p:cBhvr>
                                        <p:cTn id="6" dur="1" fill="hold">
                                          <p:stCondLst>
                                            <p:cond delay="0"/>
                                          </p:stCondLst>
                                        </p:cTn>
                                        <p:tgtEl>
                                          <p:spTgt spid="9"/>
                                        </p:tgtEl>
                                        <p:attrNameLst>
                                          <p:attrName>style.visibility</p:attrName>
                                        </p:attrNameLst>
                                      </p:cBhvr>
                                      <p:to>
                                        <p:strVal val="visible"/>
                                      </p:to>
                                    </p:set>
                                  </p:childTnLst>
                                </p:cTn>
                              </p:par>
                              <p:par>
                                <p:cTn id="7" presetID="42" presetClass="path" presetSubtype="0" decel="100000" fill="hold" grpId="2" nodeType="withEffect">
                                  <p:stCondLst>
                                    <p:cond delay="250"/>
                                  </p:stCondLst>
                                  <p:childTnLst>
                                    <p:animMotion origin="layout" path="M 2.20661E-6 -4.07407E-6 L 1.02966 -0.00115 " pathEditMode="relative" rAng="0" ptsTypes="AA">
                                      <p:cBhvr>
                                        <p:cTn id="8" dur="750" spd="-100000" fill="hold"/>
                                        <p:tgtEl>
                                          <p:spTgt spid="9"/>
                                        </p:tgtEl>
                                        <p:attrNameLst>
                                          <p:attrName>ppt_x</p:attrName>
                                          <p:attrName>ppt_y</p:attrName>
                                        </p:attrNameLst>
                                      </p:cBhvr>
                                      <p:rCtr x="51483" y="-69"/>
                                    </p:animMotion>
                                  </p:childTnLst>
                                </p:cTn>
                              </p:par>
                              <p:par>
                                <p:cTn id="9" presetID="1" presetClass="entr" presetSubtype="0" fill="hold" grpId="1" nodeType="withEffect">
                                  <p:stCondLst>
                                    <p:cond delay="50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42" presetClass="path" presetSubtype="0" decel="100000" fill="hold" grpId="2" nodeType="withEffect">
                                  <p:stCondLst>
                                    <p:cond delay="500"/>
                                  </p:stCondLst>
                                  <p:childTnLst>
                                    <p:animMotion origin="layout" path="M 4.93885E-6 3.7037E-6 L 1.09367 -0.00324 " pathEditMode="relative" rAng="0" ptsTypes="AA">
                                      <p:cBhvr>
                                        <p:cTn id="12" dur="750" spd="-100000" fill="hold"/>
                                        <p:tgtEl>
                                          <p:spTgt spid="6">
                                            <p:txEl>
                                              <p:pRg st="0" end="0"/>
                                            </p:txEl>
                                          </p:spTgt>
                                        </p:tgtEl>
                                        <p:attrNameLst>
                                          <p:attrName>ppt_x</p:attrName>
                                          <p:attrName>ppt_y</p:attrName>
                                        </p:attrNameLst>
                                      </p:cBhvr>
                                      <p:rCtr x="54684" y="-162"/>
                                    </p:animMotion>
                                  </p:childTnLst>
                                </p:cTn>
                              </p:par>
                              <p:par>
                                <p:cTn id="13" presetID="1" presetClass="entr" presetSubtype="0" fill="hold" grpId="1" nodeType="withEffect">
                                  <p:stCondLst>
                                    <p:cond delay="75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42" presetClass="path" presetSubtype="0" decel="100000" fill="hold" grpId="2" nodeType="withEffect">
                                  <p:stCondLst>
                                    <p:cond delay="750"/>
                                  </p:stCondLst>
                                  <p:childTnLst>
                                    <p:animMotion origin="layout" path="M 1.66797E-6 7.40741E-7 L 1.14754 7.40741E-7 " pathEditMode="relative" rAng="0" ptsTypes="AA">
                                      <p:cBhvr>
                                        <p:cTn id="16" dur="750" spd="-100000" fill="hold"/>
                                        <p:tgtEl>
                                          <p:spTgt spid="7">
                                            <p:txEl>
                                              <p:pRg st="0" end="0"/>
                                            </p:txEl>
                                          </p:spTgt>
                                        </p:tgtEl>
                                        <p:attrNameLst>
                                          <p:attrName>ppt_x</p:attrName>
                                          <p:attrName>ppt_y</p:attrName>
                                        </p:attrNameLst>
                                      </p:cBhvr>
                                      <p:rCtr x="57377" y="0"/>
                                    </p:animMotion>
                                  </p:childTnLst>
                                </p:cTn>
                              </p:par>
                              <p:par>
                                <p:cTn id="17" presetID="1" presetClass="entr" presetSubtype="0" fill="hold" grpId="1" nodeType="withEffect">
                                  <p:stCondLst>
                                    <p:cond delay="100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42" presetClass="path" presetSubtype="0" decel="100000" fill="hold" grpId="2" nodeType="withEffect">
                                  <p:stCondLst>
                                    <p:cond delay="1000"/>
                                  </p:stCondLst>
                                  <p:childTnLst>
                                    <p:animMotion origin="layout" path="M 1.66797E-6 7.40741E-7 L 1.14754 7.40741E-7 " pathEditMode="relative" rAng="0" ptsTypes="AA">
                                      <p:cBhvr>
                                        <p:cTn id="20" dur="750" spd="-100000" fill="hold"/>
                                        <p:tgtEl>
                                          <p:spTgt spid="8">
                                            <p:txEl>
                                              <p:pRg st="0" end="0"/>
                                            </p:txEl>
                                          </p:spTgt>
                                        </p:tgtEl>
                                        <p:attrNameLst>
                                          <p:attrName>ppt_x</p:attrName>
                                          <p:attrName>ppt_y</p:attrName>
                                        </p:attrNameLst>
                                      </p:cBhvr>
                                      <p:rCtr x="57377" y="0"/>
                                    </p:animMotion>
                                  </p:childTnLst>
                                </p:cTn>
                              </p:par>
                              <p:par>
                                <p:cTn id="21" presetID="42" presetClass="path" presetSubtype="0" decel="100000" fill="hold" grpId="0" nodeType="withEffect">
                                  <p:stCondLst>
                                    <p:cond delay="0"/>
                                  </p:stCondLst>
                                  <p:childTnLst>
                                    <p:animMotion origin="layout" path="M -1.04167E-6 -4.07407E-6 L -0.64453 -0.00115 " pathEditMode="relative" rAng="0" ptsTypes="AA">
                                      <p:cBhvr>
                                        <p:cTn id="22" dur="750" fill="hold"/>
                                        <p:tgtEl>
                                          <p:spTgt spid="9"/>
                                        </p:tgtEl>
                                        <p:attrNameLst>
                                          <p:attrName>ppt_x</p:attrName>
                                          <p:attrName>ppt_y</p:attrName>
                                        </p:attrNameLst>
                                      </p:cBhvr>
                                      <p:rCtr x="-32227" y="-69"/>
                                    </p:animMotion>
                                  </p:childTnLst>
                                </p:cTn>
                              </p:par>
                              <p:par>
                                <p:cTn id="23" presetID="42" presetClass="path" presetSubtype="0" decel="100000" fill="hold" grpId="0" nodeType="withEffect">
                                  <p:stCondLst>
                                    <p:cond delay="250"/>
                                  </p:stCondLst>
                                  <p:childTnLst>
                                    <p:animMotion origin="layout" path="M 2.29167E-6 3.7037E-6 L -0.78985 0.00324 " pathEditMode="relative" rAng="0" ptsTypes="AA">
                                      <p:cBhvr>
                                        <p:cTn id="24" dur="750" fill="hold"/>
                                        <p:tgtEl>
                                          <p:spTgt spid="6">
                                            <p:txEl>
                                              <p:pRg st="0" end="0"/>
                                            </p:txEl>
                                          </p:spTgt>
                                        </p:tgtEl>
                                        <p:attrNameLst>
                                          <p:attrName>ppt_x</p:attrName>
                                          <p:attrName>ppt_y</p:attrName>
                                        </p:attrNameLst>
                                      </p:cBhvr>
                                      <p:rCtr x="-39492" y="162"/>
                                    </p:animMotion>
                                  </p:childTnLst>
                                </p:cTn>
                              </p:par>
                              <p:par>
                                <p:cTn id="25" presetID="42" presetClass="path" presetSubtype="0" decel="100000" fill="hold" grpId="0" nodeType="withEffect">
                                  <p:stCondLst>
                                    <p:cond delay="500"/>
                                  </p:stCondLst>
                                  <p:childTnLst>
                                    <p:animMotion origin="layout" path="M -3.26828E-6 7.40741E-7 L -0.72365 0.00393 " pathEditMode="relative" rAng="0" ptsTypes="AA">
                                      <p:cBhvr>
                                        <p:cTn id="26" dur="750" fill="hold"/>
                                        <p:tgtEl>
                                          <p:spTgt spid="7">
                                            <p:txEl>
                                              <p:pRg st="0" end="0"/>
                                            </p:txEl>
                                          </p:spTgt>
                                        </p:tgtEl>
                                        <p:attrNameLst>
                                          <p:attrName>ppt_x</p:attrName>
                                          <p:attrName>ppt_y</p:attrName>
                                        </p:attrNameLst>
                                      </p:cBhvr>
                                      <p:rCtr x="-36183" y="185"/>
                                    </p:animMotion>
                                  </p:childTnLst>
                                </p:cTn>
                              </p:par>
                              <p:par>
                                <p:cTn id="27" presetID="42" presetClass="path" presetSubtype="0" decel="100000" fill="hold" grpId="0" nodeType="withEffect">
                                  <p:stCondLst>
                                    <p:cond delay="750"/>
                                  </p:stCondLst>
                                  <p:childTnLst>
                                    <p:animMotion origin="layout" path="M -3.26828E-6 7.40741E-7 L -0.72365 0.00393 " pathEditMode="relative" rAng="0" ptsTypes="AA">
                                      <p:cBhvr>
                                        <p:cTn id="28" dur="750" fill="hold"/>
                                        <p:tgtEl>
                                          <p:spTgt spid="8">
                                            <p:txEl>
                                              <p:pRg st="0" end="0"/>
                                            </p:txEl>
                                          </p:spTgt>
                                        </p:tgtEl>
                                        <p:attrNameLst>
                                          <p:attrName>ppt_x</p:attrName>
                                          <p:attrName>ppt_y</p:attrName>
                                        </p:attrNameLst>
                                      </p:cBhvr>
                                      <p:rCtr x="-36183"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42" presetClass="path" presetSubtype="0" decel="100000" fill="hold" nodeType="withEffect">
                  <p:stCondLst>
                    <p:cond delay="250"/>
                  </p:stCondLst>
                  <p:childTnLst>
                    <p:animMotion origin="layout" path="M 2.29167E-6 3.7037E-6 L -0.78985 0.00324 " pathEditMode="relative" rAng="0" ptsTypes="AA">
                      <p:cBhvr>
                        <p:cTn dur="750" fill="hold"/>
                        <p:tgtEl>
                          <p:spTgt spid="6"/>
                        </p:tgtEl>
                        <p:attrNameLst>
                          <p:attrName>ppt_x</p:attrName>
                          <p:attrName>ppt_y</p:attrName>
                        </p:attrNameLst>
                      </p:cBhvr>
                      <p:rCtr x="-39492" y="162"/>
                    </p:animMotion>
                  </p:childTnLst>
                </p:cTn>
              </p:par>
            </p:tnLst>
          </p:tmpl>
        </p:tmplLst>
      </p:bldP>
      <p:bldP spid="6" grpId="1" build="p">
        <p:tmplLst>
          <p:tmpl lvl="1">
            <p:tnLst>
              <p:par>
                <p:cTn presetID="1" presetClass="entr" presetSubtype="0" fill="hold" nodeType="withEffect">
                  <p:stCondLst>
                    <p:cond delay="50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6" grpId="2"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6"/>
                        </p:tgtEl>
                        <p:attrNameLst>
                          <p:attrName>ppt_x</p:attrName>
                          <p:attrName>ppt_y</p:attrName>
                        </p:attrNameLst>
                      </p:cBhvr>
                      <p:rCtr x="54684" y="-162"/>
                    </p:animMotion>
                  </p:childTnLst>
                </p:cTn>
              </p:par>
            </p:tnLst>
          </p:tmpl>
        </p:tmplLst>
      </p:bldP>
      <p:bldP spid="7" grpId="0" build="p">
        <p:tmplLst>
          <p:tmpl lvl="1">
            <p:tnLst>
              <p:par>
                <p:cTn presetID="42" presetClass="path" presetSubtype="0" decel="100000" fill="hold" nodeType="withEffect">
                  <p:stCondLst>
                    <p:cond delay="500"/>
                  </p:stCondLst>
                  <p:childTnLst>
                    <p:animMotion origin="layout" path="M -3.26828E-6 7.40741E-7 L -0.72365 0.00393 " pathEditMode="relative" rAng="0" ptsTypes="AA">
                      <p:cBhvr>
                        <p:cTn dur="750" fill="hold"/>
                        <p:tgtEl>
                          <p:spTgt spid="7"/>
                        </p:tgtEl>
                        <p:attrNameLst>
                          <p:attrName>ppt_x</p:attrName>
                          <p:attrName>ppt_y</p:attrName>
                        </p:attrNameLst>
                      </p:cBhvr>
                      <p:rCtr x="-36183" y="185"/>
                    </p:animMotion>
                  </p:childTnLst>
                </p:cTn>
              </p:par>
            </p:tnLst>
          </p:tmpl>
        </p:tmplLst>
      </p:bldP>
      <p:bldP spid="7" grpId="1" build="p">
        <p:tmplLst>
          <p:tmpl lvl="1">
            <p:tnLst>
              <p:par>
                <p:cTn presetID="1" presetClass="entr" presetSubtype="0" fill="hold" nodeType="withEffect">
                  <p:stCondLst>
                    <p:cond delay="75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7" grpId="2"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7"/>
                        </p:tgtEl>
                        <p:attrNameLst>
                          <p:attrName>ppt_x</p:attrName>
                          <p:attrName>ppt_y</p:attrName>
                        </p:attrNameLst>
                      </p:cBhvr>
                      <p:rCtr x="57377" y="0"/>
                    </p:animMotion>
                  </p:childTnLst>
                </p:cTn>
              </p:par>
            </p:tnLst>
          </p:tmpl>
        </p:tmplLst>
      </p:bldP>
      <p:bldP spid="8" grpId="0" build="p">
        <p:tmplLst>
          <p:tmpl lvl="1">
            <p:tnLst>
              <p:par>
                <p:cTn presetID="42" presetClass="path" presetSubtype="0" decel="100000" fill="hold" nodeType="withEffect">
                  <p:stCondLst>
                    <p:cond delay="750"/>
                  </p:stCondLst>
                  <p:childTnLst>
                    <p:animMotion origin="layout" path="M -3.26828E-6 7.40741E-7 L -0.72365 0.00393 " pathEditMode="relative" rAng="0" ptsTypes="AA">
                      <p:cBhvr>
                        <p:cTn dur="750" fill="hold"/>
                        <p:tgtEl>
                          <p:spTgt spid="8"/>
                        </p:tgtEl>
                        <p:attrNameLst>
                          <p:attrName>ppt_x</p:attrName>
                          <p:attrName>ppt_y</p:attrName>
                        </p:attrNameLst>
                      </p:cBhvr>
                      <p:rCtr x="-36183" y="185"/>
                    </p:animMotion>
                  </p:childTnLst>
                </p:cTn>
              </p:par>
            </p:tnLst>
          </p:tmpl>
        </p:tmplLst>
      </p:bldP>
      <p:bldP spid="8" grpId="1" build="p">
        <p:tmplLst>
          <p:tmpl lvl="1">
            <p:tnLst>
              <p:par>
                <p:cTn presetID="1" presetClass="entr" presetSubtype="0" fill="hold" nodeType="withEffect">
                  <p:stCondLst>
                    <p:cond delay="1000"/>
                  </p:stCondLst>
                  <p:childTnLst>
                    <p:set>
                      <p:cBhvr>
                        <p:cTn dur="1" fill="hold">
                          <p:stCondLst>
                            <p:cond delay="0"/>
                          </p:stCondLst>
                        </p:cTn>
                        <p:tgtEl>
                          <p:spTgt spid="8"/>
                        </p:tgtEl>
                        <p:attrNameLst>
                          <p:attrName>style.visibility</p:attrName>
                        </p:attrNameLst>
                      </p:cBhvr>
                      <p:to>
                        <p:strVal val="visible"/>
                      </p:to>
                    </p:set>
                  </p:childTnLst>
                </p:cTn>
              </p:par>
            </p:tnLst>
          </p:tmpl>
        </p:tmplLst>
      </p:bldP>
      <p:bldP spid="8" grpId="2"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8"/>
                        </p:tgtEl>
                        <p:attrNameLst>
                          <p:attrName>ppt_x</p:attrName>
                          <p:attrName>ppt_y</p:attrName>
                        </p:attrNameLst>
                      </p:cBhvr>
                      <p:rCtr x="57377" y="0"/>
                    </p:animMotion>
                  </p:childTnLst>
                </p:cTn>
              </p:par>
            </p:tnLst>
          </p:tmpl>
        </p:tmplLst>
      </p:bldP>
      <p:bldP spid="9" grpId="0"/>
      <p:bldP spid="9" grpId="1"/>
      <p:bldP spid="9" grpId="2"/>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p>
            <a:r>
              <a:rPr lang="en-US" dirty="0" smtClean="0"/>
              <a:t>Master title style</a:t>
            </a:r>
            <a:endParaRPr lang="en-US" dirty="0"/>
          </a:p>
        </p:txBody>
      </p:sp>
      <p:sp>
        <p:nvSpPr>
          <p:cNvPr id="5" name="Text Placeholder 4"/>
          <p:cNvSpPr>
            <a:spLocks noGrp="1"/>
          </p:cNvSpPr>
          <p:nvPr>
            <p:ph type="body" sz="quarter" idx="10"/>
          </p:nvPr>
        </p:nvSpPr>
        <p:spPr>
          <a:xfrm>
            <a:off x="381000" y="1447800"/>
            <a:ext cx="8363938" cy="2068259"/>
          </a:xfrm>
        </p:spPr>
        <p:txBody>
          <a:bodyPr/>
          <a:lstStyle>
            <a:lvl1pPr marL="347663" indent="-347663">
              <a:defRPr sz="3200"/>
            </a:lvl1pPr>
            <a:lvl2pPr marL="744538" indent="-284163">
              <a:defRPr sz="2800"/>
            </a:lvl2pPr>
            <a:lvl3pPr marL="1143000" indent="-287338">
              <a:defRPr sz="2400"/>
            </a:lvl3pPr>
            <a:lvl4pPr marL="1490663" indent="-231775">
              <a:defRPr sz="2000"/>
            </a:lvl4pPr>
            <a:lvl5pPr marL="1828800" indent="-223838">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3643742382"/>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431800"/>
            <a:ext cx="8363938" cy="923330"/>
          </a:xfrm>
        </p:spPr>
        <p:txBody>
          <a:bodyPr/>
          <a:lstStyle>
            <a:lvl1pPr>
              <a:lnSpc>
                <a:spcPct val="100000"/>
              </a:lnSpc>
              <a:defRPr>
                <a:gradFill flip="none" rotWithShape="1">
                  <a:gsLst>
                    <a:gs pos="0">
                      <a:schemeClr val="bg1"/>
                    </a:gs>
                    <a:gs pos="86000">
                      <a:schemeClr val="bg1"/>
                    </a:gs>
                  </a:gsLst>
                  <a:lin ang="5400000" scaled="0"/>
                  <a:tileRect/>
                </a:gradFill>
              </a:defRPr>
            </a:lvl1pPr>
          </a:lstStyle>
          <a:p>
            <a:r>
              <a:rPr lang="en-US" dirty="0" smtClean="0"/>
              <a:t>Master title style</a:t>
            </a:r>
            <a:endParaRPr lang="en-US" dirty="0"/>
          </a:p>
        </p:txBody>
      </p:sp>
      <p:sp>
        <p:nvSpPr>
          <p:cNvPr id="3" name="Content Placeholder 2"/>
          <p:cNvSpPr>
            <a:spLocks noGrp="1"/>
          </p:cNvSpPr>
          <p:nvPr>
            <p:ph idx="1"/>
          </p:nvPr>
        </p:nvSpPr>
        <p:spPr>
          <a:xfrm>
            <a:off x="380770" y="1905000"/>
            <a:ext cx="8363938" cy="2609945"/>
          </a:xfrm>
        </p:spPr>
        <p:txBody>
          <a:bodyPr/>
          <a:lstStyle>
            <a:lvl1pPr>
              <a:lnSpc>
                <a:spcPct val="90000"/>
              </a:lnSpc>
              <a:defRPr sz="3200"/>
            </a:lvl1pPr>
            <a:lvl2pPr>
              <a:lnSpc>
                <a:spcPct val="90000"/>
              </a:lnSpc>
              <a:defRPr sz="3200"/>
            </a:lvl2pPr>
            <a:lvl3pPr>
              <a:lnSpc>
                <a:spcPct val="90000"/>
              </a:lnSpc>
              <a:defRPr sz="3200"/>
            </a:lvl3pPr>
            <a:lvl4pPr>
              <a:lnSpc>
                <a:spcPct val="90000"/>
              </a:lnSpc>
              <a:defRPr sz="3200"/>
            </a:lvl4pPr>
            <a:lvl5pPr>
              <a:lnSpc>
                <a:spcPct val="90000"/>
              </a:lnSpc>
              <a:defRPr sz="3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4"/>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587897266"/>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
        <p:nvSpPr>
          <p:cNvPr id="3" name="Content Placeholder 2"/>
          <p:cNvSpPr>
            <a:spLocks noGrp="1"/>
          </p:cNvSpPr>
          <p:nvPr>
            <p:ph sz="half" idx="1"/>
          </p:nvPr>
        </p:nvSpPr>
        <p:spPr>
          <a:xfrm>
            <a:off x="456128" y="1902941"/>
            <a:ext cx="4115872" cy="2351413"/>
          </a:xfrm>
        </p:spPr>
        <p:txBody>
          <a:bodyPr/>
          <a:lstStyle>
            <a:lvl1pPr marL="339976" indent="-339976">
              <a:lnSpc>
                <a:spcPct val="90000"/>
              </a:lnSpc>
              <a:defRPr sz="2800"/>
            </a:lvl1pPr>
            <a:lvl2pPr marL="673338" indent="-325424">
              <a:lnSpc>
                <a:spcPct val="90000"/>
              </a:lnSpc>
              <a:defRPr sz="2800"/>
            </a:lvl2pPr>
            <a:lvl3pPr marL="953785" indent="-288384">
              <a:lnSpc>
                <a:spcPct val="90000"/>
              </a:lnSpc>
              <a:defRPr sz="2800"/>
            </a:lvl3pPr>
            <a:lvl4pPr marL="1227618" indent="-273833">
              <a:lnSpc>
                <a:spcPct val="90000"/>
              </a:lnSpc>
              <a:defRPr sz="2800"/>
            </a:lvl4pPr>
            <a:lvl5pPr marL="1516002" indent="-280447">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4193" y="1902941"/>
            <a:ext cx="4115872" cy="2671501"/>
          </a:xfrm>
        </p:spPr>
        <p:txBody>
          <a:bodyPr/>
          <a:lstStyle>
            <a:lvl1pPr marL="347914" indent="-347914">
              <a:lnSpc>
                <a:spcPct val="90000"/>
              </a:lnSpc>
              <a:defRPr sz="2800"/>
            </a:lvl1pPr>
            <a:lvl2pPr marL="673338" indent="-339976">
              <a:lnSpc>
                <a:spcPct val="90000"/>
              </a:lnSpc>
              <a:defRPr sz="2800"/>
            </a:lvl2pPr>
            <a:lvl3pPr marL="961722" indent="-302936">
              <a:lnSpc>
                <a:spcPct val="90000"/>
              </a:lnSpc>
              <a:defRPr sz="2800"/>
            </a:lvl3pPr>
            <a:lvl4pPr marL="1227618" indent="-265896">
              <a:lnSpc>
                <a:spcPct val="90000"/>
              </a:lnSpc>
              <a:defRPr sz="2800"/>
            </a:lvl4pPr>
            <a:lvl5pPr marL="1516002" indent="-273833">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3535975609"/>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lvl1pPr>
              <a:defRPr sz="4800"/>
            </a:lvl1pPr>
          </a:lstStyle>
          <a:p>
            <a:r>
              <a:rPr lang="en-US" dirty="0" smtClean="0"/>
              <a:t>Master title style</a:t>
            </a:r>
            <a:endParaRPr lang="en-US" dirty="0"/>
          </a:p>
        </p:txBody>
      </p:sp>
      <p:sp>
        <p:nvSpPr>
          <p:cNvPr id="4" name="Slide Number Placeholder 3"/>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3979329679"/>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1945959"/>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gradFill flip="none" rotWithShape="1">
                  <a:gsLst>
                    <a:gs pos="833">
                      <a:srgbClr val="FFFFFF"/>
                    </a:gs>
                    <a:gs pos="100000">
                      <a:srgbClr val="FFFFFF"/>
                    </a:gs>
                  </a:gsLst>
                  <a:lin ang="5400000" scaled="0"/>
                  <a:tileRect/>
                </a:gradFill>
              </a:defRPr>
            </a:lvl1pPr>
          </a:lstStyle>
          <a:p>
            <a:r>
              <a:rPr lang="en-US" dirty="0" smtClean="0"/>
              <a:t>Master title style</a:t>
            </a:r>
            <a:endParaRPr lang="en-US" dirty="0"/>
          </a:p>
        </p:txBody>
      </p:sp>
      <p:sp>
        <p:nvSpPr>
          <p:cNvPr id="6" name="Text Placeholder 5"/>
          <p:cNvSpPr>
            <a:spLocks noGrp="1"/>
          </p:cNvSpPr>
          <p:nvPr>
            <p:ph type="body" sz="quarter" idx="10"/>
          </p:nvPr>
        </p:nvSpPr>
        <p:spPr bwMode="white">
          <a:xfrm>
            <a:off x="389436" y="1447800"/>
            <a:ext cx="8363938"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08193985"/>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gradFill>
                  <a:gsLst>
                    <a:gs pos="0">
                      <a:srgbClr val="FFFFFF"/>
                    </a:gs>
                    <a:gs pos="100000">
                      <a:srgbClr val="FFFFFF"/>
                    </a:gs>
                  </a:gsLst>
                  <a:lin ang="5400000" scaled="0"/>
                </a:gradFill>
              </a:defRPr>
            </a:lvl1pPr>
          </a:lstStyle>
          <a:p>
            <a:r>
              <a:rPr lang="en-US" dirty="0" smtClean="0"/>
              <a:t>Master title style</a:t>
            </a:r>
            <a:endParaRPr lang="en-US" dirty="0"/>
          </a:p>
        </p:txBody>
      </p:sp>
      <p:sp>
        <p:nvSpPr>
          <p:cNvPr id="6" name="Text Placeholder 5"/>
          <p:cNvSpPr>
            <a:spLocks noGrp="1"/>
          </p:cNvSpPr>
          <p:nvPr>
            <p:ph type="body" sz="quarter" idx="10"/>
          </p:nvPr>
        </p:nvSpPr>
        <p:spPr bwMode="white">
          <a:xfrm>
            <a:off x="389436" y="1447800"/>
            <a:ext cx="8363938" cy="2000548"/>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63564011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WP7 Annimation ">
    <p:bg>
      <p:bgPr>
        <a:solidFill>
          <a:schemeClr val="bg1"/>
        </a:solidFill>
        <a:effectLst/>
      </p:bgPr>
    </p:bg>
    <p:spTree>
      <p:nvGrpSpPr>
        <p:cNvPr id="1" name=""/>
        <p:cNvGrpSpPr/>
        <p:nvPr/>
      </p:nvGrpSpPr>
      <p:grpSpPr>
        <a:xfrm>
          <a:off x="0" y="0"/>
          <a:ext cx="0" cy="0"/>
          <a:chOff x="0" y="0"/>
          <a:chExt cx="0" cy="0"/>
        </a:xfrm>
      </p:grpSpPr>
      <p:sp>
        <p:nvSpPr>
          <p:cNvPr id="13" name="Rectangle 12"/>
          <p:cNvSpPr/>
          <p:nvPr userDrawn="1"/>
        </p:nvSpPr>
        <p:spPr bwMode="auto">
          <a:xfrm>
            <a:off x="6539421" y="2362200"/>
            <a:ext cx="2221992" cy="2221992"/>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4" name="Title 1"/>
          <p:cNvSpPr txBox="1">
            <a:spLocks/>
          </p:cNvSpPr>
          <p:nvPr userDrawn="1"/>
        </p:nvSpPr>
        <p:spPr>
          <a:xfrm>
            <a:off x="6565940" y="2428875"/>
            <a:ext cx="2187433" cy="2221991"/>
          </a:xfrm>
          <a:prstGeom prst="rect">
            <a:avLst/>
          </a:prstGeom>
        </p:spPr>
        <p:txBody>
          <a:bodyPr vert="horz" wrap="square" lIns="182880" tIns="182880" rIns="182880" bIns="182880" rtlCol="0" anchor="ctr" anchorCtr="0">
            <a:noAutofit/>
          </a:bodyPr>
          <a:lstStyle>
            <a:lvl1pPr algn="l" defTabSz="914363" rtl="0" eaLnBrk="1" latinLnBrk="0" hangingPunct="1">
              <a:lnSpc>
                <a:spcPct val="90000"/>
              </a:lnSpc>
              <a:spcBef>
                <a:spcPct val="0"/>
              </a:spcBef>
              <a:buNone/>
              <a:tabLst>
                <a:tab pos="1504361" algn="l"/>
              </a:tabLst>
              <a:defRPr lang="en-US" sz="4800" b="0" kern="1200" cap="none" spc="-113"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algn="ctr" defTabSz="685961"/>
            <a:r>
              <a:rPr sz="7200" smtClean="0">
                <a:gradFill>
                  <a:gsLst>
                    <a:gs pos="0">
                      <a:srgbClr val="FFFFFF"/>
                    </a:gs>
                    <a:gs pos="100000">
                      <a:srgbClr val="FFFFFF"/>
                    </a:gs>
                  </a:gsLst>
                  <a:lin ang="5400000" scaled="0"/>
                </a:gradFill>
                <a:latin typeface="Segoe"/>
              </a:rPr>
              <a:t>7</a:t>
            </a:r>
            <a:endParaRPr sz="7200">
              <a:gradFill>
                <a:gsLst>
                  <a:gs pos="0">
                    <a:srgbClr val="FFFFFF"/>
                  </a:gs>
                  <a:gs pos="100000">
                    <a:srgbClr val="FFFFFF"/>
                  </a:gs>
                </a:gsLst>
                <a:lin ang="5400000" scaled="0"/>
              </a:gradFill>
              <a:latin typeface="Segoe"/>
            </a:endParaRPr>
          </a:p>
        </p:txBody>
      </p:sp>
      <p:sp>
        <p:nvSpPr>
          <p:cNvPr id="15" name="Rectangle 14"/>
          <p:cNvSpPr/>
          <p:nvPr userDrawn="1"/>
        </p:nvSpPr>
        <p:spPr bwMode="auto">
          <a:xfrm>
            <a:off x="381000" y="2362200"/>
            <a:ext cx="6053328" cy="2221992"/>
          </a:xfrm>
          <a:prstGeom prst="rect">
            <a:avLst/>
          </a:prstGeom>
          <a:solidFill>
            <a:schemeClr val="accent4"/>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smtClean="0">
              <a:gradFill>
                <a:gsLst>
                  <a:gs pos="0">
                    <a:srgbClr val="FFFFFF"/>
                  </a:gs>
                  <a:gs pos="100000">
                    <a:srgbClr val="FFFFFF"/>
                  </a:gs>
                </a:gsLst>
                <a:lin ang="5400000" scaled="0"/>
              </a:gradFill>
            </a:endParaRPr>
          </a:p>
        </p:txBody>
      </p:sp>
      <p:sp>
        <p:nvSpPr>
          <p:cNvPr id="1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accent1"/>
                    </a:gs>
                    <a:gs pos="100000">
                      <a:schemeClr val="accent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1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18" name="Text Placeholder 8"/>
          <p:cNvSpPr>
            <a:spLocks noGrp="1"/>
          </p:cNvSpPr>
          <p:nvPr>
            <p:ph type="body" sz="quarter" idx="11" hasCustomPrompt="1"/>
          </p:nvPr>
        </p:nvSpPr>
        <p:spPr>
          <a:xfrm>
            <a:off x="550864" y="6135082"/>
            <a:ext cx="5667056" cy="291118"/>
          </a:xfrm>
        </p:spPr>
        <p:txBody>
          <a:bodyPr/>
          <a:lstStyle>
            <a:lvl1pPr marL="0" indent="0">
              <a:spcBef>
                <a:spcPts val="0"/>
              </a:spcBef>
              <a:buFontTx/>
              <a:buNone/>
              <a:defRPr sz="2100">
                <a:solidFill>
                  <a:schemeClr val="tx1"/>
                </a:solidFill>
                <a:latin typeface="Segoe Light" pitchFamily="34" charset="0"/>
              </a:defRPr>
            </a:lvl1pPr>
          </a:lstStyle>
          <a:p>
            <a:r>
              <a:rPr lang="en-US" dirty="0" smtClean="0"/>
              <a:t>Click to edit Master subtitle style</a:t>
            </a:r>
            <a:endParaRPr lang="en-US" dirty="0"/>
          </a:p>
        </p:txBody>
      </p:sp>
      <p:sp>
        <p:nvSpPr>
          <p:cNvPr id="28" name="Title 1"/>
          <p:cNvSpPr>
            <a:spLocks noGrp="1"/>
          </p:cNvSpPr>
          <p:nvPr>
            <p:ph type="ctrTitle"/>
          </p:nvPr>
        </p:nvSpPr>
        <p:spPr>
          <a:xfrm>
            <a:off x="555738" y="2924048"/>
            <a:ext cx="4114800" cy="1098296"/>
          </a:xfrm>
        </p:spPr>
        <p:txBody>
          <a:bodyPr anchor="ctr" anchorCtr="0">
            <a:noAutofit/>
          </a:bodyPr>
          <a:lstStyle>
            <a:lvl1pPr>
              <a:lnSpc>
                <a:spcPct val="90000"/>
              </a:lnSpc>
              <a:tabLst>
                <a:tab pos="1504361" algn="l"/>
              </a:tabLst>
              <a:defRPr lang="en-US" sz="4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dirty="0" smtClean="0"/>
              <a:t>Click to edit Master title style</a:t>
            </a:r>
            <a:endParaRPr lang="en-US" dirty="0"/>
          </a:p>
        </p:txBody>
      </p:sp>
      <p:pic>
        <p:nvPicPr>
          <p:cNvPr id="29" name="Picture 2"/>
          <p:cNvPicPr>
            <a:picLocks noChangeAspect="1" noChangeArrowheads="1"/>
          </p:cNvPicPr>
          <p:nvPr userDrawn="1"/>
        </p:nvPicPr>
        <p:blipFill>
          <a:blip r:embed="rId2" cstate="screen">
            <a:extLst>
              <a:ext uri="{28A0092B-C50C-407E-A947-70E740481C1C}">
                <a14:useLocalDpi xmlns:a14="http://schemas.microsoft.com/office/drawing/2010/main"/>
              </a:ext>
            </a:extLst>
          </a:blip>
          <a:stretch>
            <a:fillRect/>
          </a:stretch>
        </p:blipFill>
        <p:spPr bwMode="auto">
          <a:xfrm>
            <a:off x="4777476" y="1664214"/>
            <a:ext cx="2104297" cy="3787261"/>
          </a:xfrm>
          <a:prstGeom prst="rect">
            <a:avLst/>
          </a:prstGeom>
          <a:noFill/>
          <a:ln w="9525">
            <a:noFill/>
            <a:miter lim="800000"/>
            <a:headEnd/>
            <a:tailEnd/>
          </a:ln>
          <a:effectLst>
            <a:outerShdw dist="12700" dir="5400000" algn="t" rotWithShape="0">
              <a:prstClr val="black">
                <a:alpha val="40000"/>
              </a:prstClr>
            </a:outerShdw>
          </a:effectLst>
        </p:spPr>
      </p:pic>
      <p:pic>
        <p:nvPicPr>
          <p:cNvPr id="30" name="Picture 2" descr="\\server3\Restrict\FTP_Root\Clients\White_Whale\2-20095_AndyLees\Art\WP7 guidelines\WP7_logo\WP_7_Grn_v_rgb.png"/>
          <p:cNvPicPr>
            <a:picLocks noChangeAspect="1" noChangeArrowheads="1"/>
          </p:cNvPicPr>
          <p:nvPr userDrawn="1"/>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sz="quarter" idx="12"/>
          </p:nvPr>
        </p:nvSpPr>
        <p:spPr>
          <a:xfrm>
            <a:off x="550863" y="4206875"/>
            <a:ext cx="4125912" cy="332399"/>
          </a:xfrm>
        </p:spPr>
        <p:txBody>
          <a:bodyPr/>
          <a:lstStyle>
            <a:lvl1pPr marL="0" indent="0">
              <a:buNone/>
              <a:defRPr sz="2400">
                <a:solidFill>
                  <a:schemeClr val="bg1"/>
                </a:solidFill>
              </a:defRPr>
            </a:lvl1pPr>
          </a:lstStyle>
          <a:p>
            <a:pPr lvl="0"/>
            <a:r>
              <a:rPr lang="en-US" dirty="0" smtClean="0"/>
              <a:t>Click to edit Master text styles</a:t>
            </a:r>
            <a:endParaRPr lang="en-US" dirty="0"/>
          </a:p>
        </p:txBody>
      </p:sp>
    </p:spTree>
    <p:extLst>
      <p:ext uri="{BB962C8B-B14F-4D97-AF65-F5344CB8AC3E}">
        <p14:creationId xmlns:p14="http://schemas.microsoft.com/office/powerpoint/2010/main" val="27440745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42" presetClass="path" presetSubtype="0" decel="100000" fill="hold" grpId="2" nodeType="withEffect">
                                  <p:stCondLst>
                                    <p:cond delay="0"/>
                                  </p:stCondLst>
                                  <p:childTnLst>
                                    <p:animMotion origin="layout" path="M 2.5553E-6 -4.07407E-6 L 1.03604 -0.00115 " pathEditMode="relative" rAng="0" ptsTypes="AA">
                                      <p:cBhvr>
                                        <p:cTn id="8" dur="750" spd="-100000" fill="hold"/>
                                        <p:tgtEl>
                                          <p:spTgt spid="15"/>
                                        </p:tgtEl>
                                        <p:attrNameLst>
                                          <p:attrName>ppt_x</p:attrName>
                                          <p:attrName>ppt_y</p:attrName>
                                        </p:attrNameLst>
                                      </p:cBhvr>
                                      <p:rCtr x="51795" y="-69"/>
                                    </p:animMotion>
                                  </p:childTnLst>
                                </p:cTn>
                              </p:par>
                              <p:par>
                                <p:cTn id="9" presetID="1" presetClass="entr" presetSubtype="0" fill="hold" grpId="0" nodeType="withEffect">
                                  <p:stCondLst>
                                    <p:cond delay="300"/>
                                  </p:stCondLst>
                                  <p:childTnLst>
                                    <p:set>
                                      <p:cBhvr>
                                        <p:cTn id="10" dur="1" fill="hold">
                                          <p:stCondLst>
                                            <p:cond delay="0"/>
                                          </p:stCondLst>
                                        </p:cTn>
                                        <p:tgtEl>
                                          <p:spTgt spid="28"/>
                                        </p:tgtEl>
                                        <p:attrNameLst>
                                          <p:attrName>style.visibility</p:attrName>
                                        </p:attrNameLst>
                                      </p:cBhvr>
                                      <p:to>
                                        <p:strVal val="visible"/>
                                      </p:to>
                                    </p:set>
                                  </p:childTnLst>
                                </p:cTn>
                              </p:par>
                              <p:par>
                                <p:cTn id="11" presetID="42" presetClass="path" presetSubtype="0" decel="100000" fill="hold" grpId="1" nodeType="withEffect">
                                  <p:stCondLst>
                                    <p:cond delay="250"/>
                                  </p:stCondLst>
                                  <p:childTnLst>
                                    <p:animMotion origin="layout" path="M 2.20661E-6 -4.07407E-6 L 1.02966 -0.00115 " pathEditMode="relative" rAng="0" ptsTypes="AA">
                                      <p:cBhvr>
                                        <p:cTn id="12" dur="750" spd="-100000" fill="hold"/>
                                        <p:tgtEl>
                                          <p:spTgt spid="28"/>
                                        </p:tgtEl>
                                        <p:attrNameLst>
                                          <p:attrName>ppt_x</p:attrName>
                                          <p:attrName>ppt_y</p:attrName>
                                        </p:attrNameLst>
                                      </p:cBhvr>
                                      <p:rCtr x="51483" y="-69"/>
                                    </p:animMotion>
                                  </p:childTnLst>
                                </p:cTn>
                              </p:par>
                              <p:par>
                                <p:cTn id="13" presetID="2" presetClass="entr" presetSubtype="2" fill="hold" grpId="0" nodeType="withEffect">
                                  <p:stCondLst>
                                    <p:cond delay="25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ppt_y"/>
                                          </p:val>
                                        </p:tav>
                                        <p:tav tm="100000">
                                          <p:val>
                                            <p:strVal val="#ppt_y"/>
                                          </p:val>
                                        </p:tav>
                                      </p:tavLst>
                                    </p:anim>
                                  </p:childTnLst>
                                </p:cTn>
                              </p:par>
                              <p:par>
                                <p:cTn id="17" presetID="1" presetClass="entr" presetSubtype="0" fill="hold" grpId="0" nodeType="withEffect">
                                  <p:stCondLst>
                                    <p:cond delay="50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par>
                                <p:cTn id="19" presetID="42" presetClass="path" presetSubtype="0" decel="100000" fill="hold" grpId="1" nodeType="withEffect">
                                  <p:stCondLst>
                                    <p:cond delay="500"/>
                                  </p:stCondLst>
                                  <p:childTnLst>
                                    <p:animMotion origin="layout" path="M 4.93885E-6 3.7037E-6 L 1.09367 -0.00324 " pathEditMode="relative" rAng="0" ptsTypes="AA">
                                      <p:cBhvr>
                                        <p:cTn id="20" dur="750" spd="-100000" fill="hold"/>
                                        <p:tgtEl>
                                          <p:spTgt spid="16">
                                            <p:txEl>
                                              <p:pRg st="0" end="0"/>
                                            </p:txEl>
                                          </p:spTgt>
                                        </p:tgtEl>
                                        <p:attrNameLst>
                                          <p:attrName>ppt_x</p:attrName>
                                          <p:attrName>ppt_y</p:attrName>
                                        </p:attrNameLst>
                                      </p:cBhvr>
                                      <p:rCtr x="54684" y="-162"/>
                                    </p:animMotion>
                                  </p:childTnLst>
                                </p:cTn>
                              </p:par>
                              <p:par>
                                <p:cTn id="21" presetID="1" presetClass="entr" presetSubtype="0" fill="hold" grpId="0" nodeType="withEffect">
                                  <p:stCondLst>
                                    <p:cond delay="75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42" presetClass="path" presetSubtype="0" decel="100000" fill="hold" grpId="1" nodeType="withEffect">
                                  <p:stCondLst>
                                    <p:cond delay="750"/>
                                  </p:stCondLst>
                                  <p:childTnLst>
                                    <p:animMotion origin="layout" path="M 1.66797E-6 7.40741E-7 L 1.14754 7.40741E-7 " pathEditMode="relative" rAng="0" ptsTypes="AA">
                                      <p:cBhvr>
                                        <p:cTn id="24" dur="750" spd="-100000" fill="hold"/>
                                        <p:tgtEl>
                                          <p:spTgt spid="17">
                                            <p:txEl>
                                              <p:pRg st="0" end="0"/>
                                            </p:txEl>
                                          </p:spTgt>
                                        </p:tgtEl>
                                        <p:attrNameLst>
                                          <p:attrName>ppt_x</p:attrName>
                                          <p:attrName>ppt_y</p:attrName>
                                        </p:attrNameLst>
                                      </p:cBhvr>
                                      <p:rCtr x="57377" y="0"/>
                                    </p:animMotion>
                                  </p:childTnLst>
                                </p:cTn>
                              </p:par>
                              <p:par>
                                <p:cTn id="25" presetID="1" presetClass="entr" presetSubtype="0" fill="hold" grpId="0" nodeType="withEffect">
                                  <p:stCondLst>
                                    <p:cond delay="1000"/>
                                  </p:stCondLst>
                                  <p:childTnLst>
                                    <p:set>
                                      <p:cBhvr>
                                        <p:cTn id="26" dur="1" fill="hold">
                                          <p:stCondLst>
                                            <p:cond delay="0"/>
                                          </p:stCondLst>
                                        </p:cTn>
                                        <p:tgtEl>
                                          <p:spTgt spid="18">
                                            <p:txEl>
                                              <p:pRg st="0" end="0"/>
                                            </p:txEl>
                                          </p:spTgt>
                                        </p:tgtEl>
                                        <p:attrNameLst>
                                          <p:attrName>style.visibility</p:attrName>
                                        </p:attrNameLst>
                                      </p:cBhvr>
                                      <p:to>
                                        <p:strVal val="visible"/>
                                      </p:to>
                                    </p:set>
                                  </p:childTnLst>
                                </p:cTn>
                              </p:par>
                              <p:par>
                                <p:cTn id="27" presetID="42" presetClass="path" presetSubtype="0" decel="100000" fill="hold" grpId="1" nodeType="withEffect">
                                  <p:stCondLst>
                                    <p:cond delay="1000"/>
                                  </p:stCondLst>
                                  <p:childTnLst>
                                    <p:animMotion origin="layout" path="M 1.66797E-6 7.40741E-7 L 1.14754 7.40741E-7 " pathEditMode="relative" rAng="0" ptsTypes="AA">
                                      <p:cBhvr>
                                        <p:cTn id="28" dur="750" spd="-100000" fill="hold"/>
                                        <p:tgtEl>
                                          <p:spTgt spid="18">
                                            <p:txEl>
                                              <p:pRg st="0" end="0"/>
                                            </p:txEl>
                                          </p:spTgt>
                                        </p:tgtEl>
                                        <p:attrNameLst>
                                          <p:attrName>ppt_x</p:attrName>
                                          <p:attrName>ppt_y</p:attrName>
                                        </p:attrNameLst>
                                      </p:cBhvr>
                                      <p:rCtr x="57377" y="0"/>
                                    </p:animMotion>
                                  </p:childTnLst>
                                </p:cTn>
                              </p:par>
                              <p:par>
                                <p:cTn id="29" presetID="1" presetClass="entr" presetSubtype="0" fill="hold" grpId="0" nodeType="withEffect">
                                  <p:stCondLst>
                                    <p:cond delay="800"/>
                                  </p:stCondLst>
                                  <p:childTnLst>
                                    <p:set>
                                      <p:cBhvr>
                                        <p:cTn id="30" dur="1" fill="hold">
                                          <p:stCondLst>
                                            <p:cond delay="0"/>
                                          </p:stCondLst>
                                        </p:cTn>
                                        <p:tgtEl>
                                          <p:spTgt spid="14"/>
                                        </p:tgtEl>
                                        <p:attrNameLst>
                                          <p:attrName>style.visibility</p:attrName>
                                        </p:attrNameLst>
                                      </p:cBhvr>
                                      <p:to>
                                        <p:strVal val="visible"/>
                                      </p:to>
                                    </p:set>
                                  </p:childTnLst>
                                </p:cTn>
                              </p:par>
                              <p:par>
                                <p:cTn id="31" presetID="42" presetClass="path" presetSubtype="0" decel="100000" fill="hold" grpId="1" nodeType="withEffect">
                                  <p:stCondLst>
                                    <p:cond delay="800"/>
                                  </p:stCondLst>
                                  <p:childTnLst>
                                    <p:animMotion origin="layout" path="M 2.20661E-6 -4.07407E-6 L 1.02966 -0.00115 " pathEditMode="relative" rAng="0" ptsTypes="AA">
                                      <p:cBhvr>
                                        <p:cTn id="32" dur="750" spd="-100000" fill="hold"/>
                                        <p:tgtEl>
                                          <p:spTgt spid="14"/>
                                        </p:tgtEl>
                                        <p:attrNameLst>
                                          <p:attrName>ppt_x</p:attrName>
                                          <p:attrName>ppt_y</p:attrName>
                                        </p:attrNameLst>
                                      </p:cBhvr>
                                      <p:rCtr x="51483" y="-69"/>
                                    </p:animMotion>
                                  </p:childTnLst>
                                </p:cTn>
                              </p:par>
                              <p:par>
                                <p:cTn id="33" presetID="1" presetClass="entr" presetSubtype="0" fill="hold" grpId="1" nodeType="withEffect">
                                  <p:stCondLst>
                                    <p:cond delay="800"/>
                                  </p:stCondLst>
                                  <p:childTnLst>
                                    <p:set>
                                      <p:cBhvr>
                                        <p:cTn id="34" dur="1" fill="hold">
                                          <p:stCondLst>
                                            <p:cond delay="0"/>
                                          </p:stCondLst>
                                        </p:cTn>
                                        <p:tgtEl>
                                          <p:spTgt spid="13"/>
                                        </p:tgtEl>
                                        <p:attrNameLst>
                                          <p:attrName>style.visibility</p:attrName>
                                        </p:attrNameLst>
                                      </p:cBhvr>
                                      <p:to>
                                        <p:strVal val="visible"/>
                                      </p:to>
                                    </p:set>
                                  </p:childTnLst>
                                </p:cTn>
                              </p:par>
                              <p:par>
                                <p:cTn id="35" presetID="42" presetClass="path" presetSubtype="0" decel="100000" fill="hold" grpId="2" nodeType="withEffect">
                                  <p:stCondLst>
                                    <p:cond delay="800"/>
                                  </p:stCondLst>
                                  <p:childTnLst>
                                    <p:animMotion origin="layout" path="M 2.5553E-6 -4.07407E-6 L 1.03604 -0.00115 " pathEditMode="relative" rAng="0" ptsTypes="AA">
                                      <p:cBhvr>
                                        <p:cTn id="36" dur="750" spd="-100000" fill="hold"/>
                                        <p:tgtEl>
                                          <p:spTgt spid="13"/>
                                        </p:tgtEl>
                                        <p:attrNameLst>
                                          <p:attrName>ppt_x</p:attrName>
                                          <p:attrName>ppt_y</p:attrName>
                                        </p:attrNameLst>
                                      </p:cBhvr>
                                      <p:rCtr x="51795" y="-69"/>
                                    </p:animMotion>
                                  </p:childTnLst>
                                </p:cTn>
                              </p:par>
                              <p:par>
                                <p:cTn id="37" presetID="1" presetClass="entr" presetSubtype="0" fill="hold" nodeType="withEffect">
                                  <p:stCondLst>
                                    <p:cond delay="1000"/>
                                  </p:stCondLst>
                                  <p:childTnLst>
                                    <p:set>
                                      <p:cBhvr>
                                        <p:cTn id="38" dur="1" fill="hold">
                                          <p:stCondLst>
                                            <p:cond delay="0"/>
                                          </p:stCondLst>
                                        </p:cTn>
                                        <p:tgtEl>
                                          <p:spTgt spid="29"/>
                                        </p:tgtEl>
                                        <p:attrNameLst>
                                          <p:attrName>style.visibility</p:attrName>
                                        </p:attrNameLst>
                                      </p:cBhvr>
                                      <p:to>
                                        <p:strVal val="visible"/>
                                      </p:to>
                                    </p:set>
                                  </p:childTnLst>
                                </p:cTn>
                              </p:par>
                              <p:par>
                                <p:cTn id="39" presetID="35" presetClass="path" presetSubtype="0" decel="100000" fill="hold" nodeType="withEffect">
                                  <p:stCondLst>
                                    <p:cond delay="1000"/>
                                  </p:stCondLst>
                                  <p:childTnLst>
                                    <p:animMotion origin="layout" path="M 0.59115 -1.11111E-6 L -0.00612 -1.11111E-6 " pathEditMode="relative" rAng="0" ptsTypes="AA">
                                      <p:cBhvr>
                                        <p:cTn id="40" dur="750" fill="hold"/>
                                        <p:tgtEl>
                                          <p:spTgt spid="29"/>
                                        </p:tgtEl>
                                        <p:attrNameLst>
                                          <p:attrName>ppt_x</p:attrName>
                                          <p:attrName>ppt_y</p:attrName>
                                        </p:attrNameLst>
                                      </p:cBhvr>
                                      <p:rCtr x="-298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3" grpId="2" animBg="1"/>
      <p:bldP spid="14" grpId="0"/>
      <p:bldP spid="14" grpId="1"/>
      <p:bldP spid="15" grpId="0" animBg="1"/>
      <p:bldP spid="15" grpId="1" animBg="1"/>
      <p:bldP spid="15" grpId="2" animBg="1"/>
      <p:bldP spid="16" grpId="0" build="p">
        <p:tmplLst>
          <p:tmpl lvl="1">
            <p:tnLst>
              <p:par>
                <p:cTn presetID="1" presetClass="entr" presetSubtype="0" fill="hold" nodeType="withEffect">
                  <p:stCondLst>
                    <p:cond delay="50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6" grpId="1"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16"/>
                        </p:tgtEl>
                        <p:attrNameLst>
                          <p:attrName>ppt_x</p:attrName>
                          <p:attrName>ppt_y</p:attrName>
                        </p:attrNameLst>
                      </p:cBhvr>
                      <p:rCtr x="54684" y="-162"/>
                    </p:animMotion>
                  </p:childTnLst>
                </p:cTn>
              </p:par>
            </p:tnLst>
          </p:tmpl>
        </p:tmplLst>
      </p:bldP>
      <p:bldP spid="17" grpId="0" build="p">
        <p:tmplLst>
          <p:tmpl lvl="1">
            <p:tnLst>
              <p:par>
                <p:cTn presetID="1" presetClass="entr" presetSubtype="0" fill="hold" nodeType="withEffect">
                  <p:stCondLst>
                    <p:cond delay="75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7" grpId="1"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17"/>
                        </p:tgtEl>
                        <p:attrNameLst>
                          <p:attrName>ppt_x</p:attrName>
                          <p:attrName>ppt_y</p:attrName>
                        </p:attrNameLst>
                      </p:cBhvr>
                      <p:rCtr x="57377" y="0"/>
                    </p:animMotion>
                  </p:childTnLst>
                </p:cTn>
              </p:par>
            </p:tnLst>
          </p:tmpl>
        </p:tmplLst>
      </p:bldP>
      <p:bldP spid="18" grpId="0" build="p">
        <p:tmplLst>
          <p:tmpl lvl="1">
            <p:tnLst>
              <p:par>
                <p:cTn presetID="1" presetClass="entr" presetSubtype="0" fill="hold" nodeType="withEffect">
                  <p:stCondLst>
                    <p:cond delay="10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8" grpId="1"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18"/>
                        </p:tgtEl>
                        <p:attrNameLst>
                          <p:attrName>ppt_x</p:attrName>
                          <p:attrName>ppt_y</p:attrName>
                        </p:attrNameLst>
                      </p:cBhvr>
                      <p:rCtr x="57377" y="0"/>
                    </p:animMotion>
                  </p:childTnLst>
                </p:cTn>
              </p:par>
            </p:tnLst>
          </p:tmpl>
        </p:tmplLst>
      </p:bldP>
      <p:bldP spid="28" grpId="0"/>
      <p:bldP spid="28" grpId="1"/>
      <p:bldP spid="3" grpId="0" build="p">
        <p:tmplLst>
          <p:tmpl lvl="1">
            <p:tnLst>
              <p:par>
                <p:cTn presetID="2" presetClass="entr" presetSubtype="2"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86053"/>
            <a:ext cx="6994362" cy="1523494"/>
          </a:xfrm>
        </p:spPr>
        <p:txBody>
          <a:bodyPr anchor="ctr" anchorCtr="0">
            <a:noAutofit/>
          </a:bodyPr>
          <a:lstStyle>
            <a:lvl1pPr>
              <a:lnSpc>
                <a:spcPct val="90000"/>
              </a:lnSpc>
              <a:defRPr sz="4800" baseline="0">
                <a:gradFill flip="none" rotWithShape="1">
                  <a:gsLst>
                    <a:gs pos="0">
                      <a:schemeClr val="tx1"/>
                    </a:gs>
                    <a:gs pos="86000">
                      <a:schemeClr val="tx1"/>
                    </a:gs>
                  </a:gsLst>
                  <a:lin ang="5400000" scaled="0"/>
                  <a:tileRect/>
                </a:gradFill>
              </a:defRPr>
            </a:lvl1pPr>
          </a:lstStyle>
          <a:p>
            <a:r>
              <a:rPr lang="en-US" smtClean="0"/>
              <a:t>Click to edit Master title style</a:t>
            </a:r>
            <a:endParaRPr lang="en-US" dirty="0"/>
          </a:p>
        </p:txBody>
      </p:sp>
      <p:sp>
        <p:nvSpPr>
          <p:cNvPr id="3" name="Subtitle 2"/>
          <p:cNvSpPr>
            <a:spLocks noGrp="1"/>
          </p:cNvSpPr>
          <p:nvPr>
            <p:ph type="subTitle" idx="1"/>
          </p:nvPr>
        </p:nvSpPr>
        <p:spPr>
          <a:xfrm>
            <a:off x="381000" y="4344990"/>
            <a:ext cx="6994363" cy="461665"/>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381000" y="2362200"/>
            <a:ext cx="7683914" cy="1378644"/>
          </a:xfrm>
        </p:spPr>
        <p:txBody>
          <a:bodyPr anchor="t" anchorCtr="0">
            <a:noAutofit/>
            <a:scene3d>
              <a:camera prst="orthographicFront"/>
              <a:lightRig rig="flat" dir="t"/>
            </a:scene3d>
            <a:sp3d>
              <a:contourClr>
                <a:schemeClr val="tx1"/>
              </a:contourClr>
            </a:sp3d>
          </a:bodyPr>
          <a:lstStyle>
            <a:lvl1pPr marL="0" indent="0" algn="l">
              <a:buFont typeface="Arial" pitchFamily="34" charset="0"/>
              <a:buNone/>
              <a:defRPr kumimoji="0" lang="en-US" sz="10000" b="0" i="0" u="none" strike="noStrike" kern="1200" cap="none" spc="-150" normalizeH="0" baseline="0" noProof="0" dirty="0" smtClean="0">
                <a:ln w="11430"/>
                <a:gradFill>
                  <a:gsLst>
                    <a:gs pos="0">
                      <a:schemeClr val="tx2"/>
                    </a:gs>
                    <a:gs pos="99000">
                      <a:schemeClr val="tx2"/>
                    </a:gs>
                  </a:gsLst>
                  <a:lin ang="5400000"/>
                </a:gradFill>
                <a:effectLst/>
                <a:uLnTx/>
                <a:uFillTx/>
                <a:latin typeface="Segoe Light" pitchFamily="34" charset="0"/>
                <a:ea typeface="+mn-ea"/>
                <a:cs typeface="+mn-cs"/>
              </a:defRPr>
            </a:lvl1pPr>
          </a:lstStyle>
          <a:p>
            <a:pPr lvl="0"/>
            <a:r>
              <a:rPr lang="en-US" dirty="0" smtClean="0"/>
              <a:t>click to…</a:t>
            </a:r>
          </a:p>
        </p:txBody>
      </p:sp>
      <p:sp>
        <p:nvSpPr>
          <p:cNvPr id="11" name="Slide Number Placeholder 10"/>
          <p:cNvSpPr>
            <a:spLocks noGrp="1"/>
          </p:cNvSpPr>
          <p:nvPr>
            <p:ph type="sldNum" sz="quarter" idx="11"/>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3378389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75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7">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6" dur="75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2" decel="10000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1+#ppt_w/2"/>
                          </p:val>
                        </p:tav>
                        <p:tav tm="100000">
                          <p:val>
                            <p:strVal val="#ppt_x"/>
                          </p:val>
                        </p:tav>
                      </p:tavLst>
                    </p:anim>
                    <p:anim calcmode="lin" valueType="num">
                      <p:cBhvr additive="base">
                        <p:cTn dur="750" fill="hold"/>
                        <p:tgtEl>
                          <p:spTgt spid="3"/>
                        </p:tgtEl>
                        <p:attrNameLst>
                          <p:attrName>ppt_y</p:attrName>
                        </p:attrNameLst>
                      </p:cBhvr>
                      <p:tavLst>
                        <p:tav tm="0">
                          <p:val>
                            <p:strVal val="#ppt_y"/>
                          </p:val>
                        </p:tav>
                        <p:tav tm="100000">
                          <p:val>
                            <p:strVal val="#ppt_y"/>
                          </p:val>
                        </p:tav>
                      </p:tavLst>
                    </p:anim>
                  </p:childTnLst>
                </p:cTn>
              </p:par>
            </p:tnLst>
          </p:tmpl>
        </p:tmplLst>
      </p:bldP>
      <p:bldP spid="7" grpId="0" build="p">
        <p:tmplLst>
          <p:tmpl lvl="1">
            <p:tnLst>
              <p:par>
                <p:cTn presetID="2" presetClass="entr" presetSubtype="2" decel="100000"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Subtitle 2"/>
          <p:cNvSpPr>
            <a:spLocks noGrp="1"/>
          </p:cNvSpPr>
          <p:nvPr>
            <p:ph type="subTitle" idx="1"/>
          </p:nvPr>
        </p:nvSpPr>
        <p:spPr>
          <a:xfrm>
            <a:off x="550840" y="5426822"/>
            <a:ext cx="5598586" cy="374295"/>
          </a:xfrm>
        </p:spPr>
        <p:txBody>
          <a:bodyPr vert="horz" wrap="square" lIns="0" tIns="0" rIns="0" bIns="0" rtlCol="0" anchor="t">
            <a:spAutoFit/>
          </a:bodyPr>
          <a:lstStyle>
            <a:lvl1pPr marL="0" indent="0">
              <a:spcBef>
                <a:spcPts val="0"/>
              </a:spcBef>
              <a:buFontTx/>
              <a:buNone/>
              <a:defRPr lang="en-US" sz="2700" b="1" kern="1200" spc="-150" dirty="0">
                <a:gradFill>
                  <a:gsLst>
                    <a:gs pos="0">
                      <a:schemeClr val="tx1"/>
                    </a:gs>
                    <a:gs pos="100000">
                      <a:schemeClr val="tx1"/>
                    </a:gs>
                  </a:gsLst>
                  <a:lin ang="5400000" scaled="0"/>
                </a:gradFill>
                <a:latin typeface="Segoe Light" pitchFamily="34" charset="0"/>
                <a:ea typeface="+mn-ea"/>
                <a:cs typeface="+mn-cs"/>
              </a:defRPr>
            </a:lvl1pPr>
          </a:lstStyle>
          <a:p>
            <a:pPr marL="0" lvl="0" indent="0" algn="l" defTabSz="685961" rtl="0" eaLnBrk="1" latinLnBrk="0" hangingPunct="1">
              <a:lnSpc>
                <a:spcPct val="90000"/>
              </a:lnSpc>
              <a:spcBef>
                <a:spcPts val="0"/>
              </a:spcBef>
              <a:buClr>
                <a:schemeClr val="tx2"/>
              </a:buClr>
              <a:buSzPct val="90000"/>
              <a:buFontTx/>
              <a:buNone/>
            </a:pPr>
            <a:r>
              <a:rPr lang="en-US" smtClean="0"/>
              <a:t>Click to edit Master subtitle style</a:t>
            </a:r>
            <a:endParaRPr lang="en-US" dirty="0"/>
          </a:p>
        </p:txBody>
      </p:sp>
      <p:sp>
        <p:nvSpPr>
          <p:cNvPr id="7" name="Text Placeholder 8"/>
          <p:cNvSpPr>
            <a:spLocks noGrp="1"/>
          </p:cNvSpPr>
          <p:nvPr>
            <p:ph type="body" sz="quarter" idx="10" hasCustomPrompt="1"/>
          </p:nvPr>
        </p:nvSpPr>
        <p:spPr>
          <a:xfrm>
            <a:off x="550863" y="5823667"/>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8" name="Text Placeholder 8"/>
          <p:cNvSpPr>
            <a:spLocks noGrp="1"/>
          </p:cNvSpPr>
          <p:nvPr>
            <p:ph type="body" sz="quarter" idx="11" hasCustomPrompt="1"/>
          </p:nvPr>
        </p:nvSpPr>
        <p:spPr>
          <a:xfrm>
            <a:off x="550863" y="6109682"/>
            <a:ext cx="5679569" cy="291118"/>
          </a:xfrm>
        </p:spPr>
        <p:txBody>
          <a:bodyPr/>
          <a:lstStyle>
            <a:lvl1pPr marL="0" indent="0">
              <a:spcBef>
                <a:spcPts val="0"/>
              </a:spcBef>
              <a:buFontTx/>
              <a:buNone/>
              <a:defRPr sz="2100">
                <a:latin typeface="Segoe Light" pitchFamily="34" charset="0"/>
              </a:defRPr>
            </a:lvl1pPr>
          </a:lstStyle>
          <a:p>
            <a:r>
              <a:rPr lang="en-US" dirty="0" smtClean="0"/>
              <a:t>Click to edit Master subtitle style</a:t>
            </a:r>
            <a:endParaRPr lang="en-US" dirty="0"/>
          </a:p>
        </p:txBody>
      </p:sp>
      <p:sp>
        <p:nvSpPr>
          <p:cNvPr id="9" name="Title 1"/>
          <p:cNvSpPr>
            <a:spLocks noGrp="1"/>
          </p:cNvSpPr>
          <p:nvPr>
            <p:ph type="ctrTitle"/>
          </p:nvPr>
        </p:nvSpPr>
        <p:spPr>
          <a:xfrm>
            <a:off x="555738" y="2976018"/>
            <a:ext cx="8046720" cy="1098296"/>
          </a:xfrm>
        </p:spPr>
        <p:txBody>
          <a:bodyPr anchor="ctr" anchorCtr="0">
            <a:noAutofit/>
          </a:bodyPr>
          <a:lstStyle>
            <a:lvl1pPr>
              <a:lnSpc>
                <a:spcPct val="90000"/>
              </a:lnSpc>
              <a:tabLst>
                <a:tab pos="1504361" algn="l"/>
              </a:tabLst>
              <a:defRPr lang="en-US" sz="5400" b="0" kern="1200" cap="none" spc="-150" baseline="0" dirty="0">
                <a:ln w="3175">
                  <a:noFill/>
                </a:ln>
                <a:gradFill>
                  <a:gsLst>
                    <a:gs pos="0">
                      <a:schemeClr val="bg2"/>
                    </a:gs>
                    <a:gs pos="100000">
                      <a:schemeClr val="bg2"/>
                    </a:gs>
                  </a:gsLst>
                  <a:lin ang="5400000" scaled="0"/>
                </a:gradFill>
                <a:effectLst/>
                <a:latin typeface="Segoe Light" pitchFamily="34" charset="0"/>
                <a:ea typeface="+mn-ea"/>
                <a:cs typeface="+mn-cs"/>
              </a:defRPr>
            </a:lvl1pPr>
          </a:lstStyle>
          <a:p>
            <a:pPr lvl="0" algn="l" defTabSz="685961" rtl="0" eaLnBrk="1" latinLnBrk="0" hangingPunct="1">
              <a:lnSpc>
                <a:spcPct val="90000"/>
              </a:lnSpc>
              <a:spcBef>
                <a:spcPct val="0"/>
              </a:spcBef>
              <a:buNone/>
            </a:pPr>
            <a:r>
              <a:rPr lang="en-US" smtClean="0"/>
              <a:t>Click to edit Master title style</a:t>
            </a:r>
            <a:endParaRPr lang="en-US" dirty="0"/>
          </a:p>
        </p:txBody>
      </p:sp>
      <p:sp>
        <p:nvSpPr>
          <p:cNvPr id="10" name="Slide Number Placeholder 10"/>
          <p:cNvSpPr>
            <a:spLocks noGrp="1"/>
          </p:cNvSpPr>
          <p:nvPr>
            <p:ph type="sldNum" sz="quarter" idx="12"/>
          </p:nvPr>
        </p:nvSpPr>
        <p:spPr>
          <a:xfrm>
            <a:off x="-1" y="6420022"/>
            <a:ext cx="550863" cy="228600"/>
          </a:xfrm>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2863286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300"/>
                                  </p:stCondLst>
                                  <p:childTnLst>
                                    <p:set>
                                      <p:cBhvr>
                                        <p:cTn id="6" dur="1" fill="hold">
                                          <p:stCondLst>
                                            <p:cond delay="0"/>
                                          </p:stCondLst>
                                        </p:cTn>
                                        <p:tgtEl>
                                          <p:spTgt spid="9"/>
                                        </p:tgtEl>
                                        <p:attrNameLst>
                                          <p:attrName>style.visibility</p:attrName>
                                        </p:attrNameLst>
                                      </p:cBhvr>
                                      <p:to>
                                        <p:strVal val="visible"/>
                                      </p:to>
                                    </p:set>
                                  </p:childTnLst>
                                </p:cTn>
                              </p:par>
                              <p:par>
                                <p:cTn id="7" presetID="42" presetClass="path" presetSubtype="0" decel="100000" fill="hold" grpId="2" nodeType="withEffect">
                                  <p:stCondLst>
                                    <p:cond delay="250"/>
                                  </p:stCondLst>
                                  <p:childTnLst>
                                    <p:animMotion origin="layout" path="M 2.20661E-6 -4.07407E-6 L 1.02966 -0.00115 " pathEditMode="relative" rAng="0" ptsTypes="AA">
                                      <p:cBhvr>
                                        <p:cTn id="8" dur="750" spd="-100000" fill="hold"/>
                                        <p:tgtEl>
                                          <p:spTgt spid="9"/>
                                        </p:tgtEl>
                                        <p:attrNameLst>
                                          <p:attrName>ppt_x</p:attrName>
                                          <p:attrName>ppt_y</p:attrName>
                                        </p:attrNameLst>
                                      </p:cBhvr>
                                      <p:rCtr x="51483" y="-69"/>
                                    </p:animMotion>
                                  </p:childTnLst>
                                </p:cTn>
                              </p:par>
                              <p:par>
                                <p:cTn id="9" presetID="1" presetClass="entr" presetSubtype="0" fill="hold" grpId="1" nodeType="withEffect">
                                  <p:stCondLst>
                                    <p:cond delay="50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42" presetClass="path" presetSubtype="0" decel="100000" fill="hold" grpId="2" nodeType="withEffect">
                                  <p:stCondLst>
                                    <p:cond delay="500"/>
                                  </p:stCondLst>
                                  <p:childTnLst>
                                    <p:animMotion origin="layout" path="M 4.93885E-6 3.7037E-6 L 1.09367 -0.00324 " pathEditMode="relative" rAng="0" ptsTypes="AA">
                                      <p:cBhvr>
                                        <p:cTn id="12" dur="750" spd="-100000" fill="hold"/>
                                        <p:tgtEl>
                                          <p:spTgt spid="6">
                                            <p:txEl>
                                              <p:pRg st="0" end="0"/>
                                            </p:txEl>
                                          </p:spTgt>
                                        </p:tgtEl>
                                        <p:attrNameLst>
                                          <p:attrName>ppt_x</p:attrName>
                                          <p:attrName>ppt_y</p:attrName>
                                        </p:attrNameLst>
                                      </p:cBhvr>
                                      <p:rCtr x="54684" y="-162"/>
                                    </p:animMotion>
                                  </p:childTnLst>
                                </p:cTn>
                              </p:par>
                              <p:par>
                                <p:cTn id="13" presetID="1" presetClass="entr" presetSubtype="0" fill="hold" grpId="1" nodeType="withEffect">
                                  <p:stCondLst>
                                    <p:cond delay="75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42" presetClass="path" presetSubtype="0" decel="100000" fill="hold" grpId="2" nodeType="withEffect">
                                  <p:stCondLst>
                                    <p:cond delay="750"/>
                                  </p:stCondLst>
                                  <p:childTnLst>
                                    <p:animMotion origin="layout" path="M 1.66797E-6 7.40741E-7 L 1.14754 7.40741E-7 " pathEditMode="relative" rAng="0" ptsTypes="AA">
                                      <p:cBhvr>
                                        <p:cTn id="16" dur="750" spd="-100000" fill="hold"/>
                                        <p:tgtEl>
                                          <p:spTgt spid="7">
                                            <p:txEl>
                                              <p:pRg st="0" end="0"/>
                                            </p:txEl>
                                          </p:spTgt>
                                        </p:tgtEl>
                                        <p:attrNameLst>
                                          <p:attrName>ppt_x</p:attrName>
                                          <p:attrName>ppt_y</p:attrName>
                                        </p:attrNameLst>
                                      </p:cBhvr>
                                      <p:rCtr x="57377" y="0"/>
                                    </p:animMotion>
                                  </p:childTnLst>
                                </p:cTn>
                              </p:par>
                              <p:par>
                                <p:cTn id="17" presetID="1" presetClass="entr" presetSubtype="0" fill="hold" grpId="1" nodeType="withEffect">
                                  <p:stCondLst>
                                    <p:cond delay="100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42" presetClass="path" presetSubtype="0" decel="100000" fill="hold" grpId="2" nodeType="withEffect">
                                  <p:stCondLst>
                                    <p:cond delay="1000"/>
                                  </p:stCondLst>
                                  <p:childTnLst>
                                    <p:animMotion origin="layout" path="M 1.66797E-6 7.40741E-7 L 1.14754 7.40741E-7 " pathEditMode="relative" rAng="0" ptsTypes="AA">
                                      <p:cBhvr>
                                        <p:cTn id="20" dur="750" spd="-100000" fill="hold"/>
                                        <p:tgtEl>
                                          <p:spTgt spid="8">
                                            <p:txEl>
                                              <p:pRg st="0" end="0"/>
                                            </p:txEl>
                                          </p:spTgt>
                                        </p:tgtEl>
                                        <p:attrNameLst>
                                          <p:attrName>ppt_x</p:attrName>
                                          <p:attrName>ppt_y</p:attrName>
                                        </p:attrNameLst>
                                      </p:cBhvr>
                                      <p:rCtr x="57377" y="0"/>
                                    </p:animMotion>
                                  </p:childTnLst>
                                </p:cTn>
                              </p:par>
                              <p:par>
                                <p:cTn id="21" presetID="42" presetClass="path" presetSubtype="0" decel="100000" fill="hold" grpId="0" nodeType="withEffect">
                                  <p:stCondLst>
                                    <p:cond delay="0"/>
                                  </p:stCondLst>
                                  <p:childTnLst>
                                    <p:animMotion origin="layout" path="M -1.04167E-6 -4.07407E-6 L -0.64453 -0.00115 " pathEditMode="relative" rAng="0" ptsTypes="AA">
                                      <p:cBhvr>
                                        <p:cTn id="22" dur="750" fill="hold"/>
                                        <p:tgtEl>
                                          <p:spTgt spid="9"/>
                                        </p:tgtEl>
                                        <p:attrNameLst>
                                          <p:attrName>ppt_x</p:attrName>
                                          <p:attrName>ppt_y</p:attrName>
                                        </p:attrNameLst>
                                      </p:cBhvr>
                                      <p:rCtr x="-32227" y="-69"/>
                                    </p:animMotion>
                                  </p:childTnLst>
                                </p:cTn>
                              </p:par>
                              <p:par>
                                <p:cTn id="23" presetID="42" presetClass="path" presetSubtype="0" decel="100000" fill="hold" grpId="0" nodeType="withEffect">
                                  <p:stCondLst>
                                    <p:cond delay="250"/>
                                  </p:stCondLst>
                                  <p:childTnLst>
                                    <p:animMotion origin="layout" path="M 2.29167E-6 3.7037E-6 L -0.78985 0.00324 " pathEditMode="relative" rAng="0" ptsTypes="AA">
                                      <p:cBhvr>
                                        <p:cTn id="24" dur="750" fill="hold"/>
                                        <p:tgtEl>
                                          <p:spTgt spid="6">
                                            <p:txEl>
                                              <p:pRg st="0" end="0"/>
                                            </p:txEl>
                                          </p:spTgt>
                                        </p:tgtEl>
                                        <p:attrNameLst>
                                          <p:attrName>ppt_x</p:attrName>
                                          <p:attrName>ppt_y</p:attrName>
                                        </p:attrNameLst>
                                      </p:cBhvr>
                                      <p:rCtr x="-39492" y="162"/>
                                    </p:animMotion>
                                  </p:childTnLst>
                                </p:cTn>
                              </p:par>
                              <p:par>
                                <p:cTn id="25" presetID="42" presetClass="path" presetSubtype="0" decel="100000" fill="hold" grpId="0" nodeType="withEffect">
                                  <p:stCondLst>
                                    <p:cond delay="500"/>
                                  </p:stCondLst>
                                  <p:childTnLst>
                                    <p:animMotion origin="layout" path="M -3.26828E-6 7.40741E-7 L -0.72365 0.00393 " pathEditMode="relative" rAng="0" ptsTypes="AA">
                                      <p:cBhvr>
                                        <p:cTn id="26" dur="750" fill="hold"/>
                                        <p:tgtEl>
                                          <p:spTgt spid="7">
                                            <p:txEl>
                                              <p:pRg st="0" end="0"/>
                                            </p:txEl>
                                          </p:spTgt>
                                        </p:tgtEl>
                                        <p:attrNameLst>
                                          <p:attrName>ppt_x</p:attrName>
                                          <p:attrName>ppt_y</p:attrName>
                                        </p:attrNameLst>
                                      </p:cBhvr>
                                      <p:rCtr x="-36183" y="185"/>
                                    </p:animMotion>
                                  </p:childTnLst>
                                </p:cTn>
                              </p:par>
                              <p:par>
                                <p:cTn id="27" presetID="42" presetClass="path" presetSubtype="0" decel="100000" fill="hold" grpId="0" nodeType="withEffect">
                                  <p:stCondLst>
                                    <p:cond delay="750"/>
                                  </p:stCondLst>
                                  <p:childTnLst>
                                    <p:animMotion origin="layout" path="M -3.26828E-6 7.40741E-7 L -0.72365 0.00393 " pathEditMode="relative" rAng="0" ptsTypes="AA">
                                      <p:cBhvr>
                                        <p:cTn id="28" dur="750" fill="hold"/>
                                        <p:tgtEl>
                                          <p:spTgt spid="8">
                                            <p:txEl>
                                              <p:pRg st="0" end="0"/>
                                            </p:txEl>
                                          </p:spTgt>
                                        </p:tgtEl>
                                        <p:attrNameLst>
                                          <p:attrName>ppt_x</p:attrName>
                                          <p:attrName>ppt_y</p:attrName>
                                        </p:attrNameLst>
                                      </p:cBhvr>
                                      <p:rCtr x="-36183"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42" presetClass="path" presetSubtype="0" decel="100000" fill="hold" nodeType="withEffect">
                  <p:stCondLst>
                    <p:cond delay="250"/>
                  </p:stCondLst>
                  <p:childTnLst>
                    <p:animMotion origin="layout" path="M 2.29167E-6 3.7037E-6 L -0.78985 0.00324 " pathEditMode="relative" rAng="0" ptsTypes="AA">
                      <p:cBhvr>
                        <p:cTn dur="750" fill="hold"/>
                        <p:tgtEl>
                          <p:spTgt spid="6"/>
                        </p:tgtEl>
                        <p:attrNameLst>
                          <p:attrName>ppt_x</p:attrName>
                          <p:attrName>ppt_y</p:attrName>
                        </p:attrNameLst>
                      </p:cBhvr>
                      <p:rCtr x="-39492" y="162"/>
                    </p:animMotion>
                  </p:childTnLst>
                </p:cTn>
              </p:par>
            </p:tnLst>
          </p:tmpl>
        </p:tmplLst>
      </p:bldP>
      <p:bldP spid="6" grpId="1" build="p">
        <p:tmplLst>
          <p:tmpl lvl="1">
            <p:tnLst>
              <p:par>
                <p:cTn presetID="1" presetClass="entr" presetSubtype="0" fill="hold" nodeType="withEffect">
                  <p:stCondLst>
                    <p:cond delay="500"/>
                  </p:stCondLst>
                  <p:childTnLst>
                    <p:set>
                      <p:cBhvr>
                        <p:cTn dur="1" fill="hold">
                          <p:stCondLst>
                            <p:cond delay="0"/>
                          </p:stCondLst>
                        </p:cTn>
                        <p:tgtEl>
                          <p:spTgt spid="6"/>
                        </p:tgtEl>
                        <p:attrNameLst>
                          <p:attrName>style.visibility</p:attrName>
                        </p:attrNameLst>
                      </p:cBhvr>
                      <p:to>
                        <p:strVal val="visible"/>
                      </p:to>
                    </p:set>
                  </p:childTnLst>
                </p:cTn>
              </p:par>
            </p:tnLst>
          </p:tmpl>
        </p:tmplLst>
      </p:bldP>
      <p:bldP spid="6" grpId="2" build="p">
        <p:tmplLst>
          <p:tmpl lvl="1">
            <p:tnLst>
              <p:par>
                <p:cTn presetID="42" presetClass="path" presetSubtype="0" decel="100000" fill="hold" nodeType="withEffect">
                  <p:stCondLst>
                    <p:cond delay="500"/>
                  </p:stCondLst>
                  <p:childTnLst>
                    <p:animMotion origin="layout" path="M 4.93885E-6 3.7037E-6 L 1.09367 -0.00324 " pathEditMode="relative" rAng="0" ptsTypes="AA">
                      <p:cBhvr>
                        <p:cTn dur="750" spd="-100000" fill="hold"/>
                        <p:tgtEl>
                          <p:spTgt spid="6"/>
                        </p:tgtEl>
                        <p:attrNameLst>
                          <p:attrName>ppt_x</p:attrName>
                          <p:attrName>ppt_y</p:attrName>
                        </p:attrNameLst>
                      </p:cBhvr>
                      <p:rCtr x="54684" y="-162"/>
                    </p:animMotion>
                  </p:childTnLst>
                </p:cTn>
              </p:par>
            </p:tnLst>
          </p:tmpl>
        </p:tmplLst>
      </p:bldP>
      <p:bldP spid="7" grpId="0" build="p">
        <p:tmplLst>
          <p:tmpl lvl="1">
            <p:tnLst>
              <p:par>
                <p:cTn presetID="42" presetClass="path" presetSubtype="0" decel="100000" fill="hold" nodeType="withEffect">
                  <p:stCondLst>
                    <p:cond delay="500"/>
                  </p:stCondLst>
                  <p:childTnLst>
                    <p:animMotion origin="layout" path="M -3.26828E-6 7.40741E-7 L -0.72365 0.00393 " pathEditMode="relative" rAng="0" ptsTypes="AA">
                      <p:cBhvr>
                        <p:cTn dur="750" fill="hold"/>
                        <p:tgtEl>
                          <p:spTgt spid="7"/>
                        </p:tgtEl>
                        <p:attrNameLst>
                          <p:attrName>ppt_x</p:attrName>
                          <p:attrName>ppt_y</p:attrName>
                        </p:attrNameLst>
                      </p:cBhvr>
                      <p:rCtr x="-36183" y="185"/>
                    </p:animMotion>
                  </p:childTnLst>
                </p:cTn>
              </p:par>
            </p:tnLst>
          </p:tmpl>
        </p:tmplLst>
      </p:bldP>
      <p:bldP spid="7" grpId="1" build="p">
        <p:tmplLst>
          <p:tmpl lvl="1">
            <p:tnLst>
              <p:par>
                <p:cTn presetID="1" presetClass="entr" presetSubtype="0" fill="hold" nodeType="withEffect">
                  <p:stCondLst>
                    <p:cond delay="75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7" grpId="2" build="p">
        <p:tmplLst>
          <p:tmpl lvl="1">
            <p:tnLst>
              <p:par>
                <p:cTn presetID="42" presetClass="path" presetSubtype="0" decel="100000" fill="hold" nodeType="withEffect">
                  <p:stCondLst>
                    <p:cond delay="750"/>
                  </p:stCondLst>
                  <p:childTnLst>
                    <p:animMotion origin="layout" path="M 1.66797E-6 7.40741E-7 L 1.14754 7.40741E-7 " pathEditMode="relative" rAng="0" ptsTypes="AA">
                      <p:cBhvr>
                        <p:cTn dur="750" spd="-100000" fill="hold"/>
                        <p:tgtEl>
                          <p:spTgt spid="7"/>
                        </p:tgtEl>
                        <p:attrNameLst>
                          <p:attrName>ppt_x</p:attrName>
                          <p:attrName>ppt_y</p:attrName>
                        </p:attrNameLst>
                      </p:cBhvr>
                      <p:rCtr x="57377" y="0"/>
                    </p:animMotion>
                  </p:childTnLst>
                </p:cTn>
              </p:par>
            </p:tnLst>
          </p:tmpl>
        </p:tmplLst>
      </p:bldP>
      <p:bldP spid="8" grpId="0" build="p">
        <p:tmplLst>
          <p:tmpl lvl="1">
            <p:tnLst>
              <p:par>
                <p:cTn presetID="42" presetClass="path" presetSubtype="0" decel="100000" fill="hold" nodeType="withEffect">
                  <p:stCondLst>
                    <p:cond delay="750"/>
                  </p:stCondLst>
                  <p:childTnLst>
                    <p:animMotion origin="layout" path="M -3.26828E-6 7.40741E-7 L -0.72365 0.00393 " pathEditMode="relative" rAng="0" ptsTypes="AA">
                      <p:cBhvr>
                        <p:cTn dur="750" fill="hold"/>
                        <p:tgtEl>
                          <p:spTgt spid="8"/>
                        </p:tgtEl>
                        <p:attrNameLst>
                          <p:attrName>ppt_x</p:attrName>
                          <p:attrName>ppt_y</p:attrName>
                        </p:attrNameLst>
                      </p:cBhvr>
                      <p:rCtr x="-36183" y="185"/>
                    </p:animMotion>
                  </p:childTnLst>
                </p:cTn>
              </p:par>
            </p:tnLst>
          </p:tmpl>
        </p:tmplLst>
      </p:bldP>
      <p:bldP spid="8" grpId="1" build="p">
        <p:tmplLst>
          <p:tmpl lvl="1">
            <p:tnLst>
              <p:par>
                <p:cTn presetID="1" presetClass="entr" presetSubtype="0" fill="hold" nodeType="withEffect">
                  <p:stCondLst>
                    <p:cond delay="1000"/>
                  </p:stCondLst>
                  <p:childTnLst>
                    <p:set>
                      <p:cBhvr>
                        <p:cTn dur="1" fill="hold">
                          <p:stCondLst>
                            <p:cond delay="0"/>
                          </p:stCondLst>
                        </p:cTn>
                        <p:tgtEl>
                          <p:spTgt spid="8"/>
                        </p:tgtEl>
                        <p:attrNameLst>
                          <p:attrName>style.visibility</p:attrName>
                        </p:attrNameLst>
                      </p:cBhvr>
                      <p:to>
                        <p:strVal val="visible"/>
                      </p:to>
                    </p:set>
                  </p:childTnLst>
                </p:cTn>
              </p:par>
            </p:tnLst>
          </p:tmpl>
        </p:tmplLst>
      </p:bldP>
      <p:bldP spid="8" grpId="2" build="p">
        <p:tmplLst>
          <p:tmpl lvl="1">
            <p:tnLst>
              <p:par>
                <p:cTn presetID="42" presetClass="path" presetSubtype="0" decel="100000" fill="hold" nodeType="withEffect">
                  <p:stCondLst>
                    <p:cond delay="1000"/>
                  </p:stCondLst>
                  <p:childTnLst>
                    <p:animMotion origin="layout" path="M 1.66797E-6 7.40741E-7 L 1.14754 7.40741E-7 " pathEditMode="relative" rAng="0" ptsTypes="AA">
                      <p:cBhvr>
                        <p:cTn dur="750" spd="-100000" fill="hold"/>
                        <p:tgtEl>
                          <p:spTgt spid="8"/>
                        </p:tgtEl>
                        <p:attrNameLst>
                          <p:attrName>ppt_x</p:attrName>
                          <p:attrName>ppt_y</p:attrName>
                        </p:attrNameLst>
                      </p:cBhvr>
                      <p:rCtr x="57377" y="0"/>
                    </p:animMotion>
                  </p:childTnLst>
                </p:cTn>
              </p:par>
            </p:tnLst>
          </p:tmpl>
        </p:tmplLst>
      </p:bldP>
      <p:bldP spid="9" grpId="0"/>
      <p:bldP spid="9" grpId="1"/>
      <p:bldP spid="9" grpId="2"/>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p>
            <a:r>
              <a:rPr lang="en-US" dirty="0" smtClean="0"/>
              <a:t>Master title style</a:t>
            </a:r>
            <a:endParaRPr lang="en-US" dirty="0"/>
          </a:p>
        </p:txBody>
      </p:sp>
      <p:sp>
        <p:nvSpPr>
          <p:cNvPr id="5" name="Text Placeholder 4"/>
          <p:cNvSpPr>
            <a:spLocks noGrp="1"/>
          </p:cNvSpPr>
          <p:nvPr>
            <p:ph type="body" sz="quarter" idx="10"/>
          </p:nvPr>
        </p:nvSpPr>
        <p:spPr>
          <a:xfrm>
            <a:off x="381000" y="1447800"/>
            <a:ext cx="8363938" cy="2068259"/>
          </a:xfrm>
        </p:spPr>
        <p:txBody>
          <a:bodyPr/>
          <a:lstStyle>
            <a:lvl1pPr marL="347663" indent="-347663">
              <a:defRPr sz="3200"/>
            </a:lvl1pPr>
            <a:lvl2pPr marL="744538" indent="-284163">
              <a:defRPr sz="2800"/>
            </a:lvl2pPr>
            <a:lvl3pPr marL="1143000" indent="-287338">
              <a:defRPr sz="2400"/>
            </a:lvl3pPr>
            <a:lvl4pPr marL="1490663" indent="-231775">
              <a:defRPr sz="2000"/>
            </a:lvl4pPr>
            <a:lvl5pPr marL="1828800" indent="-223838">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1040365033"/>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0863" y="431800"/>
            <a:ext cx="8363938" cy="923330"/>
          </a:xfrm>
        </p:spPr>
        <p:txBody>
          <a:bodyPr/>
          <a:lstStyle>
            <a:lvl1pPr>
              <a:lnSpc>
                <a:spcPct val="100000"/>
              </a:lnSpc>
              <a:defRPr>
                <a:gradFill flip="none" rotWithShape="1">
                  <a:gsLst>
                    <a:gs pos="0">
                      <a:schemeClr val="bg1"/>
                    </a:gs>
                    <a:gs pos="86000">
                      <a:schemeClr val="bg1"/>
                    </a:gs>
                  </a:gsLst>
                  <a:lin ang="5400000" scaled="0"/>
                  <a:tileRect/>
                </a:gradFill>
              </a:defRPr>
            </a:lvl1pPr>
          </a:lstStyle>
          <a:p>
            <a:r>
              <a:rPr lang="en-US" dirty="0" smtClean="0"/>
              <a:t>Master title style</a:t>
            </a:r>
            <a:endParaRPr lang="en-US" dirty="0"/>
          </a:p>
        </p:txBody>
      </p:sp>
      <p:sp>
        <p:nvSpPr>
          <p:cNvPr id="3" name="Content Placeholder 2"/>
          <p:cNvSpPr>
            <a:spLocks noGrp="1"/>
          </p:cNvSpPr>
          <p:nvPr>
            <p:ph idx="1"/>
          </p:nvPr>
        </p:nvSpPr>
        <p:spPr>
          <a:xfrm>
            <a:off x="380770" y="1905000"/>
            <a:ext cx="8363938" cy="2609945"/>
          </a:xfrm>
        </p:spPr>
        <p:txBody>
          <a:bodyPr/>
          <a:lstStyle>
            <a:lvl1pPr>
              <a:lnSpc>
                <a:spcPct val="90000"/>
              </a:lnSpc>
              <a:defRPr sz="3200"/>
            </a:lvl1pPr>
            <a:lvl2pPr>
              <a:lnSpc>
                <a:spcPct val="90000"/>
              </a:lnSpc>
              <a:defRPr sz="3200"/>
            </a:lvl2pPr>
            <a:lvl3pPr>
              <a:lnSpc>
                <a:spcPct val="90000"/>
              </a:lnSpc>
              <a:defRPr sz="3200"/>
            </a:lvl3pPr>
            <a:lvl4pPr>
              <a:lnSpc>
                <a:spcPct val="90000"/>
              </a:lnSpc>
              <a:defRPr sz="3200"/>
            </a:lvl4pPr>
            <a:lvl5pPr>
              <a:lnSpc>
                <a:spcPct val="90000"/>
              </a:lnSpc>
              <a:defRPr sz="3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4"/>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598205988"/>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Master title style</a:t>
            </a:r>
            <a:endParaRPr lang="en-US" dirty="0"/>
          </a:p>
        </p:txBody>
      </p:sp>
      <p:sp>
        <p:nvSpPr>
          <p:cNvPr id="3" name="Content Placeholder 2"/>
          <p:cNvSpPr>
            <a:spLocks noGrp="1"/>
          </p:cNvSpPr>
          <p:nvPr>
            <p:ph sz="half" idx="1"/>
          </p:nvPr>
        </p:nvSpPr>
        <p:spPr>
          <a:xfrm>
            <a:off x="456128" y="1902941"/>
            <a:ext cx="4115872" cy="2351413"/>
          </a:xfrm>
        </p:spPr>
        <p:txBody>
          <a:bodyPr/>
          <a:lstStyle>
            <a:lvl1pPr marL="339976" indent="-339976">
              <a:lnSpc>
                <a:spcPct val="90000"/>
              </a:lnSpc>
              <a:defRPr sz="2800"/>
            </a:lvl1pPr>
            <a:lvl2pPr marL="673338" indent="-325424">
              <a:lnSpc>
                <a:spcPct val="90000"/>
              </a:lnSpc>
              <a:defRPr sz="2800"/>
            </a:lvl2pPr>
            <a:lvl3pPr marL="953785" indent="-288384">
              <a:lnSpc>
                <a:spcPct val="90000"/>
              </a:lnSpc>
              <a:defRPr sz="2800"/>
            </a:lvl3pPr>
            <a:lvl4pPr marL="1227618" indent="-273833">
              <a:lnSpc>
                <a:spcPct val="90000"/>
              </a:lnSpc>
              <a:defRPr sz="2800"/>
            </a:lvl4pPr>
            <a:lvl5pPr marL="1516002" indent="-280447">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4193" y="1902941"/>
            <a:ext cx="4115872" cy="2671501"/>
          </a:xfrm>
        </p:spPr>
        <p:txBody>
          <a:bodyPr/>
          <a:lstStyle>
            <a:lvl1pPr marL="347914" indent="-347914">
              <a:lnSpc>
                <a:spcPct val="90000"/>
              </a:lnSpc>
              <a:defRPr sz="2800"/>
            </a:lvl1pPr>
            <a:lvl2pPr marL="673338" indent="-339976">
              <a:lnSpc>
                <a:spcPct val="90000"/>
              </a:lnSpc>
              <a:defRPr sz="2800"/>
            </a:lvl2pPr>
            <a:lvl3pPr marL="961722" indent="-302936">
              <a:lnSpc>
                <a:spcPct val="90000"/>
              </a:lnSpc>
              <a:defRPr sz="2800"/>
            </a:lvl3pPr>
            <a:lvl4pPr marL="1227618" indent="-265896">
              <a:lnSpc>
                <a:spcPct val="90000"/>
              </a:lnSpc>
              <a:defRPr sz="2800"/>
            </a:lvl4pPr>
            <a:lvl5pPr marL="1516002" indent="-273833">
              <a:lnSpc>
                <a:spcPct val="90000"/>
              </a:lnSpc>
              <a:defRPr sz="2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1424910241"/>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431800"/>
            <a:ext cx="8363938" cy="664797"/>
          </a:xfrm>
        </p:spPr>
        <p:txBody>
          <a:bodyPr/>
          <a:lstStyle>
            <a:lvl1pPr>
              <a:defRPr sz="4800"/>
            </a:lvl1pPr>
          </a:lstStyle>
          <a:p>
            <a:r>
              <a:rPr lang="en-US" dirty="0" smtClean="0"/>
              <a:t>Master title style</a:t>
            </a:r>
            <a:endParaRPr lang="en-US" dirty="0"/>
          </a:p>
        </p:txBody>
      </p:sp>
      <p:sp>
        <p:nvSpPr>
          <p:cNvPr id="4" name="Slide Number Placeholder 3"/>
          <p:cNvSpPr>
            <a:spLocks noGrp="1"/>
          </p:cNvSpPr>
          <p:nvPr>
            <p:ph type="sldNum" sz="quarter" idx="10"/>
          </p:nvPr>
        </p:nvSpPr>
        <p:spPr/>
        <p:txBody>
          <a:bodyPr/>
          <a:lstStyle/>
          <a:p>
            <a:fld id="{271031BA-9959-4FE2-909F-37D65262A7B4}" type="slidenum">
              <a:rPr lang="en-US" smtClean="0">
                <a:solidFill>
                  <a:srgbClr val="6BBD46"/>
                </a:solidFill>
              </a:rPr>
              <a:pPr/>
              <a:t>‹#›</a:t>
            </a:fld>
            <a:endParaRPr lang="en-US" dirty="0">
              <a:solidFill>
                <a:srgbClr val="6BBD46"/>
              </a:solidFill>
            </a:endParaRPr>
          </a:p>
        </p:txBody>
      </p:sp>
    </p:spTree>
    <p:extLst>
      <p:ext uri="{BB962C8B-B14F-4D97-AF65-F5344CB8AC3E}">
        <p14:creationId xmlns:p14="http://schemas.microsoft.com/office/powerpoint/2010/main" val="1851660216"/>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pc="-100" baseline="0">
                <a:latin typeface="Segoe" charset="0"/>
              </a:defRPr>
            </a:lvl1pPr>
          </a:lstStyle>
          <a:p>
            <a:r>
              <a:rPr lang="en-US" dirty="0" smtClean="0"/>
              <a:t>Master title style</a:t>
            </a:r>
            <a:endParaRPr lang="en-US" dirty="0"/>
          </a:p>
        </p:txBody>
      </p:sp>
      <p:sp>
        <p:nvSpPr>
          <p:cNvPr id="6" name="Text Placeholder 5"/>
          <p:cNvSpPr>
            <a:spLocks noGrp="1"/>
          </p:cNvSpPr>
          <p:nvPr>
            <p:ph type="body" sz="quarter" idx="10"/>
          </p:nvPr>
        </p:nvSpPr>
        <p:spPr>
          <a:xfrm>
            <a:off x="389437" y="1905000"/>
            <a:ext cx="8363937" cy="2108269"/>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676338974"/>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431800"/>
            <a:ext cx="8363938" cy="664797"/>
          </a:xfrm>
          <a:prstGeom prst="rect">
            <a:avLst/>
          </a:prstGeom>
        </p:spPr>
        <p:txBody>
          <a:bodyPr vert="horz" wrap="square" lIns="0" tIns="0" rIns="0" bIns="0" rtlCol="0" anchor="t">
            <a:spAutoFit/>
          </a:bodyPr>
          <a:lstStyle/>
          <a:p>
            <a:r>
              <a:rPr lang="en-US" dirty="0" smtClean="0"/>
              <a:t>Master title style</a:t>
            </a:r>
            <a:endParaRPr lang="en-US" dirty="0"/>
          </a:p>
        </p:txBody>
      </p:sp>
      <p:sp>
        <p:nvSpPr>
          <p:cNvPr id="3" name="Text Placeholder 2"/>
          <p:cNvSpPr>
            <a:spLocks noGrp="1"/>
          </p:cNvSpPr>
          <p:nvPr>
            <p:ph type="body" idx="1"/>
          </p:nvPr>
        </p:nvSpPr>
        <p:spPr>
          <a:xfrm>
            <a:off x="381000" y="1447800"/>
            <a:ext cx="8363937" cy="2068259"/>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4"/>
          </p:nvPr>
        </p:nvSpPr>
        <p:spPr>
          <a:xfrm>
            <a:off x="-1" y="6420022"/>
            <a:ext cx="550863" cy="228600"/>
          </a:xfrm>
          <a:prstGeom prst="rect">
            <a:avLst/>
          </a:prstGeom>
        </p:spPr>
        <p:txBody>
          <a:bodyPr vert="horz" lIns="0" tIns="0" rIns="0" bIns="0" rtlCol="0" anchor="ctr"/>
          <a:lstStyle>
            <a:lvl1pPr algn="r">
              <a:defRPr sz="900">
                <a:solidFill>
                  <a:schemeClr val="tx2"/>
                </a:solidFill>
              </a:defRPr>
            </a:lvl1pPr>
          </a:lstStyle>
          <a:p>
            <a:fld id="{271031BA-9959-4FE2-909F-37D65262A7B4}" type="slidenum">
              <a:rPr lang="en-US" smtClean="0"/>
              <a:pPr/>
              <a:t>‹#›</a:t>
            </a:fld>
            <a:endParaRPr lang="en-US" dirty="0"/>
          </a:p>
        </p:txBody>
      </p:sp>
      <p:sp>
        <p:nvSpPr>
          <p:cNvPr id="5" name="TextBox 4"/>
          <p:cNvSpPr txBox="1"/>
          <p:nvPr/>
        </p:nvSpPr>
        <p:spPr>
          <a:xfrm>
            <a:off x="5788049" y="6420022"/>
            <a:ext cx="3049347" cy="230832"/>
          </a:xfrm>
          <a:prstGeom prst="rect">
            <a:avLst/>
          </a:prstGeom>
          <a:noFill/>
        </p:spPr>
        <p:txBody>
          <a:bodyPr wrap="square" rtlCol="0">
            <a:spAutoFit/>
          </a:bodyPr>
          <a:lstStyle/>
          <a:p>
            <a:pPr algn="r"/>
            <a:r>
              <a:rPr lang="en-US" sz="900" dirty="0" smtClean="0">
                <a:gradFill>
                  <a:gsLst>
                    <a:gs pos="0">
                      <a:schemeClr val="tx2"/>
                    </a:gs>
                    <a:gs pos="100000">
                      <a:schemeClr val="tx2"/>
                    </a:gs>
                  </a:gsLst>
                  <a:lin ang="5400000" scaled="0"/>
                </a:gradFill>
                <a:latin typeface="Segoe"/>
                <a:cs typeface="Segoe"/>
              </a:rPr>
              <a:t>Windows Phone</a:t>
            </a:r>
            <a:endParaRPr lang="en-US" sz="900" dirty="0">
              <a:gradFill>
                <a:gsLst>
                  <a:gs pos="0">
                    <a:schemeClr val="tx1"/>
                  </a:gs>
                  <a:gs pos="100000">
                    <a:schemeClr val="tx1"/>
                  </a:gs>
                </a:gsLst>
                <a:lin ang="5400000" scaled="0"/>
              </a:gradFill>
              <a:latin typeface="Segoe"/>
              <a:cs typeface="Segoe"/>
            </a:endParaRPr>
          </a:p>
        </p:txBody>
      </p:sp>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Lst>
  <p:transition>
    <p:fade/>
  </p:transition>
  <p:timing>
    <p:tnLst>
      <p:par>
        <p:cTn id="1" dur="indefinite" restart="never" nodeType="tmRoot"/>
      </p:par>
    </p:tnLst>
  </p:timing>
  <p:hf hdr="0" dt="0"/>
  <p:txStyles>
    <p:titleStyle>
      <a:lvl1pPr algn="l" defTabSz="914363" rtl="0" eaLnBrk="1" latinLnBrk="0" hangingPunct="1">
        <a:lnSpc>
          <a:spcPct val="90000"/>
        </a:lnSpc>
        <a:spcBef>
          <a:spcPct val="0"/>
        </a:spcBef>
        <a:buNone/>
        <a:defRPr lang="en-US" sz="4800" b="0" kern="1200" cap="none" spc="-150" baseline="0" dirty="0" smtClean="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p:titleStyle>
    <p:bodyStyle>
      <a:lvl1pPr marL="347663" indent="-347663" algn="l" defTabSz="914363" rtl="0" eaLnBrk="1" latinLnBrk="0" hangingPunct="1">
        <a:lnSpc>
          <a:spcPct val="90000"/>
        </a:lnSpc>
        <a:spcBef>
          <a:spcPct val="20000"/>
        </a:spcBef>
        <a:buClr>
          <a:schemeClr val="accent1"/>
        </a:buClr>
        <a:buSzPct val="100000"/>
        <a:buFont typeface="Wingdings" pitchFamily="2" charset="2"/>
        <a:buChar char="§"/>
        <a:defRPr sz="3200" kern="1200" spc="-150">
          <a:gradFill>
            <a:gsLst>
              <a:gs pos="0">
                <a:srgbClr val="737373"/>
              </a:gs>
              <a:gs pos="86000">
                <a:srgbClr val="737373"/>
              </a:gs>
            </a:gsLst>
            <a:lin ang="5400000" scaled="0"/>
          </a:gradFill>
          <a:latin typeface="Segoe Light" pitchFamily="34" charset="0"/>
          <a:ea typeface="+mn-ea"/>
          <a:cs typeface="+mn-cs"/>
        </a:defRPr>
      </a:lvl1pPr>
      <a:lvl2pPr marL="744538" indent="-284163" algn="l" defTabSz="914363" rtl="0" eaLnBrk="1" latinLnBrk="0" hangingPunct="1">
        <a:lnSpc>
          <a:spcPct val="90000"/>
        </a:lnSpc>
        <a:spcBef>
          <a:spcPct val="20000"/>
        </a:spcBef>
        <a:buClr>
          <a:schemeClr val="tx2"/>
        </a:buClr>
        <a:buSzPct val="100000"/>
        <a:buFont typeface="Wingdings" pitchFamily="2" charset="2"/>
        <a:buChar char="§"/>
        <a:defRPr sz="2800" kern="1200" spc="-150">
          <a:gradFill>
            <a:gsLst>
              <a:gs pos="0">
                <a:srgbClr val="737373"/>
              </a:gs>
              <a:gs pos="86000">
                <a:srgbClr val="737373"/>
              </a:gs>
            </a:gsLst>
            <a:lin ang="5400000" scaled="0"/>
          </a:gradFill>
          <a:latin typeface="Segoe Light" pitchFamily="34" charset="0"/>
          <a:ea typeface="+mn-ea"/>
          <a:cs typeface="+mn-cs"/>
        </a:defRPr>
      </a:lvl2pPr>
      <a:lvl3pPr marL="1143000" indent="-287338" algn="l" defTabSz="914363" rtl="0" eaLnBrk="1" latinLnBrk="0" hangingPunct="1">
        <a:lnSpc>
          <a:spcPct val="90000"/>
        </a:lnSpc>
        <a:spcBef>
          <a:spcPct val="20000"/>
        </a:spcBef>
        <a:buClr>
          <a:schemeClr val="tx2"/>
        </a:buClr>
        <a:buSzPct val="100000"/>
        <a:buFont typeface="Wingdings" pitchFamily="2" charset="2"/>
        <a:buChar char="§"/>
        <a:defRPr sz="2400" kern="1200" spc="-150">
          <a:gradFill>
            <a:gsLst>
              <a:gs pos="0">
                <a:srgbClr val="737373"/>
              </a:gs>
              <a:gs pos="86000">
                <a:srgbClr val="737373"/>
              </a:gs>
            </a:gsLst>
            <a:lin ang="5400000" scaled="0"/>
          </a:gradFill>
          <a:latin typeface="Segoe Light" pitchFamily="34" charset="0"/>
          <a:ea typeface="+mn-ea"/>
          <a:cs typeface="+mn-cs"/>
        </a:defRPr>
      </a:lvl3pPr>
      <a:lvl4pPr marL="1490663" indent="-231775"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4pPr>
      <a:lvl5pPr marL="1828800" indent="-223838"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3" cstate="email">
            <a:extLst>
              <a:ext uri="{28A0092B-C50C-407E-A947-70E740481C1C}">
                <a14:useLocalDpi xmlns:a14="http://schemas.microsoft.com/office/drawing/2010/main"/>
              </a:ext>
            </a:extLst>
          </a:blip>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9436" y="228601"/>
            <a:ext cx="8363938" cy="830997"/>
          </a:xfrm>
          <a:prstGeom prst="rect">
            <a:avLst/>
          </a:prstGeom>
        </p:spPr>
        <p:txBody>
          <a:bodyPr vert="horz" wrap="square" lIns="0" tIns="0" rIns="0" bIns="0" rtlCol="0" anchor="t">
            <a:spAutoFit/>
          </a:bodyPr>
          <a:lstStyle/>
          <a:p>
            <a:r>
              <a:rPr lang="en-US" dirty="0" smtClean="0"/>
              <a:t>Master title style</a:t>
            </a:r>
            <a:endParaRPr lang="en-US" dirty="0"/>
          </a:p>
        </p:txBody>
      </p:sp>
      <p:sp>
        <p:nvSpPr>
          <p:cNvPr id="3" name="Text Placeholder 2"/>
          <p:cNvSpPr>
            <a:spLocks noGrp="1"/>
          </p:cNvSpPr>
          <p:nvPr>
            <p:ph type="body" idx="1"/>
          </p:nvPr>
        </p:nvSpPr>
        <p:spPr>
          <a:xfrm>
            <a:off x="389437" y="1905000"/>
            <a:ext cx="8363936" cy="2108269"/>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93" r:id="rId1"/>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6000" b="0" kern="1200" cap="none" spc="-150" dirty="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0" kern="1200">
          <a:gradFill>
            <a:gsLst>
              <a:gs pos="0">
                <a:srgbClr val="000000"/>
              </a:gs>
              <a:gs pos="86000">
                <a:srgbClr val="000000"/>
              </a:gs>
            </a:gsLst>
            <a:lin ang="5400000" scaled="0"/>
          </a:gradFill>
          <a:latin typeface="Consolas"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0" kern="1200">
          <a:gradFill>
            <a:gsLst>
              <a:gs pos="0">
                <a:srgbClr val="000000"/>
              </a:gs>
              <a:gs pos="86000">
                <a:srgbClr val="000000"/>
              </a:gs>
            </a:gsLst>
            <a:lin ang="5400000" scaled="0"/>
          </a:gradFill>
          <a:latin typeface="Consolas"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0" kern="1200">
          <a:gradFill>
            <a:gsLst>
              <a:gs pos="0">
                <a:srgbClr val="000000"/>
              </a:gs>
              <a:gs pos="86000">
                <a:srgbClr val="000000"/>
              </a:gs>
            </a:gsLst>
            <a:lin ang="5400000" scaled="0"/>
          </a:gradFill>
          <a:latin typeface="Consolas"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431800"/>
            <a:ext cx="8363938" cy="664797"/>
          </a:xfrm>
          <a:prstGeom prst="rect">
            <a:avLst/>
          </a:prstGeom>
        </p:spPr>
        <p:txBody>
          <a:bodyPr vert="horz" wrap="square" lIns="0" tIns="0" rIns="0" bIns="0" rtlCol="0" anchor="t">
            <a:spAutoFit/>
          </a:bodyPr>
          <a:lstStyle/>
          <a:p>
            <a:r>
              <a:rPr lang="en-US" dirty="0" smtClean="0"/>
              <a:t>Master title style</a:t>
            </a:r>
            <a:endParaRPr lang="en-US" dirty="0"/>
          </a:p>
        </p:txBody>
      </p:sp>
      <p:sp>
        <p:nvSpPr>
          <p:cNvPr id="3" name="Text Placeholder 2"/>
          <p:cNvSpPr>
            <a:spLocks noGrp="1"/>
          </p:cNvSpPr>
          <p:nvPr>
            <p:ph type="body" idx="1"/>
          </p:nvPr>
        </p:nvSpPr>
        <p:spPr>
          <a:xfrm>
            <a:off x="381000" y="1447800"/>
            <a:ext cx="8363937" cy="2068259"/>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4"/>
          </p:nvPr>
        </p:nvSpPr>
        <p:spPr>
          <a:xfrm>
            <a:off x="-1" y="6420022"/>
            <a:ext cx="550863" cy="228600"/>
          </a:xfrm>
          <a:prstGeom prst="rect">
            <a:avLst/>
          </a:prstGeom>
        </p:spPr>
        <p:txBody>
          <a:bodyPr vert="horz" lIns="0" tIns="0" rIns="0" bIns="0" rtlCol="0" anchor="ctr"/>
          <a:lstStyle>
            <a:lvl1pPr algn="r">
              <a:defRPr sz="900">
                <a:solidFill>
                  <a:schemeClr val="tx2"/>
                </a:solidFill>
              </a:defRPr>
            </a:lvl1pPr>
          </a:lstStyle>
          <a:p>
            <a:fld id="{271031BA-9959-4FE2-909F-37D65262A7B4}" type="slidenum">
              <a:rPr lang="en-US" smtClean="0">
                <a:solidFill>
                  <a:srgbClr val="6BBD46"/>
                </a:solidFill>
              </a:rPr>
              <a:pPr/>
              <a:t>‹#›</a:t>
            </a:fld>
            <a:endParaRPr lang="en-US" dirty="0">
              <a:solidFill>
                <a:srgbClr val="6BBD46"/>
              </a:solidFill>
            </a:endParaRPr>
          </a:p>
        </p:txBody>
      </p:sp>
      <p:sp>
        <p:nvSpPr>
          <p:cNvPr id="5" name="TextBox 4"/>
          <p:cNvSpPr txBox="1"/>
          <p:nvPr/>
        </p:nvSpPr>
        <p:spPr>
          <a:xfrm>
            <a:off x="5788049" y="6420022"/>
            <a:ext cx="3049347" cy="230832"/>
          </a:xfrm>
          <a:prstGeom prst="rect">
            <a:avLst/>
          </a:prstGeom>
          <a:noFill/>
        </p:spPr>
        <p:txBody>
          <a:bodyPr wrap="square" rtlCol="0">
            <a:spAutoFit/>
          </a:bodyPr>
          <a:lstStyle/>
          <a:p>
            <a:pPr algn="r"/>
            <a:r>
              <a:rPr lang="en-US" sz="900" dirty="0" smtClean="0">
                <a:gradFill>
                  <a:gsLst>
                    <a:gs pos="0">
                      <a:srgbClr val="6BBD46"/>
                    </a:gs>
                    <a:gs pos="100000">
                      <a:srgbClr val="6BBD46"/>
                    </a:gs>
                  </a:gsLst>
                  <a:lin ang="5400000" scaled="0"/>
                </a:gradFill>
                <a:cs typeface="Segoe"/>
              </a:rPr>
              <a:t>Windows Phone</a:t>
            </a:r>
            <a:endParaRPr lang="en-US" sz="900" dirty="0">
              <a:gradFill>
                <a:gsLst>
                  <a:gs pos="0">
                    <a:srgbClr val="737373"/>
                  </a:gs>
                  <a:gs pos="100000">
                    <a:srgbClr val="737373"/>
                  </a:gs>
                </a:gsLst>
                <a:lin ang="5400000" scaled="0"/>
              </a:gradFill>
              <a:cs typeface="Segoe"/>
            </a:endParaRPr>
          </a:p>
        </p:txBody>
      </p:sp>
    </p:spTree>
    <p:extLst>
      <p:ext uri="{BB962C8B-B14F-4D97-AF65-F5344CB8AC3E}">
        <p14:creationId xmlns:p14="http://schemas.microsoft.com/office/powerpoint/2010/main" val="1946894638"/>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4800" b="0" kern="1200" cap="none" spc="-150" baseline="0" dirty="0" smtClean="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p:titleStyle>
    <p:bodyStyle>
      <a:lvl1pPr marL="347663" indent="-347663" algn="l" defTabSz="914363" rtl="0" eaLnBrk="1" latinLnBrk="0" hangingPunct="1">
        <a:lnSpc>
          <a:spcPct val="90000"/>
        </a:lnSpc>
        <a:spcBef>
          <a:spcPct val="20000"/>
        </a:spcBef>
        <a:buClr>
          <a:schemeClr val="accent1"/>
        </a:buClr>
        <a:buSzPct val="100000"/>
        <a:buFont typeface="Wingdings" pitchFamily="2" charset="2"/>
        <a:buChar char="§"/>
        <a:defRPr sz="3200" kern="1200" spc="-150">
          <a:gradFill>
            <a:gsLst>
              <a:gs pos="0">
                <a:srgbClr val="737373"/>
              </a:gs>
              <a:gs pos="86000">
                <a:srgbClr val="737373"/>
              </a:gs>
            </a:gsLst>
            <a:lin ang="5400000" scaled="0"/>
          </a:gradFill>
          <a:latin typeface="Segoe Light" pitchFamily="34" charset="0"/>
          <a:ea typeface="+mn-ea"/>
          <a:cs typeface="+mn-cs"/>
        </a:defRPr>
      </a:lvl1pPr>
      <a:lvl2pPr marL="744538" indent="-284163" algn="l" defTabSz="914363" rtl="0" eaLnBrk="1" latinLnBrk="0" hangingPunct="1">
        <a:lnSpc>
          <a:spcPct val="90000"/>
        </a:lnSpc>
        <a:spcBef>
          <a:spcPct val="20000"/>
        </a:spcBef>
        <a:buClr>
          <a:schemeClr val="tx2"/>
        </a:buClr>
        <a:buSzPct val="100000"/>
        <a:buFont typeface="Wingdings" pitchFamily="2" charset="2"/>
        <a:buChar char="§"/>
        <a:defRPr sz="2800" kern="1200" spc="-150">
          <a:gradFill>
            <a:gsLst>
              <a:gs pos="0">
                <a:srgbClr val="737373"/>
              </a:gs>
              <a:gs pos="86000">
                <a:srgbClr val="737373"/>
              </a:gs>
            </a:gsLst>
            <a:lin ang="5400000" scaled="0"/>
          </a:gradFill>
          <a:latin typeface="Segoe Light" pitchFamily="34" charset="0"/>
          <a:ea typeface="+mn-ea"/>
          <a:cs typeface="+mn-cs"/>
        </a:defRPr>
      </a:lvl2pPr>
      <a:lvl3pPr marL="1143000" indent="-287338" algn="l" defTabSz="914363" rtl="0" eaLnBrk="1" latinLnBrk="0" hangingPunct="1">
        <a:lnSpc>
          <a:spcPct val="90000"/>
        </a:lnSpc>
        <a:spcBef>
          <a:spcPct val="20000"/>
        </a:spcBef>
        <a:buClr>
          <a:schemeClr val="tx2"/>
        </a:buClr>
        <a:buSzPct val="100000"/>
        <a:buFont typeface="Wingdings" pitchFamily="2" charset="2"/>
        <a:buChar char="§"/>
        <a:defRPr sz="2400" kern="1200" spc="-150">
          <a:gradFill>
            <a:gsLst>
              <a:gs pos="0">
                <a:srgbClr val="737373"/>
              </a:gs>
              <a:gs pos="86000">
                <a:srgbClr val="737373"/>
              </a:gs>
            </a:gsLst>
            <a:lin ang="5400000" scaled="0"/>
          </a:gradFill>
          <a:latin typeface="Segoe Light" pitchFamily="34" charset="0"/>
          <a:ea typeface="+mn-ea"/>
          <a:cs typeface="+mn-cs"/>
        </a:defRPr>
      </a:lvl3pPr>
      <a:lvl4pPr marL="1490663" indent="-231775"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4pPr>
      <a:lvl5pPr marL="1828800" indent="-223838"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hyperlink" Target="http://www.jeff.wilcox.name/2010/04/propertychangedbase-crossthread/"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hyperlink" Target="http://shawnoster.com/blog/post/Improving-ListBox-Performance-in-Silverlight-for-Windows-Phone-7-Data-Virtualization.aspx" TargetMode="Externa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hyperlink" Target="http://blogs.msdn.com/b/delay/archive/2010/09/28/this-one-s-for-you-gregor-mendel-code-to-animate-and-fade-windows-phone-orientation-changes-now-supports-a-new-mode-hybrid.aspx" TargetMode="Externa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file:///C:\Users\msmuga\Desktop\UI_MIX\Email_menu_vr1.wmv" TargetMode="External"/><Relationship Id="rId1" Type="http://schemas.microsoft.com/office/2007/relationships/media" Target="file:///C:\Users\msmuga\Desktop\UI_MIX\Email_menu_vr1.wmv" TargetMode="External"/><Relationship Id="rId5" Type="http://schemas.openxmlformats.org/officeDocument/2006/relationships/image" Target="../media/image15.png"/><Relationship Id="rId4" Type="http://schemas.openxmlformats.org/officeDocument/2006/relationships/notesSlide" Target="../notesSlides/notesSlide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hyperlink" Target="http://www.jeff.wilcox.name/2010/08/progressbarperftips2/" TargetMode="Externa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hyperlink" Target="http://www.jeff.wilcox.name/2010/07/counters/" TargetMode="Externa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3.png"/><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hyperlink" Target="http://msdn.microsoft.com/en-us/library/microsoft.phone.controls.phoneapplicationpage.state(v=VS.92).aspx"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hyperlink" Target="http://msdn.microsoft.com/en-us/library/microsoft.phone.controls.phoneapplicationpage(v=VS.92).aspx" TargetMode="External"/></Relationships>
</file>

<file path=ppt/slides/_rels/slide9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3" Type="http://schemas.openxmlformats.org/officeDocument/2006/relationships/hyperlink" Target="http://msdn.microsoft.com/en-us/library/ff707989(v=VS.92).aspx" TargetMode="External"/><Relationship Id="rId2" Type="http://schemas.openxmlformats.org/officeDocument/2006/relationships/hyperlink" Target="http://msdn.microsoft.com/en-us/library/microsoft.phone.controls.phoneapplicationpage(v=VS.92).aspx" TargetMode="Externa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hyperlink" Target="http://silverlight.codeplex.com/" TargetMode="External"/><Relationship Id="rId2" Type="http://schemas.openxmlformats.org/officeDocument/2006/relationships/hyperlink" Target="http://developer.windowsphone.com/" TargetMode="External"/><Relationship Id="rId1" Type="http://schemas.openxmlformats.org/officeDocument/2006/relationships/slideLayout" Target="../slideLayouts/slideLayout4.xml"/><Relationship Id="rId5" Type="http://schemas.openxmlformats.org/officeDocument/2006/relationships/hyperlink" Target="mailto:jwilcox@microsoft.com" TargetMode="External"/><Relationship Id="rId4" Type="http://schemas.openxmlformats.org/officeDocument/2006/relationships/hyperlink" Target="http://www.jeff.wilcox.name/" TargetMode="Externa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550840" y="5058326"/>
            <a:ext cx="5598586" cy="374295"/>
          </a:xfrm>
        </p:spPr>
        <p:txBody>
          <a:bodyPr/>
          <a:lstStyle/>
          <a:p>
            <a:r>
              <a:rPr lang="en-GB" spc="0" dirty="0" smtClean="0"/>
              <a:t>Jeff Wilcox</a:t>
            </a:r>
            <a:endParaRPr lang="en-GB" spc="0" dirty="0"/>
          </a:p>
        </p:txBody>
      </p:sp>
      <p:sp>
        <p:nvSpPr>
          <p:cNvPr id="3" name="Text Placeholder 2"/>
          <p:cNvSpPr>
            <a:spLocks noGrp="1"/>
          </p:cNvSpPr>
          <p:nvPr>
            <p:ph type="body" sz="quarter" idx="10"/>
          </p:nvPr>
        </p:nvSpPr>
        <p:spPr>
          <a:xfrm>
            <a:off x="550863" y="5455171"/>
            <a:ext cx="5679569" cy="291118"/>
          </a:xfrm>
        </p:spPr>
        <p:txBody>
          <a:bodyPr/>
          <a:lstStyle/>
          <a:p>
            <a:r>
              <a:rPr lang="en-GB" spc="0" dirty="0" smtClean="0"/>
              <a:t>Senior Software Development Engineer</a:t>
            </a:r>
            <a:endParaRPr lang="en-GB" spc="0" dirty="0"/>
          </a:p>
        </p:txBody>
      </p:sp>
      <p:sp>
        <p:nvSpPr>
          <p:cNvPr id="4" name="Text Placeholder 3"/>
          <p:cNvSpPr>
            <a:spLocks noGrp="1"/>
          </p:cNvSpPr>
          <p:nvPr>
            <p:ph type="body" sz="quarter" idx="11"/>
          </p:nvPr>
        </p:nvSpPr>
        <p:spPr>
          <a:xfrm>
            <a:off x="550864" y="5766586"/>
            <a:ext cx="5667056" cy="291118"/>
          </a:xfrm>
        </p:spPr>
        <p:txBody>
          <a:bodyPr/>
          <a:lstStyle/>
          <a:p>
            <a:r>
              <a:rPr lang="en-GB" spc="0" dirty="0" smtClean="0"/>
              <a:t>Microsoft Corporation</a:t>
            </a:r>
            <a:endParaRPr lang="en-GB" spc="0" dirty="0"/>
          </a:p>
        </p:txBody>
      </p:sp>
      <p:sp>
        <p:nvSpPr>
          <p:cNvPr id="6" name="Title 5"/>
          <p:cNvSpPr>
            <a:spLocks noGrp="1"/>
          </p:cNvSpPr>
          <p:nvPr>
            <p:ph type="ctrTitle"/>
          </p:nvPr>
        </p:nvSpPr>
        <p:spPr/>
        <p:txBody>
          <a:bodyPr/>
          <a:lstStyle/>
          <a:p>
            <a:r>
              <a:rPr lang="en-US" sz="4000" b="1" dirty="0" smtClean="0"/>
              <a:t>Exploring Windows Phone 7 Application Development</a:t>
            </a:r>
            <a:endParaRPr lang="en-US" sz="4000" b="1" dirty="0"/>
          </a:p>
        </p:txBody>
      </p:sp>
      <p:sp>
        <p:nvSpPr>
          <p:cNvPr id="7" name="Text Placeholder 3"/>
          <p:cNvSpPr txBox="1">
            <a:spLocks/>
          </p:cNvSpPr>
          <p:nvPr/>
        </p:nvSpPr>
        <p:spPr>
          <a:xfrm>
            <a:off x="550559" y="6082762"/>
            <a:ext cx="3870675" cy="291118"/>
          </a:xfrm>
          <a:prstGeom prst="rect">
            <a:avLst/>
          </a:prstGeom>
        </p:spPr>
        <p:txBody>
          <a:bodyPr vert="horz" wrap="square" lIns="0" tIns="0" rIns="0" bIns="0" rtlCol="0">
            <a:spAutoFit/>
          </a:bodyPr>
          <a:lstStyle>
            <a:lvl1pPr marL="0" indent="0" algn="l" defTabSz="914363" rtl="0" eaLnBrk="1" latinLnBrk="0" hangingPunct="1">
              <a:lnSpc>
                <a:spcPct val="90000"/>
              </a:lnSpc>
              <a:spcBef>
                <a:spcPts val="0"/>
              </a:spcBef>
              <a:buClr>
                <a:schemeClr val="accent1"/>
              </a:buClr>
              <a:buSzPct val="100000"/>
              <a:buFontTx/>
              <a:buNone/>
              <a:defRPr sz="2100" kern="1200" spc="-150">
                <a:solidFill>
                  <a:schemeClr val="tx1"/>
                </a:solidFill>
                <a:latin typeface="Segoe Light" pitchFamily="34" charset="0"/>
                <a:ea typeface="+mn-ea"/>
                <a:cs typeface="+mn-cs"/>
              </a:defRPr>
            </a:lvl1pPr>
            <a:lvl2pPr marL="744538" indent="-284163" algn="l" defTabSz="914363" rtl="0" eaLnBrk="1" latinLnBrk="0" hangingPunct="1">
              <a:lnSpc>
                <a:spcPct val="90000"/>
              </a:lnSpc>
              <a:spcBef>
                <a:spcPct val="20000"/>
              </a:spcBef>
              <a:buClr>
                <a:schemeClr val="tx2"/>
              </a:buClr>
              <a:buSzPct val="100000"/>
              <a:buFont typeface="Wingdings" pitchFamily="2" charset="2"/>
              <a:buChar char="§"/>
              <a:defRPr sz="2800" kern="1200" spc="-150">
                <a:gradFill>
                  <a:gsLst>
                    <a:gs pos="0">
                      <a:srgbClr val="737373"/>
                    </a:gs>
                    <a:gs pos="86000">
                      <a:srgbClr val="737373"/>
                    </a:gs>
                  </a:gsLst>
                  <a:lin ang="5400000" scaled="0"/>
                </a:gradFill>
                <a:latin typeface="Segoe Light" pitchFamily="34" charset="0"/>
                <a:ea typeface="+mn-ea"/>
                <a:cs typeface="+mn-cs"/>
              </a:defRPr>
            </a:lvl2pPr>
            <a:lvl3pPr marL="1143000" indent="-287338" algn="l" defTabSz="914363" rtl="0" eaLnBrk="1" latinLnBrk="0" hangingPunct="1">
              <a:lnSpc>
                <a:spcPct val="90000"/>
              </a:lnSpc>
              <a:spcBef>
                <a:spcPct val="20000"/>
              </a:spcBef>
              <a:buClr>
                <a:schemeClr val="tx2"/>
              </a:buClr>
              <a:buSzPct val="100000"/>
              <a:buFont typeface="Wingdings" pitchFamily="2" charset="2"/>
              <a:buChar char="§"/>
              <a:defRPr sz="2400" kern="1200" spc="-150">
                <a:gradFill>
                  <a:gsLst>
                    <a:gs pos="0">
                      <a:srgbClr val="737373"/>
                    </a:gs>
                    <a:gs pos="86000">
                      <a:srgbClr val="737373"/>
                    </a:gs>
                  </a:gsLst>
                  <a:lin ang="5400000" scaled="0"/>
                </a:gradFill>
                <a:latin typeface="Segoe Light" pitchFamily="34" charset="0"/>
                <a:ea typeface="+mn-ea"/>
                <a:cs typeface="+mn-cs"/>
              </a:defRPr>
            </a:lvl3pPr>
            <a:lvl4pPr marL="1490663" indent="-231775"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4pPr>
            <a:lvl5pPr marL="1828800" indent="-223838"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pc="0" dirty="0" smtClean="0"/>
              <a:t>http://www.jeff.wilcox.name/</a:t>
            </a:r>
            <a:endParaRPr lang="en-GB" spc="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6380" y="654884"/>
            <a:ext cx="2336508" cy="1180952"/>
          </a:xfrm>
          <a:prstGeom prst="rect">
            <a:avLst/>
          </a:prstGeom>
        </p:spPr>
      </p:pic>
    </p:spTree>
    <p:extLst>
      <p:ext uri="{BB962C8B-B14F-4D97-AF65-F5344CB8AC3E}">
        <p14:creationId xmlns:p14="http://schemas.microsoft.com/office/powerpoint/2010/main" val="215904418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Text Placeholder 2"/>
          <p:cNvSpPr>
            <a:spLocks noGrp="1"/>
          </p:cNvSpPr>
          <p:nvPr>
            <p:ph type="body" sz="quarter" idx="10"/>
          </p:nvPr>
        </p:nvSpPr>
        <p:spPr>
          <a:xfrm>
            <a:off x="381000" y="1447800"/>
            <a:ext cx="8363938" cy="4179606"/>
          </a:xfrm>
        </p:spPr>
        <p:txBody>
          <a:bodyPr/>
          <a:lstStyle/>
          <a:p>
            <a:r>
              <a:rPr lang="en-US" sz="2800" dirty="0" smtClean="0"/>
              <a:t>Introduction to Windows Phone 7 &amp; Silverlight</a:t>
            </a:r>
          </a:p>
          <a:p>
            <a:r>
              <a:rPr lang="en-US" sz="2800" dirty="0" smtClean="0"/>
              <a:t>Controls</a:t>
            </a:r>
          </a:p>
          <a:p>
            <a:r>
              <a:rPr lang="en-US" sz="2800" dirty="0" smtClean="0"/>
              <a:t>Threading</a:t>
            </a:r>
          </a:p>
          <a:p>
            <a:r>
              <a:rPr lang="en-US" sz="2800" dirty="0" smtClean="0"/>
              <a:t>Navigation &amp; Pages</a:t>
            </a:r>
          </a:p>
          <a:p>
            <a:r>
              <a:rPr lang="en-US" sz="2800" dirty="0" smtClean="0"/>
              <a:t>Phone controls</a:t>
            </a:r>
          </a:p>
          <a:p>
            <a:r>
              <a:rPr lang="en-US" sz="2800" dirty="0" smtClean="0"/>
              <a:t>Performance</a:t>
            </a:r>
          </a:p>
          <a:p>
            <a:r>
              <a:rPr lang="en-US" sz="2800" dirty="0" smtClean="0"/>
              <a:t>Limitations</a:t>
            </a:r>
          </a:p>
          <a:p>
            <a:r>
              <a:rPr lang="en-US" sz="2800" dirty="0"/>
              <a:t>Application Lifetime, Launchers &amp; Choosers, etc.</a:t>
            </a:r>
            <a:endParaRPr lang="en-US" sz="2800" dirty="0" smtClean="0"/>
          </a:p>
          <a:p>
            <a:r>
              <a:rPr lang="en-US" sz="2800" dirty="0" smtClean="0"/>
              <a:t>Questions</a:t>
            </a:r>
            <a:endParaRPr lang="en-US" sz="2800"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2</a:t>
            </a:fld>
            <a:endParaRPr lang="en-US" dirty="0"/>
          </a:p>
        </p:txBody>
      </p:sp>
    </p:spTree>
    <p:extLst>
      <p:ext uri="{BB962C8B-B14F-4D97-AF65-F5344CB8AC3E}">
        <p14:creationId xmlns:p14="http://schemas.microsoft.com/office/powerpoint/2010/main" val="351001129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IT’S A NEW PLATFORM!</a:t>
            </a:r>
            <a:endParaRPr lang="en-US" dirty="0"/>
          </a:p>
        </p:txBody>
      </p:sp>
      <p:sp>
        <p:nvSpPr>
          <p:cNvPr id="3" name="Text Placeholder 2"/>
          <p:cNvSpPr>
            <a:spLocks noGrp="1"/>
          </p:cNvSpPr>
          <p:nvPr>
            <p:ph type="body" sz="quarter" idx="10"/>
          </p:nvPr>
        </p:nvSpPr>
        <p:spPr>
          <a:xfrm>
            <a:off x="381000" y="1447800"/>
            <a:ext cx="8363938" cy="4235006"/>
          </a:xfrm>
        </p:spPr>
        <p:txBody>
          <a:bodyPr/>
          <a:lstStyle/>
          <a:p>
            <a:r>
              <a:rPr lang="en-US" dirty="0" smtClean="0"/>
              <a:t>New OS</a:t>
            </a:r>
          </a:p>
          <a:p>
            <a:r>
              <a:rPr lang="en-US" dirty="0" smtClean="0"/>
              <a:t>Modern  UX &amp; modern UI framework</a:t>
            </a:r>
          </a:p>
          <a:p>
            <a:pPr lvl="1"/>
            <a:r>
              <a:rPr lang="en-US" dirty="0" smtClean="0"/>
              <a:t>Multi-touch devices</a:t>
            </a:r>
          </a:p>
          <a:p>
            <a:pPr lvl="1"/>
            <a:r>
              <a:rPr lang="en-US" dirty="0" smtClean="0"/>
              <a:t>Emphasis on design</a:t>
            </a:r>
          </a:p>
          <a:p>
            <a:r>
              <a:rPr lang="en-US" dirty="0" smtClean="0"/>
              <a:t>Excellent for developers</a:t>
            </a:r>
          </a:p>
          <a:p>
            <a:pPr lvl="1"/>
            <a:r>
              <a:rPr lang="en-US" dirty="0" smtClean="0"/>
              <a:t>Integrated free toolset</a:t>
            </a:r>
          </a:p>
          <a:p>
            <a:pPr lvl="2"/>
            <a:r>
              <a:rPr lang="en-US" dirty="0" smtClean="0"/>
              <a:t>One download… Visual Studio, Blend, Emulator, Controls</a:t>
            </a:r>
          </a:p>
          <a:p>
            <a:pPr lvl="1"/>
            <a:r>
              <a:rPr lang="en-US" dirty="0" smtClean="0"/>
              <a:t>Quickly build professional apps</a:t>
            </a:r>
          </a:p>
          <a:p>
            <a:pPr lvl="2"/>
            <a:r>
              <a:rPr lang="en-US" dirty="0" smtClean="0"/>
              <a:t>… and stop worrying about pointers and raw OS messaging</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a:t>
            </a:fld>
            <a:endParaRPr lang="en-US" dirty="0">
              <a:solidFill>
                <a:srgbClr val="6BBD46"/>
              </a:solidFill>
            </a:endParaRPr>
          </a:p>
        </p:txBody>
      </p:sp>
    </p:spTree>
    <p:extLst>
      <p:ext uri="{BB962C8B-B14F-4D97-AF65-F5344CB8AC3E}">
        <p14:creationId xmlns:p14="http://schemas.microsoft.com/office/powerpoint/2010/main" val="6729737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4</a:t>
            </a:fld>
            <a:endParaRPr lang="en-US" dirty="0">
              <a:solidFill>
                <a:srgbClr val="6BBD46"/>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3260582" y="1752600"/>
            <a:ext cx="2454418" cy="4343399"/>
          </a:xfrm>
          <a:prstGeom prst="rect">
            <a:avLst/>
          </a:prstGeom>
          <a:noFill/>
          <a:ln w="9525">
            <a:noFill/>
            <a:miter lim="800000"/>
            <a:headEnd/>
            <a:tailEnd/>
          </a:ln>
        </p:spPr>
      </p:pic>
      <p:sp>
        <p:nvSpPr>
          <p:cNvPr id="6" name="Rectangle 5"/>
          <p:cNvSpPr/>
          <p:nvPr/>
        </p:nvSpPr>
        <p:spPr>
          <a:xfrm>
            <a:off x="533400" y="1828800"/>
            <a:ext cx="2247900" cy="781752"/>
          </a:xfrm>
          <a:prstGeom prst="rect">
            <a:avLst/>
          </a:prstGeom>
        </p:spPr>
        <p:txBody>
          <a:bodyPr wrap="square">
            <a:spAutoFit/>
          </a:bodyPr>
          <a:lstStyle/>
          <a:p>
            <a:pPr>
              <a:lnSpc>
                <a:spcPct val="90000"/>
              </a:lnSpc>
              <a:spcBef>
                <a:spcPct val="20000"/>
              </a:spcBef>
              <a:buSzPct val="65000"/>
            </a:pPr>
            <a:r>
              <a:rPr lang="en-US" b="1" dirty="0" smtClean="0"/>
              <a:t>Display</a:t>
            </a:r>
          </a:p>
          <a:p>
            <a:pPr>
              <a:lnSpc>
                <a:spcPct val="90000"/>
              </a:lnSpc>
              <a:spcBef>
                <a:spcPct val="20000"/>
              </a:spcBef>
              <a:buSzPct val="65000"/>
            </a:pPr>
            <a:r>
              <a:rPr lang="en-US" sz="1400" dirty="0" smtClean="0"/>
              <a:t>480x800 QVGA</a:t>
            </a:r>
          </a:p>
          <a:p>
            <a:pPr>
              <a:lnSpc>
                <a:spcPct val="90000"/>
              </a:lnSpc>
              <a:spcBef>
                <a:spcPct val="20000"/>
              </a:spcBef>
              <a:buSzPct val="65000"/>
            </a:pPr>
            <a:r>
              <a:rPr lang="en-US" sz="1200" dirty="0" smtClean="0"/>
              <a:t>Other resolutions in the future</a:t>
            </a:r>
            <a:endParaRPr lang="en-US" sz="1400" dirty="0" smtClean="0"/>
          </a:p>
        </p:txBody>
      </p:sp>
      <p:sp>
        <p:nvSpPr>
          <p:cNvPr id="7" name="Rectangle 6"/>
          <p:cNvSpPr/>
          <p:nvPr/>
        </p:nvSpPr>
        <p:spPr>
          <a:xfrm>
            <a:off x="533400" y="2773775"/>
            <a:ext cx="1981200" cy="578620"/>
          </a:xfrm>
          <a:prstGeom prst="rect">
            <a:avLst/>
          </a:prstGeom>
        </p:spPr>
        <p:txBody>
          <a:bodyPr wrap="square">
            <a:spAutoFit/>
          </a:bodyPr>
          <a:lstStyle/>
          <a:p>
            <a:pPr>
              <a:lnSpc>
                <a:spcPct val="90000"/>
              </a:lnSpc>
              <a:spcBef>
                <a:spcPct val="20000"/>
              </a:spcBef>
              <a:buSzPct val="65000"/>
            </a:pPr>
            <a:r>
              <a:rPr lang="en-US" b="1" dirty="0" smtClean="0"/>
              <a:t>Capacitive touch</a:t>
            </a:r>
          </a:p>
          <a:p>
            <a:pPr>
              <a:lnSpc>
                <a:spcPct val="90000"/>
              </a:lnSpc>
              <a:spcBef>
                <a:spcPct val="20000"/>
              </a:spcBef>
              <a:buSzPct val="65000"/>
            </a:pPr>
            <a:r>
              <a:rPr lang="en-US" sz="1400" dirty="0" smtClean="0"/>
              <a:t>4+ contact </a:t>
            </a:r>
            <a:r>
              <a:rPr lang="en-US" sz="1400" dirty="0" smtClean="0"/>
              <a:t>points</a:t>
            </a:r>
          </a:p>
        </p:txBody>
      </p:sp>
      <p:sp>
        <p:nvSpPr>
          <p:cNvPr id="8" name="Rectangle 7"/>
          <p:cNvSpPr/>
          <p:nvPr/>
        </p:nvSpPr>
        <p:spPr>
          <a:xfrm>
            <a:off x="533400" y="4481155"/>
            <a:ext cx="1828800" cy="578620"/>
          </a:xfrm>
          <a:prstGeom prst="rect">
            <a:avLst/>
          </a:prstGeom>
        </p:spPr>
        <p:txBody>
          <a:bodyPr wrap="square">
            <a:spAutoFit/>
          </a:bodyPr>
          <a:lstStyle/>
          <a:p>
            <a:pPr>
              <a:lnSpc>
                <a:spcPct val="90000"/>
              </a:lnSpc>
              <a:spcBef>
                <a:spcPct val="20000"/>
              </a:spcBef>
              <a:buSzPct val="65000"/>
            </a:pPr>
            <a:r>
              <a:rPr lang="en-US" b="1" dirty="0" smtClean="0"/>
              <a:t>Camera</a:t>
            </a:r>
          </a:p>
          <a:p>
            <a:pPr>
              <a:lnSpc>
                <a:spcPct val="90000"/>
              </a:lnSpc>
              <a:spcBef>
                <a:spcPct val="20000"/>
              </a:spcBef>
              <a:buSzPct val="65000"/>
            </a:pPr>
            <a:r>
              <a:rPr lang="en-US" sz="1400" dirty="0" smtClean="0"/>
              <a:t>5+ megapixels</a:t>
            </a:r>
            <a:endParaRPr lang="en-US" sz="1400" dirty="0" smtClean="0"/>
          </a:p>
        </p:txBody>
      </p:sp>
      <p:sp>
        <p:nvSpPr>
          <p:cNvPr id="9" name="Rectangle 8"/>
          <p:cNvSpPr/>
          <p:nvPr/>
        </p:nvSpPr>
        <p:spPr>
          <a:xfrm>
            <a:off x="533400" y="5243155"/>
            <a:ext cx="2171700" cy="578620"/>
          </a:xfrm>
          <a:prstGeom prst="rect">
            <a:avLst/>
          </a:prstGeom>
        </p:spPr>
        <p:txBody>
          <a:bodyPr wrap="square">
            <a:spAutoFit/>
          </a:bodyPr>
          <a:lstStyle/>
          <a:p>
            <a:pPr>
              <a:lnSpc>
                <a:spcPct val="90000"/>
              </a:lnSpc>
              <a:spcBef>
                <a:spcPct val="20000"/>
              </a:spcBef>
              <a:buSzPct val="65000"/>
            </a:pPr>
            <a:r>
              <a:rPr lang="en-US" b="1" dirty="0" smtClean="0"/>
              <a:t>Hardware buttons</a:t>
            </a:r>
          </a:p>
          <a:p>
            <a:pPr>
              <a:lnSpc>
                <a:spcPct val="90000"/>
              </a:lnSpc>
              <a:spcBef>
                <a:spcPct val="20000"/>
              </a:spcBef>
              <a:buSzPct val="65000"/>
            </a:pPr>
            <a:r>
              <a:rPr lang="en-US" sz="1400" dirty="0" smtClean="0"/>
              <a:t>Start, Search, </a:t>
            </a:r>
            <a:r>
              <a:rPr lang="en-US" sz="1400" b="1" dirty="0" smtClean="0"/>
              <a:t>Back</a:t>
            </a:r>
          </a:p>
        </p:txBody>
      </p:sp>
      <p:sp>
        <p:nvSpPr>
          <p:cNvPr id="10" name="Rectangle 9"/>
          <p:cNvSpPr/>
          <p:nvPr/>
        </p:nvSpPr>
        <p:spPr>
          <a:xfrm>
            <a:off x="6477000" y="3933056"/>
            <a:ext cx="1905000" cy="578620"/>
          </a:xfrm>
          <a:prstGeom prst="rect">
            <a:avLst/>
          </a:prstGeom>
        </p:spPr>
        <p:txBody>
          <a:bodyPr wrap="square">
            <a:spAutoFit/>
          </a:bodyPr>
          <a:lstStyle/>
          <a:p>
            <a:pPr>
              <a:lnSpc>
                <a:spcPct val="90000"/>
              </a:lnSpc>
              <a:spcBef>
                <a:spcPct val="20000"/>
              </a:spcBef>
              <a:buSzPct val="65000"/>
            </a:pPr>
            <a:r>
              <a:rPr lang="en-US" b="1" dirty="0" smtClean="0"/>
              <a:t>GPU</a:t>
            </a:r>
          </a:p>
          <a:p>
            <a:pPr>
              <a:lnSpc>
                <a:spcPct val="90000"/>
              </a:lnSpc>
              <a:spcBef>
                <a:spcPct val="20000"/>
              </a:spcBef>
              <a:buSzPct val="65000"/>
            </a:pPr>
            <a:r>
              <a:rPr lang="en-US" sz="1400" dirty="0" smtClean="0"/>
              <a:t>DirectX 9 acceleration</a:t>
            </a:r>
          </a:p>
        </p:txBody>
      </p:sp>
      <p:sp>
        <p:nvSpPr>
          <p:cNvPr id="11" name="Rectangle 10"/>
          <p:cNvSpPr/>
          <p:nvPr/>
        </p:nvSpPr>
        <p:spPr>
          <a:xfrm>
            <a:off x="6477000" y="4888729"/>
            <a:ext cx="2057400" cy="578620"/>
          </a:xfrm>
          <a:prstGeom prst="rect">
            <a:avLst/>
          </a:prstGeom>
        </p:spPr>
        <p:txBody>
          <a:bodyPr wrap="square">
            <a:spAutoFit/>
          </a:bodyPr>
          <a:lstStyle/>
          <a:p>
            <a:pPr>
              <a:lnSpc>
                <a:spcPct val="90000"/>
              </a:lnSpc>
              <a:spcBef>
                <a:spcPct val="20000"/>
              </a:spcBef>
              <a:buSzPct val="65000"/>
            </a:pPr>
            <a:r>
              <a:rPr lang="en-US" b="1" dirty="0" smtClean="0"/>
              <a:t>CPU</a:t>
            </a:r>
          </a:p>
          <a:p>
            <a:pPr>
              <a:lnSpc>
                <a:spcPct val="90000"/>
              </a:lnSpc>
              <a:spcBef>
                <a:spcPct val="20000"/>
              </a:spcBef>
              <a:buSzPct val="65000"/>
            </a:pPr>
            <a:r>
              <a:rPr lang="en-US" sz="1400" dirty="0" smtClean="0"/>
              <a:t>ARMv7</a:t>
            </a:r>
            <a:endParaRPr lang="en-US" sz="1400" dirty="0" smtClean="0"/>
          </a:p>
        </p:txBody>
      </p:sp>
      <p:sp>
        <p:nvSpPr>
          <p:cNvPr id="12" name="Rectangle 11"/>
          <p:cNvSpPr/>
          <p:nvPr/>
        </p:nvSpPr>
        <p:spPr>
          <a:xfrm>
            <a:off x="6477000" y="2819400"/>
            <a:ext cx="1905000" cy="815608"/>
          </a:xfrm>
          <a:prstGeom prst="rect">
            <a:avLst/>
          </a:prstGeom>
        </p:spPr>
        <p:txBody>
          <a:bodyPr wrap="square">
            <a:spAutoFit/>
          </a:bodyPr>
          <a:lstStyle/>
          <a:p>
            <a:pPr>
              <a:lnSpc>
                <a:spcPct val="90000"/>
              </a:lnSpc>
              <a:spcBef>
                <a:spcPct val="20000"/>
              </a:spcBef>
              <a:buSzPct val="65000"/>
            </a:pPr>
            <a:r>
              <a:rPr lang="en-US" b="1" dirty="0" smtClean="0"/>
              <a:t>Memory</a:t>
            </a:r>
          </a:p>
          <a:p>
            <a:pPr>
              <a:lnSpc>
                <a:spcPct val="90000"/>
              </a:lnSpc>
              <a:spcBef>
                <a:spcPct val="20000"/>
              </a:spcBef>
              <a:buSzPct val="65000"/>
            </a:pPr>
            <a:r>
              <a:rPr lang="en-US" sz="1400" dirty="0" smtClean="0"/>
              <a:t>256MB RAM or more</a:t>
            </a:r>
          </a:p>
          <a:p>
            <a:pPr>
              <a:lnSpc>
                <a:spcPct val="90000"/>
              </a:lnSpc>
              <a:spcBef>
                <a:spcPct val="20000"/>
              </a:spcBef>
              <a:buSzPct val="65000"/>
            </a:pPr>
            <a:r>
              <a:rPr lang="en-US" sz="1400" dirty="0" smtClean="0"/>
              <a:t>8GB Flash or more</a:t>
            </a:r>
          </a:p>
        </p:txBody>
      </p:sp>
      <p:sp>
        <p:nvSpPr>
          <p:cNvPr id="13" name="Rectangle 12"/>
          <p:cNvSpPr/>
          <p:nvPr/>
        </p:nvSpPr>
        <p:spPr>
          <a:xfrm>
            <a:off x="6476999" y="1752600"/>
            <a:ext cx="2421673" cy="578620"/>
          </a:xfrm>
          <a:prstGeom prst="rect">
            <a:avLst/>
          </a:prstGeom>
        </p:spPr>
        <p:txBody>
          <a:bodyPr wrap="square">
            <a:spAutoFit/>
          </a:bodyPr>
          <a:lstStyle/>
          <a:p>
            <a:pPr>
              <a:lnSpc>
                <a:spcPct val="90000"/>
              </a:lnSpc>
              <a:spcBef>
                <a:spcPct val="20000"/>
              </a:spcBef>
              <a:buSzPct val="65000"/>
            </a:pPr>
            <a:r>
              <a:rPr lang="en-US" b="1" dirty="0" smtClean="0"/>
              <a:t>Multimedia</a:t>
            </a:r>
          </a:p>
          <a:p>
            <a:pPr>
              <a:lnSpc>
                <a:spcPct val="90000"/>
              </a:lnSpc>
              <a:spcBef>
                <a:spcPct val="20000"/>
              </a:spcBef>
              <a:buSzPct val="65000"/>
            </a:pPr>
            <a:r>
              <a:rPr lang="en-US" sz="1400" dirty="0" smtClean="0"/>
              <a:t>Codec </a:t>
            </a:r>
            <a:r>
              <a:rPr lang="en-US" sz="1400" dirty="0" smtClean="0"/>
              <a:t>acceleration</a:t>
            </a:r>
            <a:endParaRPr lang="en-US" sz="1400" dirty="0" smtClean="0"/>
          </a:p>
        </p:txBody>
      </p:sp>
      <p:sp>
        <p:nvSpPr>
          <p:cNvPr id="14" name="Rectangle 13"/>
          <p:cNvSpPr/>
          <p:nvPr/>
        </p:nvSpPr>
        <p:spPr>
          <a:xfrm>
            <a:off x="533400" y="3535775"/>
            <a:ext cx="2057400" cy="772519"/>
          </a:xfrm>
          <a:prstGeom prst="rect">
            <a:avLst/>
          </a:prstGeom>
        </p:spPr>
        <p:txBody>
          <a:bodyPr wrap="square">
            <a:spAutoFit/>
          </a:bodyPr>
          <a:lstStyle/>
          <a:p>
            <a:pPr>
              <a:lnSpc>
                <a:spcPct val="90000"/>
              </a:lnSpc>
              <a:spcBef>
                <a:spcPct val="20000"/>
              </a:spcBef>
              <a:buSzPct val="65000"/>
            </a:pPr>
            <a:r>
              <a:rPr lang="en-US" b="1" dirty="0" smtClean="0"/>
              <a:t>Sensors</a:t>
            </a:r>
          </a:p>
          <a:p>
            <a:pPr>
              <a:lnSpc>
                <a:spcPct val="90000"/>
              </a:lnSpc>
              <a:spcBef>
                <a:spcPct val="20000"/>
              </a:spcBef>
              <a:buSzPct val="65000"/>
            </a:pPr>
            <a:r>
              <a:rPr lang="en-US" sz="1400" dirty="0" smtClean="0"/>
              <a:t>A-GPS, Accelerometer, Compass, Light</a:t>
            </a:r>
          </a:p>
        </p:txBody>
      </p:sp>
    </p:spTree>
    <p:extLst>
      <p:ext uri="{BB962C8B-B14F-4D97-AF65-F5344CB8AC3E}">
        <p14:creationId xmlns:p14="http://schemas.microsoft.com/office/powerpoint/2010/main" val="23311759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Choices</a:t>
            </a:r>
            <a:endParaRPr lang="en-US" dirty="0"/>
          </a:p>
        </p:txBody>
      </p:sp>
      <p:sp>
        <p:nvSpPr>
          <p:cNvPr id="3" name="Text Placeholder 2"/>
          <p:cNvSpPr>
            <a:spLocks noGrp="1"/>
          </p:cNvSpPr>
          <p:nvPr>
            <p:ph type="body" sz="quarter" idx="10"/>
          </p:nvPr>
        </p:nvSpPr>
        <p:spPr>
          <a:xfrm>
            <a:off x="381000" y="1447800"/>
            <a:ext cx="8363938" cy="3896451"/>
          </a:xfrm>
        </p:spPr>
        <p:txBody>
          <a:bodyPr/>
          <a:lstStyle/>
          <a:p>
            <a:r>
              <a:rPr lang="en-US" dirty="0" smtClean="0"/>
              <a:t>Silverlight for Windows Phone</a:t>
            </a:r>
          </a:p>
          <a:p>
            <a:pPr lvl="1"/>
            <a:r>
              <a:rPr lang="en-US" dirty="0" smtClean="0"/>
              <a:t>Write code in C#, VB</a:t>
            </a:r>
          </a:p>
          <a:p>
            <a:pPr lvl="1"/>
            <a:r>
              <a:rPr lang="en-US" dirty="0" smtClean="0"/>
              <a:t>Powerful client platform</a:t>
            </a:r>
          </a:p>
          <a:p>
            <a:pPr lvl="1"/>
            <a:r>
              <a:rPr lang="en-US" dirty="0" smtClean="0"/>
              <a:t>Leverage a decade of .NET libraries</a:t>
            </a:r>
            <a:endParaRPr lang="en-US" dirty="0"/>
          </a:p>
          <a:p>
            <a:r>
              <a:rPr lang="en-US" dirty="0" smtClean="0"/>
              <a:t>XNA</a:t>
            </a:r>
          </a:p>
          <a:p>
            <a:pPr lvl="1"/>
            <a:r>
              <a:rPr lang="en-US" dirty="0" smtClean="0"/>
              <a:t>Powerful 2D and 3D game experiences</a:t>
            </a:r>
          </a:p>
          <a:p>
            <a:pPr lvl="1"/>
            <a:r>
              <a:rPr lang="en-US" dirty="0" smtClean="0"/>
              <a:t>Raw game loop and libraries</a:t>
            </a:r>
            <a:endParaRPr lang="en-US" dirty="0"/>
          </a:p>
          <a:p>
            <a:r>
              <a:rPr lang="en-US" dirty="0" smtClean="0"/>
              <a:t>Native code is not a choice today</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5</a:t>
            </a:fld>
            <a:endParaRPr lang="en-US" dirty="0">
              <a:solidFill>
                <a:srgbClr val="6BBD46"/>
              </a:solidFill>
            </a:endParaRPr>
          </a:p>
        </p:txBody>
      </p:sp>
    </p:spTree>
    <p:extLst>
      <p:ext uri="{BB962C8B-B14F-4D97-AF65-F5344CB8AC3E}">
        <p14:creationId xmlns:p14="http://schemas.microsoft.com/office/powerpoint/2010/main" val="5191533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dirty="0" smtClean="0"/>
              <a:t>Silverlight</a:t>
            </a:r>
            <a:br>
              <a:rPr lang="en-US" sz="7200" dirty="0" smtClean="0"/>
            </a:br>
            <a:r>
              <a:rPr lang="en-US" sz="3600" dirty="0" smtClean="0"/>
              <a:t>for Windows Phone</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solidFill>
                  <a:srgbClr val="6BBD46"/>
                </a:solidFill>
              </a:rPr>
              <a:pPr/>
              <a:t>6</a:t>
            </a:fld>
            <a:endParaRPr lang="en-US" dirty="0">
              <a:solidFill>
                <a:srgbClr val="6BBD46"/>
              </a:solidFill>
            </a:endParaRPr>
          </a:p>
        </p:txBody>
      </p:sp>
    </p:spTree>
    <p:extLst>
      <p:ext uri="{BB962C8B-B14F-4D97-AF65-F5344CB8AC3E}">
        <p14:creationId xmlns:p14="http://schemas.microsoft.com/office/powerpoint/2010/main" val="30509166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Silverlight?</a:t>
            </a:r>
            <a:endParaRPr lang="en-US" dirty="0"/>
          </a:p>
        </p:txBody>
      </p:sp>
      <p:sp>
        <p:nvSpPr>
          <p:cNvPr id="3" name="Text Placeholder 2"/>
          <p:cNvSpPr>
            <a:spLocks noGrp="1"/>
          </p:cNvSpPr>
          <p:nvPr>
            <p:ph type="body" sz="quarter" idx="10"/>
          </p:nvPr>
        </p:nvSpPr>
        <p:spPr>
          <a:xfrm>
            <a:off x="381000" y="1447800"/>
            <a:ext cx="8363938" cy="3354765"/>
          </a:xfrm>
        </p:spPr>
        <p:txBody>
          <a:bodyPr/>
          <a:lstStyle/>
          <a:p>
            <a:r>
              <a:rPr lang="en-US" dirty="0" smtClean="0"/>
              <a:t>Modern user interface platform</a:t>
            </a:r>
          </a:p>
          <a:p>
            <a:pPr lvl="1"/>
            <a:r>
              <a:rPr lang="en-US" dirty="0" smtClean="0"/>
              <a:t>.NET Managed Code</a:t>
            </a:r>
          </a:p>
          <a:p>
            <a:pPr lvl="1"/>
            <a:r>
              <a:rPr lang="en-US" dirty="0" smtClean="0"/>
              <a:t>C#, VB</a:t>
            </a:r>
          </a:p>
          <a:p>
            <a:pPr lvl="1"/>
            <a:r>
              <a:rPr lang="en-US" dirty="0" smtClean="0"/>
              <a:t>Leverage a decade of .NET libraries</a:t>
            </a:r>
            <a:endParaRPr lang="en-US" dirty="0"/>
          </a:p>
          <a:p>
            <a:r>
              <a:rPr lang="en-US" dirty="0" smtClean="0"/>
              <a:t>Microsoft tools</a:t>
            </a:r>
          </a:p>
          <a:p>
            <a:pPr lvl="1"/>
            <a:r>
              <a:rPr lang="en-US" dirty="0" smtClean="0"/>
              <a:t>Visual Studio</a:t>
            </a:r>
          </a:p>
          <a:p>
            <a:pPr lvl="1"/>
            <a:r>
              <a:rPr lang="en-US" dirty="0" smtClean="0"/>
              <a:t>Expression Blend: Developer + Designer Surface</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a:t>
            </a:fld>
            <a:endParaRPr lang="en-US" dirty="0">
              <a:solidFill>
                <a:srgbClr val="6BBD46"/>
              </a:solidFill>
            </a:endParaRPr>
          </a:p>
        </p:txBody>
      </p:sp>
    </p:spTree>
    <p:extLst>
      <p:ext uri="{BB962C8B-B14F-4D97-AF65-F5344CB8AC3E}">
        <p14:creationId xmlns:p14="http://schemas.microsoft.com/office/powerpoint/2010/main" val="16196571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Silverlight for Windows Phone</a:t>
            </a:r>
            <a:endParaRPr lang="en-US" dirty="0"/>
          </a:p>
        </p:txBody>
      </p:sp>
      <p:sp>
        <p:nvSpPr>
          <p:cNvPr id="3" name="Text Placeholder 2"/>
          <p:cNvSpPr>
            <a:spLocks noGrp="1"/>
          </p:cNvSpPr>
          <p:nvPr>
            <p:ph type="body" sz="quarter" idx="10"/>
          </p:nvPr>
        </p:nvSpPr>
        <p:spPr>
          <a:xfrm>
            <a:off x="381000" y="1447800"/>
            <a:ext cx="8363938" cy="5016758"/>
          </a:xfrm>
        </p:spPr>
        <p:txBody>
          <a:bodyPr/>
          <a:lstStyle/>
          <a:p>
            <a:r>
              <a:rPr lang="en-US" dirty="0" smtClean="0"/>
              <a:t>Silverlight “3++”</a:t>
            </a:r>
          </a:p>
          <a:p>
            <a:pPr lvl="1"/>
            <a:r>
              <a:rPr lang="en-US" dirty="0" smtClean="0"/>
              <a:t>Optimized for the phone GPU &amp; ARM, input</a:t>
            </a:r>
          </a:p>
          <a:p>
            <a:pPr lvl="1"/>
            <a:r>
              <a:rPr lang="en-US" dirty="0" smtClean="0"/>
              <a:t>Phone OS and sensor integration</a:t>
            </a:r>
          </a:p>
          <a:p>
            <a:pPr lvl="1"/>
            <a:r>
              <a:rPr lang="en-US" dirty="0" smtClean="0"/>
              <a:t>Relaxed sandbox security compared to the plugin</a:t>
            </a:r>
          </a:p>
          <a:p>
            <a:r>
              <a:rPr lang="en-US" dirty="0" smtClean="0"/>
              <a:t>Silverlight plugin apps (in IE) are not supported</a:t>
            </a:r>
            <a:endParaRPr lang="en-US" sz="3200" dirty="0" smtClean="0"/>
          </a:p>
          <a:p>
            <a:pPr marL="347663" lvl="2" indent="-347663">
              <a:buClr>
                <a:schemeClr val="accent1"/>
              </a:buClr>
            </a:pPr>
            <a:endParaRPr lang="en-US" sz="3200" dirty="0" smtClean="0"/>
          </a:p>
          <a:p>
            <a:pPr marL="0" lvl="2" indent="0">
              <a:buClr>
                <a:schemeClr val="accent1"/>
              </a:buClr>
              <a:buNone/>
            </a:pPr>
            <a:r>
              <a:rPr lang="en-US" sz="3200" i="1" dirty="0" smtClean="0"/>
              <a:t>Interested in advanced Silverlight?</a:t>
            </a:r>
            <a:endParaRPr lang="en-US" sz="3200" i="1" dirty="0"/>
          </a:p>
          <a:p>
            <a:pPr marL="347663" lvl="2" indent="-347663">
              <a:buClr>
                <a:schemeClr val="accent1"/>
              </a:buClr>
            </a:pPr>
            <a:r>
              <a:rPr lang="en-US" sz="3200" dirty="0" smtClean="0"/>
              <a:t>Tomorrow there is a session on Silverlight and view model by Nikhil </a:t>
            </a:r>
            <a:r>
              <a:rPr lang="en-US" sz="3200" dirty="0" err="1" smtClean="0"/>
              <a:t>Kotari</a:t>
            </a:r>
            <a:r>
              <a:rPr lang="en-US" sz="3200" dirty="0" smtClean="0"/>
              <a:t> at 10:15</a:t>
            </a:r>
          </a:p>
          <a:p>
            <a:pPr marL="347663" lvl="2" indent="-347663">
              <a:buClr>
                <a:schemeClr val="accent1"/>
              </a:buClr>
            </a:pPr>
            <a:r>
              <a:rPr lang="en-US" sz="3200" dirty="0" smtClean="0"/>
              <a:t>Purchase a </a:t>
            </a:r>
            <a:r>
              <a:rPr lang="en-US" sz="3200" dirty="0"/>
              <a:t>WP7 book </a:t>
            </a:r>
            <a:r>
              <a:rPr lang="en-US" sz="3200" i="1" dirty="0"/>
              <a:t>or</a:t>
            </a:r>
            <a:r>
              <a:rPr lang="en-US" sz="3200" dirty="0"/>
              <a:t> a SL3 book</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a:t>
            </a:fld>
            <a:endParaRPr lang="en-US" dirty="0">
              <a:solidFill>
                <a:srgbClr val="6BBD46"/>
              </a:solidFill>
            </a:endParaRPr>
          </a:p>
        </p:txBody>
      </p:sp>
    </p:spTree>
    <p:extLst>
      <p:ext uri="{BB962C8B-B14F-4D97-AF65-F5344CB8AC3E}">
        <p14:creationId xmlns:p14="http://schemas.microsoft.com/office/powerpoint/2010/main" val="2369432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Silverlight</a:t>
            </a:r>
            <a:endParaRPr lang="en-US" dirty="0"/>
          </a:p>
        </p:txBody>
      </p:sp>
      <p:sp>
        <p:nvSpPr>
          <p:cNvPr id="3" name="Content Placeholder 2"/>
          <p:cNvSpPr>
            <a:spLocks noGrp="1"/>
          </p:cNvSpPr>
          <p:nvPr>
            <p:ph sz="half" idx="1"/>
          </p:nvPr>
        </p:nvSpPr>
        <p:spPr>
          <a:xfrm>
            <a:off x="456128" y="1310185"/>
            <a:ext cx="4115872" cy="5016758"/>
          </a:xfrm>
        </p:spPr>
        <p:txBody>
          <a:bodyPr/>
          <a:lstStyle/>
          <a:p>
            <a:r>
              <a:rPr lang="en-US" sz="2000" dirty="0" smtClean="0"/>
              <a:t>Input</a:t>
            </a:r>
          </a:p>
          <a:p>
            <a:pPr lvl="1"/>
            <a:r>
              <a:rPr lang="en-US" sz="2000" dirty="0" smtClean="0"/>
              <a:t>Keyboard, Mouse</a:t>
            </a:r>
          </a:p>
          <a:p>
            <a:pPr lvl="1"/>
            <a:r>
              <a:rPr lang="en-US" sz="2000" dirty="0" smtClean="0"/>
              <a:t>Touch</a:t>
            </a:r>
          </a:p>
          <a:p>
            <a:pPr lvl="1"/>
            <a:r>
              <a:rPr lang="en-US" sz="2000" dirty="0" smtClean="0"/>
              <a:t>Ink</a:t>
            </a:r>
          </a:p>
          <a:p>
            <a:r>
              <a:rPr lang="en-US" sz="2000" dirty="0" smtClean="0"/>
              <a:t>Modern App Framework</a:t>
            </a:r>
          </a:p>
          <a:p>
            <a:pPr lvl="1"/>
            <a:r>
              <a:rPr lang="en-US" sz="2000" dirty="0" smtClean="0"/>
              <a:t>Data binding</a:t>
            </a:r>
          </a:p>
          <a:p>
            <a:pPr lvl="1"/>
            <a:r>
              <a:rPr lang="en-US" sz="2000" dirty="0" smtClean="0"/>
              <a:t>Model – </a:t>
            </a:r>
            <a:r>
              <a:rPr lang="en-US" sz="2000" dirty="0" err="1" smtClean="0"/>
              <a:t>ViewModel</a:t>
            </a:r>
            <a:r>
              <a:rPr lang="en-US" sz="2000" dirty="0" smtClean="0"/>
              <a:t> (MVVM)</a:t>
            </a:r>
          </a:p>
          <a:p>
            <a:r>
              <a:rPr lang="en-US" sz="2000" dirty="0" smtClean="0"/>
              <a:t>Data</a:t>
            </a:r>
          </a:p>
          <a:p>
            <a:pPr lvl="1"/>
            <a:r>
              <a:rPr lang="en-US" sz="2000" dirty="0" smtClean="0"/>
              <a:t>LINQ, LINQ to XML, XML</a:t>
            </a:r>
          </a:p>
          <a:p>
            <a:pPr lvl="1"/>
            <a:r>
              <a:rPr lang="en-US" sz="2000" dirty="0" smtClean="0"/>
              <a:t>Isolated Storage</a:t>
            </a:r>
          </a:p>
          <a:p>
            <a:r>
              <a:rPr lang="en-US" sz="2000" dirty="0" smtClean="0"/>
              <a:t>Base Class Library (BCL)</a:t>
            </a:r>
          </a:p>
          <a:p>
            <a:pPr lvl="1"/>
            <a:r>
              <a:rPr lang="en-US" sz="2000" dirty="0" smtClean="0"/>
              <a:t>Generics</a:t>
            </a:r>
          </a:p>
          <a:p>
            <a:pPr lvl="1"/>
            <a:r>
              <a:rPr lang="en-US" sz="2000" dirty="0" smtClean="0"/>
              <a:t>Collections</a:t>
            </a:r>
          </a:p>
          <a:p>
            <a:pPr lvl="1"/>
            <a:r>
              <a:rPr lang="en-US" sz="2000" dirty="0" smtClean="0"/>
              <a:t>Cryptography</a:t>
            </a:r>
          </a:p>
          <a:p>
            <a:pPr lvl="1"/>
            <a:r>
              <a:rPr lang="en-US" sz="2000" dirty="0" smtClean="0"/>
              <a:t>Threading</a:t>
            </a:r>
            <a:endParaRPr lang="en-US" sz="2000" dirty="0"/>
          </a:p>
        </p:txBody>
      </p:sp>
      <p:sp>
        <p:nvSpPr>
          <p:cNvPr id="4" name="Content Placeholder 3"/>
          <p:cNvSpPr>
            <a:spLocks noGrp="1"/>
          </p:cNvSpPr>
          <p:nvPr>
            <p:ph sz="half" idx="2"/>
          </p:nvPr>
        </p:nvSpPr>
        <p:spPr>
          <a:xfrm>
            <a:off x="4704193" y="1337481"/>
            <a:ext cx="4115872" cy="5016758"/>
          </a:xfrm>
        </p:spPr>
        <p:txBody>
          <a:bodyPr/>
          <a:lstStyle/>
          <a:p>
            <a:r>
              <a:rPr lang="en-US" sz="2000" dirty="0" smtClean="0"/>
              <a:t>UI Core</a:t>
            </a:r>
          </a:p>
          <a:p>
            <a:pPr lvl="1"/>
            <a:r>
              <a:rPr lang="en-US" sz="2000" dirty="0" smtClean="0"/>
              <a:t>Vector Shapes</a:t>
            </a:r>
          </a:p>
          <a:p>
            <a:pPr lvl="1"/>
            <a:r>
              <a:rPr lang="en-US" sz="2000" dirty="0" smtClean="0"/>
              <a:t>Layout</a:t>
            </a:r>
          </a:p>
          <a:p>
            <a:pPr lvl="1"/>
            <a:r>
              <a:rPr lang="en-US" sz="2000" dirty="0" smtClean="0"/>
              <a:t>Animation</a:t>
            </a:r>
          </a:p>
          <a:p>
            <a:pPr lvl="1"/>
            <a:r>
              <a:rPr lang="en-US" sz="2000" dirty="0" smtClean="0"/>
              <a:t>Text</a:t>
            </a:r>
          </a:p>
          <a:p>
            <a:pPr lvl="1"/>
            <a:r>
              <a:rPr lang="en-US" sz="2000" dirty="0" smtClean="0"/>
              <a:t>Images</a:t>
            </a:r>
          </a:p>
          <a:p>
            <a:r>
              <a:rPr lang="en-US" sz="2000" dirty="0" smtClean="0"/>
              <a:t>XAML</a:t>
            </a:r>
          </a:p>
          <a:p>
            <a:r>
              <a:rPr lang="en-US" sz="2000" dirty="0" smtClean="0"/>
              <a:t>Media Stack</a:t>
            </a:r>
          </a:p>
          <a:p>
            <a:pPr lvl="1"/>
            <a:r>
              <a:rPr lang="en-US" sz="2000" dirty="0" smtClean="0"/>
              <a:t>VC1, WMA, MP3</a:t>
            </a:r>
          </a:p>
          <a:p>
            <a:pPr lvl="1"/>
            <a:r>
              <a:rPr lang="en-US" sz="2000" dirty="0" smtClean="0"/>
              <a:t>H.264, AAC</a:t>
            </a:r>
          </a:p>
          <a:p>
            <a:r>
              <a:rPr lang="en-US" sz="2000" dirty="0" smtClean="0"/>
              <a:t>Communication &amp; WCF</a:t>
            </a:r>
          </a:p>
          <a:p>
            <a:pPr lvl="1"/>
            <a:r>
              <a:rPr lang="en-US" sz="2000" dirty="0" smtClean="0"/>
              <a:t>REST</a:t>
            </a:r>
          </a:p>
          <a:p>
            <a:pPr lvl="1"/>
            <a:r>
              <a:rPr lang="en-US" sz="2000" dirty="0" smtClean="0"/>
              <a:t>JSON</a:t>
            </a:r>
          </a:p>
          <a:p>
            <a:pPr lvl="1"/>
            <a:r>
              <a:rPr lang="en-US" sz="2000" dirty="0" smtClean="0"/>
              <a:t>RSS/ATOM</a:t>
            </a:r>
          </a:p>
          <a:p>
            <a:pPr lvl="1"/>
            <a:r>
              <a:rPr lang="en-US" sz="2000" dirty="0" smtClean="0"/>
              <a:t>SOAP</a:t>
            </a:r>
          </a:p>
        </p:txBody>
      </p:sp>
      <p:sp>
        <p:nvSpPr>
          <p:cNvPr id="5" name="Slide Number Placeholder 4"/>
          <p:cNvSpPr>
            <a:spLocks noGrp="1"/>
          </p:cNvSpPr>
          <p:nvPr>
            <p:ph type="sldNum" sz="quarter" idx="10"/>
          </p:nvPr>
        </p:nvSpPr>
        <p:spPr/>
        <p:txBody>
          <a:bodyPr/>
          <a:lstStyle/>
          <a:p>
            <a:fld id="{271031BA-9959-4FE2-909F-37D65262A7B4}" type="slidenum">
              <a:rPr lang="en-US" smtClean="0">
                <a:solidFill>
                  <a:srgbClr val="6BBD46"/>
                </a:solidFill>
              </a:rPr>
              <a:pPr/>
              <a:t>9</a:t>
            </a:fld>
            <a:endParaRPr lang="en-US" dirty="0">
              <a:solidFill>
                <a:srgbClr val="6BBD46"/>
              </a:solidFill>
            </a:endParaRPr>
          </a:p>
        </p:txBody>
      </p:sp>
    </p:spTree>
    <p:extLst>
      <p:ext uri="{BB962C8B-B14F-4D97-AF65-F5344CB8AC3E}">
        <p14:creationId xmlns:p14="http://schemas.microsoft.com/office/powerpoint/2010/main" val="379057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XAML</a:t>
            </a:r>
            <a:endParaRPr lang="en-US" dirty="0"/>
          </a:p>
        </p:txBody>
      </p:sp>
      <p:sp>
        <p:nvSpPr>
          <p:cNvPr id="3" name="Text Placeholder 2"/>
          <p:cNvSpPr>
            <a:spLocks noGrp="1"/>
          </p:cNvSpPr>
          <p:nvPr>
            <p:ph type="body" sz="quarter" idx="10"/>
          </p:nvPr>
        </p:nvSpPr>
        <p:spPr>
          <a:xfrm>
            <a:off x="381000" y="1447800"/>
            <a:ext cx="8363938" cy="3730252"/>
          </a:xfrm>
        </p:spPr>
        <p:txBody>
          <a:bodyPr/>
          <a:lstStyle/>
          <a:p>
            <a:r>
              <a:rPr lang="en-US" dirty="0" smtClean="0"/>
              <a:t>Declarative XML markup for UI trees</a:t>
            </a:r>
          </a:p>
          <a:p>
            <a:pPr lvl="1"/>
            <a:r>
              <a:rPr lang="en-US" dirty="0" smtClean="0"/>
              <a:t>Resources</a:t>
            </a:r>
          </a:p>
          <a:p>
            <a:pPr lvl="2"/>
            <a:r>
              <a:rPr lang="en-US" dirty="0" smtClean="0"/>
              <a:t>Brushes, gradients, helper code and converters</a:t>
            </a:r>
          </a:p>
          <a:p>
            <a:pPr lvl="1"/>
            <a:r>
              <a:rPr lang="en-US" dirty="0" smtClean="0"/>
              <a:t>Vector graphics, layout containers, text</a:t>
            </a:r>
          </a:p>
          <a:p>
            <a:pPr lvl="1"/>
            <a:r>
              <a:rPr lang="en-US" dirty="0" smtClean="0"/>
              <a:t>Controls</a:t>
            </a:r>
          </a:p>
          <a:p>
            <a:pPr lvl="1"/>
            <a:r>
              <a:rPr lang="en-US" dirty="0" smtClean="0"/>
              <a:t>Set properties, bindings, hook up event handlers</a:t>
            </a:r>
          </a:p>
          <a:p>
            <a:r>
              <a:rPr lang="en-US" dirty="0" smtClean="0"/>
              <a:t>Enables the rich design surfaces in Visual Studio and Expression Blend 4	</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10</a:t>
            </a:fld>
            <a:endParaRPr lang="en-US" dirty="0">
              <a:solidFill>
                <a:srgbClr val="6BBD46"/>
              </a:solidFill>
            </a:endParaRPr>
          </a:p>
        </p:txBody>
      </p:sp>
      <p:sp>
        <p:nvSpPr>
          <p:cNvPr id="5" name="Rectangle 4"/>
          <p:cNvSpPr/>
          <p:nvPr/>
        </p:nvSpPr>
        <p:spPr bwMode="auto">
          <a:xfrm>
            <a:off x="534365" y="5198025"/>
            <a:ext cx="8609635" cy="682328"/>
          </a:xfrm>
          <a:prstGeom prst="rect">
            <a:avLst/>
          </a:prstGeom>
          <a:gradFill flip="none" rotWithShape="1">
            <a:gsLst>
              <a:gs pos="0">
                <a:schemeClr val="bg1">
                  <a:lumMod val="85000"/>
                  <a:alpha val="70000"/>
                </a:schemeClr>
              </a:gs>
              <a:gs pos="50000">
                <a:schemeClr val="bg1">
                  <a:lumMod val="85000"/>
                  <a:alpha val="40000"/>
                </a:schemeClr>
              </a:gs>
              <a:gs pos="100000">
                <a:schemeClr val="bg1">
                  <a:lumMod val="95000"/>
                  <a:alpha val="0"/>
                </a:schemeClr>
              </a:gs>
            </a:gsLst>
            <a:lin ang="0" scaled="1"/>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274320" tIns="45718" rIns="91436" bIns="45718" numCol="1" rtlCol="0" anchor="ctr" anchorCtr="0" compatLnSpc="1">
            <a:prstTxWarp prst="textNoShape">
              <a:avLst/>
            </a:prstTxWarp>
          </a:bodyPr>
          <a:lstStyle/>
          <a:p>
            <a:pPr marL="0" lvl="1">
              <a:spcBef>
                <a:spcPts val="600"/>
              </a:spcBef>
              <a:buClr>
                <a:schemeClr val="accent2"/>
              </a:buClr>
              <a:defRPr/>
            </a:pPr>
            <a:endParaRPr lang="en-US" sz="2800" dirty="0" err="1" smtClean="0">
              <a:solidFill>
                <a:schemeClr val="tx1">
                  <a:lumMod val="75000"/>
                  <a:lumOff val="25000"/>
                </a:schemeClr>
              </a:solidFill>
            </a:endParaRPr>
          </a:p>
        </p:txBody>
      </p:sp>
      <p:sp>
        <p:nvSpPr>
          <p:cNvPr id="6" name="Rectangle 5"/>
          <p:cNvSpPr/>
          <p:nvPr/>
        </p:nvSpPr>
        <p:spPr bwMode="auto">
          <a:xfrm>
            <a:off x="534365" y="5284124"/>
            <a:ext cx="8093345" cy="73866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36" tIns="45718" rIns="91436" bIns="45718" numCol="1" rtlCol="0" anchor="ctr" anchorCtr="0" compatLnSpc="1">
            <a:prstTxWarp prst="textNoShape">
              <a:avLst/>
            </a:prstTxWarp>
            <a:spAutoFit/>
          </a:bodyPr>
          <a:lstStyle/>
          <a:p>
            <a:r>
              <a:rPr lang="en-US" sz="1400" dirty="0">
                <a:solidFill>
                  <a:srgbClr val="0000FF"/>
                </a:solidFill>
                <a:latin typeface="Consolas"/>
              </a:rPr>
              <a:t>&lt;</a:t>
            </a:r>
            <a:r>
              <a:rPr lang="en-US" sz="1400" dirty="0">
                <a:solidFill>
                  <a:srgbClr val="A31515"/>
                </a:solidFill>
                <a:latin typeface="Consolas"/>
              </a:rPr>
              <a:t>Grid</a:t>
            </a:r>
            <a:r>
              <a:rPr lang="en-US" sz="1400" dirty="0">
                <a:solidFill>
                  <a:srgbClr val="0000FF"/>
                </a:solidFill>
                <a:latin typeface="Consolas"/>
              </a:rPr>
              <a:t>&gt;</a:t>
            </a:r>
            <a:endParaRPr lang="en-US" sz="1400" dirty="0">
              <a:solidFill>
                <a:prstClr val="black"/>
              </a:solidFill>
              <a:latin typeface="Consolas"/>
            </a:endParaRPr>
          </a:p>
          <a:p>
            <a:r>
              <a:rPr lang="en-US" sz="1400" dirty="0">
                <a:solidFill>
                  <a:srgbClr val="A31515"/>
                </a:solidFill>
                <a:latin typeface="Consolas"/>
              </a:rPr>
              <a:t>    </a:t>
            </a:r>
            <a:r>
              <a:rPr lang="en-US" sz="1400" dirty="0">
                <a:solidFill>
                  <a:srgbClr val="0000FF"/>
                </a:solidFill>
                <a:latin typeface="Consolas"/>
              </a:rPr>
              <a:t>&lt;</a:t>
            </a:r>
            <a:r>
              <a:rPr lang="en-US" sz="1400" dirty="0" err="1" smtClean="0">
                <a:solidFill>
                  <a:srgbClr val="A31515"/>
                </a:solidFill>
                <a:latin typeface="Consolas"/>
              </a:rPr>
              <a:t>TextBox</a:t>
            </a:r>
            <a:r>
              <a:rPr lang="en-US" sz="1400" dirty="0" smtClean="0">
                <a:solidFill>
                  <a:srgbClr val="FF0000"/>
                </a:solidFill>
                <a:latin typeface="Consolas"/>
              </a:rPr>
              <a:t> Text</a:t>
            </a:r>
            <a:r>
              <a:rPr lang="en-US" sz="1400" dirty="0" smtClean="0">
                <a:solidFill>
                  <a:srgbClr val="0000FF"/>
                </a:solidFill>
                <a:latin typeface="Consolas"/>
              </a:rPr>
              <a:t>=“Hello World"</a:t>
            </a:r>
            <a:r>
              <a:rPr lang="en-US" sz="1400" dirty="0" smtClean="0">
                <a:solidFill>
                  <a:srgbClr val="FF0000"/>
                </a:solidFill>
                <a:latin typeface="Consolas"/>
              </a:rPr>
              <a:t> </a:t>
            </a:r>
            <a:r>
              <a:rPr lang="en-US" sz="1400" dirty="0" err="1" smtClean="0">
                <a:solidFill>
                  <a:srgbClr val="FF0000"/>
                </a:solidFill>
                <a:latin typeface="Consolas"/>
              </a:rPr>
              <a:t>TextChanged</a:t>
            </a:r>
            <a:r>
              <a:rPr lang="en-US" sz="1400" dirty="0" smtClean="0">
                <a:solidFill>
                  <a:srgbClr val="0000FF"/>
                </a:solidFill>
                <a:latin typeface="Consolas"/>
              </a:rPr>
              <a:t>=“</a:t>
            </a:r>
            <a:r>
              <a:rPr lang="en-US" sz="1400" dirty="0" err="1" smtClean="0">
                <a:solidFill>
                  <a:srgbClr val="0000FF"/>
                </a:solidFill>
                <a:latin typeface="Consolas"/>
              </a:rPr>
              <a:t>MyMessageChangedHandler</a:t>
            </a:r>
            <a:r>
              <a:rPr lang="en-US" sz="1400" dirty="0" smtClean="0">
                <a:solidFill>
                  <a:srgbClr val="0000FF"/>
                </a:solidFill>
                <a:latin typeface="Consolas"/>
              </a:rPr>
              <a:t>"/&gt;</a:t>
            </a:r>
            <a:endParaRPr lang="en-US" sz="1400" dirty="0">
              <a:solidFill>
                <a:prstClr val="black"/>
              </a:solidFill>
              <a:latin typeface="Consolas"/>
            </a:endParaRPr>
          </a:p>
          <a:p>
            <a:r>
              <a:rPr lang="en-US" sz="1400" dirty="0">
                <a:solidFill>
                  <a:srgbClr val="0000FF"/>
                </a:solidFill>
                <a:latin typeface="Consolas"/>
              </a:rPr>
              <a:t>&lt;/</a:t>
            </a:r>
            <a:r>
              <a:rPr lang="en-US" sz="1400" dirty="0">
                <a:solidFill>
                  <a:srgbClr val="A31515"/>
                </a:solidFill>
                <a:latin typeface="Consolas"/>
              </a:rPr>
              <a:t>Grid</a:t>
            </a:r>
            <a:r>
              <a:rPr lang="en-US" sz="1400" dirty="0">
                <a:solidFill>
                  <a:srgbClr val="0000FF"/>
                </a:solidFill>
                <a:latin typeface="Consolas"/>
              </a:rPr>
              <a:t>&gt;</a:t>
            </a:r>
          </a:p>
        </p:txBody>
      </p:sp>
    </p:spTree>
    <p:extLst>
      <p:ext uri="{BB962C8B-B14F-4D97-AF65-F5344CB8AC3E}">
        <p14:creationId xmlns:p14="http://schemas.microsoft.com/office/powerpoint/2010/main" val="35249069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Layout</a:t>
            </a:r>
            <a:endParaRPr lang="en-US" dirty="0"/>
          </a:p>
        </p:txBody>
      </p:sp>
      <p:sp>
        <p:nvSpPr>
          <p:cNvPr id="3" name="Text Placeholder 2"/>
          <p:cNvSpPr>
            <a:spLocks noGrp="1"/>
          </p:cNvSpPr>
          <p:nvPr>
            <p:ph type="body" sz="quarter" idx="10"/>
          </p:nvPr>
        </p:nvSpPr>
        <p:spPr>
          <a:xfrm>
            <a:off x="381000" y="1447800"/>
            <a:ext cx="8363938" cy="4031873"/>
          </a:xfrm>
        </p:spPr>
        <p:txBody>
          <a:bodyPr/>
          <a:lstStyle/>
          <a:p>
            <a:r>
              <a:rPr lang="en-US" dirty="0" smtClean="0"/>
              <a:t>Flexible Layout System</a:t>
            </a:r>
          </a:p>
          <a:p>
            <a:r>
              <a:rPr lang="en-US" dirty="0" smtClean="0"/>
              <a:t>Core Panels</a:t>
            </a:r>
          </a:p>
          <a:p>
            <a:pPr lvl="1"/>
            <a:r>
              <a:rPr lang="en-US" dirty="0" err="1" smtClean="0"/>
              <a:t>StackPanel</a:t>
            </a:r>
            <a:r>
              <a:rPr lang="en-US" dirty="0" smtClean="0"/>
              <a:t>: Vertical or horizontal stacks</a:t>
            </a:r>
          </a:p>
          <a:p>
            <a:pPr lvl="1"/>
            <a:r>
              <a:rPr lang="en-US" dirty="0" err="1" smtClean="0"/>
              <a:t>VirtualizingStackPanel</a:t>
            </a:r>
            <a:r>
              <a:rPr lang="en-US" dirty="0" smtClean="0"/>
              <a:t>: Fast item lists when fixed height</a:t>
            </a:r>
          </a:p>
          <a:p>
            <a:pPr lvl="1"/>
            <a:r>
              <a:rPr lang="en-US" dirty="0" smtClean="0"/>
              <a:t>Grid: Rows, columns, very flexible</a:t>
            </a:r>
          </a:p>
          <a:p>
            <a:r>
              <a:rPr lang="en-US" dirty="0" smtClean="0"/>
              <a:t>Other Panels include Canvas and </a:t>
            </a:r>
            <a:r>
              <a:rPr lang="en-US" dirty="0" err="1" smtClean="0"/>
              <a:t>WrapPanel</a:t>
            </a:r>
            <a:endParaRPr lang="en-US" dirty="0" smtClean="0"/>
          </a:p>
          <a:p>
            <a:endParaRPr lang="en-US" dirty="0"/>
          </a:p>
          <a:p>
            <a:r>
              <a:rPr lang="en-US" dirty="0" smtClean="0"/>
              <a:t>TIP: Avoid using Canvas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11</a:t>
            </a:fld>
            <a:endParaRPr lang="en-US" dirty="0">
              <a:solidFill>
                <a:srgbClr val="6BBD46"/>
              </a:solidFill>
            </a:endParaRPr>
          </a:p>
        </p:txBody>
      </p:sp>
    </p:spTree>
    <p:extLst>
      <p:ext uri="{BB962C8B-B14F-4D97-AF65-F5344CB8AC3E}">
        <p14:creationId xmlns:p14="http://schemas.microsoft.com/office/powerpoint/2010/main" val="24100071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visual concepts</a:t>
            </a:r>
            <a:endParaRPr lang="en-US" dirty="0"/>
          </a:p>
        </p:txBody>
      </p:sp>
      <p:sp>
        <p:nvSpPr>
          <p:cNvPr id="3" name="Text Placeholder 2"/>
          <p:cNvSpPr>
            <a:spLocks noGrp="1"/>
          </p:cNvSpPr>
          <p:nvPr>
            <p:ph type="body" sz="quarter" idx="10"/>
          </p:nvPr>
        </p:nvSpPr>
        <p:spPr>
          <a:xfrm>
            <a:off x="381000" y="1447800"/>
            <a:ext cx="8363938" cy="3354765"/>
          </a:xfrm>
        </p:spPr>
        <p:txBody>
          <a:bodyPr/>
          <a:lstStyle/>
          <a:p>
            <a:r>
              <a:rPr lang="en-US" dirty="0" smtClean="0"/>
              <a:t>Transforms</a:t>
            </a:r>
          </a:p>
          <a:p>
            <a:pPr lvl="1"/>
            <a:r>
              <a:rPr lang="en-US" dirty="0" smtClean="0"/>
              <a:t>Apply to any element</a:t>
            </a:r>
          </a:p>
          <a:p>
            <a:pPr lvl="1"/>
            <a:r>
              <a:rPr lang="en-US" dirty="0" smtClean="0"/>
              <a:t>Scale, skew, translate, matrix, etc.</a:t>
            </a:r>
          </a:p>
          <a:p>
            <a:pPr lvl="1"/>
            <a:r>
              <a:rPr lang="en-US" dirty="0" smtClean="0"/>
              <a:t>Projections – apply 3D to a 2D element</a:t>
            </a:r>
          </a:p>
          <a:p>
            <a:r>
              <a:rPr lang="en-US" dirty="0" smtClean="0"/>
              <a:t>Animations</a:t>
            </a:r>
          </a:p>
          <a:p>
            <a:pPr lvl="1"/>
            <a:r>
              <a:rPr lang="en-US" dirty="0" smtClean="0"/>
              <a:t>Built from </a:t>
            </a:r>
            <a:r>
              <a:rPr lang="en-US" dirty="0" err="1" smtClean="0"/>
              <a:t>keyframes</a:t>
            </a:r>
            <a:r>
              <a:rPr lang="en-US" dirty="0" smtClean="0"/>
              <a:t> in storyboards</a:t>
            </a:r>
          </a:p>
          <a:p>
            <a:pPr lvl="1"/>
            <a:r>
              <a:rPr lang="en-US" dirty="0" smtClean="0"/>
              <a:t>Blend is what you want to use instead of hand-coding!</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12</a:t>
            </a:fld>
            <a:endParaRPr lang="en-US" dirty="0">
              <a:solidFill>
                <a:srgbClr val="6BBD46"/>
              </a:solidFill>
            </a:endParaRPr>
          </a:p>
        </p:txBody>
      </p:sp>
    </p:spTree>
    <p:extLst>
      <p:ext uri="{BB962C8B-B14F-4D97-AF65-F5344CB8AC3E}">
        <p14:creationId xmlns:p14="http://schemas.microsoft.com/office/powerpoint/2010/main" val="30657047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Styling</a:t>
            </a:r>
            <a:endParaRPr lang="en-US" dirty="0"/>
          </a:p>
        </p:txBody>
      </p:sp>
      <p:sp>
        <p:nvSpPr>
          <p:cNvPr id="3" name="Text Placeholder 2"/>
          <p:cNvSpPr>
            <a:spLocks noGrp="1"/>
          </p:cNvSpPr>
          <p:nvPr>
            <p:ph type="body" sz="quarter" idx="10"/>
          </p:nvPr>
        </p:nvSpPr>
        <p:spPr>
          <a:xfrm>
            <a:off x="381000" y="1447800"/>
            <a:ext cx="8363938" cy="2406813"/>
          </a:xfrm>
        </p:spPr>
        <p:txBody>
          <a:bodyPr/>
          <a:lstStyle/>
          <a:p>
            <a:r>
              <a:rPr lang="en-US" dirty="0" smtClean="0"/>
              <a:t>Phone styles are built in</a:t>
            </a:r>
          </a:p>
          <a:p>
            <a:pPr lvl="1"/>
            <a:r>
              <a:rPr lang="en-US" dirty="0" smtClean="0"/>
              <a:t>Normal text, large text, etc.</a:t>
            </a:r>
          </a:p>
          <a:p>
            <a:pPr lvl="1"/>
            <a:r>
              <a:rPr lang="en-US" dirty="0" smtClean="0"/>
              <a:t>Aware of phone themes (accent color, light &amp; dark, …)</a:t>
            </a:r>
          </a:p>
          <a:p>
            <a:r>
              <a:rPr lang="en-US" dirty="0" smtClean="0"/>
              <a:t>Can also create your own styles</a:t>
            </a:r>
          </a:p>
          <a:p>
            <a:pPr lvl="1"/>
            <a:r>
              <a:rPr lang="en-US" dirty="0" smtClean="0"/>
              <a:t>Per-app, per-page, or per-element</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13</a:t>
            </a:fld>
            <a:endParaRPr lang="en-US" dirty="0">
              <a:solidFill>
                <a:srgbClr val="6BBD46"/>
              </a:solidFill>
            </a:endParaRPr>
          </a:p>
        </p:txBody>
      </p:sp>
      <p:sp>
        <p:nvSpPr>
          <p:cNvPr id="5" name="Rectangle 4"/>
          <p:cNvSpPr/>
          <p:nvPr/>
        </p:nvSpPr>
        <p:spPr bwMode="auto">
          <a:xfrm>
            <a:off x="397885" y="3985129"/>
            <a:ext cx="8304835" cy="1428782"/>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a:solidFill>
                  <a:srgbClr val="0000FF"/>
                </a:solidFill>
                <a:latin typeface="Consolas"/>
              </a:rPr>
              <a:t>&lt;</a:t>
            </a:r>
            <a:r>
              <a:rPr lang="en-US" sz="1600" dirty="0">
                <a:solidFill>
                  <a:srgbClr val="A31515"/>
                </a:solidFill>
                <a:latin typeface="Consolas"/>
              </a:rPr>
              <a:t>Style</a:t>
            </a:r>
            <a:r>
              <a:rPr lang="en-US" sz="1600" dirty="0">
                <a:solidFill>
                  <a:srgbClr val="FF0000"/>
                </a:solidFill>
                <a:latin typeface="Consolas"/>
              </a:rPr>
              <a:t> </a:t>
            </a:r>
            <a:r>
              <a:rPr lang="en-US" sz="1600" dirty="0" err="1">
                <a:solidFill>
                  <a:srgbClr val="FF0000"/>
                </a:solidFill>
                <a:latin typeface="Consolas"/>
              </a:rPr>
              <a:t>TargetType</a:t>
            </a:r>
            <a:r>
              <a:rPr lang="en-US" sz="1600" dirty="0">
                <a:solidFill>
                  <a:srgbClr val="0000FF"/>
                </a:solidFill>
                <a:latin typeface="Consolas"/>
              </a:rPr>
              <a:t>="</a:t>
            </a:r>
            <a:r>
              <a:rPr lang="en-US" sz="1600" dirty="0" err="1">
                <a:solidFill>
                  <a:srgbClr val="0000FF"/>
                </a:solidFill>
                <a:latin typeface="Consolas"/>
              </a:rPr>
              <a:t>TextBlock</a:t>
            </a:r>
            <a:r>
              <a:rPr lang="en-US" sz="1600" dirty="0">
                <a:solidFill>
                  <a:srgbClr val="0000FF"/>
                </a:solidFill>
                <a:latin typeface="Consolas"/>
              </a:rPr>
              <a:t>"</a:t>
            </a:r>
            <a:endParaRPr lang="en-US" sz="1600" dirty="0">
              <a:solidFill>
                <a:prstClr val="black"/>
              </a:solidFill>
              <a:latin typeface="Consolas"/>
            </a:endParaRPr>
          </a:p>
          <a:p>
            <a:r>
              <a:rPr lang="en-US" sz="1600" dirty="0">
                <a:solidFill>
                  <a:prstClr val="black"/>
                </a:solidFill>
                <a:latin typeface="Consolas"/>
              </a:rPr>
              <a:t>      </a:t>
            </a:r>
            <a:r>
              <a:rPr lang="en-US" sz="1600" dirty="0">
                <a:solidFill>
                  <a:srgbClr val="FF0000"/>
                </a:solidFill>
                <a:latin typeface="Consolas"/>
              </a:rPr>
              <a:t> x</a:t>
            </a:r>
            <a:r>
              <a:rPr lang="en-US" sz="1600" dirty="0">
                <a:solidFill>
                  <a:srgbClr val="0000FF"/>
                </a:solidFill>
                <a:latin typeface="Consolas"/>
              </a:rPr>
              <a:t>:</a:t>
            </a:r>
            <a:r>
              <a:rPr lang="en-US" sz="1600" dirty="0">
                <a:solidFill>
                  <a:srgbClr val="FF0000"/>
                </a:solidFill>
                <a:latin typeface="Consolas"/>
              </a:rPr>
              <a:t>Key</a:t>
            </a:r>
            <a:r>
              <a:rPr lang="en-US" sz="1600" dirty="0">
                <a:solidFill>
                  <a:srgbClr val="0000FF"/>
                </a:solidFill>
                <a:latin typeface="Consolas"/>
              </a:rPr>
              <a:t>="SubHeadingText"&gt;</a:t>
            </a:r>
            <a:endParaRPr lang="en-US" sz="1600" dirty="0">
              <a:solidFill>
                <a:prstClr val="black"/>
              </a:solidFill>
              <a:latin typeface="Consolas"/>
            </a:endParaRPr>
          </a:p>
          <a:p>
            <a:r>
              <a:rPr lang="en-US" sz="1600" dirty="0">
                <a:solidFill>
                  <a:srgbClr val="A31515"/>
                </a:solidFill>
                <a:latin typeface="Consolas"/>
              </a:rPr>
              <a:t>    </a:t>
            </a:r>
            <a:r>
              <a:rPr lang="en-US" sz="1600" dirty="0">
                <a:solidFill>
                  <a:srgbClr val="0000FF"/>
                </a:solidFill>
                <a:latin typeface="Consolas"/>
              </a:rPr>
              <a:t>&lt;</a:t>
            </a:r>
            <a:r>
              <a:rPr lang="en-US" sz="1600" dirty="0">
                <a:solidFill>
                  <a:srgbClr val="A31515"/>
                </a:solidFill>
                <a:latin typeface="Consolas"/>
              </a:rPr>
              <a:t>Setter</a:t>
            </a:r>
            <a:r>
              <a:rPr lang="en-US" sz="1600" dirty="0">
                <a:solidFill>
                  <a:srgbClr val="FF0000"/>
                </a:solidFill>
                <a:latin typeface="Consolas"/>
              </a:rPr>
              <a:t> Property</a:t>
            </a:r>
            <a:r>
              <a:rPr lang="en-US" sz="1600" dirty="0">
                <a:solidFill>
                  <a:srgbClr val="0000FF"/>
                </a:solidFill>
                <a:latin typeface="Consolas"/>
              </a:rPr>
              <a:t>="</a:t>
            </a:r>
            <a:r>
              <a:rPr lang="en-US" sz="1600" dirty="0" err="1" smtClean="0">
                <a:solidFill>
                  <a:srgbClr val="0000FF"/>
                </a:solidFill>
                <a:latin typeface="Consolas"/>
              </a:rPr>
              <a:t>FontSize</a:t>
            </a:r>
            <a:r>
              <a:rPr lang="en-US" sz="1600" dirty="0" smtClean="0">
                <a:solidFill>
                  <a:srgbClr val="0000FF"/>
                </a:solidFill>
                <a:latin typeface="Consolas"/>
              </a:rPr>
              <a:t>”</a:t>
            </a:r>
            <a:r>
              <a:rPr lang="en-US" sz="1600" dirty="0" smtClean="0">
                <a:solidFill>
                  <a:prstClr val="black"/>
                </a:solidFill>
                <a:latin typeface="Consolas"/>
              </a:rPr>
              <a:t> </a:t>
            </a:r>
            <a:r>
              <a:rPr lang="en-US" sz="1600" dirty="0" smtClean="0">
                <a:solidFill>
                  <a:srgbClr val="FF0000"/>
                </a:solidFill>
                <a:latin typeface="Consolas"/>
              </a:rPr>
              <a:t>Value</a:t>
            </a:r>
            <a:r>
              <a:rPr lang="en-US" sz="1600" dirty="0" smtClean="0">
                <a:solidFill>
                  <a:srgbClr val="0000FF"/>
                </a:solidFill>
                <a:latin typeface="Consolas"/>
              </a:rPr>
              <a:t>="42" /&gt;</a:t>
            </a:r>
            <a:endParaRPr lang="en-US" sz="1600" dirty="0" smtClean="0">
              <a:solidFill>
                <a:prstClr val="black"/>
              </a:solidFill>
              <a:latin typeface="Consolas"/>
            </a:endParaRPr>
          </a:p>
          <a:p>
            <a:r>
              <a:rPr lang="en-US" sz="1600" dirty="0" smtClean="0">
                <a:solidFill>
                  <a:srgbClr val="A31515"/>
                </a:solidFill>
                <a:latin typeface="Consolas"/>
              </a:rPr>
              <a:t>    </a:t>
            </a:r>
            <a:r>
              <a:rPr lang="en-US" sz="1600" dirty="0">
                <a:solidFill>
                  <a:srgbClr val="0000FF"/>
                </a:solidFill>
                <a:latin typeface="Consolas"/>
              </a:rPr>
              <a:t>&lt;</a:t>
            </a:r>
            <a:r>
              <a:rPr lang="en-US" sz="1600" dirty="0">
                <a:solidFill>
                  <a:srgbClr val="A31515"/>
                </a:solidFill>
                <a:latin typeface="Consolas"/>
              </a:rPr>
              <a:t>Setter</a:t>
            </a:r>
            <a:r>
              <a:rPr lang="en-US" sz="1600" dirty="0">
                <a:solidFill>
                  <a:srgbClr val="FF0000"/>
                </a:solidFill>
                <a:latin typeface="Consolas"/>
              </a:rPr>
              <a:t> Property</a:t>
            </a:r>
            <a:r>
              <a:rPr lang="en-US" sz="1600" dirty="0">
                <a:solidFill>
                  <a:srgbClr val="0000FF"/>
                </a:solidFill>
                <a:latin typeface="Consolas"/>
              </a:rPr>
              <a:t>="</a:t>
            </a:r>
            <a:r>
              <a:rPr lang="en-US" sz="1600" dirty="0" smtClean="0">
                <a:solidFill>
                  <a:srgbClr val="0000FF"/>
                </a:solidFill>
                <a:latin typeface="Consolas"/>
              </a:rPr>
              <a:t>Foreground“ </a:t>
            </a:r>
            <a:r>
              <a:rPr lang="en-US" sz="1600" dirty="0" smtClean="0">
                <a:solidFill>
                  <a:srgbClr val="FF0000"/>
                </a:solidFill>
                <a:latin typeface="Consolas"/>
              </a:rPr>
              <a:t>Value</a:t>
            </a:r>
            <a:r>
              <a:rPr lang="en-US" sz="1600" dirty="0">
                <a:solidFill>
                  <a:srgbClr val="0000FF"/>
                </a:solidFill>
                <a:latin typeface="Consolas"/>
              </a:rPr>
              <a:t>="Blue" /&gt;</a:t>
            </a:r>
            <a:endParaRPr lang="en-US" sz="1600" dirty="0">
              <a:solidFill>
                <a:prstClr val="black"/>
              </a:solidFill>
              <a:latin typeface="Consolas"/>
            </a:endParaRPr>
          </a:p>
          <a:p>
            <a:r>
              <a:rPr lang="en-US" sz="1600" dirty="0">
                <a:solidFill>
                  <a:srgbClr val="0000FF"/>
                </a:solidFill>
                <a:latin typeface="Consolas"/>
              </a:rPr>
              <a:t>&lt;/</a:t>
            </a:r>
            <a:r>
              <a:rPr lang="en-US" sz="1600" dirty="0">
                <a:solidFill>
                  <a:srgbClr val="A31515"/>
                </a:solidFill>
                <a:latin typeface="Consolas"/>
              </a:rPr>
              <a:t>Style</a:t>
            </a:r>
            <a:r>
              <a:rPr lang="en-US" sz="1600" dirty="0">
                <a:solidFill>
                  <a:srgbClr val="0000FF"/>
                </a:solidFill>
                <a:latin typeface="Consolas"/>
              </a:rPr>
              <a:t>&gt;</a:t>
            </a:r>
          </a:p>
        </p:txBody>
      </p:sp>
      <p:sp>
        <p:nvSpPr>
          <p:cNvPr id="6" name="Rectangle 5"/>
          <p:cNvSpPr/>
          <p:nvPr/>
        </p:nvSpPr>
        <p:spPr bwMode="auto">
          <a:xfrm>
            <a:off x="397885" y="5595581"/>
            <a:ext cx="8304835" cy="787337"/>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smtClean="0">
                <a:solidFill>
                  <a:srgbClr val="0000FF"/>
                </a:solidFill>
                <a:latin typeface="Consolas"/>
              </a:rPr>
              <a:t>&lt;</a:t>
            </a:r>
            <a:r>
              <a:rPr lang="en-US" sz="1600" dirty="0" err="1" smtClean="0">
                <a:solidFill>
                  <a:srgbClr val="A31515"/>
                </a:solidFill>
                <a:latin typeface="Consolas"/>
              </a:rPr>
              <a:t>TextBlock</a:t>
            </a:r>
            <a:r>
              <a:rPr lang="en-US" sz="1600" dirty="0" smtClean="0">
                <a:solidFill>
                  <a:srgbClr val="A31515"/>
                </a:solidFill>
                <a:latin typeface="Consolas"/>
              </a:rPr>
              <a:t> </a:t>
            </a:r>
            <a:r>
              <a:rPr lang="en-US" sz="1600" dirty="0" smtClean="0">
                <a:solidFill>
                  <a:srgbClr val="FF0000"/>
                </a:solidFill>
                <a:latin typeface="Consolas"/>
              </a:rPr>
              <a:t>Text</a:t>
            </a:r>
            <a:r>
              <a:rPr lang="en-US" sz="1600" dirty="0" smtClean="0">
                <a:solidFill>
                  <a:srgbClr val="0000FF"/>
                </a:solidFill>
                <a:latin typeface="Consolas"/>
              </a:rPr>
              <a:t>=“What’s up?“</a:t>
            </a:r>
          </a:p>
          <a:p>
            <a:r>
              <a:rPr lang="en-US" sz="1600" dirty="0">
                <a:solidFill>
                  <a:srgbClr val="0000FF"/>
                </a:solidFill>
                <a:latin typeface="Consolas"/>
              </a:rPr>
              <a:t> </a:t>
            </a:r>
            <a:r>
              <a:rPr lang="en-US" sz="1600" dirty="0" smtClean="0">
                <a:solidFill>
                  <a:srgbClr val="0000FF"/>
                </a:solidFill>
                <a:latin typeface="Consolas"/>
              </a:rPr>
              <a:t>          </a:t>
            </a:r>
            <a:r>
              <a:rPr lang="en-US" sz="1600" dirty="0" smtClean="0">
                <a:solidFill>
                  <a:srgbClr val="FF0000"/>
                </a:solidFill>
                <a:latin typeface="Consolas"/>
              </a:rPr>
              <a:t>Style</a:t>
            </a:r>
            <a:r>
              <a:rPr lang="en-US" sz="1600" dirty="0" smtClean="0">
                <a:solidFill>
                  <a:srgbClr val="0000FF"/>
                </a:solidFill>
                <a:latin typeface="Consolas"/>
              </a:rPr>
              <a:t>=“{</a:t>
            </a:r>
            <a:r>
              <a:rPr lang="en-US" sz="1600" dirty="0" err="1" smtClean="0">
                <a:solidFill>
                  <a:srgbClr val="0000FF"/>
                </a:solidFill>
                <a:latin typeface="Consolas"/>
              </a:rPr>
              <a:t>StaticResource</a:t>
            </a:r>
            <a:r>
              <a:rPr lang="en-US" sz="1600" dirty="0" smtClean="0">
                <a:solidFill>
                  <a:srgbClr val="0000FF"/>
                </a:solidFill>
                <a:latin typeface="Consolas"/>
              </a:rPr>
              <a:t> </a:t>
            </a:r>
            <a:r>
              <a:rPr lang="en-US" sz="1600" dirty="0" err="1" smtClean="0">
                <a:solidFill>
                  <a:srgbClr val="0000FF"/>
                </a:solidFill>
                <a:latin typeface="Consolas"/>
              </a:rPr>
              <a:t>SubHeadingText</a:t>
            </a:r>
            <a:r>
              <a:rPr lang="en-US" sz="1600" dirty="0" smtClean="0">
                <a:solidFill>
                  <a:srgbClr val="0000FF"/>
                </a:solidFill>
                <a:latin typeface="Consolas"/>
              </a:rPr>
              <a:t>}“/&gt;</a:t>
            </a:r>
            <a:endParaRPr lang="en-US" sz="1600" dirty="0">
              <a:solidFill>
                <a:prstClr val="black"/>
              </a:solidFill>
              <a:latin typeface="Consolas"/>
            </a:endParaRPr>
          </a:p>
        </p:txBody>
      </p:sp>
    </p:spTree>
    <p:extLst>
      <p:ext uri="{BB962C8B-B14F-4D97-AF65-F5344CB8AC3E}">
        <p14:creationId xmlns:p14="http://schemas.microsoft.com/office/powerpoint/2010/main" val="32310210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Touch Events</a:t>
            </a:r>
            <a:endParaRPr lang="en-US" dirty="0"/>
          </a:p>
        </p:txBody>
      </p:sp>
      <p:sp>
        <p:nvSpPr>
          <p:cNvPr id="3" name="Text Placeholder 2"/>
          <p:cNvSpPr>
            <a:spLocks noGrp="1"/>
          </p:cNvSpPr>
          <p:nvPr>
            <p:ph type="body" sz="quarter" idx="10"/>
          </p:nvPr>
        </p:nvSpPr>
        <p:spPr>
          <a:xfrm>
            <a:off x="381000" y="1447800"/>
            <a:ext cx="8363938" cy="2542234"/>
          </a:xfrm>
        </p:spPr>
        <p:txBody>
          <a:bodyPr/>
          <a:lstStyle/>
          <a:p>
            <a:r>
              <a:rPr lang="en-US" dirty="0" smtClean="0"/>
              <a:t>Events exposed by UI elements</a:t>
            </a:r>
            <a:endParaRPr lang="en-US" dirty="0"/>
          </a:p>
          <a:p>
            <a:r>
              <a:rPr lang="en-US" dirty="0" smtClean="0"/>
              <a:t>Raw Touch Points</a:t>
            </a:r>
          </a:p>
          <a:p>
            <a:r>
              <a:rPr lang="en-US" dirty="0" smtClean="0"/>
              <a:t>Silverlight Toolkit </a:t>
            </a:r>
            <a:r>
              <a:rPr lang="en-US" dirty="0" err="1" smtClean="0"/>
              <a:t>GestureService</a:t>
            </a:r>
            <a:endParaRPr lang="en-US" dirty="0" smtClean="0"/>
          </a:p>
          <a:p>
            <a:pPr lvl="1"/>
            <a:r>
              <a:rPr lang="en-US" dirty="0" smtClean="0"/>
              <a:t>Tap, </a:t>
            </a:r>
            <a:r>
              <a:rPr lang="en-US" dirty="0" err="1" smtClean="0"/>
              <a:t>DoubleTap</a:t>
            </a:r>
            <a:r>
              <a:rPr lang="en-US" dirty="0" smtClean="0"/>
              <a:t>, Hold, Flick, Drag &amp; Pinch events</a:t>
            </a:r>
          </a:p>
          <a:p>
            <a:r>
              <a:rPr lang="en-US" dirty="0" smtClean="0"/>
              <a:t>XNA offers a ‘</a:t>
            </a:r>
            <a:r>
              <a:rPr lang="en-US" dirty="0" err="1" smtClean="0"/>
              <a:t>TouchPanel</a:t>
            </a:r>
            <a:r>
              <a:rPr lang="en-US" dirty="0" smtClean="0"/>
              <a:t>’ for gestures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14</a:t>
            </a:fld>
            <a:endParaRPr lang="en-US" dirty="0">
              <a:solidFill>
                <a:srgbClr val="6BBD46"/>
              </a:solidFill>
            </a:endParaRPr>
          </a:p>
        </p:txBody>
      </p:sp>
    </p:spTree>
    <p:extLst>
      <p:ext uri="{BB962C8B-B14F-4D97-AF65-F5344CB8AC3E}">
        <p14:creationId xmlns:p14="http://schemas.microsoft.com/office/powerpoint/2010/main" val="27350055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Binding</a:t>
            </a:r>
            <a:endParaRPr lang="en-US" dirty="0"/>
          </a:p>
        </p:txBody>
      </p:sp>
      <p:sp>
        <p:nvSpPr>
          <p:cNvPr id="3" name="Text Placeholder 2"/>
          <p:cNvSpPr>
            <a:spLocks noGrp="1"/>
          </p:cNvSpPr>
          <p:nvPr>
            <p:ph type="body" sz="quarter" idx="10"/>
          </p:nvPr>
        </p:nvSpPr>
        <p:spPr>
          <a:xfrm>
            <a:off x="381000" y="1447800"/>
            <a:ext cx="8363938" cy="3016210"/>
          </a:xfrm>
        </p:spPr>
        <p:txBody>
          <a:bodyPr/>
          <a:lstStyle/>
          <a:p>
            <a:r>
              <a:rPr lang="en-US" dirty="0" smtClean="0"/>
              <a:t>Decouples apps and views when using MVVM</a:t>
            </a:r>
          </a:p>
          <a:p>
            <a:r>
              <a:rPr lang="en-US" dirty="0" smtClean="0"/>
              <a:t>Two types of binding</a:t>
            </a:r>
          </a:p>
          <a:p>
            <a:pPr lvl="1"/>
            <a:r>
              <a:rPr lang="en-US" dirty="0" smtClean="0"/>
              <a:t>Property binding (i.e. Foreground color)</a:t>
            </a:r>
          </a:p>
          <a:p>
            <a:pPr lvl="1"/>
            <a:r>
              <a:rPr lang="en-US" dirty="0" smtClean="0"/>
              <a:t>List binding (List of people)</a:t>
            </a:r>
          </a:p>
          <a:p>
            <a:r>
              <a:rPr lang="en-US" dirty="0" smtClean="0"/>
              <a:t>Set </a:t>
            </a:r>
            <a:r>
              <a:rPr lang="en-US" dirty="0" err="1" smtClean="0"/>
              <a:t>DataContext</a:t>
            </a:r>
            <a:r>
              <a:rPr lang="en-US" dirty="0" smtClean="0"/>
              <a:t> on an element tree</a:t>
            </a:r>
          </a:p>
          <a:p>
            <a:r>
              <a:rPr lang="en-US" dirty="0" smtClean="0"/>
              <a:t>Based on a change notification system</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15</a:t>
            </a:fld>
            <a:endParaRPr lang="en-US" dirty="0">
              <a:solidFill>
                <a:srgbClr val="6BBD46"/>
              </a:solidFill>
            </a:endParaRPr>
          </a:p>
        </p:txBody>
      </p:sp>
      <p:sp>
        <p:nvSpPr>
          <p:cNvPr id="5" name="Rectangle 4"/>
          <p:cNvSpPr/>
          <p:nvPr/>
        </p:nvSpPr>
        <p:spPr bwMode="auto">
          <a:xfrm>
            <a:off x="397885" y="4763069"/>
            <a:ext cx="8304835" cy="1169466"/>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smtClean="0">
                <a:solidFill>
                  <a:srgbClr val="0000FF"/>
                </a:solidFill>
                <a:latin typeface="Consolas"/>
              </a:rPr>
              <a:t>&lt;</a:t>
            </a:r>
            <a:r>
              <a:rPr lang="en-US" sz="1600" dirty="0" err="1" smtClean="0">
                <a:solidFill>
                  <a:srgbClr val="A31515"/>
                </a:solidFill>
                <a:latin typeface="Consolas"/>
              </a:rPr>
              <a:t>TextBlock</a:t>
            </a:r>
            <a:r>
              <a:rPr lang="en-US" sz="1600" dirty="0" smtClean="0">
                <a:solidFill>
                  <a:srgbClr val="FF0000"/>
                </a:solidFill>
                <a:latin typeface="Consolas"/>
              </a:rPr>
              <a:t> Text</a:t>
            </a:r>
            <a:r>
              <a:rPr lang="en-US" sz="1600" dirty="0" smtClean="0">
                <a:solidFill>
                  <a:srgbClr val="0000FF"/>
                </a:solidFill>
                <a:latin typeface="Consolas"/>
              </a:rPr>
              <a:t>=“{Binding Name}”</a:t>
            </a:r>
          </a:p>
          <a:p>
            <a:r>
              <a:rPr lang="en-US" sz="1600" dirty="0" smtClean="0">
                <a:solidFill>
                  <a:srgbClr val="0000FF"/>
                </a:solidFill>
                <a:latin typeface="Consolas"/>
              </a:rPr>
              <a:t>           </a:t>
            </a:r>
            <a:r>
              <a:rPr lang="en-US" sz="1600" dirty="0" smtClean="0">
                <a:solidFill>
                  <a:srgbClr val="FF0000"/>
                </a:solidFill>
                <a:latin typeface="Consolas"/>
              </a:rPr>
              <a:t>Foreground</a:t>
            </a:r>
            <a:r>
              <a:rPr lang="en-US" sz="1600" dirty="0" smtClean="0">
                <a:solidFill>
                  <a:srgbClr val="0000FF"/>
                </a:solidFill>
                <a:latin typeface="Consolas"/>
              </a:rPr>
              <a:t>=“{</a:t>
            </a:r>
            <a:r>
              <a:rPr lang="en-US" sz="1600" dirty="0">
                <a:solidFill>
                  <a:srgbClr val="0000FF"/>
                </a:solidFill>
                <a:latin typeface="Consolas"/>
              </a:rPr>
              <a:t>Binding </a:t>
            </a:r>
            <a:r>
              <a:rPr lang="en-US" sz="1600" dirty="0" smtClean="0">
                <a:solidFill>
                  <a:srgbClr val="0000FF"/>
                </a:solidFill>
                <a:latin typeface="Consolas"/>
              </a:rPr>
              <a:t>Name, Converter={</a:t>
            </a:r>
            <a:r>
              <a:rPr lang="en-US" sz="1600" dirty="0" err="1" smtClean="0">
                <a:solidFill>
                  <a:srgbClr val="0000FF"/>
                </a:solidFill>
                <a:latin typeface="Consolas"/>
              </a:rPr>
              <a:t>StaticResource</a:t>
            </a:r>
            <a:r>
              <a:rPr lang="en-US" sz="1600" dirty="0" smtClean="0">
                <a:solidFill>
                  <a:srgbClr val="0000FF"/>
                </a:solidFill>
                <a:latin typeface="Consolas"/>
              </a:rPr>
              <a:t> </a:t>
            </a:r>
            <a:r>
              <a:rPr lang="en-US" sz="1600" dirty="0" err="1" smtClean="0">
                <a:solidFill>
                  <a:srgbClr val="0000FF"/>
                </a:solidFill>
                <a:latin typeface="Consolas"/>
              </a:rPr>
              <a:t>MyPersonForegroundBrushSelector</a:t>
            </a:r>
            <a:r>
              <a:rPr lang="en-US" sz="1600" dirty="0" smtClean="0">
                <a:solidFill>
                  <a:srgbClr val="0000FF"/>
                </a:solidFill>
                <a:latin typeface="Consolas"/>
              </a:rPr>
              <a:t>}}”</a:t>
            </a:r>
            <a:r>
              <a:rPr lang="en-US" sz="1600" dirty="0" smtClean="0">
                <a:solidFill>
                  <a:prstClr val="black"/>
                </a:solidFill>
                <a:latin typeface="Consolas"/>
              </a:rPr>
              <a:t> </a:t>
            </a:r>
            <a:r>
              <a:rPr lang="en-US" sz="1600" dirty="0">
                <a:solidFill>
                  <a:prstClr val="black"/>
                </a:solidFill>
                <a:latin typeface="Consolas"/>
              </a:rPr>
              <a:t>/</a:t>
            </a:r>
            <a:r>
              <a:rPr lang="en-US" sz="1600" dirty="0">
                <a:solidFill>
                  <a:srgbClr val="0000FF"/>
                </a:solidFill>
                <a:latin typeface="Consolas"/>
              </a:rPr>
              <a:t>&gt;</a:t>
            </a:r>
            <a:endParaRPr lang="en-US" sz="1600" dirty="0">
              <a:solidFill>
                <a:prstClr val="black"/>
              </a:solidFill>
              <a:latin typeface="Consolas"/>
            </a:endParaRPr>
          </a:p>
        </p:txBody>
      </p:sp>
    </p:spTree>
    <p:extLst>
      <p:ext uri="{BB962C8B-B14F-4D97-AF65-F5344CB8AC3E}">
        <p14:creationId xmlns:p14="http://schemas.microsoft.com/office/powerpoint/2010/main" val="21229123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Property Change Notifications</a:t>
            </a:r>
            <a:endParaRPr lang="en-US" dirty="0"/>
          </a:p>
        </p:txBody>
      </p:sp>
      <p:sp>
        <p:nvSpPr>
          <p:cNvPr id="3" name="Text Placeholder 2"/>
          <p:cNvSpPr>
            <a:spLocks noGrp="1"/>
          </p:cNvSpPr>
          <p:nvPr>
            <p:ph type="body" sz="quarter" idx="10"/>
          </p:nvPr>
        </p:nvSpPr>
        <p:spPr>
          <a:xfrm>
            <a:off x="381000" y="1447800"/>
            <a:ext cx="8363938" cy="2406813"/>
          </a:xfrm>
        </p:spPr>
        <p:txBody>
          <a:bodyPr/>
          <a:lstStyle/>
          <a:p>
            <a:r>
              <a:rPr lang="en-US" dirty="0" smtClean="0"/>
              <a:t>Data objects implement </a:t>
            </a:r>
            <a:r>
              <a:rPr lang="en-US" dirty="0" err="1" smtClean="0"/>
              <a:t>INotifyPropertyChanged</a:t>
            </a:r>
            <a:endParaRPr lang="en-US" dirty="0" smtClean="0"/>
          </a:p>
          <a:p>
            <a:pPr lvl="1"/>
            <a:r>
              <a:rPr lang="en-US" dirty="0"/>
              <a:t>TIP: Don’t use Reflection </a:t>
            </a:r>
            <a:r>
              <a:rPr lang="en-US" dirty="0" smtClean="0"/>
              <a:t>here</a:t>
            </a:r>
            <a:endParaRPr lang="en-US" dirty="0"/>
          </a:p>
          <a:p>
            <a:pPr lvl="1"/>
            <a:r>
              <a:rPr lang="en-US" dirty="0"/>
              <a:t>TIP: Store a single event argument </a:t>
            </a:r>
            <a:r>
              <a:rPr lang="en-US" dirty="0" smtClean="0"/>
              <a:t>instance (</a:t>
            </a:r>
            <a:r>
              <a:rPr lang="en-US" dirty="0" smtClean="0">
                <a:hlinkClick r:id="rId2"/>
              </a:rPr>
              <a:t>link</a:t>
            </a:r>
            <a:r>
              <a:rPr lang="en-US" dirty="0" smtClean="0"/>
              <a:t>)</a:t>
            </a:r>
            <a:endParaRPr lang="en-US" dirty="0"/>
          </a:p>
          <a:p>
            <a:pPr lvl="1"/>
            <a:r>
              <a:rPr lang="en-US" dirty="0"/>
              <a:t>TIP: Constant strings offer a simple level of static </a:t>
            </a:r>
            <a:r>
              <a:rPr lang="en-US" dirty="0" smtClean="0"/>
              <a:t>checking</a:t>
            </a:r>
          </a:p>
          <a:p>
            <a:r>
              <a:rPr lang="en-US" dirty="0" smtClean="0"/>
              <a:t>Collections have </a:t>
            </a:r>
            <a:r>
              <a:rPr lang="en-US" dirty="0" err="1" smtClean="0"/>
              <a:t>INotifyCollectionChanged</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16</a:t>
            </a:fld>
            <a:endParaRPr lang="en-US" dirty="0">
              <a:solidFill>
                <a:srgbClr val="6BBD46"/>
              </a:solidFill>
            </a:endParaRPr>
          </a:p>
        </p:txBody>
      </p:sp>
      <p:sp>
        <p:nvSpPr>
          <p:cNvPr id="5" name="Rectangle 4"/>
          <p:cNvSpPr/>
          <p:nvPr/>
        </p:nvSpPr>
        <p:spPr bwMode="auto">
          <a:xfrm>
            <a:off x="397884" y="3957851"/>
            <a:ext cx="8186557" cy="2388358"/>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smtClean="0">
                <a:solidFill>
                  <a:schemeClr val="tx2"/>
                </a:solidFill>
                <a:latin typeface="Consolas"/>
              </a:rPr>
              <a:t>// Bad for performance</a:t>
            </a:r>
          </a:p>
          <a:p>
            <a:r>
              <a:rPr lang="en-US" sz="1600" dirty="0" err="1" smtClean="0">
                <a:solidFill>
                  <a:srgbClr val="333333"/>
                </a:solidFill>
                <a:latin typeface="Consolas"/>
              </a:rPr>
              <a:t>NotifyPropertyChanged</a:t>
            </a:r>
            <a:r>
              <a:rPr lang="en-US" sz="1600" dirty="0" smtClean="0">
                <a:solidFill>
                  <a:srgbClr val="333333"/>
                </a:solidFill>
                <a:latin typeface="Consolas"/>
              </a:rPr>
              <a:t>(()=&gt; </a:t>
            </a:r>
            <a:r>
              <a:rPr lang="en-US" sz="1600" dirty="0" err="1" smtClean="0">
                <a:solidFill>
                  <a:srgbClr val="333333"/>
                </a:solidFill>
                <a:latin typeface="Consolas"/>
              </a:rPr>
              <a:t>FullName</a:t>
            </a:r>
            <a:r>
              <a:rPr lang="en-US" sz="1600" dirty="0" smtClean="0">
                <a:solidFill>
                  <a:srgbClr val="333333"/>
                </a:solidFill>
                <a:latin typeface="Consolas"/>
              </a:rPr>
              <a:t>);</a:t>
            </a:r>
          </a:p>
          <a:p>
            <a:endParaRPr lang="en-US" sz="1600" dirty="0" smtClean="0">
              <a:solidFill>
                <a:prstClr val="black"/>
              </a:solidFill>
              <a:latin typeface="Consolas"/>
            </a:endParaRPr>
          </a:p>
          <a:p>
            <a:r>
              <a:rPr lang="en-US" sz="1600" dirty="0" smtClean="0">
                <a:solidFill>
                  <a:schemeClr val="tx2"/>
                </a:solidFill>
                <a:latin typeface="Consolas"/>
              </a:rPr>
              <a:t>// Good</a:t>
            </a:r>
          </a:p>
          <a:p>
            <a:r>
              <a:rPr lang="en-US" sz="1600" dirty="0" err="1">
                <a:solidFill>
                  <a:prstClr val="black"/>
                </a:solidFill>
                <a:latin typeface="Consolas"/>
              </a:rPr>
              <a:t>NotifyPropertyChanged</a:t>
            </a:r>
            <a:r>
              <a:rPr lang="en-US" sz="1600" dirty="0">
                <a:solidFill>
                  <a:prstClr val="black"/>
                </a:solidFill>
                <a:latin typeface="Consolas"/>
              </a:rPr>
              <a:t>(“</a:t>
            </a:r>
            <a:r>
              <a:rPr lang="en-US" sz="1600" dirty="0" err="1">
                <a:solidFill>
                  <a:prstClr val="black"/>
                </a:solidFill>
                <a:latin typeface="Consolas"/>
              </a:rPr>
              <a:t>FullName</a:t>
            </a:r>
            <a:r>
              <a:rPr lang="en-US" sz="1600" dirty="0">
                <a:solidFill>
                  <a:prstClr val="black"/>
                </a:solidFill>
                <a:latin typeface="Consolas"/>
              </a:rPr>
              <a:t>”);</a:t>
            </a:r>
            <a:endParaRPr lang="en-US" sz="1600" dirty="0">
              <a:solidFill>
                <a:srgbClr val="0000FF"/>
              </a:solidFill>
              <a:latin typeface="Consolas"/>
            </a:endParaRPr>
          </a:p>
          <a:p>
            <a:endParaRPr lang="en-US" sz="1600" dirty="0" smtClean="0">
              <a:solidFill>
                <a:prstClr val="black"/>
              </a:solidFill>
              <a:latin typeface="Consolas"/>
            </a:endParaRPr>
          </a:p>
          <a:p>
            <a:r>
              <a:rPr lang="en-US" sz="1600" dirty="0" smtClean="0">
                <a:solidFill>
                  <a:schemeClr val="tx2"/>
                </a:solidFill>
                <a:latin typeface="Consolas"/>
              </a:rPr>
              <a:t>// Great</a:t>
            </a:r>
          </a:p>
          <a:p>
            <a:r>
              <a:rPr lang="en-US" sz="1600" dirty="0" err="1" smtClean="0">
                <a:solidFill>
                  <a:prstClr val="black"/>
                </a:solidFill>
                <a:latin typeface="Consolas"/>
              </a:rPr>
              <a:t>NotifyPropertyChanged</a:t>
            </a:r>
            <a:r>
              <a:rPr lang="en-US" sz="1600" dirty="0" smtClean="0">
                <a:solidFill>
                  <a:prstClr val="black"/>
                </a:solidFill>
                <a:latin typeface="Consolas"/>
              </a:rPr>
              <a:t>(</a:t>
            </a:r>
            <a:r>
              <a:rPr lang="en-US" sz="1600" dirty="0" err="1" smtClean="0">
                <a:solidFill>
                  <a:prstClr val="black"/>
                </a:solidFill>
                <a:latin typeface="Consolas"/>
              </a:rPr>
              <a:t>PropertyFullName</a:t>
            </a:r>
            <a:r>
              <a:rPr lang="en-US" sz="1600" dirty="0" smtClean="0">
                <a:solidFill>
                  <a:prstClr val="black"/>
                </a:solidFill>
                <a:latin typeface="Consolas"/>
              </a:rPr>
              <a:t>);</a:t>
            </a:r>
          </a:p>
        </p:txBody>
      </p:sp>
    </p:spTree>
    <p:extLst>
      <p:ext uri="{BB962C8B-B14F-4D97-AF65-F5344CB8AC3E}">
        <p14:creationId xmlns:p14="http://schemas.microsoft.com/office/powerpoint/2010/main" val="20101190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and Design Reuse</a:t>
            </a:r>
            <a:endParaRPr lang="en-US" dirty="0"/>
          </a:p>
        </p:txBody>
      </p:sp>
      <p:sp>
        <p:nvSpPr>
          <p:cNvPr id="3" name="Text Placeholder 2"/>
          <p:cNvSpPr>
            <a:spLocks noGrp="1"/>
          </p:cNvSpPr>
          <p:nvPr>
            <p:ph type="body" sz="quarter" idx="10"/>
          </p:nvPr>
        </p:nvSpPr>
        <p:spPr>
          <a:xfrm>
            <a:off x="381000" y="1447800"/>
            <a:ext cx="8363938" cy="4431983"/>
          </a:xfrm>
        </p:spPr>
        <p:txBody>
          <a:bodyPr/>
          <a:lstStyle/>
          <a:p>
            <a:r>
              <a:rPr lang="en-US" sz="2800" dirty="0" smtClean="0"/>
              <a:t>User interface</a:t>
            </a:r>
          </a:p>
          <a:p>
            <a:pPr lvl="1"/>
            <a:r>
              <a:rPr lang="en-US" dirty="0" smtClean="0"/>
              <a:t>Pages and user controls</a:t>
            </a:r>
          </a:p>
          <a:p>
            <a:pPr lvl="1"/>
            <a:r>
              <a:rPr lang="en-US" dirty="0" smtClean="0"/>
              <a:t>Custom controls</a:t>
            </a:r>
          </a:p>
          <a:p>
            <a:r>
              <a:rPr lang="en-US" sz="2800" dirty="0" smtClean="0"/>
              <a:t>Code</a:t>
            </a:r>
            <a:endParaRPr lang="en-US" dirty="0" smtClean="0"/>
          </a:p>
          <a:p>
            <a:pPr lvl="1"/>
            <a:r>
              <a:rPr lang="en-US" dirty="0" smtClean="0"/>
              <a:t>Class and control library projects</a:t>
            </a:r>
          </a:p>
          <a:p>
            <a:pPr lvl="1"/>
            <a:r>
              <a:rPr lang="en-US" dirty="0" smtClean="0"/>
              <a:t>Across the .NET platform</a:t>
            </a:r>
          </a:p>
          <a:p>
            <a:pPr lvl="2"/>
            <a:r>
              <a:rPr lang="en-US" dirty="0" smtClean="0"/>
              <a:t>Silverlight plugin (Mac, Windows)</a:t>
            </a:r>
          </a:p>
          <a:p>
            <a:pPr lvl="2"/>
            <a:r>
              <a:rPr lang="en-US" dirty="0" smtClean="0"/>
              <a:t>Other platforms (Mono)</a:t>
            </a:r>
          </a:p>
          <a:p>
            <a:r>
              <a:rPr lang="en-US" sz="2800" dirty="0" smtClean="0"/>
              <a:t>TIP: Carefully evaluate </a:t>
            </a:r>
            <a:r>
              <a:rPr lang="en-US" sz="2800" dirty="0" err="1" smtClean="0"/>
              <a:t>UserControl</a:t>
            </a:r>
            <a:r>
              <a:rPr lang="en-US" sz="2800" dirty="0" smtClean="0"/>
              <a:t> use in your application, they can have performance problems from XAML parsing.</a:t>
            </a:r>
            <a:endParaRPr lang="en-US" sz="2800"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17</a:t>
            </a:fld>
            <a:endParaRPr lang="en-US" dirty="0">
              <a:solidFill>
                <a:srgbClr val="6BBD46"/>
              </a:solidFill>
            </a:endParaRPr>
          </a:p>
        </p:txBody>
      </p:sp>
    </p:spTree>
    <p:extLst>
      <p:ext uri="{BB962C8B-B14F-4D97-AF65-F5344CB8AC3E}">
        <p14:creationId xmlns:p14="http://schemas.microsoft.com/office/powerpoint/2010/main" val="17852355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rgbClr val="7030A0"/>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dirty="0" smtClean="0"/>
              <a:t>Standard Controls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solidFill>
                  <a:srgbClr val="6BBD46"/>
                </a:solidFill>
              </a:rPr>
              <a:pPr/>
              <a:t>18</a:t>
            </a:fld>
            <a:endParaRPr lang="en-US" dirty="0">
              <a:solidFill>
                <a:srgbClr val="6BBD46"/>
              </a:solidFill>
            </a:endParaRPr>
          </a:p>
        </p:txBody>
      </p:sp>
    </p:spTree>
    <p:extLst>
      <p:ext uri="{BB962C8B-B14F-4D97-AF65-F5344CB8AC3E}">
        <p14:creationId xmlns:p14="http://schemas.microsoft.com/office/powerpoint/2010/main" val="25476814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Controls</a:t>
            </a:r>
            <a:endParaRPr lang="en-US" dirty="0"/>
          </a:p>
        </p:txBody>
      </p:sp>
      <p:sp>
        <p:nvSpPr>
          <p:cNvPr id="3" name="Text Placeholder 2"/>
          <p:cNvSpPr>
            <a:spLocks noGrp="1"/>
          </p:cNvSpPr>
          <p:nvPr>
            <p:ph type="body" sz="quarter" idx="10"/>
          </p:nvPr>
        </p:nvSpPr>
        <p:spPr>
          <a:xfrm>
            <a:off x="381000" y="1447800"/>
            <a:ext cx="8363938" cy="4216539"/>
          </a:xfrm>
        </p:spPr>
        <p:txBody>
          <a:bodyPr/>
          <a:lstStyle/>
          <a:p>
            <a:r>
              <a:rPr lang="en-US" dirty="0" smtClean="0"/>
              <a:t>Built-in controls “just work”</a:t>
            </a:r>
          </a:p>
          <a:p>
            <a:pPr lvl="1"/>
            <a:r>
              <a:rPr lang="en-US" dirty="0" smtClean="0"/>
              <a:t>Theme-aware</a:t>
            </a:r>
          </a:p>
          <a:p>
            <a:pPr lvl="1"/>
            <a:r>
              <a:rPr lang="en-US" dirty="0" smtClean="0"/>
              <a:t>Manipulation events</a:t>
            </a:r>
          </a:p>
          <a:p>
            <a:pPr lvl="1"/>
            <a:r>
              <a:rPr lang="en-US" dirty="0" smtClean="0"/>
              <a:t>Create event connections in XAML or in code</a:t>
            </a:r>
          </a:p>
          <a:p>
            <a:r>
              <a:rPr lang="en-US" dirty="0" smtClean="0"/>
              <a:t>Basic controls</a:t>
            </a:r>
          </a:p>
          <a:p>
            <a:pPr lvl="1"/>
            <a:r>
              <a:rPr lang="en-US" dirty="0" smtClean="0"/>
              <a:t>Button ‘clicks’</a:t>
            </a:r>
          </a:p>
          <a:p>
            <a:pPr lvl="1"/>
            <a:r>
              <a:rPr lang="en-US" dirty="0" err="1" smtClean="0"/>
              <a:t>ScrollViewer</a:t>
            </a:r>
            <a:r>
              <a:rPr lang="en-US" dirty="0" smtClean="0"/>
              <a:t> pans and flicks</a:t>
            </a:r>
          </a:p>
          <a:p>
            <a:pPr lvl="1"/>
            <a:r>
              <a:rPr lang="en-US" dirty="0" err="1" smtClean="0"/>
              <a:t>TextBox</a:t>
            </a:r>
            <a:r>
              <a:rPr lang="en-US" dirty="0" smtClean="0"/>
              <a:t> handles the cursor and works with software &amp; hardware keyboard</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19</a:t>
            </a:fld>
            <a:endParaRPr lang="en-US" dirty="0">
              <a:solidFill>
                <a:srgbClr val="6BBD46"/>
              </a:solidFill>
            </a:endParaRPr>
          </a:p>
        </p:txBody>
      </p:sp>
    </p:spTree>
    <p:extLst>
      <p:ext uri="{BB962C8B-B14F-4D97-AF65-F5344CB8AC3E}">
        <p14:creationId xmlns:p14="http://schemas.microsoft.com/office/powerpoint/2010/main" val="42881457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 Controls</a:t>
            </a:r>
            <a:endParaRPr lang="en-US" dirty="0"/>
          </a:p>
        </p:txBody>
      </p:sp>
      <p:sp>
        <p:nvSpPr>
          <p:cNvPr id="3" name="Text Placeholder 2"/>
          <p:cNvSpPr>
            <a:spLocks noGrp="1"/>
          </p:cNvSpPr>
          <p:nvPr>
            <p:ph sz="half" idx="1"/>
          </p:nvPr>
        </p:nvSpPr>
        <p:spPr>
          <a:xfrm>
            <a:off x="456128" y="1902941"/>
            <a:ext cx="4115872" cy="4179606"/>
          </a:xfrm>
        </p:spPr>
        <p:txBody>
          <a:bodyPr/>
          <a:lstStyle/>
          <a:p>
            <a:r>
              <a:rPr lang="en-US" dirty="0" smtClean="0"/>
              <a:t>Border</a:t>
            </a:r>
          </a:p>
          <a:p>
            <a:r>
              <a:rPr lang="en-US" dirty="0" smtClean="0"/>
              <a:t>Button</a:t>
            </a:r>
          </a:p>
          <a:p>
            <a:r>
              <a:rPr lang="en-US" i="1" dirty="0" smtClean="0"/>
              <a:t>Canvas</a:t>
            </a:r>
          </a:p>
          <a:p>
            <a:r>
              <a:rPr lang="en-US" dirty="0" err="1" smtClean="0"/>
              <a:t>CheckBox</a:t>
            </a:r>
            <a:endParaRPr lang="en-US" dirty="0" smtClean="0"/>
          </a:p>
          <a:p>
            <a:r>
              <a:rPr lang="en-US" i="1" dirty="0" smtClean="0"/>
              <a:t>Grid</a:t>
            </a:r>
          </a:p>
          <a:p>
            <a:r>
              <a:rPr lang="en-US" dirty="0" err="1" smtClean="0"/>
              <a:t>HyperlinkButton</a:t>
            </a:r>
            <a:endParaRPr lang="en-US" dirty="0" smtClean="0"/>
          </a:p>
          <a:p>
            <a:r>
              <a:rPr lang="en-US" dirty="0" smtClean="0"/>
              <a:t>Image</a:t>
            </a:r>
          </a:p>
          <a:p>
            <a:r>
              <a:rPr lang="en-US" dirty="0" err="1" smtClean="0"/>
              <a:t>ListBox</a:t>
            </a:r>
            <a:endParaRPr lang="en-US" dirty="0" smtClean="0"/>
          </a:p>
          <a:p>
            <a:r>
              <a:rPr lang="en-US" dirty="0" err="1" smtClean="0"/>
              <a:t>MediaElement</a:t>
            </a:r>
            <a:endParaRPr lang="en-US" dirty="0" smtClean="0"/>
          </a:p>
        </p:txBody>
      </p:sp>
      <p:sp>
        <p:nvSpPr>
          <p:cNvPr id="5" name="Content Placeholder 4"/>
          <p:cNvSpPr>
            <a:spLocks noGrp="1"/>
          </p:cNvSpPr>
          <p:nvPr>
            <p:ph sz="half" idx="2"/>
          </p:nvPr>
        </p:nvSpPr>
        <p:spPr>
          <a:xfrm>
            <a:off x="4704193" y="1902941"/>
            <a:ext cx="4115872" cy="3705630"/>
          </a:xfrm>
        </p:spPr>
        <p:txBody>
          <a:bodyPr/>
          <a:lstStyle/>
          <a:p>
            <a:r>
              <a:rPr lang="en-US" dirty="0" err="1" smtClean="0"/>
              <a:t>PasswordBox</a:t>
            </a:r>
            <a:endParaRPr lang="en-US" dirty="0" smtClean="0"/>
          </a:p>
          <a:p>
            <a:r>
              <a:rPr lang="en-US" dirty="0" err="1" smtClean="0"/>
              <a:t>ProgressBar</a:t>
            </a:r>
            <a:endParaRPr lang="en-US" dirty="0" smtClean="0"/>
          </a:p>
          <a:p>
            <a:r>
              <a:rPr lang="en-US" dirty="0" err="1" smtClean="0"/>
              <a:t>RadioButton</a:t>
            </a:r>
            <a:endParaRPr lang="en-US" dirty="0" smtClean="0"/>
          </a:p>
          <a:p>
            <a:r>
              <a:rPr lang="en-US" dirty="0" err="1" smtClean="0"/>
              <a:t>ScrollViewer</a:t>
            </a:r>
            <a:endParaRPr lang="en-US" dirty="0" smtClean="0"/>
          </a:p>
          <a:p>
            <a:r>
              <a:rPr lang="en-US" dirty="0" smtClean="0"/>
              <a:t>Slider</a:t>
            </a:r>
          </a:p>
          <a:p>
            <a:r>
              <a:rPr lang="en-US" i="1" dirty="0" err="1" smtClean="0"/>
              <a:t>StackPanel</a:t>
            </a:r>
            <a:endParaRPr lang="en-US" i="1" dirty="0" smtClean="0"/>
          </a:p>
          <a:p>
            <a:r>
              <a:rPr lang="en-US" dirty="0" err="1" smtClean="0"/>
              <a:t>TextBlock</a:t>
            </a:r>
            <a:endParaRPr lang="en-US" dirty="0" smtClean="0"/>
          </a:p>
          <a:p>
            <a:r>
              <a:rPr lang="en-US" dirty="0" err="1" smtClean="0"/>
              <a:t>TextBox</a:t>
            </a:r>
            <a:endParaRPr lang="en-US" dirty="0"/>
          </a:p>
        </p:txBody>
      </p:sp>
      <p:sp>
        <p:nvSpPr>
          <p:cNvPr id="4" name="Slide Number Placeholder 3"/>
          <p:cNvSpPr>
            <a:spLocks noGrp="1"/>
          </p:cNvSpPr>
          <p:nvPr>
            <p:ph type="sldNum" sz="quarter" idx="10"/>
          </p:nvPr>
        </p:nvSpPr>
        <p:spPr/>
        <p:txBody>
          <a:bodyPr/>
          <a:lstStyle/>
          <a:p>
            <a:fld id="{271031BA-9959-4FE2-909F-37D65262A7B4}" type="slidenum">
              <a:rPr lang="en-US" smtClean="0">
                <a:solidFill>
                  <a:srgbClr val="6BBD46"/>
                </a:solidFill>
              </a:rPr>
              <a:pPr/>
              <a:t>20</a:t>
            </a:fld>
            <a:endParaRPr lang="en-US" dirty="0">
              <a:solidFill>
                <a:srgbClr val="6BBD46"/>
              </a:solidFill>
            </a:endParaRPr>
          </a:p>
        </p:txBody>
      </p:sp>
    </p:spTree>
    <p:extLst>
      <p:ext uri="{BB962C8B-B14F-4D97-AF65-F5344CB8AC3E}">
        <p14:creationId xmlns:p14="http://schemas.microsoft.com/office/powerpoint/2010/main" val="41844441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1800"/>
            <a:ext cx="4191000" cy="664797"/>
          </a:xfrm>
        </p:spPr>
        <p:txBody>
          <a:bodyPr/>
          <a:lstStyle/>
          <a:p>
            <a:r>
              <a:rPr lang="en-US" dirty="0" smtClean="0"/>
              <a:t>SDK</a:t>
            </a:r>
            <a:endParaRPr lang="en-US" dirty="0"/>
          </a:p>
        </p:txBody>
      </p:sp>
      <p:sp>
        <p:nvSpPr>
          <p:cNvPr id="3" name="Content Placeholder 2"/>
          <p:cNvSpPr>
            <a:spLocks noGrp="1"/>
          </p:cNvSpPr>
          <p:nvPr>
            <p:ph sz="half" idx="1"/>
          </p:nvPr>
        </p:nvSpPr>
        <p:spPr>
          <a:xfrm>
            <a:off x="456128" y="1902941"/>
            <a:ext cx="4115872" cy="1809726"/>
          </a:xfrm>
        </p:spPr>
        <p:txBody>
          <a:bodyPr/>
          <a:lstStyle/>
          <a:p>
            <a:r>
              <a:rPr lang="en-US" dirty="0"/>
              <a:t>Map</a:t>
            </a:r>
          </a:p>
          <a:p>
            <a:r>
              <a:rPr lang="en-US" dirty="0"/>
              <a:t>Panorama</a:t>
            </a:r>
          </a:p>
          <a:p>
            <a:r>
              <a:rPr lang="en-US" dirty="0"/>
              <a:t>Pivot</a:t>
            </a:r>
          </a:p>
          <a:p>
            <a:r>
              <a:rPr lang="en-US" dirty="0" err="1" smtClean="0"/>
              <a:t>WebBrowser</a:t>
            </a:r>
            <a:endParaRPr lang="en-US" dirty="0"/>
          </a:p>
        </p:txBody>
      </p:sp>
      <p:sp>
        <p:nvSpPr>
          <p:cNvPr id="4" name="Content Placeholder 3"/>
          <p:cNvSpPr>
            <a:spLocks noGrp="1"/>
          </p:cNvSpPr>
          <p:nvPr>
            <p:ph sz="half" idx="2"/>
          </p:nvPr>
        </p:nvSpPr>
        <p:spPr>
          <a:xfrm>
            <a:off x="4704193" y="1902941"/>
            <a:ext cx="4115872" cy="2757678"/>
          </a:xfrm>
        </p:spPr>
        <p:txBody>
          <a:bodyPr/>
          <a:lstStyle/>
          <a:p>
            <a:r>
              <a:rPr lang="en-US" dirty="0" err="1"/>
              <a:t>ContextMenu</a:t>
            </a:r>
            <a:endParaRPr lang="en-US" dirty="0"/>
          </a:p>
          <a:p>
            <a:r>
              <a:rPr lang="en-US" dirty="0" err="1"/>
              <a:t>DatePicker</a:t>
            </a:r>
            <a:endParaRPr lang="en-US" dirty="0"/>
          </a:p>
          <a:p>
            <a:r>
              <a:rPr lang="en-US" i="1" dirty="0"/>
              <a:t>Gesture service</a:t>
            </a:r>
          </a:p>
          <a:p>
            <a:r>
              <a:rPr lang="en-US" dirty="0" err="1"/>
              <a:t>TimePicker</a:t>
            </a:r>
            <a:endParaRPr lang="en-US" dirty="0"/>
          </a:p>
          <a:p>
            <a:r>
              <a:rPr lang="en-US" dirty="0" err="1"/>
              <a:t>ToggleSwitch</a:t>
            </a:r>
            <a:endParaRPr lang="en-US" dirty="0"/>
          </a:p>
          <a:p>
            <a:r>
              <a:rPr lang="en-US" i="1" dirty="0" err="1" smtClean="0"/>
              <a:t>WrapPanel</a:t>
            </a:r>
            <a:endParaRPr lang="en-US" i="1" dirty="0"/>
          </a:p>
        </p:txBody>
      </p:sp>
      <p:sp>
        <p:nvSpPr>
          <p:cNvPr id="5" name="Slide Number Placeholder 4"/>
          <p:cNvSpPr>
            <a:spLocks noGrp="1"/>
          </p:cNvSpPr>
          <p:nvPr>
            <p:ph type="sldNum" sz="quarter" idx="10"/>
          </p:nvPr>
        </p:nvSpPr>
        <p:spPr/>
        <p:txBody>
          <a:bodyPr/>
          <a:lstStyle/>
          <a:p>
            <a:fld id="{271031BA-9959-4FE2-909F-37D65262A7B4}" type="slidenum">
              <a:rPr lang="en-US" smtClean="0">
                <a:solidFill>
                  <a:srgbClr val="6BBD46"/>
                </a:solidFill>
              </a:rPr>
              <a:pPr/>
              <a:t>21</a:t>
            </a:fld>
            <a:endParaRPr lang="en-US" dirty="0">
              <a:solidFill>
                <a:srgbClr val="6BBD46"/>
              </a:solidFill>
            </a:endParaRPr>
          </a:p>
        </p:txBody>
      </p:sp>
      <p:sp>
        <p:nvSpPr>
          <p:cNvPr id="6" name="Title 1"/>
          <p:cNvSpPr txBox="1">
            <a:spLocks/>
          </p:cNvSpPr>
          <p:nvPr/>
        </p:nvSpPr>
        <p:spPr>
          <a:xfrm>
            <a:off x="4736939" y="431800"/>
            <a:ext cx="4191000" cy="664797"/>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800" b="0" kern="1200" cap="none" spc="-150" baseline="0" dirty="0" smtClean="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a:lstStyle>
          <a:p>
            <a:r>
              <a:rPr lang="en-US" dirty="0" smtClean="0"/>
              <a:t>Toolkit</a:t>
            </a:r>
            <a:endParaRPr lang="en-US" dirty="0"/>
          </a:p>
        </p:txBody>
      </p:sp>
    </p:spTree>
    <p:extLst>
      <p:ext uri="{BB962C8B-B14F-4D97-AF65-F5344CB8AC3E}">
        <p14:creationId xmlns:p14="http://schemas.microsoft.com/office/powerpoint/2010/main" val="19183109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TextBox</a:t>
            </a:r>
            <a:r>
              <a:rPr lang="en-US" dirty="0" smtClean="0"/>
              <a:t> Input</a:t>
            </a:r>
            <a:endParaRPr lang="en-US" dirty="0"/>
          </a:p>
        </p:txBody>
      </p:sp>
      <p:sp>
        <p:nvSpPr>
          <p:cNvPr id="3" name="Text Placeholder 2"/>
          <p:cNvSpPr>
            <a:spLocks noGrp="1"/>
          </p:cNvSpPr>
          <p:nvPr>
            <p:ph type="body" sz="quarter" idx="10"/>
          </p:nvPr>
        </p:nvSpPr>
        <p:spPr>
          <a:xfrm>
            <a:off x="381000" y="1447800"/>
            <a:ext cx="8363938" cy="3828740"/>
          </a:xfrm>
        </p:spPr>
        <p:txBody>
          <a:bodyPr/>
          <a:lstStyle/>
          <a:p>
            <a:r>
              <a:rPr lang="en-US" dirty="0" err="1" smtClean="0"/>
              <a:t>TextBox</a:t>
            </a:r>
            <a:endParaRPr lang="en-US" dirty="0"/>
          </a:p>
          <a:p>
            <a:pPr lvl="1"/>
            <a:r>
              <a:rPr lang="en-US" dirty="0" smtClean="0"/>
              <a:t>Integrates with the SIP (software keyboard)</a:t>
            </a:r>
            <a:endParaRPr lang="en-US" dirty="0"/>
          </a:p>
          <a:p>
            <a:r>
              <a:rPr lang="en-US" dirty="0" smtClean="0"/>
              <a:t>Input Scopes</a:t>
            </a:r>
          </a:p>
          <a:p>
            <a:pPr lvl="1"/>
            <a:r>
              <a:rPr lang="en-US" dirty="0" smtClean="0"/>
              <a:t>Optimized key layouts</a:t>
            </a:r>
          </a:p>
          <a:p>
            <a:pPr lvl="2"/>
            <a:r>
              <a:rPr lang="en-US" dirty="0" smtClean="0"/>
              <a:t>Email, web address, numeric, etc.</a:t>
            </a:r>
          </a:p>
          <a:p>
            <a:pPr lvl="1"/>
            <a:r>
              <a:rPr lang="en-US" dirty="0" smtClean="0"/>
              <a:t>Enables auto-correction</a:t>
            </a:r>
            <a:endParaRPr lang="en-US" dirty="0"/>
          </a:p>
          <a:p>
            <a:r>
              <a:rPr lang="en-US" dirty="0" err="1" smtClean="0"/>
              <a:t>PasswordBox</a:t>
            </a:r>
            <a:endParaRPr lang="en-US" dirty="0" smtClean="0"/>
          </a:p>
          <a:p>
            <a:pPr lvl="1"/>
            <a:r>
              <a:rPr lang="en-US" dirty="0" smtClean="0"/>
              <a:t>Standard phone experience, no special code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22</a:t>
            </a:fld>
            <a:endParaRPr lang="en-US" dirty="0">
              <a:solidFill>
                <a:srgbClr val="6BBD46"/>
              </a:solidFill>
            </a:endParaRPr>
          </a:p>
        </p:txBody>
      </p:sp>
    </p:spTree>
    <p:extLst>
      <p:ext uri="{BB962C8B-B14F-4D97-AF65-F5344CB8AC3E}">
        <p14:creationId xmlns:p14="http://schemas.microsoft.com/office/powerpoint/2010/main" val="25643526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380999" y="686053"/>
            <a:ext cx="7234451" cy="1523494"/>
          </a:xfrm>
        </p:spPr>
        <p:txBody>
          <a:bodyPr/>
          <a:lstStyle/>
          <a:p>
            <a:r>
              <a:rPr dirty="0" smtClean="0"/>
              <a:t>Getting Started Building Apps</a:t>
            </a:r>
            <a:endParaRPr lang="en-US" dirty="0"/>
          </a:p>
        </p:txBody>
      </p:sp>
      <p:sp>
        <p:nvSpPr>
          <p:cNvPr id="3" name="Subtitle 2"/>
          <p:cNvSpPr>
            <a:spLocks noGrp="1"/>
          </p:cNvSpPr>
          <p:nvPr>
            <p:ph type="subTitle" idx="1"/>
          </p:nvPr>
        </p:nvSpPr>
        <p:spPr/>
        <p:txBody>
          <a:bodyPr/>
          <a:lstStyle/>
          <a:p>
            <a:endParaRPr lang="en-US"/>
          </a:p>
        </p:txBody>
      </p:sp>
      <p:sp>
        <p:nvSpPr>
          <p:cNvPr id="4" name="Text Placeholder 3"/>
          <p:cNvSpPr>
            <a:spLocks noGrp="1"/>
          </p:cNvSpPr>
          <p:nvPr>
            <p:ph type="body" sz="quarter" idx="10"/>
          </p:nvPr>
        </p:nvSpPr>
        <p:spPr/>
        <p:txBody>
          <a:bodyPr/>
          <a:lstStyle/>
          <a:p>
            <a:r>
              <a:rPr lang="en-US" dirty="0" smtClean="0"/>
              <a:t>Demo</a:t>
            </a:r>
            <a:endParaRPr lang="en-US" dirty="0"/>
          </a:p>
        </p:txBody>
      </p:sp>
      <p:sp>
        <p:nvSpPr>
          <p:cNvPr id="6" name="Slide Number Placeholder 5"/>
          <p:cNvSpPr>
            <a:spLocks noGrp="1"/>
          </p:cNvSpPr>
          <p:nvPr>
            <p:ph type="sldNum" sz="quarter" idx="11"/>
          </p:nvPr>
        </p:nvSpPr>
        <p:spPr/>
        <p:txBody>
          <a:bodyPr/>
          <a:lstStyle/>
          <a:p>
            <a:fld id="{271031BA-9959-4FE2-909F-37D65262A7B4}" type="slidenum">
              <a:rPr lang="en-US" smtClean="0"/>
              <a:pPr/>
              <a:t>23</a:t>
            </a:fld>
            <a:endParaRPr lang="en-US" dirty="0"/>
          </a:p>
        </p:txBody>
      </p:sp>
    </p:spTree>
    <p:extLst>
      <p:ext uri="{BB962C8B-B14F-4D97-AF65-F5344CB8AC3E}">
        <p14:creationId xmlns:p14="http://schemas.microsoft.com/office/powerpoint/2010/main" val="243901964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rgbClr val="7030A0"/>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dirty="0" smtClean="0"/>
              <a:t>Lists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solidFill>
                  <a:srgbClr val="6BBD46"/>
                </a:solidFill>
              </a:rPr>
              <a:pPr/>
              <a:t>24</a:t>
            </a:fld>
            <a:endParaRPr lang="en-US" dirty="0">
              <a:solidFill>
                <a:srgbClr val="6BBD46"/>
              </a:solidFill>
            </a:endParaRPr>
          </a:p>
        </p:txBody>
      </p:sp>
    </p:spTree>
    <p:extLst>
      <p:ext uri="{BB962C8B-B14F-4D97-AF65-F5344CB8AC3E}">
        <p14:creationId xmlns:p14="http://schemas.microsoft.com/office/powerpoint/2010/main" val="24205228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ListBox</a:t>
            </a:r>
            <a:endParaRPr lang="en-US" dirty="0"/>
          </a:p>
        </p:txBody>
      </p:sp>
      <p:sp>
        <p:nvSpPr>
          <p:cNvPr id="3" name="Text Placeholder 2"/>
          <p:cNvSpPr>
            <a:spLocks noGrp="1"/>
          </p:cNvSpPr>
          <p:nvPr>
            <p:ph type="body" sz="quarter" idx="10"/>
          </p:nvPr>
        </p:nvSpPr>
        <p:spPr>
          <a:xfrm>
            <a:off x="381000" y="1447800"/>
            <a:ext cx="8363938" cy="2794611"/>
          </a:xfrm>
        </p:spPr>
        <p:txBody>
          <a:bodyPr/>
          <a:lstStyle/>
          <a:p>
            <a:r>
              <a:rPr lang="en-US" dirty="0" smtClean="0"/>
              <a:t>Chose over </a:t>
            </a:r>
            <a:r>
              <a:rPr lang="en-US" dirty="0" err="1" smtClean="0"/>
              <a:t>ItemsControl</a:t>
            </a:r>
            <a:r>
              <a:rPr lang="en-US" dirty="0" smtClean="0"/>
              <a:t> if you can</a:t>
            </a:r>
          </a:p>
          <a:p>
            <a:r>
              <a:rPr lang="en-US" dirty="0" smtClean="0"/>
              <a:t>Supports data and UI virtualization</a:t>
            </a:r>
          </a:p>
          <a:p>
            <a:pPr lvl="1"/>
            <a:r>
              <a:rPr lang="en-US" dirty="0" smtClean="0"/>
              <a:t>Uses </a:t>
            </a:r>
            <a:r>
              <a:rPr lang="en-US" dirty="0" err="1" smtClean="0"/>
              <a:t>VirtualizingStackPanel</a:t>
            </a:r>
            <a:r>
              <a:rPr lang="en-US" dirty="0" smtClean="0"/>
              <a:t> by default</a:t>
            </a:r>
          </a:p>
          <a:p>
            <a:pPr lvl="1"/>
            <a:r>
              <a:rPr lang="en-US" dirty="0" smtClean="0"/>
              <a:t>The native runtime optimizes performance for </a:t>
            </a:r>
            <a:r>
              <a:rPr lang="en-US" dirty="0" err="1" smtClean="0"/>
              <a:t>ListBox</a:t>
            </a:r>
            <a:endParaRPr lang="en-US" dirty="0" smtClean="0"/>
          </a:p>
          <a:p>
            <a:pPr lvl="1"/>
            <a:r>
              <a:rPr lang="en-US" dirty="0" smtClean="0"/>
              <a:t>Data virtualization is not standard, your collection must inherit from </a:t>
            </a:r>
            <a:r>
              <a:rPr lang="en-US" dirty="0" err="1" smtClean="0"/>
              <a:t>Ilist</a:t>
            </a:r>
            <a:r>
              <a:rPr lang="en-US" dirty="0" smtClean="0"/>
              <a:t> and provide a Count parameter (</a:t>
            </a:r>
            <a:r>
              <a:rPr lang="en-US" dirty="0" smtClean="0">
                <a:hlinkClick r:id="rId2"/>
              </a:rPr>
              <a:t>link</a:t>
            </a:r>
            <a:r>
              <a:rPr lang="en-US" dirty="0" smtClean="0"/>
              <a:t>)</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25</a:t>
            </a:fld>
            <a:endParaRPr lang="en-US" dirty="0">
              <a:solidFill>
                <a:srgbClr val="6BBD46"/>
              </a:solidFill>
            </a:endParaRPr>
          </a:p>
        </p:txBody>
      </p:sp>
    </p:spTree>
    <p:extLst>
      <p:ext uri="{BB962C8B-B14F-4D97-AF65-F5344CB8AC3E}">
        <p14:creationId xmlns:p14="http://schemas.microsoft.com/office/powerpoint/2010/main" val="9016345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ListBox</a:t>
            </a:r>
            <a:r>
              <a:rPr lang="en-US" dirty="0" smtClean="0"/>
              <a:t> Item Tips</a:t>
            </a:r>
            <a:endParaRPr lang="en-US" dirty="0"/>
          </a:p>
        </p:txBody>
      </p:sp>
      <p:sp>
        <p:nvSpPr>
          <p:cNvPr id="3" name="Text Placeholder 2"/>
          <p:cNvSpPr>
            <a:spLocks noGrp="1"/>
          </p:cNvSpPr>
          <p:nvPr>
            <p:ph type="body" sz="quarter" idx="10"/>
          </p:nvPr>
        </p:nvSpPr>
        <p:spPr>
          <a:xfrm>
            <a:off x="381000" y="1447800"/>
            <a:ext cx="8363938" cy="4038029"/>
          </a:xfrm>
        </p:spPr>
        <p:txBody>
          <a:bodyPr/>
          <a:lstStyle/>
          <a:p>
            <a:r>
              <a:rPr lang="en-US" dirty="0" smtClean="0"/>
              <a:t>Virtualized items should have a fixed height to prevent stutter</a:t>
            </a:r>
          </a:p>
          <a:p>
            <a:r>
              <a:rPr lang="en-US" dirty="0" smtClean="0"/>
              <a:t>Keep items as simple as possible!</a:t>
            </a:r>
          </a:p>
          <a:p>
            <a:r>
              <a:rPr lang="en-US" dirty="0" smtClean="0"/>
              <a:t>Get creative with a Grid instead of 20 panels</a:t>
            </a:r>
          </a:p>
          <a:p>
            <a:r>
              <a:rPr lang="en-US" dirty="0" smtClean="0"/>
              <a:t>Avoid custom controls inside data templates</a:t>
            </a:r>
          </a:p>
          <a:p>
            <a:r>
              <a:rPr lang="en-US" dirty="0" smtClean="0"/>
              <a:t>There’ve been strategies blogged</a:t>
            </a:r>
          </a:p>
          <a:p>
            <a:pPr lvl="1"/>
            <a:r>
              <a:rPr lang="en-US" dirty="0" smtClean="0"/>
              <a:t>wait to load images until after scrolling is complete</a:t>
            </a:r>
          </a:p>
          <a:p>
            <a:pPr lvl="1"/>
            <a:r>
              <a:rPr lang="en-US" dirty="0" smtClean="0"/>
              <a:t>perform decoding on a background thread</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26</a:t>
            </a:fld>
            <a:endParaRPr lang="en-US" dirty="0">
              <a:solidFill>
                <a:srgbClr val="6BBD46"/>
              </a:solidFill>
            </a:endParaRPr>
          </a:p>
        </p:txBody>
      </p:sp>
    </p:spTree>
    <p:extLst>
      <p:ext uri="{BB962C8B-B14F-4D97-AF65-F5344CB8AC3E}">
        <p14:creationId xmlns:p14="http://schemas.microsoft.com/office/powerpoint/2010/main" val="34885973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a:t>
            </a:r>
            <a:r>
              <a:rPr lang="en-US" dirty="0" err="1" smtClean="0"/>
              <a:t>ListBox</a:t>
            </a:r>
            <a:r>
              <a:rPr lang="en-US" dirty="0" smtClean="0"/>
              <a:t> </a:t>
            </a:r>
            <a:r>
              <a:rPr lang="en-US" dirty="0" err="1" smtClean="0"/>
              <a:t>DataTemplate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27</a:t>
            </a:fld>
            <a:endParaRPr lang="en-US" dirty="0">
              <a:solidFill>
                <a:srgbClr val="6BBD46"/>
              </a:solidFill>
            </a:endParaRPr>
          </a:p>
        </p:txBody>
      </p:sp>
      <p:sp>
        <p:nvSpPr>
          <p:cNvPr id="5" name="Rectangle 4"/>
          <p:cNvSpPr/>
          <p:nvPr/>
        </p:nvSpPr>
        <p:spPr bwMode="auto">
          <a:xfrm>
            <a:off x="397884" y="1351128"/>
            <a:ext cx="8186557" cy="4039737"/>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ListBox.ItemTemplate</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DataTemplate</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StackPanel</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StackPanel</a:t>
            </a:r>
            <a:r>
              <a:rPr lang="en-US" sz="1300" dirty="0">
                <a:solidFill>
                  <a:srgbClr val="FF0000"/>
                </a:solidFill>
                <a:latin typeface="Consolas" pitchFamily="49" charset="0"/>
                <a:cs typeface="Consolas" pitchFamily="49" charset="0"/>
              </a:rPr>
              <a:t> Orientation</a:t>
            </a:r>
            <a:r>
              <a:rPr lang="en-US" sz="1300" dirty="0">
                <a:solidFill>
                  <a:srgbClr val="0000FF"/>
                </a:solidFill>
                <a:latin typeface="Consolas" pitchFamily="49" charset="0"/>
                <a:cs typeface="Consolas" pitchFamily="49" charset="0"/>
              </a:rPr>
              <a:t>="Horizontal"&gt;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a:solidFill>
                  <a:srgbClr val="A31515"/>
                </a:solidFill>
                <a:latin typeface="Consolas" pitchFamily="49" charset="0"/>
                <a:cs typeface="Consolas" pitchFamily="49" charset="0"/>
              </a:rPr>
              <a:t>Image</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Source</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PicSource</a:t>
            </a:r>
            <a:r>
              <a:rPr lang="en-US" sz="1300" dirty="0">
                <a:solidFill>
                  <a:srgbClr val="0000FF"/>
                </a:solidFill>
                <a:latin typeface="Consolas" pitchFamily="49" charset="0"/>
                <a:cs typeface="Consolas" pitchFamily="49" charset="0"/>
              </a:rPr>
              <a: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Width</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ApproxWidth</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controls</a:t>
            </a:r>
            <a:r>
              <a:rPr lang="en-US" sz="1300" dirty="0" err="1">
                <a:solidFill>
                  <a:srgbClr val="0000FF"/>
                </a:solidFill>
                <a:latin typeface="Consolas" pitchFamily="49" charset="0"/>
                <a:cs typeface="Consolas" pitchFamily="49" charset="0"/>
              </a:rPr>
              <a:t>:</a:t>
            </a:r>
            <a:r>
              <a:rPr lang="en-US" sz="1300" dirty="0" err="1">
                <a:solidFill>
                  <a:srgbClr val="A31515"/>
                </a:solidFill>
                <a:latin typeface="Consolas" pitchFamily="49" charset="0"/>
                <a:cs typeface="Consolas" pitchFamily="49" charset="0"/>
              </a:rPr>
              <a:t>MyPresenceControl</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User</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0000FF"/>
                </a:solidFill>
                <a:latin typeface="Consolas" pitchFamily="49" charset="0"/>
                <a:cs typeface="Consolas" pitchFamily="49" charset="0"/>
              </a:rPr>
              <a: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OnlineText</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ElementName</a:t>
            </a:r>
            <a:r>
              <a:rPr lang="en-US" sz="1300" dirty="0">
                <a:solidFill>
                  <a:srgbClr val="0000FF"/>
                </a:solidFill>
                <a:latin typeface="Consolas" pitchFamily="49" charset="0"/>
                <a:cs typeface="Consolas" pitchFamily="49" charset="0"/>
              </a:rPr>
              <a:t>=Resources,</a:t>
            </a:r>
            <a:r>
              <a:rPr lang="en-US" sz="1300" dirty="0">
                <a:solidFill>
                  <a:srgbClr val="FF0000"/>
                </a:solidFill>
                <a:latin typeface="Consolas" pitchFamily="49" charset="0"/>
                <a:cs typeface="Consolas" pitchFamily="49" charset="0"/>
              </a:rPr>
              <a:t> Path</a:t>
            </a:r>
            <a:r>
              <a:rPr lang="en-US" sz="1300" dirty="0">
                <a:solidFill>
                  <a:srgbClr val="0000FF"/>
                </a:solidFill>
                <a:latin typeface="Consolas" pitchFamily="49" charset="0"/>
                <a:cs typeface="Consolas" pitchFamily="49" charset="0"/>
              </a:rPr>
              <a:t>=</a:t>
            </a:r>
            <a:r>
              <a:rPr lang="en-US" sz="1300" dirty="0" err="1">
                <a:solidFill>
                  <a:srgbClr val="0000FF"/>
                </a:solidFill>
                <a:latin typeface="Consolas" pitchFamily="49" charset="0"/>
                <a:cs typeface="Consolas" pitchFamily="49" charset="0"/>
              </a:rPr>
              <a:t>UserOnline</a:t>
            </a:r>
            <a:r>
              <a:rPr lang="en-US" sz="1300" dirty="0">
                <a:solidFill>
                  <a:srgbClr val="0000FF"/>
                </a:solidFill>
                <a:latin typeface="Consolas" pitchFamily="49" charset="0"/>
                <a:cs typeface="Consolas" pitchFamily="49" charset="0"/>
              </a:rPr>
              <a:t>,</a:t>
            </a:r>
            <a:r>
              <a:rPr lang="en-US" sz="1300" dirty="0">
                <a:solidFill>
                  <a:srgbClr val="FF0000"/>
                </a:solidFill>
                <a:latin typeface="Consolas" pitchFamily="49" charset="0"/>
                <a:cs typeface="Consolas" pitchFamily="49" charset="0"/>
              </a:rPr>
              <a:t> Converter</a:t>
            </a:r>
            <a:r>
              <a:rPr lang="en-US" sz="1300" dirty="0">
                <a:solidFill>
                  <a:srgbClr val="0000FF"/>
                </a:solidFill>
                <a:latin typeface="Consolas" pitchFamily="49" charset="0"/>
                <a:cs typeface="Consolas" pitchFamily="49" charset="0"/>
              </a:rPr>
              <a:t>={</a:t>
            </a:r>
            <a:r>
              <a:rPr lang="en-US" sz="1300" dirty="0" err="1">
                <a:solidFill>
                  <a:srgbClr val="A31515"/>
                </a:solidFill>
                <a:latin typeface="Consolas" pitchFamily="49" charset="0"/>
                <a:cs typeface="Consolas" pitchFamily="49" charset="0"/>
              </a:rPr>
              <a:t>StaticResource</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CurrentCultureConverter</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TextBlock</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Text</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FF0000"/>
                </a:solidFill>
                <a:latin typeface="Consolas" pitchFamily="49" charset="0"/>
                <a:cs typeface="Consolas" pitchFamily="49" charset="0"/>
              </a:rPr>
              <a:t> Name</a:t>
            </a:r>
            <a:r>
              <a:rPr lang="en-US" sz="1300" dirty="0">
                <a:solidFill>
                  <a:srgbClr val="0000FF"/>
                </a:solidFill>
                <a:latin typeface="Consolas" pitchFamily="49" charset="0"/>
                <a:cs typeface="Consolas" pitchFamily="49" charset="0"/>
              </a:rPr>
              <a: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latin typeface="Consolas" pitchFamily="49" charset="0"/>
                <a:cs typeface="Consolas" pitchFamily="49" charset="0"/>
              </a:rPr>
              <a:t>                   </a:t>
            </a:r>
            <a:r>
              <a:rPr lang="en-US" sz="1300" dirty="0">
                <a:solidFill>
                  <a:srgbClr val="FF0000"/>
                </a:solidFill>
                <a:latin typeface="Consolas" pitchFamily="49" charset="0"/>
                <a:cs typeface="Consolas" pitchFamily="49" charset="0"/>
              </a:rPr>
              <a:t> Foreground</a:t>
            </a:r>
            <a:r>
              <a:rPr lang="en-US" sz="1300" dirty="0">
                <a:solidFill>
                  <a:srgbClr val="0000FF"/>
                </a:solidFill>
                <a:latin typeface="Consolas" pitchFamily="49" charset="0"/>
                <a:cs typeface="Consolas" pitchFamily="49" charset="0"/>
              </a:rPr>
              <a:t>="{</a:t>
            </a:r>
            <a:r>
              <a:rPr lang="en-US" sz="1300" dirty="0">
                <a:solidFill>
                  <a:srgbClr val="A31515"/>
                </a:solidFill>
                <a:latin typeface="Consolas" pitchFamily="49" charset="0"/>
                <a:cs typeface="Consolas" pitchFamily="49" charset="0"/>
              </a:rPr>
              <a:t>Binding</a:t>
            </a:r>
            <a:r>
              <a:rPr lang="en-US" sz="1300" dirty="0">
                <a:solidFill>
                  <a:srgbClr val="FF0000"/>
                </a:solidFill>
                <a:latin typeface="Consolas" pitchFamily="49" charset="0"/>
                <a:cs typeface="Consolas" pitchFamily="49" charset="0"/>
              </a:rPr>
              <a:t> Name</a:t>
            </a:r>
            <a:r>
              <a:rPr lang="en-US" sz="1300" dirty="0">
                <a:solidFill>
                  <a:srgbClr val="0000FF"/>
                </a:solidFill>
                <a:latin typeface="Consolas" pitchFamily="49" charset="0"/>
                <a:cs typeface="Consolas" pitchFamily="49" charset="0"/>
              </a:rPr>
              <a:t>,</a:t>
            </a:r>
            <a:r>
              <a:rPr lang="en-US" sz="1300" dirty="0">
                <a:solidFill>
                  <a:srgbClr val="FF0000"/>
                </a:solidFill>
                <a:latin typeface="Consolas" pitchFamily="49" charset="0"/>
                <a:cs typeface="Consolas" pitchFamily="49" charset="0"/>
              </a:rPr>
              <a:t> Converter</a:t>
            </a:r>
            <a:r>
              <a:rPr lang="en-US" sz="1300" dirty="0">
                <a:solidFill>
                  <a:srgbClr val="0000FF"/>
                </a:solidFill>
                <a:latin typeface="Consolas" pitchFamily="49" charset="0"/>
                <a:cs typeface="Consolas" pitchFamily="49" charset="0"/>
              </a:rPr>
              <a:t>={</a:t>
            </a:r>
            <a:r>
              <a:rPr lang="en-US" sz="1300" dirty="0" err="1">
                <a:solidFill>
                  <a:srgbClr val="A31515"/>
                </a:solidFill>
                <a:latin typeface="Consolas" pitchFamily="49" charset="0"/>
                <a:cs typeface="Consolas" pitchFamily="49" charset="0"/>
              </a:rPr>
              <a:t>StaticResource</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MyNameForegroundConverter</a:t>
            </a:r>
            <a:r>
              <a:rPr lang="en-US" sz="1300" dirty="0">
                <a:solidFill>
                  <a:srgbClr val="0000FF"/>
                </a:solidFill>
                <a:latin typeface="Consolas" pitchFamily="49" charset="0"/>
                <a:cs typeface="Consolas" pitchFamily="49" charset="0"/>
              </a:rPr>
              <a:t>},</a:t>
            </a:r>
            <a:r>
              <a:rPr lang="en-US" sz="1300" dirty="0">
                <a:solidFill>
                  <a:srgbClr val="FF0000"/>
                </a:solidFill>
                <a:latin typeface="Consolas" pitchFamily="49" charset="0"/>
                <a:cs typeface="Consolas" pitchFamily="49" charset="0"/>
              </a:rPr>
              <a:t> </a:t>
            </a:r>
            <a:r>
              <a:rPr lang="en-US" sz="1300" dirty="0" err="1">
                <a:solidFill>
                  <a:srgbClr val="FF0000"/>
                </a:solidFill>
                <a:latin typeface="Consolas" pitchFamily="49" charset="0"/>
                <a:cs typeface="Consolas" pitchFamily="49" charset="0"/>
              </a:rPr>
              <a:t>ConverterParameter</a:t>
            </a:r>
            <a:r>
              <a:rPr lang="en-US" sz="1300" dirty="0">
                <a:solidFill>
                  <a:srgbClr val="0000FF"/>
                </a:solidFill>
                <a:latin typeface="Consolas" pitchFamily="49" charset="0"/>
                <a:cs typeface="Consolas" pitchFamily="49" charset="0"/>
              </a:rPr>
              <a:t>='</a:t>
            </a:r>
            <a:r>
              <a:rPr lang="en-US" sz="1300" dirty="0" err="1">
                <a:solidFill>
                  <a:srgbClr val="0000FF"/>
                </a:solidFill>
                <a:latin typeface="Consolas" pitchFamily="49" charset="0"/>
                <a:cs typeface="Consolas" pitchFamily="49" charset="0"/>
              </a:rPr>
              <a:t>Red,Blue</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StackPanel</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StackPanel</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A31515"/>
                </a:solidFill>
                <a:latin typeface="Consolas" pitchFamily="49" charset="0"/>
                <a:cs typeface="Consolas" pitchFamily="49" charset="0"/>
              </a:rPr>
              <a:t>    </a:t>
            </a: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DataTemplate</a:t>
            </a:r>
            <a:r>
              <a:rPr lang="en-US" sz="1300" dirty="0">
                <a:solidFill>
                  <a:srgbClr val="0000FF"/>
                </a:solidFill>
                <a:latin typeface="Consolas" pitchFamily="49" charset="0"/>
                <a:cs typeface="Consolas" pitchFamily="49" charset="0"/>
              </a:rPr>
              <a:t>&gt;</a:t>
            </a:r>
            <a:r>
              <a:rPr lang="en-US" sz="1300" dirty="0">
                <a:latin typeface="Consolas" pitchFamily="49" charset="0"/>
                <a:cs typeface="Consolas" pitchFamily="49" charset="0"/>
              </a:rPr>
              <a:t/>
            </a:r>
            <a:br>
              <a:rPr lang="en-US" sz="1300" dirty="0">
                <a:latin typeface="Consolas" pitchFamily="49" charset="0"/>
                <a:cs typeface="Consolas" pitchFamily="49" charset="0"/>
              </a:rPr>
            </a:br>
            <a:r>
              <a:rPr lang="en-US" sz="1300" dirty="0">
                <a:solidFill>
                  <a:srgbClr val="0000FF"/>
                </a:solidFill>
                <a:latin typeface="Consolas" pitchFamily="49" charset="0"/>
                <a:cs typeface="Consolas" pitchFamily="49" charset="0"/>
              </a:rPr>
              <a:t>&lt;/</a:t>
            </a:r>
            <a:r>
              <a:rPr lang="en-US" sz="1300" dirty="0" err="1">
                <a:solidFill>
                  <a:srgbClr val="A31515"/>
                </a:solidFill>
                <a:latin typeface="Consolas" pitchFamily="49" charset="0"/>
                <a:cs typeface="Consolas" pitchFamily="49" charset="0"/>
              </a:rPr>
              <a:t>ListBox.ItemTemplate</a:t>
            </a:r>
            <a:r>
              <a:rPr lang="en-US" sz="1300" dirty="0">
                <a:solidFill>
                  <a:srgbClr val="0000FF"/>
                </a:solidFill>
                <a:latin typeface="Consolas" pitchFamily="49" charset="0"/>
                <a:cs typeface="Consolas" pitchFamily="49" charset="0"/>
              </a:rPr>
              <a:t>&gt;</a:t>
            </a:r>
            <a:endParaRPr lang="en-US" sz="1300" dirty="0" smtClean="0">
              <a:solidFill>
                <a:prstClr val="black"/>
              </a:solidFill>
              <a:latin typeface="Consolas" pitchFamily="49" charset="0"/>
              <a:cs typeface="Consolas" pitchFamily="49" charset="0"/>
            </a:endParaRPr>
          </a:p>
        </p:txBody>
      </p:sp>
    </p:spTree>
    <p:extLst>
      <p:ext uri="{BB962C8B-B14F-4D97-AF65-F5344CB8AC3E}">
        <p14:creationId xmlns:p14="http://schemas.microsoft.com/office/powerpoint/2010/main" val="3569689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a:t>
            </a:r>
            <a:r>
              <a:rPr lang="en-US" dirty="0" err="1" smtClean="0"/>
              <a:t>ListBox</a:t>
            </a:r>
            <a:r>
              <a:rPr lang="en-US" dirty="0" smtClean="0"/>
              <a:t> Data Template</a:t>
            </a:r>
            <a:endParaRPr lang="en-US" dirty="0"/>
          </a:p>
        </p:txBody>
      </p:sp>
      <p:sp>
        <p:nvSpPr>
          <p:cNvPr id="3" name="Text Placeholder 2"/>
          <p:cNvSpPr>
            <a:spLocks noGrp="1"/>
          </p:cNvSpPr>
          <p:nvPr>
            <p:ph type="body" sz="quarter" idx="10"/>
          </p:nvPr>
        </p:nvSpPr>
        <p:spPr>
          <a:xfrm>
            <a:off x="381000" y="1147544"/>
            <a:ext cx="8363938" cy="2240613"/>
          </a:xfrm>
        </p:spPr>
        <p:txBody>
          <a:bodyPr/>
          <a:lstStyle/>
          <a:p>
            <a:r>
              <a:rPr lang="en-US" sz="2000" dirty="0" smtClean="0"/>
              <a:t>Fixed Grid height (eliminates stutter) and exact image sizing</a:t>
            </a:r>
          </a:p>
          <a:p>
            <a:r>
              <a:rPr lang="en-US" sz="2000" dirty="0" smtClean="0"/>
              <a:t>Raw &amp; direct binding to a model object</a:t>
            </a:r>
          </a:p>
          <a:p>
            <a:pPr lvl="1"/>
            <a:r>
              <a:rPr lang="en-US" sz="1800" dirty="0" smtClean="0"/>
              <a:t>Expose visibility, brushes, image sources as properties</a:t>
            </a:r>
          </a:p>
          <a:p>
            <a:pPr lvl="1"/>
            <a:r>
              <a:rPr lang="en-US" sz="1800" dirty="0" smtClean="0"/>
              <a:t>Avoid using converters, converter parameters</a:t>
            </a:r>
          </a:p>
          <a:p>
            <a:r>
              <a:rPr lang="en-US" sz="2000" dirty="0" smtClean="0"/>
              <a:t>No element name binding</a:t>
            </a:r>
          </a:p>
          <a:p>
            <a:r>
              <a:rPr lang="en-US" sz="2000" dirty="0" smtClean="0"/>
              <a:t>Avoids custom controls and user controls</a:t>
            </a:r>
          </a:p>
          <a:p>
            <a:r>
              <a:rPr lang="en-US" sz="2000" dirty="0" smtClean="0"/>
              <a:t>Model should avoid custom logic in getters</a:t>
            </a:r>
            <a:endParaRPr lang="en-US" sz="2000"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28</a:t>
            </a:fld>
            <a:endParaRPr lang="en-US" dirty="0">
              <a:solidFill>
                <a:srgbClr val="6BBD46"/>
              </a:solidFill>
            </a:endParaRPr>
          </a:p>
        </p:txBody>
      </p:sp>
      <p:sp>
        <p:nvSpPr>
          <p:cNvPr id="5" name="Rectangle 4"/>
          <p:cNvSpPr/>
          <p:nvPr/>
        </p:nvSpPr>
        <p:spPr bwMode="auto">
          <a:xfrm>
            <a:off x="397884" y="3480178"/>
            <a:ext cx="8186557" cy="2866031"/>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400" dirty="0">
                <a:solidFill>
                  <a:srgbClr val="333333"/>
                </a:solidFill>
                <a:latin typeface="Consolas" pitchFamily="49" charset="0"/>
                <a:cs typeface="Consolas" pitchFamily="49" charset="0"/>
              </a:rPr>
              <a:t>&lt;</a:t>
            </a:r>
            <a:r>
              <a:rPr lang="en-US" sz="1400" dirty="0" err="1">
                <a:solidFill>
                  <a:srgbClr val="333333"/>
                </a:solidFill>
                <a:latin typeface="Consolas" pitchFamily="49" charset="0"/>
                <a:cs typeface="Consolas" pitchFamily="49" charset="0"/>
              </a:rPr>
              <a:t>ListBox.ItemTemplate</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DataTemplate</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&lt;Grid Height="180"&gt;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Grid.ColumnDefinitions</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ColumnDefinition</a:t>
            </a:r>
            <a:r>
              <a:rPr lang="en-US" sz="1400" dirty="0">
                <a:solidFill>
                  <a:srgbClr val="333333"/>
                </a:solidFill>
                <a:latin typeface="Consolas" pitchFamily="49" charset="0"/>
                <a:cs typeface="Consolas" pitchFamily="49" charset="0"/>
              </a:rPr>
              <a:t> Width="120"/&gt;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ColumnDefinition</a:t>
            </a:r>
            <a:r>
              <a:rPr lang="en-US" sz="1400" dirty="0">
                <a:solidFill>
                  <a:srgbClr val="333333"/>
                </a:solidFill>
                <a:latin typeface="Consolas" pitchFamily="49" charset="0"/>
                <a:cs typeface="Consolas" pitchFamily="49" charset="0"/>
              </a:rPr>
              <a:t> Width="80"/&gt;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ColumnDefinition</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a:t>
            </a:r>
            <a:r>
              <a:rPr lang="en-US" sz="1400" dirty="0" err="1">
                <a:solidFill>
                  <a:srgbClr val="333333"/>
                </a:solidFill>
                <a:latin typeface="Consolas" pitchFamily="49" charset="0"/>
                <a:cs typeface="Consolas" pitchFamily="49" charset="0"/>
              </a:rPr>
              <a:t>Grid.ColumnDefinitions</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&lt;Image Source="{Binding </a:t>
            </a:r>
            <a:r>
              <a:rPr lang="en-US" sz="1400" dirty="0" err="1">
                <a:solidFill>
                  <a:srgbClr val="333333"/>
                </a:solidFill>
                <a:latin typeface="Consolas" pitchFamily="49" charset="0"/>
                <a:cs typeface="Consolas" pitchFamily="49" charset="0"/>
              </a:rPr>
              <a:t>PicSource</a:t>
            </a:r>
            <a:r>
              <a:rPr lang="en-US" sz="1400" dirty="0">
                <a:solidFill>
                  <a:srgbClr val="333333"/>
                </a:solidFill>
                <a:latin typeface="Consolas" pitchFamily="49" charset="0"/>
                <a:cs typeface="Consolas" pitchFamily="49" charset="0"/>
              </a:rPr>
              <a:t>}" Width="110" Height="110"/&gt;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&lt;Image Source="{Binding </a:t>
            </a:r>
            <a:r>
              <a:rPr lang="en-US" sz="1400" dirty="0" err="1">
                <a:solidFill>
                  <a:srgbClr val="333333"/>
                </a:solidFill>
                <a:latin typeface="Consolas" pitchFamily="49" charset="0"/>
                <a:cs typeface="Consolas" pitchFamily="49" charset="0"/>
              </a:rPr>
              <a:t>PresencePic</a:t>
            </a:r>
            <a:r>
              <a:rPr lang="en-US" sz="1400" dirty="0">
                <a:solidFill>
                  <a:srgbClr val="333333"/>
                </a:solidFill>
                <a:latin typeface="Consolas" pitchFamily="49" charset="0"/>
                <a:cs typeface="Consolas" pitchFamily="49" charset="0"/>
              </a:rPr>
              <a:t>}" Width="70" Height="30"</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a:t>
            </a:r>
            <a:r>
              <a:rPr lang="en-US" sz="1400" dirty="0">
                <a:solidFill>
                  <a:srgbClr val="333333"/>
                </a:solidFill>
                <a:latin typeface="Consolas" pitchFamily="49" charset="0"/>
                <a:cs typeface="Consolas" pitchFamily="49" charset="0"/>
              </a:rPr>
              <a:t> </a:t>
            </a:r>
            <a:r>
              <a:rPr lang="en-US" sz="1400" dirty="0" err="1">
                <a:solidFill>
                  <a:srgbClr val="333333"/>
                </a:solidFill>
                <a:latin typeface="Consolas" pitchFamily="49" charset="0"/>
                <a:cs typeface="Consolas" pitchFamily="49" charset="0"/>
              </a:rPr>
              <a:t>Grid.Column</a:t>
            </a:r>
            <a:r>
              <a:rPr lang="en-US" sz="1400" dirty="0">
                <a:solidFill>
                  <a:srgbClr val="333333"/>
                </a:solidFill>
                <a:latin typeface="Consolas" pitchFamily="49" charset="0"/>
                <a:cs typeface="Consolas" pitchFamily="49" charset="0"/>
              </a:rPr>
              <a:t>="1"</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a:t>
            </a:r>
            <a:r>
              <a:rPr lang="en-US" sz="1400" dirty="0">
                <a:solidFill>
                  <a:srgbClr val="333333"/>
                </a:solidFill>
                <a:latin typeface="Consolas" pitchFamily="49" charset="0"/>
                <a:cs typeface="Consolas" pitchFamily="49" charset="0"/>
              </a:rPr>
              <a:t> Visibility="{Binding </a:t>
            </a:r>
            <a:r>
              <a:rPr lang="en-US" sz="1400" dirty="0" err="1">
                <a:solidFill>
                  <a:srgbClr val="333333"/>
                </a:solidFill>
                <a:latin typeface="Consolas" pitchFamily="49" charset="0"/>
                <a:cs typeface="Consolas" pitchFamily="49" charset="0"/>
              </a:rPr>
              <a:t>PresenceVisible</a:t>
            </a:r>
            <a:r>
              <a:rPr lang="en-US" sz="1400" dirty="0">
                <a:solidFill>
                  <a:srgbClr val="333333"/>
                </a:solidFill>
                <a:latin typeface="Consolas" pitchFamily="49" charset="0"/>
                <a:cs typeface="Consolas" pitchFamily="49" charset="0"/>
              </a:rPr>
              <a:t>}"/&gt;</a:t>
            </a:r>
            <a:r>
              <a:rPr lang="en-US" sz="1400" dirty="0">
                <a:solidFill>
                  <a:srgbClr val="333333"/>
                </a:solidFill>
                <a:latin typeface="Consolas" pitchFamily="49" charset="0"/>
                <a:cs typeface="Consolas" pitchFamily="49" charset="0"/>
              </a:rPr>
              <a:t/>
            </a:r>
            <a:br>
              <a:rPr lang="en-US" sz="1400" dirty="0">
                <a:solidFill>
                  <a:srgbClr val="333333"/>
                </a:solidFill>
                <a:latin typeface="Consolas" pitchFamily="49" charset="0"/>
                <a:cs typeface="Consolas" pitchFamily="49" charset="0"/>
              </a:rPr>
            </a:br>
            <a:r>
              <a:rPr lang="en-US" sz="1400" dirty="0">
                <a:solidFill>
                  <a:srgbClr val="333333"/>
                </a:solidFill>
                <a:latin typeface="Consolas" pitchFamily="49" charset="0"/>
                <a:cs typeface="Consolas" pitchFamily="49" charset="0"/>
              </a:rPr>
              <a:t>            &lt;!-- clipped for space </a:t>
            </a:r>
            <a:r>
              <a:rPr lang="en-US" sz="1400" dirty="0" smtClean="0">
                <a:solidFill>
                  <a:srgbClr val="333333"/>
                </a:solidFill>
                <a:latin typeface="Consolas" pitchFamily="49" charset="0"/>
                <a:cs typeface="Consolas" pitchFamily="49" charset="0"/>
              </a:rPr>
              <a:t>--&gt;</a:t>
            </a:r>
          </a:p>
        </p:txBody>
      </p:sp>
    </p:spTree>
    <p:extLst>
      <p:ext uri="{BB962C8B-B14F-4D97-AF65-F5344CB8AC3E}">
        <p14:creationId xmlns:p14="http://schemas.microsoft.com/office/powerpoint/2010/main" val="29335667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ListBox</a:t>
            </a:r>
            <a:r>
              <a:rPr lang="en-US" dirty="0" smtClean="0"/>
              <a:t> without Virtualization</a:t>
            </a:r>
            <a:endParaRPr lang="en-US" dirty="0"/>
          </a:p>
        </p:txBody>
      </p:sp>
      <p:sp>
        <p:nvSpPr>
          <p:cNvPr id="3" name="Text Placeholder 2"/>
          <p:cNvSpPr>
            <a:spLocks noGrp="1"/>
          </p:cNvSpPr>
          <p:nvPr>
            <p:ph type="body" sz="quarter" idx="10"/>
          </p:nvPr>
        </p:nvSpPr>
        <p:spPr>
          <a:xfrm>
            <a:off x="381000" y="1447800"/>
            <a:ext cx="8363938" cy="984885"/>
          </a:xfrm>
        </p:spPr>
        <p:txBody>
          <a:bodyPr/>
          <a:lstStyle/>
          <a:p>
            <a:r>
              <a:rPr lang="en-US" dirty="0" smtClean="0"/>
              <a:t>Slower startup time (full layout pass on all items)</a:t>
            </a:r>
          </a:p>
          <a:p>
            <a:r>
              <a:rPr lang="en-US" dirty="0" smtClean="0"/>
              <a:t>For grouping scenarios, accordions, etc.</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29</a:t>
            </a:fld>
            <a:endParaRPr lang="en-US" dirty="0">
              <a:solidFill>
                <a:srgbClr val="6BBD46"/>
              </a:solidFill>
            </a:endParaRPr>
          </a:p>
        </p:txBody>
      </p:sp>
      <p:sp>
        <p:nvSpPr>
          <p:cNvPr id="5" name="Rectangle 4"/>
          <p:cNvSpPr/>
          <p:nvPr/>
        </p:nvSpPr>
        <p:spPr bwMode="auto">
          <a:xfrm>
            <a:off x="397884" y="3214047"/>
            <a:ext cx="8186557" cy="2088108"/>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ListBox</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A31515"/>
                </a:solidFill>
                <a:latin typeface="Consolas" pitchFamily="49" charset="0"/>
                <a:cs typeface="Consolas" pitchFamily="49" charset="0"/>
              </a:rPr>
              <a:t>    </a:t>
            </a: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ListBox.ItemsPanel</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A31515"/>
                </a:solidFill>
                <a:latin typeface="Consolas" pitchFamily="49" charset="0"/>
                <a:cs typeface="Consolas" pitchFamily="49" charset="0"/>
              </a:rPr>
              <a:t>        </a:t>
            </a: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ItemsPanelTemplate</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A31515"/>
                </a:solidFill>
                <a:latin typeface="Consolas" pitchFamily="49" charset="0"/>
                <a:cs typeface="Consolas" pitchFamily="49" charset="0"/>
              </a:rPr>
              <a:t>            </a:t>
            </a: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StackPanel</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A31515"/>
                </a:solidFill>
                <a:latin typeface="Consolas" pitchFamily="49" charset="0"/>
                <a:cs typeface="Consolas" pitchFamily="49" charset="0"/>
              </a:rPr>
              <a:t>        </a:t>
            </a: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ItemsPanelTemplate</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A31515"/>
                </a:solidFill>
                <a:latin typeface="Consolas" pitchFamily="49" charset="0"/>
                <a:cs typeface="Consolas" pitchFamily="49" charset="0"/>
              </a:rPr>
              <a:t>    </a:t>
            </a: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ListBox.ItemsPanel</a:t>
            </a:r>
            <a:r>
              <a:rPr lang="en-US" sz="1600" dirty="0">
                <a:solidFill>
                  <a:srgbClr val="0000FF"/>
                </a:solidFill>
                <a:latin typeface="Consolas" pitchFamily="49" charset="0"/>
                <a:cs typeface="Consolas" pitchFamily="49" charset="0"/>
              </a:rPr>
              <a:t>&gt;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solidFill>
                  <a:srgbClr val="0000FF"/>
                </a:solidFill>
                <a:latin typeface="Consolas" pitchFamily="49" charset="0"/>
                <a:cs typeface="Consolas" pitchFamily="49" charset="0"/>
              </a:rPr>
              <a:t>&lt;/</a:t>
            </a:r>
            <a:r>
              <a:rPr lang="en-US" sz="1600" dirty="0" err="1">
                <a:solidFill>
                  <a:srgbClr val="A31515"/>
                </a:solidFill>
                <a:latin typeface="Consolas" pitchFamily="49" charset="0"/>
                <a:cs typeface="Consolas" pitchFamily="49" charset="0"/>
              </a:rPr>
              <a:t>ListBox</a:t>
            </a:r>
            <a:r>
              <a:rPr lang="en-US" sz="1600" dirty="0">
                <a:solidFill>
                  <a:srgbClr val="0000FF"/>
                </a:solidFill>
                <a:latin typeface="Consolas" pitchFamily="49" charset="0"/>
                <a:cs typeface="Consolas" pitchFamily="49" charset="0"/>
              </a:rPr>
              <a:t>&gt;</a:t>
            </a:r>
            <a:endParaRPr lang="en-US" sz="1600" dirty="0" smtClean="0">
              <a:solidFill>
                <a:srgbClr val="333333"/>
              </a:solidFill>
              <a:latin typeface="Consolas" pitchFamily="49" charset="0"/>
              <a:cs typeface="Consolas" pitchFamily="49" charset="0"/>
            </a:endParaRPr>
          </a:p>
        </p:txBody>
      </p:sp>
    </p:spTree>
    <p:extLst>
      <p:ext uri="{BB962C8B-B14F-4D97-AF65-F5344CB8AC3E}">
        <p14:creationId xmlns:p14="http://schemas.microsoft.com/office/powerpoint/2010/main" val="33680758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0999" y="686053"/>
            <a:ext cx="7234451" cy="1523494"/>
          </a:xfrm>
        </p:spPr>
        <p:txBody>
          <a:bodyPr/>
          <a:lstStyle/>
          <a:p>
            <a:r>
              <a:rPr dirty="0" err="1" smtClean="0"/>
              <a:t>ListBox</a:t>
            </a:r>
            <a:r>
              <a:rPr dirty="0" smtClean="0"/>
              <a:t> Performance</a:t>
            </a:r>
            <a:endParaRPr lang="en-US" dirty="0"/>
          </a:p>
        </p:txBody>
      </p:sp>
      <p:sp>
        <p:nvSpPr>
          <p:cNvPr id="4" name="Text Placeholder 3"/>
          <p:cNvSpPr>
            <a:spLocks noGrp="1"/>
          </p:cNvSpPr>
          <p:nvPr>
            <p:ph type="body" sz="quarter" idx="10"/>
          </p:nvPr>
        </p:nvSpPr>
        <p:spPr/>
        <p:txBody>
          <a:bodyPr/>
          <a:lstStyle/>
          <a:p>
            <a:r>
              <a:rPr lang="en-US" dirty="0" smtClean="0"/>
              <a:t>Demo</a:t>
            </a:r>
            <a:endParaRPr lang="en-US" dirty="0"/>
          </a:p>
        </p:txBody>
      </p:sp>
      <p:sp>
        <p:nvSpPr>
          <p:cNvPr id="6" name="Slide Number Placeholder 5"/>
          <p:cNvSpPr>
            <a:spLocks noGrp="1"/>
          </p:cNvSpPr>
          <p:nvPr>
            <p:ph type="sldNum" sz="quarter" idx="11"/>
          </p:nvPr>
        </p:nvSpPr>
        <p:spPr/>
        <p:txBody>
          <a:bodyPr/>
          <a:lstStyle/>
          <a:p>
            <a:fld id="{271031BA-9959-4FE2-909F-37D65262A7B4}" type="slidenum">
              <a:rPr lang="en-US" smtClean="0"/>
              <a:pPr/>
              <a:t>30</a:t>
            </a:fld>
            <a:endParaRPr lang="en-US" dirty="0"/>
          </a:p>
        </p:txBody>
      </p:sp>
    </p:spTree>
    <p:extLst>
      <p:ext uri="{BB962C8B-B14F-4D97-AF65-F5344CB8AC3E}">
        <p14:creationId xmlns:p14="http://schemas.microsoft.com/office/powerpoint/2010/main" val="33175954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2"/>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dirty="0" smtClean="0"/>
              <a:t>Threading</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solidFill>
                  <a:srgbClr val="6BBD46"/>
                </a:solidFill>
              </a:rPr>
              <a:pPr/>
              <a:t>31</a:t>
            </a:fld>
            <a:endParaRPr lang="en-US" dirty="0">
              <a:solidFill>
                <a:srgbClr val="6BBD46"/>
              </a:solidFill>
            </a:endParaRPr>
          </a:p>
        </p:txBody>
      </p:sp>
    </p:spTree>
    <p:extLst>
      <p:ext uri="{BB962C8B-B14F-4D97-AF65-F5344CB8AC3E}">
        <p14:creationId xmlns:p14="http://schemas.microsoft.com/office/powerpoint/2010/main" val="5797584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Threading</a:t>
            </a:r>
            <a:endParaRPr lang="en-US" dirty="0"/>
          </a:p>
        </p:txBody>
      </p:sp>
      <p:sp>
        <p:nvSpPr>
          <p:cNvPr id="3" name="Text Placeholder 2"/>
          <p:cNvSpPr>
            <a:spLocks noGrp="1"/>
          </p:cNvSpPr>
          <p:nvPr>
            <p:ph type="body" sz="quarter" idx="10"/>
          </p:nvPr>
        </p:nvSpPr>
        <p:spPr>
          <a:xfrm>
            <a:off x="381000" y="1447800"/>
            <a:ext cx="8363938" cy="1932837"/>
          </a:xfrm>
        </p:spPr>
        <p:txBody>
          <a:bodyPr/>
          <a:lstStyle/>
          <a:p>
            <a:r>
              <a:rPr lang="en-US" dirty="0" smtClean="0"/>
              <a:t>Core Threads</a:t>
            </a:r>
          </a:p>
          <a:p>
            <a:pPr lvl="1"/>
            <a:r>
              <a:rPr lang="en-US" dirty="0"/>
              <a:t>Compositor </a:t>
            </a:r>
            <a:r>
              <a:rPr lang="en-US" dirty="0" smtClean="0"/>
              <a:t>Thread</a:t>
            </a:r>
          </a:p>
          <a:p>
            <a:pPr lvl="1"/>
            <a:r>
              <a:rPr lang="en-US" dirty="0" smtClean="0"/>
              <a:t>User Interface (UI) Thread</a:t>
            </a:r>
          </a:p>
          <a:p>
            <a:r>
              <a:rPr lang="en-US" dirty="0" smtClean="0"/>
              <a:t>Background Threads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32</a:t>
            </a:fld>
            <a:endParaRPr lang="en-US" dirty="0">
              <a:solidFill>
                <a:srgbClr val="6BBD46"/>
              </a:solidFill>
            </a:endParaRPr>
          </a:p>
        </p:txBody>
      </p:sp>
    </p:spTree>
    <p:extLst>
      <p:ext uri="{BB962C8B-B14F-4D97-AF65-F5344CB8AC3E}">
        <p14:creationId xmlns:p14="http://schemas.microsoft.com/office/powerpoint/2010/main" val="30852959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Compositor Thread</a:t>
            </a:r>
            <a:endParaRPr lang="en-US" dirty="0"/>
          </a:p>
        </p:txBody>
      </p:sp>
      <p:sp>
        <p:nvSpPr>
          <p:cNvPr id="3" name="Text Placeholder 2"/>
          <p:cNvSpPr>
            <a:spLocks noGrp="1"/>
          </p:cNvSpPr>
          <p:nvPr>
            <p:ph type="body" sz="quarter" idx="10"/>
          </p:nvPr>
        </p:nvSpPr>
        <p:spPr>
          <a:xfrm>
            <a:off x="381000" y="1447800"/>
            <a:ext cx="8363938" cy="4758226"/>
          </a:xfrm>
        </p:spPr>
        <p:txBody>
          <a:bodyPr/>
          <a:lstStyle/>
          <a:p>
            <a:r>
              <a:rPr lang="en-US" dirty="0" smtClean="0"/>
              <a:t>Interacts with the GPU</a:t>
            </a:r>
          </a:p>
          <a:p>
            <a:r>
              <a:rPr lang="en-US" dirty="0" smtClean="0"/>
              <a:t>Enables Independent Animations</a:t>
            </a:r>
          </a:p>
          <a:p>
            <a:pPr lvl="1"/>
            <a:r>
              <a:rPr lang="en-US" dirty="0" smtClean="0"/>
              <a:t>Opacity</a:t>
            </a:r>
          </a:p>
          <a:p>
            <a:pPr lvl="1"/>
            <a:r>
              <a:rPr lang="en-US" dirty="0" smtClean="0"/>
              <a:t>Translation</a:t>
            </a:r>
          </a:p>
          <a:p>
            <a:pPr lvl="1"/>
            <a:r>
              <a:rPr lang="en-US" dirty="0" smtClean="0"/>
              <a:t>Scaling</a:t>
            </a:r>
          </a:p>
          <a:p>
            <a:pPr lvl="1"/>
            <a:r>
              <a:rPr lang="en-US" dirty="0" smtClean="0"/>
              <a:t>Perspective transform</a:t>
            </a:r>
          </a:p>
          <a:p>
            <a:r>
              <a:rPr lang="en-US" dirty="0" smtClean="0"/>
              <a:t>TIPS:</a:t>
            </a:r>
          </a:p>
          <a:p>
            <a:pPr lvl="1"/>
            <a:r>
              <a:rPr lang="en-US" dirty="0" smtClean="0"/>
              <a:t>Elements need to be in a list (items are auto-cached) or have </a:t>
            </a:r>
            <a:r>
              <a:rPr lang="en-US" dirty="0" err="1" smtClean="0"/>
              <a:t>CacheMode</a:t>
            </a:r>
            <a:r>
              <a:rPr lang="en-US" dirty="0" smtClean="0"/>
              <a:t>=“</a:t>
            </a:r>
            <a:r>
              <a:rPr lang="en-US" dirty="0" err="1" smtClean="0"/>
              <a:t>BitmapCache</a:t>
            </a:r>
            <a:r>
              <a:rPr lang="en-US" dirty="0" smtClean="0"/>
              <a:t>”</a:t>
            </a:r>
          </a:p>
          <a:p>
            <a:pPr lvl="1"/>
            <a:r>
              <a:rPr lang="en-US" dirty="0" smtClean="0"/>
              <a:t>Avoid </a:t>
            </a:r>
            <a:r>
              <a:rPr lang="en-US" dirty="0" err="1" smtClean="0"/>
              <a:t>OpacityMask</a:t>
            </a:r>
            <a:r>
              <a:rPr lang="en-US" dirty="0" smtClean="0"/>
              <a:t> on items, it cannot be accelerated</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33</a:t>
            </a:fld>
            <a:endParaRPr lang="en-US" dirty="0">
              <a:solidFill>
                <a:srgbClr val="6BBD46"/>
              </a:solidFill>
            </a:endParaRPr>
          </a:p>
        </p:txBody>
      </p:sp>
    </p:spTree>
    <p:extLst>
      <p:ext uri="{BB962C8B-B14F-4D97-AF65-F5344CB8AC3E}">
        <p14:creationId xmlns:p14="http://schemas.microsoft.com/office/powerpoint/2010/main" val="283737845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Interface Thread</a:t>
            </a:r>
            <a:endParaRPr lang="en-US" dirty="0"/>
          </a:p>
        </p:txBody>
      </p:sp>
      <p:sp>
        <p:nvSpPr>
          <p:cNvPr id="3" name="Text Placeholder 2"/>
          <p:cNvSpPr>
            <a:spLocks noGrp="1"/>
          </p:cNvSpPr>
          <p:nvPr>
            <p:ph type="body" sz="quarter" idx="10"/>
          </p:nvPr>
        </p:nvSpPr>
        <p:spPr>
          <a:xfrm>
            <a:off x="381000" y="1447800"/>
            <a:ext cx="8363938" cy="4505849"/>
          </a:xfrm>
        </p:spPr>
        <p:txBody>
          <a:bodyPr/>
          <a:lstStyle/>
          <a:p>
            <a:r>
              <a:rPr lang="en-US" dirty="0" smtClean="0"/>
              <a:t>Primary thread for Silverlight</a:t>
            </a:r>
          </a:p>
          <a:p>
            <a:r>
              <a:rPr lang="en-US" dirty="0" smtClean="0"/>
              <a:t>Handles important events</a:t>
            </a:r>
          </a:p>
          <a:p>
            <a:pPr lvl="1"/>
            <a:r>
              <a:rPr lang="en-US" dirty="0" smtClean="0"/>
              <a:t>Input and touch</a:t>
            </a:r>
          </a:p>
          <a:p>
            <a:pPr lvl="1"/>
            <a:r>
              <a:rPr lang="en-US" dirty="0" smtClean="0"/>
              <a:t>OS messages</a:t>
            </a:r>
          </a:p>
          <a:p>
            <a:r>
              <a:rPr lang="en-US" dirty="0" smtClean="0"/>
              <a:t>Layout</a:t>
            </a:r>
          </a:p>
          <a:p>
            <a:pPr lvl="1"/>
            <a:r>
              <a:rPr lang="en-US" dirty="0" smtClean="0"/>
              <a:t>System for arranging and sizing elements</a:t>
            </a:r>
          </a:p>
          <a:p>
            <a:pPr lvl="1"/>
            <a:r>
              <a:rPr lang="en-US" dirty="0" smtClean="0"/>
              <a:t>Directly related to how complex pages are</a:t>
            </a:r>
          </a:p>
          <a:p>
            <a:r>
              <a:rPr lang="en-US" dirty="0" smtClean="0"/>
              <a:t>All UI properties must be set on this thread</a:t>
            </a:r>
          </a:p>
          <a:p>
            <a:r>
              <a:rPr lang="en-US" dirty="0" smtClean="0"/>
              <a:t>TIP: Keep this thread free and clear!</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34</a:t>
            </a:fld>
            <a:endParaRPr lang="en-US" dirty="0">
              <a:solidFill>
                <a:srgbClr val="6BBD46"/>
              </a:solidFill>
            </a:endParaRPr>
          </a:p>
        </p:txBody>
      </p:sp>
    </p:spTree>
    <p:extLst>
      <p:ext uri="{BB962C8B-B14F-4D97-AF65-F5344CB8AC3E}">
        <p14:creationId xmlns:p14="http://schemas.microsoft.com/office/powerpoint/2010/main" val="41979975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Dispatching to the UI Thread</a:t>
            </a:r>
            <a:endParaRPr lang="en-US" dirty="0"/>
          </a:p>
        </p:txBody>
      </p:sp>
      <p:sp>
        <p:nvSpPr>
          <p:cNvPr id="3" name="Text Placeholder 2"/>
          <p:cNvSpPr>
            <a:spLocks noGrp="1"/>
          </p:cNvSpPr>
          <p:nvPr>
            <p:ph type="body" sz="quarter" idx="10"/>
          </p:nvPr>
        </p:nvSpPr>
        <p:spPr>
          <a:xfrm>
            <a:off x="381000" y="1447800"/>
            <a:ext cx="8363938" cy="3699474"/>
          </a:xfrm>
        </p:spPr>
        <p:txBody>
          <a:bodyPr/>
          <a:lstStyle/>
          <a:p>
            <a:r>
              <a:rPr lang="en-US" dirty="0" smtClean="0"/>
              <a:t>Must set UI properties on the UI thread</a:t>
            </a:r>
          </a:p>
          <a:p>
            <a:pPr lvl="1"/>
            <a:r>
              <a:rPr lang="en-US" dirty="0" smtClean="0"/>
              <a:t>If you don’t…</a:t>
            </a:r>
          </a:p>
          <a:p>
            <a:pPr lvl="2"/>
            <a:r>
              <a:rPr lang="en-US" sz="2000" b="1" dirty="0" err="1" smtClean="0"/>
              <a:t>UnauthorizedAccessException</a:t>
            </a:r>
            <a:r>
              <a:rPr lang="en-US" sz="2000" b="1" dirty="0" smtClean="0"/>
              <a:t>: “Invalid cross-thread access”</a:t>
            </a:r>
          </a:p>
          <a:p>
            <a:r>
              <a:rPr lang="en-US" dirty="0" smtClean="0"/>
              <a:t>Use a Dispatcher or other cross-thread communication technique to make the call</a:t>
            </a:r>
          </a:p>
          <a:p>
            <a:pPr lvl="1"/>
            <a:r>
              <a:rPr lang="en-US" sz="2000" spc="0" dirty="0" err="1" smtClean="0">
                <a:latin typeface="Consolas" pitchFamily="49" charset="0"/>
                <a:cs typeface="Consolas" pitchFamily="49" charset="0"/>
              </a:rPr>
              <a:t>Dispatcher.BeginInvoke</a:t>
            </a:r>
            <a:r>
              <a:rPr lang="en-US" sz="2000" spc="0" dirty="0" smtClean="0">
                <a:latin typeface="Consolas" pitchFamily="49" charset="0"/>
                <a:cs typeface="Consolas" pitchFamily="49" charset="0"/>
              </a:rPr>
              <a:t>(()=&gt;TextBox1.Text=“Hi.”);</a:t>
            </a:r>
          </a:p>
          <a:p>
            <a:r>
              <a:rPr lang="en-US" dirty="0" smtClean="0"/>
              <a:t>Beware property change calls from model and data objects on your background threads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35</a:t>
            </a:fld>
            <a:endParaRPr lang="en-US" dirty="0">
              <a:solidFill>
                <a:srgbClr val="6BBD46"/>
              </a:solidFill>
            </a:endParaRPr>
          </a:p>
        </p:txBody>
      </p:sp>
    </p:spTree>
    <p:extLst>
      <p:ext uri="{BB962C8B-B14F-4D97-AF65-F5344CB8AC3E}">
        <p14:creationId xmlns:p14="http://schemas.microsoft.com/office/powerpoint/2010/main" val="8758061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TIP: Be smart when dispatching</a:t>
            </a:r>
            <a:endParaRPr lang="en-US" dirty="0"/>
          </a:p>
        </p:txBody>
      </p:sp>
      <p:sp>
        <p:nvSpPr>
          <p:cNvPr id="3" name="Text Placeholder 2"/>
          <p:cNvSpPr>
            <a:spLocks noGrp="1"/>
          </p:cNvSpPr>
          <p:nvPr>
            <p:ph type="body" sz="quarter" idx="10"/>
          </p:nvPr>
        </p:nvSpPr>
        <p:spPr>
          <a:xfrm>
            <a:off x="381000" y="1447800"/>
            <a:ext cx="8363938" cy="1526572"/>
          </a:xfrm>
        </p:spPr>
        <p:txBody>
          <a:bodyPr/>
          <a:lstStyle/>
          <a:p>
            <a:r>
              <a:rPr lang="en-US" dirty="0" smtClean="0"/>
              <a:t>A dispatch typically costs at least 16ms (1 tick)</a:t>
            </a:r>
          </a:p>
          <a:p>
            <a:r>
              <a:rPr lang="en-US" dirty="0" smtClean="0"/>
              <a:t>Group off-thread property change notifications</a:t>
            </a:r>
          </a:p>
          <a:p>
            <a:r>
              <a:rPr lang="en-US" dirty="0" smtClean="0"/>
              <a:t>Use a smart dispatcher</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36</a:t>
            </a:fld>
            <a:endParaRPr lang="en-US" dirty="0">
              <a:solidFill>
                <a:srgbClr val="6BBD46"/>
              </a:solidFill>
            </a:endParaRPr>
          </a:p>
        </p:txBody>
      </p:sp>
      <p:sp>
        <p:nvSpPr>
          <p:cNvPr id="5" name="Rectangle 4"/>
          <p:cNvSpPr/>
          <p:nvPr/>
        </p:nvSpPr>
        <p:spPr bwMode="auto">
          <a:xfrm>
            <a:off x="397884" y="3125338"/>
            <a:ext cx="8304835" cy="3070746"/>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a:solidFill>
                  <a:srgbClr val="0000FF"/>
                </a:solidFill>
                <a:latin typeface="Consolas" pitchFamily="49" charset="0"/>
                <a:cs typeface="Consolas" pitchFamily="49" charset="0"/>
              </a:rPr>
              <a:t>private</a:t>
            </a:r>
            <a:r>
              <a:rPr lang="en-US" sz="1600" dirty="0">
                <a:latin typeface="Consolas" pitchFamily="49" charset="0"/>
                <a:cs typeface="Consolas" pitchFamily="49" charset="0"/>
              </a:rPr>
              <a:t> </a:t>
            </a:r>
            <a:r>
              <a:rPr lang="en-US" sz="1600" dirty="0">
                <a:solidFill>
                  <a:srgbClr val="0000FF"/>
                </a:solidFill>
                <a:latin typeface="Consolas" pitchFamily="49" charset="0"/>
                <a:cs typeface="Consolas" pitchFamily="49" charset="0"/>
              </a:rPr>
              <a:t>void</a:t>
            </a:r>
            <a:r>
              <a:rPr lang="en-US" sz="1600" dirty="0">
                <a:latin typeface="Consolas" pitchFamily="49" charset="0"/>
                <a:cs typeface="Consolas" pitchFamily="49" charset="0"/>
              </a:rPr>
              <a:t> Dispatch(</a:t>
            </a:r>
            <a:r>
              <a:rPr lang="en-US" sz="1600" dirty="0">
                <a:solidFill>
                  <a:srgbClr val="2B91AF"/>
                </a:solidFill>
                <a:latin typeface="Consolas" pitchFamily="49" charset="0"/>
                <a:cs typeface="Consolas" pitchFamily="49" charset="0"/>
              </a:rPr>
              <a:t>Action</a:t>
            </a:r>
            <a:r>
              <a:rPr lang="en-US" sz="1600" dirty="0">
                <a:latin typeface="Consolas" pitchFamily="49" charset="0"/>
                <a:cs typeface="Consolas" pitchFamily="49" charset="0"/>
              </a:rPr>
              <a:t> action)</a:t>
            </a:r>
            <a:br>
              <a:rPr lang="en-US" sz="1600" dirty="0">
                <a:latin typeface="Consolas" pitchFamily="49" charset="0"/>
                <a:cs typeface="Consolas" pitchFamily="49" charset="0"/>
              </a:rPr>
            </a:br>
            <a:r>
              <a:rPr lang="en-US" sz="1600" dirty="0">
                <a:latin typeface="Consolas" pitchFamily="49" charset="0"/>
                <a:cs typeface="Consolas" pitchFamily="49" charset="0"/>
              </a:rPr>
              <a:t>{</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a:solidFill>
                  <a:srgbClr val="008000"/>
                </a:solidFill>
                <a:latin typeface="Consolas" pitchFamily="49" charset="0"/>
                <a:cs typeface="Consolas" pitchFamily="49" charset="0"/>
              </a:rPr>
              <a:t>// No need for a dispatcher invoke, this will be </a:t>
            </a:r>
            <a:r>
              <a:rPr lang="en-US" sz="1600" dirty="0" smtClean="0">
                <a:solidFill>
                  <a:srgbClr val="008000"/>
                </a:solidFill>
                <a:latin typeface="Consolas" pitchFamily="49" charset="0"/>
                <a:cs typeface="Consolas" pitchFamily="49" charset="0"/>
              </a:rPr>
              <a:t>quicker.</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a:solidFill>
                  <a:srgbClr val="0000FF"/>
                </a:solidFill>
                <a:latin typeface="Consolas" pitchFamily="49" charset="0"/>
                <a:cs typeface="Consolas" pitchFamily="49" charset="0"/>
              </a:rPr>
              <a:t>if</a:t>
            </a:r>
            <a:r>
              <a:rPr lang="en-US" sz="1600" dirty="0">
                <a:latin typeface="Consolas" pitchFamily="49" charset="0"/>
                <a:cs typeface="Consolas" pitchFamily="49" charset="0"/>
              </a:rPr>
              <a:t> (</a:t>
            </a:r>
            <a:r>
              <a:rPr lang="en-US" sz="1600" dirty="0" err="1">
                <a:latin typeface="Consolas" pitchFamily="49" charset="0"/>
                <a:cs typeface="Consolas" pitchFamily="49" charset="0"/>
              </a:rPr>
              <a:t>Dispatcher.</a:t>
            </a:r>
            <a:r>
              <a:rPr lang="en-US" sz="1600" dirty="0" err="1">
                <a:solidFill>
                  <a:srgbClr val="333333"/>
                </a:solidFill>
                <a:latin typeface="Consolas" pitchFamily="49" charset="0"/>
                <a:cs typeface="Consolas" pitchFamily="49" charset="0"/>
              </a:rPr>
              <a:t>CheckAccess</a:t>
            </a:r>
            <a:r>
              <a:rPr lang="en-US" sz="1600" dirty="0">
                <a:latin typeface="Consolas" pitchFamily="49" charset="0"/>
                <a:cs typeface="Consolas" pitchFamily="49" charset="0"/>
              </a:rPr>
              <a:t>())</a:t>
            </a:r>
            <a:br>
              <a:rPr lang="en-US" sz="1600" dirty="0">
                <a:latin typeface="Consolas" pitchFamily="49" charset="0"/>
                <a:cs typeface="Consolas" pitchFamily="49" charset="0"/>
              </a:rPr>
            </a:br>
            <a:r>
              <a:rPr lang="en-US" sz="1600" dirty="0">
                <a:latin typeface="Consolas" pitchFamily="49" charset="0"/>
                <a:cs typeface="Consolas" pitchFamily="49" charset="0"/>
              </a:rPr>
              <a:t>    {</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a:solidFill>
                  <a:srgbClr val="333333"/>
                </a:solidFill>
                <a:latin typeface="Consolas" pitchFamily="49" charset="0"/>
                <a:cs typeface="Consolas" pitchFamily="49" charset="0"/>
              </a:rPr>
              <a:t>action();</a:t>
            </a:r>
            <a:br>
              <a:rPr lang="en-US" sz="1600" dirty="0">
                <a:solidFill>
                  <a:srgbClr val="333333"/>
                </a:solidFill>
                <a:latin typeface="Consolas" pitchFamily="49" charset="0"/>
                <a:cs typeface="Consolas" pitchFamily="49" charset="0"/>
              </a:rPr>
            </a:br>
            <a:r>
              <a:rPr lang="en-US" sz="1600" dirty="0">
                <a:latin typeface="Consolas" pitchFamily="49" charset="0"/>
                <a:cs typeface="Consolas" pitchFamily="49" charset="0"/>
              </a:rPr>
              <a:t>    }</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a:solidFill>
                  <a:srgbClr val="0000FF"/>
                </a:solidFill>
                <a:latin typeface="Consolas" pitchFamily="49" charset="0"/>
                <a:cs typeface="Consolas" pitchFamily="49" charset="0"/>
              </a:rPr>
              <a:t>else</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latin typeface="Consolas" pitchFamily="49" charset="0"/>
                <a:cs typeface="Consolas" pitchFamily="49" charset="0"/>
              </a:rPr>
              <a:t>    {</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err="1">
                <a:latin typeface="Consolas" pitchFamily="49" charset="0"/>
                <a:cs typeface="Consolas" pitchFamily="49" charset="0"/>
              </a:rPr>
              <a:t>Dispatcher.</a:t>
            </a:r>
            <a:r>
              <a:rPr lang="en-US" sz="1600" dirty="0" err="1">
                <a:solidFill>
                  <a:srgbClr val="333333"/>
                </a:solidFill>
                <a:latin typeface="Consolas" pitchFamily="49" charset="0"/>
                <a:cs typeface="Consolas" pitchFamily="49" charset="0"/>
              </a:rPr>
              <a:t>BeginInvoke</a:t>
            </a:r>
            <a:r>
              <a:rPr lang="en-US" sz="1600" dirty="0">
                <a:latin typeface="Consolas" pitchFamily="49" charset="0"/>
                <a:cs typeface="Consolas" pitchFamily="49" charset="0"/>
              </a:rPr>
              <a:t>(action);</a:t>
            </a:r>
            <a:br>
              <a:rPr lang="en-US" sz="1600" dirty="0">
                <a:latin typeface="Consolas" pitchFamily="49" charset="0"/>
                <a:cs typeface="Consolas" pitchFamily="49" charset="0"/>
              </a:rPr>
            </a:br>
            <a:r>
              <a:rPr lang="en-US" sz="1600" dirty="0">
                <a:latin typeface="Consolas" pitchFamily="49" charset="0"/>
                <a:cs typeface="Consolas" pitchFamily="49" charset="0"/>
              </a:rPr>
              <a:t>    }</a:t>
            </a:r>
            <a:br>
              <a:rPr lang="en-US" sz="1600" dirty="0">
                <a:latin typeface="Consolas" pitchFamily="49" charset="0"/>
                <a:cs typeface="Consolas" pitchFamily="49" charset="0"/>
              </a:rPr>
            </a:br>
            <a:r>
              <a:rPr lang="en-US" sz="1600" dirty="0" smtClean="0">
                <a:latin typeface="Consolas" pitchFamily="49" charset="0"/>
                <a:cs typeface="Consolas" pitchFamily="49" charset="0"/>
              </a:rPr>
              <a:t>}</a:t>
            </a:r>
            <a:endParaRPr lang="en-US" sz="1600" dirty="0">
              <a:solidFill>
                <a:prstClr val="black"/>
              </a:solidFill>
              <a:latin typeface="Consolas" pitchFamily="49" charset="0"/>
              <a:cs typeface="Consolas" pitchFamily="49" charset="0"/>
            </a:endParaRPr>
          </a:p>
        </p:txBody>
      </p:sp>
    </p:spTree>
    <p:extLst>
      <p:ext uri="{BB962C8B-B14F-4D97-AF65-F5344CB8AC3E}">
        <p14:creationId xmlns:p14="http://schemas.microsoft.com/office/powerpoint/2010/main" val="27578529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Threads</a:t>
            </a:r>
            <a:endParaRPr lang="en-US" dirty="0"/>
          </a:p>
        </p:txBody>
      </p:sp>
      <p:sp>
        <p:nvSpPr>
          <p:cNvPr id="3" name="Text Placeholder 2"/>
          <p:cNvSpPr>
            <a:spLocks noGrp="1"/>
          </p:cNvSpPr>
          <p:nvPr>
            <p:ph type="body" sz="quarter" idx="10"/>
          </p:nvPr>
        </p:nvSpPr>
        <p:spPr>
          <a:xfrm>
            <a:off x="381000" y="1447800"/>
            <a:ext cx="8363938" cy="3933384"/>
          </a:xfrm>
        </p:spPr>
        <p:txBody>
          <a:bodyPr/>
          <a:lstStyle/>
          <a:p>
            <a:r>
              <a:rPr lang="en-US" dirty="0" err="1" smtClean="0"/>
              <a:t>BackgroundWorker</a:t>
            </a:r>
            <a:endParaRPr lang="en-US" dirty="0" smtClean="0"/>
          </a:p>
          <a:p>
            <a:r>
              <a:rPr lang="en-US" dirty="0" smtClean="0"/>
              <a:t>.NET thread queue</a:t>
            </a:r>
          </a:p>
          <a:p>
            <a:r>
              <a:rPr lang="en-US" dirty="0" smtClean="0"/>
              <a:t>Important for performance</a:t>
            </a:r>
            <a:endParaRPr lang="en-US" dirty="0"/>
          </a:p>
          <a:p>
            <a:pPr lvl="1"/>
            <a:r>
              <a:rPr lang="en-US" dirty="0" smtClean="0"/>
              <a:t>Help keep the UI thread available for input &amp; events</a:t>
            </a:r>
          </a:p>
          <a:p>
            <a:pPr lvl="1"/>
            <a:r>
              <a:rPr lang="en-US" dirty="0" smtClean="0"/>
              <a:t>Use for XML, JSON, serialization processing</a:t>
            </a:r>
          </a:p>
          <a:p>
            <a:pPr lvl="1"/>
            <a:r>
              <a:rPr lang="en-US" dirty="0" smtClean="0"/>
              <a:t>Complex calculations, logic, server communication</a:t>
            </a:r>
          </a:p>
          <a:p>
            <a:r>
              <a:rPr lang="en-US" dirty="0" smtClean="0"/>
              <a:t>TIP: Use the background thread often to keep the UI thread as responsive as possible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37</a:t>
            </a:fld>
            <a:endParaRPr lang="en-US" dirty="0">
              <a:solidFill>
                <a:srgbClr val="6BBD46"/>
              </a:solidFill>
            </a:endParaRPr>
          </a:p>
        </p:txBody>
      </p:sp>
    </p:spTree>
    <p:extLst>
      <p:ext uri="{BB962C8B-B14F-4D97-AF65-F5344CB8AC3E}">
        <p14:creationId xmlns:p14="http://schemas.microsoft.com/office/powerpoint/2010/main" val="14156897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BackgroundWorker</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38</a:t>
            </a:fld>
            <a:endParaRPr lang="en-US" dirty="0">
              <a:solidFill>
                <a:srgbClr val="6BBD46"/>
              </a:solidFill>
            </a:endParaRPr>
          </a:p>
        </p:txBody>
      </p:sp>
      <p:sp>
        <p:nvSpPr>
          <p:cNvPr id="6" name="Rectangle 5"/>
          <p:cNvSpPr/>
          <p:nvPr/>
        </p:nvSpPr>
        <p:spPr bwMode="auto">
          <a:xfrm>
            <a:off x="397883" y="1405719"/>
            <a:ext cx="8304835" cy="3057099"/>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err="1">
                <a:solidFill>
                  <a:srgbClr val="2B91AF"/>
                </a:solidFill>
                <a:latin typeface="Consolas" pitchFamily="49" charset="0"/>
                <a:cs typeface="Consolas" pitchFamily="49" charset="0"/>
              </a:rPr>
              <a:t>BackgroundWorker</a:t>
            </a:r>
            <a:r>
              <a:rPr lang="en-US" sz="1600" dirty="0">
                <a:latin typeface="Consolas" pitchFamily="49" charset="0"/>
                <a:cs typeface="Consolas" pitchFamily="49" charset="0"/>
              </a:rPr>
              <a:t> </a:t>
            </a:r>
            <a:r>
              <a:rPr lang="en-US" sz="1600" dirty="0" err="1">
                <a:latin typeface="Consolas" pitchFamily="49" charset="0"/>
                <a:cs typeface="Consolas" pitchFamily="49" charset="0"/>
              </a:rPr>
              <a:t>bw</a:t>
            </a:r>
            <a:r>
              <a:rPr lang="en-US" sz="1600" dirty="0">
                <a:latin typeface="Consolas" pitchFamily="49" charset="0"/>
                <a:cs typeface="Consolas" pitchFamily="49" charset="0"/>
              </a:rPr>
              <a:t> = </a:t>
            </a:r>
            <a:r>
              <a:rPr lang="en-US" sz="1600" dirty="0">
                <a:solidFill>
                  <a:srgbClr val="0000FF"/>
                </a:solidFill>
                <a:latin typeface="Consolas" pitchFamily="49" charset="0"/>
                <a:cs typeface="Consolas" pitchFamily="49" charset="0"/>
              </a:rPr>
              <a:t>new</a:t>
            </a:r>
            <a:r>
              <a:rPr lang="en-US" sz="1600" dirty="0">
                <a:latin typeface="Consolas" pitchFamily="49" charset="0"/>
                <a:cs typeface="Consolas" pitchFamily="49" charset="0"/>
              </a:rPr>
              <a:t> </a:t>
            </a:r>
            <a:r>
              <a:rPr lang="en-US" sz="1600" dirty="0" err="1">
                <a:solidFill>
                  <a:srgbClr val="2B91AF"/>
                </a:solidFill>
                <a:latin typeface="Consolas" pitchFamily="49" charset="0"/>
                <a:cs typeface="Consolas" pitchFamily="49" charset="0"/>
              </a:rPr>
              <a:t>BackgroundWorker</a:t>
            </a:r>
            <a:r>
              <a:rPr lang="en-US" sz="1600" dirty="0">
                <a:latin typeface="Consolas" pitchFamily="49" charset="0"/>
                <a:cs typeface="Consolas" pitchFamily="49" charset="0"/>
              </a:rPr>
              <a:t>();</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err="1">
                <a:latin typeface="Consolas" pitchFamily="49" charset="0"/>
                <a:cs typeface="Consolas" pitchFamily="49" charset="0"/>
              </a:rPr>
              <a:t>bw.DoWork</a:t>
            </a:r>
            <a:r>
              <a:rPr lang="en-US" sz="1600" dirty="0">
                <a:latin typeface="Consolas" pitchFamily="49" charset="0"/>
                <a:cs typeface="Consolas" pitchFamily="49" charset="0"/>
              </a:rPr>
              <a:t> += </a:t>
            </a:r>
            <a:r>
              <a:rPr lang="en-US" sz="1600" dirty="0" err="1">
                <a:latin typeface="Consolas" pitchFamily="49" charset="0"/>
                <a:cs typeface="Consolas" pitchFamily="49" charset="0"/>
              </a:rPr>
              <a:t>BackgroundWork</a:t>
            </a:r>
            <a:r>
              <a:rPr lang="en-US" sz="1600" dirty="0">
                <a:latin typeface="Consolas" pitchFamily="49" charset="0"/>
                <a:cs typeface="Consolas" pitchFamily="49" charset="0"/>
              </a:rPr>
              <a:t>;</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err="1">
                <a:latin typeface="Consolas" pitchFamily="49" charset="0"/>
                <a:cs typeface="Consolas" pitchFamily="49" charset="0"/>
              </a:rPr>
              <a:t>bw.RunWorkerCompleted</a:t>
            </a:r>
            <a:r>
              <a:rPr lang="en-US" sz="1600" dirty="0">
                <a:latin typeface="Consolas" pitchFamily="49" charset="0"/>
                <a:cs typeface="Consolas" pitchFamily="49" charset="0"/>
              </a:rPr>
              <a:t> += (x, </a:t>
            </a:r>
            <a:r>
              <a:rPr lang="en-US" sz="1600" dirty="0" err="1">
                <a:latin typeface="Consolas" pitchFamily="49" charset="0"/>
                <a:cs typeface="Consolas" pitchFamily="49" charset="0"/>
              </a:rPr>
              <a:t>xe</a:t>
            </a:r>
            <a:r>
              <a:rPr lang="en-US" sz="1600" dirty="0">
                <a:latin typeface="Consolas" pitchFamily="49" charset="0"/>
                <a:cs typeface="Consolas" pitchFamily="49" charset="0"/>
              </a:rPr>
              <a:t>) =&gt; { </a:t>
            </a:r>
            <a:endParaRPr lang="en-US" sz="1600" dirty="0" smtClean="0">
              <a:latin typeface="Consolas" pitchFamily="49" charset="0"/>
              <a:cs typeface="Consolas" pitchFamily="49" charset="0"/>
            </a:endParaRPr>
          </a:p>
          <a:p>
            <a:r>
              <a:rPr lang="en-US" sz="1600" dirty="0" smtClean="0">
                <a:solidFill>
                  <a:srgbClr val="008000"/>
                </a:solidFill>
                <a:latin typeface="Consolas" pitchFamily="49" charset="0"/>
                <a:cs typeface="Consolas" pitchFamily="49" charset="0"/>
              </a:rPr>
              <a:t>        //</a:t>
            </a:r>
            <a:r>
              <a:rPr lang="en-US" sz="1600" dirty="0">
                <a:solidFill>
                  <a:srgbClr val="008000"/>
                </a:solidFill>
                <a:latin typeface="Consolas" pitchFamily="49" charset="0"/>
                <a:cs typeface="Consolas" pitchFamily="49" charset="0"/>
              </a:rPr>
              <a:t> This is </a:t>
            </a:r>
            <a:r>
              <a:rPr lang="en-US" sz="1600" dirty="0" smtClean="0">
                <a:solidFill>
                  <a:srgbClr val="008000"/>
                </a:solidFill>
                <a:latin typeface="Consolas" pitchFamily="49" charset="0"/>
                <a:cs typeface="Consolas" pitchFamily="49" charset="0"/>
              </a:rPr>
              <a:t>called on the</a:t>
            </a:r>
            <a:r>
              <a:rPr lang="en-US" sz="1600" dirty="0">
                <a:solidFill>
                  <a:srgbClr val="008000"/>
                </a:solidFill>
                <a:latin typeface="Consolas" pitchFamily="49" charset="0"/>
                <a:cs typeface="Consolas" pitchFamily="49" charset="0"/>
              </a:rPr>
              <a:t> UI </a:t>
            </a:r>
            <a:r>
              <a:rPr lang="en-US" sz="1600" dirty="0" smtClean="0">
                <a:solidFill>
                  <a:srgbClr val="008000"/>
                </a:solidFill>
                <a:latin typeface="Consolas" pitchFamily="49" charset="0"/>
                <a:cs typeface="Consolas" pitchFamily="49" charset="0"/>
              </a:rPr>
              <a:t>thread</a:t>
            </a:r>
            <a:r>
              <a:rPr lang="en-US" sz="1600" dirty="0">
                <a:latin typeface="Consolas" pitchFamily="49" charset="0"/>
                <a:cs typeface="Consolas" pitchFamily="49" charset="0"/>
              </a:rPr>
              <a:t> </a:t>
            </a:r>
            <a:endParaRPr lang="en-US" sz="1600" dirty="0" smtClean="0">
              <a:latin typeface="Consolas" pitchFamily="49" charset="0"/>
              <a:cs typeface="Consolas" pitchFamily="49" charset="0"/>
            </a:endParaRPr>
          </a:p>
          <a:p>
            <a:r>
              <a:rPr lang="en-US" sz="1600" dirty="0" smtClean="0">
                <a:latin typeface="Consolas" pitchFamily="49" charset="0"/>
                <a:cs typeface="Consolas" pitchFamily="49" charset="0"/>
              </a:rPr>
              <a:t>    };</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err="1" smtClean="0">
                <a:solidFill>
                  <a:srgbClr val="333333"/>
                </a:solidFill>
                <a:latin typeface="Consolas" pitchFamily="49" charset="0"/>
                <a:cs typeface="Consolas" pitchFamily="49" charset="0"/>
              </a:rPr>
              <a:t>bw.RunWorkerAsync</a:t>
            </a:r>
            <a:r>
              <a:rPr lang="en-US" sz="1600" dirty="0" smtClean="0">
                <a:latin typeface="Consolas" pitchFamily="49" charset="0"/>
                <a:cs typeface="Consolas" pitchFamily="49" charset="0"/>
              </a:rPr>
              <a:t>();</a:t>
            </a:r>
          </a:p>
          <a:p>
            <a:endParaRPr lang="en-US" sz="1600" dirty="0">
              <a:solidFill>
                <a:prstClr val="black"/>
              </a:solidFill>
              <a:latin typeface="Consolas" pitchFamily="49" charset="0"/>
              <a:cs typeface="Consolas" pitchFamily="49" charset="0"/>
            </a:endParaRPr>
          </a:p>
          <a:p>
            <a:r>
              <a:rPr lang="en-US" sz="1600" dirty="0">
                <a:solidFill>
                  <a:srgbClr val="0000FF"/>
                </a:solidFill>
                <a:latin typeface="Consolas" pitchFamily="49" charset="0"/>
                <a:cs typeface="Consolas" pitchFamily="49" charset="0"/>
              </a:rPr>
              <a:t>private</a:t>
            </a:r>
            <a:r>
              <a:rPr lang="en-US" sz="1600" dirty="0">
                <a:latin typeface="Consolas" pitchFamily="49" charset="0"/>
                <a:cs typeface="Consolas" pitchFamily="49" charset="0"/>
              </a:rPr>
              <a:t> </a:t>
            </a:r>
            <a:r>
              <a:rPr lang="en-US" sz="1600" dirty="0">
                <a:solidFill>
                  <a:srgbClr val="0000FF"/>
                </a:solidFill>
                <a:latin typeface="Consolas" pitchFamily="49" charset="0"/>
                <a:cs typeface="Consolas" pitchFamily="49" charset="0"/>
              </a:rPr>
              <a:t>void</a:t>
            </a:r>
            <a:r>
              <a:rPr lang="en-US" sz="1600" dirty="0">
                <a:latin typeface="Consolas" pitchFamily="49" charset="0"/>
                <a:cs typeface="Consolas" pitchFamily="49" charset="0"/>
              </a:rPr>
              <a:t> </a:t>
            </a:r>
            <a:r>
              <a:rPr lang="en-US" sz="1600" dirty="0" err="1">
                <a:latin typeface="Consolas" pitchFamily="49" charset="0"/>
                <a:cs typeface="Consolas" pitchFamily="49" charset="0"/>
              </a:rPr>
              <a:t>BackgroundWork</a:t>
            </a:r>
            <a:r>
              <a:rPr lang="en-US" sz="1600" dirty="0">
                <a:latin typeface="Consolas" pitchFamily="49" charset="0"/>
                <a:cs typeface="Consolas" pitchFamily="49" charset="0"/>
              </a:rPr>
              <a:t>(</a:t>
            </a:r>
            <a:r>
              <a:rPr lang="en-US" sz="1600" dirty="0">
                <a:solidFill>
                  <a:srgbClr val="0000FF"/>
                </a:solidFill>
                <a:latin typeface="Consolas" pitchFamily="49" charset="0"/>
                <a:cs typeface="Consolas" pitchFamily="49" charset="0"/>
              </a:rPr>
              <a:t>object</a:t>
            </a:r>
            <a:r>
              <a:rPr lang="en-US" sz="1600" dirty="0">
                <a:latin typeface="Consolas" pitchFamily="49" charset="0"/>
                <a:cs typeface="Consolas" pitchFamily="49" charset="0"/>
              </a:rPr>
              <a:t> sender, </a:t>
            </a:r>
            <a:r>
              <a:rPr lang="en-US" sz="1600" dirty="0" err="1">
                <a:solidFill>
                  <a:srgbClr val="2B91AF"/>
                </a:solidFill>
                <a:latin typeface="Consolas" pitchFamily="49" charset="0"/>
                <a:cs typeface="Consolas" pitchFamily="49" charset="0"/>
              </a:rPr>
              <a:t>DoWorkEventArgs</a:t>
            </a:r>
            <a:r>
              <a:rPr lang="en-US" sz="1600" dirty="0">
                <a:latin typeface="Consolas" pitchFamily="49" charset="0"/>
                <a:cs typeface="Consolas" pitchFamily="49" charset="0"/>
              </a:rPr>
              <a:t> e)</a:t>
            </a:r>
            <a:br>
              <a:rPr lang="en-US" sz="1600" dirty="0">
                <a:latin typeface="Consolas" pitchFamily="49" charset="0"/>
                <a:cs typeface="Consolas" pitchFamily="49" charset="0"/>
              </a:rPr>
            </a:br>
            <a:r>
              <a:rPr lang="en-US" sz="1600" dirty="0" smtClean="0">
                <a:latin typeface="Consolas" pitchFamily="49" charset="0"/>
                <a:cs typeface="Consolas" pitchFamily="49" charset="0"/>
              </a:rPr>
              <a:t>{</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a:latin typeface="Consolas" pitchFamily="49" charset="0"/>
                <a:cs typeface="Consolas" pitchFamily="49" charset="0"/>
              </a:rPr>
              <a:t>    </a:t>
            </a:r>
            <a:r>
              <a:rPr lang="en-US" sz="1600" dirty="0">
                <a:solidFill>
                  <a:srgbClr val="008000"/>
                </a:solidFill>
                <a:latin typeface="Consolas" pitchFamily="49" charset="0"/>
                <a:cs typeface="Consolas" pitchFamily="49" charset="0"/>
              </a:rPr>
              <a:t>// This </a:t>
            </a:r>
            <a:r>
              <a:rPr lang="en-US" sz="1600" dirty="0" smtClean="0">
                <a:solidFill>
                  <a:srgbClr val="008000"/>
                </a:solidFill>
                <a:latin typeface="Consolas" pitchFamily="49" charset="0"/>
                <a:cs typeface="Consolas" pitchFamily="49" charset="0"/>
              </a:rPr>
              <a:t>is where your</a:t>
            </a:r>
            <a:r>
              <a:rPr lang="en-US" sz="1600" dirty="0">
                <a:solidFill>
                  <a:srgbClr val="008000"/>
                </a:solidFill>
                <a:latin typeface="Consolas" pitchFamily="49" charset="0"/>
                <a:cs typeface="Consolas" pitchFamily="49" charset="0"/>
              </a:rPr>
              <a:t> </a:t>
            </a:r>
            <a:r>
              <a:rPr lang="en-US" sz="1600" dirty="0" smtClean="0">
                <a:solidFill>
                  <a:srgbClr val="008000"/>
                </a:solidFill>
                <a:latin typeface="Consolas" pitchFamily="49" charset="0"/>
                <a:cs typeface="Consolas" pitchFamily="49" charset="0"/>
              </a:rPr>
              <a:t>background magic</a:t>
            </a:r>
            <a:r>
              <a:rPr lang="en-US" sz="1600" dirty="0">
                <a:solidFill>
                  <a:srgbClr val="008000"/>
                </a:solidFill>
                <a:latin typeface="Consolas" pitchFamily="49" charset="0"/>
                <a:cs typeface="Consolas" pitchFamily="49" charset="0"/>
              </a:rPr>
              <a:t> </a:t>
            </a:r>
            <a:r>
              <a:rPr lang="en-US" sz="1600" dirty="0" smtClean="0">
                <a:solidFill>
                  <a:srgbClr val="008000"/>
                </a:solidFill>
                <a:latin typeface="Consolas" pitchFamily="49" charset="0"/>
                <a:cs typeface="Consolas" pitchFamily="49" charset="0"/>
              </a:rPr>
              <a:t>happens.</a:t>
            </a:r>
            <a:r>
              <a:rPr lang="en-US" sz="1600" dirty="0">
                <a:latin typeface="Consolas" pitchFamily="49" charset="0"/>
                <a:cs typeface="Consolas" pitchFamily="49" charset="0"/>
              </a:rPr>
              <a:t/>
            </a:r>
            <a:br>
              <a:rPr lang="en-US" sz="1600" dirty="0">
                <a:latin typeface="Consolas" pitchFamily="49" charset="0"/>
                <a:cs typeface="Consolas" pitchFamily="49" charset="0"/>
              </a:rPr>
            </a:br>
            <a:r>
              <a:rPr lang="en-US" sz="1600" dirty="0" smtClean="0">
                <a:latin typeface="Consolas" pitchFamily="49" charset="0"/>
                <a:cs typeface="Consolas" pitchFamily="49" charset="0"/>
              </a:rPr>
              <a:t>}</a:t>
            </a:r>
            <a:endParaRPr lang="en-US" sz="1600" dirty="0">
              <a:solidFill>
                <a:prstClr val="black"/>
              </a:solidFill>
              <a:latin typeface="Consolas" pitchFamily="49" charset="0"/>
              <a:cs typeface="Consolas" pitchFamily="49" charset="0"/>
            </a:endParaRPr>
          </a:p>
        </p:txBody>
      </p:sp>
    </p:spTree>
    <p:extLst>
      <p:ext uri="{BB962C8B-B14F-4D97-AF65-F5344CB8AC3E}">
        <p14:creationId xmlns:p14="http://schemas.microsoft.com/office/powerpoint/2010/main" val="27758439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sz="1800"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Media</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39</a:t>
            </a:fld>
            <a:endParaRPr lang="en-US" dirty="0"/>
          </a:p>
        </p:txBody>
      </p:sp>
    </p:spTree>
    <p:extLst>
      <p:ext uri="{BB962C8B-B14F-4D97-AF65-F5344CB8AC3E}">
        <p14:creationId xmlns:p14="http://schemas.microsoft.com/office/powerpoint/2010/main" val="20886935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MediaElement</a:t>
            </a:r>
            <a:endParaRPr lang="en-US" dirty="0"/>
          </a:p>
        </p:txBody>
      </p:sp>
      <p:sp>
        <p:nvSpPr>
          <p:cNvPr id="3" name="Text Placeholder 2"/>
          <p:cNvSpPr>
            <a:spLocks noGrp="1"/>
          </p:cNvSpPr>
          <p:nvPr>
            <p:ph type="body" sz="quarter" idx="10"/>
          </p:nvPr>
        </p:nvSpPr>
        <p:spPr>
          <a:xfrm>
            <a:off x="381000" y="1447800"/>
            <a:ext cx="8363938" cy="2511457"/>
          </a:xfrm>
        </p:spPr>
        <p:txBody>
          <a:bodyPr/>
          <a:lstStyle/>
          <a:p>
            <a:r>
              <a:rPr lang="en-US" dirty="0" smtClean="0"/>
              <a:t>Media element plays audio or video</a:t>
            </a:r>
          </a:p>
          <a:p>
            <a:r>
              <a:rPr lang="en-US" dirty="0" smtClean="0"/>
              <a:t>Proper visual element – place it inside your app, overlay with controls and visuals</a:t>
            </a:r>
          </a:p>
          <a:p>
            <a:endParaRPr lang="en-US" dirty="0"/>
          </a:p>
          <a:p>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40</a:t>
            </a:fld>
            <a:endParaRPr lang="en-US" dirty="0">
              <a:solidFill>
                <a:srgbClr val="6BBD46"/>
              </a:solidFill>
            </a:endParaRPr>
          </a:p>
        </p:txBody>
      </p:sp>
      <p:sp>
        <p:nvSpPr>
          <p:cNvPr id="5" name="Rectangle 4"/>
          <p:cNvSpPr/>
          <p:nvPr/>
        </p:nvSpPr>
        <p:spPr bwMode="auto">
          <a:xfrm>
            <a:off x="397884" y="3125338"/>
            <a:ext cx="8304835" cy="3070746"/>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500" dirty="0">
                <a:solidFill>
                  <a:srgbClr val="0000FF"/>
                </a:solidFill>
                <a:latin typeface="Consolas" pitchFamily="49" charset="0"/>
                <a:cs typeface="Consolas" pitchFamily="49" charset="0"/>
              </a:rPr>
              <a:t>&lt;</a:t>
            </a:r>
            <a:r>
              <a:rPr lang="en-US" sz="1500" dirty="0">
                <a:solidFill>
                  <a:srgbClr val="A31515"/>
                </a:solidFill>
                <a:latin typeface="Consolas" pitchFamily="49" charset="0"/>
                <a:cs typeface="Consolas" pitchFamily="49" charset="0"/>
              </a:rPr>
              <a:t>Grid</a:t>
            </a:r>
            <a:r>
              <a:rPr lang="en-US" sz="1500" dirty="0">
                <a:solidFill>
                  <a:srgbClr val="0000FF"/>
                </a:solidFill>
                <a:latin typeface="Consolas" pitchFamily="49" charset="0"/>
                <a:cs typeface="Consolas" pitchFamily="49" charset="0"/>
              </a:rPr>
              <a:t>&gt;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err="1">
                <a:solidFill>
                  <a:srgbClr val="A31515"/>
                </a:solidFill>
                <a:latin typeface="Consolas" pitchFamily="49" charset="0"/>
                <a:cs typeface="Consolas" pitchFamily="49" charset="0"/>
              </a:rPr>
              <a:t>Grid.RowDefinitions</a:t>
            </a:r>
            <a:r>
              <a:rPr lang="en-US" sz="1500" dirty="0">
                <a:solidFill>
                  <a:srgbClr val="0000FF"/>
                </a:solidFill>
                <a:latin typeface="Consolas" pitchFamily="49" charset="0"/>
                <a:cs typeface="Consolas" pitchFamily="49" charset="0"/>
              </a:rPr>
              <a:t>&gt;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err="1">
                <a:solidFill>
                  <a:srgbClr val="A31515"/>
                </a:solidFill>
                <a:latin typeface="Consolas" pitchFamily="49" charset="0"/>
                <a:cs typeface="Consolas" pitchFamily="49" charset="0"/>
              </a:rPr>
              <a:t>RowDefinition</a:t>
            </a:r>
            <a:r>
              <a:rPr lang="en-US" sz="1500" dirty="0">
                <a:solidFill>
                  <a:srgbClr val="0000FF"/>
                </a:solidFill>
                <a:latin typeface="Consolas" pitchFamily="49" charset="0"/>
                <a:cs typeface="Consolas" pitchFamily="49" charset="0"/>
              </a:rPr>
              <a:t> /&gt;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err="1">
                <a:solidFill>
                  <a:srgbClr val="A31515"/>
                </a:solidFill>
                <a:latin typeface="Consolas" pitchFamily="49" charset="0"/>
                <a:cs typeface="Consolas" pitchFamily="49" charset="0"/>
              </a:rPr>
              <a:t>RowDefinition</a:t>
            </a:r>
            <a:r>
              <a:rPr lang="en-US" sz="1500" dirty="0">
                <a:solidFill>
                  <a:srgbClr val="FF0000"/>
                </a:solidFill>
                <a:latin typeface="Consolas" pitchFamily="49" charset="0"/>
                <a:cs typeface="Consolas" pitchFamily="49" charset="0"/>
              </a:rPr>
              <a:t> Height</a:t>
            </a:r>
            <a:r>
              <a:rPr lang="en-US" sz="1500" dirty="0">
                <a:solidFill>
                  <a:srgbClr val="0000FF"/>
                </a:solidFill>
                <a:latin typeface="Consolas" pitchFamily="49" charset="0"/>
                <a:cs typeface="Consolas" pitchFamily="49" charset="0"/>
              </a:rPr>
              <a:t>="180"/&gt;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err="1">
                <a:solidFill>
                  <a:srgbClr val="A31515"/>
                </a:solidFill>
                <a:latin typeface="Consolas" pitchFamily="49" charset="0"/>
                <a:cs typeface="Consolas" pitchFamily="49" charset="0"/>
              </a:rPr>
              <a:t>Grid.RowDefinitions</a:t>
            </a:r>
            <a:r>
              <a:rPr lang="en-US" sz="1500" dirty="0">
                <a:solidFill>
                  <a:srgbClr val="0000FF"/>
                </a:solidFill>
                <a:latin typeface="Consolas" pitchFamily="49" charset="0"/>
                <a:cs typeface="Consolas" pitchFamily="49" charset="0"/>
              </a:rPr>
              <a:t>&gt;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err="1">
                <a:solidFill>
                  <a:srgbClr val="A31515"/>
                </a:solidFill>
                <a:latin typeface="Consolas" pitchFamily="49" charset="0"/>
                <a:cs typeface="Consolas" pitchFamily="49" charset="0"/>
              </a:rPr>
              <a:t>MediaElement</a:t>
            </a:r>
            <a:r>
              <a:rPr lang="en-US" sz="1500" dirty="0">
                <a:solidFill>
                  <a:srgbClr val="FF0000"/>
                </a:solidFill>
                <a:latin typeface="Consolas" pitchFamily="49" charset="0"/>
                <a:cs typeface="Consolas" pitchFamily="49" charset="0"/>
              </a:rPr>
              <a:t> </a:t>
            </a:r>
            <a:r>
              <a:rPr lang="en-US" sz="1500" dirty="0" err="1">
                <a:solidFill>
                  <a:srgbClr val="FF0000"/>
                </a:solidFill>
                <a:latin typeface="Consolas" pitchFamily="49" charset="0"/>
                <a:cs typeface="Consolas" pitchFamily="49" charset="0"/>
              </a:rPr>
              <a:t>Grid.RowSpan</a:t>
            </a:r>
            <a:r>
              <a:rPr lang="en-US" sz="1500" dirty="0">
                <a:solidFill>
                  <a:srgbClr val="0000FF"/>
                </a:solidFill>
                <a:latin typeface="Consolas" pitchFamily="49" charset="0"/>
                <a:cs typeface="Consolas" pitchFamily="49" charset="0"/>
              </a:rPr>
              <a:t>="2"</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latin typeface="Consolas" pitchFamily="49" charset="0"/>
                <a:cs typeface="Consolas" pitchFamily="49" charset="0"/>
              </a:rPr>
              <a:t>                  </a:t>
            </a:r>
            <a:r>
              <a:rPr lang="en-US" sz="1500" dirty="0" smtClean="0">
                <a:solidFill>
                  <a:srgbClr val="FF0000"/>
                </a:solidFill>
                <a:latin typeface="Consolas" pitchFamily="49" charset="0"/>
                <a:cs typeface="Consolas" pitchFamily="49" charset="0"/>
              </a:rPr>
              <a:t>Source</a:t>
            </a:r>
            <a:r>
              <a:rPr lang="en-US" sz="1500" dirty="0">
                <a:solidFill>
                  <a:srgbClr val="0000FF"/>
                </a:solidFill>
                <a:latin typeface="Consolas" pitchFamily="49" charset="0"/>
                <a:cs typeface="Consolas" pitchFamily="49" charset="0"/>
              </a:rPr>
              <a:t>="/Intro.wmv"</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latin typeface="Consolas" pitchFamily="49" charset="0"/>
                <a:cs typeface="Consolas" pitchFamily="49" charset="0"/>
              </a:rPr>
              <a:t>                  </a:t>
            </a:r>
            <a:r>
              <a:rPr lang="en-US" sz="1500" dirty="0" smtClean="0">
                <a:solidFill>
                  <a:srgbClr val="FF0000"/>
                </a:solidFill>
                <a:latin typeface="Consolas" pitchFamily="49" charset="0"/>
                <a:cs typeface="Consolas" pitchFamily="49" charset="0"/>
              </a:rPr>
              <a:t>AutoPlay</a:t>
            </a:r>
            <a:r>
              <a:rPr lang="en-US" sz="1500" dirty="0">
                <a:solidFill>
                  <a:srgbClr val="0000FF"/>
                </a:solidFill>
                <a:latin typeface="Consolas" pitchFamily="49" charset="0"/>
                <a:cs typeface="Consolas" pitchFamily="49" charset="0"/>
              </a:rPr>
              <a:t>="True"</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latin typeface="Consolas" pitchFamily="49" charset="0"/>
                <a:cs typeface="Consolas" pitchFamily="49" charset="0"/>
              </a:rPr>
              <a:t>                  </a:t>
            </a:r>
            <a:r>
              <a:rPr lang="en-US" sz="1500" dirty="0" smtClean="0">
                <a:solidFill>
                  <a:srgbClr val="FF0000"/>
                </a:solidFill>
                <a:latin typeface="Consolas" pitchFamily="49" charset="0"/>
                <a:cs typeface="Consolas" pitchFamily="49" charset="0"/>
              </a:rPr>
              <a:t>Stretch</a:t>
            </a:r>
            <a:r>
              <a:rPr lang="en-US" sz="1500" dirty="0">
                <a:solidFill>
                  <a:srgbClr val="0000FF"/>
                </a:solidFill>
                <a:latin typeface="Consolas" pitchFamily="49" charset="0"/>
                <a:cs typeface="Consolas" pitchFamily="49" charset="0"/>
              </a:rPr>
              <a:t>="</a:t>
            </a:r>
            <a:r>
              <a:rPr lang="en-US" sz="1500" dirty="0" err="1">
                <a:solidFill>
                  <a:srgbClr val="0000FF"/>
                </a:solidFill>
                <a:latin typeface="Consolas" pitchFamily="49" charset="0"/>
                <a:cs typeface="Consolas" pitchFamily="49" charset="0"/>
              </a:rPr>
              <a:t>UniformToFill</a:t>
            </a:r>
            <a:r>
              <a:rPr lang="en-US" sz="1500" dirty="0">
                <a:solidFill>
                  <a:srgbClr val="0000FF"/>
                </a:solidFill>
                <a:latin typeface="Consolas" pitchFamily="49" charset="0"/>
                <a:cs typeface="Consolas" pitchFamily="49" charset="0"/>
              </a:rPr>
              <a:t>"/&gt;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a:solidFill>
                  <a:srgbClr val="A31515"/>
                </a:solidFill>
                <a:latin typeface="Consolas" pitchFamily="49" charset="0"/>
                <a:cs typeface="Consolas" pitchFamily="49" charset="0"/>
              </a:rPr>
              <a:t>Grid</a:t>
            </a:r>
            <a:r>
              <a:rPr lang="en-US" sz="1500" dirty="0">
                <a:solidFill>
                  <a:srgbClr val="FF0000"/>
                </a:solidFill>
                <a:latin typeface="Consolas" pitchFamily="49" charset="0"/>
                <a:cs typeface="Consolas" pitchFamily="49" charset="0"/>
              </a:rPr>
              <a:t> </a:t>
            </a:r>
            <a:r>
              <a:rPr lang="en-US" sz="1500" dirty="0" err="1">
                <a:solidFill>
                  <a:srgbClr val="FF0000"/>
                </a:solidFill>
                <a:latin typeface="Consolas" pitchFamily="49" charset="0"/>
                <a:cs typeface="Consolas" pitchFamily="49" charset="0"/>
              </a:rPr>
              <a:t>Grid.Row</a:t>
            </a:r>
            <a:r>
              <a:rPr lang="en-US" sz="1500" dirty="0">
                <a:solidFill>
                  <a:srgbClr val="0000FF"/>
                </a:solidFill>
                <a:latin typeface="Consolas" pitchFamily="49" charset="0"/>
                <a:cs typeface="Consolas" pitchFamily="49" charset="0"/>
              </a:rPr>
              <a:t>="1"</a:t>
            </a:r>
            <a:r>
              <a:rPr lang="en-US" sz="1500" dirty="0">
                <a:solidFill>
                  <a:srgbClr val="FF0000"/>
                </a:solidFill>
                <a:latin typeface="Consolas" pitchFamily="49" charset="0"/>
                <a:cs typeface="Consolas" pitchFamily="49" charset="0"/>
              </a:rPr>
              <a:t> Background</a:t>
            </a:r>
            <a:r>
              <a:rPr lang="en-US" sz="1500" dirty="0">
                <a:solidFill>
                  <a:srgbClr val="0000FF"/>
                </a:solidFill>
                <a:latin typeface="Consolas" pitchFamily="49" charset="0"/>
                <a:cs typeface="Consolas" pitchFamily="49" charset="0"/>
              </a:rPr>
              <a:t>="Black"</a:t>
            </a:r>
            <a:r>
              <a:rPr lang="en-US" sz="1500" dirty="0">
                <a:solidFill>
                  <a:srgbClr val="FF0000"/>
                </a:solidFill>
                <a:latin typeface="Consolas" pitchFamily="49" charset="0"/>
                <a:cs typeface="Consolas" pitchFamily="49" charset="0"/>
              </a:rPr>
              <a:t> Opacity</a:t>
            </a:r>
            <a:r>
              <a:rPr lang="en-US" sz="1500" dirty="0">
                <a:solidFill>
                  <a:srgbClr val="0000FF"/>
                </a:solidFill>
                <a:latin typeface="Consolas" pitchFamily="49" charset="0"/>
                <a:cs typeface="Consolas" pitchFamily="49" charset="0"/>
              </a:rPr>
              <a:t>=".6"&gt;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8000"/>
                </a:solidFill>
                <a:latin typeface="Consolas" pitchFamily="49" charset="0"/>
                <a:cs typeface="Consolas" pitchFamily="49" charset="0"/>
              </a:rPr>
              <a:t>&lt;!-- Put playback controls here --&gt;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A31515"/>
                </a:solidFill>
                <a:latin typeface="Consolas" pitchFamily="49" charset="0"/>
                <a:cs typeface="Consolas" pitchFamily="49" charset="0"/>
              </a:rPr>
              <a:t>    </a:t>
            </a:r>
            <a:r>
              <a:rPr lang="en-US" sz="1500" dirty="0">
                <a:solidFill>
                  <a:srgbClr val="0000FF"/>
                </a:solidFill>
                <a:latin typeface="Consolas" pitchFamily="49" charset="0"/>
                <a:cs typeface="Consolas" pitchFamily="49" charset="0"/>
              </a:rPr>
              <a:t>&lt;/</a:t>
            </a:r>
            <a:r>
              <a:rPr lang="en-US" sz="1500" dirty="0">
                <a:solidFill>
                  <a:srgbClr val="A31515"/>
                </a:solidFill>
                <a:latin typeface="Consolas" pitchFamily="49" charset="0"/>
                <a:cs typeface="Consolas" pitchFamily="49" charset="0"/>
              </a:rPr>
              <a:t>Grid</a:t>
            </a:r>
            <a:r>
              <a:rPr lang="en-US" sz="1500" dirty="0">
                <a:solidFill>
                  <a:srgbClr val="0000FF"/>
                </a:solidFill>
                <a:latin typeface="Consolas" pitchFamily="49" charset="0"/>
                <a:cs typeface="Consolas" pitchFamily="49" charset="0"/>
              </a:rPr>
              <a:t>&gt;</a:t>
            </a:r>
            <a:r>
              <a:rPr lang="en-US" sz="1500" dirty="0">
                <a:latin typeface="Consolas" pitchFamily="49" charset="0"/>
                <a:cs typeface="Consolas" pitchFamily="49" charset="0"/>
              </a:rPr>
              <a:t/>
            </a:r>
            <a:br>
              <a:rPr lang="en-US" sz="1500" dirty="0">
                <a:latin typeface="Consolas" pitchFamily="49" charset="0"/>
                <a:cs typeface="Consolas" pitchFamily="49" charset="0"/>
              </a:rPr>
            </a:br>
            <a:r>
              <a:rPr lang="en-US" sz="1500" dirty="0">
                <a:solidFill>
                  <a:srgbClr val="0000FF"/>
                </a:solidFill>
                <a:latin typeface="Consolas" pitchFamily="49" charset="0"/>
                <a:cs typeface="Consolas" pitchFamily="49" charset="0"/>
              </a:rPr>
              <a:t>&lt;/</a:t>
            </a:r>
            <a:r>
              <a:rPr lang="en-US" sz="1500" dirty="0">
                <a:solidFill>
                  <a:srgbClr val="A31515"/>
                </a:solidFill>
                <a:latin typeface="Consolas" pitchFamily="49" charset="0"/>
                <a:cs typeface="Consolas" pitchFamily="49" charset="0"/>
              </a:rPr>
              <a:t>Grid</a:t>
            </a:r>
            <a:r>
              <a:rPr lang="en-US" sz="1500" dirty="0">
                <a:solidFill>
                  <a:srgbClr val="0000FF"/>
                </a:solidFill>
                <a:latin typeface="Consolas" pitchFamily="49" charset="0"/>
                <a:cs typeface="Consolas" pitchFamily="49" charset="0"/>
              </a:rPr>
              <a:t>&gt;</a:t>
            </a:r>
            <a:endParaRPr lang="en-US" sz="1500" dirty="0">
              <a:solidFill>
                <a:prstClr val="black"/>
              </a:solidFill>
              <a:latin typeface="Consolas" pitchFamily="49" charset="0"/>
              <a:cs typeface="Consolas" pitchFamily="49" charset="0"/>
            </a:endParaRPr>
          </a:p>
        </p:txBody>
      </p:sp>
    </p:spTree>
    <p:extLst>
      <p:ext uri="{BB962C8B-B14F-4D97-AF65-F5344CB8AC3E}">
        <p14:creationId xmlns:p14="http://schemas.microsoft.com/office/powerpoint/2010/main" val="4375302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MediaPlayerLauncher</a:t>
            </a:r>
            <a:endParaRPr lang="en-US" dirty="0"/>
          </a:p>
        </p:txBody>
      </p:sp>
      <p:sp>
        <p:nvSpPr>
          <p:cNvPr id="3" name="Text Placeholder 2"/>
          <p:cNvSpPr>
            <a:spLocks noGrp="1"/>
          </p:cNvSpPr>
          <p:nvPr>
            <p:ph type="body" sz="quarter" idx="10"/>
          </p:nvPr>
        </p:nvSpPr>
        <p:spPr>
          <a:xfrm>
            <a:off x="381000" y="1447800"/>
            <a:ext cx="8363938" cy="1428083"/>
          </a:xfrm>
        </p:spPr>
        <p:txBody>
          <a:bodyPr/>
          <a:lstStyle/>
          <a:p>
            <a:r>
              <a:rPr lang="en-US" dirty="0" smtClean="0"/>
              <a:t>Opens the OS media player with content of your choice</a:t>
            </a:r>
          </a:p>
          <a:p>
            <a:r>
              <a:rPr lang="en-US" dirty="0" smtClean="0"/>
              <a:t>You select the playback controls (pause, etc.)</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41</a:t>
            </a:fld>
            <a:endParaRPr lang="en-US" dirty="0">
              <a:solidFill>
                <a:srgbClr val="6BBD46"/>
              </a:solidFill>
            </a:endParaRPr>
          </a:p>
        </p:txBody>
      </p:sp>
      <p:sp>
        <p:nvSpPr>
          <p:cNvPr id="5" name="Rectangle 4"/>
          <p:cNvSpPr/>
          <p:nvPr/>
        </p:nvSpPr>
        <p:spPr bwMode="auto">
          <a:xfrm>
            <a:off x="397884" y="3302758"/>
            <a:ext cx="8304835" cy="2347414"/>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274320" tIns="45718" rIns="91436" bIns="45718" numCol="1" rtlCol="0" anchor="ctr" anchorCtr="0" compatLnSpc="1">
            <a:prstTxWarp prst="textNoShape">
              <a:avLst/>
            </a:prstTxWarp>
          </a:bodyPr>
          <a:lstStyle/>
          <a:p>
            <a:r>
              <a:rPr lang="en-US" sz="1600" dirty="0" err="1">
                <a:solidFill>
                  <a:srgbClr val="333333"/>
                </a:solidFill>
                <a:latin typeface="Consolas" pitchFamily="49" charset="0"/>
                <a:cs typeface="Consolas" pitchFamily="49" charset="0"/>
              </a:rPr>
              <a:t>MediaPlayerLauncher</a:t>
            </a:r>
            <a:r>
              <a:rPr lang="en-US" sz="1600" dirty="0">
                <a:solidFill>
                  <a:srgbClr val="333333"/>
                </a:solidFill>
                <a:latin typeface="Consolas" pitchFamily="49" charset="0"/>
                <a:cs typeface="Consolas" pitchFamily="49" charset="0"/>
              </a:rPr>
              <a:t> </a:t>
            </a:r>
            <a:r>
              <a:rPr lang="en-US" sz="1600" dirty="0" err="1">
                <a:solidFill>
                  <a:srgbClr val="333333"/>
                </a:solidFill>
                <a:latin typeface="Consolas" pitchFamily="49" charset="0"/>
                <a:cs typeface="Consolas" pitchFamily="49" charset="0"/>
              </a:rPr>
              <a:t>mediaPlayerLauncher</a:t>
            </a:r>
            <a:r>
              <a:rPr lang="en-US" sz="1600" dirty="0">
                <a:solidFill>
                  <a:srgbClr val="333333"/>
                </a:solidFill>
                <a:latin typeface="Consolas" pitchFamily="49" charset="0"/>
                <a:cs typeface="Consolas" pitchFamily="49" charset="0"/>
              </a:rPr>
              <a:t> = new </a:t>
            </a:r>
            <a:r>
              <a:rPr lang="en-US" sz="1600" dirty="0" err="1">
                <a:solidFill>
                  <a:srgbClr val="333333"/>
                </a:solidFill>
                <a:latin typeface="Consolas" pitchFamily="49" charset="0"/>
                <a:cs typeface="Consolas" pitchFamily="49" charset="0"/>
              </a:rPr>
              <a:t>MediaPlayerLauncher</a:t>
            </a:r>
            <a:r>
              <a:rPr lang="en-US" sz="1600" dirty="0">
                <a:solidFill>
                  <a:srgbClr val="333333"/>
                </a:solidFill>
                <a:latin typeface="Consolas" pitchFamily="49" charset="0"/>
                <a:cs typeface="Consolas" pitchFamily="49" charset="0"/>
              </a:rPr>
              <a:t>(); </a:t>
            </a:r>
            <a:r>
              <a:rPr lang="en-US" sz="1600" dirty="0" err="1">
                <a:solidFill>
                  <a:srgbClr val="333333"/>
                </a:solidFill>
                <a:latin typeface="Consolas" pitchFamily="49" charset="0"/>
                <a:cs typeface="Consolas" pitchFamily="49" charset="0"/>
              </a:rPr>
              <a:t>mediaPlayerLauncher.Media</a:t>
            </a:r>
            <a:r>
              <a:rPr lang="en-US" sz="1600" dirty="0">
                <a:solidFill>
                  <a:srgbClr val="333333"/>
                </a:solidFill>
                <a:latin typeface="Consolas" pitchFamily="49" charset="0"/>
                <a:cs typeface="Consolas" pitchFamily="49" charset="0"/>
              </a:rPr>
              <a:t> = new Uri</a:t>
            </a:r>
            <a:r>
              <a:rPr lang="en-US" sz="1600" dirty="0" smtClean="0">
                <a:solidFill>
                  <a:srgbClr val="333333"/>
                </a:solidFill>
                <a:latin typeface="Consolas" pitchFamily="49" charset="0"/>
                <a:cs typeface="Consolas" pitchFamily="49" charset="0"/>
              </a:rPr>
              <a:t>(“Intro.wmv”, </a:t>
            </a:r>
            <a:r>
              <a:rPr lang="en-US" sz="1600" dirty="0" err="1">
                <a:solidFill>
                  <a:srgbClr val="333333"/>
                </a:solidFill>
                <a:latin typeface="Consolas" pitchFamily="49" charset="0"/>
                <a:cs typeface="Consolas" pitchFamily="49" charset="0"/>
              </a:rPr>
              <a:t>UriKind.Relative</a:t>
            </a:r>
            <a:r>
              <a:rPr lang="en-US" sz="1600" dirty="0">
                <a:solidFill>
                  <a:srgbClr val="333333"/>
                </a:solidFill>
                <a:latin typeface="Consolas" pitchFamily="49" charset="0"/>
                <a:cs typeface="Consolas" pitchFamily="49" charset="0"/>
              </a:rPr>
              <a:t>); </a:t>
            </a:r>
            <a:r>
              <a:rPr lang="en-US" sz="1600" dirty="0" err="1">
                <a:solidFill>
                  <a:srgbClr val="333333"/>
                </a:solidFill>
                <a:latin typeface="Consolas" pitchFamily="49" charset="0"/>
                <a:cs typeface="Consolas" pitchFamily="49" charset="0"/>
              </a:rPr>
              <a:t>mediaPlayerLauncher.Location</a:t>
            </a:r>
            <a:r>
              <a:rPr lang="en-US" sz="1600" dirty="0">
                <a:solidFill>
                  <a:srgbClr val="333333"/>
                </a:solidFill>
                <a:latin typeface="Consolas" pitchFamily="49" charset="0"/>
                <a:cs typeface="Consolas" pitchFamily="49" charset="0"/>
              </a:rPr>
              <a:t> = </a:t>
            </a:r>
            <a:r>
              <a:rPr lang="en-US" sz="1600" dirty="0" err="1">
                <a:solidFill>
                  <a:srgbClr val="333333"/>
                </a:solidFill>
                <a:latin typeface="Consolas" pitchFamily="49" charset="0"/>
                <a:cs typeface="Consolas" pitchFamily="49" charset="0"/>
              </a:rPr>
              <a:t>MediaLocationType.Data</a:t>
            </a:r>
            <a:r>
              <a:rPr lang="en-US" sz="1600" dirty="0">
                <a:solidFill>
                  <a:srgbClr val="333333"/>
                </a:solidFill>
                <a:latin typeface="Consolas" pitchFamily="49" charset="0"/>
                <a:cs typeface="Consolas" pitchFamily="49" charset="0"/>
              </a:rPr>
              <a:t>; </a:t>
            </a:r>
            <a:endParaRPr lang="en-US" sz="1600" dirty="0" smtClean="0">
              <a:solidFill>
                <a:srgbClr val="333333"/>
              </a:solidFill>
              <a:latin typeface="Consolas" pitchFamily="49" charset="0"/>
              <a:cs typeface="Consolas" pitchFamily="49" charset="0"/>
            </a:endParaRPr>
          </a:p>
          <a:p>
            <a:endParaRPr lang="en-US" sz="1600" dirty="0">
              <a:solidFill>
                <a:srgbClr val="333333"/>
              </a:solidFill>
              <a:latin typeface="Consolas" pitchFamily="49" charset="0"/>
              <a:cs typeface="Consolas" pitchFamily="49" charset="0"/>
            </a:endParaRPr>
          </a:p>
          <a:p>
            <a:r>
              <a:rPr lang="en-US" sz="1600" dirty="0" err="1" smtClean="0">
                <a:solidFill>
                  <a:srgbClr val="333333"/>
                </a:solidFill>
                <a:latin typeface="Consolas" pitchFamily="49" charset="0"/>
                <a:cs typeface="Consolas" pitchFamily="49" charset="0"/>
              </a:rPr>
              <a:t>mediaPlayerLauncher.Controls</a:t>
            </a:r>
            <a:r>
              <a:rPr lang="en-US" sz="1600" dirty="0" smtClean="0">
                <a:solidFill>
                  <a:srgbClr val="333333"/>
                </a:solidFill>
                <a:latin typeface="Consolas" pitchFamily="49" charset="0"/>
                <a:cs typeface="Consolas" pitchFamily="49" charset="0"/>
              </a:rPr>
              <a:t> </a:t>
            </a:r>
            <a:r>
              <a:rPr lang="en-US" sz="1600" dirty="0">
                <a:solidFill>
                  <a:srgbClr val="333333"/>
                </a:solidFill>
                <a:latin typeface="Consolas" pitchFamily="49" charset="0"/>
                <a:cs typeface="Consolas" pitchFamily="49" charset="0"/>
              </a:rPr>
              <a:t>= </a:t>
            </a:r>
            <a:endParaRPr lang="en-US" sz="1600" dirty="0" smtClean="0">
              <a:solidFill>
                <a:srgbClr val="333333"/>
              </a:solidFill>
              <a:latin typeface="Consolas" pitchFamily="49" charset="0"/>
              <a:cs typeface="Consolas" pitchFamily="49" charset="0"/>
            </a:endParaRPr>
          </a:p>
          <a:p>
            <a:r>
              <a:rPr lang="en-US" sz="1600" dirty="0">
                <a:solidFill>
                  <a:srgbClr val="333333"/>
                </a:solidFill>
                <a:latin typeface="Consolas" pitchFamily="49" charset="0"/>
                <a:cs typeface="Consolas" pitchFamily="49" charset="0"/>
              </a:rPr>
              <a:t> </a:t>
            </a:r>
            <a:r>
              <a:rPr lang="en-US" sz="1600" dirty="0" smtClean="0">
                <a:solidFill>
                  <a:srgbClr val="333333"/>
                </a:solidFill>
                <a:latin typeface="Consolas" pitchFamily="49" charset="0"/>
                <a:cs typeface="Consolas" pitchFamily="49" charset="0"/>
              </a:rPr>
              <a:t>   </a:t>
            </a:r>
            <a:r>
              <a:rPr lang="en-US" sz="1600" dirty="0" err="1" smtClean="0">
                <a:solidFill>
                  <a:srgbClr val="333333"/>
                </a:solidFill>
                <a:latin typeface="Consolas" pitchFamily="49" charset="0"/>
                <a:cs typeface="Consolas" pitchFamily="49" charset="0"/>
              </a:rPr>
              <a:t>MediaPlaybackControls.Pause</a:t>
            </a:r>
            <a:r>
              <a:rPr lang="en-US" sz="1600" dirty="0" smtClean="0">
                <a:solidFill>
                  <a:srgbClr val="333333"/>
                </a:solidFill>
                <a:latin typeface="Consolas" pitchFamily="49" charset="0"/>
                <a:cs typeface="Consolas" pitchFamily="49" charset="0"/>
              </a:rPr>
              <a:t> </a:t>
            </a:r>
            <a:r>
              <a:rPr lang="en-US" sz="1600" dirty="0">
                <a:solidFill>
                  <a:srgbClr val="333333"/>
                </a:solidFill>
                <a:latin typeface="Consolas" pitchFamily="49" charset="0"/>
                <a:cs typeface="Consolas" pitchFamily="49" charset="0"/>
              </a:rPr>
              <a:t>| </a:t>
            </a:r>
            <a:r>
              <a:rPr lang="en-US" sz="1600" dirty="0" err="1" smtClean="0">
                <a:solidFill>
                  <a:srgbClr val="333333"/>
                </a:solidFill>
                <a:latin typeface="Consolas" pitchFamily="49" charset="0"/>
                <a:cs typeface="Consolas" pitchFamily="49" charset="0"/>
              </a:rPr>
              <a:t>MediaPlaybackControls.Stop</a:t>
            </a:r>
            <a:r>
              <a:rPr lang="en-US" sz="1600" dirty="0" smtClean="0">
                <a:solidFill>
                  <a:srgbClr val="333333"/>
                </a:solidFill>
                <a:latin typeface="Consolas" pitchFamily="49" charset="0"/>
                <a:cs typeface="Consolas" pitchFamily="49" charset="0"/>
              </a:rPr>
              <a:t>;</a:t>
            </a:r>
          </a:p>
          <a:p>
            <a:endParaRPr lang="en-US" sz="1600" dirty="0" smtClean="0">
              <a:solidFill>
                <a:srgbClr val="333333"/>
              </a:solidFill>
              <a:latin typeface="Consolas" pitchFamily="49" charset="0"/>
              <a:cs typeface="Consolas" pitchFamily="49" charset="0"/>
            </a:endParaRPr>
          </a:p>
          <a:p>
            <a:r>
              <a:rPr lang="en-US" sz="1600" dirty="0" err="1" smtClean="0">
                <a:solidFill>
                  <a:srgbClr val="333333"/>
                </a:solidFill>
                <a:latin typeface="Consolas" pitchFamily="49" charset="0"/>
                <a:cs typeface="Consolas" pitchFamily="49" charset="0"/>
              </a:rPr>
              <a:t>mediaPlayerLauncher.</a:t>
            </a:r>
            <a:r>
              <a:rPr lang="en-US" sz="1600" b="1" dirty="0" err="1" smtClean="0">
                <a:solidFill>
                  <a:srgbClr val="333333"/>
                </a:solidFill>
                <a:latin typeface="Consolas" pitchFamily="49" charset="0"/>
                <a:cs typeface="Consolas" pitchFamily="49" charset="0"/>
              </a:rPr>
              <a:t>Show</a:t>
            </a:r>
            <a:r>
              <a:rPr lang="en-US" sz="1600" dirty="0">
                <a:solidFill>
                  <a:srgbClr val="333333"/>
                </a:solidFill>
                <a:latin typeface="Consolas" pitchFamily="49" charset="0"/>
                <a:cs typeface="Consolas" pitchFamily="49" charset="0"/>
              </a:rPr>
              <a:t>(); </a:t>
            </a:r>
            <a:endParaRPr lang="en-US" sz="1500" dirty="0">
              <a:solidFill>
                <a:srgbClr val="333333"/>
              </a:solidFill>
              <a:latin typeface="Consolas" pitchFamily="49" charset="0"/>
              <a:cs typeface="Consolas" pitchFamily="49" charset="0"/>
            </a:endParaRPr>
          </a:p>
        </p:txBody>
      </p:sp>
    </p:spTree>
    <p:extLst>
      <p:ext uri="{BB962C8B-B14F-4D97-AF65-F5344CB8AC3E}">
        <p14:creationId xmlns:p14="http://schemas.microsoft.com/office/powerpoint/2010/main" val="3761418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 Tips</a:t>
            </a:r>
            <a:endParaRPr lang="en-US" dirty="0"/>
          </a:p>
        </p:txBody>
      </p:sp>
      <p:sp>
        <p:nvSpPr>
          <p:cNvPr id="3" name="Text Placeholder 2"/>
          <p:cNvSpPr>
            <a:spLocks noGrp="1"/>
          </p:cNvSpPr>
          <p:nvPr>
            <p:ph type="body" sz="quarter" idx="10"/>
          </p:nvPr>
        </p:nvSpPr>
        <p:spPr>
          <a:xfrm>
            <a:off x="381000" y="1447800"/>
            <a:ext cx="8363938" cy="3791807"/>
          </a:xfrm>
        </p:spPr>
        <p:txBody>
          <a:bodyPr/>
          <a:lstStyle/>
          <a:p>
            <a:r>
              <a:rPr lang="en-US" dirty="0" smtClean="0"/>
              <a:t>Only </a:t>
            </a:r>
            <a:r>
              <a:rPr lang="en-US" dirty="0"/>
              <a:t>one </a:t>
            </a:r>
            <a:r>
              <a:rPr lang="en-US" dirty="0" err="1"/>
              <a:t>MediaElement</a:t>
            </a:r>
            <a:r>
              <a:rPr lang="en-US" dirty="0"/>
              <a:t> can be used at a </a:t>
            </a:r>
            <a:r>
              <a:rPr lang="en-US" dirty="0" smtClean="0"/>
              <a:t>time</a:t>
            </a:r>
            <a:endParaRPr lang="en-US" dirty="0"/>
          </a:p>
          <a:p>
            <a:r>
              <a:rPr lang="en-US" dirty="0" smtClean="0"/>
              <a:t>XNA sound effect API can play multiple sounds</a:t>
            </a:r>
          </a:p>
          <a:p>
            <a:r>
              <a:rPr lang="en-US" dirty="0" smtClean="0"/>
              <a:t>No </a:t>
            </a:r>
            <a:r>
              <a:rPr lang="en-US" dirty="0" err="1" smtClean="0"/>
              <a:t>VideoBrush</a:t>
            </a:r>
            <a:r>
              <a:rPr lang="en-US" dirty="0" smtClean="0"/>
              <a:t> on the phone</a:t>
            </a:r>
          </a:p>
          <a:p>
            <a:r>
              <a:rPr lang="en-US" dirty="0" smtClean="0"/>
              <a:t>Emulation &amp; Debugging…</a:t>
            </a:r>
            <a:endParaRPr lang="en-US" dirty="0"/>
          </a:p>
          <a:p>
            <a:pPr lvl="1"/>
            <a:r>
              <a:rPr lang="en-US" dirty="0" smtClean="0"/>
              <a:t>Media playback in the emulator may not be supported (see documentation)</a:t>
            </a:r>
          </a:p>
          <a:p>
            <a:pPr lvl="1"/>
            <a:r>
              <a:rPr lang="en-US" dirty="0" smtClean="0"/>
              <a:t>With an attached debugger, media may not playback on the device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42</a:t>
            </a:fld>
            <a:endParaRPr lang="en-US" dirty="0">
              <a:solidFill>
                <a:srgbClr val="6BBD46"/>
              </a:solidFill>
            </a:endParaRPr>
          </a:p>
        </p:txBody>
      </p:sp>
    </p:spTree>
    <p:extLst>
      <p:ext uri="{BB962C8B-B14F-4D97-AF65-F5344CB8AC3E}">
        <p14:creationId xmlns:p14="http://schemas.microsoft.com/office/powerpoint/2010/main" val="41739232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sz="1800"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Navigation &amp; Pages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43</a:t>
            </a:fld>
            <a:endParaRPr lang="en-US" dirty="0"/>
          </a:p>
        </p:txBody>
      </p:sp>
    </p:spTree>
    <p:extLst>
      <p:ext uri="{BB962C8B-B14F-4D97-AF65-F5344CB8AC3E}">
        <p14:creationId xmlns:p14="http://schemas.microsoft.com/office/powerpoint/2010/main" val="94860209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smtClean="0"/>
              <a:t>Frame and Page</a:t>
            </a:r>
            <a:endParaRPr lang="en-GB" dirty="0"/>
          </a:p>
        </p:txBody>
      </p:sp>
      <p:sp>
        <p:nvSpPr>
          <p:cNvPr id="4" name="Slide Number Placeholder 3"/>
          <p:cNvSpPr>
            <a:spLocks noGrp="1"/>
          </p:cNvSpPr>
          <p:nvPr>
            <p:ph type="sldNum" sz="quarter" idx="11"/>
          </p:nvPr>
        </p:nvSpPr>
        <p:spPr/>
        <p:txBody>
          <a:bodyPr/>
          <a:lstStyle/>
          <a:p>
            <a:fld id="{B8B17130-D30C-4461-9CCA-B6B1AD89A9DD}" type="slidenum">
              <a:rPr lang="en-US" smtClean="0"/>
              <a:pPr/>
              <a:t>44</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4344" y="1522893"/>
            <a:ext cx="4432446" cy="4154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 Placeholder 1"/>
          <p:cNvSpPr>
            <a:spLocks noGrp="1"/>
          </p:cNvSpPr>
          <p:nvPr>
            <p:ph type="body" sz="quarter" idx="10"/>
          </p:nvPr>
        </p:nvSpPr>
        <p:spPr>
          <a:xfrm>
            <a:off x="381000" y="1447800"/>
            <a:ext cx="4113344" cy="4284250"/>
          </a:xfrm>
        </p:spPr>
        <p:txBody>
          <a:bodyPr/>
          <a:lstStyle/>
          <a:p>
            <a:r>
              <a:rPr lang="en-US" dirty="0" smtClean="0"/>
              <a:t>All apps must have a root phone frame</a:t>
            </a:r>
          </a:p>
          <a:p>
            <a:r>
              <a:rPr lang="en-US" dirty="0" smtClean="0"/>
              <a:t>Can derive from it to customize</a:t>
            </a:r>
          </a:p>
          <a:p>
            <a:r>
              <a:rPr lang="en-US" dirty="0" smtClean="0"/>
              <a:t>Frame and pages handle back button navigation automatically</a:t>
            </a:r>
          </a:p>
          <a:p>
            <a:r>
              <a:rPr lang="en-US" dirty="0" smtClean="0"/>
              <a:t>Back stack is managed by the app platform</a:t>
            </a:r>
          </a:p>
        </p:txBody>
      </p:sp>
    </p:spTree>
    <p:extLst>
      <p:ext uri="{BB962C8B-B14F-4D97-AF65-F5344CB8AC3E}">
        <p14:creationId xmlns:p14="http://schemas.microsoft.com/office/powerpoint/2010/main" val="7802310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sz="5400" dirty="0" smtClean="0"/>
              <a:t>Page Navigation</a:t>
            </a:r>
            <a:endParaRPr lang="en-GB" sz="5400" dirty="0"/>
          </a:p>
        </p:txBody>
      </p:sp>
      <p:sp>
        <p:nvSpPr>
          <p:cNvPr id="6" name="Content Placeholder 5"/>
          <p:cNvSpPr>
            <a:spLocks noGrp="1"/>
          </p:cNvSpPr>
          <p:nvPr>
            <p:ph type="body" sz="quarter" idx="10"/>
          </p:nvPr>
        </p:nvSpPr>
        <p:spPr>
          <a:xfrm>
            <a:off x="381000" y="1905000"/>
            <a:ext cx="4191000" cy="1686616"/>
          </a:xfrm>
        </p:spPr>
        <p:txBody>
          <a:bodyPr/>
          <a:lstStyle/>
          <a:p>
            <a:r>
              <a:rPr lang="en-GB" sz="2400" dirty="0" smtClean="0"/>
              <a:t>Page-based </a:t>
            </a:r>
            <a:r>
              <a:rPr lang="en-GB" sz="2400" dirty="0" smtClean="0"/>
              <a:t>navigation model</a:t>
            </a:r>
          </a:p>
          <a:p>
            <a:pPr lvl="1"/>
            <a:r>
              <a:rPr lang="en-GB" sz="2000" dirty="0" smtClean="0"/>
              <a:t>Similar to web page model</a:t>
            </a:r>
          </a:p>
          <a:p>
            <a:pPr lvl="1"/>
            <a:r>
              <a:rPr lang="en-GB" sz="2000" dirty="0" smtClean="0"/>
              <a:t>Each page identified by a URI</a:t>
            </a:r>
          </a:p>
          <a:p>
            <a:pPr lvl="1"/>
            <a:r>
              <a:rPr lang="en-GB" sz="2000" dirty="0" smtClean="0"/>
              <a:t>Each page is essentially stateless</a:t>
            </a:r>
          </a:p>
          <a:p>
            <a:pPr lvl="1"/>
            <a:endParaRPr lang="en-GB" sz="2000" dirty="0" smtClean="0"/>
          </a:p>
        </p:txBody>
      </p:sp>
      <p:sp>
        <p:nvSpPr>
          <p:cNvPr id="4" name="Slide Number Placeholder 3"/>
          <p:cNvSpPr>
            <a:spLocks noGrp="1"/>
          </p:cNvSpPr>
          <p:nvPr>
            <p:ph type="sldNum" sz="quarter" idx="11"/>
          </p:nvPr>
        </p:nvSpPr>
        <p:spPr/>
        <p:txBody>
          <a:bodyPr/>
          <a:lstStyle/>
          <a:p>
            <a:fld id="{B8B17130-D30C-4461-9CCA-B6B1AD89A9DD}" type="slidenum">
              <a:rPr lang="en-US" smtClean="0"/>
              <a:pPr/>
              <a:t>45</a:t>
            </a:fld>
            <a:endParaRPr lang="en-US"/>
          </a:p>
        </p:txBody>
      </p:sp>
      <p:grpSp>
        <p:nvGrpSpPr>
          <p:cNvPr id="2" name="Group 1"/>
          <p:cNvGrpSpPr/>
          <p:nvPr/>
        </p:nvGrpSpPr>
        <p:grpSpPr>
          <a:xfrm>
            <a:off x="4627710" y="1573618"/>
            <a:ext cx="4197313" cy="3881105"/>
            <a:chOff x="3404966" y="771525"/>
            <a:chExt cx="5530813" cy="535305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4966" y="771525"/>
              <a:ext cx="2695575" cy="5353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8779" y="771525"/>
              <a:ext cx="2667000" cy="5334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 name="Rectangle 2"/>
          <p:cNvSpPr/>
          <p:nvPr/>
        </p:nvSpPr>
        <p:spPr>
          <a:xfrm>
            <a:off x="372139" y="3763673"/>
            <a:ext cx="4199861"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dirty="0">
                <a:latin typeface="Consolas" pitchFamily="49" charset="0"/>
                <a:cs typeface="Consolas" pitchFamily="49" charset="0"/>
              </a:rPr>
              <a:t>private void hyperlinkButton1_Click</a:t>
            </a:r>
            <a:r>
              <a:rPr lang="en-GB" sz="1400" dirty="0" smtClean="0">
                <a:latin typeface="Consolas" pitchFamily="49" charset="0"/>
                <a:cs typeface="Consolas" pitchFamily="49" charset="0"/>
              </a:rPr>
              <a:t>(</a:t>
            </a:r>
            <a:br>
              <a:rPr lang="en-GB" sz="1400" dirty="0" smtClean="0">
                <a:latin typeface="Consolas" pitchFamily="49" charset="0"/>
                <a:cs typeface="Consolas" pitchFamily="49" charset="0"/>
              </a:rPr>
            </a:br>
            <a:r>
              <a:rPr lang="en-GB" sz="1400" dirty="0" smtClean="0">
                <a:latin typeface="Consolas" pitchFamily="49" charset="0"/>
                <a:cs typeface="Consolas" pitchFamily="49" charset="0"/>
              </a:rPr>
              <a:t>      object </a:t>
            </a:r>
            <a:r>
              <a:rPr lang="en-GB" sz="1400" dirty="0">
                <a:latin typeface="Consolas" pitchFamily="49" charset="0"/>
                <a:cs typeface="Consolas" pitchFamily="49" charset="0"/>
              </a:rPr>
              <a:t>sender, </a:t>
            </a:r>
            <a:r>
              <a:rPr lang="en-GB" sz="1400" dirty="0" err="1">
                <a:latin typeface="Consolas" pitchFamily="49" charset="0"/>
                <a:cs typeface="Consolas" pitchFamily="49" charset="0"/>
              </a:rPr>
              <a:t>RoutedEventArgs</a:t>
            </a:r>
            <a:r>
              <a:rPr lang="en-GB" sz="1400" dirty="0">
                <a:latin typeface="Consolas" pitchFamily="49" charset="0"/>
                <a:cs typeface="Consolas" pitchFamily="49" charset="0"/>
              </a:rPr>
              <a:t> e)</a:t>
            </a:r>
          </a:p>
          <a:p>
            <a:r>
              <a:rPr lang="en-GB" sz="1400" dirty="0" smtClean="0">
                <a:latin typeface="Consolas" pitchFamily="49" charset="0"/>
                <a:cs typeface="Consolas" pitchFamily="49" charset="0"/>
              </a:rPr>
              <a:t>{</a:t>
            </a:r>
            <a:endParaRPr lang="en-GB" sz="1400" dirty="0">
              <a:latin typeface="Consolas" pitchFamily="49" charset="0"/>
              <a:cs typeface="Consolas" pitchFamily="49" charset="0"/>
            </a:endParaRPr>
          </a:p>
          <a:p>
            <a:r>
              <a:rPr lang="en-GB" sz="1400" dirty="0">
                <a:latin typeface="Consolas" pitchFamily="49" charset="0"/>
                <a:cs typeface="Consolas" pitchFamily="49" charset="0"/>
              </a:rPr>
              <a:t>  </a:t>
            </a:r>
            <a:r>
              <a:rPr lang="en-GB" sz="1400" dirty="0" err="1" smtClean="0">
                <a:latin typeface="Consolas" pitchFamily="49" charset="0"/>
                <a:cs typeface="Consolas" pitchFamily="49" charset="0"/>
              </a:rPr>
              <a:t>NavigationService.Navigate</a:t>
            </a:r>
            <a:r>
              <a:rPr lang="en-GB" sz="1400" dirty="0" smtClean="0">
                <a:latin typeface="Consolas" pitchFamily="49" charset="0"/>
                <a:cs typeface="Consolas" pitchFamily="49" charset="0"/>
              </a:rPr>
              <a:t>(</a:t>
            </a:r>
            <a:br>
              <a:rPr lang="en-GB" sz="1400" dirty="0" smtClean="0">
                <a:latin typeface="Consolas" pitchFamily="49" charset="0"/>
                <a:cs typeface="Consolas" pitchFamily="49" charset="0"/>
              </a:rPr>
            </a:br>
            <a:r>
              <a:rPr lang="en-GB" sz="1400" dirty="0" smtClean="0">
                <a:latin typeface="Consolas" pitchFamily="49" charset="0"/>
                <a:cs typeface="Consolas" pitchFamily="49" charset="0"/>
              </a:rPr>
              <a:t>    new </a:t>
            </a:r>
            <a:r>
              <a:rPr lang="en-GB" sz="1400" dirty="0">
                <a:latin typeface="Consolas" pitchFamily="49" charset="0"/>
                <a:cs typeface="Consolas" pitchFamily="49" charset="0"/>
              </a:rPr>
              <a:t>Uri("/</a:t>
            </a:r>
            <a:r>
              <a:rPr lang="en-GB" sz="1400" dirty="0" err="1">
                <a:latin typeface="Consolas" pitchFamily="49" charset="0"/>
                <a:cs typeface="Consolas" pitchFamily="49" charset="0"/>
              </a:rPr>
              <a:t>SecondPage.xaml</a:t>
            </a:r>
            <a:r>
              <a:rPr lang="en-GB" sz="1400" dirty="0">
                <a:latin typeface="Consolas" pitchFamily="49" charset="0"/>
                <a:cs typeface="Consolas" pitchFamily="49" charset="0"/>
              </a:rPr>
              <a:t>", </a:t>
            </a:r>
            <a:r>
              <a:rPr lang="en-GB" sz="1400" dirty="0" smtClean="0">
                <a:latin typeface="Consolas" pitchFamily="49" charset="0"/>
                <a:cs typeface="Consolas" pitchFamily="49" charset="0"/>
              </a:rPr>
              <a:t/>
            </a:r>
            <a:br>
              <a:rPr lang="en-GB" sz="1400" dirty="0" smtClean="0">
                <a:latin typeface="Consolas" pitchFamily="49" charset="0"/>
                <a:cs typeface="Consolas" pitchFamily="49" charset="0"/>
              </a:rPr>
            </a:br>
            <a:r>
              <a:rPr lang="en-GB" sz="1400" dirty="0" smtClean="0">
                <a:latin typeface="Consolas" pitchFamily="49" charset="0"/>
                <a:cs typeface="Consolas" pitchFamily="49" charset="0"/>
              </a:rPr>
              <a:t>           </a:t>
            </a:r>
            <a:r>
              <a:rPr lang="en-GB" sz="1400" dirty="0" err="1" smtClean="0">
                <a:latin typeface="Consolas" pitchFamily="49" charset="0"/>
                <a:cs typeface="Consolas" pitchFamily="49" charset="0"/>
              </a:rPr>
              <a:t>UriKind.RelativeOrAbsolute</a:t>
            </a:r>
            <a:r>
              <a:rPr lang="en-GB" sz="1400" dirty="0" smtClean="0">
                <a:latin typeface="Consolas" pitchFamily="49" charset="0"/>
                <a:cs typeface="Consolas" pitchFamily="49" charset="0"/>
              </a:rPr>
              <a:t>)</a:t>
            </a:r>
            <a:br>
              <a:rPr lang="en-GB" sz="1400" dirty="0" smtClean="0">
                <a:latin typeface="Consolas" pitchFamily="49" charset="0"/>
                <a:cs typeface="Consolas" pitchFamily="49" charset="0"/>
              </a:rPr>
            </a:br>
            <a:r>
              <a:rPr lang="en-GB" sz="1400" dirty="0" smtClean="0">
                <a:latin typeface="Consolas" pitchFamily="49" charset="0"/>
                <a:cs typeface="Consolas" pitchFamily="49" charset="0"/>
              </a:rPr>
              <a:t>  );</a:t>
            </a:r>
            <a:endParaRPr lang="en-GB" sz="1400" dirty="0">
              <a:latin typeface="Consolas" pitchFamily="49" charset="0"/>
              <a:cs typeface="Consolas" pitchFamily="49" charset="0"/>
            </a:endParaRPr>
          </a:p>
          <a:p>
            <a:r>
              <a:rPr lang="en-GB" sz="1400" dirty="0" smtClean="0">
                <a:latin typeface="Consolas" pitchFamily="49" charset="0"/>
                <a:cs typeface="Consolas" pitchFamily="49" charset="0"/>
              </a:rPr>
              <a:t>}</a:t>
            </a:r>
            <a:endParaRPr lang="en-GB" sz="1400" dirty="0">
              <a:latin typeface="Consolas" pitchFamily="49" charset="0"/>
              <a:cs typeface="Consolas" pitchFamily="49" charset="0"/>
            </a:endParaRPr>
          </a:p>
        </p:txBody>
      </p:sp>
    </p:spTree>
    <p:extLst>
      <p:ext uri="{BB962C8B-B14F-4D97-AF65-F5344CB8AC3E}">
        <p14:creationId xmlns:p14="http://schemas.microsoft.com/office/powerpoint/2010/main" val="346589219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Navigating Back</a:t>
            </a:r>
            <a:endParaRPr lang="en-GB" dirty="0"/>
          </a:p>
        </p:txBody>
      </p:sp>
      <p:sp>
        <p:nvSpPr>
          <p:cNvPr id="3" name="Content Placeholder 2"/>
          <p:cNvSpPr>
            <a:spLocks noGrp="1"/>
          </p:cNvSpPr>
          <p:nvPr>
            <p:ph type="body" sz="quarter" idx="10"/>
          </p:nvPr>
        </p:nvSpPr>
        <p:spPr>
          <a:xfrm>
            <a:off x="381000" y="1644728"/>
            <a:ext cx="4095997" cy="4647426"/>
          </a:xfrm>
        </p:spPr>
        <p:txBody>
          <a:bodyPr/>
          <a:lstStyle/>
          <a:p>
            <a:r>
              <a:rPr lang="en-GB" sz="2400" dirty="0" smtClean="0"/>
              <a:t>Application can provide controls to navigate back to preceding page</a:t>
            </a:r>
          </a:p>
          <a:p>
            <a:r>
              <a:rPr lang="en-GB" sz="2400" dirty="0" smtClean="0"/>
              <a:t/>
            </a:r>
            <a:br>
              <a:rPr lang="en-GB" sz="2400" dirty="0" smtClean="0"/>
            </a:br>
            <a:endParaRPr lang="en-GB" sz="2400" dirty="0" smtClean="0"/>
          </a:p>
          <a:p>
            <a:endParaRPr lang="en-GB" sz="2400" dirty="0"/>
          </a:p>
          <a:p>
            <a:endParaRPr lang="en-GB" sz="2400" dirty="0" smtClean="0"/>
          </a:p>
          <a:p>
            <a:endParaRPr lang="en-GB" sz="2400" dirty="0" smtClean="0"/>
          </a:p>
          <a:p>
            <a:r>
              <a:rPr lang="en-GB" sz="2400" dirty="0" smtClean="0"/>
              <a:t>The hardware Back key will also navigate back to preceding page</a:t>
            </a:r>
          </a:p>
          <a:p>
            <a:pPr lvl="1"/>
            <a:r>
              <a:rPr lang="en-GB" sz="2000" dirty="0" smtClean="0"/>
              <a:t>No code required – built-in </a:t>
            </a:r>
            <a:r>
              <a:rPr lang="en-GB" sz="2000" dirty="0" err="1" smtClean="0"/>
              <a:t>behavior</a:t>
            </a:r>
            <a:endParaRPr lang="en-GB" sz="2000" dirty="0" smtClean="0"/>
          </a:p>
          <a:p>
            <a:pPr lvl="1"/>
            <a:r>
              <a:rPr lang="en-GB" sz="2000" dirty="0" smtClean="0"/>
              <a:t>Can override as needed to maintain logical experience in controls &amp; app</a:t>
            </a:r>
            <a:endParaRPr lang="en-GB" sz="2000" dirty="0"/>
          </a:p>
        </p:txBody>
      </p:sp>
      <p:sp>
        <p:nvSpPr>
          <p:cNvPr id="5" name="Slide Number Placeholder 4"/>
          <p:cNvSpPr>
            <a:spLocks noGrp="1"/>
          </p:cNvSpPr>
          <p:nvPr>
            <p:ph type="sldNum" sz="quarter" idx="11"/>
          </p:nvPr>
        </p:nvSpPr>
        <p:spPr/>
        <p:txBody>
          <a:bodyPr/>
          <a:lstStyle/>
          <a:p>
            <a:fld id="{271031BA-9959-4FE2-909F-37D65262A7B4}" type="slidenum">
              <a:rPr lang="en-US" smtClean="0"/>
              <a:pPr/>
              <a:t>46</a:t>
            </a:fld>
            <a:endParaRPr lang="en-US" dirty="0"/>
          </a:p>
        </p:txBody>
      </p:sp>
      <p:grpSp>
        <p:nvGrpSpPr>
          <p:cNvPr id="7" name="Group 6"/>
          <p:cNvGrpSpPr/>
          <p:nvPr/>
        </p:nvGrpSpPr>
        <p:grpSpPr>
          <a:xfrm>
            <a:off x="4627710" y="1573618"/>
            <a:ext cx="4197313" cy="3881105"/>
            <a:chOff x="3404966" y="771525"/>
            <a:chExt cx="5530813" cy="5353050"/>
          </a:xfrm>
        </p:grpSpPr>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4966" y="771525"/>
              <a:ext cx="2695575" cy="5353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8779" y="771525"/>
              <a:ext cx="2667000" cy="5334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a:xfrm>
            <a:off x="381000" y="2768868"/>
            <a:ext cx="4222028" cy="132343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smtClean="0">
                <a:latin typeface="Consolas" pitchFamily="49" charset="0"/>
                <a:cs typeface="Consolas" pitchFamily="49" charset="0"/>
              </a:rPr>
              <a:t>private </a:t>
            </a:r>
            <a:r>
              <a:rPr lang="en-GB" sz="1600" dirty="0">
                <a:latin typeface="Consolas" pitchFamily="49" charset="0"/>
                <a:cs typeface="Consolas" pitchFamily="49" charset="0"/>
              </a:rPr>
              <a:t>void button1_Click</a:t>
            </a:r>
            <a:r>
              <a:rPr lang="en-GB" sz="1600" dirty="0" smtClean="0">
                <a:latin typeface="Consolas" pitchFamily="49" charset="0"/>
                <a:cs typeface="Consolas" pitchFamily="49" charset="0"/>
              </a:rPr>
              <a:t>(</a:t>
            </a:r>
            <a:br>
              <a:rPr lang="en-GB" sz="1600" dirty="0" smtClean="0">
                <a:latin typeface="Consolas" pitchFamily="49" charset="0"/>
                <a:cs typeface="Consolas" pitchFamily="49" charset="0"/>
              </a:rPr>
            </a:br>
            <a:r>
              <a:rPr lang="en-GB" sz="1600" dirty="0" smtClean="0">
                <a:latin typeface="Consolas" pitchFamily="49" charset="0"/>
                <a:cs typeface="Consolas" pitchFamily="49" charset="0"/>
              </a:rPr>
              <a:t>  object </a:t>
            </a:r>
            <a:r>
              <a:rPr lang="en-GB" sz="1600" dirty="0">
                <a:latin typeface="Consolas" pitchFamily="49" charset="0"/>
                <a:cs typeface="Consolas" pitchFamily="49" charset="0"/>
              </a:rPr>
              <a:t>sender, </a:t>
            </a:r>
            <a:r>
              <a:rPr lang="en-GB" sz="1600" dirty="0" err="1">
                <a:latin typeface="Consolas" pitchFamily="49" charset="0"/>
                <a:cs typeface="Consolas" pitchFamily="49" charset="0"/>
              </a:rPr>
              <a:t>RoutedEventArgs</a:t>
            </a:r>
            <a:r>
              <a:rPr lang="en-GB" sz="1600" dirty="0">
                <a:latin typeface="Consolas" pitchFamily="49" charset="0"/>
                <a:cs typeface="Consolas" pitchFamily="49" charset="0"/>
              </a:rPr>
              <a:t> e)</a:t>
            </a:r>
          </a:p>
          <a:p>
            <a:r>
              <a:rPr lang="en-GB" sz="1600" dirty="0" smtClean="0">
                <a:latin typeface="Consolas" pitchFamily="49" charset="0"/>
                <a:cs typeface="Consolas" pitchFamily="49" charset="0"/>
              </a:rPr>
              <a:t>{</a:t>
            </a:r>
            <a:endParaRPr lang="en-GB" sz="1600" dirty="0">
              <a:latin typeface="Consolas" pitchFamily="49" charset="0"/>
              <a:cs typeface="Consolas" pitchFamily="49" charset="0"/>
            </a:endParaRPr>
          </a:p>
          <a:p>
            <a:r>
              <a:rPr lang="en-GB" sz="1600" dirty="0" smtClean="0">
                <a:latin typeface="Consolas" pitchFamily="49" charset="0"/>
                <a:cs typeface="Consolas" pitchFamily="49" charset="0"/>
              </a:rPr>
              <a:t>    </a:t>
            </a:r>
            <a:r>
              <a:rPr lang="en-GB" sz="1600" dirty="0" err="1" smtClean="0">
                <a:latin typeface="Consolas" pitchFamily="49" charset="0"/>
                <a:cs typeface="Consolas" pitchFamily="49" charset="0"/>
              </a:rPr>
              <a:t>NavigationService.GoBack</a:t>
            </a:r>
            <a:r>
              <a:rPr lang="en-GB" sz="1600" dirty="0">
                <a:latin typeface="Consolas" pitchFamily="49" charset="0"/>
                <a:cs typeface="Consolas" pitchFamily="49" charset="0"/>
              </a:rPr>
              <a:t>();</a:t>
            </a:r>
          </a:p>
          <a:p>
            <a:r>
              <a:rPr lang="en-GB" sz="1600" dirty="0" smtClean="0">
                <a:latin typeface="Consolas" pitchFamily="49" charset="0"/>
                <a:cs typeface="Consolas" pitchFamily="49" charset="0"/>
              </a:rPr>
              <a:t>}</a:t>
            </a:r>
            <a:endParaRPr lang="en-GB" sz="1600" dirty="0">
              <a:latin typeface="Consolas" pitchFamily="49" charset="0"/>
              <a:cs typeface="Consolas" pitchFamily="49" charset="0"/>
            </a:endParaRPr>
          </a:p>
        </p:txBody>
      </p:sp>
    </p:spTree>
    <p:extLst>
      <p:ext uri="{BB962C8B-B14F-4D97-AF65-F5344CB8AC3E}">
        <p14:creationId xmlns:p14="http://schemas.microsoft.com/office/powerpoint/2010/main" val="33976294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Navigation Events</a:t>
            </a:r>
            <a:endParaRPr lang="en-US" dirty="0"/>
          </a:p>
        </p:txBody>
      </p:sp>
      <p:sp>
        <p:nvSpPr>
          <p:cNvPr id="4" name="Text Placeholder 3"/>
          <p:cNvSpPr>
            <a:spLocks noGrp="1"/>
          </p:cNvSpPr>
          <p:nvPr>
            <p:ph type="body" sz="quarter" idx="10"/>
          </p:nvPr>
        </p:nvSpPr>
        <p:spPr>
          <a:xfrm>
            <a:off x="381000" y="1447800"/>
            <a:ext cx="8363938" cy="3828740"/>
          </a:xfrm>
        </p:spPr>
        <p:txBody>
          <a:bodyPr/>
          <a:lstStyle/>
          <a:p>
            <a:r>
              <a:rPr lang="en-US" dirty="0" err="1" smtClean="0"/>
              <a:t>OnNavigatedTo</a:t>
            </a:r>
            <a:endParaRPr lang="en-US" dirty="0" smtClean="0"/>
          </a:p>
          <a:p>
            <a:pPr lvl="1"/>
            <a:r>
              <a:rPr lang="en-US" dirty="0" err="1" smtClean="0"/>
              <a:t>System.Windows.Navigation.NavigationEventArgs</a:t>
            </a:r>
            <a:endParaRPr lang="en-US" dirty="0" smtClean="0"/>
          </a:p>
          <a:p>
            <a:pPr lvl="1"/>
            <a:r>
              <a:rPr lang="en-US" dirty="0" smtClean="0"/>
              <a:t>Fired each </a:t>
            </a:r>
            <a:r>
              <a:rPr lang="en-US" dirty="0"/>
              <a:t>time </a:t>
            </a:r>
            <a:r>
              <a:rPr lang="en-US" dirty="0" smtClean="0"/>
              <a:t>you navigate to the page</a:t>
            </a:r>
          </a:p>
          <a:p>
            <a:pPr lvl="1"/>
            <a:endParaRPr lang="en-US" dirty="0"/>
          </a:p>
          <a:p>
            <a:r>
              <a:rPr lang="en-US" dirty="0" err="1" smtClean="0"/>
              <a:t>OnNavigatedFrom</a:t>
            </a:r>
            <a:endParaRPr lang="en-US" dirty="0" smtClean="0"/>
          </a:p>
          <a:p>
            <a:pPr lvl="1"/>
            <a:r>
              <a:rPr lang="en-US" dirty="0" err="1"/>
              <a:t>System.Windows.Navigation.NavigationEventArgs</a:t>
            </a:r>
            <a:endParaRPr lang="en-US" dirty="0"/>
          </a:p>
          <a:p>
            <a:pPr lvl="1"/>
            <a:r>
              <a:rPr lang="en-US" dirty="0" smtClean="0"/>
              <a:t>Fired each </a:t>
            </a:r>
            <a:r>
              <a:rPr lang="en-US" dirty="0"/>
              <a:t>time </a:t>
            </a:r>
            <a:r>
              <a:rPr lang="en-US" dirty="0" smtClean="0"/>
              <a:t>you navigate from the page</a:t>
            </a:r>
          </a:p>
          <a:p>
            <a:pPr lvl="1"/>
            <a:endParaRPr lang="en-US" dirty="0"/>
          </a:p>
        </p:txBody>
      </p:sp>
      <p:sp>
        <p:nvSpPr>
          <p:cNvPr id="3" name="Slide Number Placeholder 2"/>
          <p:cNvSpPr>
            <a:spLocks noGrp="1"/>
          </p:cNvSpPr>
          <p:nvPr>
            <p:ph type="sldNum" sz="quarter" idx="11"/>
          </p:nvPr>
        </p:nvSpPr>
        <p:spPr/>
        <p:txBody>
          <a:bodyPr/>
          <a:lstStyle/>
          <a:p>
            <a:fld id="{271031BA-9959-4FE2-909F-37D65262A7B4}" type="slidenum">
              <a:rPr lang="en-US" smtClean="0"/>
              <a:pPr/>
              <a:t>47</a:t>
            </a:fld>
            <a:endParaRPr lang="en-US" dirty="0"/>
          </a:p>
        </p:txBody>
      </p:sp>
    </p:spTree>
    <p:extLst>
      <p:ext uri="{BB962C8B-B14F-4D97-AF65-F5344CB8AC3E}">
        <p14:creationId xmlns:p14="http://schemas.microsoft.com/office/powerpoint/2010/main" val="1487581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smtClean="0"/>
              <a:t>Passing Data Between Pages</a:t>
            </a:r>
            <a:endParaRPr lang="en-GB" dirty="0"/>
          </a:p>
        </p:txBody>
      </p:sp>
      <p:sp>
        <p:nvSpPr>
          <p:cNvPr id="10" name="Text Placeholder 9"/>
          <p:cNvSpPr>
            <a:spLocks noGrp="1"/>
          </p:cNvSpPr>
          <p:nvPr>
            <p:ph type="body" sz="quarter" idx="10"/>
          </p:nvPr>
        </p:nvSpPr>
        <p:spPr>
          <a:xfrm>
            <a:off x="397475" y="1797135"/>
            <a:ext cx="8363938" cy="1518877"/>
          </a:xfrm>
        </p:spPr>
        <p:style>
          <a:lnRef idx="2">
            <a:schemeClr val="accent1"/>
          </a:lnRef>
          <a:fillRef idx="1">
            <a:schemeClr val="lt1"/>
          </a:fillRef>
          <a:effectRef idx="0">
            <a:schemeClr val="accent1"/>
          </a:effectRef>
          <a:fontRef idx="minor">
            <a:schemeClr val="dk1"/>
          </a:fontRef>
        </p:style>
        <p:txBody>
          <a:bodyPr lIns="91440" tIns="91440" rIns="91440" bIns="91440"/>
          <a:lstStyle/>
          <a:p>
            <a:pPr marL="0" indent="0">
              <a:buNone/>
            </a:pPr>
            <a:r>
              <a:rPr lang="en-GB" sz="1700" dirty="0" smtClean="0">
                <a:latin typeface="Consolas" pitchFamily="49" charset="0"/>
                <a:cs typeface="Consolas" pitchFamily="49" charset="0"/>
              </a:rPr>
              <a:t>private </a:t>
            </a:r>
            <a:r>
              <a:rPr lang="en-GB" sz="1700" dirty="0">
                <a:latin typeface="Consolas" pitchFamily="49" charset="0"/>
                <a:cs typeface="Consolas" pitchFamily="49" charset="0"/>
              </a:rPr>
              <a:t>void </a:t>
            </a:r>
            <a:r>
              <a:rPr lang="en-GB" sz="1700" dirty="0" err="1">
                <a:latin typeface="Consolas" pitchFamily="49" charset="0"/>
                <a:cs typeface="Consolas" pitchFamily="49" charset="0"/>
              </a:rPr>
              <a:t>passParam_Click</a:t>
            </a:r>
            <a:r>
              <a:rPr lang="en-GB" sz="1700" dirty="0">
                <a:latin typeface="Consolas" pitchFamily="49" charset="0"/>
                <a:cs typeface="Consolas" pitchFamily="49" charset="0"/>
              </a:rPr>
              <a:t>(object sender, </a:t>
            </a:r>
            <a:r>
              <a:rPr lang="en-GB" sz="1700" dirty="0" err="1">
                <a:latin typeface="Consolas" pitchFamily="49" charset="0"/>
                <a:cs typeface="Consolas" pitchFamily="49" charset="0"/>
              </a:rPr>
              <a:t>RoutedEventArgs</a:t>
            </a:r>
            <a:r>
              <a:rPr lang="en-GB" sz="1700" dirty="0">
                <a:latin typeface="Consolas" pitchFamily="49" charset="0"/>
                <a:cs typeface="Consolas" pitchFamily="49" charset="0"/>
              </a:rPr>
              <a:t> e)</a:t>
            </a:r>
          </a:p>
          <a:p>
            <a:pPr marL="0" indent="0">
              <a:buNone/>
            </a:pPr>
            <a:r>
              <a:rPr lang="en-GB" sz="1700" dirty="0" smtClean="0">
                <a:latin typeface="Consolas" pitchFamily="49" charset="0"/>
                <a:cs typeface="Consolas" pitchFamily="49" charset="0"/>
              </a:rPr>
              <a:t>{</a:t>
            </a:r>
            <a:endParaRPr lang="en-GB" sz="1700" dirty="0">
              <a:latin typeface="Consolas" pitchFamily="49" charset="0"/>
              <a:cs typeface="Consolas" pitchFamily="49" charset="0"/>
            </a:endParaRPr>
          </a:p>
          <a:p>
            <a:pPr marL="0" indent="0">
              <a:buNone/>
            </a:pPr>
            <a:r>
              <a:rPr lang="en-GB" sz="1700" dirty="0" smtClean="0">
                <a:latin typeface="Consolas" pitchFamily="49" charset="0"/>
                <a:cs typeface="Consolas" pitchFamily="49" charset="0"/>
              </a:rPr>
              <a:t>  </a:t>
            </a:r>
            <a:r>
              <a:rPr lang="en-GB" sz="1700" dirty="0" err="1" smtClean="0">
                <a:latin typeface="Consolas" pitchFamily="49" charset="0"/>
                <a:cs typeface="Consolas" pitchFamily="49" charset="0"/>
              </a:rPr>
              <a:t>NavigationService.Navigate</a:t>
            </a:r>
            <a:r>
              <a:rPr lang="en-GB" sz="1700" dirty="0" smtClean="0">
                <a:latin typeface="Consolas" pitchFamily="49" charset="0"/>
                <a:cs typeface="Consolas" pitchFamily="49" charset="0"/>
              </a:rPr>
              <a:t>(new </a:t>
            </a:r>
            <a:r>
              <a:rPr lang="en-GB" sz="1700" dirty="0">
                <a:latin typeface="Consolas" pitchFamily="49" charset="0"/>
                <a:cs typeface="Consolas" pitchFamily="49" charset="0"/>
              </a:rPr>
              <a:t>Uri("/</a:t>
            </a:r>
            <a:r>
              <a:rPr lang="en-GB" sz="1700" dirty="0" err="1">
                <a:latin typeface="Consolas" pitchFamily="49" charset="0"/>
                <a:cs typeface="Consolas" pitchFamily="49" charset="0"/>
              </a:rPr>
              <a:t>SecondPage.xaml?msg</a:t>
            </a:r>
            <a:r>
              <a:rPr lang="en-GB" sz="1700" dirty="0">
                <a:latin typeface="Consolas" pitchFamily="49" charset="0"/>
                <a:cs typeface="Consolas" pitchFamily="49" charset="0"/>
              </a:rPr>
              <a:t>=" + </a:t>
            </a:r>
            <a:r>
              <a:rPr lang="en-GB" sz="1700" dirty="0" smtClean="0">
                <a:latin typeface="Consolas" pitchFamily="49" charset="0"/>
                <a:cs typeface="Consolas" pitchFamily="49" charset="0"/>
              </a:rPr>
              <a:t/>
            </a:r>
            <a:br>
              <a:rPr lang="en-GB" sz="1700" dirty="0" smtClean="0">
                <a:latin typeface="Consolas" pitchFamily="49" charset="0"/>
                <a:cs typeface="Consolas" pitchFamily="49" charset="0"/>
              </a:rPr>
            </a:br>
            <a:r>
              <a:rPr lang="en-GB" sz="1700" dirty="0" smtClean="0">
                <a:latin typeface="Consolas" pitchFamily="49" charset="0"/>
                <a:cs typeface="Consolas" pitchFamily="49" charset="0"/>
              </a:rPr>
              <a:t>				    textBox1.Text</a:t>
            </a:r>
            <a:r>
              <a:rPr lang="en-GB" sz="1700" dirty="0">
                <a:latin typeface="Consolas" pitchFamily="49" charset="0"/>
                <a:cs typeface="Consolas" pitchFamily="49" charset="0"/>
              </a:rPr>
              <a:t>, </a:t>
            </a:r>
            <a:r>
              <a:rPr lang="en-GB" sz="1700" dirty="0" err="1">
                <a:latin typeface="Consolas" pitchFamily="49" charset="0"/>
                <a:cs typeface="Consolas" pitchFamily="49" charset="0"/>
              </a:rPr>
              <a:t>UriKind.Relative</a:t>
            </a:r>
            <a:r>
              <a:rPr lang="en-GB" sz="1700" dirty="0">
                <a:latin typeface="Consolas" pitchFamily="49" charset="0"/>
                <a:cs typeface="Consolas" pitchFamily="49" charset="0"/>
              </a:rPr>
              <a:t>));</a:t>
            </a:r>
          </a:p>
          <a:p>
            <a:pPr marL="0" indent="0">
              <a:buNone/>
            </a:pPr>
            <a:r>
              <a:rPr lang="en-GB" sz="1700" dirty="0" smtClean="0">
                <a:latin typeface="Consolas" pitchFamily="49" charset="0"/>
                <a:cs typeface="Consolas" pitchFamily="49" charset="0"/>
              </a:rPr>
              <a:t>}</a:t>
            </a:r>
            <a:endParaRPr lang="en-GB" sz="1700" dirty="0">
              <a:latin typeface="Consolas" pitchFamily="49" charset="0"/>
              <a:cs typeface="Consolas" pitchFamily="49" charset="0"/>
            </a:endParaRPr>
          </a:p>
        </p:txBody>
      </p:sp>
      <p:sp>
        <p:nvSpPr>
          <p:cNvPr id="3" name="Slide Number Placeholder 2"/>
          <p:cNvSpPr>
            <a:spLocks noGrp="1"/>
          </p:cNvSpPr>
          <p:nvPr>
            <p:ph type="sldNum" sz="quarter" idx="11"/>
          </p:nvPr>
        </p:nvSpPr>
        <p:spPr/>
        <p:txBody>
          <a:bodyPr/>
          <a:lstStyle/>
          <a:p>
            <a:fld id="{271031BA-9959-4FE2-909F-37D65262A7B4}" type="slidenum">
              <a:rPr lang="en-US" smtClean="0"/>
              <a:pPr/>
              <a:t>48</a:t>
            </a:fld>
            <a:endParaRPr lang="en-US" dirty="0"/>
          </a:p>
        </p:txBody>
      </p:sp>
      <p:sp>
        <p:nvSpPr>
          <p:cNvPr id="11" name="Text Placeholder 10"/>
          <p:cNvSpPr>
            <a:spLocks noGrp="1"/>
          </p:cNvSpPr>
          <p:nvPr>
            <p:ph type="body" sz="quarter" idx="4294967295"/>
          </p:nvPr>
        </p:nvSpPr>
        <p:spPr>
          <a:xfrm>
            <a:off x="357646" y="1447800"/>
            <a:ext cx="8177213" cy="276999"/>
          </a:xfrm>
        </p:spPr>
        <p:txBody>
          <a:bodyPr/>
          <a:lstStyle/>
          <a:p>
            <a:r>
              <a:rPr lang="en-GB" sz="2000" dirty="0"/>
              <a:t>Can pass string data between pages using query </a:t>
            </a:r>
            <a:r>
              <a:rPr lang="en-GB" sz="2000" dirty="0" smtClean="0"/>
              <a:t>strings</a:t>
            </a:r>
            <a:endParaRPr lang="en-GB" sz="2400" dirty="0"/>
          </a:p>
        </p:txBody>
      </p:sp>
      <p:sp>
        <p:nvSpPr>
          <p:cNvPr id="12" name="Text Placeholder 9"/>
          <p:cNvSpPr txBox="1">
            <a:spLocks/>
          </p:cNvSpPr>
          <p:nvPr/>
        </p:nvSpPr>
        <p:spPr>
          <a:xfrm>
            <a:off x="357646" y="3914743"/>
            <a:ext cx="8389479" cy="2382191"/>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91440" rIns="91440" bIns="91440" rtlCol="0">
            <a:spAutoFit/>
          </a:bodyPr>
          <a:lstStyle>
            <a:lvl1pPr indent="0">
              <a:lnSpc>
                <a:spcPct val="90000"/>
              </a:lnSpc>
              <a:spcBef>
                <a:spcPct val="20000"/>
              </a:spcBef>
              <a:buClr>
                <a:schemeClr val="accent1"/>
              </a:buClr>
              <a:buSzPct val="100000"/>
              <a:buFont typeface="Wingdings" pitchFamily="2" charset="2"/>
              <a:buNone/>
              <a:defRPr spc="-150">
                <a:solidFill>
                  <a:schemeClr val="dk1"/>
                </a:solidFill>
              </a:defRPr>
            </a:lvl1pPr>
            <a:lvl2pPr marL="744538" indent="-284163">
              <a:lnSpc>
                <a:spcPct val="90000"/>
              </a:lnSpc>
              <a:spcBef>
                <a:spcPct val="20000"/>
              </a:spcBef>
              <a:buClr>
                <a:schemeClr val="tx2"/>
              </a:buClr>
              <a:buSzPct val="100000"/>
              <a:buFont typeface="Wingdings" pitchFamily="2" charset="2"/>
              <a:buChar char="§"/>
              <a:defRPr sz="2800" spc="-150">
                <a:solidFill>
                  <a:schemeClr val="dk1"/>
                </a:solidFill>
              </a:defRPr>
            </a:lvl2pPr>
            <a:lvl3pPr marL="1143000" indent="-287338">
              <a:lnSpc>
                <a:spcPct val="90000"/>
              </a:lnSpc>
              <a:spcBef>
                <a:spcPct val="20000"/>
              </a:spcBef>
              <a:buClr>
                <a:schemeClr val="tx2"/>
              </a:buClr>
              <a:buSzPct val="100000"/>
              <a:buFont typeface="Wingdings" pitchFamily="2" charset="2"/>
              <a:buChar char="§"/>
              <a:defRPr sz="2400" spc="-150">
                <a:solidFill>
                  <a:schemeClr val="dk1"/>
                </a:solidFill>
              </a:defRPr>
            </a:lvl3pPr>
            <a:lvl4pPr marL="1490663" indent="-231775">
              <a:lnSpc>
                <a:spcPct val="90000"/>
              </a:lnSpc>
              <a:spcBef>
                <a:spcPct val="20000"/>
              </a:spcBef>
              <a:buClr>
                <a:schemeClr val="tx2"/>
              </a:buClr>
              <a:buSzPct val="100000"/>
              <a:buFont typeface="Wingdings" pitchFamily="2" charset="2"/>
              <a:buChar char="§"/>
              <a:defRPr sz="2000" spc="-150">
                <a:solidFill>
                  <a:schemeClr val="dk1"/>
                </a:solidFill>
              </a:defRPr>
            </a:lvl4pPr>
            <a:lvl5pPr marL="1828800" indent="-223838">
              <a:lnSpc>
                <a:spcPct val="90000"/>
              </a:lnSpc>
              <a:spcBef>
                <a:spcPct val="20000"/>
              </a:spcBef>
              <a:buClr>
                <a:schemeClr val="tx2"/>
              </a:buClr>
              <a:buSzPct val="100000"/>
              <a:buFont typeface="Wingdings" pitchFamily="2" charset="2"/>
              <a:buChar char="§"/>
              <a:defRPr sz="2000" spc="-150">
                <a:solidFill>
                  <a:schemeClr val="dk1"/>
                </a:solidFill>
              </a:defRPr>
            </a:lvl5pPr>
            <a:lvl6pPr marL="2514499" indent="-228591">
              <a:spcBef>
                <a:spcPct val="20000"/>
              </a:spcBef>
              <a:buFont typeface="Arial" pitchFamily="34" charset="0"/>
              <a:buChar char="•"/>
              <a:defRPr sz="2000">
                <a:solidFill>
                  <a:schemeClr val="dk1"/>
                </a:solidFill>
              </a:defRPr>
            </a:lvl6pPr>
            <a:lvl7pPr marL="2971681" indent="-228591">
              <a:spcBef>
                <a:spcPct val="20000"/>
              </a:spcBef>
              <a:buFont typeface="Arial" pitchFamily="34" charset="0"/>
              <a:buChar char="•"/>
              <a:defRPr sz="2000">
                <a:solidFill>
                  <a:schemeClr val="dk1"/>
                </a:solidFill>
              </a:defRPr>
            </a:lvl7pPr>
            <a:lvl8pPr marL="3428863" indent="-228591">
              <a:spcBef>
                <a:spcPct val="20000"/>
              </a:spcBef>
              <a:buFont typeface="Arial" pitchFamily="34" charset="0"/>
              <a:buChar char="•"/>
              <a:defRPr sz="2000">
                <a:solidFill>
                  <a:schemeClr val="dk1"/>
                </a:solidFill>
              </a:defRPr>
            </a:lvl8pPr>
            <a:lvl9pPr marL="3886045" indent="-228591">
              <a:spcBef>
                <a:spcPct val="20000"/>
              </a:spcBef>
              <a:buFont typeface="Arial" pitchFamily="34" charset="0"/>
              <a:buChar char="•"/>
              <a:defRPr sz="2000">
                <a:solidFill>
                  <a:schemeClr val="dk1"/>
                </a:solidFill>
              </a:defRPr>
            </a:lvl9pPr>
          </a:lstStyle>
          <a:p>
            <a:r>
              <a:rPr lang="en-GB" sz="1700" dirty="0">
                <a:latin typeface="Consolas" pitchFamily="49" charset="0"/>
                <a:cs typeface="Consolas" pitchFamily="49" charset="0"/>
              </a:rPr>
              <a:t>protected override void </a:t>
            </a:r>
            <a:r>
              <a:rPr lang="en-GB" sz="1700" dirty="0" err="1">
                <a:latin typeface="Consolas" pitchFamily="49" charset="0"/>
                <a:cs typeface="Consolas" pitchFamily="49" charset="0"/>
              </a:rPr>
              <a:t>OnNavigatedTo</a:t>
            </a:r>
            <a:r>
              <a:rPr lang="en-GB" sz="1700" dirty="0">
                <a:latin typeface="Consolas" pitchFamily="49" charset="0"/>
                <a:cs typeface="Consolas" pitchFamily="49" charset="0"/>
              </a:rPr>
              <a:t>(</a:t>
            </a:r>
            <a:br>
              <a:rPr lang="en-GB" sz="1700" dirty="0">
                <a:latin typeface="Consolas" pitchFamily="49" charset="0"/>
                <a:cs typeface="Consolas" pitchFamily="49" charset="0"/>
              </a:rPr>
            </a:br>
            <a:r>
              <a:rPr lang="en-GB" sz="1700" dirty="0">
                <a:latin typeface="Consolas" pitchFamily="49" charset="0"/>
                <a:cs typeface="Consolas" pitchFamily="49" charset="0"/>
              </a:rPr>
              <a:t>    </a:t>
            </a:r>
            <a:r>
              <a:rPr lang="en-GB" sz="1700" dirty="0" err="1">
                <a:latin typeface="Consolas" pitchFamily="49" charset="0"/>
                <a:cs typeface="Consolas" pitchFamily="49" charset="0"/>
              </a:rPr>
              <a:t>System.Windows.Navigation.NavigationEventArgs</a:t>
            </a:r>
            <a:r>
              <a:rPr lang="en-GB" sz="1700" dirty="0">
                <a:latin typeface="Consolas" pitchFamily="49" charset="0"/>
                <a:cs typeface="Consolas" pitchFamily="49" charset="0"/>
              </a:rPr>
              <a:t> e)</a:t>
            </a:r>
          </a:p>
          <a:p>
            <a:r>
              <a:rPr lang="en-GB" sz="1700" dirty="0">
                <a:latin typeface="Consolas" pitchFamily="49" charset="0"/>
                <a:cs typeface="Consolas" pitchFamily="49" charset="0"/>
              </a:rPr>
              <a:t>{</a:t>
            </a:r>
          </a:p>
          <a:p>
            <a:r>
              <a:rPr lang="en-GB" sz="1700" dirty="0">
                <a:latin typeface="Consolas" pitchFamily="49" charset="0"/>
                <a:cs typeface="Consolas" pitchFamily="49" charset="0"/>
              </a:rPr>
              <a:t>  </a:t>
            </a:r>
            <a:r>
              <a:rPr lang="en-GB" sz="1700" dirty="0" err="1">
                <a:latin typeface="Consolas" pitchFamily="49" charset="0"/>
                <a:cs typeface="Consolas" pitchFamily="49" charset="0"/>
              </a:rPr>
              <a:t>base.OnNavigatedTo</a:t>
            </a:r>
            <a:r>
              <a:rPr lang="en-GB" sz="1700" dirty="0">
                <a:latin typeface="Consolas" pitchFamily="49" charset="0"/>
                <a:cs typeface="Consolas" pitchFamily="49" charset="0"/>
              </a:rPr>
              <a:t>(e);</a:t>
            </a:r>
          </a:p>
          <a:p>
            <a:r>
              <a:rPr lang="en-GB" sz="1700" dirty="0">
                <a:latin typeface="Consolas" pitchFamily="49" charset="0"/>
                <a:cs typeface="Consolas" pitchFamily="49" charset="0"/>
              </a:rPr>
              <a:t>  string </a:t>
            </a:r>
            <a:r>
              <a:rPr lang="en-GB" sz="1700" dirty="0" err="1">
                <a:latin typeface="Consolas" pitchFamily="49" charset="0"/>
                <a:cs typeface="Consolas" pitchFamily="49" charset="0"/>
              </a:rPr>
              <a:t>msg</a:t>
            </a:r>
            <a:r>
              <a:rPr lang="en-GB" sz="1700" dirty="0">
                <a:latin typeface="Consolas" pitchFamily="49" charset="0"/>
                <a:cs typeface="Consolas" pitchFamily="49" charset="0"/>
              </a:rPr>
              <a:t> = </a:t>
            </a:r>
            <a:r>
              <a:rPr lang="en-GB" sz="1700" dirty="0" err="1" smtClean="0">
                <a:latin typeface="Consolas" pitchFamily="49" charset="0"/>
                <a:cs typeface="Consolas" pitchFamily="49" charset="0"/>
              </a:rPr>
              <a:t>string.Empty</a:t>
            </a:r>
            <a:r>
              <a:rPr lang="en-GB" sz="1700" dirty="0" smtClean="0">
                <a:latin typeface="Consolas" pitchFamily="49" charset="0"/>
                <a:cs typeface="Consolas" pitchFamily="49" charset="0"/>
              </a:rPr>
              <a:t>;      </a:t>
            </a:r>
            <a:endParaRPr lang="en-GB" sz="1700" dirty="0">
              <a:latin typeface="Consolas" pitchFamily="49" charset="0"/>
              <a:cs typeface="Consolas" pitchFamily="49" charset="0"/>
            </a:endParaRPr>
          </a:p>
          <a:p>
            <a:r>
              <a:rPr lang="en-GB" sz="1700" dirty="0">
                <a:latin typeface="Consolas" pitchFamily="49" charset="0"/>
                <a:cs typeface="Consolas" pitchFamily="49" charset="0"/>
              </a:rPr>
              <a:t>  if (</a:t>
            </a:r>
            <a:r>
              <a:rPr lang="en-GB" sz="1700" dirty="0" err="1">
                <a:latin typeface="Consolas" pitchFamily="49" charset="0"/>
                <a:cs typeface="Consolas" pitchFamily="49" charset="0"/>
              </a:rPr>
              <a:t>NavigationContext.QueryString.TryGetValue</a:t>
            </a:r>
            <a:r>
              <a:rPr lang="en-GB" sz="1700" dirty="0">
                <a:latin typeface="Consolas" pitchFamily="49" charset="0"/>
                <a:cs typeface="Consolas" pitchFamily="49" charset="0"/>
              </a:rPr>
              <a:t>("</a:t>
            </a:r>
            <a:r>
              <a:rPr lang="en-GB" sz="1700" dirty="0" err="1">
                <a:latin typeface="Consolas" pitchFamily="49" charset="0"/>
                <a:cs typeface="Consolas" pitchFamily="49" charset="0"/>
              </a:rPr>
              <a:t>msg</a:t>
            </a:r>
            <a:r>
              <a:rPr lang="en-GB" sz="1700" dirty="0">
                <a:latin typeface="Consolas" pitchFamily="49" charset="0"/>
                <a:cs typeface="Consolas" pitchFamily="49" charset="0"/>
              </a:rPr>
              <a:t>", out </a:t>
            </a:r>
            <a:r>
              <a:rPr lang="en-GB" sz="1700" dirty="0" err="1">
                <a:latin typeface="Consolas" pitchFamily="49" charset="0"/>
                <a:cs typeface="Consolas" pitchFamily="49" charset="0"/>
              </a:rPr>
              <a:t>msg</a:t>
            </a:r>
            <a:r>
              <a:rPr lang="en-GB" sz="1700" dirty="0">
                <a:latin typeface="Consolas" pitchFamily="49" charset="0"/>
                <a:cs typeface="Consolas" pitchFamily="49" charset="0"/>
              </a:rPr>
              <a:t>))</a:t>
            </a:r>
          </a:p>
          <a:p>
            <a:r>
              <a:rPr lang="en-GB" sz="1700" dirty="0">
                <a:latin typeface="Consolas" pitchFamily="49" charset="0"/>
                <a:cs typeface="Consolas" pitchFamily="49" charset="0"/>
              </a:rPr>
              <a:t>       </a:t>
            </a:r>
            <a:r>
              <a:rPr lang="en-GB" sz="1700" dirty="0" smtClean="0">
                <a:latin typeface="Consolas" pitchFamily="49" charset="0"/>
                <a:cs typeface="Consolas" pitchFamily="49" charset="0"/>
              </a:rPr>
              <a:t>	textBlock1.Text </a:t>
            </a:r>
            <a:r>
              <a:rPr lang="en-GB" sz="1700" dirty="0">
                <a:latin typeface="Consolas" pitchFamily="49" charset="0"/>
                <a:cs typeface="Consolas" pitchFamily="49" charset="0"/>
              </a:rPr>
              <a:t>= </a:t>
            </a:r>
            <a:r>
              <a:rPr lang="en-GB" sz="1700" dirty="0" err="1">
                <a:latin typeface="Consolas" pitchFamily="49" charset="0"/>
                <a:cs typeface="Consolas" pitchFamily="49" charset="0"/>
              </a:rPr>
              <a:t>msg</a:t>
            </a:r>
            <a:r>
              <a:rPr lang="en-GB" sz="1700" dirty="0">
                <a:latin typeface="Consolas" pitchFamily="49" charset="0"/>
                <a:cs typeface="Consolas" pitchFamily="49" charset="0"/>
              </a:rPr>
              <a:t>;           </a:t>
            </a:r>
          </a:p>
          <a:p>
            <a:r>
              <a:rPr lang="en-GB" sz="1700" dirty="0">
                <a:latin typeface="Consolas" pitchFamily="49" charset="0"/>
                <a:cs typeface="Consolas" pitchFamily="49" charset="0"/>
              </a:rPr>
              <a:t>}</a:t>
            </a:r>
          </a:p>
        </p:txBody>
      </p:sp>
      <p:sp>
        <p:nvSpPr>
          <p:cNvPr id="13" name="Text Placeholder 10"/>
          <p:cNvSpPr txBox="1">
            <a:spLocks/>
          </p:cNvSpPr>
          <p:nvPr/>
        </p:nvSpPr>
        <p:spPr>
          <a:xfrm>
            <a:off x="357646" y="3631472"/>
            <a:ext cx="8177422" cy="276999"/>
          </a:xfrm>
          <a:prstGeom prst="rect">
            <a:avLst/>
          </a:prstGeom>
        </p:spPr>
        <p:txBody>
          <a:bodyPr vert="horz" wrap="square" lIns="0" tIns="0" rIns="0" bIns="0" rtlCol="0">
            <a:spAutoFit/>
          </a:bodyPr>
          <a:lstStyle>
            <a:lvl1pPr marL="347663" indent="-347663">
              <a:lnSpc>
                <a:spcPct val="90000"/>
              </a:lnSpc>
              <a:spcBef>
                <a:spcPct val="20000"/>
              </a:spcBef>
              <a:buClr>
                <a:schemeClr val="accent1"/>
              </a:buClr>
              <a:buSzPct val="100000"/>
              <a:buFont typeface="Wingdings" pitchFamily="2" charset="2"/>
              <a:buChar char="§"/>
              <a:defRPr sz="2400" spc="-150">
                <a:gradFill>
                  <a:gsLst>
                    <a:gs pos="0">
                      <a:srgbClr val="737373"/>
                    </a:gs>
                    <a:gs pos="86000">
                      <a:srgbClr val="737373"/>
                    </a:gs>
                  </a:gsLst>
                  <a:lin ang="5400000" scaled="0"/>
                </a:gradFill>
                <a:latin typeface="Segoe Light" pitchFamily="34" charset="0"/>
              </a:defRPr>
            </a:lvl1pPr>
            <a:lvl2pPr marL="744538" indent="-284163">
              <a:lnSpc>
                <a:spcPct val="90000"/>
              </a:lnSpc>
              <a:spcBef>
                <a:spcPct val="20000"/>
              </a:spcBef>
              <a:buClr>
                <a:schemeClr val="tx2"/>
              </a:buClr>
              <a:buSzPct val="100000"/>
              <a:buFont typeface="Wingdings" pitchFamily="2" charset="2"/>
              <a:buChar char="§"/>
              <a:defRPr sz="2800" spc="-150">
                <a:gradFill>
                  <a:gsLst>
                    <a:gs pos="0">
                      <a:srgbClr val="737373"/>
                    </a:gs>
                    <a:gs pos="86000">
                      <a:srgbClr val="737373"/>
                    </a:gs>
                  </a:gsLst>
                  <a:lin ang="5400000" scaled="0"/>
                </a:gradFill>
                <a:latin typeface="Segoe Light" pitchFamily="34" charset="0"/>
              </a:defRPr>
            </a:lvl2pPr>
            <a:lvl3pPr marL="1143000" indent="-287338">
              <a:lnSpc>
                <a:spcPct val="90000"/>
              </a:lnSpc>
              <a:spcBef>
                <a:spcPct val="20000"/>
              </a:spcBef>
              <a:buClr>
                <a:schemeClr val="tx2"/>
              </a:buClr>
              <a:buSzPct val="100000"/>
              <a:buFont typeface="Wingdings" pitchFamily="2" charset="2"/>
              <a:buChar char="§"/>
              <a:defRPr sz="2400" spc="-150">
                <a:gradFill>
                  <a:gsLst>
                    <a:gs pos="0">
                      <a:srgbClr val="737373"/>
                    </a:gs>
                    <a:gs pos="86000">
                      <a:srgbClr val="737373"/>
                    </a:gs>
                  </a:gsLst>
                  <a:lin ang="5400000" scaled="0"/>
                </a:gradFill>
                <a:latin typeface="Segoe Light" pitchFamily="34" charset="0"/>
              </a:defRPr>
            </a:lvl3pPr>
            <a:lvl4pPr marL="1490663" indent="-231775">
              <a:lnSpc>
                <a:spcPct val="90000"/>
              </a:lnSpc>
              <a:spcBef>
                <a:spcPct val="20000"/>
              </a:spcBef>
              <a:buClr>
                <a:schemeClr val="tx2"/>
              </a:buClr>
              <a:buSzPct val="100000"/>
              <a:buFont typeface="Wingdings" pitchFamily="2" charset="2"/>
              <a:buChar char="§"/>
              <a:defRPr sz="2000" spc="-150">
                <a:gradFill>
                  <a:gsLst>
                    <a:gs pos="0">
                      <a:srgbClr val="737373"/>
                    </a:gs>
                    <a:gs pos="86000">
                      <a:srgbClr val="737373"/>
                    </a:gs>
                  </a:gsLst>
                  <a:lin ang="5400000" scaled="0"/>
                </a:gradFill>
                <a:latin typeface="Segoe Light" pitchFamily="34" charset="0"/>
              </a:defRPr>
            </a:lvl4pPr>
            <a:lvl5pPr marL="1828800" indent="-223838">
              <a:lnSpc>
                <a:spcPct val="90000"/>
              </a:lnSpc>
              <a:spcBef>
                <a:spcPct val="20000"/>
              </a:spcBef>
              <a:buClr>
                <a:schemeClr val="tx2"/>
              </a:buClr>
              <a:buSzPct val="100000"/>
              <a:buFont typeface="Wingdings" pitchFamily="2" charset="2"/>
              <a:buChar char="§"/>
              <a:defRPr sz="2000" spc="-150">
                <a:gradFill>
                  <a:gsLst>
                    <a:gs pos="0">
                      <a:srgbClr val="737373"/>
                    </a:gs>
                    <a:gs pos="86000">
                      <a:srgbClr val="737373"/>
                    </a:gs>
                  </a:gsLst>
                  <a:lin ang="5400000" scaled="0"/>
                </a:gradFill>
                <a:latin typeface="Segoe Light" pitchFamily="34" charset="0"/>
              </a:defRPr>
            </a:lvl5pPr>
            <a:lvl6pPr marL="2514499" indent="-228591">
              <a:spcBef>
                <a:spcPct val="20000"/>
              </a:spcBef>
              <a:buFont typeface="Arial" pitchFamily="34" charset="0"/>
              <a:buChar char="•"/>
              <a:defRPr sz="2000"/>
            </a:lvl6pPr>
            <a:lvl7pPr marL="2971681" indent="-228591">
              <a:spcBef>
                <a:spcPct val="20000"/>
              </a:spcBef>
              <a:buFont typeface="Arial" pitchFamily="34" charset="0"/>
              <a:buChar char="•"/>
              <a:defRPr sz="2000"/>
            </a:lvl7pPr>
            <a:lvl8pPr marL="3428863" indent="-228591">
              <a:spcBef>
                <a:spcPct val="20000"/>
              </a:spcBef>
              <a:buFont typeface="Arial" pitchFamily="34" charset="0"/>
              <a:buChar char="•"/>
              <a:defRPr sz="2000"/>
            </a:lvl8pPr>
            <a:lvl9pPr marL="3886045" indent="-228591">
              <a:spcBef>
                <a:spcPct val="20000"/>
              </a:spcBef>
              <a:buFont typeface="Arial" pitchFamily="34" charset="0"/>
              <a:buChar char="•"/>
              <a:defRPr sz="2000"/>
            </a:lvl9pPr>
          </a:lstStyle>
          <a:p>
            <a:r>
              <a:rPr lang="en-GB" sz="2000" dirty="0"/>
              <a:t>On destination page</a:t>
            </a:r>
          </a:p>
        </p:txBody>
      </p:sp>
    </p:spTree>
    <p:extLst>
      <p:ext uri="{BB962C8B-B14F-4D97-AF65-F5344CB8AC3E}">
        <p14:creationId xmlns:p14="http://schemas.microsoft.com/office/powerpoint/2010/main" val="37210914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Passing Objects Between Pages</a:t>
            </a:r>
            <a:endParaRPr lang="en-GB" dirty="0"/>
          </a:p>
        </p:txBody>
      </p:sp>
      <p:sp>
        <p:nvSpPr>
          <p:cNvPr id="6" name="Text Placeholder 5"/>
          <p:cNvSpPr>
            <a:spLocks noGrp="1"/>
          </p:cNvSpPr>
          <p:nvPr>
            <p:ph type="body" sz="quarter" idx="10"/>
          </p:nvPr>
        </p:nvSpPr>
        <p:spPr>
          <a:xfrm>
            <a:off x="381000" y="1447800"/>
            <a:ext cx="8363938" cy="1822037"/>
          </a:xfrm>
        </p:spPr>
        <p:txBody>
          <a:bodyPr/>
          <a:lstStyle/>
          <a:p>
            <a:r>
              <a:rPr lang="en-GB" sz="2400" dirty="0" smtClean="0"/>
              <a:t>Often, you will need to pass a data object from one page to another</a:t>
            </a:r>
          </a:p>
          <a:p>
            <a:pPr lvl="1"/>
            <a:r>
              <a:rPr lang="en-GB" sz="2000" dirty="0" smtClean="0"/>
              <a:t>For example, the user selects an item in a list and navigates to a Details page</a:t>
            </a:r>
          </a:p>
          <a:p>
            <a:r>
              <a:rPr lang="en-GB" sz="2400" dirty="0" smtClean="0"/>
              <a:t>One solution is to store your </a:t>
            </a:r>
            <a:r>
              <a:rPr lang="en-GB" sz="2400" dirty="0" err="1" smtClean="0"/>
              <a:t>ViewModel</a:t>
            </a:r>
            <a:r>
              <a:rPr lang="en-GB" sz="2400" dirty="0" smtClean="0"/>
              <a:t> (that is, data) in your App class</a:t>
            </a:r>
          </a:p>
          <a:p>
            <a:pPr lvl="1"/>
            <a:r>
              <a:rPr lang="en-GB" sz="2000" dirty="0" smtClean="0"/>
              <a:t>Global to whole application</a:t>
            </a:r>
          </a:p>
          <a:p>
            <a:r>
              <a:rPr lang="en-GB" sz="2400" dirty="0" smtClean="0"/>
              <a:t>Pass the selected item index in query </a:t>
            </a:r>
            <a:r>
              <a:rPr lang="en-GB" sz="2400" dirty="0" smtClean="0"/>
              <a:t>string</a:t>
            </a:r>
            <a:endParaRPr lang="en-GB" sz="2400" dirty="0" smtClean="0"/>
          </a:p>
        </p:txBody>
      </p:sp>
      <p:sp>
        <p:nvSpPr>
          <p:cNvPr id="3" name="Slide Number Placeholder 2"/>
          <p:cNvSpPr>
            <a:spLocks noGrp="1"/>
          </p:cNvSpPr>
          <p:nvPr>
            <p:ph type="sldNum" sz="quarter" idx="11"/>
          </p:nvPr>
        </p:nvSpPr>
        <p:spPr/>
        <p:txBody>
          <a:bodyPr/>
          <a:lstStyle/>
          <a:p>
            <a:fld id="{271031BA-9959-4FE2-909F-37D65262A7B4}" type="slidenum">
              <a:rPr lang="en-US" smtClean="0"/>
              <a:pPr/>
              <a:t>49</a:t>
            </a:fld>
            <a:endParaRPr lang="en-US" dirty="0"/>
          </a:p>
        </p:txBody>
      </p:sp>
      <p:sp>
        <p:nvSpPr>
          <p:cNvPr id="5" name="Rectangle 4"/>
          <p:cNvSpPr/>
          <p:nvPr/>
        </p:nvSpPr>
        <p:spPr>
          <a:xfrm>
            <a:off x="381000" y="3782977"/>
            <a:ext cx="8042564" cy="9510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80975" lvl="0">
              <a:lnSpc>
                <a:spcPct val="90000"/>
              </a:lnSpc>
              <a:spcBef>
                <a:spcPct val="20000"/>
              </a:spcBef>
              <a:buClr>
                <a:srgbClr val="4891DC"/>
              </a:buClr>
              <a:buSzPct val="100000"/>
            </a:pPr>
            <a:r>
              <a:rPr lang="en-GB" spc="-150" dirty="0" err="1" smtClean="0">
                <a:solidFill>
                  <a:srgbClr val="737373"/>
                </a:solidFill>
                <a:latin typeface="Consolas" pitchFamily="49" charset="0"/>
                <a:cs typeface="Consolas" pitchFamily="49" charset="0"/>
              </a:rPr>
              <a:t>NavigationService.Navigate</a:t>
            </a:r>
            <a:r>
              <a:rPr lang="en-GB" spc="-150" dirty="0" smtClean="0">
                <a:solidFill>
                  <a:srgbClr val="737373"/>
                </a:solidFill>
                <a:latin typeface="Consolas" pitchFamily="49" charset="0"/>
                <a:cs typeface="Consolas" pitchFamily="49" charset="0"/>
              </a:rPr>
              <a:t>(</a:t>
            </a:r>
          </a:p>
          <a:p>
            <a:pPr marL="180975" lvl="0">
              <a:lnSpc>
                <a:spcPct val="90000"/>
              </a:lnSpc>
              <a:spcBef>
                <a:spcPct val="20000"/>
              </a:spcBef>
              <a:buClr>
                <a:srgbClr val="4891DC"/>
              </a:buClr>
              <a:buSzPct val="100000"/>
            </a:pPr>
            <a:r>
              <a:rPr lang="en-GB" spc="-150" dirty="0">
                <a:solidFill>
                  <a:srgbClr val="737373"/>
                </a:solidFill>
                <a:latin typeface="Consolas" pitchFamily="49" charset="0"/>
                <a:cs typeface="Consolas" pitchFamily="49" charset="0"/>
              </a:rPr>
              <a:t>	</a:t>
            </a:r>
            <a:r>
              <a:rPr lang="en-GB" spc="-150" dirty="0" smtClean="0">
                <a:solidFill>
                  <a:srgbClr val="737373"/>
                </a:solidFill>
                <a:latin typeface="Consolas" pitchFamily="49" charset="0"/>
                <a:cs typeface="Consolas" pitchFamily="49" charset="0"/>
              </a:rPr>
              <a:t>new </a:t>
            </a:r>
            <a:r>
              <a:rPr lang="en-GB" spc="-150" dirty="0">
                <a:solidFill>
                  <a:srgbClr val="737373"/>
                </a:solidFill>
                <a:latin typeface="Consolas" pitchFamily="49" charset="0"/>
                <a:cs typeface="Consolas" pitchFamily="49" charset="0"/>
              </a:rPr>
              <a:t>Uri("/</a:t>
            </a:r>
            <a:r>
              <a:rPr lang="en-GB" spc="-150" dirty="0" err="1" smtClean="0">
                <a:solidFill>
                  <a:srgbClr val="737373"/>
                </a:solidFill>
                <a:latin typeface="Consolas" pitchFamily="49" charset="0"/>
                <a:cs typeface="Consolas" pitchFamily="49" charset="0"/>
              </a:rPr>
              <a:t>SecondPage.xaml</a:t>
            </a:r>
            <a:r>
              <a:rPr lang="en-GB" spc="-150" dirty="0" smtClean="0">
                <a:solidFill>
                  <a:srgbClr val="737373"/>
                </a:solidFill>
                <a:latin typeface="Consolas" pitchFamily="49" charset="0"/>
                <a:cs typeface="Consolas" pitchFamily="49" charset="0"/>
              </a:rPr>
              <a:t>+?</a:t>
            </a:r>
            <a:r>
              <a:rPr lang="en-GB" spc="-150" dirty="0" err="1" smtClean="0">
                <a:solidFill>
                  <a:srgbClr val="737373"/>
                </a:solidFill>
                <a:latin typeface="Consolas" pitchFamily="49" charset="0"/>
                <a:cs typeface="Consolas" pitchFamily="49" charset="0"/>
              </a:rPr>
              <a:t>Param</a:t>
            </a:r>
            <a:r>
              <a:rPr lang="en-GB" spc="-150" dirty="0" smtClean="0">
                <a:solidFill>
                  <a:srgbClr val="737373"/>
                </a:solidFill>
                <a:latin typeface="Consolas" pitchFamily="49" charset="0"/>
                <a:cs typeface="Consolas" pitchFamily="49" charset="0"/>
              </a:rPr>
              <a:t>=value" , </a:t>
            </a:r>
          </a:p>
          <a:p>
            <a:pPr marL="180975" lvl="0">
              <a:lnSpc>
                <a:spcPct val="90000"/>
              </a:lnSpc>
              <a:spcBef>
                <a:spcPct val="20000"/>
              </a:spcBef>
              <a:buClr>
                <a:srgbClr val="4891DC"/>
              </a:buClr>
              <a:buSzPct val="100000"/>
            </a:pPr>
            <a:r>
              <a:rPr lang="en-GB" spc="-150" dirty="0" smtClean="0">
                <a:solidFill>
                  <a:srgbClr val="737373"/>
                </a:solidFill>
                <a:latin typeface="Consolas" pitchFamily="49" charset="0"/>
                <a:cs typeface="Consolas" pitchFamily="49" charset="0"/>
              </a:rPr>
              <a:t>		  </a:t>
            </a:r>
            <a:r>
              <a:rPr lang="en-GB" spc="-150" dirty="0" err="1">
                <a:solidFill>
                  <a:srgbClr val="737373"/>
                </a:solidFill>
                <a:latin typeface="Consolas" pitchFamily="49" charset="0"/>
                <a:cs typeface="Consolas" pitchFamily="49" charset="0"/>
              </a:rPr>
              <a:t>UriKind.RelativeOrAbsolute</a:t>
            </a:r>
            <a:endParaRPr lang="en-GB" spc="-150" dirty="0">
              <a:solidFill>
                <a:srgbClr val="737373"/>
              </a:solidFill>
              <a:latin typeface="Consolas" pitchFamily="49" charset="0"/>
              <a:cs typeface="Consolas" pitchFamily="49" charset="0"/>
            </a:endParaRPr>
          </a:p>
        </p:txBody>
      </p:sp>
    </p:spTree>
    <p:extLst>
      <p:ext uri="{BB962C8B-B14F-4D97-AF65-F5344CB8AC3E}">
        <p14:creationId xmlns:p14="http://schemas.microsoft.com/office/powerpoint/2010/main" val="12010576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smtClean="0"/>
              <a:t>Orientation-aware Forms</a:t>
            </a:r>
            <a:endParaRPr lang="en-GB" dirty="0"/>
          </a:p>
        </p:txBody>
      </p:sp>
      <p:sp>
        <p:nvSpPr>
          <p:cNvPr id="3" name="Slide Number Placeholder 2"/>
          <p:cNvSpPr>
            <a:spLocks noGrp="1"/>
          </p:cNvSpPr>
          <p:nvPr>
            <p:ph type="sldNum" sz="quarter" idx="10"/>
          </p:nvPr>
        </p:nvSpPr>
        <p:spPr/>
        <p:txBody>
          <a:bodyPr/>
          <a:lstStyle/>
          <a:p>
            <a:fld id="{271031BA-9959-4FE2-909F-37D65262A7B4}" type="slidenum">
              <a:rPr lang="en-US" smtClean="0"/>
              <a:pPr/>
              <a:t>50</a:t>
            </a:fld>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324" y="1605965"/>
            <a:ext cx="2209756" cy="4032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9428" y="1330043"/>
            <a:ext cx="3915106" cy="211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descr="HybridOrientationChanges samp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3080" y="3449824"/>
            <a:ext cx="524827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5631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Orientation Support</a:t>
            </a:r>
            <a:endParaRPr lang="en-GB" dirty="0"/>
          </a:p>
        </p:txBody>
      </p:sp>
      <p:sp>
        <p:nvSpPr>
          <p:cNvPr id="5" name="Text Placeholder 4"/>
          <p:cNvSpPr>
            <a:spLocks noGrp="1"/>
          </p:cNvSpPr>
          <p:nvPr>
            <p:ph type="body" sz="quarter" idx="10"/>
          </p:nvPr>
        </p:nvSpPr>
        <p:spPr/>
        <p:txBody>
          <a:bodyPr/>
          <a:lstStyle/>
          <a:p>
            <a:r>
              <a:rPr lang="en-GB" sz="2000" dirty="0" smtClean="0"/>
              <a:t>In Visual Studio ‘Add New Item’ , you can add a Landscape Page or a Portrait Page</a:t>
            </a:r>
          </a:p>
          <a:p>
            <a:pPr lvl="1"/>
            <a:r>
              <a:rPr lang="en-GB" sz="2000" dirty="0" smtClean="0"/>
              <a:t>In fact, any page can be either – or both</a:t>
            </a:r>
          </a:p>
          <a:p>
            <a:r>
              <a:rPr lang="en-GB" sz="2000" dirty="0" smtClean="0"/>
              <a:t>The </a:t>
            </a:r>
            <a:r>
              <a:rPr lang="en-GB" sz="2000" dirty="0" err="1" smtClean="0"/>
              <a:t>PhoneApplicationPage.SupportedOrientations</a:t>
            </a:r>
            <a:r>
              <a:rPr lang="en-GB" sz="2000" dirty="0" smtClean="0"/>
              <a:t> property states what orientations the page supports</a:t>
            </a:r>
          </a:p>
          <a:p>
            <a:pPr lvl="1"/>
            <a:r>
              <a:rPr lang="en-GB" sz="2000" dirty="0" smtClean="0"/>
              <a:t>Portrait</a:t>
            </a:r>
          </a:p>
          <a:p>
            <a:pPr lvl="1"/>
            <a:r>
              <a:rPr lang="en-GB" sz="2000" dirty="0" smtClean="0"/>
              <a:t>Landscape</a:t>
            </a:r>
          </a:p>
          <a:p>
            <a:pPr lvl="1"/>
            <a:r>
              <a:rPr lang="en-GB" sz="2000" dirty="0" err="1" smtClean="0"/>
              <a:t>PortraitOrLandscape</a:t>
            </a:r>
            <a:endParaRPr lang="en-GB" sz="2000" dirty="0" smtClean="0"/>
          </a:p>
          <a:p>
            <a:r>
              <a:rPr lang="en-GB" sz="2000" dirty="0" smtClean="0"/>
              <a:t>If set to </a:t>
            </a:r>
            <a:r>
              <a:rPr lang="en-GB" sz="2000" dirty="0" err="1" smtClean="0"/>
              <a:t>PortraitOrLandscape</a:t>
            </a:r>
            <a:r>
              <a:rPr lang="en-GB" sz="2000" dirty="0" smtClean="0"/>
              <a:t>, page</a:t>
            </a:r>
            <a:br>
              <a:rPr lang="en-GB" sz="2000" dirty="0" smtClean="0"/>
            </a:br>
            <a:r>
              <a:rPr lang="en-GB" sz="2000" dirty="0" smtClean="0"/>
              <a:t>will re-orientate itself automatically</a:t>
            </a:r>
            <a:br>
              <a:rPr lang="en-GB" sz="2000" dirty="0" smtClean="0"/>
            </a:br>
            <a:r>
              <a:rPr lang="en-GB" sz="2000" dirty="0" smtClean="0"/>
              <a:t>when the user rotates the phone</a:t>
            </a:r>
          </a:p>
          <a:p>
            <a:r>
              <a:rPr lang="en-GB" sz="2000" dirty="0" smtClean="0"/>
              <a:t>You cannot force a page to re-orientate</a:t>
            </a:r>
            <a:br>
              <a:rPr lang="en-GB" sz="2000" dirty="0" smtClean="0"/>
            </a:br>
            <a:r>
              <a:rPr lang="en-GB" sz="2000" dirty="0" smtClean="0"/>
              <a:t>in code</a:t>
            </a:r>
          </a:p>
          <a:p>
            <a:r>
              <a:rPr lang="en-GB" sz="2000" dirty="0" smtClean="0"/>
              <a:t>You </a:t>
            </a:r>
            <a:r>
              <a:rPr lang="en-GB" sz="2000" i="1" dirty="0" smtClean="0"/>
              <a:t>can</a:t>
            </a:r>
            <a:r>
              <a:rPr lang="en-GB" sz="2000" dirty="0" smtClean="0"/>
              <a:t> force a page to always use a specific orientation by setting the </a:t>
            </a:r>
            <a:r>
              <a:rPr lang="en-GB" sz="2000" dirty="0" err="1" smtClean="0"/>
              <a:t>SupportedOrientations</a:t>
            </a:r>
            <a:r>
              <a:rPr lang="en-GB" sz="2000" dirty="0" smtClean="0"/>
              <a:t> property to the value you require</a:t>
            </a:r>
          </a:p>
          <a:p>
            <a:pPr lvl="1"/>
            <a:endParaRPr lang="en-GB" sz="2000" dirty="0"/>
          </a:p>
        </p:txBody>
      </p:sp>
      <p:sp>
        <p:nvSpPr>
          <p:cNvPr id="3" name="Slide Number Placeholder 2"/>
          <p:cNvSpPr>
            <a:spLocks noGrp="1"/>
          </p:cNvSpPr>
          <p:nvPr>
            <p:ph type="sldNum" sz="quarter" idx="11"/>
          </p:nvPr>
        </p:nvSpPr>
        <p:spPr/>
        <p:txBody>
          <a:bodyPr/>
          <a:lstStyle/>
          <a:p>
            <a:fld id="{271031BA-9959-4FE2-909F-37D65262A7B4}" type="slidenum">
              <a:rPr lang="en-US" smtClean="0"/>
              <a:pPr/>
              <a:t>51</a:t>
            </a:fld>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528009"/>
            <a:ext cx="4202341" cy="259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04966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smtClean="0"/>
              <a:t>Orientation-aware Pages</a:t>
            </a:r>
            <a:endParaRPr lang="en-GB" dirty="0"/>
          </a:p>
        </p:txBody>
      </p:sp>
      <p:sp>
        <p:nvSpPr>
          <p:cNvPr id="9" name="Text Placeholder 8"/>
          <p:cNvSpPr>
            <a:spLocks noGrp="1"/>
          </p:cNvSpPr>
          <p:nvPr>
            <p:ph type="body" sz="quarter" idx="10"/>
          </p:nvPr>
        </p:nvSpPr>
        <p:spPr>
          <a:xfrm>
            <a:off x="381000" y="3011322"/>
            <a:ext cx="8363938" cy="2588401"/>
          </a:xfrm>
        </p:spPr>
        <p:txBody>
          <a:bodyPr/>
          <a:lstStyle/>
          <a:p>
            <a:r>
              <a:rPr lang="en-GB" sz="2800" dirty="0" smtClean="0"/>
              <a:t>TIPS</a:t>
            </a:r>
          </a:p>
          <a:p>
            <a:pPr lvl="1"/>
            <a:r>
              <a:rPr lang="en-GB" sz="2600" dirty="0" smtClean="0"/>
              <a:t>Can </a:t>
            </a:r>
            <a:r>
              <a:rPr lang="en-GB" sz="2600" dirty="0" smtClean="0"/>
              <a:t>use a </a:t>
            </a:r>
            <a:r>
              <a:rPr lang="en-GB" sz="2600" dirty="0" err="1" smtClean="0"/>
              <a:t>ScrollViewer</a:t>
            </a:r>
            <a:r>
              <a:rPr lang="en-GB" sz="2600" dirty="0" smtClean="0"/>
              <a:t> to scroll content when in </a:t>
            </a:r>
            <a:r>
              <a:rPr lang="en-GB" sz="2600" dirty="0" smtClean="0"/>
              <a:t>landscape</a:t>
            </a:r>
          </a:p>
          <a:p>
            <a:pPr lvl="1"/>
            <a:r>
              <a:rPr lang="en-GB" sz="2600" dirty="0" smtClean="0"/>
              <a:t>Use Grid and </a:t>
            </a:r>
            <a:r>
              <a:rPr lang="en-GB" sz="2600" dirty="0" err="1" smtClean="0"/>
              <a:t>StackPanel</a:t>
            </a:r>
            <a:r>
              <a:rPr lang="en-GB" sz="2600" dirty="0" smtClean="0"/>
              <a:t> over Canvas, since they respect layout</a:t>
            </a:r>
          </a:p>
          <a:p>
            <a:pPr lvl="1"/>
            <a:r>
              <a:rPr lang="en-GB" sz="2600" dirty="0" smtClean="0"/>
              <a:t>Can provide </a:t>
            </a:r>
            <a:r>
              <a:rPr lang="en-GB" sz="2600" dirty="0" err="1" smtClean="0"/>
              <a:t>MinWidth</a:t>
            </a:r>
            <a:r>
              <a:rPr lang="en-GB" sz="2600" dirty="0" smtClean="0"/>
              <a:t>, </a:t>
            </a:r>
            <a:r>
              <a:rPr lang="en-GB" sz="2600" dirty="0" err="1" smtClean="0"/>
              <a:t>MaxWidth</a:t>
            </a:r>
            <a:r>
              <a:rPr lang="en-GB" sz="2600" dirty="0" smtClean="0"/>
              <a:t>,  etc. property values</a:t>
            </a:r>
          </a:p>
          <a:p>
            <a:pPr lvl="1"/>
            <a:r>
              <a:rPr lang="en-GB" sz="2600" dirty="0" smtClean="0"/>
              <a:t>Avoid hard-coding widths</a:t>
            </a:r>
          </a:p>
          <a:p>
            <a:pPr lvl="1"/>
            <a:r>
              <a:rPr lang="en-GB" sz="2600" dirty="0" smtClean="0"/>
              <a:t>Provide a smooth transition animation automatically (</a:t>
            </a:r>
            <a:r>
              <a:rPr lang="en-GB" sz="2600" dirty="0" smtClean="0">
                <a:hlinkClick r:id="rId2"/>
              </a:rPr>
              <a:t>link</a:t>
            </a:r>
            <a:r>
              <a:rPr lang="en-GB" sz="2600" dirty="0" smtClean="0"/>
              <a:t>)</a:t>
            </a:r>
            <a:endParaRPr lang="en-GB" sz="2600" dirty="0"/>
          </a:p>
        </p:txBody>
      </p:sp>
      <p:sp>
        <p:nvSpPr>
          <p:cNvPr id="4" name="Slide Number Placeholder 3"/>
          <p:cNvSpPr>
            <a:spLocks noGrp="1"/>
          </p:cNvSpPr>
          <p:nvPr>
            <p:ph type="sldNum" sz="quarter" idx="11"/>
          </p:nvPr>
        </p:nvSpPr>
        <p:spPr/>
        <p:txBody>
          <a:bodyPr/>
          <a:lstStyle/>
          <a:p>
            <a:fld id="{B8B17130-D30C-4461-9CCA-B6B1AD89A9DD}" type="slidenum">
              <a:rPr lang="en-US" smtClean="0"/>
              <a:pPr/>
              <a:t>52</a:t>
            </a:fld>
            <a:endParaRPr lang="en-US"/>
          </a:p>
        </p:txBody>
      </p:sp>
      <p:sp>
        <p:nvSpPr>
          <p:cNvPr id="2" name="Rectangle 1"/>
          <p:cNvSpPr/>
          <p:nvPr/>
        </p:nvSpPr>
        <p:spPr>
          <a:xfrm>
            <a:off x="381000" y="1297674"/>
            <a:ext cx="8380413" cy="139730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80975"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&lt;</a:t>
            </a:r>
            <a:r>
              <a:rPr lang="en-GB" sz="1600" spc="-150" dirty="0" err="1">
                <a:gradFill>
                  <a:gsLst>
                    <a:gs pos="0">
                      <a:srgbClr val="737373"/>
                    </a:gs>
                    <a:gs pos="86000">
                      <a:srgbClr val="737373"/>
                    </a:gs>
                  </a:gsLst>
                  <a:lin ang="5400000" scaled="0"/>
                </a:gradFill>
                <a:latin typeface="Consolas" pitchFamily="49" charset="0"/>
              </a:rPr>
              <a:t>phone:PhoneApplicationPage</a:t>
            </a:r>
            <a:r>
              <a:rPr lang="en-GB" sz="1600" spc="-150" dirty="0">
                <a:gradFill>
                  <a:gsLst>
                    <a:gs pos="0">
                      <a:srgbClr val="737373"/>
                    </a:gs>
                    <a:gs pos="86000">
                      <a:srgbClr val="737373"/>
                    </a:gs>
                  </a:gsLst>
                  <a:lin ang="5400000" scaled="0"/>
                </a:gradFill>
                <a:latin typeface="Consolas" pitchFamily="49" charset="0"/>
              </a:rPr>
              <a:t> </a:t>
            </a:r>
          </a:p>
          <a:p>
            <a:pPr marL="180975"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x:Class="OrientationSample.MainPage“</a:t>
            </a:r>
          </a:p>
          <a:p>
            <a:pPr marL="180975"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p>
          <a:p>
            <a:pPr marL="180975"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r>
              <a:rPr lang="en-GB" sz="1600" spc="-150" dirty="0" err="1">
                <a:gradFill>
                  <a:gsLst>
                    <a:gs pos="0">
                      <a:srgbClr val="737373"/>
                    </a:gs>
                    <a:gs pos="86000">
                      <a:srgbClr val="737373"/>
                    </a:gs>
                  </a:gsLst>
                  <a:lin ang="5400000" scaled="0"/>
                </a:gradFill>
                <a:latin typeface="Consolas" pitchFamily="49" charset="0"/>
              </a:rPr>
              <a:t>SupportedOrientations</a:t>
            </a:r>
            <a:r>
              <a:rPr lang="en-GB" sz="1600" spc="-150" dirty="0">
                <a:gradFill>
                  <a:gsLst>
                    <a:gs pos="0">
                      <a:srgbClr val="737373"/>
                    </a:gs>
                    <a:gs pos="86000">
                      <a:srgbClr val="737373"/>
                    </a:gs>
                  </a:gsLst>
                  <a:lin ang="5400000" scaled="0"/>
                </a:gradFill>
                <a:latin typeface="Consolas" pitchFamily="49" charset="0"/>
              </a:rPr>
              <a:t>="</a:t>
            </a:r>
            <a:r>
              <a:rPr lang="en-GB" sz="1600" b="1" u="sng" spc="-150" dirty="0" err="1">
                <a:solidFill>
                  <a:schemeClr val="accent2"/>
                </a:solidFill>
                <a:latin typeface="Consolas" pitchFamily="49" charset="0"/>
              </a:rPr>
              <a:t>PortraitOrLandscape</a:t>
            </a:r>
            <a:r>
              <a:rPr lang="en-GB" sz="1600" spc="-150" dirty="0">
                <a:gradFill>
                  <a:gsLst>
                    <a:gs pos="0">
                      <a:srgbClr val="737373"/>
                    </a:gs>
                    <a:gs pos="86000">
                      <a:srgbClr val="737373"/>
                    </a:gs>
                  </a:gsLst>
                  <a:lin ang="5400000" scaled="0"/>
                </a:gradFill>
                <a:latin typeface="Consolas" pitchFamily="49" charset="0"/>
              </a:rPr>
              <a:t>" Orientation="</a:t>
            </a:r>
            <a:r>
              <a:rPr lang="en-GB" sz="1600" b="1" u="sng" spc="-150" dirty="0">
                <a:solidFill>
                  <a:schemeClr val="accent2"/>
                </a:solidFill>
                <a:latin typeface="Consolas" pitchFamily="49" charset="0"/>
              </a:rPr>
              <a:t>Portrait</a:t>
            </a:r>
            <a:r>
              <a:rPr lang="en-GB" sz="1600" spc="-150" dirty="0">
                <a:gradFill>
                  <a:gsLst>
                    <a:gs pos="0">
                      <a:srgbClr val="737373"/>
                    </a:gs>
                    <a:gs pos="86000">
                      <a:srgbClr val="737373"/>
                    </a:gs>
                  </a:gsLst>
                  <a:lin ang="5400000" scaled="0"/>
                </a:gradFill>
                <a:latin typeface="Consolas" pitchFamily="49" charset="0"/>
              </a:rPr>
              <a:t>"</a:t>
            </a:r>
          </a:p>
          <a:p>
            <a:pPr marL="180975"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r>
              <a:rPr lang="en-GB" sz="1600" spc="-150" dirty="0" err="1">
                <a:gradFill>
                  <a:gsLst>
                    <a:gs pos="0">
                      <a:srgbClr val="737373"/>
                    </a:gs>
                    <a:gs pos="86000">
                      <a:srgbClr val="737373"/>
                    </a:gs>
                  </a:gsLst>
                  <a:lin ang="5400000" scaled="0"/>
                </a:gradFill>
                <a:latin typeface="Consolas" pitchFamily="49" charset="0"/>
              </a:rPr>
              <a:t>mc:Ignorable</a:t>
            </a:r>
            <a:r>
              <a:rPr lang="en-GB" sz="1600" spc="-150" dirty="0">
                <a:gradFill>
                  <a:gsLst>
                    <a:gs pos="0">
                      <a:srgbClr val="737373"/>
                    </a:gs>
                    <a:gs pos="86000">
                      <a:srgbClr val="737373"/>
                    </a:gs>
                  </a:gsLst>
                  <a:lin ang="5400000" scaled="0"/>
                </a:gradFill>
                <a:latin typeface="Consolas" pitchFamily="49" charset="0"/>
              </a:rPr>
              <a:t>="d" d:DesignWidth="480" d:DesignHeight="768“&gt;</a:t>
            </a:r>
          </a:p>
        </p:txBody>
      </p:sp>
    </p:spTree>
    <p:extLst>
      <p:ext uri="{BB962C8B-B14F-4D97-AF65-F5344CB8AC3E}">
        <p14:creationId xmlns:p14="http://schemas.microsoft.com/office/powerpoint/2010/main" val="15866687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6"/>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sz="1800"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Phone Controls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53</a:t>
            </a:fld>
            <a:endParaRPr lang="en-US" dirty="0"/>
          </a:p>
        </p:txBody>
      </p:sp>
    </p:spTree>
    <p:extLst>
      <p:ext uri="{BB962C8B-B14F-4D97-AF65-F5344CB8AC3E}">
        <p14:creationId xmlns:p14="http://schemas.microsoft.com/office/powerpoint/2010/main" val="12740972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Phone Controls</a:t>
            </a:r>
            <a:endParaRPr lang="en-US" dirty="0"/>
          </a:p>
        </p:txBody>
      </p:sp>
      <p:sp>
        <p:nvSpPr>
          <p:cNvPr id="3" name="Text Placeholder 2"/>
          <p:cNvSpPr>
            <a:spLocks noGrp="1"/>
          </p:cNvSpPr>
          <p:nvPr>
            <p:ph type="body" sz="quarter" idx="10"/>
          </p:nvPr>
        </p:nvSpPr>
        <p:spPr>
          <a:xfrm>
            <a:off x="381000" y="1447800"/>
            <a:ext cx="8363938" cy="3151632"/>
          </a:xfrm>
        </p:spPr>
        <p:txBody>
          <a:bodyPr/>
          <a:lstStyle/>
          <a:p>
            <a:r>
              <a:rPr lang="en-US" dirty="0" smtClean="0"/>
              <a:t>Application Bar</a:t>
            </a:r>
          </a:p>
          <a:p>
            <a:r>
              <a:rPr lang="en-US" dirty="0" smtClean="0"/>
              <a:t>System Tray</a:t>
            </a:r>
          </a:p>
          <a:p>
            <a:r>
              <a:rPr lang="en-US" dirty="0" smtClean="0"/>
              <a:t>Web Browser Control</a:t>
            </a:r>
          </a:p>
          <a:p>
            <a:r>
              <a:rPr lang="en-US" dirty="0" smtClean="0"/>
              <a:t>Pivot</a:t>
            </a:r>
          </a:p>
          <a:p>
            <a:r>
              <a:rPr lang="en-US" dirty="0"/>
              <a:t>Panorama</a:t>
            </a:r>
            <a:endParaRPr lang="en-US" dirty="0" smtClean="0"/>
          </a:p>
          <a:p>
            <a:r>
              <a:rPr lang="en-US" i="1" dirty="0" smtClean="0"/>
              <a:t>Map</a:t>
            </a:r>
            <a:endParaRPr lang="en-US" i="1"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54</a:t>
            </a:fld>
            <a:endParaRPr lang="en-US" dirty="0">
              <a:solidFill>
                <a:srgbClr val="6BBD46"/>
              </a:solidFill>
            </a:endParaRPr>
          </a:p>
        </p:txBody>
      </p:sp>
    </p:spTree>
    <p:extLst>
      <p:ext uri="{BB962C8B-B14F-4D97-AF65-F5344CB8AC3E}">
        <p14:creationId xmlns:p14="http://schemas.microsoft.com/office/powerpoint/2010/main" val="20593266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1800"/>
            <a:ext cx="8363938" cy="1218795"/>
          </a:xfrm>
        </p:spPr>
        <p:txBody>
          <a:bodyPr/>
          <a:lstStyle/>
          <a:p>
            <a:r>
              <a:rPr lang="en-GB" sz="4800" dirty="0" smtClean="0"/>
              <a:t>Application Chrome</a:t>
            </a:r>
            <a:br>
              <a:rPr lang="en-GB" sz="4800" dirty="0" smtClean="0"/>
            </a:br>
            <a:r>
              <a:rPr lang="en-GB" sz="4000" dirty="0" smtClean="0">
                <a:solidFill>
                  <a:schemeClr val="tx2"/>
                </a:solidFill>
              </a:rPr>
              <a:t>System Tray and Application Bar</a:t>
            </a:r>
            <a:endParaRPr lang="en-GB" sz="4800" dirty="0">
              <a:solidFill>
                <a:schemeClr val="tx2"/>
              </a:solidFill>
            </a:endParaRPr>
          </a:p>
        </p:txBody>
      </p:sp>
      <p:sp>
        <p:nvSpPr>
          <p:cNvPr id="3" name="Content Placeholder 2"/>
          <p:cNvSpPr>
            <a:spLocks noGrp="1"/>
          </p:cNvSpPr>
          <p:nvPr>
            <p:ph type="body" sz="quarter" idx="10"/>
          </p:nvPr>
        </p:nvSpPr>
        <p:spPr>
          <a:xfrm>
            <a:off x="381000" y="2124693"/>
            <a:ext cx="5034148" cy="3958007"/>
          </a:xfrm>
        </p:spPr>
        <p:txBody>
          <a:bodyPr/>
          <a:lstStyle/>
          <a:p>
            <a:r>
              <a:rPr lang="en-GB" sz="2800" dirty="0" smtClean="0"/>
              <a:t>System Tray</a:t>
            </a:r>
          </a:p>
          <a:p>
            <a:pPr lvl="1"/>
            <a:r>
              <a:rPr lang="en-GB" sz="2400" dirty="0" smtClean="0"/>
              <a:t>System owned indicator area that displays system-level status information</a:t>
            </a:r>
          </a:p>
          <a:p>
            <a:pPr lvl="1"/>
            <a:r>
              <a:rPr lang="en-GB" sz="2400" dirty="0" smtClean="0"/>
              <a:t>Apps can show/hide the Sys Tray</a:t>
            </a:r>
          </a:p>
          <a:p>
            <a:endParaRPr lang="en-GB" sz="2800" dirty="0" smtClean="0"/>
          </a:p>
          <a:p>
            <a:r>
              <a:rPr lang="en-GB" sz="2800" dirty="0" smtClean="0"/>
              <a:t>Application Bar</a:t>
            </a:r>
          </a:p>
          <a:p>
            <a:pPr lvl="1"/>
            <a:r>
              <a:rPr lang="en-GB" sz="2400" dirty="0" smtClean="0"/>
              <a:t>Area where applications can display buttons for the most common tasks</a:t>
            </a:r>
          </a:p>
          <a:p>
            <a:pPr lvl="1"/>
            <a:r>
              <a:rPr lang="en-GB" sz="2400" dirty="0" smtClean="0"/>
              <a:t>Can display pop-up menu for less common tasks</a:t>
            </a:r>
            <a:endParaRPr lang="en-GB" sz="2400" dirty="0"/>
          </a:p>
        </p:txBody>
      </p:sp>
      <p:sp>
        <p:nvSpPr>
          <p:cNvPr id="5" name="Slide Number Placeholder 4"/>
          <p:cNvSpPr>
            <a:spLocks noGrp="1"/>
          </p:cNvSpPr>
          <p:nvPr>
            <p:ph type="sldNum" sz="quarter" idx="11"/>
          </p:nvPr>
        </p:nvSpPr>
        <p:spPr/>
        <p:txBody>
          <a:bodyPr/>
          <a:lstStyle/>
          <a:p>
            <a:fld id="{271031BA-9959-4FE2-909F-37D65262A7B4}" type="slidenum">
              <a:rPr lang="en-US" smtClean="0"/>
              <a:pPr/>
              <a:t>55</a:t>
            </a:fld>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188" y="1905000"/>
            <a:ext cx="3324225" cy="4286250"/>
          </a:xfrm>
          <a:prstGeom prst="rect">
            <a:avLst/>
          </a:prstGeom>
          <a:solidFill>
            <a:schemeClr val="bg1"/>
          </a:solidFill>
          <a:ln>
            <a:noFill/>
          </a:ln>
          <a:effectLst/>
          <a:extLst/>
        </p:spPr>
      </p:pic>
      <p:sp>
        <p:nvSpPr>
          <p:cNvPr id="8" name="Rectangle 7"/>
          <p:cNvSpPr/>
          <p:nvPr/>
        </p:nvSpPr>
        <p:spPr>
          <a:xfrm>
            <a:off x="698824" y="3750996"/>
            <a:ext cx="3873176" cy="258532"/>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marL="333362" lvl="1">
              <a:lnSpc>
                <a:spcPct val="90000"/>
              </a:lnSpc>
              <a:spcBef>
                <a:spcPct val="20000"/>
              </a:spcBef>
              <a:buClr>
                <a:srgbClr val="6BBD46"/>
              </a:buClr>
              <a:buSzPct val="100000"/>
            </a:pPr>
            <a:r>
              <a:rPr lang="en-GB" sz="1200" spc="-150" dirty="0" err="1">
                <a:gradFill>
                  <a:gsLst>
                    <a:gs pos="0">
                      <a:srgbClr val="737373"/>
                    </a:gs>
                    <a:gs pos="86000">
                      <a:srgbClr val="737373"/>
                    </a:gs>
                  </a:gsLst>
                  <a:lin ang="5400000" scaled="0"/>
                </a:gradFill>
                <a:latin typeface="Consolas"/>
              </a:rPr>
              <a:t>Microsoft.Phone.Shell.</a:t>
            </a:r>
            <a:r>
              <a:rPr lang="en-GB" sz="1200" spc="-150" dirty="0" err="1">
                <a:solidFill>
                  <a:srgbClr val="2B91AF"/>
                </a:solidFill>
                <a:latin typeface="Consolas"/>
              </a:rPr>
              <a:t>SystemTray</a:t>
            </a:r>
            <a:r>
              <a:rPr lang="en-GB" sz="1200" spc="-150" dirty="0" err="1">
                <a:solidFill>
                  <a:prstClr val="black"/>
                </a:solidFill>
                <a:latin typeface="Consolas"/>
              </a:rPr>
              <a:t>.IsVisible</a:t>
            </a:r>
            <a:r>
              <a:rPr lang="en-GB" sz="1200" spc="-150" dirty="0">
                <a:solidFill>
                  <a:prstClr val="black"/>
                </a:solidFill>
                <a:latin typeface="Consolas"/>
              </a:rPr>
              <a:t> = </a:t>
            </a:r>
            <a:r>
              <a:rPr lang="en-GB" sz="1200" spc="-150" dirty="0">
                <a:solidFill>
                  <a:srgbClr val="0000FF"/>
                </a:solidFill>
                <a:latin typeface="Consolas"/>
              </a:rPr>
              <a:t>false</a:t>
            </a:r>
            <a:r>
              <a:rPr lang="en-GB" sz="1200" spc="-150" dirty="0">
                <a:solidFill>
                  <a:prstClr val="black"/>
                </a:solidFill>
                <a:latin typeface="Consolas"/>
              </a:rPr>
              <a:t>;</a:t>
            </a:r>
            <a:endParaRPr lang="en-GB" sz="2400" spc="-150" dirty="0">
              <a:gradFill>
                <a:gsLst>
                  <a:gs pos="0">
                    <a:srgbClr val="737373"/>
                  </a:gs>
                  <a:gs pos="86000">
                    <a:srgbClr val="737373"/>
                  </a:gs>
                </a:gsLst>
                <a:lin ang="5400000" scaled="0"/>
              </a:gradFill>
              <a:latin typeface="Segoe Light" pitchFamily="34" charset="0"/>
            </a:endParaRPr>
          </a:p>
        </p:txBody>
      </p:sp>
    </p:spTree>
    <p:extLst>
      <p:ext uri="{BB962C8B-B14F-4D97-AF65-F5344CB8AC3E}">
        <p14:creationId xmlns:p14="http://schemas.microsoft.com/office/powerpoint/2010/main" val="122355816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057900" y="1752600"/>
            <a:ext cx="1143000" cy="60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p:txBody>
          <a:bodyPr/>
          <a:lstStyle/>
          <a:p>
            <a:r>
              <a:rPr lang="en-US" smtClean="0"/>
              <a:t>Application Bar</a:t>
            </a:r>
            <a:endParaRPr lang="en-US" dirty="0"/>
          </a:p>
        </p:txBody>
      </p:sp>
      <p:sp>
        <p:nvSpPr>
          <p:cNvPr id="3" name="Text Placeholder 2"/>
          <p:cNvSpPr>
            <a:spLocks noGrp="1"/>
          </p:cNvSpPr>
          <p:nvPr>
            <p:ph type="body" sz="quarter" idx="10"/>
          </p:nvPr>
        </p:nvSpPr>
        <p:spPr>
          <a:xfrm>
            <a:off x="381000" y="1670540"/>
            <a:ext cx="5544787" cy="2640723"/>
          </a:xfrm>
        </p:spPr>
        <p:txBody>
          <a:bodyPr/>
          <a:lstStyle/>
          <a:p>
            <a:r>
              <a:rPr lang="en-US" sz="2800" dirty="0" smtClean="0"/>
              <a:t>Use the Application Bar instead of creating your own menu system</a:t>
            </a:r>
          </a:p>
          <a:p>
            <a:r>
              <a:rPr lang="en-US" sz="2800" dirty="0" smtClean="0"/>
              <a:t>Up to 4 buttons plus optional </a:t>
            </a:r>
            <a:r>
              <a:rPr lang="en-US" sz="2800" dirty="0" smtClean="0"/>
              <a:t>menu</a:t>
            </a:r>
          </a:p>
          <a:p>
            <a:endParaRPr lang="en-US" sz="2400" dirty="0" smtClean="0"/>
          </a:p>
          <a:p>
            <a:r>
              <a:rPr lang="en-US" sz="3200" dirty="0" smtClean="0"/>
              <a:t>Unfortunately data binding does not work with app bar! </a:t>
            </a:r>
            <a:r>
              <a:rPr lang="en-US" sz="3200" dirty="0" smtClean="0">
                <a:sym typeface="Wingdings" pitchFamily="2" charset="2"/>
              </a:rPr>
              <a:t></a:t>
            </a:r>
            <a:endParaRPr lang="en-US" sz="3200" dirty="0"/>
          </a:p>
        </p:txBody>
      </p:sp>
      <p:pic>
        <p:nvPicPr>
          <p:cNvPr id="7" name="Email_menu_vr1.wm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5" cstate="print"/>
          <a:stretch>
            <a:fillRect/>
          </a:stretch>
        </p:blipFill>
        <p:spPr>
          <a:xfrm>
            <a:off x="6018213" y="1447800"/>
            <a:ext cx="2743200" cy="4572000"/>
          </a:xfrm>
          <a:prstGeom prst="rect">
            <a:avLst/>
          </a:prstGeom>
          <a:ln>
            <a:solidFill>
              <a:schemeClr val="bg1"/>
            </a:solidFill>
          </a:ln>
        </p:spPr>
      </p:pic>
      <p:sp>
        <p:nvSpPr>
          <p:cNvPr id="8" name="Content Placeholder 2"/>
          <p:cNvSpPr txBox="1">
            <a:spLocks/>
          </p:cNvSpPr>
          <p:nvPr/>
        </p:nvSpPr>
        <p:spPr>
          <a:xfrm>
            <a:off x="519924" y="1659654"/>
            <a:ext cx="4610216" cy="5198346"/>
          </a:xfrm>
          <a:prstGeom prst="rect">
            <a:avLst/>
          </a:prstGeom>
        </p:spPr>
        <p:txBody>
          <a:bodyPr/>
          <a:lstStyle>
            <a:lvl1pPr marL="347663" indent="-347663" algn="l" defTabSz="914363" rtl="0" eaLnBrk="1" latinLnBrk="0" hangingPunct="1">
              <a:lnSpc>
                <a:spcPct val="90000"/>
              </a:lnSpc>
              <a:spcBef>
                <a:spcPct val="20000"/>
              </a:spcBef>
              <a:buClr>
                <a:schemeClr val="accent1"/>
              </a:buClr>
              <a:buSzPct val="100000"/>
              <a:buFont typeface="Wingdings" pitchFamily="2" charset="2"/>
              <a:buChar char="§"/>
              <a:defRPr sz="3200" kern="1200" spc="-150" baseline="0">
                <a:gradFill>
                  <a:gsLst>
                    <a:gs pos="0">
                      <a:srgbClr val="737373"/>
                    </a:gs>
                    <a:gs pos="86000">
                      <a:srgbClr val="737373"/>
                    </a:gs>
                  </a:gsLst>
                  <a:lin ang="5400000" scaled="0"/>
                </a:gradFill>
                <a:latin typeface="Segoe" charset="0"/>
                <a:ea typeface="+mn-ea"/>
                <a:cs typeface="+mn-cs"/>
              </a:defRPr>
            </a:lvl1pPr>
            <a:lvl2pPr marL="744538" indent="-284163" algn="l" defTabSz="914363" rtl="0" eaLnBrk="1" latinLnBrk="0" hangingPunct="1">
              <a:lnSpc>
                <a:spcPct val="90000"/>
              </a:lnSpc>
              <a:spcBef>
                <a:spcPct val="20000"/>
              </a:spcBef>
              <a:buClr>
                <a:schemeClr val="tx2"/>
              </a:buClr>
              <a:buSzPct val="100000"/>
              <a:buFont typeface="Wingdings" pitchFamily="2" charset="2"/>
              <a:buChar char="§"/>
              <a:defRPr sz="3200" kern="1200" spc="-150" baseline="0">
                <a:gradFill>
                  <a:gsLst>
                    <a:gs pos="0">
                      <a:srgbClr val="737373"/>
                    </a:gs>
                    <a:gs pos="86000">
                      <a:srgbClr val="737373"/>
                    </a:gs>
                  </a:gsLst>
                  <a:lin ang="5400000" scaled="0"/>
                </a:gradFill>
                <a:latin typeface="Segoe" charset="0"/>
                <a:ea typeface="+mn-ea"/>
                <a:cs typeface="+mn-cs"/>
              </a:defRPr>
            </a:lvl2pPr>
            <a:lvl3pPr marL="1143000" indent="-287338" algn="l" defTabSz="914363" rtl="0" eaLnBrk="1" latinLnBrk="0" hangingPunct="1">
              <a:lnSpc>
                <a:spcPct val="90000"/>
              </a:lnSpc>
              <a:spcBef>
                <a:spcPct val="20000"/>
              </a:spcBef>
              <a:buClr>
                <a:schemeClr val="tx2"/>
              </a:buClr>
              <a:buSzPct val="100000"/>
              <a:buFont typeface="Wingdings" pitchFamily="2" charset="2"/>
              <a:buChar char="§"/>
              <a:defRPr sz="2800" kern="1200" spc="-150" baseline="0">
                <a:gradFill>
                  <a:gsLst>
                    <a:gs pos="0">
                      <a:srgbClr val="737373"/>
                    </a:gs>
                    <a:gs pos="86000">
                      <a:srgbClr val="737373"/>
                    </a:gs>
                  </a:gsLst>
                  <a:lin ang="5400000" scaled="0"/>
                </a:gradFill>
                <a:latin typeface="Segoe" charset="0"/>
                <a:ea typeface="+mn-ea"/>
                <a:cs typeface="+mn-cs"/>
              </a:defRPr>
            </a:lvl3pPr>
            <a:lvl4pPr marL="1490663" indent="-231775" algn="l" defTabSz="914363" rtl="0" eaLnBrk="1" latinLnBrk="0" hangingPunct="1">
              <a:lnSpc>
                <a:spcPct val="90000"/>
              </a:lnSpc>
              <a:spcBef>
                <a:spcPct val="20000"/>
              </a:spcBef>
              <a:buClr>
                <a:schemeClr val="tx2"/>
              </a:buClr>
              <a:buSzPct val="100000"/>
              <a:buFont typeface="Wingdings" pitchFamily="2" charset="2"/>
              <a:buChar char="§"/>
              <a:defRPr sz="2800" kern="1200" spc="-150" baseline="0">
                <a:gradFill>
                  <a:gsLst>
                    <a:gs pos="0">
                      <a:srgbClr val="737373"/>
                    </a:gs>
                    <a:gs pos="86000">
                      <a:srgbClr val="737373"/>
                    </a:gs>
                  </a:gsLst>
                  <a:lin ang="5400000" scaled="0"/>
                </a:gradFill>
                <a:latin typeface="Segoe" charset="0"/>
                <a:ea typeface="+mn-ea"/>
                <a:cs typeface="+mn-cs"/>
              </a:defRPr>
            </a:lvl4pPr>
            <a:lvl5pPr marL="1828800" indent="-223838" algn="l" defTabSz="914363" rtl="0" eaLnBrk="1" latinLnBrk="0" hangingPunct="1">
              <a:lnSpc>
                <a:spcPct val="90000"/>
              </a:lnSpc>
              <a:spcBef>
                <a:spcPct val="20000"/>
              </a:spcBef>
              <a:buClr>
                <a:schemeClr val="tx2"/>
              </a:buClr>
              <a:buSzPct val="100000"/>
              <a:buFont typeface="Wingdings" pitchFamily="2" charset="2"/>
              <a:buChar char="§"/>
              <a:defRPr sz="2000" kern="1200" spc="-150" baseline="0">
                <a:gradFill>
                  <a:gsLst>
                    <a:gs pos="0">
                      <a:srgbClr val="737373"/>
                    </a:gs>
                    <a:gs pos="86000">
                      <a:srgbClr val="737373"/>
                    </a:gs>
                  </a:gsLst>
                  <a:lin ang="5400000" scaled="0"/>
                </a:gradFill>
                <a:latin typeface="Segoe"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457200">
              <a:spcBef>
                <a:spcPct val="0"/>
              </a:spcBef>
              <a:spcAft>
                <a:spcPts val="600"/>
              </a:spcAft>
              <a:defRPr/>
            </a:pPr>
            <a:endParaRPr lang="hr-HR" sz="2000" dirty="0">
              <a:cs typeface="Segoe Light"/>
            </a:endParaRPr>
          </a:p>
        </p:txBody>
      </p:sp>
    </p:spTree>
    <p:extLst>
      <p:ext uri="{BB962C8B-B14F-4D97-AF65-F5344CB8AC3E}">
        <p14:creationId xmlns:p14="http://schemas.microsoft.com/office/powerpoint/2010/main" val="10017942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mediacall" presetSubtype="0" fill="hold" nodeType="afterEffect">
                                  <p:stCondLst>
                                    <p:cond delay="0"/>
                                  </p:stCondLst>
                                  <p:childTnLst>
                                    <p:cmd type="call" cmd="togglePause">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7"/>
                </p:tgtEl>
              </p:cMediaNode>
            </p:video>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smtClean="0"/>
              <a:t>Application Bar in </a:t>
            </a:r>
            <a:r>
              <a:rPr lang="en-GB" dirty="0" smtClean="0"/>
              <a:t>XAML</a:t>
            </a:r>
            <a:endParaRPr lang="en-GB" dirty="0"/>
          </a:p>
        </p:txBody>
      </p:sp>
      <p:sp>
        <p:nvSpPr>
          <p:cNvPr id="6" name="Text Placeholder 5"/>
          <p:cNvSpPr>
            <a:spLocks noGrp="1"/>
          </p:cNvSpPr>
          <p:nvPr>
            <p:ph type="body" sz="quarter" idx="10"/>
          </p:nvPr>
        </p:nvSpPr>
        <p:spPr>
          <a:xfrm>
            <a:off x="389437" y="1441875"/>
            <a:ext cx="8363937" cy="4825937"/>
          </a:xfrm>
        </p:spPr>
        <p:txBody>
          <a:bodyPr/>
          <a:lstStyle/>
          <a:p>
            <a:pPr marL="342900" indent="-342900">
              <a:buFont typeface="+mj-lt"/>
              <a:buAutoNum type="arabicPeriod"/>
            </a:pPr>
            <a:r>
              <a:rPr lang="en-GB" sz="1400" dirty="0" smtClean="0"/>
              <a:t>&lt;</a:t>
            </a:r>
            <a:r>
              <a:rPr lang="en-GB" sz="1400" dirty="0" err="1" smtClean="0"/>
              <a:t>phone:PhoneApplicationPage</a:t>
            </a:r>
            <a:endParaRPr lang="en-GB" sz="1400" dirty="0" smtClean="0"/>
          </a:p>
          <a:p>
            <a:pPr marL="342900" indent="-342900">
              <a:buFont typeface="+mj-lt"/>
              <a:buAutoNum type="arabicPeriod"/>
            </a:pPr>
            <a:r>
              <a:rPr lang="en-GB" sz="1400" dirty="0"/>
              <a:t> </a:t>
            </a:r>
            <a:r>
              <a:rPr lang="en-GB" sz="1400" dirty="0" smtClean="0"/>
              <a:t> x:Class=“MyApp.MainPage”</a:t>
            </a:r>
            <a:br>
              <a:rPr lang="en-GB" sz="1400" dirty="0" smtClean="0"/>
            </a:br>
            <a:r>
              <a:rPr lang="en-GB" sz="1400" dirty="0" smtClean="0"/>
              <a:t>  … &gt;</a:t>
            </a:r>
            <a:br>
              <a:rPr lang="en-GB" sz="1400" dirty="0" smtClean="0"/>
            </a:br>
            <a:endParaRPr lang="en-GB" sz="1400" dirty="0" smtClean="0"/>
          </a:p>
          <a:p>
            <a:pPr marL="342900" indent="-342900">
              <a:buFont typeface="+mj-lt"/>
              <a:buAutoNum type="arabicPeriod"/>
            </a:pPr>
            <a:r>
              <a:rPr lang="en-GB" sz="1400" dirty="0" smtClean="0"/>
              <a:t>  &lt;</a:t>
            </a:r>
            <a:r>
              <a:rPr lang="en-GB" sz="1400" dirty="0" err="1"/>
              <a:t>phone:PhoneApplicationPage.ApplicationBar</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a:t>
            </a:r>
            <a:r>
              <a:rPr lang="en-GB" sz="1400" dirty="0"/>
              <a:t> x:Name="AppBar" </a:t>
            </a:r>
            <a:r>
              <a:rPr lang="en-GB" sz="1400" dirty="0" err="1"/>
              <a:t>IsMenuEnabled</a:t>
            </a:r>
            <a:r>
              <a:rPr lang="en-GB" sz="1400" dirty="0"/>
              <a:t>="True"&gt;</a:t>
            </a:r>
          </a:p>
          <a:p>
            <a:pPr marL="342900" indent="-342900">
              <a:buFont typeface="+mj-lt"/>
              <a:buAutoNum type="arabicPeriod"/>
            </a:pPr>
            <a:r>
              <a:rPr lang="en-GB" sz="1400" dirty="0"/>
              <a:t>        </a:t>
            </a:r>
            <a:r>
              <a:rPr lang="en-GB" sz="1400" dirty="0" smtClean="0"/>
              <a:t>&lt;</a:t>
            </a:r>
            <a:r>
              <a:rPr lang="en-GB" sz="1400" dirty="0" err="1"/>
              <a:t>shell:ApplicationBar.Buttons</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shell:ApplicationBarIconButton</a:t>
            </a:r>
            <a:r>
              <a:rPr lang="en-GB" sz="1400" dirty="0"/>
              <a:t> x:Name="NewContactButton" </a:t>
            </a:r>
            <a:r>
              <a:rPr lang="en-GB" sz="1400" dirty="0" smtClean="0"/>
              <a:t/>
            </a:r>
            <a:br>
              <a:rPr lang="en-GB" sz="1400" dirty="0" smtClean="0"/>
            </a:br>
            <a:r>
              <a:rPr lang="en-GB" sz="1400" dirty="0" smtClean="0"/>
              <a:t>                   </a:t>
            </a:r>
            <a:r>
              <a:rPr lang="en-GB" sz="1400" dirty="0" err="1" smtClean="0"/>
              <a:t>IconUri</a:t>
            </a:r>
            <a:r>
              <a:rPr lang="en-GB" sz="1400" dirty="0"/>
              <a:t>="Images/appbar.new.rest.png" Text="New" </a:t>
            </a:r>
            <a:r>
              <a:rPr lang="en-GB" sz="1400" dirty="0" smtClean="0"/>
              <a:t/>
            </a:r>
            <a:br>
              <a:rPr lang="en-GB" sz="1400" dirty="0" smtClean="0"/>
            </a:br>
            <a:r>
              <a:rPr lang="en-GB" sz="1400" dirty="0" smtClean="0"/>
              <a:t>                   Click</a:t>
            </a:r>
            <a:r>
              <a:rPr lang="en-GB" sz="1400" dirty="0"/>
              <a:t>="</a:t>
            </a:r>
            <a:r>
              <a:rPr lang="en-GB" sz="1400" dirty="0" err="1"/>
              <a:t>NewContactButton_Click</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shell:ApplicationBarIconButton</a:t>
            </a:r>
            <a:r>
              <a:rPr lang="en-GB" sz="1400" dirty="0"/>
              <a:t> x:Name="SearchButton" </a:t>
            </a:r>
            <a:r>
              <a:rPr lang="en-GB" sz="1400" dirty="0" smtClean="0"/>
              <a:t/>
            </a:r>
            <a:br>
              <a:rPr lang="en-GB" sz="1400" dirty="0" smtClean="0"/>
            </a:br>
            <a:r>
              <a:rPr lang="en-GB" sz="1400" dirty="0" smtClean="0"/>
              <a:t>                   </a:t>
            </a:r>
            <a:r>
              <a:rPr lang="en-GB" sz="1400" dirty="0" err="1" smtClean="0"/>
              <a:t>IconUri</a:t>
            </a:r>
            <a:r>
              <a:rPr lang="en-GB" sz="1400" dirty="0"/>
              <a:t>="Images/appbar.feature.search.rest.png" </a:t>
            </a:r>
            <a:r>
              <a:rPr lang="en-GB" sz="1400" dirty="0" smtClean="0"/>
              <a:t/>
            </a:r>
            <a:br>
              <a:rPr lang="en-GB" sz="1400" dirty="0" smtClean="0"/>
            </a:br>
            <a:r>
              <a:rPr lang="en-GB" sz="1400" dirty="0" smtClean="0"/>
              <a:t>                   Text</a:t>
            </a:r>
            <a:r>
              <a:rPr lang="en-GB" sz="1400" dirty="0"/>
              <a:t>="Find" Click="</a:t>
            </a:r>
            <a:r>
              <a:rPr lang="en-GB" sz="1400" dirty="0" err="1"/>
              <a:t>SearchButton_Click</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shell:ApplicationBar.Buttons</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shell:ApplicationBar.MenuItems</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shell:ApplicationBarMenuItem</a:t>
            </a:r>
            <a:r>
              <a:rPr lang="en-GB" sz="1400" dirty="0"/>
              <a:t> x:Name="GenerateMenuItem" </a:t>
            </a:r>
            <a:r>
              <a:rPr lang="en-GB" sz="1400" dirty="0" smtClean="0"/>
              <a:t/>
            </a:r>
            <a:br>
              <a:rPr lang="en-GB" sz="1400" dirty="0" smtClean="0"/>
            </a:br>
            <a:r>
              <a:rPr lang="en-GB" sz="1400" dirty="0" smtClean="0"/>
              <a:t>                  Text</a:t>
            </a:r>
            <a:r>
              <a:rPr lang="en-GB" sz="1400" dirty="0"/>
              <a:t>="Generate Data" Click="</a:t>
            </a:r>
            <a:r>
              <a:rPr lang="en-GB" sz="1400" dirty="0" err="1"/>
              <a:t>GenerateMenuItem_Click</a:t>
            </a:r>
            <a:r>
              <a:rPr lang="en-GB" sz="1400" dirty="0"/>
              <a:t>" /&gt;</a:t>
            </a:r>
          </a:p>
          <a:p>
            <a:pPr marL="342900" indent="-342900">
              <a:buFont typeface="+mj-lt"/>
              <a:buAutoNum type="arabicPeriod"/>
            </a:pPr>
            <a:r>
              <a:rPr lang="en-GB" sz="1400" dirty="0"/>
              <a:t>            </a:t>
            </a:r>
            <a:r>
              <a:rPr lang="en-GB" sz="1400" dirty="0" smtClean="0"/>
              <a:t>&lt;</a:t>
            </a:r>
            <a:r>
              <a:rPr lang="en-GB" sz="1400" dirty="0" err="1"/>
              <a:t>shell:ApplicationBarMenuItem</a:t>
            </a:r>
            <a:r>
              <a:rPr lang="en-GB" sz="1400" dirty="0"/>
              <a:t> x:Name="ClearMenuItem" </a:t>
            </a:r>
            <a:r>
              <a:rPr lang="en-GB" sz="1400" dirty="0" smtClean="0"/>
              <a:t/>
            </a:r>
            <a:br>
              <a:rPr lang="en-GB" sz="1400" dirty="0" smtClean="0"/>
            </a:br>
            <a:r>
              <a:rPr lang="en-GB" sz="1400" dirty="0" smtClean="0"/>
              <a:t>                   Text</a:t>
            </a:r>
            <a:r>
              <a:rPr lang="en-GB" sz="1400" dirty="0"/>
              <a:t>="Clear Data" Click="</a:t>
            </a:r>
            <a:r>
              <a:rPr lang="en-GB" sz="1400" dirty="0" err="1"/>
              <a:t>ClearMenuItem_Click</a:t>
            </a:r>
            <a:r>
              <a:rPr lang="en-GB" sz="1400" dirty="0"/>
              <a:t>" /&gt;</a:t>
            </a:r>
          </a:p>
          <a:p>
            <a:pPr marL="342900" indent="-342900">
              <a:buFont typeface="+mj-lt"/>
              <a:buAutoNum type="arabicPeriod"/>
            </a:pPr>
            <a:r>
              <a:rPr lang="en-GB" sz="1400" dirty="0"/>
              <a:t>        </a:t>
            </a:r>
            <a:r>
              <a:rPr lang="en-GB" sz="1400" dirty="0" smtClean="0"/>
              <a:t>&lt;/</a:t>
            </a:r>
            <a:r>
              <a:rPr lang="en-GB" sz="1400" dirty="0" err="1"/>
              <a:t>shell:ApplicationBar.MenuItems</a:t>
            </a:r>
            <a:r>
              <a:rPr lang="en-GB" sz="1400" dirty="0"/>
              <a:t>&gt;</a:t>
            </a:r>
          </a:p>
          <a:p>
            <a:pPr marL="342900" indent="-342900">
              <a:buFont typeface="+mj-lt"/>
              <a:buAutoNum type="arabicPeriod"/>
            </a:pPr>
            <a:r>
              <a:rPr lang="en-GB" sz="1400" dirty="0"/>
              <a:t>    </a:t>
            </a:r>
            <a:r>
              <a:rPr lang="en-GB" sz="1400" dirty="0" smtClean="0"/>
              <a:t>&lt;/</a:t>
            </a:r>
            <a:r>
              <a:rPr lang="en-GB" sz="1400" dirty="0" err="1"/>
              <a:t>shell:ApplicationBar</a:t>
            </a:r>
            <a:r>
              <a:rPr lang="en-GB" sz="1400" dirty="0"/>
              <a:t>&gt;        </a:t>
            </a:r>
          </a:p>
          <a:p>
            <a:pPr marL="342900" indent="-342900">
              <a:buFont typeface="+mj-lt"/>
              <a:buAutoNum type="arabicPeriod"/>
            </a:pPr>
            <a:r>
              <a:rPr lang="en-GB" sz="1400" dirty="0" smtClean="0"/>
              <a:t>  &lt;/</a:t>
            </a:r>
            <a:r>
              <a:rPr lang="en-GB" sz="1400" dirty="0" err="1"/>
              <a:t>phone:PhoneApplicationPage.ApplicationBar</a:t>
            </a:r>
            <a:r>
              <a:rPr lang="en-GB" sz="1400" dirty="0"/>
              <a:t>&gt;</a:t>
            </a:r>
          </a:p>
        </p:txBody>
      </p:sp>
      <p:sp>
        <p:nvSpPr>
          <p:cNvPr id="3" name="Slide Number Placeholder 2"/>
          <p:cNvSpPr>
            <a:spLocks noGrp="1"/>
          </p:cNvSpPr>
          <p:nvPr>
            <p:ph type="sldNum" sz="quarter" idx="4294967295"/>
          </p:nvPr>
        </p:nvSpPr>
        <p:spPr>
          <a:xfrm>
            <a:off x="0" y="6454775"/>
            <a:ext cx="169863" cy="228600"/>
          </a:xfrm>
          <a:prstGeom prst="rect">
            <a:avLst/>
          </a:prstGeom>
        </p:spPr>
        <p:txBody>
          <a:bodyPr/>
          <a:lstStyle/>
          <a:p>
            <a:fld id="{271031BA-9959-4FE2-909F-37D65262A7B4}" type="slidenum">
              <a:rPr lang="en-US" smtClean="0"/>
              <a:pPr/>
              <a:t>57</a:t>
            </a:fld>
            <a:endParaRPr lang="en-US" dirty="0"/>
          </a:p>
        </p:txBody>
      </p:sp>
    </p:spTree>
    <p:extLst>
      <p:ext uri="{BB962C8B-B14F-4D97-AF65-F5344CB8AC3E}">
        <p14:creationId xmlns:p14="http://schemas.microsoft.com/office/powerpoint/2010/main" val="31136858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Content Placeholder 4"/>
          <p:cNvSpPr txBox="1">
            <a:spLocks/>
          </p:cNvSpPr>
          <p:nvPr/>
        </p:nvSpPr>
        <p:spPr>
          <a:xfrm>
            <a:off x="380999" y="3130800"/>
            <a:ext cx="8380413" cy="457200"/>
          </a:xfrm>
          <a:prstGeom prst="rect">
            <a:avLst/>
          </a:prstGeom>
          <a:solidFill>
            <a:schemeClr val="tx2"/>
          </a:solidFill>
        </p:spPr>
        <p:txBody>
          <a:bodyPr vert="horz" lIns="91420" tIns="45711" rIns="91420" bIns="45711" rtlCol="0" anchor="ctr">
            <a:noAutofit/>
          </a:bodyPr>
          <a:lstStyle>
            <a:lvl1pPr marL="342900" indent="-342900" algn="l" defTabSz="457200" rtl="0" eaLnBrk="1" latinLnBrk="0" hangingPunct="1">
              <a:spcBef>
                <a:spcPct val="20000"/>
              </a:spcBef>
              <a:buFont typeface="Arial"/>
              <a:buNone/>
              <a:defRPr sz="2800" b="0" i="0" kern="1200">
                <a:solidFill>
                  <a:srgbClr val="5A5A59"/>
                </a:solidFill>
                <a:latin typeface="Segoe"/>
                <a:ea typeface="+mn-ea"/>
                <a:cs typeface="Segoe"/>
              </a:defRPr>
            </a:lvl1pPr>
            <a:lvl2pPr marL="169863" indent="-169863" algn="l" defTabSz="457200" rtl="0" eaLnBrk="1" latinLnBrk="0" hangingPunct="1">
              <a:spcBef>
                <a:spcPct val="20000"/>
              </a:spcBef>
              <a:buFont typeface="Segoe" pitchFamily="34" charset="0"/>
              <a:buChar char="▫"/>
              <a:defRPr sz="1900" b="0" i="0" kern="1200">
                <a:solidFill>
                  <a:srgbClr val="5A5A59"/>
                </a:solidFill>
                <a:latin typeface="Segoe"/>
                <a:ea typeface="+mn-ea"/>
                <a:cs typeface="Segoe"/>
              </a:defRPr>
            </a:lvl2pPr>
            <a:lvl3pPr marL="576263" indent="-177800" algn="l" defTabSz="457200" rtl="0" eaLnBrk="1" latinLnBrk="0" hangingPunct="1">
              <a:spcBef>
                <a:spcPct val="20000"/>
              </a:spcBef>
              <a:buFont typeface="Segoe" pitchFamily="34" charset="0"/>
              <a:buChar char="▫"/>
              <a:defRPr sz="1700" b="0" i="0" kern="1200">
                <a:solidFill>
                  <a:srgbClr val="787878"/>
                </a:solidFill>
                <a:latin typeface="Segoe"/>
                <a:ea typeface="+mn-ea"/>
                <a:cs typeface="Segoe"/>
              </a:defRPr>
            </a:lvl3pPr>
            <a:lvl4pPr marL="855663" indent="-169863" algn="l" defTabSz="457200" rtl="0" eaLnBrk="1" latinLnBrk="0" hangingPunct="1">
              <a:spcBef>
                <a:spcPct val="20000"/>
              </a:spcBef>
              <a:buFont typeface="Segoe" pitchFamily="34" charset="0"/>
              <a:buChar char="▫"/>
              <a:defRPr sz="1700" b="0" i="0" kern="1200">
                <a:solidFill>
                  <a:srgbClr val="828381"/>
                </a:solidFill>
                <a:latin typeface="Segoe"/>
                <a:ea typeface="+mn-ea"/>
                <a:cs typeface="Segoe"/>
              </a:defRPr>
            </a:lvl4pPr>
            <a:lvl5pPr marL="2057400" indent="-228600" algn="l" defTabSz="457200" rtl="0" eaLnBrk="1" latinLnBrk="0" hangingPunct="1">
              <a:spcBef>
                <a:spcPct val="20000"/>
              </a:spcBef>
              <a:buFont typeface="Arial"/>
              <a:buChar char="»"/>
              <a:defRPr sz="2000" b="0" i="0" kern="1200">
                <a:solidFill>
                  <a:schemeClr val="tx1"/>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5000"/>
              </a:lnSpc>
            </a:pPr>
            <a:r>
              <a:rPr lang="en-US" sz="1800" spc="-150" dirty="0">
                <a:solidFill>
                  <a:schemeClr val="bg1"/>
                </a:solidFill>
                <a:latin typeface="Segoe" charset="0"/>
              </a:rPr>
              <a:t>Application Bar paints on side of screen in Landscape</a:t>
            </a:r>
          </a:p>
        </p:txBody>
      </p:sp>
      <p:sp>
        <p:nvSpPr>
          <p:cNvPr id="9" name="Content Placeholder 4"/>
          <p:cNvSpPr txBox="1">
            <a:spLocks/>
          </p:cNvSpPr>
          <p:nvPr/>
        </p:nvSpPr>
        <p:spPr>
          <a:xfrm>
            <a:off x="380999" y="3597028"/>
            <a:ext cx="8380413" cy="457200"/>
          </a:xfrm>
          <a:prstGeom prst="rect">
            <a:avLst/>
          </a:prstGeom>
          <a:solidFill>
            <a:schemeClr val="tx2"/>
          </a:solidFill>
        </p:spPr>
        <p:txBody>
          <a:bodyPr vert="horz" lIns="91420" tIns="45711" rIns="91420" bIns="45711" rtlCol="0" anchor="ctr">
            <a:noAutofit/>
          </a:bodyPr>
          <a:lstStyle>
            <a:lvl1pPr marL="342900" indent="-342900" algn="l" defTabSz="457200" rtl="0" eaLnBrk="1" latinLnBrk="0" hangingPunct="1">
              <a:spcBef>
                <a:spcPct val="20000"/>
              </a:spcBef>
              <a:buFont typeface="Arial"/>
              <a:buNone/>
              <a:defRPr sz="2800" b="0" i="0" kern="1200">
                <a:solidFill>
                  <a:srgbClr val="5A5A59"/>
                </a:solidFill>
                <a:latin typeface="Segoe"/>
                <a:ea typeface="+mn-ea"/>
                <a:cs typeface="Segoe"/>
              </a:defRPr>
            </a:lvl1pPr>
            <a:lvl2pPr marL="169863" indent="-169863" algn="l" defTabSz="457200" rtl="0" eaLnBrk="1" latinLnBrk="0" hangingPunct="1">
              <a:spcBef>
                <a:spcPct val="20000"/>
              </a:spcBef>
              <a:buFont typeface="Segoe" pitchFamily="34" charset="0"/>
              <a:buChar char="▫"/>
              <a:defRPr sz="1900" b="0" i="0" kern="1200">
                <a:solidFill>
                  <a:srgbClr val="5A5A59"/>
                </a:solidFill>
                <a:latin typeface="Segoe"/>
                <a:ea typeface="+mn-ea"/>
                <a:cs typeface="Segoe"/>
              </a:defRPr>
            </a:lvl2pPr>
            <a:lvl3pPr marL="576263" indent="-177800" algn="l" defTabSz="457200" rtl="0" eaLnBrk="1" latinLnBrk="0" hangingPunct="1">
              <a:spcBef>
                <a:spcPct val="20000"/>
              </a:spcBef>
              <a:buFont typeface="Segoe" pitchFamily="34" charset="0"/>
              <a:buChar char="▫"/>
              <a:defRPr sz="1700" b="0" i="0" kern="1200">
                <a:solidFill>
                  <a:srgbClr val="787878"/>
                </a:solidFill>
                <a:latin typeface="Segoe"/>
                <a:ea typeface="+mn-ea"/>
                <a:cs typeface="Segoe"/>
              </a:defRPr>
            </a:lvl3pPr>
            <a:lvl4pPr marL="855663" indent="-169863" algn="l" defTabSz="457200" rtl="0" eaLnBrk="1" latinLnBrk="0" hangingPunct="1">
              <a:spcBef>
                <a:spcPct val="20000"/>
              </a:spcBef>
              <a:buFont typeface="Segoe" pitchFamily="34" charset="0"/>
              <a:buChar char="▫"/>
              <a:defRPr sz="1700" b="0" i="0" kern="1200">
                <a:solidFill>
                  <a:srgbClr val="828381"/>
                </a:solidFill>
                <a:latin typeface="Segoe"/>
                <a:ea typeface="+mn-ea"/>
                <a:cs typeface="Segoe"/>
              </a:defRPr>
            </a:lvl4pPr>
            <a:lvl5pPr marL="2057400" indent="-228600" algn="l" defTabSz="457200" rtl="0" eaLnBrk="1" latinLnBrk="0" hangingPunct="1">
              <a:spcBef>
                <a:spcPct val="20000"/>
              </a:spcBef>
              <a:buFont typeface="Arial"/>
              <a:buChar char="»"/>
              <a:defRPr sz="2000" b="0" i="0" kern="1200">
                <a:solidFill>
                  <a:schemeClr val="tx1"/>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5000"/>
              </a:lnSpc>
            </a:pPr>
            <a:r>
              <a:rPr lang="en-US" sz="1800" spc="-150" dirty="0">
                <a:solidFill>
                  <a:schemeClr val="bg1"/>
                </a:solidFill>
                <a:latin typeface="Segoe" charset="0"/>
              </a:rPr>
              <a:t>Has built-in animation when page switches orientation</a:t>
            </a:r>
          </a:p>
        </p:txBody>
      </p:sp>
      <p:sp>
        <p:nvSpPr>
          <p:cNvPr id="2" name="Title 1"/>
          <p:cNvSpPr>
            <a:spLocks noGrp="1"/>
          </p:cNvSpPr>
          <p:nvPr>
            <p:ph type="title"/>
          </p:nvPr>
        </p:nvSpPr>
        <p:spPr/>
        <p:txBody>
          <a:bodyPr/>
          <a:lstStyle/>
          <a:p>
            <a:r>
              <a:rPr lang="en-GB" smtClean="0"/>
              <a:t>Application Bar &amp; Landscape</a:t>
            </a:r>
            <a:endParaRPr lang="en-GB" dirty="0"/>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51" t="3378" r="1366" b="2953"/>
          <a:stretch/>
        </p:blipFill>
        <p:spPr bwMode="auto">
          <a:xfrm>
            <a:off x="5193020" y="1692400"/>
            <a:ext cx="3568392" cy="1904628"/>
          </a:xfrm>
          <a:prstGeom prst="roundRect">
            <a:avLst>
              <a:gd name="adj" fmla="val 3336"/>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158" t="3694" r="1129" b="1238"/>
          <a:stretch/>
        </p:blipFill>
        <p:spPr bwMode="auto">
          <a:xfrm>
            <a:off x="5197481" y="3611776"/>
            <a:ext cx="3563931" cy="1882681"/>
          </a:xfrm>
          <a:prstGeom prst="roundRect">
            <a:avLst>
              <a:gd name="adj" fmla="val 3399"/>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04460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Application Bar Opacity</a:t>
            </a:r>
            <a:endParaRPr lang="en-GB" dirty="0"/>
          </a:p>
        </p:txBody>
      </p:sp>
      <p:sp>
        <p:nvSpPr>
          <p:cNvPr id="6" name="Text Placeholder 5"/>
          <p:cNvSpPr>
            <a:spLocks noGrp="1"/>
          </p:cNvSpPr>
          <p:nvPr>
            <p:ph type="body" sz="quarter" idx="10"/>
          </p:nvPr>
        </p:nvSpPr>
        <p:spPr>
          <a:xfrm>
            <a:off x="9362768" y="1985969"/>
            <a:ext cx="4939145" cy="332399"/>
          </a:xfrm>
        </p:spPr>
        <p:txBody>
          <a:bodyPr/>
          <a:lstStyle/>
          <a:p>
            <a:endParaRPr lang="en-GB" sz="2400" dirty="0"/>
          </a:p>
        </p:txBody>
      </p:sp>
      <p:sp>
        <p:nvSpPr>
          <p:cNvPr id="3" name="Slide Number Placeholder 2"/>
          <p:cNvSpPr>
            <a:spLocks noGrp="1"/>
          </p:cNvSpPr>
          <p:nvPr>
            <p:ph type="sldNum" sz="quarter" idx="11"/>
          </p:nvPr>
        </p:nvSpPr>
        <p:spPr/>
        <p:txBody>
          <a:bodyPr/>
          <a:lstStyle/>
          <a:p>
            <a:fld id="{271031BA-9959-4FE2-909F-37D65262A7B4}" type="slidenum">
              <a:rPr lang="en-US" smtClean="0"/>
              <a:pPr/>
              <a:t>59</a:t>
            </a:fld>
            <a:endParaRPr lang="en-US" dirty="0"/>
          </a:p>
        </p:txBody>
      </p:sp>
      <p:sp>
        <p:nvSpPr>
          <p:cNvPr id="7" name="Content Placeholder 4"/>
          <p:cNvSpPr txBox="1">
            <a:spLocks/>
          </p:cNvSpPr>
          <p:nvPr/>
        </p:nvSpPr>
        <p:spPr>
          <a:xfrm>
            <a:off x="380999" y="2362200"/>
            <a:ext cx="8380413" cy="1225800"/>
          </a:xfrm>
          <a:prstGeom prst="rect">
            <a:avLst/>
          </a:prstGeom>
          <a:solidFill>
            <a:schemeClr val="tx2"/>
          </a:solidFill>
        </p:spPr>
        <p:txBody>
          <a:bodyPr vert="horz" lIns="91420" tIns="45711" rIns="3017520" bIns="45711" rtlCol="0" anchor="ctr">
            <a:noAutofit/>
          </a:bodyPr>
          <a:lstStyle>
            <a:lvl1pPr marL="342900" indent="-342900" algn="l" defTabSz="457200" rtl="0" eaLnBrk="1" latinLnBrk="0" hangingPunct="1">
              <a:spcBef>
                <a:spcPct val="20000"/>
              </a:spcBef>
              <a:buFont typeface="Arial"/>
              <a:buNone/>
              <a:defRPr sz="2800" b="0" i="0" kern="1200">
                <a:solidFill>
                  <a:srgbClr val="5A5A59"/>
                </a:solidFill>
                <a:latin typeface="Segoe"/>
                <a:ea typeface="+mn-ea"/>
                <a:cs typeface="Segoe"/>
              </a:defRPr>
            </a:lvl1pPr>
            <a:lvl2pPr marL="169863" indent="-169863" algn="l" defTabSz="457200" rtl="0" eaLnBrk="1" latinLnBrk="0" hangingPunct="1">
              <a:spcBef>
                <a:spcPct val="20000"/>
              </a:spcBef>
              <a:buFont typeface="Segoe" pitchFamily="34" charset="0"/>
              <a:buChar char="▫"/>
              <a:defRPr sz="1900" b="0" i="0" kern="1200">
                <a:solidFill>
                  <a:srgbClr val="5A5A59"/>
                </a:solidFill>
                <a:latin typeface="Segoe"/>
                <a:ea typeface="+mn-ea"/>
                <a:cs typeface="Segoe"/>
              </a:defRPr>
            </a:lvl2pPr>
            <a:lvl3pPr marL="576263" indent="-177800" algn="l" defTabSz="457200" rtl="0" eaLnBrk="1" latinLnBrk="0" hangingPunct="1">
              <a:spcBef>
                <a:spcPct val="20000"/>
              </a:spcBef>
              <a:buFont typeface="Segoe" pitchFamily="34" charset="0"/>
              <a:buChar char="▫"/>
              <a:defRPr sz="1700" b="0" i="0" kern="1200">
                <a:solidFill>
                  <a:srgbClr val="787878"/>
                </a:solidFill>
                <a:latin typeface="Segoe"/>
                <a:ea typeface="+mn-ea"/>
                <a:cs typeface="Segoe"/>
              </a:defRPr>
            </a:lvl3pPr>
            <a:lvl4pPr marL="855663" indent="-169863" algn="l" defTabSz="457200" rtl="0" eaLnBrk="1" latinLnBrk="0" hangingPunct="1">
              <a:spcBef>
                <a:spcPct val="20000"/>
              </a:spcBef>
              <a:buFont typeface="Segoe" pitchFamily="34" charset="0"/>
              <a:buChar char="▫"/>
              <a:defRPr sz="1700" b="0" i="0" kern="1200">
                <a:solidFill>
                  <a:srgbClr val="828381"/>
                </a:solidFill>
                <a:latin typeface="Segoe"/>
                <a:ea typeface="+mn-ea"/>
                <a:cs typeface="Segoe"/>
              </a:defRPr>
            </a:lvl4pPr>
            <a:lvl5pPr marL="2057400" indent="-228600" algn="l" defTabSz="457200" rtl="0" eaLnBrk="1" latinLnBrk="0" hangingPunct="1">
              <a:spcBef>
                <a:spcPct val="20000"/>
              </a:spcBef>
              <a:buFont typeface="Arial"/>
              <a:buChar char="»"/>
              <a:defRPr sz="2000" b="0" i="0" kern="1200">
                <a:solidFill>
                  <a:schemeClr val="tx1"/>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85000"/>
              </a:lnSpc>
            </a:pPr>
            <a:r>
              <a:rPr lang="en-US" sz="2000" spc="-150" dirty="0">
                <a:solidFill>
                  <a:schemeClr val="bg1"/>
                </a:solidFill>
                <a:latin typeface="Segoe" charset="0"/>
              </a:rPr>
              <a:t>If Application Bar opacity is less than 1, displayed page will be the size of the </a:t>
            </a:r>
            <a:r>
              <a:rPr lang="en-US" sz="2000" spc="-150" dirty="0" smtClean="0">
                <a:solidFill>
                  <a:schemeClr val="bg1"/>
                </a:solidFill>
                <a:latin typeface="Segoe" charset="0"/>
              </a:rPr>
              <a:t>screen </a:t>
            </a:r>
            <a:r>
              <a:rPr lang="en-US" sz="1800" spc="-150" dirty="0" smtClean="0">
                <a:solidFill>
                  <a:schemeClr val="bg1"/>
                </a:solidFill>
                <a:latin typeface="Segoe" charset="0"/>
              </a:rPr>
              <a:t>Application </a:t>
            </a:r>
            <a:r>
              <a:rPr lang="en-US" sz="1800" spc="-150" dirty="0">
                <a:solidFill>
                  <a:schemeClr val="bg1"/>
                </a:solidFill>
                <a:latin typeface="Segoe" charset="0"/>
              </a:rPr>
              <a:t>Bar overlays screen </a:t>
            </a:r>
            <a:r>
              <a:rPr lang="en-US" sz="1800" spc="-150" dirty="0" smtClean="0">
                <a:solidFill>
                  <a:schemeClr val="bg1"/>
                </a:solidFill>
                <a:latin typeface="Segoe" charset="0"/>
              </a:rPr>
              <a:t>content.</a:t>
            </a:r>
          </a:p>
          <a:p>
            <a:pPr marL="0" indent="0">
              <a:lnSpc>
                <a:spcPct val="85000"/>
              </a:lnSpc>
            </a:pPr>
            <a:r>
              <a:rPr lang="en-US" sz="1800" spc="-150" dirty="0" smtClean="0">
                <a:solidFill>
                  <a:schemeClr val="bg1"/>
                </a:solidFill>
                <a:latin typeface="Segoe" charset="0"/>
              </a:rPr>
              <a:t>Try set Opacity values of 1, 0.5 or 0.</a:t>
            </a:r>
            <a:endParaRPr lang="en-US" sz="1800" spc="-150" dirty="0">
              <a:solidFill>
                <a:schemeClr val="bg1"/>
              </a:solidFill>
              <a:latin typeface="Segoe" charset="0"/>
            </a:endParaRPr>
          </a:p>
        </p:txBody>
      </p:sp>
      <p:sp>
        <p:nvSpPr>
          <p:cNvPr id="8" name="Content Placeholder 4"/>
          <p:cNvSpPr txBox="1">
            <a:spLocks/>
          </p:cNvSpPr>
          <p:nvPr/>
        </p:nvSpPr>
        <p:spPr>
          <a:xfrm>
            <a:off x="380999" y="3614421"/>
            <a:ext cx="8380413" cy="702946"/>
          </a:xfrm>
          <a:prstGeom prst="rect">
            <a:avLst/>
          </a:prstGeom>
          <a:solidFill>
            <a:schemeClr val="tx2"/>
          </a:solidFill>
        </p:spPr>
        <p:txBody>
          <a:bodyPr vert="horz" lIns="91420" tIns="45711" rIns="3017520" bIns="45711" rtlCol="0" anchor="ctr">
            <a:noAutofit/>
          </a:bodyPr>
          <a:lstStyle>
            <a:lvl1pPr marL="342900" indent="-342900" algn="l" defTabSz="457200" rtl="0" eaLnBrk="1" latinLnBrk="0" hangingPunct="1">
              <a:spcBef>
                <a:spcPct val="20000"/>
              </a:spcBef>
              <a:buFont typeface="Arial"/>
              <a:buNone/>
              <a:defRPr sz="2800" b="0" i="0" kern="1200">
                <a:solidFill>
                  <a:srgbClr val="5A5A59"/>
                </a:solidFill>
                <a:latin typeface="Segoe"/>
                <a:ea typeface="+mn-ea"/>
                <a:cs typeface="Segoe"/>
              </a:defRPr>
            </a:lvl1pPr>
            <a:lvl2pPr marL="169863" indent="-169863" algn="l" defTabSz="457200" rtl="0" eaLnBrk="1" latinLnBrk="0" hangingPunct="1">
              <a:spcBef>
                <a:spcPct val="20000"/>
              </a:spcBef>
              <a:buFont typeface="Segoe" pitchFamily="34" charset="0"/>
              <a:buChar char="▫"/>
              <a:defRPr sz="1900" b="0" i="0" kern="1200">
                <a:solidFill>
                  <a:srgbClr val="5A5A59"/>
                </a:solidFill>
                <a:latin typeface="Segoe"/>
                <a:ea typeface="+mn-ea"/>
                <a:cs typeface="Segoe"/>
              </a:defRPr>
            </a:lvl2pPr>
            <a:lvl3pPr marL="576263" indent="-177800" algn="l" defTabSz="457200" rtl="0" eaLnBrk="1" latinLnBrk="0" hangingPunct="1">
              <a:spcBef>
                <a:spcPct val="20000"/>
              </a:spcBef>
              <a:buFont typeface="Segoe" pitchFamily="34" charset="0"/>
              <a:buChar char="▫"/>
              <a:defRPr sz="1700" b="0" i="0" kern="1200">
                <a:solidFill>
                  <a:srgbClr val="787878"/>
                </a:solidFill>
                <a:latin typeface="Segoe"/>
                <a:ea typeface="+mn-ea"/>
                <a:cs typeface="Segoe"/>
              </a:defRPr>
            </a:lvl3pPr>
            <a:lvl4pPr marL="855663" indent="-169863" algn="l" defTabSz="457200" rtl="0" eaLnBrk="1" latinLnBrk="0" hangingPunct="1">
              <a:spcBef>
                <a:spcPct val="20000"/>
              </a:spcBef>
              <a:buFont typeface="Segoe" pitchFamily="34" charset="0"/>
              <a:buChar char="▫"/>
              <a:defRPr sz="1700" b="0" i="0" kern="1200">
                <a:solidFill>
                  <a:srgbClr val="828381"/>
                </a:solidFill>
                <a:latin typeface="Segoe"/>
                <a:ea typeface="+mn-ea"/>
                <a:cs typeface="Segoe"/>
              </a:defRPr>
            </a:lvl4pPr>
            <a:lvl5pPr marL="2057400" indent="-228600" algn="l" defTabSz="457200" rtl="0" eaLnBrk="1" latinLnBrk="0" hangingPunct="1">
              <a:spcBef>
                <a:spcPct val="20000"/>
              </a:spcBef>
              <a:buFont typeface="Arial"/>
              <a:buChar char="»"/>
              <a:defRPr sz="2000" b="0" i="0" kern="1200">
                <a:solidFill>
                  <a:schemeClr val="tx1"/>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85000"/>
              </a:lnSpc>
            </a:pPr>
            <a:r>
              <a:rPr lang="en-US" sz="2000" spc="-150" dirty="0">
                <a:solidFill>
                  <a:schemeClr val="bg1"/>
                </a:solidFill>
                <a:latin typeface="Segoe" charset="0"/>
              </a:rPr>
              <a:t>If Opacity is 1, displayed page is resized to the area of the screen not covered by the Application Bar</a:t>
            </a:r>
          </a:p>
        </p:txBody>
      </p:sp>
      <p:sp>
        <p:nvSpPr>
          <p:cNvPr id="9" name="Content Placeholder 4"/>
          <p:cNvSpPr txBox="1">
            <a:spLocks/>
          </p:cNvSpPr>
          <p:nvPr/>
        </p:nvSpPr>
        <p:spPr>
          <a:xfrm>
            <a:off x="380999" y="4343788"/>
            <a:ext cx="8380413" cy="457200"/>
          </a:xfrm>
          <a:prstGeom prst="rect">
            <a:avLst/>
          </a:prstGeom>
          <a:solidFill>
            <a:schemeClr val="tx2"/>
          </a:solidFill>
        </p:spPr>
        <p:txBody>
          <a:bodyPr vert="horz" lIns="91420" tIns="45711" rIns="3017520" bIns="45711" rtlCol="0" anchor="ctr">
            <a:noAutofit/>
          </a:bodyPr>
          <a:lstStyle>
            <a:lvl1pPr marL="342900" indent="-342900" algn="l" defTabSz="457200" rtl="0" eaLnBrk="1" latinLnBrk="0" hangingPunct="1">
              <a:spcBef>
                <a:spcPct val="20000"/>
              </a:spcBef>
              <a:buFont typeface="Arial"/>
              <a:buNone/>
              <a:defRPr sz="2800" b="0" i="0" kern="1200">
                <a:solidFill>
                  <a:srgbClr val="5A5A59"/>
                </a:solidFill>
                <a:latin typeface="Segoe"/>
                <a:ea typeface="+mn-ea"/>
                <a:cs typeface="Segoe"/>
              </a:defRPr>
            </a:lvl1pPr>
            <a:lvl2pPr marL="169863" indent="-169863" algn="l" defTabSz="457200" rtl="0" eaLnBrk="1" latinLnBrk="0" hangingPunct="1">
              <a:spcBef>
                <a:spcPct val="20000"/>
              </a:spcBef>
              <a:buFont typeface="Segoe" pitchFamily="34" charset="0"/>
              <a:buChar char="▫"/>
              <a:defRPr sz="1900" b="0" i="0" kern="1200">
                <a:solidFill>
                  <a:srgbClr val="5A5A59"/>
                </a:solidFill>
                <a:latin typeface="Segoe"/>
                <a:ea typeface="+mn-ea"/>
                <a:cs typeface="Segoe"/>
              </a:defRPr>
            </a:lvl2pPr>
            <a:lvl3pPr marL="576263" indent="-177800" algn="l" defTabSz="457200" rtl="0" eaLnBrk="1" latinLnBrk="0" hangingPunct="1">
              <a:spcBef>
                <a:spcPct val="20000"/>
              </a:spcBef>
              <a:buFont typeface="Segoe" pitchFamily="34" charset="0"/>
              <a:buChar char="▫"/>
              <a:defRPr sz="1700" b="0" i="0" kern="1200">
                <a:solidFill>
                  <a:srgbClr val="787878"/>
                </a:solidFill>
                <a:latin typeface="Segoe"/>
                <a:ea typeface="+mn-ea"/>
                <a:cs typeface="Segoe"/>
              </a:defRPr>
            </a:lvl3pPr>
            <a:lvl4pPr marL="855663" indent="-169863" algn="l" defTabSz="457200" rtl="0" eaLnBrk="1" latinLnBrk="0" hangingPunct="1">
              <a:spcBef>
                <a:spcPct val="20000"/>
              </a:spcBef>
              <a:buFont typeface="Segoe" pitchFamily="34" charset="0"/>
              <a:buChar char="▫"/>
              <a:defRPr sz="1700" b="0" i="0" kern="1200">
                <a:solidFill>
                  <a:srgbClr val="828381"/>
                </a:solidFill>
                <a:latin typeface="Segoe"/>
                <a:ea typeface="+mn-ea"/>
                <a:cs typeface="Segoe"/>
              </a:defRPr>
            </a:lvl4pPr>
            <a:lvl5pPr marL="2057400" indent="-228600" algn="l" defTabSz="457200" rtl="0" eaLnBrk="1" latinLnBrk="0" hangingPunct="1">
              <a:spcBef>
                <a:spcPct val="20000"/>
              </a:spcBef>
              <a:buFont typeface="Arial"/>
              <a:buChar char="»"/>
              <a:defRPr sz="2000" b="0" i="0" kern="1200">
                <a:solidFill>
                  <a:schemeClr val="tx1"/>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85000"/>
              </a:lnSpc>
            </a:pPr>
            <a:r>
              <a:rPr lang="en-US" sz="2000" spc="-150" dirty="0">
                <a:solidFill>
                  <a:schemeClr val="bg1"/>
                </a:solidFill>
                <a:latin typeface="Segoe" charset="0"/>
              </a:rPr>
              <a:t>App Bar opacity impact performance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4984" y="1630296"/>
            <a:ext cx="2356428" cy="4317483"/>
          </a:xfrm>
          <a:prstGeom prst="rect">
            <a:avLst/>
          </a:prstGeom>
          <a:noFill/>
          <a:ln>
            <a:noFill/>
          </a:ln>
          <a:effectLst>
            <a:outerShdw dist="35921" dir="2700000" algn="ctr" rotWithShape="0">
              <a:schemeClr val="bg2"/>
            </a:outerShdw>
            <a:reflection blurRad="6350" stA="52000" endA="300" endPos="3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218829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WebBrowser</a:t>
            </a:r>
            <a:r>
              <a:rPr lang="en-US" dirty="0" smtClean="0"/>
              <a:t> Control</a:t>
            </a:r>
            <a:endParaRPr lang="en-US" dirty="0"/>
          </a:p>
        </p:txBody>
      </p:sp>
      <p:sp>
        <p:nvSpPr>
          <p:cNvPr id="3" name="Text Placeholder 2"/>
          <p:cNvSpPr>
            <a:spLocks noGrp="1"/>
          </p:cNvSpPr>
          <p:nvPr>
            <p:ph type="body" sz="quarter" idx="10"/>
          </p:nvPr>
        </p:nvSpPr>
        <p:spPr>
          <a:xfrm>
            <a:off x="381000" y="1447800"/>
            <a:ext cx="8363938" cy="4099584"/>
          </a:xfrm>
        </p:spPr>
        <p:txBody>
          <a:bodyPr/>
          <a:lstStyle/>
          <a:p>
            <a:r>
              <a:rPr lang="en-US" dirty="0" smtClean="0"/>
              <a:t>Embeds a browser window into your app</a:t>
            </a:r>
          </a:p>
          <a:p>
            <a:pPr lvl="1"/>
            <a:r>
              <a:rPr lang="en-US" dirty="0" smtClean="0"/>
              <a:t>No back/forward/URL chrome</a:t>
            </a:r>
          </a:p>
          <a:p>
            <a:r>
              <a:rPr lang="en-US" dirty="0" smtClean="0"/>
              <a:t>Can navigate to a URI or you can send it HTML</a:t>
            </a:r>
          </a:p>
          <a:p>
            <a:r>
              <a:rPr lang="en-US" dirty="0" smtClean="0"/>
              <a:t>Alternatively can open pages in IE with a chooser.</a:t>
            </a:r>
          </a:p>
          <a:p>
            <a:pPr marL="0" indent="0">
              <a:buNone/>
            </a:pPr>
            <a:endParaRPr lang="en-US" dirty="0" smtClean="0"/>
          </a:p>
          <a:p>
            <a:pPr marL="0" indent="0">
              <a:buNone/>
            </a:pPr>
            <a:r>
              <a:rPr lang="en-US" sz="2300" dirty="0">
                <a:latin typeface="Consolas" pitchFamily="49" charset="0"/>
                <a:cs typeface="Consolas" pitchFamily="49" charset="0"/>
              </a:rPr>
              <a:t>webBrowser1.Navigate(</a:t>
            </a:r>
            <a:r>
              <a:rPr lang="en-US" sz="2300" dirty="0">
                <a:solidFill>
                  <a:srgbClr val="0000FF"/>
                </a:solidFill>
                <a:latin typeface="Consolas" pitchFamily="49" charset="0"/>
                <a:cs typeface="Consolas" pitchFamily="49" charset="0"/>
              </a:rPr>
              <a:t>new</a:t>
            </a:r>
            <a:r>
              <a:rPr lang="en-US" sz="2300" dirty="0">
                <a:latin typeface="Consolas" pitchFamily="49" charset="0"/>
                <a:cs typeface="Consolas" pitchFamily="49" charset="0"/>
              </a:rPr>
              <a:t> </a:t>
            </a:r>
            <a:r>
              <a:rPr lang="en-US" sz="2300" dirty="0">
                <a:solidFill>
                  <a:srgbClr val="2B91AF"/>
                </a:solidFill>
                <a:latin typeface="Consolas" pitchFamily="49" charset="0"/>
                <a:cs typeface="Consolas" pitchFamily="49" charset="0"/>
              </a:rPr>
              <a:t>Uri</a:t>
            </a:r>
            <a:r>
              <a:rPr lang="en-US" sz="2300" dirty="0">
                <a:latin typeface="Consolas" pitchFamily="49" charset="0"/>
                <a:cs typeface="Consolas" pitchFamily="49" charset="0"/>
              </a:rPr>
              <a:t>(</a:t>
            </a:r>
            <a:r>
              <a:rPr lang="en-US" sz="2300" dirty="0">
                <a:solidFill>
                  <a:srgbClr val="A31515"/>
                </a:solidFill>
                <a:latin typeface="Consolas" pitchFamily="49" charset="0"/>
                <a:cs typeface="Consolas" pitchFamily="49" charset="0"/>
              </a:rPr>
              <a:t>"http://www.bing.com</a:t>
            </a:r>
            <a:r>
              <a:rPr lang="en-US" sz="2300" dirty="0" smtClean="0">
                <a:solidFill>
                  <a:srgbClr val="A31515"/>
                </a:solidFill>
                <a:latin typeface="Consolas" pitchFamily="49" charset="0"/>
                <a:cs typeface="Consolas" pitchFamily="49" charset="0"/>
              </a:rPr>
              <a:t>/"</a:t>
            </a:r>
            <a:r>
              <a:rPr lang="en-US" sz="2300" dirty="0" smtClean="0">
                <a:latin typeface="Consolas" pitchFamily="49" charset="0"/>
                <a:cs typeface="Consolas" pitchFamily="49" charset="0"/>
              </a:rPr>
              <a:t>));</a:t>
            </a:r>
            <a:endParaRPr lang="en-US" sz="2300" dirty="0">
              <a:latin typeface="Consolas" pitchFamily="49" charset="0"/>
              <a:cs typeface="Consolas" pitchFamily="49" charset="0"/>
            </a:endParaRPr>
          </a:p>
          <a:p>
            <a:pPr marL="0" indent="0">
              <a:buNone/>
            </a:pPr>
            <a:endParaRPr lang="en-US" sz="2300" dirty="0" smtClean="0">
              <a:latin typeface="Consolas" pitchFamily="49" charset="0"/>
              <a:cs typeface="Consolas" pitchFamily="49" charset="0"/>
            </a:endParaRPr>
          </a:p>
          <a:p>
            <a:pPr marL="0" indent="0">
              <a:buNone/>
            </a:pPr>
            <a:r>
              <a:rPr lang="en-US" sz="2300" dirty="0" smtClean="0">
                <a:latin typeface="Consolas" pitchFamily="49" charset="0"/>
                <a:cs typeface="Consolas" pitchFamily="49" charset="0"/>
              </a:rPr>
              <a:t>webBrowser1.NavigateToString(</a:t>
            </a:r>
          </a:p>
          <a:p>
            <a:pPr marL="0" indent="0">
              <a:buNone/>
            </a:pPr>
            <a:r>
              <a:rPr lang="en-US" sz="2300" dirty="0">
                <a:solidFill>
                  <a:srgbClr val="A31515"/>
                </a:solidFill>
                <a:latin typeface="Consolas" pitchFamily="49" charset="0"/>
                <a:cs typeface="Consolas" pitchFamily="49" charset="0"/>
              </a:rPr>
              <a:t> </a:t>
            </a:r>
            <a:r>
              <a:rPr lang="en-US" sz="2300" dirty="0" smtClean="0">
                <a:solidFill>
                  <a:srgbClr val="A31515"/>
                </a:solidFill>
                <a:latin typeface="Consolas" pitchFamily="49" charset="0"/>
                <a:cs typeface="Consolas" pitchFamily="49" charset="0"/>
              </a:rPr>
              <a:t>    "&lt;</a:t>
            </a:r>
            <a:r>
              <a:rPr lang="en-US" sz="2300" dirty="0">
                <a:solidFill>
                  <a:srgbClr val="A31515"/>
                </a:solidFill>
                <a:latin typeface="Consolas" pitchFamily="49" charset="0"/>
                <a:cs typeface="Consolas" pitchFamily="49" charset="0"/>
              </a:rPr>
              <a:t>b&gt;Hello JAOO </a:t>
            </a:r>
            <a:r>
              <a:rPr lang="en-US" sz="2300" dirty="0" smtClean="0">
                <a:solidFill>
                  <a:srgbClr val="A31515"/>
                </a:solidFill>
                <a:latin typeface="Consolas" pitchFamily="49" charset="0"/>
                <a:cs typeface="Consolas" pitchFamily="49" charset="0"/>
              </a:rPr>
              <a:t>Conference!&lt;/</a:t>
            </a:r>
            <a:r>
              <a:rPr lang="en-US" sz="2300" dirty="0">
                <a:solidFill>
                  <a:srgbClr val="A31515"/>
                </a:solidFill>
                <a:latin typeface="Consolas" pitchFamily="49" charset="0"/>
                <a:cs typeface="Consolas" pitchFamily="49" charset="0"/>
              </a:rPr>
              <a:t>b</a:t>
            </a:r>
            <a:r>
              <a:rPr lang="en-US" sz="2300" dirty="0" smtClean="0">
                <a:solidFill>
                  <a:srgbClr val="A31515"/>
                </a:solidFill>
                <a:latin typeface="Consolas" pitchFamily="49" charset="0"/>
                <a:cs typeface="Consolas" pitchFamily="49" charset="0"/>
              </a:rPr>
              <a:t>&gt;"</a:t>
            </a:r>
            <a:r>
              <a:rPr lang="en-US" sz="2300" dirty="0" smtClean="0">
                <a:latin typeface="Consolas" pitchFamily="49" charset="0"/>
                <a:cs typeface="Consolas" pitchFamily="49" charset="0"/>
              </a:rPr>
              <a:t>);</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60</a:t>
            </a:fld>
            <a:endParaRPr lang="en-US" dirty="0">
              <a:solidFill>
                <a:srgbClr val="6BBD46"/>
              </a:solidFill>
            </a:endParaRPr>
          </a:p>
        </p:txBody>
      </p:sp>
    </p:spTree>
    <p:extLst>
      <p:ext uri="{BB962C8B-B14F-4D97-AF65-F5344CB8AC3E}">
        <p14:creationId xmlns:p14="http://schemas.microsoft.com/office/powerpoint/2010/main" val="26462454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WebBrowser</a:t>
            </a:r>
            <a:r>
              <a:rPr lang="en-US" dirty="0" smtClean="0"/>
              <a:t> Control</a:t>
            </a:r>
            <a:endParaRPr lang="en-US" dirty="0"/>
          </a:p>
        </p:txBody>
      </p:sp>
      <p:sp>
        <p:nvSpPr>
          <p:cNvPr id="3" name="Text Placeholder 2"/>
          <p:cNvSpPr>
            <a:spLocks noGrp="1"/>
          </p:cNvSpPr>
          <p:nvPr>
            <p:ph type="body" sz="quarter" idx="10"/>
          </p:nvPr>
        </p:nvSpPr>
        <p:spPr>
          <a:xfrm>
            <a:off x="381000" y="1447800"/>
            <a:ext cx="8363938" cy="4198072"/>
          </a:xfrm>
        </p:spPr>
        <p:txBody>
          <a:bodyPr/>
          <a:lstStyle/>
          <a:p>
            <a:r>
              <a:rPr lang="en-US" dirty="0" smtClean="0"/>
              <a:t>TIP: Minimize the number of browser controls to 1</a:t>
            </a:r>
          </a:p>
          <a:p>
            <a:endParaRPr lang="en-US" dirty="0" smtClean="0"/>
          </a:p>
          <a:p>
            <a:r>
              <a:rPr lang="en-US" dirty="0" smtClean="0"/>
              <a:t>Best illusion of performance:</a:t>
            </a:r>
          </a:p>
          <a:p>
            <a:pPr lvl="1"/>
            <a:r>
              <a:rPr lang="en-US" dirty="0" smtClean="0"/>
              <a:t>Use a single web browser control throughout the app</a:t>
            </a:r>
          </a:p>
          <a:p>
            <a:pPr lvl="1"/>
            <a:r>
              <a:rPr lang="en-US" dirty="0" smtClean="0"/>
              <a:t>Translate the control off-screen </a:t>
            </a:r>
            <a:r>
              <a:rPr lang="en-US" i="1" dirty="0" smtClean="0"/>
              <a:t>or </a:t>
            </a:r>
            <a:r>
              <a:rPr lang="en-US" dirty="0" smtClean="0"/>
              <a:t>set Opacity to 0</a:t>
            </a:r>
          </a:p>
          <a:p>
            <a:pPr lvl="1"/>
            <a:r>
              <a:rPr lang="en-US" dirty="0" smtClean="0"/>
              <a:t>When the control has loaded, navigate to the HTML string or page</a:t>
            </a:r>
          </a:p>
          <a:p>
            <a:pPr lvl="1"/>
            <a:r>
              <a:rPr lang="en-US" dirty="0" smtClean="0"/>
              <a:t>Consider not showing the control until after the </a:t>
            </a:r>
            <a:r>
              <a:rPr lang="en-US" dirty="0" err="1" smtClean="0"/>
              <a:t>LoadCompleted</a:t>
            </a:r>
            <a:r>
              <a:rPr lang="en-US" dirty="0" smtClean="0"/>
              <a:t> event has fired</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61</a:t>
            </a:fld>
            <a:endParaRPr lang="en-US" dirty="0">
              <a:solidFill>
                <a:srgbClr val="6BBD46"/>
              </a:solidFill>
            </a:endParaRPr>
          </a:p>
        </p:txBody>
      </p:sp>
    </p:spTree>
    <p:extLst>
      <p:ext uri="{BB962C8B-B14F-4D97-AF65-F5344CB8AC3E}">
        <p14:creationId xmlns:p14="http://schemas.microsoft.com/office/powerpoint/2010/main" val="15119243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Pivot</a:t>
            </a:r>
            <a:endParaRPr lang="en-US" dirty="0"/>
          </a:p>
        </p:txBody>
      </p:sp>
      <p:sp>
        <p:nvSpPr>
          <p:cNvPr id="3" name="Text Placeholder 2"/>
          <p:cNvSpPr>
            <a:spLocks noGrp="1"/>
          </p:cNvSpPr>
          <p:nvPr>
            <p:ph type="body" sz="quarter" idx="10"/>
          </p:nvPr>
        </p:nvSpPr>
        <p:spPr>
          <a:xfrm>
            <a:off x="381000" y="1447800"/>
            <a:ext cx="5187287" cy="4570863"/>
          </a:xfrm>
        </p:spPr>
        <p:txBody>
          <a:bodyPr/>
          <a:lstStyle/>
          <a:p>
            <a:r>
              <a:rPr lang="en-US" dirty="0" smtClean="0"/>
              <a:t>Like a tab control</a:t>
            </a:r>
          </a:p>
          <a:p>
            <a:r>
              <a:rPr lang="en-US" dirty="0" smtClean="0"/>
              <a:t>Optimized for quick startup time</a:t>
            </a:r>
          </a:p>
          <a:p>
            <a:r>
              <a:rPr lang="en-US" dirty="0" smtClean="0"/>
              <a:t>Used for filtering data and views</a:t>
            </a:r>
          </a:p>
          <a:p>
            <a:r>
              <a:rPr lang="en-US" dirty="0" smtClean="0"/>
              <a:t>I recommend over Panorama for most apps</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62</a:t>
            </a:fld>
            <a:endParaRPr lang="en-US" dirty="0">
              <a:solidFill>
                <a:srgbClr val="6BBD46"/>
              </a:solidFill>
            </a:endParaRPr>
          </a:p>
        </p:txBody>
      </p:sp>
      <p:pic>
        <p:nvPicPr>
          <p:cNvPr id="2050" name="Picture 2" descr="http://media.jeff.wilcox.name/blog/pivot3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4007" y="543090"/>
            <a:ext cx="3066530" cy="5612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8493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descr="\\medx\Secure\Products\Seven\visuals\WARHOL\MOTION\Peter\METRO_DECK\pngs\Hub_Photo.png"/>
          <p:cNvPicPr>
            <a:picLocks noChangeAspect="1" noChangeArrowheads="1"/>
          </p:cNvPicPr>
          <p:nvPr/>
        </p:nvPicPr>
        <p:blipFill>
          <a:blip r:embed="rId3" cstate="print"/>
          <a:srcRect/>
          <a:stretch>
            <a:fillRect/>
          </a:stretch>
        </p:blipFill>
        <p:spPr bwMode="auto">
          <a:xfrm>
            <a:off x="1676209" y="685800"/>
            <a:ext cx="5788152" cy="2777757"/>
          </a:xfrm>
          <a:prstGeom prst="rect">
            <a:avLst/>
          </a:prstGeom>
          <a:effectLst>
            <a:outerShdw blurRad="63500" sx="102000" sy="102000" algn="ctr" rotWithShape="0">
              <a:prstClr val="black">
                <a:alpha val="40000"/>
              </a:prstClr>
            </a:outerShdw>
          </a:effectLst>
        </p:spPr>
      </p:pic>
      <p:pic>
        <p:nvPicPr>
          <p:cNvPr id="9" name="Picture 2" descr="\\medx\Secure\Products\Seven\visuals\WARHOL\MOTION\Peter\METRO_DECK\pngs\Hub_People.png"/>
          <p:cNvPicPr>
            <a:picLocks noChangeAspect="1" noChangeArrowheads="1"/>
          </p:cNvPicPr>
          <p:nvPr/>
        </p:nvPicPr>
        <p:blipFill>
          <a:blip r:embed="rId4" cstate="print"/>
          <a:srcRect/>
          <a:stretch>
            <a:fillRect/>
          </a:stretch>
        </p:blipFill>
        <p:spPr bwMode="auto">
          <a:xfrm>
            <a:off x="1676209" y="3505200"/>
            <a:ext cx="5791581" cy="2743200"/>
          </a:xfrm>
          <a:prstGeom prst="rect">
            <a:avLst/>
          </a:prstGeom>
          <a:effectLst>
            <a:outerShdw blurRad="63500" sx="102000" sy="102000" algn="ctr" rotWithShape="0">
              <a:prstClr val="black">
                <a:alpha val="40000"/>
              </a:prstClr>
            </a:outerShdw>
          </a:effectLst>
        </p:spPr>
      </p:pic>
      <p:sp>
        <p:nvSpPr>
          <p:cNvPr id="2" name="Slide Number Placeholder 1"/>
          <p:cNvSpPr>
            <a:spLocks noGrp="1"/>
          </p:cNvSpPr>
          <p:nvPr>
            <p:ph type="sldNum" sz="quarter" idx="4294967295"/>
          </p:nvPr>
        </p:nvSpPr>
        <p:spPr>
          <a:xfrm>
            <a:off x="-1" y="6420022"/>
            <a:ext cx="550863" cy="228600"/>
          </a:xfrm>
          <a:prstGeom prst="rect">
            <a:avLst/>
          </a:prstGeom>
        </p:spPr>
        <p:txBody>
          <a:bodyPr/>
          <a:lstStyle/>
          <a:p>
            <a:fld id="{271031BA-9959-4FE2-909F-37D65262A7B4}" type="slidenum">
              <a:rPr lang="en-US" smtClean="0"/>
              <a:pPr/>
              <a:t>63</a:t>
            </a:fld>
            <a:endParaRPr lang="en-US" dirty="0"/>
          </a:p>
        </p:txBody>
      </p:sp>
    </p:spTree>
    <p:extLst>
      <p:ext uri="{BB962C8B-B14F-4D97-AF65-F5344CB8AC3E}">
        <p14:creationId xmlns:p14="http://schemas.microsoft.com/office/powerpoint/2010/main" val="30831576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Panorama</a:t>
            </a:r>
            <a:endParaRPr lang="en-US" dirty="0"/>
          </a:p>
        </p:txBody>
      </p:sp>
      <p:sp>
        <p:nvSpPr>
          <p:cNvPr id="3" name="Text Placeholder 2"/>
          <p:cNvSpPr>
            <a:spLocks noGrp="1"/>
          </p:cNvSpPr>
          <p:nvPr>
            <p:ph type="body" sz="quarter" idx="10"/>
          </p:nvPr>
        </p:nvSpPr>
        <p:spPr>
          <a:xfrm>
            <a:off x="381000" y="1447800"/>
            <a:ext cx="8363938" cy="3305520"/>
          </a:xfrm>
        </p:spPr>
        <p:txBody>
          <a:bodyPr/>
          <a:lstStyle/>
          <a:p>
            <a:r>
              <a:rPr lang="en-US" dirty="0" smtClean="0"/>
              <a:t>UX: “Rich magazine-like experience”</a:t>
            </a:r>
          </a:p>
          <a:p>
            <a:pPr lvl="1"/>
            <a:r>
              <a:rPr lang="en-US" dirty="0" smtClean="0"/>
              <a:t>Parallax background image is optional</a:t>
            </a:r>
          </a:p>
          <a:p>
            <a:pPr lvl="1"/>
            <a:r>
              <a:rPr lang="en-US" dirty="0" smtClean="0"/>
              <a:t>Allows the user to explore a larger canvas area than traditional phone pages</a:t>
            </a:r>
          </a:p>
          <a:p>
            <a:r>
              <a:rPr lang="en-US" dirty="0" smtClean="0"/>
              <a:t>Items with Orientation=“Horizontal” extend beyond a typical phone page’s size</a:t>
            </a:r>
          </a:p>
          <a:p>
            <a:r>
              <a:rPr lang="en-US" dirty="0" smtClean="0"/>
              <a:t>A full layout pass happens on all items at startup!</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64</a:t>
            </a:fld>
            <a:endParaRPr lang="en-US" dirty="0">
              <a:solidFill>
                <a:srgbClr val="6BBD46"/>
              </a:solidFill>
            </a:endParaRPr>
          </a:p>
        </p:txBody>
      </p:sp>
    </p:spTree>
    <p:extLst>
      <p:ext uri="{BB962C8B-B14F-4D97-AF65-F5344CB8AC3E}">
        <p14:creationId xmlns:p14="http://schemas.microsoft.com/office/powerpoint/2010/main" val="370276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0999" y="686053"/>
            <a:ext cx="7234451" cy="1523494"/>
          </a:xfrm>
        </p:spPr>
        <p:txBody>
          <a:bodyPr/>
          <a:lstStyle/>
          <a:p>
            <a:r>
              <a:rPr dirty="0" smtClean="0"/>
              <a:t>Simple Pivot App</a:t>
            </a:r>
            <a:endParaRPr lang="en-US" dirty="0"/>
          </a:p>
        </p:txBody>
      </p:sp>
      <p:sp>
        <p:nvSpPr>
          <p:cNvPr id="4" name="Text Placeholder 3"/>
          <p:cNvSpPr>
            <a:spLocks noGrp="1"/>
          </p:cNvSpPr>
          <p:nvPr>
            <p:ph type="body" sz="quarter" idx="10"/>
          </p:nvPr>
        </p:nvSpPr>
        <p:spPr/>
        <p:txBody>
          <a:bodyPr/>
          <a:lstStyle/>
          <a:p>
            <a:r>
              <a:rPr lang="en-US" dirty="0" smtClean="0"/>
              <a:t>Demo</a:t>
            </a:r>
            <a:endParaRPr lang="en-US" dirty="0"/>
          </a:p>
        </p:txBody>
      </p:sp>
      <p:sp>
        <p:nvSpPr>
          <p:cNvPr id="6" name="Slide Number Placeholder 5"/>
          <p:cNvSpPr>
            <a:spLocks noGrp="1"/>
          </p:cNvSpPr>
          <p:nvPr>
            <p:ph type="sldNum" sz="quarter" idx="11"/>
          </p:nvPr>
        </p:nvSpPr>
        <p:spPr/>
        <p:txBody>
          <a:bodyPr/>
          <a:lstStyle/>
          <a:p>
            <a:fld id="{271031BA-9959-4FE2-909F-37D65262A7B4}" type="slidenum">
              <a:rPr lang="en-US" smtClean="0"/>
              <a:pPr/>
              <a:t>65</a:t>
            </a:fld>
            <a:endParaRPr lang="en-US" dirty="0"/>
          </a:p>
        </p:txBody>
      </p:sp>
    </p:spTree>
    <p:extLst>
      <p:ext uri="{BB962C8B-B14F-4D97-AF65-F5344CB8AC3E}">
        <p14:creationId xmlns:p14="http://schemas.microsoft.com/office/powerpoint/2010/main" val="3538790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smtClean="0"/>
              <a:t>Pivots Vs. Panoramas</a:t>
            </a:r>
            <a:endParaRPr lang="en-US" dirty="0"/>
          </a:p>
        </p:txBody>
      </p:sp>
      <p:sp>
        <p:nvSpPr>
          <p:cNvPr id="32" name="Content Placeholder 4"/>
          <p:cNvSpPr>
            <a:spLocks noGrp="1"/>
          </p:cNvSpPr>
          <p:nvPr>
            <p:ph sz="half" idx="1"/>
          </p:nvPr>
        </p:nvSpPr>
        <p:spPr>
          <a:xfrm>
            <a:off x="381000" y="1998191"/>
            <a:ext cx="4019550" cy="3213187"/>
          </a:xfrm>
        </p:spPr>
        <p:txBody>
          <a:bodyPr wrap="square">
            <a:spAutoFit/>
          </a:bodyPr>
          <a:lstStyle/>
          <a:p>
            <a:r>
              <a:rPr lang="en-US" sz="2400" dirty="0" smtClean="0"/>
              <a:t>Supports </a:t>
            </a:r>
            <a:r>
              <a:rPr lang="en-US" sz="2400" dirty="0"/>
              <a:t>a larger number of “items” </a:t>
            </a:r>
            <a:r>
              <a:rPr lang="en-US" sz="2400" dirty="0" smtClean="0"/>
              <a:t>because </a:t>
            </a:r>
            <a:r>
              <a:rPr lang="en-US" sz="2400" dirty="0"/>
              <a:t>the layout </a:t>
            </a:r>
            <a:r>
              <a:rPr lang="en-US" sz="2400" dirty="0" smtClean="0"/>
              <a:t>is simpler</a:t>
            </a:r>
            <a:endParaRPr lang="en-US" sz="2400" dirty="0"/>
          </a:p>
          <a:p>
            <a:r>
              <a:rPr lang="en-US" sz="2400" dirty="0" smtClean="0"/>
              <a:t>Supports programmatic selection for rich code-behind scenarios</a:t>
            </a:r>
          </a:p>
          <a:p>
            <a:r>
              <a:rPr lang="en-US" sz="2400" dirty="0" smtClean="0"/>
              <a:t>LoadingPivotItem and UnloadingPivotItem events make it easy to defer content creation</a:t>
            </a:r>
          </a:p>
          <a:p>
            <a:r>
              <a:rPr lang="en-US" sz="2400" dirty="0"/>
              <a:t>More efficient use of screen </a:t>
            </a:r>
            <a:r>
              <a:rPr lang="en-US" sz="2400" dirty="0" smtClean="0"/>
              <a:t>space</a:t>
            </a:r>
            <a:endParaRPr lang="en-US" sz="2400" dirty="0"/>
          </a:p>
        </p:txBody>
      </p:sp>
      <p:sp>
        <p:nvSpPr>
          <p:cNvPr id="34" name="Content Placeholder 6"/>
          <p:cNvSpPr>
            <a:spLocks noGrp="1"/>
          </p:cNvSpPr>
          <p:nvPr>
            <p:ph sz="half" idx="2"/>
          </p:nvPr>
        </p:nvSpPr>
        <p:spPr>
          <a:xfrm>
            <a:off x="4742293" y="1998191"/>
            <a:ext cx="4057220" cy="3545586"/>
          </a:xfrm>
        </p:spPr>
        <p:txBody>
          <a:bodyPr>
            <a:spAutoFit/>
          </a:bodyPr>
          <a:lstStyle/>
          <a:p>
            <a:pPr>
              <a:buClr>
                <a:schemeClr val="tx2"/>
              </a:buClr>
            </a:pPr>
            <a:r>
              <a:rPr lang="en-US" sz="2400" dirty="0"/>
              <a:t>Tends to create more visually stunning experiences </a:t>
            </a:r>
            <a:endParaRPr lang="en-US" sz="2400" dirty="0" smtClean="0"/>
          </a:p>
          <a:p>
            <a:pPr>
              <a:buClr>
                <a:schemeClr val="tx2"/>
              </a:buClr>
            </a:pPr>
            <a:r>
              <a:rPr lang="en-US" sz="2400" dirty="0" err="1" smtClean="0"/>
              <a:t>DefaultItem</a:t>
            </a:r>
            <a:r>
              <a:rPr lang="en-US" sz="2400" dirty="0" smtClean="0"/>
              <a:t> </a:t>
            </a:r>
            <a:r>
              <a:rPr lang="en-US" sz="2400" dirty="0"/>
              <a:t>property makes matching operating system restore behavior easy</a:t>
            </a:r>
          </a:p>
          <a:p>
            <a:pPr>
              <a:buClr>
                <a:schemeClr val="tx2"/>
              </a:buClr>
            </a:pPr>
            <a:r>
              <a:rPr lang="en-US" sz="2400" dirty="0" smtClean="0"/>
              <a:t>Background images of any size automatically wrap properly</a:t>
            </a:r>
          </a:p>
          <a:p>
            <a:pPr>
              <a:buClr>
                <a:schemeClr val="tx2"/>
              </a:buClr>
            </a:pPr>
            <a:r>
              <a:rPr lang="en-US" sz="2400" dirty="0" smtClean="0"/>
              <a:t>Horizontally-oriented </a:t>
            </a:r>
            <a:r>
              <a:rPr lang="en-US" sz="2400" dirty="0" err="1"/>
              <a:t>PanoramaItems</a:t>
            </a:r>
            <a:r>
              <a:rPr lang="en-US" sz="2400" dirty="0"/>
              <a:t> allow variably-sized content to flow smoothly</a:t>
            </a:r>
          </a:p>
        </p:txBody>
      </p:sp>
      <p:sp>
        <p:nvSpPr>
          <p:cNvPr id="3" name="Slide Number Placeholder 2"/>
          <p:cNvSpPr>
            <a:spLocks noGrp="1"/>
          </p:cNvSpPr>
          <p:nvPr>
            <p:ph type="sldNum" sz="quarter" idx="10"/>
          </p:nvPr>
        </p:nvSpPr>
        <p:spPr/>
        <p:txBody>
          <a:bodyPr/>
          <a:lstStyle/>
          <a:p>
            <a:fld id="{271031BA-9959-4FE2-909F-37D65262A7B4}" type="slidenum">
              <a:rPr lang="en-US" smtClean="0"/>
              <a:pPr/>
              <a:t>66</a:t>
            </a:fld>
            <a:endParaRPr lang="en-US" dirty="0"/>
          </a:p>
        </p:txBody>
      </p:sp>
      <p:sp>
        <p:nvSpPr>
          <p:cNvPr id="31" name="Text Placeholder 3"/>
          <p:cNvSpPr>
            <a:spLocks noGrp="1"/>
          </p:cNvSpPr>
          <p:nvPr>
            <p:ph type="body" idx="4294967295"/>
          </p:nvPr>
        </p:nvSpPr>
        <p:spPr>
          <a:xfrm>
            <a:off x="381000" y="1447800"/>
            <a:ext cx="4077752" cy="442912"/>
          </a:xfrm>
          <a:solidFill>
            <a:schemeClr val="accent1"/>
          </a:solidFill>
        </p:spPr>
        <p:txBody>
          <a:bodyPr/>
          <a:lstStyle/>
          <a:p>
            <a:pPr marL="0" indent="0" algn="ctr">
              <a:buNone/>
            </a:pPr>
            <a:r>
              <a:rPr lang="en-US" sz="3200" dirty="0" smtClean="0">
                <a:solidFill>
                  <a:schemeClr val="bg1"/>
                </a:solidFill>
              </a:rPr>
              <a:t>Pivot</a:t>
            </a:r>
            <a:endParaRPr lang="en-US" sz="3200" dirty="0">
              <a:solidFill>
                <a:schemeClr val="bg1"/>
              </a:solidFill>
            </a:endParaRPr>
          </a:p>
        </p:txBody>
      </p:sp>
      <p:sp>
        <p:nvSpPr>
          <p:cNvPr id="33" name="Text Placeholder 5"/>
          <p:cNvSpPr>
            <a:spLocks noGrp="1"/>
          </p:cNvSpPr>
          <p:nvPr>
            <p:ph type="body" sz="quarter" idx="4294967295"/>
          </p:nvPr>
        </p:nvSpPr>
        <p:spPr>
          <a:xfrm>
            <a:off x="4742293" y="1447800"/>
            <a:ext cx="4041775" cy="442912"/>
          </a:xfrm>
          <a:solidFill>
            <a:schemeClr val="tx2"/>
          </a:solidFill>
        </p:spPr>
        <p:txBody>
          <a:bodyPr/>
          <a:lstStyle/>
          <a:p>
            <a:pPr marL="0" indent="0" algn="ctr">
              <a:buNone/>
            </a:pPr>
            <a:r>
              <a:rPr lang="en-US" sz="3200" dirty="0" smtClean="0">
                <a:solidFill>
                  <a:schemeClr val="bg1"/>
                </a:solidFill>
              </a:rPr>
              <a:t>Panorama</a:t>
            </a:r>
            <a:endParaRPr lang="en-US" sz="3200" dirty="0">
              <a:solidFill>
                <a:schemeClr val="bg1"/>
              </a:solidFill>
            </a:endParaRPr>
          </a:p>
        </p:txBody>
      </p:sp>
    </p:spTree>
    <p:extLst>
      <p:ext uri="{BB962C8B-B14F-4D97-AF65-F5344CB8AC3E}">
        <p14:creationId xmlns:p14="http://schemas.microsoft.com/office/powerpoint/2010/main" val="32000815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accent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Performance</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67</a:t>
            </a:fld>
            <a:endParaRPr lang="en-US" dirty="0"/>
          </a:p>
        </p:txBody>
      </p:sp>
    </p:spTree>
    <p:extLst>
      <p:ext uri="{BB962C8B-B14F-4D97-AF65-F5344CB8AC3E}">
        <p14:creationId xmlns:p14="http://schemas.microsoft.com/office/powerpoint/2010/main" val="7443581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a:t>
            </a:r>
            <a:endParaRPr lang="en-US" dirty="0"/>
          </a:p>
        </p:txBody>
      </p:sp>
      <p:sp>
        <p:nvSpPr>
          <p:cNvPr id="3" name="Text Placeholder 2"/>
          <p:cNvSpPr>
            <a:spLocks noGrp="1"/>
          </p:cNvSpPr>
          <p:nvPr>
            <p:ph type="body" sz="quarter" idx="10"/>
          </p:nvPr>
        </p:nvSpPr>
        <p:spPr>
          <a:xfrm>
            <a:off x="381000" y="1447800"/>
            <a:ext cx="8363938" cy="3053144"/>
          </a:xfrm>
        </p:spPr>
        <p:txBody>
          <a:bodyPr/>
          <a:lstStyle/>
          <a:p>
            <a:r>
              <a:rPr lang="en-US" dirty="0" smtClean="0"/>
              <a:t>Phone hardware is very different than your quad core desktop PC</a:t>
            </a:r>
          </a:p>
          <a:p>
            <a:r>
              <a:rPr lang="en-US" dirty="0" smtClean="0"/>
              <a:t>Minimize complex visuals</a:t>
            </a:r>
          </a:p>
          <a:p>
            <a:r>
              <a:rPr lang="en-US" dirty="0" smtClean="0"/>
              <a:t>Offload animations to the compositor thread</a:t>
            </a:r>
          </a:p>
          <a:p>
            <a:r>
              <a:rPr lang="en-US" dirty="0" smtClean="0"/>
              <a:t>Make list item templates as simple as can be</a:t>
            </a:r>
          </a:p>
          <a:p>
            <a:r>
              <a:rPr lang="en-US" dirty="0" smtClean="0"/>
              <a:t>Use </a:t>
            </a:r>
            <a:r>
              <a:rPr lang="en-US" dirty="0" err="1" smtClean="0"/>
              <a:t>BackgroundWorker</a:t>
            </a:r>
            <a:r>
              <a:rPr lang="en-US" dirty="0" smtClean="0"/>
              <a:t> &amp; </a:t>
            </a:r>
            <a:r>
              <a:rPr lang="en-US" dirty="0" err="1" smtClean="0"/>
              <a:t>async</a:t>
            </a:r>
            <a:r>
              <a:rPr lang="en-US" dirty="0" smtClean="0"/>
              <a:t> coding throughout</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68</a:t>
            </a:fld>
            <a:endParaRPr lang="en-US" dirty="0">
              <a:solidFill>
                <a:srgbClr val="6BBD46"/>
              </a:solidFill>
            </a:endParaRPr>
          </a:p>
        </p:txBody>
      </p:sp>
    </p:spTree>
    <p:extLst>
      <p:ext uri="{BB962C8B-B14F-4D97-AF65-F5344CB8AC3E}">
        <p14:creationId xmlns:p14="http://schemas.microsoft.com/office/powerpoint/2010/main" val="35513897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Emulator</a:t>
            </a:r>
            <a:endParaRPr lang="en-US" dirty="0"/>
          </a:p>
        </p:txBody>
      </p:sp>
      <p:sp>
        <p:nvSpPr>
          <p:cNvPr id="3" name="Text Placeholder 2"/>
          <p:cNvSpPr>
            <a:spLocks noGrp="1"/>
          </p:cNvSpPr>
          <p:nvPr>
            <p:ph type="body" sz="quarter" idx="10"/>
          </p:nvPr>
        </p:nvSpPr>
        <p:spPr>
          <a:xfrm>
            <a:off x="381000" y="1447800"/>
            <a:ext cx="8363938" cy="3397853"/>
          </a:xfrm>
        </p:spPr>
        <p:txBody>
          <a:bodyPr/>
          <a:lstStyle/>
          <a:p>
            <a:r>
              <a:rPr lang="en-US" dirty="0" smtClean="0"/>
              <a:t>Windows Phone Emulator is great for developing applications</a:t>
            </a:r>
          </a:p>
          <a:p>
            <a:r>
              <a:rPr lang="en-US" dirty="0" smtClean="0"/>
              <a:t>Contains an actual X86 build of the WP7 OS</a:t>
            </a:r>
          </a:p>
          <a:p>
            <a:r>
              <a:rPr lang="en-US" i="1" dirty="0" smtClean="0"/>
              <a:t>Emulates</a:t>
            </a:r>
            <a:r>
              <a:rPr lang="en-US" dirty="0" smtClean="0"/>
              <a:t> the OS but does not have hardware capability limiting</a:t>
            </a:r>
          </a:p>
          <a:p>
            <a:r>
              <a:rPr lang="en-US" dirty="0" smtClean="0"/>
              <a:t>May not see performance ‘issues’ until you use a real Windows Phone 7</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69</a:t>
            </a:fld>
            <a:endParaRPr lang="en-US" dirty="0">
              <a:solidFill>
                <a:srgbClr val="6BBD46"/>
              </a:solidFill>
            </a:endParaRPr>
          </a:p>
        </p:txBody>
      </p:sp>
    </p:spTree>
    <p:extLst>
      <p:ext uri="{BB962C8B-B14F-4D97-AF65-F5344CB8AC3E}">
        <p14:creationId xmlns:p14="http://schemas.microsoft.com/office/powerpoint/2010/main" val="91812604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Startup</a:t>
            </a:r>
            <a:endParaRPr lang="en-US" dirty="0"/>
          </a:p>
        </p:txBody>
      </p:sp>
      <p:sp>
        <p:nvSpPr>
          <p:cNvPr id="3" name="Text Placeholder 2"/>
          <p:cNvSpPr>
            <a:spLocks noGrp="1"/>
          </p:cNvSpPr>
          <p:nvPr>
            <p:ph type="body" sz="quarter" idx="10"/>
          </p:nvPr>
        </p:nvSpPr>
        <p:spPr>
          <a:xfrm>
            <a:off x="381000" y="1447800"/>
            <a:ext cx="8363938" cy="2948499"/>
          </a:xfrm>
        </p:spPr>
        <p:txBody>
          <a:bodyPr/>
          <a:lstStyle/>
          <a:p>
            <a:r>
              <a:rPr lang="en-US" dirty="0" smtClean="0"/>
              <a:t>Splash Screen</a:t>
            </a:r>
          </a:p>
          <a:p>
            <a:pPr lvl="1"/>
            <a:r>
              <a:rPr lang="en-US" dirty="0" smtClean="0"/>
              <a:t>A JPEG image shown at startup</a:t>
            </a:r>
          </a:p>
          <a:p>
            <a:pPr lvl="1"/>
            <a:r>
              <a:rPr lang="en-US" dirty="0" smtClean="0"/>
              <a:t>Optional</a:t>
            </a:r>
          </a:p>
          <a:p>
            <a:pPr lvl="1"/>
            <a:r>
              <a:rPr lang="en-US" dirty="0" smtClean="0"/>
              <a:t>Some apps use the Startup + Startup Overlay concept</a:t>
            </a:r>
          </a:p>
          <a:p>
            <a:r>
              <a:rPr lang="en-US" dirty="0" smtClean="0"/>
              <a:t>Minimize the startup DLL size</a:t>
            </a:r>
          </a:p>
          <a:p>
            <a:r>
              <a:rPr lang="en-US" dirty="0" smtClean="0"/>
              <a:t>After 10 seconds your app is closed if not responsive</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70</a:t>
            </a:fld>
            <a:endParaRPr lang="en-US" dirty="0">
              <a:solidFill>
                <a:srgbClr val="6BBD46"/>
              </a:solidFill>
            </a:endParaRPr>
          </a:p>
        </p:txBody>
      </p:sp>
    </p:spTree>
    <p:extLst>
      <p:ext uri="{BB962C8B-B14F-4D97-AF65-F5344CB8AC3E}">
        <p14:creationId xmlns:p14="http://schemas.microsoft.com/office/powerpoint/2010/main" val="10007740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Layout Performance</a:t>
            </a:r>
            <a:endParaRPr lang="en-US" dirty="0"/>
          </a:p>
        </p:txBody>
      </p:sp>
      <p:sp>
        <p:nvSpPr>
          <p:cNvPr id="3" name="Text Placeholder 2"/>
          <p:cNvSpPr>
            <a:spLocks noGrp="1"/>
          </p:cNvSpPr>
          <p:nvPr>
            <p:ph type="body" sz="quarter" idx="10"/>
          </p:nvPr>
        </p:nvSpPr>
        <p:spPr>
          <a:xfrm>
            <a:off x="381000" y="1447800"/>
            <a:ext cx="8363938" cy="3557897"/>
          </a:xfrm>
        </p:spPr>
        <p:txBody>
          <a:bodyPr/>
          <a:lstStyle/>
          <a:p>
            <a:r>
              <a:rPr lang="en-US" dirty="0" smtClean="0"/>
              <a:t>Layout happens on the UI thread</a:t>
            </a:r>
          </a:p>
          <a:p>
            <a:r>
              <a:rPr lang="en-US" dirty="0" smtClean="0"/>
              <a:t>Very expensive but necessary computations</a:t>
            </a:r>
          </a:p>
          <a:p>
            <a:endParaRPr lang="en-US" dirty="0"/>
          </a:p>
          <a:p>
            <a:r>
              <a:rPr lang="en-US" dirty="0" smtClean="0"/>
              <a:t>Fast startup time, slow to display when toggled:</a:t>
            </a:r>
          </a:p>
          <a:p>
            <a:pPr lvl="1"/>
            <a:r>
              <a:rPr lang="en-US" dirty="0" smtClean="0"/>
              <a:t>Visibility=“Collapsed”</a:t>
            </a:r>
            <a:endParaRPr lang="en-US" dirty="0"/>
          </a:p>
          <a:p>
            <a:r>
              <a:rPr lang="en-US" dirty="0" smtClean="0"/>
              <a:t>Slower page startup time, ready to display anytime:</a:t>
            </a:r>
          </a:p>
          <a:p>
            <a:pPr lvl="1"/>
            <a:r>
              <a:rPr lang="en-US" dirty="0" smtClean="0"/>
              <a:t>Opacity=“0”</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71</a:t>
            </a:fld>
            <a:endParaRPr lang="en-US" dirty="0">
              <a:solidFill>
                <a:srgbClr val="6BBD46"/>
              </a:solidFill>
            </a:endParaRPr>
          </a:p>
        </p:txBody>
      </p:sp>
    </p:spTree>
    <p:extLst>
      <p:ext uri="{BB962C8B-B14F-4D97-AF65-F5344CB8AC3E}">
        <p14:creationId xmlns:p14="http://schemas.microsoft.com/office/powerpoint/2010/main" val="27965713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Vectors vs. Images</a:t>
            </a:r>
            <a:endParaRPr lang="en-US" dirty="0"/>
          </a:p>
        </p:txBody>
      </p:sp>
      <p:sp>
        <p:nvSpPr>
          <p:cNvPr id="3" name="Text Placeholder 2"/>
          <p:cNvSpPr>
            <a:spLocks noGrp="1"/>
          </p:cNvSpPr>
          <p:nvPr>
            <p:ph type="body" sz="quarter" idx="10"/>
          </p:nvPr>
        </p:nvSpPr>
        <p:spPr>
          <a:xfrm>
            <a:off x="381000" y="1447800"/>
            <a:ext cx="8363938" cy="4382738"/>
          </a:xfrm>
        </p:spPr>
        <p:txBody>
          <a:bodyPr/>
          <a:lstStyle/>
          <a:p>
            <a:r>
              <a:rPr lang="en-US" dirty="0" smtClean="0"/>
              <a:t>Avoid complex vector paths that could be images</a:t>
            </a:r>
          </a:p>
          <a:p>
            <a:r>
              <a:rPr lang="en-US" dirty="0" smtClean="0"/>
              <a:t>JPEGs are decoded quicker than PNGs</a:t>
            </a:r>
          </a:p>
          <a:p>
            <a:r>
              <a:rPr lang="en-US" dirty="0" smtClean="0"/>
              <a:t>Mark images as </a:t>
            </a:r>
            <a:r>
              <a:rPr lang="en-US" b="1" dirty="0" smtClean="0"/>
              <a:t>Content</a:t>
            </a:r>
            <a:r>
              <a:rPr lang="en-US" dirty="0" smtClean="0"/>
              <a:t> instead of </a:t>
            </a:r>
            <a:r>
              <a:rPr lang="en-US" b="1" dirty="0" smtClean="0"/>
              <a:t>Resource</a:t>
            </a:r>
            <a:r>
              <a:rPr lang="en-US" dirty="0" smtClean="0"/>
              <a:t> when possible (places them outside the DLL and in the XAP instead)</a:t>
            </a:r>
          </a:p>
          <a:p>
            <a:r>
              <a:rPr lang="en-US" dirty="0"/>
              <a:t>Image code paths are optimized to load Content and isolated storage streams over memory streams</a:t>
            </a:r>
          </a:p>
          <a:p>
            <a:r>
              <a:rPr lang="en-US" dirty="0"/>
              <a:t>Use Resource for Panorama backgrounds to avoid a flicker or </a:t>
            </a:r>
            <a:r>
              <a:rPr lang="en-US" dirty="0" smtClean="0"/>
              <a:t>glitch</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72</a:t>
            </a:fld>
            <a:endParaRPr lang="en-US" dirty="0">
              <a:solidFill>
                <a:srgbClr val="6BBD46"/>
              </a:solidFill>
            </a:endParaRPr>
          </a:p>
        </p:txBody>
      </p:sp>
    </p:spTree>
    <p:extLst>
      <p:ext uri="{BB962C8B-B14F-4D97-AF65-F5344CB8AC3E}">
        <p14:creationId xmlns:p14="http://schemas.microsoft.com/office/powerpoint/2010/main" val="405409832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Loading Data</a:t>
            </a:r>
            <a:endParaRPr lang="en-US" dirty="0"/>
          </a:p>
        </p:txBody>
      </p:sp>
      <p:sp>
        <p:nvSpPr>
          <p:cNvPr id="3" name="Text Placeholder 2"/>
          <p:cNvSpPr>
            <a:spLocks noGrp="1"/>
          </p:cNvSpPr>
          <p:nvPr>
            <p:ph type="body" sz="quarter" idx="10"/>
          </p:nvPr>
        </p:nvSpPr>
        <p:spPr>
          <a:xfrm>
            <a:off x="381000" y="1447800"/>
            <a:ext cx="8363938" cy="3490186"/>
          </a:xfrm>
        </p:spPr>
        <p:txBody>
          <a:bodyPr/>
          <a:lstStyle/>
          <a:p>
            <a:r>
              <a:rPr lang="en-US" dirty="0" smtClean="0"/>
              <a:t>Consider smart caching of web service data</a:t>
            </a:r>
          </a:p>
          <a:p>
            <a:pPr lvl="1"/>
            <a:r>
              <a:rPr lang="en-US" dirty="0" smtClean="0"/>
              <a:t>A Dictionary cache in memory</a:t>
            </a:r>
          </a:p>
          <a:p>
            <a:pPr lvl="1"/>
            <a:r>
              <a:rPr lang="en-US" dirty="0" smtClean="0"/>
              <a:t>FIFO Queue in Isolated Storage</a:t>
            </a:r>
          </a:p>
          <a:p>
            <a:pPr lvl="1"/>
            <a:r>
              <a:rPr lang="en-US" dirty="0" smtClean="0"/>
              <a:t>Web service requests</a:t>
            </a:r>
            <a:endParaRPr lang="en-US" dirty="0"/>
          </a:p>
          <a:p>
            <a:r>
              <a:rPr lang="en-US" dirty="0" smtClean="0"/>
              <a:t>Parse data on the background thread</a:t>
            </a:r>
            <a:endParaRPr lang="en-US" dirty="0"/>
          </a:p>
          <a:p>
            <a:r>
              <a:rPr lang="en-US" dirty="0" smtClean="0"/>
              <a:t>Beware serialization/deserialization costs</a:t>
            </a:r>
          </a:p>
          <a:p>
            <a:r>
              <a:rPr lang="en-US" dirty="0" smtClean="0"/>
              <a:t>JSON is great</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73</a:t>
            </a:fld>
            <a:endParaRPr lang="en-US" dirty="0">
              <a:solidFill>
                <a:srgbClr val="6BBD46"/>
              </a:solidFill>
            </a:endParaRPr>
          </a:p>
        </p:txBody>
      </p:sp>
    </p:spTree>
    <p:extLst>
      <p:ext uri="{BB962C8B-B14F-4D97-AF65-F5344CB8AC3E}">
        <p14:creationId xmlns:p14="http://schemas.microsoft.com/office/powerpoint/2010/main" val="23442285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Progress Bar Control</a:t>
            </a:r>
            <a:endParaRPr lang="en-US" dirty="0"/>
          </a:p>
        </p:txBody>
      </p:sp>
      <p:sp>
        <p:nvSpPr>
          <p:cNvPr id="3" name="Text Placeholder 2"/>
          <p:cNvSpPr>
            <a:spLocks noGrp="1"/>
          </p:cNvSpPr>
          <p:nvPr>
            <p:ph type="body" sz="quarter" idx="10"/>
          </p:nvPr>
        </p:nvSpPr>
        <p:spPr>
          <a:xfrm>
            <a:off x="381000" y="1447800"/>
            <a:ext cx="8363938" cy="3841052"/>
          </a:xfrm>
        </p:spPr>
        <p:txBody>
          <a:bodyPr/>
          <a:lstStyle/>
          <a:p>
            <a:r>
              <a:rPr lang="en-US" dirty="0" smtClean="0"/>
              <a:t>“Indeterminate” progress bars are used throughout the UX on the phone</a:t>
            </a:r>
          </a:p>
          <a:p>
            <a:r>
              <a:rPr lang="en-US" dirty="0" smtClean="0"/>
              <a:t>Control in the framework is sub-optimal as its animations are not offloaded to the compositor thread</a:t>
            </a:r>
          </a:p>
          <a:p>
            <a:r>
              <a:rPr lang="en-US" dirty="0" smtClean="0"/>
              <a:t>Please use my </a:t>
            </a:r>
            <a:r>
              <a:rPr lang="en-US" dirty="0" err="1" smtClean="0"/>
              <a:t>PerformanceProgressBar</a:t>
            </a:r>
            <a:r>
              <a:rPr lang="en-US" dirty="0" smtClean="0"/>
              <a:t> (</a:t>
            </a:r>
            <a:r>
              <a:rPr lang="en-US" dirty="0" smtClean="0">
                <a:hlinkClick r:id="rId2"/>
              </a:rPr>
              <a:t>link</a:t>
            </a:r>
            <a:r>
              <a:rPr lang="en-US" dirty="0" smtClean="0"/>
              <a:t>)</a:t>
            </a:r>
          </a:p>
          <a:p>
            <a:r>
              <a:rPr lang="en-US" dirty="0" smtClean="0"/>
              <a:t>Always set/bind </a:t>
            </a:r>
            <a:r>
              <a:rPr lang="en-US" dirty="0" err="1" smtClean="0"/>
              <a:t>IsIndeterminate</a:t>
            </a:r>
            <a:r>
              <a:rPr lang="en-US" dirty="0" smtClean="0"/>
              <a:t> to False when the effect is no longer needed to stop the storyboards</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74</a:t>
            </a:fld>
            <a:endParaRPr lang="en-US" dirty="0">
              <a:solidFill>
                <a:srgbClr val="6BBD46"/>
              </a:solidFill>
            </a:endParaRPr>
          </a:p>
        </p:txBody>
      </p:sp>
    </p:spTree>
    <p:extLst>
      <p:ext uri="{BB962C8B-B14F-4D97-AF65-F5344CB8AC3E}">
        <p14:creationId xmlns:p14="http://schemas.microsoft.com/office/powerpoint/2010/main" val="13332813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a:t>
            </a:r>
            <a:endParaRPr lang="en-US" dirty="0"/>
          </a:p>
        </p:txBody>
      </p:sp>
      <p:sp>
        <p:nvSpPr>
          <p:cNvPr id="3" name="Text Placeholder 2"/>
          <p:cNvSpPr>
            <a:spLocks noGrp="1"/>
          </p:cNvSpPr>
          <p:nvPr>
            <p:ph type="body" sz="quarter" idx="10"/>
          </p:nvPr>
        </p:nvSpPr>
        <p:spPr>
          <a:xfrm>
            <a:off x="381000" y="1447800"/>
            <a:ext cx="8363938" cy="2856167"/>
          </a:xfrm>
        </p:spPr>
        <p:txBody>
          <a:bodyPr/>
          <a:lstStyle/>
          <a:p>
            <a:r>
              <a:rPr lang="en-US" dirty="0" smtClean="0"/>
              <a:t>90MB peak memory use limit for marketplace apps on devices with 256 MB RAM</a:t>
            </a:r>
          </a:p>
          <a:p>
            <a:r>
              <a:rPr lang="en-US" dirty="0" smtClean="0"/>
              <a:t>Panorama and Pivot pages often have many views and can add up in size</a:t>
            </a:r>
          </a:p>
          <a:p>
            <a:r>
              <a:rPr lang="en-US" dirty="0" smtClean="0"/>
              <a:t>Compressed JPEG images may be small in file size, but are still uncompressed at runtime</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75</a:t>
            </a:fld>
            <a:endParaRPr lang="en-US" dirty="0">
              <a:solidFill>
                <a:srgbClr val="6BBD46"/>
              </a:solidFill>
            </a:endParaRPr>
          </a:p>
        </p:txBody>
      </p:sp>
      <p:sp>
        <p:nvSpPr>
          <p:cNvPr id="5" name="Rectangle 4"/>
          <p:cNvSpPr/>
          <p:nvPr/>
        </p:nvSpPr>
        <p:spPr>
          <a:xfrm>
            <a:off x="380999" y="4675562"/>
            <a:ext cx="8380413" cy="8679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90000"/>
              </a:lnSpc>
              <a:spcBef>
                <a:spcPct val="20000"/>
              </a:spcBef>
              <a:buSzPct val="90000"/>
            </a:pPr>
            <a:r>
              <a:rPr lang="en-US" sz="1400" dirty="0" err="1" smtClean="0">
                <a:solidFill>
                  <a:srgbClr val="0000FF"/>
                </a:solidFill>
                <a:latin typeface="Consolas" pitchFamily="49" charset="0"/>
                <a:cs typeface="Consolas" pitchFamily="49" charset="0"/>
              </a:rPr>
              <a:t>var</a:t>
            </a:r>
            <a:r>
              <a:rPr lang="en-US" sz="1400" dirty="0">
                <a:latin typeface="Consolas" pitchFamily="49" charset="0"/>
                <a:cs typeface="Consolas" pitchFamily="49" charset="0"/>
              </a:rPr>
              <a:t> </a:t>
            </a:r>
            <a:r>
              <a:rPr lang="en-US" sz="1400" dirty="0" err="1" smtClean="0">
                <a:latin typeface="Consolas" pitchFamily="49" charset="0"/>
                <a:cs typeface="Consolas" pitchFamily="49" charset="0"/>
              </a:rPr>
              <a:t>deviceMem</a:t>
            </a:r>
            <a:r>
              <a:rPr lang="en-US" sz="1400" dirty="0" smtClean="0">
                <a:latin typeface="Consolas" pitchFamily="49" charset="0"/>
                <a:cs typeface="Consolas" pitchFamily="49" charset="0"/>
              </a:rPr>
              <a:t>=(</a:t>
            </a:r>
            <a:r>
              <a:rPr lang="en-US" sz="1400" dirty="0">
                <a:solidFill>
                  <a:srgbClr val="0000FF"/>
                </a:solidFill>
                <a:latin typeface="Consolas" pitchFamily="49" charset="0"/>
                <a:cs typeface="Consolas" pitchFamily="49" charset="0"/>
              </a:rPr>
              <a:t>long</a:t>
            </a:r>
            <a:r>
              <a:rPr lang="en-US" sz="1400" dirty="0">
                <a:latin typeface="Consolas" pitchFamily="49" charset="0"/>
                <a:cs typeface="Consolas" pitchFamily="49" charset="0"/>
              </a:rPr>
              <a:t>)</a:t>
            </a:r>
            <a:r>
              <a:rPr lang="en-US" sz="1400" dirty="0" err="1">
                <a:solidFill>
                  <a:srgbClr val="2B91AF"/>
                </a:solidFill>
                <a:latin typeface="Consolas" pitchFamily="49" charset="0"/>
                <a:cs typeface="Consolas" pitchFamily="49" charset="0"/>
              </a:rPr>
              <a:t>DeviceExtendedProperties</a:t>
            </a:r>
            <a:r>
              <a:rPr lang="en-US" sz="1400" dirty="0" err="1">
                <a:latin typeface="Consolas" pitchFamily="49" charset="0"/>
                <a:cs typeface="Consolas" pitchFamily="49" charset="0"/>
              </a:rPr>
              <a:t>.GetValue</a:t>
            </a:r>
            <a:r>
              <a:rPr lang="en-US" sz="1400" dirty="0">
                <a:latin typeface="Consolas" pitchFamily="49" charset="0"/>
                <a:cs typeface="Consolas" pitchFamily="49" charset="0"/>
              </a:rPr>
              <a:t>(</a:t>
            </a:r>
            <a:r>
              <a:rPr lang="en-US" sz="1400" dirty="0">
                <a:solidFill>
                  <a:srgbClr val="A31515"/>
                </a:solidFill>
                <a:latin typeface="Consolas" pitchFamily="49" charset="0"/>
                <a:cs typeface="Consolas" pitchFamily="49" charset="0"/>
              </a:rPr>
              <a:t>"</a:t>
            </a:r>
            <a:r>
              <a:rPr lang="en-US" sz="1400" dirty="0" err="1">
                <a:solidFill>
                  <a:srgbClr val="A31515"/>
                </a:solidFill>
                <a:latin typeface="Consolas" pitchFamily="49" charset="0"/>
                <a:cs typeface="Consolas" pitchFamily="49" charset="0"/>
              </a:rPr>
              <a:t>DeviceTotalMemory</a:t>
            </a:r>
            <a:r>
              <a:rPr lang="en-US" sz="1400" dirty="0">
                <a:solidFill>
                  <a:srgbClr val="A31515"/>
                </a:solidFill>
                <a:latin typeface="Consolas" pitchFamily="49" charset="0"/>
                <a:cs typeface="Consolas" pitchFamily="49" charset="0"/>
              </a:rPr>
              <a:t>"</a:t>
            </a:r>
            <a:r>
              <a:rPr lang="en-US" sz="1400" dirty="0">
                <a:latin typeface="Consolas" pitchFamily="49" charset="0"/>
                <a:cs typeface="Consolas" pitchFamily="49" charset="0"/>
              </a:rPr>
              <a:t>); </a:t>
            </a:r>
            <a:br>
              <a:rPr lang="en-US" sz="1400" dirty="0">
                <a:latin typeface="Consolas" pitchFamily="49" charset="0"/>
                <a:cs typeface="Consolas" pitchFamily="49" charset="0"/>
              </a:rPr>
            </a:br>
            <a:r>
              <a:rPr lang="en-US" sz="1400" dirty="0" err="1" smtClean="0">
                <a:solidFill>
                  <a:srgbClr val="0000FF"/>
                </a:solidFill>
                <a:latin typeface="Consolas" pitchFamily="49" charset="0"/>
                <a:cs typeface="Consolas" pitchFamily="49" charset="0"/>
              </a:rPr>
              <a:t>var</a:t>
            </a:r>
            <a:r>
              <a:rPr lang="en-US" sz="1400" dirty="0">
                <a:latin typeface="Consolas" pitchFamily="49" charset="0"/>
                <a:cs typeface="Consolas" pitchFamily="49" charset="0"/>
              </a:rPr>
              <a:t> </a:t>
            </a:r>
            <a:r>
              <a:rPr lang="en-US" sz="1400" dirty="0" smtClean="0">
                <a:latin typeface="Consolas" pitchFamily="49" charset="0"/>
                <a:cs typeface="Consolas" pitchFamily="49" charset="0"/>
              </a:rPr>
              <a:t>app=(</a:t>
            </a:r>
            <a:r>
              <a:rPr lang="en-US" sz="1400" dirty="0">
                <a:solidFill>
                  <a:srgbClr val="0000FF"/>
                </a:solidFill>
                <a:latin typeface="Consolas" pitchFamily="49" charset="0"/>
                <a:cs typeface="Consolas" pitchFamily="49" charset="0"/>
              </a:rPr>
              <a:t>long</a:t>
            </a:r>
            <a:r>
              <a:rPr lang="en-US" sz="1400" dirty="0">
                <a:latin typeface="Consolas" pitchFamily="49" charset="0"/>
                <a:cs typeface="Consolas" pitchFamily="49" charset="0"/>
              </a:rPr>
              <a:t>)</a:t>
            </a:r>
            <a:r>
              <a:rPr lang="en-US" sz="1400" dirty="0" err="1">
                <a:solidFill>
                  <a:srgbClr val="2B91AF"/>
                </a:solidFill>
                <a:latin typeface="Consolas" pitchFamily="49" charset="0"/>
                <a:cs typeface="Consolas" pitchFamily="49" charset="0"/>
              </a:rPr>
              <a:t>DeviceExtendedProperties</a:t>
            </a:r>
            <a:r>
              <a:rPr lang="en-US" sz="1400" dirty="0" err="1">
                <a:latin typeface="Consolas" pitchFamily="49" charset="0"/>
                <a:cs typeface="Consolas" pitchFamily="49" charset="0"/>
              </a:rPr>
              <a:t>.GetValue</a:t>
            </a:r>
            <a:r>
              <a:rPr lang="en-US" sz="1400" dirty="0">
                <a:latin typeface="Consolas" pitchFamily="49" charset="0"/>
                <a:cs typeface="Consolas" pitchFamily="49" charset="0"/>
              </a:rPr>
              <a:t>(</a:t>
            </a:r>
            <a:r>
              <a:rPr lang="en-US" sz="1400" dirty="0">
                <a:solidFill>
                  <a:srgbClr val="A31515"/>
                </a:solidFill>
                <a:latin typeface="Consolas" pitchFamily="49" charset="0"/>
                <a:cs typeface="Consolas" pitchFamily="49" charset="0"/>
              </a:rPr>
              <a:t>"</a:t>
            </a:r>
            <a:r>
              <a:rPr lang="en-US" sz="1400" dirty="0" err="1">
                <a:solidFill>
                  <a:srgbClr val="A31515"/>
                </a:solidFill>
                <a:latin typeface="Consolas" pitchFamily="49" charset="0"/>
                <a:cs typeface="Consolas" pitchFamily="49" charset="0"/>
              </a:rPr>
              <a:t>ApplicationCurrentMemoryUsage</a:t>
            </a:r>
            <a:r>
              <a:rPr lang="en-US" sz="1400" dirty="0">
                <a:solidFill>
                  <a:srgbClr val="A31515"/>
                </a:solidFill>
                <a:latin typeface="Consolas" pitchFamily="49" charset="0"/>
                <a:cs typeface="Consolas" pitchFamily="49" charset="0"/>
              </a:rPr>
              <a:t>"</a:t>
            </a:r>
            <a:r>
              <a:rPr lang="en-US" sz="1400" dirty="0">
                <a:latin typeface="Consolas" pitchFamily="49" charset="0"/>
                <a:cs typeface="Consolas" pitchFamily="49" charset="0"/>
              </a:rPr>
              <a:t>);</a:t>
            </a:r>
            <a:br>
              <a:rPr lang="en-US" sz="1400" dirty="0">
                <a:latin typeface="Consolas" pitchFamily="49" charset="0"/>
                <a:cs typeface="Consolas" pitchFamily="49" charset="0"/>
              </a:rPr>
            </a:br>
            <a:r>
              <a:rPr lang="en-US" sz="1400" dirty="0" err="1" smtClean="0">
                <a:solidFill>
                  <a:srgbClr val="0000FF"/>
                </a:solidFill>
                <a:latin typeface="Consolas" pitchFamily="49" charset="0"/>
                <a:cs typeface="Consolas" pitchFamily="49" charset="0"/>
              </a:rPr>
              <a:t>var</a:t>
            </a:r>
            <a:r>
              <a:rPr lang="en-US" sz="1400" dirty="0">
                <a:latin typeface="Consolas" pitchFamily="49" charset="0"/>
                <a:cs typeface="Consolas" pitchFamily="49" charset="0"/>
              </a:rPr>
              <a:t> </a:t>
            </a:r>
            <a:r>
              <a:rPr lang="en-US" sz="1400" dirty="0" err="1" smtClean="0">
                <a:latin typeface="Consolas" pitchFamily="49" charset="0"/>
                <a:cs typeface="Consolas" pitchFamily="49" charset="0"/>
              </a:rPr>
              <a:t>appPeak</a:t>
            </a:r>
            <a:r>
              <a:rPr lang="en-US" sz="1400" dirty="0" smtClean="0">
                <a:latin typeface="Consolas" pitchFamily="49" charset="0"/>
                <a:cs typeface="Consolas" pitchFamily="49" charset="0"/>
              </a:rPr>
              <a:t>=(</a:t>
            </a:r>
            <a:r>
              <a:rPr lang="en-US" sz="1400" dirty="0">
                <a:solidFill>
                  <a:srgbClr val="0000FF"/>
                </a:solidFill>
                <a:latin typeface="Consolas" pitchFamily="49" charset="0"/>
                <a:cs typeface="Consolas" pitchFamily="49" charset="0"/>
              </a:rPr>
              <a:t>long</a:t>
            </a:r>
            <a:r>
              <a:rPr lang="en-US" sz="1400" dirty="0">
                <a:latin typeface="Consolas" pitchFamily="49" charset="0"/>
                <a:cs typeface="Consolas" pitchFamily="49" charset="0"/>
              </a:rPr>
              <a:t>)</a:t>
            </a:r>
            <a:r>
              <a:rPr lang="en-US" sz="1400" dirty="0" err="1">
                <a:solidFill>
                  <a:srgbClr val="2B91AF"/>
                </a:solidFill>
                <a:latin typeface="Consolas" pitchFamily="49" charset="0"/>
                <a:cs typeface="Consolas" pitchFamily="49" charset="0"/>
              </a:rPr>
              <a:t>DeviceExtendedProperties</a:t>
            </a:r>
            <a:r>
              <a:rPr lang="en-US" sz="1400" dirty="0" err="1">
                <a:latin typeface="Consolas" pitchFamily="49" charset="0"/>
                <a:cs typeface="Consolas" pitchFamily="49" charset="0"/>
              </a:rPr>
              <a:t>.GetValue</a:t>
            </a:r>
            <a:r>
              <a:rPr lang="en-US" sz="1400" dirty="0">
                <a:latin typeface="Consolas" pitchFamily="49" charset="0"/>
                <a:cs typeface="Consolas" pitchFamily="49" charset="0"/>
              </a:rPr>
              <a:t>(</a:t>
            </a:r>
            <a:r>
              <a:rPr lang="en-US" sz="1400" dirty="0">
                <a:solidFill>
                  <a:srgbClr val="A31515"/>
                </a:solidFill>
                <a:latin typeface="Consolas" pitchFamily="49" charset="0"/>
                <a:cs typeface="Consolas" pitchFamily="49" charset="0"/>
              </a:rPr>
              <a:t>"</a:t>
            </a:r>
            <a:r>
              <a:rPr lang="en-US" sz="1400" dirty="0" err="1">
                <a:solidFill>
                  <a:srgbClr val="A31515"/>
                </a:solidFill>
                <a:latin typeface="Consolas" pitchFamily="49" charset="0"/>
                <a:cs typeface="Consolas" pitchFamily="49" charset="0"/>
              </a:rPr>
              <a:t>ApplicationPeakMemoryUsage</a:t>
            </a:r>
            <a:r>
              <a:rPr lang="en-US" sz="1400" dirty="0">
                <a:solidFill>
                  <a:srgbClr val="A31515"/>
                </a:solidFill>
                <a:latin typeface="Consolas" pitchFamily="49" charset="0"/>
                <a:cs typeface="Consolas" pitchFamily="49" charset="0"/>
              </a:rPr>
              <a:t>"</a:t>
            </a:r>
            <a:r>
              <a:rPr lang="en-US" sz="1400" dirty="0">
                <a:latin typeface="Consolas" pitchFamily="49" charset="0"/>
                <a:cs typeface="Consolas" pitchFamily="49" charset="0"/>
              </a:rPr>
              <a:t>);</a:t>
            </a:r>
            <a:br>
              <a:rPr lang="en-US" sz="1400" dirty="0">
                <a:latin typeface="Consolas" pitchFamily="49" charset="0"/>
                <a:cs typeface="Consolas" pitchFamily="49" charset="0"/>
              </a:rPr>
            </a:br>
            <a:r>
              <a:rPr lang="en-US" sz="1400" dirty="0" err="1" smtClean="0">
                <a:solidFill>
                  <a:srgbClr val="0000FF"/>
                </a:solidFill>
                <a:latin typeface="Consolas" pitchFamily="49" charset="0"/>
                <a:cs typeface="Consolas" pitchFamily="49" charset="0"/>
              </a:rPr>
              <a:t>var</a:t>
            </a:r>
            <a:r>
              <a:rPr lang="en-US" sz="1400" dirty="0">
                <a:latin typeface="Consolas" pitchFamily="49" charset="0"/>
                <a:cs typeface="Consolas" pitchFamily="49" charset="0"/>
              </a:rPr>
              <a:t> </a:t>
            </a:r>
            <a:r>
              <a:rPr lang="en-US" sz="1400" dirty="0" err="1" smtClean="0">
                <a:latin typeface="Consolas" pitchFamily="49" charset="0"/>
                <a:cs typeface="Consolas" pitchFamily="49" charset="0"/>
              </a:rPr>
              <a:t>managedMemory</a:t>
            </a:r>
            <a:r>
              <a:rPr lang="en-US" sz="1400" dirty="0">
                <a:latin typeface="Consolas" pitchFamily="49" charset="0"/>
                <a:cs typeface="Consolas" pitchFamily="49" charset="0"/>
              </a:rPr>
              <a:t> = </a:t>
            </a:r>
            <a:r>
              <a:rPr lang="en-US" sz="1400" dirty="0" err="1">
                <a:solidFill>
                  <a:srgbClr val="2B91AF"/>
                </a:solidFill>
                <a:latin typeface="Consolas" pitchFamily="49" charset="0"/>
                <a:cs typeface="Consolas" pitchFamily="49" charset="0"/>
              </a:rPr>
              <a:t>GC</a:t>
            </a:r>
            <a:r>
              <a:rPr lang="en-US" sz="1400" dirty="0" err="1">
                <a:latin typeface="Consolas" pitchFamily="49" charset="0"/>
                <a:cs typeface="Consolas" pitchFamily="49" charset="0"/>
              </a:rPr>
              <a:t>.GetTotalMemory</a:t>
            </a:r>
            <a:r>
              <a:rPr lang="en-US" sz="1400" dirty="0">
                <a:latin typeface="Consolas" pitchFamily="49" charset="0"/>
                <a:cs typeface="Consolas" pitchFamily="49" charset="0"/>
              </a:rPr>
              <a:t>(</a:t>
            </a:r>
            <a:r>
              <a:rPr lang="en-US" sz="1400" dirty="0">
                <a:solidFill>
                  <a:srgbClr val="0000FF"/>
                </a:solidFill>
                <a:latin typeface="Consolas" pitchFamily="49" charset="0"/>
                <a:cs typeface="Consolas" pitchFamily="49" charset="0"/>
              </a:rPr>
              <a:t>false</a:t>
            </a:r>
            <a:r>
              <a:rPr lang="en-US" sz="1400" dirty="0" smtClean="0">
                <a:latin typeface="Consolas" pitchFamily="49" charset="0"/>
                <a:cs typeface="Consolas" pitchFamily="49" charset="0"/>
              </a:rPr>
              <a:t>);</a:t>
            </a:r>
            <a:endParaRPr lang="en-GB" sz="1400" b="1" spc="-150" dirty="0">
              <a:gradFill>
                <a:gsLst>
                  <a:gs pos="0">
                    <a:srgbClr val="737373"/>
                  </a:gs>
                  <a:gs pos="86000">
                    <a:srgbClr val="737373"/>
                  </a:gs>
                </a:gsLst>
                <a:lin ang="5400000" scaled="0"/>
              </a:gradFill>
              <a:latin typeface="Consolas" pitchFamily="49" charset="0"/>
              <a:cs typeface="Consolas" pitchFamily="49" charset="0"/>
            </a:endParaRPr>
          </a:p>
        </p:txBody>
      </p:sp>
    </p:spTree>
    <p:extLst>
      <p:ext uri="{BB962C8B-B14F-4D97-AF65-F5344CB8AC3E}">
        <p14:creationId xmlns:p14="http://schemas.microsoft.com/office/powerpoint/2010/main" val="308816382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 Rate Counters</a:t>
            </a:r>
            <a:endParaRPr lang="en-US" dirty="0"/>
          </a:p>
        </p:txBody>
      </p:sp>
      <p:sp>
        <p:nvSpPr>
          <p:cNvPr id="3" name="Text Placeholder 2"/>
          <p:cNvSpPr>
            <a:spLocks noGrp="1"/>
          </p:cNvSpPr>
          <p:nvPr>
            <p:ph type="body" sz="quarter" idx="10"/>
          </p:nvPr>
        </p:nvSpPr>
        <p:spPr>
          <a:xfrm>
            <a:off x="381000" y="1447800"/>
            <a:ext cx="8363938" cy="4813625"/>
          </a:xfrm>
        </p:spPr>
        <p:txBody>
          <a:bodyPr/>
          <a:lstStyle/>
          <a:p>
            <a:r>
              <a:rPr lang="en-US" dirty="0" smtClean="0"/>
              <a:t>Default projects enable the counters when a debugger is attached</a:t>
            </a:r>
          </a:p>
          <a:p>
            <a:r>
              <a:rPr lang="en-US" dirty="0" smtClean="0"/>
              <a:t>Find out more about the counters (</a:t>
            </a:r>
            <a:r>
              <a:rPr lang="en-US" dirty="0" smtClean="0">
                <a:hlinkClick r:id="rId2"/>
              </a:rPr>
              <a:t>link</a:t>
            </a:r>
            <a:r>
              <a:rPr lang="en-US" dirty="0" smtClean="0"/>
              <a:t>)</a:t>
            </a:r>
          </a:p>
          <a:p>
            <a:r>
              <a:rPr lang="en-US" dirty="0" smtClean="0"/>
              <a:t>Left to right:</a:t>
            </a:r>
          </a:p>
          <a:p>
            <a:pPr lvl="1"/>
            <a:r>
              <a:rPr lang="en-US" dirty="0" smtClean="0"/>
              <a:t>Compositor Thread frames per second (fps)</a:t>
            </a:r>
          </a:p>
          <a:p>
            <a:pPr lvl="1"/>
            <a:r>
              <a:rPr lang="en-US" dirty="0" smtClean="0"/>
              <a:t>UI Thread fps</a:t>
            </a:r>
          </a:p>
          <a:p>
            <a:pPr lvl="1"/>
            <a:r>
              <a:rPr lang="en-US" dirty="0" smtClean="0"/>
              <a:t>Texture memory use</a:t>
            </a:r>
          </a:p>
          <a:p>
            <a:pPr lvl="1"/>
            <a:r>
              <a:rPr lang="en-US" dirty="0" smtClean="0"/>
              <a:t>Surface counter</a:t>
            </a:r>
          </a:p>
          <a:p>
            <a:pPr lvl="1"/>
            <a:r>
              <a:rPr lang="en-US" dirty="0" smtClean="0"/>
              <a:t>Intermediate overlay texture count</a:t>
            </a:r>
          </a:p>
          <a:p>
            <a:pPr lvl="1"/>
            <a:r>
              <a:rPr lang="en-US" dirty="0" smtClean="0"/>
              <a:t>Screen Fill Rate (TIP: &lt; 2.50)</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76</a:t>
            </a:fld>
            <a:endParaRPr lang="en-US" dirty="0">
              <a:solidFill>
                <a:srgbClr val="6BBD46"/>
              </a:solidFill>
            </a:endParaRPr>
          </a:p>
        </p:txBody>
      </p:sp>
    </p:spTree>
    <p:extLst>
      <p:ext uri="{BB962C8B-B14F-4D97-AF65-F5344CB8AC3E}">
        <p14:creationId xmlns:p14="http://schemas.microsoft.com/office/powerpoint/2010/main" val="10817879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Limitations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77</a:t>
            </a:fld>
            <a:endParaRPr lang="en-US" dirty="0"/>
          </a:p>
        </p:txBody>
      </p:sp>
    </p:spTree>
    <p:extLst>
      <p:ext uri="{BB962C8B-B14F-4D97-AF65-F5344CB8AC3E}">
        <p14:creationId xmlns:p14="http://schemas.microsoft.com/office/powerpoint/2010/main" val="26774031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It’s a new platform!</a:t>
            </a:r>
            <a:endParaRPr lang="en-US" dirty="0"/>
          </a:p>
        </p:txBody>
      </p:sp>
      <p:sp>
        <p:nvSpPr>
          <p:cNvPr id="3" name="Text Placeholder 2"/>
          <p:cNvSpPr>
            <a:spLocks noGrp="1"/>
          </p:cNvSpPr>
          <p:nvPr>
            <p:ph type="body" sz="quarter" idx="10"/>
          </p:nvPr>
        </p:nvSpPr>
        <p:spPr>
          <a:xfrm>
            <a:off x="381000" y="1447800"/>
            <a:ext cx="8363938" cy="984885"/>
          </a:xfrm>
        </p:spPr>
        <p:txBody>
          <a:bodyPr/>
          <a:lstStyle/>
          <a:p>
            <a:r>
              <a:rPr lang="en-US" dirty="0" smtClean="0"/>
              <a:t>This is a first version named 7</a:t>
            </a:r>
          </a:p>
          <a:p>
            <a:r>
              <a:rPr lang="en-US" dirty="0" smtClean="0"/>
              <a:t>We’re committed to providing platform updates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78</a:t>
            </a:fld>
            <a:endParaRPr lang="en-US" dirty="0">
              <a:solidFill>
                <a:srgbClr val="6BBD46"/>
              </a:solidFill>
            </a:endParaRPr>
          </a:p>
        </p:txBody>
      </p:sp>
      <p:sp>
        <p:nvSpPr>
          <p:cNvPr id="5" name="Title 1"/>
          <p:cNvSpPr txBox="1">
            <a:spLocks/>
          </p:cNvSpPr>
          <p:nvPr/>
        </p:nvSpPr>
        <p:spPr>
          <a:xfrm>
            <a:off x="381000" y="3093116"/>
            <a:ext cx="8363938" cy="664797"/>
          </a:xfrm>
          <a:prstGeom prst="rect">
            <a:avLst/>
          </a:prstGeom>
        </p:spPr>
        <p:txBody>
          <a:bodyPr vert="horz" wrap="square" lIns="0" tIns="0" rIns="0" bIns="0" rtlCol="0" anchor="t">
            <a:spAutoFit/>
          </a:bodyPr>
          <a:lstStyle>
            <a:lvl1pPr algn="l" defTabSz="914363" rtl="0" eaLnBrk="1" latinLnBrk="0" hangingPunct="1">
              <a:lnSpc>
                <a:spcPct val="90000"/>
              </a:lnSpc>
              <a:spcBef>
                <a:spcPct val="0"/>
              </a:spcBef>
              <a:buNone/>
              <a:defRPr lang="en-US" sz="4800" b="0" kern="1200" cap="none" spc="-150" baseline="0" dirty="0" smtClean="0">
                <a:ln w="3175">
                  <a:noFill/>
                </a:ln>
                <a:gradFill flip="none" rotWithShape="1">
                  <a:gsLst>
                    <a:gs pos="0">
                      <a:schemeClr val="tx2"/>
                    </a:gs>
                    <a:gs pos="86000">
                      <a:schemeClr val="tx2"/>
                    </a:gs>
                  </a:gsLst>
                  <a:lin ang="5400000" scaled="0"/>
                  <a:tileRect/>
                </a:gradFill>
                <a:effectLst/>
                <a:latin typeface="Segoe Light" pitchFamily="34" charset="0"/>
                <a:ea typeface="+mn-ea"/>
                <a:cs typeface="Arial" charset="0"/>
              </a:defRPr>
            </a:lvl1pPr>
          </a:lstStyle>
          <a:p>
            <a:r>
              <a:rPr lang="en-US" dirty="0" smtClean="0"/>
              <a:t>What the OS doesn’t do today</a:t>
            </a:r>
            <a:endParaRPr lang="en-US" dirty="0"/>
          </a:p>
        </p:txBody>
      </p:sp>
      <p:sp>
        <p:nvSpPr>
          <p:cNvPr id="6" name="Text Placeholder 2"/>
          <p:cNvSpPr txBox="1">
            <a:spLocks/>
          </p:cNvSpPr>
          <p:nvPr/>
        </p:nvSpPr>
        <p:spPr>
          <a:xfrm>
            <a:off x="381000" y="4109116"/>
            <a:ext cx="8363938" cy="984885"/>
          </a:xfrm>
          <a:prstGeom prst="rect">
            <a:avLst/>
          </a:prstGeom>
        </p:spPr>
        <p:txBody>
          <a:bodyPr vert="horz" wrap="square" lIns="0" tIns="0" rIns="0" bIns="0" rtlCol="0">
            <a:spAutoFit/>
          </a:bodyPr>
          <a:lstStyle>
            <a:lvl1pPr marL="347663" indent="-347663" algn="l" defTabSz="914363" rtl="0" eaLnBrk="1" latinLnBrk="0" hangingPunct="1">
              <a:lnSpc>
                <a:spcPct val="90000"/>
              </a:lnSpc>
              <a:spcBef>
                <a:spcPct val="20000"/>
              </a:spcBef>
              <a:buClr>
                <a:schemeClr val="accent1"/>
              </a:buClr>
              <a:buSzPct val="100000"/>
              <a:buFont typeface="Wingdings" pitchFamily="2" charset="2"/>
              <a:buChar char="§"/>
              <a:defRPr sz="3200" kern="1200" spc="-150">
                <a:gradFill>
                  <a:gsLst>
                    <a:gs pos="0">
                      <a:srgbClr val="737373"/>
                    </a:gs>
                    <a:gs pos="86000">
                      <a:srgbClr val="737373"/>
                    </a:gs>
                  </a:gsLst>
                  <a:lin ang="5400000" scaled="0"/>
                </a:gradFill>
                <a:latin typeface="Segoe Light" pitchFamily="34" charset="0"/>
                <a:ea typeface="+mn-ea"/>
                <a:cs typeface="+mn-cs"/>
              </a:defRPr>
            </a:lvl1pPr>
            <a:lvl2pPr marL="744538" indent="-284163" algn="l" defTabSz="914363" rtl="0" eaLnBrk="1" latinLnBrk="0" hangingPunct="1">
              <a:lnSpc>
                <a:spcPct val="90000"/>
              </a:lnSpc>
              <a:spcBef>
                <a:spcPct val="20000"/>
              </a:spcBef>
              <a:buClr>
                <a:schemeClr val="tx2"/>
              </a:buClr>
              <a:buSzPct val="100000"/>
              <a:buFont typeface="Wingdings" pitchFamily="2" charset="2"/>
              <a:buChar char="§"/>
              <a:defRPr sz="2800" kern="1200" spc="-150">
                <a:gradFill>
                  <a:gsLst>
                    <a:gs pos="0">
                      <a:srgbClr val="737373"/>
                    </a:gs>
                    <a:gs pos="86000">
                      <a:srgbClr val="737373"/>
                    </a:gs>
                  </a:gsLst>
                  <a:lin ang="5400000" scaled="0"/>
                </a:gradFill>
                <a:latin typeface="Segoe Light" pitchFamily="34" charset="0"/>
                <a:ea typeface="+mn-ea"/>
                <a:cs typeface="+mn-cs"/>
              </a:defRPr>
            </a:lvl2pPr>
            <a:lvl3pPr marL="1143000" indent="-287338" algn="l" defTabSz="914363" rtl="0" eaLnBrk="1" latinLnBrk="0" hangingPunct="1">
              <a:lnSpc>
                <a:spcPct val="90000"/>
              </a:lnSpc>
              <a:spcBef>
                <a:spcPct val="20000"/>
              </a:spcBef>
              <a:buClr>
                <a:schemeClr val="tx2"/>
              </a:buClr>
              <a:buSzPct val="100000"/>
              <a:buFont typeface="Wingdings" pitchFamily="2" charset="2"/>
              <a:buChar char="§"/>
              <a:defRPr sz="2400" kern="1200" spc="-150">
                <a:gradFill>
                  <a:gsLst>
                    <a:gs pos="0">
                      <a:srgbClr val="737373"/>
                    </a:gs>
                    <a:gs pos="86000">
                      <a:srgbClr val="737373"/>
                    </a:gs>
                  </a:gsLst>
                  <a:lin ang="5400000" scaled="0"/>
                </a:gradFill>
                <a:latin typeface="Segoe Light" pitchFamily="34" charset="0"/>
                <a:ea typeface="+mn-ea"/>
                <a:cs typeface="+mn-cs"/>
              </a:defRPr>
            </a:lvl3pPr>
            <a:lvl4pPr marL="1490663" indent="-231775"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4pPr>
            <a:lvl5pPr marL="1828800" indent="-223838" algn="l" defTabSz="914363" rtl="0" eaLnBrk="1" latinLnBrk="0" hangingPunct="1">
              <a:lnSpc>
                <a:spcPct val="90000"/>
              </a:lnSpc>
              <a:spcBef>
                <a:spcPct val="20000"/>
              </a:spcBef>
              <a:buClr>
                <a:schemeClr val="tx2"/>
              </a:buClr>
              <a:buSzPct val="100000"/>
              <a:buFont typeface="Wingdings" pitchFamily="2" charset="2"/>
              <a:buChar char="§"/>
              <a:defRPr sz="2000" kern="1200" spc="-150">
                <a:gradFill>
                  <a:gsLst>
                    <a:gs pos="0">
                      <a:srgbClr val="737373"/>
                    </a:gs>
                    <a:gs pos="86000">
                      <a:srgbClr val="737373"/>
                    </a:gs>
                  </a:gsLst>
                  <a:lin ang="5400000" scaled="0"/>
                </a:gradFill>
                <a:latin typeface="Segoe Light" pitchFamily="34"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mtClean="0"/>
              <a:t>Multitasking</a:t>
            </a:r>
          </a:p>
          <a:p>
            <a:r>
              <a:rPr lang="en-US" smtClean="0"/>
              <a:t>Copy &amp; paste</a:t>
            </a:r>
            <a:endParaRPr lang="en-US" dirty="0"/>
          </a:p>
        </p:txBody>
      </p:sp>
    </p:spTree>
    <p:extLst>
      <p:ext uri="{BB962C8B-B14F-4D97-AF65-F5344CB8AC3E}">
        <p14:creationId xmlns:p14="http://schemas.microsoft.com/office/powerpoint/2010/main" val="16140061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Silverlight limitations on the phone</a:t>
            </a:r>
            <a:endParaRPr lang="en-US" dirty="0"/>
          </a:p>
        </p:txBody>
      </p:sp>
      <p:sp>
        <p:nvSpPr>
          <p:cNvPr id="3" name="Text Placeholder 2"/>
          <p:cNvSpPr>
            <a:spLocks noGrp="1"/>
          </p:cNvSpPr>
          <p:nvPr>
            <p:ph type="body" sz="quarter" idx="10"/>
          </p:nvPr>
        </p:nvSpPr>
        <p:spPr>
          <a:xfrm>
            <a:off x="381000" y="1447800"/>
            <a:ext cx="8363938" cy="3637919"/>
          </a:xfrm>
        </p:spPr>
        <p:txBody>
          <a:bodyPr/>
          <a:lstStyle/>
          <a:p>
            <a:r>
              <a:rPr lang="en-US" dirty="0" err="1" smtClean="0"/>
              <a:t>Shaders</a:t>
            </a:r>
            <a:r>
              <a:rPr lang="en-US" dirty="0" smtClean="0"/>
              <a:t> and effects</a:t>
            </a:r>
          </a:p>
          <a:p>
            <a:r>
              <a:rPr lang="en-US" dirty="0" smtClean="0"/>
              <a:t>No ellipsis/text trimming built into the framework</a:t>
            </a:r>
          </a:p>
          <a:p>
            <a:r>
              <a:rPr lang="en-US" dirty="0" smtClean="0"/>
              <a:t>No 24-bit color in Silverlight</a:t>
            </a:r>
            <a:endParaRPr lang="en-US" dirty="0"/>
          </a:p>
          <a:p>
            <a:pPr lvl="1"/>
            <a:r>
              <a:rPr lang="en-US" dirty="0" smtClean="0"/>
              <a:t>TIP:</a:t>
            </a:r>
            <a:br>
              <a:rPr lang="en-US" dirty="0" smtClean="0"/>
            </a:br>
            <a:r>
              <a:rPr lang="en-US" dirty="0" smtClean="0"/>
              <a:t>Avoid defining gradients that may exhibit banding</a:t>
            </a:r>
          </a:p>
          <a:p>
            <a:pPr lvl="1"/>
            <a:r>
              <a:rPr lang="en-US" dirty="0" smtClean="0"/>
              <a:t>TIP:</a:t>
            </a:r>
            <a:br>
              <a:rPr lang="en-US" dirty="0" smtClean="0"/>
            </a:br>
            <a:r>
              <a:rPr lang="en-US" dirty="0" smtClean="0"/>
              <a:t>Use image dithering for gradients if required for your brand</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79</a:t>
            </a:fld>
            <a:endParaRPr lang="en-US" dirty="0">
              <a:solidFill>
                <a:srgbClr val="6BBD46"/>
              </a:solidFill>
            </a:endParaRPr>
          </a:p>
        </p:txBody>
      </p:sp>
    </p:spTree>
    <p:extLst>
      <p:ext uri="{BB962C8B-B14F-4D97-AF65-F5344CB8AC3E}">
        <p14:creationId xmlns:p14="http://schemas.microsoft.com/office/powerpoint/2010/main" val="21222684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platform limitations today</a:t>
            </a:r>
            <a:endParaRPr lang="en-US" dirty="0"/>
          </a:p>
        </p:txBody>
      </p:sp>
      <p:sp>
        <p:nvSpPr>
          <p:cNvPr id="3" name="Text Placeholder 2"/>
          <p:cNvSpPr>
            <a:spLocks noGrp="1"/>
          </p:cNvSpPr>
          <p:nvPr>
            <p:ph type="body" sz="quarter" idx="10"/>
          </p:nvPr>
        </p:nvSpPr>
        <p:spPr>
          <a:xfrm>
            <a:off x="381000" y="1447800"/>
            <a:ext cx="8363938" cy="2609945"/>
          </a:xfrm>
        </p:spPr>
        <p:txBody>
          <a:bodyPr/>
          <a:lstStyle/>
          <a:p>
            <a:r>
              <a:rPr lang="en-US" dirty="0" smtClean="0"/>
              <a:t>No Sockets</a:t>
            </a:r>
          </a:p>
          <a:p>
            <a:r>
              <a:rPr lang="en-US" dirty="0" smtClean="0"/>
              <a:t>No built-in relational database</a:t>
            </a:r>
          </a:p>
          <a:p>
            <a:r>
              <a:rPr lang="en-US" dirty="0" smtClean="0"/>
              <a:t>No platform invoke (p/invoke)</a:t>
            </a:r>
          </a:p>
          <a:p>
            <a:r>
              <a:rPr lang="en-US" dirty="0" smtClean="0"/>
              <a:t>No native code development option</a:t>
            </a:r>
          </a:p>
          <a:p>
            <a:r>
              <a:rPr lang="en-US" dirty="0" smtClean="0"/>
              <a:t>Cannot access live video feed from the camera</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80</a:t>
            </a:fld>
            <a:endParaRPr lang="en-US" dirty="0">
              <a:solidFill>
                <a:srgbClr val="6BBD46"/>
              </a:solidFill>
            </a:endParaRPr>
          </a:p>
        </p:txBody>
      </p:sp>
    </p:spTree>
    <p:extLst>
      <p:ext uri="{BB962C8B-B14F-4D97-AF65-F5344CB8AC3E}">
        <p14:creationId xmlns:p14="http://schemas.microsoft.com/office/powerpoint/2010/main" val="25558901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Application Lifetime</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81</a:t>
            </a:fld>
            <a:endParaRPr lang="en-US" dirty="0"/>
          </a:p>
        </p:txBody>
      </p:sp>
    </p:spTree>
    <p:extLst>
      <p:ext uri="{BB962C8B-B14F-4D97-AF65-F5344CB8AC3E}">
        <p14:creationId xmlns:p14="http://schemas.microsoft.com/office/powerpoint/2010/main" val="6801312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world of interruptions”</a:t>
            </a:r>
            <a:endParaRPr lang="en-US" dirty="0"/>
          </a:p>
        </p:txBody>
      </p:sp>
      <p:sp>
        <p:nvSpPr>
          <p:cNvPr id="3" name="Text Placeholder 2"/>
          <p:cNvSpPr>
            <a:spLocks noGrp="1"/>
          </p:cNvSpPr>
          <p:nvPr>
            <p:ph type="body" sz="quarter" idx="10"/>
          </p:nvPr>
        </p:nvSpPr>
        <p:spPr>
          <a:xfrm>
            <a:off x="381000" y="1447800"/>
            <a:ext cx="8363938" cy="3151632"/>
          </a:xfrm>
        </p:spPr>
        <p:txBody>
          <a:bodyPr/>
          <a:lstStyle/>
          <a:p>
            <a:r>
              <a:rPr lang="en-US" dirty="0" smtClean="0"/>
              <a:t>Phone calls</a:t>
            </a:r>
          </a:p>
          <a:p>
            <a:r>
              <a:rPr lang="en-US" dirty="0" smtClean="0"/>
              <a:t>Texts</a:t>
            </a:r>
          </a:p>
          <a:p>
            <a:r>
              <a:rPr lang="en-US" dirty="0" smtClean="0"/>
              <a:t>Reminders</a:t>
            </a:r>
          </a:p>
          <a:p>
            <a:r>
              <a:rPr lang="en-US" dirty="0" smtClean="0"/>
              <a:t>Low battery!</a:t>
            </a:r>
          </a:p>
          <a:p>
            <a:r>
              <a:rPr lang="en-US" dirty="0" smtClean="0"/>
              <a:t>Changing apps</a:t>
            </a:r>
          </a:p>
          <a:p>
            <a:r>
              <a:rPr lang="en-US" dirty="0" smtClean="0"/>
              <a:t>Lock screen</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82</a:t>
            </a:fld>
            <a:endParaRPr lang="en-US" dirty="0">
              <a:solidFill>
                <a:srgbClr val="6BBD46"/>
              </a:solidFill>
            </a:endParaRPr>
          </a:p>
        </p:txBody>
      </p:sp>
    </p:spTree>
    <p:extLst>
      <p:ext uri="{BB962C8B-B14F-4D97-AF65-F5344CB8AC3E}">
        <p14:creationId xmlns:p14="http://schemas.microsoft.com/office/powerpoint/2010/main" val="89476043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1800"/>
            <a:ext cx="8363938" cy="664797"/>
          </a:xfrm>
        </p:spPr>
        <p:txBody>
          <a:bodyPr/>
          <a:lstStyle/>
          <a:p>
            <a:r>
              <a:rPr lang="en-US" dirty="0" smtClean="0"/>
              <a:t>One app at a time</a:t>
            </a:r>
            <a:endParaRPr lang="en-US" dirty="0"/>
          </a:p>
        </p:txBody>
      </p:sp>
      <p:sp>
        <p:nvSpPr>
          <p:cNvPr id="3" name="Text Placeholder 2"/>
          <p:cNvSpPr>
            <a:spLocks noGrp="1"/>
          </p:cNvSpPr>
          <p:nvPr>
            <p:ph type="body" sz="quarter" idx="10"/>
          </p:nvPr>
        </p:nvSpPr>
        <p:spPr>
          <a:xfrm>
            <a:off x="353705" y="1310186"/>
            <a:ext cx="8363938" cy="4130361"/>
          </a:xfrm>
        </p:spPr>
        <p:txBody>
          <a:bodyPr/>
          <a:lstStyle/>
          <a:p>
            <a:r>
              <a:rPr lang="en-US" dirty="0" smtClean="0"/>
              <a:t>WP7 maximizes app performance &amp; resource use</a:t>
            </a:r>
          </a:p>
          <a:p>
            <a:pPr lvl="1"/>
            <a:r>
              <a:rPr lang="en-US" dirty="0" smtClean="0"/>
              <a:t>Only one app in the foreground at a time</a:t>
            </a:r>
          </a:p>
          <a:p>
            <a:pPr lvl="1"/>
            <a:r>
              <a:rPr lang="en-US" dirty="0" smtClean="0"/>
              <a:t>OS terminates your app when the user navigates away</a:t>
            </a:r>
          </a:p>
          <a:p>
            <a:pPr lvl="1"/>
            <a:r>
              <a:rPr lang="en-US" dirty="0" smtClean="0"/>
              <a:t>OS may terminate your app if something else takes over the screen</a:t>
            </a:r>
          </a:p>
          <a:p>
            <a:r>
              <a:rPr lang="en-US" dirty="0" smtClean="0"/>
              <a:t>Your app is </a:t>
            </a:r>
            <a:r>
              <a:rPr lang="en-US" b="1" dirty="0" err="1" smtClean="0"/>
              <a:t>Tombstoned</a:t>
            </a:r>
            <a:r>
              <a:rPr lang="en-US" dirty="0" smtClean="0"/>
              <a:t> when user hits Start</a:t>
            </a:r>
          </a:p>
          <a:p>
            <a:pPr lvl="1"/>
            <a:r>
              <a:rPr lang="en-US" dirty="0" smtClean="0"/>
              <a:t>Save state information</a:t>
            </a:r>
          </a:p>
          <a:p>
            <a:pPr lvl="1"/>
            <a:r>
              <a:rPr lang="en-US" dirty="0" smtClean="0"/>
              <a:t>When the user comes back, new app instance is started and provided the state info</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83</a:t>
            </a:fld>
            <a:endParaRPr lang="en-US" dirty="0">
              <a:solidFill>
                <a:srgbClr val="6BBD46"/>
              </a:solidFill>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3061" y="3528506"/>
            <a:ext cx="831581" cy="917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85878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Lifecycle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84</a:t>
            </a:fld>
            <a:endParaRPr lang="en-US" dirty="0">
              <a:solidFill>
                <a:srgbClr val="6BBD46"/>
              </a:solidFill>
            </a:endParaRPr>
          </a:p>
        </p:txBody>
      </p:sp>
      <p:graphicFrame>
        <p:nvGraphicFramePr>
          <p:cNvPr id="5" name="Content Placeholder 4"/>
          <p:cNvGraphicFramePr>
            <a:graphicFrameLocks/>
          </p:cNvGraphicFramePr>
          <p:nvPr>
            <p:extLst>
              <p:ext uri="{D42A27DB-BD31-4B8C-83A1-F6EECF244321}">
                <p14:modId xmlns:p14="http://schemas.microsoft.com/office/powerpoint/2010/main" val="4161652270"/>
              </p:ext>
            </p:extLst>
          </p:nvPr>
        </p:nvGraphicFramePr>
        <p:xfrm>
          <a:off x="1865865" y="1152144"/>
          <a:ext cx="5413991" cy="5313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4"/>
          <p:cNvSpPr txBox="1">
            <a:spLocks/>
          </p:cNvSpPr>
          <p:nvPr/>
        </p:nvSpPr>
        <p:spPr>
          <a:xfrm>
            <a:off x="99309" y="1966192"/>
            <a:ext cx="2757928" cy="1200329"/>
          </a:xfrm>
          <a:prstGeom prst="rect">
            <a:avLst/>
          </a:prstGeom>
        </p:spPr>
        <p:txBody>
          <a:bodyPr wrap="square">
            <a:spAutoFit/>
          </a:bodyPr>
          <a:lstStyle>
            <a:lvl1pPr marL="460375" indent="-460375" algn="l" defTabSz="914363" rtl="0" eaLnBrk="1" latinLnBrk="0" hangingPunct="1">
              <a:lnSpc>
                <a:spcPct val="90000"/>
              </a:lnSpc>
              <a:spcBef>
                <a:spcPct val="20000"/>
              </a:spcBef>
              <a:buSzPct val="100000"/>
              <a:buFontTx/>
              <a:buBlip>
                <a:blip r:embed="rId7"/>
              </a:buBlip>
              <a:defRPr lang="en-US" sz="2800" kern="1200" dirty="0" smtClean="0">
                <a:gradFill>
                  <a:gsLst>
                    <a:gs pos="0">
                      <a:schemeClr val="tx1"/>
                    </a:gs>
                    <a:gs pos="86000">
                      <a:schemeClr val="tx1"/>
                    </a:gs>
                  </a:gsLst>
                  <a:lin ang="0" scaled="0"/>
                </a:gradFill>
                <a:latin typeface="+mj-lt"/>
                <a:ea typeface="+mn-ea"/>
                <a:cs typeface="+mn-cs"/>
              </a:defRPr>
            </a:lvl1pPr>
            <a:lvl2pPr marL="855663" indent="-395288" algn="l" defTabSz="914363" rtl="0" eaLnBrk="1" latinLnBrk="0" hangingPunct="1">
              <a:lnSpc>
                <a:spcPct val="90000"/>
              </a:lnSpc>
              <a:spcBef>
                <a:spcPct val="20000"/>
              </a:spcBef>
              <a:buSzPct val="100000"/>
              <a:buFontTx/>
              <a:buBlip>
                <a:blip r:embed="rId7"/>
              </a:buBlip>
              <a:defRPr lang="en-US" sz="2600" kern="1200" dirty="0" smtClean="0">
                <a:gradFill>
                  <a:gsLst>
                    <a:gs pos="0">
                      <a:schemeClr val="tx1"/>
                    </a:gs>
                    <a:gs pos="86000">
                      <a:schemeClr val="tx1"/>
                    </a:gs>
                  </a:gsLst>
                  <a:lin ang="0" scaled="0"/>
                </a:gradFill>
                <a:latin typeface="+mj-lt"/>
                <a:ea typeface="+mn-ea"/>
                <a:cs typeface="+mn-cs"/>
              </a:defRPr>
            </a:lvl2pPr>
            <a:lvl3pPr marL="1258888" indent="-403225" algn="l" defTabSz="914363" rtl="0" eaLnBrk="1" latinLnBrk="0" hangingPunct="1">
              <a:lnSpc>
                <a:spcPct val="90000"/>
              </a:lnSpc>
              <a:spcBef>
                <a:spcPct val="20000"/>
              </a:spcBef>
              <a:buSzPct val="100000"/>
              <a:buFontTx/>
              <a:buBlip>
                <a:blip r:embed="rId7"/>
              </a:buBlip>
              <a:defRPr lang="en-US" sz="2400" kern="1200" dirty="0" smtClean="0">
                <a:gradFill>
                  <a:gsLst>
                    <a:gs pos="0">
                      <a:schemeClr val="tx1"/>
                    </a:gs>
                    <a:gs pos="86000">
                      <a:schemeClr val="tx1"/>
                    </a:gs>
                  </a:gsLst>
                  <a:lin ang="0" scaled="0"/>
                </a:gradFill>
                <a:latin typeface="+mj-lt"/>
                <a:ea typeface="+mn-ea"/>
                <a:cs typeface="+mn-cs"/>
              </a:defRPr>
            </a:lvl3pPr>
            <a:lvl4pPr marL="1604963" indent="-346075" algn="l" defTabSz="914363" rtl="0" eaLnBrk="1" latinLnBrk="0" hangingPunct="1">
              <a:lnSpc>
                <a:spcPct val="90000"/>
              </a:lnSpc>
              <a:spcBef>
                <a:spcPct val="20000"/>
              </a:spcBef>
              <a:buSzPct val="100000"/>
              <a:buFontTx/>
              <a:buBlip>
                <a:blip r:embed="rId7"/>
              </a:buBlip>
              <a:defRPr lang="en-US" sz="2200" kern="1200" dirty="0" smtClean="0">
                <a:gradFill>
                  <a:gsLst>
                    <a:gs pos="0">
                      <a:schemeClr val="tx1"/>
                    </a:gs>
                    <a:gs pos="86000">
                      <a:schemeClr val="tx1"/>
                    </a:gs>
                  </a:gsLst>
                  <a:lin ang="0" scaled="0"/>
                </a:gradFill>
                <a:latin typeface="+mj-lt"/>
                <a:ea typeface="+mn-ea"/>
                <a:cs typeface="+mn-cs"/>
              </a:defRPr>
            </a:lvl4pPr>
            <a:lvl5pPr marL="1941513" indent="-336550" algn="l" defTabSz="914363" rtl="0" eaLnBrk="1" latinLnBrk="0" hangingPunct="1">
              <a:lnSpc>
                <a:spcPct val="90000"/>
              </a:lnSpc>
              <a:spcBef>
                <a:spcPct val="20000"/>
              </a:spcBef>
              <a:buSzPct val="100000"/>
              <a:buFontTx/>
              <a:buBlip>
                <a:blip r:embed="rId7"/>
              </a:buBlip>
              <a:defRPr lang="en-US" sz="2000" kern="1200" dirty="0">
                <a:gradFill>
                  <a:gsLst>
                    <a:gs pos="0">
                      <a:schemeClr val="tx1"/>
                    </a:gs>
                    <a:gs pos="86000">
                      <a:schemeClr val="tx1"/>
                    </a:gs>
                  </a:gsLst>
                  <a:lin ang="0" scaled="0"/>
                </a:gradFill>
                <a:latin typeface="+mj-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sz="2000" dirty="0" smtClean="0">
                <a:solidFill>
                  <a:schemeClr val="tx1"/>
                </a:solidFill>
              </a:rPr>
              <a:t>User exits the application (press back from the first page) </a:t>
            </a:r>
            <a:r>
              <a:rPr lang="en-US" sz="2000" dirty="0" smtClean="0">
                <a:solidFill>
                  <a:schemeClr val="tx1"/>
                </a:solidFill>
              </a:rPr>
              <a:t>–</a:t>
            </a:r>
            <a:r>
              <a:rPr sz="2000" dirty="0" smtClean="0">
                <a:solidFill>
                  <a:schemeClr val="tx1"/>
                </a:solidFill>
              </a:rPr>
              <a:t> Closing event</a:t>
            </a:r>
          </a:p>
        </p:txBody>
      </p:sp>
      <p:sp>
        <p:nvSpPr>
          <p:cNvPr id="7" name="TextBox 6"/>
          <p:cNvSpPr txBox="1"/>
          <p:nvPr/>
        </p:nvSpPr>
        <p:spPr>
          <a:xfrm>
            <a:off x="6869841" y="2142737"/>
            <a:ext cx="2274159" cy="1015663"/>
          </a:xfrm>
          <a:prstGeom prst="rect">
            <a:avLst/>
          </a:prstGeom>
          <a:noFill/>
          <a:ln>
            <a:noFill/>
          </a:ln>
        </p:spPr>
        <p:txBody>
          <a:bodyPr wrap="square" rtlCol="0">
            <a:spAutoFit/>
          </a:bodyPr>
          <a:lstStyle/>
          <a:p>
            <a:pPr defTabSz="914363"/>
            <a:r>
              <a:rPr lang="en-US" sz="2000" dirty="0" smtClean="0"/>
              <a:t>User Starts the application – Launching Event</a:t>
            </a:r>
            <a:endParaRPr lang="en-AU" sz="2000" dirty="0"/>
          </a:p>
        </p:txBody>
      </p:sp>
      <p:sp>
        <p:nvSpPr>
          <p:cNvPr id="8" name="Right Arrow 7"/>
          <p:cNvSpPr/>
          <p:nvPr/>
        </p:nvSpPr>
        <p:spPr bwMode="auto">
          <a:xfrm rot="10800000">
            <a:off x="7235587" y="3302000"/>
            <a:ext cx="996286" cy="436728"/>
          </a:xfrm>
          <a:prstGeom prst="rightArrow">
            <a:avLst>
              <a:gd name="adj1" fmla="val 50000"/>
              <a:gd name="adj2" fmla="val 81250"/>
            </a:avLst>
          </a:prstGeom>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spc="-150" dirty="0" smtClean="0">
              <a:gradFill>
                <a:gsLst>
                  <a:gs pos="0">
                    <a:srgbClr val="FFFFFF"/>
                  </a:gs>
                  <a:gs pos="100000">
                    <a:srgbClr val="FFFFFF"/>
                  </a:gs>
                </a:gsLst>
                <a:lin ang="5400000" scaled="0"/>
              </a:gradFill>
              <a:latin typeface="Segoe Light" pitchFamily="34" charset="0"/>
            </a:endParaRPr>
          </a:p>
        </p:txBody>
      </p:sp>
      <p:sp>
        <p:nvSpPr>
          <p:cNvPr id="9" name="Right Arrow 8"/>
          <p:cNvSpPr/>
          <p:nvPr/>
        </p:nvSpPr>
        <p:spPr bwMode="auto">
          <a:xfrm>
            <a:off x="911890" y="3329296"/>
            <a:ext cx="996286" cy="436728"/>
          </a:xfrm>
          <a:prstGeom prst="rightArrow">
            <a:avLst>
              <a:gd name="adj1" fmla="val 50000"/>
              <a:gd name="adj2" fmla="val 81250"/>
            </a:avLst>
          </a:prstGeom>
          <a:solidFill>
            <a:schemeClr val="bg1">
              <a:lumMod val="50000"/>
            </a:schemeClr>
          </a:solidFill>
          <a:ln>
            <a:noFill/>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spc="-150" dirty="0" smtClean="0">
              <a:gradFill>
                <a:gsLst>
                  <a:gs pos="0">
                    <a:srgbClr val="FFFFFF"/>
                  </a:gs>
                  <a:gs pos="100000">
                    <a:srgbClr val="FFFFFF"/>
                  </a:gs>
                </a:gsLst>
                <a:lin ang="5400000" scaled="0"/>
              </a:gradFill>
              <a:latin typeface="Segoe Light" pitchFamily="34" charset="0"/>
            </a:endParaRPr>
          </a:p>
        </p:txBody>
      </p:sp>
    </p:spTree>
    <p:extLst>
      <p:ext uri="{BB962C8B-B14F-4D97-AF65-F5344CB8AC3E}">
        <p14:creationId xmlns:p14="http://schemas.microsoft.com/office/powerpoint/2010/main" val="38998234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graphicEl>
                                              <a:dgm id="{65ECBEB9-F710-4FB5-9FDA-9D7BA5DC9D12}"/>
                                            </p:graphicEl>
                                          </p:spTgt>
                                        </p:tgtEl>
                                        <p:attrNameLst>
                                          <p:attrName>style.visibility</p:attrName>
                                        </p:attrNameLst>
                                      </p:cBhvr>
                                      <p:to>
                                        <p:strVal val="visible"/>
                                      </p:to>
                                    </p:set>
                                    <p:animEffect transition="in" filter="fade">
                                      <p:cBhvr>
                                        <p:cTn id="7" dur="500"/>
                                        <p:tgtEl>
                                          <p:spTgt spid="5">
                                            <p:graphicEl>
                                              <a:dgm id="{65ECBEB9-F710-4FB5-9FDA-9D7BA5DC9D12}"/>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graphicEl>
                                              <a:dgm id="{044FDCD0-2B6D-494B-9863-0CCCAE69F911}"/>
                                            </p:graphicEl>
                                          </p:spTgt>
                                        </p:tgtEl>
                                        <p:attrNameLst>
                                          <p:attrName>style.visibility</p:attrName>
                                        </p:attrNameLst>
                                      </p:cBhvr>
                                      <p:to>
                                        <p:strVal val="visible"/>
                                      </p:to>
                                    </p:set>
                                    <p:animEffect transition="in" filter="fade">
                                      <p:cBhvr>
                                        <p:cTn id="11" dur="500"/>
                                        <p:tgtEl>
                                          <p:spTgt spid="5">
                                            <p:graphicEl>
                                              <a:dgm id="{044FDCD0-2B6D-494B-9863-0CCCAE69F911}"/>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graphicEl>
                                              <a:dgm id="{57172215-9C60-4BCB-BB54-359A4A883967}"/>
                                            </p:graphicEl>
                                          </p:spTgt>
                                        </p:tgtEl>
                                        <p:attrNameLst>
                                          <p:attrName>style.visibility</p:attrName>
                                        </p:attrNameLst>
                                      </p:cBhvr>
                                      <p:to>
                                        <p:strVal val="visible"/>
                                      </p:to>
                                    </p:set>
                                    <p:animEffect transition="in" filter="fade">
                                      <p:cBhvr>
                                        <p:cTn id="15" dur="500"/>
                                        <p:tgtEl>
                                          <p:spTgt spid="5">
                                            <p:graphicEl>
                                              <a:dgm id="{57172215-9C60-4BCB-BB54-359A4A883967}"/>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
                                            <p:graphicEl>
                                              <a:dgm id="{1431B9D6-53E8-4491-8FA1-A49DE8DCC3C5}"/>
                                            </p:graphicEl>
                                          </p:spTgt>
                                        </p:tgtEl>
                                        <p:attrNameLst>
                                          <p:attrName>style.visibility</p:attrName>
                                        </p:attrNameLst>
                                      </p:cBhvr>
                                      <p:to>
                                        <p:strVal val="visible"/>
                                      </p:to>
                                    </p:set>
                                    <p:animEffect transition="in" filter="fade">
                                      <p:cBhvr>
                                        <p:cTn id="19" dur="500"/>
                                        <p:tgtEl>
                                          <p:spTgt spid="5">
                                            <p:graphicEl>
                                              <a:dgm id="{1431B9D6-53E8-4491-8FA1-A49DE8DCC3C5}"/>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
                                            <p:graphicEl>
                                              <a:dgm id="{D56E9F4F-34FA-4AAA-A834-D9584C78E36F}"/>
                                            </p:graphicEl>
                                          </p:spTgt>
                                        </p:tgtEl>
                                        <p:attrNameLst>
                                          <p:attrName>style.visibility</p:attrName>
                                        </p:attrNameLst>
                                      </p:cBhvr>
                                      <p:to>
                                        <p:strVal val="visible"/>
                                      </p:to>
                                    </p:set>
                                    <p:animEffect transition="in" filter="fade">
                                      <p:cBhvr>
                                        <p:cTn id="23" dur="500"/>
                                        <p:tgtEl>
                                          <p:spTgt spid="5">
                                            <p:graphicEl>
                                              <a:dgm id="{D56E9F4F-34FA-4AAA-A834-D9584C78E36F}"/>
                                            </p:graphic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
                                            <p:graphicEl>
                                              <a:dgm id="{E6904C83-A85B-401F-B94C-A4DAEA094A14}"/>
                                            </p:graphicEl>
                                          </p:spTgt>
                                        </p:tgtEl>
                                        <p:attrNameLst>
                                          <p:attrName>style.visibility</p:attrName>
                                        </p:attrNameLst>
                                      </p:cBhvr>
                                      <p:to>
                                        <p:strVal val="visible"/>
                                      </p:to>
                                    </p:set>
                                    <p:animEffect transition="in" filter="fade">
                                      <p:cBhvr>
                                        <p:cTn id="27" dur="500"/>
                                        <p:tgtEl>
                                          <p:spTgt spid="5">
                                            <p:graphicEl>
                                              <a:dgm id="{E6904C83-A85B-401F-B94C-A4DAEA094A14}"/>
                                            </p:graphic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5">
                                            <p:graphicEl>
                                              <a:dgm id="{7A4BFCEB-AA00-4CDD-8D01-040B4C1A01A9}"/>
                                            </p:graphicEl>
                                          </p:spTgt>
                                        </p:tgtEl>
                                        <p:attrNameLst>
                                          <p:attrName>style.visibility</p:attrName>
                                        </p:attrNameLst>
                                      </p:cBhvr>
                                      <p:to>
                                        <p:strVal val="visible"/>
                                      </p:to>
                                    </p:set>
                                    <p:animEffect transition="in" filter="fade">
                                      <p:cBhvr>
                                        <p:cTn id="31" dur="500"/>
                                        <p:tgtEl>
                                          <p:spTgt spid="5">
                                            <p:graphicEl>
                                              <a:dgm id="{7A4BFCEB-AA00-4CDD-8D01-040B4C1A01A9}"/>
                                            </p:graphic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5">
                                            <p:graphicEl>
                                              <a:dgm id="{871DEEF3-E8F0-40CE-A84E-E235D1494FC7}"/>
                                            </p:graphicEl>
                                          </p:spTgt>
                                        </p:tgtEl>
                                        <p:attrNameLst>
                                          <p:attrName>style.visibility</p:attrName>
                                        </p:attrNameLst>
                                      </p:cBhvr>
                                      <p:to>
                                        <p:strVal val="visible"/>
                                      </p:to>
                                    </p:set>
                                    <p:animEffect transition="in" filter="fade">
                                      <p:cBhvr>
                                        <p:cTn id="35" dur="500"/>
                                        <p:tgtEl>
                                          <p:spTgt spid="5">
                                            <p:graphicEl>
                                              <a:dgm id="{871DEEF3-E8F0-40CE-A84E-E235D1494FC7}"/>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P spid="6" grpId="0"/>
      <p:bldP spid="7" grpId="0"/>
      <p:bldP spid="8" grpId="0" animBg="1"/>
      <p:bldP spid="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“Tombstone” Lifecycle</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85</a:t>
            </a:fld>
            <a:endParaRPr lang="en-US" dirty="0">
              <a:solidFill>
                <a:srgbClr val="6BBD46"/>
              </a:solidFill>
            </a:endParaRPr>
          </a:p>
        </p:txBody>
      </p:sp>
      <p:graphicFrame>
        <p:nvGraphicFramePr>
          <p:cNvPr id="5" name="Content Placeholder 3"/>
          <p:cNvGraphicFramePr>
            <a:graphicFrameLocks/>
          </p:cNvGraphicFramePr>
          <p:nvPr>
            <p:extLst>
              <p:ext uri="{D42A27DB-BD31-4B8C-83A1-F6EECF244321}">
                <p14:modId xmlns:p14="http://schemas.microsoft.com/office/powerpoint/2010/main" val="1913559076"/>
              </p:ext>
            </p:extLst>
          </p:nvPr>
        </p:nvGraphicFramePr>
        <p:xfrm>
          <a:off x="1865008" y="1268876"/>
          <a:ext cx="6129804" cy="5313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ight be killed"/>
          <p:cNvSpPr txBox="1"/>
          <p:nvPr/>
        </p:nvSpPr>
        <p:spPr>
          <a:xfrm>
            <a:off x="253196" y="5348509"/>
            <a:ext cx="2490003" cy="1200329"/>
          </a:xfrm>
          <a:prstGeom prst="rect">
            <a:avLst/>
          </a:prstGeom>
          <a:noFill/>
        </p:spPr>
        <p:txBody>
          <a:bodyPr wrap="square" rtlCol="0">
            <a:spAutoFit/>
          </a:bodyPr>
          <a:lstStyle/>
          <a:p>
            <a:pPr defTabSz="914363"/>
            <a:r>
              <a:rPr lang="en-US" sz="2400" dirty="0" smtClean="0"/>
              <a:t>The application’s process </a:t>
            </a:r>
            <a:r>
              <a:rPr lang="en-US" sz="2400" dirty="0"/>
              <a:t>is </a:t>
            </a:r>
            <a:r>
              <a:rPr lang="en-US" sz="2400" dirty="0" smtClean="0"/>
              <a:t>killed (in most cases)*</a:t>
            </a:r>
            <a:endParaRPr lang="en-AU" sz="2400" dirty="0"/>
          </a:p>
        </p:txBody>
      </p:sp>
      <p:sp>
        <p:nvSpPr>
          <p:cNvPr id="7" name="TextBox 6"/>
          <p:cNvSpPr txBox="1"/>
          <p:nvPr/>
        </p:nvSpPr>
        <p:spPr>
          <a:xfrm>
            <a:off x="7194708" y="5723254"/>
            <a:ext cx="1600201" cy="707886"/>
          </a:xfrm>
          <a:prstGeom prst="rect">
            <a:avLst/>
          </a:prstGeom>
          <a:noFill/>
          <a:ln>
            <a:noFill/>
          </a:ln>
        </p:spPr>
        <p:txBody>
          <a:bodyPr wrap="square" rtlCol="0">
            <a:spAutoFit/>
          </a:bodyPr>
          <a:lstStyle/>
          <a:p>
            <a:pPr defTabSz="914363"/>
            <a:r>
              <a:rPr lang="en-US" sz="2000" dirty="0"/>
              <a:t>Save state for later use</a:t>
            </a:r>
            <a:endParaRPr lang="en-AU" sz="2000" dirty="0"/>
          </a:p>
        </p:txBody>
      </p:sp>
      <p:sp>
        <p:nvSpPr>
          <p:cNvPr id="8" name="TextBox 7"/>
          <p:cNvSpPr txBox="1"/>
          <p:nvPr/>
        </p:nvSpPr>
        <p:spPr>
          <a:xfrm>
            <a:off x="381001" y="1700480"/>
            <a:ext cx="1562100" cy="1323439"/>
          </a:xfrm>
          <a:prstGeom prst="rect">
            <a:avLst/>
          </a:prstGeom>
          <a:noFill/>
          <a:ln>
            <a:noFill/>
          </a:ln>
        </p:spPr>
        <p:txBody>
          <a:bodyPr wrap="square" rtlCol="0">
            <a:spAutoFit/>
          </a:bodyPr>
          <a:lstStyle/>
          <a:p>
            <a:pPr defTabSz="914363"/>
            <a:r>
              <a:rPr lang="en-US" sz="2000" dirty="0">
                <a:solidFill>
                  <a:schemeClr val="accent6"/>
                </a:solidFill>
              </a:rPr>
              <a:t>Load state to continue where </a:t>
            </a:r>
            <a:r>
              <a:rPr lang="en-US" sz="2000" dirty="0" smtClean="0">
                <a:solidFill>
                  <a:schemeClr val="accent6"/>
                </a:solidFill>
              </a:rPr>
              <a:t>she left </a:t>
            </a:r>
            <a:r>
              <a:rPr lang="en-US" sz="2000" dirty="0">
                <a:solidFill>
                  <a:schemeClr val="accent6"/>
                </a:solidFill>
              </a:rPr>
              <a:t>off</a:t>
            </a:r>
            <a:endParaRPr lang="en-AU" sz="2000" dirty="0">
              <a:solidFill>
                <a:schemeClr val="accent6"/>
              </a:solidFill>
            </a:endParaRPr>
          </a:p>
        </p:txBody>
      </p:sp>
      <p:sp>
        <p:nvSpPr>
          <p:cNvPr id="9" name="TextBox 8"/>
          <p:cNvSpPr txBox="1"/>
          <p:nvPr/>
        </p:nvSpPr>
        <p:spPr>
          <a:xfrm>
            <a:off x="6781800" y="1730207"/>
            <a:ext cx="2274159" cy="707886"/>
          </a:xfrm>
          <a:prstGeom prst="rect">
            <a:avLst/>
          </a:prstGeom>
          <a:noFill/>
          <a:ln>
            <a:noFill/>
          </a:ln>
        </p:spPr>
        <p:txBody>
          <a:bodyPr wrap="square" rtlCol="0">
            <a:spAutoFit/>
          </a:bodyPr>
          <a:lstStyle/>
          <a:p>
            <a:pPr defTabSz="914363"/>
            <a:r>
              <a:rPr lang="en-US" sz="2000" dirty="0"/>
              <a:t>User is back where </a:t>
            </a:r>
            <a:r>
              <a:rPr lang="en-US" sz="2000" dirty="0" smtClean="0"/>
              <a:t>she </a:t>
            </a:r>
            <a:r>
              <a:rPr lang="en-US" sz="2000" dirty="0"/>
              <a:t>left off</a:t>
            </a:r>
            <a:endParaRPr lang="en-AU" sz="2000" dirty="0"/>
          </a:p>
        </p:txBody>
      </p:sp>
      <p:grpSp>
        <p:nvGrpSpPr>
          <p:cNvPr id="10" name="Group 9"/>
          <p:cNvGrpSpPr/>
          <p:nvPr/>
        </p:nvGrpSpPr>
        <p:grpSpPr>
          <a:xfrm>
            <a:off x="3209366" y="966058"/>
            <a:ext cx="2906035" cy="2219253"/>
            <a:chOff x="5726089" y="862629"/>
            <a:chExt cx="2906035" cy="2219253"/>
          </a:xfrm>
        </p:grpSpPr>
        <p:sp>
          <p:nvSpPr>
            <p:cNvPr id="11" name="Explosion 2 10"/>
            <p:cNvSpPr/>
            <p:nvPr/>
          </p:nvSpPr>
          <p:spPr bwMode="auto">
            <a:xfrm rot="1075975">
              <a:off x="5726089" y="862629"/>
              <a:ext cx="2906035" cy="2219253"/>
            </a:xfrm>
            <a:prstGeom prst="irregularSeal2">
              <a:avLst/>
            </a:prstGeom>
            <a:ln>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AU" sz="2400" dirty="0">
                <a:solidFill>
                  <a:srgbClr val="FFFFFF"/>
                </a:solidFill>
              </a:endParaRPr>
            </a:p>
          </p:txBody>
        </p:sp>
        <p:sp>
          <p:nvSpPr>
            <p:cNvPr id="12" name="TextBox 11"/>
            <p:cNvSpPr txBox="1"/>
            <p:nvPr/>
          </p:nvSpPr>
          <p:spPr>
            <a:xfrm>
              <a:off x="6236302" y="1476760"/>
              <a:ext cx="1704841" cy="1038701"/>
            </a:xfrm>
            <a:prstGeom prst="ellipse">
              <a:avLst/>
            </a:prstGeom>
            <a:ln/>
          </p:spPr>
          <p:style>
            <a:lnRef idx="2">
              <a:schemeClr val="dk1"/>
            </a:lnRef>
            <a:fillRef idx="1">
              <a:schemeClr val="lt1"/>
            </a:fillRef>
            <a:effectRef idx="0">
              <a:schemeClr val="dk1"/>
            </a:effectRef>
            <a:fontRef idx="minor">
              <a:schemeClr val="dk1"/>
            </a:fontRef>
          </p:style>
          <p:txBody>
            <a:bodyPr wrap="none" lIns="0" tIns="0" rIns="0" bIns="0" rtlCol="0" anchor="ctr" anchorCtr="0">
              <a:spAutoFit/>
            </a:bodyPr>
            <a:lstStyle/>
            <a:p>
              <a:pPr marL="171450" indent="-171450" defTabSz="914363">
                <a:buFont typeface="Wingdings" pitchFamily="2" charset="2"/>
                <a:buChar char="§"/>
              </a:pPr>
              <a:r>
                <a:rPr lang="en-US" sz="1600" dirty="0" smtClean="0">
                  <a:solidFill>
                    <a:schemeClr val="tx1"/>
                  </a:solidFill>
                </a:rPr>
                <a:t>Press </a:t>
              </a:r>
              <a:r>
                <a:rPr lang="en-US" sz="1600" dirty="0">
                  <a:solidFill>
                    <a:schemeClr val="tx1"/>
                  </a:solidFill>
                </a:rPr>
                <a:t>Start</a:t>
              </a:r>
            </a:p>
            <a:p>
              <a:pPr marL="171450" indent="-171450" defTabSz="914363">
                <a:buFont typeface="Wingdings" pitchFamily="2" charset="2"/>
                <a:buChar char="§"/>
              </a:pPr>
              <a:r>
                <a:rPr lang="en-US" sz="1600" dirty="0">
                  <a:solidFill>
                    <a:schemeClr val="tx1"/>
                  </a:solidFill>
                </a:rPr>
                <a:t>Open toast</a:t>
              </a:r>
            </a:p>
            <a:p>
              <a:pPr marL="171450" indent="-171450" defTabSz="914363">
                <a:buFont typeface="Wingdings" pitchFamily="2" charset="2"/>
                <a:buChar char="§"/>
              </a:pPr>
              <a:r>
                <a:rPr lang="en-US" sz="1600" dirty="0">
                  <a:solidFill>
                    <a:schemeClr val="tx1"/>
                  </a:solidFill>
                </a:rPr>
                <a:t>Lock screen</a:t>
              </a:r>
              <a:endParaRPr lang="en-AU" sz="1600" dirty="0">
                <a:solidFill>
                  <a:schemeClr val="tx1"/>
                </a:solidFill>
              </a:endParaRPr>
            </a:p>
          </p:txBody>
        </p:sp>
      </p:grpSp>
      <p:sp>
        <p:nvSpPr>
          <p:cNvPr id="13" name="Arc 12"/>
          <p:cNvSpPr/>
          <p:nvPr/>
        </p:nvSpPr>
        <p:spPr>
          <a:xfrm rot="733359">
            <a:off x="5599830" y="4674645"/>
            <a:ext cx="2563296" cy="1756496"/>
          </a:xfrm>
          <a:prstGeom prst="arc">
            <a:avLst/>
          </a:prstGeom>
          <a:ln w="152400">
            <a:solidFill>
              <a:schemeClr val="accent2"/>
            </a:solidFill>
            <a:headEnd type="triangle" w="med" len="med"/>
            <a:tailEnd type="none" w="med" len="med"/>
          </a:ln>
          <a:effectLst>
            <a:outerShdw blurRad="50800" dist="38100" dir="2700000" algn="tl" rotWithShape="0">
              <a:prstClr val="black">
                <a:alpha val="40000"/>
              </a:prstClr>
            </a:outerShdw>
          </a:effectLst>
          <a:scene3d>
            <a:camera prst="orthographicFront"/>
            <a:lightRig rig="soft" dir="t"/>
          </a:scene3d>
          <a:sp3d prstMaterial="plastic">
            <a:bevelT w="95250" h="19050" prst="coolSlant"/>
            <a:extrusionClr>
              <a:schemeClr val="bg2"/>
            </a:extrusionClr>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defTabSz="914363"/>
            <a:endParaRPr lang="en-AU">
              <a:solidFill>
                <a:srgbClr val="FFFFFF"/>
              </a:solidFill>
            </a:endParaRPr>
          </a:p>
        </p:txBody>
      </p:sp>
      <p:sp>
        <p:nvSpPr>
          <p:cNvPr id="14" name="Arc 13"/>
          <p:cNvSpPr/>
          <p:nvPr/>
        </p:nvSpPr>
        <p:spPr>
          <a:xfrm flipH="1" flipV="1">
            <a:off x="1145321" y="1886274"/>
            <a:ext cx="2644175" cy="2040467"/>
          </a:xfrm>
          <a:prstGeom prst="arc">
            <a:avLst/>
          </a:prstGeom>
          <a:ln w="152400">
            <a:solidFill>
              <a:schemeClr val="accent5"/>
            </a:solidFill>
            <a:headEnd type="triangle" w="med" len="med"/>
            <a:tailEnd type="none" w="med" len="med"/>
          </a:ln>
          <a:effectLst>
            <a:outerShdw blurRad="50800" dist="38100" dir="2700000" algn="tl" rotWithShape="0">
              <a:prstClr val="black">
                <a:alpha val="40000"/>
              </a:prstClr>
            </a:outerShdw>
          </a:effectLst>
          <a:scene3d>
            <a:camera prst="orthographicFront"/>
            <a:lightRig rig="soft" dir="t"/>
          </a:scene3d>
          <a:sp3d prstMaterial="plastic">
            <a:bevelT w="95250" h="19050" prst="coolSlant"/>
            <a:extrusionClr>
              <a:schemeClr val="bg2"/>
            </a:extrusionClr>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defTabSz="914363"/>
            <a:endParaRPr lang="en-AU">
              <a:solidFill>
                <a:srgbClr val="FFFFFF"/>
              </a:solidFill>
            </a:endParaRPr>
          </a:p>
        </p:txBody>
      </p:sp>
      <p:cxnSp>
        <p:nvCxnSpPr>
          <p:cNvPr id="15" name="Straight Arrow Connector 14"/>
          <p:cNvCxnSpPr/>
          <p:nvPr/>
        </p:nvCxnSpPr>
        <p:spPr>
          <a:xfrm flipH="1">
            <a:off x="2559717" y="5764007"/>
            <a:ext cx="1229776" cy="1"/>
          </a:xfrm>
          <a:prstGeom prst="straightConnector1">
            <a:avLst/>
          </a:prstGeom>
          <a:ln w="152400">
            <a:solidFill>
              <a:schemeClr val="accent4"/>
            </a:solidFill>
            <a:headEnd type="triangle" w="med" len="med"/>
            <a:tailEnd type="none" w="med" len="med"/>
          </a:ln>
          <a:effectLst>
            <a:outerShdw blurRad="50800" dist="38100" dir="2700000" algn="tl" rotWithShape="0">
              <a:prstClr val="black">
                <a:alpha val="40000"/>
              </a:prstClr>
            </a:outerShdw>
          </a:effectLst>
          <a:scene3d>
            <a:camera prst="orthographicFront"/>
            <a:lightRig rig="soft" dir="t"/>
          </a:scene3d>
          <a:sp3d prstMaterial="plastic">
            <a:bevelT w="95250" h="19050" prst="coolSlant"/>
            <a:extrusionClr>
              <a:schemeClr val="bg2"/>
            </a:extrusionClr>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442946" y="2084150"/>
            <a:ext cx="1229776" cy="1"/>
          </a:xfrm>
          <a:prstGeom prst="straightConnector1">
            <a:avLst/>
          </a:prstGeom>
          <a:ln w="152400">
            <a:solidFill>
              <a:schemeClr val="tx2"/>
            </a:solidFill>
            <a:headEnd type="triangle" w="med" len="med"/>
            <a:tailEnd type="none" w="med" len="med"/>
          </a:ln>
          <a:effectLst>
            <a:outerShdw blurRad="50800" dist="38100" dir="2700000" algn="tl" rotWithShape="0">
              <a:prstClr val="black">
                <a:alpha val="40000"/>
              </a:prstClr>
            </a:outerShdw>
          </a:effectLst>
          <a:scene3d>
            <a:camera prst="orthographicFront"/>
            <a:lightRig rig="soft" dir="t"/>
          </a:scene3d>
          <a:sp3d prstMaterial="plastic">
            <a:bevelT w="95250" h="19050" prst="coolSlant"/>
            <a:extrusionClr>
              <a:schemeClr val="bg2"/>
            </a:extrusionClr>
            <a:contourClr>
              <a:schemeClr val="bg1"/>
            </a:contourClr>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6515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C1889A57-4597-45CF-A04E-3426A6E57E26}"/>
                                            </p:graphicEl>
                                          </p:spTgt>
                                        </p:tgtEl>
                                        <p:attrNameLst>
                                          <p:attrName>style.visibility</p:attrName>
                                        </p:attrNameLst>
                                      </p:cBhvr>
                                      <p:to>
                                        <p:strVal val="visible"/>
                                      </p:to>
                                    </p:set>
                                    <p:animEffect transition="in" filter="fade">
                                      <p:cBhvr>
                                        <p:cTn id="7" dur="500"/>
                                        <p:tgtEl>
                                          <p:spTgt spid="5">
                                            <p:graphicEl>
                                              <a:dgm id="{C1889A57-4597-45CF-A04E-3426A6E57E2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graphicEl>
                                              <a:dgm id="{8A929723-0B87-427D-9A8E-D110EB630346}"/>
                                            </p:graphicEl>
                                          </p:spTgt>
                                        </p:tgtEl>
                                        <p:attrNameLst>
                                          <p:attrName>style.visibility</p:attrName>
                                        </p:attrNameLst>
                                      </p:cBhvr>
                                      <p:to>
                                        <p:strVal val="visible"/>
                                      </p:to>
                                    </p:set>
                                    <p:animEffect transition="in" filter="fade">
                                      <p:cBhvr>
                                        <p:cTn id="17" dur="500"/>
                                        <p:tgtEl>
                                          <p:spTgt spid="5">
                                            <p:graphicEl>
                                              <a:dgm id="{8A929723-0B87-427D-9A8E-D110EB630346}"/>
                                            </p:graphic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5">
                                            <p:graphicEl>
                                              <a:dgm id="{7E430E49-5CEC-484C-BEC8-FDADA13A60E8}"/>
                                            </p:graphicEl>
                                          </p:spTgt>
                                        </p:tgtEl>
                                        <p:attrNameLst>
                                          <p:attrName>style.visibility</p:attrName>
                                        </p:attrNameLst>
                                      </p:cBhvr>
                                      <p:to>
                                        <p:strVal val="visible"/>
                                      </p:to>
                                    </p:set>
                                    <p:animEffect transition="in" filter="fade">
                                      <p:cBhvr>
                                        <p:cTn id="21" dur="500"/>
                                        <p:tgtEl>
                                          <p:spTgt spid="5">
                                            <p:graphicEl>
                                              <a:dgm id="{7E430E49-5CEC-484C-BEC8-FDADA13A60E8}"/>
                                            </p:graphicEl>
                                          </p:spTgt>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5">
                                            <p:graphicEl>
                                              <a:dgm id="{5875A7C0-609F-4FA0-A1CC-F6411A278CA2}"/>
                                            </p:graphicEl>
                                          </p:spTgt>
                                        </p:tgtEl>
                                        <p:attrNameLst>
                                          <p:attrName>style.visibility</p:attrName>
                                        </p:attrNameLst>
                                      </p:cBhvr>
                                      <p:to>
                                        <p:strVal val="visible"/>
                                      </p:to>
                                    </p:set>
                                    <p:animEffect transition="in" filter="fade">
                                      <p:cBhvr>
                                        <p:cTn id="25" dur="500"/>
                                        <p:tgtEl>
                                          <p:spTgt spid="5">
                                            <p:graphicEl>
                                              <a:dgm id="{5875A7C0-609F-4FA0-A1CC-F6411A278CA2}"/>
                                            </p:graphicEl>
                                          </p:spTgt>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5">
                                            <p:graphicEl>
                                              <a:dgm id="{76F5EF53-FA6F-48E2-9D7C-A0514C8407E1}"/>
                                            </p:graphicEl>
                                          </p:spTgt>
                                        </p:tgtEl>
                                        <p:attrNameLst>
                                          <p:attrName>style.visibility</p:attrName>
                                        </p:attrNameLst>
                                      </p:cBhvr>
                                      <p:to>
                                        <p:strVal val="visible"/>
                                      </p:to>
                                    </p:set>
                                    <p:animEffect transition="in" filter="fade">
                                      <p:cBhvr>
                                        <p:cTn id="29" dur="500"/>
                                        <p:tgtEl>
                                          <p:spTgt spid="5">
                                            <p:graphicEl>
                                              <a:dgm id="{76F5EF53-FA6F-48E2-9D7C-A0514C8407E1}"/>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5">
                                            <p:graphicEl>
                                              <a:dgm id="{7F533090-7457-40E3-A09F-6EAA0958F8BB}"/>
                                            </p:graphicEl>
                                          </p:spTgt>
                                        </p:tgtEl>
                                        <p:attrNameLst>
                                          <p:attrName>style.visibility</p:attrName>
                                        </p:attrNameLst>
                                      </p:cBhvr>
                                      <p:to>
                                        <p:strVal val="visible"/>
                                      </p:to>
                                    </p:set>
                                    <p:animEffect transition="in" filter="fade">
                                      <p:cBhvr>
                                        <p:cTn id="38" dur="500"/>
                                        <p:tgtEl>
                                          <p:spTgt spid="5">
                                            <p:graphicEl>
                                              <a:dgm id="{7F533090-7457-40E3-A09F-6EAA0958F8BB}"/>
                                            </p:graphicEl>
                                          </p:spTgt>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5">
                                            <p:graphicEl>
                                              <a:dgm id="{2167A4BA-3852-44CF-811F-63748F252502}"/>
                                            </p:graphicEl>
                                          </p:spTgt>
                                        </p:tgtEl>
                                        <p:attrNameLst>
                                          <p:attrName>style.visibility</p:attrName>
                                        </p:attrNameLst>
                                      </p:cBhvr>
                                      <p:to>
                                        <p:strVal val="visible"/>
                                      </p:to>
                                    </p:set>
                                    <p:animEffect transition="in" filter="fade">
                                      <p:cBhvr>
                                        <p:cTn id="42" dur="500"/>
                                        <p:tgtEl>
                                          <p:spTgt spid="5">
                                            <p:graphicEl>
                                              <a:dgm id="{2167A4BA-3852-44CF-811F-63748F252502}"/>
                                            </p:graphicEl>
                                          </p:spTgt>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5">
                                            <p:graphicEl>
                                              <a:dgm id="{7EE1718E-8587-495B-98AC-E43EF4D3DAC1}"/>
                                            </p:graphicEl>
                                          </p:spTgt>
                                        </p:tgtEl>
                                        <p:attrNameLst>
                                          <p:attrName>style.visibility</p:attrName>
                                        </p:attrNameLst>
                                      </p:cBhvr>
                                      <p:to>
                                        <p:strVal val="visible"/>
                                      </p:to>
                                    </p:set>
                                    <p:animEffect transition="in" filter="fade">
                                      <p:cBhvr>
                                        <p:cTn id="46" dur="500"/>
                                        <p:tgtEl>
                                          <p:spTgt spid="5">
                                            <p:graphicEl>
                                              <a:dgm id="{7EE1718E-8587-495B-98AC-E43EF4D3DAC1}"/>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500"/>
                                        <p:tgtEl>
                                          <p:spTgt spid="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500"/>
                                        <p:tgtEl>
                                          <p:spTgt spid="9"/>
                                        </p:tgtEl>
                                      </p:cBhvr>
                                    </p:animEffect>
                                  </p:childTnLst>
                                </p:cTn>
                              </p:par>
                              <p:par>
                                <p:cTn id="76" presetID="10" presetClass="entr" presetSubtype="0" fill="hold"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P spid="6" grpId="0"/>
      <p:bldP spid="7" grpId="0"/>
      <p:bldP spid="8" grpId="0"/>
      <p:bldP spid="9" grpId="0"/>
      <p:bldP spid="13"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Lifecycle Events</a:t>
            </a:r>
            <a:endParaRPr lang="en-US" dirty="0"/>
          </a:p>
        </p:txBody>
      </p:sp>
      <p:sp>
        <p:nvSpPr>
          <p:cNvPr id="3" name="Text Placeholder 2"/>
          <p:cNvSpPr>
            <a:spLocks noGrp="1"/>
          </p:cNvSpPr>
          <p:nvPr>
            <p:ph type="body" sz="quarter" idx="10"/>
          </p:nvPr>
        </p:nvSpPr>
        <p:spPr>
          <a:xfrm>
            <a:off x="381000" y="1447800"/>
            <a:ext cx="8363938" cy="4247317"/>
          </a:xfrm>
        </p:spPr>
        <p:txBody>
          <a:bodyPr/>
          <a:lstStyle/>
          <a:p>
            <a:r>
              <a:rPr lang="en-GB" sz="2800" dirty="0" err="1" smtClean="0"/>
              <a:t>Application_Launching</a:t>
            </a:r>
            <a:endParaRPr lang="en-GB" sz="2400" dirty="0" smtClean="0"/>
          </a:p>
          <a:p>
            <a:pPr lvl="1"/>
            <a:r>
              <a:rPr lang="en-GB" sz="2400" dirty="0" smtClean="0"/>
              <a:t>Not fired when the application is reactivated</a:t>
            </a:r>
          </a:p>
          <a:p>
            <a:r>
              <a:rPr lang="en-GB" sz="2800" dirty="0" err="1" smtClean="0"/>
              <a:t>Application_Activated</a:t>
            </a:r>
            <a:endParaRPr lang="en-GB" sz="2800" dirty="0" smtClean="0"/>
          </a:p>
          <a:p>
            <a:pPr lvl="1"/>
            <a:r>
              <a:rPr lang="en-GB" sz="2400" dirty="0" smtClean="0"/>
              <a:t>When the application is activated (brought to foreground)</a:t>
            </a:r>
          </a:p>
          <a:p>
            <a:pPr lvl="1"/>
            <a:r>
              <a:rPr lang="en-GB" sz="2400" dirty="0" smtClean="0"/>
              <a:t>Not fired when started the first time</a:t>
            </a:r>
            <a:endParaRPr lang="en-GB" sz="2400" dirty="0" smtClean="0"/>
          </a:p>
          <a:p>
            <a:r>
              <a:rPr lang="en-GB" sz="2800" dirty="0" err="1" smtClean="0"/>
              <a:t>Application_Deactivated</a:t>
            </a:r>
            <a:endParaRPr lang="en-GB" sz="2800" dirty="0" smtClean="0"/>
          </a:p>
          <a:p>
            <a:pPr lvl="1"/>
            <a:r>
              <a:rPr lang="en-GB" sz="2400" dirty="0" smtClean="0"/>
              <a:t>When the application is deactivated (sent to background</a:t>
            </a:r>
            <a:r>
              <a:rPr lang="en-GB" sz="2400" dirty="0" smtClean="0"/>
              <a:t>)</a:t>
            </a:r>
            <a:endParaRPr lang="en-GB" sz="2400" dirty="0" smtClean="0"/>
          </a:p>
          <a:p>
            <a:r>
              <a:rPr lang="en-GB" sz="2800" dirty="0" err="1" smtClean="0"/>
              <a:t>Application_Closing</a:t>
            </a:r>
            <a:endParaRPr lang="en-GB" sz="2800" dirty="0" smtClean="0"/>
          </a:p>
          <a:p>
            <a:pPr lvl="1"/>
            <a:r>
              <a:rPr lang="en-GB" sz="2400" dirty="0" smtClean="0"/>
              <a:t>When the user presses Back on the first Page</a:t>
            </a:r>
            <a:endParaRPr lang="en-GB" sz="2400" dirty="0" smtClean="0"/>
          </a:p>
          <a:p>
            <a:pPr lvl="1"/>
            <a:r>
              <a:rPr lang="en-GB" sz="2400" dirty="0" smtClean="0"/>
              <a:t>Not fired when the application is </a:t>
            </a:r>
            <a:r>
              <a:rPr lang="en-GB" sz="2400" dirty="0" smtClean="0"/>
              <a:t>deactivated / </a:t>
            </a:r>
            <a:r>
              <a:rPr lang="en-GB" sz="2400" dirty="0" err="1" smtClean="0"/>
              <a:t>tombstoned</a:t>
            </a:r>
            <a:endParaRPr lang="en-GB" sz="2400" dirty="0"/>
          </a:p>
        </p:txBody>
      </p:sp>
      <p:sp>
        <p:nvSpPr>
          <p:cNvPr id="5" name="Slide Number Placeholder 4"/>
          <p:cNvSpPr>
            <a:spLocks noGrp="1"/>
          </p:cNvSpPr>
          <p:nvPr>
            <p:ph type="sldNum" sz="quarter" idx="11"/>
          </p:nvPr>
        </p:nvSpPr>
        <p:spPr/>
        <p:txBody>
          <a:bodyPr/>
          <a:lstStyle/>
          <a:p>
            <a:fld id="{271031BA-9959-4FE2-909F-37D65262A7B4}" type="slidenum">
              <a:rPr lang="en-US" smtClean="0"/>
              <a:pPr/>
              <a:t>86</a:t>
            </a:fld>
            <a:endParaRPr lang="en-US" dirty="0"/>
          </a:p>
        </p:txBody>
      </p:sp>
    </p:spTree>
    <p:extLst>
      <p:ext uri="{BB962C8B-B14F-4D97-AF65-F5344CB8AC3E}">
        <p14:creationId xmlns:p14="http://schemas.microsoft.com/office/powerpoint/2010/main" val="105696116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mtClean="0"/>
              <a:t>Launching Event Handler</a:t>
            </a:r>
            <a:endParaRPr lang="en-GB" dirty="0"/>
          </a:p>
        </p:txBody>
      </p:sp>
      <p:sp>
        <p:nvSpPr>
          <p:cNvPr id="8" name="Text Placeholder 7"/>
          <p:cNvSpPr>
            <a:spLocks noGrp="1"/>
          </p:cNvSpPr>
          <p:nvPr>
            <p:ph type="body" sz="quarter" idx="10"/>
          </p:nvPr>
        </p:nvSpPr>
        <p:spPr>
          <a:xfrm>
            <a:off x="381000" y="1447800"/>
            <a:ext cx="8218488" cy="1231106"/>
          </a:xfrm>
        </p:spPr>
        <p:txBody>
          <a:bodyPr/>
          <a:lstStyle/>
          <a:p>
            <a:r>
              <a:rPr lang="en-US" sz="2000" dirty="0" smtClean="0"/>
              <a:t>Code to execute when the application is launching (for example, from Start)</a:t>
            </a:r>
            <a:endParaRPr lang="en-US" sz="2000" dirty="0"/>
          </a:p>
          <a:p>
            <a:r>
              <a:rPr lang="en-US" sz="2000" dirty="0" smtClean="0"/>
              <a:t>This code will not execute when the application is reactivated</a:t>
            </a:r>
          </a:p>
          <a:p>
            <a:r>
              <a:rPr lang="en-US" sz="2000" dirty="0" smtClean="0"/>
              <a:t>Application should load persisted data from isolated storage and display the application’s initial state</a:t>
            </a:r>
            <a:endParaRPr lang="en-GB" sz="2000"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87</a:t>
            </a:fld>
            <a:endParaRPr lang="en-US" dirty="0"/>
          </a:p>
        </p:txBody>
      </p:sp>
      <p:sp>
        <p:nvSpPr>
          <p:cNvPr id="3" name="Rectangle 2"/>
          <p:cNvSpPr/>
          <p:nvPr/>
        </p:nvSpPr>
        <p:spPr>
          <a:xfrm>
            <a:off x="380998" y="2911392"/>
            <a:ext cx="8380413" cy="351480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void </a:t>
            </a:r>
            <a:r>
              <a:rPr lang="en-GB" sz="1600" spc="-150" dirty="0" err="1">
                <a:gradFill>
                  <a:gsLst>
                    <a:gs pos="0">
                      <a:srgbClr val="737373"/>
                    </a:gs>
                    <a:gs pos="86000">
                      <a:srgbClr val="737373"/>
                    </a:gs>
                  </a:gsLst>
                  <a:lin ang="5400000" scaled="0"/>
                </a:gradFill>
                <a:latin typeface="Consolas" pitchFamily="49" charset="0"/>
              </a:rPr>
              <a:t>Application_Launching</a:t>
            </a:r>
            <a:r>
              <a:rPr lang="en-GB" sz="1600" spc="-150" dirty="0">
                <a:gradFill>
                  <a:gsLst>
                    <a:gs pos="0">
                      <a:srgbClr val="737373"/>
                    </a:gs>
                    <a:gs pos="86000">
                      <a:srgbClr val="737373"/>
                    </a:gs>
                  </a:gsLst>
                  <a:lin ang="5400000" scaled="0"/>
                </a:gradFill>
                <a:latin typeface="Consolas" pitchFamily="49" charset="0"/>
              </a:rPr>
              <a:t>(object sender, </a:t>
            </a:r>
            <a:r>
              <a:rPr lang="en-GB" sz="1600" spc="-150" dirty="0" err="1">
                <a:gradFill>
                  <a:gsLst>
                    <a:gs pos="0">
                      <a:srgbClr val="737373"/>
                    </a:gs>
                    <a:gs pos="86000">
                      <a:srgbClr val="737373"/>
                    </a:gs>
                  </a:gsLst>
                  <a:lin ang="5400000" scaled="0"/>
                </a:gradFill>
                <a:latin typeface="Consolas" pitchFamily="49" charset="0"/>
              </a:rPr>
              <a:t>LaunchingEventArgs</a:t>
            </a:r>
            <a:r>
              <a:rPr lang="en-GB" sz="1600" spc="-150" dirty="0">
                <a:gradFill>
                  <a:gsLst>
                    <a:gs pos="0">
                      <a:srgbClr val="737373"/>
                    </a:gs>
                    <a:gs pos="86000">
                      <a:srgbClr val="737373"/>
                    </a:gs>
                  </a:gsLst>
                  <a:lin ang="5400000" scaled="0"/>
                </a:gradFill>
                <a:latin typeface="Consolas" pitchFamily="49" charset="0"/>
              </a:rPr>
              <a:t> e)</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using (</a:t>
            </a:r>
            <a:r>
              <a:rPr lang="en-GB" sz="1600" spc="-150" dirty="0" err="1">
                <a:gradFill>
                  <a:gsLst>
                    <a:gs pos="0">
                      <a:srgbClr val="737373"/>
                    </a:gs>
                    <a:gs pos="86000">
                      <a:srgbClr val="737373"/>
                    </a:gs>
                  </a:gsLst>
                  <a:lin ang="5400000" scaled="0"/>
                </a:gradFill>
                <a:latin typeface="Consolas" pitchFamily="49" charset="0"/>
              </a:rPr>
              <a:t>IsolatedStorageFile</a:t>
            </a:r>
            <a:r>
              <a:rPr lang="en-GB" sz="1600" spc="-150" dirty="0">
                <a:gradFill>
                  <a:gsLst>
                    <a:gs pos="0">
                      <a:srgbClr val="737373"/>
                    </a:gs>
                    <a:gs pos="86000">
                      <a:srgbClr val="737373"/>
                    </a:gs>
                  </a:gsLst>
                  <a:lin ang="5400000" scaled="0"/>
                </a:gradFill>
                <a:latin typeface="Consolas" pitchFamily="49" charset="0"/>
              </a:rPr>
              <a:t> </a:t>
            </a:r>
            <a:r>
              <a:rPr lang="en-GB" sz="1600" spc="-150" dirty="0" err="1">
                <a:gradFill>
                  <a:gsLst>
                    <a:gs pos="0">
                      <a:srgbClr val="737373"/>
                    </a:gs>
                    <a:gs pos="86000">
                      <a:srgbClr val="737373"/>
                    </a:gs>
                  </a:gsLst>
                  <a:lin ang="5400000" scaled="0"/>
                </a:gradFill>
                <a:latin typeface="Consolas" pitchFamily="49" charset="0"/>
              </a:rPr>
              <a:t>isf</a:t>
            </a:r>
            <a:r>
              <a:rPr lang="en-GB" sz="1600" spc="-150" dirty="0">
                <a:gradFill>
                  <a:gsLst>
                    <a:gs pos="0">
                      <a:srgbClr val="737373"/>
                    </a:gs>
                    <a:gs pos="86000">
                      <a:srgbClr val="737373"/>
                    </a:gs>
                  </a:gsLst>
                  <a:lin ang="5400000" scaled="0"/>
                </a:gradFill>
                <a:latin typeface="Consolas" pitchFamily="49" charset="0"/>
              </a:rPr>
              <a:t> = </a:t>
            </a:r>
            <a:br>
              <a:rPr lang="en-GB" sz="1600" spc="-150" dirty="0">
                <a:gradFill>
                  <a:gsLst>
                    <a:gs pos="0">
                      <a:srgbClr val="737373"/>
                    </a:gs>
                    <a:gs pos="86000">
                      <a:srgbClr val="737373"/>
                    </a:gs>
                  </a:gsLst>
                  <a:lin ang="5400000" scaled="0"/>
                </a:gradFill>
                <a:latin typeface="Consolas" pitchFamily="49" charset="0"/>
              </a:rPr>
            </a:br>
            <a:r>
              <a:rPr lang="en-GB" sz="1600" spc="-150" dirty="0">
                <a:gradFill>
                  <a:gsLst>
                    <a:gs pos="0">
                      <a:srgbClr val="737373"/>
                    </a:gs>
                    <a:gs pos="86000">
                      <a:srgbClr val="737373"/>
                    </a:gs>
                  </a:gsLst>
                  <a:lin ang="5400000" scaled="0"/>
                </a:gradFill>
                <a:latin typeface="Consolas" pitchFamily="49" charset="0"/>
              </a:rPr>
              <a:t>             </a:t>
            </a:r>
            <a:r>
              <a:rPr lang="en-GB" sz="1600" spc="-150" dirty="0" err="1">
                <a:gradFill>
                  <a:gsLst>
                    <a:gs pos="0">
                      <a:srgbClr val="737373"/>
                    </a:gs>
                    <a:gs pos="86000">
                      <a:srgbClr val="737373"/>
                    </a:gs>
                  </a:gsLst>
                  <a:lin ang="5400000" scaled="0"/>
                </a:gradFill>
                <a:latin typeface="Consolas" pitchFamily="49" charset="0"/>
              </a:rPr>
              <a:t>IsolatedStorageFile.GetUserStoreForApplication</a:t>
            </a:r>
            <a:r>
              <a:rPr lang="en-GB" sz="1600"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if (</a:t>
            </a:r>
            <a:r>
              <a:rPr lang="en-GB" sz="1600" spc="-150" dirty="0" err="1">
                <a:gradFill>
                  <a:gsLst>
                    <a:gs pos="0">
                      <a:srgbClr val="737373"/>
                    </a:gs>
                    <a:gs pos="86000">
                      <a:srgbClr val="737373"/>
                    </a:gs>
                  </a:gsLst>
                  <a:lin ang="5400000" scaled="0"/>
                </a:gradFill>
                <a:latin typeface="Consolas" pitchFamily="49" charset="0"/>
              </a:rPr>
              <a:t>isf.FileExists</a:t>
            </a:r>
            <a:r>
              <a:rPr lang="en-GB" sz="1600" spc="-150" dirty="0">
                <a:gradFill>
                  <a:gsLst>
                    <a:gs pos="0">
                      <a:srgbClr val="737373"/>
                    </a:gs>
                    <a:gs pos="86000">
                      <a:srgbClr val="737373"/>
                    </a:gs>
                  </a:gsLst>
                  <a:lin ang="5400000" scaled="0"/>
                </a:gradFill>
                <a:latin typeface="Consolas" pitchFamily="49" charset="0"/>
              </a:rPr>
              <a:t>(“MyPersistenceFile.dat")) </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r>
              <a:rPr lang="en-GB" sz="1600" spc="-150" dirty="0" smtClean="0">
                <a:gradFill>
                  <a:gsLst>
                    <a:gs pos="0">
                      <a:srgbClr val="737373"/>
                    </a:gs>
                    <a:gs pos="86000">
                      <a:srgbClr val="737373"/>
                    </a:gs>
                  </a:gsLst>
                  <a:lin ang="5400000" scaled="0"/>
                </a:gradFill>
                <a:latin typeface="Consolas" pitchFamily="49" charset="0"/>
              </a:rPr>
              <a:t>{</a:t>
            </a:r>
            <a:endParaRPr lang="en-GB" sz="1600" spc="-150" dirty="0">
              <a:gradFill>
                <a:gsLst>
                  <a:gs pos="0">
                    <a:srgbClr val="737373"/>
                  </a:gs>
                  <a:gs pos="86000">
                    <a:srgbClr val="737373"/>
                  </a:gs>
                </a:gsLst>
                <a:lin ang="5400000" scaled="0"/>
              </a:gradFill>
              <a:latin typeface="Consolas" pitchFamily="49" charset="0"/>
            </a:endParaRP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 Read persisted data from Storage</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r>
              <a:rPr lang="en-GB" sz="1600" spc="-150" dirty="0" smtClean="0">
                <a:gradFill>
                  <a:gsLst>
                    <a:gs pos="0">
                      <a:srgbClr val="737373"/>
                    </a:gs>
                    <a:gs pos="86000">
                      <a:srgbClr val="737373"/>
                    </a:gs>
                  </a:gsLst>
                  <a:lin ang="5400000" scaled="0"/>
                </a:gradFill>
                <a:latin typeface="Consolas" pitchFamily="49" charset="0"/>
              </a:rPr>
              <a:t>else</a:t>
            </a:r>
            <a:endParaRPr lang="en-GB" sz="1600" spc="-150" dirty="0">
              <a:gradFill>
                <a:gsLst>
                  <a:gs pos="0">
                    <a:srgbClr val="737373"/>
                  </a:gs>
                  <a:gs pos="86000">
                    <a:srgbClr val="737373"/>
                  </a:gs>
                </a:gsLst>
                <a:lin ang="5400000" scaled="0"/>
              </a:gradFill>
              <a:latin typeface="Consolas" pitchFamily="49" charset="0"/>
            </a:endParaRP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 No existing persisted data – create new data objects…</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600" spc="-150" dirty="0">
                <a:gradFill>
                  <a:gsLst>
                    <a:gs pos="0">
                      <a:srgbClr val="737373"/>
                    </a:gs>
                    <a:gs pos="86000">
                      <a:srgbClr val="737373"/>
                    </a:gs>
                  </a:gsLst>
                  <a:lin ang="5400000" scaled="0"/>
                </a:gradFill>
                <a:latin typeface="Consolas" pitchFamily="49" charset="0"/>
              </a:rPr>
              <a:t>}</a:t>
            </a:r>
          </a:p>
        </p:txBody>
      </p:sp>
    </p:spTree>
    <p:extLst>
      <p:ext uri="{BB962C8B-B14F-4D97-AF65-F5344CB8AC3E}">
        <p14:creationId xmlns:p14="http://schemas.microsoft.com/office/powerpoint/2010/main" val="11770882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mtClean="0"/>
              <a:t>Closing Event Handler</a:t>
            </a:r>
            <a:endParaRPr lang="en-GB" dirty="0"/>
          </a:p>
        </p:txBody>
      </p:sp>
      <p:sp>
        <p:nvSpPr>
          <p:cNvPr id="5" name="Text Placeholder 4"/>
          <p:cNvSpPr>
            <a:spLocks noGrp="1"/>
          </p:cNvSpPr>
          <p:nvPr>
            <p:ph type="body" sz="quarter" idx="10"/>
          </p:nvPr>
        </p:nvSpPr>
        <p:spPr>
          <a:xfrm>
            <a:off x="381000" y="1447800"/>
            <a:ext cx="8363938" cy="1292662"/>
          </a:xfrm>
        </p:spPr>
        <p:txBody>
          <a:bodyPr/>
          <a:lstStyle/>
          <a:p>
            <a:r>
              <a:rPr lang="en-GB" sz="2000" dirty="0" smtClean="0"/>
              <a:t>Code to execute when the app is closing (for example, user presses Back)</a:t>
            </a:r>
          </a:p>
          <a:p>
            <a:r>
              <a:rPr lang="en-GB" sz="2000" dirty="0" smtClean="0"/>
              <a:t>This code will not execute when the application is deactivated</a:t>
            </a:r>
          </a:p>
          <a:p>
            <a:r>
              <a:rPr lang="en-GB" sz="2000" dirty="0" smtClean="0"/>
              <a:t>Application can save persisted data to isolated storage </a:t>
            </a:r>
            <a:endParaRPr lang="en-GB" sz="2000" dirty="0" smtClean="0"/>
          </a:p>
          <a:p>
            <a:r>
              <a:rPr lang="en-GB" sz="2000" dirty="0" smtClean="0"/>
              <a:t>TIP: </a:t>
            </a:r>
            <a:r>
              <a:rPr lang="en-GB" sz="2000" dirty="0" smtClean="0"/>
              <a:t>You </a:t>
            </a:r>
            <a:r>
              <a:rPr lang="en-GB" sz="2000" dirty="0" smtClean="0"/>
              <a:t>have only 10 sec to save and exit!</a:t>
            </a:r>
            <a:endParaRPr lang="en-US" sz="2000"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88</a:t>
            </a:fld>
            <a:endParaRPr lang="en-US" dirty="0"/>
          </a:p>
        </p:txBody>
      </p:sp>
      <p:sp>
        <p:nvSpPr>
          <p:cNvPr id="3" name="Rectangle 2"/>
          <p:cNvSpPr/>
          <p:nvPr/>
        </p:nvSpPr>
        <p:spPr>
          <a:xfrm>
            <a:off x="380997" y="3097677"/>
            <a:ext cx="8380413" cy="332398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dirty="0">
                <a:latin typeface="Consolas" pitchFamily="49" charset="0"/>
                <a:cs typeface="Consolas" pitchFamily="49" charset="0"/>
              </a:rPr>
              <a:t>void </a:t>
            </a:r>
            <a:r>
              <a:rPr lang="en-GB" sz="1400" dirty="0" err="1">
                <a:latin typeface="Consolas" pitchFamily="49" charset="0"/>
                <a:cs typeface="Consolas" pitchFamily="49" charset="0"/>
              </a:rPr>
              <a:t>Application_Closing</a:t>
            </a:r>
            <a:r>
              <a:rPr lang="en-GB" sz="1400" dirty="0">
                <a:latin typeface="Consolas" pitchFamily="49" charset="0"/>
                <a:cs typeface="Consolas" pitchFamily="49" charset="0"/>
              </a:rPr>
              <a:t>(object sender, </a:t>
            </a:r>
            <a:r>
              <a:rPr lang="en-GB" sz="1400" dirty="0" err="1">
                <a:latin typeface="Consolas" pitchFamily="49" charset="0"/>
                <a:cs typeface="Consolas" pitchFamily="49" charset="0"/>
              </a:rPr>
              <a:t>ClosingEventArgs</a:t>
            </a:r>
            <a:r>
              <a:rPr lang="en-GB" sz="1400" dirty="0">
                <a:latin typeface="Consolas" pitchFamily="49" charset="0"/>
                <a:cs typeface="Consolas" pitchFamily="49" charset="0"/>
              </a:rPr>
              <a:t> e)</a:t>
            </a:r>
          </a:p>
          <a:p>
            <a:r>
              <a:rPr lang="en-GB" sz="1400" dirty="0">
                <a:latin typeface="Consolas" pitchFamily="49" charset="0"/>
                <a:cs typeface="Consolas" pitchFamily="49" charset="0"/>
              </a:rPr>
              <a:t>{</a:t>
            </a:r>
          </a:p>
          <a:p>
            <a:r>
              <a:rPr lang="en-GB" sz="1400" dirty="0">
                <a:latin typeface="Consolas" pitchFamily="49" charset="0"/>
                <a:cs typeface="Consolas" pitchFamily="49" charset="0"/>
              </a:rPr>
              <a:t>  using (</a:t>
            </a:r>
            <a:r>
              <a:rPr lang="en-GB" sz="1400" dirty="0" err="1">
                <a:latin typeface="Consolas" pitchFamily="49" charset="0"/>
                <a:cs typeface="Consolas" pitchFamily="49" charset="0"/>
              </a:rPr>
              <a:t>IsolatedStorageFile</a:t>
            </a:r>
            <a:r>
              <a:rPr lang="en-GB" sz="1400" dirty="0">
                <a:latin typeface="Consolas" pitchFamily="49" charset="0"/>
                <a:cs typeface="Consolas" pitchFamily="49" charset="0"/>
              </a:rPr>
              <a:t> </a:t>
            </a:r>
            <a:r>
              <a:rPr lang="en-GB" sz="1400" dirty="0" err="1">
                <a:latin typeface="Consolas" pitchFamily="49" charset="0"/>
                <a:cs typeface="Consolas" pitchFamily="49" charset="0"/>
              </a:rPr>
              <a:t>isf</a:t>
            </a:r>
            <a:r>
              <a:rPr lang="en-GB" sz="1400" dirty="0">
                <a:latin typeface="Consolas" pitchFamily="49" charset="0"/>
                <a:cs typeface="Consolas" pitchFamily="49" charset="0"/>
              </a:rPr>
              <a:t> = </a:t>
            </a:r>
            <a:br>
              <a:rPr lang="en-GB" sz="1400" dirty="0">
                <a:latin typeface="Consolas" pitchFamily="49" charset="0"/>
                <a:cs typeface="Consolas" pitchFamily="49" charset="0"/>
              </a:rPr>
            </a:br>
            <a:r>
              <a:rPr lang="en-GB" sz="1400" dirty="0">
                <a:latin typeface="Consolas" pitchFamily="49" charset="0"/>
                <a:cs typeface="Consolas" pitchFamily="49" charset="0"/>
              </a:rPr>
              <a:t>             </a:t>
            </a:r>
            <a:r>
              <a:rPr lang="en-GB" sz="1400" dirty="0" err="1">
                <a:latin typeface="Consolas" pitchFamily="49" charset="0"/>
                <a:cs typeface="Consolas" pitchFamily="49" charset="0"/>
              </a:rPr>
              <a:t>IsolatedStorageFile.GetUserStoreForApplication</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p>
          <a:p>
            <a:endParaRPr lang="en-GB" sz="1400" dirty="0">
              <a:latin typeface="Consolas" pitchFamily="49" charset="0"/>
              <a:cs typeface="Consolas" pitchFamily="49" charset="0"/>
            </a:endParaRPr>
          </a:p>
          <a:p>
            <a:r>
              <a:rPr lang="en-GB" sz="1400" dirty="0">
                <a:latin typeface="Consolas" pitchFamily="49" charset="0"/>
                <a:cs typeface="Consolas" pitchFamily="49" charset="0"/>
              </a:rPr>
              <a:t>     //Create a new file and serialize data</a:t>
            </a:r>
          </a:p>
          <a:p>
            <a:r>
              <a:rPr lang="en-GB" sz="1400" dirty="0">
                <a:latin typeface="Consolas" pitchFamily="49" charset="0"/>
                <a:cs typeface="Consolas" pitchFamily="49" charset="0"/>
              </a:rPr>
              <a:t>     using (</a:t>
            </a:r>
            <a:r>
              <a:rPr lang="en-GB" sz="1400" dirty="0" err="1">
                <a:latin typeface="Consolas" pitchFamily="49" charset="0"/>
                <a:cs typeface="Consolas" pitchFamily="49" charset="0"/>
              </a:rPr>
              <a:t>IsolatedStorageFileStream</a:t>
            </a:r>
            <a:r>
              <a:rPr lang="en-GB" sz="1400" dirty="0">
                <a:latin typeface="Consolas" pitchFamily="49" charset="0"/>
                <a:cs typeface="Consolas" pitchFamily="49" charset="0"/>
              </a:rPr>
              <a:t> </a:t>
            </a:r>
            <a:r>
              <a:rPr lang="en-GB" sz="1400" dirty="0" err="1">
                <a:latin typeface="Consolas" pitchFamily="49" charset="0"/>
                <a:cs typeface="Consolas" pitchFamily="49" charset="0"/>
              </a:rPr>
              <a:t>fs</a:t>
            </a:r>
            <a:r>
              <a:rPr lang="en-GB" sz="1400" dirty="0">
                <a:latin typeface="Consolas" pitchFamily="49" charset="0"/>
                <a:cs typeface="Consolas" pitchFamily="49" charset="0"/>
              </a:rPr>
              <a:t> = </a:t>
            </a:r>
            <a:br>
              <a:rPr lang="en-GB" sz="1400" dirty="0">
                <a:latin typeface="Consolas" pitchFamily="49" charset="0"/>
                <a:cs typeface="Consolas" pitchFamily="49" charset="0"/>
              </a:rPr>
            </a:br>
            <a:r>
              <a:rPr lang="en-GB" sz="1400" dirty="0">
                <a:latin typeface="Consolas" pitchFamily="49" charset="0"/>
                <a:cs typeface="Consolas" pitchFamily="49" charset="0"/>
              </a:rPr>
              <a:t>               </a:t>
            </a:r>
            <a:r>
              <a:rPr lang="en-GB" sz="1400" dirty="0" err="1">
                <a:latin typeface="Consolas" pitchFamily="49" charset="0"/>
                <a:cs typeface="Consolas" pitchFamily="49" charset="0"/>
              </a:rPr>
              <a:t>isf.CreateFile</a:t>
            </a:r>
            <a:r>
              <a:rPr lang="en-GB" sz="1400" dirty="0">
                <a:latin typeface="Consolas" pitchFamily="49" charset="0"/>
                <a:cs typeface="Consolas" pitchFamily="49" charset="0"/>
              </a:rPr>
              <a:t>(“MyPersistenceFile.dat”))</a:t>
            </a:r>
          </a:p>
          <a:p>
            <a:r>
              <a:rPr lang="en-GB" sz="1400" dirty="0">
                <a:latin typeface="Consolas" pitchFamily="49" charset="0"/>
                <a:cs typeface="Consolas" pitchFamily="49" charset="0"/>
              </a:rPr>
              <a:t>     {</a:t>
            </a:r>
          </a:p>
          <a:p>
            <a:r>
              <a:rPr lang="en-GB" sz="1400" dirty="0">
                <a:latin typeface="Consolas" pitchFamily="49" charset="0"/>
                <a:cs typeface="Consolas" pitchFamily="49" charset="0"/>
              </a:rPr>
              <a:t>        </a:t>
            </a:r>
            <a:r>
              <a:rPr lang="en-GB" sz="1400" dirty="0" err="1">
                <a:latin typeface="Consolas" pitchFamily="49" charset="0"/>
                <a:cs typeface="Consolas" pitchFamily="49" charset="0"/>
              </a:rPr>
              <a:t>XmlSerializer</a:t>
            </a:r>
            <a:r>
              <a:rPr lang="en-GB" sz="1400" dirty="0">
                <a:latin typeface="Consolas" pitchFamily="49" charset="0"/>
                <a:cs typeface="Consolas" pitchFamily="49" charset="0"/>
              </a:rPr>
              <a:t> </a:t>
            </a:r>
            <a:r>
              <a:rPr lang="en-GB" sz="1400" dirty="0" err="1">
                <a:latin typeface="Consolas" pitchFamily="49" charset="0"/>
                <a:cs typeface="Consolas" pitchFamily="49" charset="0"/>
              </a:rPr>
              <a:t>ser</a:t>
            </a:r>
            <a:r>
              <a:rPr lang="en-GB" sz="1400" dirty="0">
                <a:latin typeface="Consolas" pitchFamily="49" charset="0"/>
                <a:cs typeface="Consolas" pitchFamily="49" charset="0"/>
              </a:rPr>
              <a:t> = new </a:t>
            </a:r>
            <a:r>
              <a:rPr lang="en-GB" sz="1400" dirty="0" err="1">
                <a:latin typeface="Consolas" pitchFamily="49" charset="0"/>
                <a:cs typeface="Consolas" pitchFamily="49" charset="0"/>
              </a:rPr>
              <a:t>XmlSerializer</a:t>
            </a:r>
            <a:r>
              <a:rPr lang="en-GB" sz="1400" dirty="0">
                <a:latin typeface="Consolas" pitchFamily="49" charset="0"/>
                <a:cs typeface="Consolas" pitchFamily="49" charset="0"/>
              </a:rPr>
              <a:t>(</a:t>
            </a:r>
            <a:r>
              <a:rPr lang="en-GB" sz="1400" dirty="0" err="1">
                <a:latin typeface="Consolas" pitchFamily="49" charset="0"/>
                <a:cs typeface="Consolas" pitchFamily="49" charset="0"/>
              </a:rPr>
              <a:t>typeof</a:t>
            </a:r>
            <a:r>
              <a:rPr lang="en-GB" sz="1400" dirty="0">
                <a:latin typeface="Consolas" pitchFamily="49" charset="0"/>
                <a:cs typeface="Consolas" pitchFamily="49" charset="0"/>
              </a:rPr>
              <a:t>(</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r>
              <a:rPr lang="en-GB" sz="1400" dirty="0" err="1">
                <a:latin typeface="Consolas" pitchFamily="49" charset="0"/>
                <a:cs typeface="Consolas" pitchFamily="49" charset="0"/>
              </a:rPr>
              <a:t>ser.Serialize</a:t>
            </a:r>
            <a:r>
              <a:rPr lang="en-GB" sz="1400" dirty="0">
                <a:latin typeface="Consolas" pitchFamily="49" charset="0"/>
                <a:cs typeface="Consolas" pitchFamily="49" charset="0"/>
              </a:rPr>
              <a:t>(</a:t>
            </a:r>
            <a:r>
              <a:rPr lang="en-GB" sz="1400" dirty="0" err="1">
                <a:latin typeface="Consolas" pitchFamily="49" charset="0"/>
                <a:cs typeface="Consolas" pitchFamily="49" charset="0"/>
              </a:rPr>
              <a:t>fs</a:t>
            </a:r>
            <a:r>
              <a:rPr lang="en-GB" sz="1400" dirty="0">
                <a:latin typeface="Consolas" pitchFamily="49" charset="0"/>
                <a:cs typeface="Consolas" pitchFamily="49" charset="0"/>
              </a:rPr>
              <a:t>, </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p>
          <a:p>
            <a:r>
              <a:rPr lang="en-GB" sz="1400" dirty="0">
                <a:latin typeface="Consolas" pitchFamily="49" charset="0"/>
                <a:cs typeface="Consolas" pitchFamily="49" charset="0"/>
              </a:rPr>
              <a:t>   }</a:t>
            </a:r>
          </a:p>
          <a:p>
            <a:r>
              <a:rPr lang="en-GB" sz="1400" dirty="0">
                <a:latin typeface="Consolas" pitchFamily="49" charset="0"/>
                <a:cs typeface="Consolas" pitchFamily="49" charset="0"/>
              </a:rPr>
              <a:t>}</a:t>
            </a:r>
          </a:p>
        </p:txBody>
      </p:sp>
    </p:spTree>
    <p:extLst>
      <p:ext uri="{BB962C8B-B14F-4D97-AF65-F5344CB8AC3E}">
        <p14:creationId xmlns:p14="http://schemas.microsoft.com/office/powerpoint/2010/main" val="40849642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mtClean="0"/>
              <a:t>Deactivated Event Handler</a:t>
            </a:r>
            <a:endParaRPr lang="en-GB" dirty="0"/>
          </a:p>
        </p:txBody>
      </p:sp>
      <p:sp>
        <p:nvSpPr>
          <p:cNvPr id="8" name="Text Placeholder 7"/>
          <p:cNvSpPr>
            <a:spLocks noGrp="1"/>
          </p:cNvSpPr>
          <p:nvPr>
            <p:ph type="body" sz="quarter" idx="10"/>
          </p:nvPr>
        </p:nvSpPr>
        <p:spPr>
          <a:xfrm>
            <a:off x="381000" y="1447800"/>
            <a:ext cx="8363938" cy="1508105"/>
          </a:xfrm>
        </p:spPr>
        <p:txBody>
          <a:bodyPr/>
          <a:lstStyle/>
          <a:p>
            <a:r>
              <a:rPr lang="en-GB" sz="2000" dirty="0" smtClean="0"/>
              <a:t>Code to execute when the application is deactivated (sent to background)</a:t>
            </a:r>
          </a:p>
          <a:p>
            <a:r>
              <a:rPr lang="en-GB" sz="2000" dirty="0" smtClean="0"/>
              <a:t>This code will not execute when the application is closing</a:t>
            </a:r>
          </a:p>
          <a:p>
            <a:r>
              <a:rPr lang="en-GB" sz="2000" dirty="0" smtClean="0"/>
              <a:t>Application should save transient application data to the </a:t>
            </a:r>
            <a:r>
              <a:rPr lang="en-GB" sz="2000" dirty="0" err="1" smtClean="0"/>
              <a:t>PhoneApplicationService.State</a:t>
            </a:r>
            <a:r>
              <a:rPr lang="en-GB" sz="2000" dirty="0" smtClean="0"/>
              <a:t> or to </a:t>
            </a:r>
            <a:r>
              <a:rPr lang="en-GB" sz="2000" dirty="0" err="1" smtClean="0"/>
              <a:t>PhoneApplicationPage.State</a:t>
            </a:r>
            <a:r>
              <a:rPr lang="en-GB" sz="2000" dirty="0" smtClean="0"/>
              <a:t> dictionary so that if your application is resumed, you can quickly restore state info</a:t>
            </a:r>
            <a:endParaRPr lang="en-GB" sz="2000"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89</a:t>
            </a:fld>
            <a:endParaRPr lang="en-US" dirty="0"/>
          </a:p>
        </p:txBody>
      </p:sp>
      <p:sp>
        <p:nvSpPr>
          <p:cNvPr id="2" name="Rectangle 1"/>
          <p:cNvSpPr/>
          <p:nvPr/>
        </p:nvSpPr>
        <p:spPr>
          <a:xfrm>
            <a:off x="380997" y="3254162"/>
            <a:ext cx="8380413"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latin typeface="Consolas" pitchFamily="49" charset="0"/>
                <a:cs typeface="Consolas" pitchFamily="49" charset="0"/>
              </a:rPr>
              <a:t>void </a:t>
            </a:r>
            <a:r>
              <a:rPr lang="en-GB" sz="1600" dirty="0" err="1">
                <a:latin typeface="Consolas" pitchFamily="49" charset="0"/>
                <a:cs typeface="Consolas" pitchFamily="49" charset="0"/>
              </a:rPr>
              <a:t>Application_Deactivated</a:t>
            </a:r>
            <a:r>
              <a:rPr lang="en-GB" sz="1600" dirty="0">
                <a:latin typeface="Consolas" pitchFamily="49" charset="0"/>
                <a:cs typeface="Consolas" pitchFamily="49" charset="0"/>
              </a:rPr>
              <a:t>(object sender, </a:t>
            </a:r>
            <a:r>
              <a:rPr lang="en-GB" sz="1600" dirty="0" err="1">
                <a:latin typeface="Consolas" pitchFamily="49" charset="0"/>
                <a:cs typeface="Consolas" pitchFamily="49" charset="0"/>
              </a:rPr>
              <a:t>DeactivatedEventArgs</a:t>
            </a:r>
            <a:r>
              <a:rPr lang="en-GB" sz="1600" dirty="0">
                <a:latin typeface="Consolas" pitchFamily="49" charset="0"/>
                <a:cs typeface="Consolas" pitchFamily="49" charset="0"/>
              </a:rPr>
              <a:t> e)</a:t>
            </a:r>
          </a:p>
          <a:p>
            <a:r>
              <a:rPr lang="en-GB" sz="1600" dirty="0">
                <a:latin typeface="Consolas" pitchFamily="49" charset="0"/>
                <a:cs typeface="Consolas" pitchFamily="49" charset="0"/>
              </a:rPr>
              <a:t>{</a:t>
            </a:r>
          </a:p>
          <a:p>
            <a:endParaRPr lang="en-GB" sz="1600" dirty="0">
              <a:latin typeface="Consolas" pitchFamily="49" charset="0"/>
              <a:cs typeface="Consolas" pitchFamily="49" charset="0"/>
            </a:endParaRPr>
          </a:p>
          <a:p>
            <a:r>
              <a:rPr lang="en-GB" sz="1600" dirty="0">
                <a:latin typeface="Consolas" pitchFamily="49" charset="0"/>
                <a:cs typeface="Consolas" pitchFamily="49" charset="0"/>
              </a:rPr>
              <a:t>  // Add data that is “work in progress” (transient) to Application state</a:t>
            </a:r>
          </a:p>
          <a:p>
            <a:r>
              <a:rPr lang="en-GB" sz="1600" dirty="0">
                <a:latin typeface="Consolas" pitchFamily="49" charset="0"/>
                <a:cs typeface="Consolas" pitchFamily="49" charset="0"/>
              </a:rPr>
              <a:t>  </a:t>
            </a:r>
            <a:r>
              <a:rPr lang="en-GB" sz="1600" dirty="0" err="1">
                <a:latin typeface="Consolas" pitchFamily="49" charset="0"/>
                <a:cs typeface="Consolas" pitchFamily="49" charset="0"/>
              </a:rPr>
              <a:t>PhoneApplicationService.Current.State.Add</a:t>
            </a:r>
            <a:r>
              <a:rPr lang="en-GB" sz="1600" dirty="0">
                <a:latin typeface="Consolas" pitchFamily="49" charset="0"/>
                <a:cs typeface="Consolas" pitchFamily="49" charset="0"/>
              </a:rPr>
              <a:t>(“</a:t>
            </a:r>
            <a:r>
              <a:rPr lang="en-GB" sz="1600" dirty="0" err="1">
                <a:latin typeface="Consolas" pitchFamily="49" charset="0"/>
                <a:cs typeface="Consolas" pitchFamily="49" charset="0"/>
              </a:rPr>
              <a:t>MyUnsavedDataObject</a:t>
            </a:r>
            <a:r>
              <a:rPr lang="en-GB" sz="1600" dirty="0">
                <a:latin typeface="Consolas" pitchFamily="49" charset="0"/>
                <a:cs typeface="Consolas" pitchFamily="49" charset="0"/>
              </a:rPr>
              <a:t>", </a:t>
            </a:r>
            <a:br>
              <a:rPr lang="en-GB" sz="1600" dirty="0">
                <a:latin typeface="Consolas" pitchFamily="49" charset="0"/>
                <a:cs typeface="Consolas" pitchFamily="49" charset="0"/>
              </a:rPr>
            </a:br>
            <a:r>
              <a:rPr lang="en-GB" sz="1600" dirty="0">
                <a:latin typeface="Consolas" pitchFamily="49" charset="0"/>
                <a:cs typeface="Consolas" pitchFamily="49" charset="0"/>
              </a:rPr>
              <a:t>       </a:t>
            </a:r>
            <a:r>
              <a:rPr lang="en-GB" sz="1600" dirty="0" err="1">
                <a:latin typeface="Consolas" pitchFamily="49" charset="0"/>
                <a:cs typeface="Consolas" pitchFamily="49" charset="0"/>
              </a:rPr>
              <a:t>myDataObject</a:t>
            </a:r>
            <a:r>
              <a:rPr lang="en-GB" sz="1600" dirty="0">
                <a:latin typeface="Consolas" pitchFamily="49" charset="0"/>
                <a:cs typeface="Consolas" pitchFamily="49" charset="0"/>
              </a:rPr>
              <a:t>);</a:t>
            </a:r>
          </a:p>
          <a:p>
            <a:endParaRPr lang="en-GB" sz="1600" dirty="0">
              <a:latin typeface="Consolas" pitchFamily="49" charset="0"/>
              <a:cs typeface="Consolas" pitchFamily="49" charset="0"/>
            </a:endParaRPr>
          </a:p>
          <a:p>
            <a:r>
              <a:rPr lang="en-GB" sz="1600" dirty="0">
                <a:latin typeface="Consolas" pitchFamily="49" charset="0"/>
                <a:cs typeface="Consolas" pitchFamily="49" charset="0"/>
              </a:rPr>
              <a:t>  // Optionally, save any data that needs to be persisted – your app may</a:t>
            </a:r>
            <a:br>
              <a:rPr lang="en-GB" sz="1600" dirty="0">
                <a:latin typeface="Consolas" pitchFamily="49" charset="0"/>
                <a:cs typeface="Consolas" pitchFamily="49" charset="0"/>
              </a:rPr>
            </a:br>
            <a:r>
              <a:rPr lang="en-GB" sz="1600" dirty="0">
                <a:latin typeface="Consolas" pitchFamily="49" charset="0"/>
                <a:cs typeface="Consolas" pitchFamily="49" charset="0"/>
              </a:rPr>
              <a:t>  // never be reactivated!</a:t>
            </a:r>
          </a:p>
          <a:p>
            <a:r>
              <a:rPr lang="en-GB" sz="1600" dirty="0">
                <a:latin typeface="Consolas" pitchFamily="49" charset="0"/>
                <a:cs typeface="Consolas" pitchFamily="49" charset="0"/>
              </a:rPr>
              <a:t>  … persist some data …</a:t>
            </a:r>
          </a:p>
          <a:p>
            <a:r>
              <a:rPr lang="en-GB" sz="1600" dirty="0">
                <a:latin typeface="Consolas" pitchFamily="49" charset="0"/>
                <a:cs typeface="Consolas" pitchFamily="49" charset="0"/>
              </a:rPr>
              <a:t>}</a:t>
            </a:r>
          </a:p>
        </p:txBody>
      </p:sp>
    </p:spTree>
    <p:extLst>
      <p:ext uri="{BB962C8B-B14F-4D97-AF65-F5344CB8AC3E}">
        <p14:creationId xmlns:p14="http://schemas.microsoft.com/office/powerpoint/2010/main" val="174358492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mtClean="0"/>
              <a:t>Activated Event Handler</a:t>
            </a:r>
            <a:endParaRPr lang="en-GB" dirty="0"/>
          </a:p>
        </p:txBody>
      </p:sp>
      <p:sp>
        <p:nvSpPr>
          <p:cNvPr id="8" name="Text Placeholder 7"/>
          <p:cNvSpPr>
            <a:spLocks noGrp="1"/>
          </p:cNvSpPr>
          <p:nvPr>
            <p:ph type="body" sz="quarter" idx="10"/>
          </p:nvPr>
        </p:nvSpPr>
        <p:spPr>
          <a:xfrm>
            <a:off x="381000" y="1447800"/>
            <a:ext cx="8363938" cy="1292662"/>
          </a:xfrm>
        </p:spPr>
        <p:txBody>
          <a:bodyPr/>
          <a:lstStyle/>
          <a:p>
            <a:r>
              <a:rPr lang="en-GB" sz="2000" dirty="0" smtClean="0"/>
              <a:t>Code to execute when the application is activated (brought to foreground)</a:t>
            </a:r>
          </a:p>
          <a:p>
            <a:r>
              <a:rPr lang="en-GB" sz="2000" dirty="0" smtClean="0"/>
              <a:t>This code will not execute when the application is first launched</a:t>
            </a:r>
          </a:p>
          <a:p>
            <a:r>
              <a:rPr lang="en-GB" sz="2000" dirty="0" smtClean="0"/>
              <a:t>Application should load app state from </a:t>
            </a:r>
            <a:r>
              <a:rPr lang="en-GB" sz="2000" dirty="0" err="1" smtClean="0"/>
              <a:t>PhoneApplicationService.State</a:t>
            </a:r>
            <a:r>
              <a:rPr lang="en-GB" sz="2000"/>
              <a:t> </a:t>
            </a:r>
            <a:endParaRPr lang="en-GB" sz="2000" smtClean="0"/>
          </a:p>
          <a:p>
            <a:r>
              <a:rPr lang="en-GB" sz="2000" smtClean="0"/>
              <a:t>Present </a:t>
            </a:r>
            <a:r>
              <a:rPr lang="en-GB" sz="2000" dirty="0" smtClean="0"/>
              <a:t>the user with the experience they had before your application was suspended.</a:t>
            </a:r>
            <a:endParaRPr lang="en-GB" sz="2000" dirty="0"/>
          </a:p>
        </p:txBody>
      </p:sp>
      <p:sp>
        <p:nvSpPr>
          <p:cNvPr id="4" name="Slide Number Placeholder 3"/>
          <p:cNvSpPr>
            <a:spLocks noGrp="1"/>
          </p:cNvSpPr>
          <p:nvPr>
            <p:ph type="sldNum" sz="quarter" idx="11"/>
          </p:nvPr>
        </p:nvSpPr>
        <p:spPr/>
        <p:txBody>
          <a:bodyPr/>
          <a:lstStyle/>
          <a:p>
            <a:fld id="{271031BA-9959-4FE2-909F-37D65262A7B4}" type="slidenum">
              <a:rPr lang="en-US" smtClean="0"/>
              <a:pPr/>
              <a:t>90</a:t>
            </a:fld>
            <a:endParaRPr lang="en-US" dirty="0"/>
          </a:p>
        </p:txBody>
      </p:sp>
      <p:sp>
        <p:nvSpPr>
          <p:cNvPr id="2" name="Rectangle 1"/>
          <p:cNvSpPr/>
          <p:nvPr/>
        </p:nvSpPr>
        <p:spPr>
          <a:xfrm>
            <a:off x="380998" y="3102213"/>
            <a:ext cx="8380413" cy="332398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dirty="0">
                <a:latin typeface="Consolas" pitchFamily="49" charset="0"/>
                <a:cs typeface="Consolas" pitchFamily="49" charset="0"/>
              </a:rPr>
              <a:t>void </a:t>
            </a:r>
            <a:r>
              <a:rPr lang="en-GB" sz="1400" dirty="0" err="1">
                <a:latin typeface="Consolas" pitchFamily="49" charset="0"/>
                <a:cs typeface="Consolas" pitchFamily="49" charset="0"/>
              </a:rPr>
              <a:t>Application_Activated</a:t>
            </a:r>
            <a:r>
              <a:rPr lang="en-GB" sz="1400" dirty="0">
                <a:latin typeface="Consolas" pitchFamily="49" charset="0"/>
                <a:cs typeface="Consolas" pitchFamily="49" charset="0"/>
              </a:rPr>
              <a:t>(object sender, </a:t>
            </a:r>
            <a:r>
              <a:rPr lang="en-GB" sz="1400" dirty="0" err="1">
                <a:latin typeface="Consolas" pitchFamily="49" charset="0"/>
                <a:cs typeface="Consolas" pitchFamily="49" charset="0"/>
              </a:rPr>
              <a:t>ActivatedEventArgs</a:t>
            </a:r>
            <a:r>
              <a:rPr lang="en-GB" sz="1400" dirty="0">
                <a:latin typeface="Consolas" pitchFamily="49" charset="0"/>
                <a:cs typeface="Consolas" pitchFamily="49" charset="0"/>
              </a:rPr>
              <a:t> e)</a:t>
            </a:r>
          </a:p>
          <a:p>
            <a:r>
              <a:rPr lang="en-GB" sz="1400" dirty="0">
                <a:latin typeface="Consolas" pitchFamily="49" charset="0"/>
                <a:cs typeface="Consolas" pitchFamily="49" charset="0"/>
              </a:rPr>
              <a:t>{</a:t>
            </a:r>
          </a:p>
          <a:p>
            <a:r>
              <a:rPr lang="en-GB" sz="1400" dirty="0">
                <a:latin typeface="Consolas" pitchFamily="49" charset="0"/>
                <a:cs typeface="Consolas" pitchFamily="49" charset="0"/>
              </a:rPr>
              <a:t>   </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 </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 = null; //Create new data object variable</a:t>
            </a:r>
          </a:p>
          <a:p>
            <a:endParaRPr lang="en-GB" sz="1400" dirty="0">
              <a:latin typeface="Consolas" pitchFamily="49" charset="0"/>
              <a:cs typeface="Consolas" pitchFamily="49" charset="0"/>
            </a:endParaRPr>
          </a:p>
          <a:p>
            <a:r>
              <a:rPr lang="en-GB" sz="1400" dirty="0">
                <a:latin typeface="Consolas" pitchFamily="49" charset="0"/>
                <a:cs typeface="Consolas" pitchFamily="49" charset="0"/>
              </a:rPr>
              <a:t>    //Try to locate previous data in transient state of the application</a:t>
            </a:r>
          </a:p>
          <a:p>
            <a:r>
              <a:rPr lang="en-GB" sz="1400" dirty="0">
                <a:latin typeface="Consolas" pitchFamily="49" charset="0"/>
                <a:cs typeface="Consolas" pitchFamily="49" charset="0"/>
              </a:rPr>
              <a:t>   if (</a:t>
            </a:r>
            <a:r>
              <a:rPr lang="en-GB" sz="1400" dirty="0" err="1">
                <a:latin typeface="Consolas" pitchFamily="49" charset="0"/>
                <a:cs typeface="Consolas" pitchFamily="49" charset="0"/>
              </a:rPr>
              <a:t>PhoneApplicationService.Current.State.ContainsKey</a:t>
            </a:r>
            <a:r>
              <a:rPr lang="en-GB" sz="1400" dirty="0">
                <a:latin typeface="Consolas" pitchFamily="49" charset="0"/>
                <a:cs typeface="Consolas" pitchFamily="49" charset="0"/>
              </a:rPr>
              <a:t>("</a:t>
            </a:r>
            <a:r>
              <a:rPr lang="en-GB" sz="1400" dirty="0" err="1">
                <a:latin typeface="Consolas" pitchFamily="49" charset="0"/>
                <a:cs typeface="Consolas" pitchFamily="49" charset="0"/>
              </a:rPr>
              <a:t>MyUnsavedDataObject</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p>
          <a:p>
            <a:endParaRPr lang="en-GB" sz="1400" dirty="0">
              <a:latin typeface="Consolas" pitchFamily="49" charset="0"/>
              <a:cs typeface="Consolas" pitchFamily="49" charset="0"/>
            </a:endParaRPr>
          </a:p>
          <a:p>
            <a:r>
              <a:rPr lang="en-GB" sz="1400" dirty="0">
                <a:latin typeface="Consolas" pitchFamily="49" charset="0"/>
                <a:cs typeface="Consolas" pitchFamily="49" charset="0"/>
              </a:rPr>
              <a:t>      //If found, initialize data variable &amp; remove from application's state</a:t>
            </a:r>
          </a:p>
          <a:p>
            <a:r>
              <a:rPr lang="en-GB" sz="1400" dirty="0">
                <a:latin typeface="Consolas" pitchFamily="49" charset="0"/>
                <a:cs typeface="Consolas" pitchFamily="49" charset="0"/>
              </a:rPr>
              <a:t>      </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 = </a:t>
            </a:r>
            <a:br>
              <a:rPr lang="en-GB" sz="1400" dirty="0">
                <a:latin typeface="Consolas" pitchFamily="49" charset="0"/>
                <a:cs typeface="Consolas" pitchFamily="49" charset="0"/>
              </a:rPr>
            </a:br>
            <a:r>
              <a:rPr lang="en-GB" sz="1400" dirty="0">
                <a:latin typeface="Consolas" pitchFamily="49" charset="0"/>
                <a:cs typeface="Consolas" pitchFamily="49" charset="0"/>
              </a:rPr>
              <a:t>          </a:t>
            </a:r>
            <a:r>
              <a:rPr lang="en-GB" sz="1400" dirty="0" err="1">
                <a:latin typeface="Consolas" pitchFamily="49" charset="0"/>
                <a:cs typeface="Consolas" pitchFamily="49" charset="0"/>
              </a:rPr>
              <a:t>PhoneApplicationService.Current.State</a:t>
            </a:r>
            <a:r>
              <a:rPr lang="en-GB" sz="1400" dirty="0">
                <a:latin typeface="Consolas" pitchFamily="49" charset="0"/>
                <a:cs typeface="Consolas" pitchFamily="49" charset="0"/>
              </a:rPr>
              <a:t>["</a:t>
            </a:r>
            <a:r>
              <a:rPr lang="en-GB" sz="1400" dirty="0" err="1">
                <a:latin typeface="Consolas" pitchFamily="49" charset="0"/>
                <a:cs typeface="Consolas" pitchFamily="49" charset="0"/>
              </a:rPr>
              <a:t>MyUnsavedDataObject</a:t>
            </a:r>
            <a:r>
              <a:rPr lang="en-GB" sz="1400" dirty="0">
                <a:latin typeface="Consolas" pitchFamily="49" charset="0"/>
                <a:cs typeface="Consolas" pitchFamily="49" charset="0"/>
              </a:rPr>
              <a:t>"] as </a:t>
            </a:r>
            <a:r>
              <a:rPr lang="en-GB" sz="1400" dirty="0" err="1">
                <a:latin typeface="Consolas" pitchFamily="49" charset="0"/>
                <a:cs typeface="Consolas" pitchFamily="49" charset="0"/>
              </a:rPr>
              <a:t>MyDataObject</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r>
              <a:rPr lang="en-GB" sz="1400" dirty="0" err="1">
                <a:latin typeface="Consolas" pitchFamily="49" charset="0"/>
                <a:cs typeface="Consolas" pitchFamily="49" charset="0"/>
              </a:rPr>
              <a:t>PhoneApplicationService.Current.State.Remove</a:t>
            </a:r>
            <a:r>
              <a:rPr lang="en-GB" sz="1400" dirty="0">
                <a:latin typeface="Consolas" pitchFamily="49" charset="0"/>
                <a:cs typeface="Consolas" pitchFamily="49" charset="0"/>
              </a:rPr>
              <a:t>("</a:t>
            </a:r>
            <a:r>
              <a:rPr lang="en-GB" sz="1400" dirty="0" err="1">
                <a:latin typeface="Consolas" pitchFamily="49" charset="0"/>
                <a:cs typeface="Consolas" pitchFamily="49" charset="0"/>
              </a:rPr>
              <a:t>MyUnsavedDataObject</a:t>
            </a:r>
            <a:r>
              <a:rPr lang="en-GB" sz="1400" dirty="0">
                <a:latin typeface="Consolas" pitchFamily="49" charset="0"/>
                <a:cs typeface="Consolas" pitchFamily="49" charset="0"/>
              </a:rPr>
              <a:t>");</a:t>
            </a:r>
          </a:p>
          <a:p>
            <a:r>
              <a:rPr lang="en-GB" sz="1400" dirty="0">
                <a:latin typeface="Consolas" pitchFamily="49" charset="0"/>
                <a:cs typeface="Consolas" pitchFamily="49" charset="0"/>
              </a:rPr>
              <a:t>    }</a:t>
            </a:r>
          </a:p>
          <a:p>
            <a:r>
              <a:rPr lang="en-GB" sz="1400" dirty="0">
                <a:latin typeface="Consolas" pitchFamily="49" charset="0"/>
                <a:cs typeface="Consolas" pitchFamily="49" charset="0"/>
              </a:rPr>
              <a:t>}</a:t>
            </a:r>
          </a:p>
        </p:txBody>
      </p:sp>
    </p:spTree>
    <p:extLst>
      <p:ext uri="{BB962C8B-B14F-4D97-AF65-F5344CB8AC3E}">
        <p14:creationId xmlns:p14="http://schemas.microsoft.com/office/powerpoint/2010/main" val="322829376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 State</a:t>
            </a:r>
            <a:endParaRPr lang="en-US" dirty="0"/>
          </a:p>
        </p:txBody>
      </p:sp>
      <p:sp>
        <p:nvSpPr>
          <p:cNvPr id="3" name="Text Placeholder 2"/>
          <p:cNvSpPr>
            <a:spLocks noGrp="1"/>
          </p:cNvSpPr>
          <p:nvPr>
            <p:ph type="body" sz="quarter" idx="10"/>
          </p:nvPr>
        </p:nvSpPr>
        <p:spPr>
          <a:xfrm>
            <a:off x="381000" y="1447800"/>
            <a:ext cx="8363938" cy="3921073"/>
          </a:xfrm>
        </p:spPr>
        <p:txBody>
          <a:bodyPr/>
          <a:lstStyle/>
          <a:p>
            <a:r>
              <a:rPr lang="en-US" sz="2800" dirty="0" smtClean="0"/>
              <a:t>Restore the visual state of the page when the app is reactivated</a:t>
            </a:r>
          </a:p>
          <a:p>
            <a:pPr lvl="1"/>
            <a:r>
              <a:rPr lang="en-US" dirty="0" smtClean="0"/>
              <a:t>User should see the page exactly as it was</a:t>
            </a:r>
          </a:p>
          <a:p>
            <a:pPr lvl="1"/>
            <a:r>
              <a:rPr lang="en-US" dirty="0" smtClean="0"/>
              <a:t>Include things such as </a:t>
            </a:r>
            <a:r>
              <a:rPr lang="en-GB" dirty="0"/>
              <a:t>scroll position of a </a:t>
            </a:r>
            <a:r>
              <a:rPr lang="en-GB" b="1" dirty="0" err="1"/>
              <a:t>ScrollViewer</a:t>
            </a:r>
            <a:r>
              <a:rPr lang="en-GB" dirty="0"/>
              <a:t> control and the contents of </a:t>
            </a:r>
            <a:r>
              <a:rPr lang="en-GB" b="1" dirty="0" err="1"/>
              <a:t>TextBox</a:t>
            </a:r>
            <a:r>
              <a:rPr lang="en-GB" dirty="0"/>
              <a:t> </a:t>
            </a:r>
            <a:r>
              <a:rPr lang="en-GB" dirty="0" smtClean="0"/>
              <a:t>controls</a:t>
            </a:r>
          </a:p>
          <a:p>
            <a:r>
              <a:rPr lang="en-GB" sz="2800" dirty="0"/>
              <a:t>Use the </a:t>
            </a:r>
            <a:r>
              <a:rPr lang="en-GB" sz="2800" dirty="0">
                <a:hlinkClick r:id="rId3"/>
              </a:rPr>
              <a:t>State</a:t>
            </a:r>
            <a:r>
              <a:rPr lang="en-GB" sz="2800" dirty="0"/>
              <a:t> property of the </a:t>
            </a:r>
            <a:r>
              <a:rPr lang="en-GB" sz="2800" dirty="0" err="1">
                <a:hlinkClick r:id="rId4"/>
              </a:rPr>
              <a:t>PhoneApplicationPage</a:t>
            </a:r>
            <a:r>
              <a:rPr lang="en-GB" sz="2800" dirty="0"/>
              <a:t> class to store transient page </a:t>
            </a:r>
            <a:r>
              <a:rPr lang="en-GB" sz="2800" dirty="0" smtClean="0"/>
              <a:t>state</a:t>
            </a:r>
          </a:p>
          <a:p>
            <a:pPr lvl="1"/>
            <a:r>
              <a:rPr lang="en-GB" dirty="0" smtClean="0"/>
              <a:t>Save state in </a:t>
            </a:r>
            <a:r>
              <a:rPr lang="en-GB" dirty="0" err="1" smtClean="0"/>
              <a:t>OnNavigatedFrom</a:t>
            </a:r>
            <a:r>
              <a:rPr lang="en-GB" dirty="0" smtClean="0"/>
              <a:t> event handler</a:t>
            </a:r>
          </a:p>
          <a:p>
            <a:pPr lvl="1"/>
            <a:r>
              <a:rPr lang="en-GB" dirty="0" smtClean="0"/>
              <a:t>Restore state in </a:t>
            </a:r>
            <a:r>
              <a:rPr lang="en-GB" dirty="0" err="1" smtClean="0"/>
              <a:t>OnNavigatedTo</a:t>
            </a:r>
            <a:r>
              <a:rPr lang="en-GB" dirty="0" smtClean="0"/>
              <a:t> event handler</a:t>
            </a:r>
            <a:endParaRPr lang="en-US" dirty="0" smtClean="0"/>
          </a:p>
        </p:txBody>
      </p:sp>
      <p:sp>
        <p:nvSpPr>
          <p:cNvPr id="5" name="Slide Number Placeholder 4"/>
          <p:cNvSpPr>
            <a:spLocks noGrp="1"/>
          </p:cNvSpPr>
          <p:nvPr>
            <p:ph type="sldNum" sz="quarter" idx="11"/>
          </p:nvPr>
        </p:nvSpPr>
        <p:spPr/>
        <p:txBody>
          <a:bodyPr/>
          <a:lstStyle/>
          <a:p>
            <a:fld id="{271031BA-9959-4FE2-909F-37D65262A7B4}" type="slidenum">
              <a:rPr lang="en-US" smtClean="0"/>
              <a:pPr/>
              <a:t>91</a:t>
            </a:fld>
            <a:endParaRPr lang="en-US" dirty="0"/>
          </a:p>
        </p:txBody>
      </p:sp>
    </p:spTree>
    <p:extLst>
      <p:ext uri="{BB962C8B-B14F-4D97-AF65-F5344CB8AC3E}">
        <p14:creationId xmlns:p14="http://schemas.microsoft.com/office/powerpoint/2010/main" val="3964679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6600" b="1" dirty="0" smtClean="0"/>
              <a:t>Launchers &amp; Choosers</a:t>
            </a:r>
            <a:endParaRPr lang="en-US" sz="66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92</a:t>
            </a:fld>
            <a:endParaRPr lang="en-US" dirty="0"/>
          </a:p>
        </p:txBody>
      </p:sp>
    </p:spTree>
    <p:extLst>
      <p:ext uri="{BB962C8B-B14F-4D97-AF65-F5344CB8AC3E}">
        <p14:creationId xmlns:p14="http://schemas.microsoft.com/office/powerpoint/2010/main" val="41364063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smtClean="0"/>
              <a:t>Launchers and Choosers</a:t>
            </a:r>
            <a:endParaRPr lang="en-GB" dirty="0"/>
          </a:p>
        </p:txBody>
      </p:sp>
      <p:sp>
        <p:nvSpPr>
          <p:cNvPr id="7" name="Text Placeholder 6"/>
          <p:cNvSpPr>
            <a:spLocks noGrp="1"/>
          </p:cNvSpPr>
          <p:nvPr>
            <p:ph type="body" sz="quarter" idx="10"/>
          </p:nvPr>
        </p:nvSpPr>
        <p:spPr>
          <a:xfrm>
            <a:off x="381000" y="1447800"/>
            <a:ext cx="8363938" cy="4450449"/>
          </a:xfrm>
        </p:spPr>
        <p:txBody>
          <a:bodyPr/>
          <a:lstStyle/>
          <a:p>
            <a:r>
              <a:rPr lang="en-GB" sz="2800" dirty="0" smtClean="0"/>
              <a:t>The Windows Phone execution model isolates every application in its own sandbox</a:t>
            </a:r>
          </a:p>
          <a:p>
            <a:pPr lvl="1"/>
            <a:r>
              <a:rPr lang="en-GB" sz="2400" dirty="0" smtClean="0"/>
              <a:t>Apps cannot directly access information stores, </a:t>
            </a:r>
            <a:br>
              <a:rPr lang="en-GB" sz="2400" dirty="0" smtClean="0"/>
            </a:br>
            <a:r>
              <a:rPr lang="en-GB" sz="2400" dirty="0" smtClean="0"/>
              <a:t>such as contacts</a:t>
            </a:r>
          </a:p>
          <a:p>
            <a:pPr lvl="1"/>
            <a:r>
              <a:rPr lang="en-GB" sz="2400" dirty="0" smtClean="0"/>
              <a:t>Apps cannot directly invoke other applications, such as phone or messaging</a:t>
            </a:r>
          </a:p>
          <a:p>
            <a:r>
              <a:rPr lang="en-GB" sz="2800" dirty="0" smtClean="0"/>
              <a:t>Launchers and Choosers allow applications indirect access to these phone features</a:t>
            </a:r>
          </a:p>
          <a:p>
            <a:r>
              <a:rPr lang="en-GB" sz="2800" dirty="0" smtClean="0"/>
              <a:t>Launcher and Chooser APIs invoke distinct built-in applications that replace the currently running application</a:t>
            </a:r>
          </a:p>
          <a:p>
            <a:pPr lvl="1"/>
            <a:r>
              <a:rPr lang="en-GB" sz="2400" dirty="0" smtClean="0"/>
              <a:t>See </a:t>
            </a:r>
            <a:r>
              <a:rPr lang="en-GB" sz="2400" dirty="0" err="1" smtClean="0"/>
              <a:t>Tombstoning</a:t>
            </a:r>
            <a:endParaRPr lang="en-GB" sz="2400" dirty="0"/>
          </a:p>
        </p:txBody>
      </p:sp>
      <p:sp>
        <p:nvSpPr>
          <p:cNvPr id="5" name="Slide Number Placeholder 4"/>
          <p:cNvSpPr>
            <a:spLocks noGrp="1"/>
          </p:cNvSpPr>
          <p:nvPr>
            <p:ph type="sldNum" sz="quarter" idx="11"/>
          </p:nvPr>
        </p:nvSpPr>
        <p:spPr/>
        <p:txBody>
          <a:bodyPr/>
          <a:lstStyle/>
          <a:p>
            <a:fld id="{271031BA-9959-4FE2-909F-37D65262A7B4}" type="slidenum">
              <a:rPr lang="en-US" smtClean="0"/>
              <a:pPr/>
              <a:t>93</a:t>
            </a:fld>
            <a:endParaRPr lang="en-US" dirty="0"/>
          </a:p>
        </p:txBody>
      </p:sp>
    </p:spTree>
    <p:extLst>
      <p:ext uri="{BB962C8B-B14F-4D97-AF65-F5344CB8AC3E}">
        <p14:creationId xmlns:p14="http://schemas.microsoft.com/office/powerpoint/2010/main" val="252252689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1800"/>
            <a:ext cx="8763000" cy="664797"/>
          </a:xfrm>
        </p:spPr>
        <p:txBody>
          <a:bodyPr/>
          <a:lstStyle/>
          <a:p>
            <a:r>
              <a:rPr lang="en-GB" dirty="0" smtClean="0"/>
              <a:t>What Are Launchers and Choosers?</a:t>
            </a:r>
            <a:endParaRPr lang="en-GB" dirty="0"/>
          </a:p>
        </p:txBody>
      </p:sp>
      <p:sp>
        <p:nvSpPr>
          <p:cNvPr id="3" name="Content Placeholder 2"/>
          <p:cNvSpPr>
            <a:spLocks noGrp="1"/>
          </p:cNvSpPr>
          <p:nvPr>
            <p:ph type="body" sz="quarter" idx="10"/>
          </p:nvPr>
        </p:nvSpPr>
        <p:spPr>
          <a:xfrm>
            <a:off x="381000" y="1447800"/>
            <a:ext cx="8363938" cy="5109091"/>
          </a:xfrm>
        </p:spPr>
        <p:txBody>
          <a:bodyPr/>
          <a:lstStyle/>
          <a:p>
            <a:r>
              <a:rPr lang="en-GB" sz="2800" dirty="0" smtClean="0"/>
              <a:t>Launcher</a:t>
            </a:r>
          </a:p>
          <a:p>
            <a:pPr lvl="1"/>
            <a:r>
              <a:rPr lang="en-GB" sz="2400" dirty="0" smtClean="0"/>
              <a:t>Launches one of the built-in applications through which a user completes a task</a:t>
            </a:r>
          </a:p>
          <a:p>
            <a:pPr lvl="1"/>
            <a:r>
              <a:rPr lang="en-GB" sz="2400" dirty="0" smtClean="0"/>
              <a:t>No data is returned to calling application</a:t>
            </a:r>
          </a:p>
          <a:p>
            <a:pPr lvl="1"/>
            <a:r>
              <a:rPr lang="en-GB" sz="2400" dirty="0" smtClean="0"/>
              <a:t>Example: </a:t>
            </a:r>
            <a:r>
              <a:rPr lang="en-GB" sz="2400" dirty="0" err="1" smtClean="0"/>
              <a:t>PhoneCallTask</a:t>
            </a:r>
            <a:endParaRPr lang="en-GB" sz="2400" dirty="0" smtClean="0"/>
          </a:p>
          <a:p>
            <a:r>
              <a:rPr lang="en-GB" sz="2800" dirty="0" smtClean="0"/>
              <a:t>Chooser</a:t>
            </a:r>
          </a:p>
          <a:p>
            <a:pPr lvl="1"/>
            <a:r>
              <a:rPr lang="en-GB" sz="2400" dirty="0" smtClean="0"/>
              <a:t>Launches one of the built-in applications through which a user completes a task</a:t>
            </a:r>
          </a:p>
          <a:p>
            <a:pPr lvl="1"/>
            <a:r>
              <a:rPr lang="en-GB" sz="2400" dirty="0" smtClean="0"/>
              <a:t>Returns some data to calling application</a:t>
            </a:r>
          </a:p>
          <a:p>
            <a:pPr lvl="1"/>
            <a:r>
              <a:rPr lang="en-GB" sz="2400" dirty="0" smtClean="0"/>
              <a:t>When caller completes, calling application is reactivated and supplied with the Chooser result</a:t>
            </a:r>
          </a:p>
          <a:p>
            <a:pPr lvl="2"/>
            <a:r>
              <a:rPr lang="en-GB" sz="2000" dirty="0" smtClean="0"/>
              <a:t>Note, user can cancel the launcher, resulting in an empty return value</a:t>
            </a:r>
          </a:p>
          <a:p>
            <a:pPr lvl="1"/>
            <a:r>
              <a:rPr lang="en-GB" sz="2400" dirty="0" smtClean="0"/>
              <a:t>Example: </a:t>
            </a:r>
            <a:r>
              <a:rPr lang="en-GB" sz="2400" dirty="0" err="1" smtClean="0"/>
              <a:t>PhotoChooserTask</a:t>
            </a:r>
            <a:endParaRPr lang="en-GB" sz="2400" dirty="0" smtClean="0"/>
          </a:p>
        </p:txBody>
      </p:sp>
      <p:sp>
        <p:nvSpPr>
          <p:cNvPr id="5" name="Slide Number Placeholder 4"/>
          <p:cNvSpPr>
            <a:spLocks noGrp="1"/>
          </p:cNvSpPr>
          <p:nvPr>
            <p:ph type="sldNum" sz="quarter" idx="11"/>
          </p:nvPr>
        </p:nvSpPr>
        <p:spPr/>
        <p:txBody>
          <a:bodyPr/>
          <a:lstStyle/>
          <a:p>
            <a:fld id="{B8B17130-D30C-4461-9CCA-B6B1AD89A9DD}" type="slidenum">
              <a:rPr lang="en-US" smtClean="0"/>
              <a:pPr/>
              <a:t>94</a:t>
            </a:fld>
            <a:endParaRPr lang="en-US"/>
          </a:p>
        </p:txBody>
      </p:sp>
    </p:spTree>
    <p:extLst>
      <p:ext uri="{BB962C8B-B14F-4D97-AF65-F5344CB8AC3E}">
        <p14:creationId xmlns:p14="http://schemas.microsoft.com/office/powerpoint/2010/main" val="753268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800" dirty="0"/>
              <a:t>Launchers &amp; Choosers</a:t>
            </a:r>
          </a:p>
        </p:txBody>
      </p:sp>
      <p:sp>
        <p:nvSpPr>
          <p:cNvPr id="2" name="Slide Number Placeholder 1"/>
          <p:cNvSpPr>
            <a:spLocks noGrp="1"/>
          </p:cNvSpPr>
          <p:nvPr>
            <p:ph type="sldNum" sz="quarter" idx="10"/>
          </p:nvPr>
        </p:nvSpPr>
        <p:spPr/>
        <p:txBody>
          <a:bodyPr/>
          <a:lstStyle/>
          <a:p>
            <a:fld id="{B8B17130-D30C-4461-9CCA-B6B1AD89A9DD}" type="slidenum">
              <a:rPr lang="en-US" smtClean="0"/>
              <a:pPr/>
              <a:t>95</a:t>
            </a:fld>
            <a:endParaRPr lang="en-US"/>
          </a:p>
        </p:txBody>
      </p:sp>
      <p:sp>
        <p:nvSpPr>
          <p:cNvPr id="5" name="Text Placeholder 3"/>
          <p:cNvSpPr txBox="1">
            <a:spLocks/>
          </p:cNvSpPr>
          <p:nvPr/>
        </p:nvSpPr>
        <p:spPr>
          <a:xfrm>
            <a:off x="381000" y="1353002"/>
            <a:ext cx="4040188" cy="548640"/>
          </a:xfrm>
          <a:prstGeom prst="rect">
            <a:avLst/>
          </a:prstGeom>
          <a:solidFill>
            <a:schemeClr val="tx2"/>
          </a:solidFill>
        </p:spPr>
        <p:txBody>
          <a:bodyPr vert="horz" lIns="91440" tIns="91440" rIns="91440" bIns="91440" rtlCol="0">
            <a:spAutoFit/>
          </a:bodyPr>
          <a:lstStyle>
            <a:lvl1pPr marL="342900" indent="-342900" algn="l" defTabSz="457200" rtl="0" eaLnBrk="1" latinLnBrk="0" hangingPunct="1">
              <a:spcBef>
                <a:spcPct val="20000"/>
              </a:spcBef>
              <a:buClr>
                <a:srgbClr val="0070C0"/>
              </a:buClr>
              <a:buFont typeface="Wingdings" pitchFamily="2" charset="2"/>
              <a:buChar char="§"/>
              <a:defRPr sz="2400" kern="1200" baseline="0">
                <a:solidFill>
                  <a:schemeClr val="tx1"/>
                </a:solidFill>
                <a:latin typeface="+mn-lt"/>
                <a:ea typeface="+mn-ea"/>
                <a:cs typeface="+mn-cs"/>
              </a:defRPr>
            </a:lvl1pPr>
            <a:lvl2pPr marL="625475" indent="-342900" algn="l" defTabSz="457200" rtl="0" eaLnBrk="1" latinLnBrk="0" hangingPunct="1">
              <a:spcBef>
                <a:spcPct val="20000"/>
              </a:spcBef>
              <a:buClr>
                <a:srgbClr val="0070C0"/>
              </a:buClr>
              <a:buFont typeface="Wingdings" pitchFamily="2" charset="2"/>
              <a:buChar char="§"/>
              <a:defRPr sz="2000" kern="1200" baseline="0">
                <a:solidFill>
                  <a:schemeClr val="tx1"/>
                </a:solidFill>
                <a:latin typeface="+mn-lt"/>
                <a:ea typeface="+mn-ea"/>
                <a:cs typeface="+mn-cs"/>
              </a:defRPr>
            </a:lvl2pPr>
            <a:lvl3pPr marL="863600" indent="-285750" algn="l" defTabSz="457200" rtl="0" eaLnBrk="1" latinLnBrk="0" hangingPunct="1">
              <a:spcBef>
                <a:spcPct val="20000"/>
              </a:spcBef>
              <a:buClr>
                <a:srgbClr val="0070C0"/>
              </a:buClr>
              <a:buFont typeface="Wingdings" pitchFamily="2" charset="2"/>
              <a:buChar char="§"/>
              <a:defRPr sz="1800" kern="1200" baseline="0">
                <a:solidFill>
                  <a:schemeClr val="tx1"/>
                </a:solidFill>
                <a:latin typeface="+mn-lt"/>
                <a:ea typeface="+mn-ea"/>
                <a:cs typeface="+mn-cs"/>
              </a:defRPr>
            </a:lvl3pPr>
            <a:lvl4pPr marL="1146175" indent="-285750" algn="l" defTabSz="457200" rtl="0" eaLnBrk="1" latinLnBrk="0" hangingPunct="1">
              <a:spcBef>
                <a:spcPct val="20000"/>
              </a:spcBef>
              <a:buClr>
                <a:srgbClr val="0070C0"/>
              </a:buClr>
              <a:buFont typeface="Wingdings" pitchFamily="2" charset="2"/>
              <a:buChar char="§"/>
              <a:defRPr sz="1600" kern="1200" baseline="0">
                <a:solidFill>
                  <a:schemeClr val="tx1"/>
                </a:solidFill>
                <a:latin typeface="+mn-lt"/>
                <a:ea typeface="+mn-ea"/>
                <a:cs typeface="+mn-cs"/>
              </a:defRPr>
            </a:lvl4pPr>
            <a:lvl5pPr marL="1374775" indent="-285750" algn="l" defTabSz="457200" rtl="0" eaLnBrk="1" latinLnBrk="0" hangingPunct="1">
              <a:spcBef>
                <a:spcPct val="20000"/>
              </a:spcBef>
              <a:buClr>
                <a:srgbClr val="0070C0"/>
              </a:buClr>
              <a:buFont typeface="Wingdings" pitchFamily="2" charset="2"/>
              <a:buChar char="§"/>
              <a:defRPr sz="1600" kern="1200" baseline="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800" dirty="0" smtClean="0">
                <a:solidFill>
                  <a:schemeClr val="bg1"/>
                </a:solidFill>
              </a:rPr>
              <a:t>Launchers</a:t>
            </a:r>
            <a:endParaRPr lang="en-US" sz="2800" dirty="0">
              <a:solidFill>
                <a:schemeClr val="bg1"/>
              </a:solidFill>
            </a:endParaRPr>
          </a:p>
        </p:txBody>
      </p:sp>
      <p:sp>
        <p:nvSpPr>
          <p:cNvPr id="6" name="Content Placeholder 4"/>
          <p:cNvSpPr txBox="1">
            <a:spLocks/>
          </p:cNvSpPr>
          <p:nvPr/>
        </p:nvSpPr>
        <p:spPr>
          <a:xfrm>
            <a:off x="381000" y="1894769"/>
            <a:ext cx="4040188" cy="4420235"/>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lvl1pPr marL="282575" indent="-282575" algn="l" defTabSz="457200" rtl="0" eaLnBrk="1" latinLnBrk="0" hangingPunct="1">
              <a:spcBef>
                <a:spcPct val="20000"/>
              </a:spcBef>
              <a:buClr>
                <a:srgbClr val="557EB9"/>
              </a:buClr>
              <a:buFont typeface="Wingdings" pitchFamily="2" charset="2"/>
              <a:buChar char="§"/>
              <a:defRPr sz="2400" kern="1200" baseline="0">
                <a:solidFill>
                  <a:schemeClr val="tx1"/>
                </a:solidFill>
                <a:latin typeface="+mn-lt"/>
                <a:ea typeface="+mn-ea"/>
                <a:cs typeface="+mn-cs"/>
              </a:defRPr>
            </a:lvl1pPr>
            <a:lvl2pPr marL="577850" indent="-295275" algn="l" defTabSz="457200" rtl="0" eaLnBrk="1" latinLnBrk="0" hangingPunct="1">
              <a:spcBef>
                <a:spcPct val="20000"/>
              </a:spcBef>
              <a:buClr>
                <a:srgbClr val="557EB9"/>
              </a:buClr>
              <a:buFont typeface="Wingdings" pitchFamily="2" charset="2"/>
              <a:buChar char="§"/>
              <a:defRPr sz="2000" kern="1200" baseline="0">
                <a:solidFill>
                  <a:schemeClr val="tx1"/>
                </a:solidFill>
                <a:latin typeface="+mn-lt"/>
                <a:ea typeface="+mn-ea"/>
                <a:cs typeface="+mn-cs"/>
              </a:defRPr>
            </a:lvl2pPr>
            <a:lvl3pPr marL="860425" indent="-282575" algn="l" defTabSz="457200" rtl="0" eaLnBrk="1" latinLnBrk="0" hangingPunct="1">
              <a:spcBef>
                <a:spcPct val="20000"/>
              </a:spcBef>
              <a:buClr>
                <a:srgbClr val="557EB9"/>
              </a:buClr>
              <a:buFont typeface="Wingdings" pitchFamily="2" charset="2"/>
              <a:buChar char="§"/>
              <a:defRPr sz="1800" kern="1200" baseline="0">
                <a:solidFill>
                  <a:schemeClr val="tx1"/>
                </a:solidFill>
                <a:latin typeface="+mn-lt"/>
                <a:ea typeface="+mn-ea"/>
                <a:cs typeface="+mn-cs"/>
              </a:defRPr>
            </a:lvl3pPr>
            <a:lvl4pPr marL="10890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4pPr>
            <a:lvl5pPr marL="13176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err="1" smtClean="0"/>
              <a:t>PhoneCallTask</a:t>
            </a:r>
            <a:endParaRPr lang="en-US" dirty="0" smtClean="0"/>
          </a:p>
          <a:p>
            <a:r>
              <a:rPr lang="en-US" dirty="0" err="1" smtClean="0"/>
              <a:t>SearchTask</a:t>
            </a:r>
            <a:endParaRPr lang="en-US" dirty="0" smtClean="0"/>
          </a:p>
          <a:p>
            <a:r>
              <a:rPr lang="en-US" dirty="0" err="1" smtClean="0"/>
              <a:t>SMSComposeTask</a:t>
            </a:r>
            <a:endParaRPr lang="en-US" dirty="0" smtClean="0"/>
          </a:p>
          <a:p>
            <a:r>
              <a:rPr lang="en-US" dirty="0" err="1" smtClean="0"/>
              <a:t>WebBrowserTask</a:t>
            </a:r>
            <a:endParaRPr lang="en-US" dirty="0" smtClean="0"/>
          </a:p>
          <a:p>
            <a:r>
              <a:rPr lang="en-US" dirty="0" err="1"/>
              <a:t>EmailComposeTask</a:t>
            </a:r>
            <a:endParaRPr lang="en-US" dirty="0"/>
          </a:p>
          <a:p>
            <a:r>
              <a:rPr lang="en-US" dirty="0" err="1"/>
              <a:t>MarketplaceDetailTask</a:t>
            </a:r>
            <a:endParaRPr lang="en-US" dirty="0"/>
          </a:p>
          <a:p>
            <a:r>
              <a:rPr lang="en-US" dirty="0" err="1"/>
              <a:t>MarketplaceHubTask</a:t>
            </a:r>
            <a:endParaRPr lang="en-US" dirty="0"/>
          </a:p>
          <a:p>
            <a:r>
              <a:rPr lang="en-US" dirty="0" err="1"/>
              <a:t>MarketplaceReviewTask</a:t>
            </a:r>
            <a:endParaRPr lang="en-US" dirty="0"/>
          </a:p>
          <a:p>
            <a:r>
              <a:rPr lang="en-US" dirty="0" err="1"/>
              <a:t>MarketplaceSearchTask</a:t>
            </a:r>
            <a:endParaRPr lang="en-US" dirty="0"/>
          </a:p>
          <a:p>
            <a:r>
              <a:rPr lang="en-US" dirty="0" err="1"/>
              <a:t>MediaPlayerLauncher</a:t>
            </a:r>
            <a:endParaRPr lang="en-US" dirty="0"/>
          </a:p>
        </p:txBody>
      </p:sp>
      <p:sp>
        <p:nvSpPr>
          <p:cNvPr id="7" name="Text Placeholder 5"/>
          <p:cNvSpPr txBox="1">
            <a:spLocks/>
          </p:cNvSpPr>
          <p:nvPr/>
        </p:nvSpPr>
        <p:spPr>
          <a:xfrm>
            <a:off x="4645025" y="1355117"/>
            <a:ext cx="4116389" cy="615553"/>
          </a:xfrm>
          <a:prstGeom prst="rect">
            <a:avLst/>
          </a:prstGeom>
          <a:solidFill>
            <a:schemeClr val="tx2"/>
          </a:solidFill>
        </p:spPr>
        <p:txBody>
          <a:bodyPr wrap="square" lIns="91440" tIns="91440" rIns="91440" bIns="91440">
            <a:spAutoFit/>
          </a:bodyPr>
          <a:lstStyle>
            <a:lvl1pPr marL="282575" indent="-282575" algn="l" defTabSz="457200" rtl="0" eaLnBrk="1" latinLnBrk="0" hangingPunct="1">
              <a:spcBef>
                <a:spcPct val="20000"/>
              </a:spcBef>
              <a:buClr>
                <a:srgbClr val="557EB9"/>
              </a:buClr>
              <a:buFont typeface="Wingdings" pitchFamily="2" charset="2"/>
              <a:buChar char="§"/>
              <a:defRPr sz="2400" kern="1200" baseline="0">
                <a:solidFill>
                  <a:schemeClr val="tx1"/>
                </a:solidFill>
                <a:latin typeface="+mn-lt"/>
                <a:ea typeface="+mn-ea"/>
                <a:cs typeface="+mn-cs"/>
              </a:defRPr>
            </a:lvl1pPr>
            <a:lvl2pPr marL="577850" indent="-295275" algn="l" defTabSz="457200" rtl="0" eaLnBrk="1" latinLnBrk="0" hangingPunct="1">
              <a:spcBef>
                <a:spcPct val="20000"/>
              </a:spcBef>
              <a:buClr>
                <a:srgbClr val="557EB9"/>
              </a:buClr>
              <a:buFont typeface="Wingdings" pitchFamily="2" charset="2"/>
              <a:buChar char="§"/>
              <a:defRPr sz="2000" kern="1200" baseline="0">
                <a:solidFill>
                  <a:schemeClr val="tx1"/>
                </a:solidFill>
                <a:latin typeface="+mn-lt"/>
                <a:ea typeface="+mn-ea"/>
                <a:cs typeface="+mn-cs"/>
              </a:defRPr>
            </a:lvl2pPr>
            <a:lvl3pPr marL="860425" indent="-282575" algn="l" defTabSz="457200" rtl="0" eaLnBrk="1" latinLnBrk="0" hangingPunct="1">
              <a:spcBef>
                <a:spcPct val="20000"/>
              </a:spcBef>
              <a:buClr>
                <a:srgbClr val="557EB9"/>
              </a:buClr>
              <a:buFont typeface="Wingdings" pitchFamily="2" charset="2"/>
              <a:buChar char="§"/>
              <a:defRPr sz="1800" kern="1200" baseline="0">
                <a:solidFill>
                  <a:schemeClr val="tx1"/>
                </a:solidFill>
                <a:latin typeface="+mn-lt"/>
                <a:ea typeface="+mn-ea"/>
                <a:cs typeface="+mn-cs"/>
              </a:defRPr>
            </a:lvl3pPr>
            <a:lvl4pPr marL="10890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4pPr>
            <a:lvl5pPr marL="13176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800" dirty="0" smtClean="0">
                <a:solidFill>
                  <a:schemeClr val="bg1"/>
                </a:solidFill>
              </a:rPr>
              <a:t>Choosers</a:t>
            </a:r>
            <a:endParaRPr lang="en-US" sz="2800" dirty="0">
              <a:solidFill>
                <a:schemeClr val="bg1"/>
              </a:solidFill>
            </a:endParaRPr>
          </a:p>
        </p:txBody>
      </p:sp>
      <p:sp>
        <p:nvSpPr>
          <p:cNvPr id="8" name="Content Placeholder 6"/>
          <p:cNvSpPr txBox="1">
            <a:spLocks/>
          </p:cNvSpPr>
          <p:nvPr/>
        </p:nvSpPr>
        <p:spPr>
          <a:xfrm>
            <a:off x="4645026" y="1903758"/>
            <a:ext cx="4116388" cy="4411246"/>
          </a:xfrm>
          <a:prstGeom prst="rect">
            <a:avLst/>
          </a:prstGeom>
        </p:spPr>
        <p:style>
          <a:lnRef idx="2">
            <a:schemeClr val="accent5"/>
          </a:lnRef>
          <a:fillRef idx="1">
            <a:schemeClr val="lt1"/>
          </a:fillRef>
          <a:effectRef idx="0">
            <a:schemeClr val="accent5"/>
          </a:effectRef>
          <a:fontRef idx="minor">
            <a:schemeClr val="dk1"/>
          </a:fontRef>
        </p:style>
        <p:txBody>
          <a:bodyPr/>
          <a:lstStyle>
            <a:lvl1pPr marL="282575" indent="-282575" algn="l" defTabSz="457200" rtl="0" eaLnBrk="1" latinLnBrk="0" hangingPunct="1">
              <a:spcBef>
                <a:spcPct val="20000"/>
              </a:spcBef>
              <a:buClr>
                <a:srgbClr val="557EB9"/>
              </a:buClr>
              <a:buFont typeface="Wingdings" pitchFamily="2" charset="2"/>
              <a:buChar char="§"/>
              <a:defRPr sz="2400" kern="1200" baseline="0">
                <a:solidFill>
                  <a:schemeClr val="tx1"/>
                </a:solidFill>
                <a:latin typeface="+mn-lt"/>
                <a:ea typeface="+mn-ea"/>
                <a:cs typeface="+mn-cs"/>
              </a:defRPr>
            </a:lvl1pPr>
            <a:lvl2pPr marL="577850" indent="-295275" algn="l" defTabSz="457200" rtl="0" eaLnBrk="1" latinLnBrk="0" hangingPunct="1">
              <a:spcBef>
                <a:spcPct val="20000"/>
              </a:spcBef>
              <a:buClr>
                <a:srgbClr val="557EB9"/>
              </a:buClr>
              <a:buFont typeface="Wingdings" pitchFamily="2" charset="2"/>
              <a:buChar char="§"/>
              <a:defRPr sz="2000" kern="1200" baseline="0">
                <a:solidFill>
                  <a:schemeClr val="tx1"/>
                </a:solidFill>
                <a:latin typeface="+mn-lt"/>
                <a:ea typeface="+mn-ea"/>
                <a:cs typeface="+mn-cs"/>
              </a:defRPr>
            </a:lvl2pPr>
            <a:lvl3pPr marL="860425" indent="-282575" algn="l" defTabSz="457200" rtl="0" eaLnBrk="1" latinLnBrk="0" hangingPunct="1">
              <a:spcBef>
                <a:spcPct val="20000"/>
              </a:spcBef>
              <a:buClr>
                <a:srgbClr val="557EB9"/>
              </a:buClr>
              <a:buFont typeface="Wingdings" pitchFamily="2" charset="2"/>
              <a:buChar char="§"/>
              <a:defRPr sz="1800" kern="1200" baseline="0">
                <a:solidFill>
                  <a:schemeClr val="tx1"/>
                </a:solidFill>
                <a:latin typeface="+mn-lt"/>
                <a:ea typeface="+mn-ea"/>
                <a:cs typeface="+mn-cs"/>
              </a:defRPr>
            </a:lvl3pPr>
            <a:lvl4pPr marL="10890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4pPr>
            <a:lvl5pPr marL="1317625" indent="-228600" algn="l" defTabSz="457200" rtl="0" eaLnBrk="1" latinLnBrk="0" hangingPunct="1">
              <a:spcBef>
                <a:spcPct val="20000"/>
              </a:spcBef>
              <a:buClr>
                <a:srgbClr val="557EB9"/>
              </a:buClr>
              <a:buFont typeface="Wingdings" pitchFamily="2" charset="2"/>
              <a:buChar char="§"/>
              <a:defRPr sz="1600" kern="1200" baseline="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err="1" smtClean="0"/>
              <a:t>CameraCaptureTask</a:t>
            </a:r>
            <a:endParaRPr lang="en-US" dirty="0" smtClean="0"/>
          </a:p>
          <a:p>
            <a:r>
              <a:rPr lang="en-US" dirty="0" err="1" smtClean="0"/>
              <a:t>EmailAddressChooserTask</a:t>
            </a:r>
            <a:endParaRPr lang="en-US" dirty="0" smtClean="0"/>
          </a:p>
          <a:p>
            <a:r>
              <a:rPr lang="en-US" dirty="0" err="1" smtClean="0"/>
              <a:t>PhoneNumberChooserTask</a:t>
            </a:r>
            <a:endParaRPr lang="en-US" dirty="0"/>
          </a:p>
          <a:p>
            <a:r>
              <a:rPr lang="en-US" dirty="0" err="1" smtClean="0"/>
              <a:t>PhotoChooserTask</a:t>
            </a:r>
            <a:endParaRPr lang="en-US" dirty="0" smtClean="0"/>
          </a:p>
          <a:p>
            <a:r>
              <a:rPr lang="en-US" dirty="0" err="1" smtClean="0"/>
              <a:t>SaveEmailAddressTask</a:t>
            </a:r>
            <a:endParaRPr lang="en-US" dirty="0" smtClean="0"/>
          </a:p>
          <a:p>
            <a:r>
              <a:rPr lang="en-US" dirty="0" err="1" smtClean="0"/>
              <a:t>SavePhoneNumberTask</a:t>
            </a:r>
            <a:endParaRPr lang="en-US" dirty="0"/>
          </a:p>
          <a:p>
            <a:pPr marL="0" indent="0">
              <a:buFont typeface="Wingdings" pitchFamily="2" charset="2"/>
              <a:buNone/>
            </a:pPr>
            <a:endParaRPr lang="en-US" dirty="0"/>
          </a:p>
        </p:txBody>
      </p:sp>
    </p:spTree>
    <p:extLst>
      <p:ext uri="{BB962C8B-B14F-4D97-AF65-F5344CB8AC3E}">
        <p14:creationId xmlns:p14="http://schemas.microsoft.com/office/powerpoint/2010/main" val="8657408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z="4800" dirty="0" smtClean="0"/>
              <a:t>Programming Launchers</a:t>
            </a:r>
            <a:endParaRPr lang="en-GB" sz="4800" dirty="0"/>
          </a:p>
        </p:txBody>
      </p:sp>
      <p:sp>
        <p:nvSpPr>
          <p:cNvPr id="4" name="Slide Number Placeholder 3"/>
          <p:cNvSpPr>
            <a:spLocks noGrp="1"/>
          </p:cNvSpPr>
          <p:nvPr>
            <p:ph type="sldNum" sz="quarter" idx="10"/>
          </p:nvPr>
        </p:nvSpPr>
        <p:spPr/>
        <p:txBody>
          <a:bodyPr/>
          <a:lstStyle/>
          <a:p>
            <a:fld id="{271031BA-9959-4FE2-909F-37D65262A7B4}" type="slidenum">
              <a:rPr lang="en-US" smtClean="0"/>
              <a:pPr/>
              <a:t>96</a:t>
            </a:fld>
            <a:endParaRPr lang="en-US" dirty="0"/>
          </a:p>
        </p:txBody>
      </p:sp>
      <p:sp>
        <p:nvSpPr>
          <p:cNvPr id="9" name="Text Placeholder 7"/>
          <p:cNvSpPr txBox="1">
            <a:spLocks/>
          </p:cNvSpPr>
          <p:nvPr/>
        </p:nvSpPr>
        <p:spPr>
          <a:xfrm>
            <a:off x="426598" y="4282669"/>
            <a:ext cx="8350250" cy="1846659"/>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rtlCol="0">
            <a:spAutoFit/>
          </a:bodyPr>
          <a:lstStyle>
            <a:lvl1pPr marL="514350" indent="-514350" algn="l" defTabSz="914363" rtl="0" eaLnBrk="1" latinLnBrk="0" hangingPunct="1">
              <a:lnSpc>
                <a:spcPct val="90000"/>
              </a:lnSpc>
              <a:spcBef>
                <a:spcPct val="20000"/>
              </a:spcBef>
              <a:buClrTx/>
              <a:buSzPct val="90000"/>
              <a:buFont typeface="+mj-lt"/>
              <a:buAutoNum type="arabicPeriod"/>
              <a:defRPr sz="2000" kern="1200" spc="-150" baseline="0">
                <a:gradFill>
                  <a:gsLst>
                    <a:gs pos="0">
                      <a:srgbClr val="737373"/>
                    </a:gs>
                    <a:gs pos="86000">
                      <a:srgbClr val="737373"/>
                    </a:gs>
                  </a:gsLst>
                  <a:lin ang="5400000" scaled="0"/>
                </a:gradFill>
                <a:latin typeface="Consolas" pitchFamily="49" charset="0"/>
                <a:ea typeface="+mn-ea"/>
                <a:cs typeface="+mn-cs"/>
              </a:defRPr>
            </a:lvl1pPr>
            <a:lvl2pPr marL="974725" indent="-514350" algn="l" defTabSz="914363" rtl="0" eaLnBrk="1" latinLnBrk="0" hangingPunct="1">
              <a:lnSpc>
                <a:spcPct val="90000"/>
              </a:lnSpc>
              <a:spcBef>
                <a:spcPct val="20000"/>
              </a:spcBef>
              <a:buClr>
                <a:schemeClr val="tx2"/>
              </a:buClr>
              <a:buSzPct val="100000"/>
              <a:buFont typeface="+mj-lt"/>
              <a:buAutoNum type="arabicPeriod"/>
              <a:defRPr sz="3200" kern="1200" spc="-150" baseline="0">
                <a:gradFill>
                  <a:gsLst>
                    <a:gs pos="0">
                      <a:srgbClr val="737373"/>
                    </a:gs>
                    <a:gs pos="86000">
                      <a:srgbClr val="737373"/>
                    </a:gs>
                  </a:gsLst>
                  <a:lin ang="5400000" scaled="0"/>
                </a:gradFill>
                <a:latin typeface="Consolas" pitchFamily="49" charset="0"/>
                <a:ea typeface="+mn-ea"/>
                <a:cs typeface="+mn-cs"/>
              </a:defRPr>
            </a:lvl2pPr>
            <a:lvl3pPr marL="1312862" indent="-457200" algn="l" defTabSz="914363" rtl="0" eaLnBrk="1" latinLnBrk="0" hangingPunct="1">
              <a:lnSpc>
                <a:spcPct val="90000"/>
              </a:lnSpc>
              <a:spcBef>
                <a:spcPct val="20000"/>
              </a:spcBef>
              <a:buClr>
                <a:schemeClr val="tx2"/>
              </a:buClr>
              <a:buSzPct val="100000"/>
              <a:buFont typeface="+mj-lt"/>
              <a:buAutoNum type="arabicPeriod"/>
              <a:defRPr sz="2800" kern="1200" spc="-150" baseline="0">
                <a:gradFill>
                  <a:gsLst>
                    <a:gs pos="0">
                      <a:srgbClr val="737373"/>
                    </a:gs>
                    <a:gs pos="86000">
                      <a:srgbClr val="737373"/>
                    </a:gs>
                  </a:gsLst>
                  <a:lin ang="5400000" scaled="0"/>
                </a:gradFill>
                <a:latin typeface="Consolas" pitchFamily="49" charset="0"/>
                <a:ea typeface="+mn-ea"/>
                <a:cs typeface="+mn-cs"/>
              </a:defRPr>
            </a:lvl3pPr>
            <a:lvl4pPr marL="1716088" indent="-457200" algn="l" defTabSz="914363" rtl="0" eaLnBrk="1" latinLnBrk="0" hangingPunct="1">
              <a:lnSpc>
                <a:spcPct val="90000"/>
              </a:lnSpc>
              <a:spcBef>
                <a:spcPct val="20000"/>
              </a:spcBef>
              <a:buClr>
                <a:schemeClr val="tx2"/>
              </a:buClr>
              <a:buSzPct val="100000"/>
              <a:buFont typeface="+mj-lt"/>
              <a:buAutoNum type="arabicPeriod"/>
              <a:defRPr sz="2800" kern="1200" spc="-150" baseline="0">
                <a:gradFill>
                  <a:gsLst>
                    <a:gs pos="0">
                      <a:srgbClr val="737373"/>
                    </a:gs>
                    <a:gs pos="86000">
                      <a:srgbClr val="737373"/>
                    </a:gs>
                  </a:gsLst>
                  <a:lin ang="5400000" scaled="0"/>
                </a:gradFill>
                <a:latin typeface="Consolas" pitchFamily="49" charset="0"/>
                <a:ea typeface="+mn-ea"/>
                <a:cs typeface="+mn-cs"/>
              </a:defRPr>
            </a:lvl4pPr>
            <a:lvl5pPr marL="2062162" indent="-457200" algn="l" defTabSz="914363" rtl="0" eaLnBrk="1" latinLnBrk="0" hangingPunct="1">
              <a:lnSpc>
                <a:spcPct val="90000"/>
              </a:lnSpc>
              <a:spcBef>
                <a:spcPct val="20000"/>
              </a:spcBef>
              <a:buClr>
                <a:schemeClr val="tx2"/>
              </a:buClr>
              <a:buSzPct val="100000"/>
              <a:buFont typeface="+mj-lt"/>
              <a:buAutoNum type="arabicPeriod"/>
              <a:defRPr sz="2000" kern="1200" spc="-150" baseline="0">
                <a:gradFill>
                  <a:gsLst>
                    <a:gs pos="0">
                      <a:srgbClr val="737373"/>
                    </a:gs>
                    <a:gs pos="86000">
                      <a:srgbClr val="737373"/>
                    </a:gs>
                  </a:gsLst>
                  <a:lin ang="5400000" scaled="0"/>
                </a:gradFill>
                <a:latin typeface="Consolas" pitchFamily="49" charset="0"/>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dirty="0"/>
              <a:t>// </a:t>
            </a:r>
            <a:r>
              <a:rPr lang="en-GB" b="1" dirty="0" smtClean="0"/>
              <a:t>Launches </a:t>
            </a:r>
            <a:r>
              <a:rPr lang="en-GB" b="1" dirty="0"/>
              <a:t>the Windows Phone Marketplace client application </a:t>
            </a:r>
            <a:r>
              <a:rPr lang="en-GB" dirty="0" smtClean="0"/>
              <a:t/>
            </a:r>
            <a:br>
              <a:rPr lang="en-GB" dirty="0" smtClean="0"/>
            </a:br>
            <a:r>
              <a:rPr lang="en-GB" dirty="0" smtClean="0"/>
              <a:t>// </a:t>
            </a:r>
            <a:r>
              <a:rPr lang="en-GB" b="1" dirty="0" smtClean="0"/>
              <a:t>which </a:t>
            </a:r>
            <a:r>
              <a:rPr lang="en-GB" b="1" dirty="0"/>
              <a:t>then shows the search results based on search terms </a:t>
            </a:r>
            <a:endParaRPr lang="en-GB" b="1" dirty="0" smtClean="0"/>
          </a:p>
          <a:p>
            <a:pPr marL="0" indent="0">
              <a:buNone/>
            </a:pPr>
            <a:r>
              <a:rPr lang="en-GB" dirty="0" err="1"/>
              <a:t>M</a:t>
            </a:r>
            <a:r>
              <a:rPr lang="en-GB" dirty="0" err="1" smtClean="0"/>
              <a:t>arketplaceSearchTask</a:t>
            </a:r>
            <a:r>
              <a:rPr lang="en-GB" dirty="0" smtClean="0"/>
              <a:t> </a:t>
            </a:r>
            <a:r>
              <a:rPr lang="en-GB" dirty="0" err="1"/>
              <a:t>marketplaceSearchTask</a:t>
            </a:r>
            <a:r>
              <a:rPr lang="en-GB" dirty="0"/>
              <a:t> = new </a:t>
            </a:r>
            <a:r>
              <a:rPr lang="en-GB" dirty="0" err="1"/>
              <a:t>MarketplaceSearchTask</a:t>
            </a:r>
            <a:r>
              <a:rPr lang="en-GB" dirty="0"/>
              <a:t>();</a:t>
            </a:r>
          </a:p>
          <a:p>
            <a:pPr marL="0" indent="0">
              <a:buNone/>
            </a:pPr>
            <a:r>
              <a:rPr lang="en-GB" dirty="0" err="1"/>
              <a:t>marketplaceSearchTask.SearchTerms</a:t>
            </a:r>
            <a:r>
              <a:rPr lang="en-GB" dirty="0"/>
              <a:t> = "accelerometer </a:t>
            </a:r>
            <a:r>
              <a:rPr lang="en-GB" dirty="0" err="1"/>
              <a:t>xna</a:t>
            </a:r>
            <a:r>
              <a:rPr lang="en-GB" dirty="0"/>
              <a:t>";</a:t>
            </a:r>
          </a:p>
          <a:p>
            <a:pPr marL="0" indent="0">
              <a:buNone/>
            </a:pPr>
            <a:r>
              <a:rPr lang="en-GB" dirty="0" err="1"/>
              <a:t>marketplaceSearchTask.Show</a:t>
            </a:r>
            <a:r>
              <a:rPr lang="en-GB" dirty="0"/>
              <a:t>();</a:t>
            </a:r>
          </a:p>
        </p:txBody>
      </p:sp>
      <p:sp>
        <p:nvSpPr>
          <p:cNvPr id="3" name="Rectangle 2"/>
          <p:cNvSpPr/>
          <p:nvPr/>
        </p:nvSpPr>
        <p:spPr>
          <a:xfrm>
            <a:off x="380998" y="1444214"/>
            <a:ext cx="8380413" cy="240065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90000"/>
              </a:lnSpc>
              <a:spcBef>
                <a:spcPct val="20000"/>
              </a:spcBef>
              <a:buSzPct val="90000"/>
            </a:pPr>
            <a:r>
              <a:rPr lang="en-GB" sz="2000" spc="-150" dirty="0">
                <a:gradFill>
                  <a:gsLst>
                    <a:gs pos="0">
                      <a:srgbClr val="737373"/>
                    </a:gs>
                    <a:gs pos="86000">
                      <a:srgbClr val="737373"/>
                    </a:gs>
                  </a:gsLst>
                  <a:lin ang="5400000" scaled="0"/>
                </a:gradFill>
                <a:latin typeface="Consolas" pitchFamily="49" charset="0"/>
              </a:rPr>
              <a:t>// </a:t>
            </a:r>
            <a:r>
              <a:rPr lang="en-GB" sz="2000" b="1" spc="-150" dirty="0">
                <a:gradFill>
                  <a:gsLst>
                    <a:gs pos="0">
                      <a:srgbClr val="737373"/>
                    </a:gs>
                    <a:gs pos="86000">
                      <a:srgbClr val="737373"/>
                    </a:gs>
                  </a:gsLst>
                  <a:lin ang="5400000" scaled="0"/>
                </a:gradFill>
                <a:latin typeface="Consolas" pitchFamily="49" charset="0"/>
              </a:rPr>
              <a:t>Launches the Email application: displays a new email message</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a:t>
            </a:r>
            <a:r>
              <a:rPr lang="en-GB" sz="2000" spc="-150" dirty="0">
                <a:gradFill>
                  <a:gsLst>
                    <a:gs pos="0">
                      <a:srgbClr val="737373"/>
                    </a:gs>
                    <a:gs pos="86000">
                      <a:srgbClr val="737373"/>
                    </a:gs>
                  </a:gsLst>
                  <a:lin ang="5400000" scaled="0"/>
                </a:gradFill>
                <a:latin typeface="Consolas" pitchFamily="49" charset="0"/>
              </a:rPr>
              <a:t> </a:t>
            </a:r>
            <a:r>
              <a:rPr lang="en-GB" sz="2000" spc="-150" dirty="0" err="1">
                <a:gradFill>
                  <a:gsLst>
                    <a:gs pos="0">
                      <a:srgbClr val="737373"/>
                    </a:gs>
                    <a:gs pos="86000">
                      <a:srgbClr val="737373"/>
                    </a:gs>
                  </a:gsLst>
                  <a:lin ang="5400000" scaled="0"/>
                </a:gradFill>
                <a:latin typeface="Consolas" pitchFamily="49" charset="0"/>
              </a:rPr>
              <a:t>emailComposeTask</a:t>
            </a:r>
            <a:r>
              <a:rPr lang="en-GB" sz="2000" spc="-150" dirty="0">
                <a:gradFill>
                  <a:gsLst>
                    <a:gs pos="0">
                      <a:srgbClr val="737373"/>
                    </a:gs>
                    <a:gs pos="86000">
                      <a:srgbClr val="737373"/>
                    </a:gs>
                  </a:gsLst>
                  <a:lin ang="5400000" scaled="0"/>
                </a:gradFill>
                <a:latin typeface="Consolas" pitchFamily="49" charset="0"/>
              </a:rPr>
              <a:t> = new </a:t>
            </a:r>
            <a:r>
              <a:rPr lang="en-GB" sz="2000" spc="-150" dirty="0" err="1">
                <a:gradFill>
                  <a:gsLst>
                    <a:gs pos="0">
                      <a:srgbClr val="737373"/>
                    </a:gs>
                    <a:gs pos="86000">
                      <a:srgbClr val="737373"/>
                    </a:gs>
                  </a:gsLst>
                  <a:lin ang="5400000" scaled="0"/>
                </a:gradFill>
                <a:latin typeface="Consolas" pitchFamily="49" charset="0"/>
              </a:rPr>
              <a:t>EmailComposeTask</a:t>
            </a:r>
            <a:r>
              <a:rPr lang="en-GB" sz="2000"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emailComposeTask.To</a:t>
            </a:r>
            <a:r>
              <a:rPr lang="en-GB" sz="2000" spc="-150" dirty="0">
                <a:gradFill>
                  <a:gsLst>
                    <a:gs pos="0">
                      <a:srgbClr val="737373"/>
                    </a:gs>
                    <a:gs pos="86000">
                      <a:srgbClr val="737373"/>
                    </a:gs>
                  </a:gsLst>
                  <a:lin ang="5400000" scaled="0"/>
                </a:gradFill>
                <a:latin typeface="Consolas" pitchFamily="49" charset="0"/>
              </a:rPr>
              <a:t> = "user@example.com";</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emailComposeTask.Body</a:t>
            </a:r>
            <a:r>
              <a:rPr lang="en-GB" sz="2000" spc="-150" dirty="0">
                <a:gradFill>
                  <a:gsLst>
                    <a:gs pos="0">
                      <a:srgbClr val="737373"/>
                    </a:gs>
                    <a:gs pos="86000">
                      <a:srgbClr val="737373"/>
                    </a:gs>
                  </a:gsLst>
                  <a:lin ang="5400000" scaled="0"/>
                </a:gradFill>
                <a:latin typeface="Consolas" pitchFamily="49" charset="0"/>
              </a:rPr>
              <a:t> = "Email message body";</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emailComposeTask.Cc</a:t>
            </a:r>
            <a:r>
              <a:rPr lang="en-GB" sz="2000" spc="-150" dirty="0">
                <a:gradFill>
                  <a:gsLst>
                    <a:gs pos="0">
                      <a:srgbClr val="737373"/>
                    </a:gs>
                    <a:gs pos="86000">
                      <a:srgbClr val="737373"/>
                    </a:gs>
                  </a:gsLst>
                  <a:lin ang="5400000" scaled="0"/>
                </a:gradFill>
                <a:latin typeface="Consolas" pitchFamily="49" charset="0"/>
              </a:rPr>
              <a:t> = "user2@example.com";</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emailComposeTask.Subject</a:t>
            </a:r>
            <a:r>
              <a:rPr lang="en-GB" sz="2000" spc="-150" dirty="0">
                <a:gradFill>
                  <a:gsLst>
                    <a:gs pos="0">
                      <a:srgbClr val="737373"/>
                    </a:gs>
                    <a:gs pos="86000">
                      <a:srgbClr val="737373"/>
                    </a:gs>
                  </a:gsLst>
                  <a:lin ang="5400000" scaled="0"/>
                </a:gradFill>
                <a:latin typeface="Consolas" pitchFamily="49" charset="0"/>
              </a:rPr>
              <a:t> = "Email subject";</a:t>
            </a:r>
          </a:p>
          <a:p>
            <a:pPr lvl="0">
              <a:lnSpc>
                <a:spcPct val="90000"/>
              </a:lnSpc>
              <a:spcBef>
                <a:spcPct val="20000"/>
              </a:spcBef>
              <a:buSzPct val="90000"/>
            </a:pPr>
            <a:r>
              <a:rPr lang="en-GB" sz="2000" spc="-150" dirty="0" err="1">
                <a:gradFill>
                  <a:gsLst>
                    <a:gs pos="0">
                      <a:srgbClr val="737373"/>
                    </a:gs>
                    <a:gs pos="86000">
                      <a:srgbClr val="737373"/>
                    </a:gs>
                  </a:gsLst>
                  <a:lin ang="5400000" scaled="0"/>
                </a:gradFill>
                <a:latin typeface="Consolas" pitchFamily="49" charset="0"/>
              </a:rPr>
              <a:t>emailComposeTask.Show</a:t>
            </a:r>
            <a:r>
              <a:rPr lang="en-GB" sz="2000" spc="-150" dirty="0">
                <a:gradFill>
                  <a:gsLst>
                    <a:gs pos="0">
                      <a:srgbClr val="737373"/>
                    </a:gs>
                    <a:gs pos="86000">
                      <a:srgbClr val="737373"/>
                    </a:gs>
                  </a:gsLst>
                  <a:lin ang="5400000" scaled="0"/>
                </a:gradFill>
                <a:latin typeface="Consolas" pitchFamily="49" charset="0"/>
              </a:rPr>
              <a:t>();</a:t>
            </a:r>
          </a:p>
        </p:txBody>
      </p:sp>
    </p:spTree>
    <p:extLst>
      <p:ext uri="{BB962C8B-B14F-4D97-AF65-F5344CB8AC3E}">
        <p14:creationId xmlns:p14="http://schemas.microsoft.com/office/powerpoint/2010/main" val="18833786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Choosers and the Execution Model</a:t>
            </a:r>
            <a:endParaRPr lang="en-GB" dirty="0"/>
          </a:p>
        </p:txBody>
      </p:sp>
      <p:sp>
        <p:nvSpPr>
          <p:cNvPr id="6" name="Text Placeholder 5"/>
          <p:cNvSpPr>
            <a:spLocks noGrp="1"/>
          </p:cNvSpPr>
          <p:nvPr>
            <p:ph type="body" sz="quarter" idx="10"/>
          </p:nvPr>
        </p:nvSpPr>
        <p:spPr>
          <a:xfrm>
            <a:off x="381000" y="1447800"/>
            <a:ext cx="8363938" cy="5152180"/>
          </a:xfrm>
        </p:spPr>
        <p:txBody>
          <a:bodyPr/>
          <a:lstStyle/>
          <a:p>
            <a:r>
              <a:rPr lang="en-GB" sz="2800" dirty="0" smtClean="0"/>
              <a:t>Important! When you launch a Launcher or Chooser, your app is terminated (most of the times)</a:t>
            </a:r>
          </a:p>
          <a:p>
            <a:pPr lvl="1"/>
            <a:r>
              <a:rPr lang="en-GB" sz="2400" dirty="0" smtClean="0"/>
              <a:t>When the task completes, your app may be reactivated and a new app instance created (see </a:t>
            </a:r>
            <a:r>
              <a:rPr lang="en-GB" sz="2400" dirty="0" err="1" smtClean="0"/>
              <a:t>Tombstoning</a:t>
            </a:r>
            <a:r>
              <a:rPr lang="en-GB" sz="2400" dirty="0" smtClean="0"/>
              <a:t>)</a:t>
            </a:r>
          </a:p>
          <a:p>
            <a:r>
              <a:rPr lang="en-GB" sz="2800" dirty="0" smtClean="0"/>
              <a:t>To use a Chooser</a:t>
            </a:r>
          </a:p>
          <a:p>
            <a:pPr lvl="1"/>
            <a:r>
              <a:rPr lang="en-GB" sz="2400" dirty="0" smtClean="0"/>
              <a:t>Chooser object must be declared with class scope within the </a:t>
            </a:r>
            <a:r>
              <a:rPr lang="en-GB" sz="2400" dirty="0" err="1" smtClean="0">
                <a:hlinkClick r:id="rId2"/>
              </a:rPr>
              <a:t>PhoneApplicationPage</a:t>
            </a:r>
            <a:endParaRPr lang="en-GB" sz="2400" dirty="0" smtClean="0"/>
          </a:p>
          <a:p>
            <a:pPr lvl="1"/>
            <a:r>
              <a:rPr lang="en-GB" sz="2400" dirty="0" smtClean="0"/>
              <a:t>In the </a:t>
            </a:r>
            <a:r>
              <a:rPr lang="en-GB" sz="2400" dirty="0" err="1" smtClean="0">
                <a:hlinkClick r:id="rId2"/>
              </a:rPr>
              <a:t>PhoneApplicationPage</a:t>
            </a:r>
            <a:r>
              <a:rPr lang="en-GB" sz="2400" dirty="0" smtClean="0"/>
              <a:t> constructor, create an instance of the Chooser class you wish to use</a:t>
            </a:r>
          </a:p>
          <a:p>
            <a:pPr lvl="1"/>
            <a:r>
              <a:rPr lang="en-GB" sz="2400" dirty="0" smtClean="0"/>
              <a:t>Also in the </a:t>
            </a:r>
            <a:r>
              <a:rPr lang="en-GB" sz="2400" dirty="0" err="1" smtClean="0">
                <a:hlinkClick r:id="rId2"/>
              </a:rPr>
              <a:t>PhoneApplicationPage</a:t>
            </a:r>
            <a:r>
              <a:rPr lang="en-GB" sz="2400" dirty="0" smtClean="0"/>
              <a:t> constructor, assign a delegate for the Chooser’s </a:t>
            </a:r>
            <a:r>
              <a:rPr lang="en-GB" sz="2400" dirty="0" smtClean="0">
                <a:hlinkClick r:id="rId3"/>
              </a:rPr>
              <a:t>Completed</a:t>
            </a:r>
            <a:r>
              <a:rPr lang="en-GB" sz="2400" dirty="0" smtClean="0"/>
              <a:t> event</a:t>
            </a:r>
          </a:p>
          <a:p>
            <a:pPr lvl="1"/>
            <a:r>
              <a:rPr lang="en-GB" sz="2400" dirty="0" smtClean="0"/>
              <a:t>Implement the event handler for the </a:t>
            </a:r>
            <a:r>
              <a:rPr lang="en-GB" sz="2400" dirty="0" smtClean="0">
                <a:hlinkClick r:id="rId3"/>
              </a:rPr>
              <a:t>Completed</a:t>
            </a:r>
            <a:r>
              <a:rPr lang="en-GB" sz="2400" dirty="0" smtClean="0"/>
              <a:t> event</a:t>
            </a:r>
          </a:p>
          <a:p>
            <a:pPr lvl="1"/>
            <a:r>
              <a:rPr lang="en-GB" sz="2400" dirty="0" smtClean="0"/>
              <a:t>Call the Chooser’s Show method to invoke the Chooser</a:t>
            </a:r>
            <a:endParaRPr lang="en-GB" sz="2400" dirty="0"/>
          </a:p>
        </p:txBody>
      </p:sp>
      <p:sp>
        <p:nvSpPr>
          <p:cNvPr id="3" name="Slide Number Placeholder 2"/>
          <p:cNvSpPr>
            <a:spLocks noGrp="1"/>
          </p:cNvSpPr>
          <p:nvPr>
            <p:ph type="sldNum" sz="quarter" idx="11"/>
          </p:nvPr>
        </p:nvSpPr>
        <p:spPr/>
        <p:txBody>
          <a:bodyPr/>
          <a:lstStyle/>
          <a:p>
            <a:fld id="{271031BA-9959-4FE2-909F-37D65262A7B4}" type="slidenum">
              <a:rPr lang="en-US" smtClean="0"/>
              <a:pPr/>
              <a:t>97</a:t>
            </a:fld>
            <a:endParaRPr lang="en-US" dirty="0"/>
          </a:p>
        </p:txBody>
      </p:sp>
    </p:spTree>
    <p:extLst>
      <p:ext uri="{BB962C8B-B14F-4D97-AF65-F5344CB8AC3E}">
        <p14:creationId xmlns:p14="http://schemas.microsoft.com/office/powerpoint/2010/main" val="7112482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sz="4400" dirty="0" smtClean="0"/>
              <a:t>Programming Choosers</a:t>
            </a:r>
            <a:endParaRPr lang="en-GB" sz="4400" dirty="0"/>
          </a:p>
        </p:txBody>
      </p:sp>
      <p:sp>
        <p:nvSpPr>
          <p:cNvPr id="4" name="Slide Number Placeholder 3"/>
          <p:cNvSpPr>
            <a:spLocks noGrp="1"/>
          </p:cNvSpPr>
          <p:nvPr>
            <p:ph type="sldNum" sz="quarter" idx="10"/>
          </p:nvPr>
        </p:nvSpPr>
        <p:spPr/>
        <p:txBody>
          <a:bodyPr/>
          <a:lstStyle/>
          <a:p>
            <a:fld id="{271031BA-9959-4FE2-909F-37D65262A7B4}" type="slidenum">
              <a:rPr lang="en-US" smtClean="0"/>
              <a:pPr/>
              <a:t>98</a:t>
            </a:fld>
            <a:endParaRPr lang="en-US" dirty="0"/>
          </a:p>
        </p:txBody>
      </p:sp>
      <p:sp>
        <p:nvSpPr>
          <p:cNvPr id="2" name="Rectangle 1"/>
          <p:cNvSpPr/>
          <p:nvPr/>
        </p:nvSpPr>
        <p:spPr>
          <a:xfrm>
            <a:off x="381000" y="1447800"/>
            <a:ext cx="8380413" cy="521989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public partial class </a:t>
            </a:r>
            <a:r>
              <a:rPr lang="en-GB" sz="1400" b="1" spc="-150" dirty="0" err="1">
                <a:gradFill>
                  <a:gsLst>
                    <a:gs pos="0">
                      <a:srgbClr val="737373"/>
                    </a:gs>
                    <a:gs pos="86000">
                      <a:srgbClr val="737373"/>
                    </a:gs>
                  </a:gsLst>
                  <a:lin ang="5400000" scaled="0"/>
                </a:gradFill>
                <a:latin typeface="Consolas" pitchFamily="49" charset="0"/>
              </a:rPr>
              <a:t>MainPage</a:t>
            </a:r>
            <a:r>
              <a:rPr lang="en-GB" sz="1400" b="1" spc="-150" dirty="0">
                <a:gradFill>
                  <a:gsLst>
                    <a:gs pos="0">
                      <a:srgbClr val="737373"/>
                    </a:gs>
                    <a:gs pos="86000">
                      <a:srgbClr val="737373"/>
                    </a:gs>
                  </a:gsLst>
                  <a:lin ang="5400000" scaled="0"/>
                </a:gradFill>
                <a:latin typeface="Consolas" pitchFamily="49" charset="0"/>
              </a:rPr>
              <a:t> : </a:t>
            </a:r>
            <a:r>
              <a:rPr lang="en-GB" sz="1400" b="1" spc="-150" dirty="0" err="1">
                <a:gradFill>
                  <a:gsLst>
                    <a:gs pos="0">
                      <a:srgbClr val="737373"/>
                    </a:gs>
                    <a:gs pos="86000">
                      <a:srgbClr val="737373"/>
                    </a:gs>
                  </a:gsLst>
                  <a:lin ang="5400000" scaled="0"/>
                </a:gradFill>
                <a:latin typeface="Consolas" pitchFamily="49" charset="0"/>
              </a:rPr>
              <a:t>PhoneApplicationPage</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smtClean="0">
                <a:solidFill>
                  <a:srgbClr val="92D050"/>
                </a:solidFill>
                <a:latin typeface="Consolas" pitchFamily="49" charset="0"/>
              </a:rPr>
              <a:t>    // </a:t>
            </a:r>
            <a:r>
              <a:rPr lang="en-GB" sz="1400" b="1" spc="-150" dirty="0">
                <a:solidFill>
                  <a:srgbClr val="92D050"/>
                </a:solidFill>
                <a:latin typeface="Consolas" pitchFamily="49" charset="0"/>
              </a:rPr>
              <a:t>Declare the </a:t>
            </a:r>
            <a:r>
              <a:rPr lang="en-GB" sz="1400" b="1" spc="-150" dirty="0" err="1">
                <a:solidFill>
                  <a:srgbClr val="92D050"/>
                </a:solidFill>
                <a:latin typeface="Consolas" pitchFamily="49" charset="0"/>
              </a:rPr>
              <a:t>PhotoChooserTask</a:t>
            </a:r>
            <a:r>
              <a:rPr lang="en-GB" sz="1400" b="1" spc="-150" dirty="0">
                <a:solidFill>
                  <a:srgbClr val="92D050"/>
                </a:solidFill>
                <a:latin typeface="Consolas" pitchFamily="49" charset="0"/>
              </a:rPr>
              <a:t> object with page scope.</a:t>
            </a:r>
            <a:r>
              <a:rPr lang="en-GB" sz="1400" b="1" spc="-150" dirty="0" smtClean="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smtClean="0">
                <a:gradFill>
                  <a:gsLst>
                    <a:gs pos="0">
                      <a:srgbClr val="737373"/>
                    </a:gs>
                    <a:gs pos="86000">
                      <a:srgbClr val="737373"/>
                    </a:gs>
                  </a:gsLst>
                  <a:lin ang="5400000" scaled="0"/>
                </a:gradFill>
                <a:latin typeface="Consolas" pitchFamily="49" charset="0"/>
              </a:rPr>
              <a:t>    </a:t>
            </a:r>
            <a:r>
              <a:rPr lang="en-GB" sz="1400" b="1" spc="-150" dirty="0" err="1" smtClean="0">
                <a:gradFill>
                  <a:gsLst>
                    <a:gs pos="0">
                      <a:srgbClr val="737373"/>
                    </a:gs>
                    <a:gs pos="86000">
                      <a:srgbClr val="737373"/>
                    </a:gs>
                  </a:gsLst>
                  <a:lin ang="5400000" scaled="0"/>
                </a:gradFill>
                <a:latin typeface="Consolas" pitchFamily="49" charset="0"/>
              </a:rPr>
              <a:t>PhotoChooserTask</a:t>
            </a:r>
            <a:r>
              <a:rPr lang="en-GB" sz="1400" b="1" spc="-150" dirty="0" smtClean="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photoChooserTask</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endParaRPr lang="en-GB" sz="1400" b="1" spc="-150" dirty="0">
              <a:solidFill>
                <a:srgbClr val="92D050"/>
              </a:solidFill>
              <a:latin typeface="Consolas" pitchFamily="49" charset="0"/>
            </a:endParaRP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public </a:t>
            </a:r>
            <a:r>
              <a:rPr lang="en-GB" sz="1400" b="1" spc="-150" dirty="0" err="1">
                <a:gradFill>
                  <a:gsLst>
                    <a:gs pos="0">
                      <a:srgbClr val="737373"/>
                    </a:gs>
                    <a:gs pos="86000">
                      <a:srgbClr val="737373"/>
                    </a:gs>
                  </a:gsLst>
                  <a:lin ang="5400000" scaled="0"/>
                </a:gradFill>
                <a:latin typeface="Consolas" pitchFamily="49" charset="0"/>
              </a:rPr>
              <a:t>MainPage</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InitializeComponent</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 Initialize the </a:t>
            </a:r>
            <a:r>
              <a:rPr lang="en-GB" sz="1400" b="1" spc="-150" dirty="0" err="1">
                <a:gradFill>
                  <a:gsLst>
                    <a:gs pos="0">
                      <a:srgbClr val="737373"/>
                    </a:gs>
                    <a:gs pos="86000">
                      <a:srgbClr val="737373"/>
                    </a:gs>
                  </a:gsLst>
                  <a:lin ang="5400000" scaled="0"/>
                </a:gradFill>
                <a:latin typeface="Consolas" pitchFamily="49" charset="0"/>
              </a:rPr>
              <a:t>PhotoChooserTask</a:t>
            </a:r>
            <a:r>
              <a:rPr lang="en-GB" sz="1400" b="1" spc="-150" dirty="0">
                <a:gradFill>
                  <a:gsLst>
                    <a:gs pos="0">
                      <a:srgbClr val="737373"/>
                    </a:gs>
                    <a:gs pos="86000">
                      <a:srgbClr val="737373"/>
                    </a:gs>
                  </a:gsLst>
                  <a:lin ang="5400000" scaled="0"/>
                </a:gradFill>
                <a:latin typeface="Consolas" pitchFamily="49" charset="0"/>
              </a:rPr>
              <a:t> and assign the Completed handler</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photoChooserTask</a:t>
            </a:r>
            <a:r>
              <a:rPr lang="en-GB" sz="1400" b="1" spc="-150" dirty="0">
                <a:gradFill>
                  <a:gsLst>
                    <a:gs pos="0">
                      <a:srgbClr val="737373"/>
                    </a:gs>
                    <a:gs pos="86000">
                      <a:srgbClr val="737373"/>
                    </a:gs>
                  </a:gsLst>
                  <a:lin ang="5400000" scaled="0"/>
                </a:gradFill>
                <a:latin typeface="Consolas" pitchFamily="49" charset="0"/>
              </a:rPr>
              <a:t> = new </a:t>
            </a:r>
            <a:r>
              <a:rPr lang="en-GB" sz="1400" b="1" spc="-150" dirty="0" err="1">
                <a:gradFill>
                  <a:gsLst>
                    <a:gs pos="0">
                      <a:srgbClr val="737373"/>
                    </a:gs>
                    <a:gs pos="86000">
                      <a:srgbClr val="737373"/>
                    </a:gs>
                  </a:gsLst>
                  <a:lin ang="5400000" scaled="0"/>
                </a:gradFill>
                <a:latin typeface="Consolas" pitchFamily="49" charset="0"/>
              </a:rPr>
              <a:t>PhotoChooserTask</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photoChooserTask.Completed</a:t>
            </a:r>
            <a:r>
              <a:rPr lang="en-GB" sz="1400" b="1" spc="-150" dirty="0">
                <a:gradFill>
                  <a:gsLst>
                    <a:gs pos="0">
                      <a:srgbClr val="737373"/>
                    </a:gs>
                    <a:gs pos="86000">
                      <a:srgbClr val="737373"/>
                    </a:gs>
                  </a:gsLst>
                  <a:lin ang="5400000" scaled="0"/>
                </a:gradFill>
                <a:latin typeface="Consolas" pitchFamily="49" charset="0"/>
              </a:rPr>
              <a:t> += new </a:t>
            </a:r>
            <a:br>
              <a:rPr lang="en-GB" sz="1400" b="1" spc="-150" dirty="0">
                <a:gradFill>
                  <a:gsLst>
                    <a:gs pos="0">
                      <a:srgbClr val="737373"/>
                    </a:gs>
                    <a:gs pos="86000">
                      <a:srgbClr val="737373"/>
                    </a:gs>
                  </a:gsLst>
                  <a:lin ang="5400000" scaled="0"/>
                </a:gradFill>
                <a:latin typeface="Consolas" pitchFamily="49" charset="0"/>
              </a:rPr>
            </a:b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EventHandler</a:t>
            </a:r>
            <a:r>
              <a:rPr lang="en-GB" sz="1400" b="1" spc="-150" dirty="0">
                <a:gradFill>
                  <a:gsLst>
                    <a:gs pos="0">
                      <a:srgbClr val="737373"/>
                    </a:gs>
                    <a:gs pos="86000">
                      <a:srgbClr val="737373"/>
                    </a:gs>
                  </a:gsLst>
                  <a:lin ang="5400000" scaled="0"/>
                </a:gradFill>
                <a:latin typeface="Consolas" pitchFamily="49" charset="0"/>
              </a:rPr>
              <a:t>&lt;</a:t>
            </a:r>
            <a:r>
              <a:rPr lang="en-GB" sz="1400" b="1" spc="-150" dirty="0" err="1">
                <a:gradFill>
                  <a:gsLst>
                    <a:gs pos="0">
                      <a:srgbClr val="737373"/>
                    </a:gs>
                    <a:gs pos="86000">
                      <a:srgbClr val="737373"/>
                    </a:gs>
                  </a:gsLst>
                  <a:lin ang="5400000" scaled="0"/>
                </a:gradFill>
                <a:latin typeface="Consolas" pitchFamily="49" charset="0"/>
              </a:rPr>
              <a:t>PhotoResult</a:t>
            </a:r>
            <a:r>
              <a:rPr lang="en-GB" sz="1400" b="1" spc="-150" dirty="0">
                <a:gradFill>
                  <a:gsLst>
                    <a:gs pos="0">
                      <a:srgbClr val="737373"/>
                    </a:gs>
                    <a:gs pos="86000">
                      <a:srgbClr val="737373"/>
                    </a:gs>
                  </a:gsLst>
                  <a:lin ang="5400000" scaled="0"/>
                </a:gradFill>
                <a:latin typeface="Consolas" pitchFamily="49" charset="0"/>
              </a:rPr>
              <a:t>&gt;(</a:t>
            </a:r>
            <a:r>
              <a:rPr lang="en-GB" sz="1400" b="1" spc="-150" dirty="0" err="1">
                <a:gradFill>
                  <a:gsLst>
                    <a:gs pos="0">
                      <a:srgbClr val="737373"/>
                    </a:gs>
                    <a:gs pos="86000">
                      <a:srgbClr val="737373"/>
                    </a:gs>
                  </a:gsLst>
                  <a:lin ang="5400000" scaled="0"/>
                </a:gradFill>
                <a:latin typeface="Consolas" pitchFamily="49" charset="0"/>
              </a:rPr>
              <a:t>photoChooserTask_Completed</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private void button1_Click(object sender, </a:t>
            </a:r>
            <a:r>
              <a:rPr lang="en-GB" sz="1400" b="1" spc="-150" dirty="0" err="1">
                <a:gradFill>
                  <a:gsLst>
                    <a:gs pos="0">
                      <a:srgbClr val="737373"/>
                    </a:gs>
                    <a:gs pos="86000">
                      <a:srgbClr val="737373"/>
                    </a:gs>
                  </a:gsLst>
                  <a:lin ang="5400000" scaled="0"/>
                </a:gradFill>
                <a:latin typeface="Consolas" pitchFamily="49" charset="0"/>
              </a:rPr>
              <a:t>RoutedEventArgs</a:t>
            </a:r>
            <a:r>
              <a:rPr lang="en-GB" sz="1400" b="1" spc="-150" dirty="0">
                <a:gradFill>
                  <a:gsLst>
                    <a:gs pos="0">
                      <a:srgbClr val="737373"/>
                    </a:gs>
                    <a:gs pos="86000">
                      <a:srgbClr val="737373"/>
                    </a:gs>
                  </a:gsLst>
                  <a:lin ang="5400000" scaled="0"/>
                </a:gradFill>
                <a:latin typeface="Consolas" pitchFamily="49" charset="0"/>
              </a:rPr>
              <a:t> e)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photoChooserTask.Show</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void </a:t>
            </a:r>
            <a:r>
              <a:rPr lang="en-GB" sz="1400" b="1" spc="-150" dirty="0" err="1">
                <a:gradFill>
                  <a:gsLst>
                    <a:gs pos="0">
                      <a:srgbClr val="737373"/>
                    </a:gs>
                    <a:gs pos="86000">
                      <a:srgbClr val="737373"/>
                    </a:gs>
                  </a:gsLst>
                  <a:lin ang="5400000" scaled="0"/>
                </a:gradFill>
                <a:latin typeface="Consolas" pitchFamily="49" charset="0"/>
              </a:rPr>
              <a:t>photoChooserTask_Completed</a:t>
            </a:r>
            <a:r>
              <a:rPr lang="en-GB" sz="1400" b="1" spc="-150" dirty="0">
                <a:gradFill>
                  <a:gsLst>
                    <a:gs pos="0">
                      <a:srgbClr val="737373"/>
                    </a:gs>
                    <a:gs pos="86000">
                      <a:srgbClr val="737373"/>
                    </a:gs>
                  </a:gsLst>
                  <a:lin ang="5400000" scaled="0"/>
                </a:gradFill>
                <a:latin typeface="Consolas" pitchFamily="49" charset="0"/>
              </a:rPr>
              <a:t>(object sender, </a:t>
            </a:r>
            <a:r>
              <a:rPr lang="en-GB" sz="1400" b="1" spc="-150" dirty="0" err="1">
                <a:gradFill>
                  <a:gsLst>
                    <a:gs pos="0">
                      <a:srgbClr val="737373"/>
                    </a:gs>
                    <a:gs pos="86000">
                      <a:srgbClr val="737373"/>
                    </a:gs>
                  </a:gsLst>
                  <a:lin ang="5400000" scaled="0"/>
                </a:gradFill>
                <a:latin typeface="Consolas" pitchFamily="49" charset="0"/>
              </a:rPr>
              <a:t>PhotoResult</a:t>
            </a:r>
            <a:r>
              <a:rPr lang="en-GB" sz="1400" b="1" spc="-150" dirty="0">
                <a:gradFill>
                  <a:gsLst>
                    <a:gs pos="0">
                      <a:srgbClr val="737373"/>
                    </a:gs>
                    <a:gs pos="86000">
                      <a:srgbClr val="737373"/>
                    </a:gs>
                  </a:gsLst>
                  <a:lin ang="5400000" scaled="0"/>
                </a:gradFill>
                <a:latin typeface="Consolas" pitchFamily="49" charset="0"/>
              </a:rPr>
              <a:t> e)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if (</a:t>
            </a:r>
            <a:r>
              <a:rPr lang="en-GB" sz="1400" b="1" spc="-150" dirty="0" err="1">
                <a:gradFill>
                  <a:gsLst>
                    <a:gs pos="0">
                      <a:srgbClr val="737373"/>
                    </a:gs>
                    <a:gs pos="86000">
                      <a:srgbClr val="737373"/>
                    </a:gs>
                  </a:gsLst>
                  <a:lin ang="5400000" scaled="0"/>
                </a:gradFill>
                <a:latin typeface="Consolas" pitchFamily="49" charset="0"/>
              </a:rPr>
              <a:t>e.TaskResult</a:t>
            </a:r>
            <a:r>
              <a:rPr lang="en-GB" sz="1400" b="1" spc="-150" dirty="0">
                <a:gradFill>
                  <a:gsLst>
                    <a:gs pos="0">
                      <a:srgbClr val="737373"/>
                    </a:gs>
                    <a:gs pos="86000">
                      <a:srgbClr val="737373"/>
                    </a:gs>
                  </a:gsLst>
                  <a:lin ang="5400000" scaled="0"/>
                </a:gradFill>
                <a:latin typeface="Consolas" pitchFamily="49" charset="0"/>
              </a:rPr>
              <a:t> == </a:t>
            </a:r>
            <a:r>
              <a:rPr lang="en-GB" sz="1400" b="1" spc="-150" dirty="0" err="1">
                <a:gradFill>
                  <a:gsLst>
                    <a:gs pos="0">
                      <a:srgbClr val="737373"/>
                    </a:gs>
                    <a:gs pos="86000">
                      <a:srgbClr val="737373"/>
                    </a:gs>
                  </a:gsLst>
                  <a:lin ang="5400000" scaled="0"/>
                </a:gradFill>
                <a:latin typeface="Consolas" pitchFamily="49" charset="0"/>
              </a:rPr>
              <a:t>TaskResult.OK</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BitmapImage</a:t>
            </a:r>
            <a:r>
              <a:rPr lang="en-GB" sz="1400" b="1" spc="-150" dirty="0">
                <a:gradFill>
                  <a:gsLst>
                    <a:gs pos="0">
                      <a:srgbClr val="737373"/>
                    </a:gs>
                    <a:gs pos="86000">
                      <a:srgbClr val="737373"/>
                    </a:gs>
                  </a:gsLst>
                  <a:lin ang="5400000" scaled="0"/>
                </a:gradFill>
                <a:latin typeface="Consolas" pitchFamily="49" charset="0"/>
              </a:rPr>
              <a:t> bmp = new </a:t>
            </a:r>
            <a:r>
              <a:rPr lang="en-GB" sz="1400" b="1" spc="-150" dirty="0" err="1">
                <a:gradFill>
                  <a:gsLst>
                    <a:gs pos="0">
                      <a:srgbClr val="737373"/>
                    </a:gs>
                    <a:gs pos="86000">
                      <a:srgbClr val="737373"/>
                    </a:gs>
                  </a:gsLst>
                  <a:lin ang="5400000" scaled="0"/>
                </a:gradFill>
                <a:latin typeface="Consolas" pitchFamily="49" charset="0"/>
              </a:rPr>
              <a:t>BitmapImage</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bmp.SetSource</a:t>
            </a:r>
            <a:r>
              <a:rPr lang="en-GB" sz="1400" b="1" spc="-150" dirty="0">
                <a:gradFill>
                  <a:gsLst>
                    <a:gs pos="0">
                      <a:srgbClr val="737373"/>
                    </a:gs>
                    <a:gs pos="86000">
                      <a:srgbClr val="737373"/>
                    </a:gs>
                  </a:gsLst>
                  <a:lin ang="5400000" scaled="0"/>
                </a:gradFill>
                <a:latin typeface="Consolas" pitchFamily="49" charset="0"/>
              </a:rPr>
              <a:t>(</a:t>
            </a:r>
            <a:r>
              <a:rPr lang="en-GB" sz="1400" b="1" spc="-150" dirty="0" err="1">
                <a:gradFill>
                  <a:gsLst>
                    <a:gs pos="0">
                      <a:srgbClr val="737373"/>
                    </a:gs>
                    <a:gs pos="86000">
                      <a:srgbClr val="737373"/>
                    </a:gs>
                  </a:gsLst>
                  <a:lin ang="5400000" scaled="0"/>
                </a:gradFill>
                <a:latin typeface="Consolas" pitchFamily="49" charset="0"/>
              </a:rPr>
              <a:t>e.ChosenPhoto</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a:t>
            </a:r>
          </a:p>
        </p:txBody>
      </p:sp>
    </p:spTree>
    <p:extLst>
      <p:ext uri="{BB962C8B-B14F-4D97-AF65-F5344CB8AC3E}">
        <p14:creationId xmlns:p14="http://schemas.microsoft.com/office/powerpoint/2010/main" val="16084466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smtClean="0"/>
              <a:t>Using the Camera</a:t>
            </a:r>
            <a:endParaRPr lang="en-GB" sz="4400" dirty="0"/>
          </a:p>
        </p:txBody>
      </p:sp>
      <p:sp>
        <p:nvSpPr>
          <p:cNvPr id="3" name="Slide Number Placeholder 2"/>
          <p:cNvSpPr>
            <a:spLocks noGrp="1"/>
          </p:cNvSpPr>
          <p:nvPr>
            <p:ph type="sldNum" sz="quarter" idx="10"/>
          </p:nvPr>
        </p:nvSpPr>
        <p:spPr/>
        <p:txBody>
          <a:bodyPr/>
          <a:lstStyle/>
          <a:p>
            <a:fld id="{271031BA-9959-4FE2-909F-37D65262A7B4}" type="slidenum">
              <a:rPr lang="en-US" smtClean="0"/>
              <a:pPr/>
              <a:t>99</a:t>
            </a:fld>
            <a:endParaRPr lang="en-US" dirty="0"/>
          </a:p>
        </p:txBody>
      </p:sp>
      <p:sp>
        <p:nvSpPr>
          <p:cNvPr id="8" name="Rectangle 7"/>
          <p:cNvSpPr/>
          <p:nvPr/>
        </p:nvSpPr>
        <p:spPr>
          <a:xfrm>
            <a:off x="381000" y="1441042"/>
            <a:ext cx="8380413" cy="502599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90000"/>
              </a:lnSpc>
              <a:spcBef>
                <a:spcPct val="20000"/>
              </a:spcBef>
              <a:buSzPct val="90000"/>
            </a:pPr>
            <a:r>
              <a:rPr lang="en-GB" sz="1400" b="1" spc="-150" dirty="0" err="1">
                <a:gradFill>
                  <a:gsLst>
                    <a:gs pos="0">
                      <a:srgbClr val="737373"/>
                    </a:gs>
                    <a:gs pos="86000">
                      <a:srgbClr val="737373"/>
                    </a:gs>
                  </a:gsLst>
                  <a:lin ang="5400000" scaled="0"/>
                </a:gradFill>
                <a:latin typeface="Consolas" pitchFamily="49" charset="0"/>
              </a:rPr>
              <a:t>CameraCaptureTask</a:t>
            </a: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cameraCaptureTask</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smtClean="0">
                <a:gradFill>
                  <a:gsLst>
                    <a:gs pos="0">
                      <a:srgbClr val="737373"/>
                    </a:gs>
                    <a:gs pos="86000">
                      <a:srgbClr val="737373"/>
                    </a:gs>
                  </a:gsLst>
                  <a:lin ang="5400000" scaled="0"/>
                </a:gradFill>
                <a:latin typeface="Consolas" pitchFamily="49" charset="0"/>
              </a:rPr>
              <a:t>   </a:t>
            </a:r>
            <a:r>
              <a:rPr lang="en-GB" sz="1400" b="1" spc="-150" dirty="0">
                <a:solidFill>
                  <a:srgbClr val="92D050"/>
                </a:solidFill>
                <a:latin typeface="Consolas" pitchFamily="49" charset="0"/>
              </a:rPr>
              <a:t>// Declare the </a:t>
            </a:r>
            <a:r>
              <a:rPr lang="en-GB" sz="1400" b="1" spc="-150" dirty="0" err="1">
                <a:solidFill>
                  <a:srgbClr val="92D050"/>
                </a:solidFill>
                <a:latin typeface="Consolas" pitchFamily="49" charset="0"/>
              </a:rPr>
              <a:t>CameraCaptureTask</a:t>
            </a:r>
            <a:r>
              <a:rPr lang="en-GB" sz="1400" b="1" spc="-150" dirty="0">
                <a:solidFill>
                  <a:srgbClr val="92D050"/>
                </a:solidFill>
                <a:latin typeface="Consolas" pitchFamily="49" charset="0"/>
              </a:rPr>
              <a:t> object with page scope</a:t>
            </a:r>
            <a:r>
              <a:rPr lang="en-GB" sz="1400" b="1" spc="-150" dirty="0" smtClean="0">
                <a:solidFill>
                  <a:srgbClr val="92D050"/>
                </a:solidFill>
                <a:latin typeface="Consolas" pitchFamily="49" charset="0"/>
              </a:rPr>
              <a:t>.</a:t>
            </a:r>
          </a:p>
          <a:p>
            <a:pPr lvl="0">
              <a:lnSpc>
                <a:spcPct val="90000"/>
              </a:lnSpc>
              <a:spcBef>
                <a:spcPct val="20000"/>
              </a:spcBef>
              <a:buSzPct val="90000"/>
            </a:pPr>
            <a:r>
              <a:rPr lang="en-GB" sz="1400" b="1" spc="-150" dirty="0" smtClean="0">
                <a:solidFill>
                  <a:srgbClr val="92D050"/>
                </a:solidFill>
                <a:latin typeface="Consolas" pitchFamily="49" charset="0"/>
              </a:rPr>
              <a:t>   </a:t>
            </a:r>
            <a:r>
              <a:rPr lang="en-GB" sz="1400" b="1" spc="-150" dirty="0" err="1" smtClean="0">
                <a:gradFill>
                  <a:gsLst>
                    <a:gs pos="0">
                      <a:srgbClr val="737373"/>
                    </a:gs>
                    <a:gs pos="86000">
                      <a:srgbClr val="737373"/>
                    </a:gs>
                  </a:gsLst>
                  <a:lin ang="5400000" scaled="0"/>
                </a:gradFill>
                <a:latin typeface="Consolas" pitchFamily="49" charset="0"/>
              </a:rPr>
              <a:t>CameraCaptureTask</a:t>
            </a:r>
            <a:r>
              <a:rPr lang="en-GB" sz="1400" b="1" spc="-150" dirty="0" smtClean="0">
                <a:gradFill>
                  <a:gsLst>
                    <a:gs pos="0">
                      <a:srgbClr val="737373"/>
                    </a:gs>
                    <a:gs pos="86000">
                      <a:srgbClr val="737373"/>
                    </a:gs>
                  </a:gsLst>
                  <a:lin ang="5400000" scaled="0"/>
                </a:gradFill>
                <a:latin typeface="Consolas" pitchFamily="49" charset="0"/>
              </a:rPr>
              <a:t> </a:t>
            </a:r>
            <a:r>
              <a:rPr lang="en-GB" sz="1400" b="1" spc="-150" dirty="0" err="1" smtClean="0">
                <a:gradFill>
                  <a:gsLst>
                    <a:gs pos="0">
                      <a:srgbClr val="737373"/>
                    </a:gs>
                    <a:gs pos="86000">
                      <a:srgbClr val="737373"/>
                    </a:gs>
                  </a:gsLst>
                  <a:lin ang="5400000" scaled="0"/>
                </a:gradFill>
                <a:latin typeface="Consolas" pitchFamily="49" charset="0"/>
              </a:rPr>
              <a:t>cameraCaptureTask</a:t>
            </a:r>
            <a:r>
              <a:rPr lang="en-GB" sz="1400" b="1" spc="-150" dirty="0" smtClean="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endParaRPr lang="en-GB" sz="1400" b="1" spc="-150" dirty="0">
              <a:solidFill>
                <a:srgbClr val="92D050"/>
              </a:solidFill>
              <a:latin typeface="Consolas" pitchFamily="49" charset="0"/>
            </a:endParaRP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public </a:t>
            </a:r>
            <a:r>
              <a:rPr lang="en-GB" sz="1400" b="1" spc="-150" dirty="0" err="1">
                <a:gradFill>
                  <a:gsLst>
                    <a:gs pos="0">
                      <a:srgbClr val="737373"/>
                    </a:gs>
                    <a:gs pos="86000">
                      <a:srgbClr val="737373"/>
                    </a:gs>
                  </a:gsLst>
                  <a:lin ang="5400000" scaled="0"/>
                </a:gradFill>
                <a:latin typeface="Consolas" pitchFamily="49" charset="0"/>
              </a:rPr>
              <a:t>MainPage</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InitializeComponent</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endParaRPr lang="en-GB" sz="1400" b="1" spc="-150" dirty="0">
              <a:gradFill>
                <a:gsLst>
                  <a:gs pos="0">
                    <a:srgbClr val="737373"/>
                  </a:gs>
                  <a:gs pos="86000">
                    <a:srgbClr val="737373"/>
                  </a:gs>
                </a:gsLst>
                <a:lin ang="5400000" scaled="0"/>
              </a:gradFill>
              <a:latin typeface="Consolas" pitchFamily="49" charset="0"/>
            </a:endParaRP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a:solidFill>
                  <a:srgbClr val="92D050"/>
                </a:solidFill>
                <a:latin typeface="Consolas" pitchFamily="49" charset="0"/>
              </a:rPr>
              <a:t>// Initialize the </a:t>
            </a:r>
            <a:r>
              <a:rPr lang="en-GB" sz="1400" b="1" spc="-150" dirty="0" err="1">
                <a:solidFill>
                  <a:srgbClr val="92D050"/>
                </a:solidFill>
                <a:latin typeface="Consolas" pitchFamily="49" charset="0"/>
              </a:rPr>
              <a:t>CameraCaptureTask</a:t>
            </a:r>
            <a:r>
              <a:rPr lang="en-GB" sz="1400" b="1" spc="-150" dirty="0">
                <a:solidFill>
                  <a:srgbClr val="92D050"/>
                </a:solidFill>
                <a:latin typeface="Consolas" pitchFamily="49" charset="0"/>
              </a:rPr>
              <a:t> and assign the Completed handler</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cameraCaptureTask</a:t>
            </a:r>
            <a:r>
              <a:rPr lang="en-GB" sz="1400" b="1" spc="-150" dirty="0">
                <a:gradFill>
                  <a:gsLst>
                    <a:gs pos="0">
                      <a:srgbClr val="737373"/>
                    </a:gs>
                    <a:gs pos="86000">
                      <a:srgbClr val="737373"/>
                    </a:gs>
                  </a:gsLst>
                  <a:lin ang="5400000" scaled="0"/>
                </a:gradFill>
                <a:latin typeface="Consolas" pitchFamily="49" charset="0"/>
              </a:rPr>
              <a:t> = new </a:t>
            </a:r>
            <a:r>
              <a:rPr lang="en-GB" sz="1400" b="1" spc="-150" dirty="0" err="1">
                <a:gradFill>
                  <a:gsLst>
                    <a:gs pos="0">
                      <a:srgbClr val="737373"/>
                    </a:gs>
                    <a:gs pos="86000">
                      <a:srgbClr val="737373"/>
                    </a:gs>
                  </a:gsLst>
                  <a:lin ang="5400000" scaled="0"/>
                </a:gradFill>
                <a:latin typeface="Consolas" pitchFamily="49" charset="0"/>
              </a:rPr>
              <a:t>CameraCaptureTask</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cameraCaptureTask.Completed</a:t>
            </a:r>
            <a:r>
              <a:rPr lang="en-GB" sz="1400" b="1" spc="-150" dirty="0">
                <a:gradFill>
                  <a:gsLst>
                    <a:gs pos="0">
                      <a:srgbClr val="737373"/>
                    </a:gs>
                    <a:gs pos="86000">
                      <a:srgbClr val="737373"/>
                    </a:gs>
                  </a:gsLst>
                  <a:lin ang="5400000" scaled="0"/>
                </a:gradFill>
                <a:latin typeface="Consolas" pitchFamily="49" charset="0"/>
              </a:rPr>
              <a:t> += new </a:t>
            </a:r>
            <a:r>
              <a:rPr lang="en-GB" sz="1400" b="1" spc="-150" dirty="0" err="1">
                <a:gradFill>
                  <a:gsLst>
                    <a:gs pos="0">
                      <a:srgbClr val="737373"/>
                    </a:gs>
                    <a:gs pos="86000">
                      <a:srgbClr val="737373"/>
                    </a:gs>
                  </a:gsLst>
                  <a:lin ang="5400000" scaled="0"/>
                </a:gradFill>
                <a:latin typeface="Consolas" pitchFamily="49" charset="0"/>
              </a:rPr>
              <a:t>EventHandler</a:t>
            </a:r>
            <a:r>
              <a:rPr lang="en-GB" sz="1400" b="1" spc="-150" dirty="0">
                <a:gradFill>
                  <a:gsLst>
                    <a:gs pos="0">
                      <a:srgbClr val="737373"/>
                    </a:gs>
                    <a:gs pos="86000">
                      <a:srgbClr val="737373"/>
                    </a:gs>
                  </a:gsLst>
                  <a:lin ang="5400000" scaled="0"/>
                </a:gradFill>
                <a:latin typeface="Consolas" pitchFamily="49" charset="0"/>
              </a:rPr>
              <a:t>&lt;</a:t>
            </a:r>
            <a:r>
              <a:rPr lang="en-GB" sz="1400" b="1" spc="-150" dirty="0" err="1">
                <a:gradFill>
                  <a:gsLst>
                    <a:gs pos="0">
                      <a:srgbClr val="737373"/>
                    </a:gs>
                    <a:gs pos="86000">
                      <a:srgbClr val="737373"/>
                    </a:gs>
                  </a:gsLst>
                  <a:lin ang="5400000" scaled="0"/>
                </a:gradFill>
                <a:latin typeface="Consolas" pitchFamily="49" charset="0"/>
              </a:rPr>
              <a:t>PhotoResult</a:t>
            </a:r>
            <a:r>
              <a:rPr lang="en-GB" sz="1400" b="1" spc="-150" dirty="0">
                <a:gradFill>
                  <a:gsLst>
                    <a:gs pos="0">
                      <a:srgbClr val="737373"/>
                    </a:gs>
                    <a:gs pos="86000">
                      <a:srgbClr val="737373"/>
                    </a:gs>
                  </a:gsLst>
                  <a:lin ang="5400000" scaled="0"/>
                </a:gradFill>
                <a:latin typeface="Consolas" pitchFamily="49" charset="0"/>
              </a:rPr>
              <a:t>&gt;(</a:t>
            </a:r>
            <a:r>
              <a:rPr lang="en-GB" sz="1400" b="1" spc="-150" dirty="0" err="1">
                <a:gradFill>
                  <a:gsLst>
                    <a:gs pos="0">
                      <a:srgbClr val="737373"/>
                    </a:gs>
                    <a:gs pos="86000">
                      <a:srgbClr val="737373"/>
                    </a:gs>
                  </a:gsLst>
                  <a:lin ang="5400000" scaled="0"/>
                </a:gradFill>
                <a:latin typeface="Consolas" pitchFamily="49" charset="0"/>
              </a:rPr>
              <a:t>cameraCaptureTask_Completed</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private void button1_Click(object sender, </a:t>
            </a:r>
            <a:r>
              <a:rPr lang="en-GB" sz="1400" b="1" spc="-150" dirty="0" err="1">
                <a:gradFill>
                  <a:gsLst>
                    <a:gs pos="0">
                      <a:srgbClr val="737373"/>
                    </a:gs>
                    <a:gs pos="86000">
                      <a:srgbClr val="737373"/>
                    </a:gs>
                  </a:gsLst>
                  <a:lin ang="5400000" scaled="0"/>
                </a:gradFill>
                <a:latin typeface="Consolas" pitchFamily="49" charset="0"/>
              </a:rPr>
              <a:t>RoutedEventArgs</a:t>
            </a:r>
            <a:r>
              <a:rPr lang="en-GB" sz="1400" b="1" spc="-150" dirty="0">
                <a:gradFill>
                  <a:gsLst>
                    <a:gs pos="0">
                      <a:srgbClr val="737373"/>
                    </a:gs>
                    <a:gs pos="86000">
                      <a:srgbClr val="737373"/>
                    </a:gs>
                  </a:gsLst>
                  <a:lin ang="5400000" scaled="0"/>
                </a:gradFill>
                <a:latin typeface="Consolas" pitchFamily="49" charset="0"/>
              </a:rPr>
              <a:t> e)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cameraCaptureTask.Show</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void </a:t>
            </a:r>
            <a:r>
              <a:rPr lang="en-GB" sz="1400" b="1" spc="-150" dirty="0" err="1">
                <a:gradFill>
                  <a:gsLst>
                    <a:gs pos="0">
                      <a:srgbClr val="737373"/>
                    </a:gs>
                    <a:gs pos="86000">
                      <a:srgbClr val="737373"/>
                    </a:gs>
                  </a:gsLst>
                  <a:lin ang="5400000" scaled="0"/>
                </a:gradFill>
                <a:latin typeface="Consolas" pitchFamily="49" charset="0"/>
              </a:rPr>
              <a:t>cameraCaptureTask_Completed</a:t>
            </a:r>
            <a:r>
              <a:rPr lang="en-GB" sz="1400" b="1" spc="-150" dirty="0">
                <a:gradFill>
                  <a:gsLst>
                    <a:gs pos="0">
                      <a:srgbClr val="737373"/>
                    </a:gs>
                    <a:gs pos="86000">
                      <a:srgbClr val="737373"/>
                    </a:gs>
                  </a:gsLst>
                  <a:lin ang="5400000" scaled="0"/>
                </a:gradFill>
                <a:latin typeface="Consolas" pitchFamily="49" charset="0"/>
              </a:rPr>
              <a:t>(object sender, </a:t>
            </a:r>
            <a:r>
              <a:rPr lang="en-GB" sz="1400" b="1" spc="-150" dirty="0" err="1">
                <a:gradFill>
                  <a:gsLst>
                    <a:gs pos="0">
                      <a:srgbClr val="737373"/>
                    </a:gs>
                    <a:gs pos="86000">
                      <a:srgbClr val="737373"/>
                    </a:gs>
                  </a:gsLst>
                  <a:lin ang="5400000" scaled="0"/>
                </a:gradFill>
                <a:latin typeface="Consolas" pitchFamily="49" charset="0"/>
              </a:rPr>
              <a:t>PhotoResult</a:t>
            </a:r>
            <a:r>
              <a:rPr lang="en-GB" sz="1400" b="1" spc="-150" dirty="0">
                <a:gradFill>
                  <a:gsLst>
                    <a:gs pos="0">
                      <a:srgbClr val="737373"/>
                    </a:gs>
                    <a:gs pos="86000">
                      <a:srgbClr val="737373"/>
                    </a:gs>
                  </a:gsLst>
                  <a:lin ang="5400000" scaled="0"/>
                </a:gradFill>
                <a:latin typeface="Consolas" pitchFamily="49" charset="0"/>
              </a:rPr>
              <a:t> e)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if (</a:t>
            </a:r>
            <a:r>
              <a:rPr lang="en-GB" sz="1400" b="1" spc="-150" dirty="0" err="1">
                <a:gradFill>
                  <a:gsLst>
                    <a:gs pos="0">
                      <a:srgbClr val="737373"/>
                    </a:gs>
                    <a:gs pos="86000">
                      <a:srgbClr val="737373"/>
                    </a:gs>
                  </a:gsLst>
                  <a:lin ang="5400000" scaled="0"/>
                </a:gradFill>
                <a:latin typeface="Consolas" pitchFamily="49" charset="0"/>
              </a:rPr>
              <a:t>e.TaskResult</a:t>
            </a:r>
            <a:r>
              <a:rPr lang="en-GB" sz="1400" b="1" spc="-150" dirty="0">
                <a:gradFill>
                  <a:gsLst>
                    <a:gs pos="0">
                      <a:srgbClr val="737373"/>
                    </a:gs>
                    <a:gs pos="86000">
                      <a:srgbClr val="737373"/>
                    </a:gs>
                  </a:gsLst>
                  <a:lin ang="5400000" scaled="0"/>
                </a:gradFill>
                <a:latin typeface="Consolas" pitchFamily="49" charset="0"/>
              </a:rPr>
              <a:t> == </a:t>
            </a:r>
            <a:r>
              <a:rPr lang="en-GB" sz="1400" b="1" spc="-150" dirty="0" err="1">
                <a:gradFill>
                  <a:gsLst>
                    <a:gs pos="0">
                      <a:srgbClr val="737373"/>
                    </a:gs>
                    <a:gs pos="86000">
                      <a:srgbClr val="737373"/>
                    </a:gs>
                  </a:gsLst>
                  <a:lin ang="5400000" scaled="0"/>
                </a:gradFill>
                <a:latin typeface="Consolas" pitchFamily="49" charset="0"/>
              </a:rPr>
              <a:t>TaskResult.OK</a:t>
            </a:r>
            <a:r>
              <a:rPr lang="en-GB" sz="1400" b="1" spc="-150" dirty="0">
                <a:gradFill>
                  <a:gsLst>
                    <a:gs pos="0">
                      <a:srgbClr val="737373"/>
                    </a:gs>
                    <a:gs pos="86000">
                      <a:srgbClr val="737373"/>
                    </a:gs>
                  </a:gsLst>
                  <a:lin ang="5400000" scaled="0"/>
                </a:gradFill>
                <a:latin typeface="Consolas" pitchFamily="49" charset="0"/>
              </a:rPr>
              <a:t>) {</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BitmapImage</a:t>
            </a:r>
            <a:r>
              <a:rPr lang="en-GB" sz="1400" b="1" spc="-150" dirty="0">
                <a:gradFill>
                  <a:gsLst>
                    <a:gs pos="0">
                      <a:srgbClr val="737373"/>
                    </a:gs>
                    <a:gs pos="86000">
                      <a:srgbClr val="737373"/>
                    </a:gs>
                  </a:gsLst>
                  <a:lin ang="5400000" scaled="0"/>
                </a:gradFill>
                <a:latin typeface="Consolas" pitchFamily="49" charset="0"/>
              </a:rPr>
              <a:t> bmp = new </a:t>
            </a:r>
            <a:r>
              <a:rPr lang="en-GB" sz="1400" b="1" spc="-150" dirty="0" err="1">
                <a:gradFill>
                  <a:gsLst>
                    <a:gs pos="0">
                      <a:srgbClr val="737373"/>
                    </a:gs>
                    <a:gs pos="86000">
                      <a:srgbClr val="737373"/>
                    </a:gs>
                  </a:gsLst>
                  <a:lin ang="5400000" scaled="0"/>
                </a:gradFill>
                <a:latin typeface="Consolas" pitchFamily="49" charset="0"/>
              </a:rPr>
              <a:t>BitmapImage</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bmp.SetSource</a:t>
            </a:r>
            <a:r>
              <a:rPr lang="en-GB" sz="1400" b="1" spc="-150" dirty="0">
                <a:gradFill>
                  <a:gsLst>
                    <a:gs pos="0">
                      <a:srgbClr val="737373"/>
                    </a:gs>
                    <a:gs pos="86000">
                      <a:srgbClr val="737373"/>
                    </a:gs>
                  </a:gsLst>
                  <a:lin ang="5400000" scaled="0"/>
                </a:gradFill>
                <a:latin typeface="Consolas" pitchFamily="49" charset="0"/>
              </a:rPr>
              <a:t>(</a:t>
            </a:r>
            <a:r>
              <a:rPr lang="en-GB" sz="1400" b="1" spc="-150" dirty="0" err="1">
                <a:gradFill>
                  <a:gsLst>
                    <a:gs pos="0">
                      <a:srgbClr val="737373"/>
                    </a:gs>
                    <a:gs pos="86000">
                      <a:srgbClr val="737373"/>
                    </a:gs>
                  </a:gsLst>
                  <a:lin ang="5400000" scaled="0"/>
                </a:gradFill>
                <a:latin typeface="Consolas" pitchFamily="49" charset="0"/>
              </a:rPr>
              <a:t>e.ChosenPhoto</a:t>
            </a:r>
            <a:r>
              <a:rPr lang="en-GB" sz="1400" b="1" spc="-150" dirty="0">
                <a:gradFill>
                  <a:gsLst>
                    <a:gs pos="0">
                      <a:srgbClr val="737373"/>
                    </a:gs>
                    <a:gs pos="86000">
                      <a:srgbClr val="737373"/>
                    </a:gs>
                  </a:gsLst>
                  <a:lin ang="5400000" scaled="0"/>
                </a:gradFill>
                <a:latin typeface="Consolas" pitchFamily="49" charset="0"/>
              </a:rPr>
              <a:t>);</a:t>
            </a: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err="1">
                <a:gradFill>
                  <a:gsLst>
                    <a:gs pos="0">
                      <a:srgbClr val="737373"/>
                    </a:gs>
                    <a:gs pos="86000">
                      <a:srgbClr val="737373"/>
                    </a:gs>
                  </a:gsLst>
                  <a:lin ang="5400000" scaled="0"/>
                </a:gradFill>
                <a:latin typeface="Consolas" pitchFamily="49" charset="0"/>
              </a:rPr>
              <a:t>myImage.Source</a:t>
            </a:r>
            <a:r>
              <a:rPr lang="en-GB" sz="1400" b="1" spc="-150" dirty="0">
                <a:gradFill>
                  <a:gsLst>
                    <a:gs pos="0">
                      <a:srgbClr val="737373"/>
                    </a:gs>
                    <a:gs pos="86000">
                      <a:srgbClr val="737373"/>
                    </a:gs>
                  </a:gsLst>
                  <a:lin ang="5400000" scaled="0"/>
                </a:gradFill>
                <a:latin typeface="Consolas" pitchFamily="49" charset="0"/>
              </a:rPr>
              <a:t> = bmp; </a:t>
            </a:r>
            <a:endParaRPr lang="en-GB" sz="1400" b="1" spc="-150" dirty="0" smtClean="0">
              <a:gradFill>
                <a:gsLst>
                  <a:gs pos="0">
                    <a:srgbClr val="737373"/>
                  </a:gs>
                  <a:gs pos="86000">
                    <a:srgbClr val="737373"/>
                  </a:gs>
                </a:gsLst>
                <a:lin ang="5400000" scaled="0"/>
              </a:gradFill>
              <a:latin typeface="Consolas" pitchFamily="49" charset="0"/>
            </a:endParaRP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smtClean="0">
                <a:gradFill>
                  <a:gsLst>
                    <a:gs pos="0">
                      <a:srgbClr val="737373"/>
                    </a:gs>
                    <a:gs pos="86000">
                      <a:srgbClr val="737373"/>
                    </a:gs>
                  </a:gsLst>
                  <a:lin ang="5400000" scaled="0"/>
                </a:gradFill>
                <a:latin typeface="Consolas" pitchFamily="49" charset="0"/>
              </a:rPr>
              <a:t>     }</a:t>
            </a:r>
            <a:endParaRPr lang="en-GB" sz="1400" b="1" spc="-150" dirty="0">
              <a:gradFill>
                <a:gsLst>
                  <a:gs pos="0">
                    <a:srgbClr val="737373"/>
                  </a:gs>
                  <a:gs pos="86000">
                    <a:srgbClr val="737373"/>
                  </a:gs>
                </a:gsLst>
                <a:lin ang="5400000" scaled="0"/>
              </a:gradFill>
              <a:latin typeface="Consolas" pitchFamily="49" charset="0"/>
            </a:endParaRPr>
          </a:p>
          <a:p>
            <a:pPr lvl="0">
              <a:lnSpc>
                <a:spcPct val="90000"/>
              </a:lnSpc>
              <a:spcBef>
                <a:spcPct val="20000"/>
              </a:spcBef>
              <a:buSzPct val="90000"/>
            </a:pPr>
            <a:r>
              <a:rPr lang="en-GB" sz="1400" b="1" spc="-150" dirty="0">
                <a:gradFill>
                  <a:gsLst>
                    <a:gs pos="0">
                      <a:srgbClr val="737373"/>
                    </a:gs>
                    <a:gs pos="86000">
                      <a:srgbClr val="737373"/>
                    </a:gs>
                  </a:gsLst>
                  <a:lin ang="5400000" scaled="0"/>
                </a:gradFill>
                <a:latin typeface="Consolas" pitchFamily="49" charset="0"/>
              </a:rPr>
              <a:t>   </a:t>
            </a:r>
            <a:r>
              <a:rPr lang="en-GB" sz="1400" b="1" spc="-150" dirty="0" smtClean="0">
                <a:gradFill>
                  <a:gsLst>
                    <a:gs pos="0">
                      <a:srgbClr val="737373"/>
                    </a:gs>
                    <a:gs pos="86000">
                      <a:srgbClr val="737373"/>
                    </a:gs>
                  </a:gsLst>
                  <a:lin ang="5400000" scaled="0"/>
                </a:gradFill>
                <a:latin typeface="Consolas" pitchFamily="49" charset="0"/>
              </a:rPr>
              <a:t>} </a:t>
            </a:r>
            <a:endParaRPr lang="en-GB" sz="1400" b="1" spc="-150" dirty="0">
              <a:gradFill>
                <a:gsLst>
                  <a:gs pos="0">
                    <a:srgbClr val="737373"/>
                  </a:gs>
                  <a:gs pos="86000">
                    <a:srgbClr val="737373"/>
                  </a:gs>
                </a:gsLst>
                <a:lin ang="5400000" scaled="0"/>
              </a:gradFill>
              <a:latin typeface="Consolas" pitchFamily="49" charset="0"/>
            </a:endParaRPr>
          </a:p>
        </p:txBody>
      </p:sp>
    </p:spTree>
    <p:extLst>
      <p:ext uri="{BB962C8B-B14F-4D97-AF65-F5344CB8AC3E}">
        <p14:creationId xmlns:p14="http://schemas.microsoft.com/office/powerpoint/2010/main" val="8164812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400" dirty="0" smtClean="0"/>
              <a:t>Chooser and the Execution Model</a:t>
            </a:r>
            <a:endParaRPr lang="en-US" sz="4400" dirty="0"/>
          </a:p>
        </p:txBody>
      </p:sp>
      <p:sp>
        <p:nvSpPr>
          <p:cNvPr id="7" name="Text Placeholder 6"/>
          <p:cNvSpPr>
            <a:spLocks noGrp="1"/>
          </p:cNvSpPr>
          <p:nvPr>
            <p:ph type="body" sz="quarter" idx="10"/>
          </p:nvPr>
        </p:nvSpPr>
        <p:spPr>
          <a:xfrm>
            <a:off x="381000" y="1447800"/>
            <a:ext cx="8363938" cy="5047536"/>
          </a:xfrm>
        </p:spPr>
        <p:txBody>
          <a:bodyPr/>
          <a:lstStyle/>
          <a:p>
            <a:r>
              <a:rPr lang="en-US" dirty="0" smtClean="0"/>
              <a:t>Upon its return from Chooser, your application will be reactivated (see Tombstoning) </a:t>
            </a:r>
          </a:p>
          <a:p>
            <a:r>
              <a:rPr lang="en-US" dirty="0" smtClean="0"/>
              <a:t>Method invocation order is</a:t>
            </a:r>
          </a:p>
          <a:p>
            <a:pPr lvl="1"/>
            <a:r>
              <a:rPr lang="en-US" dirty="0" smtClean="0"/>
              <a:t>Application CTOR - (</a:t>
            </a:r>
            <a:r>
              <a:rPr lang="en-US" dirty="0" err="1" smtClean="0"/>
              <a:t>App.xmal.cs</a:t>
            </a:r>
            <a:r>
              <a:rPr lang="en-US" dirty="0" smtClean="0"/>
              <a:t>)</a:t>
            </a:r>
          </a:p>
          <a:p>
            <a:pPr lvl="1"/>
            <a:r>
              <a:rPr lang="en-US" dirty="0" err="1" smtClean="0"/>
              <a:t>Application_Activated</a:t>
            </a:r>
            <a:r>
              <a:rPr lang="en-US" dirty="0" smtClean="0"/>
              <a:t> (returning from Tombstone)</a:t>
            </a:r>
          </a:p>
          <a:p>
            <a:pPr lvl="1"/>
            <a:r>
              <a:rPr lang="en-US" dirty="0" smtClean="0"/>
              <a:t>Page Constructor (the page you return is created as a </a:t>
            </a:r>
            <a:br>
              <a:rPr lang="en-US" dirty="0" smtClean="0"/>
            </a:br>
            <a:r>
              <a:rPr lang="en-US" dirty="0" smtClean="0"/>
              <a:t>new instance)</a:t>
            </a:r>
          </a:p>
          <a:p>
            <a:pPr lvl="1"/>
            <a:r>
              <a:rPr lang="en-US" dirty="0" smtClean="0"/>
              <a:t>Chooser delegate</a:t>
            </a:r>
          </a:p>
          <a:p>
            <a:pPr lvl="1"/>
            <a:r>
              <a:rPr lang="en-US" dirty="0" smtClean="0"/>
              <a:t>Page OnNavigatedTo (if used – usually where you retrieve the state back from Tombstone …)</a:t>
            </a:r>
          </a:p>
          <a:p>
            <a:pPr lvl="1"/>
            <a:endParaRPr lang="en-US" dirty="0"/>
          </a:p>
        </p:txBody>
      </p:sp>
      <p:sp>
        <p:nvSpPr>
          <p:cNvPr id="3" name="Slide Number Placeholder 2"/>
          <p:cNvSpPr>
            <a:spLocks noGrp="1"/>
          </p:cNvSpPr>
          <p:nvPr>
            <p:ph type="sldNum" sz="quarter" idx="11"/>
          </p:nvPr>
        </p:nvSpPr>
        <p:spPr/>
        <p:txBody>
          <a:bodyPr/>
          <a:lstStyle/>
          <a:p>
            <a:fld id="{271031BA-9959-4FE2-909F-37D65262A7B4}" type="slidenum">
              <a:rPr lang="en-US" smtClean="0"/>
              <a:pPr/>
              <a:t>100</a:t>
            </a:fld>
            <a:endParaRPr lang="en-US" dirty="0"/>
          </a:p>
        </p:txBody>
      </p:sp>
    </p:spTree>
    <p:extLst>
      <p:ext uri="{BB962C8B-B14F-4D97-AF65-F5344CB8AC3E}">
        <p14:creationId xmlns:p14="http://schemas.microsoft.com/office/powerpoint/2010/main" val="18742461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1800"/>
            <a:ext cx="8363938" cy="1329595"/>
          </a:xfrm>
        </p:spPr>
        <p:txBody>
          <a:bodyPr/>
          <a:lstStyle/>
          <a:p>
            <a:r>
              <a:rPr lang="en-US" dirty="0" smtClean="0"/>
              <a:t>Chooser, Launcher Execution Model Disclaimer </a:t>
            </a:r>
            <a:endParaRPr lang="en-US" dirty="0"/>
          </a:p>
        </p:txBody>
      </p:sp>
      <p:sp>
        <p:nvSpPr>
          <p:cNvPr id="3" name="Text Placeholder 2"/>
          <p:cNvSpPr>
            <a:spLocks noGrp="1"/>
          </p:cNvSpPr>
          <p:nvPr>
            <p:ph type="body" sz="quarter" idx="10"/>
          </p:nvPr>
        </p:nvSpPr>
        <p:spPr>
          <a:xfrm>
            <a:off x="381000" y="1942343"/>
            <a:ext cx="8363938" cy="4659737"/>
          </a:xfrm>
        </p:spPr>
        <p:txBody>
          <a:bodyPr/>
          <a:lstStyle/>
          <a:p>
            <a:r>
              <a:rPr lang="en-US" dirty="0" smtClean="0"/>
              <a:t>Not all Choosers or Launchers trigger </a:t>
            </a:r>
            <a:r>
              <a:rPr lang="en-US" dirty="0"/>
              <a:t>an automatic </a:t>
            </a:r>
            <a:r>
              <a:rPr lang="en-US" dirty="0" smtClean="0"/>
              <a:t>tombstone</a:t>
            </a:r>
          </a:p>
          <a:p>
            <a:pPr lvl="1"/>
            <a:r>
              <a:rPr lang="en-US" dirty="0" smtClean="0"/>
              <a:t>Native experiences </a:t>
            </a:r>
            <a:r>
              <a:rPr lang="en-US" dirty="0"/>
              <a:t>that feels, to the user, like an extension of the original </a:t>
            </a:r>
            <a:r>
              <a:rPr lang="en-US" dirty="0" smtClean="0"/>
              <a:t>application will not tombstone </a:t>
            </a:r>
            <a:r>
              <a:rPr lang="en-US" b="1" dirty="0" smtClean="0"/>
              <a:t>immediately</a:t>
            </a:r>
            <a:endParaRPr lang="en-US" dirty="0" smtClean="0"/>
          </a:p>
          <a:p>
            <a:pPr lvl="1"/>
            <a:r>
              <a:rPr lang="en-US" sz="2400" dirty="0" err="1"/>
              <a:t>PhotoChooserTask</a:t>
            </a:r>
            <a:endParaRPr lang="en-US" sz="2400" dirty="0"/>
          </a:p>
          <a:p>
            <a:pPr lvl="1"/>
            <a:r>
              <a:rPr lang="en-US" sz="2400" dirty="0" err="1"/>
              <a:t>CameraCaptureTask</a:t>
            </a:r>
            <a:endParaRPr lang="en-US" sz="2400" dirty="0"/>
          </a:p>
          <a:p>
            <a:pPr lvl="1"/>
            <a:r>
              <a:rPr lang="en-US" sz="2400" dirty="0" err="1"/>
              <a:t>MediaPlayerLauncher</a:t>
            </a:r>
            <a:endParaRPr lang="en-US" sz="2400" dirty="0"/>
          </a:p>
          <a:p>
            <a:pPr lvl="1"/>
            <a:r>
              <a:rPr lang="en-US" sz="2400" dirty="0" err="1"/>
              <a:t>EmailAddressChooserTask</a:t>
            </a:r>
            <a:endParaRPr lang="en-US" sz="2400" dirty="0"/>
          </a:p>
          <a:p>
            <a:pPr lvl="1"/>
            <a:r>
              <a:rPr lang="en-US" sz="2400" dirty="0" err="1" smtClean="0"/>
              <a:t>PhoneNumberChooserTask</a:t>
            </a:r>
            <a:endParaRPr lang="en-US" sz="2400" dirty="0" smtClean="0"/>
          </a:p>
          <a:p>
            <a:pPr lvl="1"/>
            <a:r>
              <a:rPr lang="en-US" sz="2400" dirty="0"/>
              <a:t>Multiplayer Game Invite [games]</a:t>
            </a:r>
          </a:p>
          <a:p>
            <a:pPr lvl="1"/>
            <a:r>
              <a:rPr lang="en-US" sz="2400" dirty="0"/>
              <a:t>Gamer You Card [games</a:t>
            </a:r>
            <a:r>
              <a:rPr lang="en-US" sz="2400" dirty="0" smtClean="0"/>
              <a:t>]</a:t>
            </a:r>
            <a:endParaRPr lang="en-US" b="1"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101</a:t>
            </a:fld>
            <a:endParaRPr lang="en-US" dirty="0">
              <a:solidFill>
                <a:srgbClr val="6BBD46"/>
              </a:solidFill>
            </a:endParaRPr>
          </a:p>
        </p:txBody>
      </p:sp>
    </p:spTree>
    <p:extLst>
      <p:ext uri="{BB962C8B-B14F-4D97-AF65-F5344CB8AC3E}">
        <p14:creationId xmlns:p14="http://schemas.microsoft.com/office/powerpoint/2010/main" val="16305684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3" name="Title 2"/>
          <p:cNvSpPr>
            <a:spLocks noGrp="1"/>
          </p:cNvSpPr>
          <p:nvPr>
            <p:ph type="ctrTitle"/>
          </p:nvPr>
        </p:nvSpPr>
        <p:spPr/>
        <p:txBody>
          <a:bodyPr/>
          <a:lstStyle/>
          <a:p>
            <a:r>
              <a:rPr lang="en-US" sz="7200" b="1" dirty="0" smtClean="0"/>
              <a:t>Other Topics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102</a:t>
            </a:fld>
            <a:endParaRPr lang="en-US" dirty="0"/>
          </a:p>
        </p:txBody>
      </p:sp>
    </p:spTree>
    <p:extLst>
      <p:ext uri="{BB962C8B-B14F-4D97-AF65-F5344CB8AC3E}">
        <p14:creationId xmlns:p14="http://schemas.microsoft.com/office/powerpoint/2010/main" val="19119653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APIs</a:t>
            </a:r>
            <a:endParaRPr lang="en-US" dirty="0"/>
          </a:p>
        </p:txBody>
      </p:sp>
      <p:sp>
        <p:nvSpPr>
          <p:cNvPr id="3" name="Text Placeholder 2"/>
          <p:cNvSpPr>
            <a:spLocks noGrp="1"/>
          </p:cNvSpPr>
          <p:nvPr>
            <p:ph type="body" sz="quarter" idx="10"/>
          </p:nvPr>
        </p:nvSpPr>
        <p:spPr>
          <a:xfrm>
            <a:off x="381000" y="1447800"/>
            <a:ext cx="8363938" cy="3945696"/>
          </a:xfrm>
        </p:spPr>
        <p:txBody>
          <a:bodyPr/>
          <a:lstStyle/>
          <a:p>
            <a:r>
              <a:rPr lang="en-US" dirty="0" smtClean="0"/>
              <a:t>Accelerometer</a:t>
            </a:r>
          </a:p>
          <a:p>
            <a:pPr lvl="1"/>
            <a:r>
              <a:rPr lang="en-US" dirty="0" smtClean="0"/>
              <a:t>High-frequency event</a:t>
            </a:r>
          </a:p>
          <a:p>
            <a:pPr lvl="1"/>
            <a:r>
              <a:rPr lang="en-US" dirty="0" smtClean="0"/>
              <a:t>TIP: Events fire on a background thread, remember to dispatch to the UI</a:t>
            </a:r>
          </a:p>
          <a:p>
            <a:pPr lvl="1"/>
            <a:r>
              <a:rPr lang="en-US" dirty="0" smtClean="0"/>
              <a:t>TIP: Consider writing a simple band pass filter</a:t>
            </a:r>
          </a:p>
          <a:p>
            <a:r>
              <a:rPr lang="en-US" dirty="0" smtClean="0"/>
              <a:t>Vibration</a:t>
            </a:r>
          </a:p>
          <a:p>
            <a:pPr lvl="1"/>
            <a:r>
              <a:rPr lang="en-US" dirty="0" smtClean="0"/>
              <a:t>Just like Beep in classic apps</a:t>
            </a:r>
          </a:p>
          <a:p>
            <a:pPr lvl="1"/>
            <a:r>
              <a:rPr lang="en-US" sz="2000" dirty="0" err="1" smtClean="0">
                <a:latin typeface="Consolas" pitchFamily="49" charset="0"/>
                <a:cs typeface="Consolas" pitchFamily="49" charset="0"/>
              </a:rPr>
              <a:t>Microsoft.Devices.VibrateController.Default.Start</a:t>
            </a:r>
            <a:r>
              <a:rPr lang="en-US" sz="2000" dirty="0" smtClean="0">
                <a:latin typeface="Consolas" pitchFamily="49" charset="0"/>
                <a:cs typeface="Consolas" pitchFamily="49" charset="0"/>
              </a:rPr>
              <a:t>(</a:t>
            </a:r>
          </a:p>
          <a:p>
            <a:pPr marL="460375" lvl="1" indent="0">
              <a:buNone/>
            </a:pPr>
            <a:r>
              <a:rPr lang="en-US" sz="2000" dirty="0">
                <a:latin typeface="Consolas" pitchFamily="49" charset="0"/>
                <a:cs typeface="Consolas" pitchFamily="49" charset="0"/>
              </a:rPr>
              <a:t> </a:t>
            </a:r>
            <a:r>
              <a:rPr lang="en-US" sz="2000" dirty="0" smtClean="0">
                <a:latin typeface="Consolas" pitchFamily="49" charset="0"/>
                <a:cs typeface="Consolas" pitchFamily="49" charset="0"/>
              </a:rPr>
              <a:t>   </a:t>
            </a:r>
            <a:r>
              <a:rPr lang="en-US" sz="2000" dirty="0" err="1" smtClean="0">
                <a:latin typeface="Consolas" pitchFamily="49" charset="0"/>
                <a:cs typeface="Consolas" pitchFamily="49" charset="0"/>
              </a:rPr>
              <a:t>TimeSpan.FromSeconds</a:t>
            </a:r>
            <a:r>
              <a:rPr lang="en-US" sz="2000" dirty="0" smtClean="0">
                <a:latin typeface="Consolas" pitchFamily="49" charset="0"/>
                <a:cs typeface="Consolas" pitchFamily="49" charset="0"/>
              </a:rPr>
              <a:t>(0.25));</a:t>
            </a:r>
            <a:endParaRPr lang="en-US" sz="2000" dirty="0">
              <a:latin typeface="Consolas" pitchFamily="49" charset="0"/>
              <a:cs typeface="Consolas" pitchFamily="49" charset="0"/>
            </a:endParaRP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103</a:t>
            </a:fld>
            <a:endParaRPr lang="en-US" dirty="0">
              <a:solidFill>
                <a:srgbClr val="6BBD46"/>
              </a:solidFill>
            </a:endParaRPr>
          </a:p>
        </p:txBody>
      </p:sp>
    </p:spTree>
    <p:extLst>
      <p:ext uri="{BB962C8B-B14F-4D97-AF65-F5344CB8AC3E}">
        <p14:creationId xmlns:p14="http://schemas.microsoft.com/office/powerpoint/2010/main" val="4847595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Services</a:t>
            </a:r>
            <a:endParaRPr lang="en-US" dirty="0"/>
          </a:p>
        </p:txBody>
      </p:sp>
      <p:sp>
        <p:nvSpPr>
          <p:cNvPr id="3" name="Text Placeholder 2"/>
          <p:cNvSpPr>
            <a:spLocks noGrp="1"/>
          </p:cNvSpPr>
          <p:nvPr>
            <p:ph type="body" sz="quarter" idx="10"/>
          </p:nvPr>
        </p:nvSpPr>
        <p:spPr>
          <a:xfrm>
            <a:off x="381000" y="1447800"/>
            <a:ext cx="8363938" cy="2677656"/>
          </a:xfrm>
        </p:spPr>
        <p:txBody>
          <a:bodyPr/>
          <a:lstStyle/>
          <a:p>
            <a:r>
              <a:rPr lang="en-US" dirty="0" smtClean="0"/>
              <a:t>Push Notifications</a:t>
            </a:r>
          </a:p>
          <a:p>
            <a:r>
              <a:rPr lang="en-US" dirty="0" smtClean="0"/>
              <a:t>Location Service</a:t>
            </a:r>
          </a:p>
          <a:p>
            <a:pPr lvl="1"/>
            <a:r>
              <a:rPr lang="en-US" dirty="0" smtClean="0"/>
              <a:t>3 sources of information</a:t>
            </a:r>
          </a:p>
          <a:p>
            <a:pPr lvl="2"/>
            <a:r>
              <a:rPr lang="en-US" dirty="0" err="1" smtClean="0"/>
              <a:t>WiFi</a:t>
            </a:r>
            <a:endParaRPr lang="en-US" dirty="0" smtClean="0"/>
          </a:p>
          <a:p>
            <a:pPr lvl="2"/>
            <a:r>
              <a:rPr lang="en-US" dirty="0" smtClean="0"/>
              <a:t>GPS</a:t>
            </a:r>
          </a:p>
          <a:p>
            <a:pPr lvl="2"/>
            <a:r>
              <a:rPr lang="en-US" dirty="0" smtClean="0"/>
              <a:t>Cell Towers</a:t>
            </a:r>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104</a:t>
            </a:fld>
            <a:endParaRPr lang="en-US" dirty="0">
              <a:solidFill>
                <a:srgbClr val="6BBD46"/>
              </a:solidFill>
            </a:endParaRPr>
          </a:p>
        </p:txBody>
      </p:sp>
    </p:spTree>
    <p:extLst>
      <p:ext uri="{BB962C8B-B14F-4D97-AF65-F5344CB8AC3E}">
        <p14:creationId xmlns:p14="http://schemas.microsoft.com/office/powerpoint/2010/main" val="26401834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89436" y="2362200"/>
            <a:ext cx="8363937" cy="2212848"/>
          </a:xfrm>
          <a:prstGeom prst="rect">
            <a:avLst/>
          </a:prstGeom>
          <a:solidFill>
            <a:schemeClr val="tx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68604" tIns="34302" rIns="68604" bIns="34302" numCol="1" rtlCol="0" anchor="ctr" anchorCtr="0" compatLnSpc="1">
            <a:prstTxWarp prst="textNoShape">
              <a:avLst/>
            </a:prstTxWarp>
          </a:bodyPr>
          <a:lstStyle/>
          <a:p>
            <a:pPr algn="ctr" defTabSz="685848" fontAlgn="base">
              <a:spcBef>
                <a:spcPct val="0"/>
              </a:spcBef>
              <a:spcAft>
                <a:spcPct val="0"/>
              </a:spcAft>
            </a:pPr>
            <a:endParaRPr lang="en-US" dirty="0">
              <a:gradFill>
                <a:gsLst>
                  <a:gs pos="0">
                    <a:srgbClr val="FFFFFF"/>
                  </a:gs>
                  <a:gs pos="100000">
                    <a:srgbClr val="FFFFFF"/>
                  </a:gs>
                </a:gsLst>
                <a:lin ang="5400000" scaled="0"/>
              </a:gradFill>
            </a:endParaRPr>
          </a:p>
        </p:txBody>
      </p:sp>
      <p:sp>
        <p:nvSpPr>
          <p:cNvPr id="2" name="Subtitle 1"/>
          <p:cNvSpPr>
            <a:spLocks noGrp="1"/>
          </p:cNvSpPr>
          <p:nvPr>
            <p:ph type="subTitle" idx="1"/>
          </p:nvPr>
        </p:nvSpPr>
        <p:spPr/>
        <p:txBody>
          <a:bodyPr/>
          <a:lstStyle/>
          <a:p>
            <a:endParaRPr lang="en-GB" dirty="0"/>
          </a:p>
        </p:txBody>
      </p:sp>
      <p:sp>
        <p:nvSpPr>
          <p:cNvPr id="5" name="Text Placeholder 4"/>
          <p:cNvSpPr>
            <a:spLocks noGrp="1"/>
          </p:cNvSpPr>
          <p:nvPr>
            <p:ph type="body" sz="quarter" idx="10"/>
          </p:nvPr>
        </p:nvSpPr>
        <p:spPr/>
        <p:txBody>
          <a:bodyPr/>
          <a:lstStyle/>
          <a:p>
            <a:endParaRPr lang="en-US" dirty="0"/>
          </a:p>
        </p:txBody>
      </p:sp>
      <p:sp>
        <p:nvSpPr>
          <p:cNvPr id="6" name="Text Placeholder 5"/>
          <p:cNvSpPr>
            <a:spLocks noGrp="1"/>
          </p:cNvSpPr>
          <p:nvPr>
            <p:ph type="body" sz="quarter" idx="11"/>
          </p:nvPr>
        </p:nvSpPr>
        <p:spPr/>
        <p:txBody>
          <a:bodyPr/>
          <a:lstStyle/>
          <a:p>
            <a:endParaRPr lang="en-US" dirty="0"/>
          </a:p>
        </p:txBody>
      </p:sp>
      <p:sp>
        <p:nvSpPr>
          <p:cNvPr id="3" name="Title 2"/>
          <p:cNvSpPr>
            <a:spLocks noGrp="1"/>
          </p:cNvSpPr>
          <p:nvPr>
            <p:ph type="ctrTitle"/>
          </p:nvPr>
        </p:nvSpPr>
        <p:spPr/>
        <p:txBody>
          <a:bodyPr/>
          <a:lstStyle/>
          <a:p>
            <a:r>
              <a:rPr lang="en-US" sz="7200" b="1" dirty="0" smtClean="0"/>
              <a:t>QUESTIONS?</a:t>
            </a:r>
            <a:br>
              <a:rPr lang="en-US" sz="7200" b="1" dirty="0" smtClean="0"/>
            </a:br>
            <a:r>
              <a:rPr lang="en-US" sz="4800" b="1" dirty="0" smtClean="0"/>
              <a:t>And some answers…</a:t>
            </a:r>
            <a:endParaRPr lang="en-US" sz="7200" dirty="0"/>
          </a:p>
        </p:txBody>
      </p:sp>
      <p:pic>
        <p:nvPicPr>
          <p:cNvPr id="11" name="Picture 2" descr="\\server3\Restrict\FTP_Root\Clients\White_Whale\2-20095_AndyLees\Art\WP7 guidelines\WP7_logo\WP_7_Grn_v_rgb.pn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25512" y="864550"/>
            <a:ext cx="2204043" cy="83170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271031BA-9959-4FE2-909F-37D65262A7B4}" type="slidenum">
              <a:rPr lang="en-US" smtClean="0"/>
              <a:pPr/>
              <a:t>105</a:t>
            </a:fld>
            <a:endParaRPr lang="en-US" dirty="0"/>
          </a:p>
        </p:txBody>
      </p:sp>
    </p:spTree>
    <p:extLst>
      <p:ext uri="{BB962C8B-B14F-4D97-AF65-F5344CB8AC3E}">
        <p14:creationId xmlns:p14="http://schemas.microsoft.com/office/powerpoint/2010/main" val="6672229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bldLst>
      <p:bldP spid="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Text Placeholder 2"/>
          <p:cNvSpPr>
            <a:spLocks noGrp="1"/>
          </p:cNvSpPr>
          <p:nvPr>
            <p:ph type="body" sz="quarter" idx="10"/>
          </p:nvPr>
        </p:nvSpPr>
        <p:spPr>
          <a:xfrm>
            <a:off x="381000" y="1447800"/>
            <a:ext cx="8363938" cy="3964162"/>
          </a:xfrm>
        </p:spPr>
        <p:txBody>
          <a:bodyPr/>
          <a:lstStyle/>
          <a:p>
            <a:r>
              <a:rPr lang="en-US" dirty="0" smtClean="0"/>
              <a:t>Please evaluate (comments too!)</a:t>
            </a:r>
          </a:p>
          <a:p>
            <a:r>
              <a:rPr lang="en-US" dirty="0" smtClean="0"/>
              <a:t>Download the tools</a:t>
            </a:r>
          </a:p>
          <a:p>
            <a:pPr lvl="1"/>
            <a:r>
              <a:rPr lang="en-US" sz="2400" spc="0" dirty="0" smtClean="0">
                <a:latin typeface="Segoe" pitchFamily="34" charset="0"/>
                <a:hlinkClick r:id="rId2"/>
              </a:rPr>
              <a:t>http://developer.windowsphone.com/</a:t>
            </a:r>
            <a:r>
              <a:rPr lang="en-US" sz="2400" spc="0" dirty="0" smtClean="0">
                <a:latin typeface="Segoe" pitchFamily="34" charset="0"/>
              </a:rPr>
              <a:t> </a:t>
            </a:r>
          </a:p>
          <a:p>
            <a:pPr lvl="1"/>
            <a:r>
              <a:rPr lang="en-US" sz="2400" spc="0" dirty="0" smtClean="0">
                <a:latin typeface="Segoe" pitchFamily="34" charset="0"/>
                <a:hlinkClick r:id="rId3"/>
              </a:rPr>
              <a:t>http://silverlight.codeplex.com/</a:t>
            </a:r>
            <a:r>
              <a:rPr lang="en-US" sz="2400" spc="0" dirty="0" smtClean="0">
                <a:latin typeface="Segoe" pitchFamily="34" charset="0"/>
              </a:rPr>
              <a:t> </a:t>
            </a:r>
            <a:endParaRPr lang="en-US" spc="0" dirty="0" smtClean="0">
              <a:latin typeface="Segoe" pitchFamily="34" charset="0"/>
            </a:endParaRPr>
          </a:p>
          <a:p>
            <a:r>
              <a:rPr lang="en-US" dirty="0" smtClean="0"/>
              <a:t>MSFT loves feedback: what’s good, bad, painful?</a:t>
            </a:r>
            <a:endParaRPr lang="en-US" dirty="0"/>
          </a:p>
          <a:p>
            <a:r>
              <a:rPr lang="en-US" dirty="0" smtClean="0"/>
              <a:t>Jeff Wilcox</a:t>
            </a:r>
          </a:p>
          <a:p>
            <a:pPr marL="0" indent="0">
              <a:buNone/>
            </a:pPr>
            <a:r>
              <a:rPr lang="en-US" dirty="0"/>
              <a:t>	</a:t>
            </a:r>
            <a:r>
              <a:rPr lang="en-US" spc="0" dirty="0" smtClean="0">
                <a:latin typeface="Segoe" pitchFamily="34" charset="0"/>
                <a:hlinkClick r:id="rId4"/>
              </a:rPr>
              <a:t>http://www.jeff.wilcox.name/</a:t>
            </a:r>
            <a:endParaRPr lang="en-US" spc="0" dirty="0" smtClean="0">
              <a:latin typeface="Segoe" pitchFamily="34" charset="0"/>
            </a:endParaRPr>
          </a:p>
          <a:p>
            <a:pPr marL="0" indent="0">
              <a:buNone/>
            </a:pPr>
            <a:r>
              <a:rPr lang="en-US" spc="0" dirty="0" smtClean="0">
                <a:latin typeface="Segoe" pitchFamily="34" charset="0"/>
              </a:rPr>
              <a:t>	</a:t>
            </a:r>
            <a:r>
              <a:rPr lang="en-US" spc="0" dirty="0" smtClean="0">
                <a:latin typeface="Segoe" pitchFamily="34" charset="0"/>
                <a:hlinkClick r:id="rId5"/>
              </a:rPr>
              <a:t>jwilcox@microsoft.com</a:t>
            </a:r>
            <a:r>
              <a:rPr lang="en-US" spc="0" dirty="0" smtClean="0">
                <a:latin typeface="Segoe" pitchFamily="34" charset="0"/>
              </a:rPr>
              <a:t> </a:t>
            </a:r>
            <a:endParaRPr lang="en-US" spc="0" dirty="0">
              <a:latin typeface="Segoe" pitchFamily="34" charset="0"/>
            </a:endParaRPr>
          </a:p>
        </p:txBody>
      </p:sp>
      <p:sp>
        <p:nvSpPr>
          <p:cNvPr id="4" name="Slide Number Placeholder 3"/>
          <p:cNvSpPr>
            <a:spLocks noGrp="1"/>
          </p:cNvSpPr>
          <p:nvPr>
            <p:ph type="sldNum" sz="quarter" idx="11"/>
          </p:nvPr>
        </p:nvSpPr>
        <p:spPr/>
        <p:txBody>
          <a:bodyPr/>
          <a:lstStyle/>
          <a:p>
            <a:fld id="{271031BA-9959-4FE2-909F-37D65262A7B4}" type="slidenum">
              <a:rPr lang="en-US" smtClean="0"/>
              <a:pPr/>
              <a:t>106</a:t>
            </a:fld>
            <a:endParaRPr lang="en-US" dirty="0"/>
          </a:p>
        </p:txBody>
      </p:sp>
      <p:sp>
        <p:nvSpPr>
          <p:cNvPr id="5" name="Rectangle 4"/>
          <p:cNvSpPr/>
          <p:nvPr/>
        </p:nvSpPr>
        <p:spPr bwMode="auto">
          <a:xfrm>
            <a:off x="5964072" y="1433015"/>
            <a:ext cx="423081" cy="423081"/>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spc="-150" dirty="0" smtClean="0">
              <a:gradFill>
                <a:gsLst>
                  <a:gs pos="0">
                    <a:srgbClr val="FFFFFF"/>
                  </a:gs>
                  <a:gs pos="100000">
                    <a:srgbClr val="FFFFFF"/>
                  </a:gs>
                </a:gsLst>
                <a:lin ang="5400000" scaled="0"/>
              </a:gradFill>
              <a:latin typeface="Segoe Light" pitchFamily="34" charset="0"/>
            </a:endParaRPr>
          </a:p>
        </p:txBody>
      </p:sp>
      <p:sp>
        <p:nvSpPr>
          <p:cNvPr id="6" name="Rectangle 5"/>
          <p:cNvSpPr/>
          <p:nvPr/>
        </p:nvSpPr>
        <p:spPr bwMode="auto">
          <a:xfrm>
            <a:off x="6471320" y="1433015"/>
            <a:ext cx="423081" cy="423081"/>
          </a:xfrm>
          <a:prstGeom prst="rect">
            <a:avLst/>
          </a:prstGeom>
          <a:solidFill>
            <a:schemeClr val="accent4"/>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spc="-150" dirty="0" smtClean="0">
              <a:gradFill>
                <a:gsLst>
                  <a:gs pos="0">
                    <a:srgbClr val="FFFFFF"/>
                  </a:gs>
                  <a:gs pos="100000">
                    <a:srgbClr val="FFFFFF"/>
                  </a:gs>
                </a:gsLst>
                <a:lin ang="5400000" scaled="0"/>
              </a:gradFill>
              <a:latin typeface="Segoe Light" pitchFamily="34" charset="0"/>
            </a:endParaRPr>
          </a:p>
        </p:txBody>
      </p:sp>
      <p:sp>
        <p:nvSpPr>
          <p:cNvPr id="7" name="Rectangle 6"/>
          <p:cNvSpPr/>
          <p:nvPr/>
        </p:nvSpPr>
        <p:spPr bwMode="auto">
          <a:xfrm>
            <a:off x="6989937" y="1433015"/>
            <a:ext cx="423081" cy="423081"/>
          </a:xfrm>
          <a:prstGeom prst="rect">
            <a:avLst/>
          </a:prstGeom>
          <a:solidFill>
            <a:schemeClr val="accent2"/>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spc="-150" dirty="0" smtClean="0">
              <a:gradFill>
                <a:gsLst>
                  <a:gs pos="0">
                    <a:srgbClr val="FFFFFF"/>
                  </a:gs>
                  <a:gs pos="100000">
                    <a:srgbClr val="FFFFFF"/>
                  </a:gs>
                </a:gsLst>
                <a:lin ang="5400000" scaled="0"/>
              </a:gradFill>
              <a:latin typeface="Segoe Light" pitchFamily="34" charset="0"/>
            </a:endParaRPr>
          </a:p>
        </p:txBody>
      </p:sp>
    </p:spTree>
    <p:extLst>
      <p:ext uri="{BB962C8B-B14F-4D97-AF65-F5344CB8AC3E}">
        <p14:creationId xmlns:p14="http://schemas.microsoft.com/office/powerpoint/2010/main" val="22959578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FYI: Silverlight Training</a:t>
            </a:r>
            <a:endParaRPr lang="en-US" dirty="0"/>
          </a:p>
        </p:txBody>
      </p:sp>
      <p:sp>
        <p:nvSpPr>
          <p:cNvPr id="3" name="Text Placeholder 2"/>
          <p:cNvSpPr>
            <a:spLocks noGrp="1"/>
          </p:cNvSpPr>
          <p:nvPr>
            <p:ph type="body" sz="quarter" idx="10"/>
          </p:nvPr>
        </p:nvSpPr>
        <p:spPr>
          <a:xfrm>
            <a:off x="381000" y="1447800"/>
            <a:ext cx="8363938" cy="3434786"/>
          </a:xfrm>
        </p:spPr>
        <p:txBody>
          <a:bodyPr/>
          <a:lstStyle/>
          <a:p>
            <a:pPr marL="347663" lvl="1" indent="-347663">
              <a:buClr>
                <a:schemeClr val="accent1"/>
              </a:buClr>
            </a:pPr>
            <a:r>
              <a:rPr lang="en-US" dirty="0" smtClean="0"/>
              <a:t>Nikhil </a:t>
            </a:r>
            <a:r>
              <a:rPr lang="en-US" dirty="0" err="1"/>
              <a:t>Kotari</a:t>
            </a:r>
            <a:endParaRPr lang="en-US" dirty="0"/>
          </a:p>
          <a:p>
            <a:pPr lvl="1"/>
            <a:r>
              <a:rPr lang="en-US" dirty="0" smtClean="0"/>
              <a:t>Browser as a Platform Track</a:t>
            </a:r>
          </a:p>
          <a:p>
            <a:pPr lvl="1"/>
            <a:r>
              <a:rPr lang="en-US" dirty="0" smtClean="0"/>
              <a:t>Tues 10:15</a:t>
            </a:r>
          </a:p>
          <a:p>
            <a:pPr lvl="1"/>
            <a:r>
              <a:rPr lang="en-US" dirty="0" smtClean="0"/>
              <a:t>Store Sal, </a:t>
            </a:r>
            <a:r>
              <a:rPr lang="en-US" dirty="0" err="1" smtClean="0"/>
              <a:t>Musikhuset</a:t>
            </a:r>
            <a:endParaRPr lang="en-US" dirty="0" smtClean="0"/>
          </a:p>
          <a:p>
            <a:endParaRPr lang="en-US" dirty="0" smtClean="0"/>
          </a:p>
          <a:p>
            <a:r>
              <a:rPr lang="en-US" dirty="0" smtClean="0"/>
              <a:t>Learn about View Model (MVVM)</a:t>
            </a:r>
          </a:p>
          <a:p>
            <a:r>
              <a:rPr lang="en-US" dirty="0" smtClean="0"/>
              <a:t>Deep dive into behaviors and binding</a:t>
            </a:r>
            <a:endParaRPr lang="en-US" dirty="0"/>
          </a:p>
        </p:txBody>
      </p:sp>
      <p:sp>
        <p:nvSpPr>
          <p:cNvPr id="4" name="Slide Number Placeholder 3"/>
          <p:cNvSpPr>
            <a:spLocks noGrp="1"/>
          </p:cNvSpPr>
          <p:nvPr>
            <p:ph type="sldNum" sz="quarter" idx="11"/>
          </p:nvPr>
        </p:nvSpPr>
        <p:spPr/>
        <p:txBody>
          <a:bodyPr/>
          <a:lstStyle/>
          <a:p>
            <a:fld id="{271031BA-9959-4FE2-909F-37D65262A7B4}" type="slidenum">
              <a:rPr lang="en-US" smtClean="0">
                <a:solidFill>
                  <a:srgbClr val="6BBD46"/>
                </a:solidFill>
              </a:rPr>
              <a:pPr/>
              <a:t>107</a:t>
            </a:fld>
            <a:endParaRPr lang="en-US" dirty="0">
              <a:solidFill>
                <a:srgbClr val="6BBD46"/>
              </a:solidFill>
            </a:endParaRPr>
          </a:p>
        </p:txBody>
      </p:sp>
    </p:spTree>
    <p:extLst>
      <p:ext uri="{BB962C8B-B14F-4D97-AF65-F5344CB8AC3E}">
        <p14:creationId xmlns:p14="http://schemas.microsoft.com/office/powerpoint/2010/main" val="28663418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blackWhite">
          <a:xfrm>
            <a:off x="4640892" y="2517732"/>
            <a:ext cx="3801650" cy="1384980"/>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defTabSz="914099" eaLnBrk="0" hangingPunct="0"/>
            <a:r>
              <a:rPr lang="en-US" sz="700" dirty="0">
                <a:gradFill>
                  <a:gsLst>
                    <a:gs pos="0">
                      <a:schemeClr val="tx1"/>
                    </a:gs>
                    <a:gs pos="100000">
                      <a:schemeClr val="tx1"/>
                    </a:gs>
                  </a:gsLst>
                  <a:lin ang="5400000" scaled="0"/>
                </a:gradFill>
                <a:cs typeface="Arial" charset="0"/>
              </a:rPr>
              <a:t>© </a:t>
            </a:r>
            <a:r>
              <a:rPr lang="en-US" sz="700" dirty="0" smtClean="0">
                <a:gradFill>
                  <a:gsLst>
                    <a:gs pos="0">
                      <a:schemeClr val="tx1"/>
                    </a:gs>
                    <a:gs pos="100000">
                      <a:schemeClr val="tx1"/>
                    </a:gs>
                  </a:gsLst>
                  <a:lin ang="5400000" scaled="0"/>
                </a:gradFill>
                <a:cs typeface="Arial" charset="0"/>
              </a:rPr>
              <a:t>2010 Microsoft </a:t>
            </a:r>
            <a:r>
              <a:rPr lang="en-US" sz="700" dirty="0">
                <a:gradFill>
                  <a:gsLst>
                    <a:gs pos="0">
                      <a:schemeClr val="tx1"/>
                    </a:gs>
                    <a:gs pos="100000">
                      <a:schemeClr val="tx1"/>
                    </a:gs>
                  </a:gsLst>
                  <a:lin ang="5400000" scaled="0"/>
                </a:gradFill>
                <a:cs typeface="Arial" charset="0"/>
              </a:rPr>
              <a:t>Corporation. All rights reserved. Microsoft, Windows, Windows Vista and other product names are or may be registered trademarks and/or trademarks in the U.S. and/or other countries</a:t>
            </a:r>
            <a:r>
              <a:rPr lang="en-US" sz="700" dirty="0" smtClean="0">
                <a:gradFill>
                  <a:gsLst>
                    <a:gs pos="0">
                      <a:schemeClr val="tx1"/>
                    </a:gs>
                    <a:gs pos="100000">
                      <a:schemeClr val="tx1"/>
                    </a:gs>
                  </a:gsLst>
                  <a:lin ang="5400000" scaled="0"/>
                </a:gradFill>
                <a:cs typeface="Arial" charset="0"/>
              </a:rPr>
              <a:t>.</a:t>
            </a:r>
          </a:p>
          <a:p>
            <a:pPr defTabSz="914099" eaLnBrk="0" hangingPunct="0"/>
            <a:endParaRPr lang="en-US" sz="700" dirty="0">
              <a:gradFill>
                <a:gsLst>
                  <a:gs pos="0">
                    <a:schemeClr val="tx1"/>
                  </a:gs>
                  <a:gs pos="100000">
                    <a:schemeClr val="tx1"/>
                  </a:gs>
                </a:gsLst>
                <a:lin ang="5400000" scaled="0"/>
              </a:gradFill>
              <a:cs typeface="Arial" charset="0"/>
            </a:endParaRPr>
          </a:p>
          <a:p>
            <a:pPr defTabSz="914099" eaLnBrk="0" hangingPunct="0"/>
            <a:r>
              <a:rPr lang="en-US" sz="700" dirty="0">
                <a:gradFill>
                  <a:gsLst>
                    <a:gs pos="0">
                      <a:schemeClr val="tx1"/>
                    </a:gs>
                    <a:gs pos="100000">
                      <a:schemeClr val="tx1"/>
                    </a:gs>
                  </a:gsLst>
                  <a:lin ang="5400000" scaled="0"/>
                </a:gra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endParaRPr lang="en-US" sz="700" dirty="0" smtClean="0">
              <a:gradFill>
                <a:gsLst>
                  <a:gs pos="0">
                    <a:schemeClr val="tx1"/>
                  </a:gs>
                  <a:gs pos="100000">
                    <a:schemeClr val="tx1"/>
                  </a:gs>
                </a:gsLst>
                <a:lin ang="5400000" scaled="0"/>
              </a:gradFill>
              <a:cs typeface="Arial" charset="0"/>
            </a:endParaRPr>
          </a:p>
          <a:p>
            <a:pPr defTabSz="914099" eaLnBrk="0" hangingPunct="0"/>
            <a:endParaRPr lang="en-US" sz="700" dirty="0">
              <a:gradFill>
                <a:gsLst>
                  <a:gs pos="0">
                    <a:schemeClr val="tx1"/>
                  </a:gs>
                  <a:gs pos="100000">
                    <a:schemeClr val="tx1"/>
                  </a:gs>
                </a:gsLst>
                <a:lin ang="5400000" scaled="0"/>
              </a:gradFill>
              <a:cs typeface="Arial" charset="0"/>
            </a:endParaRPr>
          </a:p>
          <a:p>
            <a:pPr defTabSz="914099" eaLnBrk="0" hangingPunct="0"/>
            <a:r>
              <a:rPr lang="en-US" sz="700" dirty="0" smtClean="0">
                <a:gradFill>
                  <a:gsLst>
                    <a:gs pos="0">
                      <a:schemeClr val="tx1"/>
                    </a:gs>
                    <a:gs pos="100000">
                      <a:schemeClr val="tx1"/>
                    </a:gs>
                  </a:gsLst>
                  <a:lin ang="5400000" scaled="0"/>
                </a:gradFill>
                <a:cs typeface="Arial" charset="0"/>
              </a:rPr>
              <a:t>MICROSOFT </a:t>
            </a:r>
            <a:r>
              <a:rPr lang="en-US" sz="700" dirty="0">
                <a:gradFill>
                  <a:gsLst>
                    <a:gs pos="0">
                      <a:schemeClr val="tx1"/>
                    </a:gs>
                    <a:gs pos="100000">
                      <a:schemeClr val="tx1"/>
                    </a:gs>
                  </a:gsLst>
                  <a:lin ang="5400000" scaled="0"/>
                </a:gradFill>
                <a:cs typeface="Arial" charset="0"/>
              </a:rPr>
              <a:t>MAKES NO WARRANTIES, EXPRESS, IMPLIED OR STATUTORY, AS TO THE INFORMATION IN THIS PRESENTATION.</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1607" y="2360280"/>
            <a:ext cx="3750472" cy="1503997"/>
          </a:xfrm>
          <a:prstGeom prst="rect">
            <a:avLst/>
          </a:prstGeom>
        </p:spPr>
      </p:pic>
    </p:spTree>
    <p:extLst>
      <p:ext uri="{BB962C8B-B14F-4D97-AF65-F5344CB8AC3E}">
        <p14:creationId xmlns:p14="http://schemas.microsoft.com/office/powerpoint/2010/main" val="295301580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Windows Phone 7 Template Light_0610">
  <a:themeElements>
    <a:clrScheme name="WP7">
      <a:dk1>
        <a:srgbClr val="737373"/>
      </a:dk1>
      <a:lt1>
        <a:srgbClr val="FFFFFF"/>
      </a:lt1>
      <a:dk2>
        <a:srgbClr val="6BBD46"/>
      </a:dk2>
      <a:lt2>
        <a:srgbClr val="FFFFFF"/>
      </a:lt2>
      <a:accent1>
        <a:srgbClr val="4891DC"/>
      </a:accent1>
      <a:accent2>
        <a:srgbClr val="FF4819"/>
      </a:accent2>
      <a:accent3>
        <a:srgbClr val="6BBD46"/>
      </a:accent3>
      <a:accent4>
        <a:srgbClr val="FFB70F"/>
      </a:accent4>
      <a:accent5>
        <a:srgbClr val="DCDCDC"/>
      </a:accent5>
      <a:accent6>
        <a:srgbClr val="7D7D7D"/>
      </a:accent6>
      <a:hlink>
        <a:srgbClr val="4891DC"/>
      </a:hlink>
      <a:folHlink>
        <a:srgbClr val="803280"/>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spc="-150" dirty="0" smtClean="0">
            <a:gradFill>
              <a:gsLst>
                <a:gs pos="0">
                  <a:srgbClr val="FFFFFF"/>
                </a:gs>
                <a:gs pos="100000">
                  <a:srgbClr val="FFFFFF"/>
                </a:gs>
              </a:gsLst>
              <a:lin ang="5400000" scaled="0"/>
            </a:gradFill>
            <a:latin typeface="Segoe Light" pitchFamily="34" charset="0"/>
          </a:defRPr>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lIns="0" tIns="0" rIns="0" bIns="0" rtlCol="0">
        <a:spAutoFit/>
      </a:bodyPr>
      <a:lstStyle>
        <a:defPPr>
          <a:defRPr sz="2200" spc="-150" dirty="0" smtClean="0">
            <a:gradFill>
              <a:gsLst>
                <a:gs pos="0">
                  <a:schemeClr val="tx1"/>
                </a:gs>
                <a:gs pos="86000">
                  <a:schemeClr val="tx1"/>
                </a:gs>
              </a:gsLst>
              <a:lin ang="5400000" scaled="0"/>
            </a:gradFill>
            <a:latin typeface="Segoe Light" pitchFamily="34" charset="0"/>
          </a:defRPr>
        </a:defPPr>
      </a:lstStyle>
    </a:txDef>
  </a:objectDefaults>
  <a:extraClrSchemeLst/>
</a:theme>
</file>

<file path=ppt/theme/theme2.xml><?xml version="1.0" encoding="utf-8"?>
<a:theme xmlns:a="http://schemas.openxmlformats.org/drawingml/2006/main" name="1_White with Consolas font for code slides">
  <a:themeElements>
    <a:clrScheme name="WP7">
      <a:dk1>
        <a:srgbClr val="737373"/>
      </a:dk1>
      <a:lt1>
        <a:srgbClr val="FFFFFF"/>
      </a:lt1>
      <a:dk2>
        <a:srgbClr val="6BBD46"/>
      </a:dk2>
      <a:lt2>
        <a:srgbClr val="FFFFFF"/>
      </a:lt2>
      <a:accent1>
        <a:srgbClr val="4891DC"/>
      </a:accent1>
      <a:accent2>
        <a:srgbClr val="FF4819"/>
      </a:accent2>
      <a:accent3>
        <a:srgbClr val="6BBD46"/>
      </a:accent3>
      <a:accent4>
        <a:srgbClr val="FFB70F"/>
      </a:accent4>
      <a:accent5>
        <a:srgbClr val="DCDCDC"/>
      </a:accent5>
      <a:accent6>
        <a:srgbClr val="7D7D7D"/>
      </a:accent6>
      <a:hlink>
        <a:srgbClr val="4891DC"/>
      </a:hlink>
      <a:folHlink>
        <a:srgbClr val="803280"/>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a:defRPr sz="2200" dirty="0" smtClean="0">
            <a:gradFill>
              <a:gsLst>
                <a:gs pos="0">
                  <a:srgbClr val="FFFFFF"/>
                </a:gs>
                <a:gs pos="100000">
                  <a:srgbClr val="FFFFFF"/>
                </a:gs>
              </a:gsLst>
              <a:lin ang="5400000" scaled="0"/>
            </a:gradFill>
          </a:defRPr>
        </a:defPPr>
      </a:lstStyle>
      <a:style>
        <a:lnRef idx="1">
          <a:schemeClr val="accent4"/>
        </a:lnRef>
        <a:fillRef idx="3">
          <a:schemeClr val="accent4"/>
        </a:fillRef>
        <a:effectRef idx="2">
          <a:schemeClr val="accent4"/>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3.xml><?xml version="1.0" encoding="utf-8"?>
<a:theme xmlns:a="http://schemas.openxmlformats.org/drawingml/2006/main" name="1_Windows Phone 7 Template Light_0610">
  <a:themeElements>
    <a:clrScheme name="WP7">
      <a:dk1>
        <a:srgbClr val="737373"/>
      </a:dk1>
      <a:lt1>
        <a:srgbClr val="FFFFFF"/>
      </a:lt1>
      <a:dk2>
        <a:srgbClr val="6BBD46"/>
      </a:dk2>
      <a:lt2>
        <a:srgbClr val="FFFFFF"/>
      </a:lt2>
      <a:accent1>
        <a:srgbClr val="4891DC"/>
      </a:accent1>
      <a:accent2>
        <a:srgbClr val="FF4819"/>
      </a:accent2>
      <a:accent3>
        <a:srgbClr val="6BBD46"/>
      </a:accent3>
      <a:accent4>
        <a:srgbClr val="FFB70F"/>
      </a:accent4>
      <a:accent5>
        <a:srgbClr val="DCDCDC"/>
      </a:accent5>
      <a:accent6>
        <a:srgbClr val="7D7D7D"/>
      </a:accent6>
      <a:hlink>
        <a:srgbClr val="4891DC"/>
      </a:hlink>
      <a:folHlink>
        <a:srgbClr val="803280"/>
      </a:folHlink>
    </a:clrScheme>
    <a:fontScheme name="Segoe">
      <a:majorFont>
        <a:latin typeface="Segoe"/>
        <a:ea typeface=""/>
        <a:cs typeface=""/>
      </a:majorFont>
      <a:minorFont>
        <a:latin typeface="Segoe"/>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spc="-150" dirty="0" smtClean="0">
            <a:gradFill>
              <a:gsLst>
                <a:gs pos="0">
                  <a:srgbClr val="FFFFFF"/>
                </a:gs>
                <a:gs pos="100000">
                  <a:srgbClr val="FFFFFF"/>
                </a:gs>
              </a:gsLst>
              <a:lin ang="5400000" scaled="0"/>
            </a:gradFill>
            <a:latin typeface="Segoe Light" pitchFamily="34" charset="0"/>
          </a:defRPr>
        </a:defPPr>
      </a:lstStyle>
      <a:style>
        <a:lnRef idx="2">
          <a:schemeClr val="accent3">
            <a:shade val="50000"/>
          </a:schemeClr>
        </a:lnRef>
        <a:fillRef idx="1">
          <a:schemeClr val="accent3"/>
        </a:fillRef>
        <a:effectRef idx="0">
          <a:schemeClr val="accent3"/>
        </a:effectRef>
        <a:fontRef idx="minor">
          <a:schemeClr val="lt1"/>
        </a:fontRef>
      </a:style>
    </a:spDef>
    <a:txDef>
      <a:spPr>
        <a:noFill/>
      </a:spPr>
      <a:bodyPr wrap="square" lIns="0" tIns="0" rIns="0" bIns="0" rtlCol="0">
        <a:spAutoFit/>
      </a:bodyPr>
      <a:lstStyle>
        <a:defPPr>
          <a:defRPr sz="2200" spc="-150" dirty="0" smtClean="0">
            <a:gradFill>
              <a:gsLst>
                <a:gs pos="0">
                  <a:schemeClr val="tx1"/>
                </a:gs>
                <a:gs pos="86000">
                  <a:schemeClr val="tx1"/>
                </a:gs>
              </a:gsLst>
              <a:lin ang="5400000" scaled="0"/>
            </a:gradFill>
            <a:latin typeface="Segoe Light" pitchFamily="34"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Windows Phone 7 Additional Layouts</Template>
  <TotalTime>2603</TotalTime>
  <Words>5065</Words>
  <Application>Microsoft Office PowerPoint</Application>
  <PresentationFormat>On-screen Show (4:3)</PresentationFormat>
  <Paragraphs>1041</Paragraphs>
  <Slides>108</Slides>
  <Notes>31</Notes>
  <HiddenSlides>18</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108</vt:i4>
      </vt:variant>
    </vt:vector>
  </HeadingPairs>
  <TitlesOfParts>
    <vt:vector size="118" baseType="lpstr">
      <vt:lpstr>Arial</vt:lpstr>
      <vt:lpstr>Segoe UI</vt:lpstr>
      <vt:lpstr>Consolas</vt:lpstr>
      <vt:lpstr>Courier New</vt:lpstr>
      <vt:lpstr>Segoe Light</vt:lpstr>
      <vt:lpstr>Wingdings</vt:lpstr>
      <vt:lpstr>Segoe</vt:lpstr>
      <vt:lpstr>Windows Phone 7 Template Light_0610</vt:lpstr>
      <vt:lpstr>1_White with Consolas font for code slides</vt:lpstr>
      <vt:lpstr>1_Windows Phone 7 Template Light_0610</vt:lpstr>
      <vt:lpstr>Exploring Windows Phone 7 Application Development</vt:lpstr>
      <vt:lpstr>Agenda</vt:lpstr>
      <vt:lpstr>IT’S A NEW PLATFORM!</vt:lpstr>
      <vt:lpstr>Hardware</vt:lpstr>
      <vt:lpstr>Framework Choices</vt:lpstr>
      <vt:lpstr>Silverlight for Windows Phone</vt:lpstr>
      <vt:lpstr>What is Silverlight?</vt:lpstr>
      <vt:lpstr>Silverlight for Windows Phone</vt:lpstr>
      <vt:lpstr>Silverlight</vt:lpstr>
      <vt:lpstr>XAML</vt:lpstr>
      <vt:lpstr>Layout</vt:lpstr>
      <vt:lpstr>Other visual concepts</vt:lpstr>
      <vt:lpstr>Styling</vt:lpstr>
      <vt:lpstr>Touch Events</vt:lpstr>
      <vt:lpstr>Data Binding</vt:lpstr>
      <vt:lpstr>Property Change Notifications</vt:lpstr>
      <vt:lpstr>Code and Design Reuse</vt:lpstr>
      <vt:lpstr>Standard Controls</vt:lpstr>
      <vt:lpstr>Controls</vt:lpstr>
      <vt:lpstr>Standard Controls</vt:lpstr>
      <vt:lpstr>SDK</vt:lpstr>
      <vt:lpstr>TextBox Input</vt:lpstr>
      <vt:lpstr>Getting Started Building Apps</vt:lpstr>
      <vt:lpstr>Lists</vt:lpstr>
      <vt:lpstr>ListBox</vt:lpstr>
      <vt:lpstr>ListBox Item Tips</vt:lpstr>
      <vt:lpstr>Bad ListBox DataTemplate</vt:lpstr>
      <vt:lpstr>Good ListBox Data Template</vt:lpstr>
      <vt:lpstr>ListBox without Virtualization</vt:lpstr>
      <vt:lpstr>ListBox Performance</vt:lpstr>
      <vt:lpstr>Threading</vt:lpstr>
      <vt:lpstr>Threading</vt:lpstr>
      <vt:lpstr>Compositor Thread</vt:lpstr>
      <vt:lpstr>User Interface Thread</vt:lpstr>
      <vt:lpstr>Dispatching to the UI Thread</vt:lpstr>
      <vt:lpstr>TIP: Be smart when dispatching</vt:lpstr>
      <vt:lpstr>Background Threads</vt:lpstr>
      <vt:lpstr>BackgroundWorker</vt:lpstr>
      <vt:lpstr>Media</vt:lpstr>
      <vt:lpstr>MediaElement</vt:lpstr>
      <vt:lpstr>MediaPlayerLauncher</vt:lpstr>
      <vt:lpstr>Media Tips</vt:lpstr>
      <vt:lpstr>Navigation &amp; Pages</vt:lpstr>
      <vt:lpstr>Frame and Page</vt:lpstr>
      <vt:lpstr>Page Navigation</vt:lpstr>
      <vt:lpstr>Navigating Back</vt:lpstr>
      <vt:lpstr>Navigation Events</vt:lpstr>
      <vt:lpstr>Passing Data Between Pages</vt:lpstr>
      <vt:lpstr>Passing Objects Between Pages</vt:lpstr>
      <vt:lpstr>Orientation-aware Forms</vt:lpstr>
      <vt:lpstr>Orientation Support</vt:lpstr>
      <vt:lpstr>Orientation-aware Pages</vt:lpstr>
      <vt:lpstr>Phone Controls</vt:lpstr>
      <vt:lpstr>Phone Controls</vt:lpstr>
      <vt:lpstr>Application Chrome System Tray and Application Bar</vt:lpstr>
      <vt:lpstr>Application Bar</vt:lpstr>
      <vt:lpstr>Application Bar in XAML</vt:lpstr>
      <vt:lpstr>Application Bar &amp; Landscape</vt:lpstr>
      <vt:lpstr>Application Bar Opacity</vt:lpstr>
      <vt:lpstr>WebBrowser Control</vt:lpstr>
      <vt:lpstr>WebBrowser Control</vt:lpstr>
      <vt:lpstr>Pivot</vt:lpstr>
      <vt:lpstr>PowerPoint Presentation</vt:lpstr>
      <vt:lpstr>Panorama</vt:lpstr>
      <vt:lpstr>Simple Pivot App</vt:lpstr>
      <vt:lpstr>Pivots Vs. Panoramas</vt:lpstr>
      <vt:lpstr>Performance</vt:lpstr>
      <vt:lpstr>Performance</vt:lpstr>
      <vt:lpstr>Emulator</vt:lpstr>
      <vt:lpstr>Startup</vt:lpstr>
      <vt:lpstr>Layout Performance</vt:lpstr>
      <vt:lpstr>Vectors vs. Images</vt:lpstr>
      <vt:lpstr>Loading Data</vt:lpstr>
      <vt:lpstr>Progress Bar Control</vt:lpstr>
      <vt:lpstr>Memory</vt:lpstr>
      <vt:lpstr>Frame Rate Counters</vt:lpstr>
      <vt:lpstr>Limitations</vt:lpstr>
      <vt:lpstr>It’s a new platform!</vt:lpstr>
      <vt:lpstr>Silverlight limitations on the phone</vt:lpstr>
      <vt:lpstr>App platform limitations today</vt:lpstr>
      <vt:lpstr>Application Lifetime</vt:lpstr>
      <vt:lpstr>“A world of interruptions”</vt:lpstr>
      <vt:lpstr>One app at a time</vt:lpstr>
      <vt:lpstr>Basic Lifecycle</vt:lpstr>
      <vt:lpstr>“Tombstone” Lifecycle</vt:lpstr>
      <vt:lpstr>Lifecycle Events</vt:lpstr>
      <vt:lpstr>Launching Event Handler</vt:lpstr>
      <vt:lpstr>Closing Event Handler</vt:lpstr>
      <vt:lpstr>Deactivated Event Handler</vt:lpstr>
      <vt:lpstr>Activated Event Handler</vt:lpstr>
      <vt:lpstr>Page State</vt:lpstr>
      <vt:lpstr>Launchers &amp; Choosers</vt:lpstr>
      <vt:lpstr>Launchers and Choosers</vt:lpstr>
      <vt:lpstr>What Are Launchers and Choosers?</vt:lpstr>
      <vt:lpstr>Launchers &amp; Choosers</vt:lpstr>
      <vt:lpstr>Programming Launchers</vt:lpstr>
      <vt:lpstr>Choosers and the Execution Model</vt:lpstr>
      <vt:lpstr>Programming Choosers</vt:lpstr>
      <vt:lpstr>Using the Camera</vt:lpstr>
      <vt:lpstr>Chooser and the Execution Model</vt:lpstr>
      <vt:lpstr>Chooser, Launcher Execution Model Disclaimer </vt:lpstr>
      <vt:lpstr>Other Topics</vt:lpstr>
      <vt:lpstr>Hardware APIs</vt:lpstr>
      <vt:lpstr>Communication Services</vt:lpstr>
      <vt:lpstr>QUESTIONS? And some answers…</vt:lpstr>
      <vt:lpstr>Thank You!</vt:lpstr>
      <vt:lpstr>FYI: Silverlight Training</vt:lpstr>
      <vt:lpstr>PowerPoint Presentation</vt:lpstr>
    </vt:vector>
  </TitlesOfParts>
  <Manager>&lt;Content Manager Name Here&gt;</Manager>
  <Company>Silver Fox</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WP7 additional layouts</dc:title>
  <dc:subject>Windows Phone 7</dc:subject>
  <dc:creator>andrewl</dc:creator>
  <dc:description>Template: Andrew Larson, Silver Fox Productions Inc. 
Formatting:
Event Date:
Event Location:
Audience Type: Internal</dc:description>
  <cp:lastModifiedBy>Jeff Wilcox</cp:lastModifiedBy>
  <cp:revision>162</cp:revision>
  <dcterms:created xsi:type="dcterms:W3CDTF">2010-06-04T18:40:42Z</dcterms:created>
  <dcterms:modified xsi:type="dcterms:W3CDTF">2010-10-04T12:33:11Z</dcterms:modified>
</cp:coreProperties>
</file>