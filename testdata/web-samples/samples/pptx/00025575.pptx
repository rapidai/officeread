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32004000" cy="36576000"/>
  <p:notesSz cx="7315200" cy="9601200"/>
  <p:defaultTextStyle>
    <a:defPPr>
      <a:defRPr lang="en-US"/>
    </a:defPPr>
    <a:lvl1pPr marL="0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1pPr>
    <a:lvl2pPr marL="2142225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2pPr>
    <a:lvl3pPr marL="4284449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3pPr>
    <a:lvl4pPr marL="6426675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4pPr>
    <a:lvl5pPr marL="8568900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5pPr>
    <a:lvl6pPr marL="10711124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6pPr>
    <a:lvl7pPr marL="12853349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7pPr>
    <a:lvl8pPr marL="14995574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8pPr>
    <a:lvl9pPr marL="17137799" algn="l" defTabSz="4284449" rtl="0" eaLnBrk="1" latinLnBrk="0" hangingPunct="1">
      <a:defRPr sz="8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2AC"/>
    <a:srgbClr val="EAEAEA"/>
    <a:srgbClr val="FBDFB7"/>
    <a:srgbClr val="FAFCB6"/>
  </p:clrMru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3" autoAdjust="0"/>
    <p:restoredTop sz="94654" autoAdjust="0"/>
  </p:normalViewPr>
  <p:slideViewPr>
    <p:cSldViewPr>
      <p:cViewPr>
        <p:scale>
          <a:sx n="33" d="100"/>
          <a:sy n="33" d="100"/>
        </p:scale>
        <p:origin x="-18" y="2790"/>
      </p:cViewPr>
      <p:guideLst>
        <p:guide orient="horz" pos="11520"/>
        <p:guide pos="10080"/>
      </p:guideLst>
    </p:cSldViewPr>
  </p:slideViewPr>
  <p:outlineViewPr>
    <p:cViewPr>
      <p:scale>
        <a:sx n="33" d="100"/>
        <a:sy n="33" d="100"/>
      </p:scale>
      <p:origin x="210" y="0"/>
    </p:cViewPr>
  </p:outlineViewPr>
  <p:notesTextViewPr>
    <p:cViewPr>
      <p:scale>
        <a:sx n="100" d="100"/>
        <a:sy n="100" d="100"/>
      </p:scale>
      <p:origin x="0" y="0"/>
    </p:cViewPr>
  </p:notesTextViewPr>
  <p:gridSpacing cx="468172800" cy="468172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06F9B1E-D3E0-4AE4-8317-B9B5E2F35A89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20725"/>
            <a:ext cx="3149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5952EC3-B073-4C94-B907-45119434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1pPr>
    <a:lvl2pPr marL="2142225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2pPr>
    <a:lvl3pPr marL="4284449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3pPr>
    <a:lvl4pPr marL="6426675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4pPr>
    <a:lvl5pPr marL="8568900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5pPr>
    <a:lvl6pPr marL="10711124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6pPr>
    <a:lvl7pPr marL="12853349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7pPr>
    <a:lvl8pPr marL="14995574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8pPr>
    <a:lvl9pPr marL="17137799" algn="l" defTabSz="4284449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82800" y="720725"/>
            <a:ext cx="3149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52EC3-B073-4C94-B907-45119434733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1866900" y="7315201"/>
            <a:ext cx="27480768" cy="9753600"/>
          </a:xfrm>
          <a:ln>
            <a:noFill/>
          </a:ln>
        </p:spPr>
        <p:txBody>
          <a:bodyPr vert="horz" tIns="0" rIns="85689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26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1866900" y="17218859"/>
            <a:ext cx="27491436" cy="9347200"/>
          </a:xfrm>
        </p:spPr>
        <p:txBody>
          <a:bodyPr lIns="0" rIns="85689"/>
          <a:lstStyle>
            <a:lvl1pPr marL="0" marR="214222" indent="0" algn="r">
              <a:buNone/>
              <a:defRPr>
                <a:solidFill>
                  <a:schemeClr val="tx1"/>
                </a:solidFill>
              </a:defRPr>
            </a:lvl1pPr>
            <a:lvl2pPr marL="2142225" indent="0" algn="ctr">
              <a:buNone/>
            </a:lvl2pPr>
            <a:lvl3pPr marL="4284449" indent="0" algn="ctr">
              <a:buNone/>
            </a:lvl3pPr>
            <a:lvl4pPr marL="6426675" indent="0" algn="ctr">
              <a:buNone/>
            </a:lvl4pPr>
            <a:lvl5pPr marL="8568900" indent="0" algn="ctr">
              <a:buNone/>
            </a:lvl5pPr>
            <a:lvl6pPr marL="10711124" indent="0" algn="ctr">
              <a:buNone/>
            </a:lvl6pPr>
            <a:lvl7pPr marL="12853349" indent="0" algn="ctr">
              <a:buNone/>
            </a:lvl7pPr>
            <a:lvl8pPr marL="14995574" indent="0" algn="ctr">
              <a:buNone/>
            </a:lvl8pPr>
            <a:lvl9pPr marL="1713779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232" y="7022593"/>
            <a:ext cx="27203400" cy="726643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26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6232" y="14424875"/>
            <a:ext cx="27203400" cy="8051797"/>
          </a:xfrm>
        </p:spPr>
        <p:txBody>
          <a:bodyPr lIns="214222" rIns="214222" anchor="t"/>
          <a:lstStyle>
            <a:lvl1pPr marL="0" indent="0">
              <a:buNone/>
              <a:defRPr sz="10300">
                <a:solidFill>
                  <a:schemeClr val="tx1"/>
                </a:solidFill>
              </a:defRPr>
            </a:lvl1pPr>
            <a:lvl2pPr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755136"/>
            <a:ext cx="28803600" cy="6096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0200" y="10240454"/>
            <a:ext cx="14135100" cy="23652480"/>
          </a:xfrm>
        </p:spPr>
        <p:txBody>
          <a:bodyPr/>
          <a:lstStyle>
            <a:lvl1pPr>
              <a:defRPr sz="12200"/>
            </a:lvl1pPr>
            <a:lvl2pPr>
              <a:defRPr sz="11300"/>
            </a:lvl2pPr>
            <a:lvl3pPr>
              <a:defRPr sz="9400"/>
            </a:lvl3pPr>
            <a:lvl4pPr>
              <a:defRPr sz="8400"/>
            </a:lvl4pPr>
            <a:lvl5pPr>
              <a:defRPr sz="8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68700" y="10240454"/>
            <a:ext cx="14135100" cy="23652480"/>
          </a:xfrm>
        </p:spPr>
        <p:txBody>
          <a:bodyPr/>
          <a:lstStyle>
            <a:lvl1pPr>
              <a:defRPr sz="12200"/>
            </a:lvl1pPr>
            <a:lvl2pPr>
              <a:defRPr sz="11300"/>
            </a:lvl2pPr>
            <a:lvl3pPr>
              <a:defRPr sz="9400"/>
            </a:lvl3pPr>
            <a:lvl4pPr>
              <a:defRPr sz="8400"/>
            </a:lvl4pPr>
            <a:lvl5pPr>
              <a:defRPr sz="8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755136"/>
            <a:ext cx="28803600" cy="6096000"/>
          </a:xfrm>
        </p:spPr>
        <p:txBody>
          <a:bodyPr tIns="214222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9894657"/>
            <a:ext cx="14140658" cy="3516544"/>
          </a:xfrm>
        </p:spPr>
        <p:txBody>
          <a:bodyPr lIns="214222" tIns="0" rIns="214222" bIns="0" anchor="ctr">
            <a:noAutofit/>
          </a:bodyPr>
          <a:lstStyle>
            <a:lvl1pPr marL="0" indent="0">
              <a:buNone/>
              <a:defRPr sz="113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9400" b="1"/>
            </a:lvl2pPr>
            <a:lvl3pPr>
              <a:buNone/>
              <a:defRPr sz="8400" b="1"/>
            </a:lvl3pPr>
            <a:lvl4pPr>
              <a:buNone/>
              <a:defRPr sz="7500" b="1"/>
            </a:lvl4pPr>
            <a:lvl5pPr>
              <a:buNone/>
              <a:defRPr sz="75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6257592" y="9918708"/>
            <a:ext cx="14146213" cy="3492496"/>
          </a:xfrm>
        </p:spPr>
        <p:txBody>
          <a:bodyPr lIns="214222" tIns="0" rIns="214222" bIns="0" anchor="ctr"/>
          <a:lstStyle>
            <a:lvl1pPr marL="0" indent="0">
              <a:buNone/>
              <a:defRPr sz="113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9400" b="1"/>
            </a:lvl2pPr>
            <a:lvl3pPr>
              <a:buNone/>
              <a:defRPr sz="8400" b="1"/>
            </a:lvl3pPr>
            <a:lvl4pPr>
              <a:buNone/>
              <a:defRPr sz="7500" b="1"/>
            </a:lvl4pPr>
            <a:lvl5pPr>
              <a:buNone/>
              <a:defRPr sz="75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600200" y="13411201"/>
            <a:ext cx="14140658" cy="20510506"/>
          </a:xfrm>
        </p:spPr>
        <p:txBody>
          <a:bodyPr tIns="0"/>
          <a:lstStyle>
            <a:lvl1pPr>
              <a:defRPr sz="10300"/>
            </a:lvl1pPr>
            <a:lvl2pPr>
              <a:defRPr sz="9400"/>
            </a:lvl2pPr>
            <a:lvl3pPr>
              <a:defRPr sz="8400"/>
            </a:lvl3pPr>
            <a:lvl4pPr>
              <a:defRPr sz="7500"/>
            </a:lvl4pPr>
            <a:lvl5pPr>
              <a:defRPr sz="75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57592" y="13411201"/>
            <a:ext cx="14146213" cy="20510506"/>
          </a:xfrm>
        </p:spPr>
        <p:txBody>
          <a:bodyPr tIns="0"/>
          <a:lstStyle>
            <a:lvl1pPr>
              <a:defRPr sz="10300"/>
            </a:lvl1pPr>
            <a:lvl2pPr>
              <a:defRPr sz="9400"/>
            </a:lvl2pPr>
            <a:lvl3pPr>
              <a:defRPr sz="8400"/>
            </a:lvl3pPr>
            <a:lvl4pPr>
              <a:defRPr sz="7500"/>
            </a:lvl4pPr>
            <a:lvl5pPr>
              <a:defRPr sz="75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755136"/>
            <a:ext cx="29070300" cy="6096000"/>
          </a:xfrm>
        </p:spPr>
        <p:txBody>
          <a:bodyPr vert="horz" tIns="214222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234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2743211"/>
            <a:ext cx="9601200" cy="619760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122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2400300" y="8940800"/>
            <a:ext cx="9601200" cy="24384000"/>
          </a:xfrm>
        </p:spPr>
        <p:txBody>
          <a:bodyPr lIns="85689" rIns="85689"/>
          <a:lstStyle>
            <a:lvl1pPr marL="0" indent="0" algn="l">
              <a:buNone/>
              <a:defRPr sz="6600"/>
            </a:lvl1pPr>
            <a:lvl2pPr indent="0" algn="l">
              <a:buNone/>
              <a:defRPr sz="5600"/>
            </a:lvl2pPr>
            <a:lvl3pPr indent="0" algn="l">
              <a:buNone/>
              <a:defRPr sz="4700"/>
            </a:lvl3pPr>
            <a:lvl4pPr indent="0" algn="l">
              <a:buNone/>
              <a:defRPr sz="4200"/>
            </a:lvl4pPr>
            <a:lvl5pPr indent="0" algn="l">
              <a:buNone/>
              <a:defRPr sz="42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512678" y="8940800"/>
            <a:ext cx="17891125" cy="24384000"/>
          </a:xfrm>
        </p:spPr>
        <p:txBody>
          <a:bodyPr tIns="0"/>
          <a:lstStyle>
            <a:lvl1pPr>
              <a:defRPr sz="13100"/>
            </a:lvl1pPr>
            <a:lvl2pPr>
              <a:defRPr sz="12200"/>
            </a:lvl2pPr>
            <a:lvl3pPr>
              <a:defRPr sz="11300"/>
            </a:lvl3pPr>
            <a:lvl4pPr>
              <a:defRPr sz="9400"/>
            </a:lvl4pPr>
            <a:lvl5pPr>
              <a:defRPr sz="8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11080136" y="5909744"/>
            <a:ext cx="18402300" cy="219456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445" tIns="214222" rIns="428445" bIns="21422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28014469" y="28585437"/>
            <a:ext cx="544068" cy="82905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445" tIns="214222" rIns="428445" bIns="21422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277315"/>
            <a:ext cx="7744968" cy="8440645"/>
          </a:xfrm>
        </p:spPr>
        <p:txBody>
          <a:bodyPr vert="horz" lIns="214222" tIns="214222" rIns="214222" bIns="214222" anchor="b"/>
          <a:lstStyle>
            <a:lvl1pPr algn="l">
              <a:buNone/>
              <a:defRPr sz="9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15086854"/>
            <a:ext cx="7734300" cy="11623040"/>
          </a:xfrm>
        </p:spPr>
        <p:txBody>
          <a:bodyPr lIns="299912" rIns="214222" bIns="214222" anchor="t"/>
          <a:lstStyle>
            <a:lvl1pPr marL="0" indent="0" algn="l">
              <a:spcBef>
                <a:spcPts val="1171"/>
              </a:spcBef>
              <a:buFontTx/>
              <a:buNone/>
              <a:defRPr sz="6100"/>
            </a:lvl1pPr>
            <a:lvl2pPr>
              <a:defRPr sz="5600"/>
            </a:lvl2pPr>
            <a:lvl3pPr>
              <a:defRPr sz="4700"/>
            </a:lvl3pPr>
            <a:lvl4pPr>
              <a:defRPr sz="4200"/>
            </a:lvl4pPr>
            <a:lvl5pPr>
              <a:defRPr sz="42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8270200" y="33900538"/>
            <a:ext cx="2133600" cy="1947334"/>
          </a:xfrm>
        </p:spPr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12200276" y="6397424"/>
            <a:ext cx="16162020" cy="209702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150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33338" y="31021868"/>
            <a:ext cx="32070675" cy="555413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28445" tIns="214222" rIns="428445" bIns="214222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15335250" y="33172403"/>
            <a:ext cx="16668750" cy="340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28445" tIns="214222" rIns="428445" bIns="214222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202900" y="4876811"/>
            <a:ext cx="7200900" cy="27796069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0200" y="4876811"/>
            <a:ext cx="21069300" cy="27796069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33338" y="-38100"/>
            <a:ext cx="32070675" cy="555413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28445" tIns="214222" rIns="428445" bIns="214222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15335250" y="-38098"/>
            <a:ext cx="16668750" cy="340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28445" tIns="214222" rIns="428445" bIns="214222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1600200" y="3755136"/>
            <a:ext cx="28803600" cy="6096000"/>
          </a:xfrm>
          <a:prstGeom prst="rect">
            <a:avLst/>
          </a:prstGeom>
        </p:spPr>
        <p:txBody>
          <a:bodyPr vert="horz" lIns="0" tIns="214222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1600200" y="10322560"/>
            <a:ext cx="28803600" cy="23408640"/>
          </a:xfrm>
          <a:prstGeom prst="rect">
            <a:avLst/>
          </a:prstGeom>
        </p:spPr>
        <p:txBody>
          <a:bodyPr vert="horz" lIns="428445" tIns="214222" rIns="428445" bIns="214222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1600200" y="33900538"/>
            <a:ext cx="7467600" cy="194733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5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E4FB904-86AF-4134-8A5B-DB8D28444A4F}" type="datetimeFigureOut">
              <a:rPr lang="en-US" smtClean="0"/>
              <a:pPr/>
              <a:t>6/26/2009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9334500" y="33900538"/>
            <a:ext cx="11734800" cy="194733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5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7736800" y="33900538"/>
            <a:ext cx="2667000" cy="194733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5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5120139-0D6E-43ED-A1D8-F5C6CAAA24C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66560" y="1079510"/>
            <a:ext cx="32131918" cy="3462528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234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1285335" indent="-1285335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999115" indent="-115680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1300" kern="1200">
          <a:solidFill>
            <a:schemeClr val="tx1"/>
          </a:solidFill>
          <a:latin typeface="+mn-lt"/>
          <a:ea typeface="+mn-ea"/>
          <a:cs typeface="+mn-cs"/>
        </a:defRPr>
      </a:lvl2pPr>
      <a:lvl3pPr marL="4284449" indent="-115680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9800" kern="1200">
          <a:solidFill>
            <a:schemeClr val="tx1"/>
          </a:solidFill>
          <a:latin typeface="+mn-lt"/>
          <a:ea typeface="+mn-ea"/>
          <a:cs typeface="+mn-cs"/>
        </a:defRPr>
      </a:lvl3pPr>
      <a:lvl4pPr marL="5569785" indent="-985423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9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5120" indent="-985423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9400" kern="1200">
          <a:solidFill>
            <a:schemeClr val="tx1"/>
          </a:solidFill>
          <a:latin typeface="+mn-lt"/>
          <a:ea typeface="+mn-ea"/>
          <a:cs typeface="+mn-cs"/>
        </a:defRPr>
      </a:lvl5pPr>
      <a:lvl6pPr marL="8140455" indent="-985423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8400" kern="1200">
          <a:solidFill>
            <a:schemeClr val="tx1"/>
          </a:solidFill>
          <a:latin typeface="+mn-lt"/>
          <a:ea typeface="+mn-ea"/>
          <a:cs typeface="+mn-cs"/>
        </a:defRPr>
      </a:lvl6pPr>
      <a:lvl7pPr marL="8997344" indent="-85689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75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0282679" indent="-856890" algn="l" rtl="0" eaLnBrk="1" latinLnBrk="0" hangingPunct="1">
        <a:spcBef>
          <a:spcPct val="20000"/>
        </a:spcBef>
        <a:buClr>
          <a:schemeClr val="tx2"/>
        </a:buClr>
        <a:buChar char="•"/>
        <a:defRPr kumimoji="0" sz="7500" kern="1200">
          <a:solidFill>
            <a:schemeClr val="tx1"/>
          </a:solidFill>
          <a:latin typeface="+mn-lt"/>
          <a:ea typeface="+mn-ea"/>
          <a:cs typeface="+mn-cs"/>
        </a:defRPr>
      </a:lvl8pPr>
      <a:lvl9pPr marL="11568014" indent="-85689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6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1422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42844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64266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8568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07111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28533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499557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1713779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/>
          <p:cNvSpPr/>
          <p:nvPr/>
        </p:nvSpPr>
        <p:spPr>
          <a:xfrm>
            <a:off x="16002000" y="34918650"/>
            <a:ext cx="15087600" cy="74295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7000">
                <a:schemeClr val="accent1">
                  <a:lumMod val="20000"/>
                  <a:lumOff val="80000"/>
                  <a:alpha val="39000"/>
                </a:schemeClr>
              </a:gs>
              <a:gs pos="76000">
                <a:schemeClr val="accent2">
                  <a:tint val="15000"/>
                  <a:satMod val="165000"/>
                  <a:alpha val="22000"/>
                </a:schemeClr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path path="rect">
              <a:fillToRect r="100000" b="100000"/>
            </a:path>
          </a:gradFill>
          <a:ln w="6350">
            <a:solidFill>
              <a:schemeClr val="accent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73509" tIns="36754" rIns="73509" bIns="36754" rtlCol="0" anchor="ctr"/>
          <a:lstStyle/>
          <a:p>
            <a:pPr algn="ctr"/>
            <a:endParaRPr lang="en-US">
              <a:latin typeface="Garamond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002002" y="5058384"/>
            <a:ext cx="15129163" cy="29231616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7000">
                <a:schemeClr val="accent1">
                  <a:lumMod val="20000"/>
                  <a:lumOff val="80000"/>
                  <a:alpha val="39000"/>
                </a:schemeClr>
              </a:gs>
              <a:gs pos="76000">
                <a:schemeClr val="accent2">
                  <a:tint val="15000"/>
                  <a:satMod val="165000"/>
                  <a:alpha val="22000"/>
                </a:schemeClr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path path="rect">
              <a:fillToRect r="100000" b="100000"/>
            </a:path>
          </a:gradFill>
          <a:ln w="6350">
            <a:solidFill>
              <a:schemeClr val="accent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73509" tIns="36754" rIns="73509" bIns="36754" rtlCol="0" anchor="ctr"/>
          <a:lstStyle/>
          <a:p>
            <a:pPr algn="ctr"/>
            <a:endParaRPr lang="en-US">
              <a:latin typeface="Garamond" pitchFamily="18" charset="0"/>
            </a:endParaRPr>
          </a:p>
        </p:txBody>
      </p:sp>
      <p:sp>
        <p:nvSpPr>
          <p:cNvPr id="295" name="Rectangle 294"/>
          <p:cNvSpPr/>
          <p:nvPr/>
        </p:nvSpPr>
        <p:spPr>
          <a:xfrm>
            <a:off x="16292947" y="25304075"/>
            <a:ext cx="14547273" cy="3891064"/>
          </a:xfrm>
          <a:prstGeom prst="rect">
            <a:avLst/>
          </a:prstGeom>
          <a:solidFill>
            <a:srgbClr val="FBDFB7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00" cy="428017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r>
              <a:rPr lang="en-US" dirty="0" err="1" smtClean="0">
                <a:latin typeface="Garamond" pitchFamily="18" charset="0"/>
              </a:rPr>
              <a:t>VARiD</a:t>
            </a:r>
            <a:r>
              <a:rPr lang="en-US" dirty="0" smtClean="0">
                <a:latin typeface="Garamond" pitchFamily="18" charset="0"/>
              </a:rPr>
              <a:t>: Variation Detection in Color-Space </a:t>
            </a:r>
            <a:r>
              <a:rPr lang="en-US" dirty="0" smtClean="0">
                <a:solidFill>
                  <a:schemeClr val="bg1"/>
                </a:solidFill>
                <a:latin typeface="Garamond" pitchFamily="18" charset="0"/>
              </a:rPr>
              <a:t>and </a:t>
            </a:r>
            <a:r>
              <a:rPr lang="en-US" dirty="0" smtClean="0">
                <a:latin typeface="Garamond" pitchFamily="18" charset="0"/>
              </a:rPr>
              <a:t>Letter-Space</a:t>
            </a:r>
          </a:p>
          <a:p>
            <a:pPr algn="ctr"/>
            <a:r>
              <a:rPr lang="en-US" sz="5800" dirty="0" smtClean="0">
                <a:latin typeface="Garamond" pitchFamily="18" charset="0"/>
              </a:rPr>
              <a:t>Adrian Dalca</a:t>
            </a:r>
            <a:r>
              <a:rPr lang="en-US" sz="5800" baseline="30000" dirty="0" smtClean="0">
                <a:latin typeface="Garamond" pitchFamily="18" charset="0"/>
              </a:rPr>
              <a:t>1</a:t>
            </a:r>
            <a:r>
              <a:rPr lang="en-US" sz="5800" dirty="0" smtClean="0">
                <a:latin typeface="Garamond" pitchFamily="18" charset="0"/>
              </a:rPr>
              <a:t> and Michael Brudno</a:t>
            </a:r>
            <a:r>
              <a:rPr lang="en-US" sz="5800" baseline="30000" dirty="0" smtClean="0">
                <a:latin typeface="Garamond" pitchFamily="18" charset="0"/>
              </a:rPr>
              <a:t>1,2</a:t>
            </a:r>
          </a:p>
          <a:p>
            <a:pPr algn="ctr"/>
            <a:r>
              <a:rPr lang="en-US" sz="2600" dirty="0" smtClean="0">
                <a:latin typeface="Garamond" pitchFamily="18" charset="0"/>
              </a:rPr>
              <a:t>1 Department of Computer Science 2 </a:t>
            </a:r>
            <a:r>
              <a:rPr lang="en-US" sz="2600" dirty="0" err="1" smtClean="0">
                <a:latin typeface="Garamond" pitchFamily="18" charset="0"/>
              </a:rPr>
              <a:t>Banting</a:t>
            </a:r>
            <a:r>
              <a:rPr lang="en-US" sz="2600" dirty="0" smtClean="0">
                <a:latin typeface="Garamond" pitchFamily="18" charset="0"/>
              </a:rPr>
              <a:t> &amp; Best Department of Medical Research</a:t>
            </a:r>
          </a:p>
          <a:p>
            <a:pPr algn="ctr"/>
            <a:r>
              <a:rPr lang="en-US" sz="4300" dirty="0" smtClean="0">
                <a:solidFill>
                  <a:schemeClr val="bg1"/>
                </a:solidFill>
                <a:latin typeface="Garamond" pitchFamily="18" charset="0"/>
              </a:rPr>
              <a:t>University of Toronto</a:t>
            </a:r>
            <a:endParaRPr lang="en-US" sz="4800" dirty="0" smtClean="0">
              <a:latin typeface="Garamond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2837" y="8171234"/>
            <a:ext cx="14547273" cy="1945531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7000">
                <a:schemeClr val="accent1">
                  <a:lumMod val="20000"/>
                  <a:lumOff val="80000"/>
                  <a:alpha val="39000"/>
                </a:schemeClr>
              </a:gs>
              <a:gs pos="76000">
                <a:schemeClr val="accent2">
                  <a:tint val="15000"/>
                  <a:satMod val="165000"/>
                  <a:alpha val="22000"/>
                </a:schemeClr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path path="rect">
              <a:fillToRect r="100000" b="100000"/>
            </a:path>
          </a:gradFill>
          <a:ln w="6350">
            <a:solidFill>
              <a:schemeClr val="accent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73509" tIns="36754" rIns="73509" bIns="36754" rtlCol="0" anchor="ctr"/>
          <a:lstStyle/>
          <a:p>
            <a:pPr algn="ctr"/>
            <a:endParaRPr lang="en-US" dirty="0">
              <a:latin typeface="Garamond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2837" y="28404766"/>
            <a:ext cx="14547273" cy="7256834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7000">
                <a:schemeClr val="accent1">
                  <a:lumMod val="20000"/>
                  <a:lumOff val="80000"/>
                  <a:alpha val="39000"/>
                </a:schemeClr>
              </a:gs>
              <a:gs pos="76000">
                <a:schemeClr val="accent2">
                  <a:tint val="15000"/>
                  <a:satMod val="165000"/>
                  <a:alpha val="22000"/>
                </a:schemeClr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path path="rect">
              <a:fillToRect r="100000" b="100000"/>
            </a:path>
          </a:gradFill>
          <a:ln w="6350">
            <a:solidFill>
              <a:schemeClr val="accent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73509" tIns="36754" rIns="73509" bIns="36754" rtlCol="0" anchor="ctr"/>
          <a:lstStyle/>
          <a:p>
            <a:pPr algn="ctr"/>
            <a:endParaRPr lang="en-US">
              <a:latin typeface="Garamond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83894" y="5058383"/>
            <a:ext cx="4176801" cy="1366887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b="1" dirty="0" smtClean="0">
                <a:latin typeface="Garamond" pitchFamily="18" charset="0"/>
              </a:rPr>
              <a:t>Methods</a:t>
            </a:r>
            <a:endParaRPr lang="en-US" b="1" dirty="0">
              <a:latin typeface="Garamond" pitchFamily="18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872837" y="9697946"/>
            <a:ext cx="14547273" cy="29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9346" y="8171235"/>
            <a:ext cx="5095514" cy="1366887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b="1" dirty="0" smtClean="0">
                <a:latin typeface="Garamond" pitchFamily="18" charset="0"/>
              </a:rPr>
              <a:t>Motivation</a:t>
            </a:r>
            <a:endParaRPr lang="en-US" b="1" dirty="0">
              <a:latin typeface="Garamond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54730" y="10403200"/>
            <a:ext cx="10183091" cy="1859330"/>
          </a:xfrm>
          <a:prstGeom prst="rect">
            <a:avLst/>
          </a:prstGeom>
        </p:spPr>
        <p:txBody>
          <a:bodyPr wrap="square" lIns="73509" tIns="36754" rIns="73509" bIns="36754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There are two types of sequencing methodologies: letter-space (</a:t>
            </a: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Sanger, 454, </a:t>
            </a:r>
            <a:r>
              <a:rPr lang="en-US" sz="2900" dirty="0" err="1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Illumina</a:t>
            </a: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, etc)</a:t>
            </a:r>
            <a:r>
              <a:rPr lang="en-US" sz="2900" dirty="0" smtClean="0">
                <a:latin typeface="Garamond" pitchFamily="18" charset="0"/>
              </a:rPr>
              <a:t> and color-space (</a:t>
            </a:r>
            <a:r>
              <a:rPr lang="en-US" sz="2900" dirty="0" smtClean="0">
                <a:solidFill>
                  <a:srgbClr val="0070C0"/>
                </a:solidFill>
                <a:latin typeface="Garamond" pitchFamily="18" charset="0"/>
              </a:rPr>
              <a:t>AB </a:t>
            </a:r>
            <a:r>
              <a:rPr lang="en-US" sz="2900" dirty="0" err="1" smtClean="0">
                <a:solidFill>
                  <a:srgbClr val="0070C0"/>
                </a:solidFill>
                <a:latin typeface="Garamond" pitchFamily="18" charset="0"/>
              </a:rPr>
              <a:t>SOLiD</a:t>
            </a:r>
            <a:r>
              <a:rPr lang="en-US" sz="2900" dirty="0" smtClean="0">
                <a:latin typeface="Garamond" pitchFamily="18" charset="0"/>
              </a:rPr>
              <a:t>). They have different sequencing biases, different inherent errors and different advantages, and </a:t>
            </a:r>
            <a:r>
              <a:rPr lang="en-US" sz="2900" b="1" dirty="0" smtClean="0">
                <a:latin typeface="Garamond" pitchFamily="18" charset="0"/>
              </a:rPr>
              <a:t>we combine information from these platforms</a:t>
            </a:r>
            <a:r>
              <a:rPr lang="en-US" sz="2900" dirty="0" smtClean="0">
                <a:latin typeface="Garamond" pitchFamily="18" charset="0"/>
              </a:rPr>
              <a:t>.</a:t>
            </a:r>
            <a:endParaRPr lang="en-US" sz="2900" dirty="0">
              <a:latin typeface="Garamond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630024" y="10505873"/>
            <a:ext cx="3457575" cy="155642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2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letter_space_eg</a:t>
            </a:r>
            <a:endParaRPr lang="en-US" sz="24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TCAGCATCGGCAT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2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color_space_eg</a:t>
            </a:r>
            <a:endParaRPr lang="en-US" sz="24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400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400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4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400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endParaRPr lang="en-US" sz="24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54730" y="12743236"/>
            <a:ext cx="3469299" cy="520502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2900" u="sng" dirty="0" smtClean="0">
                <a:latin typeface="Garamond" pitchFamily="18" charset="0"/>
              </a:rPr>
              <a:t>Color Space Properties</a:t>
            </a:r>
            <a:endParaRPr lang="en-US" sz="2900" u="sng" dirty="0">
              <a:latin typeface="Garamond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583891" y="7003915"/>
            <a:ext cx="13965382" cy="1859330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A </a:t>
            </a:r>
            <a:r>
              <a:rPr lang="en-US" sz="2900" b="1" dirty="0" smtClean="0">
                <a:latin typeface="Garamond" pitchFamily="18" charset="0"/>
              </a:rPr>
              <a:t>Hidden Markov Model</a:t>
            </a:r>
            <a:r>
              <a:rPr lang="en-US" sz="2900" dirty="0" smtClean="0">
                <a:latin typeface="Garamond" pitchFamily="18" charset="0"/>
              </a:rPr>
              <a:t> (HMM) is a </a:t>
            </a:r>
            <a:r>
              <a:rPr lang="en-US" sz="2900" dirty="0" smtClean="0">
                <a:solidFill>
                  <a:srgbClr val="0070C0"/>
                </a:solidFill>
                <a:latin typeface="Garamond" pitchFamily="18" charset="0"/>
              </a:rPr>
              <a:t>statistical</a:t>
            </a:r>
            <a:r>
              <a:rPr lang="en-US" sz="2900" dirty="0" smtClean="0">
                <a:latin typeface="Garamond" pitchFamily="18" charset="0"/>
              </a:rPr>
              <a:t> model for a system (which can be in one of various states and can </a:t>
            </a:r>
            <a:r>
              <a:rPr lang="en-US" sz="2900" dirty="0" smtClean="0">
                <a:solidFill>
                  <a:srgbClr val="0070C0"/>
                </a:solidFill>
                <a:latin typeface="Garamond" pitchFamily="18" charset="0"/>
              </a:rPr>
              <a:t>evolve</a:t>
            </a:r>
            <a:r>
              <a:rPr lang="en-US" sz="2900" dirty="0" smtClean="0">
                <a:latin typeface="Garamond" pitchFamily="18" charset="0"/>
              </a:rPr>
              <a:t>). We assume that the system is a </a:t>
            </a:r>
            <a:r>
              <a:rPr lang="en-US" sz="2900" dirty="0" smtClean="0">
                <a:solidFill>
                  <a:srgbClr val="0062AC"/>
                </a:solidFill>
                <a:latin typeface="Garamond" pitchFamily="18" charset="0"/>
              </a:rPr>
              <a:t>Markov Process </a:t>
            </a:r>
            <a:r>
              <a:rPr lang="en-US" sz="2900" dirty="0" smtClean="0">
                <a:latin typeface="Garamond" pitchFamily="18" charset="0"/>
              </a:rPr>
              <a:t>(where a future state depends only on the current state). We cannot see the states directly (they are </a:t>
            </a:r>
            <a:r>
              <a:rPr lang="en-US" sz="2900" dirty="0" smtClean="0">
                <a:solidFill>
                  <a:srgbClr val="0062AC"/>
                </a:solidFill>
                <a:latin typeface="Garamond" pitchFamily="18" charset="0"/>
              </a:rPr>
              <a:t>hidden</a:t>
            </a:r>
            <a:r>
              <a:rPr lang="en-US" sz="2900" dirty="0" smtClean="0">
                <a:latin typeface="Garamond" pitchFamily="18" charset="0"/>
              </a:rPr>
              <a:t>), but we can observe their emission (output).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2837" y="5058383"/>
            <a:ext cx="14547273" cy="2334638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37000">
                <a:schemeClr val="accent1">
                  <a:lumMod val="20000"/>
                  <a:lumOff val="80000"/>
                  <a:alpha val="39000"/>
                </a:schemeClr>
              </a:gs>
              <a:gs pos="76000">
                <a:schemeClr val="accent2">
                  <a:tint val="15000"/>
                  <a:satMod val="165000"/>
                  <a:alpha val="22000"/>
                </a:schemeClr>
              </a:gs>
              <a:gs pos="100000">
                <a:schemeClr val="accent1">
                  <a:lumMod val="20000"/>
                  <a:lumOff val="80000"/>
                  <a:alpha val="73000"/>
                </a:schemeClr>
              </a:gs>
            </a:gsLst>
            <a:path path="rect">
              <a:fillToRect r="100000" b="100000"/>
            </a:path>
          </a:gradFill>
          <a:ln w="6350">
            <a:solidFill>
              <a:schemeClr val="accent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73509" tIns="36754" rIns="73509" bIns="36754" rtlCol="0" anchor="ctr"/>
          <a:lstStyle/>
          <a:p>
            <a:pPr algn="ctr"/>
            <a:endParaRPr lang="en-US">
              <a:latin typeface="Garamond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454728" y="5506514"/>
            <a:ext cx="13383491" cy="1459220"/>
          </a:xfrm>
          <a:prstGeom prst="rect">
            <a:avLst/>
          </a:prstGeom>
        </p:spPr>
        <p:txBody>
          <a:bodyPr wrap="square" lIns="73509" tIns="36754" rIns="73509" bIns="36754">
            <a:spAutoFit/>
          </a:bodyPr>
          <a:lstStyle/>
          <a:p>
            <a:r>
              <a:rPr lang="en-US" sz="3000" dirty="0" smtClean="0">
                <a:latin typeface="Garamond" pitchFamily="18" charset="0"/>
              </a:rPr>
              <a:t>In this poster, we present </a:t>
            </a:r>
            <a:r>
              <a:rPr lang="en-US" sz="3000" dirty="0" err="1" smtClean="0">
                <a:latin typeface="Garamond" pitchFamily="18" charset="0"/>
              </a:rPr>
              <a:t>VARiD</a:t>
            </a:r>
            <a:r>
              <a:rPr lang="en-US" sz="3000" dirty="0" smtClean="0">
                <a:latin typeface="Garamond" pitchFamily="18" charset="0"/>
              </a:rPr>
              <a:t> - a Hidden Markov Model for SNP and </a:t>
            </a:r>
            <a:r>
              <a:rPr lang="en-US" sz="3000" dirty="0" err="1" smtClean="0">
                <a:latin typeface="Garamond" pitchFamily="18" charset="0"/>
              </a:rPr>
              <a:t>indel</a:t>
            </a:r>
            <a:r>
              <a:rPr lang="en-US" sz="3000" dirty="0" smtClean="0">
                <a:latin typeface="Garamond" pitchFamily="18" charset="0"/>
              </a:rPr>
              <a:t> identification with AB-</a:t>
            </a:r>
            <a:r>
              <a:rPr lang="en-US" sz="3000" dirty="0" err="1" smtClean="0">
                <a:latin typeface="Garamond" pitchFamily="18" charset="0"/>
              </a:rPr>
              <a:t>SOLiD</a:t>
            </a:r>
            <a:r>
              <a:rPr lang="en-US" sz="3000" dirty="0" smtClean="0">
                <a:latin typeface="Garamond" pitchFamily="18" charset="0"/>
              </a:rPr>
              <a:t> color-space as well as regular letter-space reads. </a:t>
            </a:r>
            <a:r>
              <a:rPr lang="en-US" sz="3000" dirty="0" err="1" smtClean="0">
                <a:latin typeface="Garamond" pitchFamily="18" charset="0"/>
              </a:rPr>
              <a:t>VARiD</a:t>
            </a:r>
            <a:r>
              <a:rPr lang="en-US" sz="3000" dirty="0" smtClean="0">
                <a:latin typeface="Garamond" pitchFamily="18" charset="0"/>
              </a:rPr>
              <a:t> combines both types of data in a single framework which allows for accurate predictions. </a:t>
            </a:r>
            <a:endParaRPr lang="en-US" sz="3000" dirty="0">
              <a:latin typeface="Garamond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6583891" y="9265275"/>
            <a:ext cx="13965382" cy="966778"/>
          </a:xfrm>
          <a:prstGeom prst="rect">
            <a:avLst/>
          </a:prstGeom>
          <a:ln>
            <a:noFill/>
          </a:ln>
        </p:spPr>
        <p:txBody>
          <a:bodyPr wrap="square" lIns="73509" tIns="36754" rIns="73509" bIns="36754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We apply an HMM to our problem:  we don’t know the donor at a position (</a:t>
            </a: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unknown state</a:t>
            </a:r>
            <a:r>
              <a:rPr lang="en-US" sz="2900" dirty="0" smtClean="0">
                <a:latin typeface="Garamond" pitchFamily="18" charset="0"/>
              </a:rPr>
              <a:t>), but we observe reads from the donor (</a:t>
            </a:r>
            <a:r>
              <a:rPr lang="en-US" sz="2900" dirty="0" smtClean="0">
                <a:solidFill>
                  <a:srgbClr val="0070C0"/>
                </a:solidFill>
                <a:latin typeface="Garamond" pitchFamily="18" charset="0"/>
              </a:rPr>
              <a:t>state’s emission</a:t>
            </a:r>
            <a:r>
              <a:rPr lang="en-US" sz="2900" dirty="0" smtClean="0">
                <a:latin typeface="Garamond" pitchFamily="18" charset="0"/>
              </a:rPr>
              <a:t>). We detail a  model for the underlying letters.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583892" y="10894979"/>
            <a:ext cx="5237018" cy="8949447"/>
          </a:xfrm>
          <a:prstGeom prst="rect">
            <a:avLst/>
          </a:prstGeom>
          <a:noFill/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endParaRPr lang="en-US" sz="3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20698599" y="12913468"/>
            <a:ext cx="290945" cy="583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7472222" y="12913468"/>
            <a:ext cx="290945" cy="583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4" name="Flowchart: Connector 123"/>
          <p:cNvSpPr/>
          <p:nvPr/>
        </p:nvSpPr>
        <p:spPr>
          <a:xfrm>
            <a:off x="17173486" y="1284051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5" name="Flowchart: Connector 124"/>
          <p:cNvSpPr/>
          <p:nvPr/>
        </p:nvSpPr>
        <p:spPr>
          <a:xfrm>
            <a:off x="17197371" y="1478604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CA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6" name="Flowchart: Connector 125"/>
          <p:cNvSpPr/>
          <p:nvPr/>
        </p:nvSpPr>
        <p:spPr>
          <a:xfrm>
            <a:off x="17173482" y="14007831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7" name="Flowchart: Connector 126"/>
          <p:cNvSpPr/>
          <p:nvPr/>
        </p:nvSpPr>
        <p:spPr>
          <a:xfrm>
            <a:off x="17189672" y="18693320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7002127" y="12189416"/>
            <a:ext cx="1382766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532/3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7093045" y="15548045"/>
            <a:ext cx="748142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0560920" y="12165097"/>
            <a:ext cx="1382766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533/4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1" name="Straight Arrow Connector 130"/>
          <p:cNvCxnSpPr>
            <a:stCxn id="124" idx="6"/>
            <a:endCxn id="140" idx="2"/>
          </p:cNvCxnSpPr>
          <p:nvPr/>
        </p:nvCxnSpPr>
        <p:spPr>
          <a:xfrm>
            <a:off x="17867757" y="13186747"/>
            <a:ext cx="2775021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25" idx="6"/>
            <a:endCxn id="140" idx="2"/>
          </p:cNvCxnSpPr>
          <p:nvPr/>
        </p:nvCxnSpPr>
        <p:spPr>
          <a:xfrm flipV="1">
            <a:off x="17891642" y="13186747"/>
            <a:ext cx="2751136" cy="1945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6" idx="6"/>
            <a:endCxn id="141" idx="2"/>
          </p:cNvCxnSpPr>
          <p:nvPr/>
        </p:nvCxnSpPr>
        <p:spPr>
          <a:xfrm>
            <a:off x="17867753" y="14354065"/>
            <a:ext cx="2789375" cy="4669276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7" idx="6"/>
            <a:endCxn id="141" idx="2"/>
          </p:cNvCxnSpPr>
          <p:nvPr/>
        </p:nvCxnSpPr>
        <p:spPr>
          <a:xfrm flipV="1">
            <a:off x="17883943" y="19023341"/>
            <a:ext cx="2773185" cy="16213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17072267" y="13483957"/>
            <a:ext cx="748142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6" name="Flowchart: Connector 135"/>
          <p:cNvSpPr/>
          <p:nvPr/>
        </p:nvSpPr>
        <p:spPr>
          <a:xfrm>
            <a:off x="17189671" y="17027146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GA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7" name="Flowchart: Connector 136"/>
          <p:cNvSpPr/>
          <p:nvPr/>
        </p:nvSpPr>
        <p:spPr>
          <a:xfrm>
            <a:off x="17190028" y="1613544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CT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7089583" y="17752981"/>
            <a:ext cx="748142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7089583" y="18142087"/>
            <a:ext cx="748142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0" name="Flowchart: Connector 139"/>
          <p:cNvSpPr/>
          <p:nvPr/>
        </p:nvSpPr>
        <p:spPr>
          <a:xfrm>
            <a:off x="20642778" y="1284051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1" name="Flowchart: Connector 140"/>
          <p:cNvSpPr/>
          <p:nvPr/>
        </p:nvSpPr>
        <p:spPr>
          <a:xfrm>
            <a:off x="20657128" y="18677107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20575735" y="13570086"/>
            <a:ext cx="748142" cy="3447098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cxnSp>
        <p:nvCxnSpPr>
          <p:cNvPr id="143" name="Straight Arrow Connector 142"/>
          <p:cNvCxnSpPr>
            <a:stCxn id="136" idx="6"/>
            <a:endCxn id="140" idx="2"/>
          </p:cNvCxnSpPr>
          <p:nvPr/>
        </p:nvCxnSpPr>
        <p:spPr>
          <a:xfrm flipV="1">
            <a:off x="17883942" y="13186747"/>
            <a:ext cx="2758836" cy="4186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37" idx="6"/>
            <a:endCxn id="141" idx="2"/>
          </p:cNvCxnSpPr>
          <p:nvPr/>
        </p:nvCxnSpPr>
        <p:spPr>
          <a:xfrm>
            <a:off x="17884299" y="16481677"/>
            <a:ext cx="2772829" cy="254166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8003376" y="11240971"/>
            <a:ext cx="2846308" cy="674390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900" dirty="0" smtClean="0">
                <a:latin typeface="Courier New" pitchFamily="49" charset="0"/>
                <a:cs typeface="Courier New" pitchFamily="49" charset="0"/>
              </a:rPr>
              <a:t>… X Y Z …</a:t>
            </a:r>
            <a:endParaRPr lang="en-US" sz="39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18578854" y="11089532"/>
            <a:ext cx="1018309" cy="9727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19212791" y="11089532"/>
            <a:ext cx="1018309" cy="9727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49" name="Straight Arrow Connector 148"/>
          <p:cNvCxnSpPr>
            <a:stCxn id="147" idx="4"/>
            <a:endCxn id="128" idx="3"/>
          </p:cNvCxnSpPr>
          <p:nvPr/>
        </p:nvCxnSpPr>
        <p:spPr>
          <a:xfrm rot="5400000">
            <a:off x="18531225" y="11915966"/>
            <a:ext cx="410452" cy="7031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48" idx="4"/>
            <a:endCxn id="130" idx="1"/>
          </p:cNvCxnSpPr>
          <p:nvPr/>
        </p:nvCxnSpPr>
        <p:spPr>
          <a:xfrm rot="16200000" flipH="1">
            <a:off x="19948367" y="11835877"/>
            <a:ext cx="386133" cy="8389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16002002" y="6590491"/>
            <a:ext cx="15129163" cy="24319"/>
          </a:xfrm>
          <a:prstGeom prst="line">
            <a:avLst/>
          </a:prstGeom>
          <a:ln w="6350">
            <a:solidFill>
              <a:schemeClr val="accent1">
                <a:shade val="50000"/>
                <a:satMod val="103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22111856" y="10894979"/>
            <a:ext cx="8728363" cy="3198158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Consider 3 donor positions 532 (X), 533 (Y), and 534 (Z). Nucleotides XY can be any of AA, AC, …TT, and similarly for YZ. Since Y is shared, we can only transition between a state that ends with the same letter that the next state starts with. For example, from state A</a:t>
            </a:r>
            <a:r>
              <a:rPr lang="en-US" sz="2900" b="1" u="sng" dirty="0" smtClean="0">
                <a:latin typeface="Garamond" pitchFamily="18" charset="0"/>
              </a:rPr>
              <a:t>A</a:t>
            </a:r>
            <a:r>
              <a:rPr lang="en-US" sz="2900" dirty="0" smtClean="0">
                <a:latin typeface="Garamond" pitchFamily="18" charset="0"/>
              </a:rPr>
              <a:t>, we can only transition to a state that start with an A.  We note that this is a Markov Process: each state depends only on the previous one.</a:t>
            </a:r>
            <a:endParaRPr lang="en-US" sz="2900" dirty="0">
              <a:latin typeface="Garamond" pitchFamily="18" charset="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1454728" y="13326895"/>
            <a:ext cx="13383491" cy="6132295"/>
          </a:xfrm>
          <a:prstGeom prst="rect">
            <a:avLst/>
          </a:prstGeom>
        </p:spPr>
        <p:txBody>
          <a:bodyPr wrap="square" lIns="73509" tIns="36754" rIns="73509" bIns="36754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In color-space, a color is given for each pair of base-pairs (</a:t>
            </a:r>
            <a:r>
              <a:rPr lang="en-US" sz="2900" dirty="0" err="1" smtClean="0">
                <a:latin typeface="Garamond" pitchFamily="18" charset="0"/>
              </a:rPr>
              <a:t>bp</a:t>
            </a:r>
            <a:r>
              <a:rPr lang="en-US" sz="2900" dirty="0" smtClean="0">
                <a:latin typeface="Garamond" pitchFamily="18" charset="0"/>
              </a:rPr>
              <a:t>). There are 4 colors for 16 </a:t>
            </a:r>
            <a:r>
              <a:rPr lang="en-US" sz="2900" dirty="0" err="1" smtClean="0">
                <a:latin typeface="Garamond" pitchFamily="18" charset="0"/>
              </a:rPr>
              <a:t>bp</a:t>
            </a:r>
            <a:r>
              <a:rPr lang="en-US" sz="2900" dirty="0" smtClean="0">
                <a:latin typeface="Garamond" pitchFamily="18" charset="0"/>
              </a:rPr>
              <a:t> combinations, as shown by the matrix to the right. For example, an A followed by a G is represented by the color 2. Certain properties arise:</a:t>
            </a:r>
          </a:p>
          <a:p>
            <a:endParaRPr lang="en-US" sz="2900" dirty="0" smtClean="0">
              <a:latin typeface="Garamond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a sequencing error is a single color change </a:t>
            </a:r>
          </a:p>
          <a:p>
            <a:pPr algn="ctr"/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&gt; T212313230313232121311120</a:t>
            </a:r>
          </a:p>
          <a:p>
            <a:pPr algn="ctr"/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&gt; T21231323031</a:t>
            </a:r>
            <a:r>
              <a:rPr lang="en-US" sz="29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232121311120</a:t>
            </a:r>
            <a:endParaRPr lang="en-US" sz="29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965"/>
              </a:spcBef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a SNP represents </a:t>
            </a:r>
            <a:r>
              <a:rPr lang="en-US" sz="2900" dirty="0" smtClean="0">
                <a:solidFill>
                  <a:srgbClr val="0070C0"/>
                </a:solidFill>
                <a:latin typeface="Garamond" pitchFamily="18" charset="0"/>
              </a:rPr>
              <a:t>two </a:t>
            </a:r>
            <a:r>
              <a:rPr lang="en-US" sz="2900" dirty="0" smtClean="0">
                <a:latin typeface="Garamond" pitchFamily="18" charset="0"/>
              </a:rPr>
              <a:t>color changes</a:t>
            </a:r>
          </a:p>
          <a:p>
            <a:pPr algn="ctr"/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&gt; TCAGCATCGGCA</a:t>
            </a:r>
            <a:r>
              <a:rPr lang="en-US" sz="29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CGACTGCACAGG</a:t>
            </a:r>
          </a:p>
          <a:p>
            <a:pPr algn="ctr"/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&gt; T21231323031</a:t>
            </a:r>
            <a:r>
              <a:rPr lang="en-US" sz="29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23</a:t>
            </a:r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32121311120</a:t>
            </a:r>
            <a:endParaRPr lang="en-US" sz="29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965"/>
              </a:spcBef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if we translate a color-space read we get the entire sequence wrong after an error</a:t>
            </a:r>
          </a:p>
          <a:p>
            <a:pPr algn="ctr"/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&gt; T21231323031</a:t>
            </a:r>
            <a:r>
              <a:rPr lang="en-US" sz="29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232121311120</a:t>
            </a:r>
          </a:p>
          <a:p>
            <a:pPr algn="ctr"/>
            <a:r>
              <a:rPr lang="en-US" sz="2900" dirty="0" smtClean="0">
                <a:latin typeface="Courier New" pitchFamily="49" charset="0"/>
                <a:cs typeface="Courier New" pitchFamily="49" charset="0"/>
              </a:rPr>
              <a:t>&gt; TCAGCATCGGCA</a:t>
            </a:r>
            <a:r>
              <a:rPr lang="en-US" sz="29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AGCTGACGTGTCC</a:t>
            </a:r>
            <a:endParaRPr lang="en-US" sz="2900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36000"/>
          </a:blip>
          <a:srcRect/>
          <a:stretch>
            <a:fillRect/>
          </a:stretch>
        </p:blipFill>
        <p:spPr bwMode="auto">
          <a:xfrm>
            <a:off x="2909456" y="21830490"/>
            <a:ext cx="3782291" cy="5220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1" name="Straight Arrow Connector 50"/>
          <p:cNvCxnSpPr>
            <a:stCxn id="54" idx="3"/>
            <a:endCxn id="52" idx="1"/>
          </p:cNvCxnSpPr>
          <p:nvPr/>
        </p:nvCxnSpPr>
        <p:spPr>
          <a:xfrm flipV="1">
            <a:off x="4679373" y="22892036"/>
            <a:ext cx="1139539" cy="1483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18912" y="22608702"/>
            <a:ext cx="892247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Garamond" pitchFamily="18" charset="0"/>
              </a:rPr>
              <a:t>SNP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54728" y="19844426"/>
            <a:ext cx="13383491" cy="1413054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These properties may allow us to call </a:t>
            </a:r>
            <a:r>
              <a:rPr lang="en-US" sz="2900" dirty="0" err="1" smtClean="0">
                <a:latin typeface="Garamond" pitchFamily="18" charset="0"/>
              </a:rPr>
              <a:t>SNPs</a:t>
            </a:r>
            <a:r>
              <a:rPr lang="en-US" sz="2900" dirty="0" smtClean="0">
                <a:latin typeface="Garamond" pitchFamily="18" charset="0"/>
              </a:rPr>
              <a:t> in clear cases. Below we give examples with color-space reference and reads. In the first example the donor reads give a strong, clear signal. The </a:t>
            </a:r>
            <a:r>
              <a:rPr lang="en-US" sz="2900" dirty="0" smtClean="0">
                <a:solidFill>
                  <a:srgbClr val="0062AC"/>
                </a:solidFill>
                <a:latin typeface="Garamond" pitchFamily="18" charset="0"/>
              </a:rPr>
              <a:t>more realistic </a:t>
            </a:r>
            <a:r>
              <a:rPr lang="en-US" sz="2900" dirty="0" smtClean="0">
                <a:latin typeface="Garamond" pitchFamily="18" charset="0"/>
              </a:rPr>
              <a:t>second example shows a more complicated situation.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27764" y="21717000"/>
            <a:ext cx="751609" cy="531778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>
              <a:latin typeface="Garamond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2111856" y="14786044"/>
            <a:ext cx="8728363" cy="1859330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For an unknown donor, we get emissions via reads: colors from color-space reads, and letters from letter-space reads. (N.B. we overlap pairs - therefore we only need one-letter emissions per pair)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5312" y="17120681"/>
            <a:ext cx="4098253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…NNNNNNNNNNNNNN…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8" name="Flowchart: Connector 57"/>
          <p:cNvSpPr/>
          <p:nvPr/>
        </p:nvSpPr>
        <p:spPr>
          <a:xfrm>
            <a:off x="25523628" y="17120681"/>
            <a:ext cx="58189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 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3660100" y="18093447"/>
            <a:ext cx="3851390" cy="1551553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T0102010</a:t>
            </a:r>
            <a:r>
              <a:rPr lang="en-US" sz="3200" b="1" u="sng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T103010</a:t>
            </a:r>
            <a:r>
              <a:rPr lang="en-US" sz="3200" b="1" u="sng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  T2010</a:t>
            </a:r>
            <a:r>
              <a:rPr lang="en-US" sz="3200" b="1" u="sng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692183" y="20139752"/>
            <a:ext cx="3851390" cy="1551553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ATTGCGCA</a:t>
            </a:r>
            <a:r>
              <a:rPr lang="en-US" sz="3200" b="1" u="sng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TGCG</a:t>
            </a:r>
          </a:p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TTGGGCA</a:t>
            </a:r>
            <a:r>
              <a:rPr lang="en-US" sz="3200" b="1" u="sng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TGCGA</a:t>
            </a:r>
          </a:p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  GCGCA</a:t>
            </a:r>
            <a:r>
              <a:rPr lang="en-US" sz="3200" b="1" u="sng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TGCGAC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89250" y="18098969"/>
            <a:ext cx="1991907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Garamond" pitchFamily="18" charset="0"/>
              </a:rPr>
              <a:t>Color reads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930765" y="20093139"/>
            <a:ext cx="2035189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Garamond" pitchFamily="18" charset="0"/>
              </a:rPr>
              <a:t>Letter reads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5651318" y="18044809"/>
            <a:ext cx="351932" cy="179961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889249" y="18677106"/>
            <a:ext cx="2617078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Garamond" pitchFamily="18" charset="0"/>
              </a:rPr>
              <a:t>color emissions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7896391" y="20695596"/>
            <a:ext cx="2609064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Garamond" pitchFamily="18" charset="0"/>
              </a:rPr>
              <a:t>letter emissions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5653161" y="20214482"/>
            <a:ext cx="400050" cy="155642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25847338" y="18944618"/>
            <a:ext cx="1885999" cy="158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6" idx="3"/>
          </p:cNvCxnSpPr>
          <p:nvPr/>
        </p:nvCxnSpPr>
        <p:spPr>
          <a:xfrm flipV="1">
            <a:off x="26053211" y="20959880"/>
            <a:ext cx="1877768" cy="32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16583892" y="20233533"/>
            <a:ext cx="5237018" cy="4669277"/>
          </a:xfrm>
          <a:prstGeom prst="rect">
            <a:avLst/>
          </a:prstGeom>
          <a:noFill/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endParaRPr lang="en-US" sz="2400" dirty="0">
              <a:solidFill>
                <a:schemeClr val="tx1"/>
              </a:solidFill>
              <a:latin typeface="Garamond" pitchFamily="18" charset="0"/>
              <a:cs typeface="Courier New" pitchFamily="49" charset="0"/>
            </a:endParaRPr>
          </a:p>
        </p:txBody>
      </p:sp>
      <p:sp>
        <p:nvSpPr>
          <p:cNvPr id="204" name="Flowchart: Connector 203"/>
          <p:cNvSpPr/>
          <p:nvPr/>
        </p:nvSpPr>
        <p:spPr>
          <a:xfrm>
            <a:off x="16814224" y="20565895"/>
            <a:ext cx="577056" cy="519351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latin typeface="Garamond" pitchFamily="18" charset="0"/>
                <a:cs typeface="Courier New" pitchFamily="49" charset="0"/>
              </a:rPr>
              <a:t>A</a:t>
            </a:r>
            <a:r>
              <a:rPr lang="en-US" sz="2400" b="1" dirty="0">
                <a:solidFill>
                  <a:srgbClr val="C00000"/>
                </a:solidFill>
                <a:latin typeface="Garamond" pitchFamily="18" charset="0"/>
                <a:cs typeface="Courier New" pitchFamily="49" charset="0"/>
              </a:rPr>
              <a:t>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8184091" y="21230617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color 0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8184091" y="21619724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color 1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8184091" y="22008831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color 2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84091" y="22397936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color 3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8184091" y="22981597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letters  A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8184091" y="23383672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letters  C</a:t>
            </a:r>
          </a:p>
        </p:txBody>
      </p:sp>
      <p:cxnSp>
        <p:nvCxnSpPr>
          <p:cNvPr id="211" name="Shape 210"/>
          <p:cNvCxnSpPr>
            <a:stCxn id="204" idx="4"/>
            <a:endCxn id="205" idx="1"/>
          </p:cNvCxnSpPr>
          <p:nvPr/>
        </p:nvCxnSpPr>
        <p:spPr>
          <a:xfrm rot="16200000" flipH="1">
            <a:off x="17492914" y="20695083"/>
            <a:ext cx="301014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hape 211"/>
          <p:cNvCxnSpPr>
            <a:stCxn id="204" idx="4"/>
            <a:endCxn id="206" idx="1"/>
          </p:cNvCxnSpPr>
          <p:nvPr/>
        </p:nvCxnSpPr>
        <p:spPr>
          <a:xfrm rot="16200000" flipH="1">
            <a:off x="17298361" y="20889636"/>
            <a:ext cx="690121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hape 212"/>
          <p:cNvCxnSpPr>
            <a:stCxn id="204" idx="4"/>
            <a:endCxn id="207" idx="1"/>
          </p:cNvCxnSpPr>
          <p:nvPr/>
        </p:nvCxnSpPr>
        <p:spPr>
          <a:xfrm rot="16200000" flipH="1">
            <a:off x="17103807" y="21084190"/>
            <a:ext cx="1079228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hape 213"/>
          <p:cNvCxnSpPr>
            <a:stCxn id="204" idx="4"/>
            <a:endCxn id="208" idx="1"/>
          </p:cNvCxnSpPr>
          <p:nvPr/>
        </p:nvCxnSpPr>
        <p:spPr>
          <a:xfrm rot="16200000" flipH="1">
            <a:off x="16909255" y="21278742"/>
            <a:ext cx="1468333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hape 214"/>
          <p:cNvCxnSpPr>
            <a:stCxn id="204" idx="4"/>
            <a:endCxn id="209" idx="1"/>
          </p:cNvCxnSpPr>
          <p:nvPr/>
        </p:nvCxnSpPr>
        <p:spPr>
          <a:xfrm rot="16200000" flipH="1">
            <a:off x="16617424" y="21570573"/>
            <a:ext cx="2051994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hape 215"/>
          <p:cNvCxnSpPr>
            <a:stCxn id="204" idx="4"/>
            <a:endCxn id="210" idx="1"/>
          </p:cNvCxnSpPr>
          <p:nvPr/>
        </p:nvCxnSpPr>
        <p:spPr>
          <a:xfrm rot="16200000" flipH="1">
            <a:off x="16416387" y="21771610"/>
            <a:ext cx="2454069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>
            <a:off x="17456728" y="22835681"/>
            <a:ext cx="3782291" cy="1351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217"/>
          <p:cNvSpPr/>
          <p:nvPr/>
        </p:nvSpPr>
        <p:spPr>
          <a:xfrm>
            <a:off x="19939844" y="21230617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1 – </a:t>
            </a:r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ε</a:t>
            </a:r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/3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9939844" y="21619724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ε</a:t>
            </a:r>
            <a:endParaRPr lang="en-US" sz="2300" dirty="0">
              <a:solidFill>
                <a:schemeClr val="tx1"/>
              </a:solidFill>
              <a:latin typeface="Garamond" pitchFamily="18" charset="0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19939844" y="22008831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ε</a:t>
            </a:r>
            <a:endParaRPr lang="en-US" sz="2300" dirty="0">
              <a:solidFill>
                <a:schemeClr val="tx1"/>
              </a:solidFill>
              <a:latin typeface="Garamond" pitchFamily="18" charset="0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19939844" y="22397936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ε</a:t>
            </a:r>
            <a:endParaRPr lang="en-US" sz="2300" dirty="0">
              <a:solidFill>
                <a:schemeClr val="tx1"/>
              </a:solidFill>
              <a:latin typeface="Garamond" pitchFamily="18" charset="0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18184091" y="20582107"/>
            <a:ext cx="1193595" cy="443550"/>
          </a:xfrm>
          <a:prstGeom prst="rect">
            <a:avLst/>
          </a:prstGeom>
        </p:spPr>
        <p:txBody>
          <a:bodyPr wrap="none" lIns="73501" tIns="36750" rIns="73501" bIns="36750">
            <a:spAutoFit/>
          </a:bodyPr>
          <a:lstStyle/>
          <a:p>
            <a:pPr algn="ctr"/>
            <a:r>
              <a:rPr lang="en-US" sz="2400" dirty="0">
                <a:latin typeface="Garamond" pitchFamily="18" charset="0"/>
              </a:rPr>
              <a:t>emission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9911479" y="20565894"/>
            <a:ext cx="1434046" cy="443550"/>
          </a:xfrm>
          <a:prstGeom prst="rect">
            <a:avLst/>
          </a:prstGeom>
        </p:spPr>
        <p:txBody>
          <a:bodyPr wrap="none" lIns="73501" tIns="36750" rIns="73501" bIns="36750">
            <a:spAutoFit/>
          </a:bodyPr>
          <a:lstStyle/>
          <a:p>
            <a:pPr algn="ctr"/>
            <a:r>
              <a:rPr lang="en-US" sz="2400" dirty="0">
                <a:latin typeface="Garamond" pitchFamily="18" charset="0"/>
              </a:rPr>
              <a:t>probability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8184091" y="24242950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letters  T</a:t>
            </a:r>
          </a:p>
        </p:txBody>
      </p:sp>
      <p:cxnSp>
        <p:nvCxnSpPr>
          <p:cNvPr id="225" name="Shape 224"/>
          <p:cNvCxnSpPr>
            <a:stCxn id="204" idx="4"/>
            <a:endCxn id="224" idx="1"/>
          </p:cNvCxnSpPr>
          <p:nvPr/>
        </p:nvCxnSpPr>
        <p:spPr>
          <a:xfrm rot="16200000" flipH="1">
            <a:off x="15986748" y="22201249"/>
            <a:ext cx="3313347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19939844" y="24242950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ξ</a:t>
            </a:r>
            <a:endParaRPr lang="en-US" sz="2300" baseline="30000" dirty="0">
              <a:solidFill>
                <a:schemeClr val="tx1"/>
              </a:solidFill>
              <a:latin typeface="Garamond" pitchFamily="18" charset="0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19939844" y="22981597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(1-</a:t>
            </a:r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 ξ</a:t>
            </a:r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/3</a:t>
            </a:r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)</a:t>
            </a:r>
            <a:endParaRPr lang="en-US" sz="2300" baseline="30000" dirty="0">
              <a:solidFill>
                <a:schemeClr val="tx1"/>
              </a:solidFill>
              <a:latin typeface="Garamond" pitchFamily="18" charset="0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18184091" y="23824660"/>
            <a:ext cx="1371600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n-US" sz="2300" dirty="0">
                <a:solidFill>
                  <a:schemeClr val="tx1"/>
                </a:solidFill>
                <a:latin typeface="Garamond" pitchFamily="18" charset="0"/>
              </a:rPr>
              <a:t>letters  G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9939844" y="23808449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ξ</a:t>
            </a:r>
            <a:endParaRPr lang="en-US" sz="2300" baseline="30000" dirty="0">
              <a:solidFill>
                <a:schemeClr val="tx1"/>
              </a:solidFill>
              <a:latin typeface="Garamond" pitchFamily="18" charset="0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19939844" y="23370704"/>
            <a:ext cx="1163782" cy="31128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1" tIns="36750" rIns="73501" bIns="36750" rtlCol="0" anchor="ctr"/>
          <a:lstStyle/>
          <a:p>
            <a:pPr algn="ctr"/>
            <a:r>
              <a:rPr lang="el-GR" sz="2300" dirty="0">
                <a:solidFill>
                  <a:schemeClr val="tx1"/>
                </a:solidFill>
                <a:latin typeface="Garamond" pitchFamily="18" charset="0"/>
              </a:rPr>
              <a:t>ξ</a:t>
            </a:r>
            <a:endParaRPr lang="en-US" sz="2300" baseline="30000" dirty="0">
              <a:solidFill>
                <a:schemeClr val="tx1"/>
              </a:solidFill>
              <a:latin typeface="Garamond" pitchFamily="18" charset="0"/>
            </a:endParaRPr>
          </a:p>
        </p:txBody>
      </p:sp>
      <p:cxnSp>
        <p:nvCxnSpPr>
          <p:cNvPr id="233" name="Shape 232"/>
          <p:cNvCxnSpPr>
            <a:stCxn id="204" idx="4"/>
            <a:endCxn id="230" idx="1"/>
          </p:cNvCxnSpPr>
          <p:nvPr/>
        </p:nvCxnSpPr>
        <p:spPr>
          <a:xfrm rot="16200000" flipH="1">
            <a:off x="16195893" y="21992104"/>
            <a:ext cx="2895057" cy="108133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22111856" y="25502066"/>
            <a:ext cx="8728363" cy="3644434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In summary, we have the </a:t>
            </a:r>
            <a:r>
              <a:rPr lang="en-US" sz="2900" dirty="0" smtClean="0">
                <a:solidFill>
                  <a:srgbClr val="0062AC"/>
                </a:solidFill>
                <a:latin typeface="Garamond" pitchFamily="18" charset="0"/>
              </a:rPr>
              <a:t>unknown</a:t>
            </a:r>
            <a:r>
              <a:rPr lang="en-US" sz="2900" dirty="0" smtClean="0">
                <a:latin typeface="Garamond" pitchFamily="18" charset="0"/>
              </a:rPr>
              <a:t> (donor pair at some location), the </a:t>
            </a:r>
            <a:r>
              <a:rPr lang="en-US" sz="2900" dirty="0" smtClean="0">
                <a:solidFill>
                  <a:srgbClr val="0062AC"/>
                </a:solidFill>
                <a:latin typeface="Garamond" pitchFamily="18" charset="0"/>
              </a:rPr>
              <a:t>emissions</a:t>
            </a:r>
            <a:r>
              <a:rPr lang="en-US" sz="2900" dirty="0" smtClean="0">
                <a:latin typeface="Garamond" pitchFamily="18" charset="0"/>
              </a:rPr>
              <a:t> (the read colors or letters), and the dependency on the </a:t>
            </a:r>
            <a:r>
              <a:rPr lang="en-US" sz="2900" dirty="0" smtClean="0">
                <a:solidFill>
                  <a:srgbClr val="0062AC"/>
                </a:solidFill>
                <a:latin typeface="Garamond" pitchFamily="18" charset="0"/>
              </a:rPr>
              <a:t>previous state </a:t>
            </a:r>
            <a:r>
              <a:rPr lang="en-US" sz="2900" dirty="0" smtClean="0">
                <a:latin typeface="Garamond" pitchFamily="18" charset="0"/>
              </a:rPr>
              <a:t>(transitions). We run the Forward-Backward algorithm and get a probability distribution over the possible states. </a:t>
            </a:r>
          </a:p>
          <a:p>
            <a:r>
              <a:rPr lang="en-US" sz="2900" dirty="0" smtClean="0">
                <a:latin typeface="Garamond" pitchFamily="18" charset="0"/>
              </a:rPr>
              <a:t>In the example to the left, we would call the nucleotide at this position T and compare to the reference to determine if it is a SNP.</a:t>
            </a:r>
            <a:endParaRPr lang="en-US" sz="2900" dirty="0">
              <a:latin typeface="Garamond" pitchFamily="18" charset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22111856" y="22649894"/>
            <a:ext cx="8728363" cy="2305606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>
                <a:latin typeface="Garamond" pitchFamily="18" charset="0"/>
              </a:rPr>
              <a:t>On the left, we see the possible emissions of a state like AA, and the probability that such a state would be emitted. For example, the AA state is very likely to emit the color  0 or letter A, and would only output anything else due to errors. </a:t>
            </a:r>
            <a:endParaRPr lang="en-US" sz="2900" dirty="0">
              <a:latin typeface="Garamond" pitchFamily="18" charset="0"/>
            </a:endParaRPr>
          </a:p>
        </p:txBody>
      </p:sp>
      <p:sp>
        <p:nvSpPr>
          <p:cNvPr id="273" name="Flowchart: Connector 272"/>
          <p:cNvSpPr/>
          <p:nvPr/>
        </p:nvSpPr>
        <p:spPr>
          <a:xfrm>
            <a:off x="16583893" y="2569318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4" name="Flowchart: Connector 273"/>
          <p:cNvSpPr/>
          <p:nvPr/>
        </p:nvSpPr>
        <p:spPr>
          <a:xfrm>
            <a:off x="18615207" y="2569318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CA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5" name="Flowchart: Connector 274"/>
          <p:cNvSpPr/>
          <p:nvPr/>
        </p:nvSpPr>
        <p:spPr>
          <a:xfrm>
            <a:off x="17978764" y="2569318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6" name="Flowchart: Connector 275"/>
          <p:cNvSpPr/>
          <p:nvPr/>
        </p:nvSpPr>
        <p:spPr>
          <a:xfrm>
            <a:off x="21270084" y="2569318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17274888" y="25717502"/>
            <a:ext cx="581891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..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0" name="Flowchart: Connector 279"/>
          <p:cNvSpPr/>
          <p:nvPr/>
        </p:nvSpPr>
        <p:spPr>
          <a:xfrm>
            <a:off x="19815357" y="2569318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US" sz="32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83" name="Straight Connector 282"/>
          <p:cNvCxnSpPr/>
          <p:nvPr/>
        </p:nvCxnSpPr>
        <p:spPr>
          <a:xfrm rot="10800000">
            <a:off x="16583892" y="26617309"/>
            <a:ext cx="5237018" cy="1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Rectangle 283"/>
          <p:cNvSpPr/>
          <p:nvPr/>
        </p:nvSpPr>
        <p:spPr>
          <a:xfrm rot="5400000">
            <a:off x="21503059" y="26520563"/>
            <a:ext cx="155643" cy="3491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sp>
        <p:nvSpPr>
          <p:cNvPr id="285" name="Rectangle 284"/>
          <p:cNvSpPr/>
          <p:nvPr/>
        </p:nvSpPr>
        <p:spPr>
          <a:xfrm rot="5400000">
            <a:off x="19135202" y="27415508"/>
            <a:ext cx="1945532" cy="3491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sp>
        <p:nvSpPr>
          <p:cNvPr id="286" name="Rectangle 285"/>
          <p:cNvSpPr/>
          <p:nvPr/>
        </p:nvSpPr>
        <p:spPr>
          <a:xfrm rot="5400000">
            <a:off x="18870181" y="26462197"/>
            <a:ext cx="38910" cy="3491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sp>
        <p:nvSpPr>
          <p:cNvPr id="287" name="Rectangle 286"/>
          <p:cNvSpPr/>
          <p:nvPr/>
        </p:nvSpPr>
        <p:spPr>
          <a:xfrm rot="5400000">
            <a:off x="18257134" y="26475167"/>
            <a:ext cx="64851" cy="3491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sp>
        <p:nvSpPr>
          <p:cNvPr id="289" name="Rectangle 288"/>
          <p:cNvSpPr/>
          <p:nvPr/>
        </p:nvSpPr>
        <p:spPr>
          <a:xfrm rot="5400000">
            <a:off x="16755741" y="26540018"/>
            <a:ext cx="194553" cy="3491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sp>
        <p:nvSpPr>
          <p:cNvPr id="290" name="Rectangle 289"/>
          <p:cNvSpPr/>
          <p:nvPr/>
        </p:nvSpPr>
        <p:spPr>
          <a:xfrm>
            <a:off x="19202401" y="25717502"/>
            <a:ext cx="581891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..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91" name="Rectangle 290"/>
          <p:cNvSpPr/>
          <p:nvPr/>
        </p:nvSpPr>
        <p:spPr>
          <a:xfrm>
            <a:off x="20566208" y="25717502"/>
            <a:ext cx="581891" cy="492443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..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6292947" y="30007398"/>
            <a:ext cx="12053453" cy="3644434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>
                <a:latin typeface="Garamond" pitchFamily="18" charset="0"/>
              </a:rPr>
              <a:t>Next, we </a:t>
            </a:r>
            <a:r>
              <a:rPr lang="en-US" sz="2900" b="1" dirty="0" smtClean="0">
                <a:latin typeface="Garamond" pitchFamily="18" charset="0"/>
              </a:rPr>
              <a:t>expanded</a:t>
            </a:r>
            <a:r>
              <a:rPr lang="en-US" sz="2900" dirty="0" smtClean="0">
                <a:latin typeface="Garamond" pitchFamily="18" charset="0"/>
              </a:rPr>
              <a:t> </a:t>
            </a:r>
            <a:r>
              <a:rPr lang="en-US" sz="2900" dirty="0" err="1" smtClean="0">
                <a:latin typeface="Garamond" pitchFamily="18" charset="0"/>
              </a:rPr>
              <a:t>VARiD</a:t>
            </a:r>
            <a:r>
              <a:rPr lang="en-US" sz="2900" dirty="0" smtClean="0">
                <a:latin typeface="Garamond" pitchFamily="18" charset="0"/>
              </a:rPr>
              <a:t> to support the following operations: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to call </a:t>
            </a:r>
            <a:r>
              <a:rPr lang="en-US" sz="2900" b="1" dirty="0" smtClean="0">
                <a:solidFill>
                  <a:srgbClr val="0062AC"/>
                </a:solidFill>
                <a:latin typeface="Garamond" pitchFamily="18" charset="0"/>
              </a:rPr>
              <a:t>small </a:t>
            </a:r>
            <a:r>
              <a:rPr lang="en-US" sz="2900" b="1" dirty="0" err="1" smtClean="0">
                <a:solidFill>
                  <a:srgbClr val="0062AC"/>
                </a:solidFill>
                <a:latin typeface="Garamond" pitchFamily="18" charset="0"/>
              </a:rPr>
              <a:t>indels</a:t>
            </a:r>
            <a:r>
              <a:rPr lang="en-US" sz="2900" dirty="0" smtClean="0">
                <a:latin typeface="Garamond" pitchFamily="18" charset="0"/>
              </a:rPr>
              <a:t>, we add states that can include gaps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to call </a:t>
            </a:r>
            <a:r>
              <a:rPr lang="en-US" sz="2900" b="1" dirty="0" smtClean="0">
                <a:solidFill>
                  <a:srgbClr val="0062AC"/>
                </a:solidFill>
                <a:latin typeface="Garamond" pitchFamily="18" charset="0"/>
              </a:rPr>
              <a:t>heterozygous </a:t>
            </a:r>
            <a:r>
              <a:rPr lang="en-US" sz="2900" b="1" dirty="0" err="1" smtClean="0">
                <a:solidFill>
                  <a:srgbClr val="0062AC"/>
                </a:solidFill>
                <a:latin typeface="Garamond" pitchFamily="18" charset="0"/>
              </a:rPr>
              <a:t>SNPs</a:t>
            </a:r>
            <a:r>
              <a:rPr lang="en-US" sz="2900" dirty="0" smtClean="0">
                <a:latin typeface="Garamond" pitchFamily="18" charset="0"/>
              </a:rPr>
              <a:t>, we double the size of a state to include two alleles.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can include a distribution of error rates (and hence quality values)</a:t>
            </a:r>
          </a:p>
          <a:p>
            <a:pPr>
              <a:buFont typeface="Arial" pitchFamily="34" charset="0"/>
              <a:buChar char="•"/>
            </a:pPr>
            <a:r>
              <a:rPr lang="en-US" sz="2900" dirty="0" smtClean="0">
                <a:latin typeface="Garamond" pitchFamily="18" charset="0"/>
              </a:rPr>
              <a:t> we translate through the first color of any color-space read to have </a:t>
            </a:r>
            <a:br>
              <a:rPr lang="en-US" sz="2900" dirty="0" smtClean="0">
                <a:latin typeface="Garamond" pitchFamily="18" charset="0"/>
              </a:rPr>
            </a:br>
            <a:r>
              <a:rPr lang="en-US" sz="2900" dirty="0" smtClean="0">
                <a:latin typeface="Garamond" pitchFamily="18" charset="0"/>
              </a:rPr>
              <a:t>   letter support  in the model</a:t>
            </a:r>
            <a:endParaRPr lang="en-US" sz="2900" dirty="0">
              <a:latin typeface="Garamond" pitchFamily="18" charset="0"/>
            </a:endParaRPr>
          </a:p>
        </p:txBody>
      </p:sp>
      <p:sp>
        <p:nvSpPr>
          <p:cNvPr id="298" name="Flowchart: Connector 297"/>
          <p:cNvSpPr/>
          <p:nvPr/>
        </p:nvSpPr>
        <p:spPr>
          <a:xfrm>
            <a:off x="27930764" y="30184726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A-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99" name="Flowchart: Connector 298"/>
          <p:cNvSpPr/>
          <p:nvPr/>
        </p:nvSpPr>
        <p:spPr>
          <a:xfrm>
            <a:off x="29003626" y="30184726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--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0" name="Flowchart: Connector 299"/>
          <p:cNvSpPr/>
          <p:nvPr/>
        </p:nvSpPr>
        <p:spPr>
          <a:xfrm>
            <a:off x="30089368" y="30177633"/>
            <a:ext cx="694271" cy="692468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-G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1" name="Flowchart: Connector 300"/>
          <p:cNvSpPr/>
          <p:nvPr/>
        </p:nvSpPr>
        <p:spPr>
          <a:xfrm>
            <a:off x="28021685" y="32269081"/>
            <a:ext cx="989215" cy="1384935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u="sng" dirty="0" smtClean="0">
                <a:latin typeface="Courier New" pitchFamily="49" charset="0"/>
                <a:cs typeface="Courier New" pitchFamily="49" charset="0"/>
              </a:rPr>
              <a:t>AG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3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TG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2" name="Flowchart: Connector 301"/>
          <p:cNvSpPr/>
          <p:nvPr/>
        </p:nvSpPr>
        <p:spPr>
          <a:xfrm>
            <a:off x="29458228" y="32244761"/>
            <a:ext cx="989215" cy="1384935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u="sng" dirty="0" smtClean="0">
                <a:latin typeface="Courier New" pitchFamily="49" charset="0"/>
                <a:cs typeface="Courier New" pitchFamily="49" charset="0"/>
              </a:rPr>
              <a:t>T-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3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T-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3" name="Rectangle 302"/>
          <p:cNvSpPr/>
          <p:nvPr/>
        </p:nvSpPr>
        <p:spPr>
          <a:xfrm>
            <a:off x="27639818" y="30007398"/>
            <a:ext cx="3200400" cy="116731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sp>
        <p:nvSpPr>
          <p:cNvPr id="304" name="Rectangle 303"/>
          <p:cNvSpPr/>
          <p:nvPr/>
        </p:nvSpPr>
        <p:spPr>
          <a:xfrm>
            <a:off x="27639818" y="32118300"/>
            <a:ext cx="3200400" cy="171450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 sz="3200" dirty="0"/>
          </a:p>
        </p:txBody>
      </p:sp>
      <p:cxnSp>
        <p:nvCxnSpPr>
          <p:cNvPr id="305" name="Straight Arrow Connector 304"/>
          <p:cNvCxnSpPr>
            <a:stCxn id="303" idx="1"/>
          </p:cNvCxnSpPr>
          <p:nvPr/>
        </p:nvCxnSpPr>
        <p:spPr>
          <a:xfrm rot="10800000" flipV="1">
            <a:off x="24888826" y="30591058"/>
            <a:ext cx="2750993" cy="498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/>
          <p:cNvCxnSpPr>
            <a:stCxn id="304" idx="1"/>
          </p:cNvCxnSpPr>
          <p:nvPr/>
        </p:nvCxnSpPr>
        <p:spPr>
          <a:xfrm rot="10800000">
            <a:off x="26621514" y="31923748"/>
            <a:ext cx="1018305" cy="10518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9" name="Picture 12"/>
          <p:cNvPicPr>
            <a:picLocks noChangeAspect="1" noChangeArrowheads="1"/>
          </p:cNvPicPr>
          <p:nvPr/>
        </p:nvPicPr>
        <p:blipFill>
          <a:blip r:embed="rId4"/>
          <a:srcRect r="52000"/>
          <a:stretch>
            <a:fillRect/>
          </a:stretch>
        </p:blipFill>
        <p:spPr bwMode="auto">
          <a:xfrm>
            <a:off x="12033841" y="14394942"/>
            <a:ext cx="2996609" cy="34930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323" name="TextBox 322"/>
          <p:cNvSpPr txBox="1"/>
          <p:nvPr/>
        </p:nvSpPr>
        <p:spPr>
          <a:xfrm>
            <a:off x="1371600" y="21781853"/>
            <a:ext cx="1433806" cy="474335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2600" dirty="0" smtClean="0">
                <a:latin typeface="Garamond" pitchFamily="18" charset="0"/>
              </a:rPr>
              <a:t>Reference</a:t>
            </a:r>
            <a:endParaRPr lang="en-US" sz="2600" dirty="0">
              <a:latin typeface="Garamond" pitchFamily="18" charset="0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1745674" y="23776021"/>
            <a:ext cx="1108653" cy="874445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2600" dirty="0" smtClean="0">
                <a:latin typeface="Garamond" pitchFamily="18" charset="0"/>
              </a:rPr>
              <a:t>Donor </a:t>
            </a:r>
          </a:p>
          <a:p>
            <a:r>
              <a:rPr lang="en-US" sz="2600" dirty="0" smtClean="0">
                <a:latin typeface="Garamond" pitchFamily="18" charset="0"/>
              </a:rPr>
              <a:t>Reads</a:t>
            </a:r>
            <a:endParaRPr lang="en-US" sz="2600" dirty="0">
              <a:latin typeface="Garamond" pitchFamily="18" charset="0"/>
            </a:endParaRPr>
          </a:p>
        </p:txBody>
      </p:sp>
      <p:cxnSp>
        <p:nvCxnSpPr>
          <p:cNvPr id="325" name="Straight Connector 324"/>
          <p:cNvCxnSpPr/>
          <p:nvPr/>
        </p:nvCxnSpPr>
        <p:spPr>
          <a:xfrm>
            <a:off x="872837" y="29931478"/>
            <a:ext cx="14547273" cy="29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1033299" y="28404766"/>
            <a:ext cx="3504244" cy="1366887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b="1" dirty="0" smtClean="0">
                <a:latin typeface="Garamond" pitchFamily="18" charset="0"/>
              </a:rPr>
              <a:t>Results</a:t>
            </a:r>
            <a:endParaRPr lang="en-US" b="1" dirty="0">
              <a:latin typeface="Garamond" pitchFamily="18" charset="0"/>
            </a:endParaRPr>
          </a:p>
        </p:txBody>
      </p:sp>
      <p:pic>
        <p:nvPicPr>
          <p:cNvPr id="145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36000"/>
          </a:blip>
          <a:srcRect/>
          <a:stretch>
            <a:fillRect/>
          </a:stretch>
        </p:blipFill>
        <p:spPr bwMode="auto">
          <a:xfrm>
            <a:off x="10474036" y="21731967"/>
            <a:ext cx="1163782" cy="5432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5" name="Rectangle 164"/>
          <p:cNvSpPr/>
          <p:nvPr/>
        </p:nvSpPr>
        <p:spPr>
          <a:xfrm>
            <a:off x="19693370" y="25474311"/>
            <a:ext cx="880629" cy="3307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/>
          </a:p>
        </p:txBody>
      </p:sp>
      <p:sp>
        <p:nvSpPr>
          <p:cNvPr id="170" name="TextBox 169"/>
          <p:cNvSpPr txBox="1"/>
          <p:nvPr/>
        </p:nvSpPr>
        <p:spPr>
          <a:xfrm>
            <a:off x="1163783" y="33004125"/>
            <a:ext cx="2909455" cy="520502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900" dirty="0" smtClean="0"/>
              <a:t>Example results</a:t>
            </a:r>
          </a:p>
        </p:txBody>
      </p:sp>
      <p:graphicFrame>
        <p:nvGraphicFramePr>
          <p:cNvPr id="171" name="Table 170"/>
          <p:cNvGraphicFramePr>
            <a:graphicFrameLocks noGrp="1"/>
          </p:cNvGraphicFramePr>
          <p:nvPr/>
        </p:nvGraphicFramePr>
        <p:xfrm>
          <a:off x="4946073" y="33150038"/>
          <a:ext cx="6982690" cy="194769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9626"/>
                <a:gridCol w="1318266"/>
                <a:gridCol w="1318266"/>
                <a:gridCol w="1318266"/>
                <a:gridCol w="1318266"/>
              </a:tblGrid>
              <a:tr h="479463">
                <a:tc>
                  <a:txBody>
                    <a:bodyPr/>
                    <a:lstStyle/>
                    <a:p>
                      <a:pPr algn="ctr" fontAlgn="b"/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NA19137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+mn-lt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NA18504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+mn-lt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3303">
                <a:tc>
                  <a:txBody>
                    <a:bodyPr/>
                    <a:lstStyle/>
                    <a:p>
                      <a:pPr algn="ctr" fontAlgn="b"/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TP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FP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TP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FP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</a:tr>
              <a:tr h="4794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 err="1"/>
                        <a:t>VARiD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+mn-lt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38/44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10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54/65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7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</a:tr>
              <a:tr h="4933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Corona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+mn-lt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/>
                        <a:t>39/44</a:t>
                      </a:r>
                      <a:endParaRPr lang="en-US" sz="3100" b="0" i="0" u="none" strike="noStrike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10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55/65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100" u="none" strike="noStrike" dirty="0"/>
                        <a:t>10</a:t>
                      </a:r>
                      <a:endParaRPr lang="en-US" sz="3100" b="0" i="0" u="none" strike="noStrike" dirty="0">
                        <a:solidFill>
                          <a:srgbClr val="0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062" marR="6062" marT="8106" marB="0" anchor="b"/>
                </a:tc>
              </a:tr>
            </a:tbl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1163782" y="30175200"/>
            <a:ext cx="13965382" cy="2659549"/>
          </a:xfrm>
          <a:prstGeom prst="rect">
            <a:avLst/>
          </a:prstGeom>
          <a:noFill/>
        </p:spPr>
        <p:txBody>
          <a:bodyPr wrap="square" lIns="73509" tIns="36754" rIns="73509" bIns="36754" rtlCol="0">
            <a:spAutoFit/>
          </a:bodyPr>
          <a:lstStyle/>
          <a:p>
            <a:r>
              <a:rPr lang="en-US" sz="2800" dirty="0" smtClean="0">
                <a:latin typeface="Garamond" pitchFamily="18" charset="0"/>
              </a:rPr>
              <a:t>For now, we ran </a:t>
            </a:r>
            <a:r>
              <a:rPr lang="en-US" sz="2800" dirty="0" err="1" smtClean="0">
                <a:latin typeface="Garamond" pitchFamily="18" charset="0"/>
              </a:rPr>
              <a:t>VARiD</a:t>
            </a:r>
            <a:r>
              <a:rPr lang="en-US" sz="2800" dirty="0" smtClean="0">
                <a:latin typeface="Garamond" pitchFamily="18" charset="0"/>
              </a:rPr>
              <a:t> on a color-space datasets from JCVI, with Sanger validation.  All of the datasets resulted in similar performance of  83-87% True Positives (real </a:t>
            </a:r>
            <a:r>
              <a:rPr lang="en-US" sz="2800" dirty="0" err="1" smtClean="0">
                <a:latin typeface="Garamond" pitchFamily="18" charset="0"/>
              </a:rPr>
              <a:t>SNPs</a:t>
            </a:r>
            <a:r>
              <a:rPr lang="en-US" sz="2800" dirty="0" smtClean="0">
                <a:latin typeface="Garamond" pitchFamily="18" charset="0"/>
              </a:rPr>
              <a:t> called) and few False Positives (non-</a:t>
            </a:r>
            <a:r>
              <a:rPr lang="en-US" sz="2800" dirty="0" err="1" smtClean="0">
                <a:latin typeface="Garamond" pitchFamily="18" charset="0"/>
              </a:rPr>
              <a:t>var</a:t>
            </a:r>
            <a:r>
              <a:rPr lang="en-US" sz="2800" dirty="0" smtClean="0">
                <a:latin typeface="Garamond" pitchFamily="18" charset="0"/>
              </a:rPr>
              <a:t> called as SNPS)  i.e. around 10-15% of calls, 0.02% of nucleotides. We note that the results were very similar to running the Corona </a:t>
            </a:r>
            <a:r>
              <a:rPr lang="en-US" sz="2800" dirty="0" err="1" smtClean="0">
                <a:latin typeface="Garamond" pitchFamily="18" charset="0"/>
              </a:rPr>
              <a:t>Lite</a:t>
            </a:r>
            <a:r>
              <a:rPr lang="en-US" sz="2800" dirty="0" smtClean="0">
                <a:latin typeface="Garamond" pitchFamily="18" charset="0"/>
              </a:rPr>
              <a:t> pipeline, a software from AB </a:t>
            </a:r>
            <a:r>
              <a:rPr lang="en-US" sz="2800" dirty="0" err="1" smtClean="0">
                <a:latin typeface="Garamond" pitchFamily="18" charset="0"/>
              </a:rPr>
              <a:t>SOLiD</a:t>
            </a:r>
            <a:r>
              <a:rPr lang="en-US" sz="2800" dirty="0" smtClean="0">
                <a:latin typeface="Garamond" pitchFamily="18" charset="0"/>
              </a:rPr>
              <a:t> specifically for color-space reads. Upon manual inspection, many of the missed calls (by either software)  are under low or inaccurate coverage.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Garamond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9144000" y="21780606"/>
            <a:ext cx="1433806" cy="474335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2600" dirty="0" smtClean="0">
                <a:latin typeface="Garamond" pitchFamily="18" charset="0"/>
              </a:rPr>
              <a:t>Reference</a:t>
            </a:r>
            <a:endParaRPr lang="en-US" sz="2600" dirty="0">
              <a:latin typeface="Garamond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144002" y="22194032"/>
            <a:ext cx="1326661" cy="474335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2600" dirty="0" smtClean="0">
                <a:latin typeface="Garamond" pitchFamily="18" charset="0"/>
              </a:rPr>
              <a:t>Het SNP</a:t>
            </a:r>
            <a:endParaRPr lang="en-US" sz="2600" dirty="0">
              <a:latin typeface="Garamond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9310256" y="24139562"/>
            <a:ext cx="1108653" cy="874445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2600" dirty="0" smtClean="0">
                <a:latin typeface="Garamond" pitchFamily="18" charset="0"/>
              </a:rPr>
              <a:t>Donor </a:t>
            </a:r>
          </a:p>
          <a:p>
            <a:r>
              <a:rPr lang="en-US" sz="2600" dirty="0" smtClean="0">
                <a:latin typeface="Garamond" pitchFamily="18" charset="0"/>
              </a:rPr>
              <a:t>Reads</a:t>
            </a:r>
            <a:endParaRPr lang="en-US" sz="2600" dirty="0">
              <a:latin typeface="Garamond" pitchFamily="18" charset="0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10764983" y="21619725"/>
            <a:ext cx="581891" cy="561772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509" tIns="36754" rIns="73509" bIns="36754" rtlCol="0" anchor="ctr"/>
          <a:lstStyle/>
          <a:p>
            <a:pPr algn="ctr"/>
            <a:endParaRPr lang="en-US">
              <a:latin typeface="Garamond" pitchFamily="18" charset="0"/>
            </a:endParaRPr>
          </a:p>
        </p:txBody>
      </p:sp>
      <p:cxnSp>
        <p:nvCxnSpPr>
          <p:cNvPr id="178" name="Straight Arrow Connector 177"/>
          <p:cNvCxnSpPr>
            <a:endCxn id="175" idx="3"/>
          </p:cNvCxnSpPr>
          <p:nvPr/>
        </p:nvCxnSpPr>
        <p:spPr>
          <a:xfrm rot="10800000" flipV="1">
            <a:off x="10470664" y="22428200"/>
            <a:ext cx="298937" cy="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http://compbio.cs.toronto.edu/cbl/fatlogo.jpg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28756456" y="1666875"/>
            <a:ext cx="2521726" cy="2286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3" name="Picture 5" descr="C:\Documents and Settings\adijr\Desktop\UofT_Crest.bmp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38200" y="1581150"/>
            <a:ext cx="1567235" cy="2402730"/>
          </a:xfrm>
          <a:prstGeom prst="round2DiagRect">
            <a:avLst>
              <a:gd name="adj1" fmla="val 0"/>
              <a:gd name="adj2" fmla="val 5000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5" name="TextBox 184"/>
          <p:cNvSpPr txBox="1"/>
          <p:nvPr/>
        </p:nvSpPr>
        <p:spPr>
          <a:xfrm>
            <a:off x="27876212" y="17145000"/>
            <a:ext cx="2813671" cy="566668"/>
          </a:xfrm>
          <a:prstGeom prst="rect">
            <a:avLst/>
          </a:prstGeom>
          <a:noFill/>
        </p:spPr>
        <p:txBody>
          <a:bodyPr wrap="none" lIns="73509" tIns="36754" rIns="73509" bIns="36754" rtlCol="0">
            <a:spAutoFit/>
          </a:bodyPr>
          <a:lstStyle/>
          <a:p>
            <a:r>
              <a:rPr lang="en-US" sz="3200" dirty="0" smtClean="0">
                <a:latin typeface="Garamond" pitchFamily="18" charset="0"/>
              </a:rPr>
              <a:t>Unknown donor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6295867" y="34977169"/>
            <a:ext cx="9764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 smtClean="0">
                <a:latin typeface="Garamond" pitchFamily="18" charset="0"/>
              </a:rPr>
              <a:t>VARiD</a:t>
            </a:r>
            <a:r>
              <a:rPr lang="en-US" sz="3600" dirty="0" smtClean="0">
                <a:latin typeface="Garamond" pitchFamily="18" charset="0"/>
              </a:rPr>
              <a:t> website: http://compbio.cs.utoronto.ca/varid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435</TotalTime>
  <Words>953</Words>
  <Application>Microsoft Office PowerPoint</Application>
  <PresentationFormat>Custom</PresentationFormat>
  <Paragraphs>133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Flow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adijr</dc:creator>
  <cp:lastModifiedBy>adijr</cp:lastModifiedBy>
  <cp:revision>98</cp:revision>
  <dcterms:created xsi:type="dcterms:W3CDTF">2009-06-25T22:30:02Z</dcterms:created>
  <dcterms:modified xsi:type="dcterms:W3CDTF">2009-06-26T06:07:21Z</dcterms:modified>
</cp:coreProperties>
</file>