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7" r:id="rId2"/>
    <p:sldId id="258" r:id="rId3"/>
    <p:sldId id="281" r:id="rId4"/>
    <p:sldId id="280" r:id="rId5"/>
    <p:sldId id="279" r:id="rId6"/>
    <p:sldId id="261" r:id="rId7"/>
    <p:sldId id="269" r:id="rId8"/>
    <p:sldId id="284" r:id="rId9"/>
    <p:sldId id="265" r:id="rId10"/>
    <p:sldId id="267" r:id="rId11"/>
    <p:sldId id="266" r:id="rId12"/>
    <p:sldId id="285" r:id="rId13"/>
    <p:sldId id="262" r:id="rId14"/>
    <p:sldId id="263" r:id="rId15"/>
    <p:sldId id="264" r:id="rId16"/>
    <p:sldId id="260" r:id="rId17"/>
    <p:sldId id="259" r:id="rId18"/>
    <p:sldId id="283" r:id="rId19"/>
    <p:sldId id="286" r:id="rId20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F808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49" d="100"/>
          <a:sy n="49" d="100"/>
        </p:scale>
        <p:origin x="-55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 smtClean="0">
                <a:latin typeface="+mn-lt"/>
              </a:defRPr>
            </a:lvl1pPr>
          </a:lstStyle>
          <a:p>
            <a:pPr>
              <a:defRPr/>
            </a:pPr>
            <a:fld id="{1EF206AC-D103-40B5-BE20-D3EE9F880510}" type="datetimeFigureOut">
              <a:rPr lang="en-US"/>
              <a:pPr>
                <a:defRPr/>
              </a:pPr>
              <a:t>5/22/2008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 smtClean="0">
                <a:latin typeface="+mn-lt"/>
              </a:defRPr>
            </a:lvl1pPr>
          </a:lstStyle>
          <a:p>
            <a:pPr>
              <a:defRPr/>
            </a:pPr>
            <a:fld id="{CEDB7544-5099-4FE9-8CB6-4292F3BD57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Diagonal Corner Rectangle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/>
          <a:lstStyle>
            <a:lvl1pPr marL="0" algn="r">
              <a:defRPr sz="480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8750"/>
            <a:ext cx="3001963" cy="274638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fld id="{B07F4EE7-E7D4-49FD-925A-0AC8CF5463DF}" type="datetimeFigureOut">
              <a:rPr lang="en-US"/>
              <a:pPr>
                <a:defRPr/>
              </a:pPr>
              <a:t>5/22/2008</a:t>
            </a:fld>
            <a:endParaRPr lang="en-US"/>
          </a:p>
        </p:txBody>
      </p:sp>
      <p:sp>
        <p:nvSpPr>
          <p:cNvPr id="6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9175" y="6508750"/>
            <a:ext cx="463550" cy="274638"/>
          </a:xfrm>
        </p:spPr>
        <p:txBody>
          <a:bodyPr vert="horz" rtlCol="0"/>
          <a:lstStyle>
            <a:lvl1pPr>
              <a:defRPr smtClean="0"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>
              <a:defRPr/>
            </a:pPr>
            <a:fld id="{85B2D072-B75D-4495-83C0-3F5E2DA13F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8750"/>
            <a:ext cx="3906838" cy="274638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588963" y="1423988"/>
            <a:ext cx="8001000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122AC567-76C2-4B1C-AEB2-8EDC74A08C6C}" type="datetimeFigureOut">
              <a:rPr lang="en-US"/>
              <a:pPr>
                <a:defRPr/>
              </a:pPr>
              <a:t>5/22/2008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3D22E46-A82D-43B3-B0E5-8F05F319F3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1000125" y="3267075"/>
            <a:ext cx="7407275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513"/>
            <a:ext cx="3001963" cy="274637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fld id="{1F893F9E-3100-4581-87EF-DEB2EAE9510F}" type="datetimeFigureOut">
              <a:rPr lang="en-US"/>
              <a:pPr>
                <a:defRPr/>
              </a:pPr>
              <a:t>5/22/2008</a:t>
            </a:fld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9175" y="6513513"/>
            <a:ext cx="463550" cy="274637"/>
          </a:xfrm>
        </p:spPr>
        <p:txBody>
          <a:bodyPr vert="horz" rtlCol="0"/>
          <a:lstStyle>
            <a:lvl1pPr>
              <a:defRPr smtClean="0"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>
              <a:defRPr/>
            </a:pPr>
            <a:fld id="{88AEB4E2-FE54-42E0-B49B-FF2FDC744D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513"/>
            <a:ext cx="3906838" cy="274637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/>
          <p:nvPr/>
        </p:nvSpPr>
        <p:spPr>
          <a:xfrm>
            <a:off x="588963" y="1423988"/>
            <a:ext cx="8001000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7DE4EAD8-7235-4892-986F-455F932A0B4E}" type="datetimeFigureOut">
              <a:rPr lang="en-US"/>
              <a:pPr>
                <a:defRPr/>
              </a:pPr>
              <a:t>5/22/2008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0763" y="6515100"/>
            <a:ext cx="465137" cy="273050"/>
          </a:xfrm>
        </p:spPr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737DCAF2-DD34-4D00-9990-CA58C3E458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/>
          <p:nvPr/>
        </p:nvSpPr>
        <p:spPr>
          <a:xfrm>
            <a:off x="617538" y="2165350"/>
            <a:ext cx="3748087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10"/>
          <p:cNvSpPr/>
          <p:nvPr/>
        </p:nvSpPr>
        <p:spPr>
          <a:xfrm>
            <a:off x="4800600" y="2165350"/>
            <a:ext cx="3749675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239FA55-3D2B-4D6D-8224-0F3EE21E02D0}" type="datetimeFigureOut">
              <a:rPr lang="en-US"/>
              <a:pPr>
                <a:defRPr/>
              </a:pPr>
              <a:t>5/22/2008</a:t>
            </a:fld>
            <a:endParaRPr lang="en-US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0763" y="6515100"/>
            <a:ext cx="465137" cy="273050"/>
          </a:xfrm>
        </p:spPr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A413CA6D-27BC-4276-97CE-E1A92BC967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/>
          <p:nvPr/>
        </p:nvSpPr>
        <p:spPr>
          <a:xfrm>
            <a:off x="588963" y="1423988"/>
            <a:ext cx="8001000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04CFB3A-39DE-455E-85CC-FAEB227D4BDF}" type="datetimeFigureOut">
              <a:rPr lang="en-US"/>
              <a:pPr>
                <a:defRPr/>
              </a:pPr>
              <a:t>5/22/2008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07100D89-4826-4067-8FB1-4A06BE9FB4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E5DFE7-83F3-462C-B430-C81D286F2C89}" type="datetimeFigureOut">
              <a:rPr lang="en-US"/>
              <a:pPr>
                <a:defRPr/>
              </a:pPr>
              <a:t>5/22/2008</a:t>
            </a:fld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BABABE-2D07-43E7-8994-FFA9FAB816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5057775" y="1057275"/>
            <a:ext cx="3748088" cy="9525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/>
          <a:lstStyle>
            <a:lvl1pPr marL="0" algn="r">
              <a:buNone/>
              <a:defRPr sz="2000" b="1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513"/>
            <a:ext cx="3001963" cy="274637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fld id="{22656D96-EB57-4555-BC89-981AD64C47F2}" type="datetimeFigureOut">
              <a:rPr lang="en-US"/>
              <a:pPr>
                <a:defRPr/>
              </a:pPr>
              <a:t>5/22/2008</a:t>
            </a:fld>
            <a:endParaRPr lang="en-US"/>
          </a:p>
        </p:txBody>
      </p:sp>
      <p:sp>
        <p:nvSpPr>
          <p:cNvPr id="7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9175" y="6513513"/>
            <a:ext cx="463550" cy="274637"/>
          </a:xfrm>
        </p:spPr>
        <p:txBody>
          <a:bodyPr vert="horz" rtlCol="0"/>
          <a:lstStyle>
            <a:lvl1pPr>
              <a:defRPr smtClean="0"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>
              <a:defRPr/>
            </a:pPr>
            <a:fld id="{02ABFF46-B27B-444C-A87D-EFCE61BF5D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513"/>
            <a:ext cx="3906838" cy="274637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/>
          <a:lstStyle>
            <a:lvl1pPr marL="0" algn="r">
              <a:buNone/>
              <a:defRPr sz="2000" b="1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indent="0">
              <a:buNone/>
              <a:defRPr sz="3200"/>
            </a:lvl1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8750"/>
            <a:ext cx="3001963" cy="274638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fld id="{666B5F5F-3CA2-4C2A-9133-CD22F3BDFC99}" type="datetimeFigureOut">
              <a:rPr lang="en-US"/>
              <a:pPr>
                <a:defRPr/>
              </a:pPr>
              <a:t>5/22/2008</a:t>
            </a:fld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9175" y="6508750"/>
            <a:ext cx="463550" cy="274638"/>
          </a:xfrm>
        </p:spPr>
        <p:txBody>
          <a:bodyPr vert="horz" rtlCol="0"/>
          <a:lstStyle>
            <a:lvl1pPr>
              <a:defRPr smtClean="0"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>
              <a:defRPr/>
            </a:pPr>
            <a:fld id="{B80326AD-DD41-4FBA-9F93-21C4AD5079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8750"/>
            <a:ext cx="3906838" cy="274638"/>
          </a:xfrm>
        </p:spPr>
        <p:txBody>
          <a:bodyPr vert="horz" rtlCol="0"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26B974-6E7F-4F79-A592-BBC3D4CA3D3D}" type="datetimeFigureOut">
              <a:rPr lang="en-US"/>
              <a:pPr>
                <a:defRPr/>
              </a:pPr>
              <a:t>5/22/2008</a:t>
            </a:fld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25B821-FCDE-4E47-B0C3-806E5F90C6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AE90E9-28DF-4EF4-915A-A592A0E67C18}" type="datetimeFigureOut">
              <a:rPr lang="en-US"/>
              <a:pPr>
                <a:defRPr/>
              </a:pPr>
              <a:t>5/22/2008</a:t>
            </a:fld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6B87E7-C844-443E-8C7B-1C173D9DAF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1638" cy="274638"/>
          </a:xfrm>
          <a:prstGeom prst="rect">
            <a:avLst/>
          </a:prstGeom>
        </p:spPr>
        <p:txBody>
          <a:bodyPr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  <a:latin typeface="+mn-lt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1963" cy="274638"/>
          </a:xfrm>
          <a:prstGeom prst="rect">
            <a:avLst/>
          </a:prstGeom>
        </p:spPr>
        <p:txBody>
          <a:bodyPr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300" smtClean="0">
                <a:solidFill>
                  <a:schemeClr val="bg2">
                    <a:tint val="60000"/>
                    <a:satMod val="155000"/>
                  </a:schemeClr>
                </a:solidFill>
                <a:latin typeface="+mn-lt"/>
              </a:defRPr>
            </a:lvl1pPr>
            <a:extLst/>
          </a:lstStyle>
          <a:p>
            <a:pPr>
              <a:defRPr/>
            </a:pPr>
            <a:fld id="{4FA3C85C-F5A8-4E0C-9942-42B2A0D83EDD}" type="datetimeFigureOut">
              <a:rPr lang="en-US"/>
              <a:pPr>
                <a:defRPr/>
              </a:pPr>
              <a:t>5/22/2008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9175" y="6515100"/>
            <a:ext cx="463550" cy="273050"/>
          </a:xfrm>
          <a:prstGeom prst="rect">
            <a:avLst/>
          </a:prstGeom>
        </p:spPr>
        <p:txBody>
          <a:bodyPr anchor="ctr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600" smtClean="0">
                <a:solidFill>
                  <a:schemeClr val="tx2">
                    <a:shade val="90000"/>
                  </a:schemeClr>
                </a:solidFill>
                <a:effectLst/>
                <a:latin typeface="+mn-lt"/>
              </a:defRPr>
            </a:lvl1pPr>
            <a:extLst/>
          </a:lstStyle>
          <a:p>
            <a:pPr>
              <a:defRPr/>
            </a:pPr>
            <a:fld id="{B9C5AD6B-5D15-446A-B341-C26BA43668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4000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9465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46238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1" r:id="rId7"/>
    <p:sldLayoutId id="2147483678" r:id="rId8"/>
    <p:sldLayoutId id="2147483679" r:id="rId9"/>
    <p:sldLayoutId id="2147483670" r:id="rId10"/>
    <p:sldLayoutId id="2147483669" r:id="rId11"/>
  </p:sldLayoutIdLst>
  <p:txStyles>
    <p:titleStyle>
      <a:lvl1pPr marL="53975" indent="-53975" algn="r" rtl="0" fontAlgn="base">
        <a:spcBef>
          <a:spcPct val="0"/>
        </a:spcBef>
        <a:spcAft>
          <a:spcPct val="0"/>
        </a:spcAft>
        <a:defRPr sz="4600" kern="1200">
          <a:solidFill>
            <a:srgbClr val="E7EACB"/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lvl2pPr marL="53975" indent="-53975" algn="r" rtl="0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/>
        </a:defRPr>
      </a:lvl2pPr>
      <a:lvl3pPr marL="53975" indent="-53975" algn="r" rtl="0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/>
        </a:defRPr>
      </a:lvl3pPr>
      <a:lvl4pPr marL="53975" indent="-53975" algn="r" rtl="0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/>
        </a:defRPr>
      </a:lvl4pPr>
      <a:lvl5pPr marL="53975" indent="-53975" algn="r" rtl="0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/>
        </a:defRPr>
      </a:lvl5pPr>
      <a:lvl6pPr marL="511175" indent="-53975" algn="r" rtl="0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/>
        </a:defRPr>
      </a:lvl6pPr>
      <a:lvl7pPr marL="968375" indent="-53975" algn="r" rtl="0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/>
        </a:defRPr>
      </a:lvl7pPr>
      <a:lvl8pPr marL="1425575" indent="-53975" algn="r" rtl="0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/>
        </a:defRPr>
      </a:lvl8pPr>
      <a:lvl9pPr marL="1882775" indent="-53975" algn="r" rtl="0" fontAlgn="base">
        <a:spcBef>
          <a:spcPct val="0"/>
        </a:spcBef>
        <a:spcAft>
          <a:spcPct val="0"/>
        </a:spcAft>
        <a:defRPr sz="4600">
          <a:solidFill>
            <a:srgbClr val="E7EACB"/>
          </a:solidFill>
          <a:latin typeface="Rockwell"/>
        </a:defRPr>
      </a:lvl9pPr>
      <a:extLst/>
    </p:titleStyle>
    <p:bodyStyle>
      <a:lvl1pPr marL="292100" indent="-292100" algn="l" rtl="0" fontAlgn="base">
        <a:spcBef>
          <a:spcPct val="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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28600" algn="l" rtl="0" fontAlgn="base">
        <a:spcBef>
          <a:spcPts val="400"/>
        </a:spcBef>
        <a:spcAft>
          <a:spcPct val="0"/>
        </a:spcAft>
        <a:buClr>
          <a:schemeClr val="accent2"/>
        </a:buClr>
        <a:buSzPct val="9000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190500" algn="l" rtl="0" fontAlgn="base">
        <a:spcBef>
          <a:spcPts val="400"/>
        </a:spcBef>
        <a:spcAft>
          <a:spcPct val="0"/>
        </a:spcAft>
        <a:buClr>
          <a:srgbClr val="A8CDD7"/>
        </a:buClr>
        <a:buSzPct val="100000"/>
        <a:buFont typeface="Wingdings 2" pitchFamily="18" charset="2"/>
        <a:buChar char="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4888" indent="-182563" algn="l" rtl="0" fontAlgn="base">
        <a:spcBef>
          <a:spcPts val="400"/>
        </a:spcBef>
        <a:spcAft>
          <a:spcPct val="0"/>
        </a:spcAft>
        <a:buClr>
          <a:srgbClr val="A8CDD7"/>
        </a:buClr>
        <a:buSzPct val="100000"/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7450" indent="-182563" algn="l" rtl="0" fontAlgn="base">
        <a:spcBef>
          <a:spcPts val="400"/>
        </a:spcBef>
        <a:spcAft>
          <a:spcPct val="0"/>
        </a:spcAft>
        <a:buClr>
          <a:srgbClr val="A8CDD7"/>
        </a:buClr>
        <a:buSzPct val="100000"/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http://vpur.ndsu.edu/uploads/RTEmagicC_NDSU-logo.342_01.jpg.jpg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jpeg"/><Relationship Id="rId11" Type="http://schemas.openxmlformats.org/officeDocument/2006/relationships/image" Target="../media/image3.png"/><Relationship Id="rId5" Type="http://schemas.openxmlformats.org/officeDocument/2006/relationships/image" Target="../media/image8.jpeg"/><Relationship Id="rId10" Type="http://schemas.openxmlformats.org/officeDocument/2006/relationships/oleObject" Target="../embeddings/oleObject1.bin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sce.org/reportcard/2005/index.cfm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www.asce.org/reportcard/2005/index.cfm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sce.org/reportcard/2005/index.cfm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gi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http://vpur.ndsu.edu/uploads/RTEmagicC_NDSU-logo.342_01.jpg.jpg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381001"/>
            <a:ext cx="8610600" cy="1828799"/>
          </a:xfrm>
        </p:spPr>
        <p:txBody>
          <a:bodyPr/>
          <a:lstStyle/>
          <a:p>
            <a:pPr marL="0" lvl="1" indent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Bridging Emergency Management</a:t>
            </a:r>
            <a:r>
              <a:rPr lang="en-US" sz="3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r>
              <a:rPr lang="en-US" sz="3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</a:t>
            </a: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/>
            </a:r>
            <a:b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3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2743200"/>
            <a:ext cx="8312150" cy="1752600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en-US" b="1" i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Incorporating the Engineering Discipline with Emergency Management</a:t>
            </a:r>
            <a:endParaRPr lang="en-US" i="1" dirty="0" smtClean="0"/>
          </a:p>
          <a:p>
            <a:pPr fontAlgn="auto">
              <a:spcAft>
                <a:spcPts val="0"/>
              </a:spcAft>
              <a:buFont typeface="Wingdings 2"/>
              <a:buNone/>
              <a:defRPr/>
            </a:pPr>
            <a:endParaRPr lang="en-US" i="1" dirty="0"/>
          </a:p>
        </p:txBody>
      </p:sp>
      <p:pic>
        <p:nvPicPr>
          <p:cNvPr id="14339" name="Picture 2" descr="http://vpur.ndsu.edu/uploads/RTEmagicC_NDSU-logo.342_01.jpg.jpg"/>
          <p:cNvPicPr>
            <a:picLocks noChangeAspect="1" noChangeArrowheads="1"/>
          </p:cNvPicPr>
          <p:nvPr/>
        </p:nvPicPr>
        <p:blipFill>
          <a:blip r:embed="rId2" r:link="rId3"/>
          <a:srcRect/>
          <a:stretch>
            <a:fillRect/>
          </a:stretch>
        </p:blipFill>
        <p:spPr bwMode="auto">
          <a:xfrm>
            <a:off x="7275513" y="6019800"/>
            <a:ext cx="1868487" cy="59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85800" y="4419600"/>
            <a:ext cx="7924800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i="1" dirty="0">
                <a:solidFill>
                  <a:schemeClr val="bg1">
                    <a:lumMod val="95000"/>
                    <a:lumOff val="5000"/>
                  </a:schemeClr>
                </a:solidFill>
                <a:latin typeface="+mn-lt"/>
              </a:rPr>
              <a:t>Daniel Martin, MA, CEM, CFM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North Dakota State University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Department of Anthropology, Sociology, &amp; Emergency Management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1" i="1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</p:spPr>
        <p:txBody>
          <a:bodyPr/>
          <a:lstStyle/>
          <a:p>
            <a:pPr marL="54864" indent="0"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Objectives</a:t>
            </a:r>
            <a:endParaRPr lang="en-US" dirty="0">
              <a:solidFill>
                <a:schemeClr val="tx2">
                  <a:tint val="100000"/>
                  <a:shade val="90000"/>
                  <a:satMod val="250000"/>
                  <a:alpha val="100000"/>
                </a:schemeClr>
              </a:solidFill>
            </a:endParaRPr>
          </a:p>
        </p:txBody>
      </p:sp>
      <p:sp>
        <p:nvSpPr>
          <p:cNvPr id="15362" name="Content Placeholder 2"/>
          <p:cNvSpPr>
            <a:spLocks noGrp="1"/>
          </p:cNvSpPr>
          <p:nvPr>
            <p:ph idx="1"/>
          </p:nvPr>
        </p:nvSpPr>
        <p:spPr>
          <a:xfrm>
            <a:off x="457200" y="1646238"/>
            <a:ext cx="6019800" cy="4525962"/>
          </a:xfrm>
        </p:spPr>
        <p:txBody>
          <a:bodyPr/>
          <a:lstStyle/>
          <a:p>
            <a:r>
              <a:rPr lang="en-US" smtClean="0"/>
              <a:t>Engineer’s Role in EM</a:t>
            </a:r>
          </a:p>
          <a:p>
            <a:r>
              <a:rPr lang="en-US" smtClean="0"/>
              <a:t>Situational Awareness</a:t>
            </a:r>
          </a:p>
          <a:p>
            <a:pPr lvl="1"/>
            <a:r>
              <a:rPr lang="en-US" smtClean="0"/>
              <a:t>State of our Infrastructure</a:t>
            </a:r>
          </a:p>
          <a:p>
            <a:r>
              <a:rPr lang="en-US" smtClean="0"/>
              <a:t>Engineering – EM Link</a:t>
            </a:r>
          </a:p>
          <a:p>
            <a:endParaRPr lang="en-US" smtClean="0"/>
          </a:p>
        </p:txBody>
      </p:sp>
      <p:pic>
        <p:nvPicPr>
          <p:cNvPr id="15363" name="Picture 4" descr="000361"/>
          <p:cNvPicPr>
            <a:picLocks noChangeAspect="1" noChangeArrowheads="1"/>
          </p:cNvPicPr>
          <p:nvPr/>
        </p:nvPicPr>
        <p:blipFill>
          <a:blip r:embed="rId2"/>
          <a:srcRect l="30444"/>
          <a:stretch>
            <a:fillRect/>
          </a:stretch>
        </p:blipFill>
        <p:spPr bwMode="auto">
          <a:xfrm>
            <a:off x="5638800" y="2590800"/>
            <a:ext cx="2703513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6858000" y="4953000"/>
            <a:ext cx="143827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100">
                <a:latin typeface="Rockwell"/>
              </a:rPr>
              <a:t>Photo by: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</p:spPr>
        <p:txBody>
          <a:bodyPr>
            <a:noAutofit/>
          </a:bodyPr>
          <a:lstStyle/>
          <a:p>
            <a:pPr marL="54864" indent="0" fontAlgn="auto">
              <a:spcAft>
                <a:spcPts val="0"/>
              </a:spcAft>
              <a:defRPr/>
            </a:pPr>
            <a:r>
              <a:rPr lang="en-US" sz="3800" dirty="0" smtClean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Tools of the Engineering Profession </a:t>
            </a:r>
            <a:endParaRPr lang="en-US" sz="3800" dirty="0">
              <a:solidFill>
                <a:schemeClr val="tx2">
                  <a:tint val="100000"/>
                  <a:shade val="90000"/>
                  <a:satMod val="250000"/>
                  <a:alpha val="10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6238"/>
            <a:ext cx="8229600" cy="4906962"/>
          </a:xfrm>
        </p:spPr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Critical and analytical focus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endParaRPr lang="en-US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Technical subject matters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dirty="0" smtClean="0"/>
              <a:t>Construction/Public Works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dirty="0" smtClean="0"/>
              <a:t>Civil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dirty="0" smtClean="0"/>
              <a:t>Structural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dirty="0" smtClean="0"/>
              <a:t>Environmental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endParaRPr lang="en-US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Other knowledge &amp; experience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dirty="0" smtClean="0"/>
              <a:t>Modeling &amp; Analysis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dirty="0" smtClean="0"/>
              <a:t>Heavy equipment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dirty="0" smtClean="0"/>
              <a:t>Contracting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dirty="0" smtClean="0"/>
              <a:t>Procurement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dirty="0" smtClean="0"/>
              <a:t>Permitting, Rules, &amp; Regulations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dirty="0" smtClean="0"/>
              <a:t>Political advocate</a:t>
            </a:r>
          </a:p>
          <a:p>
            <a:pPr marL="640080" lvl="1" fontAlgn="auto"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1638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24600" y="2286000"/>
            <a:ext cx="1809750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</p:spPr>
        <p:txBody>
          <a:bodyPr>
            <a:normAutofit fontScale="90000"/>
          </a:bodyPr>
          <a:lstStyle/>
          <a:p>
            <a:pPr marL="54864" indent="0"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Engineering in Emergency Ops</a:t>
            </a:r>
            <a:endParaRPr lang="en-US" dirty="0">
              <a:solidFill>
                <a:schemeClr val="tx2">
                  <a:tint val="100000"/>
                  <a:shade val="90000"/>
                  <a:satMod val="250000"/>
                  <a:alpha val="10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6238"/>
            <a:ext cx="8229600" cy="4830762"/>
          </a:xfrm>
        </p:spPr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Just a few to consider….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None/>
              <a:defRPr/>
            </a:pPr>
            <a:endParaRPr lang="en-US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Response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dirty="0" smtClean="0"/>
              <a:t>Emergency Debris Removal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dirty="0" smtClean="0"/>
              <a:t>Utilities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dirty="0" smtClean="0"/>
              <a:t>Secure critical systems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dirty="0" smtClean="0"/>
              <a:t>Damage Assessment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dirty="0" smtClean="0"/>
              <a:t>US&amp;R – Structural integrity evaluations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Recovery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dirty="0" smtClean="0"/>
              <a:t>Reconstruction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dirty="0" smtClean="0"/>
              <a:t>Debris Management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dirty="0" smtClean="0"/>
              <a:t>Environmental Considerations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Mitigation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dirty="0" smtClean="0"/>
              <a:t>Resiliency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dirty="0" smtClean="0"/>
              <a:t>Redundancies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dirty="0" smtClean="0"/>
              <a:t>Structural improvements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dirty="0" smtClean="0"/>
              <a:t>Development Trends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7" descr="Reisterstown, MD, June 29, 2006 -- A member of a Preliminary Damage Assessment Team (PDA) evaluates a roadway that was damaged by flood waters. Th...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2590800"/>
            <a:ext cx="2438400" cy="162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9" descr="Pacific, MO, April 3, 2008 -- The road crossing the Meramac River south of the Bend Road bridge lies submerged under the flooded river. Franklin C...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" y="1143000"/>
            <a:ext cx="2863850" cy="1897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15" descr="Northridge Earthquake, CA, January 17, 1994 -- Buildings, cars and personal property were all destroyed when the earthquake struck. Approximately ...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971800" y="1295400"/>
            <a:ext cx="2590800" cy="171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11" descr="Dutchtown, MO, March 20, 2008 -- This small rural community was inundated with fast-moving flood waters that flooded homes and submerged the main ...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019800" y="4800600"/>
            <a:ext cx="2462213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5" descr="Springfield, MO, 1-18-07 --- This utility pole leans precariously from the weight of ice-covered wires and broken branches. Felled trees and ice p...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28600" y="4419600"/>
            <a:ext cx="24384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Picture 3" descr="Untitled-2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362200" y="4191000"/>
            <a:ext cx="3621088" cy="2124075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</p:pic>
      <p:pic>
        <p:nvPicPr>
          <p:cNvPr id="1033" name="Picture 4" descr="1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9"/>
          <a:srcRect l="10721" t="3586" r="12051"/>
          <a:stretch>
            <a:fillRect/>
          </a:stretch>
        </p:blipFill>
        <p:spPr>
          <a:xfrm>
            <a:off x="6477000" y="3581400"/>
            <a:ext cx="2176463" cy="12954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</p:spPr>
        <p:txBody>
          <a:bodyPr>
            <a:normAutofit fontScale="90000"/>
          </a:bodyPr>
          <a:lstStyle/>
          <a:p>
            <a:pPr marL="54864" indent="0"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Engineers Involvement in Past Disasters</a:t>
            </a:r>
            <a:endParaRPr lang="en-US" dirty="0">
              <a:solidFill>
                <a:schemeClr val="tx2">
                  <a:tint val="100000"/>
                  <a:shade val="90000"/>
                  <a:satMod val="250000"/>
                  <a:alpha val="100000"/>
                </a:schemeClr>
              </a:solidFill>
            </a:endParaRP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5486400" y="1447800"/>
          <a:ext cx="2895600" cy="2362200"/>
        </p:xfrm>
        <a:graphic>
          <a:graphicData uri="http://schemas.openxmlformats.org/presentationml/2006/ole">
            <p:oleObj spid="_x0000_s1026" name="Photo Editor Photo" r:id="rId10" imgW="6857143" imgH="5144218" progId="">
              <p:embed/>
            </p:oleObj>
          </a:graphicData>
        </a:graphic>
      </p:graphicFrame>
      <p:sp>
        <p:nvSpPr>
          <p:cNvPr id="1035" name="TextBox 4"/>
          <p:cNvSpPr txBox="1">
            <a:spLocks noChangeArrowheads="1"/>
          </p:cNvSpPr>
          <p:nvPr/>
        </p:nvSpPr>
        <p:spPr bwMode="auto">
          <a:xfrm>
            <a:off x="5562600" y="3276600"/>
            <a:ext cx="28956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Rockwell"/>
              </a:rPr>
              <a:t>Building Triage</a:t>
            </a:r>
          </a:p>
          <a:p>
            <a:pPr algn="ctr"/>
            <a:r>
              <a:rPr lang="en-US" sz="1200">
                <a:solidFill>
                  <a:schemeClr val="bg1"/>
                </a:solidFill>
                <a:latin typeface="Rockwell"/>
              </a:rPr>
              <a:t>Photo by: Unknown</a:t>
            </a:r>
          </a:p>
        </p:txBody>
      </p:sp>
      <p:sp>
        <p:nvSpPr>
          <p:cNvPr id="1036" name="TextBox 6"/>
          <p:cNvSpPr txBox="1">
            <a:spLocks noChangeArrowheads="1"/>
          </p:cNvSpPr>
          <p:nvPr/>
        </p:nvSpPr>
        <p:spPr bwMode="auto">
          <a:xfrm>
            <a:off x="381000" y="1295400"/>
            <a:ext cx="2438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>
                <a:latin typeface="Rockwell"/>
              </a:rPr>
              <a:t>Roadway Washouts</a:t>
            </a:r>
          </a:p>
        </p:txBody>
      </p:sp>
      <p:sp>
        <p:nvSpPr>
          <p:cNvPr id="1037" name="TextBox 10"/>
          <p:cNvSpPr txBox="1">
            <a:spLocks noChangeArrowheads="1"/>
          </p:cNvSpPr>
          <p:nvPr/>
        </p:nvSpPr>
        <p:spPr bwMode="auto">
          <a:xfrm>
            <a:off x="304800" y="5715000"/>
            <a:ext cx="22098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Rockwell"/>
              </a:rPr>
              <a:t>Utility Restoration</a:t>
            </a:r>
          </a:p>
          <a:p>
            <a:pPr algn="ctr"/>
            <a:r>
              <a:rPr lang="en-US" sz="1100">
                <a:latin typeface="Rockwell"/>
              </a:rPr>
              <a:t>Photo by: Michael Raphael (FEMA)</a:t>
            </a:r>
            <a:endParaRPr lang="en-US" sz="1100">
              <a:solidFill>
                <a:schemeClr val="bg1"/>
              </a:solidFill>
              <a:latin typeface="Rockwell"/>
            </a:endParaRPr>
          </a:p>
        </p:txBody>
      </p:sp>
      <p:sp>
        <p:nvSpPr>
          <p:cNvPr id="1038" name="TextBox 12"/>
          <p:cNvSpPr txBox="1">
            <a:spLocks noChangeArrowheads="1"/>
          </p:cNvSpPr>
          <p:nvPr/>
        </p:nvSpPr>
        <p:spPr bwMode="auto">
          <a:xfrm>
            <a:off x="2362200" y="5791200"/>
            <a:ext cx="3657600" cy="53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>
                <a:latin typeface="Rockwell"/>
              </a:rPr>
              <a:t>Debris Operations</a:t>
            </a:r>
          </a:p>
          <a:p>
            <a:pPr algn="ctr"/>
            <a:r>
              <a:rPr lang="en-US" sz="1100">
                <a:latin typeface="Rockwell"/>
              </a:rPr>
              <a:t>Photo from: FEMA E201 Debris Operations Course</a:t>
            </a:r>
          </a:p>
        </p:txBody>
      </p:sp>
      <p:sp>
        <p:nvSpPr>
          <p:cNvPr id="1039" name="TextBox 20"/>
          <p:cNvSpPr txBox="1">
            <a:spLocks noChangeArrowheads="1"/>
          </p:cNvSpPr>
          <p:nvPr/>
        </p:nvSpPr>
        <p:spPr bwMode="auto">
          <a:xfrm>
            <a:off x="6477000" y="4495800"/>
            <a:ext cx="22098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Rockwell"/>
              </a:rPr>
              <a:t>Modeling</a:t>
            </a:r>
          </a:p>
        </p:txBody>
      </p:sp>
      <p:pic>
        <p:nvPicPr>
          <p:cNvPr id="1040" name="Picture 5" descr="000361"/>
          <p:cNvPicPr>
            <a:picLocks noChangeAspect="1" noChangeArrowheads="1"/>
          </p:cNvPicPr>
          <p:nvPr/>
        </p:nvPicPr>
        <p:blipFill>
          <a:blip r:embed="rId11"/>
          <a:srcRect l="30444"/>
          <a:stretch>
            <a:fillRect/>
          </a:stretch>
        </p:blipFill>
        <p:spPr bwMode="auto">
          <a:xfrm>
            <a:off x="3200400" y="2895600"/>
            <a:ext cx="1905000" cy="182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1" name="TextBox 8"/>
          <p:cNvSpPr txBox="1">
            <a:spLocks noChangeArrowheads="1"/>
          </p:cNvSpPr>
          <p:nvPr/>
        </p:nvSpPr>
        <p:spPr bwMode="auto">
          <a:xfrm>
            <a:off x="3200400" y="3962400"/>
            <a:ext cx="1905000" cy="769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>
                <a:latin typeface="Rockwell"/>
              </a:rPr>
              <a:t>Damaged Critical</a:t>
            </a:r>
          </a:p>
          <a:p>
            <a:pPr algn="ctr"/>
            <a:r>
              <a:rPr lang="en-US" sz="1600">
                <a:latin typeface="Rockwell"/>
              </a:rPr>
              <a:t>Infrastructure</a:t>
            </a:r>
          </a:p>
          <a:p>
            <a:pPr algn="ctr"/>
            <a:r>
              <a:rPr lang="en-US" sz="1200">
                <a:latin typeface="Rockwell"/>
              </a:rPr>
              <a:t>Photo by: Unknown</a:t>
            </a:r>
          </a:p>
        </p:txBody>
      </p:sp>
      <p:sp>
        <p:nvSpPr>
          <p:cNvPr id="1042" name="TextBox 23"/>
          <p:cNvSpPr txBox="1">
            <a:spLocks noChangeArrowheads="1"/>
          </p:cNvSpPr>
          <p:nvPr/>
        </p:nvSpPr>
        <p:spPr bwMode="auto">
          <a:xfrm>
            <a:off x="6172200" y="5867400"/>
            <a:ext cx="2286000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latin typeface="Rockwell"/>
              </a:rPr>
              <a:t>Flood Control</a:t>
            </a:r>
          </a:p>
          <a:p>
            <a:r>
              <a:rPr lang="en-US" sz="1100">
                <a:latin typeface="Rockwell"/>
              </a:rPr>
              <a:t>Photo by: John Shea (FEMA)</a:t>
            </a:r>
            <a:endParaRPr lang="en-US" sz="1100">
              <a:solidFill>
                <a:schemeClr val="bg1"/>
              </a:solidFill>
              <a:latin typeface="Rockwell"/>
            </a:endParaRPr>
          </a:p>
          <a:p>
            <a:endParaRPr lang="en-US" sz="1400">
              <a:latin typeface="Rockwell"/>
            </a:endParaRPr>
          </a:p>
          <a:p>
            <a:endParaRPr lang="en-US" sz="1400">
              <a:latin typeface="Rockwell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81000" y="3733800"/>
            <a:ext cx="1600200" cy="53022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dirty="0">
                <a:latin typeface="+mn-lt"/>
              </a:rPr>
              <a:t>Photo by: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dirty="0">
                <a:latin typeface="+mn-lt"/>
              </a:rPr>
              <a:t>L. </a:t>
            </a:r>
            <a:r>
              <a:rPr lang="en-US" sz="1050" dirty="0" err="1">
                <a:latin typeface="+mn-lt"/>
              </a:rPr>
              <a:t>Skoogfors</a:t>
            </a:r>
            <a:r>
              <a:rPr lang="en-US" sz="1050" dirty="0">
                <a:latin typeface="+mn-lt"/>
              </a:rPr>
              <a:t> (FEMA</a:t>
            </a:r>
            <a:r>
              <a:rPr lang="en-US" dirty="0">
                <a:latin typeface="+mn-lt"/>
              </a:rPr>
              <a:t>)</a:t>
            </a:r>
            <a:endParaRPr lang="en-US" dirty="0">
              <a:latin typeface="+mn-lt"/>
            </a:endParaRPr>
          </a:p>
        </p:txBody>
      </p:sp>
      <p:sp>
        <p:nvSpPr>
          <p:cNvPr id="1044" name="Rectangle 26"/>
          <p:cNvSpPr>
            <a:spLocks noChangeArrowheads="1"/>
          </p:cNvSpPr>
          <p:nvPr/>
        </p:nvSpPr>
        <p:spPr bwMode="auto">
          <a:xfrm>
            <a:off x="381000" y="2514600"/>
            <a:ext cx="2438400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100">
                <a:latin typeface="Rockwell"/>
              </a:rPr>
              <a:t>Photo by: Michael Raphael (FEMA)</a:t>
            </a:r>
            <a:endParaRPr lang="en-US" sz="1100">
              <a:solidFill>
                <a:schemeClr val="bg1"/>
              </a:solidFill>
              <a:latin typeface="Rockwell"/>
            </a:endParaRPr>
          </a:p>
        </p:txBody>
      </p:sp>
      <p:sp>
        <p:nvSpPr>
          <p:cNvPr id="1045" name="TextBox 18"/>
          <p:cNvSpPr txBox="1">
            <a:spLocks noChangeArrowheads="1"/>
          </p:cNvSpPr>
          <p:nvPr/>
        </p:nvSpPr>
        <p:spPr bwMode="auto">
          <a:xfrm>
            <a:off x="2819400" y="2438400"/>
            <a:ext cx="28956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>
                <a:latin typeface="Rockwell"/>
              </a:rPr>
              <a:t>US&amp;R Building Evaluations</a:t>
            </a:r>
          </a:p>
          <a:p>
            <a:pPr algn="ctr"/>
            <a:r>
              <a:rPr lang="en-US" sz="1100">
                <a:latin typeface="Rockwell"/>
              </a:rPr>
              <a:t>Photo by: Andrea Booher (FEMA)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</p:spPr>
        <p:txBody>
          <a:bodyPr/>
          <a:lstStyle/>
          <a:p>
            <a:pPr marL="54864" indent="0"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Situation</a:t>
            </a:r>
            <a:endParaRPr lang="en-US" dirty="0">
              <a:solidFill>
                <a:schemeClr val="tx2">
                  <a:tint val="100000"/>
                  <a:shade val="90000"/>
                  <a:satMod val="250000"/>
                  <a:alpha val="100000"/>
                </a:schemeClr>
              </a:solidFill>
            </a:endParaRPr>
          </a:p>
        </p:txBody>
      </p:sp>
      <p:sp>
        <p:nvSpPr>
          <p:cNvPr id="20482" name="Content Placeholder 2"/>
          <p:cNvSpPr>
            <a:spLocks noGrp="1"/>
          </p:cNvSpPr>
          <p:nvPr>
            <p:ph idx="1"/>
          </p:nvPr>
        </p:nvSpPr>
        <p:spPr>
          <a:xfrm>
            <a:off x="304800" y="1646238"/>
            <a:ext cx="8610600" cy="4906962"/>
          </a:xfrm>
        </p:spPr>
        <p:txBody>
          <a:bodyPr/>
          <a:lstStyle/>
          <a:p>
            <a:r>
              <a:rPr lang="en-US" smtClean="0"/>
              <a:t>As development expands and technologies advance, infrastructures become: </a:t>
            </a:r>
          </a:p>
          <a:p>
            <a:pPr lvl="1"/>
            <a:r>
              <a:rPr lang="en-US" sz="2800" smtClean="0"/>
              <a:t>Regionally, nationally, and globally </a:t>
            </a:r>
            <a:r>
              <a:rPr lang="en-US" sz="2800" i="1" smtClean="0">
                <a:solidFill>
                  <a:srgbClr val="FFC000"/>
                </a:solidFill>
              </a:rPr>
              <a:t>interconnected</a:t>
            </a:r>
            <a:r>
              <a:rPr lang="en-US" sz="2800" smtClean="0"/>
              <a:t>, </a:t>
            </a:r>
          </a:p>
          <a:p>
            <a:pPr lvl="1"/>
            <a:r>
              <a:rPr lang="en-US" sz="2800" smtClean="0"/>
              <a:t>Increasingly </a:t>
            </a:r>
            <a:r>
              <a:rPr lang="en-US" sz="2800" smtClean="0">
                <a:solidFill>
                  <a:srgbClr val="FFC000"/>
                </a:solidFill>
              </a:rPr>
              <a:t>complex, </a:t>
            </a:r>
            <a:r>
              <a:rPr lang="en-US" sz="2800" smtClean="0"/>
              <a:t>and </a:t>
            </a:r>
          </a:p>
          <a:p>
            <a:pPr lvl="1"/>
            <a:r>
              <a:rPr lang="en-US" sz="2800" smtClean="0">
                <a:solidFill>
                  <a:srgbClr val="FFC000"/>
                </a:solidFill>
              </a:rPr>
              <a:t>Critical</a:t>
            </a:r>
            <a:r>
              <a:rPr lang="en-US" sz="2800" smtClean="0"/>
              <a:t> to our functioning society. </a:t>
            </a: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228600" y="5791200"/>
            <a:ext cx="86106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Rockwell"/>
              <a:buAutoNum type="arabicPeriod"/>
            </a:pPr>
            <a:r>
              <a:rPr lang="en-US" sz="1200" i="1">
                <a:latin typeface="Rockwell"/>
              </a:rPr>
              <a:t>The Infrastructure Security Partnership, “Regional Disaster Resilience: A Guide for Developing an Action Plan”, American Society of Civil Engineers, Reston, VA, 2006.</a:t>
            </a:r>
          </a:p>
          <a:p>
            <a:pPr marL="342900" indent="-342900">
              <a:buFont typeface="Rockwell"/>
              <a:buAutoNum type="arabicPeriod"/>
            </a:pPr>
            <a:r>
              <a:rPr lang="en-US" sz="1200" i="1">
                <a:latin typeface="Rockwell"/>
              </a:rPr>
              <a:t>Martin, D. “Bridging Emergency Management: A Professional Assessment of the Minneapolis Bridge Collapse and Other  Infrastructure Failures”, Journal of Emergency Management, Vol. 5(6), pp 41-43.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</p:spPr>
        <p:txBody>
          <a:bodyPr>
            <a:normAutofit fontScale="90000"/>
          </a:bodyPr>
          <a:lstStyle/>
          <a:p>
            <a:pPr marL="54864" indent="0"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Situation: Increased Vulnerability</a:t>
            </a:r>
            <a:endParaRPr lang="en-US" dirty="0">
              <a:solidFill>
                <a:schemeClr val="tx2">
                  <a:tint val="100000"/>
                  <a:shade val="90000"/>
                  <a:satMod val="250000"/>
                  <a:alpha val="10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6238"/>
            <a:ext cx="8229600" cy="4830762"/>
          </a:xfrm>
        </p:spPr>
        <p:txBody>
          <a:bodyPr>
            <a:normAutofit fontScale="25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r>
              <a:rPr lang="en-US" sz="8600" u="sng" dirty="0" smtClean="0">
                <a:solidFill>
                  <a:srgbClr val="FFFF00"/>
                </a:solidFill>
              </a:rPr>
              <a:t>Increasing likelihood</a:t>
            </a:r>
            <a:r>
              <a:rPr lang="en-US" sz="8600" dirty="0" smtClean="0"/>
              <a:t> of </a:t>
            </a:r>
            <a:r>
              <a:rPr lang="en-US" sz="8600" b="1" dirty="0" smtClean="0">
                <a:solidFill>
                  <a:srgbClr val="FFFF00"/>
                </a:solidFill>
              </a:rPr>
              <a:t>multiple infrastructural breakdowns </a:t>
            </a:r>
            <a:r>
              <a:rPr lang="en-US" sz="8600" dirty="0" smtClean="0"/>
              <a:t>that reach </a:t>
            </a:r>
            <a:r>
              <a:rPr lang="en-US" sz="8600" u="sng" dirty="0" smtClean="0"/>
              <a:t>beyond</a:t>
            </a:r>
            <a:r>
              <a:rPr lang="en-US" sz="8600" dirty="0" smtClean="0">
                <a:solidFill>
                  <a:srgbClr val="FFFF00"/>
                </a:solidFill>
              </a:rPr>
              <a:t> geographical and functional </a:t>
            </a:r>
            <a:r>
              <a:rPr lang="en-US" sz="8600" b="1" u="sng" dirty="0" smtClean="0">
                <a:solidFill>
                  <a:srgbClr val="FFFF00"/>
                </a:solidFill>
              </a:rPr>
              <a:t>borders</a:t>
            </a:r>
            <a:r>
              <a:rPr lang="en-US" sz="8600" dirty="0" smtClean="0">
                <a:solidFill>
                  <a:srgbClr val="FFFF00"/>
                </a:solidFill>
              </a:rPr>
              <a:t>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endParaRPr lang="en-US" sz="8600" dirty="0" smtClean="0">
              <a:solidFill>
                <a:srgbClr val="FFFF00"/>
              </a:solidFill>
            </a:endParaRP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sz="8600" dirty="0" smtClean="0"/>
              <a:t>Multi-hazard vulnerability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sz="8600" dirty="0" smtClean="0"/>
              <a:t>Advancing infrastructure networks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sz="8600" dirty="0" smtClean="0"/>
              <a:t>Lack of adequate maintenance</a:t>
            </a:r>
          </a:p>
          <a:p>
            <a:pPr marL="640080" lvl="1" fontAlgn="auto">
              <a:spcAft>
                <a:spcPts val="0"/>
              </a:spcAft>
              <a:defRPr/>
            </a:pPr>
            <a:endParaRPr lang="en-US" sz="5400" dirty="0" smtClean="0">
              <a:solidFill>
                <a:srgbClr val="FFFF00"/>
              </a:solidFill>
            </a:endParaRPr>
          </a:p>
          <a:p>
            <a:pPr marL="640080" lvl="1" fontAlgn="auto">
              <a:spcAft>
                <a:spcPts val="0"/>
              </a:spcAft>
              <a:defRPr/>
            </a:pPr>
            <a:endParaRPr lang="en-US" sz="5400" dirty="0" smtClean="0">
              <a:solidFill>
                <a:srgbClr val="FFFF00"/>
              </a:solidFill>
            </a:endParaRPr>
          </a:p>
          <a:p>
            <a:pPr marL="640080" lvl="1" fontAlgn="auto">
              <a:spcAft>
                <a:spcPts val="0"/>
              </a:spcAft>
              <a:defRPr/>
            </a:pPr>
            <a:endParaRPr lang="en-US" sz="5400" dirty="0" smtClean="0">
              <a:solidFill>
                <a:srgbClr val="FFFF00"/>
              </a:solidFill>
            </a:endParaRPr>
          </a:p>
          <a:p>
            <a:pPr marL="640080" lvl="1" fontAlgn="auto">
              <a:spcAft>
                <a:spcPts val="0"/>
              </a:spcAft>
              <a:defRPr/>
            </a:pPr>
            <a:endParaRPr lang="en-US" sz="5400" dirty="0" smtClean="0">
              <a:solidFill>
                <a:srgbClr val="FFFF0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endParaRPr lang="en-US" dirty="0" smtClean="0"/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4400" i="1" dirty="0" smtClean="0"/>
              <a:t>Rosenthal, U., </a:t>
            </a:r>
            <a:r>
              <a:rPr lang="en-US" sz="4400" i="1" dirty="0" err="1" smtClean="0"/>
              <a:t>Boin</a:t>
            </a:r>
            <a:r>
              <a:rPr lang="en-US" sz="4400" i="1" dirty="0" smtClean="0"/>
              <a:t>, R.A. and Comfort, L.K, ‘The Changing World of Crisis and Crisis Management’, in Rosenthal, U., Bolin, R.A. and Comfort, L.K. (</a:t>
            </a:r>
            <a:r>
              <a:rPr lang="en-US" sz="4400" i="1" dirty="0" err="1" smtClean="0"/>
              <a:t>Eds</a:t>
            </a:r>
            <a:r>
              <a:rPr lang="en-US" sz="4400" i="1" dirty="0" smtClean="0"/>
              <a:t>) Managing Crisis: Threats, Dilemmas, and Opportunities, Charles C. Thomas, Springfield, 2001; pp. 5-27.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sz="4400" i="1" dirty="0" smtClean="0"/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4400" i="1" dirty="0" err="1" smtClean="0"/>
              <a:t>Quarantelli</a:t>
            </a:r>
            <a:r>
              <a:rPr lang="en-US" sz="4400" i="1" dirty="0" smtClean="0"/>
              <a:t>, E.L., </a:t>
            </a:r>
            <a:r>
              <a:rPr lang="en-US" sz="4400" i="1" dirty="0" err="1" smtClean="0"/>
              <a:t>Lagadec</a:t>
            </a:r>
            <a:r>
              <a:rPr lang="en-US" sz="4400" i="1" dirty="0" smtClean="0"/>
              <a:t>, P. and Bolin, A., ‘ A Heuristic Approach to Future Disasters and Crisis New, Old, and In-Between Types’, in Rodriguez, H., </a:t>
            </a:r>
            <a:r>
              <a:rPr lang="en-US" sz="4400" i="1" dirty="0" err="1" smtClean="0"/>
              <a:t>Quarantelli</a:t>
            </a:r>
            <a:r>
              <a:rPr lang="en-US" sz="4400" i="1" dirty="0" smtClean="0"/>
              <a:t>, E.L. and Dynes, R. (</a:t>
            </a:r>
            <a:r>
              <a:rPr lang="en-US" sz="4400" i="1" dirty="0" err="1" smtClean="0"/>
              <a:t>Eds</a:t>
            </a:r>
            <a:r>
              <a:rPr lang="en-US" sz="4400" i="1" dirty="0" smtClean="0"/>
              <a:t>), Handbook of Disaster Research, Springer, New York, 2006; pp. 16-41.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sz="4400" i="1" dirty="0" smtClean="0"/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4400" dirty="0" smtClean="0"/>
              <a:t>American Society of Civil Engineers, “Report Card for America’s Infrastructure”. Available at </a:t>
            </a:r>
            <a:r>
              <a:rPr lang="en-US" sz="4400" u="sng" dirty="0" smtClean="0">
                <a:solidFill>
                  <a:srgbClr val="0070C0"/>
                </a:solidFill>
                <a:hlinkClick r:id="rId2"/>
              </a:rPr>
              <a:t>http://www.asce.org/reportcard/2005/index.cfm</a:t>
            </a:r>
            <a:r>
              <a:rPr lang="en-US" sz="4400" dirty="0" smtClean="0"/>
              <a:t>. Accessed on August 10, 2007.</a:t>
            </a:r>
            <a:endParaRPr lang="en-US" sz="4400" i="1" dirty="0" smtClean="0"/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sz="4400" i="1" dirty="0" smtClean="0"/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4400" i="1" dirty="0" smtClean="0"/>
              <a:t>Martin, D. </a:t>
            </a:r>
            <a:r>
              <a:rPr lang="en-US" sz="4400" b="1" i="1" dirty="0" smtClean="0"/>
              <a:t>“Bridging Emergency Management: A Professional Assessment of the Minneapolis Bridge Collapse and Other  Infrastructure Failures”, Journal of Emergency Management , Vol. 5(6), pp. 41-43.</a:t>
            </a:r>
            <a:endParaRPr lang="en-US" sz="4400" b="1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53536"/>
            <a:ext cx="8229600" cy="1143000"/>
          </a:xfrm>
        </p:spPr>
        <p:txBody>
          <a:bodyPr/>
          <a:lstStyle/>
          <a:p>
            <a:pPr marL="54864" indent="0" fontAlgn="auto">
              <a:spcAft>
                <a:spcPts val="0"/>
              </a:spcAft>
              <a:defRPr/>
            </a:pPr>
            <a:r>
              <a:rPr lang="en-US" sz="3200" dirty="0" smtClean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American Society of Civil Engineers (ASCE)</a:t>
            </a:r>
            <a:endParaRPr lang="en-US" sz="3200" b="1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Founded in 1852</a:t>
            </a:r>
          </a:p>
          <a:p>
            <a:r>
              <a:rPr lang="en-US" smtClean="0"/>
              <a:t>Oldest national civil engineering organization</a:t>
            </a:r>
          </a:p>
          <a:p>
            <a:r>
              <a:rPr lang="en-US" smtClean="0"/>
              <a:t>Represents 140,000+ civil engineers in private practice, government, industry, and academia</a:t>
            </a:r>
          </a:p>
          <a:p>
            <a:r>
              <a:rPr lang="en-US" smtClean="0"/>
              <a:t>501(c)(3) nonprofit educational and professional society</a:t>
            </a:r>
          </a:p>
        </p:txBody>
      </p:sp>
      <p:pic>
        <p:nvPicPr>
          <p:cNvPr id="22531" name="Picture 2" descr="asce_type_side_s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72200" y="5791200"/>
            <a:ext cx="2514600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</p:spPr>
        <p:txBody>
          <a:bodyPr/>
          <a:lstStyle/>
          <a:p>
            <a:pPr marL="54864" indent="0"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The Status of US Infrastructure</a:t>
            </a:r>
            <a:endParaRPr lang="en-US" dirty="0">
              <a:solidFill>
                <a:schemeClr val="tx2">
                  <a:tint val="100000"/>
                  <a:shade val="90000"/>
                  <a:satMod val="250000"/>
                  <a:alpha val="10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n-US" i="1" dirty="0" smtClean="0"/>
              <a:t>ASCE Infrastructure Report Cards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$1.6 trillion (est.)is needed over a five-year period to improve our nation's infrastructure to an acceptable level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endParaRPr lang="en-US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endParaRPr lang="en-US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None/>
              <a:defRPr/>
            </a:pPr>
            <a:endParaRPr lang="en-US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endParaRPr lang="en-US" dirty="0" smtClean="0"/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1200" i="1" dirty="0" smtClean="0"/>
              <a:t>American Society of Civil Engineers, “Report Card for America’s Infrastructure”. Available at </a:t>
            </a:r>
            <a:r>
              <a:rPr lang="en-US" sz="1200" i="1" u="sng" dirty="0" smtClean="0">
                <a:solidFill>
                  <a:srgbClr val="0070C0"/>
                </a:solidFill>
                <a:hlinkClick r:id="rId2"/>
              </a:rPr>
              <a:t>http://www.asce.org/reportcard/2005/index.cfm</a:t>
            </a:r>
            <a:r>
              <a:rPr lang="en-US" sz="1200" i="1" dirty="0" smtClean="0"/>
              <a:t>. Accessed on August 10, 2007.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US" sz="1200" i="1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endParaRPr lang="en-US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endParaRPr lang="en-US" dirty="0"/>
          </a:p>
        </p:txBody>
      </p:sp>
      <p:pic>
        <p:nvPicPr>
          <p:cNvPr id="23555" name="Picture 2" descr="asce_type_side_s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24600" y="5943600"/>
            <a:ext cx="2514600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</p:spPr>
        <p:txBody>
          <a:bodyPr/>
          <a:lstStyle/>
          <a:p>
            <a:pPr marL="54864" indent="0"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ASCE Research Method</a:t>
            </a:r>
            <a:endParaRPr lang="en-US" dirty="0">
              <a:solidFill>
                <a:schemeClr val="tx2">
                  <a:tint val="100000"/>
                  <a:shade val="90000"/>
                  <a:satMod val="250000"/>
                  <a:alpha val="10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Studied the status of America’s infrastructure.  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dirty="0" smtClean="0"/>
              <a:t>Determine the integrity of infrastructure networks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endParaRPr lang="en-US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Method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dirty="0" smtClean="0"/>
              <a:t>Panel of 24 of the nation's leading civil engineer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dirty="0" smtClean="0"/>
              <a:t>Analyzed hundreds of studies</a:t>
            </a:r>
            <a:br>
              <a:rPr lang="en-US" dirty="0" smtClean="0"/>
            </a:br>
            <a:r>
              <a:rPr lang="en-US" dirty="0" smtClean="0"/>
              <a:t>Surveyed the engineering community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endParaRPr lang="en-US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The results of these studies were ‘Report Cards’. 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dirty="0" smtClean="0"/>
              <a:t>1988, 1998, 2001, 2005, 2009 (</a:t>
            </a:r>
            <a:r>
              <a:rPr lang="en-US" i="1" dirty="0" smtClean="0"/>
              <a:t>In  Development)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endParaRPr lang="en-US" dirty="0"/>
          </a:p>
        </p:txBody>
      </p:sp>
      <p:pic>
        <p:nvPicPr>
          <p:cNvPr id="24579" name="Picture 2" descr="asce_type_side_s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24600" y="5943600"/>
            <a:ext cx="2514600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37064"/>
          </a:xfrm>
        </p:spPr>
        <p:txBody>
          <a:bodyPr>
            <a:normAutofit fontScale="90000"/>
          </a:bodyPr>
          <a:lstStyle/>
          <a:p>
            <a:pPr marL="54864" indent="0"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ASCE Report Card Results</a:t>
            </a:r>
            <a:endParaRPr lang="en-US" dirty="0">
              <a:solidFill>
                <a:schemeClr val="tx2">
                  <a:tint val="100000"/>
                  <a:shade val="90000"/>
                  <a:satMod val="250000"/>
                  <a:alpha val="100000"/>
                </a:schemeClr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905000" y="381000"/>
          <a:ext cx="4343400" cy="5781675"/>
        </p:xfrm>
        <a:graphic>
          <a:graphicData uri="http://schemas.openxmlformats.org/drawingml/2006/table">
            <a:tbl>
              <a:tblPr/>
              <a:tblGrid>
                <a:gridCol w="2129414"/>
                <a:gridCol w="718867"/>
                <a:gridCol w="543681"/>
                <a:gridCol w="543681"/>
                <a:gridCol w="407760"/>
              </a:tblGrid>
              <a:tr h="340696">
                <a:tc gridSpan="5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4069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Category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1988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1998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2001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2005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069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1" dirty="0">
                          <a:solidFill>
                            <a:srgbClr val="FFFF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Aviation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B-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C-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FFFF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D+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069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1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Bridges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C+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C-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069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1" dirty="0">
                          <a:solidFill>
                            <a:srgbClr val="FFFF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Dams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FFFF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069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1" dirty="0">
                          <a:solidFill>
                            <a:srgbClr val="FFFF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Drinking Water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B-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FFFF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D-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069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1" dirty="0">
                          <a:solidFill>
                            <a:srgbClr val="FFFF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Energy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D+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FFFF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069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1" dirty="0">
                          <a:solidFill>
                            <a:srgbClr val="FFFF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Hazardous Waste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D-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D+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FFFF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069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1" dirty="0">
                          <a:solidFill>
                            <a:srgbClr val="FFFF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Navigable Waterways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D+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FFFF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D-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069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1" dirty="0" smtClean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Parks and </a:t>
                      </a:r>
                      <a:r>
                        <a:rPr lang="en-US" sz="1200" b="0" i="1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Recreation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C-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069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1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Rail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C-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11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1" dirty="0">
                          <a:solidFill>
                            <a:srgbClr val="FFFF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Roads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C+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D-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D+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FFFF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069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1" dirty="0">
                          <a:solidFill>
                            <a:srgbClr val="FFFF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Schools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F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D-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FFFF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069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 u="none" dirty="0" smtClean="0">
                          <a:solidFill>
                            <a:srgbClr val="FFC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SECURITY ****</a:t>
                      </a:r>
                      <a:endParaRPr lang="en-US" sz="1600" b="1" i="0" u="none" dirty="0">
                        <a:solidFill>
                          <a:srgbClr val="FFC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1" i="0" u="sng" kern="1200" dirty="0">
                          <a:solidFill>
                            <a:srgbClr val="FFC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069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1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Solid Waste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C-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C-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C+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C+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069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1" dirty="0">
                          <a:solidFill>
                            <a:srgbClr val="FFFF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Transit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C-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C-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FFFF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D+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069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1" dirty="0">
                          <a:solidFill>
                            <a:srgbClr val="FFFF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Wastewater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C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D+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1" dirty="0">
                          <a:solidFill>
                            <a:srgbClr val="FFFF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D-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684" name="TextBox 4"/>
          <p:cNvSpPr txBox="1">
            <a:spLocks noChangeArrowheads="1"/>
          </p:cNvSpPr>
          <p:nvPr/>
        </p:nvSpPr>
        <p:spPr bwMode="auto">
          <a:xfrm>
            <a:off x="6629400" y="4114800"/>
            <a:ext cx="2133600" cy="1169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i="1">
                <a:solidFill>
                  <a:srgbClr val="FFC000"/>
                </a:solidFill>
                <a:latin typeface="Rockwell"/>
              </a:rPr>
              <a:t>*** Security is a new classification for the ASCE report cards.  It will be  implemented in the 2009 report card.</a:t>
            </a:r>
          </a:p>
        </p:txBody>
      </p:sp>
      <p:pic>
        <p:nvPicPr>
          <p:cNvPr id="25685" name="Picture 2" descr="asce_type_side_s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24600" y="5943600"/>
            <a:ext cx="2514600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86" name="Rectangle 6"/>
          <p:cNvSpPr>
            <a:spLocks noChangeArrowheads="1"/>
          </p:cNvSpPr>
          <p:nvPr/>
        </p:nvSpPr>
        <p:spPr bwMode="auto">
          <a:xfrm>
            <a:off x="228600" y="6248400"/>
            <a:ext cx="6172200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Rockwell"/>
              <a:buAutoNum type="arabicPeriod"/>
            </a:pPr>
            <a:r>
              <a:rPr lang="en-US" sz="1100" i="1">
                <a:latin typeface="Rockwell"/>
              </a:rPr>
              <a:t>American Society of Civil Engineers, “Report Card for America’s Infrastructure”. Available at </a:t>
            </a:r>
            <a:r>
              <a:rPr lang="en-US" sz="1100" i="1" u="sng">
                <a:solidFill>
                  <a:srgbClr val="0070C0"/>
                </a:solidFill>
                <a:latin typeface="Rockwell"/>
                <a:hlinkClick r:id="rId3"/>
              </a:rPr>
              <a:t>http://www.asce.org/reportcard/2005/index.cfm</a:t>
            </a:r>
            <a:r>
              <a:rPr lang="en-US" sz="1100" i="1">
                <a:latin typeface="Rockwell"/>
              </a:rPr>
              <a:t>. Accessed on August 10, 2007.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5" name="Picture 7" descr="TD1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2133600"/>
            <a:ext cx="2667000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6" name="Content Placeholder 2"/>
          <p:cNvSpPr txBox="1">
            <a:spLocks/>
          </p:cNvSpPr>
          <p:nvPr/>
        </p:nvSpPr>
        <p:spPr bwMode="auto">
          <a:xfrm>
            <a:off x="381000" y="15240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92100" indent="-292100">
              <a:buClr>
                <a:schemeClr val="accent1"/>
              </a:buClr>
              <a:buSzPct val="70000"/>
              <a:buFont typeface="Wingdings 2" pitchFamily="18" charset="2"/>
              <a:buNone/>
            </a:pPr>
            <a:r>
              <a:rPr lang="en-US" sz="3200" i="1">
                <a:latin typeface="Rockwell"/>
              </a:rPr>
              <a:t>Just to name a few…</a:t>
            </a:r>
            <a:endParaRPr lang="en-US" sz="3200">
              <a:latin typeface="Rockwell"/>
            </a:endParaRPr>
          </a:p>
          <a:p>
            <a:pPr marL="292100" indent="-292100">
              <a:buClr>
                <a:schemeClr val="accent1"/>
              </a:buClr>
              <a:buSzPct val="70000"/>
              <a:buFont typeface="Wingdings 2" pitchFamily="18" charset="2"/>
              <a:buChar char=""/>
            </a:pPr>
            <a:endParaRPr lang="en-US" sz="3200">
              <a:latin typeface="Rockwell"/>
            </a:endParaRPr>
          </a:p>
          <a:p>
            <a:pPr marL="292100" indent="-292100">
              <a:buClr>
                <a:schemeClr val="accent1"/>
              </a:buClr>
              <a:buSzPct val="70000"/>
              <a:buFont typeface="Wingdings 2" pitchFamily="18" charset="2"/>
              <a:buChar char=""/>
            </a:pPr>
            <a:endParaRPr lang="en-US" sz="3200">
              <a:latin typeface="Rockwell"/>
            </a:endParaRPr>
          </a:p>
        </p:txBody>
      </p:sp>
      <p:pic>
        <p:nvPicPr>
          <p:cNvPr id="26627" name="Picture 6" descr="http://blogs.abcnews.com/photos/uncategorized/breached2_levee_katrina_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4419600"/>
            <a:ext cx="2590800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8" name="Picture 4" descr="http://www.asce.org/graphics/index/response/35-w_response_pic.gi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29200" y="1752600"/>
            <a:ext cx="3095625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534400" cy="838200"/>
          </a:xfrm>
        </p:spPr>
        <p:txBody>
          <a:bodyPr/>
          <a:lstStyle/>
          <a:p>
            <a:pPr marL="54864" indent="0" fontAlgn="auto">
              <a:spcAft>
                <a:spcPts val="0"/>
              </a:spcAft>
              <a:defRPr/>
            </a:pPr>
            <a:r>
              <a:rPr lang="en-US" sz="4000" dirty="0" smtClean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Historical Infrastructure Failures</a:t>
            </a:r>
            <a:endParaRPr lang="en-US" sz="4000" dirty="0">
              <a:solidFill>
                <a:schemeClr val="tx2">
                  <a:tint val="100000"/>
                  <a:shade val="90000"/>
                  <a:satMod val="250000"/>
                  <a:alpha val="100000"/>
                </a:schemeClr>
              </a:solidFill>
            </a:endParaRPr>
          </a:p>
        </p:txBody>
      </p:sp>
      <p:pic>
        <p:nvPicPr>
          <p:cNvPr id="26630" name="Picture 4" descr="http://www.takegreatpictures.com/content/images/vincentlaforet_01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24400" y="4343400"/>
            <a:ext cx="3011488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31" name="TextBox 6"/>
          <p:cNvSpPr txBox="1">
            <a:spLocks noChangeArrowheads="1"/>
          </p:cNvSpPr>
          <p:nvPr/>
        </p:nvSpPr>
        <p:spPr bwMode="auto">
          <a:xfrm>
            <a:off x="4800600" y="4419600"/>
            <a:ext cx="28194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Rockwell"/>
              </a:rPr>
              <a:t>2003 NE Power Outage</a:t>
            </a:r>
          </a:p>
        </p:txBody>
      </p:sp>
      <p:sp>
        <p:nvSpPr>
          <p:cNvPr id="26632" name="TextBox 7"/>
          <p:cNvSpPr txBox="1">
            <a:spLocks noChangeArrowheads="1"/>
          </p:cNvSpPr>
          <p:nvPr/>
        </p:nvSpPr>
        <p:spPr bwMode="auto">
          <a:xfrm>
            <a:off x="5334000" y="2057400"/>
            <a:ext cx="25908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Rockwell"/>
              </a:rPr>
              <a:t>Minneapolis Bridge Collapse</a:t>
            </a:r>
          </a:p>
        </p:txBody>
      </p:sp>
      <p:sp>
        <p:nvSpPr>
          <p:cNvPr id="26633" name="TextBox 8"/>
          <p:cNvSpPr txBox="1">
            <a:spLocks noChangeArrowheads="1"/>
          </p:cNvSpPr>
          <p:nvPr/>
        </p:nvSpPr>
        <p:spPr bwMode="auto">
          <a:xfrm>
            <a:off x="533400" y="4419600"/>
            <a:ext cx="30480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Rockwell"/>
              </a:rPr>
              <a:t>Hurricane Katrina – N.O. Levees</a:t>
            </a:r>
          </a:p>
        </p:txBody>
      </p:sp>
      <p:sp>
        <p:nvSpPr>
          <p:cNvPr id="26634" name="TextBox 9"/>
          <p:cNvSpPr txBox="1">
            <a:spLocks noChangeArrowheads="1"/>
          </p:cNvSpPr>
          <p:nvPr/>
        </p:nvSpPr>
        <p:spPr bwMode="auto">
          <a:xfrm>
            <a:off x="762000" y="2133600"/>
            <a:ext cx="24384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Rockwell"/>
              </a:rPr>
              <a:t>Grand Teton Dam Failure</a:t>
            </a:r>
          </a:p>
        </p:txBody>
      </p:sp>
      <p:sp>
        <p:nvSpPr>
          <p:cNvPr id="26635" name="TextBox 15"/>
          <p:cNvSpPr txBox="1">
            <a:spLocks noChangeArrowheads="1"/>
          </p:cNvSpPr>
          <p:nvPr/>
        </p:nvSpPr>
        <p:spPr bwMode="auto">
          <a:xfrm>
            <a:off x="533400" y="6172200"/>
            <a:ext cx="30480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>
                <a:latin typeface="Rockwell"/>
              </a:rPr>
              <a:t>Photo by: Unknown (ABC News)</a:t>
            </a:r>
          </a:p>
        </p:txBody>
      </p:sp>
      <p:sp>
        <p:nvSpPr>
          <p:cNvPr id="26636" name="TextBox 16"/>
          <p:cNvSpPr txBox="1">
            <a:spLocks noChangeArrowheads="1"/>
          </p:cNvSpPr>
          <p:nvPr/>
        </p:nvSpPr>
        <p:spPr bwMode="auto">
          <a:xfrm>
            <a:off x="4724400" y="5867400"/>
            <a:ext cx="3048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>
                <a:latin typeface="Rockwell"/>
              </a:rPr>
              <a:t>Photo by: Unknown (www.takegreatpictures.com)</a:t>
            </a:r>
          </a:p>
        </p:txBody>
      </p:sp>
      <p:sp>
        <p:nvSpPr>
          <p:cNvPr id="26637" name="TextBox 18"/>
          <p:cNvSpPr txBox="1">
            <a:spLocks noChangeArrowheads="1"/>
          </p:cNvSpPr>
          <p:nvPr/>
        </p:nvSpPr>
        <p:spPr bwMode="auto">
          <a:xfrm>
            <a:off x="457200" y="3810000"/>
            <a:ext cx="30480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>
                <a:latin typeface="Rockwell"/>
              </a:rPr>
              <a:t>Photo by: Eunice Olson, 5 June 1976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53536"/>
            <a:ext cx="8229600" cy="813264"/>
          </a:xfrm>
        </p:spPr>
        <p:txBody>
          <a:bodyPr/>
          <a:lstStyle/>
          <a:p>
            <a:pPr marL="54864" indent="0" fontAlgn="auto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ASCE </a:t>
            </a:r>
            <a:r>
              <a:rPr lang="en-US" sz="3200" i="1" dirty="0" smtClean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Committee </a:t>
            </a:r>
            <a:r>
              <a:rPr lang="en-US" sz="3200" i="1" dirty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for Critical Infrastructure</a:t>
            </a:r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382000" cy="44958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b="1" smtClean="0">
                <a:solidFill>
                  <a:srgbClr val="FFC000"/>
                </a:solidFill>
              </a:rPr>
              <a:t>Vision:</a:t>
            </a:r>
          </a:p>
          <a:p>
            <a:pPr>
              <a:buFont typeface="Wingdings" pitchFamily="2" charset="2"/>
              <a:buNone/>
            </a:pPr>
            <a:r>
              <a:rPr lang="en-US" sz="2800" i="1" smtClean="0"/>
              <a:t>ASCE is a recognized leader in </a:t>
            </a:r>
            <a:r>
              <a:rPr lang="en-US" sz="2800" i="1" smtClean="0">
                <a:solidFill>
                  <a:srgbClr val="FBFB63"/>
                </a:solidFill>
              </a:rPr>
              <a:t>incorporating sensible security</a:t>
            </a:r>
            <a:r>
              <a:rPr lang="en-US" sz="2800" i="1" smtClean="0"/>
              <a:t> into </a:t>
            </a:r>
            <a:r>
              <a:rPr lang="en-US" sz="2800" b="1" i="1" smtClean="0">
                <a:solidFill>
                  <a:srgbClr val="FBFB63"/>
                </a:solidFill>
              </a:rPr>
              <a:t>multi-hazard</a:t>
            </a:r>
            <a:r>
              <a:rPr lang="en-US" sz="2800" i="1" smtClean="0"/>
              <a:t> planning, design, preparedness, procurement, construction, operation and management, </a:t>
            </a:r>
            <a:r>
              <a:rPr lang="en-US" sz="2800" b="1" i="1" u="sng" smtClean="0">
                <a:solidFill>
                  <a:srgbClr val="FFC000"/>
                </a:solidFill>
              </a:rPr>
              <a:t>mitigation</a:t>
            </a:r>
            <a:r>
              <a:rPr lang="en-US" sz="2800" i="1" smtClean="0"/>
              <a:t>, </a:t>
            </a:r>
            <a:r>
              <a:rPr lang="en-US" sz="2800" b="1" i="1" u="sng" smtClean="0">
                <a:solidFill>
                  <a:srgbClr val="FFC000"/>
                </a:solidFill>
              </a:rPr>
              <a:t>response</a:t>
            </a:r>
            <a:r>
              <a:rPr lang="en-US" sz="2800" i="1" smtClean="0"/>
              <a:t>, and </a:t>
            </a:r>
            <a:r>
              <a:rPr lang="en-US" sz="2800" b="1" i="1" u="sng" smtClean="0">
                <a:solidFill>
                  <a:srgbClr val="FFC000"/>
                </a:solidFill>
              </a:rPr>
              <a:t>recovery </a:t>
            </a:r>
            <a:r>
              <a:rPr lang="en-US" sz="2800" i="1" smtClean="0"/>
              <a:t>of critical infrastructure </a:t>
            </a:r>
          </a:p>
          <a:p>
            <a:pPr>
              <a:buFont typeface="Wingdings" pitchFamily="2" charset="2"/>
              <a:buNone/>
            </a:pPr>
            <a:endParaRPr lang="en-US" sz="2400" smtClean="0"/>
          </a:p>
        </p:txBody>
      </p:sp>
      <p:pic>
        <p:nvPicPr>
          <p:cNvPr id="27651" name="Picture 4" descr="Final%20CCI%20Logo%20200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61238" y="5638800"/>
            <a:ext cx="1401762" cy="750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914400"/>
          </a:xfrm>
        </p:spPr>
        <p:txBody>
          <a:bodyPr>
            <a:noAutofit/>
          </a:bodyPr>
          <a:lstStyle/>
          <a:p>
            <a:pPr marL="54864" indent="0" fontAlgn="auto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ASCE - </a:t>
            </a:r>
            <a:r>
              <a:rPr lang="en-US" sz="3200" i="1" dirty="0" smtClean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Committee for Critical Infrastructure</a:t>
            </a:r>
            <a:endParaRPr lang="en-US" sz="3200" dirty="0">
              <a:solidFill>
                <a:schemeClr val="tx2">
                  <a:tint val="100000"/>
                  <a:shade val="90000"/>
                  <a:satMod val="250000"/>
                  <a:alpha val="100000"/>
                </a:schemeClr>
              </a:solidFill>
            </a:endParaRPr>
          </a:p>
        </p:txBody>
      </p:sp>
      <p:sp>
        <p:nvSpPr>
          <p:cNvPr id="2867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b="1" smtClean="0">
                <a:solidFill>
                  <a:srgbClr val="FFC000"/>
                </a:solidFill>
              </a:rPr>
              <a:t>Mission:</a:t>
            </a:r>
          </a:p>
          <a:p>
            <a:pPr>
              <a:buFont typeface="Wingdings" pitchFamily="2" charset="2"/>
              <a:buNone/>
            </a:pPr>
            <a:r>
              <a:rPr lang="en-US" sz="2800" smtClean="0"/>
              <a:t> </a:t>
            </a:r>
            <a:r>
              <a:rPr lang="en-US" sz="2800" i="1" smtClean="0"/>
              <a:t>CCI </a:t>
            </a:r>
            <a:r>
              <a:rPr lang="en-US" sz="2800" b="1" i="1" smtClean="0">
                <a:solidFill>
                  <a:srgbClr val="FBFB63"/>
                </a:solidFill>
              </a:rPr>
              <a:t>provides insight and guidance to ASCE</a:t>
            </a:r>
            <a:r>
              <a:rPr lang="en-US" sz="2800" i="1" smtClean="0"/>
              <a:t> on its internal and external activities related to multi-hazard planning, design, preparedness, procurement, construction, operation and management, mitigation, response, and recovery for critical infrastructure, including security.  CCI identifies, influences, and facilitates ASCE critical infrastructure activities.</a:t>
            </a:r>
          </a:p>
          <a:p>
            <a:endParaRPr lang="en-US" smtClean="0"/>
          </a:p>
        </p:txBody>
      </p:sp>
      <p:pic>
        <p:nvPicPr>
          <p:cNvPr id="28675" name="Picture 4" descr="Final%20CCI%20Logo%20200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85038" y="5638800"/>
            <a:ext cx="1401762" cy="750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458200" cy="1143000"/>
          </a:xfrm>
        </p:spPr>
        <p:txBody>
          <a:bodyPr>
            <a:noAutofit/>
          </a:bodyPr>
          <a:lstStyle/>
          <a:p>
            <a:pPr marL="54864" indent="0" fontAlgn="auto">
              <a:spcAft>
                <a:spcPts val="0"/>
              </a:spcAft>
              <a:defRPr/>
            </a:pPr>
            <a:r>
              <a:rPr lang="en-US" sz="3200" dirty="0" smtClean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Bridging the EM &amp; Engineering Professions</a:t>
            </a:r>
            <a:endParaRPr lang="en-US" sz="3200" dirty="0">
              <a:solidFill>
                <a:schemeClr val="tx2">
                  <a:tint val="100000"/>
                  <a:shade val="90000"/>
                  <a:satMod val="250000"/>
                  <a:alpha val="10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ASCE CCI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Partnerships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dirty="0" smtClean="0"/>
              <a:t>The Infrastructure Security Partnership (TISP)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FFC000"/>
                </a:solidFill>
              </a:rPr>
              <a:t>International Association of Emergency Managers (IAEM)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dirty="0" smtClean="0"/>
              <a:t>Red Cross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Infrastructure Champion Program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National &amp; regional workshops</a:t>
            </a:r>
          </a:p>
          <a:p>
            <a:pPr marL="640080" lvl="1" fontAlgn="auto">
              <a:spcAft>
                <a:spcPts val="0"/>
              </a:spcAft>
              <a:defRPr/>
            </a:pPr>
            <a:r>
              <a:rPr lang="en-US" dirty="0" err="1" smtClean="0"/>
              <a:t>Mileti</a:t>
            </a:r>
            <a:r>
              <a:rPr lang="en-US" dirty="0" smtClean="0"/>
              <a:t> (2007)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>
                <a:solidFill>
                  <a:srgbClr val="FFC000"/>
                </a:solidFill>
              </a:rPr>
              <a:t>DRRAC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>
                <a:solidFill>
                  <a:srgbClr val="FFC000"/>
                </a:solidFill>
              </a:rPr>
              <a:t>DRAT</a:t>
            </a:r>
            <a:endParaRPr lang="en-US" dirty="0">
              <a:solidFill>
                <a:srgbClr val="FFC000"/>
              </a:solidFill>
            </a:endParaRPr>
          </a:p>
        </p:txBody>
      </p:sp>
      <p:pic>
        <p:nvPicPr>
          <p:cNvPr id="29699" name="Picture 4" descr="Final%20CCI%20Logo%20200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85038" y="5638800"/>
            <a:ext cx="1401762" cy="750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266" name="Rectangle 2"/>
          <p:cNvSpPr>
            <a:spLocks noGrp="1" noChangeArrowheads="1"/>
          </p:cNvSpPr>
          <p:nvPr>
            <p:ph type="title"/>
          </p:nvPr>
        </p:nvSpPr>
        <p:spPr>
          <a:xfrm>
            <a:off x="950913" y="247650"/>
            <a:ext cx="7772400" cy="1143000"/>
          </a:xfrm>
        </p:spPr>
        <p:txBody>
          <a:bodyPr>
            <a:normAutofit fontScale="90000"/>
          </a:bodyPr>
          <a:lstStyle/>
          <a:p>
            <a:pPr marL="54864" indent="0" fontAlgn="auto">
              <a:spcAft>
                <a:spcPts val="0"/>
              </a:spcAft>
              <a:defRPr/>
            </a:pPr>
            <a:r>
              <a:rPr lang="en-US" sz="3600" dirty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ASCE </a:t>
            </a:r>
            <a:r>
              <a:rPr lang="en-US" sz="3600" dirty="0" smtClean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CCI</a:t>
            </a:r>
            <a:br>
              <a:rPr lang="en-US" sz="3600" dirty="0" smtClean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</a:br>
            <a:r>
              <a:rPr lang="en-US" sz="3600" dirty="0" smtClean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Infrastructure Champions Program</a:t>
            </a:r>
            <a:endParaRPr lang="en-US" sz="3600" dirty="0">
              <a:solidFill>
                <a:schemeClr val="tx2">
                  <a:tint val="100000"/>
                  <a:shade val="90000"/>
                  <a:satMod val="250000"/>
                  <a:alpha val="100000"/>
                </a:schemeClr>
              </a:solidFill>
            </a:endParaRPr>
          </a:p>
        </p:txBody>
      </p:sp>
      <p:sp>
        <p:nvSpPr>
          <p:cNvPr id="907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7937500" cy="4572000"/>
          </a:xfrm>
        </p:spPr>
        <p:txBody>
          <a:bodyPr>
            <a:norm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800" dirty="0" smtClean="0"/>
              <a:t>a </a:t>
            </a:r>
            <a:r>
              <a:rPr lang="en-US" sz="2800" u="sng" dirty="0" smtClean="0"/>
              <a:t>grassroots network </a:t>
            </a:r>
            <a:r>
              <a:rPr lang="en-US" sz="2800" dirty="0" smtClean="0"/>
              <a:t>of engineering leaders advocating the value of critical infrastructure assets and their resiliency.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endParaRPr lang="en-US" dirty="0" smtClean="0"/>
          </a:p>
          <a:p>
            <a:pPr marL="533400" indent="-5334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n-US" sz="2600" dirty="0" smtClean="0"/>
              <a:t>Actions: </a:t>
            </a:r>
            <a:endParaRPr lang="en-US" sz="2600" b="1" dirty="0" smtClean="0">
              <a:solidFill>
                <a:schemeClr val="hlink"/>
              </a:solidFill>
            </a:endParaRPr>
          </a:p>
          <a:p>
            <a:pPr marL="533400" indent="-5334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r>
              <a:rPr lang="en-US" sz="2600" dirty="0" smtClean="0">
                <a:solidFill>
                  <a:srgbClr val="FFFF00"/>
                </a:solidFill>
              </a:rPr>
              <a:t>Promote the involvement </a:t>
            </a:r>
            <a:r>
              <a:rPr lang="en-US" sz="2600" dirty="0" smtClean="0"/>
              <a:t>of the engineering profession in all phases of emergency management.</a:t>
            </a:r>
          </a:p>
          <a:p>
            <a:pPr marL="533400" indent="-5334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r>
              <a:rPr lang="en-US" sz="2600" dirty="0" smtClean="0">
                <a:solidFill>
                  <a:srgbClr val="FFFF00"/>
                </a:solidFill>
              </a:rPr>
              <a:t>Elevate awareness and educate</a:t>
            </a:r>
            <a:endParaRPr lang="en-US" sz="2600" dirty="0" smtClean="0"/>
          </a:p>
          <a:p>
            <a:pPr marL="533400" indent="-5334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"/>
              <a:defRPr/>
            </a:pPr>
            <a:endParaRPr lang="en-US" sz="2600" b="1" dirty="0" smtClean="0">
              <a:solidFill>
                <a:schemeClr val="hlink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endParaRPr lang="en-US" dirty="0"/>
          </a:p>
        </p:txBody>
      </p:sp>
      <p:pic>
        <p:nvPicPr>
          <p:cNvPr id="30723" name="Picture 4" descr="Final%20CCI%20Logo%20200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85038" y="5715000"/>
            <a:ext cx="1401762" cy="750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53536"/>
            <a:ext cx="8229600" cy="1143000"/>
          </a:xfrm>
        </p:spPr>
        <p:txBody>
          <a:bodyPr>
            <a:normAutofit fontScale="90000"/>
          </a:bodyPr>
          <a:lstStyle/>
          <a:p>
            <a:pPr marL="54864" indent="0" fontAlgn="auto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Bridging Engineering &amp; Emergency Management Professions</a:t>
            </a:r>
            <a:endParaRPr lang="en-US" sz="3600" dirty="0">
              <a:solidFill>
                <a:schemeClr val="tx2">
                  <a:tint val="100000"/>
                  <a:shade val="90000"/>
                  <a:satMod val="250000"/>
                  <a:alpha val="100000"/>
                </a:schemeClr>
              </a:solidFill>
            </a:endParaRP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smtClean="0"/>
              <a:t> </a:t>
            </a:r>
            <a:endParaRPr lang="en-US" sz="2400" smtClean="0"/>
          </a:p>
        </p:txBody>
      </p:sp>
      <p:pic>
        <p:nvPicPr>
          <p:cNvPr id="32771" name="Picture 5" descr="Final%20CCI%20Logo%20200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39000" y="5665788"/>
            <a:ext cx="1493838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2" name="Picture 6" descr="region1_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66800" y="1676400"/>
            <a:ext cx="7239000" cy="386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2895600" y="1752600"/>
            <a:ext cx="3505200" cy="369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ASCE National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IC Regions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</p:spPr>
        <p:txBody>
          <a:bodyPr/>
          <a:lstStyle/>
          <a:p>
            <a:pPr marL="54864" indent="0"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tint val="100000"/>
                    <a:shade val="90000"/>
                    <a:satMod val="250000"/>
                    <a:alpha val="100000"/>
                  </a:schemeClr>
                </a:solidFill>
              </a:rPr>
              <a:t>The Engineering - EM Link</a:t>
            </a:r>
            <a:endParaRPr lang="en-US" dirty="0">
              <a:solidFill>
                <a:schemeClr val="tx2">
                  <a:tint val="100000"/>
                  <a:shade val="90000"/>
                  <a:satMod val="250000"/>
                  <a:alpha val="10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6238"/>
            <a:ext cx="8229600" cy="4983162"/>
          </a:xfrm>
        </p:spPr>
        <p:txBody>
          <a:bodyPr/>
          <a:lstStyle/>
          <a:p>
            <a:endParaRPr lang="en-US" sz="2400" smtClean="0"/>
          </a:p>
          <a:p>
            <a:endParaRPr lang="en-US" sz="2400" smtClean="0"/>
          </a:p>
          <a:p>
            <a:r>
              <a:rPr lang="en-US" sz="2400" smtClean="0"/>
              <a:t>Coordinated efforts to assess and report local infrastructure vulnerabilities</a:t>
            </a:r>
          </a:p>
          <a:p>
            <a:pPr lvl="1"/>
            <a:r>
              <a:rPr lang="en-US" sz="2000" i="1" smtClean="0"/>
              <a:t>Increase understanding of social constructs</a:t>
            </a:r>
          </a:p>
          <a:p>
            <a:endParaRPr lang="en-US" sz="2400" smtClean="0"/>
          </a:p>
          <a:p>
            <a:r>
              <a:rPr lang="en-US" sz="2400" smtClean="0"/>
              <a:t>Increase situational awareness of our infrastructure needs</a:t>
            </a:r>
          </a:p>
          <a:p>
            <a:endParaRPr lang="en-US" sz="2400" smtClean="0"/>
          </a:p>
          <a:p>
            <a:r>
              <a:rPr lang="en-US" sz="2400" smtClean="0"/>
              <a:t>Increase professional recognition of EM</a:t>
            </a:r>
          </a:p>
          <a:p>
            <a:pPr>
              <a:buFont typeface="Wingdings 2" pitchFamily="18" charset="2"/>
              <a:buNone/>
            </a:pPr>
            <a:endParaRPr lang="en-US" sz="2400" smtClean="0"/>
          </a:p>
          <a:p>
            <a:r>
              <a:rPr lang="en-US" sz="2400" smtClean="0"/>
              <a:t>Leverage of the emergency management &amp; engineering community  to develop </a:t>
            </a:r>
            <a:r>
              <a:rPr lang="en-US" sz="2400" i="1" u="sng" smtClean="0">
                <a:solidFill>
                  <a:srgbClr val="FFC000"/>
                </a:solidFill>
              </a:rPr>
              <a:t>proactive solutions</a:t>
            </a:r>
            <a:endParaRPr lang="en-US" sz="2400" smtClean="0">
              <a:solidFill>
                <a:srgbClr val="FFC000"/>
              </a:solidFill>
            </a:endParaRPr>
          </a:p>
          <a:p>
            <a:endParaRPr lang="en-US" smtClean="0"/>
          </a:p>
          <a:p>
            <a:endParaRPr lang="en-US" smtClean="0"/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228600" y="1447800"/>
            <a:ext cx="8915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i="1" u="sng">
                <a:solidFill>
                  <a:srgbClr val="FFFF00"/>
                </a:solidFill>
                <a:latin typeface="Rockwell"/>
              </a:rPr>
              <a:t>Engineering</a:t>
            </a:r>
            <a:r>
              <a:rPr lang="en-US" sz="2400">
                <a:solidFill>
                  <a:srgbClr val="FFFF00"/>
                </a:solidFill>
                <a:latin typeface="Rockwell"/>
              </a:rPr>
              <a:t> </a:t>
            </a:r>
            <a:r>
              <a:rPr lang="en-US" sz="2400">
                <a:latin typeface="Rockwell"/>
              </a:rPr>
              <a:t>is the </a:t>
            </a:r>
            <a:r>
              <a:rPr lang="en-US" sz="2400" b="1" u="sng">
                <a:solidFill>
                  <a:srgbClr val="FFFF00"/>
                </a:solidFill>
                <a:latin typeface="Rockwell"/>
              </a:rPr>
              <a:t>cornerstone</a:t>
            </a:r>
            <a:r>
              <a:rPr lang="en-US" sz="2400">
                <a:solidFill>
                  <a:srgbClr val="FFFF00"/>
                </a:solidFill>
                <a:latin typeface="Rockwell"/>
              </a:rPr>
              <a:t> </a:t>
            </a:r>
            <a:r>
              <a:rPr lang="en-US" sz="2400">
                <a:latin typeface="Rockwell"/>
              </a:rPr>
              <a:t>of </a:t>
            </a:r>
            <a:r>
              <a:rPr lang="en-US" sz="2400" b="1" u="sng">
                <a:solidFill>
                  <a:srgbClr val="FFFF00"/>
                </a:solidFill>
                <a:latin typeface="Rockwell"/>
              </a:rPr>
              <a:t>proactive emergency management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sz="5400" smtClean="0"/>
              <a:t>Question </a:t>
            </a:r>
          </a:p>
          <a:p>
            <a:pPr algn="ctr">
              <a:buFont typeface="Wingdings 2" pitchFamily="18" charset="2"/>
              <a:buNone/>
            </a:pPr>
            <a:r>
              <a:rPr lang="en-US" sz="5400" smtClean="0"/>
              <a:t>&amp; </a:t>
            </a:r>
          </a:p>
          <a:p>
            <a:pPr algn="ctr">
              <a:buFont typeface="Wingdings 2" pitchFamily="18" charset="2"/>
              <a:buNone/>
            </a:pPr>
            <a:r>
              <a:rPr lang="en-US" sz="5400" smtClean="0"/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953000"/>
            <a:ext cx="7924800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i="1" dirty="0">
                <a:solidFill>
                  <a:schemeClr val="bg1">
                    <a:lumMod val="95000"/>
                    <a:lumOff val="5000"/>
                  </a:schemeClr>
                </a:solidFill>
                <a:latin typeface="+mn-lt"/>
              </a:rPr>
              <a:t>Daniel Martin, MA, CEM, CFM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North Dakota State University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Department of Anthropology, Sociology, &amp; Emergency Management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1" i="1" dirty="0">
              <a:latin typeface="+mn-lt"/>
            </a:endParaRPr>
          </a:p>
        </p:txBody>
      </p:sp>
      <p:pic>
        <p:nvPicPr>
          <p:cNvPr id="35843" name="Picture 2" descr="http://vpur.ndsu.edu/uploads/RTEmagicC_NDSU-logo.342_01.jpg.jpg"/>
          <p:cNvPicPr>
            <a:picLocks noChangeAspect="1" noChangeArrowheads="1"/>
          </p:cNvPicPr>
          <p:nvPr/>
        </p:nvPicPr>
        <p:blipFill>
          <a:blip r:embed="rId2" r:link="rId3"/>
          <a:srcRect/>
          <a:stretch>
            <a:fillRect/>
          </a:stretch>
        </p:blipFill>
        <p:spPr bwMode="auto">
          <a:xfrm>
            <a:off x="6096000" y="5105400"/>
            <a:ext cx="1868488" cy="59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4152</TotalTime>
  <Words>829</Words>
  <Application>Microsoft Office PowerPoint</Application>
  <PresentationFormat>On-screen Show (4:3)</PresentationFormat>
  <Paragraphs>233</Paragraphs>
  <Slides>19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Design Template</vt:lpstr>
      </vt:variant>
      <vt:variant>
        <vt:i4>9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5" baseType="lpstr">
      <vt:lpstr>Rockwell</vt:lpstr>
      <vt:lpstr>Arial</vt:lpstr>
      <vt:lpstr>Wingdings 2</vt:lpstr>
      <vt:lpstr>Calibri</vt:lpstr>
      <vt:lpstr>Times New Roman</vt:lpstr>
      <vt:lpstr>Wingdings</vt:lpstr>
      <vt:lpstr>Foundry</vt:lpstr>
      <vt:lpstr>Foundry</vt:lpstr>
      <vt:lpstr>Foundry</vt:lpstr>
      <vt:lpstr>Foundry</vt:lpstr>
      <vt:lpstr>Foundry</vt:lpstr>
      <vt:lpstr>Foundry</vt:lpstr>
      <vt:lpstr>Foundry</vt:lpstr>
      <vt:lpstr>Foundry</vt:lpstr>
      <vt:lpstr>Foundry</vt:lpstr>
      <vt:lpstr>Photo Editor Photo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Dan Martin</dc:creator>
  <cp:lastModifiedBy>bjohnso4</cp:lastModifiedBy>
  <cp:revision>11</cp:revision>
  <dcterms:created xsi:type="dcterms:W3CDTF">2008-05-10T09:17:22Z</dcterms:created>
  <dcterms:modified xsi:type="dcterms:W3CDTF">2008-05-22T12:27:35Z</dcterms:modified>
</cp:coreProperties>
</file>