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73" r:id="rId5"/>
    <p:sldId id="267" r:id="rId6"/>
    <p:sldId id="268" r:id="rId7"/>
    <p:sldId id="289" r:id="rId8"/>
    <p:sldId id="274" r:id="rId9"/>
    <p:sldId id="270" r:id="rId10"/>
    <p:sldId id="271" r:id="rId11"/>
    <p:sldId id="272" r:id="rId12"/>
    <p:sldId id="275" r:id="rId13"/>
    <p:sldId id="282" r:id="rId14"/>
    <p:sldId id="281" r:id="rId15"/>
    <p:sldId id="276" r:id="rId16"/>
    <p:sldId id="277" r:id="rId17"/>
    <p:sldId id="278" r:id="rId18"/>
    <p:sldId id="279" r:id="rId19"/>
    <p:sldId id="280" r:id="rId20"/>
    <p:sldId id="263" r:id="rId21"/>
    <p:sldId id="283" r:id="rId22"/>
    <p:sldId id="284" r:id="rId23"/>
    <p:sldId id="285" r:id="rId24"/>
    <p:sldId id="290" r:id="rId25"/>
    <p:sldId id="291" r:id="rId26"/>
    <p:sldId id="286" r:id="rId27"/>
    <p:sldId id="292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Capitals" pitchFamily="8" charset="0"/>
        <a:ea typeface="ＭＳ Ｐゴシック" pitchFamily="8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72CC09"/>
    <a:srgbClr val="46FFC9"/>
    <a:srgbClr val="CCCCCC"/>
    <a:srgbClr val="E6E6E6"/>
    <a:srgbClr val="0000FF"/>
    <a:srgbClr val="6666FF"/>
    <a:srgbClr val="0080FF"/>
  </p:clrMru>
</p:presentationPr>
</file>

<file path=ppt/tableStyles.xml><?xml version="1.0" encoding="utf-8"?>
<a:tblStyleLst xmlns:a="http://schemas.openxmlformats.org/drawingml/2006/main" def="{5C22544A-7EE6-4342-B048-85BDC9FD1C3A}"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64" autoAdjust="0"/>
    <p:restoredTop sz="91005" autoAdjust="0"/>
  </p:normalViewPr>
  <p:slideViewPr>
    <p:cSldViewPr>
      <p:cViewPr varScale="1">
        <p:scale>
          <a:sx n="122" d="100"/>
          <a:sy n="122" d="100"/>
        </p:scale>
        <p:origin x="-131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6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87438-597D-4623-A74F-A58F1CD8AF5A}" type="datetimeFigureOut">
              <a:rPr lang="en-US" smtClean="0"/>
              <a:pPr/>
              <a:t>2/19/2009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24686-95BC-4EFF-A43D-2A4ABDBC2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>
                <a:latin typeface="Arial" charset="0"/>
              </a:defRPr>
            </a:lvl1pPr>
          </a:lstStyle>
          <a:p>
            <a:pPr>
              <a:defRPr/>
            </a:pPr>
            <a:fld id="{14586E2A-53CE-45A4-8D9A-501C32383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ssion 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2" name="Rectangle 1028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905000"/>
          </a:xfrm>
        </p:spPr>
        <p:txBody>
          <a:bodyPr anchor="t"/>
          <a:lstStyle>
            <a:lvl1pPr algn="ctr">
              <a:defRPr b="1">
                <a:latin typeface="Arial Narrow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8053" name="Rectangle 102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914400"/>
          </a:xfrm>
        </p:spPr>
        <p:txBody>
          <a:bodyPr/>
          <a:lstStyle>
            <a:lvl1pPr marL="0" indent="0" algn="ctr">
              <a:buFont typeface="Wingdings 3" pitchFamily="8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8054" name="Rectangle 1030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58055" name="Rectangle 103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258056" name="Rectangle 1032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C0463B5-5F66-490A-B597-8686670E81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bout the Speaker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lang="en-US" dirty="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r>
              <a:rPr lang="en-US" dirty="0" smtClean="0"/>
              <a:t>About the Speaker…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 Po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2133600" y="1143000"/>
            <a:ext cx="4800600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8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60000" endA="900" endPos="60000" dist="29997" dir="5400000" sy="-100000" algn="bl" rotWithShape="0"/>
                </a:effectLst>
              </a:rPr>
              <a:t>Demo</a:t>
            </a:r>
            <a:endParaRPr lang="en-US" sz="8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  <a:reflection blurRad="6350" stA="60000" endA="900" endPos="60000" dist="29997" dir="5400000" sy="-100000" algn="bl" rotWithShape="0"/>
              </a:effectLst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39624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76400"/>
            <a:ext cx="39624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eneric Us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eneric Use Red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0772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609600"/>
            <a:ext cx="8077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0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81400" y="62484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1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3" r:id="rId2"/>
    <p:sldLayoutId id="2147483707" r:id="rId3"/>
    <p:sldLayoutId id="2147483721" r:id="rId4"/>
    <p:sldLayoutId id="2147483709" r:id="rId5"/>
    <p:sldLayoutId id="2147483710" r:id="rId6"/>
    <p:sldLayoutId id="2147483711" r:id="rId7"/>
    <p:sldLayoutId id="2147483712" r:id="rId8"/>
    <p:sldLayoutId id="2147483722" r:id="rId9"/>
    <p:sldLayoutId id="2147483713" r:id="rId10"/>
    <p:sldLayoutId id="214748371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Font typeface="Wingdings 3" pitchFamily="8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8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Times" pitchFamily="8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0000"/>
        </a:buClr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0000"/>
        </a:buClr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0000"/>
        </a:buClr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0000"/>
        </a:buClr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arbar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technet.microsoft.com/en-us/library/cc262067.aspx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technet.microsoft.com/en-us/library/cc262787.aspx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Mythbusters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GB" sz="3600" dirty="0" smtClean="0"/>
              <a:t>Debunking Common SharePoint </a:t>
            </a:r>
            <a:br>
              <a:rPr lang="en-GB" sz="3600" dirty="0" smtClean="0"/>
            </a:br>
            <a:r>
              <a:rPr lang="en-GB" sz="3600" dirty="0" smtClean="0"/>
              <a:t>Farm Misconceptions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ITP361</a:t>
            </a:r>
          </a:p>
          <a:p>
            <a:r>
              <a:rPr lang="en-US" dirty="0" smtClean="0"/>
              <a:t>Spencer Harbar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Spencer Harbar,</a:t>
            </a:r>
            <a:r>
              <a:rPr lang="en-US" sz="2000" dirty="0" smtClean="0"/>
              <a:t> MVP, MCSD.NET, MCAD, MCSE, APM</a:t>
            </a:r>
            <a:endParaRPr lang="en-US" dirty="0" smtClean="0"/>
          </a:p>
          <a:p>
            <a:pPr lvl="1"/>
            <a:r>
              <a:rPr lang="en-US" dirty="0" smtClean="0">
                <a:hlinkClick r:id="rId2"/>
              </a:rPr>
              <a:t>www.harbar.net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Enterprise Architect working with some of Microsoft’s largest customers deploying Office SharePoint Server 2007.</a:t>
            </a:r>
          </a:p>
          <a:p>
            <a:pPr lvl="1"/>
            <a:r>
              <a:rPr lang="en-US" dirty="0" smtClean="0"/>
              <a:t>15 years in Enterprise IT</a:t>
            </a:r>
          </a:p>
          <a:p>
            <a:pPr lvl="1"/>
            <a:r>
              <a:rPr lang="en-US" dirty="0" smtClean="0"/>
              <a:t>ISPA </a:t>
            </a:r>
            <a:r>
              <a:rPr lang="en-US" dirty="0" smtClean="0"/>
              <a:t>Board Member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Common SharePoint Myths</a:t>
            </a:r>
          </a:p>
          <a:p>
            <a:pPr lvl="1"/>
            <a:r>
              <a:rPr lang="en-US" sz="2400" dirty="0" smtClean="0"/>
              <a:t>Farm Topologies</a:t>
            </a:r>
          </a:p>
          <a:p>
            <a:pPr lvl="1"/>
            <a:r>
              <a:rPr lang="en-US" sz="2400" dirty="0" smtClean="0"/>
              <a:t>Shared Service Providers</a:t>
            </a:r>
          </a:p>
          <a:p>
            <a:pPr lvl="1"/>
            <a:r>
              <a:rPr lang="en-US" sz="2400" dirty="0" smtClean="0"/>
              <a:t>Authentication</a:t>
            </a:r>
          </a:p>
          <a:p>
            <a:pPr lvl="1"/>
            <a:r>
              <a:rPr lang="en-US" sz="2400" dirty="0" smtClean="0"/>
              <a:t>Global Deployments</a:t>
            </a:r>
          </a:p>
          <a:p>
            <a:pPr lvl="1"/>
            <a:r>
              <a:rPr lang="en-US" sz="2400" dirty="0" smtClean="0"/>
              <a:t>High Availability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2400" dirty="0" smtClean="0"/>
          </a:p>
          <a:p>
            <a:r>
              <a:rPr lang="en-US" sz="3600" dirty="0" smtClean="0"/>
              <a:t>SharePoint “Magic Numbers”</a:t>
            </a:r>
            <a:br>
              <a:rPr lang="en-US" sz="3600" dirty="0" smtClean="0"/>
            </a:br>
            <a:endParaRPr lang="en-US" sz="2400" dirty="0" smtClean="0"/>
          </a:p>
          <a:p>
            <a:r>
              <a:rPr lang="en-US" sz="3600" dirty="0" smtClean="0"/>
              <a:t>Interactive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Farm Topologies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Farm Topologies (Roles)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“Web Front End” (WFE)</a:t>
            </a:r>
          </a:p>
          <a:p>
            <a:pPr lvl="1"/>
            <a:r>
              <a:rPr lang="en-US" sz="2400" dirty="0" smtClean="0"/>
              <a:t>Terminology hangover from previous version</a:t>
            </a:r>
          </a:p>
          <a:p>
            <a:pPr lvl="1"/>
            <a:r>
              <a:rPr lang="en-US" sz="2400" dirty="0" smtClean="0"/>
              <a:t>WSS Web Application Service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sz="2400" dirty="0" smtClean="0"/>
          </a:p>
          <a:p>
            <a:r>
              <a:rPr lang="en-US" sz="3600" dirty="0" smtClean="0"/>
              <a:t>Functional Decomposition of:</a:t>
            </a:r>
          </a:p>
          <a:p>
            <a:pPr lvl="1"/>
            <a:r>
              <a:rPr lang="en-US" sz="2400" dirty="0" smtClean="0"/>
              <a:t>Search Index &amp; Search Query</a:t>
            </a:r>
          </a:p>
          <a:p>
            <a:pPr lvl="1"/>
            <a:r>
              <a:rPr lang="en-US" sz="2400" dirty="0" smtClean="0"/>
              <a:t>Excel Services</a:t>
            </a:r>
          </a:p>
          <a:p>
            <a:pPr lvl="1"/>
            <a:r>
              <a:rPr lang="en-US" sz="2400" dirty="0" smtClean="0"/>
              <a:t>InfoPath Forms Services</a:t>
            </a:r>
          </a:p>
          <a:p>
            <a:pPr lvl="1"/>
            <a:r>
              <a:rPr lang="en-US" sz="2400" dirty="0" smtClean="0"/>
              <a:t>Document Conversions</a:t>
            </a:r>
          </a:p>
          <a:p>
            <a:pPr lvl="1"/>
            <a:r>
              <a:rPr lang="en-US" sz="2400" dirty="0" smtClean="0"/>
              <a:t>Content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Farm Topologies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“No Topology Restrictions”</a:t>
            </a:r>
          </a:p>
          <a:p>
            <a:pPr lvl="1"/>
            <a:r>
              <a:rPr lang="en-US" sz="2400" dirty="0" smtClean="0"/>
              <a:t>No enforced restrictions</a:t>
            </a:r>
          </a:p>
          <a:p>
            <a:pPr lvl="1"/>
            <a:r>
              <a:rPr lang="en-US" sz="2400" dirty="0" smtClean="0"/>
              <a:t>Plenty of real world restrictions, for example</a:t>
            </a:r>
          </a:p>
          <a:p>
            <a:pPr lvl="2"/>
            <a:r>
              <a:rPr lang="en-US" sz="2000" dirty="0" smtClean="0"/>
              <a:t>Number of “WFE”s</a:t>
            </a:r>
          </a:p>
          <a:p>
            <a:pPr lvl="2"/>
            <a:r>
              <a:rPr lang="en-US" sz="2000" dirty="0" smtClean="0"/>
              <a:t>Number of Web Applications</a:t>
            </a:r>
          </a:p>
          <a:p>
            <a:pPr lvl="2"/>
            <a:r>
              <a:rPr lang="en-US" sz="2000" dirty="0" smtClean="0"/>
              <a:t>Topology Models remain appropriate</a:t>
            </a:r>
          </a:p>
          <a:p>
            <a:pPr lvl="2"/>
            <a:endParaRPr lang="en-US" dirty="0" smtClean="0"/>
          </a:p>
          <a:p>
            <a:r>
              <a:rPr lang="en-US" sz="3600" dirty="0" smtClean="0"/>
              <a:t>“Load balancing” of:</a:t>
            </a:r>
          </a:p>
          <a:p>
            <a:pPr lvl="1"/>
            <a:r>
              <a:rPr lang="en-US" sz="2400" dirty="0" smtClean="0"/>
              <a:t>Search Query Servers</a:t>
            </a:r>
          </a:p>
          <a:p>
            <a:pPr lvl="1"/>
            <a:r>
              <a:rPr lang="en-US" sz="2400" dirty="0" smtClean="0"/>
              <a:t>Excel Calculation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FARM TOPOLOGIES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Overview of functional decomposition, fundamental to planning farm topologies.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Shared Services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Shared Service Providers (SSPs)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“SSPs are implemented as Web Applications”</a:t>
            </a:r>
          </a:p>
          <a:p>
            <a:pPr lvl="1"/>
            <a:r>
              <a:rPr lang="en-US" sz="2400" dirty="0" smtClean="0"/>
              <a:t>Many elements make up a SSP</a:t>
            </a:r>
          </a:p>
          <a:p>
            <a:pPr lvl="1"/>
            <a:r>
              <a:rPr lang="en-US" sz="2400" dirty="0" smtClean="0"/>
              <a:t>Web Application is for administration only</a:t>
            </a:r>
          </a:p>
          <a:p>
            <a:pPr lvl="2"/>
            <a:endParaRPr lang="en-US" dirty="0" smtClean="0"/>
          </a:p>
          <a:p>
            <a:r>
              <a:rPr lang="en-US" sz="3600" dirty="0" smtClean="0"/>
              <a:t>“SSP Admin can be provisioned on dedicated servers”</a:t>
            </a:r>
          </a:p>
          <a:p>
            <a:pPr lvl="1"/>
            <a:r>
              <a:rPr lang="en-US" sz="2400" dirty="0" smtClean="0"/>
              <a:t>It’s a Web Application!</a:t>
            </a:r>
          </a:p>
          <a:p>
            <a:pPr lvl="1"/>
            <a:r>
              <a:rPr lang="en-US" sz="2400" dirty="0" smtClean="0"/>
              <a:t>Therefore deployed to every “WFE”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 smtClean="0"/>
              <a:t>Shared Service Providers (SSPs)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96240" y="1752600"/>
            <a:ext cx="8382000" cy="402336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8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endParaRPr lang="en-GB" sz="2000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</a:endParaRPr>
          </a:p>
        </p:txBody>
      </p:sp>
      <p:pic>
        <p:nvPicPr>
          <p:cNvPr id="5" name="Picture 12" descr="MSN icon goonl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945" y="1961824"/>
            <a:ext cx="1230312" cy="116681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167643" y="2055211"/>
            <a:ext cx="27701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Office Server</a:t>
            </a:r>
          </a:p>
          <a:p>
            <a:r>
              <a:rPr lang="en-GB" sz="2800" dirty="0" smtClean="0"/>
              <a:t>Web Services (IIS)</a:t>
            </a:r>
            <a:endParaRPr lang="en-GB" sz="2800" dirty="0"/>
          </a:p>
        </p:txBody>
      </p:sp>
      <p:pic>
        <p:nvPicPr>
          <p:cNvPr id="7" name="Picture 25" descr="MSN icon my ms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2670" y="3568657"/>
            <a:ext cx="1230313" cy="2011362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2327368" y="3740330"/>
            <a:ext cx="4208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SharedServices1 (Web App)</a:t>
            </a:r>
            <a:endParaRPr lang="en-GB" sz="28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63215" y="4348479"/>
            <a:ext cx="687705" cy="91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71135" y="1955799"/>
            <a:ext cx="687705" cy="91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64655" y="1940559"/>
            <a:ext cx="687705" cy="91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3759928" y="4532810"/>
            <a:ext cx="1608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Content DB</a:t>
            </a:r>
            <a:endParaRPr lang="en-GB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085808" y="2932610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SSP DB</a:t>
            </a:r>
            <a:endParaRPr lang="en-GB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274528" y="2932610"/>
            <a:ext cx="1956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SSP Search DB</a:t>
            </a:r>
            <a:endParaRPr lang="en-GB" sz="2400" dirty="0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24524" y="5210174"/>
            <a:ext cx="673227" cy="977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6548848" y="5538650"/>
            <a:ext cx="1773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Search Index</a:t>
            </a:r>
            <a:endParaRPr lang="en-GB" sz="2400" dirty="0"/>
          </a:p>
        </p:txBody>
      </p:sp>
      <p:pic>
        <p:nvPicPr>
          <p:cNvPr id="17" name="Picture 25" descr="MSN icon my msn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9391" y="5394959"/>
            <a:ext cx="691163" cy="1129940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2174968" y="5599610"/>
            <a:ext cx="3167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My Site Host (Web App)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Shared service providers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Overview of SSP elements, fundamental to understanding intra farm server communications.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Authentication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Authentication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8153400" cy="4419600"/>
          </a:xfrm>
        </p:spPr>
        <p:txBody>
          <a:bodyPr/>
          <a:lstStyle/>
          <a:p>
            <a:r>
              <a:rPr lang="en-US" sz="3600" dirty="0" smtClean="0"/>
              <a:t>“Kerberos makes SharePoint faster”</a:t>
            </a:r>
          </a:p>
          <a:p>
            <a:pPr lvl="1"/>
            <a:r>
              <a:rPr lang="en-US" dirty="0" smtClean="0"/>
              <a:t>It avoids Secure Channel (NTLM) bottlenecks</a:t>
            </a:r>
          </a:p>
          <a:p>
            <a:pPr lvl="1"/>
            <a:r>
              <a:rPr lang="en-US" dirty="0" smtClean="0"/>
              <a:t>Performance benefit generally for long user sessions</a:t>
            </a:r>
          </a:p>
          <a:p>
            <a:pPr lvl="1"/>
            <a:r>
              <a:rPr lang="en-US" dirty="0" smtClean="0"/>
              <a:t>Environment Specific</a:t>
            </a:r>
          </a:p>
          <a:p>
            <a:pPr lvl="2"/>
            <a:endParaRPr lang="en-US" sz="2400" dirty="0" smtClean="0"/>
          </a:p>
          <a:p>
            <a:r>
              <a:rPr lang="en-US" sz="3600" dirty="0" smtClean="0"/>
              <a:t>“One DC for every three WFEs”</a:t>
            </a:r>
          </a:p>
          <a:p>
            <a:pPr lvl="1"/>
            <a:r>
              <a:rPr lang="en-US" dirty="0" smtClean="0"/>
              <a:t>Old wives tale</a:t>
            </a:r>
          </a:p>
          <a:p>
            <a:pPr lvl="1"/>
            <a:r>
              <a:rPr lang="en-US" dirty="0" smtClean="0"/>
              <a:t>It depends upon your authentication scenario</a:t>
            </a:r>
          </a:p>
          <a:p>
            <a:pPr lvl="1"/>
            <a:r>
              <a:rPr lang="en-US" dirty="0" smtClean="0"/>
              <a:t>Placement of DCs is far more important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Global Deployments &amp;</a:t>
            </a:r>
            <a:br>
              <a:rPr lang="en-GB" dirty="0" smtClean="0"/>
            </a:br>
            <a:r>
              <a:rPr lang="en-GB" dirty="0" smtClean="0"/>
              <a:t>High Availability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Global Deployments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8153400" cy="4419600"/>
          </a:xfrm>
        </p:spPr>
        <p:txBody>
          <a:bodyPr/>
          <a:lstStyle/>
          <a:p>
            <a:r>
              <a:rPr lang="en-US" sz="3600" dirty="0" smtClean="0"/>
              <a:t>“SharePoint can’t do geo-distribution”</a:t>
            </a:r>
          </a:p>
          <a:p>
            <a:pPr lvl="1"/>
            <a:r>
              <a:rPr lang="en-US" dirty="0" smtClean="0"/>
              <a:t>Plenty of options</a:t>
            </a:r>
          </a:p>
          <a:p>
            <a:pPr lvl="1"/>
            <a:r>
              <a:rPr lang="en-US" dirty="0" smtClean="0"/>
              <a:t>Consider carefully why you may need them</a:t>
            </a:r>
          </a:p>
          <a:p>
            <a:pPr lvl="1"/>
            <a:r>
              <a:rPr lang="en-US" dirty="0" smtClean="0"/>
              <a:t>SharePoint Online</a:t>
            </a:r>
          </a:p>
          <a:p>
            <a:pPr lvl="2"/>
            <a:endParaRPr lang="en-US" sz="2400" dirty="0" smtClean="0"/>
          </a:p>
          <a:p>
            <a:r>
              <a:rPr lang="en-US" sz="3600" dirty="0" smtClean="0"/>
              <a:t>“SharePoint doesn’t work over the WAN”</a:t>
            </a:r>
          </a:p>
          <a:p>
            <a:pPr lvl="1"/>
            <a:r>
              <a:rPr lang="en-US" dirty="0" smtClean="0"/>
              <a:t>A slow WAN link problem is a slow WAN link problem!</a:t>
            </a:r>
          </a:p>
          <a:p>
            <a:pPr lvl="1"/>
            <a:r>
              <a:rPr lang="en-US" dirty="0" smtClean="0"/>
              <a:t>Not a SharePoint problem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High Availability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8001000" cy="4419600"/>
          </a:xfrm>
        </p:spPr>
        <p:txBody>
          <a:bodyPr/>
          <a:lstStyle/>
          <a:p>
            <a:r>
              <a:rPr lang="en-US" sz="3600" dirty="0" smtClean="0"/>
              <a:t>“Web Gardens give you better performance”</a:t>
            </a:r>
          </a:p>
          <a:p>
            <a:pPr lvl="1"/>
            <a:r>
              <a:rPr lang="en-US" dirty="0" smtClean="0"/>
              <a:t>Don’t use them (yet!)</a:t>
            </a:r>
          </a:p>
          <a:p>
            <a:pPr lvl="2"/>
            <a:endParaRPr lang="en-US" sz="2400" dirty="0" smtClean="0"/>
          </a:p>
          <a:p>
            <a:r>
              <a:rPr lang="en-US" sz="3600" dirty="0" smtClean="0"/>
              <a:t>“A single Farm can host 100s of Web Applications”</a:t>
            </a:r>
          </a:p>
          <a:p>
            <a:pPr lvl="1"/>
            <a:r>
              <a:rPr lang="en-US" dirty="0" smtClean="0"/>
              <a:t>~10 Web Applications per Farm is reasonable</a:t>
            </a:r>
          </a:p>
          <a:p>
            <a:pPr lvl="1"/>
            <a:r>
              <a:rPr lang="en-US" dirty="0" smtClean="0"/>
              <a:t>SharePoint loves RAM</a:t>
            </a:r>
          </a:p>
          <a:p>
            <a:pPr lvl="1"/>
            <a:r>
              <a:rPr lang="en-US" dirty="0" smtClean="0"/>
              <a:t>Request Routing or DNS increases operational service burden considerably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High Availability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8153400" cy="4419600"/>
          </a:xfrm>
        </p:spPr>
        <p:txBody>
          <a:bodyPr/>
          <a:lstStyle/>
          <a:p>
            <a:r>
              <a:rPr lang="en-US" sz="3600" dirty="0" smtClean="0"/>
              <a:t>“Web Apps can be deployed to specific servers in a Farm”</a:t>
            </a:r>
          </a:p>
          <a:p>
            <a:pPr lvl="1"/>
            <a:r>
              <a:rPr lang="en-US" dirty="0" smtClean="0"/>
              <a:t>Request Routing or DNS increases operational service burden considerably</a:t>
            </a:r>
          </a:p>
          <a:p>
            <a:pPr lvl="1"/>
            <a:r>
              <a:rPr lang="en-US" dirty="0" smtClean="0"/>
              <a:t>There is nothing wrong with multiple farms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“SharePoint can’t scale”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8001000" cy="4419600"/>
          </a:xfrm>
        </p:spPr>
        <p:txBody>
          <a:bodyPr/>
          <a:lstStyle/>
          <a:p>
            <a:r>
              <a:rPr lang="en-US" dirty="0" smtClean="0"/>
              <a:t>average daily load throughput of:</a:t>
            </a:r>
          </a:p>
          <a:p>
            <a:pPr lvl="1"/>
            <a:r>
              <a:rPr lang="en-US" dirty="0" smtClean="0"/>
              <a:t>~5 million TIFF images</a:t>
            </a:r>
          </a:p>
          <a:p>
            <a:pPr lvl="1"/>
            <a:r>
              <a:rPr lang="en-US" dirty="0" smtClean="0"/>
              <a:t>~1.9 million Microsoft Office documents.</a:t>
            </a:r>
          </a:p>
          <a:p>
            <a:r>
              <a:rPr lang="en-US" dirty="0" smtClean="0"/>
              <a:t>40+ million content items were loaded into SharePoint in only 13 days</a:t>
            </a:r>
          </a:p>
          <a:p>
            <a:r>
              <a:rPr lang="en-US" dirty="0" smtClean="0"/>
              <a:t>Average content database size of:</a:t>
            </a:r>
          </a:p>
          <a:p>
            <a:pPr lvl="1"/>
            <a:r>
              <a:rPr lang="en-US" dirty="0" smtClean="0"/>
              <a:t>200.65 GB for Divisional Site Collections</a:t>
            </a:r>
          </a:p>
          <a:p>
            <a:pPr lvl="1"/>
            <a:r>
              <a:rPr lang="en-US" dirty="0" smtClean="0"/>
              <a:t>137.60 GB for departmental site collections</a:t>
            </a:r>
          </a:p>
          <a:p>
            <a:pPr lvl="1"/>
            <a:r>
              <a:rPr lang="en-US" dirty="0" smtClean="0"/>
              <a:t>539 GB for the search database</a:t>
            </a:r>
          </a:p>
          <a:p>
            <a:r>
              <a:rPr lang="en-US" dirty="0" smtClean="0"/>
              <a:t>Over 5TB content storage with capacity for double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“SharePoint can’t scale”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61" descr="SQL-DB-LUN-Distributi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38550" y="1676400"/>
            <a:ext cx="5183589" cy="4010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4" descr="ServerTopology-PhaseIIb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680285"/>
            <a:ext cx="3200400" cy="44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“SharePoint can’t scale”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Place picture or screen shot here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2667000" cy="46910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6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381000"/>
            <a:ext cx="5518150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5715000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u="sng" dirty="0" smtClean="0">
                <a:hlinkClick r:id="rId3"/>
              </a:rPr>
              <a:t>technet.microsoft.com/en-us/library/cc262067.aspx</a:t>
            </a:r>
            <a:endParaRPr lang="en-GB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SharePoint “Magic Numbers”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SharePoint “Magic Numbers”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8001000" cy="4419600"/>
          </a:xfrm>
        </p:spPr>
        <p:txBody>
          <a:bodyPr/>
          <a:lstStyle/>
          <a:p>
            <a:r>
              <a:rPr lang="en-US" sz="3600" dirty="0" smtClean="0"/>
              <a:t>“How many XXXX can I have in my SharePoint?”</a:t>
            </a:r>
          </a:p>
          <a:p>
            <a:endParaRPr lang="en-US" sz="3600" dirty="0" smtClean="0"/>
          </a:p>
          <a:p>
            <a:r>
              <a:rPr lang="en-US" sz="3600" dirty="0" smtClean="0"/>
              <a:t>Plan for Software Boundaries (TechNet)</a:t>
            </a:r>
          </a:p>
          <a:p>
            <a:pPr lvl="1"/>
            <a:r>
              <a:rPr lang="en-US" dirty="0" smtClean="0">
                <a:hlinkClick r:id="rId2"/>
              </a:rPr>
              <a:t>technet.microsoft.com/en-us/library/cc262787.aspx</a:t>
            </a:r>
            <a:endParaRPr lang="en-US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SharePoint “Magic Numbers”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8001000" cy="4419600"/>
          </a:xfrm>
        </p:spPr>
        <p:txBody>
          <a:bodyPr/>
          <a:lstStyle/>
          <a:p>
            <a:r>
              <a:rPr lang="en-US" dirty="0" smtClean="0"/>
              <a:t>There are only </a:t>
            </a:r>
            <a:r>
              <a:rPr lang="en-US" b="1" dirty="0" smtClean="0"/>
              <a:t>guidelines</a:t>
            </a:r>
            <a:r>
              <a:rPr lang="en-US" dirty="0" smtClean="0"/>
              <a:t> for acceptable performance</a:t>
            </a:r>
          </a:p>
          <a:p>
            <a:endParaRPr lang="en-US" dirty="0" smtClean="0"/>
          </a:p>
          <a:p>
            <a:r>
              <a:rPr lang="en-US" dirty="0" smtClean="0"/>
              <a:t>Such guidelines are based upon test scenarios</a:t>
            </a:r>
          </a:p>
          <a:p>
            <a:pPr lvl="2"/>
            <a:r>
              <a:rPr lang="en-US" dirty="0" smtClean="0"/>
              <a:t>1 thru 1 Database Server</a:t>
            </a:r>
          </a:p>
          <a:p>
            <a:pPr lvl="2"/>
            <a:r>
              <a:rPr lang="en-US" dirty="0" smtClean="0"/>
              <a:t>1 thru 8 Web Servers</a:t>
            </a:r>
          </a:p>
          <a:p>
            <a:pPr lvl="2"/>
            <a:r>
              <a:rPr lang="en-US" sz="1600" dirty="0" smtClean="0"/>
              <a:t>Team Sites (55%), Doc Workspace (20%), Meeting Workspace (10%), Blog (10%), Wiki (5%)</a:t>
            </a:r>
          </a:p>
          <a:p>
            <a:pPr lvl="2"/>
            <a:r>
              <a:rPr lang="en-US" dirty="0" smtClean="0"/>
              <a:t>Other scenarios coming soon</a:t>
            </a:r>
          </a:p>
          <a:p>
            <a:pPr lvl="2"/>
            <a:r>
              <a:rPr lang="en-US" dirty="0" smtClean="0"/>
              <a:t>Often refined based on customer deployments</a:t>
            </a:r>
          </a:p>
          <a:p>
            <a:endParaRPr lang="en-GB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 smtClean="0"/>
              <a:t>Logical Architecture "Magic Numbers"</a:t>
            </a:r>
            <a:endParaRPr lang="en-GB" sz="3600" dirty="0"/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1828800"/>
          <a:ext cx="8229600" cy="3474720"/>
        </p:xfrm>
        <a:graphic>
          <a:graphicData uri="http://schemas.openxmlformats.org/drawingml/2006/table">
            <a:tbl>
              <a:tblPr firstRow="1">
                <a:tableStyleId>{638B1855-1B75-4FBE-930C-398BA8C253C6}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Logical architecture object 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Guidelines for acceptable performance </a:t>
                      </a:r>
                      <a:endParaRPr lang="en-GB" b="1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Shared Services Provider (SSP)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dirty="0"/>
                        <a:t>3 per farm (20 per farm maximum)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Zone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5* per farm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Web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99 per SSP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fr-FR" dirty="0"/>
                        <a:t>Internet Information Services (IIS) application pool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8 per Web server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Site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50,000 per Web application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Content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/>
                        <a:t>100 per Web application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dirty="0"/>
                        <a:t>Site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dirty="0"/>
                        <a:t>50,000 per database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“Magic Numbers”</a:t>
            </a:r>
            <a:endParaRPr lang="en-GB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04800" y="1417323"/>
          <a:ext cx="8519160" cy="4970689"/>
        </p:xfrm>
        <a:graphic>
          <a:graphicData uri="http://schemas.openxmlformats.org/drawingml/2006/table">
            <a:tbl>
              <a:tblPr firstRow="1">
                <a:tableStyleId>{638B1855-1B75-4FBE-930C-398BA8C253C6}</a:tableStyleId>
              </a:tblPr>
              <a:tblGrid>
                <a:gridCol w="2839720"/>
                <a:gridCol w="2839720"/>
                <a:gridCol w="2839720"/>
              </a:tblGrid>
              <a:tr h="670201">
                <a:tc>
                  <a:txBody>
                    <a:bodyPr/>
                    <a:lstStyle/>
                    <a:p>
                      <a:r>
                        <a:rPr lang="en-GB" sz="1400" dirty="0"/>
                        <a:t>Site object </a:t>
                      </a:r>
                      <a:endParaRPr lang="en-GB" sz="1400" b="1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Guidelines for acceptable performance </a:t>
                      </a:r>
                      <a:endParaRPr lang="en-GB" sz="1400" b="1" i="0" baseline="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GB" sz="1400" baseline="0" dirty="0"/>
                        <a:t>Scope of impact when performance degrades </a:t>
                      </a:r>
                      <a:endParaRPr lang="en-GB" sz="1400" b="1" i="0" baseline="0" dirty="0"/>
                    </a:p>
                  </a:txBody>
                  <a:tcPr marL="45720" marR="45720" anchor="ctr"/>
                </a:tc>
              </a:tr>
              <a:tr h="3608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Site collection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50,000 per content database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Farm</a:t>
                      </a:r>
                    </a:p>
                  </a:txBody>
                  <a:tcPr marL="48567" marR="48567" marT="24284" marB="24284" anchor="ctr"/>
                </a:tc>
              </a:tr>
              <a:tr h="3608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Site collection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150,000 per Web application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Farm</a:t>
                      </a:r>
                    </a:p>
                  </a:txBody>
                  <a:tcPr marL="48567" marR="48567" marT="24284" marB="24284" anchor="ctr"/>
                </a:tc>
              </a:tr>
              <a:tr h="3608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Web site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250,000 per site collection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Site collection</a:t>
                      </a:r>
                    </a:p>
                  </a:txBody>
                  <a:tcPr marL="48567" marR="48567" marT="24284" marB="24284" anchor="ctr"/>
                </a:tc>
              </a:tr>
              <a:tr h="3608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Subsite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2,000 per Web site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Site view</a:t>
                      </a:r>
                    </a:p>
                  </a:txBody>
                  <a:tcPr marL="48567" marR="48567" marT="24284" marB="24284" anchor="ctr"/>
                </a:tc>
              </a:tr>
              <a:tr h="3608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Document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5 million per library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Library</a:t>
                      </a:r>
                    </a:p>
                  </a:txBody>
                  <a:tcPr marL="48567" marR="48567" marT="24284" marB="24284" anchor="ctr"/>
                </a:tc>
              </a:tr>
              <a:tr h="2456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Item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2,000 per view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List view</a:t>
                      </a:r>
                    </a:p>
                  </a:txBody>
                  <a:tcPr marL="48567" marR="48567" marT="24284" marB="24284" anchor="ctr"/>
                </a:tc>
              </a:tr>
              <a:tr h="3608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Document file size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50MB (</a:t>
                      </a:r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2GB max*)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Library, file save performance</a:t>
                      </a:r>
                    </a:p>
                  </a:txBody>
                  <a:tcPr marL="48567" marR="48567" marT="24284" marB="24284" anchor="ctr"/>
                </a:tc>
              </a:tr>
              <a:tr h="3608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List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2,000 per Web site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List view</a:t>
                      </a:r>
                    </a:p>
                  </a:txBody>
                  <a:tcPr marL="48567" marR="48567" marT="24284" marB="24284" anchor="ctr"/>
                </a:tc>
              </a:tr>
              <a:tr h="2456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Field type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256 per list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List view</a:t>
                      </a:r>
                    </a:p>
                  </a:txBody>
                  <a:tcPr marL="48567" marR="48567" marT="24284" marB="24284" anchor="ctr"/>
                </a:tc>
              </a:tr>
              <a:tr h="51553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Column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it-IT" sz="1600" dirty="0"/>
                        <a:t>2,000 per document library</a:t>
                      </a:r>
                    </a:p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it-IT" sz="1600" dirty="0"/>
                        <a:t>4,096 per list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Library and list view</a:t>
                      </a:r>
                    </a:p>
                  </a:txBody>
                  <a:tcPr marL="48567" marR="48567" marT="24284" marB="24284" anchor="ctr"/>
                </a:tc>
              </a:tr>
              <a:tr h="2456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Web Part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50 per page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Page</a:t>
                      </a:r>
                    </a:p>
                  </a:txBody>
                  <a:tcPr marL="48567" marR="48567" marT="24284" marB="24284" anchor="ctr"/>
                </a:tc>
              </a:tr>
              <a:tr h="3608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Managed path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/>
                        <a:t>20 per Web application</a:t>
                      </a:r>
                    </a:p>
                  </a:txBody>
                  <a:tcPr marL="48567" marR="48567" marT="24284" marB="2428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GB" sz="1600" dirty="0"/>
                        <a:t>Web application</a:t>
                      </a:r>
                    </a:p>
                  </a:txBody>
                  <a:tcPr marL="48567" marR="48567" marT="24284" marB="24284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There are NO magic numbers!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8001000" cy="4419600"/>
          </a:xfrm>
        </p:spPr>
        <p:txBody>
          <a:bodyPr/>
          <a:lstStyle/>
          <a:p>
            <a:r>
              <a:rPr lang="en-GB" dirty="0" smtClean="0"/>
              <a:t>Successful Solutions Architecture is basically two things:</a:t>
            </a:r>
          </a:p>
          <a:p>
            <a:pPr lvl="1"/>
            <a:r>
              <a:rPr lang="en-GB" dirty="0" smtClean="0"/>
              <a:t>Compromise</a:t>
            </a:r>
          </a:p>
          <a:p>
            <a:pPr lvl="1"/>
            <a:r>
              <a:rPr lang="en-GB" dirty="0" smtClean="0"/>
              <a:t>Reduction of Complexity</a:t>
            </a:r>
          </a:p>
          <a:p>
            <a:pPr lvl="1"/>
            <a:endParaRPr lang="en-GB" dirty="0" smtClean="0"/>
          </a:p>
          <a:p>
            <a:r>
              <a:rPr lang="en-GB" sz="2000" dirty="0" smtClean="0"/>
              <a:t>Evaluate solution holistically ensuring adequate compromises.</a:t>
            </a:r>
          </a:p>
          <a:p>
            <a:r>
              <a:rPr lang="en-GB" sz="2000" dirty="0" smtClean="0"/>
              <a:t>Test and monitor as you build and deploy your solution.</a:t>
            </a:r>
          </a:p>
          <a:p>
            <a:r>
              <a:rPr lang="en-GB" sz="2000" dirty="0" smtClean="0"/>
              <a:t>Re-design the solution to ensure that you do not exceed capacity guidelines.</a:t>
            </a:r>
          </a:p>
          <a:p>
            <a:endParaRPr lang="en-GB" sz="2000" dirty="0" smtClean="0"/>
          </a:p>
          <a:p>
            <a:r>
              <a:rPr lang="en-GB" dirty="0" smtClean="0"/>
              <a:t>Test, test, test!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5029200"/>
            <a:ext cx="8077200" cy="762000"/>
          </a:xfrm>
        </p:spPr>
        <p:txBody>
          <a:bodyPr/>
          <a:lstStyle/>
          <a:p>
            <a:pPr algn="ctr"/>
            <a:r>
              <a:rPr lang="en-US" sz="3600" dirty="0" smtClean="0"/>
              <a:t>Thank you for attending!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828800"/>
            <a:ext cx="8305800" cy="838200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Post conference DVD with all slide decks</a:t>
            </a:r>
          </a:p>
        </p:txBody>
      </p:sp>
      <p:pic>
        <p:nvPicPr>
          <p:cNvPr id="6" name="Picture 2" descr="http://www.sharepointusergroup.com/NewYork/Images1/echoTechnology%20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3429000"/>
            <a:ext cx="4943475" cy="76954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581400" y="3048000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Sponsored by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 descr="BP_email header_revise cop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21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p white content">
  <a:themeElements>
    <a:clrScheme name="bp white conten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p white conten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80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pitals" pitchFamily="8" charset="0"/>
            <a:ea typeface="ＭＳ Ｐゴシック" pitchFamily="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80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pitals" pitchFamily="8" charset="0"/>
            <a:ea typeface="ＭＳ Ｐゴシック" pitchFamily="8" charset="-128"/>
          </a:defRPr>
        </a:defPPr>
      </a:lstStyle>
    </a:lnDef>
  </a:objectDefaults>
  <a:extraClrSchemeLst>
    <a:extraClrScheme>
      <a:clrScheme name="bp white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p white conten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p white conten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p white conten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p white conten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p white conten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p white conten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p white conten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p white conten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p white conten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p white conten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p white conten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Templates:bp white content.pot</Template>
  <TotalTime>3546</TotalTime>
  <Words>807</Words>
  <PresentationFormat>On-screen Show (4:3)</PresentationFormat>
  <Paragraphs>194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bp white content</vt:lpstr>
      <vt:lpstr>Mythbusters Debunking Common SharePoint  Farm Misconceptions</vt:lpstr>
      <vt:lpstr>Slide 2</vt:lpstr>
      <vt:lpstr>Agenda</vt:lpstr>
      <vt:lpstr>Farm Topologies</vt:lpstr>
      <vt:lpstr>Farm Topologies (Roles)</vt:lpstr>
      <vt:lpstr>Farm Topologies</vt:lpstr>
      <vt:lpstr>FARM TOPOLOGIES</vt:lpstr>
      <vt:lpstr>Shared Services</vt:lpstr>
      <vt:lpstr>Shared Service Providers (SSPs)</vt:lpstr>
      <vt:lpstr>Shared Service Providers (SSPs)</vt:lpstr>
      <vt:lpstr>Shared service providers</vt:lpstr>
      <vt:lpstr>Authentication</vt:lpstr>
      <vt:lpstr>Authentication</vt:lpstr>
      <vt:lpstr>Global Deployments &amp; High Availability</vt:lpstr>
      <vt:lpstr>Global Deployments</vt:lpstr>
      <vt:lpstr>High Availability</vt:lpstr>
      <vt:lpstr>High Availability</vt:lpstr>
      <vt:lpstr>“SharePoint can’t scale”</vt:lpstr>
      <vt:lpstr>“SharePoint can’t scale”</vt:lpstr>
      <vt:lpstr>“SharePoint can’t scale”</vt:lpstr>
      <vt:lpstr>SharePoint “Magic Numbers”</vt:lpstr>
      <vt:lpstr>SharePoint “Magic Numbers”</vt:lpstr>
      <vt:lpstr>SharePoint “Magic Numbers”</vt:lpstr>
      <vt:lpstr>Logical Architecture "Magic Numbers"</vt:lpstr>
      <vt:lpstr>Example “Magic Numbers”</vt:lpstr>
      <vt:lpstr>There are NO magic numbers!</vt:lpstr>
      <vt:lpstr>Thank you for attending!</vt:lpstr>
    </vt:vector>
  </TitlesOfParts>
  <Company>Tripp Agency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Practices Slide Deck</dc:title>
  <dc:creator>Spencer Harbar</dc:creator>
  <cp:lastModifiedBy>Spencer Harbar</cp:lastModifiedBy>
  <cp:revision>126</cp:revision>
  <cp:lastPrinted>2007-11-08T17:20:20Z</cp:lastPrinted>
  <dcterms:modified xsi:type="dcterms:W3CDTF">2009-02-19T15:35:06Z</dcterms:modified>
</cp:coreProperties>
</file>