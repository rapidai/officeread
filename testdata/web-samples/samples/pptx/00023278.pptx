
<file path=[Content_Types].xml><?xml version="1.0" encoding="utf-8"?>
<Types xmlns="http://schemas.openxmlformats.org/package/2006/content-types">
  <Default Extension="rels" ContentType="application/vnd.openxmlformats-package.relationships+xml"/>
  <Override PartName="/ppt/slides/slide14.xml" ContentType="application/vnd.openxmlformats-officedocument.presentationml.slide+xml"/>
  <Override PartName="/ppt/notesSlides/notesSlide16.xml" ContentType="application/vnd.openxmlformats-officedocument.presentationml.notesSlide+xml"/>
  <Default Extension="xml" ContentType="application/xml"/>
  <Override PartName="/ppt/tableStyles.xml" ContentType="application/vnd.openxmlformats-officedocument.presentationml.tableStyles+xml"/>
  <Override PartName="/ppt/notesSlides/notesSlide31.xml" ContentType="application/vnd.openxmlformats-officedocument.presentationml.notesSlide+xml"/>
  <Override PartName="/ppt/notesSlides/notesSlide1.xml" ContentType="application/vnd.openxmlformats-officedocument.presentationml.notesSlide+xml"/>
  <Override PartName="/ppt/slideLayouts/slideLayout16.xml" ContentType="application/vnd.openxmlformats-officedocument.presentationml.slideLayout+xml"/>
  <Override PartName="/ppt/slides/slide28.xml" ContentType="application/vnd.openxmlformats-officedocument.presentationml.slide+xml"/>
  <Override PartName="/ppt/slides/slide21.xml" ContentType="application/vnd.openxmlformats-officedocument.presentationml.slide+xml"/>
  <Override PartName="/ppt/notesSlides/notesSlide23.xml" ContentType="application/vnd.openxmlformats-officedocument.presentationml.notesSlide+xml"/>
  <Override PartName="/ppt/slides/slide5.xml" ContentType="application/vnd.openxmlformats-officedocument.presentationml.slide+xml"/>
  <Override PartName="/ppt/theme/themeOverride2.xml" ContentType="application/vnd.openxmlformats-officedocument.themeOverride+xml"/>
  <Override PartName="/ppt/notesSlides/notesSlide9.xml" ContentType="application/vnd.openxmlformats-officedocument.presentationml.notesSlide+xml"/>
  <Override PartName="/ppt/slideLayouts/slideLayout5.xml" ContentType="application/vnd.openxmlformats-officedocument.presentationml.slideLayout+xml"/>
  <Override PartName="/ppt/slides/slide30.xml" ContentType="application/vnd.openxmlformats-officedocument.presentationml.slide+xml"/>
  <Override PartName="/ppt/slides/slide13.xml" ContentType="application/vnd.openxmlformats-officedocument.presentationml.slide+xml"/>
  <Override PartName="/ppt/slideMasters/slideMaster1.xml" ContentType="application/vnd.openxmlformats-officedocument.presentationml.slideMaster+xml"/>
  <Override PartName="/ppt/notesSlides/notesSlide15.xml" ContentType="application/vnd.openxmlformats-officedocument.presentationml.notesSlide+xml"/>
  <Override PartName="/docProps/core.xml" ContentType="application/vnd.openxmlformats-package.core-properties+xml"/>
  <Override PartName="/ppt/notesSlides/notesSlide7.xml" ContentType="application/vnd.openxmlformats-officedocument.presentationml.notesSlide+xml"/>
  <Override PartName="/ppt/notesSlides/notesSlide30.xml" ContentType="application/vnd.openxmlformats-officedocument.presentationml.notesSlide+xml"/>
  <Override PartName="/ppt/handoutMasters/handoutMaster1.xml" ContentType="application/vnd.openxmlformats-officedocument.presentationml.handoutMaster+xml"/>
  <Override PartName="/ppt/slideLayouts/slideLayout15.xml" ContentType="application/vnd.openxmlformats-officedocument.presentationml.slideLayout+xml"/>
  <Override PartName="/ppt/slides/slide27.xml" ContentType="application/vnd.openxmlformats-officedocument.presentationml.slide+xml"/>
  <Override PartName="/ppt/charts/chart4.xml" ContentType="application/vnd.openxmlformats-officedocument.drawingml.chart+xml"/>
  <Override PartName="/ppt/notesSlides/notesSlide29.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slides/slide4.xml" ContentType="application/vnd.openxmlformats-officedocument.presentationml.slide+xml"/>
  <Override PartName="/ppt/theme/themeOverride1.xml" ContentType="application/vnd.openxmlformats-officedocument.themeOverride+xml"/>
  <Override PartName="/ppt/slides/slide19.xml" ContentType="application/vnd.openxmlformats-officedocument.presentationml.slide+xml"/>
  <Override PartName="/ppt/notesSlides/notesSlide8.xml" ContentType="application/vnd.openxmlformats-officedocument.presentationml.notesSlide+xml"/>
  <Default Extension="png" ContentType="image/png"/>
  <Override PartName="/ppt/slideLayouts/slideLayout4.xml" ContentType="application/vnd.openxmlformats-officedocument.presentationml.slideLayout+xml"/>
  <Override PartName="/ppt/slides/slide12.xml" ContentType="application/vnd.openxmlformats-officedocument.presentationml.slide+xml"/>
  <Override PartName="/ppt/notesSlides/notesSlide14.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slides/slide26.xml" ContentType="application/vnd.openxmlformats-officedocument.presentationml.slide+xml"/>
  <Override PartName="/ppt/slideLayouts/slideLayout14.xml" ContentType="application/vnd.openxmlformats-officedocument.presentationml.slideLayout+xml"/>
  <Override PartName="/ppt/charts/chart3.xml" ContentType="application/vnd.openxmlformats-officedocument.drawingml.chart+xml"/>
  <Override PartName="/ppt/notesSlides/notesSlide28.xml" ContentType="application/vnd.openxmlformats-officedocument.presentationml.notesSlide+xml"/>
  <Override PartName="/ppt/slides/slide35.xml" ContentType="application/vnd.openxmlformats-officedocument.presentationml.slide+xml"/>
  <Override PartName="/ppt/notesSlides/notesSlide21.xml" ContentType="application/vnd.openxmlformats-officedocument.presentationml.notesSlide+xml"/>
  <Override PartName="/ppt/slides/slide3.xml" ContentType="application/vnd.openxmlformats-officedocument.presentationml.slide+xml"/>
  <Override PartName="/ppt/slides/slide18.xml" ContentType="application/vnd.openxmlformats-officedocument.presentationml.slide+xml"/>
  <Override PartName="/ppt/slideLayouts/slideLayout3.xml" ContentType="application/vnd.openxmlformats-officedocument.presentationml.slideLayout+xml"/>
  <Override PartName="/ppt/slides/slide11.xml" ContentType="application/vnd.openxmlformats-officedocument.presentationml.slide+xml"/>
  <Override PartName="/ppt/notesSlides/notesSlide13.xml" ContentType="application/vnd.openxmlformats-officedocument.presentationml.notesSlide+xml"/>
  <Override PartName="/ppt/notesSlides/notesSlide35.xml" ContentType="application/vnd.openxmlformats-officedocument.presentationml.notesSlide+xml"/>
  <Override PartName="/ppt/notesSlides/notesSlide5.xml" ContentType="application/vnd.openxmlformats-officedocument.presentationml.notesSlide+xml"/>
  <Override PartName="/ppt/slideLayouts/slideLayout13.xml" ContentType="application/vnd.openxmlformats-officedocument.presentationml.slideLayout+xml"/>
  <Override PartName="/ppt/charts/chart2.xml" ContentType="application/vnd.openxmlformats-officedocument.drawingml.chart+xml"/>
  <Override PartName="/ppt/slides/slide25.xml" ContentType="application/vnd.openxmlformats-officedocument.presentationml.slide+xml"/>
  <Override PartName="/ppt/slides/slide9.xml" ContentType="application/vnd.openxmlformats-officedocument.presentationml.slide+xml"/>
  <Override PartName="/ppt/notesSlides/notesSlide27.xml" ContentType="application/vnd.openxmlformats-officedocument.presentationml.notesSlide+xml"/>
  <Override PartName="/ppt/slideLayouts/slideLayout9.xml" ContentType="application/vnd.openxmlformats-officedocument.presentationml.slideLayout+xml"/>
  <Override PartName="/ppt/slides/slide34.xml" ContentType="application/vnd.openxmlformats-officedocument.presentationml.slide+xml"/>
  <Override PartName="/ppt/notesSlides/notesSlide20.xml" ContentType="application/vnd.openxmlformats-officedocument.presentationml.notesSlide+xml"/>
  <Override PartName="/ppt/slides/slide2.xml" ContentType="application/vnd.openxmlformats-officedocument.presentationml.slide+xml"/>
  <Override PartName="/ppt/slideLayouts/slideLayout2.xml" ContentType="application/vnd.openxmlformats-officedocument.presentationml.slideLayout+xml"/>
  <Override PartName="/ppt/slides/slide17.xml" ContentType="application/vnd.openxmlformats-officedocument.presentationml.slide+xml"/>
  <Override PartName="/ppt/notesSlides/notesSlide19.xml" ContentType="application/vnd.openxmlformats-officedocument.presentationml.notesSlide+xml"/>
  <Override PartName="/ppt/slides/slide10.xml" ContentType="application/vnd.openxmlformats-officedocument.presentationml.slide+xml"/>
  <Override PartName="/ppt/notesSlides/notesSlide12.xml" ContentType="application/vnd.openxmlformats-officedocument.presentationml.notesSlide+xml"/>
  <Override PartName="/docProps/app.xml" ContentType="application/vnd.openxmlformats-officedocument.extended-properties+xml"/>
  <Override PartName="/ppt/notesSlides/notesSlide34.xml" ContentType="application/vnd.openxmlformats-officedocument.presentationml.notesSlide+xml"/>
  <Override PartName="/ppt/notesSlides/notesSlide4.xml" ContentType="application/vnd.openxmlformats-officedocument.presentationml.notesSlide+xml"/>
  <Override PartName="/ppt/theme/theme3.xml" ContentType="application/vnd.openxmlformats-officedocument.theme+xml"/>
  <Override PartName="/ppt/slideLayouts/slideLayout12.xml" ContentType="application/vnd.openxmlformats-officedocument.presentationml.slideLayout+xml"/>
  <Override PartName="/ppt/charts/chart1.xml" ContentType="application/vnd.openxmlformats-officedocument.drawingml.chart+xml"/>
  <Override PartName="/ppt/slides/slide24.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slideLayouts/slideLayout8.xml" ContentType="application/vnd.openxmlformats-officedocument.presentationml.slideLayout+xml"/>
  <Override PartName="/ppt/slides/slide33.xml" ContentType="application/vnd.openxmlformats-officedocument.presentationml.slide+xml"/>
  <Override PartName="/ppt/notesSlides/notesSlide26.xml" ContentType="application/vnd.openxmlformats-officedocument.presentationml.notesSlide+xml"/>
  <Override PartName="/ppt/slides/slide1.xml" ContentType="application/vnd.openxmlformats-officedocument.presentationml.slide+xml"/>
  <Override PartName="/ppt/slideLayouts/slideLayout1.xml" ContentType="application/vnd.openxmlformats-officedocument.presentationml.slideLayout+xml"/>
  <Override PartName="/ppt/slides/slide16.xml" ContentType="application/vnd.openxmlformats-officedocument.presentationml.slide+xml"/>
  <Override PartName="/ppt/notesSlides/notesSlide18.xml" ContentType="application/vnd.openxmlformats-officedocument.presentationml.notesSlide+xml"/>
  <Default Extension="jpeg" ContentType="image/jpeg"/>
  <Override PartName="/ppt/viewProps.xml" ContentType="application/vnd.openxmlformats-officedocument.presentationml.viewProps+xml"/>
  <Override PartName="/ppt/notesSlides/notesSlide11.xml" ContentType="application/vnd.openxmlformats-officedocument.presentationml.notesSlide+xml"/>
  <Override PartName="/ppt/notesSlides/notesSlide33.xml" ContentType="application/vnd.openxmlformats-officedocument.presentationml.notesSlide+xml"/>
  <Override PartName="/ppt/notesSlides/notesSlide3.xml" ContentType="application/vnd.openxmlformats-officedocument.presentationml.notesSlide+xml"/>
  <Override PartName="/ppt/theme/theme2.xml" ContentType="application/vnd.openxmlformats-officedocument.theme+xml"/>
  <Override PartName="/ppt/slideLayouts/slideLayout11.xml" ContentType="application/vnd.openxmlformats-officedocument.presentationml.slideLayout+xml"/>
  <Override PartName="/ppt/slides/slide23.xml" ContentType="application/vnd.openxmlformats-officedocument.presentationml.slide+xml"/>
  <Override PartName="/ppt/notesSlides/notesSlide25.xml" ContentType="application/vnd.openxmlformats-officedocument.presentationml.notesSlide+xml"/>
  <Override PartName="/ppt/slides/slide7.xml" ContentType="application/vnd.openxmlformats-officedocument.presentationml.slide+xml"/>
  <Override PartName="/ppt/slideLayouts/slideLayout7.xml" ContentType="application/vnd.openxmlformats-officedocument.presentationml.slideLayout+xml"/>
  <Override PartName="/ppt/slides/slide32.xml" ContentType="application/vnd.openxmlformats-officedocument.presentationml.slide+xml"/>
  <Override PartName="/ppt/notesMasters/notesMaster1.xml" ContentType="application/vnd.openxmlformats-officedocument.presentationml.notesMaster+xml"/>
  <Override PartName="/ppt/slides/slide15.xml" ContentType="application/vnd.openxmlformats-officedocument.presentationml.slide+xml"/>
  <Override PartName="/ppt/notesSlides/notesSlide17.xml" ContentType="application/vnd.openxmlformats-officedocument.presentationml.notesSlide+xml"/>
  <Override PartName="/ppt/notesSlides/notesSlide32.xml" ContentType="application/vnd.openxmlformats-officedocument.presentationml.notesSlide+xml"/>
  <Override PartName="/ppt/notesSlides/notesSlide2.xml" ContentType="application/vnd.openxmlformats-officedocument.presentationml.notesSlide+xml"/>
  <Override PartName="/ppt/slides/slide29.xml" ContentType="application/vnd.openxmlformats-officedocument.presentationml.slide+xml"/>
  <Override PartName="/ppt/theme/theme1.xml" ContentType="application/vnd.openxmlformats-officedocument.theme+xml"/>
  <Override PartName="/ppt/slides/slide22.xml" ContentType="application/vnd.openxmlformats-officedocument.presentationml.slide+xml"/>
  <Override PartName="/ppt/presentation.xml" ContentType="application/vnd.openxmlformats-officedocument.presentationml.presentation.main+xml"/>
  <Override PartName="/ppt/slideLayouts/slideLayout10.xml" ContentType="application/vnd.openxmlformats-officedocument.presentationml.slideLayout+xml"/>
  <Override PartName="/ppt/slides/slide6.xml" ContentType="application/vnd.openxmlformats-officedocument.presentationml.slide+xml"/>
  <Default Extension="bin" ContentType="application/vnd.openxmlformats-officedocument.presentationml.printerSettings"/>
  <Override PartName="/ppt/slideLayouts/slideLayout6.xml" ContentType="application/vnd.openxmlformats-officedocument.presentationml.slideLayout+xml"/>
  <Override PartName="/ppt/slides/slide31.xml" ContentType="application/vnd.openxmlformats-officedocument.presentationml.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672" r:id="rId1"/>
  </p:sldMasterIdLst>
  <p:notesMasterIdLst>
    <p:notesMasterId r:id="rId37"/>
  </p:notesMasterIdLst>
  <p:handoutMasterIdLst>
    <p:handoutMasterId r:id="rId38"/>
  </p:handoutMasterIdLst>
  <p:sldIdLst>
    <p:sldId id="259" r:id="rId2"/>
    <p:sldId id="312" r:id="rId3"/>
    <p:sldId id="313" r:id="rId4"/>
    <p:sldId id="314" r:id="rId5"/>
    <p:sldId id="315" r:id="rId6"/>
    <p:sldId id="317" r:id="rId7"/>
    <p:sldId id="357" r:id="rId8"/>
    <p:sldId id="358" r:id="rId9"/>
    <p:sldId id="359" r:id="rId10"/>
    <p:sldId id="326" r:id="rId11"/>
    <p:sldId id="328" r:id="rId12"/>
    <p:sldId id="330" r:id="rId13"/>
    <p:sldId id="361" r:id="rId14"/>
    <p:sldId id="331" r:id="rId15"/>
    <p:sldId id="333" r:id="rId16"/>
    <p:sldId id="334" r:id="rId17"/>
    <p:sldId id="335" r:id="rId18"/>
    <p:sldId id="336" r:id="rId19"/>
    <p:sldId id="340" r:id="rId20"/>
    <p:sldId id="337" r:id="rId21"/>
    <p:sldId id="338" r:id="rId22"/>
    <p:sldId id="339" r:id="rId23"/>
    <p:sldId id="342" r:id="rId24"/>
    <p:sldId id="344" r:id="rId25"/>
    <p:sldId id="356" r:id="rId26"/>
    <p:sldId id="347" r:id="rId27"/>
    <p:sldId id="348" r:id="rId28"/>
    <p:sldId id="349" r:id="rId29"/>
    <p:sldId id="350" r:id="rId30"/>
    <p:sldId id="354" r:id="rId31"/>
    <p:sldId id="362" r:id="rId32"/>
    <p:sldId id="353" r:id="rId33"/>
    <p:sldId id="355" r:id="rId34"/>
    <p:sldId id="351" r:id="rId35"/>
    <p:sldId id="363" r:id="rId36"/>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mn-ea"/>
        <a:cs typeface="+mn-cs"/>
      </a:defRPr>
    </a:lvl1pPr>
    <a:lvl2pPr marL="457200" algn="l" defTabSz="457200" rtl="0" fontAlgn="base">
      <a:spcBef>
        <a:spcPct val="0"/>
      </a:spcBef>
      <a:spcAft>
        <a:spcPct val="0"/>
      </a:spcAft>
      <a:defRPr kern="1200">
        <a:solidFill>
          <a:schemeClr val="tx1"/>
        </a:solidFill>
        <a:latin typeface="Arial" charset="0"/>
        <a:ea typeface="+mn-ea"/>
        <a:cs typeface="+mn-cs"/>
      </a:defRPr>
    </a:lvl2pPr>
    <a:lvl3pPr marL="914400" algn="l" defTabSz="457200" rtl="0" fontAlgn="base">
      <a:spcBef>
        <a:spcPct val="0"/>
      </a:spcBef>
      <a:spcAft>
        <a:spcPct val="0"/>
      </a:spcAft>
      <a:defRPr kern="1200">
        <a:solidFill>
          <a:schemeClr val="tx1"/>
        </a:solidFill>
        <a:latin typeface="Arial" charset="0"/>
        <a:ea typeface="+mn-ea"/>
        <a:cs typeface="+mn-cs"/>
      </a:defRPr>
    </a:lvl3pPr>
    <a:lvl4pPr marL="1371600" algn="l" defTabSz="457200" rtl="0" fontAlgn="base">
      <a:spcBef>
        <a:spcPct val="0"/>
      </a:spcBef>
      <a:spcAft>
        <a:spcPct val="0"/>
      </a:spcAft>
      <a:defRPr kern="1200">
        <a:solidFill>
          <a:schemeClr val="tx1"/>
        </a:solidFill>
        <a:latin typeface="Arial" charset="0"/>
        <a:ea typeface="+mn-ea"/>
        <a:cs typeface="+mn-cs"/>
      </a:defRPr>
    </a:lvl4pPr>
    <a:lvl5pPr marL="1828800" algn="l" defTabSz="457200"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prnPr clrMode="gray"/>
  <p:clrMru>
    <a:srgbClr val="9DF6FF"/>
    <a:srgbClr val="6BE0FF"/>
    <a:srgbClr val="FFC836"/>
    <a:srgbClr val="FFB800"/>
  </p:clrMru>
  <p:extLst>
    <p:ext uri="{E76CE94A-603C-4142-B9EB-6D1370010A27}">
      <p14:discardImageEditData xmlns:p14="http://schemas.microsoft.com/office/powerpoint/2010/main" xmlns:p="http://schemas.openxmlformats.org/presentationml/2006/main" xmlns:r="http://schemas.openxmlformats.org/officeDocument/2006/relationships" xmlns:a="http://schemas.openxmlformats.org/drawingml/2006/main" xmlns="" val="0"/>
    </p:ext>
    <p:ext uri="{D31A062A-798A-4329-ABDD-BBA856620510}">
      <p14:defaultImageDpi xmlns:p14="http://schemas.microsoft.com/office/powerpoint/2010/main" xmlns:p="http://schemas.openxmlformats.org/presentationml/2006/main" xmlns:r="http://schemas.openxmlformats.org/officeDocument/2006/relationships" xmlns:a="http://schemas.openxmlformats.org/drawingml/2006/main" xmlns=""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5629" autoAdjust="0"/>
    <p:restoredTop sz="78253" autoAdjust="0"/>
  </p:normalViewPr>
  <p:slideViewPr>
    <p:cSldViewPr snapToGrid="0" snapToObjects="1">
      <p:cViewPr varScale="1">
        <p:scale>
          <a:sx n="75" d="100"/>
          <a:sy n="75" d="100"/>
        </p:scale>
        <p:origin x="-1200" y="-112"/>
      </p:cViewPr>
      <p:guideLst>
        <p:guide orient="horz" pos="2160"/>
        <p:guide pos="56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notesMaster" Target="notesMasters/notesMaster1.xml"/><Relationship Id="rId38" Type="http://schemas.openxmlformats.org/officeDocument/2006/relationships/handoutMaster" Target="handoutMasters/handoutMaster1.xml"/><Relationship Id="rId39" Type="http://schemas.openxmlformats.org/officeDocument/2006/relationships/printerSettings" Target="printerSettings/printerSettings1.bin"/><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C:\Documents%20and%20Settings\healy\Local%20Settings\Temp\1.1.3.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Documents%20and%20Settings\healy\My%20Documents\NetZero_Program\Presentations\KeepingLightsOn2011\EIA_EnergyReviewData.xlsx" TargetMode="External"/></Relationships>
</file>

<file path=ppt/charts/_rels/chart3.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oleObject" Target="file:///C:\Documents%20and%20Settings\jkneifel\Desktop\NZETF%20Results%20-%20Graphs%20-%20June%202.xlsx" TargetMode="External"/></Relationships>
</file>

<file path=ppt/charts/_rels/chart4.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oleObject" Target="file:///C:\Documents%20and%20Settings\jkneifel\Desktop\NZETF%20Results%20-%20Graphs%20-%20June%20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lang val="en-US"/>
  <c:style val="2"/>
  <c:chart>
    <c:title>
      <c:tx>
        <c:rich>
          <a:bodyPr/>
          <a:lstStyle/>
          <a:p>
            <a:pPr>
              <a:defRPr/>
            </a:pPr>
            <a:r>
              <a:rPr lang="en-US" sz="1200">
                <a:solidFill>
                  <a:srgbClr val="92D050"/>
                </a:solidFill>
              </a:rPr>
              <a:t>Growth in Buildings Energy Use Relative to Other Sectors </a:t>
            </a:r>
          </a:p>
        </c:rich>
      </c:tx>
      <c:layout>
        <c:manualLayout>
          <c:xMode val="edge"/>
          <c:yMode val="edge"/>
          <c:x val="0.106284776902887"/>
          <c:y val="0.02775510382485"/>
        </c:manualLayout>
      </c:layout>
    </c:title>
    <c:plotArea>
      <c:layout/>
      <c:barChart>
        <c:barDir val="col"/>
        <c:grouping val="stacked"/>
        <c:ser>
          <c:idx val="0"/>
          <c:order val="0"/>
          <c:tx>
            <c:strRef>
              <c:f>'1.1.3'!$U$6</c:f>
              <c:strCache>
                <c:ptCount val="1"/>
                <c:pt idx="0">
                  <c:v>Residential</c:v>
                </c:pt>
              </c:strCache>
            </c:strRef>
          </c:tx>
          <c:cat>
            <c:numRef>
              <c:f>'1.1.3'!$T$7:$T$13</c:f>
              <c:numCache>
                <c:formatCode>General</c:formatCode>
                <c:ptCount val="7"/>
                <c:pt idx="0">
                  <c:v>1980.0</c:v>
                </c:pt>
                <c:pt idx="1">
                  <c:v>1985.0</c:v>
                </c:pt>
                <c:pt idx="2">
                  <c:v>1990.0</c:v>
                </c:pt>
                <c:pt idx="3">
                  <c:v>1995.0</c:v>
                </c:pt>
                <c:pt idx="4">
                  <c:v>2000.0</c:v>
                </c:pt>
                <c:pt idx="5">
                  <c:v>2005.0</c:v>
                </c:pt>
                <c:pt idx="6">
                  <c:v>2010.0</c:v>
                </c:pt>
              </c:numCache>
            </c:numRef>
          </c:cat>
          <c:val>
            <c:numRef>
              <c:f>'1.1.3'!$U$7:$U$13</c:f>
              <c:numCache>
                <c:formatCode>General</c:formatCode>
                <c:ptCount val="7"/>
                <c:pt idx="0">
                  <c:v>15.80715998657</c:v>
                </c:pt>
                <c:pt idx="1">
                  <c:v>16.11072456968001</c:v>
                </c:pt>
                <c:pt idx="2">
                  <c:v>17.01709122374</c:v>
                </c:pt>
                <c:pt idx="3">
                  <c:v>18.58134342229</c:v>
                </c:pt>
                <c:pt idx="4">
                  <c:v>20.45599239991999</c:v>
                </c:pt>
                <c:pt idx="5">
                  <c:v>21.67515163723001</c:v>
                </c:pt>
                <c:pt idx="6">
                  <c:v>21.088874</c:v>
                </c:pt>
              </c:numCache>
            </c:numRef>
          </c:val>
        </c:ser>
        <c:ser>
          <c:idx val="1"/>
          <c:order val="1"/>
          <c:tx>
            <c:strRef>
              <c:f>'1.1.3'!$V$6</c:f>
              <c:strCache>
                <c:ptCount val="1"/>
                <c:pt idx="0">
                  <c:v>Commercial</c:v>
                </c:pt>
              </c:strCache>
            </c:strRef>
          </c:tx>
          <c:cat>
            <c:numRef>
              <c:f>'1.1.3'!$T$7:$T$13</c:f>
              <c:numCache>
                <c:formatCode>General</c:formatCode>
                <c:ptCount val="7"/>
                <c:pt idx="0">
                  <c:v>1980.0</c:v>
                </c:pt>
                <c:pt idx="1">
                  <c:v>1985.0</c:v>
                </c:pt>
                <c:pt idx="2">
                  <c:v>1990.0</c:v>
                </c:pt>
                <c:pt idx="3">
                  <c:v>1995.0</c:v>
                </c:pt>
                <c:pt idx="4">
                  <c:v>2000.0</c:v>
                </c:pt>
                <c:pt idx="5">
                  <c:v>2005.0</c:v>
                </c:pt>
                <c:pt idx="6">
                  <c:v>2010.0</c:v>
                </c:pt>
              </c:numCache>
            </c:numRef>
          </c:cat>
          <c:val>
            <c:numRef>
              <c:f>'1.1.3'!$V$7:$V$13</c:f>
              <c:numCache>
                <c:formatCode>General</c:formatCode>
                <c:ptCount val="7"/>
                <c:pt idx="0">
                  <c:v>10.62145643432</c:v>
                </c:pt>
                <c:pt idx="1">
                  <c:v>11.51132191464</c:v>
                </c:pt>
                <c:pt idx="2">
                  <c:v>13.38553869832001</c:v>
                </c:pt>
                <c:pt idx="3">
                  <c:v>14.75457207345</c:v>
                </c:pt>
                <c:pt idx="4">
                  <c:v>17.22096961832</c:v>
                </c:pt>
                <c:pt idx="5">
                  <c:v>17.91989739242</c:v>
                </c:pt>
                <c:pt idx="6">
                  <c:v>18.178273</c:v>
                </c:pt>
              </c:numCache>
            </c:numRef>
          </c:val>
        </c:ser>
        <c:dLbls/>
        <c:overlap val="100"/>
        <c:axId val="585329512"/>
        <c:axId val="70061208"/>
      </c:barChart>
      <c:lineChart>
        <c:grouping val="standard"/>
        <c:ser>
          <c:idx val="3"/>
          <c:order val="2"/>
          <c:tx>
            <c:strRef>
              <c:f>'1.1.3'!$X$6</c:f>
              <c:strCache>
                <c:ptCount val="1"/>
                <c:pt idx="0">
                  <c:v>Buildings Total</c:v>
                </c:pt>
              </c:strCache>
            </c:strRef>
          </c:tx>
          <c:marker>
            <c:symbol val="diamond"/>
            <c:size val="7"/>
          </c:marker>
          <c:val>
            <c:numRef>
              <c:f>'1.1.3'!$X$7:$X$13</c:f>
              <c:numCache>
                <c:formatCode>General</c:formatCode>
                <c:ptCount val="7"/>
                <c:pt idx="0">
                  <c:v>26.42861642089</c:v>
                </c:pt>
                <c:pt idx="1">
                  <c:v>27.62204648431999</c:v>
                </c:pt>
                <c:pt idx="2">
                  <c:v>30.40262992205998</c:v>
                </c:pt>
                <c:pt idx="3">
                  <c:v>33.33591549574</c:v>
                </c:pt>
                <c:pt idx="4">
                  <c:v>37.67696201824</c:v>
                </c:pt>
                <c:pt idx="5">
                  <c:v>39.59504902965</c:v>
                </c:pt>
                <c:pt idx="6">
                  <c:v>39.267147</c:v>
                </c:pt>
              </c:numCache>
            </c:numRef>
          </c:val>
        </c:ser>
        <c:ser>
          <c:idx val="2"/>
          <c:order val="3"/>
          <c:tx>
            <c:strRef>
              <c:f>'1.1.3'!$W$6</c:f>
              <c:strCache>
                <c:ptCount val="1"/>
                <c:pt idx="0">
                  <c:v>Industrial</c:v>
                </c:pt>
              </c:strCache>
            </c:strRef>
          </c:tx>
          <c:marker>
            <c:symbol val="diamond"/>
            <c:size val="7"/>
          </c:marker>
          <c:val>
            <c:numRef>
              <c:f>'1.1.3'!$W$7:$W$13</c:f>
              <c:numCache>
                <c:formatCode>General</c:formatCode>
                <c:ptCount val="7"/>
                <c:pt idx="0">
                  <c:v>32.17601247922001</c:v>
                </c:pt>
                <c:pt idx="1">
                  <c:v>28.98101923688998</c:v>
                </c:pt>
                <c:pt idx="2">
                  <c:v>31.96607606887</c:v>
                </c:pt>
                <c:pt idx="3">
                  <c:v>34.15401491406001</c:v>
                </c:pt>
                <c:pt idx="4">
                  <c:v>34.72439535238001</c:v>
                </c:pt>
                <c:pt idx="5">
                  <c:v>32.56083678278</c:v>
                </c:pt>
                <c:pt idx="6">
                  <c:v>28.28562899999999</c:v>
                </c:pt>
              </c:numCache>
            </c:numRef>
          </c:val>
        </c:ser>
        <c:ser>
          <c:idx val="4"/>
          <c:order val="4"/>
          <c:tx>
            <c:strRef>
              <c:f>'1.1.3'!$Y$6</c:f>
              <c:strCache>
                <c:ptCount val="1"/>
                <c:pt idx="0">
                  <c:v>Transportation</c:v>
                </c:pt>
              </c:strCache>
            </c:strRef>
          </c:tx>
          <c:marker>
            <c:symbol val="diamond"/>
            <c:size val="7"/>
          </c:marker>
          <c:val>
            <c:numRef>
              <c:f>'1.1.3'!$Y$7:$Y$13</c:f>
              <c:numCache>
                <c:formatCode>General</c:formatCode>
                <c:ptCount val="7"/>
                <c:pt idx="0">
                  <c:v>19.69616706374</c:v>
                </c:pt>
                <c:pt idx="1">
                  <c:v>20.0888759005</c:v>
                </c:pt>
                <c:pt idx="2">
                  <c:v>22.42298697896998</c:v>
                </c:pt>
                <c:pt idx="3">
                  <c:v>23.96771190778998</c:v>
                </c:pt>
                <c:pt idx="4">
                  <c:v>26.68957072544</c:v>
                </c:pt>
                <c:pt idx="5">
                  <c:v>28.68732319191999</c:v>
                </c:pt>
                <c:pt idx="6">
                  <c:v>27.275152</c:v>
                </c:pt>
              </c:numCache>
            </c:numRef>
          </c:val>
        </c:ser>
        <c:dLbls/>
        <c:marker val="1"/>
        <c:axId val="585329512"/>
        <c:axId val="70061208"/>
      </c:lineChart>
      <c:catAx>
        <c:axId val="585329512"/>
        <c:scaling>
          <c:orientation val="minMax"/>
        </c:scaling>
        <c:axPos val="b"/>
        <c:majorGridlines/>
        <c:title>
          <c:tx>
            <c:rich>
              <a:bodyPr/>
              <a:lstStyle/>
              <a:p>
                <a:pPr>
                  <a:defRPr/>
                </a:pPr>
                <a:r>
                  <a:rPr lang="en-US"/>
                  <a:t>Year</a:t>
                </a:r>
              </a:p>
            </c:rich>
          </c:tx>
          <c:layout/>
        </c:title>
        <c:numFmt formatCode="General" sourceLinked="1"/>
        <c:tickLblPos val="nextTo"/>
        <c:crossAx val="70061208"/>
        <c:crosses val="autoZero"/>
        <c:auto val="1"/>
        <c:lblAlgn val="ctr"/>
        <c:lblOffset val="100"/>
      </c:catAx>
      <c:valAx>
        <c:axId val="70061208"/>
        <c:scaling>
          <c:orientation val="minMax"/>
        </c:scaling>
        <c:axPos val="l"/>
        <c:majorGridlines/>
        <c:title>
          <c:tx>
            <c:rich>
              <a:bodyPr rot="-5400000" vert="horz"/>
              <a:lstStyle/>
              <a:p>
                <a:pPr>
                  <a:defRPr/>
                </a:pPr>
                <a:r>
                  <a:rPr lang="en-US"/>
                  <a:t>Quads</a:t>
                </a:r>
              </a:p>
            </c:rich>
          </c:tx>
          <c:layout/>
        </c:title>
        <c:numFmt formatCode="General" sourceLinked="1"/>
        <c:tickLblPos val="nextTo"/>
        <c:crossAx val="585329512"/>
        <c:crosses val="autoZero"/>
        <c:crossBetween val="between"/>
      </c:valAx>
      <c:spPr>
        <a:ln cap="rnd"/>
      </c:spPr>
    </c:plotArea>
    <c:legend>
      <c:legendPos val="r"/>
      <c:layout/>
    </c:legend>
    <c:plotVisOnly val="1"/>
    <c:dispBlanksAs val="gap"/>
  </c:chart>
  <c:spPr>
    <a:solidFill>
      <a:sysClr val="window" lastClr="FFFFFF"/>
    </a:solidFill>
  </c:spPr>
  <c:txPr>
    <a:bodyPr/>
    <a:lstStyle/>
    <a:p>
      <a:pPr>
        <a:defRPr baseline="0">
          <a:latin typeface="Arial" pitchFamily="34" charset="0"/>
        </a:defRPr>
      </a:pPr>
      <a:endParaRPr lang="en-US"/>
    </a:p>
  </c:txPr>
  <c:externalData r:id="rId1"/>
</c:chartSpace>
</file>

<file path=ppt/charts/chart2.xml><?xml version="1.0" encoding="utf-8"?>
<c:chartSpace xmlns:c="http://schemas.openxmlformats.org/drawingml/2006/chart" xmlns:a="http://schemas.openxmlformats.org/drawingml/2006/main" xmlns:r="http://schemas.openxmlformats.org/officeDocument/2006/relationships">
  <c:lang val="en-US"/>
  <c:style val="2"/>
  <c:chart>
    <c:plotArea>
      <c:layout/>
      <c:barChart>
        <c:barDir val="col"/>
        <c:grouping val="clustered"/>
        <c:ser>
          <c:idx val="1"/>
          <c:order val="0"/>
          <c:tx>
            <c:v>Buildings</c:v>
          </c:tx>
          <c:spPr>
            <a:solidFill>
              <a:schemeClr val="accent1"/>
            </a:solidFill>
          </c:spPr>
          <c:cat>
            <c:numRef>
              <c:f>'stb0809'!$R$41:$R$66</c:f>
              <c:numCache>
                <c:formatCode>General</c:formatCode>
                <c:ptCount val="26"/>
                <c:pt idx="0">
                  <c:v>1985.0</c:v>
                </c:pt>
                <c:pt idx="1">
                  <c:v>1986.0</c:v>
                </c:pt>
                <c:pt idx="2">
                  <c:v>1987.0</c:v>
                </c:pt>
                <c:pt idx="3">
                  <c:v>1988.0</c:v>
                </c:pt>
                <c:pt idx="4">
                  <c:v>1989.0</c:v>
                </c:pt>
                <c:pt idx="5">
                  <c:v>1990.0</c:v>
                </c:pt>
                <c:pt idx="6">
                  <c:v>1991.0</c:v>
                </c:pt>
                <c:pt idx="7">
                  <c:v>1992.0</c:v>
                </c:pt>
                <c:pt idx="8">
                  <c:v>1993.0</c:v>
                </c:pt>
                <c:pt idx="9">
                  <c:v>1994.0</c:v>
                </c:pt>
                <c:pt idx="10">
                  <c:v>1995.0</c:v>
                </c:pt>
                <c:pt idx="11">
                  <c:v>1996.0</c:v>
                </c:pt>
                <c:pt idx="12">
                  <c:v>1997.0</c:v>
                </c:pt>
                <c:pt idx="13">
                  <c:v>1998.0</c:v>
                </c:pt>
                <c:pt idx="14">
                  <c:v>1999.0</c:v>
                </c:pt>
                <c:pt idx="15">
                  <c:v>2000.0</c:v>
                </c:pt>
                <c:pt idx="16">
                  <c:v>2001.0</c:v>
                </c:pt>
                <c:pt idx="17">
                  <c:v>2002.0</c:v>
                </c:pt>
                <c:pt idx="18">
                  <c:v>2003.0</c:v>
                </c:pt>
                <c:pt idx="19">
                  <c:v>2004.0</c:v>
                </c:pt>
                <c:pt idx="20">
                  <c:v>2005.0</c:v>
                </c:pt>
                <c:pt idx="21">
                  <c:v>2006.0</c:v>
                </c:pt>
                <c:pt idx="22">
                  <c:v>2007.0</c:v>
                </c:pt>
                <c:pt idx="23">
                  <c:v>2008.0</c:v>
                </c:pt>
                <c:pt idx="24">
                  <c:v>2009.0</c:v>
                </c:pt>
                <c:pt idx="25">
                  <c:v>2010.0</c:v>
                </c:pt>
              </c:numCache>
            </c:numRef>
          </c:cat>
          <c:val>
            <c:numRef>
              <c:f>'stb0809'!$S$41:$S$66</c:f>
              <c:numCache>
                <c:formatCode>#,##0</c:formatCode>
                <c:ptCount val="26"/>
                <c:pt idx="0">
                  <c:v>1483.055235</c:v>
                </c:pt>
                <c:pt idx="1">
                  <c:v>1533.809541</c:v>
                </c:pt>
                <c:pt idx="2">
                  <c:v>1594.476939</c:v>
                </c:pt>
                <c:pt idx="3">
                  <c:v>1676.895422999999</c:v>
                </c:pt>
                <c:pt idx="4">
                  <c:v>1716.380551</c:v>
                </c:pt>
                <c:pt idx="5">
                  <c:v>1762.281805</c:v>
                </c:pt>
                <c:pt idx="6">
                  <c:v>1810.661206</c:v>
                </c:pt>
                <c:pt idx="7">
                  <c:v>1785.945711000001</c:v>
                </c:pt>
                <c:pt idx="8">
                  <c:v>1879.527159</c:v>
                </c:pt>
                <c:pt idx="9">
                  <c:v>1921.587373</c:v>
                </c:pt>
                <c:pt idx="10">
                  <c:v>1995.618718</c:v>
                </c:pt>
                <c:pt idx="11">
                  <c:v>2062.572864</c:v>
                </c:pt>
                <c:pt idx="12">
                  <c:v>2102.506199</c:v>
                </c:pt>
                <c:pt idx="13">
                  <c:v>2208.06604</c:v>
                </c:pt>
                <c:pt idx="14">
                  <c:v>2248.744278</c:v>
                </c:pt>
                <c:pt idx="15">
                  <c:v>2351.793131000001</c:v>
                </c:pt>
                <c:pt idx="16">
                  <c:v>2392.124468999999</c:v>
                </c:pt>
                <c:pt idx="17">
                  <c:v>2469.711182000001</c:v>
                </c:pt>
                <c:pt idx="18">
                  <c:v>2474.551511000001</c:v>
                </c:pt>
                <c:pt idx="19">
                  <c:v>2522.406309</c:v>
                </c:pt>
                <c:pt idx="20">
                  <c:v>2634.306127000001</c:v>
                </c:pt>
                <c:pt idx="21">
                  <c:v>2651.263731</c:v>
                </c:pt>
                <c:pt idx="22">
                  <c:v>2728.556192000001</c:v>
                </c:pt>
                <c:pt idx="23">
                  <c:v>2715.962239</c:v>
                </c:pt>
                <c:pt idx="24">
                  <c:v>2671.642229999999</c:v>
                </c:pt>
                <c:pt idx="25">
                  <c:v>2780.080188</c:v>
                </c:pt>
              </c:numCache>
            </c:numRef>
          </c:val>
        </c:ser>
        <c:ser>
          <c:idx val="2"/>
          <c:order val="1"/>
          <c:tx>
            <c:v>Industry</c:v>
          </c:tx>
          <c:cat>
            <c:numRef>
              <c:f>'stb0809'!$R$41:$R$66</c:f>
              <c:numCache>
                <c:formatCode>General</c:formatCode>
                <c:ptCount val="26"/>
                <c:pt idx="0">
                  <c:v>1985.0</c:v>
                </c:pt>
                <c:pt idx="1">
                  <c:v>1986.0</c:v>
                </c:pt>
                <c:pt idx="2">
                  <c:v>1987.0</c:v>
                </c:pt>
                <c:pt idx="3">
                  <c:v>1988.0</c:v>
                </c:pt>
                <c:pt idx="4">
                  <c:v>1989.0</c:v>
                </c:pt>
                <c:pt idx="5">
                  <c:v>1990.0</c:v>
                </c:pt>
                <c:pt idx="6">
                  <c:v>1991.0</c:v>
                </c:pt>
                <c:pt idx="7">
                  <c:v>1992.0</c:v>
                </c:pt>
                <c:pt idx="8">
                  <c:v>1993.0</c:v>
                </c:pt>
                <c:pt idx="9">
                  <c:v>1994.0</c:v>
                </c:pt>
                <c:pt idx="10">
                  <c:v>1995.0</c:v>
                </c:pt>
                <c:pt idx="11">
                  <c:v>1996.0</c:v>
                </c:pt>
                <c:pt idx="12">
                  <c:v>1997.0</c:v>
                </c:pt>
                <c:pt idx="13">
                  <c:v>1998.0</c:v>
                </c:pt>
                <c:pt idx="14">
                  <c:v>1999.0</c:v>
                </c:pt>
                <c:pt idx="15">
                  <c:v>2000.0</c:v>
                </c:pt>
                <c:pt idx="16">
                  <c:v>2001.0</c:v>
                </c:pt>
                <c:pt idx="17">
                  <c:v>2002.0</c:v>
                </c:pt>
                <c:pt idx="18">
                  <c:v>2003.0</c:v>
                </c:pt>
                <c:pt idx="19">
                  <c:v>2004.0</c:v>
                </c:pt>
                <c:pt idx="20">
                  <c:v>2005.0</c:v>
                </c:pt>
                <c:pt idx="21">
                  <c:v>2006.0</c:v>
                </c:pt>
                <c:pt idx="22">
                  <c:v>2007.0</c:v>
                </c:pt>
                <c:pt idx="23">
                  <c:v>2008.0</c:v>
                </c:pt>
                <c:pt idx="24">
                  <c:v>2009.0</c:v>
                </c:pt>
                <c:pt idx="25">
                  <c:v>2010.0</c:v>
                </c:pt>
              </c:numCache>
            </c:numRef>
          </c:cat>
          <c:val>
            <c:numRef>
              <c:f>'stb0809'!$T$41:$T$66</c:f>
              <c:numCache>
                <c:formatCode>#,##0</c:formatCode>
                <c:ptCount val="26"/>
                <c:pt idx="0">
                  <c:v>836.7719970000002</c:v>
                </c:pt>
                <c:pt idx="1">
                  <c:v>830.5305029999997</c:v>
                </c:pt>
                <c:pt idx="2">
                  <c:v>858.2329189999998</c:v>
                </c:pt>
                <c:pt idx="3">
                  <c:v>896.498117</c:v>
                </c:pt>
                <c:pt idx="4">
                  <c:v>925.6586689999998</c:v>
                </c:pt>
                <c:pt idx="5">
                  <c:v>945.5216949999998</c:v>
                </c:pt>
                <c:pt idx="6">
                  <c:v>946.5833910000002</c:v>
                </c:pt>
                <c:pt idx="7">
                  <c:v>972.7139900000001</c:v>
                </c:pt>
                <c:pt idx="8">
                  <c:v>977.1642499999998</c:v>
                </c:pt>
                <c:pt idx="9">
                  <c:v>1007.981245</c:v>
                </c:pt>
                <c:pt idx="10">
                  <c:v>1012.69335</c:v>
                </c:pt>
                <c:pt idx="11">
                  <c:v>1033.631378</c:v>
                </c:pt>
                <c:pt idx="12">
                  <c:v>1038.196892</c:v>
                </c:pt>
                <c:pt idx="13">
                  <c:v>1051.203114</c:v>
                </c:pt>
                <c:pt idx="14">
                  <c:v>1058.216608</c:v>
                </c:pt>
                <c:pt idx="15">
                  <c:v>1064.239394</c:v>
                </c:pt>
                <c:pt idx="16">
                  <c:v>996.60931</c:v>
                </c:pt>
                <c:pt idx="17">
                  <c:v>990.237631</c:v>
                </c:pt>
                <c:pt idx="18">
                  <c:v>1012.373247</c:v>
                </c:pt>
                <c:pt idx="19">
                  <c:v>1017.849532</c:v>
                </c:pt>
                <c:pt idx="20">
                  <c:v>1019.156065</c:v>
                </c:pt>
                <c:pt idx="21">
                  <c:v>1011.297566</c:v>
                </c:pt>
                <c:pt idx="22">
                  <c:v>1027.831925</c:v>
                </c:pt>
                <c:pt idx="23">
                  <c:v>1009.300309</c:v>
                </c:pt>
                <c:pt idx="24">
                  <c:v>917.4420629999996</c:v>
                </c:pt>
                <c:pt idx="25">
                  <c:v>962.164721</c:v>
                </c:pt>
              </c:numCache>
            </c:numRef>
          </c:val>
        </c:ser>
        <c:dLbls/>
        <c:axId val="446730936"/>
        <c:axId val="568196616"/>
      </c:barChart>
      <c:catAx>
        <c:axId val="446730936"/>
        <c:scaling>
          <c:orientation val="minMax"/>
        </c:scaling>
        <c:axPos val="b"/>
        <c:title>
          <c:tx>
            <c:rich>
              <a:bodyPr/>
              <a:lstStyle/>
              <a:p>
                <a:pPr>
                  <a:defRPr/>
                </a:pPr>
                <a:r>
                  <a:rPr lang="en-US"/>
                  <a:t>Year</a:t>
                </a:r>
              </a:p>
            </c:rich>
          </c:tx>
          <c:layout/>
        </c:title>
        <c:numFmt formatCode="General" sourceLinked="1"/>
        <c:tickLblPos val="nextTo"/>
        <c:crossAx val="568196616"/>
        <c:crosses val="autoZero"/>
        <c:auto val="1"/>
        <c:lblAlgn val="ctr"/>
        <c:lblOffset val="100"/>
        <c:tickLblSkip val="1"/>
      </c:catAx>
      <c:valAx>
        <c:axId val="568196616"/>
        <c:scaling>
          <c:orientation val="minMax"/>
        </c:scaling>
        <c:axPos val="l"/>
        <c:majorGridlines/>
        <c:title>
          <c:tx>
            <c:rich>
              <a:bodyPr rot="0" vert="wordArtVert"/>
              <a:lstStyle/>
              <a:p>
                <a:pPr>
                  <a:defRPr/>
                </a:pPr>
                <a:r>
                  <a:rPr lang="en-US"/>
                  <a:t>Billion kWh</a:t>
                </a:r>
              </a:p>
            </c:rich>
          </c:tx>
          <c:layout/>
        </c:title>
        <c:numFmt formatCode="#,##0" sourceLinked="1"/>
        <c:tickLblPos val="nextTo"/>
        <c:crossAx val="446730936"/>
        <c:crosses val="autoZero"/>
        <c:crossBetween val="between"/>
      </c:valAx>
    </c:plotArea>
    <c:legend>
      <c:legendPos val="r"/>
      <c:layout/>
    </c:legend>
    <c:plotVisOnly val="1"/>
    <c:dispBlanksAs val="gap"/>
  </c:chart>
  <c:spPr>
    <a:solidFill>
      <a:sysClr val="window" lastClr="FFFFFF"/>
    </a:solidFill>
  </c:spPr>
  <c:txPr>
    <a:bodyPr/>
    <a:lstStyle/>
    <a:p>
      <a:pPr>
        <a:defRPr baseline="0">
          <a:latin typeface="Arial" pitchFamily="34" charset="0"/>
        </a:defRPr>
      </a:pPr>
      <a:endParaRPr lang="en-US"/>
    </a:p>
  </c:txPr>
  <c:externalData r:id="rId1"/>
</c:chartSpace>
</file>

<file path=ppt/charts/chart3.xml><?xml version="1.0" encoding="utf-8"?>
<c:chartSpace xmlns:c="http://schemas.openxmlformats.org/drawingml/2006/chart" xmlns:a="http://schemas.openxmlformats.org/drawingml/2006/main" xmlns:r="http://schemas.openxmlformats.org/officeDocument/2006/relationships">
  <c:lang val="en-US"/>
  <c:style val="2"/>
  <c:clrMapOvr bg1="dk1" tx1="lt1" bg2="dk2" tx2="lt2" accent1="accent1" accent2="accent2" accent3="accent3" accent4="accent4" accent5="accent5" accent6="accent6" hlink="hlink" folHlink="folHlink"/>
  <c:chart>
    <c:autoTitleDeleted val="1"/>
    <c:view3D>
      <c:rotX val="30"/>
      <c:perspective val="30"/>
    </c:view3D>
    <c:plotArea>
      <c:layout>
        <c:manualLayout>
          <c:layoutTarget val="inner"/>
          <c:xMode val="edge"/>
          <c:yMode val="edge"/>
          <c:x val="0.0857066679956147"/>
          <c:y val="0.157217097862769"/>
          <c:w val="0.914293332004388"/>
          <c:h val="0.841994375703037"/>
        </c:manualLayout>
      </c:layout>
      <c:pie3DChart>
        <c:varyColors val="1"/>
        <c:ser>
          <c:idx val="0"/>
          <c:order val="0"/>
          <c:tx>
            <c:strRef>
              <c:f>'Pie Charts'!$M$2</c:f>
              <c:strCache>
                <c:ptCount val="1"/>
                <c:pt idx="0">
                  <c:v>Electricity Use [kWh]</c:v>
                </c:pt>
              </c:strCache>
            </c:strRef>
          </c:tx>
          <c:dLbls>
            <c:dLbl>
              <c:idx val="4"/>
              <c:layout>
                <c:manualLayout>
                  <c:x val="0.0692279090113736"/>
                  <c:y val="-0.0169486314210724"/>
                </c:manualLayout>
              </c:layout>
              <c:showCatName val="1"/>
              <c:showPercent val="1"/>
            </c:dLbl>
            <c:dLbl>
              <c:idx val="5"/>
              <c:layout>
                <c:manualLayout>
                  <c:x val="0.0930191017789443"/>
                  <c:y val="0.00629152605924262"/>
                </c:manualLayout>
              </c:layout>
              <c:showCatName val="1"/>
              <c:showPercent val="1"/>
            </c:dLbl>
            <c:txPr>
              <a:bodyPr/>
              <a:lstStyle/>
              <a:p>
                <a:pPr>
                  <a:defRPr sz="1400"/>
                </a:pPr>
                <a:endParaRPr lang="en-US"/>
              </a:p>
            </c:txPr>
            <c:showCatName val="1"/>
            <c:showPercent val="1"/>
            <c:showLeaderLines val="1"/>
          </c:dLbls>
          <c:cat>
            <c:strRef>
              <c:f>'Pie Charts'!$L$3:$L$8</c:f>
              <c:strCache>
                <c:ptCount val="6"/>
                <c:pt idx="0">
                  <c:v>Interior Lighting</c:v>
                </c:pt>
                <c:pt idx="1">
                  <c:v>Appliances and Plug Loads</c:v>
                </c:pt>
                <c:pt idx="2">
                  <c:v>Heating</c:v>
                </c:pt>
                <c:pt idx="3">
                  <c:v>Cooling</c:v>
                </c:pt>
                <c:pt idx="4">
                  <c:v>HVAC Heat Recovery</c:v>
                </c:pt>
                <c:pt idx="5">
                  <c:v>Domestic Hot Water</c:v>
                </c:pt>
              </c:strCache>
            </c:strRef>
          </c:cat>
          <c:val>
            <c:numRef>
              <c:f>'Pie Charts'!$M$3:$M$8</c:f>
              <c:numCache>
                <c:formatCode>#,##0</c:formatCode>
                <c:ptCount val="6"/>
                <c:pt idx="0">
                  <c:v>2302.777777777777</c:v>
                </c:pt>
                <c:pt idx="1">
                  <c:v>5647.222222222224</c:v>
                </c:pt>
                <c:pt idx="2">
                  <c:v>870.8333333333336</c:v>
                </c:pt>
                <c:pt idx="3">
                  <c:v>1601.388888888885</c:v>
                </c:pt>
                <c:pt idx="4">
                  <c:v>227.7777777777775</c:v>
                </c:pt>
                <c:pt idx="5">
                  <c:v>1455.555555555561</c:v>
                </c:pt>
              </c:numCache>
            </c:numRef>
          </c:val>
        </c:ser>
        <c:dLbls>
          <c:showCatName val="1"/>
          <c:showPercent val="1"/>
        </c:dLbls>
      </c:pie3DChart>
    </c:plotArea>
    <c:plotVisOnly val="1"/>
    <c:dispBlanksAs val="zero"/>
  </c:chart>
  <c:externalData r:id="rId2"/>
</c:chartSpace>
</file>

<file path=ppt/charts/chart4.xml><?xml version="1.0" encoding="utf-8"?>
<c:chartSpace xmlns:c="http://schemas.openxmlformats.org/drawingml/2006/chart" xmlns:a="http://schemas.openxmlformats.org/drawingml/2006/main" xmlns:r="http://schemas.openxmlformats.org/officeDocument/2006/relationships">
  <c:lang val="en-US"/>
  <c:style val="2"/>
  <c:clrMapOvr bg1="dk1" tx1="lt1" bg2="dk2" tx2="lt2" accent1="accent1" accent2="accent2" accent3="accent3" accent4="accent4" accent5="accent5" accent6="accent6" hlink="hlink" folHlink="folHlink"/>
  <c:chart>
    <c:title>
      <c:tx>
        <c:rich>
          <a:bodyPr/>
          <a:lstStyle/>
          <a:p>
            <a:pPr>
              <a:defRPr/>
            </a:pPr>
            <a:r>
              <a:rPr lang="en-US" dirty="0"/>
              <a:t>Total</a:t>
            </a:r>
            <a:r>
              <a:rPr lang="en-US" baseline="0" dirty="0"/>
              <a:t> Electricity [kWh]</a:t>
            </a:r>
            <a:endParaRPr lang="en-US" dirty="0"/>
          </a:p>
        </c:rich>
      </c:tx>
      <c:layout/>
    </c:title>
    <c:view3D>
      <c:rAngAx val="1"/>
    </c:view3D>
    <c:plotArea>
      <c:layout/>
      <c:bar3DChart>
        <c:barDir val="col"/>
        <c:grouping val="clustered"/>
        <c:ser>
          <c:idx val="0"/>
          <c:order val="0"/>
          <c:tx>
            <c:strRef>
              <c:f>'Bar Graphs'!$B$132</c:f>
              <c:strCache>
                <c:ptCount val="1"/>
                <c:pt idx="0">
                  <c:v>Elect. Consumption</c:v>
                </c:pt>
              </c:strCache>
            </c:strRef>
          </c:tx>
          <c:spPr>
            <a:solidFill>
              <a:srgbClr val="0070C0"/>
            </a:solidFill>
          </c:spPr>
          <c:cat>
            <c:strRef>
              <c:f>'Bar Graphs'!$A$133:$A$144</c:f>
              <c:strCache>
                <c:ptCount val="12"/>
                <c:pt idx="0">
                  <c:v>Jan</c:v>
                </c:pt>
                <c:pt idx="1">
                  <c:v>Feb</c:v>
                </c:pt>
                <c:pt idx="2">
                  <c:v>March</c:v>
                </c:pt>
                <c:pt idx="3">
                  <c:v>April</c:v>
                </c:pt>
                <c:pt idx="4">
                  <c:v>May</c:v>
                </c:pt>
                <c:pt idx="5">
                  <c:v>June</c:v>
                </c:pt>
                <c:pt idx="6">
                  <c:v>July</c:v>
                </c:pt>
                <c:pt idx="7">
                  <c:v>Aug</c:v>
                </c:pt>
                <c:pt idx="8">
                  <c:v>Sept</c:v>
                </c:pt>
                <c:pt idx="9">
                  <c:v>Oct</c:v>
                </c:pt>
                <c:pt idx="10">
                  <c:v>Nov</c:v>
                </c:pt>
                <c:pt idx="11">
                  <c:v>Dec</c:v>
                </c:pt>
              </c:strCache>
            </c:strRef>
          </c:cat>
          <c:val>
            <c:numRef>
              <c:f>'Bar Graphs'!$B$133:$B$144</c:f>
              <c:numCache>
                <c:formatCode>#,##0</c:formatCode>
                <c:ptCount val="12"/>
                <c:pt idx="0">
                  <c:v>1216.410540960443</c:v>
                </c:pt>
                <c:pt idx="1">
                  <c:v>1002.295326413773</c:v>
                </c:pt>
                <c:pt idx="2">
                  <c:v>890.2652614250055</c:v>
                </c:pt>
                <c:pt idx="3">
                  <c:v>832.638136732403</c:v>
                </c:pt>
                <c:pt idx="4">
                  <c:v>965.0558589238892</c:v>
                </c:pt>
                <c:pt idx="5">
                  <c:v>1024.584773174352</c:v>
                </c:pt>
                <c:pt idx="6">
                  <c:v>1117.656981465537</c:v>
                </c:pt>
                <c:pt idx="7">
                  <c:v>1083.506497700923</c:v>
                </c:pt>
                <c:pt idx="8">
                  <c:v>1002.476119040498</c:v>
                </c:pt>
                <c:pt idx="9">
                  <c:v>919.639931596583</c:v>
                </c:pt>
                <c:pt idx="10">
                  <c:v>868.3415819098833</c:v>
                </c:pt>
                <c:pt idx="11">
                  <c:v>1183.498088506476</c:v>
                </c:pt>
              </c:numCache>
            </c:numRef>
          </c:val>
        </c:ser>
        <c:ser>
          <c:idx val="1"/>
          <c:order val="1"/>
          <c:tx>
            <c:strRef>
              <c:f>'Bar Graphs'!$C$132</c:f>
              <c:strCache>
                <c:ptCount val="1"/>
                <c:pt idx="0">
                  <c:v>PV Production</c:v>
                </c:pt>
              </c:strCache>
            </c:strRef>
          </c:tx>
          <c:spPr>
            <a:solidFill>
              <a:srgbClr val="DD021C"/>
            </a:solidFill>
          </c:spPr>
          <c:cat>
            <c:strRef>
              <c:f>'Bar Graphs'!$A$133:$A$144</c:f>
              <c:strCache>
                <c:ptCount val="12"/>
                <c:pt idx="0">
                  <c:v>Jan</c:v>
                </c:pt>
                <c:pt idx="1">
                  <c:v>Feb</c:v>
                </c:pt>
                <c:pt idx="2">
                  <c:v>March</c:v>
                </c:pt>
                <c:pt idx="3">
                  <c:v>April</c:v>
                </c:pt>
                <c:pt idx="4">
                  <c:v>May</c:v>
                </c:pt>
                <c:pt idx="5">
                  <c:v>June</c:v>
                </c:pt>
                <c:pt idx="6">
                  <c:v>July</c:v>
                </c:pt>
                <c:pt idx="7">
                  <c:v>Aug</c:v>
                </c:pt>
                <c:pt idx="8">
                  <c:v>Sept</c:v>
                </c:pt>
                <c:pt idx="9">
                  <c:v>Oct</c:v>
                </c:pt>
                <c:pt idx="10">
                  <c:v>Nov</c:v>
                </c:pt>
                <c:pt idx="11">
                  <c:v>Dec</c:v>
                </c:pt>
              </c:strCache>
            </c:strRef>
          </c:cat>
          <c:val>
            <c:numRef>
              <c:f>'Bar Graphs'!$C$133:$C$144</c:f>
              <c:numCache>
                <c:formatCode>#,##0</c:formatCode>
                <c:ptCount val="12"/>
                <c:pt idx="0">
                  <c:v>749.4297055263964</c:v>
                </c:pt>
                <c:pt idx="1">
                  <c:v>957.2290443508735</c:v>
                </c:pt>
                <c:pt idx="2">
                  <c:v>1292.74792031072</c:v>
                </c:pt>
                <c:pt idx="3">
                  <c:v>1403.08444304827</c:v>
                </c:pt>
                <c:pt idx="4">
                  <c:v>1493.418636678083</c:v>
                </c:pt>
                <c:pt idx="5">
                  <c:v>1505.305609836715</c:v>
                </c:pt>
                <c:pt idx="6">
                  <c:v>1515.645225910972</c:v>
                </c:pt>
                <c:pt idx="7">
                  <c:v>1412.034557328381</c:v>
                </c:pt>
                <c:pt idx="8">
                  <c:v>1221.60959214952</c:v>
                </c:pt>
                <c:pt idx="9">
                  <c:v>1119.476747292788</c:v>
                </c:pt>
                <c:pt idx="10">
                  <c:v>803.2973629418145</c:v>
                </c:pt>
                <c:pt idx="11">
                  <c:v>761.01365010885</c:v>
                </c:pt>
              </c:numCache>
            </c:numRef>
          </c:val>
        </c:ser>
        <c:dLbls/>
        <c:shape val="box"/>
        <c:axId val="446919112"/>
        <c:axId val="446915640"/>
        <c:axId val="0"/>
      </c:bar3DChart>
      <c:catAx>
        <c:axId val="446919112"/>
        <c:scaling>
          <c:orientation val="minMax"/>
        </c:scaling>
        <c:axPos val="b"/>
        <c:tickLblPos val="nextTo"/>
        <c:crossAx val="446915640"/>
        <c:crosses val="autoZero"/>
        <c:auto val="1"/>
        <c:lblAlgn val="ctr"/>
        <c:lblOffset val="100"/>
      </c:catAx>
      <c:valAx>
        <c:axId val="446915640"/>
        <c:scaling>
          <c:orientation val="minMax"/>
        </c:scaling>
        <c:axPos val="l"/>
        <c:majorGridlines/>
        <c:numFmt formatCode="#,##0" sourceLinked="1"/>
        <c:tickLblPos val="nextTo"/>
        <c:txPr>
          <a:bodyPr/>
          <a:lstStyle/>
          <a:p>
            <a:pPr>
              <a:defRPr sz="1400"/>
            </a:pPr>
            <a:endParaRPr lang="en-US"/>
          </a:p>
        </c:txPr>
        <c:crossAx val="446919112"/>
        <c:crosses val="autoZero"/>
        <c:crossBetween val="between"/>
      </c:valAx>
    </c:plotArea>
    <c:legend>
      <c:legendPos val="r"/>
      <c:layout/>
      <c:txPr>
        <a:bodyPr/>
        <a:lstStyle/>
        <a:p>
          <a:pPr>
            <a:defRPr sz="1400"/>
          </a:pPr>
          <a:endParaRPr lang="en-US"/>
        </a:p>
      </c:txPr>
    </c:legend>
    <c:plotVisOnly val="1"/>
    <c:dispBlanksAs val="gap"/>
  </c:chart>
  <c:externalData r:id="rId2"/>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30" tIns="45715" rIns="91430" bIns="45715" numCol="1" anchor="t" anchorCtr="0" compatLnSpc="1">
            <a:prstTxWarp prst="textNoShape">
              <a:avLst/>
            </a:prstTxWarp>
          </a:bodyPr>
          <a:lstStyle>
            <a:lvl1pPr>
              <a:defRPr sz="1200">
                <a:latin typeface="Calibri" pitchFamily="34" charset="0"/>
              </a:defRPr>
            </a:lvl1pPr>
          </a:lstStyle>
          <a:p>
            <a:endParaRPr lang="en-US"/>
          </a:p>
        </p:txBody>
      </p:sp>
      <p:sp>
        <p:nvSpPr>
          <p:cNvPr id="47107" name="Rectangle 3"/>
          <p:cNvSpPr>
            <a:spLocks noGrp="1" noChangeArrowheads="1"/>
          </p:cNvSpPr>
          <p:nvPr>
            <p:ph type="dt" sz="quarter" idx="1"/>
          </p:nvPr>
        </p:nvSpPr>
        <p:spPr bwMode="auto">
          <a:xfrm>
            <a:off x="3884614" y="0"/>
            <a:ext cx="2971800" cy="457200"/>
          </a:xfrm>
          <a:prstGeom prst="rect">
            <a:avLst/>
          </a:prstGeom>
          <a:noFill/>
          <a:ln w="9525">
            <a:noFill/>
            <a:miter lim="800000"/>
            <a:headEnd/>
            <a:tailEnd/>
          </a:ln>
          <a:effectLst/>
        </p:spPr>
        <p:txBody>
          <a:bodyPr vert="horz" wrap="square" lIns="91430" tIns="45715" rIns="91430" bIns="45715" numCol="1" anchor="t" anchorCtr="0" compatLnSpc="1">
            <a:prstTxWarp prst="textNoShape">
              <a:avLst/>
            </a:prstTxWarp>
          </a:bodyPr>
          <a:lstStyle>
            <a:lvl1pPr algn="r">
              <a:defRPr sz="1200">
                <a:latin typeface="Calibri" pitchFamily="34" charset="0"/>
              </a:defRPr>
            </a:lvl1pPr>
          </a:lstStyle>
          <a:p>
            <a:fld id="{3E2FD277-C3BE-4D0C-97F1-12B5289DB072}" type="datetimeFigureOut">
              <a:rPr lang="en-US"/>
              <a:pPr/>
              <a:t>12/14/11</a:t>
            </a:fld>
            <a:endParaRPr lang="en-US"/>
          </a:p>
        </p:txBody>
      </p:sp>
      <p:sp>
        <p:nvSpPr>
          <p:cNvPr id="4710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30" tIns="45715" rIns="91430" bIns="45715" numCol="1" anchor="b" anchorCtr="0" compatLnSpc="1">
            <a:prstTxWarp prst="textNoShape">
              <a:avLst/>
            </a:prstTxWarp>
          </a:bodyPr>
          <a:lstStyle>
            <a:lvl1pPr>
              <a:defRPr sz="1200">
                <a:latin typeface="Calibri" pitchFamily="34" charset="0"/>
              </a:defRPr>
            </a:lvl1pPr>
          </a:lstStyle>
          <a:p>
            <a:endParaRPr lang="en-US"/>
          </a:p>
        </p:txBody>
      </p:sp>
      <p:sp>
        <p:nvSpPr>
          <p:cNvPr id="47109" name="Rectangle 5"/>
          <p:cNvSpPr>
            <a:spLocks noGrp="1" noChangeArrowheads="1"/>
          </p:cNvSpPr>
          <p:nvPr>
            <p:ph type="sldNum" sz="quarter" idx="3"/>
          </p:nvPr>
        </p:nvSpPr>
        <p:spPr bwMode="auto">
          <a:xfrm>
            <a:off x="3884614" y="8685213"/>
            <a:ext cx="2971800" cy="457200"/>
          </a:xfrm>
          <a:prstGeom prst="rect">
            <a:avLst/>
          </a:prstGeom>
          <a:noFill/>
          <a:ln w="9525">
            <a:noFill/>
            <a:miter lim="800000"/>
            <a:headEnd/>
            <a:tailEnd/>
          </a:ln>
          <a:effectLst/>
        </p:spPr>
        <p:txBody>
          <a:bodyPr vert="horz" wrap="square" lIns="91430" tIns="45715" rIns="91430" bIns="45715" numCol="1" anchor="b" anchorCtr="0" compatLnSpc="1">
            <a:prstTxWarp prst="textNoShape">
              <a:avLst/>
            </a:prstTxWarp>
          </a:bodyPr>
          <a:lstStyle>
            <a:lvl1pPr algn="r">
              <a:defRPr sz="1200">
                <a:latin typeface="Calibri" pitchFamily="34" charset="0"/>
              </a:defRPr>
            </a:lvl1pPr>
          </a:lstStyle>
          <a:p>
            <a:fld id="{D7F5A1D4-8A97-426A-9C0B-350F4C1FD01A}" type="slidenum">
              <a:rPr lang="en-US"/>
              <a:pPr/>
              <a:t>‹#›</a:t>
            </a:fld>
            <a:endParaRPr lang="en-US"/>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2509413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30" tIns="45715" rIns="91430" bIns="45715"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4" y="0"/>
            <a:ext cx="2971800" cy="457200"/>
          </a:xfrm>
          <a:prstGeom prst="rect">
            <a:avLst/>
          </a:prstGeom>
        </p:spPr>
        <p:txBody>
          <a:bodyPr vert="horz" lIns="91430" tIns="45715" rIns="91430" bIns="45715" rtlCol="0"/>
          <a:lstStyle>
            <a:lvl1pPr algn="r" fontAlgn="auto">
              <a:spcBef>
                <a:spcPts val="0"/>
              </a:spcBef>
              <a:spcAft>
                <a:spcPts val="0"/>
              </a:spcAft>
              <a:defRPr sz="1200" smtClean="0">
                <a:latin typeface="+mn-lt"/>
              </a:defRPr>
            </a:lvl1pPr>
          </a:lstStyle>
          <a:p>
            <a:pPr>
              <a:defRPr/>
            </a:pPr>
            <a:fld id="{7DB146D8-C118-47CD-BD2A-039FC4E64CD3}" type="datetimeFigureOut">
              <a:rPr lang="en-US"/>
              <a:pPr>
                <a:defRPr/>
              </a:pPr>
              <a:t>12/14/11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30" tIns="45715" rIns="91430" bIns="45715" rtlCol="0" anchor="ctr"/>
          <a:lstStyle/>
          <a:p>
            <a:pPr lvl="0"/>
            <a:endParaRPr lang="en-US" noProof="0"/>
          </a:p>
        </p:txBody>
      </p:sp>
      <p:sp>
        <p:nvSpPr>
          <p:cNvPr id="5" name="Notes Placeholder 4"/>
          <p:cNvSpPr>
            <a:spLocks noGrp="1"/>
          </p:cNvSpPr>
          <p:nvPr>
            <p:ph type="body" sz="quarter" idx="3"/>
          </p:nvPr>
        </p:nvSpPr>
        <p:spPr>
          <a:xfrm>
            <a:off x="685800" y="4343401"/>
            <a:ext cx="5486400" cy="4114800"/>
          </a:xfrm>
          <a:prstGeom prst="rect">
            <a:avLst/>
          </a:prstGeom>
        </p:spPr>
        <p:txBody>
          <a:bodyPr vert="horz" lIns="91430" tIns="45715" rIns="91430" bIns="45715"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30" tIns="45715" rIns="91430" bIns="45715"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4" y="8685213"/>
            <a:ext cx="2971800" cy="457200"/>
          </a:xfrm>
          <a:prstGeom prst="rect">
            <a:avLst/>
          </a:prstGeom>
        </p:spPr>
        <p:txBody>
          <a:bodyPr vert="horz" lIns="91430" tIns="45715" rIns="91430" bIns="45715" rtlCol="0" anchor="b"/>
          <a:lstStyle>
            <a:lvl1pPr algn="r" fontAlgn="auto">
              <a:spcBef>
                <a:spcPts val="0"/>
              </a:spcBef>
              <a:spcAft>
                <a:spcPts val="0"/>
              </a:spcAft>
              <a:defRPr sz="1200" smtClean="0">
                <a:latin typeface="+mn-lt"/>
              </a:defRPr>
            </a:lvl1pPr>
          </a:lstStyle>
          <a:p>
            <a:pPr>
              <a:defRPr/>
            </a:pPr>
            <a:fld id="{0349E947-259C-44D5-B3E0-FC562AEA7218}" type="slidenum">
              <a:rPr lang="en-US"/>
              <a:pPr>
                <a:defRPr/>
              </a:pPr>
              <a:t>‹#›</a:t>
            </a:fld>
            <a:endParaRPr lang="en-US"/>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592235256"/>
      </p:ext>
    </p:extLst>
  </p:cSld>
  <p:clrMap bg1="lt1" tx1="dk1" bg2="lt2" tx2="dk2" accent1="accent1" accent2="accent2" accent3="accent3" accent4="accent4" accent5="accent5" accent6="accent6" hlink="hlink" folHlink="folHlink"/>
  <p:notesStyle>
    <a:lvl1pPr algn="l" defTabSz="457200" rtl="0" fontAlgn="base">
      <a:spcBef>
        <a:spcPct val="30000"/>
      </a:spcBef>
      <a:spcAft>
        <a:spcPct val="0"/>
      </a:spcAft>
      <a:defRPr sz="1200" kern="1200">
        <a:solidFill>
          <a:schemeClr val="tx1"/>
        </a:solidFill>
        <a:latin typeface="+mn-lt"/>
        <a:ea typeface="+mn-ea"/>
        <a:cs typeface="+mn-cs"/>
      </a:defRPr>
    </a:lvl1pPr>
    <a:lvl2pPr marL="457200" algn="l" defTabSz="457200" rtl="0" fontAlgn="base">
      <a:spcBef>
        <a:spcPct val="30000"/>
      </a:spcBef>
      <a:spcAft>
        <a:spcPct val="0"/>
      </a:spcAft>
      <a:defRPr sz="1200" kern="1200">
        <a:solidFill>
          <a:schemeClr val="tx1"/>
        </a:solidFill>
        <a:latin typeface="+mn-lt"/>
        <a:ea typeface="+mn-ea"/>
        <a:cs typeface="+mn-cs"/>
      </a:defRPr>
    </a:lvl2pPr>
    <a:lvl3pPr marL="914400" algn="l" defTabSz="457200" rtl="0" fontAlgn="base">
      <a:spcBef>
        <a:spcPct val="30000"/>
      </a:spcBef>
      <a:spcAft>
        <a:spcPct val="0"/>
      </a:spcAft>
      <a:defRPr sz="1200" kern="1200">
        <a:solidFill>
          <a:schemeClr val="tx1"/>
        </a:solidFill>
        <a:latin typeface="+mn-lt"/>
        <a:ea typeface="+mn-ea"/>
        <a:cs typeface="+mn-cs"/>
      </a:defRPr>
    </a:lvl3pPr>
    <a:lvl4pPr marL="1371600" algn="l" defTabSz="457200" rtl="0" fontAlgn="base">
      <a:spcBef>
        <a:spcPct val="30000"/>
      </a:spcBef>
      <a:spcAft>
        <a:spcPct val="0"/>
      </a:spcAft>
      <a:defRPr sz="1200" kern="1200">
        <a:solidFill>
          <a:schemeClr val="tx1"/>
        </a:solidFill>
        <a:latin typeface="+mn-lt"/>
        <a:ea typeface="+mn-ea"/>
        <a:cs typeface="+mn-cs"/>
      </a:defRPr>
    </a:lvl4pPr>
    <a:lvl5pPr marL="1828800" algn="l" defTabSz="457200" rtl="0" fontAlgn="base">
      <a:spcBef>
        <a:spcPct val="30000"/>
      </a:spcBef>
      <a:spcAft>
        <a:spcPct val="0"/>
      </a:spcAft>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en.wikipedia.org/wiki/Long_and_short_scales" TargetMode="External"/><Relationship Id="rId4" Type="http://schemas.openxmlformats.org/officeDocument/2006/relationships/hyperlink" Target="http://en.wikipedia.org/wiki/Quadrillion" TargetMode="External"/><Relationship Id="rId5" Type="http://schemas.openxmlformats.org/officeDocument/2006/relationships/hyperlink" Target="http://en.wikipedia.org/wiki/BTU" TargetMode="External"/><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www.whirlpool.com/catalog/product.jsp?src=REFRIGERATORS&amp;cat=96&amp;prod=1815" TargetMode="External"/><Relationship Id="rId4" Type="http://schemas.openxmlformats.org/officeDocument/2006/relationships/hyperlink" Target="http://www.whirlpool.com/catalog/product.jsp?parentCategoryId=74&amp;categoryId=108&amp;subCategoryId=109&amp;productId=1328%23tabs" TargetMode="External"/><Relationship Id="rId5" Type="http://schemas.openxmlformats.org/officeDocument/2006/relationships/hyperlink" Target="http://www.whirlpool.com/catalog/product.jsp?src=COOKTOPS&amp;cat=80&amp;prod=1306" TargetMode="External"/><Relationship Id="rId6" Type="http://schemas.openxmlformats.org/officeDocument/2006/relationships/hyperlink" Target="http://www.whirlpool.com/catalog/product.jsp?src=HOODS+AND+VENTS&amp;cat=86&amp;prod=1344" TargetMode="External"/><Relationship Id="rId7" Type="http://schemas.openxmlformats.org/officeDocument/2006/relationships/hyperlink" Target="http://www.whirlpool.com/catalog/product.jsp?src=MICROWAVES&amp;cat=90&amp;prod=1298" TargetMode="External"/><Relationship Id="rId8" Type="http://schemas.openxmlformats.org/officeDocument/2006/relationships/hyperlink" Target="http://www.whirlpool.com/catalog/product.jsp?src=BUILT-IN+OVENS&amp;cat=83&amp;prod=1285" TargetMode="External"/><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www.whirlpool.com/catalog/product.jsp?src=REFRIGERATORS&amp;cat=96&amp;prod=1815" TargetMode="External"/><Relationship Id="rId4" Type="http://schemas.openxmlformats.org/officeDocument/2006/relationships/hyperlink" Target="http://www.whirlpool.com/catalog/product.jsp?parentCategoryId=74&amp;categoryId=108&amp;subCategoryId=109&amp;productId=1328%23tabs" TargetMode="External"/><Relationship Id="rId5" Type="http://schemas.openxmlformats.org/officeDocument/2006/relationships/hyperlink" Target="http://www.whirlpool.com/catalog/product.jsp?src=COOKTOPS&amp;cat=80&amp;prod=1306" TargetMode="External"/><Relationship Id="rId6" Type="http://schemas.openxmlformats.org/officeDocument/2006/relationships/hyperlink" Target="http://www.whirlpool.com/catalog/product.jsp?src=HOODS+AND+VENTS&amp;cat=86&amp;prod=1344" TargetMode="External"/><Relationship Id="rId7" Type="http://schemas.openxmlformats.org/officeDocument/2006/relationships/hyperlink" Target="http://www.whirlpool.com/catalog/product.jsp?src=MICROWAVES&amp;cat=90&amp;prod=1298" TargetMode="External"/><Relationship Id="rId8" Type="http://schemas.openxmlformats.org/officeDocument/2006/relationships/hyperlink" Target="http://www.whirlpool.com/catalog/product.jsp?src=BUILT-IN+OVENS&amp;cat=83&amp;prod=1285" TargetMode="External"/><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0349E947-259C-44D5-B3E0-FC562AEA7218}" type="slidenum">
              <a:rPr lang="en-US" smtClean="0"/>
              <a:pPr>
                <a:defRPr/>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4818" name="Rectangle 7"/>
          <p:cNvSpPr txBox="1">
            <a:spLocks noGrp="1" noChangeArrowheads="1"/>
          </p:cNvSpPr>
          <p:nvPr/>
        </p:nvSpPr>
        <p:spPr bwMode="auto">
          <a:xfrm>
            <a:off x="3884614" y="8686801"/>
            <a:ext cx="2971800" cy="455613"/>
          </a:xfrm>
          <a:prstGeom prst="rect">
            <a:avLst/>
          </a:prstGeom>
          <a:noFill/>
          <a:ln w="9525">
            <a:noFill/>
            <a:miter lim="800000"/>
            <a:headEnd/>
            <a:tailEnd/>
          </a:ln>
        </p:spPr>
        <p:txBody>
          <a:bodyPr lIns="91343" tIns="45671" rIns="91343" bIns="45671" anchor="b"/>
          <a:lstStyle/>
          <a:p>
            <a:pPr algn="r"/>
            <a:fld id="{88D5F4CB-7667-4CC3-882B-B169AD62E342}" type="slidenum">
              <a:rPr lang="en-US" sz="1300">
                <a:solidFill>
                  <a:srgbClr val="000000"/>
                </a:solidFill>
              </a:rPr>
              <a:pPr algn="r"/>
              <a:t>2</a:t>
            </a:fld>
            <a:endParaRPr lang="en-US" sz="1300" dirty="0">
              <a:solidFill>
                <a:srgbClr val="000000"/>
              </a:solidFill>
            </a:endParaRPr>
          </a:p>
        </p:txBody>
      </p:sp>
      <p:sp>
        <p:nvSpPr>
          <p:cNvPr id="34819" name="Rectangle 2"/>
          <p:cNvSpPr>
            <a:spLocks noGrp="1" noRot="1" noChangeAspect="1" noChangeArrowheads="1" noTextEdit="1"/>
          </p:cNvSpPr>
          <p:nvPr>
            <p:ph type="sldImg"/>
          </p:nvPr>
        </p:nvSpPr>
        <p:spPr bwMode="auto">
          <a:xfrm>
            <a:off x="1146175" y="688975"/>
            <a:ext cx="4567238" cy="3427413"/>
          </a:xfrm>
          <a:noFill/>
          <a:ln>
            <a:solidFill>
              <a:srgbClr val="000000"/>
            </a:solidFill>
            <a:miter lim="800000"/>
            <a:headEnd/>
            <a:tailEnd/>
          </a:ln>
        </p:spPr>
      </p:sp>
      <p:sp>
        <p:nvSpPr>
          <p:cNvPr id="34820" name="Rectangle 3"/>
          <p:cNvSpPr>
            <a:spLocks noGrp="1" noChangeArrowheads="1"/>
          </p:cNvSpPr>
          <p:nvPr>
            <p:ph type="body" idx="1"/>
          </p:nvPr>
        </p:nvSpPr>
        <p:spPr bwMode="auto">
          <a:xfrm>
            <a:off x="912814" y="4346576"/>
            <a:ext cx="5032375" cy="4110038"/>
          </a:xfrm>
          <a:solidFill>
            <a:srgbClr val="FFFFFF"/>
          </a:solidFill>
          <a:ln>
            <a:solidFill>
              <a:srgbClr val="000000"/>
            </a:solidFill>
            <a:miter lim="800000"/>
            <a:headEnd/>
            <a:tailEnd/>
          </a:ln>
        </p:spPr>
        <p:txBody>
          <a:bodyPr wrap="square" lIns="90330" tIns="45165" rIns="90330" bIns="45165" numCol="1" anchor="t" anchorCtr="0" compatLnSpc="1">
            <a:prstTxWarp prst="textNoShape">
              <a:avLst/>
            </a:prstTxWarp>
          </a:bodyPr>
          <a:lstStyle/>
          <a:p>
            <a:pPr defTabSz="826990">
              <a:spcBef>
                <a:spcPct val="0"/>
              </a:spcBef>
            </a:pPr>
            <a:r>
              <a:rPr lang="en-US" dirty="0" smtClean="0"/>
              <a:t>Note: 21% of the 55% of NG is used to produce electricity used by buildings.. (double counting)</a:t>
            </a:r>
          </a:p>
          <a:p>
            <a:pPr defTabSz="826990">
              <a:spcBef>
                <a:spcPct val="0"/>
              </a:spcBef>
            </a:pPr>
            <a:endParaRPr lang="en-US" dirty="0" smtClean="0"/>
          </a:p>
          <a:p>
            <a:pPr defTabSz="826990">
              <a:spcBef>
                <a:spcPct val="0"/>
              </a:spcBef>
            </a:pPr>
            <a:r>
              <a:rPr lang="en-US" dirty="0" smtClean="0"/>
              <a:t>When it comes to the U.S. energy economy, buildings matter.  Together, residential and commercial buildings account for 40% of all energy use in the United States and consume more energy than either the industrial or transportation sectors, surpassing the industrial sector as the number one consuming sector in 1995.  </a:t>
            </a:r>
          </a:p>
          <a:p>
            <a:pPr defTabSz="826990">
              <a:spcBef>
                <a:spcPct val="0"/>
              </a:spcBef>
            </a:pPr>
            <a:endParaRPr lang="en-US" dirty="0" smtClean="0"/>
          </a:p>
          <a:p>
            <a:pPr defTabSz="826990">
              <a:spcBef>
                <a:spcPct val="0"/>
              </a:spcBef>
            </a:pPr>
            <a:r>
              <a:rPr lang="en-US" dirty="0" smtClean="0"/>
              <a:t>Buildings account for 72 percent of U.S. electricity consumption, and 36 percent of natural gas consumption.  </a:t>
            </a:r>
          </a:p>
          <a:p>
            <a:pPr defTabSz="826990">
              <a:spcBef>
                <a:spcPct val="0"/>
              </a:spcBef>
            </a:pPr>
            <a:endParaRPr lang="en-US" dirty="0" smtClean="0"/>
          </a:p>
          <a:p>
            <a:pPr defTabSz="826990">
              <a:spcBef>
                <a:spcPct val="0"/>
              </a:spcBef>
            </a:pPr>
            <a:r>
              <a:rPr lang="en-US" dirty="0" smtClean="0"/>
              <a:t>Without action, U.S. energy consumption is projected to grow about 25 percent over the next two decades, and buildings are expected to play a large part in that growth.</a:t>
            </a:r>
          </a:p>
          <a:p>
            <a:pPr defTabSz="826990">
              <a:spcBef>
                <a:spcPct val="0"/>
              </a:spcBef>
            </a:pPr>
            <a:endParaRPr lang="en-US"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5842" name="Rectangle 7"/>
          <p:cNvSpPr txBox="1">
            <a:spLocks noGrp="1" noChangeArrowheads="1"/>
          </p:cNvSpPr>
          <p:nvPr/>
        </p:nvSpPr>
        <p:spPr bwMode="auto">
          <a:xfrm>
            <a:off x="3884614" y="8686801"/>
            <a:ext cx="2971800" cy="455613"/>
          </a:xfrm>
          <a:prstGeom prst="rect">
            <a:avLst/>
          </a:prstGeom>
          <a:noFill/>
          <a:ln w="9525">
            <a:noFill/>
            <a:miter lim="800000"/>
            <a:headEnd/>
            <a:tailEnd/>
          </a:ln>
        </p:spPr>
        <p:txBody>
          <a:bodyPr lIns="91343" tIns="45671" rIns="91343" bIns="45671" anchor="b"/>
          <a:lstStyle/>
          <a:p>
            <a:pPr algn="r"/>
            <a:fld id="{73C9B71F-9893-472F-A950-06841FD23372}" type="slidenum">
              <a:rPr lang="en-US" sz="1300">
                <a:solidFill>
                  <a:srgbClr val="000000"/>
                </a:solidFill>
              </a:rPr>
              <a:pPr algn="r"/>
              <a:t>3</a:t>
            </a:fld>
            <a:endParaRPr lang="en-US" sz="1300" dirty="0">
              <a:solidFill>
                <a:srgbClr val="000000"/>
              </a:solidFill>
            </a:endParaRPr>
          </a:p>
        </p:txBody>
      </p:sp>
      <p:sp>
        <p:nvSpPr>
          <p:cNvPr id="3584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5844" name="Rectangle 3"/>
          <p:cNvSpPr>
            <a:spLocks noGrp="1" noChangeArrowheads="1"/>
          </p:cNvSpPr>
          <p:nvPr>
            <p:ph type="body" idx="1"/>
          </p:nvPr>
        </p:nvSpPr>
        <p:spPr bwMode="auto">
          <a:xfrm>
            <a:off x="687389" y="4346576"/>
            <a:ext cx="5483225" cy="4111625"/>
          </a:xfrm>
          <a:solidFill>
            <a:srgbClr val="FFFFFF"/>
          </a:solidFill>
          <a:ln>
            <a:solidFill>
              <a:srgbClr val="000000"/>
            </a:solidFill>
            <a:miter lim="800000"/>
            <a:headEnd/>
            <a:tailEnd/>
          </a:ln>
        </p:spPr>
        <p:txBody>
          <a:bodyPr wrap="square" lIns="91370" tIns="45683" rIns="91370" bIns="45683" numCol="1" anchor="t" anchorCtr="0" compatLnSpc="1">
            <a:prstTxWarp prst="textNoShape">
              <a:avLst/>
            </a:prstTxWarp>
          </a:bodyPr>
          <a:lstStyle/>
          <a:p>
            <a:pPr defTabSz="826990">
              <a:spcBef>
                <a:spcPct val="0"/>
              </a:spcBef>
            </a:pPr>
            <a:endParaRPr lang="en-US" dirty="0" smtClean="0"/>
          </a:p>
          <a:p>
            <a:pPr defTabSz="826990">
              <a:spcBef>
                <a:spcPct val="0"/>
              </a:spcBef>
            </a:pPr>
            <a:endParaRPr lang="en-US" dirty="0" smtClean="0"/>
          </a:p>
          <a:p>
            <a:pPr defTabSz="826990">
              <a:spcBef>
                <a:spcPct val="0"/>
              </a:spcBef>
            </a:pPr>
            <a:r>
              <a:rPr lang="en-US" dirty="0" smtClean="0"/>
              <a:t>Mention the quantity of energy used – e.g., 40 quads.. And the magnitude of this number. A </a:t>
            </a:r>
            <a:r>
              <a:rPr lang="en-US" b="1" dirty="0" smtClean="0"/>
              <a:t>quad</a:t>
            </a:r>
            <a:r>
              <a:rPr lang="en-US" dirty="0" smtClean="0"/>
              <a:t> is a unit of energy equal to 10</a:t>
            </a:r>
            <a:r>
              <a:rPr lang="en-US" baseline="30000" dirty="0" smtClean="0"/>
              <a:t>15</a:t>
            </a:r>
            <a:r>
              <a:rPr lang="en-US" dirty="0" smtClean="0"/>
              <a:t> (a </a:t>
            </a:r>
            <a:r>
              <a:rPr lang="en-US" dirty="0" smtClean="0">
                <a:hlinkClick r:id="rId3" tooltip="Long and short scales"/>
              </a:rPr>
              <a:t>short-scale</a:t>
            </a:r>
            <a:r>
              <a:rPr lang="en-US" dirty="0" smtClean="0"/>
              <a:t> </a:t>
            </a:r>
            <a:r>
              <a:rPr lang="en-US" dirty="0" smtClean="0">
                <a:hlinkClick r:id="rId4" tooltip="Quadrillion"/>
              </a:rPr>
              <a:t>quadrillion</a:t>
            </a:r>
            <a:r>
              <a:rPr lang="en-US" dirty="0" smtClean="0"/>
              <a:t>) </a:t>
            </a:r>
            <a:r>
              <a:rPr lang="en-US" dirty="0" smtClean="0">
                <a:hlinkClick r:id="rId5" tooltip="BTU"/>
              </a:rPr>
              <a:t>BTU</a:t>
            </a:r>
            <a:r>
              <a:rPr lang="en-US" dirty="0" smtClean="0"/>
              <a:t>  . One quad = 25,200,000 </a:t>
            </a:r>
            <a:r>
              <a:rPr lang="en-US" dirty="0" err="1" smtClean="0"/>
              <a:t>Tonnes</a:t>
            </a:r>
            <a:r>
              <a:rPr lang="en-US" dirty="0" smtClean="0"/>
              <a:t> of oil or 293,071,000,000 Kilowatt-hours</a:t>
            </a:r>
          </a:p>
          <a:p>
            <a:pPr defTabSz="826990">
              <a:spcBef>
                <a:spcPct val="0"/>
              </a:spcBef>
            </a:pPr>
            <a:r>
              <a:rPr lang="en-US" dirty="0" smtClean="0"/>
              <a:t>Commercial energy consumption rose from just 14% of total US energy consumption in 1980 to 18% by 2005; a 70% increase.  Continuation of this trend, and the overall growth of buildings energy consumption, in the face of present and projected energy supply difficulties and price pressures increases the imperative for concerted public and private action.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6866" name="Rectangle 7"/>
          <p:cNvSpPr txBox="1">
            <a:spLocks noGrp="1" noChangeArrowheads="1"/>
          </p:cNvSpPr>
          <p:nvPr/>
        </p:nvSpPr>
        <p:spPr bwMode="auto">
          <a:xfrm>
            <a:off x="3884614" y="8685213"/>
            <a:ext cx="2971800" cy="457200"/>
          </a:xfrm>
          <a:prstGeom prst="rect">
            <a:avLst/>
          </a:prstGeom>
          <a:noFill/>
          <a:ln w="9525">
            <a:noFill/>
            <a:miter lim="800000"/>
            <a:headEnd/>
            <a:tailEnd/>
          </a:ln>
        </p:spPr>
        <p:txBody>
          <a:bodyPr lIns="91393" tIns="45696" rIns="91393" bIns="45696" anchor="b"/>
          <a:lstStyle/>
          <a:p>
            <a:pPr algn="r"/>
            <a:fld id="{08B10220-B217-4C48-ADA5-8D0FBBA2650D}" type="slidenum">
              <a:rPr lang="en-US" sz="1200">
                <a:solidFill>
                  <a:srgbClr val="000000"/>
                </a:solidFill>
              </a:rPr>
              <a:pPr algn="r"/>
              <a:t>4</a:t>
            </a:fld>
            <a:endParaRPr lang="en-US" sz="1200" dirty="0">
              <a:solidFill>
                <a:srgbClr val="000000"/>
              </a:solidFill>
            </a:endParaRPr>
          </a:p>
        </p:txBody>
      </p:sp>
      <p:sp>
        <p:nvSpPr>
          <p:cNvPr id="36867" name="Rectangle 7"/>
          <p:cNvSpPr txBox="1">
            <a:spLocks noGrp="1" noChangeArrowheads="1"/>
          </p:cNvSpPr>
          <p:nvPr/>
        </p:nvSpPr>
        <p:spPr bwMode="auto">
          <a:xfrm>
            <a:off x="3884614" y="8688389"/>
            <a:ext cx="2971800" cy="454025"/>
          </a:xfrm>
          <a:prstGeom prst="rect">
            <a:avLst/>
          </a:prstGeom>
          <a:noFill/>
          <a:ln w="9525">
            <a:noFill/>
            <a:miter lim="800000"/>
            <a:headEnd/>
            <a:tailEnd/>
          </a:ln>
        </p:spPr>
        <p:txBody>
          <a:bodyPr lIns="90496" tIns="45247" rIns="90496" bIns="45247" anchor="b"/>
          <a:lstStyle/>
          <a:p>
            <a:pPr algn="r" defTabSz="906356"/>
            <a:fld id="{AB0A4B95-8642-4B2B-926F-3BA54220E176}" type="slidenum">
              <a:rPr lang="en-US" sz="1200">
                <a:solidFill>
                  <a:srgbClr val="000000"/>
                </a:solidFill>
              </a:rPr>
              <a:pPr algn="r" defTabSz="906356"/>
              <a:t>4</a:t>
            </a:fld>
            <a:endParaRPr lang="en-US" sz="1200" dirty="0">
              <a:solidFill>
                <a:srgbClr val="000000"/>
              </a:solidFill>
            </a:endParaRPr>
          </a:p>
        </p:txBody>
      </p:sp>
      <p:sp>
        <p:nvSpPr>
          <p:cNvPr id="36868" name="Rectangle 2"/>
          <p:cNvSpPr>
            <a:spLocks noGrp="1" noRot="1" noChangeAspect="1" noChangeArrowheads="1" noTextEdit="1"/>
          </p:cNvSpPr>
          <p:nvPr>
            <p:ph type="sldImg"/>
          </p:nvPr>
        </p:nvSpPr>
        <p:spPr bwMode="auto">
          <a:xfrm>
            <a:off x="1144588" y="687388"/>
            <a:ext cx="4572000" cy="3429000"/>
          </a:xfrm>
          <a:noFill/>
          <a:ln>
            <a:solidFill>
              <a:srgbClr val="000000"/>
            </a:solidFill>
            <a:miter lim="800000"/>
            <a:headEnd/>
            <a:tailEnd/>
          </a:ln>
        </p:spPr>
      </p:sp>
      <p:sp>
        <p:nvSpPr>
          <p:cNvPr id="288772" name="Rectangle 3"/>
          <p:cNvSpPr>
            <a:spLocks noGrp="1" noChangeArrowheads="1"/>
          </p:cNvSpPr>
          <p:nvPr>
            <p:ph type="body" idx="1"/>
          </p:nvPr>
        </p:nvSpPr>
        <p:spPr>
          <a:xfrm>
            <a:off x="687389" y="4344989"/>
            <a:ext cx="5483225" cy="4111625"/>
          </a:xfrm>
          <a:solidFill>
            <a:srgbClr val="FFFFFF"/>
          </a:solidFill>
          <a:ln>
            <a:solidFill>
              <a:srgbClr val="000000"/>
            </a:solidFill>
          </a:ln>
        </p:spPr>
        <p:txBody>
          <a:bodyPr lIns="90523" tIns="45262" rIns="90523" bIns="45262">
            <a:normAutofit fontScale="85000" lnSpcReduction="20000"/>
          </a:bodyPr>
          <a:lstStyle/>
          <a:p>
            <a:pPr fontAlgn="auto">
              <a:spcBef>
                <a:spcPct val="0"/>
              </a:spcBef>
              <a:spcAft>
                <a:spcPts val="0"/>
              </a:spcAft>
              <a:defRPr/>
            </a:pPr>
            <a:r>
              <a:rPr lang="en-US" dirty="0" smtClean="0"/>
              <a:t>Increasing electrification has been a central trend in the buildings sector, increasing from 56 percent of site energy use in 1980 to 74 percent in 2010.  Direct natural gas use was essentially flat and declining as a percentage of site energy use over the same period.  </a:t>
            </a:r>
          </a:p>
          <a:p>
            <a:pPr fontAlgn="auto">
              <a:spcBef>
                <a:spcPct val="0"/>
              </a:spcBef>
              <a:spcAft>
                <a:spcPts val="0"/>
              </a:spcAft>
              <a:defRPr/>
            </a:pPr>
            <a:endParaRPr lang="en-US" dirty="0" smtClean="0"/>
          </a:p>
          <a:p>
            <a:pPr marL="0" lvl="1" fontAlgn="auto">
              <a:spcBef>
                <a:spcPct val="0"/>
              </a:spcBef>
              <a:spcAft>
                <a:spcPts val="0"/>
              </a:spcAft>
              <a:defRPr/>
            </a:pPr>
            <a:r>
              <a:rPr lang="en-US" dirty="0" smtClean="0"/>
              <a:t>Equally important to the fact that electricity is growing as a source of primary energy use is that it is already the dominant source.  This is reflected in the graphs, and is referenced in the title.</a:t>
            </a:r>
          </a:p>
          <a:p>
            <a:pPr fontAlgn="auto">
              <a:spcBef>
                <a:spcPct val="0"/>
              </a:spcBef>
              <a:spcAft>
                <a:spcPts val="0"/>
              </a:spcAft>
              <a:defRPr/>
            </a:pPr>
            <a:endParaRPr lang="en-US" dirty="0" smtClean="0"/>
          </a:p>
          <a:p>
            <a:pPr fontAlgn="auto">
              <a:spcBef>
                <a:spcPct val="0"/>
              </a:spcBef>
              <a:spcAft>
                <a:spcPts val="0"/>
              </a:spcAft>
              <a:defRPr/>
            </a:pPr>
            <a:endParaRPr lang="en-US" dirty="0" smtClean="0"/>
          </a:p>
          <a:p>
            <a:pPr fontAlgn="auto">
              <a:spcBef>
                <a:spcPct val="0"/>
              </a:spcBef>
              <a:spcAft>
                <a:spcPts val="0"/>
              </a:spcAft>
              <a:defRPr/>
            </a:pPr>
            <a:r>
              <a:rPr lang="en-US" dirty="0" smtClean="0"/>
              <a:t>Buildings petroleum energy use, primarily home heating oil in regional markets, declined from 11 percent of sector energy use in 1980 to 4 percent in 2010.  In fact the number of oil heated homes and sector oil consumption has declined in absolute terms. </a:t>
            </a:r>
          </a:p>
          <a:p>
            <a:pPr fontAlgn="auto">
              <a:spcBef>
                <a:spcPct val="0"/>
              </a:spcBef>
              <a:spcAft>
                <a:spcPts val="0"/>
              </a:spcAft>
              <a:defRPr/>
            </a:pPr>
            <a:endParaRPr lang="en-US" dirty="0" smtClean="0"/>
          </a:p>
          <a:p>
            <a:pPr fontAlgn="auto">
              <a:spcBef>
                <a:spcPct val="0"/>
              </a:spcBef>
              <a:spcAft>
                <a:spcPts val="0"/>
              </a:spcAft>
              <a:defRPr/>
            </a:pPr>
            <a:r>
              <a:rPr lang="en-US" dirty="0" smtClean="0"/>
              <a:t>__________________________________________________________________________________________________________________</a:t>
            </a:r>
          </a:p>
          <a:p>
            <a:pPr fontAlgn="auto">
              <a:spcBef>
                <a:spcPct val="0"/>
              </a:spcBef>
              <a:spcAft>
                <a:spcPts val="0"/>
              </a:spcAft>
              <a:defRPr/>
            </a:pPr>
            <a:r>
              <a:rPr lang="en-US" dirty="0" smtClean="0"/>
              <a:t>Electricity is the most versatile fuel form and also the most expensive per equivalent Btu.  Electricity usage accounted for 65% of the energy costs in 2005.  However, electricity prices declined in real terms during this period and as a result, expenditures for electricity did not rise as quickly as overall usage.  Still, the electricity expenditures rose with increased demand from $144B in 1980 to $238B in 2005 as measured in constant 2005 dollars.  </a:t>
            </a:r>
          </a:p>
          <a:p>
            <a:pPr fontAlgn="auto">
              <a:spcBef>
                <a:spcPct val="0"/>
              </a:spcBef>
              <a:spcAft>
                <a:spcPts val="0"/>
              </a:spcAft>
              <a:defRPr/>
            </a:pPr>
            <a:endParaRPr lang="en-US" dirty="0" smtClean="0"/>
          </a:p>
          <a:p>
            <a:pPr fontAlgn="auto">
              <a:spcBef>
                <a:spcPct val="0"/>
              </a:spcBef>
              <a:spcAft>
                <a:spcPts val="0"/>
              </a:spcAft>
              <a:defRPr/>
            </a:pPr>
            <a:r>
              <a:rPr lang="en-US" dirty="0" smtClean="0"/>
              <a:t>Natural gas is the second most used fuel in the buildings sector.  Natural gas use was essentially flat from 1980 to 2010 and as such decreased as a percentage of total use from 28% in 1980 to just 20% by 201-.  Still, expenditures rose significantly due to an over 60% increase in the price of natural gas driven largely by increased utility demand for electricity production.  </a:t>
            </a:r>
          </a:p>
          <a:p>
            <a:pPr fontAlgn="auto">
              <a:spcBef>
                <a:spcPct val="0"/>
              </a:spcBef>
              <a:spcAft>
                <a:spcPts val="0"/>
              </a:spcAft>
              <a:defRPr/>
            </a:pPr>
            <a:endParaRPr lang="en-US" dirty="0" smtClean="0"/>
          </a:p>
          <a:p>
            <a:pPr fontAlgn="auto">
              <a:spcBef>
                <a:spcPct val="0"/>
              </a:spcBef>
              <a:spcAft>
                <a:spcPts val="0"/>
              </a:spcAft>
              <a:defRPr/>
            </a:pPr>
            <a:r>
              <a:rPr lang="en-US" dirty="0" smtClean="0"/>
              <a:t>Petroleum, mostly a home heating fuel, declined in both absolute and relative terms from 1980 to 2010.  While petroleum represented 11% of total building energy use in 1980, the share dropped</a:t>
            </a:r>
            <a:r>
              <a:rPr lang="en-US" baseline="0" dirty="0" smtClean="0"/>
              <a:t> </a:t>
            </a:r>
            <a:r>
              <a:rPr lang="en-US" dirty="0" smtClean="0"/>
              <a:t>to just 4% by 2010 falling from just over 3 Quads to about 1.7 Quads by 2005.  Total expenditures also fell significantly for petroleum, due to decreased usage, even though prices increased by 10% over this period. </a:t>
            </a:r>
          </a:p>
          <a:p>
            <a:pPr fontAlgn="auto">
              <a:spcBef>
                <a:spcPct val="0"/>
              </a:spcBef>
              <a:spcAft>
                <a:spcPts val="0"/>
              </a:spcAft>
              <a:defRPr/>
            </a:pPr>
            <a:endParaRPr lang="en-US" dirty="0" smtClean="0"/>
          </a:p>
        </p:txBody>
      </p:sp>
      <p:sp>
        <p:nvSpPr>
          <p:cNvPr id="36870" name="Footer Placeholder 5"/>
          <p:cNvSpPr txBox="1">
            <a:spLocks noGrp="1"/>
          </p:cNvSpPr>
          <p:nvPr/>
        </p:nvSpPr>
        <p:spPr bwMode="auto">
          <a:xfrm>
            <a:off x="0" y="8685213"/>
            <a:ext cx="2971800" cy="457200"/>
          </a:xfrm>
          <a:prstGeom prst="rect">
            <a:avLst/>
          </a:prstGeom>
          <a:noFill/>
          <a:ln w="9525">
            <a:noFill/>
            <a:miter lim="800000"/>
            <a:headEnd/>
            <a:tailEnd/>
          </a:ln>
        </p:spPr>
        <p:txBody>
          <a:bodyPr lIns="91393" tIns="45696" rIns="91393" bIns="45696" anchor="b"/>
          <a:lstStyle/>
          <a:p>
            <a:endParaRPr lang="en-US" sz="1200" dirty="0">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What can</a:t>
            </a:r>
            <a:r>
              <a:rPr lang="en-US" baseline="0" dirty="0" smtClean="0"/>
              <a:t> we do about it on the buildings side? </a:t>
            </a:r>
          </a:p>
          <a:p>
            <a:endParaRPr lang="en-US" baseline="0" dirty="0" smtClean="0"/>
          </a:p>
          <a:p>
            <a:r>
              <a:rPr lang="en-US" baseline="0" dirty="0" smtClean="0"/>
              <a:t>A unifying goal has been net-zero energy buildings, definition given by DOE.  There are a number of ways to define it in more detail, site-basis, source-basis, etc.  The details of the accounting are not important at this time, as the approach that is needed to achieve these is essentially the same.  </a:t>
            </a:r>
            <a:endParaRPr lang="en-US" dirty="0"/>
          </a:p>
        </p:txBody>
      </p:sp>
      <p:sp>
        <p:nvSpPr>
          <p:cNvPr id="4" name="Slide Number Placeholder 3"/>
          <p:cNvSpPr>
            <a:spLocks noGrp="1"/>
          </p:cNvSpPr>
          <p:nvPr>
            <p:ph type="sldNum" sz="quarter" idx="10"/>
          </p:nvPr>
        </p:nvSpPr>
        <p:spPr/>
        <p:txBody>
          <a:bodyPr/>
          <a:lstStyle/>
          <a:p>
            <a:pPr>
              <a:defRPr/>
            </a:pPr>
            <a:fld id="{0349E947-259C-44D5-B3E0-FC562AEA7218}" type="slidenum">
              <a:rPr lang="en-US" smtClean="0"/>
              <a:pPr>
                <a:defRPr/>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Getting to net-zero buildings</a:t>
            </a:r>
            <a:r>
              <a:rPr lang="en-US" baseline="0" dirty="0" smtClean="0"/>
              <a:t> is essentially a 3-step process.  </a:t>
            </a:r>
          </a:p>
          <a:p>
            <a:endParaRPr lang="en-US" baseline="0" dirty="0" smtClean="0"/>
          </a:p>
          <a:p>
            <a:r>
              <a:rPr lang="en-US" baseline="0" dirty="0" smtClean="0"/>
              <a:t>It is generally thought that we can get from where we are now to about a 30-50% reduction in energy use through the implementation of existing technologies, e.g., better windows, better HVAC systems, better lighting, etc.  It is believed that new, more efficient technologies can get us another 30-40% in energy reductions.  To get to net-zero, about 30-40% will need to come from </a:t>
            </a:r>
            <a:r>
              <a:rPr lang="en-US" baseline="0" dirty="0" err="1" smtClean="0"/>
              <a:t>renewables</a:t>
            </a:r>
            <a:r>
              <a:rPr lang="en-US" baseline="0" dirty="0" smtClean="0"/>
              <a:t>.  </a:t>
            </a:r>
            <a:endParaRPr lang="en-US" dirty="0"/>
          </a:p>
        </p:txBody>
      </p:sp>
      <p:sp>
        <p:nvSpPr>
          <p:cNvPr id="4" name="Slide Number Placeholder 3"/>
          <p:cNvSpPr>
            <a:spLocks noGrp="1"/>
          </p:cNvSpPr>
          <p:nvPr>
            <p:ph type="sldNum" sz="quarter" idx="10"/>
          </p:nvPr>
        </p:nvSpPr>
        <p:spPr/>
        <p:txBody>
          <a:bodyPr/>
          <a:lstStyle/>
          <a:p>
            <a:pPr>
              <a:defRPr/>
            </a:pPr>
            <a:fld id="{0349E947-259C-44D5-B3E0-FC562AEA7218}" type="slidenum">
              <a:rPr lang="en-US" smtClean="0"/>
              <a:pPr>
                <a:defRPr/>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349E947-259C-44D5-B3E0-FC562AEA7218}" type="slidenum">
              <a:rPr lang="en-US" smtClean="0"/>
              <a:pPr>
                <a:defRPr/>
              </a:pPr>
              <a:t>7</a:t>
            </a:fld>
            <a:endParaRPr lang="en-US"/>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746246816"/>
      </p:ext>
    </p:extLst>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349E947-259C-44D5-B3E0-FC562AEA7218}" type="slidenum">
              <a:rPr lang="en-US" smtClean="0"/>
              <a:pPr>
                <a:defRPr/>
              </a:pPr>
              <a:t>8</a:t>
            </a:fld>
            <a:endParaRPr lang="en-US"/>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690799852"/>
      </p:ext>
    </p:extLst>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349E947-259C-44D5-B3E0-FC562AEA7218}" type="slidenum">
              <a:rPr lang="en-US" smtClean="0"/>
              <a:pPr>
                <a:defRPr/>
              </a:pPr>
              <a:t>9</a:t>
            </a:fld>
            <a:endParaRPr lang="en-US"/>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387115760"/>
      </p:ext>
    </p:extLst>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Let’s dive into</a:t>
            </a:r>
            <a:r>
              <a:rPr lang="en-US" baseline="0" dirty="0" smtClean="0"/>
              <a:t> the title of this talk, a discussion of a new facility that is being constructed on the NIST campus, the Net-Zero Energy, Residential Test Facility.</a:t>
            </a:r>
          </a:p>
          <a:p>
            <a:endParaRPr lang="en-US" baseline="0" dirty="0" smtClean="0"/>
          </a:p>
          <a:p>
            <a:r>
              <a:rPr lang="en-US" baseline="0" dirty="0" smtClean="0"/>
              <a:t>This image depicts what the facility will look like.  It is supposed to look like a typical home that one might find in this area.  For those that may have gone down to the Solar Decathlon a few weeks ago, you saw that some of the designs were a bit out of the ordinary from an architectural viewpoint.  Residential homebuyers tend to be conservative in their aesthetic choices, so we felt that it was important to keep the home looking like a normal home.  There is a main living area and a detached garage.  The detached garage, while not uncommon in this area, is more of a practical consideration.  We will install our monitoring equipment in there so as not to add an unusual heat load to the main living space.  </a:t>
            </a:r>
          </a:p>
          <a:p>
            <a:endParaRPr lang="en-US" baseline="0" dirty="0" smtClean="0"/>
          </a:p>
          <a:p>
            <a:r>
              <a:rPr lang="en-US" baseline="0" dirty="0" smtClean="0"/>
              <a:t>Photovoltaics will fill the south facing upper roof, while a solar thermal system will be installed above the front porch.  </a:t>
            </a:r>
            <a:endParaRPr lang="en-US" dirty="0"/>
          </a:p>
        </p:txBody>
      </p:sp>
      <p:sp>
        <p:nvSpPr>
          <p:cNvPr id="4" name="Slide Number Placeholder 3"/>
          <p:cNvSpPr>
            <a:spLocks noGrp="1"/>
          </p:cNvSpPr>
          <p:nvPr>
            <p:ph type="sldNum" sz="quarter" idx="10"/>
          </p:nvPr>
        </p:nvSpPr>
        <p:spPr/>
        <p:txBody>
          <a:bodyPr/>
          <a:lstStyle/>
          <a:p>
            <a:pPr>
              <a:defRPr/>
            </a:pPr>
            <a:fld id="{0349E947-259C-44D5-B3E0-FC562AEA7218}" type="slidenum">
              <a:rPr lang="en-US" smtClean="0"/>
              <a:pPr>
                <a:defRPr/>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64C79C50-36AC-4C18-915C-0D05A44FC442}" type="slidenum">
              <a:rPr lang="en-US" smtClean="0">
                <a:latin typeface="Arial" charset="0"/>
              </a:rPr>
              <a:pPr/>
              <a:t>11</a:t>
            </a:fld>
            <a:endParaRPr lang="en-US" smtClean="0">
              <a:latin typeface="Arial" charset="0"/>
            </a:endParaRPr>
          </a:p>
        </p:txBody>
      </p:sp>
      <p:sp>
        <p:nvSpPr>
          <p:cNvPr id="77827" name="Rectangle 2"/>
          <p:cNvSpPr>
            <a:spLocks noGrp="1" noRot="1" noChangeAspect="1" noChangeArrowheads="1" noTextEdit="1"/>
          </p:cNvSpPr>
          <p:nvPr>
            <p:ph type="sldImg"/>
          </p:nvPr>
        </p:nvSpPr>
        <p:spPr>
          <a:xfrm>
            <a:off x="1144588" y="687388"/>
            <a:ext cx="4568825" cy="3427412"/>
          </a:xfrm>
          <a:ln/>
        </p:spPr>
      </p:sp>
      <p:sp>
        <p:nvSpPr>
          <p:cNvPr id="77828" name="Rectangle 3"/>
          <p:cNvSpPr>
            <a:spLocks noGrp="1" noChangeArrowheads="1"/>
          </p:cNvSpPr>
          <p:nvPr>
            <p:ph type="body" idx="1"/>
          </p:nvPr>
        </p:nvSpPr>
        <p:spPr>
          <a:noFill/>
          <a:ln/>
        </p:spPr>
        <p:txBody>
          <a:bodyPr/>
          <a:lstStyle/>
          <a:p>
            <a:pPr eaLnBrk="1" hangingPunct="1"/>
            <a:r>
              <a:rPr lang="en-US" dirty="0" smtClean="0">
                <a:ea typeface="ＭＳ Ｐゴシック" pitchFamily="34" charset="-128"/>
              </a:rPr>
              <a:t>Demonstration</a:t>
            </a:r>
            <a:r>
              <a:rPr lang="en-US" baseline="0" dirty="0" smtClean="0">
                <a:ea typeface="ＭＳ Ｐゴシック" pitchFamily="34" charset="-128"/>
              </a:rPr>
              <a:t> stage will be the first year.  </a:t>
            </a:r>
          </a:p>
          <a:p>
            <a:pPr eaLnBrk="1" hangingPunct="1"/>
            <a:r>
              <a:rPr lang="en-US" baseline="0" dirty="0" smtClean="0">
                <a:ea typeface="ＭＳ Ｐゴシック" pitchFamily="34" charset="-128"/>
              </a:rPr>
              <a:t>After that, it will turn into a test facility.  </a:t>
            </a:r>
            <a:endParaRPr lang="en-US" dirty="0" smtClean="0">
              <a:ea typeface="ＭＳ Ｐゴシック"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8A4AA7CD-70B0-43F1-81DE-319F82036712}" type="slidenum">
              <a:rPr lang="en-US" smtClean="0">
                <a:latin typeface="Arial" charset="0"/>
              </a:rPr>
              <a:pPr/>
              <a:t>12</a:t>
            </a:fld>
            <a:endParaRPr lang="en-US" smtClean="0">
              <a:latin typeface="Arial" charset="0"/>
            </a:endParaRPr>
          </a:p>
        </p:txBody>
      </p:sp>
      <p:sp>
        <p:nvSpPr>
          <p:cNvPr id="79875" name="Rectangle 2"/>
          <p:cNvSpPr>
            <a:spLocks noGrp="1" noRot="1" noChangeAspect="1" noChangeArrowheads="1" noTextEdit="1"/>
          </p:cNvSpPr>
          <p:nvPr>
            <p:ph type="sldImg"/>
          </p:nvPr>
        </p:nvSpPr>
        <p:spPr>
          <a:xfrm>
            <a:off x="1144588" y="687388"/>
            <a:ext cx="4568825" cy="3427412"/>
          </a:xfrm>
          <a:ln/>
        </p:spPr>
      </p:sp>
      <p:sp>
        <p:nvSpPr>
          <p:cNvPr id="79876" name="Rectangle 3"/>
          <p:cNvSpPr>
            <a:spLocks noGrp="1" noChangeArrowheads="1"/>
          </p:cNvSpPr>
          <p:nvPr>
            <p:ph type="body" idx="1"/>
          </p:nvPr>
        </p:nvSpPr>
        <p:spPr>
          <a:noFill/>
          <a:ln/>
        </p:spPr>
        <p:txBody>
          <a:bodyPr/>
          <a:lstStyle/>
          <a:p>
            <a:pPr eaLnBrk="1" hangingPunct="1"/>
            <a:endParaRPr lang="en-US" smtClean="0">
              <a:ea typeface="ＭＳ Ｐゴシック"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349E947-259C-44D5-B3E0-FC562AEA7218}" type="slidenum">
              <a:rPr lang="en-US" smtClean="0"/>
              <a:pPr>
                <a:defRPr/>
              </a:pPr>
              <a:t>13</a:t>
            </a:fld>
            <a:endParaRPr lang="en-US"/>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117607505"/>
      </p:ext>
    </p:extLst>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9AFBFF3B-F319-4167-B4FF-63D7DF8EF007}" type="slidenum">
              <a:rPr lang="en-US" smtClean="0">
                <a:latin typeface="Arial" charset="0"/>
              </a:rPr>
              <a:pPr/>
              <a:t>14</a:t>
            </a:fld>
            <a:endParaRPr lang="en-US" smtClean="0">
              <a:latin typeface="Arial" charset="0"/>
            </a:endParaRPr>
          </a:p>
        </p:txBody>
      </p:sp>
      <p:sp>
        <p:nvSpPr>
          <p:cNvPr id="80899" name="Rectangle 2"/>
          <p:cNvSpPr>
            <a:spLocks noGrp="1" noRot="1" noChangeAspect="1" noChangeArrowheads="1" noTextEdit="1"/>
          </p:cNvSpPr>
          <p:nvPr>
            <p:ph type="sldImg"/>
          </p:nvPr>
        </p:nvSpPr>
        <p:spPr>
          <a:xfrm>
            <a:off x="1144588" y="687388"/>
            <a:ext cx="4568825" cy="3427412"/>
          </a:xfrm>
          <a:ln/>
        </p:spPr>
      </p:sp>
      <p:sp>
        <p:nvSpPr>
          <p:cNvPr id="80900" name="Rectangle 3"/>
          <p:cNvSpPr>
            <a:spLocks noGrp="1" noChangeArrowheads="1"/>
          </p:cNvSpPr>
          <p:nvPr>
            <p:ph type="body" idx="1"/>
          </p:nvPr>
        </p:nvSpPr>
        <p:spPr>
          <a:noFill/>
          <a:ln/>
        </p:spPr>
        <p:txBody>
          <a:bodyPr/>
          <a:lstStyle/>
          <a:p>
            <a:pPr eaLnBrk="1" hangingPunct="1"/>
            <a:r>
              <a:rPr lang="en-US" dirty="0" smtClean="0">
                <a:ea typeface="ＭＳ Ｐゴシック" pitchFamily="34" charset="-128"/>
              </a:rPr>
              <a:t>Code-compliant</a:t>
            </a:r>
            <a:r>
              <a:rPr lang="en-US" baseline="0" dirty="0" smtClean="0">
                <a:ea typeface="ＭＳ Ｐゴシック" pitchFamily="34" charset="-128"/>
              </a:rPr>
              <a:t> roof in this area is R-38</a:t>
            </a:r>
          </a:p>
          <a:p>
            <a:pPr eaLnBrk="1" hangingPunct="1"/>
            <a:r>
              <a:rPr lang="en-US" baseline="0" dirty="0" smtClean="0">
                <a:ea typeface="ＭＳ Ｐゴシック" pitchFamily="34" charset="-128"/>
              </a:rPr>
              <a:t>Code-compliant wall in this area is R-13</a:t>
            </a:r>
          </a:p>
          <a:p>
            <a:pPr eaLnBrk="1" hangingPunct="1"/>
            <a:r>
              <a:rPr lang="en-US" baseline="0" dirty="0" smtClean="0">
                <a:ea typeface="ＭＳ Ｐゴシック" pitchFamily="34" charset="-128"/>
              </a:rPr>
              <a:t>Code-compliant windows are R-2.9</a:t>
            </a:r>
          </a:p>
          <a:p>
            <a:pPr eaLnBrk="1" hangingPunct="1"/>
            <a:r>
              <a:rPr lang="en-US" baseline="0" dirty="0" smtClean="0">
                <a:ea typeface="ＭＳ Ｐゴシック" pitchFamily="34" charset="-128"/>
              </a:rPr>
              <a:t>Designed to minimize thermal shorts and to be extremely airtight.  </a:t>
            </a:r>
            <a:endParaRPr lang="en-US" dirty="0" smtClean="0">
              <a:ea typeface="ＭＳ Ｐゴシック"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31723747-07DB-40DF-8E3E-330D15408934}" type="slidenum">
              <a:rPr lang="en-US" smtClean="0">
                <a:latin typeface="Arial" charset="0"/>
              </a:rPr>
              <a:pPr/>
              <a:t>15</a:t>
            </a:fld>
            <a:endParaRPr lang="en-US" smtClean="0">
              <a:latin typeface="Arial" charset="0"/>
            </a:endParaRPr>
          </a:p>
        </p:txBody>
      </p:sp>
      <p:sp>
        <p:nvSpPr>
          <p:cNvPr id="82947" name="Rectangle 2"/>
          <p:cNvSpPr>
            <a:spLocks noGrp="1" noRot="1" noChangeAspect="1" noChangeArrowheads="1" noTextEdit="1"/>
          </p:cNvSpPr>
          <p:nvPr>
            <p:ph type="sldImg"/>
          </p:nvPr>
        </p:nvSpPr>
        <p:spPr>
          <a:xfrm>
            <a:off x="1144588" y="687388"/>
            <a:ext cx="4568825" cy="3427412"/>
          </a:xfrm>
          <a:ln/>
        </p:spPr>
      </p:sp>
      <p:sp>
        <p:nvSpPr>
          <p:cNvPr id="82948" name="Rectangle 3"/>
          <p:cNvSpPr>
            <a:spLocks noGrp="1" noChangeArrowheads="1"/>
          </p:cNvSpPr>
          <p:nvPr>
            <p:ph type="body" idx="1"/>
          </p:nvPr>
        </p:nvSpPr>
        <p:spPr>
          <a:noFill/>
          <a:ln/>
        </p:spPr>
        <p:txBody>
          <a:bodyPr/>
          <a:lstStyle/>
          <a:p>
            <a:pPr eaLnBrk="1" hangingPunct="1"/>
            <a:r>
              <a:rPr lang="en-US" dirty="0" smtClean="0">
                <a:ea typeface="ＭＳ Ｐゴシック" pitchFamily="34" charset="-128"/>
              </a:rPr>
              <a:t>PV aligned</a:t>
            </a:r>
            <a:r>
              <a:rPr lang="en-US" baseline="0" dirty="0" smtClean="0">
                <a:ea typeface="ＭＳ Ｐゴシック" pitchFamily="34" charset="-128"/>
              </a:rPr>
              <a:t> with roof, not optimized for this climate (latitude of 39 degrees) </a:t>
            </a:r>
            <a:endParaRPr lang="en-US" dirty="0" smtClean="0">
              <a:ea typeface="ＭＳ Ｐゴシック"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9F39D3DE-4A2B-4129-B5DD-2AB2FCC2AD45}" type="slidenum">
              <a:rPr lang="en-US" smtClean="0">
                <a:latin typeface="Arial" charset="0"/>
              </a:rPr>
              <a:pPr/>
              <a:t>16</a:t>
            </a:fld>
            <a:endParaRPr lang="en-US" smtClean="0">
              <a:latin typeface="Arial" charset="0"/>
            </a:endParaRPr>
          </a:p>
        </p:txBody>
      </p:sp>
      <p:sp>
        <p:nvSpPr>
          <p:cNvPr id="83971" name="Rectangle 2"/>
          <p:cNvSpPr>
            <a:spLocks noGrp="1" noRot="1" noChangeAspect="1" noChangeArrowheads="1" noTextEdit="1"/>
          </p:cNvSpPr>
          <p:nvPr>
            <p:ph type="sldImg"/>
          </p:nvPr>
        </p:nvSpPr>
        <p:spPr>
          <a:xfrm>
            <a:off x="1144588" y="687388"/>
            <a:ext cx="4568825" cy="3427412"/>
          </a:xfrm>
          <a:ln/>
        </p:spPr>
      </p:sp>
      <p:sp>
        <p:nvSpPr>
          <p:cNvPr id="83972" name="Rectangle 3"/>
          <p:cNvSpPr>
            <a:spLocks noGrp="1" noChangeArrowheads="1"/>
          </p:cNvSpPr>
          <p:nvPr>
            <p:ph type="body" idx="1"/>
          </p:nvPr>
        </p:nvSpPr>
        <p:spPr>
          <a:noFill/>
          <a:ln/>
        </p:spPr>
        <p:txBody>
          <a:bodyPr/>
          <a:lstStyle/>
          <a:p>
            <a:pPr eaLnBrk="1" hangingPunct="1"/>
            <a:r>
              <a:rPr lang="en-US" dirty="0" smtClean="0">
                <a:ea typeface="ＭＳ Ｐゴシック" pitchFamily="34" charset="-128"/>
              </a:rPr>
              <a:t>Remember</a:t>
            </a:r>
            <a:r>
              <a:rPr lang="en-US" baseline="0" dirty="0" smtClean="0">
                <a:ea typeface="ＭＳ Ｐゴシック" pitchFamily="34" charset="-128"/>
              </a:rPr>
              <a:t> that this is destined to be a test facility; we are not claiming that this configuration is best, but it will afford us opportunities in the future.  Additionally, our first year will be all electric, so use of gas backup was not an option. </a:t>
            </a:r>
            <a:endParaRPr lang="en-US" dirty="0" smtClean="0">
              <a:ea typeface="ＭＳ Ｐゴシック"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DBAFBD44-C223-4D0C-A743-23D31FF47F15}" type="slidenum">
              <a:rPr lang="en-US" smtClean="0">
                <a:latin typeface="Arial" charset="0"/>
              </a:rPr>
              <a:pPr/>
              <a:t>17</a:t>
            </a:fld>
            <a:endParaRPr lang="en-US" smtClean="0">
              <a:latin typeface="Arial" charset="0"/>
            </a:endParaRPr>
          </a:p>
        </p:txBody>
      </p:sp>
      <p:sp>
        <p:nvSpPr>
          <p:cNvPr id="84995" name="Rectangle 2"/>
          <p:cNvSpPr>
            <a:spLocks noGrp="1" noRot="1" noChangeAspect="1" noChangeArrowheads="1" noTextEdit="1"/>
          </p:cNvSpPr>
          <p:nvPr>
            <p:ph type="sldImg"/>
          </p:nvPr>
        </p:nvSpPr>
        <p:spPr>
          <a:xfrm>
            <a:off x="1144588" y="687388"/>
            <a:ext cx="4568825" cy="3427412"/>
          </a:xfrm>
          <a:ln/>
        </p:spPr>
      </p:sp>
      <p:sp>
        <p:nvSpPr>
          <p:cNvPr id="84996" name="Rectangle 3"/>
          <p:cNvSpPr>
            <a:spLocks noGrp="1" noChangeArrowheads="1"/>
          </p:cNvSpPr>
          <p:nvPr>
            <p:ph type="body" idx="1"/>
          </p:nvPr>
        </p:nvSpPr>
        <p:spPr>
          <a:noFill/>
          <a:ln/>
        </p:spPr>
        <p:txBody>
          <a:bodyPr/>
          <a:lstStyle/>
          <a:p>
            <a:pPr eaLnBrk="1" hangingPunct="1"/>
            <a:r>
              <a:rPr lang="en-US" dirty="0" smtClean="0">
                <a:ea typeface="ＭＳ Ｐゴシック" pitchFamily="34" charset="-128"/>
              </a:rPr>
              <a:t>Three different</a:t>
            </a:r>
            <a:r>
              <a:rPr lang="en-US" baseline="0" dirty="0" smtClean="0">
                <a:ea typeface="ＭＳ Ｐゴシック" pitchFamily="34" charset="-128"/>
              </a:rPr>
              <a:t> types of heating </a:t>
            </a:r>
            <a:r>
              <a:rPr lang="en-US" baseline="0" dirty="0" err="1" smtClean="0">
                <a:ea typeface="ＭＳ Ｐゴシック" pitchFamily="34" charset="-128"/>
              </a:rPr>
              <a:t>sytems</a:t>
            </a:r>
            <a:r>
              <a:rPr lang="en-US" baseline="0" dirty="0" smtClean="0">
                <a:ea typeface="ＭＳ Ｐゴシック" pitchFamily="34" charset="-128"/>
              </a:rPr>
              <a:t>.  Three geothermal loops.  Different distribution systems.  </a:t>
            </a:r>
          </a:p>
          <a:p>
            <a:pPr eaLnBrk="1" hangingPunct="1"/>
            <a:r>
              <a:rPr lang="en-US" baseline="0" dirty="0" smtClean="0">
                <a:ea typeface="ＭＳ Ｐゴシック" pitchFamily="34" charset="-128"/>
              </a:rPr>
              <a:t>Different zoning capabilities.  </a:t>
            </a:r>
            <a:endParaRPr lang="en-US" dirty="0" smtClean="0">
              <a:ea typeface="ＭＳ Ｐゴシック"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ln/>
        </p:spPr>
      </p:sp>
      <p:sp>
        <p:nvSpPr>
          <p:cNvPr id="86019" name="Notes Placeholder 2"/>
          <p:cNvSpPr>
            <a:spLocks noGrp="1"/>
          </p:cNvSpPr>
          <p:nvPr>
            <p:ph type="body" idx="1"/>
          </p:nvPr>
        </p:nvSpPr>
        <p:spPr>
          <a:noFill/>
          <a:ln/>
        </p:spPr>
        <p:txBody>
          <a:bodyPr/>
          <a:lstStyle/>
          <a:p>
            <a:endParaRPr lang="en-US" smtClean="0"/>
          </a:p>
        </p:txBody>
      </p:sp>
      <p:sp>
        <p:nvSpPr>
          <p:cNvPr id="86020" name="Slide Number Placeholder 3"/>
          <p:cNvSpPr>
            <a:spLocks noGrp="1"/>
          </p:cNvSpPr>
          <p:nvPr>
            <p:ph type="sldNum" sz="quarter" idx="5"/>
          </p:nvPr>
        </p:nvSpPr>
        <p:spPr>
          <a:noFill/>
        </p:spPr>
        <p:txBody>
          <a:bodyPr/>
          <a:lstStyle/>
          <a:p>
            <a:fld id="{BBA0D2A8-BE20-434D-89E5-D54F7726C2E0}" type="slidenum">
              <a:rPr lang="en-US" smtClean="0"/>
              <a:pPr/>
              <a:t>18</a:t>
            </a:fld>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7EF6BD5C-96CD-4336-AC53-9FAF537E63FE}" type="slidenum">
              <a:rPr lang="en-US" smtClean="0">
                <a:latin typeface="Arial" charset="0"/>
              </a:rPr>
              <a:pPr/>
              <a:t>19</a:t>
            </a:fld>
            <a:endParaRPr lang="en-US" smtClean="0">
              <a:latin typeface="Arial" charset="0"/>
            </a:endParaRPr>
          </a:p>
        </p:txBody>
      </p:sp>
      <p:sp>
        <p:nvSpPr>
          <p:cNvPr id="90115" name="Rectangle 2"/>
          <p:cNvSpPr>
            <a:spLocks noGrp="1" noRot="1" noChangeAspect="1" noChangeArrowheads="1" noTextEdit="1"/>
          </p:cNvSpPr>
          <p:nvPr>
            <p:ph type="sldImg"/>
          </p:nvPr>
        </p:nvSpPr>
        <p:spPr>
          <a:xfrm>
            <a:off x="1144588" y="687388"/>
            <a:ext cx="4568825" cy="3427412"/>
          </a:xfrm>
          <a:ln/>
        </p:spPr>
      </p:sp>
      <p:sp>
        <p:nvSpPr>
          <p:cNvPr id="90116" name="Rectangle 3"/>
          <p:cNvSpPr>
            <a:spLocks noGrp="1" noChangeArrowheads="1"/>
          </p:cNvSpPr>
          <p:nvPr>
            <p:ph type="body" idx="1"/>
          </p:nvPr>
        </p:nvSpPr>
        <p:spPr>
          <a:noFill/>
          <a:ln/>
        </p:spPr>
        <p:txBody>
          <a:bodyPr/>
          <a:lstStyle/>
          <a:p>
            <a:pPr eaLnBrk="1" hangingPunct="1"/>
            <a:r>
              <a:rPr lang="en-US" dirty="0" smtClean="0">
                <a:ea typeface="ＭＳ Ｐゴシック" pitchFamily="34" charset="-128"/>
              </a:rPr>
              <a:t>With</a:t>
            </a:r>
            <a:r>
              <a:rPr lang="en-US" baseline="0" dirty="0" smtClean="0">
                <a:ea typeface="ＭＳ Ｐゴシック" pitchFamily="34" charset="-128"/>
              </a:rPr>
              <a:t> these tight homes, we can no longer count on leaks through walls and windows to provide the outdoor air needed to maintain indoor air quality.  We will impose a mechanical ventilation system, in which fans exhaust air continuously through heat exchangers that swap heat between the indoor air and outdoor air.  “Build tight, ventilate right” Better than pulling air through dirty insulation or places that are not appropriate.  </a:t>
            </a:r>
            <a:endParaRPr lang="en-US" dirty="0" smtClean="0">
              <a:ea typeface="ＭＳ Ｐゴシック"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D89518EF-549A-47AB-8F3A-EC25DA2F830A}" type="slidenum">
              <a:rPr lang="en-US" smtClean="0">
                <a:latin typeface="Arial" charset="0"/>
              </a:rPr>
              <a:pPr/>
              <a:t>20</a:t>
            </a:fld>
            <a:endParaRPr lang="en-US" smtClean="0">
              <a:latin typeface="Arial" charset="0"/>
            </a:endParaRPr>
          </a:p>
        </p:txBody>
      </p:sp>
      <p:sp>
        <p:nvSpPr>
          <p:cNvPr id="87043" name="Rectangle 2"/>
          <p:cNvSpPr>
            <a:spLocks noGrp="1" noRot="1" noChangeAspect="1" noChangeArrowheads="1" noTextEdit="1"/>
          </p:cNvSpPr>
          <p:nvPr>
            <p:ph type="sldImg"/>
          </p:nvPr>
        </p:nvSpPr>
        <p:spPr>
          <a:xfrm>
            <a:off x="1144588" y="687388"/>
            <a:ext cx="4568825" cy="3427412"/>
          </a:xfrm>
          <a:ln/>
        </p:spPr>
      </p:sp>
      <p:sp>
        <p:nvSpPr>
          <p:cNvPr id="87044" name="Rectangle 3"/>
          <p:cNvSpPr>
            <a:spLocks noGrp="1" noChangeArrowheads="1"/>
          </p:cNvSpPr>
          <p:nvPr>
            <p:ph type="body" idx="1"/>
          </p:nvPr>
        </p:nvSpPr>
        <p:spPr>
          <a:noFill/>
          <a:ln/>
        </p:spPr>
        <p:txBody>
          <a:bodyPr/>
          <a:lstStyle/>
          <a:p>
            <a:pPr eaLnBrk="1" hangingPunct="1"/>
            <a:endParaRPr lang="en-US" smtClean="0">
              <a:ea typeface="ＭＳ Ｐゴシック"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A99120B3-1078-44CC-8092-05D7EBF08F41}" type="slidenum">
              <a:rPr lang="en-US" smtClean="0">
                <a:latin typeface="Arial" charset="0"/>
              </a:rPr>
              <a:pPr/>
              <a:t>21</a:t>
            </a:fld>
            <a:endParaRPr lang="en-US" smtClean="0">
              <a:latin typeface="Arial" charset="0"/>
            </a:endParaRPr>
          </a:p>
        </p:txBody>
      </p:sp>
      <p:sp>
        <p:nvSpPr>
          <p:cNvPr id="88067" name="Rectangle 2"/>
          <p:cNvSpPr>
            <a:spLocks noGrp="1" noRot="1" noChangeAspect="1" noChangeArrowheads="1" noTextEdit="1"/>
          </p:cNvSpPr>
          <p:nvPr>
            <p:ph type="sldImg"/>
          </p:nvPr>
        </p:nvSpPr>
        <p:spPr>
          <a:xfrm>
            <a:off x="1144588" y="687388"/>
            <a:ext cx="4568825" cy="3427412"/>
          </a:xfrm>
          <a:ln/>
        </p:spPr>
      </p:sp>
      <p:sp>
        <p:nvSpPr>
          <p:cNvPr id="88068" name="Rectangle 3"/>
          <p:cNvSpPr>
            <a:spLocks noGrp="1" noChangeArrowheads="1"/>
          </p:cNvSpPr>
          <p:nvPr>
            <p:ph type="body" idx="1"/>
          </p:nvPr>
        </p:nvSpPr>
        <p:spPr>
          <a:noFill/>
          <a:ln/>
        </p:spPr>
        <p:txBody>
          <a:bodyPr/>
          <a:lstStyle/>
          <a:p>
            <a:pPr eaLnBrk="1" hangingPunct="1"/>
            <a:r>
              <a:rPr lang="en-US" dirty="0" smtClean="0">
                <a:ea typeface="ＭＳ Ｐゴシック" pitchFamily="34" charset="-128"/>
              </a:rPr>
              <a:t>Appliance selections In order of impact on peak power requirements.</a:t>
            </a:r>
          </a:p>
          <a:p>
            <a:r>
              <a:rPr lang="en-US" u="sng" dirty="0" smtClean="0"/>
              <a:t>Refrigerator</a:t>
            </a:r>
            <a:r>
              <a:rPr lang="en-US" dirty="0" smtClean="0"/>
              <a:t>:  </a:t>
            </a:r>
          </a:p>
          <a:p>
            <a:r>
              <a:rPr lang="en-US" dirty="0" smtClean="0"/>
              <a:t>Requirement:  Top mount refrigerator, as small as possible but must be adequate for a 3BR house, uses least amount of energy.</a:t>
            </a:r>
          </a:p>
          <a:p>
            <a:r>
              <a:rPr lang="en-US" dirty="0" smtClean="0"/>
              <a:t>Suggested model:  Whirlpool G9RXXFMWS, 19ft3, rated energy consumption of 343 kWh/yr</a:t>
            </a:r>
          </a:p>
          <a:p>
            <a:r>
              <a:rPr lang="en-US" dirty="0" smtClean="0"/>
              <a:t>Link:  </a:t>
            </a:r>
            <a:r>
              <a:rPr lang="en-US" u="sng" dirty="0" smtClean="0">
                <a:hlinkClick r:id="rId3"/>
              </a:rPr>
              <a:t>http://www.whirlpool.com/catalog/product.jsp?src=REFRIGERATORS&amp;cat=96&amp;prod=1815</a:t>
            </a:r>
            <a:endParaRPr lang="en-US" dirty="0" smtClean="0"/>
          </a:p>
          <a:p>
            <a:r>
              <a:rPr lang="en-US" b="1" dirty="0" smtClean="0"/>
              <a:t>Dimensions</a:t>
            </a:r>
            <a:r>
              <a:rPr lang="en-US" dirty="0" smtClean="0"/>
              <a:t/>
            </a:r>
            <a:br>
              <a:rPr lang="en-US" dirty="0" smtClean="0"/>
            </a:br>
            <a:r>
              <a:rPr lang="en-US" dirty="0" smtClean="0"/>
              <a:t>Depth: 31 1/2 Inches</a:t>
            </a:r>
            <a:br>
              <a:rPr lang="en-US" dirty="0" smtClean="0"/>
            </a:br>
            <a:r>
              <a:rPr lang="en-US" dirty="0" smtClean="0"/>
              <a:t>Height: 66 1/2 Inches</a:t>
            </a:r>
            <a:br>
              <a:rPr lang="en-US" dirty="0" smtClean="0"/>
            </a:br>
            <a:r>
              <a:rPr lang="en-US" dirty="0" smtClean="0"/>
              <a:t>Width: 29 1/2 Inches</a:t>
            </a:r>
          </a:p>
          <a:p>
            <a:r>
              <a:rPr lang="en-US" dirty="0" smtClean="0"/>
              <a:t> </a:t>
            </a:r>
          </a:p>
          <a:p>
            <a:r>
              <a:rPr lang="en-US" u="sng" dirty="0" smtClean="0"/>
              <a:t>Dishwasher*</a:t>
            </a:r>
            <a:r>
              <a:rPr lang="en-US" dirty="0" smtClean="0"/>
              <a:t>:  </a:t>
            </a:r>
          </a:p>
          <a:p>
            <a:r>
              <a:rPr lang="en-US" dirty="0" smtClean="0"/>
              <a:t>Requirement:  Most energy efficient unit accommodating 12 place settings and having soil sensing technology</a:t>
            </a:r>
          </a:p>
          <a:p>
            <a:r>
              <a:rPr lang="en-US" dirty="0" smtClean="0"/>
              <a:t>Suggested model:  Whirlpool GU2800XTVY, rated energy consumption of 299 kWh/yr, 4.18 gallons/cycle, EF=0.72</a:t>
            </a:r>
          </a:p>
          <a:p>
            <a:r>
              <a:rPr lang="en-US" dirty="0" smtClean="0"/>
              <a:t>Link:  </a:t>
            </a:r>
            <a:r>
              <a:rPr lang="en-US" u="sng" dirty="0" smtClean="0">
                <a:hlinkClick r:id="rId4"/>
              </a:rPr>
              <a:t>http://www.whirlpool.com/catalog/product.jsp?parentCategoryId=74&amp;categoryId=108&amp;subCategoryId=109&amp;productId=1328#tabs</a:t>
            </a:r>
            <a:endParaRPr lang="en-US" dirty="0" smtClean="0"/>
          </a:p>
          <a:p>
            <a:r>
              <a:rPr lang="en-US" b="1" dirty="0" smtClean="0"/>
              <a:t>Dimensions</a:t>
            </a:r>
            <a:r>
              <a:rPr lang="en-US" dirty="0" smtClean="0"/>
              <a:t/>
            </a:r>
            <a:br>
              <a:rPr lang="en-US" dirty="0" smtClean="0"/>
            </a:br>
            <a:r>
              <a:rPr lang="en-US" dirty="0" smtClean="0"/>
              <a:t>Depth: 24 7/8 Inches</a:t>
            </a:r>
            <a:br>
              <a:rPr lang="en-US" dirty="0" smtClean="0"/>
            </a:br>
            <a:r>
              <a:rPr lang="en-US" dirty="0" smtClean="0"/>
              <a:t>Height: 34 1/2 Inches</a:t>
            </a:r>
            <a:br>
              <a:rPr lang="en-US" dirty="0" smtClean="0"/>
            </a:br>
            <a:r>
              <a:rPr lang="en-US" dirty="0" smtClean="0"/>
              <a:t>Width: 23 7/8 Inches</a:t>
            </a:r>
          </a:p>
          <a:p>
            <a:r>
              <a:rPr lang="en-US" dirty="0" smtClean="0"/>
              <a:t> </a:t>
            </a:r>
          </a:p>
          <a:p>
            <a:r>
              <a:rPr lang="en-US" dirty="0" smtClean="0"/>
              <a:t>Cooking appliances are not rated, therefore requirement is to match models of other appliances and conform to kitchen design layout.</a:t>
            </a:r>
          </a:p>
          <a:p>
            <a:r>
              <a:rPr lang="en-US" dirty="0" smtClean="0"/>
              <a:t> </a:t>
            </a:r>
          </a:p>
          <a:p>
            <a:r>
              <a:rPr lang="en-US" u="sng" dirty="0" smtClean="0"/>
              <a:t>Cook top</a:t>
            </a:r>
            <a:r>
              <a:rPr lang="en-US" dirty="0" smtClean="0"/>
              <a:t>:</a:t>
            </a:r>
          </a:p>
          <a:p>
            <a:r>
              <a:rPr lang="en-US" dirty="0" smtClean="0"/>
              <a:t>Whirlpool GJC3055RS, 30” Ceramic glass </a:t>
            </a:r>
            <a:r>
              <a:rPr lang="en-US" dirty="0" err="1" smtClean="0"/>
              <a:t>cooktop</a:t>
            </a:r>
            <a:endParaRPr lang="en-US" dirty="0" smtClean="0"/>
          </a:p>
          <a:p>
            <a:r>
              <a:rPr lang="en-US" dirty="0" smtClean="0"/>
              <a:t>Link: </a:t>
            </a:r>
            <a:r>
              <a:rPr lang="en-US" u="sng" dirty="0" smtClean="0">
                <a:hlinkClick r:id="rId5"/>
              </a:rPr>
              <a:t>http://www.whirlpool.com/catalog/product.jsp?src=COOKTOPS&amp;cat=80&amp;prod=1306</a:t>
            </a:r>
            <a:endParaRPr lang="en-US" dirty="0" smtClean="0"/>
          </a:p>
          <a:p>
            <a:r>
              <a:rPr lang="en-US" b="1" dirty="0" smtClean="0"/>
              <a:t>Dimensions</a:t>
            </a:r>
            <a:r>
              <a:rPr lang="en-US" dirty="0" smtClean="0"/>
              <a:t/>
            </a:r>
            <a:br>
              <a:rPr lang="en-US" dirty="0" smtClean="0"/>
            </a:br>
            <a:r>
              <a:rPr lang="en-US" dirty="0" smtClean="0"/>
              <a:t>Depth: 21 Inches</a:t>
            </a:r>
            <a:br>
              <a:rPr lang="en-US" dirty="0" smtClean="0"/>
            </a:br>
            <a:r>
              <a:rPr lang="en-US" dirty="0" smtClean="0"/>
              <a:t>Height: 2 7/8 Inches</a:t>
            </a:r>
            <a:br>
              <a:rPr lang="en-US" dirty="0" smtClean="0"/>
            </a:br>
            <a:r>
              <a:rPr lang="en-US" dirty="0" smtClean="0"/>
              <a:t>Width: 30 Inches</a:t>
            </a:r>
          </a:p>
          <a:p>
            <a:r>
              <a:rPr lang="en-US" dirty="0" smtClean="0"/>
              <a:t> </a:t>
            </a:r>
          </a:p>
          <a:p>
            <a:r>
              <a:rPr lang="en-US" u="sng" dirty="0" smtClean="0"/>
              <a:t>Range hood</a:t>
            </a:r>
            <a:r>
              <a:rPr lang="en-US" dirty="0" smtClean="0"/>
              <a:t>:</a:t>
            </a:r>
          </a:p>
          <a:p>
            <a:r>
              <a:rPr lang="en-US" dirty="0" smtClean="0"/>
              <a:t>Whirlpool GZ9730XSS, 30” canopy hood, 370 CFM ventilation system</a:t>
            </a:r>
          </a:p>
          <a:p>
            <a:r>
              <a:rPr lang="en-US" dirty="0" smtClean="0"/>
              <a:t>Link: </a:t>
            </a:r>
            <a:r>
              <a:rPr lang="en-US" u="sng" dirty="0" smtClean="0">
                <a:hlinkClick r:id="rId6"/>
              </a:rPr>
              <a:t>http://www.whirlpool.com/catalog/product.jsp?src=HOODS+AND+VENTS&amp;cat=86&amp;prod=1344</a:t>
            </a:r>
            <a:endParaRPr lang="en-US" dirty="0" smtClean="0"/>
          </a:p>
          <a:p>
            <a:r>
              <a:rPr lang="en-US" b="1" dirty="0" smtClean="0"/>
              <a:t>Dimensions</a:t>
            </a:r>
            <a:r>
              <a:rPr lang="en-US" dirty="0" smtClean="0"/>
              <a:t/>
            </a:r>
            <a:br>
              <a:rPr lang="en-US" dirty="0" smtClean="0"/>
            </a:br>
            <a:r>
              <a:rPr lang="en-US" dirty="0" smtClean="0"/>
              <a:t>Depth: 19 11/16 Inches</a:t>
            </a:r>
            <a:br>
              <a:rPr lang="en-US" dirty="0" smtClean="0"/>
            </a:br>
            <a:r>
              <a:rPr lang="en-US" dirty="0" smtClean="0"/>
              <a:t>Height: 46 1/8 Inches</a:t>
            </a:r>
            <a:br>
              <a:rPr lang="en-US" dirty="0" smtClean="0"/>
            </a:br>
            <a:r>
              <a:rPr lang="en-US" dirty="0" smtClean="0"/>
              <a:t>Width: 30 Inches</a:t>
            </a:r>
          </a:p>
          <a:p>
            <a:r>
              <a:rPr lang="en-US" dirty="0" smtClean="0"/>
              <a:t> </a:t>
            </a:r>
          </a:p>
          <a:p>
            <a:r>
              <a:rPr lang="en-US" u="sng" dirty="0" smtClean="0"/>
              <a:t>Microwave**</a:t>
            </a:r>
            <a:r>
              <a:rPr lang="en-US" dirty="0" smtClean="0"/>
              <a:t>:</a:t>
            </a:r>
          </a:p>
          <a:p>
            <a:r>
              <a:rPr lang="en-US" dirty="0" smtClean="0"/>
              <a:t>Whirlpool GH7208XRS, 2.0 ft3 built in combination microwave/convection oven.</a:t>
            </a:r>
          </a:p>
          <a:p>
            <a:r>
              <a:rPr lang="en-US" dirty="0" smtClean="0"/>
              <a:t>Link: </a:t>
            </a:r>
            <a:r>
              <a:rPr lang="en-US" u="sng" dirty="0" smtClean="0">
                <a:hlinkClick r:id="rId7"/>
              </a:rPr>
              <a:t>http://www.whirlpool.com/catalog/product.jsp?src=MICROWAVES&amp;cat=90&amp;prod=1298</a:t>
            </a:r>
            <a:endParaRPr lang="en-US" dirty="0" smtClean="0"/>
          </a:p>
          <a:p>
            <a:r>
              <a:rPr lang="en-US" b="1" dirty="0" smtClean="0"/>
              <a:t>Dimensions</a:t>
            </a:r>
            <a:r>
              <a:rPr lang="en-US" dirty="0" smtClean="0"/>
              <a:t/>
            </a:r>
            <a:br>
              <a:rPr lang="en-US" dirty="0" smtClean="0"/>
            </a:br>
            <a:r>
              <a:rPr lang="en-US" dirty="0" smtClean="0"/>
              <a:t>Depth: 18 1/8 Inches</a:t>
            </a:r>
            <a:br>
              <a:rPr lang="en-US" dirty="0" smtClean="0"/>
            </a:br>
            <a:r>
              <a:rPr lang="en-US" dirty="0" smtClean="0"/>
              <a:t>Height: 15 1/4 Inches</a:t>
            </a:r>
            <a:br>
              <a:rPr lang="en-US" dirty="0" smtClean="0"/>
            </a:br>
            <a:r>
              <a:rPr lang="en-US" dirty="0" smtClean="0"/>
              <a:t>Width: 29 7/8 Inches</a:t>
            </a:r>
          </a:p>
          <a:p>
            <a:r>
              <a:rPr lang="en-US" dirty="0" smtClean="0"/>
              <a:t> </a:t>
            </a:r>
          </a:p>
          <a:p>
            <a:r>
              <a:rPr lang="en-US" u="sng" dirty="0" smtClean="0"/>
              <a:t>Oven**</a:t>
            </a:r>
            <a:r>
              <a:rPr lang="en-US" dirty="0" smtClean="0"/>
              <a:t>:</a:t>
            </a:r>
          </a:p>
          <a:p>
            <a:r>
              <a:rPr lang="en-US" dirty="0" smtClean="0"/>
              <a:t>Whirlpool GBS309PVS, 30” built in oven/convection oven</a:t>
            </a:r>
          </a:p>
          <a:p>
            <a:r>
              <a:rPr lang="en-US" dirty="0" smtClean="0"/>
              <a:t>Link: </a:t>
            </a:r>
            <a:r>
              <a:rPr lang="en-US" u="sng" dirty="0" smtClean="0">
                <a:hlinkClick r:id="rId8"/>
              </a:rPr>
              <a:t>http://www.whirlpool.com/catalog/product.jsp?src=BUILT-IN+OVENS&amp;cat=83&amp;prod=1285</a:t>
            </a:r>
            <a:endParaRPr lang="en-US" dirty="0" smtClean="0"/>
          </a:p>
          <a:p>
            <a:r>
              <a:rPr lang="en-US" b="1" dirty="0" smtClean="0"/>
              <a:t>Dimensions</a:t>
            </a:r>
            <a:r>
              <a:rPr lang="en-US" dirty="0" smtClean="0"/>
              <a:t/>
            </a:r>
            <a:br>
              <a:rPr lang="en-US" dirty="0" smtClean="0"/>
            </a:br>
            <a:r>
              <a:rPr lang="en-US" dirty="0" smtClean="0"/>
              <a:t>Depth: 26 Inches</a:t>
            </a:r>
            <a:br>
              <a:rPr lang="en-US" dirty="0" smtClean="0"/>
            </a:br>
            <a:r>
              <a:rPr lang="en-US" dirty="0" smtClean="0"/>
              <a:t>Height: 29 Inches</a:t>
            </a:r>
            <a:br>
              <a:rPr lang="en-US" dirty="0" smtClean="0"/>
            </a:br>
            <a:r>
              <a:rPr lang="en-US" dirty="0" smtClean="0"/>
              <a:t>Width: 29 3/4 Inches</a:t>
            </a:r>
          </a:p>
          <a:p>
            <a:r>
              <a:rPr lang="en-US" dirty="0" smtClean="0"/>
              <a:t> </a:t>
            </a:r>
          </a:p>
          <a:p>
            <a:r>
              <a:rPr lang="en-US" dirty="0" smtClean="0"/>
              <a:t>*A few dishwashers were identified that are rated substantially better, however they are from different manufacturers.  One example is the Bosch SHE68E05UC, which is rated at 180 kWh/yr and claims 1.57 gallons/cycle.  This may be a better option for the dishwasher if emphasis is strictly on energy consumption, not matching the model series.  </a:t>
            </a:r>
          </a:p>
          <a:p>
            <a:r>
              <a:rPr lang="en-US" dirty="0" smtClean="0"/>
              <a:t> </a:t>
            </a:r>
          </a:p>
          <a:p>
            <a:r>
              <a:rPr lang="en-US" dirty="0" smtClean="0"/>
              <a:t>**The rationale for selecting the chosen pair of microwave and oven, both with convection, is to give the occupants the ability to bake in the smallest oven for each task which would ultimately use less energy.</a:t>
            </a:r>
          </a:p>
          <a:p>
            <a:r>
              <a:rPr lang="en-US" dirty="0" smtClean="0"/>
              <a:t> </a:t>
            </a:r>
          </a:p>
          <a:p>
            <a:r>
              <a:rPr lang="en-US" dirty="0" smtClean="0"/>
              <a:t> </a:t>
            </a:r>
          </a:p>
          <a:p>
            <a:r>
              <a:rPr lang="en-US" u="sng" dirty="0" smtClean="0"/>
              <a:t>Washer and Dryer</a:t>
            </a:r>
            <a:endParaRPr lang="en-US" dirty="0" smtClean="0"/>
          </a:p>
          <a:p>
            <a:r>
              <a:rPr lang="en-US" dirty="0" smtClean="0"/>
              <a:t>The washer and dryer combination will be kept separate from the kitchen appliances, therefore may be of different product families from the other appliances, but should match each other.  It should be noted that dryers are not rated products, therefore comparative analysis was based on washer performance.</a:t>
            </a:r>
          </a:p>
          <a:p>
            <a:r>
              <a:rPr lang="en-US" dirty="0" smtClean="0"/>
              <a:t> </a:t>
            </a:r>
          </a:p>
          <a:p>
            <a:r>
              <a:rPr lang="en-US" dirty="0" smtClean="0"/>
              <a:t>Requirement:  CEE Tier III qualification, full size, minimal electronics (standby power concern), stackable</a:t>
            </a:r>
          </a:p>
          <a:p>
            <a:r>
              <a:rPr lang="en-US" dirty="0" smtClean="0"/>
              <a:t> </a:t>
            </a:r>
          </a:p>
          <a:p>
            <a:r>
              <a:rPr lang="en-US" dirty="0" smtClean="0"/>
              <a:t>Option #1: </a:t>
            </a:r>
          </a:p>
          <a:p>
            <a:r>
              <a:rPr lang="en-US" dirty="0" smtClean="0"/>
              <a:t>Whirlpool WFW9750 W*  washer, rated 136 kWh/yr, MEF=2.63</a:t>
            </a:r>
          </a:p>
          <a:p>
            <a:r>
              <a:rPr lang="en-US" dirty="0" smtClean="0"/>
              <a:t>Whirlpool WED9750W* matching dryer</a:t>
            </a:r>
          </a:p>
          <a:p>
            <a:r>
              <a:rPr lang="en-US" dirty="0" smtClean="0"/>
              <a:t> </a:t>
            </a:r>
          </a:p>
          <a:p>
            <a:r>
              <a:rPr lang="en-US" dirty="0" smtClean="0"/>
              <a:t>Option #2:</a:t>
            </a:r>
          </a:p>
          <a:p>
            <a:r>
              <a:rPr lang="en-US" dirty="0" smtClean="0"/>
              <a:t>Bosch WFVC8440UC washer, rated 130 kWh/yr, MEF=2.55</a:t>
            </a:r>
          </a:p>
          <a:p>
            <a:r>
              <a:rPr lang="en-US" dirty="0" smtClean="0"/>
              <a:t>Bosch WTVC8330 dryer</a:t>
            </a:r>
          </a:p>
          <a:p>
            <a:r>
              <a:rPr lang="en-US" dirty="0" smtClean="0"/>
              <a:t> </a:t>
            </a:r>
          </a:p>
          <a:p>
            <a:r>
              <a:rPr lang="en-US" dirty="0" smtClean="0"/>
              <a:t> </a:t>
            </a:r>
          </a:p>
          <a:p>
            <a:pPr eaLnBrk="1" hangingPunct="1"/>
            <a:endParaRPr lang="en-US" dirty="0" smtClean="0">
              <a:ea typeface="ＭＳ Ｐゴシック"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5458B994-87AD-4084-85A1-684BD159209F}" type="slidenum">
              <a:rPr lang="en-US" smtClean="0">
                <a:latin typeface="Arial" charset="0"/>
              </a:rPr>
              <a:pPr/>
              <a:t>22</a:t>
            </a:fld>
            <a:endParaRPr lang="en-US" smtClean="0">
              <a:latin typeface="Arial" charset="0"/>
            </a:endParaRPr>
          </a:p>
        </p:txBody>
      </p:sp>
      <p:sp>
        <p:nvSpPr>
          <p:cNvPr id="89091" name="Rectangle 2"/>
          <p:cNvSpPr>
            <a:spLocks noGrp="1" noRot="1" noChangeAspect="1" noChangeArrowheads="1" noTextEdit="1"/>
          </p:cNvSpPr>
          <p:nvPr>
            <p:ph type="sldImg"/>
          </p:nvPr>
        </p:nvSpPr>
        <p:spPr>
          <a:xfrm>
            <a:off x="1144588" y="687388"/>
            <a:ext cx="4568825" cy="3427412"/>
          </a:xfrm>
          <a:ln/>
        </p:spPr>
      </p:sp>
      <p:sp>
        <p:nvSpPr>
          <p:cNvPr id="89092" name="Rectangle 3"/>
          <p:cNvSpPr>
            <a:spLocks noGrp="1" noChangeArrowheads="1"/>
          </p:cNvSpPr>
          <p:nvPr>
            <p:ph type="body" idx="1"/>
          </p:nvPr>
        </p:nvSpPr>
        <p:spPr>
          <a:noFill/>
          <a:ln/>
        </p:spPr>
        <p:txBody>
          <a:bodyPr/>
          <a:lstStyle/>
          <a:p>
            <a:pPr eaLnBrk="1" hangingPunct="1"/>
            <a:r>
              <a:rPr lang="en-US" dirty="0" smtClean="0">
                <a:ea typeface="ＭＳ Ｐゴシック" pitchFamily="34" charset="-128"/>
              </a:rPr>
              <a:t>Appliance selections In order of impact on peak power requirements.</a:t>
            </a:r>
          </a:p>
          <a:p>
            <a:r>
              <a:rPr lang="en-US" u="sng" dirty="0" smtClean="0"/>
              <a:t>Refrigerator</a:t>
            </a:r>
            <a:r>
              <a:rPr lang="en-US" dirty="0" smtClean="0"/>
              <a:t>:  </a:t>
            </a:r>
          </a:p>
          <a:p>
            <a:r>
              <a:rPr lang="en-US" dirty="0" smtClean="0"/>
              <a:t>Requirement:  Top mount refrigerator, as small as possible but must be adequate for a 3BR house, uses least amount of energy.</a:t>
            </a:r>
          </a:p>
          <a:p>
            <a:r>
              <a:rPr lang="en-US" dirty="0" smtClean="0"/>
              <a:t>Suggested model:  Whirlpool G9RXXFMWS, 19ft3, rated energy consumption of 343 kWh/yr</a:t>
            </a:r>
          </a:p>
          <a:p>
            <a:r>
              <a:rPr lang="en-US" dirty="0" smtClean="0"/>
              <a:t>Link:  </a:t>
            </a:r>
            <a:r>
              <a:rPr lang="en-US" u="sng" dirty="0" smtClean="0">
                <a:hlinkClick r:id="rId3"/>
              </a:rPr>
              <a:t>http://www.whirlpool.com/catalog/product.jsp?src=REFRIGERATORS&amp;cat=96&amp;prod=1815</a:t>
            </a:r>
            <a:endParaRPr lang="en-US" dirty="0" smtClean="0"/>
          </a:p>
          <a:p>
            <a:r>
              <a:rPr lang="en-US" b="1" dirty="0" smtClean="0"/>
              <a:t>Dimensions</a:t>
            </a:r>
            <a:r>
              <a:rPr lang="en-US" dirty="0" smtClean="0"/>
              <a:t/>
            </a:r>
            <a:br>
              <a:rPr lang="en-US" dirty="0" smtClean="0"/>
            </a:br>
            <a:r>
              <a:rPr lang="en-US" dirty="0" smtClean="0"/>
              <a:t>Depth: 31 1/2 Inches</a:t>
            </a:r>
            <a:br>
              <a:rPr lang="en-US" dirty="0" smtClean="0"/>
            </a:br>
            <a:r>
              <a:rPr lang="en-US" dirty="0" smtClean="0"/>
              <a:t>Height: 66 1/2 Inches</a:t>
            </a:r>
            <a:br>
              <a:rPr lang="en-US" dirty="0" smtClean="0"/>
            </a:br>
            <a:r>
              <a:rPr lang="en-US" dirty="0" smtClean="0"/>
              <a:t>Width: 29 1/2 Inches</a:t>
            </a:r>
          </a:p>
          <a:p>
            <a:r>
              <a:rPr lang="en-US" dirty="0" smtClean="0"/>
              <a:t> </a:t>
            </a:r>
          </a:p>
          <a:p>
            <a:r>
              <a:rPr lang="en-US" u="sng" dirty="0" smtClean="0"/>
              <a:t>Dishwasher*</a:t>
            </a:r>
            <a:r>
              <a:rPr lang="en-US" dirty="0" smtClean="0"/>
              <a:t>:  </a:t>
            </a:r>
          </a:p>
          <a:p>
            <a:r>
              <a:rPr lang="en-US" dirty="0" smtClean="0"/>
              <a:t>Requirement:  Most energy efficient unit accommodating 12 place settings and having soil sensing technology</a:t>
            </a:r>
          </a:p>
          <a:p>
            <a:r>
              <a:rPr lang="en-US" dirty="0" smtClean="0"/>
              <a:t>Suggested model:  Whirlpool GU2800XTVY, rated energy consumption of 299 kWh/yr, 4.18 gallons/cycle, EF=0.72</a:t>
            </a:r>
          </a:p>
          <a:p>
            <a:r>
              <a:rPr lang="en-US" dirty="0" smtClean="0"/>
              <a:t>Link:  </a:t>
            </a:r>
            <a:r>
              <a:rPr lang="en-US" u="sng" dirty="0" smtClean="0">
                <a:hlinkClick r:id="rId4"/>
              </a:rPr>
              <a:t>http://www.whirlpool.com/catalog/product.jsp?parentCategoryId=74&amp;categoryId=108&amp;subCategoryId=109&amp;productId=1328#tabs</a:t>
            </a:r>
            <a:endParaRPr lang="en-US" dirty="0" smtClean="0"/>
          </a:p>
          <a:p>
            <a:r>
              <a:rPr lang="en-US" b="1" dirty="0" smtClean="0"/>
              <a:t>Dimensions</a:t>
            </a:r>
            <a:r>
              <a:rPr lang="en-US" dirty="0" smtClean="0"/>
              <a:t/>
            </a:r>
            <a:br>
              <a:rPr lang="en-US" dirty="0" smtClean="0"/>
            </a:br>
            <a:r>
              <a:rPr lang="en-US" dirty="0" smtClean="0"/>
              <a:t>Depth: 24 7/8 Inches</a:t>
            </a:r>
            <a:br>
              <a:rPr lang="en-US" dirty="0" smtClean="0"/>
            </a:br>
            <a:r>
              <a:rPr lang="en-US" dirty="0" smtClean="0"/>
              <a:t>Height: 34 1/2 Inches</a:t>
            </a:r>
            <a:br>
              <a:rPr lang="en-US" dirty="0" smtClean="0"/>
            </a:br>
            <a:r>
              <a:rPr lang="en-US" dirty="0" smtClean="0"/>
              <a:t>Width: 23 7/8 Inches</a:t>
            </a:r>
          </a:p>
          <a:p>
            <a:r>
              <a:rPr lang="en-US" dirty="0" smtClean="0"/>
              <a:t> </a:t>
            </a:r>
          </a:p>
          <a:p>
            <a:r>
              <a:rPr lang="en-US" dirty="0" smtClean="0"/>
              <a:t>Cooking appliances are not rated, therefore requirement is to match models of other appliances and conform to kitchen design layout.</a:t>
            </a:r>
          </a:p>
          <a:p>
            <a:r>
              <a:rPr lang="en-US" dirty="0" smtClean="0"/>
              <a:t> </a:t>
            </a:r>
          </a:p>
          <a:p>
            <a:r>
              <a:rPr lang="en-US" u="sng" dirty="0" smtClean="0"/>
              <a:t>Cook top</a:t>
            </a:r>
            <a:r>
              <a:rPr lang="en-US" dirty="0" smtClean="0"/>
              <a:t>:</a:t>
            </a:r>
          </a:p>
          <a:p>
            <a:r>
              <a:rPr lang="en-US" dirty="0" smtClean="0"/>
              <a:t>Whirlpool GJC3055RS, 30” Ceramic glass </a:t>
            </a:r>
            <a:r>
              <a:rPr lang="en-US" dirty="0" err="1" smtClean="0"/>
              <a:t>cooktop</a:t>
            </a:r>
            <a:endParaRPr lang="en-US" dirty="0" smtClean="0"/>
          </a:p>
          <a:p>
            <a:r>
              <a:rPr lang="en-US" dirty="0" smtClean="0"/>
              <a:t>Link: </a:t>
            </a:r>
            <a:r>
              <a:rPr lang="en-US" u="sng" dirty="0" smtClean="0">
                <a:hlinkClick r:id="rId5"/>
              </a:rPr>
              <a:t>http://www.whirlpool.com/catalog/product.jsp?src=COOKTOPS&amp;cat=80&amp;prod=1306</a:t>
            </a:r>
            <a:endParaRPr lang="en-US" dirty="0" smtClean="0"/>
          </a:p>
          <a:p>
            <a:r>
              <a:rPr lang="en-US" b="1" dirty="0" smtClean="0"/>
              <a:t>Dimensions</a:t>
            </a:r>
            <a:r>
              <a:rPr lang="en-US" dirty="0" smtClean="0"/>
              <a:t/>
            </a:r>
            <a:br>
              <a:rPr lang="en-US" dirty="0" smtClean="0"/>
            </a:br>
            <a:r>
              <a:rPr lang="en-US" dirty="0" smtClean="0"/>
              <a:t>Depth: 21 Inches</a:t>
            </a:r>
            <a:br>
              <a:rPr lang="en-US" dirty="0" smtClean="0"/>
            </a:br>
            <a:r>
              <a:rPr lang="en-US" dirty="0" smtClean="0"/>
              <a:t>Height: 2 7/8 Inches</a:t>
            </a:r>
            <a:br>
              <a:rPr lang="en-US" dirty="0" smtClean="0"/>
            </a:br>
            <a:r>
              <a:rPr lang="en-US" dirty="0" smtClean="0"/>
              <a:t>Width: 30 Inches</a:t>
            </a:r>
          </a:p>
          <a:p>
            <a:r>
              <a:rPr lang="en-US" dirty="0" smtClean="0"/>
              <a:t> </a:t>
            </a:r>
          </a:p>
          <a:p>
            <a:r>
              <a:rPr lang="en-US" u="sng" dirty="0" smtClean="0"/>
              <a:t>Range hood</a:t>
            </a:r>
            <a:r>
              <a:rPr lang="en-US" dirty="0" smtClean="0"/>
              <a:t>:</a:t>
            </a:r>
          </a:p>
          <a:p>
            <a:r>
              <a:rPr lang="en-US" dirty="0" smtClean="0"/>
              <a:t>Whirlpool GZ9730XSS, 30” canopy hood, 370 CFM ventilation system</a:t>
            </a:r>
          </a:p>
          <a:p>
            <a:r>
              <a:rPr lang="en-US" dirty="0" smtClean="0"/>
              <a:t>Link: </a:t>
            </a:r>
            <a:r>
              <a:rPr lang="en-US" u="sng" dirty="0" smtClean="0">
                <a:hlinkClick r:id="rId6"/>
              </a:rPr>
              <a:t>http://www.whirlpool.com/catalog/product.jsp?src=HOODS+AND+VENTS&amp;cat=86&amp;prod=1344</a:t>
            </a:r>
            <a:endParaRPr lang="en-US" dirty="0" smtClean="0"/>
          </a:p>
          <a:p>
            <a:r>
              <a:rPr lang="en-US" b="1" dirty="0" smtClean="0"/>
              <a:t>Dimensions</a:t>
            </a:r>
            <a:r>
              <a:rPr lang="en-US" dirty="0" smtClean="0"/>
              <a:t/>
            </a:r>
            <a:br>
              <a:rPr lang="en-US" dirty="0" smtClean="0"/>
            </a:br>
            <a:r>
              <a:rPr lang="en-US" dirty="0" smtClean="0"/>
              <a:t>Depth: 19 11/16 Inches</a:t>
            </a:r>
            <a:br>
              <a:rPr lang="en-US" dirty="0" smtClean="0"/>
            </a:br>
            <a:r>
              <a:rPr lang="en-US" dirty="0" smtClean="0"/>
              <a:t>Height: 46 1/8 Inches</a:t>
            </a:r>
            <a:br>
              <a:rPr lang="en-US" dirty="0" smtClean="0"/>
            </a:br>
            <a:r>
              <a:rPr lang="en-US" dirty="0" smtClean="0"/>
              <a:t>Width: 30 Inches</a:t>
            </a:r>
          </a:p>
          <a:p>
            <a:r>
              <a:rPr lang="en-US" dirty="0" smtClean="0"/>
              <a:t> </a:t>
            </a:r>
          </a:p>
          <a:p>
            <a:r>
              <a:rPr lang="en-US" u="sng" dirty="0" smtClean="0"/>
              <a:t>Microwave**</a:t>
            </a:r>
            <a:r>
              <a:rPr lang="en-US" dirty="0" smtClean="0"/>
              <a:t>:</a:t>
            </a:r>
          </a:p>
          <a:p>
            <a:r>
              <a:rPr lang="en-US" dirty="0" smtClean="0"/>
              <a:t>Whirlpool GH7208XRS, 2.0 ft3 built in combination microwave/convection oven.</a:t>
            </a:r>
          </a:p>
          <a:p>
            <a:r>
              <a:rPr lang="en-US" dirty="0" smtClean="0"/>
              <a:t>Link: </a:t>
            </a:r>
            <a:r>
              <a:rPr lang="en-US" u="sng" dirty="0" smtClean="0">
                <a:hlinkClick r:id="rId7"/>
              </a:rPr>
              <a:t>http://www.whirlpool.com/catalog/product.jsp?src=MICROWAVES&amp;cat=90&amp;prod=1298</a:t>
            </a:r>
            <a:endParaRPr lang="en-US" dirty="0" smtClean="0"/>
          </a:p>
          <a:p>
            <a:r>
              <a:rPr lang="en-US" b="1" dirty="0" smtClean="0"/>
              <a:t>Dimensions</a:t>
            </a:r>
            <a:r>
              <a:rPr lang="en-US" dirty="0" smtClean="0"/>
              <a:t/>
            </a:r>
            <a:br>
              <a:rPr lang="en-US" dirty="0" smtClean="0"/>
            </a:br>
            <a:r>
              <a:rPr lang="en-US" dirty="0" smtClean="0"/>
              <a:t>Depth: 18 1/8 Inches</a:t>
            </a:r>
            <a:br>
              <a:rPr lang="en-US" dirty="0" smtClean="0"/>
            </a:br>
            <a:r>
              <a:rPr lang="en-US" dirty="0" smtClean="0"/>
              <a:t>Height: 15 1/4 Inches</a:t>
            </a:r>
            <a:br>
              <a:rPr lang="en-US" dirty="0" smtClean="0"/>
            </a:br>
            <a:r>
              <a:rPr lang="en-US" dirty="0" smtClean="0"/>
              <a:t>Width: 29 7/8 Inches</a:t>
            </a:r>
          </a:p>
          <a:p>
            <a:r>
              <a:rPr lang="en-US" dirty="0" smtClean="0"/>
              <a:t> </a:t>
            </a:r>
          </a:p>
          <a:p>
            <a:r>
              <a:rPr lang="en-US" u="sng" dirty="0" smtClean="0"/>
              <a:t>Oven**</a:t>
            </a:r>
            <a:r>
              <a:rPr lang="en-US" dirty="0" smtClean="0"/>
              <a:t>:</a:t>
            </a:r>
          </a:p>
          <a:p>
            <a:r>
              <a:rPr lang="en-US" dirty="0" smtClean="0"/>
              <a:t>Whirlpool GBS309PVS, 30” built in oven/convection oven</a:t>
            </a:r>
          </a:p>
          <a:p>
            <a:r>
              <a:rPr lang="en-US" dirty="0" smtClean="0"/>
              <a:t>Link: </a:t>
            </a:r>
            <a:r>
              <a:rPr lang="en-US" u="sng" dirty="0" smtClean="0">
                <a:hlinkClick r:id="rId8"/>
              </a:rPr>
              <a:t>http://www.whirlpool.com/catalog/product.jsp?src=BUILT-IN+OVENS&amp;cat=83&amp;prod=1285</a:t>
            </a:r>
            <a:endParaRPr lang="en-US" dirty="0" smtClean="0"/>
          </a:p>
          <a:p>
            <a:r>
              <a:rPr lang="en-US" b="1" dirty="0" smtClean="0"/>
              <a:t>Dimensions</a:t>
            </a:r>
            <a:r>
              <a:rPr lang="en-US" dirty="0" smtClean="0"/>
              <a:t/>
            </a:r>
            <a:br>
              <a:rPr lang="en-US" dirty="0" smtClean="0"/>
            </a:br>
            <a:r>
              <a:rPr lang="en-US" dirty="0" smtClean="0"/>
              <a:t>Depth: 26 Inches</a:t>
            </a:r>
            <a:br>
              <a:rPr lang="en-US" dirty="0" smtClean="0"/>
            </a:br>
            <a:r>
              <a:rPr lang="en-US" dirty="0" smtClean="0"/>
              <a:t>Height: 29 Inches</a:t>
            </a:r>
            <a:br>
              <a:rPr lang="en-US" dirty="0" smtClean="0"/>
            </a:br>
            <a:r>
              <a:rPr lang="en-US" dirty="0" smtClean="0"/>
              <a:t>Width: 29 3/4 Inches</a:t>
            </a:r>
          </a:p>
          <a:p>
            <a:r>
              <a:rPr lang="en-US" dirty="0" smtClean="0"/>
              <a:t> </a:t>
            </a:r>
          </a:p>
          <a:p>
            <a:r>
              <a:rPr lang="en-US" dirty="0" smtClean="0"/>
              <a:t>*A few dishwashers were identified that are rated substantially better, however they are from different manufacturers.  One example is the Bosch SHE68E05UC, which is rated at 180 kWh/yr and claims 1.57 gallons/cycle.  This may be a better option for the dishwasher if emphasis is strictly on energy consumption, not matching the model series.  </a:t>
            </a:r>
          </a:p>
          <a:p>
            <a:r>
              <a:rPr lang="en-US" dirty="0" smtClean="0"/>
              <a:t> </a:t>
            </a:r>
          </a:p>
          <a:p>
            <a:r>
              <a:rPr lang="en-US" dirty="0" smtClean="0"/>
              <a:t>**The rationale for selecting the chosen pair of microwave and oven, both with convection, is to give the occupants the ability to bake in the smallest oven for each task which would ultimately use less energy.</a:t>
            </a:r>
          </a:p>
          <a:p>
            <a:r>
              <a:rPr lang="en-US" dirty="0" smtClean="0"/>
              <a:t> </a:t>
            </a:r>
          </a:p>
          <a:p>
            <a:r>
              <a:rPr lang="en-US" dirty="0" smtClean="0"/>
              <a:t> </a:t>
            </a:r>
          </a:p>
          <a:p>
            <a:r>
              <a:rPr lang="en-US" u="sng" dirty="0" smtClean="0"/>
              <a:t>Washer and Dryer</a:t>
            </a:r>
            <a:endParaRPr lang="en-US" dirty="0" smtClean="0"/>
          </a:p>
          <a:p>
            <a:r>
              <a:rPr lang="en-US" dirty="0" smtClean="0"/>
              <a:t>The washer and dryer combination will be kept separate from the kitchen appliances, therefore may be of different product families from the other appliances, but should match each other.  It should be noted that dryers are not rated products, therefore comparative analysis was based on washer performance.</a:t>
            </a:r>
          </a:p>
          <a:p>
            <a:r>
              <a:rPr lang="en-US" dirty="0" smtClean="0"/>
              <a:t> </a:t>
            </a:r>
          </a:p>
          <a:p>
            <a:r>
              <a:rPr lang="en-US" dirty="0" smtClean="0"/>
              <a:t>Requirement:  CEE Tier III qualification, full size, minimal electronics (standby power concern), stackable</a:t>
            </a:r>
          </a:p>
          <a:p>
            <a:r>
              <a:rPr lang="en-US" dirty="0" smtClean="0"/>
              <a:t> </a:t>
            </a:r>
          </a:p>
          <a:p>
            <a:r>
              <a:rPr lang="en-US" dirty="0" smtClean="0"/>
              <a:t>Option #1: </a:t>
            </a:r>
          </a:p>
          <a:p>
            <a:r>
              <a:rPr lang="en-US" dirty="0" smtClean="0"/>
              <a:t>Whirlpool WFW9750 W*  washer, rated 136 kWh/yr, MEF=2.63</a:t>
            </a:r>
          </a:p>
          <a:p>
            <a:r>
              <a:rPr lang="en-US" dirty="0" smtClean="0"/>
              <a:t>Whirlpool WED9750W* matching dryer</a:t>
            </a:r>
          </a:p>
          <a:p>
            <a:r>
              <a:rPr lang="en-US" dirty="0" smtClean="0"/>
              <a:t> </a:t>
            </a:r>
          </a:p>
          <a:p>
            <a:r>
              <a:rPr lang="en-US" dirty="0" smtClean="0"/>
              <a:t>Option #2:</a:t>
            </a:r>
          </a:p>
          <a:p>
            <a:r>
              <a:rPr lang="en-US" dirty="0" smtClean="0"/>
              <a:t>Bosch WFVC8440UC washer, rated 130 kWh/yr, MEF=2.55</a:t>
            </a:r>
          </a:p>
          <a:p>
            <a:r>
              <a:rPr lang="en-US" dirty="0" smtClean="0"/>
              <a:t>Bosch WTVC8330 dryer</a:t>
            </a:r>
          </a:p>
          <a:p>
            <a:r>
              <a:rPr lang="en-US" dirty="0" smtClean="0"/>
              <a:t> </a:t>
            </a:r>
          </a:p>
          <a:p>
            <a:r>
              <a:rPr lang="en-US" dirty="0" smtClean="0"/>
              <a:t> </a:t>
            </a:r>
          </a:p>
          <a:p>
            <a:pPr eaLnBrk="1" hangingPunct="1"/>
            <a:endParaRPr lang="en-US" dirty="0" smtClean="0">
              <a:ea typeface="ＭＳ Ｐゴシック"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F270B379-62CA-46F0-A5B6-1A30685144E7}" type="slidenum">
              <a:rPr lang="en-US" smtClean="0">
                <a:latin typeface="Arial" charset="0"/>
              </a:rPr>
              <a:pPr/>
              <a:t>23</a:t>
            </a:fld>
            <a:endParaRPr lang="en-US" smtClean="0">
              <a:latin typeface="Arial" charset="0"/>
            </a:endParaRPr>
          </a:p>
        </p:txBody>
      </p:sp>
      <p:sp>
        <p:nvSpPr>
          <p:cNvPr id="92163" name="Rectangle 2"/>
          <p:cNvSpPr>
            <a:spLocks noGrp="1" noRot="1" noChangeAspect="1" noChangeArrowheads="1" noTextEdit="1"/>
          </p:cNvSpPr>
          <p:nvPr>
            <p:ph type="sldImg"/>
          </p:nvPr>
        </p:nvSpPr>
        <p:spPr>
          <a:xfrm>
            <a:off x="1144588" y="687388"/>
            <a:ext cx="4568825" cy="3427412"/>
          </a:xfrm>
          <a:ln/>
        </p:spPr>
      </p:sp>
      <p:sp>
        <p:nvSpPr>
          <p:cNvPr id="92164" name="Rectangle 3"/>
          <p:cNvSpPr>
            <a:spLocks noGrp="1" noChangeArrowheads="1"/>
          </p:cNvSpPr>
          <p:nvPr>
            <p:ph type="body" idx="1"/>
          </p:nvPr>
        </p:nvSpPr>
        <p:spPr>
          <a:noFill/>
          <a:ln/>
        </p:spPr>
        <p:txBody>
          <a:bodyPr/>
          <a:lstStyle/>
          <a:p>
            <a:pPr eaLnBrk="1" hangingPunct="1"/>
            <a:r>
              <a:rPr lang="en-US" dirty="0" smtClean="0">
                <a:ea typeface="ＭＳ Ｐゴシック" pitchFamily="34" charset="-128"/>
              </a:rPr>
              <a:t>First</a:t>
            </a:r>
            <a:r>
              <a:rPr lang="en-US" baseline="0" dirty="0" smtClean="0">
                <a:ea typeface="ＭＳ Ｐゴシック" pitchFamily="34" charset="-128"/>
              </a:rPr>
              <a:t> year will be all electric.  </a:t>
            </a:r>
            <a:r>
              <a:rPr lang="en-US" dirty="0" smtClean="0">
                <a:ea typeface="ＭＳ Ｐゴシック" pitchFamily="34" charset="-128"/>
              </a:rPr>
              <a:t>In</a:t>
            </a:r>
            <a:r>
              <a:rPr lang="en-US" baseline="0" dirty="0" smtClean="0">
                <a:ea typeface="ＭＳ Ｐゴシック" pitchFamily="34" charset="-128"/>
              </a:rPr>
              <a:t> this house, it is projected that appliances and plug loads will make up nearly half of the electrical demands. The typical home, 30% goes to heating, but this house should be so well-insulated and airtight that heating will be less.  </a:t>
            </a:r>
            <a:endParaRPr lang="en-US" dirty="0" smtClean="0">
              <a:ea typeface="ＭＳ Ｐゴシック"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623ECCCB-D3C8-4608-8EAA-45A561F6DD34}" type="slidenum">
              <a:rPr lang="en-US" smtClean="0">
                <a:latin typeface="Arial" charset="0"/>
              </a:rPr>
              <a:pPr/>
              <a:t>24</a:t>
            </a:fld>
            <a:endParaRPr lang="en-US" smtClean="0">
              <a:latin typeface="Arial" charset="0"/>
            </a:endParaRPr>
          </a:p>
        </p:txBody>
      </p:sp>
      <p:sp>
        <p:nvSpPr>
          <p:cNvPr id="94211" name="Rectangle 2"/>
          <p:cNvSpPr>
            <a:spLocks noGrp="1" noRot="1" noChangeAspect="1" noChangeArrowheads="1" noTextEdit="1"/>
          </p:cNvSpPr>
          <p:nvPr>
            <p:ph type="sldImg"/>
          </p:nvPr>
        </p:nvSpPr>
        <p:spPr>
          <a:xfrm>
            <a:off x="1144588" y="687388"/>
            <a:ext cx="4568825" cy="3427412"/>
          </a:xfrm>
          <a:ln/>
        </p:spPr>
      </p:sp>
      <p:sp>
        <p:nvSpPr>
          <p:cNvPr id="94212" name="Rectangle 3"/>
          <p:cNvSpPr>
            <a:spLocks noGrp="1" noChangeArrowheads="1"/>
          </p:cNvSpPr>
          <p:nvPr>
            <p:ph type="body" idx="1"/>
          </p:nvPr>
        </p:nvSpPr>
        <p:spPr>
          <a:noFill/>
          <a:ln/>
        </p:spPr>
        <p:txBody>
          <a:bodyPr/>
          <a:lstStyle/>
          <a:p>
            <a:pPr eaLnBrk="1" hangingPunct="1"/>
            <a:r>
              <a:rPr lang="en-US" dirty="0" smtClean="0">
                <a:ea typeface="ＭＳ Ｐゴシック" pitchFamily="34" charset="-128"/>
              </a:rPr>
              <a:t>Nearly even in production and use in February</a:t>
            </a:r>
            <a:r>
              <a:rPr lang="en-US" baseline="0" dirty="0" smtClean="0">
                <a:ea typeface="ＭＳ Ｐゴシック" pitchFamily="34" charset="-128"/>
              </a:rPr>
              <a:t> and November.  Pulling from the grid in Jan and Dec.  Putting more into the grid from March to October.</a:t>
            </a:r>
            <a:endParaRPr lang="en-US" dirty="0" smtClean="0">
              <a:ea typeface="ＭＳ Ｐゴシック"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6BD4981-D352-4099-AEC8-B08CA080A300}" type="slidenum">
              <a:rPr lang="en-US" smtClean="0"/>
              <a:pPr>
                <a:defRPr/>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6BD4981-D352-4099-AEC8-B08CA080A300}" type="slidenum">
              <a:rPr lang="en-US" smtClean="0"/>
              <a:pPr>
                <a:defRPr/>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6BD4981-D352-4099-AEC8-B08CA080A300}" type="slidenum">
              <a:rPr lang="en-US" smtClean="0"/>
              <a:pPr>
                <a:defRPr/>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6BD4981-D352-4099-AEC8-B08CA080A300}" type="slidenum">
              <a:rPr lang="en-US" smtClean="0"/>
              <a:pPr>
                <a:defRPr/>
              </a:pPr>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6BD4981-D352-4099-AEC8-B08CA080A300}" type="slidenum">
              <a:rPr lang="en-US" smtClean="0"/>
              <a:pPr>
                <a:defRPr/>
              </a:pPr>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6BD4981-D352-4099-AEC8-B08CA080A300}" type="slidenum">
              <a:rPr lang="en-US" smtClean="0"/>
              <a:pPr>
                <a:defRPr/>
              </a:pPr>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349E947-259C-44D5-B3E0-FC562AEA7218}" type="slidenum">
              <a:rPr lang="en-US" smtClean="0"/>
              <a:pPr>
                <a:defRPr/>
              </a:pPr>
              <a:t>31</a:t>
            </a:fld>
            <a:endParaRPr lang="en-US"/>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571113602"/>
      </p:ext>
    </p:extLst>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6BD4981-D352-4099-AEC8-B08CA080A300}" type="slidenum">
              <a:rPr lang="en-US" smtClean="0"/>
              <a:pPr>
                <a:defRPr/>
              </a:pPr>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6BD4981-D352-4099-AEC8-B08CA080A300}" type="slidenum">
              <a:rPr lang="en-US" smtClean="0"/>
              <a:pPr>
                <a:defRPr/>
              </a:pPr>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6BD4981-D352-4099-AEC8-B08CA080A300}" type="slidenum">
              <a:rPr lang="en-US" smtClean="0"/>
              <a:pPr>
                <a:defRPr/>
              </a:pPr>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349E947-259C-44D5-B3E0-FC562AEA7218}" type="slidenum">
              <a:rPr lang="en-US" smtClean="0"/>
              <a:pPr>
                <a:defRPr/>
              </a:pPr>
              <a:t>35</a:t>
            </a:fld>
            <a:endParaRPr lang="en-US"/>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9598491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590800" y="2130425"/>
            <a:ext cx="5867400" cy="1470025"/>
          </a:xfrm>
        </p:spPr>
        <p:txBody>
          <a:bodyPr/>
          <a:lstStyle/>
          <a:p>
            <a:r>
              <a:rPr lang="en-US" dirty="0" smtClean="0"/>
              <a:t>Click to edit Master title style</a:t>
            </a:r>
            <a:endParaRPr lang="en-US" dirty="0"/>
          </a:p>
        </p:txBody>
      </p:sp>
      <p:sp>
        <p:nvSpPr>
          <p:cNvPr id="3" name="Subtitle 2"/>
          <p:cNvSpPr>
            <a:spLocks noGrp="1"/>
          </p:cNvSpPr>
          <p:nvPr>
            <p:ph type="subTitle" idx="1"/>
          </p:nvPr>
        </p:nvSpPr>
        <p:spPr>
          <a:xfrm>
            <a:off x="2870200" y="3886200"/>
            <a:ext cx="4902200" cy="1752600"/>
          </a:xfrm>
        </p:spPr>
        <p:txBody>
          <a:bodyPr/>
          <a:lstStyle>
            <a:lvl1pPr marL="0" indent="0" algn="l">
              <a:buNone/>
              <a:defRPr>
                <a:solidFill>
                  <a:schemeClr val="accent1">
                    <a:lumMod val="20000"/>
                    <a:lumOff val="8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70C4B7C7-8AA2-4A79-9E3E-0D2686DAF446}" type="datetimeFigureOut">
              <a:rPr lang="en-US"/>
              <a:pPr>
                <a:defRPr/>
              </a:pPr>
              <a:t>12/14/11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152D853-6EB6-4877-A0E5-F35DCA565899}"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18C3F37-0028-4A39-B52A-4C8C1356C469}" type="datetimeFigureOut">
              <a:rPr lang="en-US"/>
              <a:pPr>
                <a:defRPr/>
              </a:pPr>
              <a:t>12/14/11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ADEDD74-A0F6-4CB8-87BF-BE4AC32CC0F1}"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EF0B318-00FF-4CC2-BEAD-C64D28AF096F}" type="datetimeFigureOut">
              <a:rPr lang="en-US"/>
              <a:pPr>
                <a:defRPr/>
              </a:pPr>
              <a:t>12/14/11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039FA0B-FD36-4E7D-BB8D-8E264FB3755D}"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D2B23C6-C6FB-479D-88A7-739B748C976B}" type="datetimeFigureOut">
              <a:rPr lang="en-US"/>
              <a:pPr>
                <a:defRPr/>
              </a:pPr>
              <a:t>12/14/11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FDE570E-EBA6-41BD-A51E-65683324B05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4AD29527-391A-4793-9504-5EFCC4A43E7A}" type="datetimeFigureOut">
              <a:rPr lang="en-US"/>
              <a:pPr>
                <a:defRPr/>
              </a:pPr>
              <a:t>12/14/11</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7E79F895-DB2E-4D2A-802B-94FE1E78DE81}"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F5940F40-9E98-47DA-BFD6-58AE9F9AC7FB}" type="datetimeFigureOut">
              <a:rPr lang="en-US"/>
              <a:pPr>
                <a:defRPr/>
              </a:pPr>
              <a:t>12/14/11</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EFFB2A28-3F2F-4C12-B2ED-609E540B2F6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FDE3566-ECF0-44A6-A6E2-0CFF7AC274C5}" type="datetimeFigureOut">
              <a:rPr lang="en-US"/>
              <a:pPr>
                <a:defRPr/>
              </a:pPr>
              <a:t>12/14/11</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9DCEE50C-6685-4005-A4EA-EE9A7B192278}"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954620E0-559F-48A7-911E-32C33E5E52C6}" type="datetimeFigureOut">
              <a:rPr lang="en-US"/>
              <a:pPr>
                <a:defRPr/>
              </a:pPr>
              <a:t>12/14/11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BD26ABD-669F-42E3-9D97-6AC9A04E8B3B}"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16D28C29-CF5C-4500-A2DE-7D4140ADFD14}" type="datetimeFigureOut">
              <a:rPr lang="en-US"/>
              <a:pPr>
                <a:defRPr/>
              </a:pPr>
              <a:t>12/14/11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3A5E5CC-A6D7-43B1-8838-7D84935BD954}"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B82BCC5-5920-4223-A0BA-F4168703DFF0}" type="datetimeFigureOut">
              <a:rPr lang="en-US"/>
              <a:pPr>
                <a:defRPr/>
              </a:pPr>
              <a:t>12/14/11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9DF103E-E35E-4BED-9B15-923712A25814}"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1C26518-794E-4DC0-A93D-6B101DCA8636}" type="datetimeFigureOut">
              <a:rPr lang="en-US"/>
              <a:pPr>
                <a:defRPr/>
              </a:pPr>
              <a:t>12/14/11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EF32EC4-FA98-4F60-8EB5-D3591B9F4F40}"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524000"/>
            <a:ext cx="4038600" cy="39624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4648200" y="1524000"/>
            <a:ext cx="4038600" cy="3962400"/>
          </a:xfrm>
          <a:prstGeom prst="rect">
            <a:avLst/>
          </a:prstGeom>
        </p:spPr>
        <p:txBody>
          <a:bodyPr/>
          <a:lstStyle/>
          <a:p>
            <a:pPr lvl="0"/>
            <a:endParaRPr lang="en-US" noProof="0"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userDrawn="1">
  <p:cSld name="1_Two Content">
    <p:spTree>
      <p:nvGrpSpPr>
        <p:cNvPr id="1" name=""/>
        <p:cNvGrpSpPr/>
        <p:nvPr/>
      </p:nvGrpSpPr>
      <p:grpSpPr>
        <a:xfrm>
          <a:off x="0" y="0"/>
          <a:ext cx="0" cy="0"/>
          <a:chOff x="0" y="0"/>
          <a:chExt cx="0" cy="0"/>
        </a:xfrm>
      </p:grpSpPr>
      <p:sp>
        <p:nvSpPr>
          <p:cNvPr id="2" name="Title 9"/>
          <p:cNvSpPr>
            <a:spLocks/>
          </p:cNvSpPr>
          <p:nvPr userDrawn="1"/>
        </p:nvSpPr>
        <p:spPr bwMode="auto">
          <a:xfrm>
            <a:off x="304800" y="152400"/>
            <a:ext cx="2286000" cy="762000"/>
          </a:xfrm>
          <a:prstGeom prst="rect">
            <a:avLst/>
          </a:prstGeom>
          <a:noFill/>
          <a:ln w="9525">
            <a:noFill/>
            <a:miter lim="800000"/>
            <a:headEnd/>
            <a:tailEnd/>
          </a:ln>
        </p:spPr>
        <p:txBody>
          <a:bodyPr anchor="ctr"/>
          <a:lstStyle/>
          <a:p>
            <a:pPr>
              <a:defRPr/>
            </a:pPr>
            <a:r>
              <a:rPr lang="en-US" sz="3000" dirty="0">
                <a:solidFill>
                  <a:prstClr val="white"/>
                </a:solidFill>
                <a:latin typeface="Arial"/>
                <a:cs typeface="Arial"/>
              </a:rPr>
              <a:t>NZERTF</a:t>
            </a:r>
          </a:p>
        </p:txBody>
      </p:sp>
      <p:sp>
        <p:nvSpPr>
          <p:cNvPr id="3" name="Text Box 25"/>
          <p:cNvSpPr txBox="1">
            <a:spLocks noChangeArrowheads="1"/>
          </p:cNvSpPr>
          <p:nvPr userDrawn="1"/>
        </p:nvSpPr>
        <p:spPr bwMode="auto">
          <a:xfrm>
            <a:off x="5562600" y="331788"/>
            <a:ext cx="3276600" cy="430212"/>
          </a:xfrm>
          <a:prstGeom prst="rect">
            <a:avLst/>
          </a:prstGeom>
          <a:noFill/>
          <a:ln w="9525">
            <a:noFill/>
            <a:miter lim="800000"/>
            <a:headEnd/>
            <a:tailEnd/>
          </a:ln>
          <a:effectLst/>
        </p:spPr>
        <p:txBody>
          <a:bodyPr>
            <a:spAutoFit/>
          </a:bodyPr>
          <a:lstStyle/>
          <a:p>
            <a:pPr algn="r">
              <a:spcBef>
                <a:spcPct val="50000"/>
              </a:spcBef>
              <a:defRPr/>
            </a:pPr>
            <a:r>
              <a:rPr lang="en-US" sz="2200" dirty="0">
                <a:solidFill>
                  <a:prstClr val="white"/>
                </a:solidFill>
                <a:latin typeface="Arial"/>
                <a:cs typeface="Arial"/>
              </a:rPr>
              <a:t>Gaithersburg, MD</a:t>
            </a:r>
          </a:p>
        </p:txBody>
      </p:sp>
      <p:sp>
        <p:nvSpPr>
          <p:cNvPr id="4" name="Rectangle 3"/>
          <p:cNvSpPr>
            <a:spLocks noChangeArrowheads="1"/>
          </p:cNvSpPr>
          <p:nvPr userDrawn="1"/>
        </p:nvSpPr>
        <p:spPr bwMode="auto">
          <a:xfrm>
            <a:off x="0" y="6019800"/>
            <a:ext cx="9144000" cy="838200"/>
          </a:xfrm>
          <a:prstGeom prst="rect">
            <a:avLst/>
          </a:prstGeom>
          <a:solidFill>
            <a:srgbClr val="D9D9D9"/>
          </a:solidFill>
          <a:ln w="9525">
            <a:solidFill>
              <a:srgbClr val="D9D9D9"/>
            </a:solidFill>
            <a:miter lim="800000"/>
            <a:headEnd/>
            <a:tailEnd/>
          </a:ln>
          <a:effectLst>
            <a:outerShdw dist="23000" dir="5400000" rotWithShape="0">
              <a:srgbClr val="808080">
                <a:alpha val="34999"/>
              </a:srgbClr>
            </a:outerShdw>
          </a:effectLst>
        </p:spPr>
        <p:txBody>
          <a:bodyPr wrap="none" anchor="ctr"/>
          <a:lstStyle/>
          <a:p>
            <a:pPr>
              <a:defRPr/>
            </a:pPr>
            <a:endParaRPr lang="en-US" sz="1800">
              <a:solidFill>
                <a:srgbClr val="FFFFFF"/>
              </a:solidFill>
              <a:latin typeface="Book Antiqua"/>
            </a:endParaRPr>
          </a:p>
        </p:txBody>
      </p:sp>
      <p:sp>
        <p:nvSpPr>
          <p:cNvPr id="5" name="Line 9"/>
          <p:cNvSpPr>
            <a:spLocks noChangeShapeType="1"/>
          </p:cNvSpPr>
          <p:nvPr userDrawn="1"/>
        </p:nvSpPr>
        <p:spPr bwMode="auto">
          <a:xfrm>
            <a:off x="381000" y="914400"/>
            <a:ext cx="8382000" cy="0"/>
          </a:xfrm>
          <a:prstGeom prst="line">
            <a:avLst/>
          </a:prstGeom>
          <a:noFill/>
          <a:ln w="9525" cap="flat" cmpd="sng" algn="ctr">
            <a:solidFill>
              <a:schemeClr val="tx1">
                <a:lumMod val="95000"/>
                <a:lumOff val="5000"/>
              </a:schemeClr>
            </a:solidFill>
            <a:prstDash val="solid"/>
            <a:round/>
            <a:headEnd type="none" w="med" len="med"/>
            <a:tailEnd type="none" w="med" len="med"/>
          </a:ln>
          <a:effectLst/>
        </p:spPr>
        <p:txBody>
          <a:bodyPr/>
          <a:lstStyle/>
          <a:p>
            <a:pPr>
              <a:defRPr/>
            </a:pPr>
            <a:endParaRPr lang="en-US" sz="1800">
              <a:solidFill>
                <a:prstClr val="white"/>
              </a:solidFill>
              <a:latin typeface="Times New Roman" pitchFamily="-108" charset="0"/>
            </a:endParaRPr>
          </a:p>
        </p:txBody>
      </p:sp>
      <p:sp>
        <p:nvSpPr>
          <p:cNvPr id="6" name="TextBox 5"/>
          <p:cNvSpPr txBox="1"/>
          <p:nvPr userDrawn="1"/>
        </p:nvSpPr>
        <p:spPr>
          <a:xfrm>
            <a:off x="304800" y="6172200"/>
            <a:ext cx="1752600" cy="584200"/>
          </a:xfrm>
          <a:prstGeom prst="rect">
            <a:avLst/>
          </a:prstGeom>
          <a:noFill/>
        </p:spPr>
        <p:txBody>
          <a:bodyPr>
            <a:spAutoFit/>
          </a:bodyPr>
          <a:lstStyle/>
          <a:p>
            <a:pPr>
              <a:defRPr/>
            </a:pPr>
            <a:r>
              <a:rPr lang="en-US" sz="1600" dirty="0">
                <a:solidFill>
                  <a:prstClr val="white"/>
                </a:solidFill>
                <a:latin typeface="Arial"/>
                <a:cs typeface="Arial"/>
              </a:rPr>
              <a:t>NIST</a:t>
            </a:r>
          </a:p>
          <a:p>
            <a:pPr>
              <a:defRPr/>
            </a:pPr>
            <a:r>
              <a:rPr lang="en-US" sz="1600" dirty="0">
                <a:solidFill>
                  <a:prstClr val="white"/>
                </a:solidFill>
                <a:latin typeface="Arial"/>
                <a:cs typeface="Arial"/>
              </a:rPr>
              <a:t>3 February 2010</a:t>
            </a:r>
          </a:p>
        </p:txBody>
      </p:sp>
      <p:sp>
        <p:nvSpPr>
          <p:cNvPr id="7" name="Rectangle 3"/>
          <p:cNvSpPr txBox="1">
            <a:spLocks noChangeArrowheads="1"/>
          </p:cNvSpPr>
          <p:nvPr userDrawn="1"/>
        </p:nvSpPr>
        <p:spPr>
          <a:xfrm>
            <a:off x="3429000" y="6400800"/>
            <a:ext cx="2133600" cy="304800"/>
          </a:xfrm>
          <a:prstGeom prst="rect">
            <a:avLst/>
          </a:prstGeom>
        </p:spPr>
        <p:txBody>
          <a:bodyPr/>
          <a:lstStyle/>
          <a:p>
            <a:pPr algn="ctr">
              <a:defRPr/>
            </a:pPr>
            <a:fld id="{0E1429DA-9B93-405C-94C4-41298DF76874}" type="slidenum">
              <a:rPr lang="en-US" sz="1200">
                <a:solidFill>
                  <a:prstClr val="white"/>
                </a:solidFill>
              </a:rPr>
              <a:pPr algn="ctr">
                <a:defRPr/>
              </a:pPr>
              <a:t>‹#›</a:t>
            </a:fld>
            <a:endParaRPr lang="en-US" sz="1200">
              <a:solidFill>
                <a:prstClr val="white"/>
              </a:solidFill>
            </a:endParaRPr>
          </a:p>
        </p:txBody>
      </p:sp>
      <p:pic>
        <p:nvPicPr>
          <p:cNvPr id="8" name="Picture 19" descr="BSC_logo_splash_page_small.eps"/>
          <p:cNvPicPr>
            <a:picLocks noChangeAspect="1"/>
          </p:cNvPicPr>
          <p:nvPr userDrawn="1"/>
        </p:nvPicPr>
        <p:blipFill>
          <a:blip r:embed="rId2"/>
          <a:srcRect/>
          <a:stretch>
            <a:fillRect/>
          </a:stretch>
        </p:blipFill>
        <p:spPr bwMode="auto">
          <a:xfrm>
            <a:off x="8318500" y="6234113"/>
            <a:ext cx="444500" cy="471487"/>
          </a:xfrm>
          <a:prstGeom prst="rect">
            <a:avLst/>
          </a:prstGeom>
          <a:noFill/>
          <a:ln w="9525">
            <a:noFill/>
            <a:miter lim="800000"/>
            <a:headEnd/>
            <a:tailEnd/>
          </a:ln>
        </p:spPr>
      </p:pic>
      <p:pic>
        <p:nvPicPr>
          <p:cNvPr id="9" name="Picture 20" descr="eere_logo_horiz_green.gif"/>
          <p:cNvPicPr>
            <a:picLocks noChangeAspect="1"/>
          </p:cNvPicPr>
          <p:nvPr userDrawn="1"/>
        </p:nvPicPr>
        <p:blipFill>
          <a:blip r:embed="rId3"/>
          <a:srcRect/>
          <a:stretch>
            <a:fillRect/>
          </a:stretch>
        </p:blipFill>
        <p:spPr bwMode="auto">
          <a:xfrm>
            <a:off x="5257800" y="6438900"/>
            <a:ext cx="1814513" cy="266700"/>
          </a:xfrm>
          <a:prstGeom prst="rect">
            <a:avLst/>
          </a:prstGeom>
          <a:noFill/>
          <a:ln w="9525">
            <a:noFill/>
            <a:miter lim="800000"/>
            <a:headEnd/>
            <a:tailEnd/>
          </a:ln>
        </p:spPr>
      </p:pic>
      <p:pic>
        <p:nvPicPr>
          <p:cNvPr id="10" name="Picture 22" descr="BA_Logo_2003.gif"/>
          <p:cNvPicPr>
            <a:picLocks noChangeAspect="1"/>
          </p:cNvPicPr>
          <p:nvPr userDrawn="1"/>
        </p:nvPicPr>
        <p:blipFill>
          <a:blip r:embed="rId4"/>
          <a:srcRect/>
          <a:stretch>
            <a:fillRect/>
          </a:stretch>
        </p:blipFill>
        <p:spPr bwMode="auto">
          <a:xfrm>
            <a:off x="7162800" y="6400800"/>
            <a:ext cx="990600" cy="304800"/>
          </a:xfrm>
          <a:prstGeom prst="rect">
            <a:avLst/>
          </a:prstGeom>
          <a:noFill/>
          <a:ln w="9525">
            <a:noFill/>
            <a:miter lim="800000"/>
            <a:headEnd/>
            <a:tailEnd/>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userDrawn="1">
  <p:cSld name="5_Two Content">
    <p:spTree>
      <p:nvGrpSpPr>
        <p:cNvPr id="1" name=""/>
        <p:cNvGrpSpPr/>
        <p:nvPr/>
      </p:nvGrpSpPr>
      <p:grpSpPr>
        <a:xfrm>
          <a:off x="0" y="0"/>
          <a:ext cx="0" cy="0"/>
          <a:chOff x="0" y="0"/>
          <a:chExt cx="0" cy="0"/>
        </a:xfrm>
      </p:grpSpPr>
      <p:sp>
        <p:nvSpPr>
          <p:cNvPr id="2" name="Title 9"/>
          <p:cNvSpPr>
            <a:spLocks/>
          </p:cNvSpPr>
          <p:nvPr userDrawn="1"/>
        </p:nvSpPr>
        <p:spPr bwMode="auto">
          <a:xfrm>
            <a:off x="304800" y="152400"/>
            <a:ext cx="2286000" cy="762000"/>
          </a:xfrm>
          <a:prstGeom prst="rect">
            <a:avLst/>
          </a:prstGeom>
          <a:noFill/>
          <a:ln w="9525">
            <a:noFill/>
            <a:miter lim="800000"/>
            <a:headEnd/>
            <a:tailEnd/>
          </a:ln>
        </p:spPr>
        <p:txBody>
          <a:bodyPr anchor="ctr"/>
          <a:lstStyle/>
          <a:p>
            <a:pPr>
              <a:defRPr/>
            </a:pPr>
            <a:r>
              <a:rPr lang="en-US" sz="3000" dirty="0">
                <a:latin typeface="Arial"/>
                <a:cs typeface="Arial"/>
              </a:rPr>
              <a:t>NZERTF</a:t>
            </a:r>
          </a:p>
        </p:txBody>
      </p:sp>
      <p:sp>
        <p:nvSpPr>
          <p:cNvPr id="3" name="Text Box 25"/>
          <p:cNvSpPr txBox="1">
            <a:spLocks noChangeArrowheads="1"/>
          </p:cNvSpPr>
          <p:nvPr userDrawn="1"/>
        </p:nvSpPr>
        <p:spPr bwMode="auto">
          <a:xfrm>
            <a:off x="5562600" y="331788"/>
            <a:ext cx="3276600" cy="430212"/>
          </a:xfrm>
          <a:prstGeom prst="rect">
            <a:avLst/>
          </a:prstGeom>
          <a:noFill/>
          <a:ln w="9525">
            <a:noFill/>
            <a:miter lim="800000"/>
            <a:headEnd/>
            <a:tailEnd/>
          </a:ln>
          <a:effectLst/>
        </p:spPr>
        <p:txBody>
          <a:bodyPr>
            <a:spAutoFit/>
          </a:bodyPr>
          <a:lstStyle/>
          <a:p>
            <a:pPr algn="r">
              <a:spcBef>
                <a:spcPct val="50000"/>
              </a:spcBef>
              <a:defRPr/>
            </a:pPr>
            <a:r>
              <a:rPr lang="en-US" sz="2200" dirty="0">
                <a:latin typeface="Arial"/>
                <a:cs typeface="Arial"/>
              </a:rPr>
              <a:t>Gaithersburg, MD</a:t>
            </a:r>
          </a:p>
        </p:txBody>
      </p:sp>
      <p:sp>
        <p:nvSpPr>
          <p:cNvPr id="4" name="Line 9"/>
          <p:cNvSpPr>
            <a:spLocks noChangeShapeType="1"/>
          </p:cNvSpPr>
          <p:nvPr userDrawn="1"/>
        </p:nvSpPr>
        <p:spPr bwMode="auto">
          <a:xfrm>
            <a:off x="381000" y="914400"/>
            <a:ext cx="8382000" cy="0"/>
          </a:xfrm>
          <a:prstGeom prst="line">
            <a:avLst/>
          </a:prstGeom>
          <a:noFill/>
          <a:ln w="9525" cap="flat" cmpd="sng" algn="ctr">
            <a:solidFill>
              <a:schemeClr val="tx1">
                <a:lumMod val="95000"/>
                <a:lumOff val="5000"/>
              </a:schemeClr>
            </a:solidFill>
            <a:prstDash val="solid"/>
            <a:round/>
            <a:headEnd type="none" w="med" len="med"/>
            <a:tailEnd type="none" w="med" len="med"/>
          </a:ln>
          <a:effectLst/>
        </p:spPr>
        <p:txBody>
          <a:bodyPr/>
          <a:lstStyle/>
          <a:p>
            <a:pPr>
              <a:defRPr/>
            </a:pPr>
            <a:endParaRPr lang="en-US">
              <a:latin typeface="Times New Roman" pitchFamily="-108" charset="0"/>
            </a:endParaRPr>
          </a:p>
        </p:txBody>
      </p:sp>
      <p:sp>
        <p:nvSpPr>
          <p:cNvPr id="5" name="Rectangle 3"/>
          <p:cNvSpPr txBox="1">
            <a:spLocks noChangeArrowheads="1"/>
          </p:cNvSpPr>
          <p:nvPr userDrawn="1"/>
        </p:nvSpPr>
        <p:spPr>
          <a:xfrm>
            <a:off x="3429000" y="6400800"/>
            <a:ext cx="2133600" cy="304800"/>
          </a:xfrm>
          <a:prstGeom prst="rect">
            <a:avLst/>
          </a:prstGeom>
        </p:spPr>
        <p:txBody>
          <a:bodyPr/>
          <a:lstStyle/>
          <a:p>
            <a:pPr algn="ctr">
              <a:defRPr/>
            </a:pPr>
            <a:fld id="{78959396-F9E6-4094-93A6-C9F3506E02C0}" type="slidenum">
              <a:rPr lang="en-US" sz="1200"/>
              <a:pPr algn="ctr">
                <a:defRPr/>
              </a:pPr>
              <a:t>‹#›</a:t>
            </a:fld>
            <a:endParaRPr lang="en-US" sz="120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userDrawn="1">
  <p:cSld name="6_Two Content">
    <p:spTree>
      <p:nvGrpSpPr>
        <p:cNvPr id="1" name=""/>
        <p:cNvGrpSpPr/>
        <p:nvPr/>
      </p:nvGrpSpPr>
      <p:grpSpPr>
        <a:xfrm>
          <a:off x="0" y="0"/>
          <a:ext cx="0" cy="0"/>
          <a:chOff x="0" y="0"/>
          <a:chExt cx="0" cy="0"/>
        </a:xfrm>
      </p:grpSpPr>
      <p:sp>
        <p:nvSpPr>
          <p:cNvPr id="2" name="Title 9"/>
          <p:cNvSpPr>
            <a:spLocks/>
          </p:cNvSpPr>
          <p:nvPr userDrawn="1"/>
        </p:nvSpPr>
        <p:spPr bwMode="auto">
          <a:xfrm>
            <a:off x="304800" y="152400"/>
            <a:ext cx="2286000" cy="762000"/>
          </a:xfrm>
          <a:prstGeom prst="rect">
            <a:avLst/>
          </a:prstGeom>
          <a:noFill/>
          <a:ln w="9525">
            <a:noFill/>
            <a:miter lim="800000"/>
            <a:headEnd/>
            <a:tailEnd/>
          </a:ln>
        </p:spPr>
        <p:txBody>
          <a:bodyPr anchor="ctr"/>
          <a:lstStyle/>
          <a:p>
            <a:pPr>
              <a:defRPr/>
            </a:pPr>
            <a:r>
              <a:rPr lang="en-US" sz="3000" dirty="0">
                <a:latin typeface="Arial"/>
                <a:cs typeface="Arial"/>
              </a:rPr>
              <a:t>NZERTF</a:t>
            </a:r>
          </a:p>
        </p:txBody>
      </p:sp>
      <p:sp>
        <p:nvSpPr>
          <p:cNvPr id="3" name="Text Box 25"/>
          <p:cNvSpPr txBox="1">
            <a:spLocks noChangeArrowheads="1"/>
          </p:cNvSpPr>
          <p:nvPr userDrawn="1"/>
        </p:nvSpPr>
        <p:spPr bwMode="auto">
          <a:xfrm>
            <a:off x="5562600" y="331788"/>
            <a:ext cx="3276600" cy="430212"/>
          </a:xfrm>
          <a:prstGeom prst="rect">
            <a:avLst/>
          </a:prstGeom>
          <a:noFill/>
          <a:ln w="9525">
            <a:noFill/>
            <a:miter lim="800000"/>
            <a:headEnd/>
            <a:tailEnd/>
          </a:ln>
          <a:effectLst/>
        </p:spPr>
        <p:txBody>
          <a:bodyPr>
            <a:spAutoFit/>
          </a:bodyPr>
          <a:lstStyle/>
          <a:p>
            <a:pPr algn="r">
              <a:spcBef>
                <a:spcPct val="50000"/>
              </a:spcBef>
              <a:defRPr/>
            </a:pPr>
            <a:r>
              <a:rPr lang="en-US" sz="2200" dirty="0">
                <a:latin typeface="Arial"/>
                <a:cs typeface="Arial"/>
              </a:rPr>
              <a:t>Gaithersburg, MD</a:t>
            </a:r>
          </a:p>
        </p:txBody>
      </p:sp>
      <p:sp>
        <p:nvSpPr>
          <p:cNvPr id="4" name="Line 9"/>
          <p:cNvSpPr>
            <a:spLocks noChangeShapeType="1"/>
          </p:cNvSpPr>
          <p:nvPr userDrawn="1"/>
        </p:nvSpPr>
        <p:spPr bwMode="auto">
          <a:xfrm>
            <a:off x="381000" y="914400"/>
            <a:ext cx="8382000" cy="0"/>
          </a:xfrm>
          <a:prstGeom prst="line">
            <a:avLst/>
          </a:prstGeom>
          <a:noFill/>
          <a:ln w="9525" cap="flat" cmpd="sng" algn="ctr">
            <a:solidFill>
              <a:schemeClr val="tx1">
                <a:lumMod val="95000"/>
                <a:lumOff val="5000"/>
              </a:schemeClr>
            </a:solidFill>
            <a:prstDash val="solid"/>
            <a:round/>
            <a:headEnd type="none" w="med" len="med"/>
            <a:tailEnd type="none" w="med" len="med"/>
          </a:ln>
          <a:effectLst/>
        </p:spPr>
        <p:txBody>
          <a:bodyPr/>
          <a:lstStyle/>
          <a:p>
            <a:pPr>
              <a:defRPr/>
            </a:pPr>
            <a:endParaRPr lang="en-US">
              <a:latin typeface="Times New Roman" pitchFamily="-108"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userDrawn="1">
  <p:cSld name="7_Two Content">
    <p:spTree>
      <p:nvGrpSpPr>
        <p:cNvPr id="1" name=""/>
        <p:cNvGrpSpPr/>
        <p:nvPr/>
      </p:nvGrpSpPr>
      <p:grpSpPr>
        <a:xfrm>
          <a:off x="0" y="0"/>
          <a:ext cx="0" cy="0"/>
          <a:chOff x="0" y="0"/>
          <a:chExt cx="0" cy="0"/>
        </a:xfrm>
      </p:grpSpPr>
      <p:sp>
        <p:nvSpPr>
          <p:cNvPr id="2" name="Title 9"/>
          <p:cNvSpPr>
            <a:spLocks/>
          </p:cNvSpPr>
          <p:nvPr userDrawn="1"/>
        </p:nvSpPr>
        <p:spPr bwMode="auto">
          <a:xfrm>
            <a:off x="304800" y="152400"/>
            <a:ext cx="2286000" cy="762000"/>
          </a:xfrm>
          <a:prstGeom prst="rect">
            <a:avLst/>
          </a:prstGeom>
          <a:noFill/>
          <a:ln w="9525">
            <a:noFill/>
            <a:miter lim="800000"/>
            <a:headEnd/>
            <a:tailEnd/>
          </a:ln>
        </p:spPr>
        <p:txBody>
          <a:bodyPr anchor="ctr"/>
          <a:lstStyle/>
          <a:p>
            <a:pPr>
              <a:defRPr/>
            </a:pPr>
            <a:r>
              <a:rPr lang="en-US" sz="3000" dirty="0">
                <a:latin typeface="Arial"/>
                <a:cs typeface="Arial"/>
              </a:rPr>
              <a:t>NZERTF</a:t>
            </a:r>
          </a:p>
        </p:txBody>
      </p:sp>
      <p:sp>
        <p:nvSpPr>
          <p:cNvPr id="3" name="Text Box 25"/>
          <p:cNvSpPr txBox="1">
            <a:spLocks noChangeArrowheads="1"/>
          </p:cNvSpPr>
          <p:nvPr userDrawn="1"/>
        </p:nvSpPr>
        <p:spPr bwMode="auto">
          <a:xfrm>
            <a:off x="5562600" y="331788"/>
            <a:ext cx="3276600" cy="430212"/>
          </a:xfrm>
          <a:prstGeom prst="rect">
            <a:avLst/>
          </a:prstGeom>
          <a:noFill/>
          <a:ln w="9525">
            <a:noFill/>
            <a:miter lim="800000"/>
            <a:headEnd/>
            <a:tailEnd/>
          </a:ln>
          <a:effectLst/>
        </p:spPr>
        <p:txBody>
          <a:bodyPr>
            <a:spAutoFit/>
          </a:bodyPr>
          <a:lstStyle/>
          <a:p>
            <a:pPr algn="r">
              <a:spcBef>
                <a:spcPct val="50000"/>
              </a:spcBef>
              <a:defRPr/>
            </a:pPr>
            <a:r>
              <a:rPr lang="en-US" sz="2200" dirty="0">
                <a:latin typeface="Arial"/>
                <a:cs typeface="Arial"/>
              </a:rPr>
              <a:t>Gaithersburg, MD</a:t>
            </a:r>
          </a:p>
        </p:txBody>
      </p:sp>
      <p:sp>
        <p:nvSpPr>
          <p:cNvPr id="4" name="Line 9"/>
          <p:cNvSpPr>
            <a:spLocks noChangeShapeType="1"/>
          </p:cNvSpPr>
          <p:nvPr userDrawn="1"/>
        </p:nvSpPr>
        <p:spPr bwMode="auto">
          <a:xfrm>
            <a:off x="381000" y="914400"/>
            <a:ext cx="8382000" cy="0"/>
          </a:xfrm>
          <a:prstGeom prst="line">
            <a:avLst/>
          </a:prstGeom>
          <a:noFill/>
          <a:ln w="9525" cap="flat" cmpd="sng" algn="ctr">
            <a:solidFill>
              <a:schemeClr val="tx1">
                <a:lumMod val="95000"/>
                <a:lumOff val="5000"/>
              </a:schemeClr>
            </a:solidFill>
            <a:prstDash val="solid"/>
            <a:round/>
            <a:headEnd type="none" w="med" len="med"/>
            <a:tailEnd type="none" w="med" len="med"/>
          </a:ln>
          <a:effectLst/>
        </p:spPr>
        <p:txBody>
          <a:bodyPr/>
          <a:lstStyle/>
          <a:p>
            <a:pPr>
              <a:defRPr/>
            </a:pPr>
            <a:endParaRPr lang="en-US">
              <a:latin typeface="Times New Roman" pitchFamily="-108" charset="0"/>
            </a:endParaRPr>
          </a:p>
        </p:txBody>
      </p:sp>
      <p:sp>
        <p:nvSpPr>
          <p:cNvPr id="5" name="Rectangle 3"/>
          <p:cNvSpPr txBox="1">
            <a:spLocks noChangeArrowheads="1"/>
          </p:cNvSpPr>
          <p:nvPr userDrawn="1"/>
        </p:nvSpPr>
        <p:spPr>
          <a:xfrm>
            <a:off x="3429000" y="6400800"/>
            <a:ext cx="2133600" cy="304800"/>
          </a:xfrm>
          <a:prstGeom prst="rect">
            <a:avLst/>
          </a:prstGeom>
        </p:spPr>
        <p:txBody>
          <a:bodyPr/>
          <a:lstStyle/>
          <a:p>
            <a:pPr algn="ctr">
              <a:defRPr/>
            </a:pPr>
            <a:fld id="{915A6844-EBF1-4485-9BB9-F24ADF6DA499}" type="slidenum">
              <a:rPr lang="en-US" sz="1200"/>
              <a:pPr algn="ctr">
                <a:defRPr/>
              </a:pPr>
              <a:t>‹#›</a:t>
            </a:fld>
            <a:endParaRPr lang="en-US" sz="120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 Id="rId18" Type="http://schemas.openxmlformats.org/officeDocument/2006/relationships/image" Target="../media/image1.jpe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blipFill dpi="0" rotWithShape="0">
          <a:blip r:embed="rId18"/>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785813" y="112713"/>
            <a:ext cx="7685087" cy="1030287"/>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470025"/>
            <a:ext cx="8216900" cy="4656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C6E0C4C4-18B9-43C6-8DEC-D8B5409482E3}" type="datetimeFigureOut">
              <a:rPr lang="en-US"/>
              <a:pPr>
                <a:defRPr/>
              </a:pPr>
              <a:t>12/14/11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01C406B6-2F81-4682-B6F7-385809769FAB}"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84" r:id="rId1"/>
    <p:sldLayoutId id="2147483683" r:id="rId2"/>
    <p:sldLayoutId id="2147483682" r:id="rId3"/>
    <p:sldLayoutId id="2147483681" r:id="rId4"/>
    <p:sldLayoutId id="2147483680" r:id="rId5"/>
    <p:sldLayoutId id="2147483679" r:id="rId6"/>
    <p:sldLayoutId id="2147483678" r:id="rId7"/>
    <p:sldLayoutId id="2147483677" r:id="rId8"/>
    <p:sldLayoutId id="2147483676" r:id="rId9"/>
    <p:sldLayoutId id="2147483675" r:id="rId10"/>
    <p:sldLayoutId id="2147483674" r:id="rId11"/>
    <p:sldLayoutId id="2147483685" r:id="rId12"/>
    <p:sldLayoutId id="2147483686" r:id="rId13"/>
    <p:sldLayoutId id="2147483687" r:id="rId14"/>
    <p:sldLayoutId id="2147483688" r:id="rId15"/>
    <p:sldLayoutId id="2147483689" r:id="rId16"/>
  </p:sldLayoutIdLst>
  <p:txStyles>
    <p:titleStyle>
      <a:lvl1pPr algn="l" defTabSz="457200" rtl="0" fontAlgn="base">
        <a:spcBef>
          <a:spcPct val="0"/>
        </a:spcBef>
        <a:spcAft>
          <a:spcPct val="0"/>
        </a:spcAft>
        <a:defRPr sz="3600" b="1" kern="1200">
          <a:solidFill>
            <a:srgbClr val="FFB800"/>
          </a:solidFill>
          <a:latin typeface="Arial"/>
          <a:ea typeface="+mj-ea"/>
          <a:cs typeface="Arial"/>
        </a:defRPr>
      </a:lvl1pPr>
      <a:lvl2pPr algn="l" defTabSz="457200" rtl="0" fontAlgn="base">
        <a:spcBef>
          <a:spcPct val="0"/>
        </a:spcBef>
        <a:spcAft>
          <a:spcPct val="0"/>
        </a:spcAft>
        <a:defRPr sz="3600" b="1">
          <a:solidFill>
            <a:srgbClr val="FFB800"/>
          </a:solidFill>
          <a:latin typeface="Arial" charset="0"/>
          <a:cs typeface="Arial" charset="0"/>
        </a:defRPr>
      </a:lvl2pPr>
      <a:lvl3pPr algn="l" defTabSz="457200" rtl="0" fontAlgn="base">
        <a:spcBef>
          <a:spcPct val="0"/>
        </a:spcBef>
        <a:spcAft>
          <a:spcPct val="0"/>
        </a:spcAft>
        <a:defRPr sz="3600" b="1">
          <a:solidFill>
            <a:srgbClr val="FFB800"/>
          </a:solidFill>
          <a:latin typeface="Arial" charset="0"/>
          <a:cs typeface="Arial" charset="0"/>
        </a:defRPr>
      </a:lvl3pPr>
      <a:lvl4pPr algn="l" defTabSz="457200" rtl="0" fontAlgn="base">
        <a:spcBef>
          <a:spcPct val="0"/>
        </a:spcBef>
        <a:spcAft>
          <a:spcPct val="0"/>
        </a:spcAft>
        <a:defRPr sz="3600" b="1">
          <a:solidFill>
            <a:srgbClr val="FFB800"/>
          </a:solidFill>
          <a:latin typeface="Arial" charset="0"/>
          <a:cs typeface="Arial" charset="0"/>
        </a:defRPr>
      </a:lvl4pPr>
      <a:lvl5pPr algn="l" defTabSz="457200" rtl="0" fontAlgn="base">
        <a:spcBef>
          <a:spcPct val="0"/>
        </a:spcBef>
        <a:spcAft>
          <a:spcPct val="0"/>
        </a:spcAft>
        <a:defRPr sz="3600" b="1">
          <a:solidFill>
            <a:srgbClr val="FFB800"/>
          </a:solidFill>
          <a:latin typeface="Arial" charset="0"/>
          <a:cs typeface="Arial" charset="0"/>
        </a:defRPr>
      </a:lvl5pPr>
      <a:lvl6pPr marL="457200" algn="l" defTabSz="457200" rtl="0" fontAlgn="base">
        <a:spcBef>
          <a:spcPct val="0"/>
        </a:spcBef>
        <a:spcAft>
          <a:spcPct val="0"/>
        </a:spcAft>
        <a:defRPr sz="3600" b="1">
          <a:solidFill>
            <a:srgbClr val="FFB800"/>
          </a:solidFill>
          <a:latin typeface="Arial" charset="0"/>
          <a:cs typeface="Arial" charset="0"/>
        </a:defRPr>
      </a:lvl6pPr>
      <a:lvl7pPr marL="914400" algn="l" defTabSz="457200" rtl="0" fontAlgn="base">
        <a:spcBef>
          <a:spcPct val="0"/>
        </a:spcBef>
        <a:spcAft>
          <a:spcPct val="0"/>
        </a:spcAft>
        <a:defRPr sz="3600" b="1">
          <a:solidFill>
            <a:srgbClr val="FFB800"/>
          </a:solidFill>
          <a:latin typeface="Arial" charset="0"/>
          <a:cs typeface="Arial" charset="0"/>
        </a:defRPr>
      </a:lvl7pPr>
      <a:lvl8pPr marL="1371600" algn="l" defTabSz="457200" rtl="0" fontAlgn="base">
        <a:spcBef>
          <a:spcPct val="0"/>
        </a:spcBef>
        <a:spcAft>
          <a:spcPct val="0"/>
        </a:spcAft>
        <a:defRPr sz="3600" b="1">
          <a:solidFill>
            <a:srgbClr val="FFB800"/>
          </a:solidFill>
          <a:latin typeface="Arial" charset="0"/>
          <a:cs typeface="Arial" charset="0"/>
        </a:defRPr>
      </a:lvl8pPr>
      <a:lvl9pPr marL="1828800" algn="l" defTabSz="457200" rtl="0" fontAlgn="base">
        <a:spcBef>
          <a:spcPct val="0"/>
        </a:spcBef>
        <a:spcAft>
          <a:spcPct val="0"/>
        </a:spcAft>
        <a:defRPr sz="3600" b="1">
          <a:solidFill>
            <a:srgbClr val="FFB800"/>
          </a:solidFill>
          <a:latin typeface="Arial" charset="0"/>
          <a:cs typeface="Arial" charset="0"/>
        </a:defRPr>
      </a:lvl9pPr>
    </p:titleStyle>
    <p:bodyStyle>
      <a:lvl1pPr marL="342900" indent="-342900" algn="l" defTabSz="457200" rtl="0" fontAlgn="base">
        <a:spcBef>
          <a:spcPts val="800"/>
        </a:spcBef>
        <a:spcAft>
          <a:spcPts val="200"/>
        </a:spcAft>
        <a:buClr>
          <a:srgbClr val="FFC836"/>
        </a:buClr>
        <a:buFont typeface="Arial" charset="0"/>
        <a:buChar char="•"/>
        <a:defRPr sz="2800" kern="1200">
          <a:solidFill>
            <a:schemeClr val="bg1"/>
          </a:solidFill>
          <a:latin typeface="Arial"/>
          <a:ea typeface="+mn-ea"/>
          <a:cs typeface="Arial"/>
        </a:defRPr>
      </a:lvl1pPr>
      <a:lvl2pPr marL="742950" indent="-285750" algn="l" defTabSz="457200" rtl="0" fontAlgn="base">
        <a:spcBef>
          <a:spcPts val="800"/>
        </a:spcBef>
        <a:spcAft>
          <a:spcPts val="400"/>
        </a:spcAft>
        <a:buClr>
          <a:srgbClr val="B9CDE5"/>
        </a:buClr>
        <a:buFont typeface="Arial" charset="0"/>
        <a:buChar char="–"/>
        <a:defRPr sz="2400" kern="1200">
          <a:solidFill>
            <a:schemeClr val="bg1"/>
          </a:solidFill>
          <a:latin typeface="Arial"/>
          <a:ea typeface="+mn-ea"/>
          <a:cs typeface="Arial"/>
        </a:defRPr>
      </a:lvl2pPr>
      <a:lvl3pPr marL="1143000" indent="-228600" algn="l" defTabSz="457200" rtl="0" fontAlgn="base">
        <a:spcBef>
          <a:spcPts val="800"/>
        </a:spcBef>
        <a:spcAft>
          <a:spcPts val="400"/>
        </a:spcAft>
        <a:buClr>
          <a:srgbClr val="FDEADA"/>
        </a:buClr>
        <a:buFont typeface="Arial" charset="0"/>
        <a:buChar char="•"/>
        <a:defRPr sz="2000" kern="1200">
          <a:solidFill>
            <a:schemeClr val="bg1"/>
          </a:solidFill>
          <a:latin typeface="Arial"/>
          <a:ea typeface="+mn-ea"/>
          <a:cs typeface="Arial"/>
        </a:defRPr>
      </a:lvl3pPr>
      <a:lvl4pPr marL="1600200" indent="-228600" algn="l" defTabSz="457200" rtl="0" fontAlgn="base">
        <a:spcBef>
          <a:spcPts val="800"/>
        </a:spcBef>
        <a:spcAft>
          <a:spcPts val="400"/>
        </a:spcAft>
        <a:buFont typeface="Arial" charset="0"/>
        <a:buChar char="–"/>
        <a:defRPr kern="1200">
          <a:solidFill>
            <a:schemeClr val="bg1"/>
          </a:solidFill>
          <a:latin typeface="Arial"/>
          <a:ea typeface="+mn-ea"/>
          <a:cs typeface="Arial"/>
        </a:defRPr>
      </a:lvl4pPr>
      <a:lvl5pPr marL="2057400" indent="-228600" algn="l" defTabSz="457200" rtl="0" fontAlgn="base">
        <a:spcBef>
          <a:spcPts val="800"/>
        </a:spcBef>
        <a:spcAft>
          <a:spcPts val="400"/>
        </a:spcAft>
        <a:buFont typeface="Arial" charset="0"/>
        <a:buChar char="»"/>
        <a:defRPr kern="1200">
          <a:solidFill>
            <a:schemeClr val="bg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chart" Target="../charts/chart1.xml"/><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4" Type="http://schemas.openxmlformats.org/officeDocument/2006/relationships/chart" Target="../charts/chart2.xml"/><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4" Type="http://schemas.openxmlformats.org/officeDocument/2006/relationships/image" Target="../media/image14.jpeg"/><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5.jpeg"/></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4" Type="http://schemas.openxmlformats.org/officeDocument/2006/relationships/image" Target="../media/image17.jpeg"/><Relationship Id="rId5" Type="http://schemas.openxmlformats.org/officeDocument/2006/relationships/image" Target="../media/image18.png"/><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9.jpeg"/><Relationship Id="rId4" Type="http://schemas.openxmlformats.org/officeDocument/2006/relationships/image" Target="../media/image20.png"/><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4" Type="http://schemas.openxmlformats.org/officeDocument/2006/relationships/image" Target="../media/image22.png"/><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3.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24.jpeg"/><Relationship Id="rId4" Type="http://schemas.openxmlformats.org/officeDocument/2006/relationships/image" Target="../media/image25.jpeg"/><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4" Type="http://schemas.openxmlformats.org/officeDocument/2006/relationships/image" Target="../media/image27.png"/><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9.jpeg"/><Relationship Id="rId4" Type="http://schemas.openxmlformats.org/officeDocument/2006/relationships/image" Target="../media/image30.png"/><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4" Type="http://schemas.openxmlformats.org/officeDocument/2006/relationships/image" Target="../media/image35.jpeg"/><Relationship Id="rId5" Type="http://schemas.openxmlformats.org/officeDocument/2006/relationships/image" Target="../media/image36.png"/><Relationship Id="rId6" Type="http://schemas.openxmlformats.org/officeDocument/2006/relationships/image" Target="../media/image37.png"/><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4" Type="http://schemas.openxmlformats.org/officeDocument/2006/relationships/image" Target="../media/image39.jpe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1" Type="http://schemas.openxmlformats.org/officeDocument/2006/relationships/slideLayout" Target="../slideLayouts/slideLayout1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44.jpeg"/><Relationship Id="rId4" Type="http://schemas.openxmlformats.org/officeDocument/2006/relationships/image" Target="../media/image45.jpeg"/><Relationship Id="rId5" Type="http://schemas.openxmlformats.org/officeDocument/2006/relationships/image" Target="../media/image46.jpeg"/><Relationship Id="rId1" Type="http://schemas.openxmlformats.org/officeDocument/2006/relationships/slideLayout" Target="../slideLayouts/slideLayout1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4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48.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 Id="rId3" Type="http://schemas.openxmlformats.org/officeDocument/2006/relationships/chart" Target="../charts/char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chart" Target="../charts/char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 Id="rId3" Type="http://schemas.openxmlformats.org/officeDocument/2006/relationships/image" Target="../media/image49.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 Id="rId3" Type="http://schemas.openxmlformats.org/officeDocument/2006/relationships/image" Target="../media/image50.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 Id="rId3" Type="http://schemas.openxmlformats.org/officeDocument/2006/relationships/image" Target="../media/image51.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 Id="rId3" Type="http://schemas.openxmlformats.org/officeDocument/2006/relationships/image" Target="../media/image52.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 Id="rId3" Type="http://schemas.openxmlformats.org/officeDocument/2006/relationships/image" Target="../media/image53.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 Id="rId3" Type="http://schemas.openxmlformats.org/officeDocument/2006/relationships/image" Target="../media/image54.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 Id="rId3" Type="http://schemas.openxmlformats.org/officeDocument/2006/relationships/image" Target="../media/image55.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 Id="rId3" Type="http://schemas.openxmlformats.org/officeDocument/2006/relationships/image" Target="../media/image56.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57.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 Id="rId3" Type="http://schemas.openxmlformats.org/officeDocument/2006/relationships/image" Target="../media/image58.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189186" y="2615609"/>
            <a:ext cx="8777015" cy="3181350"/>
          </a:xfrm>
        </p:spPr>
        <p:txBody>
          <a:bodyPr>
            <a:noAutofit/>
          </a:bodyPr>
          <a:lstStyle/>
          <a:p>
            <a:r>
              <a:rPr lang="en-US" sz="3200" b="0" i="1" dirty="0" smtClean="0">
                <a:solidFill>
                  <a:srgbClr val="B7DEE8"/>
                </a:solidFill>
                <a:latin typeface="Arial" charset="0"/>
                <a:cs typeface="Arial" charset="0"/>
              </a:rPr>
              <a:t>Bill Healy &amp; Tania Ullah</a:t>
            </a:r>
            <a:br>
              <a:rPr lang="en-US" sz="3200" b="0" i="1" dirty="0" smtClean="0">
                <a:solidFill>
                  <a:srgbClr val="B7DEE8"/>
                </a:solidFill>
                <a:latin typeface="Arial" charset="0"/>
                <a:cs typeface="Arial" charset="0"/>
              </a:rPr>
            </a:br>
            <a:r>
              <a:rPr lang="en-US" sz="3200" b="0" i="1" dirty="0" smtClean="0">
                <a:solidFill>
                  <a:srgbClr val="B7DEE8"/>
                </a:solidFill>
                <a:latin typeface="Arial" charset="0"/>
                <a:cs typeface="Arial" charset="0"/>
              </a:rPr>
              <a:t>Energy and Environment Division</a:t>
            </a:r>
            <a:br>
              <a:rPr lang="en-US" sz="3200" b="0" i="1" dirty="0" smtClean="0">
                <a:solidFill>
                  <a:srgbClr val="B7DEE8"/>
                </a:solidFill>
                <a:latin typeface="Arial" charset="0"/>
                <a:cs typeface="Arial" charset="0"/>
              </a:rPr>
            </a:br>
            <a:r>
              <a:rPr lang="en-US" sz="3200" b="0" i="1" dirty="0" smtClean="0">
                <a:solidFill>
                  <a:srgbClr val="B7DEE8"/>
                </a:solidFill>
                <a:latin typeface="Arial" charset="0"/>
                <a:cs typeface="Arial" charset="0"/>
              </a:rPr>
              <a:t>National Institute of Standards and Technology</a:t>
            </a:r>
            <a:br>
              <a:rPr lang="en-US" sz="3200" b="0" i="1" dirty="0" smtClean="0">
                <a:solidFill>
                  <a:srgbClr val="B7DEE8"/>
                </a:solidFill>
                <a:latin typeface="Arial" charset="0"/>
                <a:cs typeface="Arial" charset="0"/>
              </a:rPr>
            </a:br>
            <a:r>
              <a:rPr lang="en-US" sz="3200" b="0" i="1" dirty="0" smtClean="0">
                <a:solidFill>
                  <a:srgbClr val="B7DEE8"/>
                </a:solidFill>
                <a:latin typeface="Arial" charset="0"/>
                <a:cs typeface="Arial" charset="0"/>
              </a:rPr>
              <a:t/>
            </a:r>
            <a:br>
              <a:rPr lang="en-US" sz="3200" b="0" i="1" dirty="0" smtClean="0">
                <a:solidFill>
                  <a:srgbClr val="B7DEE8"/>
                </a:solidFill>
                <a:latin typeface="Arial" charset="0"/>
                <a:cs typeface="Arial" charset="0"/>
              </a:rPr>
            </a:br>
            <a:r>
              <a:rPr lang="en-US" sz="3200" b="0" i="1" dirty="0" smtClean="0">
                <a:solidFill>
                  <a:srgbClr val="B7DEE8"/>
                </a:solidFill>
                <a:latin typeface="Arial" charset="0"/>
                <a:cs typeface="Arial" charset="0"/>
              </a:rPr>
              <a:t>Science Afternoon at NIST</a:t>
            </a:r>
            <a:br>
              <a:rPr lang="en-US" sz="3200" b="0" i="1" dirty="0" smtClean="0">
                <a:solidFill>
                  <a:srgbClr val="B7DEE8"/>
                </a:solidFill>
                <a:latin typeface="Arial" charset="0"/>
                <a:cs typeface="Arial" charset="0"/>
              </a:rPr>
            </a:br>
            <a:r>
              <a:rPr lang="en-US" sz="3200" b="0" i="1" dirty="0" smtClean="0">
                <a:solidFill>
                  <a:srgbClr val="B7DEE8"/>
                </a:solidFill>
                <a:latin typeface="Arial" charset="0"/>
                <a:cs typeface="Arial" charset="0"/>
              </a:rPr>
              <a:t/>
            </a:r>
            <a:br>
              <a:rPr lang="en-US" sz="3200" b="0" i="1" dirty="0" smtClean="0">
                <a:solidFill>
                  <a:srgbClr val="B7DEE8"/>
                </a:solidFill>
                <a:latin typeface="Arial" charset="0"/>
                <a:cs typeface="Arial" charset="0"/>
              </a:rPr>
            </a:br>
            <a:r>
              <a:rPr lang="en-US" sz="3200" b="0" i="1" dirty="0" smtClean="0">
                <a:solidFill>
                  <a:srgbClr val="B7DEE8"/>
                </a:solidFill>
                <a:latin typeface="Arial" charset="0"/>
                <a:cs typeface="Arial" charset="0"/>
              </a:rPr>
              <a:t>December 14, 2011</a:t>
            </a:r>
          </a:p>
        </p:txBody>
      </p:sp>
      <p:sp>
        <p:nvSpPr>
          <p:cNvPr id="4" name="Rectangle 3"/>
          <p:cNvSpPr/>
          <p:nvPr/>
        </p:nvSpPr>
        <p:spPr>
          <a:xfrm>
            <a:off x="2620990" y="787400"/>
            <a:ext cx="6462154" cy="1200329"/>
          </a:xfrm>
          <a:prstGeom prst="rect">
            <a:avLst/>
          </a:prstGeom>
        </p:spPr>
        <p:txBody>
          <a:bodyPr wrap="none">
            <a:spAutoFit/>
          </a:bodyPr>
          <a:lstStyle/>
          <a:p>
            <a:pPr fontAlgn="auto">
              <a:spcBef>
                <a:spcPts val="0"/>
              </a:spcBef>
              <a:spcAft>
                <a:spcPts val="0"/>
              </a:spcAft>
              <a:defRPr/>
            </a:pPr>
            <a:r>
              <a:rPr lang="en-US" sz="3600" dirty="0" smtClean="0">
                <a:solidFill>
                  <a:srgbClr val="FFC836"/>
                </a:solidFill>
                <a:effectLst>
                  <a:outerShdw blurRad="38100" dist="38100" dir="2700000" algn="tl">
                    <a:srgbClr val="000000">
                      <a:alpha val="43137"/>
                    </a:srgbClr>
                  </a:outerShdw>
                </a:effectLst>
                <a:latin typeface="Arial Black" pitchFamily="34" charset="0"/>
              </a:rPr>
              <a:t>Net-Zero Energy</a:t>
            </a:r>
          </a:p>
          <a:p>
            <a:pPr fontAlgn="auto">
              <a:spcBef>
                <a:spcPts val="0"/>
              </a:spcBef>
              <a:spcAft>
                <a:spcPts val="0"/>
              </a:spcAft>
              <a:defRPr/>
            </a:pPr>
            <a:r>
              <a:rPr lang="en-US" sz="3600" dirty="0" smtClean="0">
                <a:solidFill>
                  <a:srgbClr val="FFC836"/>
                </a:solidFill>
                <a:effectLst>
                  <a:outerShdw blurRad="38100" dist="38100" dir="2700000" algn="tl">
                    <a:srgbClr val="000000">
                      <a:alpha val="43137"/>
                    </a:srgbClr>
                  </a:outerShdw>
                </a:effectLst>
                <a:latin typeface="Arial Black" pitchFamily="34" charset="0"/>
              </a:rPr>
              <a:t>Buildings &amp; Solar Energy</a:t>
            </a:r>
            <a:endParaRPr lang="en-US" sz="3600" dirty="0">
              <a:solidFill>
                <a:srgbClr val="FFC836"/>
              </a:solidFill>
              <a:effectLst>
                <a:outerShdw blurRad="38100" dist="38100" dir="2700000" algn="tl">
                  <a:srgbClr val="000000">
                    <a:alpha val="43137"/>
                  </a:srgbClr>
                </a:outerShdw>
              </a:effectLst>
              <a:latin typeface="Arial Black"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pSp>
        <p:nvGrpSpPr>
          <p:cNvPr id="2" name="Group 17"/>
          <p:cNvGrpSpPr>
            <a:grpSpLocks/>
          </p:cNvGrpSpPr>
          <p:nvPr/>
        </p:nvGrpSpPr>
        <p:grpSpPr bwMode="auto">
          <a:xfrm>
            <a:off x="6172200" y="2895600"/>
            <a:ext cx="2514600" cy="1019175"/>
            <a:chOff x="3888" y="1872"/>
            <a:chExt cx="1584" cy="642"/>
          </a:xfrm>
        </p:grpSpPr>
        <p:sp>
          <p:nvSpPr>
            <p:cNvPr id="1161226" name="Rectangle 10"/>
            <p:cNvSpPr>
              <a:spLocks noChangeArrowheads="1"/>
            </p:cNvSpPr>
            <p:nvPr/>
          </p:nvSpPr>
          <p:spPr bwMode="auto">
            <a:xfrm>
              <a:off x="3888" y="2148"/>
              <a:ext cx="1584" cy="366"/>
            </a:xfrm>
            <a:prstGeom prst="rect">
              <a:avLst/>
            </a:prstGeom>
            <a:gradFill rotWithShape="0">
              <a:gsLst>
                <a:gs pos="0">
                  <a:srgbClr val="FFD889"/>
                </a:gs>
                <a:gs pos="100000">
                  <a:srgbClr val="FFD889">
                    <a:gamma/>
                    <a:tint val="48627"/>
                    <a:invGamma/>
                  </a:srgbClr>
                </a:gs>
              </a:gsLst>
              <a:lin ang="0" scaled="1"/>
            </a:gradFill>
            <a:ln w="9525" algn="ctr">
              <a:noFill/>
              <a:miter lim="800000"/>
              <a:headEnd/>
              <a:tailEnd/>
            </a:ln>
            <a:effectLst>
              <a:outerShdw dist="35921" dir="2700000" algn="ctr" rotWithShape="0">
                <a:schemeClr val="bg2">
                  <a:alpha val="75000"/>
                </a:schemeClr>
              </a:outerShdw>
            </a:effectLst>
          </p:spPr>
          <p:txBody>
            <a:bodyPr wrap="none" anchor="ctr"/>
            <a:lstStyle/>
            <a:p>
              <a:pPr algn="ctr" eaLnBrk="0" hangingPunct="0">
                <a:defRPr/>
              </a:pPr>
              <a:endParaRPr lang="en-US" sz="3200" dirty="0">
                <a:solidFill>
                  <a:srgbClr val="FFFFFF"/>
                </a:solidFill>
                <a:latin typeface="+mn-lt"/>
              </a:endParaRPr>
            </a:p>
          </p:txBody>
        </p:sp>
        <p:grpSp>
          <p:nvGrpSpPr>
            <p:cNvPr id="3" name="Group 16"/>
            <p:cNvGrpSpPr>
              <a:grpSpLocks/>
            </p:cNvGrpSpPr>
            <p:nvPr/>
          </p:nvGrpSpPr>
          <p:grpSpPr bwMode="auto">
            <a:xfrm>
              <a:off x="3888" y="1872"/>
              <a:ext cx="1584" cy="568"/>
              <a:chOff x="3888" y="1910"/>
              <a:chExt cx="1584" cy="568"/>
            </a:xfrm>
          </p:grpSpPr>
          <p:sp>
            <p:nvSpPr>
              <p:cNvPr id="1161228" name="Text Box 12"/>
              <p:cNvSpPr txBox="1">
                <a:spLocks noChangeArrowheads="1"/>
              </p:cNvSpPr>
              <p:nvPr/>
            </p:nvSpPr>
            <p:spPr bwMode="auto">
              <a:xfrm>
                <a:off x="3888" y="1910"/>
                <a:ext cx="1584" cy="197"/>
              </a:xfrm>
              <a:prstGeom prst="rect">
                <a:avLst/>
              </a:prstGeom>
              <a:noFill/>
              <a:ln w="9525">
                <a:noFill/>
                <a:miter lim="800000"/>
                <a:headEnd/>
                <a:tailEnd/>
              </a:ln>
              <a:effectLst/>
            </p:spPr>
            <p:txBody>
              <a:bodyPr>
                <a:spAutoFit/>
              </a:bodyPr>
              <a:lstStyle/>
              <a:p>
                <a:pPr algn="ctr" eaLnBrk="0" hangingPunct="0">
                  <a:lnSpc>
                    <a:spcPct val="90000"/>
                  </a:lnSpc>
                  <a:spcBef>
                    <a:spcPct val="10000"/>
                  </a:spcBef>
                  <a:defRPr/>
                </a:pPr>
                <a:r>
                  <a:rPr lang="en-US" sz="1600" dirty="0">
                    <a:solidFill>
                      <a:schemeClr val="bg1"/>
                    </a:solidFill>
                    <a:effectLst>
                      <a:outerShdw blurRad="38100" dist="38100" dir="2700000" algn="tl">
                        <a:srgbClr val="C0C0C0"/>
                      </a:outerShdw>
                    </a:effectLst>
                    <a:latin typeface="+mn-lt"/>
                  </a:rPr>
                  <a:t>72% of U.S. Electricity</a:t>
                </a:r>
              </a:p>
            </p:txBody>
          </p:sp>
          <p:pic>
            <p:nvPicPr>
              <p:cNvPr id="20496" name="Picture 15" descr="71% U"/>
              <p:cNvPicPr>
                <a:picLocks noChangeAspect="1" noChangeArrowheads="1"/>
              </p:cNvPicPr>
              <p:nvPr/>
            </p:nvPicPr>
            <p:blipFill>
              <a:blip r:embed="rId3"/>
              <a:srcRect/>
              <a:stretch>
                <a:fillRect/>
              </a:stretch>
            </p:blipFill>
            <p:spPr bwMode="auto">
              <a:xfrm>
                <a:off x="3984" y="2198"/>
                <a:ext cx="1458" cy="280"/>
              </a:xfrm>
              <a:prstGeom prst="rect">
                <a:avLst/>
              </a:prstGeom>
              <a:noFill/>
              <a:ln w="9525">
                <a:noFill/>
                <a:miter lim="800000"/>
                <a:headEnd/>
                <a:tailEnd/>
              </a:ln>
            </p:spPr>
          </p:pic>
        </p:grpSp>
      </p:grpSp>
      <p:sp>
        <p:nvSpPr>
          <p:cNvPr id="20483" name="Text Box 11"/>
          <p:cNvSpPr txBox="1">
            <a:spLocks noChangeArrowheads="1"/>
          </p:cNvSpPr>
          <p:nvPr/>
        </p:nvSpPr>
        <p:spPr bwMode="auto">
          <a:xfrm>
            <a:off x="533400" y="2133600"/>
            <a:ext cx="4953000" cy="396875"/>
          </a:xfrm>
          <a:prstGeom prst="rect">
            <a:avLst/>
          </a:prstGeom>
          <a:noFill/>
          <a:ln w="9525">
            <a:noFill/>
            <a:miter lim="800000"/>
            <a:headEnd/>
            <a:tailEnd/>
          </a:ln>
        </p:spPr>
        <p:txBody>
          <a:bodyPr>
            <a:spAutoFit/>
          </a:bodyPr>
          <a:lstStyle/>
          <a:p>
            <a:pPr algn="ctr">
              <a:spcBef>
                <a:spcPct val="50000"/>
              </a:spcBef>
            </a:pPr>
            <a:r>
              <a:rPr lang="en-US" sz="2000">
                <a:solidFill>
                  <a:schemeClr val="bg1"/>
                </a:solidFill>
              </a:rPr>
              <a:t>40% of U.S. Primary Energy Consumption</a:t>
            </a:r>
          </a:p>
        </p:txBody>
      </p:sp>
      <p:sp>
        <p:nvSpPr>
          <p:cNvPr id="20484" name="Rectangle 8"/>
          <p:cNvSpPr>
            <a:spLocks noGrp="1" noChangeArrowheads="1"/>
          </p:cNvSpPr>
          <p:nvPr>
            <p:ph type="title"/>
          </p:nvPr>
        </p:nvSpPr>
        <p:spPr>
          <a:xfrm>
            <a:off x="457200" y="473075"/>
            <a:ext cx="8229600" cy="944563"/>
          </a:xfrm>
        </p:spPr>
        <p:txBody>
          <a:bodyPr anchor="t"/>
          <a:lstStyle/>
          <a:p>
            <a:pPr eaLnBrk="1" hangingPunct="1"/>
            <a:r>
              <a:rPr lang="en-US" sz="3200" dirty="0" smtClean="0">
                <a:latin typeface="Arial" charset="0"/>
                <a:ea typeface="ＭＳ Ｐゴシック" pitchFamily="34" charset="-128"/>
                <a:cs typeface="Arial" charset="0"/>
              </a:rPr>
              <a:t>Why Buildings’ Energy Use Is Important</a:t>
            </a:r>
          </a:p>
        </p:txBody>
      </p:sp>
      <p:sp>
        <p:nvSpPr>
          <p:cNvPr id="20485" name="Rectangle 21"/>
          <p:cNvSpPr>
            <a:spLocks noGrp="1"/>
          </p:cNvSpPr>
          <p:nvPr>
            <p:ph idx="1"/>
          </p:nvPr>
        </p:nvSpPr>
        <p:spPr>
          <a:xfrm>
            <a:off x="409575" y="1295400"/>
            <a:ext cx="8277225" cy="792163"/>
          </a:xfrm>
        </p:spPr>
        <p:txBody>
          <a:bodyPr/>
          <a:lstStyle/>
          <a:p>
            <a:pPr marL="0" indent="0" eaLnBrk="1" hangingPunct="1">
              <a:spcBef>
                <a:spcPct val="50000"/>
              </a:spcBef>
              <a:buFontTx/>
              <a:buNone/>
            </a:pPr>
            <a:r>
              <a:rPr lang="en-US" sz="2400" dirty="0" smtClean="0">
                <a:latin typeface="Arial" charset="0"/>
                <a:ea typeface="ＭＳ Ｐゴシック" pitchFamily="34" charset="-128"/>
                <a:cs typeface="Arial" charset="0"/>
              </a:rPr>
              <a:t>The combined residential and commercial buildings sector is the largest energy consumer in the U.S.</a:t>
            </a:r>
          </a:p>
        </p:txBody>
      </p:sp>
      <p:pic>
        <p:nvPicPr>
          <p:cNvPr id="106505" name="Picture 16" descr="BTMYP_Usechart_v3"/>
          <p:cNvPicPr>
            <a:picLocks noChangeAspect="1" noChangeArrowheads="1"/>
          </p:cNvPicPr>
          <p:nvPr/>
        </p:nvPicPr>
        <p:blipFill>
          <a:blip r:embed="rId4" cstate="print"/>
          <a:srcRect/>
          <a:stretch>
            <a:fillRect/>
          </a:stretch>
        </p:blipFill>
        <p:spPr bwMode="auto">
          <a:xfrm>
            <a:off x="457200" y="2667000"/>
            <a:ext cx="5257800" cy="3055937"/>
          </a:xfrm>
          <a:prstGeom prst="rect">
            <a:avLst/>
          </a:prstGeom>
          <a:gradFill>
            <a:gsLst>
              <a:gs pos="0">
                <a:srgbClr val="DDEBCF">
                  <a:alpha val="0"/>
                </a:srgbClr>
              </a:gs>
              <a:gs pos="50000">
                <a:srgbClr val="9CB86E"/>
              </a:gs>
              <a:gs pos="100000">
                <a:srgbClr val="156B13"/>
              </a:gs>
            </a:gsLst>
            <a:lin ang="5400000" scaled="0"/>
          </a:gradFill>
          <a:ln w="9525">
            <a:noFill/>
            <a:miter lim="800000"/>
            <a:headEnd/>
            <a:tailEnd/>
          </a:ln>
          <a:effectLst/>
        </p:spPr>
      </p:pic>
      <p:grpSp>
        <p:nvGrpSpPr>
          <p:cNvPr id="4" name="Group 19"/>
          <p:cNvGrpSpPr>
            <a:grpSpLocks/>
          </p:cNvGrpSpPr>
          <p:nvPr/>
        </p:nvGrpSpPr>
        <p:grpSpPr bwMode="auto">
          <a:xfrm>
            <a:off x="6019800" y="4267200"/>
            <a:ext cx="2743200" cy="1152525"/>
            <a:chOff x="3792" y="2736"/>
            <a:chExt cx="1728" cy="726"/>
          </a:xfrm>
        </p:grpSpPr>
        <p:sp>
          <p:nvSpPr>
            <p:cNvPr id="1161230" name="Text Box 14"/>
            <p:cNvSpPr txBox="1">
              <a:spLocks noChangeArrowheads="1"/>
            </p:cNvSpPr>
            <p:nvPr/>
          </p:nvSpPr>
          <p:spPr bwMode="auto">
            <a:xfrm>
              <a:off x="3840" y="2736"/>
              <a:ext cx="1632" cy="197"/>
            </a:xfrm>
            <a:prstGeom prst="rect">
              <a:avLst/>
            </a:prstGeom>
            <a:noFill/>
            <a:ln w="9525">
              <a:noFill/>
              <a:miter lim="800000"/>
              <a:headEnd/>
              <a:tailEnd/>
            </a:ln>
            <a:effectLst/>
          </p:spPr>
          <p:txBody>
            <a:bodyPr>
              <a:spAutoFit/>
            </a:bodyPr>
            <a:lstStyle/>
            <a:p>
              <a:pPr algn="ctr" eaLnBrk="0" hangingPunct="0">
                <a:lnSpc>
                  <a:spcPct val="90000"/>
                </a:lnSpc>
                <a:spcBef>
                  <a:spcPct val="10000"/>
                </a:spcBef>
                <a:defRPr/>
              </a:pPr>
              <a:r>
                <a:rPr lang="en-US" sz="1600" dirty="0">
                  <a:solidFill>
                    <a:schemeClr val="bg1"/>
                  </a:solidFill>
                  <a:effectLst>
                    <a:outerShdw blurRad="38100" dist="38100" dir="2700000" algn="tl">
                      <a:srgbClr val="C0C0C0"/>
                    </a:outerShdw>
                  </a:effectLst>
                  <a:latin typeface="+mn-lt"/>
                </a:rPr>
                <a:t>55% of U.S. Natural Gas</a:t>
              </a:r>
            </a:p>
          </p:txBody>
        </p:sp>
        <p:grpSp>
          <p:nvGrpSpPr>
            <p:cNvPr id="5" name="Group 18"/>
            <p:cNvGrpSpPr>
              <a:grpSpLocks/>
            </p:cNvGrpSpPr>
            <p:nvPr/>
          </p:nvGrpSpPr>
          <p:grpSpPr bwMode="auto">
            <a:xfrm>
              <a:off x="3792" y="3001"/>
              <a:ext cx="1728" cy="461"/>
              <a:chOff x="3792" y="3001"/>
              <a:chExt cx="1728" cy="461"/>
            </a:xfrm>
          </p:grpSpPr>
          <p:sp>
            <p:nvSpPr>
              <p:cNvPr id="1161222" name="Rectangle 6"/>
              <p:cNvSpPr>
                <a:spLocks noChangeArrowheads="1"/>
              </p:cNvSpPr>
              <p:nvPr/>
            </p:nvSpPr>
            <p:spPr bwMode="auto">
              <a:xfrm>
                <a:off x="3792" y="3029"/>
                <a:ext cx="1728" cy="433"/>
              </a:xfrm>
              <a:prstGeom prst="rect">
                <a:avLst/>
              </a:prstGeom>
              <a:gradFill rotWithShape="0">
                <a:gsLst>
                  <a:gs pos="0">
                    <a:srgbClr val="FFD889"/>
                  </a:gs>
                  <a:gs pos="100000">
                    <a:srgbClr val="FFD889">
                      <a:gamma/>
                      <a:tint val="48627"/>
                      <a:invGamma/>
                    </a:srgbClr>
                  </a:gs>
                </a:gsLst>
                <a:lin ang="0" scaled="1"/>
              </a:gradFill>
              <a:ln w="9525" algn="ctr">
                <a:noFill/>
                <a:miter lim="800000"/>
                <a:headEnd/>
                <a:tailEnd/>
              </a:ln>
              <a:effectLst>
                <a:outerShdw dist="35921" dir="2700000" algn="ctr" rotWithShape="0">
                  <a:schemeClr val="bg2">
                    <a:alpha val="75000"/>
                  </a:schemeClr>
                </a:outerShdw>
              </a:effectLst>
            </p:spPr>
            <p:txBody>
              <a:bodyPr wrap="none" anchor="ctr"/>
              <a:lstStyle/>
              <a:p>
                <a:pPr algn="ctr" eaLnBrk="0" hangingPunct="0">
                  <a:defRPr/>
                </a:pPr>
                <a:endParaRPr lang="en-US" sz="3200" dirty="0">
                  <a:solidFill>
                    <a:srgbClr val="FFFFFF"/>
                  </a:solidFill>
                  <a:latin typeface="+mn-lt"/>
                </a:endParaRPr>
              </a:p>
            </p:txBody>
          </p:sp>
          <p:pic>
            <p:nvPicPr>
              <p:cNvPr id="20492" name="Picture 7" descr="53% U"/>
              <p:cNvPicPr>
                <a:picLocks noChangeAspect="1" noChangeArrowheads="1"/>
              </p:cNvPicPr>
              <p:nvPr/>
            </p:nvPicPr>
            <p:blipFill>
              <a:blip r:embed="rId5"/>
              <a:srcRect/>
              <a:stretch>
                <a:fillRect/>
              </a:stretch>
            </p:blipFill>
            <p:spPr bwMode="auto">
              <a:xfrm>
                <a:off x="3888" y="3001"/>
                <a:ext cx="1536" cy="425"/>
              </a:xfrm>
              <a:prstGeom prst="rect">
                <a:avLst/>
              </a:prstGeom>
              <a:noFill/>
              <a:ln w="9525">
                <a:noFill/>
                <a:miter lim="800000"/>
                <a:headEnd/>
                <a:tailEnd/>
              </a:ln>
            </p:spPr>
          </p:pic>
        </p:grpSp>
      </p:grpSp>
      <p:sp>
        <p:nvSpPr>
          <p:cNvPr id="20488" name="Rectangle 21"/>
          <p:cNvSpPr>
            <a:spLocks/>
          </p:cNvSpPr>
          <p:nvPr/>
        </p:nvSpPr>
        <p:spPr bwMode="auto">
          <a:xfrm>
            <a:off x="457200" y="5715000"/>
            <a:ext cx="8277225" cy="944563"/>
          </a:xfrm>
          <a:prstGeom prst="rect">
            <a:avLst/>
          </a:prstGeom>
          <a:noFill/>
          <a:ln w="9525">
            <a:noFill/>
            <a:miter lim="800000"/>
            <a:headEnd/>
            <a:tailEnd/>
          </a:ln>
        </p:spPr>
        <p:txBody>
          <a:bodyPr/>
          <a:lstStyle/>
          <a:p>
            <a:pPr>
              <a:spcBef>
                <a:spcPct val="20000"/>
              </a:spcBef>
              <a:spcAft>
                <a:spcPct val="20000"/>
              </a:spcAft>
              <a:buClr>
                <a:srgbClr val="333399"/>
              </a:buClr>
            </a:pPr>
            <a:r>
              <a:rPr lang="en-US" sz="2400">
                <a:solidFill>
                  <a:schemeClr val="bg1"/>
                </a:solidFill>
                <a:ea typeface="ＭＳ Ｐゴシック" pitchFamily="34" charset="-128"/>
              </a:rPr>
              <a:t>U.S. spends $515B/year in energy costs for operation and use of constructed facilities</a:t>
            </a: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1506" name="Rectangle 6"/>
          <p:cNvSpPr>
            <a:spLocks noGrp="1" noChangeArrowheads="1"/>
          </p:cNvSpPr>
          <p:nvPr>
            <p:ph type="title"/>
          </p:nvPr>
        </p:nvSpPr>
        <p:spPr>
          <a:xfrm>
            <a:off x="457200" y="304800"/>
            <a:ext cx="8229600" cy="884238"/>
          </a:xfrm>
        </p:spPr>
        <p:txBody>
          <a:bodyPr anchor="t"/>
          <a:lstStyle/>
          <a:p>
            <a:pPr eaLnBrk="1" hangingPunct="1"/>
            <a:r>
              <a:rPr lang="en-US" sz="4000" smtClean="0">
                <a:latin typeface="Arial" charset="0"/>
                <a:ea typeface="ＭＳ Ｐゴシック" pitchFamily="34" charset="-128"/>
                <a:cs typeface="Arial" charset="0"/>
              </a:rPr>
              <a:t>Fastest-Growing Energy Sector</a:t>
            </a:r>
          </a:p>
        </p:txBody>
      </p:sp>
      <p:sp>
        <p:nvSpPr>
          <p:cNvPr id="21507" name="Rectangle 7"/>
          <p:cNvSpPr>
            <a:spLocks noGrp="1"/>
          </p:cNvSpPr>
          <p:nvPr>
            <p:ph type="body" sz="half" idx="1"/>
          </p:nvPr>
        </p:nvSpPr>
        <p:spPr>
          <a:xfrm>
            <a:off x="609600" y="1143000"/>
            <a:ext cx="7620000" cy="1143000"/>
          </a:xfrm>
        </p:spPr>
        <p:txBody>
          <a:bodyPr/>
          <a:lstStyle/>
          <a:p>
            <a:pPr marL="0" indent="0" eaLnBrk="1" hangingPunct="1">
              <a:buFontTx/>
              <a:buNone/>
            </a:pPr>
            <a:r>
              <a:rPr lang="en-US" sz="2400" dirty="0" smtClean="0">
                <a:latin typeface="Arial" charset="0"/>
                <a:ea typeface="ＭＳ Ｐゴシック" pitchFamily="34" charset="-128"/>
                <a:cs typeface="Arial" charset="0"/>
              </a:rPr>
              <a:t>Energy consumption by commercial buildings sector rose 71% between 1980 and 2010 </a:t>
            </a:r>
          </a:p>
        </p:txBody>
      </p:sp>
      <p:pic>
        <p:nvPicPr>
          <p:cNvPr id="112644" name="Picture 4" descr="200392775-001"/>
          <p:cNvPicPr>
            <a:picLocks noChangeAspect="1" noChangeArrowheads="1"/>
          </p:cNvPicPr>
          <p:nvPr/>
        </p:nvPicPr>
        <p:blipFill>
          <a:blip r:embed="rId3"/>
          <a:srcRect/>
          <a:stretch>
            <a:fillRect/>
          </a:stretch>
        </p:blipFill>
        <p:spPr bwMode="auto">
          <a:xfrm>
            <a:off x="4191000" y="4267200"/>
            <a:ext cx="4597400" cy="1808163"/>
          </a:xfrm>
          <a:prstGeom prst="rect">
            <a:avLst/>
          </a:prstGeom>
          <a:noFill/>
          <a:effectLst>
            <a:outerShdw dist="35921" dir="2700000" algn="ctr" rotWithShape="0">
              <a:srgbClr val="808080"/>
            </a:outerShdw>
          </a:effectLst>
        </p:spPr>
      </p:pic>
      <p:pic>
        <p:nvPicPr>
          <p:cNvPr id="13319" name="Picture 7" descr="C:\Users\Paul Domich\Documents\BTRD\913 Report\photos\bigstockphoto_Modern_Building_491869.jpg"/>
          <p:cNvPicPr>
            <a:picLocks noChangeAspect="1" noChangeArrowheads="1"/>
          </p:cNvPicPr>
          <p:nvPr/>
        </p:nvPicPr>
        <p:blipFill>
          <a:blip r:embed="rId4" cstate="print">
            <a:duotone>
              <a:schemeClr val="accent2">
                <a:shade val="45000"/>
                <a:satMod val="135000"/>
              </a:schemeClr>
              <a:prstClr val="white"/>
            </a:duotone>
          </a:blip>
          <a:srcRect/>
          <a:stretch>
            <a:fillRect/>
          </a:stretch>
        </p:blipFill>
        <p:spPr bwMode="auto">
          <a:xfrm>
            <a:off x="4194997" y="2381147"/>
            <a:ext cx="2301994" cy="1725664"/>
          </a:xfrm>
          <a:prstGeom prst="rect">
            <a:avLst/>
          </a:prstGeom>
          <a:noFill/>
        </p:spPr>
      </p:pic>
      <p:pic>
        <p:nvPicPr>
          <p:cNvPr id="21511" name="Picture 6" descr="C:\Users\Paul Domich\Documents\BTRD\913 Report\photos\ballard_library.jpg"/>
          <p:cNvPicPr>
            <a:picLocks noChangeAspect="1" noChangeArrowheads="1"/>
          </p:cNvPicPr>
          <p:nvPr/>
        </p:nvPicPr>
        <p:blipFill>
          <a:blip r:embed="rId5"/>
          <a:srcRect/>
          <a:stretch>
            <a:fillRect/>
          </a:stretch>
        </p:blipFill>
        <p:spPr bwMode="auto">
          <a:xfrm>
            <a:off x="6569075" y="2397125"/>
            <a:ext cx="2193925" cy="1717675"/>
          </a:xfrm>
          <a:prstGeom prst="rect">
            <a:avLst/>
          </a:prstGeom>
          <a:noFill/>
          <a:ln w="9525">
            <a:noFill/>
            <a:miter lim="800000"/>
            <a:headEnd/>
            <a:tailEnd/>
          </a:ln>
        </p:spPr>
      </p:pic>
      <p:graphicFrame>
        <p:nvGraphicFramePr>
          <p:cNvPr id="10" name="Chart 9"/>
          <p:cNvGraphicFramePr/>
          <p:nvPr/>
        </p:nvGraphicFramePr>
        <p:xfrm>
          <a:off x="166736" y="2381147"/>
          <a:ext cx="3870426" cy="3611173"/>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0">
  <p:cSld>
    <p:spTree>
      <p:nvGrpSpPr>
        <p:cNvPr id="1" name=""/>
        <p:cNvGrpSpPr/>
        <p:nvPr/>
      </p:nvGrpSpPr>
      <p:grpSpPr>
        <a:xfrm>
          <a:off x="0" y="0"/>
          <a:ext cx="0" cy="0"/>
          <a:chOff x="0" y="0"/>
          <a:chExt cx="0" cy="0"/>
        </a:xfrm>
      </p:grpSpPr>
      <p:sp>
        <p:nvSpPr>
          <p:cNvPr id="6" name="Slide Number Placeholder 4"/>
          <p:cNvSpPr txBox="1">
            <a:spLocks noGrp="1"/>
          </p:cNvSpPr>
          <p:nvPr/>
        </p:nvSpPr>
        <p:spPr bwMode="auto">
          <a:xfrm>
            <a:off x="8077200" y="6477000"/>
            <a:ext cx="1066800" cy="381000"/>
          </a:xfrm>
          <a:prstGeom prst="rect">
            <a:avLst/>
          </a:prstGeom>
          <a:noFill/>
          <a:ln>
            <a:miter lim="800000"/>
            <a:headEnd/>
            <a:tailEnd/>
          </a:ln>
          <a:effectLst>
            <a:outerShdw dist="17961" dir="2700000" algn="ctr" rotWithShape="0">
              <a:schemeClr val="accent2"/>
            </a:outerShdw>
          </a:effectLst>
        </p:spPr>
        <p:txBody>
          <a:bodyPr anchor="ctr"/>
          <a:lstStyle/>
          <a:p>
            <a:pPr algn="r">
              <a:defRPr/>
            </a:pPr>
            <a:endParaRPr lang="en-US" sz="1400" dirty="0">
              <a:solidFill>
                <a:srgbClr val="000000"/>
              </a:solidFill>
              <a:latin typeface="+mn-lt"/>
            </a:endParaRPr>
          </a:p>
        </p:txBody>
      </p:sp>
      <p:sp>
        <p:nvSpPr>
          <p:cNvPr id="1028" name="Rectangle 4"/>
          <p:cNvSpPr>
            <a:spLocks noChangeArrowheads="1"/>
          </p:cNvSpPr>
          <p:nvPr/>
        </p:nvSpPr>
        <p:spPr bwMode="auto">
          <a:xfrm>
            <a:off x="457200" y="3671322"/>
            <a:ext cx="2650084" cy="215444"/>
          </a:xfrm>
          <a:prstGeom prst="rect">
            <a:avLst/>
          </a:prstGeom>
          <a:noFill/>
          <a:ln w="9525">
            <a:noFill/>
            <a:miter lim="800000"/>
            <a:headEnd/>
            <a:tailEnd/>
          </a:ln>
        </p:spPr>
        <p:txBody>
          <a:bodyPr wrap="none" anchor="ctr">
            <a:spAutoFit/>
          </a:bodyPr>
          <a:lstStyle/>
          <a:p>
            <a:pPr>
              <a:defRPr/>
            </a:pPr>
            <a:r>
              <a:rPr lang="en-US" sz="800" dirty="0">
                <a:solidFill>
                  <a:schemeClr val="accent6"/>
                </a:solidFill>
                <a:latin typeface="Arial" pitchFamily="34" charset="0"/>
                <a:cs typeface="Times New Roman" pitchFamily="18" charset="0"/>
              </a:rPr>
              <a:t>Source: </a:t>
            </a:r>
            <a:r>
              <a:rPr lang="en-US" sz="800" dirty="0" smtClean="0">
                <a:solidFill>
                  <a:schemeClr val="accent6"/>
                </a:solidFill>
                <a:latin typeface="Arial" pitchFamily="34" charset="0"/>
                <a:cs typeface="Times New Roman" pitchFamily="18" charset="0"/>
              </a:rPr>
              <a:t>2011 Buildings Energy </a:t>
            </a:r>
            <a:r>
              <a:rPr lang="en-US" sz="800" dirty="0" err="1" smtClean="0">
                <a:solidFill>
                  <a:schemeClr val="accent6"/>
                </a:solidFill>
                <a:latin typeface="Arial" pitchFamily="34" charset="0"/>
                <a:cs typeface="Times New Roman" pitchFamily="18" charset="0"/>
              </a:rPr>
              <a:t>Databook</a:t>
            </a:r>
            <a:r>
              <a:rPr lang="en-US" sz="800" dirty="0" smtClean="0">
                <a:solidFill>
                  <a:schemeClr val="accent6"/>
                </a:solidFill>
                <a:latin typeface="Arial" pitchFamily="34" charset="0"/>
                <a:cs typeface="Times New Roman" pitchFamily="18" charset="0"/>
              </a:rPr>
              <a:t>, Table 1.1.1</a:t>
            </a:r>
            <a:endParaRPr lang="en-US" dirty="0">
              <a:solidFill>
                <a:schemeClr val="accent6"/>
              </a:solidFill>
              <a:latin typeface="Arial" pitchFamily="34" charset="0"/>
            </a:endParaRPr>
          </a:p>
        </p:txBody>
      </p:sp>
      <p:sp>
        <p:nvSpPr>
          <p:cNvPr id="1029" name="Rectangle 10"/>
          <p:cNvSpPr>
            <a:spLocks noGrp="1" noChangeArrowheads="1"/>
          </p:cNvSpPr>
          <p:nvPr>
            <p:ph type="title"/>
          </p:nvPr>
        </p:nvSpPr>
        <p:spPr>
          <a:xfrm>
            <a:off x="76200" y="457200"/>
            <a:ext cx="8991600" cy="762000"/>
          </a:xfrm>
        </p:spPr>
        <p:txBody>
          <a:bodyPr lIns="0" tIns="0" rIns="0" bIns="0"/>
          <a:lstStyle/>
          <a:p>
            <a:pPr eaLnBrk="1" hangingPunct="1"/>
            <a:r>
              <a:rPr lang="en-US" sz="3200" dirty="0" smtClean="0">
                <a:latin typeface="Arial" charset="0"/>
                <a:ea typeface="ＭＳ Ｐゴシック" pitchFamily="34" charset="-128"/>
                <a:cs typeface="Arial" charset="0"/>
              </a:rPr>
              <a:t>Electricity: A Dominant and Growing </a:t>
            </a:r>
            <a:br>
              <a:rPr lang="en-US" sz="3200" dirty="0" smtClean="0">
                <a:latin typeface="Arial" charset="0"/>
                <a:ea typeface="ＭＳ Ｐゴシック" pitchFamily="34" charset="-128"/>
                <a:cs typeface="Arial" charset="0"/>
              </a:rPr>
            </a:br>
            <a:r>
              <a:rPr lang="en-US" sz="3200" dirty="0" smtClean="0">
                <a:latin typeface="Arial" charset="0"/>
                <a:ea typeface="ＭＳ Ｐゴシック" pitchFamily="34" charset="-128"/>
                <a:cs typeface="Arial" charset="0"/>
              </a:rPr>
              <a:t>Source of Building Energy</a:t>
            </a:r>
          </a:p>
        </p:txBody>
      </p:sp>
      <p:sp>
        <p:nvSpPr>
          <p:cNvPr id="1030" name="Rectangle 11"/>
          <p:cNvSpPr>
            <a:spLocks noGrp="1" noChangeArrowheads="1"/>
          </p:cNvSpPr>
          <p:nvPr>
            <p:ph type="body" sz="half" idx="4294967295"/>
          </p:nvPr>
        </p:nvSpPr>
        <p:spPr>
          <a:xfrm>
            <a:off x="4343400" y="1905000"/>
            <a:ext cx="4572000" cy="1143000"/>
          </a:xfrm>
        </p:spPr>
        <p:txBody>
          <a:bodyPr lIns="0" tIns="0" rIns="0" bIns="0"/>
          <a:lstStyle/>
          <a:p>
            <a:pPr marL="0" indent="0" eaLnBrk="1" hangingPunct="1">
              <a:lnSpc>
                <a:spcPts val="2400"/>
              </a:lnSpc>
              <a:buFontTx/>
              <a:buNone/>
            </a:pPr>
            <a:r>
              <a:rPr lang="en-US" sz="2000" dirty="0" smtClean="0">
                <a:latin typeface="Arial" charset="0"/>
                <a:ea typeface="ＭＳ Ｐゴシック" pitchFamily="34" charset="-128"/>
                <a:cs typeface="Arial" charset="0"/>
              </a:rPr>
              <a:t>Electricity increased from 56% of overall primary energy use in buildings in 1980 to 74% in 2010</a:t>
            </a:r>
          </a:p>
        </p:txBody>
      </p:sp>
      <p:sp>
        <p:nvSpPr>
          <p:cNvPr id="1032" name="Rectangle 4"/>
          <p:cNvSpPr>
            <a:spLocks noChangeArrowheads="1"/>
          </p:cNvSpPr>
          <p:nvPr/>
        </p:nvSpPr>
        <p:spPr bwMode="auto">
          <a:xfrm>
            <a:off x="457200" y="6414522"/>
            <a:ext cx="2981907" cy="215444"/>
          </a:xfrm>
          <a:prstGeom prst="rect">
            <a:avLst/>
          </a:prstGeom>
          <a:noFill/>
          <a:ln w="9525">
            <a:noFill/>
            <a:miter lim="800000"/>
            <a:headEnd/>
            <a:tailEnd/>
          </a:ln>
        </p:spPr>
        <p:txBody>
          <a:bodyPr wrap="none" anchor="ctr">
            <a:spAutoFit/>
          </a:bodyPr>
          <a:lstStyle/>
          <a:p>
            <a:pPr>
              <a:defRPr/>
            </a:pPr>
            <a:r>
              <a:rPr lang="en-US" sz="800" dirty="0">
                <a:solidFill>
                  <a:schemeClr val="accent6"/>
                </a:solidFill>
                <a:latin typeface="Arial" pitchFamily="34" charset="0"/>
                <a:cs typeface="Times New Roman" pitchFamily="18" charset="0"/>
              </a:rPr>
              <a:t>Source: EIA Annual Energy Review, Table 8.9, </a:t>
            </a:r>
            <a:r>
              <a:rPr lang="en-US" sz="800" dirty="0" smtClean="0">
                <a:solidFill>
                  <a:schemeClr val="accent6"/>
                </a:solidFill>
                <a:latin typeface="Arial" pitchFamily="34" charset="0"/>
                <a:cs typeface="Times New Roman" pitchFamily="18" charset="0"/>
              </a:rPr>
              <a:t>October 2011</a:t>
            </a:r>
            <a:endParaRPr lang="en-US" dirty="0">
              <a:solidFill>
                <a:schemeClr val="accent6"/>
              </a:solidFill>
              <a:latin typeface="Arial" pitchFamily="34" charset="0"/>
            </a:endParaRPr>
          </a:p>
        </p:txBody>
      </p:sp>
      <p:sp>
        <p:nvSpPr>
          <p:cNvPr id="1033" name="Rectangle 10"/>
          <p:cNvSpPr>
            <a:spLocks noChangeArrowheads="1"/>
          </p:cNvSpPr>
          <p:nvPr/>
        </p:nvSpPr>
        <p:spPr bwMode="auto">
          <a:xfrm>
            <a:off x="5638800" y="3886200"/>
            <a:ext cx="3387725" cy="1006475"/>
          </a:xfrm>
          <a:prstGeom prst="rect">
            <a:avLst/>
          </a:prstGeom>
          <a:noFill/>
          <a:ln w="9525">
            <a:noFill/>
            <a:miter lim="800000"/>
            <a:headEnd/>
            <a:tailEnd/>
          </a:ln>
        </p:spPr>
        <p:txBody>
          <a:bodyPr>
            <a:spAutoFit/>
          </a:bodyPr>
          <a:lstStyle/>
          <a:p>
            <a:r>
              <a:rPr lang="en-US" sz="2000" dirty="0">
                <a:solidFill>
                  <a:schemeClr val="bg1"/>
                </a:solidFill>
              </a:rPr>
              <a:t>Buildings’ electricity demand is driving need for electricity infrastructure</a:t>
            </a:r>
          </a:p>
        </p:txBody>
      </p:sp>
      <p:pic>
        <p:nvPicPr>
          <p:cNvPr id="1027" name="Picture 3"/>
          <p:cNvPicPr>
            <a:picLocks noChangeAspect="1" noChangeArrowheads="1"/>
          </p:cNvPicPr>
          <p:nvPr/>
        </p:nvPicPr>
        <p:blipFill>
          <a:blip r:embed="rId3"/>
          <a:srcRect/>
          <a:stretch>
            <a:fillRect/>
          </a:stretch>
        </p:blipFill>
        <p:spPr bwMode="auto">
          <a:xfrm>
            <a:off x="463340" y="1394454"/>
            <a:ext cx="3694592" cy="2223904"/>
          </a:xfrm>
          <a:prstGeom prst="rect">
            <a:avLst/>
          </a:prstGeom>
          <a:noFill/>
          <a:ln w="9525">
            <a:noFill/>
            <a:miter lim="800000"/>
            <a:headEnd/>
            <a:tailEnd/>
          </a:ln>
          <a:effectLst/>
        </p:spPr>
      </p:pic>
      <p:graphicFrame>
        <p:nvGraphicFramePr>
          <p:cNvPr id="16" name="Chart 15"/>
          <p:cNvGraphicFramePr/>
          <p:nvPr/>
        </p:nvGraphicFramePr>
        <p:xfrm>
          <a:off x="366624" y="3886767"/>
          <a:ext cx="5272176" cy="2527756"/>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Net-Zero Energy Buildings</a:t>
            </a:r>
            <a:endParaRPr lang="en-US" dirty="0"/>
          </a:p>
        </p:txBody>
      </p:sp>
      <p:sp>
        <p:nvSpPr>
          <p:cNvPr id="3" name="Content Placeholder 2"/>
          <p:cNvSpPr>
            <a:spLocks noGrp="1"/>
          </p:cNvSpPr>
          <p:nvPr>
            <p:ph idx="1"/>
          </p:nvPr>
        </p:nvSpPr>
        <p:spPr/>
        <p:txBody>
          <a:bodyPr/>
          <a:lstStyle/>
          <a:p>
            <a:r>
              <a:rPr lang="en-US" dirty="0" smtClean="0"/>
              <a:t>“A net-zero energy building produces as much energy as it uses over the course of a year” </a:t>
            </a:r>
            <a:r>
              <a:rPr lang="en-US" i="1" dirty="0" smtClean="0"/>
              <a:t>DOE</a:t>
            </a:r>
            <a:r>
              <a:rPr lang="en-US" dirty="0" smtClean="0"/>
              <a:t> </a:t>
            </a:r>
          </a:p>
          <a:p>
            <a:pPr lvl="1"/>
            <a:r>
              <a:rPr lang="en-US" dirty="0" smtClean="0"/>
              <a:t>Net-Zero Site Energy</a:t>
            </a:r>
          </a:p>
          <a:p>
            <a:pPr lvl="1"/>
            <a:r>
              <a:rPr lang="en-US" dirty="0" smtClean="0"/>
              <a:t>Net-Zero Source Energy</a:t>
            </a:r>
          </a:p>
          <a:p>
            <a:pPr lvl="1"/>
            <a:r>
              <a:rPr lang="en-US" dirty="0" smtClean="0"/>
              <a:t>Net-Zero Energy Costs</a:t>
            </a:r>
          </a:p>
          <a:p>
            <a:pPr lvl="1"/>
            <a:r>
              <a:rPr lang="en-US" dirty="0" smtClean="0"/>
              <a:t>Net-Zero Energy Emissions</a:t>
            </a:r>
            <a:endParaRPr lang="en-US" dirty="0"/>
          </a:p>
        </p:txBody>
      </p:sp>
      <p:pic>
        <p:nvPicPr>
          <p:cNvPr id="2051" name="Picture 3"/>
          <p:cNvPicPr>
            <a:picLocks noChangeAspect="1" noChangeArrowheads="1"/>
          </p:cNvPicPr>
          <p:nvPr/>
        </p:nvPicPr>
        <p:blipFill>
          <a:blip r:embed="rId3"/>
          <a:srcRect/>
          <a:stretch>
            <a:fillRect/>
          </a:stretch>
        </p:blipFill>
        <p:spPr bwMode="auto">
          <a:xfrm>
            <a:off x="5867400" y="2524125"/>
            <a:ext cx="1381126" cy="1787340"/>
          </a:xfrm>
          <a:prstGeom prst="rect">
            <a:avLst/>
          </a:prstGeom>
          <a:noFill/>
          <a:ln w="9525">
            <a:noFill/>
            <a:miter lim="800000"/>
            <a:headEnd/>
            <a:tailEnd/>
          </a:ln>
        </p:spPr>
      </p:pic>
      <p:pic>
        <p:nvPicPr>
          <p:cNvPr id="6" name="Picture 5" descr="MP900438636.JPG"/>
          <p:cNvPicPr>
            <a:picLocks noChangeAspect="1"/>
          </p:cNvPicPr>
          <p:nvPr/>
        </p:nvPicPr>
        <p:blipFill>
          <a:blip r:embed="rId4"/>
          <a:stretch>
            <a:fillRect/>
          </a:stretch>
        </p:blipFill>
        <p:spPr>
          <a:xfrm>
            <a:off x="5870577" y="4392613"/>
            <a:ext cx="2600324" cy="1733549"/>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Getting to Net-Zero</a:t>
            </a:r>
            <a:endParaRPr lang="en-US" dirty="0"/>
          </a:p>
        </p:txBody>
      </p:sp>
      <p:sp>
        <p:nvSpPr>
          <p:cNvPr id="3" name="Content Placeholder 2"/>
          <p:cNvSpPr>
            <a:spLocks noGrp="1"/>
          </p:cNvSpPr>
          <p:nvPr>
            <p:ph idx="1"/>
          </p:nvPr>
        </p:nvSpPr>
        <p:spPr>
          <a:xfrm>
            <a:off x="457200" y="1470025"/>
            <a:ext cx="8216900" cy="2244725"/>
          </a:xfrm>
        </p:spPr>
        <p:txBody>
          <a:bodyPr/>
          <a:lstStyle/>
          <a:p>
            <a:pPr marL="514350" indent="-514350">
              <a:buFont typeface="+mj-lt"/>
              <a:buAutoNum type="arabicParenR"/>
            </a:pPr>
            <a:r>
              <a:rPr lang="en-US" dirty="0" smtClean="0"/>
              <a:t>Decrease the loads 							   (need for space conditioning) </a:t>
            </a:r>
          </a:p>
          <a:p>
            <a:pPr marL="514350" indent="-514350">
              <a:buFont typeface="+mj-lt"/>
              <a:buAutoNum type="arabicParenR"/>
            </a:pPr>
            <a:r>
              <a:rPr lang="en-US" dirty="0" smtClean="0"/>
              <a:t>Install efficient equipment</a:t>
            </a:r>
          </a:p>
          <a:p>
            <a:pPr marL="514350" indent="-514350">
              <a:buFont typeface="+mj-lt"/>
              <a:buAutoNum type="arabicParenR"/>
            </a:pPr>
            <a:r>
              <a:rPr lang="en-US" dirty="0" smtClean="0"/>
              <a:t>Utilize </a:t>
            </a:r>
            <a:r>
              <a:rPr lang="en-US" dirty="0" err="1" smtClean="0"/>
              <a:t>renewables</a:t>
            </a:r>
            <a:endParaRPr lang="en-US" dirty="0"/>
          </a:p>
        </p:txBody>
      </p:sp>
      <p:pic>
        <p:nvPicPr>
          <p:cNvPr id="4" name="Picture 2"/>
          <p:cNvPicPr>
            <a:picLocks noChangeAspect="1" noChangeArrowheads="1"/>
          </p:cNvPicPr>
          <p:nvPr/>
        </p:nvPicPr>
        <p:blipFill>
          <a:blip r:embed="rId3"/>
          <a:srcRect/>
          <a:stretch>
            <a:fillRect/>
          </a:stretch>
        </p:blipFill>
        <p:spPr bwMode="auto">
          <a:xfrm>
            <a:off x="4568824" y="3276599"/>
            <a:ext cx="4105275" cy="30264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Load Reduction</a:t>
            </a:r>
            <a:endParaRPr lang="en-US" dirty="0"/>
          </a:p>
        </p:txBody>
      </p:sp>
      <p:sp>
        <p:nvSpPr>
          <p:cNvPr id="3" name="Content Placeholder 2"/>
          <p:cNvSpPr>
            <a:spLocks noGrp="1"/>
          </p:cNvSpPr>
          <p:nvPr>
            <p:ph idx="1"/>
          </p:nvPr>
        </p:nvSpPr>
        <p:spPr>
          <a:xfrm>
            <a:off x="457200" y="1470025"/>
            <a:ext cx="8216900" cy="2963752"/>
          </a:xfrm>
        </p:spPr>
        <p:txBody>
          <a:bodyPr/>
          <a:lstStyle/>
          <a:p>
            <a:r>
              <a:rPr lang="en-US" dirty="0" smtClean="0"/>
              <a:t>Install more/better insulation in walls</a:t>
            </a:r>
          </a:p>
          <a:p>
            <a:r>
              <a:rPr lang="en-US" dirty="0" smtClean="0"/>
              <a:t>Ensure walls are air tight</a:t>
            </a:r>
          </a:p>
          <a:p>
            <a:r>
              <a:rPr lang="en-US" dirty="0" smtClean="0"/>
              <a:t>Minimize pollutant generation in homes to reduce need for ventilation</a:t>
            </a:r>
          </a:p>
          <a:p>
            <a:r>
              <a:rPr lang="en-US" dirty="0" smtClean="0"/>
              <a:t>Ventilate efficiently</a:t>
            </a:r>
          </a:p>
          <a:p>
            <a:endParaRPr lang="en-US" dirty="0"/>
          </a:p>
        </p:txBody>
      </p:sp>
      <p:pic>
        <p:nvPicPr>
          <p:cNvPr id="4" name="Picture 13" descr="SmallChambers.jpg"/>
          <p:cNvPicPr>
            <a:picLocks noChangeAspect="1"/>
          </p:cNvPicPr>
          <p:nvPr/>
        </p:nvPicPr>
        <p:blipFill>
          <a:blip r:embed="rId3"/>
          <a:srcRect/>
          <a:stretch>
            <a:fillRect/>
          </a:stretch>
        </p:blipFill>
        <p:spPr bwMode="auto">
          <a:xfrm>
            <a:off x="3914554" y="4308049"/>
            <a:ext cx="1279117" cy="1711251"/>
          </a:xfrm>
          <a:prstGeom prst="rect">
            <a:avLst/>
          </a:prstGeom>
          <a:noFill/>
          <a:ln w="9525">
            <a:noFill/>
            <a:miter lim="800000"/>
            <a:headEnd/>
            <a:tailEnd/>
          </a:ln>
        </p:spPr>
      </p:pic>
      <p:pic>
        <p:nvPicPr>
          <p:cNvPr id="5" name="Picture 9" descr="Schematic"/>
          <p:cNvPicPr>
            <a:picLocks noChangeAspect="1" noChangeArrowheads="1"/>
          </p:cNvPicPr>
          <p:nvPr/>
        </p:nvPicPr>
        <p:blipFill>
          <a:blip r:embed="rId4"/>
          <a:srcRect/>
          <a:stretch>
            <a:fillRect/>
          </a:stretch>
        </p:blipFill>
        <p:spPr bwMode="auto">
          <a:xfrm>
            <a:off x="5811044" y="4299281"/>
            <a:ext cx="2630488" cy="1728788"/>
          </a:xfrm>
          <a:prstGeom prst="rect">
            <a:avLst/>
          </a:prstGeom>
          <a:noFill/>
          <a:ln w="9525">
            <a:noFill/>
            <a:miter lim="800000"/>
            <a:headEnd/>
            <a:tailEnd/>
          </a:ln>
        </p:spPr>
      </p:pic>
      <p:pic>
        <p:nvPicPr>
          <p:cNvPr id="5122" name="Picture 2"/>
          <p:cNvPicPr>
            <a:picLocks noChangeAspect="1" noChangeArrowheads="1"/>
          </p:cNvPicPr>
          <p:nvPr/>
        </p:nvPicPr>
        <p:blipFill>
          <a:blip r:embed="rId5">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970000" y="4299281"/>
            <a:ext cx="1744947" cy="1720019"/>
          </a:xfrm>
          <a:prstGeom prst="rect">
            <a:avLst/>
          </a:prstGeom>
          <a:noFill/>
          <a:ln>
            <a:noFill/>
          </a:ln>
          <a:effectLst/>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chemeClr val="accent1"/>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chemeClr val="tx1"/>
                </a:solidFill>
                <a:miter lim="800000"/>
                <a:headEnd/>
                <a:tailEnd/>
              </a14:hiddenLine>
            </a:ext>
            <a:ext uri="{AF507438-7753-43E0-B8FC-AC1667EBCBE1}">
              <a14:hiddenEffects xmlns:a14="http://schemas.microsoft.com/office/drawing/2010/main" xmlns:p="http://schemas.openxmlformats.org/presentationml/2006/main" xmlns:r="http://schemas.openxmlformats.org/officeDocument/2006/relationships" xmlns:a="http://schemas.openxmlformats.org/drawingml/2006/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8046841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Efficient Equipment</a:t>
            </a:r>
            <a:endParaRPr lang="en-US" dirty="0"/>
          </a:p>
        </p:txBody>
      </p:sp>
      <p:sp>
        <p:nvSpPr>
          <p:cNvPr id="3" name="Content Placeholder 2"/>
          <p:cNvSpPr>
            <a:spLocks noGrp="1"/>
          </p:cNvSpPr>
          <p:nvPr>
            <p:ph idx="1"/>
          </p:nvPr>
        </p:nvSpPr>
        <p:spPr/>
        <p:txBody>
          <a:bodyPr/>
          <a:lstStyle/>
          <a:p>
            <a:r>
              <a:rPr lang="en-US" dirty="0" smtClean="0"/>
              <a:t>For example,</a:t>
            </a:r>
          </a:p>
          <a:p>
            <a:pPr lvl="1"/>
            <a:r>
              <a:rPr lang="en-US" dirty="0" smtClean="0"/>
              <a:t>Heat pumps and air conditioners</a:t>
            </a:r>
          </a:p>
          <a:p>
            <a:pPr lvl="1"/>
            <a:r>
              <a:rPr lang="en-US" dirty="0" smtClean="0"/>
              <a:t>Lights</a:t>
            </a:r>
          </a:p>
          <a:p>
            <a:pPr lvl="1"/>
            <a:endParaRPr lang="en-US" dirty="0"/>
          </a:p>
          <a:p>
            <a:pPr lvl="1"/>
            <a:endParaRPr lang="en-US" dirty="0" smtClean="0"/>
          </a:p>
        </p:txBody>
      </p:sp>
      <p:grpSp>
        <p:nvGrpSpPr>
          <p:cNvPr id="4" name="Group 298"/>
          <p:cNvGrpSpPr>
            <a:grpSpLocks/>
          </p:cNvGrpSpPr>
          <p:nvPr/>
        </p:nvGrpSpPr>
        <p:grpSpPr bwMode="auto">
          <a:xfrm>
            <a:off x="919717" y="3478803"/>
            <a:ext cx="2546497" cy="2647360"/>
            <a:chOff x="528" y="1440"/>
            <a:chExt cx="1475" cy="1488"/>
          </a:xfrm>
          <a:solidFill>
            <a:schemeClr val="tx1"/>
          </a:solidFill>
        </p:grpSpPr>
        <p:pic>
          <p:nvPicPr>
            <p:cNvPr id="5" name="Picture 19"/>
            <p:cNvPicPr>
              <a:picLocks noChangeAspect="1" noChangeArrowheads="1"/>
            </p:cNvPicPr>
            <p:nvPr/>
          </p:nvPicPr>
          <p:blipFill>
            <a:blip r:embed="rId3"/>
            <a:srcRect r="-1054"/>
            <a:stretch>
              <a:fillRect/>
            </a:stretch>
          </p:blipFill>
          <p:spPr bwMode="auto">
            <a:xfrm>
              <a:off x="528" y="1824"/>
              <a:ext cx="1475" cy="1104"/>
            </a:xfrm>
            <a:prstGeom prst="rect">
              <a:avLst/>
            </a:prstGeom>
            <a:grpFill/>
            <a:ln w="9525">
              <a:noFill/>
              <a:miter lim="800000"/>
              <a:headEnd/>
              <a:tailEnd/>
            </a:ln>
          </p:spPr>
        </p:pic>
        <p:sp>
          <p:nvSpPr>
            <p:cNvPr id="6" name="Text Box 289"/>
            <p:cNvSpPr txBox="1">
              <a:spLocks noChangeArrowheads="1"/>
            </p:cNvSpPr>
            <p:nvPr/>
          </p:nvSpPr>
          <p:spPr bwMode="auto">
            <a:xfrm>
              <a:off x="528" y="1440"/>
              <a:ext cx="1296" cy="346"/>
            </a:xfrm>
            <a:prstGeom prst="rect">
              <a:avLst/>
            </a:prstGeom>
            <a:grpFill/>
            <a:ln w="9525">
              <a:noFill/>
              <a:miter lim="800000"/>
              <a:headEnd/>
              <a:tailEnd/>
            </a:ln>
          </p:spPr>
          <p:txBody>
            <a:bodyPr>
              <a:spAutoFit/>
            </a:bodyPr>
            <a:lstStyle/>
            <a:p>
              <a:r>
                <a:rPr lang="en-US" sz="1000">
                  <a:solidFill>
                    <a:srgbClr val="FFFFFF"/>
                  </a:solidFill>
                </a:rPr>
                <a:t>Example: Top slab receives up to </a:t>
              </a:r>
              <a:r>
                <a:rPr lang="en-US" sz="1000" b="1">
                  <a:solidFill>
                    <a:srgbClr val="A50021"/>
                  </a:solidFill>
                </a:rPr>
                <a:t>30%</a:t>
              </a:r>
              <a:r>
                <a:rPr lang="en-US" sz="1000">
                  <a:solidFill>
                    <a:srgbClr val="FFFFFF"/>
                  </a:solidFill>
                </a:rPr>
                <a:t> more air flow than the bottom slab</a:t>
              </a:r>
            </a:p>
          </p:txBody>
        </p:sp>
      </p:grpSp>
      <p:pic>
        <p:nvPicPr>
          <p:cNvPr id="6146" name="Picture 2"/>
          <p:cNvPicPr>
            <a:picLocks noChangeAspect="1" noChangeArrowheads="1"/>
          </p:cNvPicPr>
          <p:nvPr/>
        </p:nvPicPr>
        <p:blipFill>
          <a:blip r:embed="rId4">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4897622" y="3268663"/>
            <a:ext cx="2857500" cy="2857500"/>
          </a:xfrm>
          <a:prstGeom prst="rect">
            <a:avLst/>
          </a:prstGeom>
          <a:noFill/>
          <a:ln>
            <a:noFill/>
          </a:ln>
          <a:effectLst/>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chemeClr val="accent1"/>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chemeClr val="tx1"/>
                </a:solidFill>
                <a:miter lim="800000"/>
                <a:headEnd/>
                <a:tailEnd/>
              </a14:hiddenLine>
            </a:ext>
            <a:ext uri="{AF507438-7753-43E0-B8FC-AC1667EBCBE1}">
              <a14:hiddenEffects xmlns:a14="http://schemas.microsoft.com/office/drawing/2010/main" xmlns:p="http://schemas.openxmlformats.org/presentationml/2006/main" xmlns:r="http://schemas.openxmlformats.org/officeDocument/2006/relationships" xmlns:a="http://schemas.openxmlformats.org/drawingml/2006/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5058672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Renewables</a:t>
            </a:r>
            <a:endParaRPr lang="en-US" dirty="0"/>
          </a:p>
        </p:txBody>
      </p:sp>
      <p:sp>
        <p:nvSpPr>
          <p:cNvPr id="3" name="Content Placeholder 2"/>
          <p:cNvSpPr>
            <a:spLocks noGrp="1"/>
          </p:cNvSpPr>
          <p:nvPr>
            <p:ph idx="1"/>
          </p:nvPr>
        </p:nvSpPr>
        <p:spPr/>
        <p:txBody>
          <a:bodyPr/>
          <a:lstStyle/>
          <a:p>
            <a:r>
              <a:rPr lang="en-US" dirty="0" smtClean="0"/>
              <a:t>Solar is the primary source at the building site</a:t>
            </a:r>
          </a:p>
          <a:p>
            <a:pPr lvl="1"/>
            <a:r>
              <a:rPr lang="en-US" dirty="0" smtClean="0"/>
              <a:t>Solar Thermal</a:t>
            </a:r>
          </a:p>
          <a:p>
            <a:pPr lvl="1"/>
            <a:endParaRPr lang="en-US" dirty="0"/>
          </a:p>
          <a:p>
            <a:pPr lvl="1"/>
            <a:endParaRPr lang="en-US" dirty="0" smtClean="0"/>
          </a:p>
          <a:p>
            <a:pPr lvl="1"/>
            <a:endParaRPr lang="en-US" dirty="0" smtClean="0"/>
          </a:p>
          <a:p>
            <a:pPr lvl="1"/>
            <a:r>
              <a:rPr lang="en-US" dirty="0" smtClean="0"/>
              <a:t>Photovoltaics</a:t>
            </a:r>
            <a:endParaRPr lang="en-US" dirty="0"/>
          </a:p>
        </p:txBody>
      </p:sp>
      <p:pic>
        <p:nvPicPr>
          <p:cNvPr id="4" name="Picture 3"/>
          <p:cNvPicPr>
            <a:picLocks noChangeAspect="1" noChangeArrowheads="1"/>
          </p:cNvPicPr>
          <p:nvPr/>
        </p:nvPicPr>
        <p:blipFill>
          <a:blip r:embed="rId3"/>
          <a:srcRect/>
          <a:stretch>
            <a:fillRect/>
          </a:stretch>
        </p:blipFill>
        <p:spPr bwMode="auto">
          <a:xfrm>
            <a:off x="3997842" y="4449046"/>
            <a:ext cx="3172047" cy="2109913"/>
          </a:xfrm>
          <a:prstGeom prst="rect">
            <a:avLst/>
          </a:prstGeom>
          <a:noFill/>
          <a:ln w="9525">
            <a:noFill/>
            <a:miter lim="800000"/>
            <a:headEnd/>
            <a:tailEnd/>
          </a:ln>
        </p:spPr>
      </p:pic>
      <p:pic>
        <p:nvPicPr>
          <p:cNvPr id="7170" name="Picture 2"/>
          <p:cNvPicPr>
            <a:picLocks noChangeAspect="1" noChangeArrowheads="1"/>
          </p:cNvPicPr>
          <p:nvPr/>
        </p:nvPicPr>
        <p:blipFill>
          <a:blip r:embed="rId4">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4380614" y="2181768"/>
            <a:ext cx="2190307" cy="2086765"/>
          </a:xfrm>
          <a:prstGeom prst="rect">
            <a:avLst/>
          </a:prstGeom>
          <a:noFill/>
          <a:ln>
            <a:noFill/>
          </a:ln>
          <a:effectLst/>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chemeClr val="accent1"/>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chemeClr val="tx1"/>
                </a:solidFill>
                <a:miter lim="800000"/>
                <a:headEnd/>
                <a:tailEnd/>
              </a14:hiddenLine>
            </a:ext>
            <a:ext uri="{AF507438-7753-43E0-B8FC-AC1667EBCBE1}">
              <a14:hiddenEffects xmlns:a14="http://schemas.microsoft.com/office/drawing/2010/main" xmlns:p="http://schemas.openxmlformats.org/presentationml/2006/main" xmlns:r="http://schemas.openxmlformats.org/officeDocument/2006/relationships" xmlns:a="http://schemas.openxmlformats.org/drawingml/2006/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8955765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Net-Zero Energy, Residential Test Facility</a:t>
            </a:r>
            <a:endParaRPr lang="en-US" dirty="0"/>
          </a:p>
        </p:txBody>
      </p:sp>
      <p:pic>
        <p:nvPicPr>
          <p:cNvPr id="4" name="Picture 5" descr="C:\Documents and Settings\hunter\Desktop\2010-03-08 NIST Site Model Front View.JPG"/>
          <p:cNvPicPr>
            <a:picLocks noGrp="1" noChangeAspect="1" noChangeArrowheads="1"/>
          </p:cNvPicPr>
          <p:nvPr>
            <p:ph idx="1"/>
          </p:nvPr>
        </p:nvPicPr>
        <p:blipFill>
          <a:blip r:embed="rId3"/>
          <a:srcRect/>
          <a:stretch>
            <a:fillRect/>
          </a:stretch>
        </p:blipFill>
        <p:spPr bwMode="auto">
          <a:xfrm>
            <a:off x="457200" y="1679466"/>
            <a:ext cx="8216900" cy="423725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7890" name="Content Placeholder 22"/>
          <p:cNvSpPr>
            <a:spLocks noGrp="1"/>
          </p:cNvSpPr>
          <p:nvPr>
            <p:ph sz="half" idx="4294967295"/>
          </p:nvPr>
        </p:nvSpPr>
        <p:spPr>
          <a:xfrm>
            <a:off x="0" y="1066800"/>
            <a:ext cx="7391400" cy="4343400"/>
          </a:xfrm>
        </p:spPr>
        <p:txBody>
          <a:bodyPr/>
          <a:lstStyle/>
          <a:p>
            <a:pPr>
              <a:buFont typeface="Arial" charset="0"/>
              <a:buNone/>
            </a:pPr>
            <a:r>
              <a:rPr lang="en-US" sz="2400" b="1" u="sng" dirty="0" smtClean="0">
                <a:solidFill>
                  <a:srgbClr val="9CB7F2"/>
                </a:solidFill>
                <a:latin typeface="Arial" charset="0"/>
                <a:cs typeface="Arial" charset="0"/>
              </a:rPr>
              <a:t>Objectives</a:t>
            </a:r>
            <a:r>
              <a:rPr lang="en-US" sz="1600" b="1" dirty="0" smtClean="0">
                <a:latin typeface="Arial" charset="0"/>
                <a:cs typeface="Arial" charset="0"/>
              </a:rPr>
              <a:t> </a:t>
            </a:r>
          </a:p>
          <a:p>
            <a:pPr>
              <a:buFont typeface="Wingdings" pitchFamily="2" charset="2"/>
              <a:buChar char="§"/>
            </a:pPr>
            <a:r>
              <a:rPr lang="en-US" sz="1600" b="1" dirty="0" smtClean="0">
                <a:latin typeface="Arial" charset="0"/>
                <a:cs typeface="Arial" charset="0"/>
              </a:rPr>
              <a:t> </a:t>
            </a:r>
            <a:r>
              <a:rPr lang="en-US" sz="1800" b="1" dirty="0" smtClean="0">
                <a:latin typeface="Arial" charset="0"/>
                <a:cs typeface="Arial" charset="0"/>
              </a:rPr>
              <a:t>Demonstrate Net-Zero Energy for a home similar in nature to surrounding homes </a:t>
            </a:r>
          </a:p>
          <a:p>
            <a:pPr>
              <a:buFont typeface="Wingdings" pitchFamily="2" charset="2"/>
              <a:buChar char="§"/>
            </a:pPr>
            <a:endParaRPr lang="en-US" sz="1800" b="1" dirty="0" smtClean="0">
              <a:latin typeface="Arial" charset="0"/>
              <a:cs typeface="Arial" charset="0"/>
            </a:endParaRPr>
          </a:p>
          <a:p>
            <a:pPr>
              <a:buFont typeface="Wingdings" pitchFamily="2" charset="2"/>
              <a:buChar char="§"/>
            </a:pPr>
            <a:r>
              <a:rPr lang="en-US" sz="1800" b="1" dirty="0" smtClean="0">
                <a:latin typeface="Arial" charset="0"/>
                <a:cs typeface="Arial" charset="0"/>
              </a:rPr>
              <a:t>Provide a test bed for in-situ measurements of various components and system</a:t>
            </a:r>
          </a:p>
          <a:p>
            <a:pPr>
              <a:buFont typeface="Arial" charset="0"/>
              <a:buNone/>
            </a:pPr>
            <a:endParaRPr lang="en-US" sz="1800" b="1" dirty="0" smtClean="0">
              <a:latin typeface="Arial" charset="0"/>
              <a:cs typeface="Arial" charset="0"/>
            </a:endParaRPr>
          </a:p>
          <a:p>
            <a:pPr>
              <a:buFont typeface="Wingdings" pitchFamily="2" charset="2"/>
              <a:buChar char="§"/>
            </a:pPr>
            <a:r>
              <a:rPr lang="en-US" sz="1800" b="1" dirty="0" smtClean="0">
                <a:latin typeface="Arial" charset="0"/>
                <a:cs typeface="Arial" charset="0"/>
              </a:rPr>
              <a:t>Provide “real world” field data to validate/improve models</a:t>
            </a:r>
          </a:p>
          <a:p>
            <a:pPr>
              <a:buFont typeface="Wingdings" pitchFamily="2" charset="2"/>
              <a:buChar char="§"/>
            </a:pPr>
            <a:endParaRPr lang="en-US" sz="1800" b="1" dirty="0" smtClean="0">
              <a:latin typeface="Arial" charset="0"/>
              <a:cs typeface="Arial" charset="0"/>
            </a:endParaRPr>
          </a:p>
          <a:p>
            <a:pPr>
              <a:buFont typeface="Wingdings" pitchFamily="2" charset="2"/>
              <a:buChar char="§"/>
            </a:pPr>
            <a:r>
              <a:rPr lang="en-US" sz="1800" b="1" dirty="0" smtClean="0">
                <a:latin typeface="Arial" charset="0"/>
                <a:cs typeface="Arial" charset="0"/>
              </a:rPr>
              <a:t>Improve laboratory test procedures of systems/components to give results that are representative of field performance</a:t>
            </a:r>
          </a:p>
          <a:p>
            <a:pPr>
              <a:buClr>
                <a:srgbClr val="7F7F7F"/>
              </a:buClr>
              <a:buFont typeface="Wingdings" pitchFamily="2" charset="2"/>
              <a:buChar char="§"/>
            </a:pPr>
            <a:endParaRPr lang="en-US" sz="2400" dirty="0" smtClean="0">
              <a:latin typeface="Arial" charset="0"/>
              <a:cs typeface="Arial" charset="0"/>
            </a:endParaRPr>
          </a:p>
          <a:p>
            <a:pPr lvl="1">
              <a:buClr>
                <a:srgbClr val="7F7F7F"/>
              </a:buClr>
              <a:buFont typeface="Wingdings" pitchFamily="2" charset="2"/>
              <a:buChar char="§"/>
            </a:pPr>
            <a:endParaRPr lang="en-US" sz="2000" dirty="0" smtClean="0">
              <a:latin typeface="Arial" charset="0"/>
              <a:cs typeface="Arial" charset="0"/>
            </a:endParaRPr>
          </a:p>
          <a:p>
            <a:pPr lvl="1">
              <a:buClr>
                <a:srgbClr val="7F7F7F"/>
              </a:buClr>
              <a:buFont typeface="Arial" charset="0"/>
              <a:buNone/>
            </a:pPr>
            <a:endParaRPr lang="en-US" sz="2000" dirty="0" smtClean="0">
              <a:latin typeface="Arial" charset="0"/>
              <a:cs typeface="Arial" charset="0"/>
            </a:endParaRPr>
          </a:p>
          <a:p>
            <a:pPr lvl="1">
              <a:buClr>
                <a:srgbClr val="7F7F7F"/>
              </a:buClr>
              <a:buFont typeface="Wingdings" pitchFamily="2" charset="2"/>
              <a:buChar char="§"/>
            </a:pPr>
            <a:endParaRPr lang="en-US" sz="2000" dirty="0" smtClean="0">
              <a:latin typeface="Arial" charset="0"/>
              <a:cs typeface="Arial" charset="0"/>
            </a:endParaRPr>
          </a:p>
          <a:p>
            <a:pPr lvl="1">
              <a:buClr>
                <a:srgbClr val="7F7F7F"/>
              </a:buClr>
              <a:buFont typeface="Wingdings" pitchFamily="2" charset="2"/>
              <a:buChar char="§"/>
            </a:pPr>
            <a:endParaRPr lang="en-US" sz="2000" dirty="0" smtClean="0">
              <a:latin typeface="Arial" charset="0"/>
              <a:cs typeface="Arial" charset="0"/>
            </a:endParaRPr>
          </a:p>
        </p:txBody>
      </p:sp>
      <p:sp>
        <p:nvSpPr>
          <p:cNvPr id="3" name="Rectangle 2"/>
          <p:cNvSpPr/>
          <p:nvPr/>
        </p:nvSpPr>
        <p:spPr>
          <a:xfrm>
            <a:off x="228600" y="6096000"/>
            <a:ext cx="2057400" cy="609600"/>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9938" name="Content Placeholder 22"/>
          <p:cNvSpPr>
            <a:spLocks noGrp="1"/>
          </p:cNvSpPr>
          <p:nvPr>
            <p:ph sz="half" idx="4294967295"/>
          </p:nvPr>
        </p:nvSpPr>
        <p:spPr>
          <a:xfrm>
            <a:off x="0" y="838200"/>
            <a:ext cx="7391400" cy="4343400"/>
          </a:xfrm>
        </p:spPr>
        <p:txBody>
          <a:bodyPr/>
          <a:lstStyle/>
          <a:p>
            <a:pPr>
              <a:buClr>
                <a:srgbClr val="7F7F7F"/>
              </a:buClr>
              <a:buFont typeface="Wingdings" pitchFamily="2" charset="2"/>
              <a:buChar char="§"/>
            </a:pPr>
            <a:r>
              <a:rPr lang="en-US" sz="2400" dirty="0" smtClean="0">
                <a:solidFill>
                  <a:srgbClr val="9CB7F2"/>
                </a:solidFill>
                <a:latin typeface="Arial" charset="0"/>
                <a:cs typeface="Arial" charset="0"/>
              </a:rPr>
              <a:t>Project Overview</a:t>
            </a:r>
          </a:p>
          <a:p>
            <a:pPr>
              <a:buClr>
                <a:srgbClr val="7F7F7F"/>
              </a:buClr>
              <a:buFont typeface="Wingdings" pitchFamily="2" charset="2"/>
              <a:buChar char="§"/>
            </a:pPr>
            <a:endParaRPr lang="en-US" sz="800" dirty="0" smtClean="0">
              <a:latin typeface="Arial" charset="0"/>
              <a:cs typeface="Arial" charset="0"/>
            </a:endParaRPr>
          </a:p>
          <a:p>
            <a:pPr lvl="1">
              <a:spcBef>
                <a:spcPts val="600"/>
              </a:spcBef>
              <a:spcAft>
                <a:spcPts val="0"/>
              </a:spcAft>
              <a:buClr>
                <a:srgbClr val="7F7F7F"/>
              </a:buClr>
              <a:buFont typeface="Wingdings" pitchFamily="2" charset="2"/>
              <a:buChar char="§"/>
            </a:pPr>
            <a:r>
              <a:rPr lang="en-US" sz="1600" dirty="0" smtClean="0">
                <a:latin typeface="Arial" charset="0"/>
                <a:cs typeface="Arial" charset="0"/>
              </a:rPr>
              <a:t>Climate:		  	Mixed-Humid (4A)</a:t>
            </a:r>
          </a:p>
          <a:p>
            <a:pPr lvl="1">
              <a:spcBef>
                <a:spcPts val="600"/>
              </a:spcBef>
              <a:spcAft>
                <a:spcPts val="0"/>
              </a:spcAft>
              <a:buClr>
                <a:srgbClr val="7F7F7F"/>
              </a:buClr>
              <a:buFont typeface="Wingdings" pitchFamily="2" charset="2"/>
              <a:buChar char="§"/>
            </a:pPr>
            <a:r>
              <a:rPr lang="en-US" sz="1600" dirty="0" smtClean="0">
                <a:latin typeface="Arial" charset="0"/>
                <a:cs typeface="Arial" charset="0"/>
              </a:rPr>
              <a:t>Type:		  	  	Single-Family</a:t>
            </a:r>
          </a:p>
          <a:p>
            <a:pPr lvl="1">
              <a:spcBef>
                <a:spcPts val="600"/>
              </a:spcBef>
              <a:spcAft>
                <a:spcPts val="0"/>
              </a:spcAft>
              <a:buClr>
                <a:srgbClr val="7F7F7F"/>
              </a:buClr>
              <a:buFont typeface="Wingdings" pitchFamily="2" charset="2"/>
              <a:buChar char="§"/>
            </a:pPr>
            <a:r>
              <a:rPr lang="en-US" sz="1600" dirty="0" smtClean="0">
                <a:latin typeface="Arial" charset="0"/>
                <a:cs typeface="Arial" charset="0"/>
              </a:rPr>
              <a:t>Stories:		  	2</a:t>
            </a:r>
          </a:p>
          <a:p>
            <a:pPr lvl="1">
              <a:spcBef>
                <a:spcPts val="600"/>
              </a:spcBef>
              <a:spcAft>
                <a:spcPts val="0"/>
              </a:spcAft>
              <a:buClr>
                <a:srgbClr val="7F7F7F"/>
              </a:buClr>
              <a:buFont typeface="Wingdings" pitchFamily="2" charset="2"/>
              <a:buChar char="§"/>
            </a:pPr>
            <a:r>
              <a:rPr lang="en-US" sz="1600" dirty="0" smtClean="0">
                <a:latin typeface="Arial" charset="0"/>
                <a:cs typeface="Arial" charset="0"/>
              </a:rPr>
              <a:t>Bedrooms:	          	4</a:t>
            </a:r>
          </a:p>
          <a:p>
            <a:pPr lvl="1">
              <a:spcBef>
                <a:spcPts val="600"/>
              </a:spcBef>
              <a:spcAft>
                <a:spcPts val="0"/>
              </a:spcAft>
              <a:buClr>
                <a:srgbClr val="7F7F7F"/>
              </a:buClr>
              <a:buFont typeface="Wingdings" pitchFamily="2" charset="2"/>
              <a:buChar char="§"/>
            </a:pPr>
            <a:r>
              <a:rPr lang="en-US" sz="1600" dirty="0" smtClean="0">
                <a:latin typeface="Arial" charset="0"/>
                <a:cs typeface="Arial" charset="0"/>
              </a:rPr>
              <a:t>Baths:		  	  	3</a:t>
            </a:r>
          </a:p>
          <a:p>
            <a:pPr lvl="1">
              <a:spcBef>
                <a:spcPts val="600"/>
              </a:spcBef>
              <a:spcAft>
                <a:spcPts val="0"/>
              </a:spcAft>
              <a:buClr>
                <a:srgbClr val="7F7F7F"/>
              </a:buClr>
              <a:buFont typeface="Wingdings" pitchFamily="2" charset="2"/>
              <a:buChar char="§"/>
            </a:pPr>
            <a:r>
              <a:rPr lang="en-US" sz="1600" dirty="0" smtClean="0">
                <a:latin typeface="Arial" charset="0"/>
                <a:cs typeface="Arial" charset="0"/>
              </a:rPr>
              <a:t>Floor Area:	  	  	2,709 sq. ft.</a:t>
            </a:r>
          </a:p>
          <a:p>
            <a:pPr lvl="1">
              <a:spcBef>
                <a:spcPts val="600"/>
              </a:spcBef>
              <a:spcAft>
                <a:spcPts val="0"/>
              </a:spcAft>
              <a:buClr>
                <a:srgbClr val="7F7F7F"/>
              </a:buClr>
              <a:buFont typeface="Wingdings" pitchFamily="2" charset="2"/>
              <a:buChar char="§"/>
            </a:pPr>
            <a:r>
              <a:rPr lang="en-US" sz="1600" dirty="0" smtClean="0">
                <a:latin typeface="Arial" charset="0"/>
                <a:cs typeface="Arial" charset="0"/>
              </a:rPr>
              <a:t>Basement Area:	  	1,518 sq. ft. </a:t>
            </a:r>
          </a:p>
          <a:p>
            <a:pPr lvl="1">
              <a:spcBef>
                <a:spcPts val="600"/>
              </a:spcBef>
              <a:spcAft>
                <a:spcPts val="0"/>
              </a:spcAft>
              <a:buClr>
                <a:srgbClr val="7F7F7F"/>
              </a:buClr>
              <a:buFont typeface="Wingdings" pitchFamily="2" charset="2"/>
              <a:buChar char="§"/>
            </a:pPr>
            <a:r>
              <a:rPr lang="en-US" sz="1600" dirty="0" smtClean="0">
                <a:latin typeface="Arial" charset="0"/>
                <a:cs typeface="Arial" charset="0"/>
              </a:rPr>
              <a:t>Smart Grid Ready</a:t>
            </a:r>
          </a:p>
          <a:p>
            <a:pPr lvl="1">
              <a:spcBef>
                <a:spcPts val="600"/>
              </a:spcBef>
              <a:spcAft>
                <a:spcPts val="0"/>
              </a:spcAft>
              <a:buClr>
                <a:srgbClr val="7F7F7F"/>
              </a:buClr>
              <a:buFont typeface="Wingdings" pitchFamily="2" charset="2"/>
              <a:buChar char="§"/>
            </a:pPr>
            <a:r>
              <a:rPr lang="en-US" sz="1600" dirty="0" smtClean="0">
                <a:latin typeface="Arial" charset="0"/>
                <a:cs typeface="Arial" charset="0"/>
              </a:rPr>
              <a:t>Electric Vehicle Ready</a:t>
            </a:r>
          </a:p>
          <a:p>
            <a:pPr lvl="1">
              <a:spcBef>
                <a:spcPts val="600"/>
              </a:spcBef>
              <a:spcAft>
                <a:spcPts val="0"/>
              </a:spcAft>
              <a:buClr>
                <a:srgbClr val="7F7F7F"/>
              </a:buClr>
              <a:buFont typeface="Wingdings" pitchFamily="2" charset="2"/>
              <a:buChar char="§"/>
            </a:pPr>
            <a:r>
              <a:rPr lang="en-US" sz="1600" dirty="0" smtClean="0">
                <a:latin typeface="Arial" charset="0"/>
                <a:cs typeface="Arial" charset="0"/>
              </a:rPr>
              <a:t>Family of Four Occupancy to be simulated</a:t>
            </a:r>
          </a:p>
          <a:p>
            <a:pPr lvl="2">
              <a:spcBef>
                <a:spcPts val="600"/>
              </a:spcBef>
              <a:spcAft>
                <a:spcPts val="0"/>
              </a:spcAft>
              <a:buClr>
                <a:srgbClr val="7F7F7F"/>
              </a:buClr>
              <a:buFont typeface="Wingdings" pitchFamily="2" charset="2"/>
              <a:buChar char="§"/>
            </a:pPr>
            <a:r>
              <a:rPr lang="en-US" sz="1200" dirty="0" smtClean="0">
                <a:latin typeface="Arial" charset="0"/>
                <a:cs typeface="Arial" charset="0"/>
              </a:rPr>
              <a:t>Showers </a:t>
            </a:r>
          </a:p>
          <a:p>
            <a:pPr lvl="2">
              <a:spcBef>
                <a:spcPts val="600"/>
              </a:spcBef>
              <a:spcAft>
                <a:spcPts val="0"/>
              </a:spcAft>
              <a:buClr>
                <a:srgbClr val="7F7F7F"/>
              </a:buClr>
              <a:buFont typeface="Wingdings" pitchFamily="2" charset="2"/>
              <a:buChar char="§"/>
            </a:pPr>
            <a:r>
              <a:rPr lang="en-US" sz="1200" dirty="0" smtClean="0">
                <a:latin typeface="Arial" charset="0"/>
                <a:cs typeface="Arial" charset="0"/>
              </a:rPr>
              <a:t>Appliances</a:t>
            </a:r>
          </a:p>
          <a:p>
            <a:pPr lvl="2">
              <a:spcBef>
                <a:spcPts val="600"/>
              </a:spcBef>
              <a:spcAft>
                <a:spcPts val="0"/>
              </a:spcAft>
              <a:buClr>
                <a:srgbClr val="7F7F7F"/>
              </a:buClr>
              <a:buFont typeface="Wingdings" pitchFamily="2" charset="2"/>
              <a:buChar char="§"/>
            </a:pPr>
            <a:r>
              <a:rPr lang="en-US" sz="1200" dirty="0" smtClean="0">
                <a:latin typeface="Arial" charset="0"/>
                <a:cs typeface="Arial" charset="0"/>
              </a:rPr>
              <a:t>Sensible and Latent Loads of People</a:t>
            </a:r>
          </a:p>
          <a:p>
            <a:pPr lvl="1">
              <a:buClr>
                <a:srgbClr val="7F7F7F"/>
              </a:buClr>
              <a:buFont typeface="Wingdings" pitchFamily="2" charset="2"/>
              <a:buChar char="§"/>
            </a:pPr>
            <a:endParaRPr lang="en-US" sz="1600" dirty="0" smtClean="0">
              <a:latin typeface="Arial" charset="0"/>
              <a:cs typeface="Arial" charset="0"/>
            </a:endParaRPr>
          </a:p>
          <a:p>
            <a:pPr lvl="1">
              <a:buClr>
                <a:srgbClr val="7F7F7F"/>
              </a:buClr>
              <a:buFont typeface="Wingdings" pitchFamily="2" charset="2"/>
              <a:buChar char="§"/>
            </a:pPr>
            <a:endParaRPr lang="en-US" sz="2000" dirty="0" smtClean="0">
              <a:latin typeface="Arial" charset="0"/>
              <a:cs typeface="Arial" charset="0"/>
            </a:endParaRPr>
          </a:p>
          <a:p>
            <a:pPr lvl="1">
              <a:buClr>
                <a:srgbClr val="7F7F7F"/>
              </a:buClr>
              <a:buFont typeface="Wingdings" pitchFamily="2" charset="2"/>
              <a:buChar char="§"/>
            </a:pPr>
            <a:endParaRPr lang="en-US" sz="2000" dirty="0" smtClean="0">
              <a:latin typeface="Arial" charset="0"/>
              <a:cs typeface="Arial" charset="0"/>
            </a:endParaRPr>
          </a:p>
          <a:p>
            <a:pPr lvl="1">
              <a:buClr>
                <a:srgbClr val="7F7F7F"/>
              </a:buClr>
              <a:buFont typeface="Wingdings" pitchFamily="2" charset="2"/>
              <a:buChar char="§"/>
            </a:pPr>
            <a:endParaRPr lang="en-US" sz="2000" dirty="0" smtClean="0">
              <a:latin typeface="Arial" charset="0"/>
              <a:cs typeface="Arial" charset="0"/>
            </a:endParaRPr>
          </a:p>
          <a:p>
            <a:pPr lvl="1">
              <a:buClr>
                <a:srgbClr val="7F7F7F"/>
              </a:buClr>
              <a:buFont typeface="Wingdings" pitchFamily="2" charset="2"/>
              <a:buChar char="§"/>
            </a:pPr>
            <a:endParaRPr lang="en-US" sz="2000" dirty="0" smtClean="0">
              <a:latin typeface="Arial" charset="0"/>
              <a:cs typeface="Arial" charset="0"/>
            </a:endParaRPr>
          </a:p>
          <a:p>
            <a:pPr lvl="1">
              <a:buClr>
                <a:srgbClr val="7F7F7F"/>
              </a:buClr>
              <a:buFont typeface="Wingdings" pitchFamily="2" charset="2"/>
              <a:buChar char="§"/>
            </a:pPr>
            <a:endParaRPr lang="en-US" sz="2000" dirty="0" smtClean="0">
              <a:latin typeface="Arial" charset="0"/>
              <a:cs typeface="Arial" charset="0"/>
            </a:endParaRPr>
          </a:p>
          <a:p>
            <a:pPr lvl="1">
              <a:buClr>
                <a:srgbClr val="7F7F7F"/>
              </a:buClr>
              <a:buFont typeface="Wingdings" pitchFamily="2" charset="2"/>
              <a:buChar char="§"/>
            </a:pPr>
            <a:endParaRPr lang="en-US" sz="2000" dirty="0" smtClean="0">
              <a:latin typeface="Arial" charset="0"/>
              <a:cs typeface="Arial" charset="0"/>
            </a:endParaRPr>
          </a:p>
          <a:p>
            <a:pPr lvl="1">
              <a:buClr>
                <a:srgbClr val="7F7F7F"/>
              </a:buClr>
              <a:buFont typeface="Wingdings" pitchFamily="2" charset="2"/>
              <a:buChar char="§"/>
            </a:pPr>
            <a:endParaRPr lang="en-US" sz="2000" dirty="0" smtClean="0">
              <a:latin typeface="Arial" charset="0"/>
              <a:cs typeface="Arial" charset="0"/>
            </a:endParaRPr>
          </a:p>
        </p:txBody>
      </p:sp>
      <p:sp>
        <p:nvSpPr>
          <p:cNvPr id="3" name="Rectangle 2"/>
          <p:cNvSpPr/>
          <p:nvPr/>
        </p:nvSpPr>
        <p:spPr>
          <a:xfrm>
            <a:off x="228600" y="6096000"/>
            <a:ext cx="2057400" cy="609600"/>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pic>
        <p:nvPicPr>
          <p:cNvPr id="4" name="Picture 4"/>
          <p:cNvPicPr>
            <a:picLocks noChangeAspect="1" noChangeArrowheads="1"/>
          </p:cNvPicPr>
          <p:nvPr/>
        </p:nvPicPr>
        <p:blipFill>
          <a:blip r:embed="rId3"/>
          <a:srcRect/>
          <a:stretch>
            <a:fillRect/>
          </a:stretch>
        </p:blipFill>
        <p:spPr bwMode="auto">
          <a:xfrm>
            <a:off x="5755758" y="1545265"/>
            <a:ext cx="2895600" cy="1643063"/>
          </a:xfrm>
          <a:prstGeom prst="rect">
            <a:avLst/>
          </a:prstGeom>
          <a:noFill/>
          <a:ln w="9525">
            <a:noFill/>
            <a:miter lim="800000"/>
            <a:headEnd/>
            <a:tailEnd/>
          </a:ln>
        </p:spPr>
      </p:pic>
      <p:pic>
        <p:nvPicPr>
          <p:cNvPr id="5" name="Picture 4" descr="http://t0.gstatic.com/images?q=tbn:ANd9GcRgSoLrUo3kcBABjHeZove3w06yABKneaT80tEN9jiatxZgbIM&amp;t=1&amp;usg=__nUM9S4cRwQM00FgUww3HUgTrNxw="/>
          <p:cNvPicPr>
            <a:picLocks noChangeAspect="1" noChangeArrowheads="1"/>
          </p:cNvPicPr>
          <p:nvPr/>
        </p:nvPicPr>
        <p:blipFill>
          <a:blip r:embed="rId4"/>
          <a:srcRect/>
          <a:stretch>
            <a:fillRect/>
          </a:stretch>
        </p:blipFill>
        <p:spPr bwMode="auto">
          <a:xfrm>
            <a:off x="5755758" y="3455581"/>
            <a:ext cx="2895600" cy="18859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Content Placeholder 22"/>
          <p:cNvSpPr txBox="1">
            <a:spLocks/>
          </p:cNvSpPr>
          <p:nvPr/>
        </p:nvSpPr>
        <p:spPr bwMode="auto">
          <a:xfrm>
            <a:off x="0" y="1066800"/>
            <a:ext cx="5029200" cy="3505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457200" rtl="0" fontAlgn="base">
              <a:spcBef>
                <a:spcPts val="800"/>
              </a:spcBef>
              <a:spcAft>
                <a:spcPts val="200"/>
              </a:spcAft>
              <a:buClr>
                <a:srgbClr val="FFC836"/>
              </a:buClr>
              <a:buFont typeface="Arial" charset="0"/>
              <a:buChar char="•"/>
              <a:defRPr sz="2800" kern="1200">
                <a:solidFill>
                  <a:schemeClr val="bg1"/>
                </a:solidFill>
                <a:latin typeface="Arial"/>
                <a:ea typeface="+mn-ea"/>
                <a:cs typeface="Arial"/>
              </a:defRPr>
            </a:lvl1pPr>
            <a:lvl2pPr marL="742950" indent="-285750" algn="l" defTabSz="457200" rtl="0" fontAlgn="base">
              <a:spcBef>
                <a:spcPts val="800"/>
              </a:spcBef>
              <a:spcAft>
                <a:spcPts val="400"/>
              </a:spcAft>
              <a:buClr>
                <a:srgbClr val="B9CDE5"/>
              </a:buClr>
              <a:buFont typeface="Arial" charset="0"/>
              <a:buChar char="–"/>
              <a:defRPr sz="2400" kern="1200">
                <a:solidFill>
                  <a:schemeClr val="bg1"/>
                </a:solidFill>
                <a:latin typeface="Arial"/>
                <a:ea typeface="+mn-ea"/>
                <a:cs typeface="Arial"/>
              </a:defRPr>
            </a:lvl2pPr>
            <a:lvl3pPr marL="1143000" indent="-228600" algn="l" defTabSz="457200" rtl="0" fontAlgn="base">
              <a:spcBef>
                <a:spcPts val="800"/>
              </a:spcBef>
              <a:spcAft>
                <a:spcPts val="400"/>
              </a:spcAft>
              <a:buClr>
                <a:srgbClr val="FDEADA"/>
              </a:buClr>
              <a:buFont typeface="Arial" charset="0"/>
              <a:buChar char="•"/>
              <a:defRPr sz="2000" kern="1200">
                <a:solidFill>
                  <a:schemeClr val="bg1"/>
                </a:solidFill>
                <a:latin typeface="Arial"/>
                <a:ea typeface="+mn-ea"/>
                <a:cs typeface="Arial"/>
              </a:defRPr>
            </a:lvl3pPr>
            <a:lvl4pPr marL="1600200" indent="-228600" algn="l" defTabSz="457200" rtl="0" fontAlgn="base">
              <a:spcBef>
                <a:spcPts val="800"/>
              </a:spcBef>
              <a:spcAft>
                <a:spcPts val="400"/>
              </a:spcAft>
              <a:buFont typeface="Arial" charset="0"/>
              <a:buChar char="–"/>
              <a:defRPr kern="1200">
                <a:solidFill>
                  <a:schemeClr val="bg1"/>
                </a:solidFill>
                <a:latin typeface="Arial"/>
                <a:ea typeface="+mn-ea"/>
                <a:cs typeface="Arial"/>
              </a:defRPr>
            </a:lvl4pPr>
            <a:lvl5pPr marL="2057400" indent="-228600" algn="l" defTabSz="457200" rtl="0" fontAlgn="base">
              <a:spcBef>
                <a:spcPts val="800"/>
              </a:spcBef>
              <a:spcAft>
                <a:spcPts val="400"/>
              </a:spcAft>
              <a:buFont typeface="Arial" charset="0"/>
              <a:buChar char="»"/>
              <a:defRPr kern="1200">
                <a:solidFill>
                  <a:schemeClr val="bg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80000"/>
              </a:lnSpc>
              <a:buClr>
                <a:srgbClr val="7F7F7F"/>
              </a:buClr>
              <a:buFont typeface="Wingdings" pitchFamily="2" charset="2"/>
              <a:buChar char="§"/>
            </a:pPr>
            <a:r>
              <a:rPr lang="en-US" sz="2200" dirty="0" smtClean="0">
                <a:solidFill>
                  <a:srgbClr val="9CB7F2"/>
                </a:solidFill>
                <a:cs typeface="Arial" charset="0"/>
              </a:rPr>
              <a:t>Floor Plan – First Floor</a:t>
            </a:r>
          </a:p>
          <a:p>
            <a:pPr>
              <a:lnSpc>
                <a:spcPct val="80000"/>
              </a:lnSpc>
              <a:buClr>
                <a:srgbClr val="7F7F7F"/>
              </a:buClr>
              <a:buFont typeface="Wingdings" pitchFamily="2" charset="2"/>
              <a:buNone/>
            </a:pPr>
            <a:endParaRPr lang="en-US" sz="2200" dirty="0" smtClean="0">
              <a:solidFill>
                <a:srgbClr val="9CB7F2"/>
              </a:solidFill>
              <a:cs typeface="Arial" charset="0"/>
            </a:endParaRPr>
          </a:p>
          <a:p>
            <a:pPr>
              <a:lnSpc>
                <a:spcPct val="80000"/>
              </a:lnSpc>
              <a:buClr>
                <a:srgbClr val="7F7F7F"/>
              </a:buClr>
              <a:buFont typeface="Wingdings" pitchFamily="2" charset="2"/>
              <a:buChar char="§"/>
            </a:pPr>
            <a:endParaRPr lang="en-US" sz="700" dirty="0" smtClean="0">
              <a:cs typeface="Arial" charset="0"/>
            </a:endParaRPr>
          </a:p>
          <a:p>
            <a:pPr lvl="1">
              <a:lnSpc>
                <a:spcPct val="80000"/>
              </a:lnSpc>
              <a:buClr>
                <a:srgbClr val="7F7F7F"/>
              </a:buClr>
              <a:buFont typeface="Arial" charset="0"/>
              <a:buNone/>
            </a:pPr>
            <a:r>
              <a:rPr lang="en-US" sz="1700" dirty="0" smtClean="0">
                <a:cs typeface="Arial" charset="0"/>
              </a:rPr>
              <a:t> </a:t>
            </a:r>
          </a:p>
          <a:p>
            <a:pPr lvl="1">
              <a:lnSpc>
                <a:spcPct val="80000"/>
              </a:lnSpc>
              <a:buClr>
                <a:srgbClr val="7F7F7F"/>
              </a:buClr>
              <a:buFont typeface="Wingdings" pitchFamily="2" charset="2"/>
              <a:buChar char="§"/>
            </a:pPr>
            <a:endParaRPr lang="en-US" sz="1500" dirty="0" smtClean="0">
              <a:cs typeface="Arial" charset="0"/>
            </a:endParaRPr>
          </a:p>
          <a:p>
            <a:pPr lvl="1">
              <a:lnSpc>
                <a:spcPct val="80000"/>
              </a:lnSpc>
              <a:buClr>
                <a:srgbClr val="7F7F7F"/>
              </a:buClr>
              <a:buFont typeface="Wingdings" pitchFamily="2" charset="2"/>
              <a:buChar char="§"/>
            </a:pPr>
            <a:endParaRPr lang="en-US" sz="1900" dirty="0" smtClean="0">
              <a:cs typeface="Arial" charset="0"/>
            </a:endParaRPr>
          </a:p>
          <a:p>
            <a:pPr lvl="1">
              <a:lnSpc>
                <a:spcPct val="80000"/>
              </a:lnSpc>
              <a:buClr>
                <a:srgbClr val="7F7F7F"/>
              </a:buClr>
              <a:buFont typeface="Wingdings" pitchFamily="2" charset="2"/>
              <a:buChar char="§"/>
            </a:pPr>
            <a:endParaRPr lang="en-US" sz="1900" dirty="0" smtClean="0">
              <a:cs typeface="Arial" charset="0"/>
            </a:endParaRPr>
          </a:p>
          <a:p>
            <a:pPr lvl="1">
              <a:lnSpc>
                <a:spcPct val="80000"/>
              </a:lnSpc>
              <a:buClr>
                <a:srgbClr val="7F7F7F"/>
              </a:buClr>
              <a:buFont typeface="Wingdings" pitchFamily="2" charset="2"/>
              <a:buChar char="§"/>
            </a:pPr>
            <a:endParaRPr lang="en-US" sz="1900" dirty="0" smtClean="0">
              <a:cs typeface="Arial" charset="0"/>
            </a:endParaRPr>
          </a:p>
          <a:p>
            <a:pPr lvl="1">
              <a:lnSpc>
                <a:spcPct val="80000"/>
              </a:lnSpc>
              <a:buClr>
                <a:srgbClr val="7F7F7F"/>
              </a:buClr>
              <a:buFont typeface="Wingdings" pitchFamily="2" charset="2"/>
              <a:buChar char="§"/>
            </a:pPr>
            <a:endParaRPr lang="en-US" sz="1900" dirty="0" smtClean="0">
              <a:cs typeface="Arial" charset="0"/>
            </a:endParaRPr>
          </a:p>
          <a:p>
            <a:pPr lvl="1">
              <a:lnSpc>
                <a:spcPct val="80000"/>
              </a:lnSpc>
              <a:buClr>
                <a:srgbClr val="7F7F7F"/>
              </a:buClr>
              <a:buFont typeface="Wingdings" pitchFamily="2" charset="2"/>
              <a:buChar char="§"/>
            </a:pPr>
            <a:endParaRPr lang="en-US" sz="1900" dirty="0" smtClean="0">
              <a:cs typeface="Arial" charset="0"/>
            </a:endParaRPr>
          </a:p>
          <a:p>
            <a:pPr lvl="1">
              <a:lnSpc>
                <a:spcPct val="80000"/>
              </a:lnSpc>
              <a:buClr>
                <a:srgbClr val="7F7F7F"/>
              </a:buClr>
              <a:buFont typeface="Wingdings" pitchFamily="2" charset="2"/>
              <a:buChar char="§"/>
            </a:pPr>
            <a:endParaRPr lang="en-US" sz="1900" dirty="0" smtClean="0">
              <a:cs typeface="Arial" charset="0"/>
            </a:endParaRPr>
          </a:p>
          <a:p>
            <a:pPr lvl="1">
              <a:lnSpc>
                <a:spcPct val="80000"/>
              </a:lnSpc>
              <a:buClr>
                <a:srgbClr val="7F7F7F"/>
              </a:buClr>
              <a:buFont typeface="Wingdings" pitchFamily="2" charset="2"/>
              <a:buChar char="§"/>
            </a:pPr>
            <a:endParaRPr lang="en-US" sz="1900" dirty="0" smtClean="0">
              <a:cs typeface="Arial" charset="0"/>
            </a:endParaRP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52400" y="1524000"/>
            <a:ext cx="4513263" cy="29718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pic>
        <p:nvPicPr>
          <p:cNvPr id="4" name="Picture 2"/>
          <p:cNvPicPr>
            <a:picLocks noChangeAspect="1" noChangeArrowheads="1"/>
          </p:cNvPicPr>
          <p:nvPr/>
        </p:nvPicPr>
        <p:blipFill>
          <a:blip r:embed="rId4">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4800600" y="3124200"/>
            <a:ext cx="4164013" cy="27432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5" name="Rectangle 4"/>
          <p:cNvSpPr>
            <a:spLocks noChangeArrowheads="1"/>
          </p:cNvSpPr>
          <p:nvPr/>
        </p:nvSpPr>
        <p:spPr bwMode="auto">
          <a:xfrm>
            <a:off x="5257800" y="2669399"/>
            <a:ext cx="3595688" cy="363538"/>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wrap="none">
            <a:spAutoFit/>
          </a:bodyPr>
          <a:lstStyle/>
          <a:p>
            <a:pPr>
              <a:lnSpc>
                <a:spcPct val="80000"/>
              </a:lnSpc>
              <a:buClr>
                <a:srgbClr val="7F7F7F"/>
              </a:buClr>
              <a:buFont typeface="Wingdings" pitchFamily="2" charset="2"/>
              <a:buChar char="§"/>
            </a:pPr>
            <a:r>
              <a:rPr lang="en-US" sz="2200" dirty="0">
                <a:solidFill>
                  <a:srgbClr val="9CB7F2"/>
                </a:solidFill>
                <a:cs typeface="Arial" charset="0"/>
              </a:rPr>
              <a:t>Floor Plan – Second Floor</a:t>
            </a:r>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282134238"/>
      </p:ext>
    </p:extLst>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0962" name="Picture 9" descr="NIST Wall Section - Roof.ai.pdf"/>
          <p:cNvPicPr>
            <a:picLocks noChangeAspect="1"/>
          </p:cNvPicPr>
          <p:nvPr/>
        </p:nvPicPr>
        <p:blipFill>
          <a:blip r:embed="rId3"/>
          <a:srcRect l="9322" t="31213" r="25424" b="21968"/>
          <a:stretch>
            <a:fillRect/>
          </a:stretch>
        </p:blipFill>
        <p:spPr bwMode="auto">
          <a:xfrm>
            <a:off x="6324600" y="1066800"/>
            <a:ext cx="2438400" cy="2263775"/>
          </a:xfrm>
          <a:prstGeom prst="rect">
            <a:avLst/>
          </a:prstGeom>
          <a:noFill/>
          <a:ln w="9525">
            <a:noFill/>
            <a:miter lim="800000"/>
            <a:headEnd/>
            <a:tailEnd/>
          </a:ln>
        </p:spPr>
      </p:pic>
      <p:sp>
        <p:nvSpPr>
          <p:cNvPr id="40963" name="TextBox 24"/>
          <p:cNvSpPr txBox="1">
            <a:spLocks noChangeArrowheads="1"/>
          </p:cNvSpPr>
          <p:nvPr/>
        </p:nvSpPr>
        <p:spPr bwMode="auto">
          <a:xfrm>
            <a:off x="6934200" y="3352800"/>
            <a:ext cx="1143000" cy="261938"/>
          </a:xfrm>
          <a:prstGeom prst="rect">
            <a:avLst/>
          </a:prstGeom>
          <a:noFill/>
          <a:ln w="9525">
            <a:noFill/>
            <a:miter lim="800000"/>
            <a:headEnd/>
            <a:tailEnd/>
          </a:ln>
        </p:spPr>
        <p:txBody>
          <a:bodyPr>
            <a:spAutoFit/>
          </a:bodyPr>
          <a:lstStyle/>
          <a:p>
            <a:r>
              <a:rPr lang="en-US" sz="1100" i="1">
                <a:solidFill>
                  <a:schemeClr val="bg1"/>
                </a:solidFill>
              </a:rPr>
              <a:t>Roof Assembly</a:t>
            </a:r>
          </a:p>
        </p:txBody>
      </p:sp>
      <p:sp>
        <p:nvSpPr>
          <p:cNvPr id="40964" name="Content Placeholder 22"/>
          <p:cNvSpPr>
            <a:spLocks noGrp="1"/>
          </p:cNvSpPr>
          <p:nvPr>
            <p:ph sz="half" idx="4294967295"/>
          </p:nvPr>
        </p:nvSpPr>
        <p:spPr>
          <a:xfrm>
            <a:off x="0" y="1066800"/>
            <a:ext cx="6172200" cy="6553200"/>
          </a:xfrm>
        </p:spPr>
        <p:txBody>
          <a:bodyPr/>
          <a:lstStyle/>
          <a:p>
            <a:pPr>
              <a:buClr>
                <a:srgbClr val="7F7F7F"/>
              </a:buClr>
              <a:buFont typeface="Wingdings" pitchFamily="2" charset="2"/>
              <a:buChar char="§"/>
            </a:pPr>
            <a:r>
              <a:rPr lang="en-US" sz="2400" dirty="0" smtClean="0">
                <a:solidFill>
                  <a:srgbClr val="9CB7F2"/>
                </a:solidFill>
                <a:latin typeface="Arial" charset="0"/>
                <a:cs typeface="Arial" charset="0"/>
              </a:rPr>
              <a:t>Enclosure Design</a:t>
            </a:r>
          </a:p>
          <a:p>
            <a:pPr lvl="1">
              <a:spcBef>
                <a:spcPct val="0"/>
              </a:spcBef>
              <a:buClr>
                <a:srgbClr val="7F7F7F"/>
              </a:buClr>
              <a:buFont typeface="Wingdings" pitchFamily="2" charset="2"/>
              <a:buChar char="§"/>
            </a:pPr>
            <a:r>
              <a:rPr lang="en-US" sz="1800" dirty="0" smtClean="0">
                <a:latin typeface="Arial" charset="0"/>
                <a:cs typeface="Arial" charset="0"/>
              </a:rPr>
              <a:t>R-72 Roof Insulation</a:t>
            </a:r>
          </a:p>
          <a:p>
            <a:pPr lvl="2">
              <a:spcBef>
                <a:spcPct val="0"/>
              </a:spcBef>
              <a:buClr>
                <a:srgbClr val="7F7F7F"/>
              </a:buClr>
              <a:buFont typeface="Wingdings" pitchFamily="2" charset="2"/>
              <a:buChar char="§"/>
            </a:pPr>
            <a:r>
              <a:rPr lang="en-US" sz="1600" dirty="0" smtClean="0">
                <a:latin typeface="Arial" charset="0"/>
                <a:cs typeface="Arial" charset="0"/>
              </a:rPr>
              <a:t>3 layers of </a:t>
            </a:r>
            <a:r>
              <a:rPr lang="en-US" sz="1600" dirty="0" err="1" smtClean="0">
                <a:latin typeface="Arial" charset="0"/>
                <a:cs typeface="Arial" charset="0"/>
              </a:rPr>
              <a:t>polyisocyanurate</a:t>
            </a:r>
            <a:r>
              <a:rPr lang="en-US" sz="1600" dirty="0" smtClean="0">
                <a:latin typeface="Arial" charset="0"/>
                <a:cs typeface="Arial" charset="0"/>
              </a:rPr>
              <a:t> insulation (1.5”, 2”, 1.5”)</a:t>
            </a:r>
          </a:p>
          <a:p>
            <a:pPr lvl="2">
              <a:spcBef>
                <a:spcPct val="0"/>
              </a:spcBef>
              <a:buClr>
                <a:srgbClr val="7F7F7F"/>
              </a:buClr>
              <a:buFont typeface="Wingdings" pitchFamily="2" charset="2"/>
              <a:buChar char="§"/>
            </a:pPr>
            <a:r>
              <a:rPr lang="en-US" sz="1600" dirty="0" smtClean="0">
                <a:latin typeface="Arial" charset="0"/>
                <a:cs typeface="Arial" charset="0"/>
              </a:rPr>
              <a:t>Plywood sheathing ½ inch inner and 5/8 inch outer</a:t>
            </a:r>
          </a:p>
          <a:p>
            <a:pPr lvl="2">
              <a:spcBef>
                <a:spcPct val="0"/>
              </a:spcBef>
              <a:buClr>
                <a:srgbClr val="7F7F7F"/>
              </a:buClr>
              <a:buFont typeface="Wingdings" pitchFamily="2" charset="2"/>
              <a:buChar char="§"/>
            </a:pPr>
            <a:r>
              <a:rPr lang="en-US" sz="1600" dirty="0" smtClean="0">
                <a:latin typeface="Arial" charset="0"/>
                <a:cs typeface="Arial" charset="0"/>
              </a:rPr>
              <a:t>11 7/8 netted blown cellulose </a:t>
            </a:r>
            <a:r>
              <a:rPr lang="en-US" sz="1800" dirty="0" smtClean="0">
                <a:latin typeface="Arial" charset="0"/>
                <a:cs typeface="Arial" charset="0"/>
              </a:rPr>
              <a:t>	</a:t>
            </a:r>
          </a:p>
          <a:p>
            <a:pPr lvl="1">
              <a:spcBef>
                <a:spcPct val="0"/>
              </a:spcBef>
              <a:buClr>
                <a:srgbClr val="7F7F7F"/>
              </a:buClr>
              <a:buFont typeface="Wingdings" pitchFamily="2" charset="2"/>
              <a:buChar char="§"/>
            </a:pPr>
            <a:r>
              <a:rPr lang="en-US" sz="1800" dirty="0" smtClean="0">
                <a:latin typeface="Arial" charset="0"/>
                <a:cs typeface="Arial" charset="0"/>
              </a:rPr>
              <a:t>R-45 Walls</a:t>
            </a:r>
          </a:p>
          <a:p>
            <a:pPr lvl="2">
              <a:spcBef>
                <a:spcPct val="0"/>
              </a:spcBef>
              <a:buClr>
                <a:srgbClr val="7F7F7F"/>
              </a:buClr>
              <a:buFont typeface="Wingdings" pitchFamily="2" charset="2"/>
              <a:buChar char="§"/>
            </a:pPr>
            <a:r>
              <a:rPr lang="en-US" sz="1600" dirty="0" smtClean="0">
                <a:latin typeface="Arial" charset="0"/>
                <a:cs typeface="Arial" charset="0"/>
              </a:rPr>
              <a:t> 2x6 framing at 24” </a:t>
            </a:r>
            <a:r>
              <a:rPr lang="en-US" sz="1600" dirty="0" err="1" smtClean="0">
                <a:latin typeface="Arial" charset="0"/>
                <a:cs typeface="Arial" charset="0"/>
              </a:rPr>
              <a:t>o.c</a:t>
            </a:r>
            <a:r>
              <a:rPr lang="en-US" sz="1600" dirty="0" smtClean="0">
                <a:latin typeface="Arial" charset="0"/>
                <a:cs typeface="Arial" charset="0"/>
              </a:rPr>
              <a:t>. with advanced framing</a:t>
            </a:r>
          </a:p>
          <a:p>
            <a:pPr lvl="2">
              <a:spcBef>
                <a:spcPct val="0"/>
              </a:spcBef>
              <a:buClr>
                <a:srgbClr val="7F7F7F"/>
              </a:buClr>
              <a:buFont typeface="Wingdings" pitchFamily="2" charset="2"/>
              <a:buChar char="§"/>
            </a:pPr>
            <a:r>
              <a:rPr lang="en-US" sz="1600" dirty="0" smtClean="0">
                <a:latin typeface="Arial" charset="0"/>
                <a:cs typeface="Arial" charset="0"/>
              </a:rPr>
              <a:t>Cellulose cavity insulation</a:t>
            </a:r>
          </a:p>
          <a:p>
            <a:pPr lvl="2">
              <a:spcBef>
                <a:spcPct val="0"/>
              </a:spcBef>
              <a:buClr>
                <a:srgbClr val="7F7F7F"/>
              </a:buClr>
              <a:buFont typeface="Wingdings" pitchFamily="2" charset="2"/>
              <a:buChar char="§"/>
            </a:pPr>
            <a:r>
              <a:rPr lang="en-US" sz="1600" dirty="0" smtClean="0">
                <a:latin typeface="Arial" charset="0"/>
                <a:cs typeface="Arial" charset="0"/>
              </a:rPr>
              <a:t>Two layers of 2” foil-faced </a:t>
            </a:r>
            <a:r>
              <a:rPr lang="en-US" sz="1600" dirty="0" err="1" smtClean="0">
                <a:latin typeface="Arial" charset="0"/>
                <a:cs typeface="Arial" charset="0"/>
              </a:rPr>
              <a:t>polyisocyanurate</a:t>
            </a:r>
            <a:r>
              <a:rPr lang="en-US" sz="1600" dirty="0" smtClean="0">
                <a:latin typeface="Arial" charset="0"/>
                <a:cs typeface="Arial" charset="0"/>
              </a:rPr>
              <a:t> sheathing)</a:t>
            </a:r>
          </a:p>
          <a:p>
            <a:pPr lvl="1">
              <a:spcBef>
                <a:spcPct val="0"/>
              </a:spcBef>
              <a:buClr>
                <a:srgbClr val="7F7F7F"/>
              </a:buClr>
            </a:pPr>
            <a:r>
              <a:rPr lang="en-US" sz="1800" dirty="0" smtClean="0">
                <a:latin typeface="Arial" charset="0"/>
                <a:cs typeface="Arial" charset="0"/>
              </a:rPr>
              <a:t>Windows</a:t>
            </a:r>
          </a:p>
          <a:p>
            <a:pPr lvl="2">
              <a:spcBef>
                <a:spcPct val="0"/>
              </a:spcBef>
              <a:buClr>
                <a:srgbClr val="7F7F7F"/>
              </a:buClr>
            </a:pPr>
            <a:r>
              <a:rPr lang="en-US" sz="1600" dirty="0" smtClean="0">
                <a:latin typeface="Arial" charset="0"/>
                <a:cs typeface="Arial" charset="0"/>
              </a:rPr>
              <a:t>Double Pane with Suspended Film</a:t>
            </a:r>
          </a:p>
          <a:p>
            <a:pPr lvl="2">
              <a:spcBef>
                <a:spcPct val="0"/>
              </a:spcBef>
              <a:buClr>
                <a:srgbClr val="7F7F7F"/>
              </a:buClr>
            </a:pPr>
            <a:r>
              <a:rPr lang="en-US" sz="1600" dirty="0" smtClean="0">
                <a:latin typeface="Arial" charset="0"/>
                <a:cs typeface="Arial" charset="0"/>
              </a:rPr>
              <a:t>Inert Gas Filled</a:t>
            </a:r>
          </a:p>
          <a:p>
            <a:pPr lvl="2">
              <a:spcBef>
                <a:spcPct val="0"/>
              </a:spcBef>
              <a:buClr>
                <a:srgbClr val="7F7F7F"/>
              </a:buClr>
            </a:pPr>
            <a:r>
              <a:rPr lang="en-US" sz="1600" dirty="0" smtClean="0">
                <a:latin typeface="Arial" charset="0"/>
                <a:cs typeface="Arial" charset="0"/>
              </a:rPr>
              <a:t>Fully Insulated Frame </a:t>
            </a:r>
          </a:p>
          <a:p>
            <a:pPr lvl="2">
              <a:spcBef>
                <a:spcPct val="0"/>
              </a:spcBef>
              <a:buClr>
                <a:srgbClr val="7F7F7F"/>
              </a:buClr>
            </a:pPr>
            <a:r>
              <a:rPr lang="en-US" sz="1600" dirty="0" smtClean="0">
                <a:latin typeface="Arial" charset="0"/>
                <a:cs typeface="Arial" charset="0"/>
              </a:rPr>
              <a:t>  U = 0.19 or R-value of 5.3</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3010" name="Content Placeholder 22"/>
          <p:cNvSpPr>
            <a:spLocks noGrp="1"/>
          </p:cNvSpPr>
          <p:nvPr>
            <p:ph sz="half" idx="4294967295"/>
          </p:nvPr>
        </p:nvSpPr>
        <p:spPr>
          <a:xfrm>
            <a:off x="0" y="1066800"/>
            <a:ext cx="5105400" cy="5638800"/>
          </a:xfrm>
        </p:spPr>
        <p:txBody>
          <a:bodyPr/>
          <a:lstStyle/>
          <a:p>
            <a:pPr>
              <a:spcBef>
                <a:spcPct val="0"/>
              </a:spcBef>
              <a:buClr>
                <a:srgbClr val="7F7F7F"/>
              </a:buClr>
              <a:buFont typeface="Wingdings" pitchFamily="2" charset="2"/>
              <a:buChar char="§"/>
            </a:pPr>
            <a:r>
              <a:rPr lang="en-US" sz="2400" dirty="0" smtClean="0">
                <a:latin typeface="Arial" charset="0"/>
                <a:cs typeface="Arial" charset="0"/>
              </a:rPr>
              <a:t>Solar Photovoltaic Array</a:t>
            </a:r>
          </a:p>
          <a:p>
            <a:pPr lvl="1">
              <a:spcBef>
                <a:spcPct val="0"/>
              </a:spcBef>
              <a:buClr>
                <a:srgbClr val="7F7F7F"/>
              </a:buClr>
              <a:buFont typeface="Wingdings" pitchFamily="2" charset="2"/>
              <a:buChar char="§"/>
            </a:pPr>
            <a:r>
              <a:rPr lang="en-US" sz="1800" dirty="0" smtClean="0">
                <a:latin typeface="Arial" charset="0"/>
                <a:cs typeface="Arial" charset="0"/>
              </a:rPr>
              <a:t>Roof Mounted</a:t>
            </a:r>
          </a:p>
          <a:p>
            <a:pPr lvl="2">
              <a:spcBef>
                <a:spcPct val="0"/>
              </a:spcBef>
              <a:buClr>
                <a:srgbClr val="7F7F7F"/>
              </a:buClr>
              <a:buFont typeface="Wingdings" pitchFamily="2" charset="2"/>
              <a:buChar char="§"/>
            </a:pPr>
            <a:r>
              <a:rPr lang="en-US" sz="1600" dirty="0" smtClean="0">
                <a:latin typeface="Arial" charset="0"/>
                <a:cs typeface="Arial" charset="0"/>
              </a:rPr>
              <a:t>South half of main roof </a:t>
            </a:r>
          </a:p>
          <a:p>
            <a:pPr lvl="2">
              <a:spcBef>
                <a:spcPct val="0"/>
              </a:spcBef>
              <a:buClr>
                <a:srgbClr val="7F7F7F"/>
              </a:buClr>
              <a:buFont typeface="Wingdings" pitchFamily="2" charset="2"/>
              <a:buChar char="§"/>
            </a:pPr>
            <a:r>
              <a:rPr lang="en-US" sz="1600" dirty="0" smtClean="0">
                <a:latin typeface="Arial" charset="0"/>
                <a:cs typeface="Arial" charset="0"/>
              </a:rPr>
              <a:t>Max roof area for PV = 32’ x 19.5’  (624 ft</a:t>
            </a:r>
            <a:r>
              <a:rPr lang="en-US" sz="1600" baseline="30000" dirty="0" smtClean="0">
                <a:latin typeface="Arial" charset="0"/>
                <a:cs typeface="Arial" charset="0"/>
              </a:rPr>
              <a:t>2</a:t>
            </a:r>
            <a:r>
              <a:rPr lang="en-US" sz="1600" dirty="0" smtClean="0">
                <a:latin typeface="Arial" charset="0"/>
                <a:cs typeface="Arial" charset="0"/>
              </a:rPr>
              <a:t>)</a:t>
            </a:r>
          </a:p>
          <a:p>
            <a:pPr lvl="2">
              <a:spcBef>
                <a:spcPct val="0"/>
              </a:spcBef>
              <a:buClr>
                <a:srgbClr val="7F7F7F"/>
              </a:buClr>
              <a:buFont typeface="Wingdings" pitchFamily="2" charset="2"/>
              <a:buChar char="§"/>
            </a:pPr>
            <a:r>
              <a:rPr lang="en-US" sz="1600" dirty="0" smtClean="0">
                <a:latin typeface="Arial" charset="0"/>
                <a:cs typeface="Arial" charset="0"/>
              </a:rPr>
              <a:t>PV modules in same plane as roof</a:t>
            </a:r>
          </a:p>
          <a:p>
            <a:pPr lvl="2">
              <a:spcBef>
                <a:spcPct val="0"/>
              </a:spcBef>
              <a:buClr>
                <a:srgbClr val="7F7F7F"/>
              </a:buClr>
              <a:buFont typeface="Wingdings" pitchFamily="2" charset="2"/>
              <a:buChar char="§"/>
            </a:pPr>
            <a:r>
              <a:rPr lang="en-US" sz="1600" dirty="0" smtClean="0">
                <a:latin typeface="Arial" charset="0"/>
                <a:cs typeface="Arial" charset="0"/>
              </a:rPr>
              <a:t>4:12 pitch (18.4 degrees)</a:t>
            </a:r>
          </a:p>
          <a:p>
            <a:pPr lvl="2">
              <a:spcBef>
                <a:spcPct val="0"/>
              </a:spcBef>
              <a:buClr>
                <a:srgbClr val="7F7F7F"/>
              </a:buClr>
              <a:buFont typeface="Wingdings" pitchFamily="2" charset="2"/>
              <a:buChar char="§"/>
            </a:pPr>
            <a:r>
              <a:rPr lang="en-US" sz="1600" dirty="0" smtClean="0">
                <a:latin typeface="Arial" charset="0"/>
                <a:cs typeface="Arial" charset="0"/>
              </a:rPr>
              <a:t>Minimized shading:  no  chimney, vents, nearby trees, etc. </a:t>
            </a:r>
          </a:p>
          <a:p>
            <a:pPr lvl="1">
              <a:spcBef>
                <a:spcPct val="0"/>
              </a:spcBef>
              <a:buClr>
                <a:srgbClr val="7F7F7F"/>
              </a:buClr>
              <a:buFont typeface="Wingdings" pitchFamily="2" charset="2"/>
              <a:buChar char="§"/>
            </a:pPr>
            <a:r>
              <a:rPr lang="en-US" sz="1800" dirty="0" smtClean="0">
                <a:latin typeface="Arial" charset="0"/>
                <a:cs typeface="Arial" charset="0"/>
              </a:rPr>
              <a:t>High efficiency PV modules</a:t>
            </a:r>
          </a:p>
          <a:p>
            <a:pPr lvl="2">
              <a:spcBef>
                <a:spcPct val="0"/>
              </a:spcBef>
              <a:buClr>
                <a:srgbClr val="7F7F7F"/>
              </a:buClr>
              <a:buFont typeface="Wingdings" pitchFamily="2" charset="2"/>
              <a:buChar char="§"/>
            </a:pPr>
            <a:r>
              <a:rPr lang="en-US" sz="1600" dirty="0" smtClean="0">
                <a:latin typeface="Arial" charset="0"/>
                <a:cs typeface="Arial" charset="0"/>
              </a:rPr>
              <a:t>Potential for fitting 9.6 kW on roof</a:t>
            </a:r>
          </a:p>
          <a:p>
            <a:pPr lvl="2">
              <a:spcBef>
                <a:spcPct val="0"/>
              </a:spcBef>
              <a:buClr>
                <a:srgbClr val="7F7F7F"/>
              </a:buClr>
              <a:buFont typeface="Wingdings" pitchFamily="2" charset="2"/>
              <a:buChar char="§"/>
            </a:pPr>
            <a:r>
              <a:rPr lang="en-US" sz="1600" dirty="0" smtClean="0">
                <a:latin typeface="Arial" charset="0"/>
                <a:cs typeface="Arial" charset="0"/>
              </a:rPr>
              <a:t>Likely 6 series strings (1.6 kW each) </a:t>
            </a:r>
          </a:p>
          <a:p>
            <a:pPr lvl="1">
              <a:spcBef>
                <a:spcPct val="0"/>
              </a:spcBef>
              <a:buClr>
                <a:srgbClr val="7F7F7F"/>
              </a:buClr>
              <a:buFont typeface="Wingdings" pitchFamily="2" charset="2"/>
              <a:buChar char="§"/>
            </a:pPr>
            <a:r>
              <a:rPr lang="en-US" sz="1800" dirty="0" smtClean="0">
                <a:latin typeface="Arial" charset="0"/>
                <a:cs typeface="Arial" charset="0"/>
              </a:rPr>
              <a:t>Balance of System</a:t>
            </a:r>
          </a:p>
          <a:p>
            <a:pPr lvl="2">
              <a:spcBef>
                <a:spcPct val="0"/>
              </a:spcBef>
              <a:buClr>
                <a:srgbClr val="7F7F7F"/>
              </a:buClr>
              <a:buFont typeface="Wingdings" pitchFamily="2" charset="2"/>
              <a:buChar char="§"/>
            </a:pPr>
            <a:r>
              <a:rPr lang="en-US" sz="1600" dirty="0" smtClean="0">
                <a:latin typeface="Arial" charset="0"/>
                <a:cs typeface="Arial" charset="0"/>
              </a:rPr>
              <a:t>Will use 2 DC-to-AC inverters</a:t>
            </a:r>
          </a:p>
          <a:p>
            <a:pPr lvl="2">
              <a:spcBef>
                <a:spcPct val="0"/>
              </a:spcBef>
              <a:buClr>
                <a:srgbClr val="7F7F7F"/>
              </a:buClr>
              <a:buFont typeface="Wingdings" pitchFamily="2" charset="2"/>
              <a:buChar char="§"/>
            </a:pPr>
            <a:r>
              <a:rPr lang="en-US" sz="1600" dirty="0" smtClean="0">
                <a:latin typeface="Arial" charset="0"/>
                <a:cs typeface="Arial" charset="0"/>
              </a:rPr>
              <a:t>PV rack will position PV module a           few inches above the shingled roof</a:t>
            </a:r>
          </a:p>
          <a:p>
            <a:pPr lvl="2">
              <a:spcBef>
                <a:spcPct val="0"/>
              </a:spcBef>
              <a:buClr>
                <a:srgbClr val="7F7F7F"/>
              </a:buClr>
              <a:buFont typeface="Wingdings" pitchFamily="2" charset="2"/>
              <a:buChar char="§"/>
            </a:pPr>
            <a:r>
              <a:rPr lang="en-US" sz="1600" dirty="0" smtClean="0">
                <a:latin typeface="Arial" charset="0"/>
                <a:cs typeface="Arial" charset="0"/>
              </a:rPr>
              <a:t>No battery storage </a:t>
            </a:r>
          </a:p>
        </p:txBody>
      </p:sp>
      <p:pic>
        <p:nvPicPr>
          <p:cNvPr id="43011" name="Picture 4" descr="SunPower_Module.jpg"/>
          <p:cNvPicPr>
            <a:picLocks noChangeAspect="1"/>
          </p:cNvPicPr>
          <p:nvPr/>
        </p:nvPicPr>
        <p:blipFill>
          <a:blip r:embed="rId3"/>
          <a:srcRect l="12401" t="1221" r="65152" b="12202"/>
          <a:stretch>
            <a:fillRect/>
          </a:stretch>
        </p:blipFill>
        <p:spPr bwMode="auto">
          <a:xfrm>
            <a:off x="5638800" y="3886200"/>
            <a:ext cx="1477963" cy="2590800"/>
          </a:xfrm>
          <a:prstGeom prst="rect">
            <a:avLst/>
          </a:prstGeom>
          <a:noFill/>
          <a:ln w="9525">
            <a:noFill/>
            <a:miter lim="800000"/>
            <a:headEnd/>
            <a:tailEnd/>
          </a:ln>
        </p:spPr>
      </p:pic>
      <p:sp>
        <p:nvSpPr>
          <p:cNvPr id="43012" name="Rectangle 6"/>
          <p:cNvSpPr>
            <a:spLocks noChangeArrowheads="1"/>
          </p:cNvSpPr>
          <p:nvPr/>
        </p:nvSpPr>
        <p:spPr bwMode="auto">
          <a:xfrm>
            <a:off x="2357438" y="6324600"/>
            <a:ext cx="3433762" cy="430213"/>
          </a:xfrm>
          <a:prstGeom prst="rect">
            <a:avLst/>
          </a:prstGeom>
          <a:noFill/>
          <a:ln w="9525">
            <a:noFill/>
            <a:miter lim="800000"/>
            <a:headEnd/>
            <a:tailEnd/>
          </a:ln>
        </p:spPr>
        <p:txBody>
          <a:bodyPr>
            <a:spAutoFit/>
          </a:bodyPr>
          <a:lstStyle/>
          <a:p>
            <a:pPr algn="ctr"/>
            <a:r>
              <a:rPr lang="en-US" sz="1100">
                <a:solidFill>
                  <a:schemeClr val="bg1"/>
                </a:solidFill>
              </a:rPr>
              <a:t>Possible Module Option:  18.5% efficient module  using mono-Si Back-contact cells</a:t>
            </a:r>
          </a:p>
        </p:txBody>
      </p:sp>
      <p:pic>
        <p:nvPicPr>
          <p:cNvPr id="43013" name="Picture 2"/>
          <p:cNvPicPr>
            <a:picLocks noChangeAspect="1" noChangeArrowheads="1"/>
          </p:cNvPicPr>
          <p:nvPr/>
        </p:nvPicPr>
        <p:blipFill>
          <a:blip r:embed="rId4"/>
          <a:srcRect/>
          <a:stretch>
            <a:fillRect/>
          </a:stretch>
        </p:blipFill>
        <p:spPr bwMode="auto">
          <a:xfrm>
            <a:off x="6848475" y="914400"/>
            <a:ext cx="2295525" cy="2514600"/>
          </a:xfrm>
          <a:prstGeom prst="rect">
            <a:avLst/>
          </a:prstGeom>
          <a:noFill/>
          <a:ln w="9525">
            <a:noFill/>
            <a:miter lim="800000"/>
            <a:headEnd/>
            <a:tailEnd/>
          </a:ln>
        </p:spPr>
      </p:pic>
      <p:sp>
        <p:nvSpPr>
          <p:cNvPr id="43014" name="Rectangle 6"/>
          <p:cNvSpPr>
            <a:spLocks noChangeArrowheads="1"/>
          </p:cNvSpPr>
          <p:nvPr/>
        </p:nvSpPr>
        <p:spPr bwMode="auto">
          <a:xfrm>
            <a:off x="5710238" y="3505200"/>
            <a:ext cx="3433762" cy="430213"/>
          </a:xfrm>
          <a:prstGeom prst="rect">
            <a:avLst/>
          </a:prstGeom>
          <a:noFill/>
          <a:ln w="9525">
            <a:noFill/>
            <a:miter lim="800000"/>
            <a:headEnd/>
            <a:tailEnd/>
          </a:ln>
        </p:spPr>
        <p:txBody>
          <a:bodyPr>
            <a:spAutoFit/>
          </a:bodyPr>
          <a:lstStyle/>
          <a:p>
            <a:pPr algn="ctr"/>
            <a:r>
              <a:rPr lang="en-US" sz="1100">
                <a:solidFill>
                  <a:schemeClr val="bg1"/>
                </a:solidFill>
              </a:rPr>
              <a:t>Inverter Features:  93+% efficiency over most of loading  range; Robust:  10-year warranty</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4034" name="Content Placeholder 22"/>
          <p:cNvSpPr>
            <a:spLocks noGrp="1"/>
          </p:cNvSpPr>
          <p:nvPr>
            <p:ph sz="half" idx="4294967295"/>
          </p:nvPr>
        </p:nvSpPr>
        <p:spPr>
          <a:xfrm>
            <a:off x="0" y="1066800"/>
            <a:ext cx="5867400" cy="3124200"/>
          </a:xfrm>
        </p:spPr>
        <p:txBody>
          <a:bodyPr/>
          <a:lstStyle/>
          <a:p>
            <a:pPr>
              <a:buClr>
                <a:srgbClr val="7F7F7F"/>
              </a:buClr>
              <a:buFont typeface="Arial" charset="0"/>
              <a:buNone/>
            </a:pPr>
            <a:r>
              <a:rPr lang="en-US" sz="2400" smtClean="0">
                <a:solidFill>
                  <a:srgbClr val="9CB7F2"/>
                </a:solidFill>
                <a:latin typeface="Arial" charset="0"/>
                <a:cs typeface="Arial" charset="0"/>
              </a:rPr>
              <a:t>Water Heating System</a:t>
            </a:r>
          </a:p>
          <a:p>
            <a:pPr>
              <a:buClr>
                <a:srgbClr val="7F7F7F"/>
              </a:buClr>
              <a:buFont typeface="Arial" charset="0"/>
              <a:buNone/>
            </a:pPr>
            <a:r>
              <a:rPr lang="en-US" sz="2000" b="1" smtClean="0">
                <a:solidFill>
                  <a:srgbClr val="FFC000"/>
                </a:solidFill>
                <a:latin typeface="Arial" charset="0"/>
                <a:cs typeface="Arial" charset="0"/>
              </a:rPr>
              <a:t>Solar thermal preheat</a:t>
            </a:r>
          </a:p>
          <a:p>
            <a:pPr>
              <a:spcBef>
                <a:spcPct val="0"/>
              </a:spcBef>
              <a:buClr>
                <a:srgbClr val="7F7F7F"/>
              </a:buClr>
              <a:buFont typeface="Wingdings" pitchFamily="2" charset="2"/>
              <a:buChar char="§"/>
            </a:pPr>
            <a:r>
              <a:rPr lang="en-US" sz="1600" smtClean="0">
                <a:latin typeface="Arial" charset="0"/>
                <a:cs typeface="Arial" charset="0"/>
              </a:rPr>
              <a:t>80-gal tank, electric auxiliary heating</a:t>
            </a:r>
          </a:p>
          <a:p>
            <a:pPr>
              <a:spcBef>
                <a:spcPct val="0"/>
              </a:spcBef>
              <a:buClr>
                <a:srgbClr val="7F7F7F"/>
              </a:buClr>
              <a:buFont typeface="Wingdings" pitchFamily="2" charset="2"/>
              <a:buChar char="§"/>
            </a:pPr>
            <a:r>
              <a:rPr lang="en-US" sz="1600" smtClean="0">
                <a:latin typeface="Arial" charset="0"/>
                <a:cs typeface="Arial" charset="0"/>
              </a:rPr>
              <a:t>Active, indirect forced-circulation system for cool climates</a:t>
            </a:r>
          </a:p>
          <a:p>
            <a:pPr>
              <a:spcBef>
                <a:spcPct val="0"/>
              </a:spcBef>
              <a:buClr>
                <a:srgbClr val="7F7F7F"/>
              </a:buClr>
              <a:buFont typeface="Wingdings" pitchFamily="2" charset="2"/>
              <a:buChar char="§"/>
            </a:pPr>
            <a:r>
              <a:rPr lang="en-US" sz="1600" smtClean="0">
                <a:latin typeface="Arial" charset="0"/>
                <a:cs typeface="Arial" charset="0"/>
              </a:rPr>
              <a:t>Four solar thermal flat-plate collectors (dimensions 6’ x 4’) installed on porch roof</a:t>
            </a:r>
          </a:p>
          <a:p>
            <a:pPr>
              <a:spcBef>
                <a:spcPct val="0"/>
              </a:spcBef>
              <a:buClr>
                <a:srgbClr val="7F7F7F"/>
              </a:buClr>
              <a:buFont typeface="Wingdings" pitchFamily="2" charset="2"/>
              <a:buChar char="§"/>
            </a:pPr>
            <a:r>
              <a:rPr lang="en-US" sz="1600" smtClean="0">
                <a:latin typeface="Arial" charset="0"/>
                <a:cs typeface="Arial" charset="0"/>
              </a:rPr>
              <a:t>Capability to vary number of collectors included in circulation loop</a:t>
            </a:r>
          </a:p>
          <a:p>
            <a:pPr>
              <a:spcBef>
                <a:spcPct val="0"/>
              </a:spcBef>
              <a:buClr>
                <a:srgbClr val="7F7F7F"/>
              </a:buClr>
              <a:buFont typeface="Wingdings" pitchFamily="2" charset="2"/>
              <a:buChar char="§"/>
            </a:pPr>
            <a:r>
              <a:rPr lang="en-US" sz="1600" smtClean="0">
                <a:latin typeface="Arial" charset="0"/>
                <a:cs typeface="Arial" charset="0"/>
              </a:rPr>
              <a:t>OG-300 certified and ENEGY STAR® qualified</a:t>
            </a:r>
          </a:p>
          <a:p>
            <a:pPr>
              <a:spcBef>
                <a:spcPct val="0"/>
              </a:spcBef>
              <a:buClr>
                <a:srgbClr val="7F7F7F"/>
              </a:buClr>
              <a:buFont typeface="Wingdings" pitchFamily="2" charset="2"/>
              <a:buChar char="§"/>
            </a:pPr>
            <a:r>
              <a:rPr lang="en-US" sz="1600" smtClean="0">
                <a:latin typeface="Arial" charset="0"/>
                <a:cs typeface="Arial" charset="0"/>
              </a:rPr>
              <a:t>Control unit with Wi-Fi hub and stored energy data</a:t>
            </a:r>
          </a:p>
          <a:p>
            <a:pPr>
              <a:buClr>
                <a:srgbClr val="7F7F7F"/>
              </a:buClr>
              <a:buFont typeface="Arial" charset="0"/>
              <a:buNone/>
            </a:pPr>
            <a:endParaRPr lang="en-US" sz="800" smtClean="0">
              <a:latin typeface="Arial" charset="0"/>
              <a:cs typeface="Arial" charset="0"/>
            </a:endParaRPr>
          </a:p>
          <a:p>
            <a:pPr>
              <a:buClr>
                <a:srgbClr val="7F7F7F"/>
              </a:buClr>
              <a:buFont typeface="Arial" charset="0"/>
              <a:buNone/>
            </a:pPr>
            <a:endParaRPr lang="en-US" sz="1600" smtClean="0">
              <a:latin typeface="Arial" charset="0"/>
              <a:cs typeface="Arial" charset="0"/>
            </a:endParaRPr>
          </a:p>
          <a:p>
            <a:pPr>
              <a:buClr>
                <a:srgbClr val="7F7F7F"/>
              </a:buClr>
              <a:buFont typeface="Wingdings" pitchFamily="2" charset="2"/>
              <a:buChar char="§"/>
            </a:pPr>
            <a:endParaRPr lang="en-US" sz="1600" smtClean="0">
              <a:latin typeface="Arial" charset="0"/>
              <a:cs typeface="Arial" charset="0"/>
            </a:endParaRPr>
          </a:p>
        </p:txBody>
      </p:sp>
      <p:pic>
        <p:nvPicPr>
          <p:cNvPr id="44035" name="Picture 2"/>
          <p:cNvPicPr>
            <a:picLocks noChangeAspect="1" noChangeArrowheads="1"/>
          </p:cNvPicPr>
          <p:nvPr/>
        </p:nvPicPr>
        <p:blipFill>
          <a:blip r:embed="rId3"/>
          <a:srcRect/>
          <a:stretch>
            <a:fillRect/>
          </a:stretch>
        </p:blipFill>
        <p:spPr bwMode="auto">
          <a:xfrm>
            <a:off x="533400" y="4462463"/>
            <a:ext cx="2816225" cy="1481137"/>
          </a:xfrm>
          <a:prstGeom prst="rect">
            <a:avLst/>
          </a:prstGeom>
          <a:noFill/>
          <a:ln w="9525">
            <a:noFill/>
            <a:miter lim="800000"/>
            <a:headEnd/>
            <a:tailEnd/>
          </a:ln>
        </p:spPr>
      </p:pic>
      <p:pic>
        <p:nvPicPr>
          <p:cNvPr id="44036" name="Picture 3"/>
          <p:cNvPicPr>
            <a:picLocks noChangeAspect="1" noChangeArrowheads="1"/>
          </p:cNvPicPr>
          <p:nvPr/>
        </p:nvPicPr>
        <p:blipFill>
          <a:blip r:embed="rId4"/>
          <a:srcRect/>
          <a:stretch>
            <a:fillRect/>
          </a:stretch>
        </p:blipFill>
        <p:spPr bwMode="auto">
          <a:xfrm>
            <a:off x="6172200" y="1219200"/>
            <a:ext cx="2733675" cy="2576513"/>
          </a:xfrm>
          <a:prstGeom prst="rect">
            <a:avLst/>
          </a:prstGeom>
          <a:noFill/>
          <a:ln w="9525">
            <a:noFill/>
            <a:miter lim="800000"/>
            <a:headEnd/>
            <a:tailEnd/>
          </a:ln>
        </p:spPr>
      </p:pic>
      <p:sp>
        <p:nvSpPr>
          <p:cNvPr id="44037" name="Rectangle 6"/>
          <p:cNvSpPr>
            <a:spLocks noChangeArrowheads="1"/>
          </p:cNvSpPr>
          <p:nvPr/>
        </p:nvSpPr>
        <p:spPr bwMode="auto">
          <a:xfrm>
            <a:off x="685800" y="5986463"/>
            <a:ext cx="2303463" cy="400050"/>
          </a:xfrm>
          <a:prstGeom prst="rect">
            <a:avLst/>
          </a:prstGeom>
          <a:noFill/>
          <a:ln w="9525">
            <a:noFill/>
            <a:miter lim="800000"/>
            <a:headEnd/>
            <a:tailEnd/>
          </a:ln>
        </p:spPr>
        <p:txBody>
          <a:bodyPr wrap="none">
            <a:spAutoFit/>
          </a:bodyPr>
          <a:lstStyle/>
          <a:p>
            <a:pPr algn="ctr"/>
            <a:r>
              <a:rPr lang="en-US" sz="1000">
                <a:solidFill>
                  <a:schemeClr val="bg1"/>
                </a:solidFill>
              </a:rPr>
              <a:t>GE GeoSpring™ hybrid water heater </a:t>
            </a:r>
          </a:p>
          <a:p>
            <a:pPr algn="ctr"/>
            <a:r>
              <a:rPr lang="en-US" sz="1000">
                <a:solidFill>
                  <a:schemeClr val="bg1"/>
                </a:solidFill>
              </a:rPr>
              <a:t>w/ digital control panel</a:t>
            </a:r>
          </a:p>
        </p:txBody>
      </p:sp>
      <p:sp>
        <p:nvSpPr>
          <p:cNvPr id="44038" name="Rectangle 7"/>
          <p:cNvSpPr>
            <a:spLocks noChangeArrowheads="1"/>
          </p:cNvSpPr>
          <p:nvPr/>
        </p:nvSpPr>
        <p:spPr bwMode="auto">
          <a:xfrm>
            <a:off x="6588125" y="3792538"/>
            <a:ext cx="2022475" cy="246062"/>
          </a:xfrm>
          <a:prstGeom prst="rect">
            <a:avLst/>
          </a:prstGeom>
          <a:noFill/>
          <a:ln w="9525">
            <a:noFill/>
            <a:miter lim="800000"/>
            <a:headEnd/>
            <a:tailEnd/>
          </a:ln>
        </p:spPr>
        <p:txBody>
          <a:bodyPr wrap="none">
            <a:spAutoFit/>
          </a:bodyPr>
          <a:lstStyle/>
          <a:p>
            <a:r>
              <a:rPr lang="en-US" sz="1000">
                <a:solidFill>
                  <a:schemeClr val="bg1"/>
                </a:solidFill>
              </a:rPr>
              <a:t>Source: Solar Force Corporation</a:t>
            </a:r>
          </a:p>
        </p:txBody>
      </p:sp>
      <p:pic>
        <p:nvPicPr>
          <p:cNvPr id="44039" name="Picture 4"/>
          <p:cNvPicPr>
            <a:picLocks noChangeAspect="1" noChangeArrowheads="1"/>
          </p:cNvPicPr>
          <p:nvPr/>
        </p:nvPicPr>
        <p:blipFill>
          <a:blip r:embed="rId5"/>
          <a:srcRect/>
          <a:stretch>
            <a:fillRect/>
          </a:stretch>
        </p:blipFill>
        <p:spPr bwMode="auto">
          <a:xfrm>
            <a:off x="5105400" y="3276600"/>
            <a:ext cx="533400" cy="542925"/>
          </a:xfrm>
          <a:prstGeom prst="rect">
            <a:avLst/>
          </a:prstGeom>
          <a:noFill/>
          <a:ln w="9525">
            <a:noFill/>
            <a:miter lim="800000"/>
            <a:headEnd/>
            <a:tailEnd/>
          </a:ln>
        </p:spPr>
      </p:pic>
      <p:sp>
        <p:nvSpPr>
          <p:cNvPr id="13" name="Content Placeholder 22"/>
          <p:cNvSpPr txBox="1">
            <a:spLocks/>
          </p:cNvSpPr>
          <p:nvPr/>
        </p:nvSpPr>
        <p:spPr bwMode="auto">
          <a:xfrm>
            <a:off x="3733800" y="4191000"/>
            <a:ext cx="5410200" cy="2514600"/>
          </a:xfrm>
          <a:prstGeom prst="rect">
            <a:avLst/>
          </a:prstGeom>
          <a:noFill/>
          <a:ln w="3175">
            <a:noFill/>
            <a:miter lim="800000"/>
            <a:headEnd/>
            <a:tailEnd/>
          </a:ln>
        </p:spPr>
        <p:txBody>
          <a:bodyPr/>
          <a:lstStyle/>
          <a:p>
            <a:pPr>
              <a:buClr>
                <a:srgbClr val="7F7F7F"/>
              </a:buClr>
              <a:defRPr/>
            </a:pPr>
            <a:r>
              <a:rPr lang="en-US" sz="2000" b="1" dirty="0">
                <a:solidFill>
                  <a:srgbClr val="FFC000"/>
                </a:solidFill>
                <a:cs typeface="Arial" charset="0"/>
              </a:rPr>
              <a:t>Heat pump water heater downstream</a:t>
            </a:r>
          </a:p>
          <a:p>
            <a:pPr marL="419100" indent="-382588" eaLnBrk="0" hangingPunct="0">
              <a:spcBef>
                <a:spcPct val="20000"/>
              </a:spcBef>
              <a:buClr>
                <a:srgbClr val="7F7F7F"/>
              </a:buClr>
              <a:buSzPct val="80000"/>
              <a:buFont typeface="Wingdings" pitchFamily="2" charset="2"/>
              <a:buChar char="§"/>
              <a:defRPr/>
            </a:pPr>
            <a:r>
              <a:rPr lang="en-US" sz="1600" dirty="0">
                <a:solidFill>
                  <a:schemeClr val="bg1"/>
                </a:solidFill>
                <a:cs typeface="Arial" charset="0"/>
              </a:rPr>
              <a:t>50-gal tank, electric auxiliary heating</a:t>
            </a:r>
            <a:endParaRPr lang="en-US" dirty="0">
              <a:solidFill>
                <a:schemeClr val="bg1"/>
              </a:solidFill>
              <a:cs typeface="Arial" charset="0"/>
            </a:endParaRPr>
          </a:p>
          <a:p>
            <a:pPr marL="419100" indent="-382588" eaLnBrk="0" hangingPunct="0">
              <a:spcBef>
                <a:spcPct val="20000"/>
              </a:spcBef>
              <a:buClr>
                <a:srgbClr val="7F7F7F"/>
              </a:buClr>
              <a:buSzPct val="80000"/>
              <a:buFont typeface="Wingdings" pitchFamily="2" charset="2"/>
              <a:buChar char="§"/>
              <a:defRPr/>
            </a:pPr>
            <a:r>
              <a:rPr lang="en-US" sz="1600" dirty="0">
                <a:solidFill>
                  <a:schemeClr val="bg1"/>
                </a:solidFill>
                <a:cs typeface="Arial" charset="0"/>
              </a:rPr>
              <a:t>Multiple operating modes: heat pump, hybrid and standard electric</a:t>
            </a:r>
          </a:p>
          <a:p>
            <a:pPr marL="419100" indent="-382588" eaLnBrk="0" hangingPunct="0">
              <a:spcBef>
                <a:spcPct val="20000"/>
              </a:spcBef>
              <a:buClr>
                <a:srgbClr val="7F7F7F"/>
              </a:buClr>
              <a:buSzPct val="80000"/>
              <a:buFont typeface="Wingdings" pitchFamily="2" charset="2"/>
              <a:buChar char="§"/>
              <a:defRPr/>
            </a:pPr>
            <a:r>
              <a:rPr lang="en-US" sz="1600" dirty="0">
                <a:solidFill>
                  <a:schemeClr val="bg1"/>
                </a:solidFill>
                <a:cs typeface="Arial" charset="0"/>
              </a:rPr>
              <a:t>ENEGY STAR® qualified </a:t>
            </a:r>
          </a:p>
          <a:p>
            <a:pPr marL="419100" indent="-382588" eaLnBrk="0" hangingPunct="0">
              <a:spcBef>
                <a:spcPct val="20000"/>
              </a:spcBef>
              <a:buClr>
                <a:srgbClr val="7F7F7F"/>
              </a:buClr>
              <a:buSzPct val="80000"/>
              <a:buFont typeface="Wingdings" pitchFamily="2" charset="2"/>
              <a:buChar char="§"/>
              <a:defRPr/>
            </a:pPr>
            <a:r>
              <a:rPr lang="en-US" sz="1600" dirty="0">
                <a:solidFill>
                  <a:schemeClr val="bg1"/>
                </a:solidFill>
                <a:cs typeface="Arial" charset="0"/>
              </a:rPr>
              <a:t>Energy Factor (EF) of 2.35 and consumes 62% less energy than standard electric WH</a:t>
            </a:r>
          </a:p>
          <a:p>
            <a:pPr marL="419100" indent="-382588" eaLnBrk="0" hangingPunct="0">
              <a:spcBef>
                <a:spcPct val="20000"/>
              </a:spcBef>
              <a:buClr>
                <a:srgbClr val="7F7F7F"/>
              </a:buClr>
              <a:buSzPct val="80000"/>
              <a:buFont typeface="Arial" charset="0"/>
              <a:buNone/>
              <a:defRPr/>
            </a:pPr>
            <a:endParaRPr lang="en-US" sz="1600" dirty="0">
              <a:cs typeface="Arial" charset="0"/>
            </a:endParaRPr>
          </a:p>
          <a:p>
            <a:pPr marL="419100" indent="-382588" eaLnBrk="0" hangingPunct="0">
              <a:spcBef>
                <a:spcPct val="20000"/>
              </a:spcBef>
              <a:buClr>
                <a:srgbClr val="7F7F7F"/>
              </a:buClr>
              <a:buSzPct val="80000"/>
              <a:buFont typeface="Wingdings" pitchFamily="2" charset="2"/>
              <a:buChar char="§"/>
              <a:defRPr/>
            </a:pPr>
            <a:endParaRPr lang="en-US" sz="1600" dirty="0">
              <a:cs typeface="Arial"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5058" name="Content Placeholder 22"/>
          <p:cNvSpPr>
            <a:spLocks noGrp="1"/>
          </p:cNvSpPr>
          <p:nvPr>
            <p:ph sz="half" idx="4294967295"/>
          </p:nvPr>
        </p:nvSpPr>
        <p:spPr>
          <a:xfrm>
            <a:off x="381000" y="1066800"/>
            <a:ext cx="8763000" cy="2362200"/>
          </a:xfrm>
        </p:spPr>
        <p:txBody>
          <a:bodyPr/>
          <a:lstStyle/>
          <a:p>
            <a:pPr>
              <a:buClr>
                <a:srgbClr val="7F7F7F"/>
              </a:buClr>
              <a:buFont typeface="Wingdings" pitchFamily="2" charset="2"/>
              <a:buChar char="§"/>
            </a:pPr>
            <a:r>
              <a:rPr lang="en-US" sz="2400" smtClean="0">
                <a:solidFill>
                  <a:srgbClr val="9CB7F2"/>
                </a:solidFill>
                <a:latin typeface="Arial" charset="0"/>
                <a:cs typeface="Arial" charset="0"/>
              </a:rPr>
              <a:t>Heating, Cooling and Ventilation Systems</a:t>
            </a:r>
          </a:p>
          <a:p>
            <a:pPr lvl="2">
              <a:spcBef>
                <a:spcPct val="0"/>
              </a:spcBef>
              <a:buClr>
                <a:srgbClr val="7F7F7F"/>
              </a:buClr>
              <a:buFont typeface="Wingdings" pitchFamily="2" charset="2"/>
              <a:buChar char="§"/>
            </a:pPr>
            <a:r>
              <a:rPr lang="en-US" sz="1800" smtClean="0">
                <a:latin typeface="Arial" charset="0"/>
                <a:cs typeface="Arial" charset="0"/>
              </a:rPr>
              <a:t>Facility is Configured to Accommodate Various Technologies</a:t>
            </a:r>
          </a:p>
          <a:p>
            <a:pPr lvl="2">
              <a:spcBef>
                <a:spcPct val="0"/>
              </a:spcBef>
              <a:buClr>
                <a:srgbClr val="7F7F7F"/>
              </a:buClr>
              <a:buFont typeface="Wingdings" pitchFamily="2" charset="2"/>
              <a:buChar char="§"/>
            </a:pPr>
            <a:r>
              <a:rPr lang="en-US" sz="1800" smtClean="0">
                <a:latin typeface="Arial" charset="0"/>
                <a:cs typeface="Arial" charset="0"/>
              </a:rPr>
              <a:t>Advanced Air-to-Air Heat Pump Systems Suitable for Low Energy Homes</a:t>
            </a:r>
          </a:p>
          <a:p>
            <a:pPr lvl="2">
              <a:spcBef>
                <a:spcPct val="0"/>
              </a:spcBef>
              <a:buClr>
                <a:srgbClr val="7F7F7F"/>
              </a:buClr>
              <a:buFont typeface="Wingdings" pitchFamily="2" charset="2"/>
              <a:buChar char="§"/>
            </a:pPr>
            <a:r>
              <a:rPr lang="en-US" sz="1800" smtClean="0">
                <a:latin typeface="Arial" charset="0"/>
                <a:cs typeface="Arial" charset="0"/>
              </a:rPr>
              <a:t>Geothermal Heat Pump Systems with Three Distinct Earth Coupled Fields</a:t>
            </a:r>
          </a:p>
          <a:p>
            <a:pPr lvl="2">
              <a:spcBef>
                <a:spcPct val="0"/>
              </a:spcBef>
              <a:buClr>
                <a:srgbClr val="7F7F7F"/>
              </a:buClr>
              <a:buFont typeface="Wingdings" pitchFamily="2" charset="2"/>
              <a:buChar char="§"/>
            </a:pPr>
            <a:r>
              <a:rPr lang="en-US" sz="1800" smtClean="0">
                <a:latin typeface="Arial" charset="0"/>
                <a:cs typeface="Arial" charset="0"/>
              </a:rPr>
              <a:t>Combined Solar/Geothermal Heat Pump Systems</a:t>
            </a:r>
          </a:p>
          <a:p>
            <a:pPr lvl="2">
              <a:spcBef>
                <a:spcPct val="0"/>
              </a:spcBef>
              <a:buClr>
                <a:srgbClr val="7F7F7F"/>
              </a:buClr>
              <a:buFont typeface="Wingdings" pitchFamily="2" charset="2"/>
              <a:buChar char="§"/>
            </a:pPr>
            <a:r>
              <a:rPr lang="en-US" sz="1800" smtClean="0">
                <a:latin typeface="Arial" charset="0"/>
                <a:cs typeface="Arial" charset="0"/>
              </a:rPr>
              <a:t>Multisplit heat pump with minimal duct system</a:t>
            </a:r>
          </a:p>
          <a:p>
            <a:pPr lvl="2">
              <a:spcBef>
                <a:spcPct val="0"/>
              </a:spcBef>
              <a:buClr>
                <a:srgbClr val="7F7F7F"/>
              </a:buClr>
              <a:buFont typeface="Wingdings" pitchFamily="2" charset="2"/>
              <a:buChar char="§"/>
            </a:pPr>
            <a:r>
              <a:rPr lang="en-US" sz="1800" smtClean="0">
                <a:latin typeface="Arial" charset="0"/>
                <a:cs typeface="Arial" charset="0"/>
              </a:rPr>
              <a:t>Fully ducted Heat Recovery System</a:t>
            </a:r>
          </a:p>
          <a:p>
            <a:pPr lvl="2">
              <a:spcBef>
                <a:spcPct val="0"/>
              </a:spcBef>
              <a:buClr>
                <a:srgbClr val="7F7F7F"/>
              </a:buClr>
              <a:buFont typeface="Wingdings" pitchFamily="2" charset="2"/>
              <a:buChar char="§"/>
            </a:pPr>
            <a:r>
              <a:rPr lang="en-US" sz="1800" smtClean="0">
                <a:latin typeface="Arial" charset="0"/>
                <a:cs typeface="Arial" charset="0"/>
              </a:rPr>
              <a:t>Multiple Zoning Capabilities</a:t>
            </a:r>
          </a:p>
          <a:p>
            <a:pPr lvl="3">
              <a:spcBef>
                <a:spcPct val="0"/>
              </a:spcBef>
              <a:buClr>
                <a:srgbClr val="7F7F7F"/>
              </a:buClr>
              <a:buFont typeface="Wingdings" pitchFamily="2" charset="2"/>
              <a:buChar char="§"/>
            </a:pPr>
            <a:r>
              <a:rPr lang="en-US" sz="1200" smtClean="0">
                <a:latin typeface="Arial" charset="0"/>
                <a:cs typeface="Arial" charset="0"/>
              </a:rPr>
              <a:t>Floor</a:t>
            </a:r>
          </a:p>
          <a:p>
            <a:pPr lvl="3">
              <a:spcBef>
                <a:spcPct val="0"/>
              </a:spcBef>
              <a:buClr>
                <a:srgbClr val="7F7F7F"/>
              </a:buClr>
              <a:buFont typeface="Wingdings" pitchFamily="2" charset="2"/>
              <a:buChar char="§"/>
            </a:pPr>
            <a:r>
              <a:rPr lang="en-US" sz="1200" smtClean="0">
                <a:latin typeface="Arial" charset="0"/>
                <a:cs typeface="Arial" charset="0"/>
              </a:rPr>
              <a:t>Perimeter</a:t>
            </a:r>
          </a:p>
          <a:p>
            <a:pPr lvl="3">
              <a:spcBef>
                <a:spcPct val="0"/>
              </a:spcBef>
              <a:buClr>
                <a:srgbClr val="7F7F7F"/>
              </a:buClr>
              <a:buFont typeface="Wingdings" pitchFamily="2" charset="2"/>
              <a:buChar char="§"/>
            </a:pPr>
            <a:r>
              <a:rPr lang="en-US" sz="1200" smtClean="0">
                <a:latin typeface="Arial" charset="0"/>
                <a:cs typeface="Arial" charset="0"/>
              </a:rPr>
              <a:t>Individual Register</a:t>
            </a:r>
          </a:p>
          <a:p>
            <a:pPr lvl="2">
              <a:buClr>
                <a:srgbClr val="7F7F7F"/>
              </a:buClr>
              <a:buFont typeface="Wingdings" pitchFamily="2" charset="2"/>
              <a:buChar char="§"/>
            </a:pPr>
            <a:endParaRPr lang="en-US" sz="1800" smtClean="0">
              <a:latin typeface="Arial" charset="0"/>
              <a:cs typeface="Arial" charset="0"/>
            </a:endParaRPr>
          </a:p>
        </p:txBody>
      </p:sp>
      <p:pic>
        <p:nvPicPr>
          <p:cNvPr id="45059" name="Picture 10"/>
          <p:cNvPicPr>
            <a:picLocks noChangeAspect="1"/>
          </p:cNvPicPr>
          <p:nvPr/>
        </p:nvPicPr>
        <p:blipFill>
          <a:blip r:embed="rId3"/>
          <a:srcRect/>
          <a:stretch>
            <a:fillRect/>
          </a:stretch>
        </p:blipFill>
        <p:spPr bwMode="auto">
          <a:xfrm>
            <a:off x="3505200" y="4038600"/>
            <a:ext cx="2138363" cy="2281238"/>
          </a:xfrm>
          <a:prstGeom prst="rect">
            <a:avLst/>
          </a:prstGeom>
          <a:noFill/>
          <a:ln w="9525">
            <a:noFill/>
            <a:miter lim="800000"/>
            <a:headEnd/>
            <a:tailEnd/>
          </a:ln>
        </p:spPr>
      </p:pic>
      <p:sp>
        <p:nvSpPr>
          <p:cNvPr id="45060" name="TextBox 20"/>
          <p:cNvSpPr txBox="1">
            <a:spLocks noChangeArrowheads="1"/>
          </p:cNvSpPr>
          <p:nvPr/>
        </p:nvSpPr>
        <p:spPr bwMode="auto">
          <a:xfrm>
            <a:off x="3733800" y="6324600"/>
            <a:ext cx="1676400" cy="261938"/>
          </a:xfrm>
          <a:prstGeom prst="rect">
            <a:avLst/>
          </a:prstGeom>
          <a:noFill/>
          <a:ln w="9525">
            <a:noFill/>
            <a:miter lim="800000"/>
            <a:headEnd/>
            <a:tailEnd/>
          </a:ln>
        </p:spPr>
        <p:txBody>
          <a:bodyPr>
            <a:spAutoFit/>
          </a:bodyPr>
          <a:lstStyle/>
          <a:p>
            <a:r>
              <a:rPr lang="en-US" sz="1100" i="1">
                <a:solidFill>
                  <a:schemeClr val="bg1"/>
                </a:solidFill>
              </a:rPr>
              <a:t>HRV Air Exchanger</a:t>
            </a:r>
          </a:p>
        </p:txBody>
      </p:sp>
      <p:pic>
        <p:nvPicPr>
          <p:cNvPr id="45061" name="Picture 14" descr="gshpslinky"/>
          <p:cNvPicPr>
            <a:picLocks noChangeAspect="1" noChangeArrowheads="1"/>
          </p:cNvPicPr>
          <p:nvPr/>
        </p:nvPicPr>
        <p:blipFill>
          <a:blip r:embed="rId4"/>
          <a:srcRect/>
          <a:stretch>
            <a:fillRect/>
          </a:stretch>
        </p:blipFill>
        <p:spPr bwMode="auto">
          <a:xfrm>
            <a:off x="7315200" y="4572000"/>
            <a:ext cx="1239838" cy="1643063"/>
          </a:xfrm>
          <a:prstGeom prst="rect">
            <a:avLst/>
          </a:prstGeom>
          <a:noFill/>
          <a:ln w="9525">
            <a:noFill/>
            <a:miter lim="800000"/>
            <a:headEnd/>
            <a:tailEnd/>
          </a:ln>
        </p:spPr>
      </p:pic>
      <p:pic>
        <p:nvPicPr>
          <p:cNvPr id="45062" name="Picture 15"/>
          <p:cNvPicPr>
            <a:picLocks noChangeAspect="1" noChangeArrowheads="1"/>
          </p:cNvPicPr>
          <p:nvPr/>
        </p:nvPicPr>
        <p:blipFill>
          <a:blip r:embed="rId5"/>
          <a:srcRect/>
          <a:stretch>
            <a:fillRect/>
          </a:stretch>
        </p:blipFill>
        <p:spPr bwMode="auto">
          <a:xfrm>
            <a:off x="5943600" y="3657600"/>
            <a:ext cx="1373188" cy="1843088"/>
          </a:xfrm>
          <a:prstGeom prst="rect">
            <a:avLst/>
          </a:prstGeom>
          <a:noFill/>
          <a:ln w="9525">
            <a:noFill/>
            <a:miter lim="800000"/>
            <a:headEnd/>
            <a:tailEnd/>
          </a:ln>
        </p:spPr>
      </p:pic>
      <p:pic>
        <p:nvPicPr>
          <p:cNvPr id="45063" name="Picture 17" descr="GeoHorizontal"/>
          <p:cNvPicPr>
            <a:picLocks noChangeAspect="1" noChangeArrowheads="1"/>
          </p:cNvPicPr>
          <p:nvPr/>
        </p:nvPicPr>
        <p:blipFill>
          <a:blip r:embed="rId6"/>
          <a:srcRect/>
          <a:stretch>
            <a:fillRect/>
          </a:stretch>
        </p:blipFill>
        <p:spPr bwMode="auto">
          <a:xfrm>
            <a:off x="7315200" y="3657600"/>
            <a:ext cx="1628775" cy="933450"/>
          </a:xfrm>
          <a:prstGeom prst="rect">
            <a:avLst/>
          </a:prstGeom>
          <a:noFill/>
          <a:ln w="9525">
            <a:noFill/>
            <a:miter lim="800000"/>
            <a:headEnd/>
            <a:tailEnd/>
          </a:ln>
        </p:spPr>
      </p:pic>
      <p:sp>
        <p:nvSpPr>
          <p:cNvPr id="45064" name="TextBox 20"/>
          <p:cNvSpPr txBox="1">
            <a:spLocks noChangeArrowheads="1"/>
          </p:cNvSpPr>
          <p:nvPr/>
        </p:nvSpPr>
        <p:spPr bwMode="auto">
          <a:xfrm>
            <a:off x="5715000" y="5791200"/>
            <a:ext cx="1676400" cy="428625"/>
          </a:xfrm>
          <a:prstGeom prst="rect">
            <a:avLst/>
          </a:prstGeom>
          <a:noFill/>
          <a:ln w="9525">
            <a:noFill/>
            <a:miter lim="800000"/>
            <a:headEnd/>
            <a:tailEnd/>
          </a:ln>
        </p:spPr>
        <p:txBody>
          <a:bodyPr>
            <a:spAutoFit/>
          </a:bodyPr>
          <a:lstStyle/>
          <a:p>
            <a:r>
              <a:rPr lang="en-US" sz="1100" i="1">
                <a:solidFill>
                  <a:schemeClr val="bg1"/>
                </a:solidFill>
              </a:rPr>
              <a:t>Three types of ground heat exchangers</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6082" name="Rectangle 3"/>
          <p:cNvSpPr>
            <a:spLocks noGrp="1"/>
          </p:cNvSpPr>
          <p:nvPr>
            <p:ph type="body" idx="4294967295"/>
          </p:nvPr>
        </p:nvSpPr>
        <p:spPr>
          <a:xfrm>
            <a:off x="0" y="1600200"/>
            <a:ext cx="2743200" cy="4525963"/>
          </a:xfrm>
        </p:spPr>
        <p:txBody>
          <a:bodyPr/>
          <a:lstStyle/>
          <a:p>
            <a:r>
              <a:rPr lang="en-US" sz="2000" smtClean="0">
                <a:latin typeface="Arial" charset="0"/>
                <a:cs typeface="Arial" charset="0"/>
              </a:rPr>
              <a:t>Advance air-source heat pump</a:t>
            </a:r>
          </a:p>
          <a:p>
            <a:pPr>
              <a:buFont typeface="Arial" charset="0"/>
              <a:buNone/>
            </a:pPr>
            <a:endParaRPr lang="en-US" sz="2000" smtClean="0">
              <a:latin typeface="Arial" charset="0"/>
              <a:cs typeface="Arial" charset="0"/>
            </a:endParaRPr>
          </a:p>
          <a:p>
            <a:r>
              <a:rPr lang="en-US" sz="2000" smtClean="0">
                <a:latin typeface="Arial" charset="0"/>
                <a:cs typeface="Arial" charset="0"/>
              </a:rPr>
              <a:t>Small duct, high velocity system</a:t>
            </a:r>
          </a:p>
          <a:p>
            <a:pPr>
              <a:buFont typeface="Arial" charset="0"/>
              <a:buNone/>
            </a:pPr>
            <a:endParaRPr lang="en-US" sz="2000" smtClean="0">
              <a:latin typeface="Arial" charset="0"/>
              <a:cs typeface="Arial" charset="0"/>
            </a:endParaRPr>
          </a:p>
          <a:p>
            <a:r>
              <a:rPr lang="en-US" sz="2000" smtClean="0">
                <a:latin typeface="Arial" charset="0"/>
                <a:cs typeface="Arial" charset="0"/>
              </a:rPr>
              <a:t>Multi-split heat pump</a:t>
            </a:r>
          </a:p>
          <a:p>
            <a:endParaRPr lang="en-US" sz="2000" smtClean="0">
              <a:latin typeface="Arial" charset="0"/>
              <a:cs typeface="Arial" charset="0"/>
            </a:endParaRPr>
          </a:p>
        </p:txBody>
      </p:sp>
      <p:pic>
        <p:nvPicPr>
          <p:cNvPr id="46083" name="Picture 4"/>
          <p:cNvPicPr>
            <a:picLocks noChangeAspect="1" noChangeArrowheads="1"/>
          </p:cNvPicPr>
          <p:nvPr/>
        </p:nvPicPr>
        <p:blipFill>
          <a:blip r:embed="rId3"/>
          <a:srcRect/>
          <a:stretch>
            <a:fillRect/>
          </a:stretch>
        </p:blipFill>
        <p:spPr bwMode="auto">
          <a:xfrm>
            <a:off x="4648200" y="3810000"/>
            <a:ext cx="2781300" cy="2324100"/>
          </a:xfrm>
          <a:prstGeom prst="rect">
            <a:avLst/>
          </a:prstGeom>
          <a:noFill/>
          <a:ln w="9525">
            <a:noFill/>
            <a:miter lim="800000"/>
            <a:headEnd/>
            <a:tailEnd/>
          </a:ln>
        </p:spPr>
      </p:pic>
      <p:pic>
        <p:nvPicPr>
          <p:cNvPr id="46084" name="Picture 6" descr="kanal"/>
          <p:cNvPicPr>
            <a:picLocks noChangeAspect="1" noChangeArrowheads="1"/>
          </p:cNvPicPr>
          <p:nvPr/>
        </p:nvPicPr>
        <p:blipFill>
          <a:blip r:embed="rId4"/>
          <a:srcRect/>
          <a:stretch>
            <a:fillRect/>
          </a:stretch>
        </p:blipFill>
        <p:spPr bwMode="auto">
          <a:xfrm>
            <a:off x="2438400" y="4648200"/>
            <a:ext cx="1219200" cy="996950"/>
          </a:xfrm>
          <a:prstGeom prst="rect">
            <a:avLst/>
          </a:prstGeom>
          <a:noFill/>
          <a:ln w="9525">
            <a:noFill/>
            <a:miter lim="800000"/>
            <a:headEnd/>
            <a:tailEnd/>
          </a:ln>
        </p:spPr>
      </p:pic>
      <p:pic>
        <p:nvPicPr>
          <p:cNvPr id="46085" name="Picture 7"/>
          <p:cNvPicPr>
            <a:picLocks noChangeAspect="1" noChangeArrowheads="1"/>
          </p:cNvPicPr>
          <p:nvPr/>
        </p:nvPicPr>
        <p:blipFill>
          <a:blip r:embed="rId5"/>
          <a:srcRect/>
          <a:stretch>
            <a:fillRect/>
          </a:stretch>
        </p:blipFill>
        <p:spPr bwMode="auto">
          <a:xfrm>
            <a:off x="862013" y="5029200"/>
            <a:ext cx="1576387" cy="1319213"/>
          </a:xfrm>
          <a:prstGeom prst="rect">
            <a:avLst/>
          </a:prstGeom>
          <a:noFill/>
          <a:ln w="9525">
            <a:noFill/>
            <a:miter lim="800000"/>
            <a:headEnd/>
            <a:tailEnd/>
          </a:ln>
        </p:spPr>
      </p:pic>
      <p:pic>
        <p:nvPicPr>
          <p:cNvPr id="46086" name="Picture 8" descr="kanal"/>
          <p:cNvPicPr>
            <a:picLocks noChangeAspect="1" noChangeArrowheads="1"/>
          </p:cNvPicPr>
          <p:nvPr/>
        </p:nvPicPr>
        <p:blipFill>
          <a:blip r:embed="rId4"/>
          <a:srcRect/>
          <a:stretch>
            <a:fillRect/>
          </a:stretch>
        </p:blipFill>
        <p:spPr bwMode="auto">
          <a:xfrm>
            <a:off x="2438400" y="5638800"/>
            <a:ext cx="1219200" cy="996950"/>
          </a:xfrm>
          <a:prstGeom prst="rect">
            <a:avLst/>
          </a:prstGeom>
          <a:noFill/>
          <a:ln w="9525">
            <a:noFill/>
            <a:miter lim="800000"/>
            <a:headEnd/>
            <a:tailEnd/>
          </a:ln>
        </p:spPr>
      </p:pic>
      <p:sp>
        <p:nvSpPr>
          <p:cNvPr id="46087" name="Text Box 9"/>
          <p:cNvSpPr txBox="1">
            <a:spLocks noChangeArrowheads="1"/>
          </p:cNvSpPr>
          <p:nvPr/>
        </p:nvSpPr>
        <p:spPr bwMode="auto">
          <a:xfrm>
            <a:off x="457200" y="6324600"/>
            <a:ext cx="1906588" cy="457200"/>
          </a:xfrm>
          <a:prstGeom prst="rect">
            <a:avLst/>
          </a:prstGeom>
          <a:noFill/>
          <a:ln w="9525">
            <a:noFill/>
            <a:miter lim="800000"/>
            <a:headEnd/>
            <a:tailEnd/>
          </a:ln>
        </p:spPr>
        <p:txBody>
          <a:bodyPr wrap="none">
            <a:spAutoFit/>
          </a:bodyPr>
          <a:lstStyle/>
          <a:p>
            <a:r>
              <a:rPr lang="en-US" sz="1200">
                <a:solidFill>
                  <a:schemeClr val="bg1"/>
                </a:solidFill>
              </a:rPr>
              <a:t>Two indoor unit multi-split</a:t>
            </a:r>
          </a:p>
          <a:p>
            <a:r>
              <a:rPr lang="en-US" sz="1200">
                <a:solidFill>
                  <a:schemeClr val="bg1"/>
                </a:solidFill>
              </a:rPr>
              <a:t>heat pump</a:t>
            </a:r>
          </a:p>
        </p:txBody>
      </p:sp>
      <p:sp>
        <p:nvSpPr>
          <p:cNvPr id="46088" name="Text Box 10"/>
          <p:cNvSpPr txBox="1">
            <a:spLocks noChangeArrowheads="1"/>
          </p:cNvSpPr>
          <p:nvPr/>
        </p:nvSpPr>
        <p:spPr bwMode="auto">
          <a:xfrm>
            <a:off x="4708525" y="6129338"/>
            <a:ext cx="2844800" cy="274637"/>
          </a:xfrm>
          <a:prstGeom prst="rect">
            <a:avLst/>
          </a:prstGeom>
          <a:noFill/>
          <a:ln w="9525">
            <a:noFill/>
            <a:miter lim="800000"/>
            <a:headEnd/>
            <a:tailEnd/>
          </a:ln>
        </p:spPr>
        <p:txBody>
          <a:bodyPr wrap="none">
            <a:spAutoFit/>
          </a:bodyPr>
          <a:lstStyle/>
          <a:p>
            <a:r>
              <a:rPr lang="en-US" sz="1200">
                <a:solidFill>
                  <a:schemeClr val="bg1"/>
                </a:solidFill>
              </a:rPr>
              <a:t>Typical small duct, high velocity ducting</a:t>
            </a:r>
          </a:p>
        </p:txBody>
      </p:sp>
      <p:pic>
        <p:nvPicPr>
          <p:cNvPr id="46089" name="Picture 11"/>
          <p:cNvPicPr>
            <a:picLocks noChangeAspect="1" noChangeArrowheads="1"/>
          </p:cNvPicPr>
          <p:nvPr/>
        </p:nvPicPr>
        <p:blipFill>
          <a:blip r:embed="rId6"/>
          <a:srcRect/>
          <a:stretch>
            <a:fillRect/>
          </a:stretch>
        </p:blipFill>
        <p:spPr bwMode="auto">
          <a:xfrm>
            <a:off x="7086600" y="990600"/>
            <a:ext cx="1741488" cy="2386013"/>
          </a:xfrm>
          <a:prstGeom prst="rect">
            <a:avLst/>
          </a:prstGeom>
          <a:noFill/>
          <a:ln w="9525">
            <a:noFill/>
            <a:miter lim="800000"/>
            <a:headEnd/>
            <a:tailEnd/>
          </a:ln>
        </p:spPr>
      </p:pic>
      <p:pic>
        <p:nvPicPr>
          <p:cNvPr id="46090" name="Picture 12"/>
          <p:cNvPicPr>
            <a:picLocks noChangeAspect="1" noChangeArrowheads="1"/>
          </p:cNvPicPr>
          <p:nvPr/>
        </p:nvPicPr>
        <p:blipFill>
          <a:blip r:embed="rId7"/>
          <a:srcRect/>
          <a:stretch>
            <a:fillRect/>
          </a:stretch>
        </p:blipFill>
        <p:spPr bwMode="auto">
          <a:xfrm>
            <a:off x="6248400" y="1905000"/>
            <a:ext cx="746125" cy="1428750"/>
          </a:xfrm>
          <a:prstGeom prst="rect">
            <a:avLst/>
          </a:prstGeom>
          <a:noFill/>
          <a:ln w="9525">
            <a:noFill/>
            <a:miter lim="800000"/>
            <a:headEnd/>
            <a:tailEnd/>
          </a:ln>
        </p:spPr>
      </p:pic>
      <p:pic>
        <p:nvPicPr>
          <p:cNvPr id="46091" name="Picture 13"/>
          <p:cNvPicPr>
            <a:picLocks noChangeAspect="1" noChangeArrowheads="1"/>
          </p:cNvPicPr>
          <p:nvPr/>
        </p:nvPicPr>
        <p:blipFill>
          <a:blip r:embed="rId8"/>
          <a:srcRect/>
          <a:stretch>
            <a:fillRect/>
          </a:stretch>
        </p:blipFill>
        <p:spPr bwMode="auto">
          <a:xfrm>
            <a:off x="3733800" y="1219200"/>
            <a:ext cx="2462213" cy="2132013"/>
          </a:xfrm>
          <a:prstGeom prst="rect">
            <a:avLst/>
          </a:prstGeom>
          <a:noFill/>
          <a:ln w="9525">
            <a:noFill/>
            <a:miter lim="800000"/>
            <a:headEnd/>
            <a:tailEnd/>
          </a:ln>
        </p:spPr>
      </p:pic>
      <p:sp>
        <p:nvSpPr>
          <p:cNvPr id="46092" name="Text Box 14"/>
          <p:cNvSpPr txBox="1">
            <a:spLocks noChangeArrowheads="1"/>
          </p:cNvSpPr>
          <p:nvPr/>
        </p:nvSpPr>
        <p:spPr bwMode="auto">
          <a:xfrm>
            <a:off x="4038600" y="3429000"/>
            <a:ext cx="4210050" cy="274638"/>
          </a:xfrm>
          <a:prstGeom prst="rect">
            <a:avLst/>
          </a:prstGeom>
          <a:noFill/>
          <a:ln w="9525">
            <a:noFill/>
            <a:miter lim="800000"/>
            <a:headEnd/>
            <a:tailEnd/>
          </a:ln>
        </p:spPr>
        <p:txBody>
          <a:bodyPr wrap="none">
            <a:spAutoFit/>
          </a:bodyPr>
          <a:lstStyle/>
          <a:p>
            <a:r>
              <a:rPr lang="en-US" sz="1200">
                <a:solidFill>
                  <a:schemeClr val="bg1"/>
                </a:solidFill>
              </a:rPr>
              <a:t>Variable-speed, dedicated dehumidifying heat pump system</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0178" name="Content Placeholder 22"/>
          <p:cNvSpPr>
            <a:spLocks noGrp="1"/>
          </p:cNvSpPr>
          <p:nvPr>
            <p:ph sz="half" idx="4294967295"/>
          </p:nvPr>
        </p:nvSpPr>
        <p:spPr>
          <a:xfrm>
            <a:off x="0" y="1066800"/>
            <a:ext cx="6858000" cy="2590800"/>
          </a:xfrm>
        </p:spPr>
        <p:txBody>
          <a:bodyPr/>
          <a:lstStyle/>
          <a:p>
            <a:pPr marL="227013" indent="-190500">
              <a:buClr>
                <a:srgbClr val="7F7F7F"/>
              </a:buClr>
              <a:buFont typeface="Wingdings" pitchFamily="2" charset="2"/>
              <a:buChar char="§"/>
            </a:pPr>
            <a:r>
              <a:rPr lang="en-US" sz="2400" smtClean="0">
                <a:solidFill>
                  <a:srgbClr val="9CB7F2"/>
                </a:solidFill>
                <a:latin typeface="Arial" charset="0"/>
                <a:cs typeface="Arial" charset="0"/>
              </a:rPr>
              <a:t>Ventilation and Indoor Air Quality </a:t>
            </a:r>
          </a:p>
          <a:p>
            <a:pPr marL="454025" lvl="1" indent="-227013">
              <a:spcBef>
                <a:spcPct val="0"/>
              </a:spcBef>
              <a:buClr>
                <a:srgbClr val="7F7F7F"/>
              </a:buClr>
              <a:buFont typeface="Wingdings" pitchFamily="2" charset="2"/>
              <a:buChar char="§"/>
            </a:pPr>
            <a:r>
              <a:rPr lang="en-US" sz="2000" smtClean="0">
                <a:latin typeface="Arial" charset="0"/>
                <a:cs typeface="Arial" charset="0"/>
              </a:rPr>
              <a:t>Ventilation specifications</a:t>
            </a:r>
          </a:p>
          <a:p>
            <a:pPr marL="688975" lvl="2" indent="-234950">
              <a:spcBef>
                <a:spcPct val="0"/>
              </a:spcBef>
              <a:buClr>
                <a:srgbClr val="7F7F7F"/>
              </a:buClr>
              <a:buFont typeface="Wingdings" pitchFamily="2" charset="2"/>
              <a:buChar char="§"/>
            </a:pPr>
            <a:r>
              <a:rPr lang="en-US" sz="1800" smtClean="0">
                <a:latin typeface="Arial" charset="0"/>
                <a:cs typeface="Arial" charset="0"/>
              </a:rPr>
              <a:t>Heat recovery ventilator compliant with ASHRAE Standard 62.2</a:t>
            </a:r>
          </a:p>
          <a:p>
            <a:pPr marL="915988" lvl="3" indent="-227013">
              <a:spcBef>
                <a:spcPct val="0"/>
              </a:spcBef>
              <a:buClr>
                <a:srgbClr val="7F7F7F"/>
              </a:buClr>
              <a:buFont typeface="Wingdings" pitchFamily="2" charset="2"/>
              <a:buChar char="§"/>
            </a:pPr>
            <a:r>
              <a:rPr lang="en-US" sz="1400" smtClean="0">
                <a:latin typeface="Arial" charset="0"/>
                <a:cs typeface="Arial" charset="0"/>
              </a:rPr>
              <a:t>Capable of increasing ventilation rate to study IAQ &amp; energy impacts</a:t>
            </a:r>
          </a:p>
          <a:p>
            <a:pPr marL="688975" lvl="2" indent="-234950">
              <a:spcBef>
                <a:spcPct val="0"/>
              </a:spcBef>
              <a:buClr>
                <a:srgbClr val="7F7F7F"/>
              </a:buClr>
              <a:buFont typeface="Wingdings" pitchFamily="2" charset="2"/>
              <a:buChar char="§"/>
            </a:pPr>
            <a:r>
              <a:rPr lang="en-US" sz="1800" smtClean="0">
                <a:latin typeface="Arial" charset="0"/>
                <a:cs typeface="Arial" charset="0"/>
              </a:rPr>
              <a:t>High-efficiency, low sone whole house exhaust fan</a:t>
            </a:r>
          </a:p>
          <a:p>
            <a:pPr marL="915988" lvl="3" indent="-227013">
              <a:spcBef>
                <a:spcPct val="0"/>
              </a:spcBef>
              <a:buClr>
                <a:srgbClr val="7F7F7F"/>
              </a:buClr>
              <a:buFont typeface="Wingdings" pitchFamily="2" charset="2"/>
              <a:buChar char="§"/>
            </a:pPr>
            <a:r>
              <a:rPr lang="en-US" sz="1400" smtClean="0">
                <a:latin typeface="Arial" charset="0"/>
                <a:cs typeface="Arial" charset="0"/>
              </a:rPr>
              <a:t> Alt. 62.2 compliance path</a:t>
            </a:r>
          </a:p>
          <a:p>
            <a:pPr marL="688975" lvl="2" indent="-234950">
              <a:spcBef>
                <a:spcPct val="0"/>
              </a:spcBef>
              <a:buClr>
                <a:srgbClr val="7F7F7F"/>
              </a:buClr>
              <a:buFont typeface="Wingdings" pitchFamily="2" charset="2"/>
              <a:buChar char="§"/>
            </a:pPr>
            <a:r>
              <a:rPr lang="en-US" sz="1800" smtClean="0">
                <a:latin typeface="Arial" charset="0"/>
                <a:cs typeface="Arial" charset="0"/>
              </a:rPr>
              <a:t>62.2 compliant kitchen/toilet exhausts – humidity control</a:t>
            </a:r>
          </a:p>
          <a:p>
            <a:pPr marL="688975" lvl="2" indent="-234950">
              <a:spcBef>
                <a:spcPct val="0"/>
              </a:spcBef>
              <a:buClr>
                <a:srgbClr val="7F7F7F"/>
              </a:buClr>
              <a:buFont typeface="Wingdings" pitchFamily="2" charset="2"/>
              <a:buChar char="§"/>
            </a:pPr>
            <a:r>
              <a:rPr lang="en-US" sz="1800" smtClean="0">
                <a:latin typeface="Arial" charset="0"/>
                <a:cs typeface="Arial" charset="0"/>
              </a:rPr>
              <a:t>Envelope airtightness, 1 h</a:t>
            </a:r>
            <a:r>
              <a:rPr lang="en-US" sz="1800" baseline="30000" smtClean="0">
                <a:latin typeface="Arial" charset="0"/>
                <a:cs typeface="Arial" charset="0"/>
              </a:rPr>
              <a:t>-1 </a:t>
            </a:r>
            <a:r>
              <a:rPr lang="en-US" sz="1800" smtClean="0">
                <a:latin typeface="Arial" charset="0"/>
                <a:cs typeface="Arial" charset="0"/>
              </a:rPr>
              <a:t>at 50 Pa per ASTM E779 </a:t>
            </a:r>
          </a:p>
        </p:txBody>
      </p:sp>
      <p:sp>
        <p:nvSpPr>
          <p:cNvPr id="50179" name="TextBox 20"/>
          <p:cNvSpPr txBox="1">
            <a:spLocks noChangeArrowheads="1"/>
          </p:cNvSpPr>
          <p:nvPr/>
        </p:nvSpPr>
        <p:spPr bwMode="auto">
          <a:xfrm>
            <a:off x="7010400" y="3200400"/>
            <a:ext cx="2133600" cy="261938"/>
          </a:xfrm>
          <a:prstGeom prst="rect">
            <a:avLst/>
          </a:prstGeom>
          <a:noFill/>
          <a:ln w="9525">
            <a:noFill/>
            <a:miter lim="800000"/>
            <a:headEnd/>
            <a:tailEnd/>
          </a:ln>
        </p:spPr>
        <p:txBody>
          <a:bodyPr>
            <a:spAutoFit/>
          </a:bodyPr>
          <a:lstStyle/>
          <a:p>
            <a:pPr algn="ctr"/>
            <a:r>
              <a:rPr lang="en-US" sz="1100" i="1">
                <a:solidFill>
                  <a:schemeClr val="bg1"/>
                </a:solidFill>
              </a:rPr>
              <a:t>ASHRAE 62.2</a:t>
            </a:r>
          </a:p>
        </p:txBody>
      </p:sp>
      <p:sp>
        <p:nvSpPr>
          <p:cNvPr id="50180" name="Content Placeholder 22"/>
          <p:cNvSpPr txBox="1">
            <a:spLocks/>
          </p:cNvSpPr>
          <p:nvPr/>
        </p:nvSpPr>
        <p:spPr bwMode="auto">
          <a:xfrm>
            <a:off x="1714500" y="4191000"/>
            <a:ext cx="5715000" cy="1905000"/>
          </a:xfrm>
          <a:prstGeom prst="rect">
            <a:avLst/>
          </a:prstGeom>
          <a:noFill/>
          <a:ln w="9525">
            <a:noFill/>
            <a:miter lim="800000"/>
            <a:headEnd/>
            <a:tailEnd/>
          </a:ln>
        </p:spPr>
        <p:txBody>
          <a:bodyPr/>
          <a:lstStyle/>
          <a:p>
            <a:pPr marL="228600" indent="-192088" eaLnBrk="0" hangingPunct="0">
              <a:spcBef>
                <a:spcPct val="20000"/>
              </a:spcBef>
              <a:buClr>
                <a:srgbClr val="7F7F7F"/>
              </a:buClr>
              <a:buSzPct val="80000"/>
              <a:buFont typeface="Wingdings" pitchFamily="2" charset="2"/>
              <a:buChar char="§"/>
            </a:pPr>
            <a:r>
              <a:rPr lang="en-US" sz="2000" dirty="0">
                <a:solidFill>
                  <a:schemeClr val="bg1"/>
                </a:solidFill>
                <a:cs typeface="Arial" charset="0"/>
              </a:rPr>
              <a:t>Specifications on material emissions</a:t>
            </a:r>
          </a:p>
          <a:p>
            <a:pPr marL="458788" lvl="1" indent="-230188" eaLnBrk="0" hangingPunct="0">
              <a:spcBef>
                <a:spcPct val="20000"/>
              </a:spcBef>
              <a:buClr>
                <a:srgbClr val="7F7F7F"/>
              </a:buClr>
              <a:buSzPct val="90000"/>
              <a:buFont typeface="Wingdings" pitchFamily="2" charset="2"/>
              <a:buChar char="§"/>
            </a:pPr>
            <a:r>
              <a:rPr lang="en-US" sz="1200" dirty="0" smtClean="0">
                <a:solidFill>
                  <a:schemeClr val="bg1"/>
                </a:solidFill>
                <a:cs typeface="Arial" charset="0"/>
              </a:rPr>
              <a:t>Focused </a:t>
            </a:r>
            <a:r>
              <a:rPr lang="en-US" sz="1200" dirty="0">
                <a:solidFill>
                  <a:schemeClr val="bg1"/>
                </a:solidFill>
                <a:cs typeface="Arial" charset="0"/>
              </a:rPr>
              <a:t>on formaldehyde and other VOCs</a:t>
            </a:r>
          </a:p>
          <a:p>
            <a:pPr marL="458788" lvl="1" indent="-230188" eaLnBrk="0" hangingPunct="0">
              <a:spcBef>
                <a:spcPct val="20000"/>
              </a:spcBef>
              <a:buClr>
                <a:srgbClr val="7F7F7F"/>
              </a:buClr>
              <a:buSzPct val="90000"/>
              <a:buFont typeface="Wingdings" pitchFamily="2" charset="2"/>
              <a:buChar char="§"/>
            </a:pPr>
            <a:r>
              <a:rPr lang="en-US" sz="1200" dirty="0">
                <a:solidFill>
                  <a:schemeClr val="bg1"/>
                </a:solidFill>
                <a:cs typeface="Arial" charset="0"/>
              </a:rPr>
              <a:t>Specs by material type, e.g. adhesives &amp; sealants, paints &amp; coatings, floor coverings</a:t>
            </a:r>
          </a:p>
        </p:txBody>
      </p:sp>
      <p:sp>
        <p:nvSpPr>
          <p:cNvPr id="50181" name="TextBox 20"/>
          <p:cNvSpPr txBox="1">
            <a:spLocks noChangeArrowheads="1"/>
          </p:cNvSpPr>
          <p:nvPr/>
        </p:nvSpPr>
        <p:spPr bwMode="auto">
          <a:xfrm>
            <a:off x="7162800" y="5638800"/>
            <a:ext cx="1981200" cy="430213"/>
          </a:xfrm>
          <a:prstGeom prst="rect">
            <a:avLst/>
          </a:prstGeom>
          <a:noFill/>
          <a:ln w="9525">
            <a:noFill/>
            <a:miter lim="800000"/>
            <a:headEnd/>
            <a:tailEnd/>
          </a:ln>
        </p:spPr>
        <p:txBody>
          <a:bodyPr>
            <a:spAutoFit/>
          </a:bodyPr>
          <a:lstStyle/>
          <a:p>
            <a:pPr algn="ctr"/>
            <a:r>
              <a:rPr lang="en-US" sz="1100" i="1">
                <a:solidFill>
                  <a:schemeClr val="bg1"/>
                </a:solidFill>
              </a:rPr>
              <a:t>Air tightness testing w/ blower door</a:t>
            </a:r>
          </a:p>
        </p:txBody>
      </p:sp>
      <p:sp>
        <p:nvSpPr>
          <p:cNvPr id="50182" name="TextBox 13"/>
          <p:cNvSpPr txBox="1">
            <a:spLocks noChangeArrowheads="1"/>
          </p:cNvSpPr>
          <p:nvPr/>
        </p:nvSpPr>
        <p:spPr bwMode="auto">
          <a:xfrm>
            <a:off x="8331200" y="5384800"/>
            <a:ext cx="184150" cy="369888"/>
          </a:xfrm>
          <a:prstGeom prst="rect">
            <a:avLst/>
          </a:prstGeom>
          <a:noFill/>
          <a:ln w="9525">
            <a:noFill/>
            <a:miter lim="800000"/>
            <a:headEnd/>
            <a:tailEnd/>
          </a:ln>
        </p:spPr>
        <p:txBody>
          <a:bodyPr wrap="none">
            <a:spAutoFit/>
          </a:bodyPr>
          <a:lstStyle/>
          <a:p>
            <a:endParaRPr lang="en-US"/>
          </a:p>
        </p:txBody>
      </p:sp>
      <p:pic>
        <p:nvPicPr>
          <p:cNvPr id="50183" name="Picture 14" descr="Bdoor.jpg"/>
          <p:cNvPicPr>
            <a:picLocks noChangeAspect="1"/>
          </p:cNvPicPr>
          <p:nvPr/>
        </p:nvPicPr>
        <p:blipFill>
          <a:blip r:embed="rId3"/>
          <a:srcRect/>
          <a:stretch>
            <a:fillRect/>
          </a:stretch>
        </p:blipFill>
        <p:spPr bwMode="auto">
          <a:xfrm>
            <a:off x="7467600" y="3581400"/>
            <a:ext cx="1389063" cy="1851025"/>
          </a:xfrm>
          <a:prstGeom prst="rect">
            <a:avLst/>
          </a:prstGeom>
          <a:noFill/>
          <a:ln w="9525">
            <a:noFill/>
            <a:miter lim="800000"/>
            <a:headEnd/>
            <a:tailEnd/>
          </a:ln>
        </p:spPr>
      </p:pic>
      <p:sp>
        <p:nvSpPr>
          <p:cNvPr id="50184" name="TextBox 20"/>
          <p:cNvSpPr txBox="1">
            <a:spLocks noChangeArrowheads="1"/>
          </p:cNvSpPr>
          <p:nvPr/>
        </p:nvSpPr>
        <p:spPr bwMode="auto">
          <a:xfrm>
            <a:off x="152400" y="6248400"/>
            <a:ext cx="1371600" cy="430213"/>
          </a:xfrm>
          <a:prstGeom prst="rect">
            <a:avLst/>
          </a:prstGeom>
          <a:noFill/>
          <a:ln w="9525">
            <a:noFill/>
            <a:miter lim="800000"/>
            <a:headEnd/>
            <a:tailEnd/>
          </a:ln>
        </p:spPr>
        <p:txBody>
          <a:bodyPr>
            <a:spAutoFit/>
          </a:bodyPr>
          <a:lstStyle/>
          <a:p>
            <a:pPr algn="ctr"/>
            <a:r>
              <a:rPr lang="en-US" sz="1100" i="1">
                <a:solidFill>
                  <a:schemeClr val="bg1"/>
                </a:solidFill>
              </a:rPr>
              <a:t>Chamber testing of material emissions</a:t>
            </a:r>
          </a:p>
        </p:txBody>
      </p:sp>
      <p:pic>
        <p:nvPicPr>
          <p:cNvPr id="50185" name="Picture 16" descr="SmallChambers.jpg"/>
          <p:cNvPicPr>
            <a:picLocks noChangeAspect="1"/>
          </p:cNvPicPr>
          <p:nvPr/>
        </p:nvPicPr>
        <p:blipFill>
          <a:blip r:embed="rId4"/>
          <a:srcRect/>
          <a:stretch>
            <a:fillRect/>
          </a:stretch>
        </p:blipFill>
        <p:spPr bwMode="auto">
          <a:xfrm>
            <a:off x="152400" y="4191000"/>
            <a:ext cx="1501775" cy="1998663"/>
          </a:xfrm>
          <a:prstGeom prst="rect">
            <a:avLst/>
          </a:prstGeom>
          <a:noFill/>
          <a:ln w="9525">
            <a:noFill/>
            <a:miter lim="800000"/>
            <a:headEnd/>
            <a:tailEnd/>
          </a:ln>
        </p:spPr>
      </p:pic>
      <p:pic>
        <p:nvPicPr>
          <p:cNvPr id="50186" name="Picture 12" descr="622-2007cover.jpg"/>
          <p:cNvPicPr>
            <a:picLocks noChangeAspect="1"/>
          </p:cNvPicPr>
          <p:nvPr/>
        </p:nvPicPr>
        <p:blipFill>
          <a:blip r:embed="rId5"/>
          <a:srcRect/>
          <a:stretch>
            <a:fillRect/>
          </a:stretch>
        </p:blipFill>
        <p:spPr bwMode="auto">
          <a:xfrm>
            <a:off x="7239000" y="1066800"/>
            <a:ext cx="1600200" cy="20701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7106" name="Content Placeholder 22"/>
          <p:cNvSpPr>
            <a:spLocks noGrp="1"/>
          </p:cNvSpPr>
          <p:nvPr>
            <p:ph sz="half" idx="4294967295"/>
          </p:nvPr>
        </p:nvSpPr>
        <p:spPr>
          <a:xfrm>
            <a:off x="0" y="1066800"/>
            <a:ext cx="8077200" cy="5410200"/>
          </a:xfrm>
        </p:spPr>
        <p:txBody>
          <a:bodyPr/>
          <a:lstStyle/>
          <a:p>
            <a:pPr>
              <a:buClr>
                <a:srgbClr val="7F7F7F"/>
              </a:buClr>
              <a:buFont typeface="Wingdings" pitchFamily="2" charset="2"/>
              <a:buChar char="§"/>
            </a:pPr>
            <a:r>
              <a:rPr lang="en-US" sz="2400" dirty="0" smtClean="0">
                <a:solidFill>
                  <a:srgbClr val="9CB7F2"/>
                </a:solidFill>
                <a:latin typeface="Arial" charset="0"/>
                <a:cs typeface="Arial" charset="0"/>
              </a:rPr>
              <a:t>Electrical Design</a:t>
            </a:r>
          </a:p>
          <a:p>
            <a:pPr lvl="1">
              <a:spcBef>
                <a:spcPct val="0"/>
              </a:spcBef>
              <a:buClr>
                <a:srgbClr val="7F7F7F"/>
              </a:buClr>
              <a:buFont typeface="Wingdings" pitchFamily="2" charset="2"/>
              <a:buChar char="§"/>
            </a:pPr>
            <a:r>
              <a:rPr lang="en-US" sz="1800" dirty="0" smtClean="0">
                <a:latin typeface="Arial" charset="0"/>
                <a:cs typeface="Arial" charset="0"/>
              </a:rPr>
              <a:t>Includes two distinct power systems :</a:t>
            </a:r>
          </a:p>
          <a:p>
            <a:pPr lvl="2">
              <a:spcBef>
                <a:spcPct val="0"/>
              </a:spcBef>
              <a:buClr>
                <a:srgbClr val="7F7F7F"/>
              </a:buClr>
              <a:buFont typeface="Wingdings" pitchFamily="2" charset="2"/>
              <a:buChar char="§"/>
            </a:pPr>
            <a:r>
              <a:rPr lang="en-US" sz="1600" dirty="0" smtClean="0">
                <a:solidFill>
                  <a:srgbClr val="FFFF66"/>
                </a:solidFill>
                <a:latin typeface="Arial" charset="0"/>
                <a:cs typeface="Arial" charset="0"/>
              </a:rPr>
              <a:t>"House power"</a:t>
            </a:r>
            <a:r>
              <a:rPr lang="en-US" sz="1600" dirty="0" smtClean="0">
                <a:latin typeface="Arial" charset="0"/>
                <a:cs typeface="Arial" charset="0"/>
              </a:rPr>
              <a:t> = outlets, appliances, and lighting normally found in home</a:t>
            </a:r>
          </a:p>
          <a:p>
            <a:pPr lvl="2">
              <a:spcBef>
                <a:spcPct val="0"/>
              </a:spcBef>
              <a:buClr>
                <a:srgbClr val="7F7F7F"/>
              </a:buClr>
              <a:buFont typeface="Wingdings" pitchFamily="2" charset="2"/>
              <a:buChar char="§"/>
            </a:pPr>
            <a:r>
              <a:rPr lang="en-US" sz="1600" dirty="0" smtClean="0">
                <a:solidFill>
                  <a:srgbClr val="FFFF66"/>
                </a:solidFill>
                <a:latin typeface="Arial" charset="0"/>
                <a:cs typeface="Arial" charset="0"/>
              </a:rPr>
              <a:t>"Research power"</a:t>
            </a:r>
            <a:r>
              <a:rPr lang="en-US" sz="1600" dirty="0" smtClean="0">
                <a:latin typeface="Arial" charset="0"/>
                <a:cs typeface="Arial" charset="0"/>
              </a:rPr>
              <a:t> = dedicated to research instrumentation, internal load simulation, and safety lighting</a:t>
            </a:r>
          </a:p>
          <a:p>
            <a:pPr lvl="2">
              <a:spcBef>
                <a:spcPct val="0"/>
              </a:spcBef>
              <a:buClr>
                <a:srgbClr val="7F7F7F"/>
              </a:buClr>
              <a:buFont typeface="Wingdings" pitchFamily="2" charset="2"/>
              <a:buChar char="§"/>
            </a:pPr>
            <a:r>
              <a:rPr lang="en-US" sz="1600" dirty="0" smtClean="0">
                <a:latin typeface="Arial" charset="0"/>
                <a:cs typeface="Arial" charset="0"/>
              </a:rPr>
              <a:t>All circuits either "off", manual "on", or programmed "automatic"</a:t>
            </a:r>
          </a:p>
          <a:p>
            <a:pPr lvl="2">
              <a:spcBef>
                <a:spcPct val="0"/>
              </a:spcBef>
              <a:buClr>
                <a:srgbClr val="7F7F7F"/>
              </a:buClr>
              <a:buFont typeface="Wingdings" pitchFamily="2" charset="2"/>
              <a:buNone/>
            </a:pPr>
            <a:r>
              <a:rPr lang="en-US" sz="1600" dirty="0" smtClean="0">
                <a:latin typeface="Arial" charset="0"/>
                <a:cs typeface="Arial" charset="0"/>
              </a:rPr>
              <a:t> </a:t>
            </a:r>
            <a:r>
              <a:rPr lang="en-US" sz="1800" dirty="0" smtClean="0">
                <a:latin typeface="Arial" charset="0"/>
                <a:cs typeface="Arial" charset="0"/>
              </a:rPr>
              <a:t>	</a:t>
            </a:r>
          </a:p>
          <a:p>
            <a:pPr lvl="1">
              <a:spcBef>
                <a:spcPct val="0"/>
              </a:spcBef>
              <a:buClr>
                <a:srgbClr val="7F7F7F"/>
              </a:buClr>
              <a:buFont typeface="Wingdings" pitchFamily="2" charset="2"/>
              <a:buChar char="§"/>
            </a:pPr>
            <a:r>
              <a:rPr lang="en-US" sz="1800" dirty="0" smtClean="0">
                <a:latin typeface="Arial" charset="0"/>
                <a:cs typeface="Arial" charset="0"/>
              </a:rPr>
              <a:t>House power</a:t>
            </a:r>
          </a:p>
          <a:p>
            <a:pPr lvl="2">
              <a:spcBef>
                <a:spcPct val="0"/>
              </a:spcBef>
              <a:buClr>
                <a:srgbClr val="7F7F7F"/>
              </a:buClr>
              <a:buFont typeface="Wingdings" pitchFamily="2" charset="2"/>
              <a:buChar char="§"/>
            </a:pPr>
            <a:r>
              <a:rPr lang="en-US" sz="1600" dirty="0" smtClean="0">
                <a:latin typeface="Arial" charset="0"/>
                <a:cs typeface="Arial" charset="0"/>
              </a:rPr>
              <a:t>Passes through smart meter for house</a:t>
            </a:r>
          </a:p>
          <a:p>
            <a:pPr lvl="2">
              <a:spcBef>
                <a:spcPct val="0"/>
              </a:spcBef>
              <a:buClr>
                <a:srgbClr val="7F7F7F"/>
              </a:buClr>
              <a:buFont typeface="Wingdings" pitchFamily="2" charset="2"/>
              <a:buChar char="§"/>
            </a:pPr>
            <a:r>
              <a:rPr lang="en-US" sz="1600" dirty="0" smtClean="0">
                <a:latin typeface="Arial" charset="0"/>
                <a:cs typeface="Arial" charset="0"/>
              </a:rPr>
              <a:t>Watt-metering of each circuit </a:t>
            </a:r>
          </a:p>
          <a:p>
            <a:pPr lvl="2">
              <a:spcBef>
                <a:spcPct val="0"/>
              </a:spcBef>
              <a:buClr>
                <a:srgbClr val="7F7F7F"/>
              </a:buClr>
              <a:buFont typeface="Wingdings" pitchFamily="2" charset="2"/>
              <a:buChar char="§"/>
            </a:pPr>
            <a:r>
              <a:rPr lang="en-US" sz="1600" dirty="0" smtClean="0">
                <a:latin typeface="Arial" charset="0"/>
                <a:cs typeface="Arial" charset="0"/>
              </a:rPr>
              <a:t>Room lights programmable to simulate human occupancy</a:t>
            </a:r>
          </a:p>
          <a:p>
            <a:pPr lvl="2">
              <a:spcBef>
                <a:spcPct val="0"/>
              </a:spcBef>
              <a:buClr>
                <a:srgbClr val="7F7F7F"/>
              </a:buClr>
              <a:buFont typeface="Wingdings" pitchFamily="2" charset="2"/>
              <a:buChar char="§"/>
            </a:pPr>
            <a:r>
              <a:rPr lang="en-US" sz="1600" dirty="0" smtClean="0">
                <a:latin typeface="Arial" charset="0"/>
                <a:cs typeface="Arial" charset="0"/>
              </a:rPr>
              <a:t>Provision for plug-in electric/hybrid vehicle</a:t>
            </a:r>
          </a:p>
          <a:p>
            <a:pPr lvl="2">
              <a:spcBef>
                <a:spcPct val="0"/>
              </a:spcBef>
              <a:buClr>
                <a:srgbClr val="7F7F7F"/>
              </a:buClr>
              <a:buFont typeface="Wingdings" pitchFamily="2" charset="2"/>
              <a:buNone/>
            </a:pPr>
            <a:endParaRPr lang="en-US" sz="1600" dirty="0" smtClean="0">
              <a:latin typeface="Arial" charset="0"/>
              <a:cs typeface="Arial" charset="0"/>
            </a:endParaRPr>
          </a:p>
          <a:p>
            <a:pPr lvl="1">
              <a:spcBef>
                <a:spcPct val="0"/>
              </a:spcBef>
              <a:buClr>
                <a:srgbClr val="7F7F7F"/>
              </a:buClr>
            </a:pPr>
            <a:r>
              <a:rPr lang="en-US" sz="1800" dirty="0" smtClean="0">
                <a:latin typeface="Arial" charset="0"/>
                <a:cs typeface="Arial" charset="0"/>
              </a:rPr>
              <a:t>Research Power</a:t>
            </a:r>
          </a:p>
          <a:p>
            <a:pPr lvl="2">
              <a:spcBef>
                <a:spcPct val="0"/>
              </a:spcBef>
              <a:buClr>
                <a:srgbClr val="7F7F7F"/>
              </a:buClr>
            </a:pPr>
            <a:r>
              <a:rPr lang="en-US" sz="1600" dirty="0" smtClean="0">
                <a:latin typeface="Arial" charset="0"/>
                <a:cs typeface="Arial" charset="0"/>
              </a:rPr>
              <a:t>Bypasses house metering, but circuits watt-metered individually</a:t>
            </a:r>
          </a:p>
          <a:p>
            <a:pPr lvl="2">
              <a:spcBef>
                <a:spcPct val="0"/>
              </a:spcBef>
              <a:buClr>
                <a:srgbClr val="7F7F7F"/>
              </a:buClr>
            </a:pPr>
            <a:r>
              <a:rPr lang="en-US" sz="1600" dirty="0" smtClean="0">
                <a:latin typeface="Arial" charset="0"/>
                <a:cs typeface="Arial" charset="0"/>
              </a:rPr>
              <a:t>Available in each room and at garage workstations</a:t>
            </a:r>
            <a:r>
              <a:rPr lang="en-US" sz="1400" dirty="0" smtClean="0">
                <a:latin typeface="Arial" charset="0"/>
                <a:cs typeface="Arial" charset="0"/>
              </a:rPr>
              <a:t>  </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8130" name="Content Placeholder 22"/>
          <p:cNvSpPr>
            <a:spLocks noGrp="1"/>
          </p:cNvSpPr>
          <p:nvPr>
            <p:ph sz="half" idx="4294967295"/>
          </p:nvPr>
        </p:nvSpPr>
        <p:spPr>
          <a:xfrm>
            <a:off x="0" y="1066800"/>
            <a:ext cx="8382000" cy="5562600"/>
          </a:xfrm>
        </p:spPr>
        <p:txBody>
          <a:bodyPr/>
          <a:lstStyle/>
          <a:p>
            <a:pPr>
              <a:buClr>
                <a:srgbClr val="7F7F7F"/>
              </a:buClr>
              <a:buFont typeface="Wingdings" pitchFamily="2" charset="2"/>
              <a:buChar char="§"/>
            </a:pPr>
            <a:r>
              <a:rPr lang="en-US" sz="2400" smtClean="0">
                <a:solidFill>
                  <a:srgbClr val="9CB7F2"/>
                </a:solidFill>
                <a:latin typeface="Arial" charset="0"/>
                <a:cs typeface="Arial" charset="0"/>
              </a:rPr>
              <a:t>Appliance Research </a:t>
            </a:r>
          </a:p>
          <a:p>
            <a:pPr lvl="1">
              <a:spcBef>
                <a:spcPct val="0"/>
              </a:spcBef>
            </a:pPr>
            <a:r>
              <a:rPr lang="en-US" sz="1800" smtClean="0">
                <a:latin typeface="Arial" charset="0"/>
                <a:cs typeface="Arial" charset="0"/>
              </a:rPr>
              <a:t>Energy Reduction</a:t>
            </a:r>
          </a:p>
          <a:p>
            <a:pPr lvl="2">
              <a:spcBef>
                <a:spcPct val="0"/>
              </a:spcBef>
            </a:pPr>
            <a:r>
              <a:rPr lang="en-US" sz="1600" smtClean="0">
                <a:latin typeface="Arial" charset="0"/>
                <a:cs typeface="Arial" charset="0"/>
              </a:rPr>
              <a:t>Max Tech, Usage best practices</a:t>
            </a:r>
          </a:p>
          <a:p>
            <a:pPr lvl="1">
              <a:spcBef>
                <a:spcPct val="0"/>
              </a:spcBef>
            </a:pPr>
            <a:r>
              <a:rPr lang="en-US" sz="1800" smtClean="0">
                <a:latin typeface="Arial" charset="0"/>
                <a:cs typeface="Arial" charset="0"/>
              </a:rPr>
              <a:t>Peak load shifting</a:t>
            </a:r>
          </a:p>
          <a:p>
            <a:pPr lvl="2">
              <a:spcBef>
                <a:spcPct val="0"/>
              </a:spcBef>
            </a:pPr>
            <a:r>
              <a:rPr lang="en-US" sz="1600" smtClean="0">
                <a:latin typeface="Arial" charset="0"/>
                <a:cs typeface="Arial" charset="0"/>
              </a:rPr>
              <a:t>Clothes Dryer-Reducing # of energized heating elements</a:t>
            </a:r>
          </a:p>
          <a:p>
            <a:pPr lvl="2">
              <a:spcBef>
                <a:spcPct val="0"/>
              </a:spcBef>
            </a:pPr>
            <a:r>
              <a:rPr lang="en-US" sz="1600" smtClean="0">
                <a:latin typeface="Arial" charset="0"/>
                <a:cs typeface="Arial" charset="0"/>
              </a:rPr>
              <a:t>Refrigerator- delaying defrost cycle,  ice-making events,  changing set points</a:t>
            </a:r>
          </a:p>
          <a:p>
            <a:pPr lvl="2">
              <a:spcBef>
                <a:spcPct val="0"/>
              </a:spcBef>
            </a:pPr>
            <a:r>
              <a:rPr lang="en-US" sz="1600" smtClean="0">
                <a:latin typeface="Arial" charset="0"/>
                <a:cs typeface="Arial" charset="0"/>
              </a:rPr>
              <a:t>Dishwashers, delayed start</a:t>
            </a:r>
          </a:p>
          <a:p>
            <a:pPr lvl="1">
              <a:spcBef>
                <a:spcPct val="0"/>
              </a:spcBef>
            </a:pPr>
            <a:endParaRPr lang="en-US" sz="1800" smtClean="0">
              <a:latin typeface="Arial" charset="0"/>
              <a:cs typeface="Arial" charset="0"/>
            </a:endParaRPr>
          </a:p>
          <a:p>
            <a:pPr>
              <a:spcBef>
                <a:spcPct val="0"/>
              </a:spcBef>
            </a:pPr>
            <a:endParaRPr lang="en-US" sz="1800" smtClean="0">
              <a:latin typeface="Arial" charset="0"/>
              <a:cs typeface="Arial" charset="0"/>
            </a:endParaRPr>
          </a:p>
        </p:txBody>
      </p:sp>
      <p:pic>
        <p:nvPicPr>
          <p:cNvPr id="48131" name="Picture 2"/>
          <p:cNvPicPr>
            <a:picLocks noChangeAspect="1" noChangeArrowheads="1"/>
          </p:cNvPicPr>
          <p:nvPr/>
        </p:nvPicPr>
        <p:blipFill>
          <a:blip r:embed="rId3"/>
          <a:srcRect t="10063"/>
          <a:stretch>
            <a:fillRect/>
          </a:stretch>
        </p:blipFill>
        <p:spPr bwMode="auto">
          <a:xfrm>
            <a:off x="1905000" y="3581400"/>
            <a:ext cx="5143500" cy="2724150"/>
          </a:xfrm>
          <a:prstGeom prst="rect">
            <a:avLst/>
          </a:prstGeom>
          <a:noFill/>
          <a:ln w="9525">
            <a:noFill/>
            <a:miter lim="800000"/>
            <a:headEnd/>
            <a:tailEnd/>
          </a:ln>
        </p:spPr>
      </p:pic>
      <p:sp>
        <p:nvSpPr>
          <p:cNvPr id="48132" name="TextBox 24"/>
          <p:cNvSpPr txBox="1">
            <a:spLocks noChangeArrowheads="1"/>
          </p:cNvSpPr>
          <p:nvPr/>
        </p:nvSpPr>
        <p:spPr bwMode="auto">
          <a:xfrm>
            <a:off x="3352800" y="6400800"/>
            <a:ext cx="1676400" cy="261938"/>
          </a:xfrm>
          <a:prstGeom prst="rect">
            <a:avLst/>
          </a:prstGeom>
          <a:noFill/>
          <a:ln w="9525">
            <a:noFill/>
            <a:miter lim="800000"/>
            <a:headEnd/>
            <a:tailEnd/>
          </a:ln>
        </p:spPr>
        <p:txBody>
          <a:bodyPr>
            <a:spAutoFit/>
          </a:bodyPr>
          <a:lstStyle/>
          <a:p>
            <a:r>
              <a:rPr lang="en-US" sz="1100" i="1">
                <a:solidFill>
                  <a:schemeClr val="bg1"/>
                </a:solidFill>
              </a:rPr>
              <a:t>GE Home Energy Meter</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9154" name="Content Placeholder 22"/>
          <p:cNvSpPr>
            <a:spLocks noGrp="1"/>
          </p:cNvSpPr>
          <p:nvPr>
            <p:ph sz="half" idx="4294967295"/>
          </p:nvPr>
        </p:nvSpPr>
        <p:spPr>
          <a:xfrm>
            <a:off x="0" y="1066800"/>
            <a:ext cx="5334000" cy="5562600"/>
          </a:xfrm>
        </p:spPr>
        <p:txBody>
          <a:bodyPr/>
          <a:lstStyle/>
          <a:p>
            <a:pPr>
              <a:buClr>
                <a:srgbClr val="7F7F7F"/>
              </a:buClr>
              <a:buFont typeface="Wingdings" pitchFamily="2" charset="2"/>
              <a:buChar char="§"/>
            </a:pPr>
            <a:r>
              <a:rPr lang="en-US" sz="2400" smtClean="0">
                <a:solidFill>
                  <a:srgbClr val="9CB7F2"/>
                </a:solidFill>
                <a:latin typeface="Arial" charset="0"/>
                <a:cs typeface="Arial" charset="0"/>
              </a:rPr>
              <a:t>Residential Appliances  </a:t>
            </a:r>
          </a:p>
          <a:p>
            <a:pPr lvl="1">
              <a:spcBef>
                <a:spcPct val="0"/>
              </a:spcBef>
            </a:pPr>
            <a:r>
              <a:rPr lang="en-US" sz="1800" smtClean="0">
                <a:latin typeface="Arial" charset="0"/>
                <a:cs typeface="Arial" charset="0"/>
              </a:rPr>
              <a:t>Heat Pump </a:t>
            </a:r>
          </a:p>
          <a:p>
            <a:pPr lvl="1">
              <a:spcBef>
                <a:spcPct val="0"/>
              </a:spcBef>
            </a:pPr>
            <a:r>
              <a:rPr lang="en-US" sz="1800" smtClean="0">
                <a:latin typeface="Arial" charset="0"/>
                <a:cs typeface="Arial" charset="0"/>
              </a:rPr>
              <a:t>Water Heater</a:t>
            </a:r>
          </a:p>
          <a:p>
            <a:pPr lvl="1">
              <a:spcBef>
                <a:spcPct val="0"/>
              </a:spcBef>
            </a:pPr>
            <a:r>
              <a:rPr lang="en-US" sz="1800" smtClean="0">
                <a:latin typeface="Arial" charset="0"/>
                <a:cs typeface="Arial" charset="0"/>
              </a:rPr>
              <a:t>Range/Oven</a:t>
            </a:r>
          </a:p>
          <a:p>
            <a:pPr lvl="1">
              <a:spcBef>
                <a:spcPct val="0"/>
              </a:spcBef>
            </a:pPr>
            <a:r>
              <a:rPr lang="en-US" sz="1800" smtClean="0">
                <a:latin typeface="Arial" charset="0"/>
                <a:cs typeface="Arial" charset="0"/>
              </a:rPr>
              <a:t>Clothes Washer/Dryer</a:t>
            </a:r>
          </a:p>
          <a:p>
            <a:pPr lvl="1">
              <a:spcBef>
                <a:spcPct val="0"/>
              </a:spcBef>
            </a:pPr>
            <a:r>
              <a:rPr lang="en-US" sz="1800" smtClean="0">
                <a:latin typeface="Arial" charset="0"/>
                <a:cs typeface="Arial" charset="0"/>
              </a:rPr>
              <a:t>Microwave Oven</a:t>
            </a:r>
          </a:p>
          <a:p>
            <a:pPr lvl="1">
              <a:spcBef>
                <a:spcPct val="0"/>
              </a:spcBef>
            </a:pPr>
            <a:r>
              <a:rPr lang="en-US" sz="1800" smtClean="0">
                <a:latin typeface="Arial" charset="0"/>
                <a:cs typeface="Arial" charset="0"/>
              </a:rPr>
              <a:t>Range Hood</a:t>
            </a:r>
          </a:p>
          <a:p>
            <a:pPr lvl="1">
              <a:spcBef>
                <a:spcPct val="0"/>
              </a:spcBef>
            </a:pPr>
            <a:r>
              <a:rPr lang="en-US" sz="1800" smtClean="0">
                <a:latin typeface="Arial" charset="0"/>
                <a:cs typeface="Arial" charset="0"/>
              </a:rPr>
              <a:t>Refrigerator</a:t>
            </a:r>
          </a:p>
          <a:p>
            <a:pPr lvl="1">
              <a:spcBef>
                <a:spcPct val="0"/>
              </a:spcBef>
            </a:pPr>
            <a:r>
              <a:rPr lang="en-US" sz="1800" smtClean="0">
                <a:latin typeface="Arial" charset="0"/>
                <a:cs typeface="Arial" charset="0"/>
              </a:rPr>
              <a:t>Dishwasher</a:t>
            </a:r>
          </a:p>
          <a:p>
            <a:pPr>
              <a:spcBef>
                <a:spcPct val="0"/>
              </a:spcBef>
              <a:buClr>
                <a:srgbClr val="7F7F7F"/>
              </a:buClr>
              <a:buFont typeface="Wingdings" pitchFamily="2" charset="2"/>
              <a:buChar char="§"/>
            </a:pPr>
            <a:r>
              <a:rPr lang="en-US" sz="2400" smtClean="0">
                <a:latin typeface="Arial" charset="0"/>
                <a:cs typeface="Arial" charset="0"/>
              </a:rPr>
              <a:t>Selection Criteria</a:t>
            </a:r>
          </a:p>
          <a:p>
            <a:pPr lvl="1">
              <a:spcBef>
                <a:spcPct val="0"/>
              </a:spcBef>
              <a:buClr>
                <a:srgbClr val="7F7F7F"/>
              </a:buClr>
              <a:buFont typeface="Wingdings" pitchFamily="2" charset="2"/>
              <a:buChar char="§"/>
            </a:pPr>
            <a:r>
              <a:rPr lang="en-US" sz="2000" smtClean="0">
                <a:latin typeface="Arial" charset="0"/>
                <a:cs typeface="Arial" charset="0"/>
              </a:rPr>
              <a:t>Energy efficiency</a:t>
            </a:r>
          </a:p>
          <a:p>
            <a:pPr lvl="2">
              <a:spcBef>
                <a:spcPct val="0"/>
              </a:spcBef>
              <a:buClr>
                <a:srgbClr val="7F7F7F"/>
              </a:buClr>
              <a:buFont typeface="Wingdings" pitchFamily="2" charset="2"/>
              <a:buChar char="§"/>
            </a:pPr>
            <a:r>
              <a:rPr lang="en-US" sz="1800" smtClean="0">
                <a:latin typeface="Arial" charset="0"/>
                <a:cs typeface="Arial" charset="0"/>
              </a:rPr>
              <a:t>Energy Star, CEE Tier rating</a:t>
            </a:r>
          </a:p>
          <a:p>
            <a:pPr lvl="2">
              <a:spcBef>
                <a:spcPct val="0"/>
              </a:spcBef>
              <a:buClr>
                <a:srgbClr val="7F7F7F"/>
              </a:buClr>
              <a:buFont typeface="Wingdings" pitchFamily="2" charset="2"/>
              <a:buChar char="§"/>
            </a:pPr>
            <a:r>
              <a:rPr lang="en-US" sz="1800" smtClean="0">
                <a:latin typeface="Arial" charset="0"/>
                <a:cs typeface="Arial" charset="0"/>
              </a:rPr>
              <a:t>Low standby power consumption</a:t>
            </a:r>
          </a:p>
          <a:p>
            <a:pPr lvl="1">
              <a:spcBef>
                <a:spcPct val="0"/>
              </a:spcBef>
              <a:buClr>
                <a:srgbClr val="7F7F7F"/>
              </a:buClr>
              <a:buFont typeface="Wingdings" pitchFamily="2" charset="2"/>
              <a:buChar char="§"/>
            </a:pPr>
            <a:r>
              <a:rPr lang="en-US" sz="2000" smtClean="0">
                <a:latin typeface="Arial" charset="0"/>
                <a:cs typeface="Arial" charset="0"/>
              </a:rPr>
              <a:t>Smart-Grid compatibility</a:t>
            </a:r>
          </a:p>
          <a:p>
            <a:pPr>
              <a:spcBef>
                <a:spcPct val="0"/>
              </a:spcBef>
            </a:pPr>
            <a:endParaRPr lang="en-US" sz="1800" smtClean="0">
              <a:latin typeface="Arial" charset="0"/>
              <a:cs typeface="Arial" charset="0"/>
            </a:endParaRPr>
          </a:p>
        </p:txBody>
      </p:sp>
      <p:sp>
        <p:nvSpPr>
          <p:cNvPr id="49155" name="TextBox 24"/>
          <p:cNvSpPr txBox="1">
            <a:spLocks noChangeArrowheads="1"/>
          </p:cNvSpPr>
          <p:nvPr/>
        </p:nvSpPr>
        <p:spPr bwMode="auto">
          <a:xfrm>
            <a:off x="5715000" y="5562600"/>
            <a:ext cx="3124200" cy="261938"/>
          </a:xfrm>
          <a:prstGeom prst="rect">
            <a:avLst/>
          </a:prstGeom>
          <a:noFill/>
          <a:ln w="9525">
            <a:noFill/>
            <a:miter lim="800000"/>
            <a:headEnd/>
            <a:tailEnd/>
          </a:ln>
        </p:spPr>
        <p:txBody>
          <a:bodyPr>
            <a:spAutoFit/>
          </a:bodyPr>
          <a:lstStyle/>
          <a:p>
            <a:r>
              <a:rPr lang="en-US" sz="1100" i="1"/>
              <a:t>W</a:t>
            </a:r>
          </a:p>
        </p:txBody>
      </p:sp>
      <p:pic>
        <p:nvPicPr>
          <p:cNvPr id="49156" name="Picture 3"/>
          <p:cNvPicPr>
            <a:picLocks noChangeAspect="1" noChangeArrowheads="1"/>
          </p:cNvPicPr>
          <p:nvPr/>
        </p:nvPicPr>
        <p:blipFill>
          <a:blip r:embed="rId3"/>
          <a:srcRect t="1781" r="15208" b="2077"/>
          <a:stretch>
            <a:fillRect/>
          </a:stretch>
        </p:blipFill>
        <p:spPr bwMode="auto">
          <a:xfrm>
            <a:off x="4953000" y="990600"/>
            <a:ext cx="3505200" cy="46164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2226" name="Content Placeholder 22"/>
          <p:cNvSpPr>
            <a:spLocks noGrp="1"/>
          </p:cNvSpPr>
          <p:nvPr>
            <p:ph sz="half" idx="4294967295"/>
          </p:nvPr>
        </p:nvSpPr>
        <p:spPr>
          <a:xfrm>
            <a:off x="0" y="1066800"/>
            <a:ext cx="7620000" cy="1981200"/>
          </a:xfrm>
        </p:spPr>
        <p:txBody>
          <a:bodyPr/>
          <a:lstStyle/>
          <a:p>
            <a:pPr>
              <a:buClr>
                <a:srgbClr val="7F7F7F"/>
              </a:buClr>
              <a:buFont typeface="Wingdings" pitchFamily="2" charset="2"/>
              <a:buChar char="§"/>
            </a:pPr>
            <a:r>
              <a:rPr lang="en-US" sz="2400" smtClean="0">
                <a:solidFill>
                  <a:srgbClr val="9CB7F2"/>
                </a:solidFill>
                <a:latin typeface="Arial" charset="0"/>
                <a:cs typeface="Arial" charset="0"/>
              </a:rPr>
              <a:t>Simulation Results – Electricity Consumption</a:t>
            </a:r>
          </a:p>
          <a:p>
            <a:pPr lvl="1">
              <a:buClr>
                <a:srgbClr val="7F7F7F"/>
              </a:buClr>
              <a:buFont typeface="Wingdings" pitchFamily="2" charset="2"/>
              <a:buChar char="§"/>
            </a:pPr>
            <a:r>
              <a:rPr lang="en-US" sz="1800" smtClean="0">
                <a:latin typeface="Arial" charset="0"/>
                <a:cs typeface="Arial" charset="0"/>
              </a:rPr>
              <a:t>Total – 12,106 kWh</a:t>
            </a:r>
          </a:p>
          <a:p>
            <a:pPr lvl="1">
              <a:buClr>
                <a:srgbClr val="7F7F7F"/>
              </a:buClr>
              <a:buFont typeface="Wingdings" pitchFamily="2" charset="2"/>
              <a:buChar char="§"/>
            </a:pPr>
            <a:r>
              <a:rPr lang="en-US" sz="1800" smtClean="0">
                <a:latin typeface="Arial" charset="0"/>
                <a:cs typeface="Arial" charset="0"/>
              </a:rPr>
              <a:t>HVAC and DHW – 34%</a:t>
            </a:r>
          </a:p>
          <a:p>
            <a:pPr lvl="1">
              <a:buClr>
                <a:srgbClr val="7F7F7F"/>
              </a:buClr>
              <a:buFont typeface="Wingdings" pitchFamily="2" charset="2"/>
              <a:buChar char="§"/>
            </a:pPr>
            <a:r>
              <a:rPr lang="en-US" sz="1800" smtClean="0">
                <a:latin typeface="Arial" charset="0"/>
                <a:cs typeface="Arial" charset="0"/>
              </a:rPr>
              <a:t>Lighting – 19%</a:t>
            </a:r>
          </a:p>
          <a:p>
            <a:pPr lvl="1">
              <a:buClr>
                <a:srgbClr val="7F7F7F"/>
              </a:buClr>
              <a:buFont typeface="Wingdings" pitchFamily="2" charset="2"/>
              <a:buChar char="§"/>
            </a:pPr>
            <a:r>
              <a:rPr lang="en-US" sz="1800" smtClean="0">
                <a:latin typeface="Arial" charset="0"/>
                <a:cs typeface="Arial" charset="0"/>
              </a:rPr>
              <a:t>Appliances/Plug Loads– 47%</a:t>
            </a:r>
          </a:p>
        </p:txBody>
      </p:sp>
      <p:graphicFrame>
        <p:nvGraphicFramePr>
          <p:cNvPr id="6" name="Chart 5"/>
          <p:cNvGraphicFramePr/>
          <p:nvPr/>
        </p:nvGraphicFramePr>
        <p:xfrm>
          <a:off x="3505200" y="1524000"/>
          <a:ext cx="5486400" cy="5334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4274" name="Content Placeholder 22"/>
          <p:cNvSpPr>
            <a:spLocks noGrp="1"/>
          </p:cNvSpPr>
          <p:nvPr>
            <p:ph sz="half" idx="4294967295"/>
          </p:nvPr>
        </p:nvSpPr>
        <p:spPr>
          <a:xfrm>
            <a:off x="0" y="1066800"/>
            <a:ext cx="6096000" cy="990600"/>
          </a:xfrm>
        </p:spPr>
        <p:txBody>
          <a:bodyPr/>
          <a:lstStyle/>
          <a:p>
            <a:pPr>
              <a:buClr>
                <a:srgbClr val="7F7F7F"/>
              </a:buClr>
              <a:buFont typeface="Wingdings" pitchFamily="2" charset="2"/>
              <a:buChar char="§"/>
            </a:pPr>
            <a:r>
              <a:rPr lang="en-US" sz="2400" dirty="0" smtClean="0">
                <a:solidFill>
                  <a:srgbClr val="9CB7F2"/>
                </a:solidFill>
                <a:latin typeface="Arial" charset="0"/>
                <a:cs typeface="Arial" charset="0"/>
              </a:rPr>
              <a:t>Simulation Results – On-site Production</a:t>
            </a:r>
          </a:p>
          <a:p>
            <a:pPr lvl="1">
              <a:buClr>
                <a:srgbClr val="7F7F7F"/>
              </a:buClr>
              <a:buFont typeface="Wingdings" pitchFamily="2" charset="2"/>
              <a:buChar char="§"/>
            </a:pPr>
            <a:r>
              <a:rPr lang="en-US" sz="1800" dirty="0" smtClean="0">
                <a:latin typeface="Arial" charset="0"/>
                <a:cs typeface="Arial" charset="0"/>
              </a:rPr>
              <a:t>Solar PV Electricity Production</a:t>
            </a:r>
          </a:p>
          <a:p>
            <a:pPr lvl="2">
              <a:buClr>
                <a:srgbClr val="7F7F7F"/>
              </a:buClr>
              <a:buFont typeface="Wingdings" pitchFamily="2" charset="2"/>
              <a:buChar char="§"/>
            </a:pPr>
            <a:r>
              <a:rPr lang="en-US" sz="1600" dirty="0" smtClean="0">
                <a:latin typeface="Arial" charset="0"/>
                <a:cs typeface="Arial" charset="0"/>
              </a:rPr>
              <a:t>14,234 kWh</a:t>
            </a:r>
          </a:p>
          <a:p>
            <a:pPr lvl="2">
              <a:buClr>
                <a:srgbClr val="7F7F7F"/>
              </a:buClr>
              <a:buFont typeface="Wingdings" pitchFamily="2" charset="2"/>
              <a:buChar char="§"/>
            </a:pPr>
            <a:r>
              <a:rPr lang="en-US" sz="1600" b="1" u="sng" dirty="0" smtClean="0">
                <a:latin typeface="Arial" charset="0"/>
                <a:cs typeface="Arial" charset="0"/>
              </a:rPr>
              <a:t>118%</a:t>
            </a:r>
            <a:r>
              <a:rPr lang="en-US" sz="1600" dirty="0" smtClean="0">
                <a:latin typeface="Arial" charset="0"/>
                <a:cs typeface="Arial" charset="0"/>
              </a:rPr>
              <a:t> of Total Electricity Consumption</a:t>
            </a:r>
            <a:endParaRPr lang="en-US" sz="1800" dirty="0" smtClean="0">
              <a:latin typeface="Arial" charset="0"/>
              <a:cs typeface="Arial" charset="0"/>
            </a:endParaRPr>
          </a:p>
          <a:p>
            <a:pPr lvl="2">
              <a:buClr>
                <a:srgbClr val="7F7F7F"/>
              </a:buClr>
              <a:buFont typeface="Wingdings" pitchFamily="2" charset="2"/>
              <a:buChar char="§"/>
            </a:pPr>
            <a:endParaRPr lang="en-US" sz="1600" dirty="0" smtClean="0">
              <a:latin typeface="Arial" charset="0"/>
              <a:cs typeface="Arial" charset="0"/>
            </a:endParaRPr>
          </a:p>
        </p:txBody>
      </p:sp>
      <p:graphicFrame>
        <p:nvGraphicFramePr>
          <p:cNvPr id="4" name="Chart 3"/>
          <p:cNvGraphicFramePr/>
          <p:nvPr/>
        </p:nvGraphicFramePr>
        <p:xfrm>
          <a:off x="381000" y="3200400"/>
          <a:ext cx="8610600" cy="3429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1747" name="Picture 3" descr="C:\Documents and Settings\hunter\My Documents\NZETFRandomPicturesHF\IMG_0039.jpg"/>
          <p:cNvPicPr>
            <a:picLocks noChangeAspect="1" noChangeArrowheads="1"/>
          </p:cNvPicPr>
          <p:nvPr/>
        </p:nvPicPr>
        <p:blipFill>
          <a:blip r:embed="rId3"/>
          <a:srcRect/>
          <a:stretch>
            <a:fillRect/>
          </a:stretch>
        </p:blipFill>
        <p:spPr bwMode="auto">
          <a:xfrm>
            <a:off x="0" y="0"/>
            <a:ext cx="9144000" cy="6858000"/>
          </a:xfrm>
          <a:prstGeom prst="rect">
            <a:avLst/>
          </a:prstGeom>
          <a:noFill/>
          <a:ln w="9525">
            <a:noFill/>
            <a:miter lim="800000"/>
            <a:headEnd/>
            <a:tailEnd/>
          </a:ln>
        </p:spPr>
      </p:pic>
      <p:sp>
        <p:nvSpPr>
          <p:cNvPr id="31748" name="TextBox 6"/>
          <p:cNvSpPr txBox="1">
            <a:spLocks noChangeArrowheads="1"/>
          </p:cNvSpPr>
          <p:nvPr/>
        </p:nvSpPr>
        <p:spPr bwMode="auto">
          <a:xfrm>
            <a:off x="1189075" y="6241312"/>
            <a:ext cx="6583326" cy="369888"/>
          </a:xfrm>
          <a:prstGeom prst="rect">
            <a:avLst/>
          </a:prstGeom>
          <a:noFill/>
          <a:ln w="9525">
            <a:noFill/>
            <a:miter lim="800000"/>
            <a:headEnd/>
            <a:tailEnd/>
          </a:ln>
        </p:spPr>
        <p:txBody>
          <a:bodyPr wrap="square">
            <a:spAutoFit/>
          </a:bodyPr>
          <a:lstStyle/>
          <a:p>
            <a:r>
              <a:rPr lang="en-US" dirty="0" smtClean="0"/>
              <a:t>NZERTF </a:t>
            </a:r>
            <a:r>
              <a:rPr lang="en-US" dirty="0"/>
              <a:t>Location – </a:t>
            </a:r>
            <a:r>
              <a:rPr lang="en-US" dirty="0" smtClean="0"/>
              <a:t>Adjacent to Building 226 on NIST Campus</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8914" name="TextBox 6"/>
          <p:cNvSpPr txBox="1">
            <a:spLocks noChangeArrowheads="1"/>
          </p:cNvSpPr>
          <p:nvPr/>
        </p:nvSpPr>
        <p:spPr bwMode="auto">
          <a:xfrm>
            <a:off x="533400" y="6477000"/>
            <a:ext cx="8534400" cy="369888"/>
          </a:xfrm>
          <a:prstGeom prst="rect">
            <a:avLst/>
          </a:prstGeom>
          <a:noFill/>
          <a:ln w="9525">
            <a:noFill/>
            <a:miter lim="800000"/>
            <a:headEnd/>
            <a:tailEnd/>
          </a:ln>
        </p:spPr>
        <p:txBody>
          <a:bodyPr>
            <a:spAutoFit/>
          </a:bodyPr>
          <a:lstStyle/>
          <a:p>
            <a:r>
              <a:rPr lang="en-US"/>
              <a:t>Basement Walls Complete, Waterproofing Complete, Floor Trusses in Place </a:t>
            </a:r>
          </a:p>
        </p:txBody>
      </p:sp>
      <p:pic>
        <p:nvPicPr>
          <p:cNvPr id="38915" name="Picture 2" descr="C:\Documents and Settings\hunter\My Documents\NZETFRandomPicturesHF\IMG_0179.JPG"/>
          <p:cNvPicPr>
            <a:picLocks noChangeAspect="1" noChangeArrowheads="1"/>
          </p:cNvPicPr>
          <p:nvPr/>
        </p:nvPicPr>
        <p:blipFill>
          <a:blip r:embed="rId3"/>
          <a:srcRect/>
          <a:stretch>
            <a:fillRect/>
          </a:stretch>
        </p:blipFill>
        <p:spPr bwMode="auto">
          <a:xfrm>
            <a:off x="0" y="0"/>
            <a:ext cx="9144000" cy="6858000"/>
          </a:xfrm>
          <a:prstGeom prst="rect">
            <a:avLst/>
          </a:prstGeom>
          <a:noFill/>
          <a:ln w="9525">
            <a:noFill/>
            <a:miter lim="800000"/>
            <a:headEnd/>
            <a:tailEnd/>
          </a:ln>
        </p:spPr>
      </p:pic>
      <p:sp>
        <p:nvSpPr>
          <p:cNvPr id="38916" name="TextBox 6"/>
          <p:cNvSpPr txBox="1">
            <a:spLocks noChangeArrowheads="1"/>
          </p:cNvSpPr>
          <p:nvPr/>
        </p:nvSpPr>
        <p:spPr bwMode="auto">
          <a:xfrm>
            <a:off x="381000" y="6248400"/>
            <a:ext cx="8534400" cy="369888"/>
          </a:xfrm>
          <a:prstGeom prst="rect">
            <a:avLst/>
          </a:prstGeom>
          <a:noFill/>
          <a:ln w="9525">
            <a:noFill/>
            <a:miter lim="800000"/>
            <a:headEnd/>
            <a:tailEnd/>
          </a:ln>
        </p:spPr>
        <p:txBody>
          <a:bodyPr>
            <a:spAutoFit/>
          </a:bodyPr>
          <a:lstStyle/>
          <a:p>
            <a:pPr algn="ctr"/>
            <a:r>
              <a:rPr lang="en-US" dirty="0"/>
              <a:t>Pouring Concrete within Basement Wall Forms </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4034" name="Picture 2" descr="C:\Documents and Settings\hunter\My Documents\My Pictures\2011_06_06\IMG_0235.JPG"/>
          <p:cNvPicPr>
            <a:picLocks noChangeAspect="1" noChangeArrowheads="1"/>
          </p:cNvPicPr>
          <p:nvPr/>
        </p:nvPicPr>
        <p:blipFill>
          <a:blip r:embed="rId3"/>
          <a:srcRect/>
          <a:stretch>
            <a:fillRect/>
          </a:stretch>
        </p:blipFill>
        <p:spPr bwMode="auto">
          <a:xfrm>
            <a:off x="0" y="0"/>
            <a:ext cx="9017000" cy="6762750"/>
          </a:xfrm>
          <a:prstGeom prst="rect">
            <a:avLst/>
          </a:prstGeom>
          <a:noFill/>
          <a:ln w="9525">
            <a:noFill/>
            <a:miter lim="800000"/>
            <a:headEnd/>
            <a:tailEnd/>
          </a:ln>
        </p:spPr>
      </p:pic>
      <p:sp>
        <p:nvSpPr>
          <p:cNvPr id="44035" name="TextBox 6"/>
          <p:cNvSpPr txBox="1">
            <a:spLocks noChangeArrowheads="1"/>
          </p:cNvSpPr>
          <p:nvPr/>
        </p:nvSpPr>
        <p:spPr bwMode="auto">
          <a:xfrm>
            <a:off x="533400" y="6477000"/>
            <a:ext cx="8534400" cy="369888"/>
          </a:xfrm>
          <a:prstGeom prst="rect">
            <a:avLst/>
          </a:prstGeom>
          <a:noFill/>
          <a:ln w="9525">
            <a:noFill/>
            <a:miter lim="800000"/>
            <a:headEnd/>
            <a:tailEnd/>
          </a:ln>
        </p:spPr>
        <p:txBody>
          <a:bodyPr>
            <a:spAutoFit/>
          </a:bodyPr>
          <a:lstStyle/>
          <a:p>
            <a:r>
              <a:rPr lang="en-US"/>
              <a:t>Basement Walls Complete, Waterproofing Complete, Floor Trusses in Place </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8130" name="Picture 2" descr="C:\Documents and Settings\hunter\My Documents\My Pictures\2011_06_16\IMG_0299.JPG"/>
          <p:cNvPicPr>
            <a:picLocks noChangeAspect="1" noChangeArrowheads="1"/>
          </p:cNvPicPr>
          <p:nvPr/>
        </p:nvPicPr>
        <p:blipFill>
          <a:blip r:embed="rId3"/>
          <a:srcRect/>
          <a:stretch>
            <a:fillRect/>
          </a:stretch>
        </p:blipFill>
        <p:spPr bwMode="auto">
          <a:xfrm>
            <a:off x="0" y="38100"/>
            <a:ext cx="9093200" cy="6819900"/>
          </a:xfrm>
          <a:prstGeom prst="rect">
            <a:avLst/>
          </a:prstGeom>
          <a:noFill/>
          <a:ln w="9525">
            <a:noFill/>
            <a:miter lim="800000"/>
            <a:headEnd/>
            <a:tailEnd/>
          </a:ln>
        </p:spPr>
      </p:pic>
      <p:sp>
        <p:nvSpPr>
          <p:cNvPr id="3" name="TextBox 6"/>
          <p:cNvSpPr txBox="1">
            <a:spLocks noChangeArrowheads="1"/>
          </p:cNvSpPr>
          <p:nvPr/>
        </p:nvSpPr>
        <p:spPr bwMode="auto">
          <a:xfrm>
            <a:off x="381000" y="6248400"/>
            <a:ext cx="8534400" cy="369888"/>
          </a:xfrm>
          <a:prstGeom prst="rect">
            <a:avLst/>
          </a:prstGeom>
          <a:noFill/>
          <a:ln w="9525">
            <a:noFill/>
            <a:miter lim="800000"/>
            <a:headEnd/>
            <a:tailEnd/>
          </a:ln>
        </p:spPr>
        <p:txBody>
          <a:bodyPr>
            <a:spAutoFit/>
          </a:bodyPr>
          <a:lstStyle/>
          <a:p>
            <a:pPr algn="ctr"/>
            <a:r>
              <a:rPr lang="en-US" dirty="0" smtClean="0"/>
              <a:t>Open Truss Framing </a:t>
            </a: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55298" name="Picture 2" descr="C:\Documents and Settings\hunter\My Documents\NZETFRandomPicturesHF\IMG_0403.JPG"/>
          <p:cNvPicPr>
            <a:picLocks noChangeAspect="1" noChangeArrowheads="1"/>
          </p:cNvPicPr>
          <p:nvPr/>
        </p:nvPicPr>
        <p:blipFill>
          <a:blip r:embed="rId3"/>
          <a:srcRect/>
          <a:stretch>
            <a:fillRect/>
          </a:stretch>
        </p:blipFill>
        <p:spPr bwMode="auto">
          <a:xfrm>
            <a:off x="0" y="0"/>
            <a:ext cx="9144000" cy="6858000"/>
          </a:xfrm>
          <a:prstGeom prst="rect">
            <a:avLst/>
          </a:prstGeom>
          <a:noFill/>
          <a:ln w="9525">
            <a:noFill/>
            <a:miter lim="800000"/>
            <a:headEnd/>
            <a:tailEnd/>
          </a:ln>
        </p:spPr>
      </p:pic>
      <p:sp>
        <p:nvSpPr>
          <p:cNvPr id="3" name="TextBox 6"/>
          <p:cNvSpPr txBox="1">
            <a:spLocks noChangeArrowheads="1"/>
          </p:cNvSpPr>
          <p:nvPr/>
        </p:nvSpPr>
        <p:spPr bwMode="auto">
          <a:xfrm>
            <a:off x="381000" y="6248400"/>
            <a:ext cx="8534400" cy="369888"/>
          </a:xfrm>
          <a:prstGeom prst="rect">
            <a:avLst/>
          </a:prstGeom>
          <a:noFill/>
          <a:ln w="9525">
            <a:noFill/>
            <a:miter lim="800000"/>
            <a:headEnd/>
            <a:tailEnd/>
          </a:ln>
        </p:spPr>
        <p:txBody>
          <a:bodyPr>
            <a:spAutoFit/>
          </a:bodyPr>
          <a:lstStyle/>
          <a:p>
            <a:pPr algn="ctr"/>
            <a:r>
              <a:rPr lang="en-US" dirty="0" smtClean="0"/>
              <a:t>Advanced Framing with 2x6 construction, 24” on center</a:t>
            </a:r>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80898" name="Picture 2" descr="C:\Documents and Settings\hunter\My Documents\NZETFRandomPicturesHF\IMG_0572.JPG"/>
          <p:cNvPicPr>
            <a:picLocks noChangeAspect="1" noChangeArrowheads="1"/>
          </p:cNvPicPr>
          <p:nvPr/>
        </p:nvPicPr>
        <p:blipFill>
          <a:blip r:embed="rId3"/>
          <a:srcRect/>
          <a:stretch>
            <a:fillRect/>
          </a:stretch>
        </p:blipFill>
        <p:spPr bwMode="auto">
          <a:xfrm>
            <a:off x="0" y="0"/>
            <a:ext cx="9144000" cy="6858000"/>
          </a:xfrm>
          <a:prstGeom prst="rect">
            <a:avLst/>
          </a:prstGeom>
          <a:noFill/>
          <a:ln w="9525">
            <a:noFill/>
            <a:miter lim="800000"/>
            <a:headEnd/>
            <a:tailEnd/>
          </a:ln>
        </p:spPr>
      </p:pic>
      <p:sp>
        <p:nvSpPr>
          <p:cNvPr id="3" name="TextBox 6"/>
          <p:cNvSpPr txBox="1">
            <a:spLocks noChangeArrowheads="1"/>
          </p:cNvSpPr>
          <p:nvPr/>
        </p:nvSpPr>
        <p:spPr bwMode="auto">
          <a:xfrm>
            <a:off x="381000" y="6248400"/>
            <a:ext cx="8534400" cy="369888"/>
          </a:xfrm>
          <a:prstGeom prst="rect">
            <a:avLst/>
          </a:prstGeom>
          <a:noFill/>
          <a:ln w="9525">
            <a:noFill/>
            <a:miter lim="800000"/>
            <a:headEnd/>
            <a:tailEnd/>
          </a:ln>
        </p:spPr>
        <p:txBody>
          <a:bodyPr>
            <a:spAutoFit/>
          </a:bodyPr>
          <a:lstStyle/>
          <a:p>
            <a:pPr algn="ctr"/>
            <a:r>
              <a:rPr lang="en-US" dirty="0" smtClean="0">
                <a:solidFill>
                  <a:schemeClr val="bg1"/>
                </a:solidFill>
              </a:rPr>
              <a:t>Attention to detail in installing weather barrier</a:t>
            </a:r>
            <a:endParaRPr lang="en-US" dirty="0">
              <a:solidFill>
                <a:schemeClr val="bg1"/>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2" descr="C:\Documents and Settings\hunter\My Documents\NZETFRandomPicturesHF\IMG_0633.JPG"/>
          <p:cNvPicPr>
            <a:picLocks noChangeAspect="1" noChangeArrowheads="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18209271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83970" name="Picture 2" descr="C:\Documents and Settings\hunter\My Documents\NZETFRandomPicturesHF\IMG_0617.JPG"/>
          <p:cNvPicPr>
            <a:picLocks noChangeAspect="1" noChangeArrowheads="1"/>
          </p:cNvPicPr>
          <p:nvPr/>
        </p:nvPicPr>
        <p:blipFill>
          <a:blip r:embed="rId3"/>
          <a:srcRect/>
          <a:stretch>
            <a:fillRect/>
          </a:stretch>
        </p:blipFill>
        <p:spPr bwMode="auto">
          <a:xfrm>
            <a:off x="0" y="0"/>
            <a:ext cx="9144000" cy="6858000"/>
          </a:xfrm>
          <a:prstGeom prst="rect">
            <a:avLst/>
          </a:prstGeom>
          <a:noFill/>
          <a:ln w="9525">
            <a:noFill/>
            <a:miter lim="800000"/>
            <a:headEnd/>
            <a:tailEnd/>
          </a:ln>
        </p:spPr>
      </p:pic>
      <p:sp>
        <p:nvSpPr>
          <p:cNvPr id="3" name="TextBox 6"/>
          <p:cNvSpPr txBox="1">
            <a:spLocks noChangeArrowheads="1"/>
          </p:cNvSpPr>
          <p:nvPr/>
        </p:nvSpPr>
        <p:spPr bwMode="auto">
          <a:xfrm>
            <a:off x="381000" y="6248400"/>
            <a:ext cx="8534400" cy="369888"/>
          </a:xfrm>
          <a:prstGeom prst="rect">
            <a:avLst/>
          </a:prstGeom>
          <a:noFill/>
          <a:ln w="9525">
            <a:noFill/>
            <a:miter lim="800000"/>
            <a:headEnd/>
            <a:tailEnd/>
          </a:ln>
        </p:spPr>
        <p:txBody>
          <a:bodyPr>
            <a:spAutoFit/>
          </a:bodyPr>
          <a:lstStyle/>
          <a:p>
            <a:pPr algn="ctr"/>
            <a:r>
              <a:rPr lang="en-US" dirty="0" smtClean="0"/>
              <a:t>Tight, continuous seal of envelope</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DDAB6967-F6C5-4278-83FF-487563C62D4D}" type="slidenum">
              <a:rPr lang="en-US" smtClean="0"/>
              <a:pPr>
                <a:defRPr/>
              </a:pPr>
              <a:t>33</a:t>
            </a:fld>
            <a:endParaRPr lang="en-US"/>
          </a:p>
        </p:txBody>
      </p:sp>
      <p:pic>
        <p:nvPicPr>
          <p:cNvPr id="98307" name="Picture 2" descr="C:\Documents and Settings\hunter\My Documents\NZETFRandomPicturesHF\IMG_0720.JPG"/>
          <p:cNvPicPr>
            <a:picLocks noChangeAspect="1" noChangeArrowheads="1"/>
          </p:cNvPicPr>
          <p:nvPr/>
        </p:nvPicPr>
        <p:blipFill>
          <a:blip r:embed="rId3"/>
          <a:srcRect/>
          <a:stretch>
            <a:fillRect/>
          </a:stretch>
        </p:blipFill>
        <p:spPr bwMode="auto">
          <a:xfrm>
            <a:off x="0" y="0"/>
            <a:ext cx="9144000" cy="6858000"/>
          </a:xfrm>
          <a:prstGeom prst="rect">
            <a:avLst/>
          </a:prstGeom>
          <a:noFill/>
          <a:ln w="9525">
            <a:noFill/>
            <a:miter lim="800000"/>
            <a:headEnd/>
            <a:tailEnd/>
          </a:ln>
        </p:spPr>
      </p:pic>
      <p:sp>
        <p:nvSpPr>
          <p:cNvPr id="4" name="TextBox 6"/>
          <p:cNvSpPr txBox="1">
            <a:spLocks noChangeArrowheads="1"/>
          </p:cNvSpPr>
          <p:nvPr/>
        </p:nvSpPr>
        <p:spPr bwMode="auto">
          <a:xfrm>
            <a:off x="381000" y="6248400"/>
            <a:ext cx="8534400" cy="369888"/>
          </a:xfrm>
          <a:prstGeom prst="rect">
            <a:avLst/>
          </a:prstGeom>
          <a:noFill/>
          <a:ln w="9525">
            <a:noFill/>
            <a:miter lim="800000"/>
            <a:headEnd/>
            <a:tailEnd/>
          </a:ln>
        </p:spPr>
        <p:txBody>
          <a:bodyPr>
            <a:spAutoFit/>
          </a:bodyPr>
          <a:lstStyle/>
          <a:p>
            <a:pPr algn="ctr"/>
            <a:r>
              <a:rPr lang="en-US" dirty="0" smtClean="0"/>
              <a:t>Installation of foam insulation on top of sheathing </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70658" name="Picture 2" descr="C:\Documents and Settings\hunter\My Documents\NZETFRandomPicturesHF\IMG_0501.JPG"/>
          <p:cNvPicPr>
            <a:picLocks noChangeAspect="1" noChangeArrowheads="1"/>
          </p:cNvPicPr>
          <p:nvPr/>
        </p:nvPicPr>
        <p:blipFill>
          <a:blip r:embed="rId3"/>
          <a:srcRect t="6000" b="7001"/>
          <a:stretch>
            <a:fillRect/>
          </a:stretch>
        </p:blipFill>
        <p:spPr bwMode="auto">
          <a:xfrm>
            <a:off x="0" y="-76200"/>
            <a:ext cx="9296400" cy="10783888"/>
          </a:xfrm>
          <a:prstGeom prst="rect">
            <a:avLst/>
          </a:prstGeom>
          <a:noFill/>
          <a:ln w="9525">
            <a:noFill/>
            <a:miter lim="800000"/>
            <a:headEnd/>
            <a:tailEnd/>
          </a:ln>
        </p:spPr>
      </p:pic>
      <p:sp>
        <p:nvSpPr>
          <p:cNvPr id="3" name="TextBox 6"/>
          <p:cNvSpPr txBox="1">
            <a:spLocks noChangeArrowheads="1"/>
          </p:cNvSpPr>
          <p:nvPr/>
        </p:nvSpPr>
        <p:spPr bwMode="auto">
          <a:xfrm>
            <a:off x="381000" y="6248400"/>
            <a:ext cx="8534400" cy="369888"/>
          </a:xfrm>
          <a:prstGeom prst="rect">
            <a:avLst/>
          </a:prstGeom>
          <a:noFill/>
          <a:ln w="9525">
            <a:noFill/>
            <a:miter lim="800000"/>
            <a:headEnd/>
            <a:tailEnd/>
          </a:ln>
        </p:spPr>
        <p:txBody>
          <a:bodyPr>
            <a:spAutoFit/>
          </a:bodyPr>
          <a:lstStyle/>
          <a:p>
            <a:pPr algn="ctr"/>
            <a:r>
              <a:rPr lang="en-US" dirty="0" smtClean="0">
                <a:solidFill>
                  <a:schemeClr val="bg1"/>
                </a:solidFill>
              </a:rPr>
              <a:t>“Slinky” geothermal loop</a:t>
            </a:r>
            <a:endParaRPr lang="en-US" dirty="0">
              <a:solidFill>
                <a:schemeClr val="bg1"/>
              </a:solidFill>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2652473" y="2301654"/>
            <a:ext cx="3860320" cy="1362075"/>
          </a:xfrm>
        </p:spPr>
        <p:txBody>
          <a:bodyPr/>
          <a:lstStyle/>
          <a:p>
            <a:r>
              <a:rPr lang="en-US" dirty="0" smtClean="0"/>
              <a:t>Questions?</a:t>
            </a:r>
            <a:br>
              <a:rPr lang="en-US" dirty="0" smtClean="0"/>
            </a:br>
            <a:r>
              <a:rPr lang="en-US" dirty="0" smtClean="0"/>
              <a:t> </a:t>
            </a:r>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4114769228"/>
      </p:ext>
    </p:extLst>
  </p:cSld>
  <p:clrMapOvr>
    <a:masterClrMapping/>
  </p:clrMapOvr>
</p:sld>
</file>

<file path=ppt/theme/theme1.xml><?xml version="1.0" encoding="utf-8"?>
<a:theme xmlns:a="http://schemas.openxmlformats.org/drawingml/2006/main" name="Office Theme">
  <a:themeElements>
    <a:clrScheme name="Custom 6">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Override>
</file>

<file path=ppt/theme/themeOverride2.xml><?xml version="1.0" encoding="utf-8"?>
<a:themeOverride xmlns:a="http://schemas.openxmlformats.org/drawingml/2006/main">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Verve.thmx</Template>
  <TotalTime>9574</TotalTime>
  <Words>4205</Words>
  <Application>Microsoft Macintosh PowerPoint</Application>
  <PresentationFormat>On-screen Show (4:3)</PresentationFormat>
  <Paragraphs>430</Paragraphs>
  <Slides>35</Slides>
  <Notes>35</Notes>
  <HiddenSlides>1</HiddenSlides>
  <MMClips>0</MMClips>
  <ScaleCrop>false</ScaleCrop>
  <HeadingPairs>
    <vt:vector size="4" baseType="variant">
      <vt:variant>
        <vt:lpstr>Design Template</vt:lpstr>
      </vt:variant>
      <vt:variant>
        <vt:i4>1</vt:i4>
      </vt:variant>
      <vt:variant>
        <vt:lpstr>Slide Titles</vt:lpstr>
      </vt:variant>
      <vt:variant>
        <vt:i4>35</vt:i4>
      </vt:variant>
    </vt:vector>
  </HeadingPairs>
  <TitlesOfParts>
    <vt:vector size="36" baseType="lpstr">
      <vt:lpstr>Office Theme</vt:lpstr>
      <vt:lpstr>Bill Healy &amp; Tania Ullah Energy and Environment Division National Institute of Standards and Technology  Science Afternoon at NIST  December 14, 2011</vt:lpstr>
      <vt:lpstr>Why Buildings’ Energy Use Is Important</vt:lpstr>
      <vt:lpstr>Fastest-Growing Energy Sector</vt:lpstr>
      <vt:lpstr>Electricity: A Dominant and Growing  Source of Building Energy</vt:lpstr>
      <vt:lpstr>Net-Zero Energy Buildings</vt:lpstr>
      <vt:lpstr>Getting to Net-Zero</vt:lpstr>
      <vt:lpstr>Load Reduction</vt:lpstr>
      <vt:lpstr>Efficient Equipment</vt:lpstr>
      <vt:lpstr>Renewables</vt:lpstr>
      <vt:lpstr>Net-Zero Energy, Residential Test Facility</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Questions?  </vt:lpstr>
    </vt:vector>
  </TitlesOfParts>
  <Company>NIST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Steve Bannon</dc:creator>
  <cp:lastModifiedBy>Mary Satterfield</cp:lastModifiedBy>
  <cp:revision>219</cp:revision>
  <cp:lastPrinted>2010-11-23T12:25:37Z</cp:lastPrinted>
  <dcterms:created xsi:type="dcterms:W3CDTF">2011-12-15T01:43:54Z</dcterms:created>
  <dcterms:modified xsi:type="dcterms:W3CDTF">2011-12-15T11:06:40Z</dcterms:modified>
</cp:coreProperties>
</file>