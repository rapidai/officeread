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2"/>
  </p:notesMasterIdLst>
  <p:sldIdLst>
    <p:sldId id="256" r:id="rId2"/>
    <p:sldId id="292" r:id="rId3"/>
    <p:sldId id="276" r:id="rId4"/>
    <p:sldId id="281" r:id="rId5"/>
    <p:sldId id="313" r:id="rId6"/>
    <p:sldId id="314" r:id="rId7"/>
    <p:sldId id="315" r:id="rId8"/>
    <p:sldId id="317" r:id="rId9"/>
    <p:sldId id="260" r:id="rId10"/>
    <p:sldId id="282" r:id="rId11"/>
    <p:sldId id="296" r:id="rId12"/>
    <p:sldId id="321" r:id="rId13"/>
    <p:sldId id="310" r:id="rId14"/>
    <p:sldId id="311" r:id="rId15"/>
    <p:sldId id="316" r:id="rId16"/>
    <p:sldId id="304" r:id="rId17"/>
    <p:sldId id="319" r:id="rId18"/>
    <p:sldId id="318" r:id="rId19"/>
    <p:sldId id="320" r:id="rId20"/>
    <p:sldId id="288" r:id="rId21"/>
    <p:sldId id="262" r:id="rId22"/>
    <p:sldId id="323" r:id="rId23"/>
    <p:sldId id="324" r:id="rId24"/>
    <p:sldId id="325" r:id="rId25"/>
    <p:sldId id="326" r:id="rId26"/>
    <p:sldId id="327" r:id="rId27"/>
    <p:sldId id="328" r:id="rId28"/>
    <p:sldId id="329" r:id="rId29"/>
    <p:sldId id="330" r:id="rId30"/>
    <p:sldId id="331" r:id="rId31"/>
    <p:sldId id="270" r:id="rId32"/>
    <p:sldId id="289" r:id="rId33"/>
    <p:sldId id="332" r:id="rId34"/>
    <p:sldId id="333" r:id="rId35"/>
    <p:sldId id="334" r:id="rId36"/>
    <p:sldId id="264" r:id="rId37"/>
    <p:sldId id="291" r:id="rId38"/>
    <p:sldId id="312" r:id="rId39"/>
    <p:sldId id="265" r:id="rId40"/>
    <p:sldId id="309"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440" y="-168"/>
      </p:cViewPr>
      <p:guideLst>
        <p:guide orient="horz" pos="2160"/>
        <p:guide pos="2880"/>
      </p:guideLst>
    </p:cSldViewPr>
  </p:slideViewPr>
  <p:notesTextViewPr>
    <p:cViewPr>
      <p:scale>
        <a:sx n="100" d="100"/>
        <a:sy n="100" d="100"/>
      </p:scale>
      <p:origin x="0" y="0"/>
    </p:cViewPr>
  </p:notesTextViewPr>
  <p:sorterViewPr>
    <p:cViewPr>
      <p:scale>
        <a:sx n="60" d="100"/>
        <a:sy n="60" d="100"/>
      </p:scale>
      <p:origin x="0" y="2174"/>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B39EFB-426D-4FA5-8DA1-69CABDFA1770}" type="datetimeFigureOut">
              <a:rPr lang="en-US" smtClean="0"/>
              <a:pPr/>
              <a:t>6/13/2012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545498-E306-4EED-87B8-9F4B5A752CC4}"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TextEdit="1"/>
          </p:cNvSpPr>
          <p:nvPr>
            <p:ph type="sldImg"/>
          </p:nvPr>
        </p:nvSpPr>
        <p:spPr bwMode="auto">
          <a:noFill/>
          <a:ln>
            <a:solidFill>
              <a:srgbClr val="000000"/>
            </a:solidFill>
            <a:miter lim="800000"/>
            <a:headEnd/>
            <a:tailEnd/>
          </a:ln>
        </p:spPr>
      </p:sp>
      <p:sp>
        <p:nvSpPr>
          <p:cNvPr id="110595"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TextEdit="1"/>
          </p:cNvSpPr>
          <p:nvPr>
            <p:ph type="sldImg"/>
          </p:nvPr>
        </p:nvSpPr>
        <p:spPr bwMode="auto">
          <a:noFill/>
          <a:ln>
            <a:solidFill>
              <a:srgbClr val="000000"/>
            </a:solidFill>
            <a:miter lim="800000"/>
            <a:headEnd/>
            <a:tailEnd/>
          </a:ln>
        </p:spPr>
      </p:sp>
      <p:sp>
        <p:nvSpPr>
          <p:cNvPr id="112643"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TextEdit="1"/>
          </p:cNvSpPr>
          <p:nvPr>
            <p:ph type="sldImg"/>
          </p:nvPr>
        </p:nvSpPr>
        <p:spPr bwMode="auto">
          <a:noFill/>
          <a:ln>
            <a:solidFill>
              <a:srgbClr val="000000"/>
            </a:solidFill>
            <a:miter lim="800000"/>
            <a:headEnd/>
            <a:tailEnd/>
          </a:ln>
        </p:spPr>
      </p:sp>
      <p:sp>
        <p:nvSpPr>
          <p:cNvPr id="87043"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TextEdit="1"/>
          </p:cNvSpPr>
          <p:nvPr>
            <p:ph type="sldImg"/>
          </p:nvPr>
        </p:nvSpPr>
        <p:spPr bwMode="auto">
          <a:noFill/>
          <a:ln>
            <a:solidFill>
              <a:srgbClr val="000000"/>
            </a:solidFill>
            <a:miter lim="800000"/>
            <a:headEnd/>
            <a:tailEnd/>
          </a:ln>
        </p:spPr>
      </p:sp>
      <p:sp>
        <p:nvSpPr>
          <p:cNvPr id="88067"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TextEdit="1"/>
          </p:cNvSpPr>
          <p:nvPr>
            <p:ph type="sldImg"/>
          </p:nvPr>
        </p:nvSpPr>
        <p:spPr bwMode="auto">
          <a:noFill/>
          <a:ln>
            <a:solidFill>
              <a:srgbClr val="000000"/>
            </a:solidFill>
            <a:miter lim="800000"/>
            <a:headEnd/>
            <a:tailEnd/>
          </a:ln>
        </p:spPr>
      </p:sp>
      <p:sp>
        <p:nvSpPr>
          <p:cNvPr id="8909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TextEdit="1"/>
          </p:cNvSpPr>
          <p:nvPr>
            <p:ph type="sldImg"/>
          </p:nvPr>
        </p:nvSpPr>
        <p:spPr bwMode="auto">
          <a:noFill/>
          <a:ln>
            <a:solidFill>
              <a:srgbClr val="000000"/>
            </a:solidFill>
            <a:miter lim="800000"/>
            <a:headEnd/>
            <a:tailEnd/>
          </a:ln>
        </p:spPr>
      </p:sp>
      <p:sp>
        <p:nvSpPr>
          <p:cNvPr id="92163"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1BF4DA2-0890-4725-9E3B-D003A247C585}" type="slidenum">
              <a:rPr lang="en-US">
                <a:cs typeface="Arial" charset="0"/>
              </a:rPr>
              <a:pPr fontAlgn="base">
                <a:spcBef>
                  <a:spcPct val="0"/>
                </a:spcBef>
                <a:spcAft>
                  <a:spcPct val="0"/>
                </a:spcAft>
              </a:pPr>
              <a:t>27</a:t>
            </a:fld>
            <a:endParaRPr lang="en-US" dirty="0">
              <a:cs typeface="Arial" charset="0"/>
            </a:endParaRPr>
          </a:p>
        </p:txBody>
      </p:sp>
      <p:sp>
        <p:nvSpPr>
          <p:cNvPr id="276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76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28600" indent="-228600">
              <a:spcBef>
                <a:spcPct val="0"/>
              </a:spcBef>
              <a:buFont typeface="Wingdings" pitchFamily="2" charset="2"/>
              <a:buNone/>
            </a:pPr>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TextEdit="1"/>
          </p:cNvSpPr>
          <p:nvPr>
            <p:ph type="sldImg"/>
          </p:nvPr>
        </p:nvSpPr>
        <p:spPr bwMode="auto">
          <a:noFill/>
          <a:ln>
            <a:solidFill>
              <a:srgbClr val="000000"/>
            </a:solidFill>
            <a:miter lim="800000"/>
            <a:headEnd/>
            <a:tailEnd/>
          </a:ln>
        </p:spPr>
      </p:sp>
      <p:sp>
        <p:nvSpPr>
          <p:cNvPr id="100355"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TextEdit="1"/>
          </p:cNvSpPr>
          <p:nvPr>
            <p:ph type="sldImg"/>
          </p:nvPr>
        </p:nvSpPr>
        <p:spPr bwMode="auto">
          <a:noFill/>
          <a:ln>
            <a:solidFill>
              <a:srgbClr val="000000"/>
            </a:solidFill>
            <a:miter lim="800000"/>
            <a:headEnd/>
            <a:tailEnd/>
          </a:ln>
        </p:spPr>
      </p:sp>
      <p:sp>
        <p:nvSpPr>
          <p:cNvPr id="101379"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TextEdit="1"/>
          </p:cNvSpPr>
          <p:nvPr>
            <p:ph type="sldImg"/>
          </p:nvPr>
        </p:nvSpPr>
        <p:spPr bwMode="auto">
          <a:noFill/>
          <a:ln>
            <a:solidFill>
              <a:srgbClr val="000000"/>
            </a:solidFill>
            <a:miter lim="800000"/>
            <a:headEnd/>
            <a:tailEnd/>
          </a:ln>
        </p:spPr>
      </p:sp>
      <p:sp>
        <p:nvSpPr>
          <p:cNvPr id="117763"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en-US" smtClean="0"/>
              <a:t>Center for Assessment.  WY Accountability Advisory Committee (6/14/12)</a:t>
            </a:r>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3454B693-B468-42A8-A04E-B0389EB9143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Footer Placeholder 4"/>
          <p:cNvSpPr>
            <a:spLocks noGrp="1"/>
          </p:cNvSpPr>
          <p:nvPr>
            <p:ph type="ftr" sz="quarter" idx="11"/>
          </p:nvPr>
        </p:nvSpPr>
        <p:spPr>
          <a:xfrm>
            <a:off x="2819400" y="6407944"/>
            <a:ext cx="5715000" cy="365125"/>
          </a:xfrm>
        </p:spPr>
        <p:txBody>
          <a:bodyPr/>
          <a:lstStyle>
            <a:extLst/>
          </a:lstStyle>
          <a:p>
            <a:r>
              <a:rPr lang="en-US" sz="1200" dirty="0" smtClean="0"/>
              <a:t>Center for Assessment.  WY Accountability Advisory Committee (6/14/12</a:t>
            </a:r>
            <a:r>
              <a:rPr lang="en-US" dirty="0" smtClean="0"/>
              <a:t>)</a:t>
            </a:r>
            <a:endParaRPr lang="en-US" dirty="0"/>
          </a:p>
        </p:txBody>
      </p:sp>
      <p:sp>
        <p:nvSpPr>
          <p:cNvPr id="6" name="Slide Number Placeholder 5"/>
          <p:cNvSpPr>
            <a:spLocks noGrp="1"/>
          </p:cNvSpPr>
          <p:nvPr>
            <p:ph type="sldNum" sz="quarter" idx="12"/>
          </p:nvPr>
        </p:nvSpPr>
        <p:spPr/>
        <p:txBody>
          <a:bodyPr/>
          <a:lstStyle>
            <a:extLst/>
          </a:lstStyle>
          <a:p>
            <a:fld id="{3454B693-B468-42A8-A04E-B0389EB91439}" type="slidenum">
              <a:rPr lang="en-US" smtClean="0"/>
              <a:pPr/>
              <a:t>‹#›</a:t>
            </a:fld>
            <a:endParaRPr lang="en-US" dirty="0"/>
          </a:p>
        </p:txBody>
      </p:sp>
      <p:sp>
        <p:nvSpPr>
          <p:cNvPr id="7" name="Title 6"/>
          <p:cNvSpPr>
            <a:spLocks noGrp="1"/>
          </p:cNvSpPr>
          <p:nvPr>
            <p:ph type="title"/>
          </p:nvPr>
        </p:nvSpPr>
        <p:spPr/>
        <p:txBody>
          <a:bodyPr rtlCol="0"/>
          <a:lstStyle>
            <a:lvl1pPr>
              <a:defRPr>
                <a:effectLst/>
              </a:defRPr>
            </a:lvl1pPr>
            <a:extLst/>
          </a:lstStyle>
          <a:p>
            <a:r>
              <a:rPr kumimoji="0" lang="en-US" dirty="0" smtClean="0"/>
              <a:t>Click to edit Master title style</a:t>
            </a:r>
            <a:endParaRPr kumimoji="0" lang="en-US" dirty="0"/>
          </a:p>
        </p:txBody>
      </p:sp>
      <p:pic>
        <p:nvPicPr>
          <p:cNvPr id="8" name="Picture 11" descr="Web Logo 2"/>
          <p:cNvPicPr>
            <a:picLocks noChangeAspect="1" noChangeArrowheads="1"/>
          </p:cNvPicPr>
          <p:nvPr userDrawn="1"/>
        </p:nvPicPr>
        <p:blipFill>
          <a:blip r:embed="rId2" cstate="print"/>
          <a:srcRect/>
          <a:stretch>
            <a:fillRect/>
          </a:stretch>
        </p:blipFill>
        <p:spPr bwMode="auto">
          <a:xfrm>
            <a:off x="152400" y="6096000"/>
            <a:ext cx="685800" cy="652463"/>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r>
              <a:rPr lang="en-US" smtClean="0"/>
              <a:t>Center for Assessment.  WY Accountability Advisory Committee (6/14/12)</a:t>
            </a:r>
            <a:endParaRPr lang="en-US" dirty="0"/>
          </a:p>
        </p:txBody>
      </p:sp>
      <p:sp>
        <p:nvSpPr>
          <p:cNvPr id="6" name="Slide Number Placeholder 5"/>
          <p:cNvSpPr>
            <a:spLocks noGrp="1"/>
          </p:cNvSpPr>
          <p:nvPr>
            <p:ph type="sldNum" sz="quarter" idx="12"/>
          </p:nvPr>
        </p:nvSpPr>
        <p:spPr/>
        <p:txBody>
          <a:bodyPr/>
          <a:lstStyle>
            <a:extLst/>
          </a:lstStyle>
          <a:p>
            <a:fld id="{3454B693-B468-42A8-A04E-B0389EB91439}"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r>
              <a:rPr lang="en-US" smtClean="0"/>
              <a:t>Center for Assessment.  WY Accountability Advisory Committee (6/14/12)</a:t>
            </a:r>
            <a:endParaRPr lang="en-US" dirty="0"/>
          </a:p>
        </p:txBody>
      </p:sp>
      <p:sp>
        <p:nvSpPr>
          <p:cNvPr id="7" name="Slide Number Placeholder 6"/>
          <p:cNvSpPr>
            <a:spLocks noGrp="1"/>
          </p:cNvSpPr>
          <p:nvPr>
            <p:ph type="sldNum" sz="quarter" idx="12"/>
          </p:nvPr>
        </p:nvSpPr>
        <p:spPr/>
        <p:txBody>
          <a:bodyPr/>
          <a:lstStyle>
            <a:extLst/>
          </a:lstStyle>
          <a:p>
            <a:fld id="{3454B693-B468-42A8-A04E-B0389EB91439}"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dirty="0"/>
          </a:p>
        </p:txBody>
      </p:sp>
      <p:sp>
        <p:nvSpPr>
          <p:cNvPr id="8" name="Footer Placeholder 7"/>
          <p:cNvSpPr>
            <a:spLocks noGrp="1"/>
          </p:cNvSpPr>
          <p:nvPr>
            <p:ph type="ftr" sz="quarter" idx="11"/>
          </p:nvPr>
        </p:nvSpPr>
        <p:spPr/>
        <p:txBody>
          <a:bodyPr/>
          <a:lstStyle>
            <a:extLst/>
          </a:lstStyle>
          <a:p>
            <a:r>
              <a:rPr lang="en-US" smtClean="0"/>
              <a:t>Center for Assessment.  WY Accountability Advisory Committee (6/14/12)</a:t>
            </a:r>
            <a:endParaRPr lang="en-US" dirty="0"/>
          </a:p>
        </p:txBody>
      </p:sp>
      <p:sp>
        <p:nvSpPr>
          <p:cNvPr id="9" name="Slide Number Placeholder 8"/>
          <p:cNvSpPr>
            <a:spLocks noGrp="1"/>
          </p:cNvSpPr>
          <p:nvPr>
            <p:ph type="sldNum" sz="quarter" idx="12"/>
          </p:nvPr>
        </p:nvSpPr>
        <p:spPr/>
        <p:txBody>
          <a:bodyPr/>
          <a:lstStyle>
            <a:extLst/>
          </a:lstStyle>
          <a:p>
            <a:fld id="{3454B693-B468-42A8-A04E-B0389EB9143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2667000" y="6324600"/>
            <a:ext cx="5943600" cy="365125"/>
          </a:xfrm>
        </p:spPr>
        <p:txBody>
          <a:bodyPr/>
          <a:lstStyle>
            <a:extLst/>
          </a:lstStyle>
          <a:p>
            <a:r>
              <a:rPr lang="en-US" sz="1200" dirty="0" smtClean="0"/>
              <a:t>Center for Assessment.  WY Accountability Advisory Committee (6/14/12</a:t>
            </a:r>
            <a:r>
              <a:rPr lang="en-US" dirty="0" smtClean="0"/>
              <a:t>)</a:t>
            </a:r>
            <a:endParaRPr lang="en-US" dirty="0"/>
          </a:p>
        </p:txBody>
      </p:sp>
      <p:sp>
        <p:nvSpPr>
          <p:cNvPr id="5" name="Slide Number Placeholder 4"/>
          <p:cNvSpPr>
            <a:spLocks noGrp="1"/>
          </p:cNvSpPr>
          <p:nvPr>
            <p:ph type="sldNum" sz="quarter" idx="12"/>
          </p:nvPr>
        </p:nvSpPr>
        <p:spPr/>
        <p:txBody>
          <a:bodyPr/>
          <a:lstStyle>
            <a:extLst/>
          </a:lstStyle>
          <a:p>
            <a:fld id="{3454B693-B468-42A8-A04E-B0389EB91439}"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pic>
        <p:nvPicPr>
          <p:cNvPr id="7" name="Picture 11" descr="Web Logo 2"/>
          <p:cNvPicPr>
            <a:picLocks noChangeAspect="1" noChangeArrowheads="1"/>
          </p:cNvPicPr>
          <p:nvPr userDrawn="1"/>
        </p:nvPicPr>
        <p:blipFill>
          <a:blip r:embed="rId2" cstate="print"/>
          <a:srcRect/>
          <a:stretch>
            <a:fillRect/>
          </a:stretch>
        </p:blipFill>
        <p:spPr bwMode="auto">
          <a:xfrm>
            <a:off x="152400" y="6096000"/>
            <a:ext cx="685800" cy="652463"/>
          </a:xfrm>
          <a:prstGeom prst="rect">
            <a:avLst/>
          </a:prstGeom>
          <a:noFill/>
          <a:ln w="9525">
            <a:noFill/>
            <a:miter lim="800000"/>
            <a:headEnd/>
            <a:tailEnd/>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US" dirty="0"/>
          </a:p>
        </p:txBody>
      </p:sp>
      <p:sp>
        <p:nvSpPr>
          <p:cNvPr id="3" name="Footer Placeholder 2"/>
          <p:cNvSpPr>
            <a:spLocks noGrp="1"/>
          </p:cNvSpPr>
          <p:nvPr>
            <p:ph type="ftr" sz="quarter" idx="11"/>
          </p:nvPr>
        </p:nvSpPr>
        <p:spPr/>
        <p:txBody>
          <a:bodyPr/>
          <a:lstStyle>
            <a:extLst/>
          </a:lstStyle>
          <a:p>
            <a:r>
              <a:rPr lang="en-US"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extLst/>
          </a:lstStyle>
          <a:p>
            <a:fld id="{3454B693-B468-42A8-A04E-B0389EB9143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r>
              <a:rPr lang="en-US" smtClean="0"/>
              <a:t>Center for Assessment.  WY Accountability Advisory Committee (6/14/12)</a:t>
            </a:r>
            <a:endParaRPr lang="en-US" dirty="0"/>
          </a:p>
        </p:txBody>
      </p:sp>
      <p:sp>
        <p:nvSpPr>
          <p:cNvPr id="7" name="Slide Number Placeholder 6"/>
          <p:cNvSpPr>
            <a:spLocks noGrp="1"/>
          </p:cNvSpPr>
          <p:nvPr>
            <p:ph type="sldNum" sz="quarter" idx="12"/>
          </p:nvPr>
        </p:nvSpPr>
        <p:spPr/>
        <p:txBody>
          <a:bodyPr/>
          <a:lstStyle>
            <a:extLst/>
          </a:lstStyle>
          <a:p>
            <a:fld id="{3454B693-B468-42A8-A04E-B0389EB9143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r>
              <a:rPr lang="en-US" smtClean="0"/>
              <a:t>Center for Assessment.  WY Accountability Advisory Committee (6/14/12)</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3454B693-B468-42A8-A04E-B0389EB91439}"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r>
              <a:rPr lang="en-US" smtClean="0"/>
              <a:t>Center for Assessment.  WY Accountability Advisory Committee (6/14/12)</a:t>
            </a:r>
            <a:endParaRPr lang="en-US" dirty="0"/>
          </a:p>
        </p:txBody>
      </p:sp>
      <p:sp>
        <p:nvSpPr>
          <p:cNvPr id="6" name="Slide Number Placeholder 5"/>
          <p:cNvSpPr>
            <a:spLocks noGrp="1"/>
          </p:cNvSpPr>
          <p:nvPr>
            <p:ph type="sldNum" sz="quarter" idx="12"/>
          </p:nvPr>
        </p:nvSpPr>
        <p:spPr/>
        <p:txBody>
          <a:bodyPr/>
          <a:lstStyle>
            <a:extLst/>
          </a:lstStyle>
          <a:p>
            <a:fld id="{3454B693-B468-42A8-A04E-B0389EB9143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r>
              <a:rPr lang="en-US" smtClean="0"/>
              <a:t>Center for Assessment.  WY Accountability Advisory Committee (6/14/12)</a:t>
            </a:r>
            <a:endParaRPr lang="en-US" dirty="0"/>
          </a:p>
        </p:txBody>
      </p:sp>
      <p:sp>
        <p:nvSpPr>
          <p:cNvPr id="6" name="Slide Number Placeholder 5"/>
          <p:cNvSpPr>
            <a:spLocks noGrp="1"/>
          </p:cNvSpPr>
          <p:nvPr>
            <p:ph type="sldNum" sz="quarter" idx="12"/>
          </p:nvPr>
        </p:nvSpPr>
        <p:spPr/>
        <p:txBody>
          <a:bodyPr/>
          <a:lstStyle>
            <a:extLst/>
          </a:lstStyle>
          <a:p>
            <a:fld id="{3454B693-B468-42A8-A04E-B0389EB9143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en-US" smtClean="0"/>
              <a:t>Center for Assessment.  WY Accountability Advisory Committee (6/14/12)</a:t>
            </a:r>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3454B693-B468-42A8-A04E-B0389EB9143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en.wikipedia.org/wiki/Campbell's_Law"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0"/>
            <a:ext cx="7772400" cy="2058361"/>
          </a:xfrm>
        </p:spPr>
        <p:txBody>
          <a:bodyPr>
            <a:normAutofit/>
          </a:bodyPr>
          <a:lstStyle/>
          <a:p>
            <a:pPr algn="ctr"/>
            <a:r>
              <a:rPr lang="en-US" sz="3200" dirty="0" smtClean="0"/>
              <a:t>Designing a Statewide System for Measuring Teacher and Leader Effectiveness</a:t>
            </a:r>
            <a:endParaRPr lang="en-US" sz="3200" dirty="0"/>
          </a:p>
        </p:txBody>
      </p:sp>
      <p:sp>
        <p:nvSpPr>
          <p:cNvPr id="3" name="Subtitle 2"/>
          <p:cNvSpPr>
            <a:spLocks noGrp="1"/>
          </p:cNvSpPr>
          <p:nvPr>
            <p:ph type="subTitle" idx="1"/>
          </p:nvPr>
        </p:nvSpPr>
        <p:spPr>
          <a:xfrm>
            <a:off x="685800" y="3124200"/>
            <a:ext cx="7772400" cy="2037904"/>
          </a:xfrm>
        </p:spPr>
        <p:txBody>
          <a:bodyPr>
            <a:normAutofit fontScale="92500"/>
          </a:bodyPr>
          <a:lstStyle/>
          <a:p>
            <a:pPr algn="ctr"/>
            <a:r>
              <a:rPr lang="en-US" sz="2900" b="1" dirty="0" smtClean="0"/>
              <a:t>Wyoming Accountability Advisory Committee </a:t>
            </a:r>
          </a:p>
          <a:p>
            <a:pPr algn="ctr"/>
            <a:endParaRPr lang="en-US" sz="2000" b="1" dirty="0" smtClean="0"/>
          </a:p>
          <a:p>
            <a:pPr algn="ctr"/>
            <a:r>
              <a:rPr lang="en-US" sz="2800" b="1" dirty="0" smtClean="0"/>
              <a:t>Scott Marion &amp; Chris Domaleski</a:t>
            </a:r>
          </a:p>
          <a:p>
            <a:pPr algn="ctr"/>
            <a:r>
              <a:rPr lang="en-US" sz="2000" b="1" dirty="0" smtClean="0"/>
              <a:t>Center for Assessment</a:t>
            </a:r>
          </a:p>
          <a:p>
            <a:pPr algn="ctr"/>
            <a:r>
              <a:rPr lang="en-US" sz="2000" b="1" dirty="0" smtClean="0"/>
              <a:t>June 14, 2012</a:t>
            </a:r>
            <a:endParaRPr lang="en-US" sz="2000" dirty="0" smtClean="0"/>
          </a:p>
          <a:p>
            <a:pPr algn="ctr"/>
            <a:endParaRPr lang="en-US" sz="1600" dirty="0" smtClean="0"/>
          </a:p>
          <a:p>
            <a:pPr algn="ctr"/>
            <a:endParaRPr lang="en-US" sz="16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257800"/>
          </a:xfrm>
        </p:spPr>
        <p:txBody>
          <a:bodyPr>
            <a:normAutofit fontScale="92500"/>
          </a:bodyPr>
          <a:lstStyle/>
          <a:p>
            <a:r>
              <a:rPr lang="en-US" dirty="0" smtClean="0"/>
              <a:t>Some background</a:t>
            </a:r>
          </a:p>
          <a:p>
            <a:r>
              <a:rPr lang="en-US" dirty="0" smtClean="0"/>
              <a:t>Outline key decisions for creating educator evaluation systems</a:t>
            </a:r>
          </a:p>
          <a:p>
            <a:r>
              <a:rPr lang="en-US" dirty="0" smtClean="0"/>
              <a:t>Our purpose today is to highlight some of the key decisions we will need to make through the interim</a:t>
            </a:r>
          </a:p>
          <a:p>
            <a:r>
              <a:rPr lang="en-US" dirty="0" smtClean="0"/>
              <a:t>We’ll be asking a lot more questions than providing answers, but we will need to answer these questions in order to move forward</a:t>
            </a:r>
            <a:r>
              <a:rPr lang="en-US" dirty="0" smtClean="0"/>
              <a:t>…</a:t>
            </a:r>
          </a:p>
          <a:p>
            <a:r>
              <a:rPr lang="en-US" i="1" u="sng" dirty="0" smtClean="0"/>
              <a:t>A process note</a:t>
            </a:r>
            <a:r>
              <a:rPr lang="en-US" i="1" dirty="0" smtClean="0"/>
              <a:t>: </a:t>
            </a:r>
            <a:r>
              <a:rPr lang="en-US" i="1" dirty="0" smtClean="0"/>
              <a:t>Given the number of people on the WEBEX/call, </a:t>
            </a:r>
            <a:r>
              <a:rPr lang="en-US" i="1" dirty="0" smtClean="0"/>
              <a:t>I will pause at specific places in the presentation to respond to questions.  </a:t>
            </a:r>
            <a:endParaRPr lang="en-US" i="1" dirty="0" smtClean="0"/>
          </a:p>
        </p:txBody>
      </p:sp>
      <p:sp>
        <p:nvSpPr>
          <p:cNvPr id="3" name="Slide Number Placeholder 2"/>
          <p:cNvSpPr>
            <a:spLocks noGrp="1"/>
          </p:cNvSpPr>
          <p:nvPr>
            <p:ph type="sldNum" sz="quarter" idx="12"/>
          </p:nvPr>
        </p:nvSpPr>
        <p:spPr/>
        <p:txBody>
          <a:bodyPr/>
          <a:lstStyle/>
          <a:p>
            <a:fld id="{3454B693-B468-42A8-A04E-B0389EB91439}" type="slidenum">
              <a:rPr lang="en-US" smtClean="0"/>
              <a:pPr/>
              <a:t>2</a:t>
            </a:fld>
            <a:endParaRPr lang="en-US" dirty="0"/>
          </a:p>
        </p:txBody>
      </p:sp>
      <p:sp>
        <p:nvSpPr>
          <p:cNvPr id="4" name="Title 3"/>
          <p:cNvSpPr>
            <a:spLocks noGrp="1"/>
          </p:cNvSpPr>
          <p:nvPr>
            <p:ph type="title"/>
          </p:nvPr>
        </p:nvSpPr>
        <p:spPr>
          <a:xfrm>
            <a:off x="457200" y="152400"/>
            <a:ext cx="8229600" cy="685800"/>
          </a:xfrm>
        </p:spPr>
        <p:txBody>
          <a:bodyPr>
            <a:normAutofit fontScale="90000"/>
          </a:bodyPr>
          <a:lstStyle/>
          <a:p>
            <a:r>
              <a:rPr lang="en-US" dirty="0" smtClean="0">
                <a:effectLst/>
              </a:rPr>
              <a:t>Overview of presentation…</a:t>
            </a:r>
            <a:endParaRPr lang="en-US" dirty="0">
              <a:effectLst/>
            </a:endParaRPr>
          </a:p>
        </p:txBody>
      </p:sp>
      <p:sp>
        <p:nvSpPr>
          <p:cNvPr id="5" name="Footer Placeholder 4"/>
          <p:cNvSpPr>
            <a:spLocks noGrp="1"/>
          </p:cNvSpPr>
          <p:nvPr>
            <p:ph type="ftr" sz="quarter" idx="11"/>
          </p:nvPr>
        </p:nvSpPr>
        <p:spPr/>
        <p:txBody>
          <a:bodyPr/>
          <a:lstStyle/>
          <a:p>
            <a:r>
              <a:rPr lang="en-US" dirty="0" smtClean="0"/>
              <a:t>Center for Assessment.  WY Accountability Advisory Committee (6/14/12)</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90600"/>
            <a:ext cx="8305800" cy="5181600"/>
          </a:xfrm>
        </p:spPr>
        <p:txBody>
          <a:bodyPr>
            <a:normAutofit fontScale="92500" lnSpcReduction="10000"/>
          </a:bodyPr>
          <a:lstStyle/>
          <a:p>
            <a:r>
              <a:rPr lang="en-US" dirty="0" smtClean="0"/>
              <a:t>Wyoming, like an increasing number of states, intends to revise its teacher and leader evaluation practices</a:t>
            </a:r>
          </a:p>
          <a:p>
            <a:endParaRPr lang="en-US" dirty="0" smtClean="0"/>
          </a:p>
          <a:p>
            <a:r>
              <a:rPr lang="en-US" dirty="0" smtClean="0"/>
              <a:t>Educator effectiveness will be determined “in part by student achievement”</a:t>
            </a:r>
          </a:p>
          <a:p>
            <a:endParaRPr lang="en-US" dirty="0" smtClean="0"/>
          </a:p>
          <a:p>
            <a:r>
              <a:rPr lang="en-US" dirty="0" smtClean="0"/>
              <a:t>This enterprise holds great promise, but also presents real challenges</a:t>
            </a:r>
          </a:p>
          <a:p>
            <a:endParaRPr lang="en-US" dirty="0" smtClean="0"/>
          </a:p>
          <a:p>
            <a:r>
              <a:rPr lang="en-US" dirty="0" smtClean="0"/>
              <a:t>We are fortunate to be able to build off of the work in many other states.  We are closely involved in:</a:t>
            </a:r>
          </a:p>
          <a:p>
            <a:pPr lvl="1"/>
            <a:r>
              <a:rPr lang="en-US" dirty="0" smtClean="0"/>
              <a:t>CO, RI, NH, GA</a:t>
            </a:r>
            <a:r>
              <a:rPr lang="en-US" dirty="0" smtClean="0"/>
              <a:t>, </a:t>
            </a:r>
            <a:r>
              <a:rPr lang="en-US" dirty="0" smtClean="0"/>
              <a:t>PA, UT</a:t>
            </a:r>
            <a:r>
              <a:rPr lang="en-US" dirty="0" smtClean="0"/>
              <a:t>, </a:t>
            </a:r>
            <a:r>
              <a:rPr lang="en-US" dirty="0" smtClean="0"/>
              <a:t>NYC, </a:t>
            </a:r>
            <a:r>
              <a:rPr lang="en-US" dirty="0" smtClean="0"/>
              <a:t>HI, LA</a:t>
            </a:r>
            <a:endParaRPr lang="en-US" dirty="0" smtClean="0"/>
          </a:p>
        </p:txBody>
      </p:sp>
      <p:sp>
        <p:nvSpPr>
          <p:cNvPr id="3" name="Title 2"/>
          <p:cNvSpPr>
            <a:spLocks noGrp="1"/>
          </p:cNvSpPr>
          <p:nvPr>
            <p:ph type="title"/>
          </p:nvPr>
        </p:nvSpPr>
        <p:spPr>
          <a:xfrm>
            <a:off x="457200" y="274638"/>
            <a:ext cx="8229600" cy="715962"/>
          </a:xfrm>
        </p:spPr>
        <p:txBody>
          <a:bodyPr>
            <a:normAutofit fontScale="90000"/>
          </a:bodyPr>
          <a:lstStyle/>
          <a:p>
            <a:r>
              <a:rPr lang="en-US" dirty="0" smtClean="0">
                <a:effectLst/>
              </a:rPr>
              <a:t>Introduction</a:t>
            </a:r>
            <a:endParaRPr lang="en-US" dirty="0">
              <a:effectLst/>
            </a:endParaRPr>
          </a:p>
        </p:txBody>
      </p:sp>
      <p:sp>
        <p:nvSpPr>
          <p:cNvPr id="4" name="Slide Number Placeholder 3"/>
          <p:cNvSpPr>
            <a:spLocks noGrp="1"/>
          </p:cNvSpPr>
          <p:nvPr>
            <p:ph type="sldNum" sz="quarter" idx="12"/>
          </p:nvPr>
        </p:nvSpPr>
        <p:spPr/>
        <p:txBody>
          <a:bodyPr/>
          <a:lstStyle/>
          <a:p>
            <a:fld id="{3454B693-B468-42A8-A04E-B0389EB91439}" type="slidenum">
              <a:rPr lang="en-US" smtClean="0"/>
              <a:pPr/>
              <a:t>3</a:t>
            </a:fld>
            <a:endParaRPr lang="en-US" dirty="0"/>
          </a:p>
        </p:txBody>
      </p:sp>
      <p:sp>
        <p:nvSpPr>
          <p:cNvPr id="5" name="Footer Placeholder 4"/>
          <p:cNvSpPr>
            <a:spLocks noGrp="1"/>
          </p:cNvSpPr>
          <p:nvPr>
            <p:ph type="ftr" sz="quarter" idx="11"/>
          </p:nvPr>
        </p:nvSpPr>
        <p:spPr/>
        <p:txBody>
          <a:bodyPr/>
          <a:lstStyle/>
          <a:p>
            <a:r>
              <a:rPr lang="en-US" dirty="0" smtClean="0"/>
              <a:t>Center for Assessment.  WY Accountability Advisory Committee (6/14/12)</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864291"/>
          </a:xfrm>
        </p:spPr>
        <p:txBody>
          <a:bodyPr>
            <a:normAutofit/>
          </a:bodyPr>
          <a:lstStyle/>
          <a:p>
            <a:r>
              <a:rPr lang="en-US" dirty="0" smtClean="0"/>
              <a:t>Why the interest in new forms of teacher evaluation?</a:t>
            </a:r>
          </a:p>
          <a:p>
            <a:endParaRPr lang="en-US" dirty="0" smtClean="0"/>
          </a:p>
          <a:p>
            <a:r>
              <a:rPr lang="en-US" dirty="0" smtClean="0"/>
              <a:t>Nobody </a:t>
            </a:r>
            <a:r>
              <a:rPr lang="en-US" dirty="0" smtClean="0"/>
              <a:t>doubts the critical influence of teacher quality on student achievement</a:t>
            </a:r>
          </a:p>
          <a:p>
            <a:endParaRPr lang="en-US" dirty="0" smtClean="0"/>
          </a:p>
          <a:p>
            <a:r>
              <a:rPr lang="en-US" dirty="0" smtClean="0"/>
              <a:t>Current </a:t>
            </a:r>
            <a:r>
              <a:rPr lang="en-US" dirty="0" smtClean="0"/>
              <a:t>(traditional) evaluation systems rarely identify either highly effective or ineffective teachers</a:t>
            </a:r>
          </a:p>
          <a:p>
            <a:endParaRPr lang="en-US" dirty="0" smtClean="0"/>
          </a:p>
          <a:p>
            <a:endParaRPr lang="en-US" dirty="0"/>
          </a:p>
        </p:txBody>
      </p:sp>
      <p:sp>
        <p:nvSpPr>
          <p:cNvPr id="3" name="Slide Number Placeholder 2"/>
          <p:cNvSpPr>
            <a:spLocks noGrp="1"/>
          </p:cNvSpPr>
          <p:nvPr>
            <p:ph type="sldNum" sz="quarter" idx="12"/>
          </p:nvPr>
        </p:nvSpPr>
        <p:spPr/>
        <p:txBody>
          <a:bodyPr/>
          <a:lstStyle/>
          <a:p>
            <a:fld id="{3454B693-B468-42A8-A04E-B0389EB91439}" type="slidenum">
              <a:rPr lang="en-US" smtClean="0"/>
              <a:pPr/>
              <a:t>4</a:t>
            </a:fld>
            <a:endParaRPr lang="en-US" dirty="0"/>
          </a:p>
        </p:txBody>
      </p:sp>
      <p:sp>
        <p:nvSpPr>
          <p:cNvPr id="4" name="Title 3"/>
          <p:cNvSpPr>
            <a:spLocks noGrp="1"/>
          </p:cNvSpPr>
          <p:nvPr>
            <p:ph type="title"/>
          </p:nvPr>
        </p:nvSpPr>
        <p:spPr>
          <a:xfrm>
            <a:off x="457200" y="274638"/>
            <a:ext cx="8229600" cy="868362"/>
          </a:xfrm>
        </p:spPr>
        <p:txBody>
          <a:bodyPr/>
          <a:lstStyle/>
          <a:p>
            <a:r>
              <a:rPr lang="en-US" dirty="0" smtClean="0"/>
              <a:t>Rationale</a:t>
            </a:r>
            <a:endParaRPr lang="en-US" dirty="0"/>
          </a:p>
        </p:txBody>
      </p:sp>
      <p:sp>
        <p:nvSpPr>
          <p:cNvPr id="5" name="Footer Placeholder 4"/>
          <p:cNvSpPr>
            <a:spLocks noGrp="1"/>
          </p:cNvSpPr>
          <p:nvPr>
            <p:ph type="ftr" sz="quarter" idx="11"/>
          </p:nvPr>
        </p:nvSpPr>
        <p:spPr/>
        <p:txBody>
          <a:bodyPr/>
          <a:lstStyle/>
          <a:p>
            <a:r>
              <a:rPr lang="en-US" dirty="0" smtClean="0"/>
              <a:t>Center for Assessment.  WY Accountability Advisory Committee (6/14/12)</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762000"/>
            <a:ext cx="8229600" cy="5410200"/>
          </a:xfrm>
        </p:spPr>
        <p:txBody>
          <a:bodyPr>
            <a:normAutofit lnSpcReduction="10000"/>
          </a:bodyPr>
          <a:lstStyle/>
          <a:p>
            <a:r>
              <a:rPr lang="en-US" dirty="0" smtClean="0"/>
              <a:t>From Aspen Report and our experience</a:t>
            </a:r>
            <a:r>
              <a:rPr lang="en-US" dirty="0" smtClean="0"/>
              <a:t>:</a:t>
            </a:r>
          </a:p>
          <a:p>
            <a:pPr lvl="1"/>
            <a:r>
              <a:rPr lang="en-US" dirty="0" smtClean="0"/>
              <a:t>Vision </a:t>
            </a:r>
            <a:r>
              <a:rPr lang="en-US" dirty="0" smtClean="0"/>
              <a:t>and Goals</a:t>
            </a:r>
          </a:p>
          <a:p>
            <a:pPr lvl="1"/>
            <a:r>
              <a:rPr lang="en-US" dirty="0" smtClean="0"/>
              <a:t>State-Local Roles </a:t>
            </a:r>
            <a:r>
              <a:rPr lang="en-US" dirty="0" smtClean="0"/>
              <a:t>and </a:t>
            </a:r>
            <a:r>
              <a:rPr lang="en-US" dirty="0" smtClean="0"/>
              <a:t>Responsibilities</a:t>
            </a:r>
            <a:endParaRPr lang="en-US" dirty="0" smtClean="0"/>
          </a:p>
          <a:p>
            <a:pPr lvl="1"/>
            <a:r>
              <a:rPr lang="en-US" dirty="0" smtClean="0"/>
              <a:t>Theory of Action</a:t>
            </a:r>
          </a:p>
          <a:p>
            <a:pPr lvl="1"/>
            <a:r>
              <a:rPr lang="en-US" dirty="0" smtClean="0"/>
              <a:t>General </a:t>
            </a:r>
            <a:r>
              <a:rPr lang="en-US" dirty="0" smtClean="0"/>
              <a:t>Evaluation Model</a:t>
            </a:r>
          </a:p>
          <a:p>
            <a:pPr lvl="2"/>
            <a:r>
              <a:rPr lang="en-US" dirty="0" smtClean="0"/>
              <a:t>Coherence</a:t>
            </a:r>
            <a:endParaRPr lang="en-US" dirty="0" smtClean="0"/>
          </a:p>
          <a:p>
            <a:pPr lvl="1"/>
            <a:r>
              <a:rPr lang="en-US" dirty="0" smtClean="0"/>
              <a:t>Specific Measurement Model(s)</a:t>
            </a:r>
          </a:p>
          <a:p>
            <a:pPr lvl="2"/>
            <a:r>
              <a:rPr lang="en-US" dirty="0" smtClean="0"/>
              <a:t>Attribution rules</a:t>
            </a:r>
          </a:p>
          <a:p>
            <a:pPr lvl="2"/>
            <a:r>
              <a:rPr lang="en-US" dirty="0" smtClean="0"/>
              <a:t>Combining multiple measures</a:t>
            </a:r>
            <a:endParaRPr lang="en-US" dirty="0" smtClean="0"/>
          </a:p>
          <a:p>
            <a:pPr lvl="1"/>
            <a:r>
              <a:rPr lang="en-US" dirty="0" smtClean="0"/>
              <a:t>Information Requirements</a:t>
            </a:r>
          </a:p>
          <a:p>
            <a:pPr lvl="1"/>
            <a:r>
              <a:rPr lang="en-US" dirty="0" smtClean="0"/>
              <a:t>Capacity Requirements</a:t>
            </a:r>
          </a:p>
          <a:p>
            <a:pPr lvl="1"/>
            <a:r>
              <a:rPr lang="en-US" dirty="0" smtClean="0"/>
              <a:t>Reporting &amp; Communication</a:t>
            </a:r>
          </a:p>
          <a:p>
            <a:pPr lvl="1"/>
            <a:r>
              <a:rPr lang="en-US" dirty="0" smtClean="0"/>
              <a:t>Consequences &amp; Support</a:t>
            </a:r>
          </a:p>
          <a:p>
            <a:pPr lvl="1"/>
            <a:r>
              <a:rPr lang="en-US" dirty="0" smtClean="0"/>
              <a:t>Monitoring and Evaluation</a:t>
            </a:r>
            <a:endParaRPr lang="en-US" dirty="0"/>
          </a:p>
        </p:txBody>
      </p:sp>
      <p:sp>
        <p:nvSpPr>
          <p:cNvPr id="2" name="Footer Placeholder 1"/>
          <p:cNvSpPr>
            <a:spLocks noGrp="1"/>
          </p:cNvSpPr>
          <p:nvPr>
            <p:ph type="ftr" sz="quarter" idx="11"/>
          </p:nvPr>
        </p:nvSpPr>
        <p:spPr/>
        <p:txBody>
          <a:bodyPr/>
          <a:lstStyle/>
          <a:p>
            <a:r>
              <a:rPr lang="en-US" dirty="0" smtClean="0"/>
              <a:t>Center for Assessment.  WY Accountability Advisory Committee (6/14/12)</a:t>
            </a:r>
            <a:endParaRPr lang="en-US" dirty="0"/>
          </a:p>
        </p:txBody>
      </p:sp>
      <p:sp>
        <p:nvSpPr>
          <p:cNvPr id="3" name="Slide Number Placeholder 2"/>
          <p:cNvSpPr>
            <a:spLocks noGrp="1"/>
          </p:cNvSpPr>
          <p:nvPr>
            <p:ph type="sldNum" sz="quarter" idx="12"/>
          </p:nvPr>
        </p:nvSpPr>
        <p:spPr/>
        <p:txBody>
          <a:bodyPr/>
          <a:lstStyle/>
          <a:p>
            <a:fld id="{3454B693-B468-42A8-A04E-B0389EB91439}" type="slidenum">
              <a:rPr lang="en-US" smtClean="0"/>
              <a:pPr/>
              <a:t>5</a:t>
            </a:fld>
            <a:endParaRPr lang="en-US" dirty="0"/>
          </a:p>
        </p:txBody>
      </p:sp>
      <p:sp>
        <p:nvSpPr>
          <p:cNvPr id="4" name="Title 3"/>
          <p:cNvSpPr>
            <a:spLocks noGrp="1"/>
          </p:cNvSpPr>
          <p:nvPr>
            <p:ph type="title"/>
          </p:nvPr>
        </p:nvSpPr>
        <p:spPr>
          <a:xfrm>
            <a:off x="457200" y="228600"/>
            <a:ext cx="8229600" cy="487362"/>
          </a:xfrm>
        </p:spPr>
        <p:txBody>
          <a:bodyPr>
            <a:normAutofit fontScale="90000"/>
          </a:bodyPr>
          <a:lstStyle/>
          <a:p>
            <a:r>
              <a:rPr lang="en-US" dirty="0" smtClean="0"/>
              <a:t>Key Decisions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is the vision and what are the guiding principles of the system we will design?</a:t>
            </a:r>
          </a:p>
          <a:p>
            <a:endParaRPr lang="en-US" dirty="0" smtClean="0"/>
          </a:p>
          <a:p>
            <a:r>
              <a:rPr lang="en-US" dirty="0" smtClean="0"/>
              <a:t>For </a:t>
            </a:r>
            <a:r>
              <a:rPr lang="en-US" dirty="0" smtClean="0"/>
              <a:t>example, will the system be designed to identify and “council out” low quality educators or is it designed primarily to improve the performance of the majority of educators?</a:t>
            </a:r>
            <a:endParaRPr lang="en-US" dirty="0"/>
          </a:p>
        </p:txBody>
      </p:sp>
      <p:sp>
        <p:nvSpPr>
          <p:cNvPr id="3" name="Footer Placeholder 2"/>
          <p:cNvSpPr>
            <a:spLocks noGrp="1"/>
          </p:cNvSpPr>
          <p:nvPr>
            <p:ph type="ftr" sz="quarter" idx="11"/>
          </p:nvPr>
        </p:nvSpPr>
        <p:spPr/>
        <p:txBody>
          <a:bodyPr/>
          <a:lstStyle/>
          <a:p>
            <a:r>
              <a:rPr lang="en-US" dirty="0"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6</a:t>
            </a:fld>
            <a:endParaRPr lang="en-US" dirty="0"/>
          </a:p>
        </p:txBody>
      </p:sp>
      <p:sp>
        <p:nvSpPr>
          <p:cNvPr id="5" name="Title 4"/>
          <p:cNvSpPr>
            <a:spLocks noGrp="1"/>
          </p:cNvSpPr>
          <p:nvPr>
            <p:ph type="title"/>
          </p:nvPr>
        </p:nvSpPr>
        <p:spPr/>
        <p:txBody>
          <a:bodyPr>
            <a:normAutofit/>
          </a:bodyPr>
          <a:lstStyle/>
          <a:p>
            <a:r>
              <a:rPr lang="en-US" dirty="0" smtClean="0"/>
              <a:t>Goals and key principles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685800"/>
            <a:ext cx="8686800" cy="5791200"/>
          </a:xfrm>
        </p:spPr>
        <p:txBody>
          <a:bodyPr>
            <a:noAutofit/>
          </a:bodyPr>
          <a:lstStyle/>
          <a:p>
            <a:r>
              <a:rPr lang="en-US" sz="1800" dirty="0" smtClean="0"/>
              <a:t>The primary purpose of </a:t>
            </a:r>
            <a:r>
              <a:rPr lang="en-US" sz="1800" smtClean="0"/>
              <a:t>the system </a:t>
            </a:r>
            <a:r>
              <a:rPr lang="en-US" sz="1800" dirty="0" smtClean="0"/>
              <a:t>is to maximize student learning</a:t>
            </a:r>
          </a:p>
          <a:p>
            <a:r>
              <a:rPr lang="en-US" sz="1800" dirty="0" smtClean="0"/>
              <a:t>The system is designed to maximize educator development by providing specific information, including appropriate formative information that can be used to improve teaching quality.</a:t>
            </a:r>
          </a:p>
          <a:p>
            <a:pPr lvl="0"/>
            <a:r>
              <a:rPr lang="en-US" sz="1800" dirty="0" smtClean="0"/>
              <a:t>Local instantiations of the State Model system must be designed collaboratively among teachers, leaders, and other key stakeholders such as parent and students as appropriate.  Individual educators will have input into the specific nature of their evaluation and considerable involvement into the establishment of their specific goals.</a:t>
            </a:r>
          </a:p>
          <a:p>
            <a:pPr lvl="0"/>
            <a:r>
              <a:rPr lang="en-US" sz="1800" dirty="0" smtClean="0"/>
              <a:t>The effectiveness rating of each educator shall be based on multiple measures of teaching practice and student outcomes including using multiple years of data when available, especially for measures of student learning.</a:t>
            </a:r>
          </a:p>
          <a:p>
            <a:pPr lvl="0"/>
            <a:r>
              <a:rPr lang="en-US" sz="1800" dirty="0" smtClean="0"/>
              <a:t>The Model system is designed to ensure that the framework, methods, and tools lead to a coherent system that is also coherent with the developing NH Leader Evaluation System.  </a:t>
            </a:r>
          </a:p>
          <a:p>
            <a:r>
              <a:rPr lang="en-US" sz="1800" dirty="0" smtClean="0"/>
              <a:t>The Model system shall be applied by well trained leaders and evaluation teams using the multiple sources of evidence along with professional judgment to arrive at an overall evaluation for each educator.  </a:t>
            </a:r>
            <a:endParaRPr lang="en-US" sz="1800" dirty="0"/>
          </a:p>
        </p:txBody>
      </p:sp>
      <p:sp>
        <p:nvSpPr>
          <p:cNvPr id="3" name="Footer Placeholder 2"/>
          <p:cNvSpPr>
            <a:spLocks noGrp="1"/>
          </p:cNvSpPr>
          <p:nvPr>
            <p:ph type="ftr" sz="quarter" idx="11"/>
          </p:nvPr>
        </p:nvSpPr>
        <p:spPr/>
        <p:txBody>
          <a:bodyPr/>
          <a:lstStyle/>
          <a:p>
            <a:r>
              <a:rPr lang="en-US" dirty="0"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7</a:t>
            </a:fld>
            <a:endParaRPr lang="en-US" dirty="0"/>
          </a:p>
        </p:txBody>
      </p:sp>
      <p:sp>
        <p:nvSpPr>
          <p:cNvPr id="5" name="Title 4"/>
          <p:cNvSpPr>
            <a:spLocks noGrp="1"/>
          </p:cNvSpPr>
          <p:nvPr>
            <p:ph type="title"/>
          </p:nvPr>
        </p:nvSpPr>
        <p:spPr>
          <a:xfrm>
            <a:off x="457200" y="152400"/>
            <a:ext cx="8229600" cy="381000"/>
          </a:xfrm>
        </p:spPr>
        <p:txBody>
          <a:bodyPr>
            <a:normAutofit fontScale="90000"/>
          </a:bodyPr>
          <a:lstStyle/>
          <a:p>
            <a:r>
              <a:rPr lang="en-US" sz="3600" dirty="0" smtClean="0"/>
              <a:t>Excerpt </a:t>
            </a:r>
            <a:r>
              <a:rPr lang="en-US" sz="3600" dirty="0" err="1" smtClean="0"/>
              <a:t>rom</a:t>
            </a:r>
            <a:r>
              <a:rPr lang="en-US" sz="3600" dirty="0" smtClean="0"/>
              <a:t> NH’s draft system</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normAutofit lnSpcReduction="10000"/>
          </a:bodyPr>
          <a:lstStyle/>
          <a:p>
            <a:r>
              <a:rPr lang="en-US" dirty="0" smtClean="0"/>
              <a:t>What will be the “reach” of the state in defining local systems?</a:t>
            </a:r>
          </a:p>
          <a:p>
            <a:r>
              <a:rPr lang="en-US" dirty="0" smtClean="0"/>
              <a:t>What factors must be considered in this decision?</a:t>
            </a:r>
          </a:p>
          <a:p>
            <a:pPr lvl="1"/>
            <a:r>
              <a:rPr lang="en-US" dirty="0" smtClean="0"/>
              <a:t>Comparability/portability vs. flexibility</a:t>
            </a:r>
          </a:p>
          <a:p>
            <a:pPr lvl="1"/>
            <a:r>
              <a:rPr lang="en-US" dirty="0" smtClean="0"/>
              <a:t>Support and capacity building</a:t>
            </a:r>
          </a:p>
          <a:p>
            <a:pPr lvl="1"/>
            <a:r>
              <a:rPr lang="en-US" dirty="0" smtClean="0"/>
              <a:t>Oversight and monitoring</a:t>
            </a:r>
          </a:p>
          <a:p>
            <a:pPr lvl="1"/>
            <a:r>
              <a:rPr lang="en-US" dirty="0" smtClean="0"/>
              <a:t>Required Framework, “State Model” or State-required system</a:t>
            </a:r>
          </a:p>
          <a:p>
            <a:pPr lvl="1"/>
            <a:endParaRPr lang="en-US" dirty="0" smtClean="0"/>
          </a:p>
          <a:p>
            <a:r>
              <a:rPr lang="en-US" dirty="0" smtClean="0"/>
              <a:t>We are proceeding here with the assumption that there will at least be a </a:t>
            </a:r>
            <a:r>
              <a:rPr lang="en-US" dirty="0" smtClean="0"/>
              <a:t>state required </a:t>
            </a:r>
            <a:r>
              <a:rPr lang="en-US" dirty="0" smtClean="0"/>
              <a:t>framework?</a:t>
            </a:r>
            <a:endParaRPr lang="en-US" dirty="0"/>
          </a:p>
        </p:txBody>
      </p:sp>
      <p:sp>
        <p:nvSpPr>
          <p:cNvPr id="3" name="Footer Placeholder 2"/>
          <p:cNvSpPr>
            <a:spLocks noGrp="1"/>
          </p:cNvSpPr>
          <p:nvPr>
            <p:ph type="ftr" sz="quarter" idx="11"/>
          </p:nvPr>
        </p:nvSpPr>
        <p:spPr/>
        <p:txBody>
          <a:bodyPr/>
          <a:lstStyle/>
          <a:p>
            <a:r>
              <a:rPr lang="en-US"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8</a:t>
            </a:fld>
            <a:endParaRPr lang="en-US" dirty="0"/>
          </a:p>
        </p:txBody>
      </p:sp>
      <p:sp>
        <p:nvSpPr>
          <p:cNvPr id="5" name="Title 4"/>
          <p:cNvSpPr>
            <a:spLocks noGrp="1"/>
          </p:cNvSpPr>
          <p:nvPr>
            <p:ph type="title"/>
          </p:nvPr>
        </p:nvSpPr>
        <p:spPr>
          <a:xfrm>
            <a:off x="457200" y="274638"/>
            <a:ext cx="8229600" cy="792162"/>
          </a:xfrm>
        </p:spPr>
        <p:txBody>
          <a:bodyPr/>
          <a:lstStyle/>
          <a:p>
            <a:r>
              <a:rPr lang="en-US" dirty="0" smtClean="0"/>
              <a:t>Major policy decisions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181600"/>
          </a:xfrm>
        </p:spPr>
        <p:txBody>
          <a:bodyPr>
            <a:normAutofit fontScale="92500"/>
          </a:bodyPr>
          <a:lstStyle/>
          <a:p>
            <a:r>
              <a:rPr lang="en-US" dirty="0" smtClean="0"/>
              <a:t>Grounds our design</a:t>
            </a:r>
          </a:p>
          <a:p>
            <a:r>
              <a:rPr lang="en-US" dirty="0" smtClean="0"/>
              <a:t>Clarifies the assumptions, purposes, and goals of the system</a:t>
            </a:r>
          </a:p>
          <a:p>
            <a:r>
              <a:rPr lang="en-US" dirty="0" smtClean="0"/>
              <a:t>Specifies the various indicators and mechanisms by which the system will fulfill its purposes (and minimize unintended negative consequences)</a:t>
            </a:r>
          </a:p>
          <a:p>
            <a:r>
              <a:rPr lang="en-US" dirty="0" smtClean="0"/>
              <a:t>Serves as a framework for evaluation</a:t>
            </a:r>
          </a:p>
          <a:p>
            <a:endParaRPr lang="en-US" dirty="0" smtClean="0"/>
          </a:p>
          <a:p>
            <a:r>
              <a:rPr lang="en-US" dirty="0" smtClean="0"/>
              <a:t>The </a:t>
            </a:r>
            <a:r>
              <a:rPr lang="en-US" dirty="0" err="1" smtClean="0"/>
              <a:t>ToA</a:t>
            </a:r>
            <a:r>
              <a:rPr lang="en-US" dirty="0" smtClean="0"/>
              <a:t> on the following slide is oversimplified and somewhat naïve, but it is what is driving much of the policy.  We’ll be working with more complex and honest </a:t>
            </a:r>
            <a:r>
              <a:rPr lang="en-US" dirty="0" err="1" smtClean="0"/>
              <a:t>ToAs</a:t>
            </a:r>
            <a:r>
              <a:rPr lang="en-US" dirty="0" smtClean="0"/>
              <a:t> as we do our work.</a:t>
            </a:r>
          </a:p>
        </p:txBody>
      </p:sp>
      <p:sp>
        <p:nvSpPr>
          <p:cNvPr id="2" name="Title 1"/>
          <p:cNvSpPr>
            <a:spLocks noGrp="1"/>
          </p:cNvSpPr>
          <p:nvPr>
            <p:ph type="title"/>
          </p:nvPr>
        </p:nvSpPr>
        <p:spPr>
          <a:xfrm>
            <a:off x="457200" y="152400"/>
            <a:ext cx="8229600" cy="685800"/>
          </a:xfrm>
        </p:spPr>
        <p:txBody>
          <a:bodyPr>
            <a:normAutofit fontScale="90000"/>
          </a:bodyPr>
          <a:lstStyle/>
          <a:p>
            <a:r>
              <a:rPr lang="en-US" dirty="0" smtClean="0"/>
              <a:t>A Theory of Action… </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9</a:t>
            </a:fld>
            <a:endParaRPr lang="en-US" dirty="0"/>
          </a:p>
        </p:txBody>
      </p:sp>
      <p:sp>
        <p:nvSpPr>
          <p:cNvPr id="5" name="Footer Placeholder 4"/>
          <p:cNvSpPr>
            <a:spLocks noGrp="1"/>
          </p:cNvSpPr>
          <p:nvPr>
            <p:ph type="ftr" sz="quarter" idx="11"/>
          </p:nvPr>
        </p:nvSpPr>
        <p:spPr/>
        <p:txBody>
          <a:bodyPr/>
          <a:lstStyle/>
          <a:p>
            <a:r>
              <a:rPr lang="en-US" smtClean="0"/>
              <a:t>Center for Assessment.  WY Accountability Advisory Committee (6/14/12)</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454B693-B468-42A8-A04E-B0389EB91439}" type="slidenum">
              <a:rPr lang="en-US" smtClean="0"/>
              <a:pPr/>
              <a:t>10</a:t>
            </a:fld>
            <a:endParaRPr lang="en-US" dirty="0"/>
          </a:p>
        </p:txBody>
      </p:sp>
      <p:sp>
        <p:nvSpPr>
          <p:cNvPr id="9" name="Title 8"/>
          <p:cNvSpPr>
            <a:spLocks noGrp="1"/>
          </p:cNvSpPr>
          <p:nvPr>
            <p:ph type="title"/>
          </p:nvPr>
        </p:nvSpPr>
        <p:spPr>
          <a:xfrm>
            <a:off x="533400" y="228600"/>
            <a:ext cx="8229600" cy="792162"/>
          </a:xfrm>
        </p:spPr>
        <p:txBody>
          <a:bodyPr>
            <a:normAutofit fontScale="90000"/>
          </a:bodyPr>
          <a:lstStyle/>
          <a:p>
            <a:r>
              <a:rPr lang="en-US" sz="2800" dirty="0" smtClean="0">
                <a:effectLst/>
              </a:rPr>
              <a:t>A Simplified Theory of Action for Reformed Educator Evaluation Systems</a:t>
            </a:r>
            <a:endParaRPr lang="en-US" sz="2800" dirty="0">
              <a:effectLst/>
            </a:endParaRPr>
          </a:p>
        </p:txBody>
      </p:sp>
      <p:grpSp>
        <p:nvGrpSpPr>
          <p:cNvPr id="1026" name="Group 2"/>
          <p:cNvGrpSpPr>
            <a:grpSpLocks/>
          </p:cNvGrpSpPr>
          <p:nvPr/>
        </p:nvGrpSpPr>
        <p:grpSpPr bwMode="auto">
          <a:xfrm>
            <a:off x="533400" y="1295400"/>
            <a:ext cx="7772400" cy="4648200"/>
            <a:chOff x="1540" y="5440"/>
            <a:chExt cx="7880" cy="3760"/>
          </a:xfrm>
        </p:grpSpPr>
        <p:sp>
          <p:nvSpPr>
            <p:cNvPr id="1027" name="AutoShape 3"/>
            <p:cNvSpPr>
              <a:spLocks noChangeArrowheads="1"/>
            </p:cNvSpPr>
            <p:nvPr/>
          </p:nvSpPr>
          <p:spPr bwMode="auto">
            <a:xfrm>
              <a:off x="1540" y="6050"/>
              <a:ext cx="1740" cy="2010"/>
            </a:xfrm>
            <a:prstGeom prst="roundRect">
              <a:avLst>
                <a:gd name="adj" fmla="val 16667"/>
              </a:avLst>
            </a:prstGeom>
            <a:solidFill>
              <a:schemeClr val="bg2">
                <a:lumMod val="90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smtClean="0">
                  <a:ln>
                    <a:noFill/>
                  </a:ln>
                  <a:solidFill>
                    <a:schemeClr val="tx1"/>
                  </a:solidFill>
                  <a:effectLst/>
                  <a:latin typeface="Calibri" pitchFamily="34" charset="0"/>
                </a:rPr>
                <a:t>Measures of Educator Effectiveness and Evaluation Processes</a:t>
              </a:r>
              <a:endParaRPr kumimoji="0" lang="en-US" sz="2000" b="0" i="0" u="none" strike="noStrike" cap="none" normalizeH="0" baseline="0" dirty="0" smtClean="0">
                <a:ln>
                  <a:noFill/>
                </a:ln>
                <a:solidFill>
                  <a:schemeClr val="tx1"/>
                </a:solidFill>
                <a:effectLst/>
                <a:latin typeface="Arial" pitchFamily="34" charset="0"/>
              </a:endParaRPr>
            </a:p>
          </p:txBody>
        </p:sp>
        <p:sp>
          <p:nvSpPr>
            <p:cNvPr id="1035" name="AutoShape 11"/>
            <p:cNvSpPr>
              <a:spLocks/>
            </p:cNvSpPr>
            <p:nvPr/>
          </p:nvSpPr>
          <p:spPr bwMode="auto">
            <a:xfrm>
              <a:off x="3850" y="5440"/>
              <a:ext cx="470" cy="3230"/>
            </a:xfrm>
            <a:prstGeom prst="leftBrace">
              <a:avLst>
                <a:gd name="adj1" fmla="val 57270"/>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dirty="0"/>
            </a:p>
          </p:txBody>
        </p:sp>
        <p:cxnSp>
          <p:nvCxnSpPr>
            <p:cNvPr id="1036" name="AutoShape 12"/>
            <p:cNvCxnSpPr>
              <a:cxnSpLocks noChangeShapeType="1"/>
            </p:cNvCxnSpPr>
            <p:nvPr/>
          </p:nvCxnSpPr>
          <p:spPr bwMode="auto">
            <a:xfrm>
              <a:off x="3330" y="7060"/>
              <a:ext cx="400" cy="0"/>
            </a:xfrm>
            <a:prstGeom prst="straightConnector1">
              <a:avLst/>
            </a:prstGeom>
            <a:noFill/>
            <a:ln w="9525">
              <a:solidFill>
                <a:srgbClr val="000000"/>
              </a:solidFill>
              <a:round/>
              <a:headEnd/>
              <a:tailEnd type="triangle" w="med" len="med"/>
            </a:ln>
          </p:spPr>
        </p:cxnSp>
        <p:cxnSp>
          <p:nvCxnSpPr>
            <p:cNvPr id="1037" name="AutoShape 13"/>
            <p:cNvCxnSpPr>
              <a:cxnSpLocks noChangeShapeType="1"/>
            </p:cNvCxnSpPr>
            <p:nvPr/>
          </p:nvCxnSpPr>
          <p:spPr bwMode="auto">
            <a:xfrm>
              <a:off x="5320" y="7720"/>
              <a:ext cx="0" cy="280"/>
            </a:xfrm>
            <a:prstGeom prst="straightConnector1">
              <a:avLst/>
            </a:prstGeom>
            <a:noFill/>
            <a:ln w="9525">
              <a:solidFill>
                <a:srgbClr val="000000"/>
              </a:solidFill>
              <a:round/>
              <a:headEnd/>
              <a:tailEnd type="triangle" w="med" len="med"/>
            </a:ln>
          </p:spPr>
        </p:cxnSp>
        <p:cxnSp>
          <p:nvCxnSpPr>
            <p:cNvPr id="1038" name="AutoShape 14"/>
            <p:cNvCxnSpPr>
              <a:cxnSpLocks noChangeShapeType="1"/>
            </p:cNvCxnSpPr>
            <p:nvPr/>
          </p:nvCxnSpPr>
          <p:spPr bwMode="auto">
            <a:xfrm flipH="1">
              <a:off x="3200" y="7490"/>
              <a:ext cx="1440" cy="1250"/>
            </a:xfrm>
            <a:prstGeom prst="straightConnector1">
              <a:avLst/>
            </a:prstGeom>
            <a:noFill/>
            <a:ln w="9525">
              <a:solidFill>
                <a:srgbClr val="000000"/>
              </a:solidFill>
              <a:round/>
              <a:headEnd/>
              <a:tailEnd type="triangle" w="med" len="med"/>
            </a:ln>
          </p:spPr>
        </p:cxnSp>
        <p:cxnSp>
          <p:nvCxnSpPr>
            <p:cNvPr id="1039" name="AutoShape 15"/>
            <p:cNvCxnSpPr>
              <a:cxnSpLocks noChangeShapeType="1"/>
            </p:cNvCxnSpPr>
            <p:nvPr/>
          </p:nvCxnSpPr>
          <p:spPr bwMode="auto">
            <a:xfrm>
              <a:off x="6010" y="7490"/>
              <a:ext cx="1720" cy="1250"/>
            </a:xfrm>
            <a:prstGeom prst="straightConnector1">
              <a:avLst/>
            </a:prstGeom>
            <a:noFill/>
            <a:ln w="9525">
              <a:solidFill>
                <a:srgbClr val="000000"/>
              </a:solidFill>
              <a:round/>
              <a:headEnd/>
              <a:tailEnd type="triangle" w="med" len="med"/>
            </a:ln>
          </p:spPr>
        </p:cxnSp>
        <p:sp>
          <p:nvSpPr>
            <p:cNvPr id="1040" name="AutoShape 16"/>
            <p:cNvSpPr>
              <a:spLocks/>
            </p:cNvSpPr>
            <p:nvPr/>
          </p:nvSpPr>
          <p:spPr bwMode="auto">
            <a:xfrm>
              <a:off x="6630" y="5440"/>
              <a:ext cx="520" cy="3230"/>
            </a:xfrm>
            <a:prstGeom prst="rightBrace">
              <a:avLst>
                <a:gd name="adj1" fmla="val 51763"/>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dirty="0"/>
            </a:p>
          </p:txBody>
        </p:sp>
        <p:cxnSp>
          <p:nvCxnSpPr>
            <p:cNvPr id="1041" name="AutoShape 17"/>
            <p:cNvCxnSpPr>
              <a:cxnSpLocks noChangeShapeType="1"/>
            </p:cNvCxnSpPr>
            <p:nvPr/>
          </p:nvCxnSpPr>
          <p:spPr bwMode="auto">
            <a:xfrm>
              <a:off x="7250" y="7060"/>
              <a:ext cx="740" cy="0"/>
            </a:xfrm>
            <a:prstGeom prst="straightConnector1">
              <a:avLst/>
            </a:prstGeom>
            <a:noFill/>
            <a:ln w="9525">
              <a:solidFill>
                <a:srgbClr val="000000"/>
              </a:solidFill>
              <a:round/>
              <a:headEnd/>
              <a:tailEnd type="triangle" w="med" len="med"/>
            </a:ln>
          </p:spPr>
        </p:cxnSp>
        <p:sp>
          <p:nvSpPr>
            <p:cNvPr id="1028" name="Rectangle 4"/>
            <p:cNvSpPr>
              <a:spLocks noChangeArrowheads="1"/>
            </p:cNvSpPr>
            <p:nvPr/>
          </p:nvSpPr>
          <p:spPr bwMode="auto">
            <a:xfrm>
              <a:off x="4830" y="5530"/>
              <a:ext cx="980" cy="460"/>
            </a:xfrm>
            <a:prstGeom prst="rect">
              <a:avLst/>
            </a:prstGeom>
            <a:solidFill>
              <a:schemeClr val="bg2">
                <a:lumMod val="50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smtClean="0">
                  <a:ln>
                    <a:noFill/>
                  </a:ln>
                  <a:solidFill>
                    <a:schemeClr val="tx1"/>
                  </a:solidFill>
                  <a:effectLst/>
                  <a:latin typeface="Calibri" pitchFamily="34" charset="0"/>
                </a:rPr>
                <a:t>Hiring</a:t>
              </a:r>
              <a:endParaRPr kumimoji="0" lang="en-US" sz="2000" b="0" i="0" u="none" strike="noStrike" cap="none" normalizeH="0" baseline="0" dirty="0" smtClean="0">
                <a:ln>
                  <a:noFill/>
                </a:ln>
                <a:solidFill>
                  <a:schemeClr val="tx1"/>
                </a:solidFill>
                <a:effectLst/>
                <a:latin typeface="Arial" pitchFamily="34" charset="0"/>
              </a:endParaRPr>
            </a:p>
          </p:txBody>
        </p:sp>
        <p:sp>
          <p:nvSpPr>
            <p:cNvPr id="1029" name="Rectangle 5"/>
            <p:cNvSpPr>
              <a:spLocks noChangeArrowheads="1"/>
            </p:cNvSpPr>
            <p:nvPr/>
          </p:nvSpPr>
          <p:spPr bwMode="auto">
            <a:xfrm>
              <a:off x="4640" y="7260"/>
              <a:ext cx="1370" cy="460"/>
            </a:xfrm>
            <a:prstGeom prst="rect">
              <a:avLst/>
            </a:prstGeom>
            <a:solidFill>
              <a:schemeClr val="bg2">
                <a:lumMod val="50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Calibri" pitchFamily="34" charset="0"/>
                </a:rPr>
                <a:t>Placement</a:t>
              </a:r>
              <a:endParaRPr kumimoji="0" lang="en-US" b="0" i="0" u="none" strike="noStrike" cap="none" normalizeH="0" baseline="0" dirty="0" smtClean="0">
                <a:ln>
                  <a:noFill/>
                </a:ln>
                <a:solidFill>
                  <a:schemeClr val="tx1"/>
                </a:solidFill>
                <a:effectLst/>
                <a:latin typeface="Arial" pitchFamily="34" charset="0"/>
              </a:endParaRPr>
            </a:p>
          </p:txBody>
        </p:sp>
        <p:sp>
          <p:nvSpPr>
            <p:cNvPr id="1030" name="Rectangle 6"/>
            <p:cNvSpPr>
              <a:spLocks noChangeArrowheads="1"/>
            </p:cNvSpPr>
            <p:nvPr/>
          </p:nvSpPr>
          <p:spPr bwMode="auto">
            <a:xfrm>
              <a:off x="6800" y="8740"/>
              <a:ext cx="1790" cy="430"/>
            </a:xfrm>
            <a:prstGeom prst="rect">
              <a:avLst/>
            </a:prstGeom>
            <a:solidFill>
              <a:srgbClr val="00B05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Calibri" pitchFamily="34" charset="0"/>
                </a:rPr>
                <a:t>Career Ladder</a:t>
              </a:r>
              <a:endParaRPr kumimoji="0" lang="en-US" b="0" i="0" u="none" strike="noStrike" cap="none" normalizeH="0" baseline="0" dirty="0" smtClean="0">
                <a:ln>
                  <a:noFill/>
                </a:ln>
                <a:solidFill>
                  <a:schemeClr val="tx1"/>
                </a:solidFill>
                <a:effectLst/>
                <a:latin typeface="Arial" pitchFamily="34" charset="0"/>
              </a:endParaRPr>
            </a:p>
          </p:txBody>
        </p:sp>
        <p:sp>
          <p:nvSpPr>
            <p:cNvPr id="1031" name="Rectangle 7"/>
            <p:cNvSpPr>
              <a:spLocks noChangeArrowheads="1"/>
            </p:cNvSpPr>
            <p:nvPr/>
          </p:nvSpPr>
          <p:spPr bwMode="auto">
            <a:xfrm>
              <a:off x="4452" y="8000"/>
              <a:ext cx="1970" cy="460"/>
            </a:xfrm>
            <a:prstGeom prst="rect">
              <a:avLst/>
            </a:prstGeom>
            <a:solidFill>
              <a:schemeClr val="bg2">
                <a:lumMod val="50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smtClean="0">
                  <a:ln>
                    <a:noFill/>
                  </a:ln>
                  <a:solidFill>
                    <a:schemeClr val="tx1"/>
                  </a:solidFill>
                  <a:effectLst/>
                  <a:latin typeface="Calibri" pitchFamily="34" charset="0"/>
                </a:rPr>
                <a:t>Compensation</a:t>
              </a:r>
              <a:endParaRPr kumimoji="0" lang="en-US" sz="2000" b="0" i="0" u="none" strike="noStrike" cap="none" normalizeH="0" baseline="0" dirty="0" smtClean="0">
                <a:ln>
                  <a:noFill/>
                </a:ln>
                <a:solidFill>
                  <a:schemeClr val="tx1"/>
                </a:solidFill>
                <a:effectLst/>
                <a:latin typeface="Arial" pitchFamily="34" charset="0"/>
              </a:endParaRPr>
            </a:p>
          </p:txBody>
        </p:sp>
        <p:sp>
          <p:nvSpPr>
            <p:cNvPr id="1032" name="Rectangle 8"/>
            <p:cNvSpPr>
              <a:spLocks noChangeArrowheads="1"/>
            </p:cNvSpPr>
            <p:nvPr/>
          </p:nvSpPr>
          <p:spPr bwMode="auto">
            <a:xfrm>
              <a:off x="2600" y="8740"/>
              <a:ext cx="1370" cy="460"/>
            </a:xfrm>
            <a:prstGeom prst="rect">
              <a:avLst/>
            </a:prstGeom>
            <a:solidFill>
              <a:srgbClr val="FF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Calibri" pitchFamily="34" charset="0"/>
                </a:rPr>
                <a:t>Dismissal</a:t>
              </a:r>
              <a:endParaRPr kumimoji="0" lang="en-US" b="0" i="0" u="none" strike="noStrike" cap="none" normalizeH="0" baseline="0" dirty="0" smtClean="0">
                <a:ln>
                  <a:noFill/>
                </a:ln>
                <a:solidFill>
                  <a:schemeClr val="tx1"/>
                </a:solidFill>
                <a:effectLst/>
                <a:latin typeface="Arial" pitchFamily="34" charset="0"/>
              </a:endParaRPr>
            </a:p>
          </p:txBody>
        </p:sp>
        <p:sp>
          <p:nvSpPr>
            <p:cNvPr id="1033" name="Rectangle 9"/>
            <p:cNvSpPr>
              <a:spLocks noChangeArrowheads="1"/>
            </p:cNvSpPr>
            <p:nvPr/>
          </p:nvSpPr>
          <p:spPr bwMode="auto">
            <a:xfrm>
              <a:off x="4540" y="6260"/>
              <a:ext cx="1797" cy="680"/>
            </a:xfrm>
            <a:prstGeom prst="rect">
              <a:avLst/>
            </a:prstGeom>
            <a:solidFill>
              <a:schemeClr val="bg2">
                <a:lumMod val="50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smtClean="0">
                  <a:ln>
                    <a:noFill/>
                  </a:ln>
                  <a:solidFill>
                    <a:schemeClr val="tx1"/>
                  </a:solidFill>
                  <a:effectLst/>
                  <a:latin typeface="Calibri" pitchFamily="34" charset="0"/>
                </a:rPr>
                <a:t>Professional Development</a:t>
              </a:r>
              <a:endParaRPr kumimoji="0" lang="en-US" sz="2000" b="0" i="0" u="none" strike="noStrike" cap="none" normalizeH="0" baseline="0" dirty="0" smtClean="0">
                <a:ln>
                  <a:noFill/>
                </a:ln>
                <a:solidFill>
                  <a:schemeClr val="tx1"/>
                </a:solidFill>
                <a:effectLst/>
                <a:latin typeface="Arial" pitchFamily="34" charset="0"/>
              </a:endParaRPr>
            </a:p>
          </p:txBody>
        </p:sp>
        <p:sp>
          <p:nvSpPr>
            <p:cNvPr id="1034" name="Rectangle 10"/>
            <p:cNvSpPr>
              <a:spLocks noChangeArrowheads="1"/>
            </p:cNvSpPr>
            <p:nvPr/>
          </p:nvSpPr>
          <p:spPr bwMode="auto">
            <a:xfrm>
              <a:off x="8080" y="6530"/>
              <a:ext cx="1340" cy="1040"/>
            </a:xfrm>
            <a:prstGeom prst="rect">
              <a:avLst/>
            </a:prstGeom>
            <a:solidFill>
              <a:srgbClr val="007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smtClean="0">
                  <a:ln>
                    <a:noFill/>
                  </a:ln>
                  <a:solidFill>
                    <a:schemeClr val="tx1"/>
                  </a:solidFill>
                  <a:effectLst/>
                  <a:latin typeface="Calibri" pitchFamily="34" charset="0"/>
                </a:rPr>
                <a:t>Student Outcomes Improve</a:t>
              </a:r>
              <a:endParaRPr kumimoji="0" lang="en-US" sz="2000" b="0" i="0" u="none" strike="noStrike" cap="none" normalizeH="0" baseline="0" dirty="0" smtClean="0">
                <a:ln>
                  <a:noFill/>
                </a:ln>
                <a:solidFill>
                  <a:schemeClr val="tx1"/>
                </a:solidFill>
                <a:effectLst/>
                <a:latin typeface="Arial" pitchFamily="34" charset="0"/>
              </a:endParaRPr>
            </a:p>
          </p:txBody>
        </p:sp>
      </p:grpSp>
      <p:cxnSp>
        <p:nvCxnSpPr>
          <p:cNvPr id="28" name="AutoShape 13"/>
          <p:cNvCxnSpPr>
            <a:cxnSpLocks noChangeShapeType="1"/>
            <a:endCxn id="1029" idx="0"/>
          </p:cNvCxnSpPr>
          <p:nvPr/>
        </p:nvCxnSpPr>
        <p:spPr bwMode="auto">
          <a:xfrm rot="5400000">
            <a:off x="4056396" y="3334522"/>
            <a:ext cx="421127" cy="483"/>
          </a:xfrm>
          <a:prstGeom prst="straightConnector1">
            <a:avLst/>
          </a:prstGeom>
          <a:noFill/>
          <a:ln w="9525">
            <a:solidFill>
              <a:srgbClr val="000000"/>
            </a:solidFill>
            <a:round/>
            <a:headEnd/>
            <a:tailEnd type="triangle" w="med" len="med"/>
          </a:ln>
        </p:spPr>
      </p:cxnSp>
      <p:cxnSp>
        <p:nvCxnSpPr>
          <p:cNvPr id="29" name="AutoShape 13"/>
          <p:cNvCxnSpPr>
            <a:cxnSpLocks noChangeShapeType="1"/>
          </p:cNvCxnSpPr>
          <p:nvPr/>
        </p:nvCxnSpPr>
        <p:spPr bwMode="auto">
          <a:xfrm>
            <a:off x="4267200" y="1981200"/>
            <a:ext cx="0" cy="312096"/>
          </a:xfrm>
          <a:prstGeom prst="straightConnector1">
            <a:avLst/>
          </a:prstGeom>
          <a:noFill/>
          <a:ln w="9525">
            <a:solidFill>
              <a:srgbClr val="000000"/>
            </a:solidFill>
            <a:round/>
            <a:headEnd/>
            <a:tailEnd type="triangle" w="med" len="med"/>
          </a:ln>
        </p:spPr>
      </p:cxnSp>
      <p:sp>
        <p:nvSpPr>
          <p:cNvPr id="31" name="Footer Placeholder 30"/>
          <p:cNvSpPr>
            <a:spLocks noGrp="1"/>
          </p:cNvSpPr>
          <p:nvPr>
            <p:ph type="ftr" sz="quarter" idx="11"/>
          </p:nvPr>
        </p:nvSpPr>
        <p:spPr/>
        <p:txBody>
          <a:bodyPr/>
          <a:lstStyle/>
          <a:p>
            <a:r>
              <a:rPr lang="en-US" dirty="0" smtClean="0"/>
              <a:t>Center for Assessment.  WY Accountability Advisory Committee (6/14/12)</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274638"/>
            <a:ext cx="8610600" cy="868362"/>
          </a:xfrm>
        </p:spPr>
        <p:txBody>
          <a:bodyPr>
            <a:noAutofit/>
          </a:bodyPr>
          <a:lstStyle/>
          <a:p>
            <a:r>
              <a:rPr lang="en-US" sz="3600" dirty="0" smtClean="0">
                <a:effectLst/>
              </a:rPr>
              <a:t>Basic Structure of a Theory of Action</a:t>
            </a:r>
            <a:endParaRPr lang="en-US" sz="3600" dirty="0">
              <a:effectLst/>
            </a:endParaRPr>
          </a:p>
        </p:txBody>
      </p:sp>
      <p:sp>
        <p:nvSpPr>
          <p:cNvPr id="7" name="Rectangle 6"/>
          <p:cNvSpPr/>
          <p:nvPr/>
        </p:nvSpPr>
        <p:spPr>
          <a:xfrm>
            <a:off x="298173" y="1719470"/>
            <a:ext cx="1769166" cy="1878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Assumptions or </a:t>
            </a:r>
          </a:p>
          <a:p>
            <a:pPr algn="ctr"/>
            <a:r>
              <a:rPr lang="en-US" dirty="0" smtClean="0"/>
              <a:t>Antecedents</a:t>
            </a:r>
            <a:endParaRPr lang="en-US" dirty="0"/>
          </a:p>
        </p:txBody>
      </p:sp>
      <p:sp>
        <p:nvSpPr>
          <p:cNvPr id="8" name="Oval 7"/>
          <p:cNvSpPr/>
          <p:nvPr/>
        </p:nvSpPr>
        <p:spPr>
          <a:xfrm>
            <a:off x="1295401" y="4005468"/>
            <a:ext cx="1984514" cy="193813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Activities and Mechanisms</a:t>
            </a:r>
            <a:endParaRPr lang="en-US" sz="1600" dirty="0"/>
          </a:p>
        </p:txBody>
      </p:sp>
      <p:sp>
        <p:nvSpPr>
          <p:cNvPr id="9" name="Rounded Rectangle 8"/>
          <p:cNvSpPr/>
          <p:nvPr/>
        </p:nvSpPr>
        <p:spPr>
          <a:xfrm>
            <a:off x="2663686" y="1739348"/>
            <a:ext cx="1451113" cy="1898374"/>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Proximal Indicators</a:t>
            </a:r>
            <a:endParaRPr lang="en-US" dirty="0"/>
          </a:p>
        </p:txBody>
      </p:sp>
      <p:sp>
        <p:nvSpPr>
          <p:cNvPr id="10" name="Rounded Rectangle 9"/>
          <p:cNvSpPr/>
          <p:nvPr/>
        </p:nvSpPr>
        <p:spPr>
          <a:xfrm>
            <a:off x="4591876" y="1759226"/>
            <a:ext cx="1759227" cy="1848678"/>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Intermediate Indicators</a:t>
            </a:r>
            <a:endParaRPr lang="en-US" dirty="0"/>
          </a:p>
        </p:txBody>
      </p:sp>
      <p:sp>
        <p:nvSpPr>
          <p:cNvPr id="11" name="Oval 10"/>
          <p:cNvSpPr/>
          <p:nvPr/>
        </p:nvSpPr>
        <p:spPr>
          <a:xfrm>
            <a:off x="3621156" y="4008780"/>
            <a:ext cx="2017644" cy="1938131"/>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Activities and Mechanisms</a:t>
            </a:r>
            <a:endParaRPr lang="en-US" sz="1600" dirty="0"/>
          </a:p>
        </p:txBody>
      </p:sp>
      <p:sp>
        <p:nvSpPr>
          <p:cNvPr id="12" name="Rounded Rectangle 11"/>
          <p:cNvSpPr/>
          <p:nvPr/>
        </p:nvSpPr>
        <p:spPr>
          <a:xfrm>
            <a:off x="6791736" y="1752600"/>
            <a:ext cx="1759227" cy="1848678"/>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Distal Indicators (</a:t>
            </a:r>
            <a:r>
              <a:rPr lang="en-US" b="1" dirty="0" smtClean="0"/>
              <a:t>Intended Outcomes</a:t>
            </a:r>
            <a:r>
              <a:rPr lang="en-US" dirty="0" smtClean="0"/>
              <a:t>)</a:t>
            </a:r>
            <a:endParaRPr lang="en-US" dirty="0"/>
          </a:p>
        </p:txBody>
      </p:sp>
      <p:sp>
        <p:nvSpPr>
          <p:cNvPr id="13" name="Hexagon 12"/>
          <p:cNvSpPr/>
          <p:nvPr/>
        </p:nvSpPr>
        <p:spPr>
          <a:xfrm>
            <a:off x="6400801" y="4022032"/>
            <a:ext cx="2385390" cy="1938131"/>
          </a:xfrm>
          <a:prstGeom prst="hexagon">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Consequences</a:t>
            </a:r>
            <a:endParaRPr lang="en-US" sz="1600" dirty="0"/>
          </a:p>
        </p:txBody>
      </p:sp>
      <p:cxnSp>
        <p:nvCxnSpPr>
          <p:cNvPr id="15" name="Straight Arrow Connector 14"/>
          <p:cNvCxnSpPr/>
          <p:nvPr/>
        </p:nvCxnSpPr>
        <p:spPr>
          <a:xfrm>
            <a:off x="1192696" y="3647661"/>
            <a:ext cx="526774" cy="5168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753139" y="3657601"/>
            <a:ext cx="501927" cy="48701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H="1">
            <a:off x="3630269" y="3530877"/>
            <a:ext cx="467139" cy="66095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0" idx="2"/>
          </p:cNvCxnSpPr>
          <p:nvPr/>
        </p:nvCxnSpPr>
        <p:spPr>
          <a:xfrm flipV="1">
            <a:off x="4919870" y="3607904"/>
            <a:ext cx="551620" cy="4572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0" idx="3"/>
            <a:endCxn id="12" idx="1"/>
          </p:cNvCxnSpPr>
          <p:nvPr/>
        </p:nvCxnSpPr>
        <p:spPr>
          <a:xfrm flipV="1">
            <a:off x="6351103" y="2676939"/>
            <a:ext cx="440633" cy="662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2" idx="2"/>
          </p:cNvCxnSpPr>
          <p:nvPr/>
        </p:nvCxnSpPr>
        <p:spPr>
          <a:xfrm rot="16200000" flipH="1">
            <a:off x="7445236" y="3827391"/>
            <a:ext cx="453887" cy="165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1" idx="7"/>
          </p:cNvCxnSpPr>
          <p:nvPr/>
        </p:nvCxnSpPr>
        <p:spPr>
          <a:xfrm flipV="1">
            <a:off x="5343323" y="3389243"/>
            <a:ext cx="1464981" cy="90337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Slide Number Placeholder 19"/>
          <p:cNvSpPr>
            <a:spLocks noGrp="1"/>
          </p:cNvSpPr>
          <p:nvPr>
            <p:ph type="sldNum" sz="quarter" idx="12"/>
          </p:nvPr>
        </p:nvSpPr>
        <p:spPr/>
        <p:txBody>
          <a:bodyPr/>
          <a:lstStyle/>
          <a:p>
            <a:fld id="{17F500AE-EC96-4A76-B9F7-D6ABF57B2CB4}" type="slidenum">
              <a:rPr lang="en-US" smtClean="0"/>
              <a:pPr/>
              <a:t>11</a:t>
            </a:fld>
            <a:endParaRPr lang="en-US"/>
          </a:p>
        </p:txBody>
      </p:sp>
      <p:sp>
        <p:nvSpPr>
          <p:cNvPr id="18" name="Footer Placeholder 17"/>
          <p:cNvSpPr>
            <a:spLocks noGrp="1"/>
          </p:cNvSpPr>
          <p:nvPr>
            <p:ph type="ftr" sz="quarter" idx="11"/>
          </p:nvPr>
        </p:nvSpPr>
        <p:spPr/>
        <p:txBody>
          <a:bodyPr/>
          <a:lstStyle/>
          <a:p>
            <a:r>
              <a:rPr lang="en-US" smtClean="0"/>
              <a:t>Center for Assessment.  WY Accountability Advisory Committee (6/14/12)</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dirty="0" smtClean="0"/>
              <a:t>Let’s look at a more reasonable approximation for an improvement-based educator evaluation system</a:t>
            </a:r>
            <a:endParaRPr lang="en-US" dirty="0"/>
          </a:p>
        </p:txBody>
      </p:sp>
      <p:sp>
        <p:nvSpPr>
          <p:cNvPr id="2" name="Footer Placeholder 1"/>
          <p:cNvSpPr>
            <a:spLocks noGrp="1"/>
          </p:cNvSpPr>
          <p:nvPr>
            <p:ph type="ftr" sz="quarter" idx="11"/>
          </p:nvPr>
        </p:nvSpPr>
        <p:spPr/>
        <p:txBody>
          <a:bodyPr/>
          <a:lstStyle/>
          <a:p>
            <a:r>
              <a:rPr lang="en-US" smtClean="0"/>
              <a:t>Center for Assessment.  WY Accountability Advisory Committee (6/14/12)</a:t>
            </a:r>
            <a:endParaRPr lang="en-US" dirty="0"/>
          </a:p>
        </p:txBody>
      </p:sp>
      <p:sp>
        <p:nvSpPr>
          <p:cNvPr id="3" name="Slide Number Placeholder 2"/>
          <p:cNvSpPr>
            <a:spLocks noGrp="1"/>
          </p:cNvSpPr>
          <p:nvPr>
            <p:ph type="sldNum" sz="quarter" idx="12"/>
          </p:nvPr>
        </p:nvSpPr>
        <p:spPr/>
        <p:txBody>
          <a:bodyPr/>
          <a:lstStyle/>
          <a:p>
            <a:fld id="{3454B693-B468-42A8-A04E-B0389EB91439}" type="slidenum">
              <a:rPr lang="en-US" smtClean="0"/>
              <a:pPr/>
              <a:t>12</a:t>
            </a:fld>
            <a:endParaRPr lang="en-US" dirty="0"/>
          </a:p>
        </p:txBody>
      </p:sp>
      <p:sp>
        <p:nvSpPr>
          <p:cNvPr id="5" name="Title 4"/>
          <p:cNvSpPr>
            <a:spLocks noGrp="1"/>
          </p:cNvSpPr>
          <p:nvPr>
            <p:ph type="title"/>
          </p:nvPr>
        </p:nvSpPr>
        <p:spPr/>
        <p:txBody>
          <a:bodyPr/>
          <a:lstStyle/>
          <a:p>
            <a:r>
              <a:rPr lang="en-US" dirty="0" smtClean="0"/>
              <a:t>Theory of Action</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3"/>
          <p:cNvSpPr>
            <a:spLocks noGrp="1"/>
          </p:cNvSpPr>
          <p:nvPr>
            <p:ph type="title"/>
          </p:nvPr>
        </p:nvSpPr>
        <p:spPr>
          <a:xfrm>
            <a:off x="152400" y="261938"/>
            <a:ext cx="8839200" cy="660400"/>
          </a:xfrm>
        </p:spPr>
        <p:txBody>
          <a:bodyPr>
            <a:normAutofit/>
          </a:bodyPr>
          <a:lstStyle/>
          <a:p>
            <a:r>
              <a:rPr lang="en-US" sz="3200" dirty="0" smtClean="0">
                <a:effectLst/>
              </a:rPr>
              <a:t>Simple </a:t>
            </a:r>
            <a:r>
              <a:rPr lang="en-US" sz="3200" dirty="0" err="1" smtClean="0">
                <a:effectLst/>
              </a:rPr>
              <a:t>ToA</a:t>
            </a:r>
            <a:r>
              <a:rPr lang="en-US" sz="3200" dirty="0" smtClean="0">
                <a:effectLst/>
              </a:rPr>
              <a:t> for an “improvement” system</a:t>
            </a:r>
            <a:endParaRPr lang="en-US" sz="3600" dirty="0" smtClean="0">
              <a:effectLst/>
            </a:endParaRPr>
          </a:p>
        </p:txBody>
      </p:sp>
      <p:sp>
        <p:nvSpPr>
          <p:cNvPr id="37" name="Slide Number Placeholder 36"/>
          <p:cNvSpPr>
            <a:spLocks noGrp="1"/>
          </p:cNvSpPr>
          <p:nvPr>
            <p:ph type="sldNum" sz="quarter" idx="12"/>
          </p:nvPr>
        </p:nvSpPr>
        <p:spPr/>
        <p:txBody>
          <a:bodyPr/>
          <a:lstStyle/>
          <a:p>
            <a:pPr>
              <a:defRPr/>
            </a:pPr>
            <a:fld id="{66C7637C-6D8E-4E6A-8251-CD79202E8EB2}" type="slidenum">
              <a:rPr lang="en-US"/>
              <a:pPr>
                <a:defRPr/>
              </a:pPr>
              <a:t>13</a:t>
            </a:fld>
            <a:endParaRPr lang="en-US" dirty="0"/>
          </a:p>
        </p:txBody>
      </p:sp>
      <p:sp>
        <p:nvSpPr>
          <p:cNvPr id="24" name="Rounded Rectangle 23"/>
          <p:cNvSpPr/>
          <p:nvPr/>
        </p:nvSpPr>
        <p:spPr>
          <a:xfrm>
            <a:off x="541337" y="4064000"/>
            <a:ext cx="1803400" cy="172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400" dirty="0"/>
              <a:t>Student Learning Improves</a:t>
            </a:r>
            <a:endParaRPr lang="en-US" dirty="0"/>
          </a:p>
        </p:txBody>
      </p:sp>
      <p:sp>
        <p:nvSpPr>
          <p:cNvPr id="25" name="Rounded Rectangle 24"/>
          <p:cNvSpPr/>
          <p:nvPr/>
        </p:nvSpPr>
        <p:spPr>
          <a:xfrm>
            <a:off x="3276601" y="1600201"/>
            <a:ext cx="1981200" cy="16002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dirty="0" smtClean="0"/>
              <a:t>Focuses educators’ </a:t>
            </a:r>
            <a:r>
              <a:rPr lang="en-US" sz="2000" dirty="0"/>
              <a:t>attention </a:t>
            </a:r>
            <a:r>
              <a:rPr lang="en-US" sz="2000" dirty="0" smtClean="0"/>
              <a:t>on </a:t>
            </a:r>
            <a:r>
              <a:rPr lang="en-US" sz="2000" dirty="0"/>
              <a:t>productive practices</a:t>
            </a:r>
          </a:p>
        </p:txBody>
      </p:sp>
      <p:cxnSp>
        <p:nvCxnSpPr>
          <p:cNvPr id="28" name="Straight Arrow Connector 27"/>
          <p:cNvCxnSpPr/>
          <p:nvPr/>
        </p:nvCxnSpPr>
        <p:spPr>
          <a:xfrm flipH="1">
            <a:off x="2319867" y="4902200"/>
            <a:ext cx="1117600" cy="84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220134" y="1531938"/>
            <a:ext cx="2209799" cy="1880129"/>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dirty="0"/>
              <a:t>Educator </a:t>
            </a:r>
            <a:r>
              <a:rPr lang="en-US" sz="2000" dirty="0" smtClean="0"/>
              <a:t>evaluation system</a:t>
            </a:r>
            <a:endParaRPr lang="en-US" sz="2000" dirty="0"/>
          </a:p>
        </p:txBody>
      </p:sp>
      <p:cxnSp>
        <p:nvCxnSpPr>
          <p:cNvPr id="33" name="Straight Arrow Connector 32"/>
          <p:cNvCxnSpPr>
            <a:stCxn id="29" idx="6"/>
          </p:cNvCxnSpPr>
          <p:nvPr/>
        </p:nvCxnSpPr>
        <p:spPr>
          <a:xfrm flipV="1">
            <a:off x="2429933" y="2438400"/>
            <a:ext cx="846667" cy="33603"/>
          </a:xfrm>
          <a:prstGeom prst="straightConnector1">
            <a:avLst/>
          </a:prstGeom>
          <a:ln w="2857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45065" name="Footer Placeholder 9"/>
          <p:cNvSpPr>
            <a:spLocks noGrp="1"/>
          </p:cNvSpPr>
          <p:nvPr>
            <p:ph type="ftr" sz="quarter" idx="11"/>
          </p:nvPr>
        </p:nvSpPr>
        <p:spPr bwMode="auto">
          <a:xfrm>
            <a:off x="3124200" y="6324600"/>
            <a:ext cx="5541963" cy="366712"/>
          </a:xfrm>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dirty="0" smtClean="0">
                <a:cs typeface="Arial" charset="0"/>
              </a:rPr>
              <a:t>Center for Assessment.  WY Accountability Advisory Committee (6/14/12)</a:t>
            </a:r>
            <a:endParaRPr lang="en-US" dirty="0">
              <a:cs typeface="Arial" charset="0"/>
            </a:endParaRPr>
          </a:p>
        </p:txBody>
      </p:sp>
      <p:pic>
        <p:nvPicPr>
          <p:cNvPr id="45066" name="Picture 8" descr="Web Logo 2"/>
          <p:cNvPicPr>
            <a:picLocks noChangeAspect="1" noChangeArrowheads="1"/>
          </p:cNvPicPr>
          <p:nvPr/>
        </p:nvPicPr>
        <p:blipFill>
          <a:blip r:embed="rId3" cstate="print"/>
          <a:srcRect/>
          <a:stretch>
            <a:fillRect/>
          </a:stretch>
        </p:blipFill>
        <p:spPr bwMode="auto">
          <a:xfrm>
            <a:off x="228600" y="6010275"/>
            <a:ext cx="762000" cy="671513"/>
          </a:xfrm>
          <a:prstGeom prst="rect">
            <a:avLst/>
          </a:prstGeom>
          <a:noFill/>
          <a:ln w="9525">
            <a:noFill/>
            <a:miter lim="800000"/>
            <a:headEnd/>
            <a:tailEnd/>
          </a:ln>
        </p:spPr>
      </p:pic>
      <p:sp>
        <p:nvSpPr>
          <p:cNvPr id="30" name="Rounded Rectangle 29"/>
          <p:cNvSpPr/>
          <p:nvPr/>
        </p:nvSpPr>
        <p:spPr>
          <a:xfrm>
            <a:off x="6358466" y="4089400"/>
            <a:ext cx="1871133" cy="143933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dirty="0" smtClean="0"/>
              <a:t>Results are used to improve instruction </a:t>
            </a:r>
            <a:endParaRPr lang="en-US" sz="2000" dirty="0"/>
          </a:p>
        </p:txBody>
      </p:sp>
      <p:sp>
        <p:nvSpPr>
          <p:cNvPr id="32" name="Rounded Rectangle 31"/>
          <p:cNvSpPr/>
          <p:nvPr/>
        </p:nvSpPr>
        <p:spPr>
          <a:xfrm>
            <a:off x="6324600" y="1769532"/>
            <a:ext cx="1981200" cy="143933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smtClean="0"/>
              <a:t>Student performance is well measured</a:t>
            </a:r>
            <a:endParaRPr lang="en-US" sz="2000" dirty="0"/>
          </a:p>
        </p:txBody>
      </p:sp>
      <p:sp>
        <p:nvSpPr>
          <p:cNvPr id="34" name="Oval 33"/>
          <p:cNvSpPr/>
          <p:nvPr/>
        </p:nvSpPr>
        <p:spPr>
          <a:xfrm>
            <a:off x="3488267" y="3885671"/>
            <a:ext cx="2209799" cy="188012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dirty="0" smtClean="0"/>
              <a:t>Evaluation results improve</a:t>
            </a:r>
            <a:endParaRPr lang="en-US" sz="2000" dirty="0"/>
          </a:p>
        </p:txBody>
      </p:sp>
      <p:cxnSp>
        <p:nvCxnSpPr>
          <p:cNvPr id="38" name="Straight Arrow Connector 37"/>
          <p:cNvCxnSpPr>
            <a:stCxn id="25" idx="3"/>
            <a:endCxn id="32" idx="1"/>
          </p:cNvCxnSpPr>
          <p:nvPr/>
        </p:nvCxnSpPr>
        <p:spPr>
          <a:xfrm>
            <a:off x="5257801" y="2400301"/>
            <a:ext cx="1066799" cy="88898"/>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2" idx="2"/>
            <a:endCxn id="30" idx="0"/>
          </p:cNvCxnSpPr>
          <p:nvPr/>
        </p:nvCxnSpPr>
        <p:spPr>
          <a:xfrm flipH="1">
            <a:off x="7294033" y="3208865"/>
            <a:ext cx="21167" cy="880535"/>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1"/>
            <a:endCxn id="34" idx="6"/>
          </p:cNvCxnSpPr>
          <p:nvPr/>
        </p:nvCxnSpPr>
        <p:spPr>
          <a:xfrm flipH="1">
            <a:off x="5698066" y="4809067"/>
            <a:ext cx="660400" cy="16669"/>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a:xfrm>
            <a:off x="228600" y="274638"/>
            <a:ext cx="8686800" cy="715962"/>
          </a:xfrm>
        </p:spPr>
        <p:txBody>
          <a:bodyPr>
            <a:noAutofit/>
          </a:bodyPr>
          <a:lstStyle/>
          <a:p>
            <a:r>
              <a:rPr lang="en-US" sz="3600" dirty="0" smtClean="0">
                <a:solidFill>
                  <a:srgbClr val="7B9899"/>
                </a:solidFill>
              </a:rPr>
              <a:t>Thinking Through a Theory of Action</a:t>
            </a:r>
          </a:p>
        </p:txBody>
      </p:sp>
      <p:sp>
        <p:nvSpPr>
          <p:cNvPr id="3" name="Content Placeholder 2"/>
          <p:cNvSpPr>
            <a:spLocks noGrp="1"/>
          </p:cNvSpPr>
          <p:nvPr>
            <p:ph sz="quarter" idx="1"/>
          </p:nvPr>
        </p:nvSpPr>
        <p:spPr>
          <a:xfrm>
            <a:off x="301625" y="990600"/>
            <a:ext cx="8504238" cy="5410201"/>
          </a:xfrm>
        </p:spPr>
        <p:txBody>
          <a:bodyPr>
            <a:normAutofit lnSpcReduction="10000"/>
          </a:bodyPr>
          <a:lstStyle/>
          <a:p>
            <a:pPr marL="274320" indent="-274320" fontAlgn="auto">
              <a:spcAft>
                <a:spcPts val="0"/>
              </a:spcAft>
              <a:buFont typeface="Wingdings 2"/>
              <a:buChar char=""/>
              <a:defRPr/>
            </a:pPr>
            <a:r>
              <a:rPr lang="en-US" dirty="0"/>
              <a:t>Policy </a:t>
            </a:r>
            <a:r>
              <a:rPr lang="en-US" dirty="0" smtClean="0"/>
              <a:t>makers </a:t>
            </a:r>
            <a:r>
              <a:rPr lang="en-US" dirty="0"/>
              <a:t>should have to very explicitly </a:t>
            </a:r>
            <a:r>
              <a:rPr lang="en-US" dirty="0" smtClean="0"/>
              <a:t>say why and </a:t>
            </a:r>
            <a:r>
              <a:rPr lang="en-US" b="1" u="sng" dirty="0" smtClean="0"/>
              <a:t>how</a:t>
            </a:r>
            <a:r>
              <a:rPr lang="en-US" dirty="0" smtClean="0"/>
              <a:t> implementing </a:t>
            </a:r>
            <a:r>
              <a:rPr lang="en-US" dirty="0"/>
              <a:t>test-based approaches to support educator effectiveness for these grades and subjects will lead to improved educational opportunities for </a:t>
            </a:r>
            <a:r>
              <a:rPr lang="en-US" dirty="0" smtClean="0"/>
              <a:t>students </a:t>
            </a:r>
          </a:p>
          <a:p>
            <a:pPr marL="548640" lvl="1" indent="-274320" fontAlgn="auto">
              <a:spcAft>
                <a:spcPts val="0"/>
              </a:spcAft>
              <a:buFont typeface="Wingdings"/>
              <a:buChar char=""/>
              <a:defRPr/>
            </a:pPr>
            <a:r>
              <a:rPr lang="en-US" dirty="0" smtClean="0"/>
              <a:t>For </a:t>
            </a:r>
            <a:r>
              <a:rPr lang="en-US" dirty="0"/>
              <a:t>example, one might postulate that holding teachers accountable for increases in student test scores on classroom-based assessments will lead to the development of both better assessments and improvements in student learning. </a:t>
            </a:r>
            <a:endParaRPr lang="en-US" dirty="0" smtClean="0"/>
          </a:p>
          <a:p>
            <a:pPr marL="274320" indent="-274320" fontAlgn="auto">
              <a:spcAft>
                <a:spcPts val="0"/>
              </a:spcAft>
              <a:buFont typeface="Wingdings 2"/>
              <a:buChar char=""/>
              <a:defRPr/>
            </a:pPr>
            <a:r>
              <a:rPr lang="en-US" dirty="0" smtClean="0"/>
              <a:t>What are the </a:t>
            </a:r>
            <a:r>
              <a:rPr lang="en-US" u="sng" dirty="0" smtClean="0"/>
              <a:t>specific mechanism(s)</a:t>
            </a:r>
            <a:r>
              <a:rPr lang="en-US" dirty="0" smtClean="0"/>
              <a:t> </a:t>
            </a:r>
            <a:r>
              <a:rPr lang="en-US" dirty="0"/>
              <a:t>by which </a:t>
            </a:r>
            <a:r>
              <a:rPr lang="en-US" dirty="0" smtClean="0"/>
              <a:t>the intended outcomes will occur? </a:t>
            </a:r>
          </a:p>
          <a:p>
            <a:pPr marL="548958" lvl="1" indent="-274320" fontAlgn="auto">
              <a:spcAft>
                <a:spcPts val="0"/>
              </a:spcAft>
              <a:buFont typeface="Wingdings 2"/>
              <a:buChar char=""/>
              <a:defRPr/>
            </a:pPr>
            <a:r>
              <a:rPr lang="en-US" dirty="0" smtClean="0"/>
              <a:t>E.g., targeted instruction, better PD, </a:t>
            </a:r>
            <a:r>
              <a:rPr lang="en-US" dirty="0"/>
              <a:t>and/or more appropriate curricular </a:t>
            </a:r>
            <a:r>
              <a:rPr lang="en-US" dirty="0" smtClean="0"/>
              <a:t>materials?</a:t>
            </a:r>
            <a:endParaRPr lang="en-US" dirty="0"/>
          </a:p>
        </p:txBody>
      </p:sp>
      <p:sp>
        <p:nvSpPr>
          <p:cNvPr id="4" name="Slide Number Placeholder 3"/>
          <p:cNvSpPr>
            <a:spLocks noGrp="1"/>
          </p:cNvSpPr>
          <p:nvPr>
            <p:ph type="sldNum" sz="quarter" idx="12"/>
          </p:nvPr>
        </p:nvSpPr>
        <p:spPr/>
        <p:txBody>
          <a:bodyPr/>
          <a:lstStyle/>
          <a:p>
            <a:pPr>
              <a:defRPr/>
            </a:pPr>
            <a:fld id="{35CDB946-DDF8-4BB2-98C5-40F2285FD061}" type="slidenum">
              <a:rPr lang="en-US"/>
              <a:pPr>
                <a:defRPr/>
              </a:pPr>
              <a:t>14</a:t>
            </a:fld>
            <a:endParaRPr lang="en-US" dirty="0"/>
          </a:p>
        </p:txBody>
      </p:sp>
      <p:sp>
        <p:nvSpPr>
          <p:cNvPr id="47108" name="Footer Placeholder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smtClean="0">
                <a:cs typeface="Arial" charset="0"/>
              </a:rPr>
              <a:t>Center for Assessment.  WY Accountability Advisory Committee (6/14/12)</a:t>
            </a:r>
            <a:endParaRPr lang="en-US" dirty="0">
              <a:cs typeface="Arial"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a:bodyPr>
          <a:lstStyle/>
          <a:p>
            <a:r>
              <a:rPr lang="en-US" dirty="0" smtClean="0"/>
              <a:t>What will be the major components of our system?</a:t>
            </a:r>
          </a:p>
          <a:p>
            <a:pPr lvl="1"/>
            <a:r>
              <a:rPr lang="en-US" dirty="0" smtClean="0"/>
              <a:t>Measures of teacher practice</a:t>
            </a:r>
          </a:p>
          <a:p>
            <a:pPr lvl="1"/>
            <a:r>
              <a:rPr lang="en-US" dirty="0" smtClean="0"/>
              <a:t>Measures of student performance</a:t>
            </a:r>
          </a:p>
          <a:p>
            <a:pPr lvl="1"/>
            <a:endParaRPr lang="en-US" dirty="0" smtClean="0"/>
          </a:p>
          <a:p>
            <a:pPr lvl="1"/>
            <a:r>
              <a:rPr lang="en-US" dirty="0" smtClean="0"/>
              <a:t>Student voice?</a:t>
            </a:r>
          </a:p>
          <a:p>
            <a:pPr lvl="1"/>
            <a:r>
              <a:rPr lang="en-US" dirty="0" smtClean="0"/>
              <a:t>Peer input?</a:t>
            </a:r>
          </a:p>
          <a:p>
            <a:pPr lvl="1"/>
            <a:r>
              <a:rPr lang="en-US" dirty="0" smtClean="0"/>
              <a:t>Other?</a:t>
            </a:r>
          </a:p>
          <a:p>
            <a:pPr lvl="1"/>
            <a:endParaRPr lang="en-US" dirty="0" smtClean="0"/>
          </a:p>
          <a:p>
            <a:r>
              <a:rPr lang="en-US" dirty="0" smtClean="0"/>
              <a:t>How will these be combined and weighted</a:t>
            </a:r>
            <a:r>
              <a:rPr lang="en-US" dirty="0" smtClean="0"/>
              <a:t>?</a:t>
            </a:r>
          </a:p>
          <a:p>
            <a:r>
              <a:rPr lang="en-US" dirty="0" smtClean="0"/>
              <a:t>How will these classes of indicators be integrated to form a coherent picture?</a:t>
            </a:r>
            <a:endParaRPr lang="en-US" dirty="0"/>
          </a:p>
        </p:txBody>
      </p:sp>
      <p:sp>
        <p:nvSpPr>
          <p:cNvPr id="3" name="Footer Placeholder 2"/>
          <p:cNvSpPr>
            <a:spLocks noGrp="1"/>
          </p:cNvSpPr>
          <p:nvPr>
            <p:ph type="ftr" sz="quarter" idx="11"/>
          </p:nvPr>
        </p:nvSpPr>
        <p:spPr/>
        <p:txBody>
          <a:bodyPr/>
          <a:lstStyle/>
          <a:p>
            <a:r>
              <a:rPr lang="en-US"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15</a:t>
            </a:fld>
            <a:endParaRPr lang="en-US" dirty="0"/>
          </a:p>
        </p:txBody>
      </p:sp>
      <p:sp>
        <p:nvSpPr>
          <p:cNvPr id="5" name="Title 4"/>
          <p:cNvSpPr>
            <a:spLocks noGrp="1"/>
          </p:cNvSpPr>
          <p:nvPr>
            <p:ph type="title"/>
          </p:nvPr>
        </p:nvSpPr>
        <p:spPr>
          <a:xfrm>
            <a:off x="457200" y="228600"/>
            <a:ext cx="8229600" cy="685800"/>
          </a:xfrm>
        </p:spPr>
        <p:txBody>
          <a:bodyPr>
            <a:normAutofit fontScale="90000"/>
          </a:bodyPr>
          <a:lstStyle/>
          <a:p>
            <a:r>
              <a:rPr lang="en-US" dirty="0" smtClean="0"/>
              <a:t>The General </a:t>
            </a:r>
            <a:r>
              <a:rPr lang="en-US" dirty="0" smtClean="0"/>
              <a:t>Evaluation Model</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5105400"/>
          </a:xfrm>
        </p:spPr>
        <p:txBody>
          <a:bodyPr>
            <a:normAutofit/>
          </a:bodyPr>
          <a:lstStyle/>
          <a:p>
            <a:r>
              <a:rPr lang="en-US" dirty="0" smtClean="0"/>
              <a:t>Involves </a:t>
            </a:r>
            <a:r>
              <a:rPr lang="en-US" dirty="0" smtClean="0"/>
              <a:t>ensuring that the school accountability and educator accountability systems are sending similar messages to schools and stakeholders</a:t>
            </a:r>
          </a:p>
          <a:p>
            <a:r>
              <a:rPr lang="en-US" dirty="0" smtClean="0"/>
              <a:t>It would make sense to use data from the school accountability system to augment information from the educator system</a:t>
            </a:r>
            <a:endParaRPr lang="en-US" dirty="0" smtClean="0"/>
          </a:p>
          <a:p>
            <a:r>
              <a:rPr lang="en-US" dirty="0" smtClean="0"/>
              <a:t>Further, it would also make sense to integrate the various components of the educator evaluation system to avoid a silo effect</a:t>
            </a:r>
          </a:p>
          <a:p>
            <a:pPr lvl="1"/>
            <a:endParaRPr lang="en-US" dirty="0"/>
          </a:p>
        </p:txBody>
      </p:sp>
      <p:sp>
        <p:nvSpPr>
          <p:cNvPr id="3" name="Footer Placeholder 2"/>
          <p:cNvSpPr>
            <a:spLocks noGrp="1"/>
          </p:cNvSpPr>
          <p:nvPr>
            <p:ph type="ftr" sz="quarter" idx="11"/>
          </p:nvPr>
        </p:nvSpPr>
        <p:spPr/>
        <p:txBody>
          <a:bodyPr/>
          <a:lstStyle/>
          <a:p>
            <a:r>
              <a:rPr lang="en-US"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16</a:t>
            </a:fld>
            <a:endParaRPr lang="en-US" dirty="0"/>
          </a:p>
        </p:txBody>
      </p:sp>
      <p:sp>
        <p:nvSpPr>
          <p:cNvPr id="5" name="Title 4"/>
          <p:cNvSpPr>
            <a:spLocks noGrp="1"/>
          </p:cNvSpPr>
          <p:nvPr>
            <p:ph type="title"/>
          </p:nvPr>
        </p:nvSpPr>
        <p:spPr>
          <a:xfrm>
            <a:off x="457200" y="274638"/>
            <a:ext cx="8229600" cy="868362"/>
          </a:xfrm>
        </p:spPr>
        <p:txBody>
          <a:bodyPr/>
          <a:lstStyle/>
          <a:p>
            <a:r>
              <a:rPr lang="en-US" dirty="0" smtClean="0"/>
              <a:t>Coherence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864291"/>
          </a:xfrm>
        </p:spPr>
        <p:txBody>
          <a:bodyPr/>
          <a:lstStyle/>
          <a:p>
            <a:r>
              <a:rPr lang="en-US" dirty="0" smtClean="0"/>
              <a:t>The following slides present some of the key decisions related to measurement model that will need to be made as we proceed</a:t>
            </a:r>
            <a:r>
              <a:rPr lang="en-US" dirty="0" smtClean="0"/>
              <a:t>?</a:t>
            </a:r>
          </a:p>
          <a:p>
            <a:endParaRPr lang="en-US" dirty="0" smtClean="0"/>
          </a:p>
          <a:p>
            <a:r>
              <a:rPr lang="en-US" dirty="0" smtClean="0"/>
              <a:t>As you know, the “devil is in the details” and there are many details with which to contend.</a:t>
            </a:r>
          </a:p>
          <a:p>
            <a:endParaRPr lang="en-US" dirty="0" smtClean="0"/>
          </a:p>
          <a:p>
            <a:r>
              <a:rPr lang="en-US" dirty="0" smtClean="0"/>
              <a:t>This is even more complicated when trying to reconcile and be clear about the state role</a:t>
            </a:r>
            <a:endParaRPr lang="en-US" dirty="0"/>
          </a:p>
        </p:txBody>
      </p:sp>
      <p:sp>
        <p:nvSpPr>
          <p:cNvPr id="3" name="Footer Placeholder 2"/>
          <p:cNvSpPr>
            <a:spLocks noGrp="1"/>
          </p:cNvSpPr>
          <p:nvPr>
            <p:ph type="ftr" sz="quarter" idx="11"/>
          </p:nvPr>
        </p:nvSpPr>
        <p:spPr/>
        <p:txBody>
          <a:bodyPr/>
          <a:lstStyle/>
          <a:p>
            <a:r>
              <a:rPr lang="en-US"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17</a:t>
            </a:fld>
            <a:endParaRPr lang="en-US" dirty="0"/>
          </a:p>
        </p:txBody>
      </p:sp>
      <p:sp>
        <p:nvSpPr>
          <p:cNvPr id="5" name="Title 4"/>
          <p:cNvSpPr>
            <a:spLocks noGrp="1"/>
          </p:cNvSpPr>
          <p:nvPr>
            <p:ph type="title"/>
          </p:nvPr>
        </p:nvSpPr>
        <p:spPr>
          <a:xfrm>
            <a:off x="457200" y="228600"/>
            <a:ext cx="8229600" cy="868362"/>
          </a:xfrm>
        </p:spPr>
        <p:txBody>
          <a:bodyPr/>
          <a:lstStyle/>
          <a:p>
            <a:r>
              <a:rPr lang="en-US" dirty="0" smtClean="0"/>
              <a:t>Specific Measurement Model</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14400"/>
            <a:ext cx="8458200" cy="5334000"/>
          </a:xfrm>
        </p:spPr>
        <p:txBody>
          <a:bodyPr>
            <a:normAutofit/>
          </a:bodyPr>
          <a:lstStyle/>
          <a:p>
            <a:r>
              <a:rPr lang="en-US" sz="2800" dirty="0" smtClean="0"/>
              <a:t>What are the indicators that operationalize the knowledge &amp; skills that define educator practice? For example, </a:t>
            </a:r>
            <a:r>
              <a:rPr lang="en-US" sz="2800" dirty="0" smtClean="0"/>
              <a:t>domains from </a:t>
            </a:r>
            <a:r>
              <a:rPr lang="en-US" sz="2800" dirty="0" smtClean="0"/>
              <a:t>Danielson’s Framework for </a:t>
            </a:r>
            <a:r>
              <a:rPr lang="en-US" sz="2800" dirty="0" smtClean="0"/>
              <a:t>Teaching </a:t>
            </a:r>
            <a:r>
              <a:rPr lang="en-US" sz="2800" dirty="0" smtClean="0"/>
              <a:t>include:</a:t>
            </a:r>
          </a:p>
          <a:p>
            <a:pPr lvl="3"/>
            <a:r>
              <a:rPr lang="en-US" sz="2400" dirty="0" smtClean="0"/>
              <a:t>Planning and Preparation</a:t>
            </a:r>
          </a:p>
          <a:p>
            <a:pPr lvl="3"/>
            <a:r>
              <a:rPr lang="en-US" sz="2400" dirty="0" smtClean="0"/>
              <a:t>The Classroom Environment</a:t>
            </a:r>
          </a:p>
          <a:p>
            <a:pPr lvl="3"/>
            <a:r>
              <a:rPr lang="en-US" sz="2400" dirty="0" smtClean="0"/>
              <a:t>Instruction</a:t>
            </a:r>
          </a:p>
          <a:p>
            <a:pPr lvl="3"/>
            <a:r>
              <a:rPr lang="en-US" sz="2400" dirty="0" smtClean="0"/>
              <a:t>Professional Responsibilities</a:t>
            </a:r>
          </a:p>
          <a:p>
            <a:pPr lvl="1"/>
            <a:r>
              <a:rPr lang="en-US" sz="2800" dirty="0" smtClean="0"/>
              <a:t>Should these be the default “standards of professional practice” or should WY adopt more general standards (e.g., ISLIC, NC,CO</a:t>
            </a:r>
            <a:r>
              <a:rPr lang="en-US" sz="2800" dirty="0" smtClean="0"/>
              <a:t>) or leave it up to districts?</a:t>
            </a:r>
            <a:endParaRPr lang="en-US" sz="2800" dirty="0" smtClean="0"/>
          </a:p>
          <a:p>
            <a:endParaRPr lang="en-US" dirty="0"/>
          </a:p>
        </p:txBody>
      </p:sp>
      <p:sp>
        <p:nvSpPr>
          <p:cNvPr id="3" name="Footer Placeholder 2"/>
          <p:cNvSpPr>
            <a:spLocks noGrp="1"/>
          </p:cNvSpPr>
          <p:nvPr>
            <p:ph type="ftr" sz="quarter" idx="11"/>
          </p:nvPr>
        </p:nvSpPr>
        <p:spPr/>
        <p:txBody>
          <a:bodyPr/>
          <a:lstStyle/>
          <a:p>
            <a:r>
              <a:rPr lang="en-US"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18</a:t>
            </a:fld>
            <a:endParaRPr lang="en-US" dirty="0"/>
          </a:p>
        </p:txBody>
      </p:sp>
      <p:sp>
        <p:nvSpPr>
          <p:cNvPr id="5" name="Title 4"/>
          <p:cNvSpPr>
            <a:spLocks noGrp="1"/>
          </p:cNvSpPr>
          <p:nvPr>
            <p:ph type="title"/>
          </p:nvPr>
        </p:nvSpPr>
        <p:spPr>
          <a:xfrm>
            <a:off x="457200" y="152400"/>
            <a:ext cx="8229600" cy="609600"/>
          </a:xfrm>
        </p:spPr>
        <p:txBody>
          <a:bodyPr>
            <a:normAutofit fontScale="90000"/>
          </a:bodyPr>
          <a:lstStyle/>
          <a:p>
            <a:r>
              <a:rPr lang="en-US" dirty="0" smtClean="0"/>
              <a:t>Measures of Educator Practice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lnSpcReduction="10000"/>
          </a:bodyPr>
          <a:lstStyle/>
          <a:p>
            <a:r>
              <a:rPr lang="en-US" dirty="0" smtClean="0"/>
              <a:t>Whatever standards are selected/developed, how shall they be measured?</a:t>
            </a:r>
          </a:p>
          <a:p>
            <a:pPr lvl="1"/>
            <a:r>
              <a:rPr lang="en-US" dirty="0" smtClean="0"/>
              <a:t>Classroom observations?</a:t>
            </a:r>
          </a:p>
          <a:p>
            <a:pPr lvl="1"/>
            <a:r>
              <a:rPr lang="en-US" dirty="0" smtClean="0"/>
              <a:t>Document (artifact) analysis?</a:t>
            </a:r>
          </a:p>
          <a:p>
            <a:pPr lvl="1"/>
            <a:r>
              <a:rPr lang="en-US" dirty="0" smtClean="0"/>
              <a:t>Structured interviews?</a:t>
            </a:r>
          </a:p>
          <a:p>
            <a:pPr lvl="1"/>
            <a:r>
              <a:rPr lang="en-US" dirty="0" smtClean="0"/>
              <a:t>Professional portfolios?</a:t>
            </a:r>
          </a:p>
          <a:p>
            <a:pPr lvl="1"/>
            <a:endParaRPr lang="en-US" dirty="0" smtClean="0"/>
          </a:p>
          <a:p>
            <a:r>
              <a:rPr lang="en-US" dirty="0" smtClean="0"/>
              <a:t>What about </a:t>
            </a:r>
            <a:r>
              <a:rPr lang="en-US" dirty="0" smtClean="0"/>
              <a:t>required data collection strategies and </a:t>
            </a:r>
            <a:r>
              <a:rPr lang="en-US" dirty="0" smtClean="0"/>
              <a:t>protocols (e.g., 4 observations/year)?</a:t>
            </a:r>
          </a:p>
          <a:p>
            <a:r>
              <a:rPr lang="en-US" dirty="0" smtClean="0"/>
              <a:t>What are the expected levels of performance on the various indicators?</a:t>
            </a:r>
            <a:endParaRPr lang="en-US" dirty="0" smtClean="0"/>
          </a:p>
          <a:p>
            <a:r>
              <a:rPr lang="en-US" dirty="0" smtClean="0"/>
              <a:t>What about </a:t>
            </a:r>
            <a:r>
              <a:rPr lang="en-US" dirty="0" smtClean="0"/>
              <a:t>observer training </a:t>
            </a:r>
            <a:r>
              <a:rPr lang="en-US" dirty="0" smtClean="0"/>
              <a:t>and </a:t>
            </a:r>
            <a:r>
              <a:rPr lang="en-US" dirty="0" smtClean="0"/>
              <a:t>certification?</a:t>
            </a:r>
            <a:endParaRPr lang="en-US" dirty="0"/>
          </a:p>
        </p:txBody>
      </p:sp>
      <p:sp>
        <p:nvSpPr>
          <p:cNvPr id="3" name="Footer Placeholder 2"/>
          <p:cNvSpPr>
            <a:spLocks noGrp="1"/>
          </p:cNvSpPr>
          <p:nvPr>
            <p:ph type="ftr" sz="quarter" idx="11"/>
          </p:nvPr>
        </p:nvSpPr>
        <p:spPr/>
        <p:txBody>
          <a:bodyPr/>
          <a:lstStyle/>
          <a:p>
            <a:r>
              <a:rPr lang="en-US"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19</a:t>
            </a:fld>
            <a:endParaRPr lang="en-US" dirty="0"/>
          </a:p>
        </p:txBody>
      </p:sp>
      <p:sp>
        <p:nvSpPr>
          <p:cNvPr id="5" name="Title 4"/>
          <p:cNvSpPr>
            <a:spLocks noGrp="1"/>
          </p:cNvSpPr>
          <p:nvPr>
            <p:ph type="title"/>
          </p:nvPr>
        </p:nvSpPr>
        <p:spPr>
          <a:xfrm>
            <a:off x="457200" y="228600"/>
            <a:ext cx="8229600" cy="639762"/>
          </a:xfrm>
        </p:spPr>
        <p:txBody>
          <a:bodyPr>
            <a:normAutofit fontScale="90000"/>
          </a:bodyPr>
          <a:lstStyle/>
          <a:p>
            <a:r>
              <a:rPr lang="en-US" dirty="0" smtClean="0"/>
              <a:t>Measures of Educator Practice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609600"/>
          </a:xfrm>
        </p:spPr>
        <p:txBody>
          <a:bodyPr>
            <a:normAutofit/>
          </a:bodyPr>
          <a:lstStyle/>
          <a:p>
            <a:r>
              <a:rPr lang="en-US" sz="2800" dirty="0" smtClean="0">
                <a:effectLst/>
              </a:rPr>
              <a:t>Student Performance Measures and Analytics</a:t>
            </a:r>
            <a:endParaRPr lang="en-US" sz="2800" dirty="0">
              <a:effectLst/>
            </a:endParaRPr>
          </a:p>
        </p:txBody>
      </p:sp>
      <p:sp>
        <p:nvSpPr>
          <p:cNvPr id="3" name="Content Placeholder 2"/>
          <p:cNvSpPr>
            <a:spLocks noGrp="1"/>
          </p:cNvSpPr>
          <p:nvPr>
            <p:ph idx="1"/>
          </p:nvPr>
        </p:nvSpPr>
        <p:spPr>
          <a:xfrm>
            <a:off x="457200" y="838200"/>
            <a:ext cx="8229600" cy="5486400"/>
          </a:xfrm>
        </p:spPr>
        <p:txBody>
          <a:bodyPr>
            <a:normAutofit/>
          </a:bodyPr>
          <a:lstStyle/>
          <a:p>
            <a:r>
              <a:rPr lang="en-US" dirty="0" smtClean="0"/>
              <a:t>What indicators of student growth should be used for PAWS grades and content areas?</a:t>
            </a:r>
          </a:p>
          <a:p>
            <a:r>
              <a:rPr lang="en-US" dirty="0" smtClean="0"/>
              <a:t>What performance (growth) indicators should be used for non-PAWS grades and content areas?</a:t>
            </a:r>
          </a:p>
          <a:p>
            <a:pPr lvl="1"/>
            <a:r>
              <a:rPr lang="en-US" sz="3200" b="1" dirty="0" smtClean="0"/>
              <a:t>This is a huge issue!</a:t>
            </a:r>
          </a:p>
          <a:p>
            <a:endParaRPr lang="en-US" dirty="0" smtClean="0"/>
          </a:p>
          <a:p>
            <a:r>
              <a:rPr lang="en-US" dirty="0" smtClean="0"/>
              <a:t>Should state-level measures of student growth be combined with local measures of student performance for each educator determination?  If so, how?</a:t>
            </a:r>
          </a:p>
          <a:p>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smtClean="0"/>
              <a:t>Center for Assessment.  WY Accountability Advisory Committee (6/14/12)</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10200"/>
          </a:xfrm>
        </p:spPr>
        <p:txBody>
          <a:bodyPr>
            <a:normAutofit lnSpcReduction="10000"/>
          </a:bodyPr>
          <a:lstStyle/>
          <a:p>
            <a:r>
              <a:rPr lang="en-US" dirty="0" smtClean="0"/>
              <a:t>What analytic approach (model) will be </a:t>
            </a:r>
            <a:r>
              <a:rPr lang="en-US" dirty="0" smtClean="0"/>
              <a:t>used for analyzing </a:t>
            </a:r>
            <a:r>
              <a:rPr lang="en-US" u="sng" dirty="0" smtClean="0"/>
              <a:t>State</a:t>
            </a:r>
            <a:r>
              <a:rPr lang="en-US" dirty="0" smtClean="0"/>
              <a:t> test data?  </a:t>
            </a:r>
            <a:endParaRPr lang="en-US" dirty="0" smtClean="0"/>
          </a:p>
          <a:p>
            <a:pPr lvl="1"/>
            <a:r>
              <a:rPr lang="en-US" dirty="0" smtClean="0"/>
              <a:t>What are the technical and policy issues that need to be considered in choosing a model? </a:t>
            </a:r>
            <a:endParaRPr lang="en-US" dirty="0" smtClean="0"/>
          </a:p>
          <a:p>
            <a:pPr lvl="1"/>
            <a:r>
              <a:rPr lang="en-US" dirty="0" smtClean="0"/>
              <a:t>What are the advantages/disadvantages of using SGPs for educator evaluation?</a:t>
            </a:r>
            <a:endParaRPr lang="en-US" dirty="0" smtClean="0"/>
          </a:p>
          <a:p>
            <a:r>
              <a:rPr lang="en-US" dirty="0" smtClean="0"/>
              <a:t>What is the standard for ‘good enough’ growth? </a:t>
            </a:r>
          </a:p>
          <a:p>
            <a:r>
              <a:rPr lang="en-US" dirty="0" smtClean="0"/>
              <a:t>Should growth expectations be “conditioned” on factors other than prior performance such as poverty, etc.?</a:t>
            </a:r>
          </a:p>
          <a:p>
            <a:r>
              <a:rPr lang="en-US" dirty="0" smtClean="0"/>
              <a:t>What information should be reported to whom and at what level? </a:t>
            </a:r>
          </a:p>
          <a:p>
            <a:pPr lvl="1"/>
            <a:endParaRPr lang="en-US" dirty="0" smtClean="0"/>
          </a:p>
        </p:txBody>
      </p:sp>
      <p:sp>
        <p:nvSpPr>
          <p:cNvPr id="2" name="Title 1"/>
          <p:cNvSpPr>
            <a:spLocks noGrp="1"/>
          </p:cNvSpPr>
          <p:nvPr>
            <p:ph type="title"/>
          </p:nvPr>
        </p:nvSpPr>
        <p:spPr>
          <a:xfrm>
            <a:off x="457200" y="228600"/>
            <a:ext cx="8229600" cy="639762"/>
          </a:xfrm>
        </p:spPr>
        <p:txBody>
          <a:bodyPr>
            <a:normAutofit/>
          </a:bodyPr>
          <a:lstStyle/>
          <a:p>
            <a:r>
              <a:rPr lang="en-US" sz="3200" dirty="0" smtClean="0">
                <a:effectLst/>
              </a:rPr>
              <a:t>Student Performance: Analyzing Growth </a:t>
            </a:r>
            <a:endParaRPr lang="en-US" sz="3200" dirty="0">
              <a:effectLst/>
            </a:endParaRPr>
          </a:p>
        </p:txBody>
      </p:sp>
      <p:sp>
        <p:nvSpPr>
          <p:cNvPr id="4" name="Slide Number Placeholder 3"/>
          <p:cNvSpPr>
            <a:spLocks noGrp="1"/>
          </p:cNvSpPr>
          <p:nvPr>
            <p:ph type="sldNum" sz="quarter" idx="12"/>
          </p:nvPr>
        </p:nvSpPr>
        <p:spPr/>
        <p:txBody>
          <a:bodyPr/>
          <a:lstStyle/>
          <a:p>
            <a:fld id="{3454B693-B468-42A8-A04E-B0389EB91439}" type="slidenum">
              <a:rPr lang="en-US" smtClean="0"/>
              <a:pPr/>
              <a:t>21</a:t>
            </a:fld>
            <a:endParaRPr lang="en-US" dirty="0"/>
          </a:p>
        </p:txBody>
      </p:sp>
      <p:sp>
        <p:nvSpPr>
          <p:cNvPr id="5" name="Footer Placeholder 4"/>
          <p:cNvSpPr>
            <a:spLocks noGrp="1"/>
          </p:cNvSpPr>
          <p:nvPr>
            <p:ph type="ftr" sz="quarter" idx="11"/>
          </p:nvPr>
        </p:nvSpPr>
        <p:spPr/>
        <p:txBody>
          <a:bodyPr/>
          <a:lstStyle/>
          <a:p>
            <a:r>
              <a:rPr lang="en-US" smtClean="0"/>
              <a:t>Center for Assessment.  WY Accountability Advisory Committee (6/14/12)</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4"/>
          <p:cNvSpPr>
            <a:spLocks noGrp="1" noChangeArrowheads="1"/>
          </p:cNvSpPr>
          <p:nvPr>
            <p:ph type="title"/>
          </p:nvPr>
        </p:nvSpPr>
        <p:spPr>
          <a:xfrm>
            <a:off x="301625" y="228600"/>
            <a:ext cx="8534400" cy="617538"/>
          </a:xfrm>
        </p:spPr>
        <p:txBody>
          <a:bodyPr>
            <a:normAutofit fontScale="90000"/>
          </a:bodyPr>
          <a:lstStyle/>
          <a:p>
            <a:r>
              <a:rPr lang="en-US" sz="2000" dirty="0" smtClean="0">
                <a:solidFill>
                  <a:srgbClr val="7B9899"/>
                </a:solidFill>
              </a:rPr>
              <a:t>Mapping educators to standards, assessments &amp; growth (Lee, 2010, based on preliminary data from MA DOE)</a:t>
            </a:r>
          </a:p>
        </p:txBody>
      </p:sp>
      <p:graphicFrame>
        <p:nvGraphicFramePr>
          <p:cNvPr id="1026" name="Object 2"/>
          <p:cNvGraphicFramePr>
            <a:graphicFrameLocks noChangeAspect="1"/>
          </p:cNvGraphicFramePr>
          <p:nvPr>
            <p:ph idx="1"/>
          </p:nvPr>
        </p:nvGraphicFramePr>
        <p:xfrm>
          <a:off x="990600" y="914399"/>
          <a:ext cx="7239000" cy="5396917"/>
        </p:xfrm>
        <a:graphic>
          <a:graphicData uri="http://schemas.openxmlformats.org/presentationml/2006/ole">
            <p:oleObj spid="_x0000_s1026" name="Visio" r:id="rId4" imgW="9739432" imgH="7261622" progId="">
              <p:embed/>
            </p:oleObj>
          </a:graphicData>
        </a:graphic>
      </p:graphicFrame>
      <p:sp>
        <p:nvSpPr>
          <p:cNvPr id="5" name="Slide Number Placeholder 4"/>
          <p:cNvSpPr>
            <a:spLocks noGrp="1"/>
          </p:cNvSpPr>
          <p:nvPr>
            <p:ph type="sldNum" sz="quarter" idx="12"/>
          </p:nvPr>
        </p:nvSpPr>
        <p:spPr/>
        <p:txBody>
          <a:bodyPr/>
          <a:lstStyle/>
          <a:p>
            <a:pPr>
              <a:defRPr/>
            </a:pPr>
            <a:fld id="{20EE343B-F568-4D0B-8B77-E0A81581998B}" type="slidenum">
              <a:rPr lang="en-US"/>
              <a:pPr>
                <a:defRPr/>
              </a:pPr>
              <a:t>22</a:t>
            </a:fld>
            <a:endParaRPr lang="en-US" dirty="0"/>
          </a:p>
        </p:txBody>
      </p:sp>
      <p:sp>
        <p:nvSpPr>
          <p:cNvPr id="1029" name="Footer Placeholder 5"/>
          <p:cNvSpPr>
            <a:spLocks noGrp="1"/>
          </p:cNvSpPr>
          <p:nvPr>
            <p:ph type="ftr" sz="quarter" idx="11"/>
          </p:nvPr>
        </p:nvSpPr>
        <p:spPr bwMode="auto">
          <a:xfrm>
            <a:off x="2819400" y="6553200"/>
            <a:ext cx="5715000" cy="219869"/>
          </a:xfrm>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dirty="0" smtClean="0">
                <a:cs typeface="Arial" charset="0"/>
              </a:rPr>
              <a:t>Center for Assessment.  WY Accountability Advisory Committee (6/14/12)</a:t>
            </a:r>
            <a:endParaRPr lang="en-US" dirty="0">
              <a:cs typeface="Arial"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152400"/>
            <a:ext cx="8229600" cy="685800"/>
          </a:xfrm>
        </p:spPr>
        <p:txBody>
          <a:bodyPr>
            <a:normAutofit fontScale="90000"/>
          </a:bodyPr>
          <a:lstStyle/>
          <a:p>
            <a:r>
              <a:rPr lang="en-US" dirty="0" smtClean="0">
                <a:solidFill>
                  <a:srgbClr val="7B9899"/>
                </a:solidFill>
              </a:rPr>
              <a:t>The Non-Tested Challenge</a:t>
            </a:r>
          </a:p>
        </p:txBody>
      </p:sp>
      <p:sp>
        <p:nvSpPr>
          <p:cNvPr id="20482" name="Footer Placeholder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smtClean="0">
                <a:cs typeface="Arial" charset="0"/>
              </a:rPr>
              <a:t>Center for Assessment.  WY Accountability Advisory Committee (6/14/12)</a:t>
            </a:r>
            <a:endParaRPr lang="en-US" dirty="0">
              <a:cs typeface="Arial" charset="0"/>
            </a:endParaRPr>
          </a:p>
        </p:txBody>
      </p:sp>
      <p:sp>
        <p:nvSpPr>
          <p:cNvPr id="4" name="Slide Number Placeholder 3"/>
          <p:cNvSpPr>
            <a:spLocks noGrp="1"/>
          </p:cNvSpPr>
          <p:nvPr>
            <p:ph type="sldNum" sz="quarter" idx="12"/>
          </p:nvPr>
        </p:nvSpPr>
        <p:spPr/>
        <p:txBody>
          <a:bodyPr/>
          <a:lstStyle/>
          <a:p>
            <a:pPr>
              <a:defRPr/>
            </a:pPr>
            <a:fld id="{E921A800-B981-471F-8703-95BF072A0E56}" type="slidenum">
              <a:rPr lang="en-US"/>
              <a:pPr>
                <a:defRPr/>
              </a:pPr>
              <a:t>23</a:t>
            </a:fld>
            <a:endParaRPr lang="en-US" dirty="0"/>
          </a:p>
        </p:txBody>
      </p:sp>
      <p:sp>
        <p:nvSpPr>
          <p:cNvPr id="5" name="Content Placeholder 4"/>
          <p:cNvSpPr>
            <a:spLocks noGrp="1"/>
          </p:cNvSpPr>
          <p:nvPr>
            <p:ph sz="quarter" idx="1"/>
          </p:nvPr>
        </p:nvSpPr>
        <p:spPr>
          <a:xfrm>
            <a:off x="301624" y="914400"/>
            <a:ext cx="8613775" cy="5393267"/>
          </a:xfrm>
        </p:spPr>
        <p:txBody>
          <a:bodyPr>
            <a:noAutofit/>
          </a:bodyPr>
          <a:lstStyle/>
          <a:p>
            <a:pPr marL="274320" indent="-274320" fontAlgn="auto">
              <a:spcAft>
                <a:spcPts val="0"/>
              </a:spcAft>
              <a:buFont typeface="Wingdings 2"/>
              <a:buChar char=""/>
              <a:defRPr/>
            </a:pPr>
            <a:r>
              <a:rPr lang="en-US" sz="2000" dirty="0" smtClean="0"/>
              <a:t>Lack of high quality measures of student performance, particularly for the purposes for which they are being used</a:t>
            </a:r>
          </a:p>
          <a:p>
            <a:pPr marL="274320" indent="-274320" fontAlgn="auto">
              <a:spcAft>
                <a:spcPts val="0"/>
              </a:spcAft>
              <a:buFont typeface="Wingdings 2"/>
              <a:buChar char=""/>
              <a:defRPr/>
            </a:pPr>
            <a:r>
              <a:rPr lang="en-US" sz="2000" dirty="0" smtClean="0"/>
              <a:t>Limitations of analytical options for calculating educator contributions to student performance</a:t>
            </a:r>
          </a:p>
          <a:p>
            <a:pPr marL="274320" indent="-274320" fontAlgn="auto">
              <a:spcAft>
                <a:spcPts val="0"/>
              </a:spcAft>
              <a:buFont typeface="Wingdings 2"/>
              <a:buChar char=""/>
              <a:defRPr/>
            </a:pPr>
            <a:r>
              <a:rPr lang="en-US" sz="2000" dirty="0" smtClean="0"/>
              <a:t>Comparability concerns</a:t>
            </a:r>
          </a:p>
          <a:p>
            <a:pPr marL="274320" indent="-274320" fontAlgn="auto">
              <a:spcAft>
                <a:spcPts val="0"/>
              </a:spcAft>
              <a:buFont typeface="Wingdings 2"/>
              <a:buChar char=""/>
              <a:defRPr/>
            </a:pPr>
            <a:r>
              <a:rPr lang="en-US" sz="2000" dirty="0" smtClean="0"/>
              <a:t>Lack of technical capacity at the local and even state levels</a:t>
            </a:r>
          </a:p>
          <a:p>
            <a:pPr marL="274320" indent="-274320" fontAlgn="auto">
              <a:spcAft>
                <a:spcPts val="0"/>
              </a:spcAft>
              <a:buFont typeface="Wingdings 2"/>
              <a:buChar char=""/>
              <a:defRPr/>
            </a:pPr>
            <a:r>
              <a:rPr lang="en-US" sz="2000" dirty="0" smtClean="0"/>
              <a:t>Lack of predictable course sequences</a:t>
            </a:r>
          </a:p>
          <a:p>
            <a:pPr marL="274320" indent="-274320" fontAlgn="auto">
              <a:spcAft>
                <a:spcPts val="0"/>
              </a:spcAft>
              <a:buFont typeface="Wingdings 2"/>
              <a:buChar char=""/>
              <a:defRPr/>
            </a:pPr>
            <a:r>
              <a:rPr lang="en-US" sz="2000" dirty="0" smtClean="0"/>
              <a:t>Not enough time</a:t>
            </a:r>
          </a:p>
          <a:p>
            <a:pPr marL="274320" indent="-274320" fontAlgn="auto">
              <a:spcAft>
                <a:spcPts val="0"/>
              </a:spcAft>
              <a:buFont typeface="Wingdings 2"/>
              <a:buChar char=""/>
              <a:defRPr/>
            </a:pPr>
            <a:r>
              <a:rPr lang="en-US" sz="2000" dirty="0" smtClean="0"/>
              <a:t>Not enough money</a:t>
            </a:r>
          </a:p>
          <a:p>
            <a:pPr marL="274320" indent="-274320" fontAlgn="auto">
              <a:spcAft>
                <a:spcPts val="0"/>
              </a:spcAft>
              <a:buFont typeface="Wingdings 2"/>
              <a:buChar char=""/>
              <a:defRPr/>
            </a:pPr>
            <a:r>
              <a:rPr lang="en-US" sz="2000" dirty="0" smtClean="0"/>
              <a:t>Too much policy pressure (e.g., 50%)</a:t>
            </a:r>
          </a:p>
          <a:p>
            <a:pPr marL="274320" indent="-274320" fontAlgn="auto">
              <a:spcAft>
                <a:spcPts val="0"/>
              </a:spcAft>
              <a:buFont typeface="Wingdings 2"/>
              <a:buChar char=""/>
              <a:defRPr/>
            </a:pPr>
            <a:r>
              <a:rPr lang="en-US" sz="2000" dirty="0" smtClean="0"/>
              <a:t>Huge risk of corruption</a:t>
            </a:r>
          </a:p>
          <a:p>
            <a:pPr marL="274320" indent="-274320" fontAlgn="auto">
              <a:spcAft>
                <a:spcPts val="0"/>
              </a:spcAft>
              <a:buFont typeface="Wingdings 2"/>
              <a:buChar char=""/>
              <a:defRPr/>
            </a:pPr>
            <a:r>
              <a:rPr lang="en-US" sz="2000" dirty="0" smtClean="0"/>
              <a:t>Challenging issues of attribution </a:t>
            </a:r>
          </a:p>
          <a:p>
            <a:pPr marL="274320" indent="-274320" fontAlgn="auto">
              <a:spcAft>
                <a:spcPts val="0"/>
              </a:spcAft>
              <a:buFont typeface="Wingdings 2"/>
              <a:buChar char=""/>
              <a:defRPr/>
            </a:pPr>
            <a:endParaRPr lang="en-US" sz="2000" dirty="0" smtClean="0"/>
          </a:p>
          <a:p>
            <a:pPr marL="274320" indent="-274320" fontAlgn="auto">
              <a:spcAft>
                <a:spcPts val="0"/>
              </a:spcAft>
              <a:buFont typeface="Wingdings 2"/>
              <a:buChar char=""/>
              <a:defRPr/>
            </a:pPr>
            <a:r>
              <a:rPr lang="en-US" sz="2000" dirty="0" smtClean="0"/>
              <a:t>Many of these are challenges for tested as well as non-tested, but may be exacerbated for non-tested subjects and grades</a:t>
            </a:r>
            <a:endParaRPr lang="en-US" sz="2000" i="1"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457200" y="152400"/>
            <a:ext cx="8229600" cy="792162"/>
          </a:xfrm>
        </p:spPr>
        <p:txBody>
          <a:bodyPr>
            <a:normAutofit/>
          </a:bodyPr>
          <a:lstStyle/>
          <a:p>
            <a:r>
              <a:rPr lang="en-US" sz="3200" dirty="0" smtClean="0">
                <a:solidFill>
                  <a:srgbClr val="7B9899"/>
                </a:solidFill>
              </a:rPr>
              <a:t>All Educators in NTSG are Not the Same</a:t>
            </a:r>
          </a:p>
        </p:txBody>
      </p:sp>
      <p:sp>
        <p:nvSpPr>
          <p:cNvPr id="21506" name="Footer Placeholder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smtClean="0">
                <a:cs typeface="Arial" charset="0"/>
              </a:rPr>
              <a:t>Center for Assessment.  WY Accountability Advisory Committee (6/14/12)</a:t>
            </a:r>
            <a:endParaRPr lang="en-US" dirty="0">
              <a:cs typeface="Arial" charset="0"/>
            </a:endParaRPr>
          </a:p>
        </p:txBody>
      </p:sp>
      <p:sp>
        <p:nvSpPr>
          <p:cNvPr id="4" name="Slide Number Placeholder 3"/>
          <p:cNvSpPr>
            <a:spLocks noGrp="1"/>
          </p:cNvSpPr>
          <p:nvPr>
            <p:ph type="sldNum" sz="quarter" idx="12"/>
          </p:nvPr>
        </p:nvSpPr>
        <p:spPr/>
        <p:txBody>
          <a:bodyPr/>
          <a:lstStyle/>
          <a:p>
            <a:pPr>
              <a:defRPr/>
            </a:pPr>
            <a:fld id="{990734C2-26F2-450E-ABBF-E4C16506C5A3}" type="slidenum">
              <a:rPr lang="en-US"/>
              <a:pPr>
                <a:defRPr/>
              </a:pPr>
              <a:t>24</a:t>
            </a:fld>
            <a:endParaRPr lang="en-US" dirty="0"/>
          </a:p>
        </p:txBody>
      </p:sp>
      <p:sp>
        <p:nvSpPr>
          <p:cNvPr id="5" name="Content Placeholder 4"/>
          <p:cNvSpPr>
            <a:spLocks noGrp="1"/>
          </p:cNvSpPr>
          <p:nvPr>
            <p:ph sz="quarter" idx="1"/>
          </p:nvPr>
        </p:nvSpPr>
        <p:spPr>
          <a:xfrm>
            <a:off x="301625" y="990601"/>
            <a:ext cx="8504238" cy="5359400"/>
          </a:xfrm>
        </p:spPr>
        <p:txBody>
          <a:bodyPr>
            <a:normAutofit lnSpcReduction="10000"/>
          </a:bodyPr>
          <a:lstStyle/>
          <a:p>
            <a:pPr marL="274320" indent="-274320" fontAlgn="auto">
              <a:spcAft>
                <a:spcPts val="0"/>
              </a:spcAft>
              <a:buFont typeface="Wingdings 2"/>
              <a:buChar char=""/>
              <a:defRPr/>
            </a:pPr>
            <a:r>
              <a:rPr lang="en-US" dirty="0" smtClean="0"/>
              <a:t>Instead of dealing with each individual case, it makes sense to create an approach for addressing categories of educators</a:t>
            </a:r>
          </a:p>
          <a:p>
            <a:pPr marL="274320" indent="-274320" fontAlgn="auto">
              <a:spcAft>
                <a:spcPts val="0"/>
              </a:spcAft>
              <a:buFont typeface="Wingdings 2"/>
              <a:buChar char=""/>
              <a:defRPr/>
            </a:pPr>
            <a:r>
              <a:rPr lang="en-US" dirty="0" smtClean="0"/>
              <a:t>The general categorization can occur at the state level and should be fine-tuned at the district or even school level</a:t>
            </a:r>
          </a:p>
          <a:p>
            <a:pPr marL="274320" indent="-274320" fontAlgn="auto">
              <a:spcAft>
                <a:spcPts val="0"/>
              </a:spcAft>
              <a:buFont typeface="Wingdings 2"/>
              <a:buChar char=""/>
              <a:defRPr/>
            </a:pPr>
            <a:r>
              <a:rPr lang="en-US" dirty="0" smtClean="0"/>
              <a:t>One classification approach is based on the data available for the various groups of educators</a:t>
            </a:r>
          </a:p>
          <a:p>
            <a:r>
              <a:rPr lang="en-US" dirty="0" smtClean="0"/>
              <a:t>The following excerpt of a </a:t>
            </a:r>
            <a:r>
              <a:rPr lang="en-US" dirty="0" smtClean="0"/>
              <a:t>chart, </a:t>
            </a:r>
            <a:r>
              <a:rPr lang="en-US" dirty="0" smtClean="0"/>
              <a:t>created for Colorado, provides examples of the nominal types of educators that would fall into the different data categories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1"/>
          </p:nvPr>
        </p:nvSpPr>
        <p:spPr bwMode="auto">
          <a:noFill/>
          <a:ln>
            <a:miter lim="800000"/>
            <a:headEnd/>
            <a:tailEnd/>
          </a:ln>
        </p:spPr>
        <p:txBody>
          <a:bodyPr wrap="square" tIns="45720" bIns="45720" numCol="1" anchorCtr="0" compatLnSpc="1">
            <a:prstTxWarp prst="textNoShape">
              <a:avLst/>
            </a:prstTxWarp>
          </a:bodyPr>
          <a:lstStyle/>
          <a:p>
            <a:pPr fontAlgn="base">
              <a:spcBef>
                <a:spcPct val="0"/>
              </a:spcBef>
              <a:spcAft>
                <a:spcPct val="0"/>
              </a:spcAft>
            </a:pPr>
            <a:fld id="{0531960F-C2B7-4EAD-A9A0-708AF4ADB362}" type="slidenum">
              <a:rPr lang="en-US">
                <a:cs typeface="Arial" charset="0"/>
              </a:rPr>
              <a:pPr fontAlgn="base">
                <a:spcBef>
                  <a:spcPct val="0"/>
                </a:spcBef>
                <a:spcAft>
                  <a:spcPct val="0"/>
                </a:spcAft>
              </a:pPr>
              <a:t>25</a:t>
            </a:fld>
            <a:endParaRPr lang="en-US" dirty="0">
              <a:cs typeface="Arial" charset="0"/>
            </a:endParaRPr>
          </a:p>
        </p:txBody>
      </p:sp>
      <p:graphicFrame>
        <p:nvGraphicFramePr>
          <p:cNvPr id="24605" name="Group 29"/>
          <p:cNvGraphicFramePr>
            <a:graphicFrameLocks noGrp="1"/>
          </p:cNvGraphicFramePr>
          <p:nvPr/>
        </p:nvGraphicFramePr>
        <p:xfrm>
          <a:off x="152400" y="4953"/>
          <a:ext cx="8991600" cy="6853046"/>
        </p:xfrm>
        <a:graphic>
          <a:graphicData uri="http://schemas.openxmlformats.org/drawingml/2006/table">
            <a:tbl>
              <a:tblPr/>
              <a:tblGrid>
                <a:gridCol w="4495802"/>
                <a:gridCol w="4495798"/>
              </a:tblGrid>
              <a:tr h="55547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Arial" charset="0"/>
                        </a:rPr>
                        <a:t>Personnel defined by end of year state summative assessments available</a:t>
                      </a:r>
                      <a:endParaRPr kumimoji="0" lang="en-US" sz="1600" b="0" i="0" u="none" strike="noStrike" cap="none" normalizeH="0" baseline="0" dirty="0" smtClean="0">
                        <a:ln>
                          <a:noFill/>
                        </a:ln>
                        <a:solidFill>
                          <a:schemeClr val="tx1"/>
                        </a:solidFill>
                        <a:effectLst/>
                        <a:latin typeface="Times New Roman" pitchFamily="18" charset="0"/>
                        <a:cs typeface="Arial" charset="0"/>
                      </a:endParaRPr>
                    </a:p>
                  </a:txBody>
                  <a:tcPr marL="45697" marR="4569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Arial" charset="0"/>
                        </a:rPr>
                        <a:t>Personnel Type (Examples)</a:t>
                      </a:r>
                      <a:endParaRPr kumimoji="0" lang="en-US" sz="1600" b="0" i="0" u="none" strike="noStrike" cap="none" normalizeH="0" baseline="0" dirty="0" smtClean="0">
                        <a:ln>
                          <a:noFill/>
                        </a:ln>
                        <a:solidFill>
                          <a:schemeClr val="tx1"/>
                        </a:solidFill>
                        <a:effectLst/>
                        <a:latin typeface="Times New Roman" pitchFamily="18" charset="0"/>
                        <a:cs typeface="Arial" charset="0"/>
                      </a:endParaRPr>
                    </a:p>
                  </a:txBody>
                  <a:tcPr marL="45697" marR="4569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5477">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Personnel teaching a core subject area where end of year state assessments measuring content taught in their subject area are available in two adjacent grades</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8CCE4"/>
                    </a:solid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Grades 4 -10 core subject teachers for literacy and math</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88693">
                <a:tc vMerge="1">
                  <a:txBody>
                    <a:bodyPr/>
                    <a:lstStyle/>
                    <a:p>
                      <a:endParaRPr lang="en-US"/>
                    </a:p>
                  </a:txBody>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Interventionists/specialists with shared responsibility with core subject teachers for improving literacy/numeracy skills of students in grades 4-10 (e.g., RTI specialists, ELA, special education teachers)</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20534">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Personnel teaching in a core subject area where an end of year state summative assessment is available to measure content taught in their classrooms.</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4BC96"/>
                    </a:solid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Science teachers (currently, grades 5,8 and 10) and grade 3 teachers with end of year summative state assessments available for their respective grade  </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0955">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Personnel teaching in a core subject area where no end of year state summative assessments are currently available to measure content taught in their classrooms.</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E9D9"/>
                    </a:solid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Core subject teachers in the sciences (with the exception of grades 5, 8 and some personnel for10) and social studies.  All ECE, grades K-2 and grades 11-12 teachers.</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0955">
                <a:tc vMerge="1">
                  <a:txBody>
                    <a:bodyPr/>
                    <a:lstStyle/>
                    <a:p>
                      <a:endParaRPr lang="en-US"/>
                    </a:p>
                  </a:txBody>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Resource teachers/specialists with instructional responsibility  not directly linked to literacy/numeracy skills of students (e.g., music, arts, and P.E. teachers)</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0955">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Personnel with no direct instructional responsibilities </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0D9"/>
                    </a:solid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charset="0"/>
                        </a:rPr>
                        <a:t>Resource teachers/specialists with indirect (non-instructional) responsibility for improving literacy/numeracy skills of students (e.g., social workers, psychologists, and school nurses).</a:t>
                      </a:r>
                    </a:p>
                  </a:txBody>
                  <a:tcPr marL="45697" marR="4569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715962"/>
          </a:xfrm>
        </p:spPr>
        <p:txBody>
          <a:bodyPr>
            <a:normAutofit fontScale="90000"/>
          </a:bodyPr>
          <a:lstStyle/>
          <a:p>
            <a:r>
              <a:rPr lang="en-US" dirty="0" smtClean="0"/>
              <a:t>Comparability</a:t>
            </a:r>
            <a:endParaRPr lang="en-US" dirty="0"/>
          </a:p>
        </p:txBody>
      </p:sp>
      <p:sp>
        <p:nvSpPr>
          <p:cNvPr id="3" name="Content Placeholder 2"/>
          <p:cNvSpPr>
            <a:spLocks noGrp="1"/>
          </p:cNvSpPr>
          <p:nvPr>
            <p:ph sz="quarter" idx="1"/>
          </p:nvPr>
        </p:nvSpPr>
        <p:spPr>
          <a:xfrm>
            <a:off x="381000" y="762000"/>
            <a:ext cx="8503920" cy="5562600"/>
          </a:xfrm>
        </p:spPr>
        <p:txBody>
          <a:bodyPr>
            <a:normAutofit/>
          </a:bodyPr>
          <a:lstStyle/>
          <a:p>
            <a:r>
              <a:rPr lang="en-US" dirty="0" smtClean="0"/>
              <a:t>What do we mean by comparability in this context?</a:t>
            </a:r>
          </a:p>
          <a:p>
            <a:pPr lvl="1"/>
            <a:r>
              <a:rPr lang="en-US" dirty="0" smtClean="0"/>
              <a:t>Educators within the units of analysis are held to similar levels of expectations, at least in some relative sense</a:t>
            </a:r>
          </a:p>
          <a:p>
            <a:pPr lvl="1"/>
            <a:r>
              <a:rPr lang="en-US" dirty="0" smtClean="0"/>
              <a:t>For example, it would be a threat to the system if the teachers in grades 4-8 reading and math received noticeably lower ratings than the rest of the teachers (NTSG) in the school</a:t>
            </a:r>
          </a:p>
          <a:p>
            <a:r>
              <a:rPr lang="en-US" dirty="0" smtClean="0"/>
              <a:t>At what levels is comparability important?</a:t>
            </a:r>
          </a:p>
          <a:p>
            <a:pPr lvl="1"/>
            <a:r>
              <a:rPr lang="en-US" dirty="0" smtClean="0"/>
              <a:t>Within schools?  Clearly yes.</a:t>
            </a:r>
          </a:p>
          <a:p>
            <a:pPr lvl="1"/>
            <a:r>
              <a:rPr lang="en-US" dirty="0" smtClean="0"/>
              <a:t>Within districts?  Probably yes.</a:t>
            </a:r>
          </a:p>
          <a:p>
            <a:pPr lvl="1"/>
            <a:r>
              <a:rPr lang="en-US" dirty="0" smtClean="0"/>
              <a:t>Within states?  It would be nice, but it might be too high of a bar right now.</a:t>
            </a:r>
            <a:endParaRPr lang="en-US" dirty="0"/>
          </a:p>
        </p:txBody>
      </p:sp>
      <p:sp>
        <p:nvSpPr>
          <p:cNvPr id="4" name="Footer Placeholder 3"/>
          <p:cNvSpPr>
            <a:spLocks noGrp="1"/>
          </p:cNvSpPr>
          <p:nvPr>
            <p:ph type="ftr" sz="quarter" idx="11"/>
          </p:nvPr>
        </p:nvSpPr>
        <p:spPr/>
        <p:txBody>
          <a:bodyPr/>
          <a:lstStyle/>
          <a:p>
            <a:pPr>
              <a:defRPr/>
            </a:pPr>
            <a:r>
              <a:rPr lang="en-US" smtClean="0"/>
              <a:t>Center for Assessment.  WY Accountability Advisory Committee (6/14/12)</a:t>
            </a:r>
            <a:endParaRPr lang="en-US" dirty="0"/>
          </a:p>
        </p:txBody>
      </p:sp>
      <p:sp>
        <p:nvSpPr>
          <p:cNvPr id="5" name="Slide Number Placeholder 4"/>
          <p:cNvSpPr>
            <a:spLocks noGrp="1"/>
          </p:cNvSpPr>
          <p:nvPr>
            <p:ph type="sldNum" sz="quarter" idx="12"/>
          </p:nvPr>
        </p:nvSpPr>
        <p:spPr/>
        <p:txBody>
          <a:bodyPr/>
          <a:lstStyle/>
          <a:p>
            <a:pPr>
              <a:defRPr/>
            </a:pPr>
            <a:fld id="{B06C9504-A201-4BB7-845F-8835FF23BE18}"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228600" y="152400"/>
            <a:ext cx="8737600" cy="609600"/>
          </a:xfrm>
        </p:spPr>
        <p:txBody>
          <a:bodyPr>
            <a:normAutofit fontScale="90000"/>
          </a:bodyPr>
          <a:lstStyle/>
          <a:p>
            <a:r>
              <a:rPr lang="en-US" sz="2800" dirty="0" smtClean="0">
                <a:solidFill>
                  <a:srgbClr val="7B9899"/>
                </a:solidFill>
              </a:rPr>
              <a:t>What Measurement Approaches Are Being Proposed?</a:t>
            </a:r>
            <a:endParaRPr lang="en-US" sz="2400" dirty="0" smtClean="0">
              <a:solidFill>
                <a:srgbClr val="7B9899"/>
              </a:solidFill>
            </a:endParaRPr>
          </a:p>
        </p:txBody>
      </p:sp>
      <p:sp>
        <p:nvSpPr>
          <p:cNvPr id="10243" name="Rectangle 3"/>
          <p:cNvSpPr>
            <a:spLocks noGrp="1" noChangeArrowheads="1"/>
          </p:cNvSpPr>
          <p:nvPr>
            <p:ph type="body" idx="1"/>
          </p:nvPr>
        </p:nvSpPr>
        <p:spPr>
          <a:xfrm>
            <a:off x="152400" y="838200"/>
            <a:ext cx="8839200" cy="5410200"/>
          </a:xfrm>
        </p:spPr>
        <p:txBody>
          <a:bodyPr>
            <a:normAutofit/>
          </a:bodyPr>
          <a:lstStyle/>
          <a:p>
            <a:pPr marL="609600" indent="-609600" fontAlgn="auto">
              <a:spcAft>
                <a:spcPts val="0"/>
              </a:spcAft>
              <a:buFont typeface="Wingdings" pitchFamily="2" charset="2"/>
              <a:buAutoNum type="arabicPeriod"/>
              <a:defRPr/>
            </a:pPr>
            <a:r>
              <a:rPr lang="en-US" dirty="0" smtClean="0"/>
              <a:t>Norm-referenced tests (NRTs)</a:t>
            </a:r>
          </a:p>
          <a:p>
            <a:pPr marL="609600" indent="-609600" fontAlgn="auto">
              <a:spcAft>
                <a:spcPts val="0"/>
              </a:spcAft>
              <a:buFont typeface="Wingdings" pitchFamily="2" charset="2"/>
              <a:buAutoNum type="arabicPeriod"/>
              <a:defRPr/>
            </a:pPr>
            <a:r>
              <a:rPr lang="en-US" dirty="0" smtClean="0"/>
              <a:t>Commercial interim assessments</a:t>
            </a:r>
          </a:p>
          <a:p>
            <a:pPr marL="609600" indent="-609600" fontAlgn="auto">
              <a:spcAft>
                <a:spcPts val="0"/>
              </a:spcAft>
              <a:buFont typeface="Wingdings" pitchFamily="2" charset="2"/>
              <a:buAutoNum type="arabicPeriod"/>
              <a:defRPr/>
            </a:pPr>
            <a:r>
              <a:rPr lang="en-US" dirty="0" smtClean="0"/>
              <a:t>State or district created end-of-course exams (both externally and locally </a:t>
            </a:r>
            <a:r>
              <a:rPr lang="en-US" dirty="0" smtClean="0"/>
              <a:t>developed)</a:t>
            </a:r>
          </a:p>
          <a:p>
            <a:pPr marL="865632" lvl="1" indent="-609600">
              <a:buFont typeface="+mj-lt"/>
              <a:buAutoNum type="alphaLcPeriod"/>
              <a:defRPr/>
            </a:pPr>
            <a:r>
              <a:rPr lang="en-US" dirty="0" smtClean="0"/>
              <a:t>Includes </a:t>
            </a:r>
            <a:r>
              <a:rPr lang="en-US" dirty="0" smtClean="0"/>
              <a:t>new assessment development in places like DE, CO, Hillsborough, FL</a:t>
            </a:r>
          </a:p>
          <a:p>
            <a:pPr marL="609600" indent="-609600" fontAlgn="auto">
              <a:spcAft>
                <a:spcPts val="0"/>
              </a:spcAft>
              <a:buFont typeface="Wingdings" pitchFamily="2" charset="2"/>
              <a:buAutoNum type="arabicPeriod"/>
              <a:defRPr/>
            </a:pPr>
            <a:r>
              <a:rPr lang="en-US" dirty="0" smtClean="0"/>
              <a:t>School or teacher-developed measures of student performance </a:t>
            </a:r>
          </a:p>
          <a:p>
            <a:pPr marL="883920" lvl="1" indent="-609600" fontAlgn="auto">
              <a:spcAft>
                <a:spcPts val="0"/>
              </a:spcAft>
              <a:buFont typeface="+mj-lt"/>
              <a:buAutoNum type="alphaLcPeriod"/>
              <a:defRPr/>
            </a:pPr>
            <a:r>
              <a:rPr lang="en-US" dirty="0" smtClean="0"/>
              <a:t>Often includes </a:t>
            </a:r>
            <a:r>
              <a:rPr lang="en-US" i="1" dirty="0" smtClean="0"/>
              <a:t>Student Learning Objectives</a:t>
            </a:r>
          </a:p>
          <a:p>
            <a:pPr marL="609600" indent="-609600" fontAlgn="auto">
              <a:spcAft>
                <a:spcPts val="0"/>
              </a:spcAft>
              <a:buFont typeface="Wingdings" pitchFamily="2" charset="2"/>
              <a:buAutoNum type="arabicPeriod"/>
              <a:defRPr/>
            </a:pPr>
            <a:endParaRPr lang="en-US" dirty="0" smtClean="0"/>
          </a:p>
          <a:p>
            <a:pPr marL="609600" indent="-609600" fontAlgn="auto">
              <a:spcAft>
                <a:spcPts val="0"/>
              </a:spcAft>
              <a:buFont typeface="Wingdings 2"/>
              <a:buNone/>
              <a:defRPr/>
            </a:pPr>
            <a:r>
              <a:rPr lang="en-US" dirty="0" smtClean="0"/>
              <a:t>*Note: 1 &amp; 2 rarely cover courses beyond the </a:t>
            </a:r>
            <a:r>
              <a:rPr lang="en-US" dirty="0" smtClean="0"/>
              <a:t>core </a:t>
            </a:r>
            <a:r>
              <a:rPr lang="en-US" dirty="0" smtClean="0"/>
              <a:t>content areas and even then, not well in HS.</a:t>
            </a:r>
          </a:p>
        </p:txBody>
      </p:sp>
      <p:sp>
        <p:nvSpPr>
          <p:cNvPr id="4" name="Slide Number Placeholder 3"/>
          <p:cNvSpPr>
            <a:spLocks noGrp="1"/>
          </p:cNvSpPr>
          <p:nvPr>
            <p:ph type="sldNum" sz="quarter" idx="12"/>
          </p:nvPr>
        </p:nvSpPr>
        <p:spPr/>
        <p:txBody>
          <a:bodyPr/>
          <a:lstStyle/>
          <a:p>
            <a:pPr>
              <a:defRPr/>
            </a:pPr>
            <a:fld id="{D77E45E0-53FF-40F5-A5BE-71F5EEB4BDB7}" type="slidenum">
              <a:rPr lang="en-US"/>
              <a:pPr>
                <a:defRPr/>
              </a:pPr>
              <a:t>27</a:t>
            </a:fld>
            <a:endParaRPr lang="en-US" dirty="0"/>
          </a:p>
        </p:txBody>
      </p:sp>
      <p:sp>
        <p:nvSpPr>
          <p:cNvPr id="26628" name="Footer Placeholder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smtClean="0">
                <a:cs typeface="Arial" charset="0"/>
              </a:rPr>
              <a:t>Center for Assessment.  WY Accountability Advisory Committee (6/14/12)</a:t>
            </a:r>
            <a:endParaRPr lang="en-US" dirty="0">
              <a:cs typeface="Arial"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457200" y="274638"/>
            <a:ext cx="8229600" cy="639762"/>
          </a:xfrm>
        </p:spPr>
        <p:txBody>
          <a:bodyPr/>
          <a:lstStyle/>
          <a:p>
            <a:r>
              <a:rPr lang="en-US" sz="3200" dirty="0" smtClean="0">
                <a:solidFill>
                  <a:srgbClr val="7B9899"/>
                </a:solidFill>
              </a:rPr>
              <a:t>Analytic </a:t>
            </a:r>
            <a:r>
              <a:rPr lang="en-US" sz="3200" dirty="0" smtClean="0">
                <a:solidFill>
                  <a:srgbClr val="7B9899"/>
                </a:solidFill>
              </a:rPr>
              <a:t>Approaches</a:t>
            </a:r>
            <a:endParaRPr lang="en-US" sz="2400" dirty="0" smtClean="0">
              <a:solidFill>
                <a:srgbClr val="7B9899"/>
              </a:solidFill>
            </a:endParaRPr>
          </a:p>
        </p:txBody>
      </p:sp>
      <p:sp>
        <p:nvSpPr>
          <p:cNvPr id="34818" name="Footer Placeholder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smtClean="0">
                <a:cs typeface="Arial" charset="0"/>
              </a:rPr>
              <a:t>Center for Assessment.  WY Accountability Advisory Committee (6/14/12)</a:t>
            </a:r>
            <a:endParaRPr lang="en-US" dirty="0">
              <a:cs typeface="Arial" charset="0"/>
            </a:endParaRPr>
          </a:p>
        </p:txBody>
      </p:sp>
      <p:sp>
        <p:nvSpPr>
          <p:cNvPr id="4" name="Slide Number Placeholder 3"/>
          <p:cNvSpPr>
            <a:spLocks noGrp="1"/>
          </p:cNvSpPr>
          <p:nvPr>
            <p:ph type="sldNum" sz="quarter" idx="12"/>
          </p:nvPr>
        </p:nvSpPr>
        <p:spPr/>
        <p:txBody>
          <a:bodyPr/>
          <a:lstStyle/>
          <a:p>
            <a:pPr>
              <a:defRPr/>
            </a:pPr>
            <a:fld id="{BB6ADED4-9B05-421C-8826-D6803B05BA6B}" type="slidenum">
              <a:rPr lang="en-US"/>
              <a:pPr>
                <a:defRPr/>
              </a:pPr>
              <a:t>28</a:t>
            </a:fld>
            <a:endParaRPr lang="en-US" dirty="0"/>
          </a:p>
        </p:txBody>
      </p:sp>
      <p:sp>
        <p:nvSpPr>
          <p:cNvPr id="34820" name="Content Placeholder 4"/>
          <p:cNvSpPr>
            <a:spLocks noGrp="1"/>
          </p:cNvSpPr>
          <p:nvPr>
            <p:ph sz="quarter" idx="1"/>
          </p:nvPr>
        </p:nvSpPr>
        <p:spPr>
          <a:xfrm>
            <a:off x="301625" y="990600"/>
            <a:ext cx="8504238" cy="5351463"/>
          </a:xfrm>
        </p:spPr>
        <p:txBody>
          <a:bodyPr>
            <a:normAutofit lnSpcReduction="10000"/>
          </a:bodyPr>
          <a:lstStyle/>
          <a:p>
            <a:r>
              <a:rPr lang="en-US" dirty="0" smtClean="0"/>
              <a:t>If you thought the measurement/assessment issue was daunting….</a:t>
            </a:r>
          </a:p>
          <a:p>
            <a:r>
              <a:rPr lang="en-US" dirty="0" smtClean="0"/>
              <a:t>It pales in comparison to the analytic challenges (i.e., how growth is calculated at local levels)</a:t>
            </a:r>
          </a:p>
          <a:p>
            <a:endParaRPr lang="en-US" dirty="0" smtClean="0"/>
          </a:p>
          <a:p>
            <a:r>
              <a:rPr lang="en-US" dirty="0" smtClean="0"/>
              <a:t>Remember, using the most sophisticated VAM models </a:t>
            </a:r>
            <a:r>
              <a:rPr lang="en-US" b="1" dirty="0" smtClean="0"/>
              <a:t>with high quality state test data </a:t>
            </a:r>
            <a:r>
              <a:rPr lang="en-US" dirty="0" smtClean="0"/>
              <a:t>has been rightfully questioned based on challenges with causal inferences, unreliability (year-to-year), and other technical issues (e.g., EPI report, Braun, et al., 2010, Rothstein, 2009 &amp; 2010)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301625" y="228600"/>
            <a:ext cx="8534400" cy="704461"/>
          </a:xfrm>
        </p:spPr>
        <p:txBody>
          <a:bodyPr/>
          <a:lstStyle/>
          <a:p>
            <a:r>
              <a:rPr lang="en-US" sz="2800" dirty="0" smtClean="0">
                <a:solidFill>
                  <a:srgbClr val="7B9899"/>
                </a:solidFill>
              </a:rPr>
              <a:t>What Approaches Are Being Proposed for NTSG?</a:t>
            </a:r>
          </a:p>
        </p:txBody>
      </p:sp>
      <p:sp>
        <p:nvSpPr>
          <p:cNvPr id="35842" name="Footer Placeholder 2"/>
          <p:cNvSpPr>
            <a:spLocks noGrp="1"/>
          </p:cNvSpPr>
          <p:nvPr>
            <p:ph type="ftr" sz="quarter" idx="11"/>
          </p:nvPr>
        </p:nvSpPr>
        <p:spPr bwMode="auto">
          <a:xfrm>
            <a:off x="2819400" y="6477000"/>
            <a:ext cx="5715000" cy="296069"/>
          </a:xfrm>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dirty="0" smtClean="0">
                <a:cs typeface="Arial" charset="0"/>
              </a:rPr>
              <a:t>Center for Assessment.  WY Accountability Advisory Committee (6/14/12)</a:t>
            </a:r>
            <a:endParaRPr lang="en-US" dirty="0">
              <a:cs typeface="Arial" charset="0"/>
            </a:endParaRPr>
          </a:p>
        </p:txBody>
      </p:sp>
      <p:sp>
        <p:nvSpPr>
          <p:cNvPr id="4" name="Slide Number Placeholder 3"/>
          <p:cNvSpPr>
            <a:spLocks noGrp="1"/>
          </p:cNvSpPr>
          <p:nvPr>
            <p:ph type="sldNum" sz="quarter" idx="12"/>
          </p:nvPr>
        </p:nvSpPr>
        <p:spPr/>
        <p:txBody>
          <a:bodyPr/>
          <a:lstStyle/>
          <a:p>
            <a:pPr>
              <a:defRPr/>
            </a:pPr>
            <a:fld id="{15CB9B1B-114F-43E1-8F38-74D5EC976263}" type="slidenum">
              <a:rPr lang="en-US"/>
              <a:pPr>
                <a:defRPr/>
              </a:pPr>
              <a:t>29</a:t>
            </a:fld>
            <a:endParaRPr lang="en-US" dirty="0"/>
          </a:p>
        </p:txBody>
      </p:sp>
      <p:sp>
        <p:nvSpPr>
          <p:cNvPr id="5" name="Content Placeholder 4"/>
          <p:cNvSpPr>
            <a:spLocks noGrp="1"/>
          </p:cNvSpPr>
          <p:nvPr>
            <p:ph sz="quarter" idx="1"/>
          </p:nvPr>
        </p:nvSpPr>
        <p:spPr>
          <a:xfrm>
            <a:off x="304800" y="914400"/>
            <a:ext cx="8504238" cy="5334000"/>
          </a:xfrm>
        </p:spPr>
        <p:txBody>
          <a:bodyPr>
            <a:normAutofit/>
          </a:bodyPr>
          <a:lstStyle/>
          <a:p>
            <a:pPr marL="609600" indent="-609600" fontAlgn="auto">
              <a:spcAft>
                <a:spcPts val="0"/>
              </a:spcAft>
              <a:buFont typeface="Wingdings" pitchFamily="2" charset="2"/>
              <a:buAutoNum type="arabicPeriod"/>
              <a:defRPr/>
            </a:pPr>
            <a:r>
              <a:rPr lang="en-US" sz="2800" dirty="0" smtClean="0"/>
              <a:t>Growth models using pre and post test from the same subject</a:t>
            </a:r>
          </a:p>
          <a:p>
            <a:pPr marL="609600" indent="-609600" fontAlgn="auto">
              <a:spcAft>
                <a:spcPts val="0"/>
              </a:spcAft>
              <a:buFont typeface="Wingdings" pitchFamily="2" charset="2"/>
              <a:buAutoNum type="arabicPeriod"/>
              <a:defRPr/>
            </a:pPr>
            <a:r>
              <a:rPr lang="en-US" sz="2800" dirty="0" smtClean="0"/>
              <a:t>Value-added models</a:t>
            </a:r>
          </a:p>
          <a:p>
            <a:pPr marL="882650" lvl="1" indent="-306388" fontAlgn="auto">
              <a:spcAft>
                <a:spcPts val="0"/>
              </a:spcAft>
              <a:buFont typeface="+mj-lt"/>
              <a:buAutoNum type="alphaLcPeriod"/>
              <a:defRPr/>
            </a:pPr>
            <a:r>
              <a:rPr lang="en-US" sz="2300" dirty="0" smtClean="0"/>
              <a:t>Pre and post test score in the same subject </a:t>
            </a:r>
          </a:p>
          <a:p>
            <a:pPr marL="882650" lvl="1" indent="-306388" fontAlgn="auto">
              <a:spcAft>
                <a:spcPts val="0"/>
              </a:spcAft>
              <a:buFont typeface="+mj-lt"/>
              <a:buAutoNum type="alphaLcPeriod"/>
              <a:defRPr/>
            </a:pPr>
            <a:r>
              <a:rPr lang="en-US" sz="2300" dirty="0" smtClean="0"/>
              <a:t>Conditioned on data other than pretest from same content area as posttest</a:t>
            </a:r>
          </a:p>
          <a:p>
            <a:pPr marL="609600" indent="-609600" fontAlgn="auto">
              <a:spcAft>
                <a:spcPts val="0"/>
              </a:spcAft>
              <a:buFont typeface="Wingdings" pitchFamily="2" charset="2"/>
              <a:buAutoNum type="arabicPeriod"/>
              <a:defRPr/>
            </a:pPr>
            <a:r>
              <a:rPr lang="en-US" sz="2800" dirty="0" smtClean="0"/>
              <a:t>Student Growth Percentiles</a:t>
            </a:r>
          </a:p>
          <a:p>
            <a:pPr marL="609600" indent="-609600" fontAlgn="auto">
              <a:spcAft>
                <a:spcPts val="0"/>
              </a:spcAft>
              <a:buFont typeface="Wingdings" pitchFamily="2" charset="2"/>
              <a:buAutoNum type="arabicPeriod"/>
              <a:defRPr/>
            </a:pPr>
            <a:r>
              <a:rPr lang="en-US" sz="2800" dirty="0" smtClean="0"/>
              <a:t>Shared attribution of aggregate growth/VAM results</a:t>
            </a:r>
          </a:p>
          <a:p>
            <a:pPr marL="609600" indent="-609600" fontAlgn="auto">
              <a:spcAft>
                <a:spcPts val="0"/>
              </a:spcAft>
              <a:buFont typeface="Wingdings" pitchFamily="2" charset="2"/>
              <a:buAutoNum type="arabicPeriod"/>
              <a:defRPr/>
            </a:pPr>
            <a:r>
              <a:rPr lang="en-US" sz="2800" dirty="0" smtClean="0"/>
              <a:t>Student learning objectives (SLO)</a:t>
            </a:r>
          </a:p>
          <a:p>
            <a:pPr marL="274320" indent="-274320" fontAlgn="auto">
              <a:spcAft>
                <a:spcPts val="0"/>
              </a:spcAft>
              <a:buFont typeface="Wingdings 2"/>
              <a:buChar cha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dirty="0" smtClean="0"/>
              <a:t>Definitions</a:t>
            </a:r>
            <a:endParaRPr lang="en-US" dirty="0"/>
          </a:p>
        </p:txBody>
      </p:sp>
      <p:sp>
        <p:nvSpPr>
          <p:cNvPr id="3" name="Content Placeholder 2"/>
          <p:cNvSpPr>
            <a:spLocks noGrp="1"/>
          </p:cNvSpPr>
          <p:nvPr>
            <p:ph sz="quarter" idx="1"/>
          </p:nvPr>
        </p:nvSpPr>
        <p:spPr>
          <a:xfrm>
            <a:off x="237067" y="914400"/>
            <a:ext cx="8644466" cy="5427133"/>
          </a:xfrm>
        </p:spPr>
        <p:txBody>
          <a:bodyPr>
            <a:normAutofit/>
          </a:bodyPr>
          <a:lstStyle/>
          <a:p>
            <a:r>
              <a:rPr lang="en-US" sz="2000" b="1" dirty="0" smtClean="0"/>
              <a:t>Growth</a:t>
            </a:r>
            <a:r>
              <a:rPr lang="en-US" sz="2000" dirty="0" smtClean="0"/>
              <a:t> refers to measures of performance for the same students at two or more points in time and requires a common, often vertical, scale to evaluate the magnitude of change. </a:t>
            </a:r>
            <a:r>
              <a:rPr lang="en-US" sz="2000" b="1" dirty="0" smtClean="0"/>
              <a:t>Only true growth</a:t>
            </a:r>
            <a:r>
              <a:rPr lang="en-US" sz="2000" dirty="0" smtClean="0"/>
              <a:t> model here.</a:t>
            </a:r>
          </a:p>
          <a:p>
            <a:r>
              <a:rPr lang="en-US" sz="2000" b="1" dirty="0" smtClean="0"/>
              <a:t>VAM</a:t>
            </a:r>
            <a:r>
              <a:rPr lang="en-US" sz="2000" dirty="0" smtClean="0"/>
              <a:t>: Generally describes multivariate models that include certain variables to produce to an expectation against which actual performance is evaluated.</a:t>
            </a:r>
          </a:p>
          <a:p>
            <a:r>
              <a:rPr lang="en-US" sz="2000" b="1" dirty="0" smtClean="0"/>
              <a:t>Student Growth Percentiles (SGP)</a:t>
            </a:r>
            <a:r>
              <a:rPr lang="en-US" sz="2000" dirty="0" smtClean="0"/>
              <a:t> is a regression based measure of growth that works by evaluating current achievement based on prior achievement and describing performance (using percentiles) relative to other students with the “same” prior achievement histories.</a:t>
            </a:r>
          </a:p>
          <a:p>
            <a:r>
              <a:rPr lang="en-US" sz="2000" b="1" dirty="0" smtClean="0"/>
              <a:t>Student Learning Objectives (SLO)</a:t>
            </a:r>
            <a:r>
              <a:rPr lang="en-US" sz="2000" dirty="0" smtClean="0"/>
              <a:t> is a general approach (often called Student Growth Objectives) whereby educators establish goals for individual or groups of students (often in conjunction</a:t>
            </a:r>
            <a:r>
              <a:rPr lang="en-US" sz="2000" dirty="0" smtClean="0">
                <a:solidFill>
                  <a:srgbClr val="FF0000"/>
                </a:solidFill>
              </a:rPr>
              <a:t> </a:t>
            </a:r>
            <a:r>
              <a:rPr lang="en-US" sz="2000" dirty="0" smtClean="0"/>
              <a:t>with administrators) and then evaluating the extent to which the goals have been achieved.</a:t>
            </a:r>
            <a:endParaRPr lang="en-US" sz="2000" dirty="0"/>
          </a:p>
        </p:txBody>
      </p:sp>
      <p:sp>
        <p:nvSpPr>
          <p:cNvPr id="4" name="Footer Placeholder 3"/>
          <p:cNvSpPr>
            <a:spLocks noGrp="1"/>
          </p:cNvSpPr>
          <p:nvPr>
            <p:ph type="ftr" sz="quarter" idx="11"/>
          </p:nvPr>
        </p:nvSpPr>
        <p:spPr/>
        <p:txBody>
          <a:bodyPr/>
          <a:lstStyle/>
          <a:p>
            <a:pPr>
              <a:defRPr/>
            </a:pPr>
            <a:r>
              <a:rPr lang="en-US" smtClean="0"/>
              <a:t>Center for Assessment.  WY Accountability Advisory Committee (6/14/12)</a:t>
            </a:r>
            <a:endParaRPr lang="en-US" dirty="0"/>
          </a:p>
        </p:txBody>
      </p:sp>
      <p:sp>
        <p:nvSpPr>
          <p:cNvPr id="5" name="Slide Number Placeholder 4"/>
          <p:cNvSpPr>
            <a:spLocks noGrp="1"/>
          </p:cNvSpPr>
          <p:nvPr>
            <p:ph type="sldNum" sz="quarter" idx="12"/>
          </p:nvPr>
        </p:nvSpPr>
        <p:spPr/>
        <p:txBody>
          <a:bodyPr/>
          <a:lstStyle/>
          <a:p>
            <a:pPr>
              <a:defRPr/>
            </a:pPr>
            <a:fld id="{B06C9504-A201-4BB7-845F-8835FF23BE18}"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016691"/>
          </a:xfrm>
        </p:spPr>
        <p:txBody>
          <a:bodyPr>
            <a:normAutofit/>
          </a:bodyPr>
          <a:lstStyle/>
          <a:p>
            <a:r>
              <a:rPr lang="en-US" sz="3200" dirty="0" smtClean="0"/>
              <a:t>Attribution: linking educator behavior to student outcomes</a:t>
            </a:r>
          </a:p>
          <a:p>
            <a:pPr lvl="1"/>
            <a:r>
              <a:rPr lang="en-US" sz="2800" dirty="0" smtClean="0"/>
              <a:t>Assigning accountability</a:t>
            </a:r>
          </a:p>
          <a:p>
            <a:pPr lvl="2"/>
            <a:r>
              <a:rPr lang="en-US" sz="2400" dirty="0" smtClean="0"/>
              <a:t>Multiple </a:t>
            </a:r>
            <a:r>
              <a:rPr lang="en-US" sz="2400" dirty="0" smtClean="0"/>
              <a:t>educators contribute to </a:t>
            </a:r>
            <a:r>
              <a:rPr lang="en-US" sz="2400" dirty="0" smtClean="0"/>
              <a:t>instruction</a:t>
            </a:r>
          </a:p>
          <a:p>
            <a:pPr lvl="2"/>
            <a:r>
              <a:rPr lang="en-US" sz="2400" dirty="0" smtClean="0"/>
              <a:t>“Contact time” requirements—how long does the student need to be in the teacher’s classroom to count</a:t>
            </a:r>
            <a:r>
              <a:rPr lang="en-US" sz="2400" dirty="0" smtClean="0"/>
              <a:t> </a:t>
            </a:r>
          </a:p>
          <a:p>
            <a:pPr lvl="1"/>
            <a:r>
              <a:rPr lang="en-US" sz="2600" dirty="0" smtClean="0"/>
              <a:t>Opportunity to employ shared attribution strategies</a:t>
            </a:r>
          </a:p>
          <a:p>
            <a:pPr lvl="2"/>
            <a:r>
              <a:rPr lang="en-US" sz="2400" dirty="0" smtClean="0"/>
              <a:t>Must be tied to local theories of action or theories of improvement</a:t>
            </a:r>
            <a:endParaRPr lang="en-US" sz="2400" dirty="0" smtClean="0"/>
          </a:p>
          <a:p>
            <a:pPr lvl="1">
              <a:buNone/>
            </a:pPr>
            <a:endParaRPr lang="en-US" dirty="0" smtClean="0"/>
          </a:p>
          <a:p>
            <a:pPr lvl="2"/>
            <a:endParaRPr lang="en-US" dirty="0" smtClean="0"/>
          </a:p>
          <a:p>
            <a:pPr lvl="1"/>
            <a:endParaRPr lang="en-US" dirty="0"/>
          </a:p>
        </p:txBody>
      </p:sp>
      <p:sp>
        <p:nvSpPr>
          <p:cNvPr id="2" name="Title 1"/>
          <p:cNvSpPr>
            <a:spLocks noGrp="1"/>
          </p:cNvSpPr>
          <p:nvPr>
            <p:ph type="title"/>
          </p:nvPr>
        </p:nvSpPr>
        <p:spPr>
          <a:xfrm>
            <a:off x="381000" y="152400"/>
            <a:ext cx="8458200" cy="715962"/>
          </a:xfrm>
        </p:spPr>
        <p:txBody>
          <a:bodyPr>
            <a:normAutofit/>
          </a:bodyPr>
          <a:lstStyle/>
          <a:p>
            <a:r>
              <a:rPr lang="en-US" sz="3600" dirty="0" smtClean="0">
                <a:effectLst/>
              </a:rPr>
              <a:t>Attribution</a:t>
            </a:r>
            <a:endParaRPr lang="en-US" dirty="0">
              <a:effectLst/>
            </a:endParaRPr>
          </a:p>
        </p:txBody>
      </p:sp>
      <p:sp>
        <p:nvSpPr>
          <p:cNvPr id="4" name="Slide Number Placeholder 3"/>
          <p:cNvSpPr>
            <a:spLocks noGrp="1"/>
          </p:cNvSpPr>
          <p:nvPr>
            <p:ph type="sldNum" sz="quarter" idx="12"/>
          </p:nvPr>
        </p:nvSpPr>
        <p:spPr/>
        <p:txBody>
          <a:bodyPr/>
          <a:lstStyle/>
          <a:p>
            <a:fld id="{3454B693-B468-42A8-A04E-B0389EB91439}" type="slidenum">
              <a:rPr lang="en-US" smtClean="0"/>
              <a:pPr/>
              <a:t>31</a:t>
            </a:fld>
            <a:endParaRPr lang="en-US" dirty="0"/>
          </a:p>
        </p:txBody>
      </p:sp>
      <p:sp>
        <p:nvSpPr>
          <p:cNvPr id="5" name="Footer Placeholder 4"/>
          <p:cNvSpPr>
            <a:spLocks noGrp="1"/>
          </p:cNvSpPr>
          <p:nvPr>
            <p:ph type="ftr" sz="quarter" idx="11"/>
          </p:nvPr>
        </p:nvSpPr>
        <p:spPr/>
        <p:txBody>
          <a:bodyPr/>
          <a:lstStyle/>
          <a:p>
            <a:r>
              <a:rPr lang="en-US" smtClean="0"/>
              <a:t>Center for Assessment.  WY Accountability Advisory Committee (6/14/12)</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sz="3200" dirty="0" smtClean="0">
                <a:effectLst/>
              </a:rPr>
              <a:t>Combining Multiple Measures</a:t>
            </a:r>
            <a:endParaRPr lang="en-US" sz="3200" dirty="0">
              <a:effectLst/>
            </a:endParaRPr>
          </a:p>
        </p:txBody>
      </p:sp>
      <p:sp>
        <p:nvSpPr>
          <p:cNvPr id="3" name="Content Placeholder 2"/>
          <p:cNvSpPr>
            <a:spLocks noGrp="1"/>
          </p:cNvSpPr>
          <p:nvPr>
            <p:ph idx="1"/>
          </p:nvPr>
        </p:nvSpPr>
        <p:spPr>
          <a:xfrm>
            <a:off x="457200" y="914400"/>
            <a:ext cx="8229600" cy="5211763"/>
          </a:xfrm>
        </p:spPr>
        <p:txBody>
          <a:bodyPr>
            <a:normAutofit/>
          </a:bodyPr>
          <a:lstStyle/>
          <a:p>
            <a:r>
              <a:rPr lang="en-US" dirty="0" smtClean="0"/>
              <a:t>How should we arrive at an overall judgment of educator effectiveness?</a:t>
            </a:r>
          </a:p>
          <a:p>
            <a:pPr lvl="1"/>
            <a:r>
              <a:rPr lang="en-US" dirty="0" smtClean="0"/>
              <a:t>Weighting of student performance and knowledge &amp; skills</a:t>
            </a:r>
          </a:p>
          <a:p>
            <a:r>
              <a:rPr lang="en-US" dirty="0" smtClean="0"/>
              <a:t>What are the different </a:t>
            </a:r>
            <a:r>
              <a:rPr lang="en-US" u="sng" dirty="0" smtClean="0"/>
              <a:t>types</a:t>
            </a:r>
            <a:r>
              <a:rPr lang="en-US" dirty="0" smtClean="0"/>
              <a:t> of information that should be employed when evaluating principals compared with teachers?</a:t>
            </a:r>
          </a:p>
          <a:p>
            <a:pPr lvl="1"/>
            <a:r>
              <a:rPr lang="en-US" dirty="0" smtClean="0"/>
              <a:t>We know the specific indicators and even standards will </a:t>
            </a:r>
            <a:r>
              <a:rPr lang="en-US" dirty="0" smtClean="0"/>
              <a:t>differ</a:t>
            </a:r>
          </a:p>
          <a:p>
            <a:r>
              <a:rPr lang="en-US" dirty="0" smtClean="0"/>
              <a:t>Who should be responsible for making these overall judgments?</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32</a:t>
            </a:fld>
            <a:endParaRPr lang="en-US" dirty="0"/>
          </a:p>
        </p:txBody>
      </p:sp>
      <p:sp>
        <p:nvSpPr>
          <p:cNvPr id="5" name="Footer Placeholder 4"/>
          <p:cNvSpPr>
            <a:spLocks noGrp="1"/>
          </p:cNvSpPr>
          <p:nvPr>
            <p:ph type="ftr" sz="quarter" idx="11"/>
          </p:nvPr>
        </p:nvSpPr>
        <p:spPr/>
        <p:txBody>
          <a:bodyPr/>
          <a:lstStyle/>
          <a:p>
            <a:r>
              <a:rPr lang="en-US" smtClean="0"/>
              <a:t>Center for Assessment.  WY Accountability Advisory Committee (6/14/12)</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43000"/>
            <a:ext cx="8229600" cy="4525963"/>
          </a:xfrm>
        </p:spPr>
        <p:txBody>
          <a:bodyPr/>
          <a:lstStyle/>
          <a:p>
            <a:r>
              <a:rPr lang="en-US" sz="3000" dirty="0" smtClean="0"/>
              <a:t>Data system </a:t>
            </a:r>
            <a:r>
              <a:rPr lang="en-US" sz="3000" dirty="0" smtClean="0"/>
              <a:t>requirements to link students with teachers at the state level</a:t>
            </a:r>
          </a:p>
          <a:p>
            <a:r>
              <a:rPr lang="en-US" sz="3000" dirty="0" smtClean="0"/>
              <a:t>Data system requirements to manage the data at the local level</a:t>
            </a:r>
            <a:endParaRPr lang="en-US" sz="3000" dirty="0" smtClean="0"/>
          </a:p>
          <a:p>
            <a:r>
              <a:rPr lang="en-US" sz="3000" dirty="0" smtClean="0"/>
              <a:t>Dealing with student </a:t>
            </a:r>
            <a:r>
              <a:rPr lang="en-US" sz="3000" dirty="0" smtClean="0"/>
              <a:t>mobility</a:t>
            </a:r>
          </a:p>
          <a:p>
            <a:r>
              <a:rPr lang="en-US" sz="3000" dirty="0" smtClean="0"/>
              <a:t>Dealing with missing data, especially non-random missing data</a:t>
            </a:r>
          </a:p>
          <a:p>
            <a:r>
              <a:rPr lang="en-US" sz="3000" dirty="0" smtClean="0"/>
              <a:t>“Full academic year” rules</a:t>
            </a:r>
            <a:endParaRPr lang="en-US" sz="3000" dirty="0" smtClean="0"/>
          </a:p>
          <a:p>
            <a:pPr lvl="1">
              <a:buNone/>
            </a:pPr>
            <a:endParaRPr lang="en-US" dirty="0" smtClean="0"/>
          </a:p>
          <a:p>
            <a:pPr lvl="1"/>
            <a:endParaRPr lang="en-US" dirty="0" smtClean="0"/>
          </a:p>
          <a:p>
            <a:endParaRPr lang="en-US" dirty="0"/>
          </a:p>
        </p:txBody>
      </p:sp>
      <p:sp>
        <p:nvSpPr>
          <p:cNvPr id="3" name="Footer Placeholder 2"/>
          <p:cNvSpPr>
            <a:spLocks noGrp="1"/>
          </p:cNvSpPr>
          <p:nvPr>
            <p:ph type="ftr" sz="quarter" idx="11"/>
          </p:nvPr>
        </p:nvSpPr>
        <p:spPr/>
        <p:txBody>
          <a:bodyPr/>
          <a:lstStyle/>
          <a:p>
            <a:r>
              <a:rPr lang="en-US" sz="1200" smtClean="0"/>
              <a:t>Center for Assessment.  WY Accountability Advisory Committee (6/14/12</a:t>
            </a:r>
            <a:r>
              <a:rPr lang="en-US" smtClean="0"/>
              <a:t>)</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33</a:t>
            </a:fld>
            <a:endParaRPr lang="en-US" dirty="0"/>
          </a:p>
        </p:txBody>
      </p:sp>
      <p:sp>
        <p:nvSpPr>
          <p:cNvPr id="5" name="Title 4"/>
          <p:cNvSpPr>
            <a:spLocks noGrp="1"/>
          </p:cNvSpPr>
          <p:nvPr>
            <p:ph type="title"/>
          </p:nvPr>
        </p:nvSpPr>
        <p:spPr>
          <a:xfrm>
            <a:off x="457200" y="274638"/>
            <a:ext cx="8229600" cy="868362"/>
          </a:xfrm>
        </p:spPr>
        <p:txBody>
          <a:bodyPr/>
          <a:lstStyle/>
          <a:p>
            <a:r>
              <a:rPr lang="en-US" dirty="0" smtClean="0"/>
              <a:t>Information Requirements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685800"/>
            <a:ext cx="8686800" cy="5638800"/>
          </a:xfrm>
        </p:spPr>
        <p:txBody>
          <a:bodyPr>
            <a:normAutofit/>
          </a:bodyPr>
          <a:lstStyle/>
          <a:p>
            <a:r>
              <a:rPr lang="en-US" dirty="0" smtClean="0"/>
              <a:t>How will this be managed at the state level?</a:t>
            </a:r>
          </a:p>
          <a:p>
            <a:pPr lvl="1"/>
            <a:r>
              <a:rPr lang="en-US" dirty="0" smtClean="0"/>
              <a:t>Data, information, and analytics</a:t>
            </a:r>
          </a:p>
          <a:p>
            <a:pPr lvl="1"/>
            <a:r>
              <a:rPr lang="en-US" dirty="0" smtClean="0"/>
              <a:t>Reporting and communication</a:t>
            </a:r>
          </a:p>
          <a:p>
            <a:pPr lvl="1"/>
            <a:r>
              <a:rPr lang="en-US" dirty="0" smtClean="0"/>
              <a:t>Support and capacity building</a:t>
            </a:r>
          </a:p>
          <a:p>
            <a:pPr lvl="1"/>
            <a:r>
              <a:rPr lang="en-US" dirty="0" smtClean="0"/>
              <a:t>Training and monitoring</a:t>
            </a:r>
          </a:p>
          <a:p>
            <a:endParaRPr lang="en-US" dirty="0" smtClean="0"/>
          </a:p>
          <a:p>
            <a:r>
              <a:rPr lang="en-US" dirty="0" smtClean="0"/>
              <a:t>How will this be managed at the local level?</a:t>
            </a:r>
          </a:p>
          <a:p>
            <a:pPr lvl="1"/>
            <a:r>
              <a:rPr lang="en-US" dirty="0" smtClean="0"/>
              <a:t>Capacity for implementation</a:t>
            </a:r>
          </a:p>
          <a:p>
            <a:pPr lvl="2"/>
            <a:r>
              <a:rPr lang="en-US" dirty="0" smtClean="0"/>
              <a:t>Conducting observations, document analysis, etc</a:t>
            </a:r>
          </a:p>
          <a:p>
            <a:pPr lvl="2"/>
            <a:r>
              <a:rPr lang="en-US" dirty="0" smtClean="0"/>
              <a:t>Induction, mentoring, and support</a:t>
            </a:r>
          </a:p>
          <a:p>
            <a:pPr lvl="2"/>
            <a:r>
              <a:rPr lang="en-US" dirty="0" smtClean="0"/>
              <a:t>Training</a:t>
            </a:r>
          </a:p>
          <a:p>
            <a:pPr lvl="2"/>
            <a:r>
              <a:rPr lang="en-US" dirty="0" smtClean="0"/>
              <a:t>Record keeping</a:t>
            </a:r>
          </a:p>
          <a:p>
            <a:pPr lvl="2"/>
            <a:r>
              <a:rPr lang="en-US" dirty="0" smtClean="0"/>
              <a:t>Reporting and feedback</a:t>
            </a:r>
          </a:p>
          <a:p>
            <a:pPr lvl="2"/>
            <a:r>
              <a:rPr lang="en-US" dirty="0" smtClean="0"/>
              <a:t>Decision making and appeals</a:t>
            </a:r>
            <a:endParaRPr lang="en-US" dirty="0"/>
          </a:p>
        </p:txBody>
      </p:sp>
      <p:sp>
        <p:nvSpPr>
          <p:cNvPr id="3" name="Footer Placeholder 2"/>
          <p:cNvSpPr>
            <a:spLocks noGrp="1"/>
          </p:cNvSpPr>
          <p:nvPr>
            <p:ph type="ftr" sz="quarter" idx="11"/>
          </p:nvPr>
        </p:nvSpPr>
        <p:spPr/>
        <p:txBody>
          <a:bodyPr/>
          <a:lstStyle/>
          <a:p>
            <a:r>
              <a:rPr lang="en-US" sz="1200" smtClean="0"/>
              <a:t>Center for Assessment.  WY Accountability Advisory Committee (6/14/12</a:t>
            </a:r>
            <a:r>
              <a:rPr lang="en-US" smtClean="0"/>
              <a:t>)</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34</a:t>
            </a:fld>
            <a:endParaRPr lang="en-US" dirty="0"/>
          </a:p>
        </p:txBody>
      </p:sp>
      <p:sp>
        <p:nvSpPr>
          <p:cNvPr id="5" name="Title 4"/>
          <p:cNvSpPr>
            <a:spLocks noGrp="1"/>
          </p:cNvSpPr>
          <p:nvPr>
            <p:ph type="title"/>
          </p:nvPr>
        </p:nvSpPr>
        <p:spPr>
          <a:xfrm>
            <a:off x="457200" y="152400"/>
            <a:ext cx="8229600" cy="563562"/>
          </a:xfrm>
        </p:spPr>
        <p:txBody>
          <a:bodyPr>
            <a:normAutofit fontScale="90000"/>
          </a:bodyPr>
          <a:lstStyle/>
          <a:p>
            <a:r>
              <a:rPr lang="en-US" dirty="0" smtClean="0"/>
              <a:t>Capacity Requirements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864291"/>
          </a:xfrm>
        </p:spPr>
        <p:txBody>
          <a:bodyPr/>
          <a:lstStyle/>
          <a:p>
            <a:r>
              <a:rPr lang="en-US" dirty="0" smtClean="0"/>
              <a:t>How will results be </a:t>
            </a:r>
            <a:r>
              <a:rPr lang="en-US" dirty="0" smtClean="0"/>
              <a:t>communicated to educators to improve practice?</a:t>
            </a:r>
          </a:p>
          <a:p>
            <a:endParaRPr lang="en-US" dirty="0" smtClean="0"/>
          </a:p>
          <a:p>
            <a:r>
              <a:rPr lang="en-US" dirty="0" smtClean="0"/>
              <a:t>How will information about the system be communicated to the public and policy makers while protecting educators? </a:t>
            </a:r>
            <a:endParaRPr lang="en-US" dirty="0" smtClean="0"/>
          </a:p>
          <a:p>
            <a:endParaRPr lang="en-US" dirty="0"/>
          </a:p>
        </p:txBody>
      </p:sp>
      <p:sp>
        <p:nvSpPr>
          <p:cNvPr id="3" name="Footer Placeholder 2"/>
          <p:cNvSpPr>
            <a:spLocks noGrp="1"/>
          </p:cNvSpPr>
          <p:nvPr>
            <p:ph type="ftr" sz="quarter" idx="11"/>
          </p:nvPr>
        </p:nvSpPr>
        <p:spPr/>
        <p:txBody>
          <a:bodyPr/>
          <a:lstStyle/>
          <a:p>
            <a:r>
              <a:rPr lang="en-US" sz="1200" smtClean="0"/>
              <a:t>Center for Assessment.  WY Accountability Advisory Committee (6/14/12</a:t>
            </a:r>
            <a:r>
              <a:rPr lang="en-US" smtClean="0"/>
              <a:t>)</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35</a:t>
            </a:fld>
            <a:endParaRPr lang="en-US" dirty="0"/>
          </a:p>
        </p:txBody>
      </p:sp>
      <p:sp>
        <p:nvSpPr>
          <p:cNvPr id="5" name="Title 4"/>
          <p:cNvSpPr>
            <a:spLocks noGrp="1"/>
          </p:cNvSpPr>
          <p:nvPr>
            <p:ph type="title"/>
          </p:nvPr>
        </p:nvSpPr>
        <p:spPr>
          <a:xfrm>
            <a:off x="457200" y="274638"/>
            <a:ext cx="8229600" cy="792162"/>
          </a:xfrm>
        </p:spPr>
        <p:txBody>
          <a:bodyPr/>
          <a:lstStyle/>
          <a:p>
            <a:r>
              <a:rPr lang="en-US" dirty="0" smtClean="0"/>
              <a:t>Reporting &amp; Communication</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105400"/>
          </a:xfrm>
        </p:spPr>
        <p:txBody>
          <a:bodyPr>
            <a:normAutofit/>
          </a:bodyPr>
          <a:lstStyle/>
          <a:p>
            <a:r>
              <a:rPr lang="en-US" dirty="0" smtClean="0"/>
              <a:t>What </a:t>
            </a:r>
            <a:r>
              <a:rPr lang="en-US" dirty="0" smtClean="0"/>
              <a:t>sanctions, rewards, and/or consequences are appropriate to advance prioritized outcomes? </a:t>
            </a:r>
          </a:p>
          <a:p>
            <a:r>
              <a:rPr lang="en-US" dirty="0" smtClean="0"/>
              <a:t>What strategies will be employed to </a:t>
            </a:r>
            <a:r>
              <a:rPr lang="en-US" dirty="0" smtClean="0"/>
              <a:t>use information to support schools/ teachers/ students? </a:t>
            </a:r>
          </a:p>
          <a:p>
            <a:r>
              <a:rPr lang="en-US" dirty="0" smtClean="0"/>
              <a:t>Is there capacity in the state (in the districts) to improve educator quality in </a:t>
            </a:r>
            <a:r>
              <a:rPr lang="en-US" dirty="0" smtClean="0"/>
              <a:t>WY?</a:t>
            </a:r>
            <a:endParaRPr lang="en-US" dirty="0" smtClean="0"/>
          </a:p>
          <a:p>
            <a:r>
              <a:rPr lang="en-US" dirty="0" smtClean="0"/>
              <a:t>What resources will be required for this improvement to occur?</a:t>
            </a:r>
          </a:p>
          <a:p>
            <a:pPr lvl="1"/>
            <a:r>
              <a:rPr lang="en-US" dirty="0" smtClean="0"/>
              <a:t>Where will they come from?</a:t>
            </a:r>
            <a:endParaRPr lang="en-US" dirty="0"/>
          </a:p>
        </p:txBody>
      </p:sp>
      <p:sp>
        <p:nvSpPr>
          <p:cNvPr id="2" name="Title 1"/>
          <p:cNvSpPr>
            <a:spLocks noGrp="1"/>
          </p:cNvSpPr>
          <p:nvPr>
            <p:ph type="title"/>
          </p:nvPr>
        </p:nvSpPr>
        <p:spPr>
          <a:xfrm>
            <a:off x="457200" y="274638"/>
            <a:ext cx="8229600" cy="792162"/>
          </a:xfrm>
        </p:spPr>
        <p:txBody>
          <a:bodyPr>
            <a:normAutofit/>
          </a:bodyPr>
          <a:lstStyle/>
          <a:p>
            <a:r>
              <a:rPr lang="en-US" sz="3600" dirty="0" smtClean="0">
                <a:effectLst/>
              </a:rPr>
              <a:t>Consequences </a:t>
            </a:r>
            <a:r>
              <a:rPr lang="en-US" sz="3600" dirty="0" smtClean="0">
                <a:effectLst/>
              </a:rPr>
              <a:t>&amp; Support</a:t>
            </a:r>
            <a:endParaRPr lang="en-US" dirty="0">
              <a:effectLst/>
            </a:endParaRPr>
          </a:p>
        </p:txBody>
      </p:sp>
      <p:sp>
        <p:nvSpPr>
          <p:cNvPr id="4" name="Slide Number Placeholder 3"/>
          <p:cNvSpPr>
            <a:spLocks noGrp="1"/>
          </p:cNvSpPr>
          <p:nvPr>
            <p:ph type="sldNum" sz="quarter" idx="12"/>
          </p:nvPr>
        </p:nvSpPr>
        <p:spPr/>
        <p:txBody>
          <a:bodyPr/>
          <a:lstStyle/>
          <a:p>
            <a:fld id="{3454B693-B468-42A8-A04E-B0389EB91439}" type="slidenum">
              <a:rPr lang="en-US" smtClean="0"/>
              <a:pPr/>
              <a:t>36</a:t>
            </a:fld>
            <a:endParaRPr lang="en-US" dirty="0"/>
          </a:p>
        </p:txBody>
      </p:sp>
      <p:sp>
        <p:nvSpPr>
          <p:cNvPr id="5" name="Footer Placeholder 4"/>
          <p:cNvSpPr>
            <a:spLocks noGrp="1"/>
          </p:cNvSpPr>
          <p:nvPr>
            <p:ph type="ftr" sz="quarter" idx="11"/>
          </p:nvPr>
        </p:nvSpPr>
        <p:spPr/>
        <p:txBody>
          <a:bodyPr/>
          <a:lstStyle/>
          <a:p>
            <a:r>
              <a:rPr lang="en-US" smtClean="0"/>
              <a:t>Center for Assessment.  WY Accountability Advisory Committee (6/14/12)</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US" dirty="0" smtClean="0"/>
              <a:t>Negative Consequences</a:t>
            </a:r>
            <a:endParaRPr lang="en-US" dirty="0"/>
          </a:p>
        </p:txBody>
      </p:sp>
      <p:sp>
        <p:nvSpPr>
          <p:cNvPr id="3" name="Content Placeholder 2"/>
          <p:cNvSpPr>
            <a:spLocks noGrp="1"/>
          </p:cNvSpPr>
          <p:nvPr>
            <p:ph idx="1"/>
          </p:nvPr>
        </p:nvSpPr>
        <p:spPr>
          <a:xfrm>
            <a:off x="228600" y="838200"/>
            <a:ext cx="8458200" cy="5486400"/>
          </a:xfrm>
        </p:spPr>
        <p:txBody>
          <a:bodyPr>
            <a:normAutofit fontScale="92500" lnSpcReduction="10000"/>
          </a:bodyPr>
          <a:lstStyle/>
          <a:p>
            <a:r>
              <a:rPr lang="en-US" dirty="0" smtClean="0"/>
              <a:t>As we consider the </a:t>
            </a:r>
            <a:r>
              <a:rPr lang="en-US" dirty="0" smtClean="0"/>
              <a:t>design and implementation of WY’s new </a:t>
            </a:r>
            <a:r>
              <a:rPr lang="en-US" dirty="0" smtClean="0"/>
              <a:t>educator evaluation system, we must be mindful that the likelihood of getting this wrong (i.e., leading to unintended negative consequences) are at least as high as the chances of getting it right (i.e., improving teacher quality and student learning)</a:t>
            </a:r>
          </a:p>
          <a:p>
            <a:endParaRPr lang="en-US" dirty="0" smtClean="0"/>
          </a:p>
          <a:p>
            <a:r>
              <a:rPr lang="en-US" dirty="0" smtClean="0"/>
              <a:t>Unintended consequences could include:</a:t>
            </a:r>
          </a:p>
          <a:p>
            <a:pPr lvl="1"/>
            <a:r>
              <a:rPr lang="en-US" dirty="0" smtClean="0"/>
              <a:t>Narrowing curriculum</a:t>
            </a:r>
          </a:p>
          <a:p>
            <a:pPr lvl="1"/>
            <a:r>
              <a:rPr lang="en-US" dirty="0" smtClean="0"/>
              <a:t>Competition vs. Cooperation</a:t>
            </a:r>
          </a:p>
          <a:p>
            <a:pPr lvl="1"/>
            <a:r>
              <a:rPr lang="en-US" dirty="0" smtClean="0"/>
              <a:t>Assignment of students or teachers to selected classes for reasons unrelated to educational benefit</a:t>
            </a:r>
          </a:p>
          <a:p>
            <a:pPr lvl="1"/>
            <a:r>
              <a:rPr lang="en-US" dirty="0" smtClean="0"/>
              <a:t>Educator transition</a:t>
            </a:r>
          </a:p>
          <a:p>
            <a:pPr lvl="1"/>
            <a:r>
              <a:rPr lang="en-US" dirty="0" smtClean="0"/>
              <a:t>Educator attrition</a:t>
            </a:r>
          </a:p>
        </p:txBody>
      </p:sp>
      <p:sp>
        <p:nvSpPr>
          <p:cNvPr id="4" name="Slide Number Placeholder 3"/>
          <p:cNvSpPr>
            <a:spLocks noGrp="1"/>
          </p:cNvSpPr>
          <p:nvPr>
            <p:ph type="sldNum" sz="quarter" idx="12"/>
          </p:nvPr>
        </p:nvSpPr>
        <p:spPr/>
        <p:txBody>
          <a:bodyPr/>
          <a:lstStyle/>
          <a:p>
            <a:fld id="{3454B693-B468-42A8-A04E-B0389EB91439}" type="slidenum">
              <a:rPr lang="en-US" smtClean="0"/>
              <a:pPr/>
              <a:t>37</a:t>
            </a:fld>
            <a:endParaRPr lang="en-US" dirty="0"/>
          </a:p>
        </p:txBody>
      </p:sp>
      <p:sp>
        <p:nvSpPr>
          <p:cNvPr id="5" name="Footer Placeholder 4"/>
          <p:cNvSpPr>
            <a:spLocks noGrp="1"/>
          </p:cNvSpPr>
          <p:nvPr>
            <p:ph type="ftr" sz="quarter" idx="11"/>
          </p:nvPr>
        </p:nvSpPr>
        <p:spPr/>
        <p:txBody>
          <a:bodyPr/>
          <a:lstStyle/>
          <a:p>
            <a:r>
              <a:rPr lang="en-US" smtClean="0"/>
              <a:t>Center for Assessment.  WY Accountability Advisory Committee (6/14/12)</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r>
              <a:rPr lang="en-US" dirty="0" smtClean="0">
                <a:solidFill>
                  <a:srgbClr val="7B9899"/>
                </a:solidFill>
              </a:rPr>
              <a:t>Campbell’s Law</a:t>
            </a:r>
          </a:p>
        </p:txBody>
      </p:sp>
      <p:sp>
        <p:nvSpPr>
          <p:cNvPr id="3" name="Slide Number Placeholder 2"/>
          <p:cNvSpPr>
            <a:spLocks noGrp="1"/>
          </p:cNvSpPr>
          <p:nvPr>
            <p:ph type="sldNum" sz="quarter" idx="12"/>
          </p:nvPr>
        </p:nvSpPr>
        <p:spPr/>
        <p:txBody>
          <a:bodyPr/>
          <a:lstStyle/>
          <a:p>
            <a:pPr>
              <a:defRPr/>
            </a:pPr>
            <a:fld id="{5AD3A52D-8113-4964-AC20-104D6940F930}" type="slidenum">
              <a:rPr lang="en-US"/>
              <a:pPr>
                <a:defRPr/>
              </a:pPr>
              <a:t>38</a:t>
            </a:fld>
            <a:endParaRPr lang="en-US" dirty="0"/>
          </a:p>
        </p:txBody>
      </p:sp>
      <p:sp>
        <p:nvSpPr>
          <p:cNvPr id="4" name="Content Placeholder 3"/>
          <p:cNvSpPr>
            <a:spLocks noGrp="1"/>
          </p:cNvSpPr>
          <p:nvPr>
            <p:ph sz="quarter" idx="1"/>
          </p:nvPr>
        </p:nvSpPr>
        <p:spPr>
          <a:xfrm>
            <a:off x="301625" y="1436914"/>
            <a:ext cx="8504238" cy="4842587"/>
          </a:xfrm>
        </p:spPr>
        <p:txBody>
          <a:bodyPr>
            <a:normAutofit lnSpcReduction="10000"/>
          </a:bodyPr>
          <a:lstStyle/>
          <a:p>
            <a:pPr marL="274320" indent="-274320" fontAlgn="auto">
              <a:spcAft>
                <a:spcPts val="0"/>
              </a:spcAft>
              <a:buFont typeface="Wingdings 2"/>
              <a:buChar char=""/>
              <a:defRPr/>
            </a:pPr>
            <a:r>
              <a:rPr lang="en-US" dirty="0" smtClean="0"/>
              <a:t>"The more any quantitative social indicator is used for social decision-making, the more subject it will be to corruption pressures and the more apt it will be to distort and </a:t>
            </a:r>
            <a:r>
              <a:rPr lang="en-US" b="1" dirty="0" smtClean="0"/>
              <a:t>corrupt the social processes it is intended to monitor</a:t>
            </a:r>
            <a:r>
              <a:rPr lang="en-US" dirty="0" smtClean="0"/>
              <a:t>.”  </a:t>
            </a:r>
            <a:r>
              <a:rPr lang="en-US" sz="2400" dirty="0" smtClean="0"/>
              <a:t>(emphases added)</a:t>
            </a:r>
            <a:endParaRPr lang="en-US" dirty="0" smtClean="0"/>
          </a:p>
          <a:p>
            <a:pPr marL="274320" indent="-274320" fontAlgn="auto">
              <a:spcAft>
                <a:spcPts val="0"/>
              </a:spcAft>
              <a:buFont typeface="Wingdings 2"/>
              <a:buNone/>
              <a:defRPr/>
            </a:pPr>
            <a:r>
              <a:rPr lang="en-US" u="sng" dirty="0" smtClean="0">
                <a:hlinkClick r:id="rId3"/>
              </a:rPr>
              <a:t>http://en.wikipedia.org/wiki/Campbell%27s_Law</a:t>
            </a:r>
            <a:endParaRPr lang="en-US" u="sng" dirty="0" smtClean="0"/>
          </a:p>
          <a:p>
            <a:pPr marL="274320" indent="-274320" fontAlgn="auto">
              <a:spcAft>
                <a:spcPts val="0"/>
              </a:spcAft>
              <a:buFont typeface="Wingdings 2"/>
              <a:buChar char=""/>
              <a:defRPr/>
            </a:pPr>
            <a:endParaRPr lang="en-US" dirty="0" smtClean="0"/>
          </a:p>
          <a:p>
            <a:pPr marL="274320" indent="-274320" fontAlgn="auto">
              <a:spcAft>
                <a:spcPts val="0"/>
              </a:spcAft>
              <a:buFont typeface="Wingdings 2"/>
              <a:buChar char=""/>
              <a:defRPr/>
            </a:pPr>
            <a:r>
              <a:rPr lang="en-US" b="1" dirty="0" smtClean="0"/>
              <a:t>Educator accountability systems will invite significantly more implicit and explicit corruption than has been seen with school accountability</a:t>
            </a:r>
          </a:p>
          <a:p>
            <a:pPr marL="274320" indent="-274320" fontAlgn="auto">
              <a:spcAft>
                <a:spcPts val="0"/>
              </a:spcAft>
              <a:buFont typeface="Wingdings 2"/>
              <a:buNone/>
              <a:defRPr/>
            </a:pPr>
            <a:endParaRPr lang="en-US" u="sng" dirty="0" smtClean="0"/>
          </a:p>
          <a:p>
            <a:pPr marL="274320" indent="-274320" fontAlgn="auto">
              <a:spcAft>
                <a:spcPts val="0"/>
              </a:spcAft>
              <a:buFont typeface="Wingdings 2"/>
              <a:buNone/>
              <a:defRPr/>
            </a:pPr>
            <a:endParaRPr lang="en-US" dirty="0"/>
          </a:p>
        </p:txBody>
      </p:sp>
      <p:sp>
        <p:nvSpPr>
          <p:cNvPr id="52228" name="Footer Placeholder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fontAlgn="base">
              <a:spcBef>
                <a:spcPct val="0"/>
              </a:spcBef>
              <a:spcAft>
                <a:spcPct val="0"/>
              </a:spcAft>
            </a:pPr>
            <a:r>
              <a:rPr lang="en-US" smtClean="0">
                <a:cs typeface="Arial" charset="0"/>
              </a:rPr>
              <a:t>Center for Assessment.  WY Accountability Advisory Committee (6/14/12)</a:t>
            </a:r>
            <a:endParaRPr lang="en-US" dirty="0">
              <a:cs typeface="Arial"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81600"/>
          </a:xfrm>
        </p:spPr>
        <p:txBody>
          <a:bodyPr>
            <a:normAutofit/>
          </a:bodyPr>
          <a:lstStyle/>
          <a:p>
            <a:r>
              <a:rPr lang="en-US" dirty="0" smtClean="0"/>
              <a:t>What types of formative evaluation approaches need to be put in place to monitor implementation and consequences?</a:t>
            </a:r>
          </a:p>
          <a:p>
            <a:r>
              <a:rPr lang="en-US" dirty="0" smtClean="0"/>
              <a:t>Evaluate claims in theory of action</a:t>
            </a:r>
          </a:p>
          <a:p>
            <a:r>
              <a:rPr lang="en-US" dirty="0" smtClean="0"/>
              <a:t>Evaluate impact</a:t>
            </a:r>
          </a:p>
          <a:p>
            <a:pPr lvl="1"/>
            <a:r>
              <a:rPr lang="en-US" dirty="0" smtClean="0"/>
              <a:t>Establish criteria to determine if results are reasonable </a:t>
            </a:r>
          </a:p>
          <a:p>
            <a:r>
              <a:rPr lang="en-US" dirty="0" smtClean="0"/>
              <a:t>Develop methods and standards to assess the precision and stability of results </a:t>
            </a:r>
          </a:p>
          <a:p>
            <a:r>
              <a:rPr lang="en-US" dirty="0" smtClean="0"/>
              <a:t>Does the system meet important utility criteria?</a:t>
            </a:r>
          </a:p>
        </p:txBody>
      </p:sp>
      <p:sp>
        <p:nvSpPr>
          <p:cNvPr id="2" name="Title 1"/>
          <p:cNvSpPr>
            <a:spLocks noGrp="1"/>
          </p:cNvSpPr>
          <p:nvPr>
            <p:ph type="title"/>
          </p:nvPr>
        </p:nvSpPr>
        <p:spPr>
          <a:xfrm>
            <a:off x="457200" y="152400"/>
            <a:ext cx="8229600" cy="792162"/>
          </a:xfrm>
        </p:spPr>
        <p:txBody>
          <a:bodyPr/>
          <a:lstStyle/>
          <a:p>
            <a:r>
              <a:rPr lang="en-US" dirty="0" smtClean="0">
                <a:effectLst/>
              </a:rPr>
              <a:t>Monitoring and Evaluation</a:t>
            </a:r>
            <a:endParaRPr lang="en-US" dirty="0">
              <a:effectLst/>
            </a:endParaRPr>
          </a:p>
        </p:txBody>
      </p:sp>
      <p:sp>
        <p:nvSpPr>
          <p:cNvPr id="4" name="Slide Number Placeholder 3"/>
          <p:cNvSpPr>
            <a:spLocks noGrp="1"/>
          </p:cNvSpPr>
          <p:nvPr>
            <p:ph type="sldNum" sz="quarter" idx="12"/>
          </p:nvPr>
        </p:nvSpPr>
        <p:spPr/>
        <p:txBody>
          <a:bodyPr/>
          <a:lstStyle/>
          <a:p>
            <a:fld id="{3454B693-B468-42A8-A04E-B0389EB91439}" type="slidenum">
              <a:rPr lang="en-US" smtClean="0"/>
              <a:pPr/>
              <a:t>39</a:t>
            </a:fld>
            <a:endParaRPr lang="en-US" dirty="0"/>
          </a:p>
        </p:txBody>
      </p:sp>
      <p:sp>
        <p:nvSpPr>
          <p:cNvPr id="5" name="Footer Placeholder 4"/>
          <p:cNvSpPr>
            <a:spLocks noGrp="1"/>
          </p:cNvSpPr>
          <p:nvPr>
            <p:ph type="ftr" sz="quarter" idx="11"/>
          </p:nvPr>
        </p:nvSpPr>
        <p:spPr/>
        <p:txBody>
          <a:bodyPr/>
          <a:lstStyle/>
          <a:p>
            <a:r>
              <a:rPr lang="en-US" smtClean="0"/>
              <a:t>Center for Assessment.  WY Accountability Advisory Committee (6/14/12)</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How should we plan our work going forward?</a:t>
            </a:r>
          </a:p>
          <a:p>
            <a:r>
              <a:rPr lang="en-US" dirty="0" smtClean="0"/>
              <a:t>Who’s going to do what?</a:t>
            </a:r>
          </a:p>
          <a:p>
            <a:r>
              <a:rPr lang="en-US" dirty="0" smtClean="0"/>
              <a:t>How will we work?</a:t>
            </a:r>
          </a:p>
          <a:p>
            <a:endParaRPr lang="en-US" dirty="0" smtClean="0"/>
          </a:p>
          <a:p>
            <a:r>
              <a:rPr lang="en-US" dirty="0" smtClean="0"/>
              <a:t>Goals for </a:t>
            </a:r>
            <a:r>
              <a:rPr lang="en-US" smtClean="0"/>
              <a:t>next meeting…</a:t>
            </a:r>
            <a:endParaRPr lang="en-US"/>
          </a:p>
        </p:txBody>
      </p:sp>
      <p:sp>
        <p:nvSpPr>
          <p:cNvPr id="3" name="Footer Placeholder 2"/>
          <p:cNvSpPr>
            <a:spLocks noGrp="1"/>
          </p:cNvSpPr>
          <p:nvPr>
            <p:ph type="ftr" sz="quarter" idx="11"/>
          </p:nvPr>
        </p:nvSpPr>
        <p:spPr/>
        <p:txBody>
          <a:bodyPr/>
          <a:lstStyle/>
          <a:p>
            <a:r>
              <a:rPr lang="en-US" smtClean="0"/>
              <a:t>Center for Assessment.  WY Accountability Advisory Committee (6/14/12)</a:t>
            </a:r>
            <a:endParaRPr lang="en-US" dirty="0"/>
          </a:p>
        </p:txBody>
      </p:sp>
      <p:sp>
        <p:nvSpPr>
          <p:cNvPr id="4" name="Slide Number Placeholder 3"/>
          <p:cNvSpPr>
            <a:spLocks noGrp="1"/>
          </p:cNvSpPr>
          <p:nvPr>
            <p:ph type="sldNum" sz="quarter" idx="12"/>
          </p:nvPr>
        </p:nvSpPr>
        <p:spPr/>
        <p:txBody>
          <a:bodyPr/>
          <a:lstStyle/>
          <a:p>
            <a:fld id="{3454B693-B468-42A8-A04E-B0389EB91439}" type="slidenum">
              <a:rPr lang="en-US" smtClean="0"/>
              <a:pPr/>
              <a:t>40</a:t>
            </a:fld>
            <a:endParaRPr lang="en-US" dirty="0"/>
          </a:p>
        </p:txBody>
      </p:sp>
      <p:sp>
        <p:nvSpPr>
          <p:cNvPr id="5" name="Title 4"/>
          <p:cNvSpPr>
            <a:spLocks noGrp="1"/>
          </p:cNvSpPr>
          <p:nvPr>
            <p:ph type="title"/>
          </p:nvPr>
        </p:nvSpPr>
        <p:spPr/>
        <p:txBody>
          <a:bodyPr/>
          <a:lstStyle/>
          <a:p>
            <a:r>
              <a:rPr lang="en-US" dirty="0" smtClean="0"/>
              <a:t>Next steps…</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4708</TotalTime>
  <Words>3289</Words>
  <Application>Microsoft Office PowerPoint</Application>
  <PresentationFormat>On-screen Show (4:3)</PresentationFormat>
  <Paragraphs>369</Paragraphs>
  <Slides>40</Slides>
  <Notes>10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2" baseType="lpstr">
      <vt:lpstr>Concourse</vt:lpstr>
      <vt:lpstr>Visio</vt:lpstr>
      <vt:lpstr>Designing a Statewide System for Measuring Teacher and Leader Effectiveness</vt:lpstr>
      <vt:lpstr>Overview of presentation…</vt:lpstr>
      <vt:lpstr>Introduction</vt:lpstr>
      <vt:lpstr>Rationale</vt:lpstr>
      <vt:lpstr>Key Decisions</vt:lpstr>
      <vt:lpstr>Goals and key principles</vt:lpstr>
      <vt:lpstr>Excerpt rom NH’s draft system</vt:lpstr>
      <vt:lpstr>Major policy decisions</vt:lpstr>
      <vt:lpstr>A Theory of Action… </vt:lpstr>
      <vt:lpstr>A Simplified Theory of Action for Reformed Educator Evaluation Systems</vt:lpstr>
      <vt:lpstr>Basic Structure of a Theory of Action</vt:lpstr>
      <vt:lpstr>Theory of Action</vt:lpstr>
      <vt:lpstr>Simple ToA for an “improvement” system</vt:lpstr>
      <vt:lpstr>Thinking Through a Theory of Action</vt:lpstr>
      <vt:lpstr>The General Evaluation Model</vt:lpstr>
      <vt:lpstr>Coherence</vt:lpstr>
      <vt:lpstr>Specific Measurement Model</vt:lpstr>
      <vt:lpstr>Measures of Educator Practice</vt:lpstr>
      <vt:lpstr>Measures of Educator Practice</vt:lpstr>
      <vt:lpstr>Student Performance Measures and Analytics</vt:lpstr>
      <vt:lpstr>Student Performance: Analyzing Growth </vt:lpstr>
      <vt:lpstr>Mapping educators to standards, assessments &amp; growth (Lee, 2010, based on preliminary data from MA DOE)</vt:lpstr>
      <vt:lpstr>The Non-Tested Challenge</vt:lpstr>
      <vt:lpstr>All Educators in NTSG are Not the Same</vt:lpstr>
      <vt:lpstr>Slide 25</vt:lpstr>
      <vt:lpstr>Comparability</vt:lpstr>
      <vt:lpstr>What Measurement Approaches Are Being Proposed?</vt:lpstr>
      <vt:lpstr>Analytic Approaches</vt:lpstr>
      <vt:lpstr>What Approaches Are Being Proposed for NTSG?</vt:lpstr>
      <vt:lpstr>Definitions</vt:lpstr>
      <vt:lpstr>Attribution</vt:lpstr>
      <vt:lpstr>Combining Multiple Measures</vt:lpstr>
      <vt:lpstr>Information Requirements</vt:lpstr>
      <vt:lpstr>Capacity Requirements</vt:lpstr>
      <vt:lpstr>Reporting &amp; Communication</vt:lpstr>
      <vt:lpstr>Consequences &amp; Support</vt:lpstr>
      <vt:lpstr>Negative Consequences</vt:lpstr>
      <vt:lpstr>Campbell’s Law</vt:lpstr>
      <vt:lpstr>Monitoring and Evaluation</vt:lpstr>
      <vt:lpstr>Next steps…</vt:lpstr>
    </vt:vector>
  </TitlesOfParts>
  <Company>NCIEA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Assessment Results to Inform Educator Effectiveness</dc:title>
  <dc:creator>Chris Domaleski</dc:creator>
  <cp:lastModifiedBy>Scott Marion</cp:lastModifiedBy>
  <cp:revision>201</cp:revision>
  <dcterms:created xsi:type="dcterms:W3CDTF">2011-01-06T04:18:12Z</dcterms:created>
  <dcterms:modified xsi:type="dcterms:W3CDTF">2012-06-14T01:11:13Z</dcterms:modified>
</cp:coreProperties>
</file>