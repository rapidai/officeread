
<file path=[Content_Types].xml><?xml version="1.0" encoding="utf-8"?>
<Types xmlns="http://schemas.openxmlformats.org/package/2006/content-types">
  <Override PartName="/ppt/slides/slide18.xml" ContentType="application/vnd.openxmlformats-officedocument.presentationml.slide+xml"/>
  <Override PartName="/ppt/notesSlides/notesSlide4.xml" ContentType="application/vnd.openxmlformats-officedocument.presentationml.notesSlide+xml"/>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notesSlides/notesSlide9.xml" ContentType="application/vnd.openxmlformats-officedocument.presentationml.notesSlide+xml"/>
  <Override PartName="/ppt/notesSlides/notesSlide16.xml" ContentType="application/vnd.openxmlformats-officedocument.presentationml.notesSlide+xml"/>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6.xml" ContentType="application/vnd.openxmlformats-officedocument.presentationml.slide+xml"/>
  <Override PartName="/ppt/handoutMasters/handoutMaster1.xml" ContentType="application/vnd.openxmlformats-officedocument.presentationml.handoutMaster+xml"/>
  <Override PartName="/ppt/notesSlides/notesSlide12.xml" ContentType="application/vnd.openxmlformats-officedocument.presentationml.notesSlide+xml"/>
  <Override PartName="/ppt/theme/theme2.xml" ContentType="application/vnd.openxmlformats-officedocument.theme+xml"/>
  <Override PartName="/ppt/slideLayouts/slideLayout1.xml" ContentType="application/vnd.openxmlformats-officedocument.presentationml.slideLayout+xml"/>
  <Default Extension="jpeg" ContentType="image/jpeg"/>
  <Override PartName="/ppt/slides/slide22.xml" ContentType="application/vnd.openxmlformats-officedocument.presentationml.slide+xml"/>
  <Override PartName="/docProps/app.xml" ContentType="application/vnd.openxmlformats-officedocument.extended-properties+xml"/>
  <Default Extension="xml" ContentType="application/xml"/>
  <Override PartName="/ppt/slides/slide19.xml" ContentType="application/vnd.openxmlformats-officedocument.presentationml.slide+xml"/>
  <Override PartName="/ppt/notesSlides/notesSlide5.xml" ContentType="application/vnd.openxmlformats-officedocument.presentationml.notesSlide+xml"/>
  <Override PartName="/ppt/tableStyles.xml" ContentType="application/vnd.openxmlformats-officedocument.presentationml.tableStyles+xml"/>
  <Override PartName="/ppt/notesSlides/notesSlide20.xml" ContentType="application/vnd.openxmlformats-officedocument.presentationml.notes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17.xml" ContentType="application/vnd.openxmlformats-officedocument.presentationml.notesSlide+xml"/>
  <Override PartName="/ppt/slides/slide6.xml" ContentType="application/vnd.openxmlformats-officedocument.presentationml.slide+xml"/>
  <Override PartName="/ppt/charts/chart1.xml" ContentType="application/vnd.openxmlformats-officedocument.drawingml.chart+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notesSlides/notesSlide13.xml" ContentType="application/vnd.openxmlformats-officedocument.presentationml.notesSlide+xml"/>
  <Override PartName="/ppt/slides/slide2.xml" ContentType="application/vnd.openxmlformats-officedocument.presentationml.slide+xml"/>
  <Default Extension="png" ContentType="image/png"/>
  <Override PartName="/ppt/slideLayouts/slideLayout2.xml" ContentType="application/vnd.openxmlformats-officedocument.presentationml.slideLayout+xml"/>
  <Override PartName="/ppt/theme/theme3.xml" ContentType="application/vnd.openxmlformats-officedocument.theme+xml"/>
  <Override PartName="/ppt/slides/slide23.xml" ContentType="application/vnd.openxmlformats-officedocument.presentationml.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slides/slide16.xml" ContentType="application/vnd.openxmlformats-officedocument.presentationml.slide+xml"/>
  <Override PartName="/ppt/notesSlides/notesSlide2.xml" ContentType="application/vnd.openxmlformats-officedocument.presentationml.notesSlide+xml"/>
  <Override PartName="/ppt/notesSlides/notesSlide18.xml" ContentType="application/vnd.openxmlformats-officedocument.presentationml.notesSlide+xml"/>
  <Override PartName="/ppt/slides/slide7.xml" ContentType="application/vnd.openxmlformats-officedocument.presentationml.slide+xml"/>
  <Override PartName="/ppt/charts/chart2.xml" ContentType="application/vnd.openxmlformats-officedocument.drawingml.chart+xml"/>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Override PartName="/ppt/notesSlides/notesSlide14.xml" ContentType="application/vnd.openxmlformats-officedocument.presentationml.notesSlide+xml"/>
  <Override PartName="/ppt/slides/slide3.xml" ContentType="application/vnd.openxmlformats-officedocument.presentationml.slide+xml"/>
  <Override PartName="/ppt/slideLayouts/slideLayout3.xml" ContentType="application/vnd.openxmlformats-officedocument.presentationml.slideLayout+xml"/>
  <Override PartName="/ppt/slides/slide24.xml" ContentType="application/vnd.openxmlformats-officedocument.presentationml.slide+xml"/>
  <Override PartName="/ppt/slides/slide20.xml" ContentType="application/vnd.openxmlformats-officedocument.presentationml.slide+xml"/>
  <Override PartName="/ppt/notesSlides/notesSlide7.xml" ContentType="application/vnd.openxmlformats-officedocument.presentationml.notesSlide+xml"/>
  <Override PartName="/ppt/notesSlides/notesSlide22.xml" ContentType="application/vnd.openxmlformats-officedocument.presentationml.notesSlide+xml"/>
  <Override PartName="/ppt/slides/slide17.xml" ContentType="application/vnd.openxmlformats-officedocument.presentationml.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slides/slide8.xml" ContentType="application/vnd.openxmlformats-officedocument.presentationml.slide+xml"/>
  <Override PartName="/ppt/notesSlides/notesSlide19.xml" ContentType="application/vnd.openxmlformats-officedocument.presentationml.notes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s/slide4.xml" ContentType="application/vnd.openxmlformats-officedocument.presentationml.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slideLayouts/slideLayout4.xml" ContentType="application/vnd.openxmlformats-officedocument.presentationml.slideLayout+xml"/>
  <Override PartName="/ppt/slides/slide25.xml" ContentType="application/vnd.openxmlformats-officedocument.presentationml.slide+xml"/>
  <Override PartName="/ppt/slideMasters/slideMaster1.xml" ContentType="application/vnd.openxmlformats-officedocument.presentationml.slideMaster+xml"/>
  <Override PartName="/ppt/theme/theme1.xml" ContentType="application/vnd.openxmlformats-officedocument.theme+xml"/>
  <Override PartName="/ppt/slides/slide21.xml" ContentType="application/vnd.openxmlformats-officedocument.presentationml.slide+xml"/>
  <Default Extension="bin" ContentType="application/vnd.openxmlformats-officedocument.presentationml.printerSettings"/>
  <Override PartName="/ppt/viewProps.xml" ContentType="application/vnd.openxmlformats-officedocument.presentationml.viewProps+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3648" r:id="rId1"/>
  </p:sldMasterIdLst>
  <p:notesMasterIdLst>
    <p:notesMasterId r:id="rId28"/>
  </p:notesMasterIdLst>
  <p:handoutMasterIdLst>
    <p:handoutMasterId r:id="rId29"/>
  </p:handoutMasterIdLst>
  <p:sldIdLst>
    <p:sldId id="256" r:id="rId2"/>
    <p:sldId id="257" r:id="rId3"/>
    <p:sldId id="258" r:id="rId4"/>
    <p:sldId id="307" r:id="rId5"/>
    <p:sldId id="305" r:id="rId6"/>
    <p:sldId id="297" r:id="rId7"/>
    <p:sldId id="262" r:id="rId8"/>
    <p:sldId id="299" r:id="rId9"/>
    <p:sldId id="295" r:id="rId10"/>
    <p:sldId id="306" r:id="rId11"/>
    <p:sldId id="302" r:id="rId12"/>
    <p:sldId id="300" r:id="rId13"/>
    <p:sldId id="282" r:id="rId14"/>
    <p:sldId id="263" r:id="rId15"/>
    <p:sldId id="290" r:id="rId16"/>
    <p:sldId id="265" r:id="rId17"/>
    <p:sldId id="266" r:id="rId18"/>
    <p:sldId id="291" r:id="rId19"/>
    <p:sldId id="267" r:id="rId20"/>
    <p:sldId id="268" r:id="rId21"/>
    <p:sldId id="269" r:id="rId22"/>
    <p:sldId id="301" r:id="rId23"/>
    <p:sldId id="277" r:id="rId24"/>
    <p:sldId id="278" r:id="rId25"/>
    <p:sldId id="280" r:id="rId26"/>
    <p:sldId id="298"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FFCC00"/>
    <a:srgbClr val="CC99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28097" autoAdjust="0"/>
    <p:restoredTop sz="83144" autoAdjust="0"/>
  </p:normalViewPr>
  <p:slideViewPr>
    <p:cSldViewPr>
      <p:cViewPr varScale="1">
        <p:scale>
          <a:sx n="90" d="100"/>
          <a:sy n="90" d="100"/>
        </p:scale>
        <p:origin x="-344" y="-10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interSettings" Target="printerSettings/printerSettings1.bin"/><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oleObject" Target="file:///E:\My%20Dropbox\Paper_triangularSpam\slides\country_breakdown.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My%20Dropbox\Paper_triangularSpam\slides\country_breakdow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barChart>
        <c:barDir val="bar"/>
        <c:grouping val="clustered"/>
        <c:ser>
          <c:idx val="0"/>
          <c:order val="0"/>
          <c:dLbls>
            <c:txPr>
              <a:bodyPr/>
              <a:lstStyle/>
              <a:p>
                <a:pPr>
                  <a:defRPr sz="1400"/>
                </a:pPr>
                <a:endParaRPr lang="en-US"/>
              </a:p>
            </c:txPr>
            <c:showVal val="1"/>
          </c:dLbls>
          <c:cat>
            <c:strRef>
              <c:f>Sheet1!$E$2:$E$11</c:f>
              <c:strCache>
                <c:ptCount val="10"/>
                <c:pt idx="0">
                  <c:v>China</c:v>
                </c:pt>
                <c:pt idx="1">
                  <c:v>Korea</c:v>
                </c:pt>
                <c:pt idx="2">
                  <c:v>India</c:v>
                </c:pt>
                <c:pt idx="3">
                  <c:v>Iran</c:v>
                </c:pt>
                <c:pt idx="4">
                  <c:v>UK</c:v>
                </c:pt>
                <c:pt idx="5">
                  <c:v>Germany</c:v>
                </c:pt>
                <c:pt idx="6">
                  <c:v>Australia</c:v>
                </c:pt>
                <c:pt idx="7">
                  <c:v>USA</c:v>
                </c:pt>
                <c:pt idx="8">
                  <c:v>Canada</c:v>
                </c:pt>
                <c:pt idx="9">
                  <c:v>Turkey</c:v>
                </c:pt>
              </c:strCache>
            </c:strRef>
          </c:cat>
          <c:val>
            <c:numRef>
              <c:f>Sheet1!$F$2:$F$11</c:f>
              <c:numCache>
                <c:formatCode>0.00%</c:formatCode>
                <c:ptCount val="10"/>
                <c:pt idx="0">
                  <c:v>0.003</c:v>
                </c:pt>
                <c:pt idx="1">
                  <c:v>0.013</c:v>
                </c:pt>
                <c:pt idx="2">
                  <c:v>0.016</c:v>
                </c:pt>
                <c:pt idx="3" formatCode="0%">
                  <c:v>0.03</c:v>
                </c:pt>
                <c:pt idx="4" formatCode="0%">
                  <c:v>0.06</c:v>
                </c:pt>
                <c:pt idx="5" formatCode="0%">
                  <c:v>0.06</c:v>
                </c:pt>
                <c:pt idx="6" formatCode="0%">
                  <c:v>0.08</c:v>
                </c:pt>
                <c:pt idx="7">
                  <c:v>0.0930000000000001</c:v>
                </c:pt>
                <c:pt idx="8" formatCode="0%">
                  <c:v>0.35</c:v>
                </c:pt>
                <c:pt idx="9" formatCode="0%">
                  <c:v>0.41</c:v>
                </c:pt>
              </c:numCache>
            </c:numRef>
          </c:val>
        </c:ser>
        <c:axId val="562209352"/>
        <c:axId val="562105160"/>
      </c:barChart>
      <c:catAx>
        <c:axId val="562209352"/>
        <c:scaling>
          <c:orientation val="minMax"/>
        </c:scaling>
        <c:axPos val="l"/>
        <c:tickLblPos val="nextTo"/>
        <c:txPr>
          <a:bodyPr/>
          <a:lstStyle/>
          <a:p>
            <a:pPr>
              <a:defRPr sz="1400"/>
            </a:pPr>
            <a:endParaRPr lang="en-US"/>
          </a:p>
        </c:txPr>
        <c:crossAx val="562105160"/>
        <c:crosses val="autoZero"/>
        <c:auto val="1"/>
        <c:lblAlgn val="ctr"/>
        <c:lblOffset val="100"/>
      </c:catAx>
      <c:valAx>
        <c:axId val="562105160"/>
        <c:scaling>
          <c:orientation val="minMax"/>
        </c:scaling>
        <c:axPos val="b"/>
        <c:majorGridlines/>
        <c:numFmt formatCode="0.00%" sourceLinked="1"/>
        <c:tickLblPos val="nextTo"/>
        <c:txPr>
          <a:bodyPr/>
          <a:lstStyle/>
          <a:p>
            <a:pPr>
              <a:defRPr sz="1400"/>
            </a:pPr>
            <a:endParaRPr lang="en-US"/>
          </a:p>
        </c:txPr>
        <c:crossAx val="562209352"/>
        <c:crosses val="autoZero"/>
        <c:crossBetween val="between"/>
      </c:valAx>
    </c:plotArea>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style val="2"/>
  <c:chart>
    <c:plotArea>
      <c:layout/>
      <c:barChart>
        <c:barDir val="bar"/>
        <c:grouping val="clustered"/>
        <c:ser>
          <c:idx val="0"/>
          <c:order val="0"/>
          <c:dLbls>
            <c:txPr>
              <a:bodyPr/>
              <a:lstStyle/>
              <a:p>
                <a:pPr>
                  <a:defRPr sz="1400"/>
                </a:pPr>
                <a:endParaRPr lang="en-US"/>
              </a:p>
            </c:txPr>
            <c:showVal val="1"/>
          </c:dLbls>
          <c:cat>
            <c:strRef>
              <c:f>Sheet1!$E$2:$E$11</c:f>
              <c:strCache>
                <c:ptCount val="10"/>
                <c:pt idx="0">
                  <c:v>China</c:v>
                </c:pt>
                <c:pt idx="1">
                  <c:v>Korea</c:v>
                </c:pt>
                <c:pt idx="2">
                  <c:v>India</c:v>
                </c:pt>
                <c:pt idx="3">
                  <c:v>Iran</c:v>
                </c:pt>
                <c:pt idx="4">
                  <c:v>UK</c:v>
                </c:pt>
                <c:pt idx="5">
                  <c:v>Germany</c:v>
                </c:pt>
                <c:pt idx="6">
                  <c:v>Australia</c:v>
                </c:pt>
                <c:pt idx="7">
                  <c:v>USA</c:v>
                </c:pt>
                <c:pt idx="8">
                  <c:v>Canada</c:v>
                </c:pt>
                <c:pt idx="9">
                  <c:v>Turkey</c:v>
                </c:pt>
              </c:strCache>
            </c:strRef>
          </c:cat>
          <c:val>
            <c:numRef>
              <c:f>Sheet1!$G$2:$G$11</c:f>
              <c:numCache>
                <c:formatCode>General</c:formatCode>
                <c:ptCount val="10"/>
                <c:pt idx="0">
                  <c:v>1006.0</c:v>
                </c:pt>
                <c:pt idx="1">
                  <c:v>145.0</c:v>
                </c:pt>
                <c:pt idx="2">
                  <c:v>547.0</c:v>
                </c:pt>
                <c:pt idx="3">
                  <c:v>89.0</c:v>
                </c:pt>
                <c:pt idx="4">
                  <c:v>120.0</c:v>
                </c:pt>
                <c:pt idx="5">
                  <c:v>81.0</c:v>
                </c:pt>
                <c:pt idx="6">
                  <c:v>162.0</c:v>
                </c:pt>
                <c:pt idx="7">
                  <c:v>2714.0</c:v>
                </c:pt>
                <c:pt idx="8">
                  <c:v>151.0</c:v>
                </c:pt>
                <c:pt idx="9">
                  <c:v>87.0</c:v>
                </c:pt>
              </c:numCache>
            </c:numRef>
          </c:val>
        </c:ser>
        <c:axId val="545771432"/>
        <c:axId val="545772568"/>
      </c:barChart>
      <c:catAx>
        <c:axId val="545771432"/>
        <c:scaling>
          <c:orientation val="minMax"/>
        </c:scaling>
        <c:axPos val="l"/>
        <c:tickLblPos val="nextTo"/>
        <c:txPr>
          <a:bodyPr/>
          <a:lstStyle/>
          <a:p>
            <a:pPr>
              <a:defRPr sz="1400"/>
            </a:pPr>
            <a:endParaRPr lang="en-US"/>
          </a:p>
        </c:txPr>
        <c:crossAx val="545772568"/>
        <c:crosses val="autoZero"/>
        <c:auto val="1"/>
        <c:lblAlgn val="ctr"/>
        <c:lblOffset val="100"/>
      </c:catAx>
      <c:valAx>
        <c:axId val="545772568"/>
        <c:scaling>
          <c:orientation val="minMax"/>
        </c:scaling>
        <c:axPos val="b"/>
        <c:majorGridlines/>
        <c:numFmt formatCode="General" sourceLinked="1"/>
        <c:tickLblPos val="nextTo"/>
        <c:txPr>
          <a:bodyPr/>
          <a:lstStyle/>
          <a:p>
            <a:pPr>
              <a:defRPr sz="1400"/>
            </a:pPr>
            <a:endParaRPr lang="en-US"/>
          </a:p>
        </c:txPr>
        <c:crossAx val="545771432"/>
        <c:crosses val="autoZero"/>
        <c:crossBetween val="between"/>
      </c:valAx>
    </c:plotArea>
    <c:plotVisOnly val="1"/>
  </c:chart>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1DA4D17-F61D-F74B-97E8-BB47D6658788}" type="datetimeFigureOut">
              <a:rPr lang="en-US" smtClean="0"/>
              <a:pPr/>
              <a:t>5/17/10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D23452D-3A26-9947-B381-E33F77D819FC}"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E35E3E-5ACC-2C42-A8DF-E2A362615C9D}" type="datetimeFigureOut">
              <a:rPr lang="en-US" smtClean="0"/>
              <a:pPr/>
              <a:t>5/17/10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CD4FA0-E4DA-FB40-9208-1F087E884B18}"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People always say security</a:t>
            </a:r>
            <a:r>
              <a:rPr lang="en-US" baseline="0" dirty="0" smtClean="0"/>
              <a:t> is an arms race, we think so is spam. If we look at the history of battling spam, it always goes through the loop where new spamming techniques are invented and then corresponding prevention and detection are proposed. </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An example of arms race from the network’s perspective is that today’s spam are mostly sent from </a:t>
            </a:r>
            <a:r>
              <a:rPr lang="en-US" baseline="0" dirty="0" err="1" smtClean="0"/>
              <a:t>botnets</a:t>
            </a:r>
            <a:r>
              <a:rPr lang="en-US" baseline="0" dirty="0" smtClean="0"/>
              <a:t> which</a:t>
            </a:r>
            <a:r>
              <a:rPr lang="en-US" baseline="0" dirty="0" smtClean="0"/>
              <a:t> hides </a:t>
            </a:r>
            <a:r>
              <a:rPr lang="en-US" baseline="0" dirty="0" smtClean="0"/>
              <a:t>the real identity of spammers. The large scale of</a:t>
            </a:r>
            <a:r>
              <a:rPr lang="en-US" baseline="0" dirty="0" smtClean="0"/>
              <a:t> the distributed </a:t>
            </a:r>
            <a:r>
              <a:rPr lang="en-US" baseline="0" dirty="0" err="1" smtClean="0"/>
              <a:t>botnets</a:t>
            </a:r>
            <a:r>
              <a:rPr lang="en-US" baseline="0" dirty="0" smtClean="0"/>
              <a:t> can effectively deliver spam messages at a very high rate. As shown in the figure, the spammer</a:t>
            </a:r>
            <a:r>
              <a:rPr lang="en-US" baseline="0" dirty="0" smtClean="0"/>
              <a:t> instructs bots </a:t>
            </a:r>
            <a:r>
              <a:rPr lang="en-US" baseline="0" dirty="0" smtClean="0"/>
              <a:t>in various networks to send spam.</a:t>
            </a:r>
          </a:p>
          <a:p>
            <a:r>
              <a:rPr lang="en-US" baseline="0" dirty="0" smtClean="0"/>
              <a:t>One of the corresponding defenses is IP-based blacklist.</a:t>
            </a:r>
            <a:r>
              <a:rPr lang="en-US" baseline="0" dirty="0" smtClean="0"/>
              <a:t> The </a:t>
            </a:r>
            <a:r>
              <a:rPr lang="en-US" baseline="0" dirty="0" smtClean="0"/>
              <a:t>idea is that if one IP address sends too many spam, it will be listed </a:t>
            </a:r>
            <a:r>
              <a:rPr lang="en-US" baseline="0" dirty="0" smtClean="0"/>
              <a:t>on the </a:t>
            </a:r>
            <a:r>
              <a:rPr lang="en-US" baseline="0" dirty="0" smtClean="0"/>
              <a:t>blacklist and subsequent emails delivered from this IP address will be marked as spam. IP-based blacklisting effectively makes IP addresses important resources and limits the spammer’s </a:t>
            </a:r>
            <a:r>
              <a:rPr lang="en-US" baseline="0" dirty="0" smtClean="0"/>
              <a:t>throughput because if an IP address sends too many spam, it will be blacklisted very quickly. The problem with this approach though is that it </a:t>
            </a:r>
            <a:r>
              <a:rPr lang="en-US" baseline="0" dirty="0" smtClean="0"/>
              <a:t>can be incomplete.</a:t>
            </a:r>
          </a:p>
          <a:p>
            <a:r>
              <a:rPr lang="en-US" baseline="0" dirty="0" smtClean="0"/>
              <a:t>Port 25 blocking:</a:t>
            </a:r>
            <a:r>
              <a:rPr lang="en-US" baseline="0" dirty="0" smtClean="0"/>
              <a:t> a little bit of background of port 25. Port </a:t>
            </a:r>
            <a:r>
              <a:rPr lang="en-US" baseline="0" dirty="0" smtClean="0"/>
              <a:t>25 </a:t>
            </a:r>
            <a:r>
              <a:rPr lang="en-US" baseline="0" dirty="0" smtClean="0"/>
              <a:t>is used by SMTP protocol for communication </a:t>
            </a:r>
            <a:r>
              <a:rPr lang="en-US" baseline="0" dirty="0" smtClean="0"/>
              <a:t>between mail servers.</a:t>
            </a:r>
            <a:r>
              <a:rPr lang="en-US" baseline="0" dirty="0" smtClean="0"/>
              <a:t> Many ISPs are blocking port 25 in an attempt to reduce the spam traffic originated from their network. For example, ISPs like </a:t>
            </a:r>
            <a:r>
              <a:rPr lang="en-US" baseline="0" dirty="0" err="1" smtClean="0"/>
              <a:t>comcast</a:t>
            </a:r>
            <a:r>
              <a:rPr lang="en-US" baseline="0" dirty="0" smtClean="0"/>
              <a:t> or AT&amp;T may block such traffic. This defense effectively limits the end-user </a:t>
            </a:r>
            <a:r>
              <a:rPr lang="en-US" baseline="0" dirty="0" smtClean="0"/>
              <a:t>IP addresses for </a:t>
            </a:r>
            <a:r>
              <a:rPr lang="en-US" baseline="0" dirty="0" smtClean="0"/>
              <a:t>spamming. However, not all of the ISPs will do that. </a:t>
            </a:r>
            <a:endParaRPr lang="en-US" baseline="0" dirty="0" smtClean="0"/>
          </a:p>
        </p:txBody>
      </p:sp>
      <p:sp>
        <p:nvSpPr>
          <p:cNvPr id="4" name="Slide Number Placeholder 3"/>
          <p:cNvSpPr>
            <a:spLocks noGrp="1"/>
          </p:cNvSpPr>
          <p:nvPr>
            <p:ph type="sldNum" sz="quarter" idx="10"/>
          </p:nvPr>
        </p:nvSpPr>
        <p:spPr/>
        <p:txBody>
          <a:bodyPr/>
          <a:lstStyle/>
          <a:p>
            <a:fld id="{97CD4FA0-E4DA-FB40-9208-1F087E884B18}"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It is a relatively unknown</a:t>
            </a:r>
            <a:r>
              <a:rPr lang="en-US" baseline="0" dirty="0" smtClean="0"/>
              <a:t> but real attack. We actually have done a survey on </a:t>
            </a:r>
            <a:r>
              <a:rPr lang="en-US" baseline="0" dirty="0" err="1" smtClean="0"/>
              <a:t>nanog</a:t>
            </a:r>
            <a:r>
              <a:rPr lang="en-US" baseline="0" dirty="0" smtClean="0"/>
              <a:t> mailing list and found out that some network operators do know about this attack. So we are not proposing a new attack. Instead, we are interested in knowing H</a:t>
            </a:r>
            <a:r>
              <a:rPr lang="en-US" dirty="0" smtClean="0"/>
              <a:t>ow serious</a:t>
            </a:r>
            <a:r>
              <a:rPr lang="en-US" baseline="0" dirty="0" smtClean="0"/>
              <a:t> this attack can be? How big of an impact it can have? And how prevalent this attack is?</a:t>
            </a:r>
          </a:p>
          <a:p>
            <a:endParaRPr lang="en-US" baseline="0" dirty="0" smtClean="0"/>
          </a:p>
          <a:p>
            <a:r>
              <a:rPr lang="en-US" baseline="0" dirty="0" smtClean="0"/>
              <a:t>In normal cases without triangular spamming, there would be two entities involved – one sending mail server and one receiving mail server. In the normal case, the sending mail server would send TCP SYN packet to the mail server and then the receiving mail server would respond with a SYN-ACK packet. Based on the TCP sequence number in the SYN-ACK packet, the sending mail server will reply with the appropriate ACK packet to complete the TCP connection.</a:t>
            </a:r>
          </a:p>
          <a:p>
            <a:endParaRPr lang="en-US" baseline="0" dirty="0" smtClean="0"/>
          </a:p>
          <a:p>
            <a:r>
              <a:rPr lang="en-US" baseline="0" dirty="0" err="1" smtClean="0"/>
              <a:t>DDoS</a:t>
            </a:r>
            <a:r>
              <a:rPr lang="en-US" baseline="0" dirty="0" smtClean="0"/>
              <a:t> attack using IP spoofing, reverse </a:t>
            </a:r>
            <a:r>
              <a:rPr lang="en-US" baseline="0" dirty="0" err="1" smtClean="0"/>
              <a:t>traceroute</a:t>
            </a:r>
            <a:endParaRPr lang="en-US" baseline="0" dirty="0" smtClean="0"/>
          </a:p>
          <a:p>
            <a:r>
              <a:rPr lang="en-US" baseline="0" dirty="0" smtClean="0"/>
              <a:t>Important to explain how it works and requirement</a:t>
            </a:r>
          </a:p>
          <a:p>
            <a:endParaRPr lang="en-US" baseline="0" dirty="0" smtClean="0"/>
          </a:p>
          <a:p>
            <a:r>
              <a:rPr lang="en-US" baseline="0" dirty="0" smtClean="0"/>
              <a:t>Different color for </a:t>
            </a:r>
            <a:r>
              <a:rPr lang="en-US" baseline="0" dirty="0" err="1" smtClean="0"/>
              <a:t>Src</a:t>
            </a:r>
            <a:r>
              <a:rPr lang="en-US" baseline="0" dirty="0" smtClean="0"/>
              <a:t> and </a:t>
            </a:r>
            <a:r>
              <a:rPr lang="en-US" baseline="0" dirty="0" err="1" smtClean="0"/>
              <a:t>Dst</a:t>
            </a:r>
            <a:r>
              <a:rPr lang="en-US" baseline="0" dirty="0" smtClean="0"/>
              <a:t> IP</a:t>
            </a:r>
          </a:p>
          <a:p>
            <a:r>
              <a:rPr lang="en-US" baseline="0" dirty="0" smtClean="0"/>
              <a:t>Add two machines setup</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With</a:t>
            </a:r>
            <a:r>
              <a:rPr lang="en-US" baseline="0" dirty="0" smtClean="0"/>
              <a:t> triangular spamming, there are three entities involved – high bandwidth </a:t>
            </a:r>
            <a:r>
              <a:rPr lang="en-US" baseline="0" dirty="0" err="1" smtClean="0"/>
              <a:t>bot</a:t>
            </a:r>
            <a:r>
              <a:rPr lang="en-US" baseline="0" dirty="0" smtClean="0"/>
              <a:t> on the right, which has a high bandwidth to deliver spam at a high rate. And there is relay </a:t>
            </a:r>
            <a:r>
              <a:rPr lang="en-US" baseline="0" dirty="0" err="1" smtClean="0"/>
              <a:t>bot</a:t>
            </a:r>
            <a:r>
              <a:rPr lang="en-US" baseline="0" dirty="0" smtClean="0"/>
              <a:t> on the left which relays packets from the mail server to the high bandwidth bot. Finally, there is the mail server which is the victim.</a:t>
            </a:r>
          </a:p>
          <a:p>
            <a:r>
              <a:rPr lang="en-US" baseline="0" dirty="0" smtClean="0"/>
              <a:t>The attack has two requirements</a:t>
            </a:r>
            <a:r>
              <a:rPr lang="en-US" dirty="0" smtClean="0"/>
              <a:t>:</a:t>
            </a:r>
            <a:r>
              <a:rPr lang="en-US" baseline="0" dirty="0" smtClean="0"/>
              <a:t> IP spoofing and network-level packet relay. As shown in the figure, the high bandwidth </a:t>
            </a:r>
            <a:r>
              <a:rPr lang="en-US" baseline="0" dirty="0" err="1" smtClean="0"/>
              <a:t>bot</a:t>
            </a:r>
            <a:r>
              <a:rPr lang="en-US" baseline="0" dirty="0" smtClean="0"/>
              <a:t> sends the TCP SYN packet to the mail server. Instead of putting its own IP address as source IP, it puts the relay </a:t>
            </a:r>
            <a:r>
              <a:rPr lang="en-US" baseline="0" dirty="0" err="1" smtClean="0"/>
              <a:t>bot’s</a:t>
            </a:r>
            <a:r>
              <a:rPr lang="en-US" baseline="0" dirty="0" smtClean="0"/>
              <a:t> IP address as source IP. When mail server receives the packet, it will respond to the relay </a:t>
            </a:r>
            <a:r>
              <a:rPr lang="en-US" baseline="0" dirty="0" err="1" smtClean="0"/>
              <a:t>bot</a:t>
            </a:r>
            <a:r>
              <a:rPr lang="en-US" baseline="0" dirty="0" smtClean="0"/>
              <a:t> since the IP is spoofed. The relay </a:t>
            </a:r>
            <a:r>
              <a:rPr lang="en-US" baseline="0" dirty="0" err="1" smtClean="0"/>
              <a:t>bot</a:t>
            </a:r>
            <a:r>
              <a:rPr lang="en-US" baseline="0" dirty="0" smtClean="0"/>
              <a:t> will then relay the packet back to the high bandwidth </a:t>
            </a:r>
            <a:r>
              <a:rPr lang="en-US" baseline="0" dirty="0" err="1" smtClean="0"/>
              <a:t>bot</a:t>
            </a:r>
            <a:r>
              <a:rPr lang="en-US" baseline="0" dirty="0" smtClean="0"/>
              <a:t> so that it can send ACK packet to complete the TCP connection. Note that relay </a:t>
            </a:r>
            <a:r>
              <a:rPr lang="en-US" baseline="0" dirty="0" err="1" smtClean="0"/>
              <a:t>bot</a:t>
            </a:r>
            <a:r>
              <a:rPr lang="en-US" baseline="0" dirty="0" smtClean="0"/>
              <a:t> is necessary because the high bandwidth </a:t>
            </a:r>
            <a:r>
              <a:rPr lang="en-US" baseline="0" dirty="0" err="1" smtClean="0"/>
              <a:t>bot</a:t>
            </a:r>
            <a:r>
              <a:rPr lang="en-US" baseline="0" dirty="0" smtClean="0"/>
              <a:t> needs the sequence number in the SYN-ACK packet in order to send a correct ACK packet.</a:t>
            </a:r>
            <a:endParaRPr lang="en-US" dirty="0" smtClean="0"/>
          </a:p>
          <a:p>
            <a:endParaRPr lang="en-US" baseline="0" dirty="0" smtClean="0"/>
          </a:p>
          <a:p>
            <a:r>
              <a:rPr lang="en-US" baseline="0" dirty="0" err="1" smtClean="0"/>
              <a:t>DDoS</a:t>
            </a:r>
            <a:r>
              <a:rPr lang="en-US" baseline="0" dirty="0" smtClean="0"/>
              <a:t> attack using IP spoofing, reverse </a:t>
            </a:r>
            <a:r>
              <a:rPr lang="en-US" baseline="0" dirty="0" err="1" smtClean="0"/>
              <a:t>traceroute</a:t>
            </a:r>
            <a:endParaRPr lang="en-US" baseline="0" dirty="0" smtClean="0"/>
          </a:p>
          <a:p>
            <a:r>
              <a:rPr lang="en-US" baseline="0" dirty="0" smtClean="0"/>
              <a:t>Important to explain how it works and requirement</a:t>
            </a:r>
          </a:p>
          <a:p>
            <a:endParaRPr lang="en-US" baseline="0" dirty="0" smtClean="0"/>
          </a:p>
        </p:txBody>
      </p:sp>
      <p:sp>
        <p:nvSpPr>
          <p:cNvPr id="4" name="Slide Number Placeholder 3"/>
          <p:cNvSpPr>
            <a:spLocks noGrp="1"/>
          </p:cNvSpPr>
          <p:nvPr>
            <p:ph type="sldNum" sz="quarter" idx="10"/>
          </p:nvPr>
        </p:nvSpPr>
        <p:spPr/>
        <p:txBody>
          <a:bodyPr/>
          <a:lstStyle/>
          <a:p>
            <a:fld id="{97CD4FA0-E4DA-FB40-9208-1F087E884B18}"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Packet</a:t>
            </a:r>
            <a:r>
              <a:rPr lang="en-US" baseline="0" dirty="0" smtClean="0"/>
              <a:t> format (</a:t>
            </a:r>
            <a:r>
              <a:rPr lang="en-US" baseline="0" dirty="0" err="1" smtClean="0"/>
              <a:t>src</a:t>
            </a:r>
            <a:r>
              <a:rPr lang="en-US" baseline="0" dirty="0" smtClean="0"/>
              <a:t> and port 25).</a:t>
            </a:r>
          </a:p>
          <a:p>
            <a:r>
              <a:rPr lang="en-US" baseline="0" dirty="0" smtClean="0"/>
              <a:t>We consider that the network of the relay </a:t>
            </a:r>
            <a:r>
              <a:rPr lang="en-US" baseline="0" dirty="0" err="1" smtClean="0"/>
              <a:t>bot</a:t>
            </a:r>
            <a:r>
              <a:rPr lang="en-US" baseline="0" dirty="0" smtClean="0"/>
              <a:t> is vulnerable</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Show pictures instead of text</a:t>
            </a:r>
          </a:p>
          <a:p>
            <a:r>
              <a:rPr lang="en-US" dirty="0" smtClean="0"/>
              <a:t>Triangular spamming exists!</a:t>
            </a:r>
            <a:r>
              <a:rPr lang="en-US" baseline="0" dirty="0" smtClean="0"/>
              <a:t> Say it in the upfront.</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Control packets (SYN-ACK packets need to be relayed)</a:t>
            </a:r>
          </a:p>
          <a:p>
            <a:r>
              <a:rPr lang="en-US" dirty="0" smtClean="0"/>
              <a:t>Multiple connections to increase throughput</a:t>
            </a:r>
          </a:p>
          <a:p>
            <a:r>
              <a:rPr lang="en-US" dirty="0" smtClean="0"/>
              <a:t>Multiple</a:t>
            </a:r>
            <a:r>
              <a:rPr lang="en-US" baseline="0" dirty="0" smtClean="0"/>
              <a:t> relay bots</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Port 25</a:t>
            </a:r>
            <a:r>
              <a:rPr lang="en-US" baseline="0" dirty="0" smtClean="0"/>
              <a:t> blocking background</a:t>
            </a:r>
          </a:p>
          <a:p>
            <a:r>
              <a:rPr lang="en-US" baseline="0" dirty="0" smtClean="0"/>
              <a:t>Explain OUT blocking is more common</a:t>
            </a:r>
          </a:p>
          <a:p>
            <a:r>
              <a:rPr lang="en-US" baseline="0" dirty="0" smtClean="0"/>
              <a:t>Focus on the ISP of relay bots22</a:t>
            </a:r>
          </a:p>
          <a:p>
            <a:endParaRPr lang="en-US" baseline="0" dirty="0" smtClean="0"/>
          </a:p>
          <a:p>
            <a:r>
              <a:rPr lang="en-US" baseline="0" dirty="0" smtClean="0"/>
              <a:t>Remove the incoming </a:t>
            </a:r>
            <a:r>
              <a:rPr lang="en-US" baseline="0" dirty="0" smtClean="0"/>
              <a:t>firewall</a:t>
            </a:r>
          </a:p>
          <a:p>
            <a:r>
              <a:rPr lang="en-US" baseline="0" dirty="0" smtClean="0"/>
              <a:t>If incoming blocking, then relay </a:t>
            </a:r>
            <a:r>
              <a:rPr lang="en-US" baseline="0" dirty="0" err="1" smtClean="0"/>
              <a:t>bot</a:t>
            </a:r>
            <a:r>
              <a:rPr lang="en-US" baseline="0" dirty="0" smtClean="0"/>
              <a:t> won’t be able to relay packets for high bandwidth </a:t>
            </a:r>
            <a:r>
              <a:rPr lang="en-US" baseline="0" dirty="0" err="1" smtClean="0"/>
              <a:t>bot</a:t>
            </a:r>
            <a:r>
              <a:rPr lang="en-US" baseline="0" dirty="0" smtClean="0"/>
              <a:t> and triangular spamming would </a:t>
            </a:r>
            <a:r>
              <a:rPr lang="en-US" baseline="0" smtClean="0"/>
              <a:t>not work.</a:t>
            </a:r>
            <a:endParaRPr lang="en-US" baseline="0" dirty="0" smtClean="0"/>
          </a:p>
        </p:txBody>
      </p:sp>
      <p:sp>
        <p:nvSpPr>
          <p:cNvPr id="4" name="Slide Number Placeholder 3"/>
          <p:cNvSpPr>
            <a:spLocks noGrp="1"/>
          </p:cNvSpPr>
          <p:nvPr>
            <p:ph type="sldNum" sz="quarter" idx="10"/>
          </p:nvPr>
        </p:nvSpPr>
        <p:spPr/>
        <p:txBody>
          <a:bodyPr/>
          <a:lstStyle/>
          <a:p>
            <a:fld id="{97CD4FA0-E4DA-FB40-9208-1F087E884B18}"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To verify our hypothesis, we conduct experiments</a:t>
            </a:r>
            <a:r>
              <a:rPr lang="en-US" baseline="0" dirty="0" smtClean="0"/>
              <a:t> in two steps</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Assumption:</a:t>
            </a:r>
            <a:r>
              <a:rPr lang="en-US" baseline="0" dirty="0" smtClean="0"/>
              <a:t> </a:t>
            </a:r>
            <a:r>
              <a:rPr lang="en-US" dirty="0" smtClean="0"/>
              <a:t>ISP level policy is</a:t>
            </a:r>
            <a:r>
              <a:rPr lang="en-US" baseline="0" dirty="0" smtClean="0"/>
              <a:t> similar in a large IP range</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Mention US</a:t>
            </a:r>
            <a:r>
              <a:rPr lang="en-US" baseline="0" dirty="0" smtClean="0"/>
              <a:t> and CN</a:t>
            </a:r>
          </a:p>
          <a:p>
            <a:r>
              <a:rPr lang="en-US" baseline="0" dirty="0" smtClean="0"/>
              <a:t>Order the table</a:t>
            </a:r>
          </a:p>
          <a:p>
            <a:endParaRPr lang="en-US" baseline="0" dirty="0" smtClean="0"/>
          </a:p>
          <a:p>
            <a:r>
              <a:rPr lang="en-US" baseline="0" dirty="0" smtClean="0"/>
              <a:t>Add highlights on both figures</a:t>
            </a:r>
          </a:p>
        </p:txBody>
      </p:sp>
      <p:sp>
        <p:nvSpPr>
          <p:cNvPr id="4" name="Slide Number Placeholder 3"/>
          <p:cNvSpPr>
            <a:spLocks noGrp="1"/>
          </p:cNvSpPr>
          <p:nvPr>
            <p:ph type="sldNum" sz="quarter" idx="10"/>
          </p:nvPr>
        </p:nvSpPr>
        <p:spPr/>
        <p:txBody>
          <a:bodyPr/>
          <a:lstStyle/>
          <a:p>
            <a:fld id="{97CD4FA0-E4DA-FB40-9208-1F087E884B18}"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Directly say whether triangular spamming is allowed or not</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Remove the figures</a:t>
            </a:r>
          </a:p>
          <a:p>
            <a:r>
              <a:rPr lang="en-US" baseline="0" dirty="0" smtClean="0"/>
              <a:t>Compare with baseline spam ratio</a:t>
            </a:r>
            <a:endParaRPr lang="en-US" dirty="0"/>
          </a:p>
        </p:txBody>
      </p:sp>
      <p:sp>
        <p:nvSpPr>
          <p:cNvPr id="4" name="Slide Number Placeholder 3"/>
          <p:cNvSpPr>
            <a:spLocks noGrp="1"/>
          </p:cNvSpPr>
          <p:nvPr>
            <p:ph type="sldNum" sz="quarter" idx="10"/>
          </p:nvPr>
        </p:nvSpPr>
        <p:spPr/>
        <p:txBody>
          <a:bodyPr/>
          <a:lstStyle/>
          <a:p>
            <a:fld id="{97CD4FA0-E4DA-FB40-9208-1F087E884B18}"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576FF9-D596-7D49-9D65-AE431DE6B105}" type="datetime1">
              <a:rPr lang="en-US" smtClean="0"/>
              <a:pPr/>
              <a:t>5/17/10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3801D19-31C3-CE4E-B3AD-6BB46B2DA134}" type="datetime1">
              <a:rPr lang="en-US" smtClean="0"/>
              <a:pPr/>
              <a:t>5/17/10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A10AB2-9533-2C42-9799-85660ABB961C}" type="datetime1">
              <a:rPr lang="en-US" smtClean="0"/>
              <a:pPr/>
              <a:t>5/17/10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947761-B1F4-0A46-9037-A06B2360DBD8}" type="datetime1">
              <a:rPr lang="en-US" smtClean="0"/>
              <a:pPr/>
              <a:t>5/17/10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39AA211-2F46-2E43-97D7-1947DB081190}" type="datetime1">
              <a:rPr lang="en-US" smtClean="0"/>
              <a:pPr/>
              <a:t>5/17/10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C4BD734-E9AE-9443-BCD4-9DD829620F66}" type="datetime1">
              <a:rPr lang="en-US" smtClean="0"/>
              <a:pPr/>
              <a:t>5/17/10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4B5D6-17B9-C449-9C20-00EF5E0981F5}" type="datetime1">
              <a:rPr lang="en-US" smtClean="0"/>
              <a:pPr/>
              <a:t>5/17/10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548B3C-19FA-9D45-9413-EEF1A2497C30}" type="datetime1">
              <a:rPr lang="en-US" smtClean="0"/>
              <a:pPr/>
              <a:t>5/17/10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F1E8E-7AFA-4E4B-85F3-F25345A6617B}" type="datetime1">
              <a:rPr lang="en-US" smtClean="0"/>
              <a:pPr/>
              <a:t>5/17/10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F1F636B-ACDC-9A44-AD52-E895528847A4}" type="datetime1">
              <a:rPr lang="en-US" smtClean="0"/>
              <a:pPr/>
              <a:t>5/17/10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E1EFE7-4AEC-134A-A360-2355D945880E}" type="datetime1">
              <a:rPr lang="en-US" smtClean="0"/>
              <a:pPr/>
              <a:t>5/17/10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4281B1-9645-384F-A02A-262A5EE5933E}" type="datetime1">
              <a:rPr lang="en-US" smtClean="0"/>
              <a:pPr/>
              <a:t>5/17/10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chart" Target="../charts/chart2.xml"/><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Investigation of Triangular Spamming: a Stealthy and Efficient Spamming Technique</a:t>
            </a:r>
            <a:endParaRPr lang="en-US" dirty="0"/>
          </a:p>
        </p:txBody>
      </p:sp>
      <p:sp>
        <p:nvSpPr>
          <p:cNvPr id="3" name="Subtitle 2"/>
          <p:cNvSpPr>
            <a:spLocks noGrp="1"/>
          </p:cNvSpPr>
          <p:nvPr>
            <p:ph type="subTitle" idx="1"/>
          </p:nvPr>
        </p:nvSpPr>
        <p:spPr>
          <a:xfrm>
            <a:off x="838200" y="4038600"/>
            <a:ext cx="7620000" cy="1752600"/>
          </a:xfrm>
        </p:spPr>
        <p:txBody>
          <a:bodyPr>
            <a:normAutofit/>
          </a:bodyPr>
          <a:lstStyle/>
          <a:p>
            <a:r>
              <a:rPr lang="en-US" sz="2500" dirty="0" smtClean="0">
                <a:solidFill>
                  <a:schemeClr val="tx1"/>
                </a:solidFill>
              </a:rPr>
              <a:t>Zhiyun Qian, Z. Morley Mao (University of Michigan)</a:t>
            </a:r>
          </a:p>
          <a:p>
            <a:r>
              <a:rPr lang="en-US" sz="2500" dirty="0" err="1" smtClean="0">
                <a:solidFill>
                  <a:schemeClr val="tx1"/>
                </a:solidFill>
              </a:rPr>
              <a:t>Yinglian</a:t>
            </a:r>
            <a:r>
              <a:rPr lang="en-US" sz="2500" dirty="0" smtClean="0">
                <a:solidFill>
                  <a:schemeClr val="tx1"/>
                </a:solidFill>
              </a:rPr>
              <a:t> </a:t>
            </a:r>
            <a:r>
              <a:rPr lang="en-US" sz="2500" dirty="0" err="1" smtClean="0">
                <a:solidFill>
                  <a:schemeClr val="tx1"/>
                </a:solidFill>
              </a:rPr>
              <a:t>Xie</a:t>
            </a:r>
            <a:r>
              <a:rPr lang="en-US" sz="2500" dirty="0" smtClean="0">
                <a:solidFill>
                  <a:schemeClr val="tx1"/>
                </a:solidFill>
              </a:rPr>
              <a:t>, Fang Yu (Microsoft Research Silicon Valley)</a:t>
            </a:r>
            <a:endParaRPr lang="en-US" sz="2500" dirty="0">
              <a:solidFill>
                <a:schemeClr val="tx1"/>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Introduction</a:t>
            </a:r>
            <a:endParaRPr lang="en-US" dirty="0"/>
          </a:p>
        </p:txBody>
      </p:sp>
      <p:sp>
        <p:nvSpPr>
          <p:cNvPr id="3" name="Content Placeholder 2"/>
          <p:cNvSpPr>
            <a:spLocks noGrp="1"/>
          </p:cNvSpPr>
          <p:nvPr>
            <p:ph idx="1"/>
          </p:nvPr>
        </p:nvSpPr>
        <p:spPr/>
        <p:txBody>
          <a:bodyPr>
            <a:normAutofit/>
          </a:bodyPr>
          <a:lstStyle/>
          <a:p>
            <a:r>
              <a:rPr lang="en-US" dirty="0" smtClean="0"/>
              <a:t>Security is an arms race, so is spam</a:t>
            </a:r>
          </a:p>
          <a:p>
            <a:pPr lvl="1">
              <a:buNone/>
            </a:pPr>
            <a:endParaRPr lang="en-US" dirty="0" smtClean="0"/>
          </a:p>
          <a:p>
            <a:pPr lvl="1">
              <a:buNone/>
            </a:pPr>
            <a:endParaRPr lang="en-US" dirty="0" smtClean="0"/>
          </a:p>
          <a:p>
            <a:pPr lvl="1">
              <a:buNone/>
            </a:pPr>
            <a:endParaRPr lang="en-US" dirty="0" smtClean="0"/>
          </a:p>
          <a:p>
            <a:pPr lvl="1">
              <a:buNone/>
            </a:pPr>
            <a:endParaRPr lang="en-US" dirty="0" smtClean="0"/>
          </a:p>
          <a:p>
            <a:pPr lvl="1">
              <a:buNone/>
            </a:pPr>
            <a:endParaRPr lang="en-US" dirty="0" smtClean="0">
              <a:solidFill>
                <a:prstClr val="black"/>
              </a:solidFill>
            </a:endParaRPr>
          </a:p>
          <a:p>
            <a:pPr lvl="1">
              <a:buNone/>
            </a:pPr>
            <a:endParaRPr lang="en-US" dirty="0" smtClean="0"/>
          </a:p>
          <a:p>
            <a:pPr lvl="1">
              <a:buNone/>
            </a:pPr>
            <a:endParaRPr lang="en-US" dirty="0" smtClean="0"/>
          </a:p>
        </p:txBody>
      </p:sp>
      <p:sp>
        <p:nvSpPr>
          <p:cNvPr id="7" name="Rounded Rectangle 6"/>
          <p:cNvSpPr/>
          <p:nvPr/>
        </p:nvSpPr>
        <p:spPr>
          <a:xfrm>
            <a:off x="1752600" y="2971800"/>
            <a:ext cx="4953000" cy="609600"/>
          </a:xfrm>
          <a:prstGeom prst="roundRect">
            <a:avLst/>
          </a:prstGeom>
          <a:effectLst>
            <a:outerShdw blurRad="50800" dist="50800" dir="5400000" algn="c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en-US" sz="2400" dirty="0" smtClean="0"/>
              <a:t>New spamming techniques invented</a:t>
            </a:r>
          </a:p>
        </p:txBody>
      </p:sp>
      <p:sp>
        <p:nvSpPr>
          <p:cNvPr id="9" name="Flowchart: Alternate Process 8"/>
          <p:cNvSpPr/>
          <p:nvPr/>
        </p:nvSpPr>
        <p:spPr>
          <a:xfrm>
            <a:off x="1752600" y="4114800"/>
            <a:ext cx="4953000" cy="609600"/>
          </a:xfrm>
          <a:prstGeom prst="flowChartAlternateProcess">
            <a:avLst/>
          </a:prstGeom>
          <a:effectLst>
            <a:outerShdw blurRad="50800" dist="50800" dir="5400000" algn="c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en-US" sz="2400" dirty="0" smtClean="0"/>
              <a:t>New prevention/detection proposed</a:t>
            </a:r>
          </a:p>
        </p:txBody>
      </p:sp>
      <p:sp>
        <p:nvSpPr>
          <p:cNvPr id="10" name="Down Arrow 9"/>
          <p:cNvSpPr/>
          <p:nvPr/>
        </p:nvSpPr>
        <p:spPr>
          <a:xfrm>
            <a:off x="4114800" y="3606800"/>
            <a:ext cx="316753" cy="508000"/>
          </a:xfrm>
          <a:prstGeom prst="downArrow">
            <a:avLst/>
          </a:prstGeom>
          <a:solidFill>
            <a:srgbClr val="FF0000"/>
          </a:solidFill>
          <a:ln>
            <a:solidFill>
              <a:srgbClr val="FF0000"/>
            </a:solidFill>
          </a:ln>
          <a:effectLst>
            <a:outerShdw blurRad="50800" dist="50800" dir="5400000" algn="c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rved Right Arrow 11"/>
          <p:cNvSpPr/>
          <p:nvPr/>
        </p:nvSpPr>
        <p:spPr>
          <a:xfrm rot="10800000">
            <a:off x="6705600" y="3200400"/>
            <a:ext cx="554318" cy="1219200"/>
          </a:xfrm>
          <a:prstGeom prst="curvedRightArrow">
            <a:avLst/>
          </a:prstGeom>
          <a:solidFill>
            <a:srgbClr val="FF0000"/>
          </a:solidFill>
          <a:ln>
            <a:solidFill>
              <a:srgbClr val="FF0000"/>
            </a:solidFill>
          </a:ln>
          <a:effectLst>
            <a:outerShdw blurRad="50800" dist="50800" dir="5400000" algn="c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Network-level spamming arms race</a:t>
            </a:r>
            <a:endParaRPr lang="en-US" dirty="0"/>
          </a:p>
        </p:txBody>
      </p:sp>
      <p:sp>
        <p:nvSpPr>
          <p:cNvPr id="3" name="Content Placeholder 2"/>
          <p:cNvSpPr>
            <a:spLocks noGrp="1"/>
          </p:cNvSpPr>
          <p:nvPr>
            <p:ph idx="1"/>
          </p:nvPr>
        </p:nvSpPr>
        <p:spPr>
          <a:xfrm>
            <a:off x="457200" y="1600201"/>
            <a:ext cx="8229600" cy="1981199"/>
          </a:xfrm>
        </p:spPr>
        <p:txBody>
          <a:bodyPr>
            <a:normAutofit fontScale="85000" lnSpcReduction="20000"/>
          </a:bodyPr>
          <a:lstStyle/>
          <a:p>
            <a:pPr lvl="0"/>
            <a:r>
              <a:rPr lang="en-US" dirty="0" smtClean="0">
                <a:solidFill>
                  <a:prstClr val="black"/>
                </a:solidFill>
              </a:rPr>
              <a:t>Attack: </a:t>
            </a:r>
            <a:r>
              <a:rPr lang="en-US" b="1" dirty="0" err="1" smtClean="0">
                <a:solidFill>
                  <a:srgbClr val="00B0F0"/>
                </a:solidFill>
              </a:rPr>
              <a:t>Botnet</a:t>
            </a:r>
            <a:r>
              <a:rPr lang="en-US" b="1" dirty="0" smtClean="0">
                <a:solidFill>
                  <a:srgbClr val="00B0F0"/>
                </a:solidFill>
              </a:rPr>
              <a:t>-based</a:t>
            </a:r>
            <a:r>
              <a:rPr lang="en-US" dirty="0" smtClean="0">
                <a:solidFill>
                  <a:prstClr val="black"/>
                </a:solidFill>
              </a:rPr>
              <a:t> spamming to hide real identity</a:t>
            </a:r>
            <a:endParaRPr lang="en-US" dirty="0" smtClean="0"/>
          </a:p>
          <a:p>
            <a:pPr lvl="0"/>
            <a:r>
              <a:rPr lang="en-US" dirty="0" smtClean="0"/>
              <a:t>Defense: </a:t>
            </a:r>
          </a:p>
          <a:p>
            <a:pPr lvl="1"/>
            <a:r>
              <a:rPr lang="en-US" b="1" dirty="0" smtClean="0">
                <a:solidFill>
                  <a:srgbClr val="00B0F0"/>
                </a:solidFill>
              </a:rPr>
              <a:t>IP-based blacklist: </a:t>
            </a:r>
            <a:r>
              <a:rPr lang="en-US" sz="2600" dirty="0" smtClean="0"/>
              <a:t>making IP addresses important resources, 			      limit spammer’s throughput</a:t>
            </a:r>
          </a:p>
          <a:p>
            <a:pPr lvl="1"/>
            <a:r>
              <a:rPr lang="en-US" b="1" dirty="0" smtClean="0">
                <a:solidFill>
                  <a:srgbClr val="00B0F0"/>
                </a:solidFill>
              </a:rPr>
              <a:t>Port 25 blocking: </a:t>
            </a:r>
            <a:r>
              <a:rPr lang="en-US" sz="2600" dirty="0" smtClean="0"/>
              <a:t>limit end-user IP addresses for spamming</a:t>
            </a:r>
          </a:p>
        </p:txBody>
      </p:sp>
      <p:pic>
        <p:nvPicPr>
          <p:cNvPr id="5127" name="Picture 7"/>
          <p:cNvPicPr>
            <a:picLocks noChangeAspect="1" noChangeArrowheads="1"/>
          </p:cNvPicPr>
          <p:nvPr/>
        </p:nvPicPr>
        <p:blipFill>
          <a:blip r:embed="rId3" cstate="print"/>
          <a:srcRect/>
          <a:stretch>
            <a:fillRect/>
          </a:stretch>
        </p:blipFill>
        <p:spPr bwMode="auto">
          <a:xfrm>
            <a:off x="2133600" y="3429000"/>
            <a:ext cx="5036126" cy="3352800"/>
          </a:xfrm>
          <a:prstGeom prst="rect">
            <a:avLst/>
          </a:prstGeom>
          <a:noFill/>
          <a:ln w="9525">
            <a:noFill/>
            <a:miter lim="800000"/>
            <a:headEnd/>
            <a:tailEnd/>
          </a:ln>
        </p:spPr>
      </p:pic>
      <p:pic>
        <p:nvPicPr>
          <p:cNvPr id="5128" name="Picture 8"/>
          <p:cNvPicPr>
            <a:picLocks noChangeAspect="1" noChangeArrowheads="1"/>
          </p:cNvPicPr>
          <p:nvPr/>
        </p:nvPicPr>
        <p:blipFill>
          <a:blip r:embed="rId4" cstate="print"/>
          <a:srcRect/>
          <a:stretch>
            <a:fillRect/>
          </a:stretch>
        </p:blipFill>
        <p:spPr bwMode="auto">
          <a:xfrm>
            <a:off x="3124200" y="4343400"/>
            <a:ext cx="243840" cy="381000"/>
          </a:xfrm>
          <a:prstGeom prst="rect">
            <a:avLst/>
          </a:prstGeom>
          <a:noFill/>
          <a:ln w="9525">
            <a:noFill/>
            <a:miter lim="800000"/>
            <a:headEnd/>
            <a:tailEnd/>
          </a:ln>
        </p:spPr>
      </p:pic>
      <p:pic>
        <p:nvPicPr>
          <p:cNvPr id="5129" name="Picture 9"/>
          <p:cNvPicPr>
            <a:picLocks noChangeAspect="1" noChangeArrowheads="1"/>
          </p:cNvPicPr>
          <p:nvPr/>
        </p:nvPicPr>
        <p:blipFill>
          <a:blip r:embed="rId4" cstate="print"/>
          <a:srcRect/>
          <a:stretch>
            <a:fillRect/>
          </a:stretch>
        </p:blipFill>
        <p:spPr bwMode="auto">
          <a:xfrm>
            <a:off x="4495800" y="4267200"/>
            <a:ext cx="243840" cy="381000"/>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1752600" y="4724400"/>
            <a:ext cx="5572125" cy="1419225"/>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r>
              <a:rPr lang="en-US" dirty="0" smtClean="0"/>
              <a:t>Yet another new attack:</a:t>
            </a:r>
            <a:br>
              <a:rPr lang="en-US" dirty="0" smtClean="0"/>
            </a:br>
            <a:r>
              <a:rPr lang="en-US" dirty="0" smtClean="0">
                <a:solidFill>
                  <a:srgbClr val="FF0000"/>
                </a:solidFill>
              </a:rPr>
              <a:t>Triangular spamming</a:t>
            </a:r>
            <a:endParaRPr lang="en-US" dirty="0">
              <a:solidFill>
                <a:srgbClr val="FF0000"/>
              </a:solidFill>
            </a:endParaRPr>
          </a:p>
        </p:txBody>
      </p:sp>
      <p:sp>
        <p:nvSpPr>
          <p:cNvPr id="3" name="Content Placeholder 2"/>
          <p:cNvSpPr>
            <a:spLocks noGrp="1"/>
          </p:cNvSpPr>
          <p:nvPr>
            <p:ph idx="1"/>
          </p:nvPr>
        </p:nvSpPr>
        <p:spPr>
          <a:xfrm>
            <a:off x="457200" y="1524000"/>
            <a:ext cx="8229600" cy="2209800"/>
          </a:xfrm>
        </p:spPr>
        <p:txBody>
          <a:bodyPr>
            <a:normAutofit fontScale="77500" lnSpcReduction="20000"/>
          </a:bodyPr>
          <a:lstStyle/>
          <a:p>
            <a:r>
              <a:rPr lang="en-US" dirty="0" smtClean="0"/>
              <a:t>Relatively unknown but real attack </a:t>
            </a:r>
            <a:r>
              <a:rPr lang="en-US" dirty="0" smtClean="0">
                <a:solidFill>
                  <a:schemeClr val="bg1">
                    <a:lumMod val="50000"/>
                  </a:schemeClr>
                </a:solidFill>
              </a:rPr>
              <a:t>[NANOG Mailing list Survey]</a:t>
            </a:r>
          </a:p>
          <a:p>
            <a:pPr lvl="1"/>
            <a:r>
              <a:rPr lang="en-US" dirty="0" smtClean="0"/>
              <a:t>Not proposing a new attack</a:t>
            </a:r>
          </a:p>
          <a:p>
            <a:pPr lvl="1"/>
            <a:r>
              <a:rPr lang="en-US" dirty="0" smtClean="0"/>
              <a:t>But studying “how serious it can be? how prevalent it is?”</a:t>
            </a:r>
          </a:p>
          <a:p>
            <a:pPr lvl="1"/>
            <a:endParaRPr lang="en-US" dirty="0" smtClean="0"/>
          </a:p>
          <a:p>
            <a:endParaRPr lang="en-US" sz="900" dirty="0" smtClean="0"/>
          </a:p>
          <a:p>
            <a:r>
              <a:rPr lang="en-US" dirty="0" smtClean="0"/>
              <a:t>Normal mail server communication</a:t>
            </a:r>
          </a:p>
          <a:p>
            <a:pPr lvl="1"/>
            <a:endParaRPr lang="en-US" dirty="0"/>
          </a:p>
        </p:txBody>
      </p:sp>
      <p:sp>
        <p:nvSpPr>
          <p:cNvPr id="11" name="Rectangle 10"/>
          <p:cNvSpPr/>
          <p:nvPr/>
        </p:nvSpPr>
        <p:spPr>
          <a:xfrm>
            <a:off x="2667000" y="475075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1.1.1.1</a:t>
            </a:r>
            <a:endParaRPr lang="en-US" sz="1400" b="1" dirty="0">
              <a:solidFill>
                <a:srgbClr val="FF0000"/>
              </a:solidFill>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4</a:t>
            </a:fld>
            <a:endParaRPr lang="en-US"/>
          </a:p>
        </p:txBody>
      </p:sp>
      <p:sp>
        <p:nvSpPr>
          <p:cNvPr id="14" name="Rectangle 13"/>
          <p:cNvSpPr/>
          <p:nvPr/>
        </p:nvSpPr>
        <p:spPr>
          <a:xfrm>
            <a:off x="3352800" y="475075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2.2.2.2</a:t>
            </a:r>
            <a:endParaRPr lang="en-US" sz="1400" b="1" dirty="0">
              <a:solidFill>
                <a:srgbClr val="FFFF00"/>
              </a:solidFill>
            </a:endParaRPr>
          </a:p>
        </p:txBody>
      </p:sp>
      <p:sp>
        <p:nvSpPr>
          <p:cNvPr id="19" name="Rectangle 18"/>
          <p:cNvSpPr/>
          <p:nvPr/>
        </p:nvSpPr>
        <p:spPr>
          <a:xfrm>
            <a:off x="5181600" y="52578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2.2.2.2</a:t>
            </a:r>
            <a:endParaRPr lang="en-US" sz="1400" b="1" dirty="0">
              <a:solidFill>
                <a:srgbClr val="FF0000"/>
              </a:solidFill>
            </a:endParaRPr>
          </a:p>
        </p:txBody>
      </p:sp>
      <p:sp>
        <p:nvSpPr>
          <p:cNvPr id="20" name="Rectangle 19"/>
          <p:cNvSpPr/>
          <p:nvPr/>
        </p:nvSpPr>
        <p:spPr>
          <a:xfrm>
            <a:off x="5867400" y="52578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1.1.1.1</a:t>
            </a:r>
            <a:endParaRPr lang="en-US" sz="1400" b="1" dirty="0">
              <a:solidFill>
                <a:srgbClr val="FFFF00"/>
              </a:solidFill>
            </a:endParaRPr>
          </a:p>
        </p:txBody>
      </p:sp>
      <p:sp>
        <p:nvSpPr>
          <p:cNvPr id="15" name="Rectangle 14"/>
          <p:cNvSpPr/>
          <p:nvPr/>
        </p:nvSpPr>
        <p:spPr>
          <a:xfrm>
            <a:off x="4038600" y="475075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SYN</a:t>
            </a:r>
            <a:endParaRPr lang="en-US" b="1" dirty="0">
              <a:solidFill>
                <a:srgbClr val="7030A0"/>
              </a:solidFill>
            </a:endParaRPr>
          </a:p>
        </p:txBody>
      </p:sp>
      <p:sp>
        <p:nvSpPr>
          <p:cNvPr id="23" name="Rectangle 22"/>
          <p:cNvSpPr/>
          <p:nvPr/>
        </p:nvSpPr>
        <p:spPr>
          <a:xfrm>
            <a:off x="6553200" y="52578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rgbClr val="7030A0"/>
                </a:solidFill>
              </a:rPr>
              <a:t>SYN-ACK</a:t>
            </a:r>
            <a:endParaRPr lang="en-US" sz="1300" b="1" dirty="0">
              <a:solidFill>
                <a:srgbClr val="7030A0"/>
              </a:solidFill>
            </a:endParaRPr>
          </a:p>
        </p:txBody>
      </p:sp>
      <p:sp>
        <p:nvSpPr>
          <p:cNvPr id="25" name="TextBox 24"/>
          <p:cNvSpPr txBox="1"/>
          <p:nvPr/>
        </p:nvSpPr>
        <p:spPr>
          <a:xfrm>
            <a:off x="6858000" y="3974068"/>
            <a:ext cx="864019" cy="369332"/>
          </a:xfrm>
          <a:prstGeom prst="rect">
            <a:avLst/>
          </a:prstGeom>
          <a:noFill/>
        </p:spPr>
        <p:txBody>
          <a:bodyPr wrap="none" rtlCol="0">
            <a:spAutoFit/>
          </a:bodyPr>
          <a:lstStyle/>
          <a:p>
            <a:r>
              <a:rPr lang="en-US" dirty="0" smtClean="0"/>
              <a:t>Legend</a:t>
            </a:r>
            <a:endParaRPr lang="en-US" dirty="0"/>
          </a:p>
        </p:txBody>
      </p:sp>
      <p:sp>
        <p:nvSpPr>
          <p:cNvPr id="26" name="Rectangle 25"/>
          <p:cNvSpPr/>
          <p:nvPr/>
        </p:nvSpPr>
        <p:spPr>
          <a:xfrm>
            <a:off x="6553200" y="3593068"/>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FF0000"/>
                </a:solidFill>
              </a:rPr>
              <a:t>Src</a:t>
            </a:r>
            <a:r>
              <a:rPr lang="en-US" sz="1400" b="1" dirty="0" smtClean="0">
                <a:solidFill>
                  <a:srgbClr val="FF0000"/>
                </a:solidFill>
              </a:rPr>
              <a:t> IP</a:t>
            </a:r>
            <a:endParaRPr lang="en-US" sz="1400" b="1" dirty="0">
              <a:solidFill>
                <a:srgbClr val="FF0000"/>
              </a:solidFill>
            </a:endParaRPr>
          </a:p>
        </p:txBody>
      </p:sp>
      <p:sp>
        <p:nvSpPr>
          <p:cNvPr id="27" name="Rectangle 26"/>
          <p:cNvSpPr/>
          <p:nvPr/>
        </p:nvSpPr>
        <p:spPr>
          <a:xfrm>
            <a:off x="7239000" y="3593068"/>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FFFF00"/>
                </a:solidFill>
              </a:rPr>
              <a:t>Dst</a:t>
            </a:r>
            <a:r>
              <a:rPr lang="en-US" sz="1400" b="1" dirty="0" smtClean="0">
                <a:solidFill>
                  <a:srgbClr val="FFFF00"/>
                </a:solidFill>
              </a:rPr>
              <a:t> IP</a:t>
            </a:r>
            <a:endParaRPr lang="en-US" sz="1400" b="1" dirty="0">
              <a:solidFill>
                <a:srgbClr val="FFFF00"/>
              </a:solidFill>
            </a:endParaRPr>
          </a:p>
        </p:txBody>
      </p:sp>
      <p:sp>
        <p:nvSpPr>
          <p:cNvPr id="22" name="Rectangle 21"/>
          <p:cNvSpPr/>
          <p:nvPr/>
        </p:nvSpPr>
        <p:spPr>
          <a:xfrm>
            <a:off x="2514600" y="558895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1.1.1.1</a:t>
            </a:r>
            <a:endParaRPr lang="en-US" sz="1400" b="1" dirty="0">
              <a:solidFill>
                <a:srgbClr val="FF0000"/>
              </a:solidFill>
            </a:endParaRPr>
          </a:p>
        </p:txBody>
      </p:sp>
      <p:sp>
        <p:nvSpPr>
          <p:cNvPr id="24" name="Rectangle 23"/>
          <p:cNvSpPr/>
          <p:nvPr/>
        </p:nvSpPr>
        <p:spPr>
          <a:xfrm>
            <a:off x="3200400" y="558895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2.2.2.2</a:t>
            </a:r>
            <a:endParaRPr lang="en-US" sz="1400" b="1" dirty="0">
              <a:solidFill>
                <a:srgbClr val="FFFF00"/>
              </a:solidFill>
            </a:endParaRPr>
          </a:p>
        </p:txBody>
      </p:sp>
      <p:sp>
        <p:nvSpPr>
          <p:cNvPr id="28" name="Rectangle 27"/>
          <p:cNvSpPr/>
          <p:nvPr/>
        </p:nvSpPr>
        <p:spPr>
          <a:xfrm>
            <a:off x="3886200" y="558895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ACK</a:t>
            </a:r>
            <a:endParaRPr lang="en-US" b="1" dirty="0">
              <a:solidFill>
                <a:srgbClr val="7030A0"/>
              </a:solidFill>
            </a:endParaRPr>
          </a:p>
        </p:txBody>
      </p:sp>
      <p:sp>
        <p:nvSpPr>
          <p:cNvPr id="18" name="Rectangle 17"/>
          <p:cNvSpPr/>
          <p:nvPr/>
        </p:nvSpPr>
        <p:spPr>
          <a:xfrm>
            <a:off x="7924800" y="3593592"/>
            <a:ext cx="838200"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err="1" smtClean="0">
                <a:solidFill>
                  <a:srgbClr val="7030A0"/>
                </a:solidFill>
              </a:rPr>
              <a:t>Msg</a:t>
            </a:r>
            <a:r>
              <a:rPr lang="en-US" sz="1300" b="1" dirty="0" smtClean="0">
                <a:solidFill>
                  <a:srgbClr val="7030A0"/>
                </a:solidFill>
              </a:rPr>
              <a:t> Type</a:t>
            </a:r>
            <a:endParaRPr lang="en-US" sz="1300"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1" nodeType="clickEffect">
                                  <p:stCondLst>
                                    <p:cond delay="0"/>
                                  </p:stCondLst>
                                  <p:childTnLst>
                                    <p:animMotion origin="layout" path="M 0 0 L 0.24166 0 " pathEditMode="relative" ptsTypes="AA">
                                      <p:cBhvr>
                                        <p:cTn id="28" dur="1000" fill="hold"/>
                                        <p:tgtEl>
                                          <p:spTgt spid="15"/>
                                        </p:tgtEl>
                                        <p:attrNameLst>
                                          <p:attrName>ppt_x</p:attrName>
                                          <p:attrName>ppt_y</p:attrName>
                                        </p:attrNameLst>
                                      </p:cBhvr>
                                    </p:animMotion>
                                  </p:childTnLst>
                                </p:cTn>
                              </p:par>
                              <p:par>
                                <p:cTn id="29" presetID="0" presetClass="path" presetSubtype="0" accel="50000" decel="50000" fill="hold" grpId="1" nodeType="withEffect">
                                  <p:stCondLst>
                                    <p:cond delay="0"/>
                                  </p:stCondLst>
                                  <p:childTnLst>
                                    <p:animMotion origin="layout" path="M 0 0 L 0.24166 0 " pathEditMode="relative" ptsTypes="AA">
                                      <p:cBhvr>
                                        <p:cTn id="30" dur="1000" fill="hold"/>
                                        <p:tgtEl>
                                          <p:spTgt spid="14"/>
                                        </p:tgtEl>
                                        <p:attrNameLst>
                                          <p:attrName>ppt_x</p:attrName>
                                          <p:attrName>ppt_y</p:attrName>
                                        </p:attrNameLst>
                                      </p:cBhvr>
                                    </p:animMotion>
                                  </p:childTnLst>
                                </p:cTn>
                              </p:par>
                              <p:par>
                                <p:cTn id="31" presetID="0" presetClass="path" presetSubtype="0" accel="50000" decel="50000" fill="hold" grpId="1" nodeType="withEffect">
                                  <p:stCondLst>
                                    <p:cond delay="0"/>
                                  </p:stCondLst>
                                  <p:childTnLst>
                                    <p:animMotion origin="layout" path="M 0 0 L 0.24166 0 " pathEditMode="relative" ptsTypes="AA">
                                      <p:cBhvr>
                                        <p:cTn id="32" dur="1000" fill="hold"/>
                                        <p:tgtEl>
                                          <p:spTgt spid="11"/>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grpId="1" nodeType="clickEffect">
                                  <p:stCondLst>
                                    <p:cond delay="0"/>
                                  </p:stCondLst>
                                  <p:childTnLst>
                                    <p:animMotion origin="layout" path="M 0.03698 -1.11111E-6 L -0.32136 -1.11111E-6 " pathEditMode="relative" rAng="0" ptsTypes="AA">
                                      <p:cBhvr>
                                        <p:cTn id="44" dur="1000" fill="hold"/>
                                        <p:tgtEl>
                                          <p:spTgt spid="23"/>
                                        </p:tgtEl>
                                        <p:attrNameLst>
                                          <p:attrName>ppt_x</p:attrName>
                                          <p:attrName>ppt_y</p:attrName>
                                        </p:attrNameLst>
                                      </p:cBhvr>
                                      <p:rCtr x="-179" y="0"/>
                                    </p:animMotion>
                                  </p:childTnLst>
                                </p:cTn>
                              </p:par>
                              <p:par>
                                <p:cTn id="45" presetID="0" presetClass="path" presetSubtype="0" accel="50000" decel="50000" fill="hold" grpId="1" nodeType="withEffect">
                                  <p:stCondLst>
                                    <p:cond delay="0"/>
                                  </p:stCondLst>
                                  <p:childTnLst>
                                    <p:animMotion origin="layout" path="M 0.03698 -1.11111E-6 L -0.32136 -1.11111E-6 " pathEditMode="relative" rAng="0" ptsTypes="AA">
                                      <p:cBhvr>
                                        <p:cTn id="46" dur="1000" fill="hold"/>
                                        <p:tgtEl>
                                          <p:spTgt spid="20"/>
                                        </p:tgtEl>
                                        <p:attrNameLst>
                                          <p:attrName>ppt_x</p:attrName>
                                          <p:attrName>ppt_y</p:attrName>
                                        </p:attrNameLst>
                                      </p:cBhvr>
                                      <p:rCtr x="-179" y="0"/>
                                    </p:animMotion>
                                  </p:childTnLst>
                                </p:cTn>
                              </p:par>
                              <p:par>
                                <p:cTn id="47" presetID="0" presetClass="path" presetSubtype="0" accel="50000" decel="50000" fill="hold" grpId="1" nodeType="withEffect">
                                  <p:stCondLst>
                                    <p:cond delay="0"/>
                                  </p:stCondLst>
                                  <p:childTnLst>
                                    <p:animMotion origin="layout" path="M 0.03698 -1.11111E-6 L -0.32136 -1.11111E-6 " pathEditMode="relative" rAng="0" ptsTypes="AA">
                                      <p:cBhvr>
                                        <p:cTn id="48" dur="1000" fill="hold"/>
                                        <p:tgtEl>
                                          <p:spTgt spid="19"/>
                                        </p:tgtEl>
                                        <p:attrNameLst>
                                          <p:attrName>ppt_x</p:attrName>
                                          <p:attrName>ppt_y</p:attrName>
                                        </p:attrNameLst>
                                      </p:cBhvr>
                                      <p:rCtr x="-179"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1" nodeType="clickEffect">
                                  <p:stCondLst>
                                    <p:cond delay="0"/>
                                  </p:stCondLst>
                                  <p:childTnLst>
                                    <p:animMotion origin="layout" path="M 0 0 L 0.24166 0 " pathEditMode="relative" ptsTypes="AA">
                                      <p:cBhvr>
                                        <p:cTn id="60" dur="1000" fill="hold"/>
                                        <p:tgtEl>
                                          <p:spTgt spid="28"/>
                                        </p:tgtEl>
                                        <p:attrNameLst>
                                          <p:attrName>ppt_x</p:attrName>
                                          <p:attrName>ppt_y</p:attrName>
                                        </p:attrNameLst>
                                      </p:cBhvr>
                                    </p:animMotion>
                                  </p:childTnLst>
                                </p:cTn>
                              </p:par>
                              <p:par>
                                <p:cTn id="61" presetID="0" presetClass="path" presetSubtype="0" accel="50000" decel="50000" fill="hold" grpId="1" nodeType="withEffect">
                                  <p:stCondLst>
                                    <p:cond delay="0"/>
                                  </p:stCondLst>
                                  <p:childTnLst>
                                    <p:animMotion origin="layout" path="M 0 0 L 0.24166 0 " pathEditMode="relative" ptsTypes="AA">
                                      <p:cBhvr>
                                        <p:cTn id="62" dur="1000" fill="hold"/>
                                        <p:tgtEl>
                                          <p:spTgt spid="24"/>
                                        </p:tgtEl>
                                        <p:attrNameLst>
                                          <p:attrName>ppt_x</p:attrName>
                                          <p:attrName>ppt_y</p:attrName>
                                        </p:attrNameLst>
                                      </p:cBhvr>
                                    </p:animMotion>
                                  </p:childTnLst>
                                </p:cTn>
                              </p:par>
                              <p:par>
                                <p:cTn id="63" presetID="0" presetClass="path" presetSubtype="0" accel="50000" decel="50000" fill="hold" grpId="1" nodeType="withEffect">
                                  <p:stCondLst>
                                    <p:cond delay="0"/>
                                  </p:stCondLst>
                                  <p:childTnLst>
                                    <p:animMotion origin="layout" path="M 0 0 L 0.24166 0 " pathEditMode="relative" ptsTypes="AA">
                                      <p:cBhvr>
                                        <p:cTn id="64" dur="1000" fill="hold"/>
                                        <p:tgtEl>
                                          <p:spTgt spid="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4" grpId="0" animBg="1"/>
      <p:bldP spid="14" grpId="1" animBg="1"/>
      <p:bldP spid="19" grpId="0" animBg="1"/>
      <p:bldP spid="19" grpId="1" animBg="1"/>
      <p:bldP spid="20" grpId="0" animBg="1"/>
      <p:bldP spid="20" grpId="1" animBg="1"/>
      <p:bldP spid="15" grpId="0" animBg="1"/>
      <p:bldP spid="15" grpId="1" animBg="1"/>
      <p:bldP spid="23" grpId="0" animBg="1"/>
      <p:bldP spid="23" grpId="1" animBg="1"/>
      <p:bldP spid="25" grpId="0"/>
      <p:bldP spid="26" grpId="0" animBg="1"/>
      <p:bldP spid="27" grpId="0" animBg="1"/>
      <p:bldP spid="22" grpId="0" animBg="1"/>
      <p:bldP spid="22" grpId="1" animBg="1"/>
      <p:bldP spid="24" grpId="0" animBg="1"/>
      <p:bldP spid="24" grpId="1" animBg="1"/>
      <p:bldP spid="28" grpId="0" animBg="1"/>
      <p:bldP spid="28" grpId="1" animBg="1"/>
      <p:bldP spid="18" grpId="0" animBg="1"/>
    </p:bld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3" cstate="print"/>
          <a:srcRect/>
          <a:stretch>
            <a:fillRect/>
          </a:stretch>
        </p:blipFill>
        <p:spPr bwMode="auto">
          <a:xfrm>
            <a:off x="2514600" y="3276600"/>
            <a:ext cx="3822922" cy="3200400"/>
          </a:xfrm>
          <a:prstGeom prst="rect">
            <a:avLst/>
          </a:prstGeom>
          <a:noFill/>
          <a:ln w="9525">
            <a:noFill/>
            <a:miter lim="800000"/>
            <a:headEnd/>
            <a:tailEnd/>
          </a:ln>
        </p:spPr>
      </p:pic>
      <p:sp>
        <p:nvSpPr>
          <p:cNvPr id="18" name="Rectangle 17"/>
          <p:cNvSpPr/>
          <p:nvPr/>
        </p:nvSpPr>
        <p:spPr>
          <a:xfrm>
            <a:off x="3124200" y="38100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3.3.3.3</a:t>
            </a:r>
            <a:endParaRPr lang="en-US" sz="1400" b="1" dirty="0">
              <a:solidFill>
                <a:srgbClr val="FF0000"/>
              </a:solidFill>
            </a:endParaRPr>
          </a:p>
        </p:txBody>
      </p:sp>
      <p:sp>
        <p:nvSpPr>
          <p:cNvPr id="2" name="Title 1"/>
          <p:cNvSpPr>
            <a:spLocks noGrp="1"/>
          </p:cNvSpPr>
          <p:nvPr>
            <p:ph type="title"/>
          </p:nvPr>
        </p:nvSpPr>
        <p:spPr/>
        <p:txBody>
          <a:bodyPr>
            <a:normAutofit fontScale="90000"/>
          </a:bodyPr>
          <a:lstStyle/>
          <a:p>
            <a:r>
              <a:rPr lang="en-US" dirty="0" smtClean="0"/>
              <a:t>Yet another new attack:</a:t>
            </a:r>
            <a:br>
              <a:rPr lang="en-US" dirty="0" smtClean="0"/>
            </a:br>
            <a:r>
              <a:rPr lang="en-US" dirty="0" smtClean="0">
                <a:solidFill>
                  <a:srgbClr val="FF0000"/>
                </a:solidFill>
              </a:rPr>
              <a:t>Triangular spamming</a:t>
            </a:r>
            <a:endParaRPr lang="en-US" dirty="0">
              <a:solidFill>
                <a:srgbClr val="FF0000"/>
              </a:solidFill>
            </a:endParaRPr>
          </a:p>
        </p:txBody>
      </p:sp>
      <p:sp>
        <p:nvSpPr>
          <p:cNvPr id="3" name="Content Placeholder 2"/>
          <p:cNvSpPr>
            <a:spLocks noGrp="1"/>
          </p:cNvSpPr>
          <p:nvPr>
            <p:ph idx="1"/>
          </p:nvPr>
        </p:nvSpPr>
        <p:spPr>
          <a:xfrm>
            <a:off x="457200" y="1524000"/>
            <a:ext cx="8229600" cy="1905000"/>
          </a:xfrm>
        </p:spPr>
        <p:txBody>
          <a:bodyPr>
            <a:normAutofit/>
          </a:bodyPr>
          <a:lstStyle/>
          <a:p>
            <a:r>
              <a:rPr lang="en-US" dirty="0" smtClean="0"/>
              <a:t>How it works</a:t>
            </a:r>
          </a:p>
          <a:p>
            <a:pPr lvl="1"/>
            <a:r>
              <a:rPr lang="en-US" dirty="0" smtClean="0"/>
              <a:t>IP spoofing</a:t>
            </a:r>
          </a:p>
          <a:p>
            <a:pPr lvl="1"/>
            <a:r>
              <a:rPr lang="en-US" dirty="0" smtClean="0"/>
              <a:t>Network-level packet relay</a:t>
            </a:r>
            <a:endParaRPr lang="en-US" dirty="0"/>
          </a:p>
        </p:txBody>
      </p:sp>
      <p:sp>
        <p:nvSpPr>
          <p:cNvPr id="11" name="Rectangle 10"/>
          <p:cNvSpPr/>
          <p:nvPr/>
        </p:nvSpPr>
        <p:spPr>
          <a:xfrm>
            <a:off x="5181600" y="51054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2.2.2.2</a:t>
            </a:r>
            <a:endParaRPr lang="en-US" sz="1400" b="1" dirty="0">
              <a:solidFill>
                <a:srgbClr val="FF0000"/>
              </a:solidFill>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5</a:t>
            </a:fld>
            <a:endParaRPr lang="en-US"/>
          </a:p>
        </p:txBody>
      </p:sp>
      <p:sp>
        <p:nvSpPr>
          <p:cNvPr id="9" name="TextBox 8"/>
          <p:cNvSpPr txBox="1"/>
          <p:nvPr/>
        </p:nvSpPr>
        <p:spPr>
          <a:xfrm>
            <a:off x="5410200" y="6400800"/>
            <a:ext cx="914400" cy="369332"/>
          </a:xfrm>
          <a:prstGeom prst="rect">
            <a:avLst/>
          </a:prstGeom>
          <a:noFill/>
        </p:spPr>
        <p:txBody>
          <a:bodyPr wrap="square" rtlCol="0">
            <a:spAutoFit/>
          </a:bodyPr>
          <a:lstStyle/>
          <a:p>
            <a:r>
              <a:rPr lang="en-US" dirty="0" smtClean="0"/>
              <a:t>1.1.1.1</a:t>
            </a:r>
            <a:endParaRPr lang="en-US" dirty="0"/>
          </a:p>
        </p:txBody>
      </p:sp>
      <p:sp>
        <p:nvSpPr>
          <p:cNvPr id="10" name="TextBox 9"/>
          <p:cNvSpPr txBox="1"/>
          <p:nvPr/>
        </p:nvSpPr>
        <p:spPr>
          <a:xfrm>
            <a:off x="2514600" y="6400801"/>
            <a:ext cx="914400" cy="369332"/>
          </a:xfrm>
          <a:prstGeom prst="rect">
            <a:avLst/>
          </a:prstGeom>
          <a:noFill/>
        </p:spPr>
        <p:txBody>
          <a:bodyPr wrap="square" rtlCol="0">
            <a:spAutoFit/>
          </a:bodyPr>
          <a:lstStyle/>
          <a:p>
            <a:r>
              <a:rPr lang="en-US" dirty="0" smtClean="0"/>
              <a:t>2.2.2.2</a:t>
            </a:r>
            <a:endParaRPr lang="en-US" dirty="0"/>
          </a:p>
        </p:txBody>
      </p:sp>
      <p:sp>
        <p:nvSpPr>
          <p:cNvPr id="14" name="Rectangle 13"/>
          <p:cNvSpPr/>
          <p:nvPr/>
        </p:nvSpPr>
        <p:spPr>
          <a:xfrm>
            <a:off x="5867400" y="51054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3.3.3.3</a:t>
            </a:r>
            <a:endParaRPr lang="en-US" sz="1400" b="1" dirty="0">
              <a:solidFill>
                <a:srgbClr val="FFFF00"/>
              </a:solidFill>
            </a:endParaRPr>
          </a:p>
        </p:txBody>
      </p:sp>
      <p:sp>
        <p:nvSpPr>
          <p:cNvPr id="17" name="Rectangle 16"/>
          <p:cNvSpPr/>
          <p:nvPr/>
        </p:nvSpPr>
        <p:spPr>
          <a:xfrm>
            <a:off x="3810000" y="38100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2.2.2.2</a:t>
            </a:r>
            <a:endParaRPr lang="en-US" sz="1400" b="1" dirty="0">
              <a:solidFill>
                <a:srgbClr val="FFFF00"/>
              </a:solidFill>
            </a:endParaRPr>
          </a:p>
        </p:txBody>
      </p:sp>
      <p:sp>
        <p:nvSpPr>
          <p:cNvPr id="19" name="Rectangle 18"/>
          <p:cNvSpPr/>
          <p:nvPr/>
        </p:nvSpPr>
        <p:spPr>
          <a:xfrm>
            <a:off x="2743200" y="57912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2.2.2.2</a:t>
            </a:r>
            <a:endParaRPr lang="en-US" sz="1400" b="1" dirty="0">
              <a:solidFill>
                <a:srgbClr val="FF0000"/>
              </a:solidFill>
            </a:endParaRPr>
          </a:p>
        </p:txBody>
      </p:sp>
      <p:sp>
        <p:nvSpPr>
          <p:cNvPr id="20" name="Rectangle 19"/>
          <p:cNvSpPr/>
          <p:nvPr/>
        </p:nvSpPr>
        <p:spPr>
          <a:xfrm>
            <a:off x="3429000" y="57912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1.1.1.1</a:t>
            </a:r>
            <a:endParaRPr lang="en-US" sz="1400" b="1" dirty="0">
              <a:solidFill>
                <a:srgbClr val="FFFF00"/>
              </a:solidFill>
            </a:endParaRPr>
          </a:p>
        </p:txBody>
      </p:sp>
      <p:sp>
        <p:nvSpPr>
          <p:cNvPr id="21" name="TextBox 20"/>
          <p:cNvSpPr txBox="1"/>
          <p:nvPr/>
        </p:nvSpPr>
        <p:spPr>
          <a:xfrm>
            <a:off x="4648200" y="3079102"/>
            <a:ext cx="914400" cy="369332"/>
          </a:xfrm>
          <a:prstGeom prst="rect">
            <a:avLst/>
          </a:prstGeom>
          <a:noFill/>
        </p:spPr>
        <p:txBody>
          <a:bodyPr wrap="square" rtlCol="0">
            <a:spAutoFit/>
          </a:bodyPr>
          <a:lstStyle/>
          <a:p>
            <a:r>
              <a:rPr lang="en-US" dirty="0" smtClean="0"/>
              <a:t>3.3.3.3</a:t>
            </a:r>
            <a:endParaRPr lang="en-US" dirty="0"/>
          </a:p>
        </p:txBody>
      </p:sp>
      <p:sp>
        <p:nvSpPr>
          <p:cNvPr id="15" name="Rectangle 14"/>
          <p:cNvSpPr/>
          <p:nvPr/>
        </p:nvSpPr>
        <p:spPr>
          <a:xfrm>
            <a:off x="6553200" y="51054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SYN</a:t>
            </a:r>
            <a:endParaRPr lang="en-US" b="1" dirty="0">
              <a:solidFill>
                <a:srgbClr val="7030A0"/>
              </a:solidFill>
            </a:endParaRPr>
          </a:p>
        </p:txBody>
      </p:sp>
      <p:sp>
        <p:nvSpPr>
          <p:cNvPr id="16" name="Rectangle 15"/>
          <p:cNvSpPr/>
          <p:nvPr/>
        </p:nvSpPr>
        <p:spPr>
          <a:xfrm>
            <a:off x="4495800" y="38100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rgbClr val="7030A0"/>
                </a:solidFill>
              </a:rPr>
              <a:t>SYN-ACK</a:t>
            </a:r>
            <a:endParaRPr lang="en-US" sz="1300" b="1" dirty="0">
              <a:solidFill>
                <a:srgbClr val="7030A0"/>
              </a:solidFill>
            </a:endParaRPr>
          </a:p>
        </p:txBody>
      </p:sp>
      <p:sp>
        <p:nvSpPr>
          <p:cNvPr id="23" name="Rectangle 22"/>
          <p:cNvSpPr/>
          <p:nvPr/>
        </p:nvSpPr>
        <p:spPr>
          <a:xfrm>
            <a:off x="4114800" y="57912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solidFill>
                  <a:srgbClr val="7030A0"/>
                </a:solidFill>
              </a:rPr>
              <a:t>SYN-ACK</a:t>
            </a:r>
            <a:endParaRPr lang="en-US" sz="1300" b="1" dirty="0">
              <a:solidFill>
                <a:srgbClr val="7030A0"/>
              </a:solidFill>
            </a:endParaRPr>
          </a:p>
        </p:txBody>
      </p:sp>
      <p:sp>
        <p:nvSpPr>
          <p:cNvPr id="25" name="TextBox 24"/>
          <p:cNvSpPr txBox="1"/>
          <p:nvPr/>
        </p:nvSpPr>
        <p:spPr>
          <a:xfrm>
            <a:off x="5943600" y="2895600"/>
            <a:ext cx="864019" cy="369332"/>
          </a:xfrm>
          <a:prstGeom prst="rect">
            <a:avLst/>
          </a:prstGeom>
          <a:noFill/>
        </p:spPr>
        <p:txBody>
          <a:bodyPr wrap="none" rtlCol="0">
            <a:spAutoFit/>
          </a:bodyPr>
          <a:lstStyle/>
          <a:p>
            <a:r>
              <a:rPr lang="en-US" dirty="0" smtClean="0"/>
              <a:t>Legend</a:t>
            </a:r>
            <a:endParaRPr lang="en-US" dirty="0"/>
          </a:p>
        </p:txBody>
      </p:sp>
      <p:sp>
        <p:nvSpPr>
          <p:cNvPr id="26" name="Rectangle 25"/>
          <p:cNvSpPr/>
          <p:nvPr/>
        </p:nvSpPr>
        <p:spPr>
          <a:xfrm>
            <a:off x="6858000" y="28956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FF0000"/>
                </a:solidFill>
              </a:rPr>
              <a:t>Src</a:t>
            </a:r>
            <a:r>
              <a:rPr lang="en-US" sz="1400" b="1" dirty="0" smtClean="0">
                <a:solidFill>
                  <a:srgbClr val="FF0000"/>
                </a:solidFill>
              </a:rPr>
              <a:t> IP</a:t>
            </a:r>
            <a:endParaRPr lang="en-US" sz="1400" b="1" dirty="0">
              <a:solidFill>
                <a:srgbClr val="FF0000"/>
              </a:solidFill>
            </a:endParaRPr>
          </a:p>
        </p:txBody>
      </p:sp>
      <p:sp>
        <p:nvSpPr>
          <p:cNvPr id="27" name="Rectangle 26"/>
          <p:cNvSpPr/>
          <p:nvPr/>
        </p:nvSpPr>
        <p:spPr>
          <a:xfrm>
            <a:off x="7543800" y="28956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FFFF00"/>
                </a:solidFill>
              </a:rPr>
              <a:t>Dst</a:t>
            </a:r>
            <a:r>
              <a:rPr lang="en-US" sz="1400" b="1" dirty="0" smtClean="0">
                <a:solidFill>
                  <a:srgbClr val="FFFF00"/>
                </a:solidFill>
              </a:rPr>
              <a:t> IP</a:t>
            </a:r>
            <a:endParaRPr lang="en-US" sz="1400" b="1" dirty="0">
              <a:solidFill>
                <a:srgbClr val="FFFF00"/>
              </a:solidFill>
            </a:endParaRPr>
          </a:p>
        </p:txBody>
      </p:sp>
      <p:sp>
        <p:nvSpPr>
          <p:cNvPr id="22" name="Rectangle 21"/>
          <p:cNvSpPr/>
          <p:nvPr/>
        </p:nvSpPr>
        <p:spPr>
          <a:xfrm>
            <a:off x="8229600" y="2895600"/>
            <a:ext cx="838200"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err="1" smtClean="0">
                <a:solidFill>
                  <a:srgbClr val="7030A0"/>
                </a:solidFill>
              </a:rPr>
              <a:t>Msg</a:t>
            </a:r>
            <a:r>
              <a:rPr lang="en-US" sz="1300" b="1" dirty="0" smtClean="0">
                <a:solidFill>
                  <a:srgbClr val="7030A0"/>
                </a:solidFill>
              </a:rPr>
              <a:t> Type</a:t>
            </a:r>
            <a:endParaRPr lang="en-US" sz="1300"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grpId="0" nodeType="clickEffect">
                                  <p:stCondLst>
                                    <p:cond delay="0"/>
                                  </p:stCondLst>
                                  <p:childTnLst>
                                    <p:animMotion origin="layout" path="M -5.83333E-6 -1.8737E-7 L -0.10834 -0.17765 " pathEditMode="relative" ptsTypes="AA">
                                      <p:cBhvr>
                                        <p:cTn id="40" dur="1000" fill="hold"/>
                                        <p:tgtEl>
                                          <p:spTgt spid="11"/>
                                        </p:tgtEl>
                                        <p:attrNameLst>
                                          <p:attrName>ppt_x</p:attrName>
                                          <p:attrName>ppt_y</p:attrName>
                                        </p:attrNameLst>
                                      </p:cBhvr>
                                    </p:animMotion>
                                  </p:childTnLst>
                                </p:cTn>
                              </p:par>
                              <p:par>
                                <p:cTn id="41" presetID="0" presetClass="path" presetSubtype="0" accel="50000" decel="50000" fill="hold" grpId="0" nodeType="withEffect">
                                  <p:stCondLst>
                                    <p:cond delay="0"/>
                                  </p:stCondLst>
                                  <p:childTnLst>
                                    <p:animMotion origin="layout" path="M -5.83333E-6 -1.8737E-7 L -0.10834 -0.17765 " pathEditMode="relative" ptsTypes="AA">
                                      <p:cBhvr>
                                        <p:cTn id="42" dur="1000" fill="hold"/>
                                        <p:tgtEl>
                                          <p:spTgt spid="14"/>
                                        </p:tgtEl>
                                        <p:attrNameLst>
                                          <p:attrName>ppt_x</p:attrName>
                                          <p:attrName>ppt_y</p:attrName>
                                        </p:attrNameLst>
                                      </p:cBhvr>
                                    </p:animMotion>
                                  </p:childTnLst>
                                </p:cTn>
                              </p:par>
                              <p:par>
                                <p:cTn id="43" presetID="0" presetClass="path" presetSubtype="0" accel="50000" decel="50000" fill="hold" grpId="0" nodeType="withEffect">
                                  <p:stCondLst>
                                    <p:cond delay="0"/>
                                  </p:stCondLst>
                                  <p:childTnLst>
                                    <p:animMotion origin="layout" path="M -5.83333E-6 -1.8737E-7 L -0.10834 -0.17765 " pathEditMode="relative" ptsTypes="AA">
                                      <p:cBhvr>
                                        <p:cTn id="44" dur="1000" fill="hold"/>
                                        <p:tgtEl>
                                          <p:spTgt spid="15"/>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0" presetClass="path" presetSubtype="0" accel="50000" decel="50000" fill="hold" nodeType="withEffect">
                                  <p:stCondLst>
                                    <p:cond delay="0"/>
                                  </p:stCondLst>
                                  <p:childTnLst>
                                    <p:animMotion origin="layout" path="M 2.5E-6 3.36572E-6 L -0.12136 0.20749 " pathEditMode="relative" rAng="0" ptsTypes="AA">
                                      <p:cBhvr>
                                        <p:cTn id="54" dur="1000" fill="hold"/>
                                        <p:tgtEl>
                                          <p:spTgt spid="17"/>
                                        </p:tgtEl>
                                        <p:attrNameLst>
                                          <p:attrName>ppt_x</p:attrName>
                                          <p:attrName>ppt_y</p:attrName>
                                        </p:attrNameLst>
                                      </p:cBhvr>
                                      <p:rCtr x="-61" y="104"/>
                                    </p:animMotion>
                                  </p:childTnLst>
                                </p:cTn>
                              </p:par>
                              <p:par>
                                <p:cTn id="55" presetID="0" presetClass="path" presetSubtype="0" accel="50000" decel="50000" fill="hold" nodeType="withEffect">
                                  <p:stCondLst>
                                    <p:cond delay="0"/>
                                  </p:stCondLst>
                                  <p:childTnLst>
                                    <p:animMotion origin="layout" path="M 2.5E-6 3.36572E-6 L -0.12136 0.20749 " pathEditMode="relative" rAng="0" ptsTypes="AA">
                                      <p:cBhvr>
                                        <p:cTn id="56" dur="1000" fill="hold"/>
                                        <p:tgtEl>
                                          <p:spTgt spid="18"/>
                                        </p:tgtEl>
                                        <p:attrNameLst>
                                          <p:attrName>ppt_x</p:attrName>
                                          <p:attrName>ppt_y</p:attrName>
                                        </p:attrNameLst>
                                      </p:cBhvr>
                                      <p:rCtr x="-61" y="104"/>
                                    </p:animMotion>
                                  </p:childTnLst>
                                </p:cTn>
                              </p:par>
                              <p:par>
                                <p:cTn id="57" presetID="0" presetClass="path" presetSubtype="0" accel="50000" decel="50000" fill="hold" grpId="0" nodeType="withEffect">
                                  <p:stCondLst>
                                    <p:cond delay="0"/>
                                  </p:stCondLst>
                                  <p:childTnLst>
                                    <p:animMotion origin="layout" path="M 2.5E-6 3.36572E-6 L -0.12136 0.20749 " pathEditMode="relative" rAng="0" ptsTypes="AA">
                                      <p:cBhvr>
                                        <p:cTn id="58" dur="1000" fill="hold"/>
                                        <p:tgtEl>
                                          <p:spTgt spid="16"/>
                                        </p:tgtEl>
                                        <p:attrNameLst>
                                          <p:attrName>ppt_x</p:attrName>
                                          <p:attrName>ppt_y</p:attrName>
                                        </p:attrNameLst>
                                      </p:cBhvr>
                                      <p:rCtr x="-61" y="104"/>
                                    </p:animMotion>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1"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grpId="1" nodeType="with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par>
                                <p:cTn id="67" presetID="0" presetClass="path" presetSubtype="0" accel="50000" decel="50000" fill="hold" grpId="0" nodeType="withEffect">
                                  <p:stCondLst>
                                    <p:cond delay="0"/>
                                  </p:stCondLst>
                                  <p:childTnLst>
                                    <p:animMotion origin="layout" path="M -8.33333E-7 4.95489E-6 L 0.23698 -0.00347 " pathEditMode="relative" rAng="0" ptsTypes="AA">
                                      <p:cBhvr>
                                        <p:cTn id="68" dur="1000" fill="hold"/>
                                        <p:tgtEl>
                                          <p:spTgt spid="19"/>
                                        </p:tgtEl>
                                        <p:attrNameLst>
                                          <p:attrName>ppt_x</p:attrName>
                                          <p:attrName>ppt_y</p:attrName>
                                        </p:attrNameLst>
                                      </p:cBhvr>
                                      <p:rCtr x="118" y="-2"/>
                                    </p:animMotion>
                                  </p:childTnLst>
                                </p:cTn>
                              </p:par>
                              <p:par>
                                <p:cTn id="69" presetID="0" presetClass="path" presetSubtype="0" accel="50000" decel="50000" fill="hold" grpId="0" nodeType="withEffect">
                                  <p:stCondLst>
                                    <p:cond delay="0"/>
                                  </p:stCondLst>
                                  <p:childTnLst>
                                    <p:animMotion origin="layout" path="M -8.33333E-7 4.95489E-6 L 0.23698 -0.00347 " pathEditMode="relative" rAng="0" ptsTypes="AA">
                                      <p:cBhvr>
                                        <p:cTn id="70" dur="1000" fill="hold"/>
                                        <p:tgtEl>
                                          <p:spTgt spid="20"/>
                                        </p:tgtEl>
                                        <p:attrNameLst>
                                          <p:attrName>ppt_x</p:attrName>
                                          <p:attrName>ppt_y</p:attrName>
                                        </p:attrNameLst>
                                      </p:cBhvr>
                                      <p:rCtr x="118" y="-2"/>
                                    </p:animMotion>
                                  </p:childTnLst>
                                </p:cTn>
                              </p:par>
                              <p:par>
                                <p:cTn id="71" presetID="0" presetClass="path" presetSubtype="0" accel="50000" decel="50000" fill="hold" grpId="0" nodeType="withEffect">
                                  <p:stCondLst>
                                    <p:cond delay="0"/>
                                  </p:stCondLst>
                                  <p:childTnLst>
                                    <p:animMotion origin="layout" path="M -8.33333E-7 4.95489E-6 L 0.23698 -0.00347 " pathEditMode="relative" rAng="0" ptsTypes="AA">
                                      <p:cBhvr>
                                        <p:cTn id="72" dur="1000" fill="hold"/>
                                        <p:tgtEl>
                                          <p:spTgt spid="23"/>
                                        </p:tgtEl>
                                        <p:attrNameLst>
                                          <p:attrName>ppt_x</p:attrName>
                                          <p:attrName>ppt_y</p:attrName>
                                        </p:attrNameLst>
                                      </p:cBhvr>
                                      <p:rCtr x="118" y="-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1" grpId="0" animBg="1"/>
      <p:bldP spid="11" grpId="1" animBg="1"/>
      <p:bldP spid="9" grpId="0"/>
      <p:bldP spid="10" grpId="0"/>
      <p:bldP spid="14" grpId="0" animBg="1"/>
      <p:bldP spid="14" grpId="1" animBg="1"/>
      <p:bldP spid="17" grpId="0" animBg="1"/>
      <p:bldP spid="19" grpId="0" animBg="1"/>
      <p:bldP spid="19" grpId="1" animBg="1"/>
      <p:bldP spid="20" grpId="0" animBg="1"/>
      <p:bldP spid="20" grpId="1" animBg="1"/>
      <p:bldP spid="21" grpId="0"/>
      <p:bldP spid="15" grpId="0" animBg="1"/>
      <p:bldP spid="15" grpId="1" animBg="1"/>
      <p:bldP spid="16" grpId="0" animBg="1"/>
      <p:bldP spid="23" grpId="0" animBg="1"/>
      <p:bldP spid="23" grpId="1" animBg="1"/>
      <p:bldP spid="25" grpId="0"/>
      <p:bldP spid="26" grpId="0" animBg="1"/>
      <p:bldP spid="27" grpId="0" animBg="1"/>
      <p:bldP spid="22" grpId="0" animBg="1"/>
    </p:bld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Benefits of triangular spamming</a:t>
            </a:r>
            <a:endParaRPr lang="en-US" dirty="0"/>
          </a:p>
        </p:txBody>
      </p:sp>
      <p:sp>
        <p:nvSpPr>
          <p:cNvPr id="3" name="Content Placeholder 2"/>
          <p:cNvSpPr>
            <a:spLocks noGrp="1"/>
          </p:cNvSpPr>
          <p:nvPr>
            <p:ph idx="1"/>
          </p:nvPr>
        </p:nvSpPr>
        <p:spPr>
          <a:xfrm>
            <a:off x="457200" y="1524000"/>
            <a:ext cx="8229600" cy="1828800"/>
          </a:xfrm>
        </p:spPr>
        <p:txBody>
          <a:bodyPr>
            <a:normAutofit fontScale="70000" lnSpcReduction="20000"/>
          </a:bodyPr>
          <a:lstStyle/>
          <a:p>
            <a:r>
              <a:rPr lang="en-US" dirty="0" smtClean="0"/>
              <a:t>Stealthy and efficient </a:t>
            </a:r>
          </a:p>
          <a:p>
            <a:pPr lvl="1"/>
            <a:r>
              <a:rPr lang="en-US" dirty="0" smtClean="0"/>
              <a:t>Evade IP-based blacklist</a:t>
            </a:r>
          </a:p>
          <a:p>
            <a:pPr lvl="2"/>
            <a:r>
              <a:rPr lang="en-US" dirty="0" smtClean="0"/>
              <a:t>High bandwidth </a:t>
            </a:r>
            <a:r>
              <a:rPr lang="en-US" dirty="0" err="1" smtClean="0"/>
              <a:t>bot</a:t>
            </a:r>
            <a:r>
              <a:rPr lang="en-US" dirty="0" smtClean="0"/>
              <a:t> will not be blacklisted (due to IP spoofing)</a:t>
            </a:r>
          </a:p>
          <a:p>
            <a:pPr lvl="2"/>
            <a:r>
              <a:rPr lang="en-US" dirty="0" smtClean="0"/>
              <a:t>Yet can send at high throughput (can use multiple relay bots)</a:t>
            </a:r>
          </a:p>
          <a:p>
            <a:pPr lvl="1"/>
            <a:r>
              <a:rPr lang="en-US" dirty="0" smtClean="0"/>
              <a:t>Evade port 25 blocking</a:t>
            </a:r>
          </a:p>
          <a:p>
            <a:pPr lvl="2"/>
            <a:r>
              <a:rPr lang="en-US" dirty="0" smtClean="0"/>
              <a:t>Relay </a:t>
            </a:r>
            <a:r>
              <a:rPr lang="en-US" dirty="0" err="1" smtClean="0"/>
              <a:t>bot</a:t>
            </a:r>
            <a:r>
              <a:rPr lang="en-US" dirty="0" smtClean="0"/>
              <a:t> can potentially bypass port 25 blocking</a:t>
            </a:r>
          </a:p>
        </p:txBody>
      </p:sp>
      <p:pic>
        <p:nvPicPr>
          <p:cNvPr id="4" name="Picture 5"/>
          <p:cNvPicPr>
            <a:picLocks noChangeAspect="1" noChangeArrowheads="1"/>
          </p:cNvPicPr>
          <p:nvPr/>
        </p:nvPicPr>
        <p:blipFill>
          <a:blip r:embed="rId3" cstate="print"/>
          <a:srcRect/>
          <a:stretch>
            <a:fillRect/>
          </a:stretch>
        </p:blipFill>
        <p:spPr bwMode="auto">
          <a:xfrm>
            <a:off x="2514600" y="3276600"/>
            <a:ext cx="3822922" cy="3200400"/>
          </a:xfrm>
          <a:prstGeom prst="rect">
            <a:avLst/>
          </a:prstGeom>
          <a:noFill/>
          <a:ln w="9525">
            <a:noFill/>
            <a:miter lim="800000"/>
            <a:headEnd/>
            <a:tailEnd/>
          </a:ln>
        </p:spPr>
      </p:pic>
      <p:sp>
        <p:nvSpPr>
          <p:cNvPr id="5" name="Rectangle 4"/>
          <p:cNvSpPr/>
          <p:nvPr/>
        </p:nvSpPr>
        <p:spPr>
          <a:xfrm>
            <a:off x="5181600" y="5105400"/>
            <a:ext cx="990600" cy="354650"/>
          </a:xfrm>
          <a:prstGeom prst="rect">
            <a:avLst/>
          </a:prstGeom>
          <a:solidFill>
            <a:schemeClr val="accent3"/>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Port:   *</a:t>
            </a:r>
          </a:p>
          <a:p>
            <a:pPr algn="ctr"/>
            <a:r>
              <a:rPr lang="en-US" sz="1200" b="1" dirty="0" err="1" smtClean="0">
                <a:solidFill>
                  <a:srgbClr val="7030A0"/>
                </a:solidFill>
              </a:rPr>
              <a:t>Dst</a:t>
            </a:r>
            <a:r>
              <a:rPr lang="en-US" sz="1200" b="1" dirty="0" smtClean="0">
                <a:solidFill>
                  <a:srgbClr val="7030A0"/>
                </a:solidFill>
              </a:rPr>
              <a:t> Port: 25</a:t>
            </a:r>
            <a:endParaRPr lang="en-US" sz="1200" b="1" dirty="0">
              <a:solidFill>
                <a:srgbClr val="7030A0"/>
              </a:solidFill>
            </a:endParaRPr>
          </a:p>
        </p:txBody>
      </p:sp>
      <p:sp>
        <p:nvSpPr>
          <p:cNvPr id="7" name="Rectangle 6"/>
          <p:cNvSpPr/>
          <p:nvPr/>
        </p:nvSpPr>
        <p:spPr>
          <a:xfrm>
            <a:off x="2690446" y="5943600"/>
            <a:ext cx="887393" cy="354650"/>
          </a:xfrm>
          <a:prstGeom prst="rect">
            <a:avLst/>
          </a:prstGeom>
          <a:solidFill>
            <a:schemeClr val="accent3"/>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Port: *</a:t>
            </a:r>
          </a:p>
          <a:p>
            <a:pPr algn="ctr"/>
            <a:r>
              <a:rPr lang="en-US" sz="1200" b="1" dirty="0" err="1" smtClean="0">
                <a:solidFill>
                  <a:srgbClr val="7030A0"/>
                </a:solidFill>
              </a:rPr>
              <a:t>Dst</a:t>
            </a:r>
            <a:r>
              <a:rPr lang="en-US" sz="1200" b="1" dirty="0" smtClean="0">
                <a:solidFill>
                  <a:srgbClr val="7030A0"/>
                </a:solidFill>
              </a:rPr>
              <a:t> Port: *</a:t>
            </a:r>
            <a:endParaRPr lang="en-US" sz="1200" b="1" dirty="0">
              <a:solidFill>
                <a:srgbClr val="7030A0"/>
              </a:solidFill>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6</a:t>
            </a:fld>
            <a:endParaRPr lang="en-US"/>
          </a:p>
        </p:txBody>
      </p:sp>
      <p:sp>
        <p:nvSpPr>
          <p:cNvPr id="9" name="Rectangle 8"/>
          <p:cNvSpPr/>
          <p:nvPr/>
        </p:nvSpPr>
        <p:spPr>
          <a:xfrm>
            <a:off x="3581400" y="3810000"/>
            <a:ext cx="9257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Port: 25</a:t>
            </a:r>
          </a:p>
          <a:p>
            <a:pPr algn="ctr"/>
            <a:r>
              <a:rPr lang="en-US" sz="1200" b="1" dirty="0" err="1" smtClean="0">
                <a:solidFill>
                  <a:srgbClr val="7030A0"/>
                </a:solidFill>
              </a:rPr>
              <a:t>Dst</a:t>
            </a:r>
            <a:r>
              <a:rPr lang="en-US" sz="1200" b="1" dirty="0" smtClean="0">
                <a:solidFill>
                  <a:srgbClr val="7030A0"/>
                </a:solidFill>
              </a:rPr>
              <a:t> Port:   *    </a:t>
            </a:r>
            <a:endParaRPr lang="en-US" sz="1200"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5.83333E-6 -1.8737E-7 L -0.10834 -0.17765 " pathEditMode="relative" ptsTypes="AA">
                                      <p:cBhvr>
                                        <p:cTn id="10" dur="1000" fill="hold"/>
                                        <p:tgtEl>
                                          <p:spTgt spid="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0" presetClass="path" presetSubtype="0" accel="50000" decel="50000" fill="hold" grpId="0" nodeType="withEffect">
                                  <p:stCondLst>
                                    <p:cond delay="0"/>
                                  </p:stCondLst>
                                  <p:childTnLst>
                                    <p:animMotion origin="layout" path="M 2.5E-6 3.36572E-6 L -0.12136 0.20749 " pathEditMode="relative" rAng="0" ptsTypes="AA">
                                      <p:cBhvr>
                                        <p:cTn id="16" dur="1000" fill="hold"/>
                                        <p:tgtEl>
                                          <p:spTgt spid="9"/>
                                        </p:tgtEl>
                                        <p:attrNameLst>
                                          <p:attrName>ppt_x</p:attrName>
                                          <p:attrName>ppt_y</p:attrName>
                                        </p:attrNameLst>
                                      </p:cBhvr>
                                      <p:rCtr x="-61" y="104"/>
                                    </p:animMotion>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0" presetClass="path" presetSubtype="0" accel="50000" decel="50000" fill="hold" grpId="0" nodeType="withEffect">
                                  <p:stCondLst>
                                    <p:cond delay="0"/>
                                  </p:stCondLst>
                                  <p:childTnLst>
                                    <p:animMotion origin="layout" path="M 5.55112E-17 -1.83206E-6 L 0.28333 -1.83206E-6 " pathEditMode="relative" rAng="0" ptsTypes="AA">
                                      <p:cBhvr>
                                        <p:cTn id="22" dur="1000" fill="hold"/>
                                        <p:tgtEl>
                                          <p:spTgt spid="7"/>
                                        </p:tgtEl>
                                        <p:attrNameLst>
                                          <p:attrName>ppt_x</p:attrName>
                                          <p:attrName>ppt_y</p:attrName>
                                        </p:attrNameLst>
                                      </p:cBhvr>
                                      <p:rCtr x="14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animBg="1"/>
      <p:bldP spid="7" grpId="1" animBg="1"/>
      <p:bldP spid="9" grpId="0" animBg="1"/>
      <p:bldP spid="9" grpId="1" animBg="1"/>
    </p:bld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of interest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How to evade IP-based blacklist?</a:t>
            </a:r>
          </a:p>
          <a:p>
            <a:pPr lvl="1"/>
            <a:r>
              <a:rPr lang="en-US" dirty="0" smtClean="0"/>
              <a:t>Two techniques to improve spam throughput while hiding high-bandwidth </a:t>
            </a:r>
            <a:r>
              <a:rPr lang="en-US" dirty="0" err="1" smtClean="0"/>
              <a:t>bot</a:t>
            </a:r>
            <a:r>
              <a:rPr lang="en-US" dirty="0" smtClean="0"/>
              <a:t> IP addresses</a:t>
            </a:r>
          </a:p>
          <a:p>
            <a:pPr lvl="1"/>
            <a:endParaRPr lang="en-US" sz="1200" dirty="0" smtClean="0"/>
          </a:p>
          <a:p>
            <a:r>
              <a:rPr lang="en-US" dirty="0" smtClean="0"/>
              <a:t>How to evade port 25 blocking?</a:t>
            </a:r>
          </a:p>
          <a:p>
            <a:pPr lvl="1"/>
            <a:r>
              <a:rPr lang="en-US" dirty="0" smtClean="0"/>
              <a:t>A large-scale measurement on port 25 blocking policy </a:t>
            </a:r>
          </a:p>
          <a:p>
            <a:pPr lvl="1"/>
            <a:r>
              <a:rPr lang="en-US" dirty="0" smtClean="0"/>
              <a:t>97% of the blocking networks are vulnerable</a:t>
            </a:r>
          </a:p>
          <a:p>
            <a:pPr lvl="1"/>
            <a:endParaRPr lang="en-US" sz="1200" dirty="0" smtClean="0"/>
          </a:p>
          <a:p>
            <a:r>
              <a:rPr lang="en-US" dirty="0" smtClean="0"/>
              <a:t>Is there evidence in the wild?</a:t>
            </a:r>
          </a:p>
          <a:p>
            <a:pPr lvl="1"/>
            <a:r>
              <a:rPr lang="en-US" dirty="0" smtClean="0"/>
              <a:t>Implement and deploy proof-of-concept attack on </a:t>
            </a:r>
            <a:r>
              <a:rPr lang="en-US" dirty="0" err="1" smtClean="0"/>
              <a:t>planetlab</a:t>
            </a:r>
            <a:endParaRPr lang="en-US" dirty="0" smtClean="0"/>
          </a:p>
          <a:p>
            <a:pPr lvl="1"/>
            <a:r>
              <a:rPr lang="en-US" dirty="0" smtClean="0"/>
              <a:t>Collected evidence at a mail server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of interest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How to evade IP-based blacklist?</a:t>
            </a:r>
          </a:p>
          <a:p>
            <a:pPr lvl="1"/>
            <a:r>
              <a:rPr lang="en-US" dirty="0" smtClean="0"/>
              <a:t>Two techniques to improve spam throughput while hiding high-bandwidth </a:t>
            </a:r>
            <a:r>
              <a:rPr lang="en-US" dirty="0" err="1" smtClean="0"/>
              <a:t>bot</a:t>
            </a:r>
            <a:r>
              <a:rPr lang="en-US" dirty="0" smtClean="0"/>
              <a:t> IP addresses</a:t>
            </a:r>
          </a:p>
          <a:p>
            <a:pPr lvl="1"/>
            <a:endParaRPr lang="en-US" sz="1200" dirty="0" smtClean="0"/>
          </a:p>
          <a:p>
            <a:r>
              <a:rPr lang="en-US" dirty="0" smtClean="0">
                <a:solidFill>
                  <a:schemeClr val="bg1">
                    <a:lumMod val="50000"/>
                  </a:schemeClr>
                </a:solidFill>
              </a:rPr>
              <a:t>How to evade port 25 blocking?</a:t>
            </a:r>
          </a:p>
          <a:p>
            <a:pPr lvl="1"/>
            <a:r>
              <a:rPr lang="en-US" dirty="0" smtClean="0">
                <a:solidFill>
                  <a:schemeClr val="bg1">
                    <a:lumMod val="50000"/>
                  </a:schemeClr>
                </a:solidFill>
              </a:rPr>
              <a:t>A large-scale measurement on port 25 blocking policy </a:t>
            </a:r>
          </a:p>
          <a:p>
            <a:pPr lvl="1"/>
            <a:r>
              <a:rPr lang="en-US" dirty="0" smtClean="0">
                <a:solidFill>
                  <a:schemeClr val="bg1">
                    <a:lumMod val="50000"/>
                  </a:schemeClr>
                </a:solidFill>
              </a:rPr>
              <a:t>97% of the blocking networks are vulnerable</a:t>
            </a:r>
          </a:p>
          <a:p>
            <a:pPr lvl="1"/>
            <a:endParaRPr lang="en-US" sz="1200" dirty="0" smtClean="0">
              <a:solidFill>
                <a:schemeClr val="bg1">
                  <a:lumMod val="50000"/>
                </a:schemeClr>
              </a:solidFill>
            </a:endParaRPr>
          </a:p>
          <a:p>
            <a:r>
              <a:rPr lang="en-US" dirty="0" smtClean="0">
                <a:solidFill>
                  <a:schemeClr val="bg1">
                    <a:lumMod val="50000"/>
                  </a:schemeClr>
                </a:solidFill>
              </a:rPr>
              <a:t>Is there evidence in the wild?</a:t>
            </a:r>
          </a:p>
          <a:p>
            <a:pPr lvl="1"/>
            <a:r>
              <a:rPr lang="en-US" dirty="0" smtClean="0">
                <a:solidFill>
                  <a:schemeClr val="bg1">
                    <a:lumMod val="50000"/>
                  </a:schemeClr>
                </a:solidFill>
              </a:rPr>
              <a:t>Implement and deploy proof-of-concept attack on </a:t>
            </a:r>
            <a:r>
              <a:rPr lang="en-US" dirty="0" err="1" smtClean="0">
                <a:solidFill>
                  <a:schemeClr val="bg1">
                    <a:lumMod val="50000"/>
                  </a:schemeClr>
                </a:solidFill>
              </a:rPr>
              <a:t>planetlab</a:t>
            </a:r>
            <a:endParaRPr lang="en-US" dirty="0" smtClean="0">
              <a:solidFill>
                <a:schemeClr val="bg1">
                  <a:lumMod val="50000"/>
                </a:schemeClr>
              </a:solidFill>
            </a:endParaRPr>
          </a:p>
          <a:p>
            <a:pPr lvl="1"/>
            <a:r>
              <a:rPr lang="en-US" dirty="0" smtClean="0">
                <a:solidFill>
                  <a:schemeClr val="bg1">
                    <a:lumMod val="50000"/>
                  </a:schemeClr>
                </a:solidFill>
              </a:rPr>
              <a:t>Collected evidence at a mail server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Spamming high throughput analysis</a:t>
            </a:r>
          </a:p>
        </p:txBody>
      </p:sp>
      <p:sp>
        <p:nvSpPr>
          <p:cNvPr id="3" name="Content Placeholder 2"/>
          <p:cNvSpPr>
            <a:spLocks noGrp="1"/>
          </p:cNvSpPr>
          <p:nvPr>
            <p:ph idx="1"/>
          </p:nvPr>
        </p:nvSpPr>
        <p:spPr/>
        <p:txBody>
          <a:bodyPr>
            <a:normAutofit fontScale="92500" lnSpcReduction="10000"/>
          </a:bodyPr>
          <a:lstStyle/>
          <a:p>
            <a:r>
              <a:rPr lang="en-US" dirty="0" smtClean="0">
                <a:solidFill>
                  <a:srgbClr val="3366FF"/>
                </a:solidFill>
              </a:rPr>
              <a:t>Strategy 1: </a:t>
            </a:r>
            <a:r>
              <a:rPr lang="en-US" dirty="0" smtClean="0"/>
              <a:t>All bots directly send spam at their full speed</a:t>
            </a:r>
          </a:p>
          <a:p>
            <a:pPr lvl="1"/>
            <a:r>
              <a:rPr lang="en-US" dirty="0" smtClean="0"/>
              <a:t>Can achieve good throughput</a:t>
            </a:r>
          </a:p>
          <a:p>
            <a:pPr lvl="1"/>
            <a:r>
              <a:rPr lang="en-US" dirty="0" smtClean="0"/>
              <a:t>Expose high-bandwidth bots</a:t>
            </a:r>
          </a:p>
          <a:p>
            <a:pPr lvl="5"/>
            <a:endParaRPr lang="en-US" dirty="0" smtClean="0"/>
          </a:p>
          <a:p>
            <a:r>
              <a:rPr lang="en-US" dirty="0" smtClean="0">
                <a:solidFill>
                  <a:srgbClr val="3366FF"/>
                </a:solidFill>
              </a:rPr>
              <a:t>Strategy 2: </a:t>
            </a:r>
            <a:r>
              <a:rPr lang="en-US" dirty="0" smtClean="0"/>
              <a:t>Triangular spamming is used where only high bandwidth bots send spam</a:t>
            </a:r>
          </a:p>
          <a:p>
            <a:pPr lvl="1"/>
            <a:r>
              <a:rPr lang="en-US" dirty="0" smtClean="0"/>
              <a:t>Hide the high bandwidth bots’ IP addresses </a:t>
            </a:r>
          </a:p>
          <a:p>
            <a:pPr lvl="1"/>
            <a:r>
              <a:rPr lang="en-US" dirty="0" smtClean="0"/>
              <a:t>Evade IP-based blacklist</a:t>
            </a:r>
          </a:p>
          <a:p>
            <a:pPr lvl="1"/>
            <a:r>
              <a:rPr lang="en-US" dirty="0" smtClean="0"/>
              <a:t>Present two new techniques to improve throughput</a:t>
            </a:r>
          </a:p>
          <a:p>
            <a:pPr lvl="1"/>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Technique 1 – Selectively relaying packets</a:t>
            </a:r>
            <a:endParaRPr lang="en-US" dirty="0"/>
          </a:p>
        </p:txBody>
      </p:sp>
      <p:sp>
        <p:nvSpPr>
          <p:cNvPr id="3" name="Content Placeholder 2"/>
          <p:cNvSpPr>
            <a:spLocks noGrp="1"/>
          </p:cNvSpPr>
          <p:nvPr>
            <p:ph idx="1"/>
          </p:nvPr>
        </p:nvSpPr>
        <p:spPr/>
        <p:txBody>
          <a:bodyPr/>
          <a:lstStyle/>
          <a:p>
            <a:r>
              <a:rPr lang="en-US" dirty="0" smtClean="0"/>
              <a:t>No need to relay response data packets</a:t>
            </a:r>
          </a:p>
          <a:p>
            <a:pPr lvl="1"/>
            <a:r>
              <a:rPr lang="en-US" dirty="0" smtClean="0"/>
              <a:t>Intuition: always succeed in common cases</a:t>
            </a:r>
          </a:p>
          <a:p>
            <a:pPr lvl="1"/>
            <a:r>
              <a:rPr lang="en-US" dirty="0" smtClean="0"/>
              <a:t>Save bandwidth for high-bandwidth </a:t>
            </a:r>
            <a:r>
              <a:rPr lang="en-US" dirty="0" err="1" smtClean="0"/>
              <a:t>bot</a:t>
            </a:r>
            <a:r>
              <a:rPr lang="en-US" dirty="0" smtClean="0"/>
              <a:t> (Response traffic constitutes 15% - 25% traffic)</a:t>
            </a:r>
          </a:p>
          <a:p>
            <a:pPr lvl="1"/>
            <a:endParaRPr lang="en-US" dirty="0" smtClean="0"/>
          </a:p>
          <a:p>
            <a:endParaRPr lang="en-US" dirty="0" smtClean="0"/>
          </a:p>
        </p:txBody>
      </p:sp>
      <p:pic>
        <p:nvPicPr>
          <p:cNvPr id="4" name="Picture 5"/>
          <p:cNvPicPr>
            <a:picLocks noChangeAspect="1" noChangeArrowheads="1"/>
          </p:cNvPicPr>
          <p:nvPr/>
        </p:nvPicPr>
        <p:blipFill>
          <a:blip r:embed="rId3" cstate="print"/>
          <a:srcRect/>
          <a:stretch>
            <a:fillRect/>
          </a:stretch>
        </p:blipFill>
        <p:spPr bwMode="auto">
          <a:xfrm>
            <a:off x="2362200" y="3733800"/>
            <a:ext cx="3367812" cy="2819400"/>
          </a:xfrm>
          <a:prstGeom prst="rect">
            <a:avLst/>
          </a:prstGeom>
          <a:noFill/>
          <a:ln w="9525">
            <a:noFill/>
            <a:miter lim="800000"/>
            <a:headEnd/>
            <a:tailEnd/>
          </a:ln>
        </p:spPr>
      </p:pic>
      <p:sp>
        <p:nvSpPr>
          <p:cNvPr id="8" name="Slide Number Placeholder 7"/>
          <p:cNvSpPr>
            <a:spLocks noGrp="1"/>
          </p:cNvSpPr>
          <p:nvPr>
            <p:ph type="sldNum" sz="quarter" idx="12"/>
          </p:nvPr>
        </p:nvSpPr>
        <p:spPr/>
        <p:txBody>
          <a:bodyPr/>
          <a:lstStyle/>
          <a:p>
            <a:fld id="{B6F15528-21DE-4FAA-801E-634DDDAF4B2B}" type="slidenum">
              <a:rPr lang="en-US" smtClean="0"/>
              <a:pPr/>
              <a:t>10</a:t>
            </a:fld>
            <a:endParaRPr lang="en-US" dirty="0"/>
          </a:p>
        </p:txBody>
      </p:sp>
      <p:sp>
        <p:nvSpPr>
          <p:cNvPr id="9" name="Rectangle 8"/>
          <p:cNvSpPr/>
          <p:nvPr/>
        </p:nvSpPr>
        <p:spPr>
          <a:xfrm>
            <a:off x="4572000" y="54864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2.2.2.2</a:t>
            </a:r>
            <a:endParaRPr lang="en-US" sz="1400" b="1" dirty="0">
              <a:solidFill>
                <a:srgbClr val="FF0000"/>
              </a:solidFill>
            </a:endParaRPr>
          </a:p>
        </p:txBody>
      </p:sp>
      <p:sp>
        <p:nvSpPr>
          <p:cNvPr id="10" name="Rectangle 9"/>
          <p:cNvSpPr/>
          <p:nvPr/>
        </p:nvSpPr>
        <p:spPr>
          <a:xfrm>
            <a:off x="5257800" y="54864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3.3.3.3</a:t>
            </a:r>
            <a:endParaRPr lang="en-US" sz="1400" b="1" dirty="0">
              <a:solidFill>
                <a:srgbClr val="FFFF00"/>
              </a:solidFill>
            </a:endParaRPr>
          </a:p>
        </p:txBody>
      </p:sp>
      <p:sp>
        <p:nvSpPr>
          <p:cNvPr id="12" name="Rectangle 11"/>
          <p:cNvSpPr/>
          <p:nvPr/>
        </p:nvSpPr>
        <p:spPr>
          <a:xfrm>
            <a:off x="2884206" y="41148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0000"/>
                </a:solidFill>
              </a:rPr>
              <a:t>3.3.3.3</a:t>
            </a:r>
            <a:endParaRPr lang="en-US" sz="1400" b="1" dirty="0">
              <a:solidFill>
                <a:srgbClr val="FF0000"/>
              </a:solidFill>
            </a:endParaRPr>
          </a:p>
        </p:txBody>
      </p:sp>
      <p:sp>
        <p:nvSpPr>
          <p:cNvPr id="13" name="TextBox 12"/>
          <p:cNvSpPr txBox="1"/>
          <p:nvPr/>
        </p:nvSpPr>
        <p:spPr>
          <a:xfrm>
            <a:off x="4876800" y="6474023"/>
            <a:ext cx="762000" cy="338554"/>
          </a:xfrm>
          <a:prstGeom prst="rect">
            <a:avLst/>
          </a:prstGeom>
          <a:noFill/>
        </p:spPr>
        <p:txBody>
          <a:bodyPr wrap="square" rtlCol="0">
            <a:spAutoFit/>
          </a:bodyPr>
          <a:lstStyle/>
          <a:p>
            <a:r>
              <a:rPr lang="en-US" sz="1600" dirty="0" smtClean="0"/>
              <a:t>1.1.1.1</a:t>
            </a:r>
            <a:endParaRPr lang="en-US" sz="1600" dirty="0"/>
          </a:p>
        </p:txBody>
      </p:sp>
      <p:sp>
        <p:nvSpPr>
          <p:cNvPr id="14" name="TextBox 13"/>
          <p:cNvSpPr txBox="1"/>
          <p:nvPr/>
        </p:nvSpPr>
        <p:spPr>
          <a:xfrm>
            <a:off x="2286000" y="6474023"/>
            <a:ext cx="762000" cy="338554"/>
          </a:xfrm>
          <a:prstGeom prst="rect">
            <a:avLst/>
          </a:prstGeom>
          <a:noFill/>
        </p:spPr>
        <p:txBody>
          <a:bodyPr wrap="square" rtlCol="0">
            <a:spAutoFit/>
          </a:bodyPr>
          <a:lstStyle/>
          <a:p>
            <a:r>
              <a:rPr lang="en-US" sz="1600" dirty="0" smtClean="0"/>
              <a:t>2.2.2.2</a:t>
            </a:r>
            <a:endParaRPr lang="en-US" sz="1600" dirty="0"/>
          </a:p>
        </p:txBody>
      </p:sp>
      <p:sp>
        <p:nvSpPr>
          <p:cNvPr id="15" name="TextBox 14"/>
          <p:cNvSpPr txBox="1"/>
          <p:nvPr/>
        </p:nvSpPr>
        <p:spPr>
          <a:xfrm>
            <a:off x="4191000" y="3616568"/>
            <a:ext cx="762000" cy="338554"/>
          </a:xfrm>
          <a:prstGeom prst="rect">
            <a:avLst/>
          </a:prstGeom>
          <a:noFill/>
        </p:spPr>
        <p:txBody>
          <a:bodyPr wrap="square" rtlCol="0">
            <a:spAutoFit/>
          </a:bodyPr>
          <a:lstStyle/>
          <a:p>
            <a:r>
              <a:rPr lang="en-US" sz="1600" dirty="0" smtClean="0"/>
              <a:t>3.3.3.3</a:t>
            </a:r>
            <a:endParaRPr lang="en-US" sz="1600" dirty="0"/>
          </a:p>
        </p:txBody>
      </p:sp>
      <p:sp>
        <p:nvSpPr>
          <p:cNvPr id="11" name="Rectangle 10"/>
          <p:cNvSpPr/>
          <p:nvPr/>
        </p:nvSpPr>
        <p:spPr>
          <a:xfrm>
            <a:off x="3570006" y="41148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FFFF00"/>
                </a:solidFill>
              </a:rPr>
              <a:t>2.2.2.2</a:t>
            </a:r>
            <a:endParaRPr lang="en-US" sz="1400" b="1" dirty="0">
              <a:solidFill>
                <a:srgbClr val="FFFF00"/>
              </a:solidFill>
            </a:endParaRPr>
          </a:p>
        </p:txBody>
      </p:sp>
      <p:sp>
        <p:nvSpPr>
          <p:cNvPr id="16" name="Rectangle 15"/>
          <p:cNvSpPr/>
          <p:nvPr/>
        </p:nvSpPr>
        <p:spPr>
          <a:xfrm>
            <a:off x="5943600" y="5486400"/>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rgbClr val="7030A0"/>
                </a:solidFill>
              </a:rPr>
              <a:t>HELO</a:t>
            </a:r>
            <a:endParaRPr lang="en-US" sz="1200" b="1" dirty="0">
              <a:solidFill>
                <a:srgbClr val="7030A0"/>
              </a:solidFill>
            </a:endParaRPr>
          </a:p>
        </p:txBody>
      </p:sp>
      <p:sp>
        <p:nvSpPr>
          <p:cNvPr id="17" name="Rectangle 16"/>
          <p:cNvSpPr/>
          <p:nvPr/>
        </p:nvSpPr>
        <p:spPr>
          <a:xfrm>
            <a:off x="4267200" y="4114800"/>
            <a:ext cx="914400"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smtClean="0">
                <a:solidFill>
                  <a:srgbClr val="7030A0"/>
                </a:solidFill>
              </a:rPr>
              <a:t>Welcome</a:t>
            </a:r>
            <a:endParaRPr lang="en-US" sz="1500" dirty="0">
              <a:solidFill>
                <a:srgbClr val="7030A0"/>
              </a:solidFill>
            </a:endParaRPr>
          </a:p>
        </p:txBody>
      </p:sp>
      <p:sp>
        <p:nvSpPr>
          <p:cNvPr id="18" name="TextBox 17"/>
          <p:cNvSpPr txBox="1"/>
          <p:nvPr/>
        </p:nvSpPr>
        <p:spPr>
          <a:xfrm>
            <a:off x="6096000" y="3669268"/>
            <a:ext cx="864019" cy="369332"/>
          </a:xfrm>
          <a:prstGeom prst="rect">
            <a:avLst/>
          </a:prstGeom>
          <a:noFill/>
        </p:spPr>
        <p:txBody>
          <a:bodyPr wrap="none" rtlCol="0">
            <a:spAutoFit/>
          </a:bodyPr>
          <a:lstStyle/>
          <a:p>
            <a:r>
              <a:rPr lang="en-US" dirty="0" smtClean="0"/>
              <a:t>Legend</a:t>
            </a:r>
            <a:endParaRPr lang="en-US" dirty="0"/>
          </a:p>
        </p:txBody>
      </p:sp>
      <p:sp>
        <p:nvSpPr>
          <p:cNvPr id="19" name="Rectangle 18"/>
          <p:cNvSpPr/>
          <p:nvPr/>
        </p:nvSpPr>
        <p:spPr>
          <a:xfrm>
            <a:off x="6934200" y="3669268"/>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FF0000"/>
                </a:solidFill>
              </a:rPr>
              <a:t>Src</a:t>
            </a:r>
            <a:r>
              <a:rPr lang="en-US" sz="1400" b="1" dirty="0" smtClean="0">
                <a:solidFill>
                  <a:srgbClr val="FF0000"/>
                </a:solidFill>
              </a:rPr>
              <a:t> IP</a:t>
            </a:r>
            <a:endParaRPr lang="en-US" sz="1400" b="1" dirty="0">
              <a:solidFill>
                <a:srgbClr val="FF0000"/>
              </a:solidFill>
            </a:endParaRPr>
          </a:p>
        </p:txBody>
      </p:sp>
      <p:sp>
        <p:nvSpPr>
          <p:cNvPr id="20" name="Rectangle 19"/>
          <p:cNvSpPr/>
          <p:nvPr/>
        </p:nvSpPr>
        <p:spPr>
          <a:xfrm>
            <a:off x="7620000" y="3669268"/>
            <a:ext cx="6971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smtClean="0">
                <a:solidFill>
                  <a:srgbClr val="FFFF00"/>
                </a:solidFill>
              </a:rPr>
              <a:t>Dst</a:t>
            </a:r>
            <a:r>
              <a:rPr lang="en-US" sz="1400" b="1" dirty="0" smtClean="0">
                <a:solidFill>
                  <a:srgbClr val="FFFF00"/>
                </a:solidFill>
              </a:rPr>
              <a:t> IP</a:t>
            </a:r>
            <a:endParaRPr lang="en-US" sz="1400" b="1" dirty="0">
              <a:solidFill>
                <a:srgbClr val="FFFF00"/>
              </a:solidFill>
            </a:endParaRPr>
          </a:p>
        </p:txBody>
      </p:sp>
      <p:sp>
        <p:nvSpPr>
          <p:cNvPr id="21" name="Rectangle 20"/>
          <p:cNvSpPr/>
          <p:nvPr/>
        </p:nvSpPr>
        <p:spPr>
          <a:xfrm>
            <a:off x="8305800" y="3669268"/>
            <a:ext cx="838200"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err="1" smtClean="0">
                <a:solidFill>
                  <a:srgbClr val="7030A0"/>
                </a:solidFill>
              </a:rPr>
              <a:t>Msg</a:t>
            </a:r>
            <a:r>
              <a:rPr lang="en-US" sz="1300" b="1" dirty="0" smtClean="0">
                <a:solidFill>
                  <a:srgbClr val="7030A0"/>
                </a:solidFill>
              </a:rPr>
              <a:t> Type</a:t>
            </a:r>
            <a:endParaRPr lang="en-US" sz="1300"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0" nodeType="clickEffect">
                                  <p:stCondLst>
                                    <p:cond delay="0"/>
                                  </p:stCondLst>
                                  <p:childTnLst>
                                    <p:animMotion origin="layout" path="M -5.83333E-6 -1.8737E-7 L -0.10834 -0.17765 " pathEditMode="relative" ptsTypes="AA">
                                      <p:cBhvr>
                                        <p:cTn id="28" dur="1000" fill="hold"/>
                                        <p:tgtEl>
                                          <p:spTgt spid="9"/>
                                        </p:tgtEl>
                                        <p:attrNameLst>
                                          <p:attrName>ppt_x</p:attrName>
                                          <p:attrName>ppt_y</p:attrName>
                                        </p:attrNameLst>
                                      </p:cBhvr>
                                    </p:animMotion>
                                  </p:childTnLst>
                                </p:cTn>
                              </p:par>
                              <p:par>
                                <p:cTn id="29" presetID="0" presetClass="path" presetSubtype="0" accel="50000" decel="50000" fill="hold" grpId="0" nodeType="withEffect">
                                  <p:stCondLst>
                                    <p:cond delay="0"/>
                                  </p:stCondLst>
                                  <p:childTnLst>
                                    <p:animMotion origin="layout" path="M -5.83333E-6 -1.8737E-7 L -0.10834 -0.17765 " pathEditMode="relative" ptsTypes="AA">
                                      <p:cBhvr>
                                        <p:cTn id="30" dur="1000" fill="hold"/>
                                        <p:tgtEl>
                                          <p:spTgt spid="10"/>
                                        </p:tgtEl>
                                        <p:attrNameLst>
                                          <p:attrName>ppt_x</p:attrName>
                                          <p:attrName>ppt_y</p:attrName>
                                        </p:attrNameLst>
                                      </p:cBhvr>
                                    </p:animMotion>
                                  </p:childTnLst>
                                </p:cTn>
                              </p:par>
                              <p:par>
                                <p:cTn id="31" presetID="0" presetClass="path" presetSubtype="0" accel="50000" decel="50000" fill="hold" grpId="0" nodeType="withEffect">
                                  <p:stCondLst>
                                    <p:cond delay="0"/>
                                  </p:stCondLst>
                                  <p:childTnLst>
                                    <p:animMotion origin="layout" path="M -5.83333E-6 -1.8737E-7 L -0.10834 -0.17765 " pathEditMode="relative" ptsTypes="AA">
                                      <p:cBhvr>
                                        <p:cTn id="32" dur="1000" fill="hold"/>
                                        <p:tgtEl>
                                          <p:spTgt spid="16"/>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0" presetClass="path" presetSubtype="0" accel="50000" decel="50000" fill="hold" grpId="0" nodeType="withEffect">
                                  <p:stCondLst>
                                    <p:cond delay="0"/>
                                  </p:stCondLst>
                                  <p:childTnLst>
                                    <p:animMotion origin="layout" path="M 2.5E-6 3.36572E-6 L -0.12136 0.20749 " pathEditMode="relative" rAng="0" ptsTypes="AA">
                                      <p:cBhvr>
                                        <p:cTn id="42" dur="1000" fill="hold"/>
                                        <p:tgtEl>
                                          <p:spTgt spid="11"/>
                                        </p:tgtEl>
                                        <p:attrNameLst>
                                          <p:attrName>ppt_x</p:attrName>
                                          <p:attrName>ppt_y</p:attrName>
                                        </p:attrNameLst>
                                      </p:cBhvr>
                                      <p:rCtr x="-61" y="104"/>
                                    </p:animMotion>
                                  </p:childTnLst>
                                </p:cTn>
                              </p:par>
                              <p:par>
                                <p:cTn id="43" presetID="0" presetClass="path" presetSubtype="0" accel="50000" decel="50000" fill="hold" grpId="0" nodeType="withEffect">
                                  <p:stCondLst>
                                    <p:cond delay="0"/>
                                  </p:stCondLst>
                                  <p:childTnLst>
                                    <p:animMotion origin="layout" path="M 2.5E-6 3.36572E-6 L -0.12136 0.20749 " pathEditMode="relative" rAng="0" ptsTypes="AA">
                                      <p:cBhvr>
                                        <p:cTn id="44" dur="1000" fill="hold"/>
                                        <p:tgtEl>
                                          <p:spTgt spid="12"/>
                                        </p:tgtEl>
                                        <p:attrNameLst>
                                          <p:attrName>ppt_x</p:attrName>
                                          <p:attrName>ppt_y</p:attrName>
                                        </p:attrNameLst>
                                      </p:cBhvr>
                                      <p:rCtr x="-61" y="104"/>
                                    </p:animMotion>
                                  </p:childTnLst>
                                </p:cTn>
                              </p:par>
                              <p:par>
                                <p:cTn id="45" presetID="0" presetClass="path" presetSubtype="0" accel="50000" decel="50000" fill="hold" grpId="0" nodeType="withEffect">
                                  <p:stCondLst>
                                    <p:cond delay="0"/>
                                  </p:stCondLst>
                                  <p:childTnLst>
                                    <p:animMotion origin="layout" path="M 2.5E-6 3.36572E-6 L -0.12136 0.20749 " pathEditMode="relative" rAng="0" ptsTypes="AA">
                                      <p:cBhvr>
                                        <p:cTn id="46" dur="1000" fill="hold"/>
                                        <p:tgtEl>
                                          <p:spTgt spid="17"/>
                                        </p:tgtEl>
                                        <p:attrNameLst>
                                          <p:attrName>ppt_x</p:attrName>
                                          <p:attrName>ppt_y</p:attrName>
                                        </p:attrNameLst>
                                      </p:cBhvr>
                                      <p:rCtr x="-61" y="104"/>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2" grpId="0" animBg="1"/>
      <p:bldP spid="12" grpId="1" animBg="1"/>
      <p:bldP spid="11" grpId="0" animBg="1"/>
      <p:bldP spid="11" grpId="1" animBg="1"/>
      <p:bldP spid="16" grpId="0" animBg="1"/>
      <p:bldP spid="16" grpId="1" animBg="1"/>
      <p:bldP spid="17" grpId="0" animBg="1"/>
      <p:bldP spid="17" grpId="1" animBg="1"/>
      <p:bldP spid="18" grpId="0"/>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Technique 2 – aggressive pipelining</a:t>
            </a:r>
            <a:endParaRPr lang="en-US" dirty="0"/>
          </a:p>
        </p:txBody>
      </p:sp>
      <p:sp>
        <p:nvSpPr>
          <p:cNvPr id="3" name="Content Placeholder 2"/>
          <p:cNvSpPr>
            <a:spLocks noGrp="1"/>
          </p:cNvSpPr>
          <p:nvPr>
            <p:ph idx="1"/>
          </p:nvPr>
        </p:nvSpPr>
        <p:spPr>
          <a:xfrm>
            <a:off x="1371600" y="2362200"/>
            <a:ext cx="4419600" cy="2743200"/>
          </a:xfrm>
        </p:spPr>
        <p:txBody>
          <a:bodyPr>
            <a:noAutofit/>
          </a:bodyPr>
          <a:lstStyle/>
          <a:p>
            <a:pPr>
              <a:buNone/>
            </a:pPr>
            <a:r>
              <a:rPr lang="en-US" sz="1800" dirty="0" smtClean="0">
                <a:solidFill>
                  <a:srgbClr val="0000FF"/>
                </a:solidFill>
              </a:rPr>
              <a:t>- Normal Pipelining</a:t>
            </a:r>
          </a:p>
          <a:p>
            <a:pPr>
              <a:buNone/>
            </a:pPr>
            <a:r>
              <a:rPr lang="en-US" sz="1700" dirty="0" smtClean="0"/>
              <a:t>send(command1);</a:t>
            </a:r>
          </a:p>
          <a:p>
            <a:pPr>
              <a:buNone/>
            </a:pPr>
            <a:r>
              <a:rPr lang="en-US" sz="1700" dirty="0" smtClean="0"/>
              <a:t>send(command2);</a:t>
            </a:r>
          </a:p>
          <a:p>
            <a:pPr>
              <a:buNone/>
            </a:pPr>
            <a:r>
              <a:rPr lang="en-US" sz="1700" dirty="0" err="1" smtClean="0">
                <a:solidFill>
                  <a:srgbClr val="FF0000"/>
                </a:solidFill>
              </a:rPr>
              <a:t>recv_and_process</a:t>
            </a:r>
            <a:r>
              <a:rPr lang="en-US" sz="1700" dirty="0" smtClean="0">
                <a:solidFill>
                  <a:srgbClr val="FF0000"/>
                </a:solidFill>
              </a:rPr>
              <a:t>(response);</a:t>
            </a:r>
          </a:p>
          <a:p>
            <a:pPr>
              <a:buNone/>
            </a:pPr>
            <a:r>
              <a:rPr lang="en-US" sz="1700" dirty="0" smtClean="0"/>
              <a:t>send(command3);</a:t>
            </a:r>
          </a:p>
          <a:p>
            <a:pPr>
              <a:buNone/>
            </a:pPr>
            <a:r>
              <a:rPr lang="en-US" sz="1700" dirty="0" smtClean="0"/>
              <a:t>send(command4);</a:t>
            </a:r>
          </a:p>
        </p:txBody>
      </p:sp>
      <p:sp>
        <p:nvSpPr>
          <p:cNvPr id="6" name="Content Placeholder 2"/>
          <p:cNvSpPr txBox="1">
            <a:spLocks/>
          </p:cNvSpPr>
          <p:nvPr/>
        </p:nvSpPr>
        <p:spPr>
          <a:xfrm>
            <a:off x="685800" y="4724400"/>
            <a:ext cx="7391400" cy="1905000"/>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Tx/>
              <a:buChar char="-"/>
              <a:tabLst/>
              <a:defRPr/>
            </a:pPr>
            <a:r>
              <a:rPr kumimoji="0" lang="en-US" sz="3200" b="1" i="0" u="none" strike="noStrike" kern="1200" cap="none" spc="0" normalizeH="0" baseline="0" noProof="0" dirty="0" smtClean="0">
                <a:ln>
                  <a:noFill/>
                </a:ln>
                <a:effectLst/>
                <a:uLnTx/>
                <a:uFillTx/>
                <a:latin typeface="+mn-lt"/>
                <a:ea typeface="+mn-ea"/>
                <a:cs typeface="+mn-cs"/>
              </a:rPr>
              <a:t>Minimize </a:t>
            </a:r>
            <a:r>
              <a:rPr kumimoji="0" lang="en-US" sz="3200" b="1" i="0" u="none" strike="noStrike" kern="1200" cap="none" spc="0" normalizeH="0" baseline="0" noProof="0" dirty="0" err="1" smtClean="0">
                <a:ln>
                  <a:noFill/>
                </a:ln>
                <a:effectLst/>
                <a:uLnTx/>
                <a:uFillTx/>
                <a:latin typeface="+mn-lt"/>
                <a:ea typeface="+mn-ea"/>
                <a:cs typeface="+mn-cs"/>
              </a:rPr>
              <a:t>t</a:t>
            </a:r>
            <a:r>
              <a:rPr kumimoji="0" lang="en-US" sz="3200" b="1" i="0" u="none" strike="noStrike" kern="1200" cap="none" spc="0" normalizeH="0" baseline="0" noProof="0" dirty="0" smtClean="0">
                <a:ln>
                  <a:noFill/>
                </a:ln>
                <a:effectLst/>
                <a:uLnTx/>
                <a:uFillTx/>
                <a:latin typeface="+mn-lt"/>
                <a:ea typeface="+mn-ea"/>
                <a:cs typeface="+mn-cs"/>
              </a:rPr>
              <a:t>   (</a:t>
            </a:r>
            <a:r>
              <a:rPr kumimoji="0" lang="en-US" sz="3200" i="0" u="none" strike="noStrike" kern="1200" cap="none" spc="0" normalizeH="0" baseline="0" noProof="0" dirty="0" smtClean="0">
                <a:ln>
                  <a:noFill/>
                </a:ln>
                <a:effectLst/>
                <a:uLnTx/>
                <a:uFillTx/>
                <a:latin typeface="+mn-lt"/>
                <a:ea typeface="+mn-ea"/>
                <a:cs typeface="+mn-cs"/>
              </a:rPr>
              <a:t>improve throughput of </a:t>
            </a:r>
            <a:r>
              <a:rPr lang="en-US" sz="3200" dirty="0" smtClean="0"/>
              <a:t>individual connection</a:t>
            </a:r>
            <a:r>
              <a:rPr lang="en-US" sz="3200" b="1" dirty="0" smtClean="0"/>
              <a:t>)</a:t>
            </a:r>
            <a:endParaRPr lang="en-US" sz="3200" b="1" dirty="0" smtClean="0"/>
          </a:p>
          <a:p>
            <a:pPr marL="342900" marR="0" lvl="0" indent="-342900" algn="l" defTabSz="914400" rtl="0" eaLnBrk="1" fontAlgn="auto" latinLnBrk="0" hangingPunct="1">
              <a:lnSpc>
                <a:spcPct val="100000"/>
              </a:lnSpc>
              <a:spcBef>
                <a:spcPct val="20000"/>
              </a:spcBef>
              <a:spcAft>
                <a:spcPts val="0"/>
              </a:spcAft>
              <a:buClrTx/>
              <a:buSzTx/>
              <a:buFontTx/>
              <a:buChar char="-"/>
              <a:tabLst/>
              <a:defRPr/>
            </a:pPr>
            <a:r>
              <a:rPr kumimoji="0" lang="en-US" sz="3200" b="1" i="0" u="none" strike="noStrike" kern="1200" cap="none" spc="0" normalizeH="0" baseline="0" noProof="0" dirty="0" smtClean="0">
                <a:ln>
                  <a:noFill/>
                </a:ln>
                <a:effectLst/>
                <a:uLnTx/>
                <a:uFillTx/>
                <a:latin typeface="+mn-lt"/>
                <a:ea typeface="+mn-ea"/>
                <a:cs typeface="+mn-cs"/>
              </a:rPr>
              <a:t>Subject</a:t>
            </a:r>
            <a:r>
              <a:rPr kumimoji="0" lang="en-US" sz="3200" b="1" i="0" u="none" strike="noStrike" kern="1200" cap="none" spc="0" normalizeH="0" noProof="0" dirty="0" smtClean="0">
                <a:ln>
                  <a:noFill/>
                </a:ln>
                <a:effectLst/>
                <a:uLnTx/>
                <a:uFillTx/>
                <a:latin typeface="+mn-lt"/>
                <a:ea typeface="+mn-ea"/>
                <a:cs typeface="+mn-cs"/>
              </a:rPr>
              <a:t> to </a:t>
            </a:r>
            <a:r>
              <a:rPr lang="en-US" sz="3200" b="1" dirty="0" smtClean="0"/>
              <a:t>constraint:</a:t>
            </a:r>
          </a:p>
          <a:p>
            <a:pPr marL="342900" lvl="0" indent="-342900">
              <a:spcBef>
                <a:spcPct val="20000"/>
              </a:spcBef>
              <a:defRPr/>
            </a:pPr>
            <a:r>
              <a:rPr lang="en-US" sz="3200" b="1" dirty="0" smtClean="0"/>
              <a:t>	t </a:t>
            </a:r>
            <a:r>
              <a:rPr kumimoji="0" lang="en-US" sz="3200" b="1" i="0" u="none" strike="noStrike" kern="1200" cap="none" spc="0" normalizeH="0" noProof="0" dirty="0" smtClean="0">
                <a:ln>
                  <a:noFill/>
                </a:ln>
                <a:effectLst/>
                <a:uLnTx/>
                <a:uFillTx/>
                <a:latin typeface="+mn-lt"/>
                <a:ea typeface="+mn-ea"/>
                <a:cs typeface="+mn-cs"/>
              </a:rPr>
              <a:t>&gt; </a:t>
            </a:r>
            <a:r>
              <a:rPr kumimoji="0" lang="en-US" sz="3200" b="1" i="0" u="none" strike="noStrike" kern="1200" cap="none" spc="0" normalizeH="0" baseline="0" noProof="0" dirty="0" smtClean="0">
                <a:ln>
                  <a:noFill/>
                </a:ln>
                <a:effectLst/>
                <a:uLnTx/>
                <a:uFillTx/>
                <a:latin typeface="+mn-lt"/>
                <a:ea typeface="+mn-ea"/>
                <a:cs typeface="+mn-cs"/>
              </a:rPr>
              <a:t>processing time on the</a:t>
            </a:r>
            <a:r>
              <a:rPr kumimoji="0" lang="en-US" sz="3200" b="1" i="0" u="none" strike="noStrike" kern="1200" cap="none" spc="0" normalizeH="0" noProof="0" dirty="0" smtClean="0">
                <a:ln>
                  <a:noFill/>
                </a:ln>
                <a:effectLst/>
                <a:uLnTx/>
                <a:uFillTx/>
                <a:latin typeface="+mn-lt"/>
                <a:ea typeface="+mn-ea"/>
                <a:cs typeface="+mn-cs"/>
              </a:rPr>
              <a:t> </a:t>
            </a:r>
            <a:r>
              <a:rPr kumimoji="0" lang="en-US" sz="3200" b="1" i="0" u="none" strike="noStrike" kern="1200" cap="none" spc="0" normalizeH="0" baseline="0" noProof="0" dirty="0" smtClean="0">
                <a:ln>
                  <a:noFill/>
                </a:ln>
                <a:effectLst/>
                <a:uLnTx/>
                <a:uFillTx/>
                <a:latin typeface="+mn-lt"/>
                <a:ea typeface="+mn-ea"/>
                <a:cs typeface="+mn-cs"/>
              </a:rPr>
              <a:t>server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sz="3200" b="1"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smtClean="0"/>
              <a:t>-	Can be learned in triangular spamming easily</a:t>
            </a:r>
            <a:endParaRPr kumimoji="0" lang="en-US" sz="3200" b="1"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smtClean="0">
              <a:ln>
                <a:noFill/>
              </a:ln>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
        <p:nvSpPr>
          <p:cNvPr id="8" name="Content Placeholder 2"/>
          <p:cNvSpPr txBox="1">
            <a:spLocks/>
          </p:cNvSpPr>
          <p:nvPr/>
        </p:nvSpPr>
        <p:spPr>
          <a:xfrm>
            <a:off x="609600" y="1447800"/>
            <a:ext cx="7467600" cy="1066800"/>
          </a:xfrm>
          <a:prstGeom prst="rect">
            <a:avLst/>
          </a:prstGeom>
        </p:spPr>
        <p:txBody>
          <a:bodyPr vert="horz" lIns="91440" tIns="45720" rIns="91440" bIns="45720" rtlCol="0">
            <a:normAutofit fontScale="92500"/>
          </a:bodyPr>
          <a:lstStyle/>
          <a:p>
            <a:pPr marL="342900" lvl="0" indent="-342900">
              <a:spcBef>
                <a:spcPct val="20000"/>
              </a:spcBef>
              <a:buFont typeface="Arial" pitchFamily="34" charset="0"/>
              <a:buChar char="•"/>
            </a:pPr>
            <a:r>
              <a:rPr lang="en-US" sz="3000" dirty="0" smtClean="0"/>
              <a:t>Pipelining – send multiple commands without waiting for response from previous commands</a:t>
            </a:r>
          </a:p>
        </p:txBody>
      </p:sp>
      <p:sp>
        <p:nvSpPr>
          <p:cNvPr id="10" name="Content Placeholder 2"/>
          <p:cNvSpPr txBox="1">
            <a:spLocks/>
          </p:cNvSpPr>
          <p:nvPr/>
        </p:nvSpPr>
        <p:spPr>
          <a:xfrm>
            <a:off x="4648200" y="2362200"/>
            <a:ext cx="4419600" cy="2743200"/>
          </a:xfrm>
          <a:prstGeom prst="rect">
            <a:avLst/>
          </a:prstGeom>
        </p:spPr>
        <p:txBody>
          <a:bodyPr vert="horz" lIns="91440" tIns="45720" rIns="91440" bIns="45720" rtlCol="0">
            <a:noAutofit/>
          </a:bodyPr>
          <a:lstStyle/>
          <a:p>
            <a:pPr marL="342900" lvl="0" indent="-342900">
              <a:spcBef>
                <a:spcPct val="20000"/>
              </a:spcBef>
            </a:pPr>
            <a:r>
              <a:rPr lang="en-US" dirty="0" smtClean="0">
                <a:solidFill>
                  <a:srgbClr val="0000FF"/>
                </a:solidFill>
              </a:rPr>
              <a:t>- Aggressive </a:t>
            </a:r>
            <a:r>
              <a:rPr kumimoji="0" lang="en-US" sz="1800" b="0" i="0" u="none" strike="noStrike" kern="1200" cap="none" spc="0" normalizeH="0" baseline="0" noProof="0" dirty="0" smtClean="0">
                <a:ln>
                  <a:noFill/>
                </a:ln>
                <a:solidFill>
                  <a:srgbClr val="0000FF"/>
                </a:solidFill>
                <a:effectLst/>
                <a:uLnTx/>
                <a:uFillTx/>
                <a:latin typeface="+mn-lt"/>
                <a:ea typeface="+mn-ea"/>
                <a:cs typeface="+mn-cs"/>
              </a:rPr>
              <a:t>Pipelining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send(command1);</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send(command2);</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700" b="0" i="0" u="none" strike="noStrike" kern="1200" cap="none" spc="0" normalizeH="0" baseline="0" noProof="0" dirty="0" smtClean="0">
                <a:ln>
                  <a:noFill/>
                </a:ln>
                <a:solidFill>
                  <a:srgbClr val="FF0000"/>
                </a:solidFill>
                <a:effectLst/>
                <a:uLnTx/>
                <a:uFillTx/>
                <a:latin typeface="+mn-lt"/>
                <a:ea typeface="+mn-ea"/>
                <a:cs typeface="+mn-cs"/>
              </a:rPr>
              <a:t>sleep(t);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send(command3);</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send(command4);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iterate type="lt">
                                    <p:tmAbs val="0"/>
                                  </p:iterate>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of interest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solidFill>
                  <a:schemeClr val="bg1">
                    <a:lumMod val="50000"/>
                  </a:schemeClr>
                </a:solidFill>
              </a:rPr>
              <a:t>How to evade IP-based blacklist?</a:t>
            </a:r>
          </a:p>
          <a:p>
            <a:pPr lvl="1"/>
            <a:r>
              <a:rPr lang="en-US" dirty="0" smtClean="0">
                <a:solidFill>
                  <a:schemeClr val="bg1">
                    <a:lumMod val="50000"/>
                  </a:schemeClr>
                </a:solidFill>
              </a:rPr>
              <a:t>Two techniques to improve spam throughput while hiding high-bandwidth </a:t>
            </a:r>
            <a:r>
              <a:rPr lang="en-US" dirty="0" err="1" smtClean="0">
                <a:solidFill>
                  <a:schemeClr val="bg1">
                    <a:lumMod val="50000"/>
                  </a:schemeClr>
                </a:solidFill>
              </a:rPr>
              <a:t>bot</a:t>
            </a:r>
            <a:r>
              <a:rPr lang="en-US" dirty="0" smtClean="0">
                <a:solidFill>
                  <a:schemeClr val="bg1">
                    <a:lumMod val="50000"/>
                  </a:schemeClr>
                </a:solidFill>
              </a:rPr>
              <a:t> IP addresses</a:t>
            </a:r>
          </a:p>
          <a:p>
            <a:pPr lvl="1"/>
            <a:endParaRPr lang="en-US" sz="1200" dirty="0" smtClean="0"/>
          </a:p>
          <a:p>
            <a:r>
              <a:rPr lang="en-US" dirty="0" smtClean="0"/>
              <a:t>How to evade port 25 blocking?</a:t>
            </a:r>
          </a:p>
          <a:p>
            <a:pPr lvl="1"/>
            <a:r>
              <a:rPr lang="en-US" dirty="0" smtClean="0"/>
              <a:t>A large-scale measurement on port 25 blocking policy </a:t>
            </a:r>
          </a:p>
          <a:p>
            <a:pPr lvl="1"/>
            <a:r>
              <a:rPr lang="en-US" dirty="0" smtClean="0"/>
              <a:t>97% of the blocking networks are vulnerable</a:t>
            </a:r>
          </a:p>
          <a:p>
            <a:pPr lvl="1"/>
            <a:endParaRPr lang="en-US" sz="1200" dirty="0" smtClean="0"/>
          </a:p>
          <a:p>
            <a:r>
              <a:rPr lang="en-US" dirty="0" smtClean="0">
                <a:solidFill>
                  <a:schemeClr val="bg1">
                    <a:lumMod val="50000"/>
                  </a:schemeClr>
                </a:solidFill>
              </a:rPr>
              <a:t>Is there evidence in the wild?</a:t>
            </a:r>
          </a:p>
          <a:p>
            <a:pPr lvl="1"/>
            <a:r>
              <a:rPr lang="en-US" dirty="0" smtClean="0">
                <a:solidFill>
                  <a:schemeClr val="bg1">
                    <a:lumMod val="50000"/>
                  </a:schemeClr>
                </a:solidFill>
              </a:rPr>
              <a:t>Implement and deploy proof-of-concept attack on </a:t>
            </a:r>
            <a:r>
              <a:rPr lang="en-US" dirty="0" err="1" smtClean="0">
                <a:solidFill>
                  <a:schemeClr val="bg1">
                    <a:lumMod val="50000"/>
                  </a:schemeClr>
                </a:solidFill>
              </a:rPr>
              <a:t>planetlab</a:t>
            </a:r>
            <a:endParaRPr lang="en-US" dirty="0" smtClean="0">
              <a:solidFill>
                <a:schemeClr val="bg1">
                  <a:lumMod val="50000"/>
                </a:schemeClr>
              </a:solidFill>
            </a:endParaRPr>
          </a:p>
          <a:p>
            <a:pPr lvl="1"/>
            <a:r>
              <a:rPr lang="en-US" dirty="0" smtClean="0">
                <a:solidFill>
                  <a:schemeClr val="bg1">
                    <a:lumMod val="50000"/>
                  </a:schemeClr>
                </a:solidFill>
              </a:rPr>
              <a:t>Collected evidence at a mail server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3" cstate="print"/>
          <a:srcRect/>
          <a:stretch>
            <a:fillRect/>
          </a:stretch>
        </p:blipFill>
        <p:spPr bwMode="auto">
          <a:xfrm>
            <a:off x="2438400" y="3276600"/>
            <a:ext cx="3822922" cy="32004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Port 25 blocking study</a:t>
            </a:r>
            <a:endParaRPr lang="en-US" dirty="0"/>
          </a:p>
        </p:txBody>
      </p:sp>
      <p:sp>
        <p:nvSpPr>
          <p:cNvPr id="3" name="Content Placeholder 2"/>
          <p:cNvSpPr>
            <a:spLocks noGrp="1"/>
          </p:cNvSpPr>
          <p:nvPr>
            <p:ph idx="1"/>
          </p:nvPr>
        </p:nvSpPr>
        <p:spPr>
          <a:xfrm>
            <a:off x="457200" y="1600200"/>
            <a:ext cx="8229600" cy="1752599"/>
          </a:xfrm>
        </p:spPr>
        <p:txBody>
          <a:bodyPr>
            <a:normAutofit fontScale="77500" lnSpcReduction="20000"/>
          </a:bodyPr>
          <a:lstStyle/>
          <a:p>
            <a:r>
              <a:rPr lang="en-US" dirty="0" smtClean="0"/>
              <a:t>Hypothesis on current ISP’s policy</a:t>
            </a:r>
          </a:p>
          <a:p>
            <a:pPr lvl="1"/>
            <a:r>
              <a:rPr lang="en-US" dirty="0" smtClean="0"/>
              <a:t>Directional traffic blocking</a:t>
            </a:r>
          </a:p>
          <a:p>
            <a:pPr lvl="1"/>
            <a:r>
              <a:rPr lang="en-US" dirty="0" smtClean="0"/>
              <a:t>Blocking outgoing traffic with </a:t>
            </a:r>
            <a:r>
              <a:rPr lang="en-US" dirty="0" err="1" smtClean="0"/>
              <a:t>dst</a:t>
            </a:r>
            <a:r>
              <a:rPr lang="en-US" dirty="0" smtClean="0"/>
              <a:t> port 25 (OUT) </a:t>
            </a:r>
          </a:p>
          <a:p>
            <a:pPr lvl="1"/>
            <a:r>
              <a:rPr lang="en-US" dirty="0" smtClean="0"/>
              <a:t>NOT blocking incoming traffic with </a:t>
            </a:r>
            <a:r>
              <a:rPr lang="en-US" dirty="0" err="1" smtClean="0"/>
              <a:t>src</a:t>
            </a:r>
            <a:r>
              <a:rPr lang="en-US" dirty="0" smtClean="0"/>
              <a:t> port 25 (IN) </a:t>
            </a:r>
          </a:p>
          <a:p>
            <a:pPr lvl="1"/>
            <a:r>
              <a:rPr lang="en-US" dirty="0" smtClean="0"/>
              <a:t>Relay </a:t>
            </a:r>
            <a:r>
              <a:rPr lang="en-US" dirty="0" err="1" smtClean="0"/>
              <a:t>bot’s</a:t>
            </a:r>
            <a:r>
              <a:rPr lang="en-US" dirty="0" smtClean="0"/>
              <a:t> IP can be used to send spam</a:t>
            </a:r>
          </a:p>
          <a:p>
            <a:endParaRPr lang="en-US" dirty="0" smtClean="0"/>
          </a:p>
        </p:txBody>
      </p:sp>
      <p:pic>
        <p:nvPicPr>
          <p:cNvPr id="3075" name="Picture 3"/>
          <p:cNvPicPr>
            <a:picLocks noChangeAspect="1" noChangeArrowheads="1"/>
          </p:cNvPicPr>
          <p:nvPr/>
        </p:nvPicPr>
        <p:blipFill>
          <a:blip r:embed="rId4" cstate="print"/>
          <a:srcRect/>
          <a:stretch>
            <a:fillRect/>
          </a:stretch>
        </p:blipFill>
        <p:spPr bwMode="auto">
          <a:xfrm>
            <a:off x="4648200" y="5562600"/>
            <a:ext cx="381770" cy="609600"/>
          </a:xfrm>
          <a:prstGeom prst="rect">
            <a:avLst/>
          </a:prstGeom>
          <a:noFill/>
          <a:ln w="9525">
            <a:noFill/>
            <a:miter lim="800000"/>
            <a:headEnd/>
            <a:tailEnd/>
          </a:ln>
        </p:spPr>
      </p:pic>
      <p:pic>
        <p:nvPicPr>
          <p:cNvPr id="10" name="Picture 3"/>
          <p:cNvPicPr>
            <a:picLocks noChangeAspect="1" noChangeArrowheads="1"/>
          </p:cNvPicPr>
          <p:nvPr/>
        </p:nvPicPr>
        <p:blipFill>
          <a:blip r:embed="rId4" cstate="print"/>
          <a:srcRect/>
          <a:stretch>
            <a:fillRect/>
          </a:stretch>
        </p:blipFill>
        <p:spPr bwMode="auto">
          <a:xfrm>
            <a:off x="5029200" y="4724400"/>
            <a:ext cx="381770" cy="609600"/>
          </a:xfrm>
          <a:prstGeom prst="rect">
            <a:avLst/>
          </a:prstGeom>
          <a:noFill/>
          <a:ln w="9525">
            <a:noFill/>
            <a:miter lim="800000"/>
            <a:headEnd/>
            <a:tailEnd/>
          </a:ln>
        </p:spPr>
      </p:pic>
      <p:pic>
        <p:nvPicPr>
          <p:cNvPr id="11" name="Picture 3"/>
          <p:cNvPicPr>
            <a:picLocks noChangeAspect="1" noChangeArrowheads="1"/>
          </p:cNvPicPr>
          <p:nvPr/>
        </p:nvPicPr>
        <p:blipFill>
          <a:blip r:embed="rId4" cstate="print"/>
          <a:srcRect/>
          <a:stretch>
            <a:fillRect/>
          </a:stretch>
        </p:blipFill>
        <p:spPr bwMode="auto">
          <a:xfrm>
            <a:off x="3581400" y="5638800"/>
            <a:ext cx="381770" cy="609600"/>
          </a:xfrm>
          <a:prstGeom prst="rect">
            <a:avLst/>
          </a:prstGeom>
          <a:noFill/>
          <a:ln w="9525">
            <a:noFill/>
            <a:miter lim="800000"/>
            <a:headEnd/>
            <a:tailEnd/>
          </a:ln>
        </p:spPr>
      </p:pic>
      <p:pic>
        <p:nvPicPr>
          <p:cNvPr id="12" name="Picture 3"/>
          <p:cNvPicPr>
            <a:picLocks noChangeAspect="1" noChangeArrowheads="1"/>
          </p:cNvPicPr>
          <p:nvPr/>
        </p:nvPicPr>
        <p:blipFill>
          <a:blip r:embed="rId4" cstate="print"/>
          <a:srcRect/>
          <a:stretch>
            <a:fillRect/>
          </a:stretch>
        </p:blipFill>
        <p:spPr bwMode="auto">
          <a:xfrm>
            <a:off x="3276600" y="4724400"/>
            <a:ext cx="381770" cy="609600"/>
          </a:xfrm>
          <a:prstGeom prst="rect">
            <a:avLst/>
          </a:prstGeom>
          <a:noFill/>
          <a:ln w="9525">
            <a:noFill/>
            <a:miter lim="800000"/>
            <a:headEnd/>
            <a:tailEnd/>
          </a:ln>
        </p:spPr>
      </p:pic>
      <p:sp>
        <p:nvSpPr>
          <p:cNvPr id="5" name="Rectangle 4"/>
          <p:cNvSpPr/>
          <p:nvPr/>
        </p:nvSpPr>
        <p:spPr>
          <a:xfrm>
            <a:off x="5181599" y="5207950"/>
            <a:ext cx="955432" cy="348788"/>
          </a:xfrm>
          <a:prstGeom prst="rect">
            <a:avLst/>
          </a:prstGeom>
          <a:solidFill>
            <a:schemeClr val="accent3"/>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Port:   *</a:t>
            </a:r>
          </a:p>
          <a:p>
            <a:pPr algn="ctr"/>
            <a:r>
              <a:rPr lang="en-US" sz="1200" b="1" dirty="0" err="1" smtClean="0">
                <a:solidFill>
                  <a:srgbClr val="7030A0"/>
                </a:solidFill>
              </a:rPr>
              <a:t>Dst</a:t>
            </a:r>
            <a:r>
              <a:rPr lang="en-US" sz="1200" b="1" dirty="0" smtClean="0">
                <a:solidFill>
                  <a:srgbClr val="7030A0"/>
                </a:solidFill>
              </a:rPr>
              <a:t> Port: 25</a:t>
            </a:r>
            <a:endParaRPr lang="en-US" sz="1200" b="1" dirty="0">
              <a:solidFill>
                <a:srgbClr val="7030A0"/>
              </a:solidFill>
            </a:endParaRPr>
          </a:p>
        </p:txBody>
      </p:sp>
      <p:sp>
        <p:nvSpPr>
          <p:cNvPr id="16" name="Freeform 15"/>
          <p:cNvSpPr/>
          <p:nvPr/>
        </p:nvSpPr>
        <p:spPr>
          <a:xfrm>
            <a:off x="2101050" y="4666004"/>
            <a:ext cx="2107042" cy="2085174"/>
          </a:xfrm>
          <a:custGeom>
            <a:avLst/>
            <a:gdLst>
              <a:gd name="connsiteX0" fmla="*/ 397883 w 2107042"/>
              <a:gd name="connsiteY0" fmla="*/ 1914258 h 2085174"/>
              <a:gd name="connsiteX1" fmla="*/ 158600 w 2107042"/>
              <a:gd name="connsiteY1" fmla="*/ 1811708 h 2085174"/>
              <a:gd name="connsiteX2" fmla="*/ 107326 w 2107042"/>
              <a:gd name="connsiteY2" fmla="*/ 1777525 h 2085174"/>
              <a:gd name="connsiteX3" fmla="*/ 81688 w 2107042"/>
              <a:gd name="connsiteY3" fmla="*/ 1717704 h 2085174"/>
              <a:gd name="connsiteX4" fmla="*/ 64597 w 2107042"/>
              <a:gd name="connsiteY4" fmla="*/ 1563880 h 2085174"/>
              <a:gd name="connsiteX5" fmla="*/ 21868 w 2107042"/>
              <a:gd name="connsiteY5" fmla="*/ 1512605 h 2085174"/>
              <a:gd name="connsiteX6" fmla="*/ 4776 w 2107042"/>
              <a:gd name="connsiteY6" fmla="*/ 1427147 h 2085174"/>
              <a:gd name="connsiteX7" fmla="*/ 21868 w 2107042"/>
              <a:gd name="connsiteY7" fmla="*/ 1324598 h 2085174"/>
              <a:gd name="connsiteX8" fmla="*/ 47505 w 2107042"/>
              <a:gd name="connsiteY8" fmla="*/ 1256232 h 2085174"/>
              <a:gd name="connsiteX9" fmla="*/ 56051 w 2107042"/>
              <a:gd name="connsiteY9" fmla="*/ 1222048 h 2085174"/>
              <a:gd name="connsiteX10" fmla="*/ 38959 w 2107042"/>
              <a:gd name="connsiteY10" fmla="*/ 1145136 h 2085174"/>
              <a:gd name="connsiteX11" fmla="*/ 21868 w 2107042"/>
              <a:gd name="connsiteY11" fmla="*/ 1085316 h 2085174"/>
              <a:gd name="connsiteX12" fmla="*/ 30414 w 2107042"/>
              <a:gd name="connsiteY12" fmla="*/ 957129 h 2085174"/>
              <a:gd name="connsiteX13" fmla="*/ 73143 w 2107042"/>
              <a:gd name="connsiteY13" fmla="*/ 871671 h 2085174"/>
              <a:gd name="connsiteX14" fmla="*/ 124417 w 2107042"/>
              <a:gd name="connsiteY14" fmla="*/ 811850 h 2085174"/>
              <a:gd name="connsiteX15" fmla="*/ 175692 w 2107042"/>
              <a:gd name="connsiteY15" fmla="*/ 734938 h 2085174"/>
              <a:gd name="connsiteX16" fmla="*/ 192784 w 2107042"/>
              <a:gd name="connsiteY16" fmla="*/ 683663 h 2085174"/>
              <a:gd name="connsiteX17" fmla="*/ 209875 w 2107042"/>
              <a:gd name="connsiteY17" fmla="*/ 606751 h 2085174"/>
              <a:gd name="connsiteX18" fmla="*/ 278242 w 2107042"/>
              <a:gd name="connsiteY18" fmla="*/ 538385 h 2085174"/>
              <a:gd name="connsiteX19" fmla="*/ 320971 w 2107042"/>
              <a:gd name="connsiteY19" fmla="*/ 478564 h 2085174"/>
              <a:gd name="connsiteX20" fmla="*/ 329516 w 2107042"/>
              <a:gd name="connsiteY20" fmla="*/ 341832 h 2085174"/>
              <a:gd name="connsiteX21" fmla="*/ 397883 w 2107042"/>
              <a:gd name="connsiteY21" fmla="*/ 273465 h 2085174"/>
              <a:gd name="connsiteX22" fmla="*/ 423520 w 2107042"/>
              <a:gd name="connsiteY22" fmla="*/ 162370 h 2085174"/>
              <a:gd name="connsiteX23" fmla="*/ 483341 w 2107042"/>
              <a:gd name="connsiteY23" fmla="*/ 94003 h 2085174"/>
              <a:gd name="connsiteX24" fmla="*/ 543161 w 2107042"/>
              <a:gd name="connsiteY24" fmla="*/ 59820 h 2085174"/>
              <a:gd name="connsiteX25" fmla="*/ 577344 w 2107042"/>
              <a:gd name="connsiteY25" fmla="*/ 34183 h 2085174"/>
              <a:gd name="connsiteX26" fmla="*/ 611528 w 2107042"/>
              <a:gd name="connsiteY26" fmla="*/ 17091 h 2085174"/>
              <a:gd name="connsiteX27" fmla="*/ 637165 w 2107042"/>
              <a:gd name="connsiteY27" fmla="*/ 0 h 2085174"/>
              <a:gd name="connsiteX28" fmla="*/ 850810 w 2107042"/>
              <a:gd name="connsiteY28" fmla="*/ 17091 h 2085174"/>
              <a:gd name="connsiteX29" fmla="*/ 927722 w 2107042"/>
              <a:gd name="connsiteY29" fmla="*/ 34183 h 2085174"/>
              <a:gd name="connsiteX30" fmla="*/ 1055909 w 2107042"/>
              <a:gd name="connsiteY30" fmla="*/ 51275 h 2085174"/>
              <a:gd name="connsiteX31" fmla="*/ 1295191 w 2107042"/>
              <a:gd name="connsiteY31" fmla="*/ 34183 h 2085174"/>
              <a:gd name="connsiteX32" fmla="*/ 1337920 w 2107042"/>
              <a:gd name="connsiteY32" fmla="*/ 25637 h 2085174"/>
              <a:gd name="connsiteX33" fmla="*/ 1517382 w 2107042"/>
              <a:gd name="connsiteY33" fmla="*/ 59820 h 2085174"/>
              <a:gd name="connsiteX34" fmla="*/ 1602840 w 2107042"/>
              <a:gd name="connsiteY34" fmla="*/ 119641 h 2085174"/>
              <a:gd name="connsiteX35" fmla="*/ 1654114 w 2107042"/>
              <a:gd name="connsiteY35" fmla="*/ 170916 h 2085174"/>
              <a:gd name="connsiteX36" fmla="*/ 1688298 w 2107042"/>
              <a:gd name="connsiteY36" fmla="*/ 247828 h 2085174"/>
              <a:gd name="connsiteX37" fmla="*/ 1705389 w 2107042"/>
              <a:gd name="connsiteY37" fmla="*/ 273465 h 2085174"/>
              <a:gd name="connsiteX38" fmla="*/ 1765210 w 2107042"/>
              <a:gd name="connsiteY38" fmla="*/ 341832 h 2085174"/>
              <a:gd name="connsiteX39" fmla="*/ 1782301 w 2107042"/>
              <a:gd name="connsiteY39" fmla="*/ 367469 h 2085174"/>
              <a:gd name="connsiteX40" fmla="*/ 1825030 w 2107042"/>
              <a:gd name="connsiteY40" fmla="*/ 461473 h 2085174"/>
              <a:gd name="connsiteX41" fmla="*/ 1867759 w 2107042"/>
              <a:gd name="connsiteY41" fmla="*/ 478564 h 2085174"/>
              <a:gd name="connsiteX42" fmla="*/ 1901943 w 2107042"/>
              <a:gd name="connsiteY42" fmla="*/ 546931 h 2085174"/>
              <a:gd name="connsiteX43" fmla="*/ 1927580 w 2107042"/>
              <a:gd name="connsiteY43" fmla="*/ 581114 h 2085174"/>
              <a:gd name="connsiteX44" fmla="*/ 1961763 w 2107042"/>
              <a:gd name="connsiteY44" fmla="*/ 615297 h 2085174"/>
              <a:gd name="connsiteX45" fmla="*/ 1987400 w 2107042"/>
              <a:gd name="connsiteY45" fmla="*/ 658026 h 2085174"/>
              <a:gd name="connsiteX46" fmla="*/ 2004492 w 2107042"/>
              <a:gd name="connsiteY46" fmla="*/ 683663 h 2085174"/>
              <a:gd name="connsiteX47" fmla="*/ 2021584 w 2107042"/>
              <a:gd name="connsiteY47" fmla="*/ 794759 h 2085174"/>
              <a:gd name="connsiteX48" fmla="*/ 2047221 w 2107042"/>
              <a:gd name="connsiteY48" fmla="*/ 880217 h 2085174"/>
              <a:gd name="connsiteX49" fmla="*/ 2055767 w 2107042"/>
              <a:gd name="connsiteY49" fmla="*/ 931491 h 2085174"/>
              <a:gd name="connsiteX50" fmla="*/ 2064313 w 2107042"/>
              <a:gd name="connsiteY50" fmla="*/ 1008403 h 2085174"/>
              <a:gd name="connsiteX51" fmla="*/ 2072858 w 2107042"/>
              <a:gd name="connsiteY51" fmla="*/ 1051132 h 2085174"/>
              <a:gd name="connsiteX52" fmla="*/ 2098496 w 2107042"/>
              <a:gd name="connsiteY52" fmla="*/ 1145136 h 2085174"/>
              <a:gd name="connsiteX53" fmla="*/ 2107042 w 2107042"/>
              <a:gd name="connsiteY53" fmla="*/ 1179319 h 2085174"/>
              <a:gd name="connsiteX54" fmla="*/ 2081404 w 2107042"/>
              <a:gd name="connsiteY54" fmla="*/ 1350235 h 2085174"/>
              <a:gd name="connsiteX55" fmla="*/ 2072858 w 2107042"/>
              <a:gd name="connsiteY55" fmla="*/ 1384418 h 2085174"/>
              <a:gd name="connsiteX56" fmla="*/ 2055767 w 2107042"/>
              <a:gd name="connsiteY56" fmla="*/ 1418602 h 2085174"/>
              <a:gd name="connsiteX57" fmla="*/ 2064313 w 2107042"/>
              <a:gd name="connsiteY57" fmla="*/ 1478422 h 2085174"/>
              <a:gd name="connsiteX58" fmla="*/ 2038675 w 2107042"/>
              <a:gd name="connsiteY58" fmla="*/ 1504060 h 2085174"/>
              <a:gd name="connsiteX59" fmla="*/ 2021584 w 2107042"/>
              <a:gd name="connsiteY59" fmla="*/ 1529697 h 2085174"/>
              <a:gd name="connsiteX60" fmla="*/ 1944671 w 2107042"/>
              <a:gd name="connsiteY60" fmla="*/ 1589517 h 2085174"/>
              <a:gd name="connsiteX61" fmla="*/ 1927580 w 2107042"/>
              <a:gd name="connsiteY61" fmla="*/ 1657884 h 2085174"/>
              <a:gd name="connsiteX62" fmla="*/ 1919034 w 2107042"/>
              <a:gd name="connsiteY62" fmla="*/ 1709159 h 2085174"/>
              <a:gd name="connsiteX63" fmla="*/ 1884851 w 2107042"/>
              <a:gd name="connsiteY63" fmla="*/ 1734796 h 2085174"/>
              <a:gd name="connsiteX64" fmla="*/ 1816485 w 2107042"/>
              <a:gd name="connsiteY64" fmla="*/ 1760433 h 2085174"/>
              <a:gd name="connsiteX65" fmla="*/ 1756664 w 2107042"/>
              <a:gd name="connsiteY65" fmla="*/ 1786071 h 2085174"/>
              <a:gd name="connsiteX66" fmla="*/ 1722481 w 2107042"/>
              <a:gd name="connsiteY66" fmla="*/ 1811708 h 2085174"/>
              <a:gd name="connsiteX67" fmla="*/ 1688298 w 2107042"/>
              <a:gd name="connsiteY67" fmla="*/ 1871529 h 2085174"/>
              <a:gd name="connsiteX68" fmla="*/ 1637023 w 2107042"/>
              <a:gd name="connsiteY68" fmla="*/ 1914258 h 2085174"/>
              <a:gd name="connsiteX69" fmla="*/ 1560111 w 2107042"/>
              <a:gd name="connsiteY69" fmla="*/ 1939895 h 2085174"/>
              <a:gd name="connsiteX70" fmla="*/ 1543019 w 2107042"/>
              <a:gd name="connsiteY70" fmla="*/ 1974078 h 2085174"/>
              <a:gd name="connsiteX71" fmla="*/ 1508836 w 2107042"/>
              <a:gd name="connsiteY71" fmla="*/ 1982624 h 2085174"/>
              <a:gd name="connsiteX72" fmla="*/ 1406286 w 2107042"/>
              <a:gd name="connsiteY72" fmla="*/ 2008261 h 2085174"/>
              <a:gd name="connsiteX73" fmla="*/ 1320829 w 2107042"/>
              <a:gd name="connsiteY73" fmla="*/ 2025353 h 2085174"/>
              <a:gd name="connsiteX74" fmla="*/ 1175550 w 2107042"/>
              <a:gd name="connsiteY74" fmla="*/ 2050990 h 2085174"/>
              <a:gd name="connsiteX75" fmla="*/ 1081546 w 2107042"/>
              <a:gd name="connsiteY75" fmla="*/ 2068082 h 2085174"/>
              <a:gd name="connsiteX76" fmla="*/ 996088 w 2107042"/>
              <a:gd name="connsiteY76" fmla="*/ 2085174 h 2085174"/>
              <a:gd name="connsiteX77" fmla="*/ 953359 w 2107042"/>
              <a:gd name="connsiteY77" fmla="*/ 2076628 h 2085174"/>
              <a:gd name="connsiteX78" fmla="*/ 893539 w 2107042"/>
              <a:gd name="connsiteY78" fmla="*/ 2059536 h 2085174"/>
              <a:gd name="connsiteX79" fmla="*/ 731169 w 2107042"/>
              <a:gd name="connsiteY79" fmla="*/ 2033899 h 2085174"/>
              <a:gd name="connsiteX80" fmla="*/ 696986 w 2107042"/>
              <a:gd name="connsiteY80" fmla="*/ 2025353 h 2085174"/>
              <a:gd name="connsiteX81" fmla="*/ 645711 w 2107042"/>
              <a:gd name="connsiteY81" fmla="*/ 1999716 h 2085174"/>
              <a:gd name="connsiteX82" fmla="*/ 620073 w 2107042"/>
              <a:gd name="connsiteY82" fmla="*/ 1982624 h 2085174"/>
              <a:gd name="connsiteX83" fmla="*/ 568799 w 2107042"/>
              <a:gd name="connsiteY83" fmla="*/ 1974078 h 2085174"/>
              <a:gd name="connsiteX84" fmla="*/ 534615 w 2107042"/>
              <a:gd name="connsiteY84" fmla="*/ 1965532 h 2085174"/>
              <a:gd name="connsiteX85" fmla="*/ 517524 w 2107042"/>
              <a:gd name="connsiteY85" fmla="*/ 1939895 h 2085174"/>
              <a:gd name="connsiteX86" fmla="*/ 457703 w 2107042"/>
              <a:gd name="connsiteY86" fmla="*/ 1914258 h 2085174"/>
              <a:gd name="connsiteX87" fmla="*/ 397883 w 2107042"/>
              <a:gd name="connsiteY87" fmla="*/ 1914258 h 208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2107042" h="2085174">
                <a:moveTo>
                  <a:pt x="397883" y="1914258"/>
                </a:moveTo>
                <a:cubicBezTo>
                  <a:pt x="348033" y="1897166"/>
                  <a:pt x="297521" y="1891092"/>
                  <a:pt x="158600" y="1811708"/>
                </a:cubicBezTo>
                <a:cubicBezTo>
                  <a:pt x="140765" y="1801517"/>
                  <a:pt x="107326" y="1777525"/>
                  <a:pt x="107326" y="1777525"/>
                </a:cubicBezTo>
                <a:cubicBezTo>
                  <a:pt x="100431" y="1763736"/>
                  <a:pt x="84203" y="1735309"/>
                  <a:pt x="81688" y="1717704"/>
                </a:cubicBezTo>
                <a:cubicBezTo>
                  <a:pt x="74392" y="1666632"/>
                  <a:pt x="79042" y="1613407"/>
                  <a:pt x="64597" y="1563880"/>
                </a:cubicBezTo>
                <a:cubicBezTo>
                  <a:pt x="58368" y="1542522"/>
                  <a:pt x="36111" y="1529697"/>
                  <a:pt x="21868" y="1512605"/>
                </a:cubicBezTo>
                <a:cubicBezTo>
                  <a:pt x="16171" y="1484119"/>
                  <a:pt x="0" y="1455802"/>
                  <a:pt x="4776" y="1427147"/>
                </a:cubicBezTo>
                <a:cubicBezTo>
                  <a:pt x="10473" y="1392964"/>
                  <a:pt x="15072" y="1358580"/>
                  <a:pt x="21868" y="1324598"/>
                </a:cubicBezTo>
                <a:cubicBezTo>
                  <a:pt x="24868" y="1309597"/>
                  <a:pt x="44772" y="1264431"/>
                  <a:pt x="47505" y="1256232"/>
                </a:cubicBezTo>
                <a:cubicBezTo>
                  <a:pt x="51219" y="1245089"/>
                  <a:pt x="53202" y="1233443"/>
                  <a:pt x="56051" y="1222048"/>
                </a:cubicBezTo>
                <a:cubicBezTo>
                  <a:pt x="50354" y="1196411"/>
                  <a:pt x="45329" y="1170615"/>
                  <a:pt x="38959" y="1145136"/>
                </a:cubicBezTo>
                <a:cubicBezTo>
                  <a:pt x="33929" y="1125017"/>
                  <a:pt x="22810" y="1106032"/>
                  <a:pt x="21868" y="1085316"/>
                </a:cubicBezTo>
                <a:cubicBezTo>
                  <a:pt x="19924" y="1042536"/>
                  <a:pt x="20420" y="998770"/>
                  <a:pt x="30414" y="957129"/>
                </a:cubicBezTo>
                <a:cubicBezTo>
                  <a:pt x="37847" y="926160"/>
                  <a:pt x="50623" y="894192"/>
                  <a:pt x="73143" y="871671"/>
                </a:cubicBezTo>
                <a:cubicBezTo>
                  <a:pt x="96448" y="848365"/>
                  <a:pt x="106146" y="841084"/>
                  <a:pt x="124417" y="811850"/>
                </a:cubicBezTo>
                <a:cubicBezTo>
                  <a:pt x="178521" y="725285"/>
                  <a:pt x="92238" y="839256"/>
                  <a:pt x="175692" y="734938"/>
                </a:cubicBezTo>
                <a:cubicBezTo>
                  <a:pt x="181389" y="717846"/>
                  <a:pt x="189822" y="701434"/>
                  <a:pt x="192784" y="683663"/>
                </a:cubicBezTo>
                <a:cubicBezTo>
                  <a:pt x="194876" y="671109"/>
                  <a:pt x="199974" y="624077"/>
                  <a:pt x="209875" y="606751"/>
                </a:cubicBezTo>
                <a:cubicBezTo>
                  <a:pt x="237347" y="558676"/>
                  <a:pt x="236058" y="580569"/>
                  <a:pt x="278242" y="538385"/>
                </a:cubicBezTo>
                <a:cubicBezTo>
                  <a:pt x="288841" y="527786"/>
                  <a:pt x="311267" y="493120"/>
                  <a:pt x="320971" y="478564"/>
                </a:cubicBezTo>
                <a:cubicBezTo>
                  <a:pt x="304406" y="428870"/>
                  <a:pt x="295127" y="414048"/>
                  <a:pt x="329516" y="341832"/>
                </a:cubicBezTo>
                <a:cubicBezTo>
                  <a:pt x="343372" y="312734"/>
                  <a:pt x="397883" y="273465"/>
                  <a:pt x="397883" y="273465"/>
                </a:cubicBezTo>
                <a:cubicBezTo>
                  <a:pt x="401823" y="245888"/>
                  <a:pt x="406459" y="187962"/>
                  <a:pt x="423520" y="162370"/>
                </a:cubicBezTo>
                <a:cubicBezTo>
                  <a:pt x="446687" y="127620"/>
                  <a:pt x="443348" y="128997"/>
                  <a:pt x="483341" y="94003"/>
                </a:cubicBezTo>
                <a:cubicBezTo>
                  <a:pt x="506860" y="73424"/>
                  <a:pt x="515567" y="77066"/>
                  <a:pt x="543161" y="59820"/>
                </a:cubicBezTo>
                <a:cubicBezTo>
                  <a:pt x="555239" y="52271"/>
                  <a:pt x="565266" y="41732"/>
                  <a:pt x="577344" y="34183"/>
                </a:cubicBezTo>
                <a:cubicBezTo>
                  <a:pt x="588147" y="27431"/>
                  <a:pt x="600467" y="23412"/>
                  <a:pt x="611528" y="17091"/>
                </a:cubicBezTo>
                <a:cubicBezTo>
                  <a:pt x="620445" y="11995"/>
                  <a:pt x="628619" y="5697"/>
                  <a:pt x="637165" y="0"/>
                </a:cubicBezTo>
                <a:cubicBezTo>
                  <a:pt x="684148" y="2937"/>
                  <a:pt x="793749" y="7581"/>
                  <a:pt x="850810" y="17091"/>
                </a:cubicBezTo>
                <a:cubicBezTo>
                  <a:pt x="876715" y="21409"/>
                  <a:pt x="901909" y="29343"/>
                  <a:pt x="927722" y="34183"/>
                </a:cubicBezTo>
                <a:cubicBezTo>
                  <a:pt x="951308" y="38605"/>
                  <a:pt x="1034792" y="48635"/>
                  <a:pt x="1055909" y="51275"/>
                </a:cubicBezTo>
                <a:cubicBezTo>
                  <a:pt x="1119564" y="47530"/>
                  <a:pt x="1226191" y="42808"/>
                  <a:pt x="1295191" y="34183"/>
                </a:cubicBezTo>
                <a:cubicBezTo>
                  <a:pt x="1309604" y="32381"/>
                  <a:pt x="1323677" y="28486"/>
                  <a:pt x="1337920" y="25637"/>
                </a:cubicBezTo>
                <a:cubicBezTo>
                  <a:pt x="1430090" y="56361"/>
                  <a:pt x="1371337" y="40348"/>
                  <a:pt x="1517382" y="59820"/>
                </a:cubicBezTo>
                <a:cubicBezTo>
                  <a:pt x="1557847" y="84100"/>
                  <a:pt x="1566802" y="86879"/>
                  <a:pt x="1602840" y="119641"/>
                </a:cubicBezTo>
                <a:cubicBezTo>
                  <a:pt x="1620725" y="135900"/>
                  <a:pt x="1654114" y="170916"/>
                  <a:pt x="1654114" y="170916"/>
                </a:cubicBezTo>
                <a:cubicBezTo>
                  <a:pt x="1666324" y="201441"/>
                  <a:pt x="1672329" y="219882"/>
                  <a:pt x="1688298" y="247828"/>
                </a:cubicBezTo>
                <a:cubicBezTo>
                  <a:pt x="1693394" y="256745"/>
                  <a:pt x="1699419" y="265108"/>
                  <a:pt x="1705389" y="273465"/>
                </a:cubicBezTo>
                <a:cubicBezTo>
                  <a:pt x="1758546" y="347885"/>
                  <a:pt x="1700760" y="266639"/>
                  <a:pt x="1765210" y="341832"/>
                </a:cubicBezTo>
                <a:cubicBezTo>
                  <a:pt x="1771894" y="349630"/>
                  <a:pt x="1776604" y="358923"/>
                  <a:pt x="1782301" y="367469"/>
                </a:cubicBezTo>
                <a:cubicBezTo>
                  <a:pt x="1793200" y="411062"/>
                  <a:pt x="1787478" y="438003"/>
                  <a:pt x="1825030" y="461473"/>
                </a:cubicBezTo>
                <a:cubicBezTo>
                  <a:pt x="1838038" y="469603"/>
                  <a:pt x="1853516" y="472867"/>
                  <a:pt x="1867759" y="478564"/>
                </a:cubicBezTo>
                <a:cubicBezTo>
                  <a:pt x="1879154" y="501353"/>
                  <a:pt x="1886656" y="526548"/>
                  <a:pt x="1901943" y="546931"/>
                </a:cubicBezTo>
                <a:cubicBezTo>
                  <a:pt x="1910489" y="558325"/>
                  <a:pt x="1918201" y="570395"/>
                  <a:pt x="1927580" y="581114"/>
                </a:cubicBezTo>
                <a:cubicBezTo>
                  <a:pt x="1938191" y="593241"/>
                  <a:pt x="1951870" y="602577"/>
                  <a:pt x="1961763" y="615297"/>
                </a:cubicBezTo>
                <a:cubicBezTo>
                  <a:pt x="1971960" y="628408"/>
                  <a:pt x="1978597" y="643941"/>
                  <a:pt x="1987400" y="658026"/>
                </a:cubicBezTo>
                <a:cubicBezTo>
                  <a:pt x="1992844" y="666736"/>
                  <a:pt x="1998795" y="675117"/>
                  <a:pt x="2004492" y="683663"/>
                </a:cubicBezTo>
                <a:cubicBezTo>
                  <a:pt x="2023741" y="741411"/>
                  <a:pt x="2006897" y="684604"/>
                  <a:pt x="2021584" y="794759"/>
                </a:cubicBezTo>
                <a:cubicBezTo>
                  <a:pt x="2027361" y="838091"/>
                  <a:pt x="2030834" y="839251"/>
                  <a:pt x="2047221" y="880217"/>
                </a:cubicBezTo>
                <a:cubicBezTo>
                  <a:pt x="2050070" y="897308"/>
                  <a:pt x="2053477" y="914316"/>
                  <a:pt x="2055767" y="931491"/>
                </a:cubicBezTo>
                <a:cubicBezTo>
                  <a:pt x="2059176" y="957060"/>
                  <a:pt x="2060665" y="982867"/>
                  <a:pt x="2064313" y="1008403"/>
                </a:cubicBezTo>
                <a:cubicBezTo>
                  <a:pt x="2066367" y="1022782"/>
                  <a:pt x="2069707" y="1036953"/>
                  <a:pt x="2072858" y="1051132"/>
                </a:cubicBezTo>
                <a:cubicBezTo>
                  <a:pt x="2080589" y="1085922"/>
                  <a:pt x="2088497" y="1108475"/>
                  <a:pt x="2098496" y="1145136"/>
                </a:cubicBezTo>
                <a:cubicBezTo>
                  <a:pt x="2101586" y="1156467"/>
                  <a:pt x="2104193" y="1167925"/>
                  <a:pt x="2107042" y="1179319"/>
                </a:cubicBezTo>
                <a:cubicBezTo>
                  <a:pt x="2098496" y="1236291"/>
                  <a:pt x="2090875" y="1293409"/>
                  <a:pt x="2081404" y="1350235"/>
                </a:cubicBezTo>
                <a:cubicBezTo>
                  <a:pt x="2079473" y="1361820"/>
                  <a:pt x="2076982" y="1373421"/>
                  <a:pt x="2072858" y="1384418"/>
                </a:cubicBezTo>
                <a:cubicBezTo>
                  <a:pt x="2068385" y="1396346"/>
                  <a:pt x="2061464" y="1407207"/>
                  <a:pt x="2055767" y="1418602"/>
                </a:cubicBezTo>
                <a:cubicBezTo>
                  <a:pt x="2058616" y="1438542"/>
                  <a:pt x="2068263" y="1458671"/>
                  <a:pt x="2064313" y="1478422"/>
                </a:cubicBezTo>
                <a:cubicBezTo>
                  <a:pt x="2061943" y="1490273"/>
                  <a:pt x="2046412" y="1494775"/>
                  <a:pt x="2038675" y="1504060"/>
                </a:cubicBezTo>
                <a:cubicBezTo>
                  <a:pt x="2032100" y="1511950"/>
                  <a:pt x="2028846" y="1522435"/>
                  <a:pt x="2021584" y="1529697"/>
                </a:cubicBezTo>
                <a:cubicBezTo>
                  <a:pt x="1991998" y="1559283"/>
                  <a:pt x="1975166" y="1569188"/>
                  <a:pt x="1944671" y="1589517"/>
                </a:cubicBezTo>
                <a:cubicBezTo>
                  <a:pt x="1938974" y="1612306"/>
                  <a:pt x="1932502" y="1634915"/>
                  <a:pt x="1927580" y="1657884"/>
                </a:cubicBezTo>
                <a:cubicBezTo>
                  <a:pt x="1923949" y="1674827"/>
                  <a:pt x="1927449" y="1694012"/>
                  <a:pt x="1919034" y="1709159"/>
                </a:cubicBezTo>
                <a:cubicBezTo>
                  <a:pt x="1912117" y="1721609"/>
                  <a:pt x="1896441" y="1726517"/>
                  <a:pt x="1884851" y="1734796"/>
                </a:cubicBezTo>
                <a:cubicBezTo>
                  <a:pt x="1846975" y="1761851"/>
                  <a:pt x="1869503" y="1747179"/>
                  <a:pt x="1816485" y="1760433"/>
                </a:cubicBezTo>
                <a:cubicBezTo>
                  <a:pt x="1797100" y="1765279"/>
                  <a:pt x="1772970" y="1775880"/>
                  <a:pt x="1756664" y="1786071"/>
                </a:cubicBezTo>
                <a:cubicBezTo>
                  <a:pt x="1744586" y="1793620"/>
                  <a:pt x="1733875" y="1803162"/>
                  <a:pt x="1722481" y="1811708"/>
                </a:cubicBezTo>
                <a:cubicBezTo>
                  <a:pt x="1715781" y="1825109"/>
                  <a:pt x="1700374" y="1859453"/>
                  <a:pt x="1688298" y="1871529"/>
                </a:cubicBezTo>
                <a:cubicBezTo>
                  <a:pt x="1672566" y="1887261"/>
                  <a:pt x="1655793" y="1902314"/>
                  <a:pt x="1637023" y="1914258"/>
                </a:cubicBezTo>
                <a:cubicBezTo>
                  <a:pt x="1616203" y="1927507"/>
                  <a:pt x="1584053" y="1933909"/>
                  <a:pt x="1560111" y="1939895"/>
                </a:cubicBezTo>
                <a:cubicBezTo>
                  <a:pt x="1554414" y="1951289"/>
                  <a:pt x="1552806" y="1965923"/>
                  <a:pt x="1543019" y="1974078"/>
                </a:cubicBezTo>
                <a:cubicBezTo>
                  <a:pt x="1533996" y="1981597"/>
                  <a:pt x="1520086" y="1979249"/>
                  <a:pt x="1508836" y="1982624"/>
                </a:cubicBezTo>
                <a:cubicBezTo>
                  <a:pt x="1407759" y="2012948"/>
                  <a:pt x="1507421" y="1989298"/>
                  <a:pt x="1406286" y="2008261"/>
                </a:cubicBezTo>
                <a:cubicBezTo>
                  <a:pt x="1377734" y="2013615"/>
                  <a:pt x="1349393" y="2020063"/>
                  <a:pt x="1320829" y="2025353"/>
                </a:cubicBezTo>
                <a:lnTo>
                  <a:pt x="1175550" y="2050990"/>
                </a:lnTo>
                <a:cubicBezTo>
                  <a:pt x="1144198" y="2056589"/>
                  <a:pt x="1112443" y="2060357"/>
                  <a:pt x="1081546" y="2068082"/>
                </a:cubicBezTo>
                <a:cubicBezTo>
                  <a:pt x="1030553" y="2080831"/>
                  <a:pt x="1058948" y="2074697"/>
                  <a:pt x="996088" y="2085174"/>
                </a:cubicBezTo>
                <a:cubicBezTo>
                  <a:pt x="981845" y="2082325"/>
                  <a:pt x="967450" y="2080151"/>
                  <a:pt x="953359" y="2076628"/>
                </a:cubicBezTo>
                <a:cubicBezTo>
                  <a:pt x="917623" y="2067694"/>
                  <a:pt x="935101" y="2065930"/>
                  <a:pt x="893539" y="2059536"/>
                </a:cubicBezTo>
                <a:cubicBezTo>
                  <a:pt x="791891" y="2043897"/>
                  <a:pt x="837263" y="2060423"/>
                  <a:pt x="731169" y="2033899"/>
                </a:cubicBezTo>
                <a:cubicBezTo>
                  <a:pt x="719775" y="2031050"/>
                  <a:pt x="707891" y="2029715"/>
                  <a:pt x="696986" y="2025353"/>
                </a:cubicBezTo>
                <a:cubicBezTo>
                  <a:pt x="679244" y="2018256"/>
                  <a:pt x="662415" y="2008996"/>
                  <a:pt x="645711" y="1999716"/>
                </a:cubicBezTo>
                <a:cubicBezTo>
                  <a:pt x="636732" y="1994728"/>
                  <a:pt x="629817" y="1985872"/>
                  <a:pt x="620073" y="1982624"/>
                </a:cubicBezTo>
                <a:cubicBezTo>
                  <a:pt x="603635" y="1977145"/>
                  <a:pt x="585790" y="1977476"/>
                  <a:pt x="568799" y="1974078"/>
                </a:cubicBezTo>
                <a:cubicBezTo>
                  <a:pt x="557282" y="1971774"/>
                  <a:pt x="546010" y="1968381"/>
                  <a:pt x="534615" y="1965532"/>
                </a:cubicBezTo>
                <a:cubicBezTo>
                  <a:pt x="528918" y="1956986"/>
                  <a:pt x="524786" y="1947157"/>
                  <a:pt x="517524" y="1939895"/>
                </a:cubicBezTo>
                <a:cubicBezTo>
                  <a:pt x="497851" y="1920222"/>
                  <a:pt x="483855" y="1920795"/>
                  <a:pt x="457703" y="1914258"/>
                </a:cubicBezTo>
                <a:cubicBezTo>
                  <a:pt x="420756" y="1923494"/>
                  <a:pt x="447734" y="1931350"/>
                  <a:pt x="397883" y="1914258"/>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4438828" y="4580546"/>
            <a:ext cx="2033957" cy="2050990"/>
          </a:xfrm>
          <a:custGeom>
            <a:avLst/>
            <a:gdLst>
              <a:gd name="connsiteX0" fmla="*/ 247828 w 2033957"/>
              <a:gd name="connsiteY0" fmla="*/ 1828800 h 2050990"/>
              <a:gd name="connsiteX1" fmla="*/ 222191 w 2033957"/>
              <a:gd name="connsiteY1" fmla="*/ 1811708 h 2050990"/>
              <a:gd name="connsiteX2" fmla="*/ 170916 w 2033957"/>
              <a:gd name="connsiteY2" fmla="*/ 1734796 h 2050990"/>
              <a:gd name="connsiteX3" fmla="*/ 145279 w 2033957"/>
              <a:gd name="connsiteY3" fmla="*/ 1683521 h 2050990"/>
              <a:gd name="connsiteX4" fmla="*/ 128187 w 2033957"/>
              <a:gd name="connsiteY4" fmla="*/ 1504060 h 2050990"/>
              <a:gd name="connsiteX5" fmla="*/ 111095 w 2033957"/>
              <a:gd name="connsiteY5" fmla="*/ 1435693 h 2050990"/>
              <a:gd name="connsiteX6" fmla="*/ 102550 w 2033957"/>
              <a:gd name="connsiteY6" fmla="*/ 1247686 h 2050990"/>
              <a:gd name="connsiteX7" fmla="*/ 42729 w 2033957"/>
              <a:gd name="connsiteY7" fmla="*/ 1136590 h 2050990"/>
              <a:gd name="connsiteX8" fmla="*/ 25637 w 2033957"/>
              <a:gd name="connsiteY8" fmla="*/ 1068224 h 2050990"/>
              <a:gd name="connsiteX9" fmla="*/ 17092 w 2033957"/>
              <a:gd name="connsiteY9" fmla="*/ 897308 h 2050990"/>
              <a:gd name="connsiteX10" fmla="*/ 8546 w 2033957"/>
              <a:gd name="connsiteY10" fmla="*/ 871671 h 2050990"/>
              <a:gd name="connsiteX11" fmla="*/ 0 w 2033957"/>
              <a:gd name="connsiteY11" fmla="*/ 837488 h 2050990"/>
              <a:gd name="connsiteX12" fmla="*/ 34183 w 2033957"/>
              <a:gd name="connsiteY12" fmla="*/ 734938 h 2050990"/>
              <a:gd name="connsiteX13" fmla="*/ 51275 w 2033957"/>
              <a:gd name="connsiteY13" fmla="*/ 606751 h 2050990"/>
              <a:gd name="connsiteX14" fmla="*/ 68366 w 2033957"/>
              <a:gd name="connsiteY14" fmla="*/ 572568 h 2050990"/>
              <a:gd name="connsiteX15" fmla="*/ 76912 w 2033957"/>
              <a:gd name="connsiteY15" fmla="*/ 495656 h 2050990"/>
              <a:gd name="connsiteX16" fmla="*/ 102550 w 2033957"/>
              <a:gd name="connsiteY16" fmla="*/ 470018 h 2050990"/>
              <a:gd name="connsiteX17" fmla="*/ 128187 w 2033957"/>
              <a:gd name="connsiteY17" fmla="*/ 452927 h 2050990"/>
              <a:gd name="connsiteX18" fmla="*/ 213645 w 2033957"/>
              <a:gd name="connsiteY18" fmla="*/ 427290 h 2050990"/>
              <a:gd name="connsiteX19" fmla="*/ 256374 w 2033957"/>
              <a:gd name="connsiteY19" fmla="*/ 376015 h 2050990"/>
              <a:gd name="connsiteX20" fmla="*/ 264920 w 2033957"/>
              <a:gd name="connsiteY20" fmla="*/ 350377 h 2050990"/>
              <a:gd name="connsiteX21" fmla="*/ 299103 w 2033957"/>
              <a:gd name="connsiteY21" fmla="*/ 316194 h 2050990"/>
              <a:gd name="connsiteX22" fmla="*/ 316194 w 2033957"/>
              <a:gd name="connsiteY22" fmla="*/ 264919 h 2050990"/>
              <a:gd name="connsiteX23" fmla="*/ 341832 w 2033957"/>
              <a:gd name="connsiteY23" fmla="*/ 213645 h 2050990"/>
              <a:gd name="connsiteX24" fmla="*/ 376015 w 2033957"/>
              <a:gd name="connsiteY24" fmla="*/ 188007 h 2050990"/>
              <a:gd name="connsiteX25" fmla="*/ 401652 w 2033957"/>
              <a:gd name="connsiteY25" fmla="*/ 170916 h 2050990"/>
              <a:gd name="connsiteX26" fmla="*/ 452927 w 2033957"/>
              <a:gd name="connsiteY26" fmla="*/ 153824 h 2050990"/>
              <a:gd name="connsiteX27" fmla="*/ 461473 w 2033957"/>
              <a:gd name="connsiteY27" fmla="*/ 128187 h 2050990"/>
              <a:gd name="connsiteX28" fmla="*/ 564022 w 2033957"/>
              <a:gd name="connsiteY28" fmla="*/ 76912 h 2050990"/>
              <a:gd name="connsiteX29" fmla="*/ 598206 w 2033957"/>
              <a:gd name="connsiteY29" fmla="*/ 68366 h 2050990"/>
              <a:gd name="connsiteX30" fmla="*/ 649480 w 2033957"/>
              <a:gd name="connsiteY30" fmla="*/ 51275 h 2050990"/>
              <a:gd name="connsiteX31" fmla="*/ 726393 w 2033957"/>
              <a:gd name="connsiteY31" fmla="*/ 25637 h 2050990"/>
              <a:gd name="connsiteX32" fmla="*/ 777667 w 2033957"/>
              <a:gd name="connsiteY32" fmla="*/ 8546 h 2050990"/>
              <a:gd name="connsiteX33" fmla="*/ 820396 w 2033957"/>
              <a:gd name="connsiteY33" fmla="*/ 0 h 2050990"/>
              <a:gd name="connsiteX34" fmla="*/ 905854 w 2033957"/>
              <a:gd name="connsiteY34" fmla="*/ 8546 h 2050990"/>
              <a:gd name="connsiteX35" fmla="*/ 982766 w 2033957"/>
              <a:gd name="connsiteY35" fmla="*/ 42729 h 2050990"/>
              <a:gd name="connsiteX36" fmla="*/ 1025495 w 2033957"/>
              <a:gd name="connsiteY36" fmla="*/ 51275 h 2050990"/>
              <a:gd name="connsiteX37" fmla="*/ 1076770 w 2033957"/>
              <a:gd name="connsiteY37" fmla="*/ 76912 h 2050990"/>
              <a:gd name="connsiteX38" fmla="*/ 1119499 w 2033957"/>
              <a:gd name="connsiteY38" fmla="*/ 85458 h 2050990"/>
              <a:gd name="connsiteX39" fmla="*/ 1162228 w 2033957"/>
              <a:gd name="connsiteY39" fmla="*/ 102549 h 2050990"/>
              <a:gd name="connsiteX40" fmla="*/ 1213503 w 2033957"/>
              <a:gd name="connsiteY40" fmla="*/ 145278 h 2050990"/>
              <a:gd name="connsiteX41" fmla="*/ 1281869 w 2033957"/>
              <a:gd name="connsiteY41" fmla="*/ 170916 h 2050990"/>
              <a:gd name="connsiteX42" fmla="*/ 1350236 w 2033957"/>
              <a:gd name="connsiteY42" fmla="*/ 213645 h 2050990"/>
              <a:gd name="connsiteX43" fmla="*/ 1375873 w 2033957"/>
              <a:gd name="connsiteY43" fmla="*/ 222190 h 2050990"/>
              <a:gd name="connsiteX44" fmla="*/ 1435693 w 2033957"/>
              <a:gd name="connsiteY44" fmla="*/ 264919 h 2050990"/>
              <a:gd name="connsiteX45" fmla="*/ 1461331 w 2033957"/>
              <a:gd name="connsiteY45" fmla="*/ 307648 h 2050990"/>
              <a:gd name="connsiteX46" fmla="*/ 1504060 w 2033957"/>
              <a:gd name="connsiteY46" fmla="*/ 401652 h 2050990"/>
              <a:gd name="connsiteX47" fmla="*/ 1521151 w 2033957"/>
              <a:gd name="connsiteY47" fmla="*/ 427290 h 2050990"/>
              <a:gd name="connsiteX48" fmla="*/ 1580972 w 2033957"/>
              <a:gd name="connsiteY48" fmla="*/ 487110 h 2050990"/>
              <a:gd name="connsiteX49" fmla="*/ 1598064 w 2033957"/>
              <a:gd name="connsiteY49" fmla="*/ 521293 h 2050990"/>
              <a:gd name="connsiteX50" fmla="*/ 1649338 w 2033957"/>
              <a:gd name="connsiteY50" fmla="*/ 555476 h 2050990"/>
              <a:gd name="connsiteX51" fmla="*/ 1674976 w 2033957"/>
              <a:gd name="connsiteY51" fmla="*/ 581114 h 2050990"/>
              <a:gd name="connsiteX52" fmla="*/ 1700613 w 2033957"/>
              <a:gd name="connsiteY52" fmla="*/ 649480 h 2050990"/>
              <a:gd name="connsiteX53" fmla="*/ 1717705 w 2033957"/>
              <a:gd name="connsiteY53" fmla="*/ 683663 h 2050990"/>
              <a:gd name="connsiteX54" fmla="*/ 1726251 w 2033957"/>
              <a:gd name="connsiteY54" fmla="*/ 709301 h 2050990"/>
              <a:gd name="connsiteX55" fmla="*/ 1828800 w 2033957"/>
              <a:gd name="connsiteY55" fmla="*/ 854579 h 2050990"/>
              <a:gd name="connsiteX56" fmla="*/ 1837346 w 2033957"/>
              <a:gd name="connsiteY56" fmla="*/ 991312 h 2050990"/>
              <a:gd name="connsiteX57" fmla="*/ 1897166 w 2033957"/>
              <a:gd name="connsiteY57" fmla="*/ 1076770 h 2050990"/>
              <a:gd name="connsiteX58" fmla="*/ 1931350 w 2033957"/>
              <a:gd name="connsiteY58" fmla="*/ 1136590 h 2050990"/>
              <a:gd name="connsiteX59" fmla="*/ 1939895 w 2033957"/>
              <a:gd name="connsiteY59" fmla="*/ 1170774 h 2050990"/>
              <a:gd name="connsiteX60" fmla="*/ 1974079 w 2033957"/>
              <a:gd name="connsiteY60" fmla="*/ 1247686 h 2050990"/>
              <a:gd name="connsiteX61" fmla="*/ 1991170 w 2033957"/>
              <a:gd name="connsiteY61" fmla="*/ 1273323 h 2050990"/>
              <a:gd name="connsiteX62" fmla="*/ 1999716 w 2033957"/>
              <a:gd name="connsiteY62" fmla="*/ 1324598 h 2050990"/>
              <a:gd name="connsiteX63" fmla="*/ 2008262 w 2033957"/>
              <a:gd name="connsiteY63" fmla="*/ 1350235 h 2050990"/>
              <a:gd name="connsiteX64" fmla="*/ 2025353 w 2033957"/>
              <a:gd name="connsiteY64" fmla="*/ 1410056 h 2050990"/>
              <a:gd name="connsiteX65" fmla="*/ 1991170 w 2033957"/>
              <a:gd name="connsiteY65" fmla="*/ 1563880 h 2050990"/>
              <a:gd name="connsiteX66" fmla="*/ 1974079 w 2033957"/>
              <a:gd name="connsiteY66" fmla="*/ 1598063 h 2050990"/>
              <a:gd name="connsiteX67" fmla="*/ 1939895 w 2033957"/>
              <a:gd name="connsiteY67" fmla="*/ 1649338 h 2050990"/>
              <a:gd name="connsiteX68" fmla="*/ 1931350 w 2033957"/>
              <a:gd name="connsiteY68" fmla="*/ 1786071 h 2050990"/>
              <a:gd name="connsiteX69" fmla="*/ 1922804 w 2033957"/>
              <a:gd name="connsiteY69" fmla="*/ 1820254 h 2050990"/>
              <a:gd name="connsiteX70" fmla="*/ 1897166 w 2033957"/>
              <a:gd name="connsiteY70" fmla="*/ 1862983 h 2050990"/>
              <a:gd name="connsiteX71" fmla="*/ 1888621 w 2033957"/>
              <a:gd name="connsiteY71" fmla="*/ 1905712 h 2050990"/>
              <a:gd name="connsiteX72" fmla="*/ 1820254 w 2033957"/>
              <a:gd name="connsiteY72" fmla="*/ 1948441 h 2050990"/>
              <a:gd name="connsiteX73" fmla="*/ 1794617 w 2033957"/>
              <a:gd name="connsiteY73" fmla="*/ 1965533 h 2050990"/>
              <a:gd name="connsiteX74" fmla="*/ 1768979 w 2033957"/>
              <a:gd name="connsiteY74" fmla="*/ 1991170 h 2050990"/>
              <a:gd name="connsiteX75" fmla="*/ 1734796 w 2033957"/>
              <a:gd name="connsiteY75" fmla="*/ 2008261 h 2050990"/>
              <a:gd name="connsiteX76" fmla="*/ 1666430 w 2033957"/>
              <a:gd name="connsiteY76" fmla="*/ 2042445 h 2050990"/>
              <a:gd name="connsiteX77" fmla="*/ 1580972 w 2033957"/>
              <a:gd name="connsiteY77" fmla="*/ 2050990 h 2050990"/>
              <a:gd name="connsiteX78" fmla="*/ 1350236 w 2033957"/>
              <a:gd name="connsiteY78" fmla="*/ 2042445 h 2050990"/>
              <a:gd name="connsiteX79" fmla="*/ 1290415 w 2033957"/>
              <a:gd name="connsiteY79" fmla="*/ 2033899 h 2050990"/>
              <a:gd name="connsiteX80" fmla="*/ 897308 w 2033957"/>
              <a:gd name="connsiteY80" fmla="*/ 2016807 h 2050990"/>
              <a:gd name="connsiteX81" fmla="*/ 854579 w 2033957"/>
              <a:gd name="connsiteY81" fmla="*/ 1999716 h 2050990"/>
              <a:gd name="connsiteX82" fmla="*/ 820396 w 2033957"/>
              <a:gd name="connsiteY82" fmla="*/ 1991170 h 2050990"/>
              <a:gd name="connsiteX83" fmla="*/ 632389 w 2033957"/>
              <a:gd name="connsiteY83" fmla="*/ 1974078 h 2050990"/>
              <a:gd name="connsiteX84" fmla="*/ 512748 w 2033957"/>
              <a:gd name="connsiteY84" fmla="*/ 1905712 h 2050990"/>
              <a:gd name="connsiteX85" fmla="*/ 452927 w 2033957"/>
              <a:gd name="connsiteY85" fmla="*/ 1897166 h 2050990"/>
              <a:gd name="connsiteX86" fmla="*/ 427290 w 2033957"/>
              <a:gd name="connsiteY86" fmla="*/ 1888620 h 2050990"/>
              <a:gd name="connsiteX87" fmla="*/ 384561 w 2033957"/>
              <a:gd name="connsiteY87" fmla="*/ 1871529 h 2050990"/>
              <a:gd name="connsiteX88" fmla="*/ 264920 w 2033957"/>
              <a:gd name="connsiteY88" fmla="*/ 1854437 h 2050990"/>
              <a:gd name="connsiteX89" fmla="*/ 247828 w 2033957"/>
              <a:gd name="connsiteY89" fmla="*/ 1828800 h 2050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033957" h="2050990">
                <a:moveTo>
                  <a:pt x="247828" y="1828800"/>
                </a:moveTo>
                <a:cubicBezTo>
                  <a:pt x="240707" y="1821679"/>
                  <a:pt x="229454" y="1818971"/>
                  <a:pt x="222191" y="1811708"/>
                </a:cubicBezTo>
                <a:cubicBezTo>
                  <a:pt x="207875" y="1797392"/>
                  <a:pt x="179055" y="1751074"/>
                  <a:pt x="170916" y="1734796"/>
                </a:cubicBezTo>
                <a:cubicBezTo>
                  <a:pt x="135533" y="1664029"/>
                  <a:pt x="194263" y="1757001"/>
                  <a:pt x="145279" y="1683521"/>
                </a:cubicBezTo>
                <a:cubicBezTo>
                  <a:pt x="120495" y="1584389"/>
                  <a:pt x="155894" y="1734945"/>
                  <a:pt x="128187" y="1504060"/>
                </a:cubicBezTo>
                <a:cubicBezTo>
                  <a:pt x="125388" y="1480737"/>
                  <a:pt x="111095" y="1435693"/>
                  <a:pt x="111095" y="1435693"/>
                </a:cubicBezTo>
                <a:cubicBezTo>
                  <a:pt x="108247" y="1373024"/>
                  <a:pt x="112863" y="1309566"/>
                  <a:pt x="102550" y="1247686"/>
                </a:cubicBezTo>
                <a:cubicBezTo>
                  <a:pt x="97598" y="1217973"/>
                  <a:pt x="57576" y="1166283"/>
                  <a:pt x="42729" y="1136590"/>
                </a:cubicBezTo>
                <a:cubicBezTo>
                  <a:pt x="33969" y="1119070"/>
                  <a:pt x="28888" y="1084478"/>
                  <a:pt x="25637" y="1068224"/>
                </a:cubicBezTo>
                <a:cubicBezTo>
                  <a:pt x="22789" y="1011252"/>
                  <a:pt x="22033" y="954137"/>
                  <a:pt x="17092" y="897308"/>
                </a:cubicBezTo>
                <a:cubicBezTo>
                  <a:pt x="16312" y="888334"/>
                  <a:pt x="11021" y="880332"/>
                  <a:pt x="8546" y="871671"/>
                </a:cubicBezTo>
                <a:cubicBezTo>
                  <a:pt x="5319" y="860378"/>
                  <a:pt x="2849" y="848882"/>
                  <a:pt x="0" y="837488"/>
                </a:cubicBezTo>
                <a:cubicBezTo>
                  <a:pt x="20182" y="756762"/>
                  <a:pt x="6587" y="790132"/>
                  <a:pt x="34183" y="734938"/>
                </a:cubicBezTo>
                <a:cubicBezTo>
                  <a:pt x="36859" y="705504"/>
                  <a:pt x="37686" y="642989"/>
                  <a:pt x="51275" y="606751"/>
                </a:cubicBezTo>
                <a:cubicBezTo>
                  <a:pt x="55748" y="594823"/>
                  <a:pt x="62669" y="583962"/>
                  <a:pt x="68366" y="572568"/>
                </a:cubicBezTo>
                <a:cubicBezTo>
                  <a:pt x="71215" y="546931"/>
                  <a:pt x="68755" y="520127"/>
                  <a:pt x="76912" y="495656"/>
                </a:cubicBezTo>
                <a:cubicBezTo>
                  <a:pt x="80734" y="484190"/>
                  <a:pt x="93265" y="477755"/>
                  <a:pt x="102550" y="470018"/>
                </a:cubicBezTo>
                <a:cubicBezTo>
                  <a:pt x="110440" y="463443"/>
                  <a:pt x="118802" y="457098"/>
                  <a:pt x="128187" y="452927"/>
                </a:cubicBezTo>
                <a:cubicBezTo>
                  <a:pt x="154944" y="441035"/>
                  <a:pt x="185231" y="434393"/>
                  <a:pt x="213645" y="427290"/>
                </a:cubicBezTo>
                <a:cubicBezTo>
                  <a:pt x="232542" y="408392"/>
                  <a:pt x="244477" y="399808"/>
                  <a:pt x="256374" y="376015"/>
                </a:cubicBezTo>
                <a:cubicBezTo>
                  <a:pt x="260403" y="367958"/>
                  <a:pt x="259684" y="357707"/>
                  <a:pt x="264920" y="350377"/>
                </a:cubicBezTo>
                <a:cubicBezTo>
                  <a:pt x="274286" y="337264"/>
                  <a:pt x="287709" y="327588"/>
                  <a:pt x="299103" y="316194"/>
                </a:cubicBezTo>
                <a:lnTo>
                  <a:pt x="316194" y="264919"/>
                </a:lnTo>
                <a:cubicBezTo>
                  <a:pt x="323144" y="244067"/>
                  <a:pt x="325266" y="230211"/>
                  <a:pt x="341832" y="213645"/>
                </a:cubicBezTo>
                <a:cubicBezTo>
                  <a:pt x="351903" y="203574"/>
                  <a:pt x="364425" y="196286"/>
                  <a:pt x="376015" y="188007"/>
                </a:cubicBezTo>
                <a:cubicBezTo>
                  <a:pt x="384372" y="182037"/>
                  <a:pt x="392267" y="175087"/>
                  <a:pt x="401652" y="170916"/>
                </a:cubicBezTo>
                <a:cubicBezTo>
                  <a:pt x="418115" y="163599"/>
                  <a:pt x="452927" y="153824"/>
                  <a:pt x="452927" y="153824"/>
                </a:cubicBezTo>
                <a:cubicBezTo>
                  <a:pt x="455776" y="145278"/>
                  <a:pt x="455103" y="134557"/>
                  <a:pt x="461473" y="128187"/>
                </a:cubicBezTo>
                <a:cubicBezTo>
                  <a:pt x="489321" y="100339"/>
                  <a:pt x="526954" y="86179"/>
                  <a:pt x="564022" y="76912"/>
                </a:cubicBezTo>
                <a:cubicBezTo>
                  <a:pt x="575417" y="74063"/>
                  <a:pt x="586956" y="71741"/>
                  <a:pt x="598206" y="68366"/>
                </a:cubicBezTo>
                <a:cubicBezTo>
                  <a:pt x="615462" y="63189"/>
                  <a:pt x="632389" y="56972"/>
                  <a:pt x="649480" y="51275"/>
                </a:cubicBezTo>
                <a:lnTo>
                  <a:pt x="726393" y="25637"/>
                </a:lnTo>
                <a:lnTo>
                  <a:pt x="777667" y="8546"/>
                </a:lnTo>
                <a:lnTo>
                  <a:pt x="820396" y="0"/>
                </a:lnTo>
                <a:cubicBezTo>
                  <a:pt x="848882" y="2849"/>
                  <a:pt x="877782" y="2932"/>
                  <a:pt x="905854" y="8546"/>
                </a:cubicBezTo>
                <a:cubicBezTo>
                  <a:pt x="950687" y="17513"/>
                  <a:pt x="942938" y="29453"/>
                  <a:pt x="982766" y="42729"/>
                </a:cubicBezTo>
                <a:cubicBezTo>
                  <a:pt x="996546" y="47322"/>
                  <a:pt x="1011252" y="48426"/>
                  <a:pt x="1025495" y="51275"/>
                </a:cubicBezTo>
                <a:cubicBezTo>
                  <a:pt x="1042587" y="59821"/>
                  <a:pt x="1058811" y="70382"/>
                  <a:pt x="1076770" y="76912"/>
                </a:cubicBezTo>
                <a:cubicBezTo>
                  <a:pt x="1090421" y="81876"/>
                  <a:pt x="1105586" y="81284"/>
                  <a:pt x="1119499" y="85458"/>
                </a:cubicBezTo>
                <a:cubicBezTo>
                  <a:pt x="1134192" y="89866"/>
                  <a:pt x="1147985" y="96852"/>
                  <a:pt x="1162228" y="102549"/>
                </a:cubicBezTo>
                <a:cubicBezTo>
                  <a:pt x="1181131" y="121453"/>
                  <a:pt x="1189704" y="133378"/>
                  <a:pt x="1213503" y="145278"/>
                </a:cubicBezTo>
                <a:cubicBezTo>
                  <a:pt x="1284321" y="180686"/>
                  <a:pt x="1230096" y="148728"/>
                  <a:pt x="1281869" y="170916"/>
                </a:cubicBezTo>
                <a:cubicBezTo>
                  <a:pt x="1354949" y="202236"/>
                  <a:pt x="1276615" y="171577"/>
                  <a:pt x="1350236" y="213645"/>
                </a:cubicBezTo>
                <a:cubicBezTo>
                  <a:pt x="1358057" y="218114"/>
                  <a:pt x="1367327" y="219342"/>
                  <a:pt x="1375873" y="222190"/>
                </a:cubicBezTo>
                <a:cubicBezTo>
                  <a:pt x="1388135" y="230365"/>
                  <a:pt x="1428275" y="256442"/>
                  <a:pt x="1435693" y="264919"/>
                </a:cubicBezTo>
                <a:cubicBezTo>
                  <a:pt x="1446631" y="277419"/>
                  <a:pt x="1452785" y="293405"/>
                  <a:pt x="1461331" y="307648"/>
                </a:cubicBezTo>
                <a:cubicBezTo>
                  <a:pt x="1473906" y="370521"/>
                  <a:pt x="1461820" y="338290"/>
                  <a:pt x="1504060" y="401652"/>
                </a:cubicBezTo>
                <a:cubicBezTo>
                  <a:pt x="1509757" y="410198"/>
                  <a:pt x="1513888" y="420027"/>
                  <a:pt x="1521151" y="427290"/>
                </a:cubicBezTo>
                <a:cubicBezTo>
                  <a:pt x="1541091" y="447230"/>
                  <a:pt x="1568360" y="461888"/>
                  <a:pt x="1580972" y="487110"/>
                </a:cubicBezTo>
                <a:cubicBezTo>
                  <a:pt x="1586669" y="498504"/>
                  <a:pt x="1589056" y="512285"/>
                  <a:pt x="1598064" y="521293"/>
                </a:cubicBezTo>
                <a:cubicBezTo>
                  <a:pt x="1612589" y="535818"/>
                  <a:pt x="1633124" y="542865"/>
                  <a:pt x="1649338" y="555476"/>
                </a:cubicBezTo>
                <a:cubicBezTo>
                  <a:pt x="1658878" y="562896"/>
                  <a:pt x="1666430" y="572568"/>
                  <a:pt x="1674976" y="581114"/>
                </a:cubicBezTo>
                <a:cubicBezTo>
                  <a:pt x="1684371" y="609298"/>
                  <a:pt x="1686992" y="618833"/>
                  <a:pt x="1700613" y="649480"/>
                </a:cubicBezTo>
                <a:cubicBezTo>
                  <a:pt x="1705787" y="661121"/>
                  <a:pt x="1712687" y="671954"/>
                  <a:pt x="1717705" y="683663"/>
                </a:cubicBezTo>
                <a:cubicBezTo>
                  <a:pt x="1721254" y="691943"/>
                  <a:pt x="1721015" y="701971"/>
                  <a:pt x="1726251" y="709301"/>
                </a:cubicBezTo>
                <a:cubicBezTo>
                  <a:pt x="1841637" y="870841"/>
                  <a:pt x="1772610" y="742196"/>
                  <a:pt x="1828800" y="854579"/>
                </a:cubicBezTo>
                <a:cubicBezTo>
                  <a:pt x="1831649" y="900157"/>
                  <a:pt x="1828801" y="946452"/>
                  <a:pt x="1837346" y="991312"/>
                </a:cubicBezTo>
                <a:cubicBezTo>
                  <a:pt x="1841608" y="1013686"/>
                  <a:pt x="1886385" y="1060598"/>
                  <a:pt x="1897166" y="1076770"/>
                </a:cubicBezTo>
                <a:cubicBezTo>
                  <a:pt x="1909905" y="1095879"/>
                  <a:pt x="1919955" y="1116650"/>
                  <a:pt x="1931350" y="1136590"/>
                </a:cubicBezTo>
                <a:cubicBezTo>
                  <a:pt x="1934198" y="1147985"/>
                  <a:pt x="1936181" y="1159631"/>
                  <a:pt x="1939895" y="1170774"/>
                </a:cubicBezTo>
                <a:cubicBezTo>
                  <a:pt x="1947220" y="1192750"/>
                  <a:pt x="1962166" y="1226839"/>
                  <a:pt x="1974079" y="1247686"/>
                </a:cubicBezTo>
                <a:cubicBezTo>
                  <a:pt x="1979175" y="1256603"/>
                  <a:pt x="1985473" y="1264777"/>
                  <a:pt x="1991170" y="1273323"/>
                </a:cubicBezTo>
                <a:cubicBezTo>
                  <a:pt x="1994019" y="1290415"/>
                  <a:pt x="1995957" y="1307683"/>
                  <a:pt x="1999716" y="1324598"/>
                </a:cubicBezTo>
                <a:cubicBezTo>
                  <a:pt x="2001670" y="1333391"/>
                  <a:pt x="2005787" y="1341574"/>
                  <a:pt x="2008262" y="1350235"/>
                </a:cubicBezTo>
                <a:cubicBezTo>
                  <a:pt x="2029734" y="1425384"/>
                  <a:pt x="2004856" y="1348559"/>
                  <a:pt x="2025353" y="1410056"/>
                </a:cubicBezTo>
                <a:cubicBezTo>
                  <a:pt x="1999421" y="1604553"/>
                  <a:pt x="2033957" y="1489003"/>
                  <a:pt x="1991170" y="1563880"/>
                </a:cubicBezTo>
                <a:cubicBezTo>
                  <a:pt x="1984850" y="1574941"/>
                  <a:pt x="1980633" y="1587139"/>
                  <a:pt x="1974079" y="1598063"/>
                </a:cubicBezTo>
                <a:cubicBezTo>
                  <a:pt x="1963510" y="1615677"/>
                  <a:pt x="1939895" y="1649338"/>
                  <a:pt x="1939895" y="1649338"/>
                </a:cubicBezTo>
                <a:cubicBezTo>
                  <a:pt x="1937047" y="1694916"/>
                  <a:pt x="1935894" y="1740631"/>
                  <a:pt x="1931350" y="1786071"/>
                </a:cubicBezTo>
                <a:cubicBezTo>
                  <a:pt x="1930181" y="1797758"/>
                  <a:pt x="1927574" y="1809521"/>
                  <a:pt x="1922804" y="1820254"/>
                </a:cubicBezTo>
                <a:cubicBezTo>
                  <a:pt x="1916058" y="1835432"/>
                  <a:pt x="1905712" y="1848740"/>
                  <a:pt x="1897166" y="1862983"/>
                </a:cubicBezTo>
                <a:cubicBezTo>
                  <a:pt x="1894318" y="1877226"/>
                  <a:pt x="1895117" y="1892720"/>
                  <a:pt x="1888621" y="1905712"/>
                </a:cubicBezTo>
                <a:cubicBezTo>
                  <a:pt x="1873627" y="1935701"/>
                  <a:pt x="1846926" y="1935105"/>
                  <a:pt x="1820254" y="1948441"/>
                </a:cubicBezTo>
                <a:cubicBezTo>
                  <a:pt x="1811068" y="1953034"/>
                  <a:pt x="1802507" y="1958958"/>
                  <a:pt x="1794617" y="1965533"/>
                </a:cubicBezTo>
                <a:cubicBezTo>
                  <a:pt x="1785333" y="1973270"/>
                  <a:pt x="1778814" y="1984146"/>
                  <a:pt x="1768979" y="1991170"/>
                </a:cubicBezTo>
                <a:cubicBezTo>
                  <a:pt x="1758613" y="1998574"/>
                  <a:pt x="1745932" y="2002074"/>
                  <a:pt x="1734796" y="2008261"/>
                </a:cubicBezTo>
                <a:cubicBezTo>
                  <a:pt x="1712867" y="2020444"/>
                  <a:pt x="1692356" y="2038457"/>
                  <a:pt x="1666430" y="2042445"/>
                </a:cubicBezTo>
                <a:cubicBezTo>
                  <a:pt x="1638135" y="2046798"/>
                  <a:pt x="1609458" y="2048142"/>
                  <a:pt x="1580972" y="2050990"/>
                </a:cubicBezTo>
                <a:cubicBezTo>
                  <a:pt x="1504060" y="2048142"/>
                  <a:pt x="1427068" y="2046964"/>
                  <a:pt x="1350236" y="2042445"/>
                </a:cubicBezTo>
                <a:cubicBezTo>
                  <a:pt x="1330128" y="2041262"/>
                  <a:pt x="1310526" y="2035037"/>
                  <a:pt x="1290415" y="2033899"/>
                </a:cubicBezTo>
                <a:cubicBezTo>
                  <a:pt x="1159465" y="2026487"/>
                  <a:pt x="1028344" y="2022504"/>
                  <a:pt x="897308" y="2016807"/>
                </a:cubicBezTo>
                <a:cubicBezTo>
                  <a:pt x="883065" y="2011110"/>
                  <a:pt x="869132" y="2004567"/>
                  <a:pt x="854579" y="1999716"/>
                </a:cubicBezTo>
                <a:cubicBezTo>
                  <a:pt x="843437" y="1996002"/>
                  <a:pt x="831913" y="1993473"/>
                  <a:pt x="820396" y="1991170"/>
                </a:cubicBezTo>
                <a:cubicBezTo>
                  <a:pt x="747426" y="1976576"/>
                  <a:pt x="724876" y="1979859"/>
                  <a:pt x="632389" y="1974078"/>
                </a:cubicBezTo>
                <a:cubicBezTo>
                  <a:pt x="598560" y="1948706"/>
                  <a:pt x="553182" y="1911488"/>
                  <a:pt x="512748" y="1905712"/>
                </a:cubicBezTo>
                <a:lnTo>
                  <a:pt x="452927" y="1897166"/>
                </a:lnTo>
                <a:cubicBezTo>
                  <a:pt x="444381" y="1894317"/>
                  <a:pt x="435724" y="1891783"/>
                  <a:pt x="427290" y="1888620"/>
                </a:cubicBezTo>
                <a:cubicBezTo>
                  <a:pt x="412927" y="1883234"/>
                  <a:pt x="399254" y="1875937"/>
                  <a:pt x="384561" y="1871529"/>
                </a:cubicBezTo>
                <a:cubicBezTo>
                  <a:pt x="352548" y="1861925"/>
                  <a:pt x="292317" y="1857481"/>
                  <a:pt x="264920" y="1854437"/>
                </a:cubicBezTo>
                <a:cubicBezTo>
                  <a:pt x="231175" y="1843189"/>
                  <a:pt x="254949" y="1835921"/>
                  <a:pt x="247828" y="1828800"/>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rot="5400000">
            <a:off x="5038578" y="4693680"/>
            <a:ext cx="417102" cy="630942"/>
          </a:xfrm>
          <a:prstGeom prst="rect">
            <a:avLst/>
          </a:prstGeom>
          <a:noFill/>
        </p:spPr>
        <p:txBody>
          <a:bodyPr wrap="none" rtlCol="0">
            <a:spAutoFit/>
          </a:bodyPr>
          <a:lstStyle/>
          <a:p>
            <a:r>
              <a:rPr lang="en-US" sz="3500" dirty="0" smtClean="0">
                <a:solidFill>
                  <a:srgbClr val="FF0000"/>
                </a:solidFill>
              </a:rPr>
              <a:t>X</a:t>
            </a:r>
            <a:endParaRPr lang="en-US" sz="3500" dirty="0">
              <a:solidFill>
                <a:srgbClr val="FF0000"/>
              </a:solidFill>
            </a:endParaRPr>
          </a:p>
        </p:txBody>
      </p:sp>
      <p:sp>
        <p:nvSpPr>
          <p:cNvPr id="21" name="Slide Number Placeholder 20"/>
          <p:cNvSpPr>
            <a:spLocks noGrp="1"/>
          </p:cNvSpPr>
          <p:nvPr>
            <p:ph type="sldNum" sz="quarter" idx="12"/>
          </p:nvPr>
        </p:nvSpPr>
        <p:spPr/>
        <p:txBody>
          <a:bodyPr/>
          <a:lstStyle/>
          <a:p>
            <a:fld id="{B6F15528-21DE-4FAA-801E-634DDDAF4B2B}" type="slidenum">
              <a:rPr lang="en-US" smtClean="0"/>
              <a:pPr/>
              <a:t>13</a:t>
            </a:fld>
            <a:endParaRPr lang="en-US"/>
          </a:p>
        </p:txBody>
      </p:sp>
      <p:sp>
        <p:nvSpPr>
          <p:cNvPr id="23" name="Rectangle 22"/>
          <p:cNvSpPr/>
          <p:nvPr/>
        </p:nvSpPr>
        <p:spPr>
          <a:xfrm>
            <a:off x="5181600" y="5105400"/>
            <a:ext cx="946638" cy="354650"/>
          </a:xfrm>
          <a:prstGeom prst="rect">
            <a:avLst/>
          </a:prstGeom>
          <a:solidFill>
            <a:schemeClr val="accent3"/>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Port:   *</a:t>
            </a:r>
          </a:p>
          <a:p>
            <a:pPr algn="ctr"/>
            <a:r>
              <a:rPr lang="en-US" sz="1200" b="1" dirty="0" err="1" smtClean="0">
                <a:solidFill>
                  <a:srgbClr val="7030A0"/>
                </a:solidFill>
              </a:rPr>
              <a:t>Dst</a:t>
            </a:r>
            <a:r>
              <a:rPr lang="en-US" sz="1200" b="1" dirty="0" smtClean="0">
                <a:solidFill>
                  <a:srgbClr val="7030A0"/>
                </a:solidFill>
              </a:rPr>
              <a:t> Port: 25</a:t>
            </a:r>
            <a:endParaRPr lang="en-US" sz="1200" b="1" dirty="0">
              <a:solidFill>
                <a:srgbClr val="7030A0"/>
              </a:solidFill>
            </a:endParaRPr>
          </a:p>
        </p:txBody>
      </p:sp>
      <p:sp>
        <p:nvSpPr>
          <p:cNvPr id="24" name="Rectangle 23"/>
          <p:cNvSpPr/>
          <p:nvPr/>
        </p:nvSpPr>
        <p:spPr>
          <a:xfrm>
            <a:off x="2716824" y="5943600"/>
            <a:ext cx="861016" cy="354650"/>
          </a:xfrm>
          <a:prstGeom prst="rect">
            <a:avLst/>
          </a:prstGeom>
          <a:solidFill>
            <a:schemeClr val="accent3"/>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Port: *</a:t>
            </a:r>
          </a:p>
          <a:p>
            <a:pPr algn="ctr"/>
            <a:r>
              <a:rPr lang="en-US" sz="1200" b="1" dirty="0" err="1" smtClean="0">
                <a:solidFill>
                  <a:srgbClr val="7030A0"/>
                </a:solidFill>
              </a:rPr>
              <a:t>Dst</a:t>
            </a:r>
            <a:r>
              <a:rPr lang="en-US" sz="1200" b="1" dirty="0" smtClean="0">
                <a:solidFill>
                  <a:srgbClr val="7030A0"/>
                </a:solidFill>
              </a:rPr>
              <a:t> Port: *</a:t>
            </a:r>
            <a:endParaRPr lang="en-US" sz="1200" b="1" dirty="0">
              <a:solidFill>
                <a:srgbClr val="7030A0"/>
              </a:solidFill>
            </a:endParaRPr>
          </a:p>
        </p:txBody>
      </p:sp>
      <p:sp>
        <p:nvSpPr>
          <p:cNvPr id="25" name="Rectangle 24"/>
          <p:cNvSpPr/>
          <p:nvPr/>
        </p:nvSpPr>
        <p:spPr>
          <a:xfrm>
            <a:off x="3581400" y="3810000"/>
            <a:ext cx="925794" cy="354650"/>
          </a:xfrm>
          <a:prstGeom prst="rect">
            <a:avLst/>
          </a:prstGeom>
          <a:solidFill>
            <a:schemeClr val="accent3"/>
          </a:solidFill>
          <a:ln>
            <a:solidFill>
              <a:schemeClr val="tx1"/>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Port: 25</a:t>
            </a:r>
          </a:p>
          <a:p>
            <a:pPr algn="ctr"/>
            <a:r>
              <a:rPr lang="en-US" sz="1200" b="1" dirty="0" err="1" smtClean="0">
                <a:solidFill>
                  <a:srgbClr val="7030A0"/>
                </a:solidFill>
              </a:rPr>
              <a:t>Dst</a:t>
            </a:r>
            <a:r>
              <a:rPr lang="en-US" sz="1200" b="1" dirty="0" smtClean="0">
                <a:solidFill>
                  <a:srgbClr val="7030A0"/>
                </a:solidFill>
              </a:rPr>
              <a:t> Port:   *    </a:t>
            </a:r>
            <a:endParaRPr lang="en-US" sz="1200"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0" presetClass="path" presetSubtype="0" accel="50000" decel="50000" fill="hold" grpId="0" nodeType="withEffect">
                                  <p:stCondLst>
                                    <p:cond delay="0"/>
                                  </p:stCondLst>
                                  <p:childTnLst>
                                    <p:animMotion origin="layout" path="M -8.33333E-7 -4.44136E-6 L -0.02969 -0.04788 " pathEditMode="relative" rAng="0" ptsTypes="AA">
                                      <p:cBhvr>
                                        <p:cTn id="8" dur="1000" fill="hold"/>
                                        <p:tgtEl>
                                          <p:spTgt spid="5"/>
                                        </p:tgtEl>
                                        <p:attrNameLst>
                                          <p:attrName>ppt_x</p:attrName>
                                          <p:attrName>ppt_y</p:attrName>
                                        </p:attrNameLst>
                                      </p:cBhvr>
                                      <p:rCtr x="-15" y="-24"/>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0" presetClass="exit" presetSubtype="0" fill="hold" grpId="2" nodeType="withEffect">
                                  <p:stCondLst>
                                    <p:cond delay="0"/>
                                  </p:stCondLst>
                                  <p:childTnLst>
                                    <p:animEffect transition="out" filter="fade">
                                      <p:cBhvr>
                                        <p:cTn id="14" dur="2000"/>
                                        <p:tgtEl>
                                          <p:spTgt spid="5"/>
                                        </p:tgtEl>
                                      </p:cBhvr>
                                    </p:animEffect>
                                    <p:set>
                                      <p:cBhvr>
                                        <p:cTn id="15" dur="1" fill="hold">
                                          <p:stCondLst>
                                            <p:cond delay="19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14"/>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10"/>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grpId="0" nodeType="clickEffect">
                                  <p:stCondLst>
                                    <p:cond delay="0"/>
                                  </p:stCondLst>
                                  <p:childTnLst>
                                    <p:animMotion origin="layout" path="M -5.83333E-6 -1.8737E-7 L -0.10834 -0.17765 " pathEditMode="relative" ptsTypes="AA">
                                      <p:cBhvr>
                                        <p:cTn id="29" dur="1000" fill="hold"/>
                                        <p:tgtEl>
                                          <p:spTgt spid="23"/>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2000"/>
                                        <p:tgtEl>
                                          <p:spTgt spid="12"/>
                                        </p:tgtEl>
                                      </p:cBhvr>
                                    </p:animEffect>
                                    <p:set>
                                      <p:cBhvr>
                                        <p:cTn id="34" dur="1" fill="hold">
                                          <p:stCondLst>
                                            <p:cond delay="1999"/>
                                          </p:stCondLst>
                                        </p:cTn>
                                        <p:tgtEl>
                                          <p:spTgt spid="12"/>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2000"/>
                                        <p:tgtEl>
                                          <p:spTgt spid="3075"/>
                                        </p:tgtEl>
                                      </p:cBhvr>
                                    </p:animEffect>
                                    <p:set>
                                      <p:cBhvr>
                                        <p:cTn id="37" dur="1" fill="hold">
                                          <p:stCondLst>
                                            <p:cond delay="1999"/>
                                          </p:stCondLst>
                                        </p:cTn>
                                        <p:tgtEl>
                                          <p:spTgt spid="307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1" nodeType="clickEffect">
                                  <p:stCondLst>
                                    <p:cond delay="0"/>
                                  </p:stCondLst>
                                  <p:childTnLst>
                                    <p:set>
                                      <p:cBhvr>
                                        <p:cTn id="41" dur="1" fill="hold">
                                          <p:stCondLst>
                                            <p:cond delay="0"/>
                                          </p:stCondLst>
                                        </p:cTn>
                                        <p:tgtEl>
                                          <p:spTgt spid="25"/>
                                        </p:tgtEl>
                                        <p:attrNameLst>
                                          <p:attrName>style.visibility</p:attrName>
                                        </p:attrNameLst>
                                      </p:cBhvr>
                                      <p:to>
                                        <p:strVal val="visible"/>
                                      </p:to>
                                    </p:set>
                                  </p:childTnLst>
                                </p:cTn>
                              </p:par>
                              <p:par>
                                <p:cTn id="42" presetID="0" presetClass="path" presetSubtype="0" accel="50000" decel="50000" fill="hold" grpId="0" nodeType="withEffect">
                                  <p:stCondLst>
                                    <p:cond delay="0"/>
                                  </p:stCondLst>
                                  <p:childTnLst>
                                    <p:animMotion origin="layout" path="M 2.5E-6 3.36572E-6 L -0.12136 0.20749 " pathEditMode="relative" rAng="0" ptsTypes="AA">
                                      <p:cBhvr>
                                        <p:cTn id="43" dur="1000" fill="hold"/>
                                        <p:tgtEl>
                                          <p:spTgt spid="25"/>
                                        </p:tgtEl>
                                        <p:attrNameLst>
                                          <p:attrName>ppt_x</p:attrName>
                                          <p:attrName>ppt_y</p:attrName>
                                        </p:attrNameLst>
                                      </p:cBhvr>
                                      <p:rCtr x="-61" y="104"/>
                                    </p:animMotion>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1" nodeType="clickEffect">
                                  <p:stCondLst>
                                    <p:cond delay="0"/>
                                  </p:stCondLst>
                                  <p:childTnLst>
                                    <p:set>
                                      <p:cBhvr>
                                        <p:cTn id="47" dur="1" fill="hold">
                                          <p:stCondLst>
                                            <p:cond delay="0"/>
                                          </p:stCondLst>
                                        </p:cTn>
                                        <p:tgtEl>
                                          <p:spTgt spid="24"/>
                                        </p:tgtEl>
                                        <p:attrNameLst>
                                          <p:attrName>style.visibility</p:attrName>
                                        </p:attrNameLst>
                                      </p:cBhvr>
                                      <p:to>
                                        <p:strVal val="visible"/>
                                      </p:to>
                                    </p:set>
                                  </p:childTnLst>
                                </p:cTn>
                              </p:par>
                              <p:par>
                                <p:cTn id="48" presetID="0" presetClass="path" presetSubtype="0" accel="50000" decel="50000" fill="hold" grpId="0" nodeType="withEffect">
                                  <p:stCondLst>
                                    <p:cond delay="0"/>
                                  </p:stCondLst>
                                  <p:childTnLst>
                                    <p:animMotion origin="layout" path="M 5.55112E-17 -1.83206E-6 L 0.28333 -1.83206E-6 " pathEditMode="relative" rAng="0" ptsTypes="AA">
                                      <p:cBhvr>
                                        <p:cTn id="49" dur="1000" fill="hold"/>
                                        <p:tgtEl>
                                          <p:spTgt spid="24"/>
                                        </p:tgtEl>
                                        <p:attrNameLst>
                                          <p:attrName>ppt_x</p:attrName>
                                          <p:attrName>ppt_y</p:attrName>
                                        </p:attrNameLst>
                                      </p:cBhvr>
                                      <p:rCtr x="142" y="0"/>
                                    </p:animMotion>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14" grpId="0"/>
      <p:bldP spid="14" grpId="1"/>
      <p:bldP spid="23" grpId="0" animBg="1"/>
      <p:bldP spid="23" grpId="1" animBg="1"/>
      <p:bldP spid="24" grpId="0" animBg="1"/>
      <p:bldP spid="24" grpId="1" animBg="1"/>
      <p:bldP spid="25" grpId="0" animBg="1"/>
      <p:bldP spid="25" grpId="1" animBg="1"/>
    </p:bld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 25 blocking experiments</a:t>
            </a:r>
            <a:endParaRPr lang="en-US" dirty="0"/>
          </a:p>
        </p:txBody>
      </p:sp>
      <p:sp>
        <p:nvSpPr>
          <p:cNvPr id="3" name="Content Placeholder 2"/>
          <p:cNvSpPr>
            <a:spLocks noGrp="1"/>
          </p:cNvSpPr>
          <p:nvPr>
            <p:ph idx="1"/>
          </p:nvPr>
        </p:nvSpPr>
        <p:spPr/>
        <p:txBody>
          <a:bodyPr>
            <a:normAutofit/>
          </a:bodyPr>
          <a:lstStyle/>
          <a:p>
            <a:r>
              <a:rPr lang="en-US" dirty="0" smtClean="0">
                <a:solidFill>
                  <a:srgbClr val="00B0F0"/>
                </a:solidFill>
              </a:rPr>
              <a:t>Step 1: </a:t>
            </a:r>
            <a:r>
              <a:rPr lang="en-US" dirty="0" smtClean="0"/>
              <a:t>Obtain candidate network/prefixes that enforce port 25 blocking</a:t>
            </a:r>
          </a:p>
          <a:p>
            <a:pPr lvl="1"/>
            <a:endParaRPr lang="en-US" dirty="0" smtClean="0">
              <a:solidFill>
                <a:srgbClr val="00B0F0"/>
              </a:solidFill>
            </a:endParaRPr>
          </a:p>
          <a:p>
            <a:pPr lvl="1"/>
            <a:endParaRPr lang="en-US" dirty="0" smtClean="0">
              <a:solidFill>
                <a:srgbClr val="00B0F0"/>
              </a:solidFill>
            </a:endParaRPr>
          </a:p>
          <a:p>
            <a:pPr lvl="5"/>
            <a:endParaRPr lang="en-US" dirty="0" smtClean="0">
              <a:solidFill>
                <a:srgbClr val="00B0F0"/>
              </a:solidFill>
            </a:endParaRPr>
          </a:p>
          <a:p>
            <a:r>
              <a:rPr lang="en-US" dirty="0" smtClean="0">
                <a:solidFill>
                  <a:srgbClr val="00B0F0"/>
                </a:solidFill>
              </a:rPr>
              <a:t>Step 2:</a:t>
            </a:r>
            <a:r>
              <a:rPr lang="en-US" dirty="0" smtClean="0"/>
              <a:t> Answer whether they are vulnerable to triangular spamming</a:t>
            </a:r>
          </a:p>
          <a:p>
            <a:endParaRPr lang="en-US" dirty="0" smtClean="0"/>
          </a:p>
          <a:p>
            <a:pPr lvl="1"/>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 25 blocking experiments</a:t>
            </a:r>
            <a:endParaRPr lang="en-US" dirty="0"/>
          </a:p>
        </p:txBody>
      </p:sp>
      <p:sp>
        <p:nvSpPr>
          <p:cNvPr id="3" name="Content Placeholder 2"/>
          <p:cNvSpPr>
            <a:spLocks noGrp="1"/>
          </p:cNvSpPr>
          <p:nvPr>
            <p:ph idx="1"/>
          </p:nvPr>
        </p:nvSpPr>
        <p:spPr/>
        <p:txBody>
          <a:bodyPr>
            <a:normAutofit/>
          </a:bodyPr>
          <a:lstStyle/>
          <a:p>
            <a:r>
              <a:rPr lang="en-US" dirty="0" smtClean="0">
                <a:solidFill>
                  <a:srgbClr val="00B0F0"/>
                </a:solidFill>
              </a:rPr>
              <a:t>Step 1: </a:t>
            </a:r>
            <a:r>
              <a:rPr lang="en-US" dirty="0" smtClean="0"/>
              <a:t>Obtain candidate network/prefixes that enforce port 25 blocking</a:t>
            </a:r>
          </a:p>
          <a:p>
            <a:pPr lvl="1"/>
            <a:r>
              <a:rPr lang="en-US" dirty="0" smtClean="0"/>
              <a:t>Instrument multiple websites</a:t>
            </a:r>
          </a:p>
          <a:p>
            <a:pPr lvl="1"/>
            <a:r>
              <a:rPr lang="en-US" dirty="0" smtClean="0"/>
              <a:t>Verify via active probing</a:t>
            </a:r>
          </a:p>
          <a:p>
            <a:pPr lvl="5"/>
            <a:endParaRPr lang="en-US" dirty="0" smtClean="0"/>
          </a:p>
          <a:p>
            <a:r>
              <a:rPr lang="en-US" dirty="0" smtClean="0">
                <a:solidFill>
                  <a:schemeClr val="bg1">
                    <a:lumMod val="50000"/>
                  </a:schemeClr>
                </a:solidFill>
              </a:rPr>
              <a:t>Step 2: Answer whether they are vulnerable to triangular spamming</a:t>
            </a:r>
          </a:p>
          <a:p>
            <a:endParaRPr lang="en-US" dirty="0" smtClean="0"/>
          </a:p>
          <a:p>
            <a:pPr lvl="1"/>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a:blip r:embed="rId3" cstate="print"/>
          <a:srcRect/>
          <a:stretch>
            <a:fillRect/>
          </a:stretch>
        </p:blipFill>
        <p:spPr bwMode="auto">
          <a:xfrm>
            <a:off x="2895600" y="5181600"/>
            <a:ext cx="4419600" cy="1591805"/>
          </a:xfrm>
          <a:prstGeom prst="rect">
            <a:avLst/>
          </a:prstGeom>
          <a:noFill/>
          <a:ln w="9525">
            <a:noFill/>
            <a:miter lim="800000"/>
            <a:headEnd/>
            <a:tailEnd/>
          </a:ln>
        </p:spPr>
      </p:pic>
      <p:sp>
        <p:nvSpPr>
          <p:cNvPr id="7" name="Rectangle 6"/>
          <p:cNvSpPr/>
          <p:nvPr/>
        </p:nvSpPr>
        <p:spPr>
          <a:xfrm>
            <a:off x="3810000" y="566515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6" name="Rectangle 5"/>
          <p:cNvSpPr/>
          <p:nvPr/>
        </p:nvSpPr>
        <p:spPr>
          <a:xfrm>
            <a:off x="5562600" y="6019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25</a:t>
            </a:r>
            <a:endParaRPr lang="en-US" sz="1200" b="1" dirty="0">
              <a:solidFill>
                <a:srgbClr val="7030A0"/>
              </a:solidFill>
            </a:endParaRPr>
          </a:p>
        </p:txBody>
      </p:sp>
      <p:sp>
        <p:nvSpPr>
          <p:cNvPr id="2" name="Title 1"/>
          <p:cNvSpPr>
            <a:spLocks noGrp="1"/>
          </p:cNvSpPr>
          <p:nvPr>
            <p:ph type="title"/>
          </p:nvPr>
        </p:nvSpPr>
        <p:spPr/>
        <p:txBody>
          <a:bodyPr>
            <a:noAutofit/>
          </a:bodyPr>
          <a:lstStyle/>
          <a:p>
            <a:r>
              <a:rPr lang="en-US" sz="3600" dirty="0" smtClean="0"/>
              <a:t>Step 1: Obtain candidate network/prefixes that enforce port 25 blocking</a:t>
            </a:r>
            <a:endParaRPr lang="en-US" sz="3600" dirty="0"/>
          </a:p>
        </p:txBody>
      </p:sp>
      <p:sp>
        <p:nvSpPr>
          <p:cNvPr id="3" name="Content Placeholder 2"/>
          <p:cNvSpPr>
            <a:spLocks noGrp="1"/>
          </p:cNvSpPr>
          <p:nvPr>
            <p:ph idx="1"/>
          </p:nvPr>
        </p:nvSpPr>
        <p:spPr>
          <a:xfrm>
            <a:off x="457200" y="1600200"/>
            <a:ext cx="8229600" cy="3733799"/>
          </a:xfrm>
        </p:spPr>
        <p:txBody>
          <a:bodyPr>
            <a:normAutofit/>
          </a:bodyPr>
          <a:lstStyle/>
          <a:p>
            <a:r>
              <a:rPr lang="en-US" sz="2500" dirty="0" smtClean="0"/>
              <a:t>Inserted a flash script in educational websites in US and China for two months</a:t>
            </a:r>
          </a:p>
          <a:p>
            <a:pPr lvl="1"/>
            <a:r>
              <a:rPr lang="en-US" sz="2100" dirty="0" smtClean="0"/>
              <a:t>Flash script: try to connect to our server on port 25</a:t>
            </a:r>
          </a:p>
          <a:p>
            <a:pPr lvl="1"/>
            <a:r>
              <a:rPr lang="en-US" sz="2100" dirty="0" smtClean="0"/>
              <a:t>If connection unsuccessful, two possible reasons: </a:t>
            </a:r>
          </a:p>
          <a:p>
            <a:pPr lvl="1">
              <a:buNone/>
            </a:pPr>
            <a:r>
              <a:rPr lang="en-US" sz="2100" dirty="0" smtClean="0"/>
              <a:t>	1) host firewall blocking</a:t>
            </a:r>
          </a:p>
          <a:p>
            <a:pPr lvl="1">
              <a:buNone/>
            </a:pPr>
            <a:r>
              <a:rPr lang="en-US" sz="2100" dirty="0" smtClean="0"/>
              <a:t>	2) ISP-level blocking (either IN or OUT)</a:t>
            </a:r>
          </a:p>
          <a:p>
            <a:pPr lvl="1">
              <a:buNone/>
            </a:pPr>
            <a:r>
              <a:rPr lang="en-US" sz="2100" dirty="0" smtClean="0"/>
              <a:t>	More data points needed to distinguish the 1) and 2) via active probing</a:t>
            </a:r>
          </a:p>
          <a:p>
            <a:pPr lvl="0"/>
            <a:r>
              <a:rPr lang="en-US" sz="2500" dirty="0" smtClean="0">
                <a:solidFill>
                  <a:prstClr val="black"/>
                </a:solidFill>
              </a:rPr>
              <a:t>Active probing</a:t>
            </a:r>
            <a:endParaRPr lang="en-US" dirty="0" smtClean="0"/>
          </a:p>
        </p:txBody>
      </p:sp>
      <p:sp>
        <p:nvSpPr>
          <p:cNvPr id="8" name="Slide Number Placeholder 7"/>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grpId="0" nodeType="clickEffect">
                                  <p:stCondLst>
                                    <p:cond delay="0"/>
                                  </p:stCondLst>
                                  <p:childTnLst>
                                    <p:animMotion origin="layout" path="M 2.5E-6 -1.44344E-6 L 0.23698 -0.00347 " pathEditMode="relative" rAng="0" ptsTypes="AA">
                                      <p:cBhvr>
                                        <p:cTn id="28" dur="1000" fill="hold"/>
                                        <p:tgtEl>
                                          <p:spTgt spid="7"/>
                                        </p:tgtEl>
                                        <p:attrNameLst>
                                          <p:attrName>ppt_x</p:attrName>
                                          <p:attrName>ppt_y</p:attrName>
                                        </p:attrNameLst>
                                      </p:cBhvr>
                                      <p:rCtr x="118" y="-2"/>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0" presetClass="path" presetSubtype="0" accel="50000" decel="50000" fill="hold" grpId="0" nodeType="withEffect">
                                  <p:stCondLst>
                                    <p:cond delay="0"/>
                                  </p:stCondLst>
                                  <p:childTnLst>
                                    <p:animMotion origin="layout" path="M 2.5E-6 -2.04719E-6 L -0.22969 -0.00347 " pathEditMode="relative" rAng="0" ptsTypes="AA">
                                      <p:cBhvr>
                                        <p:cTn id="34" dur="1000" fill="hold"/>
                                        <p:tgtEl>
                                          <p:spTgt spid="6"/>
                                        </p:tgtEl>
                                        <p:attrNameLst>
                                          <p:attrName>ppt_x</p:attrName>
                                          <p:attrName>ppt_y</p:attrName>
                                        </p:attrNameLst>
                                      </p:cBhvr>
                                      <p:rCtr x="-115" y="-2"/>
                                    </p:animMotion>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2" nodeType="clickEffect">
                                  <p:stCondLst>
                                    <p:cond delay="0"/>
                                  </p:stCondLst>
                                  <p:childTnLst>
                                    <p:set>
                                      <p:cBhvr>
                                        <p:cTn id="3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6" grpId="0" animBg="1"/>
      <p:bldP spid="6" grpId="1" animBg="1"/>
      <p:bldP spid="6" grpId="2" animBg="1"/>
    </p:bld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 25 blocking networks</a:t>
            </a:r>
            <a:endParaRPr lang="en-US" dirty="0"/>
          </a:p>
        </p:txBody>
      </p:sp>
      <p:sp>
        <p:nvSpPr>
          <p:cNvPr id="3" name="Content Placeholder 2"/>
          <p:cNvSpPr>
            <a:spLocks noGrp="1"/>
          </p:cNvSpPr>
          <p:nvPr>
            <p:ph idx="1"/>
          </p:nvPr>
        </p:nvSpPr>
        <p:spPr/>
        <p:txBody>
          <a:bodyPr/>
          <a:lstStyle/>
          <a:p>
            <a:r>
              <a:rPr lang="en-US" dirty="0" smtClean="0"/>
              <a:t>Results</a:t>
            </a:r>
          </a:p>
          <a:p>
            <a:pPr lvl="1"/>
            <a:r>
              <a:rPr lang="en-US" dirty="0" smtClean="0"/>
              <a:t>21,131 unique IPs, 7016 BGP prefixes</a:t>
            </a:r>
          </a:p>
          <a:p>
            <a:pPr lvl="1"/>
            <a:r>
              <a:rPr lang="en-US" dirty="0" smtClean="0"/>
              <a:t>688 prefixes (9.8%) have port 25 blocked</a:t>
            </a:r>
          </a:p>
          <a:p>
            <a:pPr lvl="1"/>
            <a:r>
              <a:rPr lang="en-US" dirty="0" smtClean="0"/>
              <a:t>More detailed analysis in the paper</a:t>
            </a:r>
          </a:p>
          <a:p>
            <a:pPr lvl="1"/>
            <a:endParaRPr lang="en-US"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17</a:t>
            </a:fld>
            <a:endParaRPr lang="en-US"/>
          </a:p>
        </p:txBody>
      </p:sp>
      <p:sp>
        <p:nvSpPr>
          <p:cNvPr id="10" name="TextBox 9"/>
          <p:cNvSpPr txBox="1"/>
          <p:nvPr/>
        </p:nvSpPr>
        <p:spPr>
          <a:xfrm>
            <a:off x="5010152" y="6400800"/>
            <a:ext cx="2438400" cy="369332"/>
          </a:xfrm>
          <a:prstGeom prst="rect">
            <a:avLst/>
          </a:prstGeom>
          <a:noFill/>
        </p:spPr>
        <p:txBody>
          <a:bodyPr wrap="square" rtlCol="0">
            <a:spAutoFit/>
          </a:bodyPr>
          <a:lstStyle/>
          <a:p>
            <a:r>
              <a:rPr lang="en-US" dirty="0" smtClean="0"/>
              <a:t>% of blocking prefixes</a:t>
            </a:r>
            <a:endParaRPr lang="en-US" dirty="0"/>
          </a:p>
        </p:txBody>
      </p:sp>
      <p:graphicFrame>
        <p:nvGraphicFramePr>
          <p:cNvPr id="11" name="Chart 10"/>
          <p:cNvGraphicFramePr/>
          <p:nvPr/>
        </p:nvGraphicFramePr>
        <p:xfrm>
          <a:off x="4324352" y="3657600"/>
          <a:ext cx="3067048" cy="28860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p:nvPr/>
        </p:nvGraphicFramePr>
        <p:xfrm>
          <a:off x="1066800" y="3676650"/>
          <a:ext cx="3057525" cy="2867025"/>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1657352" y="6400800"/>
            <a:ext cx="2590800" cy="369332"/>
          </a:xfrm>
          <a:prstGeom prst="rect">
            <a:avLst/>
          </a:prstGeom>
          <a:noFill/>
        </p:spPr>
        <p:txBody>
          <a:bodyPr wrap="square" rtlCol="0">
            <a:spAutoFit/>
          </a:bodyPr>
          <a:lstStyle/>
          <a:p>
            <a:r>
              <a:rPr lang="en-US" dirty="0" smtClean="0"/>
              <a:t>Total number of prefixes</a:t>
            </a:r>
            <a:endParaRPr lang="en-US" dirty="0"/>
          </a:p>
        </p:txBody>
      </p:sp>
      <p:sp>
        <p:nvSpPr>
          <p:cNvPr id="9" name="Rectangle 8"/>
          <p:cNvSpPr/>
          <p:nvPr/>
        </p:nvSpPr>
        <p:spPr>
          <a:xfrm>
            <a:off x="1524000" y="4267200"/>
            <a:ext cx="2590800" cy="18350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4" name="Rectangle 13"/>
          <p:cNvSpPr/>
          <p:nvPr/>
        </p:nvSpPr>
        <p:spPr>
          <a:xfrm>
            <a:off x="1447800" y="5809862"/>
            <a:ext cx="1676400" cy="2099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5" name="Rectangle 14"/>
          <p:cNvSpPr/>
          <p:nvPr/>
        </p:nvSpPr>
        <p:spPr>
          <a:xfrm>
            <a:off x="4572000" y="3809999"/>
            <a:ext cx="2351314" cy="4074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6" name="Rectangle 15"/>
          <p:cNvSpPr/>
          <p:nvPr/>
        </p:nvSpPr>
        <p:spPr>
          <a:xfrm>
            <a:off x="4648200" y="5562600"/>
            <a:ext cx="12192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5" grpId="1" animBg="1"/>
      <p:bldP spid="16" grpId="1" animBg="1"/>
    </p:bld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 25 blocking experiments</a:t>
            </a:r>
            <a:endParaRPr lang="en-US" dirty="0"/>
          </a:p>
        </p:txBody>
      </p:sp>
      <p:sp>
        <p:nvSpPr>
          <p:cNvPr id="3" name="Content Placeholder 2"/>
          <p:cNvSpPr>
            <a:spLocks noGrp="1"/>
          </p:cNvSpPr>
          <p:nvPr>
            <p:ph idx="1"/>
          </p:nvPr>
        </p:nvSpPr>
        <p:spPr/>
        <p:txBody>
          <a:bodyPr>
            <a:normAutofit/>
          </a:bodyPr>
          <a:lstStyle/>
          <a:p>
            <a:r>
              <a:rPr lang="en-US" dirty="0" smtClean="0">
                <a:solidFill>
                  <a:schemeClr val="bg1">
                    <a:lumMod val="50000"/>
                  </a:schemeClr>
                </a:solidFill>
              </a:rPr>
              <a:t>Step 1: Obtain candidate network/prefixes that enforce port 25 blocking</a:t>
            </a:r>
          </a:p>
          <a:p>
            <a:pPr lvl="1"/>
            <a:r>
              <a:rPr lang="en-US" dirty="0" smtClean="0">
                <a:solidFill>
                  <a:schemeClr val="bg1">
                    <a:lumMod val="50000"/>
                  </a:schemeClr>
                </a:solidFill>
              </a:rPr>
              <a:t>Instrument multiple websites</a:t>
            </a:r>
          </a:p>
          <a:p>
            <a:pPr lvl="1"/>
            <a:r>
              <a:rPr lang="en-US" dirty="0" smtClean="0">
                <a:solidFill>
                  <a:schemeClr val="bg1">
                    <a:lumMod val="50000"/>
                  </a:schemeClr>
                </a:solidFill>
              </a:rPr>
              <a:t>Verify via active probing</a:t>
            </a:r>
          </a:p>
          <a:p>
            <a:pPr lvl="5"/>
            <a:endParaRPr lang="en-US" dirty="0" smtClean="0">
              <a:solidFill>
                <a:schemeClr val="bg1">
                  <a:lumMod val="50000"/>
                </a:schemeClr>
              </a:solidFill>
            </a:endParaRPr>
          </a:p>
          <a:p>
            <a:r>
              <a:rPr lang="en-US" dirty="0" smtClean="0">
                <a:solidFill>
                  <a:srgbClr val="00B0F0"/>
                </a:solidFill>
              </a:rPr>
              <a:t>Step 2:</a:t>
            </a:r>
            <a:r>
              <a:rPr lang="en-US" dirty="0" smtClean="0"/>
              <a:t> Answer whether they are vulnerable to triangular spamming</a:t>
            </a:r>
          </a:p>
          <a:p>
            <a:pPr lvl="1"/>
            <a:r>
              <a:rPr lang="en-US" dirty="0" smtClean="0"/>
              <a:t>Conduct novel active probing</a:t>
            </a:r>
          </a:p>
          <a:p>
            <a:endParaRPr lang="en-US" dirty="0" smtClean="0"/>
          </a:p>
          <a:p>
            <a:pPr lvl="1"/>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print"/>
          <a:srcRect/>
          <a:stretch>
            <a:fillRect/>
          </a:stretch>
        </p:blipFill>
        <p:spPr bwMode="auto">
          <a:xfrm>
            <a:off x="1295400" y="4495800"/>
            <a:ext cx="6248400" cy="2188704"/>
          </a:xfrm>
          <a:prstGeom prst="rect">
            <a:avLst/>
          </a:prstGeom>
          <a:noFill/>
          <a:ln w="9525">
            <a:noFill/>
            <a:miter lim="800000"/>
            <a:headEnd/>
            <a:tailEnd/>
          </a:ln>
        </p:spPr>
      </p:pic>
      <p:sp>
        <p:nvSpPr>
          <p:cNvPr id="15" name="Rectangle 14"/>
          <p:cNvSpPr/>
          <p:nvPr/>
        </p:nvSpPr>
        <p:spPr>
          <a:xfrm>
            <a:off x="1981200" y="5257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16" name="Rectangle 15"/>
          <p:cNvSpPr/>
          <p:nvPr/>
        </p:nvSpPr>
        <p:spPr>
          <a:xfrm>
            <a:off x="1981200" y="5257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17" name="Rectangle 16"/>
          <p:cNvSpPr/>
          <p:nvPr/>
        </p:nvSpPr>
        <p:spPr>
          <a:xfrm>
            <a:off x="1981200" y="5257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18" name="Rectangle 17"/>
          <p:cNvSpPr/>
          <p:nvPr/>
        </p:nvSpPr>
        <p:spPr>
          <a:xfrm>
            <a:off x="1981200" y="5257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12" name="Rectangle 11"/>
          <p:cNvSpPr/>
          <p:nvPr/>
        </p:nvSpPr>
        <p:spPr>
          <a:xfrm>
            <a:off x="1981200" y="5257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25" name="Rectangle 24"/>
          <p:cNvSpPr/>
          <p:nvPr/>
        </p:nvSpPr>
        <p:spPr>
          <a:xfrm>
            <a:off x="1981200" y="5257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14" name="Rectangle 13"/>
          <p:cNvSpPr/>
          <p:nvPr/>
        </p:nvSpPr>
        <p:spPr>
          <a:xfrm>
            <a:off x="1981200" y="52578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20" name="Rectangle 19"/>
          <p:cNvSpPr/>
          <p:nvPr/>
        </p:nvSpPr>
        <p:spPr>
          <a:xfrm>
            <a:off x="6019800" y="5715000"/>
            <a:ext cx="685800" cy="45720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25</a:t>
            </a:r>
          </a:p>
          <a:p>
            <a:pPr algn="ctr"/>
            <a:r>
              <a:rPr lang="en-US" sz="1200" b="1" dirty="0" smtClean="0">
                <a:solidFill>
                  <a:srgbClr val="7030A0"/>
                </a:solidFill>
              </a:rPr>
              <a:t>IPID: 2</a:t>
            </a:r>
            <a:endParaRPr lang="en-US" sz="1200" b="1" dirty="0">
              <a:solidFill>
                <a:srgbClr val="7030A0"/>
              </a:solidFill>
            </a:endParaRPr>
          </a:p>
        </p:txBody>
      </p:sp>
      <p:sp>
        <p:nvSpPr>
          <p:cNvPr id="21" name="Rectangle 20"/>
          <p:cNvSpPr/>
          <p:nvPr/>
        </p:nvSpPr>
        <p:spPr>
          <a:xfrm>
            <a:off x="6019800" y="5715000"/>
            <a:ext cx="685800" cy="45720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25</a:t>
            </a:r>
          </a:p>
          <a:p>
            <a:pPr algn="ctr"/>
            <a:r>
              <a:rPr lang="en-US" sz="1200" b="1" dirty="0" smtClean="0">
                <a:solidFill>
                  <a:srgbClr val="7030A0"/>
                </a:solidFill>
              </a:rPr>
              <a:t>IPID: 3</a:t>
            </a:r>
            <a:endParaRPr lang="en-US" sz="1200" b="1" dirty="0">
              <a:solidFill>
                <a:srgbClr val="7030A0"/>
              </a:solidFill>
            </a:endParaRPr>
          </a:p>
        </p:txBody>
      </p:sp>
      <p:sp>
        <p:nvSpPr>
          <p:cNvPr id="22" name="Rectangle 21"/>
          <p:cNvSpPr/>
          <p:nvPr/>
        </p:nvSpPr>
        <p:spPr>
          <a:xfrm>
            <a:off x="6019800" y="5715000"/>
            <a:ext cx="685800" cy="45720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25</a:t>
            </a:r>
          </a:p>
          <a:p>
            <a:pPr algn="ctr"/>
            <a:r>
              <a:rPr lang="en-US" sz="1200" b="1" dirty="0" smtClean="0">
                <a:solidFill>
                  <a:srgbClr val="7030A0"/>
                </a:solidFill>
              </a:rPr>
              <a:t>IPID: 4</a:t>
            </a:r>
            <a:endParaRPr lang="en-US" sz="1200" b="1" dirty="0">
              <a:solidFill>
                <a:srgbClr val="7030A0"/>
              </a:solidFill>
            </a:endParaRPr>
          </a:p>
        </p:txBody>
      </p:sp>
      <p:sp>
        <p:nvSpPr>
          <p:cNvPr id="23" name="Rectangle 22"/>
          <p:cNvSpPr/>
          <p:nvPr/>
        </p:nvSpPr>
        <p:spPr>
          <a:xfrm>
            <a:off x="6019800" y="5715000"/>
            <a:ext cx="685800" cy="45720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25</a:t>
            </a:r>
          </a:p>
          <a:p>
            <a:pPr algn="ctr"/>
            <a:r>
              <a:rPr lang="en-US" sz="1200" b="1" dirty="0" smtClean="0">
                <a:solidFill>
                  <a:srgbClr val="7030A0"/>
                </a:solidFill>
              </a:rPr>
              <a:t>IPID: 5</a:t>
            </a:r>
            <a:endParaRPr lang="en-US" sz="1200" b="1" dirty="0">
              <a:solidFill>
                <a:srgbClr val="7030A0"/>
              </a:solidFill>
            </a:endParaRPr>
          </a:p>
        </p:txBody>
      </p:sp>
      <p:sp>
        <p:nvSpPr>
          <p:cNvPr id="24" name="Rectangle 23"/>
          <p:cNvSpPr/>
          <p:nvPr/>
        </p:nvSpPr>
        <p:spPr>
          <a:xfrm>
            <a:off x="6019800" y="5715000"/>
            <a:ext cx="685800" cy="45720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25</a:t>
            </a:r>
          </a:p>
          <a:p>
            <a:pPr algn="ctr"/>
            <a:r>
              <a:rPr lang="en-US" sz="1200" b="1" dirty="0" smtClean="0">
                <a:solidFill>
                  <a:srgbClr val="7030A0"/>
                </a:solidFill>
              </a:rPr>
              <a:t>IPID: 6</a:t>
            </a:r>
            <a:endParaRPr lang="en-US" sz="1200" b="1" dirty="0">
              <a:solidFill>
                <a:srgbClr val="7030A0"/>
              </a:solidFill>
            </a:endParaRPr>
          </a:p>
        </p:txBody>
      </p:sp>
      <p:sp>
        <p:nvSpPr>
          <p:cNvPr id="13" name="Rectangle 12"/>
          <p:cNvSpPr/>
          <p:nvPr/>
        </p:nvSpPr>
        <p:spPr>
          <a:xfrm>
            <a:off x="6019800" y="5715000"/>
            <a:ext cx="685800" cy="45720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80</a:t>
            </a:r>
          </a:p>
          <a:p>
            <a:pPr algn="ctr"/>
            <a:r>
              <a:rPr lang="en-US" sz="1200" b="1" dirty="0" smtClean="0">
                <a:solidFill>
                  <a:srgbClr val="7030A0"/>
                </a:solidFill>
              </a:rPr>
              <a:t>IPID: 1</a:t>
            </a:r>
            <a:endParaRPr lang="en-US" sz="1200" b="1" dirty="0">
              <a:solidFill>
                <a:srgbClr val="7030A0"/>
              </a:solidFill>
            </a:endParaRPr>
          </a:p>
        </p:txBody>
      </p:sp>
      <p:sp>
        <p:nvSpPr>
          <p:cNvPr id="26" name="Rectangle 25"/>
          <p:cNvSpPr/>
          <p:nvPr/>
        </p:nvSpPr>
        <p:spPr>
          <a:xfrm>
            <a:off x="6019800" y="5715000"/>
            <a:ext cx="685800" cy="45720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80</a:t>
            </a:r>
          </a:p>
          <a:p>
            <a:pPr algn="ctr"/>
            <a:r>
              <a:rPr lang="en-US" sz="1200" b="1" dirty="0" smtClean="0">
                <a:solidFill>
                  <a:srgbClr val="7030A0"/>
                </a:solidFill>
              </a:rPr>
              <a:t>IPID: 7</a:t>
            </a:r>
            <a:endParaRPr lang="en-US" sz="1200" b="1" dirty="0">
              <a:solidFill>
                <a:srgbClr val="7030A0"/>
              </a:solidFill>
            </a:endParaRPr>
          </a:p>
        </p:txBody>
      </p:sp>
      <p:sp>
        <p:nvSpPr>
          <p:cNvPr id="3" name="Content Placeholder 2"/>
          <p:cNvSpPr>
            <a:spLocks noGrp="1"/>
          </p:cNvSpPr>
          <p:nvPr>
            <p:ph idx="1"/>
          </p:nvPr>
        </p:nvSpPr>
        <p:spPr>
          <a:xfrm>
            <a:off x="457200" y="3810000"/>
            <a:ext cx="8229600" cy="2316163"/>
          </a:xfrm>
        </p:spPr>
        <p:txBody>
          <a:bodyPr/>
          <a:lstStyle/>
          <a:p>
            <a:r>
              <a:rPr lang="en-US" dirty="0" smtClean="0"/>
              <a:t>IPID value (unique identifier in IP header)</a:t>
            </a:r>
          </a:p>
          <a:p>
            <a:pPr lvl="1"/>
            <a:r>
              <a:rPr lang="en-US" dirty="0" smtClean="0"/>
              <a:t>Monotonically increasing</a:t>
            </a:r>
            <a:endParaRPr lang="en-US" dirty="0"/>
          </a:p>
        </p:txBody>
      </p:sp>
      <p:pic>
        <p:nvPicPr>
          <p:cNvPr id="4" name="Picture 2"/>
          <p:cNvPicPr>
            <a:picLocks noChangeAspect="1" noChangeArrowheads="1"/>
          </p:cNvPicPr>
          <p:nvPr/>
        </p:nvPicPr>
        <p:blipFill>
          <a:blip r:embed="rId3" cstate="print"/>
          <a:srcRect/>
          <a:stretch>
            <a:fillRect/>
          </a:stretch>
        </p:blipFill>
        <p:spPr bwMode="auto">
          <a:xfrm>
            <a:off x="1219200" y="1524000"/>
            <a:ext cx="6167285" cy="2160292"/>
          </a:xfrm>
          <a:prstGeom prst="rect">
            <a:avLst/>
          </a:prstGeom>
          <a:noFill/>
          <a:ln w="9525">
            <a:noFill/>
            <a:miter lim="800000"/>
            <a:headEnd/>
            <a:tailEnd/>
          </a:ln>
        </p:spPr>
      </p:pic>
      <p:sp>
        <p:nvSpPr>
          <p:cNvPr id="9" name="Rectangle 8"/>
          <p:cNvSpPr/>
          <p:nvPr/>
        </p:nvSpPr>
        <p:spPr>
          <a:xfrm>
            <a:off x="1828800" y="22860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8" name="Rectangle 7"/>
          <p:cNvSpPr/>
          <p:nvPr/>
        </p:nvSpPr>
        <p:spPr>
          <a:xfrm>
            <a:off x="1828800" y="2286000"/>
            <a:ext cx="697194" cy="354650"/>
          </a:xfrm>
          <a:prstGeom prst="rect">
            <a:avLst/>
          </a:prstGeom>
          <a:solidFill>
            <a:schemeClr val="accent3"/>
          </a:solidFill>
          <a:ln>
            <a:solidFill>
              <a:schemeClr val="accent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25 </a:t>
            </a:r>
            <a:r>
              <a:rPr lang="en-US" sz="1200" b="1" dirty="0" err="1" smtClean="0">
                <a:solidFill>
                  <a:srgbClr val="7030A0"/>
                </a:solidFill>
              </a:rPr>
              <a:t>Dst</a:t>
            </a:r>
            <a:r>
              <a:rPr lang="en-US" sz="1200" b="1" dirty="0" smtClean="0">
                <a:solidFill>
                  <a:srgbClr val="7030A0"/>
                </a:solidFill>
              </a:rPr>
              <a:t>:  80</a:t>
            </a:r>
            <a:endParaRPr lang="en-US" sz="1200" b="1" dirty="0">
              <a:solidFill>
                <a:srgbClr val="7030A0"/>
              </a:solidFill>
            </a:endParaRPr>
          </a:p>
        </p:txBody>
      </p:sp>
      <p:sp>
        <p:nvSpPr>
          <p:cNvPr id="2" name="Title 1"/>
          <p:cNvSpPr>
            <a:spLocks noGrp="1"/>
          </p:cNvSpPr>
          <p:nvPr>
            <p:ph type="title"/>
          </p:nvPr>
        </p:nvSpPr>
        <p:spPr/>
        <p:txBody>
          <a:bodyPr/>
          <a:lstStyle/>
          <a:p>
            <a:r>
              <a:rPr lang="en-US" dirty="0" smtClean="0"/>
              <a:t>IN or OUT blocking?</a:t>
            </a:r>
            <a:endParaRPr lang="en-US" dirty="0"/>
          </a:p>
        </p:txBody>
      </p:sp>
      <p:sp>
        <p:nvSpPr>
          <p:cNvPr id="10" name="Rectangle 9"/>
          <p:cNvSpPr/>
          <p:nvPr/>
        </p:nvSpPr>
        <p:spPr>
          <a:xfrm>
            <a:off x="6019800" y="2819400"/>
            <a:ext cx="697194" cy="354650"/>
          </a:xfrm>
          <a:prstGeom prst="rect">
            <a:avLst/>
          </a:prstGeom>
          <a:solidFill>
            <a:schemeClr val="accent3"/>
          </a:solidFill>
          <a:ln>
            <a:solidFill>
              <a:schemeClr val="accent3"/>
            </a:solidFill>
          </a:ln>
          <a:effectLst>
            <a:outerShdw blurRad="50800" dist="38100" dir="27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rPr>
              <a:t>Src</a:t>
            </a:r>
            <a:r>
              <a:rPr lang="en-US" sz="1200" b="1" dirty="0" smtClean="0">
                <a:solidFill>
                  <a:srgbClr val="7030A0"/>
                </a:solidFill>
              </a:rPr>
              <a:t>:  80 </a:t>
            </a:r>
            <a:r>
              <a:rPr lang="en-US" sz="1200" b="1" dirty="0" err="1" smtClean="0">
                <a:solidFill>
                  <a:srgbClr val="7030A0"/>
                </a:solidFill>
              </a:rPr>
              <a:t>Dst</a:t>
            </a:r>
            <a:r>
              <a:rPr lang="en-US" sz="1200" b="1" dirty="0" smtClean="0">
                <a:solidFill>
                  <a:srgbClr val="7030A0"/>
                </a:solidFill>
              </a:rPr>
              <a:t>:  25</a:t>
            </a:r>
            <a:endParaRPr lang="en-US" sz="1200" b="1" dirty="0">
              <a:solidFill>
                <a:srgbClr val="7030A0"/>
              </a:solidFill>
            </a:endParaRPr>
          </a:p>
        </p:txBody>
      </p:sp>
      <p:sp>
        <p:nvSpPr>
          <p:cNvPr id="27" name="Slide Number Placeholder 26"/>
          <p:cNvSpPr>
            <a:spLocks noGrp="1"/>
          </p:cNvSpPr>
          <p:nvPr>
            <p:ph type="sldNum" sz="quarter" idx="12"/>
          </p:nvPr>
        </p:nvSpPr>
        <p:spPr/>
        <p:txBody>
          <a:bodyPr/>
          <a:lstStyle/>
          <a:p>
            <a:fld id="{B6F15528-21DE-4FAA-801E-634DDDAF4B2B}" type="slidenum">
              <a:rPr lang="en-US" smtClean="0"/>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0" presetClass="path" presetSubtype="0" accel="50000" decel="50000" fill="hold" grpId="0" nodeType="withEffect">
                                  <p:stCondLst>
                                    <p:cond delay="0"/>
                                  </p:stCondLst>
                                  <p:childTnLst>
                                    <p:animMotion origin="layout" path="M -8.33333E-7 1.37405E-6 L 0.29566 -0.00278 " pathEditMode="relative" rAng="0" ptsTypes="AA">
                                      <p:cBhvr>
                                        <p:cTn id="12" dur="1000" fill="hold"/>
                                        <p:tgtEl>
                                          <p:spTgt spid="8"/>
                                        </p:tgtEl>
                                        <p:attrNameLst>
                                          <p:attrName>ppt_x</p:attrName>
                                          <p:attrName>ppt_y</p:attrName>
                                        </p:attrNameLst>
                                      </p:cBhvr>
                                      <p:rCtr x="148" y="-1"/>
                                    </p:animMotion>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3" nodeType="clickEffect">
                                  <p:stCondLst>
                                    <p:cond delay="0"/>
                                  </p:stCondLst>
                                  <p:childTnLst>
                                    <p:animEffect transition="out" filter="fade">
                                      <p:cBhvr>
                                        <p:cTn id="16" dur="2000"/>
                                        <p:tgtEl>
                                          <p:spTgt spid="8"/>
                                        </p:tgtEl>
                                      </p:cBhvr>
                                    </p:animEffect>
                                    <p:set>
                                      <p:cBhvr>
                                        <p:cTn id="17" dur="1" fill="hold">
                                          <p:stCondLst>
                                            <p:cond delay="19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2"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0" presetClass="path" presetSubtype="0" accel="50000" decel="50000" fill="hold" grpId="0" nodeType="withEffect">
                                  <p:stCondLst>
                                    <p:cond delay="0"/>
                                  </p:stCondLst>
                                  <p:childTnLst>
                                    <p:animMotion origin="layout" path="M -8.33333E-7 1.37405E-6 L 0.44323 -0.00023 " pathEditMode="relative" rAng="0" ptsTypes="AA">
                                      <p:cBhvr>
                                        <p:cTn id="27" dur="1000" fill="hold"/>
                                        <p:tgtEl>
                                          <p:spTgt spid="9"/>
                                        </p:tgtEl>
                                        <p:attrNameLst>
                                          <p:attrName>ppt_x</p:attrName>
                                          <p:attrName>ppt_y</p:attrName>
                                        </p:attrNameLst>
                                      </p:cBhvr>
                                      <p:rCtr x="222" y="0"/>
                                    </p:animMotion>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2"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1" nodeType="click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par>
                                <p:cTn id="36" presetID="0" presetClass="path" presetSubtype="0" accel="50000" decel="50000" fill="hold" grpId="0" nodeType="withEffect">
                                  <p:stCondLst>
                                    <p:cond delay="0"/>
                                  </p:stCondLst>
                                  <p:childTnLst>
                                    <p:animMotion origin="layout" path="M -4.16667E-6 -2.42887E-6 L -0.11302 -0.00347 " pathEditMode="relative" rAng="0" ptsTypes="AA">
                                      <p:cBhvr>
                                        <p:cTn id="37" dur="1000" fill="hold"/>
                                        <p:tgtEl>
                                          <p:spTgt spid="10"/>
                                        </p:tgtEl>
                                        <p:attrNameLst>
                                          <p:attrName>ppt_x</p:attrName>
                                          <p:attrName>ppt_y</p:attrName>
                                        </p:attrNameLst>
                                      </p:cBhvr>
                                      <p:rCtr x="-57" y="-2"/>
                                    </p:animMotion>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3" nodeType="clickEffect">
                                  <p:stCondLst>
                                    <p:cond delay="0"/>
                                  </p:stCondLst>
                                  <p:childTnLst>
                                    <p:animEffect transition="out" filter="fade">
                                      <p:cBhvr>
                                        <p:cTn id="41" dur="2000"/>
                                        <p:tgtEl>
                                          <p:spTgt spid="10"/>
                                        </p:tgtEl>
                                      </p:cBhvr>
                                    </p:animEffect>
                                    <p:set>
                                      <p:cBhvr>
                                        <p:cTn id="42" dur="1" fill="hold">
                                          <p:stCondLst>
                                            <p:cond delay="1999"/>
                                          </p:stCondLst>
                                        </p:cTn>
                                        <p:tgtEl>
                                          <p:spTgt spid="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 end="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2"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0" presetClass="path" presetSubtype="0" accel="50000" decel="50000" fill="hold" grpId="0" nodeType="withEffect">
                                  <p:stCondLst>
                                    <p:cond delay="0"/>
                                  </p:stCondLst>
                                  <p:childTnLst>
                                    <p:animMotion origin="layout" path="M -8.33333E-7 1.37405E-6 L 0.42865 -0.00347 " pathEditMode="relative" rAng="0" ptsTypes="AA">
                                      <p:cBhvr>
                                        <p:cTn id="60" dur="1000" fill="hold"/>
                                        <p:tgtEl>
                                          <p:spTgt spid="12"/>
                                        </p:tgtEl>
                                        <p:attrNameLst>
                                          <p:attrName>ppt_x</p:attrName>
                                          <p:attrName>ppt_y</p:attrName>
                                        </p:attrNameLst>
                                      </p:cBhvr>
                                      <p:rCtr x="214" y="-2"/>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1"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par>
                                <p:cTn id="65" presetID="0" presetClass="path" presetSubtype="0" accel="50000" decel="50000" fill="hold" grpId="0" nodeType="withEffect">
                                  <p:stCondLst>
                                    <p:cond delay="0"/>
                                  </p:stCondLst>
                                  <p:childTnLst>
                                    <p:animMotion origin="layout" path="M -3.33333E-6 4.76752E-6 L -0.4375 4.76752E-6 " pathEditMode="relative" rAng="0" ptsTypes="AA">
                                      <p:cBhvr>
                                        <p:cTn id="66" dur="1000" fill="hold"/>
                                        <p:tgtEl>
                                          <p:spTgt spid="13"/>
                                        </p:tgtEl>
                                        <p:attrNameLst>
                                          <p:attrName>ppt_x</p:attrName>
                                          <p:attrName>ppt_y</p:attrName>
                                        </p:attrNameLst>
                                      </p:cBhvr>
                                      <p:rCtr x="-219" y="0"/>
                                    </p:animMotion>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2"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3" nodeType="clickEffect">
                                  <p:stCondLst>
                                    <p:cond delay="0"/>
                                  </p:stCondLst>
                                  <p:childTnLst>
                                    <p:animEffect transition="out" filter="fade">
                                      <p:cBhvr>
                                        <p:cTn id="74" dur="2000"/>
                                        <p:tgtEl>
                                          <p:spTgt spid="13"/>
                                        </p:tgtEl>
                                      </p:cBhvr>
                                    </p:animEffect>
                                    <p:set>
                                      <p:cBhvr>
                                        <p:cTn id="75" dur="1" fill="hold">
                                          <p:stCondLst>
                                            <p:cond delay="1999"/>
                                          </p:stCondLst>
                                        </p:cTn>
                                        <p:tgtEl>
                                          <p:spTgt spid="13"/>
                                        </p:tgtEl>
                                        <p:attrNameLst>
                                          <p:attrName>style.visibility</p:attrName>
                                        </p:attrNameLst>
                                      </p:cBhvr>
                                      <p:to>
                                        <p:strVal val="hidden"/>
                                      </p:to>
                                    </p:set>
                                  </p:childTnLst>
                                </p:cTn>
                              </p:par>
                              <p:par>
                                <p:cTn id="76" presetID="10" presetClass="exit" presetSubtype="0" fill="hold" grpId="3" nodeType="withEffect">
                                  <p:stCondLst>
                                    <p:cond delay="0"/>
                                  </p:stCondLst>
                                  <p:childTnLst>
                                    <p:animEffect transition="out" filter="fade">
                                      <p:cBhvr>
                                        <p:cTn id="77" dur="2000"/>
                                        <p:tgtEl>
                                          <p:spTgt spid="12"/>
                                        </p:tgtEl>
                                      </p:cBhvr>
                                    </p:animEffect>
                                    <p:set>
                                      <p:cBhvr>
                                        <p:cTn id="78" dur="1" fill="hold">
                                          <p:stCondLst>
                                            <p:cond delay="1999"/>
                                          </p:stCondLst>
                                        </p:cTn>
                                        <p:tgtEl>
                                          <p:spTgt spid="1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2" nodeType="click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1" nodeType="clickEffect">
                                  <p:stCondLst>
                                    <p:cond delay="0"/>
                                  </p:stCondLst>
                                  <p:childTnLst>
                                    <p:set>
                                      <p:cBhvr>
                                        <p:cTn id="86" dur="1" fill="hold">
                                          <p:stCondLst>
                                            <p:cond delay="0"/>
                                          </p:stCondLst>
                                        </p:cTn>
                                        <p:tgtEl>
                                          <p:spTgt spid="14"/>
                                        </p:tgtEl>
                                        <p:attrNameLst>
                                          <p:attrName>style.visibility</p:attrName>
                                        </p:attrNameLst>
                                      </p:cBhvr>
                                      <p:to>
                                        <p:strVal val="visible"/>
                                      </p:to>
                                    </p:set>
                                  </p:childTnLst>
                                </p:cTn>
                              </p:par>
                              <p:par>
                                <p:cTn id="87" presetID="0" presetClass="path" presetSubtype="0" accel="50000" decel="50000" fill="hold" grpId="0" nodeType="withEffect">
                                  <p:stCondLst>
                                    <p:cond delay="0"/>
                                  </p:stCondLst>
                                  <p:childTnLst>
                                    <p:animMotion origin="layout" path="M -8.33333E-7 1.37405E-6 L 0.42865 -0.00347 " pathEditMode="relative" rAng="0" ptsTypes="AA">
                                      <p:cBhvr>
                                        <p:cTn id="88" dur="3000" fill="hold"/>
                                        <p:tgtEl>
                                          <p:spTgt spid="14"/>
                                        </p:tgtEl>
                                        <p:attrNameLst>
                                          <p:attrName>ppt_x</p:attrName>
                                          <p:attrName>ppt_y</p:attrName>
                                        </p:attrNameLst>
                                      </p:cBhvr>
                                      <p:rCtr x="214" y="-2"/>
                                    </p:animMotion>
                                  </p:childTnLst>
                                </p:cTn>
                              </p:par>
                              <p:par>
                                <p:cTn id="89" presetID="1" presetClass="entr" presetSubtype="0" fill="hold" grpId="2" nodeType="withEffect">
                                  <p:stCondLst>
                                    <p:cond delay="0"/>
                                  </p:stCondLst>
                                  <p:childTnLst>
                                    <p:set>
                                      <p:cBhvr>
                                        <p:cTn id="90" dur="1" fill="hold">
                                          <p:stCondLst>
                                            <p:cond delay="0"/>
                                          </p:stCondLst>
                                        </p:cTn>
                                        <p:tgtEl>
                                          <p:spTgt spid="15"/>
                                        </p:tgtEl>
                                        <p:attrNameLst>
                                          <p:attrName>style.visibility</p:attrName>
                                        </p:attrNameLst>
                                      </p:cBhvr>
                                      <p:to>
                                        <p:strVal val="visible"/>
                                      </p:to>
                                    </p:set>
                                  </p:childTnLst>
                                </p:cTn>
                              </p:par>
                              <p:par>
                                <p:cTn id="91" presetID="1" presetClass="entr" presetSubtype="0" fill="hold" grpId="1" nodeType="withEffect">
                                  <p:stCondLst>
                                    <p:cond delay="0"/>
                                  </p:stCondLst>
                                  <p:childTnLst>
                                    <p:set>
                                      <p:cBhvr>
                                        <p:cTn id="92" dur="1" fill="hold">
                                          <p:stCondLst>
                                            <p:cond delay="0"/>
                                          </p:stCondLst>
                                        </p:cTn>
                                        <p:tgtEl>
                                          <p:spTgt spid="15"/>
                                        </p:tgtEl>
                                        <p:attrNameLst>
                                          <p:attrName>style.visibility</p:attrName>
                                        </p:attrNameLst>
                                      </p:cBhvr>
                                      <p:to>
                                        <p:strVal val="visible"/>
                                      </p:to>
                                    </p:set>
                                  </p:childTnLst>
                                </p:cTn>
                              </p:par>
                              <p:par>
                                <p:cTn id="93" presetID="0" presetClass="path" presetSubtype="0" accel="50000" decel="50000" fill="hold" grpId="0" nodeType="withEffect">
                                  <p:stCondLst>
                                    <p:cond delay="500"/>
                                  </p:stCondLst>
                                  <p:childTnLst>
                                    <p:animMotion origin="layout" path="M -8.33333E-7 1.37405E-6 L 0.42865 -0.00347 " pathEditMode="relative" rAng="0" ptsTypes="AA">
                                      <p:cBhvr>
                                        <p:cTn id="94" dur="3000" fill="hold"/>
                                        <p:tgtEl>
                                          <p:spTgt spid="15"/>
                                        </p:tgtEl>
                                        <p:attrNameLst>
                                          <p:attrName>ppt_x</p:attrName>
                                          <p:attrName>ppt_y</p:attrName>
                                        </p:attrNameLst>
                                      </p:cBhvr>
                                      <p:rCtr x="214" y="-2"/>
                                    </p:animMotion>
                                  </p:childTnLst>
                                </p:cTn>
                              </p:par>
                              <p:par>
                                <p:cTn id="95" presetID="1" presetClass="entr" presetSubtype="0" fill="hold" grpId="2" nodeType="withEffect">
                                  <p:stCondLst>
                                    <p:cond delay="0"/>
                                  </p:stCondLst>
                                  <p:childTnLst>
                                    <p:set>
                                      <p:cBhvr>
                                        <p:cTn id="96" dur="1" fill="hold">
                                          <p:stCondLst>
                                            <p:cond delay="0"/>
                                          </p:stCondLst>
                                        </p:cTn>
                                        <p:tgtEl>
                                          <p:spTgt spid="16"/>
                                        </p:tgtEl>
                                        <p:attrNameLst>
                                          <p:attrName>style.visibility</p:attrName>
                                        </p:attrNameLst>
                                      </p:cBhvr>
                                      <p:to>
                                        <p:strVal val="visible"/>
                                      </p:to>
                                    </p:set>
                                  </p:childTnLst>
                                </p:cTn>
                              </p:par>
                              <p:par>
                                <p:cTn id="97" presetID="1" presetClass="entr" presetSubtype="0" fill="hold" grpId="1" nodeType="withEffect">
                                  <p:stCondLst>
                                    <p:cond delay="0"/>
                                  </p:stCondLst>
                                  <p:childTnLst>
                                    <p:set>
                                      <p:cBhvr>
                                        <p:cTn id="98" dur="1" fill="hold">
                                          <p:stCondLst>
                                            <p:cond delay="0"/>
                                          </p:stCondLst>
                                        </p:cTn>
                                        <p:tgtEl>
                                          <p:spTgt spid="16"/>
                                        </p:tgtEl>
                                        <p:attrNameLst>
                                          <p:attrName>style.visibility</p:attrName>
                                        </p:attrNameLst>
                                      </p:cBhvr>
                                      <p:to>
                                        <p:strVal val="visible"/>
                                      </p:to>
                                    </p:set>
                                  </p:childTnLst>
                                </p:cTn>
                              </p:par>
                              <p:par>
                                <p:cTn id="99" presetID="0" presetClass="path" presetSubtype="0" accel="50000" decel="50000" fill="hold" grpId="0" nodeType="withEffect">
                                  <p:stCondLst>
                                    <p:cond delay="1000"/>
                                  </p:stCondLst>
                                  <p:childTnLst>
                                    <p:animMotion origin="layout" path="M -8.33333E-7 1.37405E-6 L 0.42865 -0.00347 " pathEditMode="relative" rAng="0" ptsTypes="AA">
                                      <p:cBhvr>
                                        <p:cTn id="100" dur="3000" fill="hold"/>
                                        <p:tgtEl>
                                          <p:spTgt spid="16"/>
                                        </p:tgtEl>
                                        <p:attrNameLst>
                                          <p:attrName>ppt_x</p:attrName>
                                          <p:attrName>ppt_y</p:attrName>
                                        </p:attrNameLst>
                                      </p:cBhvr>
                                      <p:rCtr x="214" y="-2"/>
                                    </p:animMotion>
                                  </p:childTnLst>
                                </p:cTn>
                              </p:par>
                              <p:par>
                                <p:cTn id="101" presetID="1" presetClass="entr" presetSubtype="0" fill="hold" grpId="2" nodeType="withEffect">
                                  <p:stCondLst>
                                    <p:cond delay="0"/>
                                  </p:stCondLst>
                                  <p:childTnLst>
                                    <p:set>
                                      <p:cBhvr>
                                        <p:cTn id="102" dur="1" fill="hold">
                                          <p:stCondLst>
                                            <p:cond delay="0"/>
                                          </p:stCondLst>
                                        </p:cTn>
                                        <p:tgtEl>
                                          <p:spTgt spid="17"/>
                                        </p:tgtEl>
                                        <p:attrNameLst>
                                          <p:attrName>style.visibility</p:attrName>
                                        </p:attrNameLst>
                                      </p:cBhvr>
                                      <p:to>
                                        <p:strVal val="visible"/>
                                      </p:to>
                                    </p:set>
                                  </p:childTnLst>
                                </p:cTn>
                              </p:par>
                              <p:par>
                                <p:cTn id="103" presetID="1" presetClass="entr" presetSubtype="0" fill="hold" grpId="1" nodeType="withEffect">
                                  <p:stCondLst>
                                    <p:cond delay="0"/>
                                  </p:stCondLst>
                                  <p:childTnLst>
                                    <p:set>
                                      <p:cBhvr>
                                        <p:cTn id="104" dur="1" fill="hold">
                                          <p:stCondLst>
                                            <p:cond delay="0"/>
                                          </p:stCondLst>
                                        </p:cTn>
                                        <p:tgtEl>
                                          <p:spTgt spid="17"/>
                                        </p:tgtEl>
                                        <p:attrNameLst>
                                          <p:attrName>style.visibility</p:attrName>
                                        </p:attrNameLst>
                                      </p:cBhvr>
                                      <p:to>
                                        <p:strVal val="visible"/>
                                      </p:to>
                                    </p:set>
                                  </p:childTnLst>
                                </p:cTn>
                              </p:par>
                              <p:par>
                                <p:cTn id="105" presetID="0" presetClass="path" presetSubtype="0" accel="50000" decel="50000" fill="hold" grpId="0" nodeType="withEffect">
                                  <p:stCondLst>
                                    <p:cond delay="1500"/>
                                  </p:stCondLst>
                                  <p:childTnLst>
                                    <p:animMotion origin="layout" path="M -8.33333E-7 1.37405E-6 L 0.42865 -0.00347 " pathEditMode="relative" rAng="0" ptsTypes="AA">
                                      <p:cBhvr>
                                        <p:cTn id="106" dur="3000" fill="hold"/>
                                        <p:tgtEl>
                                          <p:spTgt spid="17"/>
                                        </p:tgtEl>
                                        <p:attrNameLst>
                                          <p:attrName>ppt_x</p:attrName>
                                          <p:attrName>ppt_y</p:attrName>
                                        </p:attrNameLst>
                                      </p:cBhvr>
                                      <p:rCtr x="214" y="-2"/>
                                    </p:animMotion>
                                  </p:childTnLst>
                                </p:cTn>
                              </p:par>
                              <p:par>
                                <p:cTn id="107" presetID="1" presetClass="entr" presetSubtype="0" fill="hold" grpId="2" nodeType="withEffect">
                                  <p:stCondLst>
                                    <p:cond delay="0"/>
                                  </p:stCondLst>
                                  <p:childTnLst>
                                    <p:set>
                                      <p:cBhvr>
                                        <p:cTn id="108" dur="1" fill="hold">
                                          <p:stCondLst>
                                            <p:cond delay="0"/>
                                          </p:stCondLst>
                                        </p:cTn>
                                        <p:tgtEl>
                                          <p:spTgt spid="18"/>
                                        </p:tgtEl>
                                        <p:attrNameLst>
                                          <p:attrName>style.visibility</p:attrName>
                                        </p:attrNameLst>
                                      </p:cBhvr>
                                      <p:to>
                                        <p:strVal val="visible"/>
                                      </p:to>
                                    </p:set>
                                  </p:childTnLst>
                                </p:cTn>
                              </p:par>
                              <p:par>
                                <p:cTn id="109" presetID="1" presetClass="entr" presetSubtype="0" fill="hold" grpId="1" nodeType="withEffect">
                                  <p:stCondLst>
                                    <p:cond delay="0"/>
                                  </p:stCondLst>
                                  <p:childTnLst>
                                    <p:set>
                                      <p:cBhvr>
                                        <p:cTn id="110" dur="1" fill="hold">
                                          <p:stCondLst>
                                            <p:cond delay="0"/>
                                          </p:stCondLst>
                                        </p:cTn>
                                        <p:tgtEl>
                                          <p:spTgt spid="18"/>
                                        </p:tgtEl>
                                        <p:attrNameLst>
                                          <p:attrName>style.visibility</p:attrName>
                                        </p:attrNameLst>
                                      </p:cBhvr>
                                      <p:to>
                                        <p:strVal val="visible"/>
                                      </p:to>
                                    </p:set>
                                  </p:childTnLst>
                                </p:cTn>
                              </p:par>
                              <p:par>
                                <p:cTn id="111" presetID="0" presetClass="path" presetSubtype="0" accel="50000" decel="50000" fill="hold" grpId="0" nodeType="withEffect">
                                  <p:stCondLst>
                                    <p:cond delay="2000"/>
                                  </p:stCondLst>
                                  <p:childTnLst>
                                    <p:animMotion origin="layout" path="M -8.33333E-7 1.37405E-6 L 0.42865 -0.00347 " pathEditMode="relative" rAng="0" ptsTypes="AA">
                                      <p:cBhvr>
                                        <p:cTn id="112" dur="3000" fill="hold"/>
                                        <p:tgtEl>
                                          <p:spTgt spid="18"/>
                                        </p:tgtEl>
                                        <p:attrNameLst>
                                          <p:attrName>ppt_x</p:attrName>
                                          <p:attrName>ppt_y</p:attrName>
                                        </p:attrNameLst>
                                      </p:cBhvr>
                                      <p:rCtr x="214" y="-2"/>
                                    </p:animMotion>
                                  </p:childTnLst>
                                </p:cTn>
                              </p:par>
                              <p:par>
                                <p:cTn id="113" presetID="1" presetClass="entr" presetSubtype="0" fill="hold" grpId="2" nodeType="withEffect">
                                  <p:stCondLst>
                                    <p:cond delay="2500"/>
                                  </p:stCondLst>
                                  <p:childTnLst>
                                    <p:set>
                                      <p:cBhvr>
                                        <p:cTn id="114" dur="1" fill="hold">
                                          <p:stCondLst>
                                            <p:cond delay="0"/>
                                          </p:stCondLst>
                                        </p:cTn>
                                        <p:tgtEl>
                                          <p:spTgt spid="20"/>
                                        </p:tgtEl>
                                        <p:attrNameLst>
                                          <p:attrName>style.visibility</p:attrName>
                                        </p:attrNameLst>
                                      </p:cBhvr>
                                      <p:to>
                                        <p:strVal val="visible"/>
                                      </p:to>
                                    </p:set>
                                  </p:childTnLst>
                                </p:cTn>
                              </p:par>
                              <p:par>
                                <p:cTn id="115" presetID="0" presetClass="path" presetSubtype="0" accel="50000" decel="50000" fill="hold" grpId="0" nodeType="withEffect">
                                  <p:stCondLst>
                                    <p:cond delay="2500"/>
                                  </p:stCondLst>
                                  <p:childTnLst>
                                    <p:animMotion origin="layout" path="M -3.33333E-6 4.76752E-6 L -0.10416 4.76752E-6 " pathEditMode="relative" rAng="0" ptsTypes="AA">
                                      <p:cBhvr>
                                        <p:cTn id="116" dur="1000" fill="hold"/>
                                        <p:tgtEl>
                                          <p:spTgt spid="20"/>
                                        </p:tgtEl>
                                        <p:attrNameLst>
                                          <p:attrName>ppt_x</p:attrName>
                                          <p:attrName>ppt_y</p:attrName>
                                        </p:attrNameLst>
                                      </p:cBhvr>
                                      <p:rCtr x="-52" y="0"/>
                                    </p:animMotion>
                                  </p:childTnLst>
                                </p:cTn>
                              </p:par>
                              <p:par>
                                <p:cTn id="117" presetID="10" presetClass="exit" presetSubtype="0" fill="hold" grpId="3" nodeType="withEffect">
                                  <p:stCondLst>
                                    <p:cond delay="3500"/>
                                  </p:stCondLst>
                                  <p:childTnLst>
                                    <p:animEffect transition="out" filter="fade">
                                      <p:cBhvr>
                                        <p:cTn id="118" dur="2000"/>
                                        <p:tgtEl>
                                          <p:spTgt spid="20"/>
                                        </p:tgtEl>
                                      </p:cBhvr>
                                    </p:animEffect>
                                    <p:set>
                                      <p:cBhvr>
                                        <p:cTn id="119" dur="1" fill="hold">
                                          <p:stCondLst>
                                            <p:cond delay="1999"/>
                                          </p:stCondLst>
                                        </p:cTn>
                                        <p:tgtEl>
                                          <p:spTgt spid="20"/>
                                        </p:tgtEl>
                                        <p:attrNameLst>
                                          <p:attrName>style.visibility</p:attrName>
                                        </p:attrNameLst>
                                      </p:cBhvr>
                                      <p:to>
                                        <p:strVal val="hidden"/>
                                      </p:to>
                                    </p:set>
                                  </p:childTnLst>
                                </p:cTn>
                              </p:par>
                              <p:par>
                                <p:cTn id="120" presetID="1" presetClass="entr" presetSubtype="0" fill="hold" grpId="1" nodeType="withEffect">
                                  <p:stCondLst>
                                    <p:cond delay="3000"/>
                                  </p:stCondLst>
                                  <p:childTnLst>
                                    <p:set>
                                      <p:cBhvr>
                                        <p:cTn id="121" dur="1" fill="hold">
                                          <p:stCondLst>
                                            <p:cond delay="0"/>
                                          </p:stCondLst>
                                        </p:cTn>
                                        <p:tgtEl>
                                          <p:spTgt spid="21"/>
                                        </p:tgtEl>
                                        <p:attrNameLst>
                                          <p:attrName>style.visibility</p:attrName>
                                        </p:attrNameLst>
                                      </p:cBhvr>
                                      <p:to>
                                        <p:strVal val="visible"/>
                                      </p:to>
                                    </p:set>
                                  </p:childTnLst>
                                </p:cTn>
                              </p:par>
                              <p:par>
                                <p:cTn id="122" presetID="0" presetClass="path" presetSubtype="0" accel="50000" decel="50000" fill="hold" grpId="0" nodeType="withEffect">
                                  <p:stCondLst>
                                    <p:cond delay="3000"/>
                                  </p:stCondLst>
                                  <p:childTnLst>
                                    <p:animMotion origin="layout" path="M -3.33333E-6 4.76752E-6 L -0.10416 4.76752E-6 " pathEditMode="relative" rAng="0" ptsTypes="AA">
                                      <p:cBhvr>
                                        <p:cTn id="123" dur="1000" fill="hold"/>
                                        <p:tgtEl>
                                          <p:spTgt spid="21"/>
                                        </p:tgtEl>
                                        <p:attrNameLst>
                                          <p:attrName>ppt_x</p:attrName>
                                          <p:attrName>ppt_y</p:attrName>
                                        </p:attrNameLst>
                                      </p:cBhvr>
                                      <p:rCtr x="-52" y="0"/>
                                    </p:animMotion>
                                  </p:childTnLst>
                                </p:cTn>
                              </p:par>
                              <p:par>
                                <p:cTn id="124" presetID="10" presetClass="exit" presetSubtype="0" fill="hold" grpId="2" nodeType="withEffect">
                                  <p:stCondLst>
                                    <p:cond delay="4000"/>
                                  </p:stCondLst>
                                  <p:childTnLst>
                                    <p:animEffect transition="out" filter="fade">
                                      <p:cBhvr>
                                        <p:cTn id="125" dur="2000"/>
                                        <p:tgtEl>
                                          <p:spTgt spid="21"/>
                                        </p:tgtEl>
                                      </p:cBhvr>
                                    </p:animEffect>
                                    <p:set>
                                      <p:cBhvr>
                                        <p:cTn id="126" dur="1" fill="hold">
                                          <p:stCondLst>
                                            <p:cond delay="1999"/>
                                          </p:stCondLst>
                                        </p:cTn>
                                        <p:tgtEl>
                                          <p:spTgt spid="21"/>
                                        </p:tgtEl>
                                        <p:attrNameLst>
                                          <p:attrName>style.visibility</p:attrName>
                                        </p:attrNameLst>
                                      </p:cBhvr>
                                      <p:to>
                                        <p:strVal val="hidden"/>
                                      </p:to>
                                    </p:set>
                                  </p:childTnLst>
                                </p:cTn>
                              </p:par>
                              <p:par>
                                <p:cTn id="127" presetID="1" presetClass="entr" presetSubtype="0" fill="hold" grpId="1" nodeType="withEffect">
                                  <p:stCondLst>
                                    <p:cond delay="3500"/>
                                  </p:stCondLst>
                                  <p:childTnLst>
                                    <p:set>
                                      <p:cBhvr>
                                        <p:cTn id="128" dur="1" fill="hold">
                                          <p:stCondLst>
                                            <p:cond delay="0"/>
                                          </p:stCondLst>
                                        </p:cTn>
                                        <p:tgtEl>
                                          <p:spTgt spid="22"/>
                                        </p:tgtEl>
                                        <p:attrNameLst>
                                          <p:attrName>style.visibility</p:attrName>
                                        </p:attrNameLst>
                                      </p:cBhvr>
                                      <p:to>
                                        <p:strVal val="visible"/>
                                      </p:to>
                                    </p:set>
                                  </p:childTnLst>
                                </p:cTn>
                              </p:par>
                              <p:par>
                                <p:cTn id="129" presetID="0" presetClass="path" presetSubtype="0" accel="50000" decel="50000" fill="hold" grpId="0" nodeType="withEffect">
                                  <p:stCondLst>
                                    <p:cond delay="3500"/>
                                  </p:stCondLst>
                                  <p:childTnLst>
                                    <p:animMotion origin="layout" path="M -3.33333E-6 4.76752E-6 L -0.10416 4.76752E-6 " pathEditMode="relative" rAng="0" ptsTypes="AA">
                                      <p:cBhvr>
                                        <p:cTn id="130" dur="1000" fill="hold"/>
                                        <p:tgtEl>
                                          <p:spTgt spid="22"/>
                                        </p:tgtEl>
                                        <p:attrNameLst>
                                          <p:attrName>ppt_x</p:attrName>
                                          <p:attrName>ppt_y</p:attrName>
                                        </p:attrNameLst>
                                      </p:cBhvr>
                                      <p:rCtr x="-52" y="0"/>
                                    </p:animMotion>
                                  </p:childTnLst>
                                </p:cTn>
                              </p:par>
                              <p:par>
                                <p:cTn id="131" presetID="10" presetClass="exit" presetSubtype="0" fill="hold" grpId="2" nodeType="withEffect">
                                  <p:stCondLst>
                                    <p:cond delay="4500"/>
                                  </p:stCondLst>
                                  <p:childTnLst>
                                    <p:animEffect transition="out" filter="fade">
                                      <p:cBhvr>
                                        <p:cTn id="132" dur="2000"/>
                                        <p:tgtEl>
                                          <p:spTgt spid="22"/>
                                        </p:tgtEl>
                                      </p:cBhvr>
                                    </p:animEffect>
                                    <p:set>
                                      <p:cBhvr>
                                        <p:cTn id="133" dur="1" fill="hold">
                                          <p:stCondLst>
                                            <p:cond delay="1999"/>
                                          </p:stCondLst>
                                        </p:cTn>
                                        <p:tgtEl>
                                          <p:spTgt spid="22"/>
                                        </p:tgtEl>
                                        <p:attrNameLst>
                                          <p:attrName>style.visibility</p:attrName>
                                        </p:attrNameLst>
                                      </p:cBhvr>
                                      <p:to>
                                        <p:strVal val="hidden"/>
                                      </p:to>
                                    </p:set>
                                  </p:childTnLst>
                                </p:cTn>
                              </p:par>
                              <p:par>
                                <p:cTn id="134" presetID="1" presetClass="entr" presetSubtype="0" fill="hold" grpId="1" nodeType="withEffect">
                                  <p:stCondLst>
                                    <p:cond delay="4000"/>
                                  </p:stCondLst>
                                  <p:childTnLst>
                                    <p:set>
                                      <p:cBhvr>
                                        <p:cTn id="135" dur="1" fill="hold">
                                          <p:stCondLst>
                                            <p:cond delay="0"/>
                                          </p:stCondLst>
                                        </p:cTn>
                                        <p:tgtEl>
                                          <p:spTgt spid="23"/>
                                        </p:tgtEl>
                                        <p:attrNameLst>
                                          <p:attrName>style.visibility</p:attrName>
                                        </p:attrNameLst>
                                      </p:cBhvr>
                                      <p:to>
                                        <p:strVal val="visible"/>
                                      </p:to>
                                    </p:set>
                                  </p:childTnLst>
                                </p:cTn>
                              </p:par>
                              <p:par>
                                <p:cTn id="136" presetID="0" presetClass="path" presetSubtype="0" accel="50000" decel="50000" fill="hold" grpId="0" nodeType="withEffect">
                                  <p:stCondLst>
                                    <p:cond delay="4000"/>
                                  </p:stCondLst>
                                  <p:childTnLst>
                                    <p:animMotion origin="layout" path="M -3.33333E-6 4.76752E-6 L -0.10416 4.76752E-6 " pathEditMode="relative" rAng="0" ptsTypes="AA">
                                      <p:cBhvr>
                                        <p:cTn id="137" dur="1000" fill="hold"/>
                                        <p:tgtEl>
                                          <p:spTgt spid="23"/>
                                        </p:tgtEl>
                                        <p:attrNameLst>
                                          <p:attrName>ppt_x</p:attrName>
                                          <p:attrName>ppt_y</p:attrName>
                                        </p:attrNameLst>
                                      </p:cBhvr>
                                      <p:rCtr x="-52" y="0"/>
                                    </p:animMotion>
                                  </p:childTnLst>
                                </p:cTn>
                              </p:par>
                              <p:par>
                                <p:cTn id="138" presetID="10" presetClass="exit" presetSubtype="0" fill="hold" grpId="2" nodeType="withEffect">
                                  <p:stCondLst>
                                    <p:cond delay="4500"/>
                                  </p:stCondLst>
                                  <p:childTnLst>
                                    <p:animEffect transition="out" filter="fade">
                                      <p:cBhvr>
                                        <p:cTn id="139" dur="2000"/>
                                        <p:tgtEl>
                                          <p:spTgt spid="23"/>
                                        </p:tgtEl>
                                      </p:cBhvr>
                                    </p:animEffect>
                                    <p:set>
                                      <p:cBhvr>
                                        <p:cTn id="140" dur="1" fill="hold">
                                          <p:stCondLst>
                                            <p:cond delay="1999"/>
                                          </p:stCondLst>
                                        </p:cTn>
                                        <p:tgtEl>
                                          <p:spTgt spid="23"/>
                                        </p:tgtEl>
                                        <p:attrNameLst>
                                          <p:attrName>style.visibility</p:attrName>
                                        </p:attrNameLst>
                                      </p:cBhvr>
                                      <p:to>
                                        <p:strVal val="hidden"/>
                                      </p:to>
                                    </p:set>
                                  </p:childTnLst>
                                </p:cTn>
                              </p:par>
                              <p:par>
                                <p:cTn id="141" presetID="1" presetClass="entr" presetSubtype="0" fill="hold" grpId="1" nodeType="withEffect">
                                  <p:stCondLst>
                                    <p:cond delay="4500"/>
                                  </p:stCondLst>
                                  <p:childTnLst>
                                    <p:set>
                                      <p:cBhvr>
                                        <p:cTn id="142" dur="1" fill="hold">
                                          <p:stCondLst>
                                            <p:cond delay="0"/>
                                          </p:stCondLst>
                                        </p:cTn>
                                        <p:tgtEl>
                                          <p:spTgt spid="24"/>
                                        </p:tgtEl>
                                        <p:attrNameLst>
                                          <p:attrName>style.visibility</p:attrName>
                                        </p:attrNameLst>
                                      </p:cBhvr>
                                      <p:to>
                                        <p:strVal val="visible"/>
                                      </p:to>
                                    </p:set>
                                  </p:childTnLst>
                                </p:cTn>
                              </p:par>
                              <p:par>
                                <p:cTn id="143" presetID="0" presetClass="path" presetSubtype="0" accel="50000" decel="50000" fill="hold" grpId="0" nodeType="withEffect">
                                  <p:stCondLst>
                                    <p:cond delay="4500"/>
                                  </p:stCondLst>
                                  <p:childTnLst>
                                    <p:animMotion origin="layout" path="M -3.33333E-6 4.76752E-6 L -0.10416 4.76752E-6 " pathEditMode="relative" rAng="0" ptsTypes="AA">
                                      <p:cBhvr>
                                        <p:cTn id="144" dur="1000" fill="hold"/>
                                        <p:tgtEl>
                                          <p:spTgt spid="24"/>
                                        </p:tgtEl>
                                        <p:attrNameLst>
                                          <p:attrName>ppt_x</p:attrName>
                                          <p:attrName>ppt_y</p:attrName>
                                        </p:attrNameLst>
                                      </p:cBhvr>
                                      <p:rCtr x="-52" y="0"/>
                                    </p:animMotion>
                                  </p:childTnLst>
                                </p:cTn>
                              </p:par>
                              <p:par>
                                <p:cTn id="145" presetID="10" presetClass="exit" presetSubtype="0" fill="hold" grpId="2" nodeType="withEffect">
                                  <p:stCondLst>
                                    <p:cond delay="5500"/>
                                  </p:stCondLst>
                                  <p:childTnLst>
                                    <p:animEffect transition="out" filter="fade">
                                      <p:cBhvr>
                                        <p:cTn id="146" dur="2000"/>
                                        <p:tgtEl>
                                          <p:spTgt spid="24"/>
                                        </p:tgtEl>
                                      </p:cBhvr>
                                    </p:animEffect>
                                    <p:set>
                                      <p:cBhvr>
                                        <p:cTn id="147" dur="1" fill="hold">
                                          <p:stCondLst>
                                            <p:cond delay="1999"/>
                                          </p:stCondLst>
                                        </p:cTn>
                                        <p:tgtEl>
                                          <p:spTgt spid="24"/>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1" presetClass="exit" presetSubtype="0" fill="hold" grpId="3" nodeType="clickEffect">
                                  <p:stCondLst>
                                    <p:cond delay="0"/>
                                  </p:stCondLst>
                                  <p:childTnLst>
                                    <p:set>
                                      <p:cBhvr>
                                        <p:cTn id="151" dur="1" fill="hold">
                                          <p:stCondLst>
                                            <p:cond delay="0"/>
                                          </p:stCondLst>
                                        </p:cTn>
                                        <p:tgtEl>
                                          <p:spTgt spid="18"/>
                                        </p:tgtEl>
                                        <p:attrNameLst>
                                          <p:attrName>style.visibility</p:attrName>
                                        </p:attrNameLst>
                                      </p:cBhvr>
                                      <p:to>
                                        <p:strVal val="hidden"/>
                                      </p:to>
                                    </p:set>
                                  </p:childTnLst>
                                </p:cTn>
                              </p:par>
                              <p:par>
                                <p:cTn id="152" presetID="1" presetClass="exit" presetSubtype="0" fill="hold" nodeType="withEffect">
                                  <p:stCondLst>
                                    <p:cond delay="0"/>
                                  </p:stCondLst>
                                  <p:childTnLst>
                                    <p:set>
                                      <p:cBhvr>
                                        <p:cTn id="153" dur="1" fill="hold">
                                          <p:stCondLst>
                                            <p:cond delay="0"/>
                                          </p:stCondLst>
                                        </p:cTn>
                                        <p:tgtEl>
                                          <p:spTgt spid="17"/>
                                        </p:tgtEl>
                                        <p:attrNameLst>
                                          <p:attrName>style.visibility</p:attrName>
                                        </p:attrNameLst>
                                      </p:cBhvr>
                                      <p:to>
                                        <p:strVal val="hidden"/>
                                      </p:to>
                                    </p:set>
                                  </p:childTnLst>
                                </p:cTn>
                              </p:par>
                              <p:par>
                                <p:cTn id="154" presetID="1" presetClass="exit" presetSubtype="0" fill="hold" nodeType="withEffect">
                                  <p:stCondLst>
                                    <p:cond delay="0"/>
                                  </p:stCondLst>
                                  <p:childTnLst>
                                    <p:set>
                                      <p:cBhvr>
                                        <p:cTn id="155" dur="1" fill="hold">
                                          <p:stCondLst>
                                            <p:cond delay="0"/>
                                          </p:stCondLst>
                                        </p:cTn>
                                        <p:tgtEl>
                                          <p:spTgt spid="16"/>
                                        </p:tgtEl>
                                        <p:attrNameLst>
                                          <p:attrName>style.visibility</p:attrName>
                                        </p:attrNameLst>
                                      </p:cBhvr>
                                      <p:to>
                                        <p:strVal val="hidden"/>
                                      </p:to>
                                    </p:set>
                                  </p:childTnLst>
                                </p:cTn>
                              </p:par>
                              <p:par>
                                <p:cTn id="156" presetID="1" presetClass="exit" presetSubtype="0" fill="hold" nodeType="withEffect">
                                  <p:stCondLst>
                                    <p:cond delay="0"/>
                                  </p:stCondLst>
                                  <p:childTnLst>
                                    <p:set>
                                      <p:cBhvr>
                                        <p:cTn id="157" dur="1" fill="hold">
                                          <p:stCondLst>
                                            <p:cond delay="0"/>
                                          </p:stCondLst>
                                        </p:cTn>
                                        <p:tgtEl>
                                          <p:spTgt spid="15"/>
                                        </p:tgtEl>
                                        <p:attrNameLst>
                                          <p:attrName>style.visibility</p:attrName>
                                        </p:attrNameLst>
                                      </p:cBhvr>
                                      <p:to>
                                        <p:strVal val="hidden"/>
                                      </p:to>
                                    </p:set>
                                  </p:childTnLst>
                                </p:cTn>
                              </p:par>
                              <p:par>
                                <p:cTn id="158" presetID="1" presetClass="exit" presetSubtype="0" fill="hold" nodeType="withEffect">
                                  <p:stCondLst>
                                    <p:cond delay="0"/>
                                  </p:stCondLst>
                                  <p:childTnLst>
                                    <p:set>
                                      <p:cBhvr>
                                        <p:cTn id="159" dur="1" fill="hold">
                                          <p:stCondLst>
                                            <p:cond delay="0"/>
                                          </p:stCondLst>
                                        </p:cTn>
                                        <p:tgtEl>
                                          <p:spTgt spid="14"/>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nodeType="clickEffect">
                                  <p:stCondLst>
                                    <p:cond delay="0"/>
                                  </p:stCondLst>
                                  <p:childTnLst>
                                    <p:set>
                                      <p:cBhvr>
                                        <p:cTn id="163" dur="1" fill="hold">
                                          <p:stCondLst>
                                            <p:cond delay="0"/>
                                          </p:stCondLst>
                                        </p:cTn>
                                        <p:tgtEl>
                                          <p:spTgt spid="25"/>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nodeType="clickEffect">
                                  <p:stCondLst>
                                    <p:cond delay="0"/>
                                  </p:stCondLst>
                                  <p:childTnLst>
                                    <p:set>
                                      <p:cBhvr>
                                        <p:cTn id="167" dur="1" fill="hold">
                                          <p:stCondLst>
                                            <p:cond delay="0"/>
                                          </p:stCondLst>
                                        </p:cTn>
                                        <p:tgtEl>
                                          <p:spTgt spid="25"/>
                                        </p:tgtEl>
                                        <p:attrNameLst>
                                          <p:attrName>style.visibility</p:attrName>
                                        </p:attrNameLst>
                                      </p:cBhvr>
                                      <p:to>
                                        <p:strVal val="visible"/>
                                      </p:to>
                                    </p:set>
                                  </p:childTnLst>
                                </p:cTn>
                              </p:par>
                              <p:par>
                                <p:cTn id="168" presetID="0" presetClass="path" presetSubtype="0" accel="50000" decel="50000" fill="hold" nodeType="withEffect">
                                  <p:stCondLst>
                                    <p:cond delay="0"/>
                                  </p:stCondLst>
                                  <p:childTnLst>
                                    <p:animMotion origin="layout" path="M -8.33333E-7 1.37405E-6 L 0.42865 -0.00347 " pathEditMode="relative" rAng="0" ptsTypes="AA">
                                      <p:cBhvr>
                                        <p:cTn id="169" dur="1000" fill="hold"/>
                                        <p:tgtEl>
                                          <p:spTgt spid="25"/>
                                        </p:tgtEl>
                                        <p:attrNameLst>
                                          <p:attrName>ppt_x</p:attrName>
                                          <p:attrName>ppt_y</p:attrName>
                                        </p:attrNameLst>
                                      </p:cBhvr>
                                      <p:rCtr x="214" y="-2"/>
                                    </p:animMotion>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1" nodeType="clickEffect">
                                  <p:stCondLst>
                                    <p:cond delay="0"/>
                                  </p:stCondLst>
                                  <p:childTnLst>
                                    <p:set>
                                      <p:cBhvr>
                                        <p:cTn id="173" dur="1" fill="hold">
                                          <p:stCondLst>
                                            <p:cond delay="0"/>
                                          </p:stCondLst>
                                        </p:cTn>
                                        <p:tgtEl>
                                          <p:spTgt spid="26"/>
                                        </p:tgtEl>
                                        <p:attrNameLst>
                                          <p:attrName>style.visibility</p:attrName>
                                        </p:attrNameLst>
                                      </p:cBhvr>
                                      <p:to>
                                        <p:strVal val="visible"/>
                                      </p:to>
                                    </p:set>
                                  </p:childTnLst>
                                </p:cTn>
                              </p:par>
                              <p:par>
                                <p:cTn id="174" presetID="0" presetClass="path" presetSubtype="0" accel="50000" decel="50000" fill="hold" grpId="0" nodeType="withEffect">
                                  <p:stCondLst>
                                    <p:cond delay="0"/>
                                  </p:stCondLst>
                                  <p:childTnLst>
                                    <p:animMotion origin="layout" path="M -3.33333E-6 4.76752E-6 L -0.4375 4.76752E-6 " pathEditMode="relative" rAng="0" ptsTypes="AA">
                                      <p:cBhvr>
                                        <p:cTn id="175" dur="1000" fill="hold"/>
                                        <p:tgtEl>
                                          <p:spTgt spid="26"/>
                                        </p:tgtEl>
                                        <p:attrNameLst>
                                          <p:attrName>ppt_x</p:attrName>
                                          <p:attrName>ppt_y</p:attrName>
                                        </p:attrNameLst>
                                      </p:cBhvr>
                                      <p:rCtr x="-21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5" grpId="2" animBg="1"/>
      <p:bldP spid="16" grpId="0" animBg="1"/>
      <p:bldP spid="16" grpId="1" animBg="1"/>
      <p:bldP spid="16" grpId="2" animBg="1"/>
      <p:bldP spid="17" grpId="0" animBg="1"/>
      <p:bldP spid="17" grpId="1" animBg="1"/>
      <p:bldP spid="17" grpId="2" animBg="1"/>
      <p:bldP spid="18" grpId="0" animBg="1"/>
      <p:bldP spid="18" grpId="1" animBg="1"/>
      <p:bldP spid="18" grpId="2" animBg="1"/>
      <p:bldP spid="18" grpId="3" animBg="1"/>
      <p:bldP spid="12" grpId="0" animBg="1"/>
      <p:bldP spid="12" grpId="1" animBg="1"/>
      <p:bldP spid="12" grpId="2" animBg="1"/>
      <p:bldP spid="12" grpId="3" animBg="1"/>
      <p:bldP spid="14" grpId="0" animBg="1"/>
      <p:bldP spid="14" grpId="1" animBg="1"/>
      <p:bldP spid="14" grpId="2" animBg="1"/>
      <p:bldP spid="20" grpId="0" animBg="1"/>
      <p:bldP spid="20" grpId="2" animBg="1"/>
      <p:bldP spid="20" grpId="3" animBg="1"/>
      <p:bldP spid="21" grpId="0" animBg="1"/>
      <p:bldP spid="21" grpId="1" animBg="1"/>
      <p:bldP spid="21" grpId="2" animBg="1"/>
      <p:bldP spid="22" grpId="0" animBg="1"/>
      <p:bldP spid="22" grpId="1" animBg="1"/>
      <p:bldP spid="22" grpId="2" animBg="1"/>
      <p:bldP spid="23" grpId="0" animBg="1"/>
      <p:bldP spid="23" grpId="1" animBg="1"/>
      <p:bldP spid="23" grpId="2" animBg="1"/>
      <p:bldP spid="24" grpId="0" animBg="1"/>
      <p:bldP spid="24" grpId="1" animBg="1"/>
      <p:bldP spid="24" grpId="2" animBg="1"/>
      <p:bldP spid="13" grpId="0" animBg="1"/>
      <p:bldP spid="13" grpId="1" animBg="1"/>
      <p:bldP spid="13" grpId="2" animBg="1"/>
      <p:bldP spid="13" grpId="3" animBg="1"/>
      <p:bldP spid="26" grpId="0" animBg="1"/>
      <p:bldP spid="26" grpId="1" animBg="1"/>
      <p:bldP spid="9" grpId="0" animBg="1"/>
      <p:bldP spid="9" grpId="1" animBg="1"/>
      <p:bldP spid="9" grpId="2" animBg="1"/>
      <p:bldP spid="8" grpId="0" animBg="1"/>
      <p:bldP spid="8" grpId="1" animBg="1"/>
      <p:bldP spid="8" grpId="2" animBg="1"/>
      <p:bldP spid="8" grpId="3" animBg="1"/>
      <p:bldP spid="10" grpId="0" animBg="1"/>
      <p:bldP spid="10" grpId="1" animBg="1"/>
      <p:bldP spid="10" grpId="2" animBg="1"/>
      <p:bldP spid="10" grpId="3" animBg="1"/>
    </p:bld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or OUT blocking results</a:t>
            </a:r>
            <a:endParaRPr lang="en-US" dirty="0"/>
          </a:p>
        </p:txBody>
      </p:sp>
      <p:sp>
        <p:nvSpPr>
          <p:cNvPr id="3" name="Content Placeholder 2"/>
          <p:cNvSpPr>
            <a:spLocks noGrp="1"/>
          </p:cNvSpPr>
          <p:nvPr>
            <p:ph idx="1"/>
          </p:nvPr>
        </p:nvSpPr>
        <p:spPr/>
        <p:txBody>
          <a:bodyPr>
            <a:normAutofit/>
          </a:bodyPr>
          <a:lstStyle/>
          <a:p>
            <a:r>
              <a:rPr lang="en-US" dirty="0" smtClean="0"/>
              <a:t>Only 22 out of 688 prefixes performed IN blocking (3.2%)</a:t>
            </a:r>
          </a:p>
          <a:p>
            <a:r>
              <a:rPr lang="en-US" dirty="0" smtClean="0"/>
              <a:t>The remaining 666 prefixes are vulnerable to triangular spamming</a:t>
            </a:r>
          </a:p>
          <a:p>
            <a:r>
              <a:rPr lang="en-US" dirty="0" smtClean="0"/>
              <a:t>Next step</a:t>
            </a:r>
          </a:p>
          <a:p>
            <a:pPr lvl="1"/>
            <a:r>
              <a:rPr lang="en-US" dirty="0" smtClean="0"/>
              <a:t>Are these prefixes usable to the spammers? </a:t>
            </a:r>
          </a:p>
          <a:p>
            <a:pPr lvl="1"/>
            <a:r>
              <a:rPr lang="en-US" dirty="0" smtClean="0"/>
              <a:t>Are they listed on the blacklists?</a:t>
            </a:r>
          </a:p>
          <a:p>
            <a:pPr lvl="1"/>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Defense in depth – IP blacklisting</a:t>
            </a:r>
            <a:endParaRPr lang="en-US" dirty="0"/>
          </a:p>
        </p:txBody>
      </p:sp>
      <p:sp>
        <p:nvSpPr>
          <p:cNvPr id="3" name="Content Placeholder 2"/>
          <p:cNvSpPr>
            <a:spLocks noGrp="1"/>
          </p:cNvSpPr>
          <p:nvPr>
            <p:ph idx="1"/>
          </p:nvPr>
        </p:nvSpPr>
        <p:spPr/>
        <p:txBody>
          <a:bodyPr>
            <a:normAutofit fontScale="92500"/>
          </a:bodyPr>
          <a:lstStyle/>
          <a:p>
            <a:r>
              <a:rPr lang="en-US" dirty="0" err="1" smtClean="0"/>
              <a:t>Spamhaus</a:t>
            </a:r>
            <a:r>
              <a:rPr lang="en-US" dirty="0" smtClean="0"/>
              <a:t> Policy Blocking List (PBL)</a:t>
            </a:r>
          </a:p>
          <a:p>
            <a:pPr lvl="1"/>
            <a:r>
              <a:rPr lang="en-US" dirty="0" smtClean="0"/>
              <a:t>End-user IP address ranges which “</a:t>
            </a:r>
            <a:r>
              <a:rPr lang="en-US" dirty="0" smtClean="0">
                <a:solidFill>
                  <a:srgbClr val="0070C0"/>
                </a:solidFill>
              </a:rPr>
              <a:t>should not deliver unauthenticated SMTP email”</a:t>
            </a:r>
            <a:r>
              <a:rPr lang="en-US" dirty="0" smtClean="0"/>
              <a:t> (e.g. dynamic IP)</a:t>
            </a:r>
          </a:p>
          <a:p>
            <a:pPr lvl="1"/>
            <a:r>
              <a:rPr lang="en-US" dirty="0" smtClean="0"/>
              <a:t>Maintained by voluntary ISPs and PBL team</a:t>
            </a:r>
          </a:p>
          <a:p>
            <a:pPr lvl="5"/>
            <a:endParaRPr lang="en-US" dirty="0" smtClean="0"/>
          </a:p>
          <a:p>
            <a:r>
              <a:rPr lang="en-US" dirty="0" smtClean="0"/>
              <a:t>Only </a:t>
            </a:r>
            <a:r>
              <a:rPr lang="en-US" dirty="0" smtClean="0">
                <a:solidFill>
                  <a:srgbClr val="0070C0"/>
                </a:solidFill>
              </a:rPr>
              <a:t>296 out of 666</a:t>
            </a:r>
            <a:r>
              <a:rPr lang="en-US" dirty="0" smtClean="0"/>
              <a:t> (44%) vulnerable prefixes on PBL</a:t>
            </a:r>
          </a:p>
          <a:p>
            <a:pPr lvl="1"/>
            <a:r>
              <a:rPr lang="en-US" dirty="0" smtClean="0"/>
              <a:t>Not covered by port 25 blocking or IP-based blacklist</a:t>
            </a:r>
          </a:p>
          <a:p>
            <a:pPr lvl="1"/>
            <a:r>
              <a:rPr lang="en-US" dirty="0" smtClean="0"/>
              <a:t>Still exploitable by spammers via triangular spamming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of interest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solidFill>
                  <a:schemeClr val="bg1">
                    <a:lumMod val="50000"/>
                  </a:schemeClr>
                </a:solidFill>
              </a:rPr>
              <a:t>How to evade IP-based blacklist?</a:t>
            </a:r>
          </a:p>
          <a:p>
            <a:pPr lvl="1"/>
            <a:r>
              <a:rPr lang="en-US" dirty="0" smtClean="0">
                <a:solidFill>
                  <a:schemeClr val="bg1">
                    <a:lumMod val="50000"/>
                  </a:schemeClr>
                </a:solidFill>
              </a:rPr>
              <a:t>Two techniques to improve spam throughput while hiding high-bandwidth </a:t>
            </a:r>
            <a:r>
              <a:rPr lang="en-US" dirty="0" err="1" smtClean="0">
                <a:solidFill>
                  <a:schemeClr val="bg1">
                    <a:lumMod val="50000"/>
                  </a:schemeClr>
                </a:solidFill>
              </a:rPr>
              <a:t>bot</a:t>
            </a:r>
            <a:r>
              <a:rPr lang="en-US" dirty="0" smtClean="0">
                <a:solidFill>
                  <a:schemeClr val="bg1">
                    <a:lumMod val="50000"/>
                  </a:schemeClr>
                </a:solidFill>
              </a:rPr>
              <a:t> IP addresses</a:t>
            </a:r>
          </a:p>
          <a:p>
            <a:pPr lvl="1"/>
            <a:endParaRPr lang="en-US" sz="1200" dirty="0" smtClean="0">
              <a:solidFill>
                <a:schemeClr val="bg1">
                  <a:lumMod val="50000"/>
                </a:schemeClr>
              </a:solidFill>
            </a:endParaRPr>
          </a:p>
          <a:p>
            <a:r>
              <a:rPr lang="en-US" dirty="0" smtClean="0">
                <a:solidFill>
                  <a:schemeClr val="bg1">
                    <a:lumMod val="50000"/>
                  </a:schemeClr>
                </a:solidFill>
              </a:rPr>
              <a:t>How to evade port 25 blocking?</a:t>
            </a:r>
          </a:p>
          <a:p>
            <a:pPr lvl="1"/>
            <a:r>
              <a:rPr lang="en-US" dirty="0" smtClean="0">
                <a:solidFill>
                  <a:schemeClr val="bg1">
                    <a:lumMod val="50000"/>
                  </a:schemeClr>
                </a:solidFill>
              </a:rPr>
              <a:t>A large-scale measurement on port 25 blocking policy </a:t>
            </a:r>
          </a:p>
          <a:p>
            <a:pPr lvl="1"/>
            <a:r>
              <a:rPr lang="en-US" dirty="0" smtClean="0">
                <a:solidFill>
                  <a:schemeClr val="bg1">
                    <a:lumMod val="50000"/>
                  </a:schemeClr>
                </a:solidFill>
              </a:rPr>
              <a:t>97% of the blocking networks are vulnerable</a:t>
            </a:r>
          </a:p>
          <a:p>
            <a:pPr lvl="1"/>
            <a:endParaRPr lang="en-US" sz="1200" dirty="0" smtClean="0"/>
          </a:p>
          <a:p>
            <a:r>
              <a:rPr lang="en-US" dirty="0" smtClean="0"/>
              <a:t>Is there evidence in the wild?</a:t>
            </a:r>
          </a:p>
          <a:p>
            <a:pPr lvl="1"/>
            <a:r>
              <a:rPr lang="en-US" dirty="0" smtClean="0"/>
              <a:t>Implement and deploy proof-of-concept attack on </a:t>
            </a:r>
            <a:r>
              <a:rPr lang="en-US" dirty="0" err="1" smtClean="0"/>
              <a:t>planetlab</a:t>
            </a:r>
            <a:endParaRPr lang="en-US" dirty="0" smtClean="0"/>
          </a:p>
          <a:p>
            <a:pPr lvl="1"/>
            <a:r>
              <a:rPr lang="en-US" dirty="0" smtClean="0"/>
              <a:t>Collected evidence at a mail server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Prevention and detection</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Prevention – ISP side</a:t>
            </a:r>
          </a:p>
          <a:p>
            <a:pPr lvl="1"/>
            <a:r>
              <a:rPr lang="en-US" dirty="0" smtClean="0"/>
              <a:t>Do not allow IP spoofing </a:t>
            </a:r>
          </a:p>
          <a:p>
            <a:pPr lvl="2"/>
            <a:r>
              <a:rPr lang="en-US" dirty="0" smtClean="0"/>
              <a:t>Operationally challenging (one reason: multi-homing)</a:t>
            </a:r>
          </a:p>
          <a:p>
            <a:pPr lvl="1"/>
            <a:r>
              <a:rPr lang="en-US" dirty="0" smtClean="0"/>
              <a:t>Block incoming traffic with </a:t>
            </a:r>
            <a:r>
              <a:rPr lang="en-US" dirty="0" err="1" smtClean="0"/>
              <a:t>src</a:t>
            </a:r>
            <a:r>
              <a:rPr lang="en-US" dirty="0" smtClean="0"/>
              <a:t> port 25</a:t>
            </a:r>
          </a:p>
          <a:p>
            <a:pPr lvl="2"/>
            <a:r>
              <a:rPr lang="en-US" dirty="0" smtClean="0"/>
              <a:t>More feasible</a:t>
            </a:r>
          </a:p>
          <a:p>
            <a:pPr lvl="1"/>
            <a:r>
              <a:rPr lang="en-US" dirty="0" err="1" smtClean="0"/>
              <a:t>Stateful</a:t>
            </a:r>
            <a:r>
              <a:rPr lang="en-US" dirty="0" smtClean="0"/>
              <a:t> firewall to disable relay </a:t>
            </a:r>
            <a:r>
              <a:rPr lang="en-US" dirty="0" err="1" smtClean="0"/>
              <a:t>bot</a:t>
            </a:r>
            <a:endParaRPr lang="en-US" dirty="0" smtClean="0"/>
          </a:p>
          <a:p>
            <a:pPr lvl="2"/>
            <a:r>
              <a:rPr lang="en-US" dirty="0" smtClean="0"/>
              <a:t>Overhead</a:t>
            </a:r>
          </a:p>
          <a:p>
            <a:pPr lvl="1"/>
            <a:endParaRPr lang="en-US" sz="1000" dirty="0" smtClean="0"/>
          </a:p>
          <a:p>
            <a:r>
              <a:rPr lang="en-US" dirty="0" smtClean="0"/>
              <a:t>Detection – mail server side, look for</a:t>
            </a:r>
          </a:p>
          <a:p>
            <a:pPr lvl="1"/>
            <a:r>
              <a:rPr lang="en-US" dirty="0" smtClean="0"/>
              <a:t>IP addresses that are blocked for port 25 (they should not send emails, so likely use triangular spamming)</a:t>
            </a:r>
          </a:p>
          <a:p>
            <a:pPr lvl="1"/>
            <a:r>
              <a:rPr lang="en-US" dirty="0" smtClean="0"/>
              <a:t>Different network characteristics (network topology and network delay)</a:t>
            </a:r>
          </a:p>
          <a:p>
            <a:pPr lvl="1"/>
            <a:r>
              <a:rPr lang="en-US" dirty="0" smtClean="0"/>
              <a:t>No ground truth</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077200" cy="4495800"/>
          </a:xfrm>
        </p:spPr>
        <p:txBody>
          <a:bodyPr>
            <a:normAutofit fontScale="85000" lnSpcReduction="10000"/>
          </a:bodyPr>
          <a:lstStyle/>
          <a:p>
            <a:r>
              <a:rPr lang="en-US" dirty="0" smtClean="0"/>
              <a:t>Data</a:t>
            </a:r>
          </a:p>
          <a:p>
            <a:pPr lvl="1"/>
            <a:r>
              <a:rPr lang="en-US" dirty="0" smtClean="0"/>
              <a:t>7-day network traces at our departmental mail server</a:t>
            </a:r>
          </a:p>
          <a:p>
            <a:r>
              <a:rPr lang="en-US" dirty="0" smtClean="0"/>
              <a:t>Methodology</a:t>
            </a:r>
          </a:p>
          <a:p>
            <a:pPr lvl="1"/>
            <a:r>
              <a:rPr lang="en-US" dirty="0" smtClean="0"/>
              <a:t>For any incoming connection, active probing to look for port 25 blocking behavior (These IPs should not be delivering emails in the first place)</a:t>
            </a:r>
          </a:p>
          <a:p>
            <a:pPr lvl="1"/>
            <a:r>
              <a:rPr lang="en-US" dirty="0" smtClean="0"/>
              <a:t>May be incomplete</a:t>
            </a:r>
          </a:p>
          <a:p>
            <a:r>
              <a:rPr lang="en-US" dirty="0" smtClean="0"/>
              <a:t>Results</a:t>
            </a:r>
          </a:p>
          <a:p>
            <a:pPr lvl="1"/>
            <a:r>
              <a:rPr lang="en-US" dirty="0" smtClean="0"/>
              <a:t>1% of all IP addresses have port 25 blocking behavior</a:t>
            </a:r>
          </a:p>
          <a:p>
            <a:pPr lvl="1"/>
            <a:r>
              <a:rPr lang="en-US" dirty="0" smtClean="0"/>
              <a:t>Spam ratio for these IP addresses: 99.9%</a:t>
            </a:r>
          </a:p>
          <a:p>
            <a:pPr lvl="1"/>
            <a:r>
              <a:rPr lang="en-US" dirty="0" smtClean="0"/>
              <a:t>Other analysis in the paper</a:t>
            </a:r>
          </a:p>
          <a:p>
            <a:pPr lvl="1"/>
            <a:endParaRPr lang="en-US" dirty="0"/>
          </a:p>
        </p:txBody>
      </p:sp>
      <p:sp>
        <p:nvSpPr>
          <p:cNvPr id="2" name="Title 1"/>
          <p:cNvSpPr>
            <a:spLocks noGrp="1"/>
          </p:cNvSpPr>
          <p:nvPr>
            <p:ph type="title"/>
          </p:nvPr>
        </p:nvSpPr>
        <p:spPr/>
        <p:txBody>
          <a:bodyPr/>
          <a:lstStyle/>
          <a:p>
            <a:r>
              <a:rPr lang="en-US" dirty="0" smtClean="0"/>
              <a:t>Detection results at a mail server</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r>
              <a:rPr lang="en-US" dirty="0" smtClean="0"/>
              <a:t>A new stealthy and efficient spamming technique – triangular spamming</a:t>
            </a:r>
          </a:p>
          <a:p>
            <a:pPr lvl="1"/>
            <a:r>
              <a:rPr lang="en-US" altLang="zh-CN" dirty="0" smtClean="0"/>
              <a:t>Present techniques to improve</a:t>
            </a:r>
            <a:r>
              <a:rPr lang="en-US" dirty="0" smtClean="0"/>
              <a:t> throughput under triangular spamming</a:t>
            </a:r>
          </a:p>
          <a:p>
            <a:pPr lvl="1"/>
            <a:r>
              <a:rPr lang="en-US" dirty="0" smtClean="0"/>
              <a:t>Demonstrate today’s ISP port 25 blocking policy allows triangular spamming</a:t>
            </a:r>
          </a:p>
          <a:p>
            <a:pPr lvl="1"/>
            <a:r>
              <a:rPr lang="en-US" dirty="0" smtClean="0"/>
              <a:t>Collect evidence for triangular spamming in the wild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Thanks</a:t>
            </a:r>
            <a:endParaRPr lang="en-US" dirty="0"/>
          </a:p>
        </p:txBody>
      </p:sp>
      <p:sp>
        <p:nvSpPr>
          <p:cNvPr id="3" name="Content Placeholder 2"/>
          <p:cNvSpPr>
            <a:spLocks noGrp="1"/>
          </p:cNvSpPr>
          <p:nvPr>
            <p:ph idx="1"/>
          </p:nvPr>
        </p:nvSpPr>
        <p:spPr/>
        <p:txBody>
          <a:bodyPr/>
          <a:lstStyle/>
          <a:p>
            <a:r>
              <a:rPr lang="en-US" dirty="0" smtClean="0"/>
              <a:t>Q/A</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4638</TotalTime>
  <Words>2428</Words>
  <Application>Microsoft Macintosh PowerPoint</Application>
  <PresentationFormat>On-screen Show (4:3)</PresentationFormat>
  <Paragraphs>370</Paragraphs>
  <Slides>26</Slides>
  <Notes>23</Notes>
  <HiddenSlides>0</HiddenSlides>
  <MMClips>0</MMClips>
  <ScaleCrop>false</ScaleCrop>
  <HeadingPairs>
    <vt:vector size="4" baseType="variant">
      <vt:variant>
        <vt:lpstr>Design Template</vt:lpstr>
      </vt:variant>
      <vt:variant>
        <vt:i4>1</vt:i4>
      </vt:variant>
      <vt:variant>
        <vt:lpstr>Slide Titles</vt:lpstr>
      </vt:variant>
      <vt:variant>
        <vt:i4>26</vt:i4>
      </vt:variant>
    </vt:vector>
  </HeadingPairs>
  <TitlesOfParts>
    <vt:vector size="27" baseType="lpstr">
      <vt:lpstr>Office Theme</vt:lpstr>
      <vt:lpstr>Investigation of Triangular Spamming: a Stealthy and Efficient Spamming Technique</vt:lpstr>
      <vt:lpstr>Introduction</vt:lpstr>
      <vt:lpstr>Network-level spamming arms race</vt:lpstr>
      <vt:lpstr>Yet another new attack: Triangular spamming</vt:lpstr>
      <vt:lpstr>Yet another new attack: Triangular spamming</vt:lpstr>
      <vt:lpstr>Benefits of triangular spamming</vt:lpstr>
      <vt:lpstr>Questions of interest</vt:lpstr>
      <vt:lpstr>Questions of interest</vt:lpstr>
      <vt:lpstr>Spamming high throughput analysis</vt:lpstr>
      <vt:lpstr>Technique 1 – Selectively relaying packets</vt:lpstr>
      <vt:lpstr>Technique 2 – aggressive pipelining</vt:lpstr>
      <vt:lpstr>Questions of interest</vt:lpstr>
      <vt:lpstr>Port 25 blocking study</vt:lpstr>
      <vt:lpstr>Port 25 blocking experiments</vt:lpstr>
      <vt:lpstr>Port 25 blocking experiments</vt:lpstr>
      <vt:lpstr>Step 1: Obtain candidate network/prefixes that enforce port 25 blocking</vt:lpstr>
      <vt:lpstr>Port 25 blocking networks</vt:lpstr>
      <vt:lpstr>Port 25 blocking experiments</vt:lpstr>
      <vt:lpstr>IN or OUT blocking?</vt:lpstr>
      <vt:lpstr>IN or OUT blocking results</vt:lpstr>
      <vt:lpstr>Defense in depth – IP blacklisting</vt:lpstr>
      <vt:lpstr>Questions of interest</vt:lpstr>
      <vt:lpstr>Prevention and detection</vt:lpstr>
      <vt:lpstr>Detection results at a mail server</vt:lpstr>
      <vt:lpstr>Conclusion</vt:lpstr>
      <vt:lpstr>Thanks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Investigation of Triangular Spamming: a Stealthy and Efficient Spamming Technique</dc:title>
  <dc:creator>Zhiyun</dc:creator>
  <cp:lastModifiedBy>Zhiyun Qian</cp:lastModifiedBy>
  <cp:revision>873</cp:revision>
  <dcterms:created xsi:type="dcterms:W3CDTF">2010-05-17T05:39:55Z</dcterms:created>
  <dcterms:modified xsi:type="dcterms:W3CDTF">2010-05-17T06:58:53Z</dcterms:modified>
</cp:coreProperties>
</file>