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4"/>
  </p:notesMasterIdLst>
  <p:sldIdLst>
    <p:sldId id="256" r:id="rId2"/>
    <p:sldId id="277" r:id="rId3"/>
    <p:sldId id="257" r:id="rId4"/>
    <p:sldId id="276" r:id="rId5"/>
    <p:sldId id="258" r:id="rId6"/>
    <p:sldId id="259" r:id="rId7"/>
    <p:sldId id="260" r:id="rId8"/>
    <p:sldId id="268" r:id="rId9"/>
    <p:sldId id="269" r:id="rId10"/>
    <p:sldId id="270" r:id="rId11"/>
    <p:sldId id="271" r:id="rId12"/>
    <p:sldId id="272" r:id="rId13"/>
    <p:sldId id="273" r:id="rId14"/>
    <p:sldId id="275" r:id="rId15"/>
    <p:sldId id="274" r:id="rId16"/>
    <p:sldId id="261" r:id="rId17"/>
    <p:sldId id="282" r:id="rId18"/>
    <p:sldId id="278" r:id="rId19"/>
    <p:sldId id="279" r:id="rId20"/>
    <p:sldId id="284" r:id="rId21"/>
    <p:sldId id="280" r:id="rId22"/>
    <p:sldId id="283"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500" autoAdjust="0"/>
  </p:normalViewPr>
  <p:slideViewPr>
    <p:cSldViewPr snapToGrid="0" snapToObjects="1">
      <p:cViewPr varScale="1">
        <p:scale>
          <a:sx n="106" d="100"/>
          <a:sy n="106" d="100"/>
        </p:scale>
        <p:origin x="-640"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interSettings" Target="printerSettings/printerSettings1.bin"/><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D3CD176-9C81-2040-B3B4-778C36F2AFBE}" type="datetimeFigureOut">
              <a:rPr lang="en-US" smtClean="0"/>
              <a:pPr/>
              <a:t>9/22/11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ED978D7-3F7F-7C44-8285-EEC141FE9718}" type="slidenum">
              <a:rPr lang="en-US" smtClean="0"/>
              <a:pPr/>
              <a:t>‹#›</a:t>
            </a:fld>
            <a:endParaRPr lang="en-US"/>
          </a:p>
        </p:txBody>
      </p:sp>
    </p:spTree>
    <p:extLst>
      <p:ext uri="{BB962C8B-B14F-4D97-AF65-F5344CB8AC3E}">
        <p14:creationId xmlns:p14="http://schemas.microsoft.com/office/powerpoint/2010/main" val="361077020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Individual test also available</a:t>
            </a:r>
          </a:p>
          <a:p>
            <a:r>
              <a:rPr lang="en-US" dirty="0" smtClean="0"/>
              <a:t>Items written for</a:t>
            </a:r>
            <a:r>
              <a:rPr lang="en-US" baseline="0" dirty="0" smtClean="0"/>
              <a:t> outcomes and objectives from the 2 ACRL documents.</a:t>
            </a:r>
            <a:endParaRPr lang="en-US" dirty="0"/>
          </a:p>
        </p:txBody>
      </p:sp>
      <p:sp>
        <p:nvSpPr>
          <p:cNvPr id="4" name="Slide Number Placeholder 3"/>
          <p:cNvSpPr>
            <a:spLocks noGrp="1"/>
          </p:cNvSpPr>
          <p:nvPr>
            <p:ph type="sldNum" sz="quarter" idx="10"/>
          </p:nvPr>
        </p:nvSpPr>
        <p:spPr/>
        <p:txBody>
          <a:bodyPr/>
          <a:lstStyle/>
          <a:p>
            <a:fld id="{2ED978D7-3F7F-7C44-8285-EEC141FE9718}" type="slidenum">
              <a:rPr lang="en-US" smtClean="0"/>
              <a:pPr/>
              <a:t>3</a:t>
            </a:fld>
            <a:endParaRPr lang="en-US"/>
          </a:p>
        </p:txBody>
      </p:sp>
    </p:spTree>
    <p:extLst>
      <p:ext uri="{BB962C8B-B14F-4D97-AF65-F5344CB8AC3E}">
        <p14:creationId xmlns:p14="http://schemas.microsoft.com/office/powerpoint/2010/main" val="870538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D978D7-3F7F-7C44-8285-EEC141FE9718}" type="slidenum">
              <a:rPr lang="en-US" smtClean="0"/>
              <a:pPr/>
              <a:t>5</a:t>
            </a:fld>
            <a:endParaRPr lang="en-US"/>
          </a:p>
        </p:txBody>
      </p:sp>
    </p:spTree>
    <p:extLst>
      <p:ext uri="{BB962C8B-B14F-4D97-AF65-F5344CB8AC3E}">
        <p14:creationId xmlns:p14="http://schemas.microsoft.com/office/powerpoint/2010/main" val="4284890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Differences range from an increase of 33 points to an increase of 79 points.</a:t>
            </a:r>
          </a:p>
          <a:p>
            <a:r>
              <a:rPr lang="en-US" dirty="0" smtClean="0"/>
              <a:t>with increases ranging from 21 to 38 points</a:t>
            </a:r>
            <a:endParaRPr lang="en-US" dirty="0"/>
          </a:p>
        </p:txBody>
      </p:sp>
      <p:sp>
        <p:nvSpPr>
          <p:cNvPr id="4" name="Slide Number Placeholder 3"/>
          <p:cNvSpPr>
            <a:spLocks noGrp="1"/>
          </p:cNvSpPr>
          <p:nvPr>
            <p:ph type="sldNum" sz="quarter" idx="10"/>
          </p:nvPr>
        </p:nvSpPr>
        <p:spPr/>
        <p:txBody>
          <a:bodyPr/>
          <a:lstStyle/>
          <a:p>
            <a:fld id="{2ED978D7-3F7F-7C44-8285-EEC141FE9718}" type="slidenum">
              <a:rPr lang="en-US" smtClean="0"/>
              <a:pPr/>
              <a:t>16</a:t>
            </a:fld>
            <a:endParaRPr lang="en-US"/>
          </a:p>
        </p:txBody>
      </p:sp>
    </p:spTree>
    <p:extLst>
      <p:ext uri="{BB962C8B-B14F-4D97-AF65-F5344CB8AC3E}">
        <p14:creationId xmlns:p14="http://schemas.microsoft.com/office/powerpoint/2010/main" val="36842289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1" indent="0" algn="l" defTabSz="457200" rtl="0" eaLnBrk="1" fontAlgn="auto" latinLnBrk="0" hangingPunct="1">
              <a:lnSpc>
                <a:spcPct val="100000"/>
              </a:lnSpc>
              <a:spcBef>
                <a:spcPts val="0"/>
              </a:spcBef>
              <a:spcAft>
                <a:spcPts val="0"/>
              </a:spcAft>
              <a:buClrTx/>
              <a:buSzTx/>
              <a:buFontTx/>
              <a:buNone/>
              <a:tabLst/>
              <a:defRPr/>
            </a:pPr>
            <a:r>
              <a:rPr lang="en-US" dirty="0" smtClean="0"/>
              <a:t>Institutions that participate in SAILS are self-selecting. In addition, each institution selects students to take the SAILS test and those students may not represent the institution’s student body.</a:t>
            </a:r>
          </a:p>
          <a:p>
            <a:r>
              <a:rPr lang="en-US" dirty="0" smtClean="0"/>
              <a:t>The tests measure knowledge, which does not always correspond to demonstration of information literacy skills. The tests are based on the very broad construct of information literacy as operationalized by four of the five ACRL standards. </a:t>
            </a:r>
            <a:endParaRPr lang="en-US" dirty="0"/>
          </a:p>
        </p:txBody>
      </p:sp>
      <p:sp>
        <p:nvSpPr>
          <p:cNvPr id="4" name="Slide Number Placeholder 3"/>
          <p:cNvSpPr>
            <a:spLocks noGrp="1"/>
          </p:cNvSpPr>
          <p:nvPr>
            <p:ph type="sldNum" sz="quarter" idx="10"/>
          </p:nvPr>
        </p:nvSpPr>
        <p:spPr/>
        <p:txBody>
          <a:bodyPr/>
          <a:lstStyle/>
          <a:p>
            <a:fld id="{2ED978D7-3F7F-7C44-8285-EEC141FE9718}" type="slidenum">
              <a:rPr lang="en-US" smtClean="0"/>
              <a:pPr/>
              <a:t>19</a:t>
            </a:fld>
            <a:endParaRPr lang="en-US"/>
          </a:p>
        </p:txBody>
      </p:sp>
    </p:spTree>
    <p:extLst>
      <p:ext uri="{BB962C8B-B14F-4D97-AF65-F5344CB8AC3E}">
        <p14:creationId xmlns:p14="http://schemas.microsoft.com/office/powerpoint/2010/main" val="33251084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A2F0292D-1797-49A5-8D2D-8D50C72EF3CC}" type="datetimeFigureOut">
              <a:rPr lang="en-US" smtClean="0"/>
              <a:pPr/>
              <a:t>9/22/11</a:t>
            </a:fld>
            <a:endParaRPr lang="en-US"/>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US"/>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A2F0292D-1797-49A5-8D2D-8D50C72EF3CC}" type="datetimeFigureOut">
              <a:rPr lang="en-US" smtClean="0"/>
              <a:pPr/>
              <a:t>9/22/11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CC888B-D9F9-4E54-B722-F151A9F45E95}" type="slidenum">
              <a:rPr lang="en-US" smtClean="0"/>
              <a:pPr/>
              <a:t>‹#›</a:t>
            </a:fld>
            <a:endParaRPr lang="en-US"/>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A2F0292D-1797-49A5-8D2D-8D50C72EF3CC}" type="datetimeFigureOut">
              <a:rPr lang="en-US" smtClean="0"/>
              <a:pPr/>
              <a:t>9/22/11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CC888B-D9F9-4E54-B722-F151A9F45E95}" type="slidenum">
              <a:rPr lang="en-US" smtClean="0"/>
              <a:pPr/>
              <a:t>‹#›</a:t>
            </a:fld>
            <a:endParaRPr lang="en-US"/>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A2F0292D-1797-49A5-8D2D-8D50C72EF3CC}" type="datetimeFigureOut">
              <a:rPr lang="en-US" smtClean="0"/>
              <a:pPr/>
              <a:t>9/22/11</a:t>
            </a:fld>
            <a:endParaRPr lang="en-US"/>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US"/>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smtClean="0"/>
              <a:t>Drag picture to placeholder or click icon to add</a:t>
            </a:r>
            <a:endParaRPr/>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smtClean="0"/>
              <a:t>Drag picture to placeholder or click icon to add</a:t>
            </a:r>
            <a:endParaRPr/>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spcBef>
                <a:spcPts val="600"/>
              </a:spcBef>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A2F0292D-1797-49A5-8D2D-8D50C72EF3CC}" type="datetimeFigureOut">
              <a:rPr lang="en-US" smtClean="0"/>
              <a:pPr/>
              <a:t>9/22/11</a:t>
            </a:fld>
            <a:endParaRPr lang="en-US"/>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endParaRPr lang="en-US"/>
          </a:p>
        </p:txBody>
      </p:sp>
      <p:sp>
        <p:nvSpPr>
          <p:cNvPr id="6" name="Slide Number Placeholder 5"/>
          <p:cNvSpPr>
            <a:spLocks noGrp="1"/>
          </p:cNvSpPr>
          <p:nvPr>
            <p:ph type="sldNum" sz="quarter" idx="12"/>
          </p:nvPr>
        </p:nvSpPr>
        <p:spPr>
          <a:xfrm>
            <a:off x="8305800" y="6248774"/>
            <a:ext cx="554038" cy="365125"/>
          </a:xfrm>
        </p:spPr>
        <p:txBody>
          <a:bodyPr/>
          <a:lstStyle/>
          <a:p>
            <a:fld id="{D6CC888B-D9F9-4E54-B722-F151A9F45E95}" type="slidenum">
              <a:rPr lang="en-US" smtClean="0"/>
              <a:pPr/>
              <a:t>‹#›</a:t>
            </a:fld>
            <a:endParaRPr lang="en-US"/>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A2F0292D-1797-49A5-8D2D-8D50C72EF3CC}" type="datetimeFigureOut">
              <a:rPr lang="en-US" smtClean="0"/>
              <a:pPr/>
              <a:t>9/22/11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CC888B-D9F9-4E54-B722-F151A9F45E95}"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6"/>
          <p:cNvSpPr>
            <a:spLocks noGrp="1"/>
          </p:cNvSpPr>
          <p:nvPr>
            <p:ph type="dt" sz="half" idx="10"/>
          </p:nvPr>
        </p:nvSpPr>
        <p:spPr/>
        <p:txBody>
          <a:bodyPr/>
          <a:lstStyle/>
          <a:p>
            <a:fld id="{A2F0292D-1797-49A5-8D2D-8D50C72EF3CC}" type="datetimeFigureOut">
              <a:rPr lang="en-US" smtClean="0"/>
              <a:pPr/>
              <a:t>9/22/11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CC888B-D9F9-4E54-B722-F151A9F45E95}" type="slidenum">
              <a:rPr lang="en-US" smtClean="0"/>
              <a:pPr/>
              <a:t>‹#›</a:t>
            </a:fld>
            <a:endParaRPr lang="en-US"/>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A2F0292D-1797-49A5-8D2D-8D50C72EF3CC}" type="datetimeFigureOut">
              <a:rPr lang="en-US" smtClean="0"/>
              <a:pPr/>
              <a:t>9/22/11</a:t>
            </a:fld>
            <a:endParaRPr lang="en-US"/>
          </a:p>
        </p:txBody>
      </p:sp>
      <p:sp>
        <p:nvSpPr>
          <p:cNvPr id="6" name="Footer Placeholder 5"/>
          <p:cNvSpPr>
            <a:spLocks noGrp="1"/>
          </p:cNvSpPr>
          <p:nvPr>
            <p:ph type="ftr" sz="quarter" idx="11"/>
          </p:nvPr>
        </p:nvSpPr>
        <p:spPr/>
        <p:txBody>
          <a:bodyPr/>
          <a:lstStyle/>
          <a:p>
            <a:endParaRPr lang="en-US"/>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D6CC888B-D9F9-4E54-B722-F151A9F45E9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4"/>
          <p:cNvSpPr>
            <a:spLocks noGrp="1"/>
          </p:cNvSpPr>
          <p:nvPr>
            <p:ph type="dt" sz="half" idx="10"/>
          </p:nvPr>
        </p:nvSpPr>
        <p:spPr/>
        <p:txBody>
          <a:bodyPr/>
          <a:lstStyle/>
          <a:p>
            <a:fld id="{A2F0292D-1797-49A5-8D2D-8D50C72EF3CC}" type="datetimeFigureOut">
              <a:rPr lang="en-US" smtClean="0"/>
              <a:pPr/>
              <a:t>9/22/11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CC888B-D9F9-4E54-B722-F151A9F45E95}" type="slidenum">
              <a:rPr lang="en-US" smtClean="0"/>
              <a:pPr/>
              <a:t>‹#›</a:t>
            </a:fld>
            <a:endParaRPr lang="en-US"/>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fld id="{A2F0292D-1797-49A5-8D2D-8D50C72EF3CC}" type="datetimeFigureOut">
              <a:rPr lang="en-US" smtClean="0"/>
              <a:pPr/>
              <a:t>9/22/11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CC888B-D9F9-4E54-B722-F151A9F45E95}" type="slidenum">
              <a:rPr lang="en-US" smtClean="0"/>
              <a:pPr/>
              <a:t>‹#›</a:t>
            </a:fld>
            <a:endParaRPr lang="en-US"/>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A2F0292D-1797-49A5-8D2D-8D50C72EF3CC}" type="datetimeFigureOut">
              <a:rPr lang="en-US" smtClean="0"/>
              <a:pPr/>
              <a:t>9/22/11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CC888B-D9F9-4E54-B722-F151A9F45E95}"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A2F0292D-1797-49A5-8D2D-8D50C72EF3CC}" type="datetimeFigureOut">
              <a:rPr lang="en-US" smtClean="0"/>
              <a:pPr/>
              <a:t>9/22/11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CC888B-D9F9-4E54-B722-F151A9F45E95}"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dirty="0"/>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381093" y="3733800"/>
            <a:ext cx="3255264"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A2F0292D-1797-49A5-8D2D-8D50C72EF3CC}" type="datetimeFigureOut">
              <a:rPr lang="en-US" smtClean="0"/>
              <a:pPr/>
              <a:t>9/22/11</a:t>
            </a:fld>
            <a:endParaRPr lang="en-US"/>
          </a:p>
        </p:txBody>
      </p:sp>
      <p:sp>
        <p:nvSpPr>
          <p:cNvPr id="6" name="Footer Placeholder 5"/>
          <p:cNvSpPr>
            <a:spLocks noGrp="1"/>
          </p:cNvSpPr>
          <p:nvPr>
            <p:ph type="ftr" sz="quarter" idx="11"/>
          </p:nvPr>
        </p:nvSpPr>
        <p:spPr>
          <a:xfrm>
            <a:off x="3859305" y="6423585"/>
            <a:ext cx="3316941" cy="365125"/>
          </a:xfrm>
        </p:spPr>
        <p:txBody>
          <a:bodyPr/>
          <a:lstStyle/>
          <a:p>
            <a:endParaRPr lang="en-US"/>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4169404" y="3995737"/>
            <a:ext cx="3898272" cy="2147888"/>
          </a:xfrm>
        </p:spPr>
        <p:txBody>
          <a:bodyPr/>
          <a:lstStyle>
            <a:lvl1pPr marL="0" indent="0">
              <a:spcBef>
                <a:spcPts val="6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A2F0292D-1797-49A5-8D2D-8D50C72EF3CC}" type="datetimeFigureOut">
              <a:rPr lang="en-US" smtClean="0"/>
              <a:pPr/>
              <a:t>9/22/11</a:t>
            </a:fld>
            <a:endParaRPr lang="en-US"/>
          </a:p>
        </p:txBody>
      </p:sp>
      <p:sp>
        <p:nvSpPr>
          <p:cNvPr id="6" name="Footer Placeholder 5"/>
          <p:cNvSpPr>
            <a:spLocks noGrp="1"/>
          </p:cNvSpPr>
          <p:nvPr>
            <p:ph type="ftr" sz="quarter" idx="11"/>
          </p:nvPr>
        </p:nvSpPr>
        <p:spPr>
          <a:xfrm>
            <a:off x="4191000" y="6423585"/>
            <a:ext cx="3005138" cy="365125"/>
          </a:xfrm>
        </p:spPr>
        <p:txBody>
          <a:bodyPr/>
          <a:lstStyle/>
          <a:p>
            <a:endParaRPr lang="en-US"/>
          </a:p>
        </p:txBody>
      </p:sp>
      <p:sp>
        <p:nvSpPr>
          <p:cNvPr id="7" name="Slide Number Placeholder 6"/>
          <p:cNvSpPr>
            <a:spLocks noGrp="1"/>
          </p:cNvSpPr>
          <p:nvPr>
            <p:ph type="sldNum" sz="quarter" idx="12"/>
          </p:nvPr>
        </p:nvSpPr>
        <p:spPr/>
        <p:txBody>
          <a:bodyPr/>
          <a:lstStyle/>
          <a:p>
            <a:fld id="{D6CC888B-D9F9-4E54-B722-F151A9F45E95}" type="slidenum">
              <a:rPr lang="en-US" smtClean="0"/>
              <a:pPr/>
              <a:t>‹#›</a:t>
            </a:fld>
            <a:endParaRPr lang="en-US"/>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2F0292D-1797-49A5-8D2D-8D50C72EF3CC}" type="datetimeFigureOut">
              <a:rPr lang="en-US" smtClean="0"/>
              <a:pPr/>
              <a:t>9/22/11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CC888B-D9F9-4E54-B722-F151A9F45E95}" type="slidenum">
              <a:rPr lang="en-US" smtClean="0"/>
              <a:pPr/>
              <a:t>‹#›</a:t>
            </a:fld>
            <a:endParaRPr lang="en-US"/>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A2F0292D-1797-49A5-8D2D-8D50C72EF3CC}" type="datetimeFigureOut">
              <a:rPr lang="en-US" smtClean="0"/>
              <a:pPr/>
              <a:t>9/22/11</a:t>
            </a:fld>
            <a:endParaRPr lang="en-US"/>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endParaRPr lang="en-US"/>
          </a:p>
        </p:txBody>
      </p:sp>
      <p:sp>
        <p:nvSpPr>
          <p:cNvPr id="7" name="Slide Number Placeholder 6"/>
          <p:cNvSpPr>
            <a:spLocks noGrp="1"/>
          </p:cNvSpPr>
          <p:nvPr>
            <p:ph type="sldNum" sz="quarter" idx="12"/>
          </p:nvPr>
        </p:nvSpPr>
        <p:spPr/>
        <p:txBody>
          <a:bodyPr/>
          <a:lstStyle/>
          <a:p>
            <a:fld id="{D6CC888B-D9F9-4E54-B722-F151A9F45E95}" type="slidenum">
              <a:rPr lang="en-US" smtClean="0"/>
              <a:pPr/>
              <a:t>‹#›</a:t>
            </a:fld>
            <a:endParaRPr lang="en-US"/>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smtClean="0"/>
              <a:t>Drag picture to placeholder or click icon to add</a:t>
            </a:r>
            <a:endParaRPr/>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smtClean="0"/>
              <a:t>Drag picture to placeholder or click icon to add</a:t>
            </a:r>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spcBef>
                <a:spcPts val="60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A2F0292D-1797-49A5-8D2D-8D50C72EF3CC}" type="datetimeFigureOut">
              <a:rPr lang="en-US" smtClean="0"/>
              <a:pPr/>
              <a:t>9/22/11</a:t>
            </a:fld>
            <a:endParaRPr lang="en-US"/>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endParaRPr lang="en-US"/>
          </a:p>
        </p:txBody>
      </p:sp>
      <p:sp>
        <p:nvSpPr>
          <p:cNvPr id="7" name="Slide Number Placeholder 6"/>
          <p:cNvSpPr>
            <a:spLocks noGrp="1"/>
          </p:cNvSpPr>
          <p:nvPr>
            <p:ph type="sldNum" sz="quarter" idx="12"/>
          </p:nvPr>
        </p:nvSpPr>
        <p:spPr/>
        <p:txBody>
          <a:bodyPr/>
          <a:lstStyle/>
          <a:p>
            <a:fld id="{D6CC888B-D9F9-4E54-B722-F151A9F45E95}" type="slidenum">
              <a:rPr lang="en-US" smtClean="0"/>
              <a:pPr/>
              <a:t>‹#›</a:t>
            </a:fld>
            <a:endParaRPr lang="en-US"/>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smtClean="0"/>
              <a:t>Drag picture to placeholder or click icon to add</a:t>
            </a:r>
            <a:endParaRPr/>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smtClean="0"/>
              <a:t>Drag picture to placeholder or click icon to add</a:t>
            </a:r>
            <a:endParaRPr/>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smtClean="0"/>
              <a:t>Drag picture to placeholder or click icon to add</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Drag picture to placeholder or click icon to add</a:t>
            </a:r>
            <a:endParaRPr/>
          </a:p>
        </p:txBody>
      </p:sp>
      <p:sp>
        <p:nvSpPr>
          <p:cNvPr id="4" name="Text Placeholder 3"/>
          <p:cNvSpPr>
            <a:spLocks noGrp="1"/>
          </p:cNvSpPr>
          <p:nvPr>
            <p:ph type="body" sz="half" idx="2"/>
          </p:nvPr>
        </p:nvSpPr>
        <p:spPr>
          <a:xfrm>
            <a:off x="4953000" y="3995737"/>
            <a:ext cx="3108960" cy="2147888"/>
          </a:xfrm>
        </p:spPr>
        <p:txBody>
          <a:bodyPr/>
          <a:lstStyle>
            <a:lvl1pPr marL="0" indent="0">
              <a:spcBef>
                <a:spcPts val="6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A2F0292D-1797-49A5-8D2D-8D50C72EF3CC}" type="datetimeFigureOut">
              <a:rPr lang="en-US" smtClean="0"/>
              <a:pPr/>
              <a:t>9/22/11</a:t>
            </a:fld>
            <a:endParaRPr lang="en-US"/>
          </a:p>
        </p:txBody>
      </p:sp>
      <p:sp>
        <p:nvSpPr>
          <p:cNvPr id="6" name="Footer Placeholder 5"/>
          <p:cNvSpPr>
            <a:spLocks noGrp="1"/>
          </p:cNvSpPr>
          <p:nvPr>
            <p:ph type="ftr" sz="quarter" idx="11"/>
          </p:nvPr>
        </p:nvSpPr>
        <p:spPr>
          <a:xfrm>
            <a:off x="4191000" y="6423585"/>
            <a:ext cx="3005138" cy="365125"/>
          </a:xfrm>
        </p:spPr>
        <p:txBody>
          <a:bodyPr/>
          <a:lstStyle/>
          <a:p>
            <a:endParaRPr lang="en-US"/>
          </a:p>
        </p:txBody>
      </p:sp>
      <p:sp>
        <p:nvSpPr>
          <p:cNvPr id="7" name="Slide Number Placeholder 6"/>
          <p:cNvSpPr>
            <a:spLocks noGrp="1"/>
          </p:cNvSpPr>
          <p:nvPr>
            <p:ph type="sldNum" sz="quarter" idx="12"/>
          </p:nvPr>
        </p:nvSpPr>
        <p:spPr/>
        <p:txBody>
          <a:bodyPr/>
          <a:lstStyle/>
          <a:p>
            <a:fld id="{D6CC888B-D9F9-4E54-B722-F151A9F45E95}" type="slidenum">
              <a:rPr lang="en-US" smtClean="0"/>
              <a:pPr/>
              <a:t>‹#›</a:t>
            </a:fld>
            <a:endParaRPr lang="en-US"/>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smtClean="0"/>
              <a:t>Drag picture to placeholder or click icon to add</a:t>
            </a:r>
            <a:endParaRPr/>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smtClean="0"/>
              <a:t>Drag picture to placeholder or click icon to add</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A2F0292D-1797-49A5-8D2D-8D50C72EF3CC}" type="datetimeFigureOut">
              <a:rPr lang="en-US" smtClean="0"/>
              <a:pPr/>
              <a:t>9/22/11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CC888B-D9F9-4E54-B722-F151A9F45E95}" type="slidenum">
              <a:rPr lang="en-US" smtClean="0"/>
              <a:pPr/>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10"/>
          </p:nvPr>
        </p:nvSpPr>
        <p:spPr/>
        <p:txBody>
          <a:bodyPr/>
          <a:lstStyle/>
          <a:p>
            <a:fld id="{A2F0292D-1797-49A5-8D2D-8D50C72EF3CC}" type="datetimeFigureOut">
              <a:rPr lang="en-US" smtClean="0"/>
              <a:pPr/>
              <a:t>9/22/11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CC888B-D9F9-4E54-B722-F151A9F45E95}" type="slidenum">
              <a:rPr lang="en-US" smtClean="0"/>
              <a:pPr/>
              <a:t>‹#›</a:t>
            </a:fld>
            <a:endParaRPr lang="en-US"/>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A2F0292D-1797-49A5-8D2D-8D50C72EF3CC}" type="datetimeFigureOut">
              <a:rPr lang="en-US" smtClean="0"/>
              <a:pPr/>
              <a:t>9/22/11</a:t>
            </a:fld>
            <a:endParaRPr lang="en-US"/>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endParaRPr lang="en-US"/>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D6CC888B-D9F9-4E54-B722-F151A9F45E95}"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 id="2147483696" r:id="rId18"/>
    <p:sldLayoutId id="2147483697" r:id="rId19"/>
    <p:sldLayoutId id="2147483698"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1377950"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dirty="0" smtClean="0">
          <a:solidFill>
            <a:schemeClr val="tx1">
              <a:lumMod val="65000"/>
              <a:lumOff val="35000"/>
            </a:schemeClr>
          </a:solidFill>
          <a:latin typeface="+mn-lt"/>
          <a:ea typeface="+mn-ea"/>
          <a:cs typeface="+mn-cs"/>
        </a:defRPr>
      </a:lvl6pPr>
      <a:lvl7pPr marL="1603375" indent="-228600" algn="l" defTabSz="914400" rtl="0" eaLnBrk="1" latinLnBrk="0" hangingPunct="1">
        <a:spcBef>
          <a:spcPct val="20000"/>
        </a:spcBef>
        <a:buClr>
          <a:schemeClr val="accent1"/>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7pPr>
      <a:lvl8pPr marL="1830388" indent="-228600" algn="l" defTabSz="914400" rtl="0" eaLnBrk="1" latinLnBrk="0" hangingPunct="1">
        <a:spcBef>
          <a:spcPct val="20000"/>
        </a:spcBef>
        <a:buClr>
          <a:schemeClr val="accent1">
            <a:lumMod val="60000"/>
            <a:lumOff val="40000"/>
          </a:schemeClr>
        </a:buClr>
        <a:buSzPct val="75000"/>
        <a:buFont typeface="Wingdings" pitchFamily="2" charset="2"/>
        <a:buChar char=""/>
        <a:defRPr lang="en-US" sz="1800" kern="1200" baseline="0" dirty="0" smtClean="0">
          <a:solidFill>
            <a:schemeClr val="tx1">
              <a:lumMod val="65000"/>
              <a:lumOff val="35000"/>
            </a:schemeClr>
          </a:solidFill>
          <a:latin typeface="+mn-lt"/>
          <a:ea typeface="+mn-ea"/>
          <a:cs typeface="+mn-cs"/>
        </a:defRPr>
      </a:lvl8pPr>
      <a:lvl9pPr marL="2057400" indent="-228600" algn="l" defTabSz="914400" rtl="0" eaLnBrk="1" latinLnBrk="0" hangingPunct="1">
        <a:spcBef>
          <a:spcPct val="20000"/>
        </a:spcBef>
        <a:buClr>
          <a:schemeClr val="accent1"/>
        </a:buClr>
        <a:buSzPct val="75000"/>
        <a:buFont typeface="Wingdings" pitchFamily="2" charset="2"/>
        <a:buChar char=""/>
        <a:defRPr lang="en-US" sz="1800" kern="1200" baseline="0" dirty="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Results of a National Assessment of Information Literacy Skills</a:t>
            </a:r>
            <a:br>
              <a:rPr lang="en-US" dirty="0"/>
            </a:br>
            <a:endParaRPr lang="en-US" dirty="0"/>
          </a:p>
        </p:txBody>
      </p:sp>
    </p:spTree>
    <p:extLst>
      <p:ext uri="{BB962C8B-B14F-4D97-AF65-F5344CB8AC3E}">
        <p14:creationId xmlns:p14="http://schemas.microsoft.com/office/powerpoint/2010/main" val="3536588872"/>
      </p:ext>
    </p:extLst>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SAILS</a:t>
            </a:r>
            <a:endParaRPr lang="en-US" dirty="0"/>
          </a:p>
        </p:txBody>
      </p:sp>
      <p:sp>
        <p:nvSpPr>
          <p:cNvPr id="3" name="Content Placeholder 2"/>
          <p:cNvSpPr>
            <a:spLocks noGrp="1"/>
          </p:cNvSpPr>
          <p:nvPr>
            <p:ph idx="1"/>
          </p:nvPr>
        </p:nvSpPr>
        <p:spPr/>
        <p:txBody>
          <a:bodyPr/>
          <a:lstStyle/>
          <a:p>
            <a:r>
              <a:rPr lang="en-US" dirty="0"/>
              <a:t>Standardized Assessment of Information Literacy </a:t>
            </a:r>
            <a:r>
              <a:rPr lang="en-US" dirty="0" smtClean="0"/>
              <a:t>Skills</a:t>
            </a:r>
          </a:p>
          <a:p>
            <a:r>
              <a:rPr lang="en-US" dirty="0" smtClean="0"/>
              <a:t>Originated at Kent State University</a:t>
            </a:r>
          </a:p>
          <a:p>
            <a:r>
              <a:rPr lang="en-US" dirty="0" smtClean="0"/>
              <a:t>Knowledge test</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4779859" y="3515801"/>
            <a:ext cx="2983406" cy="1988937"/>
          </a:xfrm>
          <a:prstGeom prst="rect">
            <a:avLst/>
          </a:prstGeom>
        </p:spPr>
      </p:pic>
    </p:spTree>
    <p:extLst>
      <p:ext uri="{BB962C8B-B14F-4D97-AF65-F5344CB8AC3E}">
        <p14:creationId xmlns:p14="http://schemas.microsoft.com/office/powerpoint/2010/main" val="1174545535"/>
      </p:ext>
    </p:extLst>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SAILS Test</a:t>
            </a:r>
            <a:endParaRPr lang="en-US" dirty="0"/>
          </a:p>
        </p:txBody>
      </p:sp>
      <p:sp>
        <p:nvSpPr>
          <p:cNvPr id="3" name="Content Placeholder 2"/>
          <p:cNvSpPr>
            <a:spLocks noGrp="1"/>
          </p:cNvSpPr>
          <p:nvPr>
            <p:ph idx="1"/>
          </p:nvPr>
        </p:nvSpPr>
        <p:spPr>
          <a:xfrm>
            <a:off x="498474" y="1338146"/>
            <a:ext cx="7556313" cy="5341245"/>
          </a:xfrm>
        </p:spPr>
        <p:txBody>
          <a:bodyPr>
            <a:normAutofit/>
          </a:bodyPr>
          <a:lstStyle/>
          <a:p>
            <a:r>
              <a:rPr lang="en-US" dirty="0" smtClean="0"/>
              <a:t>ACRL standards (1, 2, 3, 5)</a:t>
            </a:r>
          </a:p>
          <a:p>
            <a:r>
              <a:rPr lang="en-US" dirty="0" smtClean="0"/>
              <a:t>168 items, multiple-choice</a:t>
            </a:r>
          </a:p>
          <a:p>
            <a:r>
              <a:rPr lang="en-US" dirty="0" smtClean="0"/>
              <a:t>Scoring</a:t>
            </a:r>
          </a:p>
          <a:p>
            <a:pPr lvl="1"/>
            <a:r>
              <a:rPr lang="en-US" dirty="0"/>
              <a:t>Each student answers 45 items; the students are grouped together to achieve cohort scores</a:t>
            </a:r>
          </a:p>
          <a:p>
            <a:pPr lvl="1"/>
            <a:r>
              <a:rPr lang="en-US" dirty="0" smtClean="0"/>
              <a:t>Item </a:t>
            </a:r>
            <a:r>
              <a:rPr lang="en-US" dirty="0" smtClean="0"/>
              <a:t>response theory (item difficulty and student performance)</a:t>
            </a:r>
          </a:p>
          <a:p>
            <a:pPr lvl="1"/>
            <a:r>
              <a:rPr lang="en-US" dirty="0" smtClean="0"/>
              <a:t>Cohort scores placed on a scale from 0 to 1000</a:t>
            </a:r>
          </a:p>
          <a:p>
            <a:pPr lvl="1"/>
            <a:r>
              <a:rPr lang="en-US" dirty="0" smtClean="0"/>
              <a:t>Breakouts for class standing and major</a:t>
            </a:r>
          </a:p>
          <a:p>
            <a:r>
              <a:rPr lang="en-US" dirty="0" smtClean="0"/>
              <a:t>Validity and reliability</a:t>
            </a:r>
            <a:endParaRPr lang="en-US" dirty="0" smtClean="0"/>
          </a:p>
          <a:p>
            <a:pPr lvl="1"/>
            <a:r>
              <a:rPr lang="en-US" dirty="0" smtClean="0"/>
              <a:t>Correlation with JMU information literacy test</a:t>
            </a:r>
          </a:p>
          <a:p>
            <a:pPr lvl="1"/>
            <a:r>
              <a:rPr lang="en-US" dirty="0" smtClean="0"/>
              <a:t>Correlation with ACT / SAT </a:t>
            </a:r>
            <a:r>
              <a:rPr lang="en-US" dirty="0" smtClean="0"/>
              <a:t>scores</a:t>
            </a:r>
            <a:endParaRPr lang="en-US" dirty="0" smtClean="0"/>
          </a:p>
          <a:p>
            <a:pPr lvl="1"/>
            <a:r>
              <a:rPr lang="en-US" dirty="0" smtClean="0"/>
              <a:t>Item reliability estimates .80 and higher</a:t>
            </a:r>
          </a:p>
          <a:p>
            <a:pPr lvl="1"/>
            <a:r>
              <a:rPr lang="en-US" dirty="0" smtClean="0"/>
              <a:t>Item difficulty assessed through inter-rater reliability</a:t>
            </a:r>
          </a:p>
          <a:p>
            <a:pPr lvl="1"/>
            <a:endParaRPr lang="en-US" dirty="0" smtClean="0"/>
          </a:p>
        </p:txBody>
      </p:sp>
    </p:spTree>
    <p:extLst>
      <p:ext uri="{BB962C8B-B14F-4D97-AF65-F5344CB8AC3E}">
        <p14:creationId xmlns:p14="http://schemas.microsoft.com/office/powerpoint/2010/main" val="2411015354"/>
      </p:ext>
    </p:extLst>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Administration</a:t>
            </a:r>
            <a:endParaRPr lang="en-US" dirty="0"/>
          </a:p>
        </p:txBody>
      </p:sp>
      <p:sp>
        <p:nvSpPr>
          <p:cNvPr id="3" name="Content Placeholder 2"/>
          <p:cNvSpPr>
            <a:spLocks noGrp="1"/>
          </p:cNvSpPr>
          <p:nvPr>
            <p:ph idx="1"/>
          </p:nvPr>
        </p:nvSpPr>
        <p:spPr/>
        <p:txBody>
          <a:bodyPr/>
          <a:lstStyle/>
          <a:p>
            <a:r>
              <a:rPr lang="en-US" dirty="0"/>
              <a:t>Three-year rolling benchmark</a:t>
            </a:r>
          </a:p>
          <a:p>
            <a:pPr lvl="1"/>
            <a:r>
              <a:rPr lang="en-US" dirty="0"/>
              <a:t>173 administrations at 105 institutions (U.S. &amp; Canada)</a:t>
            </a:r>
          </a:p>
          <a:p>
            <a:pPr lvl="1"/>
            <a:r>
              <a:rPr lang="en-US" dirty="0"/>
              <a:t>51,364 undergraduate </a:t>
            </a:r>
            <a:r>
              <a:rPr lang="en-US" dirty="0" smtClean="0"/>
              <a:t>students</a:t>
            </a:r>
            <a:endParaRPr lang="en-US" dirty="0" smtClean="0"/>
          </a:p>
          <a:p>
            <a:pPr lvl="1"/>
            <a:endParaRPr lang="en-US" dirty="0"/>
          </a:p>
          <a:p>
            <a:endParaRPr lang="en-US" dirty="0"/>
          </a:p>
        </p:txBody>
      </p:sp>
    </p:spTree>
    <p:extLst>
      <p:ext uri="{BB962C8B-B14F-4D97-AF65-F5344CB8AC3E}">
        <p14:creationId xmlns:p14="http://schemas.microsoft.com/office/powerpoint/2010/main" val="1005520117"/>
      </p:ext>
    </p:extLst>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49649" y="525528"/>
            <a:ext cx="7556500" cy="655637"/>
          </a:xfrm>
        </p:spPr>
        <p:txBody>
          <a:bodyPr/>
          <a:lstStyle/>
          <a:p>
            <a:r>
              <a:rPr lang="en-US" dirty="0" smtClean="0"/>
              <a:t>Profile of the Benchmark</a:t>
            </a:r>
            <a:endParaRPr lang="en-US" dirty="0"/>
          </a:p>
        </p:txBody>
      </p:sp>
      <p:graphicFrame>
        <p:nvGraphicFramePr>
          <p:cNvPr id="4" name="Content Placeholder 3"/>
          <p:cNvGraphicFramePr>
            <a:graphicFrameLocks noGrp="1"/>
          </p:cNvGraphicFramePr>
          <p:nvPr>
            <p:ph idx="4294967295"/>
            <p:extLst>
              <p:ext uri="{D42A27DB-BD31-4B8C-83A1-F6EECF244321}">
                <p14:modId xmlns:p14="http://schemas.microsoft.com/office/powerpoint/2010/main" val="1398017983"/>
              </p:ext>
            </p:extLst>
          </p:nvPr>
        </p:nvGraphicFramePr>
        <p:xfrm>
          <a:off x="373664" y="1575848"/>
          <a:ext cx="8477418" cy="4867477"/>
        </p:xfrm>
        <a:graphic>
          <a:graphicData uri="http://schemas.openxmlformats.org/drawingml/2006/table">
            <a:tbl>
              <a:tblPr firstRow="1" bandRow="1">
                <a:tableStyleId>{5C22544A-7EE6-4342-B048-85BDC9FD1C3A}</a:tableStyleId>
              </a:tblPr>
              <a:tblGrid>
                <a:gridCol w="1558530"/>
                <a:gridCol w="1476283"/>
                <a:gridCol w="1183198"/>
                <a:gridCol w="1101202"/>
                <a:gridCol w="988142"/>
                <a:gridCol w="1047136"/>
                <a:gridCol w="1122927"/>
              </a:tblGrid>
              <a:tr h="1286047">
                <a:tc>
                  <a:txBody>
                    <a:bodyPr/>
                    <a:lstStyle/>
                    <a:p>
                      <a:pPr algn="ctr"/>
                      <a:r>
                        <a:rPr lang="en-US" sz="1800" b="1" kern="1200" dirty="0" smtClean="0">
                          <a:solidFill>
                            <a:schemeClr val="lt1"/>
                          </a:solidFill>
                          <a:effectLst/>
                          <a:latin typeface="Baskerville"/>
                          <a:ea typeface="+mn-ea"/>
                          <a:cs typeface="Baskerville"/>
                        </a:rPr>
                        <a:t>Type </a:t>
                      </a:r>
                      <a:r>
                        <a:rPr lang="en-US" sz="1800" b="1" kern="1200" smtClean="0">
                          <a:solidFill>
                            <a:schemeClr val="lt1"/>
                          </a:solidFill>
                          <a:effectLst/>
                          <a:latin typeface="Baskerville"/>
                          <a:ea typeface="+mn-ea"/>
                          <a:cs typeface="Baskerville"/>
                        </a:rPr>
                        <a:t>of Institution</a:t>
                      </a:r>
                      <a:endParaRPr lang="en-US" sz="1800" dirty="0">
                        <a:latin typeface="Baskerville"/>
                        <a:cs typeface="Baskerville"/>
                      </a:endParaRPr>
                    </a:p>
                  </a:txBody>
                  <a:tcPr/>
                </a:tc>
                <a:tc>
                  <a:txBody>
                    <a:bodyPr/>
                    <a:lstStyle/>
                    <a:p>
                      <a:pPr algn="ctr"/>
                      <a:r>
                        <a:rPr lang="en-US" sz="1800" b="1" kern="1200" dirty="0" smtClean="0">
                          <a:solidFill>
                            <a:schemeClr val="lt1"/>
                          </a:solidFill>
                          <a:effectLst/>
                          <a:latin typeface="Baskerville"/>
                          <a:ea typeface="+mn-ea"/>
                          <a:cs typeface="Baskerville"/>
                        </a:rPr>
                        <a:t>Number of</a:t>
                      </a:r>
                      <a:r>
                        <a:rPr lang="en-US" sz="1800" b="1" kern="1200" baseline="0" dirty="0" smtClean="0">
                          <a:solidFill>
                            <a:schemeClr val="lt1"/>
                          </a:solidFill>
                          <a:effectLst/>
                          <a:latin typeface="Baskerville"/>
                          <a:ea typeface="+mn-ea"/>
                          <a:cs typeface="Baskerville"/>
                        </a:rPr>
                        <a:t> Institutions</a:t>
                      </a:r>
                      <a:endParaRPr lang="en-US" sz="1800" dirty="0">
                        <a:latin typeface="Baskerville"/>
                        <a:cs typeface="Baskerville"/>
                      </a:endParaRPr>
                    </a:p>
                  </a:txBody>
                  <a:tcPr/>
                </a:tc>
                <a:tc>
                  <a:txBody>
                    <a:bodyPr/>
                    <a:lstStyle/>
                    <a:p>
                      <a:pPr algn="ctr"/>
                      <a:r>
                        <a:rPr lang="en-US" sz="1800" b="1" kern="1200" dirty="0" smtClean="0">
                          <a:solidFill>
                            <a:schemeClr val="lt1"/>
                          </a:solidFill>
                          <a:effectLst/>
                          <a:latin typeface="Baskerville"/>
                          <a:ea typeface="+mn-ea"/>
                          <a:cs typeface="Baskerville"/>
                        </a:rPr>
                        <a:t>Total Number of Students</a:t>
                      </a:r>
                      <a:r>
                        <a:rPr lang="en-US" sz="1800" dirty="0" smtClean="0">
                          <a:effectLst/>
                          <a:latin typeface="Baskerville"/>
                          <a:cs typeface="Baskerville"/>
                        </a:rPr>
                        <a:t> </a:t>
                      </a:r>
                      <a:endParaRPr lang="en-US" sz="1800" dirty="0">
                        <a:latin typeface="Baskerville"/>
                        <a:cs typeface="Baskerville"/>
                      </a:endParaRPr>
                    </a:p>
                  </a:txBody>
                  <a:tcPr/>
                </a:tc>
                <a:tc>
                  <a:txBody>
                    <a:bodyPr/>
                    <a:lstStyle/>
                    <a:p>
                      <a:pPr algn="ctr"/>
                      <a:r>
                        <a:rPr lang="en-US" sz="1800" dirty="0" smtClean="0">
                          <a:latin typeface="Baskerville"/>
                          <a:cs typeface="Baskerville"/>
                        </a:rPr>
                        <a:t>Fresh.</a:t>
                      </a:r>
                      <a:endParaRPr lang="en-US" sz="1800" dirty="0">
                        <a:latin typeface="Baskerville"/>
                        <a:cs typeface="Baskerville"/>
                      </a:endParaRPr>
                    </a:p>
                  </a:txBody>
                  <a:tcPr/>
                </a:tc>
                <a:tc>
                  <a:txBody>
                    <a:bodyPr/>
                    <a:lstStyle/>
                    <a:p>
                      <a:pPr algn="ctr"/>
                      <a:r>
                        <a:rPr lang="en-US" sz="1800" dirty="0" smtClean="0">
                          <a:latin typeface="Baskerville"/>
                          <a:cs typeface="Baskerville"/>
                        </a:rPr>
                        <a:t>Soph.</a:t>
                      </a:r>
                      <a:endParaRPr lang="en-US" sz="1800" dirty="0">
                        <a:latin typeface="Baskerville"/>
                        <a:cs typeface="Baskerville"/>
                      </a:endParaRPr>
                    </a:p>
                  </a:txBody>
                  <a:tcPr/>
                </a:tc>
                <a:tc>
                  <a:txBody>
                    <a:bodyPr/>
                    <a:lstStyle/>
                    <a:p>
                      <a:pPr algn="ctr"/>
                      <a:r>
                        <a:rPr lang="en-US" sz="1800" dirty="0" smtClean="0">
                          <a:latin typeface="Baskerville"/>
                          <a:cs typeface="Baskerville"/>
                        </a:rPr>
                        <a:t>Juniors</a:t>
                      </a:r>
                      <a:endParaRPr lang="en-US" sz="1800" dirty="0">
                        <a:latin typeface="Baskerville"/>
                        <a:cs typeface="Baskerville"/>
                      </a:endParaRPr>
                    </a:p>
                  </a:txBody>
                  <a:tcPr/>
                </a:tc>
                <a:tc>
                  <a:txBody>
                    <a:bodyPr/>
                    <a:lstStyle/>
                    <a:p>
                      <a:pPr algn="ctr"/>
                      <a:r>
                        <a:rPr lang="en-US" sz="1800" dirty="0" smtClean="0">
                          <a:latin typeface="Baskerville"/>
                          <a:cs typeface="Baskerville"/>
                        </a:rPr>
                        <a:t>Seniors</a:t>
                      </a:r>
                      <a:endParaRPr lang="en-US" sz="1800" dirty="0">
                        <a:latin typeface="Baskerville"/>
                        <a:cs typeface="Baskerville"/>
                      </a:endParaRPr>
                    </a:p>
                  </a:txBody>
                  <a:tcPr/>
                </a:tc>
              </a:tr>
              <a:tr h="839586">
                <a:tc>
                  <a:txBody>
                    <a:bodyPr/>
                    <a:lstStyle/>
                    <a:p>
                      <a:pPr algn="ctr"/>
                      <a:r>
                        <a:rPr lang="en-US" sz="2000" kern="1200" dirty="0" smtClean="0">
                          <a:solidFill>
                            <a:schemeClr val="dk1"/>
                          </a:solidFill>
                          <a:effectLst/>
                          <a:latin typeface="+mn-lt"/>
                          <a:ea typeface="+mn-ea"/>
                          <a:cs typeface="+mn-cs"/>
                        </a:rPr>
                        <a:t>Associates</a:t>
                      </a:r>
                      <a:r>
                        <a:rPr lang="en-US" sz="2000" dirty="0" smtClean="0">
                          <a:effectLst/>
                        </a:rPr>
                        <a:t> </a:t>
                      </a:r>
                      <a:endParaRPr lang="en-US" sz="2000" dirty="0"/>
                    </a:p>
                  </a:txBody>
                  <a:tcPr/>
                </a:tc>
                <a:tc>
                  <a:txBody>
                    <a:bodyPr/>
                    <a:lstStyle/>
                    <a:p>
                      <a:pPr algn="ctr"/>
                      <a:r>
                        <a:rPr lang="en-US" sz="2000" dirty="0" smtClean="0"/>
                        <a:t>17</a:t>
                      </a:r>
                      <a:endParaRPr lang="en-US" sz="2000" dirty="0"/>
                    </a:p>
                  </a:txBody>
                  <a:tcPr/>
                </a:tc>
                <a:tc>
                  <a:txBody>
                    <a:bodyPr/>
                    <a:lstStyle/>
                    <a:p>
                      <a:pPr algn="ctr"/>
                      <a:r>
                        <a:rPr lang="en-US" sz="2000" dirty="0" smtClean="0"/>
                        <a:t>4,600</a:t>
                      </a:r>
                      <a:endParaRPr lang="en-US" sz="2000" dirty="0"/>
                    </a:p>
                  </a:txBody>
                  <a:tcPr/>
                </a:tc>
                <a:tc>
                  <a:txBody>
                    <a:bodyPr/>
                    <a:lstStyle/>
                    <a:p>
                      <a:pPr algn="ctr"/>
                      <a:r>
                        <a:rPr lang="en-US" sz="2000" dirty="0" smtClean="0"/>
                        <a:t>2,289</a:t>
                      </a:r>
                      <a:endParaRPr lang="en-US" sz="2000" dirty="0"/>
                    </a:p>
                  </a:txBody>
                  <a:tcPr/>
                </a:tc>
                <a:tc>
                  <a:txBody>
                    <a:bodyPr/>
                    <a:lstStyle/>
                    <a:p>
                      <a:pPr algn="ctr"/>
                      <a:r>
                        <a:rPr lang="en-US" sz="2000" dirty="0" smtClean="0"/>
                        <a:t>1,556</a:t>
                      </a:r>
                      <a:endParaRPr lang="en-US" sz="2000" dirty="0"/>
                    </a:p>
                  </a:txBody>
                  <a:tcPr/>
                </a:tc>
                <a:tc>
                  <a:txBody>
                    <a:bodyPr/>
                    <a:lstStyle/>
                    <a:p>
                      <a:pPr algn="ctr"/>
                      <a:r>
                        <a:rPr lang="en-US" sz="2000" dirty="0" smtClean="0"/>
                        <a:t>300</a:t>
                      </a:r>
                      <a:endParaRPr lang="en-US" sz="2000" dirty="0"/>
                    </a:p>
                  </a:txBody>
                  <a:tcPr/>
                </a:tc>
                <a:tc>
                  <a:txBody>
                    <a:bodyPr/>
                    <a:lstStyle/>
                    <a:p>
                      <a:pPr algn="ctr"/>
                      <a:r>
                        <a:rPr lang="en-US" sz="2000" dirty="0" smtClean="0"/>
                        <a:t>76</a:t>
                      </a:r>
                      <a:endParaRPr lang="en-US" sz="2000" dirty="0"/>
                    </a:p>
                  </a:txBody>
                  <a:tcPr/>
                </a:tc>
              </a:tr>
              <a:tr h="676783">
                <a:tc>
                  <a:txBody>
                    <a:bodyPr/>
                    <a:lstStyle/>
                    <a:p>
                      <a:pPr algn="ctr"/>
                      <a:r>
                        <a:rPr lang="en-US" sz="2000" dirty="0" smtClean="0"/>
                        <a:t>Bachelors</a:t>
                      </a:r>
                      <a:r>
                        <a:rPr lang="en-US" sz="2000" baseline="0" dirty="0" smtClean="0"/>
                        <a:t> – General</a:t>
                      </a:r>
                      <a:endParaRPr lang="en-US" sz="2000" dirty="0"/>
                    </a:p>
                  </a:txBody>
                  <a:tcPr/>
                </a:tc>
                <a:tc>
                  <a:txBody>
                    <a:bodyPr/>
                    <a:lstStyle/>
                    <a:p>
                      <a:pPr algn="ctr"/>
                      <a:r>
                        <a:rPr lang="en-US" sz="2000" dirty="0" smtClean="0"/>
                        <a:t>15</a:t>
                      </a:r>
                      <a:endParaRPr lang="en-US" sz="2000" dirty="0"/>
                    </a:p>
                  </a:txBody>
                  <a:tcPr/>
                </a:tc>
                <a:tc>
                  <a:txBody>
                    <a:bodyPr/>
                    <a:lstStyle/>
                    <a:p>
                      <a:pPr algn="ctr"/>
                      <a:r>
                        <a:rPr lang="en-US" sz="2000" dirty="0" smtClean="0"/>
                        <a:t>3,530</a:t>
                      </a:r>
                      <a:endParaRPr lang="en-US" sz="2000" dirty="0"/>
                    </a:p>
                  </a:txBody>
                  <a:tcPr/>
                </a:tc>
                <a:tc>
                  <a:txBody>
                    <a:bodyPr/>
                    <a:lstStyle/>
                    <a:p>
                      <a:pPr algn="ctr"/>
                      <a:r>
                        <a:rPr lang="en-US" sz="2000" dirty="0" smtClean="0"/>
                        <a:t>2,581</a:t>
                      </a:r>
                      <a:endParaRPr lang="en-US" sz="2000" dirty="0"/>
                    </a:p>
                  </a:txBody>
                  <a:tcPr/>
                </a:tc>
                <a:tc>
                  <a:txBody>
                    <a:bodyPr/>
                    <a:lstStyle/>
                    <a:p>
                      <a:pPr algn="ctr"/>
                      <a:r>
                        <a:rPr lang="en-US" sz="2000" dirty="0" smtClean="0"/>
                        <a:t>427</a:t>
                      </a:r>
                      <a:endParaRPr lang="en-US" sz="2000" dirty="0"/>
                    </a:p>
                  </a:txBody>
                  <a:tcPr/>
                </a:tc>
                <a:tc>
                  <a:txBody>
                    <a:bodyPr/>
                    <a:lstStyle/>
                    <a:p>
                      <a:pPr algn="ctr"/>
                      <a:r>
                        <a:rPr lang="en-US" sz="2000" dirty="0" smtClean="0"/>
                        <a:t>164</a:t>
                      </a:r>
                      <a:endParaRPr lang="en-US" sz="2000" dirty="0"/>
                    </a:p>
                  </a:txBody>
                  <a:tcPr/>
                </a:tc>
                <a:tc>
                  <a:txBody>
                    <a:bodyPr/>
                    <a:lstStyle/>
                    <a:p>
                      <a:pPr algn="ctr"/>
                      <a:r>
                        <a:rPr lang="en-US" sz="2000" dirty="0" smtClean="0"/>
                        <a:t>264</a:t>
                      </a:r>
                      <a:endParaRPr lang="en-US" sz="2000" dirty="0"/>
                    </a:p>
                  </a:txBody>
                  <a:tcPr/>
                </a:tc>
              </a:tr>
              <a:tr h="676783">
                <a:tc>
                  <a:txBody>
                    <a:bodyPr/>
                    <a:lstStyle/>
                    <a:p>
                      <a:pPr algn="ctr"/>
                      <a:r>
                        <a:rPr lang="en-US" sz="2000" dirty="0" smtClean="0"/>
                        <a:t>Bachelors</a:t>
                      </a:r>
                      <a:r>
                        <a:rPr lang="en-US" sz="2000" baseline="0" dirty="0" smtClean="0"/>
                        <a:t> – Liberal Arts</a:t>
                      </a:r>
                      <a:endParaRPr lang="en-US" sz="2000" dirty="0"/>
                    </a:p>
                  </a:txBody>
                  <a:tcPr/>
                </a:tc>
                <a:tc>
                  <a:txBody>
                    <a:bodyPr/>
                    <a:lstStyle/>
                    <a:p>
                      <a:pPr algn="ctr"/>
                      <a:r>
                        <a:rPr lang="en-US" sz="2000" dirty="0" smtClean="0"/>
                        <a:t>17</a:t>
                      </a:r>
                      <a:endParaRPr lang="en-US" sz="2000" dirty="0"/>
                    </a:p>
                  </a:txBody>
                  <a:tcPr/>
                </a:tc>
                <a:tc>
                  <a:txBody>
                    <a:bodyPr/>
                    <a:lstStyle/>
                    <a:p>
                      <a:pPr algn="ctr"/>
                      <a:r>
                        <a:rPr lang="en-US" sz="2000" dirty="0" smtClean="0"/>
                        <a:t>6,566</a:t>
                      </a:r>
                      <a:endParaRPr lang="en-US" sz="2000" dirty="0"/>
                    </a:p>
                  </a:txBody>
                  <a:tcPr/>
                </a:tc>
                <a:tc>
                  <a:txBody>
                    <a:bodyPr/>
                    <a:lstStyle/>
                    <a:p>
                      <a:pPr algn="ctr"/>
                      <a:r>
                        <a:rPr lang="en-US" sz="2000" dirty="0" smtClean="0"/>
                        <a:t>3,533</a:t>
                      </a:r>
                      <a:endParaRPr lang="en-US" sz="2000" dirty="0"/>
                    </a:p>
                  </a:txBody>
                  <a:tcPr/>
                </a:tc>
                <a:tc>
                  <a:txBody>
                    <a:bodyPr/>
                    <a:lstStyle/>
                    <a:p>
                      <a:pPr algn="ctr"/>
                      <a:r>
                        <a:rPr lang="en-US" sz="2000" dirty="0" smtClean="0"/>
                        <a:t>1,002</a:t>
                      </a:r>
                      <a:endParaRPr lang="en-US" sz="2000" dirty="0"/>
                    </a:p>
                  </a:txBody>
                  <a:tcPr/>
                </a:tc>
                <a:tc>
                  <a:txBody>
                    <a:bodyPr/>
                    <a:lstStyle/>
                    <a:p>
                      <a:pPr algn="ctr"/>
                      <a:r>
                        <a:rPr lang="en-US" sz="2000" dirty="0" smtClean="0"/>
                        <a:t>860</a:t>
                      </a:r>
                      <a:endParaRPr lang="en-US" sz="2000" dirty="0"/>
                    </a:p>
                  </a:txBody>
                  <a:tcPr/>
                </a:tc>
                <a:tc>
                  <a:txBody>
                    <a:bodyPr/>
                    <a:lstStyle/>
                    <a:p>
                      <a:pPr algn="ctr"/>
                      <a:r>
                        <a:rPr lang="en-US" sz="2000" dirty="0" smtClean="0"/>
                        <a:t>1,131</a:t>
                      </a:r>
                      <a:endParaRPr lang="en-US" sz="2000" dirty="0"/>
                    </a:p>
                  </a:txBody>
                  <a:tcPr/>
                </a:tc>
              </a:tr>
              <a:tr h="669882">
                <a:tc>
                  <a:txBody>
                    <a:bodyPr/>
                    <a:lstStyle/>
                    <a:p>
                      <a:pPr algn="ctr"/>
                      <a:r>
                        <a:rPr lang="en-US" sz="2000" dirty="0" smtClean="0"/>
                        <a:t>Masters</a:t>
                      </a:r>
                      <a:endParaRPr lang="en-US" sz="2000" dirty="0"/>
                    </a:p>
                  </a:txBody>
                  <a:tcPr/>
                </a:tc>
                <a:tc>
                  <a:txBody>
                    <a:bodyPr/>
                    <a:lstStyle/>
                    <a:p>
                      <a:pPr algn="ctr"/>
                      <a:r>
                        <a:rPr lang="en-US" sz="2000" dirty="0" smtClean="0"/>
                        <a:t>34</a:t>
                      </a:r>
                      <a:endParaRPr lang="en-US" sz="2000" dirty="0"/>
                    </a:p>
                  </a:txBody>
                  <a:tcPr/>
                </a:tc>
                <a:tc>
                  <a:txBody>
                    <a:bodyPr/>
                    <a:lstStyle/>
                    <a:p>
                      <a:pPr algn="ctr"/>
                      <a:r>
                        <a:rPr lang="en-US" sz="2000" dirty="0" smtClean="0"/>
                        <a:t>19,209</a:t>
                      </a:r>
                      <a:endParaRPr lang="en-US" sz="2000" dirty="0"/>
                    </a:p>
                  </a:txBody>
                  <a:tcPr/>
                </a:tc>
                <a:tc>
                  <a:txBody>
                    <a:bodyPr/>
                    <a:lstStyle/>
                    <a:p>
                      <a:pPr algn="ctr"/>
                      <a:r>
                        <a:rPr lang="en-US" sz="2000" dirty="0" smtClean="0"/>
                        <a:t>9,638</a:t>
                      </a:r>
                      <a:endParaRPr lang="en-US" sz="2000" dirty="0"/>
                    </a:p>
                  </a:txBody>
                  <a:tcPr/>
                </a:tc>
                <a:tc>
                  <a:txBody>
                    <a:bodyPr/>
                    <a:lstStyle/>
                    <a:p>
                      <a:pPr algn="ctr"/>
                      <a:r>
                        <a:rPr lang="en-US" sz="2000" dirty="0" smtClean="0"/>
                        <a:t>3,660</a:t>
                      </a:r>
                      <a:endParaRPr lang="en-US" sz="2000" dirty="0"/>
                    </a:p>
                  </a:txBody>
                  <a:tcPr/>
                </a:tc>
                <a:tc>
                  <a:txBody>
                    <a:bodyPr/>
                    <a:lstStyle/>
                    <a:p>
                      <a:pPr algn="ctr"/>
                      <a:r>
                        <a:rPr lang="en-US" sz="2000" dirty="0" smtClean="0"/>
                        <a:t>2,692</a:t>
                      </a:r>
                      <a:endParaRPr lang="en-US" sz="2000" dirty="0"/>
                    </a:p>
                  </a:txBody>
                  <a:tcPr/>
                </a:tc>
                <a:tc>
                  <a:txBody>
                    <a:bodyPr/>
                    <a:lstStyle/>
                    <a:p>
                      <a:pPr algn="ctr"/>
                      <a:r>
                        <a:rPr lang="en-US" sz="2000" smtClean="0"/>
                        <a:t>2,880</a:t>
                      </a:r>
                      <a:endParaRPr lang="en-US" sz="2000" dirty="0"/>
                    </a:p>
                  </a:txBody>
                  <a:tcPr/>
                </a:tc>
              </a:tr>
              <a:tr h="669882">
                <a:tc>
                  <a:txBody>
                    <a:bodyPr/>
                    <a:lstStyle/>
                    <a:p>
                      <a:pPr algn="ctr"/>
                      <a:r>
                        <a:rPr lang="en-US" sz="2000" dirty="0" smtClean="0"/>
                        <a:t>Doctorate</a:t>
                      </a:r>
                      <a:endParaRPr lang="en-US" sz="2000" dirty="0"/>
                    </a:p>
                  </a:txBody>
                  <a:tcPr/>
                </a:tc>
                <a:tc>
                  <a:txBody>
                    <a:bodyPr/>
                    <a:lstStyle/>
                    <a:p>
                      <a:pPr algn="ctr"/>
                      <a:r>
                        <a:rPr lang="en-US" sz="2000" dirty="0" smtClean="0"/>
                        <a:t>22</a:t>
                      </a:r>
                      <a:endParaRPr lang="en-US" sz="2000" dirty="0"/>
                    </a:p>
                  </a:txBody>
                  <a:tcPr/>
                </a:tc>
                <a:tc>
                  <a:txBody>
                    <a:bodyPr/>
                    <a:lstStyle/>
                    <a:p>
                      <a:pPr algn="ctr"/>
                      <a:r>
                        <a:rPr lang="en-US" sz="2000" dirty="0" smtClean="0"/>
                        <a:t>17,459</a:t>
                      </a:r>
                      <a:endParaRPr lang="en-US" sz="2000" dirty="0"/>
                    </a:p>
                  </a:txBody>
                  <a:tcPr/>
                </a:tc>
                <a:tc>
                  <a:txBody>
                    <a:bodyPr/>
                    <a:lstStyle/>
                    <a:p>
                      <a:pPr algn="ctr"/>
                      <a:r>
                        <a:rPr lang="en-US" sz="2000" dirty="0" smtClean="0"/>
                        <a:t>14,010</a:t>
                      </a:r>
                      <a:endParaRPr lang="en-US" sz="2000" dirty="0"/>
                    </a:p>
                  </a:txBody>
                  <a:tcPr/>
                </a:tc>
                <a:tc>
                  <a:txBody>
                    <a:bodyPr/>
                    <a:lstStyle/>
                    <a:p>
                      <a:pPr algn="ctr"/>
                      <a:r>
                        <a:rPr lang="en-US" sz="2000" dirty="0" smtClean="0"/>
                        <a:t>1,114</a:t>
                      </a:r>
                      <a:endParaRPr lang="en-US" sz="2000" dirty="0"/>
                    </a:p>
                  </a:txBody>
                  <a:tcPr/>
                </a:tc>
                <a:tc>
                  <a:txBody>
                    <a:bodyPr/>
                    <a:lstStyle/>
                    <a:p>
                      <a:pPr algn="ctr"/>
                      <a:r>
                        <a:rPr lang="en-US" sz="2000" dirty="0" smtClean="0"/>
                        <a:t>714</a:t>
                      </a:r>
                      <a:endParaRPr lang="en-US" sz="2000" dirty="0"/>
                    </a:p>
                  </a:txBody>
                  <a:tcPr/>
                </a:tc>
                <a:tc>
                  <a:txBody>
                    <a:bodyPr/>
                    <a:lstStyle/>
                    <a:p>
                      <a:pPr algn="ctr"/>
                      <a:r>
                        <a:rPr lang="en-US" sz="2000" dirty="0" smtClean="0"/>
                        <a:t>1,437</a:t>
                      </a:r>
                      <a:endParaRPr lang="en-US" sz="2000" dirty="0"/>
                    </a:p>
                  </a:txBody>
                  <a:tcPr/>
                </a:tc>
              </a:tr>
            </a:tbl>
          </a:graphicData>
        </a:graphic>
      </p:graphicFrame>
    </p:spTree>
    <p:extLst>
      <p:ext uri="{BB962C8B-B14F-4D97-AF65-F5344CB8AC3E}">
        <p14:creationId xmlns:p14="http://schemas.microsoft.com/office/powerpoint/2010/main" val="3887278125"/>
      </p:ext>
    </p:extLst>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SAILS Skill Sets</a:t>
            </a:r>
            <a:endParaRPr lang="en-US" dirty="0"/>
          </a:p>
        </p:txBody>
      </p:sp>
      <p:sp>
        <p:nvSpPr>
          <p:cNvPr id="3" name="Content Placeholder 2"/>
          <p:cNvSpPr>
            <a:spLocks noGrp="1"/>
          </p:cNvSpPr>
          <p:nvPr>
            <p:ph sz="half" idx="1"/>
          </p:nvPr>
        </p:nvSpPr>
        <p:spPr/>
        <p:txBody>
          <a:bodyPr>
            <a:normAutofit/>
          </a:bodyPr>
          <a:lstStyle/>
          <a:p>
            <a:pPr marL="342900" indent="-342900">
              <a:buFont typeface="+mj-lt"/>
              <a:buAutoNum type="arabicPeriod"/>
            </a:pPr>
            <a:r>
              <a:rPr lang="en-US" sz="2000" dirty="0" smtClean="0"/>
              <a:t>Developing a research strategy</a:t>
            </a:r>
          </a:p>
          <a:p>
            <a:pPr marL="342900" indent="-342900">
              <a:buFont typeface="+mj-lt"/>
              <a:buAutoNum type="arabicPeriod"/>
            </a:pPr>
            <a:r>
              <a:rPr lang="en-US" sz="2000" dirty="0" smtClean="0"/>
              <a:t>Selecting finding tools</a:t>
            </a:r>
          </a:p>
          <a:p>
            <a:pPr marL="342900" indent="-342900">
              <a:buFont typeface="+mj-lt"/>
              <a:buAutoNum type="arabicPeriod"/>
            </a:pPr>
            <a:r>
              <a:rPr lang="en-US" sz="2000" dirty="0" smtClean="0"/>
              <a:t>Searching</a:t>
            </a:r>
          </a:p>
          <a:p>
            <a:pPr marL="342900" indent="-342900">
              <a:buFont typeface="+mj-lt"/>
              <a:buAutoNum type="arabicPeriod"/>
            </a:pPr>
            <a:r>
              <a:rPr lang="en-US" sz="2000" dirty="0" smtClean="0"/>
              <a:t>Using finding tool features</a:t>
            </a:r>
            <a:endParaRPr lang="en-US" sz="2000" dirty="0"/>
          </a:p>
        </p:txBody>
      </p:sp>
      <p:sp>
        <p:nvSpPr>
          <p:cNvPr id="4" name="Content Placeholder 3"/>
          <p:cNvSpPr>
            <a:spLocks noGrp="1"/>
          </p:cNvSpPr>
          <p:nvPr>
            <p:ph sz="half" idx="2"/>
          </p:nvPr>
        </p:nvSpPr>
        <p:spPr/>
        <p:txBody>
          <a:bodyPr>
            <a:normAutofit/>
          </a:bodyPr>
          <a:lstStyle/>
          <a:p>
            <a:pPr marL="342900" indent="-342900">
              <a:buFont typeface="+mj-lt"/>
              <a:buAutoNum type="arabicPeriod" startAt="5"/>
            </a:pPr>
            <a:r>
              <a:rPr lang="en-US" sz="2000" dirty="0" smtClean="0"/>
              <a:t>Retrieving sources</a:t>
            </a:r>
          </a:p>
          <a:p>
            <a:pPr marL="342900" indent="-342900">
              <a:buFont typeface="+mj-lt"/>
              <a:buAutoNum type="arabicPeriod" startAt="5"/>
            </a:pPr>
            <a:r>
              <a:rPr lang="en-US" sz="2000" dirty="0" smtClean="0"/>
              <a:t>Evaluating sources</a:t>
            </a:r>
          </a:p>
          <a:p>
            <a:pPr marL="342900" indent="-342900">
              <a:buFont typeface="+mj-lt"/>
              <a:buAutoNum type="arabicPeriod" startAt="5"/>
            </a:pPr>
            <a:r>
              <a:rPr lang="en-US" sz="2000" dirty="0" smtClean="0"/>
              <a:t>Documenting sources</a:t>
            </a:r>
          </a:p>
          <a:p>
            <a:pPr marL="342900" indent="-342900">
              <a:buFont typeface="+mj-lt"/>
              <a:buAutoNum type="arabicPeriod" startAt="5"/>
            </a:pPr>
            <a:r>
              <a:rPr lang="en-US" sz="2000" dirty="0" smtClean="0"/>
              <a:t>Understanding economic, legal, and social issues</a:t>
            </a:r>
            <a:endParaRPr lang="en-US" sz="2000" dirty="0"/>
          </a:p>
        </p:txBody>
      </p:sp>
    </p:spTree>
    <p:extLst>
      <p:ext uri="{BB962C8B-B14F-4D97-AF65-F5344CB8AC3E}">
        <p14:creationId xmlns:p14="http://schemas.microsoft.com/office/powerpoint/2010/main" val="1689805363"/>
      </p:ext>
    </p:extLst>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Scores for Skill Set 1</a:t>
            </a:r>
            <a:r>
              <a:rPr lang="en-US" dirty="0"/>
              <a:t>: Developing a Research Strategy</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201534510"/>
              </p:ext>
            </p:extLst>
          </p:nvPr>
        </p:nvGraphicFramePr>
        <p:xfrm>
          <a:off x="498473" y="2165744"/>
          <a:ext cx="8098704" cy="3111447"/>
        </p:xfrm>
        <a:graphic>
          <a:graphicData uri="http://schemas.openxmlformats.org/drawingml/2006/table">
            <a:tbl>
              <a:tblPr firstRow="1" bandRow="1">
                <a:tableStyleId>{5C22544A-7EE6-4342-B048-85BDC9FD1C3A}</a:tableStyleId>
              </a:tblPr>
              <a:tblGrid>
                <a:gridCol w="1422866"/>
                <a:gridCol w="1400298"/>
                <a:gridCol w="1335168"/>
                <a:gridCol w="1367733"/>
                <a:gridCol w="1222855"/>
                <a:gridCol w="1349784"/>
              </a:tblGrid>
              <a:tr h="1192851">
                <a:tc>
                  <a:txBody>
                    <a:bodyPr/>
                    <a:lstStyle/>
                    <a:p>
                      <a:endParaRPr lang="en-US" dirty="0"/>
                    </a:p>
                  </a:txBody>
                  <a:tcPr/>
                </a:tc>
                <a:tc>
                  <a:txBody>
                    <a:bodyPr/>
                    <a:lstStyle/>
                    <a:p>
                      <a:pPr algn="ctr"/>
                      <a:r>
                        <a:rPr lang="en-US" dirty="0" smtClean="0"/>
                        <a:t>Associates</a:t>
                      </a:r>
                      <a:endParaRPr lang="en-US" dirty="0"/>
                    </a:p>
                  </a:txBody>
                  <a:tcPr/>
                </a:tc>
                <a:tc>
                  <a:txBody>
                    <a:bodyPr/>
                    <a:lstStyle/>
                    <a:p>
                      <a:pPr algn="ctr"/>
                      <a:r>
                        <a:rPr lang="en-US" dirty="0" smtClean="0"/>
                        <a:t>Bach – General</a:t>
                      </a:r>
                      <a:endParaRPr lang="en-US" dirty="0"/>
                    </a:p>
                  </a:txBody>
                  <a:tcPr/>
                </a:tc>
                <a:tc>
                  <a:txBody>
                    <a:bodyPr/>
                    <a:lstStyle/>
                    <a:p>
                      <a:pPr algn="ctr"/>
                      <a:r>
                        <a:rPr lang="en-US" dirty="0" smtClean="0"/>
                        <a:t>Bach – Liberal Arts</a:t>
                      </a:r>
                      <a:endParaRPr lang="en-US" dirty="0"/>
                    </a:p>
                  </a:txBody>
                  <a:tcPr/>
                </a:tc>
                <a:tc>
                  <a:txBody>
                    <a:bodyPr/>
                    <a:lstStyle/>
                    <a:p>
                      <a:pPr algn="ctr"/>
                      <a:r>
                        <a:rPr lang="en-US" dirty="0" smtClean="0"/>
                        <a:t>Masters</a:t>
                      </a:r>
                      <a:endParaRPr lang="en-US" dirty="0"/>
                    </a:p>
                  </a:txBody>
                  <a:tcPr/>
                </a:tc>
                <a:tc>
                  <a:txBody>
                    <a:bodyPr/>
                    <a:lstStyle/>
                    <a:p>
                      <a:pPr algn="ctr"/>
                      <a:r>
                        <a:rPr lang="en-US" dirty="0" smtClean="0"/>
                        <a:t>Doctorate</a:t>
                      </a:r>
                      <a:endParaRPr lang="en-US" dirty="0"/>
                    </a:p>
                  </a:txBody>
                  <a:tcPr/>
                </a:tc>
              </a:tr>
              <a:tr h="483767">
                <a:tc>
                  <a:txBody>
                    <a:bodyPr/>
                    <a:lstStyle/>
                    <a:p>
                      <a:r>
                        <a:rPr lang="en-US" dirty="0" smtClean="0"/>
                        <a:t>Freshman</a:t>
                      </a:r>
                      <a:endParaRPr lang="en-US" dirty="0"/>
                    </a:p>
                  </a:txBody>
                  <a:tcPr/>
                </a:tc>
                <a:tc>
                  <a:txBody>
                    <a:bodyPr/>
                    <a:lstStyle/>
                    <a:p>
                      <a:pPr algn="ctr"/>
                      <a:r>
                        <a:rPr lang="en-US" dirty="0" smtClean="0"/>
                        <a:t>460 </a:t>
                      </a:r>
                      <a:r>
                        <a:rPr lang="en-US" sz="1800" kern="1200" dirty="0" smtClean="0">
                          <a:solidFill>
                            <a:schemeClr val="dk1"/>
                          </a:solidFill>
                          <a:effectLst/>
                          <a:latin typeface="+mn-lt"/>
                          <a:ea typeface="+mn-ea"/>
                          <a:cs typeface="+mn-cs"/>
                        </a:rPr>
                        <a:t>±  5</a:t>
                      </a:r>
                      <a:endParaRPr lang="en-US" dirty="0"/>
                    </a:p>
                  </a:txBody>
                  <a:tcPr/>
                </a:tc>
                <a:tc>
                  <a:txBody>
                    <a:bodyPr/>
                    <a:lstStyle/>
                    <a:p>
                      <a:pPr algn="ctr"/>
                      <a:r>
                        <a:rPr lang="en-US" dirty="0" smtClean="0"/>
                        <a:t>469 </a:t>
                      </a:r>
                      <a:r>
                        <a:rPr lang="en-US" sz="1800" kern="1200" dirty="0" smtClean="0">
                          <a:solidFill>
                            <a:schemeClr val="dk1"/>
                          </a:solidFill>
                          <a:effectLst/>
                          <a:latin typeface="+mn-lt"/>
                          <a:ea typeface="+mn-ea"/>
                          <a:cs typeface="+mn-cs"/>
                        </a:rPr>
                        <a:t>±  5</a:t>
                      </a:r>
                      <a:endParaRPr lang="en-US" dirty="0"/>
                    </a:p>
                  </a:txBody>
                  <a:tcPr/>
                </a:tc>
                <a:tc>
                  <a:txBody>
                    <a:bodyPr/>
                    <a:lstStyle/>
                    <a:p>
                      <a:pPr algn="ctr"/>
                      <a:r>
                        <a:rPr lang="en-US" dirty="0" smtClean="0"/>
                        <a:t>483 </a:t>
                      </a:r>
                      <a:r>
                        <a:rPr lang="en-US" sz="1800" kern="1200" dirty="0" smtClean="0">
                          <a:solidFill>
                            <a:schemeClr val="dk1"/>
                          </a:solidFill>
                          <a:effectLst/>
                          <a:latin typeface="+mn-lt"/>
                          <a:ea typeface="+mn-ea"/>
                          <a:cs typeface="+mn-cs"/>
                        </a:rPr>
                        <a:t>± 4</a:t>
                      </a:r>
                      <a:endParaRPr lang="en-US" dirty="0"/>
                    </a:p>
                  </a:txBody>
                  <a:tcPr/>
                </a:tc>
                <a:tc>
                  <a:txBody>
                    <a:bodyPr/>
                    <a:lstStyle/>
                    <a:p>
                      <a:pPr algn="ctr"/>
                      <a:r>
                        <a:rPr lang="en-US" dirty="0" smtClean="0"/>
                        <a:t>485 </a:t>
                      </a:r>
                      <a:r>
                        <a:rPr lang="en-US" sz="1800" kern="1200" dirty="0" smtClean="0">
                          <a:solidFill>
                            <a:schemeClr val="dk1"/>
                          </a:solidFill>
                          <a:effectLst/>
                          <a:latin typeface="+mn-lt"/>
                          <a:ea typeface="+mn-ea"/>
                          <a:cs typeface="+mn-cs"/>
                        </a:rPr>
                        <a:t>± 2</a:t>
                      </a:r>
                      <a:endParaRPr lang="en-US" dirty="0"/>
                    </a:p>
                  </a:txBody>
                  <a:tcPr/>
                </a:tc>
                <a:tc>
                  <a:txBody>
                    <a:bodyPr/>
                    <a:lstStyle/>
                    <a:p>
                      <a:pPr algn="ctr"/>
                      <a:r>
                        <a:rPr lang="en-US" dirty="0" smtClean="0"/>
                        <a:t>492 </a:t>
                      </a:r>
                      <a:r>
                        <a:rPr lang="en-US" sz="1800" kern="1200" dirty="0" smtClean="0">
                          <a:solidFill>
                            <a:schemeClr val="dk1"/>
                          </a:solidFill>
                          <a:effectLst/>
                          <a:latin typeface="+mn-lt"/>
                          <a:ea typeface="+mn-ea"/>
                          <a:cs typeface="+mn-cs"/>
                        </a:rPr>
                        <a:t>± 2</a:t>
                      </a:r>
                      <a:endParaRPr lang="en-US" dirty="0"/>
                    </a:p>
                  </a:txBody>
                  <a:tcPr/>
                </a:tc>
              </a:tr>
              <a:tr h="467295">
                <a:tc>
                  <a:txBody>
                    <a:bodyPr/>
                    <a:lstStyle/>
                    <a:p>
                      <a:r>
                        <a:rPr lang="en-US" dirty="0" smtClean="0"/>
                        <a:t>Sophomore</a:t>
                      </a:r>
                      <a:endParaRPr lang="en-US" dirty="0"/>
                    </a:p>
                  </a:txBody>
                  <a:tcPr/>
                </a:tc>
                <a:tc>
                  <a:txBody>
                    <a:bodyPr/>
                    <a:lstStyle/>
                    <a:p>
                      <a:pPr algn="ctr"/>
                      <a:r>
                        <a:rPr lang="en-US" dirty="0" smtClean="0"/>
                        <a:t>491 </a:t>
                      </a:r>
                      <a:r>
                        <a:rPr lang="en-US" sz="1800" kern="1200" dirty="0" smtClean="0">
                          <a:solidFill>
                            <a:schemeClr val="dk1"/>
                          </a:solidFill>
                          <a:effectLst/>
                          <a:latin typeface="+mn-lt"/>
                          <a:ea typeface="+mn-ea"/>
                          <a:cs typeface="+mn-cs"/>
                        </a:rPr>
                        <a:t>± 6</a:t>
                      </a:r>
                      <a:endParaRPr lang="en-US" dirty="0"/>
                    </a:p>
                  </a:txBody>
                  <a:tcPr/>
                </a:tc>
                <a:tc>
                  <a:txBody>
                    <a:bodyPr/>
                    <a:lstStyle/>
                    <a:p>
                      <a:pPr algn="ctr"/>
                      <a:r>
                        <a:rPr lang="en-US" dirty="0" smtClean="0"/>
                        <a:t>500 </a:t>
                      </a:r>
                      <a:r>
                        <a:rPr lang="en-US" sz="1800" kern="1200" dirty="0" smtClean="0">
                          <a:solidFill>
                            <a:schemeClr val="dk1"/>
                          </a:solidFill>
                          <a:effectLst/>
                          <a:latin typeface="+mn-lt"/>
                          <a:ea typeface="+mn-ea"/>
                          <a:cs typeface="+mn-cs"/>
                        </a:rPr>
                        <a:t>± 12</a:t>
                      </a:r>
                      <a:endParaRPr lang="en-US" dirty="0"/>
                    </a:p>
                  </a:txBody>
                  <a:tcPr/>
                </a:tc>
                <a:tc>
                  <a:txBody>
                    <a:bodyPr/>
                    <a:lstStyle/>
                    <a:p>
                      <a:pPr algn="ctr"/>
                      <a:r>
                        <a:rPr lang="en-US" dirty="0" smtClean="0"/>
                        <a:t>505 </a:t>
                      </a:r>
                      <a:r>
                        <a:rPr lang="en-US" sz="1800" kern="1200" dirty="0" smtClean="0">
                          <a:solidFill>
                            <a:schemeClr val="dk1"/>
                          </a:solidFill>
                          <a:effectLst/>
                          <a:latin typeface="+mn-lt"/>
                          <a:ea typeface="+mn-ea"/>
                          <a:cs typeface="+mn-cs"/>
                        </a:rPr>
                        <a:t>± 7</a:t>
                      </a:r>
                      <a:endParaRPr lang="en-US" dirty="0"/>
                    </a:p>
                  </a:txBody>
                  <a:tcPr/>
                </a:tc>
                <a:tc>
                  <a:txBody>
                    <a:bodyPr/>
                    <a:lstStyle/>
                    <a:p>
                      <a:pPr algn="ctr"/>
                      <a:r>
                        <a:rPr lang="en-US" dirty="0" smtClean="0"/>
                        <a:t>506 </a:t>
                      </a:r>
                      <a:r>
                        <a:rPr lang="en-US" sz="1800" kern="1200" dirty="0" smtClean="0">
                          <a:solidFill>
                            <a:schemeClr val="dk1"/>
                          </a:solidFill>
                          <a:effectLst/>
                          <a:latin typeface="+mn-lt"/>
                          <a:ea typeface="+mn-ea"/>
                          <a:cs typeface="+mn-cs"/>
                        </a:rPr>
                        <a:t>± 4</a:t>
                      </a:r>
                      <a:endParaRPr lang="en-US" dirty="0"/>
                    </a:p>
                  </a:txBody>
                  <a:tcPr/>
                </a:tc>
                <a:tc>
                  <a:txBody>
                    <a:bodyPr/>
                    <a:lstStyle/>
                    <a:p>
                      <a:pPr algn="ctr"/>
                      <a:r>
                        <a:rPr lang="en-US" dirty="0" smtClean="0"/>
                        <a:t>506 </a:t>
                      </a:r>
                      <a:r>
                        <a:rPr lang="en-US" sz="1800" kern="1200" dirty="0" smtClean="0">
                          <a:solidFill>
                            <a:schemeClr val="dk1"/>
                          </a:solidFill>
                          <a:effectLst/>
                          <a:latin typeface="+mn-lt"/>
                          <a:ea typeface="+mn-ea"/>
                          <a:cs typeface="+mn-cs"/>
                        </a:rPr>
                        <a:t>± 8</a:t>
                      </a:r>
                      <a:endParaRPr lang="en-US" dirty="0"/>
                    </a:p>
                  </a:txBody>
                  <a:tcPr/>
                </a:tc>
              </a:tr>
              <a:tr h="483767">
                <a:tc>
                  <a:txBody>
                    <a:bodyPr/>
                    <a:lstStyle/>
                    <a:p>
                      <a:r>
                        <a:rPr lang="en-US" dirty="0" smtClean="0"/>
                        <a:t>Junior</a:t>
                      </a:r>
                      <a:endParaRPr lang="en-US" dirty="0"/>
                    </a:p>
                  </a:txBody>
                  <a:tcPr/>
                </a:tc>
                <a:tc>
                  <a:txBody>
                    <a:bodyPr/>
                    <a:lstStyle/>
                    <a:p>
                      <a:pPr algn="ctr"/>
                      <a:endParaRPr lang="en-US" dirty="0"/>
                    </a:p>
                  </a:txBody>
                  <a:tcPr/>
                </a:tc>
                <a:tc>
                  <a:txBody>
                    <a:bodyPr/>
                    <a:lstStyle/>
                    <a:p>
                      <a:pPr algn="ctr"/>
                      <a:r>
                        <a:rPr lang="en-US" dirty="0" smtClean="0"/>
                        <a:t>503 </a:t>
                      </a:r>
                      <a:r>
                        <a:rPr lang="en-US" sz="1800" kern="1200" dirty="0" smtClean="0">
                          <a:solidFill>
                            <a:schemeClr val="dk1"/>
                          </a:solidFill>
                          <a:effectLst/>
                          <a:latin typeface="+mn-lt"/>
                          <a:ea typeface="+mn-ea"/>
                          <a:cs typeface="+mn-cs"/>
                        </a:rPr>
                        <a:t>± 18</a:t>
                      </a:r>
                      <a:endParaRPr lang="en-US" dirty="0"/>
                    </a:p>
                  </a:txBody>
                  <a:tcPr/>
                </a:tc>
                <a:tc>
                  <a:txBody>
                    <a:bodyPr/>
                    <a:lstStyle/>
                    <a:p>
                      <a:pPr algn="ctr"/>
                      <a:r>
                        <a:rPr lang="en-US" dirty="0" smtClean="0"/>
                        <a:t>512 </a:t>
                      </a:r>
                      <a:r>
                        <a:rPr lang="en-US" sz="1800" kern="1200" dirty="0" smtClean="0">
                          <a:solidFill>
                            <a:schemeClr val="dk1"/>
                          </a:solidFill>
                          <a:effectLst/>
                          <a:latin typeface="+mn-lt"/>
                          <a:ea typeface="+mn-ea"/>
                          <a:cs typeface="+mn-cs"/>
                        </a:rPr>
                        <a:t>± 8</a:t>
                      </a:r>
                      <a:endParaRPr lang="en-US" dirty="0"/>
                    </a:p>
                  </a:txBody>
                  <a:tcPr/>
                </a:tc>
                <a:tc>
                  <a:txBody>
                    <a:bodyPr/>
                    <a:lstStyle/>
                    <a:p>
                      <a:pPr algn="ctr"/>
                      <a:r>
                        <a:rPr lang="en-US" dirty="0" smtClean="0"/>
                        <a:t>513 </a:t>
                      </a:r>
                      <a:r>
                        <a:rPr lang="en-US" sz="1800" kern="1200" dirty="0" smtClean="0">
                          <a:solidFill>
                            <a:schemeClr val="dk1"/>
                          </a:solidFill>
                          <a:effectLst/>
                          <a:latin typeface="+mn-lt"/>
                          <a:ea typeface="+mn-ea"/>
                          <a:cs typeface="+mn-cs"/>
                        </a:rPr>
                        <a:t>± 4</a:t>
                      </a:r>
                      <a:endParaRPr lang="en-US" dirty="0"/>
                    </a:p>
                  </a:txBody>
                  <a:tcPr/>
                </a:tc>
                <a:tc>
                  <a:txBody>
                    <a:bodyPr/>
                    <a:lstStyle/>
                    <a:p>
                      <a:pPr algn="ctr"/>
                      <a:r>
                        <a:rPr lang="en-US" dirty="0" smtClean="0"/>
                        <a:t>516 </a:t>
                      </a:r>
                      <a:r>
                        <a:rPr lang="en-US" sz="1800" kern="1200" dirty="0" smtClean="0">
                          <a:solidFill>
                            <a:schemeClr val="dk1"/>
                          </a:solidFill>
                          <a:effectLst/>
                          <a:latin typeface="+mn-lt"/>
                          <a:ea typeface="+mn-ea"/>
                          <a:cs typeface="+mn-cs"/>
                        </a:rPr>
                        <a:t>± 9</a:t>
                      </a:r>
                      <a:endParaRPr lang="en-US" dirty="0"/>
                    </a:p>
                  </a:txBody>
                  <a:tcPr/>
                </a:tc>
              </a:tr>
              <a:tr h="483767">
                <a:tc>
                  <a:txBody>
                    <a:bodyPr/>
                    <a:lstStyle/>
                    <a:p>
                      <a:r>
                        <a:rPr lang="en-US" dirty="0" smtClean="0"/>
                        <a:t>Senior</a:t>
                      </a:r>
                      <a:endParaRPr lang="en-US" dirty="0"/>
                    </a:p>
                  </a:txBody>
                  <a:tcPr/>
                </a:tc>
                <a:tc>
                  <a:txBody>
                    <a:bodyPr/>
                    <a:lstStyle/>
                    <a:p>
                      <a:pPr algn="ctr"/>
                      <a:endParaRPr lang="en-US"/>
                    </a:p>
                  </a:txBody>
                  <a:tcPr/>
                </a:tc>
                <a:tc>
                  <a:txBody>
                    <a:bodyPr/>
                    <a:lstStyle/>
                    <a:p>
                      <a:pPr algn="ctr"/>
                      <a:r>
                        <a:rPr lang="en-US" dirty="0" smtClean="0"/>
                        <a:t>511 </a:t>
                      </a:r>
                      <a:r>
                        <a:rPr lang="en-US" sz="1800" kern="1200" dirty="0" smtClean="0">
                          <a:solidFill>
                            <a:schemeClr val="dk1"/>
                          </a:solidFill>
                          <a:effectLst/>
                          <a:latin typeface="+mn-lt"/>
                          <a:ea typeface="+mn-ea"/>
                          <a:cs typeface="+mn-cs"/>
                        </a:rPr>
                        <a:t>± 15</a:t>
                      </a:r>
                      <a:endParaRPr lang="en-US" dirty="0"/>
                    </a:p>
                  </a:txBody>
                  <a:tcPr/>
                </a:tc>
                <a:tc>
                  <a:txBody>
                    <a:bodyPr/>
                    <a:lstStyle/>
                    <a:p>
                      <a:pPr algn="ctr"/>
                      <a:r>
                        <a:rPr lang="en-US" dirty="0" smtClean="0"/>
                        <a:t>529 </a:t>
                      </a:r>
                      <a:r>
                        <a:rPr lang="en-US" sz="1800" kern="1200" dirty="0" smtClean="0">
                          <a:solidFill>
                            <a:schemeClr val="dk1"/>
                          </a:solidFill>
                          <a:effectLst/>
                          <a:latin typeface="+mn-lt"/>
                          <a:ea typeface="+mn-ea"/>
                          <a:cs typeface="+mn-cs"/>
                        </a:rPr>
                        <a:t>± 7</a:t>
                      </a:r>
                      <a:endParaRPr lang="en-US" dirty="0"/>
                    </a:p>
                  </a:txBody>
                  <a:tcPr/>
                </a:tc>
                <a:tc>
                  <a:txBody>
                    <a:bodyPr/>
                    <a:lstStyle/>
                    <a:p>
                      <a:pPr algn="ctr"/>
                      <a:r>
                        <a:rPr lang="en-US" dirty="0" smtClean="0"/>
                        <a:t>525 </a:t>
                      </a:r>
                      <a:r>
                        <a:rPr lang="en-US" sz="1800" kern="1200" dirty="0" smtClean="0">
                          <a:solidFill>
                            <a:schemeClr val="dk1"/>
                          </a:solidFill>
                          <a:effectLst/>
                          <a:latin typeface="+mn-lt"/>
                          <a:ea typeface="+mn-ea"/>
                          <a:cs typeface="+mn-cs"/>
                        </a:rPr>
                        <a:t>± 5</a:t>
                      </a:r>
                      <a:endParaRPr lang="en-US" dirty="0"/>
                    </a:p>
                  </a:txBody>
                  <a:tcPr/>
                </a:tc>
                <a:tc>
                  <a:txBody>
                    <a:bodyPr/>
                    <a:lstStyle/>
                    <a:p>
                      <a:pPr algn="ctr"/>
                      <a:r>
                        <a:rPr lang="en-US" dirty="0" smtClean="0"/>
                        <a:t>539 </a:t>
                      </a:r>
                      <a:r>
                        <a:rPr lang="en-US" sz="1800" kern="1200" dirty="0" smtClean="0">
                          <a:solidFill>
                            <a:schemeClr val="dk1"/>
                          </a:solidFill>
                          <a:effectLst/>
                          <a:latin typeface="+mn-lt"/>
                          <a:ea typeface="+mn-ea"/>
                          <a:cs typeface="+mn-cs"/>
                        </a:rPr>
                        <a:t>± 7</a:t>
                      </a:r>
                      <a:endParaRPr lang="en-US" dirty="0"/>
                    </a:p>
                  </a:txBody>
                  <a:tcPr/>
                </a:tc>
              </a:tr>
            </a:tbl>
          </a:graphicData>
        </a:graphic>
      </p:graphicFrame>
    </p:spTree>
    <p:extLst>
      <p:ext uri="{BB962C8B-B14F-4D97-AF65-F5344CB8AC3E}">
        <p14:creationId xmlns:p14="http://schemas.microsoft.com/office/powerpoint/2010/main" val="232655078"/>
      </p:ext>
    </p:extLst>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fontScale="90000"/>
          </a:bodyPr>
          <a:lstStyle/>
          <a:p>
            <a:r>
              <a:rPr lang="en-US" dirty="0" smtClean="0"/>
              <a:t>Scores for Skill Set 1</a:t>
            </a:r>
            <a:r>
              <a:rPr lang="en-US" dirty="0"/>
              <a:t>: Developing a Research Strategy</a:t>
            </a:r>
          </a:p>
        </p:txBody>
      </p:sp>
      <p:pic>
        <p:nvPicPr>
          <p:cNvPr id="4" name="Content Placeholder 3" descr="chart_2.png"/>
          <p:cNvPicPr>
            <a:picLocks noGrp="1" noChangeAspect="1"/>
          </p:cNvPicPr>
          <p:nvPr>
            <p:ph idx="1"/>
          </p:nvPr>
        </p:nvPicPr>
        <p:blipFill>
          <a:blip r:embed="rId2">
            <a:extLst>
              <a:ext uri="{28A0092B-C50C-407E-A947-70E740481C1C}">
                <a14:useLocalDpi xmlns:a14="http://schemas.microsoft.com/office/drawing/2010/main" val="0"/>
              </a:ext>
            </a:extLst>
          </a:blip>
          <a:srcRect t="5645" b="5645"/>
          <a:stretch>
            <a:fillRect/>
          </a:stretch>
        </p:blipFill>
        <p:spPr>
          <a:xfrm>
            <a:off x="-33457" y="1689414"/>
            <a:ext cx="9195771" cy="5044276"/>
          </a:xfrm>
        </p:spPr>
      </p:pic>
    </p:spTree>
    <p:extLst>
      <p:ext uri="{BB962C8B-B14F-4D97-AF65-F5344CB8AC3E}">
        <p14:creationId xmlns:p14="http://schemas.microsoft.com/office/powerpoint/2010/main" val="2538392595"/>
      </p:ext>
    </p:extLst>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Skill Set 2: Selecting Finding Tools</a:t>
            </a:r>
            <a:endParaRPr lang="en-US" dirty="0"/>
          </a:p>
        </p:txBody>
      </p:sp>
      <p:pic>
        <p:nvPicPr>
          <p:cNvPr id="4" name="Content Placeholder 3" descr="chart_2-1.png"/>
          <p:cNvPicPr>
            <a:picLocks noGrp="1" noChangeAspect="1"/>
          </p:cNvPicPr>
          <p:nvPr>
            <p:ph idx="1"/>
          </p:nvPr>
        </p:nvPicPr>
        <p:blipFill>
          <a:blip r:embed="rId2">
            <a:extLst>
              <a:ext uri="{28A0092B-C50C-407E-A947-70E740481C1C}">
                <a14:useLocalDpi xmlns:a14="http://schemas.microsoft.com/office/drawing/2010/main" val="0"/>
              </a:ext>
            </a:extLst>
          </a:blip>
          <a:srcRect t="5645" b="5645"/>
          <a:stretch>
            <a:fillRect/>
          </a:stretch>
        </p:blipFill>
        <p:spPr>
          <a:xfrm>
            <a:off x="141286" y="1785268"/>
            <a:ext cx="9002714" cy="4938376"/>
          </a:xfrm>
        </p:spPr>
      </p:pic>
    </p:spTree>
    <p:extLst>
      <p:ext uri="{BB962C8B-B14F-4D97-AF65-F5344CB8AC3E}">
        <p14:creationId xmlns:p14="http://schemas.microsoft.com/office/powerpoint/2010/main" val="3408908969"/>
      </p:ext>
    </p:extLst>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Skill Set 3: Searching</a:t>
            </a:r>
            <a:endParaRPr lang="en-US" dirty="0"/>
          </a:p>
        </p:txBody>
      </p:sp>
      <p:pic>
        <p:nvPicPr>
          <p:cNvPr id="4" name="Content Placeholder 3" descr="chart_2-2.png"/>
          <p:cNvPicPr>
            <a:picLocks noGrp="1" noChangeAspect="1"/>
          </p:cNvPicPr>
          <p:nvPr>
            <p:ph idx="1"/>
          </p:nvPr>
        </p:nvPicPr>
        <p:blipFill>
          <a:blip r:embed="rId2">
            <a:extLst>
              <a:ext uri="{28A0092B-C50C-407E-A947-70E740481C1C}">
                <a14:useLocalDpi xmlns:a14="http://schemas.microsoft.com/office/drawing/2010/main" val="0"/>
              </a:ext>
            </a:extLst>
          </a:blip>
          <a:srcRect t="5645" b="5645"/>
          <a:stretch>
            <a:fillRect/>
          </a:stretch>
        </p:blipFill>
        <p:spPr>
          <a:xfrm>
            <a:off x="53915" y="1737340"/>
            <a:ext cx="8846288" cy="4852570"/>
          </a:xfrm>
        </p:spPr>
      </p:pic>
    </p:spTree>
    <p:extLst>
      <p:ext uri="{BB962C8B-B14F-4D97-AF65-F5344CB8AC3E}">
        <p14:creationId xmlns:p14="http://schemas.microsoft.com/office/powerpoint/2010/main" val="2629704270"/>
      </p:ext>
    </p:extLst>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Skill Set 4: Using Finding Tool Features</a:t>
            </a:r>
            <a:endParaRPr lang="en-US" dirty="0"/>
          </a:p>
        </p:txBody>
      </p:sp>
      <p:pic>
        <p:nvPicPr>
          <p:cNvPr id="4" name="Content Placeholder 3" descr="chart_3.png"/>
          <p:cNvPicPr>
            <a:picLocks noGrp="1" noChangeAspect="1"/>
          </p:cNvPicPr>
          <p:nvPr>
            <p:ph idx="1"/>
          </p:nvPr>
        </p:nvPicPr>
        <p:blipFill>
          <a:blip r:embed="rId2">
            <a:extLst>
              <a:ext uri="{28A0092B-C50C-407E-A947-70E740481C1C}">
                <a14:useLocalDpi xmlns:a14="http://schemas.microsoft.com/office/drawing/2010/main" val="0"/>
              </a:ext>
            </a:extLst>
          </a:blip>
          <a:srcRect t="10376" b="10376"/>
          <a:stretch>
            <a:fillRect/>
          </a:stretch>
        </p:blipFill>
        <p:spPr>
          <a:xfrm>
            <a:off x="10229" y="1713377"/>
            <a:ext cx="8915129" cy="4890332"/>
          </a:xfrm>
        </p:spPr>
      </p:pic>
    </p:spTree>
    <p:extLst>
      <p:ext uri="{BB962C8B-B14F-4D97-AF65-F5344CB8AC3E}">
        <p14:creationId xmlns:p14="http://schemas.microsoft.com/office/powerpoint/2010/main" val="1219601291"/>
      </p:ext>
    </p:extLst>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Skill Set 5: Retrieving Sources</a:t>
            </a:r>
            <a:endParaRPr lang="en-US" dirty="0"/>
          </a:p>
        </p:txBody>
      </p:sp>
      <p:pic>
        <p:nvPicPr>
          <p:cNvPr id="4" name="Content Placeholder 3" descr="chart_4.png"/>
          <p:cNvPicPr>
            <a:picLocks noGrp="1" noChangeAspect="1"/>
          </p:cNvPicPr>
          <p:nvPr>
            <p:ph idx="1"/>
          </p:nvPr>
        </p:nvPicPr>
        <p:blipFill>
          <a:blip r:embed="rId2">
            <a:extLst>
              <a:ext uri="{28A0092B-C50C-407E-A947-70E740481C1C}">
                <a14:useLocalDpi xmlns:a14="http://schemas.microsoft.com/office/drawing/2010/main" val="0"/>
              </a:ext>
            </a:extLst>
          </a:blip>
          <a:srcRect t="10376" b="10376"/>
          <a:stretch>
            <a:fillRect/>
          </a:stretch>
        </p:blipFill>
        <p:spPr>
          <a:xfrm>
            <a:off x="141286" y="1917066"/>
            <a:ext cx="8688230" cy="4765868"/>
          </a:xfrm>
        </p:spPr>
      </p:pic>
    </p:spTree>
    <p:extLst>
      <p:ext uri="{BB962C8B-B14F-4D97-AF65-F5344CB8AC3E}">
        <p14:creationId xmlns:p14="http://schemas.microsoft.com/office/powerpoint/2010/main" val="476610015"/>
      </p:ext>
    </p:extLst>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Skill Set 6: Evaluating Sources</a:t>
            </a:r>
            <a:endParaRPr lang="en-US" dirty="0"/>
          </a:p>
        </p:txBody>
      </p:sp>
      <p:pic>
        <p:nvPicPr>
          <p:cNvPr id="4" name="Content Placeholder 3" descr="chart_5.png"/>
          <p:cNvPicPr>
            <a:picLocks noGrp="1" noChangeAspect="1"/>
          </p:cNvPicPr>
          <p:nvPr>
            <p:ph idx="1"/>
          </p:nvPr>
        </p:nvPicPr>
        <p:blipFill>
          <a:blip r:embed="rId2">
            <a:extLst>
              <a:ext uri="{28A0092B-C50C-407E-A947-70E740481C1C}">
                <a14:useLocalDpi xmlns:a14="http://schemas.microsoft.com/office/drawing/2010/main" val="0"/>
              </a:ext>
            </a:extLst>
          </a:blip>
          <a:srcRect t="5645" b="5645"/>
          <a:stretch>
            <a:fillRect/>
          </a:stretch>
        </p:blipFill>
        <p:spPr>
          <a:xfrm>
            <a:off x="53915" y="1881120"/>
            <a:ext cx="8691737" cy="4767792"/>
          </a:xfrm>
        </p:spPr>
      </p:pic>
    </p:spTree>
    <p:extLst>
      <p:ext uri="{BB962C8B-B14F-4D97-AF65-F5344CB8AC3E}">
        <p14:creationId xmlns:p14="http://schemas.microsoft.com/office/powerpoint/2010/main" val="3464451566"/>
      </p:ext>
    </p:extLst>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Skill Set 7: Documenting Sources</a:t>
            </a:r>
            <a:endParaRPr lang="en-US" dirty="0"/>
          </a:p>
        </p:txBody>
      </p:sp>
      <p:pic>
        <p:nvPicPr>
          <p:cNvPr id="4" name="Content Placeholder 3" descr="chart_6.png"/>
          <p:cNvPicPr>
            <a:picLocks noGrp="1" noChangeAspect="1"/>
          </p:cNvPicPr>
          <p:nvPr>
            <p:ph idx="1"/>
          </p:nvPr>
        </p:nvPicPr>
        <p:blipFill>
          <a:blip r:embed="rId2">
            <a:extLst>
              <a:ext uri="{28A0092B-C50C-407E-A947-70E740481C1C}">
                <a14:useLocalDpi xmlns:a14="http://schemas.microsoft.com/office/drawing/2010/main" val="0"/>
              </a:ext>
            </a:extLst>
          </a:blip>
          <a:srcRect t="5645" b="5645"/>
          <a:stretch>
            <a:fillRect/>
          </a:stretch>
        </p:blipFill>
        <p:spPr>
          <a:xfrm>
            <a:off x="10230" y="1957504"/>
            <a:ext cx="8933658" cy="4900496"/>
          </a:xfrm>
        </p:spPr>
      </p:pic>
    </p:spTree>
    <p:extLst>
      <p:ext uri="{BB962C8B-B14F-4D97-AF65-F5344CB8AC3E}">
        <p14:creationId xmlns:p14="http://schemas.microsoft.com/office/powerpoint/2010/main" val="3941979501"/>
      </p:ext>
    </p:extLst>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Skill Set 8: Understanding Economic, Legal, and Social Issues</a:t>
            </a:r>
            <a:endParaRPr lang="en-US" dirty="0"/>
          </a:p>
        </p:txBody>
      </p:sp>
      <p:pic>
        <p:nvPicPr>
          <p:cNvPr id="4" name="Content Placeholder 3" descr="chart_7.png"/>
          <p:cNvPicPr>
            <a:picLocks noGrp="1" noChangeAspect="1"/>
          </p:cNvPicPr>
          <p:nvPr>
            <p:ph idx="1"/>
          </p:nvPr>
        </p:nvPicPr>
        <p:blipFill>
          <a:blip r:embed="rId2">
            <a:extLst>
              <a:ext uri="{28A0092B-C50C-407E-A947-70E740481C1C}">
                <a14:useLocalDpi xmlns:a14="http://schemas.microsoft.com/office/drawing/2010/main" val="0"/>
              </a:ext>
            </a:extLst>
          </a:blip>
          <a:srcRect t="5645" b="5645"/>
          <a:stretch>
            <a:fillRect/>
          </a:stretch>
        </p:blipFill>
        <p:spPr>
          <a:xfrm>
            <a:off x="32072" y="2005429"/>
            <a:ext cx="8846290" cy="4852571"/>
          </a:xfrm>
        </p:spPr>
      </p:pic>
    </p:spTree>
    <p:extLst>
      <p:ext uri="{BB962C8B-B14F-4D97-AF65-F5344CB8AC3E}">
        <p14:creationId xmlns:p14="http://schemas.microsoft.com/office/powerpoint/2010/main" val="3005805175"/>
      </p:ext>
    </p:extLst>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Trends for Class Standing</a:t>
            </a:r>
            <a:endParaRPr lang="en-US" dirty="0"/>
          </a:p>
        </p:txBody>
      </p:sp>
      <p:sp>
        <p:nvSpPr>
          <p:cNvPr id="2" name="Content Placeholder 1"/>
          <p:cNvSpPr>
            <a:spLocks noGrp="1"/>
          </p:cNvSpPr>
          <p:nvPr>
            <p:ph idx="1"/>
          </p:nvPr>
        </p:nvSpPr>
        <p:spPr/>
        <p:txBody>
          <a:bodyPr/>
          <a:lstStyle/>
          <a:p>
            <a:r>
              <a:rPr lang="en-US" dirty="0"/>
              <a:t>S</a:t>
            </a:r>
            <a:r>
              <a:rPr lang="en-US" dirty="0" smtClean="0"/>
              <a:t>eniors </a:t>
            </a:r>
            <a:r>
              <a:rPr lang="en-US" dirty="0"/>
              <a:t>do better on the test than freshmen. This is true for every skill set and for all four types of schools that have seniors. </a:t>
            </a:r>
            <a:endParaRPr lang="en-US" dirty="0" smtClean="0"/>
          </a:p>
          <a:p>
            <a:r>
              <a:rPr lang="en-US" dirty="0" smtClean="0"/>
              <a:t>For </a:t>
            </a:r>
            <a:r>
              <a:rPr lang="en-US" dirty="0"/>
              <a:t>associates schools, sophomores do better than freshmen on every skill </a:t>
            </a:r>
            <a:r>
              <a:rPr lang="en-US" dirty="0" smtClean="0"/>
              <a:t>set.</a:t>
            </a:r>
          </a:p>
          <a:p>
            <a:r>
              <a:rPr lang="en-US" dirty="0" smtClean="0"/>
              <a:t>The </a:t>
            </a:r>
            <a:r>
              <a:rPr lang="en-US" dirty="0"/>
              <a:t>biggest gains are mostly in two skill sets, Retrieving Sources and Documenting Sources. </a:t>
            </a:r>
          </a:p>
        </p:txBody>
      </p:sp>
    </p:spTree>
    <p:extLst>
      <p:ext uri="{BB962C8B-B14F-4D97-AF65-F5344CB8AC3E}">
        <p14:creationId xmlns:p14="http://schemas.microsoft.com/office/powerpoint/2010/main" val="3233972812"/>
      </p:ext>
    </p:extLst>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Trends for Institution Type</a:t>
            </a:r>
            <a:endParaRPr lang="en-US" dirty="0"/>
          </a:p>
        </p:txBody>
      </p:sp>
      <p:sp>
        <p:nvSpPr>
          <p:cNvPr id="3" name="Content Placeholder 2"/>
          <p:cNvSpPr>
            <a:spLocks noGrp="1"/>
          </p:cNvSpPr>
          <p:nvPr>
            <p:ph idx="1"/>
          </p:nvPr>
        </p:nvSpPr>
        <p:spPr>
          <a:xfrm>
            <a:off x="498474" y="1600200"/>
            <a:ext cx="7556313" cy="4525963"/>
          </a:xfrm>
        </p:spPr>
        <p:txBody>
          <a:bodyPr>
            <a:normAutofit/>
          </a:bodyPr>
          <a:lstStyle/>
          <a:p>
            <a:r>
              <a:rPr lang="en-US" dirty="0" smtClean="0"/>
              <a:t>Doctorate</a:t>
            </a:r>
            <a:r>
              <a:rPr lang="en-US" dirty="0"/>
              <a:t>, masters, and bachelors–liberal arts schools score higher than bachelor–general and associates </a:t>
            </a:r>
            <a:r>
              <a:rPr lang="en-US" dirty="0" smtClean="0"/>
              <a:t>schools on nearly </a:t>
            </a:r>
            <a:r>
              <a:rPr lang="en-US" dirty="0"/>
              <a:t>all skill sets at nearly all </a:t>
            </a:r>
            <a:r>
              <a:rPr lang="en-US" dirty="0" smtClean="0"/>
              <a:t>levels</a:t>
            </a:r>
            <a:r>
              <a:rPr lang="en-US" dirty="0"/>
              <a:t>.</a:t>
            </a:r>
            <a:endParaRPr lang="en-US" dirty="0" smtClean="0"/>
          </a:p>
          <a:p>
            <a:r>
              <a:rPr lang="en-US" dirty="0" smtClean="0"/>
              <a:t>Students </a:t>
            </a:r>
            <a:r>
              <a:rPr lang="en-US" dirty="0"/>
              <a:t>at doctorate institutions achieve more of the highest scores than any other institution type. </a:t>
            </a:r>
            <a:endParaRPr lang="en-US" dirty="0" smtClean="0"/>
          </a:p>
          <a:p>
            <a:r>
              <a:rPr lang="en-US" dirty="0" smtClean="0"/>
              <a:t>Doctorate </a:t>
            </a:r>
            <a:r>
              <a:rPr lang="en-US" dirty="0"/>
              <a:t>institution students score consistently higher in the skill sets of Developing a Research Strategy; Searching; Using Finding Tool Features; Retrieving Sources; Documenting Sources; and Understanding Economic, Legal, and Social Issues. </a:t>
            </a:r>
            <a:endParaRPr lang="en-US" dirty="0" smtClean="0"/>
          </a:p>
          <a:p>
            <a:r>
              <a:rPr lang="en-US" dirty="0" smtClean="0"/>
              <a:t>Students </a:t>
            </a:r>
            <a:r>
              <a:rPr lang="en-US" dirty="0"/>
              <a:t>at masters institutions scored highest across more classes for the skill set Evaluating Resources. </a:t>
            </a:r>
          </a:p>
        </p:txBody>
      </p:sp>
    </p:spTree>
    <p:extLst>
      <p:ext uri="{BB962C8B-B14F-4D97-AF65-F5344CB8AC3E}">
        <p14:creationId xmlns:p14="http://schemas.microsoft.com/office/powerpoint/2010/main" val="3144355140"/>
      </p:ext>
    </p:extLst>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Interpretation</a:t>
            </a:r>
            <a:endParaRPr lang="en-US" dirty="0"/>
          </a:p>
        </p:txBody>
      </p:sp>
      <p:sp>
        <p:nvSpPr>
          <p:cNvPr id="3" name="Content Placeholder 2"/>
          <p:cNvSpPr>
            <a:spLocks noGrp="1"/>
          </p:cNvSpPr>
          <p:nvPr>
            <p:ph idx="1"/>
          </p:nvPr>
        </p:nvSpPr>
        <p:spPr/>
        <p:txBody>
          <a:bodyPr/>
          <a:lstStyle/>
          <a:p>
            <a:pPr marL="0" indent="0">
              <a:buNone/>
            </a:pPr>
            <a:r>
              <a:rPr lang="en-US" dirty="0" smtClean="0"/>
              <a:t>How are students learning </a:t>
            </a:r>
            <a:r>
              <a:rPr lang="en-US" dirty="0"/>
              <a:t>these </a:t>
            </a:r>
            <a:r>
              <a:rPr lang="en-US" dirty="0" smtClean="0"/>
              <a:t>skills? What are factors </a:t>
            </a:r>
            <a:r>
              <a:rPr lang="en-US" dirty="0"/>
              <a:t>that </a:t>
            </a:r>
            <a:r>
              <a:rPr lang="en-US" dirty="0" smtClean="0"/>
              <a:t>led </a:t>
            </a:r>
            <a:r>
              <a:rPr lang="en-US" dirty="0"/>
              <a:t>to increased information </a:t>
            </a:r>
            <a:r>
              <a:rPr lang="en-US" dirty="0" smtClean="0"/>
              <a:t>literacy?</a:t>
            </a:r>
          </a:p>
          <a:p>
            <a:r>
              <a:rPr lang="en-US" dirty="0"/>
              <a:t>Expected student development and maturation? </a:t>
            </a:r>
          </a:p>
          <a:p>
            <a:r>
              <a:rPr lang="en-US" dirty="0" smtClean="0"/>
              <a:t>Is </a:t>
            </a:r>
            <a:r>
              <a:rPr lang="en-US" dirty="0"/>
              <a:t>it library instruction? </a:t>
            </a:r>
            <a:endParaRPr lang="en-US" dirty="0" smtClean="0"/>
          </a:p>
          <a:p>
            <a:r>
              <a:rPr lang="en-US" dirty="0" smtClean="0"/>
              <a:t>Learning </a:t>
            </a:r>
            <a:r>
              <a:rPr lang="en-US" dirty="0"/>
              <a:t>from classroom faculty? </a:t>
            </a:r>
            <a:endParaRPr lang="en-US" dirty="0" smtClean="0"/>
          </a:p>
          <a:p>
            <a:r>
              <a:rPr lang="en-US" dirty="0" smtClean="0"/>
              <a:t>Assignments</a:t>
            </a:r>
            <a:r>
              <a:rPr lang="en-US" dirty="0"/>
              <a:t>? </a:t>
            </a:r>
            <a:endParaRPr lang="en-US" dirty="0" smtClean="0"/>
          </a:p>
          <a:p>
            <a:r>
              <a:rPr lang="en-US" dirty="0" smtClean="0"/>
              <a:t>Parents</a:t>
            </a:r>
            <a:r>
              <a:rPr lang="en-US" dirty="0"/>
              <a:t>? Friends? </a:t>
            </a:r>
          </a:p>
          <a:p>
            <a:endParaRPr lang="en-US" dirty="0"/>
          </a:p>
        </p:txBody>
      </p:sp>
    </p:spTree>
    <p:extLst>
      <p:ext uri="{BB962C8B-B14F-4D97-AF65-F5344CB8AC3E}">
        <p14:creationId xmlns:p14="http://schemas.microsoft.com/office/powerpoint/2010/main" val="1963929770"/>
      </p:ext>
    </p:extLst>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Limitations</a:t>
            </a:r>
            <a:endParaRPr lang="en-US" dirty="0"/>
          </a:p>
        </p:txBody>
      </p:sp>
      <p:sp>
        <p:nvSpPr>
          <p:cNvPr id="3" name="Content Placeholder 2"/>
          <p:cNvSpPr>
            <a:spLocks noGrp="1"/>
          </p:cNvSpPr>
          <p:nvPr>
            <p:ph idx="1"/>
          </p:nvPr>
        </p:nvSpPr>
        <p:spPr/>
        <p:txBody>
          <a:bodyPr>
            <a:normAutofit/>
          </a:bodyPr>
          <a:lstStyle/>
          <a:p>
            <a:r>
              <a:rPr lang="en-US" dirty="0" smtClean="0"/>
              <a:t>Sample may not be representative.</a:t>
            </a:r>
          </a:p>
          <a:p>
            <a:pPr lvl="1"/>
            <a:r>
              <a:rPr lang="en-US" dirty="0"/>
              <a:t>Institutions are self-selecting.</a:t>
            </a:r>
          </a:p>
          <a:p>
            <a:pPr lvl="1"/>
            <a:r>
              <a:rPr lang="en-US" dirty="0"/>
              <a:t>Institutions choose students to test.</a:t>
            </a:r>
          </a:p>
          <a:p>
            <a:r>
              <a:rPr lang="en-US" dirty="0" smtClean="0"/>
              <a:t>Low</a:t>
            </a:r>
            <a:r>
              <a:rPr lang="en-US" dirty="0" smtClean="0"/>
              <a:t>-stakes test</a:t>
            </a:r>
            <a:r>
              <a:rPr lang="en-US" dirty="0" smtClean="0"/>
              <a:t>.</a:t>
            </a:r>
          </a:p>
          <a:p>
            <a:r>
              <a:rPr lang="en-US" dirty="0" smtClean="0"/>
              <a:t>Cannot compare skill sets.</a:t>
            </a:r>
          </a:p>
          <a:p>
            <a:r>
              <a:rPr lang="en-US" dirty="0"/>
              <a:t>No </a:t>
            </a:r>
            <a:r>
              <a:rPr lang="en-US" dirty="0" smtClean="0"/>
              <a:t>mastery </a:t>
            </a:r>
            <a:r>
              <a:rPr lang="en-US" dirty="0"/>
              <a:t>and </a:t>
            </a:r>
            <a:r>
              <a:rPr lang="en-US" dirty="0" smtClean="0"/>
              <a:t>proficiency levels.</a:t>
            </a:r>
            <a:endParaRPr lang="en-US" dirty="0" smtClean="0"/>
          </a:p>
        </p:txBody>
      </p:sp>
    </p:spTree>
    <p:extLst>
      <p:ext uri="{BB962C8B-B14F-4D97-AF65-F5344CB8AC3E}">
        <p14:creationId xmlns:p14="http://schemas.microsoft.com/office/powerpoint/2010/main" val="553166821"/>
      </p:ext>
    </p:extLst>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Research</a:t>
            </a:r>
            <a:endParaRPr lang="en-US" dirty="0"/>
          </a:p>
        </p:txBody>
      </p:sp>
      <p:sp>
        <p:nvSpPr>
          <p:cNvPr id="3" name="Content Placeholder 2"/>
          <p:cNvSpPr>
            <a:spLocks noGrp="1"/>
          </p:cNvSpPr>
          <p:nvPr>
            <p:ph idx="1"/>
          </p:nvPr>
        </p:nvSpPr>
        <p:spPr/>
        <p:txBody>
          <a:bodyPr/>
          <a:lstStyle/>
          <a:p>
            <a:r>
              <a:rPr lang="en-US" dirty="0" smtClean="0"/>
              <a:t>Majors</a:t>
            </a:r>
          </a:p>
          <a:p>
            <a:r>
              <a:rPr lang="en-US" dirty="0" smtClean="0"/>
              <a:t>Crosstabs – class standing by major</a:t>
            </a:r>
          </a:p>
          <a:p>
            <a:r>
              <a:rPr lang="en-US" dirty="0" smtClean="0"/>
              <a:t>Individual scores</a:t>
            </a:r>
          </a:p>
          <a:p>
            <a:pPr lvl="1"/>
            <a:r>
              <a:rPr lang="en-US" dirty="0" smtClean="0"/>
              <a:t>Proficiency </a:t>
            </a:r>
            <a:r>
              <a:rPr lang="en-US" smtClean="0"/>
              <a:t>and mastery</a:t>
            </a:r>
            <a:endParaRPr lang="en-US" dirty="0" smtClean="0"/>
          </a:p>
          <a:p>
            <a:pPr lvl="1"/>
            <a:r>
              <a:rPr lang="en-US" dirty="0" smtClean="0"/>
              <a:t>Pre- and post-test</a:t>
            </a:r>
          </a:p>
          <a:p>
            <a:pPr lvl="1"/>
            <a:endParaRPr lang="en-US" dirty="0" smtClean="0"/>
          </a:p>
        </p:txBody>
      </p:sp>
    </p:spTree>
    <p:extLst>
      <p:ext uri="{BB962C8B-B14F-4D97-AF65-F5344CB8AC3E}">
        <p14:creationId xmlns:p14="http://schemas.microsoft.com/office/powerpoint/2010/main" val="2873043871"/>
      </p:ext>
    </p:extLst>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pPr marL="0" indent="0">
              <a:buNone/>
            </a:pPr>
            <a:endParaRPr lang="en-US" sz="2400" dirty="0"/>
          </a:p>
        </p:txBody>
      </p:sp>
      <p:pic>
        <p:nvPicPr>
          <p:cNvPr id="4" name="Picture 3"/>
          <p:cNvPicPr>
            <a:picLocks noChangeAspect="1"/>
          </p:cNvPicPr>
          <p:nvPr/>
        </p:nvPicPr>
        <p:blipFill>
          <a:blip r:embed="rId2"/>
          <a:stretch>
            <a:fillRect/>
          </a:stretch>
        </p:blipFill>
        <p:spPr>
          <a:xfrm>
            <a:off x="1497244" y="1860841"/>
            <a:ext cx="5845050" cy="4169469"/>
          </a:xfrm>
          <a:prstGeom prst="rect">
            <a:avLst/>
          </a:prstGeom>
        </p:spPr>
      </p:pic>
    </p:spTree>
    <p:extLst>
      <p:ext uri="{BB962C8B-B14F-4D97-AF65-F5344CB8AC3E}">
        <p14:creationId xmlns:p14="http://schemas.microsoft.com/office/powerpoint/2010/main" val="3719948050"/>
      </p:ext>
    </p:extLst>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marL="0" indent="0" algn="ctr">
              <a:buNone/>
            </a:pPr>
            <a:endParaRPr lang="en-US" sz="2800" dirty="0"/>
          </a:p>
          <a:p>
            <a:pPr marL="0" indent="0" algn="ctr">
              <a:buNone/>
            </a:pPr>
            <a:r>
              <a:rPr lang="en-US" sz="4400" dirty="0" smtClean="0"/>
              <a:t>Thank you</a:t>
            </a:r>
            <a:r>
              <a:rPr lang="en-US" sz="4400" dirty="0" smtClean="0"/>
              <a:t>!</a:t>
            </a:r>
          </a:p>
          <a:p>
            <a:pPr marL="0" indent="0" algn="ctr">
              <a:buNone/>
            </a:pPr>
            <a:endParaRPr lang="en-US" sz="4400" dirty="0"/>
          </a:p>
          <a:p>
            <a:pPr marL="0" indent="0" algn="ctr">
              <a:buNone/>
            </a:pPr>
            <a:r>
              <a:rPr lang="en-US" sz="4400" dirty="0" err="1" smtClean="0"/>
              <a:t>www.ProjectSAILS.org</a:t>
            </a:r>
            <a:endParaRPr lang="en-US" sz="4400" dirty="0"/>
          </a:p>
        </p:txBody>
      </p:sp>
    </p:spTree>
    <p:extLst>
      <p:ext uri="{BB962C8B-B14F-4D97-AF65-F5344CB8AC3E}">
        <p14:creationId xmlns:p14="http://schemas.microsoft.com/office/powerpoint/2010/main" val="4119945108"/>
      </p:ext>
    </p:extLst>
  </p:cSld>
  <p:clrMapOvr>
    <a:masterClrMapping/>
  </p:clrMapOvr>
  <p:timing>
    <p:tnLst>
      <p:par>
        <p:cTn xmlns:p14="http://schemas.microsoft.com/office/powerpoint/2010/main" id="1" dur="indefinite" restart="never" nodeType="tmRoot"/>
      </p:par>
    </p:tnLst>
  </p:timing>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font script="Hans" typeface="宋体"/>
        <a:font script="Hant" typeface="新細明體"/>
      </a:majorFont>
      <a:minorFont>
        <a:latin typeface="Rockwell"/>
        <a:ea typeface=""/>
        <a:cs typeface=""/>
        <a:font script="Jpan" typeface="ＭＳ ゴシック"/>
        <a:font script="Hans" typeface="宋体"/>
        <a:font script="Hant" typeface="新細明體"/>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319</TotalTime>
  <Words>741</Words>
  <Application>Microsoft Macintosh PowerPoint</Application>
  <PresentationFormat>On-screen Show (4:3)</PresentationFormat>
  <Paragraphs>153</Paragraphs>
  <Slides>22</Slides>
  <Notes>4</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Advantage</vt:lpstr>
      <vt:lpstr>Results of a National Assessment of Information Literacy Skills </vt:lpstr>
      <vt:lpstr>Project SAILS</vt:lpstr>
      <vt:lpstr>SAILS Test</vt:lpstr>
      <vt:lpstr>Administration</vt:lpstr>
      <vt:lpstr>Profile of the Benchmark</vt:lpstr>
      <vt:lpstr>SAILS Skill Sets</vt:lpstr>
      <vt:lpstr>Scores for Skill Set 1: Developing a Research Strategy</vt:lpstr>
      <vt:lpstr>Scores for Skill Set 1: Developing a Research Strategy</vt:lpstr>
      <vt:lpstr>Skill Set 2: Selecting Finding Tools</vt:lpstr>
      <vt:lpstr>Skill Set 3: Searching</vt:lpstr>
      <vt:lpstr>Skill Set 4: Using Finding Tool Features</vt:lpstr>
      <vt:lpstr>Skill Set 5: Retrieving Sources</vt:lpstr>
      <vt:lpstr>Skill Set 6: Evaluating Sources</vt:lpstr>
      <vt:lpstr>Skill Set 7: Documenting Sources</vt:lpstr>
      <vt:lpstr>Skill Set 8: Understanding Economic, Legal, and Social Issues</vt:lpstr>
      <vt:lpstr>Trends for Class Standing</vt:lpstr>
      <vt:lpstr>Trends for Institution Type</vt:lpstr>
      <vt:lpstr>Interpretation</vt:lpstr>
      <vt:lpstr>Limitations</vt:lpstr>
      <vt:lpstr>Future Research</vt:lpstr>
      <vt:lpstr>PowerPoint Presentation</vt:lpstr>
      <vt:lpstr>PowerPoint Presentation</vt:lpstr>
    </vt:vector>
  </TitlesOfParts>
  <Company>Kent State University</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Results of a National Assessment of Information Literacy Skills </dc:title>
  <dc:creator>LMS KSU</dc:creator>
  <cp:lastModifiedBy>CAROLYN RADCLIFF</cp:lastModifiedBy>
  <cp:revision>58</cp:revision>
  <dcterms:created xsi:type="dcterms:W3CDTF">2011-08-24T18:27:15Z</dcterms:created>
  <dcterms:modified xsi:type="dcterms:W3CDTF">2011-09-22T23:25:46Z</dcterms:modified>
</cp:coreProperties>
</file>