
<file path=[Content_Types].xml><?xml version="1.0" encoding="utf-8"?>
<Types xmlns="http://schemas.openxmlformats.org/package/2006/content-types"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slides/slide9.xml" ContentType="application/vnd.openxmlformats-officedocument.presentationml.slide+xml"/>
  <Override PartName="/ppt/notesSlides/notesSlide3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Override PartName="/ppt/notesSlides/notesSlide4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9" r:id="rId5"/>
    <p:sldId id="258" r:id="rId6"/>
    <p:sldId id="262" r:id="rId7"/>
    <p:sldId id="261" r:id="rId8"/>
    <p:sldId id="265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-135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1B74A-B54D-4C11-AD22-936BC958E07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E9B61-0548-4B21-B046-E0908F66B68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AOD 550 is used most commonly</a:t>
            </a:r>
            <a:r>
              <a:rPr lang="en-US" baseline="0" dirty="0" smtClean="0"/>
              <a:t> for </a:t>
            </a:r>
            <a:r>
              <a:rPr lang="en-US" baseline="0" dirty="0" err="1" smtClean="0"/>
              <a:t>intercomparison</a:t>
            </a:r>
            <a:endParaRPr lang="en-US" baseline="0" dirty="0" smtClean="0"/>
          </a:p>
          <a:p>
            <a:r>
              <a:rPr lang="en-US" baseline="0" dirty="0" smtClean="0"/>
              <a:t>Many factors are important with emphasis on regional variation</a:t>
            </a:r>
          </a:p>
          <a:p>
            <a:r>
              <a:rPr lang="en-US" baseline="0" dirty="0" smtClean="0"/>
              <a:t>	surface characterization</a:t>
            </a:r>
          </a:p>
          <a:p>
            <a:r>
              <a:rPr lang="en-US" baseline="0" dirty="0" smtClean="0"/>
              <a:t>	aerosol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E9B61-0548-4B21-B046-E0908F66B68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 smtClean="0"/>
              <a:t>Along the Portuguese coast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E9B61-0548-4B21-B046-E0908F66B68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E9B61-0548-4B21-B046-E0908F66B68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Slop less than 1 and a positive y offset</a:t>
            </a:r>
            <a:r>
              <a:rPr lang="en-US" baseline="0" dirty="0" smtClean="0"/>
              <a:t>, overestimating…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E9B61-0548-4B21-B046-E0908F66B68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365760">
              <a:buFont typeface="Wingdings" pitchFamily="2" charset="2"/>
              <a:buChar char="v"/>
              <a:defRPr/>
            </a:pPr>
            <a:r>
              <a:rPr lang="en-US" sz="1200" dirty="0" smtClean="0">
                <a:latin typeface="+mn-lt"/>
              </a:rPr>
              <a:t>The Ocean algorithm performs worse as the location moves inland.</a:t>
            </a:r>
          </a:p>
          <a:p>
            <a:pPr marL="365760" indent="-365760">
              <a:buFont typeface="Wingdings" pitchFamily="2" charset="2"/>
              <a:buChar char="v"/>
              <a:defRPr/>
            </a:pPr>
            <a:r>
              <a:rPr lang="en-US" sz="1200" dirty="0" smtClean="0">
                <a:latin typeface="+mn-lt"/>
              </a:rPr>
              <a:t> The Land algorithm correlation improves as the location moves inland but is less affected than the Ocean </a:t>
            </a:r>
            <a:r>
              <a:rPr lang="en-US" sz="1200" smtClean="0">
                <a:latin typeface="+mn-lt"/>
              </a:rPr>
              <a:t>algorithm.</a:t>
            </a:r>
            <a:endParaRPr lang="en-US" sz="12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E9B61-0548-4B21-B046-E0908F66B68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89D20-57EE-49E1-BFD4-E8003AF77CD4}" type="datetimeFigureOut">
              <a:rPr lang="en-US" smtClean="0"/>
              <a:pPr/>
              <a:t>9/7/11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B74DA-9E51-4CA9-B40C-06F01BA1975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Characterization of Aerosol Data Quality from MODIS for Coastal Regions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Jacob Anderson</a:t>
            </a:r>
          </a:p>
          <a:p>
            <a:r>
              <a:rPr lang="en-US" sz="2000" dirty="0" smtClean="0"/>
              <a:t>Mentor: Gregory </a:t>
            </a:r>
            <a:r>
              <a:rPr lang="en-US" sz="2000" dirty="0" err="1" smtClean="0"/>
              <a:t>Leptoukh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Based on previous research determine the variables that most affect MODIS bias</a:t>
            </a:r>
          </a:p>
          <a:p>
            <a:r>
              <a:rPr lang="en-US" dirty="0" smtClean="0"/>
              <a:t>Find which MODIS aerosol algorithm works better over coastal regions</a:t>
            </a:r>
          </a:p>
          <a:p>
            <a:r>
              <a:rPr lang="en-US" dirty="0" smtClean="0"/>
              <a:t>Determine if there is a relationship between MODIS aerosol retrieval accuracy and distance to the coastline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MODIS-</a:t>
            </a:r>
            <a:r>
              <a:rPr lang="en-US" sz="3600" dirty="0" err="1"/>
              <a:t>Aeronet</a:t>
            </a:r>
            <a:r>
              <a:rPr lang="en-US" sz="3600" dirty="0"/>
              <a:t> </a:t>
            </a:r>
            <a:r>
              <a:rPr lang="en-US" sz="3600" dirty="0" err="1" smtClean="0"/>
              <a:t>Intercomparison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600" dirty="0" smtClean="0"/>
              <a:t>Review previous research with an emphasis </a:t>
            </a:r>
            <a:r>
              <a:rPr lang="en-US" sz="2600" dirty="0"/>
              <a:t>on which conditions affect the bias the </a:t>
            </a:r>
            <a:r>
              <a:rPr lang="en-US" sz="2600" dirty="0" smtClean="0"/>
              <a:t>most</a:t>
            </a:r>
          </a:p>
          <a:p>
            <a:r>
              <a:rPr lang="en-US" sz="2600" dirty="0" smtClean="0"/>
              <a:t>Prepare </a:t>
            </a:r>
            <a:r>
              <a:rPr lang="en-US" sz="2600" dirty="0"/>
              <a:t>a table on various measurement environmental conditions addressed in these papers</a:t>
            </a:r>
          </a:p>
        </p:txBody>
      </p:sp>
      <p:pic>
        <p:nvPicPr>
          <p:cNvPr id="4" name="Picture 6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3429000"/>
            <a:ext cx="89154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/>
              <a:t>AeroStat</a:t>
            </a:r>
            <a:r>
              <a:rPr lang="en-US" sz="4000" dirty="0" smtClean="0"/>
              <a:t> Giovanni for Exploration</a:t>
            </a:r>
            <a:br>
              <a:rPr lang="en-US" sz="40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43434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The initial assessment shows that the algorithms do not agree</a:t>
            </a:r>
          </a:p>
          <a:p>
            <a:r>
              <a:rPr lang="en-US" sz="2800" dirty="0" smtClean="0"/>
              <a:t>MODIS Over-Ocean algorithm shows lower AOD compared to the Dark Target Land algorithm and AERONET</a:t>
            </a:r>
          </a:p>
          <a:p>
            <a:r>
              <a:rPr lang="en-US" sz="2800" dirty="0" smtClean="0"/>
              <a:t>Leads to primary research questions</a:t>
            </a:r>
          </a:p>
          <a:p>
            <a:pPr lvl="1"/>
            <a:r>
              <a:rPr lang="en-US" sz="2400" dirty="0" smtClean="0"/>
              <a:t>Are the differences in the algorithms similar for other coastal locations?</a:t>
            </a:r>
          </a:p>
          <a:p>
            <a:pPr lvl="1"/>
            <a:r>
              <a:rPr lang="en-US" sz="2400" dirty="0" smtClean="0"/>
              <a:t>How do these results compare to global, and non-coastal analysis?</a:t>
            </a:r>
          </a:p>
          <a:p>
            <a:pPr lvl="1"/>
            <a:r>
              <a:rPr lang="en-US" sz="2400" dirty="0" smtClean="0"/>
              <a:t>Does distance to the coast affect retrievals?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474694"/>
            <a:ext cx="4419600" cy="513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876800" y="1447800"/>
            <a:ext cx="3832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Cabo_da_Roca</a:t>
            </a:r>
            <a:r>
              <a:rPr lang="en-US" sz="2400" dirty="0" smtClean="0"/>
              <a:t> AERONET Site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Autofit/>
          </a:bodyPr>
          <a:lstStyle/>
          <a:p>
            <a:r>
              <a:rPr lang="en-US" sz="3400" dirty="0" smtClean="0"/>
              <a:t>MODIS Aerosol Algorithms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MODIS calibrated </a:t>
            </a:r>
            <a:r>
              <a:rPr lang="en-US" sz="2600" dirty="0" err="1" smtClean="0"/>
              <a:t>reflectances</a:t>
            </a:r>
            <a:r>
              <a:rPr lang="en-US" sz="2600" baseline="0" dirty="0" smtClean="0"/>
              <a:t> </a:t>
            </a:r>
            <a:r>
              <a:rPr lang="en-US" sz="2600" dirty="0" smtClean="0"/>
              <a:t>are binned into 10x10km boxes consisting of 400 pixels</a:t>
            </a:r>
          </a:p>
          <a:p>
            <a:r>
              <a:rPr lang="en-US" sz="2600" dirty="0" smtClean="0"/>
              <a:t>MODIS uses three algorithms for aerosol retrievals</a:t>
            </a:r>
          </a:p>
          <a:p>
            <a:pPr lvl="1"/>
            <a:r>
              <a:rPr lang="en-US" sz="2200" dirty="0" smtClean="0"/>
              <a:t>Over-Ocean algorithm is used if all pixels are ocean</a:t>
            </a:r>
          </a:p>
          <a:p>
            <a:pPr lvl="1"/>
            <a:r>
              <a:rPr lang="en-US" sz="2200" dirty="0" smtClean="0"/>
              <a:t>Land algorithms are used if any pixels are land</a:t>
            </a:r>
          </a:p>
          <a:p>
            <a:pPr lvl="2"/>
            <a:r>
              <a:rPr lang="en-US" sz="1800" dirty="0" smtClean="0"/>
              <a:t>Dark Target – Dark land surfaces</a:t>
            </a:r>
          </a:p>
          <a:p>
            <a:pPr lvl="2"/>
            <a:r>
              <a:rPr lang="en-US" sz="1800" dirty="0" smtClean="0"/>
              <a:t>Deep Blue – Bright land surfaces</a:t>
            </a:r>
            <a:endParaRPr lang="en-US" sz="2200" dirty="0" smtClean="0"/>
          </a:p>
          <a:p>
            <a:r>
              <a:rPr lang="en-US" sz="2600" dirty="0" err="1" smtClean="0"/>
              <a:t>AeroStat</a:t>
            </a:r>
            <a:r>
              <a:rPr lang="en-US" sz="2600" dirty="0" smtClean="0"/>
              <a:t> Giovanni has revealed a disagreement between the algorithms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200" dirty="0" smtClean="0"/>
              <a:t>Global Results Aqua-MODIS</a:t>
            </a:r>
            <a:endParaRPr lang="en-US" sz="42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52400" y="4495800"/>
            <a:ext cx="88392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 descr="Global.jpeg"/>
          <p:cNvPicPr>
            <a:picLocks noChangeAspect="1"/>
          </p:cNvPicPr>
          <p:nvPr/>
        </p:nvPicPr>
        <p:blipFill>
          <a:blip r:embed="rId3" cstate="print"/>
          <a:srcRect t="18508" b="12510"/>
          <a:stretch>
            <a:fillRect/>
          </a:stretch>
        </p:blipFill>
        <p:spPr>
          <a:xfrm>
            <a:off x="0" y="3886200"/>
            <a:ext cx="3017520" cy="2945674"/>
          </a:xfrm>
          <a:prstGeom prst="rect">
            <a:avLst/>
          </a:prstGeom>
        </p:spPr>
      </p:pic>
      <p:pic>
        <p:nvPicPr>
          <p:cNvPr id="12" name="Picture 11" descr="NonCoastal.jpeg"/>
          <p:cNvPicPr>
            <a:picLocks noChangeAspect="1"/>
          </p:cNvPicPr>
          <p:nvPr/>
        </p:nvPicPr>
        <p:blipFill>
          <a:blip r:embed="rId4" cstate="print"/>
          <a:srcRect t="17901" b="12505"/>
          <a:stretch>
            <a:fillRect/>
          </a:stretch>
        </p:blipFill>
        <p:spPr>
          <a:xfrm>
            <a:off x="3002281" y="3886200"/>
            <a:ext cx="3017520" cy="2944368"/>
          </a:xfrm>
          <a:prstGeom prst="rect">
            <a:avLst/>
          </a:prstGeom>
        </p:spPr>
      </p:pic>
      <p:pic>
        <p:nvPicPr>
          <p:cNvPr id="14" name="Picture 13" descr="Coastal.jpeg"/>
          <p:cNvPicPr>
            <a:picLocks noChangeAspect="1"/>
          </p:cNvPicPr>
          <p:nvPr/>
        </p:nvPicPr>
        <p:blipFill>
          <a:blip r:embed="rId5" cstate="print"/>
          <a:srcRect t="17845" b="12561"/>
          <a:stretch>
            <a:fillRect/>
          </a:stretch>
        </p:blipFill>
        <p:spPr>
          <a:xfrm>
            <a:off x="6019800" y="3886200"/>
            <a:ext cx="3068341" cy="2944368"/>
          </a:xfrm>
          <a:prstGeom prst="rect">
            <a:avLst/>
          </a:prstGeom>
        </p:spPr>
      </p:pic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2438400"/>
          </a:xfrm>
        </p:spPr>
        <p:txBody>
          <a:bodyPr>
            <a:normAutofit lnSpcReduction="10000"/>
          </a:bodyPr>
          <a:lstStyle/>
          <a:p>
            <a:r>
              <a:rPr lang="en-US" sz="2600" dirty="0" smtClean="0">
                <a:latin typeface="+mn-lt"/>
              </a:rPr>
              <a:t>For coastal sites the MODIS Over-Ocean algorithm generally has a slope&lt;1, overestimating AOD for low </a:t>
            </a:r>
            <a:r>
              <a:rPr lang="en-US" sz="2600" dirty="0" smtClean="0"/>
              <a:t>aerosol</a:t>
            </a:r>
            <a:r>
              <a:rPr lang="en-US" sz="2600" dirty="0" smtClean="0">
                <a:latin typeface="+mn-lt"/>
              </a:rPr>
              <a:t> loading events and underestimating </a:t>
            </a:r>
            <a:r>
              <a:rPr lang="en-US" sz="2600" dirty="0" smtClean="0"/>
              <a:t>for higher</a:t>
            </a:r>
            <a:r>
              <a:rPr lang="en-US" sz="2600" dirty="0" smtClean="0">
                <a:latin typeface="+mn-lt"/>
              </a:rPr>
              <a:t> </a:t>
            </a:r>
            <a:r>
              <a:rPr lang="en-US" sz="2600" dirty="0" smtClean="0"/>
              <a:t>aerosol</a:t>
            </a:r>
            <a:r>
              <a:rPr lang="en-US" sz="2600" dirty="0" smtClean="0">
                <a:latin typeface="+mn-lt"/>
              </a:rPr>
              <a:t> loading. The opposite is true for non-coastal sites.</a:t>
            </a:r>
          </a:p>
          <a:p>
            <a:r>
              <a:rPr lang="en-US" sz="2600" dirty="0" smtClean="0">
                <a:latin typeface="+mn-lt"/>
              </a:rPr>
              <a:t>In general the MODIS Dark Target Land algorithm performs better than the Over-Ocean algorithm for coastal sites.</a:t>
            </a:r>
          </a:p>
          <a:p>
            <a:endParaRPr lang="en-US" sz="2600" dirty="0" smtClean="0">
              <a:latin typeface="+mn-lt"/>
            </a:endParaRPr>
          </a:p>
          <a:p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Individual AERONET Station Results</a:t>
            </a:r>
            <a:endParaRPr lang="en-US" sz="4000" dirty="0"/>
          </a:p>
        </p:txBody>
      </p:sp>
      <p:pic>
        <p:nvPicPr>
          <p:cNvPr id="7" name="Content Placeholder 6" descr="Dakar.jpe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t="16836" b="12452"/>
          <a:stretch>
            <a:fillRect/>
          </a:stretch>
        </p:blipFill>
        <p:spPr>
          <a:xfrm>
            <a:off x="2743200" y="1447800"/>
            <a:ext cx="2665230" cy="2667000"/>
          </a:xfrm>
        </p:spPr>
      </p:pic>
      <p:pic>
        <p:nvPicPr>
          <p:cNvPr id="5" name="Picture 4" descr="Dakar10&amp;25.jpg"/>
          <p:cNvPicPr>
            <a:picLocks noChangeAspect="1"/>
          </p:cNvPicPr>
          <p:nvPr/>
        </p:nvPicPr>
        <p:blipFill>
          <a:blip r:embed="rId4" cstate="print"/>
          <a:srcRect l="14815" r="18210" b="4914"/>
          <a:stretch>
            <a:fillRect/>
          </a:stretch>
        </p:blipFill>
        <p:spPr>
          <a:xfrm>
            <a:off x="0" y="1447800"/>
            <a:ext cx="2755899" cy="2667000"/>
          </a:xfrm>
          <a:prstGeom prst="rect">
            <a:avLst/>
          </a:prstGeom>
        </p:spPr>
      </p:pic>
      <p:pic>
        <p:nvPicPr>
          <p:cNvPr id="6" name="Content Placeholder 3" descr="Wallops10&amp;25.jpg"/>
          <p:cNvPicPr>
            <a:picLocks noChangeAspect="1"/>
          </p:cNvPicPr>
          <p:nvPr/>
        </p:nvPicPr>
        <p:blipFill>
          <a:blip r:embed="rId5" cstate="print"/>
          <a:srcRect l="16667" r="16667" b="3838"/>
          <a:stretch>
            <a:fillRect/>
          </a:stretch>
        </p:blipFill>
        <p:spPr>
          <a:xfrm>
            <a:off x="0" y="4114800"/>
            <a:ext cx="2743200" cy="2654710"/>
          </a:xfrm>
          <a:prstGeom prst="rect">
            <a:avLst/>
          </a:prstGeom>
        </p:spPr>
      </p:pic>
      <p:pic>
        <p:nvPicPr>
          <p:cNvPr id="8" name="Picture 7" descr="Wallops.jpeg"/>
          <p:cNvPicPr>
            <a:picLocks noChangeAspect="1"/>
          </p:cNvPicPr>
          <p:nvPr/>
        </p:nvPicPr>
        <p:blipFill>
          <a:blip r:embed="rId6" cstate="print"/>
          <a:srcRect t="15143" b="14192"/>
          <a:stretch>
            <a:fillRect/>
          </a:stretch>
        </p:blipFill>
        <p:spPr>
          <a:xfrm>
            <a:off x="2743200" y="4114800"/>
            <a:ext cx="2667000" cy="2667000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5410200" y="1447800"/>
            <a:ext cx="37338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MODIS Over-Ocean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algorithm performs worse as the location moves inland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MODIS Dark Target Land algorithm correlation improves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as the location moves inland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For coastal sites the MODIS Over-Ocean algorithm generally has a slope&lt;1, signifying that it overestimates AOD for low aerosol loading events and underestimates for higher aerosol loading. The opposite is true for non-coastal sites.</a:t>
            </a:r>
          </a:p>
          <a:p>
            <a:r>
              <a:rPr lang="en-US" sz="2800" dirty="0" smtClean="0"/>
              <a:t>In general the MODIS Dark Target Land algorithm performs better than the Over-Ocean algorithm for coastal sites.</a:t>
            </a:r>
          </a:p>
          <a:p>
            <a:pPr lvl="0">
              <a:defRPr/>
            </a:pPr>
            <a:r>
              <a:rPr lang="en-US" sz="2800" dirty="0" smtClean="0"/>
              <a:t>The MODIS Over-Ocean algorithm performs worse as the location moves inland</a:t>
            </a:r>
          </a:p>
          <a:p>
            <a:pPr lvl="0">
              <a:defRPr/>
            </a:pPr>
            <a:r>
              <a:rPr lang="en-US" sz="2800" dirty="0" smtClean="0"/>
              <a:t>The MODIS Dark Target Land algorithm </a:t>
            </a:r>
            <a:r>
              <a:rPr lang="en-US" sz="2800" smtClean="0"/>
              <a:t>correlation improves </a:t>
            </a:r>
            <a:r>
              <a:rPr lang="en-US" sz="2800" dirty="0" smtClean="0"/>
              <a:t>as location moves inland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675"/>
            <a:ext cx="8229600" cy="114300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70237"/>
            <a:ext cx="8229600" cy="45259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Any Questions?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487</Words>
  <Application>Microsoft Macintosh PowerPoint</Application>
  <PresentationFormat>On-screen Show (4:3)</PresentationFormat>
  <Paragraphs>52</Paragraphs>
  <Slides>9</Slides>
  <Notes>5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Characterization of Aerosol Data Quality from MODIS for Coastal Regions</vt:lpstr>
      <vt:lpstr>Research Objectives</vt:lpstr>
      <vt:lpstr>MODIS-Aeronet Intercomparison</vt:lpstr>
      <vt:lpstr>AeroStat Giovanni for Exploration </vt:lpstr>
      <vt:lpstr>MODIS Aerosol Algorithms</vt:lpstr>
      <vt:lpstr>Global Results Aqua-MODIS</vt:lpstr>
      <vt:lpstr>Individual AERONET Station Results</vt:lpstr>
      <vt:lpstr>Conclusions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Characterization of Aerosol Data Quality from MODIS for Coastal Regions</dc:title>
  <dc:creator>jcanderson</dc:creator>
  <cp:lastModifiedBy>ODIN</cp:lastModifiedBy>
  <cp:revision>44</cp:revision>
  <dcterms:created xsi:type="dcterms:W3CDTF">2011-09-07T16:49:30Z</dcterms:created>
  <dcterms:modified xsi:type="dcterms:W3CDTF">2011-09-07T16:50:13Z</dcterms:modified>
</cp:coreProperties>
</file>