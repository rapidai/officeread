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71" r:id="rId3"/>
    <p:sldId id="272" r:id="rId4"/>
    <p:sldId id="273" r:id="rId5"/>
    <p:sldId id="274" r:id="rId6"/>
    <p:sldId id="270" r:id="rId7"/>
    <p:sldId id="276" r:id="rId8"/>
    <p:sldId id="260" r:id="rId9"/>
    <p:sldId id="261" r:id="rId10"/>
    <p:sldId id="263" r:id="rId11"/>
    <p:sldId id="264" r:id="rId12"/>
    <p:sldId id="265" r:id="rId13"/>
    <p:sldId id="268" r:id="rId14"/>
    <p:sldId id="269" r:id="rId15"/>
    <p:sldId id="275" r:id="rId16"/>
    <p:sldId id="27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134C2-C7E7-4CBA-BCBC-2849A1093E3D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B2955-00E5-4CA1-8885-F43C70330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85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786D-D6B3-40C6-83D6-989FDED3C987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C3D61-B750-4336-9099-596C3D06B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82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786D-D6B3-40C6-83D6-989FDED3C987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C3D61-B750-4336-9099-596C3D06B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35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786D-D6B3-40C6-83D6-989FDED3C987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C3D61-B750-4336-9099-596C3D06B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9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786D-D6B3-40C6-83D6-989FDED3C987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C3D61-B750-4336-9099-596C3D06B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8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786D-D6B3-40C6-83D6-989FDED3C987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C3D61-B750-4336-9099-596C3D06B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11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786D-D6B3-40C6-83D6-989FDED3C987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C3D61-B750-4336-9099-596C3D06B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70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786D-D6B3-40C6-83D6-989FDED3C987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C3D61-B750-4336-9099-596C3D06B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24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786D-D6B3-40C6-83D6-989FDED3C987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C3D61-B750-4336-9099-596C3D06B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4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786D-D6B3-40C6-83D6-989FDED3C987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C3D61-B750-4336-9099-596C3D06B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8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786D-D6B3-40C6-83D6-989FDED3C987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C3D61-B750-4336-9099-596C3D06B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84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786D-D6B3-40C6-83D6-989FDED3C987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C3D61-B750-4336-9099-596C3D06B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47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2786D-D6B3-40C6-83D6-989FDED3C987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C3D61-B750-4336-9099-596C3D06B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0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cba.mit.edu/media/logos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laikaspoetnik.wordpress.com/2008/12/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://en.wikipedia.org/wiki/V(D)J_recombination" TargetMode="External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hyperlink" Target="http://pediaview.com/openpedia/Homologous_recombinatio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://www.codeproject.com/Articles/26203/Genetic-Algorithm-Library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7" descr="0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5" y="79621"/>
            <a:ext cx="2394255" cy="529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https://encrypted-tbn1.google.com/images?q=tbn:ANd9GcTn9JBXSjgqvLsu37efSBrG-OLgawGuS9yPqfUw4BYfDTxkH78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42"/>
          <a:stretch/>
        </p:blipFill>
        <p:spPr bwMode="auto">
          <a:xfrm>
            <a:off x="6705600" y="-1"/>
            <a:ext cx="2438400" cy="115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20775"/>
            <a:ext cx="9144000" cy="1622425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Self Evolving Systems</a:t>
            </a:r>
            <a:br>
              <a:rPr lang="en-US" sz="3600" b="1" dirty="0" smtClean="0"/>
            </a:br>
            <a:r>
              <a:rPr lang="en-US" sz="3600" dirty="0" smtClean="0"/>
              <a:t>MAS.S62 FAB</a:t>
            </a:r>
            <a:r>
              <a:rPr lang="en-US" sz="3600" baseline="30000" dirty="0" smtClean="0"/>
              <a:t>2</a:t>
            </a:r>
            <a:br>
              <a:rPr lang="en-US" sz="3600" baseline="30000" dirty="0" smtClean="0"/>
            </a:br>
            <a:r>
              <a:rPr lang="en-US" sz="3600" baseline="30000" dirty="0" smtClean="0"/>
              <a:t>5.1.12</a:t>
            </a:r>
            <a:endParaRPr lang="en-US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48491" y="3124200"/>
            <a:ext cx="25972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1] </a:t>
            </a:r>
            <a:r>
              <a:rPr lang="en-US" b="1" dirty="0"/>
              <a:t>Immune </a:t>
            </a:r>
            <a:r>
              <a:rPr lang="en-US" b="1" dirty="0" smtClean="0"/>
              <a:t>System</a:t>
            </a:r>
            <a:endParaRPr lang="en-US" b="1" dirty="0" smtClean="0"/>
          </a:p>
          <a:p>
            <a:r>
              <a:rPr lang="en-US" b="1" dirty="0"/>
              <a:t>2</a:t>
            </a:r>
            <a:r>
              <a:rPr lang="en-US" b="1" dirty="0" smtClean="0"/>
              <a:t>] </a:t>
            </a:r>
            <a:r>
              <a:rPr lang="en-US" b="1" dirty="0" smtClean="0"/>
              <a:t>Cell Based Systems  </a:t>
            </a:r>
            <a:endParaRPr lang="en-US" b="1" dirty="0" smtClean="0"/>
          </a:p>
          <a:p>
            <a:r>
              <a:rPr lang="en-US" b="1" dirty="0"/>
              <a:t>3</a:t>
            </a:r>
            <a:r>
              <a:rPr lang="en-US" b="1" dirty="0" smtClean="0"/>
              <a:t>] </a:t>
            </a:r>
            <a:r>
              <a:rPr lang="en-US" b="1" dirty="0" smtClean="0"/>
              <a:t>Self Evolving </a:t>
            </a:r>
            <a:r>
              <a:rPr lang="en-US" b="1" dirty="0" smtClean="0"/>
              <a:t>hardware</a:t>
            </a:r>
          </a:p>
          <a:p>
            <a:r>
              <a:rPr lang="en-US" b="1" dirty="0"/>
              <a:t>4] Genetic </a:t>
            </a:r>
            <a:r>
              <a:rPr lang="en-US" b="1" dirty="0" smtClean="0"/>
              <a:t>Algorithms</a:t>
            </a:r>
            <a:endParaRPr lang="en-US" b="1" dirty="0"/>
          </a:p>
        </p:txBody>
      </p:sp>
      <p:pic>
        <p:nvPicPr>
          <p:cNvPr id="10" name="Picture 8" descr="http://upload.wikimedia.org/wikipedia/commons/thumb/3/3e/VDJ_recombination.png/400px-VDJ_recombination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730174"/>
            <a:ext cx="3188709" cy="318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788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clonal-selection-users-pat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637" y="987427"/>
            <a:ext cx="3264090" cy="2730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33400" y="4114800"/>
            <a:ext cx="21562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3×10</a:t>
            </a:r>
            <a:r>
              <a:rPr lang="en-US" b="1" baseline="30000" dirty="0"/>
              <a:t>11</a:t>
            </a:r>
            <a:r>
              <a:rPr lang="en-US" b="1" dirty="0"/>
              <a:t> combinations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99575" y="18894"/>
            <a:ext cx="74599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Key Elements of Evolution: </a:t>
            </a:r>
          </a:p>
          <a:p>
            <a:pPr algn="ctr"/>
            <a:r>
              <a:rPr lang="en-US" sz="2400" b="1" dirty="0" smtClean="0"/>
              <a:t>Diversity Library Generation - &gt; Selection -&gt; Amplification</a:t>
            </a:r>
            <a:endParaRPr lang="en-US" sz="2400" b="1" dirty="0"/>
          </a:p>
        </p:txBody>
      </p:sp>
      <p:pic>
        <p:nvPicPr>
          <p:cNvPr id="6152" name="Picture 8" descr="http://upload.wikimedia.org/wikipedia/commons/thumb/3/3e/VDJ_recombination.png/400px-VDJ_recombinati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5" y="849891"/>
            <a:ext cx="3188709" cy="318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http://laikaspoetnik.files.wordpress.com/2008/12/vdj-recombination-2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09" t="55372"/>
          <a:stretch/>
        </p:blipFill>
        <p:spPr bwMode="auto">
          <a:xfrm>
            <a:off x="3586306" y="1295400"/>
            <a:ext cx="1399309" cy="149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File:HR schematic diagram.sv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971800"/>
            <a:ext cx="2990560" cy="391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Depiction of chromosome 1 after undergoing homologous recombination in meiosi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1" y="3718358"/>
            <a:ext cx="2046934" cy="3074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-20782" y="6576979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>
                <a:hlinkClick r:id="rId7"/>
              </a:rPr>
              <a:t>http://en.wikipedia.org/wiki/V(D)J_recombination</a:t>
            </a:r>
            <a:endParaRPr lang="en-US" sz="800" dirty="0"/>
          </a:p>
        </p:txBody>
      </p:sp>
      <p:sp>
        <p:nvSpPr>
          <p:cNvPr id="5" name="Rectangle 4"/>
          <p:cNvSpPr/>
          <p:nvPr/>
        </p:nvSpPr>
        <p:spPr>
          <a:xfrm>
            <a:off x="0" y="6361535"/>
            <a:ext cx="211949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hlinkClick r:id="rId8"/>
              </a:rPr>
              <a:t>http://laikaspoetnik.wordpress.com/2008/12/</a:t>
            </a:r>
            <a:endParaRPr lang="en-US" sz="800" dirty="0"/>
          </a:p>
        </p:txBody>
      </p:sp>
      <p:sp>
        <p:nvSpPr>
          <p:cNvPr id="6" name="Rectangle 5"/>
          <p:cNvSpPr/>
          <p:nvPr/>
        </p:nvSpPr>
        <p:spPr>
          <a:xfrm>
            <a:off x="34060" y="6146091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>
                <a:hlinkClick r:id="rId9"/>
              </a:rPr>
              <a:t>http://pediaview.com/openpedia/Homologous_recombination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7598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73"/>
          <a:stretch/>
        </p:blipFill>
        <p:spPr bwMode="auto">
          <a:xfrm>
            <a:off x="1080655" y="1295400"/>
            <a:ext cx="7286625" cy="52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9629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14400"/>
            <a:ext cx="32670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382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20"/>
          <a:stretch/>
        </p:blipFill>
        <p:spPr bwMode="auto">
          <a:xfrm>
            <a:off x="13855" y="1371600"/>
            <a:ext cx="4533900" cy="4121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755" y="1684625"/>
            <a:ext cx="4591050" cy="349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9629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14400"/>
            <a:ext cx="3267075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060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5" y="653328"/>
            <a:ext cx="4532477" cy="290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2075" y="3014879"/>
            <a:ext cx="5181143" cy="36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132" y="0"/>
            <a:ext cx="5207668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33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5" y="0"/>
            <a:ext cx="5029200" cy="959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5" y="959386"/>
            <a:ext cx="301942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417" y="1198377"/>
            <a:ext cx="4904511" cy="3387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701848"/>
            <a:ext cx="8839200" cy="2109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5" y="1295400"/>
            <a:ext cx="4260272" cy="2906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144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16" y="1905000"/>
            <a:ext cx="5216283" cy="3903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0"/>
            <a:ext cx="9134475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1266825"/>
            <a:ext cx="303847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266825"/>
            <a:ext cx="3309402" cy="245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836" y="4038600"/>
            <a:ext cx="24384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92197" y="6260068"/>
            <a:ext cx="855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8 Rounds of Selection - &gt; 140X increase in </a:t>
            </a:r>
            <a:r>
              <a:rPr lang="en-US" b="1" dirty="0" err="1" smtClean="0"/>
              <a:t>Sortase</a:t>
            </a:r>
            <a:r>
              <a:rPr lang="en-US" b="1" dirty="0" smtClean="0"/>
              <a:t> A mediated LPETG Coupling Efficiency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3787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723454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9" y="-76200"/>
            <a:ext cx="8953500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9" y="1190625"/>
            <a:ext cx="3171825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971800" y="6070708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200 rounds of protein evolution over </a:t>
            </a:r>
            <a:r>
              <a:rPr lang="en-US" b="1" dirty="0" smtClean="0"/>
              <a:t>8 </a:t>
            </a:r>
            <a:r>
              <a:rPr lang="en-US" b="1" dirty="0"/>
              <a:t>days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3495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730"/>
          <a:stretch/>
        </p:blipFill>
        <p:spPr bwMode="auto">
          <a:xfrm>
            <a:off x="564182" y="304800"/>
            <a:ext cx="8229600" cy="1939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064" y="6248400"/>
            <a:ext cx="3567936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685800" y="1617160"/>
            <a:ext cx="37996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/>
              <a:t>T7 RNAP is highly specific for its promoter sequence</a:t>
            </a:r>
          </a:p>
          <a:p>
            <a:r>
              <a:rPr lang="en-US" sz="1000" b="1" dirty="0"/>
              <a:t>(TAATACGACTCACTATA), and exhibits virtually no detectable</a:t>
            </a:r>
          </a:p>
          <a:p>
            <a:r>
              <a:rPr lang="en-US" sz="1000" b="1" dirty="0"/>
              <a:t>activity on the consensus promoter of the related bacteriophage T3</a:t>
            </a:r>
          </a:p>
          <a:p>
            <a:r>
              <a:rPr lang="en-US" sz="1000" b="1" dirty="0"/>
              <a:t>(AATTAACCCTCACTAAA, differences underlined)21,22</a:t>
            </a:r>
            <a:endParaRPr lang="en-US" sz="1000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2819400"/>
            <a:ext cx="9067800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016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1419225"/>
            <a:ext cx="421005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96075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1828800"/>
            <a:ext cx="86487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610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57275"/>
            <a:ext cx="8534400" cy="417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2" y="5629275"/>
            <a:ext cx="81438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Clock </a:t>
            </a:r>
            <a:r>
              <a:rPr lang="en-US" sz="3600" b="1" dirty="0" smtClean="0"/>
              <a:t>Skew Correction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05606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09600"/>
            <a:ext cx="7343775" cy="500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782" y="6391275"/>
            <a:ext cx="81438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5602069"/>
            <a:ext cx="91093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 smtClean="0">
                <a:solidFill>
                  <a:srgbClr val="FF0000"/>
                </a:solidFill>
              </a:rPr>
              <a:t>he </a:t>
            </a:r>
            <a:r>
              <a:rPr lang="en-US" dirty="0">
                <a:solidFill>
                  <a:srgbClr val="FF0000"/>
                </a:solidFill>
              </a:rPr>
              <a:t>device </a:t>
            </a:r>
            <a:r>
              <a:rPr lang="en-US" dirty="0" smtClean="0">
                <a:solidFill>
                  <a:srgbClr val="FF0000"/>
                </a:solidFill>
              </a:rPr>
              <a:t>can run </a:t>
            </a:r>
            <a:r>
              <a:rPr lang="en-US" dirty="0">
                <a:solidFill>
                  <a:srgbClr val="FF0000"/>
                </a:solidFill>
              </a:rPr>
              <a:t>at be increased (in the paper by 25%) but that also the supply voltage can be</a:t>
            </a:r>
          </a:p>
          <a:p>
            <a:r>
              <a:rPr lang="en-US" dirty="0">
                <a:solidFill>
                  <a:srgbClr val="FF0000"/>
                </a:solidFill>
              </a:rPr>
              <a:t>reduced while maintaining a functioning chip (in some cases by more than 50%).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Clock </a:t>
            </a:r>
            <a:r>
              <a:rPr lang="en-US" sz="3600" b="1" dirty="0" smtClean="0"/>
              <a:t>Skew Correction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15985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53"/>
          <a:stretch/>
        </p:blipFill>
        <p:spPr bwMode="auto">
          <a:xfrm>
            <a:off x="914400" y="152400"/>
            <a:ext cx="7578436" cy="480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953000"/>
            <a:ext cx="80772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213778"/>
            <a:ext cx="7586663" cy="644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8600" y="468868"/>
            <a:ext cx="1056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 Bit DAC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7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048000"/>
            <a:ext cx="6781800" cy="2920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28600"/>
            <a:ext cx="2771775" cy="261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8232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171" y="1524000"/>
            <a:ext cx="4200525" cy="439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2138362"/>
            <a:ext cx="4600575" cy="316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38625" cy="122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55" y="1066800"/>
            <a:ext cx="2990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214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19600" y="60198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2"/>
              </a:rPr>
              <a:t>http://www.codeproject.com/Articles/26203/Genetic-Algorithm-Library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276600" y="271790"/>
            <a:ext cx="3044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Genetic Algorithms</a:t>
            </a:r>
            <a:endParaRPr lang="en-US" sz="2800" b="1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90600"/>
            <a:ext cx="3211384" cy="350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984" y="1143000"/>
            <a:ext cx="2837422" cy="2955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406" y="1216608"/>
            <a:ext cx="2714194" cy="2440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499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2564</TotalTime>
  <Words>151</Words>
  <Application>Microsoft Office PowerPoint</Application>
  <PresentationFormat>On-screen Show (4:3)</PresentationFormat>
  <Paragraphs>24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Self Evolving Systems MAS.S62 FAB2 5.1.12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</dc:creator>
  <cp:lastModifiedBy>Joe</cp:lastModifiedBy>
  <cp:revision>81</cp:revision>
  <dcterms:created xsi:type="dcterms:W3CDTF">2012-03-06T04:50:25Z</dcterms:created>
  <dcterms:modified xsi:type="dcterms:W3CDTF">2012-05-02T16:48:40Z</dcterms:modified>
</cp:coreProperties>
</file>