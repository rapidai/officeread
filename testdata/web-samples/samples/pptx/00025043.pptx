
<file path=[Content_Types].xml><?xml version="1.0" encoding="utf-8"?>
<Types xmlns="http://schemas.openxmlformats.org/package/2006/content-types">
  <Default Extension="bin" ContentType="application/vnd.openxmlformats-officedocument.presentationml.printerSettings"/>
  <Override PartName="/ppt/notesSlides/notesSlide24.xml" ContentType="application/vnd.openxmlformats-officedocument.presentationml.notesSlide+xml"/>
  <Override PartName="/ppt/slides/slide14.xml" ContentType="application/vnd.openxmlformats-officedocument.presentationml.slide+xml"/>
  <Default Extension="rels" ContentType="application/vnd.openxmlformats-package.relationships+xml"/>
  <Override PartName="/ppt/notesSlides/notesSlide16.xml" ContentType="application/vnd.openxmlformats-officedocument.presentationml.notesSlide+xml"/>
  <Override PartName="/ppt/diagrams/colors1.xml" ContentType="application/vnd.openxmlformats-officedocument.drawingml.diagramColors+xml"/>
  <Default Extension="xml" ContentType="application/xml"/>
  <Override PartName="/ppt/tableStyles.xml" ContentType="application/vnd.openxmlformats-officedocument.presentationml.tableStyles+xml"/>
  <Override PartName="/ppt/notesSlides/notesSlide31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37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30.xml" ContentType="application/vnd.openxmlformats-officedocument.presentationml.slide+xml"/>
  <Override PartName="/ppt/diagrams/layout1.xml" ContentType="application/vnd.openxmlformats-officedocument.drawingml.diagramLayout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ppt/notesSlides/notesSlide7.xml" ContentType="application/vnd.openxmlformats-officedocument.presentationml.notesSlide+xml"/>
  <Override PartName="/ppt/notesSlides/notesSlide30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slides/slide27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0.xml" ContentType="application/vnd.openxmlformats-officedocument.presentationml.slide+xml"/>
  <Override PartName="/ppt/slides/slide36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notesSlides/notesSlide8.xml" ContentType="application/vnd.openxmlformats-officedocument.presentationml.notesSlide+xml"/>
  <Default Extension="png" ContentType="image/png"/>
  <Override PartName="/ppt/slideLayouts/slideLayout4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26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18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34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diagrams/data1.xml" ContentType="application/vnd.openxmlformats-officedocument.drawingml.diagramData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quickStyle1.xml" ContentType="application/vnd.openxmlformats-officedocument.drawingml.diagramStyle+xml"/>
  <Override PartName="/ppt/theme/theme3.xml" ContentType="application/vnd.openxmlformats-officedocument.theme+xml"/>
  <Override PartName="/ppt/slides/slide24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notesSlides/notesSlide18.xml" ContentType="application/vnd.openxmlformats-officedocument.presentationml.notesSlide+xml"/>
  <Default Extension="jpeg" ContentType="image/jpeg"/>
  <Override PartName="/ppt/viewProps.xml" ContentType="application/vnd.openxmlformats-officedocument.presentationml.viewProps+xml"/>
  <Override PartName="/ppt/notesSlides/notesSlide11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slides/slide22.xml" ContentType="application/vnd.openxmlformats-officedocument.presentationml.slide+xml"/>
  <Override PartName="/ppt/slides/slide38.xml" ContentType="application/vnd.openxmlformats-officedocument.presentationml.slide+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diagrams/drawing1.xml" ContentType="application/vnd.ms-office.drawingml.diagramDrawing+xml"/>
  <Override PartName="/ppt/slideLayouts/slideLayout6.xml" ContentType="application/vnd.openxmlformats-officedocument.presentationml.slideLayout+xml"/>
  <Override PartName="/ppt/slides/slide31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SpecialPlsOnTitleSld="0" saveSubsetFonts="1">
  <p:sldMasterIdLst>
    <p:sldMasterId id="214748370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81" r:id="rId3"/>
    <p:sldId id="257" r:id="rId4"/>
    <p:sldId id="329" r:id="rId5"/>
    <p:sldId id="267" r:id="rId6"/>
    <p:sldId id="297" r:id="rId7"/>
    <p:sldId id="268" r:id="rId8"/>
    <p:sldId id="270" r:id="rId9"/>
    <p:sldId id="301" r:id="rId10"/>
    <p:sldId id="300" r:id="rId11"/>
    <p:sldId id="291" r:id="rId12"/>
    <p:sldId id="303" r:id="rId13"/>
    <p:sldId id="304" r:id="rId14"/>
    <p:sldId id="308" r:id="rId15"/>
    <p:sldId id="305" r:id="rId16"/>
    <p:sldId id="307" r:id="rId17"/>
    <p:sldId id="330" r:id="rId18"/>
    <p:sldId id="331" r:id="rId19"/>
    <p:sldId id="334" r:id="rId20"/>
    <p:sldId id="333" r:id="rId21"/>
    <p:sldId id="309" r:id="rId22"/>
    <p:sldId id="318" r:id="rId23"/>
    <p:sldId id="310" r:id="rId24"/>
    <p:sldId id="312" r:id="rId25"/>
    <p:sldId id="317" r:id="rId26"/>
    <p:sldId id="319" r:id="rId27"/>
    <p:sldId id="313" r:id="rId28"/>
    <p:sldId id="320" r:id="rId29"/>
    <p:sldId id="321" r:id="rId30"/>
    <p:sldId id="323" r:id="rId31"/>
    <p:sldId id="324" r:id="rId32"/>
    <p:sldId id="325" r:id="rId33"/>
    <p:sldId id="326" r:id="rId34"/>
    <p:sldId id="327" r:id="rId35"/>
    <p:sldId id="328" r:id="rId36"/>
    <p:sldId id="287" r:id="rId37"/>
    <p:sldId id="275" r:id="rId38"/>
    <p:sldId id="280" r:id="rId39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2024" y="-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-2586" y="-84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handoutMaster" Target="handoutMasters/handoutMaster1.xml"/><Relationship Id="rId42" Type="http://schemas.openxmlformats.org/officeDocument/2006/relationships/printerSettings" Target="printerSettings/printerSettings1.bin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AC90D4-BB7A-4382-B215-DC916B9BBCC1}" type="doc">
      <dgm:prSet loTypeId="urn:microsoft.com/office/officeart/2005/8/layout/cycle2" loCatId="cycle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pPr rtl="1"/>
          <a:endParaRPr lang="ar-QA"/>
        </a:p>
      </dgm:t>
    </dgm:pt>
    <dgm:pt modelId="{A45287B1-096A-4B28-985B-145828BAA679}">
      <dgm:prSet phldrT="[Text]" custT="1"/>
      <dgm:spPr/>
      <dgm:t>
        <a:bodyPr/>
        <a:lstStyle/>
        <a:p>
          <a:pPr rtl="1"/>
          <a:r>
            <a:rPr lang="en-US" sz="2000" b="0" dirty="0" smtClean="0">
              <a:solidFill>
                <a:srgbClr val="002060"/>
              </a:solidFill>
              <a:cs typeface="+mj-cs"/>
            </a:rPr>
            <a:t>LITERATUREREVIEW</a:t>
          </a:r>
          <a:r>
            <a:rPr lang="en-US" sz="2000" b="0" dirty="0" smtClean="0">
              <a:solidFill>
                <a:schemeClr val="tx2">
                  <a:lumMod val="50000"/>
                </a:schemeClr>
              </a:solidFill>
              <a:cs typeface="+mj-cs"/>
            </a:rPr>
            <a:t> </a:t>
          </a:r>
          <a:endParaRPr lang="ar-QA" sz="2000" b="0" dirty="0">
            <a:solidFill>
              <a:schemeClr val="tx2">
                <a:lumMod val="50000"/>
              </a:schemeClr>
            </a:solidFill>
            <a:cs typeface="+mj-cs"/>
          </a:endParaRPr>
        </a:p>
      </dgm:t>
    </dgm:pt>
    <dgm:pt modelId="{89DE369E-FE91-4FC8-BCC8-FB9E97D57AC3}" type="parTrans" cxnId="{9C3E6D72-E415-4DB3-B445-01BAEB2FF77C}">
      <dgm:prSet/>
      <dgm:spPr/>
      <dgm:t>
        <a:bodyPr/>
        <a:lstStyle/>
        <a:p>
          <a:pPr rtl="1"/>
          <a:endParaRPr lang="ar-QA"/>
        </a:p>
      </dgm:t>
    </dgm:pt>
    <dgm:pt modelId="{98CA8E3C-BB51-4B62-87D2-4CFF90E01F59}" type="sibTrans" cxnId="{9C3E6D72-E415-4DB3-B445-01BAEB2FF77C}">
      <dgm:prSet/>
      <dgm:spPr/>
      <dgm:t>
        <a:bodyPr/>
        <a:lstStyle/>
        <a:p>
          <a:pPr rtl="1"/>
          <a:endParaRPr lang="ar-QA"/>
        </a:p>
      </dgm:t>
    </dgm:pt>
    <dgm:pt modelId="{E10B1E10-CDF6-445C-8249-BDDF303E1979}">
      <dgm:prSet phldrT="[Text]" custT="1"/>
      <dgm:spPr/>
      <dgm:t>
        <a:bodyPr/>
        <a:lstStyle/>
        <a:p>
          <a:pPr rtl="1"/>
          <a:r>
            <a:rPr lang="en-US" sz="2000" dirty="0" smtClean="0">
              <a:solidFill>
                <a:schemeClr val="tx2">
                  <a:lumMod val="50000"/>
                </a:schemeClr>
              </a:solidFill>
            </a:rPr>
            <a:t>Determine</a:t>
          </a:r>
          <a:r>
            <a:rPr lang="en-US" sz="2000" dirty="0" smtClean="0"/>
            <a:t> </a:t>
          </a:r>
          <a:endParaRPr lang="ar-QA" sz="2000" dirty="0"/>
        </a:p>
      </dgm:t>
    </dgm:pt>
    <dgm:pt modelId="{126D08F3-A61B-4241-BB2C-0FB4E481BF55}" type="parTrans" cxnId="{C25A3D65-0273-450C-A18A-65364E321617}">
      <dgm:prSet/>
      <dgm:spPr/>
      <dgm:t>
        <a:bodyPr/>
        <a:lstStyle/>
        <a:p>
          <a:pPr rtl="1"/>
          <a:endParaRPr lang="ar-QA"/>
        </a:p>
      </dgm:t>
    </dgm:pt>
    <dgm:pt modelId="{4A095E95-E1AC-4BAC-A1D5-E1F968B98114}" type="sibTrans" cxnId="{C25A3D65-0273-450C-A18A-65364E321617}">
      <dgm:prSet/>
      <dgm:spPr/>
      <dgm:t>
        <a:bodyPr/>
        <a:lstStyle/>
        <a:p>
          <a:pPr rtl="1"/>
          <a:endParaRPr lang="ar-QA"/>
        </a:p>
      </dgm:t>
    </dgm:pt>
    <dgm:pt modelId="{B3A61547-970E-46A0-8A5D-FA3B760416F4}">
      <dgm:prSet phldrT="[Text]" custT="1"/>
      <dgm:spPr/>
      <dgm:t>
        <a:bodyPr/>
        <a:lstStyle/>
        <a:p>
          <a:pPr rtl="1"/>
          <a:r>
            <a:rPr lang="en-US" sz="2000" dirty="0" smtClean="0">
              <a:solidFill>
                <a:schemeClr val="tx2">
                  <a:lumMod val="50000"/>
                </a:schemeClr>
              </a:solidFill>
            </a:rPr>
            <a:t>Find</a:t>
          </a:r>
          <a:r>
            <a:rPr lang="en-US" sz="2000" dirty="0" smtClean="0"/>
            <a:t> </a:t>
          </a:r>
          <a:endParaRPr lang="ar-QA" sz="2000" dirty="0"/>
        </a:p>
      </dgm:t>
    </dgm:pt>
    <dgm:pt modelId="{955E48C1-C6CD-4DF5-B125-0C53C5E8E731}" type="parTrans" cxnId="{34CF438B-8683-4282-B53E-8B6978FDF5E5}">
      <dgm:prSet/>
      <dgm:spPr/>
      <dgm:t>
        <a:bodyPr/>
        <a:lstStyle/>
        <a:p>
          <a:pPr rtl="1"/>
          <a:endParaRPr lang="ar-QA"/>
        </a:p>
      </dgm:t>
    </dgm:pt>
    <dgm:pt modelId="{ACE495A2-AB12-4740-9D4F-44BDF2AF810A}" type="sibTrans" cxnId="{34CF438B-8683-4282-B53E-8B6978FDF5E5}">
      <dgm:prSet/>
      <dgm:spPr/>
      <dgm:t>
        <a:bodyPr/>
        <a:lstStyle/>
        <a:p>
          <a:pPr rtl="1"/>
          <a:endParaRPr lang="ar-QA"/>
        </a:p>
      </dgm:t>
    </dgm:pt>
    <dgm:pt modelId="{0ABE1E70-23B2-46D5-9DD4-FA683D0ACFB9}">
      <dgm:prSet phldrT="[Text]" custT="1"/>
      <dgm:spPr/>
      <dgm:t>
        <a:bodyPr/>
        <a:lstStyle/>
        <a:p>
          <a:pPr marL="0" marR="0" indent="0" defTabSz="914400" rtl="1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dirty="0" smtClean="0">
              <a:solidFill>
                <a:schemeClr val="tx2">
                  <a:lumMod val="50000"/>
                </a:schemeClr>
              </a:solidFill>
            </a:rPr>
            <a:t>Analyze</a:t>
          </a:r>
          <a:endParaRPr lang="ar-QA" sz="1800" dirty="0" smtClean="0">
            <a:solidFill>
              <a:schemeClr val="tx2">
                <a:lumMod val="50000"/>
              </a:schemeClr>
            </a:solidFill>
          </a:endParaRPr>
        </a:p>
        <a:p>
          <a:pPr defTabSz="2000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dirty="0"/>
        </a:p>
      </dgm:t>
    </dgm:pt>
    <dgm:pt modelId="{D35BAC52-413A-419B-B40E-BDB3BF717BB6}" type="parTrans" cxnId="{066AEEE9-09B8-47FF-9EC4-F555F4A14EA8}">
      <dgm:prSet/>
      <dgm:spPr/>
      <dgm:t>
        <a:bodyPr/>
        <a:lstStyle/>
        <a:p>
          <a:pPr rtl="1"/>
          <a:endParaRPr lang="ar-QA"/>
        </a:p>
      </dgm:t>
    </dgm:pt>
    <dgm:pt modelId="{F2BAFC45-D25A-4BFA-A095-A927D674681A}" type="sibTrans" cxnId="{066AEEE9-09B8-47FF-9EC4-F555F4A14EA8}">
      <dgm:prSet/>
      <dgm:spPr/>
      <dgm:t>
        <a:bodyPr/>
        <a:lstStyle/>
        <a:p>
          <a:pPr rtl="1"/>
          <a:endParaRPr lang="ar-QA"/>
        </a:p>
      </dgm:t>
    </dgm:pt>
    <dgm:pt modelId="{ADF70D79-F39F-4542-ABF7-E8C1FE76691A}">
      <dgm:prSet phldrT="[Text]" custT="1"/>
      <dgm:spPr/>
      <dgm:t>
        <a:bodyPr/>
        <a:lstStyle/>
        <a:p>
          <a:pPr rtl="1"/>
          <a:r>
            <a:rPr lang="en-US" sz="2000" dirty="0" smtClean="0">
              <a:solidFill>
                <a:schemeClr val="tx2">
                  <a:lumMod val="50000"/>
                </a:schemeClr>
              </a:solidFill>
            </a:rPr>
            <a:t>Summarize </a:t>
          </a:r>
          <a:endParaRPr lang="ar-QA" sz="2000" dirty="0">
            <a:solidFill>
              <a:schemeClr val="tx2">
                <a:lumMod val="50000"/>
              </a:schemeClr>
            </a:solidFill>
          </a:endParaRPr>
        </a:p>
      </dgm:t>
    </dgm:pt>
    <dgm:pt modelId="{4C7F3826-5B3C-4F95-8952-F50B4B3C6A49}" type="sibTrans" cxnId="{B73A497B-9D85-4239-B7C5-00BB5C6C48BA}">
      <dgm:prSet/>
      <dgm:spPr/>
      <dgm:t>
        <a:bodyPr/>
        <a:lstStyle/>
        <a:p>
          <a:pPr rtl="1"/>
          <a:endParaRPr lang="ar-QA"/>
        </a:p>
      </dgm:t>
    </dgm:pt>
    <dgm:pt modelId="{2071327E-5CBC-4AA2-B689-D509E0D24657}" type="parTrans" cxnId="{B73A497B-9D85-4239-B7C5-00BB5C6C48BA}">
      <dgm:prSet/>
      <dgm:spPr/>
      <dgm:t>
        <a:bodyPr/>
        <a:lstStyle/>
        <a:p>
          <a:pPr rtl="1"/>
          <a:endParaRPr lang="ar-QA"/>
        </a:p>
      </dgm:t>
    </dgm:pt>
    <dgm:pt modelId="{A630029D-58DB-42AF-AFAA-E50421A7B1EE}" type="pres">
      <dgm:prSet presAssocID="{26AC90D4-BB7A-4382-B215-DC916B9BBCC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AF6EADD-2831-4391-9219-13D59D9E6BCA}" type="pres">
      <dgm:prSet presAssocID="{A45287B1-096A-4B28-985B-145828BAA679}" presName="node" presStyleLbl="node1" presStyleIdx="0" presStyleCnt="5" custScaleX="121088" custRadScaleRad="101675" custRadScaleInc="-28711">
        <dgm:presLayoutVars>
          <dgm:bulletEnabled val="1"/>
        </dgm:presLayoutVars>
      </dgm:prSet>
      <dgm:spPr/>
      <dgm:t>
        <a:bodyPr/>
        <a:lstStyle/>
        <a:p>
          <a:pPr rtl="1"/>
          <a:endParaRPr lang="ar-QA"/>
        </a:p>
      </dgm:t>
    </dgm:pt>
    <dgm:pt modelId="{781C1B6F-D713-4B12-B658-560C2B0E400D}" type="pres">
      <dgm:prSet presAssocID="{98CA8E3C-BB51-4B62-87D2-4CFF90E01F59}" presName="sibTrans" presStyleLbl="sibTrans2D1" presStyleIdx="0" presStyleCnt="5"/>
      <dgm:spPr/>
      <dgm:t>
        <a:bodyPr/>
        <a:lstStyle/>
        <a:p>
          <a:endParaRPr lang="en-US"/>
        </a:p>
      </dgm:t>
    </dgm:pt>
    <dgm:pt modelId="{B6CC907A-B0DB-4979-AE7A-8FAF16D8D1E0}" type="pres">
      <dgm:prSet presAssocID="{98CA8E3C-BB51-4B62-87D2-4CFF90E01F59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F8FBABD2-A8B8-4BBA-8313-85412D2E69A3}" type="pres">
      <dgm:prSet presAssocID="{E10B1E10-CDF6-445C-8249-BDDF303E1979}" presName="node" presStyleLbl="node1" presStyleIdx="1" presStyleCnt="5" custScaleX="114242">
        <dgm:presLayoutVars>
          <dgm:bulletEnabled val="1"/>
        </dgm:presLayoutVars>
      </dgm:prSet>
      <dgm:spPr/>
      <dgm:t>
        <a:bodyPr/>
        <a:lstStyle/>
        <a:p>
          <a:pPr rtl="1"/>
          <a:endParaRPr lang="ar-QA"/>
        </a:p>
      </dgm:t>
    </dgm:pt>
    <dgm:pt modelId="{02B87322-3A07-4AA8-8D55-B167A9D2E4B4}" type="pres">
      <dgm:prSet presAssocID="{4A095E95-E1AC-4BAC-A1D5-E1F968B98114}" presName="sibTrans" presStyleLbl="sibTrans2D1" presStyleIdx="1" presStyleCnt="5"/>
      <dgm:spPr/>
      <dgm:t>
        <a:bodyPr/>
        <a:lstStyle/>
        <a:p>
          <a:endParaRPr lang="en-US"/>
        </a:p>
      </dgm:t>
    </dgm:pt>
    <dgm:pt modelId="{E16F8F97-F25A-4963-8A0C-18391455C65C}" type="pres">
      <dgm:prSet presAssocID="{4A095E95-E1AC-4BAC-A1D5-E1F968B98114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F35A3FA7-CEC5-43D0-B53B-CA7448E8D481}" type="pres">
      <dgm:prSet presAssocID="{B3A61547-970E-46A0-8A5D-FA3B760416F4}" presName="node" presStyleLbl="node1" presStyleIdx="2" presStyleCnt="5" custScaleX="112860" custScaleY="89871">
        <dgm:presLayoutVars>
          <dgm:bulletEnabled val="1"/>
        </dgm:presLayoutVars>
      </dgm:prSet>
      <dgm:spPr/>
      <dgm:t>
        <a:bodyPr/>
        <a:lstStyle/>
        <a:p>
          <a:pPr rtl="1"/>
          <a:endParaRPr lang="ar-QA"/>
        </a:p>
      </dgm:t>
    </dgm:pt>
    <dgm:pt modelId="{33E185EA-3620-4B1B-B801-DBBA7F99AC27}" type="pres">
      <dgm:prSet presAssocID="{ACE495A2-AB12-4740-9D4F-44BDF2AF810A}" presName="sibTrans" presStyleLbl="sibTrans2D1" presStyleIdx="2" presStyleCnt="5"/>
      <dgm:spPr/>
      <dgm:t>
        <a:bodyPr/>
        <a:lstStyle/>
        <a:p>
          <a:endParaRPr lang="en-US"/>
        </a:p>
      </dgm:t>
    </dgm:pt>
    <dgm:pt modelId="{FF9B8BEF-E396-4E7F-99A8-39016264277D}" type="pres">
      <dgm:prSet presAssocID="{ACE495A2-AB12-4740-9D4F-44BDF2AF810A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71B0D1FD-E821-4ADD-9F3C-BA64FC5C9AA2}" type="pres">
      <dgm:prSet presAssocID="{ADF70D79-F39F-4542-ABF7-E8C1FE76691A}" presName="node" presStyleLbl="node1" presStyleIdx="3" presStyleCnt="5" custScaleX="117838" custScaleY="86623" custRadScaleRad="103508" custRadScaleInc="3044">
        <dgm:presLayoutVars>
          <dgm:bulletEnabled val="1"/>
        </dgm:presLayoutVars>
      </dgm:prSet>
      <dgm:spPr/>
      <dgm:t>
        <a:bodyPr/>
        <a:lstStyle/>
        <a:p>
          <a:pPr rtl="1"/>
          <a:endParaRPr lang="ar-QA"/>
        </a:p>
      </dgm:t>
    </dgm:pt>
    <dgm:pt modelId="{9643F583-B4F0-4C71-9CCD-B5FAD85FEFA6}" type="pres">
      <dgm:prSet presAssocID="{4C7F3826-5B3C-4F95-8952-F50B4B3C6A49}" presName="sibTrans" presStyleLbl="sibTrans2D1" presStyleIdx="3" presStyleCnt="5"/>
      <dgm:spPr/>
      <dgm:t>
        <a:bodyPr/>
        <a:lstStyle/>
        <a:p>
          <a:endParaRPr lang="en-US"/>
        </a:p>
      </dgm:t>
    </dgm:pt>
    <dgm:pt modelId="{60D868E6-4569-4736-8478-F2D41A6F2B32}" type="pres">
      <dgm:prSet presAssocID="{4C7F3826-5B3C-4F95-8952-F50B4B3C6A49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4116B85F-B3CA-4B39-A987-86EDEE25882D}" type="pres">
      <dgm:prSet presAssocID="{0ABE1E70-23B2-46D5-9DD4-FA683D0ACFB9}" presName="node" presStyleLbl="node1" presStyleIdx="4" presStyleCnt="5" custScaleX="122144" custRadScaleRad="99663" custRadScaleInc="-150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EF8489-02A8-4EF6-8CE6-4FDA905D7ED0}" type="pres">
      <dgm:prSet presAssocID="{F2BAFC45-D25A-4BFA-A095-A927D674681A}" presName="sibTrans" presStyleLbl="sibTrans2D1" presStyleIdx="4" presStyleCnt="5"/>
      <dgm:spPr/>
      <dgm:t>
        <a:bodyPr/>
        <a:lstStyle/>
        <a:p>
          <a:endParaRPr lang="en-US"/>
        </a:p>
      </dgm:t>
    </dgm:pt>
    <dgm:pt modelId="{349CB678-A8C3-4410-9507-6DA77B58D31C}" type="pres">
      <dgm:prSet presAssocID="{F2BAFC45-D25A-4BFA-A095-A927D674681A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933CCD5E-5503-45E8-86C4-9360FF3DBE0D}" type="presOf" srcId="{98CA8E3C-BB51-4B62-87D2-4CFF90E01F59}" destId="{781C1B6F-D713-4B12-B658-560C2B0E400D}" srcOrd="0" destOrd="0" presId="urn:microsoft.com/office/officeart/2005/8/layout/cycle2"/>
    <dgm:cxn modelId="{5DEE9B15-F5F0-4E58-9580-36A29148BBD3}" type="presOf" srcId="{B3A61547-970E-46A0-8A5D-FA3B760416F4}" destId="{F35A3FA7-CEC5-43D0-B53B-CA7448E8D481}" srcOrd="0" destOrd="0" presId="urn:microsoft.com/office/officeart/2005/8/layout/cycle2"/>
    <dgm:cxn modelId="{6554C2B9-46D9-430C-A049-537E826651AF}" type="presOf" srcId="{A45287B1-096A-4B28-985B-145828BAA679}" destId="{EAF6EADD-2831-4391-9219-13D59D9E6BCA}" srcOrd="0" destOrd="0" presId="urn:microsoft.com/office/officeart/2005/8/layout/cycle2"/>
    <dgm:cxn modelId="{084539C7-D7A2-4190-99EC-4C78A8BEA094}" type="presOf" srcId="{4C7F3826-5B3C-4F95-8952-F50B4B3C6A49}" destId="{9643F583-B4F0-4C71-9CCD-B5FAD85FEFA6}" srcOrd="0" destOrd="0" presId="urn:microsoft.com/office/officeart/2005/8/layout/cycle2"/>
    <dgm:cxn modelId="{8D8AAD8C-E15C-4309-A752-EC3BBE0D609A}" type="presOf" srcId="{F2BAFC45-D25A-4BFA-A095-A927D674681A}" destId="{9BEF8489-02A8-4EF6-8CE6-4FDA905D7ED0}" srcOrd="0" destOrd="0" presId="urn:microsoft.com/office/officeart/2005/8/layout/cycle2"/>
    <dgm:cxn modelId="{F825A835-EC1E-4DAF-8000-0C03FEED6310}" type="presOf" srcId="{98CA8E3C-BB51-4B62-87D2-4CFF90E01F59}" destId="{B6CC907A-B0DB-4979-AE7A-8FAF16D8D1E0}" srcOrd="1" destOrd="0" presId="urn:microsoft.com/office/officeart/2005/8/layout/cycle2"/>
    <dgm:cxn modelId="{9C3E6D72-E415-4DB3-B445-01BAEB2FF77C}" srcId="{26AC90D4-BB7A-4382-B215-DC916B9BBCC1}" destId="{A45287B1-096A-4B28-985B-145828BAA679}" srcOrd="0" destOrd="0" parTransId="{89DE369E-FE91-4FC8-BCC8-FB9E97D57AC3}" sibTransId="{98CA8E3C-BB51-4B62-87D2-4CFF90E01F59}"/>
    <dgm:cxn modelId="{6692876E-C317-4A17-88F3-C4657FF86A10}" type="presOf" srcId="{F2BAFC45-D25A-4BFA-A095-A927D674681A}" destId="{349CB678-A8C3-4410-9507-6DA77B58D31C}" srcOrd="1" destOrd="0" presId="urn:microsoft.com/office/officeart/2005/8/layout/cycle2"/>
    <dgm:cxn modelId="{C25A3D65-0273-450C-A18A-65364E321617}" srcId="{26AC90D4-BB7A-4382-B215-DC916B9BBCC1}" destId="{E10B1E10-CDF6-445C-8249-BDDF303E1979}" srcOrd="1" destOrd="0" parTransId="{126D08F3-A61B-4241-BB2C-0FB4E481BF55}" sibTransId="{4A095E95-E1AC-4BAC-A1D5-E1F968B98114}"/>
    <dgm:cxn modelId="{066AEEE9-09B8-47FF-9EC4-F555F4A14EA8}" srcId="{26AC90D4-BB7A-4382-B215-DC916B9BBCC1}" destId="{0ABE1E70-23B2-46D5-9DD4-FA683D0ACFB9}" srcOrd="4" destOrd="0" parTransId="{D35BAC52-413A-419B-B40E-BDB3BF717BB6}" sibTransId="{F2BAFC45-D25A-4BFA-A095-A927D674681A}"/>
    <dgm:cxn modelId="{B12502C6-7A46-43FD-AA53-8CD54F5492BB}" type="presOf" srcId="{E10B1E10-CDF6-445C-8249-BDDF303E1979}" destId="{F8FBABD2-A8B8-4BBA-8313-85412D2E69A3}" srcOrd="0" destOrd="0" presId="urn:microsoft.com/office/officeart/2005/8/layout/cycle2"/>
    <dgm:cxn modelId="{B73A497B-9D85-4239-B7C5-00BB5C6C48BA}" srcId="{26AC90D4-BB7A-4382-B215-DC916B9BBCC1}" destId="{ADF70D79-F39F-4542-ABF7-E8C1FE76691A}" srcOrd="3" destOrd="0" parTransId="{2071327E-5CBC-4AA2-B689-D509E0D24657}" sibTransId="{4C7F3826-5B3C-4F95-8952-F50B4B3C6A49}"/>
    <dgm:cxn modelId="{78F271F9-5776-4170-9FBE-D0E26951D30F}" type="presOf" srcId="{0ABE1E70-23B2-46D5-9DD4-FA683D0ACFB9}" destId="{4116B85F-B3CA-4B39-A987-86EDEE25882D}" srcOrd="0" destOrd="0" presId="urn:microsoft.com/office/officeart/2005/8/layout/cycle2"/>
    <dgm:cxn modelId="{EFAC3DA9-DB25-4B3C-AD78-AAED6ECA1E14}" type="presOf" srcId="{4A095E95-E1AC-4BAC-A1D5-E1F968B98114}" destId="{E16F8F97-F25A-4963-8A0C-18391455C65C}" srcOrd="1" destOrd="0" presId="urn:microsoft.com/office/officeart/2005/8/layout/cycle2"/>
    <dgm:cxn modelId="{D190C66F-DECD-4BCB-B249-E93DEA3F586E}" type="presOf" srcId="{ACE495A2-AB12-4740-9D4F-44BDF2AF810A}" destId="{33E185EA-3620-4B1B-B801-DBBA7F99AC27}" srcOrd="0" destOrd="0" presId="urn:microsoft.com/office/officeart/2005/8/layout/cycle2"/>
    <dgm:cxn modelId="{90F9FD6C-13D3-4AE4-B8B3-C60A3A33F610}" type="presOf" srcId="{ACE495A2-AB12-4740-9D4F-44BDF2AF810A}" destId="{FF9B8BEF-E396-4E7F-99A8-39016264277D}" srcOrd="1" destOrd="0" presId="urn:microsoft.com/office/officeart/2005/8/layout/cycle2"/>
    <dgm:cxn modelId="{27284228-E009-4677-9237-B7F681BB4CBB}" type="presOf" srcId="{4A095E95-E1AC-4BAC-A1D5-E1F968B98114}" destId="{02B87322-3A07-4AA8-8D55-B167A9D2E4B4}" srcOrd="0" destOrd="0" presId="urn:microsoft.com/office/officeart/2005/8/layout/cycle2"/>
    <dgm:cxn modelId="{9677FC6C-0379-4E17-BD90-A9FE1115B338}" type="presOf" srcId="{ADF70D79-F39F-4542-ABF7-E8C1FE76691A}" destId="{71B0D1FD-E821-4ADD-9F3C-BA64FC5C9AA2}" srcOrd="0" destOrd="0" presId="urn:microsoft.com/office/officeart/2005/8/layout/cycle2"/>
    <dgm:cxn modelId="{34CF438B-8683-4282-B53E-8B6978FDF5E5}" srcId="{26AC90D4-BB7A-4382-B215-DC916B9BBCC1}" destId="{B3A61547-970E-46A0-8A5D-FA3B760416F4}" srcOrd="2" destOrd="0" parTransId="{955E48C1-C6CD-4DF5-B125-0C53C5E8E731}" sibTransId="{ACE495A2-AB12-4740-9D4F-44BDF2AF810A}"/>
    <dgm:cxn modelId="{27FEC48C-5345-4900-9D92-0815132B8FA6}" type="presOf" srcId="{26AC90D4-BB7A-4382-B215-DC916B9BBCC1}" destId="{A630029D-58DB-42AF-AFAA-E50421A7B1EE}" srcOrd="0" destOrd="0" presId="urn:microsoft.com/office/officeart/2005/8/layout/cycle2"/>
    <dgm:cxn modelId="{79E1798E-85DD-4C07-8AB5-43077A226A42}" type="presOf" srcId="{4C7F3826-5B3C-4F95-8952-F50B4B3C6A49}" destId="{60D868E6-4569-4736-8478-F2D41A6F2B32}" srcOrd="1" destOrd="0" presId="urn:microsoft.com/office/officeart/2005/8/layout/cycle2"/>
    <dgm:cxn modelId="{1E699FF2-9341-479A-BC98-8015F309C71D}" type="presParOf" srcId="{A630029D-58DB-42AF-AFAA-E50421A7B1EE}" destId="{EAF6EADD-2831-4391-9219-13D59D9E6BCA}" srcOrd="0" destOrd="0" presId="urn:microsoft.com/office/officeart/2005/8/layout/cycle2"/>
    <dgm:cxn modelId="{C17237C1-7EFD-4A7A-8157-DEF0C1783BFF}" type="presParOf" srcId="{A630029D-58DB-42AF-AFAA-E50421A7B1EE}" destId="{781C1B6F-D713-4B12-B658-560C2B0E400D}" srcOrd="1" destOrd="0" presId="urn:microsoft.com/office/officeart/2005/8/layout/cycle2"/>
    <dgm:cxn modelId="{326C382C-E033-45C7-8D54-36B2EBC823AE}" type="presParOf" srcId="{781C1B6F-D713-4B12-B658-560C2B0E400D}" destId="{B6CC907A-B0DB-4979-AE7A-8FAF16D8D1E0}" srcOrd="0" destOrd="0" presId="urn:microsoft.com/office/officeart/2005/8/layout/cycle2"/>
    <dgm:cxn modelId="{98A6D3CB-1EAB-4C2F-A6EC-10AA771745A9}" type="presParOf" srcId="{A630029D-58DB-42AF-AFAA-E50421A7B1EE}" destId="{F8FBABD2-A8B8-4BBA-8313-85412D2E69A3}" srcOrd="2" destOrd="0" presId="urn:microsoft.com/office/officeart/2005/8/layout/cycle2"/>
    <dgm:cxn modelId="{F6ED84C6-D72D-4890-9F51-E678992E75D3}" type="presParOf" srcId="{A630029D-58DB-42AF-AFAA-E50421A7B1EE}" destId="{02B87322-3A07-4AA8-8D55-B167A9D2E4B4}" srcOrd="3" destOrd="0" presId="urn:microsoft.com/office/officeart/2005/8/layout/cycle2"/>
    <dgm:cxn modelId="{434A7C24-2F36-4490-A083-4C381A7F34C6}" type="presParOf" srcId="{02B87322-3A07-4AA8-8D55-B167A9D2E4B4}" destId="{E16F8F97-F25A-4963-8A0C-18391455C65C}" srcOrd="0" destOrd="0" presId="urn:microsoft.com/office/officeart/2005/8/layout/cycle2"/>
    <dgm:cxn modelId="{EC9DC380-406D-44A2-8478-6C238D653CCE}" type="presParOf" srcId="{A630029D-58DB-42AF-AFAA-E50421A7B1EE}" destId="{F35A3FA7-CEC5-43D0-B53B-CA7448E8D481}" srcOrd="4" destOrd="0" presId="urn:microsoft.com/office/officeart/2005/8/layout/cycle2"/>
    <dgm:cxn modelId="{209D2AF1-578D-4A5D-B885-5102C61F3384}" type="presParOf" srcId="{A630029D-58DB-42AF-AFAA-E50421A7B1EE}" destId="{33E185EA-3620-4B1B-B801-DBBA7F99AC27}" srcOrd="5" destOrd="0" presId="urn:microsoft.com/office/officeart/2005/8/layout/cycle2"/>
    <dgm:cxn modelId="{FED9E27E-89B6-469A-930A-6C121E4DA3DB}" type="presParOf" srcId="{33E185EA-3620-4B1B-B801-DBBA7F99AC27}" destId="{FF9B8BEF-E396-4E7F-99A8-39016264277D}" srcOrd="0" destOrd="0" presId="urn:microsoft.com/office/officeart/2005/8/layout/cycle2"/>
    <dgm:cxn modelId="{40E62774-5B55-48FD-A1BD-0D50A46946CF}" type="presParOf" srcId="{A630029D-58DB-42AF-AFAA-E50421A7B1EE}" destId="{71B0D1FD-E821-4ADD-9F3C-BA64FC5C9AA2}" srcOrd="6" destOrd="0" presId="urn:microsoft.com/office/officeart/2005/8/layout/cycle2"/>
    <dgm:cxn modelId="{7A31104D-3241-486F-BED9-1EC7BABE93B8}" type="presParOf" srcId="{A630029D-58DB-42AF-AFAA-E50421A7B1EE}" destId="{9643F583-B4F0-4C71-9CCD-B5FAD85FEFA6}" srcOrd="7" destOrd="0" presId="urn:microsoft.com/office/officeart/2005/8/layout/cycle2"/>
    <dgm:cxn modelId="{FF4470BF-76CD-45DE-AF28-18193A0EE8E2}" type="presParOf" srcId="{9643F583-B4F0-4C71-9CCD-B5FAD85FEFA6}" destId="{60D868E6-4569-4736-8478-F2D41A6F2B32}" srcOrd="0" destOrd="0" presId="urn:microsoft.com/office/officeart/2005/8/layout/cycle2"/>
    <dgm:cxn modelId="{20C5F221-161F-4887-A175-A8B312B6C659}" type="presParOf" srcId="{A630029D-58DB-42AF-AFAA-E50421A7B1EE}" destId="{4116B85F-B3CA-4B39-A987-86EDEE25882D}" srcOrd="8" destOrd="0" presId="urn:microsoft.com/office/officeart/2005/8/layout/cycle2"/>
    <dgm:cxn modelId="{D1E3313B-A02D-4AAC-A702-154ADBBA7903}" type="presParOf" srcId="{A630029D-58DB-42AF-AFAA-E50421A7B1EE}" destId="{9BEF8489-02A8-4EF6-8CE6-4FDA905D7ED0}" srcOrd="9" destOrd="0" presId="urn:microsoft.com/office/officeart/2005/8/layout/cycle2"/>
    <dgm:cxn modelId="{D3B06867-5A72-408E-8403-0A72C193529F}" type="presParOf" srcId="{9BEF8489-02A8-4EF6-8CE6-4FDA905D7ED0}" destId="{349CB678-A8C3-4410-9507-6DA77B58D31C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AF6EADD-2831-4391-9219-13D59D9E6BCA}">
      <dsp:nvSpPr>
        <dsp:cNvPr id="0" name=""/>
        <dsp:cNvSpPr/>
      </dsp:nvSpPr>
      <dsp:spPr>
        <a:xfrm>
          <a:off x="3011632" y="39642"/>
          <a:ext cx="1842392" cy="1521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l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smtClean="0">
              <a:solidFill>
                <a:srgbClr val="002060"/>
              </a:solidFill>
              <a:cs typeface="+mj-cs"/>
            </a:rPr>
            <a:t>LITERATUREREVIEW</a:t>
          </a:r>
          <a:r>
            <a:rPr lang="en-US" sz="2000" b="0" kern="1200" dirty="0" smtClean="0">
              <a:solidFill>
                <a:schemeClr val="tx2">
                  <a:lumMod val="50000"/>
                </a:schemeClr>
              </a:solidFill>
              <a:cs typeface="+mj-cs"/>
            </a:rPr>
            <a:t> </a:t>
          </a:r>
          <a:endParaRPr lang="ar-QA" sz="2000" b="0" kern="1200" dirty="0">
            <a:solidFill>
              <a:schemeClr val="tx2">
                <a:lumMod val="50000"/>
              </a:schemeClr>
            </a:solidFill>
            <a:cs typeface="+mj-cs"/>
          </a:endParaRPr>
        </a:p>
      </dsp:txBody>
      <dsp:txXfrm>
        <a:off x="3011632" y="39642"/>
        <a:ext cx="1842392" cy="1521531"/>
      </dsp:txXfrm>
    </dsp:sp>
    <dsp:sp modelId="{781C1B6F-D713-4B12-B658-560C2B0E400D}">
      <dsp:nvSpPr>
        <dsp:cNvPr id="0" name=""/>
        <dsp:cNvSpPr/>
      </dsp:nvSpPr>
      <dsp:spPr>
        <a:xfrm rot="1882572">
          <a:off x="4804240" y="1216381"/>
          <a:ext cx="463459" cy="51351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dk1">
              <a:tint val="60000"/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sz="2200" kern="1200"/>
        </a:p>
      </dsp:txBody>
      <dsp:txXfrm rot="1882572">
        <a:off x="4804240" y="1216381"/>
        <a:ext cx="463459" cy="513517"/>
      </dsp:txXfrm>
    </dsp:sp>
    <dsp:sp modelId="{F8FBABD2-A8B8-4BBA-8313-85412D2E69A3}">
      <dsp:nvSpPr>
        <dsp:cNvPr id="0" name=""/>
        <dsp:cNvSpPr/>
      </dsp:nvSpPr>
      <dsp:spPr>
        <a:xfrm>
          <a:off x="5264459" y="1381727"/>
          <a:ext cx="1738228" cy="1521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l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tx2">
                  <a:lumMod val="50000"/>
                </a:schemeClr>
              </a:solidFill>
            </a:rPr>
            <a:t>Determine</a:t>
          </a:r>
          <a:r>
            <a:rPr lang="en-US" sz="2000" kern="1200" dirty="0" smtClean="0"/>
            <a:t> </a:t>
          </a:r>
          <a:endParaRPr lang="ar-QA" sz="2000" kern="1200" dirty="0"/>
        </a:p>
      </dsp:txBody>
      <dsp:txXfrm>
        <a:off x="5264459" y="1381727"/>
        <a:ext cx="1738228" cy="1521531"/>
      </dsp:txXfrm>
    </dsp:sp>
    <dsp:sp modelId="{02B87322-3A07-4AA8-8D55-B167A9D2E4B4}">
      <dsp:nvSpPr>
        <dsp:cNvPr id="0" name=""/>
        <dsp:cNvSpPr/>
      </dsp:nvSpPr>
      <dsp:spPr>
        <a:xfrm rot="6480000">
          <a:off x="5556827" y="2994371"/>
          <a:ext cx="433055" cy="51351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dk1">
              <a:tint val="60000"/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sz="2200" kern="1200"/>
        </a:p>
      </dsp:txBody>
      <dsp:txXfrm rot="6480000">
        <a:off x="5556827" y="2994371"/>
        <a:ext cx="433055" cy="513517"/>
      </dsp:txXfrm>
    </dsp:sp>
    <dsp:sp modelId="{F35A3FA7-CEC5-43D0-B53B-CA7448E8D481}">
      <dsp:nvSpPr>
        <dsp:cNvPr id="0" name=""/>
        <dsp:cNvSpPr/>
      </dsp:nvSpPr>
      <dsp:spPr>
        <a:xfrm>
          <a:off x="4569652" y="3629537"/>
          <a:ext cx="1717200" cy="136741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l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tx2">
                  <a:lumMod val="50000"/>
                </a:schemeClr>
              </a:solidFill>
            </a:rPr>
            <a:t>Find</a:t>
          </a:r>
          <a:r>
            <a:rPr lang="en-US" sz="2000" kern="1200" dirty="0" smtClean="0"/>
            <a:t> </a:t>
          </a:r>
          <a:endParaRPr lang="ar-QA" sz="2000" kern="1200" dirty="0"/>
        </a:p>
      </dsp:txBody>
      <dsp:txXfrm>
        <a:off x="4569652" y="3629537"/>
        <a:ext cx="1717200" cy="1367415"/>
      </dsp:txXfrm>
    </dsp:sp>
    <dsp:sp modelId="{33E185EA-3620-4B1B-B801-DBBA7F99AC27}">
      <dsp:nvSpPr>
        <dsp:cNvPr id="0" name=""/>
        <dsp:cNvSpPr/>
      </dsp:nvSpPr>
      <dsp:spPr>
        <a:xfrm rot="10752946">
          <a:off x="4120824" y="4072212"/>
          <a:ext cx="317280" cy="51351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dk1">
              <a:tint val="60000"/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sz="2200" kern="1200"/>
        </a:p>
      </dsp:txBody>
      <dsp:txXfrm rot="10752946">
        <a:off x="4120824" y="4072212"/>
        <a:ext cx="317280" cy="513517"/>
      </dsp:txXfrm>
    </dsp:sp>
    <dsp:sp modelId="{71B0D1FD-E821-4ADD-9F3C-BA64FC5C9AA2}">
      <dsp:nvSpPr>
        <dsp:cNvPr id="0" name=""/>
        <dsp:cNvSpPr/>
      </dsp:nvSpPr>
      <dsp:spPr>
        <a:xfrm>
          <a:off x="2178405" y="3686461"/>
          <a:ext cx="1792942" cy="131799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l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>
              <a:solidFill>
                <a:schemeClr val="tx2">
                  <a:lumMod val="50000"/>
                </a:schemeClr>
              </a:solidFill>
            </a:rPr>
            <a:t>Summarize </a:t>
          </a:r>
          <a:endParaRPr lang="ar-QA" sz="20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2178405" y="3686461"/>
        <a:ext cx="1792942" cy="1317996"/>
      </dsp:txXfrm>
    </dsp:sp>
    <dsp:sp modelId="{9643F583-B4F0-4C71-9CCD-B5FAD85FEFA6}">
      <dsp:nvSpPr>
        <dsp:cNvPr id="0" name=""/>
        <dsp:cNvSpPr/>
      </dsp:nvSpPr>
      <dsp:spPr>
        <a:xfrm rot="15091277">
          <a:off x="2573823" y="3133237"/>
          <a:ext cx="363507" cy="51351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dk1">
              <a:tint val="60000"/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sz="2200" kern="1200"/>
        </a:p>
      </dsp:txBody>
      <dsp:txXfrm rot="15091277">
        <a:off x="2573823" y="3133237"/>
        <a:ext cx="363507" cy="513517"/>
      </dsp:txXfrm>
    </dsp:sp>
    <dsp:sp modelId="{4116B85F-B3CA-4B39-A987-86EDEE25882D}">
      <dsp:nvSpPr>
        <dsp:cNvPr id="0" name=""/>
        <dsp:cNvSpPr/>
      </dsp:nvSpPr>
      <dsp:spPr>
        <a:xfrm>
          <a:off x="1469171" y="1560424"/>
          <a:ext cx="1858459" cy="152153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lt1"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marR="0" lvl="0" indent="0" algn="ctr" defTabSz="914400" rtl="1" eaLnBrk="1" fontAlgn="auto" latinLnBrk="0" hangingPunct="1">
            <a:lnSpc>
              <a:spcPct val="10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n-US" sz="1800" kern="1200" dirty="0" smtClean="0">
              <a:solidFill>
                <a:schemeClr val="tx2">
                  <a:lumMod val="50000"/>
                </a:schemeClr>
              </a:solidFill>
            </a:rPr>
            <a:t>Analyze</a:t>
          </a:r>
          <a:endParaRPr lang="ar-QA" sz="1800" kern="1200" dirty="0" smtClean="0">
            <a:solidFill>
              <a:schemeClr val="tx2">
                <a:lumMod val="50000"/>
              </a:schemeClr>
            </a:solidFill>
          </a:endParaRPr>
        </a:p>
        <a:p>
          <a:pPr lvl="0" algn="ctr" defTabSz="2000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kern="1200" dirty="0"/>
        </a:p>
      </dsp:txBody>
      <dsp:txXfrm>
        <a:off x="1469171" y="1560424"/>
        <a:ext cx="1858459" cy="1521531"/>
      </dsp:txXfrm>
    </dsp:sp>
    <dsp:sp modelId="{9BEF8489-02A8-4EF6-8CE6-4FDA905D7ED0}">
      <dsp:nvSpPr>
        <dsp:cNvPr id="0" name=""/>
        <dsp:cNvSpPr/>
      </dsp:nvSpPr>
      <dsp:spPr>
        <a:xfrm rot="18915354">
          <a:off x="3029686" y="1308251"/>
          <a:ext cx="263359" cy="513517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dk1">
              <a:tint val="60000"/>
              <a:hueOff val="0"/>
              <a:satOff val="0"/>
              <a:lumOff val="0"/>
              <a:alphaOff val="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ar-QA" sz="2200" kern="1200"/>
        </a:p>
      </dsp:txBody>
      <dsp:txXfrm rot="18915354">
        <a:off x="3029686" y="1308251"/>
        <a:ext cx="263359" cy="513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9F79AC7-9E7F-410D-86A2-9F1ADB202F49}" type="datetimeFigureOut">
              <a:rPr lang="en-US" smtClean="0"/>
              <a:pPr/>
              <a:t>10/18/12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F00F559-D143-4687-8046-F9DD177D3D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9A04812-A19F-484B-ABB9-B7C601758DFB}" type="datetimeFigureOut">
              <a:rPr lang="en-US" smtClean="0"/>
              <a:pPr/>
              <a:t>10/18/12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049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F821852-80CC-4586-8338-A4F9789F6F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</a:rPr>
              <a:t>Mission: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 To advance knowledge and education by supporting original, competitively-selected research in various fields by providing opportunities for research at all levels</a:t>
            </a:r>
          </a:p>
          <a:p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</a:rPr>
              <a:t>Recognises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 importance of introducing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Western cultural perspective of placement tests hinders accurate language assessment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Difficult to choose best test for Gulf students</a:t>
            </a:r>
          </a:p>
          <a:p>
            <a:pPr>
              <a:buNone/>
            </a:pPr>
            <a:r>
              <a:rPr lang="en-US" sz="1600" dirty="0" smtClean="0">
                <a:solidFill>
                  <a:schemeClr val="accent1">
                    <a:lumMod val="50000"/>
                  </a:schemeClr>
                </a:solidFill>
              </a:rPr>
              <a:t>The Goal 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Develop a tool for </a:t>
            </a:r>
            <a:r>
              <a:rPr lang="en-US" sz="1200" u="sng" dirty="0" smtClean="0">
                <a:solidFill>
                  <a:schemeClr val="tx2">
                    <a:lumMod val="50000"/>
                  </a:schemeClr>
                </a:solidFill>
              </a:rPr>
              <a:t>placement test selection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specifically for English language programs in Arabian Gulf 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Tool:  </a:t>
            </a:r>
            <a:r>
              <a:rPr lang="en-US" sz="1200" u="sng" dirty="0" smtClean="0">
                <a:solidFill>
                  <a:schemeClr val="tx2">
                    <a:lumMod val="50000"/>
                  </a:schemeClr>
                </a:solidFill>
              </a:rPr>
              <a:t>assessment rubric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 to help institutions choose placement tests systematically &amp; judge test validity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solidFill>
                <a:schemeClr val="tx2">
                  <a:lumMod val="50000"/>
                </a:schemeClr>
              </a:solidFill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914400" indent="-914400"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1. First</a:t>
            </a:r>
            <a:r>
              <a:rPr lang="en-US" sz="1200" baseline="0" dirty="0" smtClean="0">
                <a:solidFill>
                  <a:schemeClr val="accent1">
                    <a:lumMod val="50000"/>
                  </a:schemeClr>
                </a:solidFill>
              </a:rPr>
              <a:t> Steps: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Setting meeting content &amp; schedule ; Defining the research questions</a:t>
            </a:r>
          </a:p>
          <a:p>
            <a:pPr marL="1143000" indent="-1143000"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2. Literature review: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Conducting literature review; Presenting articles at team meetings; Duration: 3 months’ weekly meetings</a:t>
            </a:r>
          </a:p>
          <a:p>
            <a:pPr marL="514350" indent="-514350"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3. Development of assessment rubric: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Developing criteria for rubric;  Creating rubric on Excel</a:t>
            </a:r>
          </a:p>
          <a:p>
            <a:pPr marL="514350" indent="-514350"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4. Seeking external advisors’ input: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Virtual meeting to discuss feedback/recommendations; Incorporating feedback; qualitative descriptors crucial</a:t>
            </a:r>
          </a:p>
          <a:p>
            <a:pPr marL="625475" lvl="1" indent="-306388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Development of Comments sections ; Value of experience for students: information; process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5. Applying the rubric to select pilot tests: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2 highest scoring and 1lowest scoring tests selected; Discovered shortcomings of rubric; clear need for descriptors; Addition of Summary Comments Sheet for each test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6.</a:t>
            </a:r>
            <a:r>
              <a:rPr lang="en-US" sz="1200" dirty="0" smtClean="0"/>
              <a:t>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Recruiting subjects; piloting tests: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Currently in progress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7. Evaluating the rubric’s ability to select best tests: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a) Expert raters to be used to place subjects into 3 levels; b) 3 pilot tests to be used to place subjects into 3 levels; c) Rubric’s ability to select best tests to be evaluated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8. Reflecting and assessing:</a:t>
            </a:r>
            <a:r>
              <a:rPr lang="en-US" sz="1200" baseline="0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On-going reflection questions posed throughout activities; Concept Mapping Exercises: conducted 3-4 times 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Final student feedback session; oral and written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9. Writing reports, articles, presentations</a:t>
            </a:r>
          </a:p>
          <a:p>
            <a:pPr>
              <a:buNone/>
            </a:pP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10. Presenting at conferences</a:t>
            </a:r>
          </a:p>
          <a:p>
            <a:endParaRPr lang="en-US" sz="1600" dirty="0" smtClean="0"/>
          </a:p>
          <a:p>
            <a:pPr>
              <a:buNone/>
            </a:pPr>
            <a:endParaRPr lang="en-US" sz="1600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21852-80CC-4586-8338-A4F9789F6F33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FC24F31E-AEB6-40E2-AE83-5890D1A11184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877C6-17A8-4774-AAF7-5226F0181AED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61E56-DBC9-4802-9579-76FBD9C88B2F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F3418DA-3E3E-4A3F-895D-01B2C1D06E7E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70A3F1B-AEE5-416E-9014-885B280E3E29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FE158-87F1-4772-830C-D6326C434124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EF907-BC82-4336-A31F-4D7E30D153C5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9411-A9A9-4378-BF6A-A9A4E1A5B204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E0E1F82-5B91-45FF-9D07-B41C4CA173CB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95FC6-AAE0-468D-B86F-16120F3608FE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526D3A06-6D83-4582-B872-9A7FA35895E5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0C8439A-48D9-43B7-99D3-CA3A9E7F8F80}" type="datetime1">
              <a:rPr lang="en-US" smtClean="0"/>
              <a:pPr/>
              <a:t>10/18/12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0081DA-3719-4241-9081-AF2052CCB4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038600"/>
            <a:ext cx="6477000" cy="1828800"/>
          </a:xfrm>
        </p:spPr>
        <p:txBody>
          <a:bodyPr>
            <a:noAutofit/>
          </a:bodyPr>
          <a:lstStyle/>
          <a:p>
            <a:r>
              <a:rPr lang="en-US" sz="4000" dirty="0" smtClean="0"/>
              <a:t>A Review of Placement Tests for EFL EAP Contexts</a:t>
            </a:r>
            <a:endParaRPr lang="en-US" sz="4000" dirty="0"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Qatar National Research </a:t>
            </a:r>
            <a:r>
              <a:rPr lang="en-US" sz="2800" b="1" dirty="0" err="1" smtClean="0">
                <a:solidFill>
                  <a:schemeClr val="accent1">
                    <a:lumMod val="50000"/>
                  </a:schemeClr>
                </a:solidFill>
              </a:rPr>
              <a:t>Fund(QNRF</a:t>
            </a:r>
            <a:r>
              <a:rPr lang="en-US" sz="2800" b="1" dirty="0" smtClean="0">
                <a:solidFill>
                  <a:schemeClr val="accent1">
                    <a:lumMod val="50000"/>
                  </a:schemeClr>
                </a:solidFill>
              </a:rPr>
              <a:t>) </a:t>
            </a: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Undergraduate Research Experience Program  - Eighth Cycle.</a:t>
            </a:r>
            <a:endParaRPr lang="en-US" sz="2800" dirty="0">
              <a:latin typeface="+mj-lt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Session Agenda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Collaborative Research Model 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The Study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Findings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Test Reviews</a:t>
            </a:r>
          </a:p>
          <a:p>
            <a:pPr>
              <a:buNone/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>
              <a:buNone/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cs typeface="Arial" pitchFamily="34" charset="0"/>
              </a:rPr>
              <a:t>The Researchers</a:t>
            </a:r>
            <a:endParaRPr lang="en-US" sz="4000" b="1" dirty="0"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Students (University of Calgary-Qatar)</a:t>
            </a:r>
          </a:p>
          <a:p>
            <a:pPr lvl="1"/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Muna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 Aden</a:t>
            </a:r>
          </a:p>
          <a:p>
            <a:pPr lvl="1"/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Noof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 Al </a:t>
            </a:r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Kuwari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cs typeface="Arial" pitchFamily="34" charset="0"/>
            </a:endParaRPr>
          </a:p>
          <a:p>
            <a:pPr lvl="1"/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Mihad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 Ibrahim</a:t>
            </a:r>
          </a:p>
          <a:p>
            <a:pPr lvl="1"/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Omaima</a:t>
            </a: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Souayah</a:t>
            </a:r>
            <a:endParaRPr lang="en-US" sz="2400" dirty="0" smtClean="0">
              <a:solidFill>
                <a:schemeClr val="tx2">
                  <a:lumMod val="50000"/>
                </a:schemeClr>
              </a:solidFill>
              <a:cs typeface="Arial" pitchFamily="34" charset="0"/>
            </a:endParaRPr>
          </a:p>
          <a:p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Faculty (University of Calgary-Qatar )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Karen Brooke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Virginia Christopher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Dr. Brad Johnson</a:t>
            </a:r>
          </a:p>
          <a:p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  <a:cs typeface="Arial" pitchFamily="34" charset="0"/>
              </a:rPr>
              <a:t>External Advisors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Dr. Dudley Reynolds (Carnegie Mellon University-Qatar)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Dr. Anne Nebel (Georgetown University-Qatar)</a:t>
            </a:r>
          </a:p>
          <a:p>
            <a:pPr lvl="1"/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  <a:cs typeface="Arial" pitchFamily="34" charset="0"/>
              </a:rPr>
              <a:t>Dr. Peter Brown (College of the North Atlantic-Qatar)</a:t>
            </a:r>
          </a:p>
          <a:p>
            <a:pPr lvl="1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lvl="1"/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Context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CA" dirty="0" smtClean="0">
                <a:solidFill>
                  <a:schemeClr val="tx2">
                    <a:lumMod val="50000"/>
                  </a:schemeClr>
                </a:solidFill>
              </a:rPr>
              <a:t>University of Calgary, Qatar (B.A. Nursing)</a:t>
            </a:r>
          </a:p>
          <a:p>
            <a:pPr lvl="1"/>
            <a:r>
              <a:rPr lang="en-CA" dirty="0" smtClean="0">
                <a:solidFill>
                  <a:schemeClr val="tx2">
                    <a:lumMod val="50000"/>
                  </a:schemeClr>
                </a:solidFill>
              </a:rPr>
              <a:t>English the medium of all instruction</a:t>
            </a:r>
          </a:p>
          <a:p>
            <a:pPr lvl="1"/>
            <a:r>
              <a:rPr lang="en-CA" dirty="0" smtClean="0">
                <a:solidFill>
                  <a:schemeClr val="tx2">
                    <a:lumMod val="50000"/>
                  </a:schemeClr>
                </a:solidFill>
              </a:rPr>
              <a:t>Most students do not have English as a first language</a:t>
            </a:r>
          </a:p>
          <a:p>
            <a:pPr lvl="1"/>
            <a:r>
              <a:rPr lang="en-CA" dirty="0" smtClean="0">
                <a:solidFill>
                  <a:schemeClr val="tx2">
                    <a:lumMod val="50000"/>
                  </a:schemeClr>
                </a:solidFill>
              </a:rPr>
              <a:t>Most students require additional English language classes before starting regular studies</a:t>
            </a: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endParaRPr lang="en-US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The CR Model in Use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5100" dirty="0" smtClean="0">
                <a:solidFill>
                  <a:schemeClr val="accent1">
                    <a:lumMod val="50000"/>
                  </a:schemeClr>
                </a:solidFill>
              </a:rPr>
              <a:t>Undergrad Research Experience Project (UREP)</a:t>
            </a:r>
          </a:p>
          <a:p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Sponsored by the </a:t>
            </a:r>
            <a:r>
              <a:rPr lang="en-US" sz="4400" i="1" dirty="0" smtClean="0">
                <a:solidFill>
                  <a:schemeClr val="tx2">
                    <a:lumMod val="50000"/>
                  </a:schemeClr>
                </a:solidFill>
              </a:rPr>
              <a:t>Qatar National Research Fund </a:t>
            </a:r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(QNRF)</a:t>
            </a:r>
          </a:p>
          <a:p>
            <a:pPr lvl="1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Mission</a:t>
            </a:r>
          </a:p>
          <a:p>
            <a:pPr lvl="1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Undergraduate research </a:t>
            </a:r>
          </a:p>
          <a:p>
            <a:pPr lvl="1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Learning by doing</a:t>
            </a:r>
          </a:p>
          <a:p>
            <a:pPr lvl="1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Skills Development </a:t>
            </a:r>
          </a:p>
          <a:p>
            <a:pPr lvl="2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Problem-solving</a:t>
            </a:r>
          </a:p>
          <a:p>
            <a:pPr lvl="2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Communication</a:t>
            </a:r>
          </a:p>
          <a:p>
            <a:pPr lvl="2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Working independently</a:t>
            </a:r>
          </a:p>
          <a:p>
            <a:pPr lvl="2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Understanding research methods</a:t>
            </a:r>
          </a:p>
          <a:p>
            <a:pPr lvl="2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</a:rPr>
              <a:t>Ethics &amp; rules of conduct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Collaborative Research Model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94629" y="3137833"/>
            <a:ext cx="41719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25000"/>
                  </a:schemeClr>
                </a:solidFill>
              </a:rPr>
              <a:t>Key Characteristics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204" y="3614083"/>
            <a:ext cx="333374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Students as CO-Researchers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Collaborative Deliberation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Group Reflection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Multiple Perspectives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629" y="1661458"/>
            <a:ext cx="41719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25000"/>
                  </a:schemeClr>
                </a:solidFill>
              </a:rPr>
              <a:t>Core Elements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204" y="2128183"/>
            <a:ext cx="333374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Guided Inquiry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Collaborative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Safe, supported, mentored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4629" y="4947583"/>
            <a:ext cx="417194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25000"/>
                  </a:schemeClr>
                </a:solidFill>
              </a:rPr>
              <a:t>Main Benefits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204" y="5442883"/>
            <a:ext cx="685799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Actively Engages Students and Faculty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Promotes Effective Group Processes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chemeClr val="bg2">
                    <a:lumMod val="25000"/>
                  </a:schemeClr>
                </a:solidFill>
              </a:rPr>
              <a:t> Provides a Process for Conducting All Phases of Research</a:t>
            </a:r>
          </a:p>
        </p:txBody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96665" y="1751261"/>
            <a:ext cx="4689501" cy="319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153400" cy="12192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4000" b="1" dirty="0" smtClean="0"/>
              <a:t>The Study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876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Assessing English Language Placement Tests for Use in Qatari Post-Secondary Institutions</a:t>
            </a:r>
            <a:endParaRPr lang="en-US" sz="2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The Problem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Western cultural perspective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Choosing best test for Gulf </a:t>
            </a:r>
          </a:p>
          <a:p>
            <a:pPr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The Goal 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Assessment rubric</a:t>
            </a:r>
          </a:p>
          <a:p>
            <a:pPr>
              <a:buNone/>
            </a:pPr>
            <a:r>
              <a:rPr lang="en-US" sz="2800" dirty="0" smtClean="0">
                <a:solidFill>
                  <a:schemeClr val="accent1">
                    <a:lumMod val="50000"/>
                  </a:schemeClr>
                </a:solidFill>
              </a:rPr>
              <a:t>The Research Team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4 Undergrads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3 faculty members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3 External advisors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The Study: Stages 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5172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None/>
              <a:tabLst>
                <a:tab pos="625475" algn="l"/>
                <a:tab pos="1316038" algn="l"/>
              </a:tabLst>
            </a:pPr>
            <a:r>
              <a:rPr lang="en-US" sz="3000" dirty="0" smtClean="0">
                <a:solidFill>
                  <a:schemeClr val="accent1">
                    <a:lumMod val="50000"/>
                  </a:schemeClr>
                </a:solidFill>
              </a:rPr>
              <a:t>All stages implement Collaborative Research methodology… </a:t>
            </a:r>
          </a:p>
          <a:p>
            <a:pPr marL="914400" indent="-914400"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1. Getting started</a:t>
            </a:r>
          </a:p>
          <a:p>
            <a:pPr marL="1143000" indent="-1143000"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2. Literature review </a:t>
            </a:r>
          </a:p>
          <a:p>
            <a:pPr marL="514350" indent="-514350"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3. Development of assessment rubric/ Seeking advisor’s input</a:t>
            </a:r>
          </a:p>
          <a:p>
            <a:pPr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4. Applying the rubric  </a:t>
            </a:r>
          </a:p>
          <a:p>
            <a:pPr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5. Recruiting subjects &amp; piloting tests </a:t>
            </a:r>
          </a:p>
          <a:p>
            <a:pPr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6. Compare Test Scores to Expert Raters</a:t>
            </a:r>
          </a:p>
          <a:p>
            <a:pPr>
              <a:buNone/>
            </a:pPr>
            <a:r>
              <a:rPr lang="en-US" sz="2600" dirty="0" smtClean="0">
                <a:solidFill>
                  <a:schemeClr val="bg2">
                    <a:lumMod val="25000"/>
                  </a:schemeClr>
                </a:solidFill>
              </a:rPr>
              <a:t>7. Reflecting &amp; assessing/ Writing reports &amp; articles / Presenting</a:t>
            </a:r>
          </a:p>
          <a:p>
            <a:pPr>
              <a:buNone/>
            </a:pPr>
            <a:endParaRPr lang="en-US" sz="2600" dirty="0" smtClean="0">
              <a:solidFill>
                <a:schemeClr val="bg2">
                  <a:lumMod val="25000"/>
                </a:schemeClr>
              </a:solidFill>
            </a:endParaRPr>
          </a:p>
          <a:p>
            <a:pPr marL="514350" indent="-514350">
              <a:buNone/>
            </a:pPr>
            <a:endParaRPr lang="en-US" sz="3800" dirty="0" smtClean="0">
              <a:solidFill>
                <a:schemeClr val="accent1">
                  <a:lumMod val="50000"/>
                </a:schemeClr>
              </a:solidFill>
            </a:endParaRPr>
          </a:p>
          <a:p>
            <a:pPr marL="834390" lvl="1" indent="-514350"/>
            <a:endParaRPr lang="en-US" sz="25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Stage 2: Literature Review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630073" y="1552903"/>
          <a:ext cx="8513927" cy="5037083"/>
        </p:xfrm>
        <a:graphic>
          <a:graphicData uri="http://schemas.openxmlformats.org/drawingml/2006/diagram">
            <a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185" y="273050"/>
            <a:ext cx="8954815" cy="86995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/>
              <a:t>Stage 3: Development of Assessment Rubric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Brainstorm rubric criteria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Categorize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itchFamily="2" charset="2"/>
              <a:buChar char="§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Develop rubric sections</a:t>
            </a:r>
          </a:p>
          <a:p>
            <a:pPr>
              <a:buClr>
                <a:schemeClr val="accent1">
                  <a:lumMod val="50000"/>
                </a:schemeClr>
              </a:buClr>
            </a:pPr>
            <a:endParaRPr lang="en-US" dirty="0" smtClean="0">
              <a:solidFill>
                <a:schemeClr val="bg2">
                  <a:lumMod val="2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8042" y="1624084"/>
            <a:ext cx="4640240" cy="504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Applying the Rubric: Scores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528108" y="1579033"/>
          <a:ext cx="8192560" cy="4500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140"/>
                <a:gridCol w="2048140"/>
                <a:gridCol w="2048140"/>
                <a:gridCol w="2048140"/>
              </a:tblGrid>
              <a:tr h="56712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Cambria"/>
                          <a:cs typeface="Arial"/>
                        </a:rPr>
                        <a:t>Test Name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Times New Roman"/>
                          <a:ea typeface="Cambria"/>
                          <a:cs typeface="Arial"/>
                        </a:rPr>
                        <a:t>Test Mode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Times New Roman"/>
                          <a:ea typeface="Cambria"/>
                          <a:cs typeface="Arial"/>
                        </a:rPr>
                        <a:t>Rubric Score  /100</a:t>
                      </a:r>
                      <a:endParaRPr lang="en-US" sz="1600">
                        <a:solidFill>
                          <a:schemeClr val="tx1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/>
                          <a:ea typeface="Cambria"/>
                          <a:cs typeface="Arial"/>
                        </a:rPr>
                        <a:t>Holistic Score  /10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567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Accuplacer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Computer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89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8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567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Compass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Computer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85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9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8390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University of Michigan English Placement Test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Paper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71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8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567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Password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Computer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66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7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567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OPT Online Test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Computer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51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5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56712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OPT Placement Test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Paper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latin typeface="Times New Roman"/>
                          <a:ea typeface="Cambria"/>
                          <a:cs typeface="Arial"/>
                        </a:rPr>
                        <a:t>46</a:t>
                      </a:r>
                      <a:endParaRPr lang="en-US" sz="16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latin typeface="Times New Roman"/>
                          <a:ea typeface="Cambria"/>
                          <a:cs typeface="Arial"/>
                        </a:rPr>
                        <a:t>5</a:t>
                      </a:r>
                      <a:endParaRPr lang="en-US" sz="16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Recruiting Subjects and Piloting Tests 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sz="3200" dirty="0" smtClean="0"/>
              <a:t>Oxford Placement Test: 23 participants </a:t>
            </a:r>
          </a:p>
          <a:p>
            <a:endParaRPr lang="en-CA" sz="3200" dirty="0" smtClean="0"/>
          </a:p>
          <a:p>
            <a:r>
              <a:rPr lang="en-CA" sz="3200" dirty="0" smtClean="0"/>
              <a:t>Oxford Online Test: 26 participants</a:t>
            </a:r>
          </a:p>
          <a:p>
            <a:endParaRPr lang="en-CA" sz="3200" dirty="0" smtClean="0"/>
          </a:p>
          <a:p>
            <a:r>
              <a:rPr lang="en-CA" sz="3200" dirty="0" err="1" smtClean="0"/>
              <a:t>Accuplacer</a:t>
            </a:r>
            <a:r>
              <a:rPr lang="en-CA" sz="3200" dirty="0" smtClean="0"/>
              <a:t>: 16 participants</a:t>
            </a:r>
            <a:r>
              <a:rPr lang="en-US" sz="3200" dirty="0" smtClean="0"/>
              <a:t> 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Evaluating the Rubric: Expert Raters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676275" y="2413001"/>
          <a:ext cx="7917392" cy="2434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348"/>
                <a:gridCol w="1979348"/>
                <a:gridCol w="1979348"/>
                <a:gridCol w="1979348"/>
              </a:tblGrid>
              <a:tr h="6995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latin typeface="Times New Roman"/>
                        <a:ea typeface="Cambria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Arial"/>
                        </a:rPr>
                        <a:t>Accuplacer</a:t>
                      </a:r>
                      <a:endParaRPr lang="en-US" sz="160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Arial"/>
                        </a:rPr>
                        <a:t>OPT Online</a:t>
                      </a:r>
                      <a:endParaRPr lang="en-US" sz="160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/>
                          <a:ea typeface="Cambria"/>
                          <a:cs typeface="Arial"/>
                        </a:rPr>
                        <a:t>OPT Paper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995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Cohen’s Kappa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.3766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.2632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.2477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1035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Weighted Kappa (linear)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.4839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Cambria"/>
                          <a:cs typeface="Arial"/>
                        </a:rPr>
                        <a:t>.4257</a:t>
                      </a:r>
                      <a:endParaRPr lang="en-US" sz="1800" b="1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Cambria"/>
                          <a:cs typeface="Arial"/>
                        </a:rPr>
                        <a:t>.2562</a:t>
                      </a:r>
                      <a:endParaRPr lang="en-US" sz="1800" b="1" dirty="0">
                        <a:latin typeface="Times New Roman"/>
                        <a:ea typeface="Cambria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Evaluating the Rubric: Correlations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381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 dirty="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solidFill>
                            <a:schemeClr val="tx1"/>
                          </a:solidFill>
                          <a:latin typeface="Arial"/>
                          <a:ea typeface="Calibri"/>
                          <a:cs typeface="Arial"/>
                        </a:rPr>
                        <a:t>Oxford Online Test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Use of English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Accuplacer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Language Use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0.45369903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0.57537037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0.54591973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0.62745738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0.54446715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0.62689216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Reading Skills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  0.7079608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0.57475001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0.69046848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Sentence Meaning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0.49654448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0.68578513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0.62420157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Writeplacer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0.44179812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0.59391448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 smtClean="0">
                          <a:latin typeface="Arial"/>
                          <a:ea typeface="Calibri"/>
                          <a:cs typeface="Arial"/>
                        </a:rPr>
                        <a:t>        </a:t>
                      </a: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0.5437714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 Excluding Writeplacer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0.63601477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0.67577507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0.69895996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289" y="204952"/>
            <a:ext cx="8153400" cy="9906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Evaluating the Rubric: Correlations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0" y="1043622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677332" y="1662887"/>
          <a:ext cx="8173510" cy="3545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702"/>
                <a:gridCol w="1634702"/>
                <a:gridCol w="1634702"/>
                <a:gridCol w="1634702"/>
                <a:gridCol w="1634702"/>
              </a:tblGrid>
              <a:tr h="3571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 dirty="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 smtClean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OPT Paper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Grammar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Accuplacer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latin typeface="Arial"/>
                          <a:ea typeface="Calibri"/>
                          <a:cs typeface="Arial"/>
                        </a:rPr>
                        <a:t>Language Use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0.07992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0.69098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0.62999298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 dirty="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-0.154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0.74158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0.54316763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Reading Skills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-0.109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0.66164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 smtClean="0">
                          <a:latin typeface="Arial"/>
                          <a:ea typeface="Calibri"/>
                          <a:cs typeface="Arial"/>
                        </a:rPr>
                        <a:t>       0.5003664 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Sentence Meaning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0.18287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0.73404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0.72358122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571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Writeplacer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0.10428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0.65195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0.61041479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4342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 dirty="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 Excluding Writeplacer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0.01529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0.79029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0.67832386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Evaluating the Rubric: Correlations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612775" y="1600200"/>
          <a:ext cx="8153400" cy="2044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 dirty="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</a:rPr>
                        <a:t>Oxford Online Test</a:t>
                      </a:r>
                      <a:endParaRPr lang="en-US" sz="1600" dirty="0">
                        <a:solidFill>
                          <a:srgbClr val="000000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Use of English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latin typeface="Arial"/>
                          <a:ea typeface="Calibri"/>
                          <a:cs typeface="Arial"/>
                        </a:rPr>
                        <a:t>OPT </a:t>
                      </a:r>
                      <a:r>
                        <a:rPr lang="en-CA" sz="1600" b="1" dirty="0" smtClean="0">
                          <a:latin typeface="Arial"/>
                          <a:ea typeface="Calibri"/>
                          <a:cs typeface="Arial"/>
                        </a:rPr>
                        <a:t> Paper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 dirty="0">
                          <a:latin typeface="Arial"/>
                          <a:ea typeface="Calibri"/>
                          <a:cs typeface="Arial"/>
                        </a:rPr>
                        <a:t>Listening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-0.0272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-0.028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-0.02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Grammar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0.76837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0.70284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>
                          <a:latin typeface="Arial"/>
                          <a:ea typeface="Calibri"/>
                          <a:cs typeface="Arial"/>
                        </a:rPr>
                        <a:t>0.78485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CA" sz="1600">
                        <a:latin typeface="Arial"/>
                        <a:ea typeface="Calibri"/>
                        <a:cs typeface="Arial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b="1">
                          <a:latin typeface="Arial"/>
                          <a:ea typeface="Calibri"/>
                          <a:cs typeface="Arial"/>
                        </a:rPr>
                        <a:t>Total</a:t>
                      </a:r>
                      <a:endParaRPr lang="en-US" sz="16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0.63283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0.57745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CA" sz="1600" dirty="0">
                          <a:latin typeface="Arial"/>
                          <a:ea typeface="Calibri"/>
                          <a:cs typeface="Arial"/>
                        </a:rPr>
                        <a:t>0.64989</a:t>
                      </a:r>
                      <a:endParaRPr lang="en-US" sz="16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Findings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OPT Paper Based Listening not functioning well, as we had suspected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Findings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Culturally inappropriate material not common, rarely caused incorrect responses</a:t>
            </a:r>
          </a:p>
          <a:p>
            <a:pPr lvl="1"/>
            <a:r>
              <a:rPr lang="en-US" dirty="0" smtClean="0"/>
              <a:t>Every test mentioned wine</a:t>
            </a:r>
          </a:p>
          <a:p>
            <a:pPr lvl="1"/>
            <a:r>
              <a:rPr lang="en-US" dirty="0" smtClean="0"/>
              <a:t>One question required students to interpret the relationship between 2 room-mates – our students could not</a:t>
            </a:r>
          </a:p>
          <a:p>
            <a:pPr lvl="1"/>
            <a:r>
              <a:rPr lang="en-US" dirty="0" smtClean="0"/>
              <a:t>One question relied on the knowledge that dogs’ fur gets thicker in winter – our students did not know this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Findings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Test Conditions	</a:t>
            </a:r>
          </a:p>
          <a:p>
            <a:pPr lvl="1"/>
            <a:r>
              <a:rPr lang="en-US" dirty="0" err="1" smtClean="0"/>
              <a:t>Computerised</a:t>
            </a:r>
            <a:r>
              <a:rPr lang="en-US" dirty="0" smtClean="0"/>
              <a:t> delivery not a problem for most test sections</a:t>
            </a:r>
          </a:p>
          <a:p>
            <a:pPr lvl="1"/>
            <a:r>
              <a:rPr lang="en-US" dirty="0" err="1" smtClean="0"/>
              <a:t>Computerised</a:t>
            </a:r>
            <a:r>
              <a:rPr lang="en-US" dirty="0" smtClean="0"/>
              <a:t> writing tests may be seriously compromised by slow typing</a:t>
            </a:r>
          </a:p>
          <a:p>
            <a:pPr lvl="1"/>
            <a:r>
              <a:rPr lang="en-US" dirty="0" smtClean="0"/>
              <a:t>Typing test showed average typing speed of only 11 wpm for one group of incoming students</a:t>
            </a:r>
          </a:p>
          <a:p>
            <a:pPr lvl="1"/>
            <a:r>
              <a:rPr lang="en-US" dirty="0" smtClean="0"/>
              <a:t>Lack of familiarity with English keyboard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Findings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Possible mismatch between test content and skills needed for success in non-native classes</a:t>
            </a:r>
          </a:p>
          <a:p>
            <a:pPr lvl="1"/>
            <a:r>
              <a:rPr lang="en-US" dirty="0" smtClean="0"/>
              <a:t>Tests have heavy emphasis on grammar. Teachers in this context may be more tolerant.  </a:t>
            </a:r>
          </a:p>
          <a:p>
            <a:pPr lvl="1"/>
            <a:r>
              <a:rPr lang="en-US" dirty="0" smtClean="0"/>
              <a:t>Some tests include knowledge of idioms. Teachers in this context learn to avoid idioms. Our students knew few common idioms.</a:t>
            </a:r>
          </a:p>
          <a:p>
            <a:pPr lvl="1"/>
            <a:r>
              <a:rPr lang="en-US" dirty="0" smtClean="0"/>
              <a:t>One test had a section on collocations. Our students did very poorly on this section, despite advanced level of English.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Accuplacer</a:t>
            </a:r>
            <a:r>
              <a:rPr lang="en-US" b="1" dirty="0" smtClean="0"/>
              <a:t> ESL:</a:t>
            </a:r>
          </a:p>
          <a:p>
            <a:pPr lvl="1"/>
            <a:r>
              <a:rPr lang="en-US" dirty="0" smtClean="0"/>
              <a:t>American/ College Board</a:t>
            </a:r>
          </a:p>
          <a:p>
            <a:pPr lvl="1"/>
            <a:r>
              <a:rPr lang="en-US" dirty="0" smtClean="0"/>
              <a:t>Internet Based</a:t>
            </a:r>
          </a:p>
          <a:p>
            <a:pPr lvl="1"/>
            <a:r>
              <a:rPr lang="en-US" dirty="0" smtClean="0"/>
              <a:t>Computer Adaptive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Accuplacer</a:t>
            </a:r>
            <a:r>
              <a:rPr lang="en-US" b="1" dirty="0" smtClean="0"/>
              <a:t> ESL:</a:t>
            </a:r>
          </a:p>
          <a:p>
            <a:pPr lvl="1"/>
            <a:r>
              <a:rPr lang="en-US" dirty="0" smtClean="0"/>
              <a:t>Reading Skills</a:t>
            </a:r>
          </a:p>
          <a:p>
            <a:pPr lvl="1"/>
            <a:r>
              <a:rPr lang="en-US" dirty="0" smtClean="0"/>
              <a:t>Sentence Meaning (Vocabulary in Context)</a:t>
            </a:r>
          </a:p>
          <a:p>
            <a:pPr lvl="1"/>
            <a:r>
              <a:rPr lang="en-US" dirty="0" smtClean="0"/>
              <a:t>Language Use</a:t>
            </a:r>
          </a:p>
          <a:p>
            <a:pPr lvl="1"/>
            <a:r>
              <a:rPr lang="en-US" dirty="0" smtClean="0"/>
              <a:t>Listening</a:t>
            </a:r>
          </a:p>
          <a:p>
            <a:pPr lvl="1"/>
            <a:r>
              <a:rPr lang="en-US" dirty="0" err="1" smtClean="0"/>
              <a:t>WritePlacer</a:t>
            </a:r>
            <a:r>
              <a:rPr lang="en-US" dirty="0" smtClean="0"/>
              <a:t> ESL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Accuplacer</a:t>
            </a:r>
            <a:r>
              <a:rPr lang="en-US" b="1" dirty="0" smtClean="0"/>
              <a:t> ESL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Good range</a:t>
                      </a:r>
                      <a:r>
                        <a:rPr lang="en-US" baseline="0" dirty="0" smtClean="0"/>
                        <a:t> of academic content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Familiar multiple</a:t>
                      </a:r>
                      <a:r>
                        <a:rPr lang="en-US" baseline="0" dirty="0" smtClean="0"/>
                        <a:t> choice format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Internet based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Reading tested a variety of skills</a:t>
                      </a:r>
                      <a:r>
                        <a:rPr lang="en-US" baseline="0" dirty="0" smtClean="0"/>
                        <a:t> (paraphrasing/ inferences/ fact-opinion)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Realistic</a:t>
                      </a:r>
                      <a:r>
                        <a:rPr lang="en-US" baseline="0" dirty="0" smtClean="0"/>
                        <a:t> listening conversations with pictures for context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Writing</a:t>
                      </a:r>
                      <a:r>
                        <a:rPr lang="en-US" baseline="0" dirty="0" smtClean="0"/>
                        <a:t> included short reading to give context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 of what elements of writing will</a:t>
                      </a:r>
                      <a:r>
                        <a:rPr lang="en-US" baseline="0" dirty="0" smtClean="0"/>
                        <a:t> be graded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 flexible delivery by institution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err="1" smtClean="0"/>
              <a:t>Accuplacer</a:t>
            </a:r>
            <a:r>
              <a:rPr lang="en-US" b="1" dirty="0" smtClean="0"/>
              <a:t> ESL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Writing</a:t>
                      </a:r>
                      <a:r>
                        <a:rPr lang="en-US" baseline="0" dirty="0" smtClean="0"/>
                        <a:t> Prompt difficult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Americanisms (Miranda rights, American</a:t>
                      </a:r>
                      <a:r>
                        <a:rPr lang="en-US" baseline="0" dirty="0" smtClean="0"/>
                        <a:t> city names, Labor Day)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Difficult instructions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 unhelpful tutorials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Compass: </a:t>
            </a:r>
          </a:p>
          <a:p>
            <a:pPr lvl="1"/>
            <a:r>
              <a:rPr lang="en-US" dirty="0" smtClean="0"/>
              <a:t>American/ ACT</a:t>
            </a:r>
          </a:p>
          <a:p>
            <a:pPr lvl="1"/>
            <a:r>
              <a:rPr lang="en-US" dirty="0" smtClean="0"/>
              <a:t>Secure Browser on Internet</a:t>
            </a:r>
          </a:p>
          <a:p>
            <a:pPr lvl="1"/>
            <a:r>
              <a:rPr lang="en-US" dirty="0" smtClean="0"/>
              <a:t>Computer Adaptive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Compass: </a:t>
            </a:r>
          </a:p>
          <a:p>
            <a:pPr lvl="1"/>
            <a:r>
              <a:rPr lang="en-US" dirty="0" smtClean="0"/>
              <a:t>Listening</a:t>
            </a:r>
          </a:p>
          <a:p>
            <a:pPr lvl="1"/>
            <a:r>
              <a:rPr lang="en-US" dirty="0" smtClean="0"/>
              <a:t>Reading </a:t>
            </a:r>
          </a:p>
          <a:p>
            <a:pPr lvl="1"/>
            <a:r>
              <a:rPr lang="en-US" dirty="0" smtClean="0"/>
              <a:t>Grammar/ Usage</a:t>
            </a:r>
          </a:p>
          <a:p>
            <a:pPr lvl="1"/>
            <a:r>
              <a:rPr lang="en-US" dirty="0" smtClean="0"/>
              <a:t>Essay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Compass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Good range</a:t>
                      </a:r>
                      <a:r>
                        <a:rPr lang="en-US" baseline="0" dirty="0" smtClean="0"/>
                        <a:t> of very realistic academic content from range of subjects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Listening items moved</a:t>
                      </a:r>
                      <a:r>
                        <a:rPr lang="en-US" baseline="0" dirty="0" smtClean="0"/>
                        <a:t> from short conversations in familiar context to long abstract lectures and dialogues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Reading items moved</a:t>
                      </a:r>
                      <a:r>
                        <a:rPr lang="en-US" baseline="0" dirty="0" smtClean="0"/>
                        <a:t> from short texts to long academic texts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Reading items tested a variety</a:t>
                      </a:r>
                      <a:r>
                        <a:rPr lang="en-US" baseline="0" dirty="0" smtClean="0"/>
                        <a:t> of skills (main ideas/ details, inferences, conclusions)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Grammar included not only</a:t>
                      </a:r>
                      <a:r>
                        <a:rPr lang="en-US" baseline="0" dirty="0" smtClean="0"/>
                        <a:t> sentence level grammar but relationships between paragraphs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Compass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software must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be downloaded</a:t>
                      </a:r>
                      <a:r>
                        <a:rPr lang="en-US" baseline="0" dirty="0" smtClean="0"/>
                        <a:t> to each computer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Screen</a:t>
                      </a:r>
                      <a:r>
                        <a:rPr lang="en-US" baseline="0" dirty="0" smtClean="0"/>
                        <a:t> resolution must be reconfigured before test is run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Password: </a:t>
            </a:r>
          </a:p>
          <a:p>
            <a:pPr lvl="1"/>
            <a:r>
              <a:rPr lang="en-US" dirty="0" smtClean="0"/>
              <a:t>British/ English Language Testing, Ltd.</a:t>
            </a:r>
          </a:p>
          <a:p>
            <a:pPr lvl="1"/>
            <a:r>
              <a:rPr lang="en-US" dirty="0" err="1" smtClean="0"/>
              <a:t>Computerised</a:t>
            </a:r>
            <a:r>
              <a:rPr lang="en-US" dirty="0" smtClean="0"/>
              <a:t> and Unique, but not Computer Adaptive</a:t>
            </a:r>
          </a:p>
          <a:p>
            <a:pPr lvl="1"/>
            <a:r>
              <a:rPr lang="en-US" dirty="0" smtClean="0"/>
              <a:t>Secure Browser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Password: </a:t>
            </a:r>
          </a:p>
          <a:p>
            <a:pPr lvl="1"/>
            <a:r>
              <a:rPr lang="en-US" dirty="0" smtClean="0"/>
              <a:t>5 sections of grammar and vocabulary, optional writing and reading sections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2 sections of multiple choice grammar </a:t>
            </a:r>
          </a:p>
          <a:p>
            <a:pPr lvl="1"/>
            <a:r>
              <a:rPr lang="en-US" dirty="0" smtClean="0"/>
              <a:t>Vocabulary – choose best synonym</a:t>
            </a:r>
          </a:p>
          <a:p>
            <a:pPr lvl="1"/>
            <a:r>
              <a:rPr lang="en-US" dirty="0" smtClean="0"/>
              <a:t>Collocations</a:t>
            </a:r>
          </a:p>
          <a:p>
            <a:pPr lvl="1"/>
            <a:r>
              <a:rPr lang="en-US" dirty="0" smtClean="0"/>
              <a:t>Identify grammatically correct sentences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Password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Vocabulary</a:t>
                      </a:r>
                      <a:r>
                        <a:rPr lang="en-US" baseline="0" dirty="0" smtClean="0"/>
                        <a:t> from Academic Word List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398" y="3920068"/>
          <a:ext cx="74506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Intended</a:t>
                      </a:r>
                      <a:r>
                        <a:rPr lang="en-US" baseline="0" dirty="0" smtClean="0"/>
                        <a:t> student profile did not match ours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Poor performance</a:t>
                      </a:r>
                      <a:r>
                        <a:rPr lang="en-US" baseline="0" dirty="0" smtClean="0"/>
                        <a:t> by our students on collocations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Last section confusing and tiring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Oxford Online Placement Test: </a:t>
            </a:r>
          </a:p>
          <a:p>
            <a:pPr lvl="1"/>
            <a:r>
              <a:rPr lang="en-US" dirty="0" smtClean="0"/>
              <a:t>Computer Adaptive</a:t>
            </a:r>
          </a:p>
          <a:p>
            <a:pPr lvl="1"/>
            <a:r>
              <a:rPr lang="en-US" dirty="0" smtClean="0"/>
              <a:t>Internet Based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Use of English (grammar, vocabulary, reading)</a:t>
            </a:r>
          </a:p>
          <a:p>
            <a:pPr lvl="1"/>
            <a:r>
              <a:rPr lang="en-US" dirty="0" smtClean="0"/>
              <a:t>Listening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Oxford Online Placement Test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222501"/>
          <a:ext cx="74506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</a:t>
                      </a:r>
                      <a:r>
                        <a:rPr lang="en-US" baseline="0" dirty="0" smtClean="0"/>
                        <a:t> easy to conduct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0398" y="3644897"/>
          <a:ext cx="7450666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Not delivered on a secure browser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Test content</a:t>
                      </a:r>
                      <a:r>
                        <a:rPr lang="en-US" baseline="0" dirty="0" smtClean="0"/>
                        <a:t> less suitable for our students – range of settlement and business situations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Emphasis on idioms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British language and accents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University of Michigan English Placement Test</a:t>
            </a:r>
          </a:p>
          <a:p>
            <a:pPr lvl="1"/>
            <a:r>
              <a:rPr lang="en-US" dirty="0" smtClean="0"/>
              <a:t>Listening, reading, grammar, vocabulary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878668"/>
          <a:ext cx="7450666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</a:t>
                      </a:r>
                      <a:r>
                        <a:rPr lang="en-US" baseline="0" dirty="0" smtClean="0"/>
                        <a:t> easy to conduct (paper based)</a:t>
                      </a:r>
                    </a:p>
                    <a:p>
                      <a:r>
                        <a:rPr lang="en-US" baseline="0" dirty="0" smtClean="0"/>
                        <a:t>Vocabulary from Academic Word List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9231" y="4237564"/>
          <a:ext cx="7450666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Students found listening confusing</a:t>
                      </a:r>
                      <a:r>
                        <a:rPr lang="en-US" baseline="0" dirty="0" smtClean="0"/>
                        <a:t> (choose appropriate response or best paraphrase)</a:t>
                      </a:r>
                    </a:p>
                    <a:p>
                      <a:r>
                        <a:rPr lang="en-US" baseline="0" dirty="0" smtClean="0"/>
                        <a:t>Reading passages a few sentences at most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Test Reviews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Oxford Placement Test (paper)</a:t>
            </a:r>
          </a:p>
          <a:p>
            <a:pPr lvl="1"/>
            <a:r>
              <a:rPr lang="en-US" dirty="0" smtClean="0"/>
              <a:t>Listening, grammar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834" y="2878668"/>
          <a:ext cx="745066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Very</a:t>
                      </a:r>
                      <a:r>
                        <a:rPr lang="en-US" baseline="0" dirty="0" smtClean="0"/>
                        <a:t> easy to conduct (paper based)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9231" y="4237564"/>
          <a:ext cx="7450666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Listening based on distinguishing similar sounding words</a:t>
                      </a:r>
                      <a:endParaRPr lang="en-US" baseline="0" dirty="0" smtClean="0"/>
                    </a:p>
                    <a:p>
                      <a:r>
                        <a:rPr lang="en-US" baseline="0" dirty="0" smtClean="0"/>
                        <a:t>Very low frequency words in listening section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Value of Using CR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9679" y="1682219"/>
            <a:ext cx="417194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For Students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506" y="2192267"/>
            <a:ext cx="685799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  <a:buSzPct val="61000"/>
              <a:buFont typeface="Wingdings" pitchFamily="2" charset="2"/>
              <a:buChar char="q"/>
            </a:pPr>
            <a:r>
              <a:rPr lang="en-US" dirty="0" smtClean="0"/>
              <a:t> 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Actively Engaged in Research Process</a:t>
            </a:r>
          </a:p>
          <a:p>
            <a:pPr>
              <a:buClr>
                <a:schemeClr val="accent1"/>
              </a:buClr>
              <a:buSzPct val="61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 Learn Effective Group Processes</a:t>
            </a:r>
          </a:p>
          <a:p>
            <a:pPr>
              <a:buClr>
                <a:schemeClr val="accent1"/>
              </a:buClr>
              <a:buSzPct val="61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 Learn a Process for Conducting All Phases of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5456" y="3294292"/>
            <a:ext cx="417194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For Faculty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283" y="3715851"/>
            <a:ext cx="685799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Emphasizes Mentorship Role</a:t>
            </a:r>
          </a:p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Makes Research Process Explicit</a:t>
            </a:r>
          </a:p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Provides a Process for Conducting All Phases of Research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456" y="4991683"/>
            <a:ext cx="4171949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chemeClr val="bg2">
                    <a:lumMod val="25000"/>
                  </a:schemeClr>
                </a:solidFill>
              </a:rPr>
              <a:t>For Institutions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56031" y="5486983"/>
            <a:ext cx="6857999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/>
              <a:t> </a:t>
            </a: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Provides a Best-Practices Model</a:t>
            </a:r>
          </a:p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Promotes Faculty-Student Working Relationships</a:t>
            </a:r>
          </a:p>
          <a:p>
            <a:pPr>
              <a:buClr>
                <a:schemeClr val="accent1"/>
              </a:buClr>
              <a:buSzPct val="60000"/>
              <a:buFont typeface="Wingdings" pitchFamily="2" charset="2"/>
              <a:buChar char="q"/>
            </a:pPr>
            <a:r>
              <a:rPr lang="en-US" dirty="0" smtClean="0">
                <a:solidFill>
                  <a:schemeClr val="bg2">
                    <a:lumMod val="25000"/>
                  </a:schemeClr>
                </a:solidFill>
              </a:rPr>
              <a:t> Prepares Students for Graduate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References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4495800"/>
          </a:xfrm>
        </p:spPr>
        <p:txBody>
          <a:bodyPr/>
          <a:lstStyle/>
          <a:p>
            <a:r>
              <a:rPr lang="en-US" sz="2400" dirty="0" smtClean="0"/>
              <a:t>Brooke, K., Aden, M., Al-</a:t>
            </a:r>
            <a:r>
              <a:rPr lang="en-US" sz="2400" dirty="0" err="1" smtClean="0"/>
              <a:t>Kuwari</a:t>
            </a:r>
            <a:r>
              <a:rPr lang="en-US" sz="2400" dirty="0" smtClean="0"/>
              <a:t>, N., Christopher, V., Ibrahim, M., Johnson, B., &amp; </a:t>
            </a:r>
            <a:r>
              <a:rPr lang="en-US" sz="2400" dirty="0" err="1" smtClean="0"/>
              <a:t>Souyah</a:t>
            </a:r>
            <a:r>
              <a:rPr lang="en-US" sz="2400" dirty="0" smtClean="0"/>
              <a:t>, O. (2012). Placement Testing in an EFL Context. </a:t>
            </a:r>
            <a:r>
              <a:rPr lang="en-US" sz="2400" i="1" dirty="0" smtClean="0"/>
              <a:t>TESOL Arabia, 19 </a:t>
            </a:r>
            <a:r>
              <a:rPr lang="en-US" sz="2400" dirty="0" smtClean="0"/>
              <a:t>(2),</a:t>
            </a:r>
            <a:r>
              <a:rPr lang="en-US" sz="2400" i="1" dirty="0" smtClean="0"/>
              <a:t> </a:t>
            </a:r>
            <a:r>
              <a:rPr lang="en-US" sz="2400" dirty="0" smtClean="0"/>
              <a:t>13-20.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Questions and Discussion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Contact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kbrooke@vcc.ca</a:t>
            </a:r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 smtClean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 smtClean="0"/>
          </a:p>
          <a:p>
            <a:pPr algn="ctr">
              <a:buNone/>
            </a:pPr>
            <a:r>
              <a:rPr lang="en-US" sz="3600" b="1" dirty="0" smtClean="0">
                <a:solidFill>
                  <a:schemeClr val="tx2">
                    <a:lumMod val="50000"/>
                  </a:schemeClr>
                </a:solidFill>
              </a:rPr>
              <a:t>Thank You for Your Attention</a:t>
            </a:r>
            <a:endParaRPr lang="en-US" sz="36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80081DA-3719-4241-9081-AF2052CCB46D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4794</TotalTime>
  <Words>1772</Words>
  <Application>Microsoft Macintosh PowerPoint</Application>
  <PresentationFormat>On-screen Show (4:3)</PresentationFormat>
  <Paragraphs>454</Paragraphs>
  <Slides>38</Slides>
  <Notes>37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Median</vt:lpstr>
      <vt:lpstr>A Review of Placement Tests for EFL EAP Contexts</vt:lpstr>
      <vt:lpstr>Session Agenda</vt:lpstr>
      <vt:lpstr>The Researchers</vt:lpstr>
      <vt:lpstr>Context</vt:lpstr>
      <vt:lpstr>The CR Model in Use</vt:lpstr>
      <vt:lpstr>Collaborative Research Model</vt:lpstr>
      <vt:lpstr> The Study </vt:lpstr>
      <vt:lpstr>  The Study: Stages   </vt:lpstr>
      <vt:lpstr>Stage 2: Literature Review</vt:lpstr>
      <vt:lpstr>Stage 3: Development of Assessment Rubric</vt:lpstr>
      <vt:lpstr>Applying the Rubric: Scores</vt:lpstr>
      <vt:lpstr>Recruiting Subjects and Piloting Tests </vt:lpstr>
      <vt:lpstr>Evaluating the Rubric: Expert Raters</vt:lpstr>
      <vt:lpstr>Evaluating the Rubric: Correlations</vt:lpstr>
      <vt:lpstr>Evaluating the Rubric: Correlations</vt:lpstr>
      <vt:lpstr>Evaluating the Rubric: Correlations</vt:lpstr>
      <vt:lpstr>Findings</vt:lpstr>
      <vt:lpstr>Findings</vt:lpstr>
      <vt:lpstr>Findings</vt:lpstr>
      <vt:lpstr>Findings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Test Reviews</vt:lpstr>
      <vt:lpstr>Value of Using CR</vt:lpstr>
      <vt:lpstr>References</vt:lpstr>
      <vt:lpstr>Questions and Discussion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vlchrist</dc:creator>
  <cp:lastModifiedBy>Karen  Brooke</cp:lastModifiedBy>
  <cp:revision>342</cp:revision>
  <dcterms:created xsi:type="dcterms:W3CDTF">2012-10-18T14:54:22Z</dcterms:created>
  <dcterms:modified xsi:type="dcterms:W3CDTF">2012-10-18T14:54:58Z</dcterms:modified>
</cp:coreProperties>
</file>