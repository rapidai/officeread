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74" r:id="rId1"/>
  </p:sldMasterIdLst>
  <p:notesMasterIdLst>
    <p:notesMasterId r:id="rId11"/>
  </p:notesMasterIdLst>
  <p:handoutMasterIdLst>
    <p:handoutMasterId r:id="rId12"/>
  </p:handoutMasterIdLst>
  <p:sldIdLst>
    <p:sldId id="408" r:id="rId2"/>
    <p:sldId id="409" r:id="rId3"/>
    <p:sldId id="435" r:id="rId4"/>
    <p:sldId id="434" r:id="rId5"/>
    <p:sldId id="431" r:id="rId6"/>
    <p:sldId id="437" r:id="rId7"/>
    <p:sldId id="436" r:id="rId8"/>
    <p:sldId id="438" r:id="rId9"/>
    <p:sldId id="440" r:id="rId10"/>
  </p:sldIdLst>
  <p:sldSz cx="9144000" cy="6858000" type="screen4x3"/>
  <p:notesSz cx="6881813" cy="9296400"/>
  <p:embeddedFontLst>
    <p:embeddedFont>
      <p:font typeface="Calibri" pitchFamily="34" charset="0"/>
      <p:regular r:id="rId13"/>
      <p:bold r:id="rId14"/>
      <p:italic r:id="rId15"/>
      <p:boldItalic r:id="rId16"/>
    </p:embeddedFont>
    <p:embeddedFont>
      <p:font typeface="Tahoma" pitchFamily="34" charset="0"/>
      <p:regular r:id="rId17"/>
      <p:bold r:id="rId18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itra, Julie Binder" initials="MJB" lastIdx="1" clrIdx="0"/>
  <p:cmAuthor id="1" name="Jennifer Carlino" initials="JC" lastIdx="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 frameSlides="1"/>
  <p:clrMru>
    <a:srgbClr val="006600"/>
    <a:srgbClr val="000000"/>
    <a:srgbClr val="FFCCCC"/>
    <a:srgbClr val="FF7C80"/>
    <a:srgbClr val="6600CC"/>
    <a:srgbClr val="669900"/>
    <a:srgbClr val="FF3300"/>
    <a:srgbClr val="FFFFFF"/>
    <a:srgbClr val="DCE6F2"/>
    <a:srgbClr val="5826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82799" autoAdjust="0"/>
  </p:normalViewPr>
  <p:slideViewPr>
    <p:cSldViewPr>
      <p:cViewPr varScale="1">
        <p:scale>
          <a:sx n="61" d="100"/>
          <a:sy n="61" d="100"/>
        </p:scale>
        <p:origin x="-76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454" y="-90"/>
      </p:cViewPr>
      <p:guideLst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82435" cy="46514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7803" y="1"/>
            <a:ext cx="2982435" cy="46514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2C00F986-2F8A-4AE2-B91A-334198F67665}" type="datetimeFigureOut">
              <a:rPr lang="en-US"/>
              <a:pPr>
                <a:defRPr/>
              </a:pPr>
              <a:t>10/27/2011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62"/>
            <a:ext cx="2982435" cy="4651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7803" y="8829662"/>
            <a:ext cx="2982435" cy="4651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5CAFAC4-D01D-4356-99BB-C981C2AC35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111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82435" cy="465140"/>
          </a:xfrm>
          <a:prstGeom prst="rect">
            <a:avLst/>
          </a:prstGeom>
        </p:spPr>
        <p:txBody>
          <a:bodyPr vert="horz" lIns="92382" tIns="46191" rIns="92382" bIns="4619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803" y="1"/>
            <a:ext cx="2982435" cy="465140"/>
          </a:xfrm>
          <a:prstGeom prst="rect">
            <a:avLst/>
          </a:prstGeom>
        </p:spPr>
        <p:txBody>
          <a:bodyPr vert="horz" lIns="92382" tIns="46191" rIns="92382" bIns="4619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5DC4F77-72AB-4856-9A40-38C0792342C2}" type="datetimeFigureOut">
              <a:rPr lang="en-US"/>
              <a:pPr>
                <a:defRPr/>
              </a:pPr>
              <a:t>10/27/2011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6613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82" tIns="46191" rIns="92382" bIns="46191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497" y="4416430"/>
            <a:ext cx="5504820" cy="4183060"/>
          </a:xfrm>
          <a:prstGeom prst="rect">
            <a:avLst/>
          </a:prstGeom>
        </p:spPr>
        <p:txBody>
          <a:bodyPr vert="horz" lIns="92382" tIns="46191" rIns="92382" bIns="46191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62"/>
            <a:ext cx="2982435" cy="465140"/>
          </a:xfrm>
          <a:prstGeom prst="rect">
            <a:avLst/>
          </a:prstGeom>
        </p:spPr>
        <p:txBody>
          <a:bodyPr vert="horz" lIns="92382" tIns="46191" rIns="92382" bIns="4619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803" y="8829662"/>
            <a:ext cx="2982435" cy="465140"/>
          </a:xfrm>
          <a:prstGeom prst="rect">
            <a:avLst/>
          </a:prstGeom>
        </p:spPr>
        <p:txBody>
          <a:bodyPr vert="horz" lIns="92382" tIns="46191" rIns="92382" bIns="4619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EF9FA86-ADF0-4CD4-B775-0D5E47F2346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2030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There may</a:t>
            </a:r>
            <a:r>
              <a:rPr lang="en-US" baseline="0" dirty="0" smtClean="0"/>
              <a:t> be</a:t>
            </a:r>
            <a:r>
              <a:rPr lang="en-US" dirty="0" smtClean="0"/>
              <a:t> other training and education resources available but we will focus on</a:t>
            </a:r>
            <a:r>
              <a:rPr lang="en-US" baseline="0" dirty="0" smtClean="0"/>
              <a:t> the resources that we (NOAA/NCDDC and FGDC) have worked with.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F9FA86-ADF0-4CD4-B775-0D5E47F23463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F9FA86-ADF0-4CD4-B775-0D5E47F2346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Workbooks for ISO 19115, 19115-2, biological extensions, and 19110</a:t>
            </a:r>
          </a:p>
          <a:p>
            <a:endParaRPr lang="en-US" dirty="0" smtClean="0"/>
          </a:p>
          <a:p>
            <a:r>
              <a:rPr lang="en-US" dirty="0" smtClean="0"/>
              <a:t>FGDC is working</a:t>
            </a:r>
            <a:r>
              <a:rPr lang="en-US" baseline="0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F9FA86-ADF0-4CD4-B775-0D5E47F2346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Global Earth Observation - Integrated Data Environment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F9FA86-ADF0-4CD4-B775-0D5E47F2346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F9FA86-ADF0-4CD4-B775-0D5E47F2346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F9FA86-ADF0-4CD4-B775-0D5E47F2346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F9FA86-ADF0-4CD4-B775-0D5E47F2346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 other online modules that I am aware of, these are a bit outdated</a:t>
            </a:r>
            <a:r>
              <a:rPr lang="en-US" smtClean="0"/>
              <a:t>.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F9FA86-ADF0-4CD4-B775-0D5E47F2346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9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rgbClr val="009900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5" name="Picture 8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04800"/>
            <a:ext cx="3048000" cy="20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201" name="Rectangle 57"/>
          <p:cNvSpPr>
            <a:spLocks noGrp="1" noChangeArrowheads="1"/>
          </p:cNvSpPr>
          <p:nvPr>
            <p:ph type="ctrTitle"/>
          </p:nvPr>
        </p:nvSpPr>
        <p:spPr>
          <a:xfrm>
            <a:off x="838200" y="24384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202" name="Rectangle 5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1905000" y="4038600"/>
            <a:ext cx="6629400" cy="16764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72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73"/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fld id="{70BADF0B-D723-4D8E-889E-E6D182B8D8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10" descr="ident_4_onscreen_png"/>
          <p:cNvPicPr>
            <a:picLocks noChangeAspect="1" noChangeArrowheads="1"/>
          </p:cNvPicPr>
          <p:nvPr userDrawn="1"/>
        </p:nvPicPr>
        <p:blipFill>
          <a:blip r:embed="rId3" cstate="print">
            <a:lum bright="-100000" contrast="-70000"/>
          </a:blip>
          <a:srcRect b="22520"/>
          <a:stretch>
            <a:fillRect/>
          </a:stretch>
        </p:blipFill>
        <p:spPr bwMode="auto">
          <a:xfrm>
            <a:off x="457200" y="6248400"/>
            <a:ext cx="121920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9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rgbClr val="009900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5" name="Picture 8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04800"/>
            <a:ext cx="3048000" cy="20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201" name="Rectangle 57"/>
          <p:cNvSpPr>
            <a:spLocks noGrp="1" noChangeArrowheads="1"/>
          </p:cNvSpPr>
          <p:nvPr>
            <p:ph type="ctrTitle"/>
          </p:nvPr>
        </p:nvSpPr>
        <p:spPr>
          <a:xfrm>
            <a:off x="838200" y="24384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202" name="Rectangle 5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1905000" y="4038600"/>
            <a:ext cx="6629400" cy="16764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72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73"/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fld id="{70BADF0B-D723-4D8E-889E-E6D182B8D8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2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534400" cy="838200"/>
          </a:xfrm>
        </p:spPr>
        <p:txBody>
          <a:bodyPr/>
          <a:lstStyle>
            <a:lvl1pPr>
              <a:defRPr sz="3200" b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534400" cy="49530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457200" y="1066800"/>
            <a:ext cx="8686800" cy="76200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rgbClr val="00B05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7" name="Rectangle 73"/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4343400" y="6248400"/>
            <a:ext cx="4572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fld id="{70BADF0B-D723-4D8E-889E-E6D182B8D8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1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1000" y="-76200"/>
            <a:ext cx="8534400" cy="838200"/>
          </a:xfrm>
        </p:spPr>
        <p:txBody>
          <a:bodyPr/>
          <a:lstStyle>
            <a:lvl1pPr>
              <a:defRPr sz="4000"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8534400" cy="51816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457200" y="762000"/>
            <a:ext cx="8686800" cy="76200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rgbClr val="00B05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8" name="Rectangle 73"/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4343400" y="6248400"/>
            <a:ext cx="4572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fld id="{70BADF0B-D723-4D8E-889E-E6D182B8D8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- 1line sm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7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343400" y="6248400"/>
            <a:ext cx="4572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fld id="{70BADF0B-D723-4D8E-889E-E6D182B8D8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0" y="0"/>
            <a:ext cx="9144000" cy="152400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rgbClr val="00B05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-76200"/>
            <a:ext cx="8534400" cy="838200"/>
          </a:xfrm>
        </p:spPr>
        <p:txBody>
          <a:bodyPr/>
          <a:lstStyle>
            <a:lvl1pPr>
              <a:defRPr sz="4000"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457200" y="762000"/>
            <a:ext cx="8686800" cy="76200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rgbClr val="00B05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pic>
        <p:nvPicPr>
          <p:cNvPr id="8" name="Picture 80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172200"/>
            <a:ext cx="10287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8534400" cy="51816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 - 1line sm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7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343400" y="6248400"/>
            <a:ext cx="4572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fld id="{70BADF0B-D723-4D8E-889E-E6D182B8D8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0" y="0"/>
            <a:ext cx="9144000" cy="152400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rgbClr val="00B05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534400" cy="838200"/>
          </a:xfrm>
        </p:spPr>
        <p:txBody>
          <a:bodyPr/>
          <a:lstStyle>
            <a:lvl1pPr>
              <a:defRPr sz="4000"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457200" y="762000"/>
            <a:ext cx="8686800" cy="76200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rgbClr val="00B05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pic>
        <p:nvPicPr>
          <p:cNvPr id="8" name="Picture 80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172200"/>
            <a:ext cx="10287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381000" y="9906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343400" y="9906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1000" y="-76200"/>
            <a:ext cx="8534400" cy="838200"/>
          </a:xfrm>
        </p:spPr>
        <p:txBody>
          <a:bodyPr/>
          <a:lstStyle>
            <a:lvl1pPr>
              <a:defRPr sz="4000"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457200" y="762000"/>
            <a:ext cx="8686800" cy="76200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rgbClr val="00B05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/larg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7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343400" y="6248400"/>
            <a:ext cx="4572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fld id="{70BADF0B-D723-4D8E-889E-E6D182B8D8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w/pg#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7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343400" y="6248400"/>
            <a:ext cx="4572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fld id="{70BADF0B-D723-4D8E-889E-E6D182B8D8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0" y="0"/>
            <a:ext cx="9144000" cy="152400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rgbClr val="00B05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/titl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7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343400" y="6248400"/>
            <a:ext cx="4572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fld id="{70BADF0B-D723-4D8E-889E-E6D182B8D8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0" y="0"/>
            <a:ext cx="9144000" cy="152400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rgbClr val="00B05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-76200"/>
            <a:ext cx="8534400" cy="838200"/>
          </a:xfrm>
        </p:spPr>
        <p:txBody>
          <a:bodyPr/>
          <a:lstStyle>
            <a:lvl1pPr>
              <a:defRPr sz="4000"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457200" y="762000"/>
            <a:ext cx="8686800" cy="76200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rgbClr val="00B05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/title bar sm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7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343400" y="6248400"/>
            <a:ext cx="4572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fld id="{70BADF0B-D723-4D8E-889E-E6D182B8D8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0" y="0"/>
            <a:ext cx="9144000" cy="152400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rgbClr val="00B05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-76200"/>
            <a:ext cx="8534400" cy="838200"/>
          </a:xfrm>
        </p:spPr>
        <p:txBody>
          <a:bodyPr/>
          <a:lstStyle>
            <a:lvl1pPr>
              <a:defRPr sz="4000"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457200" y="762000"/>
            <a:ext cx="8686800" cy="76200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rgbClr val="00B05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pic>
        <p:nvPicPr>
          <p:cNvPr id="8" name="Picture 80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172200"/>
            <a:ext cx="10287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304800"/>
            <a:ext cx="2019300" cy="5562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905500" cy="5562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Rectangle 57"/>
          <p:cNvSpPr>
            <a:spLocks noChangeArrowheads="1"/>
          </p:cNvSpPr>
          <p:nvPr/>
        </p:nvSpPr>
        <p:spPr bwMode="ltGray">
          <a:xfrm>
            <a:off x="0" y="0"/>
            <a:ext cx="9144000" cy="1524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rgbClr val="0099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80772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pic>
        <p:nvPicPr>
          <p:cNvPr id="1032" name="Picture 76"/>
          <p:cNvPicPr>
            <a:picLocks noChangeAspect="1" noChangeArrowheads="1"/>
          </p:cNvPicPr>
          <p:nvPr userDrawn="1"/>
        </p:nvPicPr>
        <p:blipFill>
          <a:blip r:embed="rId22" cstate="print"/>
          <a:srcRect/>
          <a:stretch>
            <a:fillRect/>
          </a:stretch>
        </p:blipFill>
        <p:spPr bwMode="auto">
          <a:xfrm>
            <a:off x="76200" y="5759450"/>
            <a:ext cx="1647825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75" r:id="rId2"/>
    <p:sldLayoutId id="2147483694" r:id="rId3"/>
    <p:sldLayoutId id="2147483676" r:id="rId4"/>
    <p:sldLayoutId id="2147483688" r:id="rId5"/>
    <p:sldLayoutId id="2147483692" r:id="rId6"/>
    <p:sldLayoutId id="2147483677" r:id="rId7"/>
    <p:sldLayoutId id="2147483693" r:id="rId8"/>
    <p:sldLayoutId id="2147483678" r:id="rId9"/>
    <p:sldLayoutId id="2147483679" r:id="rId10"/>
    <p:sldLayoutId id="2147483680" r:id="rId11"/>
    <p:sldLayoutId id="2147483681" r:id="rId12"/>
    <p:sldLayoutId id="2147483689" r:id="rId13"/>
    <p:sldLayoutId id="2147483690" r:id="rId14"/>
    <p:sldLayoutId id="2147483691" r:id="rId15"/>
    <p:sldLayoutId id="2147483682" r:id="rId16"/>
    <p:sldLayoutId id="2147483683" r:id="rId17"/>
    <p:sldLayoutId id="2147483684" r:id="rId18"/>
    <p:sldLayoutId id="2147483685" r:id="rId19"/>
    <p:sldLayoutId id="2147483686" r:id="rId20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23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gdc.gov/calendar/month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hyperlink" Target="http://www.ncddc.noaa.gov/metadata-standards/metadata-training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ncddcmetadata@noaa.gov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hyperlink" Target="mailto:ncddcmetadata@noaa.gov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Training and Education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Jaci Mize</a:t>
            </a:r>
          </a:p>
          <a:p>
            <a:r>
              <a:rPr lang="en-US" dirty="0" smtClean="0"/>
              <a:t>NOAA/NESDIS/NODC/NCDDC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Training and Education</a:t>
            </a:r>
          </a:p>
        </p:txBody>
      </p:sp>
      <p:sp>
        <p:nvSpPr>
          <p:cNvPr id="9219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381000" y="914399"/>
            <a:ext cx="8534400" cy="4876801"/>
          </a:xfrm>
        </p:spPr>
        <p:txBody>
          <a:bodyPr>
            <a:normAutofit/>
          </a:bodyPr>
          <a:lstStyle/>
          <a:p>
            <a:r>
              <a:rPr lang="en-US" dirty="0" smtClean="0"/>
              <a:t>What Training Resources are Available?</a:t>
            </a:r>
          </a:p>
          <a:p>
            <a:pPr lvl="1"/>
            <a:r>
              <a:rPr lang="en-US" dirty="0" smtClean="0"/>
              <a:t>Resources and Guidance Docs</a:t>
            </a:r>
          </a:p>
          <a:p>
            <a:pPr lvl="1"/>
            <a:r>
              <a:rPr lang="en-US" dirty="0" smtClean="0"/>
              <a:t>Workshops</a:t>
            </a:r>
          </a:p>
          <a:p>
            <a:pPr lvl="1"/>
            <a:r>
              <a:rPr lang="en-US" dirty="0" smtClean="0"/>
              <a:t>Presentations and Materials</a:t>
            </a:r>
          </a:p>
          <a:p>
            <a:pPr lvl="1"/>
            <a:r>
              <a:rPr lang="en-US" dirty="0" smtClean="0"/>
              <a:t>Online Lessons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Guidance Documents</a:t>
            </a:r>
          </a:p>
        </p:txBody>
      </p:sp>
      <p:sp>
        <p:nvSpPr>
          <p:cNvPr id="9219" name="Content Placeholder 2" descr="Rectangle: Click to edit Master text styles&#10;Second level&#10;Third level&#10;Fourth level&#10;Fifth level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Guidance document for preparing for International metadata</a:t>
            </a:r>
          </a:p>
          <a:p>
            <a:pPr lvl="1"/>
            <a:r>
              <a:rPr lang="en-US" dirty="0" smtClean="0"/>
              <a:t>Tips for preparing your FGDC metadata to more easily migrate to ISO</a:t>
            </a:r>
          </a:p>
        </p:txBody>
      </p:sp>
      <p:pic>
        <p:nvPicPr>
          <p:cNvPr id="10" name="Picture 9" descr="captured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95800" y="914400"/>
            <a:ext cx="4257675" cy="55721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0" y="5181600"/>
            <a:ext cx="449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http://www.fgdc.gov/metadata/documents/csdgm-to-nap-transition-guidance.pdf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aptured1.jpg"/>
          <p:cNvPicPr>
            <a:picLocks noChangeAspect="1"/>
          </p:cNvPicPr>
          <p:nvPr/>
        </p:nvPicPr>
        <p:blipFill>
          <a:blip r:embed="rId3" cstate="print"/>
          <a:srcRect r="2090"/>
          <a:stretch>
            <a:fillRect/>
          </a:stretch>
        </p:blipFill>
        <p:spPr>
          <a:xfrm>
            <a:off x="4419600" y="916543"/>
            <a:ext cx="2514600" cy="32744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ISO Workbooks</a:t>
            </a:r>
          </a:p>
        </p:txBody>
      </p:sp>
      <p:sp>
        <p:nvSpPr>
          <p:cNvPr id="9219" name="Content Placeholder 2" descr="Rectangle: Click to edit Master text styles&#10;Second level&#10;Third level&#10;Fourth level&#10;Fifth level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Parallels the standards</a:t>
            </a:r>
          </a:p>
          <a:p>
            <a:r>
              <a:rPr lang="en-US" dirty="0" smtClean="0"/>
              <a:t>Provides FAQs</a:t>
            </a:r>
          </a:p>
          <a:p>
            <a:r>
              <a:rPr lang="en-US" dirty="0" smtClean="0"/>
              <a:t>Implementation Guides</a:t>
            </a:r>
          </a:p>
          <a:p>
            <a:pPr lvl="1"/>
            <a:r>
              <a:rPr lang="en-US" dirty="0" smtClean="0"/>
              <a:t>Includes best practices for NAP implementation</a:t>
            </a:r>
          </a:p>
          <a:p>
            <a:r>
              <a:rPr lang="en-US" dirty="0" smtClean="0"/>
              <a:t>Provides names and definitions</a:t>
            </a:r>
          </a:p>
          <a:p>
            <a:r>
              <a:rPr lang="en-US" dirty="0" smtClean="0"/>
              <a:t>Describes domain values</a:t>
            </a:r>
          </a:p>
          <a:p>
            <a:r>
              <a:rPr lang="en-US" dirty="0" smtClean="0"/>
              <a:t>Uses UML and another Graphical Representation of the production rules</a:t>
            </a:r>
          </a:p>
        </p:txBody>
      </p:sp>
      <p:pic>
        <p:nvPicPr>
          <p:cNvPr id="8" name="Picture 7" descr="captured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486400" y="2133600"/>
            <a:ext cx="2540487" cy="32765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 descr="captured3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553200" y="3534707"/>
            <a:ext cx="2514599" cy="32470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1524000" y="5867400"/>
            <a:ext cx="48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http://www.ncddc.noaa.gov/metadata-standards/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Wiki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590800" y="6248400"/>
            <a:ext cx="6248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https://geo-ide.noaa.gov/wiki/index.php?title=Main_Page</a:t>
            </a:r>
            <a:endParaRPr lang="en-US" dirty="0"/>
          </a:p>
        </p:txBody>
      </p:sp>
      <p:pic>
        <p:nvPicPr>
          <p:cNvPr id="11" name="Content Placeholder 10" descr="captured1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050498" y="1219200"/>
            <a:ext cx="7195403" cy="4953000"/>
          </a:xfrm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Workshops</a:t>
            </a:r>
          </a:p>
        </p:txBody>
      </p:sp>
      <p:sp>
        <p:nvSpPr>
          <p:cNvPr id="9219" name="Content Placeholder 2" descr="Rectangle: Click to edit Master text styles&#10;Second level&#10;Third level&#10;Fourth level&#10;Fifth level"/>
          <p:cNvSpPr>
            <a:spLocks noGrp="1"/>
          </p:cNvSpPr>
          <p:nvPr>
            <p:ph sz="half" idx="1"/>
          </p:nvPr>
        </p:nvSpPr>
        <p:spPr>
          <a:xfrm>
            <a:off x="381000" y="990600"/>
            <a:ext cx="4876800" cy="5029200"/>
          </a:xfrm>
        </p:spPr>
        <p:txBody>
          <a:bodyPr>
            <a:normAutofit/>
          </a:bodyPr>
          <a:lstStyle/>
          <a:p>
            <a:r>
              <a:rPr lang="en-US" dirty="0" smtClean="0"/>
              <a:t>FGDC Event Calendar</a:t>
            </a:r>
          </a:p>
          <a:p>
            <a:pPr lvl="1"/>
            <a:r>
              <a:rPr lang="en-US" sz="2300" dirty="0" smtClean="0">
                <a:hlinkClick r:id="rId3"/>
              </a:rPr>
              <a:t>http://www.fgdc.gov/calendar/month</a:t>
            </a:r>
            <a:endParaRPr lang="en-US" sz="2300" dirty="0" smtClean="0"/>
          </a:p>
          <a:p>
            <a:r>
              <a:rPr lang="en-US" dirty="0" smtClean="0"/>
              <a:t>NCDDC Training Page</a:t>
            </a:r>
          </a:p>
          <a:p>
            <a:pPr lvl="1"/>
            <a:r>
              <a:rPr lang="en-US" dirty="0" smtClean="0">
                <a:hlinkClick r:id="rId4"/>
              </a:rPr>
              <a:t>http://www.ncddc.noaa.gov/metadata-standards/metadata-training/</a:t>
            </a:r>
            <a:endParaRPr lang="en-US" dirty="0" smtClean="0"/>
          </a:p>
          <a:p>
            <a:r>
              <a:rPr lang="en-US" dirty="0" smtClean="0"/>
              <a:t>NGDC Training</a:t>
            </a:r>
          </a:p>
          <a:p>
            <a:pPr lvl="1"/>
            <a:r>
              <a:rPr lang="en-US" dirty="0" smtClean="0"/>
              <a:t>Email: Ted.Habermann@noaa.gov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48350" y="2133600"/>
            <a:ext cx="2838450" cy="281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Presentations</a:t>
            </a:r>
          </a:p>
        </p:txBody>
      </p:sp>
      <p:sp>
        <p:nvSpPr>
          <p:cNvPr id="9219" name="Content Placeholder 2" descr="Rectangle: Click to edit Master text styles&#10;Second level&#10;Third level&#10;Fourth level&#10;Fifth level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Modules</a:t>
            </a:r>
          </a:p>
          <a:p>
            <a:pPr lvl="1"/>
            <a:r>
              <a:rPr lang="en-US" dirty="0" smtClean="0"/>
              <a:t>Transitioning 101</a:t>
            </a:r>
          </a:p>
          <a:p>
            <a:pPr lvl="1"/>
            <a:r>
              <a:rPr lang="en-US" dirty="0" smtClean="0"/>
              <a:t>ISO Organization and Content Overview</a:t>
            </a:r>
          </a:p>
          <a:p>
            <a:pPr lvl="1"/>
            <a:r>
              <a:rPr lang="en-US" dirty="0" smtClean="0"/>
              <a:t>XML Basics</a:t>
            </a:r>
          </a:p>
          <a:p>
            <a:pPr lvl="1"/>
            <a:r>
              <a:rPr lang="en-US" dirty="0" smtClean="0"/>
              <a:t>UML Basics</a:t>
            </a:r>
          </a:p>
          <a:p>
            <a:pPr lvl="1"/>
            <a:r>
              <a:rPr lang="en-US" dirty="0" smtClean="0"/>
              <a:t>ISO Workbook – Detailed Content</a:t>
            </a:r>
          </a:p>
          <a:p>
            <a:pPr lvl="1"/>
            <a:r>
              <a:rPr lang="en-US" dirty="0" smtClean="0"/>
              <a:t>Tools</a:t>
            </a:r>
          </a:p>
          <a:p>
            <a:pPr lvl="1"/>
            <a:r>
              <a:rPr lang="en-US" dirty="0" smtClean="0"/>
              <a:t>Creation Methods</a:t>
            </a:r>
          </a:p>
          <a:p>
            <a:pPr lvl="1"/>
            <a:r>
              <a:rPr lang="en-US" dirty="0" smtClean="0"/>
              <a:t>Validation</a:t>
            </a:r>
          </a:p>
          <a:p>
            <a:pPr lvl="1"/>
            <a:r>
              <a:rPr lang="en-US" dirty="0" smtClean="0"/>
              <a:t>Advanced Topics</a:t>
            </a:r>
          </a:p>
          <a:p>
            <a:pPr lvl="2"/>
            <a:r>
              <a:rPr lang="en-US" dirty="0" smtClean="0"/>
              <a:t>Special Problems</a:t>
            </a:r>
          </a:p>
          <a:p>
            <a:pPr lvl="2"/>
            <a:r>
              <a:rPr lang="en-US" dirty="0" smtClean="0"/>
              <a:t>Hierarchical Metadata</a:t>
            </a:r>
          </a:p>
          <a:p>
            <a:pPr lvl="2"/>
            <a:r>
              <a:rPr lang="en-US" dirty="0" smtClean="0"/>
              <a:t>Publishing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0" y="6096000"/>
            <a:ext cx="426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Email: </a:t>
            </a:r>
            <a:r>
              <a:rPr lang="en-US" dirty="0" smtClean="0">
                <a:hlinkClick r:id="rId3"/>
              </a:rPr>
              <a:t>ncddcmetadata@noaa.gov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6" name="Picture 5" descr="captured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085400" y="1752600"/>
            <a:ext cx="4753800" cy="34956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Training Materials</a:t>
            </a:r>
          </a:p>
        </p:txBody>
      </p:sp>
      <p:sp>
        <p:nvSpPr>
          <p:cNvPr id="9219" name="Content Placeholder 2" descr="Rectangle: Click to edit Master text styles&#10;Second level&#10;Third level&#10;Fourth level&#10;Fifth level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Curriculum</a:t>
            </a:r>
          </a:p>
          <a:p>
            <a:r>
              <a:rPr lang="en-US" dirty="0" smtClean="0"/>
              <a:t>Lesson plans</a:t>
            </a:r>
          </a:p>
          <a:p>
            <a:r>
              <a:rPr lang="en-US" dirty="0" smtClean="0"/>
              <a:t>Exercises</a:t>
            </a:r>
          </a:p>
          <a:p>
            <a:r>
              <a:rPr lang="en-US" dirty="0" smtClean="0"/>
              <a:t>Handouts</a:t>
            </a:r>
          </a:p>
          <a:p>
            <a:r>
              <a:rPr lang="en-US" dirty="0" smtClean="0"/>
              <a:t>Sample Metadata</a:t>
            </a:r>
          </a:p>
          <a:p>
            <a:r>
              <a:rPr lang="en-US" dirty="0" smtClean="0"/>
              <a:t>Evaluations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0894" y="2147047"/>
            <a:ext cx="2838450" cy="281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743200" y="5715000"/>
            <a:ext cx="662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Email: </a:t>
            </a:r>
            <a:r>
              <a:rPr lang="en-US" dirty="0" smtClean="0">
                <a:hlinkClick r:id="rId4"/>
              </a:rPr>
              <a:t>ncddcmetadata@noaa.gov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Online Lessons 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North American Profile Development for ISO 19115 Geospatial Metadata</a:t>
            </a:r>
          </a:p>
          <a:p>
            <a:pPr lvl="1"/>
            <a:r>
              <a:rPr lang="en-US" dirty="0" smtClean="0"/>
              <a:t>An overview of US and Canadian efforts to adapt and implement the International Standardization Organization (ISO) geospatial metadata standard for use by the North American geospatial community</a:t>
            </a:r>
          </a:p>
          <a:p>
            <a:pPr lvl="1"/>
            <a:r>
              <a:rPr lang="en-US" dirty="0" smtClean="0"/>
              <a:t>http://www.fgdc.gov/training/nsdi-training-program/materials/ISONAPDevelopment_20100604.pdf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BADF0B-D723-4D8E-889E-E6D182B8D80A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GDC">
  <a:themeElements>
    <a:clrScheme name="FGDC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FGDC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FGDC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GDC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DC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DC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DC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GDC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GDC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GDC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6578</TotalTime>
  <Words>273</Words>
  <Application>Microsoft Office PowerPoint</Application>
  <PresentationFormat>On-screen Show (4:3)</PresentationFormat>
  <Paragraphs>73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Wingdings</vt:lpstr>
      <vt:lpstr>Calibri</vt:lpstr>
      <vt:lpstr>Tahoma</vt:lpstr>
      <vt:lpstr>FGDC</vt:lpstr>
      <vt:lpstr>Training and Education</vt:lpstr>
      <vt:lpstr>Training and Education</vt:lpstr>
      <vt:lpstr>Guidance Documents</vt:lpstr>
      <vt:lpstr>ISO Workbooks</vt:lpstr>
      <vt:lpstr>Wiki</vt:lpstr>
      <vt:lpstr>Workshops</vt:lpstr>
      <vt:lpstr>Presentations</vt:lpstr>
      <vt:lpstr>Other Training Materials</vt:lpstr>
      <vt:lpstr>Online Lessons </vt:lpstr>
    </vt:vector>
  </TitlesOfParts>
  <Company>U.S. Geological Survey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Ken Shaffer</dc:creator>
  <cp:lastModifiedBy>Hutchison, Vivian B.</cp:lastModifiedBy>
  <cp:revision>501</cp:revision>
  <cp:lastPrinted>2009-07-06T11:47:35Z</cp:lastPrinted>
  <dcterms:created xsi:type="dcterms:W3CDTF">2011-09-25T23:37:58Z</dcterms:created>
  <dcterms:modified xsi:type="dcterms:W3CDTF">2011-10-27T12:07:45Z</dcterms:modified>
  <cp:contentStatus>Final</cp:contentStatus>
</cp:coreProperties>
</file>