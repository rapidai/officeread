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12.xml" ContentType="application/vnd.openxmlformats-officedocument.presentationml.notesSlide+xml"/>
  <Override PartName="/ppt/slides/slide99.xml" ContentType="application/vnd.openxmlformats-officedocument.presentationml.slide+xml"/>
  <Default Extension="xlsx" ContentType="application/vnd.openxmlformats-officedocument.spreadsheetml.sheet"/>
  <Override PartName="/ppt/charts/chart3.xml" ContentType="application/vnd.openxmlformats-officedocument.drawingml.chart+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ppt/charts/chart2.xml" ContentType="application/vnd.openxmlformats-officedocument.drawingml.chart+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Override PartName="/ppt/notesSlides/notesSlide18.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slides/slide79.xml" ContentType="application/vnd.openxmlformats-officedocument.presentationml.slide+xml"/>
  <Override PartName="/ppt/slides/slide10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Layouts/slideLayout9.xml" ContentType="application/vnd.openxmlformats-officedocument.presentationml.slideLayout+xml"/>
  <Override PartName="/ppt/charts/chart1.xml" ContentType="application/vnd.openxmlformats-officedocument.drawingml.char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118"/>
  </p:notesMasterIdLst>
  <p:sldIdLst>
    <p:sldId id="311" r:id="rId2"/>
    <p:sldId id="312" r:id="rId3"/>
    <p:sldId id="313" r:id="rId4"/>
    <p:sldId id="314" r:id="rId5"/>
    <p:sldId id="315" r:id="rId6"/>
    <p:sldId id="316" r:id="rId7"/>
    <p:sldId id="317" r:id="rId8"/>
    <p:sldId id="318" r:id="rId9"/>
    <p:sldId id="319" r:id="rId10"/>
    <p:sldId id="320" r:id="rId11"/>
    <p:sldId id="321" r:id="rId12"/>
    <p:sldId id="322" r:id="rId13"/>
    <p:sldId id="361" r:id="rId14"/>
    <p:sldId id="323" r:id="rId15"/>
    <p:sldId id="362" r:id="rId16"/>
    <p:sldId id="363" r:id="rId17"/>
    <p:sldId id="364" r:id="rId18"/>
    <p:sldId id="365" r:id="rId19"/>
    <p:sldId id="366" r:id="rId20"/>
    <p:sldId id="324" r:id="rId21"/>
    <p:sldId id="382" r:id="rId22"/>
    <p:sldId id="383" r:id="rId23"/>
    <p:sldId id="326" r:id="rId24"/>
    <p:sldId id="327" r:id="rId25"/>
    <p:sldId id="328" r:id="rId26"/>
    <p:sldId id="329" r:id="rId27"/>
    <p:sldId id="257" r:id="rId28"/>
    <p:sldId id="259" r:id="rId29"/>
    <p:sldId id="260" r:id="rId30"/>
    <p:sldId id="261" r:id="rId31"/>
    <p:sldId id="262" r:id="rId32"/>
    <p:sldId id="258" r:id="rId33"/>
    <p:sldId id="263" r:id="rId34"/>
    <p:sldId id="264" r:id="rId35"/>
    <p:sldId id="265" r:id="rId36"/>
    <p:sldId id="266" r:id="rId37"/>
    <p:sldId id="267" r:id="rId38"/>
    <p:sldId id="268" r:id="rId39"/>
    <p:sldId id="296" r:id="rId40"/>
    <p:sldId id="297" r:id="rId41"/>
    <p:sldId id="367" r:id="rId42"/>
    <p:sldId id="368" r:id="rId43"/>
    <p:sldId id="273" r:id="rId44"/>
    <p:sldId id="274" r:id="rId45"/>
    <p:sldId id="275" r:id="rId46"/>
    <p:sldId id="276" r:id="rId47"/>
    <p:sldId id="277" r:id="rId48"/>
    <p:sldId id="271" r:id="rId49"/>
    <p:sldId id="282" r:id="rId50"/>
    <p:sldId id="298" r:id="rId51"/>
    <p:sldId id="278" r:id="rId52"/>
    <p:sldId id="369" r:id="rId53"/>
    <p:sldId id="294" r:id="rId54"/>
    <p:sldId id="358" r:id="rId55"/>
    <p:sldId id="359" r:id="rId56"/>
    <p:sldId id="299" r:id="rId57"/>
    <p:sldId id="281" r:id="rId58"/>
    <p:sldId id="283" r:id="rId59"/>
    <p:sldId id="284" r:id="rId60"/>
    <p:sldId id="285" r:id="rId61"/>
    <p:sldId id="286" r:id="rId62"/>
    <p:sldId id="287" r:id="rId63"/>
    <p:sldId id="290" r:id="rId64"/>
    <p:sldId id="291" r:id="rId65"/>
    <p:sldId id="292" r:id="rId66"/>
    <p:sldId id="293" r:id="rId67"/>
    <p:sldId id="300" r:id="rId68"/>
    <p:sldId id="301" r:id="rId69"/>
    <p:sldId id="302" r:id="rId70"/>
    <p:sldId id="288" r:id="rId71"/>
    <p:sldId id="289" r:id="rId72"/>
    <p:sldId id="303" r:id="rId73"/>
    <p:sldId id="304" r:id="rId74"/>
    <p:sldId id="305" r:id="rId75"/>
    <p:sldId id="306" r:id="rId76"/>
    <p:sldId id="307" r:id="rId77"/>
    <p:sldId id="308" r:id="rId78"/>
    <p:sldId id="360" r:id="rId79"/>
    <p:sldId id="310"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70" r:id="rId100"/>
    <p:sldId id="350" r:id="rId101"/>
    <p:sldId id="371" r:id="rId102"/>
    <p:sldId id="372" r:id="rId103"/>
    <p:sldId id="351" r:id="rId104"/>
    <p:sldId id="352" r:id="rId105"/>
    <p:sldId id="353" r:id="rId106"/>
    <p:sldId id="373" r:id="rId107"/>
    <p:sldId id="355" r:id="rId108"/>
    <p:sldId id="356" r:id="rId109"/>
    <p:sldId id="357" r:id="rId110"/>
    <p:sldId id="374" r:id="rId111"/>
    <p:sldId id="381" r:id="rId112"/>
    <p:sldId id="380" r:id="rId113"/>
    <p:sldId id="375" r:id="rId114"/>
    <p:sldId id="376" r:id="rId115"/>
    <p:sldId id="377" r:id="rId116"/>
    <p:sldId id="379" r:id="rId1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xmlns="">
        <p14:section name="Default Section" id="{29B1E0EC-E35B-4B38-9F6C-7C943B88B6F5}">
          <p14:sldIdLst>
            <p14:sldId id="311"/>
            <p14:sldId id="312"/>
            <p14:sldId id="313"/>
            <p14:sldId id="314"/>
            <p14:sldId id="315"/>
            <p14:sldId id="316"/>
            <p14:sldId id="317"/>
            <p14:sldId id="318"/>
            <p14:sldId id="319"/>
            <p14:sldId id="320"/>
            <p14:sldId id="321"/>
            <p14:sldId id="322"/>
            <p14:sldId id="361"/>
            <p14:sldId id="323"/>
            <p14:sldId id="362"/>
            <p14:sldId id="363"/>
            <p14:sldId id="364"/>
            <p14:sldId id="365"/>
            <p14:sldId id="366"/>
            <p14:sldId id="324"/>
            <p14:sldId id="382"/>
            <p14:sldId id="383"/>
            <p14:sldId id="326"/>
            <p14:sldId id="327"/>
            <p14:sldId id="328"/>
            <p14:sldId id="329"/>
            <p14:sldId id="257"/>
            <p14:sldId id="259"/>
            <p14:sldId id="260"/>
            <p14:sldId id="261"/>
            <p14:sldId id="262"/>
            <p14:sldId id="258"/>
            <p14:sldId id="263"/>
            <p14:sldId id="264"/>
            <p14:sldId id="265"/>
            <p14:sldId id="266"/>
            <p14:sldId id="267"/>
            <p14:sldId id="268"/>
            <p14:sldId id="296"/>
            <p14:sldId id="297"/>
            <p14:sldId id="367"/>
            <p14:sldId id="368"/>
            <p14:sldId id="273"/>
            <p14:sldId id="274"/>
            <p14:sldId id="275"/>
            <p14:sldId id="276"/>
            <p14:sldId id="277"/>
            <p14:sldId id="271"/>
            <p14:sldId id="282"/>
            <p14:sldId id="298"/>
            <p14:sldId id="278"/>
            <p14:sldId id="369"/>
            <p14:sldId id="294"/>
            <p14:sldId id="358"/>
            <p14:sldId id="359"/>
            <p14:sldId id="299"/>
            <p14:sldId id="281"/>
            <p14:sldId id="283"/>
            <p14:sldId id="284"/>
            <p14:sldId id="285"/>
            <p14:sldId id="286"/>
            <p14:sldId id="287"/>
            <p14:sldId id="290"/>
            <p14:sldId id="291"/>
            <p14:sldId id="292"/>
            <p14:sldId id="293"/>
            <p14:sldId id="300"/>
            <p14:sldId id="301"/>
            <p14:sldId id="302"/>
            <p14:sldId id="288"/>
            <p14:sldId id="289"/>
            <p14:sldId id="303"/>
            <p14:sldId id="304"/>
            <p14:sldId id="305"/>
            <p14:sldId id="306"/>
            <p14:sldId id="307"/>
            <p14:sldId id="308"/>
            <p14:sldId id="360"/>
            <p14:sldId id="310"/>
            <p14:sldId id="330"/>
            <p14:sldId id="331"/>
            <p14:sldId id="332"/>
            <p14:sldId id="333"/>
            <p14:sldId id="334"/>
            <p14:sldId id="335"/>
            <p14:sldId id="336"/>
            <p14:sldId id="337"/>
            <p14:sldId id="338"/>
            <p14:sldId id="339"/>
            <p14:sldId id="340"/>
            <p14:sldId id="341"/>
            <p14:sldId id="342"/>
            <p14:sldId id="343"/>
            <p14:sldId id="344"/>
            <p14:sldId id="345"/>
            <p14:sldId id="346"/>
            <p14:sldId id="347"/>
            <p14:sldId id="348"/>
            <p14:sldId id="370"/>
            <p14:sldId id="350"/>
            <p14:sldId id="371"/>
            <p14:sldId id="372"/>
            <p14:sldId id="351"/>
            <p14:sldId id="352"/>
            <p14:sldId id="353"/>
            <p14:sldId id="373"/>
            <p14:sldId id="355"/>
            <p14:sldId id="356"/>
            <p14:sldId id="357"/>
            <p14:sldId id="374"/>
            <p14:sldId id="381"/>
            <p14:sldId id="380"/>
            <p14:sldId id="375"/>
            <p14:sldId id="376"/>
            <p14:sldId id="377"/>
            <p14:sldId id="37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208" autoAdjust="0"/>
  </p:normalViewPr>
  <p:slideViewPr>
    <p:cSldViewPr>
      <p:cViewPr>
        <p:scale>
          <a:sx n="77" d="100"/>
          <a:sy n="77" d="100"/>
        </p:scale>
        <p:origin x="-954" y="-216"/>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Office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Office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Office_Excel_Worksheet3.xlsx"/></Relationships>
</file>

<file path=ppt/charts/chart1.xml><?xml version="1.0" encoding="utf-8"?>
<c:chartSpace xmlns:c="http://schemas.openxmlformats.org/drawingml/2006/chart" xmlns:a="http://schemas.openxmlformats.org/drawingml/2006/main" xmlns:r="http://schemas.openxmlformats.org/officeDocument/2006/relationships">
  <c:lang val="en-US"/>
  <c:chart>
    <c:title>
      <c:tx>
        <c:rich>
          <a:bodyPr/>
          <a:lstStyle/>
          <a:p>
            <a:pPr>
              <a:defRPr/>
            </a:pPr>
            <a:r>
              <a:rPr lang="en-CA" dirty="0"/>
              <a:t>2005-2010 Morgan Stanley Annual </a:t>
            </a:r>
            <a:r>
              <a:rPr lang="en-CA" dirty="0" smtClean="0"/>
              <a:t>Revenue</a:t>
            </a:r>
          </a:p>
          <a:p>
            <a:pPr>
              <a:defRPr/>
            </a:pPr>
            <a:r>
              <a:rPr lang="en-CA" dirty="0" smtClean="0"/>
              <a:t>(Million</a:t>
            </a:r>
            <a:r>
              <a:rPr lang="en-CA" baseline="0" dirty="0" smtClean="0"/>
              <a:t> $)</a:t>
            </a:r>
            <a:endParaRPr lang="en-CA" dirty="0"/>
          </a:p>
        </c:rich>
      </c:tx>
      <c:layout/>
    </c:title>
    <c:plotArea>
      <c:layout/>
      <c:barChart>
        <c:barDir val="col"/>
        <c:grouping val="clustered"/>
        <c:ser>
          <c:idx val="0"/>
          <c:order val="0"/>
          <c:tx>
            <c:strRef>
              <c:f>Sheet1!$B$1</c:f>
              <c:strCache>
                <c:ptCount val="1"/>
                <c:pt idx="0">
                  <c:v>2005-2010 Morgan Stanley Annual Revenue</c:v>
                </c:pt>
              </c:strCache>
            </c:strRef>
          </c:tx>
          <c:cat>
            <c:numRef>
              <c:f>Sheet1!$A$2:$A$6</c:f>
              <c:numCache>
                <c:formatCode>General</c:formatCode>
                <c:ptCount val="5"/>
                <c:pt idx="0">
                  <c:v>2006</c:v>
                </c:pt>
                <c:pt idx="1">
                  <c:v>2007</c:v>
                </c:pt>
                <c:pt idx="2">
                  <c:v>2008</c:v>
                </c:pt>
                <c:pt idx="3">
                  <c:v>2009</c:v>
                </c:pt>
                <c:pt idx="4">
                  <c:v>2010</c:v>
                </c:pt>
              </c:numCache>
            </c:numRef>
          </c:cat>
          <c:val>
            <c:numRef>
              <c:f>Sheet1!$B$2:$B$6</c:f>
              <c:numCache>
                <c:formatCode>General</c:formatCode>
                <c:ptCount val="5"/>
                <c:pt idx="0">
                  <c:v>34614</c:v>
                </c:pt>
                <c:pt idx="1">
                  <c:v>28026</c:v>
                </c:pt>
                <c:pt idx="2">
                  <c:v>24739</c:v>
                </c:pt>
                <c:pt idx="3">
                  <c:v>23358</c:v>
                </c:pt>
                <c:pt idx="4">
                  <c:v>31622</c:v>
                </c:pt>
              </c:numCache>
            </c:numRef>
          </c:val>
        </c:ser>
        <c:dLbls/>
        <c:axId val="198788608"/>
        <c:axId val="198790144"/>
      </c:barChart>
      <c:catAx>
        <c:axId val="198788608"/>
        <c:scaling>
          <c:orientation val="minMax"/>
        </c:scaling>
        <c:axPos val="b"/>
        <c:numFmt formatCode="General" sourceLinked="1"/>
        <c:tickLblPos val="nextTo"/>
        <c:crossAx val="198790144"/>
        <c:crosses val="autoZero"/>
        <c:auto val="1"/>
        <c:lblAlgn val="ctr"/>
        <c:lblOffset val="100"/>
      </c:catAx>
      <c:valAx>
        <c:axId val="198790144"/>
        <c:scaling>
          <c:orientation val="minMax"/>
        </c:scaling>
        <c:axPos val="l"/>
        <c:majorGridlines/>
        <c:numFmt formatCode="General" sourceLinked="1"/>
        <c:tickLblPos val="nextTo"/>
        <c:crossAx val="198788608"/>
        <c:crosses val="autoZero"/>
        <c:crossBetween val="between"/>
      </c:valAx>
    </c:plotArea>
    <c:plotVisOnly val="1"/>
    <c:dispBlanksAs val="gap"/>
  </c:chart>
  <c:txPr>
    <a:bodyPr/>
    <a:lstStyle/>
    <a:p>
      <a:pPr>
        <a:defRPr sz="1800"/>
      </a:pPr>
      <a:endParaRPr lang="en-US"/>
    </a:p>
  </c:txPr>
  <c:externalData r:id="rId1"/>
</c:chartSpace>
</file>

<file path=ppt/charts/chart2.xml><?xml version="1.0" encoding="utf-8"?>
<c:chartSpace xmlns:c="http://schemas.openxmlformats.org/drawingml/2006/chart" xmlns:a="http://schemas.openxmlformats.org/drawingml/2006/main" xmlns:r="http://schemas.openxmlformats.org/officeDocument/2006/relationships">
  <c:lang val="en-US"/>
  <c:chart>
    <c:title>
      <c:tx>
        <c:rich>
          <a:bodyPr/>
          <a:lstStyle/>
          <a:p>
            <a:pPr>
              <a:defRPr/>
            </a:pPr>
            <a:r>
              <a:rPr lang="en-US" dirty="0" smtClean="0"/>
              <a:t>Business </a:t>
            </a:r>
            <a:r>
              <a:rPr lang="en-US" dirty="0"/>
              <a:t>Mix 2009</a:t>
            </a:r>
          </a:p>
        </c:rich>
      </c:tx>
      <c:layout/>
    </c:title>
    <c:plotArea>
      <c:layout/>
      <c:pieChart>
        <c:varyColors val="1"/>
        <c:ser>
          <c:idx val="0"/>
          <c:order val="0"/>
          <c:tx>
            <c:strRef>
              <c:f>Sheet1!$B$1</c:f>
              <c:strCache>
                <c:ptCount val="1"/>
                <c:pt idx="0">
                  <c:v>Busniness Mix 2009</c:v>
                </c:pt>
              </c:strCache>
            </c:strRef>
          </c:tx>
          <c:dLbls>
            <c:showCatName val="1"/>
            <c:showPercent val="1"/>
            <c:showLeaderLines val="1"/>
          </c:dLbls>
          <c:cat>
            <c:strRef>
              <c:f>Sheet1!$A$2:$A$4</c:f>
              <c:strCache>
                <c:ptCount val="3"/>
                <c:pt idx="0">
                  <c:v>Institutional Securities</c:v>
                </c:pt>
                <c:pt idx="1">
                  <c:v>Global Wealth management Group</c:v>
                </c:pt>
                <c:pt idx="2">
                  <c:v>Asset Management</c:v>
                </c:pt>
              </c:strCache>
            </c:strRef>
          </c:cat>
          <c:val>
            <c:numRef>
              <c:f>Sheet1!$B$2:$B$4</c:f>
              <c:numCache>
                <c:formatCode>General</c:formatCode>
                <c:ptCount val="3"/>
                <c:pt idx="0">
                  <c:v>12853</c:v>
                </c:pt>
                <c:pt idx="1">
                  <c:v>9390</c:v>
                </c:pt>
                <c:pt idx="2">
                  <c:v>1337</c:v>
                </c:pt>
              </c:numCache>
            </c:numRef>
          </c:val>
        </c:ser>
        <c:dLbls>
          <c:showCatName val="1"/>
          <c:showPercent val="1"/>
        </c:dLbls>
        <c:firstSliceAng val="0"/>
      </c:pieChart>
    </c:plotArea>
    <c:plotVisOnly val="1"/>
    <c:dispBlanksAs val="zero"/>
  </c:chart>
  <c:txPr>
    <a:bodyPr/>
    <a:lstStyle/>
    <a:p>
      <a:pPr>
        <a:defRPr sz="1800"/>
      </a:pPr>
      <a:endParaRPr lang="en-US"/>
    </a:p>
  </c:txPr>
  <c:externalData r:id="rId1"/>
</c:chartSpace>
</file>

<file path=ppt/charts/chart3.xml><?xml version="1.0" encoding="utf-8"?>
<c:chartSpace xmlns:c="http://schemas.openxmlformats.org/drawingml/2006/chart" xmlns:a="http://schemas.openxmlformats.org/drawingml/2006/main" xmlns:r="http://schemas.openxmlformats.org/officeDocument/2006/relationships">
  <c:lang val="en-US"/>
  <c:chart>
    <c:title>
      <c:tx>
        <c:rich>
          <a:bodyPr/>
          <a:lstStyle/>
          <a:p>
            <a:pPr>
              <a:defRPr/>
            </a:pPr>
            <a:r>
              <a:rPr lang="en-US" dirty="0" smtClean="0"/>
              <a:t>Business </a:t>
            </a:r>
            <a:r>
              <a:rPr lang="en-US" dirty="0"/>
              <a:t>Mix 2010</a:t>
            </a:r>
          </a:p>
        </c:rich>
      </c:tx>
      <c:layout/>
    </c:title>
    <c:plotArea>
      <c:layout/>
      <c:pieChart>
        <c:varyColors val="1"/>
        <c:ser>
          <c:idx val="0"/>
          <c:order val="0"/>
          <c:tx>
            <c:strRef>
              <c:f>Sheet1!$B$1</c:f>
              <c:strCache>
                <c:ptCount val="1"/>
                <c:pt idx="0">
                  <c:v>Busniness Mix 2010</c:v>
                </c:pt>
              </c:strCache>
            </c:strRef>
          </c:tx>
          <c:dLbls>
            <c:showCatName val="1"/>
            <c:showPercent val="1"/>
            <c:showLeaderLines val="1"/>
          </c:dLbls>
          <c:cat>
            <c:strRef>
              <c:f>Sheet1!$A$2:$A$4</c:f>
              <c:strCache>
                <c:ptCount val="3"/>
                <c:pt idx="0">
                  <c:v>Institutional Securities</c:v>
                </c:pt>
                <c:pt idx="1">
                  <c:v>Global Wealth management Group</c:v>
                </c:pt>
                <c:pt idx="2">
                  <c:v>Asset Management</c:v>
                </c:pt>
              </c:strCache>
            </c:strRef>
          </c:cat>
          <c:val>
            <c:numRef>
              <c:f>Sheet1!$B$2:$B$4</c:f>
              <c:numCache>
                <c:formatCode>General</c:formatCode>
                <c:ptCount val="3"/>
                <c:pt idx="0">
                  <c:v>16366</c:v>
                </c:pt>
                <c:pt idx="1">
                  <c:v>14636</c:v>
                </c:pt>
                <c:pt idx="2">
                  <c:v>2723</c:v>
                </c:pt>
              </c:numCache>
            </c:numRef>
          </c:val>
        </c:ser>
        <c:dLbls>
          <c:showCatName val="1"/>
          <c:showPercent val="1"/>
        </c:dLbls>
        <c:firstSliceAng val="0"/>
      </c:pieChart>
    </c:plotArea>
    <c:plotVisOnly val="1"/>
    <c:dispBlanksAs val="zero"/>
  </c:chart>
  <c:txPr>
    <a:bodyPr/>
    <a:lstStyle/>
    <a:p>
      <a:pPr>
        <a:defRPr sz="1800"/>
      </a:pPr>
      <a:endParaRPr lang="en-US"/>
    </a:p>
  </c:txPr>
  <c:externalData r:id="rId1"/>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930AA2-6D6C-4664-A114-E831BD1732D9}" type="datetimeFigureOut">
              <a:rPr lang="en-CA" smtClean="0"/>
              <a:pPr/>
              <a:t>11/03/2011</a:t>
            </a:fld>
            <a:endParaRPr lang="en-CA"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CA"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4E6C15F-63E9-4A2D-9EDD-9AB72BDE5CA0}" type="slidenum">
              <a:rPr lang="en-CA" smtClean="0"/>
              <a:pPr/>
              <a:t>‹#›</a:t>
            </a:fld>
            <a:endParaRPr lang="en-CA" dirty="0"/>
          </a:p>
        </p:txBody>
      </p:sp>
    </p:spTree>
    <p:extLst>
      <p:ext uri="{BB962C8B-B14F-4D97-AF65-F5344CB8AC3E}">
        <p14:creationId xmlns:p14="http://schemas.microsoft.com/office/powerpoint/2010/main" xmlns="" val="16708003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zh-TW" dirty="0" smtClean="0"/>
              <a:t>More explanation</a:t>
            </a:r>
            <a:endParaRPr lang="zh-TW" altLang="en-US" dirty="0"/>
          </a:p>
        </p:txBody>
      </p:sp>
      <p:sp>
        <p:nvSpPr>
          <p:cNvPr id="4" name="Slide Number Placeholder 3"/>
          <p:cNvSpPr>
            <a:spLocks noGrp="1"/>
          </p:cNvSpPr>
          <p:nvPr>
            <p:ph type="sldNum" sz="quarter" idx="10"/>
          </p:nvPr>
        </p:nvSpPr>
        <p:spPr/>
        <p:txBody>
          <a:bodyPr/>
          <a:lstStyle/>
          <a:p>
            <a:fld id="{B28C3864-11A3-45CA-9438-2FFD7F22CEEB}" type="slidenum">
              <a:rPr lang="zh-TW" altLang="en-US" smtClean="0"/>
              <a:pPr/>
              <a:t>7</a:t>
            </a:fld>
            <a:endParaRPr lang="zh-TW"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en-CA" sz="1200" b="0" i="0" u="none" strike="noStrike" kern="1200" baseline="0" dirty="0" smtClean="0">
                <a:solidFill>
                  <a:schemeClr val="tx1"/>
                </a:solidFill>
                <a:latin typeface="+mn-lt"/>
                <a:ea typeface="+mn-ea"/>
                <a:cs typeface="+mn-cs"/>
              </a:rPr>
              <a:t>Our debt ratings also can have a significant impact on certain trading revenues, particularly in those businesses where longer term counterparty performance is critical, such as OTC derivative transactions, including credit derivatives and interest rate swaps.</a:t>
            </a:r>
          </a:p>
          <a:p>
            <a:pPr marL="171450" indent="-171450">
              <a:buFont typeface="Arial" pitchFamily="34" charset="0"/>
              <a:buChar char="•"/>
            </a:pPr>
            <a:r>
              <a:rPr lang="en-CA" sz="1200" b="0" i="0" u="none" strike="noStrike" kern="1200" baseline="0" dirty="0" smtClean="0">
                <a:solidFill>
                  <a:schemeClr val="tx1"/>
                </a:solidFill>
                <a:latin typeface="+mn-lt"/>
                <a:ea typeface="+mn-ea"/>
                <a:cs typeface="+mn-cs"/>
              </a:rPr>
              <a:t>The rating agencies are considering the impact of the Dodd-Frank Act’s resolution authority provisions on large banking institutions and it is possible that they could downgrade our ratings and those of similar institutions.</a:t>
            </a:r>
            <a:endParaRPr lang="en-CA" dirty="0"/>
          </a:p>
        </p:txBody>
      </p:sp>
      <p:sp>
        <p:nvSpPr>
          <p:cNvPr id="4" name="Slide Number Placeholder 3"/>
          <p:cNvSpPr>
            <a:spLocks noGrp="1"/>
          </p:cNvSpPr>
          <p:nvPr>
            <p:ph type="sldNum" sz="quarter" idx="10"/>
          </p:nvPr>
        </p:nvSpPr>
        <p:spPr/>
        <p:txBody>
          <a:bodyPr/>
          <a:lstStyle/>
          <a:p>
            <a:fld id="{B4E6C15F-63E9-4A2D-9EDD-9AB72BDE5CA0}" type="slidenum">
              <a:rPr lang="en-CA" smtClean="0"/>
              <a:pPr/>
              <a:t>29</a:t>
            </a:fld>
            <a:endParaRPr lang="en-CA" dirty="0"/>
          </a:p>
        </p:txBody>
      </p:sp>
    </p:spTree>
    <p:extLst>
      <p:ext uri="{BB962C8B-B14F-4D97-AF65-F5344CB8AC3E}">
        <p14:creationId xmlns:p14="http://schemas.microsoft.com/office/powerpoint/2010/main" xmlns="" val="33914662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en-CA" dirty="0" smtClean="0"/>
              <a:t>We are a holding company and depend on payments from our subsidiaries </a:t>
            </a:r>
          </a:p>
          <a:p>
            <a:pPr marL="171450" indent="-171450">
              <a:buFont typeface="Arial" pitchFamily="34" charset="0"/>
              <a:buChar char="•"/>
            </a:pPr>
            <a:r>
              <a:rPr lang="en-CA" dirty="0" smtClean="0"/>
              <a:t>Furthermore, as a bank holding company, we may become subject to a prohibition or to limitations on our ability to pay dividends or repurchase our stock</a:t>
            </a:r>
            <a:endParaRPr lang="en-CA" dirty="0"/>
          </a:p>
        </p:txBody>
      </p:sp>
      <p:sp>
        <p:nvSpPr>
          <p:cNvPr id="4" name="Slide Number Placeholder 3"/>
          <p:cNvSpPr>
            <a:spLocks noGrp="1"/>
          </p:cNvSpPr>
          <p:nvPr>
            <p:ph type="sldNum" sz="quarter" idx="10"/>
          </p:nvPr>
        </p:nvSpPr>
        <p:spPr/>
        <p:txBody>
          <a:bodyPr/>
          <a:lstStyle/>
          <a:p>
            <a:fld id="{B4E6C15F-63E9-4A2D-9EDD-9AB72BDE5CA0}" type="slidenum">
              <a:rPr lang="en-CA" smtClean="0"/>
              <a:pPr/>
              <a:t>30</a:t>
            </a:fld>
            <a:endParaRPr lang="en-CA" dirty="0"/>
          </a:p>
        </p:txBody>
      </p:sp>
    </p:spTree>
    <p:extLst>
      <p:ext uri="{BB962C8B-B14F-4D97-AF65-F5344CB8AC3E}">
        <p14:creationId xmlns:p14="http://schemas.microsoft.com/office/powerpoint/2010/main" xmlns="" val="29443598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en-CA" sz="1200" b="0" i="0" u="none" strike="noStrike" kern="1200" baseline="0" dirty="0" smtClean="0">
                <a:solidFill>
                  <a:schemeClr val="tx1"/>
                </a:solidFill>
                <a:latin typeface="+mn-lt"/>
                <a:ea typeface="+mn-ea"/>
                <a:cs typeface="+mn-cs"/>
              </a:rPr>
              <a:t>Further, we securitize and trade in a wide range of commercial and residential real estate and real estate-related whole loans, mortgages and other real estate and commercial assets and products, including residential and commercial mortgage-backed securities</a:t>
            </a:r>
            <a:endParaRPr lang="en-CA" dirty="0"/>
          </a:p>
        </p:txBody>
      </p:sp>
      <p:sp>
        <p:nvSpPr>
          <p:cNvPr id="4" name="Slide Number Placeholder 3"/>
          <p:cNvSpPr>
            <a:spLocks noGrp="1"/>
          </p:cNvSpPr>
          <p:nvPr>
            <p:ph type="sldNum" sz="quarter" idx="10"/>
          </p:nvPr>
        </p:nvSpPr>
        <p:spPr/>
        <p:txBody>
          <a:bodyPr/>
          <a:lstStyle/>
          <a:p>
            <a:fld id="{B4E6C15F-63E9-4A2D-9EDD-9AB72BDE5CA0}" type="slidenum">
              <a:rPr lang="en-CA" smtClean="0"/>
              <a:pPr/>
              <a:t>37</a:t>
            </a:fld>
            <a:endParaRPr lang="en-CA" dirty="0"/>
          </a:p>
        </p:txBody>
      </p:sp>
    </p:spTree>
    <p:extLst>
      <p:ext uri="{BB962C8B-B14F-4D97-AF65-F5344CB8AC3E}">
        <p14:creationId xmlns:p14="http://schemas.microsoft.com/office/powerpoint/2010/main" xmlns="" val="1774339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itchFamily="34" charset="0"/>
              <a:buNone/>
            </a:pPr>
            <a:endParaRPr lang="en-CA" dirty="0"/>
          </a:p>
        </p:txBody>
      </p:sp>
      <p:sp>
        <p:nvSpPr>
          <p:cNvPr id="4" name="Slide Number Placeholder 3"/>
          <p:cNvSpPr>
            <a:spLocks noGrp="1"/>
          </p:cNvSpPr>
          <p:nvPr>
            <p:ph type="sldNum" sz="quarter" idx="10"/>
          </p:nvPr>
        </p:nvSpPr>
        <p:spPr/>
        <p:txBody>
          <a:bodyPr/>
          <a:lstStyle/>
          <a:p>
            <a:fld id="{B4E6C15F-63E9-4A2D-9EDD-9AB72BDE5CA0}" type="slidenum">
              <a:rPr lang="en-CA" smtClean="0"/>
              <a:pPr/>
              <a:t>38</a:t>
            </a:fld>
            <a:endParaRPr lang="en-CA" dirty="0"/>
          </a:p>
        </p:txBody>
      </p:sp>
    </p:spTree>
    <p:extLst>
      <p:ext uri="{BB962C8B-B14F-4D97-AF65-F5344CB8AC3E}">
        <p14:creationId xmlns:p14="http://schemas.microsoft.com/office/powerpoint/2010/main" xmlns="" val="531758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en-CA" sz="1200" b="0" i="0" u="none" strike="noStrike" kern="1200" baseline="0" dirty="0" smtClean="0">
                <a:solidFill>
                  <a:schemeClr val="tx1"/>
                </a:solidFill>
                <a:latin typeface="+mn-lt"/>
                <a:ea typeface="+mn-ea"/>
                <a:cs typeface="+mn-cs"/>
              </a:rPr>
              <a:t>Total allowable capital is composed of Tier 1 and Tier 2 capital. Tier 1 capital consists predominately of common shareholders’ equity as well as qualifying preferred stock, trust preferred securities mandatorily convertible to common equity and qualifying restricted core capital elements (trust preferred securities and non-controlling interests) less goodwill, non-servicing intangible assets (excluding allowable mortgage servicing rights), net deferred tax assets (recoverable in excess of one year), an after-tax debt valuation adjustment and certain other deductions, including equity investments</a:t>
            </a:r>
          </a:p>
          <a:p>
            <a:pPr marL="171450" indent="-171450">
              <a:buFont typeface="Arial" pitchFamily="34" charset="0"/>
              <a:buChar char="•"/>
            </a:pPr>
            <a:r>
              <a:rPr lang="en-CA" dirty="0" smtClean="0"/>
              <a:t>At December 31, 2010, the Company was in compliance with Basel I capital requirements with ratios of Tier 1 capital to RWAs of 16.1% and total capital to RWAs of 16.5% (6% and 10% being well-capitalized for regulatory purposes, respectively).</a:t>
            </a:r>
            <a:endParaRPr lang="en-CA" dirty="0"/>
          </a:p>
        </p:txBody>
      </p:sp>
      <p:sp>
        <p:nvSpPr>
          <p:cNvPr id="4" name="Slide Number Placeholder 3"/>
          <p:cNvSpPr>
            <a:spLocks noGrp="1"/>
          </p:cNvSpPr>
          <p:nvPr>
            <p:ph type="sldNum" sz="quarter" idx="10"/>
          </p:nvPr>
        </p:nvSpPr>
        <p:spPr/>
        <p:txBody>
          <a:bodyPr/>
          <a:lstStyle/>
          <a:p>
            <a:fld id="{B4E6C15F-63E9-4A2D-9EDD-9AB72BDE5CA0}" type="slidenum">
              <a:rPr lang="en-CA" smtClean="0"/>
              <a:pPr/>
              <a:t>41</a:t>
            </a:fld>
            <a:endParaRPr lang="en-CA" dirty="0"/>
          </a:p>
        </p:txBody>
      </p:sp>
    </p:spTree>
    <p:extLst>
      <p:ext uri="{BB962C8B-B14F-4D97-AF65-F5344CB8AC3E}">
        <p14:creationId xmlns:p14="http://schemas.microsoft.com/office/powerpoint/2010/main" xmlns="" val="10457538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en-CA" dirty="0" smtClean="0"/>
              <a:t>The liquidity impact of additional collateral requirements is accounted for in the Company’s CFP</a:t>
            </a:r>
            <a:endParaRPr lang="en-CA" dirty="0"/>
          </a:p>
        </p:txBody>
      </p:sp>
      <p:sp>
        <p:nvSpPr>
          <p:cNvPr id="4" name="Slide Number Placeholder 3"/>
          <p:cNvSpPr>
            <a:spLocks noGrp="1"/>
          </p:cNvSpPr>
          <p:nvPr>
            <p:ph type="sldNum" sz="quarter" idx="10"/>
          </p:nvPr>
        </p:nvSpPr>
        <p:spPr/>
        <p:txBody>
          <a:bodyPr/>
          <a:lstStyle/>
          <a:p>
            <a:fld id="{B4E6C15F-63E9-4A2D-9EDD-9AB72BDE5CA0}" type="slidenum">
              <a:rPr lang="en-CA" smtClean="0"/>
              <a:pPr/>
              <a:t>45</a:t>
            </a:fld>
            <a:endParaRPr lang="en-CA" dirty="0"/>
          </a:p>
        </p:txBody>
      </p:sp>
    </p:spTree>
    <p:extLst>
      <p:ext uri="{BB962C8B-B14F-4D97-AF65-F5344CB8AC3E}">
        <p14:creationId xmlns:p14="http://schemas.microsoft.com/office/powerpoint/2010/main" xmlns="" val="18785000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en-CA" sz="1200" b="0" i="0" u="none" strike="noStrike" kern="1200" baseline="0" dirty="0" smtClean="0">
                <a:solidFill>
                  <a:schemeClr val="tx1"/>
                </a:solidFill>
                <a:latin typeface="+mn-lt"/>
                <a:ea typeface="+mn-ea"/>
                <a:cs typeface="+mn-cs"/>
              </a:rPr>
              <a:t>It is comprised of cash and cash equivalents, securities that have been reversed or borrowed by the Company primarily on an overnight basis (predominantly consisting of U.S. and European government bonds and U.S. agency and agency mortgage-backed securities) and pools of Federal Reserve-eligible (eligible to be pledged to the Federal Reserve’s Discount Window) securities</a:t>
            </a:r>
            <a:endParaRPr lang="en-CA" dirty="0"/>
          </a:p>
        </p:txBody>
      </p:sp>
      <p:sp>
        <p:nvSpPr>
          <p:cNvPr id="4" name="Slide Number Placeholder 3"/>
          <p:cNvSpPr>
            <a:spLocks noGrp="1"/>
          </p:cNvSpPr>
          <p:nvPr>
            <p:ph type="sldNum" sz="quarter" idx="10"/>
          </p:nvPr>
        </p:nvSpPr>
        <p:spPr/>
        <p:txBody>
          <a:bodyPr/>
          <a:lstStyle/>
          <a:p>
            <a:fld id="{B4E6C15F-63E9-4A2D-9EDD-9AB72BDE5CA0}" type="slidenum">
              <a:rPr lang="en-CA" smtClean="0"/>
              <a:pPr/>
              <a:t>46</a:t>
            </a:fld>
            <a:endParaRPr lang="en-CA" dirty="0"/>
          </a:p>
        </p:txBody>
      </p:sp>
    </p:spTree>
    <p:extLst>
      <p:ext uri="{BB962C8B-B14F-4D97-AF65-F5344CB8AC3E}">
        <p14:creationId xmlns:p14="http://schemas.microsoft.com/office/powerpoint/2010/main" xmlns="" val="24521304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en-CA" dirty="0" smtClean="0"/>
              <a:t>The Company generally holds Parent capital for prospective regulatory requirements, including Basel III, organic growth, acquisitions and other capital needs.</a:t>
            </a:r>
            <a:endParaRPr lang="en-CA" dirty="0"/>
          </a:p>
        </p:txBody>
      </p:sp>
      <p:sp>
        <p:nvSpPr>
          <p:cNvPr id="4" name="Slide Number Placeholder 3"/>
          <p:cNvSpPr>
            <a:spLocks noGrp="1"/>
          </p:cNvSpPr>
          <p:nvPr>
            <p:ph type="sldNum" sz="quarter" idx="10"/>
          </p:nvPr>
        </p:nvSpPr>
        <p:spPr/>
        <p:txBody>
          <a:bodyPr/>
          <a:lstStyle/>
          <a:p>
            <a:fld id="{B4E6C15F-63E9-4A2D-9EDD-9AB72BDE5CA0}" type="slidenum">
              <a:rPr lang="en-CA" smtClean="0"/>
              <a:pPr/>
              <a:t>52</a:t>
            </a:fld>
            <a:endParaRPr lang="en-CA" dirty="0"/>
          </a:p>
        </p:txBody>
      </p:sp>
    </p:spTree>
    <p:extLst>
      <p:ext uri="{BB962C8B-B14F-4D97-AF65-F5344CB8AC3E}">
        <p14:creationId xmlns:p14="http://schemas.microsoft.com/office/powerpoint/2010/main" xmlns="" val="30321333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en-CA" sz="1200" b="0" i="0" u="none" strike="noStrike" kern="1200" baseline="0" dirty="0" smtClean="0">
                <a:solidFill>
                  <a:schemeClr val="tx1"/>
                </a:solidFill>
                <a:latin typeface="+mn-lt"/>
                <a:ea typeface="+mn-ea"/>
                <a:cs typeface="+mn-cs"/>
              </a:rPr>
              <a:t>The Company’s VaR model generally takes into account linear and non-linear exposures to equity and commodity price risk, interest rate risk, credit spread risk and foreign exchange rates as well as linear exposures to implied volatility risks. The VaR model also captures certain implied correlation risks associated with portfolio credit derivatives as well as certain basis risks (</a:t>
            </a:r>
            <a:r>
              <a:rPr lang="en-CA" sz="1200" b="0" i="1" u="none" strike="noStrike" kern="1200" baseline="0" dirty="0" smtClean="0">
                <a:solidFill>
                  <a:schemeClr val="tx1"/>
                </a:solidFill>
                <a:latin typeface="+mn-lt"/>
                <a:ea typeface="+mn-ea"/>
                <a:cs typeface="+mn-cs"/>
              </a:rPr>
              <a:t>e.g</a:t>
            </a:r>
            <a:r>
              <a:rPr lang="en-CA" sz="1200" b="0" i="0" u="none" strike="noStrike" kern="1200" baseline="0" dirty="0" smtClean="0">
                <a:solidFill>
                  <a:schemeClr val="tx1"/>
                </a:solidFill>
                <a:latin typeface="+mn-lt"/>
                <a:ea typeface="+mn-ea"/>
                <a:cs typeface="+mn-cs"/>
              </a:rPr>
              <a:t>., corporate debt and related credit derivatives)</a:t>
            </a:r>
            <a:endParaRPr lang="en-CA" dirty="0"/>
          </a:p>
        </p:txBody>
      </p:sp>
      <p:sp>
        <p:nvSpPr>
          <p:cNvPr id="4" name="Slide Number Placeholder 3"/>
          <p:cNvSpPr>
            <a:spLocks noGrp="1"/>
          </p:cNvSpPr>
          <p:nvPr>
            <p:ph type="sldNum" sz="quarter" idx="10"/>
          </p:nvPr>
        </p:nvSpPr>
        <p:spPr/>
        <p:txBody>
          <a:bodyPr/>
          <a:lstStyle/>
          <a:p>
            <a:fld id="{B4E6C15F-63E9-4A2D-9EDD-9AB72BDE5CA0}" type="slidenum">
              <a:rPr lang="en-CA" smtClean="0"/>
              <a:pPr/>
              <a:t>60</a:t>
            </a:fld>
            <a:endParaRPr lang="en-CA" dirty="0"/>
          </a:p>
        </p:txBody>
      </p:sp>
    </p:spTree>
    <p:extLst>
      <p:ext uri="{BB962C8B-B14F-4D97-AF65-F5344CB8AC3E}">
        <p14:creationId xmlns:p14="http://schemas.microsoft.com/office/powerpoint/2010/main" xmlns="" val="38640627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endParaRPr lang="en-CA" dirty="0"/>
          </a:p>
        </p:txBody>
      </p:sp>
      <p:sp>
        <p:nvSpPr>
          <p:cNvPr id="4" name="Slide Number Placeholder 3"/>
          <p:cNvSpPr>
            <a:spLocks noGrp="1"/>
          </p:cNvSpPr>
          <p:nvPr>
            <p:ph type="sldNum" sz="quarter" idx="10"/>
          </p:nvPr>
        </p:nvSpPr>
        <p:spPr/>
        <p:txBody>
          <a:bodyPr/>
          <a:lstStyle/>
          <a:p>
            <a:fld id="{B4E6C15F-63E9-4A2D-9EDD-9AB72BDE5CA0}" type="slidenum">
              <a:rPr lang="en-CA" smtClean="0"/>
              <a:pPr/>
              <a:t>61</a:t>
            </a:fld>
            <a:endParaRPr lang="en-CA" dirty="0"/>
          </a:p>
        </p:txBody>
      </p:sp>
    </p:spTree>
    <p:extLst>
      <p:ext uri="{BB962C8B-B14F-4D97-AF65-F5344CB8AC3E}">
        <p14:creationId xmlns:p14="http://schemas.microsoft.com/office/powerpoint/2010/main" xmlns="" val="30918467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CA" sz="1200" b="0" i="0" u="none" strike="noStrike" kern="1200" baseline="0" dirty="0" smtClean="0">
                <a:solidFill>
                  <a:schemeClr val="tx1"/>
                </a:solidFill>
                <a:latin typeface="+mn-lt"/>
                <a:ea typeface="+mn-ea"/>
                <a:cs typeface="+mn-cs"/>
              </a:rPr>
              <a:t>The increase in both Non-trading and Aggregate VaR was due primarily to the Company’s investment in Invesco, which was sold in November 2010, as well as increased interest rate sensitivity of deposits in the declining rate environment</a:t>
            </a:r>
            <a:endParaRPr lang="en-CA" dirty="0" smtClean="0"/>
          </a:p>
          <a:p>
            <a:endParaRPr lang="en-CA" dirty="0"/>
          </a:p>
        </p:txBody>
      </p:sp>
      <p:sp>
        <p:nvSpPr>
          <p:cNvPr id="4" name="Slide Number Placeholder 3"/>
          <p:cNvSpPr>
            <a:spLocks noGrp="1"/>
          </p:cNvSpPr>
          <p:nvPr>
            <p:ph type="sldNum" sz="quarter" idx="10"/>
          </p:nvPr>
        </p:nvSpPr>
        <p:spPr/>
        <p:txBody>
          <a:bodyPr/>
          <a:lstStyle/>
          <a:p>
            <a:fld id="{B4E6C15F-63E9-4A2D-9EDD-9AB72BDE5CA0}" type="slidenum">
              <a:rPr lang="en-CA" smtClean="0"/>
              <a:pPr/>
              <a:t>62</a:t>
            </a:fld>
            <a:endParaRPr lang="en-CA" dirty="0"/>
          </a:p>
        </p:txBody>
      </p:sp>
    </p:spTree>
    <p:extLst>
      <p:ext uri="{BB962C8B-B14F-4D97-AF65-F5344CB8AC3E}">
        <p14:creationId xmlns:p14="http://schemas.microsoft.com/office/powerpoint/2010/main" xmlns="" val="16798976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en-CA" sz="1200" b="0" i="0" u="none" strike="noStrike" kern="1200" baseline="0" dirty="0" smtClean="0">
                <a:solidFill>
                  <a:schemeClr val="tx1"/>
                </a:solidFill>
                <a:latin typeface="+mn-lt"/>
                <a:ea typeface="+mn-ea"/>
                <a:cs typeface="+mn-cs"/>
              </a:rPr>
              <a:t>The four-year VaR measure continues to be sensitive to the high market volatilities experienced in the fourth quarter of 2008, while the one-year VaR is no longer affected by this phenomenon. Consequently, the four-year VaR is a more conservative approximation of the Company’s portfolio risk</a:t>
            </a:r>
            <a:endParaRPr lang="en-CA" dirty="0"/>
          </a:p>
        </p:txBody>
      </p:sp>
      <p:sp>
        <p:nvSpPr>
          <p:cNvPr id="4" name="Slide Number Placeholder 3"/>
          <p:cNvSpPr>
            <a:spLocks noGrp="1"/>
          </p:cNvSpPr>
          <p:nvPr>
            <p:ph type="sldNum" sz="quarter" idx="10"/>
          </p:nvPr>
        </p:nvSpPr>
        <p:spPr/>
        <p:txBody>
          <a:bodyPr/>
          <a:lstStyle/>
          <a:p>
            <a:fld id="{B4E6C15F-63E9-4A2D-9EDD-9AB72BDE5CA0}" type="slidenum">
              <a:rPr lang="en-CA" smtClean="0"/>
              <a:pPr/>
              <a:t>63</a:t>
            </a:fld>
            <a:endParaRPr lang="en-CA" dirty="0"/>
          </a:p>
        </p:txBody>
      </p:sp>
    </p:spTree>
    <p:extLst>
      <p:ext uri="{BB962C8B-B14F-4D97-AF65-F5344CB8AC3E}">
        <p14:creationId xmlns:p14="http://schemas.microsoft.com/office/powerpoint/2010/main" xmlns="" val="10304624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en-CA" sz="1200" b="0" i="0" u="none" strike="noStrike" kern="1200" baseline="0" dirty="0" smtClean="0">
                <a:solidFill>
                  <a:schemeClr val="tx1"/>
                </a:solidFill>
                <a:latin typeface="+mn-lt"/>
                <a:ea typeface="+mn-ea"/>
                <a:cs typeface="+mn-cs"/>
              </a:rPr>
              <a:t>As shown in Table 1, the Company’s average 95%/one-day Trading VaR for 2010 was $139 million. The histogram below presents the distribution of the Company’s daily 95%/one-day Trading VaR for 2010. The most frequently occurring value was between $137 million and $141 million, while for approximately 81% of trading days during the year VaR ranged between $129 million and $149 million</a:t>
            </a:r>
            <a:endParaRPr lang="en-CA" dirty="0"/>
          </a:p>
        </p:txBody>
      </p:sp>
      <p:sp>
        <p:nvSpPr>
          <p:cNvPr id="4" name="Slide Number Placeholder 3"/>
          <p:cNvSpPr>
            <a:spLocks noGrp="1"/>
          </p:cNvSpPr>
          <p:nvPr>
            <p:ph type="sldNum" sz="quarter" idx="10"/>
          </p:nvPr>
        </p:nvSpPr>
        <p:spPr/>
        <p:txBody>
          <a:bodyPr/>
          <a:lstStyle/>
          <a:p>
            <a:fld id="{B4E6C15F-63E9-4A2D-9EDD-9AB72BDE5CA0}" type="slidenum">
              <a:rPr lang="en-CA" smtClean="0"/>
              <a:pPr/>
              <a:t>64</a:t>
            </a:fld>
            <a:endParaRPr lang="en-CA" dirty="0"/>
          </a:p>
        </p:txBody>
      </p:sp>
    </p:spTree>
    <p:extLst>
      <p:ext uri="{BB962C8B-B14F-4D97-AF65-F5344CB8AC3E}">
        <p14:creationId xmlns:p14="http://schemas.microsoft.com/office/powerpoint/2010/main" xmlns="" val="18801558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en-CA" sz="1200" b="0" i="0" u="none" strike="noStrike" kern="1200" baseline="0" dirty="0" smtClean="0">
                <a:solidFill>
                  <a:schemeClr val="tx1"/>
                </a:solidFill>
                <a:latin typeface="+mn-lt"/>
                <a:ea typeface="+mn-ea"/>
                <a:cs typeface="+mn-cs"/>
              </a:rPr>
              <a:t>One method of evaluating the reasonableness of the Company’s VaR model as a measure of the Company’s potential volatility of net revenues is to compare the VaR with actual trading revenues. Assuming no intra-day trading, for a 95%/one-day VaR, the expected number of times that trading losses should exceed VaR during the year is 13, and, in general, if trading losses were to exceed VaR more than 21 times in a year, the accuracy of the VaR model could be questioned. Accordingly, the Company evaluates the reasonableness of its VaR model by comparing the potential declines in portfolio values generated by the model with actual trading results. For days where losses exceed the 95% or 99% VaR statistic, the Company examines the drivers of trading losses to evaluate the VaR model’s accuracy relative to realized trading results.</a:t>
            </a:r>
          </a:p>
          <a:p>
            <a:pPr marL="171450" indent="-171450">
              <a:buFont typeface="Arial" pitchFamily="34" charset="0"/>
              <a:buChar char="•"/>
            </a:pPr>
            <a:r>
              <a:rPr lang="en-CA" sz="1200" b="0" i="0" u="none" strike="noStrike" kern="1200" baseline="0" dirty="0" smtClean="0">
                <a:solidFill>
                  <a:schemeClr val="tx1"/>
                </a:solidFill>
                <a:latin typeface="+mn-lt"/>
                <a:ea typeface="+mn-ea"/>
                <a:cs typeface="+mn-cs"/>
              </a:rPr>
              <a:t>The histogram below shows the distribution of daily net trading revenues during 2010 for the Company’s trading businesses (these figures include revenues from the counterparty portfolio and also include net interest and non-agency commissions but exclude certain Non-trading revenues such as primary, fee-based and prime brokerage revenues credited to the trading businesses). During 2010, the Company experienced net trading losses on 38 days, with zero excesses of the 95%/one-day Trading VaR.</a:t>
            </a:r>
            <a:endParaRPr lang="en-CA" dirty="0"/>
          </a:p>
        </p:txBody>
      </p:sp>
      <p:sp>
        <p:nvSpPr>
          <p:cNvPr id="4" name="Slide Number Placeholder 3"/>
          <p:cNvSpPr>
            <a:spLocks noGrp="1"/>
          </p:cNvSpPr>
          <p:nvPr>
            <p:ph type="sldNum" sz="quarter" idx="10"/>
          </p:nvPr>
        </p:nvSpPr>
        <p:spPr/>
        <p:txBody>
          <a:bodyPr/>
          <a:lstStyle/>
          <a:p>
            <a:fld id="{B4E6C15F-63E9-4A2D-9EDD-9AB72BDE5CA0}" type="slidenum">
              <a:rPr lang="en-CA" smtClean="0"/>
              <a:pPr/>
              <a:t>65</a:t>
            </a:fld>
            <a:endParaRPr lang="en-CA" dirty="0"/>
          </a:p>
        </p:txBody>
      </p:sp>
    </p:spTree>
    <p:extLst>
      <p:ext uri="{BB962C8B-B14F-4D97-AF65-F5344CB8AC3E}">
        <p14:creationId xmlns:p14="http://schemas.microsoft.com/office/powerpoint/2010/main" xmlns="" val="28078436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B4E6C15F-63E9-4A2D-9EDD-9AB72BDE5CA0}" type="slidenum">
              <a:rPr lang="en-CA" smtClean="0"/>
              <a:pPr/>
              <a:t>78</a:t>
            </a:fld>
            <a:endParaRPr lang="en-CA" dirty="0"/>
          </a:p>
        </p:txBody>
      </p:sp>
    </p:spTree>
    <p:extLst>
      <p:ext uri="{BB962C8B-B14F-4D97-AF65-F5344CB8AC3E}">
        <p14:creationId xmlns:p14="http://schemas.microsoft.com/office/powerpoint/2010/main" xmlns="" val="8410972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itchFamily="34" charset="0"/>
              <a:buNone/>
            </a:pPr>
            <a:r>
              <a:rPr lang="en-CA" dirty="0" smtClean="0"/>
              <a:t>Credit Derivatives and Other Credit Contracts.</a:t>
            </a:r>
          </a:p>
          <a:p>
            <a:pPr marL="171450" lvl="0" indent="-171450">
              <a:buFont typeface="Arial" pitchFamily="34" charset="0"/>
              <a:buChar char="•"/>
            </a:pPr>
            <a:r>
              <a:rPr lang="en-CA" dirty="0" smtClean="0"/>
              <a:t>The Company enters into credit derivatives, principally through credit default swaps, under which it provides counterparties protection against the risk of default on a set of debt obligations issued by a specified reference entity or entities. A majority of the Company’s counterparties are banks, broker-dealers, insurance and other financial institutions, and </a:t>
            </a:r>
            <a:r>
              <a:rPr lang="en-CA" dirty="0" err="1" smtClean="0"/>
              <a:t>monoline</a:t>
            </a:r>
            <a:r>
              <a:rPr lang="en-CA" dirty="0" smtClean="0"/>
              <a:t> insurers. The table below summarizes certain information regarding protection sold through credit default swaps and CLNs at December 31, 2010</a:t>
            </a:r>
            <a:endParaRPr lang="en-CA" dirty="0"/>
          </a:p>
        </p:txBody>
      </p:sp>
      <p:sp>
        <p:nvSpPr>
          <p:cNvPr id="4" name="Slide Number Placeholder 3"/>
          <p:cNvSpPr>
            <a:spLocks noGrp="1"/>
          </p:cNvSpPr>
          <p:nvPr>
            <p:ph type="sldNum" sz="quarter" idx="10"/>
          </p:nvPr>
        </p:nvSpPr>
        <p:spPr/>
        <p:txBody>
          <a:bodyPr/>
          <a:lstStyle/>
          <a:p>
            <a:fld id="{B4E6C15F-63E9-4A2D-9EDD-9AB72BDE5CA0}" type="slidenum">
              <a:rPr lang="en-CA" smtClean="0"/>
              <a:pPr/>
              <a:t>79</a:t>
            </a:fld>
            <a:endParaRPr lang="en-CA" dirty="0"/>
          </a:p>
        </p:txBody>
      </p:sp>
    </p:spTree>
    <p:extLst>
      <p:ext uri="{BB962C8B-B14F-4D97-AF65-F5344CB8AC3E}">
        <p14:creationId xmlns:p14="http://schemas.microsoft.com/office/powerpoint/2010/main" xmlns="" val="19376107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Disclosure about Market Risk—Risk Management—Credit Risk” in Part II, Item 7A herein. </a:t>
            </a:r>
            <a:endParaRPr lang="en-US" dirty="0"/>
          </a:p>
        </p:txBody>
      </p:sp>
      <p:sp>
        <p:nvSpPr>
          <p:cNvPr id="4" name="Slide Number Placeholder 3"/>
          <p:cNvSpPr>
            <a:spLocks noGrp="1"/>
          </p:cNvSpPr>
          <p:nvPr>
            <p:ph type="sldNum" sz="quarter" idx="10"/>
          </p:nvPr>
        </p:nvSpPr>
        <p:spPr/>
        <p:txBody>
          <a:bodyPr/>
          <a:lstStyle/>
          <a:p>
            <a:fld id="{1A5E36B9-FFCF-4CAD-B510-99E00CD42537}" type="slidenum">
              <a:rPr lang="en-US" smtClean="0"/>
              <a:pPr/>
              <a:t>80</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A5E36B9-FFCF-4CAD-B510-99E00CD42537}" type="slidenum">
              <a:rPr lang="en-US" smtClean="0"/>
              <a:pPr/>
              <a:t>83</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Operational Risk” in Part II, Item 7A herein</a:t>
            </a:r>
            <a:endParaRPr lang="en-US" dirty="0"/>
          </a:p>
        </p:txBody>
      </p:sp>
      <p:sp>
        <p:nvSpPr>
          <p:cNvPr id="4" name="Slide Number Placeholder 3"/>
          <p:cNvSpPr>
            <a:spLocks noGrp="1"/>
          </p:cNvSpPr>
          <p:nvPr>
            <p:ph type="sldNum" sz="quarter" idx="10"/>
          </p:nvPr>
        </p:nvSpPr>
        <p:spPr/>
        <p:txBody>
          <a:bodyPr/>
          <a:lstStyle/>
          <a:p>
            <a:fld id="{1A5E36B9-FFCF-4CAD-B510-99E00CD42537}" type="slidenum">
              <a:rPr lang="en-US" smtClean="0"/>
              <a:pPr/>
              <a:t>97</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zh-TW" sz="1200" kern="1200" baseline="0" dirty="0" smtClean="0">
                <a:solidFill>
                  <a:schemeClr val="tx1"/>
                </a:solidFill>
                <a:latin typeface="+mn-lt"/>
                <a:ea typeface="+mn-ea"/>
                <a:cs typeface="+mn-cs"/>
              </a:rPr>
              <a:t>Legal Proceedings” in Part I, Item 3 herein.</a:t>
            </a:r>
            <a:endParaRPr lang="zh-TW" altLang="en-US" dirty="0"/>
          </a:p>
        </p:txBody>
      </p:sp>
      <p:sp>
        <p:nvSpPr>
          <p:cNvPr id="4" name="Slide Number Placeholder 3"/>
          <p:cNvSpPr>
            <a:spLocks noGrp="1"/>
          </p:cNvSpPr>
          <p:nvPr>
            <p:ph type="sldNum" sz="quarter" idx="10"/>
          </p:nvPr>
        </p:nvSpPr>
        <p:spPr/>
        <p:txBody>
          <a:bodyPr/>
          <a:lstStyle/>
          <a:p>
            <a:fld id="{1A5E36B9-FFCF-4CAD-B510-99E00CD42537}" type="slidenum">
              <a:rPr lang="en-US" smtClean="0"/>
              <a:pPr/>
              <a:t>105</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“Competition” and “Supervision</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and Regulation” in Part I, Item 1 herein</a:t>
            </a:r>
            <a:endParaRPr lang="zh-TW" altLang="en-US" dirty="0"/>
          </a:p>
        </p:txBody>
      </p:sp>
      <p:sp>
        <p:nvSpPr>
          <p:cNvPr id="4" name="Slide Number Placeholder 3"/>
          <p:cNvSpPr>
            <a:spLocks noGrp="1"/>
          </p:cNvSpPr>
          <p:nvPr>
            <p:ph type="sldNum" sz="quarter" idx="10"/>
          </p:nvPr>
        </p:nvSpPr>
        <p:spPr/>
        <p:txBody>
          <a:bodyPr/>
          <a:lstStyle/>
          <a:p>
            <a:fld id="{1A5E36B9-FFCF-4CAD-B510-99E00CD42537}" type="slidenum">
              <a:rPr lang="en-US" smtClean="0"/>
              <a:pPr/>
              <a:t>107</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en-CA" dirty="0" smtClean="0"/>
              <a:t>Compensation, Management Development and Succession (CMDS)</a:t>
            </a:r>
            <a:endParaRPr lang="en-CA" dirty="0"/>
          </a:p>
        </p:txBody>
      </p:sp>
      <p:sp>
        <p:nvSpPr>
          <p:cNvPr id="4" name="Slide Number Placeholder 3"/>
          <p:cNvSpPr>
            <a:spLocks noGrp="1"/>
          </p:cNvSpPr>
          <p:nvPr>
            <p:ph type="sldNum" sz="quarter" idx="10"/>
          </p:nvPr>
        </p:nvSpPr>
        <p:spPr/>
        <p:txBody>
          <a:bodyPr/>
          <a:lstStyle/>
          <a:p>
            <a:fld id="{B4E6C15F-63E9-4A2D-9EDD-9AB72BDE5CA0}" type="slidenum">
              <a:rPr lang="en-CA" smtClean="0"/>
              <a:pPr/>
              <a:t>111</a:t>
            </a:fld>
            <a:endParaRPr lang="en-CA" dirty="0"/>
          </a:p>
        </p:txBody>
      </p:sp>
    </p:spTree>
    <p:extLst>
      <p:ext uri="{BB962C8B-B14F-4D97-AF65-F5344CB8AC3E}">
        <p14:creationId xmlns:p14="http://schemas.microsoft.com/office/powerpoint/2010/main" xmlns="" val="975619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9474A6AB-6A33-4C26-96AB-23412ECBC89E}" type="datetimeFigureOut">
              <a:rPr lang="en-CA" smtClean="0"/>
              <a:pPr/>
              <a:t>11/03/2011</a:t>
            </a:fld>
            <a:endParaRPr lang="en-CA" dirty="0"/>
          </a:p>
        </p:txBody>
      </p:sp>
      <p:sp>
        <p:nvSpPr>
          <p:cNvPr id="5" name="Footer Placeholder 4"/>
          <p:cNvSpPr>
            <a:spLocks noGrp="1"/>
          </p:cNvSpPr>
          <p:nvPr>
            <p:ph type="ftr" sz="quarter" idx="11"/>
          </p:nvPr>
        </p:nvSpPr>
        <p:spPr/>
        <p:txBody>
          <a:bodyPr/>
          <a:lstStyle/>
          <a:p>
            <a:endParaRPr lang="en-CA" dirty="0"/>
          </a:p>
        </p:txBody>
      </p:sp>
      <p:sp>
        <p:nvSpPr>
          <p:cNvPr id="6" name="Slide Number Placeholder 5"/>
          <p:cNvSpPr>
            <a:spLocks noGrp="1"/>
          </p:cNvSpPr>
          <p:nvPr>
            <p:ph type="sldNum" sz="quarter" idx="12"/>
          </p:nvPr>
        </p:nvSpPr>
        <p:spPr/>
        <p:txBody>
          <a:bodyPr/>
          <a:lstStyle/>
          <a:p>
            <a:fld id="{C140B73D-16C7-4D46-8141-E0ABBA9331F9}" type="slidenum">
              <a:rPr lang="en-CA" smtClean="0"/>
              <a:pPr/>
              <a:t>‹#›</a:t>
            </a:fld>
            <a:endParaRPr lang="en-CA"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74A6AB-6A33-4C26-96AB-23412ECBC89E}" type="datetimeFigureOut">
              <a:rPr lang="en-CA" smtClean="0"/>
              <a:pPr/>
              <a:t>11/03/2011</a:t>
            </a:fld>
            <a:endParaRPr lang="en-CA" dirty="0"/>
          </a:p>
        </p:txBody>
      </p:sp>
      <p:sp>
        <p:nvSpPr>
          <p:cNvPr id="5" name="Footer Placeholder 4"/>
          <p:cNvSpPr>
            <a:spLocks noGrp="1"/>
          </p:cNvSpPr>
          <p:nvPr>
            <p:ph type="ftr" sz="quarter" idx="11"/>
          </p:nvPr>
        </p:nvSpPr>
        <p:spPr/>
        <p:txBody>
          <a:bodyPr/>
          <a:lstStyle/>
          <a:p>
            <a:endParaRPr lang="en-CA" dirty="0"/>
          </a:p>
        </p:txBody>
      </p:sp>
      <p:sp>
        <p:nvSpPr>
          <p:cNvPr id="6" name="Slide Number Placeholder 5"/>
          <p:cNvSpPr>
            <a:spLocks noGrp="1"/>
          </p:cNvSpPr>
          <p:nvPr>
            <p:ph type="sldNum" sz="quarter" idx="12"/>
          </p:nvPr>
        </p:nvSpPr>
        <p:spPr/>
        <p:txBody>
          <a:bodyPr/>
          <a:lstStyle/>
          <a:p>
            <a:fld id="{C140B73D-16C7-4D46-8141-E0ABBA9331F9}" type="slidenum">
              <a:rPr lang="en-CA" smtClean="0"/>
              <a:pPr/>
              <a:t>‹#›</a:t>
            </a:fld>
            <a:endParaRPr lang="en-CA"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474A6AB-6A33-4C26-96AB-23412ECBC89E}" type="datetimeFigureOut">
              <a:rPr lang="en-CA" smtClean="0"/>
              <a:pPr/>
              <a:t>11/03/2011</a:t>
            </a:fld>
            <a:endParaRPr lang="en-CA" dirty="0"/>
          </a:p>
        </p:txBody>
      </p:sp>
      <p:sp>
        <p:nvSpPr>
          <p:cNvPr id="5" name="Footer Placeholder 4"/>
          <p:cNvSpPr>
            <a:spLocks noGrp="1"/>
          </p:cNvSpPr>
          <p:nvPr>
            <p:ph type="ftr" sz="quarter" idx="11"/>
          </p:nvPr>
        </p:nvSpPr>
        <p:spPr/>
        <p:txBody>
          <a:bodyPr/>
          <a:lstStyle/>
          <a:p>
            <a:endParaRPr lang="en-CA" dirty="0"/>
          </a:p>
        </p:txBody>
      </p:sp>
      <p:sp>
        <p:nvSpPr>
          <p:cNvPr id="6" name="Slide Number Placeholder 5"/>
          <p:cNvSpPr>
            <a:spLocks noGrp="1"/>
          </p:cNvSpPr>
          <p:nvPr>
            <p:ph type="sldNum" sz="quarter" idx="12"/>
          </p:nvPr>
        </p:nvSpPr>
        <p:spPr/>
        <p:txBody>
          <a:bodyPr/>
          <a:lstStyle/>
          <a:p>
            <a:fld id="{C140B73D-16C7-4D46-8141-E0ABBA9331F9}" type="slidenum">
              <a:rPr lang="en-CA" smtClean="0"/>
              <a:pPr/>
              <a:t>‹#›</a:t>
            </a:fld>
            <a:endParaRPr lang="en-CA"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474A6AB-6A33-4C26-96AB-23412ECBC89E}" type="datetimeFigureOut">
              <a:rPr lang="en-CA" smtClean="0"/>
              <a:pPr/>
              <a:t>11/03/2011</a:t>
            </a:fld>
            <a:endParaRPr lang="en-CA" dirty="0"/>
          </a:p>
        </p:txBody>
      </p:sp>
      <p:sp>
        <p:nvSpPr>
          <p:cNvPr id="6" name="Footer Placeholder 5"/>
          <p:cNvSpPr>
            <a:spLocks noGrp="1"/>
          </p:cNvSpPr>
          <p:nvPr>
            <p:ph type="ftr" sz="quarter" idx="11"/>
          </p:nvPr>
        </p:nvSpPr>
        <p:spPr/>
        <p:txBody>
          <a:bodyPr/>
          <a:lstStyle/>
          <a:p>
            <a:endParaRPr lang="en-CA" dirty="0"/>
          </a:p>
        </p:txBody>
      </p:sp>
      <p:sp>
        <p:nvSpPr>
          <p:cNvPr id="7" name="Slide Number Placeholder 6"/>
          <p:cNvSpPr>
            <a:spLocks noGrp="1"/>
          </p:cNvSpPr>
          <p:nvPr>
            <p:ph type="sldNum" sz="quarter" idx="12"/>
          </p:nvPr>
        </p:nvSpPr>
        <p:spPr/>
        <p:txBody>
          <a:bodyPr/>
          <a:lstStyle/>
          <a:p>
            <a:fld id="{C140B73D-16C7-4D46-8141-E0ABBA9331F9}" type="slidenum">
              <a:rPr lang="en-CA" smtClean="0"/>
              <a:pPr/>
              <a:t>‹#›</a:t>
            </a:fld>
            <a:endParaRPr lang="en-CA"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474A6AB-6A33-4C26-96AB-23412ECBC89E}" type="datetimeFigureOut">
              <a:rPr lang="en-CA" smtClean="0"/>
              <a:pPr/>
              <a:t>11/03/2011</a:t>
            </a:fld>
            <a:endParaRPr lang="en-CA" dirty="0"/>
          </a:p>
        </p:txBody>
      </p:sp>
      <p:sp>
        <p:nvSpPr>
          <p:cNvPr id="8" name="Footer Placeholder 7"/>
          <p:cNvSpPr>
            <a:spLocks noGrp="1"/>
          </p:cNvSpPr>
          <p:nvPr>
            <p:ph type="ftr" sz="quarter" idx="11"/>
          </p:nvPr>
        </p:nvSpPr>
        <p:spPr/>
        <p:txBody>
          <a:bodyPr/>
          <a:lstStyle/>
          <a:p>
            <a:endParaRPr lang="en-CA" dirty="0"/>
          </a:p>
        </p:txBody>
      </p:sp>
      <p:sp>
        <p:nvSpPr>
          <p:cNvPr id="9" name="Slide Number Placeholder 8"/>
          <p:cNvSpPr>
            <a:spLocks noGrp="1"/>
          </p:cNvSpPr>
          <p:nvPr>
            <p:ph type="sldNum" sz="quarter" idx="12"/>
          </p:nvPr>
        </p:nvSpPr>
        <p:spPr/>
        <p:txBody>
          <a:bodyPr/>
          <a:lstStyle/>
          <a:p>
            <a:fld id="{C140B73D-16C7-4D46-8141-E0ABBA9331F9}" type="slidenum">
              <a:rPr lang="en-CA" smtClean="0"/>
              <a:pPr/>
              <a:t>‹#›</a:t>
            </a:fld>
            <a:endParaRPr lang="en-CA"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474A6AB-6A33-4C26-96AB-23412ECBC89E}" type="datetimeFigureOut">
              <a:rPr lang="en-CA" smtClean="0"/>
              <a:pPr/>
              <a:t>11/03/2011</a:t>
            </a:fld>
            <a:endParaRPr lang="en-CA" dirty="0"/>
          </a:p>
        </p:txBody>
      </p:sp>
      <p:sp>
        <p:nvSpPr>
          <p:cNvPr id="4" name="Footer Placeholder 3"/>
          <p:cNvSpPr>
            <a:spLocks noGrp="1"/>
          </p:cNvSpPr>
          <p:nvPr>
            <p:ph type="ftr" sz="quarter" idx="11"/>
          </p:nvPr>
        </p:nvSpPr>
        <p:spPr/>
        <p:txBody>
          <a:bodyPr/>
          <a:lstStyle/>
          <a:p>
            <a:endParaRPr lang="en-CA" dirty="0"/>
          </a:p>
        </p:txBody>
      </p:sp>
      <p:sp>
        <p:nvSpPr>
          <p:cNvPr id="5" name="Slide Number Placeholder 4"/>
          <p:cNvSpPr>
            <a:spLocks noGrp="1"/>
          </p:cNvSpPr>
          <p:nvPr>
            <p:ph type="sldNum" sz="quarter" idx="12"/>
          </p:nvPr>
        </p:nvSpPr>
        <p:spPr/>
        <p:txBody>
          <a:bodyPr/>
          <a:lstStyle/>
          <a:p>
            <a:fld id="{C140B73D-16C7-4D46-8141-E0ABBA9331F9}" type="slidenum">
              <a:rPr lang="en-CA" smtClean="0"/>
              <a:pPr/>
              <a:t>‹#›</a:t>
            </a:fld>
            <a:endParaRPr lang="en-CA"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74A6AB-6A33-4C26-96AB-23412ECBC89E}" type="datetimeFigureOut">
              <a:rPr lang="en-CA" smtClean="0"/>
              <a:pPr/>
              <a:t>11/03/2011</a:t>
            </a:fld>
            <a:endParaRPr lang="en-CA" dirty="0"/>
          </a:p>
        </p:txBody>
      </p:sp>
      <p:sp>
        <p:nvSpPr>
          <p:cNvPr id="3" name="Footer Placeholder 2"/>
          <p:cNvSpPr>
            <a:spLocks noGrp="1"/>
          </p:cNvSpPr>
          <p:nvPr>
            <p:ph type="ftr" sz="quarter" idx="11"/>
          </p:nvPr>
        </p:nvSpPr>
        <p:spPr/>
        <p:txBody>
          <a:bodyPr/>
          <a:lstStyle/>
          <a:p>
            <a:endParaRPr lang="en-CA" dirty="0"/>
          </a:p>
        </p:txBody>
      </p:sp>
      <p:sp>
        <p:nvSpPr>
          <p:cNvPr id="4" name="Slide Number Placeholder 3"/>
          <p:cNvSpPr>
            <a:spLocks noGrp="1"/>
          </p:cNvSpPr>
          <p:nvPr>
            <p:ph type="sldNum" sz="quarter" idx="12"/>
          </p:nvPr>
        </p:nvSpPr>
        <p:spPr/>
        <p:txBody>
          <a:bodyPr/>
          <a:lstStyle/>
          <a:p>
            <a:fld id="{C140B73D-16C7-4D46-8141-E0ABBA9331F9}" type="slidenum">
              <a:rPr lang="en-CA" smtClean="0"/>
              <a:pPr/>
              <a:t>‹#›</a:t>
            </a:fld>
            <a:endParaRPr lang="en-CA"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smtClean="0"/>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474A6AB-6A33-4C26-96AB-23412ECBC89E}" type="datetimeFigureOut">
              <a:rPr lang="en-CA" smtClean="0"/>
              <a:pPr/>
              <a:t>11/03/2011</a:t>
            </a:fld>
            <a:endParaRPr lang="en-CA" dirty="0"/>
          </a:p>
        </p:txBody>
      </p:sp>
      <p:sp>
        <p:nvSpPr>
          <p:cNvPr id="6" name="Footer Placeholder 5"/>
          <p:cNvSpPr>
            <a:spLocks noGrp="1"/>
          </p:cNvSpPr>
          <p:nvPr>
            <p:ph type="ftr" sz="quarter" idx="11"/>
          </p:nvPr>
        </p:nvSpPr>
        <p:spPr/>
        <p:txBody>
          <a:bodyPr/>
          <a:lstStyle/>
          <a:p>
            <a:endParaRPr lang="en-CA" dirty="0"/>
          </a:p>
        </p:txBody>
      </p:sp>
      <p:sp>
        <p:nvSpPr>
          <p:cNvPr id="7" name="Slide Number Placeholder 6"/>
          <p:cNvSpPr>
            <a:spLocks noGrp="1"/>
          </p:cNvSpPr>
          <p:nvPr>
            <p:ph type="sldNum" sz="quarter" idx="12"/>
          </p:nvPr>
        </p:nvSpPr>
        <p:spPr/>
        <p:txBody>
          <a:bodyPr/>
          <a:lstStyle/>
          <a:p>
            <a:fld id="{C140B73D-16C7-4D46-8141-E0ABBA9331F9}" type="slidenum">
              <a:rPr lang="en-CA" smtClean="0"/>
              <a:pPr/>
              <a:t>‹#›</a:t>
            </a:fld>
            <a:endParaRPr lang="en-CA" dirty="0"/>
          </a:p>
        </p:txBody>
      </p:sp>
      <p:sp>
        <p:nvSpPr>
          <p:cNvPr id="9" name="Content Placeholder 8"/>
          <p:cNvSpPr>
            <a:spLocks noGrp="1"/>
          </p:cNvSpPr>
          <p:nvPr>
            <p:ph sz="quarter" idx="13"/>
          </p:nvPr>
        </p:nvSpPr>
        <p:spPr>
          <a:xfrm>
            <a:off x="304800" y="381000"/>
            <a:ext cx="7772400" cy="494284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smtClean="0"/>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7"/>
          <p:cNvSpPr>
            <a:spLocks noGrp="1"/>
          </p:cNvSpPr>
          <p:nvPr>
            <p:ph type="dt" sz="half" idx="10"/>
          </p:nvPr>
        </p:nvSpPr>
        <p:spPr/>
        <p:txBody>
          <a:bodyPr/>
          <a:lstStyle/>
          <a:p>
            <a:fld id="{9474A6AB-6A33-4C26-96AB-23412ECBC89E}" type="datetimeFigureOut">
              <a:rPr lang="en-CA" smtClean="0"/>
              <a:pPr/>
              <a:t>11/03/2011</a:t>
            </a:fld>
            <a:endParaRPr lang="en-CA" dirty="0"/>
          </a:p>
        </p:txBody>
      </p:sp>
      <p:sp>
        <p:nvSpPr>
          <p:cNvPr id="9" name="Slide Number Placeholder 8"/>
          <p:cNvSpPr>
            <a:spLocks noGrp="1"/>
          </p:cNvSpPr>
          <p:nvPr>
            <p:ph type="sldNum" sz="quarter" idx="11"/>
          </p:nvPr>
        </p:nvSpPr>
        <p:spPr/>
        <p:txBody>
          <a:bodyPr/>
          <a:lstStyle/>
          <a:p>
            <a:fld id="{C140B73D-16C7-4D46-8141-E0ABBA9331F9}" type="slidenum">
              <a:rPr lang="en-CA" smtClean="0"/>
              <a:pPr/>
              <a:t>‹#›</a:t>
            </a:fld>
            <a:endParaRPr lang="en-CA" dirty="0"/>
          </a:p>
        </p:txBody>
      </p:sp>
      <p:sp>
        <p:nvSpPr>
          <p:cNvPr id="10" name="Footer Placeholder 9"/>
          <p:cNvSpPr>
            <a:spLocks noGrp="1"/>
          </p:cNvSpPr>
          <p:nvPr>
            <p:ph type="ftr" sz="quarter" idx="12"/>
          </p:nvPr>
        </p:nvSpPr>
        <p:spPr/>
        <p:txBody>
          <a:bodyPr/>
          <a:lstStyle/>
          <a:p>
            <a:endParaRPr lang="en-CA"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74A6AB-6A33-4C26-96AB-23412ECBC89E}" type="datetimeFigureOut">
              <a:rPr lang="en-CA" smtClean="0"/>
              <a:pPr/>
              <a:t>11/03/2011</a:t>
            </a:fld>
            <a:endParaRPr lang="en-CA" dirty="0"/>
          </a:p>
        </p:txBody>
      </p:sp>
      <p:sp>
        <p:nvSpPr>
          <p:cNvPr id="5" name="Footer Placeholder 4"/>
          <p:cNvSpPr>
            <a:spLocks noGrp="1"/>
          </p:cNvSpPr>
          <p:nvPr>
            <p:ph type="ftr" sz="quarter" idx="11"/>
          </p:nvPr>
        </p:nvSpPr>
        <p:spPr/>
        <p:txBody>
          <a:bodyPr/>
          <a:lstStyle/>
          <a:p>
            <a:endParaRPr lang="en-CA" dirty="0"/>
          </a:p>
        </p:txBody>
      </p:sp>
      <p:sp>
        <p:nvSpPr>
          <p:cNvPr id="6" name="Slide Number Placeholder 5"/>
          <p:cNvSpPr>
            <a:spLocks noGrp="1"/>
          </p:cNvSpPr>
          <p:nvPr>
            <p:ph type="sldNum" sz="quarter" idx="12"/>
          </p:nvPr>
        </p:nvSpPr>
        <p:spPr/>
        <p:txBody>
          <a:bodyPr/>
          <a:lstStyle/>
          <a:p>
            <a:fld id="{C140B73D-16C7-4D46-8141-E0ABBA9331F9}" type="slidenum">
              <a:rPr lang="en-CA" smtClean="0"/>
              <a:pPr/>
              <a:t>‹#›</a:t>
            </a:fld>
            <a:endParaRPr lang="en-CA"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74A6AB-6A33-4C26-96AB-23412ECBC89E}" type="datetimeFigureOut">
              <a:rPr lang="en-CA" smtClean="0"/>
              <a:pPr/>
              <a:t>11/03/2011</a:t>
            </a:fld>
            <a:endParaRPr lang="en-CA" dirty="0"/>
          </a:p>
        </p:txBody>
      </p:sp>
      <p:sp>
        <p:nvSpPr>
          <p:cNvPr id="5" name="Footer Placeholder 4"/>
          <p:cNvSpPr>
            <a:spLocks noGrp="1"/>
          </p:cNvSpPr>
          <p:nvPr>
            <p:ph type="ftr" sz="quarter" idx="11"/>
          </p:nvPr>
        </p:nvSpPr>
        <p:spPr/>
        <p:txBody>
          <a:bodyPr/>
          <a:lstStyle/>
          <a:p>
            <a:endParaRPr lang="en-CA" dirty="0"/>
          </a:p>
        </p:txBody>
      </p:sp>
      <p:sp>
        <p:nvSpPr>
          <p:cNvPr id="6" name="Slide Number Placeholder 5"/>
          <p:cNvSpPr>
            <a:spLocks noGrp="1"/>
          </p:cNvSpPr>
          <p:nvPr>
            <p:ph type="sldNum" sz="quarter" idx="12"/>
          </p:nvPr>
        </p:nvSpPr>
        <p:spPr/>
        <p:txBody>
          <a:bodyPr/>
          <a:lstStyle/>
          <a:p>
            <a:fld id="{C140B73D-16C7-4D46-8141-E0ABBA9331F9}" type="slidenum">
              <a:rPr lang="en-CA" smtClean="0"/>
              <a:pPr/>
              <a:t>‹#›</a:t>
            </a:fld>
            <a:endParaRPr lang="en-CA"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C140B73D-16C7-4D46-8141-E0ABBA9331F9}" type="slidenum">
              <a:rPr lang="en-CA" smtClean="0"/>
              <a:pPr/>
              <a:t>‹#›</a:t>
            </a:fld>
            <a:endParaRPr lang="en-CA" dirty="0"/>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CA" dirty="0"/>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9474A6AB-6A33-4C26-96AB-23412ECBC89E}" type="datetimeFigureOut">
              <a:rPr lang="en-CA" smtClean="0"/>
              <a:pPr/>
              <a:t>11/03/2011</a:t>
            </a:fld>
            <a:endParaRPr lang="en-CA" dirty="0"/>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CA" dirty="0" smtClean="0"/>
              <a:t>Morgan Stanley</a:t>
            </a:r>
            <a:endParaRPr lang="en-CA" dirty="0"/>
          </a:p>
        </p:txBody>
      </p:sp>
      <p:sp>
        <p:nvSpPr>
          <p:cNvPr id="3" name="Subtitle 2"/>
          <p:cNvSpPr>
            <a:spLocks noGrp="1"/>
          </p:cNvSpPr>
          <p:nvPr>
            <p:ph type="subTitle" idx="1"/>
          </p:nvPr>
        </p:nvSpPr>
        <p:spPr/>
        <p:txBody>
          <a:bodyPr>
            <a:normAutofit lnSpcReduction="10000"/>
          </a:bodyPr>
          <a:lstStyle/>
          <a:p>
            <a:r>
              <a:rPr lang="en-CA" dirty="0" smtClean="0">
                <a:solidFill>
                  <a:schemeClr val="tx1"/>
                </a:solidFill>
              </a:rPr>
              <a:t>Ka Him Ng</a:t>
            </a:r>
            <a:endParaRPr lang="en-CA" dirty="0">
              <a:solidFill>
                <a:schemeClr val="tx1"/>
              </a:solidFill>
            </a:endParaRPr>
          </a:p>
          <a:p>
            <a:r>
              <a:rPr lang="en-CA" dirty="0" smtClean="0">
                <a:solidFill>
                  <a:schemeClr val="tx1"/>
                </a:solidFill>
              </a:rPr>
              <a:t>Kevin Yu</a:t>
            </a:r>
          </a:p>
          <a:p>
            <a:r>
              <a:rPr lang="en-CA" dirty="0" smtClean="0">
                <a:solidFill>
                  <a:schemeClr val="tx1"/>
                </a:solidFill>
              </a:rPr>
              <a:t>Eric Long Ming Chu</a:t>
            </a:r>
            <a:endParaRPr lang="en-CA" dirty="0">
              <a:solidFill>
                <a:schemeClr val="tx1"/>
              </a:solidFill>
            </a:endParaRPr>
          </a:p>
        </p:txBody>
      </p:sp>
    </p:spTree>
    <p:extLst>
      <p:ext uri="{BB962C8B-B14F-4D97-AF65-F5344CB8AC3E}">
        <p14:creationId xmlns:p14="http://schemas.microsoft.com/office/powerpoint/2010/main" xmlns="" val="35727403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lstStyle/>
          <a:p>
            <a:pPr algn="ctr">
              <a:buNone/>
            </a:pPr>
            <a:r>
              <a:rPr lang="en-CA" sz="4800" dirty="0" smtClean="0"/>
              <a:t>Agenda</a:t>
            </a:r>
          </a:p>
          <a:p>
            <a:pPr marL="514350" indent="-514350">
              <a:buFont typeface="+mj-lt"/>
              <a:buAutoNum type="arabicPeriod"/>
            </a:pPr>
            <a:r>
              <a:rPr lang="en-CA" dirty="0" smtClean="0"/>
              <a:t>Company overview</a:t>
            </a:r>
          </a:p>
          <a:p>
            <a:pPr marL="514350" indent="-514350">
              <a:buFont typeface="+mj-lt"/>
              <a:buAutoNum type="arabicPeriod"/>
            </a:pPr>
            <a:r>
              <a:rPr lang="en-CA" dirty="0" smtClean="0"/>
              <a:t>Risk management activities</a:t>
            </a:r>
          </a:p>
          <a:p>
            <a:pPr marL="514350" indent="-514350">
              <a:buFont typeface="+mj-lt"/>
              <a:buAutoNum type="arabicPeriod"/>
            </a:pPr>
            <a:r>
              <a:rPr lang="en-CA" dirty="0" smtClean="0"/>
              <a:t>Recommendation</a:t>
            </a:r>
          </a:p>
        </p:txBody>
      </p:sp>
    </p:spTree>
    <p:extLst>
      <p:ext uri="{BB962C8B-B14F-4D97-AF65-F5344CB8AC3E}">
        <p14:creationId xmlns:p14="http://schemas.microsoft.com/office/powerpoint/2010/main" xmlns="" val="237728375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smtClean="0"/>
              <a:t>Company Overview</a:t>
            </a:r>
            <a:endParaRPr lang="en-CA" dirty="0"/>
          </a:p>
        </p:txBody>
      </p:sp>
      <p:sp>
        <p:nvSpPr>
          <p:cNvPr id="3" name="Content Placeholder 2"/>
          <p:cNvSpPr>
            <a:spLocks noGrp="1"/>
          </p:cNvSpPr>
          <p:nvPr>
            <p:ph idx="1"/>
          </p:nvPr>
        </p:nvSpPr>
        <p:spPr/>
        <p:txBody>
          <a:bodyPr/>
          <a:lstStyle/>
          <a:p>
            <a:pPr>
              <a:buNone/>
            </a:pPr>
            <a:r>
              <a:rPr lang="en-US" dirty="0" smtClean="0"/>
              <a:t>Formed on September 16, 1935</a:t>
            </a:r>
          </a:p>
          <a:p>
            <a:pPr>
              <a:buNone/>
            </a:pPr>
            <a:r>
              <a:rPr lang="en-US" dirty="0" smtClean="0"/>
              <a:t>Formed by J.P Morgan &amp; Co. employees </a:t>
            </a:r>
          </a:p>
          <a:p>
            <a:pPr lvl="1"/>
            <a:r>
              <a:rPr lang="en-US" dirty="0" smtClean="0"/>
              <a:t>Henry S. Morgan</a:t>
            </a:r>
          </a:p>
          <a:p>
            <a:pPr lvl="1"/>
            <a:r>
              <a:rPr lang="en-US" dirty="0" smtClean="0"/>
              <a:t>Harold Stanley </a:t>
            </a:r>
          </a:p>
          <a:p>
            <a:pPr>
              <a:buNone/>
            </a:pPr>
            <a:r>
              <a:rPr lang="en-US" dirty="0" smtClean="0"/>
              <a:t>1942: Join the New York Stock Exchange</a:t>
            </a:r>
          </a:p>
          <a:p>
            <a:pPr>
              <a:buNone/>
            </a:pPr>
            <a:r>
              <a:rPr lang="en-US" dirty="0" smtClean="0"/>
              <a:t>US $808 billion as assets </a:t>
            </a:r>
          </a:p>
          <a:p>
            <a:pPr>
              <a:buNone/>
            </a:pPr>
            <a:endParaRPr lang="en-CA" dirty="0"/>
          </a:p>
        </p:txBody>
      </p:sp>
      <p:pic>
        <p:nvPicPr>
          <p:cNvPr id="4"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444208" y="2860576"/>
            <a:ext cx="1009650" cy="1304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444208" y="1412776"/>
            <a:ext cx="1028700" cy="1295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29003559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Global Offices</a:t>
            </a:r>
            <a:endParaRPr lang="en-CA" dirty="0"/>
          </a:p>
        </p:txBody>
      </p:sp>
      <p:pic>
        <p:nvPicPr>
          <p:cNvPr id="4" name="Content Placeholder 3"/>
          <p:cNvPicPr>
            <a:picLocks noGrp="1"/>
          </p:cNvPicPr>
          <p:nvPr>
            <p:ph idx="1"/>
          </p:nvPr>
        </p:nvPicPr>
        <p:blipFill>
          <a:blip r:embed="rId2" cstate="print"/>
          <a:srcRect b="29397"/>
          <a:stretch>
            <a:fillRect/>
          </a:stretch>
        </p:blipFill>
        <p:spPr bwMode="auto">
          <a:xfrm>
            <a:off x="1187624" y="1412776"/>
            <a:ext cx="6840760" cy="4752528"/>
          </a:xfrm>
          <a:prstGeom prst="rect">
            <a:avLst/>
          </a:prstGeom>
          <a:noFill/>
          <a:ln w="9525">
            <a:noFill/>
            <a:miter lim="800000"/>
            <a:headEnd/>
            <a:tailEnd/>
          </a:ln>
        </p:spPr>
      </p:pic>
      <p:cxnSp>
        <p:nvCxnSpPr>
          <p:cNvPr id="9" name="Straight Arrow Connector 8"/>
          <p:cNvCxnSpPr/>
          <p:nvPr/>
        </p:nvCxnSpPr>
        <p:spPr>
          <a:xfrm rot="16200000" flipV="1">
            <a:off x="2087724" y="3681028"/>
            <a:ext cx="2520280" cy="15841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rot="5400000">
            <a:off x="1619672" y="1916832"/>
            <a:ext cx="864096" cy="86409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555776" y="1700808"/>
            <a:ext cx="3096344" cy="369332"/>
          </a:xfrm>
          <a:prstGeom prst="rect">
            <a:avLst/>
          </a:prstGeom>
          <a:noFill/>
        </p:spPr>
        <p:txBody>
          <a:bodyPr wrap="square" rtlCol="0">
            <a:spAutoFit/>
          </a:bodyPr>
          <a:lstStyle/>
          <a:p>
            <a:r>
              <a:rPr lang="en-CA" dirty="0" smtClean="0"/>
              <a:t>Calgary, only office in Canada </a:t>
            </a:r>
            <a:endParaRPr lang="en-CA" dirty="0"/>
          </a:p>
        </p:txBody>
      </p:sp>
      <p:sp>
        <p:nvSpPr>
          <p:cNvPr id="13" name="TextBox 12"/>
          <p:cNvSpPr txBox="1"/>
          <p:nvPr/>
        </p:nvSpPr>
        <p:spPr>
          <a:xfrm>
            <a:off x="4139952" y="5589240"/>
            <a:ext cx="2520280" cy="369332"/>
          </a:xfrm>
          <a:prstGeom prst="rect">
            <a:avLst/>
          </a:prstGeom>
          <a:noFill/>
        </p:spPr>
        <p:txBody>
          <a:bodyPr wrap="square" rtlCol="0">
            <a:spAutoFit/>
          </a:bodyPr>
          <a:lstStyle/>
          <a:p>
            <a:r>
              <a:rPr lang="en-CA" dirty="0" smtClean="0"/>
              <a:t>Headquarter in New York</a:t>
            </a:r>
            <a:endParaRPr lang="en-CA" dirty="0"/>
          </a:p>
        </p:txBody>
      </p:sp>
    </p:spTree>
    <p:extLst>
      <p:ext uri="{BB962C8B-B14F-4D97-AF65-F5344CB8AC3E}">
        <p14:creationId xmlns:p14="http://schemas.microsoft.com/office/powerpoint/2010/main" xmlns="" val="392143515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Industry</a:t>
            </a:r>
            <a:endParaRPr lang="en-CA" dirty="0"/>
          </a:p>
        </p:txBody>
      </p:sp>
      <p:sp>
        <p:nvSpPr>
          <p:cNvPr id="3" name="Content Placeholder 2"/>
          <p:cNvSpPr>
            <a:spLocks noGrp="1"/>
          </p:cNvSpPr>
          <p:nvPr>
            <p:ph idx="1"/>
          </p:nvPr>
        </p:nvSpPr>
        <p:spPr/>
        <p:txBody>
          <a:bodyPr/>
          <a:lstStyle/>
          <a:p>
            <a:r>
              <a:rPr lang="en-CA" dirty="0" smtClean="0"/>
              <a:t>Global Financial Services</a:t>
            </a:r>
          </a:p>
          <a:p>
            <a:r>
              <a:rPr lang="en-CA" dirty="0" smtClean="0"/>
              <a:t>Institutional Asset Management</a:t>
            </a:r>
          </a:p>
          <a:p>
            <a:r>
              <a:rPr lang="en-CA" dirty="0" smtClean="0"/>
              <a:t>Retail Asset Management</a:t>
            </a:r>
          </a:p>
          <a:p>
            <a:r>
              <a:rPr lang="en-CA" dirty="0" smtClean="0"/>
              <a:t>Investment Banking</a:t>
            </a:r>
          </a:p>
        </p:txBody>
      </p:sp>
    </p:spTree>
    <p:extLst>
      <p:ext uri="{BB962C8B-B14F-4D97-AF65-F5344CB8AC3E}">
        <p14:creationId xmlns:p14="http://schemas.microsoft.com/office/powerpoint/2010/main" xmlns="" val="39906374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Competitors</a:t>
            </a:r>
            <a:endParaRPr lang="en-CA" dirty="0"/>
          </a:p>
        </p:txBody>
      </p:sp>
      <p:sp>
        <p:nvSpPr>
          <p:cNvPr id="3" name="Content Placeholder 2"/>
          <p:cNvSpPr>
            <a:spLocks noGrp="1"/>
          </p:cNvSpPr>
          <p:nvPr>
            <p:ph idx="1"/>
          </p:nvPr>
        </p:nvSpPr>
        <p:spPr/>
        <p:txBody>
          <a:bodyPr/>
          <a:lstStyle/>
          <a:p>
            <a:r>
              <a:rPr lang="en-CA" dirty="0" smtClean="0"/>
              <a:t>Citigroup</a:t>
            </a:r>
          </a:p>
          <a:p>
            <a:r>
              <a:rPr lang="en-CA" dirty="0" smtClean="0"/>
              <a:t>JP Morgan</a:t>
            </a:r>
          </a:p>
          <a:p>
            <a:r>
              <a:rPr lang="en-CA" dirty="0" smtClean="0"/>
              <a:t>Goldman Sachs</a:t>
            </a:r>
          </a:p>
          <a:p>
            <a:r>
              <a:rPr lang="en-CA" dirty="0" smtClean="0"/>
              <a:t>Merrill Lynch</a:t>
            </a:r>
          </a:p>
          <a:p>
            <a:r>
              <a:rPr lang="en-CA" dirty="0" smtClean="0"/>
              <a:t>UBS</a:t>
            </a:r>
            <a:endParaRPr lang="en-CA" dirty="0"/>
          </a:p>
        </p:txBody>
      </p:sp>
    </p:spTree>
    <p:extLst>
      <p:ext uri="{BB962C8B-B14F-4D97-AF65-F5344CB8AC3E}">
        <p14:creationId xmlns:p14="http://schemas.microsoft.com/office/powerpoint/2010/main" xmlns="" val="250492341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Three Core Businesses</a:t>
            </a:r>
            <a:endParaRPr lang="en-CA" dirty="0"/>
          </a:p>
        </p:txBody>
      </p:sp>
      <p:sp>
        <p:nvSpPr>
          <p:cNvPr id="3" name="Content Placeholder 2"/>
          <p:cNvSpPr>
            <a:spLocks noGrp="1"/>
          </p:cNvSpPr>
          <p:nvPr>
            <p:ph idx="1"/>
          </p:nvPr>
        </p:nvSpPr>
        <p:spPr/>
        <p:txBody>
          <a:bodyPr>
            <a:normAutofit lnSpcReduction="10000"/>
          </a:bodyPr>
          <a:lstStyle/>
          <a:p>
            <a:r>
              <a:rPr lang="en-CA" sz="1800" dirty="0" smtClean="0"/>
              <a:t>Institutional Securities</a:t>
            </a:r>
          </a:p>
          <a:p>
            <a:pPr lvl="1"/>
            <a:r>
              <a:rPr lang="en-CA" sz="1400" dirty="0" smtClean="0"/>
              <a:t>Capital raising</a:t>
            </a:r>
          </a:p>
          <a:p>
            <a:pPr lvl="1"/>
            <a:r>
              <a:rPr lang="en-CA" sz="1400" dirty="0" smtClean="0"/>
              <a:t>Financial advisory services</a:t>
            </a:r>
          </a:p>
          <a:p>
            <a:pPr lvl="1"/>
            <a:r>
              <a:rPr lang="en-CA" sz="1400" dirty="0" smtClean="0"/>
              <a:t>Corporate lending</a:t>
            </a:r>
          </a:p>
          <a:p>
            <a:pPr lvl="1"/>
            <a:r>
              <a:rPr lang="en-CA" sz="1400" dirty="0" smtClean="0"/>
              <a:t>Sales, trading, financing and market-making activities</a:t>
            </a:r>
          </a:p>
          <a:p>
            <a:pPr lvl="1"/>
            <a:r>
              <a:rPr lang="en-CA" sz="1400" dirty="0" smtClean="0"/>
              <a:t>Benchmark indices and risk management analytic</a:t>
            </a:r>
          </a:p>
          <a:p>
            <a:pPr lvl="1"/>
            <a:r>
              <a:rPr lang="en-CA" sz="1400" dirty="0" smtClean="0"/>
              <a:t> Investment activities</a:t>
            </a:r>
          </a:p>
          <a:p>
            <a:r>
              <a:rPr lang="en-CA" sz="1800" dirty="0" smtClean="0"/>
              <a:t>Global Wealth Management Group</a:t>
            </a:r>
          </a:p>
          <a:p>
            <a:pPr lvl="1"/>
            <a:r>
              <a:rPr lang="en-CA" sz="1400" dirty="0" smtClean="0"/>
              <a:t>Brokerage and investment advisory</a:t>
            </a:r>
          </a:p>
          <a:p>
            <a:pPr lvl="1"/>
            <a:r>
              <a:rPr lang="en-CA" sz="1400" dirty="0" smtClean="0"/>
              <a:t>Financial and wealth planning services</a:t>
            </a:r>
          </a:p>
          <a:p>
            <a:pPr lvl="1"/>
            <a:r>
              <a:rPr lang="en-CA" sz="1400" dirty="0" smtClean="0"/>
              <a:t>Annuity and other insurance products</a:t>
            </a:r>
          </a:p>
          <a:p>
            <a:pPr lvl="1"/>
            <a:r>
              <a:rPr lang="en-CA" sz="1400" dirty="0" smtClean="0"/>
              <a:t>Credit and other lending products</a:t>
            </a:r>
          </a:p>
          <a:p>
            <a:pPr lvl="1"/>
            <a:r>
              <a:rPr lang="en-CA" sz="1400" dirty="0" smtClean="0"/>
              <a:t>Cash management services</a:t>
            </a:r>
          </a:p>
          <a:p>
            <a:pPr lvl="1"/>
            <a:r>
              <a:rPr lang="en-CA" sz="1400" dirty="0" smtClean="0"/>
              <a:t>Retirement services</a:t>
            </a:r>
          </a:p>
          <a:p>
            <a:pPr lvl="1"/>
            <a:r>
              <a:rPr lang="en-CA" sz="1400" dirty="0" smtClean="0"/>
              <a:t>Trust and fiduciary services</a:t>
            </a:r>
          </a:p>
          <a:p>
            <a:r>
              <a:rPr lang="en-CA" sz="1800" dirty="0" smtClean="0"/>
              <a:t>Asset Management.</a:t>
            </a:r>
          </a:p>
          <a:p>
            <a:pPr lvl="1" fontAlgn="base"/>
            <a:r>
              <a:rPr lang="en-CA" sz="1400" dirty="0" smtClean="0"/>
              <a:t>Global asset management products and services</a:t>
            </a:r>
          </a:p>
          <a:p>
            <a:pPr lvl="1" fontAlgn="base"/>
            <a:r>
              <a:rPr lang="en-CA" sz="1400" dirty="0" smtClean="0"/>
              <a:t>Investment activities</a:t>
            </a:r>
          </a:p>
          <a:p>
            <a:pPr fontAlgn="base"/>
            <a:endParaRPr lang="en-CA" dirty="0" smtClean="0"/>
          </a:p>
          <a:p>
            <a:pPr fontAlgn="base"/>
            <a:endParaRPr lang="en-CA" dirty="0" smtClean="0"/>
          </a:p>
          <a:p>
            <a:pPr fontAlgn="base"/>
            <a:endParaRPr lang="en-CA" dirty="0" smtClean="0"/>
          </a:p>
          <a:p>
            <a:pPr fontAlgn="base"/>
            <a:endParaRPr lang="en-CA" dirty="0" smtClean="0"/>
          </a:p>
          <a:p>
            <a:pPr lvl="1"/>
            <a:endParaRPr lang="en-CA" sz="500" dirty="0"/>
          </a:p>
        </p:txBody>
      </p:sp>
    </p:spTree>
    <p:extLst>
      <p:ext uri="{BB962C8B-B14F-4D97-AF65-F5344CB8AC3E}">
        <p14:creationId xmlns:p14="http://schemas.microsoft.com/office/powerpoint/2010/main" xmlns="" val="28804998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5-Year Net Annual Revenue</a:t>
            </a:r>
            <a:endParaRPr lang="en-CA" dirty="0"/>
          </a:p>
        </p:txBody>
      </p:sp>
      <p:graphicFrame>
        <p:nvGraphicFramePr>
          <p:cNvPr id="4" name="Content Placeholder 3"/>
          <p:cNvGraphicFramePr>
            <a:graphicFrameLocks noGrp="1"/>
          </p:cNvGraphicFramePr>
          <p:nvPr>
            <p:ph idx="1"/>
          </p:nvPr>
        </p:nvGraphicFramePr>
        <p:xfrm>
          <a:off x="457200" y="1600200"/>
          <a:ext cx="7620000" cy="48006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xmlns="" val="8740371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Business Mix 2009 and 2010</a:t>
            </a:r>
            <a:endParaRPr lang="en-CA"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xmlns="" val="3450741469"/>
              </p:ext>
            </p:extLst>
          </p:nvPr>
        </p:nvGraphicFramePr>
        <p:xfrm>
          <a:off x="-180528" y="1844824"/>
          <a:ext cx="5482952" cy="398904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p:cNvGraphicFramePr/>
          <p:nvPr>
            <p:extLst>
              <p:ext uri="{D42A27DB-BD31-4B8C-83A1-F6EECF244321}">
                <p14:modId xmlns:p14="http://schemas.microsoft.com/office/powerpoint/2010/main" xmlns="" val="3421562623"/>
              </p:ext>
            </p:extLst>
          </p:nvPr>
        </p:nvGraphicFramePr>
        <p:xfrm>
          <a:off x="3707904" y="1844824"/>
          <a:ext cx="6096000" cy="4064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xmlns="" val="336584993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smtClean="0"/>
              <a:t>Asset level evaluation</a:t>
            </a:r>
            <a:endParaRPr lang="zh-TW" altLang="en-US" dirty="0"/>
          </a:p>
        </p:txBody>
      </p:sp>
      <p:sp>
        <p:nvSpPr>
          <p:cNvPr id="3" name="Content Placeholder 2"/>
          <p:cNvSpPr>
            <a:spLocks noGrp="1"/>
          </p:cNvSpPr>
          <p:nvPr>
            <p:ph idx="1"/>
          </p:nvPr>
        </p:nvSpPr>
        <p:spPr/>
        <p:txBody>
          <a:bodyPr>
            <a:normAutofit/>
          </a:bodyPr>
          <a:lstStyle/>
          <a:p>
            <a:r>
              <a:rPr lang="en-CA" sz="2400" dirty="0" smtClean="0"/>
              <a:t>Level 1—Valuations based on quoted prices in active markets for identical assets or liabilities that the company has the ability to access. Valuation adjustments and block discounts are not applied to Level 1</a:t>
            </a:r>
          </a:p>
          <a:p>
            <a:endParaRPr lang="en-CA" sz="2400" dirty="0" smtClean="0"/>
          </a:p>
          <a:p>
            <a:r>
              <a:rPr lang="en-CA" sz="2400" dirty="0" smtClean="0"/>
              <a:t> Level 2—Valuations based on one or more quoted prices in markets that are not active or for which all significant inputs are observable, either directly or indirectly.</a:t>
            </a:r>
          </a:p>
          <a:p>
            <a:endParaRPr lang="en-CA" sz="2400" dirty="0" smtClean="0"/>
          </a:p>
          <a:p>
            <a:r>
              <a:rPr lang="en-CA" sz="2400" dirty="0" smtClean="0"/>
              <a:t> Level 3—Valuations based on inputs that are unobservable and significant to the overall fair value measurement.</a:t>
            </a:r>
            <a:endParaRPr lang="zh-TW" altLang="en-US" sz="2400" dirty="0"/>
          </a:p>
        </p:txBody>
      </p:sp>
    </p:spTree>
    <p:extLst>
      <p:ext uri="{BB962C8B-B14F-4D97-AF65-F5344CB8AC3E}">
        <p14:creationId xmlns:p14="http://schemas.microsoft.com/office/powerpoint/2010/main" xmlns="" val="18088941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TW" dirty="0" smtClean="0"/>
              <a:t>Decompose Assets According to the Three Levels</a:t>
            </a:r>
            <a:endParaRPr lang="zh-TW" altLang="en-US" dirty="0"/>
          </a:p>
        </p:txBody>
      </p:sp>
      <p:pic>
        <p:nvPicPr>
          <p:cNvPr id="1028" name="Picture 4"/>
          <p:cNvPicPr>
            <a:picLocks noGrp="1" noChangeAspect="1" noChangeArrowheads="1"/>
          </p:cNvPicPr>
          <p:nvPr>
            <p:ph idx="1"/>
          </p:nvPr>
        </p:nvPicPr>
        <p:blipFill>
          <a:blip r:embed="rId2" cstate="print"/>
          <a:srcRect/>
          <a:stretch>
            <a:fillRect/>
          </a:stretch>
        </p:blipFill>
        <p:spPr bwMode="auto">
          <a:xfrm>
            <a:off x="1619672" y="2924944"/>
            <a:ext cx="5040560" cy="1440160"/>
          </a:xfrm>
          <a:prstGeom prst="rect">
            <a:avLst/>
          </a:prstGeom>
          <a:noFill/>
          <a:ln w="9525">
            <a:noFill/>
            <a:miter lim="800000"/>
            <a:headEnd/>
            <a:tailEnd/>
          </a:ln>
        </p:spPr>
      </p:pic>
      <p:pic>
        <p:nvPicPr>
          <p:cNvPr id="1029" name="Picture 5"/>
          <p:cNvPicPr>
            <a:picLocks noChangeAspect="1" noChangeArrowheads="1"/>
          </p:cNvPicPr>
          <p:nvPr/>
        </p:nvPicPr>
        <p:blipFill>
          <a:blip r:embed="rId3" cstate="print"/>
          <a:srcRect/>
          <a:stretch>
            <a:fillRect/>
          </a:stretch>
        </p:blipFill>
        <p:spPr bwMode="auto">
          <a:xfrm>
            <a:off x="1547664" y="1484784"/>
            <a:ext cx="5324475" cy="1440160"/>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1547664" y="4293096"/>
            <a:ext cx="5267325" cy="288032"/>
          </a:xfrm>
          <a:prstGeom prst="rect">
            <a:avLst/>
          </a:prstGeom>
          <a:noFill/>
          <a:ln w="9525">
            <a:noFill/>
            <a:miter lim="800000"/>
            <a:headEnd/>
            <a:tailEnd/>
          </a:ln>
        </p:spPr>
      </p:pic>
      <p:pic>
        <p:nvPicPr>
          <p:cNvPr id="1031" name="Picture 7"/>
          <p:cNvPicPr>
            <a:picLocks noChangeAspect="1" noChangeArrowheads="1"/>
          </p:cNvPicPr>
          <p:nvPr/>
        </p:nvPicPr>
        <p:blipFill>
          <a:blip r:embed="rId5" cstate="print"/>
          <a:srcRect/>
          <a:stretch>
            <a:fillRect/>
          </a:stretch>
        </p:blipFill>
        <p:spPr bwMode="auto">
          <a:xfrm>
            <a:off x="1619672" y="4581128"/>
            <a:ext cx="5040560" cy="1440160"/>
          </a:xfrm>
          <a:prstGeom prst="rect">
            <a:avLst/>
          </a:prstGeom>
          <a:noFill/>
          <a:ln w="9525">
            <a:noFill/>
            <a:miter lim="800000"/>
            <a:headEnd/>
            <a:tailEnd/>
          </a:ln>
        </p:spPr>
      </p:pic>
    </p:spTree>
    <p:extLst>
      <p:ext uri="{BB962C8B-B14F-4D97-AF65-F5344CB8AC3E}">
        <p14:creationId xmlns:p14="http://schemas.microsoft.com/office/powerpoint/2010/main" xmlns="" val="277775759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smtClean="0"/>
              <a:t>Income Statement</a:t>
            </a:r>
            <a:endParaRPr lang="zh-TW" altLang="en-US" dirty="0"/>
          </a:p>
        </p:txBody>
      </p:sp>
      <p:pic>
        <p:nvPicPr>
          <p:cNvPr id="4" name="Picture 3"/>
          <p:cNvPicPr>
            <a:picLocks noChangeAspect="1" noChangeArrowheads="1"/>
          </p:cNvPicPr>
          <p:nvPr/>
        </p:nvPicPr>
        <p:blipFill>
          <a:blip r:embed="rId2" cstate="print"/>
          <a:srcRect/>
          <a:stretch>
            <a:fillRect/>
          </a:stretch>
        </p:blipFill>
        <p:spPr bwMode="auto">
          <a:xfrm>
            <a:off x="10164" y="1707790"/>
            <a:ext cx="8450267" cy="5142278"/>
          </a:xfrm>
          <a:prstGeom prst="rect">
            <a:avLst/>
          </a:prstGeom>
          <a:noFill/>
          <a:ln w="9525">
            <a:noFill/>
            <a:miter lim="800000"/>
            <a:headEnd/>
            <a:tailEnd/>
          </a:ln>
        </p:spPr>
      </p:pic>
    </p:spTree>
    <p:extLst>
      <p:ext uri="{BB962C8B-B14F-4D97-AF65-F5344CB8AC3E}">
        <p14:creationId xmlns:p14="http://schemas.microsoft.com/office/powerpoint/2010/main" xmlns="" val="398588545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Income Statement (</a:t>
            </a:r>
            <a:r>
              <a:rPr lang="en-CA" dirty="0" err="1" smtClean="0"/>
              <a:t>cont</a:t>
            </a:r>
            <a:r>
              <a:rPr lang="en-CA" dirty="0" smtClean="0"/>
              <a:t>)</a:t>
            </a:r>
            <a:endParaRPr lang="en-CA" dirty="0"/>
          </a:p>
        </p:txBody>
      </p:sp>
      <p:pic>
        <p:nvPicPr>
          <p:cNvPr id="4" name="Picture 3"/>
          <p:cNvPicPr>
            <a:picLocks noChangeAspect="1" noChangeArrowheads="1"/>
          </p:cNvPicPr>
          <p:nvPr/>
        </p:nvPicPr>
        <p:blipFill>
          <a:blip r:embed="rId2" cstate="print"/>
          <a:srcRect/>
          <a:stretch>
            <a:fillRect/>
          </a:stretch>
        </p:blipFill>
        <p:spPr bwMode="auto">
          <a:xfrm>
            <a:off x="0" y="1972178"/>
            <a:ext cx="8460432" cy="4885822"/>
          </a:xfrm>
          <a:prstGeom prst="rect">
            <a:avLst/>
          </a:prstGeom>
          <a:noFill/>
          <a:ln w="9525">
            <a:noFill/>
            <a:miter lim="800000"/>
            <a:headEnd/>
            <a:tailEnd/>
          </a:ln>
        </p:spPr>
      </p:pic>
    </p:spTree>
    <p:extLst>
      <p:ext uri="{BB962C8B-B14F-4D97-AF65-F5344CB8AC3E}">
        <p14:creationId xmlns:p14="http://schemas.microsoft.com/office/powerpoint/2010/main" xmlns="" val="20770490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Cash Flow Statement</a:t>
            </a:r>
            <a:endParaRPr lang="en-CA" dirty="0"/>
          </a:p>
        </p:txBody>
      </p:sp>
      <p:pic>
        <p:nvPicPr>
          <p:cNvPr id="5" name="Content Placeholder 2"/>
          <p:cNvPicPr>
            <a:picLocks noGrp="1" noChangeAspect="1" noChangeArrowheads="1"/>
          </p:cNvPicPr>
          <p:nvPr/>
        </p:nvPicPr>
        <p:blipFill>
          <a:blip r:embed="rId2" cstate="print"/>
          <a:srcRect/>
          <a:stretch>
            <a:fillRect/>
          </a:stretch>
        </p:blipFill>
        <p:spPr bwMode="auto">
          <a:xfrm>
            <a:off x="0" y="1588088"/>
            <a:ext cx="8460431" cy="5269912"/>
          </a:xfrm>
          <a:prstGeom prst="rect">
            <a:avLst/>
          </a:prstGeom>
          <a:noFill/>
          <a:ln w="9525">
            <a:noFill/>
            <a:miter lim="800000"/>
            <a:headEnd/>
            <a:tailEnd/>
          </a:ln>
        </p:spPr>
      </p:pic>
    </p:spTree>
    <p:extLst>
      <p:ext uri="{BB962C8B-B14F-4D97-AF65-F5344CB8AC3E}">
        <p14:creationId xmlns:p14="http://schemas.microsoft.com/office/powerpoint/2010/main" xmlns="" val="12026733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Cash Flow </a:t>
            </a:r>
            <a:r>
              <a:rPr lang="en-CA" dirty="0" smtClean="0"/>
              <a:t>Statement (</a:t>
            </a:r>
            <a:r>
              <a:rPr lang="en-CA" dirty="0" err="1" smtClean="0"/>
              <a:t>cont</a:t>
            </a:r>
            <a:r>
              <a:rPr lang="en-CA" dirty="0" smtClean="0"/>
              <a:t>)</a:t>
            </a:r>
            <a:endParaRPr lang="en-CA" dirty="0"/>
          </a:p>
        </p:txBody>
      </p:sp>
      <p:pic>
        <p:nvPicPr>
          <p:cNvPr id="4" name="Picture 3"/>
          <p:cNvPicPr>
            <a:picLocks noChangeAspect="1" noChangeArrowheads="1"/>
          </p:cNvPicPr>
          <p:nvPr/>
        </p:nvPicPr>
        <p:blipFill>
          <a:blip r:embed="rId2" cstate="print"/>
          <a:srcRect/>
          <a:stretch>
            <a:fillRect/>
          </a:stretch>
        </p:blipFill>
        <p:spPr bwMode="auto">
          <a:xfrm>
            <a:off x="0" y="2376631"/>
            <a:ext cx="8460432" cy="4481370"/>
          </a:xfrm>
          <a:prstGeom prst="rect">
            <a:avLst/>
          </a:prstGeom>
          <a:noFill/>
          <a:ln w="9525">
            <a:noFill/>
            <a:miter lim="800000"/>
            <a:headEnd/>
            <a:tailEnd/>
          </a:ln>
        </p:spPr>
      </p:pic>
    </p:spTree>
    <p:extLst>
      <p:ext uri="{BB962C8B-B14F-4D97-AF65-F5344CB8AC3E}">
        <p14:creationId xmlns:p14="http://schemas.microsoft.com/office/powerpoint/2010/main" xmlns="" val="35372880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Balance Sheet</a:t>
            </a:r>
            <a:endParaRPr lang="en-CA" dirty="0"/>
          </a:p>
        </p:txBody>
      </p:sp>
      <p:pic>
        <p:nvPicPr>
          <p:cNvPr id="4" name="Picture 3"/>
          <p:cNvPicPr>
            <a:picLocks noGrp="1" noChangeAspect="1" noChangeArrowheads="1"/>
          </p:cNvPicPr>
          <p:nvPr/>
        </p:nvPicPr>
        <p:blipFill>
          <a:blip r:embed="rId2" cstate="print"/>
          <a:srcRect/>
          <a:stretch>
            <a:fillRect/>
          </a:stretch>
        </p:blipFill>
        <p:spPr bwMode="auto">
          <a:xfrm>
            <a:off x="0" y="2023467"/>
            <a:ext cx="8460432" cy="4834533"/>
          </a:xfrm>
          <a:prstGeom prst="rect">
            <a:avLst/>
          </a:prstGeom>
          <a:noFill/>
          <a:ln w="9525">
            <a:noFill/>
            <a:miter lim="800000"/>
            <a:headEnd/>
            <a:tailEnd/>
          </a:ln>
        </p:spPr>
      </p:pic>
    </p:spTree>
    <p:extLst>
      <p:ext uri="{BB962C8B-B14F-4D97-AF65-F5344CB8AC3E}">
        <p14:creationId xmlns:p14="http://schemas.microsoft.com/office/powerpoint/2010/main" xmlns="" val="29667562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Balance Sheet (</a:t>
            </a:r>
            <a:r>
              <a:rPr lang="en-CA" dirty="0" err="1" smtClean="0"/>
              <a:t>cont</a:t>
            </a:r>
            <a:r>
              <a:rPr lang="en-CA" dirty="0" smtClean="0"/>
              <a:t>)</a:t>
            </a:r>
            <a:endParaRPr lang="en-CA" dirty="0"/>
          </a:p>
        </p:txBody>
      </p:sp>
      <p:pic>
        <p:nvPicPr>
          <p:cNvPr id="4" name="Picture 3"/>
          <p:cNvPicPr>
            <a:picLocks noChangeAspect="1" noChangeArrowheads="1"/>
          </p:cNvPicPr>
          <p:nvPr/>
        </p:nvPicPr>
        <p:blipFill>
          <a:blip r:embed="rId2" cstate="print"/>
          <a:srcRect/>
          <a:stretch>
            <a:fillRect/>
          </a:stretch>
        </p:blipFill>
        <p:spPr bwMode="auto">
          <a:xfrm>
            <a:off x="0" y="1844824"/>
            <a:ext cx="8463102" cy="5013175"/>
          </a:xfrm>
          <a:prstGeom prst="rect">
            <a:avLst/>
          </a:prstGeom>
          <a:noFill/>
          <a:ln w="9525">
            <a:noFill/>
            <a:miter lim="800000"/>
            <a:headEnd/>
            <a:tailEnd/>
          </a:ln>
        </p:spPr>
      </p:pic>
    </p:spTree>
    <p:extLst>
      <p:ext uri="{BB962C8B-B14F-4D97-AF65-F5344CB8AC3E}">
        <p14:creationId xmlns:p14="http://schemas.microsoft.com/office/powerpoint/2010/main" xmlns="" val="40565334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Balance Sheet (</a:t>
            </a:r>
            <a:r>
              <a:rPr lang="en-CA" dirty="0" err="1" smtClean="0"/>
              <a:t>cont</a:t>
            </a:r>
            <a:r>
              <a:rPr lang="en-CA" dirty="0" smtClean="0"/>
              <a:t>)</a:t>
            </a:r>
            <a:endParaRPr lang="en-CA" dirty="0"/>
          </a:p>
        </p:txBody>
      </p:sp>
      <p:pic>
        <p:nvPicPr>
          <p:cNvPr id="5" name="Picture 4"/>
          <p:cNvPicPr>
            <a:picLocks noChangeAspect="1" noChangeArrowheads="1"/>
          </p:cNvPicPr>
          <p:nvPr/>
        </p:nvPicPr>
        <p:blipFill>
          <a:blip r:embed="rId2" cstate="print"/>
          <a:srcRect/>
          <a:stretch>
            <a:fillRect/>
          </a:stretch>
        </p:blipFill>
        <p:spPr bwMode="auto">
          <a:xfrm>
            <a:off x="179512" y="1276054"/>
            <a:ext cx="8092300" cy="5583859"/>
          </a:xfrm>
          <a:prstGeom prst="rect">
            <a:avLst/>
          </a:prstGeom>
          <a:noFill/>
          <a:ln w="9525">
            <a:noFill/>
            <a:miter lim="800000"/>
            <a:headEnd/>
            <a:tailEnd/>
          </a:ln>
        </p:spPr>
      </p:pic>
    </p:spTree>
    <p:extLst>
      <p:ext uri="{BB962C8B-B14F-4D97-AF65-F5344CB8AC3E}">
        <p14:creationId xmlns:p14="http://schemas.microsoft.com/office/powerpoint/2010/main" xmlns="" val="8509351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Balance Sheet (</a:t>
            </a:r>
            <a:r>
              <a:rPr lang="en-CA" dirty="0" err="1" smtClean="0"/>
              <a:t>cont</a:t>
            </a:r>
            <a:r>
              <a:rPr lang="en-CA" dirty="0" smtClean="0"/>
              <a:t>)</a:t>
            </a:r>
            <a:endParaRPr lang="en-CA" dirty="0"/>
          </a:p>
        </p:txBody>
      </p:sp>
      <p:pic>
        <p:nvPicPr>
          <p:cNvPr id="5" name="Picture 4"/>
          <p:cNvPicPr>
            <a:picLocks noChangeAspect="1" noChangeArrowheads="1"/>
          </p:cNvPicPr>
          <p:nvPr/>
        </p:nvPicPr>
        <p:blipFill>
          <a:blip r:embed="rId2" cstate="print"/>
          <a:srcRect/>
          <a:stretch>
            <a:fillRect/>
          </a:stretch>
        </p:blipFill>
        <p:spPr bwMode="auto">
          <a:xfrm>
            <a:off x="6398" y="2408510"/>
            <a:ext cx="8454034" cy="4449491"/>
          </a:xfrm>
          <a:prstGeom prst="rect">
            <a:avLst/>
          </a:prstGeom>
          <a:noFill/>
          <a:ln w="9525">
            <a:noFill/>
            <a:miter lim="800000"/>
            <a:headEnd/>
            <a:tailEnd/>
          </a:ln>
        </p:spPr>
      </p:pic>
    </p:spTree>
    <p:extLst>
      <p:ext uri="{BB962C8B-B14F-4D97-AF65-F5344CB8AC3E}">
        <p14:creationId xmlns:p14="http://schemas.microsoft.com/office/powerpoint/2010/main" xmlns="" val="33662239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smtClean="0"/>
              <a:t>Financial crisis</a:t>
            </a:r>
            <a:endParaRPr lang="zh-TW" altLang="en-US" dirty="0"/>
          </a:p>
        </p:txBody>
      </p:sp>
      <p:pic>
        <p:nvPicPr>
          <p:cNvPr id="4098" name="Picture 2"/>
          <p:cNvPicPr>
            <a:picLocks noGrp="1" noChangeAspect="1" noChangeArrowheads="1"/>
          </p:cNvPicPr>
          <p:nvPr>
            <p:ph idx="1"/>
          </p:nvPr>
        </p:nvPicPr>
        <p:blipFill>
          <a:blip r:embed="rId2" cstate="print"/>
          <a:srcRect/>
          <a:stretch>
            <a:fillRect/>
          </a:stretch>
        </p:blipFill>
        <p:spPr bwMode="auto">
          <a:xfrm>
            <a:off x="827584" y="2132856"/>
            <a:ext cx="7283823" cy="3429198"/>
          </a:xfrm>
          <a:prstGeom prst="rect">
            <a:avLst/>
          </a:prstGeom>
          <a:noFill/>
          <a:ln w="9525">
            <a:noFill/>
            <a:miter lim="800000"/>
            <a:headEnd/>
            <a:tailEnd/>
          </a:ln>
        </p:spPr>
      </p:pic>
      <p:sp>
        <p:nvSpPr>
          <p:cNvPr id="6" name="TextBox 5"/>
          <p:cNvSpPr txBox="1"/>
          <p:nvPr/>
        </p:nvSpPr>
        <p:spPr>
          <a:xfrm>
            <a:off x="755576" y="1628800"/>
            <a:ext cx="5400600" cy="369332"/>
          </a:xfrm>
          <a:prstGeom prst="rect">
            <a:avLst/>
          </a:prstGeom>
          <a:noFill/>
        </p:spPr>
        <p:txBody>
          <a:bodyPr wrap="square" rtlCol="0">
            <a:spAutoFit/>
          </a:bodyPr>
          <a:lstStyle/>
          <a:p>
            <a:r>
              <a:rPr lang="en-CA" dirty="0" smtClean="0"/>
              <a:t>Morgan Stanley Trading Price from 2008</a:t>
            </a:r>
            <a:endParaRPr lang="en-CA" dirty="0"/>
          </a:p>
        </p:txBody>
      </p:sp>
    </p:spTree>
    <p:extLst>
      <p:ext uri="{BB962C8B-B14F-4D97-AF65-F5344CB8AC3E}">
        <p14:creationId xmlns:p14="http://schemas.microsoft.com/office/powerpoint/2010/main" xmlns="" val="412546628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Financial Crisis (</a:t>
            </a:r>
            <a:r>
              <a:rPr lang="en-CA" dirty="0" err="1" smtClean="0"/>
              <a:t>cont</a:t>
            </a:r>
            <a:r>
              <a:rPr lang="en-CA" dirty="0" smtClean="0"/>
              <a:t>)</a:t>
            </a:r>
            <a:endParaRPr lang="en-CA" dirty="0"/>
          </a:p>
        </p:txBody>
      </p:sp>
      <p:sp>
        <p:nvSpPr>
          <p:cNvPr id="3" name="Content Placeholder 2"/>
          <p:cNvSpPr>
            <a:spLocks noGrp="1"/>
          </p:cNvSpPr>
          <p:nvPr>
            <p:ph idx="1"/>
          </p:nvPr>
        </p:nvSpPr>
        <p:spPr/>
        <p:txBody>
          <a:bodyPr/>
          <a:lstStyle/>
          <a:p>
            <a:r>
              <a:rPr lang="en-CA" dirty="0"/>
              <a:t>Converted to bank holding company</a:t>
            </a:r>
          </a:p>
          <a:p>
            <a:pPr lvl="1"/>
            <a:r>
              <a:rPr lang="en-CA" dirty="0"/>
              <a:t>Regulated by the Federal Reserve</a:t>
            </a:r>
          </a:p>
          <a:p>
            <a:pPr lvl="1"/>
            <a:r>
              <a:rPr lang="en-CA" dirty="0"/>
              <a:t>No longer a securities firm</a:t>
            </a:r>
          </a:p>
          <a:p>
            <a:r>
              <a:rPr lang="en-CA" dirty="0"/>
              <a:t>Invested by Mitsubishi UFJ Financial Group</a:t>
            </a:r>
          </a:p>
          <a:p>
            <a:r>
              <a:rPr lang="en-CA" dirty="0"/>
              <a:t>Brought Smith Barney from Citigroup	</a:t>
            </a:r>
          </a:p>
          <a:p>
            <a:pPr lvl="1"/>
            <a:r>
              <a:rPr lang="en-CA" dirty="0"/>
              <a:t>Joint venture with Citigroup</a:t>
            </a:r>
          </a:p>
          <a:p>
            <a:pPr lvl="1"/>
            <a:r>
              <a:rPr lang="en-CA" dirty="0"/>
              <a:t>No.1 in customer service among full-service brokerage </a:t>
            </a:r>
            <a:r>
              <a:rPr lang="en-CA" dirty="0" smtClean="0"/>
              <a:t>firms</a:t>
            </a:r>
            <a:endParaRPr lang="en-CA" dirty="0"/>
          </a:p>
        </p:txBody>
      </p:sp>
    </p:spTree>
    <p:extLst>
      <p:ext uri="{BB962C8B-B14F-4D97-AF65-F5344CB8AC3E}">
        <p14:creationId xmlns:p14="http://schemas.microsoft.com/office/powerpoint/2010/main" xmlns="" val="14225899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Future Considerations</a:t>
            </a:r>
            <a:endParaRPr lang="en-CA" dirty="0"/>
          </a:p>
        </p:txBody>
      </p:sp>
      <p:sp>
        <p:nvSpPr>
          <p:cNvPr id="3" name="Content Placeholder 2"/>
          <p:cNvSpPr>
            <a:spLocks noGrp="1"/>
          </p:cNvSpPr>
          <p:nvPr>
            <p:ph idx="1"/>
          </p:nvPr>
        </p:nvSpPr>
        <p:spPr/>
        <p:txBody>
          <a:bodyPr/>
          <a:lstStyle/>
          <a:p>
            <a:r>
              <a:rPr lang="en-CA" dirty="0"/>
              <a:t>Protection from market volatility</a:t>
            </a:r>
          </a:p>
          <a:p>
            <a:r>
              <a:rPr lang="en-CA" dirty="0"/>
              <a:t>Build up reputation</a:t>
            </a:r>
          </a:p>
          <a:p>
            <a:r>
              <a:rPr lang="en-CA" dirty="0"/>
              <a:t>Focus on technological development</a:t>
            </a:r>
          </a:p>
          <a:p>
            <a:r>
              <a:rPr lang="en-CA" dirty="0"/>
              <a:t>Investors’ confidence</a:t>
            </a:r>
          </a:p>
          <a:p>
            <a:r>
              <a:rPr lang="en-CA" dirty="0"/>
              <a:t>Inflation</a:t>
            </a:r>
          </a:p>
          <a:p>
            <a:r>
              <a:rPr lang="en-CA" dirty="0"/>
              <a:t>Competitors</a:t>
            </a:r>
          </a:p>
          <a:p>
            <a:r>
              <a:rPr lang="en-CA" dirty="0"/>
              <a:t>Legal </a:t>
            </a:r>
            <a:r>
              <a:rPr lang="en-CA" dirty="0" smtClean="0"/>
              <a:t>requirements</a:t>
            </a:r>
            <a:endParaRPr lang="en-CA" dirty="0"/>
          </a:p>
        </p:txBody>
      </p:sp>
    </p:spTree>
    <p:extLst>
      <p:ext uri="{BB962C8B-B14F-4D97-AF65-F5344CB8AC3E}">
        <p14:creationId xmlns:p14="http://schemas.microsoft.com/office/powerpoint/2010/main" xmlns="" val="16326512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smtClean="0"/>
              <a:t>Risk management philosophy</a:t>
            </a:r>
            <a:endParaRPr lang="zh-TW" altLang="en-US" dirty="0"/>
          </a:p>
        </p:txBody>
      </p:sp>
      <p:sp>
        <p:nvSpPr>
          <p:cNvPr id="3" name="Content Placeholder 2"/>
          <p:cNvSpPr>
            <a:spLocks noGrp="1"/>
          </p:cNvSpPr>
          <p:nvPr>
            <p:ph idx="1"/>
          </p:nvPr>
        </p:nvSpPr>
        <p:spPr/>
        <p:txBody>
          <a:bodyPr/>
          <a:lstStyle/>
          <a:p>
            <a:r>
              <a:rPr lang="en-CA" dirty="0" smtClean="0"/>
              <a:t>Comprehensiveness</a:t>
            </a:r>
          </a:p>
          <a:p>
            <a:r>
              <a:rPr lang="en-CA" dirty="0" smtClean="0"/>
              <a:t>Independence</a:t>
            </a:r>
          </a:p>
          <a:p>
            <a:r>
              <a:rPr lang="en-CA" dirty="0" smtClean="0"/>
              <a:t>Accountability</a:t>
            </a:r>
          </a:p>
          <a:p>
            <a:r>
              <a:rPr lang="en-CA" dirty="0" smtClean="0"/>
              <a:t>Defined risk tolerance</a:t>
            </a:r>
          </a:p>
          <a:p>
            <a:r>
              <a:rPr lang="en-CA" dirty="0" smtClean="0"/>
              <a:t>Transparency.</a:t>
            </a:r>
            <a:endParaRPr lang="zh-TW" altLang="en-US" dirty="0"/>
          </a:p>
        </p:txBody>
      </p:sp>
    </p:spTree>
    <p:extLst>
      <p:ext uri="{BB962C8B-B14F-4D97-AF65-F5344CB8AC3E}">
        <p14:creationId xmlns:p14="http://schemas.microsoft.com/office/powerpoint/2010/main" xmlns="" val="258303305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smtClean="0"/>
              <a:t>Types of risks</a:t>
            </a:r>
            <a:endParaRPr lang="zh-TW" altLang="en-US" dirty="0"/>
          </a:p>
        </p:txBody>
      </p:sp>
      <p:sp>
        <p:nvSpPr>
          <p:cNvPr id="3" name="Content Placeholder 2"/>
          <p:cNvSpPr>
            <a:spLocks noGrp="1"/>
          </p:cNvSpPr>
          <p:nvPr>
            <p:ph idx="1"/>
          </p:nvPr>
        </p:nvSpPr>
        <p:spPr/>
        <p:txBody>
          <a:bodyPr>
            <a:normAutofit/>
          </a:bodyPr>
          <a:lstStyle/>
          <a:p>
            <a:pPr>
              <a:buNone/>
            </a:pPr>
            <a:r>
              <a:rPr lang="en-CA" altLang="zh-TW" dirty="0" smtClean="0"/>
              <a:t>Operational risk</a:t>
            </a:r>
          </a:p>
          <a:p>
            <a:pPr lvl="1"/>
            <a:r>
              <a:rPr lang="en-CA" altLang="zh-TW" dirty="0" smtClean="0"/>
              <a:t>Risk of losses arising from insufficient controls on people, resources, and processes and external factors such as compliance risk</a:t>
            </a:r>
          </a:p>
          <a:p>
            <a:pPr>
              <a:buNone/>
            </a:pPr>
            <a:r>
              <a:rPr lang="en-CA" altLang="zh-TW" dirty="0" smtClean="0"/>
              <a:t>Legal/Regulatory risk</a:t>
            </a:r>
          </a:p>
          <a:p>
            <a:pPr lvl="1"/>
            <a:r>
              <a:rPr lang="en-CA" altLang="zh-TW" dirty="0" smtClean="0"/>
              <a:t>Risk of losses in fines, penalties, damages resulting from noncompliance and legal actions</a:t>
            </a:r>
          </a:p>
          <a:p>
            <a:pPr>
              <a:buNone/>
            </a:pPr>
            <a:r>
              <a:rPr lang="en-CA" altLang="zh-TW" dirty="0" smtClean="0"/>
              <a:t>Credit risk</a:t>
            </a:r>
          </a:p>
          <a:p>
            <a:pPr lvl="1"/>
            <a:r>
              <a:rPr lang="en-CA" altLang="zh-TW" dirty="0" smtClean="0"/>
              <a:t>Risk of default from borrowers</a:t>
            </a:r>
          </a:p>
          <a:p>
            <a:pPr>
              <a:buNone/>
            </a:pPr>
            <a:endParaRPr lang="en-CA" altLang="zh-TW" dirty="0" smtClean="0"/>
          </a:p>
        </p:txBody>
      </p:sp>
    </p:spTree>
    <p:extLst>
      <p:ext uri="{BB962C8B-B14F-4D97-AF65-F5344CB8AC3E}">
        <p14:creationId xmlns:p14="http://schemas.microsoft.com/office/powerpoint/2010/main" xmlns="" val="333800374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smtClean="0"/>
              <a:t>Types of Risk</a:t>
            </a:r>
            <a:endParaRPr lang="zh-TW" altLang="en-US" dirty="0"/>
          </a:p>
        </p:txBody>
      </p:sp>
      <p:sp>
        <p:nvSpPr>
          <p:cNvPr id="3" name="Content Placeholder 2"/>
          <p:cNvSpPr>
            <a:spLocks noGrp="1"/>
          </p:cNvSpPr>
          <p:nvPr>
            <p:ph idx="1"/>
          </p:nvPr>
        </p:nvSpPr>
        <p:spPr/>
        <p:txBody>
          <a:bodyPr/>
          <a:lstStyle/>
          <a:p>
            <a:pPr>
              <a:buNone/>
            </a:pPr>
            <a:r>
              <a:rPr lang="en-CA" altLang="zh-TW" dirty="0" smtClean="0"/>
              <a:t>Liquidity and funding risk</a:t>
            </a:r>
          </a:p>
          <a:p>
            <a:pPr lvl="1"/>
            <a:r>
              <a:rPr lang="en-CA" altLang="zh-TW" dirty="0" smtClean="0"/>
              <a:t>Risk of difficulty in accessing capital markets, inability to liquidate assets in a timely manner, and threats to going concern in satisfying financial obligations</a:t>
            </a:r>
          </a:p>
          <a:p>
            <a:pPr>
              <a:buNone/>
            </a:pPr>
            <a:r>
              <a:rPr lang="en-CA" altLang="zh-TW" dirty="0" smtClean="0"/>
              <a:t>Market risk</a:t>
            </a:r>
          </a:p>
          <a:p>
            <a:pPr lvl="1"/>
            <a:r>
              <a:rPr lang="en-CA" altLang="zh-TW" dirty="0" smtClean="0"/>
              <a:t>Risk of losses arising from changes in market prices, rates, volatility, and correlations</a:t>
            </a:r>
          </a:p>
        </p:txBody>
      </p:sp>
    </p:spTree>
    <p:extLst>
      <p:ext uri="{BB962C8B-B14F-4D97-AF65-F5344CB8AC3E}">
        <p14:creationId xmlns:p14="http://schemas.microsoft.com/office/powerpoint/2010/main" xmlns="" val="246895819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smtClean="0"/>
              <a:t>Types of Risks</a:t>
            </a:r>
            <a:endParaRPr lang="zh-TW" altLang="en-US" dirty="0"/>
          </a:p>
        </p:txBody>
      </p:sp>
      <p:sp>
        <p:nvSpPr>
          <p:cNvPr id="3" name="Content Placeholder 2"/>
          <p:cNvSpPr>
            <a:spLocks noGrp="1"/>
          </p:cNvSpPr>
          <p:nvPr>
            <p:ph idx="1"/>
          </p:nvPr>
        </p:nvSpPr>
        <p:spPr/>
        <p:txBody>
          <a:bodyPr/>
          <a:lstStyle/>
          <a:p>
            <a:pPr>
              <a:buNone/>
            </a:pPr>
            <a:r>
              <a:rPr lang="en-CA" altLang="zh-TW" dirty="0" smtClean="0"/>
              <a:t>Competitive environment risk</a:t>
            </a:r>
          </a:p>
          <a:p>
            <a:pPr lvl="1"/>
            <a:r>
              <a:rPr lang="en-CA" altLang="zh-TW" dirty="0" smtClean="0"/>
              <a:t>Risks from competition</a:t>
            </a:r>
          </a:p>
          <a:p>
            <a:pPr>
              <a:buNone/>
            </a:pPr>
            <a:r>
              <a:rPr lang="en-CA" altLang="zh-TW" dirty="0" smtClean="0"/>
              <a:t>International risk</a:t>
            </a:r>
          </a:p>
          <a:p>
            <a:pPr lvl="1"/>
            <a:r>
              <a:rPr lang="en-CA" altLang="zh-TW" dirty="0" smtClean="0"/>
              <a:t>Risks of losses from global operation</a:t>
            </a:r>
          </a:p>
          <a:p>
            <a:pPr>
              <a:buNone/>
            </a:pPr>
            <a:r>
              <a:rPr lang="en-CA" altLang="zh-TW" dirty="0" smtClean="0"/>
              <a:t>Acquisition risk</a:t>
            </a:r>
          </a:p>
          <a:p>
            <a:pPr lvl="1"/>
            <a:r>
              <a:rPr lang="en-CA" altLang="zh-TW" dirty="0" smtClean="0"/>
              <a:t>Risk of losses from acquisitions, minority stakes, forming joint ventures, and strategic alliances</a:t>
            </a:r>
          </a:p>
          <a:p>
            <a:endParaRPr lang="zh-TW" altLang="en-US" dirty="0"/>
          </a:p>
        </p:txBody>
      </p:sp>
    </p:spTree>
    <p:extLst>
      <p:ext uri="{BB962C8B-B14F-4D97-AF65-F5344CB8AC3E}">
        <p14:creationId xmlns:p14="http://schemas.microsoft.com/office/powerpoint/2010/main" xmlns="" val="73503861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Liquidity and Funding Risk</a:t>
            </a:r>
            <a:endParaRPr lang="en-CA" dirty="0"/>
          </a:p>
        </p:txBody>
      </p:sp>
      <p:sp>
        <p:nvSpPr>
          <p:cNvPr id="3" name="Content Placeholder 2"/>
          <p:cNvSpPr>
            <a:spLocks noGrp="1"/>
          </p:cNvSpPr>
          <p:nvPr>
            <p:ph idx="1"/>
          </p:nvPr>
        </p:nvSpPr>
        <p:spPr/>
        <p:txBody>
          <a:bodyPr/>
          <a:lstStyle/>
          <a:p>
            <a:pPr marL="0" indent="0">
              <a:buNone/>
            </a:pPr>
            <a:r>
              <a:rPr lang="en-CA" dirty="0"/>
              <a:t>R</a:t>
            </a:r>
            <a:r>
              <a:rPr lang="en-CA" dirty="0" smtClean="0"/>
              <a:t>isk of being unable to finance operations due to loss of access to capital markets, difficulty liquidating assets, or failing to meet financial obligations without experiencing significant business disruption</a:t>
            </a:r>
          </a:p>
          <a:p>
            <a:endParaRPr lang="en-CA" dirty="0"/>
          </a:p>
        </p:txBody>
      </p:sp>
    </p:spTree>
    <p:extLst>
      <p:ext uri="{BB962C8B-B14F-4D97-AF65-F5344CB8AC3E}">
        <p14:creationId xmlns:p14="http://schemas.microsoft.com/office/powerpoint/2010/main" xmlns="" val="25206761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smtClean="0"/>
              <a:t>Liquidity and Funding Risk</a:t>
            </a:r>
            <a:endParaRPr lang="en-CA" dirty="0"/>
          </a:p>
        </p:txBody>
      </p:sp>
      <p:sp>
        <p:nvSpPr>
          <p:cNvPr id="3" name="Content Placeholder 2"/>
          <p:cNvSpPr>
            <a:spLocks noGrp="1"/>
          </p:cNvSpPr>
          <p:nvPr>
            <p:ph idx="1"/>
          </p:nvPr>
        </p:nvSpPr>
        <p:spPr/>
        <p:txBody>
          <a:bodyPr>
            <a:normAutofit/>
          </a:bodyPr>
          <a:lstStyle/>
          <a:p>
            <a:pPr marL="0" indent="0">
              <a:buNone/>
            </a:pPr>
            <a:r>
              <a:rPr lang="en-CA" dirty="0" smtClean="0"/>
              <a:t>Liquidity is </a:t>
            </a:r>
            <a:r>
              <a:rPr lang="en-CA" b="1" dirty="0" smtClean="0"/>
              <a:t>essential</a:t>
            </a:r>
            <a:r>
              <a:rPr lang="en-CA" dirty="0" smtClean="0"/>
              <a:t> and external sources finance a significant portion of operations</a:t>
            </a:r>
          </a:p>
          <a:p>
            <a:r>
              <a:rPr lang="en-CA" dirty="0" smtClean="0"/>
              <a:t>Affected by inability to raise funds in the </a:t>
            </a:r>
            <a:r>
              <a:rPr lang="en-CA" b="1" dirty="0" smtClean="0"/>
              <a:t>long/short-term debt/equity capital markets</a:t>
            </a:r>
            <a:r>
              <a:rPr lang="en-CA" dirty="0" smtClean="0"/>
              <a:t> or inability to access </a:t>
            </a:r>
            <a:r>
              <a:rPr lang="en-CA" b="1" dirty="0" smtClean="0"/>
              <a:t>secured lending markets</a:t>
            </a:r>
          </a:p>
          <a:p>
            <a:pPr lvl="1"/>
            <a:r>
              <a:rPr lang="en-CA" dirty="0" smtClean="0"/>
              <a:t>Caused by:</a:t>
            </a:r>
          </a:p>
          <a:p>
            <a:pPr lvl="2"/>
            <a:r>
              <a:rPr lang="en-CA" dirty="0" smtClean="0"/>
              <a:t>Disruption of the financial markets</a:t>
            </a:r>
          </a:p>
          <a:p>
            <a:pPr lvl="2"/>
            <a:r>
              <a:rPr lang="en-CA" dirty="0" smtClean="0"/>
              <a:t>Negative views about the financial services industry</a:t>
            </a:r>
          </a:p>
          <a:p>
            <a:pPr lvl="2"/>
            <a:r>
              <a:rPr lang="en-CA" dirty="0" smtClean="0"/>
              <a:t>Negative perception of long or short term financial prospects</a:t>
            </a:r>
          </a:p>
          <a:p>
            <a:pPr lvl="3"/>
            <a:r>
              <a:rPr lang="en-CA" dirty="0" smtClean="0"/>
              <a:t>Large trading losses, downgraded or negative watch by rating agencies, decline in business activity, action by regulators, employee misconduct or illegal activity, and other reasons</a:t>
            </a:r>
          </a:p>
          <a:p>
            <a:pPr lvl="1"/>
            <a:r>
              <a:rPr lang="en-CA" dirty="0" smtClean="0"/>
              <a:t>Would have to liquidate assets to meet maturing liabilities  and may have to sell at a discount</a:t>
            </a:r>
          </a:p>
          <a:p>
            <a:pPr lvl="2"/>
            <a:endParaRPr lang="en-CA" dirty="0" smtClean="0"/>
          </a:p>
        </p:txBody>
      </p:sp>
    </p:spTree>
    <p:extLst>
      <p:ext uri="{BB962C8B-B14F-4D97-AF65-F5344CB8AC3E}">
        <p14:creationId xmlns:p14="http://schemas.microsoft.com/office/powerpoint/2010/main" xmlns="" val="15776581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Liquidity and Funding Risk</a:t>
            </a:r>
            <a:endParaRPr lang="en-CA" dirty="0"/>
          </a:p>
        </p:txBody>
      </p:sp>
      <p:sp>
        <p:nvSpPr>
          <p:cNvPr id="3" name="Content Placeholder 2"/>
          <p:cNvSpPr>
            <a:spLocks noGrp="1"/>
          </p:cNvSpPr>
          <p:nvPr>
            <p:ph idx="1"/>
          </p:nvPr>
        </p:nvSpPr>
        <p:spPr/>
        <p:txBody>
          <a:bodyPr>
            <a:normAutofit/>
          </a:bodyPr>
          <a:lstStyle/>
          <a:p>
            <a:pPr marL="0" indent="0">
              <a:buNone/>
            </a:pPr>
            <a:r>
              <a:rPr lang="en-CA" b="1" dirty="0" smtClean="0"/>
              <a:t>Borrowing Costs</a:t>
            </a:r>
            <a:r>
              <a:rPr lang="en-CA" dirty="0" smtClean="0"/>
              <a:t> and access to debt capital markets </a:t>
            </a:r>
            <a:r>
              <a:rPr lang="en-CA" b="1" dirty="0" smtClean="0"/>
              <a:t>depend on credit ratings</a:t>
            </a:r>
          </a:p>
          <a:p>
            <a:r>
              <a:rPr lang="en-CA" dirty="0" smtClean="0"/>
              <a:t>Factors that determine credit ratings:</a:t>
            </a:r>
          </a:p>
          <a:p>
            <a:pPr lvl="1"/>
            <a:r>
              <a:rPr lang="en-CA" dirty="0" smtClean="0"/>
              <a:t>Level and quality of earnings</a:t>
            </a:r>
          </a:p>
          <a:p>
            <a:pPr lvl="1"/>
            <a:r>
              <a:rPr lang="en-CA" dirty="0" smtClean="0"/>
              <a:t>Capital adequacy</a:t>
            </a:r>
          </a:p>
          <a:p>
            <a:pPr lvl="1"/>
            <a:r>
              <a:rPr lang="en-CA" dirty="0" smtClean="0"/>
              <a:t>Liquidity</a:t>
            </a:r>
          </a:p>
          <a:p>
            <a:pPr lvl="1"/>
            <a:r>
              <a:rPr lang="en-CA" dirty="0" smtClean="0"/>
              <a:t>Risk appetite and management</a:t>
            </a:r>
          </a:p>
          <a:p>
            <a:pPr lvl="1"/>
            <a:r>
              <a:rPr lang="en-CA" dirty="0" smtClean="0"/>
              <a:t>Asset quality</a:t>
            </a:r>
          </a:p>
          <a:p>
            <a:pPr lvl="1"/>
            <a:r>
              <a:rPr lang="en-CA" dirty="0" smtClean="0"/>
              <a:t>Business mix and actual and perceived level of government support</a:t>
            </a:r>
          </a:p>
          <a:p>
            <a:r>
              <a:rPr lang="en-CA" dirty="0" smtClean="0"/>
              <a:t>Debt ratings can impact trading revenues</a:t>
            </a:r>
          </a:p>
          <a:p>
            <a:pPr lvl="1"/>
            <a:r>
              <a:rPr lang="en-CA" dirty="0" smtClean="0"/>
              <a:t>Post additional collateral in event of credit ratings downgrade</a:t>
            </a:r>
          </a:p>
        </p:txBody>
      </p:sp>
    </p:spTree>
    <p:extLst>
      <p:ext uri="{BB962C8B-B14F-4D97-AF65-F5344CB8AC3E}">
        <p14:creationId xmlns:p14="http://schemas.microsoft.com/office/powerpoint/2010/main" xmlns="" val="32665512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Liquidity and Funding Risk</a:t>
            </a:r>
            <a:endParaRPr lang="en-CA" dirty="0"/>
          </a:p>
        </p:txBody>
      </p:sp>
      <p:sp>
        <p:nvSpPr>
          <p:cNvPr id="3" name="Content Placeholder 2"/>
          <p:cNvSpPr>
            <a:spLocks noGrp="1"/>
          </p:cNvSpPr>
          <p:nvPr>
            <p:ph idx="1"/>
          </p:nvPr>
        </p:nvSpPr>
        <p:spPr/>
        <p:txBody>
          <a:bodyPr/>
          <a:lstStyle/>
          <a:p>
            <a:pPr marL="0" indent="0">
              <a:buNone/>
            </a:pPr>
            <a:r>
              <a:rPr lang="en-CA" dirty="0" smtClean="0"/>
              <a:t>Depends on payments from subsidiaries</a:t>
            </a:r>
          </a:p>
          <a:p>
            <a:r>
              <a:rPr lang="en-CA" dirty="0" smtClean="0"/>
              <a:t>Regulations may prevent transfer of funds either to or from subsidiaries</a:t>
            </a:r>
          </a:p>
          <a:p>
            <a:r>
              <a:rPr lang="en-CA" dirty="0" smtClean="0"/>
              <a:t>Inability to access these funds may make it difficult to meet obligations</a:t>
            </a:r>
          </a:p>
          <a:p>
            <a:r>
              <a:rPr lang="en-CA" dirty="0" smtClean="0"/>
              <a:t>Regulations may also prevent dividend distribution or stock repurchase</a:t>
            </a:r>
          </a:p>
        </p:txBody>
      </p:sp>
    </p:spTree>
    <p:extLst>
      <p:ext uri="{BB962C8B-B14F-4D97-AF65-F5344CB8AC3E}">
        <p14:creationId xmlns:p14="http://schemas.microsoft.com/office/powerpoint/2010/main" xmlns="" val="7755819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Liquidity and Funding Risk</a:t>
            </a:r>
            <a:endParaRPr lang="en-CA" dirty="0"/>
          </a:p>
        </p:txBody>
      </p:sp>
      <p:sp>
        <p:nvSpPr>
          <p:cNvPr id="3" name="Content Placeholder 2"/>
          <p:cNvSpPr>
            <a:spLocks noGrp="1"/>
          </p:cNvSpPr>
          <p:nvPr>
            <p:ph idx="1"/>
          </p:nvPr>
        </p:nvSpPr>
        <p:spPr/>
        <p:txBody>
          <a:bodyPr/>
          <a:lstStyle/>
          <a:p>
            <a:r>
              <a:rPr lang="en-CA" dirty="0" smtClean="0"/>
              <a:t>Volatility in the global market and economic conditions have affected ability to raise funds in the </a:t>
            </a:r>
            <a:r>
              <a:rPr lang="en-CA" b="1" dirty="0" smtClean="0"/>
              <a:t>long/short-term debt/equity capital markets</a:t>
            </a:r>
            <a:r>
              <a:rPr lang="en-CA" dirty="0" smtClean="0"/>
              <a:t> and secured lending markets</a:t>
            </a:r>
          </a:p>
          <a:p>
            <a:r>
              <a:rPr lang="en-CA" b="1" dirty="0" smtClean="0"/>
              <a:t>Cost and availability</a:t>
            </a:r>
            <a:r>
              <a:rPr lang="en-CA" dirty="0" smtClean="0"/>
              <a:t> of funding have been affected by illiquid credit markets and wider credit spreads in the past and may do so in the future</a:t>
            </a:r>
            <a:endParaRPr lang="en-CA" dirty="0"/>
          </a:p>
        </p:txBody>
      </p:sp>
    </p:spTree>
    <p:extLst>
      <p:ext uri="{BB962C8B-B14F-4D97-AF65-F5344CB8AC3E}">
        <p14:creationId xmlns:p14="http://schemas.microsoft.com/office/powerpoint/2010/main" xmlns="" val="7253831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Market Risk</a:t>
            </a:r>
            <a:endParaRPr lang="en-CA" dirty="0"/>
          </a:p>
        </p:txBody>
      </p:sp>
      <p:sp>
        <p:nvSpPr>
          <p:cNvPr id="3" name="Content Placeholder 2"/>
          <p:cNvSpPr>
            <a:spLocks noGrp="1"/>
          </p:cNvSpPr>
          <p:nvPr>
            <p:ph idx="1"/>
          </p:nvPr>
        </p:nvSpPr>
        <p:spPr/>
        <p:txBody>
          <a:bodyPr/>
          <a:lstStyle/>
          <a:p>
            <a:r>
              <a:rPr lang="en-CA" dirty="0" smtClean="0"/>
              <a:t>Risk that a change in the level of one or more market prices, rates, indices, implied volatilities, correlations or other market factors will result in a loss</a:t>
            </a:r>
            <a:endParaRPr lang="en-CA" dirty="0"/>
          </a:p>
        </p:txBody>
      </p:sp>
    </p:spTree>
    <p:extLst>
      <p:ext uri="{BB962C8B-B14F-4D97-AF65-F5344CB8AC3E}">
        <p14:creationId xmlns:p14="http://schemas.microsoft.com/office/powerpoint/2010/main" xmlns="" val="9075986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Market Risk</a:t>
            </a:r>
            <a:endParaRPr lang="en-CA" dirty="0"/>
          </a:p>
        </p:txBody>
      </p:sp>
      <p:sp>
        <p:nvSpPr>
          <p:cNvPr id="3" name="Content Placeholder 2"/>
          <p:cNvSpPr>
            <a:spLocks noGrp="1"/>
          </p:cNvSpPr>
          <p:nvPr>
            <p:ph idx="1"/>
          </p:nvPr>
        </p:nvSpPr>
        <p:spPr/>
        <p:txBody>
          <a:bodyPr>
            <a:normAutofit lnSpcReduction="10000"/>
          </a:bodyPr>
          <a:lstStyle/>
          <a:p>
            <a:pPr marL="0" indent="0">
              <a:buNone/>
            </a:pPr>
            <a:r>
              <a:rPr lang="en-CA" dirty="0" smtClean="0"/>
              <a:t>Results of operations may be affected by market fluctuations and by global economic conditions</a:t>
            </a:r>
          </a:p>
          <a:p>
            <a:r>
              <a:rPr lang="en-CA" dirty="0" smtClean="0"/>
              <a:t>Factors affecting results:</a:t>
            </a:r>
          </a:p>
          <a:p>
            <a:pPr lvl="1"/>
            <a:r>
              <a:rPr lang="en-CA" dirty="0" smtClean="0"/>
              <a:t>Political and economic conditions</a:t>
            </a:r>
          </a:p>
          <a:p>
            <a:pPr lvl="1"/>
            <a:r>
              <a:rPr lang="en-CA" dirty="0" smtClean="0"/>
              <a:t>Effects of global equity, fixed income, and credit markets</a:t>
            </a:r>
          </a:p>
          <a:p>
            <a:pPr lvl="1"/>
            <a:r>
              <a:rPr lang="en-CA" dirty="0" smtClean="0"/>
              <a:t>Corporate and mortgage lending, and commercial real estate investments</a:t>
            </a:r>
          </a:p>
          <a:p>
            <a:pPr lvl="1"/>
            <a:r>
              <a:rPr lang="en-CA" dirty="0" smtClean="0"/>
              <a:t>Current, pending, and future legislation and regulation</a:t>
            </a:r>
          </a:p>
          <a:p>
            <a:pPr lvl="1"/>
            <a:r>
              <a:rPr lang="en-CA" dirty="0" smtClean="0"/>
              <a:t>Level and volatility of equity, fixed income, commodity prices, interest rates, currency values, and other market indices</a:t>
            </a:r>
          </a:p>
          <a:p>
            <a:pPr lvl="1"/>
            <a:r>
              <a:rPr lang="en-CA" dirty="0" smtClean="0"/>
              <a:t>Cost and availability of credit and capital and credit ratings</a:t>
            </a:r>
          </a:p>
          <a:p>
            <a:pPr lvl="1"/>
            <a:r>
              <a:rPr lang="en-CA" dirty="0" smtClean="0"/>
              <a:t>Performance of acquisitions, JV’s and strategic alliances</a:t>
            </a:r>
          </a:p>
          <a:p>
            <a:pPr lvl="1"/>
            <a:r>
              <a:rPr lang="en-CA" dirty="0" smtClean="0"/>
              <a:t>Reputation, inflation, natural disasters, war and terrorism</a:t>
            </a:r>
          </a:p>
          <a:p>
            <a:pPr lvl="1"/>
            <a:r>
              <a:rPr lang="en-CA" dirty="0" smtClean="0"/>
              <a:t>Actions by competitors and technological changes</a:t>
            </a:r>
          </a:p>
        </p:txBody>
      </p:sp>
    </p:spTree>
    <p:extLst>
      <p:ext uri="{BB962C8B-B14F-4D97-AF65-F5344CB8AC3E}">
        <p14:creationId xmlns:p14="http://schemas.microsoft.com/office/powerpoint/2010/main" xmlns="" val="28373144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Market Risk</a:t>
            </a:r>
            <a:endParaRPr lang="en-CA" dirty="0"/>
          </a:p>
        </p:txBody>
      </p:sp>
      <p:sp>
        <p:nvSpPr>
          <p:cNvPr id="3" name="Content Placeholder 2"/>
          <p:cNvSpPr>
            <a:spLocks noGrp="1"/>
          </p:cNvSpPr>
          <p:nvPr>
            <p:ph idx="1"/>
          </p:nvPr>
        </p:nvSpPr>
        <p:spPr/>
        <p:txBody>
          <a:bodyPr>
            <a:normAutofit/>
          </a:bodyPr>
          <a:lstStyle/>
          <a:p>
            <a:r>
              <a:rPr lang="en-CA" dirty="0" smtClean="0"/>
              <a:t>Fluctuations affect the results of Institutional Securities business segments caused by factors mentioned above and global market activity</a:t>
            </a:r>
          </a:p>
          <a:p>
            <a:r>
              <a:rPr lang="en-CA" dirty="0" smtClean="0"/>
              <a:t>During unfavourable market conditions, the level of individual investor participation as well as level of client assets may decrease impacting the results of the Global Wealth Management Group business segment</a:t>
            </a:r>
          </a:p>
          <a:p>
            <a:r>
              <a:rPr lang="en-CA" dirty="0" smtClean="0"/>
              <a:t>Fluctuations in global market activity could impact flow of investment capital into or from the Asset Management business segment</a:t>
            </a:r>
            <a:endParaRPr lang="en-CA" dirty="0"/>
          </a:p>
        </p:txBody>
      </p:sp>
    </p:spTree>
    <p:extLst>
      <p:ext uri="{BB962C8B-B14F-4D97-AF65-F5344CB8AC3E}">
        <p14:creationId xmlns:p14="http://schemas.microsoft.com/office/powerpoint/2010/main" xmlns="" val="20131060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Market Risk</a:t>
            </a:r>
            <a:endParaRPr lang="en-CA" dirty="0"/>
          </a:p>
        </p:txBody>
      </p:sp>
      <p:sp>
        <p:nvSpPr>
          <p:cNvPr id="3" name="Content Placeholder 2"/>
          <p:cNvSpPr>
            <a:spLocks noGrp="1"/>
          </p:cNvSpPr>
          <p:nvPr>
            <p:ph idx="1"/>
          </p:nvPr>
        </p:nvSpPr>
        <p:spPr/>
        <p:txBody>
          <a:bodyPr>
            <a:normAutofit/>
          </a:bodyPr>
          <a:lstStyle/>
          <a:p>
            <a:pPr marL="0" indent="0">
              <a:buNone/>
            </a:pPr>
            <a:r>
              <a:rPr lang="en-CA" dirty="0" smtClean="0"/>
              <a:t>Writedowns of financial instruments and other losses caused by volatile and illiquid market conditions</a:t>
            </a:r>
          </a:p>
          <a:p>
            <a:r>
              <a:rPr lang="en-CA" dirty="0" smtClean="0"/>
              <a:t>Valuation of certain securities is difficult</a:t>
            </a:r>
          </a:p>
          <a:p>
            <a:r>
              <a:rPr lang="en-CA" dirty="0" smtClean="0"/>
              <a:t>Sales may not realize fair value due to demand and liquidity in the market at the time of sale</a:t>
            </a:r>
          </a:p>
          <a:p>
            <a:r>
              <a:rPr lang="en-CA" dirty="0" smtClean="0"/>
              <a:t>These factors could require further writedowns in the value of securities portfolio</a:t>
            </a:r>
          </a:p>
          <a:p>
            <a:r>
              <a:rPr lang="en-CA" dirty="0" smtClean="0"/>
              <a:t>Under severe market conditions, hedging and other risk management strategies may not be as effective at mitigating losses as they are in more normal conditions</a:t>
            </a:r>
          </a:p>
          <a:p>
            <a:r>
              <a:rPr lang="en-CA" dirty="0" smtClean="0"/>
              <a:t>Severe market conditions are hard to predict and may result in substantial losses if they occur again</a:t>
            </a:r>
          </a:p>
        </p:txBody>
      </p:sp>
    </p:spTree>
    <p:extLst>
      <p:ext uri="{BB962C8B-B14F-4D97-AF65-F5344CB8AC3E}">
        <p14:creationId xmlns:p14="http://schemas.microsoft.com/office/powerpoint/2010/main" xmlns="" val="31024472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Market Risk</a:t>
            </a:r>
            <a:endParaRPr lang="en-CA" dirty="0"/>
          </a:p>
        </p:txBody>
      </p:sp>
      <p:sp>
        <p:nvSpPr>
          <p:cNvPr id="3" name="Content Placeholder 2"/>
          <p:cNvSpPr>
            <a:spLocks noGrp="1"/>
          </p:cNvSpPr>
          <p:nvPr>
            <p:ph idx="1"/>
          </p:nvPr>
        </p:nvSpPr>
        <p:spPr/>
        <p:txBody>
          <a:bodyPr/>
          <a:lstStyle/>
          <a:p>
            <a:pPr marL="0" indent="0">
              <a:buNone/>
            </a:pPr>
            <a:r>
              <a:rPr lang="en-CA" dirty="0" smtClean="0"/>
              <a:t>Holding large and concentrated positions expose Morgan Stanley to losses</a:t>
            </a:r>
          </a:p>
          <a:p>
            <a:r>
              <a:rPr lang="en-CA" dirty="0" smtClean="0"/>
              <a:t>Substantial amounts of capital are committed to market-making, investing, block trading, underwriting and lending businesses which results in large positions in securities of, or making large loans to, a particular issuer(s) in a particular industry, country, or region</a:t>
            </a:r>
            <a:endParaRPr lang="en-CA" dirty="0"/>
          </a:p>
        </p:txBody>
      </p:sp>
    </p:spTree>
    <p:extLst>
      <p:ext uri="{BB962C8B-B14F-4D97-AF65-F5344CB8AC3E}">
        <p14:creationId xmlns:p14="http://schemas.microsoft.com/office/powerpoint/2010/main" xmlns="" val="4314958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Market Risk</a:t>
            </a:r>
            <a:endParaRPr lang="en-CA" dirty="0"/>
          </a:p>
        </p:txBody>
      </p:sp>
      <p:sp>
        <p:nvSpPr>
          <p:cNvPr id="3" name="Content Placeholder 2"/>
          <p:cNvSpPr>
            <a:spLocks noGrp="1"/>
          </p:cNvSpPr>
          <p:nvPr>
            <p:ph idx="1"/>
          </p:nvPr>
        </p:nvSpPr>
        <p:spPr/>
        <p:txBody>
          <a:bodyPr>
            <a:normAutofit/>
          </a:bodyPr>
          <a:lstStyle/>
          <a:p>
            <a:pPr marL="0" indent="0">
              <a:buNone/>
            </a:pPr>
            <a:r>
              <a:rPr lang="en-CA" dirty="0" smtClean="0"/>
              <a:t>Significant losses have been, and may continue to be incurred in the real estate sector</a:t>
            </a:r>
          </a:p>
          <a:p>
            <a:r>
              <a:rPr lang="en-CA" dirty="0" smtClean="0"/>
              <a:t>A number of principal positions have been acquired and financed by Morgan Stanley for their own account, investment vehicles by affiliates, separate accounts managed by affiliates, and major participants in commercial and residential real estate markets.</a:t>
            </a:r>
          </a:p>
          <a:p>
            <a:r>
              <a:rPr lang="en-CA" dirty="0"/>
              <a:t>O</a:t>
            </a:r>
            <a:r>
              <a:rPr lang="en-CA" dirty="0" smtClean="0"/>
              <a:t>riginate loans on commercial and residential real estate</a:t>
            </a:r>
          </a:p>
          <a:p>
            <a:r>
              <a:rPr lang="en-CA" dirty="0" smtClean="0"/>
              <a:t>Securitize and trade in a wide range of real estate related products</a:t>
            </a:r>
            <a:endParaRPr lang="en-CA" dirty="0"/>
          </a:p>
        </p:txBody>
      </p:sp>
    </p:spTree>
    <p:extLst>
      <p:ext uri="{BB962C8B-B14F-4D97-AF65-F5344CB8AC3E}">
        <p14:creationId xmlns:p14="http://schemas.microsoft.com/office/powerpoint/2010/main" xmlns="" val="37931406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smtClean="0"/>
              <a:t>Risk Management: Liquidity and Capital Resources</a:t>
            </a:r>
            <a:endParaRPr lang="en-CA" dirty="0"/>
          </a:p>
        </p:txBody>
      </p:sp>
      <p:sp>
        <p:nvSpPr>
          <p:cNvPr id="3" name="Content Placeholder 2"/>
          <p:cNvSpPr>
            <a:spLocks noGrp="1"/>
          </p:cNvSpPr>
          <p:nvPr>
            <p:ph idx="1"/>
          </p:nvPr>
        </p:nvSpPr>
        <p:spPr/>
        <p:txBody>
          <a:bodyPr>
            <a:normAutofit/>
          </a:bodyPr>
          <a:lstStyle/>
          <a:p>
            <a:r>
              <a:rPr lang="en-CA" dirty="0" smtClean="0"/>
              <a:t>Senior management establishes liquidity and capital policies and reviews performance relative to policies, monitors the availability of alternative sources of financing, and oversees the liquidity and interest rate and currency sensitivity of the Company’s asset and liability position</a:t>
            </a:r>
          </a:p>
          <a:p>
            <a:r>
              <a:rPr lang="en-CA" dirty="0" smtClean="0"/>
              <a:t>The liquidity and funding risk management helps mitigate the risk that the company may not have access to adequate financing</a:t>
            </a:r>
          </a:p>
          <a:p>
            <a:r>
              <a:rPr lang="en-CA" dirty="0" smtClean="0"/>
              <a:t>The principal elements of the company’s liquidity and funding risk management framework are the </a:t>
            </a:r>
            <a:r>
              <a:rPr lang="en-CA" b="1" dirty="0" smtClean="0"/>
              <a:t>Contingency Funding Plan (CFP)</a:t>
            </a:r>
            <a:r>
              <a:rPr lang="en-CA" dirty="0" smtClean="0"/>
              <a:t> and the </a:t>
            </a:r>
            <a:r>
              <a:rPr lang="en-CA" b="1" dirty="0" smtClean="0"/>
              <a:t>Global Liquidity Reserve</a:t>
            </a:r>
          </a:p>
          <a:p>
            <a:r>
              <a:rPr lang="en-CA" dirty="0" smtClean="0"/>
              <a:t>Uses Tier 1 common ratio and the balance sheet leverage ratio as indicators of capital adequacy</a:t>
            </a:r>
          </a:p>
        </p:txBody>
      </p:sp>
    </p:spTree>
    <p:extLst>
      <p:ext uri="{BB962C8B-B14F-4D97-AF65-F5344CB8AC3E}">
        <p14:creationId xmlns:p14="http://schemas.microsoft.com/office/powerpoint/2010/main" xmlns="" val="38231692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Leverage Ratios</a:t>
            </a:r>
            <a:endParaRPr lang="en-CA" dirty="0"/>
          </a:p>
        </p:txBody>
      </p:sp>
      <p:pic>
        <p:nvPicPr>
          <p:cNvPr id="1026" name="Picture 2" descr="D:\My Dropbox\sfu\BUS 419\Presentation\1 - Asset and Leverage Ratios.pn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 y="1628800"/>
            <a:ext cx="9144001" cy="4409004"/>
          </a:xfrm>
          <a:prstGeom prst="rect">
            <a:avLst/>
          </a:prstGeom>
          <a:noFill/>
          <a:extLst>
            <a:ext uri="{909E8E84-426E-40DD-AFC4-6F175D3DCCD1}">
              <a14:hiddenFill xmlns:a14="http://schemas.microsoft.com/office/drawing/2010/main" xmlns="">
                <a:solidFill>
                  <a:srgbClr val="FFFFFF"/>
                </a:solidFill>
              </a14:hiddenFill>
            </a:ext>
          </a:extLst>
        </p:spPr>
      </p:pic>
      <p:sp>
        <p:nvSpPr>
          <p:cNvPr id="3" name="Rectangle 2"/>
          <p:cNvSpPr/>
          <p:nvPr/>
        </p:nvSpPr>
        <p:spPr>
          <a:xfrm>
            <a:off x="0" y="5362713"/>
            <a:ext cx="8820474" cy="57606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xmlns="" val="84123009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Leverage Ratios</a:t>
            </a:r>
            <a:endParaRPr lang="en-CA" dirty="0"/>
          </a:p>
        </p:txBody>
      </p:sp>
      <p:pic>
        <p:nvPicPr>
          <p:cNvPr id="2050" name="Picture 2" descr="D:\My Dropbox\sfu\BUS 419\Presentation\2 - Asset and Leverage Ratios Notes.pn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 y="1916832"/>
            <a:ext cx="9144000" cy="3456384"/>
          </a:xfrm>
          <a:prstGeom prst="rect">
            <a:avLst/>
          </a:prstGeom>
          <a:noFill/>
          <a:extLst>
            <a:ext uri="{909E8E84-426E-40DD-AFC4-6F175D3DCCD1}">
              <a14:hiddenFill xmlns:a14="http://schemas.microsoft.com/office/drawing/2010/main" xmlns="">
                <a:solidFill>
                  <a:srgbClr val="FFFFFF"/>
                </a:solidFill>
              </a14:hiddenFill>
            </a:ext>
          </a:extLst>
        </p:spPr>
      </p:pic>
      <p:sp>
        <p:nvSpPr>
          <p:cNvPr id="4" name="Rectangle 3"/>
          <p:cNvSpPr/>
          <p:nvPr/>
        </p:nvSpPr>
        <p:spPr>
          <a:xfrm>
            <a:off x="25152" y="1916832"/>
            <a:ext cx="9118847" cy="50405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Rectangle 4"/>
          <p:cNvSpPr/>
          <p:nvPr/>
        </p:nvSpPr>
        <p:spPr>
          <a:xfrm>
            <a:off x="25151" y="2420888"/>
            <a:ext cx="9118847" cy="93610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xmlns="" val="149364971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pic>
        <p:nvPicPr>
          <p:cNvPr id="1026" name="Picture 2" descr="D:\My Dropbox\sfu\BUS 419\Presentation\11 - Total Equity to Tier 1 Capital.pn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72346" y="0"/>
            <a:ext cx="8565716" cy="6840660"/>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p:cNvSpPr/>
          <p:nvPr/>
        </p:nvSpPr>
        <p:spPr>
          <a:xfrm>
            <a:off x="17588" y="5589240"/>
            <a:ext cx="8820474" cy="125142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xmlns="" val="37801980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Capital Ratio</a:t>
            </a:r>
            <a:endParaRPr lang="en-US" dirty="0"/>
          </a:p>
        </p:txBody>
      </p:sp>
      <p:pic>
        <p:nvPicPr>
          <p:cNvPr id="6146" name="Picture 2"/>
          <p:cNvPicPr>
            <a:picLocks noGrp="1" noChangeAspect="1" noChangeArrowheads="1"/>
          </p:cNvPicPr>
          <p:nvPr>
            <p:ph idx="1"/>
          </p:nvPr>
        </p:nvPicPr>
        <p:blipFill>
          <a:blip r:embed="rId2" cstate="print"/>
          <a:stretch>
            <a:fillRect/>
          </a:stretch>
        </p:blipFill>
        <p:spPr bwMode="auto">
          <a:xfrm>
            <a:off x="457200" y="3184071"/>
            <a:ext cx="7620000" cy="1632857"/>
          </a:xfrm>
          <a:prstGeom prst="rect">
            <a:avLst/>
          </a:prstGeom>
          <a:noFill/>
          <a:ln w="9525">
            <a:noFill/>
            <a:miter lim="800000"/>
            <a:headEnd/>
            <a:tailEnd/>
          </a:ln>
        </p:spPr>
      </p:pic>
    </p:spTree>
    <p:extLst>
      <p:ext uri="{BB962C8B-B14F-4D97-AF65-F5344CB8AC3E}">
        <p14:creationId xmlns:p14="http://schemas.microsoft.com/office/powerpoint/2010/main" xmlns="" val="656459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Contingency Funding Plan (CFP)</a:t>
            </a:r>
            <a:endParaRPr lang="en-CA" dirty="0"/>
          </a:p>
        </p:txBody>
      </p:sp>
      <p:sp>
        <p:nvSpPr>
          <p:cNvPr id="3" name="Content Placeholder 2"/>
          <p:cNvSpPr>
            <a:spLocks noGrp="1"/>
          </p:cNvSpPr>
          <p:nvPr>
            <p:ph idx="1"/>
          </p:nvPr>
        </p:nvSpPr>
        <p:spPr/>
        <p:txBody>
          <a:bodyPr>
            <a:normAutofit/>
          </a:bodyPr>
          <a:lstStyle/>
          <a:p>
            <a:r>
              <a:rPr lang="en-CA" dirty="0" smtClean="0"/>
              <a:t>The company’s primary liquidity and funding risk management tool</a:t>
            </a:r>
          </a:p>
          <a:p>
            <a:r>
              <a:rPr lang="en-CA" dirty="0" smtClean="0"/>
              <a:t>Outlines response to liquidity stress and uses stress tests across multiple scenarios across various time horizons to set forth a course of action</a:t>
            </a:r>
          </a:p>
          <a:p>
            <a:r>
              <a:rPr lang="en-CA" dirty="0" smtClean="0"/>
              <a:t>Assumptions incorporated into the CFP:</a:t>
            </a:r>
          </a:p>
          <a:p>
            <a:pPr lvl="1"/>
            <a:r>
              <a:rPr lang="en-CA" dirty="0" smtClean="0"/>
              <a:t>No government support</a:t>
            </a:r>
          </a:p>
          <a:p>
            <a:pPr lvl="1"/>
            <a:r>
              <a:rPr lang="en-CA" dirty="0" smtClean="0"/>
              <a:t>No access to unsecured debt markets</a:t>
            </a:r>
          </a:p>
          <a:p>
            <a:pPr lvl="1"/>
            <a:r>
              <a:rPr lang="en-CA" dirty="0" smtClean="0"/>
              <a:t>Repayment of all unsecured debt maturing within one year</a:t>
            </a:r>
          </a:p>
          <a:p>
            <a:pPr lvl="1"/>
            <a:r>
              <a:rPr lang="en-CA" dirty="0" smtClean="0"/>
              <a:t>Higher haircuts and significantly lower availability of secured funding</a:t>
            </a:r>
          </a:p>
        </p:txBody>
      </p:sp>
    </p:spTree>
    <p:extLst>
      <p:ext uri="{BB962C8B-B14F-4D97-AF65-F5344CB8AC3E}">
        <p14:creationId xmlns:p14="http://schemas.microsoft.com/office/powerpoint/2010/main" xmlns="" val="33860698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Contingency Funding Plan (CFP)</a:t>
            </a:r>
            <a:endParaRPr lang="en-CA" dirty="0"/>
          </a:p>
        </p:txBody>
      </p:sp>
      <p:sp>
        <p:nvSpPr>
          <p:cNvPr id="3" name="Content Placeholder 2"/>
          <p:cNvSpPr>
            <a:spLocks noGrp="1"/>
          </p:cNvSpPr>
          <p:nvPr>
            <p:ph idx="1"/>
          </p:nvPr>
        </p:nvSpPr>
        <p:spPr/>
        <p:txBody>
          <a:bodyPr>
            <a:normAutofit/>
          </a:bodyPr>
          <a:lstStyle/>
          <a:p>
            <a:r>
              <a:rPr lang="en-CA" dirty="0" smtClean="0"/>
              <a:t>Assumptions incorporated into the CFP (Cont’d):</a:t>
            </a:r>
          </a:p>
          <a:p>
            <a:pPr lvl="1"/>
            <a:r>
              <a:rPr lang="en-CA" dirty="0" smtClean="0"/>
              <a:t>Additional collateral that would be required by trading counterparties and certain exchanges and clearing organizations related to multi-notch credit rating downgrades</a:t>
            </a:r>
          </a:p>
          <a:p>
            <a:pPr lvl="1"/>
            <a:r>
              <a:rPr lang="en-CA" dirty="0" smtClean="0"/>
              <a:t>Discretionary unsecured debt buybacks</a:t>
            </a:r>
          </a:p>
          <a:p>
            <a:pPr lvl="1"/>
            <a:r>
              <a:rPr lang="en-CA" dirty="0" smtClean="0"/>
              <a:t>Drawdowns on unfunded commitments provided to third parties</a:t>
            </a:r>
          </a:p>
          <a:p>
            <a:pPr lvl="1"/>
            <a:r>
              <a:rPr lang="en-CA" dirty="0" smtClean="0"/>
              <a:t>Client cash withdrawals</a:t>
            </a:r>
          </a:p>
          <a:p>
            <a:pPr lvl="1"/>
            <a:r>
              <a:rPr lang="en-CA" dirty="0" smtClean="0"/>
              <a:t>Limited access to the foreign exchange swap markets</a:t>
            </a:r>
          </a:p>
          <a:p>
            <a:pPr lvl="1"/>
            <a:r>
              <a:rPr lang="en-CA" dirty="0" smtClean="0"/>
              <a:t>Return of securities borrowed on an uncollateralized basis</a:t>
            </a:r>
          </a:p>
          <a:p>
            <a:pPr lvl="1"/>
            <a:r>
              <a:rPr lang="en-CA" dirty="0" smtClean="0"/>
              <a:t>Maturity roll-off of outstanding letters of credit with no further issuance</a:t>
            </a:r>
            <a:endParaRPr lang="en-CA" dirty="0"/>
          </a:p>
        </p:txBody>
      </p:sp>
    </p:spTree>
    <p:extLst>
      <p:ext uri="{BB962C8B-B14F-4D97-AF65-F5344CB8AC3E}">
        <p14:creationId xmlns:p14="http://schemas.microsoft.com/office/powerpoint/2010/main" xmlns="" val="35789226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Contingency Funding Plan (CFP)</a:t>
            </a:r>
            <a:endParaRPr lang="en-CA" dirty="0"/>
          </a:p>
        </p:txBody>
      </p:sp>
      <p:sp>
        <p:nvSpPr>
          <p:cNvPr id="3" name="Content Placeholder 2"/>
          <p:cNvSpPr>
            <a:spLocks noGrp="1"/>
          </p:cNvSpPr>
          <p:nvPr>
            <p:ph idx="1"/>
          </p:nvPr>
        </p:nvSpPr>
        <p:spPr/>
        <p:txBody>
          <a:bodyPr>
            <a:normAutofit/>
          </a:bodyPr>
          <a:lstStyle/>
          <a:p>
            <a:r>
              <a:rPr lang="en-CA" dirty="0" smtClean="0"/>
              <a:t>Produced at the parent and major operating subsidiary levels, as well as major currency levels</a:t>
            </a:r>
          </a:p>
          <a:p>
            <a:r>
              <a:rPr lang="en-CA" dirty="0" smtClean="0"/>
              <a:t>Assumes subsidiaries will use their own liquidity first before drawing from the parent company</a:t>
            </a:r>
          </a:p>
          <a:p>
            <a:r>
              <a:rPr lang="en-CA" dirty="0" smtClean="0"/>
              <a:t>Assumes the parent will support its subsidiaries and will not have access to their liquidity reserves due to regulatory, legal or tax constraints</a:t>
            </a:r>
          </a:p>
          <a:p>
            <a:r>
              <a:rPr lang="en-CA" dirty="0"/>
              <a:t>At December 31, 2010, the Company maintained sufficient liquidity to meet funding and contingent </a:t>
            </a:r>
            <a:r>
              <a:rPr lang="en-CA" dirty="0" smtClean="0"/>
              <a:t>obligations as </a:t>
            </a:r>
            <a:r>
              <a:rPr lang="en-CA" dirty="0"/>
              <a:t>modeled in its liquidity stress </a:t>
            </a:r>
            <a:r>
              <a:rPr lang="en-CA" dirty="0" smtClean="0"/>
              <a:t>tests</a:t>
            </a:r>
            <a:endParaRPr lang="en-CA" dirty="0"/>
          </a:p>
        </p:txBody>
      </p:sp>
    </p:spTree>
    <p:extLst>
      <p:ext uri="{BB962C8B-B14F-4D97-AF65-F5344CB8AC3E}">
        <p14:creationId xmlns:p14="http://schemas.microsoft.com/office/powerpoint/2010/main" xmlns="" val="15055612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Global Liquidity Reserve</a:t>
            </a:r>
            <a:endParaRPr lang="en-CA" dirty="0"/>
          </a:p>
        </p:txBody>
      </p:sp>
      <p:sp>
        <p:nvSpPr>
          <p:cNvPr id="3" name="Content Placeholder 2"/>
          <p:cNvSpPr>
            <a:spLocks noGrp="1"/>
          </p:cNvSpPr>
          <p:nvPr>
            <p:ph idx="1"/>
          </p:nvPr>
        </p:nvSpPr>
        <p:spPr/>
        <p:txBody>
          <a:bodyPr>
            <a:normAutofit/>
          </a:bodyPr>
          <a:lstStyle/>
          <a:p>
            <a:r>
              <a:rPr lang="en-CA" dirty="0" smtClean="0"/>
              <a:t>Liquidity reserves used to cover daily funding needs and meet liquidity targets sized by the CFP</a:t>
            </a:r>
          </a:p>
          <a:p>
            <a:r>
              <a:rPr lang="en-CA" dirty="0" smtClean="0"/>
              <a:t>Held within parent company and major operating subsidiaries</a:t>
            </a:r>
          </a:p>
          <a:p>
            <a:r>
              <a:rPr lang="en-CA" dirty="0" smtClean="0"/>
              <a:t>Comprised of cash and cash equivalents, securities reserved or borrowed on an overnight basis, and pools of federal reserve eligible securities</a:t>
            </a:r>
          </a:p>
          <a:p>
            <a:r>
              <a:rPr lang="en-CA" dirty="0" smtClean="0"/>
              <a:t>All assets are unencumbered and not pledged as collateral</a:t>
            </a:r>
          </a:p>
          <a:p>
            <a:r>
              <a:rPr lang="en-CA" dirty="0" smtClean="0"/>
              <a:t>Does not include other unencumbered assets that are available</a:t>
            </a:r>
          </a:p>
          <a:p>
            <a:r>
              <a:rPr lang="en-CA" dirty="0"/>
              <a:t>The vast majority of the </a:t>
            </a:r>
            <a:r>
              <a:rPr lang="en-CA" dirty="0" smtClean="0"/>
              <a:t>assets </a:t>
            </a:r>
            <a:r>
              <a:rPr lang="en-CA" dirty="0"/>
              <a:t>can be monetized on a next-day basis </a:t>
            </a:r>
            <a:r>
              <a:rPr lang="en-CA" dirty="0" smtClean="0"/>
              <a:t>and the </a:t>
            </a:r>
            <a:r>
              <a:rPr lang="en-CA" dirty="0"/>
              <a:t>remainder of the </a:t>
            </a:r>
            <a:r>
              <a:rPr lang="en-CA" dirty="0" smtClean="0"/>
              <a:t>assets can </a:t>
            </a:r>
            <a:r>
              <a:rPr lang="en-CA" dirty="0"/>
              <a:t>be monetized within two to five business days.</a:t>
            </a:r>
          </a:p>
        </p:txBody>
      </p:sp>
    </p:spTree>
    <p:extLst>
      <p:ext uri="{BB962C8B-B14F-4D97-AF65-F5344CB8AC3E}">
        <p14:creationId xmlns:p14="http://schemas.microsoft.com/office/powerpoint/2010/main" xmlns="" val="34931017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Global Liquidity Reserve</a:t>
            </a:r>
            <a:endParaRPr lang="en-CA" dirty="0"/>
          </a:p>
        </p:txBody>
      </p:sp>
      <p:pic>
        <p:nvPicPr>
          <p:cNvPr id="4" name="Picture 2" descr="D:\My Dropbox\sfu\BUS 419\Presentation\4 - Global Liquidity Reserve by Type of Investment.pn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0" y="1337597"/>
            <a:ext cx="9144001" cy="1902358"/>
          </a:xfrm>
          <a:prstGeom prst="rect">
            <a:avLst/>
          </a:prstGeom>
          <a:noFill/>
          <a:extLst>
            <a:ext uri="{909E8E84-426E-40DD-AFC4-6F175D3DCCD1}">
              <a14:hiddenFill xmlns:a14="http://schemas.microsoft.com/office/drawing/2010/main" xmlns="">
                <a:solidFill>
                  <a:srgbClr val="FFFFFF"/>
                </a:solidFill>
              </a14:hiddenFill>
            </a:ext>
          </a:extLst>
        </p:spPr>
      </p:pic>
      <p:pic>
        <p:nvPicPr>
          <p:cNvPr id="5122" name="Picture 2" descr="D:\My Dropbox\sfu\BUS 419\Presentation\5 - Global Liquidity Reserve by Parent and Subsidiaries.pn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592" y="3682914"/>
            <a:ext cx="9148592" cy="1955369"/>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0713679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Capital Management Policies</a:t>
            </a:r>
            <a:endParaRPr lang="en-CA" dirty="0"/>
          </a:p>
        </p:txBody>
      </p:sp>
      <p:sp>
        <p:nvSpPr>
          <p:cNvPr id="3" name="Content Placeholder 2"/>
          <p:cNvSpPr>
            <a:spLocks noGrp="1"/>
          </p:cNvSpPr>
          <p:nvPr>
            <p:ph idx="1"/>
          </p:nvPr>
        </p:nvSpPr>
        <p:spPr/>
        <p:txBody>
          <a:bodyPr/>
          <a:lstStyle/>
          <a:p>
            <a:r>
              <a:rPr lang="en-CA" dirty="0" smtClean="0"/>
              <a:t>Attempts to maintain total capital, on a consolidated basis, at least equal to the sum of its operating subsidiaries’ equity</a:t>
            </a:r>
          </a:p>
          <a:p>
            <a:r>
              <a:rPr lang="en-CA" dirty="0" smtClean="0"/>
              <a:t>$1.6 billion remaining under current share repurchase program out of $6 billion authorized in December 2006</a:t>
            </a:r>
            <a:endParaRPr lang="en-CA" dirty="0"/>
          </a:p>
        </p:txBody>
      </p:sp>
    </p:spTree>
    <p:extLst>
      <p:ext uri="{BB962C8B-B14F-4D97-AF65-F5344CB8AC3E}">
        <p14:creationId xmlns:p14="http://schemas.microsoft.com/office/powerpoint/2010/main" xmlns="" val="4325889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Funding Management Policies</a:t>
            </a:r>
            <a:endParaRPr lang="en-CA" dirty="0"/>
          </a:p>
        </p:txBody>
      </p:sp>
      <p:sp>
        <p:nvSpPr>
          <p:cNvPr id="3" name="Content Placeholder 2"/>
          <p:cNvSpPr>
            <a:spLocks noGrp="1"/>
          </p:cNvSpPr>
          <p:nvPr>
            <p:ph idx="1"/>
          </p:nvPr>
        </p:nvSpPr>
        <p:spPr/>
        <p:txBody>
          <a:bodyPr>
            <a:normAutofit/>
          </a:bodyPr>
          <a:lstStyle/>
          <a:p>
            <a:r>
              <a:rPr lang="en-CA" dirty="0" smtClean="0"/>
              <a:t>Attempt to ensure tenor of liabilities equals or exceeds the expected holding period of the assets being financed</a:t>
            </a:r>
          </a:p>
          <a:p>
            <a:r>
              <a:rPr lang="en-CA" dirty="0" smtClean="0"/>
              <a:t>Diversify funding sources</a:t>
            </a:r>
          </a:p>
          <a:p>
            <a:r>
              <a:rPr lang="en-CA" dirty="0"/>
              <a:t>S</a:t>
            </a:r>
            <a:r>
              <a:rPr lang="en-CA" dirty="0" smtClean="0"/>
              <a:t>ubstantial portion of assets as liquid marketable securities in order acquire secured financing</a:t>
            </a:r>
          </a:p>
          <a:p>
            <a:r>
              <a:rPr lang="en-CA" dirty="0" smtClean="0"/>
              <a:t>Obtain longer-term secured financing for less liquid assets</a:t>
            </a:r>
          </a:p>
          <a:p>
            <a:r>
              <a:rPr lang="en-CA" dirty="0" smtClean="0"/>
              <a:t>Stagger maturity for long-term borrowings to mitigate refinancing risk</a:t>
            </a:r>
            <a:endParaRPr lang="en-CA" dirty="0"/>
          </a:p>
        </p:txBody>
      </p:sp>
    </p:spTree>
    <p:extLst>
      <p:ext uri="{BB962C8B-B14F-4D97-AF65-F5344CB8AC3E}">
        <p14:creationId xmlns:p14="http://schemas.microsoft.com/office/powerpoint/2010/main" xmlns="" val="82694697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Credit Rating</a:t>
            </a:r>
            <a:endParaRPr lang="en-CA" dirty="0"/>
          </a:p>
        </p:txBody>
      </p:sp>
      <p:sp>
        <p:nvSpPr>
          <p:cNvPr id="3" name="Content Placeholder 2"/>
          <p:cNvSpPr>
            <a:spLocks noGrp="1"/>
          </p:cNvSpPr>
          <p:nvPr>
            <p:ph idx="1"/>
          </p:nvPr>
        </p:nvSpPr>
        <p:spPr/>
        <p:txBody>
          <a:bodyPr/>
          <a:lstStyle/>
          <a:p>
            <a:r>
              <a:rPr lang="en-CA" dirty="0" smtClean="0"/>
              <a:t>Credit rating affects ability to acquire funding</a:t>
            </a:r>
          </a:p>
          <a:p>
            <a:r>
              <a:rPr lang="en-CA" dirty="0" smtClean="0"/>
              <a:t>CFP accounts for downgrade in credit rating</a:t>
            </a:r>
            <a:endParaRPr lang="en-CA" dirty="0"/>
          </a:p>
        </p:txBody>
      </p:sp>
      <p:pic>
        <p:nvPicPr>
          <p:cNvPr id="2050" name="Picture 2" descr="D:\My Dropbox\sfu\BUS 419\Presentation\12 - Credit Rating.pn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0" y="3501008"/>
            <a:ext cx="9144000" cy="3148047"/>
          </a:xfrm>
          <a:prstGeom prst="rect">
            <a:avLst/>
          </a:prstGeom>
          <a:noFill/>
          <a:extLst>
            <a:ext uri="{909E8E84-426E-40DD-AFC4-6F175D3DCCD1}">
              <a14:hiddenFill xmlns:a14="http://schemas.microsoft.com/office/drawing/2010/main" xmlns="">
                <a:solidFill>
                  <a:srgbClr val="FFFFFF"/>
                </a:solidFill>
              </a14:hiddenFill>
            </a:ext>
          </a:extLst>
        </p:spPr>
      </p:pic>
      <p:sp>
        <p:nvSpPr>
          <p:cNvPr id="5" name="Rectangle 4"/>
          <p:cNvSpPr/>
          <p:nvPr/>
        </p:nvSpPr>
        <p:spPr>
          <a:xfrm>
            <a:off x="5580112" y="4077072"/>
            <a:ext cx="864096" cy="144016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xmlns="" val="143595386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Required Capital</a:t>
            </a:r>
            <a:endParaRPr lang="en-CA" dirty="0"/>
          </a:p>
        </p:txBody>
      </p:sp>
      <p:sp>
        <p:nvSpPr>
          <p:cNvPr id="3" name="Content Placeholder 2"/>
          <p:cNvSpPr>
            <a:spLocks noGrp="1"/>
          </p:cNvSpPr>
          <p:nvPr>
            <p:ph idx="1"/>
          </p:nvPr>
        </p:nvSpPr>
        <p:spPr/>
        <p:txBody>
          <a:bodyPr>
            <a:normAutofit/>
          </a:bodyPr>
          <a:lstStyle/>
          <a:p>
            <a:r>
              <a:rPr lang="en-CA" dirty="0" smtClean="0"/>
              <a:t>Capital estimation is based on the </a:t>
            </a:r>
            <a:r>
              <a:rPr lang="en-CA" b="1" dirty="0" smtClean="0"/>
              <a:t>Required Capital Framework</a:t>
            </a:r>
            <a:r>
              <a:rPr lang="en-CA" dirty="0" smtClean="0"/>
              <a:t>, an internal capital adequacy measure</a:t>
            </a:r>
          </a:p>
          <a:p>
            <a:r>
              <a:rPr lang="en-CA" dirty="0" smtClean="0"/>
              <a:t>Compared with regulatory Tier 1 capital to ensure they maintain an amount of risk-based going concern capital after absorbing potential losses from extreme stress events</a:t>
            </a:r>
          </a:p>
          <a:p>
            <a:r>
              <a:rPr lang="en-CA" dirty="0" smtClean="0"/>
              <a:t>Each business segment capitalized as if it were an independent operating entity, this is intended to align capital with the risks in each business segment</a:t>
            </a:r>
          </a:p>
        </p:txBody>
      </p:sp>
    </p:spTree>
    <p:extLst>
      <p:ext uri="{BB962C8B-B14F-4D97-AF65-F5344CB8AC3E}">
        <p14:creationId xmlns:p14="http://schemas.microsoft.com/office/powerpoint/2010/main" xmlns="" val="135446700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smtClean="0"/>
              <a:t>Average Tier 1 Capital and Average Common Equity by Business Segment</a:t>
            </a:r>
            <a:endParaRPr lang="en-CA" dirty="0"/>
          </a:p>
        </p:txBody>
      </p:sp>
      <p:pic>
        <p:nvPicPr>
          <p:cNvPr id="3074" name="Picture 2" descr="D:\My Dropbox\sfu\BUS 419\Presentation\3 - Business Segments Average Tier 1 Capital and Common Equity.pn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0" y="1844824"/>
            <a:ext cx="9144000" cy="4153570"/>
          </a:xfrm>
          <a:prstGeom prst="rect">
            <a:avLst/>
          </a:prstGeom>
          <a:noFill/>
          <a:extLst>
            <a:ext uri="{909E8E84-426E-40DD-AFC4-6F175D3DCCD1}">
              <a14:hiddenFill xmlns:a14="http://schemas.microsoft.com/office/drawing/2010/main" xmlns="">
                <a:solidFill>
                  <a:srgbClr val="FFFFFF"/>
                </a:solidFill>
              </a14:hiddenFill>
            </a:ext>
          </a:extLst>
        </p:spPr>
      </p:pic>
      <p:sp>
        <p:nvSpPr>
          <p:cNvPr id="5" name="Rectangle 4"/>
          <p:cNvSpPr/>
          <p:nvPr/>
        </p:nvSpPr>
        <p:spPr>
          <a:xfrm>
            <a:off x="17588" y="2852936"/>
            <a:ext cx="9018908" cy="25202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xmlns="" val="3250205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Regulatory Requirements</a:t>
            </a:r>
            <a:endParaRPr lang="en-CA" dirty="0"/>
          </a:p>
        </p:txBody>
      </p:sp>
      <p:sp>
        <p:nvSpPr>
          <p:cNvPr id="3" name="Content Placeholder 2"/>
          <p:cNvSpPr>
            <a:spLocks noGrp="1"/>
          </p:cNvSpPr>
          <p:nvPr>
            <p:ph idx="1"/>
          </p:nvPr>
        </p:nvSpPr>
        <p:spPr/>
        <p:txBody>
          <a:bodyPr/>
          <a:lstStyle/>
          <a:p>
            <a:r>
              <a:rPr lang="en-CA" dirty="0" smtClean="0"/>
              <a:t>Subject to regulation and oversight of the Federal Reserve which establishes capital requirements</a:t>
            </a:r>
          </a:p>
          <a:p>
            <a:r>
              <a:rPr lang="en-CA" dirty="0" smtClean="0"/>
              <a:t>Capital ratios and Risk Weighted Assets calculated in accordance with capital adequacy standards</a:t>
            </a:r>
          </a:p>
          <a:p>
            <a:r>
              <a:rPr lang="en-CA" dirty="0" smtClean="0"/>
              <a:t>Risks are calculated under Basel I and Basel II simultaneously as of July 2010</a:t>
            </a:r>
          </a:p>
          <a:p>
            <a:r>
              <a:rPr lang="en-CA" dirty="0"/>
              <a:t>At December 31, 2010, the Company was in compliance with Basel I capital requirements with ratios of Tier 1 capital to RWAs of 16.1% and total capital to RWAs of 16.5% (6% and 10% being well-capitalized for regulatory purposes, respectively)</a:t>
            </a:r>
            <a:endParaRPr lang="en-CA" dirty="0" smtClean="0"/>
          </a:p>
        </p:txBody>
      </p:sp>
    </p:spTree>
    <p:extLst>
      <p:ext uri="{BB962C8B-B14F-4D97-AF65-F5344CB8AC3E}">
        <p14:creationId xmlns:p14="http://schemas.microsoft.com/office/powerpoint/2010/main" xmlns="" val="106402038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Basel II</a:t>
            </a:r>
            <a:endParaRPr lang="en-CA" dirty="0"/>
          </a:p>
        </p:txBody>
      </p:sp>
      <p:sp>
        <p:nvSpPr>
          <p:cNvPr id="3" name="Content Placeholder 2"/>
          <p:cNvSpPr>
            <a:spLocks noGrp="1"/>
          </p:cNvSpPr>
          <p:nvPr>
            <p:ph idx="1"/>
          </p:nvPr>
        </p:nvSpPr>
        <p:spPr/>
        <p:txBody>
          <a:bodyPr/>
          <a:lstStyle/>
          <a:p>
            <a:r>
              <a:rPr lang="en-CA" dirty="0"/>
              <a:t>The First Pillar: Minimum Capital Requirements</a:t>
            </a:r>
          </a:p>
          <a:p>
            <a:pPr lvl="1"/>
            <a:r>
              <a:rPr lang="en-CA" dirty="0"/>
              <a:t>Maintain three major risks: Credit Risk, Operational Risk, Market Risk</a:t>
            </a:r>
          </a:p>
          <a:p>
            <a:pPr lvl="1"/>
            <a:r>
              <a:rPr lang="en-CA" dirty="0"/>
              <a:t>Minimum Capital Requirement: (risk weighted) 8%</a:t>
            </a:r>
          </a:p>
          <a:p>
            <a:r>
              <a:rPr lang="en-CA" dirty="0"/>
              <a:t>The Second Pillar: Supervisory Review</a:t>
            </a:r>
          </a:p>
          <a:p>
            <a:pPr lvl="1"/>
            <a:r>
              <a:rPr lang="en-CA" dirty="0"/>
              <a:t>Assist the first pillar with regulatory responses</a:t>
            </a:r>
          </a:p>
          <a:p>
            <a:pPr lvl="1"/>
            <a:r>
              <a:rPr lang="en-CA" dirty="0"/>
              <a:t>Deals with liquidity risk and other risks</a:t>
            </a:r>
          </a:p>
          <a:p>
            <a:r>
              <a:rPr lang="en-CA" dirty="0"/>
              <a:t>The Third Pillar: Market Discipline</a:t>
            </a:r>
          </a:p>
          <a:p>
            <a:pPr lvl="1"/>
            <a:r>
              <a:rPr lang="en-CA" dirty="0"/>
              <a:t>Market disclosure</a:t>
            </a:r>
          </a:p>
          <a:p>
            <a:endParaRPr lang="en-CA" dirty="0"/>
          </a:p>
        </p:txBody>
      </p:sp>
    </p:spTree>
    <p:extLst>
      <p:ext uri="{BB962C8B-B14F-4D97-AF65-F5344CB8AC3E}">
        <p14:creationId xmlns:p14="http://schemas.microsoft.com/office/powerpoint/2010/main" xmlns="" val="12980013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Basel III</a:t>
            </a:r>
            <a:endParaRPr lang="en-CA" dirty="0"/>
          </a:p>
        </p:txBody>
      </p:sp>
      <p:sp>
        <p:nvSpPr>
          <p:cNvPr id="3" name="Content Placeholder 2"/>
          <p:cNvSpPr>
            <a:spLocks noGrp="1"/>
          </p:cNvSpPr>
          <p:nvPr>
            <p:ph idx="1"/>
          </p:nvPr>
        </p:nvSpPr>
        <p:spPr/>
        <p:txBody>
          <a:bodyPr/>
          <a:lstStyle/>
          <a:p>
            <a:r>
              <a:rPr lang="en-CA" dirty="0" smtClean="0"/>
              <a:t>Implementation of Basel II may be impacted by development of Basel III</a:t>
            </a:r>
          </a:p>
          <a:p>
            <a:r>
              <a:rPr lang="en-CA" dirty="0" smtClean="0"/>
              <a:t>New capital standards that raise the quality of capital, strengthen counterparty credit risk capital requirements and introduces a leverage ratio as a supplemental measure to the risk-based ratio</a:t>
            </a:r>
          </a:p>
          <a:p>
            <a:r>
              <a:rPr lang="en-CA" dirty="0" smtClean="0"/>
              <a:t>New capital conservation buffer which imposes a common equity requirement above the new minimum that can be depleted under stress</a:t>
            </a:r>
          </a:p>
          <a:p>
            <a:pPr marL="114300" indent="0">
              <a:buNone/>
            </a:pPr>
            <a:endParaRPr lang="en-CA" dirty="0"/>
          </a:p>
        </p:txBody>
      </p:sp>
    </p:spTree>
    <p:extLst>
      <p:ext uri="{BB962C8B-B14F-4D97-AF65-F5344CB8AC3E}">
        <p14:creationId xmlns:p14="http://schemas.microsoft.com/office/powerpoint/2010/main" xmlns="" val="346345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smtClean="0"/>
              <a:t>Effects of Inflation and Changes in FX Rates</a:t>
            </a:r>
            <a:endParaRPr lang="en-CA" dirty="0"/>
          </a:p>
        </p:txBody>
      </p:sp>
      <p:sp>
        <p:nvSpPr>
          <p:cNvPr id="3" name="Content Placeholder 2"/>
          <p:cNvSpPr>
            <a:spLocks noGrp="1"/>
          </p:cNvSpPr>
          <p:nvPr>
            <p:ph idx="1"/>
          </p:nvPr>
        </p:nvSpPr>
        <p:spPr/>
        <p:txBody>
          <a:bodyPr>
            <a:normAutofit/>
          </a:bodyPr>
          <a:lstStyle/>
          <a:p>
            <a:r>
              <a:rPr lang="en-CA" dirty="0"/>
              <a:t>The Company’s assets </a:t>
            </a:r>
            <a:r>
              <a:rPr lang="en-CA" dirty="0" smtClean="0"/>
              <a:t>are largely liquid </a:t>
            </a:r>
            <a:r>
              <a:rPr lang="en-CA" dirty="0"/>
              <a:t>in nature </a:t>
            </a:r>
            <a:r>
              <a:rPr lang="en-CA" dirty="0" smtClean="0"/>
              <a:t>and </a:t>
            </a:r>
            <a:r>
              <a:rPr lang="en-CA" dirty="0"/>
              <a:t>are not significantly affected </a:t>
            </a:r>
            <a:r>
              <a:rPr lang="en-CA" dirty="0" smtClean="0"/>
              <a:t>by inflation</a:t>
            </a:r>
          </a:p>
          <a:p>
            <a:r>
              <a:rPr lang="en-CA" dirty="0" smtClean="0"/>
              <a:t>Inflation may increase expenses which may adversely affect profitability</a:t>
            </a:r>
          </a:p>
          <a:p>
            <a:r>
              <a:rPr lang="en-CA" dirty="0" smtClean="0"/>
              <a:t>Business  </a:t>
            </a:r>
            <a:r>
              <a:rPr lang="en-CA" dirty="0"/>
              <a:t>conducted in </a:t>
            </a:r>
            <a:r>
              <a:rPr lang="en-CA" dirty="0" smtClean="0"/>
              <a:t>other currencies can affect </a:t>
            </a:r>
            <a:r>
              <a:rPr lang="en-CA" dirty="0"/>
              <a:t>the value of non-U.S. dollar </a:t>
            </a:r>
            <a:r>
              <a:rPr lang="en-CA" dirty="0" smtClean="0"/>
              <a:t>net assets</a:t>
            </a:r>
            <a:r>
              <a:rPr lang="en-CA" dirty="0"/>
              <a:t>, revenues and expenses</a:t>
            </a:r>
          </a:p>
          <a:p>
            <a:r>
              <a:rPr lang="en-CA" dirty="0" smtClean="0"/>
              <a:t>Strategies to reduce impact of FX rate fluctuations include financing </a:t>
            </a:r>
            <a:r>
              <a:rPr lang="en-CA" dirty="0"/>
              <a:t>of </a:t>
            </a:r>
            <a:r>
              <a:rPr lang="en-CA" dirty="0" smtClean="0"/>
              <a:t>non-U.S. dollar </a:t>
            </a:r>
            <a:r>
              <a:rPr lang="en-CA" dirty="0"/>
              <a:t>assets with direct or swap-based borrowings in the same currency and the use of currency </a:t>
            </a:r>
            <a:r>
              <a:rPr lang="en-CA" dirty="0" smtClean="0"/>
              <a:t>forward contracts </a:t>
            </a:r>
            <a:r>
              <a:rPr lang="en-CA" dirty="0"/>
              <a:t>or the spot market in various hedging transactions related to net assets, revenues, expenses or </a:t>
            </a:r>
            <a:r>
              <a:rPr lang="en-CA" dirty="0" smtClean="0"/>
              <a:t>cash flows</a:t>
            </a:r>
            <a:endParaRPr lang="en-CA" dirty="0"/>
          </a:p>
        </p:txBody>
      </p:sp>
    </p:spTree>
    <p:extLst>
      <p:ext uri="{BB962C8B-B14F-4D97-AF65-F5344CB8AC3E}">
        <p14:creationId xmlns:p14="http://schemas.microsoft.com/office/powerpoint/2010/main" xmlns="" val="29166419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Risk Management: Market Risk</a:t>
            </a:r>
            <a:endParaRPr lang="en-CA" dirty="0"/>
          </a:p>
        </p:txBody>
      </p:sp>
      <p:sp>
        <p:nvSpPr>
          <p:cNvPr id="3" name="Content Placeholder 2"/>
          <p:cNvSpPr>
            <a:spLocks noGrp="1"/>
          </p:cNvSpPr>
          <p:nvPr>
            <p:ph idx="1"/>
          </p:nvPr>
        </p:nvSpPr>
        <p:spPr/>
        <p:txBody>
          <a:bodyPr>
            <a:normAutofit/>
          </a:bodyPr>
          <a:lstStyle/>
          <a:p>
            <a:r>
              <a:rPr lang="en-CA" dirty="0" smtClean="0"/>
              <a:t>Institutional Securities business segment generates the substantial majority of Company’s Value at Risk (VaR) for market risk exposure</a:t>
            </a:r>
          </a:p>
          <a:p>
            <a:r>
              <a:rPr lang="en-CA" dirty="0" smtClean="0"/>
              <a:t>Global Wealth Management Group incurs trading related market risk</a:t>
            </a:r>
          </a:p>
          <a:p>
            <a:r>
              <a:rPr lang="en-CA" dirty="0" smtClean="0"/>
              <a:t>Asset Management incurs principally non-trading market risk</a:t>
            </a:r>
          </a:p>
        </p:txBody>
      </p:sp>
    </p:spTree>
    <p:extLst>
      <p:ext uri="{BB962C8B-B14F-4D97-AF65-F5344CB8AC3E}">
        <p14:creationId xmlns:p14="http://schemas.microsoft.com/office/powerpoint/2010/main" xmlns="" val="22529452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Market Risk Department</a:t>
            </a:r>
            <a:endParaRPr lang="en-CA" dirty="0"/>
          </a:p>
        </p:txBody>
      </p:sp>
      <p:sp>
        <p:nvSpPr>
          <p:cNvPr id="3" name="Content Placeholder 2"/>
          <p:cNvSpPr>
            <a:spLocks noGrp="1"/>
          </p:cNvSpPr>
          <p:nvPr>
            <p:ph idx="1"/>
          </p:nvPr>
        </p:nvSpPr>
        <p:spPr/>
        <p:txBody>
          <a:bodyPr>
            <a:normAutofit lnSpcReduction="10000"/>
          </a:bodyPr>
          <a:lstStyle/>
          <a:p>
            <a:pPr marL="0" indent="0">
              <a:buNone/>
            </a:pPr>
            <a:r>
              <a:rPr lang="en-CA" dirty="0" smtClean="0"/>
              <a:t>Responsibilities:</a:t>
            </a:r>
          </a:p>
          <a:p>
            <a:r>
              <a:rPr lang="en-CA" dirty="0" smtClean="0"/>
              <a:t>Ensuring transparency of material market risk</a:t>
            </a:r>
          </a:p>
          <a:p>
            <a:r>
              <a:rPr lang="en-CA" dirty="0" smtClean="0"/>
              <a:t>Monitoring compliance with established limits</a:t>
            </a:r>
          </a:p>
          <a:p>
            <a:r>
              <a:rPr lang="en-CA" dirty="0" smtClean="0"/>
              <a:t>Escalating risk concentrations to appropriate senior management</a:t>
            </a:r>
          </a:p>
          <a:p>
            <a:pPr marL="0" indent="0">
              <a:buNone/>
            </a:pPr>
            <a:r>
              <a:rPr lang="en-CA" dirty="0" smtClean="0"/>
              <a:t>How responsibilities are carried out:</a:t>
            </a:r>
          </a:p>
          <a:p>
            <a:r>
              <a:rPr lang="en-CA" dirty="0" smtClean="0"/>
              <a:t>Monitor risk against limits on aggregate risk exposures</a:t>
            </a:r>
          </a:p>
          <a:p>
            <a:r>
              <a:rPr lang="en-CA" dirty="0" smtClean="0"/>
              <a:t>Perform risk analyses</a:t>
            </a:r>
          </a:p>
          <a:p>
            <a:r>
              <a:rPr lang="en-CA" dirty="0" smtClean="0"/>
              <a:t>Report risk summaries</a:t>
            </a:r>
          </a:p>
          <a:p>
            <a:r>
              <a:rPr lang="en-CA" dirty="0" smtClean="0"/>
              <a:t>Monitor risk through various measures</a:t>
            </a:r>
          </a:p>
          <a:p>
            <a:pPr lvl="1"/>
            <a:r>
              <a:rPr lang="en-CA" dirty="0" smtClean="0"/>
              <a:t>VaR</a:t>
            </a:r>
          </a:p>
          <a:p>
            <a:pPr lvl="1"/>
            <a:r>
              <a:rPr lang="en-CA" dirty="0" smtClean="0"/>
              <a:t>Position sensitivity</a:t>
            </a:r>
          </a:p>
          <a:p>
            <a:pPr lvl="1"/>
            <a:r>
              <a:rPr lang="en-CA" dirty="0" smtClean="0"/>
              <a:t>Routine stress testing</a:t>
            </a:r>
            <a:endParaRPr lang="en-CA" dirty="0"/>
          </a:p>
        </p:txBody>
      </p:sp>
    </p:spTree>
    <p:extLst>
      <p:ext uri="{BB962C8B-B14F-4D97-AF65-F5344CB8AC3E}">
        <p14:creationId xmlns:p14="http://schemas.microsoft.com/office/powerpoint/2010/main" xmlns="" val="37039779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Primary Market Risk Exposures</a:t>
            </a:r>
            <a:endParaRPr lang="en-CA" dirty="0"/>
          </a:p>
        </p:txBody>
      </p:sp>
      <p:sp>
        <p:nvSpPr>
          <p:cNvPr id="3" name="Content Placeholder 2"/>
          <p:cNvSpPr>
            <a:spLocks noGrp="1"/>
          </p:cNvSpPr>
          <p:nvPr>
            <p:ph idx="1"/>
          </p:nvPr>
        </p:nvSpPr>
        <p:spPr/>
        <p:txBody>
          <a:bodyPr/>
          <a:lstStyle/>
          <a:p>
            <a:r>
              <a:rPr lang="en-CA" dirty="0" smtClean="0"/>
              <a:t>Exposure to interest rates, equity prices, foreign exchange rates and commodity prices—and the associated implied volatilities and spreads—related to the global markets in which it conducts its trading activities</a:t>
            </a:r>
          </a:p>
        </p:txBody>
      </p:sp>
    </p:spTree>
    <p:extLst>
      <p:ext uri="{BB962C8B-B14F-4D97-AF65-F5344CB8AC3E}">
        <p14:creationId xmlns:p14="http://schemas.microsoft.com/office/powerpoint/2010/main" xmlns="" val="9548392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Value at Risk (VaR)</a:t>
            </a:r>
            <a:endParaRPr lang="en-CA" dirty="0"/>
          </a:p>
        </p:txBody>
      </p:sp>
      <p:sp>
        <p:nvSpPr>
          <p:cNvPr id="3" name="Content Placeholder 2"/>
          <p:cNvSpPr>
            <a:spLocks noGrp="1"/>
          </p:cNvSpPr>
          <p:nvPr>
            <p:ph idx="1"/>
          </p:nvPr>
        </p:nvSpPr>
        <p:spPr/>
        <p:txBody>
          <a:bodyPr>
            <a:normAutofit fontScale="92500" lnSpcReduction="20000"/>
          </a:bodyPr>
          <a:lstStyle/>
          <a:p>
            <a:r>
              <a:rPr lang="en-CA" dirty="0" smtClean="0"/>
              <a:t>Used to measure, monitor and review market risk exposures of its trading portfolios</a:t>
            </a:r>
          </a:p>
          <a:p>
            <a:r>
              <a:rPr lang="en-CA" dirty="0" smtClean="0"/>
              <a:t>VaR estimated by using a model based on historical simulation for major market risk factors and Monte Carlo simulation for name-specific risk in corporate shares, bonds, loans and related derivatives</a:t>
            </a:r>
          </a:p>
          <a:p>
            <a:r>
              <a:rPr lang="en-CA" dirty="0" smtClean="0"/>
              <a:t>Historical simulation involves constructing a distribution of hypothetical daily changes in the value of trading portfolios based on two sets of inputs</a:t>
            </a:r>
          </a:p>
          <a:p>
            <a:pPr lvl="1"/>
            <a:r>
              <a:rPr lang="en-CA" dirty="0" smtClean="0"/>
              <a:t>Historical observation of daily changes in key market indices or other market risk factors</a:t>
            </a:r>
          </a:p>
          <a:p>
            <a:pPr lvl="1"/>
            <a:r>
              <a:rPr lang="en-CA" dirty="0" smtClean="0"/>
              <a:t>Information on the sensitivity of the portfolio values to these market risk factor changes</a:t>
            </a:r>
          </a:p>
          <a:p>
            <a:r>
              <a:rPr lang="en-CA" dirty="0" smtClean="0"/>
              <a:t>The company’s VaR model uses four years of historical data to measure it’s 95%/one-day VaR</a:t>
            </a:r>
            <a:r>
              <a:rPr lang="en-CA" dirty="0"/>
              <a:t> </a:t>
            </a:r>
            <a:r>
              <a:rPr lang="en-CA" dirty="0" smtClean="0"/>
              <a:t>which corresponds to the unrealized loss in portfolio value that would have been exceeded with a frequency of 5% or 5 times in every 100 trading days if the portfolio were held constant for one day</a:t>
            </a:r>
            <a:endParaRPr lang="en-CA" dirty="0"/>
          </a:p>
        </p:txBody>
      </p:sp>
    </p:spTree>
    <p:extLst>
      <p:ext uri="{BB962C8B-B14F-4D97-AF65-F5344CB8AC3E}">
        <p14:creationId xmlns:p14="http://schemas.microsoft.com/office/powerpoint/2010/main" xmlns="" val="348033203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smtClean="0"/>
              <a:t>VaR Benefits and Limitations</a:t>
            </a:r>
            <a:endParaRPr lang="en-CA" dirty="0"/>
          </a:p>
        </p:txBody>
      </p:sp>
      <p:sp>
        <p:nvSpPr>
          <p:cNvPr id="3" name="Content Placeholder 2"/>
          <p:cNvSpPr>
            <a:spLocks noGrp="1"/>
          </p:cNvSpPr>
          <p:nvPr>
            <p:ph idx="1"/>
          </p:nvPr>
        </p:nvSpPr>
        <p:spPr/>
        <p:txBody>
          <a:bodyPr>
            <a:normAutofit fontScale="92500" lnSpcReduction="10000"/>
          </a:bodyPr>
          <a:lstStyle/>
          <a:p>
            <a:pPr marL="0" indent="0">
              <a:buNone/>
            </a:pPr>
            <a:r>
              <a:rPr lang="en-CA" dirty="0" smtClean="0"/>
              <a:t>Benefits</a:t>
            </a:r>
          </a:p>
          <a:p>
            <a:r>
              <a:rPr lang="en-CA" dirty="0" smtClean="0"/>
              <a:t>Permits estimation of portfolio’s aggregate market risk exposure</a:t>
            </a:r>
          </a:p>
          <a:p>
            <a:r>
              <a:rPr lang="en-CA" dirty="0" smtClean="0"/>
              <a:t>Reflects </a:t>
            </a:r>
            <a:r>
              <a:rPr lang="en-CA" dirty="0"/>
              <a:t>risk reduction due to portfolio diversification or hedging </a:t>
            </a:r>
            <a:r>
              <a:rPr lang="en-CA" dirty="0" smtClean="0"/>
              <a:t>activities</a:t>
            </a:r>
          </a:p>
          <a:p>
            <a:pPr marL="0" indent="0">
              <a:buNone/>
            </a:pPr>
            <a:r>
              <a:rPr lang="en-CA" dirty="0" smtClean="0"/>
              <a:t>Limitations</a:t>
            </a:r>
          </a:p>
          <a:p>
            <a:r>
              <a:rPr lang="en-CA" dirty="0" smtClean="0"/>
              <a:t>Past changes in market risk factors may not yield accurate predictions</a:t>
            </a:r>
          </a:p>
          <a:p>
            <a:r>
              <a:rPr lang="en-CA" dirty="0" smtClean="0"/>
              <a:t>Changes in portfolio value may differ from responses calculated by a VaR model</a:t>
            </a:r>
          </a:p>
          <a:p>
            <a:r>
              <a:rPr lang="en-CA" dirty="0" smtClean="0"/>
              <a:t>Doesn’t fully capture market risk of positions that cannot be liquidated or hedged within one day using a one day time frame</a:t>
            </a:r>
          </a:p>
          <a:p>
            <a:r>
              <a:rPr lang="en-CA" dirty="0" smtClean="0"/>
              <a:t>Limited insight into losses that could occur in unusual market conditions</a:t>
            </a:r>
          </a:p>
          <a:p>
            <a:r>
              <a:rPr lang="en-CA" dirty="0" smtClean="0"/>
              <a:t>Understates risk associated with severe events</a:t>
            </a:r>
          </a:p>
        </p:txBody>
      </p:sp>
    </p:spTree>
    <p:extLst>
      <p:ext uri="{BB962C8B-B14F-4D97-AF65-F5344CB8AC3E}">
        <p14:creationId xmlns:p14="http://schemas.microsoft.com/office/powerpoint/2010/main" xmlns="" val="123967666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2010 95%/one-day VaR</a:t>
            </a:r>
            <a:endParaRPr lang="en-CA" dirty="0"/>
          </a:p>
        </p:txBody>
      </p:sp>
      <p:pic>
        <p:nvPicPr>
          <p:cNvPr id="7170" name="Picture 2" descr="D:\My Dropbox\sfu\BUS 419\Presentation\7 - 95_One-Day VaR.pn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0" y="1844824"/>
            <a:ext cx="9144000" cy="3948996"/>
          </a:xfrm>
          <a:prstGeom prst="rect">
            <a:avLst/>
          </a:prstGeom>
          <a:noFill/>
          <a:extLst>
            <a:ext uri="{909E8E84-426E-40DD-AFC4-6F175D3DCCD1}">
              <a14:hiddenFill xmlns:a14="http://schemas.microsoft.com/office/drawing/2010/main" xmlns="">
                <a:solidFill>
                  <a:srgbClr val="FFFFFF"/>
                </a:solidFill>
              </a14:hiddenFill>
            </a:ext>
          </a:extLst>
        </p:spPr>
      </p:pic>
      <p:sp>
        <p:nvSpPr>
          <p:cNvPr id="4" name="Rectangle 3"/>
          <p:cNvSpPr/>
          <p:nvPr/>
        </p:nvSpPr>
        <p:spPr>
          <a:xfrm>
            <a:off x="4211960" y="2204864"/>
            <a:ext cx="720080" cy="288032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Rectangle 4"/>
          <p:cNvSpPr/>
          <p:nvPr/>
        </p:nvSpPr>
        <p:spPr>
          <a:xfrm>
            <a:off x="6876256" y="2204864"/>
            <a:ext cx="720080" cy="288032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xmlns="" val="180162846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smtClean="0"/>
              <a:t>95% and 99% Average Trading VaR with Four-Year / One-Year Historical Time Series</a:t>
            </a:r>
            <a:endParaRPr lang="en-CA" dirty="0"/>
          </a:p>
        </p:txBody>
      </p:sp>
      <p:pic>
        <p:nvPicPr>
          <p:cNvPr id="8194" name="Picture 2" descr="D:\My Dropbox\sfu\BUS 419\Presentation\8 - 95 and 99_ VaR Four and One Year Time Series.pn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0" y="2372248"/>
            <a:ext cx="9144000" cy="3468848"/>
          </a:xfrm>
          <a:prstGeom prst="rect">
            <a:avLst/>
          </a:prstGeom>
          <a:noFill/>
          <a:extLst>
            <a:ext uri="{909E8E84-426E-40DD-AFC4-6F175D3DCCD1}">
              <a14:hiddenFill xmlns:a14="http://schemas.microsoft.com/office/drawing/2010/main" xmlns="">
                <a:solidFill>
                  <a:srgbClr val="FFFFFF"/>
                </a:solidFill>
              </a14:hiddenFill>
            </a:ext>
          </a:extLst>
        </p:spPr>
      </p:pic>
      <p:sp>
        <p:nvSpPr>
          <p:cNvPr id="4" name="Rectangle 3"/>
          <p:cNvSpPr/>
          <p:nvPr/>
        </p:nvSpPr>
        <p:spPr>
          <a:xfrm>
            <a:off x="4499992" y="4653136"/>
            <a:ext cx="4536504" cy="36004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xmlns="" val="3395420766"/>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D:\My Dropbox\sfu\BUS 419\Presentation\9 - 2010 95_One-Day Trading VaR.pn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0" y="188640"/>
            <a:ext cx="9144000" cy="6409064"/>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0302679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D:\My Dropbox\sfu\BUS 419\Presentation\10 - 2010 Daily Net Trading Revenues.pn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79512" y="0"/>
            <a:ext cx="8803576" cy="6858000"/>
          </a:xfrm>
          <a:prstGeom prst="rect">
            <a:avLst/>
          </a:prstGeom>
          <a:noFill/>
          <a:extLst>
            <a:ext uri="{909E8E84-426E-40DD-AFC4-6F175D3DCCD1}">
              <a14:hiddenFill xmlns:a14="http://schemas.microsoft.com/office/drawing/2010/main" xmlns="">
                <a:solidFill>
                  <a:srgbClr val="FFFFFF"/>
                </a:solidFill>
              </a14:hiddenFill>
            </a:ext>
          </a:extLst>
        </p:spPr>
      </p:pic>
      <p:sp>
        <p:nvSpPr>
          <p:cNvPr id="3" name="Rectangle 2"/>
          <p:cNvSpPr/>
          <p:nvPr/>
        </p:nvSpPr>
        <p:spPr>
          <a:xfrm>
            <a:off x="611560" y="5589240"/>
            <a:ext cx="2520280" cy="100811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xmlns="" val="279769952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Non-Trading Risks</a:t>
            </a:r>
            <a:endParaRPr lang="en-CA" dirty="0"/>
          </a:p>
        </p:txBody>
      </p:sp>
      <p:sp>
        <p:nvSpPr>
          <p:cNvPr id="3" name="Content Placeholder 2"/>
          <p:cNvSpPr>
            <a:spLocks noGrp="1"/>
          </p:cNvSpPr>
          <p:nvPr>
            <p:ph idx="1"/>
          </p:nvPr>
        </p:nvSpPr>
        <p:spPr/>
        <p:txBody>
          <a:bodyPr>
            <a:normAutofit/>
          </a:bodyPr>
          <a:lstStyle/>
          <a:p>
            <a:r>
              <a:rPr lang="en-CA" dirty="0" smtClean="0"/>
              <a:t>Sensitivity analysis is a better approach for non-trading portfolios due to a variety of factors such as trading restrictions, illiquidity, and other factors</a:t>
            </a:r>
          </a:p>
          <a:p>
            <a:pPr marL="0" indent="0">
              <a:buNone/>
            </a:pPr>
            <a:r>
              <a:rPr lang="en-CA" b="1" dirty="0" smtClean="0"/>
              <a:t>Counterparty Exposure Related to The Company’s Own Spread</a:t>
            </a:r>
          </a:p>
          <a:p>
            <a:r>
              <a:rPr lang="en-CA" dirty="0"/>
              <a:t>The </a:t>
            </a:r>
            <a:r>
              <a:rPr lang="en-CA" b="1" dirty="0"/>
              <a:t>credit spread risk sensitivity</a:t>
            </a:r>
            <a:r>
              <a:rPr lang="en-CA" dirty="0"/>
              <a:t> </a:t>
            </a:r>
            <a:r>
              <a:rPr lang="en-CA" dirty="0" smtClean="0"/>
              <a:t>of </a:t>
            </a:r>
            <a:r>
              <a:rPr lang="en-CA" b="1" dirty="0" smtClean="0"/>
              <a:t>mark-to-market derivative counterparty exposure </a:t>
            </a:r>
            <a:r>
              <a:rPr lang="en-CA" dirty="0"/>
              <a:t>corresponds to an increase </a:t>
            </a:r>
            <a:r>
              <a:rPr lang="en-CA" dirty="0" smtClean="0"/>
              <a:t>in value </a:t>
            </a:r>
            <a:r>
              <a:rPr lang="en-CA" dirty="0"/>
              <a:t>of approximately $8 million for each +1 basis point widening in the Company’s credit spread level </a:t>
            </a:r>
            <a:r>
              <a:rPr lang="en-CA" dirty="0" smtClean="0"/>
              <a:t>for December </a:t>
            </a:r>
            <a:r>
              <a:rPr lang="en-CA" dirty="0"/>
              <a:t>31, 2010</a:t>
            </a:r>
            <a:endParaRPr lang="en-CA" dirty="0" smtClean="0"/>
          </a:p>
        </p:txBody>
      </p:sp>
    </p:spTree>
    <p:extLst>
      <p:ext uri="{BB962C8B-B14F-4D97-AF65-F5344CB8AC3E}">
        <p14:creationId xmlns:p14="http://schemas.microsoft.com/office/powerpoint/2010/main" xmlns="" val="119794255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Funding Liabilities</a:t>
            </a:r>
            <a:endParaRPr lang="en-CA" dirty="0"/>
          </a:p>
        </p:txBody>
      </p:sp>
      <p:sp>
        <p:nvSpPr>
          <p:cNvPr id="3" name="Content Placeholder 2"/>
          <p:cNvSpPr>
            <a:spLocks noGrp="1"/>
          </p:cNvSpPr>
          <p:nvPr>
            <p:ph idx="1"/>
          </p:nvPr>
        </p:nvSpPr>
        <p:spPr/>
        <p:txBody>
          <a:bodyPr/>
          <a:lstStyle/>
          <a:p>
            <a:r>
              <a:rPr lang="en-CA" dirty="0" smtClean="0"/>
              <a:t>The </a:t>
            </a:r>
            <a:r>
              <a:rPr lang="en-CA" b="1" dirty="0"/>
              <a:t>credit spread risk sensitivity </a:t>
            </a:r>
            <a:r>
              <a:rPr lang="en-CA" dirty="0"/>
              <a:t>of the Company’s </a:t>
            </a:r>
            <a:r>
              <a:rPr lang="en-CA" b="1" dirty="0" smtClean="0"/>
              <a:t>mark-to-market funding </a:t>
            </a:r>
            <a:r>
              <a:rPr lang="en-CA" b="1" dirty="0"/>
              <a:t>liabilities</a:t>
            </a:r>
            <a:r>
              <a:rPr lang="en-CA" dirty="0"/>
              <a:t>, which corresponded to an increase in value of approximately $14 </a:t>
            </a:r>
            <a:r>
              <a:rPr lang="en-CA" dirty="0" smtClean="0"/>
              <a:t>million for each </a:t>
            </a:r>
            <a:r>
              <a:rPr lang="en-CA" dirty="0"/>
              <a:t>+1 basis point widening in the </a:t>
            </a:r>
            <a:r>
              <a:rPr lang="en-CA" dirty="0" smtClean="0"/>
              <a:t>Company’s </a:t>
            </a:r>
            <a:r>
              <a:rPr lang="en-CA" dirty="0"/>
              <a:t>credit spread level at December 31, </a:t>
            </a:r>
            <a:r>
              <a:rPr lang="en-CA" dirty="0" smtClean="0"/>
              <a:t>2010</a:t>
            </a:r>
          </a:p>
          <a:p>
            <a:endParaRPr lang="en-CA" dirty="0"/>
          </a:p>
        </p:txBody>
      </p:sp>
    </p:spTree>
    <p:extLst>
      <p:ext uri="{BB962C8B-B14F-4D97-AF65-F5344CB8AC3E}">
        <p14:creationId xmlns:p14="http://schemas.microsoft.com/office/powerpoint/2010/main" xmlns="" val="394432871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Interest Rate Risk Sensitivity</a:t>
            </a:r>
            <a:endParaRPr lang="en-CA" dirty="0"/>
          </a:p>
        </p:txBody>
      </p:sp>
      <p:pic>
        <p:nvPicPr>
          <p:cNvPr id="3074" name="Picture 2" descr="D:\My Dropbox\sfu\BUS 419\Presentation\13 - Interest Rate Sensitivity.pn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0" y="2204864"/>
            <a:ext cx="9144000" cy="3343166"/>
          </a:xfrm>
          <a:prstGeom prst="rect">
            <a:avLst/>
          </a:prstGeom>
          <a:noFill/>
          <a:extLst>
            <a:ext uri="{909E8E84-426E-40DD-AFC4-6F175D3DCCD1}">
              <a14:hiddenFill xmlns:a14="http://schemas.microsoft.com/office/drawing/2010/main" xmlns="">
                <a:solidFill>
                  <a:srgbClr val="FFFFFF"/>
                </a:solidFill>
              </a14:hiddenFill>
            </a:ext>
          </a:extLst>
        </p:spPr>
      </p:pic>
      <p:sp>
        <p:nvSpPr>
          <p:cNvPr id="4" name="Rectangle 3"/>
          <p:cNvSpPr/>
          <p:nvPr/>
        </p:nvSpPr>
        <p:spPr>
          <a:xfrm>
            <a:off x="6444208" y="3501008"/>
            <a:ext cx="2699792" cy="172819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xmlns="" val="286475489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Investments</a:t>
            </a:r>
            <a:endParaRPr lang="en-CA" dirty="0"/>
          </a:p>
        </p:txBody>
      </p:sp>
      <p:pic>
        <p:nvPicPr>
          <p:cNvPr id="4098" name="Picture 2" descr="D:\My Dropbox\sfu\BUS 419\Presentation\14 - Investments.pn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0" y="2348879"/>
            <a:ext cx="9144000" cy="3700869"/>
          </a:xfrm>
          <a:prstGeom prst="rect">
            <a:avLst/>
          </a:prstGeom>
          <a:noFill/>
          <a:extLst>
            <a:ext uri="{909E8E84-426E-40DD-AFC4-6F175D3DCCD1}">
              <a14:hiddenFill xmlns:a14="http://schemas.microsoft.com/office/drawing/2010/main" xmlns="">
                <a:solidFill>
                  <a:srgbClr val="FFFFFF"/>
                </a:solidFill>
              </a14:hiddenFill>
            </a:ext>
          </a:extLst>
        </p:spPr>
      </p:pic>
      <p:sp>
        <p:nvSpPr>
          <p:cNvPr id="4" name="Rectangle 3"/>
          <p:cNvSpPr/>
          <p:nvPr/>
        </p:nvSpPr>
        <p:spPr>
          <a:xfrm>
            <a:off x="0" y="2852936"/>
            <a:ext cx="9144000" cy="7200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xmlns="" val="47424369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smtClean="0"/>
              <a:t>Derivative Instruments and Hedging Activities</a:t>
            </a:r>
            <a:endParaRPr lang="en-CA" dirty="0"/>
          </a:p>
        </p:txBody>
      </p:sp>
      <p:sp>
        <p:nvSpPr>
          <p:cNvPr id="3" name="Content Placeholder 2"/>
          <p:cNvSpPr>
            <a:spLocks noGrp="1"/>
          </p:cNvSpPr>
          <p:nvPr>
            <p:ph idx="1"/>
          </p:nvPr>
        </p:nvSpPr>
        <p:spPr/>
        <p:txBody>
          <a:bodyPr/>
          <a:lstStyle/>
          <a:p>
            <a:r>
              <a:rPr lang="en-CA" dirty="0" smtClean="0"/>
              <a:t>Derivative Instruments are used for trading, foreign currency exposure management and asset and liability management</a:t>
            </a:r>
          </a:p>
          <a:p>
            <a:r>
              <a:rPr lang="en-CA" dirty="0" smtClean="0"/>
              <a:t>Risk mitigation strategies include diversification of risk exposure and hedging</a:t>
            </a:r>
          </a:p>
          <a:p>
            <a:r>
              <a:rPr lang="en-CA" dirty="0" smtClean="0"/>
              <a:t>Risk is managed on a company-wide basis, worldwide trading division level and on an individual product basis</a:t>
            </a:r>
            <a:endParaRPr lang="en-CA" dirty="0"/>
          </a:p>
        </p:txBody>
      </p:sp>
    </p:spTree>
    <p:extLst>
      <p:ext uri="{BB962C8B-B14F-4D97-AF65-F5344CB8AC3E}">
        <p14:creationId xmlns:p14="http://schemas.microsoft.com/office/powerpoint/2010/main" xmlns="" val="43845711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smtClean="0"/>
              <a:t>Derivative Products</a:t>
            </a:r>
            <a:endParaRPr lang="en-CA" dirty="0"/>
          </a:p>
        </p:txBody>
      </p:sp>
      <p:pic>
        <p:nvPicPr>
          <p:cNvPr id="6146" name="Picture 2" descr="D:\My Dropbox\sfu\BUS 419\Presentation\6 - Derivative Products.pn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592" y="2492896"/>
            <a:ext cx="9134849" cy="1898197"/>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91246318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OTC Derivative Products</a:t>
            </a:r>
            <a:endParaRPr lang="en-CA" dirty="0"/>
          </a:p>
        </p:txBody>
      </p:sp>
      <p:pic>
        <p:nvPicPr>
          <p:cNvPr id="5122" name="Picture 2" descr="D:\My Dropbox\sfu\BUS 419\Presentation\15 - OTC products Financial Instruments Owned.pn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0" y="2204864"/>
            <a:ext cx="9144000" cy="3160597"/>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87490352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Hedge Accounting</a:t>
            </a:r>
            <a:endParaRPr lang="en-CA" dirty="0"/>
          </a:p>
        </p:txBody>
      </p:sp>
      <p:sp>
        <p:nvSpPr>
          <p:cNvPr id="3" name="Content Placeholder 2"/>
          <p:cNvSpPr>
            <a:spLocks noGrp="1"/>
          </p:cNvSpPr>
          <p:nvPr>
            <p:ph idx="1"/>
          </p:nvPr>
        </p:nvSpPr>
        <p:spPr>
          <a:xfrm>
            <a:off x="457200" y="1600200"/>
            <a:ext cx="8229600" cy="4853136"/>
          </a:xfrm>
        </p:spPr>
        <p:txBody>
          <a:bodyPr>
            <a:normAutofit/>
          </a:bodyPr>
          <a:lstStyle/>
          <a:p>
            <a:r>
              <a:rPr lang="en-CA" dirty="0"/>
              <a:t>The Company applies hedge accounting using various derivative financial instruments and non-U.S. </a:t>
            </a:r>
            <a:r>
              <a:rPr lang="en-CA" dirty="0" smtClean="0"/>
              <a:t>dollar-denominated debt </a:t>
            </a:r>
            <a:r>
              <a:rPr lang="en-CA" dirty="0"/>
              <a:t>to hedge interest rate and foreign exchange risk arising from assets and liabilities not held </a:t>
            </a:r>
            <a:r>
              <a:rPr lang="en-CA" dirty="0" smtClean="0"/>
              <a:t>at fair </a:t>
            </a:r>
            <a:r>
              <a:rPr lang="en-CA" dirty="0"/>
              <a:t>value as part of asset and liability management and foreign currency exposure management.</a:t>
            </a:r>
          </a:p>
          <a:p>
            <a:r>
              <a:rPr lang="en-CA" dirty="0"/>
              <a:t>The Company’s hedges are designated and qualify for accounting purposes as one of the following types </a:t>
            </a:r>
            <a:r>
              <a:rPr lang="en-CA" dirty="0" smtClean="0"/>
              <a:t>of hedges</a:t>
            </a:r>
            <a:r>
              <a:rPr lang="en-CA" dirty="0"/>
              <a:t>: </a:t>
            </a:r>
            <a:r>
              <a:rPr lang="en-CA" dirty="0" smtClean="0"/>
              <a:t>exposure </a:t>
            </a:r>
            <a:r>
              <a:rPr lang="en-CA" dirty="0"/>
              <a:t>to changes in fair value of assets and liabilities being hedged (</a:t>
            </a:r>
            <a:r>
              <a:rPr lang="en-CA" b="1" dirty="0"/>
              <a:t>fair value hedges</a:t>
            </a:r>
            <a:r>
              <a:rPr lang="en-CA" dirty="0"/>
              <a:t>) </a:t>
            </a:r>
            <a:r>
              <a:rPr lang="en-CA" dirty="0" smtClean="0"/>
              <a:t>and foreign </a:t>
            </a:r>
            <a:r>
              <a:rPr lang="en-CA" dirty="0"/>
              <a:t>operations whose functional currency is different from the </a:t>
            </a:r>
            <a:r>
              <a:rPr lang="en-CA" dirty="0" smtClean="0"/>
              <a:t>reporting currency </a:t>
            </a:r>
            <a:r>
              <a:rPr lang="en-CA" dirty="0"/>
              <a:t>of the parent company (</a:t>
            </a:r>
            <a:r>
              <a:rPr lang="en-CA" b="1" dirty="0"/>
              <a:t>net investment hedges</a:t>
            </a:r>
            <a:r>
              <a:rPr lang="en-CA" dirty="0"/>
              <a:t>).</a:t>
            </a:r>
          </a:p>
          <a:p>
            <a:r>
              <a:rPr lang="en-CA" dirty="0"/>
              <a:t>For all hedges where hedge accounting is being applied, effectiveness </a:t>
            </a:r>
            <a:r>
              <a:rPr lang="en-CA" dirty="0" smtClean="0"/>
              <a:t>testing is </a:t>
            </a:r>
            <a:r>
              <a:rPr lang="en-CA" dirty="0"/>
              <a:t>performed at least monthly.</a:t>
            </a:r>
          </a:p>
        </p:txBody>
      </p:sp>
    </p:spTree>
    <p:extLst>
      <p:ext uri="{BB962C8B-B14F-4D97-AF65-F5344CB8AC3E}">
        <p14:creationId xmlns:p14="http://schemas.microsoft.com/office/powerpoint/2010/main" xmlns="" val="28798608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Hedge Accounting</a:t>
            </a:r>
            <a:endParaRPr lang="en-CA" dirty="0"/>
          </a:p>
        </p:txBody>
      </p:sp>
      <p:sp>
        <p:nvSpPr>
          <p:cNvPr id="3" name="Content Placeholder 2"/>
          <p:cNvSpPr>
            <a:spLocks noGrp="1"/>
          </p:cNvSpPr>
          <p:nvPr>
            <p:ph idx="1"/>
          </p:nvPr>
        </p:nvSpPr>
        <p:spPr/>
        <p:txBody>
          <a:bodyPr>
            <a:normAutofit/>
          </a:bodyPr>
          <a:lstStyle/>
          <a:p>
            <a:pPr marL="0" indent="0">
              <a:buNone/>
            </a:pPr>
            <a:r>
              <a:rPr lang="en-CA" b="1" dirty="0" smtClean="0"/>
              <a:t>Fair Value Hedges – Interest Rate Risk</a:t>
            </a:r>
          </a:p>
          <a:p>
            <a:r>
              <a:rPr lang="en-CA" dirty="0" smtClean="0"/>
              <a:t>Consist </a:t>
            </a:r>
            <a:r>
              <a:rPr lang="en-CA" dirty="0"/>
              <a:t>primarily </a:t>
            </a:r>
            <a:r>
              <a:rPr lang="en-CA" dirty="0" smtClean="0"/>
              <a:t>of interest </a:t>
            </a:r>
            <a:r>
              <a:rPr lang="en-CA" dirty="0"/>
              <a:t>rate swaps designated as fair value hedges of changes in the benchmark interest rate of fixed rate </a:t>
            </a:r>
            <a:r>
              <a:rPr lang="en-CA" dirty="0" smtClean="0"/>
              <a:t>senior long-term borrowings</a:t>
            </a:r>
          </a:p>
          <a:p>
            <a:pPr marL="0" indent="0">
              <a:buNone/>
            </a:pPr>
            <a:r>
              <a:rPr lang="en-CA" b="1" dirty="0" smtClean="0"/>
              <a:t>Net Investment Hedges</a:t>
            </a:r>
          </a:p>
          <a:p>
            <a:r>
              <a:rPr lang="en-CA" dirty="0" smtClean="0"/>
              <a:t>Forward </a:t>
            </a:r>
            <a:r>
              <a:rPr lang="en-CA" dirty="0"/>
              <a:t>foreign exchange contracts and non-U.S. </a:t>
            </a:r>
            <a:r>
              <a:rPr lang="en-CA" dirty="0" smtClean="0"/>
              <a:t>dollar-denominated debt used to </a:t>
            </a:r>
            <a:r>
              <a:rPr lang="en-CA" dirty="0"/>
              <a:t>manage the currency exposure relating to its net investments in non-U.S. dollar </a:t>
            </a:r>
            <a:r>
              <a:rPr lang="en-CA" dirty="0" smtClean="0"/>
              <a:t>functional currency </a:t>
            </a:r>
            <a:r>
              <a:rPr lang="en-CA" dirty="0"/>
              <a:t>operations</a:t>
            </a:r>
          </a:p>
        </p:txBody>
      </p:sp>
    </p:spTree>
    <p:extLst>
      <p:ext uri="{BB962C8B-B14F-4D97-AF65-F5344CB8AC3E}">
        <p14:creationId xmlns:p14="http://schemas.microsoft.com/office/powerpoint/2010/main" xmlns="" val="39684984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Value of (Non)-Accounting Hedges</a:t>
            </a:r>
            <a:endParaRPr lang="en-CA" dirty="0"/>
          </a:p>
        </p:txBody>
      </p:sp>
      <p:pic>
        <p:nvPicPr>
          <p:cNvPr id="6146" name="Picture 2" descr="D:\My Dropbox\sfu\BUS 419\Presentation\16 - Value of (Non)-Hedge Accounting Derivatives.pn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 y="1686233"/>
            <a:ext cx="8460432" cy="5195384"/>
          </a:xfrm>
          <a:prstGeom prst="rect">
            <a:avLst/>
          </a:prstGeom>
          <a:noFill/>
          <a:extLst>
            <a:ext uri="{909E8E84-426E-40DD-AFC4-6F175D3DCCD1}">
              <a14:hiddenFill xmlns:a14="http://schemas.microsoft.com/office/drawing/2010/main" xmlns="">
                <a:solidFill>
                  <a:srgbClr val="FFFFFF"/>
                </a:solidFill>
              </a14:hiddenFill>
            </a:ext>
          </a:extLst>
        </p:spPr>
      </p:pic>
      <p:sp>
        <p:nvSpPr>
          <p:cNvPr id="4" name="Rectangle 3"/>
          <p:cNvSpPr/>
          <p:nvPr/>
        </p:nvSpPr>
        <p:spPr>
          <a:xfrm>
            <a:off x="1" y="3140968"/>
            <a:ext cx="8460433" cy="57606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Rectangle 4"/>
          <p:cNvSpPr/>
          <p:nvPr/>
        </p:nvSpPr>
        <p:spPr>
          <a:xfrm>
            <a:off x="1" y="5301208"/>
            <a:ext cx="8460432" cy="50405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xmlns="" val="320476651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smtClean="0"/>
              <a:t>Derivatives Designated as Fair Value Hedges</a:t>
            </a:r>
            <a:endParaRPr lang="en-CA" dirty="0"/>
          </a:p>
        </p:txBody>
      </p:sp>
      <p:pic>
        <p:nvPicPr>
          <p:cNvPr id="7170" name="Picture 2" descr="D:\My Dropbox\sfu\BUS 419\Presentation\17 - Hedge Effectiveness.pn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280" y="2060847"/>
            <a:ext cx="9149279" cy="2929795"/>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0227958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a:t>Derivatives Designated as Net Investment Hedges</a:t>
            </a:r>
          </a:p>
        </p:txBody>
      </p:sp>
      <p:pic>
        <p:nvPicPr>
          <p:cNvPr id="8194" name="Picture 2" descr="D:\My Dropbox\sfu\BUS 419\Presentation\18 - Net Investment Hedges.pn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8362" y="2204864"/>
            <a:ext cx="9135637" cy="3019359"/>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76445695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CA" dirty="0"/>
              <a:t>The table below summarizes gains (losses) on derivative instruments not designated as accounting hedges </a:t>
            </a:r>
            <a:r>
              <a:rPr lang="en-CA" dirty="0" smtClean="0"/>
              <a:t>for 2010</a:t>
            </a:r>
            <a:r>
              <a:rPr lang="en-CA" dirty="0"/>
              <a:t>, 2009 and the one month ended December 31, 2008, respectively</a:t>
            </a:r>
          </a:p>
        </p:txBody>
      </p:sp>
      <p:pic>
        <p:nvPicPr>
          <p:cNvPr id="4" name="Picture 2" descr="D:\My Dropbox\sfu\BUS 419\Presentation\19 - Not Designated as Hedge Accounting.pn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9571" y="3159343"/>
            <a:ext cx="9129482" cy="3698657"/>
          </a:xfrm>
          <a:prstGeom prst="rect">
            <a:avLst/>
          </a:prstGeom>
          <a:noFill/>
          <a:extLst>
            <a:ext uri="{909E8E84-426E-40DD-AFC4-6F175D3DCCD1}">
              <a14:hiddenFill xmlns:a14="http://schemas.microsoft.com/office/drawing/2010/main" xmlns="">
                <a:solidFill>
                  <a:srgbClr val="FFFFFF"/>
                </a:solidFill>
              </a14:hiddenFill>
            </a:ext>
          </a:extLst>
        </p:spPr>
      </p:pic>
      <p:sp>
        <p:nvSpPr>
          <p:cNvPr id="6" name="Title 1"/>
          <p:cNvSpPr txBox="1">
            <a:spLocks/>
          </p:cNvSpPr>
          <p:nvPr/>
        </p:nvSpPr>
        <p:spPr>
          <a:xfrm>
            <a:off x="323528" y="260648"/>
            <a:ext cx="7620000" cy="1143000"/>
          </a:xfrm>
          <a:prstGeom prst="rect">
            <a:avLst/>
          </a:prstGeom>
        </p:spPr>
        <p:txBody>
          <a:bodyPr vert="horz" lIns="91440" tIns="45720" rIns="91440" bIns="45720" rtlCol="0" anchor="ctr">
            <a:normAutofit fontScale="90000" lnSpcReduction="20000"/>
          </a:bodyPr>
          <a:lst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a:lstStyle>
          <a:p>
            <a:r>
              <a:rPr lang="en-CA" dirty="0" smtClean="0"/>
              <a:t>Derivative Instruments NOT Designated as Accounting Hedges</a:t>
            </a:r>
            <a:endParaRPr lang="en-CA" dirty="0"/>
          </a:p>
        </p:txBody>
      </p:sp>
    </p:spTree>
    <p:extLst>
      <p:ext uri="{BB962C8B-B14F-4D97-AF65-F5344CB8AC3E}">
        <p14:creationId xmlns:p14="http://schemas.microsoft.com/office/powerpoint/2010/main" xmlns="" val="403448181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a:t>Credit Derivatives and Other Credit Contracts</a:t>
            </a:r>
          </a:p>
        </p:txBody>
      </p:sp>
      <p:pic>
        <p:nvPicPr>
          <p:cNvPr id="10242" name="Picture 2" descr="D:\My Dropbox\sfu\BUS 419\Presentation\20 - Credit Derivatives.pn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594" y="0"/>
            <a:ext cx="9137405" cy="68580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61777235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Credit Risk</a:t>
            </a:r>
            <a:endParaRPr lang="en-US" dirty="0"/>
          </a:p>
        </p:txBody>
      </p:sp>
      <p:sp>
        <p:nvSpPr>
          <p:cNvPr id="4" name="Content Placeholder 3"/>
          <p:cNvSpPr>
            <a:spLocks noGrp="1"/>
          </p:cNvSpPr>
          <p:nvPr>
            <p:ph idx="1"/>
          </p:nvPr>
        </p:nvSpPr>
        <p:spPr/>
        <p:txBody>
          <a:bodyPr>
            <a:normAutofit/>
          </a:bodyPr>
          <a:lstStyle/>
          <a:p>
            <a:r>
              <a:rPr lang="en-US" dirty="0" smtClean="0"/>
              <a:t>Refers to the risk of loss arising from borrower or counterparty default when a borrower, counterparty or obligor does not meet it’s obligation</a:t>
            </a:r>
          </a:p>
        </p:txBody>
      </p:sp>
    </p:spTree>
    <p:extLst>
      <p:ext uri="{BB962C8B-B14F-4D97-AF65-F5344CB8AC3E}">
        <p14:creationId xmlns:p14="http://schemas.microsoft.com/office/powerpoint/2010/main" xmlns="" val="396140345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Credit Risk</a:t>
            </a:r>
            <a:endParaRPr lang="en-US" dirty="0"/>
          </a:p>
        </p:txBody>
      </p:sp>
      <p:sp>
        <p:nvSpPr>
          <p:cNvPr id="3" name="Content Placeholder 2"/>
          <p:cNvSpPr>
            <a:spLocks noGrp="1"/>
          </p:cNvSpPr>
          <p:nvPr>
            <p:ph idx="1"/>
          </p:nvPr>
        </p:nvSpPr>
        <p:spPr/>
        <p:txBody>
          <a:bodyPr>
            <a:normAutofit/>
          </a:bodyPr>
          <a:lstStyle/>
          <a:p>
            <a:r>
              <a:rPr lang="en-US" dirty="0" smtClean="0"/>
              <a:t>third parties indebted to us not perform obligation</a:t>
            </a:r>
          </a:p>
          <a:p>
            <a:r>
              <a:rPr lang="en-US" dirty="0"/>
              <a:t>i</a:t>
            </a:r>
            <a:r>
              <a:rPr lang="en-US" dirty="0" smtClean="0"/>
              <a:t>ncur through Institutional Securities business segment</a:t>
            </a:r>
          </a:p>
          <a:p>
            <a:r>
              <a:rPr lang="en-US" dirty="0"/>
              <a:t>i</a:t>
            </a:r>
            <a:r>
              <a:rPr lang="en-US" dirty="0" smtClean="0"/>
              <a:t>ncur in traded securities and loan pools</a:t>
            </a:r>
          </a:p>
          <a:p>
            <a:r>
              <a:rPr lang="en-US" dirty="0"/>
              <a:t>i</a:t>
            </a:r>
            <a:r>
              <a:rPr lang="en-US" dirty="0" smtClean="0"/>
              <a:t>ncur in Global Wealth Management Group business segment</a:t>
            </a:r>
          </a:p>
          <a:p>
            <a:r>
              <a:rPr lang="en-US" dirty="0" smtClean="0"/>
              <a:t>continued difficult economic conditions may further negative impart clients and firm’s current credit exposures</a:t>
            </a:r>
          </a:p>
          <a:p>
            <a:endParaRPr lang="en-US" dirty="0" smtClean="0"/>
          </a:p>
        </p:txBody>
      </p:sp>
    </p:spTree>
    <p:extLst>
      <p:ext uri="{BB962C8B-B14F-4D97-AF65-F5344CB8AC3E}">
        <p14:creationId xmlns:p14="http://schemas.microsoft.com/office/powerpoint/2010/main" xmlns="" val="41732960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Credit Risk</a:t>
            </a:r>
            <a:br>
              <a:rPr lang="en-US" dirty="0" smtClean="0"/>
            </a:br>
            <a:r>
              <a:rPr lang="en-US" sz="3100" dirty="0" smtClean="0"/>
              <a:t>Institutional Securities business segment</a:t>
            </a:r>
            <a:endParaRPr lang="en-US" sz="3100" dirty="0"/>
          </a:p>
        </p:txBody>
      </p:sp>
      <p:sp>
        <p:nvSpPr>
          <p:cNvPr id="3" name="Content Placeholder 2"/>
          <p:cNvSpPr>
            <a:spLocks noGrp="1"/>
          </p:cNvSpPr>
          <p:nvPr>
            <p:ph idx="1"/>
          </p:nvPr>
        </p:nvSpPr>
        <p:spPr/>
        <p:txBody>
          <a:bodyPr>
            <a:normAutofit/>
          </a:bodyPr>
          <a:lstStyle/>
          <a:p>
            <a:pPr lvl="1"/>
            <a:r>
              <a:rPr lang="en-US" dirty="0" smtClean="0"/>
              <a:t>entering into swap or other derivative contract which counterparties have obligations to make payment</a:t>
            </a:r>
          </a:p>
          <a:p>
            <a:pPr lvl="1"/>
            <a:r>
              <a:rPr lang="en-US" dirty="0"/>
              <a:t>e</a:t>
            </a:r>
            <a:r>
              <a:rPr lang="en-US" dirty="0" smtClean="0"/>
              <a:t>xtending credit to clients through various lending commitments</a:t>
            </a:r>
          </a:p>
          <a:p>
            <a:pPr lvl="1"/>
            <a:r>
              <a:rPr lang="en-US" dirty="0"/>
              <a:t>p</a:t>
            </a:r>
            <a:r>
              <a:rPr lang="en-US" dirty="0" smtClean="0"/>
              <a:t>roviding short or long-term funding secured by physical or financial collateral whose value may at times be insufficient to fully cover the loan repayment amount</a:t>
            </a:r>
          </a:p>
          <a:p>
            <a:pPr lvl="1"/>
            <a:r>
              <a:rPr lang="en-US" dirty="0" smtClean="0"/>
              <a:t>Posting margin or collateral to clearing houses, clearing agencies, exchanges, banks, securities firms and other financial counterparties</a:t>
            </a:r>
          </a:p>
        </p:txBody>
      </p:sp>
    </p:spTree>
    <p:extLst>
      <p:ext uri="{BB962C8B-B14F-4D97-AF65-F5344CB8AC3E}">
        <p14:creationId xmlns:p14="http://schemas.microsoft.com/office/powerpoint/2010/main" xmlns="" val="77745219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Credit Risk</a:t>
            </a:r>
            <a:br>
              <a:rPr lang="en-US" dirty="0" smtClean="0"/>
            </a:br>
            <a:r>
              <a:rPr lang="en-US" sz="3100" dirty="0" smtClean="0"/>
              <a:t>Institutional Securities Activities</a:t>
            </a:r>
            <a:endParaRPr lang="en-US" sz="3100" dirty="0"/>
          </a:p>
        </p:txBody>
      </p:sp>
      <p:sp>
        <p:nvSpPr>
          <p:cNvPr id="3" name="Content Placeholder 2"/>
          <p:cNvSpPr>
            <a:spLocks noGrp="1"/>
          </p:cNvSpPr>
          <p:nvPr>
            <p:ph idx="1"/>
          </p:nvPr>
        </p:nvSpPr>
        <p:spPr/>
        <p:txBody>
          <a:bodyPr>
            <a:normAutofit/>
          </a:bodyPr>
          <a:lstStyle/>
          <a:p>
            <a:r>
              <a:rPr lang="en-US" dirty="0" smtClean="0"/>
              <a:t>Corporate Lending</a:t>
            </a:r>
          </a:p>
          <a:p>
            <a:pPr lvl="1"/>
            <a:r>
              <a:rPr lang="en-US" dirty="0" smtClean="0"/>
              <a:t>Relationship-driven </a:t>
            </a:r>
          </a:p>
          <a:p>
            <a:pPr lvl="2"/>
            <a:r>
              <a:rPr lang="en-US" dirty="0" smtClean="0"/>
              <a:t>expand business relationships</a:t>
            </a:r>
          </a:p>
          <a:p>
            <a:pPr lvl="1"/>
            <a:r>
              <a:rPr lang="en-US" dirty="0" smtClean="0"/>
              <a:t>Event-driven</a:t>
            </a:r>
          </a:p>
          <a:p>
            <a:pPr lvl="2"/>
            <a:r>
              <a:rPr lang="en-US" dirty="0" smtClean="0"/>
              <a:t>activities associated event or transaction such as support client merger or recapitalization	</a:t>
            </a:r>
          </a:p>
          <a:p>
            <a:r>
              <a:rPr lang="en-US" dirty="0" smtClean="0"/>
              <a:t>Securitizations</a:t>
            </a:r>
          </a:p>
          <a:p>
            <a:pPr lvl="1"/>
            <a:r>
              <a:rPr lang="en-US" dirty="0" smtClean="0"/>
              <a:t> extend funding to clients through lending commitments secured by assets</a:t>
            </a:r>
          </a:p>
          <a:p>
            <a:pPr lvl="1"/>
            <a:r>
              <a:rPr lang="en-US" dirty="0" smtClean="0"/>
              <a:t>Provide for over-collateralization</a:t>
            </a:r>
          </a:p>
          <a:p>
            <a:pPr lvl="5"/>
            <a:endParaRPr lang="en-US" dirty="0" smtClean="0"/>
          </a:p>
        </p:txBody>
      </p:sp>
    </p:spTree>
    <p:extLst>
      <p:ext uri="{BB962C8B-B14F-4D97-AF65-F5344CB8AC3E}">
        <p14:creationId xmlns:p14="http://schemas.microsoft.com/office/powerpoint/2010/main" xmlns="" val="212560223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Credit Risk</a:t>
            </a:r>
            <a:br>
              <a:rPr lang="en-US" dirty="0" smtClean="0"/>
            </a:br>
            <a:r>
              <a:rPr lang="en-US" sz="3100" dirty="0" smtClean="0"/>
              <a:t>Institutional Securities Activities (cont)</a:t>
            </a:r>
            <a:endParaRPr lang="en-US" sz="3100" dirty="0"/>
          </a:p>
        </p:txBody>
      </p:sp>
      <p:sp>
        <p:nvSpPr>
          <p:cNvPr id="3" name="Content Placeholder 2"/>
          <p:cNvSpPr>
            <a:spLocks noGrp="1"/>
          </p:cNvSpPr>
          <p:nvPr>
            <p:ph idx="1"/>
          </p:nvPr>
        </p:nvSpPr>
        <p:spPr/>
        <p:txBody>
          <a:bodyPr/>
          <a:lstStyle/>
          <a:p>
            <a:r>
              <a:rPr lang="en-US" dirty="0" smtClean="0"/>
              <a:t>Derivative Contracts</a:t>
            </a:r>
          </a:p>
          <a:p>
            <a:pPr lvl="1"/>
            <a:r>
              <a:rPr lang="en-US" dirty="0" smtClean="0"/>
              <a:t>Represent future commitments to swap interest payment streams, exchange currencies on specific terms at specified future days</a:t>
            </a:r>
          </a:p>
          <a:p>
            <a:pPr lvl="1"/>
            <a:r>
              <a:rPr lang="en-US" dirty="0" smtClean="0"/>
              <a:t>Morgan Stanley as a dealer of OTC derivatives </a:t>
            </a:r>
          </a:p>
        </p:txBody>
      </p:sp>
    </p:spTree>
    <p:extLst>
      <p:ext uri="{BB962C8B-B14F-4D97-AF65-F5344CB8AC3E}">
        <p14:creationId xmlns:p14="http://schemas.microsoft.com/office/powerpoint/2010/main" xmlns="" val="65654959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Credit Exposure</a:t>
            </a:r>
            <a:br>
              <a:rPr lang="en-US" dirty="0" smtClean="0"/>
            </a:br>
            <a:r>
              <a:rPr lang="en-US" sz="3600" dirty="0" smtClean="0"/>
              <a:t>Corporate Lending</a:t>
            </a:r>
            <a:endParaRPr lang="en-US" sz="3600" dirty="0"/>
          </a:p>
        </p:txBody>
      </p:sp>
      <p:pic>
        <p:nvPicPr>
          <p:cNvPr id="6" name="Picture 2"/>
          <p:cNvPicPr>
            <a:picLocks noGrp="1" noChangeAspect="1" noChangeArrowheads="1"/>
          </p:cNvPicPr>
          <p:nvPr>
            <p:ph idx="1"/>
          </p:nvPr>
        </p:nvPicPr>
        <p:blipFill>
          <a:blip r:embed="rId2" cstate="print"/>
          <a:stretch>
            <a:fillRect/>
          </a:stretch>
        </p:blipFill>
        <p:spPr bwMode="auto">
          <a:xfrm>
            <a:off x="457200" y="2607381"/>
            <a:ext cx="7620000" cy="2786238"/>
          </a:xfrm>
          <a:prstGeom prst="rect">
            <a:avLst/>
          </a:prstGeom>
          <a:noFill/>
          <a:ln w="9525">
            <a:noFill/>
            <a:miter lim="800000"/>
            <a:headEnd/>
            <a:tailEnd/>
          </a:ln>
        </p:spPr>
      </p:pic>
    </p:spTree>
    <p:extLst>
      <p:ext uri="{BB962C8B-B14F-4D97-AF65-F5344CB8AC3E}">
        <p14:creationId xmlns:p14="http://schemas.microsoft.com/office/powerpoint/2010/main" xmlns="" val="214389871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Country Exposure</a:t>
            </a:r>
            <a:endParaRPr lang="en-US" dirty="0"/>
          </a:p>
        </p:txBody>
      </p:sp>
      <p:pic>
        <p:nvPicPr>
          <p:cNvPr id="3075" name="Picture 3"/>
          <p:cNvPicPr>
            <a:picLocks noGrp="1" noChangeAspect="1" noChangeArrowheads="1"/>
          </p:cNvPicPr>
          <p:nvPr>
            <p:ph idx="1"/>
          </p:nvPr>
        </p:nvPicPr>
        <p:blipFill>
          <a:blip r:embed="rId2" cstate="print"/>
          <a:srcRect/>
          <a:stretch>
            <a:fillRect/>
          </a:stretch>
        </p:blipFill>
        <p:spPr bwMode="auto">
          <a:xfrm>
            <a:off x="838200" y="1295400"/>
            <a:ext cx="7194924" cy="5241336"/>
          </a:xfrm>
          <a:prstGeom prst="rect">
            <a:avLst/>
          </a:prstGeom>
          <a:noFill/>
          <a:ln w="9525">
            <a:noFill/>
            <a:miter lim="800000"/>
            <a:headEnd/>
            <a:tailEnd/>
          </a:ln>
        </p:spPr>
      </p:pic>
    </p:spTree>
    <p:extLst>
      <p:ext uri="{BB962C8B-B14F-4D97-AF65-F5344CB8AC3E}">
        <p14:creationId xmlns:p14="http://schemas.microsoft.com/office/powerpoint/2010/main" xmlns="" val="50874305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Industry Exposure</a:t>
            </a:r>
            <a:endParaRPr lang="en-US" dirty="0"/>
          </a:p>
        </p:txBody>
      </p:sp>
      <p:pic>
        <p:nvPicPr>
          <p:cNvPr id="4098" name="Picture 2"/>
          <p:cNvPicPr>
            <a:picLocks noGrp="1" noChangeAspect="1" noChangeArrowheads="1"/>
          </p:cNvPicPr>
          <p:nvPr>
            <p:ph idx="1"/>
          </p:nvPr>
        </p:nvPicPr>
        <p:blipFill>
          <a:blip r:embed="rId2" cstate="print"/>
          <a:stretch>
            <a:fillRect/>
          </a:stretch>
        </p:blipFill>
        <p:spPr bwMode="auto">
          <a:xfrm>
            <a:off x="1446322" y="1600200"/>
            <a:ext cx="5641756" cy="4800600"/>
          </a:xfrm>
          <a:prstGeom prst="rect">
            <a:avLst/>
          </a:prstGeom>
          <a:noFill/>
          <a:ln w="9525">
            <a:noFill/>
            <a:miter lim="800000"/>
            <a:headEnd/>
            <a:tailEnd/>
          </a:ln>
        </p:spPr>
      </p:pic>
    </p:spTree>
    <p:extLst>
      <p:ext uri="{BB962C8B-B14F-4D97-AF65-F5344CB8AC3E}">
        <p14:creationId xmlns:p14="http://schemas.microsoft.com/office/powerpoint/2010/main" xmlns="" val="307378545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Credit Risk Management</a:t>
            </a:r>
            <a:endParaRPr lang="en-US" dirty="0"/>
          </a:p>
        </p:txBody>
      </p:sp>
      <p:sp>
        <p:nvSpPr>
          <p:cNvPr id="3" name="Content Placeholder 2"/>
          <p:cNvSpPr>
            <a:spLocks noGrp="1"/>
          </p:cNvSpPr>
          <p:nvPr>
            <p:ph idx="1"/>
          </p:nvPr>
        </p:nvSpPr>
        <p:spPr/>
        <p:txBody>
          <a:bodyPr/>
          <a:lstStyle/>
          <a:p>
            <a:r>
              <a:rPr lang="en-US" dirty="0" smtClean="0"/>
              <a:t>Credit Risk Management Department</a:t>
            </a:r>
          </a:p>
          <a:p>
            <a:r>
              <a:rPr lang="en-US" dirty="0" smtClean="0"/>
              <a:t>Credit Limits Framework</a:t>
            </a:r>
            <a:endParaRPr lang="en-US" dirty="0"/>
          </a:p>
        </p:txBody>
      </p:sp>
    </p:spTree>
    <p:extLst>
      <p:ext uri="{BB962C8B-B14F-4D97-AF65-F5344CB8AC3E}">
        <p14:creationId xmlns:p14="http://schemas.microsoft.com/office/powerpoint/2010/main" xmlns="" val="82602985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Analyzing Credit Risk</a:t>
            </a:r>
            <a:endParaRPr lang="en-US" dirty="0"/>
          </a:p>
        </p:txBody>
      </p:sp>
      <p:sp>
        <p:nvSpPr>
          <p:cNvPr id="3" name="Content Placeholder 2"/>
          <p:cNvSpPr>
            <a:spLocks noGrp="1"/>
          </p:cNvSpPr>
          <p:nvPr>
            <p:ph idx="1"/>
          </p:nvPr>
        </p:nvSpPr>
        <p:spPr/>
        <p:txBody>
          <a:bodyPr>
            <a:normAutofit/>
          </a:bodyPr>
          <a:lstStyle/>
          <a:p>
            <a:r>
              <a:rPr lang="en-US" dirty="0" smtClean="0"/>
              <a:t>Credit Risk Management Department</a:t>
            </a:r>
          </a:p>
          <a:p>
            <a:pPr lvl="1"/>
            <a:r>
              <a:rPr lang="en-US" dirty="0" smtClean="0"/>
              <a:t>Ensure lending transactions and derivative exposure are analyzed </a:t>
            </a:r>
          </a:p>
          <a:p>
            <a:pPr lvl="1"/>
            <a:r>
              <a:rPr lang="en-US" dirty="0" smtClean="0"/>
              <a:t>Review Creditworthiness of counterparties and borrowers regularly</a:t>
            </a:r>
          </a:p>
          <a:p>
            <a:pPr lvl="1"/>
            <a:r>
              <a:rPr lang="en-US" dirty="0" smtClean="0"/>
              <a:t>Actively monitor and manage credit exposure </a:t>
            </a:r>
          </a:p>
          <a:p>
            <a:pPr lvl="1"/>
            <a:r>
              <a:rPr lang="en-US" dirty="0" smtClean="0"/>
              <a:t>Assigns obligor credit ratings to counterparties and borrowers</a:t>
            </a:r>
          </a:p>
          <a:p>
            <a:pPr lvl="1"/>
            <a:r>
              <a:rPr lang="en-US" dirty="0" smtClean="0"/>
              <a:t>Evaluate relative position of particular obligation in borrower’s capital structure and recovery prospects</a:t>
            </a:r>
            <a:endParaRPr lang="en-US" dirty="0"/>
          </a:p>
        </p:txBody>
      </p:sp>
    </p:spTree>
    <p:extLst>
      <p:ext uri="{BB962C8B-B14F-4D97-AF65-F5344CB8AC3E}">
        <p14:creationId xmlns:p14="http://schemas.microsoft.com/office/powerpoint/2010/main" xmlns="" val="14449731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Risk Mitigation</a:t>
            </a:r>
            <a:endParaRPr lang="en-US" dirty="0"/>
          </a:p>
        </p:txBody>
      </p:sp>
      <p:sp>
        <p:nvSpPr>
          <p:cNvPr id="3" name="Content Placeholder 2"/>
          <p:cNvSpPr>
            <a:spLocks noGrp="1"/>
          </p:cNvSpPr>
          <p:nvPr>
            <p:ph idx="1"/>
          </p:nvPr>
        </p:nvSpPr>
        <p:spPr/>
        <p:txBody>
          <a:bodyPr/>
          <a:lstStyle/>
          <a:p>
            <a:r>
              <a:rPr lang="en-US" dirty="0" smtClean="0"/>
              <a:t>Through management of key risks elements such as size, financial covenants and collateral</a:t>
            </a:r>
          </a:p>
          <a:p>
            <a:r>
              <a:rPr lang="en-US" dirty="0" smtClean="0"/>
              <a:t>Sell, assign or sub-participate funded loans to other financial institutions</a:t>
            </a:r>
          </a:p>
          <a:p>
            <a:r>
              <a:rPr lang="en-US" dirty="0" smtClean="0"/>
              <a:t>Enter master netting agreements and collateral arrangements with counterparties to offset obligations, request collateral or liquidate collateral</a:t>
            </a:r>
            <a:endParaRPr lang="en-US" dirty="0"/>
          </a:p>
        </p:txBody>
      </p:sp>
    </p:spTree>
    <p:extLst>
      <p:ext uri="{BB962C8B-B14F-4D97-AF65-F5344CB8AC3E}">
        <p14:creationId xmlns:p14="http://schemas.microsoft.com/office/powerpoint/2010/main" xmlns="" val="205464598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Credit Risk</a:t>
            </a:r>
            <a:br>
              <a:rPr lang="en-US" dirty="0" smtClean="0"/>
            </a:br>
            <a:r>
              <a:rPr lang="en-US" sz="3100" dirty="0" smtClean="0"/>
              <a:t>Global Wealth Management Group business segment</a:t>
            </a:r>
            <a:endParaRPr lang="en-US" sz="3100" dirty="0"/>
          </a:p>
        </p:txBody>
      </p:sp>
      <p:sp>
        <p:nvSpPr>
          <p:cNvPr id="3" name="Content Placeholder 2"/>
          <p:cNvSpPr>
            <a:spLocks noGrp="1"/>
          </p:cNvSpPr>
          <p:nvPr>
            <p:ph idx="1"/>
          </p:nvPr>
        </p:nvSpPr>
        <p:spPr/>
        <p:txBody>
          <a:bodyPr/>
          <a:lstStyle/>
          <a:p>
            <a:r>
              <a:rPr lang="en-US" dirty="0" smtClean="0"/>
              <a:t>Lending to individual investors, margin and non-purpose loans collateralized by securities, residential mortgage loans and home equity lines of credit</a:t>
            </a:r>
          </a:p>
          <a:p>
            <a:pPr>
              <a:buNone/>
            </a:pPr>
            <a:endParaRPr lang="en-US" dirty="0"/>
          </a:p>
        </p:txBody>
      </p:sp>
    </p:spTree>
    <p:extLst>
      <p:ext uri="{BB962C8B-B14F-4D97-AF65-F5344CB8AC3E}">
        <p14:creationId xmlns:p14="http://schemas.microsoft.com/office/powerpoint/2010/main" xmlns="" val="160838150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Credit Risk</a:t>
            </a:r>
            <a:br>
              <a:rPr lang="en-US" dirty="0" smtClean="0"/>
            </a:br>
            <a:r>
              <a:rPr lang="en-US" sz="3100" dirty="0" smtClean="0"/>
              <a:t>Global Wealth Management Group Activities</a:t>
            </a:r>
            <a:endParaRPr lang="en-US" sz="3100" dirty="0"/>
          </a:p>
        </p:txBody>
      </p:sp>
      <p:sp>
        <p:nvSpPr>
          <p:cNvPr id="3" name="Content Placeholder 2"/>
          <p:cNvSpPr>
            <a:spLocks noGrp="1"/>
          </p:cNvSpPr>
          <p:nvPr>
            <p:ph idx="1"/>
          </p:nvPr>
        </p:nvSpPr>
        <p:spPr/>
        <p:txBody>
          <a:bodyPr>
            <a:normAutofit/>
          </a:bodyPr>
          <a:lstStyle/>
          <a:p>
            <a:r>
              <a:rPr lang="en-US" dirty="0" smtClean="0"/>
              <a:t>Margin lending</a:t>
            </a:r>
          </a:p>
          <a:p>
            <a:pPr lvl="1"/>
            <a:r>
              <a:rPr lang="en-US" dirty="0" smtClean="0"/>
              <a:t>monitors margin levels, establishes credit limits</a:t>
            </a:r>
          </a:p>
          <a:p>
            <a:pPr lvl="1"/>
            <a:r>
              <a:rPr lang="en-US" dirty="0" smtClean="0"/>
              <a:t>reviews amount of margin loans, intended purpose and degree of leverage</a:t>
            </a:r>
          </a:p>
          <a:p>
            <a:r>
              <a:rPr lang="en-US" dirty="0" smtClean="0"/>
              <a:t>Non-purpose securities-based lending (Consumer lending)</a:t>
            </a:r>
          </a:p>
          <a:p>
            <a:pPr lvl="1"/>
            <a:r>
              <a:rPr lang="en-US" dirty="0" smtClean="0"/>
              <a:t>allows clients borrow money against the value of qualifying securities for purposes other than trading or refinancing margin debt</a:t>
            </a:r>
          </a:p>
          <a:p>
            <a:pPr lvl="1"/>
            <a:r>
              <a:rPr lang="en-US" dirty="0" smtClean="0"/>
              <a:t>establishes approved lines and advance rates against qualifying securities</a:t>
            </a:r>
          </a:p>
        </p:txBody>
      </p:sp>
    </p:spTree>
    <p:extLst>
      <p:ext uri="{BB962C8B-B14F-4D97-AF65-F5344CB8AC3E}">
        <p14:creationId xmlns:p14="http://schemas.microsoft.com/office/powerpoint/2010/main" xmlns="" val="362627915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Credit Risk</a:t>
            </a:r>
            <a:br>
              <a:rPr lang="en-US" dirty="0" smtClean="0"/>
            </a:br>
            <a:r>
              <a:rPr lang="en-US" sz="3100" dirty="0" smtClean="0"/>
              <a:t>Global Wealth Management Group Activities</a:t>
            </a:r>
            <a:endParaRPr lang="en-US" sz="3100" dirty="0"/>
          </a:p>
        </p:txBody>
      </p:sp>
      <p:sp>
        <p:nvSpPr>
          <p:cNvPr id="3" name="Content Placeholder 2"/>
          <p:cNvSpPr>
            <a:spLocks noGrp="1"/>
          </p:cNvSpPr>
          <p:nvPr>
            <p:ph idx="1"/>
          </p:nvPr>
        </p:nvSpPr>
        <p:spPr/>
        <p:txBody>
          <a:bodyPr>
            <a:normAutofit/>
          </a:bodyPr>
          <a:lstStyle/>
          <a:p>
            <a:r>
              <a:rPr lang="en-US" dirty="0" smtClean="0"/>
              <a:t>Commercial lending</a:t>
            </a:r>
          </a:p>
          <a:p>
            <a:pPr lvl="1"/>
            <a:r>
              <a:rPr lang="en-US" dirty="0" smtClean="0"/>
              <a:t>provides structured credit facilities to high net worth individuals and their small and medium-sized domestic businesses</a:t>
            </a:r>
          </a:p>
          <a:p>
            <a:pPr lvl="1"/>
            <a:r>
              <a:rPr lang="en-US" dirty="0" smtClean="0"/>
              <a:t>with working capital lines of credit, revolving lines of credit, standby letters of credit, term loans and commercial real estate mortgages</a:t>
            </a:r>
          </a:p>
          <a:p>
            <a:r>
              <a:rPr lang="en-US" dirty="0" smtClean="0"/>
              <a:t>Residential mortgage lending</a:t>
            </a:r>
          </a:p>
          <a:p>
            <a:pPr lvl="1"/>
            <a:r>
              <a:rPr lang="en-US" dirty="0" smtClean="0"/>
              <a:t>Regards mortgages, HELOC loans, a loan evaluation process is adopted within a framework of credit underwriting policies and collateral valuation</a:t>
            </a:r>
          </a:p>
          <a:p>
            <a:pPr lvl="1"/>
            <a:r>
              <a:rPr lang="en-US" dirty="0" smtClean="0"/>
              <a:t>ensure that all borrowers pass an assessment of capacity and willingness to pay</a:t>
            </a:r>
          </a:p>
          <a:p>
            <a:pPr lvl="2"/>
            <a:r>
              <a:rPr lang="en-US" dirty="0" smtClean="0"/>
              <a:t>loan-to-value ratio, a FICO score, home price index, and delinquency status</a:t>
            </a:r>
          </a:p>
        </p:txBody>
      </p:sp>
    </p:spTree>
    <p:extLst>
      <p:ext uri="{BB962C8B-B14F-4D97-AF65-F5344CB8AC3E}">
        <p14:creationId xmlns:p14="http://schemas.microsoft.com/office/powerpoint/2010/main" xmlns="" val="313950841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Credit Exposure</a:t>
            </a:r>
            <a:br>
              <a:rPr lang="en-US" dirty="0" smtClean="0"/>
            </a:br>
            <a:r>
              <a:rPr lang="en-US" sz="3100" dirty="0" smtClean="0"/>
              <a:t>Global Wealth Management Group Activities</a:t>
            </a:r>
            <a:endParaRPr lang="en-US" sz="3100" dirty="0"/>
          </a:p>
        </p:txBody>
      </p:sp>
      <p:pic>
        <p:nvPicPr>
          <p:cNvPr id="5122" name="Picture 2"/>
          <p:cNvPicPr>
            <a:picLocks noGrp="1" noChangeAspect="1" noChangeArrowheads="1"/>
          </p:cNvPicPr>
          <p:nvPr>
            <p:ph idx="1"/>
          </p:nvPr>
        </p:nvPicPr>
        <p:blipFill>
          <a:blip r:embed="rId2" cstate="print"/>
          <a:stretch>
            <a:fillRect/>
          </a:stretch>
        </p:blipFill>
        <p:spPr bwMode="auto">
          <a:xfrm>
            <a:off x="457200" y="3169903"/>
            <a:ext cx="7620000" cy="1661193"/>
          </a:xfrm>
          <a:prstGeom prst="rect">
            <a:avLst/>
          </a:prstGeom>
          <a:noFill/>
          <a:ln w="9525">
            <a:noFill/>
            <a:miter lim="800000"/>
            <a:headEnd/>
            <a:tailEnd/>
          </a:ln>
        </p:spPr>
      </p:pic>
    </p:spTree>
    <p:extLst>
      <p:ext uri="{BB962C8B-B14F-4D97-AF65-F5344CB8AC3E}">
        <p14:creationId xmlns:p14="http://schemas.microsoft.com/office/powerpoint/2010/main" xmlns="" val="389883720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Credit Risk</a:t>
            </a:r>
            <a:br>
              <a:rPr lang="en-US" dirty="0" smtClean="0"/>
            </a:br>
            <a:r>
              <a:rPr lang="en-US" sz="3100" dirty="0" smtClean="0"/>
              <a:t>Default risk</a:t>
            </a:r>
            <a:endParaRPr lang="en-US" sz="3100" dirty="0"/>
          </a:p>
        </p:txBody>
      </p:sp>
      <p:sp>
        <p:nvSpPr>
          <p:cNvPr id="3" name="Content Placeholder 2"/>
          <p:cNvSpPr>
            <a:spLocks noGrp="1"/>
          </p:cNvSpPr>
          <p:nvPr>
            <p:ph idx="1"/>
          </p:nvPr>
        </p:nvSpPr>
        <p:spPr/>
        <p:txBody>
          <a:bodyPr/>
          <a:lstStyle/>
          <a:p>
            <a:r>
              <a:rPr lang="en-US" dirty="0" smtClean="0"/>
              <a:t>firm as a clearing member firm</a:t>
            </a:r>
          </a:p>
          <a:p>
            <a:r>
              <a:rPr lang="en-US" dirty="0" smtClean="0"/>
              <a:t>responsible for the defaults or misconduct of customers</a:t>
            </a:r>
          </a:p>
          <a:p>
            <a:r>
              <a:rPr lang="en-US" dirty="0" smtClean="0"/>
              <a:t>although regular review, may arise from event or circumstance that difficult to detect or foresee</a:t>
            </a:r>
          </a:p>
          <a:p>
            <a:pPr>
              <a:buNone/>
            </a:pPr>
            <a:endParaRPr lang="en-US" dirty="0"/>
          </a:p>
        </p:txBody>
      </p:sp>
    </p:spTree>
    <p:extLst>
      <p:ext uri="{BB962C8B-B14F-4D97-AF65-F5344CB8AC3E}">
        <p14:creationId xmlns:p14="http://schemas.microsoft.com/office/powerpoint/2010/main" xmlns="" val="187574773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Credit Risk</a:t>
            </a:r>
            <a:br>
              <a:rPr lang="en-US" dirty="0" smtClean="0"/>
            </a:br>
            <a:r>
              <a:rPr lang="en-US" sz="3100" dirty="0" smtClean="0"/>
              <a:t>Systemic risk</a:t>
            </a:r>
            <a:endParaRPr lang="en-US" sz="3100" dirty="0"/>
          </a:p>
        </p:txBody>
      </p:sp>
      <p:sp>
        <p:nvSpPr>
          <p:cNvPr id="3" name="Content Placeholder 2"/>
          <p:cNvSpPr>
            <a:spLocks noGrp="1"/>
          </p:cNvSpPr>
          <p:nvPr>
            <p:ph idx="1"/>
          </p:nvPr>
        </p:nvSpPr>
        <p:spPr/>
        <p:txBody>
          <a:bodyPr>
            <a:normAutofit/>
          </a:bodyPr>
          <a:lstStyle/>
          <a:p>
            <a:r>
              <a:rPr lang="en-US" dirty="0" smtClean="0"/>
              <a:t>Defaults by another large financial institution could adversely affect financial market generally</a:t>
            </a:r>
          </a:p>
          <a:p>
            <a:pPr lvl="1"/>
            <a:r>
              <a:rPr lang="en-US" dirty="0" smtClean="0"/>
              <a:t>commercial soundness of financial institution closely interrelated as a result of credit, trading, clearing and other relationships between the institutions</a:t>
            </a:r>
          </a:p>
          <a:p>
            <a:pPr lvl="1"/>
            <a:r>
              <a:rPr lang="en-US" dirty="0" smtClean="0"/>
              <a:t>concerns, default or threatened default by, one institution could lead to significant market-wide liquidity and credit problems, losses or defaults by other institutions</a:t>
            </a:r>
          </a:p>
          <a:p>
            <a:endParaRPr lang="en-US" dirty="0"/>
          </a:p>
        </p:txBody>
      </p:sp>
    </p:spTree>
    <p:extLst>
      <p:ext uri="{BB962C8B-B14F-4D97-AF65-F5344CB8AC3E}">
        <p14:creationId xmlns:p14="http://schemas.microsoft.com/office/powerpoint/2010/main" xmlns="" val="299987359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Operational Risk</a:t>
            </a:r>
            <a:endParaRPr lang="en-US" dirty="0"/>
          </a:p>
        </p:txBody>
      </p:sp>
      <p:sp>
        <p:nvSpPr>
          <p:cNvPr id="3" name="Content Placeholder 2"/>
          <p:cNvSpPr>
            <a:spLocks noGrp="1"/>
          </p:cNvSpPr>
          <p:nvPr>
            <p:ph idx="1"/>
          </p:nvPr>
        </p:nvSpPr>
        <p:spPr/>
        <p:txBody>
          <a:bodyPr/>
          <a:lstStyle/>
          <a:p>
            <a:r>
              <a:rPr lang="en-US" dirty="0" smtClean="0"/>
              <a:t>refers to the risk of financial or other loss, or damage to a firm’s reputation, resulting from inadequate or failed internal processes, people, resources, systems or from other internal or external events</a:t>
            </a:r>
            <a:endParaRPr lang="en-US" dirty="0"/>
          </a:p>
        </p:txBody>
      </p:sp>
    </p:spTree>
    <p:extLst>
      <p:ext uri="{BB962C8B-B14F-4D97-AF65-F5344CB8AC3E}">
        <p14:creationId xmlns:p14="http://schemas.microsoft.com/office/powerpoint/2010/main" xmlns="" val="90678250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Operational Risk</a:t>
            </a:r>
            <a:endParaRPr lang="en-US" dirty="0"/>
          </a:p>
        </p:txBody>
      </p:sp>
      <p:sp>
        <p:nvSpPr>
          <p:cNvPr id="3" name="Content Placeholder 2"/>
          <p:cNvSpPr>
            <a:spLocks noGrp="1"/>
          </p:cNvSpPr>
          <p:nvPr>
            <p:ph idx="1"/>
          </p:nvPr>
        </p:nvSpPr>
        <p:spPr/>
        <p:txBody>
          <a:bodyPr/>
          <a:lstStyle/>
          <a:p>
            <a:r>
              <a:rPr lang="en-US" dirty="0" smtClean="0"/>
              <a:t>incur across full scope of business activities:</a:t>
            </a:r>
          </a:p>
          <a:p>
            <a:pPr lvl="1"/>
            <a:r>
              <a:rPr lang="en-US" dirty="0" smtClean="0"/>
              <a:t>revenue-generating activities (sales &amp; trading)</a:t>
            </a:r>
          </a:p>
          <a:p>
            <a:pPr lvl="1"/>
            <a:r>
              <a:rPr lang="en-US" dirty="0" smtClean="0"/>
              <a:t>support functions (information technology and trade processing)</a:t>
            </a:r>
          </a:p>
          <a:p>
            <a:pPr lvl="1"/>
            <a:r>
              <a:rPr lang="en-US" dirty="0" smtClean="0"/>
              <a:t>other strategic decisions (integration of MSSB or other joint ventures, acquisition or strategic alliances</a:t>
            </a:r>
            <a:endParaRPr lang="en-US" dirty="0"/>
          </a:p>
        </p:txBody>
      </p:sp>
    </p:spTree>
    <p:extLst>
      <p:ext uri="{BB962C8B-B14F-4D97-AF65-F5344CB8AC3E}">
        <p14:creationId xmlns:p14="http://schemas.microsoft.com/office/powerpoint/2010/main" xmlns="" val="394557272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Operational Risk</a:t>
            </a:r>
            <a:endParaRPr lang="en-CA" dirty="0"/>
          </a:p>
        </p:txBody>
      </p:sp>
      <p:sp>
        <p:nvSpPr>
          <p:cNvPr id="3" name="Content Placeholder 2"/>
          <p:cNvSpPr>
            <a:spLocks noGrp="1"/>
          </p:cNvSpPr>
          <p:nvPr>
            <p:ph idx="1"/>
          </p:nvPr>
        </p:nvSpPr>
        <p:spPr/>
        <p:txBody>
          <a:bodyPr/>
          <a:lstStyle/>
          <a:p>
            <a:r>
              <a:rPr lang="en-US" dirty="0"/>
              <a:t>dependent on ability to process, on a daily basis, large number of transactions across numerous and diverse markets in many currencies</a:t>
            </a:r>
          </a:p>
          <a:p>
            <a:r>
              <a:rPr lang="en-US" dirty="0"/>
              <a:t>perform function required to operate different businesses either by ourselves or through agreement with third </a:t>
            </a:r>
            <a:r>
              <a:rPr lang="en-US" dirty="0" smtClean="0"/>
              <a:t>parties</a:t>
            </a:r>
            <a:endParaRPr lang="en-US" dirty="0"/>
          </a:p>
        </p:txBody>
      </p:sp>
    </p:spTree>
    <p:extLst>
      <p:ext uri="{BB962C8B-B14F-4D97-AF65-F5344CB8AC3E}">
        <p14:creationId xmlns:p14="http://schemas.microsoft.com/office/powerpoint/2010/main" xmlns="" val="59832358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Operational Risk</a:t>
            </a:r>
            <a:endParaRPr lang="en-US" dirty="0"/>
          </a:p>
        </p:txBody>
      </p:sp>
      <p:sp>
        <p:nvSpPr>
          <p:cNvPr id="3" name="Content Placeholder 2"/>
          <p:cNvSpPr>
            <a:spLocks noGrp="1"/>
          </p:cNvSpPr>
          <p:nvPr>
            <p:ph idx="1"/>
          </p:nvPr>
        </p:nvSpPr>
        <p:spPr/>
        <p:txBody>
          <a:bodyPr/>
          <a:lstStyle/>
          <a:p>
            <a:r>
              <a:rPr lang="en-US" dirty="0" smtClean="0"/>
              <a:t>rely on ability of employees, internal systems and systems at technology centers operated by third parties to process high volume of transactions</a:t>
            </a:r>
          </a:p>
          <a:p>
            <a:r>
              <a:rPr lang="en-US" dirty="0" smtClean="0"/>
              <a:t>rely on secure processing, storage and transmission of confidential and other information in computer systems</a:t>
            </a:r>
          </a:p>
          <a:p>
            <a:endParaRPr lang="en-US" dirty="0"/>
          </a:p>
        </p:txBody>
      </p:sp>
    </p:spTree>
    <p:extLst>
      <p:ext uri="{BB962C8B-B14F-4D97-AF65-F5344CB8AC3E}">
        <p14:creationId xmlns:p14="http://schemas.microsoft.com/office/powerpoint/2010/main" xmlns="" val="97558007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Operating Risk Management</a:t>
            </a:r>
          </a:p>
        </p:txBody>
      </p:sp>
      <p:sp>
        <p:nvSpPr>
          <p:cNvPr id="3" name="Content Placeholder 2"/>
          <p:cNvSpPr>
            <a:spLocks noGrp="1"/>
          </p:cNvSpPr>
          <p:nvPr>
            <p:ph idx="1"/>
          </p:nvPr>
        </p:nvSpPr>
        <p:spPr/>
        <p:txBody>
          <a:bodyPr/>
          <a:lstStyle/>
          <a:p>
            <a:r>
              <a:rPr lang="en-CA" dirty="0"/>
              <a:t>Operational risk Oversight Committee</a:t>
            </a:r>
          </a:p>
          <a:p>
            <a:pPr lvl="1"/>
            <a:r>
              <a:rPr lang="en-CA" dirty="0"/>
              <a:t>Chaired by CRO, provides oversight of operational risk</a:t>
            </a:r>
          </a:p>
          <a:p>
            <a:r>
              <a:rPr lang="en-CA" dirty="0"/>
              <a:t>Operational risk manager</a:t>
            </a:r>
          </a:p>
          <a:p>
            <a:pPr lvl="1"/>
            <a:r>
              <a:rPr lang="en-CA" dirty="0"/>
              <a:t>Monitors, measures, analyzes and reports on operational risk</a:t>
            </a:r>
          </a:p>
          <a:p>
            <a:pPr lvl="1"/>
            <a:r>
              <a:rPr lang="en-CA" dirty="0"/>
              <a:t>Independent of business segments</a:t>
            </a:r>
          </a:p>
          <a:p>
            <a:r>
              <a:rPr lang="en-CA" dirty="0"/>
              <a:t>Business Manager</a:t>
            </a:r>
          </a:p>
          <a:p>
            <a:pPr lvl="1"/>
            <a:r>
              <a:rPr lang="en-CA" dirty="0"/>
              <a:t>Maintain processes and controls designed to manage operational risk</a:t>
            </a:r>
          </a:p>
          <a:p>
            <a:endParaRPr lang="en-CA" dirty="0"/>
          </a:p>
        </p:txBody>
      </p:sp>
    </p:spTree>
    <p:extLst>
      <p:ext uri="{BB962C8B-B14F-4D97-AF65-F5344CB8AC3E}">
        <p14:creationId xmlns:p14="http://schemas.microsoft.com/office/powerpoint/2010/main" xmlns="" val="46157040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Operating Risk Management</a:t>
            </a:r>
          </a:p>
        </p:txBody>
      </p:sp>
      <p:sp>
        <p:nvSpPr>
          <p:cNvPr id="3" name="Content Placeholder 2"/>
          <p:cNvSpPr>
            <a:spLocks noGrp="1"/>
          </p:cNvSpPr>
          <p:nvPr>
            <p:ph idx="1"/>
          </p:nvPr>
        </p:nvSpPr>
        <p:spPr/>
        <p:txBody>
          <a:bodyPr/>
          <a:lstStyle/>
          <a:p>
            <a:r>
              <a:rPr lang="en-CA" dirty="0"/>
              <a:t>Business Continuity Management</a:t>
            </a:r>
          </a:p>
          <a:p>
            <a:pPr lvl="1"/>
            <a:r>
              <a:rPr lang="en-CA" dirty="0"/>
              <a:t>Contingency planning to ensure continuity of operations in case of disaster</a:t>
            </a:r>
          </a:p>
          <a:p>
            <a:r>
              <a:rPr lang="en-CA" dirty="0"/>
              <a:t>External vendors</a:t>
            </a:r>
          </a:p>
          <a:p>
            <a:pPr lvl="1"/>
            <a:r>
              <a:rPr lang="en-CA" dirty="0"/>
              <a:t>Risk managed through service level, contractual agreements, service and quality </a:t>
            </a:r>
            <a:r>
              <a:rPr lang="en-CA" dirty="0" smtClean="0"/>
              <a:t>reviews</a:t>
            </a:r>
            <a:endParaRPr lang="en-CA" dirty="0"/>
          </a:p>
        </p:txBody>
      </p:sp>
    </p:spTree>
    <p:extLst>
      <p:ext uri="{BB962C8B-B14F-4D97-AF65-F5344CB8AC3E}">
        <p14:creationId xmlns:p14="http://schemas.microsoft.com/office/powerpoint/2010/main" xmlns="" val="176061113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Operational risk</a:t>
            </a:r>
            <a:br>
              <a:rPr lang="en-US" dirty="0" smtClean="0"/>
            </a:br>
            <a:r>
              <a:rPr lang="en-US" sz="3100" dirty="0" smtClean="0"/>
              <a:t>Legal and Regulatory Risk</a:t>
            </a:r>
            <a:endParaRPr lang="en-US" sz="3100" dirty="0"/>
          </a:p>
        </p:txBody>
      </p:sp>
      <p:sp>
        <p:nvSpPr>
          <p:cNvPr id="3" name="Content Placeholder 2"/>
          <p:cNvSpPr>
            <a:spLocks noGrp="1"/>
          </p:cNvSpPr>
          <p:nvPr>
            <p:ph idx="1"/>
          </p:nvPr>
        </p:nvSpPr>
        <p:spPr/>
        <p:txBody>
          <a:bodyPr>
            <a:normAutofit/>
          </a:bodyPr>
          <a:lstStyle/>
          <a:p>
            <a:r>
              <a:rPr lang="en-US" altLang="zh-TW" dirty="0" smtClean="0"/>
              <a:t>Legal and compliance risk includes the risk of exposure to fines, penalties, judgments, damages and/or settlements in connection with regulatory or legal actions as a result of non-compliance with applicable legal or regulatory requirements or litigation</a:t>
            </a:r>
          </a:p>
          <a:p>
            <a:r>
              <a:rPr lang="en-US" altLang="zh-TW" dirty="0" smtClean="0"/>
              <a:t>contractual and commercial risk such as the risk that a counterparty’s performance obligations will be unenforceable.</a:t>
            </a:r>
            <a:endParaRPr lang="en-US" dirty="0"/>
          </a:p>
        </p:txBody>
      </p:sp>
    </p:spTree>
    <p:extLst>
      <p:ext uri="{BB962C8B-B14F-4D97-AF65-F5344CB8AC3E}">
        <p14:creationId xmlns:p14="http://schemas.microsoft.com/office/powerpoint/2010/main" xmlns="" val="207624343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Operational risk</a:t>
            </a:r>
            <a:br>
              <a:rPr lang="en-US" dirty="0" smtClean="0"/>
            </a:br>
            <a:r>
              <a:rPr lang="en-US" sz="3100" dirty="0" smtClean="0"/>
              <a:t>Legal and Regulatory Risk</a:t>
            </a:r>
            <a:endParaRPr lang="en-US" sz="3100" dirty="0"/>
          </a:p>
        </p:txBody>
      </p:sp>
      <p:sp>
        <p:nvSpPr>
          <p:cNvPr id="3" name="Content Placeholder 2"/>
          <p:cNvSpPr>
            <a:spLocks noGrp="1"/>
          </p:cNvSpPr>
          <p:nvPr>
            <p:ph idx="1"/>
          </p:nvPr>
        </p:nvSpPr>
        <p:spPr/>
        <p:txBody>
          <a:bodyPr>
            <a:normAutofit/>
          </a:bodyPr>
          <a:lstStyle/>
          <a:p>
            <a:r>
              <a:rPr lang="en-US" altLang="zh-TW" dirty="0" smtClean="0"/>
              <a:t>Extensive regulations</a:t>
            </a:r>
          </a:p>
          <a:p>
            <a:pPr lvl="1"/>
            <a:r>
              <a:rPr lang="en-US" altLang="zh-TW" dirty="0" smtClean="0"/>
              <a:t>subject to extensive regulation by U.S. federal and state regulatory agencies and securities exchanges in major markets</a:t>
            </a:r>
          </a:p>
          <a:p>
            <a:pPr lvl="1"/>
            <a:r>
              <a:rPr lang="en-US" altLang="zh-TW" dirty="0" smtClean="0"/>
              <a:t>risk of investigations and proceedings by governmental and self-regulatory agencies in countries conducting business</a:t>
            </a:r>
          </a:p>
          <a:p>
            <a:pPr lvl="1"/>
            <a:r>
              <a:rPr lang="en-US" altLang="zh-TW" dirty="0" smtClean="0"/>
              <a:t>Dodd-Frank Act</a:t>
            </a:r>
          </a:p>
          <a:p>
            <a:pPr lvl="2"/>
            <a:r>
              <a:rPr lang="en-US" altLang="zh-TW" dirty="0" smtClean="0"/>
              <a:t>Present SEC with information related to securities laws violations leads to successful enforcement action</a:t>
            </a:r>
          </a:p>
          <a:p>
            <a:pPr lvl="2"/>
            <a:r>
              <a:rPr lang="en-US" altLang="zh-TW" dirty="0" smtClean="0"/>
              <a:t>Subject to significantly revised and expanded regulation and supervision, to new activities limitations, to a systemic risk regime which impose high capital and liquidity requirement</a:t>
            </a:r>
          </a:p>
          <a:p>
            <a:pPr lvl="1"/>
            <a:endParaRPr lang="en-US" altLang="zh-TW" dirty="0" smtClean="0"/>
          </a:p>
          <a:p>
            <a:pPr lvl="1">
              <a:buNone/>
            </a:pPr>
            <a:endParaRPr lang="en-US" dirty="0"/>
          </a:p>
        </p:txBody>
      </p:sp>
    </p:spTree>
    <p:extLst>
      <p:ext uri="{BB962C8B-B14F-4D97-AF65-F5344CB8AC3E}">
        <p14:creationId xmlns:p14="http://schemas.microsoft.com/office/powerpoint/2010/main" xmlns="" val="387213910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Operational risk</a:t>
            </a:r>
            <a:br>
              <a:rPr lang="en-US" dirty="0" smtClean="0"/>
            </a:br>
            <a:r>
              <a:rPr lang="en-US" sz="3600" dirty="0" smtClean="0"/>
              <a:t>Legal and Regulatory Risk</a:t>
            </a:r>
            <a:endParaRPr lang="zh-TW" altLang="en-US" sz="3600" dirty="0"/>
          </a:p>
        </p:txBody>
      </p:sp>
      <p:sp>
        <p:nvSpPr>
          <p:cNvPr id="3" name="Content Placeholder 2"/>
          <p:cNvSpPr>
            <a:spLocks noGrp="1"/>
          </p:cNvSpPr>
          <p:nvPr>
            <p:ph idx="1"/>
          </p:nvPr>
        </p:nvSpPr>
        <p:spPr/>
        <p:txBody>
          <a:bodyPr>
            <a:normAutofit/>
          </a:bodyPr>
          <a:lstStyle/>
          <a:p>
            <a:r>
              <a:rPr lang="en-US" altLang="zh-TW" dirty="0" smtClean="0"/>
              <a:t>substantial litigation and regulatory investigations </a:t>
            </a:r>
          </a:p>
          <a:p>
            <a:pPr lvl="1">
              <a:buNone/>
            </a:pPr>
            <a:r>
              <a:rPr lang="en-US" altLang="zh-TW" dirty="0" smtClean="0"/>
              <a:t>– damage reputation and legal liability</a:t>
            </a:r>
          </a:p>
          <a:p>
            <a:r>
              <a:rPr lang="en-US" altLang="zh-TW" dirty="0" smtClean="0"/>
              <a:t>governmental fiscal and monetary policies</a:t>
            </a:r>
          </a:p>
          <a:p>
            <a:pPr lvl="1"/>
            <a:r>
              <a:rPr lang="en-US" dirty="0" smtClean="0"/>
              <a:t>Actions directly impact our cost of funds for lending</a:t>
            </a:r>
            <a:endParaRPr lang="en-US" altLang="zh-TW" dirty="0" smtClean="0"/>
          </a:p>
          <a:p>
            <a:r>
              <a:rPr lang="en-US" altLang="zh-TW" dirty="0" smtClean="0"/>
              <a:t>commodities activities</a:t>
            </a:r>
          </a:p>
          <a:p>
            <a:pPr lvl="1"/>
            <a:r>
              <a:rPr lang="en-US" altLang="zh-TW" dirty="0" smtClean="0"/>
              <a:t>Engage in production, usage, transportation in metals , agricultural, energy product, etc. </a:t>
            </a:r>
          </a:p>
          <a:p>
            <a:pPr lvl="1"/>
            <a:r>
              <a:rPr lang="en-US" altLang="zh-TW" dirty="0" smtClean="0"/>
              <a:t>Subject to related extensive regulation, potential catastrophic events and environmental risks and regulation which expose to cost and liability</a:t>
            </a:r>
          </a:p>
          <a:p>
            <a:pPr marL="342900" lvl="1" indent="-342900">
              <a:buFont typeface="Arial" pitchFamily="34" charset="0"/>
              <a:buChar char="•"/>
            </a:pPr>
            <a:r>
              <a:rPr lang="en-US" altLang="zh-TW" dirty="0" smtClean="0"/>
              <a:t>failure to address conflicts of interest</a:t>
            </a:r>
          </a:p>
          <a:p>
            <a:pPr marL="742950" lvl="2" indent="-342900"/>
            <a:r>
              <a:rPr lang="en-US" dirty="0" smtClean="0"/>
              <a:t>Potential conflicts give rise to litigation or enforcement actions</a:t>
            </a:r>
            <a:endParaRPr lang="en-US" altLang="zh-TW" dirty="0" smtClean="0"/>
          </a:p>
          <a:p>
            <a:pPr lvl="1"/>
            <a:endParaRPr lang="zh-TW" altLang="en-US" dirty="0"/>
          </a:p>
        </p:txBody>
      </p:sp>
    </p:spTree>
    <p:extLst>
      <p:ext uri="{BB962C8B-B14F-4D97-AF65-F5344CB8AC3E}">
        <p14:creationId xmlns:p14="http://schemas.microsoft.com/office/powerpoint/2010/main" xmlns="" val="412197657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Legal Risk Management</a:t>
            </a:r>
            <a:endParaRPr lang="en-CA" dirty="0"/>
          </a:p>
        </p:txBody>
      </p:sp>
      <p:sp>
        <p:nvSpPr>
          <p:cNvPr id="3" name="Content Placeholder 2"/>
          <p:cNvSpPr>
            <a:spLocks noGrp="1"/>
          </p:cNvSpPr>
          <p:nvPr>
            <p:ph idx="1"/>
          </p:nvPr>
        </p:nvSpPr>
        <p:spPr/>
        <p:txBody>
          <a:bodyPr/>
          <a:lstStyle/>
          <a:p>
            <a:r>
              <a:rPr lang="en-CA" dirty="0"/>
              <a:t>Legal and Compliance Division</a:t>
            </a:r>
          </a:p>
          <a:p>
            <a:pPr lvl="1"/>
            <a:r>
              <a:rPr lang="en-CA" dirty="0"/>
              <a:t>“Develops various procedures addressing issues such as regulatory capital requirements, sales and trading practices, new products, potential conflicts of interest, structured transactions, use and safekeeping of customer funds and securities, credit granting, money laundering, privacy and recordkeeping</a:t>
            </a:r>
            <a:r>
              <a:rPr lang="en-CA" dirty="0" smtClean="0"/>
              <a:t>”</a:t>
            </a:r>
            <a:endParaRPr lang="en-CA" dirty="0"/>
          </a:p>
        </p:txBody>
      </p:sp>
    </p:spTree>
    <p:extLst>
      <p:ext uri="{BB962C8B-B14F-4D97-AF65-F5344CB8AC3E}">
        <p14:creationId xmlns:p14="http://schemas.microsoft.com/office/powerpoint/2010/main" xmlns="" val="115032499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altLang="zh-TW" dirty="0" smtClean="0"/>
              <a:t>Competitive environment risk</a:t>
            </a:r>
            <a:endParaRPr lang="zh-TW" altLang="en-US" dirty="0"/>
          </a:p>
        </p:txBody>
      </p:sp>
      <p:sp>
        <p:nvSpPr>
          <p:cNvPr id="3" name="Content Placeholder 2"/>
          <p:cNvSpPr>
            <a:spLocks noGrp="1"/>
          </p:cNvSpPr>
          <p:nvPr>
            <p:ph idx="1"/>
          </p:nvPr>
        </p:nvSpPr>
        <p:spPr/>
        <p:txBody>
          <a:bodyPr/>
          <a:lstStyle/>
          <a:p>
            <a:r>
              <a:rPr lang="en-US" altLang="zh-TW" dirty="0" smtClean="0"/>
              <a:t>compete with commercial banks, brokerage firms, insurance companies, sponsors of mutual funds, hedge funds, energy companies, etc.</a:t>
            </a:r>
          </a:p>
          <a:p>
            <a:r>
              <a:rPr lang="en-US" altLang="zh-TW" dirty="0" smtClean="0"/>
              <a:t>Pricing pressure</a:t>
            </a:r>
          </a:p>
          <a:p>
            <a:r>
              <a:rPr lang="en-US" altLang="zh-TW" dirty="0" smtClean="0"/>
              <a:t>Automated trading markets increased pressure on trading commissions</a:t>
            </a:r>
          </a:p>
          <a:p>
            <a:r>
              <a:rPr lang="en-US" altLang="zh-TW" dirty="0" smtClean="0"/>
              <a:t>Pressure in obtaining quality employees</a:t>
            </a:r>
            <a:endParaRPr lang="zh-TW" altLang="en-US" dirty="0"/>
          </a:p>
        </p:txBody>
      </p:sp>
    </p:spTree>
    <p:extLst>
      <p:ext uri="{BB962C8B-B14F-4D97-AF65-F5344CB8AC3E}">
        <p14:creationId xmlns:p14="http://schemas.microsoft.com/office/powerpoint/2010/main" xmlns="" val="85126293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altLang="zh-TW" dirty="0" smtClean="0"/>
              <a:t>International Risk</a:t>
            </a:r>
            <a:endParaRPr lang="zh-TW" altLang="en-US" dirty="0"/>
          </a:p>
        </p:txBody>
      </p:sp>
      <p:sp>
        <p:nvSpPr>
          <p:cNvPr id="3" name="Content Placeholder 2"/>
          <p:cNvSpPr>
            <a:spLocks noGrp="1"/>
          </p:cNvSpPr>
          <p:nvPr>
            <p:ph idx="1"/>
          </p:nvPr>
        </p:nvSpPr>
        <p:spPr/>
        <p:txBody>
          <a:bodyPr>
            <a:normAutofit/>
          </a:bodyPr>
          <a:lstStyle/>
          <a:p>
            <a:r>
              <a:rPr lang="en-US" altLang="zh-TW" dirty="0" smtClean="0"/>
              <a:t>Subject to numerous political, economic, legal, operational, franchise and other risks </a:t>
            </a:r>
          </a:p>
          <a:p>
            <a:r>
              <a:rPr lang="en-US" altLang="zh-TW" dirty="0" smtClean="0"/>
              <a:t>In many countries, the laws and regulations applicable to the securities and financial services industries are uncertain and evolving, difficult to determine exact requirements</a:t>
            </a:r>
            <a:r>
              <a:rPr lang="zh-TW" altLang="en-US" dirty="0" smtClean="0"/>
              <a:t> </a:t>
            </a:r>
            <a:r>
              <a:rPr lang="en-US" altLang="zh-TW" dirty="0" smtClean="0"/>
              <a:t>of local laws</a:t>
            </a:r>
          </a:p>
          <a:p>
            <a:r>
              <a:rPr lang="en-US" altLang="zh-TW" dirty="0" smtClean="0"/>
              <a:t>Various emerging market countries have experienced severe political, economic and financial disruptions, including significant devaluations of their currencies, capital and currency exchange controls, high rates of inflation and low or negative growth rates. Crime and corruption also existed is these countries</a:t>
            </a:r>
          </a:p>
        </p:txBody>
      </p:sp>
    </p:spTree>
    <p:extLst>
      <p:ext uri="{BB962C8B-B14F-4D97-AF65-F5344CB8AC3E}">
        <p14:creationId xmlns:p14="http://schemas.microsoft.com/office/powerpoint/2010/main" xmlns="" val="400427166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smtClean="0"/>
              <a:t>Acquisition and Joint Venture Risk</a:t>
            </a:r>
            <a:endParaRPr lang="zh-TW" altLang="en-US" dirty="0"/>
          </a:p>
        </p:txBody>
      </p:sp>
      <p:sp>
        <p:nvSpPr>
          <p:cNvPr id="3" name="Content Placeholder 2"/>
          <p:cNvSpPr>
            <a:spLocks noGrp="1"/>
          </p:cNvSpPr>
          <p:nvPr>
            <p:ph idx="1"/>
          </p:nvPr>
        </p:nvSpPr>
        <p:spPr/>
        <p:txBody>
          <a:bodyPr>
            <a:normAutofit/>
          </a:bodyPr>
          <a:lstStyle/>
          <a:p>
            <a:r>
              <a:rPr lang="en-US" altLang="zh-TW" dirty="0" smtClean="0"/>
              <a:t>unable to fully capture the expected value from acquisitions, joint ventures, minority stakes and strategic alliances</a:t>
            </a:r>
          </a:p>
          <a:p>
            <a:r>
              <a:rPr lang="en-US" altLang="zh-TW" dirty="0" smtClean="0"/>
              <a:t>need to combine accounting and data processing systems and management controls and to integrate relationships with clients, trading counterparties and business partners</a:t>
            </a:r>
          </a:p>
          <a:p>
            <a:r>
              <a:rPr lang="en-US" altLang="zh-TW" dirty="0" smtClean="0"/>
              <a:t>conflicts or disagreements between Morgan Stanley and its joint venture partners</a:t>
            </a:r>
            <a:endParaRPr lang="zh-TW" altLang="en-US" dirty="0"/>
          </a:p>
        </p:txBody>
      </p:sp>
    </p:spTree>
    <p:extLst>
      <p:ext uri="{BB962C8B-B14F-4D97-AF65-F5344CB8AC3E}">
        <p14:creationId xmlns:p14="http://schemas.microsoft.com/office/powerpoint/2010/main" xmlns="" val="257071967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Compensation Practices</a:t>
            </a:r>
            <a:endParaRPr lang="en-CA" dirty="0"/>
          </a:p>
        </p:txBody>
      </p:sp>
      <p:sp>
        <p:nvSpPr>
          <p:cNvPr id="3" name="Content Placeholder 2"/>
          <p:cNvSpPr>
            <a:spLocks noGrp="1"/>
          </p:cNvSpPr>
          <p:nvPr>
            <p:ph idx="1"/>
          </p:nvPr>
        </p:nvSpPr>
        <p:spPr/>
        <p:txBody>
          <a:bodyPr/>
          <a:lstStyle/>
          <a:p>
            <a:r>
              <a:rPr lang="en-CA" dirty="0"/>
              <a:t>C</a:t>
            </a:r>
            <a:r>
              <a:rPr lang="en-CA" dirty="0" smtClean="0"/>
              <a:t>ompensation </a:t>
            </a:r>
            <a:r>
              <a:rPr lang="en-CA" dirty="0"/>
              <a:t>practices are subject to oversight by the Federal Reserve</a:t>
            </a:r>
            <a:endParaRPr lang="en-CA" dirty="0" smtClean="0"/>
          </a:p>
          <a:p>
            <a:r>
              <a:rPr lang="en-CA" dirty="0" smtClean="0"/>
              <a:t>The </a:t>
            </a:r>
            <a:r>
              <a:rPr lang="en-CA" dirty="0"/>
              <a:t>Company is subject to the compensation-related provisions of the Dodd-Frank </a:t>
            </a:r>
            <a:r>
              <a:rPr lang="en-CA" dirty="0" smtClean="0"/>
              <a:t>Act</a:t>
            </a:r>
          </a:p>
          <a:p>
            <a:r>
              <a:rPr lang="en-CA" dirty="0"/>
              <a:t>In June 2010, </a:t>
            </a:r>
            <a:r>
              <a:rPr lang="en-CA" dirty="0" smtClean="0"/>
              <a:t>the Federal </a:t>
            </a:r>
            <a:r>
              <a:rPr lang="en-CA" dirty="0"/>
              <a:t>Reserve and other federal regulators issued final guidance </a:t>
            </a:r>
            <a:r>
              <a:rPr lang="en-CA" dirty="0" smtClean="0"/>
              <a:t>in </a:t>
            </a:r>
            <a:r>
              <a:rPr lang="en-CA" dirty="0"/>
              <a:t>accordance with compensation principles </a:t>
            </a:r>
            <a:r>
              <a:rPr lang="en-CA" dirty="0" smtClean="0"/>
              <a:t>and standards designed </a:t>
            </a:r>
            <a:r>
              <a:rPr lang="en-CA" dirty="0"/>
              <a:t>to encourage sound compensation </a:t>
            </a:r>
            <a:r>
              <a:rPr lang="en-CA" dirty="0" smtClean="0"/>
              <a:t>practices established </a:t>
            </a:r>
            <a:r>
              <a:rPr lang="en-CA" dirty="0"/>
              <a:t>by the Financial Stability Board</a:t>
            </a:r>
            <a:endParaRPr lang="en-CA" dirty="0" smtClean="0"/>
          </a:p>
          <a:p>
            <a:endParaRPr lang="en-CA" dirty="0"/>
          </a:p>
        </p:txBody>
      </p:sp>
    </p:spTree>
    <p:extLst>
      <p:ext uri="{BB962C8B-B14F-4D97-AF65-F5344CB8AC3E}">
        <p14:creationId xmlns:p14="http://schemas.microsoft.com/office/powerpoint/2010/main" xmlns="" val="4238805904"/>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Compensation Objectives and Strategy</a:t>
            </a:r>
            <a:endParaRPr lang="en-CA" dirty="0"/>
          </a:p>
        </p:txBody>
      </p:sp>
      <p:sp>
        <p:nvSpPr>
          <p:cNvPr id="3" name="Content Placeholder 2"/>
          <p:cNvSpPr>
            <a:spLocks noGrp="1"/>
          </p:cNvSpPr>
          <p:nvPr>
            <p:ph idx="1"/>
          </p:nvPr>
        </p:nvSpPr>
        <p:spPr/>
        <p:txBody>
          <a:bodyPr>
            <a:normAutofit fontScale="92500" lnSpcReduction="20000"/>
          </a:bodyPr>
          <a:lstStyle/>
          <a:p>
            <a:r>
              <a:rPr lang="en-CA" b="1" i="1" dirty="0"/>
              <a:t>Attract and Retain Top Talent</a:t>
            </a:r>
            <a:r>
              <a:rPr lang="en-CA" dirty="0"/>
              <a:t>. The Company competes for talent globally with commercial </a:t>
            </a:r>
            <a:r>
              <a:rPr lang="en-CA" dirty="0" smtClean="0"/>
              <a:t>banks, brokerage </a:t>
            </a:r>
            <a:r>
              <a:rPr lang="en-CA" dirty="0"/>
              <a:t>firms, hedge funds and other companies offering financial </a:t>
            </a:r>
            <a:r>
              <a:rPr lang="en-CA" dirty="0" smtClean="0"/>
              <a:t>services. Long-term </a:t>
            </a:r>
            <a:r>
              <a:rPr lang="en-CA" dirty="0"/>
              <a:t>incentive </a:t>
            </a:r>
            <a:r>
              <a:rPr lang="en-CA" dirty="0" smtClean="0"/>
              <a:t>awards encourage </a:t>
            </a:r>
            <a:r>
              <a:rPr lang="en-CA" dirty="0"/>
              <a:t>executives not to leave the Company for </a:t>
            </a:r>
            <a:r>
              <a:rPr lang="en-CA" dirty="0" smtClean="0"/>
              <a:t>a competitor</a:t>
            </a:r>
          </a:p>
          <a:p>
            <a:r>
              <a:rPr lang="en-CA" b="1" i="1" dirty="0"/>
              <a:t>Deliver Pay-for-Performance. </a:t>
            </a:r>
            <a:r>
              <a:rPr lang="en-CA" dirty="0" smtClean="0"/>
              <a:t>Executive </a:t>
            </a:r>
            <a:r>
              <a:rPr lang="en-CA" dirty="0"/>
              <a:t>compensation program emphasizes </a:t>
            </a:r>
            <a:r>
              <a:rPr lang="en-CA" dirty="0" smtClean="0"/>
              <a:t>variable incentive </a:t>
            </a:r>
            <a:r>
              <a:rPr lang="en-CA" dirty="0"/>
              <a:t>compensation that is </a:t>
            </a:r>
            <a:r>
              <a:rPr lang="en-CA" dirty="0" smtClean="0"/>
              <a:t>linked </a:t>
            </a:r>
            <a:r>
              <a:rPr lang="en-CA" dirty="0"/>
              <a:t>to Company and individual </a:t>
            </a:r>
            <a:r>
              <a:rPr lang="en-CA" dirty="0" smtClean="0"/>
              <a:t>performance</a:t>
            </a:r>
          </a:p>
          <a:p>
            <a:r>
              <a:rPr lang="en-CA" b="1" i="1" dirty="0"/>
              <a:t>Align Executive Compensation with Shareholders’ Interests. </a:t>
            </a:r>
            <a:r>
              <a:rPr lang="en-CA" dirty="0"/>
              <a:t>The Company delivers a significant </a:t>
            </a:r>
            <a:r>
              <a:rPr lang="en-CA" dirty="0" smtClean="0"/>
              <a:t>portion of </a:t>
            </a:r>
            <a:r>
              <a:rPr lang="en-CA" dirty="0"/>
              <a:t>long-term incentive compensation in equity to align employee interests to increased shareholder </a:t>
            </a:r>
            <a:r>
              <a:rPr lang="en-CA" dirty="0" smtClean="0"/>
              <a:t>value</a:t>
            </a:r>
          </a:p>
          <a:p>
            <a:r>
              <a:rPr lang="en-CA" b="1" i="1" dirty="0"/>
              <a:t>Evaluate Risk-taking and Compensation Arrangements. </a:t>
            </a:r>
            <a:r>
              <a:rPr lang="en-CA" dirty="0"/>
              <a:t>The CMDS Committee works with </a:t>
            </a:r>
            <a:r>
              <a:rPr lang="en-CA" dirty="0" smtClean="0"/>
              <a:t>the Company’s </a:t>
            </a:r>
            <a:r>
              <a:rPr lang="en-CA" dirty="0"/>
              <a:t>Chief Risk Officer and the CMDS Committee’s independent consultant to help ensure that </a:t>
            </a:r>
            <a:r>
              <a:rPr lang="en-CA" dirty="0" smtClean="0"/>
              <a:t>the structure </a:t>
            </a:r>
            <a:r>
              <a:rPr lang="en-CA" dirty="0"/>
              <a:t>and design of compensation arrangements do not encourage unnecessary and excessive risk-taking</a:t>
            </a:r>
          </a:p>
        </p:txBody>
      </p:sp>
    </p:spTree>
    <p:extLst>
      <p:ext uri="{BB962C8B-B14F-4D97-AF65-F5344CB8AC3E}">
        <p14:creationId xmlns:p14="http://schemas.microsoft.com/office/powerpoint/2010/main" xmlns="" val="3702740877"/>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Executive Compensation (2009)</a:t>
            </a:r>
            <a:endParaRPr lang="en-CA" dirty="0"/>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846" y="1700807"/>
            <a:ext cx="8470278" cy="39372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586987500"/>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Employee Stock-Based Compensation Plans</a:t>
            </a:r>
            <a:endParaRPr lang="en-CA" dirty="0"/>
          </a:p>
        </p:txBody>
      </p:sp>
      <p:sp>
        <p:nvSpPr>
          <p:cNvPr id="3" name="Content Placeholder 2"/>
          <p:cNvSpPr>
            <a:spLocks noGrp="1"/>
          </p:cNvSpPr>
          <p:nvPr>
            <p:ph idx="1"/>
          </p:nvPr>
        </p:nvSpPr>
        <p:spPr/>
        <p:txBody>
          <a:bodyPr/>
          <a:lstStyle/>
          <a:p>
            <a:r>
              <a:rPr lang="en-CA" dirty="0"/>
              <a:t>The accounting guidance for stock-based compensation requires measurement of compensation cost for </a:t>
            </a:r>
            <a:r>
              <a:rPr lang="en-CA" dirty="0" smtClean="0"/>
              <a:t>equity-based awards </a:t>
            </a:r>
            <a:r>
              <a:rPr lang="en-CA" dirty="0"/>
              <a:t>at fair value and recognition of compensation cost over the service period, net of </a:t>
            </a:r>
            <a:r>
              <a:rPr lang="en-CA" dirty="0" smtClean="0"/>
              <a:t>estimated forfeitures</a:t>
            </a:r>
            <a:endParaRPr lang="en-CA"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8092" y="3140967"/>
            <a:ext cx="8452340" cy="321445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95257460"/>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Deferred Stock Awards</a:t>
            </a:r>
            <a:endParaRPr lang="en-CA" dirty="0"/>
          </a:p>
        </p:txBody>
      </p:sp>
      <p:pic>
        <p:nvPicPr>
          <p:cNvPr id="2051"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0" y="1992447"/>
            <a:ext cx="8425607" cy="410445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97593326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Stock Awards</a:t>
            </a:r>
            <a:endParaRPr lang="en-CA" dirty="0"/>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0" y="2348880"/>
            <a:ext cx="8460432" cy="26071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51611766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CA" dirty="0" smtClean="0"/>
              <a:t>Thank You!</a:t>
            </a:r>
            <a:endParaRPr lang="en-CA" dirty="0"/>
          </a:p>
        </p:txBody>
      </p:sp>
    </p:spTree>
    <p:extLst>
      <p:ext uri="{BB962C8B-B14F-4D97-AF65-F5344CB8AC3E}">
        <p14:creationId xmlns:p14="http://schemas.microsoft.com/office/powerpoint/2010/main" xmlns="" val="262120846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1614</TotalTime>
  <Words>5565</Words>
  <Application>Microsoft Office PowerPoint</Application>
  <PresentationFormat>On-screen Show (4:3)</PresentationFormat>
  <Paragraphs>517</Paragraphs>
  <Slides>116</Slides>
  <Notes>23</Notes>
  <HiddenSlides>0</HiddenSlides>
  <MMClips>0</MMClips>
  <ScaleCrop>false</ScaleCrop>
  <HeadingPairs>
    <vt:vector size="4" baseType="variant">
      <vt:variant>
        <vt:lpstr>Theme</vt:lpstr>
      </vt:variant>
      <vt:variant>
        <vt:i4>1</vt:i4>
      </vt:variant>
      <vt:variant>
        <vt:lpstr>Slide Titles</vt:lpstr>
      </vt:variant>
      <vt:variant>
        <vt:i4>116</vt:i4>
      </vt:variant>
    </vt:vector>
  </HeadingPairs>
  <TitlesOfParts>
    <vt:vector size="117" baseType="lpstr">
      <vt:lpstr>Adjacency</vt:lpstr>
      <vt:lpstr>Morgan Stanley</vt:lpstr>
      <vt:lpstr>Slide 2</vt:lpstr>
      <vt:lpstr>Company Overview</vt:lpstr>
      <vt:lpstr>Global Offices</vt:lpstr>
      <vt:lpstr>Industry</vt:lpstr>
      <vt:lpstr>Competitors</vt:lpstr>
      <vt:lpstr>Three Core Businesses</vt:lpstr>
      <vt:lpstr>5-Year Net Annual Revenue</vt:lpstr>
      <vt:lpstr>Business Mix 2009 and 2010</vt:lpstr>
      <vt:lpstr>Asset level evaluation</vt:lpstr>
      <vt:lpstr>Decompose Assets According to the Three Levels</vt:lpstr>
      <vt:lpstr>Income Statement</vt:lpstr>
      <vt:lpstr>Income Statement (cont)</vt:lpstr>
      <vt:lpstr>Cash Flow Statement</vt:lpstr>
      <vt:lpstr>Cash Flow Statement (cont)</vt:lpstr>
      <vt:lpstr>Balance Sheet</vt:lpstr>
      <vt:lpstr>Balance Sheet (cont)</vt:lpstr>
      <vt:lpstr>Balance Sheet (cont)</vt:lpstr>
      <vt:lpstr>Balance Sheet (cont)</vt:lpstr>
      <vt:lpstr>Financial crisis</vt:lpstr>
      <vt:lpstr>Financial Crisis (cont)</vt:lpstr>
      <vt:lpstr>Future Considerations</vt:lpstr>
      <vt:lpstr>Risk management philosophy</vt:lpstr>
      <vt:lpstr>Types of risks</vt:lpstr>
      <vt:lpstr>Types of Risk</vt:lpstr>
      <vt:lpstr>Types of Risks</vt:lpstr>
      <vt:lpstr>Liquidity and Funding Risk</vt:lpstr>
      <vt:lpstr>Liquidity and Funding Risk</vt:lpstr>
      <vt:lpstr>Liquidity and Funding Risk</vt:lpstr>
      <vt:lpstr>Liquidity and Funding Risk</vt:lpstr>
      <vt:lpstr>Liquidity and Funding Risk</vt:lpstr>
      <vt:lpstr>Market Risk</vt:lpstr>
      <vt:lpstr>Market Risk</vt:lpstr>
      <vt:lpstr>Market Risk</vt:lpstr>
      <vt:lpstr>Market Risk</vt:lpstr>
      <vt:lpstr>Market Risk</vt:lpstr>
      <vt:lpstr>Market Risk</vt:lpstr>
      <vt:lpstr>Risk Management: Liquidity and Capital Resources</vt:lpstr>
      <vt:lpstr>Leverage Ratios</vt:lpstr>
      <vt:lpstr>Leverage Ratios</vt:lpstr>
      <vt:lpstr>Slide 41</vt:lpstr>
      <vt:lpstr>Capital Ratio</vt:lpstr>
      <vt:lpstr>Contingency Funding Plan (CFP)</vt:lpstr>
      <vt:lpstr>Contingency Funding Plan (CFP)</vt:lpstr>
      <vt:lpstr>Contingency Funding Plan (CFP)</vt:lpstr>
      <vt:lpstr>Global Liquidity Reserve</vt:lpstr>
      <vt:lpstr>Global Liquidity Reserve</vt:lpstr>
      <vt:lpstr>Capital Management Policies</vt:lpstr>
      <vt:lpstr>Funding Management Policies</vt:lpstr>
      <vt:lpstr>Credit Rating</vt:lpstr>
      <vt:lpstr>Required Capital</vt:lpstr>
      <vt:lpstr>Average Tier 1 Capital and Average Common Equity by Business Segment</vt:lpstr>
      <vt:lpstr>Regulatory Requirements</vt:lpstr>
      <vt:lpstr>Basel II</vt:lpstr>
      <vt:lpstr>Basel III</vt:lpstr>
      <vt:lpstr>Effects of Inflation and Changes in FX Rates</vt:lpstr>
      <vt:lpstr>Risk Management: Market Risk</vt:lpstr>
      <vt:lpstr>Market Risk Department</vt:lpstr>
      <vt:lpstr>Primary Market Risk Exposures</vt:lpstr>
      <vt:lpstr>Value at Risk (VaR)</vt:lpstr>
      <vt:lpstr>VaR Benefits and Limitations</vt:lpstr>
      <vt:lpstr>2010 95%/one-day VaR</vt:lpstr>
      <vt:lpstr>95% and 99% Average Trading VaR with Four-Year / One-Year Historical Time Series</vt:lpstr>
      <vt:lpstr>Slide 64</vt:lpstr>
      <vt:lpstr>Slide 65</vt:lpstr>
      <vt:lpstr>Non-Trading Risks</vt:lpstr>
      <vt:lpstr>Funding Liabilities</vt:lpstr>
      <vt:lpstr>Interest Rate Risk Sensitivity</vt:lpstr>
      <vt:lpstr>Investments</vt:lpstr>
      <vt:lpstr>Derivative Instruments and Hedging Activities</vt:lpstr>
      <vt:lpstr>Derivative Products</vt:lpstr>
      <vt:lpstr>OTC Derivative Products</vt:lpstr>
      <vt:lpstr>Hedge Accounting</vt:lpstr>
      <vt:lpstr>Hedge Accounting</vt:lpstr>
      <vt:lpstr>Value of (Non)-Accounting Hedges</vt:lpstr>
      <vt:lpstr>Derivatives Designated as Fair Value Hedges</vt:lpstr>
      <vt:lpstr>Derivatives Designated as Net Investment Hedges</vt:lpstr>
      <vt:lpstr>Slide 78</vt:lpstr>
      <vt:lpstr>Credit Derivatives and Other Credit Contracts</vt:lpstr>
      <vt:lpstr>Credit Risk</vt:lpstr>
      <vt:lpstr>Credit Risk</vt:lpstr>
      <vt:lpstr>Credit Risk Institutional Securities business segment</vt:lpstr>
      <vt:lpstr>Credit Risk Institutional Securities Activities</vt:lpstr>
      <vt:lpstr>Credit Risk Institutional Securities Activities (cont)</vt:lpstr>
      <vt:lpstr>Credit Exposure Corporate Lending</vt:lpstr>
      <vt:lpstr>Country Exposure</vt:lpstr>
      <vt:lpstr>Industry Exposure</vt:lpstr>
      <vt:lpstr>Credit Risk Management</vt:lpstr>
      <vt:lpstr>Analyzing Credit Risk</vt:lpstr>
      <vt:lpstr>Risk Mitigation</vt:lpstr>
      <vt:lpstr>Credit Risk Global Wealth Management Group business segment</vt:lpstr>
      <vt:lpstr>Credit Risk Global Wealth Management Group Activities</vt:lpstr>
      <vt:lpstr>Credit Risk Global Wealth Management Group Activities</vt:lpstr>
      <vt:lpstr>Credit Exposure Global Wealth Management Group Activities</vt:lpstr>
      <vt:lpstr>Credit Risk Default risk</vt:lpstr>
      <vt:lpstr>Credit Risk Systemic risk</vt:lpstr>
      <vt:lpstr>Operational Risk</vt:lpstr>
      <vt:lpstr>Operational Risk</vt:lpstr>
      <vt:lpstr>Operational Risk</vt:lpstr>
      <vt:lpstr>Operational Risk</vt:lpstr>
      <vt:lpstr>Operating Risk Management</vt:lpstr>
      <vt:lpstr>Operating Risk Management</vt:lpstr>
      <vt:lpstr>Operational risk Legal and Regulatory Risk</vt:lpstr>
      <vt:lpstr>Operational risk Legal and Regulatory Risk</vt:lpstr>
      <vt:lpstr>Operational risk Legal and Regulatory Risk</vt:lpstr>
      <vt:lpstr>Legal Risk Management</vt:lpstr>
      <vt:lpstr>Competitive environment risk</vt:lpstr>
      <vt:lpstr>International Risk</vt:lpstr>
      <vt:lpstr>Acquisition and Joint Venture Risk</vt:lpstr>
      <vt:lpstr>Compensation Practices</vt:lpstr>
      <vt:lpstr>Compensation Objectives and Strategy</vt:lpstr>
      <vt:lpstr>Executive Compensation (2009)</vt:lpstr>
      <vt:lpstr>Employee Stock-Based Compensation Plans</vt:lpstr>
      <vt:lpstr>Deferred Stock Awards</vt:lpstr>
      <vt:lpstr>Stock Awards</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Kevin</dc:creator>
  <cp:lastModifiedBy>gp</cp:lastModifiedBy>
  <cp:revision>136</cp:revision>
  <dcterms:created xsi:type="dcterms:W3CDTF">2011-03-06T23:40:25Z</dcterms:created>
  <dcterms:modified xsi:type="dcterms:W3CDTF">2011-03-11T20:36:27Z</dcterms:modified>
</cp:coreProperties>
</file>