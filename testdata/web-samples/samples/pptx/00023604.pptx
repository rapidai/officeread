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3.xml" ContentType="application/vnd.openxmlformats-officedocument.presentationml.slide+xml"/>
  <Override PartName="/ppt/presProps.xml" ContentType="application/vnd.openxmlformats-officedocument.presentationml.presProps+xml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99" r:id="rId5"/>
    <p:sldId id="259" r:id="rId6"/>
    <p:sldId id="262" r:id="rId7"/>
    <p:sldId id="284" r:id="rId8"/>
    <p:sldId id="301" r:id="rId9"/>
    <p:sldId id="285" r:id="rId10"/>
    <p:sldId id="286" r:id="rId11"/>
    <p:sldId id="287" r:id="rId12"/>
    <p:sldId id="281" r:id="rId13"/>
    <p:sldId id="260" r:id="rId14"/>
    <p:sldId id="266" r:id="rId15"/>
    <p:sldId id="288" r:id="rId16"/>
    <p:sldId id="264" r:id="rId17"/>
    <p:sldId id="302" r:id="rId18"/>
    <p:sldId id="275" r:id="rId19"/>
    <p:sldId id="268" r:id="rId20"/>
    <p:sldId id="292" r:id="rId21"/>
    <p:sldId id="291" r:id="rId22"/>
    <p:sldId id="293" r:id="rId23"/>
    <p:sldId id="294" r:id="rId24"/>
    <p:sldId id="303" r:id="rId25"/>
    <p:sldId id="295" r:id="rId26"/>
    <p:sldId id="296" r:id="rId27"/>
    <p:sldId id="297" r:id="rId28"/>
    <p:sldId id="298" r:id="rId29"/>
    <p:sldId id="278" r:id="rId30"/>
    <p:sldId id="267" r:id="rId31"/>
    <p:sldId id="290" r:id="rId32"/>
    <p:sldId id="279" r:id="rId33"/>
    <p:sldId id="280" r:id="rId34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4970" autoAdjust="0"/>
    <p:restoredTop sz="94660"/>
  </p:normalViewPr>
  <p:slideViewPr>
    <p:cSldViewPr snapToObjects="1">
      <p:cViewPr>
        <p:scale>
          <a:sx n="150" d="100"/>
          <a:sy n="150" d="100"/>
        </p:scale>
        <p:origin x="-1296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5" Type="http://schemas.openxmlformats.org/officeDocument/2006/relationships/notesMaster" Target="notesMasters/notesMaster1.xml"/><Relationship Id="rId31" Type="http://schemas.openxmlformats.org/officeDocument/2006/relationships/slide" Target="slides/slide30.xml"/><Relationship Id="rId34" Type="http://schemas.openxmlformats.org/officeDocument/2006/relationships/slide" Target="slides/slide33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7" Type="http://schemas.openxmlformats.org/officeDocument/2006/relationships/slide" Target="slides/slide6.xml"/><Relationship Id="rId36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29" Type="http://schemas.openxmlformats.org/officeDocument/2006/relationships/slide" Target="slides/slide28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33" Type="http://schemas.openxmlformats.org/officeDocument/2006/relationships/slide" Target="slides/slide3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38" Type="http://schemas.openxmlformats.org/officeDocument/2006/relationships/viewProps" Target="viewProps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AAAC7285-C30C-1D42-9C56-13A3207C2838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83CE0A97-5E03-FA4A-991E-B9E0819653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ＭＳ Ｐゴシック" pitchFamily="-6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>
              <a:ea typeface="ＭＳ Ｐゴシック" pitchFamily="-105" charset="-128"/>
              <a:cs typeface="ＭＳ Ｐゴシック" pitchFamily="-105" charset="-128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9560B10-9494-1C41-A237-BA962C652E2C}" type="slidenum">
              <a:rPr lang="en-US" smtClean="0">
                <a:latin typeface="Calibri" pitchFamily="-105" charset="0"/>
                <a:ea typeface="ＭＳ Ｐゴシック" pitchFamily="-105" charset="-128"/>
                <a:cs typeface="ＭＳ Ｐゴシック" pitchFamily="-105" charset="-128"/>
              </a:rPr>
              <a:pPr/>
              <a:t>18</a:t>
            </a:fld>
            <a:endParaRPr lang="en-US" smtClean="0">
              <a:latin typeface="Calibri" pitchFamily="-105" charset="0"/>
              <a:ea typeface="ＭＳ Ｐゴシック" pitchFamily="-105" charset="-128"/>
              <a:cs typeface="ＭＳ Ｐゴシック" pitchFamily="-105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85CED-3647-7F4C-A769-0ACB1CBF1D9B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E08A3-4546-E641-B2C1-24F99E5093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998E6-6F62-874E-953A-D8B20820BB54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BF0ED-DCD2-EC44-91BA-FEEB83473A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D8BC3-140A-C644-80CB-BBF0C2E13E27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36FDA-B094-8D43-BAA6-E53A7841E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B2A20-3CA8-F742-9EB8-EECAE79849C0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1D45-080D-9548-B65C-536487B313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A86E5-3059-6C4A-A6E0-0B758F05FDDF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A9346-FCCF-004F-BEBC-A8E66B896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9BB3D-E530-A24D-9AD4-2612E3C1849D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77D3A-BFB9-6543-9353-D7A75ACAC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BF65D-F1A8-2848-AD2F-79282A949EF2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D3097-78BD-1D40-9484-DF381FD47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ED578-5457-DB43-A1F2-51CFB0DC3221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20766-37A0-8B41-8540-2C3921445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358B1-D14C-0747-9002-D82A2A05EDBC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751C-5578-664F-B428-470BEEA983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A81CB-4E24-BC4C-8DED-C965563BA065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E7F14-404E-734A-8518-0C65AA044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1EE33-FFB8-D541-A3A9-EEC9D192BF63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1A7FB-0820-FD48-9CE6-220CECFD2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EF51F56-7D18-8146-B905-7EB7CC0E0E8D}" type="datetime1">
              <a:rPr lang="en-US"/>
              <a:pPr>
                <a:defRPr/>
              </a:pPr>
              <a:t>2/7/11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46C6D50F-238B-6A4C-80E2-2EC1665278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•"/>
        <a:defRPr sz="32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–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•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–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»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hpc.noaa.gov" TargetMode="External"/><Relationship Id="rId3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pc.noaa.gov" TargetMode="External"/><Relationship Id="rId3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53.png"/><Relationship Id="rId5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brfc.noaa.gov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hyperlink" Target="mailto:kevin.werner@noaa" TargetMode="External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CBRFC</a:t>
            </a:r>
            <a:b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February 2011</a:t>
            </a:r>
            <a:b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Water Supply Webinar</a:t>
            </a:r>
          </a:p>
        </p:txBody>
      </p:sp>
      <p:sp>
        <p:nvSpPr>
          <p:cNvPr id="1433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898989"/>
                </a:solidFill>
                <a:ea typeface="ＭＳ Ｐゴシック" pitchFamily="-105" charset="-128"/>
                <a:cs typeface="ＭＳ Ｐゴシック" pitchFamily="-105" charset="-128"/>
              </a:rPr>
              <a:t>1pm, February 7, 2011</a:t>
            </a:r>
          </a:p>
          <a:p>
            <a:pPr eaLnBrk="1" hangingPunct="1"/>
            <a:endParaRPr lang="en-US" dirty="0" smtClean="0">
              <a:solidFill>
                <a:srgbClr val="898989"/>
              </a:solidFill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/>
            <a:r>
              <a:rPr lang="en-US" dirty="0" smtClean="0">
                <a:solidFill>
                  <a:srgbClr val="898989"/>
                </a:solidFill>
                <a:ea typeface="ＭＳ Ｐゴシック" pitchFamily="-105" charset="-128"/>
                <a:cs typeface="ＭＳ Ｐゴシック" pitchFamily="-105" charset="-128"/>
              </a:rPr>
              <a:t>Kevin Werner</a:t>
            </a: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 pitchFamily="-105" charset="0"/>
              </a:rPr>
              <a:t>These slides: www.cbrfc.noaa.gov/present/present.php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528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Outline</a:t>
            </a:r>
          </a:p>
        </p:txBody>
      </p:sp>
      <p:sp>
        <p:nvSpPr>
          <p:cNvPr id="1536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52800" cy="4525963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January Weather Review</a:t>
            </a: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 States</a:t>
            </a: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Water Supply Forecasts</a:t>
            </a:r>
          </a:p>
        </p:txBody>
      </p:sp>
      <p:sp>
        <p:nvSpPr>
          <p:cNvPr id="15365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libri" pitchFamily="-105" charset="0"/>
              </a:rPr>
              <a:t>Web Reference: www.cbrfc.noaa.gov/wsup/pub2/map/html/cbrfc</a:t>
            </a:r>
            <a:r>
              <a:rPr lang="en-US" dirty="0" smtClean="0">
                <a:latin typeface="Calibri" pitchFamily="-105" charset="0"/>
              </a:rPr>
              <a:t>.1.2011.</a:t>
            </a:r>
            <a:r>
              <a:rPr lang="en-US" dirty="0">
                <a:latin typeface="Calibri" pitchFamily="-105" charset="0"/>
              </a:rPr>
              <a:t>html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0"/>
            <a:ext cx="4964860" cy="629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5"/>
          <p:cNvSpPr txBox="1">
            <a:spLocks noChangeArrowheads="1"/>
          </p:cNvSpPr>
          <p:nvPr/>
        </p:nvSpPr>
        <p:spPr bwMode="auto">
          <a:xfrm>
            <a:off x="3022600" y="6432550"/>
            <a:ext cx="58166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Calibri" pitchFamily="-105" charset="0"/>
              </a:rPr>
              <a:t>Web Reference: http://</a:t>
            </a:r>
            <a:r>
              <a:rPr lang="en-US" sz="1400" dirty="0" err="1">
                <a:latin typeface="Calibri" pitchFamily="-105" charset="0"/>
              </a:rPr>
              <a:t>www.cbrfc.noaa.</a:t>
            </a:r>
            <a:r>
              <a:rPr lang="en-US" sz="1400" dirty="0" err="1" smtClean="0">
                <a:latin typeface="Calibri" pitchFamily="-105" charset="0"/>
              </a:rPr>
              <a:t>gov</a:t>
            </a:r>
            <a:endParaRPr lang="en-US" sz="1400" dirty="0">
              <a:latin typeface="Calibri" pitchFamily="-105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1"/>
            <a:ext cx="3022600" cy="35044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25401"/>
            <a:ext cx="3044508" cy="35298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399" y="25401"/>
            <a:ext cx="3022601" cy="35044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76600"/>
            <a:ext cx="3022600" cy="35044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2895600"/>
            <a:ext cx="2913698" cy="3378200"/>
          </a:xfrm>
          <a:prstGeom prst="rect">
            <a:avLst/>
          </a:prstGeom>
          <a:ln w="50800">
            <a:solidFill>
              <a:srgbClr val="0000FF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13500" cy="36942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818" y="3276600"/>
            <a:ext cx="6212182" cy="358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152400" y="65500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http://www.cbrfc.noaa.gov/gmap/gmapm.php?scon=checked</a:t>
            </a:r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0" y="0"/>
            <a:ext cx="23368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5400" dirty="0"/>
              <a:t>Snow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r="26316"/>
          <a:stretch>
            <a:fillRect/>
          </a:stretch>
        </p:blipFill>
        <p:spPr>
          <a:xfrm>
            <a:off x="0" y="923925"/>
            <a:ext cx="2133600" cy="31220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1" y="0"/>
            <a:ext cx="6553200" cy="62659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191000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January 6 (above)</a:t>
            </a:r>
          </a:p>
          <a:p>
            <a:endParaRPr lang="en-US" dirty="0" smtClean="0"/>
          </a:p>
          <a:p>
            <a:r>
              <a:rPr lang="en-US" dirty="0" smtClean="0"/>
              <a:t>February 7 (right)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 r="32180"/>
          <a:stretch>
            <a:fillRect/>
          </a:stretch>
        </p:blipFill>
        <p:spPr>
          <a:xfrm>
            <a:off x="53009" y="1286632"/>
            <a:ext cx="2438400" cy="34377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409" y="1447800"/>
            <a:ext cx="5890591" cy="3927061"/>
          </a:xfrm>
          <a:prstGeom prst="rect">
            <a:avLst/>
          </a:prstGeom>
        </p:spPr>
      </p:pic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Snow: Upper Green Basin (above Flaming Gorge)</a:t>
            </a:r>
          </a:p>
        </p:txBody>
      </p:sp>
      <p:sp>
        <p:nvSpPr>
          <p:cNvPr id="8" name="Oval 7"/>
          <p:cNvSpPr/>
          <p:nvPr/>
        </p:nvSpPr>
        <p:spPr>
          <a:xfrm>
            <a:off x="1066800" y="1447800"/>
            <a:ext cx="609600" cy="7239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676400" y="1809750"/>
            <a:ext cx="1752600" cy="36195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409" y="1447799"/>
            <a:ext cx="5890591" cy="39270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 r="32180"/>
          <a:stretch>
            <a:fillRect/>
          </a:stretch>
        </p:blipFill>
        <p:spPr>
          <a:xfrm>
            <a:off x="0" y="1447800"/>
            <a:ext cx="2438400" cy="3437768"/>
          </a:xfrm>
          <a:prstGeom prst="rect">
            <a:avLst/>
          </a:prstGeom>
        </p:spPr>
      </p:pic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Colorado Mainstem (above Cameo)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438400"/>
            <a:ext cx="609600" cy="6477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2362200" y="2762250"/>
            <a:ext cx="9144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347788"/>
            <a:ext cx="5867400" cy="3911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1347788"/>
            <a:ext cx="5867400" cy="391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32180"/>
          <a:stretch>
            <a:fillRect/>
          </a:stretch>
        </p:blipFill>
        <p:spPr>
          <a:xfrm>
            <a:off x="0" y="1447800"/>
            <a:ext cx="2438400" cy="3437768"/>
          </a:xfrm>
          <a:prstGeom prst="rect">
            <a:avLst/>
          </a:prstGeom>
        </p:spPr>
      </p:pic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Gunnison Basin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763838"/>
            <a:ext cx="457200" cy="436561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 flipV="1">
            <a:off x="2209800" y="2765429"/>
            <a:ext cx="1066800" cy="21669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524000"/>
            <a:ext cx="5867400" cy="39116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1524000"/>
            <a:ext cx="5867400" cy="3911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1524000"/>
            <a:ext cx="5867400" cy="391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 r="32180"/>
          <a:stretch>
            <a:fillRect/>
          </a:stretch>
        </p:blipFill>
        <p:spPr>
          <a:xfrm>
            <a:off x="0" y="1447800"/>
            <a:ext cx="2438400" cy="3437768"/>
          </a:xfrm>
          <a:prstGeom prst="rect">
            <a:avLst/>
          </a:prstGeom>
        </p:spPr>
      </p:pic>
      <p:sp>
        <p:nvSpPr>
          <p:cNvPr id="20483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048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San Juan Basin</a:t>
            </a:r>
          </a:p>
        </p:txBody>
      </p:sp>
      <p:sp>
        <p:nvSpPr>
          <p:cNvPr id="8" name="Oval 7"/>
          <p:cNvSpPr/>
          <p:nvPr/>
        </p:nvSpPr>
        <p:spPr>
          <a:xfrm>
            <a:off x="1600200" y="3200400"/>
            <a:ext cx="609600" cy="3048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2209800" y="3352800"/>
            <a:ext cx="6858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473200"/>
            <a:ext cx="5791200" cy="3860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473200"/>
            <a:ext cx="5943600" cy="396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32180"/>
          <a:stretch>
            <a:fillRect/>
          </a:stretch>
        </p:blipFill>
        <p:spPr>
          <a:xfrm>
            <a:off x="0" y="1447800"/>
            <a:ext cx="2438400" cy="3437768"/>
          </a:xfrm>
          <a:prstGeom prst="rect">
            <a:avLst/>
          </a:prstGeom>
        </p:spPr>
      </p:pic>
      <p:sp>
        <p:nvSpPr>
          <p:cNvPr id="21507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1509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Lower Colorado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733800"/>
            <a:ext cx="1219200" cy="10668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 flipV="1">
            <a:off x="1905000" y="3733800"/>
            <a:ext cx="1123950" cy="53340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1295400"/>
            <a:ext cx="6057900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32180"/>
          <a:stretch>
            <a:fillRect/>
          </a:stretch>
        </p:blipFill>
        <p:spPr>
          <a:xfrm>
            <a:off x="0" y="1447800"/>
            <a:ext cx="2438400" cy="3437768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Six Creeks in Salt Lake County</a:t>
            </a:r>
          </a:p>
        </p:txBody>
      </p:sp>
      <p:sp>
        <p:nvSpPr>
          <p:cNvPr id="8" name="Oval 7"/>
          <p:cNvSpPr/>
          <p:nvPr/>
        </p:nvSpPr>
        <p:spPr>
          <a:xfrm>
            <a:off x="838200" y="2265363"/>
            <a:ext cx="228600" cy="325437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066800" y="2427288"/>
            <a:ext cx="1981200" cy="3175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524000"/>
            <a:ext cx="5943600" cy="3962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447800"/>
            <a:ext cx="6019800" cy="401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Snow Maps</a:t>
            </a:r>
          </a:p>
        </p:txBody>
      </p:sp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152400" y="6273800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http://www.nohrsc.nws.gov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399"/>
            <a:ext cx="8229600" cy="52851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Last 7 days…</a:t>
            </a:r>
          </a:p>
        </p:txBody>
      </p:sp>
      <p:sp>
        <p:nvSpPr>
          <p:cNvPr id="24579" name="TextBox 4"/>
          <p:cNvSpPr txBox="1">
            <a:spLocks noChangeArrowheads="1"/>
          </p:cNvSpPr>
          <p:nvPr/>
        </p:nvSpPr>
        <p:spPr bwMode="auto">
          <a:xfrm>
            <a:off x="152400" y="6119813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http://water.weather.gov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4570497" cy="3581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814" y="2209800"/>
            <a:ext cx="4592185" cy="3390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Forecast Precipitation</a:t>
            </a:r>
          </a:p>
        </p:txBody>
      </p:sp>
      <p:sp>
        <p:nvSpPr>
          <p:cNvPr id="25603" name="TextBox 4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</a:t>
            </a:r>
            <a:r>
              <a:rPr lang="en-US" sz="1400">
                <a:latin typeface="Calibri" pitchFamily="-105" charset="0"/>
                <a:hlinkClick r:id="rId2"/>
              </a:rPr>
              <a:t>www.hpc.noaa.gov</a:t>
            </a:r>
            <a:r>
              <a:rPr lang="en-US" sz="1400">
                <a:latin typeface="Calibri" pitchFamily="-105" charset="0"/>
              </a:rPr>
              <a:t> </a:t>
            </a:r>
          </a:p>
        </p:txBody>
      </p:sp>
      <p:sp>
        <p:nvSpPr>
          <p:cNvPr id="25604" name="TextBox 7"/>
          <p:cNvSpPr txBox="1">
            <a:spLocks noChangeArrowheads="1"/>
          </p:cNvSpPr>
          <p:nvPr/>
        </p:nvSpPr>
        <p:spPr bwMode="auto">
          <a:xfrm>
            <a:off x="152400" y="4622800"/>
            <a:ext cx="3733800" cy="1754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 typeface="Arial" pitchFamily="-105" charset="0"/>
              <a:buChar char="•"/>
            </a:pPr>
            <a:r>
              <a:rPr lang="en-US" dirty="0" smtClean="0"/>
              <a:t>One storm</a:t>
            </a:r>
            <a:r>
              <a:rPr lang="en-US" dirty="0" smtClean="0"/>
              <a:t> Mon/Tues/Wed (max SWE ~1”)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Second small storm early next week (max SWE ~1/2”)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Third, more major, but uncertain, storm late next week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38199"/>
            <a:ext cx="4495800" cy="33688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138" y="1219200"/>
            <a:ext cx="4550862" cy="4666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4953000" cy="1143000"/>
          </a:xfrm>
        </p:spPr>
        <p:txBody>
          <a:bodyPr/>
          <a:lstStyle/>
          <a:p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La Nina Update</a:t>
            </a:r>
          </a:p>
        </p:txBody>
      </p:sp>
      <p:sp>
        <p:nvSpPr>
          <p:cNvPr id="26630" name="TextBox 5"/>
          <p:cNvSpPr txBox="1">
            <a:spLocks noChangeArrowheads="1"/>
          </p:cNvSpPr>
          <p:nvPr/>
        </p:nvSpPr>
        <p:spPr bwMode="auto">
          <a:xfrm>
            <a:off x="152400" y="6427788"/>
            <a:ext cx="8686800" cy="306387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</a:t>
            </a:r>
            <a:r>
              <a:rPr lang="en-US" sz="1400">
                <a:latin typeface="Calibri" pitchFamily="-105" charset="0"/>
                <a:hlinkClick r:id="rId2"/>
              </a:rPr>
              <a:t>http://www.cpc.noaa.gov</a:t>
            </a:r>
            <a:r>
              <a:rPr lang="en-US" sz="1400">
                <a:latin typeface="Calibri" pitchFamily="-105" charset="0"/>
              </a:rPr>
              <a:t> and iri.columbia.edu/climate/ENSO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52399"/>
            <a:ext cx="2502910" cy="28791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990600"/>
            <a:ext cx="4343400" cy="5113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418" y="3276600"/>
            <a:ext cx="3534566" cy="297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5"/>
          <p:cNvSpPr txBox="1">
            <a:spLocks noChangeArrowheads="1"/>
          </p:cNvSpPr>
          <p:nvPr/>
        </p:nvSpPr>
        <p:spPr bwMode="auto">
          <a:xfrm>
            <a:off x="152400" y="6427788"/>
            <a:ext cx="8686800" cy="306387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http://www.cbrfc.noaa.gov/climate/climoForecasts.cgi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3362724" cy="3124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" y="3276600"/>
            <a:ext cx="3361015" cy="31226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rcRect b="18482"/>
          <a:stretch>
            <a:fillRect/>
          </a:stretch>
        </p:blipFill>
        <p:spPr>
          <a:xfrm>
            <a:off x="3657600" y="12699"/>
            <a:ext cx="5486399" cy="57877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457200" y="17463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Soil Moisture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1517650"/>
            <a:ext cx="4125913" cy="534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0" y="1479550"/>
            <a:ext cx="4281488" cy="55407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Box 4"/>
          <p:cNvSpPr txBox="1">
            <a:spLocks noChangeArrowheads="1"/>
          </p:cNvSpPr>
          <p:nvPr/>
        </p:nvSpPr>
        <p:spPr bwMode="auto">
          <a:xfrm>
            <a:off x="222250" y="65500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sp>
        <p:nvSpPr>
          <p:cNvPr id="29700" name="TextBox 6"/>
          <p:cNvSpPr txBox="1">
            <a:spLocks noChangeArrowheads="1"/>
          </p:cNvSpPr>
          <p:nvPr/>
        </p:nvSpPr>
        <p:spPr bwMode="auto">
          <a:xfrm>
            <a:off x="0" y="381000"/>
            <a:ext cx="2362200" cy="5909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 smtClean="0"/>
              <a:t>February 1, 2011</a:t>
            </a:r>
          </a:p>
          <a:p>
            <a:r>
              <a:rPr lang="en-US" dirty="0"/>
              <a:t>Water Supply Forecasts</a:t>
            </a:r>
          </a:p>
          <a:p>
            <a:endParaRPr lang="en-US" dirty="0"/>
          </a:p>
          <a:p>
            <a:r>
              <a:rPr lang="en-US" dirty="0"/>
              <a:t>Highlights: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</a:t>
            </a:r>
            <a:r>
              <a:rPr lang="en-US" dirty="0" smtClean="0"/>
              <a:t>Forecasts generally lower than Jan 1 forecasts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Upper Colorado forecasts </a:t>
            </a:r>
            <a:r>
              <a:rPr lang="en-US" dirty="0" smtClean="0"/>
              <a:t>are little changed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San Juan and lower basin forecasts are much lower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Great Basin and Upper Colorado </a:t>
            </a:r>
            <a:r>
              <a:rPr lang="en-US" dirty="0" smtClean="0"/>
              <a:t>forecasts still mostly above average values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Lower </a:t>
            </a:r>
            <a:r>
              <a:rPr lang="en-US" dirty="0" smtClean="0"/>
              <a:t>basin quite dry (except Virgin)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0"/>
            <a:ext cx="6553200" cy="64700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174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1749" name="Group 9"/>
          <p:cNvGrpSpPr>
            <a:grpSpLocks/>
          </p:cNvGrpSpPr>
          <p:nvPr/>
        </p:nvGrpSpPr>
        <p:grpSpPr bwMode="auto">
          <a:xfrm>
            <a:off x="1600200" y="990600"/>
            <a:ext cx="1600200" cy="609600"/>
            <a:chOff x="1905000" y="1219200"/>
            <a:chExt cx="1600200" cy="6096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219200" cy="3810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49927"/>
            <a:ext cx="5334000" cy="140368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693" y="1997075"/>
            <a:ext cx="5499935" cy="3870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2771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2773" name="Group 9"/>
          <p:cNvGrpSpPr>
            <a:grpSpLocks/>
          </p:cNvGrpSpPr>
          <p:nvPr/>
        </p:nvGrpSpPr>
        <p:grpSpPr bwMode="auto">
          <a:xfrm>
            <a:off x="1905000" y="1524000"/>
            <a:ext cx="1600200" cy="609600"/>
            <a:chOff x="1905000" y="1219200"/>
            <a:chExt cx="1600200" cy="6096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219200" cy="3810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28600"/>
            <a:ext cx="5207000" cy="13925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192" y="228600"/>
            <a:ext cx="5092700" cy="136651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908" y="1752600"/>
            <a:ext cx="5369092" cy="377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3795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3796" name="Group 9"/>
          <p:cNvGrpSpPr>
            <a:grpSpLocks/>
          </p:cNvGrpSpPr>
          <p:nvPr/>
        </p:nvGrpSpPr>
        <p:grpSpPr bwMode="auto">
          <a:xfrm>
            <a:off x="2133600" y="1752600"/>
            <a:ext cx="1219200" cy="457200"/>
            <a:chOff x="1905000" y="1219200"/>
            <a:chExt cx="12192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8382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1" y="1981200"/>
            <a:ext cx="5537200" cy="389654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1" y="349927"/>
            <a:ext cx="5638799" cy="151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4819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4821" name="Group 9"/>
          <p:cNvGrpSpPr>
            <a:grpSpLocks/>
          </p:cNvGrpSpPr>
          <p:nvPr/>
        </p:nvGrpSpPr>
        <p:grpSpPr bwMode="auto">
          <a:xfrm>
            <a:off x="2057400" y="2286000"/>
            <a:ext cx="1295400" cy="457200"/>
            <a:chOff x="1905000" y="1219200"/>
            <a:chExt cx="1295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914400" cy="1588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1877370"/>
            <a:ext cx="5562600" cy="391442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23858"/>
            <a:ext cx="5562599" cy="15089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5844" name="Group 9"/>
          <p:cNvGrpSpPr>
            <a:grpSpLocks/>
          </p:cNvGrpSpPr>
          <p:nvPr/>
        </p:nvGrpSpPr>
        <p:grpSpPr bwMode="auto">
          <a:xfrm>
            <a:off x="1066800" y="228600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1588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152400" y="4648200"/>
            <a:ext cx="4572000" cy="175432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Example ESP guidance:</a:t>
            </a:r>
          </a:p>
          <a:p>
            <a:r>
              <a:rPr lang="en-US" dirty="0" smtClean="0"/>
              <a:t>Official Forecast:       120%</a:t>
            </a:r>
          </a:p>
          <a:p>
            <a:r>
              <a:rPr lang="en-US" dirty="0" smtClean="0"/>
              <a:t>ESP with QPF:          125%</a:t>
            </a:r>
          </a:p>
          <a:p>
            <a:r>
              <a:rPr lang="en-US" dirty="0" smtClean="0"/>
              <a:t>ESP no QPF:            131%</a:t>
            </a:r>
          </a:p>
          <a:p>
            <a:r>
              <a:rPr lang="en-US" dirty="0" smtClean="0"/>
              <a:t>ESP with GFS/CFS:  125%</a:t>
            </a:r>
          </a:p>
          <a:p>
            <a:r>
              <a:rPr lang="en-US" dirty="0" smtClean="0"/>
              <a:t>ESP with GFS:          131%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937" y="1981200"/>
            <a:ext cx="5739064" cy="40386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937" y="179388"/>
            <a:ext cx="5739064" cy="15348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r="66124"/>
          <a:stretch>
            <a:fillRect/>
          </a:stretch>
        </p:blipFill>
        <p:spPr>
          <a:xfrm>
            <a:off x="0" y="0"/>
            <a:ext cx="9525000" cy="24895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63956"/>
          <a:stretch>
            <a:fillRect/>
          </a:stretch>
        </p:blipFill>
        <p:spPr>
          <a:xfrm>
            <a:off x="0" y="4611747"/>
            <a:ext cx="9144000" cy="22462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33876" r="36043"/>
          <a:stretch>
            <a:fillRect/>
          </a:stretch>
        </p:blipFill>
        <p:spPr>
          <a:xfrm>
            <a:off x="0" y="2489597"/>
            <a:ext cx="8458200" cy="248959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17499" y="1227667"/>
            <a:ext cx="9182100" cy="158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723900" y="3716869"/>
            <a:ext cx="9182100" cy="158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762000" y="5729819"/>
            <a:ext cx="9182100" cy="158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6868" name="Group 9"/>
          <p:cNvGrpSpPr>
            <a:grpSpLocks/>
          </p:cNvGrpSpPr>
          <p:nvPr/>
        </p:nvGrpSpPr>
        <p:grpSpPr bwMode="auto">
          <a:xfrm>
            <a:off x="1143000" y="114300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237" y="2133600"/>
            <a:ext cx="5739063" cy="40386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950" y="349927"/>
            <a:ext cx="5848350" cy="1571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7892" name="Group 9"/>
          <p:cNvGrpSpPr>
            <a:grpSpLocks/>
          </p:cNvGrpSpPr>
          <p:nvPr/>
        </p:nvGrpSpPr>
        <p:grpSpPr bwMode="auto">
          <a:xfrm>
            <a:off x="1143000" y="114300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428" y="2133600"/>
            <a:ext cx="5522495" cy="3886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339" y="670263"/>
            <a:ext cx="5271584" cy="1402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8916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8917" name="Group 9"/>
          <p:cNvGrpSpPr>
            <a:grpSpLocks/>
          </p:cNvGrpSpPr>
          <p:nvPr/>
        </p:nvGrpSpPr>
        <p:grpSpPr bwMode="auto">
          <a:xfrm>
            <a:off x="1219200" y="3276600"/>
            <a:ext cx="1787525" cy="457200"/>
            <a:chOff x="1981200" y="3352800"/>
            <a:chExt cx="1787995" cy="457200"/>
          </a:xfrm>
        </p:grpSpPr>
        <p:sp>
          <p:nvSpPr>
            <p:cNvPr id="6" name="Oval 5"/>
            <p:cNvSpPr/>
            <p:nvPr/>
          </p:nvSpPr>
          <p:spPr>
            <a:xfrm>
              <a:off x="1981200" y="3352800"/>
              <a:ext cx="3811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362300" y="3581400"/>
              <a:ext cx="1406895" cy="1588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514600"/>
            <a:ext cx="5615164" cy="39514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2331508"/>
            <a:ext cx="5886450" cy="41423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457200"/>
            <a:ext cx="579120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r="30233"/>
          <a:stretch>
            <a:fillRect/>
          </a:stretch>
        </p:blipFill>
        <p:spPr>
          <a:xfrm>
            <a:off x="252412" y="349927"/>
            <a:ext cx="2695575" cy="3814612"/>
          </a:xfrm>
          <a:prstGeom prst="rect">
            <a:avLst/>
          </a:prstGeom>
        </p:spPr>
      </p:pic>
      <p:sp>
        <p:nvSpPr>
          <p:cNvPr id="39939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9941" name="Group 9"/>
          <p:cNvGrpSpPr>
            <a:grpSpLocks/>
          </p:cNvGrpSpPr>
          <p:nvPr/>
        </p:nvGrpSpPr>
        <p:grpSpPr bwMode="auto">
          <a:xfrm>
            <a:off x="1828800" y="3429000"/>
            <a:ext cx="1787525" cy="457200"/>
            <a:chOff x="1981200" y="3352800"/>
            <a:chExt cx="1787995" cy="457200"/>
          </a:xfrm>
        </p:grpSpPr>
        <p:sp>
          <p:nvSpPr>
            <p:cNvPr id="6" name="Oval 5"/>
            <p:cNvSpPr/>
            <p:nvPr/>
          </p:nvSpPr>
          <p:spPr>
            <a:xfrm>
              <a:off x="1981200" y="3352800"/>
              <a:ext cx="3811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362300" y="3581400"/>
              <a:ext cx="1406895" cy="1588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325" y="840798"/>
            <a:ext cx="5386388" cy="14690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325" y="2415113"/>
            <a:ext cx="5386388" cy="37904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528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-105" charset="-128"/>
                <a:cs typeface="ＭＳ Ｐゴシック" pitchFamily="-105" charset="-128"/>
              </a:rPr>
              <a:t>Online Publication</a:t>
            </a:r>
          </a:p>
        </p:txBody>
      </p:sp>
      <p:sp>
        <p:nvSpPr>
          <p:cNvPr id="40964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 pitchFamily="-105" charset="0"/>
              </a:rPr>
              <a:t>Web Reference: www.cbrfc.noaa.gov/wsup/pub2/map/html/cpub.php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140" y="0"/>
            <a:ext cx="4964860" cy="629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4"/>
          <p:cNvSpPr txBox="1">
            <a:spLocks noChangeArrowheads="1"/>
          </p:cNvSpPr>
          <p:nvPr/>
        </p:nvSpPr>
        <p:spPr bwMode="auto">
          <a:xfrm>
            <a:off x="152400" y="6488113"/>
            <a:ext cx="8686800" cy="369887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 pitchFamily="-105" charset="0"/>
              </a:rPr>
              <a:t>Web Reference: www.cbrfc.noaa.gov/wsup/pub2/map/html/cpub.php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956404" cy="59515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867" y="0"/>
            <a:ext cx="4284133" cy="640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-296863"/>
            <a:ext cx="8229600" cy="1143001"/>
          </a:xfrm>
        </p:spPr>
        <p:txBody>
          <a:bodyPr/>
          <a:lstStyle/>
          <a:p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CBRFC News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4648200" cy="1219200"/>
          </a:xfrm>
        </p:spPr>
        <p:txBody>
          <a:bodyPr/>
          <a:lstStyle/>
          <a:p>
            <a:r>
              <a:rPr lang="en-US" sz="2000" dirty="0" smtClean="0">
                <a:ea typeface="ＭＳ Ｐゴシック" pitchFamily="-105" charset="-128"/>
                <a:cs typeface="ＭＳ Ｐゴシック" pitchFamily="-105" charset="-128"/>
              </a:rPr>
              <a:t>Basin Focal Points (Available to discuss forecasts: 801.524.5130)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Upper Colorado: Brenda Alcorn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Green: Ashley Nielson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San Juan / Gunnison: Tracy Cox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Great Basin: Brent Bernard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Lower Colorado (below Lake Powell): Greg Smith</a:t>
            </a:r>
          </a:p>
          <a:p>
            <a:r>
              <a:rPr lang="en-US" sz="2000" dirty="0" smtClean="0">
                <a:ea typeface="ＭＳ Ｐゴシック" pitchFamily="-105" charset="-128"/>
                <a:cs typeface="ＭＳ Ｐゴシック" pitchFamily="-105" charset="-128"/>
              </a:rPr>
              <a:t>Here now: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Sign up for all webinars through May 2011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Weekly ESP model guidance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Email product updates via </a:t>
            </a:r>
            <a:r>
              <a:rPr lang="en-US" sz="1600" dirty="0" err="1" smtClean="0">
                <a:ea typeface="ＭＳ Ｐゴシック" pitchFamily="-105" charset="-128"/>
                <a:cs typeface="ＭＳ Ｐゴシック" pitchFamily="-105" charset="-128"/>
              </a:rPr>
              <a:t>govdelivery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 (can add more products /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 </a:t>
            </a:r>
            <a:r>
              <a:rPr lang="en-US" sz="1600" dirty="0" err="1" smtClean="0">
                <a:ea typeface="ＭＳ Ｐゴシック" pitchFamily="-105" charset="-128"/>
                <a:cs typeface="ＭＳ Ｐゴシック" pitchFamily="-105" charset="-128"/>
              </a:rPr>
              <a:t>webpages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 upon request)</a:t>
            </a:r>
            <a:endParaRPr lang="en-US" sz="1600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Changes to CBRFC 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webpage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Blog (</a:t>
            </a:r>
            <a:r>
              <a:rPr lang="en-US" sz="1600" dirty="0" err="1" smtClean="0">
                <a:ea typeface="ＭＳ Ｐゴシック" pitchFamily="-105" charset="-128"/>
                <a:cs typeface="ＭＳ Ｐゴシック" pitchFamily="-105" charset="-128"/>
              </a:rPr>
              <a:t>blog.citizen.apps.gov/cbrfc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)</a:t>
            </a:r>
            <a:endParaRPr lang="en-US" sz="1600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r>
              <a:rPr lang="en-US" sz="2000" dirty="0" smtClean="0">
                <a:ea typeface="ＭＳ Ｐゴシック" pitchFamily="-105" charset="-128"/>
                <a:cs typeface="ＭＳ Ｐゴシック" pitchFamily="-105" charset="-128"/>
              </a:rPr>
              <a:t>Coming soon: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New water supply publication 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–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 will share next month</a:t>
            </a:r>
            <a:endParaRPr lang="en-US" sz="1600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pPr lvl="1">
              <a:buNone/>
            </a:pPr>
            <a:endParaRPr lang="en-US" sz="1600" dirty="0" smtClean="0">
              <a:ea typeface="ＭＳ Ｐゴシック" pitchFamily="-105" charset="-128"/>
              <a:cs typeface="ＭＳ Ｐゴシック" pitchFamily="-105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00200"/>
            <a:ext cx="3756197" cy="358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More Resources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  <a:hlinkClick r:id="rId2"/>
              </a:rPr>
              <a:t>www.cbrfc.noaa.gov</a:t>
            </a:r>
            <a:endParaRPr lang="en-US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/>
            <a:r>
              <a:rPr lang="en-US" dirty="0" err="1" smtClean="0">
                <a:ea typeface="ＭＳ Ｐゴシック" pitchFamily="-105" charset="-128"/>
                <a:cs typeface="ＭＳ Ｐゴシック" pitchFamily="-105" charset="-128"/>
              </a:rPr>
              <a:t>Wateroutlook.nwrfc.noaa.gov</a:t>
            </a:r>
            <a:endParaRPr lang="en-US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>
              <a:buNone/>
            </a:pPr>
            <a:endParaRPr lang="en-US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Tentative</a:t>
            </a: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 March </a:t>
            </a: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webinar: 1pm</a:t>
            </a: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 </a:t>
            </a: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Mar</a:t>
            </a: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 </a:t>
            </a: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7</a:t>
            </a:r>
          </a:p>
          <a:p>
            <a:pPr eaLnBrk="1" hangingPunct="1">
              <a:buFont typeface="Arial" pitchFamily="-105" charset="0"/>
              <a:buNone/>
            </a:pPr>
            <a:endParaRPr lang="en-US" dirty="0" smtClean="0">
              <a:ea typeface="ＭＳ Ｐゴシック" pitchFamily="-105" charset="-128"/>
              <a:cs typeface="ＭＳ Ｐゴシック" pitchFamily="-10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7"/>
          <p:cNvGrpSpPr>
            <a:grpSpLocks/>
          </p:cNvGrpSpPr>
          <p:nvPr/>
        </p:nvGrpSpPr>
        <p:grpSpPr bwMode="auto">
          <a:xfrm>
            <a:off x="1143000" y="2438400"/>
            <a:ext cx="6591300" cy="2020888"/>
            <a:chOff x="720" y="2352"/>
            <a:chExt cx="4152" cy="1273"/>
          </a:xfrm>
        </p:grpSpPr>
        <p:pic>
          <p:nvPicPr>
            <p:cNvPr id="45060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36" y="2352"/>
              <a:ext cx="936" cy="9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1" name="Picture 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16" y="2352"/>
              <a:ext cx="774" cy="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62" name="TextBox 3"/>
            <p:cNvSpPr txBox="1">
              <a:spLocks noChangeArrowheads="1"/>
            </p:cNvSpPr>
            <p:nvPr/>
          </p:nvSpPr>
          <p:spPr bwMode="auto">
            <a:xfrm>
              <a:off x="720" y="2352"/>
              <a:ext cx="4152" cy="127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endParaRPr lang="en-US" b="1">
                <a:latin typeface="Calibri" pitchFamily="-105" charset="0"/>
              </a:endParaRPr>
            </a:p>
            <a:p>
              <a:pPr algn="ctr"/>
              <a:r>
                <a:rPr lang="en-US" b="1">
                  <a:latin typeface="Calibri" pitchFamily="-105" charset="0"/>
                </a:rPr>
                <a:t>Kevin Werner</a:t>
              </a:r>
            </a:p>
            <a:p>
              <a:pPr algn="ctr"/>
              <a:endParaRPr lang="en-US" b="1">
                <a:latin typeface="Calibri" pitchFamily="-105" charset="0"/>
              </a:endParaRPr>
            </a:p>
            <a:p>
              <a:pPr algn="ctr"/>
              <a:r>
                <a:rPr lang="en-US">
                  <a:latin typeface="Calibri" pitchFamily="-105" charset="0"/>
                </a:rPr>
                <a:t>CBRFC Service Coordination Hydrologist</a:t>
              </a:r>
            </a:p>
            <a:p>
              <a:pPr algn="ctr"/>
              <a:r>
                <a:rPr lang="en-US">
                  <a:latin typeface="Calibri" pitchFamily="-105" charset="0"/>
                </a:rPr>
                <a:t>Phone: 801.524.5130</a:t>
              </a:r>
            </a:p>
            <a:p>
              <a:pPr algn="ctr"/>
              <a:r>
                <a:rPr lang="en-US">
                  <a:latin typeface="Calibri" pitchFamily="-105" charset="0"/>
                </a:rPr>
                <a:t>Email: </a:t>
              </a:r>
              <a:r>
                <a:rPr lang="en-US">
                  <a:latin typeface="Calibri" pitchFamily="-105" charset="0"/>
                  <a:hlinkClick r:id="rId4"/>
                </a:rPr>
                <a:t>kevin.werner@noaa</a:t>
              </a:r>
              <a:r>
                <a:rPr lang="en-US">
                  <a:latin typeface="Calibri" pitchFamily="-105" charset="0"/>
                </a:rPr>
                <a:t>.gov</a:t>
              </a:r>
            </a:p>
          </p:txBody>
        </p:sp>
      </p:grpSp>
      <p:sp>
        <p:nvSpPr>
          <p:cNvPr id="45059" name="TextBox 5"/>
          <p:cNvSpPr txBox="1">
            <a:spLocks noChangeArrowheads="1"/>
          </p:cNvSpPr>
          <p:nvPr/>
        </p:nvSpPr>
        <p:spPr bwMode="auto">
          <a:xfrm>
            <a:off x="838200" y="381000"/>
            <a:ext cx="762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pitchFamily="-105" charset="0"/>
              </a:rPr>
              <a:t>Feedback, Questions, Concerns always welcome….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9186</TotalTime>
  <Words>937</Words>
  <Application>Microsoft Macintosh PowerPoint</Application>
  <PresentationFormat>On-screen Show (4:3)</PresentationFormat>
  <Paragraphs>97</Paragraphs>
  <Slides>33</Slides>
  <Notes>1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CBRFC February 2011 Water Supply Webinar</vt:lpstr>
      <vt:lpstr>Outline</vt:lpstr>
      <vt:lpstr>Slide 3</vt:lpstr>
      <vt:lpstr>Slide 4</vt:lpstr>
      <vt:lpstr>Slide 5</vt:lpstr>
      <vt:lpstr>Snow: Upper Green Basin (above Flaming Gorge)</vt:lpstr>
      <vt:lpstr>Snow: Colorado Mainstem (above Cameo)</vt:lpstr>
      <vt:lpstr>Snow: Gunnison Basin</vt:lpstr>
      <vt:lpstr>Snow: San Juan Basin</vt:lpstr>
      <vt:lpstr>Snow: Lower Colorado</vt:lpstr>
      <vt:lpstr>Snow: Six Creeks in Salt Lake County</vt:lpstr>
      <vt:lpstr>Snow Maps</vt:lpstr>
      <vt:lpstr>Last 7 days…</vt:lpstr>
      <vt:lpstr>Forecast Precipitation</vt:lpstr>
      <vt:lpstr>La Nina Update</vt:lpstr>
      <vt:lpstr>Slide 16</vt:lpstr>
      <vt:lpstr>Soil Moisture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Online Publication</vt:lpstr>
      <vt:lpstr>Slide 30</vt:lpstr>
      <vt:lpstr>CBRFC News</vt:lpstr>
      <vt:lpstr>More Resources</vt:lpstr>
      <vt:lpstr>Slide 33</vt:lpstr>
    </vt:vector>
  </TitlesOfParts>
  <Company>NWS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CBRFC March 2009 Water Supply Webinar</dc:title>
  <dc:creator>kvw</dc:creator>
  <cp:lastModifiedBy>Kevin Werner</cp:lastModifiedBy>
  <cp:revision>21</cp:revision>
  <dcterms:created xsi:type="dcterms:W3CDTF">2011-02-07T16:59:36Z</dcterms:created>
  <dcterms:modified xsi:type="dcterms:W3CDTF">2011-02-07T18:18:08Z</dcterms:modified>
</cp:coreProperties>
</file>