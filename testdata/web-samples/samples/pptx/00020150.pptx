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handoutMasterIdLst>
    <p:handoutMasterId r:id="rId17"/>
  </p:handoutMasterIdLst>
  <p:sldIdLst>
    <p:sldId id="272" r:id="rId2"/>
    <p:sldId id="271" r:id="rId3"/>
    <p:sldId id="256" r:id="rId4"/>
    <p:sldId id="257" r:id="rId5"/>
    <p:sldId id="268" r:id="rId6"/>
    <p:sldId id="259" r:id="rId7"/>
    <p:sldId id="264" r:id="rId8"/>
    <p:sldId id="261" r:id="rId9"/>
    <p:sldId id="265" r:id="rId10"/>
    <p:sldId id="266" r:id="rId11"/>
    <p:sldId id="267" r:id="rId12"/>
    <p:sldId id="269" r:id="rId13"/>
    <p:sldId id="270" r:id="rId14"/>
    <p:sldId id="263" r:id="rId15"/>
    <p:sldId id="262" r:id="rId16"/>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70" d="100"/>
          <a:sy n="70" d="100"/>
        </p:scale>
        <p:origin x="-81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9BFF294D-DBA3-47FD-8671-26AEB7BE2A0C}" type="datetimeFigureOut">
              <a:rPr lang="en-US" smtClean="0"/>
              <a:pPr/>
              <a:t>4/10/2012</a:t>
            </a:fld>
            <a:endParaRPr lang="en-US" dirty="0"/>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8FE737DC-35F6-4E13-A538-0D0315E935E7}" type="slidenum">
              <a:rPr lang="en-US" smtClean="0"/>
              <a:pPr/>
              <a:t>‹#›</a:t>
            </a:fld>
            <a:endParaRPr lang="en-US"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3125-0449-4CD8-B27C-313CEAC47944}" type="datetimeFigureOut">
              <a:rPr lang="en-US" smtClean="0"/>
              <a:pPr/>
              <a:t>4/10/2012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B4E675-8F44-466D-BAA5-34468648AAB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1D3125-0449-4CD8-B27C-313CEAC47944}" type="datetimeFigureOut">
              <a:rPr lang="en-US" smtClean="0"/>
              <a:pPr/>
              <a:t>4/10/2012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B4E675-8F44-466D-BAA5-34468648AAB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hyperlink" Target="http://www.masturbateforpeace.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uhs.umich.edu/" TargetMode="External"/><Relationship Id="rId2" Type="http://schemas.openxmlformats.org/officeDocument/2006/relationships/hyperlink" Target="http://www.s3safesexstore.com/" TargetMode="Externa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gif"/></Relationships>
</file>

<file path=ppt/slides/_rels/slide15.xml.rels><?xml version="1.0" encoding="UTF-8" standalone="yes"?>
<Relationships xmlns="http://schemas.openxmlformats.org/package/2006/relationships"><Relationship Id="rId8" Type="http://schemas.openxmlformats.org/officeDocument/2006/relationships/hyperlink" Target="http://www.uhs.umich.edu/" TargetMode="External"/><Relationship Id="rId3" Type="http://schemas.openxmlformats.org/officeDocument/2006/relationships/hyperlink" Target="http://www.med.umich.edu/yourchild/topics/masturb.htm" TargetMode="External"/><Relationship Id="rId7" Type="http://schemas.openxmlformats.org/officeDocument/2006/relationships/hyperlink" Target="http://www.s3safesexstore.com/" TargetMode="External"/><Relationship Id="rId2" Type="http://schemas.openxmlformats.org/officeDocument/2006/relationships/hyperlink" Target="http://www.menstuff.org/issues/byissue/masturbation.html" TargetMode="External"/><Relationship Id="rId1" Type="http://schemas.openxmlformats.org/officeDocument/2006/relationships/slideLayout" Target="../slideLayouts/slideLayout2.xml"/><Relationship Id="rId6" Type="http://schemas.openxmlformats.org/officeDocument/2006/relationships/hyperlink" Target="http://teenadvice.about.com/od/masturbatio1/Facts_and_Tips_on_Masturbation.htm" TargetMode="External"/><Relationship Id="rId5" Type="http://schemas.openxmlformats.org/officeDocument/2006/relationships/hyperlink" Target="http://men.webmd.com/features/masturbation-5-things-you-didnt-know" TargetMode="External"/><Relationship Id="rId4" Type="http://schemas.openxmlformats.org/officeDocument/2006/relationships/hyperlink" Target="http://en.wikipedia.org/wiki/Masturbation" TargetMode="External"/><Relationship Id="rId9" Type="http://schemas.openxmlformats.org/officeDocument/2006/relationships/hyperlink" Target="http://www.masturbateforpeac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Purpose Statement</a:t>
            </a:r>
            <a:endParaRPr lang="en-US" b="1" dirty="0"/>
          </a:p>
        </p:txBody>
      </p:sp>
      <p:sp>
        <p:nvSpPr>
          <p:cNvPr id="3" name="Content Placeholder 2"/>
          <p:cNvSpPr>
            <a:spLocks noGrp="1"/>
          </p:cNvSpPr>
          <p:nvPr>
            <p:ph idx="1"/>
          </p:nvPr>
        </p:nvSpPr>
        <p:spPr/>
        <p:txBody>
          <a:bodyPr>
            <a:normAutofit lnSpcReduction="10000"/>
          </a:bodyPr>
          <a:lstStyle/>
          <a:p>
            <a:pPr marL="0" indent="0">
              <a:buNone/>
            </a:pPr>
            <a:r>
              <a:rPr lang="en-US" dirty="0" smtClean="0"/>
              <a:t>“A Helping Hand: A College Student’s Guide to Masturbation” was created to reduce the stigma of shame associated with masturbation. </a:t>
            </a:r>
          </a:p>
          <a:p>
            <a:pPr marL="0" indent="0">
              <a:buNone/>
            </a:pPr>
            <a:endParaRPr lang="en-US" dirty="0" smtClean="0"/>
          </a:p>
          <a:p>
            <a:pPr marL="0" indent="0">
              <a:buNone/>
            </a:pPr>
            <a:r>
              <a:rPr lang="en-US" dirty="0" smtClean="0"/>
              <a:t>Instead of relying on myth and hearsay, the aspects of masturbation are discussed openly.</a:t>
            </a:r>
          </a:p>
          <a:p>
            <a:pPr marL="0" indent="0">
              <a:buNone/>
            </a:pPr>
            <a:endParaRPr lang="en-US" dirty="0" smtClean="0"/>
          </a:p>
          <a:p>
            <a:pPr marL="0" indent="0">
              <a:buNone/>
            </a:pPr>
            <a:r>
              <a:rPr lang="en-US" dirty="0" smtClean="0"/>
              <a:t>This presentation also strives to be as gender-neutral as possible.</a:t>
            </a:r>
          </a:p>
          <a:p>
            <a:pPr marL="0" indent="0">
              <a:buNone/>
            </a:pPr>
            <a:endParaRPr lang="en-US" dirty="0" smtClean="0"/>
          </a:p>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0"/>
            <a:ext cx="8229600" cy="1066800"/>
          </a:xfrm>
        </p:spPr>
        <p:txBody>
          <a:bodyPr/>
          <a:lstStyle/>
          <a:p>
            <a:r>
              <a:rPr lang="en-US" b="1" dirty="0" smtClean="0"/>
              <a:t>Author Notes</a:t>
            </a:r>
            <a:endParaRPr lang="en-US" b="1" dirty="0"/>
          </a:p>
        </p:txBody>
      </p:sp>
      <p:sp>
        <p:nvSpPr>
          <p:cNvPr id="7" name="Content Placeholder 6"/>
          <p:cNvSpPr>
            <a:spLocks noGrp="1"/>
          </p:cNvSpPr>
          <p:nvPr>
            <p:ph idx="1"/>
          </p:nvPr>
        </p:nvSpPr>
        <p:spPr>
          <a:xfrm>
            <a:off x="228600" y="1143000"/>
            <a:ext cx="8686800" cy="5715000"/>
          </a:xfrm>
        </p:spPr>
        <p:txBody>
          <a:bodyPr>
            <a:noAutofit/>
          </a:bodyPr>
          <a:lstStyle/>
          <a:p>
            <a:pPr marL="0" indent="0">
              <a:buNone/>
            </a:pPr>
            <a:r>
              <a:rPr lang="en-US" sz="2400" dirty="0" smtClean="0"/>
              <a:t>I made this bulletin board originally for my sociology of sexuality class, and my professor loved it. When I became an RA, I decided to use it in my hall. As part of the project, I also made pamphlets that residents could take with them. </a:t>
            </a:r>
          </a:p>
          <a:p>
            <a:pPr marL="0" indent="0">
              <a:buNone/>
            </a:pPr>
            <a:endParaRPr lang="en-US" sz="1200" dirty="0" smtClean="0"/>
          </a:p>
          <a:p>
            <a:pPr marL="0" indent="0">
              <a:buNone/>
            </a:pPr>
            <a:r>
              <a:rPr lang="en-US" sz="2400" dirty="0" smtClean="0"/>
              <a:t>Be sure to change the slide on campus resources to reflect your own school or don’t use that slide.</a:t>
            </a:r>
          </a:p>
          <a:p>
            <a:pPr marL="0" indent="0">
              <a:buNone/>
            </a:pPr>
            <a:endParaRPr lang="en-US" sz="1200" dirty="0" smtClean="0"/>
          </a:p>
          <a:p>
            <a:pPr marL="0" indent="0">
              <a:buNone/>
            </a:pPr>
            <a:r>
              <a:rPr lang="en-US" sz="2400" dirty="0" smtClean="0"/>
              <a:t>If you have any questions or just want to let me know how the bulletin board worked in your hall, my contact information is below.</a:t>
            </a:r>
          </a:p>
          <a:p>
            <a:endParaRPr lang="en-US" sz="1200" dirty="0" smtClean="0"/>
          </a:p>
          <a:p>
            <a:pPr algn="ctr">
              <a:buNone/>
            </a:pPr>
            <a:r>
              <a:rPr lang="en-US" sz="2400" b="1" dirty="0" smtClean="0"/>
              <a:t>Gary Wilks </a:t>
            </a:r>
          </a:p>
          <a:p>
            <a:pPr algn="ctr">
              <a:buNone/>
            </a:pPr>
            <a:r>
              <a:rPr lang="en-US" sz="2400" b="1" dirty="0" smtClean="0"/>
              <a:t>gwwilks@umich.edu</a:t>
            </a:r>
          </a:p>
          <a:p>
            <a:pPr algn="ctr">
              <a:buNone/>
            </a:pPr>
            <a:r>
              <a:rPr lang="en-US" sz="2400" b="1" dirty="0" smtClean="0"/>
              <a:t>Resident Advisor, Mary Markley Hall </a:t>
            </a:r>
          </a:p>
          <a:p>
            <a:pPr algn="ctr">
              <a:buNone/>
            </a:pPr>
            <a:r>
              <a:rPr lang="en-US" sz="2400" b="1" dirty="0" smtClean="0"/>
              <a:t>University of Michigan, Class of 2012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9" descr="C:\Users\Gary\AppData\Local\Microsoft\Windows\Temporary Internet Files\Content.IE5\J7LQ1TZF\MPj04394690000[1].jpg"/>
          <p:cNvPicPr>
            <a:picLocks noChangeAspect="1" noChangeArrowheads="1"/>
          </p:cNvPicPr>
          <p:nvPr/>
        </p:nvPicPr>
        <p:blipFill>
          <a:blip r:embed="rId2" cstate="print">
            <a:lum contrast="94000"/>
          </a:blip>
          <a:srcRect l="52632" t="30952" b="36905"/>
          <a:stretch>
            <a:fillRect/>
          </a:stretch>
        </p:blipFill>
        <p:spPr bwMode="auto">
          <a:xfrm rot="1080000">
            <a:off x="6747988" y="271864"/>
            <a:ext cx="1944224" cy="1822710"/>
          </a:xfrm>
          <a:prstGeom prst="rect">
            <a:avLst/>
          </a:prstGeom>
          <a:ln>
            <a:noFill/>
          </a:ln>
          <a:effectLst>
            <a:softEdge rad="112500"/>
          </a:effectLst>
        </p:spPr>
      </p:pic>
      <p:pic>
        <p:nvPicPr>
          <p:cNvPr id="6" name="Picture 9" descr="C:\Users\Gary\AppData\Local\Microsoft\Windows\Temporary Internet Files\Content.IE5\J7LQ1TZF\MPj04394690000[1].jpg"/>
          <p:cNvPicPr>
            <a:picLocks noChangeAspect="1" noChangeArrowheads="1"/>
          </p:cNvPicPr>
          <p:nvPr/>
        </p:nvPicPr>
        <p:blipFill>
          <a:blip r:embed="rId2" cstate="print">
            <a:lum bright="-3000" contrast="38000"/>
          </a:blip>
          <a:srcRect r="50847" b="64582"/>
          <a:stretch>
            <a:fillRect/>
          </a:stretch>
        </p:blipFill>
        <p:spPr bwMode="auto">
          <a:xfrm rot="-1440000">
            <a:off x="585069" y="253097"/>
            <a:ext cx="1847293" cy="1851484"/>
          </a:xfrm>
          <a:prstGeom prst="rect">
            <a:avLst/>
          </a:prstGeom>
          <a:ln>
            <a:noFill/>
          </a:ln>
          <a:effectLst>
            <a:softEdge rad="112500"/>
          </a:effectLst>
        </p:spPr>
      </p:pic>
      <p:sp>
        <p:nvSpPr>
          <p:cNvPr id="2" name="Title 1"/>
          <p:cNvSpPr>
            <a:spLocks noGrp="1"/>
          </p:cNvSpPr>
          <p:nvPr>
            <p:ph type="ctrTitle"/>
          </p:nvPr>
        </p:nvSpPr>
        <p:spPr>
          <a:xfrm>
            <a:off x="685800" y="1905000"/>
            <a:ext cx="7772400" cy="1470025"/>
          </a:xfrm>
        </p:spPr>
        <p:txBody>
          <a:bodyPr>
            <a:normAutofit/>
          </a:bodyPr>
          <a:lstStyle/>
          <a:p>
            <a:r>
              <a:rPr lang="en-US" sz="8800" b="1" dirty="0" smtClean="0">
                <a:effectLst>
                  <a:outerShdw blurRad="38100" dist="38100" dir="2700000" algn="tl">
                    <a:srgbClr val="000000">
                      <a:alpha val="43137"/>
                    </a:srgbClr>
                  </a:outerShdw>
                </a:effectLst>
              </a:rPr>
              <a:t>A Helping Hand</a:t>
            </a:r>
            <a:endParaRPr lang="en-US" sz="8800"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295400" y="3581400"/>
            <a:ext cx="6400800" cy="1752600"/>
          </a:xfrm>
        </p:spPr>
        <p:txBody>
          <a:bodyPr/>
          <a:lstStyle/>
          <a:p>
            <a:r>
              <a:rPr lang="en-US" b="1" dirty="0" smtClean="0">
                <a:solidFill>
                  <a:schemeClr val="tx1"/>
                </a:solidFill>
                <a:effectLst>
                  <a:outerShdw blurRad="38100" dist="38100" dir="2700000" algn="tl">
                    <a:srgbClr val="000000">
                      <a:alpha val="43137"/>
                    </a:srgbClr>
                  </a:outerShdw>
                </a:effectLst>
              </a:rPr>
              <a:t>A College Student’s Guide to Masturbation</a:t>
            </a:r>
            <a:endParaRPr lang="en-US" b="1" dirty="0">
              <a:solidFill>
                <a:schemeClr val="tx1"/>
              </a:solidFill>
              <a:effectLst>
                <a:outerShdw blurRad="38100" dist="38100" dir="2700000" algn="tl">
                  <a:srgbClr val="000000">
                    <a:alpha val="43137"/>
                  </a:srgbClr>
                </a:outerShdw>
              </a:effectLst>
            </a:endParaRPr>
          </a:p>
        </p:txBody>
      </p:sp>
      <p:pic>
        <p:nvPicPr>
          <p:cNvPr id="1027" name="Picture 3" descr="C:\Users\Gary\AppData\Local\Microsoft\Windows\Temporary Internet Files\Content.IE5\IRZGQ62H\MCj04079640000[2].wmf"/>
          <p:cNvPicPr>
            <a:picLocks noChangeAspect="1" noChangeArrowheads="1"/>
          </p:cNvPicPr>
          <p:nvPr/>
        </p:nvPicPr>
        <p:blipFill>
          <a:blip r:embed="rId3" cstate="print"/>
          <a:srcRect/>
          <a:stretch>
            <a:fillRect/>
          </a:stretch>
        </p:blipFill>
        <p:spPr bwMode="auto">
          <a:xfrm>
            <a:off x="3276600" y="4876800"/>
            <a:ext cx="2503714" cy="17526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62000"/>
          </a:xfrm>
        </p:spPr>
        <p:txBody>
          <a:bodyPr>
            <a:normAutofit/>
          </a:bodyPr>
          <a:lstStyle/>
          <a:p>
            <a:r>
              <a:rPr lang="en-US" b="1" dirty="0" smtClean="0"/>
              <a:t>What is </a:t>
            </a:r>
            <a:r>
              <a:rPr lang="en-US" sz="4000" b="1" dirty="0" smtClean="0"/>
              <a:t>Masturbation</a:t>
            </a:r>
            <a:r>
              <a:rPr lang="en-US" dirty="0" smtClean="0"/>
              <a:t>?</a:t>
            </a:r>
            <a:endParaRPr lang="en-US" dirty="0"/>
          </a:p>
        </p:txBody>
      </p:sp>
      <p:sp>
        <p:nvSpPr>
          <p:cNvPr id="3" name="Content Placeholder 2"/>
          <p:cNvSpPr>
            <a:spLocks noGrp="1"/>
          </p:cNvSpPr>
          <p:nvPr>
            <p:ph idx="1"/>
          </p:nvPr>
        </p:nvSpPr>
        <p:spPr>
          <a:xfrm>
            <a:off x="304800" y="914400"/>
            <a:ext cx="8458200" cy="5638800"/>
          </a:xfrm>
        </p:spPr>
        <p:txBody>
          <a:bodyPr>
            <a:normAutofit fontScale="77500" lnSpcReduction="20000"/>
          </a:bodyPr>
          <a:lstStyle/>
          <a:p>
            <a:r>
              <a:rPr lang="en-US" sz="3600" dirty="0" smtClean="0"/>
              <a:t>Sexual stimulation of one’s own genitals and/or erogenous zones</a:t>
            </a:r>
          </a:p>
          <a:p>
            <a:endParaRPr lang="en-US" sz="3600" dirty="0" smtClean="0"/>
          </a:p>
          <a:p>
            <a:r>
              <a:rPr lang="en-US" sz="3600" dirty="0" smtClean="0"/>
              <a:t>Masturbation is also referred to as solitary sex and Onanism. The term Onanism comes from the story of Onan, where Onan was given the task of impregnating the widow of his brother, but he spilled his semen on the ground, which caused God to get angry and kill him. </a:t>
            </a:r>
          </a:p>
          <a:p>
            <a:endParaRPr lang="en-US" sz="3600" dirty="0" smtClean="0"/>
          </a:p>
          <a:p>
            <a:r>
              <a:rPr lang="en-US" sz="3600" dirty="0" smtClean="0"/>
              <a:t>Masturbation is considered the first sexual orientation, and it was once considered a perverse problem met with drastic intervention. Although there is still some taboo to the topic, society is beginning to accept it as a normal sexual activity.</a:t>
            </a:r>
            <a:endParaRPr lang="en-US" dirty="0"/>
          </a:p>
        </p:txBody>
      </p:sp>
      <p:sp>
        <p:nvSpPr>
          <p:cNvPr id="5" name="Content Placeholder 2"/>
          <p:cNvSpPr txBox="1">
            <a:spLocks/>
          </p:cNvSpPr>
          <p:nvPr/>
        </p:nvSpPr>
        <p:spPr>
          <a:xfrm>
            <a:off x="381000" y="4038600"/>
            <a:ext cx="8458200" cy="2667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xfrm>
            <a:off x="457200" y="0"/>
            <a:ext cx="8229600" cy="9906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mj-lt"/>
                <a:ea typeface="+mj-ea"/>
                <a:cs typeface="+mj-cs"/>
              </a:rPr>
              <a:t>Who Masturbates?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3" name="Content Placeholder 2"/>
          <p:cNvSpPr>
            <a:spLocks noGrp="1"/>
          </p:cNvSpPr>
          <p:nvPr>
            <p:ph idx="1"/>
          </p:nvPr>
        </p:nvSpPr>
        <p:spPr>
          <a:xfrm>
            <a:off x="457200" y="1219200"/>
            <a:ext cx="8229600" cy="5638800"/>
          </a:xfrm>
        </p:spPr>
        <p:txBody>
          <a:bodyPr>
            <a:normAutofit fontScale="85000" lnSpcReduction="20000"/>
          </a:bodyPr>
          <a:lstStyle/>
          <a:p>
            <a:pPr lvl="0">
              <a:defRPr/>
            </a:pPr>
            <a:r>
              <a:rPr lang="en-US" dirty="0" smtClean="0"/>
              <a:t>Almost everyone masturbates. </a:t>
            </a:r>
          </a:p>
          <a:p>
            <a:pPr lvl="0">
              <a:defRPr/>
            </a:pPr>
            <a:endParaRPr lang="en-US" dirty="0" smtClean="0"/>
          </a:p>
          <a:p>
            <a:pPr lvl="0">
              <a:defRPr/>
            </a:pPr>
            <a:r>
              <a:rPr lang="en-US" dirty="0" smtClean="0"/>
              <a:t>Masturbation is a very common behavior, even among people who have sexual relations with a partner. </a:t>
            </a:r>
          </a:p>
          <a:p>
            <a:pPr lvl="0">
              <a:defRPr/>
            </a:pPr>
            <a:endParaRPr lang="en-US" dirty="0" smtClean="0"/>
          </a:p>
          <a:p>
            <a:pPr lvl="0">
              <a:defRPr/>
            </a:pPr>
            <a:r>
              <a:rPr lang="en-US" dirty="0" smtClean="0"/>
              <a:t>In one national study, 95% of males and 89% of females reported that they have masturbated. </a:t>
            </a:r>
          </a:p>
          <a:p>
            <a:pPr lvl="0">
              <a:defRPr/>
            </a:pPr>
            <a:endParaRPr lang="en-US" dirty="0" smtClean="0"/>
          </a:p>
          <a:p>
            <a:pPr lvl="0">
              <a:defRPr/>
            </a:pPr>
            <a:r>
              <a:rPr lang="en-US" dirty="0" smtClean="0"/>
              <a:t>Masturbation is the first sexual act experienced by most males and females. In young children, masturbation is a normal part of the growing child's exploration of his or her body. Most people continue to masturbate in adulthood, and many do so throughout their lives.</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Do People Masturbate?</a:t>
            </a:r>
            <a:br>
              <a:rPr lang="en-US" b="1" dirty="0" smtClean="0"/>
            </a:br>
            <a:endParaRPr lang="en-US" dirty="0"/>
          </a:p>
        </p:txBody>
      </p:sp>
      <p:sp>
        <p:nvSpPr>
          <p:cNvPr id="3" name="Content Placeholder 2"/>
          <p:cNvSpPr>
            <a:spLocks noGrp="1"/>
          </p:cNvSpPr>
          <p:nvPr>
            <p:ph idx="1"/>
          </p:nvPr>
        </p:nvSpPr>
        <p:spPr>
          <a:xfrm>
            <a:off x="457200" y="1219200"/>
            <a:ext cx="8229600" cy="4906963"/>
          </a:xfrm>
        </p:spPr>
        <p:txBody>
          <a:bodyPr>
            <a:normAutofit fontScale="85000" lnSpcReduction="20000"/>
          </a:bodyPr>
          <a:lstStyle/>
          <a:p>
            <a:r>
              <a:rPr lang="en-US" dirty="0" smtClean="0"/>
              <a:t>In addition to feeling good, masturbation is a good way of relieving the sexual tension that can build up over time, especially for people without partners or whose partners are not willing or available for sex. </a:t>
            </a:r>
          </a:p>
          <a:p>
            <a:endParaRPr lang="en-US" dirty="0" smtClean="0"/>
          </a:p>
          <a:p>
            <a:r>
              <a:rPr lang="en-US" dirty="0" smtClean="0"/>
              <a:t>Masturbation also is a safe sexual alternative for people who wish to avoid pregnancy and the dangers of sexually transmitted diseases. It also is necessary when a man must give a semen sample for infertility testing or for sperm donation. When sexual dysfunction is present in an adult, masturbation may be prescribed by a sex therapist to allow a person to experience an orgasm (often in women) or to delay its arrival (often in men).</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sz="4000" b="1" dirty="0" smtClean="0"/>
              <a:t>Benefits of Masturbation</a:t>
            </a:r>
            <a:endParaRPr lang="en-US" sz="4000" b="1" dirty="0"/>
          </a:p>
        </p:txBody>
      </p:sp>
      <p:sp>
        <p:nvSpPr>
          <p:cNvPr id="3" name="Content Placeholder 2"/>
          <p:cNvSpPr>
            <a:spLocks noGrp="1"/>
          </p:cNvSpPr>
          <p:nvPr>
            <p:ph idx="1"/>
          </p:nvPr>
        </p:nvSpPr>
        <p:spPr>
          <a:xfrm>
            <a:off x="457200" y="1066800"/>
            <a:ext cx="8229600" cy="5334000"/>
          </a:xfrm>
        </p:spPr>
        <p:txBody>
          <a:bodyPr>
            <a:normAutofit fontScale="85000" lnSpcReduction="10000"/>
          </a:bodyPr>
          <a:lstStyle/>
          <a:p>
            <a:r>
              <a:rPr lang="en-US" dirty="0" smtClean="0"/>
              <a:t>Relieve stress</a:t>
            </a:r>
          </a:p>
          <a:p>
            <a:r>
              <a:rPr lang="en-US" dirty="0" smtClean="0"/>
              <a:t>Relieve menstrual cramps </a:t>
            </a:r>
          </a:p>
          <a:p>
            <a:r>
              <a:rPr lang="en-US" dirty="0" smtClean="0"/>
              <a:t>Help for insomnia (i.e. when a person is having trouble falling asleep) </a:t>
            </a:r>
          </a:p>
          <a:p>
            <a:r>
              <a:rPr lang="en-US" dirty="0" smtClean="0"/>
              <a:t>Stimulate the immune system to help build up resistance to common infections. </a:t>
            </a:r>
          </a:p>
          <a:p>
            <a:r>
              <a:rPr lang="en-US" dirty="0" smtClean="0"/>
              <a:t>Release mood elevating hormones </a:t>
            </a:r>
          </a:p>
          <a:p>
            <a:r>
              <a:rPr lang="en-US" dirty="0" smtClean="0"/>
              <a:t>Reduce embarrassing spontaneous erections for teen males </a:t>
            </a:r>
          </a:p>
          <a:p>
            <a:r>
              <a:rPr lang="en-US" dirty="0" smtClean="0"/>
              <a:t>Reduce the number of unwanted wet dreams for young men</a:t>
            </a:r>
          </a:p>
          <a:p>
            <a:r>
              <a:rPr lang="en-US" dirty="0" smtClean="0"/>
              <a:t>Achieve sexual stimulation without the risk of STDs </a:t>
            </a:r>
          </a:p>
          <a:p>
            <a:endParaRPr lang="en-US" dirty="0"/>
          </a:p>
        </p:txBody>
      </p:sp>
      <p:pic>
        <p:nvPicPr>
          <p:cNvPr id="4" name="Picture 3" descr="QIVCA4XGYTJCADT3SI1CAP5VOXMCAMJB66NCASNSG0ACAK36R5BCA1EY3MXCASV6DSACAQZCPI7CAUU6HDOCASIF0LUCANHGLOOCAPTC38ECAZXP6XQCAWIBPKWCAZY631HCARTNMP4CAS0XOWKCAY09QDB.jpg"/>
          <p:cNvPicPr>
            <a:picLocks noChangeAspect="1"/>
          </p:cNvPicPr>
          <p:nvPr/>
        </p:nvPicPr>
        <p:blipFill>
          <a:blip r:embed="rId2" cstate="print"/>
          <a:stretch>
            <a:fillRect/>
          </a:stretch>
        </p:blipFill>
        <p:spPr>
          <a:xfrm>
            <a:off x="6934200" y="838200"/>
            <a:ext cx="1428750" cy="1076325"/>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Is Masturbation Harmful?</a:t>
            </a:r>
            <a:br>
              <a:rPr lang="en-US" b="1" dirty="0" smtClean="0"/>
            </a:br>
            <a:endParaRPr lang="en-US" dirty="0"/>
          </a:p>
        </p:txBody>
      </p:sp>
      <p:sp>
        <p:nvSpPr>
          <p:cNvPr id="3" name="Content Placeholder 2"/>
          <p:cNvSpPr>
            <a:spLocks noGrp="1"/>
          </p:cNvSpPr>
          <p:nvPr>
            <p:ph idx="1"/>
          </p:nvPr>
        </p:nvSpPr>
        <p:spPr>
          <a:xfrm>
            <a:off x="228600" y="914400"/>
            <a:ext cx="8763000" cy="2895600"/>
          </a:xfrm>
        </p:spPr>
        <p:txBody>
          <a:bodyPr>
            <a:noAutofit/>
          </a:bodyPr>
          <a:lstStyle/>
          <a:p>
            <a:r>
              <a:rPr lang="en-US" sz="2400" dirty="0" smtClean="0"/>
              <a:t>In general, the medical community considers masturbation to be a natural and harmless expression of sexuality for both men and women. It does not cause any physical injury or harm to the body, and can be performed in moderation throughout a person's lifetime as a part of normal sexual behavior. Some cultures and religions oppose the use of masturbation or even label it as sinful. This can lead to guilt or shame about the behavior.</a:t>
            </a:r>
          </a:p>
          <a:p>
            <a:endParaRPr lang="en-US" sz="2400" dirty="0" smtClean="0"/>
          </a:p>
          <a:p>
            <a:endParaRPr lang="en-US" sz="2400" dirty="0"/>
          </a:p>
        </p:txBody>
      </p:sp>
      <p:pic>
        <p:nvPicPr>
          <p:cNvPr id="4" name="Picture 2" descr="C:\Program Files\Microsoft Office\MEDIA\CAGCAT10\j0240719.wmf"/>
          <p:cNvPicPr>
            <a:picLocks noChangeAspect="1" noChangeArrowheads="1"/>
          </p:cNvPicPr>
          <p:nvPr/>
        </p:nvPicPr>
        <p:blipFill>
          <a:blip r:embed="rId2" cstate="print"/>
          <a:srcRect/>
          <a:stretch>
            <a:fillRect/>
          </a:stretch>
        </p:blipFill>
        <p:spPr bwMode="auto">
          <a:xfrm>
            <a:off x="7696200" y="3429000"/>
            <a:ext cx="1164031" cy="1826971"/>
          </a:xfrm>
          <a:prstGeom prst="rect">
            <a:avLst/>
          </a:prstGeom>
          <a:noFill/>
        </p:spPr>
      </p:pic>
      <p:sp>
        <p:nvSpPr>
          <p:cNvPr id="5" name="TextBox 4"/>
          <p:cNvSpPr txBox="1"/>
          <p:nvPr/>
        </p:nvSpPr>
        <p:spPr>
          <a:xfrm>
            <a:off x="228600" y="3733800"/>
            <a:ext cx="7391400" cy="3046988"/>
          </a:xfrm>
          <a:prstGeom prst="rect">
            <a:avLst/>
          </a:prstGeom>
          <a:noFill/>
        </p:spPr>
        <p:txBody>
          <a:bodyPr wrap="square" rtlCol="0">
            <a:spAutoFit/>
          </a:bodyPr>
          <a:lstStyle/>
          <a:p>
            <a:pPr marL="347663" lvl="2" indent="-347663">
              <a:buFont typeface="Arial" pitchFamily="34" charset="0"/>
              <a:buChar char="•"/>
            </a:pPr>
            <a:r>
              <a:rPr lang="en-US" sz="2400" dirty="0" smtClean="0"/>
              <a:t>Some experts suggest that masturbation can actually improve sexual health and relationships. By exploring your own body through masturbation, you can determine what is erotically pleasing to you and can share this with your partner. Some partners use mutual masturbation to discover techniques for a more satisfying sexual relationship and to add to their mutual intimacy.</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yth-busted-small.jpg"/>
          <p:cNvPicPr>
            <a:picLocks noChangeAspect="1"/>
          </p:cNvPicPr>
          <p:nvPr/>
        </p:nvPicPr>
        <p:blipFill>
          <a:blip r:embed="rId2" cstate="print"/>
          <a:srcRect b="4000"/>
          <a:stretch>
            <a:fillRect/>
          </a:stretch>
        </p:blipFill>
        <p:spPr>
          <a:xfrm>
            <a:off x="6019800" y="76200"/>
            <a:ext cx="2328334" cy="3352800"/>
          </a:xfrm>
          <a:prstGeom prst="rect">
            <a:avLst/>
          </a:prstGeom>
        </p:spPr>
      </p:pic>
      <p:sp>
        <p:nvSpPr>
          <p:cNvPr id="2" name="Title 1"/>
          <p:cNvSpPr>
            <a:spLocks noGrp="1"/>
          </p:cNvSpPr>
          <p:nvPr>
            <p:ph type="title"/>
          </p:nvPr>
        </p:nvSpPr>
        <p:spPr>
          <a:xfrm>
            <a:off x="457200" y="274638"/>
            <a:ext cx="6172200" cy="1143000"/>
          </a:xfrm>
        </p:spPr>
        <p:txBody>
          <a:bodyPr>
            <a:normAutofit/>
          </a:bodyPr>
          <a:lstStyle/>
          <a:p>
            <a:r>
              <a:rPr lang="en-US" sz="4000" b="1" dirty="0" smtClean="0"/>
              <a:t>Myth Busting</a:t>
            </a:r>
            <a:endParaRPr lang="en-US" sz="4000" b="1" dirty="0"/>
          </a:p>
        </p:txBody>
      </p:sp>
      <p:sp>
        <p:nvSpPr>
          <p:cNvPr id="3" name="Content Placeholder 2"/>
          <p:cNvSpPr>
            <a:spLocks noGrp="1"/>
          </p:cNvSpPr>
          <p:nvPr>
            <p:ph idx="1"/>
          </p:nvPr>
        </p:nvSpPr>
        <p:spPr>
          <a:xfrm>
            <a:off x="457200" y="1219200"/>
            <a:ext cx="8229600" cy="5334000"/>
          </a:xfrm>
        </p:spPr>
        <p:txBody>
          <a:bodyPr>
            <a:normAutofit lnSpcReduction="10000"/>
          </a:bodyPr>
          <a:lstStyle/>
          <a:p>
            <a:r>
              <a:rPr lang="en-US" sz="2600" dirty="0" smtClean="0"/>
              <a:t>It does NOT stunt your growth. </a:t>
            </a:r>
          </a:p>
          <a:p>
            <a:r>
              <a:rPr lang="en-US" sz="2600" dirty="0" smtClean="0"/>
              <a:t>It does NOT cause blindness.</a:t>
            </a:r>
          </a:p>
          <a:p>
            <a:r>
              <a:rPr lang="en-US" sz="2600" dirty="0" smtClean="0"/>
              <a:t>It does NOT cause deafness.</a:t>
            </a:r>
          </a:p>
          <a:p>
            <a:r>
              <a:rPr lang="en-US" sz="2600" dirty="0" smtClean="0"/>
              <a:t>It does NOT cause stuttering.</a:t>
            </a:r>
          </a:p>
          <a:p>
            <a:r>
              <a:rPr lang="en-US" sz="2600" dirty="0" smtClean="0"/>
              <a:t>You CANNOT die from it.</a:t>
            </a:r>
          </a:p>
          <a:p>
            <a:r>
              <a:rPr lang="en-US" sz="2600" dirty="0" smtClean="0"/>
              <a:t>It does NOT cause you to grow hair on your palms.</a:t>
            </a:r>
          </a:p>
          <a:p>
            <a:r>
              <a:rPr lang="en-US" sz="2600" dirty="0" smtClean="0"/>
              <a:t>It does NOT mean your child will be promiscuous as an adult.</a:t>
            </a:r>
          </a:p>
          <a:p>
            <a:r>
              <a:rPr lang="en-US" sz="2600" dirty="0" smtClean="0"/>
              <a:t>It will NOT drive a person crazy.</a:t>
            </a:r>
          </a:p>
          <a:p>
            <a:r>
              <a:rPr lang="en-US" sz="2600" dirty="0" smtClean="0"/>
              <a:t>It IS perfectly healthy as long as it does not interfere with relationships with friends and family, or with doing other activities.</a:t>
            </a: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smtClean="0"/>
              <a:t>Masturbation and the Roommate</a:t>
            </a:r>
            <a:endParaRPr lang="en-US" sz="4000" b="1" dirty="0"/>
          </a:p>
        </p:txBody>
      </p:sp>
      <p:sp>
        <p:nvSpPr>
          <p:cNvPr id="3" name="Content Placeholder 2"/>
          <p:cNvSpPr>
            <a:spLocks noGrp="1"/>
          </p:cNvSpPr>
          <p:nvPr>
            <p:ph idx="1"/>
          </p:nvPr>
        </p:nvSpPr>
        <p:spPr>
          <a:xfrm>
            <a:off x="457200" y="1219200"/>
            <a:ext cx="7620000" cy="5638800"/>
          </a:xfrm>
        </p:spPr>
        <p:txBody>
          <a:bodyPr>
            <a:normAutofit fontScale="92500" lnSpcReduction="20000"/>
          </a:bodyPr>
          <a:lstStyle/>
          <a:p>
            <a:r>
              <a:rPr lang="en-US" dirty="0" smtClean="0"/>
              <a:t>Have a signal for Do Not Disturb</a:t>
            </a:r>
          </a:p>
          <a:p>
            <a:pPr lvl="1"/>
            <a:r>
              <a:rPr lang="en-US" sz="1600" dirty="0" smtClean="0"/>
              <a:t>Talk with your roommate about putting a rubber band on the door knob or some other signal that you are in the room and do not wish to be disturbed. It also helps if you remember to lock the door.</a:t>
            </a:r>
          </a:p>
          <a:p>
            <a:r>
              <a:rPr lang="en-US" dirty="0" smtClean="0"/>
              <a:t>Post your schedules</a:t>
            </a:r>
          </a:p>
          <a:p>
            <a:pPr lvl="1"/>
            <a:r>
              <a:rPr lang="en-US" sz="1600" dirty="0" smtClean="0"/>
              <a:t>Print out your weekly schedules with the times that you know you will be out of the room. This allows the other roommate to plan accordingly.</a:t>
            </a:r>
          </a:p>
          <a:p>
            <a:r>
              <a:rPr lang="en-US" dirty="0" smtClean="0"/>
              <a:t>Schedule privacy times</a:t>
            </a:r>
          </a:p>
          <a:p>
            <a:pPr lvl="1"/>
            <a:r>
              <a:rPr lang="en-US" sz="1600" dirty="0" smtClean="0"/>
              <a:t>Have a discussion to see if there are certain times you let your roommate have some privacy and vice-versa.</a:t>
            </a:r>
          </a:p>
          <a:p>
            <a:r>
              <a:rPr lang="en-US" dirty="0" smtClean="0"/>
              <a:t>Be honest and courteous</a:t>
            </a:r>
          </a:p>
          <a:p>
            <a:pPr lvl="1"/>
            <a:r>
              <a:rPr lang="en-US" sz="1600" dirty="0" smtClean="0"/>
              <a:t>If you need the room, be able to ask your roommate if they can leave for a bit and have an agreement that they can do the same.</a:t>
            </a:r>
          </a:p>
          <a:p>
            <a:r>
              <a:rPr lang="en-US" dirty="0" smtClean="0"/>
              <a:t>Lock the door</a:t>
            </a:r>
          </a:p>
          <a:p>
            <a:pPr lvl="1"/>
            <a:r>
              <a:rPr lang="en-US" sz="1600" dirty="0" smtClean="0"/>
              <a:t>It may seem obvious, but it’s a key step.</a:t>
            </a:r>
          </a:p>
          <a:p>
            <a:r>
              <a:rPr lang="en-US" dirty="0" smtClean="0"/>
              <a:t>Don’t leave a mess </a:t>
            </a:r>
          </a:p>
          <a:p>
            <a:pPr lvl="1"/>
            <a:r>
              <a:rPr lang="en-US" sz="1600" dirty="0" smtClean="0"/>
              <a:t>Be sure to clean up any mess. You don’t want to find anything that creates awkwardness and neither does your roommate.</a:t>
            </a:r>
          </a:p>
          <a:p>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4" name="Picture 3" descr="please-do-not-disturb-tin-sign-c12813611.jpg"/>
          <p:cNvPicPr>
            <a:picLocks noChangeAspect="1"/>
          </p:cNvPicPr>
          <p:nvPr/>
        </p:nvPicPr>
        <p:blipFill>
          <a:blip r:embed="rId2" cstate="print"/>
          <a:stretch>
            <a:fillRect/>
          </a:stretch>
        </p:blipFill>
        <p:spPr>
          <a:xfrm>
            <a:off x="7620000" y="4876800"/>
            <a:ext cx="1254633" cy="16954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000" b="1" dirty="0" smtClean="0"/>
              <a:t>Tips and Techniques</a:t>
            </a:r>
            <a:endParaRPr lang="en-US" sz="4000" b="1" dirty="0"/>
          </a:p>
        </p:txBody>
      </p:sp>
      <p:sp>
        <p:nvSpPr>
          <p:cNvPr id="3" name="Content Placeholder 2"/>
          <p:cNvSpPr>
            <a:spLocks noGrp="1"/>
          </p:cNvSpPr>
          <p:nvPr>
            <p:ph idx="1"/>
          </p:nvPr>
        </p:nvSpPr>
        <p:spPr>
          <a:xfrm>
            <a:off x="457200" y="1066800"/>
            <a:ext cx="8229600" cy="5334000"/>
          </a:xfrm>
        </p:spPr>
        <p:txBody>
          <a:bodyPr>
            <a:normAutofit/>
          </a:bodyPr>
          <a:lstStyle/>
          <a:p>
            <a:r>
              <a:rPr lang="en-US" dirty="0" smtClean="0"/>
              <a:t>Experiment</a:t>
            </a:r>
          </a:p>
          <a:p>
            <a:pPr lvl="1"/>
            <a:r>
              <a:rPr lang="en-US" sz="2400" dirty="0" smtClean="0"/>
              <a:t>Get to know your body and what feels good to you.</a:t>
            </a:r>
          </a:p>
          <a:p>
            <a:pPr lvl="1"/>
            <a:endParaRPr lang="en-US" sz="2000" dirty="0" smtClean="0"/>
          </a:p>
          <a:p>
            <a:r>
              <a:rPr lang="en-US" dirty="0" smtClean="0"/>
              <a:t>Pornography and Fantasy</a:t>
            </a:r>
          </a:p>
          <a:p>
            <a:pPr lvl="1"/>
            <a:r>
              <a:rPr lang="en-US" sz="2400" dirty="0" smtClean="0"/>
              <a:t>These are simple methods to achieve a state of arousal.</a:t>
            </a:r>
          </a:p>
          <a:p>
            <a:pPr lvl="1"/>
            <a:endParaRPr lang="en-US" sz="2000" dirty="0" smtClean="0"/>
          </a:p>
          <a:p>
            <a:r>
              <a:rPr lang="en-US" dirty="0" smtClean="0"/>
              <a:t>Sex Toys and Lubricants</a:t>
            </a:r>
          </a:p>
          <a:p>
            <a:pPr lvl="1"/>
            <a:r>
              <a:rPr lang="en-US" sz="2400" dirty="0" smtClean="0"/>
              <a:t>Advanced masturbators my want to use these options to heighten their experience.</a:t>
            </a:r>
            <a:endParaRPr lang="en-US" sz="2400" dirty="0"/>
          </a:p>
        </p:txBody>
      </p:sp>
      <p:pic>
        <p:nvPicPr>
          <p:cNvPr id="4" name="Picture 3" descr="OSHCAUTBFNOCAS93FKGCAXAZFKRCA6H2R91CA6TJCV0CAQ0C32TCAQP0MRHCAY2RE2JCAYV8CEBCAD2XXBDCA2G4STECA9LPSQMCAP0DBSCCA0NSP9XCACRMOXSCAWM67W4CACS7IY0CAC920BECAB3P20O.jpg"/>
          <p:cNvPicPr>
            <a:picLocks noChangeAspect="1"/>
          </p:cNvPicPr>
          <p:nvPr/>
        </p:nvPicPr>
        <p:blipFill>
          <a:blip r:embed="rId2" cstate="print"/>
          <a:stretch>
            <a:fillRect/>
          </a:stretch>
        </p:blipFill>
        <p:spPr>
          <a:xfrm>
            <a:off x="3886200" y="5257800"/>
            <a:ext cx="1524000" cy="15240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914400"/>
          </a:xfrm>
        </p:spPr>
        <p:txBody>
          <a:bodyPr/>
          <a:lstStyle/>
          <a:p>
            <a:r>
              <a:rPr lang="en-US" b="1" dirty="0" smtClean="0"/>
              <a:t>Masturbate for Peace</a:t>
            </a:r>
            <a:endParaRPr lang="en-US" b="1" dirty="0"/>
          </a:p>
        </p:txBody>
      </p:sp>
      <p:sp>
        <p:nvSpPr>
          <p:cNvPr id="3" name="Content Placeholder 2"/>
          <p:cNvSpPr>
            <a:spLocks noGrp="1"/>
          </p:cNvSpPr>
          <p:nvPr>
            <p:ph idx="1"/>
          </p:nvPr>
        </p:nvSpPr>
        <p:spPr>
          <a:xfrm>
            <a:off x="457200" y="990600"/>
            <a:ext cx="8229600" cy="5562600"/>
          </a:xfrm>
        </p:spPr>
        <p:txBody>
          <a:bodyPr>
            <a:normAutofit/>
          </a:bodyPr>
          <a:lstStyle/>
          <a:p>
            <a:pPr algn="ctr">
              <a:buNone/>
            </a:pPr>
            <a:r>
              <a:rPr lang="en-US" dirty="0" smtClean="0">
                <a:hlinkClick r:id="rId2"/>
              </a:rPr>
              <a:t>http://www.masturbateforpeace.com/</a:t>
            </a:r>
            <a:endParaRPr lang="en-US" dirty="0" smtClean="0"/>
          </a:p>
          <a:p>
            <a:pPr algn="ctr">
              <a:buNone/>
            </a:pPr>
            <a:endParaRPr lang="en-US" sz="1200" dirty="0" smtClean="0"/>
          </a:p>
          <a:p>
            <a:pPr>
              <a:buNone/>
            </a:pPr>
            <a:r>
              <a:rPr lang="en-US" dirty="0" smtClean="0">
                <a:effectLst>
                  <a:outerShdw blurRad="38100" dist="38100" dir="2700000" algn="tl">
                    <a:srgbClr val="000000">
                      <a:alpha val="43137"/>
                    </a:srgbClr>
                  </a:outerShdw>
                </a:effectLst>
              </a:rPr>
              <a:t>Slogans: </a:t>
            </a:r>
          </a:p>
          <a:p>
            <a:r>
              <a:rPr lang="en-US" sz="2800" dirty="0" smtClean="0">
                <a:effectLst>
                  <a:outerShdw blurRad="38100" dist="38100" dir="2700000" algn="tl">
                    <a:srgbClr val="000000">
                      <a:alpha val="43137"/>
                    </a:srgbClr>
                  </a:outerShdw>
                </a:effectLst>
              </a:rPr>
              <a:t>War is silly, whack your willy</a:t>
            </a:r>
          </a:p>
          <a:p>
            <a:r>
              <a:rPr lang="en-US" sz="2800" dirty="0" smtClean="0">
                <a:effectLst>
                  <a:outerShdw blurRad="38100" dist="38100" dir="2700000" algn="tl">
                    <a:srgbClr val="000000">
                      <a:alpha val="43137"/>
                    </a:srgbClr>
                  </a:outerShdw>
                </a:effectLst>
              </a:rPr>
              <a:t>War's no joke, stop and stroke! </a:t>
            </a:r>
          </a:p>
          <a:p>
            <a:r>
              <a:rPr lang="en-US" sz="2800" dirty="0" smtClean="0">
                <a:effectLst>
                  <a:outerShdw blurRad="38100" dist="38100" dir="2700000" algn="tl">
                    <a:srgbClr val="000000">
                      <a:alpha val="43137"/>
                    </a:srgbClr>
                  </a:outerShdw>
                </a:effectLst>
              </a:rPr>
              <a:t>War is heinous, thumb your anus  </a:t>
            </a:r>
          </a:p>
          <a:p>
            <a:r>
              <a:rPr lang="en-US" sz="2800" dirty="0" smtClean="0">
                <a:effectLst>
                  <a:outerShdw blurRad="38100" dist="38100" dir="2700000" algn="tl">
                    <a:srgbClr val="000000">
                      <a:alpha val="43137"/>
                    </a:srgbClr>
                  </a:outerShdw>
                </a:effectLst>
              </a:rPr>
              <a:t>Avoid a scuffle with the 5-knuckle shuffle</a:t>
            </a:r>
          </a:p>
          <a:p>
            <a:r>
              <a:rPr lang="en-US" sz="2800" dirty="0" smtClean="0">
                <a:effectLst>
                  <a:outerShdw blurRad="38100" dist="38100" dir="2700000" algn="tl">
                    <a:srgbClr val="000000">
                      <a:alpha val="43137"/>
                    </a:srgbClr>
                  </a:outerShdw>
                </a:effectLst>
              </a:rPr>
              <a:t>War is out, pound your trout</a:t>
            </a:r>
            <a:endParaRPr lang="en-US" dirty="0">
              <a:effectLst>
                <a:outerShdw blurRad="38100" dist="38100" dir="2700000" algn="tl">
                  <a:srgbClr val="000000">
                    <a:alpha val="43137"/>
                  </a:srgbClr>
                </a:outerShdw>
              </a:effectLst>
            </a:endParaRPr>
          </a:p>
          <a:p>
            <a:pPr>
              <a:buNone/>
            </a:pPr>
            <a:endParaRPr lang="en-US" sz="2800" dirty="0" smtClean="0"/>
          </a:p>
        </p:txBody>
      </p:sp>
      <p:pic>
        <p:nvPicPr>
          <p:cNvPr id="4" name="Picture 3" descr="cum_banner.gif"/>
          <p:cNvPicPr>
            <a:picLocks noChangeAspect="1"/>
          </p:cNvPicPr>
          <p:nvPr/>
        </p:nvPicPr>
        <p:blipFill>
          <a:blip r:embed="rId3" cstate="print"/>
          <a:stretch>
            <a:fillRect/>
          </a:stretch>
        </p:blipFill>
        <p:spPr>
          <a:xfrm>
            <a:off x="2819400" y="5334000"/>
            <a:ext cx="3810000" cy="1143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b="1" dirty="0" smtClean="0"/>
              <a:t>Famous Quotes</a:t>
            </a:r>
            <a:endParaRPr lang="en-US" b="1" dirty="0"/>
          </a:p>
        </p:txBody>
      </p:sp>
      <p:sp>
        <p:nvSpPr>
          <p:cNvPr id="3" name="Content Placeholder 2"/>
          <p:cNvSpPr>
            <a:spLocks noGrp="1"/>
          </p:cNvSpPr>
          <p:nvPr>
            <p:ph idx="1"/>
          </p:nvPr>
        </p:nvSpPr>
        <p:spPr>
          <a:xfrm>
            <a:off x="304800" y="1143000"/>
            <a:ext cx="8610600" cy="5410200"/>
          </a:xfrm>
          <a:ln>
            <a:noFill/>
          </a:ln>
        </p:spPr>
        <p:txBody>
          <a:bodyPr>
            <a:noAutofit/>
          </a:bodyPr>
          <a:lstStyle/>
          <a:p>
            <a:pPr>
              <a:buNone/>
            </a:pPr>
            <a:r>
              <a:rPr lang="en-US" sz="2800" dirty="0" smtClean="0"/>
              <a:t>“Don't knock masturbation, it's sex with someone I love.” </a:t>
            </a:r>
          </a:p>
          <a:p>
            <a:pPr>
              <a:buNone/>
            </a:pPr>
            <a:r>
              <a:rPr lang="en-US" sz="2800" dirty="0" smtClean="0"/>
              <a:t>	--Woody Allen</a:t>
            </a:r>
          </a:p>
          <a:p>
            <a:pPr>
              <a:buNone/>
            </a:pPr>
            <a:r>
              <a:rPr lang="en-US" sz="2800" dirty="0" smtClean="0"/>
              <a:t> </a:t>
            </a:r>
          </a:p>
          <a:p>
            <a:pPr marL="0" indent="0">
              <a:buNone/>
            </a:pPr>
            <a:r>
              <a:rPr lang="en-US" sz="2800" dirty="0" smtClean="0"/>
              <a:t>“If God had intended for us not to masturbate, He would have made our arms shorter.” </a:t>
            </a:r>
          </a:p>
          <a:p>
            <a:pPr>
              <a:buNone/>
            </a:pPr>
            <a:r>
              <a:rPr lang="en-US" sz="2800" dirty="0" smtClean="0"/>
              <a:t>	--George Carlin</a:t>
            </a:r>
          </a:p>
          <a:p>
            <a:pPr>
              <a:buNone/>
            </a:pPr>
            <a:r>
              <a:rPr lang="en-US" sz="2800" dirty="0" smtClean="0"/>
              <a:t> </a:t>
            </a:r>
          </a:p>
          <a:p>
            <a:pPr marL="0" indent="0">
              <a:buNone/>
            </a:pPr>
            <a:r>
              <a:rPr lang="en-US" sz="2800" dirty="0" smtClean="0"/>
              <a:t>“The only thing about masturbation to be ashamed of is doing it badly.”</a:t>
            </a:r>
          </a:p>
          <a:p>
            <a:pPr>
              <a:buNone/>
            </a:pPr>
            <a:r>
              <a:rPr lang="en-US" sz="2800" dirty="0" smtClean="0"/>
              <a:t>	--Sigmund Freud</a:t>
            </a:r>
          </a:p>
          <a:p>
            <a:pPr>
              <a:buNone/>
            </a:pPr>
            <a:endParaRPr lang="en-US" sz="2400" dirty="0" smtClean="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4000" b="1" dirty="0" smtClean="0"/>
              <a:t>Campus Resources</a:t>
            </a:r>
            <a:endParaRPr lang="en-US" sz="4000" b="1" dirty="0"/>
          </a:p>
        </p:txBody>
      </p:sp>
      <p:sp>
        <p:nvSpPr>
          <p:cNvPr id="3" name="Content Placeholder 2"/>
          <p:cNvSpPr>
            <a:spLocks noGrp="1"/>
          </p:cNvSpPr>
          <p:nvPr>
            <p:ph idx="1"/>
          </p:nvPr>
        </p:nvSpPr>
        <p:spPr>
          <a:xfrm>
            <a:off x="1600200" y="1219200"/>
            <a:ext cx="7315200" cy="5334000"/>
          </a:xfrm>
        </p:spPr>
        <p:txBody>
          <a:bodyPr>
            <a:normAutofit/>
          </a:bodyPr>
          <a:lstStyle/>
          <a:p>
            <a:r>
              <a:rPr lang="en-US" dirty="0" smtClean="0"/>
              <a:t>Safe Sex Store (S3)</a:t>
            </a:r>
          </a:p>
          <a:p>
            <a:pPr lvl="1"/>
            <a:r>
              <a:rPr lang="en-US" dirty="0" smtClean="0"/>
              <a:t>1209 South University, Ann Arbor, MI 48104</a:t>
            </a:r>
          </a:p>
          <a:p>
            <a:pPr lvl="1"/>
            <a:r>
              <a:rPr lang="en-US" dirty="0" smtClean="0"/>
              <a:t>734.741.1434</a:t>
            </a:r>
          </a:p>
          <a:p>
            <a:pPr lvl="1"/>
            <a:r>
              <a:rPr lang="en-US" dirty="0" smtClean="0">
                <a:hlinkClick r:id="rId2"/>
              </a:rPr>
              <a:t>http://www.s3safesexstore.com/</a:t>
            </a:r>
            <a:endParaRPr lang="en-US" dirty="0" smtClean="0"/>
          </a:p>
          <a:p>
            <a:pPr lvl="1"/>
            <a:endParaRPr lang="en-US" dirty="0" smtClean="0"/>
          </a:p>
          <a:p>
            <a:r>
              <a:rPr lang="en-US" dirty="0" smtClean="0"/>
              <a:t>University Health Service</a:t>
            </a:r>
          </a:p>
          <a:p>
            <a:pPr lvl="1"/>
            <a:r>
              <a:rPr lang="en-US" dirty="0" smtClean="0"/>
              <a:t>207 Fletcher Street, Ann Arbor, MI 48109</a:t>
            </a:r>
          </a:p>
          <a:p>
            <a:pPr lvl="1"/>
            <a:r>
              <a:rPr lang="en-US" dirty="0" smtClean="0"/>
              <a:t>734.764.8320</a:t>
            </a:r>
          </a:p>
          <a:p>
            <a:pPr lvl="1"/>
            <a:r>
              <a:rPr lang="en-US" dirty="0" smtClean="0">
                <a:hlinkClick r:id="rId3"/>
              </a:rPr>
              <a:t>http://www.uhs.umich.edu/</a:t>
            </a:r>
            <a:endParaRPr lang="en-US" dirty="0" smtClean="0"/>
          </a:p>
          <a:p>
            <a:pPr lvl="1"/>
            <a:endParaRPr lang="en-US" dirty="0"/>
          </a:p>
        </p:txBody>
      </p:sp>
      <p:pic>
        <p:nvPicPr>
          <p:cNvPr id="4" name="Picture 3" descr="logo.gif"/>
          <p:cNvPicPr>
            <a:picLocks noChangeAspect="1"/>
          </p:cNvPicPr>
          <p:nvPr/>
        </p:nvPicPr>
        <p:blipFill>
          <a:blip r:embed="rId4" cstate="print"/>
          <a:stretch>
            <a:fillRect/>
          </a:stretch>
        </p:blipFill>
        <p:spPr>
          <a:xfrm>
            <a:off x="457200" y="1905000"/>
            <a:ext cx="1219200" cy="1395470"/>
          </a:xfrm>
          <a:prstGeom prst="rect">
            <a:avLst/>
          </a:prstGeom>
        </p:spPr>
      </p:pic>
      <p:pic>
        <p:nvPicPr>
          <p:cNvPr id="5" name="Picture 4" descr="n172412386386_3914.jpg"/>
          <p:cNvPicPr>
            <a:picLocks noChangeAspect="1"/>
          </p:cNvPicPr>
          <p:nvPr/>
        </p:nvPicPr>
        <p:blipFill>
          <a:blip r:embed="rId5" cstate="print"/>
          <a:stretch>
            <a:fillRect/>
          </a:stretch>
        </p:blipFill>
        <p:spPr>
          <a:xfrm>
            <a:off x="228600" y="4495800"/>
            <a:ext cx="1676400" cy="16764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References</a:t>
            </a:r>
            <a:endParaRPr lang="en-US" sz="4000" b="1" dirty="0"/>
          </a:p>
        </p:txBody>
      </p:sp>
      <p:sp>
        <p:nvSpPr>
          <p:cNvPr id="3" name="Content Placeholder 2"/>
          <p:cNvSpPr>
            <a:spLocks noGrp="1"/>
          </p:cNvSpPr>
          <p:nvPr>
            <p:ph idx="1"/>
          </p:nvPr>
        </p:nvSpPr>
        <p:spPr>
          <a:xfrm>
            <a:off x="152400" y="1447800"/>
            <a:ext cx="8991600" cy="5105400"/>
          </a:xfrm>
        </p:spPr>
        <p:txBody>
          <a:bodyPr>
            <a:normAutofit fontScale="77500" lnSpcReduction="20000"/>
          </a:bodyPr>
          <a:lstStyle/>
          <a:p>
            <a:r>
              <a:rPr lang="en-US" sz="2600" dirty="0" smtClean="0">
                <a:hlinkClick r:id="rId2"/>
              </a:rPr>
              <a:t>http://www.menstuff.org/issues/byissue/masturbation.html</a:t>
            </a:r>
            <a:endParaRPr lang="en-US" sz="2600" dirty="0" smtClean="0"/>
          </a:p>
          <a:p>
            <a:endParaRPr lang="en-US" sz="2600" dirty="0" smtClean="0"/>
          </a:p>
          <a:p>
            <a:r>
              <a:rPr lang="en-US" sz="2600" dirty="0" smtClean="0">
                <a:hlinkClick r:id="rId3"/>
              </a:rPr>
              <a:t>http://www.med.umich.edu/yourchild/topics/masturb.htm</a:t>
            </a:r>
            <a:endParaRPr lang="en-US" sz="2600" dirty="0" smtClean="0"/>
          </a:p>
          <a:p>
            <a:endParaRPr lang="en-US" sz="2600" dirty="0" smtClean="0"/>
          </a:p>
          <a:p>
            <a:r>
              <a:rPr lang="en-US" sz="2600" dirty="0" smtClean="0">
                <a:hlinkClick r:id="rId4"/>
              </a:rPr>
              <a:t>http://en.wikipedia.org/wiki/Masturbation</a:t>
            </a:r>
            <a:endParaRPr lang="en-US" sz="2600" dirty="0" smtClean="0"/>
          </a:p>
          <a:p>
            <a:endParaRPr lang="en-US" sz="2600" dirty="0" smtClean="0"/>
          </a:p>
          <a:p>
            <a:r>
              <a:rPr lang="en-US" sz="2600" dirty="0" smtClean="0">
                <a:hlinkClick r:id="rId5"/>
              </a:rPr>
              <a:t>http://men.webmd.com/features/masturbation-5-things-you-didnt-know</a:t>
            </a:r>
            <a:endParaRPr lang="en-US" sz="2600" dirty="0" smtClean="0"/>
          </a:p>
          <a:p>
            <a:endParaRPr lang="en-US" sz="2600" dirty="0" smtClean="0"/>
          </a:p>
          <a:p>
            <a:r>
              <a:rPr lang="en-US" sz="2600" dirty="0" smtClean="0">
                <a:hlinkClick r:id="rId6"/>
              </a:rPr>
              <a:t>http://teenadvice.about.com/od/masturbatio1/Facts_and_Tips_on_Masturbation.htm</a:t>
            </a:r>
            <a:endParaRPr lang="en-US" sz="2600" dirty="0" smtClean="0"/>
          </a:p>
          <a:p>
            <a:endParaRPr lang="en-US" sz="2600" dirty="0" smtClean="0"/>
          </a:p>
          <a:p>
            <a:pPr marL="342900" lvl="1" indent="-342900">
              <a:buFont typeface="Arial" pitchFamily="34" charset="0"/>
              <a:buChar char="•"/>
            </a:pPr>
            <a:r>
              <a:rPr lang="en-US" sz="2600" dirty="0" smtClean="0">
                <a:hlinkClick r:id="rId7"/>
              </a:rPr>
              <a:t>http://www.s3safesexstore.com/</a:t>
            </a:r>
            <a:endParaRPr lang="en-US" sz="2600" dirty="0" smtClean="0"/>
          </a:p>
          <a:p>
            <a:endParaRPr lang="en-US" sz="2600" dirty="0" smtClean="0"/>
          </a:p>
          <a:p>
            <a:pPr marL="342900" lvl="1" indent="-342900">
              <a:buFont typeface="Arial" pitchFamily="34" charset="0"/>
              <a:buChar char="•"/>
            </a:pPr>
            <a:r>
              <a:rPr lang="en-US" sz="2600" dirty="0" smtClean="0">
                <a:hlinkClick r:id="rId8"/>
              </a:rPr>
              <a:t>http://www.uhs.umich.edu/</a:t>
            </a:r>
            <a:endParaRPr lang="en-US" sz="2600" dirty="0" smtClean="0"/>
          </a:p>
          <a:p>
            <a:pPr marL="342900" lvl="1" indent="-342900">
              <a:buFont typeface="Arial" pitchFamily="34" charset="0"/>
              <a:buChar char="•"/>
            </a:pPr>
            <a:endParaRPr lang="en-US" sz="2600" dirty="0" smtClean="0"/>
          </a:p>
          <a:p>
            <a:pPr marL="342900" lvl="1" indent="-342900">
              <a:buFont typeface="Arial" pitchFamily="34" charset="0"/>
              <a:buChar char="•"/>
            </a:pPr>
            <a:r>
              <a:rPr lang="en-US" sz="2600" dirty="0" smtClean="0">
                <a:hlinkClick r:id="rId9"/>
              </a:rPr>
              <a:t>http://www.masturbateforpeace.com/</a:t>
            </a:r>
            <a:endParaRPr lang="en-US" sz="2600" dirty="0" smtClean="0"/>
          </a:p>
          <a:p>
            <a:pPr marL="342900" lvl="1" indent="-342900">
              <a:buFont typeface="Arial" pitchFamily="34" charset="0"/>
              <a:buChar char="•"/>
            </a:pPr>
            <a:endParaRPr lang="en-US" sz="2600" dirty="0" smtClean="0"/>
          </a:p>
          <a:p>
            <a:endParaRPr lang="en-US" sz="2700" dirty="0" smtClean="0"/>
          </a:p>
          <a:p>
            <a:endParaRPr lang="en-US" sz="2700" dirty="0" smtClean="0"/>
          </a:p>
          <a:p>
            <a:endParaRPr lang="en-US" dirty="0" smtClean="0"/>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2740</TotalTime>
  <Words>1076</Words>
  <Application>Microsoft Office PowerPoint</Application>
  <PresentationFormat>On-screen Show (4:3)</PresentationFormat>
  <Paragraphs>133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Purpose Statement</vt:lpstr>
      <vt:lpstr>Author Notes</vt:lpstr>
      <vt:lpstr>A Helping Hand</vt:lpstr>
      <vt:lpstr>What is Masturbation?</vt:lpstr>
      <vt:lpstr>Who Masturbates?</vt:lpstr>
      <vt:lpstr>Why Do People Masturbate? </vt:lpstr>
      <vt:lpstr>Benefits of Masturbation</vt:lpstr>
      <vt:lpstr>Is Masturbation Harmful? </vt:lpstr>
      <vt:lpstr>Myth Busting</vt:lpstr>
      <vt:lpstr>Masturbation and the Roommate</vt:lpstr>
      <vt:lpstr>Tips and Techniques</vt:lpstr>
      <vt:lpstr>Masturbate for Peace</vt:lpstr>
      <vt:lpstr>Famous Quotes</vt:lpstr>
      <vt:lpstr>Campus Resources</vt:lpstr>
      <vt:lpstr>References</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Helping Hand</dc:title>
  <dc:creator>Gary</dc:creator>
  <cp:lastModifiedBy>owner</cp:lastModifiedBy>
  <cp:revision>127</cp:revision>
  <dcterms:created xsi:type="dcterms:W3CDTF">2010-03-06T01:33:35Z</dcterms:created>
  <dcterms:modified xsi:type="dcterms:W3CDTF">2012-04-10T19:42:27Z</dcterms:modified>
</cp:coreProperties>
</file>