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handoutMasterIdLst>
    <p:handoutMasterId r:id="rId83"/>
  </p:handoutMasterIdLst>
  <p:sldIdLst>
    <p:sldId id="256" r:id="rId2"/>
    <p:sldId id="257" r:id="rId3"/>
    <p:sldId id="306" r:id="rId4"/>
    <p:sldId id="258" r:id="rId5"/>
    <p:sldId id="260" r:id="rId6"/>
    <p:sldId id="263" r:id="rId7"/>
    <p:sldId id="264" r:id="rId8"/>
    <p:sldId id="265" r:id="rId9"/>
    <p:sldId id="266" r:id="rId10"/>
    <p:sldId id="337" r:id="rId11"/>
    <p:sldId id="267" r:id="rId12"/>
    <p:sldId id="268" r:id="rId13"/>
    <p:sldId id="259" r:id="rId14"/>
    <p:sldId id="261" r:id="rId15"/>
    <p:sldId id="269" r:id="rId16"/>
    <p:sldId id="270" r:id="rId17"/>
    <p:sldId id="271" r:id="rId18"/>
    <p:sldId id="262" r:id="rId19"/>
    <p:sldId id="272" r:id="rId20"/>
    <p:sldId id="274" r:id="rId21"/>
    <p:sldId id="273" r:id="rId22"/>
    <p:sldId id="275" r:id="rId23"/>
    <p:sldId id="276" r:id="rId24"/>
    <p:sldId id="277" r:id="rId25"/>
    <p:sldId id="278" r:id="rId26"/>
    <p:sldId id="279" r:id="rId27"/>
    <p:sldId id="280" r:id="rId28"/>
    <p:sldId id="281" r:id="rId29"/>
    <p:sldId id="282" r:id="rId30"/>
    <p:sldId id="319" r:id="rId31"/>
    <p:sldId id="320" r:id="rId32"/>
    <p:sldId id="283" r:id="rId33"/>
    <p:sldId id="284" r:id="rId34"/>
    <p:sldId id="285" r:id="rId35"/>
    <p:sldId id="286" r:id="rId36"/>
    <p:sldId id="287" r:id="rId37"/>
    <p:sldId id="288" r:id="rId38"/>
    <p:sldId id="289" r:id="rId39"/>
    <p:sldId id="291" r:id="rId40"/>
    <p:sldId id="315" r:id="rId41"/>
    <p:sldId id="292" r:id="rId42"/>
    <p:sldId id="316" r:id="rId43"/>
    <p:sldId id="317" r:id="rId44"/>
    <p:sldId id="321" r:id="rId45"/>
    <p:sldId id="318" r:id="rId46"/>
    <p:sldId id="322" r:id="rId47"/>
    <p:sldId id="338" r:id="rId48"/>
    <p:sldId id="339" r:id="rId49"/>
    <p:sldId id="294" r:id="rId50"/>
    <p:sldId id="323" r:id="rId51"/>
    <p:sldId id="295" r:id="rId52"/>
    <p:sldId id="296" r:id="rId53"/>
    <p:sldId id="297" r:id="rId54"/>
    <p:sldId id="298" r:id="rId55"/>
    <p:sldId id="299" r:id="rId56"/>
    <p:sldId id="303" r:id="rId57"/>
    <p:sldId id="304" r:id="rId58"/>
    <p:sldId id="302" r:id="rId59"/>
    <p:sldId id="300" r:id="rId60"/>
    <p:sldId id="308" r:id="rId61"/>
    <p:sldId id="336" r:id="rId62"/>
    <p:sldId id="301" r:id="rId63"/>
    <p:sldId id="324" r:id="rId64"/>
    <p:sldId id="325" r:id="rId65"/>
    <p:sldId id="326" r:id="rId66"/>
    <p:sldId id="327" r:id="rId67"/>
    <p:sldId id="328" r:id="rId68"/>
    <p:sldId id="329" r:id="rId69"/>
    <p:sldId id="330" r:id="rId70"/>
    <p:sldId id="331" r:id="rId71"/>
    <p:sldId id="333" r:id="rId72"/>
    <p:sldId id="334" r:id="rId73"/>
    <p:sldId id="335" r:id="rId74"/>
    <p:sldId id="305" r:id="rId75"/>
    <p:sldId id="309" r:id="rId76"/>
    <p:sldId id="310" r:id="rId77"/>
    <p:sldId id="311" r:id="rId78"/>
    <p:sldId id="312" r:id="rId79"/>
    <p:sldId id="313" r:id="rId80"/>
    <p:sldId id="314" r:id="rId8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handoutView">
  <p:normalViewPr>
    <p:restoredLeft sz="15620"/>
    <p:restoredTop sz="94660"/>
  </p:normalViewPr>
  <p:slideViewPr>
    <p:cSldViewPr>
      <p:cViewPr>
        <p:scale>
          <a:sx n="100" d="100"/>
          <a:sy n="100" d="100"/>
        </p:scale>
        <p:origin x="-1020" y="-582"/>
      </p:cViewPr>
      <p:guideLst>
        <p:guide orient="horz" pos="816"/>
        <p:guide pos="2880"/>
      </p:guideLst>
    </p:cSldViewPr>
  </p:slideViewPr>
  <p:notesTextViewPr>
    <p:cViewPr>
      <p:scale>
        <a:sx n="1" d="1"/>
        <a:sy n="1" d="1"/>
      </p:scale>
      <p:origin x="0" y="0"/>
    </p:cViewPr>
  </p:notesTextViewPr>
  <p:notesViewPr>
    <p:cSldViewPr showGuides="1">
      <p:cViewPr varScale="1">
        <p:scale>
          <a:sx n="96" d="100"/>
          <a:sy n="96" d="100"/>
        </p:scale>
        <p:origin x="-2604" y="-11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475" cy="465138"/>
          </a:xfrm>
          <a:prstGeom prst="rect">
            <a:avLst/>
          </a:prstGeom>
        </p:spPr>
        <p:txBody>
          <a:bodyPr vert="horz" lIns="91440" tIns="45720" rIns="91440" bIns="45720" rtlCol="0"/>
          <a:lstStyle>
            <a:lvl1pPr algn="l">
              <a:defRPr sz="1200"/>
            </a:lvl1pPr>
          </a:lstStyle>
          <a:p>
            <a:r>
              <a:rPr lang="en-US" dirty="0" smtClean="0"/>
              <a:t>Risk Assessment Information System (RAIS)</a:t>
            </a:r>
            <a:endParaRPr lang="en-US" dirty="0"/>
          </a:p>
        </p:txBody>
      </p:sp>
      <p:sp>
        <p:nvSpPr>
          <p:cNvPr id="3" name="Date Placeholder 2"/>
          <p:cNvSpPr>
            <a:spLocks noGrp="1"/>
          </p:cNvSpPr>
          <p:nvPr>
            <p:ph type="dt" sz="quarter" idx="1"/>
          </p:nvPr>
        </p:nvSpPr>
        <p:spPr>
          <a:xfrm>
            <a:off x="3970340" y="0"/>
            <a:ext cx="3038475" cy="465138"/>
          </a:xfrm>
          <a:prstGeom prst="rect">
            <a:avLst/>
          </a:prstGeom>
        </p:spPr>
        <p:txBody>
          <a:bodyPr vert="horz" lIns="91440" tIns="45720" rIns="91440" bIns="45720" rtlCol="0"/>
          <a:lstStyle>
            <a:lvl1pPr algn="r">
              <a:defRPr sz="1200"/>
            </a:lvl1pPr>
          </a:lstStyle>
          <a:p>
            <a:r>
              <a:rPr lang="en-US" dirty="0" smtClean="0"/>
              <a:t>12/9/2012</a:t>
            </a:r>
            <a:endParaRPr lang="en-US" dirty="0"/>
          </a:p>
        </p:txBody>
      </p:sp>
      <p:sp>
        <p:nvSpPr>
          <p:cNvPr id="4" name="Footer Placeholder 3"/>
          <p:cNvSpPr>
            <a:spLocks noGrp="1"/>
          </p:cNvSpPr>
          <p:nvPr>
            <p:ph type="ftr" sz="quarter" idx="2"/>
          </p:nvPr>
        </p:nvSpPr>
        <p:spPr>
          <a:xfrm>
            <a:off x="2" y="8829675"/>
            <a:ext cx="3038475" cy="465138"/>
          </a:xfrm>
          <a:prstGeom prst="rect">
            <a:avLst/>
          </a:prstGeom>
        </p:spPr>
        <p:txBody>
          <a:bodyPr vert="horz" lIns="91440" tIns="45720" rIns="91440" bIns="45720" rtlCol="0" anchor="b"/>
          <a:lstStyle>
            <a:lvl1pPr algn="l">
              <a:defRPr sz="1200"/>
            </a:lvl1pPr>
          </a:lstStyle>
          <a:p>
            <a:r>
              <a:rPr lang="en-US" dirty="0" smtClean="0"/>
              <a:t>SRA 2012</a:t>
            </a:r>
            <a:endParaRPr lang="en-US" dirty="0"/>
          </a:p>
        </p:txBody>
      </p:sp>
      <p:sp>
        <p:nvSpPr>
          <p:cNvPr id="5" name="Slide Number Placeholder 4"/>
          <p:cNvSpPr>
            <a:spLocks noGrp="1"/>
          </p:cNvSpPr>
          <p:nvPr>
            <p:ph type="sldNum" sz="quarter" idx="3"/>
          </p:nvPr>
        </p:nvSpPr>
        <p:spPr>
          <a:xfrm>
            <a:off x="3970340" y="8829675"/>
            <a:ext cx="3038475" cy="465138"/>
          </a:xfrm>
          <a:prstGeom prst="rect">
            <a:avLst/>
          </a:prstGeom>
        </p:spPr>
        <p:txBody>
          <a:bodyPr vert="horz" lIns="91440" tIns="45720" rIns="91440" bIns="45720" rtlCol="0" anchor="b"/>
          <a:lstStyle>
            <a:lvl1pPr algn="r">
              <a:defRPr sz="1200"/>
            </a:lvl1pPr>
          </a:lstStyle>
          <a:p>
            <a:fld id="{68F4AC9C-120C-40A2-8DDC-A1F56438CB0D}" type="slidenum">
              <a:rPr lang="en-US" smtClean="0"/>
              <a:t>‹#›</a:t>
            </a:fld>
            <a:endParaRPr lang="en-US"/>
          </a:p>
        </p:txBody>
      </p:sp>
    </p:spTree>
    <p:extLst>
      <p:ext uri="{BB962C8B-B14F-4D97-AF65-F5344CB8AC3E}">
        <p14:creationId xmlns:p14="http://schemas.microsoft.com/office/powerpoint/2010/main" val="8307242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830" tIns="46415" rIns="92830" bIns="46415"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2830" tIns="46415" rIns="92830" bIns="46415" rtlCol="0"/>
          <a:lstStyle>
            <a:lvl1pPr algn="r">
              <a:defRPr sz="1200"/>
            </a:lvl1pPr>
          </a:lstStyle>
          <a:p>
            <a:fld id="{1853E0AC-BB04-499C-B041-3CBB54C12BAF}" type="datetimeFigureOut">
              <a:rPr lang="en-US" smtClean="0"/>
              <a:t>12/7/2012</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830" tIns="46415" rIns="92830" bIns="46415" rtlCol="0" anchor="ctr"/>
          <a:lstStyle/>
          <a:p>
            <a:endParaRPr lang="en-US" dirty="0"/>
          </a:p>
        </p:txBody>
      </p:sp>
      <p:sp>
        <p:nvSpPr>
          <p:cNvPr id="5" name="Notes Placeholder 4"/>
          <p:cNvSpPr>
            <a:spLocks noGrp="1"/>
          </p:cNvSpPr>
          <p:nvPr>
            <p:ph type="body" sz="quarter" idx="3"/>
          </p:nvPr>
        </p:nvSpPr>
        <p:spPr>
          <a:xfrm>
            <a:off x="701040" y="4415791"/>
            <a:ext cx="5608320" cy="4183380"/>
          </a:xfrm>
          <a:prstGeom prst="rect">
            <a:avLst/>
          </a:prstGeom>
        </p:spPr>
        <p:txBody>
          <a:bodyPr vert="horz" lIns="92830" tIns="46415" rIns="92830" bIns="4641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6"/>
            <a:ext cx="3037840" cy="464820"/>
          </a:xfrm>
          <a:prstGeom prst="rect">
            <a:avLst/>
          </a:prstGeom>
        </p:spPr>
        <p:txBody>
          <a:bodyPr vert="horz" lIns="92830" tIns="46415" rIns="92830" bIns="464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6"/>
            <a:ext cx="3037840" cy="464820"/>
          </a:xfrm>
          <a:prstGeom prst="rect">
            <a:avLst/>
          </a:prstGeom>
        </p:spPr>
        <p:txBody>
          <a:bodyPr vert="horz" lIns="92830" tIns="46415" rIns="92830" bIns="46415" rtlCol="0" anchor="b"/>
          <a:lstStyle>
            <a:lvl1pPr algn="r">
              <a:defRPr sz="1200"/>
            </a:lvl1pPr>
          </a:lstStyle>
          <a:p>
            <a:fld id="{6812E13C-8B03-415E-9A95-D7E20CB38760}" type="slidenum">
              <a:rPr lang="en-US" smtClean="0"/>
              <a:t>‹#›</a:t>
            </a:fld>
            <a:endParaRPr lang="en-US" dirty="0"/>
          </a:p>
        </p:txBody>
      </p:sp>
    </p:spTree>
    <p:extLst>
      <p:ext uri="{BB962C8B-B14F-4D97-AF65-F5344CB8AC3E}">
        <p14:creationId xmlns:p14="http://schemas.microsoft.com/office/powerpoint/2010/main" val="1307917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12E13C-8B03-415E-9A95-D7E20CB38760}" type="slidenum">
              <a:rPr lang="en-US" smtClean="0"/>
              <a:t>1</a:t>
            </a:fld>
            <a:endParaRPr lang="en-US" dirty="0"/>
          </a:p>
        </p:txBody>
      </p:sp>
    </p:spTree>
    <p:extLst>
      <p:ext uri="{BB962C8B-B14F-4D97-AF65-F5344CB8AC3E}">
        <p14:creationId xmlns:p14="http://schemas.microsoft.com/office/powerpoint/2010/main" val="2583282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Add a red circle here around</a:t>
            </a:r>
            <a:r>
              <a:rPr lang="en-US" baseline="0" dirty="0" smtClean="0"/>
              <a:t> the hover item…</a:t>
            </a:r>
            <a:endParaRPr lang="en-US" dirty="0"/>
          </a:p>
        </p:txBody>
      </p:sp>
      <p:sp>
        <p:nvSpPr>
          <p:cNvPr id="4" name="Slide Number Placeholder 3"/>
          <p:cNvSpPr>
            <a:spLocks noGrp="1"/>
          </p:cNvSpPr>
          <p:nvPr>
            <p:ph type="sldNum" sz="quarter" idx="10"/>
          </p:nvPr>
        </p:nvSpPr>
        <p:spPr/>
        <p:txBody>
          <a:bodyPr/>
          <a:lstStyle/>
          <a:p>
            <a:fld id="{6812E13C-8B03-415E-9A95-D7E20CB38760}" type="slidenum">
              <a:rPr lang="en-US" smtClean="0"/>
              <a:t>42</a:t>
            </a:fld>
            <a:endParaRPr lang="en-US" dirty="0"/>
          </a:p>
        </p:txBody>
      </p:sp>
    </p:spTree>
    <p:extLst>
      <p:ext uri="{BB962C8B-B14F-4D97-AF65-F5344CB8AC3E}">
        <p14:creationId xmlns:p14="http://schemas.microsoft.com/office/powerpoint/2010/main" val="2524721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2578473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3936742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2627154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3441194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3620877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12" y="180975"/>
            <a:ext cx="113347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371600" y="180975"/>
            <a:ext cx="7391400" cy="747793"/>
          </a:xfrm>
          <a:prstGeom prst="rect">
            <a:avLst/>
          </a:prstGeom>
          <a:solidFill>
            <a:schemeClr val="bg1">
              <a:lumMod val="8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152400"/>
            <a:ext cx="8229600" cy="808038"/>
          </a:xfrm>
        </p:spPr>
        <p:txBody>
          <a:bodyPr>
            <a:normAutofit/>
          </a:bodyPr>
          <a:lstStyle>
            <a:lvl1pPr>
              <a:defRPr sz="3600">
                <a:solidFill>
                  <a:schemeClr val="accent1">
                    <a:lumMod val="75000"/>
                  </a:schemeClr>
                </a:solidFill>
              </a:defRPr>
            </a:lvl1pPr>
          </a:lstStyle>
          <a:p>
            <a:r>
              <a:rPr lang="en-US" dirty="0" smtClean="0"/>
              <a:t>Click to edit Master title style</a:t>
            </a:r>
            <a:endParaRPr lang="en-US" dirty="0"/>
          </a:p>
        </p:txBody>
      </p:sp>
      <p:grpSp>
        <p:nvGrpSpPr>
          <p:cNvPr id="10" name="Group 9"/>
          <p:cNvGrpSpPr/>
          <p:nvPr userDrawn="1"/>
        </p:nvGrpSpPr>
        <p:grpSpPr>
          <a:xfrm>
            <a:off x="381000" y="6454627"/>
            <a:ext cx="8382000" cy="250973"/>
            <a:chOff x="381000" y="6172200"/>
            <a:chExt cx="8382000" cy="250973"/>
          </a:xfrm>
        </p:grpSpPr>
        <p:sp>
          <p:nvSpPr>
            <p:cNvPr id="11" name="Rectangle 10"/>
            <p:cNvSpPr/>
            <p:nvPr/>
          </p:nvSpPr>
          <p:spPr>
            <a:xfrm>
              <a:off x="381000" y="6172200"/>
              <a:ext cx="8382000" cy="250973"/>
            </a:xfrm>
            <a:prstGeom prst="rect">
              <a:avLst/>
            </a:prstGeom>
            <a:solidFill>
              <a:schemeClr val="bg1">
                <a:lumMod val="8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2476500" y="6176952"/>
              <a:ext cx="4191000" cy="246221"/>
            </a:xfrm>
            <a:prstGeom prst="rect">
              <a:avLst/>
            </a:prstGeom>
            <a:noFill/>
          </p:spPr>
          <p:txBody>
            <a:bodyPr wrap="square" rtlCol="0">
              <a:spAutoFit/>
            </a:bodyPr>
            <a:lstStyle/>
            <a:p>
              <a:r>
                <a:rPr lang="en-US" sz="1000" b="1" dirty="0" smtClean="0">
                  <a:solidFill>
                    <a:schemeClr val="bg1">
                      <a:lumMod val="50000"/>
                    </a:schemeClr>
                  </a:solidFill>
                </a:rPr>
                <a:t>Copyright © 2009 The University of Tennessee    All Rights Reserved</a:t>
              </a:r>
              <a:endParaRPr lang="en-US" sz="1000" b="1" dirty="0">
                <a:solidFill>
                  <a:schemeClr val="bg1">
                    <a:lumMod val="50000"/>
                  </a:schemeClr>
                </a:solidFill>
              </a:endParaRPr>
            </a:p>
          </p:txBody>
        </p:sp>
        <p:cxnSp>
          <p:nvCxnSpPr>
            <p:cNvPr id="13" name="Straight Connector 12"/>
            <p:cNvCxnSpPr/>
            <p:nvPr/>
          </p:nvCxnSpPr>
          <p:spPr>
            <a:xfrm>
              <a:off x="5067300" y="6260878"/>
              <a:ext cx="0" cy="912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2283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1993870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147098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2336529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2730237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BAA3AB0-0E41-44BE-8810-3C310C1981CB}" type="datetimeFigureOut">
              <a:rPr lang="en-US" smtClean="0"/>
              <a:t>12/7/2012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1F023D-5351-444D-B38A-BEB3261A2CCF}" type="slidenum">
              <a:rPr lang="en-US" smtClean="0"/>
              <a:t>‹#›</a:t>
            </a:fld>
            <a:endParaRPr lang="en-US" dirty="0"/>
          </a:p>
        </p:txBody>
      </p:sp>
    </p:spTree>
    <p:extLst>
      <p:ext uri="{BB962C8B-B14F-4D97-AF65-F5344CB8AC3E}">
        <p14:creationId xmlns:p14="http://schemas.microsoft.com/office/powerpoint/2010/main" val="1204191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AA3AB0-0E41-44BE-8810-3C310C1981CB}" type="datetimeFigureOut">
              <a:rPr lang="en-US" smtClean="0"/>
              <a:t>12/7/2012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1F023D-5351-444D-B38A-BEB3261A2CCF}" type="slidenum">
              <a:rPr lang="en-US" smtClean="0"/>
              <a:t>‹#›</a:t>
            </a:fld>
            <a:endParaRPr lang="en-US" dirty="0"/>
          </a:p>
        </p:txBody>
      </p:sp>
    </p:spTree>
    <p:extLst>
      <p:ext uri="{BB962C8B-B14F-4D97-AF65-F5344CB8AC3E}">
        <p14:creationId xmlns:p14="http://schemas.microsoft.com/office/powerpoint/2010/main" val="1501636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51.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6.xml"/><Relationship Id="rId4" Type="http://schemas.openxmlformats.org/officeDocument/2006/relationships/image" Target="../media/image83.png"/></Relationships>
</file>

<file path=ppt/slides/_rels/slide7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130425"/>
            <a:ext cx="7924800" cy="1470025"/>
          </a:xfrm>
        </p:spPr>
        <p:txBody>
          <a:bodyPr>
            <a:normAutofit/>
          </a:bodyPr>
          <a:lstStyle/>
          <a:p>
            <a:r>
              <a:rPr lang="en-US" sz="2800" dirty="0" smtClean="0"/>
              <a:t>Society for Risk Analysis Workshop 3:</a:t>
            </a:r>
            <a:br>
              <a:rPr lang="en-US" sz="2800" dirty="0" smtClean="0"/>
            </a:br>
            <a:r>
              <a:rPr lang="en-US" sz="2800" dirty="0" smtClean="0"/>
              <a:t>Application of Web-based Risk Assessment Information System (RAIS)</a:t>
            </a:r>
            <a:endParaRPr lang="en-US" sz="2800" dirty="0"/>
          </a:p>
        </p:txBody>
      </p:sp>
      <p:sp>
        <p:nvSpPr>
          <p:cNvPr id="3" name="Subtitle 2"/>
          <p:cNvSpPr>
            <a:spLocks noGrp="1"/>
          </p:cNvSpPr>
          <p:nvPr>
            <p:ph type="subTitle" idx="1"/>
          </p:nvPr>
        </p:nvSpPr>
        <p:spPr/>
        <p:txBody>
          <a:bodyPr>
            <a:normAutofit/>
          </a:bodyPr>
          <a:lstStyle/>
          <a:p>
            <a:r>
              <a:rPr lang="en-US" sz="1600" dirty="0" smtClean="0">
                <a:solidFill>
                  <a:schemeClr val="accent1">
                    <a:lumMod val="75000"/>
                  </a:schemeClr>
                </a:solidFill>
              </a:rPr>
              <a:t>Leslie Galloway, University of Tennessee/Oak Ridge National Laboratory</a:t>
            </a:r>
          </a:p>
          <a:p>
            <a:r>
              <a:rPr lang="en-US" sz="1600" dirty="0" smtClean="0">
                <a:solidFill>
                  <a:schemeClr val="accent1">
                    <a:lumMod val="75000"/>
                  </a:schemeClr>
                </a:solidFill>
              </a:rPr>
              <a:t>Debra Stewart, University of Tennessee/Oak Ridge National Laboratory</a:t>
            </a:r>
          </a:p>
          <a:p>
            <a:r>
              <a:rPr lang="en-US" sz="1600" dirty="0" smtClean="0">
                <a:solidFill>
                  <a:schemeClr val="accent1">
                    <a:lumMod val="75000"/>
                  </a:schemeClr>
                </a:solidFill>
              </a:rPr>
              <a:t>Katie Tucker, Ingenium/Oak Ridge National Laboratory</a:t>
            </a:r>
          </a:p>
          <a:p>
            <a:endParaRPr lang="en-US" dirty="0"/>
          </a:p>
        </p:txBody>
      </p:sp>
      <p:grpSp>
        <p:nvGrpSpPr>
          <p:cNvPr id="6" name="Group 5"/>
          <p:cNvGrpSpPr/>
          <p:nvPr/>
        </p:nvGrpSpPr>
        <p:grpSpPr>
          <a:xfrm>
            <a:off x="348712" y="409575"/>
            <a:ext cx="8414288" cy="809625"/>
            <a:chOff x="348712" y="319007"/>
            <a:chExt cx="8414288" cy="809625"/>
          </a:xfrm>
        </p:grpSpPr>
        <p:sp>
          <p:nvSpPr>
            <p:cNvPr id="4" name="Rectangle 3"/>
            <p:cNvSpPr/>
            <p:nvPr/>
          </p:nvSpPr>
          <p:spPr>
            <a:xfrm>
              <a:off x="1371600" y="319007"/>
              <a:ext cx="7391400" cy="747793"/>
            </a:xfrm>
            <a:prstGeom prst="rect">
              <a:avLst/>
            </a:prstGeom>
            <a:solidFill>
              <a:schemeClr val="bg1">
                <a:lumMod val="8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712" y="319007"/>
              <a:ext cx="113347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24000" y="436879"/>
              <a:ext cx="3886200" cy="615553"/>
            </a:xfrm>
            <a:prstGeom prst="rect">
              <a:avLst/>
            </a:prstGeom>
            <a:noFill/>
          </p:spPr>
          <p:txBody>
            <a:bodyPr wrap="square" rtlCol="0">
              <a:spAutoFit/>
            </a:bodyPr>
            <a:lstStyle/>
            <a:p>
              <a:r>
                <a:rPr lang="en-US" sz="2000" b="1" dirty="0" smtClean="0">
                  <a:solidFill>
                    <a:schemeClr val="accent1">
                      <a:lumMod val="75000"/>
                    </a:schemeClr>
                  </a:solidFill>
                </a:rPr>
                <a:t>RAIS</a:t>
              </a:r>
            </a:p>
            <a:p>
              <a:r>
                <a:rPr lang="en-US" sz="1400" dirty="0" smtClean="0">
                  <a:solidFill>
                    <a:schemeClr val="accent1">
                      <a:lumMod val="75000"/>
                    </a:schemeClr>
                  </a:solidFill>
                </a:rPr>
                <a:t>The Risk Assessment Information System</a:t>
              </a:r>
              <a:endParaRPr lang="en-US" sz="1400" dirty="0">
                <a:solidFill>
                  <a:schemeClr val="accent1">
                    <a:lumMod val="75000"/>
                  </a:schemeClr>
                </a:solidFill>
              </a:endParaRPr>
            </a:p>
          </p:txBody>
        </p:sp>
      </p:grpSp>
      <p:grpSp>
        <p:nvGrpSpPr>
          <p:cNvPr id="16" name="Group 15"/>
          <p:cNvGrpSpPr/>
          <p:nvPr/>
        </p:nvGrpSpPr>
        <p:grpSpPr>
          <a:xfrm>
            <a:off x="381000" y="6172200"/>
            <a:ext cx="8382000" cy="250973"/>
            <a:chOff x="381000" y="6172200"/>
            <a:chExt cx="8382000" cy="250973"/>
          </a:xfrm>
        </p:grpSpPr>
        <p:sp>
          <p:nvSpPr>
            <p:cNvPr id="8" name="Rectangle 7"/>
            <p:cNvSpPr/>
            <p:nvPr/>
          </p:nvSpPr>
          <p:spPr>
            <a:xfrm>
              <a:off x="381000" y="6172200"/>
              <a:ext cx="8382000" cy="250973"/>
            </a:xfrm>
            <a:prstGeom prst="rect">
              <a:avLst/>
            </a:prstGeom>
            <a:solidFill>
              <a:schemeClr val="bg1">
                <a:lumMod val="8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2476500" y="6176952"/>
              <a:ext cx="4191000" cy="246221"/>
            </a:xfrm>
            <a:prstGeom prst="rect">
              <a:avLst/>
            </a:prstGeom>
            <a:noFill/>
          </p:spPr>
          <p:txBody>
            <a:bodyPr wrap="square" rtlCol="0">
              <a:spAutoFit/>
            </a:bodyPr>
            <a:lstStyle/>
            <a:p>
              <a:r>
                <a:rPr lang="en-US" sz="1000" b="1" dirty="0" smtClean="0">
                  <a:solidFill>
                    <a:schemeClr val="bg1">
                      <a:lumMod val="50000"/>
                    </a:schemeClr>
                  </a:solidFill>
                </a:rPr>
                <a:t>Copyright © 2009 The University of Tennessee    All Rights Reserved</a:t>
              </a:r>
              <a:endParaRPr lang="en-US" sz="1000" b="1" dirty="0">
                <a:solidFill>
                  <a:schemeClr val="bg1">
                    <a:lumMod val="50000"/>
                  </a:schemeClr>
                </a:solidFill>
              </a:endParaRPr>
            </a:p>
          </p:txBody>
        </p:sp>
        <p:cxnSp>
          <p:nvCxnSpPr>
            <p:cNvPr id="10" name="Straight Connector 9"/>
            <p:cNvCxnSpPr/>
            <p:nvPr/>
          </p:nvCxnSpPr>
          <p:spPr>
            <a:xfrm>
              <a:off x="5067300" y="6260878"/>
              <a:ext cx="0" cy="912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705115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Instructors</a:t>
            </a:r>
            <a:endParaRPr lang="en-US" dirty="0"/>
          </a:p>
        </p:txBody>
      </p:sp>
      <p:pic>
        <p:nvPicPr>
          <p:cNvPr id="1028" name="Picture 4" descr="Y:\www\devel\htdocs\rais\SRA2012\lesli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781" y="1295400"/>
            <a:ext cx="4141819" cy="246294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029" name="Picture 5" descr="Y:\www\devel\htdocs\rais\SRA2012\kati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886200"/>
            <a:ext cx="4124119" cy="202164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026" name="Picture 2" descr="Y:\www\devel\htdocs\rais\SRA2012\debra.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3261" y="1295400"/>
            <a:ext cx="3969739" cy="24384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027" name="Picture 3" descr="Y:\www\devel\htdocs\rais\SRA2012\fre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3260" y="3886200"/>
            <a:ext cx="3969739" cy="240748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1822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Schedule</a:t>
            </a:r>
            <a:endParaRPr lang="en-US" dirty="0"/>
          </a:p>
        </p:txBody>
      </p:sp>
      <p:sp>
        <p:nvSpPr>
          <p:cNvPr id="3" name="TextBox 2"/>
          <p:cNvSpPr txBox="1"/>
          <p:nvPr/>
        </p:nvSpPr>
        <p:spPr>
          <a:xfrm>
            <a:off x="304800" y="1093887"/>
            <a:ext cx="4191000" cy="5078313"/>
          </a:xfrm>
          <a:prstGeom prst="rect">
            <a:avLst/>
          </a:prstGeom>
          <a:noFill/>
        </p:spPr>
        <p:txBody>
          <a:bodyPr wrap="square" rtlCol="0">
            <a:spAutoFit/>
          </a:bodyPr>
          <a:lstStyle/>
          <a:p>
            <a:pPr marL="285750" indent="-285750">
              <a:buFont typeface="Arial" pitchFamily="34" charset="0"/>
              <a:buChar char="•"/>
            </a:pPr>
            <a:r>
              <a:rPr lang="en-US" dirty="0" smtClean="0"/>
              <a:t>RAIS Overview/Navigation</a:t>
            </a:r>
          </a:p>
          <a:p>
            <a:pPr marL="742950" lvl="1" indent="-285750">
              <a:buFont typeface="Arial" pitchFamily="34" charset="0"/>
              <a:buChar char="•"/>
            </a:pPr>
            <a:r>
              <a:rPr lang="en-US" dirty="0" smtClean="0"/>
              <a:t>Homepage</a:t>
            </a:r>
          </a:p>
          <a:p>
            <a:pPr marL="742950" lvl="1" indent="-285750">
              <a:buFont typeface="Arial" pitchFamily="34" charset="0"/>
              <a:buChar char="•"/>
            </a:pPr>
            <a:r>
              <a:rPr lang="en-US" dirty="0" smtClean="0"/>
              <a:t>Tutorials</a:t>
            </a:r>
          </a:p>
          <a:p>
            <a:pPr marL="742950" lvl="1" indent="-285750">
              <a:buFont typeface="Arial" pitchFamily="34" charset="0"/>
              <a:buChar char="•"/>
            </a:pPr>
            <a:r>
              <a:rPr lang="en-US" dirty="0" smtClean="0"/>
              <a:t>User’s List</a:t>
            </a:r>
          </a:p>
          <a:p>
            <a:pPr marL="742950" lvl="1" indent="-285750">
              <a:buFont typeface="Arial" pitchFamily="34" charset="0"/>
              <a:buChar char="•"/>
            </a:pPr>
            <a:r>
              <a:rPr lang="en-US" dirty="0" smtClean="0"/>
              <a:t>Risk Guidance</a:t>
            </a:r>
          </a:p>
          <a:p>
            <a:pPr marL="742950" lvl="1" indent="-285750">
              <a:buFont typeface="Arial" pitchFamily="34" charset="0"/>
              <a:buChar char="•"/>
            </a:pPr>
            <a:r>
              <a:rPr lang="en-US" dirty="0" smtClean="0"/>
              <a:t>What’s New</a:t>
            </a:r>
          </a:p>
          <a:p>
            <a:pPr marL="742950" lvl="1" indent="-285750">
              <a:buFont typeface="Arial" pitchFamily="34" charset="0"/>
              <a:buChar char="•"/>
            </a:pPr>
            <a:r>
              <a:rPr lang="en-US" dirty="0" smtClean="0"/>
              <a:t>Document Search</a:t>
            </a:r>
          </a:p>
          <a:p>
            <a:pPr marL="742950" lvl="1" indent="-285750">
              <a:buFont typeface="Arial" pitchFamily="34" charset="0"/>
              <a:buChar char="•"/>
            </a:pPr>
            <a:r>
              <a:rPr lang="en-US" dirty="0" smtClean="0"/>
              <a:t>Glossary</a:t>
            </a:r>
          </a:p>
          <a:p>
            <a:pPr marL="742950" lvl="1" indent="-285750">
              <a:buFont typeface="Arial" pitchFamily="34" charset="0"/>
              <a:buChar char="•"/>
            </a:pPr>
            <a:r>
              <a:rPr lang="en-US" dirty="0" smtClean="0"/>
              <a:t>Support</a:t>
            </a:r>
          </a:p>
          <a:p>
            <a:pPr marL="742950" lvl="1" indent="-285750">
              <a:buFont typeface="Arial" pitchFamily="34" charset="0"/>
              <a:buChar char="•"/>
            </a:pPr>
            <a:r>
              <a:rPr lang="en-US" dirty="0" smtClean="0"/>
              <a:t>Navigation – Tools and EPA Tools</a:t>
            </a:r>
          </a:p>
          <a:p>
            <a:pPr marL="285750" indent="-285750">
              <a:buFont typeface="Arial" pitchFamily="34" charset="0"/>
              <a:buChar char="•"/>
            </a:pPr>
            <a:r>
              <a:rPr lang="en-US" dirty="0" smtClean="0"/>
              <a:t>Data Assessment</a:t>
            </a:r>
          </a:p>
          <a:p>
            <a:pPr marL="742950" lvl="1" indent="-285750">
              <a:buFont typeface="Arial" pitchFamily="34" charset="0"/>
              <a:buChar char="•"/>
            </a:pPr>
            <a:r>
              <a:rPr lang="en-US" dirty="0" smtClean="0"/>
              <a:t>ARARs – Federal and State</a:t>
            </a:r>
          </a:p>
          <a:p>
            <a:pPr marL="742950" lvl="1" indent="-285750">
              <a:buFont typeface="Arial" pitchFamily="34" charset="0"/>
              <a:buChar char="•"/>
            </a:pPr>
            <a:r>
              <a:rPr lang="en-US" dirty="0" smtClean="0"/>
              <a:t>Chemical Data Profiles</a:t>
            </a:r>
          </a:p>
          <a:p>
            <a:pPr marL="742950" lvl="1" indent="-285750">
              <a:buFont typeface="Arial" pitchFamily="34" charset="0"/>
              <a:buChar char="•"/>
            </a:pPr>
            <a:r>
              <a:rPr lang="en-US" dirty="0" smtClean="0"/>
              <a:t>Ecological Benchmarks</a:t>
            </a:r>
          </a:p>
          <a:p>
            <a:pPr marL="742950" lvl="1" indent="-285750">
              <a:buFont typeface="Arial" pitchFamily="34" charset="0"/>
              <a:buChar char="•"/>
            </a:pPr>
            <a:r>
              <a:rPr lang="en-US" dirty="0" smtClean="0"/>
              <a:t>Background Values</a:t>
            </a:r>
          </a:p>
          <a:p>
            <a:pPr marL="742950" lvl="1" indent="-285750">
              <a:buFont typeface="Arial" pitchFamily="34" charset="0"/>
              <a:buChar char="•"/>
            </a:pPr>
            <a:r>
              <a:rPr lang="en-US" dirty="0" smtClean="0"/>
              <a:t>PRGs – Chemical and Radiological</a:t>
            </a:r>
          </a:p>
          <a:p>
            <a:pPr marL="742950" lvl="1" indent="-285750">
              <a:buFont typeface="Arial" pitchFamily="34" charset="0"/>
              <a:buChar char="•"/>
            </a:pPr>
            <a:r>
              <a:rPr lang="en-US" dirty="0" smtClean="0"/>
              <a:t>Practice Session #1</a:t>
            </a:r>
          </a:p>
          <a:p>
            <a:pPr marL="742950" lvl="1" indent="-285750">
              <a:buFont typeface="Arial" pitchFamily="34" charset="0"/>
              <a:buChar char="•"/>
            </a:pPr>
            <a:endParaRPr lang="en-US" dirty="0"/>
          </a:p>
        </p:txBody>
      </p:sp>
      <p:sp>
        <p:nvSpPr>
          <p:cNvPr id="4" name="TextBox 3"/>
          <p:cNvSpPr txBox="1"/>
          <p:nvPr/>
        </p:nvSpPr>
        <p:spPr>
          <a:xfrm>
            <a:off x="4759036" y="1093887"/>
            <a:ext cx="4191000" cy="3139321"/>
          </a:xfrm>
          <a:prstGeom prst="rect">
            <a:avLst/>
          </a:prstGeom>
          <a:noFill/>
        </p:spPr>
        <p:txBody>
          <a:bodyPr wrap="square" rtlCol="0">
            <a:spAutoFit/>
          </a:bodyPr>
          <a:lstStyle/>
          <a:p>
            <a:pPr marL="285750" indent="-285750">
              <a:buFont typeface="Arial" pitchFamily="34" charset="0"/>
              <a:buChar char="•"/>
            </a:pPr>
            <a:r>
              <a:rPr lang="en-US" dirty="0" smtClean="0"/>
              <a:t>Toxicity Assessment</a:t>
            </a:r>
          </a:p>
          <a:p>
            <a:pPr marL="742950" lvl="1" indent="-285750">
              <a:buFont typeface="Arial" pitchFamily="34" charset="0"/>
              <a:buChar char="•"/>
            </a:pPr>
            <a:r>
              <a:rPr lang="en-US" dirty="0" smtClean="0"/>
              <a:t>Toxicity Profiles </a:t>
            </a:r>
          </a:p>
          <a:p>
            <a:pPr marL="742950" lvl="1" indent="-285750">
              <a:buFont typeface="Arial" pitchFamily="34" charset="0"/>
              <a:buChar char="•"/>
            </a:pPr>
            <a:r>
              <a:rPr lang="en-US" dirty="0" smtClean="0"/>
              <a:t>Toxicity Values – Chemical and Radiological</a:t>
            </a:r>
          </a:p>
          <a:p>
            <a:pPr marL="742950" lvl="1" indent="-285750">
              <a:buFont typeface="Arial" pitchFamily="34" charset="0"/>
              <a:buChar char="•"/>
            </a:pPr>
            <a:r>
              <a:rPr lang="en-US" dirty="0" smtClean="0"/>
              <a:t>Toxicity Metadata</a:t>
            </a:r>
          </a:p>
          <a:p>
            <a:pPr marL="742950" lvl="1" indent="-285750">
              <a:buFont typeface="Arial" pitchFamily="34" charset="0"/>
              <a:buChar char="•"/>
            </a:pPr>
            <a:r>
              <a:rPr lang="en-US" dirty="0" smtClean="0"/>
              <a:t>Radionuclide Decay Chain</a:t>
            </a:r>
          </a:p>
          <a:p>
            <a:pPr marL="742950" lvl="1" indent="-285750">
              <a:buFont typeface="Arial" pitchFamily="34" charset="0"/>
              <a:buChar char="•"/>
            </a:pPr>
            <a:r>
              <a:rPr lang="en-US" dirty="0" smtClean="0"/>
              <a:t>Practice Session #2</a:t>
            </a:r>
          </a:p>
          <a:p>
            <a:pPr marL="285750" indent="-285750">
              <a:buFont typeface="Arial" pitchFamily="34" charset="0"/>
              <a:buChar char="•"/>
            </a:pPr>
            <a:r>
              <a:rPr lang="en-US" dirty="0" smtClean="0"/>
              <a:t>Risk Characterization</a:t>
            </a:r>
          </a:p>
          <a:p>
            <a:pPr marL="742950" lvl="1" indent="-285750">
              <a:buFont typeface="Arial" pitchFamily="34" charset="0"/>
              <a:buChar char="•"/>
            </a:pPr>
            <a:r>
              <a:rPr lang="en-US" dirty="0" smtClean="0"/>
              <a:t>Risk Models</a:t>
            </a:r>
          </a:p>
          <a:p>
            <a:pPr marL="742950" lvl="1" indent="-285750">
              <a:buFont typeface="Arial" pitchFamily="34" charset="0"/>
              <a:buChar char="•"/>
            </a:pPr>
            <a:r>
              <a:rPr lang="en-US" dirty="0" smtClean="0"/>
              <a:t>Chemical Risk Calculator</a:t>
            </a:r>
          </a:p>
          <a:p>
            <a:pPr marL="742950" lvl="1" indent="-285750">
              <a:buFont typeface="Arial" pitchFamily="34" charset="0"/>
              <a:buChar char="•"/>
            </a:pPr>
            <a:r>
              <a:rPr lang="en-US" dirty="0" smtClean="0"/>
              <a:t>Practice Session #3</a:t>
            </a:r>
          </a:p>
        </p:txBody>
      </p:sp>
    </p:spTree>
    <p:extLst>
      <p:ext uri="{BB962C8B-B14F-4D97-AF65-F5344CB8AC3E}">
        <p14:creationId xmlns:p14="http://schemas.microsoft.com/office/powerpoint/2010/main" val="33510212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http://rais.ornl.gov/</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66800"/>
            <a:ext cx="6956191" cy="532571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27759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Tutorials</a:t>
            </a:r>
            <a:endParaRPr lang="en-US" dirty="0"/>
          </a:p>
        </p:txBody>
      </p:sp>
      <p:pic>
        <p:nvPicPr>
          <p:cNvPr id="3074" name="Picture 2" descr="Y:\www\devel\htdocs\rais\SRA2012\maintutoria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034" y="1234375"/>
            <a:ext cx="7072166" cy="49378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2198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List</a:t>
            </a:r>
            <a:endParaRPr lang="en-US" dirty="0"/>
          </a:p>
        </p:txBody>
      </p:sp>
      <p:pic>
        <p:nvPicPr>
          <p:cNvPr id="4098" name="Picture 2" descr="Y:\www\devel\htdocs\rais\SRA2012\usersli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19200"/>
            <a:ext cx="5412292" cy="482650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6585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Guidance</a:t>
            </a:r>
            <a:endParaRPr lang="en-US" dirty="0"/>
          </a:p>
        </p:txBody>
      </p:sp>
      <p:pic>
        <p:nvPicPr>
          <p:cNvPr id="32770" name="Picture 2" descr="Y:\www\devel\htdocs\rais\SRA2012\riskguidan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089" y="1295400"/>
            <a:ext cx="7111111" cy="471365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Oval 2"/>
          <p:cNvSpPr/>
          <p:nvPr/>
        </p:nvSpPr>
        <p:spPr>
          <a:xfrm>
            <a:off x="3048000" y="2286000"/>
            <a:ext cx="914400"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76756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New</a:t>
            </a:r>
            <a:endParaRPr lang="en-US" dirty="0"/>
          </a:p>
        </p:txBody>
      </p:sp>
      <p:pic>
        <p:nvPicPr>
          <p:cNvPr id="5122" name="Picture 2" descr="Y:\www\devel\htdocs\rais\SRA2012\whatsne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241" y="1148233"/>
            <a:ext cx="5490959" cy="517636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244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Search</a:t>
            </a:r>
            <a:endParaRPr lang="en-US" dirty="0"/>
          </a:p>
        </p:txBody>
      </p:sp>
      <p:pic>
        <p:nvPicPr>
          <p:cNvPr id="5" name="Picture 4"/>
          <p:cNvPicPr>
            <a:picLocks noChangeAspect="1"/>
          </p:cNvPicPr>
          <p:nvPr/>
        </p:nvPicPr>
        <p:blipFill>
          <a:blip r:embed="rId2"/>
          <a:stretch>
            <a:fillRect/>
          </a:stretch>
        </p:blipFill>
        <p:spPr>
          <a:xfrm>
            <a:off x="304800" y="2057400"/>
            <a:ext cx="8458315" cy="2976573"/>
          </a:xfrm>
          <a:prstGeom prst="rect">
            <a:avLst/>
          </a:prstGeom>
          <a:ln>
            <a:solidFill>
              <a:schemeClr val="tx1"/>
            </a:solidFill>
          </a:ln>
        </p:spPr>
      </p:pic>
    </p:spTree>
    <p:extLst>
      <p:ext uri="{BB962C8B-B14F-4D97-AF65-F5344CB8AC3E}">
        <p14:creationId xmlns:p14="http://schemas.microsoft.com/office/powerpoint/2010/main" val="18408397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Search</a:t>
            </a:r>
            <a:endParaRPr lang="en-US" dirty="0"/>
          </a:p>
        </p:txBody>
      </p:sp>
      <p:pic>
        <p:nvPicPr>
          <p:cNvPr id="6146" name="Picture 2" descr="Y:\www\devel\htdocs\rais\SRA2012\mckone_docsearc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54915"/>
            <a:ext cx="5490959" cy="499348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5888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Glossary</a:t>
            </a:r>
            <a:endParaRPr lang="en-US" dirty="0"/>
          </a:p>
        </p:txBody>
      </p:sp>
      <p:pic>
        <p:nvPicPr>
          <p:cNvPr id="7170" name="Picture 2" descr="Y:\www\devel\htdocs\rais\SRA2012\glossar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8507" y="1262867"/>
            <a:ext cx="5506693" cy="498553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7276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Support</a:t>
            </a:r>
            <a:endParaRPr lang="en-US" dirty="0"/>
          </a:p>
        </p:txBody>
      </p:sp>
      <p:pic>
        <p:nvPicPr>
          <p:cNvPr id="8194" name="Picture 2" descr="Y:\www\devel\htdocs\rais\SRA2012\suppor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066800"/>
            <a:ext cx="4818356" cy="52876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3754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Navigation - Tools</a:t>
            </a:r>
            <a:endParaRPr lang="en-US" dirty="0"/>
          </a:p>
        </p:txBody>
      </p:sp>
      <p:pic>
        <p:nvPicPr>
          <p:cNvPr id="5" name="Picture 4"/>
          <p:cNvPicPr>
            <a:picLocks noChangeAspect="1"/>
          </p:cNvPicPr>
          <p:nvPr/>
        </p:nvPicPr>
        <p:blipFill>
          <a:blip r:embed="rId2"/>
          <a:stretch>
            <a:fillRect/>
          </a:stretch>
        </p:blipFill>
        <p:spPr>
          <a:xfrm>
            <a:off x="2819400" y="1066800"/>
            <a:ext cx="3301898" cy="5257799"/>
          </a:xfrm>
          <a:prstGeom prst="rect">
            <a:avLst/>
          </a:prstGeom>
          <a:ln>
            <a:solidFill>
              <a:schemeClr val="tx1"/>
            </a:solidFill>
          </a:ln>
        </p:spPr>
      </p:pic>
    </p:spTree>
    <p:extLst>
      <p:ext uri="{BB962C8B-B14F-4D97-AF65-F5344CB8AC3E}">
        <p14:creationId xmlns:p14="http://schemas.microsoft.com/office/powerpoint/2010/main" val="41945145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Navigation – EPA Tools</a:t>
            </a:r>
            <a:endParaRPr lang="en-US" dirty="0"/>
          </a:p>
        </p:txBody>
      </p:sp>
      <p:pic>
        <p:nvPicPr>
          <p:cNvPr id="33794" name="Picture 2" descr="Y:\www\devel\htdocs\rais\SRA2012\epatool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371600"/>
            <a:ext cx="5720636" cy="488254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4420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Assessment - ARARs</a:t>
            </a:r>
            <a:endParaRPr lang="en-US" dirty="0"/>
          </a:p>
        </p:txBody>
      </p:sp>
      <p:pic>
        <p:nvPicPr>
          <p:cNvPr id="9218" name="Picture 2" descr="Y:\www\devel\htdocs\rais\SRA2012\ararmainmenu.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29409"/>
            <a:ext cx="7858837" cy="471419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5202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Data Assessment – Federal ARARs</a:t>
            </a:r>
            <a:endParaRPr lang="en-US" dirty="0"/>
          </a:p>
        </p:txBody>
      </p:sp>
      <p:pic>
        <p:nvPicPr>
          <p:cNvPr id="10242" name="Picture 2" descr="Y:\www\devel\htdocs\rais\SRA2012\ararfed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131674"/>
            <a:ext cx="6977766" cy="465952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1718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Data </a:t>
            </a:r>
            <a:r>
              <a:rPr lang="en-US" dirty="0"/>
              <a:t>Assessment – Federal ARARs</a:t>
            </a:r>
          </a:p>
        </p:txBody>
      </p:sp>
      <p:pic>
        <p:nvPicPr>
          <p:cNvPr id="11266" name="Picture 2" descr="Y:\www\devel\htdocs\rais\SRA2012\ararfed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8" y="1316038"/>
            <a:ext cx="8683625" cy="422433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5821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a:t>Assessment – </a:t>
            </a:r>
            <a:r>
              <a:rPr lang="en-US" dirty="0" smtClean="0"/>
              <a:t>CA </a:t>
            </a:r>
            <a:r>
              <a:rPr lang="en-US" dirty="0"/>
              <a:t>ARARs</a:t>
            </a:r>
          </a:p>
        </p:txBody>
      </p:sp>
      <p:pic>
        <p:nvPicPr>
          <p:cNvPr id="12291" name="Picture 3" descr="Y:\www\devel\htdocs\rais\SRA2012\ararca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60767"/>
            <a:ext cx="6954166" cy="526383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1360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a:t>Assessment – </a:t>
            </a:r>
            <a:r>
              <a:rPr lang="en-US" dirty="0" smtClean="0"/>
              <a:t>CA ARARs</a:t>
            </a:r>
            <a:endParaRPr lang="en-US" dirty="0"/>
          </a:p>
        </p:txBody>
      </p:sp>
      <p:pic>
        <p:nvPicPr>
          <p:cNvPr id="13314" name="Picture 2" descr="Y:\www\devel\htdocs\rais\SRA2012\ararcal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268413"/>
            <a:ext cx="8731250" cy="45227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867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15362" name="Picture 2" descr="Y:\www\devel\htdocs\rais\SRA2012\chemdataprofilebenze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8950" y="2220913"/>
            <a:ext cx="5624513" cy="24145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8476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14338" name="Picture 2" descr="Y:\www\devel\htdocs\rais\SRA2012\chemdataprofilebenze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8950" y="2220913"/>
            <a:ext cx="5624513" cy="2414587"/>
          </a:xfrm>
          <a:prstGeom prst="rect">
            <a:avLst/>
          </a:prstGeom>
          <a:noFill/>
          <a:extLst>
            <a:ext uri="{909E8E84-426E-40DD-AFC4-6F175D3DCCD1}">
              <a14:hiddenFill xmlns:a14="http://schemas.microsoft.com/office/drawing/2010/main">
                <a:solidFill>
                  <a:srgbClr val="FFFFFF"/>
                </a:solidFill>
              </a14:hiddenFill>
            </a:ext>
          </a:extLst>
        </p:spPr>
      </p:pic>
      <p:pic>
        <p:nvPicPr>
          <p:cNvPr id="14339" name="Picture 3" descr="Y:\www\devel\htdocs\rais\SRA2012\chemdataprofilebenzen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1447800"/>
            <a:ext cx="8829675" cy="46212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50746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16386" name="Picture 2" descr="Y:\www\devel\htdocs\rais\SRA2012\chemdataprofilebenzen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914400"/>
            <a:ext cx="5292325" cy="55043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Oval 2"/>
          <p:cNvSpPr/>
          <p:nvPr/>
        </p:nvSpPr>
        <p:spPr>
          <a:xfrm>
            <a:off x="2962275" y="5495925"/>
            <a:ext cx="4572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0970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17410" name="Picture 2" descr="Y:\www\devel\htdocs\rais\SRA2012\chemdataprofilebenzene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3" y="1292225"/>
            <a:ext cx="8829675" cy="42735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1858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18434" name="Picture 2" descr="Y:\www\devel\htdocs\rais\SRA2012\chemdataprofilebenzene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435" y="1219200"/>
            <a:ext cx="3200765" cy="49050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0431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19458" name="Picture 2" descr="Y:\www\devel\htdocs\rais\SRA2012\chemdataprofilebenzene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16041"/>
            <a:ext cx="5424092" cy="53085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5068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20482" name="Picture 2" descr="Y:\www\devel\htdocs\rais\SRA2012\chemdataprofilebenzene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20071"/>
            <a:ext cx="6071129" cy="528072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5164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Data Profiles</a:t>
            </a:r>
            <a:endParaRPr lang="en-US" dirty="0"/>
          </a:p>
        </p:txBody>
      </p:sp>
      <p:pic>
        <p:nvPicPr>
          <p:cNvPr id="21506" name="Picture 2" descr="Y:\www\devel\htdocs\rais\SRA2012\chemdataprofilebenzene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22617"/>
            <a:ext cx="6954166" cy="442098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6736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Ecological Benchmarks</a:t>
            </a:r>
            <a:endParaRPr lang="en-US" dirty="0"/>
          </a:p>
        </p:txBody>
      </p:sp>
      <p:pic>
        <p:nvPicPr>
          <p:cNvPr id="22530" name="Picture 2" descr="Y:\www\devel\htdocs\rais\SRA2012\ecobench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43049"/>
            <a:ext cx="7103634" cy="452435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6169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Ecological Benchmarks</a:t>
            </a:r>
            <a:endParaRPr lang="en-US" dirty="0"/>
          </a:p>
        </p:txBody>
      </p:sp>
      <p:pic>
        <p:nvPicPr>
          <p:cNvPr id="12290" name="Picture 2" descr="Y:\www\devel\htdocs\rais\SRA2012\ecobench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120735"/>
            <a:ext cx="3445125" cy="512766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2824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Ecological Benchmarks</a:t>
            </a:r>
          </a:p>
        </p:txBody>
      </p:sp>
      <p:pic>
        <p:nvPicPr>
          <p:cNvPr id="13314" name="Picture 2" descr="Y:\www\devel\htdocs\rais\SRA2012\ecobench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186667"/>
            <a:ext cx="4764764" cy="498553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4455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Ecological Benchmarks</a:t>
            </a:r>
          </a:p>
        </p:txBody>
      </p:sp>
      <p:pic>
        <p:nvPicPr>
          <p:cNvPr id="14338" name="Picture 2" descr="Y:\www\devel\htdocs\rais\SRA2012\ecobench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563" y="1219200"/>
            <a:ext cx="8524875" cy="17684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4339" name="Picture 3" descr="Y:\www\devel\htdocs\rais\SRA2012\ecobench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 y="2773363"/>
            <a:ext cx="8693150" cy="179863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4340" name="Picture 4" descr="Y:\www\devel\htdocs\rais\SRA2012\ecobench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213" y="4303713"/>
            <a:ext cx="8791575" cy="18684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7351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Values</a:t>
            </a:r>
            <a:endParaRPr lang="en-US" dirty="0"/>
          </a:p>
        </p:txBody>
      </p:sp>
      <p:pic>
        <p:nvPicPr>
          <p:cNvPr id="34818" name="Picture 2" descr="Y:\www\devel\htdocs\rais\SRA2012\backgroundmenu.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543" y="1108082"/>
            <a:ext cx="4902857" cy="51403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8555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Values</a:t>
            </a:r>
            <a:endParaRPr lang="en-US" dirty="0"/>
          </a:p>
        </p:txBody>
      </p:sp>
      <p:pic>
        <p:nvPicPr>
          <p:cNvPr id="25602" name="Picture 2" descr="Y:\www\devel\htdocs\rais\SRA2012\backgroundgeneri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3" y="1728788"/>
            <a:ext cx="8829675" cy="339883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15658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Values</a:t>
            </a:r>
            <a:endParaRPr lang="en-US" dirty="0"/>
          </a:p>
        </p:txBody>
      </p:sp>
      <p:pic>
        <p:nvPicPr>
          <p:cNvPr id="26626" name="Picture 2" descr="Y:\www\devel\htdocs\rais\SRA2012\backgroundgeneric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295400"/>
            <a:ext cx="6195029" cy="491894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2565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Preliminary Remediation Goals (PRGs)</a:t>
            </a:r>
            <a:endParaRPr lang="en-US" dirty="0"/>
          </a:p>
        </p:txBody>
      </p:sp>
      <p:pic>
        <p:nvPicPr>
          <p:cNvPr id="3" name="Picture 2"/>
          <p:cNvPicPr>
            <a:picLocks noChangeAspect="1"/>
          </p:cNvPicPr>
          <p:nvPr/>
        </p:nvPicPr>
        <p:blipFill>
          <a:blip r:embed="rId2"/>
          <a:stretch>
            <a:fillRect/>
          </a:stretch>
        </p:blipFill>
        <p:spPr>
          <a:xfrm>
            <a:off x="2405062" y="1362075"/>
            <a:ext cx="4300538" cy="4657725"/>
          </a:xfrm>
          <a:prstGeom prst="rect">
            <a:avLst/>
          </a:prstGeom>
          <a:ln>
            <a:solidFill>
              <a:schemeClr val="tx1"/>
            </a:solidFill>
          </a:ln>
        </p:spPr>
      </p:pic>
    </p:spTree>
    <p:extLst>
      <p:ext uri="{BB962C8B-B14F-4D97-AF65-F5344CB8AC3E}">
        <p14:creationId xmlns:p14="http://schemas.microsoft.com/office/powerpoint/2010/main" val="14407158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PRGs</a:t>
            </a:r>
            <a:endParaRPr lang="en-US" dirty="0"/>
          </a:p>
        </p:txBody>
      </p:sp>
      <p:pic>
        <p:nvPicPr>
          <p:cNvPr id="15362" name="Picture 2" descr="Y:\www\devel\htdocs\rais\SRA2012\prgchemtoo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4287354" cy="53274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346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PRGs</a:t>
            </a:r>
            <a:endParaRPr lang="en-US" dirty="0"/>
          </a:p>
        </p:txBody>
      </p:sp>
      <p:pic>
        <p:nvPicPr>
          <p:cNvPr id="11266" name="Picture 2" descr="Y:\www\devel\htdocs\rais\SRA2012\prgchemtool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075" y="1430338"/>
            <a:ext cx="5304125" cy="23973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1267" name="Picture 3" descr="Y:\www\devel\htdocs\rais\SRA2012\prgchemtool5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0275" y="3972974"/>
            <a:ext cx="5256925" cy="212302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8080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PRGs</a:t>
            </a:r>
            <a:endParaRPr lang="en-US" dirty="0"/>
          </a:p>
        </p:txBody>
      </p:sp>
      <p:pic>
        <p:nvPicPr>
          <p:cNvPr id="3075" name="Picture 3" descr="Y:\www\devel\htdocs\rais\SRA2012\prgchemtool5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63" y="1143001"/>
            <a:ext cx="4351271" cy="179403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6" name="Picture 4" descr="Y:\www\devel\htdocs\rais\SRA2012\prgchemtool5d.png"/>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7676" y="2758085"/>
            <a:ext cx="5245124" cy="181391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7" name="Picture 5" descr="Y:\www\devel\htdocs\rais\SRA2012\prgchemtool5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4532219"/>
            <a:ext cx="4370937" cy="186858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3711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PRGs</a:t>
            </a:r>
            <a:endParaRPr lang="en-US" dirty="0"/>
          </a:p>
        </p:txBody>
      </p:sp>
      <p:pic>
        <p:nvPicPr>
          <p:cNvPr id="5122" name="Picture 2" descr="Y:\www\devel\htdocs\rais\SRA2012\prgchemtool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888" y="1295400"/>
            <a:ext cx="4944223" cy="463368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73972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PRGs</a:t>
            </a:r>
            <a:endParaRPr lang="en-US" dirty="0"/>
          </a:p>
        </p:txBody>
      </p:sp>
      <p:pic>
        <p:nvPicPr>
          <p:cNvPr id="6146" name="Picture 2" descr="Y:\www\devel\htdocs\rais\SRA2012\prgchemtool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319" y="996327"/>
            <a:ext cx="6593281" cy="540447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0819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Radiological PRGs</a:t>
            </a:r>
            <a:endParaRPr lang="en-US" dirty="0"/>
          </a:p>
        </p:txBody>
      </p:sp>
      <p:pic>
        <p:nvPicPr>
          <p:cNvPr id="7170" name="Picture 2" descr="Y:\www\devel\htdocs\rais\SRA2012\prgradtoo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171" y="1143000"/>
            <a:ext cx="4418629" cy="513313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8229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Radiological PRGs</a:t>
            </a:r>
            <a:endParaRPr lang="en-US" dirty="0"/>
          </a:p>
        </p:txBody>
      </p:sp>
      <p:pic>
        <p:nvPicPr>
          <p:cNvPr id="8194" name="Picture 2" descr="Y:\www\devel\htdocs\rais\SRA2012\prgradtool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8" y="1066800"/>
            <a:ext cx="5186124" cy="165190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195" name="Picture 3" descr="Y:\www\devel\htdocs\rais\SRA2012\prgradtool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6775" y="2743200"/>
            <a:ext cx="5274625" cy="158630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196" name="Picture 4" descr="Y:\www\devel\htdocs\rais\SRA2012\prgradtool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4261108"/>
            <a:ext cx="6888890" cy="206349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Oval 5"/>
          <p:cNvSpPr/>
          <p:nvPr/>
        </p:nvSpPr>
        <p:spPr>
          <a:xfrm>
            <a:off x="6324600" y="5067300"/>
            <a:ext cx="4572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77458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Radiological PRGs</a:t>
            </a:r>
          </a:p>
        </p:txBody>
      </p:sp>
      <p:pic>
        <p:nvPicPr>
          <p:cNvPr id="9222" name="Picture 6" descr="Y:\www\devel\htdocs\rais\SRA2012\prgradtool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0775" y="1290700"/>
            <a:ext cx="5298225" cy="47291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3351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Radiological PRGs</a:t>
            </a:r>
          </a:p>
        </p:txBody>
      </p:sp>
      <p:pic>
        <p:nvPicPr>
          <p:cNvPr id="16387" name="Picture 3" descr="Y:\www\devel\htdocs\rais\SRA2012\prgradtool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134098"/>
            <a:ext cx="4950123" cy="31905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6386" name="Picture 2" descr="Y:\www\devel\htdocs\rais\SRA2012\prgradtool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066800"/>
            <a:ext cx="4967823" cy="25524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8598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Radiological PRGs</a:t>
            </a:r>
          </a:p>
        </p:txBody>
      </p:sp>
      <p:pic>
        <p:nvPicPr>
          <p:cNvPr id="10247" name="Picture 7" descr="Y:\www\devel\htdocs\rais\SRA2012\prgradtool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180703"/>
            <a:ext cx="4088719" cy="49914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4826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Radiological PRGs</a:t>
            </a:r>
          </a:p>
        </p:txBody>
      </p:sp>
      <p:pic>
        <p:nvPicPr>
          <p:cNvPr id="17410" name="Picture 2" descr="Y:\www\devel\htdocs\rais\SRA2012\prgradtool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43000"/>
            <a:ext cx="8682874" cy="287244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7411" name="Picture 3" descr="Y:\www\devel\htdocs\rais\SRA2012\prgradtool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 y="4127500"/>
            <a:ext cx="8761413" cy="21971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63736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Assessment Practice</a:t>
            </a:r>
            <a:endParaRPr lang="en-US" dirty="0"/>
          </a:p>
        </p:txBody>
      </p:sp>
      <p:sp>
        <p:nvSpPr>
          <p:cNvPr id="3" name="Content Placeholder 2"/>
          <p:cNvSpPr>
            <a:spLocks noGrp="1"/>
          </p:cNvSpPr>
          <p:nvPr/>
        </p:nvSpPr>
        <p:spPr>
          <a:xfrm>
            <a:off x="457200" y="1275081"/>
            <a:ext cx="8229600" cy="2743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t>Your San Francisco 0.5 acre residential site in alluvial soil and groundwater has the following contaminants:</a:t>
            </a:r>
          </a:p>
          <a:p>
            <a:pPr lvl="1"/>
            <a:r>
              <a:rPr lang="en-US" sz="2000" dirty="0" smtClean="0"/>
              <a:t>Benzene in soil at 50 mg/kg</a:t>
            </a:r>
          </a:p>
          <a:p>
            <a:pPr lvl="1"/>
            <a:r>
              <a:rPr lang="en-US" sz="2000" dirty="0" smtClean="0"/>
              <a:t>Arsenic in soil at 5 mg/kg</a:t>
            </a:r>
          </a:p>
          <a:p>
            <a:pPr lvl="1"/>
            <a:r>
              <a:rPr lang="en-US" sz="2000" dirty="0" smtClean="0"/>
              <a:t>Toluene in groundwater at 5 ug/L</a:t>
            </a:r>
          </a:p>
          <a:p>
            <a:r>
              <a:rPr lang="en-US" sz="2400" dirty="0" smtClean="0"/>
              <a:t>Screen against PRGs, Primary MCLs, and generic background to determine the COPCs.</a:t>
            </a:r>
          </a:p>
          <a:p>
            <a:pPr lvl="1"/>
            <a:endParaRPr lang="en-US" sz="2000" dirty="0"/>
          </a:p>
        </p:txBody>
      </p:sp>
      <p:pic>
        <p:nvPicPr>
          <p:cNvPr id="4" name="table"/>
          <p:cNvPicPr>
            <a:picLocks noChangeAspect="1"/>
          </p:cNvPicPr>
          <p:nvPr/>
        </p:nvPicPr>
        <p:blipFill>
          <a:blip r:embed="rId2"/>
          <a:stretch>
            <a:fillRect/>
          </a:stretch>
        </p:blipFill>
        <p:spPr>
          <a:xfrm>
            <a:off x="914400" y="4170680"/>
            <a:ext cx="7315200" cy="1925320"/>
          </a:xfrm>
          <a:prstGeom prst="rect">
            <a:avLst/>
          </a:prstGeom>
        </p:spPr>
      </p:pic>
    </p:spTree>
    <p:extLst>
      <p:ext uri="{BB962C8B-B14F-4D97-AF65-F5344CB8AC3E}">
        <p14:creationId xmlns:p14="http://schemas.microsoft.com/office/powerpoint/2010/main" val="5113854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Assessment Practice Results</a:t>
            </a:r>
            <a:endParaRPr lang="en-US" dirty="0"/>
          </a:p>
        </p:txBody>
      </p:sp>
      <p:sp>
        <p:nvSpPr>
          <p:cNvPr id="3" name="Content Placeholder 2"/>
          <p:cNvSpPr>
            <a:spLocks noGrp="1"/>
          </p:cNvSpPr>
          <p:nvPr/>
        </p:nvSpPr>
        <p:spPr>
          <a:xfrm>
            <a:off x="457200" y="1828800"/>
            <a:ext cx="8229600" cy="762000"/>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When getting ARAR make sure you use California for Primary Drinking Water MCL.</a:t>
            </a:r>
          </a:p>
          <a:p>
            <a:r>
              <a:rPr lang="en-US" dirty="0" smtClean="0"/>
              <a:t>When calculating soil PRG select San Francisco for PEF and VF. All others are default.</a:t>
            </a:r>
          </a:p>
          <a:p>
            <a:r>
              <a:rPr lang="en-US" dirty="0" smtClean="0"/>
              <a:t>When getting soil background make sure to get mean for proper soil type.</a:t>
            </a:r>
            <a:endParaRPr lang="en-US" dirty="0"/>
          </a:p>
        </p:txBody>
      </p:sp>
      <p:pic>
        <p:nvPicPr>
          <p:cNvPr id="4" name="table"/>
          <p:cNvPicPr>
            <a:picLocks noChangeAspect="1"/>
          </p:cNvPicPr>
          <p:nvPr/>
        </p:nvPicPr>
        <p:blipFill>
          <a:blip r:embed="rId2"/>
          <a:stretch>
            <a:fillRect/>
          </a:stretch>
        </p:blipFill>
        <p:spPr>
          <a:xfrm>
            <a:off x="838200" y="3185159"/>
            <a:ext cx="7391400" cy="1630680"/>
          </a:xfrm>
          <a:prstGeom prst="rect">
            <a:avLst/>
          </a:prstGeom>
        </p:spPr>
      </p:pic>
    </p:spTree>
    <p:extLst>
      <p:ext uri="{BB962C8B-B14F-4D97-AF65-F5344CB8AC3E}">
        <p14:creationId xmlns:p14="http://schemas.microsoft.com/office/powerpoint/2010/main" val="168155597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Toxicity Profiles</a:t>
            </a:r>
            <a:endParaRPr lang="en-US" dirty="0"/>
          </a:p>
        </p:txBody>
      </p:sp>
      <p:pic>
        <p:nvPicPr>
          <p:cNvPr id="18434" name="Picture 2" descr="Y:\www\devel\htdocs\rais\SRA2012\toxprofil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066800"/>
            <a:ext cx="5156624" cy="519425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29859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Toxicity Profiles</a:t>
            </a:r>
            <a:endParaRPr lang="en-US" dirty="0"/>
          </a:p>
        </p:txBody>
      </p:sp>
      <p:pic>
        <p:nvPicPr>
          <p:cNvPr id="19458" name="Picture 2" descr="Y:\www\devel\htdocs\rais\SRA2012\toxprofil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2981" y="1077997"/>
            <a:ext cx="4106419" cy="517040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0822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Toxicity Values</a:t>
            </a:r>
            <a:endParaRPr lang="en-US" dirty="0"/>
          </a:p>
        </p:txBody>
      </p:sp>
      <p:pic>
        <p:nvPicPr>
          <p:cNvPr id="33794" name="Picture 2" descr="Y:\www\devel\htdocs\rais\SRA2012\toxtoolmai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66800"/>
            <a:ext cx="7001366" cy="531154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9653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Toxicity Values</a:t>
            </a:r>
            <a:endParaRPr lang="en-US" dirty="0"/>
          </a:p>
        </p:txBody>
      </p:sp>
      <p:pic>
        <p:nvPicPr>
          <p:cNvPr id="34818" name="Picture 2" descr="Y:\www\devel\htdocs\rais\SRA2012\toxtoolresultsche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1143000"/>
            <a:ext cx="8770937" cy="51292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2361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Radiological Toxicity Values</a:t>
            </a:r>
            <a:endParaRPr lang="en-US" dirty="0"/>
          </a:p>
        </p:txBody>
      </p:sp>
      <p:pic>
        <p:nvPicPr>
          <p:cNvPr id="35842" name="Picture 2" descr="Y:\www\devel\htdocs\rais\SRA2012\toxtoolresultsra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219200"/>
            <a:ext cx="8761413" cy="49799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714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Toxicity Metadata</a:t>
            </a:r>
            <a:endParaRPr lang="en-US" dirty="0"/>
          </a:p>
        </p:txBody>
      </p:sp>
      <p:pic>
        <p:nvPicPr>
          <p:cNvPr id="36866" name="Picture 2" descr="Y:\www\devel\htdocs\rais\SRA2012\toxmetadatachem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688" y="1092241"/>
            <a:ext cx="6119312" cy="53085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609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Toxicity Metadata</a:t>
            </a:r>
            <a:endParaRPr lang="en-US" dirty="0"/>
          </a:p>
        </p:txBody>
      </p:sp>
      <p:pic>
        <p:nvPicPr>
          <p:cNvPr id="37890" name="Picture 2" descr="Y:\www\devel\htdocs\rais\SRA2012\toxmetadatachem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3194" y="1166124"/>
            <a:ext cx="6615406" cy="515847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28056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Radionuclide Decay Chain</a:t>
            </a:r>
            <a:endParaRPr lang="en-US" dirty="0"/>
          </a:p>
        </p:txBody>
      </p:sp>
      <p:pic>
        <p:nvPicPr>
          <p:cNvPr id="39938" name="Picture 2" descr="Y:\www\devel\htdocs\rais\SRA2012\decaychainu23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135644"/>
            <a:ext cx="6631631" cy="511275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65550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Radionuclide Decay Chain</a:t>
            </a:r>
            <a:endParaRPr lang="en-US" dirty="0"/>
          </a:p>
        </p:txBody>
      </p:sp>
      <p:pic>
        <p:nvPicPr>
          <p:cNvPr id="1026" name="Picture 2" descr="Y:\www\devel\htdocs\rais\SRA2012\decaychainu23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143000"/>
            <a:ext cx="4704398" cy="506587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59674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Radionuclide Decay Chain</a:t>
            </a:r>
            <a:endParaRPr lang="en-US" dirty="0"/>
          </a:p>
        </p:txBody>
      </p:sp>
      <p:pic>
        <p:nvPicPr>
          <p:cNvPr id="38914" name="Picture 2" descr="Y:\www\devel\htdocs\rais\SRA2012\decaychainke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167" y="1073356"/>
            <a:ext cx="7080033" cy="53274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504699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Toxicity Assessment Practice</a:t>
            </a:r>
            <a:endParaRPr lang="en-US" dirty="0"/>
          </a:p>
        </p:txBody>
      </p:sp>
      <p:sp>
        <p:nvSpPr>
          <p:cNvPr id="3" name="Content Placeholder 2"/>
          <p:cNvSpPr>
            <a:spLocks noGrp="1"/>
          </p:cNvSpPr>
          <p:nvPr/>
        </p:nvSpPr>
        <p:spPr>
          <a:xfrm>
            <a:off x="457200" y="1265237"/>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t>Aldrin, Ametryn, Dieldrin, ethylbenzene, vinyl chloride are your COPCs.</a:t>
            </a:r>
          </a:p>
          <a:p>
            <a:pPr lvl="1"/>
            <a:r>
              <a:rPr lang="en-US" sz="2000" dirty="0" smtClean="0"/>
              <a:t>What is the common RfD target organ for these chemicals? ________________</a:t>
            </a:r>
          </a:p>
          <a:p>
            <a:pPr lvl="1"/>
            <a:r>
              <a:rPr lang="en-US" sz="2000" dirty="0" smtClean="0"/>
              <a:t>What would you need to be concerned about if all COPC concentrations were less than PRG? _______________________________________________________</a:t>
            </a:r>
          </a:p>
          <a:p>
            <a:pPr lvl="1"/>
            <a:r>
              <a:rPr lang="en-US" sz="2000" dirty="0" smtClean="0"/>
              <a:t>What’s the only known human carcinogen? ___________________</a:t>
            </a:r>
          </a:p>
          <a:p>
            <a:pPr lvl="1"/>
            <a:r>
              <a:rPr lang="en-US" sz="2000" dirty="0" smtClean="0"/>
              <a:t>What is the primary use of vinyl chloride? _____________________</a:t>
            </a:r>
          </a:p>
          <a:p>
            <a:pPr lvl="1"/>
            <a:r>
              <a:rPr lang="en-US" sz="2000" dirty="0" smtClean="0"/>
              <a:t>What contaminant is found in cigarette smoke? _________________</a:t>
            </a:r>
          </a:p>
          <a:p>
            <a:pPr lvl="1"/>
            <a:r>
              <a:rPr lang="en-US" sz="2000" dirty="0" smtClean="0"/>
              <a:t>Which COPC has the most toxic oral slope factor?_________________ inhalation unit risk? ____________ RfD___________, RfC_________?</a:t>
            </a:r>
          </a:p>
        </p:txBody>
      </p:sp>
    </p:spTree>
    <p:extLst>
      <p:ext uri="{BB962C8B-B14F-4D97-AF65-F5344CB8AC3E}">
        <p14:creationId xmlns:p14="http://schemas.microsoft.com/office/powerpoint/2010/main" val="337075907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Toxicity Assessment Practice Results</a:t>
            </a:r>
            <a:endParaRPr lang="en-US" dirty="0"/>
          </a:p>
        </p:txBody>
      </p:sp>
      <p:sp>
        <p:nvSpPr>
          <p:cNvPr id="4" name="Content Placeholder 2"/>
          <p:cNvSpPr>
            <a:spLocks noGrp="1"/>
          </p:cNvSpPr>
          <p:nvPr/>
        </p:nvSpPr>
        <p:spPr>
          <a:xfrm>
            <a:off x="457200" y="1371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t>Aldrin, </a:t>
            </a:r>
            <a:r>
              <a:rPr lang="en-US" sz="2400" dirty="0" err="1" smtClean="0"/>
              <a:t>Ametryn</a:t>
            </a:r>
            <a:r>
              <a:rPr lang="en-US" sz="2400" dirty="0" smtClean="0"/>
              <a:t>, Dieldrin, </a:t>
            </a:r>
            <a:r>
              <a:rPr lang="en-US" sz="2400" dirty="0" err="1" smtClean="0"/>
              <a:t>ethylbenzene</a:t>
            </a:r>
            <a:r>
              <a:rPr lang="en-US" sz="2400" dirty="0" smtClean="0"/>
              <a:t>, vinyl chloride are your COPCs.</a:t>
            </a:r>
          </a:p>
          <a:p>
            <a:pPr lvl="1"/>
            <a:r>
              <a:rPr lang="en-US" sz="2000" dirty="0" smtClean="0"/>
              <a:t>What is the common RfD target organ for these chemicals? </a:t>
            </a:r>
            <a:r>
              <a:rPr lang="en-US" sz="2000" u="sng" dirty="0" smtClean="0"/>
              <a:t>Liver</a:t>
            </a:r>
          </a:p>
          <a:p>
            <a:pPr lvl="1"/>
            <a:r>
              <a:rPr lang="en-US" sz="2000" dirty="0" smtClean="0"/>
              <a:t>What would you need to be concerned about if all were less than PRG? </a:t>
            </a:r>
            <a:r>
              <a:rPr lang="en-US" sz="2000" u="sng" dirty="0" smtClean="0"/>
              <a:t>The additive effect of multiple chemicals on one organ may pose a risk even if all of the COPCs are below target hazard quotient.</a:t>
            </a:r>
          </a:p>
          <a:p>
            <a:pPr lvl="1"/>
            <a:r>
              <a:rPr lang="en-US" sz="2000" dirty="0" smtClean="0"/>
              <a:t>What’s the only known human carcinogen? </a:t>
            </a:r>
            <a:r>
              <a:rPr lang="en-US" sz="2000" u="sng" dirty="0" smtClean="0"/>
              <a:t>Vinyl chloride</a:t>
            </a:r>
          </a:p>
          <a:p>
            <a:pPr lvl="1"/>
            <a:r>
              <a:rPr lang="en-US" sz="2000" dirty="0" smtClean="0"/>
              <a:t>What is the primary use of vinyl chloride? </a:t>
            </a:r>
            <a:r>
              <a:rPr lang="en-US" sz="2000" u="sng" dirty="0" smtClean="0"/>
              <a:t>To make PVC</a:t>
            </a:r>
          </a:p>
          <a:p>
            <a:pPr lvl="1"/>
            <a:r>
              <a:rPr lang="en-US" sz="2000" dirty="0" smtClean="0"/>
              <a:t>What contaminant is found in cigarette smoke? </a:t>
            </a:r>
            <a:r>
              <a:rPr lang="en-US" sz="2000" u="sng" dirty="0" smtClean="0"/>
              <a:t>Ethylbenzene</a:t>
            </a:r>
          </a:p>
          <a:p>
            <a:pPr lvl="1"/>
            <a:r>
              <a:rPr lang="en-US" sz="2000" dirty="0" smtClean="0"/>
              <a:t>Which COPC has the most toxic oral slope factor? </a:t>
            </a:r>
            <a:r>
              <a:rPr lang="en-US" sz="2000" u="sng" dirty="0" smtClean="0"/>
              <a:t>Aldrin</a:t>
            </a:r>
            <a:r>
              <a:rPr lang="en-US" sz="2000" dirty="0" smtClean="0"/>
              <a:t> , inhalation unit risk? </a:t>
            </a:r>
            <a:r>
              <a:rPr lang="en-US" sz="2000" u="sng" dirty="0" smtClean="0"/>
              <a:t>Aldrin</a:t>
            </a:r>
            <a:r>
              <a:rPr lang="en-US" sz="2000" dirty="0" smtClean="0"/>
              <a:t> , RfD? </a:t>
            </a:r>
            <a:r>
              <a:rPr lang="en-US" sz="2000" u="sng" dirty="0" smtClean="0"/>
              <a:t>Aldrin</a:t>
            </a:r>
            <a:r>
              <a:rPr lang="en-US" sz="2000" dirty="0" smtClean="0"/>
              <a:t>, RfC? </a:t>
            </a:r>
            <a:r>
              <a:rPr lang="en-US" sz="2000" u="sng" dirty="0" smtClean="0"/>
              <a:t>Vinyl chloride</a:t>
            </a:r>
            <a:r>
              <a:rPr lang="en-US" sz="2000" dirty="0" smtClean="0"/>
              <a:t>.</a:t>
            </a:r>
          </a:p>
          <a:p>
            <a:pPr marL="457200" lvl="1" indent="0">
              <a:buNone/>
            </a:pPr>
            <a:endParaRPr lang="en-US" sz="2000" u="sng" dirty="0" smtClean="0"/>
          </a:p>
        </p:txBody>
      </p:sp>
    </p:spTree>
    <p:extLst>
      <p:ext uri="{BB962C8B-B14F-4D97-AF65-F5344CB8AC3E}">
        <p14:creationId xmlns:p14="http://schemas.microsoft.com/office/powerpoint/2010/main" val="95251064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Models</a:t>
            </a:r>
            <a:endParaRPr lang="en-US" dirty="0"/>
          </a:p>
        </p:txBody>
      </p:sp>
      <p:pic>
        <p:nvPicPr>
          <p:cNvPr id="3" name="Picture 2"/>
          <p:cNvPicPr>
            <a:picLocks noChangeAspect="1"/>
          </p:cNvPicPr>
          <p:nvPr/>
        </p:nvPicPr>
        <p:blipFill>
          <a:blip r:embed="rId2"/>
          <a:stretch>
            <a:fillRect/>
          </a:stretch>
        </p:blipFill>
        <p:spPr>
          <a:xfrm>
            <a:off x="2590800" y="1272540"/>
            <a:ext cx="3907155" cy="4747260"/>
          </a:xfrm>
          <a:prstGeom prst="rect">
            <a:avLst/>
          </a:prstGeom>
          <a:ln>
            <a:solidFill>
              <a:schemeClr val="tx1"/>
            </a:solidFill>
          </a:ln>
        </p:spPr>
      </p:pic>
    </p:spTree>
    <p:extLst>
      <p:ext uri="{BB962C8B-B14F-4D97-AF65-F5344CB8AC3E}">
        <p14:creationId xmlns:p14="http://schemas.microsoft.com/office/powerpoint/2010/main" val="148356812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Risk Calculator</a:t>
            </a:r>
            <a:endParaRPr lang="en-US" dirty="0"/>
          </a:p>
        </p:txBody>
      </p:sp>
      <p:pic>
        <p:nvPicPr>
          <p:cNvPr id="20482" name="Picture 2" descr="Y:\www\devel\htdocs\rais\SRA2012\riskchem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374" y="1158175"/>
            <a:ext cx="5498826" cy="49378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427553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1506" name="Picture 2" descr="Y:\www\devel\htdocs\rais\SRA2012\riskchem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170" y="1339734"/>
            <a:ext cx="6254030" cy="460386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68132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2530" name="Picture 2" descr="Y:\www\devel\htdocs\rais\SRA2012\riskchem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3" y="1301750"/>
            <a:ext cx="8829675" cy="44132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88811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3554" name="Picture 2" descr="Y:\www\devel\htdocs\rais\SRA2012\riskchem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975" y="1136974"/>
            <a:ext cx="5310025" cy="480662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40615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4578" name="Picture 2" descr="Y:\www\devel\htdocs\rais\SRA2012\riskchem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713" y="1087936"/>
            <a:ext cx="4421087" cy="51604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13128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5602" name="Picture 2" descr="Y:\www\devel\htdocs\rais\SRA2012\riskchem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6946" y="1295400"/>
            <a:ext cx="4434854" cy="488514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75512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6626" name="Picture 2" descr="Y:\www\devel\htdocs\rais\SRA2012\riskchem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81113"/>
            <a:ext cx="6096000" cy="42941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23957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7650" name="Picture 2" descr="Y:\www\devel\htdocs\rais\SRA2012\riskchem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5105" y="1022998"/>
            <a:ext cx="6084895" cy="53016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0153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Y:\www\devel\htdocs\rais\SRA2012\riskchem1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4845889" cy="293009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Chemical Risk Calculator</a:t>
            </a:r>
          </a:p>
        </p:txBody>
      </p:sp>
      <p:pic>
        <p:nvPicPr>
          <p:cNvPr id="28675" name="Picture 3" descr="Y:\www\devel\htdocs\rais\SRA2012\riskchem1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0044" y="3214440"/>
            <a:ext cx="4889156" cy="303396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Oval 4"/>
          <p:cNvSpPr/>
          <p:nvPr/>
        </p:nvSpPr>
        <p:spPr>
          <a:xfrm>
            <a:off x="1447800" y="2712822"/>
            <a:ext cx="6858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058822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29698" name="Picture 2" descr="Y:\www\devel\htdocs\rais\SRA2012\riskchem2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1066800"/>
            <a:ext cx="5262824" cy="234367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9699" name="Picture 3" descr="Y:\www\devel\htdocs\rais\SRA2012\riskchem2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822026"/>
            <a:ext cx="5233325" cy="19023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9700" name="Picture 4" descr="Y:\www\devel\htdocs\rais\SRA2012\riskchem2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8776" y="4343400"/>
            <a:ext cx="5215624" cy="195604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74408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30722" name="Picture 2" descr="Y:\www\devel\htdocs\rais\SRA2012\riskchem2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066800"/>
            <a:ext cx="6608031" cy="27134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23" name="Picture 3" descr="Y:\www\devel\htdocs\rais\SRA2012\riskchem2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775180"/>
            <a:ext cx="6630156" cy="254942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1778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Chemical Risk Calculator</a:t>
            </a:r>
          </a:p>
        </p:txBody>
      </p:sp>
      <p:pic>
        <p:nvPicPr>
          <p:cNvPr id="31746" name="Picture 2" descr="Y:\www\devel\htdocs\rais\SRA2012\riskchem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092573"/>
            <a:ext cx="6201913" cy="523202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99140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Characterization Practice</a:t>
            </a:r>
            <a:endParaRPr lang="en-US" dirty="0"/>
          </a:p>
        </p:txBody>
      </p:sp>
      <p:sp>
        <p:nvSpPr>
          <p:cNvPr id="4" name="TextBox 6"/>
          <p:cNvSpPr txBox="1"/>
          <p:nvPr/>
        </p:nvSpPr>
        <p:spPr>
          <a:xfrm>
            <a:off x="457200" y="1113472"/>
            <a:ext cx="8229600" cy="147732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You developed the following CSM for your 50 acre site in San Francisco. Your site is an adult prison where average served sentence is 30 years and guards average employment is 10 years. The prison was built in a former chemical processing facility. Perform the risk assessment for each potential landuse for the following soil and air data. Hint: no children are present; adjust ED; prisoners don’t get 2 weeks of vacation.</a:t>
            </a:r>
            <a:endParaRPr lang="en-US" dirty="0"/>
          </a:p>
        </p:txBody>
      </p:sp>
      <p:pic>
        <p:nvPicPr>
          <p:cNvPr id="5" name="table"/>
          <p:cNvPicPr>
            <a:picLocks noChangeAspect="1"/>
          </p:cNvPicPr>
          <p:nvPr/>
        </p:nvPicPr>
        <p:blipFill>
          <a:blip r:embed="rId2"/>
          <a:stretch>
            <a:fillRect/>
          </a:stretch>
        </p:blipFill>
        <p:spPr>
          <a:xfrm>
            <a:off x="152400" y="2743200"/>
            <a:ext cx="2438400" cy="2413000"/>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0963" y="2971800"/>
            <a:ext cx="6370637"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096461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Risk Characterization for Inmates</a:t>
            </a:r>
            <a:endParaRPr lang="en-US" dirty="0"/>
          </a:p>
        </p:txBody>
      </p:sp>
      <p:pic>
        <p:nvPicPr>
          <p:cNvPr id="3" name="table"/>
          <p:cNvPicPr>
            <a:picLocks noChangeAspect="1"/>
          </p:cNvPicPr>
          <p:nvPr/>
        </p:nvPicPr>
        <p:blipFill>
          <a:blip r:embed="rId2"/>
          <a:stretch>
            <a:fillRect/>
          </a:stretch>
        </p:blipFill>
        <p:spPr>
          <a:xfrm>
            <a:off x="2667000" y="1616653"/>
            <a:ext cx="3729037" cy="1920240"/>
          </a:xfrm>
          <a:prstGeom prst="rect">
            <a:avLst/>
          </a:prstGeom>
        </p:spPr>
      </p:pic>
      <p:pic>
        <p:nvPicPr>
          <p:cNvPr id="4" name="table"/>
          <p:cNvPicPr>
            <a:picLocks noChangeAspect="1"/>
          </p:cNvPicPr>
          <p:nvPr/>
        </p:nvPicPr>
        <p:blipFill>
          <a:blip r:embed="rId3"/>
          <a:stretch>
            <a:fillRect/>
          </a:stretch>
        </p:blipFill>
        <p:spPr>
          <a:xfrm>
            <a:off x="457200" y="3978853"/>
            <a:ext cx="8229600" cy="1262494"/>
          </a:xfrm>
          <a:prstGeom prst="rect">
            <a:avLst/>
          </a:prstGeom>
        </p:spPr>
      </p:pic>
    </p:spTree>
    <p:extLst>
      <p:ext uri="{BB962C8B-B14F-4D97-AF65-F5344CB8AC3E}">
        <p14:creationId xmlns:p14="http://schemas.microsoft.com/office/powerpoint/2010/main" val="203129893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Risk Characterization for Guards</a:t>
            </a:r>
            <a:endParaRPr lang="en-US" dirty="0"/>
          </a:p>
        </p:txBody>
      </p:sp>
      <p:pic>
        <p:nvPicPr>
          <p:cNvPr id="3" name="table"/>
          <p:cNvPicPr>
            <a:picLocks noChangeAspect="1"/>
          </p:cNvPicPr>
          <p:nvPr/>
        </p:nvPicPr>
        <p:blipFill>
          <a:blip r:embed="rId2"/>
          <a:stretch>
            <a:fillRect/>
          </a:stretch>
        </p:blipFill>
        <p:spPr>
          <a:xfrm>
            <a:off x="2578099" y="1885950"/>
            <a:ext cx="3987801" cy="1447800"/>
          </a:xfrm>
          <a:prstGeom prst="rect">
            <a:avLst/>
          </a:prstGeom>
        </p:spPr>
      </p:pic>
      <p:pic>
        <p:nvPicPr>
          <p:cNvPr id="4" name="table"/>
          <p:cNvPicPr>
            <a:picLocks noChangeAspect="1"/>
          </p:cNvPicPr>
          <p:nvPr/>
        </p:nvPicPr>
        <p:blipFill>
          <a:blip r:embed="rId3"/>
          <a:stretch>
            <a:fillRect/>
          </a:stretch>
        </p:blipFill>
        <p:spPr>
          <a:xfrm>
            <a:off x="882649" y="3686175"/>
            <a:ext cx="7378702" cy="1285875"/>
          </a:xfrm>
          <a:prstGeom prst="rect">
            <a:avLst/>
          </a:prstGeom>
        </p:spPr>
      </p:pic>
    </p:spTree>
    <p:extLst>
      <p:ext uri="{BB962C8B-B14F-4D97-AF65-F5344CB8AC3E}">
        <p14:creationId xmlns:p14="http://schemas.microsoft.com/office/powerpoint/2010/main" val="315538587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Characterization Analysis</a:t>
            </a:r>
            <a:endParaRPr lang="en-US" dirty="0"/>
          </a:p>
        </p:txBody>
      </p:sp>
      <p:sp>
        <p:nvSpPr>
          <p:cNvPr id="5" name="Content Placeholder 2"/>
          <p:cNvSpPr>
            <a:spLocks noGrp="1"/>
          </p:cNvSpPr>
          <p:nvPr/>
        </p:nvSpPr>
        <p:spPr>
          <a:xfrm>
            <a:off x="457200" y="1341437"/>
            <a:ext cx="8229600" cy="4525963"/>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What receptor is likely to exhibit systemic effects from exposure to ambient air, the guards or inmates? _________________</a:t>
            </a:r>
          </a:p>
          <a:p>
            <a:r>
              <a:rPr lang="en-US" dirty="0" smtClean="0"/>
              <a:t>Is soil exposure to guards and inmates likely to result in harmful systemic effects? _______</a:t>
            </a:r>
          </a:p>
          <a:p>
            <a:r>
              <a:rPr lang="en-US" dirty="0" smtClean="0"/>
              <a:t>What chemical is driving cancer risk for guards and inmates exposed to air? _________</a:t>
            </a:r>
          </a:p>
          <a:p>
            <a:r>
              <a:rPr lang="en-US" dirty="0" smtClean="0"/>
              <a:t>What chemical is driving cancer risk for guards and inmates exposed to soil? ____________</a:t>
            </a:r>
          </a:p>
          <a:p>
            <a:r>
              <a:rPr lang="en-US" dirty="0" smtClean="0"/>
              <a:t>What could be done for the guards to lower cancer risk to 1E-05? _____________________</a:t>
            </a:r>
            <a:endParaRPr lang="en-US" dirty="0"/>
          </a:p>
        </p:txBody>
      </p:sp>
    </p:spTree>
    <p:extLst>
      <p:ext uri="{BB962C8B-B14F-4D97-AF65-F5344CB8AC3E}">
        <p14:creationId xmlns:p14="http://schemas.microsoft.com/office/powerpoint/2010/main" val="407929314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Risk Characterization Results for Inmates</a:t>
            </a:r>
            <a:endParaRPr lang="en-US" dirty="0"/>
          </a:p>
        </p:txBody>
      </p:sp>
      <p:sp>
        <p:nvSpPr>
          <p:cNvPr id="3" name="Content Placeholder 2"/>
          <p:cNvSpPr>
            <a:spLocks noGrp="1"/>
          </p:cNvSpPr>
          <p:nvPr/>
        </p:nvSpPr>
        <p:spPr>
          <a:xfrm>
            <a:off x="457200" y="1219201"/>
            <a:ext cx="8229600" cy="68579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For the inmate, I used resident landuse and only entered exposure parameters for adult (16-30yrs). I put zeros in for all other age cohorts. ED was 30 yrs, EF was 365 d/yr, ET was 24 hrs. Change Climatic Zone to San Fran for VF and ED. Change As to 50 acres.</a:t>
            </a:r>
            <a:endParaRPr lang="en-US" sz="2000" dirty="0"/>
          </a:p>
        </p:txBody>
      </p:sp>
      <p:pic>
        <p:nvPicPr>
          <p:cNvPr id="4" name="table"/>
          <p:cNvPicPr>
            <a:picLocks noChangeAspect="1"/>
          </p:cNvPicPr>
          <p:nvPr/>
        </p:nvPicPr>
        <p:blipFill>
          <a:blip r:embed="rId2"/>
          <a:stretch>
            <a:fillRect/>
          </a:stretch>
        </p:blipFill>
        <p:spPr>
          <a:xfrm>
            <a:off x="2747963" y="2667000"/>
            <a:ext cx="3729037" cy="1920240"/>
          </a:xfrm>
          <a:prstGeom prst="rect">
            <a:avLst/>
          </a:prstGeom>
        </p:spPr>
      </p:pic>
      <p:pic>
        <p:nvPicPr>
          <p:cNvPr id="5" name="table"/>
          <p:cNvPicPr>
            <a:picLocks noChangeAspect="1"/>
          </p:cNvPicPr>
          <p:nvPr/>
        </p:nvPicPr>
        <p:blipFill>
          <a:blip r:embed="rId3"/>
          <a:stretch>
            <a:fillRect/>
          </a:stretch>
        </p:blipFill>
        <p:spPr>
          <a:xfrm>
            <a:off x="457200" y="4833506"/>
            <a:ext cx="8229600" cy="1262494"/>
          </a:xfrm>
          <a:prstGeom prst="rect">
            <a:avLst/>
          </a:prstGeom>
        </p:spPr>
      </p:pic>
    </p:spTree>
    <p:extLst>
      <p:ext uri="{BB962C8B-B14F-4D97-AF65-F5344CB8AC3E}">
        <p14:creationId xmlns:p14="http://schemas.microsoft.com/office/powerpoint/2010/main" val="407325033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Risk Characterization Results for Guards</a:t>
            </a:r>
            <a:endParaRPr lang="en-US" dirty="0"/>
          </a:p>
        </p:txBody>
      </p:sp>
      <p:sp>
        <p:nvSpPr>
          <p:cNvPr id="3" name="Content Placeholder 2"/>
          <p:cNvSpPr>
            <a:spLocks noGrp="1"/>
          </p:cNvSpPr>
          <p:nvPr/>
        </p:nvSpPr>
        <p:spPr>
          <a:xfrm>
            <a:off x="457200" y="1295401"/>
            <a:ext cx="8229600" cy="68579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smtClean="0"/>
              <a:t>For the inmate, I used resident landuse and only entered exposure parameters for adult (16-30yrs). I put zeros in for all other age cohorts. ED was 30 yrs, EF was 365 d/yr, ET was 24 hrs. Change Climatic Zone to San Fran for VF and ED. Change As to 50 acres.</a:t>
            </a:r>
            <a:endParaRPr lang="en-US" sz="2000" dirty="0"/>
          </a:p>
        </p:txBody>
      </p:sp>
      <p:pic>
        <p:nvPicPr>
          <p:cNvPr id="4" name="table"/>
          <p:cNvPicPr>
            <a:picLocks noChangeAspect="1"/>
          </p:cNvPicPr>
          <p:nvPr/>
        </p:nvPicPr>
        <p:blipFill>
          <a:blip r:embed="rId2"/>
          <a:stretch>
            <a:fillRect/>
          </a:stretch>
        </p:blipFill>
        <p:spPr>
          <a:xfrm>
            <a:off x="2667000" y="2727960"/>
            <a:ext cx="3729037" cy="1920240"/>
          </a:xfrm>
          <a:prstGeom prst="rect">
            <a:avLst/>
          </a:prstGeom>
        </p:spPr>
      </p:pic>
      <p:pic>
        <p:nvPicPr>
          <p:cNvPr id="5" name="table"/>
          <p:cNvPicPr>
            <a:picLocks noChangeAspect="1"/>
          </p:cNvPicPr>
          <p:nvPr/>
        </p:nvPicPr>
        <p:blipFill>
          <a:blip r:embed="rId3"/>
          <a:stretch>
            <a:fillRect/>
          </a:stretch>
        </p:blipFill>
        <p:spPr>
          <a:xfrm>
            <a:off x="457200" y="4909706"/>
            <a:ext cx="8229600" cy="1262494"/>
          </a:xfrm>
          <a:prstGeom prst="rect">
            <a:avLst/>
          </a:prstGeom>
        </p:spPr>
      </p:pic>
    </p:spTree>
    <p:extLst>
      <p:ext uri="{BB962C8B-B14F-4D97-AF65-F5344CB8AC3E}">
        <p14:creationId xmlns:p14="http://schemas.microsoft.com/office/powerpoint/2010/main" val="117615437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Risk Characterization Analysis Results</a:t>
            </a:r>
            <a:endParaRPr lang="en-US" dirty="0"/>
          </a:p>
        </p:txBody>
      </p:sp>
      <p:sp>
        <p:nvSpPr>
          <p:cNvPr id="3" name="Content Placeholder 2"/>
          <p:cNvSpPr>
            <a:spLocks noGrp="1"/>
          </p:cNvSpPr>
          <p:nvPr/>
        </p:nvSpPr>
        <p:spPr>
          <a:xfrm>
            <a:off x="457200" y="1341437"/>
            <a:ext cx="8229600" cy="4525963"/>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What receptor is likely to exhibit systemic effects from exposure to ambient air, the guards or inmates? </a:t>
            </a:r>
            <a:r>
              <a:rPr lang="en-US" u="sng" dirty="0" smtClean="0"/>
              <a:t>inmates</a:t>
            </a:r>
          </a:p>
          <a:p>
            <a:r>
              <a:rPr lang="en-US" dirty="0" smtClean="0"/>
              <a:t>Is soil exposure to guards and inmates likely to result in harmful systemic effects? </a:t>
            </a:r>
            <a:r>
              <a:rPr lang="en-US" u="sng" dirty="0" smtClean="0"/>
              <a:t>No</a:t>
            </a:r>
          </a:p>
          <a:p>
            <a:r>
              <a:rPr lang="en-US" dirty="0" smtClean="0"/>
              <a:t>What chemical is driving cancer risk for guards and inmates exposed to air? </a:t>
            </a:r>
            <a:r>
              <a:rPr lang="en-US" u="sng" dirty="0" smtClean="0"/>
              <a:t>Benzidine</a:t>
            </a:r>
          </a:p>
          <a:p>
            <a:r>
              <a:rPr lang="en-US" dirty="0" smtClean="0"/>
              <a:t>What chemical is driving cancer risk for guards and inmates exposed to soil? </a:t>
            </a:r>
            <a:r>
              <a:rPr lang="en-US" u="sng" dirty="0" smtClean="0"/>
              <a:t>Chloroform</a:t>
            </a:r>
          </a:p>
          <a:p>
            <a:r>
              <a:rPr lang="en-US" dirty="0" smtClean="0"/>
              <a:t>What could be done for the guards to lower cancer risk to 1E-05? </a:t>
            </a:r>
            <a:r>
              <a:rPr lang="en-US" u="sng" dirty="0" smtClean="0"/>
              <a:t>Lower ED, lower EF, wear respirators, etc.</a:t>
            </a:r>
            <a:endParaRPr lang="en-US" u="sng" dirty="0"/>
          </a:p>
        </p:txBody>
      </p:sp>
    </p:spTree>
    <p:extLst>
      <p:ext uri="{BB962C8B-B14F-4D97-AF65-F5344CB8AC3E}">
        <p14:creationId xmlns:p14="http://schemas.microsoft.com/office/powerpoint/2010/main" val="26658882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TotalTime>
  <Words>1045</Words>
  <Application>Microsoft Office PowerPoint</Application>
  <PresentationFormat>On-screen Show (4:3)</PresentationFormat>
  <Paragraphs>151</Paragraphs>
  <Slides>80</Slides>
  <Notes>2</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Office Theme</vt:lpstr>
      <vt:lpstr>Society for Risk Analysis Workshop 3: Application of Web-based Risk Assessment Information System (RAIS)</vt:lpstr>
      <vt:lpstr>Instructors</vt:lpstr>
      <vt:lpstr>Schedule</vt:lpstr>
      <vt:lpstr>http://rais.ornl.gov/</vt:lpstr>
      <vt:lpstr>Tutorials</vt:lpstr>
      <vt:lpstr>User List</vt:lpstr>
      <vt:lpstr>Risk Guidance</vt:lpstr>
      <vt:lpstr>What’s New</vt:lpstr>
      <vt:lpstr>Document Search</vt:lpstr>
      <vt:lpstr>Document Search</vt:lpstr>
      <vt:lpstr>Glossary</vt:lpstr>
      <vt:lpstr>Support</vt:lpstr>
      <vt:lpstr>Navigation - Tools</vt:lpstr>
      <vt:lpstr>Navigation – EPA Tools</vt:lpstr>
      <vt:lpstr>Data Assessment - ARARs</vt:lpstr>
      <vt:lpstr>   Data Assessment – Federal ARARs</vt:lpstr>
      <vt:lpstr>   Data Assessment – Federal ARARs</vt:lpstr>
      <vt:lpstr>Data Assessment – CA ARARs</vt:lpstr>
      <vt:lpstr>Data Assessment – CA ARARs</vt:lpstr>
      <vt:lpstr>Chemical Data Profiles</vt:lpstr>
      <vt:lpstr>Chemical Data Profiles</vt:lpstr>
      <vt:lpstr>Chemical Data Profiles</vt:lpstr>
      <vt:lpstr>Chemical Data Profiles</vt:lpstr>
      <vt:lpstr>Chemical Data Profiles</vt:lpstr>
      <vt:lpstr>Chemical Data Profiles</vt:lpstr>
      <vt:lpstr>Chemical Data Profiles</vt:lpstr>
      <vt:lpstr>Chemical Data Profiles</vt:lpstr>
      <vt:lpstr>Ecological Benchmarks</vt:lpstr>
      <vt:lpstr>Ecological Benchmarks</vt:lpstr>
      <vt:lpstr>Ecological Benchmarks</vt:lpstr>
      <vt:lpstr>Ecological Benchmarks</vt:lpstr>
      <vt:lpstr>Background Values</vt:lpstr>
      <vt:lpstr>Background Values</vt:lpstr>
      <vt:lpstr>Background Values</vt:lpstr>
      <vt:lpstr>         Preliminary Remediation Goals (PRGs)</vt:lpstr>
      <vt:lpstr>Chemical PRGs</vt:lpstr>
      <vt:lpstr>Chemical PRGs</vt:lpstr>
      <vt:lpstr>Chemical PRGs</vt:lpstr>
      <vt:lpstr>Chemical PRGs</vt:lpstr>
      <vt:lpstr>Chemical PRGs</vt:lpstr>
      <vt:lpstr>Radiological PRGs</vt:lpstr>
      <vt:lpstr>Radiological PRGs</vt:lpstr>
      <vt:lpstr>Radiological PRGs</vt:lpstr>
      <vt:lpstr>Radiological PRGs</vt:lpstr>
      <vt:lpstr>Radiological PRGs</vt:lpstr>
      <vt:lpstr>Radiological PRGs</vt:lpstr>
      <vt:lpstr>Data Assessment Practice</vt:lpstr>
      <vt:lpstr>Data Assessment Practice Results</vt:lpstr>
      <vt:lpstr>Toxicity Profiles</vt:lpstr>
      <vt:lpstr>Toxicity Profiles</vt:lpstr>
      <vt:lpstr>Toxicity Values</vt:lpstr>
      <vt:lpstr>Chemical Toxicity Values</vt:lpstr>
      <vt:lpstr>Radiological Toxicity Values</vt:lpstr>
      <vt:lpstr>Chemical Toxicity Metadata</vt:lpstr>
      <vt:lpstr>Chemical Toxicity Metadata</vt:lpstr>
      <vt:lpstr>Radionuclide Decay Chain</vt:lpstr>
      <vt:lpstr>Radionuclide Decay Chain</vt:lpstr>
      <vt:lpstr>Radionuclide Decay Chain</vt:lpstr>
      <vt:lpstr>Toxicity Assessment Practice</vt:lpstr>
      <vt:lpstr>       Toxicity Assessment Practice Results</vt:lpstr>
      <vt:lpstr>Risk Models</vt:lpstr>
      <vt:lpstr>Chemical Risk Calculator</vt:lpstr>
      <vt:lpstr>Chemical Risk Calculator</vt:lpstr>
      <vt:lpstr>Chemical Risk Calculator</vt:lpstr>
      <vt:lpstr>Chemical Risk Calculator</vt:lpstr>
      <vt:lpstr>Chemical Risk Calculator</vt:lpstr>
      <vt:lpstr>Chemical Risk Calculator</vt:lpstr>
      <vt:lpstr>Chemical Risk Calculator</vt:lpstr>
      <vt:lpstr>Chemical Risk Calculator</vt:lpstr>
      <vt:lpstr>Chemical Risk Calculator</vt:lpstr>
      <vt:lpstr>Chemical Risk Calculator</vt:lpstr>
      <vt:lpstr>Chemical Risk Calculator</vt:lpstr>
      <vt:lpstr>Chemical Risk Calculator</vt:lpstr>
      <vt:lpstr>Risk Characterization Practice</vt:lpstr>
      <vt:lpstr>  Risk Characterization for Inmates</vt:lpstr>
      <vt:lpstr>  Risk Characterization for Guards</vt:lpstr>
      <vt:lpstr>Risk Characterization Analysis</vt:lpstr>
      <vt:lpstr>        Risk Characterization Results for Inmates</vt:lpstr>
      <vt:lpstr>        Risk Characterization Results for Guards</vt:lpstr>
      <vt:lpstr>        Risk Characterization Analysis Results</vt:lpstr>
    </vt:vector>
  </TitlesOfParts>
  <Company>ORNL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Stewart, Debra Jean</dc:creator>
  <cp:lastModifiedBy>Stewart, Debra Jean</cp:lastModifiedBy>
  <cp:revision>87</cp:revision>
  <cp:lastPrinted>2012-12-07T17:19:04Z</cp:lastPrinted>
  <dcterms:created xsi:type="dcterms:W3CDTF">2012-12-04T16:04:05Z</dcterms:created>
  <dcterms:modified xsi:type="dcterms:W3CDTF">2012-12-07T17:20:59Z</dcterms:modified>
</cp:coreProperties>
</file>