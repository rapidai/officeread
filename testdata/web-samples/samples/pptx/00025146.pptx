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5" r:id="rId3"/>
    <p:sldId id="258" r:id="rId4"/>
    <p:sldId id="257" r:id="rId5"/>
    <p:sldId id="259" r:id="rId6"/>
    <p:sldId id="260" r:id="rId7"/>
    <p:sldId id="262" r:id="rId8"/>
    <p:sldId id="263" r:id="rId9"/>
    <p:sldId id="26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69" r:id="rId20"/>
    <p:sldId id="268" r:id="rId21"/>
    <p:sldId id="266" r:id="rId22"/>
    <p:sldId id="267" r:id="rId23"/>
    <p:sldId id="272" r:id="rId24"/>
    <p:sldId id="290" r:id="rId25"/>
    <p:sldId id="270" r:id="rId26"/>
    <p:sldId id="271" r:id="rId27"/>
    <p:sldId id="264" r:id="rId28"/>
    <p:sldId id="273" r:id="rId29"/>
    <p:sldId id="274" r:id="rId30"/>
    <p:sldId id="285" r:id="rId31"/>
    <p:sldId id="286" r:id="rId32"/>
    <p:sldId id="287" r:id="rId33"/>
    <p:sldId id="294" r:id="rId34"/>
    <p:sldId id="291" r:id="rId35"/>
    <p:sldId id="292" r:id="rId36"/>
    <p:sldId id="293" r:id="rId37"/>
    <p:sldId id="300" r:id="rId38"/>
    <p:sldId id="295" r:id="rId39"/>
    <p:sldId id="301" r:id="rId40"/>
    <p:sldId id="297" r:id="rId41"/>
    <p:sldId id="298" r:id="rId42"/>
    <p:sldId id="303" r:id="rId43"/>
    <p:sldId id="302" r:id="rId44"/>
    <p:sldId id="299" r:id="rId45"/>
    <p:sldId id="296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60" d="100"/>
          <a:sy n="60" d="100"/>
        </p:scale>
        <p:origin x="-834" y="-3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8AF60-4F3E-478B-823F-E3157521A118}" type="datetimeFigureOut">
              <a:rPr lang="en-CA" smtClean="0"/>
              <a:pPr/>
              <a:t>15-Nov-12</a:t>
            </a:fld>
            <a:endParaRPr lang="en-CA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93A7-CF08-4448-BEE8-8A2754111D01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8AF60-4F3E-478B-823F-E3157521A118}" type="datetimeFigureOut">
              <a:rPr lang="en-CA" smtClean="0"/>
              <a:pPr/>
              <a:t>15-Nov-12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93A7-CF08-4448-BEE8-8A2754111D0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8AF60-4F3E-478B-823F-E3157521A118}" type="datetimeFigureOut">
              <a:rPr lang="en-CA" smtClean="0"/>
              <a:pPr/>
              <a:t>15-Nov-12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BF9E93A7-CF08-4448-BEE8-8A2754111D0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8AF60-4F3E-478B-823F-E3157521A118}" type="datetimeFigureOut">
              <a:rPr lang="en-CA" smtClean="0"/>
              <a:pPr/>
              <a:t>15-Nov-12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93A7-CF08-4448-BEE8-8A2754111D0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8AF60-4F3E-478B-823F-E3157521A118}" type="datetimeFigureOut">
              <a:rPr lang="en-CA" smtClean="0"/>
              <a:pPr/>
              <a:t>15-Nov-12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93A7-CF08-4448-BEE8-8A2754111D0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8AF60-4F3E-478B-823F-E3157521A118}" type="datetimeFigureOut">
              <a:rPr lang="en-CA" smtClean="0"/>
              <a:pPr/>
              <a:t>15-Nov-12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93A7-CF08-4448-BEE8-8A2754111D0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8AF60-4F3E-478B-823F-E3157521A118}" type="datetimeFigureOut">
              <a:rPr lang="en-CA" smtClean="0"/>
              <a:pPr/>
              <a:t>15-Nov-12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93A7-CF08-4448-BEE8-8A2754111D0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8AF60-4F3E-478B-823F-E3157521A118}" type="datetimeFigureOut">
              <a:rPr lang="en-CA" smtClean="0"/>
              <a:pPr/>
              <a:t>15-Nov-12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93A7-CF08-4448-BEE8-8A2754111D0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8AF60-4F3E-478B-823F-E3157521A118}" type="datetimeFigureOut">
              <a:rPr lang="en-CA" smtClean="0"/>
              <a:pPr/>
              <a:t>15-Nov-12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93A7-CF08-4448-BEE8-8A2754111D0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8AF60-4F3E-478B-823F-E3157521A118}" type="datetimeFigureOut">
              <a:rPr lang="en-CA" smtClean="0"/>
              <a:pPr/>
              <a:t>15-Nov-12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93A7-CF08-4448-BEE8-8A2754111D0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8AF60-4F3E-478B-823F-E3157521A118}" type="datetimeFigureOut">
              <a:rPr lang="en-CA" smtClean="0"/>
              <a:pPr/>
              <a:t>15-Nov-12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93A7-CF08-4448-BEE8-8A2754111D0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0E8AF60-4F3E-478B-823F-E3157521A118}" type="datetimeFigureOut">
              <a:rPr lang="en-CA" smtClean="0"/>
              <a:pPr/>
              <a:t>15-Nov-12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F9E93A7-CF08-4448-BEE8-8A2754111D01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mailto:Jamzaban.ca@gmail.com" TargetMode="External"/><Relationship Id="rId2" Type="http://schemas.openxmlformats.org/officeDocument/2006/relationships/hyperlink" Target="mailto:ramin.hatam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raminh@peracollege.com" TargetMode="Externa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Using the School’s Building as a Mind mapping Tool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 smtClean="0"/>
              <a:t>Making the </a:t>
            </a:r>
            <a:r>
              <a:rPr lang="en-CA" smtClean="0"/>
              <a:t>Writing Class </a:t>
            </a:r>
            <a:r>
              <a:rPr lang="en-CA" dirty="0" smtClean="0"/>
              <a:t>More Active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6395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26570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/>
            </a:r>
            <a:br>
              <a:rPr lang="en-CA" dirty="0" smtClean="0"/>
            </a:br>
            <a:r>
              <a:rPr lang="en-CA" dirty="0"/>
              <a:t/>
            </a:r>
            <a:br>
              <a:rPr lang="en-CA" dirty="0"/>
            </a:br>
            <a:r>
              <a:rPr lang="en-CA" dirty="0" smtClean="0"/>
              <a:t/>
            </a:r>
            <a:br>
              <a:rPr lang="en-CA" dirty="0" smtClean="0"/>
            </a:br>
            <a:r>
              <a:rPr lang="en-CA" dirty="0"/>
              <a:t/>
            </a:r>
            <a:br>
              <a:rPr lang="en-CA" dirty="0"/>
            </a:br>
            <a:r>
              <a:rPr lang="en-CA" dirty="0" smtClean="0"/>
              <a:t/>
            </a:r>
            <a:br>
              <a:rPr lang="en-CA" dirty="0" smtClean="0"/>
            </a:br>
            <a:r>
              <a:rPr lang="en-CA" dirty="0"/>
              <a:t/>
            </a:r>
            <a:br>
              <a:rPr lang="en-CA" dirty="0"/>
            </a:br>
            <a:r>
              <a:rPr lang="en-CA" dirty="0" smtClean="0"/>
              <a:t>Iranian English Language Teachers’ Society of Canada</a:t>
            </a:r>
            <a:br>
              <a:rPr lang="en-CA" dirty="0" smtClean="0"/>
            </a:br>
            <a:r>
              <a:rPr lang="en-CA" dirty="0" smtClean="0"/>
              <a:t>(IELTSC)</a:t>
            </a:r>
            <a:br>
              <a:rPr lang="en-CA" dirty="0" smtClean="0"/>
            </a:br>
            <a:r>
              <a:rPr lang="en-CA" dirty="0" smtClean="0"/>
              <a:t/>
            </a:r>
            <a:br>
              <a:rPr lang="en-CA" dirty="0" smtClean="0"/>
            </a:br>
            <a:r>
              <a:rPr lang="en-CA" dirty="0" smtClean="0"/>
              <a:t>PERA COLLEGE</a:t>
            </a:r>
            <a:r>
              <a:rPr lang="en-CA" dirty="0"/>
              <a:t/>
            </a:r>
            <a:br>
              <a:rPr lang="en-CA" dirty="0"/>
            </a:br>
            <a:r>
              <a:rPr lang="en-CA" dirty="0" smtClean="0"/>
              <a:t/>
            </a:r>
            <a:br>
              <a:rPr lang="en-CA" dirty="0" smtClean="0"/>
            </a:br>
            <a:r>
              <a:rPr lang="en-CA" dirty="0" smtClean="0"/>
              <a:t/>
            </a:r>
            <a:br>
              <a:rPr lang="en-CA" dirty="0" smtClean="0"/>
            </a:br>
            <a:r>
              <a:rPr lang="en-CA" dirty="0"/>
              <a:t/>
            </a:r>
            <a:br>
              <a:rPr lang="en-CA" dirty="0"/>
            </a:br>
            <a:r>
              <a:rPr lang="en-CA" dirty="0" smtClean="0"/>
              <a:t/>
            </a:r>
            <a:br>
              <a:rPr lang="en-CA" dirty="0" smtClean="0"/>
            </a:br>
            <a:r>
              <a:rPr lang="en-CA" dirty="0"/>
              <a:t/>
            </a:r>
            <a:br>
              <a:rPr lang="en-CA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54576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Introduction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Challenges in teaching writing</a:t>
            </a:r>
          </a:p>
          <a:p>
            <a:r>
              <a:rPr lang="en-CA" dirty="0" smtClean="0"/>
              <a:t>Some ideas and solutions provided by Teachers</a:t>
            </a:r>
          </a:p>
          <a:p>
            <a:r>
              <a:rPr lang="en-CA" dirty="0" smtClean="0"/>
              <a:t>Building as a mind mapping tool: A new way of making the </a:t>
            </a:r>
            <a:r>
              <a:rPr lang="en-CA" smtClean="0"/>
              <a:t>writing class </a:t>
            </a:r>
            <a:r>
              <a:rPr lang="en-CA" dirty="0" smtClean="0"/>
              <a:t>fun and interactive</a:t>
            </a:r>
          </a:p>
          <a:p>
            <a:r>
              <a:rPr lang="en-CA" dirty="0" smtClean="0"/>
              <a:t>Advantages for teachers, students and language schools</a:t>
            </a:r>
          </a:p>
          <a:p>
            <a:r>
              <a:rPr lang="en-CA" dirty="0" smtClean="0"/>
              <a:t>Other skills</a:t>
            </a:r>
          </a:p>
          <a:p>
            <a:r>
              <a:rPr lang="en-CA" dirty="0" smtClean="0"/>
              <a:t>Problems and Solutions</a:t>
            </a:r>
          </a:p>
          <a:p>
            <a:r>
              <a:rPr lang="en-CA" dirty="0" smtClean="0"/>
              <a:t>Q &amp; 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865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 smtClean="0"/>
              <a:t>Challenges in Teaching Writing</a:t>
            </a:r>
            <a:endParaRPr lang="en-C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The most challenging skill ?</a:t>
            </a:r>
          </a:p>
          <a:p>
            <a:r>
              <a:rPr lang="en-CA" smtClean="0"/>
              <a:t>Writing classes </a:t>
            </a:r>
            <a:r>
              <a:rPr lang="en-CA" dirty="0" smtClean="0"/>
              <a:t>&gt; Most students find it boring,</a:t>
            </a:r>
          </a:p>
          <a:p>
            <a:r>
              <a:rPr lang="en-CA" dirty="0" smtClean="0"/>
              <a:t>Students don’t have any ideas, </a:t>
            </a:r>
          </a:p>
          <a:p>
            <a:r>
              <a:rPr lang="en-CA" dirty="0" smtClean="0"/>
              <a:t>Students have ideas but have problems with vocabulary, grammar and sentence structure,</a:t>
            </a:r>
          </a:p>
          <a:p>
            <a:r>
              <a:rPr lang="en-CA" dirty="0" smtClean="0"/>
              <a:t>Students have ideas, acceptable sentence structure and know the vocabulary but lack organization.</a:t>
            </a:r>
          </a:p>
        </p:txBody>
      </p:sp>
    </p:spTree>
    <p:extLst>
      <p:ext uri="{BB962C8B-B14F-4D97-AF65-F5344CB8AC3E}">
        <p14:creationId xmlns:p14="http://schemas.microsoft.com/office/powerpoint/2010/main" val="214956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Writing: The most challenging skill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b="1" dirty="0" smtClean="0">
                <a:effectLst/>
              </a:rPr>
              <a:t>Organization</a:t>
            </a:r>
          </a:p>
          <a:p>
            <a:r>
              <a:rPr lang="en-CA" b="1" dirty="0" smtClean="0">
                <a:effectLst/>
              </a:rPr>
              <a:t>Transitions</a:t>
            </a:r>
            <a:endParaRPr lang="en-CA" b="1" dirty="0" smtClean="0"/>
          </a:p>
          <a:p>
            <a:r>
              <a:rPr lang="en-CA" b="1" dirty="0" smtClean="0">
                <a:effectLst/>
              </a:rPr>
              <a:t>Cohesion</a:t>
            </a:r>
          </a:p>
          <a:p>
            <a:r>
              <a:rPr lang="en-CA" b="1" dirty="0" smtClean="0"/>
              <a:t>Unity</a:t>
            </a:r>
            <a:endParaRPr lang="en-CA" b="1" dirty="0" smtClean="0">
              <a:effectLst/>
            </a:endParaRPr>
          </a:p>
          <a:p>
            <a:r>
              <a:rPr lang="en-CA" b="1" dirty="0" smtClean="0">
                <a:effectLst/>
              </a:rPr>
              <a:t>Conclusion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24344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Organization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Time order</a:t>
            </a:r>
          </a:p>
          <a:p>
            <a:r>
              <a:rPr lang="en-CA" dirty="0" smtClean="0"/>
              <a:t>Comparison – Contrast</a:t>
            </a:r>
          </a:p>
          <a:p>
            <a:endParaRPr lang="en-CA" dirty="0" smtClean="0"/>
          </a:p>
          <a:p>
            <a:r>
              <a:rPr lang="en-CA" dirty="0" smtClean="0"/>
              <a:t>Problem-Solution</a:t>
            </a:r>
          </a:p>
          <a:p>
            <a:r>
              <a:rPr lang="en-CA" smtClean="0"/>
              <a:t>Classification</a:t>
            </a:r>
            <a:endParaRPr lang="en-CA" dirty="0" smtClean="0"/>
          </a:p>
          <a:p>
            <a:endParaRPr lang="en-CA" dirty="0" smtClean="0"/>
          </a:p>
          <a:p>
            <a:r>
              <a:rPr lang="en-CA" dirty="0" smtClean="0"/>
              <a:t>Cause and Effect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3923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Hamburger paragraphs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7787208" cy="750887"/>
          </a:xfrm>
        </p:spPr>
        <p:txBody>
          <a:bodyPr/>
          <a:lstStyle/>
          <a:p>
            <a:r>
              <a:rPr lang="en-CA" dirty="0" smtClean="0"/>
              <a:t>Activities: Attractive, engaging, fun, …</a:t>
            </a:r>
            <a:endParaRPr lang="en-CA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794" y="3215481"/>
            <a:ext cx="1905000" cy="2057400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912" y="2815431"/>
            <a:ext cx="3810000" cy="2857500"/>
          </a:xfrm>
        </p:spPr>
      </p:pic>
    </p:spTree>
    <p:extLst>
      <p:ext uri="{BB962C8B-B14F-4D97-AF65-F5344CB8AC3E}">
        <p14:creationId xmlns:p14="http://schemas.microsoft.com/office/powerpoint/2010/main" val="163262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Ideas?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Brainstorming</a:t>
            </a:r>
            <a:r>
              <a:rPr lang="en-CA" dirty="0"/>
              <a:t>: </a:t>
            </a:r>
            <a:r>
              <a:rPr lang="en-CA" dirty="0" smtClean="0"/>
              <a:t>expanding </a:t>
            </a:r>
            <a:r>
              <a:rPr lang="en-CA" dirty="0"/>
              <a:t>thinking on a </a:t>
            </a:r>
            <a:r>
              <a:rPr lang="en-CA" dirty="0" smtClean="0"/>
              <a:t>topic</a:t>
            </a:r>
          </a:p>
          <a:p>
            <a:endParaRPr lang="en-CA" dirty="0" smtClean="0"/>
          </a:p>
          <a:p>
            <a:r>
              <a:rPr lang="en-CA" dirty="0" smtClean="0"/>
              <a:t>Mind maps</a:t>
            </a:r>
            <a:r>
              <a:rPr lang="en-CA" dirty="0"/>
              <a:t>: </a:t>
            </a:r>
            <a:r>
              <a:rPr lang="en-CA" dirty="0" smtClean="0"/>
              <a:t>organising ideas, considering </a:t>
            </a:r>
            <a:r>
              <a:rPr lang="en-CA" dirty="0"/>
              <a:t>the relationships between </a:t>
            </a:r>
            <a:r>
              <a:rPr lang="en-CA" dirty="0" smtClean="0"/>
              <a:t>items</a:t>
            </a:r>
          </a:p>
          <a:p>
            <a:pPr marL="137160" indent="0">
              <a:buNone/>
            </a:pPr>
            <a:endParaRPr lang="en-CA" dirty="0" smtClean="0"/>
          </a:p>
          <a:p>
            <a:r>
              <a:rPr lang="en-CA" dirty="0" err="1" smtClean="0"/>
              <a:t>Spidergrams</a:t>
            </a:r>
            <a:r>
              <a:rPr lang="en-CA" dirty="0" smtClean="0"/>
              <a:t>: more words and sentences</a:t>
            </a:r>
          </a:p>
          <a:p>
            <a:pPr marL="137160" indent="0">
              <a:buNone/>
            </a:pPr>
            <a:endParaRPr lang="en-CA" dirty="0" smtClean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2385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Organizing Ideas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05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 smtClean="0">
                <a:solidFill>
                  <a:srgbClr val="FF0000"/>
                </a:solidFill>
              </a:rPr>
              <a:t>Traditional: Group work, etc.</a:t>
            </a:r>
          </a:p>
          <a:p>
            <a:r>
              <a:rPr lang="en-CA" dirty="0" smtClean="0"/>
              <a:t>Pen and paper</a:t>
            </a:r>
          </a:p>
          <a:p>
            <a:r>
              <a:rPr lang="en-CA" dirty="0" smtClean="0"/>
              <a:t>Whiteboard</a:t>
            </a:r>
          </a:p>
          <a:p>
            <a:pPr marL="137160" indent="0">
              <a:buNone/>
            </a:pPr>
            <a:r>
              <a:rPr lang="en-CA" dirty="0" smtClean="0"/>
              <a:t>Lack of knowledge&gt; Demotivation&gt;Boredom</a:t>
            </a:r>
          </a:p>
          <a:p>
            <a:pPr marL="0" indent="0">
              <a:buNone/>
            </a:pPr>
            <a:r>
              <a:rPr lang="en-CA" dirty="0" smtClean="0">
                <a:solidFill>
                  <a:srgbClr val="FF0000"/>
                </a:solidFill>
              </a:rPr>
              <a:t>Technology enhanced: Provides clues</a:t>
            </a:r>
          </a:p>
          <a:p>
            <a:r>
              <a:rPr lang="en-CA" dirty="0" smtClean="0"/>
              <a:t>Overhead projectors</a:t>
            </a:r>
          </a:p>
          <a:p>
            <a:r>
              <a:rPr lang="en-CA" dirty="0" smtClean="0"/>
              <a:t>Video projectors</a:t>
            </a:r>
          </a:p>
          <a:p>
            <a:r>
              <a:rPr lang="en-CA" dirty="0" smtClean="0"/>
              <a:t>Smart boards</a:t>
            </a:r>
          </a:p>
          <a:p>
            <a:r>
              <a:rPr lang="en-CA" dirty="0" smtClean="0"/>
              <a:t>PC</a:t>
            </a:r>
          </a:p>
          <a:p>
            <a:pPr marL="137160" indent="0">
              <a:buNone/>
            </a:pPr>
            <a:r>
              <a:rPr lang="en-CA" dirty="0" smtClean="0"/>
              <a:t>Interesting, engaging/Not as interactive?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762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More Student Centered Methods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b="1" dirty="0" smtClean="0">
                <a:solidFill>
                  <a:schemeClr val="bg1"/>
                </a:solidFill>
              </a:rPr>
              <a:t>Project-based</a:t>
            </a:r>
            <a:r>
              <a:rPr lang="en-CA" dirty="0" smtClean="0"/>
              <a:t>: e.g. Process writing</a:t>
            </a:r>
          </a:p>
          <a:p>
            <a:pPr marL="137160" indent="0">
              <a:buNone/>
            </a:pPr>
            <a:r>
              <a:rPr lang="en-CA" dirty="0" smtClean="0">
                <a:solidFill>
                  <a:schemeClr val="bg1"/>
                </a:solidFill>
              </a:rPr>
              <a:t>In-class: </a:t>
            </a:r>
            <a:r>
              <a:rPr lang="en-CA" dirty="0" smtClean="0"/>
              <a:t>e.g. Cooking, baking, handicrafts, DIY, etc.</a:t>
            </a:r>
          </a:p>
          <a:p>
            <a:pPr marL="137160" indent="0">
              <a:buNone/>
            </a:pPr>
            <a:r>
              <a:rPr lang="en-CA" dirty="0" smtClean="0">
                <a:solidFill>
                  <a:schemeClr val="bg1"/>
                </a:solidFill>
              </a:rPr>
              <a:t>Outdoor: </a:t>
            </a:r>
            <a:r>
              <a:rPr lang="en-CA" dirty="0" smtClean="0"/>
              <a:t>Visiting a workshop or a factory</a:t>
            </a:r>
            <a:endParaRPr lang="en-CA" dirty="0"/>
          </a:p>
          <a:p>
            <a:endParaRPr lang="en-CA" dirty="0" smtClean="0"/>
          </a:p>
          <a:p>
            <a:r>
              <a:rPr lang="en-CA" b="1" dirty="0" smtClean="0">
                <a:solidFill>
                  <a:schemeClr val="bg1"/>
                </a:solidFill>
              </a:rPr>
              <a:t>Research-based: </a:t>
            </a:r>
            <a:r>
              <a:rPr lang="en-CA" dirty="0" smtClean="0"/>
              <a:t>Not limited to one pattern</a:t>
            </a:r>
          </a:p>
          <a:p>
            <a:pPr marL="137160" indent="0">
              <a:buNone/>
            </a:pPr>
            <a:r>
              <a:rPr lang="en-CA" dirty="0" smtClean="0">
                <a:solidFill>
                  <a:schemeClr val="bg1"/>
                </a:solidFill>
              </a:rPr>
              <a:t>In-class: </a:t>
            </a:r>
            <a:r>
              <a:rPr lang="en-CA" dirty="0" smtClean="0"/>
              <a:t>Online research (?), watching a documentary, etc. </a:t>
            </a:r>
          </a:p>
          <a:p>
            <a:pPr marL="137160" indent="0">
              <a:buNone/>
            </a:pPr>
            <a:r>
              <a:rPr lang="en-CA" dirty="0" smtClean="0">
                <a:solidFill>
                  <a:schemeClr val="bg1"/>
                </a:solidFill>
              </a:rPr>
              <a:t>Outdoor: </a:t>
            </a:r>
            <a:r>
              <a:rPr lang="en-CA" dirty="0" smtClean="0"/>
              <a:t>Visiting a gallery, the zoo, a museum, etc.</a:t>
            </a:r>
          </a:p>
          <a:p>
            <a:endParaRPr lang="en-CA" dirty="0" smtClean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71608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Limitations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Budget</a:t>
            </a:r>
          </a:p>
          <a:p>
            <a:r>
              <a:rPr lang="en-CA" dirty="0" smtClean="0"/>
              <a:t>Time</a:t>
            </a:r>
          </a:p>
          <a:p>
            <a:r>
              <a:rPr lang="en-CA" dirty="0" smtClean="0"/>
              <a:t>Weather conditions</a:t>
            </a:r>
          </a:p>
          <a:p>
            <a:r>
              <a:rPr lang="en-CA" dirty="0" smtClean="0"/>
              <a:t>Responsibilities</a:t>
            </a:r>
          </a:p>
          <a:p>
            <a:r>
              <a:rPr lang="en-CA" dirty="0" smtClean="0"/>
              <a:t>Distance</a:t>
            </a:r>
          </a:p>
          <a:p>
            <a:r>
              <a:rPr lang="en-CA" dirty="0" smtClean="0"/>
              <a:t>Attendance</a:t>
            </a:r>
          </a:p>
          <a:p>
            <a:endParaRPr lang="en-CA" dirty="0" smtClean="0"/>
          </a:p>
          <a:p>
            <a:endParaRPr lang="en-CA" dirty="0" smtClean="0"/>
          </a:p>
          <a:p>
            <a:endParaRPr lang="en-CA" dirty="0" smtClean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5966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The School’s Building Alternative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mtClean="0"/>
              <a:t>Classroom’s </a:t>
            </a:r>
            <a:r>
              <a:rPr lang="en-CA" dirty="0" smtClean="0"/>
              <a:t>walls</a:t>
            </a:r>
          </a:p>
          <a:p>
            <a:endParaRPr lang="en-CA" dirty="0" smtClean="0"/>
          </a:p>
          <a:p>
            <a:r>
              <a:rPr lang="en-CA" smtClean="0"/>
              <a:t>Other classrooms</a:t>
            </a:r>
            <a:r>
              <a:rPr lang="en-CA" dirty="0" smtClean="0"/>
              <a:t>’ walls</a:t>
            </a:r>
          </a:p>
          <a:p>
            <a:endParaRPr lang="en-CA" dirty="0" smtClean="0"/>
          </a:p>
          <a:p>
            <a:r>
              <a:rPr lang="en-CA" dirty="0" smtClean="0"/>
              <a:t>Hallways/ Corridors</a:t>
            </a:r>
          </a:p>
          <a:p>
            <a:endParaRPr lang="en-CA" dirty="0" smtClean="0"/>
          </a:p>
          <a:p>
            <a:r>
              <a:rPr lang="en-CA" dirty="0" smtClean="0"/>
              <a:t>Stairways</a:t>
            </a:r>
          </a:p>
          <a:p>
            <a:endParaRPr lang="en-CA" dirty="0"/>
          </a:p>
          <a:p>
            <a:r>
              <a:rPr lang="en-CA" dirty="0" smtClean="0"/>
              <a:t>Floors</a:t>
            </a:r>
          </a:p>
          <a:p>
            <a:endParaRPr lang="en-CA" dirty="0" smtClean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72882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Stairways:</a:t>
            </a:r>
            <a:br>
              <a:rPr lang="en-CA" dirty="0" smtClean="0"/>
            </a:br>
            <a:r>
              <a:rPr lang="en-CA" dirty="0" smtClean="0"/>
              <a:t>Perfect tools to teach time-order</a:t>
            </a:r>
            <a:endParaRPr lang="en-CA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288" y="1601202"/>
            <a:ext cx="6279424" cy="4706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781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Stairways:</a:t>
            </a:r>
            <a:br>
              <a:rPr lang="en-CA" dirty="0" smtClean="0"/>
            </a:br>
            <a:r>
              <a:rPr lang="en-CA" dirty="0" smtClean="0"/>
              <a:t>Comparison-Contrast</a:t>
            </a:r>
            <a:endParaRPr lang="en-CA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288" y="1601202"/>
            <a:ext cx="6279424" cy="4706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337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728192"/>
          </a:xfrm>
        </p:spPr>
        <p:txBody>
          <a:bodyPr>
            <a:normAutofit fontScale="90000"/>
          </a:bodyPr>
          <a:lstStyle/>
          <a:p>
            <a:r>
              <a:rPr lang="en-CA" b="0" dirty="0" smtClean="0"/>
              <a:t>Topics Suitable for using walls to teach</a:t>
            </a:r>
            <a:br>
              <a:rPr lang="en-CA" b="0" dirty="0" smtClean="0"/>
            </a:br>
            <a:r>
              <a:rPr lang="en-CA" b="0" dirty="0" smtClean="0"/>
              <a:t> </a:t>
            </a:r>
            <a:r>
              <a:rPr lang="en-CA" dirty="0" smtClean="0"/>
              <a:t>Chronological Order</a:t>
            </a:r>
            <a:br>
              <a:rPr lang="en-CA" dirty="0" smtClean="0"/>
            </a:br>
            <a:r>
              <a:rPr lang="en-CA" sz="3100" dirty="0" smtClean="0">
                <a:solidFill>
                  <a:schemeClr val="tx1"/>
                </a:solidFill>
              </a:rPr>
              <a:t>The History of</a:t>
            </a:r>
            <a:r>
              <a:rPr lang="en-CA" sz="3100" b="0" dirty="0" smtClean="0">
                <a:solidFill>
                  <a:schemeClr val="tx1"/>
                </a:solidFill>
              </a:rPr>
              <a:t>…..</a:t>
            </a:r>
            <a:endParaRPr lang="en-CA" sz="3100" b="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276872"/>
            <a:ext cx="8219256" cy="4032488"/>
          </a:xfrm>
        </p:spPr>
        <p:txBody>
          <a:bodyPr>
            <a:normAutofit lnSpcReduction="10000"/>
          </a:bodyPr>
          <a:lstStyle/>
          <a:p>
            <a:r>
              <a:rPr lang="en-CA" dirty="0" smtClean="0"/>
              <a:t>the Automobile</a:t>
            </a:r>
          </a:p>
          <a:p>
            <a:r>
              <a:rPr lang="en-CA" dirty="0" smtClean="0"/>
              <a:t>the Printing Press</a:t>
            </a:r>
          </a:p>
          <a:p>
            <a:r>
              <a:rPr lang="en-CA" dirty="0" smtClean="0"/>
              <a:t>Fashion </a:t>
            </a:r>
          </a:p>
          <a:p>
            <a:r>
              <a:rPr lang="en-CA" dirty="0" smtClean="0"/>
              <a:t>Aviation</a:t>
            </a:r>
          </a:p>
          <a:p>
            <a:r>
              <a:rPr lang="en-CA" dirty="0" smtClean="0"/>
              <a:t>Cinema</a:t>
            </a:r>
          </a:p>
          <a:p>
            <a:r>
              <a:rPr lang="en-CA" dirty="0" smtClean="0"/>
              <a:t>Dance</a:t>
            </a:r>
          </a:p>
          <a:p>
            <a:r>
              <a:rPr lang="en-CA" dirty="0" smtClean="0"/>
              <a:t>The Computer and the Internet</a:t>
            </a:r>
          </a:p>
          <a:p>
            <a:r>
              <a:rPr lang="en-CA" dirty="0" smtClean="0"/>
              <a:t>Telephone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47787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Classroom’s Walls</a:t>
            </a:r>
            <a:br>
              <a:rPr lang="en-CA" dirty="0" smtClean="0"/>
            </a:br>
            <a:r>
              <a:rPr lang="en-CA" dirty="0" smtClean="0"/>
              <a:t>for Paragraphs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 smtClean="0"/>
              <a:t>A city’s Tourist Attractions </a:t>
            </a:r>
          </a:p>
          <a:p>
            <a:pPr marL="137160" indent="0">
              <a:buNone/>
            </a:pPr>
            <a:r>
              <a:rPr lang="en-CA" dirty="0" smtClean="0"/>
              <a:t> e.g. Vancouver:</a:t>
            </a:r>
          </a:p>
          <a:p>
            <a:pPr marL="137160" indent="0">
              <a:buNone/>
            </a:pPr>
            <a:endParaRPr lang="en-CA" dirty="0"/>
          </a:p>
          <a:p>
            <a:pPr marL="137160" indent="0">
              <a:buNone/>
            </a:pPr>
            <a:r>
              <a:rPr lang="en-CA" dirty="0" smtClean="0"/>
              <a:t>1- Mountains and trails</a:t>
            </a:r>
          </a:p>
          <a:p>
            <a:pPr marL="137160" indent="0">
              <a:buNone/>
            </a:pPr>
            <a:r>
              <a:rPr lang="en-CA" dirty="0"/>
              <a:t>	</a:t>
            </a:r>
            <a:r>
              <a:rPr lang="en-CA" dirty="0" smtClean="0"/>
              <a:t>Grouse M, Seymour, </a:t>
            </a:r>
            <a:r>
              <a:rPr lang="en-CA" dirty="0" err="1" smtClean="0"/>
              <a:t>Capliano</a:t>
            </a:r>
            <a:r>
              <a:rPr lang="en-CA" dirty="0" smtClean="0"/>
              <a:t> Suspension Bridge</a:t>
            </a:r>
          </a:p>
          <a:p>
            <a:pPr marL="137160" indent="0">
              <a:buNone/>
            </a:pPr>
            <a:r>
              <a:rPr lang="en-CA" dirty="0" smtClean="0"/>
              <a:t>2- Beaches </a:t>
            </a:r>
          </a:p>
          <a:p>
            <a:pPr marL="137160" indent="0">
              <a:buNone/>
            </a:pPr>
            <a:r>
              <a:rPr lang="en-CA" dirty="0"/>
              <a:t>	</a:t>
            </a:r>
            <a:r>
              <a:rPr lang="en-CA" dirty="0" smtClean="0"/>
              <a:t>English Bay, Ambleside, </a:t>
            </a:r>
            <a:r>
              <a:rPr lang="en-CA" dirty="0" err="1" smtClean="0"/>
              <a:t>Kitsilano</a:t>
            </a:r>
            <a:r>
              <a:rPr lang="en-CA" dirty="0" smtClean="0"/>
              <a:t> </a:t>
            </a:r>
          </a:p>
          <a:p>
            <a:pPr marL="137160" indent="0">
              <a:buNone/>
            </a:pPr>
            <a:r>
              <a:rPr lang="en-CA" dirty="0" smtClean="0"/>
              <a:t>3- Downtown </a:t>
            </a:r>
          </a:p>
          <a:p>
            <a:pPr marL="137160" indent="0">
              <a:buNone/>
            </a:pPr>
            <a:r>
              <a:rPr lang="en-CA" dirty="0"/>
              <a:t>	</a:t>
            </a:r>
            <a:r>
              <a:rPr lang="en-CA" dirty="0" smtClean="0"/>
              <a:t>Gas Town, Harbour Centre, VPL, </a:t>
            </a:r>
          </a:p>
          <a:p>
            <a:endParaRPr lang="en-CA" dirty="0"/>
          </a:p>
          <a:p>
            <a:endParaRPr lang="en-CA" dirty="0" smtClean="0"/>
          </a:p>
          <a:p>
            <a:endParaRPr lang="en-CA" dirty="0" smtClean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69272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3 Classrooms or </a:t>
            </a:r>
            <a:r>
              <a:rPr lang="en-CA" dirty="0" err="1" smtClean="0"/>
              <a:t>Corridores</a:t>
            </a:r>
            <a:r>
              <a:rPr lang="en-CA" dirty="0" smtClean="0"/>
              <a:t/>
            </a:r>
            <a:br>
              <a:rPr lang="en-CA" dirty="0" smtClean="0"/>
            </a:br>
            <a:r>
              <a:rPr lang="en-CA" dirty="0" smtClean="0"/>
              <a:t> for Essays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37160" indent="0" algn="ctr">
              <a:buNone/>
            </a:pPr>
            <a:r>
              <a:rPr lang="en-CA" b="1" dirty="0" smtClean="0"/>
              <a:t>Auto Show</a:t>
            </a:r>
            <a:endParaRPr lang="en-CA" b="1" dirty="0"/>
          </a:p>
          <a:p>
            <a:pPr marL="137160" indent="0">
              <a:buNone/>
            </a:pPr>
            <a:r>
              <a:rPr lang="en-CA" dirty="0" smtClean="0"/>
              <a:t>1 – </a:t>
            </a:r>
            <a:r>
              <a:rPr lang="en-CA" b="1" dirty="0" smtClean="0"/>
              <a:t>Family Cars</a:t>
            </a:r>
          </a:p>
          <a:p>
            <a:pPr marL="137160" indent="0">
              <a:buNone/>
            </a:pPr>
            <a:r>
              <a:rPr lang="en-CA" b="1" dirty="0" smtClean="0"/>
              <a:t>	Sedans</a:t>
            </a:r>
          </a:p>
          <a:p>
            <a:pPr marL="137160" indent="0">
              <a:buNone/>
            </a:pPr>
            <a:r>
              <a:rPr lang="en-CA" b="1" dirty="0" smtClean="0"/>
              <a:t>	Hatchbacks</a:t>
            </a:r>
          </a:p>
          <a:p>
            <a:pPr marL="137160" indent="0">
              <a:buNone/>
            </a:pPr>
            <a:r>
              <a:rPr lang="en-CA" b="1" dirty="0" smtClean="0"/>
              <a:t>	Vans</a:t>
            </a:r>
          </a:p>
          <a:p>
            <a:pPr marL="137160" indent="0">
              <a:buNone/>
            </a:pPr>
            <a:r>
              <a:rPr lang="en-CA" b="1" dirty="0" smtClean="0"/>
              <a:t>2- Sports Cars</a:t>
            </a:r>
          </a:p>
          <a:p>
            <a:pPr marL="137160" indent="0">
              <a:buNone/>
            </a:pPr>
            <a:r>
              <a:rPr lang="en-CA" b="1" dirty="0" smtClean="0"/>
              <a:t>	Convertibles/ Hard tops</a:t>
            </a:r>
          </a:p>
          <a:p>
            <a:pPr marL="137160" indent="0">
              <a:buNone/>
            </a:pPr>
            <a:r>
              <a:rPr lang="en-CA" b="1" dirty="0" smtClean="0"/>
              <a:t>	Coupe’s</a:t>
            </a:r>
          </a:p>
          <a:p>
            <a:pPr marL="137160" indent="0">
              <a:buNone/>
            </a:pPr>
            <a:r>
              <a:rPr lang="en-CA" b="1" dirty="0" smtClean="0"/>
              <a:t>	Roadsters</a:t>
            </a:r>
            <a:endParaRPr lang="sv-SE" dirty="0" smtClean="0"/>
          </a:p>
          <a:p>
            <a:pPr marL="137160" indent="0">
              <a:buNone/>
            </a:pPr>
            <a:r>
              <a:rPr lang="en-CA" dirty="0" smtClean="0"/>
              <a:t>3 – </a:t>
            </a:r>
            <a:r>
              <a:rPr lang="en-CA" b="1" dirty="0" smtClean="0"/>
              <a:t>Light Trucks</a:t>
            </a:r>
          </a:p>
          <a:p>
            <a:pPr marL="137160" indent="0">
              <a:buNone/>
            </a:pPr>
            <a:r>
              <a:rPr lang="en-CA" b="1" dirty="0"/>
              <a:t>	</a:t>
            </a:r>
            <a:r>
              <a:rPr lang="en-CA" dirty="0" smtClean="0"/>
              <a:t>Trucks</a:t>
            </a:r>
          </a:p>
          <a:p>
            <a:pPr marL="585216" lvl="1" indent="0">
              <a:buNone/>
            </a:pPr>
            <a:r>
              <a:rPr lang="en-CA" dirty="0" smtClean="0"/>
              <a:t>	SUVs</a:t>
            </a:r>
          </a:p>
          <a:p>
            <a:pPr lvl="1"/>
            <a:endParaRPr lang="en-CA" dirty="0" smtClean="0"/>
          </a:p>
          <a:p>
            <a:pPr lvl="1"/>
            <a:endParaRPr lang="en-CA" dirty="0" smtClean="0"/>
          </a:p>
          <a:p>
            <a:endParaRPr lang="en-CA" dirty="0" smtClean="0"/>
          </a:p>
          <a:p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3587193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Buildings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37160" indent="0">
              <a:buNone/>
            </a:pPr>
            <a:r>
              <a:rPr lang="en-CA" dirty="0" smtClean="0"/>
              <a:t>     1-	</a:t>
            </a:r>
            <a:r>
              <a:rPr lang="en-CA" b="1" dirty="0" smtClean="0">
                <a:solidFill>
                  <a:schemeClr val="bg1"/>
                </a:solidFill>
              </a:rPr>
              <a:t>Residential</a:t>
            </a:r>
          </a:p>
          <a:p>
            <a:pPr lvl="1"/>
            <a:r>
              <a:rPr lang="en-CA" dirty="0" smtClean="0"/>
              <a:t>Houses</a:t>
            </a:r>
          </a:p>
          <a:p>
            <a:pPr lvl="1"/>
            <a:r>
              <a:rPr lang="en-CA" dirty="0" smtClean="0"/>
              <a:t>Apartments</a:t>
            </a:r>
          </a:p>
          <a:p>
            <a:pPr lvl="1"/>
            <a:r>
              <a:rPr lang="en-CA" dirty="0" smtClean="0"/>
              <a:t>Condos</a:t>
            </a:r>
            <a:endParaRPr lang="en-CA" dirty="0"/>
          </a:p>
          <a:p>
            <a:pPr marL="585216" lvl="1" indent="0">
              <a:buNone/>
            </a:pPr>
            <a:r>
              <a:rPr lang="en-CA" dirty="0" smtClean="0"/>
              <a:t>2-	</a:t>
            </a:r>
            <a:r>
              <a:rPr lang="en-CA" b="1" dirty="0" smtClean="0">
                <a:solidFill>
                  <a:schemeClr val="bg1"/>
                </a:solidFill>
              </a:rPr>
              <a:t>Educationa</a:t>
            </a:r>
            <a:r>
              <a:rPr lang="en-CA" b="1" dirty="0">
                <a:solidFill>
                  <a:schemeClr val="bg1"/>
                </a:solidFill>
              </a:rPr>
              <a:t>l</a:t>
            </a:r>
            <a:endParaRPr lang="en-CA" b="1" dirty="0" smtClean="0">
              <a:solidFill>
                <a:schemeClr val="bg1"/>
              </a:solidFill>
            </a:endParaRPr>
          </a:p>
          <a:p>
            <a:pPr marL="585216" lvl="1" indent="0">
              <a:buNone/>
            </a:pPr>
            <a:r>
              <a:rPr lang="en-CA" dirty="0"/>
              <a:t>	</a:t>
            </a:r>
            <a:r>
              <a:rPr lang="en-CA" dirty="0" smtClean="0"/>
              <a:t>Daycares</a:t>
            </a:r>
          </a:p>
          <a:p>
            <a:pPr marL="585216" lvl="1" indent="0">
              <a:buNone/>
            </a:pPr>
            <a:r>
              <a:rPr lang="en-CA" dirty="0"/>
              <a:t>	</a:t>
            </a:r>
            <a:r>
              <a:rPr lang="en-CA" dirty="0" smtClean="0"/>
              <a:t>Schools</a:t>
            </a:r>
          </a:p>
          <a:p>
            <a:pPr marL="585216" lvl="1" indent="0">
              <a:buNone/>
            </a:pPr>
            <a:r>
              <a:rPr lang="en-CA" dirty="0"/>
              <a:t>	</a:t>
            </a:r>
            <a:r>
              <a:rPr lang="en-CA" dirty="0" smtClean="0"/>
              <a:t>Universities</a:t>
            </a:r>
          </a:p>
          <a:p>
            <a:pPr marL="585216" lvl="1" indent="0">
              <a:buNone/>
            </a:pPr>
            <a:r>
              <a:rPr lang="en-CA" dirty="0" smtClean="0"/>
              <a:t>3-	</a:t>
            </a:r>
            <a:r>
              <a:rPr lang="en-CA" b="1" dirty="0" smtClean="0">
                <a:solidFill>
                  <a:schemeClr val="bg1"/>
                </a:solidFill>
              </a:rPr>
              <a:t>Commercial</a:t>
            </a:r>
          </a:p>
          <a:p>
            <a:pPr marL="585216" lvl="1" indent="0">
              <a:buNone/>
            </a:pPr>
            <a:r>
              <a:rPr lang="en-CA" dirty="0"/>
              <a:t>	</a:t>
            </a:r>
            <a:r>
              <a:rPr lang="en-CA" dirty="0" smtClean="0"/>
              <a:t>Stores</a:t>
            </a:r>
          </a:p>
          <a:p>
            <a:pPr marL="585216" lvl="1" indent="0">
              <a:buNone/>
            </a:pPr>
            <a:r>
              <a:rPr lang="en-CA" dirty="0"/>
              <a:t>	</a:t>
            </a:r>
            <a:r>
              <a:rPr lang="en-CA" dirty="0" smtClean="0"/>
              <a:t>Malls</a:t>
            </a:r>
          </a:p>
          <a:p>
            <a:pPr marL="585216" lvl="1" indent="0">
              <a:buNone/>
            </a:pPr>
            <a:r>
              <a:rPr lang="en-CA" dirty="0"/>
              <a:t>	</a:t>
            </a:r>
            <a:r>
              <a:rPr lang="en-CA" dirty="0" smtClean="0"/>
              <a:t>Workshops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2876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Paragraph Level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7859216" cy="639762"/>
          </a:xfrm>
        </p:spPr>
        <p:txBody>
          <a:bodyPr/>
          <a:lstStyle/>
          <a:p>
            <a:r>
              <a:rPr lang="en-CA" smtClean="0"/>
              <a:t>Classification</a:t>
            </a:r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2420889"/>
            <a:ext cx="7859216" cy="3528392"/>
          </a:xfrm>
        </p:spPr>
        <p:txBody>
          <a:bodyPr/>
          <a:lstStyle/>
          <a:p>
            <a:r>
              <a:rPr lang="en-CA" dirty="0" smtClean="0"/>
              <a:t>Describe an auto show.</a:t>
            </a:r>
          </a:p>
          <a:p>
            <a:r>
              <a:rPr lang="en-CA" dirty="0" smtClean="0"/>
              <a:t>A visit to the zoo.</a:t>
            </a:r>
          </a:p>
          <a:p>
            <a:r>
              <a:rPr lang="en-CA" dirty="0" smtClean="0"/>
              <a:t>Advantages of living in big cities.</a:t>
            </a:r>
          </a:p>
          <a:p>
            <a:r>
              <a:rPr lang="en-CA" dirty="0" smtClean="0"/>
              <a:t>A picture story.</a:t>
            </a:r>
          </a:p>
          <a:p>
            <a:r>
              <a:rPr lang="en-CA" dirty="0" smtClean="0"/>
              <a:t>Problems of studying with a computer.</a:t>
            </a:r>
          </a:p>
          <a:p>
            <a:r>
              <a:rPr lang="en-CA" dirty="0" smtClean="0"/>
              <a:t>Advantages of studying with a computer.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50782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Paragraph level</a:t>
            </a:r>
            <a:br>
              <a:rPr lang="en-CA" dirty="0" smtClean="0"/>
            </a:br>
            <a:r>
              <a:rPr lang="en-CA" dirty="0" smtClean="0"/>
              <a:t>The Auto Show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47340"/>
            <a:ext cx="2242592" cy="689571"/>
          </a:xfrm>
        </p:spPr>
        <p:txBody>
          <a:bodyPr>
            <a:normAutofit fontScale="92500"/>
          </a:bodyPr>
          <a:lstStyle/>
          <a:p>
            <a:pPr algn="ctr"/>
            <a:r>
              <a:rPr lang="en-CA" b="1" dirty="0" smtClean="0">
                <a:solidFill>
                  <a:srgbClr val="FF0000"/>
                </a:solidFill>
              </a:rPr>
              <a:t>Sports cars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3203302" y="2060848"/>
            <a:ext cx="1871191" cy="576064"/>
          </a:xfrm>
        </p:spPr>
        <p:txBody>
          <a:bodyPr/>
          <a:lstStyle/>
          <a:p>
            <a:pPr algn="ctr"/>
            <a:r>
              <a:rPr lang="en-CA" b="1" dirty="0" smtClean="0">
                <a:solidFill>
                  <a:srgbClr val="FF0000"/>
                </a:solidFill>
              </a:rPr>
              <a:t>Sedans</a:t>
            </a:r>
            <a:endParaRPr lang="en-CA" b="1" dirty="0">
              <a:solidFill>
                <a:srgbClr val="FF0000"/>
              </a:solidFill>
            </a:endParaRP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611073678"/>
              </p:ext>
            </p:extLst>
          </p:nvPr>
        </p:nvGraphicFramePr>
        <p:xfrm>
          <a:off x="457200" y="2996952"/>
          <a:ext cx="2098675" cy="2664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675"/>
              </a:tblGrid>
              <a:tr h="2664296">
                <a:tc>
                  <a:txBody>
                    <a:bodyPr/>
                    <a:lstStyle/>
                    <a:p>
                      <a:pPr algn="ctr"/>
                      <a:r>
                        <a:rPr lang="en-CA" sz="2800" dirty="0" smtClean="0"/>
                        <a:t>Ferrari</a:t>
                      </a:r>
                    </a:p>
                    <a:p>
                      <a:pPr algn="ctr"/>
                      <a:endParaRPr lang="en-CA" sz="2800" dirty="0" smtClean="0"/>
                    </a:p>
                    <a:p>
                      <a:pPr algn="ctr"/>
                      <a:r>
                        <a:rPr lang="en-CA" sz="2800" dirty="0" smtClean="0"/>
                        <a:t>Porsche</a:t>
                      </a:r>
                    </a:p>
                    <a:p>
                      <a:pPr algn="ctr"/>
                      <a:endParaRPr lang="en-CA" sz="2800" dirty="0" smtClean="0"/>
                    </a:p>
                    <a:p>
                      <a:pPr algn="ctr"/>
                      <a:r>
                        <a:rPr lang="en-CA" sz="2800" dirty="0" smtClean="0"/>
                        <a:t>Maserati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 Placeholder 4"/>
          <p:cNvSpPr txBox="1">
            <a:spLocks/>
          </p:cNvSpPr>
          <p:nvPr/>
        </p:nvSpPr>
        <p:spPr>
          <a:xfrm>
            <a:off x="6156176" y="1988840"/>
            <a:ext cx="1871191" cy="648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dirty="0" smtClean="0">
                <a:solidFill>
                  <a:srgbClr val="FF0000"/>
                </a:solidFill>
              </a:rPr>
              <a:t>Trucks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9" name="Text Placeholder 4"/>
          <p:cNvSpPr txBox="1">
            <a:spLocks/>
          </p:cNvSpPr>
          <p:nvPr/>
        </p:nvSpPr>
        <p:spPr>
          <a:xfrm>
            <a:off x="3275856" y="2267221"/>
            <a:ext cx="1798637" cy="3951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375306"/>
              </p:ext>
            </p:extLst>
          </p:nvPr>
        </p:nvGraphicFramePr>
        <p:xfrm>
          <a:off x="3419089" y="2924944"/>
          <a:ext cx="1872991" cy="2664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991"/>
              </a:tblGrid>
              <a:tr h="2664296">
                <a:tc>
                  <a:txBody>
                    <a:bodyPr/>
                    <a:lstStyle/>
                    <a:p>
                      <a:pPr algn="ctr"/>
                      <a:r>
                        <a:rPr lang="en-CA" sz="2800" dirty="0" smtClean="0"/>
                        <a:t>Mazda 3</a:t>
                      </a:r>
                    </a:p>
                    <a:p>
                      <a:pPr algn="ctr"/>
                      <a:endParaRPr lang="en-CA" sz="2800" dirty="0" smtClean="0"/>
                    </a:p>
                    <a:p>
                      <a:pPr algn="ctr"/>
                      <a:r>
                        <a:rPr lang="en-CA" sz="2800" smtClean="0"/>
                        <a:t>Nissan</a:t>
                      </a:r>
                      <a:endParaRPr lang="en-CA" sz="2800" dirty="0" smtClean="0"/>
                    </a:p>
                    <a:p>
                      <a:pPr algn="ctr"/>
                      <a:r>
                        <a:rPr lang="en-CA" sz="2800" dirty="0" smtClean="0"/>
                        <a:t> Chevrolet</a:t>
                      </a:r>
                    </a:p>
                    <a:p>
                      <a:endParaRPr lang="en-CA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375792"/>
              </p:ext>
            </p:extLst>
          </p:nvPr>
        </p:nvGraphicFramePr>
        <p:xfrm>
          <a:off x="6228184" y="2924944"/>
          <a:ext cx="1944216" cy="2592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16"/>
              </a:tblGrid>
              <a:tr h="2592288">
                <a:tc>
                  <a:txBody>
                    <a:bodyPr/>
                    <a:lstStyle/>
                    <a:p>
                      <a:pPr algn="ctr"/>
                      <a:r>
                        <a:rPr lang="en-CA" sz="2800" dirty="0" smtClean="0"/>
                        <a:t>Ford</a:t>
                      </a:r>
                    </a:p>
                    <a:p>
                      <a:pPr algn="ctr"/>
                      <a:endParaRPr lang="en-CA" sz="2800" dirty="0" smtClean="0"/>
                    </a:p>
                    <a:p>
                      <a:pPr algn="ctr"/>
                      <a:r>
                        <a:rPr lang="en-CA" sz="2800" dirty="0" smtClean="0"/>
                        <a:t>Chevrolet</a:t>
                      </a:r>
                    </a:p>
                    <a:p>
                      <a:pPr algn="ctr"/>
                      <a:endParaRPr lang="en-CA" sz="2800" dirty="0" smtClean="0"/>
                    </a:p>
                    <a:p>
                      <a:pPr algn="ctr"/>
                      <a:r>
                        <a:rPr lang="en-CA" sz="2800" dirty="0" smtClean="0"/>
                        <a:t>Toyota</a:t>
                      </a:r>
                    </a:p>
                    <a:p>
                      <a:endParaRPr lang="en-CA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930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Possible </a:t>
            </a:r>
            <a:r>
              <a:rPr lang="en-CA" dirty="0" smtClean="0"/>
              <a:t>Paragraph</a:t>
            </a:r>
            <a:endParaRPr lang="en-CA" dirty="0"/>
          </a:p>
        </p:txBody>
      </p:sp>
      <p:sp>
        <p:nvSpPr>
          <p:cNvPr id="4" name="Title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 smtClean="0"/>
              <a:t>The Vancouver auto show had a huge collection of three different types of cars.</a:t>
            </a:r>
          </a:p>
          <a:p>
            <a:r>
              <a:rPr lang="en-CA" dirty="0" smtClean="0"/>
              <a:t> On the right, several companies had displayed their </a:t>
            </a:r>
            <a:r>
              <a:rPr lang="en-CA" b="1" dirty="0" smtClean="0">
                <a:solidFill>
                  <a:schemeClr val="bg1"/>
                </a:solidFill>
              </a:rPr>
              <a:t>sport cars</a:t>
            </a:r>
            <a:r>
              <a:rPr lang="en-CA" dirty="0" smtClean="0"/>
              <a:t>. The best cars there were by Ferrari, </a:t>
            </a:r>
            <a:r>
              <a:rPr lang="en-CA" dirty="0"/>
              <a:t>M</a:t>
            </a:r>
            <a:r>
              <a:rPr lang="en-CA" dirty="0" smtClean="0"/>
              <a:t>aserati, and Porsche.</a:t>
            </a:r>
          </a:p>
          <a:p>
            <a:r>
              <a:rPr lang="en-CA" dirty="0" smtClean="0"/>
              <a:t>In the centre of the auto show, </a:t>
            </a:r>
            <a:r>
              <a:rPr lang="en-CA" b="1" dirty="0" smtClean="0">
                <a:solidFill>
                  <a:schemeClr val="bg1"/>
                </a:solidFill>
              </a:rPr>
              <a:t>family </a:t>
            </a:r>
            <a:r>
              <a:rPr lang="en-CA" dirty="0" smtClean="0"/>
              <a:t>sedans and hatchbacks by companies such as Mazda, Nissan and Chevrolet had attracted many visitors.</a:t>
            </a:r>
          </a:p>
          <a:p>
            <a:r>
              <a:rPr lang="en-CA" dirty="0" smtClean="0"/>
              <a:t>Finally, </a:t>
            </a:r>
            <a:r>
              <a:rPr lang="en-CA" b="1" dirty="0" smtClean="0">
                <a:solidFill>
                  <a:schemeClr val="bg1"/>
                </a:solidFill>
              </a:rPr>
              <a:t>trucks, Vans, and SUVs </a:t>
            </a:r>
            <a:r>
              <a:rPr lang="en-CA" dirty="0" smtClean="0"/>
              <a:t>had occupied a large section of the auto show on the left. Chevrolet, Toyota, and Ford had all introduced their new products.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93848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Conventional </a:t>
            </a:r>
            <a:r>
              <a:rPr lang="en-CA" smtClean="0"/>
              <a:t>Writing Class</a:t>
            </a:r>
            <a:r>
              <a:rPr lang="en-CA" dirty="0" smtClean="0"/>
              <a:t/>
            </a:r>
            <a:br>
              <a:rPr lang="en-CA" dirty="0" smtClean="0"/>
            </a:br>
            <a:r>
              <a:rPr lang="en-CA" smtClean="0"/>
              <a:t>Some Possible Class </a:t>
            </a:r>
            <a:r>
              <a:rPr lang="en-CA" dirty="0" smtClean="0"/>
              <a:t>Activities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CA" dirty="0" smtClean="0"/>
              <a:t>The teacher and students form a mind map </a:t>
            </a:r>
          </a:p>
          <a:p>
            <a:pPr>
              <a:buFontTx/>
              <a:buChar char="-"/>
            </a:pPr>
            <a:r>
              <a:rPr lang="en-CA" dirty="0" smtClean="0"/>
              <a:t>Students follow the teacher’s instructions and draw a floor plan of the auto show</a:t>
            </a:r>
          </a:p>
          <a:p>
            <a:pPr>
              <a:buFontTx/>
              <a:buChar char="-"/>
            </a:pPr>
            <a:r>
              <a:rPr lang="en-CA" dirty="0" smtClean="0"/>
              <a:t>Students group ready-made cut outs with names or pictures of  cars</a:t>
            </a:r>
          </a:p>
          <a:p>
            <a:pPr>
              <a:buFontTx/>
              <a:buChar char="-"/>
            </a:pPr>
            <a:r>
              <a:rPr lang="en-CA" dirty="0" smtClean="0"/>
              <a:t>Teacher shows a documentary</a:t>
            </a:r>
            <a:r>
              <a:rPr lang="en-CA" smtClean="0"/>
              <a:t>; Ss </a:t>
            </a:r>
            <a:r>
              <a:rPr lang="en-CA" dirty="0" smtClean="0"/>
              <a:t>take notes</a:t>
            </a:r>
          </a:p>
          <a:p>
            <a:pPr>
              <a:buFontTx/>
              <a:buChar char="-"/>
            </a:pPr>
            <a:r>
              <a:rPr lang="en-CA" dirty="0" smtClean="0"/>
              <a:t>Teacher asks students to bring mini model cars </a:t>
            </a:r>
            <a:r>
              <a:rPr lang="en-CA" smtClean="0"/>
              <a:t>to class</a:t>
            </a:r>
            <a:endParaRPr lang="en-CA" dirty="0" smtClean="0"/>
          </a:p>
          <a:p>
            <a:pPr>
              <a:buFontTx/>
              <a:buChar char="-"/>
            </a:pPr>
            <a:r>
              <a:rPr lang="en-CA" dirty="0" err="1" smtClean="0"/>
              <a:t>Etc</a:t>
            </a:r>
            <a:r>
              <a:rPr lang="en-CA" dirty="0" smtClean="0"/>
              <a:t>,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39566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19256" cy="1656184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/>
            </a:r>
            <a:br>
              <a:rPr lang="en-CA" dirty="0" smtClean="0"/>
            </a:br>
            <a:r>
              <a:rPr lang="en-CA" dirty="0" smtClean="0"/>
              <a:t>Task –Based/ Student –led approach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134007"/>
            <a:ext cx="8352928" cy="4709160"/>
          </a:xfrm>
        </p:spPr>
        <p:txBody>
          <a:bodyPr>
            <a:normAutofit/>
          </a:bodyPr>
          <a:lstStyle/>
          <a:p>
            <a:r>
              <a:rPr lang="en-CA" b="1" dirty="0" smtClean="0">
                <a:solidFill>
                  <a:schemeClr val="bg1"/>
                </a:solidFill>
              </a:rPr>
              <a:t>1- Motivation</a:t>
            </a:r>
            <a:r>
              <a:rPr lang="en-CA" b="1" smtClean="0">
                <a:solidFill>
                  <a:schemeClr val="bg1"/>
                </a:solidFill>
              </a:rPr>
              <a:t>: </a:t>
            </a:r>
            <a:r>
              <a:rPr lang="en-CA" smtClean="0"/>
              <a:t>Ss </a:t>
            </a:r>
            <a:r>
              <a:rPr lang="en-CA" dirty="0" smtClean="0"/>
              <a:t>in groups do research, print images, prepare frames, etc.</a:t>
            </a:r>
          </a:p>
          <a:p>
            <a:r>
              <a:rPr lang="en-CA" b="1" dirty="0" smtClean="0">
                <a:solidFill>
                  <a:schemeClr val="bg1"/>
                </a:solidFill>
              </a:rPr>
              <a:t>2 –Action </a:t>
            </a:r>
            <a:r>
              <a:rPr lang="en-CA" b="1" smtClean="0">
                <a:solidFill>
                  <a:schemeClr val="bg1"/>
                </a:solidFill>
              </a:rPr>
              <a:t>:</a:t>
            </a:r>
            <a:r>
              <a:rPr lang="en-CA" b="1" smtClean="0"/>
              <a:t> </a:t>
            </a:r>
            <a:r>
              <a:rPr lang="en-CA" smtClean="0"/>
              <a:t>Ss discuss </a:t>
            </a:r>
            <a:r>
              <a:rPr lang="en-CA" dirty="0" smtClean="0"/>
              <a:t>organization; </a:t>
            </a:r>
            <a:r>
              <a:rPr lang="en-CA" smtClean="0"/>
              <a:t>decorate classes</a:t>
            </a:r>
            <a:r>
              <a:rPr lang="en-CA" dirty="0" smtClean="0"/>
              <a:t>; add headings</a:t>
            </a:r>
          </a:p>
          <a:p>
            <a:r>
              <a:rPr lang="en-CA" b="1" dirty="0" smtClean="0">
                <a:solidFill>
                  <a:schemeClr val="bg1"/>
                </a:solidFill>
              </a:rPr>
              <a:t>3 – Negotiation: </a:t>
            </a:r>
            <a:r>
              <a:rPr lang="en-CA" dirty="0" smtClean="0"/>
              <a:t>Groups visit other sections of the “Auto Show,” take notes, compare, evaluate, give suggestions, make adjustments</a:t>
            </a:r>
          </a:p>
        </p:txBody>
      </p:sp>
    </p:spTree>
    <p:extLst>
      <p:ext uri="{BB962C8B-B14F-4D97-AF65-F5344CB8AC3E}">
        <p14:creationId xmlns:p14="http://schemas.microsoft.com/office/powerpoint/2010/main" val="171655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Task–Based</a:t>
            </a:r>
            <a:r>
              <a:rPr lang="en-CA" dirty="0"/>
              <a:t>/ Student –led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>
                <a:solidFill>
                  <a:schemeClr val="bg1"/>
                </a:solidFill>
              </a:rPr>
              <a:t>4- Organization</a:t>
            </a:r>
            <a:r>
              <a:rPr lang="en-CA" b="1" dirty="0" smtClean="0">
                <a:solidFill>
                  <a:schemeClr val="bg1"/>
                </a:solidFill>
              </a:rPr>
              <a:t>:</a:t>
            </a:r>
          </a:p>
          <a:p>
            <a:pPr marL="137160" indent="0">
              <a:buNone/>
            </a:pPr>
            <a:r>
              <a:rPr lang="en-CA" b="1" dirty="0">
                <a:solidFill>
                  <a:schemeClr val="bg1"/>
                </a:solidFill>
              </a:rPr>
              <a:t> </a:t>
            </a:r>
            <a:r>
              <a:rPr lang="en-CA" b="1" dirty="0" smtClean="0">
                <a:solidFill>
                  <a:schemeClr val="bg1"/>
                </a:solidFill>
              </a:rPr>
              <a:t>    </a:t>
            </a:r>
            <a:r>
              <a:rPr lang="en-CA" b="1" dirty="0"/>
              <a:t>Students organize their notes; create an outline,  use</a:t>
            </a:r>
            <a:r>
              <a:rPr lang="en-CA" dirty="0"/>
              <a:t> notes to write the body of the paragraph</a:t>
            </a:r>
          </a:p>
          <a:p>
            <a:r>
              <a:rPr lang="en-CA" b="1" dirty="0">
                <a:solidFill>
                  <a:schemeClr val="bg1"/>
                </a:solidFill>
              </a:rPr>
              <a:t>5 – Writing: </a:t>
            </a:r>
            <a:endParaRPr lang="en-CA" b="1" dirty="0" smtClean="0">
              <a:solidFill>
                <a:schemeClr val="bg1"/>
              </a:solidFill>
            </a:endParaRPr>
          </a:p>
          <a:p>
            <a:pPr marL="137160" indent="0">
              <a:buNone/>
            </a:pPr>
            <a:r>
              <a:rPr lang="en-CA" b="1" dirty="0">
                <a:solidFill>
                  <a:schemeClr val="bg1"/>
                </a:solidFill>
              </a:rPr>
              <a:t> </a:t>
            </a:r>
            <a:r>
              <a:rPr lang="en-CA" b="1" dirty="0" smtClean="0">
                <a:solidFill>
                  <a:schemeClr val="bg1"/>
                </a:solidFill>
              </a:rPr>
              <a:t>    </a:t>
            </a:r>
            <a:r>
              <a:rPr lang="en-CA" dirty="0" smtClean="0"/>
              <a:t>Students </a:t>
            </a:r>
            <a:r>
              <a:rPr lang="en-CA" dirty="0"/>
              <a:t>write their paragraphs</a:t>
            </a:r>
          </a:p>
          <a:p>
            <a:r>
              <a:rPr lang="en-CA" b="1" dirty="0" smtClean="0">
                <a:solidFill>
                  <a:schemeClr val="bg1"/>
                </a:solidFill>
              </a:rPr>
              <a:t>6 - </a:t>
            </a:r>
            <a:r>
              <a:rPr lang="en-CA" b="1" dirty="0">
                <a:solidFill>
                  <a:schemeClr val="bg1"/>
                </a:solidFill>
              </a:rPr>
              <a:t>Social Construction: </a:t>
            </a:r>
            <a:endParaRPr lang="en-CA" b="1" dirty="0" smtClean="0">
              <a:solidFill>
                <a:schemeClr val="bg1"/>
              </a:solidFill>
            </a:endParaRPr>
          </a:p>
          <a:p>
            <a:pPr marL="137160" indent="0">
              <a:buNone/>
            </a:pPr>
            <a:r>
              <a:rPr lang="en-CA" b="1" dirty="0">
                <a:solidFill>
                  <a:schemeClr val="bg1"/>
                </a:solidFill>
              </a:rPr>
              <a:t> </a:t>
            </a:r>
            <a:r>
              <a:rPr lang="en-CA" b="1" dirty="0" smtClean="0">
                <a:solidFill>
                  <a:schemeClr val="bg1"/>
                </a:solidFill>
              </a:rPr>
              <a:t>    </a:t>
            </a:r>
            <a:r>
              <a:rPr lang="en-CA" b="1" dirty="0" smtClean="0"/>
              <a:t>Writing class </a:t>
            </a:r>
            <a:r>
              <a:rPr lang="en-CA" b="1" dirty="0"/>
              <a:t>students </a:t>
            </a:r>
            <a:r>
              <a:rPr lang="en-CA" dirty="0"/>
              <a:t> invite other students and teachers to a tour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1774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The Writing Class in Action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T divides the class into 3 groups: sedans, sport cars, and trucks.</a:t>
            </a:r>
          </a:p>
          <a:p>
            <a:r>
              <a:rPr lang="en-CA" dirty="0" smtClean="0"/>
              <a:t>Students in each group do research, choose and print pictures of some cars and trucks.</a:t>
            </a:r>
          </a:p>
          <a:p>
            <a:r>
              <a:rPr lang="en-CA" dirty="0" smtClean="0"/>
              <a:t>T provides the students with picture frames.</a:t>
            </a:r>
          </a:p>
          <a:p>
            <a:r>
              <a:rPr lang="en-CA" dirty="0" smtClean="0"/>
              <a:t>Students put the pictures in frames and decide where to hang them in the class.</a:t>
            </a:r>
          </a:p>
          <a:p>
            <a:r>
              <a:rPr lang="en-CA" dirty="0" smtClean="0"/>
              <a:t>T guides them to put them on three separate walls of the classroom ( or in 3 separate classes or corridors for an essay)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89889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Advantages of “wall-teaching”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A" b="1" dirty="0" smtClean="0">
                <a:solidFill>
                  <a:schemeClr val="bg1"/>
                </a:solidFill>
              </a:rPr>
              <a:t>Makes learning unforgettable</a:t>
            </a:r>
            <a:r>
              <a:rPr lang="en-CA" dirty="0" smtClean="0">
                <a:solidFill>
                  <a:schemeClr val="bg1"/>
                </a:solidFill>
              </a:rPr>
              <a:t>: </a:t>
            </a:r>
            <a:r>
              <a:rPr lang="en-CA" dirty="0" smtClean="0"/>
              <a:t>Learning by doing</a:t>
            </a:r>
            <a:endParaRPr lang="en-CA" dirty="0"/>
          </a:p>
          <a:p>
            <a:r>
              <a:rPr lang="en-CA" b="1" dirty="0">
                <a:solidFill>
                  <a:schemeClr val="bg1"/>
                </a:solidFill>
              </a:rPr>
              <a:t>Motivating: </a:t>
            </a:r>
            <a:r>
              <a:rPr lang="en-CA" dirty="0" smtClean="0"/>
              <a:t>Students </a:t>
            </a:r>
            <a:r>
              <a:rPr lang="en-CA" dirty="0"/>
              <a:t>experience </a:t>
            </a:r>
            <a:r>
              <a:rPr lang="en-CA" dirty="0" smtClean="0"/>
              <a:t>research while having fun</a:t>
            </a:r>
            <a:endParaRPr lang="en-CA" dirty="0"/>
          </a:p>
          <a:p>
            <a:r>
              <a:rPr lang="en-CA" b="1" dirty="0" smtClean="0">
                <a:solidFill>
                  <a:schemeClr val="bg1"/>
                </a:solidFill>
              </a:rPr>
              <a:t>Encourages creativity</a:t>
            </a:r>
            <a:r>
              <a:rPr lang="en-CA" b="1" dirty="0">
                <a:solidFill>
                  <a:schemeClr val="bg1"/>
                </a:solidFill>
              </a:rPr>
              <a:t>: </a:t>
            </a:r>
            <a:r>
              <a:rPr lang="en-CA" dirty="0" smtClean="0"/>
              <a:t>Students provide innovative </a:t>
            </a:r>
            <a:r>
              <a:rPr lang="en-CA" dirty="0"/>
              <a:t>ideas</a:t>
            </a:r>
          </a:p>
          <a:p>
            <a:r>
              <a:rPr lang="en-CA" b="1" dirty="0">
                <a:solidFill>
                  <a:schemeClr val="bg1"/>
                </a:solidFill>
              </a:rPr>
              <a:t>Accomplishment: </a:t>
            </a:r>
            <a:r>
              <a:rPr lang="en-CA" dirty="0" smtClean="0"/>
              <a:t>Students </a:t>
            </a:r>
            <a:r>
              <a:rPr lang="en-CA" dirty="0"/>
              <a:t>take pride in what they have achieved</a:t>
            </a:r>
          </a:p>
          <a:p>
            <a:r>
              <a:rPr lang="en-CA" b="1" dirty="0">
                <a:solidFill>
                  <a:schemeClr val="bg1"/>
                </a:solidFill>
              </a:rPr>
              <a:t>Team-work: </a:t>
            </a:r>
            <a:r>
              <a:rPr lang="en-CA" dirty="0"/>
              <a:t>Opportunities for peer </a:t>
            </a:r>
            <a:r>
              <a:rPr lang="en-CA" dirty="0" smtClean="0"/>
              <a:t>learning</a:t>
            </a:r>
          </a:p>
          <a:p>
            <a:r>
              <a:rPr lang="en-CA" b="1" dirty="0" smtClean="0">
                <a:solidFill>
                  <a:schemeClr val="bg1"/>
                </a:solidFill>
              </a:rPr>
              <a:t>Social interaction: </a:t>
            </a:r>
            <a:r>
              <a:rPr lang="en-CA" dirty="0" smtClean="0"/>
              <a:t>Students explain to other teachers and students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9594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The Building as a Teaching Tool</a:t>
            </a:r>
            <a:br>
              <a:rPr lang="en-CA" dirty="0" smtClean="0"/>
            </a:br>
            <a:r>
              <a:rPr lang="en-CA" dirty="0" smtClean="0"/>
              <a:t>Teacher-led approach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 smtClean="0"/>
              <a:t>T and the academic coordinator create the auto show in one or three classrooms,</a:t>
            </a:r>
          </a:p>
          <a:p>
            <a:r>
              <a:rPr lang="en-CA" sz="2400" dirty="0" smtClean="0"/>
              <a:t>T encourages the students to visit the school’s “auto show,”</a:t>
            </a:r>
          </a:p>
          <a:p>
            <a:r>
              <a:rPr lang="en-CA" sz="2400" dirty="0" smtClean="0"/>
              <a:t>Students are encouraged to take notes,</a:t>
            </a:r>
          </a:p>
          <a:p>
            <a:r>
              <a:rPr lang="en-CA" sz="2400" dirty="0" smtClean="0"/>
              <a:t>T asks students to draw a sketch of the auto show,</a:t>
            </a:r>
          </a:p>
          <a:p>
            <a:r>
              <a:rPr lang="en-CA" sz="2400" dirty="0" smtClean="0"/>
              <a:t>In 3 small groups, students write about the three sections of the auto show,</a:t>
            </a:r>
          </a:p>
          <a:p>
            <a:r>
              <a:rPr lang="en-CA" sz="2400" dirty="0" smtClean="0"/>
              <a:t>Writing class students take other students to a tour</a:t>
            </a:r>
          </a:p>
          <a:p>
            <a:endParaRPr lang="en-CA" dirty="0" smtClean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09025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Stairway Gallery/ Corridors</a:t>
            </a:r>
            <a:br>
              <a:rPr lang="en-CA" dirty="0" smtClean="0"/>
            </a:br>
            <a:r>
              <a:rPr lang="en-CA" dirty="0" smtClean="0"/>
              <a:t>Comparison- Contrast</a:t>
            </a:r>
            <a:endParaRPr lang="en-C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983" y="1600200"/>
            <a:ext cx="6278033" cy="4708525"/>
          </a:xfrm>
        </p:spPr>
      </p:pic>
    </p:spTree>
    <p:extLst>
      <p:ext uri="{BB962C8B-B14F-4D97-AF65-F5344CB8AC3E}">
        <p14:creationId xmlns:p14="http://schemas.microsoft.com/office/powerpoint/2010/main" val="682778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Parallel Corridors</a:t>
            </a:r>
            <a:r>
              <a:rPr lang="en-CA" smtClean="0"/>
              <a:t/>
            </a:r>
            <a:br>
              <a:rPr lang="en-CA" smtClean="0"/>
            </a:br>
            <a:r>
              <a:rPr lang="en-CA" smtClean="0"/>
              <a:t>Essay </a:t>
            </a:r>
            <a:r>
              <a:rPr lang="en-CA" dirty="0" smtClean="0"/>
              <a:t>Writing</a:t>
            </a:r>
            <a:endParaRPr lang="en-CA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848" y="1613598"/>
            <a:ext cx="6242304" cy="4681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762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Multi- level Buildings</a:t>
            </a:r>
            <a:br>
              <a:rPr lang="en-CA" dirty="0" smtClean="0"/>
            </a:br>
            <a:r>
              <a:rPr lang="en-CA" dirty="0" smtClean="0"/>
              <a:t>5 </a:t>
            </a:r>
            <a:r>
              <a:rPr lang="en-CA" smtClean="0"/>
              <a:t>Paragraph Essays</a:t>
            </a:r>
            <a:endParaRPr lang="en-C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20" y="1600200"/>
            <a:ext cx="7334559" cy="4708525"/>
          </a:xfrm>
        </p:spPr>
      </p:pic>
    </p:spTree>
    <p:extLst>
      <p:ext uri="{BB962C8B-B14F-4D97-AF65-F5344CB8AC3E}">
        <p14:creationId xmlns:p14="http://schemas.microsoft.com/office/powerpoint/2010/main" val="26901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Corridors</a:t>
            </a:r>
            <a:br>
              <a:rPr lang="en-CA" dirty="0" smtClean="0"/>
            </a:br>
            <a:r>
              <a:rPr lang="en-CA" dirty="0" smtClean="0"/>
              <a:t>Chronological order</a:t>
            </a:r>
            <a:endParaRPr lang="en-CA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983" y="1600200"/>
            <a:ext cx="6278033" cy="4708525"/>
          </a:xfrm>
        </p:spPr>
      </p:pic>
    </p:spTree>
    <p:extLst>
      <p:ext uri="{BB962C8B-B14F-4D97-AF65-F5344CB8AC3E}">
        <p14:creationId xmlns:p14="http://schemas.microsoft.com/office/powerpoint/2010/main" val="387500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Corridors</a:t>
            </a:r>
            <a:br>
              <a:rPr lang="en-CA" dirty="0" smtClean="0"/>
            </a:br>
            <a:r>
              <a:rPr lang="en-CA" dirty="0" smtClean="0"/>
              <a:t>Comparison- Contrast</a:t>
            </a:r>
            <a:endParaRPr lang="en-C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983" y="1600200"/>
            <a:ext cx="6278033" cy="4708525"/>
          </a:xfrm>
        </p:spPr>
      </p:pic>
    </p:spTree>
    <p:extLst>
      <p:ext uri="{BB962C8B-B14F-4D97-AF65-F5344CB8AC3E}">
        <p14:creationId xmlns:p14="http://schemas.microsoft.com/office/powerpoint/2010/main" val="245607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Using Corridors for </a:t>
            </a:r>
            <a:r>
              <a:rPr lang="en-CA" dirty="0"/>
              <a:t/>
            </a:r>
            <a:br>
              <a:rPr lang="en-CA" dirty="0"/>
            </a:br>
            <a:r>
              <a:rPr lang="en-CA" dirty="0" smtClean="0"/>
              <a:t>Cause and Effect Essay Writing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Students place images on the walls of a corridor.</a:t>
            </a:r>
          </a:p>
          <a:p>
            <a:r>
              <a:rPr lang="en-CA" dirty="0" smtClean="0"/>
              <a:t>Students add labels.</a:t>
            </a:r>
          </a:p>
          <a:p>
            <a:r>
              <a:rPr lang="en-CA" dirty="0" smtClean="0"/>
              <a:t>Images could show causes and/or effects.</a:t>
            </a:r>
          </a:p>
          <a:p>
            <a:r>
              <a:rPr lang="en-CA" dirty="0" smtClean="0"/>
              <a:t>Alternatively, images could show a cause- effect chain organization.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64410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Causes of Deforestation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CA" dirty="0" smtClean="0"/>
              <a:t>Road building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pPr algn="ctr"/>
            <a:r>
              <a:rPr lang="en-CA" dirty="0" smtClean="0"/>
              <a:t>Forest Fires</a:t>
            </a:r>
            <a:endParaRPr lang="en-CA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946873"/>
            <a:ext cx="4040188" cy="2594616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25" y="2946364"/>
            <a:ext cx="4041775" cy="2595635"/>
          </a:xfrm>
        </p:spPr>
      </p:pic>
    </p:spTree>
    <p:extLst>
      <p:ext uri="{BB962C8B-B14F-4D97-AF65-F5344CB8AC3E}">
        <p14:creationId xmlns:p14="http://schemas.microsoft.com/office/powerpoint/2010/main" val="3487471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Causes of Deforestation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CA" dirty="0" smtClean="0"/>
              <a:t>Logging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pPr algn="ctr"/>
            <a:r>
              <a:rPr lang="en-CA" dirty="0" smtClean="0"/>
              <a:t>Farming</a:t>
            </a:r>
            <a:endParaRPr lang="en-CA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996952"/>
            <a:ext cx="4042792" cy="2520280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25" y="2946364"/>
            <a:ext cx="4041775" cy="2595635"/>
          </a:xfrm>
        </p:spPr>
      </p:pic>
    </p:spTree>
    <p:extLst>
      <p:ext uri="{BB962C8B-B14F-4D97-AF65-F5344CB8AC3E}">
        <p14:creationId xmlns:p14="http://schemas.microsoft.com/office/powerpoint/2010/main" val="375773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Causes of Deforestation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smtClean="0"/>
              <a:t>Cattle ranching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CA" dirty="0" smtClean="0"/>
              <a:t>Fire wood collecting</a:t>
            </a:r>
            <a:endParaRPr lang="en-CA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946873"/>
            <a:ext cx="4040188" cy="2594616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25" y="2946364"/>
            <a:ext cx="4041775" cy="2595635"/>
          </a:xfrm>
        </p:spPr>
      </p:pic>
    </p:spTree>
    <p:extLst>
      <p:ext uri="{BB962C8B-B14F-4D97-AF65-F5344CB8AC3E}">
        <p14:creationId xmlns:p14="http://schemas.microsoft.com/office/powerpoint/2010/main" val="3369381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Other Uses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 smtClean="0">
                <a:solidFill>
                  <a:schemeClr val="bg1"/>
                </a:solidFill>
              </a:rPr>
              <a:t>Reading : </a:t>
            </a:r>
            <a:r>
              <a:rPr lang="en-CA" dirty="0" smtClean="0"/>
              <a:t>scanning, organization, outlining</a:t>
            </a:r>
          </a:p>
          <a:p>
            <a:pPr marL="585216" lvl="1" indent="0">
              <a:buNone/>
            </a:pPr>
            <a:r>
              <a:rPr lang="en-CA" dirty="0" smtClean="0"/>
              <a:t>headings, etc.</a:t>
            </a:r>
          </a:p>
          <a:p>
            <a:pPr marL="585216" lvl="1" indent="0">
              <a:buNone/>
            </a:pPr>
            <a:endParaRPr lang="en-CA" dirty="0" smtClean="0"/>
          </a:p>
          <a:p>
            <a:r>
              <a:rPr lang="en-CA" b="1" dirty="0" smtClean="0">
                <a:solidFill>
                  <a:schemeClr val="bg1"/>
                </a:solidFill>
              </a:rPr>
              <a:t>Vocabulary: </a:t>
            </a:r>
            <a:r>
              <a:rPr lang="en-CA" dirty="0" smtClean="0"/>
              <a:t>topic-based vocabulary, nouns, adjectives</a:t>
            </a:r>
            <a:r>
              <a:rPr lang="en-CA" dirty="0"/>
              <a:t>, adverbs, </a:t>
            </a:r>
          </a:p>
          <a:p>
            <a:endParaRPr lang="en-CA" dirty="0" smtClean="0"/>
          </a:p>
          <a:p>
            <a:r>
              <a:rPr lang="en-CA" b="1" dirty="0" smtClean="0">
                <a:solidFill>
                  <a:schemeClr val="bg1"/>
                </a:solidFill>
              </a:rPr>
              <a:t>Grammar: </a:t>
            </a:r>
            <a:r>
              <a:rPr lang="en-CA" dirty="0" smtClean="0"/>
              <a:t>Passive, </a:t>
            </a:r>
            <a:r>
              <a:rPr lang="en-CA" dirty="0"/>
              <a:t>verb tenses</a:t>
            </a:r>
          </a:p>
          <a:p>
            <a:pPr marL="137160" indent="0">
              <a:buNone/>
            </a:pPr>
            <a:r>
              <a:rPr lang="en-CA" dirty="0" smtClean="0"/>
              <a:t>     adverbs of frequency, conditionals, etc.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335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Teaching Grammar</a:t>
            </a:r>
            <a:endParaRPr lang="en-C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1266164"/>
            <a:ext cx="4032447" cy="5376597"/>
          </a:xfrm>
        </p:spPr>
      </p:pic>
    </p:spTree>
    <p:extLst>
      <p:ext uri="{BB962C8B-B14F-4D97-AF65-F5344CB8AC3E}">
        <p14:creationId xmlns:p14="http://schemas.microsoft.com/office/powerpoint/2010/main" val="242199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Teaching Vocabulary</a:t>
            </a:r>
            <a:endParaRPr lang="en-CA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063" y="1600200"/>
            <a:ext cx="3741873" cy="470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7136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Advantages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Teachers:</a:t>
            </a:r>
          </a:p>
          <a:p>
            <a:pPr lvl="1"/>
            <a:r>
              <a:rPr lang="en-CA" dirty="0"/>
              <a:t>More </a:t>
            </a:r>
            <a:r>
              <a:rPr lang="en-CA"/>
              <a:t>interesting </a:t>
            </a:r>
            <a:r>
              <a:rPr lang="en-CA" smtClean="0"/>
              <a:t>classes </a:t>
            </a:r>
            <a:r>
              <a:rPr lang="en-CA" dirty="0"/>
              <a:t>&gt; student satisfaction</a:t>
            </a:r>
          </a:p>
          <a:p>
            <a:pPr lvl="1"/>
            <a:r>
              <a:rPr lang="en-CA" dirty="0"/>
              <a:t>Easier to teach challenging </a:t>
            </a:r>
            <a:r>
              <a:rPr lang="en-CA" dirty="0" smtClean="0"/>
              <a:t>patterns</a:t>
            </a:r>
          </a:p>
          <a:p>
            <a:r>
              <a:rPr lang="en-CA" dirty="0" smtClean="0"/>
              <a:t>Students: </a:t>
            </a:r>
          </a:p>
          <a:p>
            <a:pPr lvl="1"/>
            <a:r>
              <a:rPr lang="en-CA" dirty="0" smtClean="0"/>
              <a:t>Engaged &gt; no boredom</a:t>
            </a:r>
          </a:p>
          <a:p>
            <a:pPr lvl="1"/>
            <a:r>
              <a:rPr lang="en-CA" dirty="0" smtClean="0"/>
              <a:t>Learning by doing</a:t>
            </a:r>
          </a:p>
          <a:p>
            <a:r>
              <a:rPr lang="en-CA" dirty="0" smtClean="0"/>
              <a:t>The School:</a:t>
            </a:r>
          </a:p>
          <a:p>
            <a:pPr lvl="1"/>
            <a:r>
              <a:rPr lang="en-CA" dirty="0" smtClean="0"/>
              <a:t>More attractive environment</a:t>
            </a:r>
          </a:p>
          <a:p>
            <a:pPr lvl="1"/>
            <a:r>
              <a:rPr lang="en-CA" dirty="0" smtClean="0"/>
              <a:t>Satisfied students &gt; increase registration</a:t>
            </a:r>
          </a:p>
          <a:p>
            <a:pPr lvl="1"/>
            <a:r>
              <a:rPr lang="en-CA" dirty="0" smtClean="0"/>
              <a:t>Brochures, promotional videos</a:t>
            </a:r>
          </a:p>
        </p:txBody>
      </p:sp>
    </p:spTree>
    <p:extLst>
      <p:ext uri="{BB962C8B-B14F-4D97-AF65-F5344CB8AC3E}">
        <p14:creationId xmlns:p14="http://schemas.microsoft.com/office/powerpoint/2010/main" val="150942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Problems/ Solutions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Teachers need to be creative, enthusiastic and resourceful &gt; Provide training</a:t>
            </a:r>
          </a:p>
          <a:p>
            <a:r>
              <a:rPr lang="en-CA" dirty="0" smtClean="0"/>
              <a:t>School’s regulations &gt; ?</a:t>
            </a:r>
          </a:p>
          <a:p>
            <a:r>
              <a:rPr lang="en-CA" dirty="0" smtClean="0"/>
              <a:t>Budget &gt; Dollar stores!/ Recyclable</a:t>
            </a:r>
          </a:p>
          <a:p>
            <a:r>
              <a:rPr lang="en-CA" dirty="0" smtClean="0"/>
              <a:t>Time consuming &gt; Recyclable / Other teachers can participate and use the same ideas to teach reading , speaking and vocabulary.</a:t>
            </a:r>
          </a:p>
          <a:p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63300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 algn="ctr">
              <a:buNone/>
            </a:pPr>
            <a:endParaRPr lang="en-CA" sz="4100" b="1" dirty="0" smtClean="0">
              <a:ln w="6350">
                <a:noFill/>
              </a:ln>
              <a:gradFill>
                <a:gsLst>
                  <a:gs pos="0">
                    <a:srgbClr val="CEB966">
                      <a:tint val="73000"/>
                      <a:satMod val="145000"/>
                    </a:srgbClr>
                  </a:gs>
                  <a:gs pos="73000">
                    <a:srgbClr val="CEB966">
                      <a:tint val="73000"/>
                      <a:satMod val="145000"/>
                    </a:srgbClr>
                  </a:gs>
                  <a:gs pos="100000">
                    <a:srgbClr val="CEB966">
                      <a:tint val="83000"/>
                      <a:satMod val="143000"/>
                    </a:srgbClr>
                  </a:gs>
                </a:gsLst>
                <a:lin ang="4800000" scaled="1"/>
              </a:gradFill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latin typeface="Lucida Calligraphy" pitchFamily="66" charset="0"/>
              <a:ea typeface="+mj-ea"/>
              <a:cs typeface="+mj-cs"/>
            </a:endParaRPr>
          </a:p>
          <a:p>
            <a:pPr marL="137160" indent="0" algn="ctr">
              <a:buNone/>
            </a:pPr>
            <a:endParaRPr lang="en-CA" sz="4100" b="1" dirty="0">
              <a:ln w="6350">
                <a:noFill/>
              </a:ln>
              <a:gradFill>
                <a:gsLst>
                  <a:gs pos="0">
                    <a:srgbClr val="CEB966">
                      <a:tint val="73000"/>
                      <a:satMod val="145000"/>
                    </a:srgbClr>
                  </a:gs>
                  <a:gs pos="73000">
                    <a:srgbClr val="CEB966">
                      <a:tint val="73000"/>
                      <a:satMod val="145000"/>
                    </a:srgbClr>
                  </a:gs>
                  <a:gs pos="100000">
                    <a:srgbClr val="CEB966">
                      <a:tint val="83000"/>
                      <a:satMod val="143000"/>
                    </a:srgbClr>
                  </a:gs>
                </a:gsLst>
                <a:lin ang="4800000" scaled="1"/>
              </a:gradFill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latin typeface="Lucida Calligraphy" pitchFamily="66" charset="0"/>
              <a:ea typeface="+mj-ea"/>
              <a:cs typeface="+mj-cs"/>
            </a:endParaRPr>
          </a:p>
          <a:p>
            <a:pPr marL="137160" indent="0" algn="ctr">
              <a:buNone/>
            </a:pPr>
            <a:r>
              <a:rPr lang="en-CA" sz="4100" b="1" dirty="0" smtClean="0">
                <a:ln w="6350">
                  <a:noFill/>
                </a:ln>
                <a:gradFill>
                  <a:gsLst>
                    <a:gs pos="0">
                      <a:srgbClr val="CEB966">
                        <a:tint val="73000"/>
                        <a:satMod val="145000"/>
                      </a:srgbClr>
                    </a:gs>
                    <a:gs pos="73000">
                      <a:srgbClr val="CEB966">
                        <a:tint val="73000"/>
                        <a:satMod val="145000"/>
                      </a:srgbClr>
                    </a:gs>
                    <a:gs pos="100000">
                      <a:srgbClr val="CEB966">
                        <a:tint val="83000"/>
                        <a:satMod val="143000"/>
                      </a:srgb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Lucida Calligraphy" pitchFamily="66" charset="0"/>
                <a:ea typeface="+mj-ea"/>
                <a:cs typeface="+mj-cs"/>
              </a:rPr>
              <a:t>Thank </a:t>
            </a:r>
            <a:r>
              <a:rPr lang="en-CA" sz="4100" b="1" dirty="0">
                <a:ln w="6350">
                  <a:noFill/>
                </a:ln>
                <a:gradFill>
                  <a:gsLst>
                    <a:gs pos="0">
                      <a:srgbClr val="CEB966">
                        <a:tint val="73000"/>
                        <a:satMod val="145000"/>
                      </a:srgbClr>
                    </a:gs>
                    <a:gs pos="73000">
                      <a:srgbClr val="CEB966">
                        <a:tint val="73000"/>
                        <a:satMod val="145000"/>
                      </a:srgbClr>
                    </a:gs>
                    <a:gs pos="100000">
                      <a:srgbClr val="CEB966">
                        <a:tint val="83000"/>
                        <a:satMod val="143000"/>
                      </a:srgb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Lucida Calligraphy" pitchFamily="66" charset="0"/>
                <a:ea typeface="+mj-ea"/>
                <a:cs typeface="+mj-cs"/>
              </a:rPr>
              <a:t>You!</a:t>
            </a:r>
            <a:endParaRPr lang="en-CA" dirty="0">
              <a:latin typeface="Lucida Calligraphy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34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CA" sz="4100" b="1" dirty="0">
                <a:ln w="6350">
                  <a:noFill/>
                </a:ln>
                <a:gradFill>
                  <a:gsLst>
                    <a:gs pos="0">
                      <a:srgbClr val="CEB966">
                        <a:tint val="73000"/>
                        <a:satMod val="145000"/>
                      </a:srgbClr>
                    </a:gs>
                    <a:gs pos="73000">
                      <a:srgbClr val="CEB966">
                        <a:tint val="73000"/>
                        <a:satMod val="145000"/>
                      </a:srgbClr>
                    </a:gs>
                    <a:gs pos="100000">
                      <a:srgbClr val="CEB966">
                        <a:tint val="83000"/>
                        <a:satMod val="143000"/>
                      </a:srgb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Questions?</a:t>
            </a:r>
            <a:br>
              <a:rPr lang="en-CA" sz="4100" b="1" dirty="0">
                <a:ln w="6350">
                  <a:noFill/>
                </a:ln>
                <a:gradFill>
                  <a:gsLst>
                    <a:gs pos="0">
                      <a:srgbClr val="CEB966">
                        <a:tint val="73000"/>
                        <a:satMod val="145000"/>
                      </a:srgbClr>
                    </a:gs>
                    <a:gs pos="73000">
                      <a:srgbClr val="CEB966">
                        <a:tint val="73000"/>
                        <a:satMod val="145000"/>
                      </a:srgbClr>
                    </a:gs>
                    <a:gs pos="100000">
                      <a:srgbClr val="CEB966">
                        <a:tint val="83000"/>
                        <a:satMod val="143000"/>
                      </a:srgb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lang="en-CA" sz="4100" b="1" dirty="0">
                <a:ln w="6350">
                  <a:noFill/>
                </a:ln>
                <a:gradFill>
                  <a:gsLst>
                    <a:gs pos="0">
                      <a:srgbClr val="CEB966">
                        <a:tint val="73000"/>
                        <a:satMod val="145000"/>
                      </a:srgbClr>
                    </a:gs>
                    <a:gs pos="73000">
                      <a:srgbClr val="CEB966">
                        <a:tint val="73000"/>
                        <a:satMod val="145000"/>
                      </a:srgbClr>
                    </a:gs>
                    <a:gs pos="100000">
                      <a:srgbClr val="CEB966">
                        <a:tint val="83000"/>
                        <a:satMod val="143000"/>
                      </a:srgb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Comments?</a:t>
            </a:r>
            <a:br>
              <a:rPr lang="en-CA" sz="4100" b="1" dirty="0">
                <a:ln w="6350">
                  <a:noFill/>
                </a:ln>
                <a:gradFill>
                  <a:gsLst>
                    <a:gs pos="0">
                      <a:srgbClr val="CEB966">
                        <a:tint val="73000"/>
                        <a:satMod val="145000"/>
                      </a:srgbClr>
                    </a:gs>
                    <a:gs pos="73000">
                      <a:srgbClr val="CEB966">
                        <a:tint val="73000"/>
                        <a:satMod val="145000"/>
                      </a:srgbClr>
                    </a:gs>
                    <a:gs pos="100000">
                      <a:srgbClr val="CEB966">
                        <a:tint val="83000"/>
                        <a:satMod val="143000"/>
                      </a:srgb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lang="en-CA" sz="4100" b="1" dirty="0">
                <a:ln w="6350">
                  <a:noFill/>
                </a:ln>
                <a:gradFill>
                  <a:gsLst>
                    <a:gs pos="0">
                      <a:srgbClr val="CEB966">
                        <a:tint val="73000"/>
                        <a:satMod val="145000"/>
                      </a:srgbClr>
                    </a:gs>
                    <a:gs pos="73000">
                      <a:srgbClr val="CEB966">
                        <a:tint val="73000"/>
                        <a:satMod val="145000"/>
                      </a:srgbClr>
                    </a:gs>
                    <a:gs pos="100000">
                      <a:srgbClr val="CEB966">
                        <a:tint val="83000"/>
                        <a:satMod val="143000"/>
                      </a:srgb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Suggestions</a:t>
            </a:r>
            <a:r>
              <a:rPr lang="en-CA" sz="4100" b="1" dirty="0" smtClean="0">
                <a:ln w="6350">
                  <a:noFill/>
                </a:ln>
                <a:gradFill>
                  <a:gsLst>
                    <a:gs pos="0">
                      <a:srgbClr val="CEB966">
                        <a:tint val="73000"/>
                        <a:satMod val="145000"/>
                      </a:srgbClr>
                    </a:gs>
                    <a:gs pos="73000">
                      <a:srgbClr val="CEB966">
                        <a:tint val="73000"/>
                        <a:satMod val="145000"/>
                      </a:srgbClr>
                    </a:gs>
                    <a:gs pos="100000">
                      <a:srgbClr val="CEB966">
                        <a:tint val="83000"/>
                        <a:satMod val="143000"/>
                      </a:srgb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?</a:t>
            </a:r>
          </a:p>
          <a:p>
            <a:pPr algn="ctr"/>
            <a:endParaRPr lang="en-CA" sz="4100" b="1" dirty="0">
              <a:ln w="6350">
                <a:noFill/>
              </a:ln>
              <a:gradFill>
                <a:gsLst>
                  <a:gs pos="0">
                    <a:srgbClr val="CEB966">
                      <a:tint val="73000"/>
                      <a:satMod val="145000"/>
                    </a:srgbClr>
                  </a:gs>
                  <a:gs pos="73000">
                    <a:srgbClr val="CEB966">
                      <a:tint val="73000"/>
                      <a:satMod val="145000"/>
                    </a:srgbClr>
                  </a:gs>
                  <a:gs pos="100000">
                    <a:srgbClr val="CEB966">
                      <a:tint val="83000"/>
                      <a:satMod val="143000"/>
                    </a:srgbClr>
                  </a:gs>
                </a:gsLst>
                <a:lin ang="4800000" scaled="1"/>
              </a:gradFill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137160" indent="0" algn="ctr">
              <a:buNone/>
            </a:pPr>
            <a:r>
              <a:rPr lang="en-CA" sz="4100" b="1" dirty="0" smtClean="0">
                <a:ln w="6350">
                  <a:noFill/>
                </a:ln>
                <a:gradFill>
                  <a:gsLst>
                    <a:gs pos="0">
                      <a:srgbClr val="CEB966">
                        <a:tint val="73000"/>
                        <a:satMod val="145000"/>
                      </a:srgbClr>
                    </a:gs>
                    <a:gs pos="73000">
                      <a:srgbClr val="CEB966">
                        <a:tint val="73000"/>
                        <a:satMod val="145000"/>
                      </a:srgbClr>
                    </a:gs>
                    <a:gs pos="100000">
                      <a:srgbClr val="CEB966">
                        <a:tint val="83000"/>
                        <a:satMod val="143000"/>
                      </a:srgb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Please contact : </a:t>
            </a:r>
            <a:endParaRPr lang="en-CA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74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Ramin </a:t>
            </a:r>
            <a:r>
              <a:rPr lang="en-CA" dirty="0" err="1" smtClean="0"/>
              <a:t>Hatam</a:t>
            </a:r>
            <a:r>
              <a:rPr lang="en-CA" dirty="0" smtClean="0"/>
              <a:t>, MA TEFL</a:t>
            </a:r>
          </a:p>
          <a:p>
            <a:pPr lvl="1"/>
            <a:r>
              <a:rPr lang="en-CA" dirty="0" smtClean="0">
                <a:hlinkClick r:id="rId2"/>
              </a:rPr>
              <a:t>ramin.hatam@gmail.com</a:t>
            </a:r>
            <a:endParaRPr lang="en-CA" dirty="0" smtClean="0"/>
          </a:p>
          <a:p>
            <a:pPr lvl="1"/>
            <a:r>
              <a:rPr lang="en-CA" dirty="0" smtClean="0"/>
              <a:t>604 – 724 4579</a:t>
            </a:r>
          </a:p>
          <a:p>
            <a:r>
              <a:rPr lang="en-CA" dirty="0" smtClean="0"/>
              <a:t>Iranian English Language Teachers’ Society of Canada</a:t>
            </a:r>
          </a:p>
          <a:p>
            <a:pPr lvl="1"/>
            <a:r>
              <a:rPr lang="en-CA" dirty="0" smtClean="0">
                <a:hlinkClick r:id="rId3"/>
              </a:rPr>
              <a:t>Jamzaban.ca@gmail.com</a:t>
            </a:r>
            <a:endParaRPr lang="en-CA" dirty="0" smtClean="0"/>
          </a:p>
          <a:p>
            <a:pPr lvl="1"/>
            <a:r>
              <a:rPr lang="en-CA" dirty="0" smtClean="0"/>
              <a:t>778 – 713 06 07</a:t>
            </a:r>
          </a:p>
          <a:p>
            <a:r>
              <a:rPr lang="en-CA" dirty="0" err="1" smtClean="0"/>
              <a:t>Pera</a:t>
            </a:r>
            <a:r>
              <a:rPr lang="en-CA" dirty="0" smtClean="0"/>
              <a:t> College</a:t>
            </a:r>
          </a:p>
          <a:p>
            <a:pPr lvl="1"/>
            <a:r>
              <a:rPr lang="en-CA" dirty="0" smtClean="0">
                <a:hlinkClick r:id="rId4"/>
              </a:rPr>
              <a:t>raminh@peracollege.com</a:t>
            </a:r>
            <a:endParaRPr lang="en-CA" dirty="0" smtClean="0"/>
          </a:p>
          <a:p>
            <a:pPr lvl="1"/>
            <a:r>
              <a:rPr lang="en-CA" dirty="0" smtClean="0"/>
              <a:t>604 – 689 7372            Fax: 604 – 689 7373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688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21288"/>
            <a:ext cx="8229600" cy="288071"/>
          </a:xfrm>
        </p:spPr>
        <p:txBody>
          <a:bodyPr>
            <a:normAutofit fontScale="55000" lnSpcReduction="20000"/>
          </a:bodyPr>
          <a:lstStyle/>
          <a:p>
            <a:endParaRPr lang="en-CA" dirty="0" smtClean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86299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741</TotalTime>
  <Words>1128</Words>
  <Application>Microsoft Office PowerPoint</Application>
  <PresentationFormat>On-screen Show (4:3)</PresentationFormat>
  <Paragraphs>257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Apex</vt:lpstr>
      <vt:lpstr>Using the School’s Building as a Mind mapping Tool</vt:lpstr>
      <vt:lpstr>      Iranian English Language Teachers’ Society of Canada (IELTSC)  PERA COLLEGE      </vt:lpstr>
      <vt:lpstr>Introduction</vt:lpstr>
      <vt:lpstr>Challenges in Teaching Writing</vt:lpstr>
      <vt:lpstr>Writing: The most challenging skill</vt:lpstr>
      <vt:lpstr>Organization</vt:lpstr>
      <vt:lpstr>Hamburger paragraphs</vt:lpstr>
      <vt:lpstr>Ideas?</vt:lpstr>
      <vt:lpstr>Organizing Ideas</vt:lpstr>
      <vt:lpstr>More Student Centered Methods</vt:lpstr>
      <vt:lpstr>Limitations</vt:lpstr>
      <vt:lpstr>The School’s Building Alternative</vt:lpstr>
      <vt:lpstr>Stairways: Perfect tools to teach time-order</vt:lpstr>
      <vt:lpstr>Stairways: Comparison-Contrast</vt:lpstr>
      <vt:lpstr>Topics Suitable for using walls to teach  Chronological Order The History of…..</vt:lpstr>
      <vt:lpstr>Classroom’s Walls for Paragraphs</vt:lpstr>
      <vt:lpstr>3 Classrooms or Corridores  for Essays</vt:lpstr>
      <vt:lpstr>Buildings</vt:lpstr>
      <vt:lpstr>Paragraph Level</vt:lpstr>
      <vt:lpstr>Paragraph level The Auto Show</vt:lpstr>
      <vt:lpstr>Possible Paragraph</vt:lpstr>
      <vt:lpstr>Conventional Writing Class Some Possible Class Activities </vt:lpstr>
      <vt:lpstr> Task –Based/ Student –led approach</vt:lpstr>
      <vt:lpstr>Task–Based/ Student –led approach</vt:lpstr>
      <vt:lpstr>The Writing Class in Action</vt:lpstr>
      <vt:lpstr>Advantages of “wall-teaching”</vt:lpstr>
      <vt:lpstr>The Building as a Teaching Tool Teacher-led approach</vt:lpstr>
      <vt:lpstr>Stairway Gallery/ Corridors Comparison- Contrast</vt:lpstr>
      <vt:lpstr>Parallel Corridors Essay Writing</vt:lpstr>
      <vt:lpstr>Multi- level Buildings 5 Paragraph Essays</vt:lpstr>
      <vt:lpstr>Corridors Chronological order</vt:lpstr>
      <vt:lpstr>Corridors Comparison- Contrast</vt:lpstr>
      <vt:lpstr>Using Corridors for  Cause and Effect Essay Writing</vt:lpstr>
      <vt:lpstr>Causes of Deforestation</vt:lpstr>
      <vt:lpstr>Causes of Deforestation</vt:lpstr>
      <vt:lpstr>Causes of Deforestation</vt:lpstr>
      <vt:lpstr>Other Uses</vt:lpstr>
      <vt:lpstr>Teaching Grammar</vt:lpstr>
      <vt:lpstr>Teaching Vocabulary</vt:lpstr>
      <vt:lpstr>Advantages</vt:lpstr>
      <vt:lpstr>Problems/ Solutions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the School’s Building as a Mind mapping Tool</dc:title>
  <dc:creator>Ramin &amp; Katy</dc:creator>
  <cp:lastModifiedBy>Ramin &amp; Katy</cp:lastModifiedBy>
  <cp:revision>47</cp:revision>
  <dcterms:created xsi:type="dcterms:W3CDTF">2012-09-15T18:13:18Z</dcterms:created>
  <dcterms:modified xsi:type="dcterms:W3CDTF">2012-11-16T06:01:53Z</dcterms:modified>
</cp:coreProperties>
</file>