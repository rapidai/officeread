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Default Extension="xlsx" ContentType="application/vnd.openxmlformats-officedocument.spreadsheetml.sheet"/>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85" r:id="rId2"/>
  </p:sldMasterIdLst>
  <p:notesMasterIdLst>
    <p:notesMasterId r:id="rId24"/>
  </p:notesMasterIdLst>
  <p:handoutMasterIdLst>
    <p:handoutMasterId r:id="rId25"/>
  </p:handoutMasterIdLst>
  <p:sldIdLst>
    <p:sldId id="310" r:id="rId3"/>
    <p:sldId id="258" r:id="rId4"/>
    <p:sldId id="261" r:id="rId5"/>
    <p:sldId id="260" r:id="rId6"/>
    <p:sldId id="259" r:id="rId7"/>
    <p:sldId id="262" r:id="rId8"/>
    <p:sldId id="270" r:id="rId9"/>
    <p:sldId id="303" r:id="rId10"/>
    <p:sldId id="271" r:id="rId11"/>
    <p:sldId id="294" r:id="rId12"/>
    <p:sldId id="273" r:id="rId13"/>
    <p:sldId id="274" r:id="rId14"/>
    <p:sldId id="275" r:id="rId15"/>
    <p:sldId id="308" r:id="rId16"/>
    <p:sldId id="277" r:id="rId17"/>
    <p:sldId id="278" r:id="rId18"/>
    <p:sldId id="296" r:id="rId19"/>
    <p:sldId id="263" r:id="rId20"/>
    <p:sldId id="302" r:id="rId21"/>
    <p:sldId id="304" r:id="rId22"/>
    <p:sldId id="309" r:id="rId23"/>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260"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410"/>
    </p:cViewPr>
  </p:sorterViewPr>
  <p:notesViewPr>
    <p:cSldViewPr>
      <p:cViewPr varScale="1">
        <p:scale>
          <a:sx n="76" d="100"/>
          <a:sy n="76" d="100"/>
        </p:scale>
        <p:origin x="-2196" y="-84"/>
      </p:cViewPr>
      <p:guideLst>
        <p:guide orient="horz" pos="3127"/>
        <p:guide pos="214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GB"/>
  <c:chart>
    <c:plotArea>
      <c:layout/>
      <c:barChart>
        <c:barDir val="col"/>
        <c:grouping val="clustered"/>
        <c:ser>
          <c:idx val="0"/>
          <c:order val="0"/>
          <c:tx>
            <c:strRef>
              <c:f>Sheet1!$B$1</c:f>
              <c:strCache>
                <c:ptCount val="1"/>
                <c:pt idx="0">
                  <c:v>1</c:v>
                </c:pt>
              </c:strCache>
            </c:strRef>
          </c:tx>
          <c:spPr>
            <a:solidFill>
              <a:schemeClr val="bg1"/>
            </a:solidFill>
            <a:ln>
              <a:solidFill>
                <a:schemeClr val="bg2">
                  <a:lumMod val="10000"/>
                </a:schemeClr>
              </a:solidFill>
            </a:ln>
          </c:spPr>
          <c:cat>
            <c:strRef>
              <c:f>Sheet1!$A$2:$A$10</c:f>
              <c:strCache>
                <c:ptCount val="9"/>
                <c:pt idx="0">
                  <c:v>Systolic BP</c:v>
                </c:pt>
                <c:pt idx="1">
                  <c:v>Diastolic BP</c:v>
                </c:pt>
                <c:pt idx="2">
                  <c:v>Fibrinogen</c:v>
                </c:pt>
                <c:pt idx="3">
                  <c:v>C-reactive protein</c:v>
                </c:pt>
                <c:pt idx="4">
                  <c:v>Triglyserides</c:v>
                </c:pt>
                <c:pt idx="5">
                  <c:v>Glycated HgB</c:v>
                </c:pt>
                <c:pt idx="6">
                  <c:v>Waist-hip ratio</c:v>
                </c:pt>
                <c:pt idx="7">
                  <c:v>HDL cholesterole ratio</c:v>
                </c:pt>
                <c:pt idx="8">
                  <c:v>Peak expiratory flow</c:v>
                </c:pt>
              </c:strCache>
            </c:strRef>
          </c:cat>
          <c:val>
            <c:numRef>
              <c:f>Sheet1!$B$2:$B$10</c:f>
              <c:numCache>
                <c:formatCode>General</c:formatCode>
                <c:ptCount val="9"/>
                <c:pt idx="0">
                  <c:v>13.6</c:v>
                </c:pt>
                <c:pt idx="1">
                  <c:v>18</c:v>
                </c:pt>
                <c:pt idx="2">
                  <c:v>11.5</c:v>
                </c:pt>
                <c:pt idx="3">
                  <c:v>10</c:v>
                </c:pt>
                <c:pt idx="4">
                  <c:v>13</c:v>
                </c:pt>
                <c:pt idx="5">
                  <c:v>11.4</c:v>
                </c:pt>
                <c:pt idx="6">
                  <c:v>8.9</c:v>
                </c:pt>
                <c:pt idx="7">
                  <c:v>16.100000000000001</c:v>
                </c:pt>
                <c:pt idx="8">
                  <c:v>21.4</c:v>
                </c:pt>
              </c:numCache>
            </c:numRef>
          </c:val>
        </c:ser>
        <c:ser>
          <c:idx val="1"/>
          <c:order val="1"/>
          <c:tx>
            <c:strRef>
              <c:f>Sheet1!$C$1</c:f>
              <c:strCache>
                <c:ptCount val="1"/>
                <c:pt idx="0">
                  <c:v>2</c:v>
                </c:pt>
              </c:strCache>
            </c:strRef>
          </c:tx>
          <c:spPr>
            <a:solidFill>
              <a:schemeClr val="bg1">
                <a:lumMod val="85000"/>
              </a:schemeClr>
            </a:solidFill>
            <a:ln>
              <a:solidFill>
                <a:srgbClr val="EEECE1">
                  <a:lumMod val="10000"/>
                </a:srgbClr>
              </a:solidFill>
            </a:ln>
          </c:spPr>
          <c:cat>
            <c:strRef>
              <c:f>Sheet1!$A$2:$A$10</c:f>
              <c:strCache>
                <c:ptCount val="9"/>
                <c:pt idx="0">
                  <c:v>Systolic BP</c:v>
                </c:pt>
                <c:pt idx="1">
                  <c:v>Diastolic BP</c:v>
                </c:pt>
                <c:pt idx="2">
                  <c:v>Fibrinogen</c:v>
                </c:pt>
                <c:pt idx="3">
                  <c:v>C-reactive protein</c:v>
                </c:pt>
                <c:pt idx="4">
                  <c:v>Triglyserides</c:v>
                </c:pt>
                <c:pt idx="5">
                  <c:v>Glycated HgB</c:v>
                </c:pt>
                <c:pt idx="6">
                  <c:v>Waist-hip ratio</c:v>
                </c:pt>
                <c:pt idx="7">
                  <c:v>HDL cholesterole ratio</c:v>
                </c:pt>
                <c:pt idx="8">
                  <c:v>Peak expiratory flow</c:v>
                </c:pt>
              </c:strCache>
            </c:strRef>
          </c:cat>
          <c:val>
            <c:numRef>
              <c:f>Sheet1!$C$2:$C$10</c:f>
              <c:numCache>
                <c:formatCode>General</c:formatCode>
                <c:ptCount val="9"/>
                <c:pt idx="0">
                  <c:v>15.2</c:v>
                </c:pt>
                <c:pt idx="1">
                  <c:v>14.8</c:v>
                </c:pt>
                <c:pt idx="2">
                  <c:v>13.9</c:v>
                </c:pt>
                <c:pt idx="3">
                  <c:v>11.1</c:v>
                </c:pt>
                <c:pt idx="4">
                  <c:v>15.1</c:v>
                </c:pt>
                <c:pt idx="5">
                  <c:v>13.3</c:v>
                </c:pt>
                <c:pt idx="6">
                  <c:v>13.1</c:v>
                </c:pt>
                <c:pt idx="7">
                  <c:v>14.9</c:v>
                </c:pt>
                <c:pt idx="8">
                  <c:v>19</c:v>
                </c:pt>
              </c:numCache>
            </c:numRef>
          </c:val>
        </c:ser>
        <c:ser>
          <c:idx val="2"/>
          <c:order val="2"/>
          <c:tx>
            <c:strRef>
              <c:f>Sheet1!$D$1</c:f>
              <c:strCache>
                <c:ptCount val="1"/>
                <c:pt idx="0">
                  <c:v>3</c:v>
                </c:pt>
              </c:strCache>
            </c:strRef>
          </c:tx>
          <c:spPr>
            <a:gradFill>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lin ang="0" scaled="0"/>
            </a:gradFill>
            <a:ln>
              <a:solidFill>
                <a:srgbClr val="EEECE1">
                  <a:lumMod val="10000"/>
                </a:srgbClr>
              </a:solidFill>
            </a:ln>
          </c:spPr>
          <c:cat>
            <c:strRef>
              <c:f>Sheet1!$A$2:$A$10</c:f>
              <c:strCache>
                <c:ptCount val="9"/>
                <c:pt idx="0">
                  <c:v>Systolic BP</c:v>
                </c:pt>
                <c:pt idx="1">
                  <c:v>Diastolic BP</c:v>
                </c:pt>
                <c:pt idx="2">
                  <c:v>Fibrinogen</c:v>
                </c:pt>
                <c:pt idx="3">
                  <c:v>C-reactive protein</c:v>
                </c:pt>
                <c:pt idx="4">
                  <c:v>Triglyserides</c:v>
                </c:pt>
                <c:pt idx="5">
                  <c:v>Glycated HgB</c:v>
                </c:pt>
                <c:pt idx="6">
                  <c:v>Waist-hip ratio</c:v>
                </c:pt>
                <c:pt idx="7">
                  <c:v>HDL cholesterole ratio</c:v>
                </c:pt>
                <c:pt idx="8">
                  <c:v>Peak expiratory flow</c:v>
                </c:pt>
              </c:strCache>
            </c:strRef>
          </c:cat>
          <c:val>
            <c:numRef>
              <c:f>Sheet1!$D$2:$D$10</c:f>
              <c:numCache>
                <c:formatCode>General</c:formatCode>
                <c:ptCount val="9"/>
                <c:pt idx="0">
                  <c:v>18</c:v>
                </c:pt>
                <c:pt idx="1">
                  <c:v>16.399999999999999</c:v>
                </c:pt>
                <c:pt idx="2">
                  <c:v>14.4</c:v>
                </c:pt>
                <c:pt idx="3">
                  <c:v>16.5</c:v>
                </c:pt>
                <c:pt idx="4">
                  <c:v>14.4</c:v>
                </c:pt>
                <c:pt idx="5">
                  <c:v>16.600000000000001</c:v>
                </c:pt>
                <c:pt idx="6">
                  <c:v>19.600000000000001</c:v>
                </c:pt>
                <c:pt idx="7">
                  <c:v>11</c:v>
                </c:pt>
                <c:pt idx="8">
                  <c:v>12.9</c:v>
                </c:pt>
              </c:numCache>
            </c:numRef>
          </c:val>
        </c:ser>
        <c:ser>
          <c:idx val="3"/>
          <c:order val="3"/>
          <c:tx>
            <c:strRef>
              <c:f>Sheet1!$E$1</c:f>
              <c:strCache>
                <c:ptCount val="1"/>
                <c:pt idx="0">
                  <c:v>4</c:v>
                </c:pt>
              </c:strCache>
            </c:strRef>
          </c:tx>
          <c:spPr>
            <a:solidFill>
              <a:schemeClr val="tx2">
                <a:lumMod val="50000"/>
              </a:schemeClr>
            </a:solidFill>
          </c:spPr>
          <c:cat>
            <c:strRef>
              <c:f>Sheet1!$A$2:$A$10</c:f>
              <c:strCache>
                <c:ptCount val="9"/>
                <c:pt idx="0">
                  <c:v>Systolic BP</c:v>
                </c:pt>
                <c:pt idx="1">
                  <c:v>Diastolic BP</c:v>
                </c:pt>
                <c:pt idx="2">
                  <c:v>Fibrinogen</c:v>
                </c:pt>
                <c:pt idx="3">
                  <c:v>C-reactive protein</c:v>
                </c:pt>
                <c:pt idx="4">
                  <c:v>Triglyserides</c:v>
                </c:pt>
                <c:pt idx="5">
                  <c:v>Glycated HgB</c:v>
                </c:pt>
                <c:pt idx="6">
                  <c:v>Waist-hip ratio</c:v>
                </c:pt>
                <c:pt idx="7">
                  <c:v>HDL cholesterole ratio</c:v>
                </c:pt>
                <c:pt idx="8">
                  <c:v>Peak expiratory flow</c:v>
                </c:pt>
              </c:strCache>
            </c:strRef>
          </c:cat>
          <c:val>
            <c:numRef>
              <c:f>Sheet1!$E$2:$E$10</c:f>
              <c:numCache>
                <c:formatCode>General</c:formatCode>
                <c:ptCount val="9"/>
                <c:pt idx="0">
                  <c:v>17.2</c:v>
                </c:pt>
                <c:pt idx="1">
                  <c:v>14.7</c:v>
                </c:pt>
                <c:pt idx="2">
                  <c:v>19.7</c:v>
                </c:pt>
                <c:pt idx="3">
                  <c:v>21.1</c:v>
                </c:pt>
                <c:pt idx="4">
                  <c:v>15.9</c:v>
                </c:pt>
                <c:pt idx="5">
                  <c:v>19</c:v>
                </c:pt>
                <c:pt idx="6">
                  <c:v>21.2</c:v>
                </c:pt>
                <c:pt idx="7">
                  <c:v>16.600000000000001</c:v>
                </c:pt>
                <c:pt idx="8">
                  <c:v>8.9</c:v>
                </c:pt>
              </c:numCache>
            </c:numRef>
          </c:val>
        </c:ser>
        <c:gapWidth val="157"/>
        <c:overlap val="-15"/>
        <c:axId val="85597184"/>
        <c:axId val="85607168"/>
      </c:barChart>
      <c:catAx>
        <c:axId val="85597184"/>
        <c:scaling>
          <c:orientation val="minMax"/>
        </c:scaling>
        <c:axPos val="b"/>
        <c:tickLblPos val="nextTo"/>
        <c:crossAx val="85607168"/>
        <c:crosses val="autoZero"/>
        <c:auto val="1"/>
        <c:lblAlgn val="ctr"/>
        <c:lblOffset val="100"/>
      </c:catAx>
      <c:valAx>
        <c:axId val="85607168"/>
        <c:scaling>
          <c:orientation val="minMax"/>
        </c:scaling>
        <c:axPos val="l"/>
        <c:majorGridlines/>
        <c:numFmt formatCode="General" sourceLinked="1"/>
        <c:tickLblPos val="nextTo"/>
        <c:crossAx val="85597184"/>
        <c:crosses val="autoZero"/>
        <c:crossBetween val="between"/>
      </c:valAx>
    </c:plotArea>
    <c:legend>
      <c:legendPos val="r"/>
    </c:legend>
    <c:plotVisOnly val="1"/>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GB"/>
  <c:chart>
    <c:plotArea>
      <c:layout/>
      <c:barChart>
        <c:barDir val="col"/>
        <c:grouping val="percentStacked"/>
        <c:ser>
          <c:idx val="0"/>
          <c:order val="0"/>
          <c:tx>
            <c:strRef>
              <c:f>Sheet1!$A$2</c:f>
              <c:strCache>
                <c:ptCount val="1"/>
                <c:pt idx="0">
                  <c:v>Low -&gt; Low</c:v>
                </c:pt>
              </c:strCache>
            </c:strRef>
          </c:tx>
          <c:spPr>
            <a:solidFill>
              <a:schemeClr val="bg1">
                <a:lumMod val="75000"/>
              </a:schemeClr>
            </a:solidFill>
            <a:ln>
              <a:solidFill>
                <a:srgbClr val="EEECE1">
                  <a:lumMod val="10000"/>
                </a:srgbClr>
              </a:solidFill>
            </a:ln>
          </c:spPr>
          <c:cat>
            <c:strRef>
              <c:f>Sheet1!$B$1:$C$1</c:f>
              <c:strCache>
                <c:ptCount val="2"/>
                <c:pt idx="0">
                  <c:v>Women</c:v>
                </c:pt>
                <c:pt idx="1">
                  <c:v>Men</c:v>
                </c:pt>
              </c:strCache>
            </c:strRef>
          </c:cat>
          <c:val>
            <c:numRef>
              <c:f>Sheet1!$B$2:$C$2</c:f>
              <c:numCache>
                <c:formatCode>General</c:formatCode>
                <c:ptCount val="2"/>
                <c:pt idx="0">
                  <c:v>36</c:v>
                </c:pt>
                <c:pt idx="1">
                  <c:v>35</c:v>
                </c:pt>
              </c:numCache>
            </c:numRef>
          </c:val>
        </c:ser>
        <c:ser>
          <c:idx val="1"/>
          <c:order val="1"/>
          <c:tx>
            <c:strRef>
              <c:f>Sheet1!$A$3</c:f>
              <c:strCache>
                <c:ptCount val="1"/>
                <c:pt idx="0">
                  <c:v>Low -&gt; High</c:v>
                </c:pt>
              </c:strCache>
            </c:strRef>
          </c:tx>
          <c:spPr>
            <a:gradFill flip="none" rotWithShape="1">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lin ang="0" scaled="1"/>
              <a:tileRect/>
            </a:gradFill>
            <a:ln>
              <a:solidFill>
                <a:srgbClr val="EEECE1">
                  <a:lumMod val="10000"/>
                </a:srgbClr>
              </a:solidFill>
            </a:ln>
          </c:spPr>
          <c:cat>
            <c:strRef>
              <c:f>Sheet1!$B$1:$C$1</c:f>
              <c:strCache>
                <c:ptCount val="2"/>
                <c:pt idx="0">
                  <c:v>Women</c:v>
                </c:pt>
                <c:pt idx="1">
                  <c:v>Men</c:v>
                </c:pt>
              </c:strCache>
            </c:strRef>
          </c:cat>
          <c:val>
            <c:numRef>
              <c:f>Sheet1!$B$3:$C$3</c:f>
              <c:numCache>
                <c:formatCode>General</c:formatCode>
                <c:ptCount val="2"/>
                <c:pt idx="0">
                  <c:v>19</c:v>
                </c:pt>
                <c:pt idx="1">
                  <c:v>20</c:v>
                </c:pt>
              </c:numCache>
            </c:numRef>
          </c:val>
        </c:ser>
        <c:ser>
          <c:idx val="2"/>
          <c:order val="2"/>
          <c:tx>
            <c:strRef>
              <c:f>Sheet1!$A$4</c:f>
              <c:strCache>
                <c:ptCount val="1"/>
                <c:pt idx="0">
                  <c:v>High -&gt; Low</c:v>
                </c:pt>
              </c:strCache>
            </c:strRef>
          </c:tx>
          <c:spPr>
            <a:solidFill>
              <a:schemeClr val="bg1"/>
            </a:solidFill>
            <a:ln>
              <a:solidFill>
                <a:schemeClr val="bg2">
                  <a:lumMod val="10000"/>
                </a:schemeClr>
              </a:solidFill>
            </a:ln>
          </c:spPr>
          <c:cat>
            <c:strRef>
              <c:f>Sheet1!$B$1:$C$1</c:f>
              <c:strCache>
                <c:ptCount val="2"/>
                <c:pt idx="0">
                  <c:v>Women</c:v>
                </c:pt>
                <c:pt idx="1">
                  <c:v>Men</c:v>
                </c:pt>
              </c:strCache>
            </c:strRef>
          </c:cat>
          <c:val>
            <c:numRef>
              <c:f>Sheet1!$B$4:$C$4</c:f>
              <c:numCache>
                <c:formatCode>General</c:formatCode>
                <c:ptCount val="2"/>
                <c:pt idx="0">
                  <c:v>10</c:v>
                </c:pt>
                <c:pt idx="1">
                  <c:v>13</c:v>
                </c:pt>
              </c:numCache>
            </c:numRef>
          </c:val>
        </c:ser>
        <c:ser>
          <c:idx val="3"/>
          <c:order val="3"/>
          <c:tx>
            <c:strRef>
              <c:f>Sheet1!$A$5</c:f>
              <c:strCache>
                <c:ptCount val="1"/>
                <c:pt idx="0">
                  <c:v>High -&gt; High</c:v>
                </c:pt>
              </c:strCache>
            </c:strRef>
          </c:tx>
          <c:spPr>
            <a:solidFill>
              <a:schemeClr val="bg2">
                <a:lumMod val="10000"/>
              </a:schemeClr>
            </a:solidFill>
            <a:ln>
              <a:solidFill>
                <a:schemeClr val="bg2">
                  <a:lumMod val="10000"/>
                </a:schemeClr>
              </a:solidFill>
            </a:ln>
          </c:spPr>
          <c:cat>
            <c:strRef>
              <c:f>Sheet1!$B$1:$C$1</c:f>
              <c:strCache>
                <c:ptCount val="2"/>
                <c:pt idx="0">
                  <c:v>Women</c:v>
                </c:pt>
                <c:pt idx="1">
                  <c:v>Men</c:v>
                </c:pt>
              </c:strCache>
            </c:strRef>
          </c:cat>
          <c:val>
            <c:numRef>
              <c:f>Sheet1!$B$5:$C$5</c:f>
              <c:numCache>
                <c:formatCode>General</c:formatCode>
                <c:ptCount val="2"/>
                <c:pt idx="0">
                  <c:v>34</c:v>
                </c:pt>
                <c:pt idx="1">
                  <c:v>32</c:v>
                </c:pt>
              </c:numCache>
            </c:numRef>
          </c:val>
        </c:ser>
        <c:overlap val="100"/>
        <c:axId val="85692416"/>
        <c:axId val="85693952"/>
      </c:barChart>
      <c:catAx>
        <c:axId val="85692416"/>
        <c:scaling>
          <c:orientation val="minMax"/>
        </c:scaling>
        <c:axPos val="b"/>
        <c:tickLblPos val="nextTo"/>
        <c:crossAx val="85693952"/>
        <c:crosses val="autoZero"/>
        <c:auto val="1"/>
        <c:lblAlgn val="ctr"/>
        <c:lblOffset val="100"/>
      </c:catAx>
      <c:valAx>
        <c:axId val="85693952"/>
        <c:scaling>
          <c:orientation val="minMax"/>
        </c:scaling>
        <c:axPos val="l"/>
        <c:majorGridlines/>
        <c:numFmt formatCode="0%" sourceLinked="1"/>
        <c:tickLblPos val="nextTo"/>
        <c:crossAx val="85692416"/>
        <c:crosses val="autoZero"/>
        <c:crossBetween val="between"/>
        <c:majorUnit val="0.2"/>
      </c:valAx>
    </c:plotArea>
    <c:legend>
      <c:legendPos val="r"/>
    </c:legend>
    <c:plotVisOnly val="1"/>
  </c:chart>
  <c:txPr>
    <a:bodyPr/>
    <a:lstStyle/>
    <a:p>
      <a:pPr>
        <a:defRPr sz="1800"/>
      </a:pPr>
      <a:endParaRPr lang="en-US"/>
    </a:p>
  </c:txPr>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631845" cy="496411"/>
          </a:xfrm>
          <a:prstGeom prst="rect">
            <a:avLst/>
          </a:prstGeom>
        </p:spPr>
        <p:txBody>
          <a:bodyPr vert="horz" lIns="91440" tIns="45720" rIns="91440" bIns="45720" rtlCol="0"/>
          <a:lstStyle>
            <a:lvl1pPr algn="l">
              <a:defRPr sz="1200"/>
            </a:lvl1pPr>
          </a:lstStyle>
          <a:p>
            <a:r>
              <a:rPr lang="en-US" dirty="0" err="1" smtClean="0">
                <a:solidFill>
                  <a:srgbClr val="0070C0"/>
                </a:solidFill>
              </a:rPr>
              <a:t>Allostatic</a:t>
            </a:r>
            <a:r>
              <a:rPr lang="en-US" dirty="0" smtClean="0">
                <a:solidFill>
                  <a:srgbClr val="0070C0"/>
                </a:solidFill>
              </a:rPr>
              <a:t> load measures in the English Longitudinal Study of Ageing (ELSA) </a:t>
            </a:r>
            <a:endParaRPr lang="en-GB" dirty="0"/>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r>
              <a:rPr lang="en-US" dirty="0" smtClean="0"/>
              <a:t>Emily Grundy and </a:t>
            </a:r>
            <a:r>
              <a:rPr lang="en-US" dirty="0" err="1" smtClean="0"/>
              <a:t>Sanna</a:t>
            </a:r>
            <a:r>
              <a:rPr lang="en-US" dirty="0" smtClean="0"/>
              <a:t> Read</a:t>
            </a:r>
            <a:endParaRPr lang="en-GB" dirty="0"/>
          </a:p>
        </p:txBody>
      </p:sp>
      <p:sp>
        <p:nvSpPr>
          <p:cNvPr id="4" name="Footer Placeholder 3"/>
          <p:cNvSpPr>
            <a:spLocks noGrp="1"/>
          </p:cNvSpPr>
          <p:nvPr>
            <p:ph type="ftr" sz="quarter" idx="2"/>
          </p:nvPr>
        </p:nvSpPr>
        <p:spPr>
          <a:xfrm>
            <a:off x="0" y="9430092"/>
            <a:ext cx="2945659" cy="496411"/>
          </a:xfrm>
          <a:prstGeom prst="rect">
            <a:avLst/>
          </a:prstGeom>
        </p:spPr>
        <p:txBody>
          <a:bodyPr vert="horz" lIns="91440" tIns="45720" rIns="91440" bIns="45720" rtlCol="0" anchor="b"/>
          <a:lstStyle>
            <a:lvl1pPr algn="l">
              <a:defRPr sz="1200"/>
            </a:lvl1pPr>
          </a:lstStyle>
          <a:p>
            <a:r>
              <a:rPr lang="en-GB" dirty="0" smtClean="0"/>
              <a:t>Introduction to Biomarkers</a:t>
            </a:r>
          </a:p>
          <a:p>
            <a:r>
              <a:rPr lang="en-GB" dirty="0" smtClean="0"/>
              <a:t>Thursday 12 April 2012</a:t>
            </a:r>
            <a:endParaRPr lang="en-GB" dirty="0"/>
          </a:p>
        </p:txBody>
      </p:sp>
      <p:sp>
        <p:nvSpPr>
          <p:cNvPr id="5" name="Slide Number Placeholder 4"/>
          <p:cNvSpPr>
            <a:spLocks noGrp="1"/>
          </p:cNvSpPr>
          <p:nvPr>
            <p:ph type="sldNum" sz="quarter" idx="3"/>
          </p:nvPr>
        </p:nvSpPr>
        <p:spPr>
          <a:xfrm>
            <a:off x="3850443" y="9430092"/>
            <a:ext cx="2945659" cy="496411"/>
          </a:xfrm>
          <a:prstGeom prst="rect">
            <a:avLst/>
          </a:prstGeom>
        </p:spPr>
        <p:txBody>
          <a:bodyPr vert="horz" lIns="91440" tIns="45720" rIns="91440" bIns="45720" rtlCol="0" anchor="b"/>
          <a:lstStyle>
            <a:lvl1pPr algn="r">
              <a:defRPr sz="1200"/>
            </a:lvl1pPr>
          </a:lstStyle>
          <a:p>
            <a:fld id="{A0DA05AE-CCB2-400E-97FD-E18C4E4F39C8}" type="slidenum">
              <a:rPr lang="en-GB" smtClean="0"/>
              <a:pPr/>
              <a:t>‹#›</a:t>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9FEBE6D8-2875-47B3-BCE4-19F2B381338E}" type="datetimeFigureOut">
              <a:rPr lang="en-US" smtClean="0"/>
              <a:pPr/>
              <a:t>6/25/2012</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30092"/>
            <a:ext cx="2945659" cy="4964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2"/>
            <a:ext cx="2945659" cy="496411"/>
          </a:xfrm>
          <a:prstGeom prst="rect">
            <a:avLst/>
          </a:prstGeom>
        </p:spPr>
        <p:txBody>
          <a:bodyPr vert="horz" lIns="91440" tIns="45720" rIns="91440" bIns="45720" rtlCol="0" anchor="b"/>
          <a:lstStyle>
            <a:lvl1pPr algn="r">
              <a:defRPr sz="1200"/>
            </a:lvl1pPr>
          </a:lstStyle>
          <a:p>
            <a:fld id="{9B1BFE84-A456-429C-B372-9CD42CED5E7D}"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2</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8</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9</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10</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11</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12</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13</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14</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15</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16</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B1BFE84-A456-429C-B372-9CD42CED5E7D}" type="slidenum">
              <a:rPr lang="en-GB" smtClean="0"/>
              <a:pPr/>
              <a:t>17</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4334F6F1-E627-41F9-B179-B0E33F05CB07}" type="datetimeFigureOut">
              <a:rPr lang="en-US">
                <a:solidFill>
                  <a:srgbClr val="000099">
                    <a:tint val="75000"/>
                  </a:srgbClr>
                </a:solidFill>
              </a:rPr>
              <a:pPr>
                <a:defRPr/>
              </a:pPr>
              <a:t>6/25/2012</a:t>
            </a:fld>
            <a:endParaRPr lang="en-GB">
              <a:solidFill>
                <a:srgbClr val="000099">
                  <a:tint val="75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D4D1C7E8-C9A8-40F2-9F61-4E7BCC6B76BD}"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76A7409-59AC-4144-A4B1-8C89BC2D78A3}" type="datetimeFigureOut">
              <a:rPr lang="en-US">
                <a:solidFill>
                  <a:srgbClr val="000099">
                    <a:tint val="75000"/>
                  </a:srgbClr>
                </a:solidFill>
              </a:rPr>
              <a:pPr>
                <a:defRPr/>
              </a:pPr>
              <a:t>6/25/2012</a:t>
            </a:fld>
            <a:endParaRPr lang="en-GB">
              <a:solidFill>
                <a:srgbClr val="000099">
                  <a:tint val="75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D4FF3EA0-4EFE-42A2-9E36-E2FCF25814FE}"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8C3D22B-CCDC-4898-9FC9-066F8CE3DA08}" type="datetimeFigureOut">
              <a:rPr lang="en-US">
                <a:solidFill>
                  <a:srgbClr val="000099">
                    <a:tint val="75000"/>
                  </a:srgbClr>
                </a:solidFill>
              </a:rPr>
              <a:pPr>
                <a:defRPr/>
              </a:pPr>
              <a:t>6/25/2012</a:t>
            </a:fld>
            <a:endParaRPr lang="en-GB">
              <a:solidFill>
                <a:srgbClr val="000099">
                  <a:tint val="75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C3849884-0017-40B9-80D3-C31E736FD4A4}"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0F917B4-12F1-4F0C-B6F9-7636B9BFBE3C}" type="datetimeFigureOut">
              <a:rPr lang="en-US">
                <a:solidFill>
                  <a:srgbClr val="000099">
                    <a:tint val="75000"/>
                  </a:srgbClr>
                </a:solidFill>
              </a:rPr>
              <a:pPr>
                <a:defRPr/>
              </a:pPr>
              <a:t>6/25/2012</a:t>
            </a:fld>
            <a:endParaRPr lang="en-GB">
              <a:solidFill>
                <a:srgbClr val="000099">
                  <a:tint val="75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3375C728-BD02-47E8-A999-DF6720504207}"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0FC494F7-6BA8-40C7-807E-F097F0A10B09}" type="datetimeFigureOut">
              <a:rPr lang="en-US">
                <a:solidFill>
                  <a:srgbClr val="000099">
                    <a:tint val="75000"/>
                  </a:srgbClr>
                </a:solidFill>
              </a:rPr>
              <a:pPr>
                <a:defRPr/>
              </a:pPr>
              <a:t>6/25/2012</a:t>
            </a:fld>
            <a:endParaRPr lang="en-GB">
              <a:solidFill>
                <a:srgbClr val="000099">
                  <a:tint val="75000"/>
                </a:srgbClr>
              </a:solidFill>
            </a:endParaRPr>
          </a:p>
        </p:txBody>
      </p:sp>
      <p:sp>
        <p:nvSpPr>
          <p:cNvPr id="8"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9" name="Slide Number Placeholder 5"/>
          <p:cNvSpPr>
            <a:spLocks noGrp="1"/>
          </p:cNvSpPr>
          <p:nvPr>
            <p:ph type="sldNum" sz="quarter" idx="12"/>
          </p:nvPr>
        </p:nvSpPr>
        <p:spPr/>
        <p:txBody>
          <a:bodyPr/>
          <a:lstStyle>
            <a:lvl1pPr>
              <a:defRPr/>
            </a:lvl1pPr>
          </a:lstStyle>
          <a:p>
            <a:pPr>
              <a:defRPr/>
            </a:pPr>
            <a:fld id="{EAD9FFD8-9D6C-406C-8C4F-38C2ED04C17A}"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CED32422-7201-4E22-8011-E0F3D69FFC7B}" type="datetimeFigureOut">
              <a:rPr lang="en-US">
                <a:solidFill>
                  <a:srgbClr val="000099">
                    <a:tint val="75000"/>
                  </a:srgbClr>
                </a:solidFill>
              </a:rPr>
              <a:pPr>
                <a:defRPr/>
              </a:pPr>
              <a:t>6/25/2012</a:t>
            </a:fld>
            <a:endParaRPr lang="en-GB">
              <a:solidFill>
                <a:srgbClr val="000099">
                  <a:tint val="75000"/>
                </a:srgbClr>
              </a:solidFill>
            </a:endParaRPr>
          </a:p>
        </p:txBody>
      </p:sp>
      <p:sp>
        <p:nvSpPr>
          <p:cNvPr id="4"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5" name="Slide Number Placeholder 5"/>
          <p:cNvSpPr>
            <a:spLocks noGrp="1"/>
          </p:cNvSpPr>
          <p:nvPr>
            <p:ph type="sldNum" sz="quarter" idx="12"/>
          </p:nvPr>
        </p:nvSpPr>
        <p:spPr/>
        <p:txBody>
          <a:bodyPr/>
          <a:lstStyle>
            <a:lvl1pPr>
              <a:defRPr/>
            </a:lvl1pPr>
          </a:lstStyle>
          <a:p>
            <a:pPr>
              <a:defRPr/>
            </a:pPr>
            <a:fld id="{672948D2-5008-4034-B847-3D7F3E2FDBF2}"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8F1E38-AB22-4B90-97DC-7C4302435AC4}" type="datetimeFigureOut">
              <a:rPr lang="en-US">
                <a:solidFill>
                  <a:srgbClr val="000099">
                    <a:tint val="75000"/>
                  </a:srgbClr>
                </a:solidFill>
              </a:rPr>
              <a:pPr>
                <a:defRPr/>
              </a:pPr>
              <a:t>6/25/2012</a:t>
            </a:fld>
            <a:endParaRPr lang="en-GB">
              <a:solidFill>
                <a:srgbClr val="000099">
                  <a:tint val="75000"/>
                </a:srgbClr>
              </a:solidFill>
            </a:endParaRPr>
          </a:p>
        </p:txBody>
      </p:sp>
      <p:sp>
        <p:nvSpPr>
          <p:cNvPr id="3"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4" name="Slide Number Placeholder 5"/>
          <p:cNvSpPr>
            <a:spLocks noGrp="1"/>
          </p:cNvSpPr>
          <p:nvPr>
            <p:ph type="sldNum" sz="quarter" idx="12"/>
          </p:nvPr>
        </p:nvSpPr>
        <p:spPr/>
        <p:txBody>
          <a:bodyPr/>
          <a:lstStyle>
            <a:lvl1pPr>
              <a:defRPr/>
            </a:lvl1pPr>
          </a:lstStyle>
          <a:p>
            <a:pPr>
              <a:defRPr/>
            </a:pPr>
            <a:fld id="{B6D49C15-EF2A-49D2-B238-77334AF293C1}"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7CB2F4A-172E-41D4-BEFA-F6DCBC25358F}" type="datetimeFigureOut">
              <a:rPr lang="en-US">
                <a:solidFill>
                  <a:srgbClr val="000099">
                    <a:tint val="75000"/>
                  </a:srgbClr>
                </a:solidFill>
              </a:rPr>
              <a:pPr>
                <a:defRPr/>
              </a:pPr>
              <a:t>6/25/2012</a:t>
            </a:fld>
            <a:endParaRPr lang="en-GB">
              <a:solidFill>
                <a:srgbClr val="000099">
                  <a:tint val="75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E140BD3B-0771-4311-8FFA-DE57EDEE9093}"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A162C1D-381D-4245-99F5-12400EA4DED9}" type="datetimeFigureOut">
              <a:rPr lang="en-US">
                <a:solidFill>
                  <a:srgbClr val="000099">
                    <a:tint val="75000"/>
                  </a:srgbClr>
                </a:solidFill>
              </a:rPr>
              <a:pPr>
                <a:defRPr/>
              </a:pPr>
              <a:t>6/25/2012</a:t>
            </a:fld>
            <a:endParaRPr lang="en-GB">
              <a:solidFill>
                <a:srgbClr val="000099">
                  <a:tint val="75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F2803148-46F4-4F0A-83DD-CA6487C574EB}"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16128E1B-6389-407B-9003-2C4216B28936}" type="datetimeFigureOut">
              <a:rPr lang="en-US">
                <a:solidFill>
                  <a:srgbClr val="000099">
                    <a:tint val="75000"/>
                  </a:srgbClr>
                </a:solidFill>
              </a:rPr>
              <a:pPr>
                <a:defRPr/>
              </a:pPr>
              <a:t>6/25/2012</a:t>
            </a:fld>
            <a:endParaRPr lang="en-GB">
              <a:solidFill>
                <a:srgbClr val="000099">
                  <a:tint val="75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E631C296-2FDD-4CDD-A49D-41CD840A3769}"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08915404-0261-476B-86D5-BFE771285EEE}" type="datetimeFigureOut">
              <a:rPr lang="en-US">
                <a:solidFill>
                  <a:srgbClr val="000099">
                    <a:tint val="75000"/>
                  </a:srgbClr>
                </a:solidFill>
              </a:rPr>
              <a:pPr>
                <a:defRPr/>
              </a:pPr>
              <a:t>6/25/2012</a:t>
            </a:fld>
            <a:endParaRPr lang="en-GB">
              <a:solidFill>
                <a:srgbClr val="000099">
                  <a:tint val="75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GB">
              <a:solidFill>
                <a:srgbClr val="000099">
                  <a:tint val="75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E6D14818-1E0F-446F-ABA6-8420913B903B}" type="slidenum">
              <a:rPr lang="en-GB">
                <a:solidFill>
                  <a:srgbClr val="000099">
                    <a:tint val="75000"/>
                  </a:srgbClr>
                </a:solidFill>
              </a:rPr>
              <a:pPr>
                <a:defRPr/>
              </a:pPr>
              <a:t>‹#›</a:t>
            </a:fld>
            <a:endParaRPr lang="en-GB">
              <a:solidFill>
                <a:srgbClr val="000099">
                  <a:tint val="75000"/>
                </a:srgb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fontAlgn="base">
              <a:spcBef>
                <a:spcPct val="0"/>
              </a:spcBef>
              <a:spcAft>
                <a:spcPct val="0"/>
              </a:spcAft>
              <a:defRPr/>
            </a:pPr>
            <a:fld id="{7A6337ED-55A3-4108-B3F5-DE19FC8454C3}" type="datetimeFigureOut">
              <a:rPr lang="en-US">
                <a:solidFill>
                  <a:srgbClr val="000099"/>
                </a:solidFill>
                <a:cs typeface="Arial" charset="0"/>
              </a:rPr>
              <a:pPr fontAlgn="base">
                <a:spcBef>
                  <a:spcPct val="0"/>
                </a:spcBef>
                <a:spcAft>
                  <a:spcPct val="0"/>
                </a:spcAft>
                <a:defRPr/>
              </a:pPr>
              <a:t>6/25/2012</a:t>
            </a:fld>
            <a:endParaRPr lang="en-GB">
              <a:solidFill>
                <a:srgbClr val="000099"/>
              </a:solidFill>
              <a:cs typeface="Arial" charset="0"/>
            </a:endParaRPr>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fontAlgn="base">
              <a:spcBef>
                <a:spcPct val="0"/>
              </a:spcBef>
              <a:spcAft>
                <a:spcPct val="0"/>
              </a:spcAft>
              <a:defRPr/>
            </a:pPr>
            <a:endParaRPr lang="en-GB">
              <a:solidFill>
                <a:srgbClr val="000099"/>
              </a:solidFill>
              <a:cs typeface="Arial" charset="0"/>
            </a:endParaRPr>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fontAlgn="base">
              <a:spcBef>
                <a:spcPct val="0"/>
              </a:spcBef>
              <a:spcAft>
                <a:spcPct val="0"/>
              </a:spcAft>
              <a:defRPr/>
            </a:pPr>
            <a:fld id="{4B169E29-64C0-4371-999E-DDD579F2179B}" type="slidenum">
              <a:rPr lang="en-GB">
                <a:solidFill>
                  <a:srgbClr val="000099"/>
                </a:solidFill>
                <a:cs typeface="Arial" charset="0"/>
              </a:rPr>
              <a:pPr fontAlgn="base">
                <a:spcBef>
                  <a:spcPct val="0"/>
                </a:spcBef>
                <a:spcAft>
                  <a:spcPct val="0"/>
                </a:spcAft>
                <a:defRPr/>
              </a:pPr>
              <a:t>‹#›</a:t>
            </a:fld>
            <a:endParaRPr lang="en-GB">
              <a:solidFill>
                <a:srgbClr val="000099"/>
              </a:solidFill>
              <a:cs typeface="Arial"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2130425"/>
            <a:ext cx="8343900" cy="1470025"/>
          </a:xfrm>
        </p:spPr>
        <p:txBody>
          <a:bodyPr>
            <a:normAutofit/>
          </a:bodyPr>
          <a:lstStyle>
            <a:lvl1pPr algn="l">
              <a:defRPr sz="2400">
                <a:solidFill>
                  <a:srgbClr val="000000"/>
                </a:solidFill>
                <a:latin typeface="Arial Black"/>
                <a:cs typeface="Arial Black"/>
              </a:defRPr>
            </a:lvl1pPr>
          </a:lstStyle>
          <a:p>
            <a:r>
              <a:rPr lang="en-US" smtClean="0"/>
              <a:t>Click to edit Master title style</a:t>
            </a:r>
            <a:endParaRPr lang="en-US" dirty="0"/>
          </a:p>
        </p:txBody>
      </p:sp>
      <p:sp>
        <p:nvSpPr>
          <p:cNvPr id="3" name="Subtitle 2"/>
          <p:cNvSpPr>
            <a:spLocks noGrp="1"/>
          </p:cNvSpPr>
          <p:nvPr>
            <p:ph type="subTitle" idx="1"/>
          </p:nvPr>
        </p:nvSpPr>
        <p:spPr>
          <a:xfrm>
            <a:off x="342900" y="3886200"/>
            <a:ext cx="8343900" cy="1587500"/>
          </a:xfrm>
          <a:prstGeom prst="rect">
            <a:avLst/>
          </a:prstGeom>
        </p:spPr>
        <p:txBody>
          <a:bodyPr>
            <a:normAutofit/>
          </a:bodyPr>
          <a:lstStyle>
            <a:lvl1pPr marL="0" indent="0" algn="l">
              <a:buNone/>
              <a:defRPr sz="220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 xmlns:p14="http://schemas.microsoft.com/office/powerpoint/2010/main" val="3377172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sz="4700">
                <a:solidFill>
                  <a:srgbClr val="000000"/>
                </a:solidFill>
                <a:latin typeface="Arial Black"/>
                <a:cs typeface="Arial Black"/>
              </a:defRPr>
            </a:lvl1pPr>
          </a:lstStyle>
          <a:p>
            <a:r>
              <a:rPr lang="en-GB" dirty="0" smtClean="0"/>
              <a:t>Click to add title</a:t>
            </a:r>
            <a:endParaRPr lang="en-US" dirty="0"/>
          </a:p>
        </p:txBody>
      </p:sp>
      <p:sp>
        <p:nvSpPr>
          <p:cNvPr id="3" name="Content Placeholder 2"/>
          <p:cNvSpPr>
            <a:spLocks noGrp="1"/>
          </p:cNvSpPr>
          <p:nvPr>
            <p:ph idx="1"/>
          </p:nvPr>
        </p:nvSpPr>
        <p:spPr>
          <a:xfrm>
            <a:off x="342900" y="1600201"/>
            <a:ext cx="8343900" cy="3880200"/>
          </a:xfrm>
          <a:prstGeom prst="rect">
            <a:avLst/>
          </a:prstGeom>
        </p:spPr>
        <p:txBody>
          <a:bodyPr>
            <a:normAutofit/>
          </a:bodyPr>
          <a:lstStyle>
            <a:lvl1pPr>
              <a:defRPr sz="2200">
                <a:solidFill>
                  <a:srgbClr val="000000"/>
                </a:solidFill>
                <a:latin typeface="+mj-lt"/>
              </a:defRPr>
            </a:lvl1pPr>
            <a:lvl2pPr>
              <a:defRPr sz="1800">
                <a:solidFill>
                  <a:srgbClr val="000000"/>
                </a:solidFill>
                <a:latin typeface="+mj-lt"/>
              </a:defRPr>
            </a:lvl2pPr>
            <a:lvl3pPr>
              <a:defRPr sz="1800">
                <a:solidFill>
                  <a:srgbClr val="000000"/>
                </a:solidFill>
                <a:latin typeface="+mj-lt"/>
              </a:defRPr>
            </a:lvl3pPr>
            <a:lvl4pPr>
              <a:defRPr sz="1800">
                <a:solidFill>
                  <a:srgbClr val="000000"/>
                </a:solidFill>
                <a:latin typeface="+mj-lt"/>
              </a:defRPr>
            </a:lvl4pPr>
            <a:lvl5pPr>
              <a:defRPr sz="1800">
                <a:solidFill>
                  <a:srgbClr val="000000"/>
                </a:solidFill>
                <a:latin typeface="+mj-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01429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178300"/>
            <a:ext cx="8343900" cy="1302101"/>
          </a:xfrm>
        </p:spPr>
        <p:txBody>
          <a:bodyPr anchor="t"/>
          <a:lstStyle>
            <a:lvl1pPr algn="l">
              <a:defRPr sz="4700" b="1" cap="all">
                <a:solidFill>
                  <a:srgbClr val="000000"/>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42900" y="2678113"/>
            <a:ext cx="8343900" cy="1500187"/>
          </a:xfrm>
          <a:prstGeom prst="rect">
            <a:avLst/>
          </a:prstGeom>
        </p:spPr>
        <p:txBody>
          <a:bodyPr anchor="b"/>
          <a:lstStyle>
            <a:lvl1pPr marL="0" indent="0">
              <a:buNone/>
              <a:defRPr sz="2200">
                <a:solidFill>
                  <a:srgbClr val="00000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 xmlns:p14="http://schemas.microsoft.com/office/powerpoint/2010/main" val="2146216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00000"/>
                </a:solidFill>
              </a:defRPr>
            </a:lvl1pPr>
          </a:lstStyle>
          <a:p>
            <a:r>
              <a:rPr lang="en-GB" dirty="0" smtClean="0"/>
              <a:t>Click to add title</a:t>
            </a:r>
            <a:endParaRPr lang="en-US" dirty="0"/>
          </a:p>
        </p:txBody>
      </p:sp>
      <p:sp>
        <p:nvSpPr>
          <p:cNvPr id="3" name="Content Placeholder 2"/>
          <p:cNvSpPr>
            <a:spLocks noGrp="1"/>
          </p:cNvSpPr>
          <p:nvPr>
            <p:ph sz="half" idx="1"/>
          </p:nvPr>
        </p:nvSpPr>
        <p:spPr>
          <a:xfrm>
            <a:off x="342900" y="1600201"/>
            <a:ext cx="4038600" cy="3880200"/>
          </a:xfrm>
          <a:prstGeom prst="rect">
            <a:avLst/>
          </a:prstGeom>
        </p:spPr>
        <p:txBody>
          <a:bodyPr/>
          <a:lstStyle>
            <a:lvl1pPr>
              <a:defRPr sz="2200">
                <a:solidFill>
                  <a:srgbClr val="000000"/>
                </a:solidFill>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1800">
                <a:solidFill>
                  <a:srgbClr val="000000"/>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1"/>
            <a:ext cx="4038600" cy="3880200"/>
          </a:xfrm>
          <a:prstGeom prst="rect">
            <a:avLst/>
          </a:prstGeom>
        </p:spPr>
        <p:txBody>
          <a:bodyPr/>
          <a:lstStyle>
            <a:lvl1pPr>
              <a:defRPr sz="2200">
                <a:solidFill>
                  <a:srgbClr val="000000"/>
                </a:solidFill>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13582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2900" y="1600201"/>
            <a:ext cx="4154488" cy="574674"/>
          </a:xfrm>
          <a:prstGeom prst="rect">
            <a:avLst/>
          </a:prstGeom>
        </p:spPr>
        <p:txBody>
          <a:bodyPr anchor="b"/>
          <a:lstStyle>
            <a:lvl1pPr marL="0" indent="0">
              <a:buNone/>
              <a:defRPr sz="2400" b="1">
                <a:solidFill>
                  <a:srgbClr val="0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42900" y="2174875"/>
            <a:ext cx="4154488" cy="3324225"/>
          </a:xfrm>
          <a:prstGeom prst="rect">
            <a:avLst/>
          </a:prstGeom>
        </p:spPr>
        <p:txBody>
          <a:bodyPr/>
          <a:lstStyle>
            <a:lvl1pPr>
              <a:defRPr sz="2200">
                <a:solidFill>
                  <a:srgbClr val="000000"/>
                </a:solidFill>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1600">
                <a:solidFill>
                  <a:srgbClr val="000000"/>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600201"/>
            <a:ext cx="4041775" cy="574674"/>
          </a:xfrm>
          <a:prstGeom prst="rect">
            <a:avLst/>
          </a:prstGeom>
        </p:spPr>
        <p:txBody>
          <a:bodyPr anchor="b"/>
          <a:lstStyle>
            <a:lvl1pPr marL="0" indent="0">
              <a:buNone/>
              <a:defRPr sz="2400" b="1">
                <a:solidFill>
                  <a:srgbClr val="0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324225"/>
          </a:xfrm>
          <a:prstGeom prst="rect">
            <a:avLst/>
          </a:prstGeom>
        </p:spPr>
        <p:txBody>
          <a:bodyPr/>
          <a:lstStyle>
            <a:lvl1pPr>
              <a:defRPr sz="2400">
                <a:solidFill>
                  <a:srgbClr val="000000"/>
                </a:solidFill>
              </a:defRPr>
            </a:lvl1pPr>
            <a:lvl2pPr>
              <a:defRPr sz="2000">
                <a:solidFill>
                  <a:srgbClr val="000000"/>
                </a:solidFill>
              </a:defRPr>
            </a:lvl2pPr>
            <a:lvl3pPr>
              <a:defRPr sz="1800">
                <a:solidFill>
                  <a:srgbClr val="000000"/>
                </a:solidFill>
              </a:defRPr>
            </a:lvl3pPr>
            <a:lvl4pPr>
              <a:defRPr sz="1600">
                <a:solidFill>
                  <a:srgbClr val="000000"/>
                </a:solidFill>
              </a:defRPr>
            </a:lvl4pPr>
            <a:lvl5pPr>
              <a:defRPr sz="1600">
                <a:solidFill>
                  <a:srgbClr val="000000"/>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1"/>
          <p:cNvSpPr>
            <a:spLocks noGrp="1"/>
          </p:cNvSpPr>
          <p:nvPr>
            <p:ph type="title" hasCustomPrompt="1"/>
          </p:nvPr>
        </p:nvSpPr>
        <p:spPr>
          <a:xfrm>
            <a:off x="342900" y="274638"/>
            <a:ext cx="6070600" cy="1143000"/>
          </a:xfrm>
        </p:spPr>
        <p:txBody>
          <a:bodyPr/>
          <a:lstStyle>
            <a:lvl1pPr>
              <a:defRPr>
                <a:solidFill>
                  <a:srgbClr val="000000"/>
                </a:solidFill>
              </a:defRPr>
            </a:lvl1pPr>
          </a:lstStyle>
          <a:p>
            <a:r>
              <a:rPr lang="en-GB" dirty="0" smtClean="0"/>
              <a:t>Click to add title</a:t>
            </a:r>
            <a:endParaRPr lang="en-US" dirty="0"/>
          </a:p>
        </p:txBody>
      </p:sp>
    </p:spTree>
    <p:extLst>
      <p:ext uri="{BB962C8B-B14F-4D97-AF65-F5344CB8AC3E}">
        <p14:creationId xmlns="" xmlns:p14="http://schemas.microsoft.com/office/powerpoint/2010/main" val="2369277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342900" y="274638"/>
            <a:ext cx="6070600" cy="1143000"/>
          </a:xfrm>
        </p:spPr>
        <p:txBody>
          <a:bodyPr/>
          <a:lstStyle>
            <a:lvl1pPr>
              <a:defRPr>
                <a:solidFill>
                  <a:srgbClr val="000000"/>
                </a:solidFill>
              </a:defRPr>
            </a:lvl1pPr>
          </a:lstStyle>
          <a:p>
            <a:r>
              <a:rPr lang="en-GB" dirty="0" smtClean="0"/>
              <a:t>Click to add title</a:t>
            </a:r>
            <a:endParaRPr lang="en-US" dirty="0"/>
          </a:p>
        </p:txBody>
      </p:sp>
    </p:spTree>
    <p:extLst>
      <p:ext uri="{BB962C8B-B14F-4D97-AF65-F5344CB8AC3E}">
        <p14:creationId xmlns="" xmlns:p14="http://schemas.microsoft.com/office/powerpoint/2010/main" val="430381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59469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1598621"/>
            <a:ext cx="3122613" cy="750878"/>
          </a:xfrm>
        </p:spPr>
        <p:txBody>
          <a:bodyPr anchor="b"/>
          <a:lstStyle>
            <a:lvl1pPr algn="l">
              <a:defRPr sz="2400" b="1">
                <a:solidFill>
                  <a:srgbClr val="000000"/>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5513" y="1600201"/>
            <a:ext cx="5221287" cy="3886215"/>
          </a:xfrm>
          <a:prstGeom prst="rect">
            <a:avLst/>
          </a:prstGeom>
        </p:spPr>
        <p:txBody>
          <a:bodyPr/>
          <a:lstStyle>
            <a:lvl1pPr>
              <a:defRPr sz="2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351079"/>
            <a:ext cx="3122613" cy="3135337"/>
          </a:xfrm>
          <a:prstGeom prst="rect">
            <a:avLst/>
          </a:prstGeom>
        </p:spPr>
        <p:txBody>
          <a:bodyPr/>
          <a:lstStyle>
            <a:lvl1pPr marL="0" indent="0">
              <a:buNone/>
              <a:defRPr sz="2200">
                <a:solidFill>
                  <a:srgbClr val="00000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19720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914900"/>
            <a:ext cx="5486400" cy="566738"/>
          </a:xfrm>
        </p:spPr>
        <p:txBody>
          <a:bodyPr anchor="b"/>
          <a:lstStyle>
            <a:lvl1pPr algn="l">
              <a:defRPr sz="2000" b="1">
                <a:solidFill>
                  <a:srgbClr val="000000"/>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1600200"/>
            <a:ext cx="5486400" cy="3314700"/>
          </a:xfrm>
          <a:prstGeom prst="rect">
            <a:avLst/>
          </a:prstGeom>
        </p:spPr>
        <p:txBody>
          <a:bodyPr/>
          <a:lstStyle>
            <a:lvl1pPr marL="0" indent="0">
              <a:buNone/>
              <a:defRPr sz="2200">
                <a:solidFill>
                  <a:srgbClr val="000000"/>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 xmlns:p14="http://schemas.microsoft.com/office/powerpoint/2010/main" val="2437324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2.jpe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6" descr="Logo-black on white.tif"/>
          <p:cNvPicPr>
            <a:picLocks noChangeAspect="1"/>
          </p:cNvPicPr>
          <p:nvPr userDrawn="1"/>
        </p:nvPicPr>
        <p:blipFill>
          <a:blip r:embed="rId14" cstate="print"/>
          <a:srcRect/>
          <a:stretch>
            <a:fillRect/>
          </a:stretch>
        </p:blipFill>
        <p:spPr bwMode="auto">
          <a:xfrm>
            <a:off x="7715250" y="214313"/>
            <a:ext cx="1054100" cy="1057275"/>
          </a:xfrm>
          <a:prstGeom prst="rect">
            <a:avLst/>
          </a:prstGeom>
          <a:noFill/>
          <a:ln w="9525">
            <a:noFill/>
            <a:miter lim="800000"/>
            <a:headEnd/>
            <a:tailEnd/>
          </a:ln>
        </p:spPr>
      </p:pic>
      <p:sp>
        <p:nvSpPr>
          <p:cNvPr id="2051" name="Title Placeholder 1"/>
          <p:cNvSpPr>
            <a:spLocks noGrp="1"/>
          </p:cNvSpPr>
          <p:nvPr>
            <p:ph type="title"/>
          </p:nvPr>
        </p:nvSpPr>
        <p:spPr bwMode="auto">
          <a:xfrm>
            <a:off x="457200" y="274638"/>
            <a:ext cx="7115175"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GB" smtClean="0"/>
          </a:p>
        </p:txBody>
      </p:sp>
      <p:sp>
        <p:nvSpPr>
          <p:cNvPr id="2052"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fontAlgn="base">
              <a:spcBef>
                <a:spcPct val="0"/>
              </a:spcBef>
              <a:spcAft>
                <a:spcPct val="0"/>
              </a:spcAft>
              <a:defRPr/>
            </a:pPr>
            <a:fld id="{B4117C28-BFF1-4052-A980-ED8B7EE04696}" type="datetimeFigureOut">
              <a:rPr lang="en-US">
                <a:solidFill>
                  <a:srgbClr val="000099">
                    <a:tint val="75000"/>
                  </a:srgbClr>
                </a:solidFill>
                <a:latin typeface="Arial" charset="0"/>
                <a:cs typeface="Arial" charset="0"/>
              </a:rPr>
              <a:pPr fontAlgn="base">
                <a:spcBef>
                  <a:spcPct val="0"/>
                </a:spcBef>
                <a:spcAft>
                  <a:spcPct val="0"/>
                </a:spcAft>
                <a:defRPr/>
              </a:pPr>
              <a:t>6/25/2012</a:t>
            </a:fld>
            <a:endParaRPr lang="en-GB">
              <a:solidFill>
                <a:srgbClr val="000099">
                  <a:tint val="75000"/>
                </a:srgbClr>
              </a:solidFill>
              <a:latin typeface="Arial" charset="0"/>
              <a:cs typeface="Arial"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defRPr>
            </a:lvl1pPr>
          </a:lstStyle>
          <a:p>
            <a:pPr fontAlgn="base">
              <a:spcBef>
                <a:spcPct val="0"/>
              </a:spcBef>
              <a:spcAft>
                <a:spcPct val="0"/>
              </a:spcAft>
              <a:defRPr/>
            </a:pPr>
            <a:endParaRPr lang="en-GB">
              <a:solidFill>
                <a:srgbClr val="000099">
                  <a:tint val="75000"/>
                </a:srgbClr>
              </a:solidFill>
              <a:latin typeface="Arial" charset="0"/>
              <a:cs typeface="Arial"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fontAlgn="base">
              <a:spcBef>
                <a:spcPct val="0"/>
              </a:spcBef>
              <a:spcAft>
                <a:spcPct val="0"/>
              </a:spcAft>
              <a:defRPr/>
            </a:pPr>
            <a:fld id="{48374CEC-AB8E-42F8-A487-6F59ADC06C45}" type="slidenum">
              <a:rPr lang="en-GB">
                <a:solidFill>
                  <a:srgbClr val="000099">
                    <a:tint val="75000"/>
                  </a:srgbClr>
                </a:solidFill>
                <a:latin typeface="Arial" charset="0"/>
                <a:cs typeface="Arial" charset="0"/>
              </a:rPr>
              <a:pPr fontAlgn="base">
                <a:spcBef>
                  <a:spcPct val="0"/>
                </a:spcBef>
                <a:spcAft>
                  <a:spcPct val="0"/>
                </a:spcAft>
                <a:defRPr/>
              </a:pPr>
              <a:t>‹#›</a:t>
            </a:fld>
            <a:endParaRPr lang="en-GB">
              <a:solidFill>
                <a:srgbClr val="000099">
                  <a:tint val="75000"/>
                </a:srgbClr>
              </a:solidFill>
              <a:latin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72"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Powerpoint slide backgrounds_v6-5.jpg"/>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0" y="0"/>
            <a:ext cx="9144000" cy="6868732"/>
          </a:xfrm>
          <a:prstGeom prst="rect">
            <a:avLst/>
          </a:prstGeom>
        </p:spPr>
      </p:pic>
      <p:sp>
        <p:nvSpPr>
          <p:cNvPr id="2" name="Title Placeholder 1"/>
          <p:cNvSpPr>
            <a:spLocks noGrp="1"/>
          </p:cNvSpPr>
          <p:nvPr>
            <p:ph type="title"/>
          </p:nvPr>
        </p:nvSpPr>
        <p:spPr>
          <a:xfrm>
            <a:off x="342900" y="274638"/>
            <a:ext cx="6070600" cy="1143000"/>
          </a:xfrm>
          <a:prstGeom prst="rect">
            <a:avLst/>
          </a:prstGeom>
        </p:spPr>
        <p:txBody>
          <a:bodyPr vert="horz" lIns="91440" tIns="45720" rIns="91440" bIns="45720" rtlCol="0" anchor="ctr">
            <a:noAutofit/>
          </a:bodyPr>
          <a:lstStyle/>
          <a:p>
            <a:r>
              <a:rPr lang="en-GB" dirty="0" smtClean="0"/>
              <a:t>Click to add title</a:t>
            </a:r>
            <a:endParaRPr lang="en-US" dirty="0"/>
          </a:p>
        </p:txBody>
      </p:sp>
      <p:pic>
        <p:nvPicPr>
          <p:cNvPr id="4" name="Picture 6" descr="Logo-black on white.tif"/>
          <p:cNvPicPr>
            <a:picLocks noChangeAspect="1"/>
          </p:cNvPicPr>
          <p:nvPr userDrawn="1"/>
        </p:nvPicPr>
        <p:blipFill>
          <a:blip r:embed="rId12" cstate="print"/>
          <a:srcRect/>
          <a:stretch>
            <a:fillRect/>
          </a:stretch>
        </p:blipFill>
        <p:spPr bwMode="auto">
          <a:xfrm>
            <a:off x="7715250" y="214313"/>
            <a:ext cx="1054100" cy="1057275"/>
          </a:xfrm>
          <a:prstGeom prst="rect">
            <a:avLst/>
          </a:prstGeom>
          <a:noFill/>
          <a:ln w="9525">
            <a:noFill/>
            <a:miter lim="800000"/>
            <a:headEnd/>
            <a:tailEnd/>
          </a:ln>
        </p:spPr>
      </p:pic>
    </p:spTree>
    <p:extLst>
      <p:ext uri="{BB962C8B-B14F-4D97-AF65-F5344CB8AC3E}">
        <p14:creationId xmlns="" xmlns:p14="http://schemas.microsoft.com/office/powerpoint/2010/main" val="53773391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Lst>
  <p:txStyles>
    <p:titleStyle>
      <a:lvl1pPr algn="l" defTabSz="457200" rtl="0" eaLnBrk="1" latinLnBrk="0" hangingPunct="1">
        <a:spcBef>
          <a:spcPct val="0"/>
        </a:spcBef>
        <a:buNone/>
        <a:defRPr sz="4700" kern="1200" baseline="0">
          <a:solidFill>
            <a:schemeClr val="tx1"/>
          </a:solidFill>
          <a:latin typeface="Arial Black"/>
          <a:ea typeface="+mj-ea"/>
          <a:cs typeface="Arial Black"/>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j-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j-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j-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j-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j-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p:txBody>
          <a:bodyPr/>
          <a:lstStyle/>
          <a:p>
            <a:pPr eaLnBrk="1" hangingPunct="1"/>
            <a:r>
              <a:rPr lang="en-US" dirty="0" smtClean="0">
                <a:solidFill>
                  <a:srgbClr val="0070C0"/>
                </a:solidFill>
                <a:latin typeface="Arial Black" pitchFamily="34" charset="0"/>
              </a:rPr>
              <a:t>PATHWAYS</a:t>
            </a:r>
          </a:p>
        </p:txBody>
      </p:sp>
      <p:sp>
        <p:nvSpPr>
          <p:cNvPr id="2051" name="Content Placeholder 2"/>
          <p:cNvSpPr>
            <a:spLocks noGrp="1"/>
          </p:cNvSpPr>
          <p:nvPr>
            <p:ph idx="1"/>
          </p:nvPr>
        </p:nvSpPr>
        <p:spPr bwMode="auto">
          <a:xfrm>
            <a:off x="342900" y="1600200"/>
            <a:ext cx="8343900" cy="387985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buFont typeface="Arial" charset="0"/>
              <a:buNone/>
            </a:pPr>
            <a:endParaRPr lang="en-US" sz="1100" b="1" dirty="0" smtClean="0">
              <a:solidFill>
                <a:srgbClr val="0070C0"/>
              </a:solidFill>
            </a:endParaRPr>
          </a:p>
          <a:p>
            <a:pPr>
              <a:buNone/>
            </a:pPr>
            <a:r>
              <a:rPr lang="en-US" sz="4000" b="1" dirty="0" err="1" smtClean="0">
                <a:solidFill>
                  <a:srgbClr val="0070C0"/>
                </a:solidFill>
              </a:rPr>
              <a:t>Allostatic</a:t>
            </a:r>
            <a:r>
              <a:rPr lang="en-US" sz="4000" b="1" dirty="0" smtClean="0">
                <a:solidFill>
                  <a:srgbClr val="0070C0"/>
                </a:solidFill>
              </a:rPr>
              <a:t> load measures in the English Longitudinal Study of Ageing (</a:t>
            </a:r>
            <a:r>
              <a:rPr lang="en-US" sz="4000" b="1" dirty="0" smtClean="0">
                <a:solidFill>
                  <a:srgbClr val="0070C0"/>
                </a:solidFill>
              </a:rPr>
              <a:t>ELSA)</a:t>
            </a:r>
            <a:endParaRPr lang="en-US" sz="1200" b="1" dirty="0" smtClean="0">
              <a:solidFill>
                <a:srgbClr val="0070C0"/>
              </a:solidFill>
            </a:endParaRPr>
          </a:p>
          <a:p>
            <a:pPr algn="ctr" eaLnBrk="1" hangingPunct="1">
              <a:buFont typeface="Arial" charset="0"/>
              <a:buNone/>
            </a:pPr>
            <a:r>
              <a:rPr lang="en-US" sz="2400" b="1" dirty="0" err="1" smtClean="0">
                <a:solidFill>
                  <a:srgbClr val="0070C0"/>
                </a:solidFill>
              </a:rPr>
              <a:t>Sanna</a:t>
            </a:r>
            <a:r>
              <a:rPr lang="en-US" sz="2400" b="1" dirty="0" smtClean="0">
                <a:solidFill>
                  <a:srgbClr val="0070C0"/>
                </a:solidFill>
              </a:rPr>
              <a:t> Read &amp; Emily Grundy</a:t>
            </a:r>
            <a:endParaRPr lang="en-US" sz="1700" dirty="0" smtClean="0">
              <a:solidFill>
                <a:srgbClr val="0070C0"/>
              </a:solidFill>
            </a:endParaRPr>
          </a:p>
          <a:p>
            <a:pPr eaLnBrk="1" hangingPunct="1">
              <a:buFont typeface="Arial" charset="0"/>
              <a:buNone/>
            </a:pPr>
            <a:endParaRPr lang="en-US" sz="1700" dirty="0" smtClean="0">
              <a:solidFill>
                <a:srgbClr val="0070C0"/>
              </a:solidFill>
            </a:endParaRPr>
          </a:p>
          <a:p>
            <a:pPr eaLnBrk="1" hangingPunct="1">
              <a:buFont typeface="Arial" charset="0"/>
              <a:buNone/>
            </a:pPr>
            <a:r>
              <a:rPr lang="en-US" sz="1700" dirty="0" smtClean="0">
                <a:solidFill>
                  <a:srgbClr val="0070C0"/>
                </a:solidFill>
              </a:rPr>
              <a:t>Website 	http://pathways.lshtm.ac.uk</a:t>
            </a:r>
          </a:p>
          <a:p>
            <a:pPr eaLnBrk="1" hangingPunct="1">
              <a:buFont typeface="Arial" charset="0"/>
              <a:buNone/>
            </a:pPr>
            <a:r>
              <a:rPr lang="en-US" sz="1700" dirty="0" smtClean="0">
                <a:solidFill>
                  <a:srgbClr val="0070C0"/>
                </a:solidFill>
              </a:rPr>
              <a:t>Email	pathways@lshtm.ac.uk</a:t>
            </a:r>
          </a:p>
          <a:p>
            <a:pPr eaLnBrk="1" hangingPunct="1">
              <a:buFont typeface="Arial" charset="0"/>
              <a:buNone/>
            </a:pPr>
            <a:r>
              <a:rPr lang="en-US" sz="1700" dirty="0" smtClean="0">
                <a:solidFill>
                  <a:srgbClr val="0070C0"/>
                </a:solidFill>
              </a:rPr>
              <a:t>Twitter	@</a:t>
            </a:r>
            <a:r>
              <a:rPr lang="en-US" sz="1700" dirty="0" err="1" smtClean="0">
                <a:solidFill>
                  <a:srgbClr val="0070C0"/>
                </a:solidFill>
              </a:rPr>
              <a:t>pathwaysNCRM</a:t>
            </a:r>
            <a:endParaRPr lang="en-US" sz="1700" dirty="0" smtClean="0">
              <a:solidFill>
                <a:srgbClr val="0070C0"/>
              </a:solidFill>
            </a:endParaRPr>
          </a:p>
        </p:txBody>
      </p:sp>
      <p:pic>
        <p:nvPicPr>
          <p:cNvPr id="2052" name="Picture 5" descr="NCRM Logo Vertical.jpg"/>
          <p:cNvPicPr>
            <a:picLocks noChangeAspect="1"/>
          </p:cNvPicPr>
          <p:nvPr/>
        </p:nvPicPr>
        <p:blipFill>
          <a:blip r:embed="rId2" cstate="print"/>
          <a:srcRect/>
          <a:stretch>
            <a:fillRect/>
          </a:stretch>
        </p:blipFill>
        <p:spPr bwMode="auto">
          <a:xfrm>
            <a:off x="5645150" y="5772150"/>
            <a:ext cx="1168400" cy="682625"/>
          </a:xfrm>
          <a:prstGeom prst="rect">
            <a:avLst/>
          </a:prstGeom>
          <a:noFill/>
          <a:ln w="9525">
            <a:noFill/>
            <a:miter lim="800000"/>
            <a:headEnd/>
            <a:tailEnd/>
          </a:ln>
        </p:spPr>
      </p:pic>
      <p:pic>
        <p:nvPicPr>
          <p:cNvPr id="2053" name="Picture 6" descr="Pathways Logo Blue FINAL.jpg"/>
          <p:cNvPicPr>
            <a:picLocks noChangeAspect="1"/>
          </p:cNvPicPr>
          <p:nvPr/>
        </p:nvPicPr>
        <p:blipFill>
          <a:blip r:embed="rId3" cstate="print"/>
          <a:srcRect/>
          <a:stretch>
            <a:fillRect/>
          </a:stretch>
        </p:blipFill>
        <p:spPr bwMode="auto">
          <a:xfrm>
            <a:off x="6467518" y="228600"/>
            <a:ext cx="2452646" cy="1143000"/>
          </a:xfrm>
          <a:prstGeom prst="rect">
            <a:avLst/>
          </a:prstGeom>
          <a:noFill/>
          <a:ln w="9525">
            <a:noFill/>
            <a:miter lim="800000"/>
            <a:headEnd/>
            <a:tailEnd/>
          </a:ln>
        </p:spPr>
      </p:pic>
      <p:pic>
        <p:nvPicPr>
          <p:cNvPr id="2054" name="Picture 3"/>
          <p:cNvPicPr>
            <a:picLocks noChangeAspect="1" noChangeArrowheads="1"/>
          </p:cNvPicPr>
          <p:nvPr/>
        </p:nvPicPr>
        <p:blipFill>
          <a:blip r:embed="rId4" cstate="print"/>
          <a:srcRect/>
          <a:stretch>
            <a:fillRect/>
          </a:stretch>
        </p:blipFill>
        <p:spPr bwMode="auto">
          <a:xfrm>
            <a:off x="0" y="6400800"/>
            <a:ext cx="4178300" cy="458788"/>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657225" y="274638"/>
            <a:ext cx="7115175" cy="868362"/>
          </a:xfrm>
        </p:spPr>
        <p:txBody>
          <a:bodyPr/>
          <a:lstStyle/>
          <a:p>
            <a:r>
              <a:rPr lang="en-GB" b="1" dirty="0" err="1" smtClean="0"/>
              <a:t>Allostatic</a:t>
            </a:r>
            <a:r>
              <a:rPr lang="en-GB" b="1" dirty="0" smtClean="0"/>
              <a:t> load</a:t>
            </a:r>
            <a:endParaRPr lang="en-US" b="1" dirty="0" smtClean="0"/>
          </a:p>
        </p:txBody>
      </p:sp>
      <p:sp>
        <p:nvSpPr>
          <p:cNvPr id="5123" name="Content Placeholder 2"/>
          <p:cNvSpPr>
            <a:spLocks noGrp="1"/>
          </p:cNvSpPr>
          <p:nvPr>
            <p:ph idx="1"/>
          </p:nvPr>
        </p:nvSpPr>
        <p:spPr>
          <a:xfrm>
            <a:off x="533400" y="1570037"/>
            <a:ext cx="8153400" cy="4983163"/>
          </a:xfrm>
        </p:spPr>
        <p:txBody>
          <a:bodyPr/>
          <a:lstStyle/>
          <a:p>
            <a:r>
              <a:rPr lang="nl-NL" sz="2800" dirty="0" smtClean="0"/>
              <a:t>a multisystem dysregulation state resulting from accumulated physiological  ‘wear and tear’ </a:t>
            </a:r>
          </a:p>
          <a:p>
            <a:r>
              <a:rPr lang="en-US" sz="2800" dirty="0" err="1" smtClean="0"/>
              <a:t>Allostasis</a:t>
            </a:r>
            <a:r>
              <a:rPr lang="en-US" sz="2800" dirty="0" smtClean="0"/>
              <a:t> = a process whereby organism maintains physiological stability by adapting itself to environmental demands</a:t>
            </a:r>
          </a:p>
          <a:p>
            <a:pPr>
              <a:buNone/>
            </a:pPr>
            <a:r>
              <a:rPr lang="en-US" sz="2800" dirty="0" smtClean="0"/>
              <a:t>    - &gt; health is a state of responsiveness and optimal predictive fluctuation to adapt to the demands of the environment -&gt; dynamic  biological process interacting with context</a:t>
            </a:r>
          </a:p>
          <a:p>
            <a:pPr>
              <a:buNone/>
            </a:pPr>
            <a:endParaRPr lang="en-US" sz="2800" dirty="0" smtClean="0"/>
          </a:p>
          <a:p>
            <a:endParaRPr lang="en-US" sz="2800" dirty="0"/>
          </a:p>
        </p:txBody>
      </p:sp>
      <p:pic>
        <p:nvPicPr>
          <p:cNvPr id="4" name="Picture 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 name="Rectangle 109"/>
          <p:cNvSpPr/>
          <p:nvPr/>
        </p:nvSpPr>
        <p:spPr>
          <a:xfrm>
            <a:off x="1600200" y="5105400"/>
            <a:ext cx="55626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285720" y="214290"/>
            <a:ext cx="8501090" cy="707886"/>
          </a:xfrm>
          <a:prstGeom prst="rect">
            <a:avLst/>
          </a:prstGeom>
          <a:noFill/>
        </p:spPr>
        <p:txBody>
          <a:bodyPr wrap="square" rtlCol="0">
            <a:spAutoFit/>
          </a:bodyPr>
          <a:lstStyle/>
          <a:p>
            <a:pPr marL="514350" indent="-514350" algn="ctr"/>
            <a:r>
              <a:rPr lang="en-GB" sz="4000" b="1" u="sng" dirty="0" err="1" smtClean="0"/>
              <a:t>Allostatic</a:t>
            </a:r>
            <a:r>
              <a:rPr lang="en-GB" sz="4000" b="1" u="sng" dirty="0" smtClean="0"/>
              <a:t> load</a:t>
            </a:r>
          </a:p>
        </p:txBody>
      </p:sp>
      <p:sp>
        <p:nvSpPr>
          <p:cNvPr id="33" name="TextBox 32"/>
          <p:cNvSpPr txBox="1"/>
          <p:nvPr/>
        </p:nvSpPr>
        <p:spPr>
          <a:xfrm>
            <a:off x="533400" y="1066800"/>
            <a:ext cx="7696200" cy="646331"/>
          </a:xfrm>
          <a:prstGeom prst="rect">
            <a:avLst/>
          </a:prstGeom>
          <a:noFill/>
        </p:spPr>
        <p:txBody>
          <a:bodyPr wrap="square" rtlCol="0">
            <a:spAutoFit/>
          </a:bodyPr>
          <a:lstStyle/>
          <a:p>
            <a:r>
              <a:rPr lang="en-GB" b="1" dirty="0" smtClean="0"/>
              <a:t>Environmental stressors 		Major life events 		Trauma, </a:t>
            </a:r>
          </a:p>
          <a:p>
            <a:r>
              <a:rPr lang="en-GB" dirty="0" smtClean="0"/>
              <a:t>(work, home, neighbourhood) 				</a:t>
            </a:r>
            <a:r>
              <a:rPr lang="en-GB" b="1" dirty="0" smtClean="0"/>
              <a:t> abuse </a:t>
            </a:r>
          </a:p>
        </p:txBody>
      </p:sp>
      <p:sp>
        <p:nvSpPr>
          <p:cNvPr id="35" name="TextBox 34"/>
          <p:cNvSpPr txBox="1"/>
          <p:nvPr/>
        </p:nvSpPr>
        <p:spPr>
          <a:xfrm>
            <a:off x="3505200" y="1828800"/>
            <a:ext cx="1905000" cy="369332"/>
          </a:xfrm>
          <a:prstGeom prst="rect">
            <a:avLst/>
          </a:prstGeom>
          <a:noFill/>
        </p:spPr>
        <p:txBody>
          <a:bodyPr wrap="square" rtlCol="0">
            <a:spAutoFit/>
          </a:bodyPr>
          <a:lstStyle/>
          <a:p>
            <a:r>
              <a:rPr lang="en-GB" b="1" dirty="0" smtClean="0"/>
              <a:t>Perceived stress</a:t>
            </a:r>
          </a:p>
        </p:txBody>
      </p:sp>
      <p:sp>
        <p:nvSpPr>
          <p:cNvPr id="36" name="TextBox 35"/>
          <p:cNvSpPr txBox="1"/>
          <p:nvPr/>
        </p:nvSpPr>
        <p:spPr>
          <a:xfrm>
            <a:off x="6553200" y="2514600"/>
            <a:ext cx="2286000" cy="1754326"/>
          </a:xfrm>
          <a:prstGeom prst="rect">
            <a:avLst/>
          </a:prstGeom>
          <a:noFill/>
        </p:spPr>
        <p:txBody>
          <a:bodyPr wrap="square" rtlCol="0">
            <a:spAutoFit/>
          </a:bodyPr>
          <a:lstStyle/>
          <a:p>
            <a:r>
              <a:rPr lang="en-GB" b="1" dirty="0" smtClean="0"/>
              <a:t>Behavioural responses </a:t>
            </a:r>
          </a:p>
          <a:p>
            <a:r>
              <a:rPr lang="en-GB" dirty="0" smtClean="0"/>
              <a:t>(fight or flight, health-related behaviour – smoking, alcohol use, diet, exercise) </a:t>
            </a:r>
            <a:endParaRPr lang="en-GB" dirty="0"/>
          </a:p>
        </p:txBody>
      </p:sp>
      <p:sp>
        <p:nvSpPr>
          <p:cNvPr id="37" name="TextBox 36"/>
          <p:cNvSpPr txBox="1"/>
          <p:nvPr/>
        </p:nvSpPr>
        <p:spPr>
          <a:xfrm>
            <a:off x="609600" y="2514600"/>
            <a:ext cx="1676400" cy="1477328"/>
          </a:xfrm>
          <a:prstGeom prst="rect">
            <a:avLst/>
          </a:prstGeom>
          <a:noFill/>
        </p:spPr>
        <p:txBody>
          <a:bodyPr wrap="square" rtlCol="0">
            <a:spAutoFit/>
          </a:bodyPr>
          <a:lstStyle/>
          <a:p>
            <a:r>
              <a:rPr lang="en-GB" b="1" dirty="0" smtClean="0"/>
              <a:t>Individual differences</a:t>
            </a:r>
          </a:p>
          <a:p>
            <a:r>
              <a:rPr lang="en-GB" dirty="0" smtClean="0"/>
              <a:t>(genes, development, experience)</a:t>
            </a:r>
            <a:endParaRPr lang="en-GB" dirty="0"/>
          </a:p>
        </p:txBody>
      </p:sp>
      <p:sp>
        <p:nvSpPr>
          <p:cNvPr id="38" name="TextBox 37"/>
          <p:cNvSpPr txBox="1"/>
          <p:nvPr/>
        </p:nvSpPr>
        <p:spPr>
          <a:xfrm>
            <a:off x="3124200" y="2286000"/>
            <a:ext cx="3276600" cy="369332"/>
          </a:xfrm>
          <a:prstGeom prst="rect">
            <a:avLst/>
          </a:prstGeom>
          <a:noFill/>
        </p:spPr>
        <p:txBody>
          <a:bodyPr wrap="square" rtlCol="0">
            <a:spAutoFit/>
          </a:bodyPr>
          <a:lstStyle/>
          <a:p>
            <a:r>
              <a:rPr lang="en-GB" b="1" dirty="0" smtClean="0"/>
              <a:t>Brain’s evaluation of threat</a:t>
            </a:r>
            <a:endParaRPr lang="en-GB" dirty="0" smtClean="0"/>
          </a:p>
        </p:txBody>
      </p:sp>
      <p:sp>
        <p:nvSpPr>
          <p:cNvPr id="39" name="TextBox 38"/>
          <p:cNvSpPr txBox="1"/>
          <p:nvPr/>
        </p:nvSpPr>
        <p:spPr>
          <a:xfrm>
            <a:off x="3276600" y="4495800"/>
            <a:ext cx="2438400" cy="369332"/>
          </a:xfrm>
          <a:prstGeom prst="rect">
            <a:avLst/>
          </a:prstGeom>
          <a:noFill/>
        </p:spPr>
        <p:txBody>
          <a:bodyPr wrap="square" rtlCol="0">
            <a:spAutoFit/>
          </a:bodyPr>
          <a:lstStyle/>
          <a:p>
            <a:r>
              <a:rPr lang="en-GB" dirty="0" smtClean="0"/>
              <a:t>Physiological responses</a:t>
            </a:r>
            <a:endParaRPr lang="en-GB" dirty="0"/>
          </a:p>
        </p:txBody>
      </p:sp>
      <p:sp>
        <p:nvSpPr>
          <p:cNvPr id="40" name="TextBox 39"/>
          <p:cNvSpPr txBox="1"/>
          <p:nvPr/>
        </p:nvSpPr>
        <p:spPr>
          <a:xfrm>
            <a:off x="3810000" y="5638800"/>
            <a:ext cx="2286000" cy="369332"/>
          </a:xfrm>
          <a:prstGeom prst="rect">
            <a:avLst/>
          </a:prstGeom>
          <a:noFill/>
        </p:spPr>
        <p:txBody>
          <a:bodyPr wrap="square" rtlCol="0">
            <a:spAutoFit/>
          </a:bodyPr>
          <a:lstStyle/>
          <a:p>
            <a:r>
              <a:rPr lang="en-GB" dirty="0" err="1" smtClean="0"/>
              <a:t>Allostatic</a:t>
            </a:r>
            <a:r>
              <a:rPr lang="en-GB" dirty="0" smtClean="0"/>
              <a:t> load</a:t>
            </a:r>
            <a:endParaRPr lang="en-GB" dirty="0"/>
          </a:p>
        </p:txBody>
      </p:sp>
      <p:cxnSp>
        <p:nvCxnSpPr>
          <p:cNvPr id="44" name="Shape 43"/>
          <p:cNvCxnSpPr>
            <a:stCxn id="37" idx="0"/>
            <a:endCxn id="35" idx="1"/>
          </p:cNvCxnSpPr>
          <p:nvPr/>
        </p:nvCxnSpPr>
        <p:spPr>
          <a:xfrm rot="5400000" flipH="1" flipV="1">
            <a:off x="2225933" y="1235333"/>
            <a:ext cx="501134" cy="2057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hape 48"/>
          <p:cNvCxnSpPr>
            <a:stCxn id="35" idx="3"/>
            <a:endCxn id="36" idx="0"/>
          </p:cNvCxnSpPr>
          <p:nvPr/>
        </p:nvCxnSpPr>
        <p:spPr>
          <a:xfrm>
            <a:off x="5410200" y="2013466"/>
            <a:ext cx="2286000" cy="50113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Shape 78"/>
          <p:cNvCxnSpPr>
            <a:stCxn id="37" idx="2"/>
            <a:endCxn id="39" idx="1"/>
          </p:cNvCxnSpPr>
          <p:nvPr/>
        </p:nvCxnSpPr>
        <p:spPr>
          <a:xfrm rot="16200000" flipH="1">
            <a:off x="2017931" y="3421797"/>
            <a:ext cx="688538" cy="18288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Curved Connector 80"/>
          <p:cNvCxnSpPr>
            <a:stCxn id="36" idx="2"/>
            <a:endCxn id="39" idx="3"/>
          </p:cNvCxnSpPr>
          <p:nvPr/>
        </p:nvCxnSpPr>
        <p:spPr>
          <a:xfrm rot="5400000">
            <a:off x="6499830" y="3484096"/>
            <a:ext cx="411540" cy="19812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4114800" y="6324600"/>
            <a:ext cx="2286000" cy="369332"/>
          </a:xfrm>
          <a:prstGeom prst="rect">
            <a:avLst/>
          </a:prstGeom>
          <a:noFill/>
        </p:spPr>
        <p:txBody>
          <a:bodyPr wrap="square" rtlCol="0">
            <a:spAutoFit/>
          </a:bodyPr>
          <a:lstStyle/>
          <a:p>
            <a:r>
              <a:rPr lang="en-GB" dirty="0" smtClean="0"/>
              <a:t>Disease </a:t>
            </a:r>
            <a:endParaRPr lang="en-GB" dirty="0"/>
          </a:p>
        </p:txBody>
      </p:sp>
      <p:cxnSp>
        <p:nvCxnSpPr>
          <p:cNvPr id="87" name="Straight Arrow Connector 86"/>
          <p:cNvCxnSpPr>
            <a:stCxn id="39" idx="2"/>
          </p:cNvCxnSpPr>
          <p:nvPr/>
        </p:nvCxnSpPr>
        <p:spPr>
          <a:xfrm>
            <a:off x="4495800" y="4865132"/>
            <a:ext cx="0" cy="8498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2209800" y="5181600"/>
            <a:ext cx="2286000" cy="369332"/>
          </a:xfrm>
          <a:prstGeom prst="rect">
            <a:avLst/>
          </a:prstGeom>
          <a:noFill/>
        </p:spPr>
        <p:txBody>
          <a:bodyPr wrap="square" rtlCol="0">
            <a:spAutoFit/>
          </a:bodyPr>
          <a:lstStyle/>
          <a:p>
            <a:r>
              <a:rPr lang="en-GB" dirty="0" err="1" smtClean="0"/>
              <a:t>Allostasis</a:t>
            </a:r>
            <a:endParaRPr lang="en-GB" dirty="0"/>
          </a:p>
        </p:txBody>
      </p:sp>
      <p:sp>
        <p:nvSpPr>
          <p:cNvPr id="95" name="TextBox 94"/>
          <p:cNvSpPr txBox="1"/>
          <p:nvPr/>
        </p:nvSpPr>
        <p:spPr>
          <a:xfrm>
            <a:off x="5562600" y="5181600"/>
            <a:ext cx="1524000" cy="369332"/>
          </a:xfrm>
          <a:prstGeom prst="rect">
            <a:avLst/>
          </a:prstGeom>
          <a:noFill/>
        </p:spPr>
        <p:txBody>
          <a:bodyPr wrap="square" rtlCol="0">
            <a:spAutoFit/>
          </a:bodyPr>
          <a:lstStyle/>
          <a:p>
            <a:r>
              <a:rPr lang="en-GB" dirty="0" smtClean="0"/>
              <a:t>Adaptation</a:t>
            </a:r>
            <a:endParaRPr lang="en-GB" dirty="0"/>
          </a:p>
        </p:txBody>
      </p:sp>
      <p:cxnSp>
        <p:nvCxnSpPr>
          <p:cNvPr id="97" name="Straight Arrow Connector 96"/>
          <p:cNvCxnSpPr/>
          <p:nvPr/>
        </p:nvCxnSpPr>
        <p:spPr>
          <a:xfrm>
            <a:off x="3429000" y="5334000"/>
            <a:ext cx="2057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4495800" y="60198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1905000" y="1676400"/>
            <a:ext cx="12192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4800600" y="13716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flipH="1">
            <a:off x="5715000" y="1600200"/>
            <a:ext cx="11430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495800" y="40386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52400" y="6324600"/>
            <a:ext cx="3200400" cy="276999"/>
          </a:xfrm>
          <a:prstGeom prst="rect">
            <a:avLst/>
          </a:prstGeom>
          <a:noFill/>
        </p:spPr>
        <p:txBody>
          <a:bodyPr wrap="square" rtlCol="0">
            <a:spAutoFit/>
          </a:bodyPr>
          <a:lstStyle/>
          <a:p>
            <a:r>
              <a:rPr lang="en-GB" sz="1200" dirty="0" smtClean="0"/>
              <a:t>Adapted from McEwen, 1998</a:t>
            </a:r>
            <a:endParaRPr lang="en-GB" sz="1200" dirty="0"/>
          </a:p>
        </p:txBody>
      </p:sp>
      <p:pic>
        <p:nvPicPr>
          <p:cNvPr id="26" name="Picture 25"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1"/>
          <p:cNvSpPr txBox="1"/>
          <p:nvPr/>
        </p:nvSpPr>
        <p:spPr>
          <a:xfrm>
            <a:off x="990600" y="1600200"/>
            <a:ext cx="7162800" cy="5078313"/>
          </a:xfrm>
          <a:prstGeom prst="rect">
            <a:avLst/>
          </a:prstGeom>
          <a:noFill/>
        </p:spPr>
        <p:txBody>
          <a:bodyPr wrap="square" rtlCol="0">
            <a:spAutoFit/>
          </a:bodyPr>
          <a:lstStyle/>
          <a:p>
            <a:r>
              <a:rPr lang="en-GB" dirty="0" smtClean="0"/>
              <a:t>Multiple mediators of adaptation:</a:t>
            </a:r>
          </a:p>
          <a:p>
            <a:endParaRPr lang="en-GB" dirty="0" smtClean="0"/>
          </a:p>
          <a:p>
            <a:pPr marL="342900" indent="-342900">
              <a:buAutoNum type="arabicParenR"/>
            </a:pPr>
            <a:r>
              <a:rPr lang="en-GB" dirty="0" smtClean="0"/>
              <a:t>Primary effects: stress hormones (e.g. epinephrine, </a:t>
            </a:r>
            <a:r>
              <a:rPr lang="en-GB" dirty="0" err="1" smtClean="0"/>
              <a:t>norepinephrine</a:t>
            </a:r>
            <a:r>
              <a:rPr lang="en-GB" dirty="0" smtClean="0"/>
              <a:t> and </a:t>
            </a:r>
            <a:r>
              <a:rPr lang="en-GB" dirty="0" err="1" smtClean="0"/>
              <a:t>cortisol</a:t>
            </a:r>
            <a:r>
              <a:rPr lang="en-GB" dirty="0" smtClean="0"/>
              <a:t>), anti-inflammatory  cytokines (e.g. Interleukin-6)</a:t>
            </a:r>
          </a:p>
          <a:p>
            <a:pPr marL="342900" indent="-342900">
              <a:buAutoNum type="arabicParenR"/>
            </a:pPr>
            <a:endParaRPr lang="en-GB" dirty="0" smtClean="0"/>
          </a:p>
          <a:p>
            <a:pPr marL="342900" indent="-342900">
              <a:buAutoNum type="arabicParenR"/>
            </a:pPr>
            <a:r>
              <a:rPr lang="en-GB" dirty="0" smtClean="0"/>
              <a:t>Secondary outcomes: metabolic (e.g. insulin, glucose, total cholesterol, triglycerides, visceral fat depositing), cardiovascular (e.g. systolic and diastolic blood pressure) and immune system (e.g. C-reactive protein, fibrinogen). </a:t>
            </a:r>
          </a:p>
          <a:p>
            <a:pPr marL="342900" indent="-342900">
              <a:buAutoNum type="arabicParenR"/>
            </a:pPr>
            <a:endParaRPr lang="en-GB" dirty="0" smtClean="0"/>
          </a:p>
          <a:p>
            <a:pPr marL="342900" indent="-342900">
              <a:buAutoNum type="arabicParenR"/>
            </a:pPr>
            <a:r>
              <a:rPr lang="en-GB" dirty="0" smtClean="0"/>
              <a:t>Tertiary outcomes:  poor health, disease, death</a:t>
            </a:r>
          </a:p>
          <a:p>
            <a:endParaRPr lang="en-GB" dirty="0" smtClean="0"/>
          </a:p>
          <a:p>
            <a:r>
              <a:rPr lang="en-GB" dirty="0" smtClean="0"/>
              <a:t>Mediators interconnected and reciprocal, non-linear effects on many organ systems in body - &gt; should be measured as multisystem concept, challenging to develop measures </a:t>
            </a:r>
          </a:p>
          <a:p>
            <a:r>
              <a:rPr lang="en-GB" dirty="0" err="1" smtClean="0"/>
              <a:t>Allostatic</a:t>
            </a:r>
            <a:r>
              <a:rPr lang="en-GB" dirty="0" smtClean="0"/>
              <a:t> load accumulates  throughout the life -&gt; study processes in longitudinal settings</a:t>
            </a:r>
          </a:p>
          <a:p>
            <a:endParaRPr lang="en-GB" dirty="0"/>
          </a:p>
        </p:txBody>
      </p:sp>
      <p:sp>
        <p:nvSpPr>
          <p:cNvPr id="7" name="Rectangle 6"/>
          <p:cNvSpPr/>
          <p:nvPr/>
        </p:nvSpPr>
        <p:spPr>
          <a:xfrm>
            <a:off x="1600200" y="914400"/>
            <a:ext cx="55626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2133600" y="990600"/>
            <a:ext cx="2286000" cy="369332"/>
          </a:xfrm>
          <a:prstGeom prst="rect">
            <a:avLst/>
          </a:prstGeom>
          <a:noFill/>
        </p:spPr>
        <p:txBody>
          <a:bodyPr wrap="square" rtlCol="0">
            <a:spAutoFit/>
          </a:bodyPr>
          <a:lstStyle/>
          <a:p>
            <a:r>
              <a:rPr lang="en-GB" dirty="0" err="1" smtClean="0"/>
              <a:t>Allostasis</a:t>
            </a:r>
            <a:endParaRPr lang="en-GB" dirty="0"/>
          </a:p>
        </p:txBody>
      </p:sp>
      <p:sp>
        <p:nvSpPr>
          <p:cNvPr id="13" name="TextBox 12"/>
          <p:cNvSpPr txBox="1"/>
          <p:nvPr/>
        </p:nvSpPr>
        <p:spPr>
          <a:xfrm>
            <a:off x="5486400" y="990600"/>
            <a:ext cx="1524000" cy="369332"/>
          </a:xfrm>
          <a:prstGeom prst="rect">
            <a:avLst/>
          </a:prstGeom>
          <a:noFill/>
        </p:spPr>
        <p:txBody>
          <a:bodyPr wrap="square" rtlCol="0">
            <a:spAutoFit/>
          </a:bodyPr>
          <a:lstStyle/>
          <a:p>
            <a:r>
              <a:rPr lang="en-GB" dirty="0" smtClean="0"/>
              <a:t>Adaptation</a:t>
            </a:r>
            <a:endParaRPr lang="en-GB" dirty="0"/>
          </a:p>
        </p:txBody>
      </p:sp>
      <p:cxnSp>
        <p:nvCxnSpPr>
          <p:cNvPr id="14" name="Straight Arrow Connector 13"/>
          <p:cNvCxnSpPr/>
          <p:nvPr/>
        </p:nvCxnSpPr>
        <p:spPr>
          <a:xfrm>
            <a:off x="3352800" y="1143000"/>
            <a:ext cx="2057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 name="Picture 7"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7115175" cy="792162"/>
          </a:xfrm>
        </p:spPr>
        <p:txBody>
          <a:bodyPr>
            <a:normAutofit fontScale="90000"/>
          </a:bodyPr>
          <a:lstStyle/>
          <a:p>
            <a:r>
              <a:rPr lang="en-GB" b="1" dirty="0" smtClean="0"/>
              <a:t>Measures of </a:t>
            </a:r>
            <a:r>
              <a:rPr lang="en-GB" b="1" dirty="0" err="1" smtClean="0"/>
              <a:t>allostatic</a:t>
            </a:r>
            <a:r>
              <a:rPr lang="en-GB" b="1" dirty="0" smtClean="0"/>
              <a:t> load</a:t>
            </a:r>
            <a:endParaRPr lang="en-GB" b="1" dirty="0"/>
          </a:p>
        </p:txBody>
      </p:sp>
      <p:graphicFrame>
        <p:nvGraphicFramePr>
          <p:cNvPr id="6" name="Table 5"/>
          <p:cNvGraphicFramePr>
            <a:graphicFrameLocks noGrp="1"/>
          </p:cNvGraphicFramePr>
          <p:nvPr/>
        </p:nvGraphicFramePr>
        <p:xfrm>
          <a:off x="762000" y="1518920"/>
          <a:ext cx="7772400" cy="3662680"/>
        </p:xfrm>
        <a:graphic>
          <a:graphicData uri="http://schemas.openxmlformats.org/drawingml/2006/table">
            <a:tbl>
              <a:tblPr firstRow="1" bandRow="1">
                <a:tableStyleId>{5C22544A-7EE6-4342-B048-85BDC9FD1C3A}</a:tableStyleId>
              </a:tblPr>
              <a:tblGrid>
                <a:gridCol w="2895599"/>
                <a:gridCol w="4876801"/>
              </a:tblGrid>
              <a:tr h="370840">
                <a:tc>
                  <a:txBody>
                    <a:bodyPr/>
                    <a:lstStyle/>
                    <a:p>
                      <a:r>
                        <a:rPr lang="en-GB" dirty="0" smtClean="0"/>
                        <a:t>Measure</a:t>
                      </a:r>
                      <a:endParaRPr lang="en-GB" dirty="0"/>
                    </a:p>
                  </a:txBody>
                  <a:tcPr/>
                </a:tc>
                <a:tc>
                  <a:txBody>
                    <a:bodyPr/>
                    <a:lstStyle/>
                    <a:p>
                      <a:r>
                        <a:rPr lang="en-GB" dirty="0" smtClean="0"/>
                        <a:t>Description</a:t>
                      </a:r>
                      <a:endParaRPr lang="en-GB" dirty="0"/>
                    </a:p>
                  </a:txBody>
                  <a:tcPr/>
                </a:tc>
              </a:tr>
              <a:tr h="370840">
                <a:tc>
                  <a:txBody>
                    <a:bodyPr/>
                    <a:lstStyle/>
                    <a:p>
                      <a:r>
                        <a:rPr lang="en-GB" sz="1800" dirty="0" smtClean="0"/>
                        <a:t>Group </a:t>
                      </a:r>
                      <a:r>
                        <a:rPr lang="en-GB" sz="1800" dirty="0" err="1" smtClean="0"/>
                        <a:t>allostatic</a:t>
                      </a:r>
                      <a:r>
                        <a:rPr lang="en-GB" sz="1800" dirty="0" smtClean="0"/>
                        <a:t> load index</a:t>
                      </a:r>
                      <a:endParaRPr lang="en-GB" dirty="0"/>
                    </a:p>
                  </a:txBody>
                  <a:tcPr/>
                </a:tc>
                <a:tc>
                  <a:txBody>
                    <a:bodyPr/>
                    <a:lstStyle/>
                    <a:p>
                      <a:r>
                        <a:rPr lang="en-GB" sz="1800" dirty="0" smtClean="0"/>
                        <a:t>the number of biomarkers falling within a high risk percentile (e.g. upper or lower 25</a:t>
                      </a:r>
                      <a:r>
                        <a:rPr lang="en-GB" sz="1800" baseline="30000" dirty="0" smtClean="0"/>
                        <a:t>th</a:t>
                      </a:r>
                      <a:r>
                        <a:rPr lang="en-GB" sz="1800" dirty="0" smtClean="0"/>
                        <a:t> percentile) based on the sample distribution of biomarkers values</a:t>
                      </a:r>
                      <a:endParaRPr lang="en-GB" dirty="0"/>
                    </a:p>
                  </a:txBody>
                  <a:tcPr/>
                </a:tc>
              </a:tr>
              <a:tr h="370840">
                <a:tc>
                  <a:txBody>
                    <a:bodyPr/>
                    <a:lstStyle/>
                    <a:p>
                      <a:r>
                        <a:rPr lang="en-GB" dirty="0" smtClean="0"/>
                        <a:t>Z-score </a:t>
                      </a:r>
                      <a:r>
                        <a:rPr lang="en-GB" dirty="0" err="1" smtClean="0"/>
                        <a:t>allostatic</a:t>
                      </a:r>
                      <a:r>
                        <a:rPr lang="en-GB" dirty="0" smtClean="0"/>
                        <a:t> load index</a:t>
                      </a:r>
                      <a:endParaRPr lang="en-GB" dirty="0"/>
                    </a:p>
                  </a:txBody>
                  <a:tcPr/>
                </a:tc>
                <a:tc>
                  <a:txBody>
                    <a:bodyPr/>
                    <a:lstStyle/>
                    <a:p>
                      <a:r>
                        <a:rPr lang="en-GB" dirty="0" smtClean="0"/>
                        <a:t>Summary</a:t>
                      </a:r>
                      <a:r>
                        <a:rPr lang="en-GB" baseline="0" dirty="0" smtClean="0"/>
                        <a:t> measure of individual’s obtained z-scores for each biomarker based on the sample distribution of biomarker values. </a:t>
                      </a:r>
                      <a:endParaRPr lang="en-GB" dirty="0"/>
                    </a:p>
                  </a:txBody>
                  <a:tcPr/>
                </a:tc>
              </a:tr>
              <a:tr h="370840">
                <a:tc>
                  <a:txBody>
                    <a:bodyPr/>
                    <a:lstStyle/>
                    <a:p>
                      <a:r>
                        <a:rPr lang="en-GB" dirty="0" smtClean="0"/>
                        <a:t>Change score</a:t>
                      </a:r>
                      <a:endParaRPr lang="en-GB" dirty="0"/>
                    </a:p>
                  </a:txBody>
                  <a:tcPr/>
                </a:tc>
                <a:tc>
                  <a:txBody>
                    <a:bodyPr/>
                    <a:lstStyle/>
                    <a:p>
                      <a:r>
                        <a:rPr lang="en-GB" dirty="0" smtClean="0"/>
                        <a:t>Measure change between two or more measurement occasions. This can be a simple difference score or dynamic measure of variability over time.</a:t>
                      </a:r>
                      <a:endParaRPr lang="en-GB" dirty="0"/>
                    </a:p>
                  </a:txBody>
                  <a:tcPr/>
                </a:tc>
              </a:tr>
            </a:tbl>
          </a:graphicData>
        </a:graphic>
      </p:graphicFrame>
      <p:sp>
        <p:nvSpPr>
          <p:cNvPr id="8" name="TextBox 7"/>
          <p:cNvSpPr txBox="1"/>
          <p:nvPr/>
        </p:nvSpPr>
        <p:spPr>
          <a:xfrm>
            <a:off x="990600" y="5325070"/>
            <a:ext cx="7772400" cy="923330"/>
          </a:xfrm>
          <a:prstGeom prst="rect">
            <a:avLst/>
          </a:prstGeom>
          <a:noFill/>
        </p:spPr>
        <p:txBody>
          <a:bodyPr wrap="square" rtlCol="0">
            <a:spAutoFit/>
          </a:bodyPr>
          <a:lstStyle/>
          <a:p>
            <a:r>
              <a:rPr lang="en-GB" dirty="0" smtClean="0"/>
              <a:t>A number of other methods also used for calculating composite measures: bootstrapping, canonical correlations, recursive partitioning, grade of membership, </a:t>
            </a:r>
            <a:r>
              <a:rPr lang="en-GB" i="1" dirty="0" smtClean="0"/>
              <a:t>k</a:t>
            </a:r>
            <a:r>
              <a:rPr lang="en-GB" dirty="0" smtClean="0"/>
              <a:t>-means cluster analysis, genetic programming.</a:t>
            </a:r>
            <a:endParaRPr lang="en-GB" dirty="0"/>
          </a:p>
        </p:txBody>
      </p:sp>
      <p:pic>
        <p:nvPicPr>
          <p:cNvPr id="5" name="Picture 4"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152400" y="228600"/>
            <a:ext cx="8501090" cy="1323439"/>
          </a:xfrm>
          <a:prstGeom prst="rect">
            <a:avLst/>
          </a:prstGeom>
          <a:noFill/>
        </p:spPr>
        <p:txBody>
          <a:bodyPr wrap="square" rtlCol="0">
            <a:spAutoFit/>
          </a:bodyPr>
          <a:lstStyle/>
          <a:p>
            <a:pPr marL="514350" indent="-514350" algn="ctr"/>
            <a:r>
              <a:rPr lang="en-GB" sz="4000" b="1" u="sng" dirty="0" smtClean="0"/>
              <a:t>Examples of biomarkers used </a:t>
            </a:r>
          </a:p>
          <a:p>
            <a:pPr marL="514350" indent="-514350" algn="ctr"/>
            <a:r>
              <a:rPr lang="en-GB" sz="4000" b="1" u="sng" dirty="0" smtClean="0"/>
              <a:t>in measuring </a:t>
            </a:r>
            <a:r>
              <a:rPr lang="en-GB" sz="4000" b="1" u="sng" dirty="0" err="1" smtClean="0"/>
              <a:t>allostatic</a:t>
            </a:r>
            <a:r>
              <a:rPr lang="en-GB" sz="4000" b="1" u="sng" dirty="0" smtClean="0"/>
              <a:t> load </a:t>
            </a:r>
          </a:p>
        </p:txBody>
      </p:sp>
      <p:graphicFrame>
        <p:nvGraphicFramePr>
          <p:cNvPr id="5" name="Table 4"/>
          <p:cNvGraphicFramePr>
            <a:graphicFrameLocks noGrp="1"/>
          </p:cNvGraphicFramePr>
          <p:nvPr/>
        </p:nvGraphicFramePr>
        <p:xfrm>
          <a:off x="990600" y="1752600"/>
          <a:ext cx="7772400" cy="4124960"/>
        </p:xfrm>
        <a:graphic>
          <a:graphicData uri="http://schemas.openxmlformats.org/drawingml/2006/table">
            <a:tbl>
              <a:tblPr firstRow="1" bandRow="1">
                <a:tableStyleId>{5C22544A-7EE6-4342-B048-85BDC9FD1C3A}</a:tableStyleId>
              </a:tblPr>
              <a:tblGrid>
                <a:gridCol w="2895599"/>
                <a:gridCol w="4876801"/>
              </a:tblGrid>
              <a:tr h="370840">
                <a:tc>
                  <a:txBody>
                    <a:bodyPr/>
                    <a:lstStyle/>
                    <a:p>
                      <a:r>
                        <a:rPr lang="en-GB" dirty="0" smtClean="0"/>
                        <a:t>Type</a:t>
                      </a:r>
                      <a:endParaRPr lang="en-GB" dirty="0"/>
                    </a:p>
                  </a:txBody>
                  <a:tcPr/>
                </a:tc>
                <a:tc>
                  <a:txBody>
                    <a:bodyPr/>
                    <a:lstStyle/>
                    <a:p>
                      <a:r>
                        <a:rPr lang="en-GB" dirty="0" smtClean="0"/>
                        <a:t>Biomarker</a:t>
                      </a:r>
                      <a:endParaRPr lang="en-GB" dirty="0"/>
                    </a:p>
                  </a:txBody>
                  <a:tcPr/>
                </a:tc>
              </a:tr>
              <a:tr h="370840">
                <a:tc>
                  <a:txBody>
                    <a:bodyPr/>
                    <a:lstStyle/>
                    <a:p>
                      <a:r>
                        <a:rPr lang="en-GB" sz="1800" dirty="0" err="1" smtClean="0"/>
                        <a:t>Neuroendocrine</a:t>
                      </a:r>
                      <a:endParaRPr lang="en-GB" dirty="0"/>
                    </a:p>
                  </a:txBody>
                  <a:tcPr/>
                </a:tc>
                <a:tc>
                  <a:txBody>
                    <a:bodyPr/>
                    <a:lstStyle/>
                    <a:p>
                      <a:r>
                        <a:rPr lang="en-GB" sz="1800" dirty="0" err="1" smtClean="0"/>
                        <a:t>Epinepherine</a:t>
                      </a:r>
                      <a:r>
                        <a:rPr lang="en-GB" sz="1800" dirty="0" smtClean="0"/>
                        <a:t>, </a:t>
                      </a:r>
                      <a:r>
                        <a:rPr lang="en-GB" sz="1800" dirty="0" err="1" smtClean="0"/>
                        <a:t>norepinephrerine</a:t>
                      </a:r>
                      <a:r>
                        <a:rPr lang="en-GB" sz="1800" dirty="0" smtClean="0"/>
                        <a:t>, </a:t>
                      </a:r>
                      <a:r>
                        <a:rPr lang="en-GB" sz="1800" baseline="0" dirty="0" smtClean="0"/>
                        <a:t> dopamine, </a:t>
                      </a:r>
                      <a:r>
                        <a:rPr lang="en-GB" sz="1800" baseline="0" dirty="0" err="1" smtClean="0"/>
                        <a:t>c</a:t>
                      </a:r>
                      <a:r>
                        <a:rPr lang="en-GB" sz="1800" dirty="0" err="1" smtClean="0"/>
                        <a:t>ortisol</a:t>
                      </a:r>
                      <a:r>
                        <a:rPr lang="en-GB" sz="1800" dirty="0" smtClean="0"/>
                        <a:t>, </a:t>
                      </a:r>
                      <a:r>
                        <a:rPr lang="en-GB" sz="1800" dirty="0" err="1" smtClean="0"/>
                        <a:t>dehydroepiandrosterone</a:t>
                      </a:r>
                      <a:r>
                        <a:rPr lang="en-GB" sz="1800" dirty="0" smtClean="0"/>
                        <a:t> (DHEAS), </a:t>
                      </a:r>
                      <a:r>
                        <a:rPr lang="en-GB" sz="1800" baseline="0" dirty="0" err="1" smtClean="0"/>
                        <a:t>aldosterone</a:t>
                      </a:r>
                      <a:endParaRPr lang="en-GB" dirty="0"/>
                    </a:p>
                  </a:txBody>
                  <a:tcPr/>
                </a:tc>
              </a:tr>
              <a:tr h="370840">
                <a:tc>
                  <a:txBody>
                    <a:bodyPr/>
                    <a:lstStyle/>
                    <a:p>
                      <a:r>
                        <a:rPr lang="en-GB" dirty="0" smtClean="0"/>
                        <a:t>Immune</a:t>
                      </a:r>
                      <a:endParaRPr lang="en-GB" dirty="0"/>
                    </a:p>
                  </a:txBody>
                  <a:tcPr/>
                </a:tc>
                <a:tc>
                  <a:txBody>
                    <a:bodyPr/>
                    <a:lstStyle/>
                    <a:p>
                      <a:r>
                        <a:rPr lang="en-GB" baseline="0" dirty="0" smtClean="0"/>
                        <a:t>Interleukin-6, </a:t>
                      </a:r>
                      <a:r>
                        <a:rPr lang="en-GB" baseline="0" dirty="0" err="1" smtClean="0"/>
                        <a:t>tumor</a:t>
                      </a:r>
                      <a:r>
                        <a:rPr lang="en-GB" baseline="0" dirty="0" smtClean="0"/>
                        <a:t> necrosis factor-alpha, c-reactive protein (CRP), insulin-like growth factor-1 (IGF-1)</a:t>
                      </a:r>
                      <a:endParaRPr lang="en-GB" dirty="0"/>
                    </a:p>
                  </a:txBody>
                  <a:tcPr/>
                </a:tc>
              </a:tr>
              <a:tr h="370840">
                <a:tc>
                  <a:txBody>
                    <a:bodyPr/>
                    <a:lstStyle/>
                    <a:p>
                      <a:r>
                        <a:rPr lang="en-GB" dirty="0" smtClean="0"/>
                        <a:t>Metabolic</a:t>
                      </a:r>
                    </a:p>
                    <a:p>
                      <a:endParaRPr lang="en-GB" dirty="0"/>
                    </a:p>
                  </a:txBody>
                  <a:tcPr/>
                </a:tc>
                <a:tc>
                  <a:txBody>
                    <a:bodyPr/>
                    <a:lstStyle/>
                    <a:p>
                      <a:r>
                        <a:rPr lang="en-GB" dirty="0" smtClean="0"/>
                        <a:t>HDL</a:t>
                      </a:r>
                      <a:r>
                        <a:rPr lang="en-GB" baseline="0" dirty="0" smtClean="0"/>
                        <a:t> and LDL </a:t>
                      </a:r>
                      <a:r>
                        <a:rPr lang="en-GB" baseline="0" dirty="0" err="1" smtClean="0"/>
                        <a:t>cholesterole</a:t>
                      </a:r>
                      <a:r>
                        <a:rPr lang="en-GB" baseline="0" dirty="0" smtClean="0"/>
                        <a:t>, triglycerides, </a:t>
                      </a:r>
                      <a:r>
                        <a:rPr lang="en-GB" baseline="0" dirty="0" err="1" smtClean="0"/>
                        <a:t>glucosylated</a:t>
                      </a:r>
                      <a:r>
                        <a:rPr lang="en-GB" baseline="0" dirty="0" smtClean="0"/>
                        <a:t> </a:t>
                      </a:r>
                      <a:r>
                        <a:rPr lang="en-GB" baseline="0" dirty="0" err="1" smtClean="0"/>
                        <a:t>hemoglobin</a:t>
                      </a:r>
                      <a:r>
                        <a:rPr lang="en-GB" baseline="0" dirty="0" smtClean="0"/>
                        <a:t>, glucose insulin, albumin, </a:t>
                      </a:r>
                      <a:r>
                        <a:rPr lang="en-GB" baseline="0" dirty="0" err="1" smtClean="0"/>
                        <a:t>creatinine</a:t>
                      </a:r>
                      <a:r>
                        <a:rPr lang="en-GB" baseline="0" dirty="0" smtClean="0"/>
                        <a:t>, </a:t>
                      </a:r>
                      <a:r>
                        <a:rPr lang="en-GB" baseline="0" dirty="0" err="1" smtClean="0"/>
                        <a:t>homocysteine</a:t>
                      </a:r>
                      <a:endParaRPr lang="en-GB" dirty="0"/>
                    </a:p>
                  </a:txBody>
                  <a:tcPr/>
                </a:tc>
              </a:tr>
              <a:tr h="370840">
                <a:tc>
                  <a:txBody>
                    <a:bodyPr/>
                    <a:lstStyle/>
                    <a:p>
                      <a:r>
                        <a:rPr lang="en-GB" dirty="0" smtClean="0"/>
                        <a:t>Cardiovascular and respiratory</a:t>
                      </a:r>
                      <a:endParaRPr lang="en-GB" dirty="0"/>
                    </a:p>
                  </a:txBody>
                  <a:tcPr/>
                </a:tc>
                <a:tc>
                  <a:txBody>
                    <a:bodyPr/>
                    <a:lstStyle/>
                    <a:p>
                      <a:r>
                        <a:rPr lang="en-GB" dirty="0" smtClean="0"/>
                        <a:t>Systolic</a:t>
                      </a:r>
                      <a:r>
                        <a:rPr lang="en-GB" baseline="0" dirty="0" smtClean="0"/>
                        <a:t> blood pressure, diastolic blood pressure, peak expiratory flow, heart rate/pulse</a:t>
                      </a:r>
                      <a:endParaRPr lang="en-GB" dirty="0"/>
                    </a:p>
                  </a:txBody>
                  <a:tcPr/>
                </a:tc>
              </a:tr>
              <a:tr h="370840">
                <a:tc>
                  <a:txBody>
                    <a:bodyPr/>
                    <a:lstStyle/>
                    <a:p>
                      <a:r>
                        <a:rPr lang="en-GB" dirty="0" smtClean="0"/>
                        <a:t>Anthropometric</a:t>
                      </a:r>
                      <a:endParaRPr lang="en-GB" dirty="0"/>
                    </a:p>
                  </a:txBody>
                  <a:tcPr/>
                </a:tc>
                <a:tc>
                  <a:txBody>
                    <a:bodyPr/>
                    <a:lstStyle/>
                    <a:p>
                      <a:r>
                        <a:rPr lang="en-GB" dirty="0" smtClean="0"/>
                        <a:t>Waist-to-hip ratio, body mass index (BMI)</a:t>
                      </a:r>
                      <a:endParaRPr lang="en-GB" dirty="0"/>
                    </a:p>
                  </a:txBody>
                  <a:tcPr/>
                </a:tc>
              </a:tr>
            </a:tbl>
          </a:graphicData>
        </a:graphic>
      </p:graphicFrame>
      <p:pic>
        <p:nvPicPr>
          <p:cNvPr id="4" name="Picture 3"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152400" y="228600"/>
            <a:ext cx="8501090" cy="1323439"/>
          </a:xfrm>
          <a:prstGeom prst="rect">
            <a:avLst/>
          </a:prstGeom>
          <a:noFill/>
        </p:spPr>
        <p:txBody>
          <a:bodyPr wrap="square" rtlCol="0">
            <a:spAutoFit/>
          </a:bodyPr>
          <a:lstStyle/>
          <a:p>
            <a:pPr marL="514350" indent="-514350" algn="ctr"/>
            <a:r>
              <a:rPr lang="en-GB" sz="4000" b="1" u="sng" dirty="0" smtClean="0"/>
              <a:t>Factors associated with </a:t>
            </a:r>
          </a:p>
          <a:p>
            <a:pPr marL="514350" indent="-514350" algn="ctr"/>
            <a:r>
              <a:rPr lang="en-GB" sz="4000" b="1" u="sng" dirty="0" err="1" smtClean="0"/>
              <a:t>allostatic</a:t>
            </a:r>
            <a:r>
              <a:rPr lang="en-GB" sz="4000" b="1" u="sng" dirty="0" smtClean="0"/>
              <a:t> load in previous studies</a:t>
            </a:r>
          </a:p>
        </p:txBody>
      </p:sp>
      <p:sp>
        <p:nvSpPr>
          <p:cNvPr id="4" name="TextBox 3"/>
          <p:cNvSpPr txBox="1"/>
          <p:nvPr/>
        </p:nvSpPr>
        <p:spPr>
          <a:xfrm>
            <a:off x="990600" y="1828800"/>
            <a:ext cx="2590800" cy="1477328"/>
          </a:xfrm>
          <a:prstGeom prst="rect">
            <a:avLst/>
          </a:prstGeom>
          <a:noFill/>
        </p:spPr>
        <p:txBody>
          <a:bodyPr wrap="square" rtlCol="0">
            <a:spAutoFit/>
          </a:bodyPr>
          <a:lstStyle/>
          <a:p>
            <a:r>
              <a:rPr lang="en-GB" b="1" dirty="0" smtClean="0"/>
              <a:t>Socioeconomics: </a:t>
            </a:r>
            <a:r>
              <a:rPr lang="en-GB" dirty="0" smtClean="0"/>
              <a:t>education, income, occupational status, downward mobility, homelessness</a:t>
            </a:r>
          </a:p>
        </p:txBody>
      </p:sp>
      <p:sp>
        <p:nvSpPr>
          <p:cNvPr id="6" name="TextBox 5"/>
          <p:cNvSpPr txBox="1"/>
          <p:nvPr/>
        </p:nvSpPr>
        <p:spPr>
          <a:xfrm>
            <a:off x="6324600" y="3124200"/>
            <a:ext cx="2209800" cy="1754326"/>
          </a:xfrm>
          <a:prstGeom prst="rect">
            <a:avLst/>
          </a:prstGeom>
          <a:noFill/>
        </p:spPr>
        <p:txBody>
          <a:bodyPr wrap="square" rtlCol="0">
            <a:spAutoFit/>
          </a:bodyPr>
          <a:lstStyle/>
          <a:p>
            <a:r>
              <a:rPr lang="en-GB" b="1" dirty="0" smtClean="0"/>
              <a:t>Family: </a:t>
            </a:r>
            <a:r>
              <a:rPr lang="en-GB" dirty="0" smtClean="0"/>
              <a:t>attachment, violence, single parent, separation, care-giving, demands/criticism, spouse</a:t>
            </a:r>
          </a:p>
        </p:txBody>
      </p:sp>
      <p:sp>
        <p:nvSpPr>
          <p:cNvPr id="8" name="TextBox 7"/>
          <p:cNvSpPr txBox="1"/>
          <p:nvPr/>
        </p:nvSpPr>
        <p:spPr>
          <a:xfrm>
            <a:off x="609600" y="3581400"/>
            <a:ext cx="2667000" cy="1200329"/>
          </a:xfrm>
          <a:prstGeom prst="rect">
            <a:avLst/>
          </a:prstGeom>
          <a:noFill/>
        </p:spPr>
        <p:txBody>
          <a:bodyPr wrap="square" rtlCol="0">
            <a:spAutoFit/>
          </a:bodyPr>
          <a:lstStyle/>
          <a:p>
            <a:r>
              <a:rPr lang="en-GB" b="1" dirty="0" smtClean="0"/>
              <a:t>Individual: </a:t>
            </a:r>
            <a:r>
              <a:rPr lang="en-GB" dirty="0" smtClean="0"/>
              <a:t>type A/hostility, locus of control, a  polymorphism of ACE gene</a:t>
            </a:r>
            <a:endParaRPr lang="en-GB" dirty="0"/>
          </a:p>
        </p:txBody>
      </p:sp>
      <p:sp>
        <p:nvSpPr>
          <p:cNvPr id="9" name="TextBox 8"/>
          <p:cNvSpPr txBox="1"/>
          <p:nvPr/>
        </p:nvSpPr>
        <p:spPr>
          <a:xfrm>
            <a:off x="1524000" y="5181600"/>
            <a:ext cx="2133600" cy="1200329"/>
          </a:xfrm>
          <a:prstGeom prst="rect">
            <a:avLst/>
          </a:prstGeom>
          <a:noFill/>
        </p:spPr>
        <p:txBody>
          <a:bodyPr wrap="square" rtlCol="0">
            <a:spAutoFit/>
          </a:bodyPr>
          <a:lstStyle/>
          <a:p>
            <a:r>
              <a:rPr lang="en-GB" b="1" dirty="0" err="1" smtClean="0"/>
              <a:t>Neigbourhoods</a:t>
            </a:r>
            <a:r>
              <a:rPr lang="en-GB" b="1" dirty="0" smtClean="0"/>
              <a:t>: </a:t>
            </a:r>
            <a:r>
              <a:rPr lang="en-GB" dirty="0" smtClean="0"/>
              <a:t>crowding, noise, lack of housing, rural/urban</a:t>
            </a:r>
            <a:endParaRPr lang="en-GB" b="1" dirty="0" smtClean="0"/>
          </a:p>
        </p:txBody>
      </p:sp>
      <p:sp>
        <p:nvSpPr>
          <p:cNvPr id="10" name="TextBox 9"/>
          <p:cNvSpPr txBox="1"/>
          <p:nvPr/>
        </p:nvSpPr>
        <p:spPr>
          <a:xfrm>
            <a:off x="3810000" y="3429000"/>
            <a:ext cx="2438400" cy="369332"/>
          </a:xfrm>
          <a:prstGeom prst="rect">
            <a:avLst/>
          </a:prstGeom>
          <a:noFill/>
        </p:spPr>
        <p:txBody>
          <a:bodyPr wrap="square" rtlCol="0">
            <a:spAutoFit/>
          </a:bodyPr>
          <a:lstStyle/>
          <a:p>
            <a:r>
              <a:rPr lang="en-GB" dirty="0" err="1" smtClean="0"/>
              <a:t>Allostatic</a:t>
            </a:r>
            <a:r>
              <a:rPr lang="en-GB" dirty="0" smtClean="0"/>
              <a:t> load</a:t>
            </a:r>
            <a:endParaRPr lang="en-GB" dirty="0"/>
          </a:p>
        </p:txBody>
      </p:sp>
      <p:sp>
        <p:nvSpPr>
          <p:cNvPr id="21" name="TextBox 20"/>
          <p:cNvSpPr txBox="1"/>
          <p:nvPr/>
        </p:nvSpPr>
        <p:spPr>
          <a:xfrm>
            <a:off x="3886200" y="1752600"/>
            <a:ext cx="1828800" cy="646331"/>
          </a:xfrm>
          <a:prstGeom prst="rect">
            <a:avLst/>
          </a:prstGeom>
          <a:noFill/>
        </p:spPr>
        <p:txBody>
          <a:bodyPr wrap="square" rtlCol="0">
            <a:spAutoFit/>
          </a:bodyPr>
          <a:lstStyle/>
          <a:p>
            <a:r>
              <a:rPr lang="en-GB" b="1" dirty="0" smtClean="0"/>
              <a:t>Ethnicity</a:t>
            </a:r>
            <a:r>
              <a:rPr lang="en-GB" dirty="0" smtClean="0"/>
              <a:t>: Non-whites (U.S.)</a:t>
            </a:r>
            <a:endParaRPr lang="en-GB" dirty="0"/>
          </a:p>
        </p:txBody>
      </p:sp>
      <p:sp>
        <p:nvSpPr>
          <p:cNvPr id="22" name="TextBox 21"/>
          <p:cNvSpPr txBox="1"/>
          <p:nvPr/>
        </p:nvSpPr>
        <p:spPr>
          <a:xfrm>
            <a:off x="6019800" y="1828800"/>
            <a:ext cx="2133600" cy="923330"/>
          </a:xfrm>
          <a:prstGeom prst="rect">
            <a:avLst/>
          </a:prstGeom>
          <a:noFill/>
        </p:spPr>
        <p:txBody>
          <a:bodyPr wrap="square" rtlCol="0">
            <a:spAutoFit/>
          </a:bodyPr>
          <a:lstStyle/>
          <a:p>
            <a:r>
              <a:rPr lang="en-GB" b="1" dirty="0" smtClean="0"/>
              <a:t>Spirituality: </a:t>
            </a:r>
            <a:r>
              <a:rPr lang="en-GB" dirty="0" smtClean="0"/>
              <a:t>religious attendance, sense of meaning/purpose</a:t>
            </a:r>
            <a:endParaRPr lang="en-GB" dirty="0"/>
          </a:p>
        </p:txBody>
      </p:sp>
      <p:sp>
        <p:nvSpPr>
          <p:cNvPr id="23" name="TextBox 22"/>
          <p:cNvSpPr txBox="1"/>
          <p:nvPr/>
        </p:nvSpPr>
        <p:spPr>
          <a:xfrm>
            <a:off x="3733800" y="5181600"/>
            <a:ext cx="1600200" cy="1477328"/>
          </a:xfrm>
          <a:prstGeom prst="rect">
            <a:avLst/>
          </a:prstGeom>
          <a:noFill/>
        </p:spPr>
        <p:txBody>
          <a:bodyPr wrap="square" rtlCol="0">
            <a:spAutoFit/>
          </a:bodyPr>
          <a:lstStyle/>
          <a:p>
            <a:r>
              <a:rPr lang="en-GB" b="1" dirty="0" smtClean="0"/>
              <a:t>Social networks: </a:t>
            </a:r>
            <a:r>
              <a:rPr lang="en-GB" dirty="0" smtClean="0"/>
              <a:t>emotional support, social position</a:t>
            </a:r>
            <a:endParaRPr lang="en-GB" dirty="0"/>
          </a:p>
        </p:txBody>
      </p:sp>
      <p:sp>
        <p:nvSpPr>
          <p:cNvPr id="29" name="TextBox 28"/>
          <p:cNvSpPr txBox="1"/>
          <p:nvPr/>
        </p:nvSpPr>
        <p:spPr>
          <a:xfrm>
            <a:off x="5867400" y="5029200"/>
            <a:ext cx="1981200" cy="1477328"/>
          </a:xfrm>
          <a:prstGeom prst="rect">
            <a:avLst/>
          </a:prstGeom>
          <a:noFill/>
        </p:spPr>
        <p:txBody>
          <a:bodyPr wrap="square" rtlCol="0">
            <a:spAutoFit/>
          </a:bodyPr>
          <a:lstStyle/>
          <a:p>
            <a:r>
              <a:rPr lang="en-GB" b="1" dirty="0" smtClean="0"/>
              <a:t>Work:</a:t>
            </a:r>
            <a:r>
              <a:rPr lang="en-GB" dirty="0" smtClean="0"/>
              <a:t> control, demands, decisions, career instability, effort-reward imbalance</a:t>
            </a:r>
            <a:endParaRPr lang="en-GB" dirty="0"/>
          </a:p>
        </p:txBody>
      </p:sp>
      <p:cxnSp>
        <p:nvCxnSpPr>
          <p:cNvPr id="61" name="Straight Arrow Connector 60"/>
          <p:cNvCxnSpPr/>
          <p:nvPr/>
        </p:nvCxnSpPr>
        <p:spPr>
          <a:xfrm>
            <a:off x="3276600" y="2895600"/>
            <a:ext cx="381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4724400" y="2590800"/>
            <a:ext cx="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a:off x="5486400" y="2819400"/>
            <a:ext cx="533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2895600" y="3657600"/>
            <a:ext cx="685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V="1">
            <a:off x="3200400" y="4038600"/>
            <a:ext cx="6858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V="1">
            <a:off x="4495800" y="4343400"/>
            <a:ext cx="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flipV="1">
            <a:off x="5181600" y="4267200"/>
            <a:ext cx="5334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0" idx="3"/>
          </p:cNvCxnSpPr>
          <p:nvPr/>
        </p:nvCxnSpPr>
        <p:spPr>
          <a:xfrm flipH="1">
            <a:off x="5638800" y="3613666"/>
            <a:ext cx="609600" cy="43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0" name="Picture 19" descr="New black and white school logo 30mm.jpg"/>
          <p:cNvPicPr/>
          <p:nvPr/>
        </p:nvPicPr>
        <p:blipFill>
          <a:blip r:embed="rId2" cstate="print"/>
          <a:stretch>
            <a:fillRect/>
          </a:stretch>
        </p:blipFill>
        <p:spPr>
          <a:xfrm>
            <a:off x="7772400" y="6057900"/>
            <a:ext cx="1080770" cy="5715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914400" y="152400"/>
            <a:ext cx="7115175" cy="868362"/>
          </a:xfrm>
        </p:spPr>
        <p:txBody>
          <a:bodyPr/>
          <a:lstStyle/>
          <a:p>
            <a:r>
              <a:rPr lang="en-GB" b="1" dirty="0" smtClean="0"/>
              <a:t>Sample</a:t>
            </a:r>
            <a:endParaRPr lang="en-US" b="1" dirty="0" smtClean="0"/>
          </a:p>
        </p:txBody>
      </p:sp>
      <p:sp>
        <p:nvSpPr>
          <p:cNvPr id="5123" name="Content Placeholder 2"/>
          <p:cNvSpPr>
            <a:spLocks noGrp="1"/>
          </p:cNvSpPr>
          <p:nvPr>
            <p:ph idx="1"/>
          </p:nvPr>
        </p:nvSpPr>
        <p:spPr>
          <a:xfrm>
            <a:off x="457200" y="1112837"/>
            <a:ext cx="8153400" cy="4983163"/>
          </a:xfrm>
        </p:spPr>
        <p:txBody>
          <a:bodyPr>
            <a:normAutofit lnSpcReduction="10000"/>
          </a:bodyPr>
          <a:lstStyle/>
          <a:p>
            <a:r>
              <a:rPr lang="nl-NL" sz="2800" dirty="0" smtClean="0"/>
              <a:t>English Longitudinal Study of Ageing (ELSA) waves 1 -4 (2002-2008)</a:t>
            </a:r>
          </a:p>
          <a:p>
            <a:r>
              <a:rPr lang="nl-NL" sz="2800" dirty="0" smtClean="0"/>
              <a:t>Men and women (n = 5279) aged 50+ in 2002</a:t>
            </a:r>
          </a:p>
          <a:p>
            <a:pPr eaLnBrk="1" hangingPunct="1">
              <a:lnSpc>
                <a:spcPct val="80000"/>
              </a:lnSpc>
              <a:defRPr/>
            </a:pPr>
            <a:r>
              <a:rPr lang="nl-NL" sz="2800" dirty="0" smtClean="0"/>
              <a:t>Measures: </a:t>
            </a:r>
          </a:p>
          <a:p>
            <a:pPr lvl="1" eaLnBrk="1" hangingPunct="1">
              <a:lnSpc>
                <a:spcPct val="80000"/>
              </a:lnSpc>
              <a:defRPr/>
            </a:pPr>
            <a:r>
              <a:rPr lang="nl-NL" sz="2400" dirty="0" smtClean="0"/>
              <a:t>Biomarkers available in waves 2 and 4</a:t>
            </a:r>
            <a:endParaRPr lang="fi-FI" sz="2400" dirty="0" smtClean="0"/>
          </a:p>
          <a:p>
            <a:pPr lvl="1" eaLnBrk="1" hangingPunct="1">
              <a:lnSpc>
                <a:spcPct val="80000"/>
              </a:lnSpc>
              <a:defRPr/>
            </a:pPr>
            <a:r>
              <a:rPr lang="fi-FI" sz="2400" dirty="0" smtClean="0"/>
              <a:t>Health: self reported health, limitation in health, ADL and IADL limitation</a:t>
            </a:r>
          </a:p>
          <a:p>
            <a:pPr lvl="1" eaLnBrk="1" hangingPunct="1">
              <a:lnSpc>
                <a:spcPct val="80000"/>
              </a:lnSpc>
              <a:defRPr/>
            </a:pPr>
            <a:r>
              <a:rPr lang="fi-FI" sz="2400" dirty="0" smtClean="0"/>
              <a:t>Fertility history: number of children, birth before age 20 (women) or age 23 (men), birth after age 34 (women) and 39 (men), coresidence with child</a:t>
            </a:r>
          </a:p>
          <a:p>
            <a:pPr lvl="1" eaLnBrk="1" hangingPunct="1">
              <a:lnSpc>
                <a:spcPct val="80000"/>
              </a:lnSpc>
              <a:defRPr/>
            </a:pPr>
            <a:r>
              <a:rPr lang="fi-FI" sz="2400" dirty="0" smtClean="0"/>
              <a:t>Background factors: age, marital status, qualification, tenure status, net wealth quintile  (</a:t>
            </a:r>
            <a:r>
              <a:rPr lang="en-GB" sz="2400" dirty="0" smtClean="0"/>
              <a:t>non-pension wealth indicating financial, physical and housing wealth net of debts)</a:t>
            </a:r>
            <a:endParaRPr lang="nl-NL" sz="2400" dirty="0" smtClean="0"/>
          </a:p>
          <a:p>
            <a:pPr>
              <a:buNone/>
            </a:pPr>
            <a:endParaRPr lang="nl-NL" sz="2800" dirty="0" smtClean="0"/>
          </a:p>
          <a:p>
            <a:pPr>
              <a:buNone/>
            </a:pPr>
            <a:endParaRPr lang="nl-NL" sz="2800" dirty="0" smtClean="0"/>
          </a:p>
          <a:p>
            <a:pPr>
              <a:buNone/>
            </a:pPr>
            <a:endParaRPr lang="en-US" sz="2800" dirty="0" smtClean="0"/>
          </a:p>
          <a:p>
            <a:pPr>
              <a:buNone/>
            </a:pPr>
            <a:endParaRPr lang="en-US" sz="2800" dirty="0" smtClean="0"/>
          </a:p>
          <a:p>
            <a:endParaRPr lang="en-US" sz="2800" dirty="0"/>
          </a:p>
        </p:txBody>
      </p:sp>
      <p:pic>
        <p:nvPicPr>
          <p:cNvPr id="4" name="Picture 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7115175" cy="868362"/>
          </a:xfrm>
        </p:spPr>
        <p:txBody>
          <a:bodyPr>
            <a:normAutofit fontScale="90000"/>
          </a:bodyPr>
          <a:lstStyle/>
          <a:p>
            <a:r>
              <a:rPr lang="nl-NL" sz="3200" dirty="0" smtClean="0"/>
              <a:t>Selected biomarkers to measure allostatic load in ELSA</a:t>
            </a:r>
            <a:endParaRPr lang="en-US" sz="3200" b="1" dirty="0" smtClean="0"/>
          </a:p>
        </p:txBody>
      </p:sp>
      <p:graphicFrame>
        <p:nvGraphicFramePr>
          <p:cNvPr id="4" name="Table 3"/>
          <p:cNvGraphicFramePr>
            <a:graphicFrameLocks noGrp="1"/>
          </p:cNvGraphicFramePr>
          <p:nvPr/>
        </p:nvGraphicFramePr>
        <p:xfrm>
          <a:off x="381000" y="1600200"/>
          <a:ext cx="8153401" cy="3535680"/>
        </p:xfrm>
        <a:graphic>
          <a:graphicData uri="http://schemas.openxmlformats.org/drawingml/2006/table">
            <a:tbl>
              <a:tblPr firstRow="1" bandRow="1">
                <a:tableStyleId>{5C22544A-7EE6-4342-B048-85BDC9FD1C3A}</a:tableStyleId>
              </a:tblPr>
              <a:tblGrid>
                <a:gridCol w="1371601"/>
                <a:gridCol w="1371600"/>
                <a:gridCol w="1447800"/>
                <a:gridCol w="1219200"/>
                <a:gridCol w="1447800"/>
                <a:gridCol w="1295400"/>
              </a:tblGrid>
              <a:tr h="370840">
                <a:tc>
                  <a:txBody>
                    <a:bodyPr/>
                    <a:lstStyle/>
                    <a:p>
                      <a:r>
                        <a:rPr lang="en-GB" sz="1600" b="1" i="0" u="none" dirty="0" err="1" smtClean="0"/>
                        <a:t>Neuro</a:t>
                      </a:r>
                      <a:r>
                        <a:rPr lang="en-GB" sz="1600" b="1" i="0" u="none" dirty="0" smtClean="0"/>
                        <a:t>-endocrine</a:t>
                      </a:r>
                      <a:endParaRPr lang="en-GB" sz="1600" b="1" i="0" u="none" dirty="0"/>
                    </a:p>
                  </a:txBody>
                  <a:tcPr/>
                </a:tc>
                <a:tc>
                  <a:txBody>
                    <a:bodyPr/>
                    <a:lstStyle/>
                    <a:p>
                      <a:r>
                        <a:rPr lang="en-GB" sz="1600" b="1" i="0" u="none" dirty="0" smtClean="0"/>
                        <a:t>Immune</a:t>
                      </a:r>
                      <a:endParaRPr lang="en-GB" sz="1600" b="1" i="0" u="none" dirty="0"/>
                    </a:p>
                  </a:txBody>
                  <a:tcPr/>
                </a:tc>
                <a:tc>
                  <a:txBody>
                    <a:bodyPr/>
                    <a:lstStyle/>
                    <a:p>
                      <a:r>
                        <a:rPr lang="en-GB" sz="1600" b="1" i="0" u="none" dirty="0" smtClean="0"/>
                        <a:t>Cardiovascular</a:t>
                      </a:r>
                      <a:endParaRPr lang="en-GB" sz="1600" b="1" i="0" u="none" dirty="0"/>
                    </a:p>
                  </a:txBody>
                  <a:tcPr/>
                </a:tc>
                <a:tc>
                  <a:txBody>
                    <a:bodyPr/>
                    <a:lstStyle/>
                    <a:p>
                      <a:r>
                        <a:rPr lang="en-GB" sz="1600" b="1" i="0" u="none" dirty="0" smtClean="0"/>
                        <a:t>Respiratory</a:t>
                      </a:r>
                      <a:endParaRPr lang="en-GB" sz="1600" b="1" i="0" u="none" dirty="0"/>
                    </a:p>
                  </a:txBody>
                  <a:tcPr/>
                </a:tc>
                <a:tc>
                  <a:txBody>
                    <a:bodyPr/>
                    <a:lstStyle/>
                    <a:p>
                      <a:r>
                        <a:rPr lang="en-GB" sz="1600" b="1" i="0" u="none" dirty="0" smtClean="0"/>
                        <a:t>Metabolic</a:t>
                      </a:r>
                      <a:endParaRPr lang="en-GB" sz="1600" b="1" i="0" u="none" dirty="0"/>
                    </a:p>
                  </a:txBody>
                  <a:tcPr/>
                </a:tc>
                <a:tc>
                  <a:txBody>
                    <a:bodyPr/>
                    <a:lstStyle/>
                    <a:p>
                      <a:r>
                        <a:rPr lang="en-GB" sz="1600" b="1" i="0" u="none" dirty="0" smtClean="0"/>
                        <a:t>Body fat</a:t>
                      </a:r>
                      <a:endParaRPr lang="en-GB" sz="1600" b="1" i="0" u="none"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DHEAS* (</a:t>
                      </a:r>
                      <a:r>
                        <a:rPr lang="en-GB" sz="1600" dirty="0" err="1" smtClean="0"/>
                        <a:t>dehydroepiandrostorone</a:t>
                      </a:r>
                      <a:r>
                        <a:rPr lang="en-GB" sz="1600" dirty="0" smtClean="0"/>
                        <a:t> sulphate)</a:t>
                      </a:r>
                    </a:p>
                  </a:txBody>
                  <a:tcPr/>
                </a:tc>
                <a:tc>
                  <a:txBody>
                    <a:bodyPr/>
                    <a:lstStyle/>
                    <a:p>
                      <a:r>
                        <a:rPr lang="en-GB" sz="1600" dirty="0" smtClean="0"/>
                        <a:t>C-reactive protein</a:t>
                      </a:r>
                      <a:endParaRPr lang="en-GB" sz="1600" dirty="0"/>
                    </a:p>
                  </a:txBody>
                  <a:tcPr/>
                </a:tc>
                <a:tc>
                  <a:txBody>
                    <a:bodyPr/>
                    <a:lstStyle/>
                    <a:p>
                      <a:r>
                        <a:rPr lang="en-GB" sz="1600" dirty="0" smtClean="0"/>
                        <a:t>Systolic blood pressure </a:t>
                      </a:r>
                      <a:endParaRPr lang="en-GB" sz="1600" dirty="0"/>
                    </a:p>
                  </a:txBody>
                  <a:tcPr/>
                </a:tc>
                <a:tc>
                  <a:txBody>
                    <a:bodyPr/>
                    <a:lstStyle/>
                    <a:p>
                      <a:r>
                        <a:rPr lang="en-GB" sz="1600" dirty="0" smtClean="0"/>
                        <a:t>Peak expiratory flow</a:t>
                      </a:r>
                      <a:endParaRPr lang="en-GB" sz="1600" dirty="0"/>
                    </a:p>
                  </a:txBody>
                  <a:tcPr/>
                </a:tc>
                <a:tc>
                  <a:txBody>
                    <a:bodyPr/>
                    <a:lstStyle/>
                    <a:p>
                      <a:r>
                        <a:rPr lang="en-GB" sz="1600" dirty="0" smtClean="0"/>
                        <a:t>Total blood cholesterol/</a:t>
                      </a:r>
                    </a:p>
                    <a:p>
                      <a:r>
                        <a:rPr lang="en-GB" sz="1600" dirty="0" smtClean="0"/>
                        <a:t>HDL cholesterol ratio</a:t>
                      </a:r>
                      <a:endParaRPr lang="en-GB" sz="1600" dirty="0"/>
                    </a:p>
                  </a:txBody>
                  <a:tcPr/>
                </a:tc>
                <a:tc>
                  <a:txBody>
                    <a:bodyPr/>
                    <a:lstStyle/>
                    <a:p>
                      <a:r>
                        <a:rPr lang="en-GB" sz="1600" dirty="0" smtClean="0"/>
                        <a:t>Waist-hip</a:t>
                      </a:r>
                      <a:r>
                        <a:rPr lang="en-GB" sz="1600" baseline="0" dirty="0" smtClean="0"/>
                        <a:t> ratio</a:t>
                      </a:r>
                      <a:endParaRPr lang="en-GB" sz="1600" dirty="0"/>
                    </a:p>
                  </a:txBody>
                  <a:tcPr/>
                </a:tc>
              </a:tr>
              <a:tr h="370840">
                <a:tc>
                  <a:txBody>
                    <a:bodyPr/>
                    <a:lstStyle/>
                    <a:p>
                      <a:endParaRPr lang="en-GB" sz="1600" dirty="0"/>
                    </a:p>
                  </a:txBody>
                  <a:tcPr/>
                </a:tc>
                <a:tc>
                  <a:txBody>
                    <a:bodyPr/>
                    <a:lstStyle/>
                    <a:p>
                      <a:r>
                        <a:rPr lang="en-GB" sz="1600" dirty="0" smtClean="0"/>
                        <a:t>Fibrinogen</a:t>
                      </a:r>
                      <a:endParaRPr lang="en-GB" sz="1600" dirty="0"/>
                    </a:p>
                  </a:txBody>
                  <a:tcPr/>
                </a:tc>
                <a:tc>
                  <a:txBody>
                    <a:bodyPr/>
                    <a:lstStyle/>
                    <a:p>
                      <a:r>
                        <a:rPr lang="en-GB" sz="1600" dirty="0" smtClean="0"/>
                        <a:t>Diastolic blood pressure</a:t>
                      </a:r>
                      <a:endParaRPr lang="en-GB" sz="1600" dirty="0"/>
                    </a:p>
                  </a:txBody>
                  <a:tcPr/>
                </a:tc>
                <a:tc>
                  <a:txBody>
                    <a:bodyPr/>
                    <a:lstStyle/>
                    <a:p>
                      <a:endParaRPr lang="en-GB" sz="1600" dirty="0"/>
                    </a:p>
                  </a:txBody>
                  <a:tcPr/>
                </a:tc>
                <a:tc>
                  <a:txBody>
                    <a:bodyPr/>
                    <a:lstStyle/>
                    <a:p>
                      <a:r>
                        <a:rPr lang="en-GB" sz="1600" dirty="0" smtClean="0"/>
                        <a:t>Triglycerides</a:t>
                      </a:r>
                      <a:endParaRPr lang="en-GB" sz="1600" dirty="0"/>
                    </a:p>
                  </a:txBody>
                  <a:tcPr/>
                </a:tc>
                <a:tc>
                  <a:txBody>
                    <a:bodyPr/>
                    <a:lstStyle/>
                    <a:p>
                      <a:endParaRPr lang="en-GB" sz="1600" dirty="0"/>
                    </a:p>
                  </a:txBody>
                  <a:tcPr/>
                </a:tc>
              </a:tr>
              <a:tr h="370840">
                <a:tc>
                  <a:txBody>
                    <a:bodyPr/>
                    <a:lstStyle/>
                    <a:p>
                      <a:endParaRPr lang="en-GB" sz="1600" dirty="0"/>
                    </a:p>
                  </a:txBody>
                  <a:tcPr/>
                </a:tc>
                <a:tc>
                  <a:txBody>
                    <a:bodyPr/>
                    <a:lstStyle/>
                    <a:p>
                      <a:r>
                        <a:rPr lang="en-GB" sz="1600" dirty="0" smtClean="0"/>
                        <a:t>IGF-1* (insulin-like growth hormone)</a:t>
                      </a:r>
                      <a:endParaRPr lang="en-GB" sz="1600" dirty="0"/>
                    </a:p>
                  </a:txBody>
                  <a:tcPr/>
                </a:tc>
                <a:tc>
                  <a:txBody>
                    <a:bodyPr/>
                    <a:lstStyle/>
                    <a:p>
                      <a:endParaRPr lang="en-GB" sz="1600"/>
                    </a:p>
                  </a:txBody>
                  <a:tcPr/>
                </a:tc>
                <a:tc>
                  <a:txBody>
                    <a:bodyPr/>
                    <a:lstStyle/>
                    <a:p>
                      <a:endParaRPr lang="en-GB" sz="1600" dirty="0"/>
                    </a:p>
                  </a:txBody>
                  <a:tcPr/>
                </a:tc>
                <a:tc>
                  <a:txBody>
                    <a:bodyPr/>
                    <a:lstStyle/>
                    <a:p>
                      <a:r>
                        <a:rPr lang="en-GB" sz="1600" dirty="0" err="1" smtClean="0"/>
                        <a:t>Glycated</a:t>
                      </a:r>
                      <a:r>
                        <a:rPr lang="en-GB" sz="1600" dirty="0" smtClean="0"/>
                        <a:t> </a:t>
                      </a:r>
                      <a:r>
                        <a:rPr lang="en-GB" sz="1600" dirty="0" err="1" smtClean="0"/>
                        <a:t>HgB</a:t>
                      </a:r>
                      <a:endParaRPr lang="en-GB" sz="1600" dirty="0"/>
                    </a:p>
                  </a:txBody>
                  <a:tcPr/>
                </a:tc>
                <a:tc>
                  <a:txBody>
                    <a:bodyPr/>
                    <a:lstStyle/>
                    <a:p>
                      <a:endParaRPr lang="en-GB" sz="1600" dirty="0"/>
                    </a:p>
                  </a:txBody>
                  <a:tcPr/>
                </a:tc>
              </a:tr>
            </a:tbl>
          </a:graphicData>
        </a:graphic>
      </p:graphicFrame>
      <p:sp>
        <p:nvSpPr>
          <p:cNvPr id="6" name="TextBox 5"/>
          <p:cNvSpPr txBox="1"/>
          <p:nvPr/>
        </p:nvSpPr>
        <p:spPr>
          <a:xfrm>
            <a:off x="685800" y="5334000"/>
            <a:ext cx="5715000" cy="923330"/>
          </a:xfrm>
          <a:prstGeom prst="rect">
            <a:avLst/>
          </a:prstGeom>
          <a:noFill/>
        </p:spPr>
        <p:txBody>
          <a:bodyPr wrap="square" rtlCol="0">
            <a:spAutoFit/>
          </a:bodyPr>
          <a:lstStyle/>
          <a:p>
            <a:r>
              <a:rPr lang="en-GB" dirty="0" smtClean="0"/>
              <a:t>* only in wave 4</a:t>
            </a:r>
          </a:p>
          <a:p>
            <a:endParaRPr lang="en-GB" dirty="0" smtClean="0"/>
          </a:p>
          <a:p>
            <a:endParaRPr lang="en-GB" dirty="0"/>
          </a:p>
        </p:txBody>
      </p:sp>
      <p:pic>
        <p:nvPicPr>
          <p:cNvPr id="5" name="Picture 4"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7115175" cy="868362"/>
          </a:xfrm>
        </p:spPr>
        <p:txBody>
          <a:bodyPr>
            <a:normAutofit fontScale="90000"/>
          </a:bodyPr>
          <a:lstStyle/>
          <a:p>
            <a:r>
              <a:rPr lang="nl-NL" sz="3200" dirty="0" smtClean="0"/>
              <a:t>Availability of valid measures in ELSA</a:t>
            </a:r>
            <a:endParaRPr lang="en-US" sz="3200" b="1" dirty="0" smtClean="0"/>
          </a:p>
        </p:txBody>
      </p:sp>
      <p:graphicFrame>
        <p:nvGraphicFramePr>
          <p:cNvPr id="4" name="Table 3"/>
          <p:cNvGraphicFramePr>
            <a:graphicFrameLocks noGrp="1"/>
          </p:cNvGraphicFramePr>
          <p:nvPr/>
        </p:nvGraphicFramePr>
        <p:xfrm>
          <a:off x="685800" y="1600200"/>
          <a:ext cx="7543800" cy="2849880"/>
        </p:xfrm>
        <a:graphic>
          <a:graphicData uri="http://schemas.openxmlformats.org/drawingml/2006/table">
            <a:tbl>
              <a:tblPr firstRow="1" bandRow="1">
                <a:tableStyleId>{5C22544A-7EE6-4342-B048-85BDC9FD1C3A}</a:tableStyleId>
              </a:tblPr>
              <a:tblGrid>
                <a:gridCol w="1752600"/>
                <a:gridCol w="1143000"/>
                <a:gridCol w="1219200"/>
                <a:gridCol w="1676400"/>
                <a:gridCol w="17526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1" i="0" u="none" dirty="0" smtClean="0"/>
                        <a:t>Measure</a:t>
                      </a:r>
                    </a:p>
                    <a:p>
                      <a:endParaRPr lang="en-GB" sz="1600" b="1" i="0" u="none" dirty="0"/>
                    </a:p>
                  </a:txBody>
                  <a:tcPr/>
                </a:tc>
                <a:tc gridSpan="2">
                  <a:txBody>
                    <a:bodyPr/>
                    <a:lstStyle/>
                    <a:p>
                      <a:r>
                        <a:rPr lang="en-GB" sz="1600" b="1" i="0" u="none" dirty="0" smtClean="0"/>
                        <a:t>% valid measure cross-</a:t>
                      </a:r>
                      <a:r>
                        <a:rPr lang="en-GB" sz="1600" b="1" i="0" u="none" dirty="0" err="1" smtClean="0"/>
                        <a:t>sectionally</a:t>
                      </a:r>
                      <a:endParaRPr lang="en-GB" sz="1600" b="1" i="0" u="none" dirty="0"/>
                    </a:p>
                  </a:txBody>
                  <a:tcPr/>
                </a:tc>
                <a:tc hMerge="1">
                  <a:txBody>
                    <a:bodyPr/>
                    <a:lstStyle/>
                    <a:p>
                      <a:endParaRPr lang="en-GB" sz="1600" b="1" i="0" u="none" dirty="0"/>
                    </a:p>
                  </a:txBody>
                  <a:tcPr/>
                </a:tc>
                <a:tc gridSpan="2">
                  <a:txBody>
                    <a:bodyPr/>
                    <a:lstStyle/>
                    <a:p>
                      <a:r>
                        <a:rPr lang="en-GB" sz="1600" b="1" i="0" u="none" dirty="0" smtClean="0"/>
                        <a:t>% valid measure longitudinally among those who participated in wave 1</a:t>
                      </a:r>
                      <a:endParaRPr lang="en-GB" sz="1600" b="1" i="0" u="none" dirty="0"/>
                    </a:p>
                  </a:txBody>
                  <a:tcPr/>
                </a:tc>
                <a:tc hMerge="1">
                  <a:txBody>
                    <a:bodyPr/>
                    <a:lstStyle/>
                    <a:p>
                      <a:endParaRPr lang="en-GB" sz="1600" b="1" i="0" u="none" dirty="0"/>
                    </a:p>
                  </a:txBody>
                  <a:tcPr/>
                </a:tc>
              </a:tr>
              <a:tr h="370840">
                <a:tc>
                  <a:txBody>
                    <a:bodyPr/>
                    <a:lstStyle/>
                    <a:p>
                      <a:endParaRPr lang="en-GB" sz="1600" b="1" i="0" u="none" dirty="0"/>
                    </a:p>
                  </a:txBody>
                  <a:tcPr/>
                </a:tc>
                <a:tc>
                  <a:txBody>
                    <a:bodyPr/>
                    <a:lstStyle/>
                    <a:p>
                      <a:r>
                        <a:rPr lang="en-GB" sz="1600" b="1" i="0" u="none" dirty="0" smtClean="0"/>
                        <a:t>Wave 2</a:t>
                      </a:r>
                      <a:endParaRPr lang="en-GB" sz="1600" b="1" i="0" u="none"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1" i="0" u="none" dirty="0" smtClean="0"/>
                        <a:t>Wave 4</a:t>
                      </a:r>
                    </a:p>
                    <a:p>
                      <a:endParaRPr lang="en-GB" sz="1600" b="1" i="0" u="none" dirty="0"/>
                    </a:p>
                  </a:txBody>
                  <a:tcPr/>
                </a:tc>
                <a:tc>
                  <a:txBody>
                    <a:bodyPr/>
                    <a:lstStyle/>
                    <a:p>
                      <a:r>
                        <a:rPr lang="en-GB" sz="1600" b="1" i="0" u="none" dirty="0" smtClean="0"/>
                        <a:t>Wave 2</a:t>
                      </a:r>
                      <a:endParaRPr lang="en-GB" sz="1600" b="1" i="0" u="none" dirty="0"/>
                    </a:p>
                  </a:txBody>
                  <a:tcPr/>
                </a:tc>
                <a:tc>
                  <a:txBody>
                    <a:bodyPr/>
                    <a:lstStyle/>
                    <a:p>
                      <a:r>
                        <a:rPr lang="en-GB" sz="1600" b="1" i="0" u="none" dirty="0" smtClean="0"/>
                        <a:t>Wave 4</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Blood pressure</a:t>
                      </a:r>
                    </a:p>
                  </a:txBody>
                  <a:tcPr/>
                </a:tc>
                <a:tc>
                  <a:txBody>
                    <a:bodyPr/>
                    <a:lstStyle/>
                    <a:p>
                      <a:r>
                        <a:rPr lang="en-GB" sz="1600" dirty="0" smtClean="0"/>
                        <a:t>70</a:t>
                      </a:r>
                      <a:endParaRPr lang="en-GB" sz="1600" dirty="0"/>
                    </a:p>
                  </a:txBody>
                  <a:tcPr/>
                </a:tc>
                <a:tc>
                  <a:txBody>
                    <a:bodyPr/>
                    <a:lstStyle/>
                    <a:p>
                      <a:r>
                        <a:rPr lang="en-GB" sz="1600" dirty="0" smtClean="0"/>
                        <a:t>72</a:t>
                      </a:r>
                      <a:endParaRPr lang="en-GB" sz="1600" dirty="0"/>
                    </a:p>
                  </a:txBody>
                  <a:tcPr/>
                </a:tc>
                <a:tc>
                  <a:txBody>
                    <a:bodyPr/>
                    <a:lstStyle/>
                    <a:p>
                      <a:r>
                        <a:rPr lang="en-GB" sz="1600" dirty="0" smtClean="0"/>
                        <a:t>58</a:t>
                      </a:r>
                      <a:endParaRPr lang="en-GB" sz="1600" dirty="0"/>
                    </a:p>
                  </a:txBody>
                  <a:tcPr/>
                </a:tc>
                <a:tc>
                  <a:txBody>
                    <a:bodyPr/>
                    <a:lstStyle/>
                    <a:p>
                      <a:r>
                        <a:rPr lang="en-GB" sz="1600" dirty="0" smtClean="0"/>
                        <a:t>46</a:t>
                      </a:r>
                      <a:endParaRPr lang="en-GB" sz="1600" dirty="0"/>
                    </a:p>
                  </a:txBody>
                  <a:tcPr/>
                </a:tc>
              </a:tr>
              <a:tr h="370840">
                <a:tc>
                  <a:txBody>
                    <a:bodyPr/>
                    <a:lstStyle/>
                    <a:p>
                      <a:r>
                        <a:rPr lang="en-GB" sz="1600" dirty="0" smtClean="0"/>
                        <a:t>Waist-hip ratio</a:t>
                      </a:r>
                      <a:endParaRPr lang="en-GB" sz="1600" dirty="0"/>
                    </a:p>
                  </a:txBody>
                  <a:tcPr/>
                </a:tc>
                <a:tc>
                  <a:txBody>
                    <a:bodyPr/>
                    <a:lstStyle/>
                    <a:p>
                      <a:r>
                        <a:rPr lang="en-GB" sz="1600" dirty="0" smtClean="0"/>
                        <a:t>78</a:t>
                      </a:r>
                      <a:endParaRPr lang="en-GB" sz="1600" dirty="0"/>
                    </a:p>
                  </a:txBody>
                  <a:tcPr/>
                </a:tc>
                <a:tc>
                  <a:txBody>
                    <a:bodyPr/>
                    <a:lstStyle/>
                    <a:p>
                      <a:r>
                        <a:rPr lang="en-GB" sz="1600" dirty="0" smtClean="0"/>
                        <a:t>76</a:t>
                      </a:r>
                      <a:endParaRPr lang="en-GB" sz="1600" dirty="0"/>
                    </a:p>
                  </a:txBody>
                  <a:tcPr/>
                </a:tc>
                <a:tc>
                  <a:txBody>
                    <a:bodyPr/>
                    <a:lstStyle/>
                    <a:p>
                      <a:r>
                        <a:rPr lang="en-GB" sz="1600" dirty="0" smtClean="0"/>
                        <a:t>65</a:t>
                      </a:r>
                      <a:endParaRPr lang="en-GB" sz="1600" dirty="0"/>
                    </a:p>
                  </a:txBody>
                  <a:tcPr/>
                </a:tc>
                <a:tc>
                  <a:txBody>
                    <a:bodyPr/>
                    <a:lstStyle/>
                    <a:p>
                      <a:r>
                        <a:rPr lang="en-GB" sz="1600" dirty="0" smtClean="0"/>
                        <a:t>48</a:t>
                      </a:r>
                      <a:endParaRPr lang="en-GB" sz="1600" dirty="0"/>
                    </a:p>
                  </a:txBody>
                  <a:tcPr/>
                </a:tc>
              </a:tr>
              <a:tr h="370840">
                <a:tc>
                  <a:txBody>
                    <a:bodyPr/>
                    <a:lstStyle/>
                    <a:p>
                      <a:r>
                        <a:rPr lang="en-GB" sz="1600" dirty="0" smtClean="0"/>
                        <a:t>Lung function</a:t>
                      </a:r>
                      <a:endParaRPr lang="en-GB" sz="1600" dirty="0"/>
                    </a:p>
                  </a:txBody>
                  <a:tcPr/>
                </a:tc>
                <a:tc>
                  <a:txBody>
                    <a:bodyPr/>
                    <a:lstStyle/>
                    <a:p>
                      <a:r>
                        <a:rPr lang="en-GB" sz="1600" dirty="0" smtClean="0"/>
                        <a:t>75</a:t>
                      </a:r>
                      <a:endParaRPr lang="en-GB" sz="1600" dirty="0"/>
                    </a:p>
                  </a:txBody>
                  <a:tcPr/>
                </a:tc>
                <a:tc>
                  <a:txBody>
                    <a:bodyPr/>
                    <a:lstStyle/>
                    <a:p>
                      <a:r>
                        <a:rPr lang="en-GB" sz="1600" dirty="0" smtClean="0"/>
                        <a:t>70</a:t>
                      </a:r>
                      <a:endParaRPr lang="en-GB" sz="1600" dirty="0"/>
                    </a:p>
                  </a:txBody>
                  <a:tcPr/>
                </a:tc>
                <a:tc>
                  <a:txBody>
                    <a:bodyPr/>
                    <a:lstStyle/>
                    <a:p>
                      <a:r>
                        <a:rPr lang="en-GB" sz="1600" dirty="0" smtClean="0"/>
                        <a:t>62</a:t>
                      </a:r>
                      <a:endParaRPr lang="en-GB" sz="1600" dirty="0"/>
                    </a:p>
                  </a:txBody>
                  <a:tcPr/>
                </a:tc>
                <a:tc>
                  <a:txBody>
                    <a:bodyPr/>
                    <a:lstStyle/>
                    <a:p>
                      <a:r>
                        <a:rPr lang="en-GB" sz="1600" dirty="0" smtClean="0"/>
                        <a:t>44</a:t>
                      </a:r>
                      <a:endParaRPr lang="en-GB"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Blood measures*</a:t>
                      </a:r>
                    </a:p>
                    <a:p>
                      <a:endParaRPr lang="en-GB" sz="1600" dirty="0"/>
                    </a:p>
                  </a:txBody>
                  <a:tcPr/>
                </a:tc>
                <a:tc>
                  <a:txBody>
                    <a:bodyPr/>
                    <a:lstStyle/>
                    <a:p>
                      <a:r>
                        <a:rPr lang="en-GB" sz="1600" dirty="0" smtClean="0"/>
                        <a:t>63</a:t>
                      </a:r>
                      <a:endParaRPr lang="en-GB" sz="1600" dirty="0"/>
                    </a:p>
                  </a:txBody>
                  <a:tcPr/>
                </a:tc>
                <a:tc>
                  <a:txBody>
                    <a:bodyPr/>
                    <a:lstStyle/>
                    <a:p>
                      <a:r>
                        <a:rPr lang="en-GB" sz="1600" dirty="0" smtClean="0"/>
                        <a:t>58</a:t>
                      </a:r>
                      <a:endParaRPr lang="en-GB" sz="1600" dirty="0"/>
                    </a:p>
                  </a:txBody>
                  <a:tcPr/>
                </a:tc>
                <a:tc>
                  <a:txBody>
                    <a:bodyPr/>
                    <a:lstStyle/>
                    <a:p>
                      <a:r>
                        <a:rPr lang="en-GB" sz="1600" dirty="0" smtClean="0"/>
                        <a:t>52</a:t>
                      </a:r>
                      <a:endParaRPr lang="en-GB" sz="1600" dirty="0"/>
                    </a:p>
                  </a:txBody>
                  <a:tcPr/>
                </a:tc>
                <a:tc>
                  <a:txBody>
                    <a:bodyPr/>
                    <a:lstStyle/>
                    <a:p>
                      <a:r>
                        <a:rPr lang="en-GB" sz="1600" dirty="0" smtClean="0"/>
                        <a:t>37</a:t>
                      </a:r>
                      <a:endParaRPr lang="en-GB" sz="1600" dirty="0"/>
                    </a:p>
                  </a:txBody>
                  <a:tcPr/>
                </a:tc>
              </a:tr>
            </a:tbl>
          </a:graphicData>
        </a:graphic>
      </p:graphicFrame>
      <p:sp>
        <p:nvSpPr>
          <p:cNvPr id="6" name="TextBox 5"/>
          <p:cNvSpPr txBox="1"/>
          <p:nvPr/>
        </p:nvSpPr>
        <p:spPr>
          <a:xfrm>
            <a:off x="762000" y="4648200"/>
            <a:ext cx="8077200" cy="923330"/>
          </a:xfrm>
          <a:prstGeom prst="rect">
            <a:avLst/>
          </a:prstGeom>
          <a:noFill/>
        </p:spPr>
        <p:txBody>
          <a:bodyPr wrap="square" rtlCol="0">
            <a:spAutoFit/>
          </a:bodyPr>
          <a:lstStyle/>
          <a:p>
            <a:r>
              <a:rPr lang="en-GB" sz="1600" dirty="0" smtClean="0"/>
              <a:t>* CRP, Fibrinogen, </a:t>
            </a:r>
            <a:r>
              <a:rPr lang="en-GB" sz="1600" dirty="0" err="1" smtClean="0"/>
              <a:t>cholesterole</a:t>
            </a:r>
            <a:r>
              <a:rPr lang="en-GB" sz="1600" dirty="0" smtClean="0"/>
              <a:t>, triglycerides, </a:t>
            </a:r>
            <a:r>
              <a:rPr lang="en-GB" sz="1600" dirty="0" err="1" smtClean="0"/>
              <a:t>glycated</a:t>
            </a:r>
            <a:r>
              <a:rPr lang="en-GB" sz="1600" dirty="0" smtClean="0"/>
              <a:t> </a:t>
            </a:r>
            <a:r>
              <a:rPr lang="en-GB" sz="1600" dirty="0" err="1" smtClean="0"/>
              <a:t>HgB</a:t>
            </a:r>
            <a:r>
              <a:rPr lang="en-GB" sz="1600" dirty="0" smtClean="0"/>
              <a:t>, IGF-1, DHEAS</a:t>
            </a:r>
          </a:p>
          <a:p>
            <a:endParaRPr lang="en-GB" dirty="0" smtClean="0"/>
          </a:p>
          <a:p>
            <a:endParaRPr lang="en-GB" dirty="0"/>
          </a:p>
        </p:txBody>
      </p:sp>
      <p:pic>
        <p:nvPicPr>
          <p:cNvPr id="5" name="Picture 4"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7115175" cy="868362"/>
          </a:xfrm>
        </p:spPr>
        <p:txBody>
          <a:bodyPr>
            <a:normAutofit fontScale="90000"/>
          </a:bodyPr>
          <a:lstStyle/>
          <a:p>
            <a:r>
              <a:rPr lang="en-GB" b="1" dirty="0" err="1" smtClean="0"/>
              <a:t>Allostatic</a:t>
            </a:r>
            <a:r>
              <a:rPr lang="en-GB" b="1" dirty="0" smtClean="0"/>
              <a:t> load scores in ELSA</a:t>
            </a:r>
            <a:endParaRPr lang="en-US" b="1" dirty="0" smtClean="0"/>
          </a:p>
        </p:txBody>
      </p:sp>
      <p:sp>
        <p:nvSpPr>
          <p:cNvPr id="5123" name="Content Placeholder 2"/>
          <p:cNvSpPr>
            <a:spLocks noGrp="1"/>
          </p:cNvSpPr>
          <p:nvPr>
            <p:ph idx="1"/>
          </p:nvPr>
        </p:nvSpPr>
        <p:spPr>
          <a:xfrm>
            <a:off x="533400" y="1371601"/>
            <a:ext cx="8153400" cy="1676400"/>
          </a:xfrm>
        </p:spPr>
        <p:txBody>
          <a:bodyPr/>
          <a:lstStyle/>
          <a:p>
            <a:r>
              <a:rPr lang="nl-NL" sz="2800" dirty="0" smtClean="0"/>
              <a:t>Group allostatic load index: number of biomarkers indicating high risk (25th percentile) calculated separately for men and women, range 0 - 9</a:t>
            </a:r>
          </a:p>
          <a:p>
            <a:endParaRPr lang="en-US" sz="2800" dirty="0"/>
          </a:p>
        </p:txBody>
      </p:sp>
      <p:graphicFrame>
        <p:nvGraphicFramePr>
          <p:cNvPr id="4" name="Table 3"/>
          <p:cNvGraphicFramePr>
            <a:graphicFrameLocks noGrp="1"/>
          </p:cNvGraphicFramePr>
          <p:nvPr/>
        </p:nvGraphicFramePr>
        <p:xfrm>
          <a:off x="990600" y="3048000"/>
          <a:ext cx="6096000" cy="296672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1" dirty="0" smtClean="0"/>
                        <a:t>Upper 25</a:t>
                      </a:r>
                      <a:r>
                        <a:rPr lang="en-GB" sz="1800" b="1" baseline="30000" dirty="0" smtClean="0"/>
                        <a:t>th</a:t>
                      </a:r>
                      <a:r>
                        <a:rPr lang="en-GB" sz="1800" b="1" dirty="0" smtClean="0"/>
                        <a:t> percentile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1" dirty="0" smtClean="0"/>
                        <a:t>Lower 25</a:t>
                      </a:r>
                      <a:r>
                        <a:rPr lang="en-GB" sz="1800" b="1" baseline="30000" dirty="0" smtClean="0"/>
                        <a:t>th</a:t>
                      </a:r>
                      <a:r>
                        <a:rPr lang="en-GB" sz="1800" b="1" dirty="0" smtClean="0"/>
                        <a:t> percentile</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Systolic blood pressure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Diastolic blood pressure</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Fibrinogen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Peak expiratory flow</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Triglycerides</a:t>
                      </a:r>
                    </a:p>
                  </a:txBody>
                  <a:tcPr/>
                </a:tc>
                <a:tc>
                  <a:txBody>
                    <a:bodyPr/>
                    <a:lstStyle/>
                    <a:p>
                      <a:endParaRPr lang="en-GB" b="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C-reactive protein</a:t>
                      </a:r>
                    </a:p>
                  </a:txBody>
                  <a:tcPr/>
                </a:tc>
                <a:tc>
                  <a:txBody>
                    <a:bodyPr/>
                    <a:lstStyle/>
                    <a:p>
                      <a:endParaRPr lang="en-GB" b="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err="1" smtClean="0"/>
                        <a:t>Glycated</a:t>
                      </a:r>
                      <a:r>
                        <a:rPr lang="en-GB" sz="1800" b="0" dirty="0" smtClean="0"/>
                        <a:t> </a:t>
                      </a:r>
                      <a:r>
                        <a:rPr lang="en-GB" sz="1800" b="0" dirty="0" err="1" smtClean="0"/>
                        <a:t>HgB</a:t>
                      </a:r>
                      <a:endParaRPr lang="en-GB" sz="1800" b="0" dirty="0" smtClean="0"/>
                    </a:p>
                  </a:txBody>
                  <a:tcPr/>
                </a:tc>
                <a:tc>
                  <a:txBody>
                    <a:bodyPr/>
                    <a:lstStyle/>
                    <a:p>
                      <a:endParaRPr lang="en-GB" b="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dirty="0" smtClean="0"/>
                        <a:t>Waist-hip ratio</a:t>
                      </a:r>
                    </a:p>
                  </a:txBody>
                  <a:tcPr/>
                </a:tc>
                <a:tc>
                  <a:txBody>
                    <a:bodyPr/>
                    <a:lstStyle/>
                    <a:p>
                      <a:endParaRPr lang="en-GB" b="0" dirty="0"/>
                    </a:p>
                  </a:txBody>
                  <a:tcPr/>
                </a:tc>
              </a:tr>
              <a:tr h="370840">
                <a:tc>
                  <a:txBody>
                    <a:bodyPr/>
                    <a:lstStyle/>
                    <a:p>
                      <a:pPr fontAlgn="t"/>
                      <a:r>
                        <a:rPr lang="en-GB" sz="1800" b="0" dirty="0" smtClean="0"/>
                        <a:t>Total/HDL cholesterol ratio</a:t>
                      </a:r>
                    </a:p>
                  </a:txBody>
                  <a:tcPr/>
                </a:tc>
                <a:tc>
                  <a:txBody>
                    <a:bodyPr/>
                    <a:lstStyle/>
                    <a:p>
                      <a:endParaRPr lang="en-GB" b="0" dirty="0"/>
                    </a:p>
                  </a:txBody>
                  <a:tcPr/>
                </a:tc>
              </a:tr>
            </a:tbl>
          </a:graphicData>
        </a:graphic>
      </p:graphicFrame>
      <p:pic>
        <p:nvPicPr>
          <p:cNvPr id="5" name="Picture 4"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685800"/>
            <a:ext cx="7115175" cy="868362"/>
          </a:xfrm>
        </p:spPr>
        <p:txBody>
          <a:bodyPr>
            <a:normAutofit fontScale="90000"/>
          </a:bodyPr>
          <a:lstStyle/>
          <a:p>
            <a:r>
              <a:rPr lang="en-GB" b="1" dirty="0" err="1" smtClean="0"/>
              <a:t>Allostatic</a:t>
            </a:r>
            <a:r>
              <a:rPr lang="en-GB" b="1" dirty="0" smtClean="0"/>
              <a:t> load scores in ELSA</a:t>
            </a:r>
            <a:endParaRPr lang="en-US" b="1" dirty="0" smtClean="0"/>
          </a:p>
        </p:txBody>
      </p:sp>
      <p:sp>
        <p:nvSpPr>
          <p:cNvPr id="5123" name="Content Placeholder 2"/>
          <p:cNvSpPr>
            <a:spLocks noGrp="1"/>
          </p:cNvSpPr>
          <p:nvPr>
            <p:ph idx="1"/>
          </p:nvPr>
        </p:nvSpPr>
        <p:spPr>
          <a:xfrm>
            <a:off x="457200" y="2286000"/>
            <a:ext cx="8153400" cy="2362200"/>
          </a:xfrm>
        </p:spPr>
        <p:txBody>
          <a:bodyPr>
            <a:normAutofit fontScale="92500" lnSpcReduction="10000"/>
          </a:bodyPr>
          <a:lstStyle/>
          <a:p>
            <a:pPr>
              <a:buNone/>
            </a:pPr>
            <a:r>
              <a:rPr lang="nl-NL" sz="2800" dirty="0" smtClean="0"/>
              <a:t>Challenges in creating composite scores:</a:t>
            </a:r>
          </a:p>
          <a:p>
            <a:r>
              <a:rPr lang="nl-NL" sz="2800" dirty="0" smtClean="0"/>
              <a:t>Extreme values</a:t>
            </a:r>
          </a:p>
          <a:p>
            <a:r>
              <a:rPr lang="nl-NL" sz="2800" dirty="0" smtClean="0"/>
              <a:t>Medication</a:t>
            </a:r>
          </a:p>
          <a:p>
            <a:r>
              <a:rPr lang="nl-NL" sz="2800" dirty="0" smtClean="0"/>
              <a:t>Non-linearity</a:t>
            </a:r>
          </a:p>
          <a:p>
            <a:r>
              <a:rPr lang="nl-NL" sz="2800" dirty="0" smtClean="0"/>
              <a:t>Missing values</a:t>
            </a:r>
          </a:p>
          <a:p>
            <a:endParaRPr lang="en-US" sz="2800" dirty="0"/>
          </a:p>
        </p:txBody>
      </p:sp>
      <p:pic>
        <p:nvPicPr>
          <p:cNvPr id="4" name="Picture 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7115175" cy="868362"/>
          </a:xfrm>
        </p:spPr>
        <p:txBody>
          <a:bodyPr>
            <a:normAutofit fontScale="90000"/>
          </a:bodyPr>
          <a:lstStyle/>
          <a:p>
            <a:r>
              <a:rPr lang="en-GB" sz="2800" b="1" dirty="0" err="1" smtClean="0"/>
              <a:t>Allostatic</a:t>
            </a:r>
            <a:r>
              <a:rPr lang="en-GB" sz="2800" b="1" dirty="0" smtClean="0"/>
              <a:t> load measures in 2004 predicting ADL problems in 2006 in men in ELSA</a:t>
            </a:r>
            <a:endParaRPr lang="en-US" sz="2800" b="1" dirty="0" smtClean="0"/>
          </a:p>
        </p:txBody>
      </p:sp>
      <p:graphicFrame>
        <p:nvGraphicFramePr>
          <p:cNvPr id="5" name="Content Placeholder 4"/>
          <p:cNvGraphicFramePr>
            <a:graphicFrameLocks noGrp="1"/>
          </p:cNvGraphicFramePr>
          <p:nvPr>
            <p:ph idx="1"/>
          </p:nvPr>
        </p:nvGraphicFramePr>
        <p:xfrm>
          <a:off x="342900" y="1600200"/>
          <a:ext cx="8343900" cy="38798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rot="16200000">
            <a:off x="-609600" y="2743200"/>
            <a:ext cx="2057400" cy="381000"/>
          </a:xfrm>
          <a:prstGeom prst="rect">
            <a:avLst/>
          </a:prstGeom>
          <a:noFill/>
        </p:spPr>
        <p:txBody>
          <a:bodyPr wrap="square" rtlCol="0">
            <a:spAutoFit/>
          </a:bodyPr>
          <a:lstStyle/>
          <a:p>
            <a:r>
              <a:rPr lang="en-GB" dirty="0" smtClean="0"/>
              <a:t>ADL problem %</a:t>
            </a:r>
            <a:endParaRPr lang="en-GB" dirty="0"/>
          </a:p>
        </p:txBody>
      </p:sp>
      <p:sp>
        <p:nvSpPr>
          <p:cNvPr id="7" name="TextBox 6"/>
          <p:cNvSpPr txBox="1"/>
          <p:nvPr/>
        </p:nvSpPr>
        <p:spPr>
          <a:xfrm>
            <a:off x="8534400" y="3124200"/>
            <a:ext cx="609600" cy="400110"/>
          </a:xfrm>
          <a:prstGeom prst="rect">
            <a:avLst/>
          </a:prstGeom>
          <a:noFill/>
        </p:spPr>
        <p:txBody>
          <a:bodyPr wrap="square" rtlCol="0">
            <a:spAutoFit/>
          </a:bodyPr>
          <a:lstStyle/>
          <a:p>
            <a:r>
              <a:rPr lang="en-GB" sz="1000" dirty="0" smtClean="0"/>
              <a:t>Lowest 25%</a:t>
            </a:r>
            <a:endParaRPr lang="en-GB" sz="1000" dirty="0"/>
          </a:p>
        </p:txBody>
      </p:sp>
      <p:sp>
        <p:nvSpPr>
          <p:cNvPr id="8" name="TextBox 7"/>
          <p:cNvSpPr txBox="1"/>
          <p:nvPr/>
        </p:nvSpPr>
        <p:spPr>
          <a:xfrm>
            <a:off x="8534400" y="4267200"/>
            <a:ext cx="609600" cy="400110"/>
          </a:xfrm>
          <a:prstGeom prst="rect">
            <a:avLst/>
          </a:prstGeom>
          <a:noFill/>
        </p:spPr>
        <p:txBody>
          <a:bodyPr wrap="square" rtlCol="0">
            <a:spAutoFit/>
          </a:bodyPr>
          <a:lstStyle/>
          <a:p>
            <a:r>
              <a:rPr lang="en-GB" sz="1000" dirty="0" smtClean="0"/>
              <a:t>Highest25%</a:t>
            </a:r>
            <a:endParaRPr lang="en-GB" sz="1000" dirty="0"/>
          </a:p>
        </p:txBody>
      </p:sp>
      <p:pic>
        <p:nvPicPr>
          <p:cNvPr id="9" name="Picture 8" descr="New black and white school logo 30mm.jpg"/>
          <p:cNvPicPr/>
          <p:nvPr/>
        </p:nvPicPr>
        <p:blipFill>
          <a:blip r:embed="rId4"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427038"/>
            <a:ext cx="7115175" cy="868362"/>
          </a:xfrm>
        </p:spPr>
        <p:txBody>
          <a:bodyPr>
            <a:normAutofit fontScale="90000"/>
          </a:bodyPr>
          <a:lstStyle/>
          <a:p>
            <a:r>
              <a:rPr lang="en-GB" b="1" dirty="0" err="1" smtClean="0"/>
              <a:t>Allostatic</a:t>
            </a:r>
            <a:r>
              <a:rPr lang="en-GB" b="1" dirty="0" smtClean="0"/>
              <a:t> load change in ELSA</a:t>
            </a:r>
            <a:endParaRPr lang="en-US" b="1" dirty="0" smtClean="0"/>
          </a:p>
        </p:txBody>
      </p:sp>
      <p:sp>
        <p:nvSpPr>
          <p:cNvPr id="5123" name="Content Placeholder 2"/>
          <p:cNvSpPr>
            <a:spLocks noGrp="1"/>
          </p:cNvSpPr>
          <p:nvPr>
            <p:ph idx="1"/>
          </p:nvPr>
        </p:nvSpPr>
        <p:spPr>
          <a:xfrm>
            <a:off x="533400" y="1600200"/>
            <a:ext cx="8153400" cy="1676400"/>
          </a:xfrm>
        </p:spPr>
        <p:txBody>
          <a:bodyPr>
            <a:normAutofit fontScale="92500"/>
          </a:bodyPr>
          <a:lstStyle/>
          <a:p>
            <a:pPr>
              <a:buNone/>
            </a:pPr>
            <a:r>
              <a:rPr lang="nl-NL" sz="2800" dirty="0" smtClean="0"/>
              <a:t>Comparison between wave 2 (2004) and wave 4 (2008):</a:t>
            </a:r>
          </a:p>
          <a:p>
            <a:r>
              <a:rPr lang="nl-NL" sz="2800" dirty="0" smtClean="0"/>
              <a:t>Low allostatic score (score 0-1) and high allostatic score (2+)</a:t>
            </a:r>
          </a:p>
        </p:txBody>
      </p:sp>
      <p:sp>
        <p:nvSpPr>
          <p:cNvPr id="4" name="TextBox 3"/>
          <p:cNvSpPr txBox="1"/>
          <p:nvPr/>
        </p:nvSpPr>
        <p:spPr>
          <a:xfrm>
            <a:off x="1295400" y="4114800"/>
            <a:ext cx="1219200" cy="369332"/>
          </a:xfrm>
          <a:prstGeom prst="rect">
            <a:avLst/>
          </a:prstGeom>
          <a:noFill/>
        </p:spPr>
        <p:txBody>
          <a:bodyPr wrap="square" rtlCol="0">
            <a:spAutoFit/>
          </a:bodyPr>
          <a:lstStyle/>
          <a:p>
            <a:r>
              <a:rPr lang="en-US" dirty="0" smtClean="0"/>
              <a:t>High</a:t>
            </a:r>
            <a:endParaRPr lang="en-US" dirty="0"/>
          </a:p>
        </p:txBody>
      </p:sp>
      <p:sp>
        <p:nvSpPr>
          <p:cNvPr id="5" name="TextBox 4"/>
          <p:cNvSpPr txBox="1"/>
          <p:nvPr/>
        </p:nvSpPr>
        <p:spPr>
          <a:xfrm>
            <a:off x="4191000" y="4114800"/>
            <a:ext cx="1219200" cy="369332"/>
          </a:xfrm>
          <a:prstGeom prst="rect">
            <a:avLst/>
          </a:prstGeom>
          <a:noFill/>
        </p:spPr>
        <p:txBody>
          <a:bodyPr wrap="square" rtlCol="0">
            <a:spAutoFit/>
          </a:bodyPr>
          <a:lstStyle/>
          <a:p>
            <a:r>
              <a:rPr lang="en-US" dirty="0" smtClean="0"/>
              <a:t>High</a:t>
            </a:r>
            <a:endParaRPr lang="en-US" dirty="0"/>
          </a:p>
        </p:txBody>
      </p:sp>
      <p:sp>
        <p:nvSpPr>
          <p:cNvPr id="6" name="TextBox 5"/>
          <p:cNvSpPr txBox="1"/>
          <p:nvPr/>
        </p:nvSpPr>
        <p:spPr>
          <a:xfrm>
            <a:off x="1295400" y="5410200"/>
            <a:ext cx="1219200" cy="369332"/>
          </a:xfrm>
          <a:prstGeom prst="rect">
            <a:avLst/>
          </a:prstGeom>
          <a:noFill/>
        </p:spPr>
        <p:txBody>
          <a:bodyPr wrap="square" rtlCol="0">
            <a:spAutoFit/>
          </a:bodyPr>
          <a:lstStyle/>
          <a:p>
            <a:r>
              <a:rPr lang="en-US" dirty="0" smtClean="0"/>
              <a:t>Low</a:t>
            </a:r>
            <a:endParaRPr lang="en-US" dirty="0"/>
          </a:p>
        </p:txBody>
      </p:sp>
      <p:sp>
        <p:nvSpPr>
          <p:cNvPr id="7" name="TextBox 6"/>
          <p:cNvSpPr txBox="1"/>
          <p:nvPr/>
        </p:nvSpPr>
        <p:spPr>
          <a:xfrm>
            <a:off x="4267200" y="5410200"/>
            <a:ext cx="1219200" cy="369332"/>
          </a:xfrm>
          <a:prstGeom prst="rect">
            <a:avLst/>
          </a:prstGeom>
          <a:noFill/>
        </p:spPr>
        <p:txBody>
          <a:bodyPr wrap="square" rtlCol="0">
            <a:spAutoFit/>
          </a:bodyPr>
          <a:lstStyle/>
          <a:p>
            <a:r>
              <a:rPr lang="en-US" dirty="0" smtClean="0"/>
              <a:t>Low</a:t>
            </a:r>
            <a:endParaRPr lang="en-US" dirty="0"/>
          </a:p>
        </p:txBody>
      </p:sp>
      <p:sp>
        <p:nvSpPr>
          <p:cNvPr id="8" name="TextBox 7"/>
          <p:cNvSpPr txBox="1"/>
          <p:nvPr/>
        </p:nvSpPr>
        <p:spPr>
          <a:xfrm>
            <a:off x="1295400" y="3429000"/>
            <a:ext cx="1219200" cy="369332"/>
          </a:xfrm>
          <a:prstGeom prst="rect">
            <a:avLst/>
          </a:prstGeom>
          <a:noFill/>
        </p:spPr>
        <p:txBody>
          <a:bodyPr wrap="square" rtlCol="0">
            <a:spAutoFit/>
          </a:bodyPr>
          <a:lstStyle/>
          <a:p>
            <a:r>
              <a:rPr lang="fi-FI" dirty="0" smtClean="0"/>
              <a:t>2004</a:t>
            </a:r>
            <a:endParaRPr lang="en-US" dirty="0"/>
          </a:p>
        </p:txBody>
      </p:sp>
      <p:sp>
        <p:nvSpPr>
          <p:cNvPr id="9" name="TextBox 8"/>
          <p:cNvSpPr txBox="1"/>
          <p:nvPr/>
        </p:nvSpPr>
        <p:spPr>
          <a:xfrm>
            <a:off x="4267200" y="3429000"/>
            <a:ext cx="1219200" cy="369332"/>
          </a:xfrm>
          <a:prstGeom prst="rect">
            <a:avLst/>
          </a:prstGeom>
          <a:noFill/>
        </p:spPr>
        <p:txBody>
          <a:bodyPr wrap="square" rtlCol="0">
            <a:spAutoFit/>
          </a:bodyPr>
          <a:lstStyle/>
          <a:p>
            <a:r>
              <a:rPr lang="fi-FI" dirty="0" smtClean="0"/>
              <a:t>2008</a:t>
            </a:r>
            <a:endParaRPr lang="en-US" dirty="0"/>
          </a:p>
        </p:txBody>
      </p:sp>
      <p:cxnSp>
        <p:nvCxnSpPr>
          <p:cNvPr id="11" name="Straight Arrow Connector 10"/>
          <p:cNvCxnSpPr/>
          <p:nvPr/>
        </p:nvCxnSpPr>
        <p:spPr>
          <a:xfrm>
            <a:off x="2133600" y="4343400"/>
            <a:ext cx="1828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209800" y="5562600"/>
            <a:ext cx="1828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286000" y="4495800"/>
            <a:ext cx="1752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209800" y="4495800"/>
            <a:ext cx="18288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4" name="Picture 1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685800"/>
            <a:ext cx="7115175" cy="868362"/>
          </a:xfrm>
        </p:spPr>
        <p:txBody>
          <a:bodyPr>
            <a:normAutofit fontScale="90000"/>
          </a:bodyPr>
          <a:lstStyle/>
          <a:p>
            <a:r>
              <a:rPr lang="en-GB" sz="3600" b="1" dirty="0" err="1" smtClean="0"/>
              <a:t>Allostatic</a:t>
            </a:r>
            <a:r>
              <a:rPr lang="en-GB" sz="3600" b="1" dirty="0" smtClean="0"/>
              <a:t> load change between 2004 and 2008 in ELSA</a:t>
            </a:r>
            <a:endParaRPr lang="en-US" sz="3600" b="1" dirty="0" smtClean="0"/>
          </a:p>
        </p:txBody>
      </p:sp>
      <p:graphicFrame>
        <p:nvGraphicFramePr>
          <p:cNvPr id="17" name="Chart 16"/>
          <p:cNvGraphicFramePr/>
          <p:nvPr/>
        </p:nvGraphicFramePr>
        <p:xfrm>
          <a:off x="990600" y="1981200"/>
          <a:ext cx="6096000" cy="4064000"/>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descr="New black and white school logo 30mm.jpg"/>
          <p:cNvPicPr/>
          <p:nvPr/>
        </p:nvPicPr>
        <p:blipFill>
          <a:blip r:embed="rId4"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609600"/>
            <a:ext cx="7115175" cy="868362"/>
          </a:xfrm>
        </p:spPr>
        <p:txBody>
          <a:bodyPr>
            <a:normAutofit fontScale="90000"/>
          </a:bodyPr>
          <a:lstStyle/>
          <a:p>
            <a:r>
              <a:rPr lang="en-GB" b="1" dirty="0" err="1" smtClean="0"/>
              <a:t>Allostatic</a:t>
            </a:r>
            <a:r>
              <a:rPr lang="en-GB" b="1" dirty="0" smtClean="0"/>
              <a:t> load change in ELSA</a:t>
            </a:r>
            <a:endParaRPr lang="en-US" b="1" dirty="0" smtClean="0"/>
          </a:p>
        </p:txBody>
      </p:sp>
      <p:sp>
        <p:nvSpPr>
          <p:cNvPr id="5123" name="Content Placeholder 2"/>
          <p:cNvSpPr>
            <a:spLocks noGrp="1"/>
          </p:cNvSpPr>
          <p:nvPr>
            <p:ph idx="1"/>
          </p:nvPr>
        </p:nvSpPr>
        <p:spPr>
          <a:xfrm>
            <a:off x="533400" y="2438400"/>
            <a:ext cx="8153400" cy="3200400"/>
          </a:xfrm>
        </p:spPr>
        <p:txBody>
          <a:bodyPr>
            <a:normAutofit fontScale="77500" lnSpcReduction="20000"/>
          </a:bodyPr>
          <a:lstStyle/>
          <a:p>
            <a:pPr>
              <a:buNone/>
            </a:pPr>
            <a:r>
              <a:rPr lang="nl-NL" sz="2800" dirty="0" smtClean="0"/>
              <a:t>Is change associated with any of the following factors? </a:t>
            </a:r>
          </a:p>
          <a:p>
            <a:pPr>
              <a:buNone/>
            </a:pPr>
            <a:endParaRPr lang="nl-NL" sz="2800" dirty="0" smtClean="0"/>
          </a:p>
          <a:p>
            <a:r>
              <a:rPr lang="nl-NL" sz="2800" dirty="0" smtClean="0"/>
              <a:t>Age</a:t>
            </a:r>
          </a:p>
          <a:p>
            <a:r>
              <a:rPr lang="nl-NL" sz="2800" dirty="0" smtClean="0"/>
              <a:t>Qualification, tenure status, net wealth quintile</a:t>
            </a:r>
          </a:p>
          <a:p>
            <a:r>
              <a:rPr lang="nl-NL" sz="2800" dirty="0" smtClean="0"/>
              <a:t>Being married</a:t>
            </a:r>
          </a:p>
          <a:p>
            <a:r>
              <a:rPr lang="nl-NL" sz="2800" dirty="0" smtClean="0"/>
              <a:t>Perceived support and critique received from family and friends</a:t>
            </a:r>
          </a:p>
          <a:p>
            <a:r>
              <a:rPr lang="nl-NL" sz="2800" dirty="0" smtClean="0"/>
              <a:t>Number of children</a:t>
            </a:r>
          </a:p>
          <a:p>
            <a:r>
              <a:rPr lang="nl-NL" sz="2800" dirty="0" smtClean="0"/>
              <a:t>Co-residence with child, early child birth, late child birth (among parents only)</a:t>
            </a:r>
          </a:p>
        </p:txBody>
      </p:sp>
      <p:pic>
        <p:nvPicPr>
          <p:cNvPr id="4" name="Picture 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533400"/>
            <a:ext cx="7115175" cy="868362"/>
          </a:xfrm>
        </p:spPr>
        <p:txBody>
          <a:bodyPr>
            <a:normAutofit fontScale="90000"/>
          </a:bodyPr>
          <a:lstStyle/>
          <a:p>
            <a:r>
              <a:rPr lang="en-GB" b="1" dirty="0" err="1" smtClean="0"/>
              <a:t>Allostatic</a:t>
            </a:r>
            <a:r>
              <a:rPr lang="en-GB" b="1" dirty="0" smtClean="0"/>
              <a:t> load change in ELSA</a:t>
            </a:r>
            <a:endParaRPr lang="en-US" b="1" dirty="0" smtClean="0"/>
          </a:p>
        </p:txBody>
      </p:sp>
      <p:sp>
        <p:nvSpPr>
          <p:cNvPr id="5123" name="Content Placeholder 2"/>
          <p:cNvSpPr>
            <a:spLocks noGrp="1"/>
          </p:cNvSpPr>
          <p:nvPr>
            <p:ph idx="1"/>
          </p:nvPr>
        </p:nvSpPr>
        <p:spPr>
          <a:xfrm>
            <a:off x="457200" y="1981200"/>
            <a:ext cx="8153400" cy="3657600"/>
          </a:xfrm>
        </p:spPr>
        <p:txBody>
          <a:bodyPr>
            <a:normAutofit fontScale="85000" lnSpcReduction="20000"/>
          </a:bodyPr>
          <a:lstStyle/>
          <a:p>
            <a:pPr>
              <a:buNone/>
            </a:pPr>
            <a:r>
              <a:rPr lang="nl-NL" sz="2800" dirty="0" smtClean="0"/>
              <a:t>Is change associated with poorer health? </a:t>
            </a:r>
          </a:p>
          <a:p>
            <a:pPr>
              <a:buNone/>
            </a:pPr>
            <a:endParaRPr lang="nl-NL" sz="2800" dirty="0" smtClean="0"/>
          </a:p>
          <a:p>
            <a:r>
              <a:rPr lang="nl-NL" sz="2800" dirty="0" smtClean="0"/>
              <a:t>Poorer self-rated health, health limitation, and ADL/IADL limitation was most frequent among those who stayed in high allostatic load group in both waves.</a:t>
            </a:r>
          </a:p>
          <a:p>
            <a:r>
              <a:rPr lang="nl-NL" sz="2800" dirty="0" smtClean="0"/>
              <a:t>Those men who moved from low to high group rated their health poorer and those men who moved from high to low group rated better health. In women the differences in health were less clear.  </a:t>
            </a:r>
          </a:p>
          <a:p>
            <a:r>
              <a:rPr lang="nl-NL" sz="2800" dirty="0" smtClean="0"/>
              <a:t>Those staying in low allostatic group rated their health best of all four groups. </a:t>
            </a:r>
          </a:p>
        </p:txBody>
      </p:sp>
      <p:pic>
        <p:nvPicPr>
          <p:cNvPr id="4" name="Picture 3" descr="New black and white school logo 30mm.jpg"/>
          <p:cNvPicPr/>
          <p:nvPr/>
        </p:nvPicPr>
        <p:blipFill>
          <a:blip r:embed="rId3"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37"/>
          <p:cNvGrpSpPr/>
          <p:nvPr/>
        </p:nvGrpSpPr>
        <p:grpSpPr>
          <a:xfrm>
            <a:off x="228600" y="3048000"/>
            <a:ext cx="8486803" cy="3029127"/>
            <a:chOff x="684173" y="4364674"/>
            <a:chExt cx="7199352" cy="1115108"/>
          </a:xfrm>
        </p:grpSpPr>
        <p:sp>
          <p:nvSpPr>
            <p:cNvPr id="26" name="Text Box 26"/>
            <p:cNvSpPr txBox="1">
              <a:spLocks noChangeArrowheads="1"/>
            </p:cNvSpPr>
            <p:nvPr/>
          </p:nvSpPr>
          <p:spPr bwMode="auto">
            <a:xfrm>
              <a:off x="1265937" y="5065959"/>
              <a:ext cx="2366085" cy="215272"/>
            </a:xfrm>
            <a:prstGeom prst="rect">
              <a:avLst/>
            </a:prstGeom>
            <a:noFill/>
            <a:ln w="9525">
              <a:noFill/>
              <a:miter lim="800000"/>
              <a:headEnd/>
              <a:tailEnd/>
            </a:ln>
            <a:effectLst/>
          </p:spPr>
          <p:txBody>
            <a:bodyPr wrap="square">
              <a:spAutoFit/>
            </a:bodyPr>
            <a:lstStyle/>
            <a:p>
              <a:pPr>
                <a:spcBef>
                  <a:spcPct val="50000"/>
                </a:spcBef>
              </a:pPr>
              <a:r>
                <a:rPr lang="en-GB" sz="3200" dirty="0" smtClean="0">
                  <a:solidFill>
                    <a:srgbClr val="FF0000"/>
                  </a:solidFill>
                </a:rPr>
                <a:t>Fertility history</a:t>
              </a:r>
              <a:endParaRPr lang="en-GB" sz="3200" dirty="0">
                <a:solidFill>
                  <a:srgbClr val="FF0000"/>
                </a:solidFill>
              </a:endParaRPr>
            </a:p>
          </p:txBody>
        </p:sp>
        <p:sp>
          <p:nvSpPr>
            <p:cNvPr id="27" name="Text Box 27"/>
            <p:cNvSpPr txBox="1">
              <a:spLocks noChangeArrowheads="1"/>
            </p:cNvSpPr>
            <p:nvPr/>
          </p:nvSpPr>
          <p:spPr bwMode="auto">
            <a:xfrm>
              <a:off x="4045476" y="5037907"/>
              <a:ext cx="1703503" cy="441875"/>
            </a:xfrm>
            <a:prstGeom prst="rect">
              <a:avLst/>
            </a:prstGeom>
            <a:noFill/>
            <a:ln w="9525">
              <a:noFill/>
              <a:miter lim="800000"/>
              <a:headEnd/>
              <a:tailEnd/>
            </a:ln>
            <a:effectLst/>
          </p:spPr>
          <p:txBody>
            <a:bodyPr wrap="square">
              <a:spAutoFit/>
            </a:bodyPr>
            <a:lstStyle/>
            <a:p>
              <a:pPr algn="ctr">
                <a:spcBef>
                  <a:spcPct val="50000"/>
                </a:spcBef>
              </a:pPr>
              <a:r>
                <a:rPr lang="en-GB" sz="3600" dirty="0" err="1" smtClean="0"/>
                <a:t>Allostatic</a:t>
              </a:r>
              <a:r>
                <a:rPr lang="en-GB" sz="3600" dirty="0" smtClean="0"/>
                <a:t> load</a:t>
              </a:r>
              <a:endParaRPr lang="en-GB" sz="3600" dirty="0"/>
            </a:p>
          </p:txBody>
        </p:sp>
        <p:sp>
          <p:nvSpPr>
            <p:cNvPr id="28" name="Text Box 28"/>
            <p:cNvSpPr txBox="1">
              <a:spLocks noChangeArrowheads="1"/>
            </p:cNvSpPr>
            <p:nvPr/>
          </p:nvSpPr>
          <p:spPr bwMode="auto">
            <a:xfrm>
              <a:off x="6501811" y="4946649"/>
              <a:ext cx="1381714" cy="260593"/>
            </a:xfrm>
            <a:prstGeom prst="rect">
              <a:avLst/>
            </a:prstGeom>
            <a:noFill/>
            <a:ln w="9525">
              <a:noFill/>
              <a:miter lim="800000"/>
              <a:headEnd/>
              <a:tailEnd/>
            </a:ln>
            <a:effectLst/>
          </p:spPr>
          <p:txBody>
            <a:bodyPr wrap="square">
              <a:spAutoFit/>
            </a:bodyPr>
            <a:lstStyle/>
            <a:p>
              <a:pPr algn="ctr">
                <a:spcBef>
                  <a:spcPct val="50000"/>
                </a:spcBef>
              </a:pPr>
              <a:r>
                <a:rPr lang="en-GB" sz="4000" dirty="0" smtClean="0"/>
                <a:t>Health</a:t>
              </a:r>
              <a:endParaRPr lang="en-GB" sz="4000" dirty="0"/>
            </a:p>
          </p:txBody>
        </p:sp>
        <p:sp>
          <p:nvSpPr>
            <p:cNvPr id="29" name="Line 29"/>
            <p:cNvSpPr>
              <a:spLocks noChangeShapeType="1"/>
            </p:cNvSpPr>
            <p:nvPr/>
          </p:nvSpPr>
          <p:spPr bwMode="auto">
            <a:xfrm flipV="1">
              <a:off x="3528352" y="5234268"/>
              <a:ext cx="606008" cy="0"/>
            </a:xfrm>
            <a:prstGeom prst="line">
              <a:avLst/>
            </a:prstGeom>
            <a:noFill/>
            <a:ln w="9525">
              <a:solidFill>
                <a:schemeClr val="tx1"/>
              </a:solidFill>
              <a:round/>
              <a:headEnd/>
              <a:tailEnd type="triangle" w="med" len="med"/>
            </a:ln>
            <a:effectLst/>
          </p:spPr>
          <p:txBody>
            <a:bodyPr/>
            <a:lstStyle/>
            <a:p>
              <a:endParaRPr lang="en-GB" sz="4000"/>
            </a:p>
          </p:txBody>
        </p:sp>
        <p:cxnSp>
          <p:nvCxnSpPr>
            <p:cNvPr id="30" name="AutoShape 30"/>
            <p:cNvCxnSpPr>
              <a:cxnSpLocks noChangeShapeType="1"/>
              <a:stCxn id="26" idx="2"/>
              <a:endCxn id="28" idx="2"/>
            </p:cNvCxnSpPr>
            <p:nvPr/>
          </p:nvCxnSpPr>
          <p:spPr bwMode="auto">
            <a:xfrm rot="5400000" flipH="1" flipV="1">
              <a:off x="4783829" y="2872392"/>
              <a:ext cx="73989" cy="4743689"/>
            </a:xfrm>
            <a:prstGeom prst="curvedConnector3">
              <a:avLst>
                <a:gd name="adj1" fmla="val -256255"/>
              </a:avLst>
            </a:prstGeom>
            <a:noFill/>
            <a:ln w="9525">
              <a:solidFill>
                <a:schemeClr val="tx1"/>
              </a:solidFill>
              <a:round/>
              <a:headEnd/>
              <a:tailEnd type="triangle" w="med" len="med"/>
            </a:ln>
            <a:effectLst/>
          </p:spPr>
        </p:cxnSp>
        <p:sp>
          <p:nvSpPr>
            <p:cNvPr id="31" name="Line 31"/>
            <p:cNvSpPr>
              <a:spLocks noChangeShapeType="1"/>
            </p:cNvSpPr>
            <p:nvPr/>
          </p:nvSpPr>
          <p:spPr bwMode="auto">
            <a:xfrm flipV="1">
              <a:off x="2558746" y="4364674"/>
              <a:ext cx="646404" cy="56103"/>
            </a:xfrm>
            <a:prstGeom prst="line">
              <a:avLst/>
            </a:prstGeom>
            <a:noFill/>
            <a:ln w="9525">
              <a:solidFill>
                <a:schemeClr val="tx1"/>
              </a:solidFill>
              <a:round/>
              <a:headEnd/>
              <a:tailEnd type="triangle" w="med" len="med"/>
            </a:ln>
            <a:effectLst/>
          </p:spPr>
          <p:txBody>
            <a:bodyPr/>
            <a:lstStyle/>
            <a:p>
              <a:endParaRPr lang="en-GB" sz="4000"/>
            </a:p>
          </p:txBody>
        </p:sp>
        <p:sp>
          <p:nvSpPr>
            <p:cNvPr id="32" name="Line 32"/>
            <p:cNvSpPr>
              <a:spLocks noChangeShapeType="1"/>
            </p:cNvSpPr>
            <p:nvPr/>
          </p:nvSpPr>
          <p:spPr bwMode="auto">
            <a:xfrm>
              <a:off x="4691880" y="4448829"/>
              <a:ext cx="2302646" cy="553385"/>
            </a:xfrm>
            <a:prstGeom prst="line">
              <a:avLst/>
            </a:prstGeom>
            <a:noFill/>
            <a:ln w="9525">
              <a:solidFill>
                <a:schemeClr val="tx1"/>
              </a:solidFill>
              <a:round/>
              <a:headEnd/>
              <a:tailEnd type="triangle" w="med" len="med"/>
            </a:ln>
            <a:effectLst/>
          </p:spPr>
          <p:txBody>
            <a:bodyPr/>
            <a:lstStyle/>
            <a:p>
              <a:endParaRPr lang="en-GB" sz="4000"/>
            </a:p>
          </p:txBody>
        </p:sp>
        <p:sp>
          <p:nvSpPr>
            <p:cNvPr id="33" name="Text Box 33"/>
            <p:cNvSpPr txBox="1">
              <a:spLocks noChangeArrowheads="1"/>
            </p:cNvSpPr>
            <p:nvPr/>
          </p:nvSpPr>
          <p:spPr bwMode="auto">
            <a:xfrm>
              <a:off x="684173" y="4364674"/>
              <a:ext cx="2133134" cy="260593"/>
            </a:xfrm>
            <a:prstGeom prst="rect">
              <a:avLst/>
            </a:prstGeom>
            <a:noFill/>
            <a:ln w="9525">
              <a:noFill/>
              <a:miter lim="800000"/>
              <a:headEnd/>
              <a:tailEnd/>
            </a:ln>
            <a:effectLst/>
          </p:spPr>
          <p:txBody>
            <a:bodyPr wrap="square">
              <a:spAutoFit/>
            </a:bodyPr>
            <a:lstStyle/>
            <a:p>
              <a:pPr>
                <a:spcBef>
                  <a:spcPct val="50000"/>
                </a:spcBef>
              </a:pPr>
              <a:r>
                <a:rPr lang="en-GB" sz="4000" dirty="0" smtClean="0"/>
                <a:t>Education</a:t>
              </a:r>
              <a:endParaRPr lang="en-GB" sz="4000" dirty="0"/>
            </a:p>
          </p:txBody>
        </p:sp>
        <p:sp>
          <p:nvSpPr>
            <p:cNvPr id="34" name="Line 34"/>
            <p:cNvSpPr>
              <a:spLocks noChangeShapeType="1"/>
            </p:cNvSpPr>
            <p:nvPr/>
          </p:nvSpPr>
          <p:spPr bwMode="auto">
            <a:xfrm flipV="1">
              <a:off x="5726127" y="5178164"/>
              <a:ext cx="790561" cy="17218"/>
            </a:xfrm>
            <a:prstGeom prst="line">
              <a:avLst/>
            </a:prstGeom>
            <a:noFill/>
            <a:ln w="9525">
              <a:solidFill>
                <a:schemeClr val="tx1"/>
              </a:solidFill>
              <a:round/>
              <a:headEnd/>
              <a:tailEnd type="triangle" w="med" len="med"/>
            </a:ln>
            <a:effectLst/>
          </p:spPr>
          <p:txBody>
            <a:bodyPr/>
            <a:lstStyle/>
            <a:p>
              <a:endParaRPr lang="en-GB" sz="4000"/>
            </a:p>
          </p:txBody>
        </p:sp>
        <p:sp>
          <p:nvSpPr>
            <p:cNvPr id="36" name="Line 36"/>
            <p:cNvSpPr>
              <a:spLocks noChangeShapeType="1"/>
            </p:cNvSpPr>
            <p:nvPr/>
          </p:nvSpPr>
          <p:spPr bwMode="auto">
            <a:xfrm>
              <a:off x="1330577" y="4617137"/>
              <a:ext cx="711045" cy="448822"/>
            </a:xfrm>
            <a:prstGeom prst="line">
              <a:avLst/>
            </a:prstGeom>
            <a:noFill/>
            <a:ln w="9525">
              <a:solidFill>
                <a:schemeClr val="tx1"/>
              </a:solidFill>
              <a:round/>
              <a:headEnd/>
              <a:tailEnd type="triangle" w="med" len="med"/>
            </a:ln>
            <a:effectLst/>
          </p:spPr>
          <p:txBody>
            <a:bodyPr/>
            <a:lstStyle/>
            <a:p>
              <a:endParaRPr lang="en-GB" sz="4000"/>
            </a:p>
          </p:txBody>
        </p:sp>
      </p:grpSp>
      <p:sp>
        <p:nvSpPr>
          <p:cNvPr id="47" name="TextBox 46"/>
          <p:cNvSpPr txBox="1"/>
          <p:nvPr/>
        </p:nvSpPr>
        <p:spPr>
          <a:xfrm>
            <a:off x="214282" y="1058275"/>
            <a:ext cx="8358246" cy="1384995"/>
          </a:xfrm>
          <a:prstGeom prst="rect">
            <a:avLst/>
          </a:prstGeom>
          <a:noFill/>
        </p:spPr>
        <p:txBody>
          <a:bodyPr wrap="square" rtlCol="0">
            <a:spAutoFit/>
          </a:bodyPr>
          <a:lstStyle/>
          <a:p>
            <a:r>
              <a:rPr lang="en-GB" sz="2800" dirty="0" smtClean="0"/>
              <a:t>Is the association between fertility history and health mediated by </a:t>
            </a:r>
            <a:r>
              <a:rPr lang="en-GB" sz="2800" dirty="0" err="1" smtClean="0"/>
              <a:t>allostatic</a:t>
            </a:r>
            <a:r>
              <a:rPr lang="en-GB" sz="2800" dirty="0" smtClean="0"/>
              <a:t> load?</a:t>
            </a:r>
          </a:p>
          <a:p>
            <a:r>
              <a:rPr lang="en-GB" sz="2800" dirty="0" smtClean="0"/>
              <a:t>Does SEP influence this association?</a:t>
            </a:r>
            <a:endParaRPr lang="en-GB" sz="2800" dirty="0"/>
          </a:p>
        </p:txBody>
      </p:sp>
      <p:sp>
        <p:nvSpPr>
          <p:cNvPr id="48" name="TextBox 47"/>
          <p:cNvSpPr txBox="1"/>
          <p:nvPr/>
        </p:nvSpPr>
        <p:spPr>
          <a:xfrm>
            <a:off x="285720" y="214290"/>
            <a:ext cx="8501090" cy="707886"/>
          </a:xfrm>
          <a:prstGeom prst="rect">
            <a:avLst/>
          </a:prstGeom>
          <a:noFill/>
        </p:spPr>
        <p:txBody>
          <a:bodyPr wrap="square" rtlCol="0">
            <a:spAutoFit/>
          </a:bodyPr>
          <a:lstStyle/>
          <a:p>
            <a:pPr marL="514350" indent="-514350" algn="ctr"/>
            <a:r>
              <a:rPr lang="en-GB" sz="4000" b="1" u="sng" dirty="0" smtClean="0"/>
              <a:t>The model to be tested</a:t>
            </a:r>
          </a:p>
        </p:txBody>
      </p:sp>
      <p:sp>
        <p:nvSpPr>
          <p:cNvPr id="25" name="Text Box 33"/>
          <p:cNvSpPr txBox="1">
            <a:spLocks noChangeArrowheads="1"/>
          </p:cNvSpPr>
          <p:nvPr/>
        </p:nvSpPr>
        <p:spPr bwMode="auto">
          <a:xfrm>
            <a:off x="3200400" y="2667000"/>
            <a:ext cx="1749751" cy="707886"/>
          </a:xfrm>
          <a:prstGeom prst="rect">
            <a:avLst/>
          </a:prstGeom>
          <a:noFill/>
          <a:ln w="9525">
            <a:noFill/>
            <a:miter lim="800000"/>
            <a:headEnd/>
            <a:tailEnd/>
          </a:ln>
          <a:effectLst/>
        </p:spPr>
        <p:txBody>
          <a:bodyPr wrap="square">
            <a:spAutoFit/>
          </a:bodyPr>
          <a:lstStyle/>
          <a:p>
            <a:pPr>
              <a:spcBef>
                <a:spcPct val="50000"/>
              </a:spcBef>
            </a:pPr>
            <a:r>
              <a:rPr lang="en-GB" sz="4000" dirty="0" smtClean="0"/>
              <a:t>Wealth</a:t>
            </a:r>
            <a:endParaRPr lang="en-GB" sz="4000" dirty="0"/>
          </a:p>
        </p:txBody>
      </p:sp>
      <p:sp>
        <p:nvSpPr>
          <p:cNvPr id="45" name="Line 32"/>
          <p:cNvSpPr>
            <a:spLocks noChangeShapeType="1"/>
          </p:cNvSpPr>
          <p:nvPr/>
        </p:nvSpPr>
        <p:spPr bwMode="auto">
          <a:xfrm>
            <a:off x="3962401" y="3276600"/>
            <a:ext cx="990600" cy="1676400"/>
          </a:xfrm>
          <a:prstGeom prst="line">
            <a:avLst/>
          </a:prstGeom>
          <a:noFill/>
          <a:ln w="9525">
            <a:solidFill>
              <a:schemeClr val="tx1"/>
            </a:solidFill>
            <a:round/>
            <a:headEnd/>
            <a:tailEnd type="triangle" w="med" len="med"/>
          </a:ln>
          <a:effectLst/>
        </p:spPr>
        <p:txBody>
          <a:bodyPr/>
          <a:lstStyle/>
          <a:p>
            <a:endParaRPr lang="en-GB" sz="4000"/>
          </a:p>
        </p:txBody>
      </p:sp>
      <p:sp>
        <p:nvSpPr>
          <p:cNvPr id="46" name="Line 29"/>
          <p:cNvSpPr>
            <a:spLocks noChangeShapeType="1"/>
          </p:cNvSpPr>
          <p:nvPr/>
        </p:nvSpPr>
        <p:spPr bwMode="auto">
          <a:xfrm flipV="1">
            <a:off x="2133600" y="3429000"/>
            <a:ext cx="1371600" cy="1600200"/>
          </a:xfrm>
          <a:prstGeom prst="line">
            <a:avLst/>
          </a:prstGeom>
          <a:noFill/>
          <a:ln w="9525">
            <a:solidFill>
              <a:schemeClr val="tx1"/>
            </a:solidFill>
            <a:round/>
            <a:headEnd/>
            <a:tailEnd type="triangle" w="med" len="med"/>
          </a:ln>
          <a:effectLst/>
        </p:spPr>
        <p:txBody>
          <a:bodyPr/>
          <a:lstStyle/>
          <a:p>
            <a:endParaRPr lang="en-GB" sz="4000"/>
          </a:p>
        </p:txBody>
      </p:sp>
      <p:pic>
        <p:nvPicPr>
          <p:cNvPr id="18" name="Picture 17"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TextBox 46"/>
          <p:cNvSpPr txBox="1"/>
          <p:nvPr/>
        </p:nvSpPr>
        <p:spPr>
          <a:xfrm>
            <a:off x="304800" y="1671221"/>
            <a:ext cx="8358246" cy="5262979"/>
          </a:xfrm>
          <a:prstGeom prst="rect">
            <a:avLst/>
          </a:prstGeom>
          <a:noFill/>
        </p:spPr>
        <p:txBody>
          <a:bodyPr wrap="square" rtlCol="0">
            <a:spAutoFit/>
          </a:bodyPr>
          <a:lstStyle/>
          <a:p>
            <a:r>
              <a:rPr lang="en-GB" sz="2800" dirty="0" smtClean="0"/>
              <a:t>Is the association between fertility history and health mediated by </a:t>
            </a:r>
            <a:r>
              <a:rPr lang="en-GB" sz="2800" dirty="0" err="1" smtClean="0"/>
              <a:t>allostatic</a:t>
            </a:r>
            <a:r>
              <a:rPr lang="en-GB" sz="2800" dirty="0" smtClean="0"/>
              <a:t> load? </a:t>
            </a:r>
          </a:p>
          <a:p>
            <a:r>
              <a:rPr lang="en-GB" sz="2800" dirty="0" smtClean="0"/>
              <a:t>- Yes, it is in men and to some extent also in women. In women there are also direct paths to health suggesting that there are other potential mediators.</a:t>
            </a:r>
          </a:p>
          <a:p>
            <a:endParaRPr lang="en-GB" sz="2800" dirty="0" smtClean="0"/>
          </a:p>
          <a:p>
            <a:r>
              <a:rPr lang="en-GB" sz="2800" dirty="0" smtClean="0"/>
              <a:t>Does SEP influence this association?</a:t>
            </a:r>
          </a:p>
          <a:p>
            <a:r>
              <a:rPr lang="en-GB" sz="2800" dirty="0" smtClean="0"/>
              <a:t>- In men, and to some extent in women, SEP mediates the association between fertility history and later </a:t>
            </a:r>
            <a:r>
              <a:rPr lang="en-GB" sz="2800" dirty="0" err="1" smtClean="0"/>
              <a:t>allostatic</a:t>
            </a:r>
            <a:r>
              <a:rPr lang="en-GB" sz="2800" dirty="0" smtClean="0"/>
              <a:t> load and health. </a:t>
            </a:r>
          </a:p>
          <a:p>
            <a:endParaRPr lang="en-GB" sz="2800" dirty="0" smtClean="0"/>
          </a:p>
          <a:p>
            <a:endParaRPr lang="en-GB" sz="2800" dirty="0"/>
          </a:p>
        </p:txBody>
      </p:sp>
      <p:sp>
        <p:nvSpPr>
          <p:cNvPr id="3" name="Title 1"/>
          <p:cNvSpPr txBox="1">
            <a:spLocks/>
          </p:cNvSpPr>
          <p:nvPr/>
        </p:nvSpPr>
        <p:spPr>
          <a:xfrm>
            <a:off x="733425" y="274638"/>
            <a:ext cx="7115175" cy="8683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smtClean="0">
                <a:ln>
                  <a:noFill/>
                </a:ln>
                <a:solidFill>
                  <a:schemeClr val="tx1"/>
                </a:solidFill>
                <a:effectLst/>
                <a:uLnTx/>
                <a:uFillTx/>
                <a:latin typeface="+mj-lt"/>
                <a:ea typeface="+mj-ea"/>
                <a:cs typeface="+mj-cs"/>
              </a:rPr>
              <a:t>Fertility history, </a:t>
            </a:r>
            <a:r>
              <a:rPr kumimoji="0" lang="en-GB" sz="4000" b="1" i="0" u="none" strike="noStrike" kern="1200" cap="none" spc="0" normalizeH="0" baseline="0" noProof="0" dirty="0" err="1" smtClean="0">
                <a:ln>
                  <a:noFill/>
                </a:ln>
                <a:solidFill>
                  <a:schemeClr val="tx1"/>
                </a:solidFill>
                <a:effectLst/>
                <a:uLnTx/>
                <a:uFillTx/>
                <a:latin typeface="+mj-lt"/>
                <a:ea typeface="+mj-ea"/>
                <a:cs typeface="+mj-cs"/>
              </a:rPr>
              <a:t>allostatic</a:t>
            </a:r>
            <a:r>
              <a:rPr kumimoji="0" lang="en-GB" sz="4000" b="1" i="0" u="none" strike="noStrike" kern="1200" cap="none" spc="0" normalizeH="0" baseline="0" noProof="0" dirty="0" smtClean="0">
                <a:ln>
                  <a:noFill/>
                </a:ln>
                <a:solidFill>
                  <a:schemeClr val="tx1"/>
                </a:solidFill>
                <a:effectLst/>
                <a:uLnTx/>
                <a:uFillTx/>
                <a:latin typeface="+mj-lt"/>
                <a:ea typeface="+mj-ea"/>
                <a:cs typeface="+mj-cs"/>
              </a:rPr>
              <a:t> load and health in ELSA</a:t>
            </a:r>
            <a:endParaRPr kumimoji="0" lang="en-US" sz="4000" b="1" i="0" u="none" strike="noStrike" kern="1200" cap="none" spc="0" normalizeH="0" baseline="0" noProof="0" dirty="0" smtClean="0">
              <a:ln>
                <a:noFill/>
              </a:ln>
              <a:solidFill>
                <a:schemeClr val="tx1"/>
              </a:solidFill>
              <a:effectLst/>
              <a:uLnTx/>
              <a:uFillTx/>
              <a:latin typeface="+mj-lt"/>
              <a:ea typeface="+mj-ea"/>
              <a:cs typeface="+mj-cs"/>
            </a:endParaRPr>
          </a:p>
        </p:txBody>
      </p:sp>
      <p:pic>
        <p:nvPicPr>
          <p:cNvPr id="4" name="Picture 3"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TextBox 46"/>
          <p:cNvSpPr txBox="1"/>
          <p:nvPr/>
        </p:nvSpPr>
        <p:spPr>
          <a:xfrm>
            <a:off x="762000" y="1236107"/>
            <a:ext cx="7391400" cy="4555093"/>
          </a:xfrm>
          <a:prstGeom prst="rect">
            <a:avLst/>
          </a:prstGeom>
          <a:noFill/>
        </p:spPr>
        <p:txBody>
          <a:bodyPr wrap="square" rtlCol="0">
            <a:spAutoFit/>
          </a:bodyPr>
          <a:lstStyle/>
          <a:p>
            <a:r>
              <a:rPr lang="en-GB" sz="1400" dirty="0" err="1" smtClean="0"/>
              <a:t>Crimmins</a:t>
            </a:r>
            <a:r>
              <a:rPr lang="en-GB" sz="1400" dirty="0" smtClean="0"/>
              <a:t>, E.M., Kim, J.K., </a:t>
            </a:r>
            <a:r>
              <a:rPr lang="en-GB" sz="1400" dirty="0" err="1" smtClean="0"/>
              <a:t>Seeman</a:t>
            </a:r>
            <a:r>
              <a:rPr lang="en-GB" sz="1400" dirty="0" smtClean="0"/>
              <a:t>, T.E. (2009). Poverty and biological risk: The earlier “aging” of the poor</a:t>
            </a:r>
            <a:r>
              <a:rPr lang="en-GB" sz="1400" i="1" dirty="0" smtClean="0"/>
              <a:t>. Journal of Gerontology: Medical Sciences, 64A</a:t>
            </a:r>
            <a:r>
              <a:rPr lang="en-GB" sz="1400" dirty="0" smtClean="0"/>
              <a:t>, 286-292. </a:t>
            </a:r>
          </a:p>
          <a:p>
            <a:endParaRPr lang="en-GB" sz="1400" dirty="0" smtClean="0"/>
          </a:p>
          <a:p>
            <a:r>
              <a:rPr lang="en-GB" sz="1400" dirty="0" smtClean="0"/>
              <a:t>Dowd, J.B., &amp; Goldman, N. (2006). Do biomarkers of stress mediate the relation between socioeconomic status and health? </a:t>
            </a:r>
            <a:r>
              <a:rPr lang="en-GB" sz="1400" i="1" dirty="0" smtClean="0"/>
              <a:t>Journal of Epidemiology and Community Health, 60, </a:t>
            </a:r>
            <a:r>
              <a:rPr lang="en-GB" sz="1400" dirty="0" smtClean="0"/>
              <a:t>633-639. </a:t>
            </a:r>
          </a:p>
          <a:p>
            <a:endParaRPr lang="en-GB" sz="1400" dirty="0" smtClean="0"/>
          </a:p>
          <a:p>
            <a:r>
              <a:rPr lang="en-GB" sz="1400" dirty="0" smtClean="0"/>
              <a:t>Dowd, J.B., </a:t>
            </a:r>
            <a:r>
              <a:rPr lang="en-GB" sz="1400" dirty="0" err="1" smtClean="0"/>
              <a:t>Simanek</a:t>
            </a:r>
            <a:r>
              <a:rPr lang="en-GB" sz="1400" dirty="0" smtClean="0"/>
              <a:t>, A.M., &amp; Aiello, A.E. (2009). Socio-economic status, </a:t>
            </a:r>
            <a:r>
              <a:rPr lang="en-GB" sz="1400" dirty="0" err="1" smtClean="0"/>
              <a:t>cortisol</a:t>
            </a:r>
            <a:r>
              <a:rPr lang="en-GB" sz="1400" dirty="0" smtClean="0"/>
              <a:t> and </a:t>
            </a:r>
            <a:r>
              <a:rPr lang="en-GB" sz="1400" dirty="0" err="1" smtClean="0"/>
              <a:t>allostatic</a:t>
            </a:r>
            <a:r>
              <a:rPr lang="en-GB" sz="1400" dirty="0" smtClean="0"/>
              <a:t> load: a review of the literature. International Journal of Epidemiology. 38, 1297-1309. </a:t>
            </a:r>
          </a:p>
          <a:p>
            <a:endParaRPr lang="en-GB" sz="1400" dirty="0" smtClean="0"/>
          </a:p>
          <a:p>
            <a:r>
              <a:rPr lang="en-GB" sz="1400" dirty="0" smtClean="0"/>
              <a:t>Goldman, N., </a:t>
            </a:r>
            <a:r>
              <a:rPr lang="en-GB" sz="1400" dirty="0" err="1" smtClean="0"/>
              <a:t>Turra</a:t>
            </a:r>
            <a:r>
              <a:rPr lang="en-GB" sz="1400" dirty="0" smtClean="0"/>
              <a:t>, C.M., </a:t>
            </a:r>
            <a:r>
              <a:rPr lang="en-GB" sz="1400" dirty="0" err="1" smtClean="0"/>
              <a:t>Glei</a:t>
            </a:r>
            <a:r>
              <a:rPr lang="en-GB" sz="1400" dirty="0" smtClean="0"/>
              <a:t>, D.A., Lin, Y.-H., Weinstein, M. (2006). Physiological </a:t>
            </a:r>
            <a:r>
              <a:rPr lang="en-GB" sz="1400" dirty="0" err="1" smtClean="0"/>
              <a:t>dysregulation</a:t>
            </a:r>
            <a:r>
              <a:rPr lang="en-GB" sz="1400" dirty="0" smtClean="0"/>
              <a:t> and changes in health in an older population. </a:t>
            </a:r>
            <a:r>
              <a:rPr lang="en-GB" sz="1400" i="1" dirty="0" smtClean="0"/>
              <a:t>Experimental Gerontology, 41</a:t>
            </a:r>
            <a:r>
              <a:rPr lang="en-GB" sz="1400" dirty="0" smtClean="0"/>
              <a:t>, 862 - 870. </a:t>
            </a:r>
          </a:p>
          <a:p>
            <a:endParaRPr lang="en-GB" sz="1400" dirty="0" smtClean="0"/>
          </a:p>
          <a:p>
            <a:r>
              <a:rPr lang="en-GB" sz="1400" dirty="0" err="1" smtClean="0"/>
              <a:t>Gustafsson</a:t>
            </a:r>
            <a:r>
              <a:rPr lang="en-GB" sz="1400" dirty="0" smtClean="0"/>
              <a:t>, P.E., </a:t>
            </a:r>
            <a:r>
              <a:rPr lang="en-GB" sz="1400" dirty="0" err="1" smtClean="0"/>
              <a:t>Janlert</a:t>
            </a:r>
            <a:r>
              <a:rPr lang="en-GB" sz="1400" dirty="0" smtClean="0"/>
              <a:t>, U., Theorell, T., </a:t>
            </a:r>
            <a:r>
              <a:rPr lang="en-GB" sz="1400" dirty="0" err="1" smtClean="0"/>
              <a:t>Westerlund</a:t>
            </a:r>
            <a:r>
              <a:rPr lang="en-GB" sz="1400" dirty="0" smtClean="0"/>
              <a:t>, H., &amp; </a:t>
            </a:r>
            <a:r>
              <a:rPr lang="en-GB" sz="1400" dirty="0" err="1" smtClean="0"/>
              <a:t>Hammarström</a:t>
            </a:r>
            <a:r>
              <a:rPr lang="en-GB" sz="1400" dirty="0" smtClean="0"/>
              <a:t>, A. (2011). Socioeconomic status over the life course and </a:t>
            </a:r>
            <a:r>
              <a:rPr lang="en-GB" sz="1400" dirty="0" err="1" smtClean="0"/>
              <a:t>allostatic</a:t>
            </a:r>
            <a:r>
              <a:rPr lang="en-GB" sz="1400" dirty="0" smtClean="0"/>
              <a:t> load in adulthood: results from the Northern Swedish Cohort. </a:t>
            </a:r>
            <a:r>
              <a:rPr lang="en-GB" sz="1400" i="1" dirty="0" smtClean="0"/>
              <a:t>Journal of Epidemiology and Community Health, 65</a:t>
            </a:r>
            <a:r>
              <a:rPr lang="en-GB" sz="1400" dirty="0" smtClean="0"/>
              <a:t>, 986-992. </a:t>
            </a:r>
          </a:p>
          <a:p>
            <a:endParaRPr lang="en-GB" sz="1400" dirty="0" smtClean="0"/>
          </a:p>
          <a:p>
            <a:r>
              <a:rPr lang="en-GB" sz="1400" dirty="0" err="1" smtClean="0"/>
              <a:t>Hu</a:t>
            </a:r>
            <a:r>
              <a:rPr lang="en-GB" sz="1400" dirty="0" smtClean="0"/>
              <a:t>, P., </a:t>
            </a:r>
            <a:r>
              <a:rPr lang="en-GB" sz="1400" dirty="0" err="1" smtClean="0"/>
              <a:t>Wagle</a:t>
            </a:r>
            <a:r>
              <a:rPr lang="en-GB" sz="1400" dirty="0" smtClean="0"/>
              <a:t>, N., Goldman, N., Weinstein, M., &amp; </a:t>
            </a:r>
            <a:r>
              <a:rPr lang="en-GB" sz="1400" dirty="0" err="1" smtClean="0"/>
              <a:t>Seeman</a:t>
            </a:r>
            <a:r>
              <a:rPr lang="en-GB" sz="1400" dirty="0" smtClean="0"/>
              <a:t>, T.E. (2006). The associations between socioeconomic status, </a:t>
            </a:r>
            <a:r>
              <a:rPr lang="en-GB" sz="1400" dirty="0" err="1" smtClean="0"/>
              <a:t>allostatic</a:t>
            </a:r>
            <a:r>
              <a:rPr lang="en-GB" sz="1400" dirty="0" smtClean="0"/>
              <a:t> load and measures of health on older Taiwanese persons: Taiwan Social Environment and Biomarkers of Aging Study</a:t>
            </a:r>
            <a:r>
              <a:rPr lang="en-GB" sz="1400" i="1" dirty="0" smtClean="0"/>
              <a:t>. Journal of Biosocial science, 39</a:t>
            </a:r>
            <a:r>
              <a:rPr lang="en-GB" sz="1400" dirty="0" smtClean="0"/>
              <a:t>, 545-556. </a:t>
            </a:r>
          </a:p>
          <a:p>
            <a:endParaRPr lang="en-GB" sz="1200" dirty="0" smtClean="0"/>
          </a:p>
          <a:p>
            <a:endParaRPr lang="en-GB" sz="1200" dirty="0" smtClean="0"/>
          </a:p>
        </p:txBody>
      </p:sp>
      <p:sp>
        <p:nvSpPr>
          <p:cNvPr id="48" name="TextBox 47"/>
          <p:cNvSpPr txBox="1"/>
          <p:nvPr/>
        </p:nvSpPr>
        <p:spPr>
          <a:xfrm>
            <a:off x="285720" y="545068"/>
            <a:ext cx="8501090" cy="369332"/>
          </a:xfrm>
          <a:prstGeom prst="rect">
            <a:avLst/>
          </a:prstGeom>
          <a:noFill/>
        </p:spPr>
        <p:txBody>
          <a:bodyPr wrap="square" rtlCol="0">
            <a:spAutoFit/>
          </a:bodyPr>
          <a:lstStyle/>
          <a:p>
            <a:pPr marL="514350" indent="-514350" algn="ctr"/>
            <a:r>
              <a:rPr lang="en-GB" b="1" u="sng" dirty="0" smtClean="0"/>
              <a:t>References 1</a:t>
            </a:r>
          </a:p>
        </p:txBody>
      </p:sp>
      <p:pic>
        <p:nvPicPr>
          <p:cNvPr id="4" name="Picture 3"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5800" y="1524000"/>
            <a:ext cx="7467600" cy="3754874"/>
          </a:xfrm>
          <a:prstGeom prst="rect">
            <a:avLst/>
          </a:prstGeom>
        </p:spPr>
        <p:txBody>
          <a:bodyPr wrap="square">
            <a:spAutoFit/>
          </a:bodyPr>
          <a:lstStyle/>
          <a:p>
            <a:endParaRPr lang="en-GB" sz="1400" dirty="0" smtClean="0"/>
          </a:p>
          <a:p>
            <a:r>
              <a:rPr lang="en-GB" sz="1400" dirty="0" err="1" smtClean="0"/>
              <a:t>Juster</a:t>
            </a:r>
            <a:r>
              <a:rPr lang="en-GB" sz="1400" dirty="0" smtClean="0"/>
              <a:t>, R.-P., McEwen, B.S.,  &amp; </a:t>
            </a:r>
            <a:r>
              <a:rPr lang="en-GB" sz="1400" dirty="0" err="1" smtClean="0"/>
              <a:t>Lupien</a:t>
            </a:r>
            <a:r>
              <a:rPr lang="en-GB" sz="1400" dirty="0" smtClean="0"/>
              <a:t>, S.J. (2010) </a:t>
            </a:r>
            <a:r>
              <a:rPr lang="en-GB" sz="1400" dirty="0" err="1" smtClean="0"/>
              <a:t>Allostatic</a:t>
            </a:r>
            <a:r>
              <a:rPr lang="en-GB" sz="1400" dirty="0" smtClean="0"/>
              <a:t> load biomarkers of chronic stress and impact on health and cognition. </a:t>
            </a:r>
            <a:r>
              <a:rPr lang="en-GB" sz="1400" i="1" dirty="0" smtClean="0"/>
              <a:t>Neuroscience and </a:t>
            </a:r>
            <a:r>
              <a:rPr lang="en-GB" sz="1400" i="1" dirty="0" err="1" smtClean="0"/>
              <a:t>Biobehavioural</a:t>
            </a:r>
            <a:r>
              <a:rPr lang="en-GB" sz="1400" i="1" dirty="0" smtClean="0"/>
              <a:t> Reviews, 35</a:t>
            </a:r>
            <a:r>
              <a:rPr lang="en-GB" sz="1400" dirty="0" smtClean="0"/>
              <a:t>, 2 – 16.</a:t>
            </a:r>
          </a:p>
          <a:p>
            <a:endParaRPr lang="en-GB" sz="1400" dirty="0" smtClean="0"/>
          </a:p>
          <a:p>
            <a:r>
              <a:rPr lang="en-GB" sz="1400" dirty="0" err="1" smtClean="0"/>
              <a:t>Karlamangla</a:t>
            </a:r>
            <a:r>
              <a:rPr lang="en-GB" sz="1400" dirty="0" smtClean="0"/>
              <a:t>, A.S., Singer, B.H., &amp; </a:t>
            </a:r>
            <a:r>
              <a:rPr lang="en-GB" sz="1400" dirty="0" err="1" smtClean="0"/>
              <a:t>Seeman</a:t>
            </a:r>
            <a:r>
              <a:rPr lang="en-GB" sz="1400" dirty="0" smtClean="0"/>
              <a:t>, T.E. (2006). Reduction in </a:t>
            </a:r>
            <a:r>
              <a:rPr lang="en-GB" sz="1400" dirty="0" err="1" smtClean="0"/>
              <a:t>allostatic</a:t>
            </a:r>
            <a:r>
              <a:rPr lang="en-GB" sz="1400" dirty="0" smtClean="0"/>
              <a:t> load in older adults is associated with lower all-cause mortality risk: </a:t>
            </a:r>
            <a:r>
              <a:rPr lang="en-GB" sz="1400" dirty="0" err="1" smtClean="0"/>
              <a:t>ManArthur</a:t>
            </a:r>
            <a:r>
              <a:rPr lang="en-GB" sz="1400" dirty="0" smtClean="0"/>
              <a:t> Studies of Successful Aging.  </a:t>
            </a:r>
            <a:r>
              <a:rPr lang="en-GB" sz="1400" i="1" dirty="0" smtClean="0"/>
              <a:t>Psychosomatic Medicine, 68</a:t>
            </a:r>
            <a:r>
              <a:rPr lang="en-GB" sz="1400" dirty="0" smtClean="0"/>
              <a:t>, 500-507. </a:t>
            </a:r>
          </a:p>
          <a:p>
            <a:endParaRPr lang="en-GB" sz="1400" dirty="0" smtClean="0"/>
          </a:p>
          <a:p>
            <a:r>
              <a:rPr lang="en-GB" sz="1400" dirty="0" smtClean="0"/>
              <a:t>McEwen, B.S. (1998). Protective and damaging effects of stress mediators. </a:t>
            </a:r>
            <a:r>
              <a:rPr lang="en-GB" sz="1400" i="1" dirty="0" smtClean="0"/>
              <a:t>New England Journal of Medicine, 338</a:t>
            </a:r>
            <a:r>
              <a:rPr lang="en-GB" sz="1400" dirty="0" smtClean="0"/>
              <a:t>, 171. </a:t>
            </a:r>
          </a:p>
          <a:p>
            <a:endParaRPr lang="en-GB" sz="1400" dirty="0" smtClean="0"/>
          </a:p>
          <a:p>
            <a:r>
              <a:rPr lang="en-GB" sz="1400" dirty="0" smtClean="0"/>
              <a:t>Piazza, J.R., Almeida, D.M., </a:t>
            </a:r>
            <a:r>
              <a:rPr lang="en-GB" sz="1400" dirty="0" err="1" smtClean="0"/>
              <a:t>Dmitrieva</a:t>
            </a:r>
            <a:r>
              <a:rPr lang="en-GB" sz="1400" dirty="0" smtClean="0"/>
              <a:t>, N.O.,  &amp; Klein, L.C. (2010). Frontiers in the use of biomarkers of health in research on stress and aging. </a:t>
            </a:r>
            <a:r>
              <a:rPr lang="en-GB" sz="1400" i="1" dirty="0" smtClean="0"/>
              <a:t>Journal of Gerontology:  Psychological Sciences, 65B</a:t>
            </a:r>
            <a:r>
              <a:rPr lang="en-GB" sz="1400" dirty="0" smtClean="0"/>
              <a:t>, 513-525. </a:t>
            </a:r>
          </a:p>
          <a:p>
            <a:endParaRPr lang="en-GB" sz="1400" dirty="0" smtClean="0"/>
          </a:p>
          <a:p>
            <a:r>
              <a:rPr lang="en-GB" sz="1400" dirty="0" err="1" smtClean="0"/>
              <a:t>Seplaki</a:t>
            </a:r>
            <a:r>
              <a:rPr lang="en-GB" sz="1400" dirty="0" smtClean="0"/>
              <a:t>, C.L., Goldman, N., </a:t>
            </a:r>
            <a:r>
              <a:rPr lang="en-GB" sz="1400" dirty="0" err="1" smtClean="0"/>
              <a:t>Glei</a:t>
            </a:r>
            <a:r>
              <a:rPr lang="en-GB" sz="1400" dirty="0" smtClean="0"/>
              <a:t>, D., &amp; Weinstein, M.(2005). A comparative analysis of measurement approaches for physiological </a:t>
            </a:r>
            <a:r>
              <a:rPr lang="en-GB" sz="1400" dirty="0" err="1" smtClean="0"/>
              <a:t>dysregulation</a:t>
            </a:r>
            <a:r>
              <a:rPr lang="en-GB" sz="1400" dirty="0" smtClean="0"/>
              <a:t> in an older population</a:t>
            </a:r>
            <a:r>
              <a:rPr lang="en-GB" sz="1400" i="1" dirty="0" smtClean="0"/>
              <a:t>. Experimental Gerontology, 40, </a:t>
            </a:r>
            <a:r>
              <a:rPr lang="en-GB" sz="1400" dirty="0" smtClean="0"/>
              <a:t>438-449.</a:t>
            </a:r>
          </a:p>
        </p:txBody>
      </p:sp>
      <p:sp>
        <p:nvSpPr>
          <p:cNvPr id="3" name="Rectangle 2"/>
          <p:cNvSpPr/>
          <p:nvPr/>
        </p:nvSpPr>
        <p:spPr>
          <a:xfrm>
            <a:off x="3810000" y="838200"/>
            <a:ext cx="1400896" cy="369332"/>
          </a:xfrm>
          <a:prstGeom prst="rect">
            <a:avLst/>
          </a:prstGeom>
        </p:spPr>
        <p:txBody>
          <a:bodyPr wrap="none">
            <a:spAutoFit/>
          </a:bodyPr>
          <a:lstStyle/>
          <a:p>
            <a:pPr marL="514350" indent="-514350" algn="ctr"/>
            <a:r>
              <a:rPr lang="en-GB" b="1" u="sng" dirty="0" smtClean="0"/>
              <a:t>References 2</a:t>
            </a:r>
          </a:p>
        </p:txBody>
      </p:sp>
      <p:pic>
        <p:nvPicPr>
          <p:cNvPr id="4" name="Picture 3" descr="New black and white school logo 30mm.jpg"/>
          <p:cNvPicPr/>
          <p:nvPr/>
        </p:nvPicPr>
        <p:blipFill>
          <a:blip r:embed="rId2" cstate="print"/>
          <a:stretch>
            <a:fillRect/>
          </a:stretch>
        </p:blipFill>
        <p:spPr>
          <a:xfrm>
            <a:off x="7715272" y="6000768"/>
            <a:ext cx="1080770" cy="571500"/>
          </a:xfrm>
          <a:prstGeom prst="rect">
            <a:avLst/>
          </a:prstGeom>
        </p:spPr>
      </p:pic>
    </p:spTree>
  </p:cSld>
  <p:clrMapOvr>
    <a:masterClrMapping/>
  </p:clrMapOvr>
</p:sld>
</file>

<file path=ppt/theme/theme1.xml><?xml version="1.0" encoding="utf-8"?>
<a:theme xmlns:a="http://schemas.openxmlformats.org/drawingml/2006/main" name="1_Custom Design">
  <a:themeElements>
    <a:clrScheme name="Custom 6">
      <a:dk1>
        <a:srgbClr val="000099"/>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_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3669</TotalTime>
  <Words>1681</Words>
  <Application>Microsoft Office PowerPoint</Application>
  <PresentationFormat>On-screen Show (4:3)</PresentationFormat>
  <Paragraphs>232</Paragraphs>
  <Slides>21</Slides>
  <Notes>13</Notes>
  <HiddenSlides>0</HiddenSlides>
  <MMClips>0</MMClip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1_Custom Design</vt:lpstr>
      <vt:lpstr>ppt_white</vt:lpstr>
      <vt:lpstr>PATHWAYS</vt:lpstr>
      <vt:lpstr>Allostatic load</vt:lpstr>
      <vt:lpstr>Slide 3</vt:lpstr>
      <vt:lpstr>Slide 4</vt:lpstr>
      <vt:lpstr>Measures of allostatic load</vt:lpstr>
      <vt:lpstr>Slide 6</vt:lpstr>
      <vt:lpstr>Slide 7</vt:lpstr>
      <vt:lpstr>Sample</vt:lpstr>
      <vt:lpstr>Selected biomarkers to measure allostatic load in ELSA</vt:lpstr>
      <vt:lpstr>Availability of valid measures in ELSA</vt:lpstr>
      <vt:lpstr>Allostatic load scores in ELSA</vt:lpstr>
      <vt:lpstr>Allostatic load scores in ELSA</vt:lpstr>
      <vt:lpstr>Allostatic load measures in 2004 predicting ADL problems in 2006 in men in ELSA</vt:lpstr>
      <vt:lpstr>Allostatic load change in ELSA</vt:lpstr>
      <vt:lpstr>Allostatic load change between 2004 and 2008 in ELSA</vt:lpstr>
      <vt:lpstr>Allostatic load change in ELSA</vt:lpstr>
      <vt:lpstr>Allostatic load change in ELSA</vt:lpstr>
      <vt:lpstr>Slide 18</vt:lpstr>
      <vt:lpstr>Slide 19</vt:lpstr>
      <vt:lpstr>Slide 20</vt:lpstr>
      <vt:lpstr>Slide 21</vt:lpstr>
    </vt:vector>
  </TitlesOfParts>
  <Company>London School of Hygiene &amp; Tropical Medicine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 Slide</dc:title>
  <dc:creator>ECPSEGRU</dc:creator>
  <cp:lastModifiedBy>ECPSSMIL</cp:lastModifiedBy>
  <cp:revision>325</cp:revision>
  <dcterms:created xsi:type="dcterms:W3CDTF">2010-08-06T14:49:50Z</dcterms:created>
  <dcterms:modified xsi:type="dcterms:W3CDTF">2012-06-25T08:36:53Z</dcterms:modified>
</cp:coreProperties>
</file>