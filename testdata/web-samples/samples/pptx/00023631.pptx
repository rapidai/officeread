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2" r:id="rId1"/>
  </p:sldMasterIdLst>
  <p:notesMasterIdLst>
    <p:notesMasterId r:id="rId8"/>
  </p:notesMasterIdLst>
  <p:handoutMasterIdLst>
    <p:handoutMasterId r:id="rId9"/>
  </p:handoutMasterIdLst>
  <p:sldIdLst>
    <p:sldId id="306" r:id="rId2"/>
    <p:sldId id="302" r:id="rId3"/>
    <p:sldId id="301" r:id="rId4"/>
    <p:sldId id="304" r:id="rId5"/>
    <p:sldId id="303" r:id="rId6"/>
    <p:sldId id="305" r:id="rId7"/>
  </p:sldIdLst>
  <p:sldSz cx="9144000" cy="6858000" type="screen4x3"/>
  <p:notesSz cx="6997700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65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65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65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65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65" charset="0"/>
        <a:ea typeface="+mn-ea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65" charset="0"/>
        <a:ea typeface="+mn-ea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65" charset="0"/>
        <a:ea typeface="+mn-ea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65" charset="0"/>
        <a:ea typeface="+mn-ea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65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  <a:srgbClr val="DDDDDD"/>
    <a:srgbClr val="FB6DA6"/>
    <a:srgbClr val="FC6C7A"/>
    <a:srgbClr val="FE6A83"/>
    <a:srgbClr val="1BFF8D"/>
    <a:srgbClr val="FFFF66"/>
    <a:srgbClr val="00CC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26" autoAdjust="0"/>
  </p:normalViewPr>
  <p:slideViewPr>
    <p:cSldViewPr>
      <p:cViewPr>
        <p:scale>
          <a:sx n="70" d="100"/>
          <a:sy n="70" d="100"/>
        </p:scale>
        <p:origin x="-2730" y="-8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200" dirty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3988" y="0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 dirty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5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6975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200" dirty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55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3988" y="8816975"/>
            <a:ext cx="30321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9" tIns="46514" rIns="93029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F7959906-C2B6-A543-BA61-6FA41799E35B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87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t" anchorCtr="0" compatLnSpc="1">
            <a:prstTxWarp prst="textNoShape">
              <a:avLst/>
            </a:prstTxWarp>
          </a:bodyPr>
          <a:lstStyle>
            <a:lvl1pPr defTabSz="920750">
              <a:defRPr sz="1200" dirty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98913" y="0"/>
            <a:ext cx="29987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t" anchorCtr="0" compatLnSpc="1">
            <a:prstTxWarp prst="textNoShape">
              <a:avLst/>
            </a:prstTxWarp>
          </a:bodyPr>
          <a:lstStyle>
            <a:lvl1pPr algn="r" defTabSz="920750">
              <a:defRPr sz="1200" dirty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88975"/>
            <a:ext cx="4702175" cy="35258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2338" y="4443413"/>
            <a:ext cx="5153025" cy="413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607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0625"/>
            <a:ext cx="29987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b" anchorCtr="0" compatLnSpc="1">
            <a:prstTxWarp prst="textNoShape">
              <a:avLst/>
            </a:prstTxWarp>
          </a:bodyPr>
          <a:lstStyle>
            <a:lvl1pPr defTabSz="920750">
              <a:defRPr sz="1200" dirty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607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98913" y="8810625"/>
            <a:ext cx="29987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80" tIns="46040" rIns="92080" bIns="46040" numCol="1" anchor="b" anchorCtr="0" compatLnSpc="1">
            <a:prstTxWarp prst="textNoShape">
              <a:avLst/>
            </a:prstTxWarp>
          </a:bodyPr>
          <a:lstStyle>
            <a:lvl1pPr algn="r" defTabSz="920750">
              <a:defRPr sz="1200"/>
            </a:lvl1pPr>
          </a:lstStyle>
          <a:p>
            <a:fld id="{245EAC23-CA91-ED4B-A23F-1FA07835DD68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5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latin typeface="Arial" charset="0"/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Arial" charset="0"/>
            </a:endParaRPr>
          </a:p>
        </p:txBody>
      </p:sp>
      <p:sp>
        <p:nvSpPr>
          <p:cNvPr id="139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1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3638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dirty="0">
                <a:latin typeface="Garamond" pitchFamily="1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aramond" pitchFamily="-65" charset="0"/>
              </a:defRPr>
            </a:lvl1pPr>
          </a:lstStyle>
          <a:p>
            <a:fld id="{FB7D1DCC-D4AD-434C-83CF-C9C752F10E76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04800"/>
            <a:ext cx="2057400" cy="5029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029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latin typeface="Garamond" pitchFamily="1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8247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latin typeface="Arial" charset="0"/>
            </a:endParaRPr>
          </a:p>
        </p:txBody>
      </p:sp>
      <p:sp>
        <p:nvSpPr>
          <p:cNvPr id="138248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 dirty="0">
              <a:latin typeface="Arial" charset="0"/>
            </a:endParaRPr>
          </a:p>
        </p:txBody>
      </p:sp>
      <p:sp>
        <p:nvSpPr>
          <p:cNvPr id="138250" name="Rectangle 10"/>
          <p:cNvSpPr>
            <a:spLocks noChangeArrowheads="1"/>
          </p:cNvSpPr>
          <p:nvPr userDrawn="1"/>
        </p:nvSpPr>
        <p:spPr bwMode="auto">
          <a:xfrm>
            <a:off x="4572000" y="6248400"/>
            <a:ext cx="4214813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b="1" i="1" dirty="0">
                <a:solidFill>
                  <a:schemeClr val="hlink"/>
                </a:solidFill>
                <a:latin typeface="Verdana" pitchFamily="1" charset="0"/>
              </a:rPr>
              <a:t>National Geospatial Advisory Committee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-65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-65" charset="2"/>
        <a:buChar char="q"/>
        <a:defRPr sz="2600">
          <a:solidFill>
            <a:schemeClr val="tx1"/>
          </a:solidFill>
          <a:latin typeface="+mn-lt"/>
          <a:ea typeface="ＭＳ Ｐゴシック" pitchFamily="-65" charset="-128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-65" charset="2"/>
        <a:buChar char="n"/>
        <a:defRPr sz="2200">
          <a:solidFill>
            <a:schemeClr val="tx1"/>
          </a:solidFill>
          <a:latin typeface="+mn-lt"/>
          <a:ea typeface="ＭＳ Ｐゴシック" pitchFamily="-65" charset="-128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-65" charset="2"/>
        <a:buChar char="q"/>
        <a:defRPr sz="2000">
          <a:solidFill>
            <a:schemeClr val="tx1"/>
          </a:solidFill>
          <a:latin typeface="+mn-lt"/>
          <a:ea typeface="ＭＳ Ｐゴシック" pitchFamily="-65" charset="-128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65" charset="2"/>
        <a:buChar char="§"/>
        <a:defRPr sz="2000">
          <a:solidFill>
            <a:schemeClr val="tx1"/>
          </a:solidFill>
          <a:latin typeface="+mn-lt"/>
          <a:ea typeface="ＭＳ Ｐゴシック" pitchFamily="-65" charset="-128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1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1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1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1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dirty="0" smtClean="0"/>
              <a:t>Discussion – Development of 2012 NGAC Guidance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sz="2400" dirty="0" smtClean="0"/>
              <a:t>Ivan </a:t>
            </a:r>
            <a:r>
              <a:rPr lang="en-US" sz="2400" dirty="0" err="1" smtClean="0"/>
              <a:t>DeLoatch</a:t>
            </a:r>
            <a:endParaRPr lang="en-US" sz="2400" dirty="0" smtClean="0"/>
          </a:p>
          <a:p>
            <a:pPr algn="r"/>
            <a:r>
              <a:rPr lang="en-US" sz="2000" dirty="0" smtClean="0"/>
              <a:t>NGAC Meeting</a:t>
            </a:r>
          </a:p>
          <a:p>
            <a:pPr algn="r"/>
            <a:r>
              <a:rPr lang="en-US" sz="2000" dirty="0" smtClean="0"/>
              <a:t>January 12, 2012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686800" cy="1524000"/>
          </a:xfrm>
        </p:spPr>
        <p:txBody>
          <a:bodyPr/>
          <a:lstStyle/>
          <a:p>
            <a:pPr eaLnBrk="1" hangingPunct="1"/>
            <a:r>
              <a:rPr lang="en-US" sz="3600" dirty="0" smtClean="0"/>
              <a:t>Issues Facing the Geospatial Community</a:t>
            </a:r>
            <a:endParaRPr lang="en-US" sz="3600" dirty="0"/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3200" dirty="0" smtClean="0"/>
              <a:t>Purpose of the Session:  Solicit input and ideas to be considered in the development of the 2012 FGDC guidance to the NGAC</a:t>
            </a:r>
            <a:r>
              <a:rPr lang="en-US" sz="2800" dirty="0" smtClean="0"/>
              <a:t>.</a:t>
            </a:r>
          </a:p>
          <a:p>
            <a:pPr lvl="2" eaLnBrk="1" hangingPunct="1"/>
            <a:r>
              <a:rPr lang="en-US" sz="2800" dirty="0" smtClean="0"/>
              <a:t>Overview</a:t>
            </a:r>
          </a:p>
          <a:p>
            <a:pPr lvl="2" eaLnBrk="1" hangingPunct="1"/>
            <a:r>
              <a:rPr lang="en-US" sz="2800" dirty="0" smtClean="0"/>
              <a:t>Brainstorm</a:t>
            </a:r>
          </a:p>
          <a:p>
            <a:pPr lvl="2" eaLnBrk="1" hangingPunct="1"/>
            <a:r>
              <a:rPr lang="en-US" sz="2800" dirty="0" smtClean="0"/>
              <a:t>Next Steps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9067800" cy="914400"/>
          </a:xfrm>
        </p:spPr>
        <p:txBody>
          <a:bodyPr/>
          <a:lstStyle/>
          <a:p>
            <a:pPr eaLnBrk="1" hangingPunct="1"/>
            <a:r>
              <a:rPr lang="en-US" sz="3600" dirty="0" smtClean="0"/>
              <a:t>Proposed Guidance Development Process</a:t>
            </a:r>
            <a:endParaRPr lang="en-US" sz="36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229600" cy="4953000"/>
          </a:xfrm>
        </p:spPr>
        <p:txBody>
          <a:bodyPr/>
          <a:lstStyle/>
          <a:p>
            <a:pPr eaLnBrk="1" hangingPunct="1"/>
            <a:r>
              <a:rPr lang="en-US" sz="3200" dirty="0" smtClean="0"/>
              <a:t>Brainstorm ideas with NGAC &amp; solicit additional input by email: </a:t>
            </a:r>
            <a:r>
              <a:rPr lang="en-US" sz="3200" i="1" dirty="0" smtClean="0"/>
              <a:t>January</a:t>
            </a:r>
          </a:p>
          <a:p>
            <a:pPr eaLnBrk="1" hangingPunct="1"/>
            <a:r>
              <a:rPr lang="en-US" sz="3200" dirty="0" smtClean="0"/>
              <a:t>Discuss &amp; solicit input from SC/CG: </a:t>
            </a:r>
            <a:r>
              <a:rPr lang="en-US" sz="3200" i="1" dirty="0" smtClean="0"/>
              <a:t>Jan-Feb</a:t>
            </a:r>
          </a:p>
          <a:p>
            <a:pPr eaLnBrk="1" hangingPunct="1"/>
            <a:r>
              <a:rPr lang="en-US" sz="3200" dirty="0" smtClean="0"/>
              <a:t>Refine issues &amp; brief leadership: </a:t>
            </a:r>
            <a:r>
              <a:rPr lang="en-US" sz="3200" i="1" dirty="0" smtClean="0"/>
              <a:t>Februar</a:t>
            </a:r>
            <a:r>
              <a:rPr lang="en-US" sz="3200" dirty="0" smtClean="0"/>
              <a:t>y</a:t>
            </a:r>
          </a:p>
          <a:p>
            <a:pPr eaLnBrk="1" hangingPunct="1"/>
            <a:r>
              <a:rPr lang="en-US" sz="3200" dirty="0" smtClean="0"/>
              <a:t>Finalize Guidance: </a:t>
            </a:r>
            <a:r>
              <a:rPr lang="en-US" sz="3200" i="1" dirty="0" smtClean="0"/>
              <a:t>March</a:t>
            </a:r>
          </a:p>
          <a:p>
            <a:pPr eaLnBrk="1" hangingPunct="1"/>
            <a:r>
              <a:rPr lang="en-US" sz="3200" dirty="0" smtClean="0"/>
              <a:t>Initial review with NGAC: </a:t>
            </a:r>
            <a:r>
              <a:rPr lang="en-US" sz="3200" i="1" dirty="0" smtClean="0"/>
              <a:t>early April</a:t>
            </a:r>
          </a:p>
          <a:p>
            <a:pPr eaLnBrk="1" hangingPunct="1"/>
            <a:r>
              <a:rPr lang="en-US" sz="3200" dirty="0" smtClean="0"/>
              <a:t>Officially present to NGAC: </a:t>
            </a:r>
            <a:r>
              <a:rPr lang="en-US" sz="3200" i="1" dirty="0" smtClean="0"/>
              <a:t>mid April</a:t>
            </a:r>
          </a:p>
          <a:p>
            <a:pPr eaLnBrk="1" hangingPunct="1"/>
            <a:endParaRPr lang="en-US" sz="3200" dirty="0" smtClean="0"/>
          </a:p>
          <a:p>
            <a:pPr eaLnBrk="1" hangingPunct="1"/>
            <a:endParaRPr lang="en-US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686800" cy="1524000"/>
          </a:xfrm>
        </p:spPr>
        <p:txBody>
          <a:bodyPr/>
          <a:lstStyle/>
          <a:p>
            <a:pPr eaLnBrk="1" hangingPunct="1"/>
            <a:r>
              <a:rPr lang="en-US" sz="3600" dirty="0" smtClean="0"/>
              <a:t>Issues Facing the Geospatial Community</a:t>
            </a:r>
            <a:endParaRPr lang="en-US" sz="3600" dirty="0"/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19600"/>
          </a:xfrm>
        </p:spPr>
        <p:txBody>
          <a:bodyPr/>
          <a:lstStyle/>
          <a:p>
            <a:pPr eaLnBrk="1" hangingPunct="1"/>
            <a:r>
              <a:rPr lang="en-US" dirty="0" smtClean="0"/>
              <a:t>What are the most critical issues or challenges facing the geospatial community in the next 3 years?</a:t>
            </a:r>
          </a:p>
          <a:p>
            <a:pPr eaLnBrk="1" hangingPunct="1"/>
            <a:r>
              <a:rPr lang="en-US" dirty="0" smtClean="0"/>
              <a:t>What may be some of the key roles of the federal government in helping to address those challenges or issues?</a:t>
            </a:r>
          </a:p>
          <a:p>
            <a:pPr eaLnBrk="1" hangingPunct="1"/>
            <a:r>
              <a:rPr lang="en-US" dirty="0" smtClean="0"/>
              <a:t>What topics might the NGAC explore to assist the FGDC in addressing those issues?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Recent Topics</a:t>
            </a:r>
            <a:endParaRPr lang="en-US" dirty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114800"/>
          </a:xfrm>
        </p:spPr>
        <p:txBody>
          <a:bodyPr/>
          <a:lstStyle/>
          <a:p>
            <a:pPr eaLnBrk="1" hangingPunct="1"/>
            <a:r>
              <a:rPr lang="en-US" dirty="0" smtClean="0"/>
              <a:t>Geospatial Workforce Development</a:t>
            </a:r>
          </a:p>
          <a:p>
            <a:pPr eaLnBrk="1" hangingPunct="1"/>
            <a:r>
              <a:rPr lang="en-US" dirty="0" smtClean="0"/>
              <a:t>Emerging Technologies</a:t>
            </a:r>
          </a:p>
          <a:p>
            <a:pPr eaLnBrk="1" hangingPunct="1"/>
            <a:r>
              <a:rPr lang="en-US" dirty="0" smtClean="0"/>
              <a:t>Innovative Strategies for Geospatial Programs and Partnerships</a:t>
            </a:r>
          </a:p>
          <a:p>
            <a:pPr eaLnBrk="1" hangingPunct="1"/>
            <a:r>
              <a:rPr lang="en-US" dirty="0" smtClean="0"/>
              <a:t>Public-Private Partnerships</a:t>
            </a:r>
          </a:p>
          <a:p>
            <a:pPr eaLnBrk="1" hangingPunct="1"/>
            <a:r>
              <a:rPr lang="en-US" dirty="0" smtClean="0"/>
              <a:t>Geospatial Platform</a:t>
            </a:r>
          </a:p>
          <a:p>
            <a:pPr eaLnBrk="1" hangingPunct="1"/>
            <a:r>
              <a:rPr lang="en-US" dirty="0" smtClean="0"/>
              <a:t>Tribal Partnerships</a:t>
            </a:r>
          </a:p>
          <a:p>
            <a:pPr eaLnBrk="1" hangingPunct="1"/>
            <a:r>
              <a:rPr lang="en-US" dirty="0" smtClean="0"/>
              <a:t>Landsat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33400" y="2514600"/>
            <a:ext cx="8229600" cy="1139825"/>
          </a:xfrm>
        </p:spPr>
        <p:txBody>
          <a:bodyPr/>
          <a:lstStyle/>
          <a:p>
            <a:pPr algn="ctr"/>
            <a:r>
              <a:rPr lang="en-US" dirty="0" smtClean="0"/>
              <a:t>Questions/Discussion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">
      <a:dk1>
        <a:srgbClr val="000000"/>
      </a:dk1>
      <a:lt1>
        <a:srgbClr val="FFFFFF"/>
      </a:lt1>
      <a:dk2>
        <a:srgbClr val="003399"/>
      </a:dk2>
      <a:lt2>
        <a:srgbClr val="666699"/>
      </a:lt2>
      <a:accent1>
        <a:srgbClr val="009999"/>
      </a:accent1>
      <a:accent2>
        <a:srgbClr val="4083A2"/>
      </a:accent2>
      <a:accent3>
        <a:srgbClr val="FFFFFF"/>
      </a:accent3>
      <a:accent4>
        <a:srgbClr val="000000"/>
      </a:accent4>
      <a:accent5>
        <a:srgbClr val="AACACA"/>
      </a:accent5>
      <a:accent6>
        <a:srgbClr val="397692"/>
      </a:accent6>
      <a:hlink>
        <a:srgbClr val="4C6D80"/>
      </a:hlink>
      <a:folHlink>
        <a:srgbClr val="B2B2B2"/>
      </a:folHlink>
    </a:clrScheme>
    <a:fontScheme name="Edg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1718</TotalTime>
  <Words>178</Words>
  <Application>Microsoft Office PowerPoint</Application>
  <PresentationFormat>On-screen Show (4:3)</PresentationFormat>
  <Paragraphs>29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Edge</vt:lpstr>
      <vt:lpstr>Discussion – Development of 2012 NGAC Guidance</vt:lpstr>
      <vt:lpstr>Issues Facing the Geospatial Community</vt:lpstr>
      <vt:lpstr>Proposed Guidance Development Process</vt:lpstr>
      <vt:lpstr>Issues Facing the Geospatial Community</vt:lpstr>
      <vt:lpstr>Recent Topics</vt:lpstr>
      <vt:lpstr>Questions/Discussion</vt:lpstr>
    </vt:vector>
  </TitlesOfParts>
  <Company>USGS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NGAC Discussion – Toward a National Geospatial Strategy</dc:title>
  <dc:creator>jmahoney</dc:creator>
  <cp:lastModifiedBy>USGS</cp:lastModifiedBy>
  <cp:revision>92</cp:revision>
  <cp:lastPrinted>2008-10-08T20:42:54Z</cp:lastPrinted>
  <dcterms:created xsi:type="dcterms:W3CDTF">2012-01-06T15:20:29Z</dcterms:created>
  <dcterms:modified xsi:type="dcterms:W3CDTF">2012-01-12T23:50:02Z</dcterms:modified>
</cp:coreProperties>
</file>