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gif" ContentType="image/gif"/>
  <Default Extension="mov" ContentType="video/unknown"/>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notesSlides/notesSlide5.xml" ContentType="application/vnd.openxmlformats-officedocument.presentationml.notesSlide+xml"/>
  <Override PartName="/ppt/embeddings/oleObject3.bin" ContentType="application/vnd.openxmlformats-officedocument.oleObject"/>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embeddings/oleObject4.bin" ContentType="application/vnd.openxmlformats-officedocument.oleObject"/>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50"/>
  </p:notesMasterIdLst>
  <p:sldIdLst>
    <p:sldId id="256" r:id="rId2"/>
    <p:sldId id="257" r:id="rId3"/>
    <p:sldId id="258" r:id="rId4"/>
    <p:sldId id="259" r:id="rId5"/>
    <p:sldId id="275" r:id="rId6"/>
    <p:sldId id="260" r:id="rId7"/>
    <p:sldId id="263" r:id="rId8"/>
    <p:sldId id="264" r:id="rId9"/>
    <p:sldId id="265" r:id="rId10"/>
    <p:sldId id="306" r:id="rId11"/>
    <p:sldId id="267" r:id="rId12"/>
    <p:sldId id="268" r:id="rId13"/>
    <p:sldId id="291" r:id="rId14"/>
    <p:sldId id="272" r:id="rId15"/>
    <p:sldId id="273" r:id="rId16"/>
    <p:sldId id="276" r:id="rId17"/>
    <p:sldId id="277" r:id="rId18"/>
    <p:sldId id="278" r:id="rId19"/>
    <p:sldId id="279" r:id="rId20"/>
    <p:sldId id="280" r:id="rId21"/>
    <p:sldId id="292" r:id="rId22"/>
    <p:sldId id="284" r:id="rId23"/>
    <p:sldId id="289" r:id="rId24"/>
    <p:sldId id="290" r:id="rId25"/>
    <p:sldId id="285" r:id="rId26"/>
    <p:sldId id="286" r:id="rId27"/>
    <p:sldId id="287" r:id="rId28"/>
    <p:sldId id="288" r:id="rId29"/>
    <p:sldId id="307" r:id="rId30"/>
    <p:sldId id="309" r:id="rId31"/>
    <p:sldId id="310" r:id="rId32"/>
    <p:sldId id="311" r:id="rId33"/>
    <p:sldId id="312" r:id="rId34"/>
    <p:sldId id="313" r:id="rId35"/>
    <p:sldId id="314" r:id="rId36"/>
    <p:sldId id="315" r:id="rId37"/>
    <p:sldId id="293" r:id="rId38"/>
    <p:sldId id="294" r:id="rId39"/>
    <p:sldId id="295" r:id="rId40"/>
    <p:sldId id="296" r:id="rId41"/>
    <p:sldId id="297" r:id="rId42"/>
    <p:sldId id="298" r:id="rId43"/>
    <p:sldId id="299" r:id="rId44"/>
    <p:sldId id="300" r:id="rId45"/>
    <p:sldId id="301" r:id="rId46"/>
    <p:sldId id="303" r:id="rId47"/>
    <p:sldId id="304" r:id="rId48"/>
    <p:sldId id="305" r:id="rId49"/>
  </p:sldIdLst>
  <p:sldSz cx="6858000" cy="7772400"/>
  <p:notesSz cx="6858000" cy="77724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65" d="100"/>
          <a:sy n="65" d="100"/>
        </p:scale>
        <p:origin x="-1192" y="-96"/>
      </p:cViewPr>
      <p:guideLst>
        <p:guide orient="horz" pos="2448"/>
        <p:guide pos="216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notesMaster" Target="notesMasters/notesMaster1.xml"/><Relationship Id="rId51" Type="http://schemas.openxmlformats.org/officeDocument/2006/relationships/printerSettings" Target="printerSettings/printerSettings1.bin"/><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 Id="rId2"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0.emf"/><Relationship Id="rId4" Type="http://schemas.openxmlformats.org/officeDocument/2006/relationships/image" Target="../media/image41.emf"/><Relationship Id="rId1" Type="http://schemas.openxmlformats.org/officeDocument/2006/relationships/image" Target="../media/image38.emf"/><Relationship Id="rId2"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6.emf"/><Relationship Id="rId2" Type="http://schemas.openxmlformats.org/officeDocument/2006/relationships/image" Target="../media/image47.emf"/><Relationship Id="rId3"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388938"/>
          </a:xfrm>
          <a:prstGeom prst="rect">
            <a:avLst/>
          </a:prstGeom>
        </p:spPr>
        <p:txBody>
          <a:bodyPr vert="horz" lIns="91440" tIns="45720" rIns="91440" bIns="45720" rtlCol="0"/>
          <a:lstStyle>
            <a:lvl1pPr algn="r">
              <a:defRPr sz="1200"/>
            </a:lvl1pPr>
          </a:lstStyle>
          <a:p>
            <a:fld id="{616CC2C5-653B-6246-9E25-95412AA0B7C0}" type="datetimeFigureOut">
              <a:rPr lang="en-US" smtClean="0"/>
              <a:t>120727</a:t>
            </a:fld>
            <a:endParaRPr lang="en-US"/>
          </a:p>
        </p:txBody>
      </p:sp>
      <p:sp>
        <p:nvSpPr>
          <p:cNvPr id="4" name="Slide Image Placeholder 3"/>
          <p:cNvSpPr>
            <a:spLocks noGrp="1" noRot="1" noChangeAspect="1"/>
          </p:cNvSpPr>
          <p:nvPr>
            <p:ph type="sldImg" idx="2"/>
          </p:nvPr>
        </p:nvSpPr>
        <p:spPr>
          <a:xfrm>
            <a:off x="2143125" y="582613"/>
            <a:ext cx="2571750" cy="2914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92525"/>
            <a:ext cx="5486400" cy="34972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7381875"/>
            <a:ext cx="2971800" cy="3889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7381875"/>
            <a:ext cx="2971800" cy="388938"/>
          </a:xfrm>
          <a:prstGeom prst="rect">
            <a:avLst/>
          </a:prstGeom>
        </p:spPr>
        <p:txBody>
          <a:bodyPr vert="horz" lIns="91440" tIns="45720" rIns="91440" bIns="45720" rtlCol="0" anchor="b"/>
          <a:lstStyle>
            <a:lvl1pPr algn="r">
              <a:defRPr sz="1200"/>
            </a:lvl1pPr>
          </a:lstStyle>
          <a:p>
            <a:fld id="{B31201A5-E89F-154F-85E9-E457090D30B0}" type="slidenum">
              <a:rPr lang="en-US" smtClean="0"/>
              <a:t>‹#›</a:t>
            </a:fld>
            <a:endParaRPr lang="en-US"/>
          </a:p>
        </p:txBody>
      </p:sp>
    </p:spTree>
    <p:extLst>
      <p:ext uri="{BB962C8B-B14F-4D97-AF65-F5344CB8AC3E}">
        <p14:creationId xmlns:p14="http://schemas.microsoft.com/office/powerpoint/2010/main" val="229723531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026"/>
          <p:cNvSpPr>
            <a:spLocks noGrp="1" noRot="1" noChangeAspect="1" noChangeArrowheads="1" noTextEdit="1"/>
          </p:cNvSpPr>
          <p:nvPr>
            <p:ph type="sldImg"/>
          </p:nvPr>
        </p:nvSpPr>
        <p:spPr>
          <a:xfrm>
            <a:off x="2228850" y="679450"/>
            <a:ext cx="2400300" cy="2720975"/>
          </a:xfrm>
          <a:ln/>
        </p:spPr>
      </p:sp>
      <p:sp>
        <p:nvSpPr>
          <p:cNvPr id="7170" name="Rectangle 102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Rot="1" noChangeAspect="1" noChangeArrowheads="1" noTextEdit="1"/>
          </p:cNvSpPr>
          <p:nvPr>
            <p:ph type="sldImg"/>
          </p:nvPr>
        </p:nvSpPr>
        <p:spPr>
          <a:xfrm>
            <a:off x="2228850" y="679450"/>
            <a:ext cx="2400300" cy="2720975"/>
          </a:xfrm>
          <a:ln/>
        </p:spPr>
      </p:sp>
      <p:sp>
        <p:nvSpPr>
          <p:cNvPr id="921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Rot="1" noChangeAspect="1" noChangeArrowheads="1" noTextEdit="1"/>
          </p:cNvSpPr>
          <p:nvPr>
            <p:ph type="sldImg"/>
          </p:nvPr>
        </p:nvSpPr>
        <p:spPr>
          <a:xfrm>
            <a:off x="2228850" y="679450"/>
            <a:ext cx="2400300" cy="2720975"/>
          </a:xfrm>
          <a:ln/>
        </p:spPr>
      </p:sp>
      <p:sp>
        <p:nvSpPr>
          <p:cNvPr id="1229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r>
              <a:rPr lang="en-US" dirty="0" smtClean="0">
                <a:ea typeface="ＭＳ Ｐゴシック" charset="0"/>
                <a:cs typeface="ＭＳ Ｐゴシック" charset="0"/>
              </a:rPr>
              <a:t>Same basic fluid dynamics equations</a:t>
            </a:r>
            <a:endParaRPr lang="en-US" dirty="0">
              <a:ea typeface="ＭＳ Ｐゴシック" charset="0"/>
              <a:cs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ChangeArrowheads="1" noTextEdit="1"/>
          </p:cNvSpPr>
          <p:nvPr>
            <p:ph type="sldImg"/>
          </p:nvPr>
        </p:nvSpPr>
        <p:spPr>
          <a:xfrm>
            <a:off x="2228850" y="679450"/>
            <a:ext cx="2400300" cy="2720975"/>
          </a:xfrm>
          <a:ln/>
        </p:spPr>
      </p:sp>
      <p:sp>
        <p:nvSpPr>
          <p:cNvPr id="184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xfrm>
            <a:off x="2228850" y="679450"/>
            <a:ext cx="2400300" cy="2720975"/>
          </a:xfrm>
          <a:ln/>
        </p:spPr>
      </p:sp>
      <p:sp>
        <p:nvSpPr>
          <p:cNvPr id="2048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r>
              <a:rPr lang="en-US" dirty="0" smtClean="0">
                <a:ea typeface="ＭＳ Ｐゴシック" charset="0"/>
                <a:cs typeface="ＭＳ Ｐゴシック" charset="0"/>
              </a:rPr>
              <a:t>Natural variability of solar constant 0.1-0.2%</a:t>
            </a:r>
            <a:endParaRPr lang="en-US" dirty="0">
              <a:ea typeface="ＭＳ Ｐゴシック" charset="0"/>
              <a:cs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a:xfrm>
            <a:off x="2228850" y="679450"/>
            <a:ext cx="2400300" cy="2720975"/>
          </a:xfrm>
          <a:ln/>
        </p:spPr>
      </p:sp>
      <p:sp>
        <p:nvSpPr>
          <p:cNvPr id="2253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Circulation time: water vapor 9 days, carbon dioxide 30-1000 years</a:t>
            </a:r>
          </a:p>
          <a:p>
            <a:r>
              <a:rPr lang="en-US" dirty="0" smtClean="0"/>
              <a:t>methane 12 </a:t>
            </a:r>
            <a:r>
              <a:rPr lang="en-US" dirty="0" err="1" smtClean="0"/>
              <a:t>yrs</a:t>
            </a:r>
            <a:r>
              <a:rPr lang="en-US" dirty="0" smtClean="0"/>
              <a:t>, N2O</a:t>
            </a:r>
            <a:r>
              <a:rPr lang="en-US" baseline="0" dirty="0" smtClean="0"/>
              <a:t> 114 </a:t>
            </a:r>
            <a:r>
              <a:rPr lang="en-US" baseline="0" dirty="0" err="1" smtClean="0"/>
              <a:t>yrs</a:t>
            </a:r>
            <a:endParaRPr lang="en-US" baseline="0" dirty="0" smtClean="0"/>
          </a:p>
          <a:p>
            <a:r>
              <a:rPr lang="en-US" baseline="0" dirty="0" smtClean="0"/>
              <a:t>Methane </a:t>
            </a:r>
            <a:r>
              <a:rPr lang="en-US" baseline="0" dirty="0" err="1" smtClean="0"/>
              <a:t>conc</a:t>
            </a:r>
            <a:r>
              <a:rPr lang="en-US" baseline="0" dirty="0" smtClean="0"/>
              <a:t> up 2.5 times over </a:t>
            </a:r>
            <a:r>
              <a:rPr lang="en-US" baseline="0" dirty="0" err="1" smtClean="0"/>
              <a:t>preind</a:t>
            </a:r>
            <a:r>
              <a:rPr lang="en-US" baseline="0" dirty="0" smtClean="0"/>
              <a:t>, CO2 40%</a:t>
            </a:r>
            <a:endParaRPr lang="en-US" dirty="0" smtClean="0"/>
          </a:p>
          <a:p>
            <a:endParaRPr lang="en-US" dirty="0"/>
          </a:p>
        </p:txBody>
      </p:sp>
      <p:sp>
        <p:nvSpPr>
          <p:cNvPr id="4" name="Slide Number Placeholder 3"/>
          <p:cNvSpPr>
            <a:spLocks noGrp="1"/>
          </p:cNvSpPr>
          <p:nvPr>
            <p:ph type="sldNum" sz="quarter" idx="10"/>
          </p:nvPr>
        </p:nvSpPr>
        <p:spPr/>
        <p:txBody>
          <a:bodyPr/>
          <a:lstStyle/>
          <a:p>
            <a:fld id="{B31201A5-E89F-154F-85E9-E457090D30B0}" type="slidenum">
              <a:rPr lang="en-US" smtClean="0"/>
              <a:t>10</a:t>
            </a:fld>
            <a:endParaRPr lang="en-US"/>
          </a:p>
        </p:txBody>
      </p:sp>
    </p:spTree>
    <p:extLst>
      <p:ext uri="{BB962C8B-B14F-4D97-AF65-F5344CB8AC3E}">
        <p14:creationId xmlns:p14="http://schemas.microsoft.com/office/powerpoint/2010/main" val="3824775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noRot="1" noChangeAspect="1" noChangeArrowheads="1" noTextEdit="1"/>
          </p:cNvSpPr>
          <p:nvPr>
            <p:ph type="sldImg"/>
          </p:nvPr>
        </p:nvSpPr>
        <p:spPr>
          <a:xfrm>
            <a:off x="2228850" y="679450"/>
            <a:ext cx="2400300" cy="2720975"/>
          </a:xfrm>
          <a:ln/>
        </p:spPr>
      </p:sp>
      <p:sp>
        <p:nvSpPr>
          <p:cNvPr id="26626" name="Rectangle 102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026"/>
          <p:cNvSpPr>
            <a:spLocks noGrp="1" noRot="1" noChangeAspect="1" noChangeArrowheads="1" noTextEdit="1"/>
          </p:cNvSpPr>
          <p:nvPr>
            <p:ph type="sldImg"/>
          </p:nvPr>
        </p:nvSpPr>
        <p:spPr>
          <a:xfrm>
            <a:off x="2228850" y="679450"/>
            <a:ext cx="2400300" cy="2720975"/>
          </a:xfrm>
          <a:ln/>
        </p:spPr>
      </p:sp>
      <p:sp>
        <p:nvSpPr>
          <p:cNvPr id="28674" name="Rectangle 102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ChangeArrowheads="1" noTextEdit="1"/>
          </p:cNvSpPr>
          <p:nvPr>
            <p:ph type="sldImg"/>
          </p:nvPr>
        </p:nvSpPr>
        <p:spPr>
          <a:xfrm>
            <a:off x="2228850" y="679450"/>
            <a:ext cx="2400300" cy="2720975"/>
          </a:xfrm>
          <a:ln/>
        </p:spPr>
      </p:sp>
      <p:sp>
        <p:nvSpPr>
          <p:cNvPr id="2457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r>
              <a:rPr lang="en-US" dirty="0" smtClean="0">
                <a:ea typeface="ＭＳ Ｐゴシック" charset="0"/>
                <a:cs typeface="ＭＳ Ｐゴシック" charset="0"/>
              </a:rPr>
              <a:t>Richardson took 6 weeks to calculate 8 hours of weather. Wrong answer!</a:t>
            </a:r>
            <a:endParaRPr lang="en-US" dirty="0">
              <a:ea typeface="ＭＳ Ｐゴシック" charset="0"/>
              <a:cs typeface="ＭＳ Ｐゴシック"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Rot="1" noChangeAspect="1" noChangeArrowheads="1" noTextEdit="1"/>
          </p:cNvSpPr>
          <p:nvPr>
            <p:ph type="sldImg"/>
          </p:nvPr>
        </p:nvSpPr>
        <p:spPr>
          <a:xfrm>
            <a:off x="2228850" y="679450"/>
            <a:ext cx="2400300" cy="2720975"/>
          </a:xfrm>
          <a:ln/>
        </p:spPr>
      </p:sp>
      <p:sp>
        <p:nvSpPr>
          <p:cNvPr id="4301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026"/>
          <p:cNvSpPr>
            <a:spLocks noGrp="1" noRot="1" noChangeAspect="1" noChangeArrowheads="1" noTextEdit="1"/>
          </p:cNvSpPr>
          <p:nvPr>
            <p:ph type="sldImg"/>
          </p:nvPr>
        </p:nvSpPr>
        <p:spPr>
          <a:xfrm>
            <a:off x="2228850" y="679450"/>
            <a:ext cx="2400300" cy="2720975"/>
          </a:xfrm>
          <a:ln/>
        </p:spPr>
      </p:sp>
      <p:sp>
        <p:nvSpPr>
          <p:cNvPr id="45058" name="Rectangle 1027"/>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high: 5-14 km; low &lt; 2km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trends are increasing in all oceans except north </a:t>
            </a:r>
            <a:r>
              <a:rPr lang="en-US" dirty="0" err="1" smtClean="0"/>
              <a:t>atlantic</a:t>
            </a:r>
            <a:endParaRPr lang="en-US" dirty="0" smtClean="0"/>
          </a:p>
          <a:p>
            <a:r>
              <a:rPr lang="en-US" dirty="0" smtClean="0"/>
              <a:t>Data from buoys, ship logs, stations, </a:t>
            </a:r>
            <a:r>
              <a:rPr lang="en-US" dirty="0" err="1" smtClean="0"/>
              <a:t>sonds</a:t>
            </a:r>
            <a:r>
              <a:rPr lang="en-US" baseline="0" dirty="0" smtClean="0"/>
              <a:t> etc.</a:t>
            </a:r>
            <a:endParaRPr lang="en-US" dirty="0"/>
          </a:p>
        </p:txBody>
      </p:sp>
      <p:sp>
        <p:nvSpPr>
          <p:cNvPr id="4" name="Slide Number Placeholder 3"/>
          <p:cNvSpPr>
            <a:spLocks noGrp="1"/>
          </p:cNvSpPr>
          <p:nvPr>
            <p:ph type="sldNum" sz="quarter" idx="10"/>
          </p:nvPr>
        </p:nvSpPr>
        <p:spPr/>
        <p:txBody>
          <a:bodyPr/>
          <a:lstStyle/>
          <a:p>
            <a:fld id="{5E369C23-DCFB-1F43-B40D-9158FE4D79C7}" type="slidenum">
              <a:rPr lang="en-US" smtClean="0"/>
              <a:t>18</a:t>
            </a:fld>
            <a:endParaRPr lang="en-US"/>
          </a:p>
        </p:txBody>
      </p:sp>
    </p:spTree>
    <p:extLst>
      <p:ext uri="{BB962C8B-B14F-4D97-AF65-F5344CB8AC3E}">
        <p14:creationId xmlns:p14="http://schemas.microsoft.com/office/powerpoint/2010/main" val="332845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Not uniform—</a:t>
            </a:r>
            <a:r>
              <a:rPr lang="en-US" dirty="0" err="1" smtClean="0"/>
              <a:t>eg</a:t>
            </a:r>
            <a:r>
              <a:rPr lang="en-US" dirty="0" smtClean="0"/>
              <a:t> larger</a:t>
            </a:r>
            <a:r>
              <a:rPr lang="en-US" baseline="0" dirty="0" smtClean="0"/>
              <a:t> at north Atlantic coast</a:t>
            </a:r>
          </a:p>
          <a:p>
            <a:r>
              <a:rPr lang="en-US" baseline="0" dirty="0" smtClean="0"/>
              <a:t>Predictions from TAR and CMIP2</a:t>
            </a:r>
            <a:endParaRPr lang="en-US" dirty="0"/>
          </a:p>
        </p:txBody>
      </p:sp>
      <p:sp>
        <p:nvSpPr>
          <p:cNvPr id="4" name="Slide Number Placeholder 3"/>
          <p:cNvSpPr>
            <a:spLocks noGrp="1"/>
          </p:cNvSpPr>
          <p:nvPr>
            <p:ph type="sldNum" sz="quarter" idx="10"/>
          </p:nvPr>
        </p:nvSpPr>
        <p:spPr/>
        <p:txBody>
          <a:bodyPr/>
          <a:lstStyle/>
          <a:p>
            <a:fld id="{B31201A5-E89F-154F-85E9-E457090D30B0}" type="slidenum">
              <a:rPr lang="en-US" smtClean="0"/>
              <a:t>20</a:t>
            </a:fld>
            <a:endParaRPr lang="en-US"/>
          </a:p>
        </p:txBody>
      </p:sp>
    </p:spTree>
    <p:extLst>
      <p:ext uri="{BB962C8B-B14F-4D97-AF65-F5344CB8AC3E}">
        <p14:creationId xmlns:p14="http://schemas.microsoft.com/office/powerpoint/2010/main" val="3360949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a:xfrm>
            <a:off x="2228850" y="679450"/>
            <a:ext cx="2400300" cy="2720975"/>
          </a:xfrm>
          <a:ln/>
        </p:spPr>
      </p:sp>
      <p:sp>
        <p:nvSpPr>
          <p:cNvPr id="8397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90% ranges of uncertainty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Mechanism?</a:t>
            </a:r>
          </a:p>
          <a:p>
            <a:r>
              <a:rPr lang="en-US" dirty="0" err="1" smtClean="0"/>
              <a:t>Friis</a:t>
            </a:r>
            <a:r>
              <a:rPr lang="en-US" dirty="0" smtClean="0"/>
              <a:t>-Christensen</a:t>
            </a:r>
            <a:r>
              <a:rPr lang="en-US" baseline="0" dirty="0" smtClean="0"/>
              <a:t> and Lassen, 1991.</a:t>
            </a:r>
            <a:endParaRPr lang="en-US" dirty="0"/>
          </a:p>
        </p:txBody>
      </p:sp>
      <p:sp>
        <p:nvSpPr>
          <p:cNvPr id="4" name="Slide Number Placeholder 3"/>
          <p:cNvSpPr>
            <a:spLocks noGrp="1"/>
          </p:cNvSpPr>
          <p:nvPr>
            <p:ph type="sldNum" sz="quarter" idx="10"/>
          </p:nvPr>
        </p:nvSpPr>
        <p:spPr/>
        <p:txBody>
          <a:bodyPr/>
          <a:lstStyle/>
          <a:p>
            <a:fld id="{5E369C23-DCFB-1F43-B40D-9158FE4D79C7}" type="slidenum">
              <a:rPr lang="en-US" smtClean="0"/>
              <a:t>25</a:t>
            </a:fld>
            <a:endParaRPr lang="en-US"/>
          </a:p>
        </p:txBody>
      </p:sp>
    </p:spTree>
    <p:extLst>
      <p:ext uri="{BB962C8B-B14F-4D97-AF65-F5344CB8AC3E}">
        <p14:creationId xmlns:p14="http://schemas.microsoft.com/office/powerpoint/2010/main" val="3515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Supereruption = 450 km^3 or 108 cubic</a:t>
            </a:r>
            <a:r>
              <a:rPr lang="en-US" baseline="0" dirty="0" smtClean="0"/>
              <a:t> miles of magma ejected</a:t>
            </a:r>
          </a:p>
          <a:p>
            <a:r>
              <a:rPr lang="en-US" baseline="0" dirty="0" smtClean="0"/>
              <a:t>Mount St Helens .</a:t>
            </a:r>
            <a:r>
              <a:rPr lang="en-US" baseline="0" smtClean="0"/>
              <a:t>05 cubic miles</a:t>
            </a:r>
            <a:endParaRPr lang="en-US" dirty="0"/>
          </a:p>
        </p:txBody>
      </p:sp>
      <p:sp>
        <p:nvSpPr>
          <p:cNvPr id="4" name="Slide Number Placeholder 3"/>
          <p:cNvSpPr>
            <a:spLocks noGrp="1"/>
          </p:cNvSpPr>
          <p:nvPr>
            <p:ph type="sldNum" sz="quarter" idx="10"/>
          </p:nvPr>
        </p:nvSpPr>
        <p:spPr/>
        <p:txBody>
          <a:bodyPr/>
          <a:lstStyle/>
          <a:p>
            <a:fld id="{B31201A5-E89F-154F-85E9-E457090D30B0}" type="slidenum">
              <a:rPr lang="en-US" smtClean="0"/>
              <a:t>26</a:t>
            </a:fld>
            <a:endParaRPr lang="en-US"/>
          </a:p>
        </p:txBody>
      </p:sp>
    </p:spTree>
    <p:extLst>
      <p:ext uri="{BB962C8B-B14F-4D97-AF65-F5344CB8AC3E}">
        <p14:creationId xmlns:p14="http://schemas.microsoft.com/office/powerpoint/2010/main" val="3525863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Oldest record Berlin </a:t>
            </a:r>
            <a:r>
              <a:rPr lang="en-US" dirty="0" err="1" smtClean="0"/>
              <a:t>cts</a:t>
            </a:r>
            <a:r>
              <a:rPr lang="en-US" dirty="0" smtClean="0"/>
              <a:t> from</a:t>
            </a:r>
            <a:r>
              <a:rPr lang="en-US" baseline="0" dirty="0" smtClean="0"/>
              <a:t> 1701</a:t>
            </a:r>
            <a:endParaRPr lang="en-US" dirty="0"/>
          </a:p>
        </p:txBody>
      </p:sp>
      <p:sp>
        <p:nvSpPr>
          <p:cNvPr id="4" name="Slide Number Placeholder 3"/>
          <p:cNvSpPr>
            <a:spLocks noGrp="1"/>
          </p:cNvSpPr>
          <p:nvPr>
            <p:ph type="sldNum" sz="quarter" idx="10"/>
          </p:nvPr>
        </p:nvSpPr>
        <p:spPr/>
        <p:txBody>
          <a:bodyPr/>
          <a:lstStyle/>
          <a:p>
            <a:fld id="{1B642B78-E9C7-834A-B39E-BEFB263161E2}" type="slidenum">
              <a:rPr lang="en-US" smtClean="0"/>
              <a:pPr/>
              <a:t>31</a:t>
            </a:fld>
            <a:endParaRPr lang="en-US"/>
          </a:p>
        </p:txBody>
      </p:sp>
    </p:spTree>
    <p:extLst>
      <p:ext uri="{BB962C8B-B14F-4D97-AF65-F5344CB8AC3E}">
        <p14:creationId xmlns:p14="http://schemas.microsoft.com/office/powerpoint/2010/main" val="2571047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Inner CI, outer </a:t>
            </a:r>
            <a:r>
              <a:rPr lang="en-US" dirty="0" err="1" smtClean="0"/>
              <a:t>pred</a:t>
            </a:r>
            <a:r>
              <a:rPr lang="en-US" dirty="0" smtClean="0"/>
              <a:t> </a:t>
            </a:r>
            <a:r>
              <a:rPr lang="en-US" dirty="0" err="1" smtClean="0"/>
              <a:t>int</a:t>
            </a:r>
            <a:r>
              <a:rPr lang="en-US" dirty="0" smtClean="0"/>
              <a:t>, RW2 smoother</a:t>
            </a:r>
            <a:endParaRPr lang="en-US" dirty="0"/>
          </a:p>
        </p:txBody>
      </p:sp>
      <p:sp>
        <p:nvSpPr>
          <p:cNvPr id="4" name="Slide Number Placeholder 3"/>
          <p:cNvSpPr>
            <a:spLocks noGrp="1"/>
          </p:cNvSpPr>
          <p:nvPr>
            <p:ph type="sldNum" sz="quarter" idx="10"/>
          </p:nvPr>
        </p:nvSpPr>
        <p:spPr/>
        <p:txBody>
          <a:bodyPr/>
          <a:lstStyle/>
          <a:p>
            <a:fld id="{1B642B78-E9C7-834A-B39E-BEFB263161E2}" type="slidenum">
              <a:rPr lang="en-US" smtClean="0"/>
              <a:pPr/>
              <a:t>34</a:t>
            </a:fld>
            <a:endParaRPr lang="en-US"/>
          </a:p>
        </p:txBody>
      </p:sp>
    </p:spTree>
    <p:extLst>
      <p:ext uri="{BB962C8B-B14F-4D97-AF65-F5344CB8AC3E}">
        <p14:creationId xmlns:p14="http://schemas.microsoft.com/office/powerpoint/2010/main" val="2526833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582613"/>
            <a:ext cx="2914650" cy="2914650"/>
          </a:xfrm>
        </p:spPr>
      </p:sp>
      <p:sp>
        <p:nvSpPr>
          <p:cNvPr id="3" name="Notes Placeholder 2"/>
          <p:cNvSpPr>
            <a:spLocks noGrp="1"/>
          </p:cNvSpPr>
          <p:nvPr>
            <p:ph type="body" idx="1"/>
          </p:nvPr>
        </p:nvSpPr>
        <p:spPr/>
        <p:txBody>
          <a:bodyPr/>
          <a:lstStyle/>
          <a:p>
            <a:r>
              <a:rPr lang="en-US" dirty="0" err="1" smtClean="0"/>
              <a:t>HadCRU</a:t>
            </a:r>
            <a:r>
              <a:rPr lang="en-US" dirty="0" smtClean="0"/>
              <a:t> red  NOAA green GISS purple</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1B642B78-E9C7-834A-B39E-BEFB263161E2}" type="slidenum">
              <a:rPr lang="en-US" smtClean="0"/>
              <a:pPr/>
              <a:t>35</a:t>
            </a:fld>
            <a:endParaRPr lang="en-US"/>
          </a:p>
        </p:txBody>
      </p:sp>
    </p:spTree>
    <p:extLst>
      <p:ext uri="{BB962C8B-B14F-4D97-AF65-F5344CB8AC3E}">
        <p14:creationId xmlns:p14="http://schemas.microsoft.com/office/powerpoint/2010/main" val="2557676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Stockholm observations since 1756</a:t>
            </a:r>
            <a:endParaRPr lang="en-US" dirty="0"/>
          </a:p>
        </p:txBody>
      </p:sp>
      <p:sp>
        <p:nvSpPr>
          <p:cNvPr id="4" name="Slide Number Placeholder 3"/>
          <p:cNvSpPr>
            <a:spLocks noGrp="1"/>
          </p:cNvSpPr>
          <p:nvPr>
            <p:ph type="sldNum" sz="quarter" idx="10"/>
          </p:nvPr>
        </p:nvSpPr>
        <p:spPr/>
        <p:txBody>
          <a:bodyPr/>
          <a:lstStyle/>
          <a:p>
            <a:fld id="{B31201A5-E89F-154F-85E9-E457090D30B0}" type="slidenum">
              <a:rPr lang="en-US" smtClean="0"/>
              <a:t>39</a:t>
            </a:fld>
            <a:endParaRPr lang="en-US"/>
          </a:p>
        </p:txBody>
      </p:sp>
    </p:spTree>
    <p:extLst>
      <p:ext uri="{BB962C8B-B14F-4D97-AF65-F5344CB8AC3E}">
        <p14:creationId xmlns:p14="http://schemas.microsoft.com/office/powerpoint/2010/main" val="1530430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a:xfrm>
            <a:off x="2228850" y="679450"/>
            <a:ext cx="2400300" cy="2720975"/>
          </a:xfrm>
          <a:ln/>
        </p:spPr>
      </p:sp>
      <p:sp>
        <p:nvSpPr>
          <p:cNvPr id="6758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r>
              <a:rPr lang="en-US" dirty="0" smtClean="0">
                <a:latin typeface="Times" charset="0"/>
                <a:ea typeface="ＭＳ Ｐゴシック" charset="0"/>
                <a:cs typeface="ＭＳ Ｐゴシック" charset="0"/>
              </a:rPr>
              <a:t>Reason for minima</a:t>
            </a:r>
            <a:endParaRPr lang="en-US" dirty="0">
              <a:latin typeface="Times" charset="0"/>
              <a:ea typeface="ＭＳ Ｐゴシック" charset="0"/>
              <a:cs typeface="ＭＳ Ｐゴシック"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4294967295"/>
          </p:nvPr>
        </p:nvSpPr>
        <p:spPr bwMode="auto">
          <a:xfrm>
            <a:off x="3884613" y="7382431"/>
            <a:ext cx="2971800" cy="3886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fld id="{1B89A699-E8A5-EA47-A406-5311631D4946}" type="slidenum">
              <a:rPr lang="sv-SE"/>
              <a:pPr/>
              <a:t>41</a:t>
            </a:fld>
            <a:endParaRPr lang="sv-SE"/>
          </a:p>
        </p:txBody>
      </p:sp>
      <p:sp>
        <p:nvSpPr>
          <p:cNvPr id="69634" name="Rectangle 2"/>
          <p:cNvSpPr>
            <a:spLocks noGrp="1" noRot="1" noChangeAspect="1" noChangeArrowheads="1" noTextEdit="1"/>
          </p:cNvSpPr>
          <p:nvPr>
            <p:ph type="sldImg"/>
          </p:nvPr>
        </p:nvSpPr>
        <p:spPr>
          <a:xfrm>
            <a:off x="2228850" y="679450"/>
            <a:ext cx="2400300" cy="2720975"/>
          </a:xfrm>
          <a:solidFill>
            <a:srgbClr val="FFFFFF"/>
          </a:solidFill>
          <a:ln/>
        </p:spPr>
      </p:sp>
      <p:sp>
        <p:nvSpPr>
          <p:cNvPr id="6963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val="1"/>
            </a:ext>
          </a:extLst>
        </p:spPr>
        <p:txBody>
          <a:bodyPr/>
          <a:lstStyle/>
          <a:p>
            <a:pPr eaLnBrk="1" hangingPunct="1"/>
            <a:endParaRPr lang="en-US">
              <a:latin typeface="Times" charset="0"/>
              <a:ea typeface="ＭＳ Ｐゴシック" charset="0"/>
              <a:cs typeface="ＭＳ Ｐゴシック"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43125" y="582613"/>
            <a:ext cx="2571750" cy="2914650"/>
          </a:xfrm>
        </p:spPr>
      </p:sp>
      <p:sp>
        <p:nvSpPr>
          <p:cNvPr id="3" name="Notes Placeholder 2"/>
          <p:cNvSpPr>
            <a:spLocks noGrp="1"/>
          </p:cNvSpPr>
          <p:nvPr>
            <p:ph type="body" idx="1"/>
          </p:nvPr>
        </p:nvSpPr>
        <p:spPr/>
        <p:txBody>
          <a:bodyPr/>
          <a:lstStyle/>
          <a:p>
            <a:r>
              <a:rPr lang="en-US" dirty="0" smtClean="0"/>
              <a:t>How</a:t>
            </a:r>
            <a:r>
              <a:rPr lang="en-US" baseline="0" dirty="0" smtClean="0"/>
              <a:t> compare two distributions in nonstationary and dependent case?</a:t>
            </a:r>
            <a:endParaRPr lang="en-US" dirty="0"/>
          </a:p>
        </p:txBody>
      </p:sp>
      <p:sp>
        <p:nvSpPr>
          <p:cNvPr id="4" name="Slide Number Placeholder 3"/>
          <p:cNvSpPr>
            <a:spLocks noGrp="1"/>
          </p:cNvSpPr>
          <p:nvPr>
            <p:ph type="sldNum" sz="quarter" idx="10"/>
          </p:nvPr>
        </p:nvSpPr>
        <p:spPr/>
        <p:txBody>
          <a:bodyPr/>
          <a:lstStyle/>
          <a:p>
            <a:fld id="{B31201A5-E89F-154F-85E9-E457090D30B0}" type="slidenum">
              <a:rPr lang="en-US" smtClean="0"/>
              <a:t>43</a:t>
            </a:fld>
            <a:endParaRPr lang="en-US"/>
          </a:p>
        </p:txBody>
      </p:sp>
    </p:spTree>
    <p:extLst>
      <p:ext uri="{BB962C8B-B14F-4D97-AF65-F5344CB8AC3E}">
        <p14:creationId xmlns:p14="http://schemas.microsoft.com/office/powerpoint/2010/main" val="24234392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p:cNvSpPr>
          <p:nvPr>
            <p:ph type="sldImg"/>
          </p:nvPr>
        </p:nvSpPr>
        <p:spPr>
          <a:xfrm>
            <a:off x="2228850" y="679450"/>
            <a:ext cx="2400300" cy="2720975"/>
          </a:xfrm>
          <a:ln/>
        </p:spPr>
      </p:sp>
      <p:sp>
        <p:nvSpPr>
          <p:cNvPr id="80898"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atin typeface="Times" charset="0"/>
                <a:ea typeface="ＭＳ Ｐゴシック" charset="0"/>
                <a:cs typeface="ＭＳ Ｐゴシック" charset="0"/>
              </a:rPr>
              <a:t>Not homogenized</a:t>
            </a:r>
          </a:p>
        </p:txBody>
      </p:sp>
      <p:sp>
        <p:nvSpPr>
          <p:cNvPr id="80899" name="Slide Number Placeholder 3"/>
          <p:cNvSpPr>
            <a:spLocks noGrp="1"/>
          </p:cNvSpPr>
          <p:nvPr>
            <p:ph type="sldNum" sz="quarter" idx="4294967295"/>
          </p:nvPr>
        </p:nvSpPr>
        <p:spPr bwMode="auto">
          <a:xfrm>
            <a:off x="3884613" y="7382431"/>
            <a:ext cx="2971800" cy="3886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fld id="{65B3A094-4455-0A45-BF95-DB3D2ABFFED1}" type="slidenum">
              <a:rPr lang="en-US"/>
              <a:pPr/>
              <a:t>44</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p:cNvSpPr>
          <p:nvPr>
            <p:ph type="sldImg"/>
          </p:nvPr>
        </p:nvSpPr>
        <p:spPr>
          <a:xfrm>
            <a:off x="2228850" y="679450"/>
            <a:ext cx="2400300" cy="2720975"/>
          </a:xfrm>
          <a:ln/>
        </p:spPr>
      </p:sp>
      <p:sp>
        <p:nvSpPr>
          <p:cNvPr id="82946"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latin typeface="Times" charset="0"/>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414593"/>
            <a:ext cx="5829300" cy="1665287"/>
          </a:xfrm>
        </p:spPr>
        <p:txBody>
          <a:bodyPr/>
          <a:lstStyle/>
          <a:p>
            <a:r>
              <a:rPr lang="en-US" smtClean="0"/>
              <a:t>Click to edit Master title style</a:t>
            </a:r>
            <a:endParaRPr lang="en-US"/>
          </a:p>
        </p:txBody>
      </p:sp>
      <p:sp>
        <p:nvSpPr>
          <p:cNvPr id="3" name="Subtitle 2"/>
          <p:cNvSpPr>
            <a:spLocks noGrp="1"/>
          </p:cNvSpPr>
          <p:nvPr>
            <p:ph type="subTitle" idx="1"/>
          </p:nvPr>
        </p:nvSpPr>
        <p:spPr>
          <a:xfrm>
            <a:off x="1028700" y="4403726"/>
            <a:ext cx="4800600" cy="19875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4994275"/>
            <a:ext cx="5829300" cy="1544638"/>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541338" y="3294063"/>
            <a:ext cx="5829300" cy="170021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12766" y="2244728"/>
            <a:ext cx="2840037" cy="4656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3505200" y="2244728"/>
            <a:ext cx="2840038" cy="4656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11150"/>
            <a:ext cx="6172200" cy="12954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342900" y="1739900"/>
            <a:ext cx="3030538" cy="7254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42900" y="2465390"/>
            <a:ext cx="3030538"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3484573" y="1739900"/>
            <a:ext cx="3030537" cy="7254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484573" y="2465390"/>
            <a:ext cx="3030537" cy="44783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09563"/>
            <a:ext cx="2255838" cy="13176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2681288" y="309563"/>
            <a:ext cx="3833812" cy="66341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42900" y="1627189"/>
            <a:ext cx="2255838" cy="53165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5440369"/>
            <a:ext cx="4114800" cy="642937"/>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344613" y="693738"/>
            <a:ext cx="4114800" cy="4664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1344613" y="6083300"/>
            <a:ext cx="4114800" cy="9112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887923" y="690564"/>
            <a:ext cx="1457325" cy="621029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12763" y="690564"/>
            <a:ext cx="4222750" cy="62102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12766" y="690563"/>
            <a:ext cx="5832475" cy="1293812"/>
          </a:xfrm>
          <a:prstGeom prst="rect">
            <a:avLst/>
          </a:prstGeom>
          <a:noFill/>
          <a:ln w="12700">
            <a:noFill/>
            <a:miter lim="800000"/>
            <a:headEnd/>
            <a:tailEnd/>
          </a:ln>
          <a:effectLst/>
        </p:spPr>
        <p:txBody>
          <a:bodyPr vert="horz" wrap="square" lIns="81294" tIns="39656" rIns="81294" bIns="39656" numCol="1" anchor="ctr" anchorCtr="0" compatLnSpc="1">
            <a:prstTxWarp prst="textNoShape">
              <a:avLst/>
            </a:prstTxWarp>
          </a:bodyPr>
          <a:lstStyle/>
          <a:p>
            <a:pPr lvl="0"/>
            <a:r>
              <a:rPr lang="en-US" smtClean="0"/>
              <a:t>Click to edit Master title style</a:t>
            </a:r>
            <a:endParaRPr lang="en-US"/>
          </a:p>
        </p:txBody>
      </p:sp>
      <p:sp>
        <p:nvSpPr>
          <p:cNvPr id="3075" name="Rectangle 3"/>
          <p:cNvSpPr>
            <a:spLocks noGrp="1" noChangeArrowheads="1"/>
          </p:cNvSpPr>
          <p:nvPr>
            <p:ph type="body" idx="1"/>
          </p:nvPr>
        </p:nvSpPr>
        <p:spPr bwMode="auto">
          <a:xfrm>
            <a:off x="512766" y="2244728"/>
            <a:ext cx="5832475" cy="4656138"/>
          </a:xfrm>
          <a:prstGeom prst="rect">
            <a:avLst/>
          </a:prstGeom>
          <a:noFill/>
          <a:ln w="12700">
            <a:noFill/>
            <a:miter lim="800000"/>
            <a:headEnd/>
            <a:tailEnd/>
          </a:ln>
          <a:effectLst/>
        </p:spPr>
        <p:txBody>
          <a:bodyPr vert="horz" wrap="square" lIns="81294" tIns="39656" rIns="81294" bIns="396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076" name="Rectangle 4"/>
          <p:cNvSpPr>
            <a:spLocks noChangeArrowheads="1"/>
          </p:cNvSpPr>
          <p:nvPr/>
        </p:nvSpPr>
        <p:spPr bwMode="auto">
          <a:xfrm>
            <a:off x="555628" y="2"/>
            <a:ext cx="822325" cy="333375"/>
          </a:xfrm>
          <a:prstGeom prst="rect">
            <a:avLst/>
          </a:prstGeom>
          <a:noFill/>
          <a:ln w="12700">
            <a:noFill/>
            <a:miter lim="800000"/>
            <a:headEnd/>
            <a:tailEnd/>
          </a:ln>
          <a:effectLst/>
        </p:spPr>
        <p:txBody>
          <a:bodyPr wrap="none" anchor="ctr">
            <a:prstTxWarp prst="textNoShape">
              <a:avLst/>
            </a:prstTxWarp>
          </a:body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798513" rtl="0" eaLnBrk="1" fontAlgn="base" hangingPunct="1">
        <a:spcBef>
          <a:spcPct val="0"/>
        </a:spcBef>
        <a:spcAft>
          <a:spcPct val="0"/>
        </a:spcAft>
        <a:defRPr sz="3900" b="1">
          <a:solidFill>
            <a:srgbClr val="063DE8"/>
          </a:solidFill>
          <a:latin typeface="+mj-lt"/>
          <a:ea typeface="+mj-ea"/>
          <a:cs typeface="+mj-cs"/>
        </a:defRPr>
      </a:lvl1pPr>
      <a:lvl2pPr algn="ctr" defTabSz="798513" rtl="0" eaLnBrk="1" fontAlgn="base" hangingPunct="1">
        <a:spcBef>
          <a:spcPct val="0"/>
        </a:spcBef>
        <a:spcAft>
          <a:spcPct val="0"/>
        </a:spcAft>
        <a:defRPr sz="3900" b="1">
          <a:solidFill>
            <a:srgbClr val="063DE8"/>
          </a:solidFill>
          <a:latin typeface="Helvetica" charset="0"/>
        </a:defRPr>
      </a:lvl2pPr>
      <a:lvl3pPr algn="ctr" defTabSz="798513" rtl="0" eaLnBrk="1" fontAlgn="base" hangingPunct="1">
        <a:spcBef>
          <a:spcPct val="0"/>
        </a:spcBef>
        <a:spcAft>
          <a:spcPct val="0"/>
        </a:spcAft>
        <a:defRPr sz="3900" b="1">
          <a:solidFill>
            <a:srgbClr val="063DE8"/>
          </a:solidFill>
          <a:latin typeface="Helvetica" charset="0"/>
        </a:defRPr>
      </a:lvl3pPr>
      <a:lvl4pPr algn="ctr" defTabSz="798513" rtl="0" eaLnBrk="1" fontAlgn="base" hangingPunct="1">
        <a:spcBef>
          <a:spcPct val="0"/>
        </a:spcBef>
        <a:spcAft>
          <a:spcPct val="0"/>
        </a:spcAft>
        <a:defRPr sz="3900" b="1">
          <a:solidFill>
            <a:srgbClr val="063DE8"/>
          </a:solidFill>
          <a:latin typeface="Helvetica" charset="0"/>
        </a:defRPr>
      </a:lvl4pPr>
      <a:lvl5pPr algn="ctr" defTabSz="798513" rtl="0" eaLnBrk="1" fontAlgn="base" hangingPunct="1">
        <a:spcBef>
          <a:spcPct val="0"/>
        </a:spcBef>
        <a:spcAft>
          <a:spcPct val="0"/>
        </a:spcAft>
        <a:defRPr sz="3900" b="1">
          <a:solidFill>
            <a:srgbClr val="063DE8"/>
          </a:solidFill>
          <a:latin typeface="Helvetica" charset="0"/>
        </a:defRPr>
      </a:lvl5pPr>
      <a:lvl6pPr marL="457200" algn="ctr" defTabSz="798513" rtl="0" eaLnBrk="1" fontAlgn="base" hangingPunct="1">
        <a:spcBef>
          <a:spcPct val="0"/>
        </a:spcBef>
        <a:spcAft>
          <a:spcPct val="0"/>
        </a:spcAft>
        <a:defRPr sz="3900" b="1">
          <a:solidFill>
            <a:srgbClr val="063DE8"/>
          </a:solidFill>
          <a:latin typeface="Helvetica" charset="0"/>
        </a:defRPr>
      </a:lvl6pPr>
      <a:lvl7pPr marL="914400" algn="ctr" defTabSz="798513" rtl="0" eaLnBrk="1" fontAlgn="base" hangingPunct="1">
        <a:spcBef>
          <a:spcPct val="0"/>
        </a:spcBef>
        <a:spcAft>
          <a:spcPct val="0"/>
        </a:spcAft>
        <a:defRPr sz="3900" b="1">
          <a:solidFill>
            <a:srgbClr val="063DE8"/>
          </a:solidFill>
          <a:latin typeface="Helvetica" charset="0"/>
        </a:defRPr>
      </a:lvl7pPr>
      <a:lvl8pPr marL="1371600" algn="ctr" defTabSz="798513" rtl="0" eaLnBrk="1" fontAlgn="base" hangingPunct="1">
        <a:spcBef>
          <a:spcPct val="0"/>
        </a:spcBef>
        <a:spcAft>
          <a:spcPct val="0"/>
        </a:spcAft>
        <a:defRPr sz="3900" b="1">
          <a:solidFill>
            <a:srgbClr val="063DE8"/>
          </a:solidFill>
          <a:latin typeface="Helvetica" charset="0"/>
        </a:defRPr>
      </a:lvl8pPr>
      <a:lvl9pPr marL="1828800" algn="ctr" defTabSz="798513" rtl="0" eaLnBrk="1" fontAlgn="base" hangingPunct="1">
        <a:spcBef>
          <a:spcPct val="0"/>
        </a:spcBef>
        <a:spcAft>
          <a:spcPct val="0"/>
        </a:spcAft>
        <a:defRPr sz="3900" b="1">
          <a:solidFill>
            <a:srgbClr val="063DE8"/>
          </a:solidFill>
          <a:latin typeface="Helvetica" charset="0"/>
        </a:defRPr>
      </a:lvl9pPr>
    </p:titleStyle>
    <p:bodyStyle>
      <a:lvl1pPr algn="l" defTabSz="798513" rtl="0" eaLnBrk="1" fontAlgn="base" hangingPunct="1">
        <a:spcBef>
          <a:spcPct val="20000"/>
        </a:spcBef>
        <a:spcAft>
          <a:spcPct val="0"/>
        </a:spcAft>
        <a:defRPr sz="2700" b="1">
          <a:solidFill>
            <a:schemeClr val="tx1"/>
          </a:solidFill>
          <a:latin typeface="+mn-lt"/>
          <a:ea typeface="+mn-ea"/>
          <a:cs typeface="+mn-cs"/>
        </a:defRPr>
      </a:lvl1pPr>
      <a:lvl2pPr marL="427038" indent="15875" algn="l" defTabSz="798513" rtl="0" eaLnBrk="1" fontAlgn="base" hangingPunct="1">
        <a:spcBef>
          <a:spcPct val="20000"/>
        </a:spcBef>
        <a:spcAft>
          <a:spcPct val="0"/>
        </a:spcAft>
        <a:defRPr sz="2500" b="1">
          <a:solidFill>
            <a:schemeClr val="tx1"/>
          </a:solidFill>
          <a:latin typeface="+mn-lt"/>
          <a:ea typeface="ＭＳ Ｐゴシック" charset="-128"/>
        </a:defRPr>
      </a:lvl2pPr>
      <a:lvl3pPr marL="782638" indent="15875" algn="l" defTabSz="798513" rtl="0" eaLnBrk="1" fontAlgn="base" hangingPunct="1">
        <a:spcBef>
          <a:spcPct val="20000"/>
        </a:spcBef>
        <a:spcAft>
          <a:spcPct val="0"/>
        </a:spcAft>
        <a:defRPr sz="2100" b="1">
          <a:solidFill>
            <a:schemeClr val="tx1"/>
          </a:solidFill>
          <a:latin typeface="+mn-lt"/>
          <a:ea typeface="ＭＳ Ｐゴシック" charset="-128"/>
        </a:defRPr>
      </a:lvl3pPr>
      <a:lvl4pPr marL="1209675" indent="-9525" algn="l" defTabSz="798513" rtl="0" eaLnBrk="1" fontAlgn="base" hangingPunct="1">
        <a:spcBef>
          <a:spcPct val="20000"/>
        </a:spcBef>
        <a:spcAft>
          <a:spcPct val="0"/>
        </a:spcAft>
        <a:defRPr sz="1700" b="1">
          <a:solidFill>
            <a:schemeClr val="tx1"/>
          </a:solidFill>
          <a:latin typeface="+mn-lt"/>
          <a:ea typeface="ＭＳ Ｐゴシック" charset="-128"/>
        </a:defRPr>
      </a:lvl4pPr>
      <a:lvl5pPr marL="1638300" indent="-39688" algn="l" defTabSz="798513" rtl="0" eaLnBrk="1" fontAlgn="base" hangingPunct="1">
        <a:spcBef>
          <a:spcPct val="20000"/>
        </a:spcBef>
        <a:spcAft>
          <a:spcPct val="0"/>
        </a:spcAft>
        <a:defRPr sz="1700" b="1">
          <a:solidFill>
            <a:schemeClr val="tx1"/>
          </a:solidFill>
          <a:latin typeface="+mn-lt"/>
          <a:ea typeface="ＭＳ Ｐゴシック" charset="-128"/>
        </a:defRPr>
      </a:lvl5pPr>
      <a:lvl6pPr marL="2095500" indent="-39688" algn="l" defTabSz="798513" rtl="0" eaLnBrk="1" fontAlgn="base" hangingPunct="1">
        <a:spcBef>
          <a:spcPct val="20000"/>
        </a:spcBef>
        <a:spcAft>
          <a:spcPct val="0"/>
        </a:spcAft>
        <a:defRPr sz="1700" b="1">
          <a:solidFill>
            <a:schemeClr val="tx1"/>
          </a:solidFill>
          <a:latin typeface="+mn-lt"/>
          <a:ea typeface="ＭＳ Ｐゴシック" charset="-128"/>
        </a:defRPr>
      </a:lvl6pPr>
      <a:lvl7pPr marL="2552700" indent="-39688" algn="l" defTabSz="798513" rtl="0" eaLnBrk="1" fontAlgn="base" hangingPunct="1">
        <a:spcBef>
          <a:spcPct val="20000"/>
        </a:spcBef>
        <a:spcAft>
          <a:spcPct val="0"/>
        </a:spcAft>
        <a:defRPr sz="1700" b="1">
          <a:solidFill>
            <a:schemeClr val="tx1"/>
          </a:solidFill>
          <a:latin typeface="+mn-lt"/>
          <a:ea typeface="ＭＳ Ｐゴシック" charset="-128"/>
        </a:defRPr>
      </a:lvl7pPr>
      <a:lvl8pPr marL="3009900" indent="-39688" algn="l" defTabSz="798513" rtl="0" eaLnBrk="1" fontAlgn="base" hangingPunct="1">
        <a:spcBef>
          <a:spcPct val="20000"/>
        </a:spcBef>
        <a:spcAft>
          <a:spcPct val="0"/>
        </a:spcAft>
        <a:defRPr sz="1700" b="1">
          <a:solidFill>
            <a:schemeClr val="tx1"/>
          </a:solidFill>
          <a:latin typeface="+mn-lt"/>
          <a:ea typeface="ＭＳ Ｐゴシック" charset="-128"/>
        </a:defRPr>
      </a:lvl8pPr>
      <a:lvl9pPr marL="3467100" indent="-39688" algn="l" defTabSz="798513" rtl="0" eaLnBrk="1" fontAlgn="base" hangingPunct="1">
        <a:spcBef>
          <a:spcPct val="20000"/>
        </a:spcBef>
        <a:spcAft>
          <a:spcPct val="0"/>
        </a:spcAft>
        <a:defRPr sz="1700" b="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4" Type="http://schemas.openxmlformats.org/officeDocument/2006/relationships/oleObject" Target="../embeddings/oleObject1.bin"/><Relationship Id="rId5" Type="http://schemas.openxmlformats.org/officeDocument/2006/relationships/image" Target="../media/image3.emf"/><Relationship Id="rId6" Type="http://schemas.openxmlformats.org/officeDocument/2006/relationships/oleObject" Target="../embeddings/oleObject2.bin"/><Relationship Id="rId7" Type="http://schemas.openxmlformats.org/officeDocument/2006/relationships/image" Target="../media/image4.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4" Type="http://schemas.openxmlformats.org/officeDocument/2006/relationships/oleObject" Target="../embeddings/oleObject3.bin"/><Relationship Id="rId5" Type="http://schemas.openxmlformats.org/officeDocument/2006/relationships/image" Target="../media/image5.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emf"/></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gif"/><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19.e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emf"/></Relationships>
</file>

<file path=ppt/slides/_rels/slide35.xml.rels><?xml version="1.0" encoding="UTF-8" standalone="yes"?>
<Relationships xmlns="http://schemas.openxmlformats.org/package/2006/relationships"><Relationship Id="rId3" Type="http://schemas.openxmlformats.org/officeDocument/2006/relationships/image" Target="../media/image21.emf"/><Relationship Id="rId4" Type="http://schemas.openxmlformats.org/officeDocument/2006/relationships/image" Target="../media/image22.emf"/><Relationship Id="rId5" Type="http://schemas.openxmlformats.org/officeDocument/2006/relationships/image" Target="../media/image23.emf"/><Relationship Id="rId6" Type="http://schemas.openxmlformats.org/officeDocument/2006/relationships/image" Target="../media/image24.emf"/><Relationship Id="rId7" Type="http://schemas.openxmlformats.org/officeDocument/2006/relationships/image" Target="../media/image25.emf"/><Relationship Id="rId8" Type="http://schemas.openxmlformats.org/officeDocument/2006/relationships/image" Target="../media/image26.emf"/><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emf"/><Relationship Id="rId3" Type="http://schemas.openxmlformats.org/officeDocument/2006/relationships/image" Target="../media/image28.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29.png"/><Relationship Id="rId1" Type="http://schemas.microsoft.com/office/2007/relationships/media" Target="../media/media1.mov"/><Relationship Id="rId2" Type="http://schemas.openxmlformats.org/officeDocument/2006/relationships/video" Target="../media/media1.mov"/></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0.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2.xml"/><Relationship Id="rId4" Type="http://schemas.openxmlformats.org/officeDocument/2006/relationships/image" Target="../media/image31.emf"/><Relationship Id="rId5" Type="http://schemas.openxmlformats.org/officeDocument/2006/relationships/image" Target="../media/image32.emf"/><Relationship Id="rId6" Type="http://schemas.openxmlformats.org/officeDocument/2006/relationships/image" Target="../media/image33.emf"/><Relationship Id="rId1" Type="http://schemas.openxmlformats.org/officeDocument/2006/relationships/tags" Target="../tags/tag1.xml"/><Relationship Id="rId2"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6.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7.emf"/></Relationships>
</file>

<file path=ppt/slides/_rels/slide45.xml.rels><?xml version="1.0" encoding="UTF-8" standalone="yes"?>
<Relationships xmlns="http://schemas.openxmlformats.org/package/2006/relationships"><Relationship Id="rId11" Type="http://schemas.openxmlformats.org/officeDocument/2006/relationships/image" Target="../media/image39.emf"/><Relationship Id="rId12" Type="http://schemas.openxmlformats.org/officeDocument/2006/relationships/oleObject" Target="../embeddings/oleObject7.bin"/><Relationship Id="rId13" Type="http://schemas.openxmlformats.org/officeDocument/2006/relationships/image" Target="../media/image40.emf"/><Relationship Id="rId14" Type="http://schemas.openxmlformats.org/officeDocument/2006/relationships/oleObject" Target="../embeddings/oleObject8.bin"/><Relationship Id="rId15" Type="http://schemas.openxmlformats.org/officeDocument/2006/relationships/image" Target="../media/image41.emf"/><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notesSlide" Target="../notesSlides/notesSlide26.xml"/><Relationship Id="rId4" Type="http://schemas.openxmlformats.org/officeDocument/2006/relationships/oleObject" Target="../embeddings/oleObject5.bin"/><Relationship Id="rId5" Type="http://schemas.openxmlformats.org/officeDocument/2006/relationships/image" Target="../media/image38.emf"/><Relationship Id="rId6" Type="http://schemas.openxmlformats.org/officeDocument/2006/relationships/image" Target="../media/image42.jpeg"/><Relationship Id="rId7" Type="http://schemas.openxmlformats.org/officeDocument/2006/relationships/image" Target="../media/image43.png"/><Relationship Id="rId8" Type="http://schemas.openxmlformats.org/officeDocument/2006/relationships/image" Target="../media/image44.jpeg"/><Relationship Id="rId9" Type="http://schemas.openxmlformats.org/officeDocument/2006/relationships/image" Target="../media/image45.png"/><Relationship Id="rId10" Type="http://schemas.openxmlformats.org/officeDocument/2006/relationships/oleObject" Target="../embeddings/oleObject6.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46.emf"/><Relationship Id="rId5" Type="http://schemas.openxmlformats.org/officeDocument/2006/relationships/oleObject" Target="../embeddings/oleObject10.bin"/><Relationship Id="rId6" Type="http://schemas.openxmlformats.org/officeDocument/2006/relationships/image" Target="../media/image47.emf"/><Relationship Id="rId7" Type="http://schemas.openxmlformats.org/officeDocument/2006/relationships/oleObject" Target="../embeddings/oleObject11.bin"/><Relationship Id="rId8" Type="http://schemas.openxmlformats.org/officeDocument/2006/relationships/image" Target="../media/image48.e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emf"/><Relationship Id="rId3" Type="http://schemas.openxmlformats.org/officeDocument/2006/relationships/image" Target="../media/image50.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514350" y="2590800"/>
            <a:ext cx="5829300" cy="1295400"/>
          </a:xfrm>
        </p:spPr>
        <p:txBody>
          <a:bodyPr/>
          <a:lstStyle/>
          <a:p>
            <a:r>
              <a:rPr lang="en-US" dirty="0" smtClean="0"/>
              <a:t>Statistics and Climate</a:t>
            </a:r>
            <a:endParaRPr lang="en-US" dirty="0"/>
          </a:p>
        </p:txBody>
      </p:sp>
      <p:sp>
        <p:nvSpPr>
          <p:cNvPr id="2051" name="Rectangle 3"/>
          <p:cNvSpPr>
            <a:spLocks noGrp="1" noChangeArrowheads="1"/>
          </p:cNvSpPr>
          <p:nvPr>
            <p:ph type="subTitle" idx="1"/>
          </p:nvPr>
        </p:nvSpPr>
        <p:spPr>
          <a:xfrm>
            <a:off x="533400" y="4403726"/>
            <a:ext cx="5715000" cy="1987550"/>
          </a:xfrm>
        </p:spPr>
        <p:txBody>
          <a:bodyPr/>
          <a:lstStyle/>
          <a:p>
            <a:r>
              <a:rPr lang="en-US" dirty="0" smtClean="0"/>
              <a:t>Peter Guttorp</a:t>
            </a:r>
          </a:p>
          <a:p>
            <a:r>
              <a:rPr lang="en-US" dirty="0" smtClean="0"/>
              <a:t>University of Washington</a:t>
            </a:r>
          </a:p>
          <a:p>
            <a:r>
              <a:rPr lang="en-US" dirty="0" smtClean="0"/>
              <a:t>Norwegian Computing Center</a:t>
            </a:r>
          </a:p>
          <a:p>
            <a:r>
              <a:rPr lang="en-US" dirty="0" err="1" smtClean="0"/>
              <a:t>peter@stat.washington.edu</a:t>
            </a:r>
            <a:endParaRPr lang="en-US" dirty="0"/>
          </a:p>
        </p:txBody>
      </p:sp>
      <p:pic>
        <p:nvPicPr>
          <p:cNvPr id="4" name="Picture 6" descr="logo1"/>
          <p:cNvPicPr>
            <a:picLocks noChangeAspect="1" noChangeArrowheads="1"/>
          </p:cNvPicPr>
          <p:nvPr/>
        </p:nvPicPr>
        <p:blipFill>
          <a:blip r:embed="rId2"/>
          <a:srcRect/>
          <a:stretch>
            <a:fillRect/>
          </a:stretch>
        </p:blipFill>
        <p:spPr bwMode="auto">
          <a:xfrm>
            <a:off x="381000" y="228600"/>
            <a:ext cx="1905000" cy="1820863"/>
          </a:xfrm>
          <a:prstGeom prst="rect">
            <a:avLst/>
          </a:prstGeom>
          <a:noFill/>
          <a:ln w="9525">
            <a:noFill/>
            <a:miter lim="800000"/>
            <a:headEnd/>
            <a:tailEnd/>
          </a:ln>
        </p:spPr>
      </p:pic>
      <p:pic>
        <p:nvPicPr>
          <p:cNvPr id="5" name="Picture 4" descr="sfi2_element_rgb.gif"/>
          <p:cNvPicPr>
            <a:picLocks noChangeAspect="1"/>
          </p:cNvPicPr>
          <p:nvPr/>
        </p:nvPicPr>
        <p:blipFill>
          <a:blip r:embed="rId3"/>
          <a:srcRect/>
          <a:stretch>
            <a:fillRect/>
          </a:stretch>
        </p:blipFill>
        <p:spPr bwMode="auto">
          <a:xfrm>
            <a:off x="2438400" y="381000"/>
            <a:ext cx="4450220" cy="83820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Acknowledgements</a:t>
            </a:r>
          </a:p>
        </p:txBody>
      </p:sp>
      <p:sp>
        <p:nvSpPr>
          <p:cNvPr id="6146" name="Rectangle 3"/>
          <p:cNvSpPr>
            <a:spLocks noGrp="1" noChangeArrowheads="1"/>
          </p:cNvSpPr>
          <p:nvPr>
            <p:ph type="body" idx="1"/>
          </p:nvPr>
        </p:nvSpPr>
        <p:spPr>
          <a:xfrm>
            <a:off x="304800" y="2133600"/>
            <a:ext cx="6096000" cy="4656138"/>
          </a:xfrm>
        </p:spPr>
        <p:txBody>
          <a:bodyPr/>
          <a:lstStyle/>
          <a:p>
            <a:r>
              <a:rPr lang="en-US" dirty="0" smtClean="0">
                <a:latin typeface="Helvetica" charset="0"/>
                <a:ea typeface="ＭＳ Ｐゴシック" charset="0"/>
                <a:cs typeface="ＭＳ Ｐゴシック" charset="0"/>
              </a:rPr>
              <a:t>2</a:t>
            </a:r>
            <a:r>
              <a:rPr lang="en-US" sz="2400" dirty="0" smtClean="0">
                <a:latin typeface="Helvetica" charset="0"/>
                <a:ea typeface="ＭＳ Ｐゴシック" charset="0"/>
                <a:cs typeface="ＭＳ Ｐゴシック" charset="0"/>
              </a:rPr>
              <a:t>007 ASA </a:t>
            </a:r>
            <a:r>
              <a:rPr lang="en-US" sz="2400" dirty="0">
                <a:latin typeface="Helvetica" charset="0"/>
                <a:ea typeface="ＭＳ Ｐゴシック" charset="0"/>
                <a:cs typeface="ＭＳ Ｐゴシック" charset="0"/>
              </a:rPr>
              <a:t>climate consensus </a:t>
            </a:r>
            <a:r>
              <a:rPr lang="en-US" sz="2400" dirty="0" smtClean="0">
                <a:latin typeface="Helvetica" charset="0"/>
                <a:ea typeface="ＭＳ Ｐゴシック" charset="0"/>
                <a:cs typeface="ＭＳ Ｐゴシック" charset="0"/>
              </a:rPr>
              <a:t>workshop</a:t>
            </a:r>
            <a:endParaRPr lang="en-US" sz="2400" dirty="0">
              <a:latin typeface="Helvetica" charset="0"/>
              <a:ea typeface="ＭＳ Ｐゴシック" charset="0"/>
              <a:cs typeface="ＭＳ Ｐゴシック" charset="0"/>
            </a:endParaRPr>
          </a:p>
          <a:p>
            <a:r>
              <a:rPr lang="en-US" sz="2400" dirty="0" smtClean="0">
                <a:latin typeface="Helvetica" charset="0"/>
                <a:ea typeface="ＭＳ Ｐゴシック" charset="0"/>
                <a:cs typeface="ＭＳ Ｐゴシック" charset="0"/>
              </a:rPr>
              <a:t>          IPCC </a:t>
            </a:r>
            <a:r>
              <a:rPr lang="en-US" sz="2400" dirty="0">
                <a:latin typeface="Helvetica" charset="0"/>
                <a:ea typeface="ＭＳ Ｐゴシック" charset="0"/>
                <a:cs typeface="ＭＳ Ｐゴシック" charset="0"/>
              </a:rPr>
              <a:t>Fourth Assessment </a:t>
            </a:r>
            <a:r>
              <a:rPr lang="en-US" sz="2400" dirty="0" smtClean="0">
                <a:latin typeface="Helvetica" charset="0"/>
                <a:ea typeface="ＭＳ Ｐゴシック" charset="0"/>
                <a:cs typeface="ＭＳ Ｐゴシック" charset="0"/>
              </a:rPr>
              <a:t>     </a:t>
            </a:r>
            <a:r>
              <a:rPr lang="en-US" sz="2400" dirty="0" smtClean="0">
                <a:latin typeface="Helvetica" charset="0"/>
                <a:ea typeface="ＭＳ Ｐゴシック" charset="0"/>
                <a:cs typeface="ＭＳ Ｐゴシック" charset="0"/>
              </a:rPr>
              <a:t>          </a:t>
            </a:r>
            <a:endParaRPr lang="en-US" sz="2400" dirty="0">
              <a:latin typeface="Helvetica" charset="0"/>
              <a:ea typeface="ＭＳ Ｐゴシック" charset="0"/>
              <a:cs typeface="ＭＳ Ｐゴシック" charset="0"/>
            </a:endParaRPr>
          </a:p>
          <a:p>
            <a:r>
              <a:rPr lang="en-US" sz="2400" dirty="0" smtClean="0">
                <a:latin typeface="Helvetica" charset="0"/>
                <a:ea typeface="ＭＳ Ｐゴシック" charset="0"/>
                <a:cs typeface="ＭＳ Ｐゴシック" charset="0"/>
              </a:rPr>
              <a:t>2009 Copenhagen </a:t>
            </a:r>
            <a:r>
              <a:rPr lang="en-US" sz="2400" dirty="0">
                <a:latin typeface="Helvetica" charset="0"/>
                <a:ea typeface="ＭＳ Ｐゴシック" charset="0"/>
                <a:cs typeface="ＭＳ Ｐゴシック" charset="0"/>
              </a:rPr>
              <a:t>Diagnosis</a:t>
            </a:r>
          </a:p>
          <a:p>
            <a:r>
              <a:rPr lang="en-US" sz="2400" dirty="0" smtClean="0">
                <a:latin typeface="Helvetica" charset="0"/>
                <a:ea typeface="ＭＳ Ｐゴシック" charset="0"/>
                <a:cs typeface="ＭＳ Ｐゴシック" charset="0"/>
              </a:rPr>
              <a:t>2011 NRC: America’s Climate Choices</a:t>
            </a:r>
            <a:endParaRPr lang="en-US" sz="2400" dirty="0">
              <a:latin typeface="Helvetica" charset="0"/>
              <a:ea typeface="ＭＳ Ｐゴシック" charset="0"/>
              <a:cs typeface="ＭＳ Ｐゴシック" charset="0"/>
            </a:endParaRPr>
          </a:p>
          <a:p>
            <a:r>
              <a:rPr lang="en-US" sz="2400" dirty="0" smtClean="0">
                <a:latin typeface="Helvetica" charset="0"/>
                <a:ea typeface="ＭＳ Ｐゴシック" charset="0"/>
                <a:cs typeface="ＭＳ Ｐゴシック" charset="0"/>
              </a:rPr>
              <a:t>2012 Detection and attribution workshop in Banff</a:t>
            </a:r>
            <a:endParaRPr lang="en-US" sz="2400" dirty="0">
              <a:latin typeface="Helvetica" charset="0"/>
              <a:ea typeface="ＭＳ Ｐゴシック" charset="0"/>
              <a:cs typeface="ＭＳ Ｐゴシック" charset="0"/>
            </a:endParaRPr>
          </a:p>
          <a:p>
            <a:r>
              <a:rPr lang="en-US" sz="2400" dirty="0">
                <a:latin typeface="Helvetica" charset="0"/>
                <a:ea typeface="ＭＳ Ｐゴシック" charset="0"/>
                <a:cs typeface="ＭＳ Ｐゴシック" charset="0"/>
              </a:rPr>
              <a:t>NCAR </a:t>
            </a:r>
            <a:r>
              <a:rPr lang="en-US" sz="2400" dirty="0" err="1">
                <a:latin typeface="Helvetica" charset="0"/>
                <a:ea typeface="ＭＳ Ｐゴシック" charset="0"/>
                <a:cs typeface="ＭＳ Ｐゴシック" charset="0"/>
              </a:rPr>
              <a:t>IMAGe</a:t>
            </a:r>
            <a:r>
              <a:rPr lang="en-US" sz="2400" dirty="0">
                <a:latin typeface="Helvetica" charset="0"/>
                <a:ea typeface="ＭＳ Ｐゴシック" charset="0"/>
                <a:cs typeface="ＭＳ Ｐゴシック" charset="0"/>
              </a:rPr>
              <a:t>/</a:t>
            </a:r>
            <a:r>
              <a:rPr lang="en-US" sz="2400" dirty="0" smtClean="0">
                <a:latin typeface="Helvetica" charset="0"/>
                <a:ea typeface="ＭＳ Ｐゴシック" charset="0"/>
                <a:cs typeface="ＭＳ Ｐゴシック" charset="0"/>
              </a:rPr>
              <a:t>GSP</a:t>
            </a:r>
          </a:p>
          <a:p>
            <a:r>
              <a:rPr lang="en-US" sz="2400" dirty="0" smtClean="0">
                <a:latin typeface="Helvetica" charset="0"/>
                <a:ea typeface="ＭＳ Ｐゴシック" charset="0"/>
                <a:cs typeface="ＭＳ Ｐゴシック" charset="0"/>
              </a:rPr>
              <a:t>SMHI modeling group</a:t>
            </a:r>
          </a:p>
          <a:p>
            <a:r>
              <a:rPr lang="en-US" sz="2400" dirty="0" smtClean="0">
                <a:latin typeface="Helvetica" charset="0"/>
                <a:ea typeface="ＭＳ Ｐゴシック" charset="0"/>
                <a:cs typeface="ＭＳ Ｐゴシック" charset="0"/>
              </a:rPr>
              <a:t>SARMA and STATMOS network members, particularly Finn Lindgren and Peter </a:t>
            </a:r>
            <a:r>
              <a:rPr lang="en-US" sz="2400" dirty="0" err="1" smtClean="0">
                <a:latin typeface="Helvetica" charset="0"/>
                <a:ea typeface="ＭＳ Ｐゴシック" charset="0"/>
                <a:cs typeface="ＭＳ Ｐゴシック" charset="0"/>
              </a:rPr>
              <a:t>Craigmile</a:t>
            </a:r>
            <a:endParaRPr lang="en-US" sz="2400" dirty="0">
              <a:latin typeface="Helvetica" charset="0"/>
              <a:ea typeface="ＭＳ Ｐゴシック" charset="0"/>
              <a:cs typeface="ＭＳ Ｐゴシック" charset="0"/>
            </a:endParaRPr>
          </a:p>
        </p:txBody>
      </p:sp>
    </p:spTree>
    <p:extLst>
      <p:ext uri="{BB962C8B-B14F-4D97-AF65-F5344CB8AC3E}">
        <p14:creationId xmlns:p14="http://schemas.microsoft.com/office/powerpoint/2010/main" val="104461971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Outline</a:t>
            </a:r>
          </a:p>
        </p:txBody>
      </p:sp>
      <p:sp>
        <p:nvSpPr>
          <p:cNvPr id="143363" name="Rectangle 3"/>
          <p:cNvSpPr>
            <a:spLocks noGrp="1" noChangeArrowheads="1"/>
          </p:cNvSpPr>
          <p:nvPr>
            <p:ph type="body" idx="1"/>
          </p:nvPr>
        </p:nvSpPr>
        <p:spPr/>
        <p:txBody>
          <a:bodyPr/>
          <a:lstStyle/>
          <a:p>
            <a:r>
              <a:rPr lang="en-US" dirty="0">
                <a:latin typeface="Helvetica" charset="0"/>
                <a:ea typeface="ＭＳ Ｐゴシック" charset="0"/>
                <a:cs typeface="ＭＳ Ｐゴシック" charset="0"/>
              </a:rPr>
              <a:t>Difference between weather and climate</a:t>
            </a:r>
          </a:p>
          <a:p>
            <a:r>
              <a:rPr lang="en-US" dirty="0">
                <a:latin typeface="Helvetica" charset="0"/>
                <a:ea typeface="ＭＳ Ｐゴシック" charset="0"/>
                <a:cs typeface="ＭＳ Ｐゴシック" charset="0"/>
              </a:rPr>
              <a:t>Modeling </a:t>
            </a:r>
            <a:r>
              <a:rPr lang="en-US" dirty="0" smtClean="0">
                <a:latin typeface="Helvetica" charset="0"/>
                <a:ea typeface="ＭＳ Ｐゴシック" charset="0"/>
                <a:cs typeface="ＭＳ Ｐゴシック" charset="0"/>
              </a:rPr>
              <a:t>climate</a:t>
            </a:r>
          </a:p>
          <a:p>
            <a:r>
              <a:rPr lang="en-US" dirty="0" smtClean="0">
                <a:latin typeface="Helvetica" charset="0"/>
                <a:ea typeface="ＭＳ Ｐゴシック" charset="0"/>
                <a:cs typeface="ＭＳ Ｐゴシック" charset="0"/>
              </a:rPr>
              <a:t>Lines of evidence</a:t>
            </a:r>
            <a:endParaRPr lang="en-US" dirty="0">
              <a:latin typeface="Helvetica" charset="0"/>
              <a:ea typeface="ＭＳ Ｐゴシック" charset="0"/>
              <a:cs typeface="ＭＳ Ｐゴシック" charset="0"/>
            </a:endParaRPr>
          </a:p>
          <a:p>
            <a:r>
              <a:rPr lang="en-US" dirty="0" smtClean="0">
                <a:latin typeface="Helvetica" charset="0"/>
                <a:ea typeface="ＭＳ Ｐゴシック" charset="0"/>
                <a:cs typeface="ＭＳ Ｐゴシック" charset="0"/>
              </a:rPr>
              <a:t>Attribution</a:t>
            </a:r>
          </a:p>
          <a:p>
            <a:r>
              <a:rPr lang="en-US" dirty="0" smtClean="0">
                <a:latin typeface="Helvetica" charset="0"/>
                <a:ea typeface="ＭＳ Ｐゴシック" charset="0"/>
                <a:cs typeface="ＭＳ Ｐゴシック" charset="0"/>
              </a:rPr>
              <a:t>Data issues and global temperature</a:t>
            </a:r>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M</a:t>
            </a:r>
            <a:r>
              <a:rPr lang="en-US" dirty="0" smtClean="0">
                <a:latin typeface="Helvetica" charset="0"/>
                <a:ea typeface="ＭＳ Ｐゴシック" charset="0"/>
                <a:cs typeface="ＭＳ Ｐゴシック" charset="0"/>
              </a:rPr>
              <a:t>odel </a:t>
            </a:r>
            <a:r>
              <a:rPr lang="en-US" dirty="0">
                <a:latin typeface="Helvetica" charset="0"/>
                <a:ea typeface="ＭＳ Ｐゴシック" charset="0"/>
                <a:cs typeface="ＭＳ Ｐゴシック" charset="0"/>
              </a:rPr>
              <a:t>assessment</a:t>
            </a:r>
          </a:p>
        </p:txBody>
      </p:sp>
    </p:spTree>
    <p:extLst>
      <p:ext uri="{BB962C8B-B14F-4D97-AF65-F5344CB8AC3E}">
        <p14:creationId xmlns:p14="http://schemas.microsoft.com/office/powerpoint/2010/main" val="203334379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0" end="0"/>
                                            </p:txEl>
                                          </p:spTgt>
                                        </p:tgtEl>
                                        <p:attrNameLst>
                                          <p:attrName>ppt_c</p:attrName>
                                        </p:attrNameLst>
                                      </p:cBhvr>
                                      <p:to>
                                        <a:schemeClr val="bg2"/>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6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2" end="2"/>
                                            </p:txEl>
                                          </p:spTgt>
                                        </p:tgtEl>
                                        <p:attrNameLst>
                                          <p:attrName>ppt_c</p:attrName>
                                        </p:attrNameLst>
                                      </p:cBhvr>
                                      <p:to>
                                        <a:schemeClr val="bg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36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3" end="3"/>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36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4" end="4"/>
                                            </p:txEl>
                                          </p:spTgt>
                                        </p:tgtEl>
                                        <p:attrNameLst>
                                          <p:attrName>ppt_c</p:attrName>
                                        </p:attrNameLst>
                                      </p:cBhvr>
                                      <p:to>
                                        <a:schemeClr val="bg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36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43363">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457210" y="304800"/>
            <a:ext cx="5832475" cy="1293812"/>
          </a:xfrm>
        </p:spPr>
        <p:txBody>
          <a:bodyPr/>
          <a:lstStyle/>
          <a:p>
            <a:r>
              <a:rPr lang="en-US" dirty="0">
                <a:latin typeface="Helvetica" charset="0"/>
                <a:ea typeface="ＭＳ Ｐゴシック" charset="0"/>
                <a:cs typeface="ＭＳ Ｐゴシック" charset="0"/>
              </a:rPr>
              <a:t>Climate and weather</a:t>
            </a:r>
          </a:p>
        </p:txBody>
      </p:sp>
      <p:sp>
        <p:nvSpPr>
          <p:cNvPr id="3" name="Content Placeholder 2"/>
          <p:cNvSpPr>
            <a:spLocks noGrp="1"/>
          </p:cNvSpPr>
          <p:nvPr>
            <p:ph idx="1"/>
          </p:nvPr>
        </p:nvSpPr>
        <p:spPr>
          <a:xfrm>
            <a:off x="457210" y="1676405"/>
            <a:ext cx="5834063" cy="5528067"/>
          </a:xfrm>
        </p:spPr>
        <p:txBody>
          <a:bodyPr/>
          <a:lstStyle/>
          <a:p>
            <a:r>
              <a:rPr lang="en-US" dirty="0" smtClean="0">
                <a:latin typeface="Helvetica" charset="0"/>
                <a:ea typeface="ＭＳ Ｐゴシック" charset="0"/>
                <a:cs typeface="ＭＳ Ｐゴシック" charset="0"/>
              </a:rPr>
              <a:t>Climate is </a:t>
            </a:r>
            <a:r>
              <a:rPr lang="en-US" dirty="0" smtClean="0"/>
              <a:t>the </a:t>
            </a:r>
            <a:r>
              <a:rPr lang="en-US" dirty="0"/>
              <a:t>general or average weather conditions of a certain </a:t>
            </a:r>
            <a:r>
              <a:rPr lang="en-US" dirty="0" smtClean="0"/>
              <a:t>region.</a:t>
            </a:r>
            <a:endParaRPr lang="en-US" dirty="0">
              <a:latin typeface="Helvetica" charset="0"/>
              <a:ea typeface="ＭＳ Ｐゴシック" charset="0"/>
              <a:cs typeface="ＭＳ Ｐゴシック" charset="0"/>
            </a:endParaRPr>
          </a:p>
          <a:p>
            <a:pPr marL="525748" lvl="2" indent="-3626"/>
            <a:r>
              <a:rPr lang="en-US" dirty="0" smtClean="0">
                <a:latin typeface="Helvetica" charset="0"/>
                <a:ea typeface="ＭＳ Ｐゴシック" charset="0"/>
              </a:rPr>
              <a:t>American Heritage Science Dictionary (2002)</a:t>
            </a:r>
            <a:endParaRPr lang="en-US" dirty="0">
              <a:latin typeface="Helvetica" charset="0"/>
              <a:ea typeface="ＭＳ Ｐゴシック" charset="0"/>
            </a:endParaRPr>
          </a:p>
          <a:p>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Climate is what you expect; weather is what you get.</a:t>
            </a:r>
          </a:p>
          <a:p>
            <a:pPr marL="525748" lvl="2" indent="-3626"/>
            <a:r>
              <a:rPr lang="en-US" dirty="0">
                <a:latin typeface="Helvetica" charset="0"/>
                <a:ea typeface="ＭＳ Ｐゴシック" charset="0"/>
              </a:rPr>
              <a:t>Heinlein: Notebooks of Lazarus Long (1978)</a:t>
            </a:r>
          </a:p>
          <a:p>
            <a:endParaRPr lang="en-US" sz="2900"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Climate is the distribution of weather.</a:t>
            </a:r>
          </a:p>
          <a:p>
            <a:pPr marL="525748" lvl="2" indent="-3626"/>
            <a:r>
              <a:rPr lang="en-US" dirty="0">
                <a:latin typeface="Helvetica" charset="0"/>
                <a:ea typeface="ＭＳ Ｐゴシック" charset="0"/>
              </a:rPr>
              <a:t>AMSTAT News (June 2010)</a:t>
            </a:r>
          </a:p>
        </p:txBody>
      </p:sp>
    </p:spTree>
    <p:extLst>
      <p:ext uri="{BB962C8B-B14F-4D97-AF65-F5344CB8AC3E}">
        <p14:creationId xmlns:p14="http://schemas.microsoft.com/office/powerpoint/2010/main" val="394279627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10" y="3276601"/>
            <a:ext cx="5832475" cy="1293812"/>
          </a:xfrm>
        </p:spPr>
        <p:txBody>
          <a:bodyPr/>
          <a:lstStyle/>
          <a:p>
            <a:r>
              <a:rPr lang="en-US" dirty="0" smtClean="0"/>
              <a:t>Climate models</a:t>
            </a:r>
            <a:endParaRPr lang="en-US" dirty="0"/>
          </a:p>
        </p:txBody>
      </p:sp>
    </p:spTree>
    <p:extLst>
      <p:ext uri="{BB962C8B-B14F-4D97-AF65-F5344CB8AC3E}">
        <p14:creationId xmlns:p14="http://schemas.microsoft.com/office/powerpoint/2010/main" val="228564487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026"/>
          <p:cNvSpPr>
            <a:spLocks noGrp="1" noChangeArrowheads="1"/>
          </p:cNvSpPr>
          <p:nvPr>
            <p:ph type="title"/>
          </p:nvPr>
        </p:nvSpPr>
        <p:spPr/>
        <p:txBody>
          <a:bodyPr/>
          <a:lstStyle/>
          <a:p>
            <a:r>
              <a:rPr lang="en-US">
                <a:latin typeface="Helvetica" charset="0"/>
                <a:ea typeface="ＭＳ Ｐゴシック" charset="0"/>
                <a:cs typeface="ＭＳ Ｐゴシック" charset="0"/>
              </a:rPr>
              <a:t>Models of climate </a:t>
            </a:r>
            <a:br>
              <a:rPr lang="en-US">
                <a:latin typeface="Helvetica" charset="0"/>
                <a:ea typeface="ＭＳ Ｐゴシック" charset="0"/>
                <a:cs typeface="ＭＳ Ｐゴシック" charset="0"/>
              </a:rPr>
            </a:br>
            <a:r>
              <a:rPr lang="en-US">
                <a:latin typeface="Helvetica" charset="0"/>
                <a:ea typeface="ＭＳ Ｐゴシック" charset="0"/>
                <a:cs typeface="ＭＳ Ｐゴシック" charset="0"/>
              </a:rPr>
              <a:t>and weather</a:t>
            </a:r>
          </a:p>
        </p:txBody>
      </p:sp>
      <p:sp>
        <p:nvSpPr>
          <p:cNvPr id="205827" name="Rectangle 1027"/>
          <p:cNvSpPr>
            <a:spLocks noGrp="1" noChangeArrowheads="1"/>
          </p:cNvSpPr>
          <p:nvPr>
            <p:ph type="body" idx="1"/>
          </p:nvPr>
        </p:nvSpPr>
        <p:spPr/>
        <p:txBody>
          <a:bodyPr/>
          <a:lstStyle/>
          <a:p>
            <a:pPr>
              <a:lnSpc>
                <a:spcPct val="90000"/>
              </a:lnSpc>
            </a:pPr>
            <a:r>
              <a:rPr lang="en-US">
                <a:latin typeface="Helvetica" charset="0"/>
                <a:ea typeface="ＭＳ Ｐゴシック" charset="0"/>
                <a:cs typeface="ＭＳ Ｐゴシック" charset="0"/>
              </a:rPr>
              <a:t>Numerical weather prediction:</a:t>
            </a:r>
          </a:p>
          <a:p>
            <a:pPr marL="522122" lvl="1" indent="-117841">
              <a:lnSpc>
                <a:spcPct val="90000"/>
              </a:lnSpc>
            </a:pPr>
            <a:r>
              <a:rPr lang="en-US">
                <a:latin typeface="Helvetica" charset="0"/>
                <a:ea typeface="ＭＳ Ｐゴシック" charset="0"/>
              </a:rPr>
              <a:t>Initial state is critical</a:t>
            </a:r>
          </a:p>
          <a:p>
            <a:pPr marL="522122" lvl="1" indent="-117841">
              <a:lnSpc>
                <a:spcPct val="90000"/>
              </a:lnSpc>
            </a:pPr>
            <a:r>
              <a:rPr lang="en-US">
                <a:latin typeface="Helvetica" charset="0"/>
                <a:ea typeface="ＭＳ Ｐゴシック" charset="0"/>
              </a:rPr>
              <a:t>Don</a:t>
            </a:r>
            <a:r>
              <a:rPr lang="ja-JP" altLang="en-US">
                <a:latin typeface="Helvetica" charset="0"/>
                <a:ea typeface="ＭＳ Ｐゴシック" charset="0"/>
              </a:rPr>
              <a:t>’</a:t>
            </a:r>
            <a:r>
              <a:rPr lang="en-US" altLang="ja-JP">
                <a:latin typeface="Helvetica" charset="0"/>
                <a:ea typeface="ＭＳ Ｐゴシック" charset="0"/>
              </a:rPr>
              <a:t>t care about entire distribution, just most likely event</a:t>
            </a:r>
          </a:p>
          <a:p>
            <a:pPr marL="522122" lvl="1" indent="-117841">
              <a:lnSpc>
                <a:spcPct val="90000"/>
              </a:lnSpc>
            </a:pPr>
            <a:r>
              <a:rPr lang="en-US">
                <a:latin typeface="Helvetica" charset="0"/>
                <a:ea typeface="ＭＳ Ｐゴシック" charset="0"/>
              </a:rPr>
              <a:t>Need not conserve mass and energy</a:t>
            </a:r>
          </a:p>
          <a:p>
            <a:pPr>
              <a:lnSpc>
                <a:spcPct val="90000"/>
              </a:lnSpc>
            </a:pPr>
            <a:r>
              <a:rPr lang="en-US">
                <a:latin typeface="Helvetica" charset="0"/>
                <a:ea typeface="ＭＳ Ｐゴシック" charset="0"/>
                <a:cs typeface="ＭＳ Ｐゴシック" charset="0"/>
              </a:rPr>
              <a:t>Climate models:</a:t>
            </a:r>
          </a:p>
          <a:p>
            <a:pPr marL="522122" lvl="1" indent="-117841">
              <a:lnSpc>
                <a:spcPct val="90000"/>
              </a:lnSpc>
            </a:pPr>
            <a:r>
              <a:rPr lang="en-US">
                <a:latin typeface="Helvetica" charset="0"/>
                <a:ea typeface="ＭＳ Ｐゴシック" charset="0"/>
              </a:rPr>
              <a:t>Independent of initial state</a:t>
            </a:r>
          </a:p>
          <a:p>
            <a:pPr marL="522122" lvl="1" indent="-117841">
              <a:lnSpc>
                <a:spcPct val="90000"/>
              </a:lnSpc>
            </a:pPr>
            <a:r>
              <a:rPr lang="en-US">
                <a:latin typeface="Helvetica" charset="0"/>
                <a:ea typeface="ＭＳ Ｐゴシック" charset="0"/>
              </a:rPr>
              <a:t>Need to get distribution of weather right</a:t>
            </a:r>
          </a:p>
          <a:p>
            <a:pPr marL="522122" lvl="1" indent="-117841">
              <a:lnSpc>
                <a:spcPct val="90000"/>
              </a:lnSpc>
            </a:pPr>
            <a:r>
              <a:rPr lang="en-US">
                <a:latin typeface="Helvetica" charset="0"/>
                <a:ea typeface="ＭＳ Ｐゴシック" charset="0"/>
              </a:rPr>
              <a:t>Critical to conserve mass and energy</a:t>
            </a:r>
          </a:p>
          <a:p>
            <a:pPr marL="522122" lvl="1" indent="-117841">
              <a:lnSpc>
                <a:spcPct val="90000"/>
              </a:lnSpc>
            </a:pPr>
            <a:endParaRPr lang="en-US">
              <a:latin typeface="Helvetica" charset="0"/>
              <a:ea typeface="ＭＳ Ｐゴシック" charset="0"/>
            </a:endParaRPr>
          </a:p>
        </p:txBody>
      </p:sp>
    </p:spTree>
    <p:extLst>
      <p:ext uri="{BB962C8B-B14F-4D97-AF65-F5344CB8AC3E}">
        <p14:creationId xmlns:p14="http://schemas.microsoft.com/office/powerpoint/2010/main" val="246420045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8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58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82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582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582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582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58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A simple climate model</a:t>
            </a:r>
          </a:p>
        </p:txBody>
      </p:sp>
      <p:sp>
        <p:nvSpPr>
          <p:cNvPr id="144387" name="Rectangle 3"/>
          <p:cNvSpPr>
            <a:spLocks noGrp="1" noChangeArrowheads="1"/>
          </p:cNvSpPr>
          <p:nvPr>
            <p:ph type="body" idx="1"/>
          </p:nvPr>
        </p:nvSpPr>
        <p:spPr>
          <a:xfrm>
            <a:off x="408224" y="2217387"/>
            <a:ext cx="5830661" cy="4656125"/>
          </a:xfrm>
        </p:spPr>
        <p:txBody>
          <a:bodyPr/>
          <a:lstStyle/>
          <a:p>
            <a:endParaRPr lang="en-US">
              <a:latin typeface="Helvetica" charset="0"/>
              <a:ea typeface="ＭＳ Ｐゴシック" charset="0"/>
              <a:cs typeface="ＭＳ Ｐゴシック" charset="0"/>
            </a:endParaRPr>
          </a:p>
          <a:p>
            <a:r>
              <a:rPr lang="en-US">
                <a:latin typeface="Helvetica" charset="0"/>
                <a:ea typeface="ＭＳ Ｐゴシック" charset="0"/>
                <a:cs typeface="ＭＳ Ｐゴシック" charset="0"/>
              </a:rPr>
              <a:t>What comes in</a:t>
            </a: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r>
              <a:rPr lang="en-US">
                <a:latin typeface="Helvetica" charset="0"/>
                <a:ea typeface="ＭＳ Ｐゴシック" charset="0"/>
                <a:cs typeface="ＭＳ Ｐゴシック" charset="0"/>
              </a:rPr>
              <a:t>must go out</a:t>
            </a:r>
          </a:p>
        </p:txBody>
      </p:sp>
      <p:graphicFrame>
        <p:nvGraphicFramePr>
          <p:cNvPr id="144388" name="Object 2"/>
          <p:cNvGraphicFramePr>
            <a:graphicFrameLocks noChangeAspect="1"/>
          </p:cNvGraphicFramePr>
          <p:nvPr/>
        </p:nvGraphicFramePr>
        <p:xfrm>
          <a:off x="1959429" y="3418476"/>
          <a:ext cx="1428750" cy="461955"/>
        </p:xfrm>
        <a:graphic>
          <a:graphicData uri="http://schemas.openxmlformats.org/presentationml/2006/ole">
            <mc:AlternateContent xmlns:mc="http://schemas.openxmlformats.org/markup-compatibility/2006">
              <mc:Choice xmlns:v="urn:schemas-microsoft-com:vml" Requires="v">
                <p:oleObj spid="_x0000_s12353" name="Equation" r:id="rId4" imgW="1333500" imgH="381000" progId="Equation.DSMT4">
                  <p:embed/>
                </p:oleObj>
              </mc:Choice>
              <mc:Fallback>
                <p:oleObj name="Equation" r:id="rId4" imgW="1333500" imgH="3810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9429" y="3418476"/>
                        <a:ext cx="1428750" cy="461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144389" name="Object 3"/>
          <p:cNvGraphicFramePr>
            <a:graphicFrameLocks noChangeAspect="1"/>
          </p:cNvGraphicFramePr>
          <p:nvPr/>
        </p:nvGraphicFramePr>
        <p:xfrm>
          <a:off x="2122724" y="5635862"/>
          <a:ext cx="1224643" cy="384963"/>
        </p:xfrm>
        <a:graphic>
          <a:graphicData uri="http://schemas.openxmlformats.org/presentationml/2006/ole">
            <mc:AlternateContent xmlns:mc="http://schemas.openxmlformats.org/markup-compatibility/2006">
              <mc:Choice xmlns:v="urn:schemas-microsoft-com:vml" Requires="v">
                <p:oleObj spid="_x0000_s12354" name="Equation" r:id="rId6" imgW="1143000" imgH="317500" progId="Equation.DSMT4">
                  <p:embed/>
                </p:oleObj>
              </mc:Choice>
              <mc:Fallback>
                <p:oleObj name="Equation" r:id="rId6" imgW="1143000" imgH="3175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2724" y="5635862"/>
                        <a:ext cx="1224643" cy="38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44390" name="Text Box 6"/>
          <p:cNvSpPr txBox="1">
            <a:spLocks noChangeArrowheads="1"/>
          </p:cNvSpPr>
          <p:nvPr/>
        </p:nvSpPr>
        <p:spPr bwMode="auto">
          <a:xfrm>
            <a:off x="1044350" y="4149902"/>
            <a:ext cx="1636057" cy="59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en-US" dirty="0"/>
              <a:t>Solar constant</a:t>
            </a:r>
          </a:p>
          <a:p>
            <a:r>
              <a:rPr lang="en-US" dirty="0" smtClean="0"/>
              <a:t>1361 </a:t>
            </a:r>
            <a:r>
              <a:rPr lang="en-US" dirty="0"/>
              <a:t>W/m</a:t>
            </a:r>
            <a:r>
              <a:rPr lang="en-US" baseline="30000" dirty="0"/>
              <a:t>2</a:t>
            </a:r>
            <a:endParaRPr lang="en-US" dirty="0"/>
          </a:p>
        </p:txBody>
      </p:sp>
      <p:sp>
        <p:nvSpPr>
          <p:cNvPr id="144391" name="Text Box 7"/>
          <p:cNvSpPr txBox="1">
            <a:spLocks noChangeArrowheads="1"/>
          </p:cNvSpPr>
          <p:nvPr/>
        </p:nvSpPr>
        <p:spPr bwMode="auto">
          <a:xfrm>
            <a:off x="3983492" y="4149902"/>
            <a:ext cx="1672826" cy="59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en-US" dirty="0"/>
              <a:t>Earth</a:t>
            </a:r>
            <a:r>
              <a:rPr lang="ja-JP" altLang="en-US" dirty="0"/>
              <a:t>’</a:t>
            </a:r>
            <a:r>
              <a:rPr lang="en-US" altLang="ja-JP" dirty="0"/>
              <a:t>s albedo</a:t>
            </a:r>
          </a:p>
          <a:p>
            <a:r>
              <a:rPr lang="en-US" dirty="0" smtClean="0"/>
              <a:t>0.29</a:t>
            </a:r>
            <a:endParaRPr lang="en-US" dirty="0"/>
          </a:p>
        </p:txBody>
      </p:sp>
      <p:sp>
        <p:nvSpPr>
          <p:cNvPr id="144392" name="Text Box 8"/>
          <p:cNvSpPr txBox="1">
            <a:spLocks noChangeArrowheads="1"/>
          </p:cNvSpPr>
          <p:nvPr/>
        </p:nvSpPr>
        <p:spPr bwMode="auto">
          <a:xfrm>
            <a:off x="554492" y="6552068"/>
            <a:ext cx="2285774" cy="844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en-US"/>
              <a:t>Effective emissivity</a:t>
            </a:r>
          </a:p>
          <a:p>
            <a:r>
              <a:rPr lang="en-US"/>
              <a:t>(greenhouse, clouds)</a:t>
            </a:r>
          </a:p>
          <a:p>
            <a:r>
              <a:rPr lang="en-US"/>
              <a:t>0.61</a:t>
            </a:r>
          </a:p>
        </p:txBody>
      </p:sp>
      <p:sp>
        <p:nvSpPr>
          <p:cNvPr id="144393" name="Text Box 9"/>
          <p:cNvSpPr txBox="1">
            <a:spLocks noChangeArrowheads="1"/>
          </p:cNvSpPr>
          <p:nvPr/>
        </p:nvSpPr>
        <p:spPr bwMode="auto">
          <a:xfrm>
            <a:off x="3820215" y="6182507"/>
            <a:ext cx="2076849" cy="59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en-US"/>
              <a:t>Stefan</a:t>
            </a:r>
            <a:r>
              <a:rPr lang="ja-JP" altLang="en-US"/>
              <a:t>’</a:t>
            </a:r>
            <a:r>
              <a:rPr lang="en-US" altLang="ja-JP"/>
              <a:t>s constant</a:t>
            </a:r>
          </a:p>
          <a:p>
            <a:r>
              <a:rPr lang="en-US"/>
              <a:t>5.67×10</a:t>
            </a:r>
            <a:r>
              <a:rPr lang="en-US" baseline="30000"/>
              <a:t>-8</a:t>
            </a:r>
            <a:r>
              <a:rPr lang="en-US"/>
              <a:t> W/(K</a:t>
            </a:r>
            <a:r>
              <a:rPr lang="en-US" baseline="30000"/>
              <a:t>4</a:t>
            </a:r>
            <a:r>
              <a:rPr lang="en-US"/>
              <a:t>·m</a:t>
            </a:r>
            <a:r>
              <a:rPr lang="en-US" baseline="30000"/>
              <a:t>2</a:t>
            </a:r>
            <a:r>
              <a:rPr lang="en-US"/>
              <a:t>)</a:t>
            </a:r>
            <a:endParaRPr lang="en-US" sz="2700" b="0">
              <a:latin typeface="Times" charset="0"/>
            </a:endParaRPr>
          </a:p>
        </p:txBody>
      </p:sp>
      <p:sp>
        <p:nvSpPr>
          <p:cNvPr id="144394" name="Line 10"/>
          <p:cNvSpPr>
            <a:spLocks noChangeShapeType="1"/>
          </p:cNvSpPr>
          <p:nvPr/>
        </p:nvSpPr>
        <p:spPr bwMode="auto">
          <a:xfrm flipV="1">
            <a:off x="2122714" y="6005427"/>
            <a:ext cx="571500" cy="46195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104424" tIns="52212" rIns="104424" bIns="52212" anchor="ctr"/>
          <a:lstStyle/>
          <a:p>
            <a:endParaRPr lang="en-US"/>
          </a:p>
        </p:txBody>
      </p:sp>
      <p:sp>
        <p:nvSpPr>
          <p:cNvPr id="144395" name="Line 11"/>
          <p:cNvSpPr>
            <a:spLocks noChangeShapeType="1"/>
          </p:cNvSpPr>
          <p:nvPr/>
        </p:nvSpPr>
        <p:spPr bwMode="auto">
          <a:xfrm flipH="1" flipV="1">
            <a:off x="2939153" y="6005420"/>
            <a:ext cx="816429" cy="64673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104424" tIns="52212" rIns="104424" bIns="52212" anchor="ctr"/>
          <a:lstStyle/>
          <a:p>
            <a:endParaRPr lang="en-US"/>
          </a:p>
        </p:txBody>
      </p:sp>
      <p:sp>
        <p:nvSpPr>
          <p:cNvPr id="144398" name="Line 14"/>
          <p:cNvSpPr>
            <a:spLocks noChangeShapeType="1"/>
          </p:cNvSpPr>
          <p:nvPr/>
        </p:nvSpPr>
        <p:spPr bwMode="auto">
          <a:xfrm flipH="1" flipV="1">
            <a:off x="3184077" y="3880430"/>
            <a:ext cx="898071" cy="27717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104424" tIns="52212" rIns="104424" bIns="52212" anchor="ctr"/>
          <a:lstStyle/>
          <a:p>
            <a:endParaRPr lang="en-US"/>
          </a:p>
        </p:txBody>
      </p:sp>
      <p:sp>
        <p:nvSpPr>
          <p:cNvPr id="144399" name="Line 15"/>
          <p:cNvSpPr>
            <a:spLocks noChangeShapeType="1"/>
          </p:cNvSpPr>
          <p:nvPr/>
        </p:nvSpPr>
        <p:spPr bwMode="auto">
          <a:xfrm flipV="1">
            <a:off x="1714501" y="3788040"/>
            <a:ext cx="326571" cy="46195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104424" tIns="52212" rIns="104424" bIns="52212" anchor="ctr"/>
          <a:lstStyle/>
          <a:p>
            <a:endParaRPr lang="en-US"/>
          </a:p>
        </p:txBody>
      </p:sp>
    </p:spTree>
    <p:extLst>
      <p:ext uri="{BB962C8B-B14F-4D97-AF65-F5344CB8AC3E}">
        <p14:creationId xmlns:p14="http://schemas.microsoft.com/office/powerpoint/2010/main" val="30924595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43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43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439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439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439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438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43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43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439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43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4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P spid="144390" grpId="0"/>
      <p:bldP spid="144391" grpId="0"/>
      <p:bldP spid="144392" grpId="0"/>
      <p:bldP spid="144393" grpId="0"/>
      <p:bldP spid="144394" grpId="0" animBg="1"/>
      <p:bldP spid="144395" grpId="0" animBg="1"/>
      <p:bldP spid="144398" grpId="0" animBg="1"/>
      <p:bldP spid="14439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Solution</a:t>
            </a:r>
          </a:p>
        </p:txBody>
      </p:sp>
      <p:sp>
        <p:nvSpPr>
          <p:cNvPr id="145411" name="Rectangle 3"/>
          <p:cNvSpPr>
            <a:spLocks noGrp="1" noChangeArrowheads="1"/>
          </p:cNvSpPr>
          <p:nvPr>
            <p:ph type="body" idx="1"/>
          </p:nvPr>
        </p:nvSpPr>
        <p:spPr>
          <a:xfrm>
            <a:off x="512766" y="2244724"/>
            <a:ext cx="5832475" cy="5527675"/>
          </a:xfrm>
        </p:spPr>
        <p:txBody>
          <a:bodyPr/>
          <a:lstStyle/>
          <a:p>
            <a:endParaRPr lang="en-US" dirty="0">
              <a:latin typeface="Helvetica" charset="0"/>
              <a:ea typeface="ＭＳ Ｐゴシック" charset="0"/>
              <a:cs typeface="ＭＳ Ｐゴシック" charset="0"/>
            </a:endParaRPr>
          </a:p>
          <a:p>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Average earth temperature is </a:t>
            </a:r>
            <a:r>
              <a:rPr lang="en-US" dirty="0" smtClean="0">
                <a:latin typeface="Helvetica" charset="0"/>
                <a:ea typeface="ＭＳ Ｐゴシック" charset="0"/>
                <a:cs typeface="ＭＳ Ｐゴシック" charset="0"/>
              </a:rPr>
              <a:t>         T = 289K </a:t>
            </a:r>
            <a:r>
              <a:rPr lang="en-US" dirty="0">
                <a:latin typeface="Helvetica" charset="0"/>
                <a:ea typeface="ＭＳ Ｐゴシック" charset="0"/>
                <a:cs typeface="ＭＳ Ｐゴシック" charset="0"/>
              </a:rPr>
              <a:t>(</a:t>
            </a:r>
            <a:r>
              <a:rPr lang="en-US" dirty="0" smtClean="0">
                <a:latin typeface="Helvetica" charset="0"/>
                <a:ea typeface="ＭＳ Ｐゴシック" charset="0"/>
                <a:cs typeface="ＭＳ Ｐゴシック" charset="0"/>
              </a:rPr>
              <a:t>16°C; 61°F)</a:t>
            </a:r>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One degree Celsius change in average earth temperature is obtained by changing</a:t>
            </a:r>
          </a:p>
          <a:p>
            <a:r>
              <a:rPr lang="en-US" dirty="0">
                <a:latin typeface="Helvetica" charset="0"/>
                <a:ea typeface="ＭＳ Ｐゴシック" charset="0"/>
                <a:cs typeface="ＭＳ Ｐゴシック" charset="0"/>
              </a:rPr>
              <a:t>solar constant by 1.4%</a:t>
            </a:r>
          </a:p>
          <a:p>
            <a:r>
              <a:rPr lang="en-US" dirty="0">
                <a:latin typeface="Helvetica" charset="0"/>
                <a:ea typeface="ＭＳ Ｐゴシック" charset="0"/>
                <a:cs typeface="ＭＳ Ｐゴシック" charset="0"/>
              </a:rPr>
              <a:t>Earth</a:t>
            </a:r>
            <a:r>
              <a:rPr lang="ja-JP" altLang="en-US" dirty="0">
                <a:latin typeface="Helvetica" charset="0"/>
                <a:ea typeface="ＭＳ Ｐゴシック" charset="0"/>
                <a:cs typeface="ＭＳ Ｐゴシック" charset="0"/>
              </a:rPr>
              <a:t>’</a:t>
            </a:r>
            <a:r>
              <a:rPr lang="en-US" altLang="ja-JP" dirty="0">
                <a:latin typeface="Helvetica" charset="0"/>
                <a:ea typeface="ＭＳ Ｐゴシック" charset="0"/>
                <a:cs typeface="ＭＳ Ｐゴシック" charset="0"/>
              </a:rPr>
              <a:t>s albedo by 4.5%</a:t>
            </a:r>
          </a:p>
          <a:p>
            <a:r>
              <a:rPr lang="en-US" dirty="0">
                <a:latin typeface="Helvetica" charset="0"/>
                <a:ea typeface="ＭＳ Ｐゴシック" charset="0"/>
                <a:cs typeface="ＭＳ Ｐゴシック" charset="0"/>
              </a:rPr>
              <a:t>effective emissivity by 1.4</a:t>
            </a:r>
            <a:r>
              <a:rPr lang="en-US" dirty="0" smtClean="0">
                <a:latin typeface="Helvetica" charset="0"/>
                <a:ea typeface="ＭＳ Ｐゴシック" charset="0"/>
                <a:cs typeface="ＭＳ Ｐゴシック" charset="0"/>
              </a:rPr>
              <a:t>%</a:t>
            </a:r>
          </a:p>
          <a:p>
            <a:r>
              <a:rPr lang="en-US" dirty="0" err="1" smtClean="0">
                <a:latin typeface="Helvetica" charset="0"/>
                <a:ea typeface="ＭＳ Ｐゴシック" charset="0"/>
                <a:cs typeface="ＭＳ Ｐゴシック" charset="0"/>
              </a:rPr>
              <a:t>ε</a:t>
            </a:r>
            <a:r>
              <a:rPr lang="en-US" dirty="0" smtClean="0">
                <a:latin typeface="Helvetica" charset="0"/>
                <a:ea typeface="ＭＳ Ｐゴシック" charset="0"/>
                <a:cs typeface="ＭＳ Ｐゴシック" charset="0"/>
              </a:rPr>
              <a:t> = 1 yields T = 255K (-18°C; 0°F) </a:t>
            </a:r>
            <a:endParaRPr lang="en-US" dirty="0">
              <a:latin typeface="Helvetica" charset="0"/>
              <a:ea typeface="ＭＳ Ｐゴシック" charset="0"/>
              <a:cs typeface="ＭＳ Ｐゴシック"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548021143"/>
              </p:ext>
            </p:extLst>
          </p:nvPr>
        </p:nvGraphicFramePr>
        <p:xfrm>
          <a:off x="591911" y="2223161"/>
          <a:ext cx="3524250" cy="877715"/>
        </p:xfrm>
        <a:graphic>
          <a:graphicData uri="http://schemas.openxmlformats.org/presentationml/2006/ole">
            <mc:AlternateContent xmlns:mc="http://schemas.openxmlformats.org/markup-compatibility/2006">
              <mc:Choice xmlns:v="urn:schemas-microsoft-com:vml" Requires="v">
                <p:oleObj spid="_x0000_s14374" name="Equation" r:id="rId4" imgW="3289300" imgH="723900" progId="Equation.DSMT4">
                  <p:embed/>
                </p:oleObj>
              </mc:Choice>
              <mc:Fallback>
                <p:oleObj name="Equation" r:id="rId4" imgW="3289300" imgH="723900" progId="Equation.DSMT4">
                  <p:embed/>
                  <p:pic>
                    <p:nvPicPr>
                      <p:cNvPr id="0" name=""/>
                      <p:cNvPicPr>
                        <a:picLocks noChangeAspect="1" noChangeArrowheads="1"/>
                      </p:cNvPicPr>
                      <p:nvPr/>
                    </p:nvPicPr>
                    <p:blipFill>
                      <a:blip r:embed="rId5"/>
                      <a:srcRect/>
                      <a:stretch>
                        <a:fillRect/>
                      </a:stretch>
                    </p:blipFill>
                    <p:spPr bwMode="auto">
                      <a:xfrm>
                        <a:off x="591911" y="2223161"/>
                        <a:ext cx="3524250" cy="877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1612234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54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541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41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5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But in reality…</a:t>
            </a:r>
          </a:p>
        </p:txBody>
      </p:sp>
      <p:sp>
        <p:nvSpPr>
          <p:cNvPr id="147459" name="Rectangle 3"/>
          <p:cNvSpPr>
            <a:spLocks noGrp="1" noChangeArrowheads="1"/>
          </p:cNvSpPr>
          <p:nvPr>
            <p:ph type="body" idx="1"/>
          </p:nvPr>
        </p:nvSpPr>
        <p:spPr/>
        <p:txBody>
          <a:bodyPr/>
          <a:lstStyle/>
          <a:p>
            <a:pPr>
              <a:lnSpc>
                <a:spcPct val="90000"/>
              </a:lnSpc>
            </a:pPr>
            <a:r>
              <a:rPr lang="en-US">
                <a:latin typeface="Helvetica" charset="0"/>
                <a:ea typeface="ＭＳ Ｐゴシック" charset="0"/>
                <a:cs typeface="ＭＳ Ｐゴシック" charset="0"/>
              </a:rPr>
              <a:t>The solar constant is not constant</a:t>
            </a:r>
          </a:p>
          <a:p>
            <a:pPr>
              <a:lnSpc>
                <a:spcPct val="90000"/>
              </a:lnSpc>
            </a:pPr>
            <a:r>
              <a:rPr lang="en-US">
                <a:latin typeface="Helvetica" charset="0"/>
                <a:ea typeface="ＭＳ Ｐゴシック" charset="0"/>
                <a:cs typeface="ＭＳ Ｐゴシック" charset="0"/>
              </a:rPr>
              <a:t>The albedo changes with land use changes, ice melting and cloudiness</a:t>
            </a:r>
          </a:p>
          <a:p>
            <a:pPr>
              <a:lnSpc>
                <a:spcPct val="90000"/>
              </a:lnSpc>
            </a:pPr>
            <a:r>
              <a:rPr lang="en-US">
                <a:latin typeface="Helvetica" charset="0"/>
                <a:ea typeface="ＭＳ Ｐゴシック" charset="0"/>
                <a:cs typeface="ＭＳ Ｐゴシック" charset="0"/>
              </a:rPr>
              <a:t>The emissivity changes with greenhouse gas changes and cloudiness</a:t>
            </a:r>
          </a:p>
          <a:p>
            <a:pPr>
              <a:lnSpc>
                <a:spcPct val="90000"/>
              </a:lnSpc>
            </a:pPr>
            <a:r>
              <a:rPr lang="en-US">
                <a:latin typeface="Helvetica" charset="0"/>
                <a:ea typeface="ＭＳ Ｐゴシック" charset="0"/>
                <a:cs typeface="ＭＳ Ｐゴシック" charset="0"/>
              </a:rPr>
              <a:t>Need to model the three-dimensional (at least) atmosphere</a:t>
            </a:r>
          </a:p>
          <a:p>
            <a:pPr>
              <a:lnSpc>
                <a:spcPct val="90000"/>
              </a:lnSpc>
            </a:pPr>
            <a:r>
              <a:rPr lang="en-US">
                <a:latin typeface="Helvetica" charset="0"/>
                <a:ea typeface="ＭＳ Ｐゴシック" charset="0"/>
                <a:cs typeface="ＭＳ Ｐゴシック" charset="0"/>
              </a:rPr>
              <a:t>But the atmosphere interacts with land surfaces…</a:t>
            </a:r>
          </a:p>
          <a:p>
            <a:pPr>
              <a:lnSpc>
                <a:spcPct val="90000"/>
              </a:lnSpc>
            </a:pPr>
            <a:r>
              <a:rPr lang="en-US">
                <a:latin typeface="Helvetica" charset="0"/>
                <a:ea typeface="ＭＳ Ｐゴシック" charset="0"/>
                <a:cs typeface="ＭＳ Ｐゴシック" charset="0"/>
              </a:rPr>
              <a:t>…and with oceans!</a:t>
            </a:r>
          </a:p>
        </p:txBody>
      </p:sp>
    </p:spTree>
    <p:extLst>
      <p:ext uri="{BB962C8B-B14F-4D97-AF65-F5344CB8AC3E}">
        <p14:creationId xmlns:p14="http://schemas.microsoft.com/office/powerpoint/2010/main" val="364058471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74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74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74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7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10" y="228603"/>
            <a:ext cx="5832475" cy="1293812"/>
          </a:xfrm>
        </p:spPr>
        <p:txBody>
          <a:bodyPr/>
          <a:lstStyle/>
          <a:p>
            <a:r>
              <a:rPr lang="en-US" dirty="0" smtClean="0"/>
              <a:t>So what is the greenhouse effect?</a:t>
            </a:r>
            <a:endParaRPr lang="en-US" dirty="0"/>
          </a:p>
        </p:txBody>
      </p:sp>
      <p:sp>
        <p:nvSpPr>
          <p:cNvPr id="3" name="Content Placeholder 2"/>
          <p:cNvSpPr>
            <a:spLocks noGrp="1"/>
          </p:cNvSpPr>
          <p:nvPr>
            <p:ph idx="1"/>
          </p:nvPr>
        </p:nvSpPr>
        <p:spPr>
          <a:xfrm>
            <a:off x="533400" y="1600200"/>
            <a:ext cx="5832475" cy="6172200"/>
          </a:xfrm>
        </p:spPr>
        <p:txBody>
          <a:bodyPr/>
          <a:lstStyle/>
          <a:p>
            <a:r>
              <a:rPr lang="en-US" dirty="0" smtClean="0"/>
              <a:t>“What comes in” is concentrated in shorter wavelengths than what “must go out”. The greenhouse gases in the atmosphere absorbs much of the energy in these longer outgoing waves, thus warming the atmosphere.</a:t>
            </a:r>
          </a:p>
          <a:p>
            <a:r>
              <a:rPr lang="en-US" dirty="0" smtClean="0"/>
              <a:t>Most abundant greenhouse gases:</a:t>
            </a:r>
          </a:p>
          <a:p>
            <a:pPr marL="884238" lvl="1" indent="-457200">
              <a:buFont typeface="Arial"/>
              <a:buChar char="•"/>
            </a:pPr>
            <a:r>
              <a:rPr lang="en-US" dirty="0" smtClean="0"/>
              <a:t>water vapor</a:t>
            </a:r>
          </a:p>
          <a:p>
            <a:pPr marL="884238" lvl="1" indent="-457200">
              <a:buFont typeface="Arial"/>
              <a:buChar char="•"/>
            </a:pPr>
            <a:r>
              <a:rPr lang="en-US" dirty="0" smtClean="0"/>
              <a:t>carbon dioxide</a:t>
            </a:r>
          </a:p>
          <a:p>
            <a:pPr marL="884238" lvl="1" indent="-457200">
              <a:buFont typeface="Arial"/>
              <a:buChar char="•"/>
            </a:pPr>
            <a:r>
              <a:rPr lang="en-US" dirty="0" smtClean="0"/>
              <a:t>methane</a:t>
            </a:r>
          </a:p>
          <a:p>
            <a:pPr marL="884238" lvl="1" indent="-457200">
              <a:buFont typeface="Arial"/>
              <a:buChar char="•"/>
            </a:pPr>
            <a:r>
              <a:rPr lang="en-US" dirty="0" smtClean="0"/>
              <a:t>nitrous dioxide</a:t>
            </a:r>
          </a:p>
          <a:p>
            <a:pPr marL="884238" lvl="1" indent="-457200">
              <a:buFont typeface="Arial"/>
              <a:buChar char="•"/>
            </a:pPr>
            <a:r>
              <a:rPr lang="en-US" dirty="0" smtClean="0"/>
              <a:t>ozone</a:t>
            </a:r>
          </a:p>
          <a:p>
            <a:endParaRPr lang="en-US" dirty="0"/>
          </a:p>
        </p:txBody>
      </p:sp>
    </p:spTree>
    <p:extLst>
      <p:ext uri="{BB962C8B-B14F-4D97-AF65-F5344CB8AC3E}">
        <p14:creationId xmlns:p14="http://schemas.microsoft.com/office/powerpoint/2010/main" val="276961147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571500" y="3"/>
            <a:ext cx="5830661" cy="1293474"/>
          </a:xfrm>
        </p:spPr>
        <p:txBody>
          <a:bodyPr/>
          <a:lstStyle/>
          <a:p>
            <a:r>
              <a:rPr lang="en-US">
                <a:latin typeface="Helvetica" charset="0"/>
                <a:ea typeface="ＭＳ Ｐゴシック" charset="0"/>
                <a:cs typeface="ＭＳ Ｐゴシック" charset="0"/>
              </a:rPr>
              <a:t>The climate engine I</a:t>
            </a:r>
          </a:p>
        </p:txBody>
      </p:sp>
      <p:sp>
        <p:nvSpPr>
          <p:cNvPr id="162819" name="Rectangle 3"/>
          <p:cNvSpPr>
            <a:spLocks noGrp="1" noChangeArrowheads="1"/>
          </p:cNvSpPr>
          <p:nvPr>
            <p:ph type="body" idx="1"/>
          </p:nvPr>
        </p:nvSpPr>
        <p:spPr>
          <a:xfrm>
            <a:off x="489867" y="1201085"/>
            <a:ext cx="5830661" cy="4656125"/>
          </a:xfrm>
        </p:spPr>
        <p:txBody>
          <a:bodyPr/>
          <a:lstStyle/>
          <a:p>
            <a:r>
              <a:rPr lang="en-US">
                <a:latin typeface="Helvetica" charset="0"/>
                <a:ea typeface="ＭＳ Ｐゴシック" charset="0"/>
                <a:cs typeface="ＭＳ Ｐゴシック" charset="0"/>
              </a:rPr>
              <a:t>If Earth did not rotate:</a:t>
            </a:r>
          </a:p>
          <a:p>
            <a:r>
              <a:rPr lang="en-US">
                <a:latin typeface="Helvetica" charset="0"/>
                <a:ea typeface="ＭＳ Ｐゴシック" charset="0"/>
                <a:cs typeface="ＭＳ Ｐゴシック" charset="0"/>
              </a:rPr>
              <a:t>tropics get higher solar radiation</a:t>
            </a:r>
          </a:p>
          <a:p>
            <a:r>
              <a:rPr lang="en-US">
                <a:latin typeface="Helvetica" charset="0"/>
                <a:ea typeface="ＭＳ Ｐゴシック" charset="0"/>
                <a:cs typeface="ＭＳ Ｐゴシック" charset="0"/>
              </a:rPr>
              <a:t>hot air rises, reducing surface pressure</a:t>
            </a:r>
          </a:p>
          <a:p>
            <a:r>
              <a:rPr lang="en-US">
                <a:latin typeface="Helvetica" charset="0"/>
                <a:ea typeface="ＭＳ Ｐゴシック" charset="0"/>
                <a:cs typeface="ＭＳ Ｐゴシック" charset="0"/>
              </a:rPr>
              <a:t>and increasing pressure higher up</a:t>
            </a:r>
          </a:p>
          <a:p>
            <a:r>
              <a:rPr lang="en-US">
                <a:latin typeface="Helvetica" charset="0"/>
                <a:ea typeface="ＭＳ Ｐゴシック" charset="0"/>
                <a:cs typeface="ＭＳ Ｐゴシック" charset="0"/>
              </a:rPr>
              <a:t>forces air towards poles</a:t>
            </a:r>
          </a:p>
          <a:p>
            <a:r>
              <a:rPr lang="en-US">
                <a:latin typeface="Helvetica" charset="0"/>
                <a:ea typeface="ＭＳ Ｐゴシック" charset="0"/>
                <a:cs typeface="ＭＳ Ｐゴシック" charset="0"/>
              </a:rPr>
              <a:t>lower surface pressure at poles makes air sink</a:t>
            </a:r>
          </a:p>
          <a:p>
            <a:r>
              <a:rPr lang="en-US">
                <a:latin typeface="Helvetica" charset="0"/>
                <a:ea typeface="ＭＳ Ｐゴシック" charset="0"/>
                <a:cs typeface="ＭＳ Ｐゴシック" charset="0"/>
              </a:rPr>
              <a:t>moves back towards tropics</a:t>
            </a:r>
          </a:p>
        </p:txBody>
      </p:sp>
      <p:pic>
        <p:nvPicPr>
          <p:cNvPr id="162820" name="Picture 4" descr="no_rot_earth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4816" y="5486400"/>
            <a:ext cx="2020061"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132406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2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8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281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281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281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628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The climate engine II</a:t>
            </a:r>
          </a:p>
        </p:txBody>
      </p:sp>
      <p:sp>
        <p:nvSpPr>
          <p:cNvPr id="163843" name="Rectangle 3"/>
          <p:cNvSpPr>
            <a:spLocks noGrp="1" noChangeArrowheads="1"/>
          </p:cNvSpPr>
          <p:nvPr>
            <p:ph type="body" idx="1"/>
          </p:nvPr>
        </p:nvSpPr>
        <p:spPr/>
        <p:txBody>
          <a:bodyPr/>
          <a:lstStyle/>
          <a:p>
            <a:r>
              <a:rPr lang="en-US" sz="2300">
                <a:latin typeface="Helvetica" charset="0"/>
                <a:ea typeface="ＭＳ Ｐゴシック" charset="0"/>
                <a:cs typeface="ＭＳ Ｐゴシック" charset="0"/>
              </a:rPr>
              <a:t>Since earth does rotate, air packets do not follow longitude lines (Coriolis effect)</a:t>
            </a:r>
          </a:p>
          <a:p>
            <a:r>
              <a:rPr lang="en-US" sz="2300">
                <a:latin typeface="Helvetica" charset="0"/>
                <a:ea typeface="ＭＳ Ｐゴシック" charset="0"/>
                <a:cs typeface="ＭＳ Ｐゴシック" charset="0"/>
              </a:rPr>
              <a:t>Speed of rotation highest at equator</a:t>
            </a:r>
          </a:p>
          <a:p>
            <a:r>
              <a:rPr lang="en-US" sz="2300">
                <a:latin typeface="Helvetica" charset="0"/>
                <a:ea typeface="ＭＳ Ｐゴシック" charset="0"/>
                <a:cs typeface="ＭＳ Ｐゴシック" charset="0"/>
              </a:rPr>
              <a:t>Winds travelling polewards get a bigger and bigger westerly speed (jet streams)</a:t>
            </a:r>
          </a:p>
          <a:p>
            <a:r>
              <a:rPr lang="en-US" sz="2300">
                <a:latin typeface="Helvetica" charset="0"/>
                <a:ea typeface="ＭＳ Ｐゴシック" charset="0"/>
                <a:cs typeface="ＭＳ Ｐゴシック" charset="0"/>
              </a:rPr>
              <a:t>Air becomes unstable</a:t>
            </a:r>
          </a:p>
          <a:p>
            <a:r>
              <a:rPr lang="en-US" sz="2300">
                <a:latin typeface="Helvetica" charset="0"/>
                <a:ea typeface="ＭＳ Ｐゴシック" charset="0"/>
                <a:cs typeface="ＭＳ Ｐゴシック" charset="0"/>
              </a:rPr>
              <a:t>Waves develop in the westerly flow (low pressure systems over Northern Europe)</a:t>
            </a:r>
          </a:p>
          <a:p>
            <a:r>
              <a:rPr lang="en-US" sz="2300">
                <a:latin typeface="Helvetica" charset="0"/>
                <a:ea typeface="ＭＳ Ｐゴシック" charset="0"/>
                <a:cs typeface="ＭＳ Ｐゴシック" charset="0"/>
              </a:rPr>
              <a:t>Mixes warm tropical air with cold polar air</a:t>
            </a:r>
          </a:p>
          <a:p>
            <a:r>
              <a:rPr lang="en-US" sz="2300">
                <a:latin typeface="Helvetica" charset="0"/>
                <a:ea typeface="ＭＳ Ｐゴシック" charset="0"/>
                <a:cs typeface="ＭＳ Ｐゴシック" charset="0"/>
              </a:rPr>
              <a:t>Net transport of heat polewards</a:t>
            </a:r>
          </a:p>
        </p:txBody>
      </p:sp>
    </p:spTree>
    <p:extLst>
      <p:ext uri="{BB962C8B-B14F-4D97-AF65-F5344CB8AC3E}">
        <p14:creationId xmlns:p14="http://schemas.microsoft.com/office/powerpoint/2010/main" val="329992566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533400" y="381000"/>
            <a:ext cx="5832475" cy="1293812"/>
          </a:xfrm>
        </p:spPr>
        <p:txBody>
          <a:bodyPr/>
          <a:lstStyle/>
          <a:p>
            <a:r>
              <a:rPr lang="en-US" dirty="0" smtClean="0">
                <a:latin typeface="Helvetica" charset="0"/>
                <a:ea typeface="ＭＳ Ｐゴシック" charset="0"/>
                <a:cs typeface="ＭＳ Ｐゴシック" charset="0"/>
              </a:rPr>
              <a:t>Climate model history</a:t>
            </a:r>
            <a:endParaRPr lang="en-US" dirty="0">
              <a:latin typeface="Helvetica" charset="0"/>
              <a:ea typeface="ＭＳ Ｐゴシック" charset="0"/>
              <a:cs typeface="ＭＳ Ｐゴシック" charset="0"/>
            </a:endParaRPr>
          </a:p>
        </p:txBody>
      </p:sp>
      <p:sp>
        <p:nvSpPr>
          <p:cNvPr id="148483" name="Rectangle 3"/>
          <p:cNvSpPr>
            <a:spLocks noGrp="1" noChangeArrowheads="1"/>
          </p:cNvSpPr>
          <p:nvPr>
            <p:ph type="body" idx="1"/>
          </p:nvPr>
        </p:nvSpPr>
        <p:spPr>
          <a:xfrm>
            <a:off x="512766" y="1752605"/>
            <a:ext cx="5832475" cy="5148263"/>
          </a:xfrm>
        </p:spPr>
        <p:txBody>
          <a:bodyPr/>
          <a:lstStyle/>
          <a:p>
            <a:r>
              <a:rPr lang="en-US" dirty="0" smtClean="0">
                <a:latin typeface="Helvetica" charset="0"/>
                <a:ea typeface="ＭＳ Ｐゴシック" charset="0"/>
                <a:cs typeface="ＭＳ Ｐゴシック" charset="0"/>
              </a:rPr>
              <a:t>Early 1900s </a:t>
            </a:r>
            <a:r>
              <a:rPr lang="en-US" dirty="0" err="1" smtClean="0">
                <a:latin typeface="Helvetica" charset="0"/>
                <a:ea typeface="ＭＳ Ｐゴシック" charset="0"/>
                <a:cs typeface="ＭＳ Ｐゴシック" charset="0"/>
              </a:rPr>
              <a:t>Bjerknes</a:t>
            </a:r>
            <a:r>
              <a:rPr lang="en-US" dirty="0" smtClean="0">
                <a:latin typeface="Helvetica" charset="0"/>
                <a:ea typeface="ＭＳ Ｐゴシック" charset="0"/>
                <a:cs typeface="ＭＳ Ｐゴシック" charset="0"/>
              </a:rPr>
              <a:t> (equations)</a:t>
            </a:r>
          </a:p>
          <a:p>
            <a:r>
              <a:rPr lang="en-US" dirty="0" smtClean="0">
                <a:latin typeface="Helvetica" charset="0"/>
                <a:ea typeface="ＭＳ Ｐゴシック" charset="0"/>
                <a:cs typeface="ＭＳ Ｐゴシック" charset="0"/>
              </a:rPr>
              <a:t>20s Richardson (numeric solution)</a:t>
            </a:r>
          </a:p>
          <a:p>
            <a:r>
              <a:rPr lang="en-US" dirty="0" smtClean="0">
                <a:latin typeface="Helvetica" charset="0"/>
                <a:ea typeface="ＭＳ Ｐゴシック" charset="0"/>
                <a:cs typeface="ＭＳ Ｐゴシック" charset="0"/>
              </a:rPr>
              <a:t>1955 Phillips: first climate model</a:t>
            </a:r>
          </a:p>
          <a:p>
            <a:r>
              <a:rPr lang="en-US" dirty="0" smtClean="0">
                <a:latin typeface="Helvetica" charset="0"/>
                <a:ea typeface="ＭＳ Ｐゴシック" charset="0"/>
                <a:cs typeface="ＭＳ Ｐゴシック" charset="0"/>
              </a:rPr>
              <a:t>mid </a:t>
            </a:r>
            <a:r>
              <a:rPr lang="en-US" dirty="0">
                <a:latin typeface="Helvetica" charset="0"/>
                <a:ea typeface="ＭＳ Ｐゴシック" charset="0"/>
                <a:cs typeface="ＭＳ Ｐゴシック" charset="0"/>
              </a:rPr>
              <a:t>70s Atmosphere models</a:t>
            </a:r>
          </a:p>
          <a:p>
            <a:r>
              <a:rPr lang="en-US" dirty="0">
                <a:latin typeface="Helvetica" charset="0"/>
                <a:ea typeface="ＭＳ Ｐゴシック" charset="0"/>
                <a:cs typeface="ＭＳ Ｐゴシック" charset="0"/>
              </a:rPr>
              <a:t>mid-80s Interactions with land</a:t>
            </a:r>
          </a:p>
          <a:p>
            <a:r>
              <a:rPr lang="en-US" dirty="0">
                <a:latin typeface="Helvetica" charset="0"/>
                <a:ea typeface="ＭＳ Ｐゴシック" charset="0"/>
                <a:cs typeface="ＭＳ Ｐゴシック" charset="0"/>
              </a:rPr>
              <a:t>early 90s Coupled with sea &amp; ice</a:t>
            </a:r>
          </a:p>
          <a:p>
            <a:r>
              <a:rPr lang="en-US" dirty="0">
                <a:latin typeface="Helvetica" charset="0"/>
                <a:ea typeface="ＭＳ Ｐゴシック" charset="0"/>
                <a:cs typeface="ＭＳ Ｐゴシック" charset="0"/>
              </a:rPr>
              <a:t>late 90s Added </a:t>
            </a:r>
            <a:r>
              <a:rPr lang="en-US" dirty="0" smtClean="0">
                <a:latin typeface="Helvetica" charset="0"/>
                <a:ea typeface="ＭＳ Ｐゴシック" charset="0"/>
                <a:cs typeface="ＭＳ Ｐゴシック" charset="0"/>
              </a:rPr>
              <a:t>sulfur </a:t>
            </a:r>
            <a:r>
              <a:rPr lang="en-US" dirty="0">
                <a:latin typeface="Helvetica" charset="0"/>
                <a:ea typeface="ＭＳ Ｐゴシック" charset="0"/>
                <a:cs typeface="ＭＳ Ｐゴシック" charset="0"/>
              </a:rPr>
              <a:t>aerosols</a:t>
            </a:r>
          </a:p>
          <a:p>
            <a:r>
              <a:rPr lang="en-US" dirty="0">
                <a:latin typeface="Helvetica" charset="0"/>
                <a:ea typeface="ＭＳ Ｐゴシック" charset="0"/>
                <a:cs typeface="ＭＳ Ｐゴシック" charset="0"/>
              </a:rPr>
              <a:t>2000 Other aerosols and carbon cycle</a:t>
            </a:r>
          </a:p>
          <a:p>
            <a:r>
              <a:rPr lang="en-US" dirty="0">
                <a:latin typeface="Helvetica" charset="0"/>
                <a:ea typeface="ＭＳ Ｐゴシック" charset="0"/>
                <a:cs typeface="ＭＳ Ｐゴシック" charset="0"/>
              </a:rPr>
              <a:t>2005 Dynamic vegetation and atmospheric </a:t>
            </a:r>
            <a:r>
              <a:rPr lang="en-US" dirty="0" smtClean="0">
                <a:latin typeface="Helvetica" charset="0"/>
                <a:ea typeface="ＭＳ Ｐゴシック" charset="0"/>
                <a:cs typeface="ＭＳ Ｐゴシック" charset="0"/>
              </a:rPr>
              <a:t>chemistry</a:t>
            </a:r>
          </a:p>
          <a:p>
            <a:r>
              <a:rPr lang="en-US" dirty="0" smtClean="0">
                <a:latin typeface="Helvetica" charset="0"/>
                <a:ea typeface="ＭＳ Ｐゴシック" charset="0"/>
                <a:cs typeface="ＭＳ Ｐゴシック" charset="0"/>
              </a:rPr>
              <a:t>2010 Microphysics</a:t>
            </a:r>
            <a:endParaRPr lang="en-US" dirty="0">
              <a:latin typeface="Helvetica" charset="0"/>
              <a:ea typeface="ＭＳ Ｐゴシック" charset="0"/>
              <a:cs typeface="ＭＳ Ｐゴシック" charset="0"/>
            </a:endParaRPr>
          </a:p>
          <a:p>
            <a:endParaRPr lang="en-US" dirty="0">
              <a:latin typeface="Helvetica" charset="0"/>
              <a:ea typeface="ＭＳ Ｐゴシック" charset="0"/>
              <a:cs typeface="ＭＳ Ｐゴシック" charset="0"/>
            </a:endParaRPr>
          </a:p>
        </p:txBody>
      </p:sp>
      <p:sp>
        <p:nvSpPr>
          <p:cNvPr id="2" name="Rectangle 1"/>
          <p:cNvSpPr/>
          <p:nvPr/>
        </p:nvSpPr>
        <p:spPr bwMode="auto">
          <a:xfrm>
            <a:off x="2133600" y="4267200"/>
            <a:ext cx="1447800" cy="457200"/>
          </a:xfrm>
          <a:prstGeom prst="rect">
            <a:avLst/>
          </a:prstGeom>
          <a:solidFill>
            <a:schemeClr val="accent1">
              <a:alpha val="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solidFill>
                  <a:srgbClr val="FF0000"/>
                </a:solidFill>
              </a:ln>
              <a:solidFill>
                <a:schemeClr val="tx1"/>
              </a:solidFill>
              <a:effectLst/>
              <a:latin typeface="Times" charset="0"/>
            </a:endParaRPr>
          </a:p>
        </p:txBody>
      </p:sp>
    </p:spTree>
    <p:extLst>
      <p:ext uri="{BB962C8B-B14F-4D97-AF65-F5344CB8AC3E}">
        <p14:creationId xmlns:p14="http://schemas.microsoft.com/office/powerpoint/2010/main" val="13474840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84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48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848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848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848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848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8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26"/>
          <p:cNvSpPr>
            <a:spLocks noGrp="1" noChangeArrowheads="1"/>
          </p:cNvSpPr>
          <p:nvPr>
            <p:ph type="title"/>
          </p:nvPr>
        </p:nvSpPr>
        <p:spPr>
          <a:xfrm>
            <a:off x="533400" y="304800"/>
            <a:ext cx="5832475" cy="1293812"/>
          </a:xfrm>
        </p:spPr>
        <p:txBody>
          <a:bodyPr/>
          <a:lstStyle/>
          <a:p>
            <a:r>
              <a:rPr lang="en-US" dirty="0">
                <a:latin typeface="Helvetica" charset="0"/>
                <a:ea typeface="ＭＳ Ｐゴシック" charset="0"/>
                <a:cs typeface="ＭＳ Ｐゴシック" charset="0"/>
              </a:rPr>
              <a:t>Parameterization</a:t>
            </a:r>
          </a:p>
        </p:txBody>
      </p:sp>
      <p:sp>
        <p:nvSpPr>
          <p:cNvPr id="56323" name="Rectangle 1027"/>
          <p:cNvSpPr>
            <a:spLocks noGrp="1" noChangeArrowheads="1"/>
          </p:cNvSpPr>
          <p:nvPr>
            <p:ph type="body" idx="1"/>
          </p:nvPr>
        </p:nvSpPr>
        <p:spPr>
          <a:xfrm>
            <a:off x="533400" y="1828800"/>
            <a:ext cx="5832475" cy="4656138"/>
          </a:xfrm>
        </p:spPr>
        <p:txBody>
          <a:bodyPr/>
          <a:lstStyle/>
          <a:p>
            <a:r>
              <a:rPr lang="en-US" dirty="0">
                <a:latin typeface="Helvetica" charset="0"/>
                <a:ea typeface="ＭＳ Ｐゴシック" charset="0"/>
                <a:cs typeface="ＭＳ Ｐゴシック" charset="0"/>
              </a:rPr>
              <a:t>Some important processes happen on scales below the discretization</a:t>
            </a:r>
          </a:p>
          <a:p>
            <a:r>
              <a:rPr lang="en-US" dirty="0">
                <a:latin typeface="Helvetica" charset="0"/>
                <a:ea typeface="ＭＳ Ｐゴシック" charset="0"/>
                <a:cs typeface="ＭＳ Ｐゴシック" charset="0"/>
              </a:rPr>
              <a:t>Typically expressed </a:t>
            </a:r>
            <a:r>
              <a:rPr lang="en-US" dirty="0" smtClean="0">
                <a:latin typeface="Helvetica" charset="0"/>
                <a:ea typeface="ＭＳ Ｐゴシック" charset="0"/>
                <a:cs typeface="ＭＳ Ｐゴシック" charset="0"/>
              </a:rPr>
              <a:t>as regressions on resolved processes</a:t>
            </a:r>
          </a:p>
          <a:p>
            <a:r>
              <a:rPr lang="en-US" dirty="0" smtClean="0">
                <a:latin typeface="Helvetica" charset="0"/>
                <a:ea typeface="ＭＳ Ｐゴシック" charset="0"/>
                <a:cs typeface="ＭＳ Ｐゴシック" charset="0"/>
              </a:rPr>
              <a:t>Examples</a:t>
            </a:r>
            <a:r>
              <a:rPr lang="en-US" dirty="0">
                <a:latin typeface="Helvetica" charset="0"/>
                <a:ea typeface="ＭＳ Ｐゴシック" charset="0"/>
                <a:cs typeface="ＭＳ Ｐゴシック" charset="0"/>
              </a:rPr>
              <a:t>:</a:t>
            </a:r>
          </a:p>
          <a:p>
            <a:pPr lvl="1" indent="0"/>
            <a:r>
              <a:rPr lang="en-US" sz="2400" dirty="0" smtClean="0">
                <a:latin typeface="Helvetica" charset="0"/>
                <a:ea typeface="ＭＳ Ｐゴシック" charset="0"/>
              </a:rPr>
              <a:t>clouds</a:t>
            </a:r>
            <a:endParaRPr lang="en-US" sz="2400" dirty="0">
              <a:latin typeface="Helvetica" charset="0"/>
              <a:ea typeface="ＭＳ Ｐゴシック" charset="0"/>
            </a:endParaRPr>
          </a:p>
          <a:p>
            <a:pPr lvl="1" indent="0"/>
            <a:r>
              <a:rPr lang="en-US" sz="2400" dirty="0" smtClean="0">
                <a:latin typeface="Helvetica" charset="0"/>
                <a:ea typeface="ＭＳ Ｐゴシック" charset="0"/>
              </a:rPr>
              <a:t>thunderstorms/cyclones</a:t>
            </a:r>
            <a:endParaRPr lang="en-US" sz="2400" dirty="0">
              <a:latin typeface="Helvetica" charset="0"/>
              <a:ea typeface="ＭＳ Ｐゴシック" charset="0"/>
            </a:endParaRPr>
          </a:p>
          <a:p>
            <a:pPr lvl="1" indent="0"/>
            <a:r>
              <a:rPr lang="en-US" sz="2400" dirty="0" smtClean="0">
                <a:latin typeface="Helvetica" charset="0"/>
                <a:ea typeface="ＭＳ Ｐゴシック" charset="0"/>
              </a:rPr>
              <a:t>amount of solar radiation reaching ground</a:t>
            </a:r>
            <a:endParaRPr lang="en-US" sz="2400" dirty="0">
              <a:latin typeface="Helvetica" charset="0"/>
              <a:ea typeface="ＭＳ Ｐゴシック" charset="0"/>
            </a:endParaRPr>
          </a:p>
          <a:p>
            <a:pPr lvl="1" indent="0"/>
            <a:r>
              <a:rPr lang="en-US" sz="2400" dirty="0" smtClean="0">
                <a:latin typeface="Helvetica" charset="0"/>
                <a:ea typeface="ＭＳ Ｐゴシック" charset="0"/>
              </a:rPr>
              <a:t>pollutant emissions</a:t>
            </a:r>
            <a:endParaRPr lang="en-US" sz="2400" dirty="0">
              <a:latin typeface="Helvetica" charset="0"/>
              <a:ea typeface="ＭＳ Ｐゴシック" charset="0"/>
            </a:endParaRPr>
          </a:p>
        </p:txBody>
      </p:sp>
    </p:spTree>
    <p:extLst>
      <p:ext uri="{BB962C8B-B14F-4D97-AF65-F5344CB8AC3E}">
        <p14:creationId xmlns:p14="http://schemas.microsoft.com/office/powerpoint/2010/main" val="53236432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3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3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026"/>
          <p:cNvSpPr>
            <a:spLocks noGrp="1" noChangeArrowheads="1"/>
          </p:cNvSpPr>
          <p:nvPr>
            <p:ph type="title"/>
          </p:nvPr>
        </p:nvSpPr>
        <p:spPr/>
        <p:txBody>
          <a:bodyPr/>
          <a:lstStyle/>
          <a:p>
            <a:r>
              <a:rPr lang="en-US">
                <a:latin typeface="Helvetica" charset="0"/>
                <a:ea typeface="ＭＳ Ｐゴシック" charset="0"/>
                <a:cs typeface="ＭＳ Ｐゴシック" charset="0"/>
              </a:rPr>
              <a:t>Cloud effects</a:t>
            </a:r>
          </a:p>
        </p:txBody>
      </p:sp>
      <p:sp>
        <p:nvSpPr>
          <p:cNvPr id="58371" name="Rectangle 1027"/>
          <p:cNvSpPr>
            <a:spLocks noGrp="1" noChangeArrowheads="1"/>
          </p:cNvSpPr>
          <p:nvPr>
            <p:ph type="body" idx="1"/>
          </p:nvPr>
        </p:nvSpPr>
        <p:spPr/>
        <p:txBody>
          <a:bodyPr/>
          <a:lstStyle/>
          <a:p>
            <a:r>
              <a:rPr lang="en-US" dirty="0">
                <a:latin typeface="Helvetica" charset="0"/>
                <a:ea typeface="ＭＳ Ｐゴシック" charset="0"/>
                <a:cs typeface="ＭＳ Ｐゴシック" charset="0"/>
              </a:rPr>
              <a:t>Low clouds over ocean</a:t>
            </a:r>
          </a:p>
          <a:p>
            <a:pPr lvl="1">
              <a:buFontTx/>
              <a:buNone/>
            </a:pPr>
            <a:r>
              <a:rPr lang="en-US" dirty="0">
                <a:latin typeface="Helvetica" charset="0"/>
                <a:ea typeface="ＭＳ Ｐゴシック" charset="0"/>
              </a:rPr>
              <a:t>more clouds reflect heat (cooling)</a:t>
            </a:r>
          </a:p>
          <a:p>
            <a:pPr lvl="1">
              <a:buFontTx/>
              <a:buNone/>
            </a:pPr>
            <a:r>
              <a:rPr lang="en-US" dirty="0">
                <a:latin typeface="Helvetica" charset="0"/>
                <a:ea typeface="ＭＳ Ｐゴシック" charset="0"/>
              </a:rPr>
              <a:t>fewer clouds trap heat (warming)</a:t>
            </a:r>
          </a:p>
          <a:p>
            <a:r>
              <a:rPr lang="en-US" dirty="0">
                <a:latin typeface="Helvetica" charset="0"/>
                <a:ea typeface="ＭＳ Ｐゴシック" charset="0"/>
                <a:cs typeface="ＭＳ Ｐゴシック" charset="0"/>
              </a:rPr>
              <a:t>High clouds</a:t>
            </a:r>
          </a:p>
          <a:p>
            <a:pPr lvl="1">
              <a:buFontTx/>
              <a:buNone/>
            </a:pPr>
            <a:r>
              <a:rPr lang="en-US" dirty="0">
                <a:latin typeface="Helvetica" charset="0"/>
                <a:ea typeface="ＭＳ Ｐゴシック" charset="0"/>
              </a:rPr>
              <a:t>more clouds trap heat (warming</a:t>
            </a:r>
            <a:r>
              <a:rPr lang="en-US" dirty="0" smtClean="0">
                <a:latin typeface="Helvetica" charset="0"/>
                <a:ea typeface="ＭＳ Ｐゴシック" charset="0"/>
              </a:rPr>
              <a:t>)</a:t>
            </a:r>
            <a:endParaRPr lang="en-US" dirty="0">
              <a:latin typeface="Helvetica" charset="0"/>
              <a:ea typeface="ＭＳ Ｐゴシック" charset="0"/>
            </a:endParaRPr>
          </a:p>
          <a:p>
            <a:r>
              <a:rPr lang="en-US" dirty="0">
                <a:latin typeface="Helvetica" charset="0"/>
                <a:ea typeface="ＭＳ Ｐゴシック" charset="0"/>
                <a:cs typeface="ＭＳ Ｐゴシック" charset="0"/>
              </a:rPr>
              <a:t>And neither are well described in </a:t>
            </a:r>
            <a:r>
              <a:rPr lang="en-US" dirty="0" smtClean="0">
                <a:latin typeface="Helvetica" charset="0"/>
                <a:ea typeface="ＭＳ Ｐゴシック" charset="0"/>
                <a:cs typeface="ＭＳ Ｐゴシック" charset="0"/>
              </a:rPr>
              <a:t>GCMs</a:t>
            </a:r>
          </a:p>
          <a:p>
            <a:r>
              <a:rPr lang="en-US" dirty="0" smtClean="0">
                <a:latin typeface="Helvetica" charset="0"/>
                <a:ea typeface="ＭＳ Ｐゴシック" charset="0"/>
                <a:cs typeface="ＭＳ Ｐゴシック" charset="0"/>
              </a:rPr>
              <a:t>Some new models produce stochastic clouds</a:t>
            </a:r>
          </a:p>
          <a:p>
            <a:endParaRPr lang="en-US" dirty="0">
              <a:latin typeface="Helvetica" charset="0"/>
              <a:ea typeface="ＭＳ Ｐゴシック" charset="0"/>
              <a:cs typeface="ＭＳ Ｐゴシック" charset="0"/>
            </a:endParaRPr>
          </a:p>
        </p:txBody>
      </p:sp>
    </p:spTree>
    <p:extLst>
      <p:ext uri="{BB962C8B-B14F-4D97-AF65-F5344CB8AC3E}">
        <p14:creationId xmlns:p14="http://schemas.microsoft.com/office/powerpoint/2010/main" val="131321569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3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83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5" y="3200400"/>
            <a:ext cx="5832475" cy="1293812"/>
          </a:xfrm>
        </p:spPr>
        <p:txBody>
          <a:bodyPr/>
          <a:lstStyle/>
          <a:p>
            <a:r>
              <a:rPr lang="en-US" dirty="0" smtClean="0"/>
              <a:t>Evidence of </a:t>
            </a:r>
            <a:br>
              <a:rPr lang="en-US" dirty="0" smtClean="0"/>
            </a:br>
            <a:r>
              <a:rPr lang="en-US" dirty="0" smtClean="0"/>
              <a:t>climate change</a:t>
            </a:r>
            <a:endParaRPr lang="en-US" dirty="0"/>
          </a:p>
        </p:txBody>
      </p:sp>
    </p:spTree>
    <p:extLst>
      <p:ext uri="{BB962C8B-B14F-4D97-AF65-F5344CB8AC3E}">
        <p14:creationId xmlns:p14="http://schemas.microsoft.com/office/powerpoint/2010/main" val="1791071661"/>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a:t>
            </a:r>
            <a:br>
              <a:rPr lang="en-US" dirty="0" smtClean="0"/>
            </a:br>
            <a:r>
              <a:rPr lang="en-US" dirty="0" smtClean="0"/>
              <a:t>radiation spectrum</a:t>
            </a:r>
            <a:endParaRPr lang="en-US" dirty="0"/>
          </a:p>
        </p:txBody>
      </p:sp>
      <p:pic>
        <p:nvPicPr>
          <p:cNvPr id="4" name="Picture 3" descr="spectr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27175"/>
            <a:ext cx="6825392" cy="5538880"/>
          </a:xfrm>
          <a:prstGeom prst="rect">
            <a:avLst/>
          </a:prstGeom>
        </p:spPr>
      </p:pic>
      <p:sp>
        <p:nvSpPr>
          <p:cNvPr id="5" name="TextBox 4"/>
          <p:cNvSpPr txBox="1"/>
          <p:nvPr/>
        </p:nvSpPr>
        <p:spPr>
          <a:xfrm>
            <a:off x="4419600" y="3657600"/>
            <a:ext cx="609600" cy="523220"/>
          </a:xfrm>
          <a:prstGeom prst="rect">
            <a:avLst/>
          </a:prstGeom>
          <a:noFill/>
        </p:spPr>
        <p:txBody>
          <a:bodyPr wrap="square" rtlCol="0">
            <a:spAutoFit/>
          </a:bodyPr>
          <a:lstStyle/>
          <a:p>
            <a:r>
              <a:rPr lang="en-US" sz="1400" dirty="0" smtClean="0">
                <a:latin typeface="+mn-lt"/>
              </a:rPr>
              <a:t>1997</a:t>
            </a:r>
          </a:p>
          <a:p>
            <a:r>
              <a:rPr lang="en-US" sz="1400" dirty="0" smtClean="0">
                <a:latin typeface="+mn-lt"/>
              </a:rPr>
              <a:t>1970</a:t>
            </a:r>
            <a:endParaRPr lang="en-US" sz="1400" dirty="0">
              <a:latin typeface="+mn-lt"/>
            </a:endParaRPr>
          </a:p>
        </p:txBody>
      </p:sp>
      <p:sp>
        <p:nvSpPr>
          <p:cNvPr id="6" name="TextBox 5"/>
          <p:cNvSpPr txBox="1"/>
          <p:nvPr/>
        </p:nvSpPr>
        <p:spPr>
          <a:xfrm>
            <a:off x="4114800" y="5486401"/>
            <a:ext cx="1798214" cy="307777"/>
          </a:xfrm>
          <a:prstGeom prst="rect">
            <a:avLst/>
          </a:prstGeom>
          <a:noFill/>
        </p:spPr>
        <p:txBody>
          <a:bodyPr wrap="none" rtlCol="0">
            <a:spAutoFit/>
          </a:bodyPr>
          <a:lstStyle/>
          <a:p>
            <a:r>
              <a:rPr lang="en-US" sz="1400" dirty="0" smtClean="0">
                <a:latin typeface="+mn-lt"/>
              </a:rPr>
              <a:t>Observed difference</a:t>
            </a:r>
            <a:endParaRPr lang="en-US" sz="1400" dirty="0">
              <a:latin typeface="+mn-lt"/>
            </a:endParaRPr>
          </a:p>
        </p:txBody>
      </p:sp>
      <p:sp>
        <p:nvSpPr>
          <p:cNvPr id="7" name="TextBox 6"/>
          <p:cNvSpPr txBox="1"/>
          <p:nvPr/>
        </p:nvSpPr>
        <p:spPr>
          <a:xfrm>
            <a:off x="4114810" y="5943605"/>
            <a:ext cx="1092429" cy="307777"/>
          </a:xfrm>
          <a:prstGeom prst="rect">
            <a:avLst/>
          </a:prstGeom>
          <a:noFill/>
        </p:spPr>
        <p:txBody>
          <a:bodyPr wrap="none" rtlCol="0">
            <a:spAutoFit/>
          </a:bodyPr>
          <a:lstStyle/>
          <a:p>
            <a:r>
              <a:rPr lang="en-US" sz="1400" dirty="0" smtClean="0">
                <a:latin typeface="+mn-lt"/>
              </a:rPr>
              <a:t>Pacific </a:t>
            </a:r>
            <a:r>
              <a:rPr lang="en-US" sz="1400" dirty="0" err="1" smtClean="0">
                <a:latin typeface="+mn-lt"/>
              </a:rPr>
              <a:t>sim</a:t>
            </a:r>
            <a:r>
              <a:rPr lang="en-US" sz="1400" dirty="0" smtClean="0">
                <a:latin typeface="+mn-lt"/>
              </a:rPr>
              <a:t>.</a:t>
            </a:r>
            <a:endParaRPr lang="en-US" sz="1400" dirty="0">
              <a:latin typeface="+mn-lt"/>
            </a:endParaRPr>
          </a:p>
        </p:txBody>
      </p:sp>
      <p:sp>
        <p:nvSpPr>
          <p:cNvPr id="8" name="TextBox 7"/>
          <p:cNvSpPr txBox="1"/>
          <p:nvPr/>
        </p:nvSpPr>
        <p:spPr>
          <a:xfrm>
            <a:off x="4114810" y="6477005"/>
            <a:ext cx="1082611" cy="307777"/>
          </a:xfrm>
          <a:prstGeom prst="rect">
            <a:avLst/>
          </a:prstGeom>
          <a:noFill/>
        </p:spPr>
        <p:txBody>
          <a:bodyPr wrap="none" rtlCol="0">
            <a:spAutoFit/>
          </a:bodyPr>
          <a:lstStyle/>
          <a:p>
            <a:r>
              <a:rPr lang="en-US" sz="1400" dirty="0" smtClean="0">
                <a:latin typeface="+mn-lt"/>
              </a:rPr>
              <a:t>Global </a:t>
            </a:r>
            <a:r>
              <a:rPr lang="en-US" sz="1400" dirty="0" err="1" smtClean="0">
                <a:latin typeface="+mn-lt"/>
              </a:rPr>
              <a:t>sim</a:t>
            </a:r>
            <a:r>
              <a:rPr lang="en-US" sz="1400" dirty="0" smtClean="0">
                <a:latin typeface="+mn-lt"/>
              </a:rPr>
              <a:t>.</a:t>
            </a:r>
            <a:endParaRPr lang="en-US" sz="1400" dirty="0">
              <a:latin typeface="+mn-lt"/>
            </a:endParaRPr>
          </a:p>
        </p:txBody>
      </p:sp>
      <p:sp>
        <p:nvSpPr>
          <p:cNvPr id="9" name="TextBox 8"/>
          <p:cNvSpPr txBox="1"/>
          <p:nvPr/>
        </p:nvSpPr>
        <p:spPr>
          <a:xfrm>
            <a:off x="685800" y="7086606"/>
            <a:ext cx="520537" cy="307777"/>
          </a:xfrm>
          <a:prstGeom prst="rect">
            <a:avLst/>
          </a:prstGeom>
          <a:noFill/>
        </p:spPr>
        <p:txBody>
          <a:bodyPr wrap="none" rtlCol="0">
            <a:spAutoFit/>
          </a:bodyPr>
          <a:lstStyle/>
          <a:p>
            <a:r>
              <a:rPr lang="en-US" sz="1400" dirty="0" smtClean="0">
                <a:latin typeface="+mn-lt"/>
              </a:rPr>
              <a:t>CO</a:t>
            </a:r>
            <a:r>
              <a:rPr lang="en-US" sz="1400" baseline="-25000" dirty="0" smtClean="0">
                <a:latin typeface="+mn-lt"/>
              </a:rPr>
              <a:t>2</a:t>
            </a:r>
            <a:endParaRPr lang="en-US" sz="1400" dirty="0">
              <a:latin typeface="+mn-lt"/>
            </a:endParaRPr>
          </a:p>
        </p:txBody>
      </p:sp>
      <p:sp>
        <p:nvSpPr>
          <p:cNvPr id="11" name="TextBox 10"/>
          <p:cNvSpPr txBox="1"/>
          <p:nvPr/>
        </p:nvSpPr>
        <p:spPr>
          <a:xfrm>
            <a:off x="3429003" y="6934205"/>
            <a:ext cx="390881" cy="307777"/>
          </a:xfrm>
          <a:prstGeom prst="rect">
            <a:avLst/>
          </a:prstGeom>
          <a:noFill/>
        </p:spPr>
        <p:txBody>
          <a:bodyPr wrap="none" rtlCol="0">
            <a:spAutoFit/>
          </a:bodyPr>
          <a:lstStyle/>
          <a:p>
            <a:r>
              <a:rPr lang="en-US" sz="1400" dirty="0" smtClean="0">
                <a:latin typeface="+mn-lt"/>
              </a:rPr>
              <a:t>O</a:t>
            </a:r>
            <a:r>
              <a:rPr lang="en-US" sz="1400" baseline="-25000" dirty="0" smtClean="0">
                <a:latin typeface="+mn-lt"/>
              </a:rPr>
              <a:t>3</a:t>
            </a:r>
            <a:endParaRPr lang="en-US" sz="1400" dirty="0">
              <a:latin typeface="+mn-lt"/>
            </a:endParaRPr>
          </a:p>
        </p:txBody>
      </p:sp>
      <p:sp>
        <p:nvSpPr>
          <p:cNvPr id="12" name="TextBox 11"/>
          <p:cNvSpPr txBox="1"/>
          <p:nvPr/>
        </p:nvSpPr>
        <p:spPr>
          <a:xfrm>
            <a:off x="5334010" y="7086606"/>
            <a:ext cx="510543" cy="307777"/>
          </a:xfrm>
          <a:prstGeom prst="rect">
            <a:avLst/>
          </a:prstGeom>
          <a:noFill/>
        </p:spPr>
        <p:txBody>
          <a:bodyPr wrap="none" rtlCol="0">
            <a:spAutoFit/>
          </a:bodyPr>
          <a:lstStyle/>
          <a:p>
            <a:r>
              <a:rPr lang="en-US" sz="1400" dirty="0" smtClean="0">
                <a:latin typeface="+mn-lt"/>
              </a:rPr>
              <a:t>CH</a:t>
            </a:r>
            <a:r>
              <a:rPr lang="en-US" sz="1400" baseline="-25000" dirty="0" smtClean="0">
                <a:latin typeface="+mn-lt"/>
              </a:rPr>
              <a:t>4</a:t>
            </a:r>
            <a:endParaRPr lang="en-US" sz="1400" dirty="0">
              <a:latin typeface="+mn-lt"/>
            </a:endParaRPr>
          </a:p>
        </p:txBody>
      </p:sp>
      <p:sp>
        <p:nvSpPr>
          <p:cNvPr id="13" name="TextBox 12"/>
          <p:cNvSpPr txBox="1"/>
          <p:nvPr/>
        </p:nvSpPr>
        <p:spPr>
          <a:xfrm>
            <a:off x="3876592" y="1981203"/>
            <a:ext cx="2956008" cy="369332"/>
          </a:xfrm>
          <a:prstGeom prst="rect">
            <a:avLst/>
          </a:prstGeom>
          <a:noFill/>
        </p:spPr>
        <p:txBody>
          <a:bodyPr wrap="none" rtlCol="0">
            <a:spAutoFit/>
          </a:bodyPr>
          <a:lstStyle/>
          <a:p>
            <a:r>
              <a:rPr lang="en-US" sz="1800" dirty="0" smtClean="0">
                <a:latin typeface="+mn-lt"/>
              </a:rPr>
              <a:t>Harries et al., Nature, 2001</a:t>
            </a:r>
            <a:endParaRPr lang="en-US" sz="1800" dirty="0">
              <a:latin typeface="+mn-lt"/>
            </a:endParaRPr>
          </a:p>
        </p:txBody>
      </p:sp>
    </p:spTree>
    <p:extLst>
      <p:ext uri="{BB962C8B-B14F-4D97-AF65-F5344CB8AC3E}">
        <p14:creationId xmlns:p14="http://schemas.microsoft.com/office/powerpoint/2010/main" val="217687450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 surface temperature</a:t>
            </a:r>
            <a:endParaRPr lang="en-US" dirty="0"/>
          </a:p>
        </p:txBody>
      </p:sp>
      <p:pic>
        <p:nvPicPr>
          <p:cNvPr id="6" name="Content Placeholder 5" descr="ocean.pdf"/>
          <p:cNvPicPr>
            <a:picLocks noGrp="1" noChangeAspect="1"/>
          </p:cNvPicPr>
          <p:nvPr>
            <p:ph idx="1"/>
          </p:nvPr>
        </p:nvPicPr>
        <p:blipFill>
          <a:blip r:embed="rId3">
            <a:extLst>
              <a:ext uri="{28A0092B-C50C-407E-A947-70E740481C1C}">
                <a14:useLocalDpi xmlns:a14="http://schemas.microsoft.com/office/drawing/2010/main" val="0"/>
              </a:ext>
            </a:extLst>
          </a:blip>
          <a:srcRect t="-17869" b="-17869"/>
          <a:stretch>
            <a:fillRect/>
          </a:stretch>
        </p:blipFill>
        <p:spPr>
          <a:xfrm>
            <a:off x="76200" y="1676401"/>
            <a:ext cx="6872496" cy="5486400"/>
          </a:xfrm>
        </p:spPr>
      </p:pic>
    </p:spTree>
    <p:extLst>
      <p:ext uri="{BB962C8B-B14F-4D97-AF65-F5344CB8AC3E}">
        <p14:creationId xmlns:p14="http://schemas.microsoft.com/office/powerpoint/2010/main" val="2372380174"/>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Ocean heat content</a:t>
            </a:r>
            <a:endParaRPr lang="en-US" dirty="0"/>
          </a:p>
        </p:txBody>
      </p:sp>
      <p:pic>
        <p:nvPicPr>
          <p:cNvPr id="4" name="Content Placeholder 3" descr="Global ocean heat content 1955_2008.pdf"/>
          <p:cNvPicPr>
            <a:picLocks noGrp="1" noChangeAspect="1"/>
          </p:cNvPicPr>
          <p:nvPr>
            <p:ph idx="1"/>
          </p:nvPr>
        </p:nvPicPr>
        <p:blipFill>
          <a:blip r:embed="rId2">
            <a:extLst>
              <a:ext uri="{28A0092B-C50C-407E-A947-70E740481C1C}">
                <a14:useLocalDpi xmlns:a14="http://schemas.microsoft.com/office/drawing/2010/main" val="0"/>
              </a:ext>
            </a:extLst>
          </a:blip>
          <a:srcRect t="-7493" b="-7493"/>
          <a:stretch>
            <a:fillRect/>
          </a:stretch>
        </p:blipFill>
        <p:spPr>
          <a:xfrm>
            <a:off x="6" y="2294466"/>
            <a:ext cx="6872497" cy="5486401"/>
          </a:xfrm>
        </p:spPr>
      </p:pic>
    </p:spTree>
    <p:extLst>
      <p:ext uri="{BB962C8B-B14F-4D97-AF65-F5344CB8AC3E}">
        <p14:creationId xmlns:p14="http://schemas.microsoft.com/office/powerpoint/2010/main" val="1816879020"/>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 level rise</a:t>
            </a:r>
            <a:endParaRPr lang="en-US" dirty="0"/>
          </a:p>
        </p:txBody>
      </p:sp>
      <p:pic>
        <p:nvPicPr>
          <p:cNvPr id="4" name="Content Placeholder 3" descr="figure1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7084" b="-7084"/>
          <a:stretch>
            <a:fillRect/>
          </a:stretch>
        </p:blipFill>
        <p:spPr bwMode="auto">
          <a:xfrm>
            <a:off x="-8242" y="2438401"/>
            <a:ext cx="6872497"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109128"/>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pieces of evidence</a:t>
            </a:r>
            <a:endParaRPr lang="en-US" dirty="0"/>
          </a:p>
        </p:txBody>
      </p:sp>
      <p:sp>
        <p:nvSpPr>
          <p:cNvPr id="3" name="Content Placeholder 2"/>
          <p:cNvSpPr>
            <a:spLocks noGrp="1"/>
          </p:cNvSpPr>
          <p:nvPr>
            <p:ph idx="1"/>
          </p:nvPr>
        </p:nvSpPr>
        <p:spPr/>
        <p:txBody>
          <a:bodyPr/>
          <a:lstStyle/>
          <a:p>
            <a:r>
              <a:rPr lang="en-US" dirty="0" smtClean="0"/>
              <a:t>Ocean acidification</a:t>
            </a:r>
          </a:p>
          <a:p>
            <a:r>
              <a:rPr lang="en-US" dirty="0" smtClean="0"/>
              <a:t>Changes in seasons</a:t>
            </a:r>
          </a:p>
          <a:p>
            <a:r>
              <a:rPr lang="en-US" dirty="0" smtClean="0"/>
              <a:t>Increasing global temperature</a:t>
            </a:r>
          </a:p>
          <a:p>
            <a:r>
              <a:rPr lang="en-US" dirty="0" smtClean="0"/>
              <a:t>Heating in upper troposphere and cooling in lower stratosphere</a:t>
            </a:r>
          </a:p>
          <a:p>
            <a:r>
              <a:rPr lang="en-US" dirty="0" smtClean="0"/>
              <a:t>Sea ice decline in Arctic </a:t>
            </a:r>
          </a:p>
          <a:p>
            <a:endParaRPr lang="en-US" dirty="0"/>
          </a:p>
        </p:txBody>
      </p:sp>
    </p:spTree>
    <p:extLst>
      <p:ext uri="{BB962C8B-B14F-4D97-AF65-F5344CB8AC3E}">
        <p14:creationId xmlns:p14="http://schemas.microsoft.com/office/powerpoint/2010/main" val="41045147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Detection</a:t>
            </a:r>
            <a:endParaRPr lang="en-US" dirty="0"/>
          </a:p>
        </p:txBody>
      </p:sp>
      <p:pic>
        <p:nvPicPr>
          <p:cNvPr id="4" name="Content Placeholder 3" descr="birs.pdf"/>
          <p:cNvPicPr>
            <a:picLocks noGrp="1" noChangeAspect="1"/>
          </p:cNvPicPr>
          <p:nvPr>
            <p:ph idx="1"/>
          </p:nvPr>
        </p:nvPicPr>
        <p:blipFill rotWithShape="1">
          <a:blip r:embed="rId2">
            <a:extLst>
              <a:ext uri="{28A0092B-C50C-407E-A947-70E740481C1C}">
                <a14:useLocalDpi xmlns:a14="http://schemas.microsoft.com/office/drawing/2010/main" val="0"/>
              </a:ext>
            </a:extLst>
          </a:blip>
          <a:srcRect t="4569" b="4571"/>
          <a:stretch/>
        </p:blipFill>
        <p:spPr>
          <a:xfrm rot="5400000">
            <a:off x="512767" y="1143801"/>
            <a:ext cx="5832474" cy="6858001"/>
          </a:xfrm>
        </p:spPr>
      </p:pic>
    </p:spTree>
    <p:extLst>
      <p:ext uri="{BB962C8B-B14F-4D97-AF65-F5344CB8AC3E}">
        <p14:creationId xmlns:p14="http://schemas.microsoft.com/office/powerpoint/2010/main" val="3466415894"/>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p:txBody>
          <a:bodyPr/>
          <a:lstStyle/>
          <a:p>
            <a:r>
              <a:rPr lang="en-US">
                <a:latin typeface="Helvetica" charset="0"/>
                <a:ea typeface="ＭＳ Ｐゴシック" charset="0"/>
                <a:cs typeface="ＭＳ Ｐゴシック" charset="0"/>
              </a:rPr>
              <a:t>Attribution</a:t>
            </a:r>
          </a:p>
        </p:txBody>
      </p:sp>
      <p:pic>
        <p:nvPicPr>
          <p:cNvPr id="82946" name="Picture 4" descr="forc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 y="1940213"/>
            <a:ext cx="4245429" cy="2968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7" name="Picture 5" descr="unforc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2439" y="5145031"/>
            <a:ext cx="3755571" cy="262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Text Box 6"/>
          <p:cNvSpPr txBox="1">
            <a:spLocks noChangeArrowheads="1"/>
          </p:cNvSpPr>
          <p:nvPr/>
        </p:nvSpPr>
        <p:spPr bwMode="auto">
          <a:xfrm>
            <a:off x="4327081" y="2402169"/>
            <a:ext cx="1959429" cy="59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pPr>
              <a:spcBef>
                <a:spcPct val="50000"/>
              </a:spcBef>
            </a:pPr>
            <a:r>
              <a:rPr lang="en-US"/>
              <a:t>Models and data including ghg</a:t>
            </a:r>
          </a:p>
        </p:txBody>
      </p:sp>
      <p:sp>
        <p:nvSpPr>
          <p:cNvPr id="82949" name="Text Box 7"/>
          <p:cNvSpPr txBox="1">
            <a:spLocks noChangeArrowheads="1"/>
          </p:cNvSpPr>
          <p:nvPr/>
        </p:nvSpPr>
        <p:spPr bwMode="auto">
          <a:xfrm>
            <a:off x="472858" y="6090113"/>
            <a:ext cx="2468517" cy="844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104424" tIns="52212" rIns="104424" bIns="52212">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en-US"/>
              <a:t>Models and data</a:t>
            </a:r>
          </a:p>
          <a:p>
            <a:r>
              <a:rPr lang="en-US"/>
              <a:t>with solar and volcanic</a:t>
            </a:r>
          </a:p>
          <a:p>
            <a:r>
              <a:rPr lang="en-US"/>
              <a:t>forcings only</a:t>
            </a:r>
          </a:p>
        </p:txBody>
      </p:sp>
    </p:spTree>
    <p:extLst>
      <p:ext uri="{BB962C8B-B14F-4D97-AF65-F5344CB8AC3E}">
        <p14:creationId xmlns:p14="http://schemas.microsoft.com/office/powerpoint/2010/main" val="96388885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9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29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9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p:bldP spid="8294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10" y="2743201"/>
            <a:ext cx="5832475" cy="1293812"/>
          </a:xfrm>
        </p:spPr>
        <p:txBody>
          <a:bodyPr/>
          <a:lstStyle/>
          <a:p>
            <a:r>
              <a:rPr lang="en-US" dirty="0" smtClean="0"/>
              <a:t>Are there alternative explanations?</a:t>
            </a:r>
            <a:endParaRPr lang="en-US" dirty="0"/>
          </a:p>
        </p:txBody>
      </p:sp>
    </p:spTree>
    <p:extLst>
      <p:ext uri="{BB962C8B-B14F-4D97-AF65-F5344CB8AC3E}">
        <p14:creationId xmlns:p14="http://schemas.microsoft.com/office/powerpoint/2010/main" val="2162261989"/>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Solar radiation</a:t>
            </a:r>
            <a:endParaRPr lang="en-US" dirty="0"/>
          </a:p>
        </p:txBody>
      </p:sp>
      <p:pic>
        <p:nvPicPr>
          <p:cNvPr id="4" name="Content Placeholder 3" descr="Pages from DamonLaut2004-1.jpg"/>
          <p:cNvPicPr>
            <a:picLocks noGrp="1" noChangeAspect="1"/>
          </p:cNvPicPr>
          <p:nvPr>
            <p:ph idx="1"/>
          </p:nvPr>
        </p:nvPicPr>
        <p:blipFill>
          <a:blip r:embed="rId3">
            <a:extLst>
              <a:ext uri="{28A0092B-C50C-407E-A947-70E740481C1C}">
                <a14:useLocalDpi xmlns:a14="http://schemas.microsoft.com/office/drawing/2010/main" val="0"/>
              </a:ext>
            </a:extLst>
          </a:blip>
          <a:srcRect t="-2856" b="-2856"/>
          <a:stretch>
            <a:fillRect/>
          </a:stretch>
        </p:blipFill>
        <p:spPr>
          <a:xfrm>
            <a:off x="609610" y="1905001"/>
            <a:ext cx="4199859" cy="3352800"/>
          </a:xfrm>
        </p:spPr>
      </p:pic>
      <p:pic>
        <p:nvPicPr>
          <p:cNvPr id="11" name="Picture 10" descr="DamonLaut2004-1_Page_1.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2400" y="4724400"/>
            <a:ext cx="2631110" cy="2479547"/>
          </a:xfrm>
          <a:prstGeom prst="rect">
            <a:avLst/>
          </a:prstGeom>
        </p:spPr>
      </p:pic>
      <p:pic>
        <p:nvPicPr>
          <p:cNvPr id="3" name="Picture 2" descr="scl_vs_temp.gi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895783"/>
            <a:ext cx="4038600" cy="2876616"/>
          </a:xfrm>
          <a:prstGeom prst="rect">
            <a:avLst/>
          </a:prstGeom>
        </p:spPr>
      </p:pic>
    </p:spTree>
    <p:extLst>
      <p:ext uri="{BB962C8B-B14F-4D97-AF65-F5344CB8AC3E}">
        <p14:creationId xmlns:p14="http://schemas.microsoft.com/office/powerpoint/2010/main" val="259353793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Volcanic eruptions</a:t>
            </a:r>
            <a:endParaRPr lang="en-US" dirty="0"/>
          </a:p>
        </p:txBody>
      </p:sp>
      <p:sp>
        <p:nvSpPr>
          <p:cNvPr id="3" name="Content Placeholder 2"/>
          <p:cNvSpPr>
            <a:spLocks noGrp="1"/>
          </p:cNvSpPr>
          <p:nvPr>
            <p:ph idx="1"/>
          </p:nvPr>
        </p:nvSpPr>
        <p:spPr/>
        <p:txBody>
          <a:bodyPr/>
          <a:lstStyle/>
          <a:p>
            <a:r>
              <a:rPr lang="en-US" dirty="0" smtClean="0"/>
              <a:t>Do volcanic eruptions (which cool the tropospheric temperature) produce similar amounts of CO</a:t>
            </a:r>
            <a:r>
              <a:rPr lang="en-US" baseline="-25000" dirty="0" smtClean="0"/>
              <a:t>2 </a:t>
            </a:r>
            <a:r>
              <a:rPr lang="en-US" dirty="0" smtClean="0"/>
              <a:t>to the anthropogenic contribution?</a:t>
            </a:r>
          </a:p>
          <a:p>
            <a:r>
              <a:rPr lang="en-US" dirty="0" smtClean="0"/>
              <a:t>2010 emissions ≈ </a:t>
            </a:r>
            <a:r>
              <a:rPr lang="en-US" dirty="0"/>
              <a:t>	</a:t>
            </a:r>
            <a:r>
              <a:rPr lang="en-US" dirty="0" smtClean="0"/>
              <a:t>			8 supereruptions</a:t>
            </a:r>
          </a:p>
          <a:p>
            <a:r>
              <a:rPr lang="en-US" dirty="0" smtClean="0"/>
              <a:t>Last supereruption in Indonesia 74 </a:t>
            </a:r>
            <a:r>
              <a:rPr lang="en-US" dirty="0" err="1" smtClean="0"/>
              <a:t>Kyr</a:t>
            </a:r>
            <a:r>
              <a:rPr lang="en-US" dirty="0" smtClean="0"/>
              <a:t> ago</a:t>
            </a:r>
          </a:p>
          <a:p>
            <a:r>
              <a:rPr lang="en-US" dirty="0" smtClean="0"/>
              <a:t>Previous in USA 2Myr ago</a:t>
            </a:r>
            <a:endParaRPr lang="en-US" dirty="0"/>
          </a:p>
        </p:txBody>
      </p:sp>
    </p:spTree>
    <p:extLst>
      <p:ext uri="{BB962C8B-B14F-4D97-AF65-F5344CB8AC3E}">
        <p14:creationId xmlns:p14="http://schemas.microsoft.com/office/powerpoint/2010/main" val="92321105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Cosmic radiation</a:t>
            </a:r>
            <a:endParaRPr lang="en-US" dirty="0"/>
          </a:p>
        </p:txBody>
      </p:sp>
      <p:sp>
        <p:nvSpPr>
          <p:cNvPr id="3" name="Content Placeholder 2"/>
          <p:cNvSpPr>
            <a:spLocks noGrp="1"/>
          </p:cNvSpPr>
          <p:nvPr>
            <p:ph idx="1"/>
          </p:nvPr>
        </p:nvSpPr>
        <p:spPr/>
        <p:txBody>
          <a:bodyPr/>
          <a:lstStyle/>
          <a:p>
            <a:r>
              <a:rPr lang="en-US" dirty="0" smtClean="0"/>
              <a:t>Recent experiments at CERN show that interaction between water vapor, ammonium and cosmic radiation increases cloud production.</a:t>
            </a:r>
          </a:p>
          <a:p>
            <a:r>
              <a:rPr lang="en-US" dirty="0" smtClean="0"/>
              <a:t>No change observed in rate of cosmic radiation, increase in atmospheric ammonium concentration</a:t>
            </a:r>
            <a:endParaRPr lang="en-US" dirty="0"/>
          </a:p>
        </p:txBody>
      </p:sp>
    </p:spTree>
    <p:extLst>
      <p:ext uri="{BB962C8B-B14F-4D97-AF65-F5344CB8AC3E}">
        <p14:creationId xmlns:p14="http://schemas.microsoft.com/office/powerpoint/2010/main" val="12693750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Feedbacks</a:t>
            </a:r>
            <a:endParaRPr lang="en-US" dirty="0"/>
          </a:p>
        </p:txBody>
      </p:sp>
      <p:sp>
        <p:nvSpPr>
          <p:cNvPr id="3" name="Content Placeholder 2"/>
          <p:cNvSpPr>
            <a:spLocks noGrp="1"/>
          </p:cNvSpPr>
          <p:nvPr>
            <p:ph idx="1"/>
          </p:nvPr>
        </p:nvSpPr>
        <p:spPr>
          <a:xfrm>
            <a:off x="512766" y="2244729"/>
            <a:ext cx="5832475" cy="4918072"/>
          </a:xfrm>
        </p:spPr>
        <p:txBody>
          <a:bodyPr/>
          <a:lstStyle/>
          <a:p>
            <a:r>
              <a:rPr lang="en-US" dirty="0" smtClean="0"/>
              <a:t>Positive feedbacks: e.g.</a:t>
            </a:r>
          </a:p>
          <a:p>
            <a:r>
              <a:rPr lang="en-US" dirty="0" smtClean="0"/>
              <a:t>	 ice-albedo</a:t>
            </a:r>
          </a:p>
          <a:p>
            <a:r>
              <a:rPr lang="en-US" dirty="0" smtClean="0"/>
              <a:t>Negative feedbacks: e.g.</a:t>
            </a:r>
          </a:p>
          <a:p>
            <a:pPr lvl="1"/>
            <a:r>
              <a:rPr lang="en-US" dirty="0"/>
              <a:t>i</a:t>
            </a:r>
            <a:r>
              <a:rPr lang="en-US" dirty="0" smtClean="0"/>
              <a:t>ncreased CO</a:t>
            </a:r>
            <a:r>
              <a:rPr lang="en-US" baseline="-25000" dirty="0" smtClean="0"/>
              <a:t>2</a:t>
            </a:r>
            <a:r>
              <a:rPr lang="en-US" dirty="0" smtClean="0"/>
              <a:t>, temperature and precipitation </a:t>
            </a:r>
          </a:p>
          <a:p>
            <a:pPr lvl="1"/>
            <a:r>
              <a:rPr lang="en-US" dirty="0" smtClean="0"/>
              <a:t>increases leaf area, </a:t>
            </a:r>
          </a:p>
          <a:p>
            <a:pPr lvl="1"/>
            <a:r>
              <a:rPr lang="en-US" dirty="0" smtClean="0"/>
              <a:t>hence evapotranspiration, </a:t>
            </a:r>
          </a:p>
          <a:p>
            <a:pPr lvl="1"/>
            <a:r>
              <a:rPr lang="en-US" dirty="0" smtClean="0"/>
              <a:t>leading to cooling</a:t>
            </a:r>
          </a:p>
          <a:p>
            <a:r>
              <a:rPr lang="en-US" dirty="0" smtClean="0"/>
              <a:t>Model calculations indicate effect 3–7 times smaller than warming</a:t>
            </a:r>
            <a:endParaRPr lang="en-US" dirty="0"/>
          </a:p>
        </p:txBody>
      </p:sp>
    </p:spTree>
    <p:extLst>
      <p:ext uri="{BB962C8B-B14F-4D97-AF65-F5344CB8AC3E}">
        <p14:creationId xmlns:p14="http://schemas.microsoft.com/office/powerpoint/2010/main" val="6187600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971800"/>
            <a:ext cx="5832475" cy="1293812"/>
          </a:xfrm>
        </p:spPr>
        <p:txBody>
          <a:bodyPr/>
          <a:lstStyle/>
          <a:p>
            <a:r>
              <a:rPr lang="en-US" dirty="0" smtClean="0"/>
              <a:t>Data issues and </a:t>
            </a:r>
            <a:br>
              <a:rPr lang="en-US" dirty="0" smtClean="0"/>
            </a:br>
            <a:r>
              <a:rPr lang="en-US" dirty="0" smtClean="0"/>
              <a:t>global temperature</a:t>
            </a:r>
            <a:endParaRPr lang="en-US" dirty="0"/>
          </a:p>
        </p:txBody>
      </p:sp>
    </p:spTree>
    <p:extLst>
      <p:ext uri="{BB962C8B-B14F-4D97-AF65-F5344CB8AC3E}">
        <p14:creationId xmlns:p14="http://schemas.microsoft.com/office/powerpoint/2010/main" val="227575479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Daily temperature</a:t>
            </a:r>
            <a:endParaRPr lang="en-US" dirty="0"/>
          </a:p>
        </p:txBody>
      </p:sp>
      <p:sp>
        <p:nvSpPr>
          <p:cNvPr id="8" name="Rectangle 7"/>
          <p:cNvSpPr/>
          <p:nvPr/>
        </p:nvSpPr>
        <p:spPr bwMode="auto">
          <a:xfrm>
            <a:off x="3200400" y="2362200"/>
            <a:ext cx="762000" cy="2286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10" name="Content Placeholder 9" descr="minuteJA.pdf"/>
          <p:cNvPicPr>
            <a:picLocks noGrp="1" noChangeAspect="1"/>
          </p:cNvPicPr>
          <p:nvPr>
            <p:ph idx="1"/>
          </p:nvPr>
        </p:nvPicPr>
        <p:blipFill>
          <a:blip r:embed="rId2"/>
          <a:srcRect t="-7311" b="-7311"/>
          <a:stretch>
            <a:fillRect/>
          </a:stretch>
        </p:blipFill>
        <p:spPr>
          <a:xfrm>
            <a:off x="0" y="2297574"/>
            <a:ext cx="6858000" cy="5474827"/>
          </a:xfrm>
        </p:spPr>
      </p:pic>
      <p:cxnSp>
        <p:nvCxnSpPr>
          <p:cNvPr id="13" name="Straight Arrow Connector 12"/>
          <p:cNvCxnSpPr/>
          <p:nvPr/>
        </p:nvCxnSpPr>
        <p:spPr bwMode="auto">
          <a:xfrm rot="5400000">
            <a:off x="4000500" y="2552700"/>
            <a:ext cx="609600" cy="228600"/>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sp>
        <p:nvSpPr>
          <p:cNvPr id="14" name="TextBox 13"/>
          <p:cNvSpPr txBox="1"/>
          <p:nvPr/>
        </p:nvSpPr>
        <p:spPr>
          <a:xfrm>
            <a:off x="4038610" y="1905007"/>
            <a:ext cx="766105" cy="461665"/>
          </a:xfrm>
          <a:prstGeom prst="rect">
            <a:avLst/>
          </a:prstGeom>
          <a:noFill/>
        </p:spPr>
        <p:txBody>
          <a:bodyPr wrap="none" rtlCol="0">
            <a:spAutoFit/>
          </a:bodyPr>
          <a:lstStyle/>
          <a:p>
            <a:r>
              <a:rPr lang="en-US" dirty="0" smtClean="0">
                <a:solidFill>
                  <a:srgbClr val="FF0000"/>
                </a:solidFill>
                <a:latin typeface="Helvetica"/>
              </a:rPr>
              <a:t>max</a:t>
            </a:r>
            <a:endParaRPr lang="en-US" dirty="0">
              <a:solidFill>
                <a:srgbClr val="FF0000"/>
              </a:solidFill>
              <a:latin typeface="Helvetica"/>
            </a:endParaRPr>
          </a:p>
        </p:txBody>
      </p:sp>
      <p:cxnSp>
        <p:nvCxnSpPr>
          <p:cNvPr id="16" name="Straight Arrow Connector 15"/>
          <p:cNvCxnSpPr/>
          <p:nvPr/>
        </p:nvCxnSpPr>
        <p:spPr bwMode="auto">
          <a:xfrm rot="5400000" flipH="1" flipV="1">
            <a:off x="2438400" y="6477000"/>
            <a:ext cx="685800" cy="76200"/>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sp>
        <p:nvSpPr>
          <p:cNvPr id="17" name="TextBox 16"/>
          <p:cNvSpPr txBox="1"/>
          <p:nvPr/>
        </p:nvSpPr>
        <p:spPr>
          <a:xfrm>
            <a:off x="2438410" y="6858007"/>
            <a:ext cx="680595" cy="461665"/>
          </a:xfrm>
          <a:prstGeom prst="rect">
            <a:avLst/>
          </a:prstGeom>
          <a:noFill/>
        </p:spPr>
        <p:txBody>
          <a:bodyPr wrap="none" rtlCol="0">
            <a:spAutoFit/>
          </a:bodyPr>
          <a:lstStyle/>
          <a:p>
            <a:r>
              <a:rPr lang="en-US" dirty="0" smtClean="0">
                <a:solidFill>
                  <a:srgbClr val="FF0000"/>
                </a:solidFill>
                <a:latin typeface="Helvetica"/>
              </a:rPr>
              <a:t>min</a:t>
            </a:r>
            <a:endParaRPr lang="en-US" dirty="0">
              <a:solidFill>
                <a:srgbClr val="FF0000"/>
              </a:solidFill>
              <a:latin typeface="Helvetica"/>
            </a:endParaRPr>
          </a:p>
        </p:txBody>
      </p:sp>
      <p:cxnSp>
        <p:nvCxnSpPr>
          <p:cNvPr id="19" name="Straight Arrow Connector 18"/>
          <p:cNvCxnSpPr/>
          <p:nvPr/>
        </p:nvCxnSpPr>
        <p:spPr bwMode="auto">
          <a:xfrm rot="5400000" flipH="1" flipV="1">
            <a:off x="1905005" y="6096000"/>
            <a:ext cx="990600" cy="838200"/>
          </a:xfrm>
          <a:prstGeom prst="straightConnector1">
            <a:avLst/>
          </a:prstGeom>
          <a:solidFill>
            <a:schemeClr val="accent1"/>
          </a:solidFill>
          <a:ln w="9525" cap="flat" cmpd="sng" algn="ctr">
            <a:solidFill>
              <a:srgbClr val="008000"/>
            </a:solidFill>
            <a:prstDash val="solid"/>
            <a:round/>
            <a:headEnd type="none" w="med" len="med"/>
            <a:tailEnd type="arrow"/>
          </a:ln>
          <a:effectLst/>
        </p:spPr>
      </p:cxnSp>
      <p:sp>
        <p:nvSpPr>
          <p:cNvPr id="20" name="TextBox 19"/>
          <p:cNvSpPr txBox="1"/>
          <p:nvPr/>
        </p:nvSpPr>
        <p:spPr>
          <a:xfrm>
            <a:off x="1371606" y="7010407"/>
            <a:ext cx="954859" cy="461665"/>
          </a:xfrm>
          <a:prstGeom prst="rect">
            <a:avLst/>
          </a:prstGeom>
          <a:noFill/>
        </p:spPr>
        <p:txBody>
          <a:bodyPr wrap="none" rtlCol="0">
            <a:spAutoFit/>
          </a:bodyPr>
          <a:lstStyle/>
          <a:p>
            <a:r>
              <a:rPr lang="en-US" dirty="0" smtClean="0">
                <a:solidFill>
                  <a:srgbClr val="008000"/>
                </a:solidFill>
                <a:latin typeface="Helvetica"/>
              </a:rPr>
              <a:t>08:00</a:t>
            </a:r>
            <a:endParaRPr lang="en-US" dirty="0">
              <a:solidFill>
                <a:srgbClr val="008000"/>
              </a:solidFill>
              <a:latin typeface="Helvetica"/>
            </a:endParaRPr>
          </a:p>
        </p:txBody>
      </p:sp>
      <p:cxnSp>
        <p:nvCxnSpPr>
          <p:cNvPr id="22" name="Straight Arrow Connector 21"/>
          <p:cNvCxnSpPr/>
          <p:nvPr/>
        </p:nvCxnSpPr>
        <p:spPr bwMode="auto">
          <a:xfrm rot="16200000" flipV="1">
            <a:off x="2514600" y="5029200"/>
            <a:ext cx="3276600" cy="381000"/>
          </a:xfrm>
          <a:prstGeom prst="straightConnector1">
            <a:avLst/>
          </a:prstGeom>
          <a:solidFill>
            <a:schemeClr val="accent1"/>
          </a:solidFill>
          <a:ln w="9525" cap="flat" cmpd="sng" algn="ctr">
            <a:solidFill>
              <a:srgbClr val="008000"/>
            </a:solidFill>
            <a:prstDash val="solid"/>
            <a:round/>
            <a:headEnd type="none" w="med" len="med"/>
            <a:tailEnd type="arrow"/>
          </a:ln>
          <a:effectLst/>
        </p:spPr>
      </p:cxnSp>
      <p:sp>
        <p:nvSpPr>
          <p:cNvPr id="26" name="TextBox 25"/>
          <p:cNvSpPr txBox="1"/>
          <p:nvPr/>
        </p:nvSpPr>
        <p:spPr>
          <a:xfrm>
            <a:off x="4038610" y="6934206"/>
            <a:ext cx="954859" cy="461665"/>
          </a:xfrm>
          <a:prstGeom prst="rect">
            <a:avLst/>
          </a:prstGeom>
          <a:noFill/>
        </p:spPr>
        <p:txBody>
          <a:bodyPr wrap="none" rtlCol="0">
            <a:spAutoFit/>
          </a:bodyPr>
          <a:lstStyle/>
          <a:p>
            <a:r>
              <a:rPr lang="en-US" dirty="0" smtClean="0">
                <a:solidFill>
                  <a:srgbClr val="008000"/>
                </a:solidFill>
                <a:latin typeface="Helvetica"/>
              </a:rPr>
              <a:t>14:00</a:t>
            </a:r>
            <a:endParaRPr lang="en-US" dirty="0">
              <a:solidFill>
                <a:srgbClr val="008000"/>
              </a:solidFill>
              <a:latin typeface="Helvetica"/>
            </a:endParaRPr>
          </a:p>
        </p:txBody>
      </p:sp>
      <p:cxnSp>
        <p:nvCxnSpPr>
          <p:cNvPr id="28" name="Straight Arrow Connector 27"/>
          <p:cNvCxnSpPr/>
          <p:nvPr/>
        </p:nvCxnSpPr>
        <p:spPr bwMode="auto">
          <a:xfrm rot="5400000">
            <a:off x="4953005" y="4191000"/>
            <a:ext cx="1219200" cy="1588"/>
          </a:xfrm>
          <a:prstGeom prst="straightConnector1">
            <a:avLst/>
          </a:prstGeom>
          <a:solidFill>
            <a:schemeClr val="accent1"/>
          </a:solidFill>
          <a:ln w="9525" cap="flat" cmpd="sng" algn="ctr">
            <a:solidFill>
              <a:srgbClr val="008000"/>
            </a:solidFill>
            <a:prstDash val="solid"/>
            <a:round/>
            <a:headEnd type="none" w="med" len="med"/>
            <a:tailEnd type="arrow"/>
          </a:ln>
          <a:effectLst/>
        </p:spPr>
      </p:cxnSp>
      <p:sp>
        <p:nvSpPr>
          <p:cNvPr id="29" name="TextBox 28"/>
          <p:cNvSpPr txBox="1"/>
          <p:nvPr/>
        </p:nvSpPr>
        <p:spPr>
          <a:xfrm>
            <a:off x="5105410" y="3200407"/>
            <a:ext cx="954859" cy="461665"/>
          </a:xfrm>
          <a:prstGeom prst="rect">
            <a:avLst/>
          </a:prstGeom>
          <a:noFill/>
        </p:spPr>
        <p:txBody>
          <a:bodyPr wrap="none" rtlCol="0">
            <a:spAutoFit/>
          </a:bodyPr>
          <a:lstStyle/>
          <a:p>
            <a:r>
              <a:rPr lang="en-US" dirty="0" smtClean="0">
                <a:solidFill>
                  <a:srgbClr val="008000"/>
                </a:solidFill>
                <a:latin typeface="Helvetica"/>
              </a:rPr>
              <a:t>21:00</a:t>
            </a:r>
            <a:endParaRPr lang="en-US" dirty="0">
              <a:solidFill>
                <a:srgbClr val="008000"/>
              </a:solidFill>
              <a:latin typeface="Helvetica"/>
            </a:endParaRPr>
          </a:p>
        </p:txBody>
      </p:sp>
    </p:spTree>
    <p:extLst>
      <p:ext uri="{BB962C8B-B14F-4D97-AF65-F5344CB8AC3E}">
        <p14:creationId xmlns:p14="http://schemas.microsoft.com/office/powerpoint/2010/main" val="38415494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p:bldP spid="26" grpId="0"/>
      <p:bldP spid="2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Historical Climatology Network</a:t>
            </a:r>
            <a:endParaRPr lang="en-US" dirty="0"/>
          </a:p>
        </p:txBody>
      </p:sp>
      <p:pic>
        <p:nvPicPr>
          <p:cNvPr id="5" name="Content Placeholder 4" descr="GHCN_Temperature_Stations.png"/>
          <p:cNvPicPr>
            <a:picLocks noGrp="1" noChangeAspect="1"/>
          </p:cNvPicPr>
          <p:nvPr>
            <p:ph idx="1"/>
          </p:nvPr>
        </p:nvPicPr>
        <p:blipFill rotWithShape="1">
          <a:blip r:embed="rId3">
            <a:extLst>
              <a:ext uri="{28A0092B-C50C-407E-A947-70E740481C1C}">
                <a14:useLocalDpi xmlns:a14="http://schemas.microsoft.com/office/drawing/2010/main" val="0"/>
              </a:ext>
            </a:extLst>
          </a:blip>
          <a:srcRect l="1313" r="1313"/>
          <a:stretch/>
        </p:blipFill>
        <p:spPr>
          <a:xfrm>
            <a:off x="1" y="2244728"/>
            <a:ext cx="6858000" cy="4656138"/>
          </a:xfrm>
        </p:spPr>
      </p:pic>
    </p:spTree>
    <p:extLst>
      <p:ext uri="{BB962C8B-B14F-4D97-AF65-F5344CB8AC3E}">
        <p14:creationId xmlns:p14="http://schemas.microsoft.com/office/powerpoint/2010/main" val="282929017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issues</a:t>
            </a:r>
            <a:endParaRPr lang="en-US" dirty="0"/>
          </a:p>
        </p:txBody>
      </p:sp>
      <p:sp>
        <p:nvSpPr>
          <p:cNvPr id="3" name="Content Placeholder 2"/>
          <p:cNvSpPr>
            <a:spLocks noGrp="1"/>
          </p:cNvSpPr>
          <p:nvPr>
            <p:ph idx="1"/>
          </p:nvPr>
        </p:nvSpPr>
        <p:spPr/>
        <p:txBody>
          <a:bodyPr/>
          <a:lstStyle/>
          <a:p>
            <a:r>
              <a:rPr lang="en-US" dirty="0" smtClean="0"/>
              <a:t>Homogenization / instrumentation </a:t>
            </a:r>
          </a:p>
          <a:p>
            <a:r>
              <a:rPr lang="en-US" dirty="0" smtClean="0"/>
              <a:t>Combination of data</a:t>
            </a:r>
          </a:p>
          <a:p>
            <a:r>
              <a:rPr lang="en-US" dirty="0" smtClean="0"/>
              <a:t>Non-digitized</a:t>
            </a:r>
          </a:p>
          <a:p>
            <a:r>
              <a:rPr lang="en-US" dirty="0" smtClean="0"/>
              <a:t>Proprietary</a:t>
            </a:r>
          </a:p>
          <a:p>
            <a:r>
              <a:rPr lang="en-US" dirty="0" smtClean="0"/>
              <a:t>Changing network</a:t>
            </a:r>
          </a:p>
          <a:p>
            <a:r>
              <a:rPr lang="en-US" dirty="0" smtClean="0"/>
              <a:t>…and I am not even talking about sea surface temperatures!</a:t>
            </a:r>
          </a:p>
          <a:p>
            <a:endParaRPr lang="en-US" dirty="0"/>
          </a:p>
        </p:txBody>
      </p:sp>
    </p:spTree>
    <p:extLst>
      <p:ext uri="{BB962C8B-B14F-4D97-AF65-F5344CB8AC3E}">
        <p14:creationId xmlns:p14="http://schemas.microsoft.com/office/powerpoint/2010/main" val="369160158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Gaussian Markov random field model</a:t>
            </a:r>
            <a:endParaRPr lang="en-US" dirty="0"/>
          </a:p>
        </p:txBody>
      </p:sp>
      <p:sp>
        <p:nvSpPr>
          <p:cNvPr id="3" name="Content Placeholder 2"/>
          <p:cNvSpPr>
            <a:spLocks noGrp="1"/>
          </p:cNvSpPr>
          <p:nvPr>
            <p:ph idx="1"/>
          </p:nvPr>
        </p:nvSpPr>
        <p:spPr>
          <a:xfrm>
            <a:off x="533400" y="2209801"/>
            <a:ext cx="5811838" cy="4656138"/>
          </a:xfrm>
        </p:spPr>
        <p:txBody>
          <a:bodyPr/>
          <a:lstStyle/>
          <a:p>
            <a:pPr>
              <a:spcBef>
                <a:spcPts val="600"/>
              </a:spcBef>
              <a:spcAft>
                <a:spcPts val="600"/>
              </a:spcAft>
            </a:pPr>
            <a:r>
              <a:rPr lang="en-US" sz="2400" dirty="0" smtClean="0"/>
              <a:t>			Model parameters</a:t>
            </a:r>
          </a:p>
          <a:p>
            <a:pPr>
              <a:spcBef>
                <a:spcPts val="600"/>
              </a:spcBef>
              <a:spcAft>
                <a:spcPts val="600"/>
              </a:spcAft>
            </a:pPr>
            <a:r>
              <a:rPr lang="en-US" sz="2400" dirty="0" smtClean="0"/>
              <a:t>			Spatial climate</a:t>
            </a:r>
          </a:p>
          <a:p>
            <a:pPr>
              <a:spcBef>
                <a:spcPts val="600"/>
              </a:spcBef>
              <a:spcAft>
                <a:spcPts val="600"/>
              </a:spcAft>
            </a:pPr>
            <a:r>
              <a:rPr lang="en-US" sz="2400" dirty="0" smtClean="0"/>
              <a:t>			Weather anomalies</a:t>
            </a:r>
          </a:p>
          <a:p>
            <a:pPr>
              <a:spcBef>
                <a:spcPts val="600"/>
              </a:spcBef>
              <a:spcAft>
                <a:spcPts val="600"/>
              </a:spcAft>
            </a:pPr>
            <a:r>
              <a:rPr lang="en-US" sz="2400" dirty="0" smtClean="0"/>
              <a:t>			Temperature data</a:t>
            </a:r>
          </a:p>
          <a:p>
            <a:pPr>
              <a:spcBef>
                <a:spcPts val="600"/>
              </a:spcBef>
              <a:spcAft>
                <a:spcPts val="600"/>
              </a:spcAft>
            </a:pPr>
            <a:endParaRPr lang="en-US" sz="2400" dirty="0"/>
          </a:p>
          <a:p>
            <a:pPr>
              <a:spcBef>
                <a:spcPts val="600"/>
              </a:spcBef>
              <a:spcAft>
                <a:spcPts val="600"/>
              </a:spcAft>
            </a:pPr>
            <a:r>
              <a:rPr lang="en-US" sz="2400" dirty="0"/>
              <a:t>Data model: temperature  </a:t>
            </a:r>
            <a:r>
              <a:rPr lang="en-US" sz="2400" dirty="0" smtClean="0"/>
              <a:t>~ elevation </a:t>
            </a:r>
            <a:r>
              <a:rPr lang="en-US" sz="2400" dirty="0"/>
              <a:t>+ climate + anomaly</a:t>
            </a:r>
          </a:p>
        </p:txBody>
      </p:sp>
      <p:graphicFrame>
        <p:nvGraphicFramePr>
          <p:cNvPr id="4" name="Object 3"/>
          <p:cNvGraphicFramePr>
            <a:graphicFrameLocks noChangeAspect="1"/>
          </p:cNvGraphicFramePr>
          <p:nvPr>
            <p:extLst>
              <p:ext uri="{D42A27DB-BD31-4B8C-83A1-F6EECF244321}">
                <p14:modId xmlns:p14="http://schemas.microsoft.com/office/powerpoint/2010/main" val="2409232293"/>
              </p:ext>
            </p:extLst>
          </p:nvPr>
        </p:nvGraphicFramePr>
        <p:xfrm>
          <a:off x="609600" y="2286000"/>
          <a:ext cx="2235200" cy="1917700"/>
        </p:xfrm>
        <a:graphic>
          <a:graphicData uri="http://schemas.openxmlformats.org/presentationml/2006/ole">
            <mc:AlternateContent xmlns:mc="http://schemas.openxmlformats.org/markup-compatibility/2006">
              <mc:Choice xmlns:v="urn:schemas-microsoft-com:vml" Requires="v">
                <p:oleObj spid="_x0000_s17415" name="Equation" r:id="rId3" imgW="2235200" imgH="1905000" progId="Equation.DSMT4">
                  <p:embed/>
                </p:oleObj>
              </mc:Choice>
              <mc:Fallback>
                <p:oleObj name="Equation" r:id="rId3" imgW="2235200" imgH="1905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286000"/>
                        <a:ext cx="2235200" cy="191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78176396"/>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Trend estimate</a:t>
            </a:r>
            <a:endParaRPr lang="en-US" dirty="0"/>
          </a:p>
        </p:txBody>
      </p:sp>
      <p:pic>
        <p:nvPicPr>
          <p:cNvPr id="4" name="Content Placeholder 3" descr="nptrend.pdf"/>
          <p:cNvPicPr>
            <a:picLocks noGrp="1" noChangeAspect="1"/>
          </p:cNvPicPr>
          <p:nvPr>
            <p:ph idx="1"/>
          </p:nvPr>
        </p:nvPicPr>
        <p:blipFill>
          <a:blip r:embed="rId3">
            <a:extLst>
              <a:ext uri="{28A0092B-C50C-407E-A947-70E740481C1C}">
                <a14:useLocalDpi xmlns:a14="http://schemas.microsoft.com/office/drawing/2010/main" val="0"/>
              </a:ext>
            </a:extLst>
          </a:blip>
          <a:srcRect t="3321" b="3321"/>
          <a:stretch>
            <a:fillRect/>
          </a:stretch>
        </p:blipFill>
        <p:spPr/>
      </p:pic>
    </p:spTree>
    <p:extLst>
      <p:ext uri="{BB962C8B-B14F-4D97-AF65-F5344CB8AC3E}">
        <p14:creationId xmlns:p14="http://schemas.microsoft.com/office/powerpoint/2010/main" val="162828062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with </a:t>
            </a:r>
            <a:br>
              <a:rPr lang="en-US" dirty="0" smtClean="0"/>
            </a:br>
            <a:r>
              <a:rPr lang="en-US" dirty="0" smtClean="0"/>
              <a:t>other estimates</a:t>
            </a:r>
            <a:endParaRPr lang="en-US" dirty="0"/>
          </a:p>
        </p:txBody>
      </p:sp>
      <p:pic>
        <p:nvPicPr>
          <p:cNvPr id="17" name="Picture 16" descr="CRUtemgl3.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67001"/>
            <a:ext cx="6858000" cy="4133119"/>
          </a:xfrm>
          <a:prstGeom prst="rect">
            <a:avLst/>
          </a:prstGeom>
        </p:spPr>
      </p:pic>
      <p:pic>
        <p:nvPicPr>
          <p:cNvPr id="18" name="Picture 17" descr="addNOAA.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667001"/>
            <a:ext cx="6858000" cy="4133119"/>
          </a:xfrm>
          <a:prstGeom prst="rect">
            <a:avLst/>
          </a:prstGeom>
        </p:spPr>
      </p:pic>
      <p:pic>
        <p:nvPicPr>
          <p:cNvPr id="19" name="Picture 18" descr="addNOAA&amp;GISS.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667001"/>
            <a:ext cx="6858000" cy="4133119"/>
          </a:xfrm>
          <a:prstGeom prst="rect">
            <a:avLst/>
          </a:prstGeom>
        </p:spPr>
      </p:pic>
      <p:pic>
        <p:nvPicPr>
          <p:cNvPr id="20" name="Picture 19" descr="comparison.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6" y="2667001"/>
            <a:ext cx="6858000" cy="4133119"/>
          </a:xfrm>
          <a:prstGeom prst="rect">
            <a:avLst/>
          </a:prstGeom>
        </p:spPr>
      </p:pic>
      <p:pic>
        <p:nvPicPr>
          <p:cNvPr id="21" name="Picture 20" descr="addci.pd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667001"/>
            <a:ext cx="6858000" cy="4133119"/>
          </a:xfrm>
          <a:prstGeom prst="rect">
            <a:avLst/>
          </a:prstGeom>
        </p:spPr>
      </p:pic>
      <p:pic>
        <p:nvPicPr>
          <p:cNvPr id="22" name="Picture 21" descr="addbase.pdf"/>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2667001"/>
            <a:ext cx="6858000" cy="4133119"/>
          </a:xfrm>
          <a:prstGeom prst="rect">
            <a:avLst/>
          </a:prstGeom>
        </p:spPr>
      </p:pic>
    </p:spTree>
    <p:extLst>
      <p:ext uri="{BB962C8B-B14F-4D97-AF65-F5344CB8AC3E}">
        <p14:creationId xmlns:p14="http://schemas.microsoft.com/office/powerpoint/2010/main" val="401313261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Adjusted </a:t>
            </a:r>
            <a:r>
              <a:rPr lang="en-US" dirty="0" err="1" smtClean="0"/>
              <a:t>vs</a:t>
            </a:r>
            <a:r>
              <a:rPr lang="en-US" dirty="0" smtClean="0"/>
              <a:t> unadjusted</a:t>
            </a:r>
            <a:endParaRPr lang="en-US" dirty="0"/>
          </a:p>
        </p:txBody>
      </p:sp>
      <p:pic>
        <p:nvPicPr>
          <p:cNvPr id="4" name="Content Placeholder 3" descr="adjunadj.pdf"/>
          <p:cNvPicPr>
            <a:picLocks noGrp="1" noChangeAspect="1"/>
          </p:cNvPicPr>
          <p:nvPr>
            <p:ph idx="1"/>
          </p:nvPr>
        </p:nvPicPr>
        <p:blipFill rotWithShape="1">
          <a:blip r:embed="rId2">
            <a:extLst>
              <a:ext uri="{28A0092B-C50C-407E-A947-70E740481C1C}">
                <a14:useLocalDpi xmlns:a14="http://schemas.microsoft.com/office/drawing/2010/main" val="0"/>
              </a:ext>
            </a:extLst>
          </a:blip>
          <a:srcRect l="173" r="-1778"/>
          <a:stretch/>
        </p:blipFill>
        <p:spPr>
          <a:xfrm>
            <a:off x="0" y="1371601"/>
            <a:ext cx="6858000" cy="3544697"/>
          </a:xfrm>
        </p:spPr>
      </p:pic>
      <p:pic>
        <p:nvPicPr>
          <p:cNvPr id="5" name="Picture 4" descr="adjvsunadj.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7332" y="4419601"/>
            <a:ext cx="3108325" cy="3352800"/>
          </a:xfrm>
          <a:prstGeom prst="rect">
            <a:avLst/>
          </a:prstGeom>
        </p:spPr>
      </p:pic>
    </p:spTree>
    <p:extLst>
      <p:ext uri="{BB962C8B-B14F-4D97-AF65-F5344CB8AC3E}">
        <p14:creationId xmlns:p14="http://schemas.microsoft.com/office/powerpoint/2010/main" val="3867754713"/>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10" y="2819403"/>
            <a:ext cx="5832475" cy="1293812"/>
          </a:xfrm>
        </p:spPr>
        <p:txBody>
          <a:bodyPr/>
          <a:lstStyle/>
          <a:p>
            <a:r>
              <a:rPr lang="en-US" dirty="0" smtClean="0"/>
              <a:t>Model assessment</a:t>
            </a:r>
            <a:endParaRPr lang="en-US" dirty="0"/>
          </a:p>
        </p:txBody>
      </p:sp>
    </p:spTree>
    <p:extLst>
      <p:ext uri="{BB962C8B-B14F-4D97-AF65-F5344CB8AC3E}">
        <p14:creationId xmlns:p14="http://schemas.microsoft.com/office/powerpoint/2010/main" val="2123319255"/>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Helvetica" charset="0"/>
                <a:ea typeface="ＭＳ Ｐゴシック" charset="0"/>
                <a:cs typeface="ＭＳ Ｐゴシック" charset="0"/>
              </a:rPr>
              <a:t>Comparing climate model output to weather data</a:t>
            </a:r>
            <a:endParaRPr lang="en-US" dirty="0"/>
          </a:p>
        </p:txBody>
      </p:sp>
      <p:sp>
        <p:nvSpPr>
          <p:cNvPr id="3" name="Content Placeholder 2"/>
          <p:cNvSpPr>
            <a:spLocks noGrp="1"/>
          </p:cNvSpPr>
          <p:nvPr>
            <p:ph idx="1"/>
          </p:nvPr>
        </p:nvSpPr>
        <p:spPr>
          <a:xfrm>
            <a:off x="533400" y="2514603"/>
            <a:ext cx="5832475" cy="4656138"/>
          </a:xfrm>
        </p:spPr>
        <p:txBody>
          <a:bodyPr/>
          <a:lstStyle/>
          <a:p>
            <a:r>
              <a:rPr lang="en-US" dirty="0">
                <a:latin typeface="Helvetica" charset="0"/>
                <a:ea typeface="ＭＳ Ｐゴシック" charset="0"/>
                <a:cs typeface="ＭＳ Ｐゴシック" charset="0"/>
              </a:rPr>
              <a:t>Global models are very coarse</a:t>
            </a:r>
          </a:p>
          <a:p>
            <a:r>
              <a:rPr lang="en-US" dirty="0">
                <a:latin typeface="Helvetica" charset="0"/>
                <a:ea typeface="ＭＳ Ｐゴシック" charset="0"/>
                <a:cs typeface="ＭＳ Ｐゴシック" charset="0"/>
              </a:rPr>
              <a:t>Regional models are driven by boundary conditions given by global model runs</a:t>
            </a:r>
          </a:p>
          <a:p>
            <a:endParaRPr lang="en-US" dirty="0"/>
          </a:p>
        </p:txBody>
      </p:sp>
      <p:pic>
        <p:nvPicPr>
          <p:cNvPr id="5" name="ncepjan2000.mov">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 y="4392362"/>
            <a:ext cx="6823243" cy="3411622"/>
          </a:xfrm>
          <a:prstGeom prst="rect">
            <a:avLst/>
          </a:prstGeom>
        </p:spPr>
      </p:pic>
    </p:spTree>
    <p:extLst>
      <p:ext uri="{BB962C8B-B14F-4D97-AF65-F5344CB8AC3E}">
        <p14:creationId xmlns:p14="http://schemas.microsoft.com/office/powerpoint/2010/main" val="52901191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5"/>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5"/>
                                        </p:tgtEl>
                                      </p:cBhvr>
                                    </p:cmd>
                                  </p:childTnLst>
                                </p:cTn>
                              </p:par>
                            </p:childTnLst>
                          </p:cTn>
                        </p:par>
                      </p:childTnLst>
                    </p:cTn>
                  </p:par>
                </p:childTnLst>
              </p:cTn>
              <p:nextCondLst>
                <p:cond evt="onClick" delay="0">
                  <p:tgtEl>
                    <p:spTgt spid="5"/>
                  </p:tgtEl>
                </p:cond>
              </p:nextCondLst>
            </p:seq>
            <p:video>
              <p:cMediaNode vol="80000">
                <p:cTn id="20" fill="hold" display="0">
                  <p:stCondLst>
                    <p:cond delay="indefinite"/>
                  </p:stCondLst>
                </p:cTn>
                <p:tgtEl>
                  <p:spTgt spid="5"/>
                </p:tgtEl>
              </p:cMediaNode>
            </p:video>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3"/>
            <a:ext cx="5832475" cy="1293812"/>
          </a:xfrm>
        </p:spPr>
        <p:txBody>
          <a:bodyPr/>
          <a:lstStyle/>
          <a:p>
            <a:r>
              <a:rPr lang="en-US" dirty="0" smtClean="0"/>
              <a:t>Looking for signals in data and models</a:t>
            </a:r>
            <a:endParaRPr lang="en-US" dirty="0"/>
          </a:p>
        </p:txBody>
      </p:sp>
      <p:sp>
        <p:nvSpPr>
          <p:cNvPr id="3" name="Content Placeholder 2"/>
          <p:cNvSpPr>
            <a:spLocks noGrp="1"/>
          </p:cNvSpPr>
          <p:nvPr>
            <p:ph idx="1"/>
          </p:nvPr>
        </p:nvSpPr>
        <p:spPr>
          <a:xfrm>
            <a:off x="457210" y="1905002"/>
            <a:ext cx="5832475" cy="5146675"/>
          </a:xfrm>
        </p:spPr>
        <p:txBody>
          <a:bodyPr/>
          <a:lstStyle/>
          <a:p>
            <a:r>
              <a:rPr lang="en-US" dirty="0" smtClean="0"/>
              <a:t>Even a regional model describes the </a:t>
            </a:r>
            <a:r>
              <a:rPr lang="en-US" i="1" dirty="0" smtClean="0"/>
              <a:t>distribution</a:t>
            </a:r>
            <a:r>
              <a:rPr lang="en-US" dirty="0" smtClean="0"/>
              <a:t> of weather</a:t>
            </a:r>
          </a:p>
          <a:p>
            <a:r>
              <a:rPr lang="en-US" dirty="0">
                <a:latin typeface="Helvetica" charset="0"/>
                <a:ea typeface="ＭＳ Ｐゴシック" charset="0"/>
                <a:cs typeface="ＭＳ Ｐゴシック" charset="0"/>
              </a:rPr>
              <a:t>Consider a regional model driven by “actual weather</a:t>
            </a:r>
            <a:r>
              <a:rPr lang="en-US" dirty="0" smtClean="0">
                <a:latin typeface="Helvetica" charset="0"/>
                <a:ea typeface="ＭＳ Ｐゴシック" charset="0"/>
                <a:cs typeface="ＭＳ Ｐゴシック" charset="0"/>
              </a:rPr>
              <a:t>”</a:t>
            </a:r>
          </a:p>
          <a:p>
            <a:endParaRPr lang="en-US" dirty="0">
              <a:latin typeface="Helvetica" charset="0"/>
              <a:ea typeface="ＭＳ Ｐゴシック" charset="0"/>
              <a:cs typeface="ＭＳ Ｐゴシック" charset="0"/>
            </a:endParaRPr>
          </a:p>
          <a:p>
            <a:endParaRPr lang="en-US" dirty="0" smtClean="0">
              <a:latin typeface="Helvetica" charset="0"/>
              <a:ea typeface="ＭＳ Ｐゴシック" charset="0"/>
              <a:cs typeface="ＭＳ Ｐゴシック" charset="0"/>
            </a:endParaRPr>
          </a:p>
          <a:p>
            <a:endParaRPr lang="en-US" dirty="0">
              <a:latin typeface="Helvetica" charset="0"/>
              <a:ea typeface="ＭＳ Ｐゴシック" charset="0"/>
              <a:cs typeface="ＭＳ Ｐゴシック" charset="0"/>
            </a:endParaRPr>
          </a:p>
          <a:p>
            <a:endParaRPr lang="en-US" dirty="0">
              <a:latin typeface="Helvetica" charset="0"/>
              <a:ea typeface="ＭＳ Ｐゴシック" charset="0"/>
              <a:cs typeface="ＭＳ Ｐゴシック" charset="0"/>
            </a:endParaRPr>
          </a:p>
          <a:p>
            <a:endParaRPr lang="en-US" dirty="0" smtClean="0">
              <a:latin typeface="Helvetica" charset="0"/>
              <a:ea typeface="ＭＳ Ｐゴシック" charset="0"/>
              <a:cs typeface="ＭＳ Ｐゴシック" charset="0"/>
            </a:endParaRPr>
          </a:p>
          <a:p>
            <a:r>
              <a:rPr lang="en-US" dirty="0" smtClean="0">
                <a:latin typeface="Helvetica" charset="0"/>
                <a:ea typeface="ＭＳ Ｐゴシック" charset="0"/>
                <a:cs typeface="ＭＳ Ｐゴシック" charset="0"/>
              </a:rPr>
              <a:t>Annual min temp; 50 km x 50 km grid, 3 </a:t>
            </a:r>
            <a:r>
              <a:rPr lang="en-US" dirty="0" err="1" smtClean="0">
                <a:latin typeface="Helvetica" charset="0"/>
                <a:ea typeface="ＭＳ Ｐゴシック" charset="0"/>
                <a:cs typeface="ＭＳ Ｐゴシック" charset="0"/>
              </a:rPr>
              <a:t>hr</a:t>
            </a:r>
            <a:r>
              <a:rPr lang="en-US" dirty="0" smtClean="0">
                <a:latin typeface="Helvetica" charset="0"/>
                <a:ea typeface="ＭＳ Ｐゴシック" charset="0"/>
                <a:cs typeface="ＭＳ Ｐゴシック" charset="0"/>
              </a:rPr>
              <a:t> time res (SMHI</a:t>
            </a:r>
            <a:r>
              <a:rPr lang="en-US" dirty="0">
                <a:latin typeface="Helvetica" charset="0"/>
                <a:ea typeface="ＭＳ Ｐゴシック" charset="0"/>
                <a:cs typeface="ＭＳ Ｐゴシック" charset="0"/>
              </a:rPr>
              <a:t>-RCA3; ERA40)</a:t>
            </a:r>
          </a:p>
          <a:p>
            <a:endParaRPr lang="en-US" dirty="0"/>
          </a:p>
        </p:txBody>
      </p:sp>
      <p:pic>
        <p:nvPicPr>
          <p:cNvPr id="4" name="Picture 4" descr="Observatoriet-2003-05-05"/>
          <p:cNvPicPr>
            <a:picLocks noChangeAspect="1" noChangeArrowheads="1"/>
          </p:cNvPicPr>
          <p:nvPr/>
        </p:nvPicPr>
        <p:blipFill>
          <a:blip r:embed="rId3"/>
          <a:srcRect/>
          <a:stretch>
            <a:fillRect/>
          </a:stretch>
        </p:blipFill>
        <p:spPr bwMode="auto">
          <a:xfrm>
            <a:off x="2001837" y="3775079"/>
            <a:ext cx="2819400" cy="2392929"/>
          </a:xfrm>
          <a:prstGeom prst="rect">
            <a:avLst/>
          </a:prstGeom>
          <a:noFill/>
          <a:ln w="9525">
            <a:noFill/>
            <a:miter lim="800000"/>
            <a:headEnd/>
            <a:tailEnd/>
          </a:ln>
        </p:spPr>
      </p:pic>
    </p:spTree>
    <p:extLst>
      <p:ext uri="{BB962C8B-B14F-4D97-AF65-F5344CB8AC3E}">
        <p14:creationId xmlns:p14="http://schemas.microsoft.com/office/powerpoint/2010/main" val="24799927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idx="4294967295"/>
          </p:nvPr>
        </p:nvSpPr>
        <p:spPr>
          <a:xfrm>
            <a:off x="489867" y="153989"/>
            <a:ext cx="5830661" cy="1293474"/>
          </a:xfrm>
        </p:spPr>
        <p:txBody>
          <a:bodyPr/>
          <a:lstStyle/>
          <a:p>
            <a:r>
              <a:rPr lang="en-US">
                <a:latin typeface="Helvetica" charset="0"/>
                <a:ea typeface="ＭＳ Ｐゴシック" charset="0"/>
                <a:cs typeface="ＭＳ Ｐゴシック" charset="0"/>
              </a:rPr>
              <a:t>How well does the climate model reproduce data?</a:t>
            </a:r>
          </a:p>
        </p:txBody>
      </p:sp>
      <p:sp>
        <p:nvSpPr>
          <p:cNvPr id="66562" name="Rectangle 1030"/>
          <p:cNvSpPr>
            <a:spLocks noChangeArrowheads="1"/>
          </p:cNvSpPr>
          <p:nvPr/>
        </p:nvSpPr>
        <p:spPr bwMode="auto">
          <a:xfrm>
            <a:off x="1306287" y="4711946"/>
            <a:ext cx="816429" cy="18478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lIns="104418" tIns="52209" rIns="104418" bIns="52209" anchor="ctr"/>
          <a:lstStyle/>
          <a:p>
            <a:endParaRPr lang="en-US"/>
          </a:p>
        </p:txBody>
      </p:sp>
      <p:sp>
        <p:nvSpPr>
          <p:cNvPr id="66563" name="Rectangle 1031"/>
          <p:cNvSpPr>
            <a:spLocks noChangeArrowheads="1"/>
          </p:cNvSpPr>
          <p:nvPr/>
        </p:nvSpPr>
        <p:spPr bwMode="auto">
          <a:xfrm>
            <a:off x="4898571" y="4711946"/>
            <a:ext cx="734786" cy="18478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lIns="104418" tIns="52209" rIns="104418" bIns="52209" anchor="ctr"/>
          <a:lstStyle/>
          <a:p>
            <a:endParaRPr lang="en-US"/>
          </a:p>
        </p:txBody>
      </p:sp>
      <p:pic>
        <p:nvPicPr>
          <p:cNvPr id="15" name="Picture 14" descr="qqavesimobs.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51920" y="4596456"/>
            <a:ext cx="3522550" cy="317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obsminhist.pd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 y="1828580"/>
            <a:ext cx="3549764" cy="3200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simminhist.pdf"/>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352461" y="1853597"/>
            <a:ext cx="3505540" cy="316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438792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459242" y="375346"/>
            <a:ext cx="5828960" cy="1295399"/>
          </a:xfrm>
        </p:spPr>
        <p:txBody>
          <a:bodyPr/>
          <a:lstStyle/>
          <a:p>
            <a:pPr eaLnBrk="1" hangingPunct="1"/>
            <a:r>
              <a:rPr lang="sv-SE">
                <a:latin typeface="Helvetica" charset="0"/>
                <a:ea typeface="ＭＳ Ｐゴシック" charset="0"/>
                <a:cs typeface="ＭＳ Ｐゴシック" charset="0"/>
              </a:rPr>
              <a:t>Resolution in a regional climate model</a:t>
            </a:r>
          </a:p>
        </p:txBody>
      </p:sp>
      <p:sp>
        <p:nvSpPr>
          <p:cNvPr id="68610" name="Rectangle 41"/>
          <p:cNvSpPr>
            <a:spLocks noChangeArrowheads="1"/>
          </p:cNvSpPr>
          <p:nvPr/>
        </p:nvSpPr>
        <p:spPr bwMode="auto">
          <a:xfrm>
            <a:off x="1143000" y="1945994"/>
            <a:ext cx="4572000" cy="461955"/>
          </a:xfrm>
          <a:prstGeom prst="rect">
            <a:avLst/>
          </a:prstGeom>
          <a:solidFill>
            <a:schemeClr val="bg1"/>
          </a:solidFill>
          <a:ln>
            <a:noFill/>
          </a:ln>
          <a:extLst>
            <a:ext uri="{91240B29-F687-4f45-9708-019B960494DF}">
              <a14:hiddenLine xmlns:a14="http://schemas.microsoft.com/office/drawing/2010/main" w="38100">
                <a:solidFill>
                  <a:srgbClr val="000000"/>
                </a:solidFill>
                <a:round/>
                <a:headEnd/>
                <a:tailEnd/>
              </a14:hiddenLine>
            </a:ext>
          </a:extLst>
        </p:spPr>
        <p:txBody>
          <a:bodyPr lIns="104418" tIns="52209" rIns="104418" bIns="52209"/>
          <a:lstStyle/>
          <a:p>
            <a:endParaRPr lang="en-US"/>
          </a:p>
        </p:txBody>
      </p:sp>
      <p:grpSp>
        <p:nvGrpSpPr>
          <p:cNvPr id="68611" name="Group 3"/>
          <p:cNvGrpSpPr>
            <a:grpSpLocks/>
          </p:cNvGrpSpPr>
          <p:nvPr/>
        </p:nvGrpSpPr>
        <p:grpSpPr bwMode="auto">
          <a:xfrm>
            <a:off x="134372" y="3476219"/>
            <a:ext cx="1241652" cy="2775243"/>
            <a:chOff x="3321" y="912"/>
            <a:chExt cx="1815" cy="2675"/>
          </a:xfrm>
        </p:grpSpPr>
        <p:sp>
          <p:nvSpPr>
            <p:cNvPr id="68621" name="Text Box 4"/>
            <p:cNvSpPr txBox="1">
              <a:spLocks noChangeArrowheads="1"/>
            </p:cNvSpPr>
            <p:nvPr/>
          </p:nvSpPr>
          <p:spPr bwMode="auto">
            <a:xfrm>
              <a:off x="3779" y="3216"/>
              <a:ext cx="270"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endParaRPr lang="en-US" sz="1900"/>
            </a:p>
          </p:txBody>
        </p:sp>
        <p:pic>
          <p:nvPicPr>
            <p:cNvPr id="68622" name="Picture 5" descr="regional_gr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1" y="912"/>
              <a:ext cx="1815"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8612" name="Picture 6" descr="1148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7611" y="2560006"/>
            <a:ext cx="5186023" cy="42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Line 7"/>
          <p:cNvSpPr>
            <a:spLocks noChangeShapeType="1"/>
          </p:cNvSpPr>
          <p:nvPr/>
        </p:nvSpPr>
        <p:spPr bwMode="auto">
          <a:xfrm>
            <a:off x="2294509" y="6838867"/>
            <a:ext cx="3672227" cy="0"/>
          </a:xfrm>
          <a:prstGeom prst="line">
            <a:avLst/>
          </a:prstGeom>
          <a:noFill/>
          <a:ln w="635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4" name="Line 8"/>
          <p:cNvSpPr>
            <a:spLocks noChangeShapeType="1"/>
          </p:cNvSpPr>
          <p:nvPr/>
        </p:nvSpPr>
        <p:spPr bwMode="auto">
          <a:xfrm>
            <a:off x="2294509" y="2560003"/>
            <a:ext cx="3672227" cy="0"/>
          </a:xfrm>
          <a:prstGeom prst="line">
            <a:avLst/>
          </a:prstGeom>
          <a:noFill/>
          <a:ln w="635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5" name="Line 9"/>
          <p:cNvSpPr>
            <a:spLocks noChangeShapeType="1"/>
          </p:cNvSpPr>
          <p:nvPr/>
        </p:nvSpPr>
        <p:spPr bwMode="auto">
          <a:xfrm flipH="1" flipV="1">
            <a:off x="2294505" y="2560009"/>
            <a:ext cx="0" cy="4278863"/>
          </a:xfrm>
          <a:prstGeom prst="line">
            <a:avLst/>
          </a:prstGeom>
          <a:noFill/>
          <a:ln w="635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6" name="Line 10"/>
          <p:cNvSpPr>
            <a:spLocks noChangeShapeType="1"/>
          </p:cNvSpPr>
          <p:nvPr/>
        </p:nvSpPr>
        <p:spPr bwMode="auto">
          <a:xfrm flipH="1" flipV="1">
            <a:off x="5966732" y="2560009"/>
            <a:ext cx="0" cy="4278863"/>
          </a:xfrm>
          <a:prstGeom prst="line">
            <a:avLst/>
          </a:prstGeom>
          <a:noFill/>
          <a:ln w="635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7" name="Line 11"/>
          <p:cNvSpPr>
            <a:spLocks noChangeShapeType="1"/>
          </p:cNvSpPr>
          <p:nvPr/>
        </p:nvSpPr>
        <p:spPr bwMode="auto">
          <a:xfrm flipV="1">
            <a:off x="620836" y="2560004"/>
            <a:ext cx="1673679" cy="22616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8" name="Line 12"/>
          <p:cNvSpPr>
            <a:spLocks noChangeShapeType="1"/>
          </p:cNvSpPr>
          <p:nvPr/>
        </p:nvSpPr>
        <p:spPr bwMode="auto">
          <a:xfrm>
            <a:off x="620836" y="4881329"/>
            <a:ext cx="1673679" cy="19575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endParaRPr lang="en-US"/>
          </a:p>
        </p:txBody>
      </p:sp>
      <p:sp>
        <p:nvSpPr>
          <p:cNvPr id="68619" name="Text Box 13"/>
          <p:cNvSpPr txBox="1">
            <a:spLocks noChangeArrowheads="1"/>
          </p:cNvSpPr>
          <p:nvPr/>
        </p:nvSpPr>
        <p:spPr bwMode="auto">
          <a:xfrm>
            <a:off x="4971720" y="6542450"/>
            <a:ext cx="1050969" cy="246221"/>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b="1">
                <a:solidFill>
                  <a:schemeClr val="tx1"/>
                </a:solidFill>
                <a:latin typeface="Helvetica" charset="0"/>
                <a:ea typeface="ＭＳ Ｐゴシック" charset="0"/>
                <a:cs typeface="ＭＳ Ｐゴシック" charset="0"/>
              </a:defRPr>
            </a:lvl1pPr>
            <a:lvl2pPr marL="742950" indent="-285750">
              <a:defRPr sz="1600" b="1">
                <a:solidFill>
                  <a:schemeClr val="tx1"/>
                </a:solidFill>
                <a:latin typeface="Helvetica" charset="0"/>
                <a:ea typeface="ＭＳ Ｐゴシック" charset="0"/>
              </a:defRPr>
            </a:lvl2pPr>
            <a:lvl3pPr marL="1143000" indent="-228600">
              <a:defRPr sz="1600" b="1">
                <a:solidFill>
                  <a:schemeClr val="tx1"/>
                </a:solidFill>
                <a:latin typeface="Helvetica" charset="0"/>
                <a:ea typeface="ＭＳ Ｐゴシック" charset="0"/>
              </a:defRPr>
            </a:lvl3pPr>
            <a:lvl4pPr marL="1600200" indent="-228600">
              <a:defRPr sz="1600" b="1">
                <a:solidFill>
                  <a:schemeClr val="tx1"/>
                </a:solidFill>
                <a:latin typeface="Helvetica" charset="0"/>
                <a:ea typeface="ＭＳ Ｐゴシック" charset="0"/>
              </a:defRPr>
            </a:lvl4pPr>
            <a:lvl5pPr marL="2057400" indent="-228600">
              <a:defRPr sz="1600" b="1">
                <a:solidFill>
                  <a:schemeClr val="tx1"/>
                </a:solidFill>
                <a:latin typeface="Helvetica" charset="0"/>
                <a:ea typeface="ＭＳ Ｐゴシック" charset="0"/>
              </a:defRPr>
            </a:lvl5pPr>
            <a:lvl6pPr marL="2514600" indent="-228600" eaLnBrk="0" fontAlgn="base" hangingPunct="0">
              <a:spcBef>
                <a:spcPct val="0"/>
              </a:spcBef>
              <a:spcAft>
                <a:spcPct val="0"/>
              </a:spcAft>
              <a:defRPr sz="1600" b="1">
                <a:solidFill>
                  <a:schemeClr val="tx1"/>
                </a:solidFill>
                <a:latin typeface="Helvetica" charset="0"/>
                <a:ea typeface="ＭＳ Ｐゴシック" charset="0"/>
              </a:defRPr>
            </a:lvl6pPr>
            <a:lvl7pPr marL="2971800" indent="-228600" eaLnBrk="0" fontAlgn="base" hangingPunct="0">
              <a:spcBef>
                <a:spcPct val="0"/>
              </a:spcBef>
              <a:spcAft>
                <a:spcPct val="0"/>
              </a:spcAft>
              <a:defRPr sz="1600" b="1">
                <a:solidFill>
                  <a:schemeClr val="tx1"/>
                </a:solidFill>
                <a:latin typeface="Helvetica" charset="0"/>
                <a:ea typeface="ＭＳ Ｐゴシック" charset="0"/>
              </a:defRPr>
            </a:lvl7pPr>
            <a:lvl8pPr marL="3429000" indent="-228600" eaLnBrk="0" fontAlgn="base" hangingPunct="0">
              <a:spcBef>
                <a:spcPct val="0"/>
              </a:spcBef>
              <a:spcAft>
                <a:spcPct val="0"/>
              </a:spcAft>
              <a:defRPr sz="1600" b="1">
                <a:solidFill>
                  <a:schemeClr val="tx1"/>
                </a:solidFill>
                <a:latin typeface="Helvetica" charset="0"/>
                <a:ea typeface="ＭＳ Ｐゴシック" charset="0"/>
              </a:defRPr>
            </a:lvl8pPr>
            <a:lvl9pPr marL="3886200" indent="-228600" eaLnBrk="0" fontAlgn="base" hangingPunct="0">
              <a:spcBef>
                <a:spcPct val="0"/>
              </a:spcBef>
              <a:spcAft>
                <a:spcPct val="0"/>
              </a:spcAft>
              <a:defRPr sz="1600" b="1">
                <a:solidFill>
                  <a:schemeClr val="tx1"/>
                </a:solidFill>
                <a:latin typeface="Helvetica" charset="0"/>
                <a:ea typeface="ＭＳ Ｐゴシック" charset="0"/>
              </a:defRPr>
            </a:lvl9pPr>
          </a:lstStyle>
          <a:p>
            <a:r>
              <a:rPr lang="sv-SE">
                <a:solidFill>
                  <a:srgbClr val="336699"/>
                </a:solidFill>
              </a:rPr>
              <a:t>50 x 50 km</a:t>
            </a:r>
          </a:p>
        </p:txBody>
      </p:sp>
    </p:spTree>
    <p:extLst>
      <p:ext uri="{BB962C8B-B14F-4D97-AF65-F5344CB8AC3E}">
        <p14:creationId xmlns:p14="http://schemas.microsoft.com/office/powerpoint/2010/main" val="740316210"/>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p:txBody>
          <a:bodyPr/>
          <a:lstStyle/>
          <a:p>
            <a:r>
              <a:rPr lang="en-US">
                <a:latin typeface="Helvetica" charset="0"/>
                <a:ea typeface="ＭＳ Ｐゴシック" charset="0"/>
                <a:cs typeface="ＭＳ Ｐゴシック" charset="0"/>
              </a:rPr>
              <a:t>Model problem?</a:t>
            </a:r>
          </a:p>
        </p:txBody>
      </p:sp>
      <p:sp>
        <p:nvSpPr>
          <p:cNvPr id="3" name="Content Placeholder 2"/>
          <p:cNvSpPr>
            <a:spLocks noGrp="1"/>
          </p:cNvSpPr>
          <p:nvPr>
            <p:ph idx="1"/>
          </p:nvPr>
        </p:nvSpPr>
        <p:spPr>
          <a:xfrm>
            <a:off x="511972" y="2244339"/>
            <a:ext cx="5834063" cy="5146953"/>
          </a:xfrm>
        </p:spPr>
        <p:txBody>
          <a:bodyPr/>
          <a:lstStyle/>
          <a:p>
            <a:r>
              <a:rPr lang="en-US" dirty="0" smtClean="0">
                <a:latin typeface="Helvetica" charset="0"/>
                <a:ea typeface="ＭＳ Ｐゴシック" charset="0"/>
                <a:cs typeface="ＭＳ Ｐゴシック" charset="0"/>
              </a:rPr>
              <a:t>Clouds?</a:t>
            </a:r>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Mean annual temperature about 1.7°C higher in model than Stockholm series</a:t>
            </a:r>
          </a:p>
          <a:p>
            <a:r>
              <a:rPr lang="en-US" dirty="0">
                <a:latin typeface="Helvetica" charset="0"/>
                <a:ea typeface="ＭＳ Ｐゴシック" charset="0"/>
                <a:cs typeface="ＭＳ Ｐゴシック" charset="0"/>
              </a:rPr>
              <a:t>Should look at the part of simulation that </a:t>
            </a:r>
            <a:r>
              <a:rPr lang="en-US" dirty="0" smtClean="0">
                <a:latin typeface="Helvetica" charset="0"/>
                <a:ea typeface="ＭＳ Ｐゴシック" charset="0"/>
                <a:cs typeface="ＭＳ Ｐゴシック" charset="0"/>
              </a:rPr>
              <a:t>predicts forested area?</a:t>
            </a:r>
            <a:endParaRPr lang="en-US" dirty="0">
              <a:latin typeface="Helvetica" charset="0"/>
              <a:ea typeface="ＭＳ Ｐゴシック" charset="0"/>
              <a:cs typeface="ＭＳ Ｐゴシック" charset="0"/>
            </a:endParaRPr>
          </a:p>
          <a:p>
            <a:r>
              <a:rPr lang="en-US" dirty="0">
                <a:latin typeface="Helvetica" charset="0"/>
                <a:ea typeface="ＭＳ Ｐゴシック" charset="0"/>
                <a:cs typeface="ＭＳ Ｐゴシック" charset="0"/>
              </a:rPr>
              <a:t>Use more regional series to estimate distribution?</a:t>
            </a:r>
          </a:p>
        </p:txBody>
      </p:sp>
    </p:spTree>
    <p:extLst>
      <p:ext uri="{BB962C8B-B14F-4D97-AF65-F5344CB8AC3E}">
        <p14:creationId xmlns:p14="http://schemas.microsoft.com/office/powerpoint/2010/main" val="41258622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latin typeface="Helvetica" charset="0"/>
                <a:ea typeface="ＭＳ Ｐゴシック" charset="0"/>
                <a:cs typeface="ＭＳ Ｐゴシック" charset="0"/>
              </a:rPr>
              <a:t>Comparison to forested model output</a:t>
            </a:r>
          </a:p>
        </p:txBody>
      </p:sp>
      <p:pic>
        <p:nvPicPr>
          <p:cNvPr id="78850" name="Content Placeholder 3" descr="qqobsmod.pdf"/>
          <p:cNvPicPr>
            <a:picLocks noGrp="1" noChangeAspect="1"/>
          </p:cNvPicPr>
          <p:nvPr>
            <p:ph idx="1"/>
          </p:nvPr>
        </p:nvPicPr>
        <p:blipFill>
          <a:blip r:embed="rId3">
            <a:extLst>
              <a:ext uri="{28A0092B-C50C-407E-A947-70E740481C1C}">
                <a14:useLocalDpi xmlns:a14="http://schemas.microsoft.com/office/drawing/2010/main" val="0"/>
              </a:ext>
            </a:extLst>
          </a:blip>
          <a:srcRect t="10085" b="10085"/>
          <a:stretch>
            <a:fillRect/>
          </a:stretch>
        </p:blipFill>
        <p:spPr/>
      </p:pic>
    </p:spTree>
    <p:extLst>
      <p:ext uri="{BB962C8B-B14F-4D97-AF65-F5344CB8AC3E}">
        <p14:creationId xmlns:p14="http://schemas.microsoft.com/office/powerpoint/2010/main" val="330457954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p:txBody>
          <a:bodyPr/>
          <a:lstStyle/>
          <a:p>
            <a:r>
              <a:rPr lang="en-US">
                <a:latin typeface="Helvetica" charset="0"/>
                <a:ea typeface="ＭＳ Ｐゴシック" charset="0"/>
                <a:cs typeface="ＭＳ Ｐゴシック" charset="0"/>
              </a:rPr>
              <a:t>Using more data</a:t>
            </a:r>
          </a:p>
        </p:txBody>
      </p:sp>
      <p:sp>
        <p:nvSpPr>
          <p:cNvPr id="79874" name="Content Placeholder 2"/>
          <p:cNvSpPr>
            <a:spLocks noGrp="1"/>
          </p:cNvSpPr>
          <p:nvPr>
            <p:ph idx="1"/>
          </p:nvPr>
        </p:nvSpPr>
        <p:spPr/>
        <p:txBody>
          <a:bodyPr/>
          <a:lstStyle/>
          <a:p>
            <a:r>
              <a:rPr lang="en-US">
                <a:latin typeface="Helvetica" charset="0"/>
                <a:ea typeface="ＭＳ Ｐゴシック" charset="0"/>
                <a:cs typeface="ＭＳ Ｐゴシック" charset="0"/>
              </a:rPr>
              <a:t>SMHI synoptic stations in south central Sweden, 1961-2008 </a:t>
            </a:r>
          </a:p>
        </p:txBody>
      </p:sp>
      <p:pic>
        <p:nvPicPr>
          <p:cNvPr id="79875" name="Picture 4" descr="Pages from space_time_trends_final.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3505089"/>
            <a:ext cx="6888616" cy="3695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6545648"/>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lstStyle/>
          <a:p>
            <a:r>
              <a:rPr lang="en-US">
                <a:latin typeface="Helvetica" charset="0"/>
                <a:ea typeface="ＭＳ Ｐゴシック" charset="0"/>
                <a:cs typeface="ＭＳ Ｐゴシック" charset="0"/>
              </a:rPr>
              <a:t>GEV model</a:t>
            </a:r>
          </a:p>
        </p:txBody>
      </p:sp>
      <p:graphicFrame>
        <p:nvGraphicFramePr>
          <p:cNvPr id="81922" name="Content Placeholder 3"/>
          <p:cNvGraphicFramePr>
            <a:graphicFrameLocks noGrp="1" noChangeAspect="1"/>
          </p:cNvGraphicFramePr>
          <p:nvPr>
            <p:ph idx="1"/>
          </p:nvPr>
        </p:nvGraphicFramePr>
        <p:xfrm>
          <a:off x="1143010" y="2132697"/>
          <a:ext cx="4104255" cy="991280"/>
        </p:xfrm>
        <a:graphic>
          <a:graphicData uri="http://schemas.openxmlformats.org/presentationml/2006/ole">
            <mc:AlternateContent xmlns:mc="http://schemas.openxmlformats.org/markup-compatibility/2006">
              <mc:Choice xmlns:v="urn:schemas-microsoft-com:vml" Requires="v">
                <p:oleObj spid="_x0000_s1101" name="Equation" r:id="rId4" imgW="3581400" imgH="863600" progId="Equation.DSMT4">
                  <p:embed/>
                </p:oleObj>
              </mc:Choice>
              <mc:Fallback>
                <p:oleObj name="Equation" r:id="rId4" imgW="3581400" imgH="863600" progId="Equation.DSMT4">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10" y="2132697"/>
                        <a:ext cx="4104255" cy="99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 descr="gevtypes.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3362656"/>
            <a:ext cx="5715000" cy="440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weibull.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638471" y="3809209"/>
            <a:ext cx="779009" cy="1220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rechet.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638470" y="4952550"/>
            <a:ext cx="814727" cy="991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gumbel.gif"/>
          <p:cNvPicPr>
            <a:picLocks noChangeAspect="1"/>
          </p:cNvPicPr>
          <p:nvPr/>
        </p:nvPicPr>
        <p:blipFill>
          <a:blip r:embed="rId9">
            <a:extLst>
              <a:ext uri="{28A0092B-C50C-407E-A947-70E740481C1C}">
                <a14:useLocalDpi xmlns:a14="http://schemas.microsoft.com/office/drawing/2010/main" val="0"/>
              </a:ext>
            </a:extLst>
          </a:blip>
          <a:srcRect r="59766" b="31876"/>
          <a:stretch>
            <a:fillRect/>
          </a:stretch>
        </p:blipFill>
        <p:spPr bwMode="auto">
          <a:xfrm>
            <a:off x="5638471" y="5943827"/>
            <a:ext cx="780709" cy="99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8"/>
          <p:cNvGraphicFramePr>
            <a:graphicFrameLocks noChangeAspect="1"/>
          </p:cNvGraphicFramePr>
          <p:nvPr/>
        </p:nvGraphicFramePr>
        <p:xfrm>
          <a:off x="6431087" y="4190327"/>
          <a:ext cx="399709" cy="209804"/>
        </p:xfrm>
        <a:graphic>
          <a:graphicData uri="http://schemas.openxmlformats.org/presentationml/2006/ole">
            <mc:AlternateContent xmlns:mc="http://schemas.openxmlformats.org/markup-compatibility/2006">
              <mc:Choice xmlns:v="urn:schemas-microsoft-com:vml" Requires="v">
                <p:oleObj spid="_x0000_s1102" name="Equation" r:id="rId10" imgW="800100" imgH="419100" progId="Equation.DSMT4">
                  <p:embed/>
                </p:oleObj>
              </mc:Choice>
              <mc:Fallback>
                <p:oleObj name="Equation" r:id="rId10" imgW="800100" imgH="4191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31087" y="4190327"/>
                        <a:ext cx="399709" cy="209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6458301" y="5410655"/>
          <a:ext cx="399709" cy="209804"/>
        </p:xfrm>
        <a:graphic>
          <a:graphicData uri="http://schemas.openxmlformats.org/presentationml/2006/ole">
            <mc:AlternateContent xmlns:mc="http://schemas.openxmlformats.org/markup-compatibility/2006">
              <mc:Choice xmlns:v="urn:schemas-microsoft-com:vml" Requires="v">
                <p:oleObj spid="_x0000_s1103" name="Equation" r:id="rId12" imgW="800100" imgH="419100" progId="Equation.DSMT4">
                  <p:embed/>
                </p:oleObj>
              </mc:Choice>
              <mc:Fallback>
                <p:oleObj name="Equation" r:id="rId12" imgW="800100" imgH="4191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58301" y="5410655"/>
                        <a:ext cx="399709" cy="209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6451497" y="6400013"/>
          <a:ext cx="406513" cy="209804"/>
        </p:xfrm>
        <a:graphic>
          <a:graphicData uri="http://schemas.openxmlformats.org/presentationml/2006/ole">
            <mc:AlternateContent xmlns:mc="http://schemas.openxmlformats.org/markup-compatibility/2006">
              <mc:Choice xmlns:v="urn:schemas-microsoft-com:vml" Requires="v">
                <p:oleObj spid="_x0000_s1104" name="Equation" r:id="rId14" imgW="812800" imgH="419100" progId="Equation.DSMT4">
                  <p:embed/>
                </p:oleObj>
              </mc:Choice>
              <mc:Fallback>
                <p:oleObj name="Equation" r:id="rId14" imgW="812800" imgH="4191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51497" y="6400013"/>
                        <a:ext cx="406513" cy="209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0848090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p:txBody>
          <a:bodyPr/>
          <a:lstStyle/>
          <a:p>
            <a:r>
              <a:rPr lang="en-US">
                <a:latin typeface="Helvetica" charset="0"/>
                <a:ea typeface="ＭＳ Ｐゴシック" charset="0"/>
                <a:cs typeface="ＭＳ Ｐゴシック" charset="0"/>
              </a:rPr>
              <a:t>Spatial model</a:t>
            </a:r>
          </a:p>
        </p:txBody>
      </p:sp>
      <p:sp>
        <p:nvSpPr>
          <p:cNvPr id="3" name="Content Placeholder 2"/>
          <p:cNvSpPr>
            <a:spLocks noGrp="1"/>
          </p:cNvSpPr>
          <p:nvPr>
            <p:ph idx="1"/>
          </p:nvPr>
        </p:nvSpPr>
        <p:spPr/>
        <p:txBody>
          <a:bodyPr/>
          <a:lstStyle/>
          <a:p>
            <a:endParaRPr lang="en-US">
              <a:latin typeface="Helvetica" charset="0"/>
              <a:ea typeface="ＭＳ Ｐゴシック" charset="0"/>
              <a:cs typeface="ＭＳ Ｐゴシック" charset="0"/>
            </a:endParaRPr>
          </a:p>
          <a:p>
            <a:r>
              <a:rPr lang="en-US">
                <a:latin typeface="Helvetica" charset="0"/>
                <a:ea typeface="ＭＳ Ｐゴシック" charset="0"/>
                <a:cs typeface="ＭＳ Ｐゴシック" charset="0"/>
              </a:rPr>
              <a:t>where</a:t>
            </a: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r>
              <a:rPr lang="en-US">
                <a:latin typeface="Helvetica" charset="0"/>
                <a:ea typeface="ＭＳ Ｐゴシック" charset="0"/>
                <a:cs typeface="ＭＳ Ｐゴシック" charset="0"/>
              </a:rPr>
              <a:t>Parameters describe distribution (i.e. nonstationary climate)</a:t>
            </a:r>
          </a:p>
          <a:p>
            <a:r>
              <a:rPr lang="en-US">
                <a:latin typeface="Helvetica" charset="0"/>
                <a:ea typeface="ＭＳ Ｐゴシック" charset="0"/>
                <a:cs typeface="ＭＳ Ｐゴシック" charset="0"/>
              </a:rPr>
              <a:t>No model for simultaneous minima (i.e. weather)</a:t>
            </a: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p:txBody>
      </p:sp>
      <p:graphicFrame>
        <p:nvGraphicFramePr>
          <p:cNvPr id="4" name="Object 3"/>
          <p:cNvGraphicFramePr>
            <a:graphicFrameLocks noChangeAspect="1"/>
          </p:cNvGraphicFramePr>
          <p:nvPr/>
        </p:nvGraphicFramePr>
        <p:xfrm>
          <a:off x="534081" y="2286683"/>
          <a:ext cx="4495460" cy="519700"/>
        </p:xfrm>
        <a:graphic>
          <a:graphicData uri="http://schemas.openxmlformats.org/presentationml/2006/ole">
            <mc:AlternateContent xmlns:mc="http://schemas.openxmlformats.org/markup-compatibility/2006">
              <mc:Choice xmlns:v="urn:schemas-microsoft-com:vml" Requires="v">
                <p:oleObj spid="_x0000_s16443" name="Equation" r:id="rId3" imgW="2857500" imgH="330200" progId="Equation.DSMT4">
                  <p:embed/>
                </p:oleObj>
              </mc:Choice>
              <mc:Fallback>
                <p:oleObj name="Equation" r:id="rId3" imgW="2857500" imgH="330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081" y="2286683"/>
                        <a:ext cx="4495460" cy="5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608930" y="3276034"/>
          <a:ext cx="4932589" cy="458106"/>
        </p:xfrm>
        <a:graphic>
          <a:graphicData uri="http://schemas.openxmlformats.org/presentationml/2006/ole">
            <mc:AlternateContent xmlns:mc="http://schemas.openxmlformats.org/markup-compatibility/2006">
              <mc:Choice xmlns:v="urn:schemas-microsoft-com:vml" Requires="v">
                <p:oleObj spid="_x0000_s16444" name="Equation" r:id="rId5" imgW="3835400" imgH="355600" progId="Equation.DSMT4">
                  <p:embed/>
                </p:oleObj>
              </mc:Choice>
              <mc:Fallback>
                <p:oleObj name="Equation" r:id="rId5" imgW="3835400" imgH="355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930" y="3276034"/>
                        <a:ext cx="4932589" cy="458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134379" y="3897755"/>
          <a:ext cx="6653893" cy="446557"/>
        </p:xfrm>
        <a:graphic>
          <a:graphicData uri="http://schemas.openxmlformats.org/presentationml/2006/ole">
            <mc:AlternateContent xmlns:mc="http://schemas.openxmlformats.org/markup-compatibility/2006">
              <mc:Choice xmlns:v="urn:schemas-microsoft-com:vml" Requires="v">
                <p:oleObj spid="_x0000_s16445" name="Equation" r:id="rId7" imgW="4927600" imgH="330200" progId="Equation.DSMT4">
                  <p:embed/>
                </p:oleObj>
              </mc:Choice>
              <mc:Fallback>
                <p:oleObj name="Equation" r:id="rId7" imgW="4927600" imgH="330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379" y="3897755"/>
                        <a:ext cx="6653893" cy="446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2889342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p:txBody>
          <a:bodyPr/>
          <a:lstStyle/>
          <a:p>
            <a:r>
              <a:rPr lang="en-US">
                <a:latin typeface="Helvetica" charset="0"/>
                <a:ea typeface="ＭＳ Ｐゴシック" charset="0"/>
                <a:cs typeface="ＭＳ Ｐゴシック" charset="0"/>
              </a:rPr>
              <a:t>Location slope vs latitude</a:t>
            </a:r>
          </a:p>
        </p:txBody>
      </p:sp>
      <p:sp>
        <p:nvSpPr>
          <p:cNvPr id="3" name="Content Placeholder 2"/>
          <p:cNvSpPr>
            <a:spLocks noGrp="1"/>
          </p:cNvSpPr>
          <p:nvPr>
            <p:ph idx="1"/>
          </p:nvPr>
        </p:nvSpPr>
        <p:spPr/>
        <p:txBody>
          <a:bodyPr/>
          <a:lstStyle/>
          <a:p>
            <a:r>
              <a:rPr lang="en-US">
                <a:latin typeface="Helvetica" charset="0"/>
                <a:ea typeface="ＭＳ Ｐゴシック" charset="0"/>
                <a:cs typeface="ＭＳ Ｐゴシック" charset="0"/>
              </a:rPr>
              <a:t>MLE</a:t>
            </a: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endParaRPr lang="en-US">
              <a:latin typeface="Helvetica" charset="0"/>
              <a:ea typeface="ＭＳ Ｐゴシック" charset="0"/>
              <a:cs typeface="ＭＳ Ｐゴシック" charset="0"/>
            </a:endParaRPr>
          </a:p>
          <a:p>
            <a:r>
              <a:rPr lang="en-US">
                <a:latin typeface="Helvetica" charset="0"/>
                <a:ea typeface="ＭＳ Ｐゴシック" charset="0"/>
                <a:cs typeface="ＭＳ Ｐゴシック" charset="0"/>
              </a:rPr>
              <a:t>Bayes</a:t>
            </a:r>
          </a:p>
        </p:txBody>
      </p:sp>
      <p:pic>
        <p:nvPicPr>
          <p:cNvPr id="4" name="Content Placeholder 3" descr="slopes.pdf"/>
          <p:cNvPicPr>
            <a:picLocks noChangeAspect="1"/>
          </p:cNvPicPr>
          <p:nvPr/>
        </p:nvPicPr>
        <p:blipFill>
          <a:blip r:embed="rId2">
            <a:extLst>
              <a:ext uri="{28A0092B-C50C-407E-A947-70E740481C1C}">
                <a14:useLocalDpi xmlns:a14="http://schemas.microsoft.com/office/drawing/2010/main" val="0"/>
              </a:ext>
            </a:extLst>
          </a:blip>
          <a:srcRect t="-15091" b="-15091"/>
          <a:stretch>
            <a:fillRect/>
          </a:stretch>
        </p:blipFill>
        <p:spPr bwMode="auto">
          <a:xfrm>
            <a:off x="1714500" y="929686"/>
            <a:ext cx="4653643" cy="420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FAA26D3D-D897-4be2-8F04-BA451C77F1D7}">
              <ma14:placeholderFlag xmlns:ma14="http://schemas.microsoft.com/office/mac/drawingml/2011/main" val="1"/>
            </a:ext>
          </a:extLst>
        </p:spPr>
      </p:pic>
      <p:pic>
        <p:nvPicPr>
          <p:cNvPr id="6" name="Content Placeholder 3" descr="Borlange_latitude.pdf"/>
          <p:cNvPicPr>
            <a:picLocks noChangeAspect="1"/>
          </p:cNvPicPr>
          <p:nvPr/>
        </p:nvPicPr>
        <p:blipFill>
          <a:blip r:embed="rId3">
            <a:extLst>
              <a:ext uri="{28A0092B-C50C-407E-A947-70E740481C1C}">
                <a14:useLocalDpi xmlns:a14="http://schemas.microsoft.com/office/drawing/2010/main" val="0"/>
              </a:ext>
            </a:extLst>
          </a:blip>
          <a:srcRect t="-23180" b="-23180"/>
          <a:stretch>
            <a:fillRect/>
          </a:stretch>
        </p:blipFill>
        <p:spPr bwMode="auto">
          <a:xfrm>
            <a:off x="1959429" y="4348157"/>
            <a:ext cx="4083844" cy="368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FAA26D3D-D897-4be2-8F04-BA451C77F1D7}">
              <ma14:placeholderFlag xmlns:ma14="http://schemas.microsoft.com/office/mac/drawingml/2011/main" val="1"/>
            </a:ext>
          </a:extLst>
        </p:spPr>
      </p:pic>
    </p:spTree>
    <p:extLst>
      <p:ext uri="{BB962C8B-B14F-4D97-AF65-F5344CB8AC3E}">
        <p14:creationId xmlns:p14="http://schemas.microsoft.com/office/powerpoint/2010/main" val="10784050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references</a:t>
            </a:r>
            <a:endParaRPr lang="en-US" dirty="0"/>
          </a:p>
        </p:txBody>
      </p:sp>
      <p:sp>
        <p:nvSpPr>
          <p:cNvPr id="3" name="Content Placeholder 2"/>
          <p:cNvSpPr>
            <a:spLocks noGrp="1"/>
          </p:cNvSpPr>
          <p:nvPr>
            <p:ph idx="1"/>
          </p:nvPr>
        </p:nvSpPr>
        <p:spPr>
          <a:xfrm>
            <a:off x="533400" y="1905001"/>
            <a:ext cx="5832475" cy="5257800"/>
          </a:xfrm>
        </p:spPr>
        <p:txBody>
          <a:bodyPr/>
          <a:lstStyle/>
          <a:p>
            <a:r>
              <a:rPr lang="en-US" dirty="0" smtClean="0"/>
              <a:t>Guttorp (2012) Climate statistics and public policy. </a:t>
            </a:r>
            <a:r>
              <a:rPr lang="en-US" i="1" dirty="0" smtClean="0"/>
              <a:t>Statistics, politics and policy </a:t>
            </a:r>
            <a:r>
              <a:rPr lang="en-US" dirty="0" smtClean="0"/>
              <a:t>3:1</a:t>
            </a:r>
            <a:r>
              <a:rPr lang="en-US" i="1" dirty="0" smtClean="0"/>
              <a:t>. </a:t>
            </a:r>
          </a:p>
          <a:p>
            <a:r>
              <a:rPr lang="en-US" dirty="0" smtClean="0"/>
              <a:t>Guttorp, </a:t>
            </a:r>
            <a:r>
              <a:rPr lang="en-US" dirty="0" err="1" smtClean="0"/>
              <a:t>Sain</a:t>
            </a:r>
            <a:r>
              <a:rPr lang="en-US" dirty="0" smtClean="0"/>
              <a:t> and </a:t>
            </a:r>
            <a:r>
              <a:rPr lang="en-US" dirty="0" err="1" smtClean="0"/>
              <a:t>Wikle</a:t>
            </a:r>
            <a:r>
              <a:rPr lang="en-US" dirty="0" smtClean="0"/>
              <a:t> (eds.) (2012</a:t>
            </a:r>
            <a:r>
              <a:rPr lang="en-US" dirty="0"/>
              <a:t>) </a:t>
            </a:r>
            <a:r>
              <a:rPr lang="en-US" dirty="0" smtClean="0"/>
              <a:t>Special issue: Advances </a:t>
            </a:r>
            <a:r>
              <a:rPr lang="en-US" dirty="0"/>
              <a:t>in statistical methods for climate </a:t>
            </a:r>
            <a:r>
              <a:rPr lang="en-US" dirty="0" smtClean="0"/>
              <a:t>analysis</a:t>
            </a:r>
            <a:r>
              <a:rPr lang="en-US" i="1" dirty="0" smtClean="0"/>
              <a:t>. Environmetrics</a:t>
            </a:r>
            <a:r>
              <a:rPr lang="en-US" dirty="0" smtClean="0"/>
              <a:t> </a:t>
            </a:r>
            <a:r>
              <a:rPr lang="en-US" dirty="0"/>
              <a:t>23:5. </a:t>
            </a:r>
            <a:endParaRPr lang="en-US" dirty="0" smtClean="0"/>
          </a:p>
          <a:p>
            <a:r>
              <a:rPr lang="en-US" dirty="0"/>
              <a:t>NAS (2012) </a:t>
            </a:r>
            <a:r>
              <a:rPr lang="en-US" i="1" dirty="0"/>
              <a:t>Climate change: Lines of evidence. </a:t>
            </a:r>
            <a:endParaRPr lang="en-US" dirty="0" smtClean="0"/>
          </a:p>
          <a:p>
            <a:r>
              <a:rPr lang="en-US" dirty="0" err="1" smtClean="0"/>
              <a:t>Weart</a:t>
            </a:r>
            <a:r>
              <a:rPr lang="en-US" dirty="0" smtClean="0"/>
              <a:t> (</a:t>
            </a:r>
            <a:r>
              <a:rPr lang="en-US" dirty="0"/>
              <a:t>2011) </a:t>
            </a:r>
            <a:r>
              <a:rPr lang="en-US" i="1" dirty="0"/>
              <a:t>The Discovery of Global </a:t>
            </a:r>
            <a:r>
              <a:rPr lang="en-US" i="1" dirty="0" smtClean="0"/>
              <a:t>Warming</a:t>
            </a:r>
            <a:r>
              <a:rPr lang="en-US" dirty="0" smtClean="0"/>
              <a:t>. </a:t>
            </a:r>
          </a:p>
          <a:p>
            <a:endParaRPr lang="en-US" sz="2000" dirty="0"/>
          </a:p>
        </p:txBody>
      </p:sp>
    </p:spTree>
    <p:extLst>
      <p:ext uri="{BB962C8B-B14F-4D97-AF65-F5344CB8AC3E}">
        <p14:creationId xmlns:p14="http://schemas.microsoft.com/office/powerpoint/2010/main" val="2601062248"/>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0.:"/>
</p:tagLst>
</file>

<file path=ppt/theme/theme1.xml><?xml version="1.0" encoding="utf-8"?>
<a:theme xmlns:a="http://schemas.openxmlformats.org/drawingml/2006/main" name="Presentation1">
  <a:themeElements>
    <a:clrScheme name="Office Theme 8">
      <a:dk1>
        <a:srgbClr val="000000"/>
      </a:dk1>
      <a:lt1>
        <a:srgbClr val="FFFFFF"/>
      </a:lt1>
      <a:dk2>
        <a:srgbClr val="000000"/>
      </a:dk2>
      <a:lt2>
        <a:srgbClr val="919191"/>
      </a:lt2>
      <a:accent1>
        <a:srgbClr val="FFFFFF"/>
      </a:accent1>
      <a:accent2>
        <a:srgbClr val="00AE00"/>
      </a:accent2>
      <a:accent3>
        <a:srgbClr val="FFFFFF"/>
      </a:accent3>
      <a:accent4>
        <a:srgbClr val="000000"/>
      </a:accent4>
      <a:accent5>
        <a:srgbClr val="FFFFFF"/>
      </a:accent5>
      <a:accent6>
        <a:srgbClr val="009D00"/>
      </a:accent6>
      <a:hlink>
        <a:srgbClr val="FC0128"/>
      </a:hlink>
      <a:folHlink>
        <a:srgbClr val="CECECE"/>
      </a:folHlink>
    </a:clrScheme>
    <a:fontScheme name="Office Theme">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Office Theme 8">
        <a:dk1>
          <a:srgbClr val="000000"/>
        </a:dk1>
        <a:lt1>
          <a:srgbClr val="FFFFFF"/>
        </a:lt1>
        <a:dk2>
          <a:srgbClr val="000000"/>
        </a:dk2>
        <a:lt2>
          <a:srgbClr val="919191"/>
        </a:lt2>
        <a:accent1>
          <a:srgbClr val="FFFFFF"/>
        </a:accent1>
        <a:accent2>
          <a:srgbClr val="00AE00"/>
        </a:accent2>
        <a:accent3>
          <a:srgbClr val="FFFFFF"/>
        </a:accent3>
        <a:accent4>
          <a:srgbClr val="000000"/>
        </a:accent4>
        <a:accent5>
          <a:srgbClr val="FFFFFF"/>
        </a:accent5>
        <a:accent6>
          <a:srgbClr val="009D00"/>
        </a:accent6>
        <a:hlink>
          <a:srgbClr val="FC0128"/>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Presentation1.potx</Template>
  <TotalTime>3189</TotalTime>
  <Words>1294</Words>
  <Application>Microsoft Macintosh PowerPoint</Application>
  <PresentationFormat>Custom</PresentationFormat>
  <Paragraphs>275</Paragraphs>
  <Slides>48</Slides>
  <Notes>26</Notes>
  <HiddenSlides>0</HiddenSlides>
  <MMClips>1</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0" baseType="lpstr">
      <vt:lpstr>Presentation1</vt:lpstr>
      <vt:lpstr>Equation</vt:lpstr>
      <vt:lpstr>Statistics and Climate</vt:lpstr>
      <vt:lpstr>Acknowledgements</vt:lpstr>
      <vt:lpstr>Outline</vt:lpstr>
      <vt:lpstr>Climate and weather</vt:lpstr>
      <vt:lpstr>Climate models</vt:lpstr>
      <vt:lpstr>Models of climate  and weather</vt:lpstr>
      <vt:lpstr>A simple climate model</vt:lpstr>
      <vt:lpstr>Solution</vt:lpstr>
      <vt:lpstr>But in reality…</vt:lpstr>
      <vt:lpstr>So what is the greenhouse effect?</vt:lpstr>
      <vt:lpstr>The climate engine I</vt:lpstr>
      <vt:lpstr>The climate engine II</vt:lpstr>
      <vt:lpstr>Climate model history</vt:lpstr>
      <vt:lpstr>Parameterization</vt:lpstr>
      <vt:lpstr>Cloud effects</vt:lpstr>
      <vt:lpstr>Evidence of  climate change</vt:lpstr>
      <vt:lpstr>Changes in radiation spectrum</vt:lpstr>
      <vt:lpstr>Sea surface temperature</vt:lpstr>
      <vt:lpstr>Ocean heat content</vt:lpstr>
      <vt:lpstr>Sea level rise</vt:lpstr>
      <vt:lpstr>Other pieces of evidence</vt:lpstr>
      <vt:lpstr>Detection</vt:lpstr>
      <vt:lpstr>Attribution</vt:lpstr>
      <vt:lpstr>Are there alternative explanations?</vt:lpstr>
      <vt:lpstr>Solar radiation</vt:lpstr>
      <vt:lpstr>Volcanic eruptions</vt:lpstr>
      <vt:lpstr>Cosmic radiation</vt:lpstr>
      <vt:lpstr>Feedbacks</vt:lpstr>
      <vt:lpstr>Data issues and  global temperature</vt:lpstr>
      <vt:lpstr>Daily temperature</vt:lpstr>
      <vt:lpstr>Global Historical Climatology Network</vt:lpstr>
      <vt:lpstr>Some issues</vt:lpstr>
      <vt:lpstr>Gaussian Markov random field model</vt:lpstr>
      <vt:lpstr>Trend estimate</vt:lpstr>
      <vt:lpstr>Comparison with  other estimates</vt:lpstr>
      <vt:lpstr>Adjusted vs unadjusted</vt:lpstr>
      <vt:lpstr>Model assessment</vt:lpstr>
      <vt:lpstr>Comparing climate model output to weather data</vt:lpstr>
      <vt:lpstr>Looking for signals in data and models</vt:lpstr>
      <vt:lpstr>How well does the climate model reproduce data?</vt:lpstr>
      <vt:lpstr>Resolution in a regional climate model</vt:lpstr>
      <vt:lpstr>Model problem?</vt:lpstr>
      <vt:lpstr>Comparison to forested model output</vt:lpstr>
      <vt:lpstr>Using more data</vt:lpstr>
      <vt:lpstr>GEV model</vt:lpstr>
      <vt:lpstr>Spatial model</vt:lpstr>
      <vt:lpstr>Location slope vs latitude</vt:lpstr>
      <vt:lpstr>Some references</vt:lpstr>
    </vt:vector>
  </TitlesOfParts>
  <Company>Peter Guttorp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Guttorp</dc:creator>
  <cp:lastModifiedBy>Peter Guttorp</cp:lastModifiedBy>
  <cp:revision>51</cp:revision>
  <dcterms:created xsi:type="dcterms:W3CDTF">2010-01-23T17:03:47Z</dcterms:created>
  <dcterms:modified xsi:type="dcterms:W3CDTF">2012-07-27T20:17:29Z</dcterms:modified>
</cp:coreProperties>
</file>