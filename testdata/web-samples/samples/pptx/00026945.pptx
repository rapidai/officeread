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58" r:id="rId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81" autoAdjust="0"/>
  </p:normalViewPr>
  <p:slideViewPr>
    <p:cSldViewPr snapToGrid="0" snapToObjects="1">
      <p:cViewPr varScale="1">
        <p:scale>
          <a:sx n="97" d="100"/>
          <a:sy n="97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E1326-D94D-4C8D-BAC8-9248A91A7B0B}" type="datetimeFigureOut">
              <a:rPr lang="en-US" smtClean="0"/>
              <a:pPr/>
              <a:t>11/22/2011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17B74-FCBB-4743-A308-36F388011B6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Reluctant to accept invitation – forces</a:t>
            </a:r>
            <a:r>
              <a:rPr lang="en-AU" baseline="0" dirty="0" smtClean="0"/>
              <a:t> me to profess sins rather than solutions – as much frustration as there is celebration</a:t>
            </a:r>
          </a:p>
          <a:p>
            <a:r>
              <a:rPr lang="en-AU" baseline="0" dirty="0" smtClean="0"/>
              <a:t>Such an invitation it seems should be the opportunity to describe success and solution – but it seems its more about shortcomings and sins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7B74-FCBB-4743-A308-36F388011B6E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Coming to this from a Collections manager perspective</a:t>
            </a:r>
            <a:r>
              <a:rPr lang="en-AU" baseline="0" dirty="0" smtClean="0"/>
              <a:t> and this embodies a bias towards the collecting – library’s core business and the legacy of traditional print materials</a:t>
            </a:r>
          </a:p>
          <a:p>
            <a:r>
              <a:rPr lang="en-AU" baseline="0" dirty="0" smtClean="0"/>
              <a:t>though collection manages in the digital world must have more oversight of the preservation of their collections, at the very least in respect to intent – to help the preservation specialists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7B74-FCBB-4743-A308-36F388011B6E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83B378C-D900-4C9A-B3B8-274DE0F57954}" type="slidenum">
              <a:rPr lang="en-AU" smtClean="0"/>
              <a:pPr/>
              <a:t>5</a:t>
            </a:fld>
            <a:endParaRPr lang="en-AU" dirty="0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AU" dirty="0" smtClean="0"/>
              <a:t>Sherman and Mr Peabody enter the WABAC machine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D81D8B-8CBF-4011-99C9-BFC2072DE847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ADEF9-BBA4-4BDF-B513-8151F5EC314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B65C09-5467-460F-B90A-FC7965BB7457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AEEDA6-A085-4B88-8F56-620DCBE7745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AE066-8F69-4207-8062-F19287C373BE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934F5D-E173-424C-A81C-74ED61965E31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0B3E91-AF1E-41D3-840A-1F787525A7E0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C48549-377B-4997-A3D2-3155C44B26D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0679C0-8E79-4CBC-AEAC-C26D0BCCF517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E3C61-DF33-4942-810B-855F317A8D1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7B90BB-2A4B-48D1-A397-CCD1876F11DC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F6B0B-D182-48C8-89BF-FA6C62967D9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BF9FFE-241F-41A5-BF2A-996B44F8B89E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26C7D2-1D62-4B62-AE56-3424825B106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0B7D31-2FED-4C00-BB8D-29BD78EF0FF1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9597C2-74A4-4D6B-9930-38284CBD55E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9A276A-1C70-457E-A72E-5BB716E2CD7A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4B178D-23B7-4B99-9FA5-610AB75CEF8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EAC3E9-8CDE-406C-B4A4-4ECF7476D2A3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1737F-5F01-47D3-8E00-610259EE22B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809793-6103-4C21-94E1-88479CF2E833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5323C-436D-41D0-B84F-6843D5085E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CB312B7C-AE44-4873-80CB-0CB273366474}" type="datetime1">
              <a:rPr lang="en-US"/>
              <a:pPr/>
              <a:t>11/22/2011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C176F2E3-DB2F-4124-9218-16D554C30F1A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pandora.nla.gov.au/tep/10505" TargetMode="External"/><Relationship Id="rId2" Type="http://schemas.openxmlformats.org/officeDocument/2006/relationships/hyperlink" Target="http://pandora.nla.gov.au/tep/1003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ndora.nla.gov.au/tep/89052" TargetMode="External"/><Relationship Id="rId5" Type="http://schemas.openxmlformats.org/officeDocument/2006/relationships/hyperlink" Target="http://pandora.nla.gov.au/col/9124" TargetMode="External"/><Relationship Id="rId4" Type="http://schemas.openxmlformats.org/officeDocument/2006/relationships/hyperlink" Target="http://pandora.nla.gov.au/col/4003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5800" y="1754909"/>
            <a:ext cx="7772400" cy="1845541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From here to perpetuity: </a:t>
            </a:r>
            <a:br>
              <a:rPr lang="en-US" sz="3200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</a:br>
            <a:r>
              <a:rPr lang="en-US" sz="3200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challenges (and a few confessions) in preserving web-based AV content</a:t>
            </a:r>
            <a:endParaRPr lang="en-US" sz="3200" b="1" dirty="0" smtClean="0">
              <a:solidFill>
                <a:schemeClr val="bg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27500"/>
            <a:ext cx="6400800" cy="17526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AU" sz="2800" dirty="0" smtClean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ASRA Conference 2011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AU" sz="2000" dirty="0" smtClean="0">
              <a:latin typeface="Arial"/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AU" sz="2000" dirty="0" smtClean="0">
                <a:latin typeface="Arial"/>
                <a:ea typeface="+mn-ea"/>
                <a:cs typeface="+mn-cs"/>
              </a:rPr>
              <a:t>Paul Koerbin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AU" sz="2000" dirty="0" smtClean="0">
                <a:latin typeface="Arial"/>
                <a:ea typeface="+mn-ea"/>
                <a:cs typeface="+mn-cs"/>
              </a:rPr>
              <a:t>Manager Web Archiving</a:t>
            </a:r>
          </a:p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AU" sz="2000" dirty="0" smtClean="0">
                <a:latin typeface="Arial"/>
                <a:ea typeface="+mn-ea"/>
                <a:cs typeface="+mn-cs"/>
              </a:rPr>
              <a:t>National Library of Australia</a:t>
            </a:r>
            <a:endParaRPr lang="en-US" sz="2000" dirty="0" smtClean="0">
              <a:latin typeface="Arial"/>
              <a:ea typeface="+mn-ea"/>
              <a:cs typeface="+mn-cs"/>
            </a:endParaRPr>
          </a:p>
        </p:txBody>
      </p:sp>
      <p:pic>
        <p:nvPicPr>
          <p:cNvPr id="13316" name="Picture 4" descr="CCBY.pdf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5880100"/>
            <a:ext cx="11795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PANDORA web archive</a:t>
            </a:r>
            <a:endParaRPr lang="en-US" b="1" dirty="0" smtClean="0">
              <a:solidFill>
                <a:schemeClr val="bg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93725" y="1600200"/>
            <a:ext cx="8093075" cy="4525963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Began (collecting) in 1996</a:t>
            </a: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Developed from proof-of-concept project</a:t>
            </a: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Complex born digital online material</a:t>
            </a: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No control over native formats</a:t>
            </a:r>
          </a:p>
          <a:p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Best effort QA (hand crafting)</a:t>
            </a: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Permissions based (no legal deposit)</a:t>
            </a:r>
          </a:p>
          <a:p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Accessible to the public</a:t>
            </a:r>
            <a:endParaRPr lang="en-US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Small scale (6Tb, 130m files)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Web archiving</a:t>
            </a:r>
            <a:endParaRPr lang="en-US" b="1" dirty="0" smtClean="0">
              <a:solidFill>
                <a:schemeClr val="bg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93725" y="1597892"/>
            <a:ext cx="8093075" cy="4738254"/>
          </a:xfrm>
        </p:spPr>
        <p:txBody>
          <a:bodyPr/>
          <a:lstStyle/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Web sites (and all they contain)</a:t>
            </a:r>
          </a:p>
          <a:p>
            <a:pPr lvl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documents, images, media, style elements, client side scripts</a:t>
            </a:r>
            <a:endParaRPr lang="en-AU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Includes sites with embedded (multi)media</a:t>
            </a:r>
          </a:p>
          <a:p>
            <a:pPr lvl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lots of formats (mpeg, flv, QT, wmv, rm, Shockwave)</a:t>
            </a:r>
          </a:p>
          <a:p>
            <a:pPr lvl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audio/video ~2% archive data?</a:t>
            </a: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Content is harvested with crawl robots</a:t>
            </a:r>
          </a:p>
          <a:p>
            <a:pPr lvl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deposit is harder to deal with</a:t>
            </a: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Dynamic content becomes static HTML</a:t>
            </a: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Media files just harvested (hopefully</a:t>
            </a:r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sz="4000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Web archiving</a:t>
            </a:r>
            <a:endParaRPr lang="en-US" sz="4000" b="1" dirty="0" smtClean="0">
              <a:solidFill>
                <a:schemeClr val="bg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93725" y="1600200"/>
            <a:ext cx="8093075" cy="4525963"/>
          </a:xfrm>
        </p:spPr>
        <p:txBody>
          <a:bodyPr/>
          <a:lstStyle/>
          <a:p>
            <a:r>
              <a:rPr lang="en-AU" sz="2800" u="sng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A</a:t>
            </a:r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 browser view – a snapshot</a:t>
            </a:r>
          </a:p>
          <a:p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Creating the heritage artefacts of the web</a:t>
            </a:r>
            <a:endParaRPr lang="en-US" sz="2800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AV collected in the context of the website</a:t>
            </a:r>
          </a:p>
          <a:p>
            <a:pPr lvl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our intent is to retain that context</a:t>
            </a:r>
          </a:p>
          <a:p>
            <a:pPr lvl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others suggest decoupling collecting and generic access</a:t>
            </a: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Collecting is not the full story of archiving</a:t>
            </a: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Preservation intent and actions</a:t>
            </a:r>
          </a:p>
          <a:p>
            <a:pPr eaLnBrk="1" hangingPunct="1"/>
            <a:r>
              <a:rPr lang="en-AU" sz="28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Long term access</a:t>
            </a:r>
          </a:p>
          <a:p>
            <a:pPr eaLnBrk="1" hangingPunct="1"/>
            <a:endParaRPr lang="en-US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66E2D9-03DE-48FF-B68E-187B65894811}" type="slidenum">
              <a:rPr lang="en-AU" smtClean="0"/>
              <a:pPr/>
              <a:t>5</a:t>
            </a:fld>
            <a:endParaRPr lang="en-AU" dirty="0" smtClean="0"/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6021388"/>
            <a:ext cx="6480175" cy="627062"/>
          </a:xfrm>
        </p:spPr>
        <p:txBody>
          <a:bodyPr/>
          <a:lstStyle/>
          <a:p>
            <a:r>
              <a:rPr lang="en-AU" sz="3200" b="1" dirty="0" smtClean="0"/>
              <a:t>WABAC (‘PANDORA’) Machine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sz="4000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Web archive AV – examples</a:t>
            </a:r>
            <a:endParaRPr lang="en-US" sz="4000" b="1" dirty="0" smtClean="0">
              <a:solidFill>
                <a:schemeClr val="bg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93725" y="1600200"/>
            <a:ext cx="8093075" cy="4525963"/>
          </a:xfrm>
        </p:spPr>
        <p:txBody>
          <a:bodyPr/>
          <a:lstStyle/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Yothu Yindi (1999) </a:t>
            </a:r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  <a:hlinkClick r:id="rId2"/>
              </a:rPr>
              <a:t>link</a:t>
            </a:r>
            <a:endParaRPr lang="en-AU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Web of poets (2000) </a:t>
            </a:r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  <a:hlinkClick r:id="rId3"/>
              </a:rPr>
              <a:t>link</a:t>
            </a:r>
            <a:endParaRPr lang="en-AU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Queensland Election (2001) </a:t>
            </a:r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  <a:hlinkClick r:id="rId4"/>
              </a:rPr>
              <a:t>link</a:t>
            </a:r>
            <a:endParaRPr lang="en-AU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Federal Election (2007) </a:t>
            </a:r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  <a:hlinkClick r:id="rId5"/>
              </a:rPr>
              <a:t>link</a:t>
            </a:r>
            <a:endParaRPr lang="en-AU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  <a:p>
            <a:pPr lvl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YouTube</a:t>
            </a:r>
          </a:p>
          <a:p>
            <a:pPr lvl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Independent videos</a:t>
            </a:r>
          </a:p>
          <a:p>
            <a:pPr eaLnBrk="1" hangingPunct="1"/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Linsey Pollak (2008) </a:t>
            </a:r>
            <a:r>
              <a:rPr lang="en-AU" dirty="0" smtClean="0">
                <a:solidFill>
                  <a:schemeClr val="bg1"/>
                </a:solidFill>
                <a:latin typeface="Arial" charset="0"/>
                <a:ea typeface="ＭＳ Ｐゴシック" charset="-128"/>
                <a:hlinkClick r:id="rId6"/>
              </a:rPr>
              <a:t>link</a:t>
            </a:r>
            <a:endParaRPr lang="en-AU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sz="4000" b="1" dirty="0" smtClean="0">
                <a:solidFill>
                  <a:schemeClr val="bg1"/>
                </a:solidFill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Arial" charset="0"/>
                <a:ea typeface="ＭＳ Ｐゴシック" charset="-128"/>
                <a:cs typeface="ＭＳ Ｐゴシック" charset="-128"/>
              </a:rPr>
              <a:t>Observations</a:t>
            </a:r>
            <a:endParaRPr lang="en-US" sz="4000" b="1" dirty="0" smtClean="0">
              <a:solidFill>
                <a:schemeClr val="bg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93725" y="1600200"/>
            <a:ext cx="8093075" cy="4689764"/>
          </a:xfrm>
        </p:spPr>
        <p:txBody>
          <a:bodyPr/>
          <a:lstStyle/>
          <a:p>
            <a:pPr eaLnBrk="1" hangingPunct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Trying to capture and retain the AV media in the context of the website/page – but not always possible</a:t>
            </a:r>
          </a:p>
          <a:p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Balancing the need for timely collecting and legacy systems with implementing and working with standards</a:t>
            </a:r>
          </a:p>
          <a:p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Faced with the challenge of managing the objectives (and tensions) of collecting, preserving and access</a:t>
            </a:r>
          </a:p>
          <a:p>
            <a:pPr eaLnBrk="1" hangingPunct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Keeping up skills and experience – understanding formats and web publishing technologies</a:t>
            </a:r>
          </a:p>
          <a:p>
            <a:pPr eaLnBrk="1" hangingPunct="1"/>
            <a:r>
              <a:rPr lang="en-AU" sz="24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Awareness and management of the problems we are filling our archive with</a:t>
            </a:r>
            <a:endParaRPr lang="en-US" sz="2400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6" descr="ricksmit-156712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-43873" y="0"/>
            <a:ext cx="9144000" cy="6849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38727" y="1542473"/>
            <a:ext cx="4089400" cy="3602181"/>
          </a:xfrm>
          <a:effectLst>
            <a:outerShdw dist="25401" dir="2700000" rotWithShape="0">
              <a:srgbClr val="000000">
                <a:alpha val="42999"/>
              </a:srgbClr>
            </a:outerShdw>
          </a:effectLst>
        </p:spPr>
        <p:txBody>
          <a:bodyPr wrap="square"/>
          <a:lstStyle/>
          <a:p>
            <a:pPr eaLnBrk="1" hangingPunct="1">
              <a:buFont typeface="Arial" charset="0"/>
              <a:buNone/>
            </a:pPr>
            <a:r>
              <a:rPr lang="en-AU" sz="16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“ Web archivists have a difficult time gathering web video that are, more often than not served with non-standard tools and protocols ... it is difficult to design a general solution for dealing with all the Web sites hosting video content ... [so] ... the harvesting technique should be adapted to each particular case. The crawl engineering effort needed to adapt the tools is generally dependent on the complexity of the Web site.”</a:t>
            </a:r>
          </a:p>
          <a:p>
            <a:pPr eaLnBrk="1" hangingPunct="1">
              <a:buFont typeface="Arial" charset="0"/>
              <a:buNone/>
            </a:pPr>
            <a:r>
              <a:rPr lang="en-AU" sz="1600" dirty="0" smtClean="0">
                <a:solidFill>
                  <a:schemeClr val="bg1"/>
                </a:solidFill>
                <a:latin typeface="Arial" charset="0"/>
                <a:ea typeface="ＭＳ Ｐゴシック" charset="-128"/>
              </a:rPr>
              <a:t> Pop, Vasile, Masanes (2010)</a:t>
            </a:r>
            <a:endParaRPr lang="en-US" sz="1600" dirty="0" smtClean="0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399213"/>
            <a:ext cx="9144000" cy="45878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srgbClr val="FFFFFF"/>
              </a:solidFill>
              <a:latin typeface="Calibri" charset="0"/>
            </a:endParaRPr>
          </a:p>
        </p:txBody>
      </p:sp>
      <p:sp>
        <p:nvSpPr>
          <p:cNvPr id="15365" name="TextBox 5"/>
          <p:cNvSpPr txBox="1">
            <a:spLocks noChangeArrowheads="1"/>
          </p:cNvSpPr>
          <p:nvPr/>
        </p:nvSpPr>
        <p:spPr bwMode="auto">
          <a:xfrm>
            <a:off x="5643563" y="6489700"/>
            <a:ext cx="3417887" cy="27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http://www.flickr.com/photos/ricksmit/15671245/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A-template-windows-blu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NLA-template-windows-blue</Template>
  <TotalTime>1550</TotalTime>
  <Words>521</Words>
  <Application>Microsoft Office PowerPoint</Application>
  <PresentationFormat>On-screen Show (4:3)</PresentationFormat>
  <Paragraphs>61</Paragraphs>
  <Slides>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NLA-template-windows-blue</vt:lpstr>
      <vt:lpstr>From here to perpetuity:  challenges (and a few confessions) in preserving web-based AV content</vt:lpstr>
      <vt:lpstr>PANDORA web archive</vt:lpstr>
      <vt:lpstr>Web archiving</vt:lpstr>
      <vt:lpstr>Web archiving</vt:lpstr>
      <vt:lpstr>WABAC (‘PANDORA’) Machine</vt:lpstr>
      <vt:lpstr>Web archive AV – examples</vt:lpstr>
      <vt:lpstr>Observations</vt:lpstr>
      <vt:lpstr>Slide 8</vt:lpstr>
    </vt:vector>
  </TitlesOfParts>
  <Company>National Library of Australia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pkoerbin</dc:creator>
  <cp:lastModifiedBy>pkoerbin</cp:lastModifiedBy>
  <cp:revision>101</cp:revision>
  <dcterms:created xsi:type="dcterms:W3CDTF">2011-11-17T04:05:41Z</dcterms:created>
  <dcterms:modified xsi:type="dcterms:W3CDTF">2011-11-22T05:45:11Z</dcterms:modified>
</cp:coreProperties>
</file>