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76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786" autoAdjust="0"/>
    <p:restoredTop sz="94660"/>
  </p:normalViewPr>
  <p:slideViewPr>
    <p:cSldViewPr>
      <p:cViewPr varScale="1">
        <p:scale>
          <a:sx n="107" d="100"/>
          <a:sy n="107" d="100"/>
        </p:scale>
        <p:origin x="-101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BFA9D-E35D-4370-8B05-95FCBF0BACBA}" type="datetimeFigureOut">
              <a:rPr lang="en-AU" smtClean="0"/>
              <a:pPr/>
              <a:t>16/02/2012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6DE35-F619-47A8-87B4-4305518B32AE}" type="slidenum">
              <a:rPr lang="en-AU" smtClean="0"/>
              <a:pPr/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FA884B38-28E0-434C-844D-5ED6965FF5AF}" type="datetime1">
              <a:rPr lang="en-AU" smtClean="0"/>
              <a:pPr/>
              <a:t>16/02/2012</a:t>
            </a:fld>
            <a:endParaRPr lang="en-AU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14E058F-49DE-46AF-BD40-FC813D188DE5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A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5D27641-2549-4B7E-86FE-EF3142C7FB87}" type="datetime1">
              <a:rPr lang="en-AU" smtClean="0"/>
              <a:pPr/>
              <a:t>16/02/2012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4E058F-49DE-46AF-BD40-FC813D188DE5}" type="slidenum">
              <a:rPr lang="en-AU" smtClean="0"/>
              <a:pPr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A5FC157C-4090-4487-B304-D7DF04DD6D6A}" type="datetime1">
              <a:rPr lang="en-AU" smtClean="0"/>
              <a:pPr/>
              <a:t>16/02/2012</a:t>
            </a:fld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14E058F-49DE-46AF-BD40-FC813D188DE5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A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5628A2C-08E4-4E3A-A8CE-D8F452275F0B}" type="datetime1">
              <a:rPr lang="en-AU" smtClean="0"/>
              <a:pPr/>
              <a:t>16/02/2012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C14E058F-49DE-46AF-BD40-FC813D188DE5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6680555-4613-4DD3-ACC6-8129AD0FB22D}" type="datetime1">
              <a:rPr lang="en-AU" smtClean="0"/>
              <a:pPr/>
              <a:t>16/02/2012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C14E058F-49DE-46AF-BD40-FC813D188DE5}" type="slidenum">
              <a:rPr lang="en-AU" smtClean="0"/>
              <a:pPr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D78350E-428F-4937-A865-A141B3ADC22A}" type="datetime1">
              <a:rPr lang="en-AU" smtClean="0"/>
              <a:pPr/>
              <a:t>16/02/2012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4E058F-49DE-46AF-BD40-FC813D188DE5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924AF95-172B-4785-91B0-15F949742498}" type="datetime1">
              <a:rPr lang="en-AU" smtClean="0"/>
              <a:pPr/>
              <a:t>16/02/2012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4E058F-49DE-46AF-BD40-FC813D188DE5}" type="slidenum">
              <a:rPr lang="en-AU" smtClean="0"/>
              <a:pPr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DEFD487C-5B86-4567-83AD-5025B698C3E0}" type="datetime1">
              <a:rPr lang="en-AU" smtClean="0"/>
              <a:pPr/>
              <a:t>16/02/2012</a:t>
            </a:fld>
            <a:endParaRPr lang="en-AU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14E058F-49DE-46AF-BD40-FC813D188DE5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A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D8048C87-DFB4-44E8-9929-1FBF6989BA23}" type="datetime1">
              <a:rPr lang="en-AU" smtClean="0"/>
              <a:pPr/>
              <a:t>16/02/2012</a:t>
            </a:fld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14E058F-49DE-46AF-BD40-FC813D188DE5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A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76989A1-AF05-434C-9F3D-4EA21E1DC002}" type="datetime1">
              <a:rPr lang="en-AU" smtClean="0"/>
              <a:pPr/>
              <a:t>16/02/2012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4E058F-49DE-46AF-BD40-FC813D188DE5}" type="slidenum">
              <a:rPr lang="en-AU" smtClean="0"/>
              <a:pPr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7124775-CC9F-4CEE-8DAC-D67B7D6B394B}" type="datetime1">
              <a:rPr lang="en-AU" smtClean="0"/>
              <a:pPr/>
              <a:t>16/02/2012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4E058F-49DE-46AF-BD40-FC813D188DE5}" type="slidenum">
              <a:rPr lang="en-AU" smtClean="0"/>
              <a:pPr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AU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C73C614D-BCDF-4129-BFBB-8DBC85BD9FB3}" type="datetime1">
              <a:rPr lang="en-AU" smtClean="0"/>
              <a:pPr/>
              <a:t>16/02/2012</a:t>
            </a:fld>
            <a:endParaRPr lang="en-AU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C14E058F-49DE-46AF-BD40-FC813D188DE5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China and the responsibility to protect (R2P): the implications of the Libyan intervention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sz="2800" b="1" dirty="0" smtClean="0"/>
              <a:t>Andrew Garwood-</a:t>
            </a:r>
            <a:r>
              <a:rPr lang="en-AU" sz="2800" b="1" dirty="0" err="1" smtClean="0"/>
              <a:t>Gowers</a:t>
            </a:r>
            <a:endParaRPr lang="en-AU" sz="2800" b="1" dirty="0" smtClean="0"/>
          </a:p>
          <a:p>
            <a:endParaRPr lang="en-AU" sz="2800" b="1" dirty="0" smtClean="0"/>
          </a:p>
          <a:p>
            <a:r>
              <a:rPr lang="en-AU" sz="2800" dirty="0" smtClean="0"/>
              <a:t>QUT Human Rights and Governance Colloquium</a:t>
            </a:r>
          </a:p>
          <a:p>
            <a:r>
              <a:rPr lang="en-AU" sz="2800" dirty="0" smtClean="0"/>
              <a:t> 24-25 November 2011</a:t>
            </a:r>
            <a:endParaRPr lang="en-A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Overview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 smtClean="0"/>
              <a:t>R2P and its evolution</a:t>
            </a:r>
          </a:p>
          <a:p>
            <a:r>
              <a:rPr lang="en-AU" dirty="0" smtClean="0"/>
              <a:t>China’s relationship with R2P prior to Libya</a:t>
            </a:r>
          </a:p>
          <a:p>
            <a:r>
              <a:rPr lang="en-AU" dirty="0" smtClean="0"/>
              <a:t>R2P and the Libyan intervention</a:t>
            </a:r>
          </a:p>
          <a:p>
            <a:r>
              <a:rPr lang="en-AU" dirty="0" smtClean="0"/>
              <a:t>China’s engagement with R2P in Libya</a:t>
            </a:r>
          </a:p>
          <a:p>
            <a:r>
              <a:rPr lang="en-AU" dirty="0" smtClean="0"/>
              <a:t>R2P post-Libya: Syria/Yemen</a:t>
            </a:r>
          </a:p>
          <a:p>
            <a:r>
              <a:rPr lang="en-AU" dirty="0" smtClean="0"/>
              <a:t>Implications of the Libyan intervention:</a:t>
            </a:r>
          </a:p>
          <a:p>
            <a:pPr>
              <a:buNone/>
            </a:pPr>
            <a:r>
              <a:rPr lang="en-AU" dirty="0" smtClean="0"/>
              <a:t>		- a new phase in China’s relationship 	with R2P?</a:t>
            </a:r>
          </a:p>
          <a:p>
            <a:pPr>
              <a:buNone/>
            </a:pPr>
            <a:r>
              <a:rPr lang="en-AU" dirty="0" smtClean="0"/>
              <a:t>		- consolidation or weakening of R2P’s 	normative status?</a:t>
            </a:r>
          </a:p>
          <a:p>
            <a:pPr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E058F-49DE-46AF-BD40-FC813D188DE5}" type="slidenum">
              <a:rPr lang="en-AU" smtClean="0"/>
              <a:pPr/>
              <a:t>2</a:t>
            </a:fld>
            <a:endParaRPr lang="en-AU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R2P and its evolution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6"/>
            <a:ext cx="8229600" cy="4951115"/>
          </a:xfrm>
        </p:spPr>
        <p:txBody>
          <a:bodyPr>
            <a:normAutofit fontScale="92500" lnSpcReduction="20000"/>
          </a:bodyPr>
          <a:lstStyle/>
          <a:p>
            <a:r>
              <a:rPr lang="en-AU" dirty="0" smtClean="0"/>
              <a:t>Developed following incidents in Rwanda, Srebrenica, Kosovo in 1990s</a:t>
            </a:r>
          </a:p>
          <a:p>
            <a:r>
              <a:rPr lang="en-AU" dirty="0" smtClean="0"/>
              <a:t>Reconceptualises state sovereignty as “responsibility” rather than “authority”</a:t>
            </a:r>
          </a:p>
          <a:p>
            <a:r>
              <a:rPr lang="en-AU" dirty="0" smtClean="0"/>
              <a:t>Original concept: 2001 </a:t>
            </a:r>
            <a:r>
              <a:rPr lang="en-AU" i="1" dirty="0" smtClean="0"/>
              <a:t>International Commission on Intervention and State Sovereignty </a:t>
            </a:r>
            <a:r>
              <a:rPr lang="en-AU" dirty="0" smtClean="0"/>
              <a:t>(ICISS) </a:t>
            </a:r>
            <a:r>
              <a:rPr lang="en-AU" i="1" dirty="0" smtClean="0"/>
              <a:t>report</a:t>
            </a:r>
          </a:p>
          <a:p>
            <a:r>
              <a:rPr lang="en-AU" dirty="0" smtClean="0"/>
              <a:t>Modified version unanimously endorsed – 2005 </a:t>
            </a:r>
            <a:r>
              <a:rPr lang="en-AU" i="1" dirty="0" smtClean="0"/>
              <a:t>World Summit Outcome Document</a:t>
            </a:r>
          </a:p>
          <a:p>
            <a:r>
              <a:rPr lang="en-AU" dirty="0" smtClean="0"/>
              <a:t>Current form: 2009 UN Secretary-General’s report (</a:t>
            </a:r>
            <a:r>
              <a:rPr lang="en-AU" i="1" dirty="0" smtClean="0"/>
              <a:t>Implementing the Responsibility to Protect</a:t>
            </a:r>
            <a:r>
              <a:rPr lang="en-AU" dirty="0" smtClean="0"/>
              <a:t>)</a:t>
            </a:r>
          </a:p>
          <a:p>
            <a:pPr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E058F-49DE-46AF-BD40-FC813D188DE5}" type="slidenum">
              <a:rPr lang="en-AU" smtClean="0"/>
              <a:pPr/>
              <a:t>3</a:t>
            </a:fld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R2P’s three pillars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A </a:t>
            </a:r>
            <a:r>
              <a:rPr lang="en-AU" u="sng" dirty="0" smtClean="0"/>
              <a:t>political/moral</a:t>
            </a:r>
            <a:r>
              <a:rPr lang="en-AU" dirty="0" smtClean="0"/>
              <a:t> commitment to implementing existing principles of international law – limited to 4 mass atrocity crimes </a:t>
            </a:r>
          </a:p>
          <a:p>
            <a:r>
              <a:rPr lang="en-AU" dirty="0" smtClean="0"/>
              <a:t>Pillar one: the protection responsibilities of the state</a:t>
            </a:r>
          </a:p>
          <a:p>
            <a:r>
              <a:rPr lang="en-AU" dirty="0" smtClean="0"/>
              <a:t>Pillar two: international assistance and state capacity-building</a:t>
            </a:r>
          </a:p>
          <a:p>
            <a:r>
              <a:rPr lang="en-AU" dirty="0" smtClean="0"/>
              <a:t>Pillar three: timely and decisive response by other states if state is “manifestly failing”</a:t>
            </a:r>
          </a:p>
          <a:p>
            <a:pPr>
              <a:buNone/>
            </a:pPr>
            <a:r>
              <a:rPr lang="en-AU" dirty="0" smtClean="0"/>
              <a:t>	- military intervention </a:t>
            </a:r>
            <a:r>
              <a:rPr lang="en-AU" u="sng" dirty="0" smtClean="0"/>
              <a:t>only</a:t>
            </a:r>
            <a:r>
              <a:rPr lang="en-AU" dirty="0" smtClean="0"/>
              <a:t> if authorised by the Security Council </a:t>
            </a:r>
          </a:p>
          <a:p>
            <a:endParaRPr lang="en-A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E058F-49DE-46AF-BD40-FC813D188DE5}" type="slidenum">
              <a:rPr lang="en-AU" smtClean="0"/>
              <a:pPr/>
              <a:t>4</a:t>
            </a:fld>
            <a:endParaRPr lang="en-A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China and R2P pre-Libya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R2P challenges China’s traditional rigid interpretation of state sovereignty and non-intervention</a:t>
            </a:r>
          </a:p>
          <a:p>
            <a:r>
              <a:rPr lang="en-AU" dirty="0" smtClean="0"/>
              <a:t>Features of China’s relationship with R2P:</a:t>
            </a:r>
          </a:p>
          <a:p>
            <a:pPr>
              <a:buNone/>
            </a:pPr>
            <a:r>
              <a:rPr lang="en-AU" dirty="0" smtClean="0"/>
              <a:t>	1. Initial </a:t>
            </a:r>
            <a:r>
              <a:rPr lang="en-AU" dirty="0" smtClean="0"/>
              <a:t>criticism </a:t>
            </a:r>
            <a:r>
              <a:rPr lang="en-AU" dirty="0" smtClean="0"/>
              <a:t>of R2P in 2001</a:t>
            </a:r>
          </a:p>
          <a:p>
            <a:pPr>
              <a:buNone/>
            </a:pPr>
            <a:r>
              <a:rPr lang="en-AU" dirty="0" smtClean="0"/>
              <a:t>	2. Subsequent cautious support for a conservative interpretation of R2P</a:t>
            </a:r>
          </a:p>
          <a:p>
            <a:pPr>
              <a:buNone/>
            </a:pPr>
            <a:r>
              <a:rPr lang="en-AU" dirty="0" smtClean="0"/>
              <a:t>	3. Emphasis on prevention and state capacity-building (pillars 1 &amp; 2)</a:t>
            </a:r>
          </a:p>
          <a:p>
            <a:pPr>
              <a:buNone/>
            </a:pPr>
            <a:r>
              <a:rPr lang="en-AU" dirty="0" smtClean="0"/>
              <a:t>	4. Ongoing concerns over non-consensual military intervention (pillar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E058F-49DE-46AF-BD40-FC813D188DE5}" type="slidenum">
              <a:rPr lang="en-AU" smtClean="0"/>
              <a:pPr/>
              <a:t>5</a:t>
            </a:fld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R2P and the Libyan intervention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6"/>
            <a:ext cx="8229600" cy="4879108"/>
          </a:xfrm>
        </p:spPr>
        <p:txBody>
          <a:bodyPr>
            <a:normAutofit fontScale="92500" lnSpcReduction="20000"/>
          </a:bodyPr>
          <a:lstStyle/>
          <a:p>
            <a:r>
              <a:rPr lang="en-AU" dirty="0" smtClean="0"/>
              <a:t>Libya = first Security Council (SC) authorisation of use of force for civilian protection purposes against wishes of “host” state</a:t>
            </a:r>
          </a:p>
          <a:p>
            <a:r>
              <a:rPr lang="en-AU" dirty="0" smtClean="0"/>
              <a:t>R2P framed international community’s response to violence against civilians:</a:t>
            </a:r>
          </a:p>
          <a:p>
            <a:pPr>
              <a:buNone/>
            </a:pPr>
            <a:r>
              <a:rPr lang="en-AU" dirty="0" smtClean="0"/>
              <a:t>		1. SC Res 1970 (unanimous)</a:t>
            </a:r>
          </a:p>
          <a:p>
            <a:pPr>
              <a:buNone/>
            </a:pPr>
            <a:r>
              <a:rPr lang="en-AU" dirty="0" smtClean="0"/>
              <a:t>		2. SC 1973 (10 votes for, 5 abstentions):</a:t>
            </a:r>
          </a:p>
          <a:p>
            <a:pPr>
              <a:buNone/>
            </a:pPr>
            <a:r>
              <a:rPr lang="en-AU" dirty="0" smtClean="0"/>
              <a:t>		- </a:t>
            </a:r>
            <a:r>
              <a:rPr lang="en-AU" sz="2600" dirty="0" smtClean="0"/>
              <a:t>“all necessary measures to protect civilians and 	civilian populated areas under threat of attack” – 	established a no-fly zone</a:t>
            </a:r>
          </a:p>
          <a:p>
            <a:pPr>
              <a:buNone/>
            </a:pPr>
            <a:r>
              <a:rPr lang="en-AU" sz="2600" dirty="0" smtClean="0"/>
              <a:t>		- “excluding a foreign occupation force of any form 	on any part of Libyan territory”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E058F-49DE-46AF-BD40-FC813D188DE5}" type="slidenum">
              <a:rPr lang="en-AU" smtClean="0"/>
              <a:pPr/>
              <a:t>6</a:t>
            </a:fld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China and R2P in Libya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916832"/>
            <a:ext cx="8229600" cy="4526280"/>
          </a:xfrm>
        </p:spPr>
        <p:txBody>
          <a:bodyPr>
            <a:normAutofit fontScale="62500" lnSpcReduction="20000"/>
          </a:bodyPr>
          <a:lstStyle/>
          <a:p>
            <a:r>
              <a:rPr lang="en-AU" sz="4000" dirty="0" smtClean="0"/>
              <a:t>Abstention on Res 1973 = a softening  of Chinese attitudes to R2P and intervention?</a:t>
            </a:r>
          </a:p>
          <a:p>
            <a:r>
              <a:rPr lang="en-AU" sz="4000" dirty="0" smtClean="0"/>
              <a:t>Libya as a “perfect storm” for R2P</a:t>
            </a:r>
          </a:p>
          <a:p>
            <a:pPr>
              <a:buNone/>
            </a:pPr>
            <a:r>
              <a:rPr lang="en-AU" sz="4000" dirty="0" smtClean="0"/>
              <a:t>		1. clear, urgent threat of violence</a:t>
            </a:r>
          </a:p>
          <a:p>
            <a:pPr>
              <a:buNone/>
            </a:pPr>
            <a:r>
              <a:rPr lang="en-AU" sz="4000" dirty="0" smtClean="0"/>
              <a:t>		2. Gaddafi’s international isolation</a:t>
            </a:r>
          </a:p>
          <a:p>
            <a:pPr>
              <a:buNone/>
            </a:pPr>
            <a:r>
              <a:rPr lang="en-AU" sz="4000" dirty="0" smtClean="0"/>
              <a:t>		3. regional consensus on need for intervention</a:t>
            </a:r>
          </a:p>
          <a:p>
            <a:r>
              <a:rPr lang="en-AU" sz="4000" dirty="0" smtClean="0"/>
              <a:t>But China still had </a:t>
            </a:r>
            <a:r>
              <a:rPr lang="en-AU" sz="4000" dirty="0" smtClean="0"/>
              <a:t>“serious difficulty with parts of the resolution”	</a:t>
            </a:r>
          </a:p>
          <a:p>
            <a:r>
              <a:rPr lang="en-AU" sz="4000" dirty="0" smtClean="0"/>
              <a:t>China (and other BRIC states) critical of scope of NATO’s military action:</a:t>
            </a:r>
          </a:p>
          <a:p>
            <a:pPr>
              <a:buNone/>
            </a:pPr>
            <a:r>
              <a:rPr lang="en-AU" sz="4000" dirty="0" smtClean="0"/>
              <a:t>		- accused Western powers of exceeding Res	1973’s mandate for force</a:t>
            </a:r>
          </a:p>
          <a:p>
            <a:pPr>
              <a:buNone/>
            </a:pPr>
            <a:r>
              <a:rPr lang="en-AU" sz="4000" dirty="0" smtClean="0"/>
              <a:t>		- perception R2P was used as a pretext for 	“regime change” </a:t>
            </a:r>
            <a:endParaRPr lang="en-AU" sz="2800" dirty="0" smtClean="0"/>
          </a:p>
          <a:p>
            <a:endParaRPr lang="en-AU" sz="2800" dirty="0" smtClean="0"/>
          </a:p>
          <a:p>
            <a:pPr>
              <a:buNone/>
            </a:pPr>
            <a:endParaRPr lang="en-AU" sz="2800" dirty="0" smtClean="0"/>
          </a:p>
          <a:p>
            <a:pPr>
              <a:buNone/>
            </a:pPr>
            <a:endParaRPr lang="en-AU" sz="2800" dirty="0" smtClean="0"/>
          </a:p>
          <a:p>
            <a:pPr>
              <a:buNone/>
            </a:pPr>
            <a:endParaRPr lang="en-AU" dirty="0" smtClean="0"/>
          </a:p>
          <a:p>
            <a:pPr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E058F-49DE-46AF-BD40-FC813D188DE5}" type="slidenum">
              <a:rPr lang="en-AU" smtClean="0"/>
              <a:pPr/>
              <a:t>7</a:t>
            </a:fld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R2P post-Libya: Syria &amp; Yemen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6"/>
            <a:ext cx="8229600" cy="5023124"/>
          </a:xfrm>
        </p:spPr>
        <p:txBody>
          <a:bodyPr>
            <a:noAutofit/>
          </a:bodyPr>
          <a:lstStyle/>
          <a:p>
            <a:r>
              <a:rPr lang="en-AU" sz="2800" dirty="0" smtClean="0"/>
              <a:t>“Libya has given R2P a bad name”: Indian ambassador to the UN</a:t>
            </a:r>
          </a:p>
          <a:p>
            <a:r>
              <a:rPr lang="en-AU" sz="2800" dirty="0" smtClean="0"/>
              <a:t>BRIC states view NATO action in Libya as confirmation of their longstanding concerns over R2P’s potential for misuse/abuse </a:t>
            </a:r>
          </a:p>
          <a:p>
            <a:r>
              <a:rPr lang="en-AU" sz="2800" dirty="0" smtClean="0"/>
              <a:t>Political backlash against R2P has prevented consensus on decisive civilian protection action in Syria/Yemen:</a:t>
            </a:r>
          </a:p>
          <a:p>
            <a:pPr>
              <a:buNone/>
            </a:pPr>
            <a:r>
              <a:rPr lang="en-AU" sz="2800" dirty="0" smtClean="0"/>
              <a:t>	- 4 October 2011: China, Russia vetoed draft resolution on Syria</a:t>
            </a:r>
          </a:p>
          <a:p>
            <a:pPr>
              <a:buNone/>
            </a:pPr>
            <a:r>
              <a:rPr lang="en-AU" sz="2800" dirty="0" smtClean="0"/>
              <a:t>	- 21 October 2011: SC Res 2014 on Yemen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E058F-49DE-46AF-BD40-FC813D188DE5}" type="slidenum">
              <a:rPr lang="en-AU" smtClean="0"/>
              <a:pPr/>
              <a:t>8</a:t>
            </a:fld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China and R2P post-Libya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 smtClean="0"/>
              <a:t>A third phase in the relationship</a:t>
            </a:r>
          </a:p>
          <a:p>
            <a:pPr>
              <a:buNone/>
            </a:pPr>
            <a:r>
              <a:rPr lang="en-AU" dirty="0" smtClean="0"/>
              <a:t>	= hardened Chinese resistance to R2P?</a:t>
            </a:r>
          </a:p>
          <a:p>
            <a:r>
              <a:rPr lang="en-AU" dirty="0" smtClean="0"/>
              <a:t>Signs of a renewed strategy of containing R2P’s development:</a:t>
            </a:r>
          </a:p>
          <a:p>
            <a:pPr>
              <a:buNone/>
            </a:pPr>
            <a:r>
              <a:rPr lang="en-AU" dirty="0" smtClean="0"/>
              <a:t>		- “various parties still hold divergent 	views on the responsibility to protect”</a:t>
            </a:r>
          </a:p>
          <a:p>
            <a:pPr>
              <a:buNone/>
            </a:pPr>
            <a:r>
              <a:rPr lang="en-AU" dirty="0" smtClean="0"/>
              <a:t>		- “the </a:t>
            </a:r>
            <a:r>
              <a:rPr lang="en-AU" u="sng" dirty="0" smtClean="0"/>
              <a:t>General Assembly</a:t>
            </a:r>
            <a:r>
              <a:rPr lang="en-AU" dirty="0" smtClean="0"/>
              <a:t> should 	continue its discussion on this matter”</a:t>
            </a:r>
          </a:p>
          <a:p>
            <a:r>
              <a:rPr lang="en-AU" dirty="0" smtClean="0"/>
              <a:t>China is supported by other BRIC states in opposing further implementation of R2P</a:t>
            </a:r>
          </a:p>
          <a:p>
            <a:endParaRPr lang="en-AU" dirty="0" smtClean="0"/>
          </a:p>
          <a:p>
            <a:pPr>
              <a:buNone/>
            </a:pPr>
            <a:endParaRPr lang="en-AU" dirty="0" smtClean="0"/>
          </a:p>
          <a:p>
            <a:pPr>
              <a:buNone/>
            </a:pPr>
            <a:endParaRPr lang="en-AU" dirty="0" smtClean="0"/>
          </a:p>
          <a:p>
            <a:pPr>
              <a:buNone/>
            </a:pPr>
            <a:endParaRPr lang="en-AU" dirty="0" smtClean="0"/>
          </a:p>
          <a:p>
            <a:pPr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E058F-49DE-46AF-BD40-FC813D188DE5}" type="slidenum">
              <a:rPr lang="en-AU" smtClean="0"/>
              <a:pPr/>
              <a:t>9</a:t>
            </a:fld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Libya’s impact on R2P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AU" sz="2800" dirty="0" smtClean="0"/>
              <a:t>Consolidation or weakening of R2P’s normative status?</a:t>
            </a:r>
          </a:p>
          <a:p>
            <a:r>
              <a:rPr lang="en-AU" sz="2800" dirty="0" smtClean="0"/>
              <a:t>Libya as a unique case – </a:t>
            </a:r>
            <a:r>
              <a:rPr lang="en-AU" sz="2800" u="sng" dirty="0" smtClean="0"/>
              <a:t>not</a:t>
            </a:r>
            <a:r>
              <a:rPr lang="en-AU" sz="2800" dirty="0" smtClean="0"/>
              <a:t> a fundamental shift towards agreement on R2P’s military dimension</a:t>
            </a:r>
          </a:p>
          <a:p>
            <a:r>
              <a:rPr lang="en-AU" sz="2800" dirty="0" smtClean="0"/>
              <a:t>R2P faces significant challenges:</a:t>
            </a:r>
          </a:p>
          <a:p>
            <a:pPr>
              <a:buNone/>
            </a:pPr>
            <a:r>
              <a:rPr lang="en-AU" sz="2800" dirty="0" smtClean="0"/>
              <a:t>		1. political fall-out from divisions over Libya – 	need 	to develop criteria for SC decision-making</a:t>
            </a:r>
          </a:p>
          <a:p>
            <a:pPr>
              <a:buNone/>
            </a:pPr>
            <a:r>
              <a:rPr lang="en-AU" sz="2800" dirty="0" smtClean="0"/>
              <a:t>		2. drafting/interpretation of SC resolutions 	authorising use of force</a:t>
            </a:r>
          </a:p>
          <a:p>
            <a:pPr>
              <a:buNone/>
            </a:pPr>
            <a:r>
              <a:rPr lang="en-AU" sz="2800" dirty="0" smtClean="0"/>
              <a:t>		3. conceptual and operational issues: civilian 	protection vs. “regime change”</a:t>
            </a:r>
          </a:p>
          <a:p>
            <a:r>
              <a:rPr lang="en-AU" sz="2800" dirty="0" smtClean="0"/>
              <a:t>In short/medium term further operationalisation of R2P’s military dimension appears unlikely</a:t>
            </a:r>
          </a:p>
          <a:p>
            <a:pPr>
              <a:buNone/>
            </a:pPr>
            <a:endParaRPr lang="en-AU" sz="2800" dirty="0" smtClean="0"/>
          </a:p>
          <a:p>
            <a:pPr>
              <a:buNone/>
            </a:pPr>
            <a:endParaRPr lang="en-AU" sz="2800" dirty="0" smtClean="0"/>
          </a:p>
          <a:p>
            <a:pPr>
              <a:buNone/>
            </a:pPr>
            <a:endParaRPr lang="en-AU" sz="2800" dirty="0" smtClean="0"/>
          </a:p>
          <a:p>
            <a:pPr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E058F-49DE-46AF-BD40-FC813D188DE5}" type="slidenum">
              <a:rPr lang="en-AU" smtClean="0"/>
              <a:pPr/>
              <a:t>10</a:t>
            </a:fld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Concluding comments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Libyan intervention = product of an unusual confluence of political factors (</a:t>
            </a:r>
            <a:r>
              <a:rPr lang="en-AU" u="sng" dirty="0" smtClean="0"/>
              <a:t>not</a:t>
            </a:r>
            <a:r>
              <a:rPr lang="en-AU" dirty="0" smtClean="0"/>
              <a:t> a fundamental normative shift towards agreement on R2P)</a:t>
            </a:r>
          </a:p>
          <a:p>
            <a:r>
              <a:rPr lang="en-AU" dirty="0" smtClean="0"/>
              <a:t> Significant divisions between Western states and China (plus other BRIC states) over R2P may hinder civilian protection</a:t>
            </a:r>
          </a:p>
          <a:p>
            <a:r>
              <a:rPr lang="en-AU" dirty="0" smtClean="0"/>
              <a:t>Libya as a case of “one step forward, two steps back” for R2P’s military dimension?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E058F-49DE-46AF-BD40-FC813D188DE5}" type="slidenum">
              <a:rPr lang="en-AU" smtClean="0"/>
              <a:pPr/>
              <a:t>11</a:t>
            </a:fld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600</TotalTime>
  <Words>439</Words>
  <Application>Microsoft Office PowerPoint</Application>
  <PresentationFormat>On-screen Show (4:3)</PresentationFormat>
  <Paragraphs>93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Foundry</vt:lpstr>
      <vt:lpstr>China and the responsibility to protect (R2P): the implications of the Libyan intervention</vt:lpstr>
      <vt:lpstr>Overview</vt:lpstr>
      <vt:lpstr>R2P and its evolution</vt:lpstr>
      <vt:lpstr>R2P’s three pillars</vt:lpstr>
      <vt:lpstr>China and R2P pre-Libya</vt:lpstr>
      <vt:lpstr>R2P and the Libyan intervention</vt:lpstr>
      <vt:lpstr>China and R2P in Libya </vt:lpstr>
      <vt:lpstr>R2P post-Libya: Syria &amp; Yemen</vt:lpstr>
      <vt:lpstr>China and R2P post-Libya</vt:lpstr>
      <vt:lpstr>Libya’s impact on R2P</vt:lpstr>
      <vt:lpstr>Concluding comments</vt:lpstr>
    </vt:vector>
  </TitlesOfParts>
  <Company>QUT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and the responsibility to protect: the implications of the Libyan intervention</dc:title>
  <dc:creator>garwoodg</dc:creator>
  <cp:lastModifiedBy>garwoodg</cp:lastModifiedBy>
  <cp:revision>223</cp:revision>
  <dcterms:created xsi:type="dcterms:W3CDTF">2011-11-07T06:40:41Z</dcterms:created>
  <dcterms:modified xsi:type="dcterms:W3CDTF">2012-02-16T01:03:21Z</dcterms:modified>
</cp:coreProperties>
</file>