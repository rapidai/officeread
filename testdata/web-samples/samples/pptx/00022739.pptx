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slides/slide52.xml" ContentType="application/vnd.openxmlformats-officedocument.presentationml.slide+xml"/>
  <Override PartName="/ppt/slides/slide49.xml" ContentType="application/vnd.openxmlformats-officedocument.presentationml.slide+xml"/>
  <Override PartName="/ppt/slides/slide33.xml" ContentType="application/vnd.openxmlformats-officedocument.presentationml.slide+xml"/>
  <Override PartName="/ppt/notesSlides/notesSlide30.xml" ContentType="application/vnd.openxmlformats-officedocument.presentationml.notesSlide+xml"/>
  <Default Extension="bin" ContentType="application/vnd.openxmlformats-officedocument.presentationml.printerSettings"/>
  <Override PartName="/ppt/notesSlides/notesSlide13.xml" ContentType="application/vnd.openxmlformats-officedocument.presentationml.notesSlide+xml"/>
  <Default Extension="wmf" ContentType="image/x-wmf"/>
  <Override PartName="/ppt/notesSlides/notesSlide29.xml" ContentType="application/vnd.openxmlformats-officedocument.presentationml.notesSlide+xml"/>
  <Override PartName="/ppt/notesSlides/notesSlide2.xml" ContentType="application/vnd.openxmlformats-officedocument.presentationml.notesSlide+xml"/>
  <Override PartName="/ppt/slides/slide18.xml" ContentType="application/vnd.openxmlformats-officedocument.presentationml.slide+xml"/>
  <Override PartName="/ppt/slides/slide37.xml" ContentType="application/vnd.openxmlformats-officedocument.presentationml.slide+xml"/>
  <Override PartName="/ppt/notesSlides/notesSlide48.xml" ContentType="application/vnd.openxmlformats-officedocument.presentationml.notesSlide+xml"/>
  <Override PartName="/ppt/slides/slide3.xml" ContentType="application/vnd.openxmlformats-officedocument.presentationml.slide+xml"/>
  <Override PartName="/ppt/notesSlides/notesSlide34.xml" ContentType="application/vnd.openxmlformats-officedocument.presentationml.notesSlide+xml"/>
  <Override PartName="/ppt/slideLayouts/slideLayout1.xml" ContentType="application/vnd.openxmlformats-officedocument.presentationml.slideLayout+xml"/>
  <Override PartName="/ppt/slides/slide23.xml" ContentType="application/vnd.openxmlformats-officedocument.presentationml.slide+xml"/>
  <Override PartName="/ppt/slides/slide42.xml" ContentType="application/vnd.openxmlformats-officedocument.presentationml.slide+xml"/>
  <Override PartName="/ppt/theme/theme1.xml" ContentType="application/vnd.openxmlformats-officedocument.theme+xml"/>
  <Override PartName="/ppt/slideLayouts/slideLayout10.xml" ContentType="application/vnd.openxmlformats-officedocument.presentationml.slideLayout+xml"/>
  <Override PartName="/ppt/notesSlides/notesSlide17.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27.xml" ContentType="application/vnd.openxmlformats-officedocument.presentationml.slide+xml"/>
  <Override PartName="/ppt/slides/slide11.xml" ContentType="application/vnd.openxmlformats-officedocument.presentationml.slide+xml"/>
  <Override PartName="/ppt/slides/slide46.xml" ContentType="application/vnd.openxmlformats-officedocument.presentationml.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notesSlides/notesSlide45.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slides/slide53.xml" ContentType="application/vnd.openxmlformats-officedocument.presentationml.slide+xml"/>
  <Override PartName="/ppt/slides/slide15.xml" ContentType="application/vnd.openxmlformats-officedocument.presentationml.slide+xml"/>
  <Override PartName="/ppt/notesSlides/notesSlide31.xml" ContentType="application/vnd.openxmlformats-officedocument.presentationml.notesSlide+xml"/>
  <Override PartName="/ppt/notesSlides/notesSlide50.xml" ContentType="application/vnd.openxmlformats-officedocument.presentationml.notesSlide+xml"/>
  <Override PartName="/ppt/slides/slide20.xml" ContentType="application/vnd.openxmlformats-officedocument.presentationml.slide+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Override PartName="/ppt/slides/slide38.xml" ContentType="application/vnd.openxmlformats-officedocument.presentationml.slide+xml"/>
  <Override PartName="/ppt/notesSlides/notesSlide49.xml" ContentType="application/vnd.openxmlformats-officedocument.presentationml.notesSlide+xml"/>
  <Override PartName="/ppt/slides/slide4.xml" ContentType="application/vnd.openxmlformats-officedocument.presentationml.slide+xml"/>
  <Override PartName="/ppt/notesSlides/notesSlide35.xml" ContentType="application/vnd.openxmlformats-officedocument.presentationml.notesSlide+xml"/>
  <Override PartName="/ppt/slideLayouts/slideLayout2.xml" ContentType="application/vnd.openxmlformats-officedocument.presentationml.slideLayout+xml"/>
  <Override PartName="/ppt/slides/slide24.xml" ContentType="application/vnd.openxmlformats-officedocument.presentationml.slide+xml"/>
  <Override PartName="/ppt/slides/slide43.xml" ContentType="application/vnd.openxmlformats-officedocument.presentationml.slide+xml"/>
  <Override PartName="/ppt/theme/theme2.xml" ContentType="application/vnd.openxmlformats-officedocument.theme+xml"/>
  <Override PartName="/ppt/handoutMasters/handoutMaster1.xml" ContentType="application/vnd.openxmlformats-officedocument.presentationml.handoutMaster+xml"/>
  <Override PartName="/ppt/slideLayouts/slideLayout11.xml" ContentType="application/vnd.openxmlformats-officedocument.presentationml.slideLayout+xml"/>
  <Override PartName="/ppt/notesSlides/notesSlide18.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Default Extension="jpeg" ContentType="image/jpeg"/>
  <Override PartName="/ppt/notesSlides/notesSlide23.xml" ContentType="application/vnd.openxmlformats-officedocument.presentationml.notesSlide+xml"/>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s/slide28.xml" ContentType="application/vnd.openxmlformats-officedocument.presentationml.slide+xml"/>
  <Override PartName="/ppt/slides/slide50.xml" ContentType="application/vnd.openxmlformats-officedocument.presentationml.slide+xml"/>
  <Override PartName="/ppt/slides/slide47.xml" ContentType="application/vnd.openxmlformats-officedocument.presentationml.slide+xml"/>
  <Override PartName="/ppt/slides/slide31.xml" ContentType="application/vnd.openxmlformats-officedocument.presentationml.slide+xml"/>
  <Override PartName="/ppt/notesSlides/notesSlide42.xml" ContentType="application/vnd.openxmlformats-officedocument.presentationml.notesSlide+xml"/>
  <Override PartName="/ppt/notesSlides/notesSlide9.xml" ContentType="application/vnd.openxmlformats-officedocument.presentationml.notesSlide+xml"/>
  <Default Extension="emf" ContentType="image/x-emf"/>
  <Override PartName="/ppt/notesSlides/notesSlide11.xml" ContentType="application/vnd.openxmlformats-officedocument.presentationml.notesSlide+xml"/>
  <Default Extension="rels" ContentType="application/vnd.openxmlformats-package.relationships+xml"/>
  <Override PartName="/ppt/notesSlides/notesSlide27.xml" ContentType="application/vnd.openxmlformats-officedocument.presentationml.notesSlide+xml"/>
  <Override PartName="/ppt/notesSlides/notesSlide46.xml" ContentType="application/vnd.openxmlformats-officedocument.presentationml.notesSlide+xml"/>
  <Override PartName="/ppt/slides/slide16.xml" ContentType="application/vnd.openxmlformats-officedocument.presentationml.slide+xml"/>
  <Override PartName="/ppt/slides/slide35.xml" ContentType="application/vnd.openxmlformats-officedocument.presentationml.slide+xml"/>
  <Override PartName="/ppt/slides/slide54.xml" ContentType="application/vnd.openxmlformats-officedocument.presentationml.slide+xml"/>
  <Override PartName="/ppt/slides/slide1.xml" ContentType="application/vnd.openxmlformats-officedocument.presentationml.slide+xml"/>
  <Override PartName="/ppt/notesSlides/notesSlide32.xml" ContentType="application/vnd.openxmlformats-officedocument.presentationml.notesSlide+xml"/>
  <Override PartName="/ppt/notesSlides/notesSlide51.xml" ContentType="application/vnd.openxmlformats-officedocument.presentationml.notesSlide+xml"/>
  <Override PartName="/ppt/slides/slide21.xml" ContentType="application/vnd.openxmlformats-officedocument.presentationml.slide+xml"/>
  <Override PartName="/ppt/slides/slide40.xml" ContentType="application/vnd.openxmlformats-officedocument.presentationml.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slides/slide39.xml" ContentType="application/vnd.openxmlformats-officedocument.presentationml.slide+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s/slide25.xml" ContentType="application/vnd.openxmlformats-officedocument.presentationml.slide+xml"/>
  <Override PartName="/ppt/slides/slide44.xml" ContentType="application/vnd.openxmlformats-officedocument.presentationml.slide+xml"/>
  <Override PartName="/ppt/theme/theme3.xml" ContentType="application/vnd.openxmlformats-officedocument.theme+xml"/>
  <Override PartName="/ppt/slideLayouts/slideLayout12.xml" ContentType="application/vnd.openxmlformats-officedocument.presentationml.slideLayout+xml"/>
  <Override PartName="/ppt/notesSlides/notesSlide19.xml" ContentType="application/vnd.openxmlformats-officedocument.presentationml.notesSlide+xml"/>
  <Override PartName="/ppt/notesSlides/notesSlide38.xml" ContentType="application/vnd.openxmlformats-officedocument.presentationml.notesSlide+xml"/>
  <Override PartName="/ppt/notesSlides/notesSlide24.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tableStyles.xml" ContentType="application/vnd.openxmlformats-officedocument.presentationml.tableStyles+xml"/>
  <Override PartName="/ppt/slides/slide51.xml" ContentType="application/vnd.openxmlformats-officedocument.presentationml.slide+xml"/>
  <Override PartName="/ppt/slides/slide48.xml" ContentType="application/vnd.openxmlformats-officedocument.presentationml.slide+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s/slide32.xml" ContentType="application/vnd.openxmlformats-officedocument.presentationml.slide+xml"/>
  <Override PartName="/ppt/viewProps.xml" ContentType="application/vnd.openxmlformats-officedocument.presentationml.viewProps+xml"/>
  <Override PartName="/ppt/slides/slide29.xml" ContentType="application/vnd.openxmlformats-officedocument.presentationml.slide+xml"/>
  <Override PartName="/ppt/notesSlides/notesSlide43.xml" ContentType="application/vnd.openxmlformats-officedocument.presentationml.notesSlide+xml"/>
  <Override PartName="/docProps/app.xml" ContentType="application/vnd.openxmlformats-officedocument.extended-properties+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36.xml" ContentType="application/vnd.openxmlformats-officedocument.presentationml.slide+xml"/>
  <Override PartName="/ppt/slides/slide55.xml" ContentType="application/vnd.openxmlformats-officedocument.presentationml.slide+xml"/>
  <Override PartName="/ppt/presentation.xml" ContentType="application/vnd.openxmlformats-officedocument.presentationml.presentation.main+xml"/>
  <Override PartName="/ppt/slides/slide2.xml" ContentType="application/vnd.openxmlformats-officedocument.presentationml.slide+xml"/>
  <Override PartName="/ppt/notesSlides/notesSlide33.xml" ContentType="application/vnd.openxmlformats-officedocument.presentationml.notesSlide+xml"/>
  <Override PartName="/ppt/notesSlides/notesSlide47.xml" ContentType="application/vnd.openxmlformats-officedocument.presentationml.notesSlide+xml"/>
  <Override PartName="/ppt/slides/slide22.xml" ContentType="application/vnd.openxmlformats-officedocument.presentationml.slide+xml"/>
  <Override PartName="/ppt/slides/slide41.xml" ContentType="application/vnd.openxmlformats-officedocument.presentationml.slide+xml"/>
  <Override PartName="/ppt/notesSlides/notesSlide16.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slides/slide6.xml" ContentType="application/vnd.openxmlformats-officedocument.presentationml.slide+xml"/>
  <Override PartName="/ppt/slideLayouts/slideLayout4.xml" ContentType="application/vnd.openxmlformats-officedocument.presentationml.slideLayout+xml"/>
  <Override PartName="/ppt/slides/slide10.xml" ContentType="application/vnd.openxmlformats-officedocument.presentationml.slide+xml"/>
  <Override PartName="/ppt/slides/slide26.xml" ContentType="application/vnd.openxmlformats-officedocument.presentationml.slide+xml"/>
  <Override PartName="/ppt/slides/slide45.xml" ContentType="application/vnd.openxmlformats-officedocument.presentationml.slide+xml"/>
  <Override PartName="/ppt/notesSlides/notesSlide40.xml" ContentType="application/vnd.openxmlformats-officedocument.presentationml.notesSlide+xml"/>
  <Override PartName="/ppt/slideLayouts/slideLayout13.xml" ContentType="application/vnd.openxmlformats-officedocument.presentationml.slideLayout+xml"/>
  <Override PartName="/docProps/custom.xml" ContentType="application/vnd.openxmlformats-officedocument.custom-properties+xml"/>
  <Override PartName="/ppt/notesSlides/notesSlide39.xml" ContentType="application/vnd.openxmlformats-officedocument.presentationml.notesSlide+xml"/>
  <Default Extension="png" ContentType="image/png"/>
  <Override PartName="/ppt/notesSlides/notesSlide25.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48" r:id="rId1"/>
  </p:sldMasterIdLst>
  <p:notesMasterIdLst>
    <p:notesMasterId r:id="rId57"/>
  </p:notesMasterIdLst>
  <p:handoutMasterIdLst>
    <p:handoutMasterId r:id="rId58"/>
  </p:handoutMasterIdLst>
  <p:sldIdLst>
    <p:sldId id="291" r:id="rId2"/>
    <p:sldId id="385" r:id="rId3"/>
    <p:sldId id="371" r:id="rId4"/>
    <p:sldId id="368" r:id="rId5"/>
    <p:sldId id="383" r:id="rId6"/>
    <p:sldId id="360" r:id="rId7"/>
    <p:sldId id="361" r:id="rId8"/>
    <p:sldId id="359" r:id="rId9"/>
    <p:sldId id="362" r:id="rId10"/>
    <p:sldId id="367" r:id="rId11"/>
    <p:sldId id="384" r:id="rId12"/>
    <p:sldId id="364" r:id="rId13"/>
    <p:sldId id="365" r:id="rId14"/>
    <p:sldId id="354" r:id="rId15"/>
    <p:sldId id="355" r:id="rId16"/>
    <p:sldId id="356" r:id="rId17"/>
    <p:sldId id="357" r:id="rId18"/>
    <p:sldId id="366" r:id="rId19"/>
    <p:sldId id="304" r:id="rId20"/>
    <p:sldId id="341" r:id="rId21"/>
    <p:sldId id="342" r:id="rId22"/>
    <p:sldId id="343" r:id="rId23"/>
    <p:sldId id="348" r:id="rId24"/>
    <p:sldId id="369" r:id="rId25"/>
    <p:sldId id="345" r:id="rId26"/>
    <p:sldId id="308" r:id="rId27"/>
    <p:sldId id="370" r:id="rId28"/>
    <p:sldId id="317" r:id="rId29"/>
    <p:sldId id="310" r:id="rId30"/>
    <p:sldId id="358" r:id="rId31"/>
    <p:sldId id="311" r:id="rId32"/>
    <p:sldId id="381" r:id="rId33"/>
    <p:sldId id="382" r:id="rId34"/>
    <p:sldId id="379" r:id="rId35"/>
    <p:sldId id="298" r:id="rId36"/>
    <p:sldId id="312" r:id="rId37"/>
    <p:sldId id="324" r:id="rId38"/>
    <p:sldId id="325" r:id="rId39"/>
    <p:sldId id="376" r:id="rId40"/>
    <p:sldId id="326" r:id="rId41"/>
    <p:sldId id="327" r:id="rId42"/>
    <p:sldId id="328" r:id="rId43"/>
    <p:sldId id="330" r:id="rId44"/>
    <p:sldId id="331" r:id="rId45"/>
    <p:sldId id="333" r:id="rId46"/>
    <p:sldId id="332" r:id="rId47"/>
    <p:sldId id="335" r:id="rId48"/>
    <p:sldId id="336" r:id="rId49"/>
    <p:sldId id="337" r:id="rId50"/>
    <p:sldId id="338" r:id="rId51"/>
    <p:sldId id="339" r:id="rId52"/>
    <p:sldId id="372" r:id="rId53"/>
    <p:sldId id="373" r:id="rId54"/>
    <p:sldId id="374" r:id="rId55"/>
    <p:sldId id="375" r:id="rId56"/>
  </p:sldIdLst>
  <p:sldSz cx="9144000" cy="6858000" type="screen4x3"/>
  <p:notesSz cx="6946900" cy="9220200"/>
  <p:defaultTextStyle>
    <a:defPPr>
      <a:defRPr lang="en-US"/>
    </a:defPPr>
    <a:lvl1pPr algn="l" rtl="0" eaLnBrk="0" fontAlgn="base" hangingPunct="0">
      <a:spcBef>
        <a:spcPct val="0"/>
      </a:spcBef>
      <a:spcAft>
        <a:spcPct val="0"/>
      </a:spcAft>
      <a:defRPr sz="2000" kern="1200">
        <a:solidFill>
          <a:schemeClr val="tx1"/>
        </a:solidFill>
        <a:latin typeface="Arial" charset="0"/>
        <a:ea typeface="+mn-ea"/>
        <a:cs typeface="+mn-cs"/>
      </a:defRPr>
    </a:lvl1pPr>
    <a:lvl2pPr marL="457200" algn="l" rtl="0" eaLnBrk="0" fontAlgn="base" hangingPunct="0">
      <a:spcBef>
        <a:spcPct val="0"/>
      </a:spcBef>
      <a:spcAft>
        <a:spcPct val="0"/>
      </a:spcAft>
      <a:defRPr sz="2000" kern="1200">
        <a:solidFill>
          <a:schemeClr val="tx1"/>
        </a:solidFill>
        <a:latin typeface="Arial" charset="0"/>
        <a:ea typeface="+mn-ea"/>
        <a:cs typeface="+mn-cs"/>
      </a:defRPr>
    </a:lvl2pPr>
    <a:lvl3pPr marL="914400" algn="l" rtl="0" eaLnBrk="0" fontAlgn="base" hangingPunct="0">
      <a:spcBef>
        <a:spcPct val="0"/>
      </a:spcBef>
      <a:spcAft>
        <a:spcPct val="0"/>
      </a:spcAft>
      <a:defRPr sz="2000" kern="1200">
        <a:solidFill>
          <a:schemeClr val="tx1"/>
        </a:solidFill>
        <a:latin typeface="Arial" charset="0"/>
        <a:ea typeface="+mn-ea"/>
        <a:cs typeface="+mn-cs"/>
      </a:defRPr>
    </a:lvl3pPr>
    <a:lvl4pPr marL="1371600" algn="l" rtl="0" eaLnBrk="0" fontAlgn="base" hangingPunct="0">
      <a:spcBef>
        <a:spcPct val="0"/>
      </a:spcBef>
      <a:spcAft>
        <a:spcPct val="0"/>
      </a:spcAft>
      <a:defRPr sz="2000" kern="1200">
        <a:solidFill>
          <a:schemeClr val="tx1"/>
        </a:solidFill>
        <a:latin typeface="Arial" charset="0"/>
        <a:ea typeface="+mn-ea"/>
        <a:cs typeface="+mn-cs"/>
      </a:defRPr>
    </a:lvl4pPr>
    <a:lvl5pPr marL="1828800" algn="l" rtl="0" eaLnBrk="0" fontAlgn="base" hangingPunct="0">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8904" autoAdjust="0"/>
    <p:restoredTop sz="98957" autoAdjust="0"/>
  </p:normalViewPr>
  <p:slideViewPr>
    <p:cSldViewPr>
      <p:cViewPr varScale="1">
        <p:scale>
          <a:sx n="120" d="100"/>
          <a:sy n="120" d="100"/>
        </p:scale>
        <p:origin x="-872" y="-96"/>
      </p:cViewPr>
      <p:guideLst>
        <p:guide orient="horz" pos="2160"/>
        <p:guide pos="2880"/>
      </p:guideLst>
    </p:cSldViewPr>
  </p:slideViewPr>
  <p:outlineViewPr>
    <p:cViewPr>
      <p:scale>
        <a:sx n="33" d="100"/>
        <a:sy n="33" d="100"/>
      </p:scale>
      <p:origin x="48" y="2333"/>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1" d="100"/>
          <a:sy n="71" d="100"/>
        </p:scale>
        <p:origin x="-1061" y="-77"/>
      </p:cViewPr>
      <p:guideLst>
        <p:guide orient="horz" pos="2904"/>
        <p:guide pos="2188"/>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handoutMaster" Target="handoutMasters/handoutMaster1.xml"/><Relationship Id="rId59" Type="http://schemas.openxmlformats.org/officeDocument/2006/relationships/printerSettings" Target="printerSettings/printerSettings1.bin"/><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eaLnBrk="1" hangingPunct="1">
              <a:defRPr sz="1200"/>
            </a:lvl1pPr>
          </a:lstStyle>
          <a:p>
            <a:pPr>
              <a:defRPr/>
            </a:pPr>
            <a:endParaRPr lang="en-US" dirty="0"/>
          </a:p>
        </p:txBody>
      </p:sp>
      <p:sp>
        <p:nvSpPr>
          <p:cNvPr id="17411" name="Rectangle 3"/>
          <p:cNvSpPr>
            <a:spLocks noGrp="1" noChangeArrowheads="1"/>
          </p:cNvSpPr>
          <p:nvPr>
            <p:ph type="dt" sz="quarter" idx="1"/>
          </p:nvPr>
        </p:nvSpPr>
        <p:spPr bwMode="auto">
          <a:xfrm>
            <a:off x="3935413"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algn="r" eaLnBrk="1" hangingPunct="1">
              <a:defRPr sz="1200"/>
            </a:lvl1pPr>
          </a:lstStyle>
          <a:p>
            <a:pPr>
              <a:defRPr/>
            </a:pPr>
            <a:endParaRPr lang="en-US" dirty="0"/>
          </a:p>
        </p:txBody>
      </p:sp>
      <p:sp>
        <p:nvSpPr>
          <p:cNvPr id="17412" name="Rectangle 4"/>
          <p:cNvSpPr>
            <a:spLocks noGrp="1" noChangeArrowheads="1"/>
          </p:cNvSpPr>
          <p:nvPr>
            <p:ph type="ftr" sz="quarter" idx="2"/>
          </p:nvPr>
        </p:nvSpPr>
        <p:spPr bwMode="auto">
          <a:xfrm>
            <a:off x="0"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eaLnBrk="1" hangingPunct="1">
              <a:defRPr sz="1200"/>
            </a:lvl1pPr>
          </a:lstStyle>
          <a:p>
            <a:pPr>
              <a:defRPr/>
            </a:pPr>
            <a:endParaRPr lang="en-US" dirty="0"/>
          </a:p>
        </p:txBody>
      </p:sp>
      <p:sp>
        <p:nvSpPr>
          <p:cNvPr id="17413" name="Rectangle 5"/>
          <p:cNvSpPr>
            <a:spLocks noGrp="1" noChangeArrowheads="1"/>
          </p:cNvSpPr>
          <p:nvPr>
            <p:ph type="sldNum" sz="quarter" idx="3"/>
          </p:nvPr>
        </p:nvSpPr>
        <p:spPr bwMode="auto">
          <a:xfrm>
            <a:off x="3935413"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algn="r" eaLnBrk="1" hangingPunct="1">
              <a:defRPr sz="1200"/>
            </a:lvl1pPr>
          </a:lstStyle>
          <a:p>
            <a:pPr>
              <a:defRPr/>
            </a:pPr>
            <a:fld id="{187C520A-0761-4ECA-BAF2-66B109B0C7A4}"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eaLnBrk="1" hangingPunct="1">
              <a:defRPr sz="1200"/>
            </a:lvl1pPr>
          </a:lstStyle>
          <a:p>
            <a:pPr>
              <a:defRPr/>
            </a:pPr>
            <a:endParaRPr lang="en-US" dirty="0"/>
          </a:p>
        </p:txBody>
      </p:sp>
      <p:sp>
        <p:nvSpPr>
          <p:cNvPr id="9219" name="Rectangle 3"/>
          <p:cNvSpPr>
            <a:spLocks noGrp="1" noChangeArrowheads="1"/>
          </p:cNvSpPr>
          <p:nvPr>
            <p:ph type="dt" idx="1"/>
          </p:nvPr>
        </p:nvSpPr>
        <p:spPr bwMode="auto">
          <a:xfrm>
            <a:off x="3935413"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algn="r" eaLnBrk="1" hangingPunct="1">
              <a:defRPr sz="1200"/>
            </a:lvl1pPr>
          </a:lstStyle>
          <a:p>
            <a:pPr>
              <a:defRPr/>
            </a:pPr>
            <a:endParaRPr lang="en-US" dirty="0"/>
          </a:p>
        </p:txBody>
      </p:sp>
      <p:sp>
        <p:nvSpPr>
          <p:cNvPr id="44036" name="Rectangle 4"/>
          <p:cNvSpPr>
            <a:spLocks noGrp="1" noRot="1" noChangeAspect="1" noChangeArrowheads="1" noTextEdit="1"/>
          </p:cNvSpPr>
          <p:nvPr>
            <p:ph type="sldImg" idx="2"/>
          </p:nvPr>
        </p:nvSpPr>
        <p:spPr bwMode="auto">
          <a:xfrm>
            <a:off x="1168400" y="692150"/>
            <a:ext cx="4610100" cy="3457575"/>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695325" y="4379913"/>
            <a:ext cx="5556250" cy="4148137"/>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222" name="Rectangle 6"/>
          <p:cNvSpPr>
            <a:spLocks noGrp="1" noChangeArrowheads="1"/>
          </p:cNvSpPr>
          <p:nvPr>
            <p:ph type="ftr" sz="quarter" idx="4"/>
          </p:nvPr>
        </p:nvSpPr>
        <p:spPr bwMode="auto">
          <a:xfrm>
            <a:off x="0"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eaLnBrk="1" hangingPunct="1">
              <a:defRPr sz="1200"/>
            </a:lvl1pPr>
          </a:lstStyle>
          <a:p>
            <a:pPr>
              <a:defRPr/>
            </a:pPr>
            <a:endParaRPr lang="en-US" dirty="0"/>
          </a:p>
        </p:txBody>
      </p:sp>
      <p:sp>
        <p:nvSpPr>
          <p:cNvPr id="9223" name="Rectangle 7"/>
          <p:cNvSpPr>
            <a:spLocks noGrp="1" noChangeArrowheads="1"/>
          </p:cNvSpPr>
          <p:nvPr>
            <p:ph type="sldNum" sz="quarter" idx="5"/>
          </p:nvPr>
        </p:nvSpPr>
        <p:spPr bwMode="auto">
          <a:xfrm>
            <a:off x="3935413"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algn="r" eaLnBrk="1" hangingPunct="1">
              <a:defRPr sz="1200"/>
            </a:lvl1pPr>
          </a:lstStyle>
          <a:p>
            <a:pPr>
              <a:defRPr/>
            </a:pPr>
            <a:fld id="{DD56E227-BC7B-4C05-9AE1-A1B2CF741B4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3E1CB763-9420-445D-9B39-462C7F84D09F}" type="slidenum">
              <a:rPr lang="en-US" smtClean="0"/>
              <a:pPr/>
              <a:t>1</a:t>
            </a:fld>
            <a:endParaRPr lang="en-US" dirty="0"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US" dirty="0" smtClean="0"/>
              <a:t>If the problem is navigating in space, a telescope may do a better job than a microscope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bwMode="auto">
          <a:ln>
            <a:miter lim="800000"/>
            <a:headEnd/>
            <a:tailEnd/>
          </a:ln>
        </p:spPr>
        <p:txBody>
          <a:bodyPr/>
          <a:lstStyle/>
          <a:p>
            <a:pPr defTabSz="922094"/>
            <a:fld id="{807C0DBB-527A-474B-B130-AA556ECF1F00}" type="slidenum">
              <a:rPr lang="en-US"/>
              <a:pPr defTabSz="922094"/>
              <a:t>2</a:t>
            </a:fld>
            <a:endParaRPr lang="en-US" dirty="0"/>
          </a:p>
        </p:txBody>
      </p:sp>
      <p:sp>
        <p:nvSpPr>
          <p:cNvPr id="481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81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I change this HW (the rock)?</a:t>
            </a:r>
          </a:p>
          <a:p>
            <a:r>
              <a:rPr lang="en-US" dirty="0" smtClean="0"/>
              <a:t>No, you can develop a decomposition-first multi-threaded program </a:t>
            </a:r>
          </a:p>
          <a:p>
            <a:endParaRPr lang="en-US" dirty="0" smtClean="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dirty="0" smtClean="0">
                <a:latin typeface="Arial" pitchFamily="34" charset="0"/>
              </a:rPr>
              <a:t>Slide 8</a:t>
            </a:r>
          </a:p>
        </p:txBody>
      </p:sp>
      <p:sp>
        <p:nvSpPr>
          <p:cNvPr id="36868" name="Slide Number Placeholder 3"/>
          <p:cNvSpPr>
            <a:spLocks noGrp="1"/>
          </p:cNvSpPr>
          <p:nvPr>
            <p:ph type="sldNum" sz="quarter" idx="5"/>
          </p:nvPr>
        </p:nvSpPr>
        <p:spPr>
          <a:noFill/>
        </p:spPr>
        <p:txBody>
          <a:bodyPr/>
          <a:lstStyle/>
          <a:p>
            <a:pPr defTabSz="922442"/>
            <a:fld id="{D8747B51-A1A8-4CDC-9FDA-83B0D9E61BE2}" type="slidenum">
              <a:rPr lang="en-US" altLang="zh-CN" smtClean="0">
                <a:latin typeface="Arial" pitchFamily="34" charset="0"/>
                <a:cs typeface="宋体"/>
              </a:rPr>
              <a:pPr defTabSz="922442"/>
              <a:t>5</a:t>
            </a:fld>
            <a:endParaRPr lang="en-US" altLang="zh-CN" dirty="0" smtClean="0">
              <a:latin typeface="Arial" pitchFamily="34" charset="0"/>
              <a:cs typeface="宋体"/>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HW vendors have a hummer for optimizing incremental changes. However, they now need to deal with a paradigm shift, but having a hummer tends to make everything look to us like a nail. </a:t>
            </a:r>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Rectangle 2"/>
          <p:cNvSpPr>
            <a:spLocks noGrp="1" noRot="1" noChangeAspect="1" noTextEdit="1"/>
          </p:cNvSpPr>
          <p:nvPr>
            <p:ph type="sldImg"/>
          </p:nvPr>
        </p:nvSpPr>
        <p:spPr bwMode="auto">
          <a:noFill/>
          <a:ln>
            <a:solidFill>
              <a:srgbClr val="000000"/>
            </a:solidFill>
            <a:miter lim="800000"/>
            <a:headEnd/>
            <a:tailEnd/>
          </a:ln>
        </p:spPr>
      </p:sp>
      <p:sp>
        <p:nvSpPr>
          <p:cNvPr id="21507"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3C94DE1-E0F1-42FB-ABF7-4FD058E965C2}" type="slidenum">
              <a:rPr lang="en-US" smtClean="0"/>
              <a:pPr/>
              <a:t>10</a:t>
            </a:fld>
            <a:endParaRPr lang="en-US" dirty="0"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73D7EE3B-34CB-4648-9ECE-E0C48C621335}" type="slidenum">
              <a:rPr lang="en-US"/>
              <a:pPr/>
              <a:t>12</a:t>
            </a:fld>
            <a:endParaRPr lang="en-US" dirty="0"/>
          </a:p>
        </p:txBody>
      </p:sp>
      <p:sp>
        <p:nvSpPr>
          <p:cNvPr id="11267" name="Rectangle 7"/>
          <p:cNvSpPr txBox="1">
            <a:spLocks noGrp="1" noChangeArrowheads="1"/>
          </p:cNvSpPr>
          <p:nvPr/>
        </p:nvSpPr>
        <p:spPr bwMode="auto">
          <a:xfrm>
            <a:off x="3934768" y="8758276"/>
            <a:ext cx="3010625" cy="460400"/>
          </a:xfrm>
          <a:prstGeom prst="rect">
            <a:avLst/>
          </a:prstGeom>
          <a:noFill/>
          <a:ln w="9525">
            <a:noFill/>
            <a:miter lim="800000"/>
            <a:headEnd/>
            <a:tailEnd/>
          </a:ln>
        </p:spPr>
        <p:txBody>
          <a:bodyPr lIns="92360" tIns="46179" rIns="92360" bIns="46179" anchor="b">
            <a:prstTxWarp prst="textNoShape">
              <a:avLst/>
            </a:prstTxWarp>
          </a:bodyPr>
          <a:lstStyle/>
          <a:p>
            <a:pPr algn="r" defTabSz="920925" eaLnBrk="1" hangingPunct="1"/>
            <a:fld id="{2771C597-8805-774D-9FC8-2142F2015F9E}" type="slidenum">
              <a:rPr lang="en-US" sz="1100"/>
              <a:pPr algn="r" defTabSz="920925" eaLnBrk="1" hangingPunct="1"/>
              <a:t>12</a:t>
            </a:fld>
            <a:endParaRPr lang="en-US" sz="1100" dirty="0"/>
          </a:p>
        </p:txBody>
      </p:sp>
      <p:sp>
        <p:nvSpPr>
          <p:cNvPr id="11268" name="Rectangle 2"/>
          <p:cNvSpPr>
            <a:spLocks noGrp="1" noRot="1" noChangeAspect="1" noChangeArrowheads="1" noTextEdit="1"/>
          </p:cNvSpPr>
          <p:nvPr>
            <p:ph type="sldImg"/>
          </p:nvPr>
        </p:nvSpPr>
        <p:spPr>
          <a:xfrm>
            <a:off x="1169988" y="692150"/>
            <a:ext cx="4610100" cy="3457575"/>
          </a:xfrm>
          <a:ln/>
        </p:spPr>
      </p:sp>
      <p:sp>
        <p:nvSpPr>
          <p:cNvPr id="11269" name="Rectangle 3"/>
          <p:cNvSpPr>
            <a:spLocks noGrp="1" noChangeArrowheads="1"/>
          </p:cNvSpPr>
          <p:nvPr>
            <p:ph type="body" idx="1"/>
          </p:nvPr>
        </p:nvSpPr>
        <p:spPr>
          <a:noFill/>
          <a:ln/>
        </p:spPr>
        <p:txBody>
          <a:bodyPr lIns="92360" tIns="46179" rIns="92360" bIns="46179"/>
          <a:lstStyle/>
          <a:p>
            <a:pPr eaLnBrk="1" hangingPunct="1"/>
            <a:endParaRPr lang="en-US" dirty="0">
              <a:latin typeface="Arial" pitchFamily="-112"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A59681D1-FE71-3542-A3E9-9568290ED157}" type="slidenum">
              <a:rPr lang="en-US"/>
              <a:pPr/>
              <a:t>13</a:t>
            </a:fld>
            <a:endParaRPr lang="en-US" dirty="0"/>
          </a:p>
        </p:txBody>
      </p:sp>
      <p:sp>
        <p:nvSpPr>
          <p:cNvPr id="12291" name="Rectangle 7"/>
          <p:cNvSpPr txBox="1">
            <a:spLocks noGrp="1" noChangeArrowheads="1"/>
          </p:cNvSpPr>
          <p:nvPr/>
        </p:nvSpPr>
        <p:spPr bwMode="auto">
          <a:xfrm>
            <a:off x="3934768" y="8758276"/>
            <a:ext cx="3010625" cy="460400"/>
          </a:xfrm>
          <a:prstGeom prst="rect">
            <a:avLst/>
          </a:prstGeom>
          <a:noFill/>
          <a:ln w="9525">
            <a:noFill/>
            <a:miter lim="800000"/>
            <a:headEnd/>
            <a:tailEnd/>
          </a:ln>
        </p:spPr>
        <p:txBody>
          <a:bodyPr lIns="92360" tIns="46179" rIns="92360" bIns="46179" anchor="b">
            <a:prstTxWarp prst="textNoShape">
              <a:avLst/>
            </a:prstTxWarp>
          </a:bodyPr>
          <a:lstStyle/>
          <a:p>
            <a:pPr algn="r" defTabSz="920925" eaLnBrk="1" hangingPunct="1"/>
            <a:fld id="{222CF90C-04F6-CF45-A191-E9EFC06F03E5}" type="slidenum">
              <a:rPr lang="en-US" sz="1100"/>
              <a:pPr algn="r" defTabSz="920925" eaLnBrk="1" hangingPunct="1"/>
              <a:t>13</a:t>
            </a:fld>
            <a:endParaRPr lang="en-US" sz="1100" dirty="0"/>
          </a:p>
        </p:txBody>
      </p:sp>
      <p:sp>
        <p:nvSpPr>
          <p:cNvPr id="12292" name="Rectangle 2"/>
          <p:cNvSpPr>
            <a:spLocks noGrp="1" noRot="1" noChangeAspect="1" noChangeArrowheads="1" noTextEdit="1"/>
          </p:cNvSpPr>
          <p:nvPr>
            <p:ph type="sldImg"/>
          </p:nvPr>
        </p:nvSpPr>
        <p:spPr>
          <a:xfrm>
            <a:off x="1169988" y="692150"/>
            <a:ext cx="4610100" cy="3457575"/>
          </a:xfrm>
          <a:ln/>
        </p:spPr>
      </p:sp>
      <p:sp>
        <p:nvSpPr>
          <p:cNvPr id="12293" name="Rectangle 3"/>
          <p:cNvSpPr>
            <a:spLocks noGrp="1" noChangeArrowheads="1"/>
          </p:cNvSpPr>
          <p:nvPr>
            <p:ph type="body" idx="1"/>
          </p:nvPr>
        </p:nvSpPr>
        <p:spPr>
          <a:noFill/>
          <a:ln/>
        </p:spPr>
        <p:txBody>
          <a:bodyPr lIns="92360" tIns="46179" rIns="92360" bIns="46179"/>
          <a:lstStyle/>
          <a:p>
            <a:pPr eaLnBrk="1" hangingPunct="1"/>
            <a:endParaRPr lang="en-US" dirty="0">
              <a:latin typeface="Arial" pitchFamily="-112"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60EC8D-5DA5-4C92-8278-6CE9D3AA084E}" type="slidenum">
              <a:rPr lang="en-US"/>
              <a:pPr/>
              <a:t>14</a:t>
            </a:fld>
            <a:endParaRPr lang="en-US" dirty="0"/>
          </a:p>
        </p:txBody>
      </p:sp>
      <p:sp>
        <p:nvSpPr>
          <p:cNvPr id="712706" name="Rectangle 2"/>
          <p:cNvSpPr>
            <a:spLocks noGrp="1" noRot="1" noChangeAspect="1" noChangeArrowheads="1" noTextEdit="1"/>
          </p:cNvSpPr>
          <p:nvPr>
            <p:ph type="sldImg"/>
          </p:nvPr>
        </p:nvSpPr>
        <p:spPr>
          <a:ln/>
        </p:spPr>
      </p:sp>
      <p:sp>
        <p:nvSpPr>
          <p:cNvPr id="71270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762684-D8F3-4B15-8021-AFE50D12ACAC}" type="slidenum">
              <a:rPr lang="en-US"/>
              <a:pPr/>
              <a:t>15</a:t>
            </a:fld>
            <a:endParaRPr lang="en-US" dirty="0"/>
          </a:p>
        </p:txBody>
      </p:sp>
      <p:sp>
        <p:nvSpPr>
          <p:cNvPr id="714754" name="Rectangle 2"/>
          <p:cNvSpPr>
            <a:spLocks noGrp="1" noRot="1" noChangeAspect="1" noChangeArrowheads="1" noTextEdit="1"/>
          </p:cNvSpPr>
          <p:nvPr>
            <p:ph type="sldImg"/>
          </p:nvPr>
        </p:nvSpPr>
        <p:spPr>
          <a:ln/>
        </p:spPr>
      </p:sp>
      <p:sp>
        <p:nvSpPr>
          <p:cNvPr id="7147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3DCFE-7ACC-48DD-B210-41DFEFF329B2}" type="slidenum">
              <a:rPr lang="en-US"/>
              <a:pPr/>
              <a:t>16</a:t>
            </a:fld>
            <a:endParaRPr lang="en-US" dirty="0"/>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9A9AC1-4C07-417F-BCD0-460D8718A04E}" type="slidenum">
              <a:rPr lang="en-US"/>
              <a:pPr/>
              <a:t>17</a:t>
            </a:fld>
            <a:endParaRPr lang="en-US" dirty="0"/>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ln/>
        </p:spPr>
        <p:txBody>
          <a:bodyPr/>
          <a:lstStyle/>
          <a:p>
            <a:endParaRPr lang="en-US" dirty="0">
              <a:latin typeface="Arial" pitchFamily="-112" charset="0"/>
            </a:endParaRPr>
          </a:p>
        </p:txBody>
      </p:sp>
      <p:sp>
        <p:nvSpPr>
          <p:cNvPr id="10244" name="Slide Number Placeholder 3"/>
          <p:cNvSpPr>
            <a:spLocks noGrp="1"/>
          </p:cNvSpPr>
          <p:nvPr>
            <p:ph type="sldNum" sz="quarter" idx="5"/>
          </p:nvPr>
        </p:nvSpPr>
        <p:spPr>
          <a:noFill/>
        </p:spPr>
        <p:txBody>
          <a:bodyPr/>
          <a:lstStyle/>
          <a:p>
            <a:fld id="{1C9B1849-8178-E541-9408-ACE9C991B5EB}" type="slidenum">
              <a:rPr lang="en-US"/>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pPr eaLnBrk="1" hangingPunct="1">
              <a:spcBef>
                <a:spcPct val="0"/>
              </a:spcBef>
            </a:pPr>
            <a:endParaRPr lang="en-US" dirty="0" smtClean="0"/>
          </a:p>
        </p:txBody>
      </p:sp>
      <p:sp>
        <p:nvSpPr>
          <p:cNvPr id="54276" name="Slide Number Placeholder 3"/>
          <p:cNvSpPr>
            <a:spLocks noGrp="1"/>
          </p:cNvSpPr>
          <p:nvPr>
            <p:ph type="sldNum" sz="quarter" idx="5"/>
          </p:nvPr>
        </p:nvSpPr>
        <p:spPr>
          <a:noFill/>
        </p:spPr>
        <p:txBody>
          <a:bodyPr/>
          <a:lstStyle/>
          <a:p>
            <a:fld id="{5A45F748-3F55-4DFE-B929-045C9C49F7A8}" type="slidenum">
              <a:rPr lang="en-US" smtClean="0"/>
              <a:pPr/>
              <a:t>19</a:t>
            </a:fld>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F15204F9-AD30-4FC6-8735-5A07FB091933}" type="slidenum">
              <a:rPr lang="en-US" smtClean="0"/>
              <a:pPr/>
              <a:t>20</a:t>
            </a:fld>
            <a:endParaRPr lang="en-US" dirty="0"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87BDEC2-4877-4558-A30E-925FB120E6AC}" type="slidenum">
              <a:rPr lang="en-US" smtClean="0"/>
              <a:pPr/>
              <a:t>21</a:t>
            </a:fld>
            <a:endParaRPr lang="en-U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A87A409A-194D-45B5-B159-E7A3B8A55284}" type="slidenum">
              <a:rPr lang="en-US" smtClean="0"/>
              <a:pPr/>
              <a:t>22</a:t>
            </a:fld>
            <a:endParaRPr lang="en-US" dirty="0"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55300" name="Slide Number Placeholder 3"/>
          <p:cNvSpPr>
            <a:spLocks noGrp="1"/>
          </p:cNvSpPr>
          <p:nvPr>
            <p:ph type="sldNum" sz="quarter" idx="5"/>
          </p:nvPr>
        </p:nvSpPr>
        <p:spPr>
          <a:noFill/>
        </p:spPr>
        <p:txBody>
          <a:bodyPr/>
          <a:lstStyle/>
          <a:p>
            <a:fld id="{2954BC78-0169-40E1-920E-E8DE3BB09C31}" type="slidenum">
              <a:rPr lang="en-US" smtClean="0"/>
              <a:pPr/>
              <a:t>23</a:t>
            </a:fld>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530382D3-4B07-4BC0-8F5F-7F447EC4DD93}" type="slidenum">
              <a:rPr lang="en-US" smtClean="0"/>
              <a:pPr/>
              <a:t>25</a:t>
            </a:fld>
            <a:endParaRPr lang="en-US" dirty="0"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a:ln/>
        </p:spPr>
      </p:sp>
      <p:sp>
        <p:nvSpPr>
          <p:cNvPr id="52227"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3C94DE1-E0F1-42FB-ABF7-4FD058E965C2}" type="slidenum">
              <a:rPr lang="en-US" smtClean="0"/>
              <a:pPr/>
              <a:t>27</a:t>
            </a:fld>
            <a:endParaRPr lang="en-US" dirty="0"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a:ln/>
        </p:spPr>
      </p:sp>
      <p:sp>
        <p:nvSpPr>
          <p:cNvPr id="64515"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a:ln/>
        </p:spPr>
      </p:sp>
      <p:sp>
        <p:nvSpPr>
          <p:cNvPr id="66563"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53721D9-CB8E-4A87-9FE9-FCB66F78A6C6}" type="slidenum">
              <a:rPr lang="en-US" smtClean="0"/>
              <a:pPr>
                <a:defRPr/>
              </a:pPr>
              <a:t>30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935413" y="8758238"/>
            <a:ext cx="3009900" cy="460375"/>
          </a:xfrm>
          <a:prstGeom prst="rect">
            <a:avLst/>
          </a:prstGeom>
          <a:noFill/>
          <a:ln w="9525">
            <a:noFill/>
            <a:miter lim="800000"/>
            <a:headEnd/>
            <a:tailEnd/>
          </a:ln>
        </p:spPr>
        <p:txBody>
          <a:bodyPr lIns="92363" tIns="46181" rIns="92363" bIns="46181" anchor="b"/>
          <a:lstStyle/>
          <a:p>
            <a:pPr algn="r" defTabSz="920750"/>
            <a:fld id="{3FBD40C7-6766-40CA-B45E-6EB410A43C85}" type="slidenum">
              <a:rPr lang="en-US" sz="1100"/>
              <a:pPr algn="r" defTabSz="920750"/>
              <a:t>31</a:t>
            </a:fld>
            <a:endParaRPr lang="en-US" sz="1100" dirty="0"/>
          </a:p>
        </p:txBody>
      </p:sp>
      <p:sp>
        <p:nvSpPr>
          <p:cNvPr id="67587" name="Rectangle 2"/>
          <p:cNvSpPr>
            <a:spLocks noGrp="1" noRot="1" noChangeAspect="1" noChangeArrowheads="1" noTextEdit="1"/>
          </p:cNvSpPr>
          <p:nvPr>
            <p:ph type="sldImg"/>
          </p:nvPr>
        </p:nvSpPr>
        <p:spPr>
          <a:xfrm>
            <a:off x="1169988" y="692150"/>
            <a:ext cx="4610100" cy="3457575"/>
          </a:xfrm>
          <a:ln/>
        </p:spPr>
      </p:sp>
      <p:sp>
        <p:nvSpPr>
          <p:cNvPr id="67588" name="Rectangle 3"/>
          <p:cNvSpPr>
            <a:spLocks noGrp="1" noChangeArrowheads="1"/>
          </p:cNvSpPr>
          <p:nvPr>
            <p:ph type="body" idx="1"/>
          </p:nvPr>
        </p:nvSpPr>
        <p:spPr>
          <a:noFill/>
          <a:ln/>
        </p:spPr>
        <p:txBody>
          <a:bodyPr lIns="92363" tIns="46181" rIns="92363" bIns="46181"/>
          <a:lstStyle/>
          <a:p>
            <a:pPr eaLnBrk="1" hangingPunct="1"/>
            <a:endParaRPr lang="en-US"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20750"/>
            <a:fld id="{949C5033-5B47-4B00-8F35-7DC45D689003}" type="slidenum">
              <a:rPr lang="en-US" smtClean="0"/>
              <a:pPr defTabSz="920750"/>
              <a:t>34</a:t>
            </a:fld>
            <a:endParaRPr lang="en-US" dirty="0"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dirty="0" smtClean="0"/>
          </a:p>
        </p:txBody>
      </p:sp>
      <p:sp>
        <p:nvSpPr>
          <p:cNvPr id="68612" name="Slide Number Placeholder 3"/>
          <p:cNvSpPr>
            <a:spLocks noGrp="1"/>
          </p:cNvSpPr>
          <p:nvPr>
            <p:ph type="sldNum" sz="quarter" idx="5"/>
          </p:nvPr>
        </p:nvSpPr>
        <p:spPr>
          <a:noFill/>
        </p:spPr>
        <p:txBody>
          <a:bodyPr/>
          <a:lstStyle/>
          <a:p>
            <a:fld id="{9E1D3E05-CAEA-4C30-80D5-5ADDD19F8273}" type="slidenum">
              <a:rPr lang="en-US" smtClean="0"/>
              <a:pPr/>
              <a:t>35</a:t>
            </a:fld>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a:ln/>
        </p:spPr>
      </p:sp>
      <p:sp>
        <p:nvSpPr>
          <p:cNvPr id="69635"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pPr defTabSz="920750"/>
            <a:fld id="{3796565C-3E63-49FB-BCDE-BA87191522F2}" type="slidenum">
              <a:rPr lang="en-US" smtClean="0"/>
              <a:pPr defTabSz="920750"/>
              <a:t>37</a:t>
            </a:fld>
            <a:endParaRPr lang="en-US" dirty="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endParaRPr lang="en-US" dirty="0" smtClean="0"/>
          </a:p>
        </p:txBody>
      </p:sp>
      <p:sp>
        <p:nvSpPr>
          <p:cNvPr id="72708" name="Slide Number Placeholder 3"/>
          <p:cNvSpPr>
            <a:spLocks noGrp="1"/>
          </p:cNvSpPr>
          <p:nvPr>
            <p:ph type="sldNum" sz="quarter" idx="5"/>
          </p:nvPr>
        </p:nvSpPr>
        <p:spPr>
          <a:noFill/>
        </p:spPr>
        <p:txBody>
          <a:bodyPr/>
          <a:lstStyle/>
          <a:p>
            <a:fld id="{A8D1AD11-B474-4B22-BBD5-EAEC65269D08}" type="slidenum">
              <a:rPr lang="en-US" smtClean="0"/>
              <a:pPr/>
              <a:t>38</a:t>
            </a:fld>
            <a:endParaRPr lang="en-US"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CA5EFC-5940-4849-B24F-1B2C2FC0B8BD}" type="slidenum">
              <a:rPr lang="en-US"/>
              <a:pPr/>
              <a:t>39</a:t>
            </a:fld>
            <a:endParaRPr lang="en-US" dirty="0"/>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pPr defTabSz="920750"/>
            <a:fld id="{90B2E5B0-F7C4-4C2D-A977-93F9CE23D92C}" type="slidenum">
              <a:rPr lang="en-US" smtClean="0"/>
              <a:pPr defTabSz="920750"/>
              <a:t>40</a:t>
            </a:fld>
            <a:endParaRPr lang="en-US" dirty="0"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pPr defTabSz="920750"/>
            <a:fld id="{18B47FA3-3D36-4A16-832E-3F1B4A82A56E}" type="slidenum">
              <a:rPr lang="en-US" smtClean="0"/>
              <a:pPr defTabSz="920750"/>
              <a:t>41</a:t>
            </a:fld>
            <a:endParaRPr lang="en-US" dirty="0"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4B86302-0A0B-4EE6-A947-5742F7258571}" type="slidenum">
              <a:rPr lang="en-US" smtClean="0"/>
              <a:pPr/>
              <a:t>42</a:t>
            </a:fld>
            <a:endParaRPr lang="en-US" dirty="0"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endParaRPr lang="en-US" dirty="0" smtClean="0"/>
          </a:p>
        </p:txBody>
      </p:sp>
      <p:sp>
        <p:nvSpPr>
          <p:cNvPr id="76804" name="Slide Number Placeholder 3"/>
          <p:cNvSpPr>
            <a:spLocks noGrp="1"/>
          </p:cNvSpPr>
          <p:nvPr>
            <p:ph type="sldNum" sz="quarter" idx="5"/>
          </p:nvPr>
        </p:nvSpPr>
        <p:spPr>
          <a:noFill/>
        </p:spPr>
        <p:txBody>
          <a:bodyPr/>
          <a:lstStyle/>
          <a:p>
            <a:fld id="{AD2A149E-A03B-4904-AB5A-963449CA5531}" type="slidenum">
              <a:rPr lang="en-US" smtClean="0"/>
              <a:pPr/>
              <a:t>43</a:t>
            </a:fld>
            <a:endParaRPr lang="en-US"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6B9A4F0B-D75E-48B9-989A-61772C3C5F5D}" type="slidenum">
              <a:rPr lang="en-US" smtClean="0"/>
              <a:pPr/>
              <a:t>44</a:t>
            </a:fld>
            <a:endParaRPr lang="en-US" dirty="0"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p:spPr>
        <p:txBody>
          <a:bodyPr/>
          <a:lstStyle/>
          <a:p>
            <a:endParaRPr lang="en-US" dirty="0" smtClean="0"/>
          </a:p>
        </p:txBody>
      </p:sp>
      <p:sp>
        <p:nvSpPr>
          <p:cNvPr id="79876" name="Slide Number Placeholder 3"/>
          <p:cNvSpPr>
            <a:spLocks noGrp="1"/>
          </p:cNvSpPr>
          <p:nvPr>
            <p:ph type="sldNum" sz="quarter" idx="5"/>
          </p:nvPr>
        </p:nvSpPr>
        <p:spPr>
          <a:noFill/>
        </p:spPr>
        <p:txBody>
          <a:bodyPr/>
          <a:lstStyle/>
          <a:p>
            <a:fld id="{2F8D9151-9057-4572-8E80-901B8F1F8F7F}" type="slidenum">
              <a:rPr lang="en-US" smtClean="0"/>
              <a:pPr/>
              <a:t>45</a:t>
            </a:fld>
            <a:endParaRPr lang="en-US"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CC08F699-9F39-4669-B327-552C6516EB8C}" type="slidenum">
              <a:rPr lang="en-US" smtClean="0"/>
              <a:pPr/>
              <a:t>46</a:t>
            </a:fld>
            <a:endParaRPr lang="en-US" dirty="0"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pPr defTabSz="920750"/>
            <a:fld id="{041A5B30-C4F0-45EE-9A6A-5A19A4962063}" type="slidenum">
              <a:rPr lang="en-US" smtClean="0"/>
              <a:pPr defTabSz="920750"/>
              <a:t>47</a:t>
            </a:fld>
            <a:endParaRPr lang="en-US" dirty="0"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pPr defTabSz="920750"/>
            <a:fld id="{48F936BC-2F43-4C65-A4E8-97928F822B99}" type="slidenum">
              <a:rPr lang="en-US" smtClean="0"/>
              <a:pPr defTabSz="920750"/>
              <a:t>48</a:t>
            </a:fld>
            <a:endParaRPr lang="en-US" dirty="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pPr defTabSz="920750"/>
            <a:fld id="{A2568740-0F65-430A-95F9-94E1E0E6DDD0}" type="slidenum">
              <a:rPr lang="en-US" smtClean="0"/>
              <a:pPr defTabSz="920750"/>
              <a:t>49</a:t>
            </a:fld>
            <a:endParaRPr lang="en-US" dirty="0"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pPr defTabSz="920750"/>
            <a:fld id="{7F1F5BB5-D7B8-41CC-823B-0EBB7190B2B5}" type="slidenum">
              <a:rPr lang="en-US" smtClean="0"/>
              <a:pPr defTabSz="920750"/>
              <a:t>50</a:t>
            </a:fld>
            <a:endParaRPr lang="en-US" dirty="0"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defTabSz="920750"/>
            <a:fld id="{4A3B8538-DF8F-484E-8BD8-10ABBE616A11}" type="slidenum">
              <a:rPr lang="en-US" smtClean="0"/>
              <a:pPr defTabSz="920750"/>
              <a:t>51</a:t>
            </a:fld>
            <a:endParaRPr lang="en-US" dirty="0"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FCCFADC-DC3A-4B87-863E-F7ADDC42EB93}" type="slidenum">
              <a:rPr lang="en-US" smtClean="0"/>
              <a:pPr fontAlgn="base">
                <a:spcBef>
                  <a:spcPct val="0"/>
                </a:spcBef>
                <a:spcAft>
                  <a:spcPct val="0"/>
                </a:spcAft>
                <a:defRPr/>
              </a:pPr>
              <a:t>52</a:t>
            </a:fld>
            <a:endParaRPr lang="en-US" dirty="0" smtClean="0"/>
          </a:p>
        </p:txBody>
      </p:sp>
      <p:sp>
        <p:nvSpPr>
          <p:cNvPr id="573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73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4AF7AFC-DA17-4962-B6D3-22F53F594720}" type="slidenum">
              <a:rPr lang="en-US" smtClean="0"/>
              <a:pPr fontAlgn="base">
                <a:spcBef>
                  <a:spcPct val="0"/>
                </a:spcBef>
                <a:spcAft>
                  <a:spcPct val="0"/>
                </a:spcAft>
                <a:defRPr/>
              </a:pPr>
              <a:t>53</a:t>
            </a:fld>
            <a:endParaRPr lang="en-US" dirty="0" smtClean="0"/>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D11B350-13DF-4631-B097-11C538D118E3}" type="slidenum">
              <a:rPr lang="en-US" smtClean="0"/>
              <a:pPr fontAlgn="base">
                <a:spcBef>
                  <a:spcPct val="0"/>
                </a:spcBef>
                <a:spcAft>
                  <a:spcPct val="0"/>
                </a:spcAft>
                <a:defRPr/>
              </a:pPr>
              <a:t>54</a:t>
            </a:fld>
            <a:endParaRPr lang="en-US" dirty="0" smtClean="0"/>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3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E3EE234-2CD1-4341-8D06-27338A75BF5E}" type="slidenum">
              <a:rPr lang="en-US" smtClean="0"/>
              <a:pPr fontAlgn="base">
                <a:spcBef>
                  <a:spcPct val="0"/>
                </a:spcBef>
                <a:spcAft>
                  <a:spcPct val="0"/>
                </a:spcAft>
                <a:defRPr/>
              </a:pPr>
              <a:t>55</a:t>
            </a:fld>
            <a:endParaRPr lang="en-US" dirty="0" smtClean="0"/>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04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C62AAF02-D9DB-4D33-AA03-0B678861650A}"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503D18CA-C07B-44AB-BA50-A20BF6A4DD93}"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A7BD6A5E-CAD7-451C-9A88-9EEFD8FC4B7E}"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FEC77A53-7414-429C-B074-7ADA877FB71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F5E697AE-A93A-443E-B48C-CD0C2D444081}"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4937191E-8E5E-4A1F-A0E3-8EDEF5BB648F}"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11F06CDC-C4EE-4B11-B0E9-6152D9E9ACF3}"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4AFB88C4-A8AB-4FD2-AA2C-38B72A705FA8}"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3B8D7FB5-DD04-4F26-8441-E8353DE779F4}"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B2923179-07CF-4AFF-AB59-0945D2DF232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8ABC7E87-8167-432A-9BD1-2CA43E582519}"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dirty="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699E5C87-89D2-44FD-86EA-0B68EB0ED727}"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AA39FE96-F47F-484D-A958-AF928399463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BD2BD47-0D8C-42FB-98DC-5A271DBC540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www.umiacs.umd.edu/users/vishkin/XMT/cacm2010.pdf" TargetMode="External"/><Relationship Id="rId6" Type="http://schemas.openxmlformats.org/officeDocument/2006/relationships/image" Target="../media/image3.jpe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jpeg"/><Relationship Id="rId1" Type="http://schemas.openxmlformats.org/officeDocument/2006/relationships/slideLayout" Target="../slideLayouts/slideLayout5.xml"/><Relationship Id="rId2"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jpeg"/></Relationships>
</file>

<file path=ppt/slides/_rels/slide31.xml.rels><?xml version="1.0" encoding="UTF-8" standalone="yes"?>
<Relationships xmlns="http://schemas.openxmlformats.org/package/2006/relationships"><Relationship Id="rId3" Type="http://schemas.openxmlformats.org/officeDocument/2006/relationships/hyperlink" Target="http://downloads.sourceforge.net/xmtc/xmtc-tools-0.8.0.i386.tar.gz" TargetMode="External"/><Relationship Id="rId4" Type="http://schemas.openxmlformats.org/officeDocument/2006/relationships/hyperlink" Target="http://www.umiacs.umd.edu/users/vishkin/XMT/sw-release.html" TargetMode="External"/><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6.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4" Type="http://schemas.openxmlformats.org/officeDocument/2006/relationships/image" Target="../media/image18.jpeg"/><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www.umiacs.umd.edu/~vishki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9.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0"/>
            <a:ext cx="9144000" cy="1676400"/>
          </a:xfrm>
        </p:spPr>
        <p:txBody>
          <a:bodyPr/>
          <a:lstStyle/>
          <a:p>
            <a:pPr marL="838200" indent="-838200" eaLnBrk="1" hangingPunct="1"/>
            <a:r>
              <a:rPr lang="en-US" sz="3200" u="sng" dirty="0" smtClean="0"/>
              <a:t>Using Simple Abstraction to Guide the </a:t>
            </a:r>
            <a:br>
              <a:rPr lang="en-US" sz="3200" u="sng" dirty="0" smtClean="0"/>
            </a:br>
            <a:r>
              <a:rPr lang="en-US" sz="3200" u="sng" dirty="0" smtClean="0"/>
              <a:t>Reinvention of Computing for Parallelism</a:t>
            </a:r>
            <a:endParaRPr lang="en-US" sz="3200" dirty="0" smtClean="0">
              <a:solidFill>
                <a:srgbClr val="FF0000"/>
              </a:solidFill>
            </a:endParaRPr>
          </a:p>
        </p:txBody>
      </p:sp>
      <p:sp>
        <p:nvSpPr>
          <p:cNvPr id="2051" name="Rectangle 3"/>
          <p:cNvSpPr>
            <a:spLocks noGrp="1" noChangeArrowheads="1"/>
          </p:cNvSpPr>
          <p:nvPr>
            <p:ph type="subTitle" idx="1"/>
          </p:nvPr>
        </p:nvSpPr>
        <p:spPr>
          <a:xfrm>
            <a:off x="0" y="2286000"/>
            <a:ext cx="9067800" cy="1371600"/>
          </a:xfrm>
        </p:spPr>
        <p:txBody>
          <a:bodyPr/>
          <a:lstStyle/>
          <a:p>
            <a:pPr eaLnBrk="1" hangingPunct="1">
              <a:lnSpc>
                <a:spcPct val="80000"/>
              </a:lnSpc>
            </a:pPr>
            <a:r>
              <a:rPr lang="en-US" altLang="zh-CN" sz="2800" i="1" dirty="0" smtClean="0">
                <a:ea typeface="宋体" charset="-122"/>
              </a:rPr>
              <a:t>Uzi Vishkin</a:t>
            </a:r>
          </a:p>
          <a:p>
            <a:pPr algn="l" eaLnBrk="1" hangingPunct="1">
              <a:lnSpc>
                <a:spcPct val="80000"/>
              </a:lnSpc>
            </a:pPr>
            <a:endParaRPr lang="en-US" altLang="zh-CN" sz="2000" dirty="0" smtClean="0">
              <a:ea typeface="宋体" charset="-122"/>
            </a:endParaRPr>
          </a:p>
          <a:p>
            <a:pPr eaLnBrk="1" hangingPunct="1">
              <a:lnSpc>
                <a:spcPct val="80000"/>
              </a:lnSpc>
            </a:pPr>
            <a:endParaRPr lang="en-US" altLang="zh-CN" sz="2000" dirty="0" smtClean="0">
              <a:ea typeface="宋体" charset="-122"/>
            </a:endParaRPr>
          </a:p>
          <a:p>
            <a:pPr eaLnBrk="1" hangingPunct="1">
              <a:lnSpc>
                <a:spcPct val="80000"/>
              </a:lnSpc>
            </a:pPr>
            <a:r>
              <a:rPr lang="en-US" sz="800" dirty="0" smtClean="0"/>
              <a:t> </a:t>
            </a:r>
          </a:p>
        </p:txBody>
      </p:sp>
      <p:pic>
        <p:nvPicPr>
          <p:cNvPr id="2052" name="Picture 4" descr="umiacslogo"/>
          <p:cNvPicPr>
            <a:picLocks noChangeAspect="1" noChangeArrowheads="1"/>
          </p:cNvPicPr>
          <p:nvPr/>
        </p:nvPicPr>
        <p:blipFill>
          <a:blip r:embed="rId3" cstate="print"/>
          <a:srcRect/>
          <a:stretch>
            <a:fillRect/>
          </a:stretch>
        </p:blipFill>
        <p:spPr bwMode="auto">
          <a:xfrm>
            <a:off x="685800" y="4419600"/>
            <a:ext cx="5715000" cy="1752600"/>
          </a:xfrm>
          <a:prstGeom prst="rect">
            <a:avLst/>
          </a:prstGeom>
          <a:noFill/>
          <a:ln w="9525">
            <a:noFill/>
            <a:miter lim="800000"/>
            <a:headEnd/>
            <a:tailEnd/>
          </a:ln>
        </p:spPr>
      </p:pic>
      <p:sp>
        <p:nvSpPr>
          <p:cNvPr id="2054" name="Text Box 6"/>
          <p:cNvSpPr txBox="1">
            <a:spLocks noChangeArrowheads="1"/>
          </p:cNvSpPr>
          <p:nvPr/>
        </p:nvSpPr>
        <p:spPr bwMode="auto">
          <a:xfrm>
            <a:off x="288925" y="6156325"/>
            <a:ext cx="184150" cy="336550"/>
          </a:xfrm>
          <a:prstGeom prst="rect">
            <a:avLst/>
          </a:prstGeom>
          <a:noFill/>
          <a:ln w="9525">
            <a:noFill/>
            <a:miter lim="800000"/>
            <a:headEnd/>
            <a:tailEnd/>
          </a:ln>
        </p:spPr>
        <p:txBody>
          <a:bodyPr wrap="none">
            <a:spAutoFit/>
          </a:bodyPr>
          <a:lstStyle/>
          <a:p>
            <a:endParaRPr lang="en-US" sz="1600" dirty="0"/>
          </a:p>
        </p:txBody>
      </p:sp>
      <p:pic>
        <p:nvPicPr>
          <p:cNvPr id="2055" name="Picture 7" descr="clarkschool_powerpoint_header"/>
          <p:cNvPicPr>
            <a:picLocks noChangeAspect="1" noChangeArrowheads="1"/>
          </p:cNvPicPr>
          <p:nvPr/>
        </p:nvPicPr>
        <p:blipFill>
          <a:blip r:embed="rId4" cstate="print"/>
          <a:srcRect/>
          <a:stretch>
            <a:fillRect/>
          </a:stretch>
        </p:blipFill>
        <p:spPr bwMode="auto">
          <a:xfrm>
            <a:off x="609600" y="6477000"/>
            <a:ext cx="4724400" cy="288925"/>
          </a:xfrm>
          <a:prstGeom prst="rect">
            <a:avLst/>
          </a:prstGeom>
          <a:noFill/>
          <a:ln w="9525">
            <a:noFill/>
            <a:miter lim="800000"/>
            <a:headEnd/>
            <a:tailEnd/>
          </a:ln>
        </p:spPr>
      </p:pic>
      <p:sp>
        <p:nvSpPr>
          <p:cNvPr id="10" name="TextBox 9"/>
          <p:cNvSpPr txBox="1"/>
          <p:nvPr/>
        </p:nvSpPr>
        <p:spPr>
          <a:xfrm>
            <a:off x="0" y="2971800"/>
            <a:ext cx="9144000" cy="1015663"/>
          </a:xfrm>
          <a:prstGeom prst="rect">
            <a:avLst/>
          </a:prstGeom>
          <a:noFill/>
        </p:spPr>
        <p:txBody>
          <a:bodyPr wrap="square" rtlCol="0">
            <a:spAutoFit/>
          </a:bodyPr>
          <a:lstStyle/>
          <a:p>
            <a:pPr>
              <a:buFontTx/>
              <a:buChar char="-"/>
            </a:pPr>
            <a:r>
              <a:rPr lang="en-US" dirty="0" smtClean="0"/>
              <a:t>Same title, </a:t>
            </a:r>
            <a:r>
              <a:rPr lang="en-US" b="1" dirty="0" smtClean="0">
                <a:solidFill>
                  <a:srgbClr val="FF0000"/>
                </a:solidFill>
                <a:hlinkClick r:id="rId5"/>
              </a:rPr>
              <a:t>http://www.umiacs.umd.edu/users/vishkin/XMT/</a:t>
            </a:r>
            <a:r>
              <a:rPr lang="en-US" dirty="0" smtClean="0">
                <a:hlinkClick r:id="rId5"/>
              </a:rPr>
              <a:t>cacm2010.pdf</a:t>
            </a:r>
            <a:r>
              <a:rPr lang="en-US" dirty="0" smtClean="0"/>
              <a:t>, to appear in CACM</a:t>
            </a:r>
          </a:p>
          <a:p>
            <a:pPr>
              <a:buFontTx/>
              <a:buChar char="-"/>
            </a:pPr>
            <a:endParaRPr lang="en-US" dirty="0" smtClean="0"/>
          </a:p>
        </p:txBody>
      </p:sp>
      <p:pic>
        <p:nvPicPr>
          <p:cNvPr id="11" name="Picture 10" descr="umd_logo.jpg"/>
          <p:cNvPicPr>
            <a:picLocks noChangeAspect="1"/>
          </p:cNvPicPr>
          <p:nvPr/>
        </p:nvPicPr>
        <p:blipFill>
          <a:blip r:embed="rId6" cstate="print"/>
          <a:stretch>
            <a:fillRect/>
          </a:stretch>
        </p:blipFill>
        <p:spPr>
          <a:xfrm>
            <a:off x="6477000" y="4191000"/>
            <a:ext cx="2689404" cy="2667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u="sng" dirty="0" smtClean="0"/>
              <a:t>Commodity computer systems</a:t>
            </a:r>
          </a:p>
        </p:txBody>
      </p:sp>
      <p:sp>
        <p:nvSpPr>
          <p:cNvPr id="4099" name="Rectangle 3"/>
          <p:cNvSpPr>
            <a:spLocks noGrp="1" noChangeArrowheads="1"/>
          </p:cNvSpPr>
          <p:nvPr>
            <p:ph type="body" idx="1"/>
          </p:nvPr>
        </p:nvSpPr>
        <p:spPr>
          <a:xfrm>
            <a:off x="0" y="762000"/>
            <a:ext cx="9144000" cy="6096000"/>
          </a:xfrm>
        </p:spPr>
        <p:txBody>
          <a:bodyPr>
            <a:normAutofit fontScale="92500" lnSpcReduction="20000"/>
          </a:bodyPr>
          <a:lstStyle/>
          <a:p>
            <a:pPr marL="660400" indent="-660400" eaLnBrk="1" hangingPunct="1">
              <a:lnSpc>
                <a:spcPct val="60000"/>
              </a:lnSpc>
              <a:buFont typeface="Arial" charset="0"/>
              <a:buNone/>
            </a:pPr>
            <a:r>
              <a:rPr lang="en-US" sz="2400" u="sng" dirty="0">
                <a:solidFill>
                  <a:srgbClr val="17375E"/>
                </a:solidFill>
              </a:rPr>
              <a:t>1946</a:t>
            </a:r>
            <a:r>
              <a:rPr lang="en-US" sz="2400" u="sng" dirty="0">
                <a:solidFill>
                  <a:srgbClr val="17375E"/>
                </a:solidFill>
                <a:sym typeface="Wingdings" charset="2"/>
              </a:rPr>
              <a:t></a:t>
            </a:r>
            <a:r>
              <a:rPr lang="en-US" sz="2400" u="sng" dirty="0">
                <a:solidFill>
                  <a:srgbClr val="17375E"/>
                </a:solidFill>
              </a:rPr>
              <a:t>2003</a:t>
            </a:r>
            <a:r>
              <a:rPr lang="en-US" sz="2400" dirty="0">
                <a:solidFill>
                  <a:srgbClr val="17375E"/>
                </a:solidFill>
              </a:rPr>
              <a:t> </a:t>
            </a:r>
            <a:r>
              <a:rPr lang="en-US" sz="2400" dirty="0"/>
              <a:t>General-purpose computing: </a:t>
            </a:r>
            <a:r>
              <a:rPr lang="en-US" sz="2400" dirty="0">
                <a:solidFill>
                  <a:srgbClr val="FF0000"/>
                </a:solidFill>
              </a:rPr>
              <a:t>Serial</a:t>
            </a:r>
            <a:r>
              <a:rPr lang="en-US" sz="2400" dirty="0"/>
              <a:t>. </a:t>
            </a:r>
            <a:r>
              <a:rPr lang="en-US" sz="2400" dirty="0">
                <a:solidFill>
                  <a:srgbClr val="17375E"/>
                </a:solidFill>
              </a:rPr>
              <a:t>5KHz</a:t>
            </a:r>
            <a:r>
              <a:rPr lang="en-US" sz="2400" dirty="0">
                <a:solidFill>
                  <a:srgbClr val="17375E"/>
                </a:solidFill>
                <a:sym typeface="Wingdings" charset="2"/>
              </a:rPr>
              <a:t>4GHz. </a:t>
            </a:r>
            <a:endParaRPr lang="en-US" sz="2400"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110000"/>
              </a:lnSpc>
              <a:buFont typeface="Arial" charset="0"/>
              <a:buNone/>
            </a:pPr>
            <a:r>
              <a:rPr lang="en-US" sz="2400" u="sng" dirty="0" smtClean="0">
                <a:solidFill>
                  <a:srgbClr val="17375E"/>
                </a:solidFill>
              </a:rPr>
              <a:t>2004</a:t>
            </a:r>
            <a:r>
              <a:rPr lang="en-US" sz="2400" dirty="0" smtClean="0">
                <a:solidFill>
                  <a:srgbClr val="17375E"/>
                </a:solidFill>
              </a:rPr>
              <a:t> </a:t>
            </a:r>
            <a:r>
              <a:rPr lang="en-US" sz="2400" dirty="0" smtClean="0">
                <a:solidFill>
                  <a:srgbClr val="FF0000"/>
                </a:solidFill>
              </a:rPr>
              <a:t>Symptom: clock </a:t>
            </a:r>
            <a:r>
              <a:rPr lang="en-US" sz="2400" dirty="0">
                <a:solidFill>
                  <a:srgbClr val="FF0000"/>
                </a:solidFill>
              </a:rPr>
              <a:t>frequency </a:t>
            </a:r>
            <a:r>
              <a:rPr lang="en-US" sz="2400" dirty="0" smtClean="0">
                <a:solidFill>
                  <a:srgbClr val="FF0000"/>
                </a:solidFill>
              </a:rPr>
              <a:t>growth </a:t>
            </a:r>
            <a:r>
              <a:rPr lang="en-US" sz="2400" dirty="0">
                <a:solidFill>
                  <a:srgbClr val="FF0000"/>
                </a:solidFill>
              </a:rPr>
              <a:t>flat. </a:t>
            </a:r>
            <a:r>
              <a:rPr lang="en-US" sz="2400" dirty="0"/>
              <a:t>If you want your program to run significantly faster … you’re going to have to parallelize it</a:t>
            </a:r>
            <a:r>
              <a:rPr lang="en-US" sz="2400" dirty="0" smtClean="0"/>
              <a:t> </a:t>
            </a:r>
            <a:endParaRPr lang="en-US" sz="2400" dirty="0" smtClean="0">
              <a:sym typeface="Wingdings" charset="2"/>
            </a:endParaRPr>
          </a:p>
          <a:p>
            <a:pPr marL="660400" indent="-660400" eaLnBrk="1" hangingPunct="1">
              <a:lnSpc>
                <a:spcPct val="110000"/>
              </a:lnSpc>
              <a:buFont typeface="Arial" charset="0"/>
              <a:buNone/>
            </a:pPr>
            <a:endParaRPr lang="en-US" sz="2400" b="1" dirty="0" smtClean="0">
              <a:solidFill>
                <a:srgbClr val="FF0000"/>
              </a:solidFill>
              <a:sym typeface="Wingdings" charset="2"/>
            </a:endParaRPr>
          </a:p>
          <a:p>
            <a:pPr marL="660400" indent="-660400" eaLnBrk="1" hangingPunct="1">
              <a:lnSpc>
                <a:spcPct val="110000"/>
              </a:lnSpc>
              <a:buFont typeface="Arial" charset="0"/>
              <a:buNone/>
            </a:pPr>
            <a:endParaRPr lang="en-US" sz="2400" b="1" dirty="0" smtClean="0">
              <a:solidFill>
                <a:srgbClr val="FF0000"/>
              </a:solidFill>
              <a:sym typeface="Wingdings" charset="2"/>
            </a:endParaRPr>
          </a:p>
          <a:p>
            <a:pPr marL="660400" indent="-660400" eaLnBrk="1" hangingPunct="1">
              <a:lnSpc>
                <a:spcPct val="110000"/>
              </a:lnSpc>
              <a:buFont typeface="Arial" charset="0"/>
              <a:buNone/>
            </a:pPr>
            <a:r>
              <a:rPr lang="en-US" sz="2400" b="1" dirty="0" err="1" smtClean="0">
                <a:solidFill>
                  <a:srgbClr val="FF0000"/>
                </a:solidFill>
                <a:sym typeface="Wingdings"/>
              </a:rPr>
              <a:t></a:t>
            </a:r>
            <a:r>
              <a:rPr lang="en-US" sz="2400" b="1" dirty="0" smtClean="0">
                <a:solidFill>
                  <a:srgbClr val="FF0000"/>
                </a:solidFill>
                <a:sym typeface="Wingdings"/>
              </a:rPr>
              <a:t> </a:t>
            </a:r>
            <a:r>
              <a:rPr lang="en-US" sz="2400" b="1" dirty="0" smtClean="0">
                <a:solidFill>
                  <a:srgbClr val="FF0000"/>
                </a:solidFill>
                <a:sym typeface="Wingdings" charset="2"/>
              </a:rPr>
              <a:t>Parallelism</a:t>
            </a:r>
            <a:r>
              <a:rPr lang="en-US" sz="2400" b="1" dirty="0">
                <a:solidFill>
                  <a:srgbClr val="FF0000"/>
                </a:solidFill>
                <a:sym typeface="Wingdings" charset="2"/>
              </a:rPr>
              <a:t>:</a:t>
            </a:r>
            <a:r>
              <a:rPr lang="en-US" sz="2400" b="1" dirty="0" smtClean="0">
                <a:solidFill>
                  <a:srgbClr val="FF0000"/>
                </a:solidFill>
                <a:sym typeface="Wingdings" charset="2"/>
              </a:rPr>
              <a:t> </a:t>
            </a:r>
          </a:p>
          <a:p>
            <a:pPr marL="660400" indent="-660400" eaLnBrk="1" hangingPunct="1">
              <a:lnSpc>
                <a:spcPct val="110000"/>
              </a:lnSpc>
              <a:buFont typeface="Arial" charset="0"/>
              <a:buNone/>
            </a:pPr>
            <a:r>
              <a:rPr lang="en-US" sz="2400" b="1" dirty="0" smtClean="0">
                <a:solidFill>
                  <a:srgbClr val="FF0000"/>
                </a:solidFill>
                <a:sym typeface="Wingdings" charset="2"/>
              </a:rPr>
              <a:t>only </a:t>
            </a:r>
            <a:r>
              <a:rPr lang="en-US" sz="2400" b="1" dirty="0">
                <a:solidFill>
                  <a:srgbClr val="FF0000"/>
                </a:solidFill>
                <a:sym typeface="Wingdings" charset="2"/>
              </a:rPr>
              <a:t>game in </a:t>
            </a:r>
            <a:r>
              <a:rPr lang="en-US" sz="2400" b="1" dirty="0" smtClean="0">
                <a:solidFill>
                  <a:srgbClr val="FF0000"/>
                </a:solidFill>
                <a:sym typeface="Wingdings" charset="2"/>
              </a:rPr>
              <a:t>town</a:t>
            </a: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110000"/>
              </a:lnSpc>
              <a:buFont typeface="Arial" charset="0"/>
              <a:buNone/>
            </a:pPr>
            <a:r>
              <a:rPr lang="en-US" sz="2400" u="sng" dirty="0" smtClean="0">
                <a:solidFill>
                  <a:srgbClr val="17375E"/>
                </a:solidFill>
              </a:rPr>
              <a:t>#</a:t>
            </a:r>
            <a:r>
              <a:rPr lang="en-US" sz="2400" u="sng" dirty="0">
                <a:solidFill>
                  <a:srgbClr val="17375E"/>
                </a:solidFill>
              </a:rPr>
              <a:t>Transistors/chip</a:t>
            </a:r>
            <a:r>
              <a:rPr lang="en-US" sz="2400" dirty="0">
                <a:solidFill>
                  <a:srgbClr val="17375E"/>
                </a:solidFill>
              </a:rPr>
              <a:t> 1980</a:t>
            </a:r>
            <a:r>
              <a:rPr lang="en-US" sz="2400" dirty="0">
                <a:solidFill>
                  <a:srgbClr val="17375E"/>
                </a:solidFill>
                <a:sym typeface="Wingdings" charset="2"/>
              </a:rPr>
              <a:t>2011</a:t>
            </a:r>
            <a:r>
              <a:rPr lang="en-US" sz="2400" dirty="0">
                <a:solidFill>
                  <a:srgbClr val="17375E"/>
                </a:solidFill>
              </a:rPr>
              <a:t>: 29K</a:t>
            </a:r>
            <a:r>
              <a:rPr lang="en-US" sz="2400" dirty="0">
                <a:solidFill>
                  <a:srgbClr val="17375E"/>
                </a:solidFill>
                <a:sym typeface="Wingdings" charset="2"/>
              </a:rPr>
              <a:t></a:t>
            </a:r>
            <a:r>
              <a:rPr lang="en-US" sz="2400" dirty="0">
                <a:solidFill>
                  <a:srgbClr val="17375E"/>
                </a:solidFill>
              </a:rPr>
              <a:t>30B! </a:t>
            </a:r>
            <a:r>
              <a:rPr lang="en-US" sz="2400" dirty="0"/>
              <a:t>General-purpose computing  goes </a:t>
            </a:r>
            <a:r>
              <a:rPr lang="en-US" sz="2400" dirty="0">
                <a:solidFill>
                  <a:srgbClr val="FF0000"/>
                </a:solidFill>
              </a:rPr>
              <a:t>parallel</a:t>
            </a:r>
            <a:r>
              <a:rPr lang="en-US" sz="2400" dirty="0"/>
              <a:t>. </a:t>
            </a:r>
            <a:r>
              <a:rPr lang="en-US" sz="2400" dirty="0">
                <a:solidFill>
                  <a:srgbClr val="17375E"/>
                </a:solidFill>
              </a:rPr>
              <a:t>#”cores”: ~d</a:t>
            </a:r>
            <a:r>
              <a:rPr lang="en-US" sz="2400" baseline="30000" dirty="0">
                <a:solidFill>
                  <a:srgbClr val="17375E"/>
                </a:solidFill>
              </a:rPr>
              <a:t>y-2003</a:t>
            </a:r>
            <a:r>
              <a:rPr lang="en-US" sz="2400" dirty="0">
                <a:solidFill>
                  <a:srgbClr val="17375E"/>
                </a:solidFill>
              </a:rPr>
              <a:t> </a:t>
            </a:r>
          </a:p>
          <a:p>
            <a:pPr marL="660400" indent="-660400" eaLnBrk="1" hangingPunct="1">
              <a:lnSpc>
                <a:spcPct val="110000"/>
              </a:lnSpc>
              <a:buFontTx/>
              <a:buNone/>
            </a:pPr>
            <a:r>
              <a:rPr lang="en-US" sz="2400" dirty="0">
                <a:solidFill>
                  <a:srgbClr val="17375E"/>
                </a:solidFill>
              </a:rPr>
              <a:t>But, </a:t>
            </a:r>
            <a:r>
              <a:rPr lang="en-US" sz="2400" u="sng" dirty="0">
                <a:solidFill>
                  <a:srgbClr val="FF0000"/>
                </a:solidFill>
              </a:rPr>
              <a:t>what about the programmer</a:t>
            </a:r>
            <a:r>
              <a:rPr lang="en-US" sz="2400" dirty="0" smtClean="0">
                <a:solidFill>
                  <a:srgbClr val="17375E"/>
                </a:solidFill>
              </a:rPr>
              <a:t>?</a:t>
            </a:r>
            <a:endParaRPr lang="en-US" sz="2400" dirty="0" smtClean="0"/>
          </a:p>
          <a:p>
            <a:pPr marL="660400" indent="-660400" eaLnBrk="1" hangingPunct="1">
              <a:lnSpc>
                <a:spcPct val="110000"/>
              </a:lnSpc>
              <a:buFontTx/>
              <a:buNone/>
            </a:pPr>
            <a:r>
              <a:rPr lang="en-US" sz="2400" dirty="0" smtClean="0">
                <a:solidFill>
                  <a:srgbClr val="FF0000"/>
                </a:solidFill>
              </a:rPr>
              <a:t>Another symptom </a:t>
            </a:r>
            <a:r>
              <a:rPr lang="en-US" sz="2400" dirty="0" smtClean="0"/>
              <a:t>Low number of </a:t>
            </a:r>
            <a:r>
              <a:rPr lang="en-US" sz="2400" dirty="0" smtClean="0"/>
              <a:t>theorists in research &amp; education. </a:t>
            </a:r>
            <a:r>
              <a:rPr lang="en-US" sz="2400" dirty="0" smtClean="0"/>
              <a:t>Canaries in the coal mine? </a:t>
            </a:r>
            <a:endParaRPr lang="en-US" sz="2400" dirty="0"/>
          </a:p>
        </p:txBody>
      </p:sp>
      <p:pic>
        <p:nvPicPr>
          <p:cNvPr id="5124" name="Picture 17"/>
          <p:cNvPicPr>
            <a:picLocks noChangeAspect="1" noChangeArrowheads="1"/>
          </p:cNvPicPr>
          <p:nvPr/>
        </p:nvPicPr>
        <p:blipFill>
          <a:blip r:embed="rId3"/>
          <a:srcRect/>
          <a:stretch>
            <a:fillRect/>
          </a:stretch>
        </p:blipFill>
        <p:spPr bwMode="auto">
          <a:xfrm>
            <a:off x="3559175" y="2286000"/>
            <a:ext cx="5432425" cy="2209800"/>
          </a:xfrm>
          <a:prstGeom prst="rect">
            <a:avLst/>
          </a:prstGeom>
          <a:noFill/>
          <a:ln w="9525">
            <a:noFill/>
            <a:miter lim="800000"/>
            <a:headEnd/>
            <a:tailEnd/>
          </a:ln>
        </p:spPr>
      </p:pic>
      <p:sp>
        <p:nvSpPr>
          <p:cNvPr id="5125" name="TextBox 9"/>
          <p:cNvSpPr txBox="1">
            <a:spLocks noChangeArrowheads="1"/>
          </p:cNvSpPr>
          <p:nvPr/>
        </p:nvSpPr>
        <p:spPr bwMode="auto">
          <a:xfrm>
            <a:off x="5410200" y="1981200"/>
            <a:ext cx="3733800" cy="400110"/>
          </a:xfrm>
          <a:prstGeom prst="rect">
            <a:avLst/>
          </a:prstGeom>
          <a:noFill/>
          <a:ln w="9525">
            <a:noFill/>
            <a:miter lim="800000"/>
            <a:headEnd/>
            <a:tailEnd/>
          </a:ln>
        </p:spPr>
        <p:txBody>
          <a:bodyPr wrap="square">
            <a:prstTxWarp prst="textNoShape">
              <a:avLst/>
            </a:prstTxWarp>
            <a:spAutoFit/>
          </a:bodyPr>
          <a:lstStyle/>
          <a:p>
            <a:r>
              <a:rPr lang="en-US" dirty="0">
                <a:latin typeface="Calibri" charset="0"/>
              </a:rPr>
              <a:t>Intel Platform 2015, March05</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dirty="0" smtClean="0"/>
              <a:t> </a:t>
            </a:r>
            <a:r>
              <a:rPr lang="en-US" u="sng" dirty="0" smtClean="0"/>
              <a:t>Conclusion of Coming Intro Slide(s)</a:t>
            </a:r>
            <a:endParaRPr lang="en-US" u="sng" dirty="0"/>
          </a:p>
        </p:txBody>
      </p:sp>
      <p:sp>
        <p:nvSpPr>
          <p:cNvPr id="3" name="Content Placeholder 2"/>
          <p:cNvSpPr>
            <a:spLocks noGrp="1"/>
          </p:cNvSpPr>
          <p:nvPr>
            <p:ph idx="1"/>
          </p:nvPr>
        </p:nvSpPr>
        <p:spPr>
          <a:xfrm>
            <a:off x="0" y="762000"/>
            <a:ext cx="9144000" cy="5364163"/>
          </a:xfrm>
        </p:spPr>
        <p:txBody>
          <a:bodyPr/>
          <a:lstStyle/>
          <a:p>
            <a:r>
              <a:rPr lang="en-US" dirty="0" smtClean="0"/>
              <a:t>Productivity: code development time + runtime </a:t>
            </a:r>
          </a:p>
          <a:p>
            <a:r>
              <a:rPr lang="en-US" dirty="0" smtClean="0"/>
              <a:t>Many-cores are currently Productivity limited</a:t>
            </a:r>
            <a:r>
              <a:rPr lang="en-US" b="1" dirty="0" smtClean="0"/>
              <a:t> </a:t>
            </a:r>
          </a:p>
          <a:p>
            <a:pPr>
              <a:buNone/>
            </a:pPr>
            <a:r>
              <a:rPr lang="en-US" dirty="0" smtClean="0"/>
              <a:t>Vendors products</a:t>
            </a:r>
            <a:r>
              <a:rPr lang="en-US" b="1" dirty="0" smtClean="0"/>
              <a:t>: insufficient productivity, monolithic</a:t>
            </a:r>
            <a:endParaRPr lang="en-US" dirty="0" smtClean="0"/>
          </a:p>
          <a:p>
            <a:r>
              <a:rPr lang="en-US" dirty="0" smtClean="0"/>
              <a:t>Need: HW diversity, followed by “natural selection” based on productivity </a:t>
            </a:r>
          </a:p>
          <a:p>
            <a:r>
              <a:rPr lang="en-US" dirty="0" smtClean="0"/>
              <a:t>Will explain why US/Europe/Israel interests mandate greater role to academia </a:t>
            </a:r>
          </a:p>
          <a:p>
            <a:pPr>
              <a:buNone/>
            </a:pPr>
            <a:r>
              <a:rPr lang="en-US" u="sng" dirty="0" smtClean="0"/>
              <a:t>Concern</a:t>
            </a:r>
            <a:r>
              <a:rPr lang="en-US" dirty="0" smtClean="0"/>
              <a:t> </a:t>
            </a:r>
            <a:r>
              <a:rPr lang="en-US" sz="2800" dirty="0" smtClean="0">
                <a:sym typeface="Wingdings" pitchFamily="2" charset="2"/>
              </a:rPr>
              <a:t>CS in awe of vendors’ HW: “face of  practice”; </a:t>
            </a:r>
            <a:r>
              <a:rPr lang="en-US" sz="2800" u="sng" dirty="0" smtClean="0">
                <a:sym typeface="Wingdings" pitchFamily="2" charset="2"/>
              </a:rPr>
              <a:t>But</a:t>
            </a:r>
            <a:r>
              <a:rPr lang="en-US" sz="2800" dirty="0" smtClean="0">
                <a:sym typeface="Wingdings" pitchFamily="2" charset="2"/>
              </a:rPr>
              <a:t>: has preference </a:t>
            </a:r>
            <a:r>
              <a:rPr lang="en-US" sz="2800" dirty="0" smtClean="0">
                <a:solidFill>
                  <a:srgbClr val="FF0000"/>
                </a:solidFill>
                <a:sym typeface="Wingdings" pitchFamily="2" charset="2"/>
              </a:rPr>
              <a:t>only if </a:t>
            </a:r>
            <a:r>
              <a:rPr lang="en-US" sz="2800" dirty="0" smtClean="0">
                <a:sym typeface="Wingdings" pitchFamily="2" charset="2"/>
              </a:rPr>
              <a:t>accepted/adopted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276600"/>
            <a:ext cx="9144000" cy="457200"/>
          </a:xfrm>
        </p:spPr>
        <p:txBody>
          <a:bodyPr/>
          <a:lstStyle/>
          <a:p>
            <a:pPr algn="ctr"/>
            <a:r>
              <a:rPr lang="en-US" dirty="0" smtClean="0"/>
              <a:t>An “application dreamer”: between a rock and a hard place</a:t>
            </a:r>
            <a:endParaRPr lang="en-US" dirty="0"/>
          </a:p>
        </p:txBody>
      </p:sp>
      <p:sp>
        <p:nvSpPr>
          <p:cNvPr id="4" name="Text Placeholder 3"/>
          <p:cNvSpPr>
            <a:spLocks noGrp="1"/>
          </p:cNvSpPr>
          <p:nvPr>
            <p:ph type="body" sz="half" idx="2"/>
          </p:nvPr>
        </p:nvSpPr>
        <p:spPr>
          <a:xfrm>
            <a:off x="0" y="3733800"/>
            <a:ext cx="9144000" cy="2514600"/>
          </a:xfrm>
        </p:spPr>
        <p:txBody>
          <a:bodyPr/>
          <a:lstStyle/>
          <a:p>
            <a:pPr algn="ctr"/>
            <a:r>
              <a:rPr lang="en-US" sz="2400" b="1" u="sng" dirty="0" smtClean="0"/>
              <a:t>Casualties of too-costly SW development</a:t>
            </a:r>
          </a:p>
          <a:p>
            <a:r>
              <a:rPr lang="en-US" sz="2400" dirty="0" smtClean="0"/>
              <a:t>- Cost and time-to-market of applications</a:t>
            </a:r>
          </a:p>
          <a:p>
            <a:r>
              <a:rPr lang="en-US" sz="2400" dirty="0" smtClean="0"/>
              <a:t>- Business model for innovation (&amp; American ingenuity)</a:t>
            </a:r>
          </a:p>
          <a:p>
            <a:r>
              <a:rPr lang="en-US" sz="2400" dirty="0" smtClean="0"/>
              <a:t>- Advantage to lower wage CS job markets. </a:t>
            </a:r>
            <a:r>
              <a:rPr lang="en-US" sz="2000" u="sng" dirty="0" smtClean="0"/>
              <a:t>Next slide</a:t>
            </a:r>
            <a:r>
              <a:rPr lang="en-US" sz="2400" dirty="0" smtClean="0"/>
              <a:t> </a:t>
            </a:r>
            <a:r>
              <a:rPr lang="en-US" sz="2400" dirty="0" smtClean="0">
                <a:solidFill>
                  <a:srgbClr val="FF0000"/>
                </a:solidFill>
              </a:rPr>
              <a:t>US: 15%</a:t>
            </a:r>
          </a:p>
          <a:p>
            <a:pPr>
              <a:buFontTx/>
              <a:buChar char="-"/>
            </a:pPr>
            <a:r>
              <a:rPr lang="en-US" sz="2000" dirty="0" smtClean="0"/>
              <a:t> NSF HS plan: attract best US minds with less programming, 10K CS teachers </a:t>
            </a:r>
          </a:p>
          <a:p>
            <a:pPr>
              <a:buFontTx/>
              <a:buChar char="-"/>
            </a:pPr>
            <a:r>
              <a:rPr lang="en-US" sz="2000" dirty="0" smtClean="0"/>
              <a:t> Vendors/VCs $3.5B Invest in America Alliance: Start-ups,10.5K CS grad jobs</a:t>
            </a:r>
          </a:p>
          <a:p>
            <a:r>
              <a:rPr lang="en-US" sz="2400" dirty="0" smtClean="0"/>
              <a:t>.. Only future of the field &amp; U.S. (and ‘US-like’) competitiveness </a:t>
            </a:r>
            <a:endParaRPr lang="en-US" sz="2000" dirty="0" smtClean="0"/>
          </a:p>
          <a:p>
            <a:pPr>
              <a:buFontTx/>
              <a:buChar char="-"/>
            </a:pPr>
            <a:endParaRPr lang="en-US" sz="2400" dirty="0" smtClean="0"/>
          </a:p>
          <a:p>
            <a:endParaRPr lang="en-US" dirty="0"/>
          </a:p>
        </p:txBody>
      </p:sp>
      <p:pic>
        <p:nvPicPr>
          <p:cNvPr id="1026" name="Picture 2"/>
          <p:cNvPicPr>
            <a:picLocks noGrp="1" noChangeAspect="1" noChangeArrowheads="1"/>
          </p:cNvPicPr>
          <p:nvPr>
            <p:ph type="pic" idx="1"/>
          </p:nvPr>
        </p:nvPicPr>
        <p:blipFill>
          <a:blip r:embed="rId3" cstate="print"/>
          <a:srcRect t="9091" b="9091"/>
          <a:stretch>
            <a:fillRect/>
          </a:stretch>
        </p:blipFill>
        <p:spPr bwMode="auto">
          <a:xfrm>
            <a:off x="3429000" y="990600"/>
            <a:ext cx="2743200" cy="2362200"/>
          </a:xfrm>
          <a:prstGeom prst="rect">
            <a:avLst/>
          </a:prstGeom>
          <a:noFill/>
          <a:ln w="9525">
            <a:noFill/>
            <a:miter lim="800000"/>
            <a:headEnd/>
            <a:tailEnd/>
          </a:ln>
        </p:spPr>
      </p:pic>
      <p:sp>
        <p:nvSpPr>
          <p:cNvPr id="6" name="TextBox 5"/>
          <p:cNvSpPr txBox="1"/>
          <p:nvPr/>
        </p:nvSpPr>
        <p:spPr>
          <a:xfrm>
            <a:off x="6096000" y="1143000"/>
            <a:ext cx="3048000" cy="1631216"/>
          </a:xfrm>
          <a:prstGeom prst="rect">
            <a:avLst/>
          </a:prstGeom>
          <a:noFill/>
        </p:spPr>
        <p:txBody>
          <a:bodyPr wrap="square" rtlCol="0">
            <a:spAutoFit/>
          </a:bodyPr>
          <a:lstStyle/>
          <a:p>
            <a:r>
              <a:rPr lang="en-US" dirty="0" smtClean="0"/>
              <a:t>Optimized for things you can “</a:t>
            </a:r>
            <a:r>
              <a:rPr lang="en-US" b="1" dirty="0" smtClean="0"/>
              <a:t>truly measure</a:t>
            </a:r>
            <a:r>
              <a:rPr lang="en-US" dirty="0" smtClean="0"/>
              <a:t>”: (old) benchmarks &amp; power. What about productivity? </a:t>
            </a:r>
            <a:endParaRPr lang="en-US" dirty="0"/>
          </a:p>
        </p:txBody>
      </p:sp>
      <p:sp>
        <p:nvSpPr>
          <p:cNvPr id="7" name="TextBox 6"/>
          <p:cNvSpPr txBox="1"/>
          <p:nvPr/>
        </p:nvSpPr>
        <p:spPr>
          <a:xfrm>
            <a:off x="0" y="1143000"/>
            <a:ext cx="3581400" cy="2246769"/>
          </a:xfrm>
          <a:prstGeom prst="rect">
            <a:avLst/>
          </a:prstGeom>
          <a:noFill/>
        </p:spPr>
        <p:txBody>
          <a:bodyPr wrap="square" rtlCol="0">
            <a:spAutoFit/>
          </a:bodyPr>
          <a:lstStyle/>
          <a:p>
            <a:pPr>
              <a:buFont typeface="Wingdings" pitchFamily="2" charset="2"/>
              <a:buChar char="L"/>
            </a:pPr>
            <a:r>
              <a:rPr lang="en-US" dirty="0" smtClean="0"/>
              <a:t> Decomposition-inventive design </a:t>
            </a:r>
          </a:p>
          <a:p>
            <a:r>
              <a:rPr lang="en-US" dirty="0" smtClean="0">
                <a:sym typeface="Wingdings" pitchFamily="2" charset="2"/>
              </a:rPr>
              <a:t> </a:t>
            </a:r>
            <a:r>
              <a:rPr lang="en-US" dirty="0" smtClean="0"/>
              <a:t>Reason about concurrency in threads</a:t>
            </a:r>
          </a:p>
          <a:p>
            <a:pPr>
              <a:buFont typeface="Wingdings" pitchFamily="2" charset="2"/>
              <a:buChar char="L"/>
            </a:pPr>
            <a:r>
              <a:rPr lang="en-US" dirty="0" smtClean="0"/>
              <a:t> For the more parallel HW: issues if whole program is not highly parallel </a:t>
            </a:r>
          </a:p>
        </p:txBody>
      </p:sp>
      <p:sp>
        <p:nvSpPr>
          <p:cNvPr id="8" name="TextBox 7"/>
          <p:cNvSpPr txBox="1"/>
          <p:nvPr/>
        </p:nvSpPr>
        <p:spPr>
          <a:xfrm>
            <a:off x="6400800" y="2743200"/>
            <a:ext cx="2824068" cy="369332"/>
          </a:xfrm>
          <a:prstGeom prst="rect">
            <a:avLst/>
          </a:prstGeom>
          <a:noFill/>
        </p:spPr>
        <p:txBody>
          <a:bodyPr wrap="square" rtlCol="0">
            <a:spAutoFit/>
          </a:bodyPr>
          <a:lstStyle/>
          <a:p>
            <a:r>
              <a:rPr lang="en-US" sz="1800" dirty="0" smtClean="0"/>
              <a:t>[Credit: wordpress.com]</a:t>
            </a:r>
            <a:endParaRPr lang="en-US" sz="1800" dirty="0"/>
          </a:p>
        </p:txBody>
      </p:sp>
      <p:sp>
        <p:nvSpPr>
          <p:cNvPr id="9" name="TextBox 8"/>
          <p:cNvSpPr txBox="1"/>
          <p:nvPr/>
        </p:nvSpPr>
        <p:spPr>
          <a:xfrm>
            <a:off x="0" y="1"/>
            <a:ext cx="9144000" cy="584775"/>
          </a:xfrm>
          <a:prstGeom prst="rect">
            <a:avLst/>
          </a:prstGeom>
          <a:noFill/>
        </p:spPr>
        <p:txBody>
          <a:bodyPr wrap="square" rtlCol="0">
            <a:spAutoFit/>
          </a:bodyPr>
          <a:lstStyle/>
          <a:p>
            <a:pPr algn="ctr"/>
            <a:r>
              <a:rPr lang="en-US" sz="3200" dirty="0" smtClean="0"/>
              <a:t>Is CS destined for low productivity?</a:t>
            </a:r>
            <a:endParaRPr lang="en-US" sz="3200" dirty="0"/>
          </a:p>
        </p:txBody>
      </p:sp>
      <p:sp>
        <p:nvSpPr>
          <p:cNvPr id="10" name="TextBox 9"/>
          <p:cNvSpPr txBox="1"/>
          <p:nvPr/>
        </p:nvSpPr>
        <p:spPr>
          <a:xfrm>
            <a:off x="0" y="609600"/>
            <a:ext cx="7543800" cy="400110"/>
          </a:xfrm>
          <a:prstGeom prst="rect">
            <a:avLst/>
          </a:prstGeom>
          <a:noFill/>
        </p:spPr>
        <p:txBody>
          <a:bodyPr wrap="square" rtlCol="0">
            <a:spAutoFit/>
          </a:bodyPr>
          <a:lstStyle/>
          <a:p>
            <a:r>
              <a:rPr lang="en-US" b="1" dirty="0" smtClean="0"/>
              <a:t>Programmer’s productivity busters              Many-core HW </a:t>
            </a:r>
            <a:endParaRPr lang="en-US"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290" name="Picture 6" descr="worldchart.png"/>
          <p:cNvPicPr>
            <a:picLocks noChangeAspect="1"/>
          </p:cNvPicPr>
          <p:nvPr/>
        </p:nvPicPr>
        <p:blipFill>
          <a:blip r:embed="rId3" cstate="print"/>
          <a:srcRect/>
          <a:stretch>
            <a:fillRect/>
          </a:stretch>
        </p:blipFill>
        <p:spPr bwMode="auto">
          <a:xfrm>
            <a:off x="277813" y="725488"/>
            <a:ext cx="5919787" cy="5919787"/>
          </a:xfrm>
          <a:prstGeom prst="rect">
            <a:avLst/>
          </a:prstGeom>
          <a:noFill/>
          <a:ln w="9525">
            <a:noFill/>
            <a:miter lim="800000"/>
            <a:headEnd/>
            <a:tailEnd/>
          </a:ln>
        </p:spPr>
      </p:pic>
      <p:sp>
        <p:nvSpPr>
          <p:cNvPr id="4" name="Title 3"/>
          <p:cNvSpPr>
            <a:spLocks noGrp="1"/>
          </p:cNvSpPr>
          <p:nvPr>
            <p:ph type="title"/>
          </p:nvPr>
        </p:nvSpPr>
        <p:spPr>
          <a:xfrm>
            <a:off x="0" y="0"/>
            <a:ext cx="9144000" cy="838200"/>
          </a:xfrm>
        </p:spPr>
        <p:txBody>
          <a:bodyPr>
            <a:normAutofit/>
          </a:bodyPr>
          <a:lstStyle/>
          <a:p>
            <a:pPr>
              <a:defRPr/>
            </a:pPr>
            <a:r>
              <a:rPr lang="en-US" sz="3600" dirty="0" smtClean="0">
                <a:solidFill>
                  <a:schemeClr val="accent5">
                    <a:lumMod val="10000"/>
                  </a:schemeClr>
                </a:solidFill>
              </a:rPr>
              <a:t>Membership in Intel Academic Community</a:t>
            </a:r>
            <a:endParaRPr lang="en-US" sz="3600" dirty="0">
              <a:solidFill>
                <a:schemeClr val="accent5">
                  <a:lumMod val="10000"/>
                </a:schemeClr>
              </a:solidFill>
            </a:endParaRPr>
          </a:p>
        </p:txBody>
      </p:sp>
      <p:sp>
        <p:nvSpPr>
          <p:cNvPr id="6" name="TextBox 5"/>
          <p:cNvSpPr txBox="1"/>
          <p:nvPr/>
        </p:nvSpPr>
        <p:spPr>
          <a:xfrm>
            <a:off x="5827713" y="5205413"/>
            <a:ext cx="3133725" cy="493712"/>
          </a:xfrm>
          <a:prstGeom prst="rect">
            <a:avLst/>
          </a:prstGeom>
          <a:noFill/>
          <a:ln>
            <a:solidFill>
              <a:schemeClr val="accent4">
                <a:lumMod val="50000"/>
              </a:schemeClr>
            </a:solidFill>
          </a:ln>
        </p:spPr>
        <p:txBody>
          <a:bodyPr>
            <a:spAutoFit/>
          </a:bodyPr>
          <a:lstStyle/>
          <a:p>
            <a:pPr>
              <a:defRPr/>
            </a:pPr>
            <a:r>
              <a:rPr lang="en-US" dirty="0">
                <a:solidFill>
                  <a:schemeClr val="accent5">
                    <a:lumMod val="10000"/>
                  </a:schemeClr>
                </a:solidFill>
                <a:latin typeface="Arial" charset="0"/>
              </a:rPr>
              <a:t>85% outside USA</a:t>
            </a:r>
          </a:p>
        </p:txBody>
      </p:sp>
      <p:sp>
        <p:nvSpPr>
          <p:cNvPr id="8" name="TextBox 7"/>
          <p:cNvSpPr txBox="1"/>
          <p:nvPr/>
        </p:nvSpPr>
        <p:spPr>
          <a:xfrm>
            <a:off x="6022975" y="701675"/>
            <a:ext cx="2876550" cy="1692275"/>
          </a:xfrm>
          <a:prstGeom prst="rect">
            <a:avLst/>
          </a:prstGeom>
          <a:noFill/>
          <a:ln>
            <a:solidFill>
              <a:schemeClr val="accent4">
                <a:lumMod val="50000"/>
              </a:schemeClr>
            </a:solidFill>
          </a:ln>
        </p:spPr>
        <p:txBody>
          <a:bodyPr>
            <a:spAutoFit/>
          </a:bodyPr>
          <a:lstStyle/>
          <a:p>
            <a:pPr>
              <a:defRPr/>
            </a:pPr>
            <a:r>
              <a:rPr lang="en-US" dirty="0">
                <a:solidFill>
                  <a:schemeClr val="accent5">
                    <a:lumMod val="10000"/>
                  </a:schemeClr>
                </a:solidFill>
                <a:latin typeface="Arial" charset="0"/>
              </a:rPr>
              <a:t>Implementing parallel computing into CS curriculum</a:t>
            </a:r>
          </a:p>
        </p:txBody>
      </p:sp>
      <p:sp>
        <p:nvSpPr>
          <p:cNvPr id="12294" name="TextBox 8"/>
          <p:cNvSpPr txBox="1">
            <a:spLocks noChangeArrowheads="1"/>
          </p:cNvSpPr>
          <p:nvPr/>
        </p:nvSpPr>
        <p:spPr bwMode="auto">
          <a:xfrm>
            <a:off x="6019800" y="6096000"/>
            <a:ext cx="2881313" cy="707886"/>
          </a:xfrm>
          <a:prstGeom prst="rect">
            <a:avLst/>
          </a:prstGeom>
          <a:noFill/>
          <a:ln w="9525">
            <a:noFill/>
            <a:miter lim="800000"/>
            <a:headEnd/>
            <a:tailEnd/>
          </a:ln>
        </p:spPr>
        <p:txBody>
          <a:bodyPr wrap="square">
            <a:spAutoFit/>
          </a:bodyPr>
          <a:lstStyle/>
          <a:p>
            <a:r>
              <a:rPr lang="en-US" dirty="0"/>
              <a:t>Source: M. Wrinn, </a:t>
            </a:r>
            <a:r>
              <a:rPr lang="en-US" dirty="0" smtClean="0"/>
              <a:t>Intel</a:t>
            </a:r>
          </a:p>
          <a:p>
            <a:r>
              <a:rPr lang="en-US" dirty="0" smtClean="0"/>
              <a:t>At SIGCSE’10</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a:xfrm>
            <a:off x="0" y="0"/>
            <a:ext cx="9144000" cy="609600"/>
          </a:xfrm>
        </p:spPr>
        <p:txBody>
          <a:bodyPr/>
          <a:lstStyle/>
          <a:p>
            <a:r>
              <a:rPr lang="en-US" sz="4000" u="sng" dirty="0" smtClean="0"/>
              <a:t>Lessons from Invention of Computing</a:t>
            </a:r>
          </a:p>
        </p:txBody>
      </p:sp>
      <p:sp>
        <p:nvSpPr>
          <p:cNvPr id="3" name="Content Placeholder 2"/>
          <p:cNvSpPr>
            <a:spLocks noGrp="1"/>
          </p:cNvSpPr>
          <p:nvPr>
            <p:ph idx="1"/>
          </p:nvPr>
        </p:nvSpPr>
        <p:spPr>
          <a:xfrm>
            <a:off x="0" y="685800"/>
            <a:ext cx="9144000" cy="6172200"/>
          </a:xfrm>
        </p:spPr>
        <p:txBody>
          <a:bodyPr rtlCol="0">
            <a:normAutofit fontScale="77500" lnSpcReduction="20000"/>
          </a:bodyPr>
          <a:lstStyle/>
          <a:p>
            <a:pPr fontAlgn="auto">
              <a:spcAft>
                <a:spcPts val="0"/>
              </a:spcAft>
              <a:buNone/>
              <a:defRPr/>
            </a:pPr>
            <a:r>
              <a:rPr lang="en-US" sz="2571" dirty="0" smtClean="0"/>
              <a:t>H. Goldstine, J. von Neumann. </a:t>
            </a:r>
            <a:r>
              <a:rPr lang="en-US" sz="2571" b="1" dirty="0" smtClean="0"/>
              <a:t>Planning</a:t>
            </a:r>
            <a:r>
              <a:rPr lang="en-US" sz="2571" dirty="0" smtClean="0"/>
              <a:t> and coding problems for an electronic computing instrument, 1947: </a:t>
            </a:r>
            <a:r>
              <a:rPr lang="en-US" dirty="0" smtClean="0"/>
              <a:t>“.. in </a:t>
            </a:r>
            <a:r>
              <a:rPr lang="en-US" b="1" dirty="0" smtClean="0"/>
              <a:t>comparing codes</a:t>
            </a:r>
            <a:r>
              <a:rPr lang="en-US" dirty="0" smtClean="0"/>
              <a:t> 4 viewpoints must be kept in mind, all of them of comparable importance:</a:t>
            </a:r>
          </a:p>
          <a:p>
            <a:pPr fontAlgn="auto">
              <a:spcAft>
                <a:spcPts val="0"/>
              </a:spcAft>
              <a:defRPr/>
            </a:pPr>
            <a:r>
              <a:rPr lang="en-US" b="1" dirty="0" smtClean="0">
                <a:solidFill>
                  <a:srgbClr val="FF0000"/>
                </a:solidFill>
              </a:rPr>
              <a:t>Simplicity</a:t>
            </a:r>
            <a:r>
              <a:rPr lang="en-US" b="1" dirty="0" smtClean="0"/>
              <a:t> and reliability</a:t>
            </a:r>
            <a:r>
              <a:rPr lang="en-US" dirty="0" smtClean="0"/>
              <a:t> of the engineering solutions </a:t>
            </a:r>
            <a:r>
              <a:rPr lang="en-US" b="1" dirty="0" smtClean="0"/>
              <a:t>required by the code</a:t>
            </a:r>
            <a:r>
              <a:rPr lang="en-US" dirty="0" smtClean="0"/>
              <a:t>;</a:t>
            </a:r>
          </a:p>
          <a:p>
            <a:pPr fontAlgn="auto">
              <a:spcAft>
                <a:spcPts val="0"/>
              </a:spcAft>
              <a:defRPr/>
            </a:pPr>
            <a:r>
              <a:rPr lang="en-US" b="1" dirty="0" smtClean="0">
                <a:solidFill>
                  <a:srgbClr val="FF0000"/>
                </a:solidFill>
              </a:rPr>
              <a:t>Simplicity, compactness</a:t>
            </a:r>
            <a:r>
              <a:rPr lang="en-US" b="1" dirty="0" smtClean="0"/>
              <a:t> and completeness</a:t>
            </a:r>
            <a:r>
              <a:rPr lang="en-US" dirty="0" smtClean="0"/>
              <a:t> of the </a:t>
            </a:r>
            <a:r>
              <a:rPr lang="en-US" b="1" dirty="0" smtClean="0"/>
              <a:t>code</a:t>
            </a:r>
            <a:r>
              <a:rPr lang="en-US" dirty="0" smtClean="0"/>
              <a:t>;</a:t>
            </a:r>
          </a:p>
          <a:p>
            <a:pPr fontAlgn="auto">
              <a:spcAft>
                <a:spcPts val="0"/>
              </a:spcAft>
              <a:defRPr/>
            </a:pPr>
            <a:r>
              <a:rPr lang="en-US" b="1" u="sng" dirty="0" smtClean="0">
                <a:solidFill>
                  <a:srgbClr val="FF0000"/>
                </a:solidFill>
              </a:rPr>
              <a:t>Ease and speed </a:t>
            </a:r>
            <a:r>
              <a:rPr lang="en-US" b="1" dirty="0" smtClean="0">
                <a:solidFill>
                  <a:srgbClr val="FF0000"/>
                </a:solidFill>
              </a:rPr>
              <a:t>of the human procedure</a:t>
            </a:r>
            <a:r>
              <a:rPr lang="en-US" dirty="0" smtClean="0"/>
              <a:t> </a:t>
            </a:r>
            <a:r>
              <a:rPr lang="en-US" dirty="0" smtClean="0">
                <a:solidFill>
                  <a:srgbClr val="FF0000"/>
                </a:solidFill>
              </a:rPr>
              <a:t>of</a:t>
            </a:r>
            <a:r>
              <a:rPr lang="en-US" dirty="0" smtClean="0"/>
              <a:t> </a:t>
            </a:r>
            <a:r>
              <a:rPr lang="en-US" dirty="0" smtClean="0">
                <a:solidFill>
                  <a:schemeClr val="accent2"/>
                </a:solidFill>
              </a:rPr>
              <a:t>translating mathematical conceived methods into the code</a:t>
            </a:r>
            <a:r>
              <a:rPr lang="en-US" dirty="0" smtClean="0"/>
              <a:t>, </a:t>
            </a:r>
            <a:r>
              <a:rPr lang="en-US" dirty="0" smtClean="0">
                <a:solidFill>
                  <a:srgbClr val="FF0000"/>
                </a:solidFill>
              </a:rPr>
              <a:t>and also of </a:t>
            </a:r>
            <a:r>
              <a:rPr lang="en-US" b="1" dirty="0" smtClean="0">
                <a:solidFill>
                  <a:srgbClr val="FF0000"/>
                </a:solidFill>
              </a:rPr>
              <a:t>finding and correcting errors</a:t>
            </a:r>
            <a:r>
              <a:rPr lang="en-US" dirty="0" smtClean="0">
                <a:solidFill>
                  <a:srgbClr val="FF0000"/>
                </a:solidFill>
              </a:rPr>
              <a:t> in coding or of applying to it </a:t>
            </a:r>
            <a:r>
              <a:rPr lang="en-US" b="1" dirty="0" smtClean="0">
                <a:solidFill>
                  <a:srgbClr val="FF0000"/>
                </a:solidFill>
              </a:rPr>
              <a:t>changes</a:t>
            </a:r>
            <a:r>
              <a:rPr lang="en-US" dirty="0" smtClean="0">
                <a:solidFill>
                  <a:srgbClr val="FF0000"/>
                </a:solidFill>
              </a:rPr>
              <a:t> that have been decided upon at a later stage</a:t>
            </a:r>
            <a:r>
              <a:rPr lang="en-US" dirty="0" smtClean="0"/>
              <a:t>;</a:t>
            </a:r>
          </a:p>
          <a:p>
            <a:pPr fontAlgn="auto">
              <a:spcAft>
                <a:spcPts val="0"/>
              </a:spcAft>
              <a:defRPr/>
            </a:pPr>
            <a:r>
              <a:rPr lang="en-US" b="1" dirty="0" smtClean="0"/>
              <a:t>Efficiency</a:t>
            </a:r>
            <a:r>
              <a:rPr lang="en-US" dirty="0" smtClean="0"/>
              <a:t> of the code in operating the machine near it full intrinsic speed.</a:t>
            </a:r>
          </a:p>
          <a:p>
            <a:pPr algn="ctr" fontAlgn="auto">
              <a:spcAft>
                <a:spcPts val="0"/>
              </a:spcAft>
              <a:buFont typeface="Arial" pitchFamily="34" charset="0"/>
              <a:buNone/>
              <a:defRPr/>
            </a:pPr>
            <a:r>
              <a:rPr lang="en-US" sz="3613" u="sng" dirty="0" smtClean="0"/>
              <a:t>Take home</a:t>
            </a:r>
            <a:endParaRPr lang="en-US" sz="3613" dirty="0" smtClean="0"/>
          </a:p>
          <a:p>
            <a:pPr fontAlgn="auto">
              <a:spcAft>
                <a:spcPts val="0"/>
              </a:spcAft>
              <a:buNone/>
              <a:defRPr/>
            </a:pPr>
            <a:r>
              <a:rPr lang="en-US" u="sng" dirty="0" smtClean="0"/>
              <a:t>Legend</a:t>
            </a:r>
            <a:r>
              <a:rPr lang="en-US" b="1" dirty="0" smtClean="0">
                <a:solidFill>
                  <a:srgbClr val="FF0000"/>
                </a:solidFill>
              </a:rPr>
              <a:t> features that fail the “truly measure” test </a:t>
            </a:r>
          </a:p>
          <a:p>
            <a:pPr fontAlgn="auto">
              <a:spcAft>
                <a:spcPts val="0"/>
              </a:spcAft>
              <a:buNone/>
              <a:defRPr/>
            </a:pPr>
            <a:r>
              <a:rPr lang="en-US" u="sng" dirty="0" smtClean="0"/>
              <a:t>In today’s language</a:t>
            </a:r>
            <a:r>
              <a:rPr lang="en-US" b="1" dirty="0" smtClean="0"/>
              <a:t> programmer’s productivity</a:t>
            </a:r>
            <a:r>
              <a:rPr lang="en-US" dirty="0" smtClean="0"/>
              <a:t> </a:t>
            </a:r>
          </a:p>
          <a:p>
            <a:pPr fontAlgn="auto">
              <a:spcAft>
                <a:spcPts val="0"/>
              </a:spcAft>
              <a:buNone/>
              <a:defRPr/>
            </a:pPr>
            <a:r>
              <a:rPr lang="en-US" b="1" dirty="0" smtClean="0"/>
              <a:t>Birth (?) of CS: </a:t>
            </a:r>
            <a:r>
              <a:rPr lang="en-US" dirty="0" smtClean="0">
                <a:solidFill>
                  <a:schemeClr val="accent2"/>
                </a:solidFill>
              </a:rPr>
              <a:t>Translation into code of </a:t>
            </a:r>
            <a:r>
              <a:rPr lang="en-US" b="1" dirty="0" smtClean="0">
                <a:solidFill>
                  <a:schemeClr val="accent2"/>
                </a:solidFill>
              </a:rPr>
              <a:t>non-specific</a:t>
            </a:r>
            <a:r>
              <a:rPr lang="en-US" dirty="0" smtClean="0">
                <a:solidFill>
                  <a:schemeClr val="accent2"/>
                </a:solidFill>
              </a:rPr>
              <a:t> methods</a:t>
            </a:r>
          </a:p>
          <a:p>
            <a:pPr fontAlgn="auto">
              <a:spcAft>
                <a:spcPts val="0"/>
              </a:spcAft>
              <a:buNone/>
              <a:defRPr/>
            </a:pPr>
            <a:r>
              <a:rPr lang="en-US" b="1" dirty="0" smtClean="0"/>
              <a:t>Next: what worked .. how to match that for parallelism  </a:t>
            </a:r>
            <a:endParaRPr lang="en-US" dirty="0" smtClean="0"/>
          </a:p>
          <a:p>
            <a:pPr fontAlgn="auto">
              <a:spcAft>
                <a:spcPts val="0"/>
              </a:spcAft>
              <a:buFont typeface="Arial" pitchFamily="34" charset="0"/>
              <a:buNone/>
              <a:defRPr/>
            </a:pPr>
            <a:endParaRPr lang="en-US" dirty="0" smtClean="0"/>
          </a:p>
          <a:p>
            <a:pPr fontAlgn="auto">
              <a:spcAft>
                <a:spcPts val="0"/>
              </a:spcAft>
              <a:buFont typeface="Arial" pitchFamily="34" charset="0"/>
              <a:buNone/>
              <a:defRPr/>
            </a:pPr>
            <a:endParaRPr lang="en-US" dirty="0" smtClean="0"/>
          </a:p>
          <a:p>
            <a:pPr fontAlgn="auto">
              <a:spcAft>
                <a:spcPts val="0"/>
              </a:spcAft>
              <a:defRPr/>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rtlCol="0">
            <a:noAutofit/>
          </a:bodyPr>
          <a:lstStyle/>
          <a:p>
            <a:pPr fontAlgn="auto">
              <a:spcAft>
                <a:spcPts val="0"/>
              </a:spcAft>
              <a:defRPr/>
            </a:pPr>
            <a:r>
              <a:rPr lang="en-US" sz="3600" b="1" spc="-100" dirty="0" smtClean="0">
                <a:latin typeface="Calibri" pitchFamily="34" charset="0"/>
              </a:rPr>
              <a:t>How was the “non-specificity” addressed? </a:t>
            </a:r>
            <a:endParaRPr lang="en-US" sz="3600" b="1" spc="-100" dirty="0">
              <a:latin typeface="Calibri" pitchFamily="34" charset="0"/>
            </a:endParaRPr>
          </a:p>
        </p:txBody>
      </p:sp>
      <p:sp>
        <p:nvSpPr>
          <p:cNvPr id="3" name="Content Placeholder 2"/>
          <p:cNvSpPr>
            <a:spLocks noGrp="1"/>
          </p:cNvSpPr>
          <p:nvPr>
            <p:ph idx="1"/>
          </p:nvPr>
        </p:nvSpPr>
        <p:spPr>
          <a:xfrm>
            <a:off x="0" y="762000"/>
            <a:ext cx="9144000" cy="6096000"/>
          </a:xfrm>
        </p:spPr>
        <p:txBody>
          <a:bodyPr>
            <a:normAutofit fontScale="92500" lnSpcReduction="10000"/>
          </a:bodyPr>
          <a:lstStyle/>
          <a:p>
            <a:pPr>
              <a:lnSpc>
                <a:spcPct val="90000"/>
              </a:lnSpc>
              <a:buFont typeface="Arial" pitchFamily="34" charset="0"/>
              <a:buNone/>
            </a:pPr>
            <a:r>
              <a:rPr lang="en-US" sz="2800" b="1" u="sng" spc="-100" dirty="0" smtClean="0">
                <a:latin typeface="Calibri" pitchFamily="34" charset="0"/>
              </a:rPr>
              <a:t>Answer</a:t>
            </a:r>
            <a:r>
              <a:rPr lang="en-US" sz="2800" b="1" spc="-100" dirty="0" smtClean="0">
                <a:latin typeface="Calibri" pitchFamily="34" charset="0"/>
              </a:rPr>
              <a:t>: </a:t>
            </a:r>
            <a:r>
              <a:rPr lang="en-US" sz="2700" dirty="0" smtClean="0"/>
              <a:t>GvN47 based coding for </a:t>
            </a:r>
            <a:r>
              <a:rPr lang="en-US" sz="2700" b="1" dirty="0" smtClean="0"/>
              <a:t>whatever</a:t>
            </a:r>
            <a:r>
              <a:rPr lang="en-US" sz="2700" dirty="0" smtClean="0"/>
              <a:t> future application </a:t>
            </a:r>
            <a:r>
              <a:rPr lang="en-US" sz="2700" dirty="0" smtClean="0">
                <a:solidFill>
                  <a:srgbClr val="FF0000"/>
                </a:solidFill>
              </a:rPr>
              <a:t>on math. </a:t>
            </a:r>
            <a:r>
              <a:rPr lang="en-US" sz="2700" b="1" dirty="0" smtClean="0">
                <a:solidFill>
                  <a:srgbClr val="FF0000"/>
                </a:solidFill>
              </a:rPr>
              <a:t>induction </a:t>
            </a:r>
            <a:r>
              <a:rPr lang="en-US" sz="2700" dirty="0" smtClean="0">
                <a:solidFill>
                  <a:srgbClr val="FF0000"/>
                </a:solidFill>
              </a:rPr>
              <a:t>coupled with a </a:t>
            </a:r>
            <a:r>
              <a:rPr lang="en-US" sz="2700" b="1" dirty="0" smtClean="0">
                <a:solidFill>
                  <a:srgbClr val="FF0000"/>
                </a:solidFill>
              </a:rPr>
              <a:t>simple abstraction 	    </a:t>
            </a:r>
            <a:endParaRPr lang="en-US" sz="2700" b="1" dirty="0" smtClean="0">
              <a:solidFill>
                <a:srgbClr val="FF0000"/>
              </a:solidFill>
            </a:endParaRPr>
          </a:p>
          <a:p>
            <a:pPr>
              <a:lnSpc>
                <a:spcPct val="90000"/>
              </a:lnSpc>
              <a:buFont typeface="Arial" pitchFamily="34" charset="0"/>
              <a:buNone/>
            </a:pPr>
            <a:r>
              <a:rPr lang="en-US" sz="2700" dirty="0" smtClean="0"/>
              <a:t>	Then </a:t>
            </a:r>
            <a:r>
              <a:rPr lang="en-US" sz="2700" dirty="0" smtClean="0"/>
              <a:t>came: HW, Algorithms+SW </a:t>
            </a:r>
          </a:p>
          <a:p>
            <a:pPr>
              <a:lnSpc>
                <a:spcPct val="90000"/>
              </a:lnSpc>
              <a:buNone/>
            </a:pPr>
            <a:r>
              <a:rPr lang="en-US" sz="2700" dirty="0" smtClean="0"/>
              <a:t>[E</a:t>
            </a:r>
            <a:r>
              <a:rPr lang="en-US" sz="2800" dirty="0" smtClean="0"/>
              <a:t>ngineering problem. So, why mathematician? Hunch: hard for engineers to relate to .. </a:t>
            </a:r>
            <a:r>
              <a:rPr lang="en-US" sz="2800" dirty="0" smtClean="0">
                <a:solidFill>
                  <a:srgbClr val="FF0000"/>
                </a:solidFill>
              </a:rPr>
              <a:t>then and now</a:t>
            </a:r>
            <a:r>
              <a:rPr lang="en-US" sz="2800" dirty="0" smtClean="0"/>
              <a:t>. A. Ghuloum (Intel), CACM 9/09: “..</a:t>
            </a:r>
            <a:r>
              <a:rPr lang="en-US" sz="2800" i="1" dirty="0" smtClean="0"/>
              <a:t>hardware vendors tend to understand the requirements from the </a:t>
            </a:r>
            <a:r>
              <a:rPr lang="en-US" sz="2800" i="1" u="sng" dirty="0" smtClean="0"/>
              <a:t>examples that software developers provid</a:t>
            </a:r>
            <a:r>
              <a:rPr lang="en-US" sz="2800" i="1" dirty="0" smtClean="0"/>
              <a:t>e…</a:t>
            </a:r>
            <a:r>
              <a:rPr lang="en-US" sz="2800" dirty="0" smtClean="0"/>
              <a:t> ]  </a:t>
            </a:r>
            <a:endParaRPr lang="en-US" sz="2700" b="1" dirty="0" smtClean="0"/>
          </a:p>
          <a:p>
            <a:pPr>
              <a:lnSpc>
                <a:spcPct val="90000"/>
              </a:lnSpc>
              <a:buFont typeface="Arial" pitchFamily="34" charset="0"/>
              <a:buNone/>
            </a:pPr>
            <a:r>
              <a:rPr lang="en-US" sz="2700" dirty="0" smtClean="0"/>
              <a:t>Met desiderata for code and coding. See, e.g.:</a:t>
            </a:r>
          </a:p>
          <a:p>
            <a:pPr>
              <a:lnSpc>
                <a:spcPct val="90000"/>
              </a:lnSpc>
              <a:buFont typeface="Arial" pitchFamily="34" charset="0"/>
              <a:buNone/>
            </a:pPr>
            <a:r>
              <a:rPr lang="en-US" sz="2000" dirty="0" smtClean="0"/>
              <a:t>- Knuth67, The art of Computer Programming. Vol. 1: Fundamental Algorithms. </a:t>
            </a:r>
            <a:r>
              <a:rPr lang="en-US" sz="2000" u="sng" dirty="0" smtClean="0"/>
              <a:t>Chapter 1</a:t>
            </a:r>
            <a:r>
              <a:rPr lang="en-US" sz="2000" dirty="0" smtClean="0"/>
              <a:t>: Basic concepts 1.1 Algorithms 1.2 Math Prelims </a:t>
            </a:r>
            <a:r>
              <a:rPr lang="en-US" sz="2000" b="1" dirty="0" smtClean="0"/>
              <a:t>1.2.1</a:t>
            </a:r>
            <a:r>
              <a:rPr lang="en-US" sz="2000" dirty="0" smtClean="0"/>
              <a:t> Math </a:t>
            </a:r>
            <a:r>
              <a:rPr lang="en-US" sz="2000" b="1" dirty="0" smtClean="0"/>
              <a:t>Induction</a:t>
            </a:r>
            <a:r>
              <a:rPr lang="en-US" sz="2000" dirty="0" smtClean="0"/>
              <a:t> </a:t>
            </a:r>
          </a:p>
          <a:p>
            <a:pPr>
              <a:lnSpc>
                <a:spcPct val="90000"/>
              </a:lnSpc>
              <a:buFont typeface="Arial" pitchFamily="34" charset="0"/>
              <a:buNone/>
            </a:pPr>
            <a:r>
              <a:rPr lang="en-US" sz="2000" dirty="0" smtClean="0"/>
              <a:t>	</a:t>
            </a:r>
            <a:r>
              <a:rPr lang="en-US" sz="2000" u="sng" dirty="0" smtClean="0"/>
              <a:t>Algorithms</a:t>
            </a:r>
            <a:r>
              <a:rPr lang="en-US" sz="2000" dirty="0" smtClean="0"/>
              <a:t>: 1. Finiteness 2. Definiteness 3. Input &amp; Output 4. Effectiveness </a:t>
            </a:r>
          </a:p>
          <a:p>
            <a:pPr algn="ctr">
              <a:lnSpc>
                <a:spcPct val="90000"/>
              </a:lnSpc>
              <a:buFont typeface="Arial" pitchFamily="34" charset="0"/>
              <a:buNone/>
            </a:pPr>
            <a:r>
              <a:rPr lang="en-US" sz="2000" b="1" u="sng" dirty="0" smtClean="0"/>
              <a:t>Gold standards</a:t>
            </a:r>
            <a:r>
              <a:rPr lang="en-US" sz="2000" b="1" dirty="0" smtClean="0"/>
              <a:t> </a:t>
            </a:r>
          </a:p>
          <a:p>
            <a:pPr>
              <a:lnSpc>
                <a:spcPct val="90000"/>
              </a:lnSpc>
              <a:buFont typeface="Arial" pitchFamily="34" charset="0"/>
              <a:buNone/>
            </a:pPr>
            <a:r>
              <a:rPr lang="en-US" sz="2000" b="1" u="sng" dirty="0" smtClean="0"/>
              <a:t>Definiteness</a:t>
            </a:r>
            <a:r>
              <a:rPr lang="en-US" sz="2000" dirty="0" smtClean="0"/>
              <a:t>: Helped by </a:t>
            </a:r>
            <a:r>
              <a:rPr lang="en-US" sz="2000" b="1" dirty="0" smtClean="0"/>
              <a:t>Induction</a:t>
            </a:r>
          </a:p>
          <a:p>
            <a:pPr>
              <a:lnSpc>
                <a:spcPct val="90000"/>
              </a:lnSpc>
              <a:buFont typeface="Arial" pitchFamily="34" charset="0"/>
              <a:buNone/>
            </a:pPr>
            <a:r>
              <a:rPr lang="en-US" sz="2000" b="1" u="sng" dirty="0" smtClean="0"/>
              <a:t>Effectiveness</a:t>
            </a:r>
            <a:r>
              <a:rPr lang="en-US" sz="2000" b="1" dirty="0" smtClean="0"/>
              <a:t>:</a:t>
            </a:r>
            <a:r>
              <a:rPr lang="en-US" sz="2000" dirty="0" smtClean="0"/>
              <a:t> Helped by “Uniform cost criterion" [AHU74] </a:t>
            </a:r>
            <a:r>
              <a:rPr lang="en-US" sz="2000" b="1" dirty="0" smtClean="0"/>
              <a:t>abstraction</a:t>
            </a:r>
          </a:p>
          <a:p>
            <a:pPr>
              <a:lnSpc>
                <a:spcPct val="90000"/>
              </a:lnSpc>
              <a:buFont typeface="Arial" pitchFamily="34" charset="0"/>
              <a:buNone/>
            </a:pPr>
            <a:endParaRPr lang="en-US" sz="2000" b="1" dirty="0" smtClean="0"/>
          </a:p>
          <a:p>
            <a:pPr>
              <a:lnSpc>
                <a:spcPct val="90000"/>
              </a:lnSpc>
              <a:buFont typeface="Arial" pitchFamily="34" charset="0"/>
              <a:buNone/>
            </a:pPr>
            <a:r>
              <a:rPr lang="en-US" sz="2000" dirty="0" smtClean="0"/>
              <a:t>2 comments on induction: 1. 2</a:t>
            </a:r>
            <a:r>
              <a:rPr lang="en-US" sz="2000" baseline="30000" dirty="0" smtClean="0"/>
              <a:t>nd</a:t>
            </a:r>
            <a:r>
              <a:rPr lang="en-US" sz="2000" dirty="0" smtClean="0"/>
              <a:t> nature for math: proofs &amp; axiom of the natural numbers. 2. need to read into GvN47: “..to make the induction complete..”  </a:t>
            </a:r>
            <a:endParaRPr lang="en-US" sz="2000" b="1" dirty="0" smtClean="0"/>
          </a:p>
          <a:p>
            <a:pPr>
              <a:lnSpc>
                <a:spcPct val="90000"/>
              </a:lnSpc>
              <a:buFont typeface="Arial" pitchFamily="34" charset="0"/>
              <a:buNone/>
            </a:pPr>
            <a:endParaRPr lang="en-US" sz="2700" dirty="0" smtClean="0"/>
          </a:p>
          <a:p>
            <a:pPr>
              <a:lnSpc>
                <a:spcPct val="90000"/>
              </a:lnSpc>
              <a:buFont typeface="Arial" pitchFamily="34" charset="0"/>
              <a:buNone/>
            </a:pPr>
            <a:endParaRPr lang="en-US" sz="2700" dirty="0" smtClean="0"/>
          </a:p>
          <a:p>
            <a:pPr>
              <a:lnSpc>
                <a:spcPct val="90000"/>
              </a:lnSpc>
              <a:buFont typeface="Arial" pitchFamily="34" charset="0"/>
              <a:buNone/>
            </a:pPr>
            <a:endParaRPr lang="en-US" sz="2700" dirty="0" smtClean="0"/>
          </a:p>
        </p:txBody>
      </p:sp>
      <p:pic>
        <p:nvPicPr>
          <p:cNvPr id="2052" name="Picture 4"/>
          <p:cNvPicPr>
            <a:picLocks noChangeAspect="1" noChangeArrowheads="1"/>
          </p:cNvPicPr>
          <p:nvPr/>
        </p:nvPicPr>
        <p:blipFill>
          <a:blip r:embed="rId3" cstate="print"/>
          <a:srcRect/>
          <a:stretch>
            <a:fillRect/>
          </a:stretch>
        </p:blipFill>
        <p:spPr bwMode="auto">
          <a:xfrm>
            <a:off x="8001000" y="1143000"/>
            <a:ext cx="990600" cy="685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Title 1"/>
          <p:cNvSpPr>
            <a:spLocks noGrp="1"/>
          </p:cNvSpPr>
          <p:nvPr>
            <p:ph type="title" idx="4294967295"/>
          </p:nvPr>
        </p:nvSpPr>
        <p:spPr>
          <a:xfrm>
            <a:off x="-228600" y="0"/>
            <a:ext cx="9601200" cy="838200"/>
          </a:xfrm>
        </p:spPr>
        <p:txBody>
          <a:bodyPr rtlCol="0">
            <a:normAutofit/>
          </a:bodyPr>
          <a:lstStyle/>
          <a:p>
            <a:pPr fontAlgn="auto">
              <a:spcAft>
                <a:spcPts val="0"/>
              </a:spcAft>
              <a:defRPr/>
            </a:pPr>
            <a:r>
              <a:rPr lang="en-US" sz="3600" b="1" dirty="0" smtClean="0">
                <a:latin typeface="Calibri" pitchFamily="34" charset="0"/>
              </a:rPr>
              <a:t>Serial Abstraction &amp; A Parallel Counterpart</a:t>
            </a:r>
          </a:p>
        </p:txBody>
      </p:sp>
      <p:sp>
        <p:nvSpPr>
          <p:cNvPr id="3" name="Content Placeholder 2"/>
          <p:cNvSpPr>
            <a:spLocks noGrp="1"/>
          </p:cNvSpPr>
          <p:nvPr>
            <p:ph idx="4294967295"/>
          </p:nvPr>
        </p:nvSpPr>
        <p:spPr>
          <a:xfrm>
            <a:off x="0" y="685800"/>
            <a:ext cx="9144000" cy="6172200"/>
          </a:xfrm>
        </p:spPr>
        <p:txBody>
          <a:bodyPr>
            <a:normAutofit lnSpcReduction="10000"/>
          </a:bodyPr>
          <a:lstStyle/>
          <a:p>
            <a:pPr>
              <a:lnSpc>
                <a:spcPct val="80000"/>
              </a:lnSpc>
              <a:buFontTx/>
              <a:buNone/>
            </a:pPr>
            <a:endParaRPr lang="en-US" sz="700" dirty="0" smtClean="0"/>
          </a:p>
          <a:p>
            <a:pPr>
              <a:lnSpc>
                <a:spcPct val="80000"/>
              </a:lnSpc>
            </a:pPr>
            <a:r>
              <a:rPr lang="en-US" sz="1900" b="1" u="sng" dirty="0" smtClean="0"/>
              <a:t>Rudimentary abstraction that made serial computing simple:</a:t>
            </a:r>
            <a:r>
              <a:rPr lang="en-US" sz="1900" b="1" dirty="0" smtClean="0"/>
              <a:t>  </a:t>
            </a:r>
            <a:r>
              <a:rPr lang="en-US" sz="1900" b="1" i="1" dirty="0" smtClean="0"/>
              <a:t>that any single instruction available for execution in a serial program executes immediately </a:t>
            </a:r>
            <a:r>
              <a:rPr lang="en-US" sz="1900" b="1" dirty="0" smtClean="0"/>
              <a:t>– </a:t>
            </a:r>
            <a:r>
              <a:rPr lang="en-US" sz="1900" b="1" dirty="0" smtClean="0">
                <a:solidFill>
                  <a:srgbClr val="FF0000"/>
                </a:solidFill>
              </a:rPr>
              <a:t>”Immediate Serial Execution (ISE)”</a:t>
            </a:r>
            <a:endParaRPr lang="en-US" sz="1900" b="1" i="1" dirty="0" smtClean="0"/>
          </a:p>
          <a:p>
            <a:pPr>
              <a:lnSpc>
                <a:spcPct val="80000"/>
              </a:lnSpc>
              <a:buFont typeface="Arial" pitchFamily="34" charset="0"/>
              <a:buNone/>
            </a:pPr>
            <a:endParaRPr lang="en-US" sz="1900" i="1" dirty="0" smtClean="0"/>
          </a:p>
          <a:p>
            <a:pPr>
              <a:lnSpc>
                <a:spcPct val="80000"/>
              </a:lnSpc>
              <a:buFont typeface="Arial" pitchFamily="34" charset="0"/>
              <a:buNone/>
            </a:pPr>
            <a:endParaRPr lang="en-US" sz="1900" i="1" dirty="0" smtClean="0"/>
          </a:p>
          <a:p>
            <a:pPr>
              <a:lnSpc>
                <a:spcPct val="80000"/>
              </a:lnSpc>
              <a:buFontTx/>
              <a:buNone/>
            </a:pPr>
            <a:endParaRPr lang="en-US" sz="1900" dirty="0" smtClean="0"/>
          </a:p>
          <a:p>
            <a:pPr>
              <a:lnSpc>
                <a:spcPct val="80000"/>
              </a:lnSpc>
              <a:buFontTx/>
              <a:buNone/>
            </a:pPr>
            <a:endParaRPr lang="en-US" sz="1900" dirty="0" smtClean="0"/>
          </a:p>
          <a:p>
            <a:pPr>
              <a:lnSpc>
                <a:spcPct val="80000"/>
              </a:lnSpc>
            </a:pPr>
            <a:endParaRPr lang="en-US" sz="1900" dirty="0" smtClean="0"/>
          </a:p>
          <a:p>
            <a:pPr>
              <a:lnSpc>
                <a:spcPct val="80000"/>
              </a:lnSpc>
            </a:pPr>
            <a:endParaRPr lang="en-US" sz="1900" dirty="0" smtClean="0"/>
          </a:p>
          <a:p>
            <a:pPr>
              <a:lnSpc>
                <a:spcPct val="80000"/>
              </a:lnSpc>
              <a:buFontTx/>
              <a:buNone/>
            </a:pPr>
            <a:endParaRPr lang="en-US" sz="1900" dirty="0" smtClean="0"/>
          </a:p>
          <a:p>
            <a:pPr>
              <a:lnSpc>
                <a:spcPct val="80000"/>
              </a:lnSpc>
              <a:buFontTx/>
              <a:buNone/>
            </a:pPr>
            <a:endParaRPr lang="en-US" sz="1900" dirty="0" smtClean="0">
              <a:solidFill>
                <a:srgbClr val="000000"/>
              </a:solidFill>
            </a:endParaRPr>
          </a:p>
          <a:p>
            <a:pPr>
              <a:lnSpc>
                <a:spcPct val="80000"/>
              </a:lnSpc>
              <a:buFontTx/>
              <a:buNone/>
            </a:pPr>
            <a:endParaRPr lang="en-US" sz="1900" dirty="0" smtClean="0">
              <a:solidFill>
                <a:srgbClr val="000000"/>
              </a:solidFill>
            </a:endParaRPr>
          </a:p>
          <a:p>
            <a:pPr>
              <a:lnSpc>
                <a:spcPct val="80000"/>
              </a:lnSpc>
              <a:buFont typeface="Arial" pitchFamily="34" charset="0"/>
              <a:buNone/>
            </a:pPr>
            <a:endParaRPr lang="en-US" sz="1900" dirty="0" smtClean="0">
              <a:solidFill>
                <a:schemeClr val="accent2"/>
              </a:solidFill>
            </a:endParaRPr>
          </a:p>
          <a:p>
            <a:pPr>
              <a:lnSpc>
                <a:spcPct val="80000"/>
              </a:lnSpc>
              <a:buFont typeface="Arial" pitchFamily="34" charset="0"/>
              <a:buNone/>
            </a:pPr>
            <a:endParaRPr lang="en-US" sz="1900" dirty="0" smtClean="0"/>
          </a:p>
          <a:p>
            <a:pPr>
              <a:lnSpc>
                <a:spcPct val="80000"/>
              </a:lnSpc>
              <a:buFont typeface="Arial" pitchFamily="34" charset="0"/>
              <a:buNone/>
            </a:pPr>
            <a:r>
              <a:rPr lang="en-US" sz="1900" b="1" dirty="0" smtClean="0"/>
              <a:t>Abstracts away different execution time for different operations (e.g., memory hierarchy) . Used by programmers to conceptualize serial computing and supported by hardware and compilers. The program provides the instruction to be executed next (inductively)</a:t>
            </a:r>
          </a:p>
          <a:p>
            <a:pPr>
              <a:lnSpc>
                <a:spcPct val="80000"/>
              </a:lnSpc>
            </a:pPr>
            <a:r>
              <a:rPr lang="en-US" sz="1900" b="1" u="sng" dirty="0" smtClean="0"/>
              <a:t>Rudimentary abstraction for making parallel computing simple</a:t>
            </a:r>
            <a:r>
              <a:rPr lang="en-US" sz="1900" b="1" dirty="0" smtClean="0"/>
              <a:t>:  </a:t>
            </a:r>
            <a:r>
              <a:rPr lang="en-US" sz="1900" b="1" i="1" dirty="0" smtClean="0"/>
              <a:t>that indefinitely many instructions, which are available for concurrent execution, execute immediately</a:t>
            </a:r>
            <a:r>
              <a:rPr lang="en-US" sz="1900" b="1" dirty="0" smtClean="0"/>
              <a:t>, dubbed </a:t>
            </a:r>
            <a:r>
              <a:rPr lang="en-US" sz="1900" b="1" dirty="0" smtClean="0">
                <a:solidFill>
                  <a:srgbClr val="FF0000"/>
                </a:solidFill>
              </a:rPr>
              <a:t>Immediate Concurrent Execution (ICE)</a:t>
            </a:r>
          </a:p>
          <a:p>
            <a:pPr>
              <a:lnSpc>
                <a:spcPct val="80000"/>
              </a:lnSpc>
              <a:buFont typeface="Arial" pitchFamily="34" charset="0"/>
              <a:buNone/>
            </a:pPr>
            <a:r>
              <a:rPr lang="en-US" sz="1900" b="1" dirty="0" smtClean="0">
                <a:sym typeface="Wingdings" pitchFamily="2" charset="2"/>
              </a:rPr>
              <a:t>S</a:t>
            </a:r>
            <a:r>
              <a:rPr lang="en-US" sz="1900" b="1" dirty="0" smtClean="0"/>
              <a:t>tep-by-step (inductive) explication of the instructions available next for concurrent execution. # processors not even mentioned. Falls back on the serial abstraction if 1 instruction/step. </a:t>
            </a:r>
            <a:endParaRPr lang="en-US" sz="1900" b="1" i="1" dirty="0" smtClean="0"/>
          </a:p>
          <a:p>
            <a:pPr>
              <a:lnSpc>
                <a:spcPct val="80000"/>
              </a:lnSpc>
            </a:pPr>
            <a:endParaRPr lang="en-US" sz="900" dirty="0" smtClean="0"/>
          </a:p>
          <a:p>
            <a:pPr>
              <a:lnSpc>
                <a:spcPct val="80000"/>
              </a:lnSpc>
            </a:pPr>
            <a:endParaRPr lang="en-US" sz="900" dirty="0" smtClean="0"/>
          </a:p>
          <a:p>
            <a:pPr>
              <a:lnSpc>
                <a:spcPct val="80000"/>
              </a:lnSpc>
            </a:pPr>
            <a:endParaRPr lang="en-US" sz="700" b="1" dirty="0" smtClean="0">
              <a:solidFill>
                <a:srgbClr val="0070C0"/>
              </a:solidFill>
            </a:endParaRPr>
          </a:p>
        </p:txBody>
      </p:sp>
      <p:grpSp>
        <p:nvGrpSpPr>
          <p:cNvPr id="2" name="Group 48"/>
          <p:cNvGrpSpPr>
            <a:grpSpLocks/>
          </p:cNvGrpSpPr>
          <p:nvPr/>
        </p:nvGrpSpPr>
        <p:grpSpPr bwMode="auto">
          <a:xfrm>
            <a:off x="304800" y="1524001"/>
            <a:ext cx="8839200" cy="2731532"/>
            <a:chOff x="152400" y="2716212"/>
            <a:chExt cx="8839200" cy="2337939"/>
          </a:xfrm>
        </p:grpSpPr>
        <p:grpSp>
          <p:nvGrpSpPr>
            <p:cNvPr id="4" name="Group 45"/>
            <p:cNvGrpSpPr>
              <a:grpSpLocks/>
            </p:cNvGrpSpPr>
            <p:nvPr/>
          </p:nvGrpSpPr>
          <p:grpSpPr bwMode="auto">
            <a:xfrm>
              <a:off x="152400" y="2716212"/>
              <a:ext cx="8763000" cy="2337939"/>
              <a:chOff x="152400" y="2716212"/>
              <a:chExt cx="8763000" cy="2337939"/>
            </a:xfrm>
          </p:grpSpPr>
          <p:grpSp>
            <p:nvGrpSpPr>
              <p:cNvPr id="5" name="Group 41"/>
              <p:cNvGrpSpPr>
                <a:grpSpLocks/>
              </p:cNvGrpSpPr>
              <p:nvPr/>
            </p:nvGrpSpPr>
            <p:grpSpPr bwMode="auto">
              <a:xfrm>
                <a:off x="152400" y="2716212"/>
                <a:ext cx="8763000" cy="2001821"/>
                <a:chOff x="76200" y="1905000"/>
                <a:chExt cx="8763000" cy="2001821"/>
              </a:xfrm>
            </p:grpSpPr>
            <p:sp>
              <p:nvSpPr>
                <p:cNvPr id="6156" name="Text Box 9"/>
                <p:cNvSpPr txBox="1">
                  <a:spLocks noChangeArrowheads="1"/>
                </p:cNvSpPr>
                <p:nvPr/>
              </p:nvSpPr>
              <p:spPr bwMode="auto">
                <a:xfrm>
                  <a:off x="2971800" y="1905000"/>
                  <a:ext cx="3124200" cy="1410652"/>
                </a:xfrm>
                <a:prstGeom prst="rect">
                  <a:avLst/>
                </a:prstGeom>
                <a:noFill/>
                <a:ln w="9525">
                  <a:noFill/>
                  <a:miter lim="800000"/>
                  <a:headEnd/>
                  <a:tailEnd/>
                </a:ln>
              </p:spPr>
              <p:txBody>
                <a:bodyPr>
                  <a:spAutoFit/>
                </a:bodyPr>
                <a:lstStyle/>
                <a:p>
                  <a:pPr algn="ctr">
                    <a:spcBef>
                      <a:spcPct val="50000"/>
                    </a:spcBef>
                  </a:pPr>
                  <a:r>
                    <a:rPr lang="en-US" dirty="0">
                      <a:solidFill>
                        <a:srgbClr val="C00000"/>
                      </a:solidFill>
                      <a:latin typeface="Calibri" pitchFamily="34" charset="0"/>
                      <a:ea typeface="ＭＳ Ｐゴシック"/>
                      <a:cs typeface="ＭＳ Ｐゴシック"/>
                    </a:rPr>
                    <a:t>What could I do in parallel at each step assuming unlimited hardware</a:t>
                  </a:r>
                </a:p>
                <a:p>
                  <a:pPr algn="ctr">
                    <a:spcBef>
                      <a:spcPct val="50000"/>
                    </a:spcBef>
                  </a:pPr>
                  <a:r>
                    <a:rPr lang="en-US" sz="3200" dirty="0">
                      <a:solidFill>
                        <a:schemeClr val="tx1"/>
                      </a:solidFill>
                      <a:latin typeface="Calibri" pitchFamily="34" charset="0"/>
                      <a:ea typeface="ＭＳ Ｐゴシック"/>
                      <a:cs typeface="ＭＳ Ｐゴシック"/>
                      <a:sym typeface="Wingdings" pitchFamily="2" charset="2"/>
                    </a:rPr>
                    <a:t></a:t>
                  </a:r>
                  <a:endParaRPr lang="en-US" sz="3200" dirty="0">
                    <a:solidFill>
                      <a:schemeClr val="tx1"/>
                    </a:solidFill>
                    <a:latin typeface="Calibri" pitchFamily="34" charset="0"/>
                    <a:ea typeface="ＭＳ Ｐゴシック"/>
                    <a:cs typeface="ＭＳ Ｐゴシック"/>
                  </a:endParaRPr>
                </a:p>
              </p:txBody>
            </p:sp>
            <p:grpSp>
              <p:nvGrpSpPr>
                <p:cNvPr id="6" name="Group 39"/>
                <p:cNvGrpSpPr>
                  <a:grpSpLocks/>
                </p:cNvGrpSpPr>
                <p:nvPr/>
              </p:nvGrpSpPr>
              <p:grpSpPr bwMode="auto">
                <a:xfrm>
                  <a:off x="76200" y="2514600"/>
                  <a:ext cx="3124200" cy="1392221"/>
                  <a:chOff x="381000" y="2514600"/>
                  <a:chExt cx="3124200" cy="1392221"/>
                </a:xfrm>
              </p:grpSpPr>
              <p:sp>
                <p:nvSpPr>
                  <p:cNvPr id="6179" name="Text Box 29"/>
                  <p:cNvSpPr txBox="1">
                    <a:spLocks noChangeArrowheads="1"/>
                  </p:cNvSpPr>
                  <p:nvPr/>
                </p:nvSpPr>
                <p:spPr bwMode="auto">
                  <a:xfrm>
                    <a:off x="381000" y="2677751"/>
                    <a:ext cx="566738" cy="54927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   #</a:t>
                    </a:r>
                  </a:p>
                  <a:p>
                    <a:r>
                      <a:rPr lang="en-US" dirty="0">
                        <a:solidFill>
                          <a:schemeClr val="tx1"/>
                        </a:solidFill>
                        <a:latin typeface="Calibri" pitchFamily="34" charset="0"/>
                        <a:ea typeface="ＭＳ Ｐゴシック"/>
                        <a:cs typeface="ＭＳ Ｐゴシック"/>
                      </a:rPr>
                      <a:t> ops</a:t>
                    </a:r>
                  </a:p>
                </p:txBody>
              </p:sp>
              <p:grpSp>
                <p:nvGrpSpPr>
                  <p:cNvPr id="7" name="Group 38"/>
                  <p:cNvGrpSpPr>
                    <a:grpSpLocks/>
                  </p:cNvGrpSpPr>
                  <p:nvPr/>
                </p:nvGrpSpPr>
                <p:grpSpPr bwMode="auto">
                  <a:xfrm>
                    <a:off x="990600" y="2514600"/>
                    <a:ext cx="2514600" cy="1392221"/>
                    <a:chOff x="457200" y="2514600"/>
                    <a:chExt cx="2514600" cy="1392221"/>
                  </a:xfrm>
                </p:grpSpPr>
                <p:sp>
                  <p:nvSpPr>
                    <p:cNvPr id="6181" name="Line 4"/>
                    <p:cNvSpPr>
                      <a:spLocks noChangeShapeType="1"/>
                    </p:cNvSpPr>
                    <p:nvPr/>
                  </p:nvSpPr>
                  <p:spPr bwMode="auto">
                    <a:xfrm flipV="1">
                      <a:off x="457200" y="2514600"/>
                      <a:ext cx="0" cy="1143000"/>
                    </a:xfrm>
                    <a:prstGeom prst="line">
                      <a:avLst/>
                    </a:prstGeom>
                    <a:noFill/>
                    <a:ln w="9525">
                      <a:solidFill>
                        <a:schemeClr val="tx1"/>
                      </a:solidFill>
                      <a:round/>
                      <a:headEnd/>
                      <a:tailEnd type="triangle" w="med" len="med"/>
                    </a:ln>
                  </p:spPr>
                  <p:txBody>
                    <a:bodyPr/>
                    <a:lstStyle/>
                    <a:p>
                      <a:endParaRPr lang="en-US" dirty="0"/>
                    </a:p>
                  </p:txBody>
                </p:sp>
                <p:sp>
                  <p:nvSpPr>
                    <p:cNvPr id="6182" name="Line 5"/>
                    <p:cNvSpPr>
                      <a:spLocks noChangeShapeType="1"/>
                    </p:cNvSpPr>
                    <p:nvPr/>
                  </p:nvSpPr>
                  <p:spPr bwMode="auto">
                    <a:xfrm>
                      <a:off x="457200" y="3657600"/>
                      <a:ext cx="2514600" cy="0"/>
                    </a:xfrm>
                    <a:prstGeom prst="line">
                      <a:avLst/>
                    </a:prstGeom>
                    <a:noFill/>
                    <a:ln w="9525">
                      <a:solidFill>
                        <a:schemeClr val="tx1"/>
                      </a:solidFill>
                      <a:round/>
                      <a:headEnd/>
                      <a:tailEnd type="triangle" w="med" len="med"/>
                    </a:ln>
                  </p:spPr>
                  <p:txBody>
                    <a:bodyPr/>
                    <a:lstStyle/>
                    <a:p>
                      <a:endParaRPr lang="en-US" dirty="0"/>
                    </a:p>
                  </p:txBody>
                </p:sp>
                <p:sp>
                  <p:nvSpPr>
                    <p:cNvPr id="6183" name="Rectangle 6"/>
                    <p:cNvSpPr>
                      <a:spLocks noChangeArrowheads="1"/>
                    </p:cNvSpPr>
                    <p:nvPr/>
                  </p:nvSpPr>
                  <p:spPr bwMode="auto">
                    <a:xfrm>
                      <a:off x="457200" y="3505200"/>
                      <a:ext cx="152400" cy="152400"/>
                    </a:xfrm>
                    <a:prstGeom prst="rect">
                      <a:avLst/>
                    </a:prstGeom>
                    <a:solidFill>
                      <a:schemeClr val="accent1"/>
                    </a:solidFill>
                    <a:ln w="9525">
                      <a:solidFill>
                        <a:schemeClr val="tx1"/>
                      </a:solidFill>
                      <a:miter lim="800000"/>
                      <a:headEnd/>
                      <a:tailEnd/>
                    </a:ln>
                  </p:spPr>
                  <p:txBody>
                    <a:bodyPr wrap="none" anchor="ctr"/>
                    <a:lstStyle/>
                    <a:p>
                      <a:pPr algn="ctr"/>
                      <a:endParaRPr lang="en-US" dirty="0">
                        <a:solidFill>
                          <a:schemeClr val="tx1"/>
                        </a:solidFill>
                        <a:latin typeface="Calibri" pitchFamily="34" charset="0"/>
                        <a:ea typeface="ＭＳ Ｐゴシック"/>
                        <a:cs typeface="ＭＳ Ｐゴシック"/>
                      </a:endParaRPr>
                    </a:p>
                  </p:txBody>
                </p:sp>
                <p:sp>
                  <p:nvSpPr>
                    <p:cNvPr id="6184" name="Rectangle 7"/>
                    <p:cNvSpPr>
                      <a:spLocks noChangeArrowheads="1"/>
                    </p:cNvSpPr>
                    <p:nvPr/>
                  </p:nvSpPr>
                  <p:spPr bwMode="auto">
                    <a:xfrm>
                      <a:off x="6096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85" name="Rectangle 8"/>
                    <p:cNvSpPr>
                      <a:spLocks noChangeArrowheads="1"/>
                    </p:cNvSpPr>
                    <p:nvPr/>
                  </p:nvSpPr>
                  <p:spPr bwMode="auto">
                    <a:xfrm>
                      <a:off x="19050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86" name="Text Box 27"/>
                    <p:cNvSpPr txBox="1">
                      <a:spLocks noChangeArrowheads="1"/>
                    </p:cNvSpPr>
                    <p:nvPr/>
                  </p:nvSpPr>
                  <p:spPr bwMode="auto">
                    <a:xfrm>
                      <a:off x="12033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87" name="Text Box 28"/>
                    <p:cNvSpPr txBox="1">
                      <a:spLocks noChangeArrowheads="1"/>
                    </p:cNvSpPr>
                    <p:nvPr/>
                  </p:nvSpPr>
                  <p:spPr bwMode="auto">
                    <a:xfrm>
                      <a:off x="23463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88" name="Text Box 30"/>
                    <p:cNvSpPr txBox="1">
                      <a:spLocks noChangeArrowheads="1"/>
                    </p:cNvSpPr>
                    <p:nvPr/>
                  </p:nvSpPr>
                  <p:spPr bwMode="auto">
                    <a:xfrm>
                      <a:off x="974725" y="3592755"/>
                      <a:ext cx="609600" cy="314066"/>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time</a:t>
                      </a:r>
                    </a:p>
                  </p:txBody>
                </p:sp>
              </p:grpSp>
            </p:grpSp>
            <p:grpSp>
              <p:nvGrpSpPr>
                <p:cNvPr id="8" name="Group 40"/>
                <p:cNvGrpSpPr>
                  <a:grpSpLocks/>
                </p:cNvGrpSpPr>
                <p:nvPr/>
              </p:nvGrpSpPr>
              <p:grpSpPr bwMode="auto">
                <a:xfrm>
                  <a:off x="5775325" y="2514600"/>
                  <a:ext cx="3063875" cy="1392221"/>
                  <a:chOff x="5546725" y="2514600"/>
                  <a:chExt cx="3063875" cy="1392221"/>
                </a:xfrm>
              </p:grpSpPr>
              <p:sp>
                <p:nvSpPr>
                  <p:cNvPr id="6159" name="Line 10"/>
                  <p:cNvSpPr>
                    <a:spLocks noChangeShapeType="1"/>
                  </p:cNvSpPr>
                  <p:nvPr/>
                </p:nvSpPr>
                <p:spPr bwMode="auto">
                  <a:xfrm flipV="1">
                    <a:off x="6019800" y="2514600"/>
                    <a:ext cx="0" cy="1143000"/>
                  </a:xfrm>
                  <a:prstGeom prst="line">
                    <a:avLst/>
                  </a:prstGeom>
                  <a:noFill/>
                  <a:ln w="9525">
                    <a:solidFill>
                      <a:schemeClr val="tx1"/>
                    </a:solidFill>
                    <a:round/>
                    <a:headEnd/>
                    <a:tailEnd type="triangle" w="med" len="med"/>
                  </a:ln>
                </p:spPr>
                <p:txBody>
                  <a:bodyPr/>
                  <a:lstStyle/>
                  <a:p>
                    <a:endParaRPr lang="en-US" dirty="0"/>
                  </a:p>
                </p:txBody>
              </p:sp>
              <p:sp>
                <p:nvSpPr>
                  <p:cNvPr id="6160" name="Line 11"/>
                  <p:cNvSpPr>
                    <a:spLocks noChangeShapeType="1"/>
                  </p:cNvSpPr>
                  <p:nvPr/>
                </p:nvSpPr>
                <p:spPr bwMode="auto">
                  <a:xfrm>
                    <a:off x="6019800" y="3657600"/>
                    <a:ext cx="2590800" cy="0"/>
                  </a:xfrm>
                  <a:prstGeom prst="line">
                    <a:avLst/>
                  </a:prstGeom>
                  <a:noFill/>
                  <a:ln w="9525">
                    <a:solidFill>
                      <a:schemeClr val="tx1"/>
                    </a:solidFill>
                    <a:round/>
                    <a:headEnd/>
                    <a:tailEnd type="triangle" w="med" len="med"/>
                  </a:ln>
                </p:spPr>
                <p:txBody>
                  <a:bodyPr/>
                  <a:lstStyle/>
                  <a:p>
                    <a:endParaRPr lang="en-US" dirty="0"/>
                  </a:p>
                </p:txBody>
              </p:sp>
              <p:sp>
                <p:nvSpPr>
                  <p:cNvPr id="6161" name="Rectangle 14"/>
                  <p:cNvSpPr>
                    <a:spLocks noChangeArrowheads="1"/>
                  </p:cNvSpPr>
                  <p:nvPr/>
                </p:nvSpPr>
                <p:spPr bwMode="auto">
                  <a:xfrm>
                    <a:off x="6019800" y="28194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grpSp>
                <p:nvGrpSpPr>
                  <p:cNvPr id="9" name="Group 36"/>
                  <p:cNvGrpSpPr>
                    <a:grpSpLocks/>
                  </p:cNvGrpSpPr>
                  <p:nvPr/>
                </p:nvGrpSpPr>
                <p:grpSpPr bwMode="auto">
                  <a:xfrm>
                    <a:off x="6019800" y="3505200"/>
                    <a:ext cx="304800" cy="152400"/>
                    <a:chOff x="6019800" y="3505200"/>
                    <a:chExt cx="304800" cy="152400"/>
                  </a:xfrm>
                </p:grpSpPr>
                <p:sp>
                  <p:nvSpPr>
                    <p:cNvPr id="6177" name="Rectangle 12"/>
                    <p:cNvSpPr>
                      <a:spLocks noChangeArrowheads="1"/>
                    </p:cNvSpPr>
                    <p:nvPr/>
                  </p:nvSpPr>
                  <p:spPr bwMode="auto">
                    <a:xfrm>
                      <a:off x="60198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78" name="Rectangle 15"/>
                    <p:cNvSpPr>
                      <a:spLocks noChangeArrowheads="1"/>
                    </p:cNvSpPr>
                    <p:nvPr/>
                  </p:nvSpPr>
                  <p:spPr bwMode="auto">
                    <a:xfrm>
                      <a:off x="61722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grpSp>
              <p:grpSp>
                <p:nvGrpSpPr>
                  <p:cNvPr id="10" name="Group 37"/>
                  <p:cNvGrpSpPr>
                    <a:grpSpLocks/>
                  </p:cNvGrpSpPr>
                  <p:nvPr/>
                </p:nvGrpSpPr>
                <p:grpSpPr bwMode="auto">
                  <a:xfrm>
                    <a:off x="6019800" y="3352800"/>
                    <a:ext cx="304800" cy="152400"/>
                    <a:chOff x="6019800" y="3352800"/>
                    <a:chExt cx="304800" cy="152400"/>
                  </a:xfrm>
                </p:grpSpPr>
                <p:sp>
                  <p:nvSpPr>
                    <p:cNvPr id="6175" name="Rectangle 13"/>
                    <p:cNvSpPr>
                      <a:spLocks noChangeArrowheads="1"/>
                    </p:cNvSpPr>
                    <p:nvPr/>
                  </p:nvSpPr>
                  <p:spPr bwMode="auto">
                    <a:xfrm>
                      <a:off x="6019800" y="33528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76" name="Rectangle 16"/>
                    <p:cNvSpPr>
                      <a:spLocks noChangeArrowheads="1"/>
                    </p:cNvSpPr>
                    <p:nvPr/>
                  </p:nvSpPr>
                  <p:spPr bwMode="auto">
                    <a:xfrm>
                      <a:off x="6172200" y="33528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grpSp>
              <p:sp>
                <p:nvSpPr>
                  <p:cNvPr id="6164" name="Rectangle 17"/>
                  <p:cNvSpPr>
                    <a:spLocks noChangeArrowheads="1"/>
                  </p:cNvSpPr>
                  <p:nvPr/>
                </p:nvSpPr>
                <p:spPr bwMode="auto">
                  <a:xfrm>
                    <a:off x="6172200" y="25146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5" name="Rectangle 18"/>
                  <p:cNvSpPr>
                    <a:spLocks noChangeArrowheads="1"/>
                  </p:cNvSpPr>
                  <p:nvPr/>
                </p:nvSpPr>
                <p:spPr bwMode="auto">
                  <a:xfrm>
                    <a:off x="74676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6" name="Rectangle 19"/>
                  <p:cNvSpPr>
                    <a:spLocks noChangeArrowheads="1"/>
                  </p:cNvSpPr>
                  <p:nvPr/>
                </p:nvSpPr>
                <p:spPr bwMode="auto">
                  <a:xfrm>
                    <a:off x="7467600" y="33528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7" name="Rectangle 20"/>
                  <p:cNvSpPr>
                    <a:spLocks noChangeArrowheads="1"/>
                  </p:cNvSpPr>
                  <p:nvPr/>
                </p:nvSpPr>
                <p:spPr bwMode="auto">
                  <a:xfrm>
                    <a:off x="7467600" y="26670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8" name="Text Box 21"/>
                  <p:cNvSpPr txBox="1">
                    <a:spLocks noChangeArrowheads="1"/>
                  </p:cNvSpPr>
                  <p:nvPr/>
                </p:nvSpPr>
                <p:spPr bwMode="auto">
                  <a:xfrm>
                    <a:off x="5546725" y="2779466"/>
                    <a:ext cx="514350" cy="548749"/>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  #</a:t>
                    </a:r>
                  </a:p>
                  <a:p>
                    <a:r>
                      <a:rPr lang="en-US" dirty="0">
                        <a:solidFill>
                          <a:schemeClr val="tx1"/>
                        </a:solidFill>
                        <a:latin typeface="Calibri" pitchFamily="34" charset="0"/>
                        <a:ea typeface="ＭＳ Ｐゴシック"/>
                        <a:cs typeface="ＭＳ Ｐゴシック"/>
                      </a:rPr>
                      <a:t>ops</a:t>
                    </a:r>
                  </a:p>
                </p:txBody>
              </p:sp>
              <p:sp>
                <p:nvSpPr>
                  <p:cNvPr id="6169" name="Text Box 22"/>
                  <p:cNvSpPr txBox="1">
                    <a:spLocks noChangeArrowheads="1"/>
                  </p:cNvSpPr>
                  <p:nvPr/>
                </p:nvSpPr>
                <p:spPr bwMode="auto">
                  <a:xfrm>
                    <a:off x="66135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70" name="Text Box 23"/>
                  <p:cNvSpPr txBox="1">
                    <a:spLocks noChangeArrowheads="1"/>
                  </p:cNvSpPr>
                  <p:nvPr/>
                </p:nvSpPr>
                <p:spPr bwMode="auto">
                  <a:xfrm>
                    <a:off x="77565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71" name="Text Box 24"/>
                  <p:cNvSpPr txBox="1">
                    <a:spLocks noChangeArrowheads="1"/>
                  </p:cNvSpPr>
                  <p:nvPr/>
                </p:nvSpPr>
                <p:spPr bwMode="auto">
                  <a:xfrm>
                    <a:off x="6003925" y="2830025"/>
                    <a:ext cx="241300" cy="326302"/>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a:p>
                    <a:pPr>
                      <a:lnSpc>
                        <a:spcPct val="5000"/>
                      </a:lnSpc>
                    </a:pPr>
                    <a:r>
                      <a:rPr lang="en-US" dirty="0">
                        <a:solidFill>
                          <a:schemeClr val="tx1"/>
                        </a:solidFill>
                        <a:latin typeface="Calibri" pitchFamily="34" charset="0"/>
                        <a:ea typeface="ＭＳ Ｐゴシック"/>
                        <a:cs typeface="ＭＳ Ｐゴシック"/>
                      </a:rPr>
                      <a:t>.</a:t>
                    </a:r>
                  </a:p>
                </p:txBody>
              </p:sp>
              <p:sp>
                <p:nvSpPr>
                  <p:cNvPr id="6172" name="Text Box 25"/>
                  <p:cNvSpPr txBox="1">
                    <a:spLocks noChangeArrowheads="1"/>
                  </p:cNvSpPr>
                  <p:nvPr/>
                </p:nvSpPr>
                <p:spPr bwMode="auto">
                  <a:xfrm>
                    <a:off x="6156325" y="2601614"/>
                    <a:ext cx="241300" cy="337178"/>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a:p>
                    <a:pPr>
                      <a:lnSpc>
                        <a:spcPct val="10000"/>
                      </a:lnSpc>
                    </a:pPr>
                    <a:r>
                      <a:rPr lang="en-US" dirty="0">
                        <a:solidFill>
                          <a:schemeClr val="tx1"/>
                        </a:solidFill>
                        <a:latin typeface="Calibri" pitchFamily="34" charset="0"/>
                        <a:ea typeface="ＭＳ Ｐゴシック"/>
                        <a:cs typeface="ＭＳ Ｐゴシック"/>
                      </a:rPr>
                      <a:t>.</a:t>
                    </a:r>
                  </a:p>
                </p:txBody>
              </p:sp>
              <p:sp>
                <p:nvSpPr>
                  <p:cNvPr id="6173" name="Text Box 26"/>
                  <p:cNvSpPr txBox="1">
                    <a:spLocks noChangeArrowheads="1"/>
                  </p:cNvSpPr>
                  <p:nvPr/>
                </p:nvSpPr>
                <p:spPr bwMode="auto">
                  <a:xfrm>
                    <a:off x="7451725" y="2755248"/>
                    <a:ext cx="241300" cy="337178"/>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a:p>
                    <a:pPr>
                      <a:lnSpc>
                        <a:spcPct val="10000"/>
                      </a:lnSpc>
                    </a:pPr>
                    <a:r>
                      <a:rPr lang="en-US" dirty="0">
                        <a:solidFill>
                          <a:schemeClr val="tx1"/>
                        </a:solidFill>
                        <a:latin typeface="Calibri" pitchFamily="34" charset="0"/>
                        <a:ea typeface="ＭＳ Ｐゴシック"/>
                        <a:cs typeface="ＭＳ Ｐゴシック"/>
                      </a:rPr>
                      <a:t>.</a:t>
                    </a:r>
                  </a:p>
                </p:txBody>
              </p:sp>
              <p:sp>
                <p:nvSpPr>
                  <p:cNvPr id="6174" name="Text Box 31"/>
                  <p:cNvSpPr txBox="1">
                    <a:spLocks noChangeArrowheads="1"/>
                  </p:cNvSpPr>
                  <p:nvPr/>
                </p:nvSpPr>
                <p:spPr bwMode="auto">
                  <a:xfrm>
                    <a:off x="6994525" y="3592755"/>
                    <a:ext cx="609600" cy="314066"/>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time</a:t>
                    </a:r>
                  </a:p>
                </p:txBody>
              </p:sp>
            </p:grpSp>
          </p:grpSp>
          <p:sp>
            <p:nvSpPr>
              <p:cNvPr id="6153" name="TextBox 42"/>
              <p:cNvSpPr txBox="1">
                <a:spLocks noChangeArrowheads="1"/>
              </p:cNvSpPr>
              <p:nvPr/>
            </p:nvSpPr>
            <p:spPr bwMode="auto">
              <a:xfrm>
                <a:off x="914400" y="4737725"/>
                <a:ext cx="1524000" cy="316114"/>
              </a:xfrm>
              <a:prstGeom prst="rect">
                <a:avLst/>
              </a:prstGeom>
              <a:noFill/>
              <a:ln w="9525">
                <a:noFill/>
                <a:miter lim="800000"/>
                <a:headEnd/>
                <a:tailEnd/>
              </a:ln>
            </p:spPr>
            <p:txBody>
              <a:bodyPr wrap="square">
                <a:spAutoFit/>
              </a:bodyPr>
              <a:lstStyle/>
              <a:p>
                <a:r>
                  <a:rPr lang="en-US" sz="1800" b="1" dirty="0">
                    <a:solidFill>
                      <a:srgbClr val="0000FF"/>
                    </a:solidFill>
                    <a:latin typeface="Calibri" pitchFamily="34" charset="0"/>
                    <a:ea typeface="ＭＳ Ｐゴシック"/>
                    <a:cs typeface="ＭＳ Ｐゴシック"/>
                  </a:rPr>
                  <a:t>Time = Work</a:t>
                </a:r>
              </a:p>
            </p:txBody>
          </p:sp>
          <p:sp>
            <p:nvSpPr>
              <p:cNvPr id="6154" name="TextBox 43"/>
              <p:cNvSpPr txBox="1">
                <a:spLocks noChangeArrowheads="1"/>
              </p:cNvSpPr>
              <p:nvPr/>
            </p:nvSpPr>
            <p:spPr bwMode="auto">
              <a:xfrm>
                <a:off x="3581400" y="4738037"/>
                <a:ext cx="1981200" cy="316114"/>
              </a:xfrm>
              <a:prstGeom prst="rect">
                <a:avLst/>
              </a:prstGeom>
              <a:noFill/>
              <a:ln w="9525">
                <a:noFill/>
                <a:miter lim="800000"/>
                <a:headEnd/>
                <a:tailEnd/>
              </a:ln>
            </p:spPr>
            <p:txBody>
              <a:bodyPr wrap="square">
                <a:spAutoFit/>
              </a:bodyPr>
              <a:lstStyle/>
              <a:p>
                <a:r>
                  <a:rPr lang="en-US" sz="1800" b="1" dirty="0">
                    <a:solidFill>
                      <a:srgbClr val="0000FF"/>
                    </a:solidFill>
                    <a:latin typeface="Calibri" pitchFamily="34" charset="0"/>
                    <a:ea typeface="ＭＳ Ｐゴシック"/>
                    <a:cs typeface="ＭＳ Ｐゴシック"/>
                  </a:rPr>
                  <a:t>Work = total #ops</a:t>
                </a:r>
              </a:p>
            </p:txBody>
          </p:sp>
          <p:sp>
            <p:nvSpPr>
              <p:cNvPr id="6155" name="TextBox 44"/>
              <p:cNvSpPr txBox="1">
                <a:spLocks noChangeArrowheads="1"/>
              </p:cNvSpPr>
              <p:nvPr/>
            </p:nvSpPr>
            <p:spPr bwMode="auto">
              <a:xfrm>
                <a:off x="6858000" y="4737724"/>
                <a:ext cx="1752600" cy="316114"/>
              </a:xfrm>
              <a:prstGeom prst="rect">
                <a:avLst/>
              </a:prstGeom>
              <a:noFill/>
              <a:ln w="9525">
                <a:noFill/>
                <a:miter lim="800000"/>
                <a:headEnd/>
                <a:tailEnd/>
              </a:ln>
            </p:spPr>
            <p:txBody>
              <a:bodyPr wrap="square">
                <a:spAutoFit/>
              </a:bodyPr>
              <a:lstStyle/>
              <a:p>
                <a:r>
                  <a:rPr lang="en-US" sz="1800" b="1" dirty="0">
                    <a:solidFill>
                      <a:srgbClr val="0000FF"/>
                    </a:solidFill>
                    <a:latin typeface="Calibri" pitchFamily="34" charset="0"/>
                    <a:ea typeface="ＭＳ Ｐゴシック"/>
                    <a:cs typeface="ＭＳ Ｐゴシック"/>
                  </a:rPr>
                  <a:t>Time &lt;&lt; Work</a:t>
                </a:r>
              </a:p>
            </p:txBody>
          </p:sp>
        </p:grpSp>
        <p:sp>
          <p:nvSpPr>
            <p:cNvPr id="6150" name="TextBox 46"/>
            <p:cNvSpPr txBox="1">
              <a:spLocks noChangeArrowheads="1"/>
            </p:cNvSpPr>
            <p:nvPr/>
          </p:nvSpPr>
          <p:spPr bwMode="auto">
            <a:xfrm>
              <a:off x="762000" y="2743387"/>
              <a:ext cx="2438400" cy="548937"/>
            </a:xfrm>
            <a:prstGeom prst="rect">
              <a:avLst/>
            </a:prstGeom>
            <a:noFill/>
            <a:ln w="9525">
              <a:noFill/>
              <a:miter lim="800000"/>
              <a:headEnd/>
              <a:tailEnd/>
            </a:ln>
          </p:spPr>
          <p:txBody>
            <a:bodyPr>
              <a:spAutoFit/>
            </a:bodyPr>
            <a:lstStyle/>
            <a:p>
              <a:r>
                <a:rPr lang="en-US" b="1" dirty="0">
                  <a:solidFill>
                    <a:schemeClr val="tx1"/>
                  </a:solidFill>
                  <a:latin typeface="Calibri" pitchFamily="34" charset="0"/>
                  <a:ea typeface="ＭＳ Ｐゴシック"/>
                  <a:cs typeface="ＭＳ Ｐゴシック"/>
                </a:rPr>
                <a:t>Serial Execution, Based on Serial Abstraction</a:t>
              </a:r>
            </a:p>
          </p:txBody>
        </p:sp>
        <p:sp>
          <p:nvSpPr>
            <p:cNvPr id="6151" name="TextBox 47"/>
            <p:cNvSpPr txBox="1">
              <a:spLocks noChangeArrowheads="1"/>
            </p:cNvSpPr>
            <p:nvPr/>
          </p:nvSpPr>
          <p:spPr bwMode="auto">
            <a:xfrm>
              <a:off x="6096000" y="2743383"/>
              <a:ext cx="2895600" cy="605885"/>
            </a:xfrm>
            <a:prstGeom prst="rect">
              <a:avLst/>
            </a:prstGeom>
            <a:noFill/>
            <a:ln w="9525">
              <a:noFill/>
              <a:miter lim="800000"/>
              <a:headEnd/>
              <a:tailEnd/>
            </a:ln>
          </p:spPr>
          <p:txBody>
            <a:bodyPr wrap="square">
              <a:spAutoFit/>
            </a:bodyPr>
            <a:lstStyle/>
            <a:p>
              <a:r>
                <a:rPr lang="en-US" b="1" dirty="0">
                  <a:solidFill>
                    <a:schemeClr val="tx1"/>
                  </a:solidFill>
                  <a:latin typeface="Calibri" pitchFamily="34" charset="0"/>
                  <a:ea typeface="ＭＳ Ｐゴシック"/>
                  <a:cs typeface="ＭＳ Ｐゴシック"/>
                </a:rPr>
                <a:t>Parallel Execution, Based on Parallel Abstraction</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Not behind </a:t>
            </a:r>
            <a:r>
              <a:rPr lang="en-US" sz="3600" dirty="0" smtClean="0"/>
              <a:t>GvN47</a:t>
            </a:r>
            <a:r>
              <a:rPr lang="en-US" dirty="0" smtClean="0"/>
              <a:t> in 1947</a:t>
            </a:r>
            <a:endParaRPr lang="en-US" dirty="0"/>
          </a:p>
        </p:txBody>
      </p:sp>
      <p:sp>
        <p:nvSpPr>
          <p:cNvPr id="3" name="Text Placeholder 2"/>
          <p:cNvSpPr>
            <a:spLocks noGrp="1"/>
          </p:cNvSpPr>
          <p:nvPr>
            <p:ph type="body" idx="1"/>
          </p:nvPr>
        </p:nvSpPr>
        <p:spPr>
          <a:xfrm>
            <a:off x="304800" y="914401"/>
            <a:ext cx="4343400" cy="533399"/>
          </a:xfrm>
        </p:spPr>
        <p:txBody>
          <a:bodyPr/>
          <a:lstStyle/>
          <a:p>
            <a:pPr algn="ctr"/>
            <a:r>
              <a:rPr lang="en-US" dirty="0" smtClean="0"/>
              <a:t>Algorithms</a:t>
            </a:r>
            <a:endParaRPr lang="en-US" dirty="0"/>
          </a:p>
        </p:txBody>
      </p:sp>
      <p:sp>
        <p:nvSpPr>
          <p:cNvPr id="4" name="Content Placeholder 3"/>
          <p:cNvSpPr>
            <a:spLocks noGrp="1"/>
          </p:cNvSpPr>
          <p:nvPr>
            <p:ph sz="half" idx="2"/>
          </p:nvPr>
        </p:nvSpPr>
        <p:spPr>
          <a:xfrm>
            <a:off x="0" y="1524000"/>
            <a:ext cx="4800600" cy="4602163"/>
          </a:xfrm>
        </p:spPr>
        <p:txBody>
          <a:bodyPr/>
          <a:lstStyle/>
          <a:p>
            <a:pPr eaLnBrk="1" hangingPunct="1">
              <a:buNone/>
              <a:defRPr/>
            </a:pPr>
            <a:r>
              <a:rPr lang="en-US" dirty="0" smtClean="0">
                <a:solidFill>
                  <a:srgbClr val="0070C0"/>
                </a:solidFill>
              </a:rPr>
              <a:t>PRAM parallel algorithmic theory. “Natural selection”. </a:t>
            </a:r>
            <a:r>
              <a:rPr lang="en-US" b="1" dirty="0" smtClean="0">
                <a:solidFill>
                  <a:srgbClr val="0070C0"/>
                </a:solidFill>
              </a:rPr>
              <a:t>Latent</a:t>
            </a:r>
            <a:r>
              <a:rPr lang="en-US" dirty="0" smtClean="0">
                <a:solidFill>
                  <a:srgbClr val="0070C0"/>
                </a:solidFill>
              </a:rPr>
              <a:t>, though not widespread, </a:t>
            </a:r>
            <a:r>
              <a:rPr lang="en-US" b="1" dirty="0" smtClean="0">
                <a:solidFill>
                  <a:srgbClr val="0070C0"/>
                </a:solidFill>
              </a:rPr>
              <a:t>knowledgebase</a:t>
            </a:r>
          </a:p>
          <a:p>
            <a:pPr eaLnBrk="1" hangingPunct="1">
              <a:buNone/>
              <a:defRPr/>
            </a:pPr>
            <a:r>
              <a:rPr lang="en-US" dirty="0" smtClean="0">
                <a:solidFill>
                  <a:srgbClr val="0070C0"/>
                </a:solidFill>
              </a:rPr>
              <a:t>“Work-depth”. SV82 conjectured: The rest (full PRAM algorithm) just a matter of skill.</a:t>
            </a:r>
          </a:p>
          <a:p>
            <a:pPr eaLnBrk="1" hangingPunct="1">
              <a:buNone/>
              <a:defRPr/>
            </a:pPr>
            <a:r>
              <a:rPr lang="en-US" dirty="0" smtClean="0">
                <a:solidFill>
                  <a:srgbClr val="0070C0"/>
                </a:solidFill>
              </a:rPr>
              <a:t>Lots of evidence that “work-depth” works. Used as framework in main PRAM algorithms texts: JaJa92, KKT01 </a:t>
            </a:r>
          </a:p>
          <a:p>
            <a:pPr eaLnBrk="1" hangingPunct="1">
              <a:buNone/>
              <a:defRPr/>
            </a:pPr>
            <a:r>
              <a:rPr lang="en-US" dirty="0" smtClean="0"/>
              <a:t>Later: programming &amp; workflow</a:t>
            </a:r>
          </a:p>
          <a:p>
            <a:pPr eaLnBrk="1" hangingPunct="1">
              <a:buNone/>
              <a:defRPr/>
            </a:pPr>
            <a:endParaRPr lang="en-US" dirty="0" smtClean="0">
              <a:solidFill>
                <a:srgbClr val="0070C0"/>
              </a:solidFill>
            </a:endParaRPr>
          </a:p>
          <a:p>
            <a:endParaRPr lang="en-US" dirty="0"/>
          </a:p>
        </p:txBody>
      </p:sp>
      <p:sp>
        <p:nvSpPr>
          <p:cNvPr id="5" name="Text Placeholder 4"/>
          <p:cNvSpPr>
            <a:spLocks noGrp="1"/>
          </p:cNvSpPr>
          <p:nvPr>
            <p:ph type="body" sz="quarter" idx="3"/>
          </p:nvPr>
        </p:nvSpPr>
        <p:spPr>
          <a:xfrm>
            <a:off x="3962400" y="990601"/>
            <a:ext cx="5181601" cy="457199"/>
          </a:xfrm>
        </p:spPr>
        <p:txBody>
          <a:bodyPr/>
          <a:lstStyle/>
          <a:p>
            <a:pPr algn="ctr"/>
            <a:r>
              <a:rPr lang="en-US" dirty="0" smtClean="0"/>
              <a:t>      PRAM-On-Chip HW Prototypes</a:t>
            </a:r>
            <a:endParaRPr lang="en-US" dirty="0"/>
          </a:p>
        </p:txBody>
      </p:sp>
      <p:sp>
        <p:nvSpPr>
          <p:cNvPr id="6" name="Content Placeholder 5"/>
          <p:cNvSpPr>
            <a:spLocks noGrp="1"/>
          </p:cNvSpPr>
          <p:nvPr>
            <p:ph sz="quarter" idx="4"/>
          </p:nvPr>
        </p:nvSpPr>
        <p:spPr>
          <a:xfrm>
            <a:off x="4572001" y="1447800"/>
            <a:ext cx="4572000" cy="5410200"/>
          </a:xfrm>
        </p:spPr>
        <p:txBody>
          <a:bodyPr/>
          <a:lstStyle/>
          <a:p>
            <a:pPr>
              <a:buNone/>
            </a:pPr>
            <a:r>
              <a:rPr lang="en-US" u="sng" dirty="0" smtClean="0"/>
              <a:t>64-core, 75MHz FPGA </a:t>
            </a:r>
            <a:r>
              <a:rPr lang="en-US" dirty="0" smtClean="0"/>
              <a:t>of XMT</a:t>
            </a:r>
          </a:p>
          <a:p>
            <a:pPr>
              <a:buNone/>
            </a:pPr>
            <a:r>
              <a:rPr lang="en-US" sz="2000" dirty="0" smtClean="0"/>
              <a:t>(Explicit Multi-Threaded) architecture</a:t>
            </a:r>
          </a:p>
          <a:p>
            <a:pPr>
              <a:buNone/>
            </a:pPr>
            <a:r>
              <a:rPr lang="en-US" dirty="0" smtClean="0"/>
              <a:t>			   SPAA98</a:t>
            </a:r>
            <a:r>
              <a:rPr lang="en-US" dirty="0" smtClean="0">
                <a:sym typeface="Wingdings" pitchFamily="2" charset="2"/>
              </a:rPr>
              <a:t>..</a:t>
            </a:r>
            <a:r>
              <a:rPr lang="en-US" dirty="0" smtClean="0"/>
              <a:t>CF08	</a:t>
            </a:r>
          </a:p>
          <a:p>
            <a:pPr>
              <a:buNone/>
            </a:pPr>
            <a:endParaRPr lang="en-US" dirty="0" smtClean="0"/>
          </a:p>
          <a:p>
            <a:pPr>
              <a:buNone/>
            </a:pPr>
            <a:r>
              <a:rPr lang="en-US" u="sng" dirty="0" smtClean="0"/>
              <a:t>128-core intercon. network</a:t>
            </a:r>
            <a:r>
              <a:rPr lang="en-US" dirty="0" smtClean="0"/>
              <a:t>                    	       </a:t>
            </a:r>
            <a:r>
              <a:rPr lang="en-US" sz="2000" dirty="0" smtClean="0"/>
              <a:t>IBM 90nm: 9mmX5mm,	        400 MHz [HotI07]</a:t>
            </a:r>
            <a:r>
              <a:rPr lang="en-US" sz="2000" dirty="0" smtClean="0">
                <a:sym typeface="Wingdings"/>
              </a:rPr>
              <a:t>Fund</a:t>
            </a:r>
          </a:p>
          <a:p>
            <a:pPr>
              <a:buNone/>
            </a:pPr>
            <a:r>
              <a:rPr lang="en-US" sz="2000" dirty="0" smtClean="0">
                <a:sym typeface="Wingdings"/>
              </a:rPr>
              <a:t>                     work on </a:t>
            </a:r>
            <a:r>
              <a:rPr lang="en-US" sz="2000" dirty="0" err="1" smtClean="0">
                <a:sym typeface="Wingdings"/>
              </a:rPr>
              <a:t>asynch</a:t>
            </a:r>
            <a:r>
              <a:rPr lang="en-US" sz="2000" dirty="0" smtClean="0">
                <a:sym typeface="Wingdings"/>
              </a:rPr>
              <a:t> NOCS’10</a:t>
            </a:r>
            <a:endParaRPr lang="en-US" dirty="0" smtClean="0"/>
          </a:p>
          <a:p>
            <a:r>
              <a:rPr lang="en-US" dirty="0" smtClean="0"/>
              <a:t>              </a:t>
            </a:r>
            <a:r>
              <a:rPr lang="en-US" u="sng" dirty="0" smtClean="0"/>
              <a:t>FPGA design</a:t>
            </a:r>
            <a:r>
              <a:rPr lang="en-US" u="sng" dirty="0" smtClean="0">
                <a:sym typeface="Wingdings" pitchFamily="2" charset="2"/>
              </a:rPr>
              <a:t>ASIC</a:t>
            </a:r>
            <a:r>
              <a:rPr lang="en-US" dirty="0" smtClean="0">
                <a:sym typeface="Wingdings" pitchFamily="2" charset="2"/>
              </a:rPr>
              <a:t>  </a:t>
            </a:r>
          </a:p>
          <a:p>
            <a:r>
              <a:rPr lang="en-US" dirty="0" smtClean="0">
                <a:sym typeface="Wingdings" pitchFamily="2" charset="2"/>
              </a:rPr>
              <a:t>             </a:t>
            </a:r>
            <a:r>
              <a:rPr lang="en-US" sz="2000" dirty="0" smtClean="0"/>
              <a:t>IBM 90nm: 10mmX10mm </a:t>
            </a:r>
            <a:endParaRPr lang="en-US" dirty="0" smtClean="0"/>
          </a:p>
          <a:p>
            <a:r>
              <a:rPr lang="en-US" dirty="0" smtClean="0"/>
              <a:t>             </a:t>
            </a:r>
            <a:r>
              <a:rPr lang="en-US" sz="2000" dirty="0" smtClean="0"/>
              <a:t>150 MHz</a:t>
            </a:r>
          </a:p>
          <a:p>
            <a:endParaRPr lang="en-US" dirty="0" smtClean="0"/>
          </a:p>
          <a:p>
            <a:endParaRPr lang="en-US" dirty="0" smtClean="0"/>
          </a:p>
        </p:txBody>
      </p:sp>
      <p:pic>
        <p:nvPicPr>
          <p:cNvPr id="7" name="Picture 4" descr="Image0809-1232(S-Video)"/>
          <p:cNvPicPr>
            <a:picLocks noChangeAspect="1" noChangeArrowheads="1"/>
          </p:cNvPicPr>
          <p:nvPr/>
        </p:nvPicPr>
        <p:blipFill>
          <a:blip r:embed="rId2" cstate="print"/>
          <a:srcRect/>
          <a:stretch>
            <a:fillRect/>
          </a:stretch>
        </p:blipFill>
        <p:spPr bwMode="auto">
          <a:xfrm>
            <a:off x="4724400" y="4038600"/>
            <a:ext cx="1371600" cy="838200"/>
          </a:xfrm>
          <a:prstGeom prst="rect">
            <a:avLst/>
          </a:prstGeom>
          <a:noFill/>
          <a:ln w="9525">
            <a:noFill/>
            <a:miter lim="800000"/>
            <a:headEnd/>
            <a:tailEnd/>
          </a:ln>
        </p:spPr>
      </p:pic>
      <p:pic>
        <p:nvPicPr>
          <p:cNvPr id="8" name="Picture 9" descr="dn8000pci"/>
          <p:cNvPicPr>
            <a:picLocks noChangeAspect="1" noChangeArrowheads="1"/>
          </p:cNvPicPr>
          <p:nvPr/>
        </p:nvPicPr>
        <p:blipFill>
          <a:blip r:embed="rId3" cstate="print"/>
          <a:srcRect b="11484"/>
          <a:stretch>
            <a:fillRect/>
          </a:stretch>
        </p:blipFill>
        <p:spPr bwMode="auto">
          <a:xfrm>
            <a:off x="4724400" y="2286000"/>
            <a:ext cx="1981200" cy="1066800"/>
          </a:xfrm>
          <a:prstGeom prst="rect">
            <a:avLst/>
          </a:prstGeom>
          <a:noFill/>
          <a:ln w="9525">
            <a:noFill/>
            <a:miter lim="800000"/>
            <a:headEnd/>
            <a:tailEnd/>
          </a:ln>
        </p:spPr>
      </p:pic>
      <p:pic>
        <p:nvPicPr>
          <p:cNvPr id="9" name="Picture 5" descr="xmtASIC10-08.JPG"/>
          <p:cNvPicPr>
            <a:picLocks noChangeAspect="1"/>
          </p:cNvPicPr>
          <p:nvPr/>
        </p:nvPicPr>
        <p:blipFill>
          <a:blip r:embed="rId4" cstate="print"/>
          <a:srcRect/>
          <a:stretch>
            <a:fillRect/>
          </a:stretch>
        </p:blipFill>
        <p:spPr bwMode="auto">
          <a:xfrm>
            <a:off x="4648200" y="5029200"/>
            <a:ext cx="1447800" cy="1371600"/>
          </a:xfrm>
          <a:prstGeom prst="rect">
            <a:avLst/>
          </a:prstGeom>
          <a:noFill/>
          <a:ln w="9525">
            <a:noFill/>
            <a:miter lim="800000"/>
            <a:headEnd/>
            <a:tailEnd/>
          </a:ln>
        </p:spPr>
      </p:pic>
      <p:sp>
        <p:nvSpPr>
          <p:cNvPr id="10" name="TextBox 9"/>
          <p:cNvSpPr txBox="1"/>
          <p:nvPr/>
        </p:nvSpPr>
        <p:spPr>
          <a:xfrm>
            <a:off x="0" y="6477000"/>
            <a:ext cx="9144000" cy="400110"/>
          </a:xfrm>
          <a:prstGeom prst="rect">
            <a:avLst/>
          </a:prstGeom>
          <a:noFill/>
        </p:spPr>
        <p:txBody>
          <a:bodyPr wrap="square" rtlCol="0">
            <a:spAutoFit/>
          </a:bodyPr>
          <a:lstStyle/>
          <a:p>
            <a:r>
              <a:rPr lang="en-US" dirty="0" smtClean="0"/>
              <a:t>Rudimentary yet stable </a:t>
            </a:r>
            <a:r>
              <a:rPr lang="en-US" b="1" dirty="0" smtClean="0"/>
              <a:t>compiler</a:t>
            </a:r>
            <a:r>
              <a:rPr lang="en-US" dirty="0" smtClean="0"/>
              <a:t>.     Architecture scales to 1000+ cores on-chip</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2530" name="Picture 4" descr="pcview"/>
          <p:cNvPicPr>
            <a:picLocks noChangeAspect="1" noChangeArrowheads="1"/>
          </p:cNvPicPr>
          <p:nvPr/>
        </p:nvPicPr>
        <p:blipFill>
          <a:blip r:embed="rId3" cstate="print"/>
          <a:srcRect/>
          <a:stretch>
            <a:fillRect/>
          </a:stretch>
        </p:blipFill>
        <p:spPr bwMode="auto">
          <a:xfrm>
            <a:off x="152400" y="1371600"/>
            <a:ext cx="5105400" cy="5102225"/>
          </a:xfrm>
          <a:prstGeom prst="rect">
            <a:avLst/>
          </a:prstGeom>
          <a:noFill/>
          <a:ln w="9525">
            <a:noFill/>
            <a:miter lim="800000"/>
            <a:headEnd/>
            <a:tailEnd/>
          </a:ln>
        </p:spPr>
      </p:pic>
      <p:pic>
        <p:nvPicPr>
          <p:cNvPr id="22531" name="Picture 5" descr="tcu-prog"/>
          <p:cNvPicPr>
            <a:picLocks noChangeAspect="1" noChangeArrowheads="1"/>
          </p:cNvPicPr>
          <p:nvPr/>
        </p:nvPicPr>
        <p:blipFill>
          <a:blip r:embed="rId4" cstate="print"/>
          <a:srcRect/>
          <a:stretch>
            <a:fillRect/>
          </a:stretch>
        </p:blipFill>
        <p:spPr bwMode="auto">
          <a:xfrm>
            <a:off x="5562600" y="1447800"/>
            <a:ext cx="3429000" cy="3733800"/>
          </a:xfrm>
          <a:prstGeom prst="rect">
            <a:avLst/>
          </a:prstGeom>
          <a:noFill/>
          <a:ln w="9525">
            <a:noFill/>
            <a:miter lim="800000"/>
            <a:headEnd/>
            <a:tailEnd/>
          </a:ln>
        </p:spPr>
      </p:pic>
      <p:sp>
        <p:nvSpPr>
          <p:cNvPr id="22532" name="Text Box 7"/>
          <p:cNvSpPr txBox="1">
            <a:spLocks noChangeArrowheads="1"/>
          </p:cNvSpPr>
          <p:nvPr/>
        </p:nvSpPr>
        <p:spPr bwMode="auto">
          <a:xfrm>
            <a:off x="152400" y="0"/>
            <a:ext cx="8839200" cy="523220"/>
          </a:xfrm>
          <a:prstGeom prst="rect">
            <a:avLst/>
          </a:prstGeom>
          <a:noFill/>
          <a:ln w="9525">
            <a:noFill/>
            <a:miter lim="800000"/>
            <a:headEnd/>
            <a:tailEnd/>
          </a:ln>
        </p:spPr>
        <p:txBody>
          <a:bodyPr>
            <a:spAutoFit/>
          </a:bodyPr>
          <a:lstStyle/>
          <a:p>
            <a:pPr algn="ctr"/>
            <a:r>
              <a:rPr lang="en-US" sz="2800" dirty="0" smtClean="0">
                <a:solidFill>
                  <a:schemeClr val="folHlink"/>
                </a:solidFill>
              </a:rPr>
              <a:t>Key for GvN47 Engineering solution (1</a:t>
            </a:r>
            <a:r>
              <a:rPr lang="en-US" sz="2800" baseline="30000" dirty="0" smtClean="0">
                <a:solidFill>
                  <a:schemeClr val="folHlink"/>
                </a:solidFill>
              </a:rPr>
              <a:t>st</a:t>
            </a:r>
            <a:r>
              <a:rPr lang="en-US" sz="2800" dirty="0" smtClean="0">
                <a:solidFill>
                  <a:schemeClr val="folHlink"/>
                </a:solidFill>
              </a:rPr>
              <a:t> visit of slide)</a:t>
            </a:r>
            <a:endParaRPr lang="en-US" sz="2400" dirty="0"/>
          </a:p>
        </p:txBody>
      </p:sp>
      <p:sp>
        <p:nvSpPr>
          <p:cNvPr id="22533" name="Text Box 8"/>
          <p:cNvSpPr txBox="1">
            <a:spLocks noChangeArrowheads="1"/>
          </p:cNvSpPr>
          <p:nvPr/>
        </p:nvSpPr>
        <p:spPr bwMode="auto">
          <a:xfrm>
            <a:off x="228600" y="381000"/>
            <a:ext cx="1654175" cy="336550"/>
          </a:xfrm>
          <a:prstGeom prst="rect">
            <a:avLst/>
          </a:prstGeom>
          <a:noFill/>
          <a:ln w="9525">
            <a:noFill/>
            <a:miter lim="800000"/>
            <a:headEnd/>
            <a:tailEnd/>
          </a:ln>
        </p:spPr>
        <p:txBody>
          <a:bodyPr>
            <a:spAutoFit/>
          </a:bodyPr>
          <a:lstStyle/>
          <a:p>
            <a:pPr>
              <a:spcBef>
                <a:spcPct val="50000"/>
              </a:spcBef>
            </a:pPr>
            <a:endParaRPr lang="en-US" dirty="0"/>
          </a:p>
        </p:txBody>
      </p:sp>
      <p:sp>
        <p:nvSpPr>
          <p:cNvPr id="22534" name="Text Box 10"/>
          <p:cNvSpPr txBox="1">
            <a:spLocks noChangeArrowheads="1"/>
          </p:cNvSpPr>
          <p:nvPr/>
        </p:nvSpPr>
        <p:spPr bwMode="auto">
          <a:xfrm>
            <a:off x="0" y="533400"/>
            <a:ext cx="5410200" cy="707886"/>
          </a:xfrm>
          <a:prstGeom prst="rect">
            <a:avLst/>
          </a:prstGeom>
          <a:noFill/>
          <a:ln w="9525">
            <a:noFill/>
            <a:miter lim="800000"/>
            <a:headEnd/>
            <a:tailEnd/>
          </a:ln>
        </p:spPr>
        <p:txBody>
          <a:bodyPr wrap="square">
            <a:spAutoFit/>
          </a:bodyPr>
          <a:lstStyle/>
          <a:p>
            <a:r>
              <a:rPr lang="en-US" dirty="0" smtClean="0">
                <a:solidFill>
                  <a:srgbClr val="FF0000"/>
                </a:solidFill>
              </a:rPr>
              <a:t>Program</a:t>
            </a:r>
            <a:r>
              <a:rPr lang="en-US" dirty="0">
                <a:solidFill>
                  <a:srgbClr val="FF0000"/>
                </a:solidFill>
              </a:rPr>
              <a:t>-counter &amp; stored </a:t>
            </a:r>
            <a:r>
              <a:rPr lang="en-US" dirty="0" smtClean="0">
                <a:solidFill>
                  <a:srgbClr val="FF0000"/>
                </a:solidFill>
              </a:rPr>
              <a:t>program</a:t>
            </a:r>
          </a:p>
          <a:p>
            <a:r>
              <a:rPr lang="en-US" dirty="0" smtClean="0">
                <a:sym typeface="Wingdings"/>
              </a:rPr>
              <a:t>Later: </a:t>
            </a:r>
            <a:r>
              <a:rPr lang="en-US" dirty="0" smtClean="0"/>
              <a:t>Seek </a:t>
            </a:r>
            <a:r>
              <a:rPr lang="en-US" dirty="0" smtClean="0">
                <a:solidFill>
                  <a:srgbClr val="FF0000"/>
                </a:solidFill>
              </a:rPr>
              <a:t>upgrade for parallel abstraction</a:t>
            </a:r>
            <a:endParaRPr lang="en-US" sz="2400" dirty="0">
              <a:solidFill>
                <a:srgbClr val="FF0000"/>
              </a:solidFill>
            </a:endParaRPr>
          </a:p>
        </p:txBody>
      </p:sp>
      <p:sp>
        <p:nvSpPr>
          <p:cNvPr id="22535" name="Text Box 11"/>
          <p:cNvSpPr txBox="1">
            <a:spLocks noChangeArrowheads="1"/>
          </p:cNvSpPr>
          <p:nvPr/>
        </p:nvSpPr>
        <p:spPr bwMode="auto">
          <a:xfrm>
            <a:off x="6096000" y="533400"/>
            <a:ext cx="2895600" cy="946150"/>
          </a:xfrm>
          <a:prstGeom prst="rect">
            <a:avLst/>
          </a:prstGeom>
          <a:noFill/>
          <a:ln w="9525">
            <a:noFill/>
            <a:miter lim="800000"/>
            <a:headEnd/>
            <a:tailEnd/>
          </a:ln>
        </p:spPr>
        <p:txBody>
          <a:bodyPr>
            <a:spAutoFit/>
          </a:bodyPr>
          <a:lstStyle/>
          <a:p>
            <a:r>
              <a:rPr lang="en-US" dirty="0">
                <a:solidFill>
                  <a:srgbClr val="FF0000"/>
                </a:solidFill>
              </a:rPr>
              <a:t>Virtual over physical: </a:t>
            </a:r>
          </a:p>
          <a:p>
            <a:r>
              <a:rPr lang="en-US" dirty="0">
                <a:solidFill>
                  <a:srgbClr val="FF0000"/>
                </a:solidFill>
              </a:rPr>
              <a:t>distributed solution</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a:xfrm>
            <a:off x="0" y="0"/>
            <a:ext cx="9144000" cy="609600"/>
          </a:xfrm>
        </p:spPr>
        <p:txBody>
          <a:bodyPr/>
          <a:lstStyle/>
          <a:p>
            <a:r>
              <a:rPr lang="en-US" sz="4000" u="sng" dirty="0" smtClean="0"/>
              <a:t>Talk from 30K feet</a:t>
            </a:r>
          </a:p>
        </p:txBody>
      </p:sp>
      <p:sp>
        <p:nvSpPr>
          <p:cNvPr id="3" name="Content Placeholder 2"/>
          <p:cNvSpPr>
            <a:spLocks noGrp="1"/>
          </p:cNvSpPr>
          <p:nvPr>
            <p:ph idx="1"/>
          </p:nvPr>
        </p:nvSpPr>
        <p:spPr>
          <a:xfrm>
            <a:off x="0" y="685800"/>
            <a:ext cx="9144000" cy="6172200"/>
          </a:xfrm>
        </p:spPr>
        <p:txBody>
          <a:bodyPr rtlCol="0">
            <a:normAutofit/>
          </a:bodyPr>
          <a:lstStyle/>
          <a:p>
            <a:pPr fontAlgn="auto">
              <a:spcAft>
                <a:spcPts val="0"/>
              </a:spcAft>
              <a:buFont typeface="Arial" pitchFamily="34" charset="0"/>
              <a:buNone/>
              <a:defRPr/>
            </a:pPr>
            <a:r>
              <a:rPr lang="en-US" u="sng" dirty="0" smtClean="0"/>
              <a:t>Math induction plus </a:t>
            </a:r>
            <a:r>
              <a:rPr lang="en-US" u="sng" dirty="0" smtClean="0">
                <a:solidFill>
                  <a:srgbClr val="FF0000"/>
                </a:solidFill>
              </a:rPr>
              <a:t>ISE</a:t>
            </a:r>
            <a:r>
              <a:rPr lang="en-US" u="sng" dirty="0" smtClean="0"/>
              <a:t> </a:t>
            </a:r>
          </a:p>
          <a:p>
            <a:pPr fontAlgn="auto">
              <a:spcAft>
                <a:spcPts val="0"/>
              </a:spcAft>
              <a:buFont typeface="Arial" pitchFamily="34" charset="0"/>
              <a:buNone/>
              <a:defRPr/>
            </a:pPr>
            <a:r>
              <a:rPr lang="en-US" dirty="0" smtClean="0"/>
              <a:t>Foundation for first 6 decades of CS</a:t>
            </a:r>
          </a:p>
          <a:p>
            <a:pPr fontAlgn="auto">
              <a:spcAft>
                <a:spcPts val="0"/>
              </a:spcAft>
              <a:buFont typeface="Arial" pitchFamily="34" charset="0"/>
              <a:buNone/>
              <a:defRPr/>
            </a:pPr>
            <a:endParaRPr lang="en-US" dirty="0" smtClean="0"/>
          </a:p>
          <a:p>
            <a:pPr fontAlgn="auto">
              <a:spcAft>
                <a:spcPts val="0"/>
              </a:spcAft>
              <a:buFont typeface="Arial" pitchFamily="34" charset="0"/>
              <a:buNone/>
              <a:defRPr/>
            </a:pPr>
            <a:r>
              <a:rPr lang="en-US" u="sng" dirty="0" smtClean="0"/>
              <a:t>Math induction plus </a:t>
            </a:r>
            <a:r>
              <a:rPr lang="en-US" u="sng" dirty="0" smtClean="0">
                <a:solidFill>
                  <a:srgbClr val="FF0000"/>
                </a:solidFill>
              </a:rPr>
              <a:t>ICE</a:t>
            </a:r>
          </a:p>
          <a:p>
            <a:pPr fontAlgn="auto">
              <a:spcAft>
                <a:spcPts val="0"/>
              </a:spcAft>
              <a:buFont typeface="Arial" pitchFamily="34" charset="0"/>
              <a:buNone/>
              <a:defRPr/>
            </a:pPr>
            <a:r>
              <a:rPr lang="en-US" dirty="0" smtClean="0"/>
              <a:t>Proposed foundation for future of CS</a:t>
            </a:r>
          </a:p>
          <a:p>
            <a:pPr fontAlgn="auto">
              <a:spcAft>
                <a:spcPts val="0"/>
              </a:spcAft>
              <a:buFont typeface="Arial" pitchFamily="34" charset="0"/>
              <a:buNone/>
              <a:defRPr/>
            </a:pPr>
            <a:endParaRPr lang="en-US" dirty="0" smtClean="0"/>
          </a:p>
          <a:p>
            <a:pPr fontAlgn="auto">
              <a:spcAft>
                <a:spcPts val="0"/>
              </a:spcAft>
              <a:defRPr/>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4" name="Rectangle 2"/>
          <p:cNvSpPr>
            <a:spLocks noGrp="1" noChangeArrowheads="1"/>
          </p:cNvSpPr>
          <p:nvPr>
            <p:ph type="title" idx="4294967295"/>
          </p:nvPr>
        </p:nvSpPr>
        <p:spPr>
          <a:xfrm>
            <a:off x="609600" y="457200"/>
            <a:ext cx="8229600" cy="685800"/>
          </a:xfrm>
        </p:spPr>
        <p:txBody>
          <a:bodyPr/>
          <a:lstStyle/>
          <a:p>
            <a:pPr eaLnBrk="1" hangingPunct="1"/>
            <a:r>
              <a:rPr lang="en-US" sz="4000" b="1" u="sng" dirty="0" smtClean="0"/>
              <a:t>Versus Serial &amp; Other Parallel  </a:t>
            </a:r>
            <a:br>
              <a:rPr lang="en-US" sz="4000" b="1" u="sng" dirty="0" smtClean="0"/>
            </a:br>
            <a:r>
              <a:rPr lang="en-US" sz="2800" b="1" u="sng" dirty="0" smtClean="0"/>
              <a:t>1</a:t>
            </a:r>
            <a:r>
              <a:rPr lang="en-US" sz="2800" b="1" u="sng" baseline="30000" dirty="0" smtClean="0"/>
              <a:t>st</a:t>
            </a:r>
            <a:r>
              <a:rPr lang="en-US" sz="2800" b="1" u="sng" dirty="0" smtClean="0"/>
              <a:t> Example: Exchange Problem</a:t>
            </a:r>
            <a:r>
              <a:rPr lang="en-US" sz="2800" dirty="0" smtClean="0"/>
              <a:t> </a:t>
            </a:r>
            <a:r>
              <a:rPr lang="en-US" sz="4000" dirty="0" smtClean="0"/>
              <a:t/>
            </a:r>
            <a:br>
              <a:rPr lang="en-US" sz="4000" dirty="0" smtClean="0"/>
            </a:br>
            <a:endParaRPr lang="en-US" sz="4000" dirty="0"/>
          </a:p>
        </p:txBody>
      </p:sp>
      <p:sp>
        <p:nvSpPr>
          <p:cNvPr id="3075" name="Rectangle 3"/>
          <p:cNvSpPr>
            <a:spLocks noGrp="1" noChangeArrowheads="1"/>
          </p:cNvSpPr>
          <p:nvPr>
            <p:ph type="body" idx="4294967295"/>
          </p:nvPr>
        </p:nvSpPr>
        <p:spPr>
          <a:xfrm>
            <a:off x="0" y="1143000"/>
            <a:ext cx="9144000" cy="5638800"/>
          </a:xfrm>
        </p:spPr>
        <p:txBody>
          <a:bodyPr/>
          <a:lstStyle/>
          <a:p>
            <a:pPr eaLnBrk="1" hangingPunct="1">
              <a:lnSpc>
                <a:spcPct val="80000"/>
              </a:lnSpc>
              <a:buFontTx/>
              <a:buNone/>
            </a:pPr>
            <a:r>
              <a:rPr lang="en-US" sz="2000" dirty="0" smtClean="0"/>
              <a:t>2 </a:t>
            </a:r>
            <a:r>
              <a:rPr lang="en-US" sz="2000" dirty="0"/>
              <a:t>Bins A and B.</a:t>
            </a:r>
            <a:r>
              <a:rPr lang="en-US" sz="2000" dirty="0" smtClean="0"/>
              <a:t> Exchange contents of </a:t>
            </a:r>
            <a:r>
              <a:rPr lang="en-US" sz="2000" dirty="0"/>
              <a:t>A and B. Ex. A=2,B=5</a:t>
            </a:r>
            <a:r>
              <a:rPr lang="en-US" sz="2000" dirty="0">
                <a:sym typeface="Wingdings" pitchFamily="-112" charset="2"/>
              </a:rPr>
              <a:t>A=5,B=2.</a:t>
            </a:r>
          </a:p>
          <a:p>
            <a:pPr eaLnBrk="1" hangingPunct="1">
              <a:lnSpc>
                <a:spcPct val="80000"/>
              </a:lnSpc>
              <a:buFontTx/>
              <a:buNone/>
            </a:pPr>
            <a:r>
              <a:rPr lang="en-US" sz="2000" u="sng" dirty="0">
                <a:sym typeface="Wingdings" pitchFamily="-112" charset="2"/>
              </a:rPr>
              <a:t>Algorithm (serial or parallel)</a:t>
            </a:r>
            <a:r>
              <a:rPr lang="en-US" sz="2000" dirty="0">
                <a:sym typeface="Wingdings" pitchFamily="-112" charset="2"/>
              </a:rPr>
              <a:t>: X:=A;A:=B;B:=X.     3 Ops. 3 Steps. Space 1</a:t>
            </a:r>
            <a:r>
              <a:rPr lang="en-US" sz="2000" dirty="0" smtClean="0">
                <a:sym typeface="Wingdings" pitchFamily="-112" charset="2"/>
              </a:rPr>
              <a:t>.</a:t>
            </a:r>
            <a:endParaRPr lang="en-US" sz="2000" dirty="0" smtClean="0"/>
          </a:p>
          <a:p>
            <a:pPr algn="ctr" eaLnBrk="1" hangingPunct="1">
              <a:lnSpc>
                <a:spcPct val="80000"/>
              </a:lnSpc>
              <a:buFontTx/>
              <a:buNone/>
            </a:pPr>
            <a:r>
              <a:rPr lang="en-US" sz="2800" b="1" u="sng" dirty="0"/>
              <a:t>Array Exchange Problem</a:t>
            </a:r>
            <a:r>
              <a:rPr lang="en-US" sz="2800" dirty="0"/>
              <a:t> </a:t>
            </a:r>
          </a:p>
          <a:p>
            <a:pPr eaLnBrk="1" hangingPunct="1">
              <a:lnSpc>
                <a:spcPct val="80000"/>
              </a:lnSpc>
              <a:buFontTx/>
              <a:buNone/>
            </a:pPr>
            <a:r>
              <a:rPr lang="en-US" sz="2000" dirty="0"/>
              <a:t>2n bins A[1..n], B[1..n]. Replace A(i) and B(i), i=1..n.</a:t>
            </a:r>
          </a:p>
          <a:p>
            <a:pPr eaLnBrk="1" hangingPunct="1">
              <a:lnSpc>
                <a:spcPct val="80000"/>
              </a:lnSpc>
              <a:buNone/>
            </a:pPr>
            <a:r>
              <a:rPr lang="en-US" sz="2000" u="sng" dirty="0"/>
              <a:t>Serial Alg</a:t>
            </a:r>
            <a:r>
              <a:rPr lang="en-US" sz="2000" dirty="0"/>
              <a:t>:</a:t>
            </a:r>
            <a:r>
              <a:rPr lang="en-US" sz="2000" dirty="0" smtClean="0"/>
              <a:t> For </a:t>
            </a:r>
            <a:r>
              <a:rPr lang="en-US" sz="2000" dirty="0"/>
              <a:t>i=1 to n </a:t>
            </a:r>
            <a:r>
              <a:rPr lang="en-US" sz="2000" dirty="0" smtClean="0"/>
              <a:t>do </a:t>
            </a:r>
            <a:r>
              <a:rPr lang="en-US" sz="2000" dirty="0" smtClean="0">
                <a:sym typeface="Wingdings" pitchFamily="-112" charset="2"/>
              </a:rPr>
              <a:t>/*serial exchange through </a:t>
            </a:r>
            <a:r>
              <a:rPr lang="en-US" sz="2000" b="1" i="1" dirty="0" smtClean="0">
                <a:sym typeface="Wingdings" pitchFamily="-112" charset="2"/>
              </a:rPr>
              <a:t>eye-of-a-needle</a:t>
            </a:r>
            <a:endParaRPr lang="en-US" sz="2000" dirty="0" smtClean="0"/>
          </a:p>
          <a:p>
            <a:pPr eaLnBrk="1" hangingPunct="1">
              <a:lnSpc>
                <a:spcPct val="80000"/>
              </a:lnSpc>
              <a:buFontTx/>
              <a:buNone/>
            </a:pPr>
            <a:r>
              <a:rPr lang="en-US" sz="2000" dirty="0"/>
              <a:t>                  </a:t>
            </a:r>
            <a:r>
              <a:rPr lang="en-US" sz="2000" dirty="0" smtClean="0"/>
              <a:t> </a:t>
            </a:r>
            <a:r>
              <a:rPr lang="en-US" sz="2000" dirty="0" smtClean="0">
                <a:sym typeface="Wingdings" pitchFamily="-112" charset="2"/>
              </a:rPr>
              <a:t>X</a:t>
            </a:r>
            <a:r>
              <a:rPr lang="en-US" sz="2000" dirty="0">
                <a:sym typeface="Wingdings" pitchFamily="-112" charset="2"/>
              </a:rPr>
              <a:t>:=A(i);A(i):=B(i);B(i):</a:t>
            </a:r>
            <a:r>
              <a:rPr lang="en-US" sz="2000" dirty="0" smtClean="0">
                <a:sym typeface="Wingdings" pitchFamily="-112" charset="2"/>
              </a:rPr>
              <a:t>=X   </a:t>
            </a:r>
          </a:p>
          <a:p>
            <a:pPr eaLnBrk="1" hangingPunct="1">
              <a:lnSpc>
                <a:spcPct val="80000"/>
              </a:lnSpc>
              <a:buFontTx/>
              <a:buNone/>
            </a:pPr>
            <a:r>
              <a:rPr lang="en-US" sz="2000" dirty="0" smtClean="0">
                <a:sym typeface="Wingdings" pitchFamily="-112" charset="2"/>
              </a:rPr>
              <a:t>3n </a:t>
            </a:r>
            <a:r>
              <a:rPr lang="en-US" sz="2000" dirty="0">
                <a:sym typeface="Wingdings" pitchFamily="-112" charset="2"/>
              </a:rPr>
              <a:t>Ops. 3n Steps. Space 1</a:t>
            </a:r>
          </a:p>
          <a:p>
            <a:pPr eaLnBrk="1" hangingPunct="1">
              <a:lnSpc>
                <a:spcPct val="80000"/>
              </a:lnSpc>
              <a:buFontTx/>
              <a:buNone/>
            </a:pPr>
            <a:r>
              <a:rPr lang="en-US" sz="2000" u="sng" dirty="0">
                <a:sym typeface="Wingdings" pitchFamily="-112" charset="2"/>
              </a:rPr>
              <a:t>Parallel Alg</a:t>
            </a:r>
            <a:r>
              <a:rPr lang="en-US" sz="2000" dirty="0">
                <a:sym typeface="Wingdings" pitchFamily="-112" charset="2"/>
              </a:rPr>
              <a:t>:  </a:t>
            </a:r>
            <a:r>
              <a:rPr lang="en-US" sz="2000" dirty="0"/>
              <a:t>For i=1 to n </a:t>
            </a:r>
            <a:r>
              <a:rPr lang="en-US" sz="2000" dirty="0" smtClean="0"/>
              <a:t>pardo </a:t>
            </a:r>
            <a:r>
              <a:rPr lang="en-US" sz="2000" dirty="0" smtClean="0">
                <a:sym typeface="Wingdings" pitchFamily="-112" charset="2"/>
              </a:rPr>
              <a:t>/*2-bin exchange in parallel</a:t>
            </a:r>
            <a:endParaRPr lang="en-US" sz="2000" dirty="0" smtClean="0"/>
          </a:p>
          <a:p>
            <a:pPr eaLnBrk="1" hangingPunct="1">
              <a:lnSpc>
                <a:spcPct val="80000"/>
              </a:lnSpc>
              <a:buFontTx/>
              <a:buNone/>
            </a:pPr>
            <a:r>
              <a:rPr lang="en-US" sz="2000" dirty="0"/>
              <a:t>                    </a:t>
            </a:r>
            <a:r>
              <a:rPr lang="en-US" sz="2000" dirty="0">
                <a:sym typeface="Wingdings" pitchFamily="-112" charset="2"/>
              </a:rPr>
              <a:t>X(i):=A(i);A(i):=B(i);B(i):=X(i</a:t>
            </a:r>
            <a:r>
              <a:rPr lang="en-US" sz="2000" dirty="0" smtClean="0">
                <a:sym typeface="Wingdings" pitchFamily="-112" charset="2"/>
              </a:rPr>
              <a:t>)</a:t>
            </a:r>
          </a:p>
          <a:p>
            <a:pPr eaLnBrk="1" hangingPunct="1">
              <a:lnSpc>
                <a:spcPct val="80000"/>
              </a:lnSpc>
              <a:buFontTx/>
              <a:buNone/>
            </a:pPr>
            <a:r>
              <a:rPr lang="en-US" sz="2000" dirty="0">
                <a:sym typeface="Wingdings" pitchFamily="-112" charset="2"/>
              </a:rPr>
              <a:t> 3n Ops. 3 Steps. Space </a:t>
            </a:r>
            <a:r>
              <a:rPr lang="en-US" sz="2000" dirty="0" smtClean="0">
                <a:sym typeface="Wingdings" pitchFamily="-112" charset="2"/>
              </a:rPr>
              <a:t>n</a:t>
            </a:r>
            <a:endParaRPr lang="en-US" sz="2000" u="sng" dirty="0" smtClean="0">
              <a:sym typeface="Wingdings" pitchFamily="-112" charset="2"/>
            </a:endParaRPr>
          </a:p>
          <a:p>
            <a:pPr algn="ctr" eaLnBrk="1" hangingPunct="1">
              <a:lnSpc>
                <a:spcPct val="80000"/>
              </a:lnSpc>
              <a:buFontTx/>
              <a:buNone/>
            </a:pPr>
            <a:r>
              <a:rPr lang="en-US" sz="2800" b="1" u="sng" dirty="0">
                <a:sym typeface="Wingdings" pitchFamily="-112" charset="2"/>
              </a:rPr>
              <a:t>Discussion</a:t>
            </a:r>
            <a:r>
              <a:rPr lang="en-US" sz="2000" dirty="0" smtClean="0">
                <a:sym typeface="Wingdings" pitchFamily="-112" charset="2"/>
              </a:rPr>
              <a:t> </a:t>
            </a:r>
          </a:p>
          <a:p>
            <a:pPr eaLnBrk="1" hangingPunct="1">
              <a:lnSpc>
                <a:spcPct val="80000"/>
              </a:lnSpc>
              <a:buFontTx/>
              <a:buChar char="-"/>
            </a:pPr>
            <a:r>
              <a:rPr lang="en-US" sz="2000" dirty="0" smtClean="0">
                <a:sym typeface="Wingdings" pitchFamily="-112" charset="2"/>
              </a:rPr>
              <a:t>Parallelism tends </a:t>
            </a:r>
            <a:r>
              <a:rPr lang="en-US" sz="2000" dirty="0">
                <a:sym typeface="Wingdings" pitchFamily="-112" charset="2"/>
              </a:rPr>
              <a:t>to require some extra </a:t>
            </a:r>
            <a:r>
              <a:rPr lang="en-US" sz="2000" dirty="0" smtClean="0">
                <a:sym typeface="Wingdings" pitchFamily="-112" charset="2"/>
              </a:rPr>
              <a:t>space</a:t>
            </a:r>
          </a:p>
          <a:p>
            <a:pPr eaLnBrk="1" hangingPunct="1">
              <a:lnSpc>
                <a:spcPct val="80000"/>
              </a:lnSpc>
              <a:buFontTx/>
              <a:buChar char="-"/>
            </a:pPr>
            <a:r>
              <a:rPr lang="en-US" sz="2000" dirty="0">
                <a:sym typeface="Wingdings" pitchFamily="-112" charset="2"/>
              </a:rPr>
              <a:t>Par Alg clearly faster than Serial Alg.</a:t>
            </a:r>
            <a:endParaRPr lang="en-US" sz="2000" dirty="0" smtClean="0">
              <a:sym typeface="Wingdings" pitchFamily="-112" charset="2"/>
            </a:endParaRPr>
          </a:p>
          <a:p>
            <a:pPr eaLnBrk="1" hangingPunct="1">
              <a:lnSpc>
                <a:spcPct val="80000"/>
              </a:lnSpc>
              <a:buFontTx/>
              <a:buChar char="-"/>
            </a:pPr>
            <a:r>
              <a:rPr lang="en-US" sz="2000" dirty="0" smtClean="0"/>
              <a:t>What is “simpler” and “more natural”: serial or parallel?</a:t>
            </a:r>
            <a:r>
              <a:rPr lang="en-US" sz="2000" dirty="0" smtClean="0">
                <a:sym typeface="Wingdings" pitchFamily="-112" charset="2"/>
              </a:rPr>
              <a:t> </a:t>
            </a:r>
          </a:p>
          <a:p>
            <a:pPr eaLnBrk="1" hangingPunct="1">
              <a:lnSpc>
                <a:spcPct val="80000"/>
              </a:lnSpc>
              <a:buFontTx/>
              <a:buNone/>
            </a:pPr>
            <a:r>
              <a:rPr lang="en-US" sz="2000" dirty="0">
                <a:sym typeface="Wingdings" pitchFamily="-112" charset="2"/>
              </a:rPr>
              <a:t>Small sample of people:</a:t>
            </a:r>
            <a:r>
              <a:rPr lang="en-US" sz="2000" dirty="0" smtClean="0">
                <a:sym typeface="Wingdings" pitchFamily="-112" charset="2"/>
              </a:rPr>
              <a:t> serial, </a:t>
            </a:r>
            <a:r>
              <a:rPr lang="en-US" sz="2000" dirty="0">
                <a:sym typeface="Wingdings" pitchFamily="-112" charset="2"/>
              </a:rPr>
              <a:t>but only if you .. majored in </a:t>
            </a:r>
            <a:r>
              <a:rPr lang="en-US" sz="2000" dirty="0" smtClean="0">
                <a:sym typeface="Wingdings" pitchFamily="-112" charset="2"/>
              </a:rPr>
              <a:t>CS</a:t>
            </a:r>
          </a:p>
          <a:p>
            <a:pPr eaLnBrk="1" hangingPunct="1">
              <a:lnSpc>
                <a:spcPct val="80000"/>
              </a:lnSpc>
              <a:buFontTx/>
              <a:buNone/>
            </a:pPr>
            <a:endParaRPr lang="en-US" sz="1800" b="1" u="sng" dirty="0" smtClean="0">
              <a:sym typeface="Wingdings" pitchFamily="-112" charset="2"/>
            </a:endParaRPr>
          </a:p>
          <a:p>
            <a:pPr eaLnBrk="1" hangingPunct="1">
              <a:lnSpc>
                <a:spcPct val="80000"/>
              </a:lnSpc>
              <a:buFontTx/>
              <a:buNone/>
            </a:pPr>
            <a:r>
              <a:rPr lang="en-US" sz="1800" b="1" u="sng" dirty="0" smtClean="0">
                <a:sym typeface="Wingdings" pitchFamily="-112" charset="2"/>
              </a:rPr>
              <a:t>Eye</a:t>
            </a:r>
            <a:r>
              <a:rPr lang="en-US" sz="1800" b="1" u="sng" dirty="0">
                <a:sym typeface="Wingdings" pitchFamily="-112" charset="2"/>
              </a:rPr>
              <a:t>-of-a-needle</a:t>
            </a:r>
            <a:r>
              <a:rPr lang="en-US" sz="1800" b="1" dirty="0">
                <a:sym typeface="Wingdings" pitchFamily="-112" charset="2"/>
              </a:rPr>
              <a:t>: metaphor for the von-Neumann mental &amp; operational bottleneck</a:t>
            </a:r>
            <a:endParaRPr lang="en-US" sz="1800" b="1" dirty="0" smtClean="0">
              <a:sym typeface="Wingdings" pitchFamily="-112" charset="2"/>
            </a:endParaRPr>
          </a:p>
          <a:p>
            <a:pPr eaLnBrk="1" hangingPunct="1">
              <a:lnSpc>
                <a:spcPct val="80000"/>
              </a:lnSpc>
              <a:buFontTx/>
              <a:buNone/>
            </a:pPr>
            <a:r>
              <a:rPr lang="en-US" sz="1800" dirty="0" smtClean="0">
                <a:sym typeface="Wingdings" pitchFamily="-112" charset="2"/>
              </a:rPr>
              <a:t>Reflects </a:t>
            </a:r>
            <a:r>
              <a:rPr lang="en-US" sz="1800" dirty="0">
                <a:sym typeface="Wingdings" pitchFamily="-112" charset="2"/>
              </a:rPr>
              <a:t>extreme scarcity of </a:t>
            </a:r>
            <a:r>
              <a:rPr lang="en-US" sz="1800" dirty="0" smtClean="0">
                <a:sym typeface="Wingdings" pitchFamily="-112" charset="2"/>
              </a:rPr>
              <a:t>HW. </a:t>
            </a:r>
            <a:r>
              <a:rPr lang="en-US" sz="1800" dirty="0">
                <a:sym typeface="Wingdings" pitchFamily="-112" charset="2"/>
              </a:rPr>
              <a:t>Less acute </a:t>
            </a:r>
            <a:r>
              <a:rPr lang="en-US" sz="1800" dirty="0" smtClean="0">
                <a:sym typeface="Wingdings" pitchFamily="-112" charset="2"/>
              </a:rPr>
              <a:t>now</a:t>
            </a:r>
            <a:endParaRPr lang="en-US" sz="1800" b="1" dirty="0">
              <a:sym typeface="Wingdings" pitchFamily="-112"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Rectangle 3"/>
          <p:cNvSpPr>
            <a:spLocks noGrp="1" noChangeArrowheads="1"/>
          </p:cNvSpPr>
          <p:nvPr>
            <p:ph type="body" sz="half" idx="4294967295"/>
          </p:nvPr>
        </p:nvSpPr>
        <p:spPr>
          <a:xfrm>
            <a:off x="0" y="914400"/>
            <a:ext cx="4572000" cy="5562600"/>
          </a:xfrm>
        </p:spPr>
        <p:txBody>
          <a:bodyPr/>
          <a:lstStyle/>
          <a:p>
            <a:pPr eaLnBrk="1" hangingPunct="1">
              <a:lnSpc>
                <a:spcPct val="80000"/>
              </a:lnSpc>
              <a:buFontTx/>
              <a:buNone/>
            </a:pPr>
            <a:r>
              <a:rPr lang="en-US" sz="2000" dirty="0"/>
              <a:t>Input: (i) All world airports. </a:t>
            </a:r>
          </a:p>
          <a:p>
            <a:pPr eaLnBrk="1" hangingPunct="1">
              <a:lnSpc>
                <a:spcPct val="80000"/>
              </a:lnSpc>
              <a:buFontTx/>
              <a:buNone/>
            </a:pPr>
            <a:r>
              <a:rPr lang="en-US" sz="2000" dirty="0"/>
              <a:t>(ii) For each, all</a:t>
            </a:r>
            <a:r>
              <a:rPr lang="en-US" sz="2000" dirty="0" smtClean="0"/>
              <a:t> its </a:t>
            </a:r>
            <a:r>
              <a:rPr lang="en-US" sz="2000" dirty="0"/>
              <a:t>non-stop </a:t>
            </a:r>
            <a:r>
              <a:rPr lang="en-US" sz="2000" dirty="0" smtClean="0"/>
              <a:t>flights.</a:t>
            </a:r>
            <a:endParaRPr lang="en-US" sz="2000" dirty="0"/>
          </a:p>
          <a:p>
            <a:pPr eaLnBrk="1" hangingPunct="1">
              <a:lnSpc>
                <a:spcPct val="80000"/>
              </a:lnSpc>
              <a:buFontTx/>
              <a:buNone/>
            </a:pPr>
            <a:r>
              <a:rPr lang="en-US" sz="2000" dirty="0"/>
              <a:t>Find: smallest number of flights from DCA to every other airport.</a:t>
            </a:r>
          </a:p>
          <a:p>
            <a:pPr eaLnBrk="1" hangingPunct="1">
              <a:lnSpc>
                <a:spcPct val="80000"/>
              </a:lnSpc>
              <a:buFontTx/>
              <a:buNone/>
            </a:pPr>
            <a:endParaRPr lang="en-US" sz="2000" b="1" dirty="0"/>
          </a:p>
          <a:p>
            <a:pPr eaLnBrk="1" hangingPunct="1">
              <a:lnSpc>
                <a:spcPct val="80000"/>
              </a:lnSpc>
              <a:buFontTx/>
              <a:buNone/>
            </a:pPr>
            <a:r>
              <a:rPr lang="en-US" sz="2000" b="1" u="sng" dirty="0"/>
              <a:t>Basic (actually parallel) algorithm</a:t>
            </a:r>
            <a:r>
              <a:rPr lang="en-US" sz="2000" dirty="0"/>
              <a:t> </a:t>
            </a:r>
          </a:p>
          <a:p>
            <a:pPr eaLnBrk="1" hangingPunct="1">
              <a:lnSpc>
                <a:spcPct val="80000"/>
              </a:lnSpc>
              <a:buFontTx/>
              <a:buNone/>
            </a:pPr>
            <a:r>
              <a:rPr lang="en-US" sz="2000" dirty="0"/>
              <a:t>Step i: </a:t>
            </a:r>
          </a:p>
          <a:p>
            <a:pPr eaLnBrk="1" hangingPunct="1">
              <a:lnSpc>
                <a:spcPct val="80000"/>
              </a:lnSpc>
              <a:buFontTx/>
              <a:buNone/>
            </a:pPr>
            <a:r>
              <a:rPr lang="en-US" sz="2000" i="1" u="sng" dirty="0"/>
              <a:t>For all</a:t>
            </a:r>
            <a:r>
              <a:rPr lang="en-US" sz="2000" dirty="0"/>
              <a:t> airports requiring i-1flights</a:t>
            </a:r>
          </a:p>
          <a:p>
            <a:pPr eaLnBrk="1" hangingPunct="1">
              <a:lnSpc>
                <a:spcPct val="80000"/>
              </a:lnSpc>
              <a:buFontTx/>
              <a:buNone/>
            </a:pPr>
            <a:r>
              <a:rPr lang="en-US" sz="2000" dirty="0"/>
              <a:t>  </a:t>
            </a:r>
            <a:r>
              <a:rPr lang="en-US" sz="2000" i="1" u="sng" dirty="0"/>
              <a:t>For all</a:t>
            </a:r>
            <a:r>
              <a:rPr lang="en-US" sz="2000" dirty="0"/>
              <a:t> its outgoing flights</a:t>
            </a:r>
          </a:p>
          <a:p>
            <a:pPr eaLnBrk="1" hangingPunct="1">
              <a:lnSpc>
                <a:spcPct val="80000"/>
              </a:lnSpc>
              <a:buFontTx/>
              <a:buNone/>
            </a:pPr>
            <a:r>
              <a:rPr lang="en-US" sz="2000" dirty="0"/>
              <a:t>    Mark (concurrently!) all “yet unvisited” airports as requiring i flights (</a:t>
            </a:r>
            <a:r>
              <a:rPr lang="en-US" sz="2000" dirty="0">
                <a:solidFill>
                  <a:schemeClr val="folHlink"/>
                </a:solidFill>
              </a:rPr>
              <a:t>note nesting</a:t>
            </a:r>
            <a:r>
              <a:rPr lang="en-US" sz="2000" dirty="0"/>
              <a:t>)</a:t>
            </a:r>
          </a:p>
          <a:p>
            <a:pPr eaLnBrk="1" hangingPunct="1">
              <a:lnSpc>
                <a:spcPct val="80000"/>
              </a:lnSpc>
              <a:buFontTx/>
              <a:buNone/>
            </a:pPr>
            <a:endParaRPr lang="en-US" sz="2000" b="1" dirty="0"/>
          </a:p>
          <a:p>
            <a:pPr eaLnBrk="1" hangingPunct="1">
              <a:lnSpc>
                <a:spcPct val="80000"/>
              </a:lnSpc>
              <a:buFontTx/>
              <a:buNone/>
            </a:pPr>
            <a:r>
              <a:rPr lang="en-US" sz="2000" b="1" dirty="0"/>
              <a:t>Serial</a:t>
            </a:r>
            <a:r>
              <a:rPr lang="en-US" sz="2000" dirty="0"/>
              <a:t>: forces </a:t>
            </a:r>
            <a:r>
              <a:rPr lang="en-US" sz="2000" dirty="0">
                <a:solidFill>
                  <a:srgbClr val="FF0000"/>
                </a:solidFill>
              </a:rPr>
              <a:t>eye-of-a-needle queue</a:t>
            </a:r>
            <a:r>
              <a:rPr lang="en-US" sz="2000" dirty="0"/>
              <a:t>; need to prove that still the same as the parallel version.</a:t>
            </a:r>
          </a:p>
          <a:p>
            <a:pPr eaLnBrk="1" hangingPunct="1">
              <a:lnSpc>
                <a:spcPct val="80000"/>
              </a:lnSpc>
              <a:buFontTx/>
              <a:buNone/>
            </a:pPr>
            <a:r>
              <a:rPr lang="en-US" sz="2000" dirty="0"/>
              <a:t>O(T) time; T – total # of flights </a:t>
            </a:r>
          </a:p>
        </p:txBody>
      </p:sp>
      <p:sp>
        <p:nvSpPr>
          <p:cNvPr id="4099" name="Rectangle 4"/>
          <p:cNvSpPr>
            <a:spLocks noGrp="1" noChangeArrowheads="1"/>
          </p:cNvSpPr>
          <p:nvPr>
            <p:ph type="body" sz="half" idx="4294967295"/>
          </p:nvPr>
        </p:nvSpPr>
        <p:spPr>
          <a:xfrm>
            <a:off x="4419600" y="685800"/>
            <a:ext cx="4724400" cy="5638800"/>
          </a:xfrm>
        </p:spPr>
        <p:txBody>
          <a:bodyPr/>
          <a:lstStyle/>
          <a:p>
            <a:pPr eaLnBrk="1" hangingPunct="1">
              <a:lnSpc>
                <a:spcPct val="80000"/>
              </a:lnSpc>
              <a:buFontTx/>
              <a:buNone/>
            </a:pPr>
            <a:r>
              <a:rPr lang="en-US" sz="2000" b="1" dirty="0"/>
              <a:t>Parallel</a:t>
            </a:r>
            <a:r>
              <a:rPr lang="en-US" sz="2000" dirty="0"/>
              <a:t>: parallel data-structures. </a:t>
            </a:r>
          </a:p>
          <a:p>
            <a:pPr eaLnBrk="1" hangingPunct="1">
              <a:lnSpc>
                <a:spcPct val="80000"/>
              </a:lnSpc>
              <a:buFontTx/>
              <a:buNone/>
            </a:pPr>
            <a:r>
              <a:rPr lang="en-US" sz="2000" dirty="0"/>
              <a:t>Inherent serialization: S. </a:t>
            </a:r>
          </a:p>
          <a:p>
            <a:pPr eaLnBrk="1" hangingPunct="1">
              <a:lnSpc>
                <a:spcPct val="80000"/>
              </a:lnSpc>
              <a:buFontTx/>
              <a:buNone/>
            </a:pPr>
            <a:endParaRPr lang="en-US" sz="2000" b="1" dirty="0">
              <a:solidFill>
                <a:srgbClr val="FF7C80"/>
              </a:solidFill>
            </a:endParaRPr>
          </a:p>
          <a:p>
            <a:pPr eaLnBrk="1" hangingPunct="1">
              <a:lnSpc>
                <a:spcPct val="80000"/>
              </a:lnSpc>
              <a:buFontTx/>
              <a:buNone/>
            </a:pPr>
            <a:r>
              <a:rPr lang="en-US" sz="2000" b="1" dirty="0">
                <a:solidFill>
                  <a:srgbClr val="FF0000"/>
                </a:solidFill>
              </a:rPr>
              <a:t>Gain relative to serial</a:t>
            </a:r>
            <a:r>
              <a:rPr lang="en-US" sz="2000" dirty="0">
                <a:solidFill>
                  <a:srgbClr val="FF0000"/>
                </a:solidFill>
              </a:rPr>
              <a:t>: (first cut) ~T/S!</a:t>
            </a:r>
          </a:p>
          <a:p>
            <a:pPr eaLnBrk="1" hangingPunct="1">
              <a:lnSpc>
                <a:spcPct val="80000"/>
              </a:lnSpc>
              <a:buFontTx/>
              <a:buNone/>
            </a:pPr>
            <a:r>
              <a:rPr lang="en-US" sz="2000" dirty="0"/>
              <a:t>Decisive also relative to coarse-grained parallelism.</a:t>
            </a:r>
          </a:p>
          <a:p>
            <a:pPr eaLnBrk="1" hangingPunct="1">
              <a:lnSpc>
                <a:spcPct val="80000"/>
              </a:lnSpc>
              <a:buFontTx/>
              <a:buNone/>
            </a:pPr>
            <a:endParaRPr lang="en-US" sz="2000" dirty="0">
              <a:solidFill>
                <a:srgbClr val="FF7C80"/>
              </a:solidFill>
            </a:endParaRPr>
          </a:p>
          <a:p>
            <a:pPr eaLnBrk="1" hangingPunct="1">
              <a:lnSpc>
                <a:spcPct val="80000"/>
              </a:lnSpc>
              <a:buFontTx/>
              <a:buNone/>
            </a:pPr>
            <a:r>
              <a:rPr lang="en-US" sz="2000" dirty="0"/>
              <a:t>Note: (i) “Concurrently” as in natural BFS: only change to serial algorithm</a:t>
            </a:r>
          </a:p>
          <a:p>
            <a:pPr eaLnBrk="1" hangingPunct="1">
              <a:lnSpc>
                <a:spcPct val="80000"/>
              </a:lnSpc>
              <a:buFontTx/>
              <a:buNone/>
            </a:pPr>
            <a:r>
              <a:rPr lang="en-US" sz="2000" dirty="0"/>
              <a:t>(ii) </a:t>
            </a:r>
            <a:r>
              <a:rPr lang="en-US" sz="2000" dirty="0">
                <a:solidFill>
                  <a:srgbClr val="FF0000"/>
                </a:solidFill>
              </a:rPr>
              <a:t>No “decomposition”/”partition”</a:t>
            </a:r>
            <a:endParaRPr lang="en-US" sz="2000" dirty="0" smtClean="0">
              <a:solidFill>
                <a:srgbClr val="FF0000"/>
              </a:solidFill>
            </a:endParaRPr>
          </a:p>
          <a:p>
            <a:pPr eaLnBrk="1" hangingPunct="1">
              <a:lnSpc>
                <a:spcPct val="80000"/>
              </a:lnSpc>
              <a:buFontTx/>
              <a:buNone/>
            </a:pPr>
            <a:r>
              <a:rPr lang="en-US" sz="2000" dirty="0" smtClean="0">
                <a:sym typeface="Wingdings" pitchFamily="2" charset="2"/>
              </a:rPr>
              <a:t></a:t>
            </a:r>
            <a:r>
              <a:rPr lang="en-US" sz="2000" dirty="0" smtClean="0"/>
              <a:t> Speed-up wrt GPU: same-silicon area for highly parallel input </a:t>
            </a:r>
            <a:r>
              <a:rPr lang="en-US" sz="2000" dirty="0" smtClean="0">
                <a:solidFill>
                  <a:srgbClr val="FF0000"/>
                </a:solidFill>
              </a:rPr>
              <a:t>5.4X!</a:t>
            </a:r>
          </a:p>
          <a:p>
            <a:pPr eaLnBrk="1" hangingPunct="1">
              <a:lnSpc>
                <a:spcPct val="80000"/>
              </a:lnSpc>
              <a:buFontTx/>
              <a:buNone/>
            </a:pPr>
            <a:r>
              <a:rPr lang="en-US" sz="2000" dirty="0" smtClean="0"/>
              <a:t> (iii) But, SMALL CONFIG on 20-way parallel input: </a:t>
            </a:r>
            <a:r>
              <a:rPr lang="en-US" sz="2000" dirty="0" smtClean="0">
                <a:solidFill>
                  <a:srgbClr val="FF0000"/>
                </a:solidFill>
              </a:rPr>
              <a:t>109X wrt same GPU</a:t>
            </a:r>
          </a:p>
          <a:p>
            <a:pPr eaLnBrk="1" hangingPunct="1">
              <a:lnSpc>
                <a:spcPct val="80000"/>
              </a:lnSpc>
              <a:buFontTx/>
              <a:buNone/>
            </a:pPr>
            <a:endParaRPr lang="en-US" sz="2000" dirty="0" smtClean="0">
              <a:solidFill>
                <a:srgbClr val="FF0000"/>
              </a:solidFill>
            </a:endParaRPr>
          </a:p>
          <a:p>
            <a:pPr eaLnBrk="1" hangingPunct="1">
              <a:lnSpc>
                <a:spcPct val="80000"/>
              </a:lnSpc>
              <a:buFontTx/>
              <a:buNone/>
            </a:pPr>
            <a:r>
              <a:rPr lang="en-US" sz="2000" u="sng" dirty="0" smtClean="0">
                <a:solidFill>
                  <a:srgbClr val="FF0000"/>
                </a:solidFill>
              </a:rPr>
              <a:t>Mental effort of PRAM-like programming</a:t>
            </a:r>
          </a:p>
          <a:p>
            <a:pPr eaLnBrk="1" hangingPunct="1">
              <a:lnSpc>
                <a:spcPct val="80000"/>
              </a:lnSpc>
              <a:buFontTx/>
              <a:buNone/>
            </a:pPr>
            <a:r>
              <a:rPr lang="en-US" sz="2000" dirty="0" smtClean="0">
                <a:solidFill>
                  <a:srgbClr val="FF0000"/>
                </a:solidFill>
              </a:rPr>
              <a:t>1. sometimes easier than serial </a:t>
            </a:r>
          </a:p>
          <a:p>
            <a:pPr eaLnBrk="1" hangingPunct="1">
              <a:lnSpc>
                <a:spcPct val="80000"/>
              </a:lnSpc>
              <a:buFontTx/>
              <a:buNone/>
            </a:pPr>
            <a:r>
              <a:rPr lang="en-US" sz="2000" dirty="0" smtClean="0">
                <a:solidFill>
                  <a:srgbClr val="FF0000"/>
                </a:solidFill>
              </a:rPr>
              <a:t>2. considerably easier than for any parallel computer currently sold. Understanding falls within the common denominator of other approaches.</a:t>
            </a:r>
          </a:p>
          <a:p>
            <a:pPr eaLnBrk="1" hangingPunct="1">
              <a:lnSpc>
                <a:spcPct val="80000"/>
              </a:lnSpc>
              <a:buFontTx/>
              <a:buNone/>
            </a:pPr>
            <a:endParaRPr lang="en-US" sz="2000" dirty="0" smtClean="0">
              <a:solidFill>
                <a:srgbClr val="FF0000"/>
              </a:solidFill>
            </a:endParaRPr>
          </a:p>
          <a:p>
            <a:pPr eaLnBrk="1" hangingPunct="1">
              <a:lnSpc>
                <a:spcPct val="80000"/>
              </a:lnSpc>
              <a:buFontTx/>
              <a:buNone/>
            </a:pPr>
            <a:endParaRPr lang="en-US" sz="2400" dirty="0">
              <a:solidFill>
                <a:srgbClr val="FF0000"/>
              </a:solidFill>
            </a:endParaRPr>
          </a:p>
        </p:txBody>
      </p:sp>
      <p:sp>
        <p:nvSpPr>
          <p:cNvPr id="4100" name="Text Box 6"/>
          <p:cNvSpPr txBox="1">
            <a:spLocks noChangeArrowheads="1"/>
          </p:cNvSpPr>
          <p:nvPr/>
        </p:nvSpPr>
        <p:spPr bwMode="auto">
          <a:xfrm>
            <a:off x="152400" y="0"/>
            <a:ext cx="8686800" cy="641350"/>
          </a:xfrm>
          <a:prstGeom prst="rect">
            <a:avLst/>
          </a:prstGeom>
          <a:noFill/>
          <a:ln w="9525">
            <a:noFill/>
            <a:miter lim="800000"/>
            <a:headEnd/>
            <a:tailEnd/>
          </a:ln>
        </p:spPr>
        <p:txBody>
          <a:bodyPr>
            <a:prstTxWarp prst="textNoShape">
              <a:avLst/>
            </a:prstTxWarp>
            <a:spAutoFit/>
          </a:bodyPr>
          <a:lstStyle/>
          <a:p>
            <a:pPr algn="ctr" eaLnBrk="1" hangingPunct="1"/>
            <a:r>
              <a:rPr lang="en-US" sz="3600" dirty="0" smtClean="0">
                <a:solidFill>
                  <a:schemeClr val="hlink"/>
                </a:solidFill>
                <a:latin typeface="Times New Roman" pitchFamily="-112" charset="0"/>
                <a:ea typeface="Times New Roman" pitchFamily="-112" charset="0"/>
                <a:cs typeface="Times New Roman" pitchFamily="-112" charset="0"/>
              </a:rPr>
              <a:t>2</a:t>
            </a:r>
            <a:r>
              <a:rPr lang="en-US" sz="3600" baseline="30000" dirty="0" smtClean="0">
                <a:solidFill>
                  <a:schemeClr val="hlink"/>
                </a:solidFill>
                <a:latin typeface="Times New Roman" pitchFamily="-112" charset="0"/>
                <a:ea typeface="Times New Roman" pitchFamily="-112" charset="0"/>
                <a:cs typeface="Times New Roman" pitchFamily="-112" charset="0"/>
              </a:rPr>
              <a:t>nd</a:t>
            </a:r>
            <a:r>
              <a:rPr lang="en-US" sz="3600" dirty="0" smtClean="0">
                <a:solidFill>
                  <a:schemeClr val="hlink"/>
                </a:solidFill>
                <a:latin typeface="Times New Roman" pitchFamily="-112" charset="0"/>
                <a:ea typeface="Times New Roman" pitchFamily="-112" charset="0"/>
                <a:cs typeface="Times New Roman" pitchFamily="-112" charset="0"/>
              </a:rPr>
              <a:t> Example </a:t>
            </a:r>
            <a:r>
              <a:rPr lang="en-US" sz="3600" dirty="0">
                <a:solidFill>
                  <a:schemeClr val="hlink"/>
                </a:solidFill>
                <a:latin typeface="Times New Roman" pitchFamily="-112" charset="0"/>
                <a:ea typeface="Times New Roman" pitchFamily="-112" charset="0"/>
                <a:cs typeface="Times New Roman" pitchFamily="-112" charset="0"/>
              </a:rPr>
              <a:t>of PRAM-like Algorithm</a:t>
            </a:r>
          </a:p>
        </p:txBody>
      </p:sp>
      <p:sp>
        <p:nvSpPr>
          <p:cNvPr id="4101" name="Line 7"/>
          <p:cNvSpPr>
            <a:spLocks noChangeShapeType="1"/>
          </p:cNvSpPr>
          <p:nvPr/>
        </p:nvSpPr>
        <p:spPr bwMode="auto">
          <a:xfrm>
            <a:off x="4419600" y="914400"/>
            <a:ext cx="0" cy="5562600"/>
          </a:xfrm>
          <a:prstGeom prst="line">
            <a:avLst/>
          </a:prstGeom>
          <a:noFill/>
          <a:ln w="9525">
            <a:solidFill>
              <a:schemeClr val="tx1"/>
            </a:solidFill>
            <a:round/>
            <a:headEnd/>
            <a:tailEnd/>
          </a:ln>
        </p:spPr>
        <p:txBody>
          <a:bodyPr>
            <a:prstTxWarp prst="textNoShape">
              <a:avLst/>
            </a:prstTxWarp>
          </a:bodyPr>
          <a:lstStyle/>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1682" name="Oval 2"/>
          <p:cNvSpPr>
            <a:spLocks noChangeArrowheads="1"/>
          </p:cNvSpPr>
          <p:nvPr/>
        </p:nvSpPr>
        <p:spPr bwMode="auto">
          <a:xfrm>
            <a:off x="2895600" y="1905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3" name="Oval 3"/>
          <p:cNvSpPr>
            <a:spLocks noChangeArrowheads="1"/>
          </p:cNvSpPr>
          <p:nvPr/>
        </p:nvSpPr>
        <p:spPr bwMode="auto">
          <a:xfrm>
            <a:off x="838200" y="1219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4" name="Oval 4"/>
          <p:cNvSpPr>
            <a:spLocks noChangeArrowheads="1"/>
          </p:cNvSpPr>
          <p:nvPr/>
        </p:nvSpPr>
        <p:spPr bwMode="auto">
          <a:xfrm>
            <a:off x="1524000" y="2057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5" name="Oval 5"/>
          <p:cNvSpPr>
            <a:spLocks noChangeArrowheads="1"/>
          </p:cNvSpPr>
          <p:nvPr/>
        </p:nvSpPr>
        <p:spPr bwMode="auto">
          <a:xfrm>
            <a:off x="20574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6" name="Oval 6"/>
          <p:cNvSpPr>
            <a:spLocks noChangeArrowheads="1"/>
          </p:cNvSpPr>
          <p:nvPr/>
        </p:nvSpPr>
        <p:spPr bwMode="auto">
          <a:xfrm>
            <a:off x="5943600" y="1143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7" name="Oval 7"/>
          <p:cNvSpPr>
            <a:spLocks noChangeArrowheads="1"/>
          </p:cNvSpPr>
          <p:nvPr/>
        </p:nvSpPr>
        <p:spPr bwMode="auto">
          <a:xfrm>
            <a:off x="1752600" y="4343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8" name="Oval 8"/>
          <p:cNvSpPr>
            <a:spLocks noChangeArrowheads="1"/>
          </p:cNvSpPr>
          <p:nvPr/>
        </p:nvSpPr>
        <p:spPr bwMode="auto">
          <a:xfrm>
            <a:off x="4114800" y="175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9" name="Oval 9"/>
          <p:cNvSpPr>
            <a:spLocks noChangeArrowheads="1"/>
          </p:cNvSpPr>
          <p:nvPr/>
        </p:nvSpPr>
        <p:spPr bwMode="auto">
          <a:xfrm>
            <a:off x="41148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0" name="Oval 10"/>
          <p:cNvSpPr>
            <a:spLocks noChangeArrowheads="1"/>
          </p:cNvSpPr>
          <p:nvPr/>
        </p:nvSpPr>
        <p:spPr bwMode="auto">
          <a:xfrm>
            <a:off x="7467600" y="3886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1" name="Oval 11"/>
          <p:cNvSpPr>
            <a:spLocks noChangeArrowheads="1"/>
          </p:cNvSpPr>
          <p:nvPr/>
        </p:nvSpPr>
        <p:spPr bwMode="auto">
          <a:xfrm>
            <a:off x="3733800" y="5105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2" name="Oval 12"/>
          <p:cNvSpPr>
            <a:spLocks noChangeArrowheads="1"/>
          </p:cNvSpPr>
          <p:nvPr/>
        </p:nvSpPr>
        <p:spPr bwMode="auto">
          <a:xfrm>
            <a:off x="4419600" y="3810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3" name="Oval 13"/>
          <p:cNvSpPr>
            <a:spLocks noChangeArrowheads="1"/>
          </p:cNvSpPr>
          <p:nvPr/>
        </p:nvSpPr>
        <p:spPr bwMode="auto">
          <a:xfrm>
            <a:off x="2057400" y="3124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4" name="Oval 14"/>
          <p:cNvSpPr>
            <a:spLocks noChangeArrowheads="1"/>
          </p:cNvSpPr>
          <p:nvPr/>
        </p:nvSpPr>
        <p:spPr bwMode="auto">
          <a:xfrm>
            <a:off x="685800" y="2743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5" name="Oval 15"/>
          <p:cNvSpPr>
            <a:spLocks noChangeArrowheads="1"/>
          </p:cNvSpPr>
          <p:nvPr/>
        </p:nvSpPr>
        <p:spPr bwMode="auto">
          <a:xfrm>
            <a:off x="5791200" y="2057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6"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1697" name="Oval 17"/>
          <p:cNvSpPr>
            <a:spLocks noChangeArrowheads="1"/>
          </p:cNvSpPr>
          <p:nvPr/>
        </p:nvSpPr>
        <p:spPr bwMode="auto">
          <a:xfrm>
            <a:off x="6400800" y="3429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8" name="Oval 18"/>
          <p:cNvSpPr>
            <a:spLocks noChangeArrowheads="1"/>
          </p:cNvSpPr>
          <p:nvPr/>
        </p:nvSpPr>
        <p:spPr bwMode="auto">
          <a:xfrm>
            <a:off x="4724400" y="556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9" name="Oval 19"/>
          <p:cNvSpPr>
            <a:spLocks noChangeArrowheads="1"/>
          </p:cNvSpPr>
          <p:nvPr/>
        </p:nvSpPr>
        <p:spPr bwMode="auto">
          <a:xfrm>
            <a:off x="6019800" y="556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700"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1701" name="Line 21"/>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1702" name="Line 22"/>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1703" name="Line 23"/>
          <p:cNvSpPr>
            <a:spLocks noChangeShapeType="1"/>
          </p:cNvSpPr>
          <p:nvPr/>
        </p:nvSpPr>
        <p:spPr bwMode="auto">
          <a:xfrm>
            <a:off x="6096000" y="2438400"/>
            <a:ext cx="457200" cy="990600"/>
          </a:xfrm>
          <a:prstGeom prst="line">
            <a:avLst/>
          </a:prstGeom>
          <a:noFill/>
          <a:ln w="9525">
            <a:solidFill>
              <a:schemeClr val="tx1"/>
            </a:solidFill>
            <a:round/>
            <a:headEnd/>
            <a:tailEnd/>
          </a:ln>
          <a:effectLst/>
        </p:spPr>
        <p:txBody>
          <a:bodyPr/>
          <a:lstStyle/>
          <a:p>
            <a:endParaRPr lang="en-US" dirty="0"/>
          </a:p>
        </p:txBody>
      </p:sp>
      <p:sp>
        <p:nvSpPr>
          <p:cNvPr id="711704" name="Line 24"/>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1705" name="Line 25"/>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1706" name="Line 26"/>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1707" name="Line 27"/>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1708" name="Line 28"/>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1709" name="Line 29"/>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1710" name="Line 30"/>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1711" name="Line 31"/>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1712" name="Line 32"/>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1713" name="Line 33"/>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1714" name="Line 34"/>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1715" name="Freeform 35"/>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1716" name="Line 36"/>
          <p:cNvSpPr>
            <a:spLocks noChangeShapeType="1"/>
          </p:cNvSpPr>
          <p:nvPr/>
        </p:nvSpPr>
        <p:spPr bwMode="auto">
          <a:xfrm>
            <a:off x="4419600" y="914400"/>
            <a:ext cx="1371600" cy="1219200"/>
          </a:xfrm>
          <a:prstGeom prst="line">
            <a:avLst/>
          </a:prstGeom>
          <a:noFill/>
          <a:ln w="9525">
            <a:solidFill>
              <a:schemeClr val="tx1"/>
            </a:solidFill>
            <a:round/>
            <a:headEnd/>
            <a:tailEnd/>
          </a:ln>
          <a:effectLst/>
        </p:spPr>
        <p:txBody>
          <a:bodyPr/>
          <a:lstStyle/>
          <a:p>
            <a:endParaRPr lang="en-US" dirty="0"/>
          </a:p>
        </p:txBody>
      </p:sp>
      <p:sp>
        <p:nvSpPr>
          <p:cNvPr id="711717" name="Line 37"/>
          <p:cNvSpPr>
            <a:spLocks noChangeShapeType="1"/>
          </p:cNvSpPr>
          <p:nvPr/>
        </p:nvSpPr>
        <p:spPr bwMode="auto">
          <a:xfrm>
            <a:off x="4267200" y="990600"/>
            <a:ext cx="0" cy="762000"/>
          </a:xfrm>
          <a:prstGeom prst="line">
            <a:avLst/>
          </a:prstGeom>
          <a:noFill/>
          <a:ln w="9525">
            <a:solidFill>
              <a:schemeClr val="tx1"/>
            </a:solidFill>
            <a:round/>
            <a:headEnd/>
            <a:tailEnd/>
          </a:ln>
          <a:effectLst/>
        </p:spPr>
        <p:txBody>
          <a:bodyPr/>
          <a:lstStyle/>
          <a:p>
            <a:endParaRPr lang="en-US" dirty="0"/>
          </a:p>
        </p:txBody>
      </p:sp>
      <p:sp>
        <p:nvSpPr>
          <p:cNvPr id="711718" name="Line 38"/>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1719" name="Line 39"/>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1720" name="Line 40"/>
          <p:cNvSpPr>
            <a:spLocks noChangeShapeType="1"/>
          </p:cNvSpPr>
          <p:nvPr/>
        </p:nvSpPr>
        <p:spPr bwMode="auto">
          <a:xfrm flipH="1">
            <a:off x="4038600" y="4191000"/>
            <a:ext cx="4572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3730" name="Oval 2"/>
          <p:cNvSpPr>
            <a:spLocks noChangeArrowheads="1"/>
          </p:cNvSpPr>
          <p:nvPr/>
        </p:nvSpPr>
        <p:spPr bwMode="auto">
          <a:xfrm>
            <a:off x="2895600" y="1905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1" name="Oval 3"/>
          <p:cNvSpPr>
            <a:spLocks noChangeArrowheads="1"/>
          </p:cNvSpPr>
          <p:nvPr/>
        </p:nvSpPr>
        <p:spPr bwMode="auto">
          <a:xfrm>
            <a:off x="838200" y="1219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2" name="Oval 4"/>
          <p:cNvSpPr>
            <a:spLocks noChangeArrowheads="1"/>
          </p:cNvSpPr>
          <p:nvPr/>
        </p:nvSpPr>
        <p:spPr bwMode="auto">
          <a:xfrm>
            <a:off x="15240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33" name="Oval 5"/>
          <p:cNvSpPr>
            <a:spLocks noChangeArrowheads="1"/>
          </p:cNvSpPr>
          <p:nvPr/>
        </p:nvSpPr>
        <p:spPr bwMode="auto">
          <a:xfrm>
            <a:off x="20574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4" name="Oval 6"/>
          <p:cNvSpPr>
            <a:spLocks noChangeArrowheads="1"/>
          </p:cNvSpPr>
          <p:nvPr/>
        </p:nvSpPr>
        <p:spPr bwMode="auto">
          <a:xfrm>
            <a:off x="5943600" y="1143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5" name="Oval 7"/>
          <p:cNvSpPr>
            <a:spLocks noChangeArrowheads="1"/>
          </p:cNvSpPr>
          <p:nvPr/>
        </p:nvSpPr>
        <p:spPr bwMode="auto">
          <a:xfrm>
            <a:off x="1752600" y="4343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6" name="Oval 8"/>
          <p:cNvSpPr>
            <a:spLocks noChangeArrowheads="1"/>
          </p:cNvSpPr>
          <p:nvPr/>
        </p:nvSpPr>
        <p:spPr bwMode="auto">
          <a:xfrm>
            <a:off x="4114800" y="175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7" name="Oval 9"/>
          <p:cNvSpPr>
            <a:spLocks noChangeArrowheads="1"/>
          </p:cNvSpPr>
          <p:nvPr/>
        </p:nvSpPr>
        <p:spPr bwMode="auto">
          <a:xfrm>
            <a:off x="41148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8" name="Oval 10"/>
          <p:cNvSpPr>
            <a:spLocks noChangeArrowheads="1"/>
          </p:cNvSpPr>
          <p:nvPr/>
        </p:nvSpPr>
        <p:spPr bwMode="auto">
          <a:xfrm>
            <a:off x="7467600" y="38862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39" name="Oval 11"/>
          <p:cNvSpPr>
            <a:spLocks noChangeArrowheads="1"/>
          </p:cNvSpPr>
          <p:nvPr/>
        </p:nvSpPr>
        <p:spPr bwMode="auto">
          <a:xfrm>
            <a:off x="3733800" y="5105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0" name="Oval 12"/>
          <p:cNvSpPr>
            <a:spLocks noChangeArrowheads="1"/>
          </p:cNvSpPr>
          <p:nvPr/>
        </p:nvSpPr>
        <p:spPr bwMode="auto">
          <a:xfrm>
            <a:off x="4419600" y="38100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1" name="Oval 13"/>
          <p:cNvSpPr>
            <a:spLocks noChangeArrowheads="1"/>
          </p:cNvSpPr>
          <p:nvPr/>
        </p:nvSpPr>
        <p:spPr bwMode="auto">
          <a:xfrm>
            <a:off x="2057400" y="3124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42" name="Oval 14"/>
          <p:cNvSpPr>
            <a:spLocks noChangeArrowheads="1"/>
          </p:cNvSpPr>
          <p:nvPr/>
        </p:nvSpPr>
        <p:spPr bwMode="auto">
          <a:xfrm>
            <a:off x="685800" y="2743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43" name="Oval 15"/>
          <p:cNvSpPr>
            <a:spLocks noChangeArrowheads="1"/>
          </p:cNvSpPr>
          <p:nvPr/>
        </p:nvSpPr>
        <p:spPr bwMode="auto">
          <a:xfrm>
            <a:off x="57912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4"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3745" name="Oval 17"/>
          <p:cNvSpPr>
            <a:spLocks noChangeArrowheads="1"/>
          </p:cNvSpPr>
          <p:nvPr/>
        </p:nvSpPr>
        <p:spPr bwMode="auto">
          <a:xfrm>
            <a:off x="6400800" y="3429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46" name="Oval 18"/>
          <p:cNvSpPr>
            <a:spLocks noChangeArrowheads="1"/>
          </p:cNvSpPr>
          <p:nvPr/>
        </p:nvSpPr>
        <p:spPr bwMode="auto">
          <a:xfrm>
            <a:off x="47244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7" name="Oval 19"/>
          <p:cNvSpPr>
            <a:spLocks noChangeArrowheads="1"/>
          </p:cNvSpPr>
          <p:nvPr/>
        </p:nvSpPr>
        <p:spPr bwMode="auto">
          <a:xfrm>
            <a:off x="60198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8"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3749" name="Line 21"/>
          <p:cNvSpPr>
            <a:spLocks noChangeShapeType="1"/>
          </p:cNvSpPr>
          <p:nvPr/>
        </p:nvSpPr>
        <p:spPr bwMode="auto">
          <a:xfrm flipH="1" flipV="1">
            <a:off x="4419600" y="838200"/>
            <a:ext cx="1371600" cy="1295400"/>
          </a:xfrm>
          <a:prstGeom prst="line">
            <a:avLst/>
          </a:prstGeom>
          <a:noFill/>
          <a:ln w="9525">
            <a:solidFill>
              <a:schemeClr val="tx1"/>
            </a:solidFill>
            <a:round/>
            <a:headEnd/>
            <a:tailEnd/>
          </a:ln>
          <a:effectLst/>
        </p:spPr>
        <p:txBody>
          <a:bodyPr/>
          <a:lstStyle/>
          <a:p>
            <a:endParaRPr lang="en-US" dirty="0"/>
          </a:p>
        </p:txBody>
      </p:sp>
      <p:sp>
        <p:nvSpPr>
          <p:cNvPr id="713750" name="Line 22"/>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3751" name="Line 23"/>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3752" name="Line 24"/>
          <p:cNvSpPr>
            <a:spLocks noChangeShapeType="1"/>
          </p:cNvSpPr>
          <p:nvPr/>
        </p:nvSpPr>
        <p:spPr bwMode="auto">
          <a:xfrm>
            <a:off x="6096000" y="2438400"/>
            <a:ext cx="457200" cy="914400"/>
          </a:xfrm>
          <a:prstGeom prst="line">
            <a:avLst/>
          </a:prstGeom>
          <a:noFill/>
          <a:ln w="9525">
            <a:solidFill>
              <a:schemeClr val="tx1"/>
            </a:solidFill>
            <a:round/>
            <a:headEnd/>
            <a:tailEnd/>
          </a:ln>
          <a:effectLst/>
        </p:spPr>
        <p:txBody>
          <a:bodyPr/>
          <a:lstStyle/>
          <a:p>
            <a:endParaRPr lang="en-US" dirty="0"/>
          </a:p>
        </p:txBody>
      </p:sp>
      <p:sp>
        <p:nvSpPr>
          <p:cNvPr id="713753" name="Line 25"/>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3754" name="Line 26"/>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3755" name="Line 27"/>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3756" name="Line 28"/>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3757" name="Line 29"/>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3758" name="Line 30"/>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3759" name="Line 31"/>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3760" name="Line 32"/>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3761" name="Line 33"/>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3762" name="Line 34"/>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3763" name="Line 35"/>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3764" name="Freeform 36"/>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3765" name="Line 37"/>
          <p:cNvSpPr>
            <a:spLocks noChangeShapeType="1"/>
          </p:cNvSpPr>
          <p:nvPr/>
        </p:nvSpPr>
        <p:spPr bwMode="auto">
          <a:xfrm flipH="1">
            <a:off x="4267200" y="990600"/>
            <a:ext cx="76200" cy="762000"/>
          </a:xfrm>
          <a:prstGeom prst="line">
            <a:avLst/>
          </a:prstGeom>
          <a:noFill/>
          <a:ln w="9525">
            <a:solidFill>
              <a:schemeClr val="tx1"/>
            </a:solidFill>
            <a:round/>
            <a:headEnd/>
            <a:tailEnd/>
          </a:ln>
          <a:effectLst/>
        </p:spPr>
        <p:txBody>
          <a:bodyPr/>
          <a:lstStyle/>
          <a:p>
            <a:endParaRPr lang="en-US" dirty="0"/>
          </a:p>
        </p:txBody>
      </p:sp>
      <p:sp>
        <p:nvSpPr>
          <p:cNvPr id="713766" name="Line 38"/>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3767" name="Line 39"/>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3768" name="Line 40"/>
          <p:cNvSpPr>
            <a:spLocks noChangeShapeType="1"/>
          </p:cNvSpPr>
          <p:nvPr/>
        </p:nvSpPr>
        <p:spPr bwMode="auto">
          <a:xfrm flipH="1">
            <a:off x="4038600" y="4191000"/>
            <a:ext cx="4572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5778" name="Oval 2"/>
          <p:cNvSpPr>
            <a:spLocks noChangeArrowheads="1"/>
          </p:cNvSpPr>
          <p:nvPr/>
        </p:nvSpPr>
        <p:spPr bwMode="auto">
          <a:xfrm>
            <a:off x="2895600" y="1905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79" name="Oval 3"/>
          <p:cNvSpPr>
            <a:spLocks noChangeArrowheads="1"/>
          </p:cNvSpPr>
          <p:nvPr/>
        </p:nvSpPr>
        <p:spPr bwMode="auto">
          <a:xfrm>
            <a:off x="838200" y="1219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0" name="Oval 4"/>
          <p:cNvSpPr>
            <a:spLocks noChangeArrowheads="1"/>
          </p:cNvSpPr>
          <p:nvPr/>
        </p:nvSpPr>
        <p:spPr bwMode="auto">
          <a:xfrm>
            <a:off x="15240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1" name="Oval 5"/>
          <p:cNvSpPr>
            <a:spLocks noChangeArrowheads="1"/>
          </p:cNvSpPr>
          <p:nvPr/>
        </p:nvSpPr>
        <p:spPr bwMode="auto">
          <a:xfrm>
            <a:off x="20574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5782" name="Oval 6"/>
          <p:cNvSpPr>
            <a:spLocks noChangeArrowheads="1"/>
          </p:cNvSpPr>
          <p:nvPr/>
        </p:nvSpPr>
        <p:spPr bwMode="auto">
          <a:xfrm>
            <a:off x="5943600" y="1143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3" name="Oval 7"/>
          <p:cNvSpPr>
            <a:spLocks noChangeArrowheads="1"/>
          </p:cNvSpPr>
          <p:nvPr/>
        </p:nvSpPr>
        <p:spPr bwMode="auto">
          <a:xfrm>
            <a:off x="1752600" y="43434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4" name="Oval 8"/>
          <p:cNvSpPr>
            <a:spLocks noChangeArrowheads="1"/>
          </p:cNvSpPr>
          <p:nvPr/>
        </p:nvSpPr>
        <p:spPr bwMode="auto">
          <a:xfrm>
            <a:off x="4114800" y="1752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5" name="Oval 9"/>
          <p:cNvSpPr>
            <a:spLocks noChangeArrowheads="1"/>
          </p:cNvSpPr>
          <p:nvPr/>
        </p:nvSpPr>
        <p:spPr bwMode="auto">
          <a:xfrm>
            <a:off x="4114800" y="609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6" name="Oval 10"/>
          <p:cNvSpPr>
            <a:spLocks noChangeArrowheads="1"/>
          </p:cNvSpPr>
          <p:nvPr/>
        </p:nvSpPr>
        <p:spPr bwMode="auto">
          <a:xfrm>
            <a:off x="7467600" y="38862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7" name="Oval 11"/>
          <p:cNvSpPr>
            <a:spLocks noChangeArrowheads="1"/>
          </p:cNvSpPr>
          <p:nvPr/>
        </p:nvSpPr>
        <p:spPr bwMode="auto">
          <a:xfrm>
            <a:off x="3733800" y="5105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8" name="Oval 12"/>
          <p:cNvSpPr>
            <a:spLocks noChangeArrowheads="1"/>
          </p:cNvSpPr>
          <p:nvPr/>
        </p:nvSpPr>
        <p:spPr bwMode="auto">
          <a:xfrm>
            <a:off x="4419600" y="38100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9" name="Oval 13"/>
          <p:cNvSpPr>
            <a:spLocks noChangeArrowheads="1"/>
          </p:cNvSpPr>
          <p:nvPr/>
        </p:nvSpPr>
        <p:spPr bwMode="auto">
          <a:xfrm>
            <a:off x="2057400" y="3124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5790" name="Oval 14"/>
          <p:cNvSpPr>
            <a:spLocks noChangeArrowheads="1"/>
          </p:cNvSpPr>
          <p:nvPr/>
        </p:nvSpPr>
        <p:spPr bwMode="auto">
          <a:xfrm>
            <a:off x="685800" y="2743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91" name="Oval 15"/>
          <p:cNvSpPr>
            <a:spLocks noChangeArrowheads="1"/>
          </p:cNvSpPr>
          <p:nvPr/>
        </p:nvSpPr>
        <p:spPr bwMode="auto">
          <a:xfrm>
            <a:off x="57912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92"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5793" name="Oval 17"/>
          <p:cNvSpPr>
            <a:spLocks noChangeArrowheads="1"/>
          </p:cNvSpPr>
          <p:nvPr/>
        </p:nvSpPr>
        <p:spPr bwMode="auto">
          <a:xfrm>
            <a:off x="6400800" y="3429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94" name="Oval 18"/>
          <p:cNvSpPr>
            <a:spLocks noChangeArrowheads="1"/>
          </p:cNvSpPr>
          <p:nvPr/>
        </p:nvSpPr>
        <p:spPr bwMode="auto">
          <a:xfrm>
            <a:off x="47244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95" name="Oval 19"/>
          <p:cNvSpPr>
            <a:spLocks noChangeArrowheads="1"/>
          </p:cNvSpPr>
          <p:nvPr/>
        </p:nvSpPr>
        <p:spPr bwMode="auto">
          <a:xfrm>
            <a:off x="60198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96"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5797" name="Line 21"/>
          <p:cNvSpPr>
            <a:spLocks noChangeShapeType="1"/>
          </p:cNvSpPr>
          <p:nvPr/>
        </p:nvSpPr>
        <p:spPr bwMode="auto">
          <a:xfrm flipH="1" flipV="1">
            <a:off x="4419600" y="838200"/>
            <a:ext cx="1371600" cy="1295400"/>
          </a:xfrm>
          <a:prstGeom prst="line">
            <a:avLst/>
          </a:prstGeom>
          <a:noFill/>
          <a:ln w="9525">
            <a:solidFill>
              <a:schemeClr val="tx1"/>
            </a:solidFill>
            <a:round/>
            <a:headEnd/>
            <a:tailEnd/>
          </a:ln>
          <a:effectLst/>
        </p:spPr>
        <p:txBody>
          <a:bodyPr/>
          <a:lstStyle/>
          <a:p>
            <a:endParaRPr lang="en-US" dirty="0"/>
          </a:p>
        </p:txBody>
      </p:sp>
      <p:sp>
        <p:nvSpPr>
          <p:cNvPr id="715798" name="Line 22"/>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5799" name="Line 23"/>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5800" name="Line 24"/>
          <p:cNvSpPr>
            <a:spLocks noChangeShapeType="1"/>
          </p:cNvSpPr>
          <p:nvPr/>
        </p:nvSpPr>
        <p:spPr bwMode="auto">
          <a:xfrm>
            <a:off x="6096000" y="2438400"/>
            <a:ext cx="457200" cy="914400"/>
          </a:xfrm>
          <a:prstGeom prst="line">
            <a:avLst/>
          </a:prstGeom>
          <a:noFill/>
          <a:ln w="9525">
            <a:solidFill>
              <a:schemeClr val="tx1"/>
            </a:solidFill>
            <a:round/>
            <a:headEnd/>
            <a:tailEnd/>
          </a:ln>
          <a:effectLst/>
        </p:spPr>
        <p:txBody>
          <a:bodyPr/>
          <a:lstStyle/>
          <a:p>
            <a:endParaRPr lang="en-US" dirty="0"/>
          </a:p>
        </p:txBody>
      </p:sp>
      <p:sp>
        <p:nvSpPr>
          <p:cNvPr id="715801" name="Line 25"/>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5802" name="Line 26"/>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5803" name="Line 27"/>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5804" name="Line 28"/>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5805" name="Line 29"/>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5806" name="Line 30"/>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5807" name="Line 31"/>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5808" name="Line 32"/>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5809" name="Line 33"/>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5810" name="Line 34"/>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5811" name="Line 35"/>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5812" name="Freeform 36"/>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5813" name="Line 37"/>
          <p:cNvSpPr>
            <a:spLocks noChangeShapeType="1"/>
          </p:cNvSpPr>
          <p:nvPr/>
        </p:nvSpPr>
        <p:spPr bwMode="auto">
          <a:xfrm>
            <a:off x="4267200" y="990600"/>
            <a:ext cx="0" cy="762000"/>
          </a:xfrm>
          <a:prstGeom prst="line">
            <a:avLst/>
          </a:prstGeom>
          <a:noFill/>
          <a:ln w="9525">
            <a:solidFill>
              <a:schemeClr val="tx1"/>
            </a:solidFill>
            <a:round/>
            <a:headEnd/>
            <a:tailEnd/>
          </a:ln>
          <a:effectLst/>
        </p:spPr>
        <p:txBody>
          <a:bodyPr/>
          <a:lstStyle/>
          <a:p>
            <a:endParaRPr lang="en-US" dirty="0"/>
          </a:p>
        </p:txBody>
      </p:sp>
      <p:sp>
        <p:nvSpPr>
          <p:cNvPr id="715814" name="Line 38"/>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5815" name="Line 39"/>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5816" name="Line 40"/>
          <p:cNvSpPr>
            <a:spLocks noChangeShapeType="1"/>
          </p:cNvSpPr>
          <p:nvPr/>
        </p:nvSpPr>
        <p:spPr bwMode="auto">
          <a:xfrm flipH="1">
            <a:off x="4038600" y="4191000"/>
            <a:ext cx="4572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7826" name="Oval 2"/>
          <p:cNvSpPr>
            <a:spLocks noChangeArrowheads="1"/>
          </p:cNvSpPr>
          <p:nvPr/>
        </p:nvSpPr>
        <p:spPr bwMode="auto">
          <a:xfrm>
            <a:off x="2895600" y="1905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27" name="Oval 3"/>
          <p:cNvSpPr>
            <a:spLocks noChangeArrowheads="1"/>
          </p:cNvSpPr>
          <p:nvPr/>
        </p:nvSpPr>
        <p:spPr bwMode="auto">
          <a:xfrm>
            <a:off x="838200" y="1219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28" name="Oval 4"/>
          <p:cNvSpPr>
            <a:spLocks noChangeArrowheads="1"/>
          </p:cNvSpPr>
          <p:nvPr/>
        </p:nvSpPr>
        <p:spPr bwMode="auto">
          <a:xfrm>
            <a:off x="15240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29" name="Oval 5"/>
          <p:cNvSpPr>
            <a:spLocks noChangeArrowheads="1"/>
          </p:cNvSpPr>
          <p:nvPr/>
        </p:nvSpPr>
        <p:spPr bwMode="auto">
          <a:xfrm>
            <a:off x="2057400" y="609600"/>
            <a:ext cx="381000" cy="381000"/>
          </a:xfrm>
          <a:prstGeom prst="ellipse">
            <a:avLst/>
          </a:prstGeom>
          <a:solidFill>
            <a:srgbClr val="00CC00"/>
          </a:solidFill>
          <a:ln w="9525">
            <a:solidFill>
              <a:schemeClr val="tx1"/>
            </a:solidFill>
            <a:round/>
            <a:headEnd/>
            <a:tailEnd/>
          </a:ln>
          <a:effectLst/>
        </p:spPr>
        <p:txBody>
          <a:bodyPr wrap="none" anchor="ctr"/>
          <a:lstStyle/>
          <a:p>
            <a:endParaRPr lang="en-US" dirty="0"/>
          </a:p>
        </p:txBody>
      </p:sp>
      <p:sp>
        <p:nvSpPr>
          <p:cNvPr id="717830" name="Oval 6"/>
          <p:cNvSpPr>
            <a:spLocks noChangeArrowheads="1"/>
          </p:cNvSpPr>
          <p:nvPr/>
        </p:nvSpPr>
        <p:spPr bwMode="auto">
          <a:xfrm>
            <a:off x="5943600" y="1143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1" name="Oval 7"/>
          <p:cNvSpPr>
            <a:spLocks noChangeArrowheads="1"/>
          </p:cNvSpPr>
          <p:nvPr/>
        </p:nvSpPr>
        <p:spPr bwMode="auto">
          <a:xfrm>
            <a:off x="1752600" y="43434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2" name="Oval 8"/>
          <p:cNvSpPr>
            <a:spLocks noChangeArrowheads="1"/>
          </p:cNvSpPr>
          <p:nvPr/>
        </p:nvSpPr>
        <p:spPr bwMode="auto">
          <a:xfrm>
            <a:off x="4114800" y="1752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3" name="Oval 9"/>
          <p:cNvSpPr>
            <a:spLocks noChangeArrowheads="1"/>
          </p:cNvSpPr>
          <p:nvPr/>
        </p:nvSpPr>
        <p:spPr bwMode="auto">
          <a:xfrm>
            <a:off x="4114800" y="609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4" name="Oval 10"/>
          <p:cNvSpPr>
            <a:spLocks noChangeArrowheads="1"/>
          </p:cNvSpPr>
          <p:nvPr/>
        </p:nvSpPr>
        <p:spPr bwMode="auto">
          <a:xfrm>
            <a:off x="7467600" y="38862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35" name="Oval 11"/>
          <p:cNvSpPr>
            <a:spLocks noChangeArrowheads="1"/>
          </p:cNvSpPr>
          <p:nvPr/>
        </p:nvSpPr>
        <p:spPr bwMode="auto">
          <a:xfrm>
            <a:off x="3733800" y="5105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36" name="Oval 12"/>
          <p:cNvSpPr>
            <a:spLocks noChangeArrowheads="1"/>
          </p:cNvSpPr>
          <p:nvPr/>
        </p:nvSpPr>
        <p:spPr bwMode="auto">
          <a:xfrm>
            <a:off x="4419600" y="38100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37" name="Oval 13"/>
          <p:cNvSpPr>
            <a:spLocks noChangeArrowheads="1"/>
          </p:cNvSpPr>
          <p:nvPr/>
        </p:nvSpPr>
        <p:spPr bwMode="auto">
          <a:xfrm>
            <a:off x="2057400" y="3124200"/>
            <a:ext cx="381000" cy="381000"/>
          </a:xfrm>
          <a:prstGeom prst="ellipse">
            <a:avLst/>
          </a:prstGeom>
          <a:solidFill>
            <a:srgbClr val="00CC00"/>
          </a:solidFill>
          <a:ln w="9525">
            <a:solidFill>
              <a:schemeClr val="tx1"/>
            </a:solidFill>
            <a:round/>
            <a:headEnd/>
            <a:tailEnd/>
          </a:ln>
          <a:effectLst/>
        </p:spPr>
        <p:txBody>
          <a:bodyPr wrap="none" anchor="ctr"/>
          <a:lstStyle/>
          <a:p>
            <a:endParaRPr lang="en-US" dirty="0"/>
          </a:p>
        </p:txBody>
      </p:sp>
      <p:sp>
        <p:nvSpPr>
          <p:cNvPr id="717838" name="Oval 14"/>
          <p:cNvSpPr>
            <a:spLocks noChangeArrowheads="1"/>
          </p:cNvSpPr>
          <p:nvPr/>
        </p:nvSpPr>
        <p:spPr bwMode="auto">
          <a:xfrm>
            <a:off x="685800" y="2743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9" name="Oval 15"/>
          <p:cNvSpPr>
            <a:spLocks noChangeArrowheads="1"/>
          </p:cNvSpPr>
          <p:nvPr/>
        </p:nvSpPr>
        <p:spPr bwMode="auto">
          <a:xfrm>
            <a:off x="57912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40"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7841" name="Oval 17"/>
          <p:cNvSpPr>
            <a:spLocks noChangeArrowheads="1"/>
          </p:cNvSpPr>
          <p:nvPr/>
        </p:nvSpPr>
        <p:spPr bwMode="auto">
          <a:xfrm>
            <a:off x="6400800" y="3429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42" name="Oval 18"/>
          <p:cNvSpPr>
            <a:spLocks noChangeArrowheads="1"/>
          </p:cNvSpPr>
          <p:nvPr/>
        </p:nvSpPr>
        <p:spPr bwMode="auto">
          <a:xfrm>
            <a:off x="47244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43" name="Oval 19"/>
          <p:cNvSpPr>
            <a:spLocks noChangeArrowheads="1"/>
          </p:cNvSpPr>
          <p:nvPr/>
        </p:nvSpPr>
        <p:spPr bwMode="auto">
          <a:xfrm>
            <a:off x="60198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44"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7845" name="Line 21"/>
          <p:cNvSpPr>
            <a:spLocks noChangeShapeType="1"/>
          </p:cNvSpPr>
          <p:nvPr/>
        </p:nvSpPr>
        <p:spPr bwMode="auto">
          <a:xfrm flipH="1" flipV="1">
            <a:off x="4419600" y="838200"/>
            <a:ext cx="1371600" cy="1295400"/>
          </a:xfrm>
          <a:prstGeom prst="line">
            <a:avLst/>
          </a:prstGeom>
          <a:noFill/>
          <a:ln w="9525">
            <a:solidFill>
              <a:schemeClr val="tx1"/>
            </a:solidFill>
            <a:round/>
            <a:headEnd/>
            <a:tailEnd/>
          </a:ln>
          <a:effectLst/>
        </p:spPr>
        <p:txBody>
          <a:bodyPr/>
          <a:lstStyle/>
          <a:p>
            <a:endParaRPr lang="en-US" dirty="0"/>
          </a:p>
        </p:txBody>
      </p:sp>
      <p:sp>
        <p:nvSpPr>
          <p:cNvPr id="717846" name="Line 22"/>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7847" name="Line 23"/>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7848" name="Line 24"/>
          <p:cNvSpPr>
            <a:spLocks noChangeShapeType="1"/>
          </p:cNvSpPr>
          <p:nvPr/>
        </p:nvSpPr>
        <p:spPr bwMode="auto">
          <a:xfrm>
            <a:off x="6096000" y="2438400"/>
            <a:ext cx="457200" cy="914400"/>
          </a:xfrm>
          <a:prstGeom prst="line">
            <a:avLst/>
          </a:prstGeom>
          <a:noFill/>
          <a:ln w="9525">
            <a:solidFill>
              <a:schemeClr val="tx1"/>
            </a:solidFill>
            <a:round/>
            <a:headEnd/>
            <a:tailEnd/>
          </a:ln>
          <a:effectLst/>
        </p:spPr>
        <p:txBody>
          <a:bodyPr/>
          <a:lstStyle/>
          <a:p>
            <a:endParaRPr lang="en-US" dirty="0"/>
          </a:p>
        </p:txBody>
      </p:sp>
      <p:sp>
        <p:nvSpPr>
          <p:cNvPr id="717849" name="Line 25"/>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7850" name="Line 26"/>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7851" name="Line 27"/>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7852" name="Line 28"/>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7853" name="Line 29"/>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7854" name="Line 30"/>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7855" name="Line 31"/>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7856" name="Line 32"/>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7857" name="Line 33"/>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7858" name="Line 34"/>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7859" name="Line 35"/>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7860" name="Freeform 36"/>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7861" name="Line 37"/>
          <p:cNvSpPr>
            <a:spLocks noChangeShapeType="1"/>
          </p:cNvSpPr>
          <p:nvPr/>
        </p:nvSpPr>
        <p:spPr bwMode="auto">
          <a:xfrm>
            <a:off x="4267200" y="990600"/>
            <a:ext cx="76200" cy="762000"/>
          </a:xfrm>
          <a:prstGeom prst="line">
            <a:avLst/>
          </a:prstGeom>
          <a:noFill/>
          <a:ln w="9525">
            <a:solidFill>
              <a:schemeClr val="tx1"/>
            </a:solidFill>
            <a:round/>
            <a:headEnd/>
            <a:tailEnd/>
          </a:ln>
          <a:effectLst/>
        </p:spPr>
        <p:txBody>
          <a:bodyPr/>
          <a:lstStyle/>
          <a:p>
            <a:endParaRPr lang="en-US" dirty="0"/>
          </a:p>
        </p:txBody>
      </p:sp>
      <p:sp>
        <p:nvSpPr>
          <p:cNvPr id="717862" name="Line 38"/>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7863" name="Line 39"/>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7864" name="Line 40"/>
          <p:cNvSpPr>
            <a:spLocks noChangeShapeType="1"/>
          </p:cNvSpPr>
          <p:nvPr/>
        </p:nvSpPr>
        <p:spPr bwMode="auto">
          <a:xfrm flipH="1">
            <a:off x="3962400" y="4191000"/>
            <a:ext cx="5334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TextBox 1"/>
          <p:cNvSpPr txBox="1">
            <a:spLocks noChangeArrowheads="1"/>
          </p:cNvSpPr>
          <p:nvPr/>
        </p:nvSpPr>
        <p:spPr bwMode="auto">
          <a:xfrm>
            <a:off x="0" y="0"/>
            <a:ext cx="9144000" cy="5632450"/>
          </a:xfrm>
          <a:prstGeom prst="rect">
            <a:avLst/>
          </a:prstGeom>
          <a:noFill/>
          <a:ln w="9525">
            <a:noFill/>
            <a:miter lim="800000"/>
            <a:headEnd/>
            <a:tailEnd/>
          </a:ln>
        </p:spPr>
        <p:txBody>
          <a:bodyPr>
            <a:prstTxWarp prst="textNoShape">
              <a:avLst/>
            </a:prstTxWarp>
            <a:spAutoFit/>
          </a:bodyPr>
          <a:lstStyle/>
          <a:p>
            <a:r>
              <a:rPr lang="en-US" sz="2400" dirty="0"/>
              <a:t>In CS, we single-mindedly serialize -- needed or </a:t>
            </a:r>
            <a:r>
              <a:rPr lang="en-US" sz="2400" dirty="0" smtClean="0"/>
              <a:t>not</a:t>
            </a:r>
          </a:p>
          <a:p>
            <a:endParaRPr lang="en-US" sz="2400" dirty="0"/>
          </a:p>
          <a:p>
            <a:r>
              <a:rPr lang="en-US" sz="2400" dirty="0"/>
              <a:t>Recall the story about a boy/girl-scout helping an old lady cross the street, </a:t>
            </a:r>
            <a:r>
              <a:rPr lang="en-US" sz="2400" dirty="0" smtClean="0"/>
              <a:t>even </a:t>
            </a:r>
            <a:r>
              <a:rPr lang="en-US" sz="2400" dirty="0" smtClean="0"/>
              <a:t>if .. </a:t>
            </a:r>
            <a:r>
              <a:rPr lang="en-US" sz="2400" dirty="0" smtClean="0"/>
              <a:t>she </a:t>
            </a:r>
            <a:r>
              <a:rPr lang="en-US" sz="2400" dirty="0"/>
              <a:t>does not want to cross </a:t>
            </a:r>
            <a:r>
              <a:rPr lang="en-US" sz="2400" dirty="0" smtClean="0"/>
              <a:t>it</a:t>
            </a:r>
          </a:p>
          <a:p>
            <a:endParaRPr lang="en-US" sz="2400" dirty="0"/>
          </a:p>
          <a:p>
            <a:r>
              <a:rPr lang="en-US" sz="2400" dirty="0"/>
              <a:t>All the machinery (think about compilers) </a:t>
            </a:r>
            <a:r>
              <a:rPr lang="en-US" sz="2400" dirty="0" smtClean="0"/>
              <a:t>that we </a:t>
            </a:r>
            <a:r>
              <a:rPr lang="en-US" sz="2400" dirty="0"/>
              <a:t>try later to get</a:t>
            </a:r>
            <a:r>
              <a:rPr lang="en-US" sz="2400" dirty="0" smtClean="0"/>
              <a:t> the old lady </a:t>
            </a:r>
            <a:r>
              <a:rPr lang="en-US" sz="2400" dirty="0"/>
              <a:t>to the right side of the street, where she originally </a:t>
            </a:r>
            <a:r>
              <a:rPr lang="en-US" sz="2400" dirty="0" smtClean="0"/>
              <a:t>was and wanted to remain, </a:t>
            </a:r>
            <a:r>
              <a:rPr lang="en-US" sz="2400" dirty="0"/>
              <a:t>may not rise to </a:t>
            </a:r>
            <a:r>
              <a:rPr lang="en-US" sz="2400" dirty="0" smtClean="0"/>
              <a:t>challenge</a:t>
            </a:r>
          </a:p>
          <a:p>
            <a:endParaRPr lang="en-US" sz="2400" dirty="0"/>
          </a:p>
          <a:p>
            <a:r>
              <a:rPr lang="en-US" sz="2400" dirty="0"/>
              <a:t>Conclusion:</a:t>
            </a:r>
            <a:r>
              <a:rPr lang="en-US" sz="2400" dirty="0" smtClean="0"/>
              <a:t> Got </a:t>
            </a:r>
            <a:r>
              <a:rPr lang="en-US" sz="2400" dirty="0"/>
              <a:t>to talk to the boy/</a:t>
            </a:r>
            <a:r>
              <a:rPr lang="en-US" sz="2400" dirty="0" smtClean="0"/>
              <a:t>girl-scout</a:t>
            </a:r>
          </a:p>
          <a:p>
            <a:endParaRPr lang="en-US" sz="2400" dirty="0"/>
          </a:p>
          <a:p>
            <a:r>
              <a:rPr lang="en-US" sz="2400" dirty="0"/>
              <a:t>To clarify: </a:t>
            </a:r>
          </a:p>
          <a:p>
            <a:pPr>
              <a:buFontTx/>
              <a:buChar char="-"/>
            </a:pPr>
            <a:r>
              <a:rPr lang="en-US" sz="2400" dirty="0"/>
              <a:t>The business case for supporting in the best possible way </a:t>
            </a:r>
            <a:r>
              <a:rPr lang="en-US" sz="2400" dirty="0" smtClean="0"/>
              <a:t>existing serial </a:t>
            </a:r>
            <a:r>
              <a:rPr lang="en-US" sz="2400" dirty="0"/>
              <a:t>code is </a:t>
            </a:r>
            <a:r>
              <a:rPr lang="en-US" sz="2400" dirty="0" smtClean="0"/>
              <a:t>clear </a:t>
            </a:r>
            <a:endParaRPr lang="en-US" sz="2400" dirty="0"/>
          </a:p>
          <a:p>
            <a:pPr>
              <a:buFontTx/>
              <a:buChar char="-"/>
            </a:pPr>
            <a:r>
              <a:rPr lang="en-US" sz="2400" dirty="0"/>
              <a:t> The question is how to write programs in the future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609600"/>
          </a:xfrm>
        </p:spPr>
        <p:txBody>
          <a:bodyPr/>
          <a:lstStyle/>
          <a:p>
            <a:pPr eaLnBrk="1" hangingPunct="1"/>
            <a:r>
              <a:rPr lang="en-US" sz="3200" u="sng" dirty="0" smtClean="0"/>
              <a:t>Programmer’s Model as </a:t>
            </a:r>
            <a:r>
              <a:rPr lang="en-US" sz="3200" b="1" u="sng" dirty="0" smtClean="0"/>
              <a:t>Workflow</a:t>
            </a:r>
            <a:endParaRPr lang="en-US" sz="3200" b="1" u="sng" dirty="0" smtClean="0">
              <a:solidFill>
                <a:srgbClr val="FF0000"/>
              </a:solidFill>
            </a:endParaRPr>
          </a:p>
        </p:txBody>
      </p:sp>
      <p:sp>
        <p:nvSpPr>
          <p:cNvPr id="11267" name="Content Placeholder 2"/>
          <p:cNvSpPr>
            <a:spLocks noGrp="1"/>
          </p:cNvSpPr>
          <p:nvPr>
            <p:ph sz="half" idx="1"/>
          </p:nvPr>
        </p:nvSpPr>
        <p:spPr>
          <a:xfrm>
            <a:off x="0" y="533400"/>
            <a:ext cx="9144000" cy="2362200"/>
          </a:xfrm>
        </p:spPr>
        <p:txBody>
          <a:bodyPr/>
          <a:lstStyle/>
          <a:p>
            <a:pPr eaLnBrk="1" hangingPunct="1">
              <a:spcBef>
                <a:spcPct val="0"/>
              </a:spcBef>
            </a:pPr>
            <a:r>
              <a:rPr lang="en-US" sz="2400" dirty="0" smtClean="0"/>
              <a:t>Arbitrary CRCW Work-depth algorithm. </a:t>
            </a:r>
          </a:p>
          <a:p>
            <a:pPr eaLnBrk="1" hangingPunct="1">
              <a:spcBef>
                <a:spcPct val="0"/>
              </a:spcBef>
              <a:buFontTx/>
              <a:buNone/>
            </a:pPr>
            <a:r>
              <a:rPr lang="en-US" sz="2400" dirty="0" smtClean="0"/>
              <a:t>	 - </a:t>
            </a:r>
            <a:r>
              <a:rPr lang="en-US" sz="2000" u="sng" dirty="0" smtClean="0"/>
              <a:t>Reason about correctness &amp; complexity </a:t>
            </a:r>
            <a:r>
              <a:rPr lang="en-US" sz="2000" dirty="0" smtClean="0"/>
              <a:t>in synchronous model </a:t>
            </a:r>
          </a:p>
          <a:p>
            <a:pPr eaLnBrk="1" hangingPunct="1">
              <a:spcBef>
                <a:spcPct val="0"/>
              </a:spcBef>
            </a:pPr>
            <a:r>
              <a:rPr lang="en-US" sz="2400" dirty="0" smtClean="0"/>
              <a:t>SPMD reduced synchrony</a:t>
            </a:r>
          </a:p>
          <a:p>
            <a:pPr lvl="1" eaLnBrk="1" hangingPunct="1">
              <a:spcBef>
                <a:spcPct val="0"/>
              </a:spcBef>
            </a:pPr>
            <a:r>
              <a:rPr lang="en-US" sz="2000" dirty="0" smtClean="0"/>
              <a:t>Main construct: spawn-join block. Can start any number of processes at once. Threads advance at own speed, not lockstep</a:t>
            </a:r>
          </a:p>
          <a:p>
            <a:pPr lvl="1" eaLnBrk="1" hangingPunct="1">
              <a:spcBef>
                <a:spcPct val="0"/>
              </a:spcBef>
            </a:pPr>
            <a:r>
              <a:rPr lang="en-US" sz="2000" dirty="0" smtClean="0"/>
              <a:t>Prefix-sum (ps). Independence of order semantics (IOS) – matches Arbitrary CW. For locality: assembly language threads are not-too-short</a:t>
            </a:r>
            <a:endParaRPr lang="en-US" dirty="0" smtClean="0"/>
          </a:p>
          <a:p>
            <a:pPr lvl="1" eaLnBrk="1" hangingPunct="1">
              <a:spcBef>
                <a:spcPct val="0"/>
              </a:spcBef>
            </a:pPr>
            <a:r>
              <a:rPr lang="en-US" sz="2000" dirty="0" smtClean="0"/>
              <a:t>Establish correctness &amp; complexity by </a:t>
            </a:r>
            <a:r>
              <a:rPr lang="en-US" sz="2000" u="sng" dirty="0" smtClean="0"/>
              <a:t>relating</a:t>
            </a:r>
            <a:r>
              <a:rPr lang="en-US" sz="2000" dirty="0" smtClean="0"/>
              <a:t> to WD analyses</a:t>
            </a:r>
          </a:p>
          <a:p>
            <a:pPr lvl="1" eaLnBrk="1" hangingPunct="1">
              <a:spcBef>
                <a:spcPct val="0"/>
              </a:spcBef>
            </a:pPr>
            <a:endParaRPr lang="en-US" sz="2000" dirty="0" smtClean="0"/>
          </a:p>
          <a:p>
            <a:pPr lvl="1" eaLnBrk="1" hangingPunct="1">
              <a:spcBef>
                <a:spcPct val="0"/>
              </a:spcBef>
            </a:pPr>
            <a:endParaRPr lang="en-US" sz="2000" dirty="0" smtClean="0"/>
          </a:p>
          <a:p>
            <a:pPr lvl="1" eaLnBrk="1" hangingPunct="1">
              <a:spcBef>
                <a:spcPct val="0"/>
              </a:spcBef>
            </a:pPr>
            <a:endParaRPr lang="en-US" sz="2000" dirty="0" smtClean="0"/>
          </a:p>
          <a:p>
            <a:pPr lvl="1" eaLnBrk="1" hangingPunct="1">
              <a:spcBef>
                <a:spcPct val="0"/>
              </a:spcBef>
              <a:buNone/>
            </a:pPr>
            <a:endParaRPr lang="en-US" sz="2000" dirty="0" smtClean="0"/>
          </a:p>
          <a:p>
            <a:pPr lvl="1" eaLnBrk="1" hangingPunct="1">
              <a:spcBef>
                <a:spcPct val="0"/>
              </a:spcBef>
              <a:buNone/>
            </a:pPr>
            <a:endParaRPr lang="en-US" sz="2000" dirty="0" smtClean="0"/>
          </a:p>
          <a:p>
            <a:pPr lvl="1" eaLnBrk="1" hangingPunct="1">
              <a:spcBef>
                <a:spcPct val="0"/>
              </a:spcBef>
              <a:buNone/>
            </a:pPr>
            <a:endParaRPr lang="en-US" sz="2000" dirty="0" smtClean="0"/>
          </a:p>
        </p:txBody>
      </p:sp>
      <p:sp>
        <p:nvSpPr>
          <p:cNvPr id="55" name="Content Placeholder 54"/>
          <p:cNvSpPr>
            <a:spLocks noGrp="1"/>
          </p:cNvSpPr>
          <p:nvPr>
            <p:ph sz="half" idx="2"/>
          </p:nvPr>
        </p:nvSpPr>
        <p:spPr>
          <a:xfrm>
            <a:off x="0" y="4572000"/>
            <a:ext cx="9144000" cy="2286000"/>
          </a:xfrm>
        </p:spPr>
        <p:txBody>
          <a:bodyPr/>
          <a:lstStyle/>
          <a:p>
            <a:pPr marL="342900" lvl="1" indent="-342900" eaLnBrk="1" hangingPunct="1">
              <a:buNone/>
            </a:pPr>
            <a:r>
              <a:rPr lang="en-US" sz="2000" dirty="0" smtClean="0"/>
              <a:t>Circumvents: (i) decomposition-inventive; (ii) “the problem with threads”, e.g., [Lee]</a:t>
            </a:r>
          </a:p>
          <a:p>
            <a:pPr eaLnBrk="1" hangingPunct="1">
              <a:buNone/>
            </a:pPr>
            <a:r>
              <a:rPr lang="en-US" sz="2000" dirty="0" smtClean="0"/>
              <a:t>Issue: nesting of spawns. </a:t>
            </a:r>
          </a:p>
          <a:p>
            <a:pPr eaLnBrk="1" hangingPunct="1"/>
            <a:r>
              <a:rPr lang="en-US" sz="2400" dirty="0" smtClean="0"/>
              <a:t>Tune (compiler or expert programmer): (i) Length of sequence of round trips to memory, (ii)  QRQW, (iii) WD. [VCL07]</a:t>
            </a:r>
          </a:p>
          <a:p>
            <a:pPr marL="342900" lvl="1" indent="-342900" eaLnBrk="1" hangingPunct="1">
              <a:buNone/>
            </a:pPr>
            <a:r>
              <a:rPr lang="en-US" sz="2000" dirty="0" smtClean="0"/>
              <a:t>	-  Correctness &amp; complexity by </a:t>
            </a:r>
            <a:r>
              <a:rPr lang="en-US" sz="2000" u="sng" dirty="0" smtClean="0"/>
              <a:t>relating</a:t>
            </a:r>
            <a:r>
              <a:rPr lang="en-US" sz="2000" dirty="0" smtClean="0"/>
              <a:t> to prior analyses</a:t>
            </a:r>
          </a:p>
          <a:p>
            <a:pPr eaLnBrk="1" hangingPunct="1">
              <a:buNone/>
            </a:pPr>
            <a:endParaRPr lang="en-US" sz="2400" dirty="0" smtClean="0"/>
          </a:p>
          <a:p>
            <a:pPr eaLnBrk="1" hangingPunct="1">
              <a:buFontTx/>
              <a:buNone/>
            </a:pPr>
            <a:endParaRPr lang="en-US" sz="2400" dirty="0" smtClean="0"/>
          </a:p>
        </p:txBody>
      </p:sp>
      <p:sp>
        <p:nvSpPr>
          <p:cNvPr id="8" name="Flowchart: Connector 7"/>
          <p:cNvSpPr/>
          <p:nvPr/>
        </p:nvSpPr>
        <p:spPr>
          <a:xfrm>
            <a:off x="12192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Flowchart: Connector 8"/>
          <p:cNvSpPr/>
          <p:nvPr/>
        </p:nvSpPr>
        <p:spPr>
          <a:xfrm>
            <a:off x="21336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Flowchart: Connector 9"/>
          <p:cNvSpPr/>
          <p:nvPr/>
        </p:nvSpPr>
        <p:spPr>
          <a:xfrm>
            <a:off x="38862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Flowchart: Connector 10"/>
          <p:cNvSpPr/>
          <p:nvPr/>
        </p:nvSpPr>
        <p:spPr>
          <a:xfrm>
            <a:off x="48768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Flowchart: Connector 11"/>
          <p:cNvSpPr/>
          <p:nvPr/>
        </p:nvSpPr>
        <p:spPr>
          <a:xfrm>
            <a:off x="76200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4" name="Straight Arrow Connector 13"/>
          <p:cNvCxnSpPr>
            <a:stCxn id="8" idx="6"/>
            <a:endCxn id="9" idx="2"/>
          </p:cNvCxnSpPr>
          <p:nvPr/>
        </p:nvCxnSpPr>
        <p:spPr>
          <a:xfrm>
            <a:off x="1524000" y="3810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6"/>
            <a:endCxn id="11" idx="2"/>
          </p:cNvCxnSpPr>
          <p:nvPr/>
        </p:nvCxnSpPr>
        <p:spPr>
          <a:xfrm>
            <a:off x="4191000" y="38100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6"/>
          </p:cNvCxnSpPr>
          <p:nvPr/>
        </p:nvCxnSpPr>
        <p:spPr>
          <a:xfrm>
            <a:off x="7924800" y="38100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Arc 19"/>
          <p:cNvSpPr/>
          <p:nvPr/>
        </p:nvSpPr>
        <p:spPr>
          <a:xfrm>
            <a:off x="2438400" y="3657600"/>
            <a:ext cx="1447800" cy="3048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1" name="Arc 20"/>
          <p:cNvSpPr/>
          <p:nvPr/>
        </p:nvSpPr>
        <p:spPr>
          <a:xfrm>
            <a:off x="2362200" y="3429000"/>
            <a:ext cx="1600200" cy="609600"/>
          </a:xfrm>
          <a:prstGeom prst="arc">
            <a:avLst>
              <a:gd name="adj1" fmla="val 11078657"/>
              <a:gd name="adj2" fmla="val 21339992"/>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3" name="Arc 22"/>
          <p:cNvSpPr/>
          <p:nvPr/>
        </p:nvSpPr>
        <p:spPr>
          <a:xfrm flipV="1">
            <a:off x="2438400" y="3657600"/>
            <a:ext cx="1447800" cy="2286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4" name="Arc 23"/>
          <p:cNvSpPr/>
          <p:nvPr/>
        </p:nvSpPr>
        <p:spPr>
          <a:xfrm flipV="1">
            <a:off x="2438400" y="3581400"/>
            <a:ext cx="1447800" cy="457200"/>
          </a:xfrm>
          <a:prstGeom prst="arc">
            <a:avLst>
              <a:gd name="adj1" fmla="val 10824802"/>
              <a:gd name="adj2" fmla="val 21536913"/>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5" name="Arc 24"/>
          <p:cNvSpPr/>
          <p:nvPr/>
        </p:nvSpPr>
        <p:spPr>
          <a:xfrm rot="10800000">
            <a:off x="2362200" y="3581400"/>
            <a:ext cx="1600200" cy="533400"/>
          </a:xfrm>
          <a:prstGeom prst="arc">
            <a:avLst>
              <a:gd name="adj1" fmla="val 11078657"/>
              <a:gd name="adj2" fmla="val 21339992"/>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6" name="Arc 25"/>
          <p:cNvSpPr/>
          <p:nvPr/>
        </p:nvSpPr>
        <p:spPr>
          <a:xfrm rot="10800000" flipV="1">
            <a:off x="2438400" y="3505200"/>
            <a:ext cx="1447800" cy="457200"/>
          </a:xfrm>
          <a:prstGeom prst="arc">
            <a:avLst>
              <a:gd name="adj1" fmla="val 10824802"/>
              <a:gd name="adj2" fmla="val 26374"/>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7" name="Arc 26"/>
          <p:cNvSpPr/>
          <p:nvPr/>
        </p:nvSpPr>
        <p:spPr>
          <a:xfrm>
            <a:off x="5181600" y="3657600"/>
            <a:ext cx="2455863" cy="3048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8" name="Arc 27"/>
          <p:cNvSpPr/>
          <p:nvPr/>
        </p:nvSpPr>
        <p:spPr>
          <a:xfrm>
            <a:off x="5105400" y="3429000"/>
            <a:ext cx="2667000" cy="609600"/>
          </a:xfrm>
          <a:prstGeom prst="arc">
            <a:avLst>
              <a:gd name="adj1" fmla="val 10949978"/>
              <a:gd name="adj2" fmla="val 21339992"/>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9" name="Arc 28"/>
          <p:cNvSpPr/>
          <p:nvPr/>
        </p:nvSpPr>
        <p:spPr>
          <a:xfrm flipV="1">
            <a:off x="5181600" y="3657600"/>
            <a:ext cx="2455863" cy="2286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0" name="Arc 29"/>
          <p:cNvSpPr/>
          <p:nvPr/>
        </p:nvSpPr>
        <p:spPr>
          <a:xfrm flipV="1">
            <a:off x="5181600" y="3581400"/>
            <a:ext cx="2455863" cy="457200"/>
          </a:xfrm>
          <a:prstGeom prst="arc">
            <a:avLst>
              <a:gd name="adj1" fmla="val 10824802"/>
              <a:gd name="adj2" fmla="val 21536913"/>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1" name="Arc 30"/>
          <p:cNvSpPr/>
          <p:nvPr/>
        </p:nvSpPr>
        <p:spPr>
          <a:xfrm rot="10800000">
            <a:off x="5057775" y="3581400"/>
            <a:ext cx="2714625" cy="533400"/>
          </a:xfrm>
          <a:prstGeom prst="arc">
            <a:avLst>
              <a:gd name="adj1" fmla="val 11027889"/>
              <a:gd name="adj2" fmla="val 21379795"/>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2" name="Arc 31"/>
          <p:cNvSpPr/>
          <p:nvPr/>
        </p:nvSpPr>
        <p:spPr>
          <a:xfrm rot="10800000" flipV="1">
            <a:off x="5181600" y="3505200"/>
            <a:ext cx="2455863" cy="457200"/>
          </a:xfrm>
          <a:prstGeom prst="arc">
            <a:avLst>
              <a:gd name="adj1" fmla="val 10824802"/>
              <a:gd name="adj2" fmla="val 26374"/>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5" name="Arc 34"/>
          <p:cNvSpPr/>
          <p:nvPr/>
        </p:nvSpPr>
        <p:spPr>
          <a:xfrm>
            <a:off x="5029200" y="3276600"/>
            <a:ext cx="2743200" cy="762000"/>
          </a:xfrm>
          <a:prstGeom prst="arc">
            <a:avLst>
              <a:gd name="adj1" fmla="val 10874415"/>
              <a:gd name="adj2" fmla="val 21570706"/>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6" name="Arc 35"/>
          <p:cNvSpPr/>
          <p:nvPr/>
        </p:nvSpPr>
        <p:spPr>
          <a:xfrm rot="10800000">
            <a:off x="5029200" y="3581400"/>
            <a:ext cx="2743200" cy="762000"/>
          </a:xfrm>
          <a:prstGeom prst="arc">
            <a:avLst>
              <a:gd name="adj1" fmla="val 10874415"/>
              <a:gd name="adj2" fmla="val 21570706"/>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7" name="TextBox 36"/>
          <p:cNvSpPr txBox="1">
            <a:spLocks noChangeArrowheads="1"/>
          </p:cNvSpPr>
          <p:nvPr/>
        </p:nvSpPr>
        <p:spPr bwMode="auto">
          <a:xfrm>
            <a:off x="1905000" y="4114800"/>
            <a:ext cx="760413" cy="369888"/>
          </a:xfrm>
          <a:prstGeom prst="rect">
            <a:avLst/>
          </a:prstGeom>
          <a:noFill/>
          <a:ln w="9525">
            <a:noFill/>
            <a:miter lim="800000"/>
            <a:headEnd/>
            <a:tailEnd/>
          </a:ln>
        </p:spPr>
        <p:txBody>
          <a:bodyPr wrap="none">
            <a:spAutoFit/>
          </a:bodyPr>
          <a:lstStyle/>
          <a:p>
            <a:r>
              <a:rPr lang="en-US" dirty="0">
                <a:latin typeface="Calibri" pitchFamily="34" charset="0"/>
              </a:rPr>
              <a:t>spawn</a:t>
            </a:r>
          </a:p>
        </p:txBody>
      </p:sp>
      <p:sp>
        <p:nvSpPr>
          <p:cNvPr id="39" name="TextBox 38"/>
          <p:cNvSpPr txBox="1">
            <a:spLocks noChangeArrowheads="1"/>
          </p:cNvSpPr>
          <p:nvPr/>
        </p:nvSpPr>
        <p:spPr bwMode="auto">
          <a:xfrm>
            <a:off x="3810000" y="4114800"/>
            <a:ext cx="528638" cy="369888"/>
          </a:xfrm>
          <a:prstGeom prst="rect">
            <a:avLst/>
          </a:prstGeom>
          <a:noFill/>
          <a:ln w="9525">
            <a:noFill/>
            <a:miter lim="800000"/>
            <a:headEnd/>
            <a:tailEnd/>
          </a:ln>
        </p:spPr>
        <p:txBody>
          <a:bodyPr wrap="none">
            <a:spAutoFit/>
          </a:bodyPr>
          <a:lstStyle/>
          <a:p>
            <a:r>
              <a:rPr lang="en-US" dirty="0">
                <a:latin typeface="Calibri" pitchFamily="34" charset="0"/>
              </a:rPr>
              <a:t>join</a:t>
            </a:r>
          </a:p>
        </p:txBody>
      </p:sp>
      <p:sp>
        <p:nvSpPr>
          <p:cNvPr id="40" name="TextBox 39"/>
          <p:cNvSpPr txBox="1">
            <a:spLocks noChangeArrowheads="1"/>
          </p:cNvSpPr>
          <p:nvPr/>
        </p:nvSpPr>
        <p:spPr bwMode="auto">
          <a:xfrm>
            <a:off x="4648200" y="4114800"/>
            <a:ext cx="760413" cy="369888"/>
          </a:xfrm>
          <a:prstGeom prst="rect">
            <a:avLst/>
          </a:prstGeom>
          <a:noFill/>
          <a:ln w="9525">
            <a:noFill/>
            <a:miter lim="800000"/>
            <a:headEnd/>
            <a:tailEnd/>
          </a:ln>
        </p:spPr>
        <p:txBody>
          <a:bodyPr wrap="none">
            <a:spAutoFit/>
          </a:bodyPr>
          <a:lstStyle/>
          <a:p>
            <a:r>
              <a:rPr lang="en-US" dirty="0">
                <a:latin typeface="Calibri" pitchFamily="34" charset="0"/>
              </a:rPr>
              <a:t>spawn</a:t>
            </a:r>
          </a:p>
        </p:txBody>
      </p:sp>
      <p:sp>
        <p:nvSpPr>
          <p:cNvPr id="41" name="TextBox 40"/>
          <p:cNvSpPr txBox="1">
            <a:spLocks noChangeArrowheads="1"/>
          </p:cNvSpPr>
          <p:nvPr/>
        </p:nvSpPr>
        <p:spPr bwMode="auto">
          <a:xfrm>
            <a:off x="7543800" y="4114800"/>
            <a:ext cx="528638" cy="369888"/>
          </a:xfrm>
          <a:prstGeom prst="rect">
            <a:avLst/>
          </a:prstGeom>
          <a:noFill/>
          <a:ln w="9525">
            <a:noFill/>
            <a:miter lim="800000"/>
            <a:headEnd/>
            <a:tailEnd/>
          </a:ln>
        </p:spPr>
        <p:txBody>
          <a:bodyPr wrap="none">
            <a:spAutoFit/>
          </a:bodyPr>
          <a:lstStyle/>
          <a:p>
            <a:r>
              <a:rPr lang="en-US" dirty="0">
                <a:latin typeface="Calibri" pitchFamily="34" charset="0"/>
              </a:rPr>
              <a:t>join</a:t>
            </a:r>
          </a:p>
        </p:txBody>
      </p:sp>
      <p:sp>
        <p:nvSpPr>
          <p:cNvPr id="42" name="Flowchart: Connector 41"/>
          <p:cNvSpPr/>
          <p:nvPr/>
        </p:nvSpPr>
        <p:spPr>
          <a:xfrm>
            <a:off x="12954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3" name="Flowchart: Connector 42"/>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 name="Flowchart: Connector 43"/>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5" name="Flowchart: Connector 44"/>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6" name="Flowchart: Connector 45"/>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 name="Flowchart: Connector 46"/>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 name="Flowchart: Connector 47"/>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9" name="Flowchart: Connector 48"/>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0" name="Flowchart: Connector 49"/>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1" name="Flowchart: Connector 50"/>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2" name="Flowchart: Connector 51"/>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3" name="Flowchart: Connector 52"/>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4" name="Flowchart: Connector 53"/>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8"/>
                                        </p:tgtEl>
                                        <p:attrNameLst>
                                          <p:attrName>style.color</p:attrName>
                                        </p:attrNameLst>
                                      </p:cBhvr>
                                      <p:by>
                                        <p:hsl h="7200000" s="0" l="0"/>
                                      </p:by>
                                    </p:animClr>
                                    <p:animClr clrSpc="hsl" dir="cw">
                                      <p:cBhvr>
                                        <p:cTn id="7" dur="500" fill="hold"/>
                                        <p:tgtEl>
                                          <p:spTgt spid="8"/>
                                        </p:tgtEl>
                                        <p:attrNameLst>
                                          <p:attrName>fillcolor</p:attrName>
                                        </p:attrNameLst>
                                      </p:cBhvr>
                                      <p:by>
                                        <p:hsl h="7200000" s="0" l="0"/>
                                      </p:by>
                                    </p:animClr>
                                    <p:animClr clrSpc="hsl" dir="cw">
                                      <p:cBhvr>
                                        <p:cTn id="8" dur="500" fill="hold"/>
                                        <p:tgtEl>
                                          <p:spTgt spid="8"/>
                                        </p:tgtEl>
                                        <p:attrNameLst>
                                          <p:attrName>stroke.color</p:attrName>
                                        </p:attrNameLst>
                                      </p:cBhvr>
                                      <p:by>
                                        <p:hsl h="7200000" s="0" l="0"/>
                                      </p:by>
                                    </p:animClr>
                                    <p:set>
                                      <p:cBhvr>
                                        <p:cTn id="9" dur="500" fill="hold"/>
                                        <p:tgtEl>
                                          <p:spTgt spid="8"/>
                                        </p:tgtEl>
                                        <p:attrNameLst>
                                          <p:attrName>fill.type</p:attrName>
                                        </p:attrNameLst>
                                      </p:cBhvr>
                                      <p:to>
                                        <p:strVal val="solid"/>
                                      </p:to>
                                    </p:set>
                                  </p:childTnLst>
                                </p:cTn>
                              </p:par>
                            </p:childTnLst>
                          </p:cTn>
                        </p:par>
                        <p:par>
                          <p:cTn id="10" fill="hold">
                            <p:stCondLst>
                              <p:cond delay="500"/>
                            </p:stCondLst>
                            <p:childTnLst>
                              <p:par>
                                <p:cTn id="11" presetID="21" presetClass="emph" presetSubtype="0" fill="hold" grpId="1" nodeType="afterEffect">
                                  <p:stCondLst>
                                    <p:cond delay="0"/>
                                  </p:stCondLst>
                                  <p:childTnLst>
                                    <p:animClr clrSpc="hsl" dir="cw">
                                      <p:cBhvr override="childStyle">
                                        <p:cTn id="12" dur="500" fill="hold"/>
                                        <p:tgtEl>
                                          <p:spTgt spid="8"/>
                                        </p:tgtEl>
                                        <p:attrNameLst>
                                          <p:attrName>style.color</p:attrName>
                                        </p:attrNameLst>
                                      </p:cBhvr>
                                      <p:by>
                                        <p:hsl h="7200000" s="0" l="0"/>
                                      </p:by>
                                    </p:animClr>
                                    <p:animClr clrSpc="hsl" dir="cw">
                                      <p:cBhvr>
                                        <p:cTn id="13" dur="500" fill="hold"/>
                                        <p:tgtEl>
                                          <p:spTgt spid="8"/>
                                        </p:tgtEl>
                                        <p:attrNameLst>
                                          <p:attrName>fillcolor</p:attrName>
                                        </p:attrNameLst>
                                      </p:cBhvr>
                                      <p:by>
                                        <p:hsl h="7200000" s="0" l="0"/>
                                      </p:by>
                                    </p:animClr>
                                    <p:animClr clrSpc="hsl" dir="cw">
                                      <p:cBhvr>
                                        <p:cTn id="14" dur="500" fill="hold"/>
                                        <p:tgtEl>
                                          <p:spTgt spid="8"/>
                                        </p:tgtEl>
                                        <p:attrNameLst>
                                          <p:attrName>stroke.color</p:attrName>
                                        </p:attrNameLst>
                                      </p:cBhvr>
                                      <p:by>
                                        <p:hsl h="7200000" s="0" l="0"/>
                                      </p:by>
                                    </p:animClr>
                                    <p:set>
                                      <p:cBhvr>
                                        <p:cTn id="15" dur="500" fill="hold"/>
                                        <p:tgtEl>
                                          <p:spTgt spid="8"/>
                                        </p:tgtEl>
                                        <p:attrNameLst>
                                          <p:attrName>fill.type</p:attrName>
                                        </p:attrNameLst>
                                      </p:cBhvr>
                                      <p:to>
                                        <p:strVal val="solid"/>
                                      </p:to>
                                    </p:set>
                                  </p:childTnLst>
                                </p:cTn>
                              </p:par>
                              <p:par>
                                <p:cTn id="16" presetID="63" presetClass="path" presetSubtype="0" accel="50000" decel="50000" fill="hold" grpId="0" nodeType="withEffect">
                                  <p:stCondLst>
                                    <p:cond delay="0"/>
                                  </p:stCondLst>
                                  <p:childTnLst>
                                    <p:animMotion origin="layout" path="M 0 2.55319E-6 L 0.1 2.55319E-6 " pathEditMode="relative" rAng="0" ptsTypes="AA">
                                      <p:cBhvr>
                                        <p:cTn id="17" dur="1000" fill="hold"/>
                                        <p:tgtEl>
                                          <p:spTgt spid="42"/>
                                        </p:tgtEl>
                                        <p:attrNameLst>
                                          <p:attrName>ppt_x</p:attrName>
                                          <p:attrName>ppt_y</p:attrName>
                                        </p:attrNameLst>
                                      </p:cBhvr>
                                      <p:rCtr x="50" y="0"/>
                                    </p:animMotion>
                                  </p:childTnLst>
                                </p:cTn>
                              </p:par>
                            </p:childTnLst>
                          </p:cTn>
                        </p:par>
                        <p:par>
                          <p:cTn id="18" fill="hold">
                            <p:stCondLst>
                              <p:cond delay="1500"/>
                            </p:stCondLst>
                            <p:childTnLst>
                              <p:par>
                                <p:cTn id="19" presetID="21" presetClass="emph" presetSubtype="0" fill="hold" grpId="0" nodeType="afterEffect">
                                  <p:stCondLst>
                                    <p:cond delay="0"/>
                                  </p:stCondLst>
                                  <p:childTnLst>
                                    <p:animClr clrSpc="hsl" dir="cw">
                                      <p:cBhvr override="childStyle">
                                        <p:cTn id="20" dur="500" fill="hold"/>
                                        <p:tgtEl>
                                          <p:spTgt spid="9"/>
                                        </p:tgtEl>
                                        <p:attrNameLst>
                                          <p:attrName>style.color</p:attrName>
                                        </p:attrNameLst>
                                      </p:cBhvr>
                                      <p:by>
                                        <p:hsl h="7200000" s="0" l="0"/>
                                      </p:by>
                                    </p:animClr>
                                    <p:animClr clrSpc="hsl" dir="cw">
                                      <p:cBhvr>
                                        <p:cTn id="21" dur="500" fill="hold"/>
                                        <p:tgtEl>
                                          <p:spTgt spid="9"/>
                                        </p:tgtEl>
                                        <p:attrNameLst>
                                          <p:attrName>fillcolor</p:attrName>
                                        </p:attrNameLst>
                                      </p:cBhvr>
                                      <p:by>
                                        <p:hsl h="7200000" s="0" l="0"/>
                                      </p:by>
                                    </p:animClr>
                                    <p:animClr clrSpc="hsl" dir="cw">
                                      <p:cBhvr>
                                        <p:cTn id="22" dur="500" fill="hold"/>
                                        <p:tgtEl>
                                          <p:spTgt spid="9"/>
                                        </p:tgtEl>
                                        <p:attrNameLst>
                                          <p:attrName>stroke.color</p:attrName>
                                        </p:attrNameLst>
                                      </p:cBhvr>
                                      <p:by>
                                        <p:hsl h="7200000" s="0" l="0"/>
                                      </p:by>
                                    </p:animClr>
                                    <p:set>
                                      <p:cBhvr>
                                        <p:cTn id="23" dur="500" fill="hold"/>
                                        <p:tgtEl>
                                          <p:spTgt spid="9"/>
                                        </p:tgtEl>
                                        <p:attrNameLst>
                                          <p:attrName>fill.type</p:attrName>
                                        </p:attrNameLst>
                                      </p:cBhvr>
                                      <p:to>
                                        <p:strVal val="solid"/>
                                      </p:to>
                                    </p:set>
                                  </p:childTnLst>
                                </p:cTn>
                              </p:par>
                            </p:childTnLst>
                          </p:cTn>
                        </p:par>
                        <p:par>
                          <p:cTn id="24" fill="hold">
                            <p:stCondLst>
                              <p:cond delay="2000"/>
                            </p:stCondLst>
                            <p:childTnLst>
                              <p:par>
                                <p:cTn id="25" presetID="21" presetClass="emph" presetSubtype="0" fill="hold" grpId="1" nodeType="afterEffect">
                                  <p:stCondLst>
                                    <p:cond delay="0"/>
                                  </p:stCondLst>
                                  <p:childTnLst>
                                    <p:animClr clrSpc="hsl" dir="cw">
                                      <p:cBhvr override="childStyle">
                                        <p:cTn id="26" dur="500" fill="hold"/>
                                        <p:tgtEl>
                                          <p:spTgt spid="9"/>
                                        </p:tgtEl>
                                        <p:attrNameLst>
                                          <p:attrName>style.color</p:attrName>
                                        </p:attrNameLst>
                                      </p:cBhvr>
                                      <p:by>
                                        <p:hsl h="7200000" s="0" l="0"/>
                                      </p:by>
                                    </p:animClr>
                                    <p:animClr clrSpc="hsl" dir="cw">
                                      <p:cBhvr>
                                        <p:cTn id="27" dur="500" fill="hold"/>
                                        <p:tgtEl>
                                          <p:spTgt spid="9"/>
                                        </p:tgtEl>
                                        <p:attrNameLst>
                                          <p:attrName>fillcolor</p:attrName>
                                        </p:attrNameLst>
                                      </p:cBhvr>
                                      <p:by>
                                        <p:hsl h="7200000" s="0" l="0"/>
                                      </p:by>
                                    </p:animClr>
                                    <p:animClr clrSpc="hsl" dir="cw">
                                      <p:cBhvr>
                                        <p:cTn id="28" dur="500" fill="hold"/>
                                        <p:tgtEl>
                                          <p:spTgt spid="9"/>
                                        </p:tgtEl>
                                        <p:attrNameLst>
                                          <p:attrName>stroke.color</p:attrName>
                                        </p:attrNameLst>
                                      </p:cBhvr>
                                      <p:by>
                                        <p:hsl h="7200000" s="0" l="0"/>
                                      </p:by>
                                    </p:animClr>
                                    <p:set>
                                      <p:cBhvr>
                                        <p:cTn id="29" dur="500" fill="hold"/>
                                        <p:tgtEl>
                                          <p:spTgt spid="9"/>
                                        </p:tgtEl>
                                        <p:attrNameLst>
                                          <p:attrName>fill.type</p:attrName>
                                        </p:attrNameLst>
                                      </p:cBhvr>
                                      <p:to>
                                        <p:strVal val="solid"/>
                                      </p:to>
                                    </p:set>
                                  </p:childTnLst>
                                </p:cTn>
                              </p:par>
                              <p:par>
                                <p:cTn id="30" presetID="26" presetClass="emph" presetSubtype="0" fill="hold" grpId="0" nodeType="withEffect">
                                  <p:stCondLst>
                                    <p:cond delay="0"/>
                                  </p:stCondLst>
                                  <p:childTnLst>
                                    <p:animEffect transition="out" filter="fade">
                                      <p:cBhvr>
                                        <p:cTn id="31" dur="1000" tmFilter="0, 0; .2, .5; .8, .5; 1, 0"/>
                                        <p:tgtEl>
                                          <p:spTgt spid="37"/>
                                        </p:tgtEl>
                                      </p:cBhvr>
                                    </p:animEffect>
                                    <p:animScale>
                                      <p:cBhvr>
                                        <p:cTn id="32" dur="500" autoRev="1" fill="hold"/>
                                        <p:tgtEl>
                                          <p:spTgt spid="37"/>
                                        </p:tgtEl>
                                      </p:cBhvr>
                                      <p:by x="105000" y="105000"/>
                                    </p:animScale>
                                  </p:childTnLst>
                                </p:cTn>
                              </p:par>
                            </p:childTnLst>
                          </p:cTn>
                        </p:par>
                        <p:par>
                          <p:cTn id="33" fill="hold">
                            <p:stCondLst>
                              <p:cond delay="3000"/>
                            </p:stCondLst>
                            <p:childTnLst>
                              <p:par>
                                <p:cTn id="34" presetID="0" presetClass="path" presetSubtype="0" accel="50000" decel="50000" fill="hold" grpId="1" nodeType="afterEffect">
                                  <p:stCondLst>
                                    <p:cond delay="0"/>
                                  </p:stCondLst>
                                  <p:childTnLst>
                                    <p:animMotion origin="layout" path="M 0.1 3.33333E-6 C 0.13229 -0.01065 0.16528 -0.0213 0.19722 -0.02176 C 0.22917 -0.02223 0.27483 -0.00787 0.29167 -0.00417 " pathEditMode="relative" rAng="0" ptsTypes="aaA">
                                      <p:cBhvr>
                                        <p:cTn id="35" dur="2000" fill="hold"/>
                                        <p:tgtEl>
                                          <p:spTgt spid="42"/>
                                        </p:tgtEl>
                                        <p:attrNameLst>
                                          <p:attrName>ppt_x</p:attrName>
                                          <p:attrName>ppt_y</p:attrName>
                                        </p:attrNameLst>
                                      </p:cBhvr>
                                      <p:rCtr x="96" y="-11"/>
                                    </p:animMotion>
                                  </p:childTnLst>
                                </p:cTn>
                              </p:par>
                              <p:par>
                                <p:cTn id="36" presetID="1"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par>
                                <p:cTn id="38" presetID="0" presetClass="path" presetSubtype="0" accel="50000" decel="50000" fill="hold" grpId="1" nodeType="withEffect">
                                  <p:stCondLst>
                                    <p:cond delay="0"/>
                                  </p:stCondLst>
                                  <p:childTnLst>
                                    <p:animMotion origin="layout" path="M 5.55112E-17 -1.89264E-6 C 0.03247 -0.02128 0.06545 -0.04257 0.0974 -0.0435 C 0.12934 -0.04442 0.175 -0.01573 0.19167 -0.00833 " pathEditMode="relative" rAng="0" ptsTypes="aaA">
                                      <p:cBhvr>
                                        <p:cTn id="39" dur="3000" fill="hold"/>
                                        <p:tgtEl>
                                          <p:spTgt spid="43"/>
                                        </p:tgtEl>
                                        <p:attrNameLst>
                                          <p:attrName>ppt_x</p:attrName>
                                          <p:attrName>ppt_y</p:attrName>
                                        </p:attrNameLst>
                                      </p:cBhvr>
                                      <p:rCtr x="96" y="-22"/>
                                    </p:animMotion>
                                  </p:childTnLst>
                                </p:cTn>
                              </p:par>
                              <p:par>
                                <p:cTn id="40" presetID="1"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childTnLst>
                                </p:cTn>
                              </p:par>
                              <p:par>
                                <p:cTn id="42" presetID="0" presetClass="path" presetSubtype="0" accel="50000" decel="50000" fill="hold" grpId="1" nodeType="withEffect">
                                  <p:stCondLst>
                                    <p:cond delay="0"/>
                                  </p:stCondLst>
                                  <p:childTnLst>
                                    <p:animMotion origin="layout" path="M 5.55112E-17 -1.89264E-6 C 0.03247 -0.03193 0.06545 -0.06386 0.0974 -0.06525 C 0.12934 -0.06663 0.175 -0.0236 0.19167 -0.01249 " pathEditMode="relative" rAng="0" ptsTypes="aaA">
                                      <p:cBhvr>
                                        <p:cTn id="43" dur="1000" fill="hold"/>
                                        <p:tgtEl>
                                          <p:spTgt spid="44"/>
                                        </p:tgtEl>
                                        <p:attrNameLst>
                                          <p:attrName>ppt_x</p:attrName>
                                          <p:attrName>ppt_y</p:attrName>
                                        </p:attrNameLst>
                                      </p:cBhvr>
                                      <p:rCtr x="96" y="-33"/>
                                    </p:animMotion>
                                  </p:childTnLst>
                                </p:cTn>
                              </p:par>
                              <p:par>
                                <p:cTn id="44" presetID="1" presetClass="entr" presetSubtype="0"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childTnLst>
                                </p:cTn>
                              </p:par>
                              <p:par>
                                <p:cTn id="46" presetID="0" presetClass="path" presetSubtype="0" accel="50000" decel="50000" fill="hold" grpId="1" nodeType="withEffect">
                                  <p:stCondLst>
                                    <p:cond delay="0"/>
                                  </p:stCondLst>
                                  <p:childTnLst>
                                    <p:animMotion origin="layout" path="M 5.55112E-17 -1.89264E-6 C 0.03247 0.02661 0.06545 0.05322 0.0974 0.05437 C 0.12934 0.05553 0.175 0.01967 0.19167 0.01041 " pathEditMode="relative" rAng="0" ptsTypes="aaA">
                                      <p:cBhvr>
                                        <p:cTn id="47" dur="2000" fill="hold"/>
                                        <p:tgtEl>
                                          <p:spTgt spid="45"/>
                                        </p:tgtEl>
                                        <p:attrNameLst>
                                          <p:attrName>ppt_x</p:attrName>
                                          <p:attrName>ppt_y</p:attrName>
                                        </p:attrNameLst>
                                      </p:cBhvr>
                                      <p:rCtr x="96" y="28"/>
                                    </p:animMotion>
                                  </p:childTnLst>
                                </p:cTn>
                              </p:par>
                              <p:par>
                                <p:cTn id="48" presetID="1" presetClass="entr" presetSubtype="0"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childTnLst>
                                </p:cTn>
                              </p:par>
                              <p:par>
                                <p:cTn id="50" presetID="0" presetClass="path" presetSubtype="0" accel="50000" decel="50000" fill="hold" grpId="1" nodeType="withEffect">
                                  <p:stCondLst>
                                    <p:cond delay="0"/>
                                  </p:stCondLst>
                                  <p:childTnLst>
                                    <p:animMotion origin="layout" path="M 5.55112E-17 -1.89264E-6 C 0.03247 0.01597 0.06545 0.03193 0.0974 0.03263 C 0.12934 0.03332 0.175 0.0118 0.19167 0.00625 " pathEditMode="relative" rAng="0" ptsTypes="aaA">
                                      <p:cBhvr>
                                        <p:cTn id="51" dur="2000" fill="hold"/>
                                        <p:tgtEl>
                                          <p:spTgt spid="46"/>
                                        </p:tgtEl>
                                        <p:attrNameLst>
                                          <p:attrName>ppt_x</p:attrName>
                                          <p:attrName>ppt_y</p:attrName>
                                        </p:attrNameLst>
                                      </p:cBhvr>
                                      <p:rCtr x="96" y="17"/>
                                    </p:animMotion>
                                  </p:childTnLst>
                                </p:cTn>
                              </p:par>
                              <p:par>
                                <p:cTn id="52" presetID="1" presetClass="entr" presetSubtype="0"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childTnLst>
                                </p:cTn>
                              </p:par>
                              <p:par>
                                <p:cTn id="54" presetID="0" presetClass="path" presetSubtype="0" accel="50000" decel="50000" fill="hold" grpId="1" nodeType="withEffect">
                                  <p:stCondLst>
                                    <p:cond delay="0"/>
                                  </p:stCondLst>
                                  <p:childTnLst>
                                    <p:animMotion origin="layout" path="M 5.55112E-17 -1.06432E-7 C 0.03247 0.00532 0.06545 0.01064 0.0974 0.01087 C 0.12934 0.01111 0.175 0.00393 0.19167 0.00208 " pathEditMode="relative" rAng="0" ptsTypes="aaA">
                                      <p:cBhvr>
                                        <p:cTn id="55" dur="3000" fill="hold"/>
                                        <p:tgtEl>
                                          <p:spTgt spid="47"/>
                                        </p:tgtEl>
                                        <p:attrNameLst>
                                          <p:attrName>ppt_x</p:attrName>
                                          <p:attrName>ppt_y</p:attrName>
                                        </p:attrNameLst>
                                      </p:cBhvr>
                                      <p:rCtr x="96" y="6"/>
                                    </p:animMotion>
                                  </p:childTnLst>
                                </p:cTn>
                              </p:par>
                            </p:childTnLst>
                          </p:cTn>
                        </p:par>
                        <p:par>
                          <p:cTn id="56" fill="hold">
                            <p:stCondLst>
                              <p:cond delay="6000"/>
                            </p:stCondLst>
                            <p:childTnLst>
                              <p:par>
                                <p:cTn id="57" presetID="1" presetClass="exit" presetSubtype="0" fill="hold" grpId="2" nodeType="afterEffect">
                                  <p:stCondLst>
                                    <p:cond delay="0"/>
                                  </p:stCondLst>
                                  <p:childTnLst>
                                    <p:set>
                                      <p:cBhvr>
                                        <p:cTn id="58" dur="1" fill="hold">
                                          <p:stCondLst>
                                            <p:cond delay="0"/>
                                          </p:stCondLst>
                                        </p:cTn>
                                        <p:tgtEl>
                                          <p:spTgt spid="43"/>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44"/>
                                        </p:tgtEl>
                                        <p:attrNameLst>
                                          <p:attrName>style.visibility</p:attrName>
                                        </p:attrNameLst>
                                      </p:cBhvr>
                                      <p:to>
                                        <p:strVal val="hidden"/>
                                      </p:to>
                                    </p:set>
                                  </p:childTnLst>
                                </p:cTn>
                              </p:par>
                              <p:par>
                                <p:cTn id="61" presetID="1" presetClass="exit" presetSubtype="0" fill="hold" grpId="2" nodeType="withEffect">
                                  <p:stCondLst>
                                    <p:cond delay="0"/>
                                  </p:stCondLst>
                                  <p:childTnLst>
                                    <p:set>
                                      <p:cBhvr>
                                        <p:cTn id="62" dur="1" fill="hold">
                                          <p:stCondLst>
                                            <p:cond delay="0"/>
                                          </p:stCondLst>
                                        </p:cTn>
                                        <p:tgtEl>
                                          <p:spTgt spid="45"/>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46"/>
                                        </p:tgtEl>
                                        <p:attrNameLst>
                                          <p:attrName>style.visibility</p:attrName>
                                        </p:attrNameLst>
                                      </p:cBhvr>
                                      <p:to>
                                        <p:strVal val="hidden"/>
                                      </p:to>
                                    </p:set>
                                  </p:childTnLst>
                                </p:cTn>
                              </p:par>
                              <p:par>
                                <p:cTn id="65" presetID="1" presetClass="exit" presetSubtype="0" fill="hold" grpId="2" nodeType="withEffect">
                                  <p:stCondLst>
                                    <p:cond delay="0"/>
                                  </p:stCondLst>
                                  <p:childTnLst>
                                    <p:set>
                                      <p:cBhvr>
                                        <p:cTn id="66" dur="1" fill="hold">
                                          <p:stCondLst>
                                            <p:cond delay="0"/>
                                          </p:stCondLst>
                                        </p:cTn>
                                        <p:tgtEl>
                                          <p:spTgt spid="47"/>
                                        </p:tgtEl>
                                        <p:attrNameLst>
                                          <p:attrName>style.visibility</p:attrName>
                                        </p:attrNameLst>
                                      </p:cBhvr>
                                      <p:to>
                                        <p:strVal val="hidden"/>
                                      </p:to>
                                    </p:set>
                                  </p:childTnLst>
                                </p:cTn>
                              </p:par>
                              <p:par>
                                <p:cTn id="67" presetID="21" presetClass="emph" presetSubtype="0" fill="hold" grpId="0" nodeType="withEffect">
                                  <p:stCondLst>
                                    <p:cond delay="0"/>
                                  </p:stCondLst>
                                  <p:childTnLst>
                                    <p:animClr clrSpc="hsl" dir="cw">
                                      <p:cBhvr override="childStyle">
                                        <p:cTn id="68" dur="500" fill="hold"/>
                                        <p:tgtEl>
                                          <p:spTgt spid="10"/>
                                        </p:tgtEl>
                                        <p:attrNameLst>
                                          <p:attrName>style.color</p:attrName>
                                        </p:attrNameLst>
                                      </p:cBhvr>
                                      <p:by>
                                        <p:hsl h="7200000" s="0" l="0"/>
                                      </p:by>
                                    </p:animClr>
                                    <p:animClr clrSpc="hsl" dir="cw">
                                      <p:cBhvr>
                                        <p:cTn id="69" dur="500" fill="hold"/>
                                        <p:tgtEl>
                                          <p:spTgt spid="10"/>
                                        </p:tgtEl>
                                        <p:attrNameLst>
                                          <p:attrName>fillcolor</p:attrName>
                                        </p:attrNameLst>
                                      </p:cBhvr>
                                      <p:by>
                                        <p:hsl h="7200000" s="0" l="0"/>
                                      </p:by>
                                    </p:animClr>
                                    <p:animClr clrSpc="hsl" dir="cw">
                                      <p:cBhvr>
                                        <p:cTn id="70" dur="500" fill="hold"/>
                                        <p:tgtEl>
                                          <p:spTgt spid="10"/>
                                        </p:tgtEl>
                                        <p:attrNameLst>
                                          <p:attrName>stroke.color</p:attrName>
                                        </p:attrNameLst>
                                      </p:cBhvr>
                                      <p:by>
                                        <p:hsl h="7200000" s="0" l="0"/>
                                      </p:by>
                                    </p:animClr>
                                    <p:set>
                                      <p:cBhvr>
                                        <p:cTn id="71" dur="500" fill="hold"/>
                                        <p:tgtEl>
                                          <p:spTgt spid="10"/>
                                        </p:tgtEl>
                                        <p:attrNameLst>
                                          <p:attrName>fill.type</p:attrName>
                                        </p:attrNameLst>
                                      </p:cBhvr>
                                      <p:to>
                                        <p:strVal val="solid"/>
                                      </p:to>
                                    </p:set>
                                  </p:childTnLst>
                                </p:cTn>
                              </p:par>
                              <p:par>
                                <p:cTn id="72" presetID="26" presetClass="emph" presetSubtype="0" fill="hold" grpId="0" nodeType="withEffect">
                                  <p:stCondLst>
                                    <p:cond delay="0"/>
                                  </p:stCondLst>
                                  <p:childTnLst>
                                    <p:animEffect transition="out" filter="fade">
                                      <p:cBhvr>
                                        <p:cTn id="73" dur="500" tmFilter="0, 0; .2, .5; .8, .5; 1, 0"/>
                                        <p:tgtEl>
                                          <p:spTgt spid="39"/>
                                        </p:tgtEl>
                                      </p:cBhvr>
                                    </p:animEffect>
                                    <p:animScale>
                                      <p:cBhvr>
                                        <p:cTn id="74" dur="250" autoRev="1" fill="hold"/>
                                        <p:tgtEl>
                                          <p:spTgt spid="39"/>
                                        </p:tgtEl>
                                      </p:cBhvr>
                                      <p:by x="105000" y="105000"/>
                                    </p:animScale>
                                  </p:childTnLst>
                                </p:cTn>
                              </p:par>
                            </p:childTnLst>
                          </p:cTn>
                        </p:par>
                        <p:par>
                          <p:cTn id="75" fill="hold">
                            <p:stCondLst>
                              <p:cond delay="6500"/>
                            </p:stCondLst>
                            <p:childTnLst>
                              <p:par>
                                <p:cTn id="76" presetID="21" presetClass="emph" presetSubtype="0" fill="hold" grpId="1" nodeType="afterEffect">
                                  <p:stCondLst>
                                    <p:cond delay="0"/>
                                  </p:stCondLst>
                                  <p:childTnLst>
                                    <p:animClr clrSpc="hsl" dir="cw">
                                      <p:cBhvr override="childStyle">
                                        <p:cTn id="77" dur="500" fill="hold"/>
                                        <p:tgtEl>
                                          <p:spTgt spid="10"/>
                                        </p:tgtEl>
                                        <p:attrNameLst>
                                          <p:attrName>style.color</p:attrName>
                                        </p:attrNameLst>
                                      </p:cBhvr>
                                      <p:by>
                                        <p:hsl h="7200000" s="0" l="0"/>
                                      </p:by>
                                    </p:animClr>
                                    <p:animClr clrSpc="hsl" dir="cw">
                                      <p:cBhvr>
                                        <p:cTn id="78" dur="500" fill="hold"/>
                                        <p:tgtEl>
                                          <p:spTgt spid="10"/>
                                        </p:tgtEl>
                                        <p:attrNameLst>
                                          <p:attrName>fillcolor</p:attrName>
                                        </p:attrNameLst>
                                      </p:cBhvr>
                                      <p:by>
                                        <p:hsl h="7200000" s="0" l="0"/>
                                      </p:by>
                                    </p:animClr>
                                    <p:animClr clrSpc="hsl" dir="cw">
                                      <p:cBhvr>
                                        <p:cTn id="79" dur="500" fill="hold"/>
                                        <p:tgtEl>
                                          <p:spTgt spid="10"/>
                                        </p:tgtEl>
                                        <p:attrNameLst>
                                          <p:attrName>stroke.color</p:attrName>
                                        </p:attrNameLst>
                                      </p:cBhvr>
                                      <p:by>
                                        <p:hsl h="7200000" s="0" l="0"/>
                                      </p:by>
                                    </p:animClr>
                                    <p:set>
                                      <p:cBhvr>
                                        <p:cTn id="80" dur="500" fill="hold"/>
                                        <p:tgtEl>
                                          <p:spTgt spid="10"/>
                                        </p:tgtEl>
                                        <p:attrNameLst>
                                          <p:attrName>fill.type</p:attrName>
                                        </p:attrNameLst>
                                      </p:cBhvr>
                                      <p:to>
                                        <p:strVal val="solid"/>
                                      </p:to>
                                    </p:set>
                                  </p:childTnLst>
                                </p:cTn>
                              </p:par>
                              <p:par>
                                <p:cTn id="81" presetID="63" presetClass="path" presetSubtype="0" accel="50000" decel="50000" fill="hold" grpId="2" nodeType="withEffect">
                                  <p:stCondLst>
                                    <p:cond delay="0"/>
                                  </p:stCondLst>
                                  <p:childTnLst>
                                    <p:animMotion origin="layout" path="M 0.29167 -0.00417 L 0.4 3.33333E-6 " pathEditMode="relative" rAng="0" ptsTypes="AA">
                                      <p:cBhvr>
                                        <p:cTn id="82" dur="1000" fill="hold"/>
                                        <p:tgtEl>
                                          <p:spTgt spid="42"/>
                                        </p:tgtEl>
                                        <p:attrNameLst>
                                          <p:attrName>ppt_x</p:attrName>
                                          <p:attrName>ppt_y</p:attrName>
                                        </p:attrNameLst>
                                      </p:cBhvr>
                                      <p:rCtr x="54" y="2"/>
                                    </p:animMotion>
                                  </p:childTnLst>
                                </p:cTn>
                              </p:par>
                            </p:childTnLst>
                          </p:cTn>
                        </p:par>
                        <p:par>
                          <p:cTn id="83" fill="hold">
                            <p:stCondLst>
                              <p:cond delay="7500"/>
                            </p:stCondLst>
                            <p:childTnLst>
                              <p:par>
                                <p:cTn id="84" presetID="21" presetClass="emph" presetSubtype="0" fill="hold" grpId="0" nodeType="afterEffect">
                                  <p:stCondLst>
                                    <p:cond delay="0"/>
                                  </p:stCondLst>
                                  <p:childTnLst>
                                    <p:animClr clrSpc="hsl" dir="cw">
                                      <p:cBhvr override="childStyle">
                                        <p:cTn id="85" dur="500" fill="hold"/>
                                        <p:tgtEl>
                                          <p:spTgt spid="11"/>
                                        </p:tgtEl>
                                        <p:attrNameLst>
                                          <p:attrName>style.color</p:attrName>
                                        </p:attrNameLst>
                                      </p:cBhvr>
                                      <p:by>
                                        <p:hsl h="7200000" s="0" l="0"/>
                                      </p:by>
                                    </p:animClr>
                                    <p:animClr clrSpc="hsl" dir="cw">
                                      <p:cBhvr>
                                        <p:cTn id="86" dur="500" fill="hold"/>
                                        <p:tgtEl>
                                          <p:spTgt spid="11"/>
                                        </p:tgtEl>
                                        <p:attrNameLst>
                                          <p:attrName>fillcolor</p:attrName>
                                        </p:attrNameLst>
                                      </p:cBhvr>
                                      <p:by>
                                        <p:hsl h="7200000" s="0" l="0"/>
                                      </p:by>
                                    </p:animClr>
                                    <p:animClr clrSpc="hsl" dir="cw">
                                      <p:cBhvr>
                                        <p:cTn id="87" dur="500" fill="hold"/>
                                        <p:tgtEl>
                                          <p:spTgt spid="11"/>
                                        </p:tgtEl>
                                        <p:attrNameLst>
                                          <p:attrName>stroke.color</p:attrName>
                                        </p:attrNameLst>
                                      </p:cBhvr>
                                      <p:by>
                                        <p:hsl h="7200000" s="0" l="0"/>
                                      </p:by>
                                    </p:animClr>
                                    <p:set>
                                      <p:cBhvr>
                                        <p:cTn id="88" dur="500" fill="hold"/>
                                        <p:tgtEl>
                                          <p:spTgt spid="11"/>
                                        </p:tgtEl>
                                        <p:attrNameLst>
                                          <p:attrName>fill.type</p:attrName>
                                        </p:attrNameLst>
                                      </p:cBhvr>
                                      <p:to>
                                        <p:strVal val="solid"/>
                                      </p:to>
                                    </p:set>
                                  </p:childTnLst>
                                </p:cTn>
                              </p:par>
                            </p:childTnLst>
                          </p:cTn>
                        </p:par>
                        <p:par>
                          <p:cTn id="89" fill="hold">
                            <p:stCondLst>
                              <p:cond delay="8000"/>
                            </p:stCondLst>
                            <p:childTnLst>
                              <p:par>
                                <p:cTn id="90" presetID="21" presetClass="emph" presetSubtype="0" fill="hold" grpId="1" nodeType="afterEffect">
                                  <p:stCondLst>
                                    <p:cond delay="0"/>
                                  </p:stCondLst>
                                  <p:childTnLst>
                                    <p:animClr clrSpc="hsl" dir="cw">
                                      <p:cBhvr override="childStyle">
                                        <p:cTn id="91" dur="500" fill="hold"/>
                                        <p:tgtEl>
                                          <p:spTgt spid="11"/>
                                        </p:tgtEl>
                                        <p:attrNameLst>
                                          <p:attrName>style.color</p:attrName>
                                        </p:attrNameLst>
                                      </p:cBhvr>
                                      <p:by>
                                        <p:hsl h="7200000" s="0" l="0"/>
                                      </p:by>
                                    </p:animClr>
                                    <p:animClr clrSpc="hsl" dir="cw">
                                      <p:cBhvr>
                                        <p:cTn id="92" dur="500" fill="hold"/>
                                        <p:tgtEl>
                                          <p:spTgt spid="11"/>
                                        </p:tgtEl>
                                        <p:attrNameLst>
                                          <p:attrName>fillcolor</p:attrName>
                                        </p:attrNameLst>
                                      </p:cBhvr>
                                      <p:by>
                                        <p:hsl h="7200000" s="0" l="0"/>
                                      </p:by>
                                    </p:animClr>
                                    <p:animClr clrSpc="hsl" dir="cw">
                                      <p:cBhvr>
                                        <p:cTn id="93" dur="500" fill="hold"/>
                                        <p:tgtEl>
                                          <p:spTgt spid="11"/>
                                        </p:tgtEl>
                                        <p:attrNameLst>
                                          <p:attrName>stroke.color</p:attrName>
                                        </p:attrNameLst>
                                      </p:cBhvr>
                                      <p:by>
                                        <p:hsl h="7200000" s="0" l="0"/>
                                      </p:by>
                                    </p:animClr>
                                    <p:set>
                                      <p:cBhvr>
                                        <p:cTn id="94" dur="500" fill="hold"/>
                                        <p:tgtEl>
                                          <p:spTgt spid="11"/>
                                        </p:tgtEl>
                                        <p:attrNameLst>
                                          <p:attrName>fill.type</p:attrName>
                                        </p:attrNameLst>
                                      </p:cBhvr>
                                      <p:to>
                                        <p:strVal val="solid"/>
                                      </p:to>
                                    </p:set>
                                  </p:childTnLst>
                                </p:cTn>
                              </p:par>
                              <p:par>
                                <p:cTn id="95" presetID="26" presetClass="emph" presetSubtype="0" fill="hold" grpId="0" nodeType="withEffect">
                                  <p:stCondLst>
                                    <p:cond delay="0"/>
                                  </p:stCondLst>
                                  <p:childTnLst>
                                    <p:animEffect transition="out" filter="fade">
                                      <p:cBhvr>
                                        <p:cTn id="96" dur="1000" tmFilter="0, 0; .2, .5; .8, .5; 1, 0"/>
                                        <p:tgtEl>
                                          <p:spTgt spid="40"/>
                                        </p:tgtEl>
                                      </p:cBhvr>
                                    </p:animEffect>
                                    <p:animScale>
                                      <p:cBhvr>
                                        <p:cTn id="97" dur="500" autoRev="1" fill="hold"/>
                                        <p:tgtEl>
                                          <p:spTgt spid="40"/>
                                        </p:tgtEl>
                                      </p:cBhvr>
                                      <p:by x="105000" y="105000"/>
                                    </p:animScale>
                                  </p:childTnLst>
                                </p:cTn>
                              </p:par>
                            </p:childTnLst>
                          </p:cTn>
                        </p:par>
                        <p:par>
                          <p:cTn id="98" fill="hold">
                            <p:stCondLst>
                              <p:cond delay="9000"/>
                            </p:stCondLst>
                            <p:childTnLst>
                              <p:par>
                                <p:cTn id="99" presetID="0" presetClass="path" presetSubtype="0" accel="50000" decel="50000" fill="hold" grpId="3" nodeType="afterEffect">
                                  <p:stCondLst>
                                    <p:cond delay="0"/>
                                  </p:stCondLst>
                                  <p:childTnLst>
                                    <p:animMotion origin="layout" path="M 0.4 -1.48148E-6 C 0.44878 -0.01204 0.49774 -0.02407 0.54792 -0.0243 C 0.59809 -0.02454 0.64965 -0.01296 0.70139 -0.00116 " pathEditMode="relative" rAng="0" ptsTypes="aaA">
                                      <p:cBhvr>
                                        <p:cTn id="100" dur="5000" fill="hold"/>
                                        <p:tgtEl>
                                          <p:spTgt spid="42"/>
                                        </p:tgtEl>
                                        <p:attrNameLst>
                                          <p:attrName>ppt_x</p:attrName>
                                          <p:attrName>ppt_y</p:attrName>
                                        </p:attrNameLst>
                                      </p:cBhvr>
                                      <p:rCtr x="151" y="-12"/>
                                    </p:animMotion>
                                  </p:childTnLst>
                                </p:cTn>
                              </p:par>
                              <p:par>
                                <p:cTn id="101" presetID="1"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0" presetClass="path" presetSubtype="0" accel="50000" decel="50000" fill="hold" grpId="1" nodeType="withEffect">
                                  <p:stCondLst>
                                    <p:cond delay="0"/>
                                  </p:stCondLst>
                                  <p:childTnLst>
                                    <p:animMotion origin="layout" path="M 0 0 C 0.054 -0.02314 0.10799 -0.04604 0.15834 -0.04651 C 0.20869 -0.04697 0.25556 -0.02522 0.30244 -0.00324 " pathEditMode="relative" ptsTypes="aaA">
                                      <p:cBhvr>
                                        <p:cTn id="104" dur="1000" fill="hold"/>
                                        <p:tgtEl>
                                          <p:spTgt spid="48"/>
                                        </p:tgtEl>
                                        <p:attrNameLst>
                                          <p:attrName>ppt_x</p:attrName>
                                          <p:attrName>ppt_y</p:attrName>
                                        </p:attrNameLst>
                                      </p:cBhvr>
                                    </p:animMotion>
                                  </p:childTnLst>
                                </p:cTn>
                              </p:par>
                              <p:par>
                                <p:cTn id="105" presetID="1" presetClass="entr" presetSubtype="0" fill="hold" grpId="0" nodeType="with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0" presetClass="path" presetSubtype="0" accel="50000" decel="50000" fill="hold" grpId="1" nodeType="withEffect">
                                  <p:stCondLst>
                                    <p:cond delay="0"/>
                                  </p:stCondLst>
                                  <p:childTnLst>
                                    <p:animMotion origin="layout" path="M 1.11022E-16 -1.89264E-6 C 0.05399 -0.02753 0.10799 -0.0546 0.15833 -0.0553 C 0.20868 -0.05553 0.25556 -0.03008 0.30243 -0.00393 " pathEditMode="relative" rAng="0" ptsTypes="aaA">
                                      <p:cBhvr>
                                        <p:cTn id="108" dur="3000" fill="hold"/>
                                        <p:tgtEl>
                                          <p:spTgt spid="49"/>
                                        </p:tgtEl>
                                        <p:attrNameLst>
                                          <p:attrName>ppt_x</p:attrName>
                                          <p:attrName>ppt_y</p:attrName>
                                        </p:attrNameLst>
                                      </p:cBhvr>
                                      <p:rCtr x="151" y="-28"/>
                                    </p:animMotion>
                                  </p:childTnLst>
                                </p:cTn>
                              </p:par>
                              <p:par>
                                <p:cTn id="109" presetID="1" presetClass="entr" presetSubtype="0" fill="hold" grpId="0" nodeType="withEffect">
                                  <p:stCondLst>
                                    <p:cond delay="0"/>
                                  </p:stCondLst>
                                  <p:childTnLst>
                                    <p:set>
                                      <p:cBhvr>
                                        <p:cTn id="110" dur="1" fill="hold">
                                          <p:stCondLst>
                                            <p:cond delay="0"/>
                                          </p:stCondLst>
                                        </p:cTn>
                                        <p:tgtEl>
                                          <p:spTgt spid="50"/>
                                        </p:tgtEl>
                                        <p:attrNameLst>
                                          <p:attrName>style.visibility</p:attrName>
                                        </p:attrNameLst>
                                      </p:cBhvr>
                                      <p:to>
                                        <p:strVal val="visible"/>
                                      </p:to>
                                    </p:set>
                                  </p:childTnLst>
                                </p:cTn>
                              </p:par>
                              <p:par>
                                <p:cTn id="111" presetID="0" presetClass="path" presetSubtype="0" accel="50000" decel="50000" fill="hold" grpId="1" nodeType="withEffect">
                                  <p:stCondLst>
                                    <p:cond delay="0"/>
                                  </p:stCondLst>
                                  <p:childTnLst>
                                    <p:animMotion origin="layout" path="M 1.11022E-16 -1.89264E-6 C 0.05399 -0.03887 0.10799 -0.07658 0.15833 -0.07751 C 0.20868 -0.07774 0.25556 -0.04211 0.30243 -0.00555 " pathEditMode="relative" rAng="0" ptsTypes="aaA">
                                      <p:cBhvr>
                                        <p:cTn id="112" dur="2000" fill="hold"/>
                                        <p:tgtEl>
                                          <p:spTgt spid="50"/>
                                        </p:tgtEl>
                                        <p:attrNameLst>
                                          <p:attrName>ppt_x</p:attrName>
                                          <p:attrName>ppt_y</p:attrName>
                                        </p:attrNameLst>
                                      </p:cBhvr>
                                      <p:rCtr x="151" y="-39"/>
                                    </p:animMotion>
                                  </p:childTnLst>
                                </p:cTn>
                              </p:par>
                              <p:par>
                                <p:cTn id="113" presetID="1" presetClass="entr" presetSubtype="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par>
                                <p:cTn id="115" presetID="0" presetClass="path" presetSubtype="0" accel="50000" decel="50000" fill="hold" grpId="1" nodeType="withEffect">
                                  <p:stCondLst>
                                    <p:cond delay="0"/>
                                  </p:stCondLst>
                                  <p:childTnLst>
                                    <p:animMotion origin="layout" path="M 3.33333E-6 -2.19806E-6 C 0.05399 0.00532 0.10798 0.01088 0.15833 0.01088 C 0.20868 0.01111 0.25555 0.00579 0.30243 0.0007 " pathEditMode="relative" rAng="0" ptsTypes="aaA">
                                      <p:cBhvr>
                                        <p:cTn id="116" dur="2000" fill="hold"/>
                                        <p:tgtEl>
                                          <p:spTgt spid="51"/>
                                        </p:tgtEl>
                                        <p:attrNameLst>
                                          <p:attrName>ppt_x</p:attrName>
                                          <p:attrName>ppt_y</p:attrName>
                                        </p:attrNameLst>
                                      </p:cBhvr>
                                      <p:rCtr x="151" y="6"/>
                                    </p:animMotion>
                                  </p:childTnLst>
                                </p:cTn>
                              </p:par>
                              <p:par>
                                <p:cTn id="117" presetID="1" presetClass="entr" presetSubtype="0" fill="hold" grpId="0" nodeType="with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par>
                                <p:cTn id="119" presetID="0" presetClass="path" presetSubtype="0" accel="50000" decel="50000" fill="hold" grpId="1" nodeType="withEffect">
                                  <p:stCondLst>
                                    <p:cond delay="0"/>
                                  </p:stCondLst>
                                  <p:childTnLst>
                                    <p:animMotion origin="layout" path="M 1.11022E-16 -1.89264E-6 C 0.05399 0.01597 0.10799 0.03263 0.15833 0.03263 C 0.20868 0.03332 0.25556 0.01735 0.30243 0.00208 " pathEditMode="relative" rAng="0" ptsTypes="aaA">
                                      <p:cBhvr>
                                        <p:cTn id="120" dur="2000" fill="hold"/>
                                        <p:tgtEl>
                                          <p:spTgt spid="52"/>
                                        </p:tgtEl>
                                        <p:attrNameLst>
                                          <p:attrName>ppt_x</p:attrName>
                                          <p:attrName>ppt_y</p:attrName>
                                        </p:attrNameLst>
                                      </p:cBhvr>
                                      <p:rCtr x="151" y="17"/>
                                    </p:animMotion>
                                  </p:childTnLst>
                                </p:cTn>
                              </p:par>
                              <p:par>
                                <p:cTn id="121" presetID="1"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childTnLst>
                                </p:cTn>
                              </p:par>
                              <p:par>
                                <p:cTn id="123" presetID="0" presetClass="path" presetSubtype="0" accel="50000" decel="50000" fill="hold" grpId="1" nodeType="withEffect">
                                  <p:stCondLst>
                                    <p:cond delay="0"/>
                                  </p:stCondLst>
                                  <p:childTnLst>
                                    <p:animMotion origin="layout" path="M 1.11022E-16 -1.89264E-6 C 0.05399 0.02661 0.10799 0.05437 0.15833 0.05437 C 0.20868 0.05553 0.25556 0.02892 0.30243 0.00347 " pathEditMode="relative" rAng="0" ptsTypes="aaA">
                                      <p:cBhvr>
                                        <p:cTn id="124" dur="3000" fill="hold"/>
                                        <p:tgtEl>
                                          <p:spTgt spid="53"/>
                                        </p:tgtEl>
                                        <p:attrNameLst>
                                          <p:attrName>ppt_x</p:attrName>
                                          <p:attrName>ppt_y</p:attrName>
                                        </p:attrNameLst>
                                      </p:cBhvr>
                                      <p:rCtr x="151" y="28"/>
                                    </p:animMotion>
                                  </p:childTnLst>
                                </p:cTn>
                              </p:par>
                              <p:par>
                                <p:cTn id="125" presetID="1"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childTnLst>
                                </p:cTn>
                              </p:par>
                              <p:par>
                                <p:cTn id="127" presetID="0" presetClass="path" presetSubtype="0" accel="50000" decel="50000" fill="hold" grpId="1" nodeType="withEffect">
                                  <p:stCondLst>
                                    <p:cond delay="0"/>
                                  </p:stCondLst>
                                  <p:childTnLst>
                                    <p:animMotion origin="layout" path="M 1.11022E-16 -1.89264E-6 C 0.05399 0.04257 0.10799 0.087 0.15833 0.087 C 0.20868 0.08885 0.25556 0.04628 0.30243 0.00555 " pathEditMode="relative" rAng="0" ptsTypes="aaA">
                                      <p:cBhvr>
                                        <p:cTn id="128" dur="1000" fill="hold"/>
                                        <p:tgtEl>
                                          <p:spTgt spid="54"/>
                                        </p:tgtEl>
                                        <p:attrNameLst>
                                          <p:attrName>ppt_x</p:attrName>
                                          <p:attrName>ppt_y</p:attrName>
                                        </p:attrNameLst>
                                      </p:cBhvr>
                                      <p:rCtr x="151" y="44"/>
                                    </p:animMotion>
                                  </p:childTnLst>
                                </p:cTn>
                              </p:par>
                            </p:childTnLst>
                          </p:cTn>
                        </p:par>
                        <p:par>
                          <p:cTn id="129" fill="hold">
                            <p:stCondLst>
                              <p:cond delay="14000"/>
                            </p:stCondLst>
                            <p:childTnLst>
                              <p:par>
                                <p:cTn id="130" presetID="1" presetClass="exit" presetSubtype="0" fill="hold" grpId="2" nodeType="afterEffect">
                                  <p:stCondLst>
                                    <p:cond delay="0"/>
                                  </p:stCondLst>
                                  <p:childTnLst>
                                    <p:set>
                                      <p:cBhvr>
                                        <p:cTn id="131" dur="1" fill="hold">
                                          <p:stCondLst>
                                            <p:cond delay="0"/>
                                          </p:stCondLst>
                                        </p:cTn>
                                        <p:tgtEl>
                                          <p:spTgt spid="54"/>
                                        </p:tgtEl>
                                        <p:attrNameLst>
                                          <p:attrName>style.visibility</p:attrName>
                                        </p:attrNameLst>
                                      </p:cBhvr>
                                      <p:to>
                                        <p:strVal val="hidden"/>
                                      </p:to>
                                    </p:set>
                                  </p:childTnLst>
                                </p:cTn>
                              </p:par>
                              <p:par>
                                <p:cTn id="132" presetID="1" presetClass="exit" presetSubtype="0" fill="hold" grpId="2" nodeType="withEffect">
                                  <p:stCondLst>
                                    <p:cond delay="0"/>
                                  </p:stCondLst>
                                  <p:childTnLst>
                                    <p:set>
                                      <p:cBhvr>
                                        <p:cTn id="133" dur="1" fill="hold">
                                          <p:stCondLst>
                                            <p:cond delay="0"/>
                                          </p:stCondLst>
                                        </p:cTn>
                                        <p:tgtEl>
                                          <p:spTgt spid="53"/>
                                        </p:tgtEl>
                                        <p:attrNameLst>
                                          <p:attrName>style.visibility</p:attrName>
                                        </p:attrNameLst>
                                      </p:cBhvr>
                                      <p:to>
                                        <p:strVal val="hidden"/>
                                      </p:to>
                                    </p:set>
                                  </p:childTnLst>
                                </p:cTn>
                              </p:par>
                              <p:par>
                                <p:cTn id="134" presetID="1" presetClass="exit" presetSubtype="0" fill="hold" grpId="2" nodeType="withEffect">
                                  <p:stCondLst>
                                    <p:cond delay="0"/>
                                  </p:stCondLst>
                                  <p:childTnLst>
                                    <p:set>
                                      <p:cBhvr>
                                        <p:cTn id="135" dur="1" fill="hold">
                                          <p:stCondLst>
                                            <p:cond delay="0"/>
                                          </p:stCondLst>
                                        </p:cTn>
                                        <p:tgtEl>
                                          <p:spTgt spid="52"/>
                                        </p:tgtEl>
                                        <p:attrNameLst>
                                          <p:attrName>style.visibility</p:attrName>
                                        </p:attrNameLst>
                                      </p:cBhvr>
                                      <p:to>
                                        <p:strVal val="hidden"/>
                                      </p:to>
                                    </p:set>
                                  </p:childTnLst>
                                </p:cTn>
                              </p:par>
                              <p:par>
                                <p:cTn id="136" presetID="1" presetClass="exit" presetSubtype="0" fill="hold" grpId="2" nodeType="withEffect">
                                  <p:stCondLst>
                                    <p:cond delay="0"/>
                                  </p:stCondLst>
                                  <p:childTnLst>
                                    <p:set>
                                      <p:cBhvr>
                                        <p:cTn id="137" dur="1" fill="hold">
                                          <p:stCondLst>
                                            <p:cond delay="0"/>
                                          </p:stCondLst>
                                        </p:cTn>
                                        <p:tgtEl>
                                          <p:spTgt spid="51"/>
                                        </p:tgtEl>
                                        <p:attrNameLst>
                                          <p:attrName>style.visibility</p:attrName>
                                        </p:attrNameLst>
                                      </p:cBhvr>
                                      <p:to>
                                        <p:strVal val="hidden"/>
                                      </p:to>
                                    </p:set>
                                  </p:childTnLst>
                                </p:cTn>
                              </p:par>
                              <p:par>
                                <p:cTn id="138" presetID="1" presetClass="exit" presetSubtype="0" fill="hold" grpId="2" nodeType="withEffect">
                                  <p:stCondLst>
                                    <p:cond delay="0"/>
                                  </p:stCondLst>
                                  <p:childTnLst>
                                    <p:set>
                                      <p:cBhvr>
                                        <p:cTn id="139" dur="1" fill="hold">
                                          <p:stCondLst>
                                            <p:cond delay="0"/>
                                          </p:stCondLst>
                                        </p:cTn>
                                        <p:tgtEl>
                                          <p:spTgt spid="50"/>
                                        </p:tgtEl>
                                        <p:attrNameLst>
                                          <p:attrName>style.visibility</p:attrName>
                                        </p:attrNameLst>
                                      </p:cBhvr>
                                      <p:to>
                                        <p:strVal val="hidden"/>
                                      </p:to>
                                    </p:set>
                                  </p:childTnLst>
                                </p:cTn>
                              </p:par>
                              <p:par>
                                <p:cTn id="140" presetID="1" presetClass="exit" presetSubtype="0" fill="hold" grpId="2" nodeType="withEffect">
                                  <p:stCondLst>
                                    <p:cond delay="0"/>
                                  </p:stCondLst>
                                  <p:childTnLst>
                                    <p:set>
                                      <p:cBhvr>
                                        <p:cTn id="141" dur="1" fill="hold">
                                          <p:stCondLst>
                                            <p:cond delay="0"/>
                                          </p:stCondLst>
                                        </p:cTn>
                                        <p:tgtEl>
                                          <p:spTgt spid="49"/>
                                        </p:tgtEl>
                                        <p:attrNameLst>
                                          <p:attrName>style.visibility</p:attrName>
                                        </p:attrNameLst>
                                      </p:cBhvr>
                                      <p:to>
                                        <p:strVal val="hidden"/>
                                      </p:to>
                                    </p:set>
                                  </p:childTnLst>
                                </p:cTn>
                              </p:par>
                              <p:par>
                                <p:cTn id="142" presetID="1" presetClass="exit" presetSubtype="0" fill="hold" grpId="2" nodeType="withEffect">
                                  <p:stCondLst>
                                    <p:cond delay="0"/>
                                  </p:stCondLst>
                                  <p:childTnLst>
                                    <p:set>
                                      <p:cBhvr>
                                        <p:cTn id="143" dur="1" fill="hold">
                                          <p:stCondLst>
                                            <p:cond delay="0"/>
                                          </p:stCondLst>
                                        </p:cTn>
                                        <p:tgtEl>
                                          <p:spTgt spid="48"/>
                                        </p:tgtEl>
                                        <p:attrNameLst>
                                          <p:attrName>style.visibility</p:attrName>
                                        </p:attrNameLst>
                                      </p:cBhvr>
                                      <p:to>
                                        <p:strVal val="hidden"/>
                                      </p:to>
                                    </p:set>
                                  </p:childTnLst>
                                </p:cTn>
                              </p:par>
                            </p:childTnLst>
                          </p:cTn>
                        </p:par>
                        <p:par>
                          <p:cTn id="144" fill="hold">
                            <p:stCondLst>
                              <p:cond delay="14000"/>
                            </p:stCondLst>
                            <p:childTnLst>
                              <p:par>
                                <p:cTn id="145" presetID="21" presetClass="emph" presetSubtype="0" fill="hold" grpId="0" nodeType="afterEffect">
                                  <p:stCondLst>
                                    <p:cond delay="0"/>
                                  </p:stCondLst>
                                  <p:childTnLst>
                                    <p:animClr clrSpc="hsl" dir="cw">
                                      <p:cBhvr override="childStyle">
                                        <p:cTn id="146" dur="500" fill="hold"/>
                                        <p:tgtEl>
                                          <p:spTgt spid="12"/>
                                        </p:tgtEl>
                                        <p:attrNameLst>
                                          <p:attrName>style.color</p:attrName>
                                        </p:attrNameLst>
                                      </p:cBhvr>
                                      <p:by>
                                        <p:hsl h="7200000" s="0" l="0"/>
                                      </p:by>
                                    </p:animClr>
                                    <p:animClr clrSpc="hsl" dir="cw">
                                      <p:cBhvr>
                                        <p:cTn id="147" dur="500" fill="hold"/>
                                        <p:tgtEl>
                                          <p:spTgt spid="12"/>
                                        </p:tgtEl>
                                        <p:attrNameLst>
                                          <p:attrName>fillcolor</p:attrName>
                                        </p:attrNameLst>
                                      </p:cBhvr>
                                      <p:by>
                                        <p:hsl h="7200000" s="0" l="0"/>
                                      </p:by>
                                    </p:animClr>
                                    <p:animClr clrSpc="hsl" dir="cw">
                                      <p:cBhvr>
                                        <p:cTn id="148" dur="500" fill="hold"/>
                                        <p:tgtEl>
                                          <p:spTgt spid="12"/>
                                        </p:tgtEl>
                                        <p:attrNameLst>
                                          <p:attrName>stroke.color</p:attrName>
                                        </p:attrNameLst>
                                      </p:cBhvr>
                                      <p:by>
                                        <p:hsl h="7200000" s="0" l="0"/>
                                      </p:by>
                                    </p:animClr>
                                    <p:set>
                                      <p:cBhvr>
                                        <p:cTn id="149" dur="500" fill="hold"/>
                                        <p:tgtEl>
                                          <p:spTgt spid="12"/>
                                        </p:tgtEl>
                                        <p:attrNameLst>
                                          <p:attrName>fill.type</p:attrName>
                                        </p:attrNameLst>
                                      </p:cBhvr>
                                      <p:to>
                                        <p:strVal val="solid"/>
                                      </p:to>
                                    </p:set>
                                  </p:childTnLst>
                                </p:cTn>
                              </p:par>
                              <p:par>
                                <p:cTn id="150" presetID="26" presetClass="emph" presetSubtype="0" fill="hold" grpId="0" nodeType="withEffect">
                                  <p:stCondLst>
                                    <p:cond delay="0"/>
                                  </p:stCondLst>
                                  <p:childTnLst>
                                    <p:animEffect transition="out" filter="fade">
                                      <p:cBhvr>
                                        <p:cTn id="151" dur="500" tmFilter="0, 0; .2, .5; .8, .5; 1, 0"/>
                                        <p:tgtEl>
                                          <p:spTgt spid="41"/>
                                        </p:tgtEl>
                                      </p:cBhvr>
                                    </p:animEffect>
                                    <p:animScale>
                                      <p:cBhvr>
                                        <p:cTn id="152" dur="250" autoRev="1" fill="hold"/>
                                        <p:tgtEl>
                                          <p:spTgt spid="41"/>
                                        </p:tgtEl>
                                      </p:cBhvr>
                                      <p:by x="105000" y="105000"/>
                                    </p:animScale>
                                  </p:childTnLst>
                                </p:cTn>
                              </p:par>
                            </p:childTnLst>
                          </p:cTn>
                        </p:par>
                        <p:par>
                          <p:cTn id="153" fill="hold">
                            <p:stCondLst>
                              <p:cond delay="14500"/>
                            </p:stCondLst>
                            <p:childTnLst>
                              <p:par>
                                <p:cTn id="154" presetID="63" presetClass="path" presetSubtype="0" accel="50000" decel="50000" fill="hold" grpId="4" nodeType="afterEffect">
                                  <p:stCondLst>
                                    <p:cond delay="0"/>
                                  </p:stCondLst>
                                  <p:childTnLst>
                                    <p:animMotion origin="layout" path="M 0.7 3.33333E-6 L 0.75833 3.33333E-6 " pathEditMode="relative" rAng="0" ptsTypes="AA">
                                      <p:cBhvr>
                                        <p:cTn id="155" dur="2000" fill="hold"/>
                                        <p:tgtEl>
                                          <p:spTgt spid="42"/>
                                        </p:tgtEl>
                                        <p:attrNameLst>
                                          <p:attrName>ppt_x</p:attrName>
                                          <p:attrName>ppt_y</p:attrName>
                                        </p:attrNameLst>
                                      </p:cBhvr>
                                      <p:rCtr x="29" y="0"/>
                                    </p:animMotion>
                                  </p:childTnLst>
                                </p:cTn>
                              </p:par>
                              <p:par>
                                <p:cTn id="156" presetID="21" presetClass="emph" presetSubtype="0" fill="hold" grpId="1" nodeType="withEffect">
                                  <p:stCondLst>
                                    <p:cond delay="0"/>
                                  </p:stCondLst>
                                  <p:childTnLst>
                                    <p:animClr clrSpc="hsl" dir="cw">
                                      <p:cBhvr override="childStyle">
                                        <p:cTn id="157" dur="500" fill="hold"/>
                                        <p:tgtEl>
                                          <p:spTgt spid="12"/>
                                        </p:tgtEl>
                                        <p:attrNameLst>
                                          <p:attrName>style.color</p:attrName>
                                        </p:attrNameLst>
                                      </p:cBhvr>
                                      <p:by>
                                        <p:hsl h="7200000" s="0" l="0"/>
                                      </p:by>
                                    </p:animClr>
                                    <p:animClr clrSpc="hsl" dir="cw">
                                      <p:cBhvr>
                                        <p:cTn id="158" dur="500" fill="hold"/>
                                        <p:tgtEl>
                                          <p:spTgt spid="12"/>
                                        </p:tgtEl>
                                        <p:attrNameLst>
                                          <p:attrName>fillcolor</p:attrName>
                                        </p:attrNameLst>
                                      </p:cBhvr>
                                      <p:by>
                                        <p:hsl h="7200000" s="0" l="0"/>
                                      </p:by>
                                    </p:animClr>
                                    <p:animClr clrSpc="hsl" dir="cw">
                                      <p:cBhvr>
                                        <p:cTn id="159" dur="500" fill="hold"/>
                                        <p:tgtEl>
                                          <p:spTgt spid="12"/>
                                        </p:tgtEl>
                                        <p:attrNameLst>
                                          <p:attrName>stroke.color</p:attrName>
                                        </p:attrNameLst>
                                      </p:cBhvr>
                                      <p:by>
                                        <p:hsl h="7200000" s="0" l="0"/>
                                      </p:by>
                                    </p:animClr>
                                    <p:set>
                                      <p:cBhvr>
                                        <p:cTn id="160" dur="500" fill="hold"/>
                                        <p:tgtEl>
                                          <p:spTgt spid="12"/>
                                        </p:tgtEl>
                                        <p:attrNameLst>
                                          <p:attrName>fill.type</p:attrName>
                                        </p:attrNameLst>
                                      </p:cBhvr>
                                      <p:to>
                                        <p:strVal val="solid"/>
                                      </p:to>
                                    </p:set>
                                  </p:childTnLst>
                                </p:cTn>
                              </p:par>
                            </p:childTnLst>
                          </p:cTn>
                        </p:par>
                        <p:par>
                          <p:cTn id="161" fill="hold">
                            <p:stCondLst>
                              <p:cond delay="16500"/>
                            </p:stCondLst>
                            <p:childTnLst>
                              <p:par>
                                <p:cTn id="162" presetID="1" presetClass="exit" presetSubtype="0" fill="hold" grpId="5" nodeType="afterEffect">
                                  <p:stCondLst>
                                    <p:cond delay="0"/>
                                  </p:stCondLst>
                                  <p:childTnLst>
                                    <p:set>
                                      <p:cBhvr>
                                        <p:cTn id="163" dur="1" fill="hold">
                                          <p:stCondLst>
                                            <p:cond delay="0"/>
                                          </p:stCondLst>
                                        </p:cTn>
                                        <p:tgtEl>
                                          <p:spTgt spid="42"/>
                                        </p:tgtEl>
                                        <p:attrNameLst>
                                          <p:attrName>style.visibility</p:attrName>
                                        </p:attrNameLst>
                                      </p:cBhvr>
                                      <p:to>
                                        <p:strVal val="hidden"/>
                                      </p:to>
                                    </p:set>
                                  </p:childTnLst>
                                </p:cTn>
                              </p:par>
                              <p:par>
                                <p:cTn id="164" presetID="1" presetClass="entr" presetSubtype="0" fill="hold" grpId="0" nodeType="withEffect">
                                  <p:stCondLst>
                                    <p:cond delay="0"/>
                                  </p:stCondLst>
                                  <p:childTnLst>
                                    <p:set>
                                      <p:cBhvr>
                                        <p:cTn id="165"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55">
                                            <p:txEl>
                                              <p:pRg st="2" end="2"/>
                                            </p:txEl>
                                          </p:spTgt>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uild="p"/>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37" grpId="0"/>
      <p:bldP spid="39" grpId="0"/>
      <p:bldP spid="40" grpId="0"/>
      <p:bldP spid="41" grpId="0"/>
      <p:bldP spid="42" grpId="0" animBg="1"/>
      <p:bldP spid="42" grpId="1" animBg="1"/>
      <p:bldP spid="42" grpId="2" animBg="1"/>
      <p:bldP spid="42" grpId="3" animBg="1"/>
      <p:bldP spid="42" grpId="4" animBg="1"/>
      <p:bldP spid="42" grpId="5" animBg="1"/>
      <p:bldP spid="43" grpId="0" animBg="1"/>
      <p:bldP spid="43" grpId="1" animBg="1"/>
      <p:bldP spid="43" grpId="2" animBg="1"/>
      <p:bldP spid="44" grpId="0" animBg="1"/>
      <p:bldP spid="44" grpId="1" animBg="1"/>
      <p:bldP spid="44" grpId="2" animBg="1"/>
      <p:bldP spid="45" grpId="0" animBg="1"/>
      <p:bldP spid="45" grpId="1" animBg="1"/>
      <p:bldP spid="45" grpId="2"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274638"/>
            <a:ext cx="9144000" cy="792162"/>
          </a:xfrm>
        </p:spPr>
        <p:txBody>
          <a:bodyPr/>
          <a:lstStyle/>
          <a:p>
            <a:r>
              <a:rPr lang="en-US" dirty="0" smtClean="0">
                <a:solidFill>
                  <a:schemeClr val="hlink"/>
                </a:solidFill>
              </a:rPr>
              <a:t>Snapshot: XMT High-level language</a:t>
            </a:r>
          </a:p>
        </p:txBody>
      </p:sp>
      <p:sp>
        <p:nvSpPr>
          <p:cNvPr id="13315" name="Rectangle 3"/>
          <p:cNvSpPr>
            <a:spLocks noGrp="1" noChangeArrowheads="1"/>
          </p:cNvSpPr>
          <p:nvPr>
            <p:ph type="body" sz="half" idx="1"/>
          </p:nvPr>
        </p:nvSpPr>
        <p:spPr>
          <a:xfrm>
            <a:off x="0" y="1447800"/>
            <a:ext cx="4495800" cy="4678363"/>
          </a:xfrm>
        </p:spPr>
        <p:txBody>
          <a:bodyPr/>
          <a:lstStyle/>
          <a:p>
            <a:pPr>
              <a:lnSpc>
                <a:spcPct val="90000"/>
              </a:lnSpc>
              <a:buFontTx/>
              <a:buNone/>
            </a:pPr>
            <a:r>
              <a:rPr lang="en-US" sz="2000" u="sng" dirty="0" smtClean="0">
                <a:solidFill>
                  <a:schemeClr val="accent2"/>
                </a:solidFill>
              </a:rPr>
              <a:t>Cartoon</a:t>
            </a:r>
            <a:r>
              <a:rPr lang="en-US" sz="2000" dirty="0" smtClean="0"/>
              <a:t> Spawn creates threads; a</a:t>
            </a:r>
          </a:p>
          <a:p>
            <a:pPr>
              <a:lnSpc>
                <a:spcPct val="90000"/>
              </a:lnSpc>
              <a:buFontTx/>
              <a:buNone/>
            </a:pPr>
            <a:r>
              <a:rPr lang="en-US" sz="2000" dirty="0" smtClean="0"/>
              <a:t>thread progresses at its own speed</a:t>
            </a:r>
          </a:p>
          <a:p>
            <a:pPr>
              <a:lnSpc>
                <a:spcPct val="90000"/>
              </a:lnSpc>
              <a:buFontTx/>
              <a:buNone/>
            </a:pPr>
            <a:r>
              <a:rPr lang="en-US" sz="2000" dirty="0" smtClean="0"/>
              <a:t>and expires at its Join.</a:t>
            </a:r>
          </a:p>
          <a:p>
            <a:pPr>
              <a:lnSpc>
                <a:spcPct val="90000"/>
              </a:lnSpc>
              <a:buFontTx/>
              <a:buNone/>
            </a:pPr>
            <a:r>
              <a:rPr lang="en-US" sz="2000" dirty="0" smtClean="0"/>
              <a:t>Synchronization: only at the Joins. So,</a:t>
            </a:r>
          </a:p>
          <a:p>
            <a:pPr>
              <a:lnSpc>
                <a:spcPct val="90000"/>
              </a:lnSpc>
              <a:buFontTx/>
              <a:buNone/>
            </a:pPr>
            <a:r>
              <a:rPr lang="en-US" sz="2000" dirty="0" smtClean="0"/>
              <a:t>virtual threads avoid busy-waits by</a:t>
            </a:r>
          </a:p>
          <a:p>
            <a:pPr>
              <a:lnSpc>
                <a:spcPct val="90000"/>
              </a:lnSpc>
              <a:buFontTx/>
              <a:buNone/>
            </a:pPr>
            <a:r>
              <a:rPr lang="en-US" sz="2000" dirty="0" smtClean="0"/>
              <a:t>expiring. New: Independence of order</a:t>
            </a:r>
          </a:p>
          <a:p>
            <a:pPr>
              <a:lnSpc>
                <a:spcPct val="90000"/>
              </a:lnSpc>
              <a:buFontTx/>
              <a:buNone/>
            </a:pPr>
            <a:r>
              <a:rPr lang="en-US" sz="2000" dirty="0" smtClean="0"/>
              <a:t>semantics (IOS)</a:t>
            </a:r>
          </a:p>
          <a:p>
            <a:pPr>
              <a:lnSpc>
                <a:spcPct val="90000"/>
              </a:lnSpc>
              <a:buFontTx/>
              <a:buNone/>
            </a:pPr>
            <a:endParaRPr lang="en-US" sz="2000" dirty="0" smtClean="0"/>
          </a:p>
          <a:p>
            <a:pPr>
              <a:lnSpc>
                <a:spcPct val="90000"/>
              </a:lnSpc>
              <a:buFontTx/>
              <a:buNone/>
            </a:pPr>
            <a:r>
              <a:rPr lang="en-US" sz="2000" dirty="0" smtClean="0"/>
              <a:t>The </a:t>
            </a:r>
            <a:r>
              <a:rPr lang="en-US" sz="2000" u="sng" dirty="0" smtClean="0">
                <a:solidFill>
                  <a:schemeClr val="hlink"/>
                </a:solidFill>
              </a:rPr>
              <a:t>array compaction</a:t>
            </a:r>
            <a:r>
              <a:rPr lang="en-US" sz="2000" dirty="0" smtClean="0"/>
              <a:t> (artificial) problem</a:t>
            </a:r>
          </a:p>
          <a:p>
            <a:pPr>
              <a:lnSpc>
                <a:spcPct val="90000"/>
              </a:lnSpc>
              <a:buFontTx/>
              <a:buNone/>
            </a:pPr>
            <a:r>
              <a:rPr lang="en-US" sz="2000" u="sng" dirty="0" smtClean="0"/>
              <a:t>Input</a:t>
            </a:r>
            <a:r>
              <a:rPr lang="en-US" sz="2000" dirty="0" smtClean="0"/>
              <a:t>: Array A[1..n] of elements.</a:t>
            </a:r>
          </a:p>
          <a:p>
            <a:pPr>
              <a:lnSpc>
                <a:spcPct val="90000"/>
              </a:lnSpc>
              <a:buFontTx/>
              <a:buNone/>
            </a:pPr>
            <a:r>
              <a:rPr lang="en-US" sz="2000" dirty="0" smtClean="0"/>
              <a:t>Map in some order all A(i)  not equal 0  to array D.</a:t>
            </a:r>
          </a:p>
          <a:p>
            <a:pPr>
              <a:lnSpc>
                <a:spcPct val="90000"/>
              </a:lnSpc>
              <a:buFontTx/>
              <a:buNone/>
            </a:pPr>
            <a:endParaRPr lang="en-US" sz="2000" dirty="0" smtClean="0"/>
          </a:p>
          <a:p>
            <a:pPr>
              <a:lnSpc>
                <a:spcPct val="90000"/>
              </a:lnSpc>
            </a:pPr>
            <a:endParaRPr lang="en-US" sz="2000" dirty="0" smtClean="0"/>
          </a:p>
        </p:txBody>
      </p:sp>
      <p:graphicFrame>
        <p:nvGraphicFramePr>
          <p:cNvPr id="726061" name="Group 45"/>
          <p:cNvGraphicFramePr>
            <a:graphicFrameLocks noGrp="1"/>
          </p:cNvGraphicFramePr>
          <p:nvPr>
            <p:ph sz="half" idx="2"/>
          </p:nvPr>
        </p:nvGraphicFramePr>
        <p:xfrm>
          <a:off x="4648200" y="1828800"/>
          <a:ext cx="1143000" cy="4724403"/>
        </p:xfrm>
        <a:graphic>
          <a:graphicData uri="http://schemas.openxmlformats.org/drawingml/2006/table">
            <a:tbl>
              <a:tblPr/>
              <a:tblGrid>
                <a:gridCol w="1143000"/>
              </a:tblGrid>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26075" name="Group 59"/>
          <p:cNvGraphicFramePr>
            <a:graphicFrameLocks noGrp="1"/>
          </p:cNvGraphicFramePr>
          <p:nvPr/>
        </p:nvGraphicFramePr>
        <p:xfrm>
          <a:off x="7924800" y="1828800"/>
          <a:ext cx="1066800" cy="1554479"/>
        </p:xfrm>
        <a:graphic>
          <a:graphicData uri="http://schemas.openxmlformats.org/drawingml/2006/table">
            <a:tbl>
              <a:tblPr/>
              <a:tblGrid>
                <a:gridCol w="1066800"/>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48" name="Line 60"/>
          <p:cNvSpPr>
            <a:spLocks noChangeShapeType="1"/>
          </p:cNvSpPr>
          <p:nvPr/>
        </p:nvSpPr>
        <p:spPr bwMode="auto">
          <a:xfrm>
            <a:off x="5791200" y="2133600"/>
            <a:ext cx="2133600" cy="0"/>
          </a:xfrm>
          <a:prstGeom prst="line">
            <a:avLst/>
          </a:prstGeom>
          <a:noFill/>
          <a:ln w="9525">
            <a:solidFill>
              <a:schemeClr val="tx1"/>
            </a:solidFill>
            <a:round/>
            <a:headEnd/>
            <a:tailEnd type="triangle" w="med" len="med"/>
          </a:ln>
        </p:spPr>
        <p:txBody>
          <a:bodyPr/>
          <a:lstStyle/>
          <a:p>
            <a:endParaRPr lang="en-US" dirty="0"/>
          </a:p>
        </p:txBody>
      </p:sp>
      <p:sp>
        <p:nvSpPr>
          <p:cNvPr id="13349" name="Line 61"/>
          <p:cNvSpPr>
            <a:spLocks noChangeShapeType="1"/>
          </p:cNvSpPr>
          <p:nvPr/>
        </p:nvSpPr>
        <p:spPr bwMode="auto">
          <a:xfrm>
            <a:off x="5791200" y="3124200"/>
            <a:ext cx="2133600" cy="0"/>
          </a:xfrm>
          <a:prstGeom prst="line">
            <a:avLst/>
          </a:prstGeom>
          <a:noFill/>
          <a:ln w="9525">
            <a:solidFill>
              <a:schemeClr val="tx1"/>
            </a:solidFill>
            <a:round/>
            <a:headEnd/>
            <a:tailEnd type="triangle" w="med" len="med"/>
          </a:ln>
        </p:spPr>
        <p:txBody>
          <a:bodyPr/>
          <a:lstStyle/>
          <a:p>
            <a:endParaRPr lang="en-US" dirty="0"/>
          </a:p>
        </p:txBody>
      </p:sp>
      <p:sp>
        <p:nvSpPr>
          <p:cNvPr id="13350" name="Line 62"/>
          <p:cNvSpPr>
            <a:spLocks noChangeShapeType="1"/>
          </p:cNvSpPr>
          <p:nvPr/>
        </p:nvSpPr>
        <p:spPr bwMode="auto">
          <a:xfrm>
            <a:off x="5791200" y="5257800"/>
            <a:ext cx="1066800" cy="0"/>
          </a:xfrm>
          <a:prstGeom prst="line">
            <a:avLst/>
          </a:prstGeom>
          <a:noFill/>
          <a:ln w="9525">
            <a:solidFill>
              <a:schemeClr val="tx1"/>
            </a:solidFill>
            <a:round/>
            <a:headEnd/>
            <a:tailEnd/>
          </a:ln>
        </p:spPr>
        <p:txBody>
          <a:bodyPr/>
          <a:lstStyle/>
          <a:p>
            <a:endParaRPr lang="en-US" dirty="0"/>
          </a:p>
        </p:txBody>
      </p:sp>
      <p:sp>
        <p:nvSpPr>
          <p:cNvPr id="13351" name="Line 63"/>
          <p:cNvSpPr>
            <a:spLocks noChangeShapeType="1"/>
          </p:cNvSpPr>
          <p:nvPr/>
        </p:nvSpPr>
        <p:spPr bwMode="auto">
          <a:xfrm flipV="1">
            <a:off x="6858000" y="2590800"/>
            <a:ext cx="0" cy="2667000"/>
          </a:xfrm>
          <a:prstGeom prst="line">
            <a:avLst/>
          </a:prstGeom>
          <a:noFill/>
          <a:ln w="9525">
            <a:solidFill>
              <a:schemeClr val="tx1"/>
            </a:solidFill>
            <a:round/>
            <a:headEnd/>
            <a:tailEnd/>
          </a:ln>
        </p:spPr>
        <p:txBody>
          <a:bodyPr/>
          <a:lstStyle/>
          <a:p>
            <a:endParaRPr lang="en-US" dirty="0"/>
          </a:p>
        </p:txBody>
      </p:sp>
      <p:sp>
        <p:nvSpPr>
          <p:cNvPr id="13352" name="Line 64"/>
          <p:cNvSpPr>
            <a:spLocks noChangeShapeType="1"/>
          </p:cNvSpPr>
          <p:nvPr/>
        </p:nvSpPr>
        <p:spPr bwMode="auto">
          <a:xfrm>
            <a:off x="6858000" y="2590800"/>
            <a:ext cx="1066800" cy="0"/>
          </a:xfrm>
          <a:prstGeom prst="line">
            <a:avLst/>
          </a:prstGeom>
          <a:noFill/>
          <a:ln w="9525">
            <a:solidFill>
              <a:schemeClr val="tx1"/>
            </a:solidFill>
            <a:round/>
            <a:headEnd/>
            <a:tailEnd type="triangle" w="med" len="med"/>
          </a:ln>
        </p:spPr>
        <p:txBody>
          <a:bodyPr/>
          <a:lstStyle/>
          <a:p>
            <a:endParaRPr lang="en-US" dirty="0"/>
          </a:p>
        </p:txBody>
      </p:sp>
      <p:sp>
        <p:nvSpPr>
          <p:cNvPr id="13353" name="Text Box 65"/>
          <p:cNvSpPr txBox="1">
            <a:spLocks noChangeArrowheads="1"/>
          </p:cNvSpPr>
          <p:nvPr/>
        </p:nvSpPr>
        <p:spPr bwMode="auto">
          <a:xfrm>
            <a:off x="6080125" y="1812925"/>
            <a:ext cx="409575" cy="336550"/>
          </a:xfrm>
          <a:prstGeom prst="rect">
            <a:avLst/>
          </a:prstGeom>
          <a:noFill/>
          <a:ln w="9525">
            <a:noFill/>
            <a:miter lim="800000"/>
            <a:headEnd/>
            <a:tailEnd/>
          </a:ln>
        </p:spPr>
        <p:txBody>
          <a:bodyPr wrap="none">
            <a:spAutoFit/>
          </a:bodyPr>
          <a:lstStyle/>
          <a:p>
            <a:r>
              <a:rPr lang="en-US" dirty="0"/>
              <a:t>e0</a:t>
            </a:r>
          </a:p>
        </p:txBody>
      </p:sp>
      <p:sp>
        <p:nvSpPr>
          <p:cNvPr id="13354" name="Text Box 66"/>
          <p:cNvSpPr txBox="1">
            <a:spLocks noChangeArrowheads="1"/>
          </p:cNvSpPr>
          <p:nvPr/>
        </p:nvSpPr>
        <p:spPr bwMode="auto">
          <a:xfrm>
            <a:off x="6003925" y="2803525"/>
            <a:ext cx="409575" cy="336550"/>
          </a:xfrm>
          <a:prstGeom prst="rect">
            <a:avLst/>
          </a:prstGeom>
          <a:noFill/>
          <a:ln w="9525">
            <a:noFill/>
            <a:miter lim="800000"/>
            <a:headEnd/>
            <a:tailEnd/>
          </a:ln>
        </p:spPr>
        <p:txBody>
          <a:bodyPr wrap="none">
            <a:spAutoFit/>
          </a:bodyPr>
          <a:lstStyle/>
          <a:p>
            <a:r>
              <a:rPr lang="en-US" dirty="0"/>
              <a:t>e2</a:t>
            </a:r>
          </a:p>
        </p:txBody>
      </p:sp>
      <p:sp>
        <p:nvSpPr>
          <p:cNvPr id="13355" name="Text Box 67"/>
          <p:cNvSpPr txBox="1">
            <a:spLocks noChangeArrowheads="1"/>
          </p:cNvSpPr>
          <p:nvPr/>
        </p:nvSpPr>
        <p:spPr bwMode="auto">
          <a:xfrm>
            <a:off x="6003925" y="4860925"/>
            <a:ext cx="409575" cy="336550"/>
          </a:xfrm>
          <a:prstGeom prst="rect">
            <a:avLst/>
          </a:prstGeom>
          <a:noFill/>
          <a:ln w="9525">
            <a:noFill/>
            <a:miter lim="800000"/>
            <a:headEnd/>
            <a:tailEnd/>
          </a:ln>
        </p:spPr>
        <p:txBody>
          <a:bodyPr wrap="none">
            <a:spAutoFit/>
          </a:bodyPr>
          <a:lstStyle/>
          <a:p>
            <a:r>
              <a:rPr lang="en-US" dirty="0"/>
              <a:t>e6</a:t>
            </a:r>
          </a:p>
        </p:txBody>
      </p:sp>
      <p:sp>
        <p:nvSpPr>
          <p:cNvPr id="13356" name="Text Box 69"/>
          <p:cNvSpPr txBox="1">
            <a:spLocks noChangeArrowheads="1"/>
          </p:cNvSpPr>
          <p:nvPr/>
        </p:nvSpPr>
        <p:spPr bwMode="auto">
          <a:xfrm>
            <a:off x="4860925" y="1131888"/>
            <a:ext cx="420688" cy="519112"/>
          </a:xfrm>
          <a:prstGeom prst="rect">
            <a:avLst/>
          </a:prstGeom>
          <a:noFill/>
          <a:ln w="9525">
            <a:noFill/>
            <a:miter lim="800000"/>
            <a:headEnd/>
            <a:tailEnd/>
          </a:ln>
        </p:spPr>
        <p:txBody>
          <a:bodyPr wrap="none">
            <a:spAutoFit/>
          </a:bodyPr>
          <a:lstStyle/>
          <a:p>
            <a:r>
              <a:rPr lang="en-US" sz="2800" dirty="0"/>
              <a:t>A</a:t>
            </a:r>
          </a:p>
        </p:txBody>
      </p:sp>
      <p:sp>
        <p:nvSpPr>
          <p:cNvPr id="13357" name="Text Box 70"/>
          <p:cNvSpPr txBox="1">
            <a:spLocks noChangeArrowheads="1"/>
          </p:cNvSpPr>
          <p:nvPr/>
        </p:nvSpPr>
        <p:spPr bwMode="auto">
          <a:xfrm>
            <a:off x="8077200" y="1223963"/>
            <a:ext cx="441325" cy="519112"/>
          </a:xfrm>
          <a:prstGeom prst="rect">
            <a:avLst/>
          </a:prstGeom>
          <a:noFill/>
          <a:ln w="9525">
            <a:noFill/>
            <a:miter lim="800000"/>
            <a:headEnd/>
            <a:tailEnd/>
          </a:ln>
        </p:spPr>
        <p:txBody>
          <a:bodyPr wrap="none">
            <a:spAutoFit/>
          </a:bodyPr>
          <a:lstStyle/>
          <a:p>
            <a:r>
              <a:rPr lang="en-US" sz="2800" dirty="0"/>
              <a:t>D</a:t>
            </a:r>
          </a:p>
        </p:txBody>
      </p:sp>
      <p:sp>
        <p:nvSpPr>
          <p:cNvPr id="13358" name="Text Box 71"/>
          <p:cNvSpPr txBox="1">
            <a:spLocks noChangeArrowheads="1"/>
          </p:cNvSpPr>
          <p:nvPr/>
        </p:nvSpPr>
        <p:spPr bwMode="auto">
          <a:xfrm>
            <a:off x="5851525" y="5373688"/>
            <a:ext cx="2913063" cy="1187450"/>
          </a:xfrm>
          <a:prstGeom prst="rect">
            <a:avLst/>
          </a:prstGeom>
          <a:noFill/>
          <a:ln w="9525">
            <a:noFill/>
            <a:miter lim="800000"/>
            <a:headEnd/>
            <a:tailEnd/>
          </a:ln>
        </p:spPr>
        <p:txBody>
          <a:bodyPr wrap="none">
            <a:spAutoFit/>
          </a:bodyPr>
          <a:lstStyle/>
          <a:p>
            <a:r>
              <a:rPr lang="en-US" sz="2400" dirty="0"/>
              <a:t>For program below: </a:t>
            </a:r>
          </a:p>
          <a:p>
            <a:r>
              <a:rPr lang="en-US" sz="2400" dirty="0"/>
              <a:t>e$ local to thread $;</a:t>
            </a:r>
          </a:p>
          <a:p>
            <a:r>
              <a:rPr lang="en-US" sz="2400" dirty="0"/>
              <a:t>x is 3</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0"/>
            <a:ext cx="8229600" cy="762000"/>
          </a:xfrm>
        </p:spPr>
        <p:txBody>
          <a:bodyPr/>
          <a:lstStyle/>
          <a:p>
            <a:r>
              <a:rPr lang="en-US" dirty="0" smtClean="0">
                <a:solidFill>
                  <a:schemeClr val="hlink"/>
                </a:solidFill>
              </a:rPr>
              <a:t>XMT-C</a:t>
            </a:r>
          </a:p>
        </p:txBody>
      </p:sp>
      <p:sp>
        <p:nvSpPr>
          <p:cNvPr id="14339" name="Rectangle 3"/>
          <p:cNvSpPr>
            <a:spLocks noGrp="1" noChangeArrowheads="1"/>
          </p:cNvSpPr>
          <p:nvPr>
            <p:ph type="body" idx="1"/>
          </p:nvPr>
        </p:nvSpPr>
        <p:spPr>
          <a:xfrm>
            <a:off x="0" y="838200"/>
            <a:ext cx="9144000" cy="6019800"/>
          </a:xfrm>
        </p:spPr>
        <p:txBody>
          <a:bodyPr/>
          <a:lstStyle/>
          <a:p>
            <a:pPr>
              <a:lnSpc>
                <a:spcPct val="80000"/>
              </a:lnSpc>
              <a:buFontTx/>
              <a:buNone/>
            </a:pPr>
            <a:r>
              <a:rPr lang="en-US" sz="2400" dirty="0" smtClean="0">
                <a:solidFill>
                  <a:srgbClr val="FF0000"/>
                </a:solidFill>
              </a:rPr>
              <a:t>Single-program multiple-data (SPMD)</a:t>
            </a:r>
            <a:r>
              <a:rPr lang="en-US" sz="2400" dirty="0" smtClean="0"/>
              <a:t> extension of standard C.</a:t>
            </a:r>
          </a:p>
          <a:p>
            <a:pPr>
              <a:lnSpc>
                <a:spcPct val="80000"/>
              </a:lnSpc>
              <a:buFontTx/>
              <a:buNone/>
            </a:pPr>
            <a:r>
              <a:rPr lang="en-US" sz="2400" dirty="0" smtClean="0"/>
              <a:t>Includes Spawn and PS - a multi-operand instruction.</a:t>
            </a:r>
          </a:p>
          <a:p>
            <a:pPr>
              <a:lnSpc>
                <a:spcPct val="80000"/>
              </a:lnSpc>
              <a:buFontTx/>
              <a:buNone/>
            </a:pPr>
            <a:endParaRPr lang="en-US" sz="2400" dirty="0" smtClean="0"/>
          </a:p>
          <a:p>
            <a:pPr algn="ctr">
              <a:lnSpc>
                <a:spcPct val="80000"/>
              </a:lnSpc>
              <a:buFontTx/>
              <a:buNone/>
            </a:pPr>
            <a:r>
              <a:rPr lang="en-US" sz="2400" u="sng" dirty="0" smtClean="0">
                <a:solidFill>
                  <a:schemeClr val="hlink"/>
                </a:solidFill>
              </a:rPr>
              <a:t>Essence of an XMT-C program</a:t>
            </a:r>
          </a:p>
          <a:p>
            <a:pPr>
              <a:lnSpc>
                <a:spcPct val="80000"/>
              </a:lnSpc>
              <a:buFontTx/>
              <a:buNone/>
            </a:pPr>
            <a:r>
              <a:rPr lang="en-US" sz="2400" dirty="0" smtClean="0"/>
              <a:t>int x = 0;</a:t>
            </a:r>
          </a:p>
          <a:p>
            <a:pPr>
              <a:lnSpc>
                <a:spcPct val="80000"/>
              </a:lnSpc>
              <a:buFontTx/>
              <a:buNone/>
            </a:pPr>
            <a:r>
              <a:rPr lang="en-US" sz="2400" dirty="0" smtClean="0"/>
              <a:t>Spawn(0, n-1) /* Spawn n threads; $ ranges 0 to n − 1 */</a:t>
            </a:r>
          </a:p>
          <a:p>
            <a:pPr>
              <a:lnSpc>
                <a:spcPct val="80000"/>
              </a:lnSpc>
              <a:buFontTx/>
              <a:buNone/>
            </a:pPr>
            <a:r>
              <a:rPr lang="en-US" sz="2400" dirty="0" smtClean="0"/>
              <a:t>{ int e = 1;</a:t>
            </a:r>
          </a:p>
          <a:p>
            <a:pPr>
              <a:lnSpc>
                <a:spcPct val="80000"/>
              </a:lnSpc>
              <a:buFontTx/>
              <a:buNone/>
            </a:pPr>
            <a:r>
              <a:rPr lang="en-US" sz="2400" dirty="0" smtClean="0"/>
              <a:t>   if (A[$] not-equal 0)</a:t>
            </a:r>
          </a:p>
          <a:p>
            <a:pPr>
              <a:lnSpc>
                <a:spcPct val="80000"/>
              </a:lnSpc>
              <a:buFontTx/>
              <a:buNone/>
            </a:pPr>
            <a:r>
              <a:rPr lang="en-US" sz="2400" dirty="0" smtClean="0"/>
              <a:t>       { PS(x,e);</a:t>
            </a:r>
          </a:p>
          <a:p>
            <a:pPr>
              <a:lnSpc>
                <a:spcPct val="80000"/>
              </a:lnSpc>
              <a:buFontTx/>
              <a:buNone/>
            </a:pPr>
            <a:r>
              <a:rPr lang="en-US" sz="2400" dirty="0" smtClean="0"/>
              <a:t>         D[e] = A[$] }</a:t>
            </a:r>
          </a:p>
          <a:p>
            <a:pPr>
              <a:lnSpc>
                <a:spcPct val="80000"/>
              </a:lnSpc>
              <a:buFontTx/>
              <a:buNone/>
            </a:pPr>
            <a:r>
              <a:rPr lang="en-US" sz="2400" dirty="0" smtClean="0"/>
              <a:t>}</a:t>
            </a:r>
          </a:p>
          <a:p>
            <a:pPr>
              <a:lnSpc>
                <a:spcPct val="80000"/>
              </a:lnSpc>
              <a:buFontTx/>
              <a:buNone/>
            </a:pPr>
            <a:r>
              <a:rPr lang="en-US" sz="2400" dirty="0" smtClean="0"/>
              <a:t>n = x;</a:t>
            </a:r>
          </a:p>
          <a:p>
            <a:pPr>
              <a:lnSpc>
                <a:spcPct val="80000"/>
              </a:lnSpc>
              <a:buFontTx/>
              <a:buNone/>
            </a:pPr>
            <a:endParaRPr lang="en-US" sz="2400" dirty="0" smtClean="0"/>
          </a:p>
          <a:p>
            <a:pPr>
              <a:lnSpc>
                <a:spcPct val="80000"/>
              </a:lnSpc>
              <a:buFontTx/>
              <a:buNone/>
            </a:pPr>
            <a:r>
              <a:rPr lang="en-US" sz="2400" dirty="0" smtClean="0"/>
              <a:t>Notes: (i) PS is defined next (think F&amp;A). See results for</a:t>
            </a:r>
          </a:p>
          <a:p>
            <a:pPr>
              <a:lnSpc>
                <a:spcPct val="80000"/>
              </a:lnSpc>
              <a:buFontTx/>
              <a:buNone/>
            </a:pPr>
            <a:r>
              <a:rPr lang="en-US" sz="2400" dirty="0" smtClean="0"/>
              <a:t>e0,e2, e6 and x. (ii) Join instructions are implicit.</a:t>
            </a:r>
          </a:p>
          <a:p>
            <a:pPr>
              <a:lnSpc>
                <a:spcPct val="80000"/>
              </a:lnSpc>
            </a:pPr>
            <a:endParaRPr lang="en-US"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229600" cy="685800"/>
          </a:xfrm>
        </p:spPr>
        <p:txBody>
          <a:bodyPr/>
          <a:lstStyle/>
          <a:p>
            <a:r>
              <a:rPr lang="en-US" sz="4000" dirty="0" smtClean="0">
                <a:solidFill>
                  <a:schemeClr val="hlink"/>
                </a:solidFill>
              </a:rPr>
              <a:t>XMT Assembly Language</a:t>
            </a:r>
          </a:p>
        </p:txBody>
      </p:sp>
      <p:sp>
        <p:nvSpPr>
          <p:cNvPr id="15363" name="Rectangle 3"/>
          <p:cNvSpPr>
            <a:spLocks noGrp="1" noChangeArrowheads="1"/>
          </p:cNvSpPr>
          <p:nvPr>
            <p:ph type="body" idx="1"/>
          </p:nvPr>
        </p:nvSpPr>
        <p:spPr>
          <a:xfrm>
            <a:off x="0" y="838200"/>
            <a:ext cx="9144000" cy="6019800"/>
          </a:xfrm>
        </p:spPr>
        <p:txBody>
          <a:bodyPr/>
          <a:lstStyle/>
          <a:p>
            <a:pPr marL="412750" indent="-412750">
              <a:lnSpc>
                <a:spcPct val="80000"/>
              </a:lnSpc>
              <a:buFontTx/>
              <a:buNone/>
            </a:pPr>
            <a:r>
              <a:rPr lang="en-US" sz="2000" dirty="0" smtClean="0"/>
              <a:t>Standard assembly language, plus 3 new instructions: Spawn, Join, and PS.</a:t>
            </a:r>
          </a:p>
          <a:p>
            <a:pPr marL="412750" indent="-412750">
              <a:lnSpc>
                <a:spcPct val="80000"/>
              </a:lnSpc>
            </a:pPr>
            <a:endParaRPr lang="en-US" sz="2000" dirty="0" smtClean="0"/>
          </a:p>
          <a:p>
            <a:pPr marL="412750" indent="-412750" algn="ctr">
              <a:lnSpc>
                <a:spcPct val="80000"/>
              </a:lnSpc>
              <a:buFontTx/>
              <a:buNone/>
            </a:pPr>
            <a:r>
              <a:rPr lang="en-US" sz="2000" u="sng" dirty="0" smtClean="0">
                <a:solidFill>
                  <a:schemeClr val="hlink"/>
                </a:solidFill>
              </a:rPr>
              <a:t>The PS multi-operand instruction</a:t>
            </a:r>
          </a:p>
          <a:p>
            <a:pPr marL="412750" indent="-412750">
              <a:lnSpc>
                <a:spcPct val="80000"/>
              </a:lnSpc>
              <a:buFontTx/>
              <a:buNone/>
            </a:pPr>
            <a:r>
              <a:rPr lang="en-US" sz="2000" dirty="0" smtClean="0"/>
              <a:t>New kind of instruction: Prefix-sum (PS).</a:t>
            </a:r>
          </a:p>
          <a:p>
            <a:pPr marL="412750" indent="-412750">
              <a:lnSpc>
                <a:spcPct val="80000"/>
              </a:lnSpc>
              <a:buFontTx/>
              <a:buNone/>
            </a:pPr>
            <a:r>
              <a:rPr lang="en-US" sz="2000" dirty="0" smtClean="0">
                <a:solidFill>
                  <a:srgbClr val="FF0000"/>
                </a:solidFill>
              </a:rPr>
              <a:t>Individual PS</a:t>
            </a:r>
            <a:r>
              <a:rPr lang="en-US" sz="2000" dirty="0" smtClean="0"/>
              <a:t>, PS Ri Rj, has an inseparable (“atomic”) outcome: </a:t>
            </a:r>
          </a:p>
          <a:p>
            <a:pPr marL="412750" indent="-412750">
              <a:lnSpc>
                <a:spcPct val="80000"/>
              </a:lnSpc>
              <a:buFontTx/>
              <a:buAutoNum type="romanLcParenBoth"/>
            </a:pPr>
            <a:r>
              <a:rPr lang="en-US" sz="2000" dirty="0" smtClean="0"/>
              <a:t>Store Ri + Rj in Ri, and </a:t>
            </a:r>
          </a:p>
          <a:p>
            <a:pPr marL="412750" indent="-412750">
              <a:lnSpc>
                <a:spcPct val="80000"/>
              </a:lnSpc>
              <a:buFontTx/>
              <a:buNone/>
            </a:pPr>
            <a:r>
              <a:rPr lang="en-US" sz="2000" dirty="0" smtClean="0"/>
              <a:t>(ii)  Store original value of Ri in Rj.</a:t>
            </a:r>
          </a:p>
          <a:p>
            <a:pPr marL="412750" indent="-412750">
              <a:lnSpc>
                <a:spcPct val="80000"/>
              </a:lnSpc>
              <a:buFontTx/>
              <a:buNone/>
            </a:pPr>
            <a:endParaRPr lang="en-US" sz="2000" dirty="0" smtClean="0"/>
          </a:p>
          <a:p>
            <a:pPr marL="412750" indent="-412750">
              <a:lnSpc>
                <a:spcPct val="80000"/>
              </a:lnSpc>
              <a:buFontTx/>
              <a:buNone/>
            </a:pPr>
            <a:r>
              <a:rPr lang="en-US" sz="2000" dirty="0" smtClean="0"/>
              <a:t>Several successive PS instructions define a </a:t>
            </a:r>
            <a:r>
              <a:rPr lang="en-US" sz="2000" dirty="0" smtClean="0">
                <a:solidFill>
                  <a:srgbClr val="FF0000"/>
                </a:solidFill>
              </a:rPr>
              <a:t>multiple-PS</a:t>
            </a:r>
            <a:r>
              <a:rPr lang="en-US" sz="2000" dirty="0" smtClean="0"/>
              <a:t> instruction. E.g., the </a:t>
            </a:r>
          </a:p>
          <a:p>
            <a:pPr marL="412750" indent="-412750">
              <a:lnSpc>
                <a:spcPct val="80000"/>
              </a:lnSpc>
              <a:buFontTx/>
              <a:buNone/>
            </a:pPr>
            <a:r>
              <a:rPr lang="en-US" sz="2000" dirty="0" smtClean="0"/>
              <a:t>sequence of k instructions:</a:t>
            </a:r>
          </a:p>
          <a:p>
            <a:pPr marL="412750" indent="-412750">
              <a:lnSpc>
                <a:spcPct val="80000"/>
              </a:lnSpc>
              <a:buFontTx/>
              <a:buNone/>
            </a:pPr>
            <a:r>
              <a:rPr lang="en-US" sz="2000" dirty="0" smtClean="0"/>
              <a:t>PS R1 R2; PS R1 R3; ...; PS R1 R(k + 1)</a:t>
            </a:r>
          </a:p>
          <a:p>
            <a:pPr marL="412750" indent="-412750">
              <a:lnSpc>
                <a:spcPct val="80000"/>
              </a:lnSpc>
              <a:buFontTx/>
              <a:buNone/>
            </a:pPr>
            <a:r>
              <a:rPr lang="en-US" sz="2000" dirty="0" smtClean="0"/>
              <a:t>performs the prefix-sum of base R1 elements R2,R3, ...,R(k + 1) to get: </a:t>
            </a:r>
          </a:p>
          <a:p>
            <a:pPr marL="412750" indent="-412750">
              <a:lnSpc>
                <a:spcPct val="80000"/>
              </a:lnSpc>
              <a:buFontTx/>
              <a:buNone/>
            </a:pPr>
            <a:r>
              <a:rPr lang="en-US" sz="2000" dirty="0" smtClean="0"/>
              <a:t>R2 = R1; R3 = R1 + R2; ...; R(k + 1) = R1 + ... + Rk; R1 = R1 + ... + R(k + 1).</a:t>
            </a:r>
          </a:p>
          <a:p>
            <a:pPr marL="412750" indent="-412750">
              <a:lnSpc>
                <a:spcPct val="80000"/>
              </a:lnSpc>
              <a:buFontTx/>
              <a:buNone/>
            </a:pPr>
            <a:endParaRPr lang="en-US" sz="2000" dirty="0" smtClean="0"/>
          </a:p>
          <a:p>
            <a:pPr marL="412750" indent="-412750">
              <a:lnSpc>
                <a:spcPct val="80000"/>
              </a:lnSpc>
              <a:buFontTx/>
              <a:buNone/>
            </a:pPr>
            <a:r>
              <a:rPr lang="en-US" sz="2000" u="sng" dirty="0" smtClean="0"/>
              <a:t>Idea</a:t>
            </a:r>
            <a:r>
              <a:rPr lang="en-US" sz="2000" dirty="0" smtClean="0"/>
              <a:t>: (i) Several ind. PS’s can be combined into one multi-operand instruction.</a:t>
            </a:r>
          </a:p>
          <a:p>
            <a:pPr marL="412750" indent="-412750">
              <a:lnSpc>
                <a:spcPct val="80000"/>
              </a:lnSpc>
              <a:buNone/>
            </a:pPr>
            <a:r>
              <a:rPr lang="en-US" sz="2000" dirty="0" smtClean="0"/>
              <a:t>(ii) Executed by a </a:t>
            </a:r>
            <a:r>
              <a:rPr lang="en-US" sz="2000" dirty="0" smtClean="0">
                <a:solidFill>
                  <a:srgbClr val="FF0000"/>
                </a:solidFill>
              </a:rPr>
              <a:t>new multi-operand PS functional unit</a:t>
            </a:r>
            <a:r>
              <a:rPr lang="en-US" sz="2000" dirty="0" smtClean="0"/>
              <a:t>. Enhanced Fetch&amp;Add. </a:t>
            </a:r>
          </a:p>
          <a:p>
            <a:pPr>
              <a:buNone/>
            </a:pPr>
            <a:r>
              <a:rPr lang="en-US" sz="2000" u="sng" dirty="0" smtClean="0"/>
              <a:t>Story</a:t>
            </a:r>
            <a:r>
              <a:rPr lang="en-US" sz="2000" dirty="0" smtClean="0"/>
              <a:t>: 1500 cars enter a gas station with 1000 pumps. </a:t>
            </a:r>
            <a:r>
              <a:rPr lang="en-US" sz="2000" u="sng" dirty="0" smtClean="0"/>
              <a:t>Main XMT patent</a:t>
            </a:r>
            <a:r>
              <a:rPr lang="en-US" sz="2000" dirty="0" smtClean="0"/>
              <a:t>: Direct in unit time a car to a EVERY pump; </a:t>
            </a:r>
            <a:r>
              <a:rPr lang="en-US" sz="2000" u="sng" dirty="0" smtClean="0"/>
              <a:t>PS patent</a:t>
            </a:r>
            <a:r>
              <a:rPr lang="en-US" sz="2000" dirty="0" smtClean="0"/>
              <a:t>: Then, direct in unit time a car to EVERY pump becoming available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90" name="Title 1"/>
          <p:cNvSpPr>
            <a:spLocks noGrp="1"/>
          </p:cNvSpPr>
          <p:nvPr>
            <p:ph type="title"/>
          </p:nvPr>
        </p:nvSpPr>
        <p:spPr>
          <a:xfrm>
            <a:off x="0" y="0"/>
            <a:ext cx="9144000" cy="1447800"/>
          </a:xfrm>
        </p:spPr>
        <p:txBody>
          <a:bodyPr/>
          <a:lstStyle/>
          <a:p>
            <a:r>
              <a:rPr lang="en-US" sz="3200" dirty="0" smtClean="0"/>
              <a:t>Workflow from parallel algorithms to programming versus trial-and-error</a:t>
            </a:r>
          </a:p>
        </p:txBody>
      </p:sp>
      <p:sp>
        <p:nvSpPr>
          <p:cNvPr id="12291" name="Content Placeholder 2"/>
          <p:cNvSpPr>
            <a:spLocks noGrp="1"/>
          </p:cNvSpPr>
          <p:nvPr>
            <p:ph idx="1"/>
          </p:nvPr>
        </p:nvSpPr>
        <p:spPr>
          <a:xfrm>
            <a:off x="838200" y="1447800"/>
            <a:ext cx="7848600" cy="4678363"/>
          </a:xfrm>
        </p:spPr>
        <p:txBody>
          <a:bodyPr/>
          <a:lstStyle/>
          <a:p>
            <a:pPr>
              <a:buFontTx/>
              <a:buNone/>
            </a:pPr>
            <a:r>
              <a:rPr lang="en-US" dirty="0" smtClean="0"/>
              <a:t>Option 1</a:t>
            </a:r>
          </a:p>
        </p:txBody>
      </p:sp>
      <p:sp>
        <p:nvSpPr>
          <p:cNvPr id="4" name="Rectangle 3"/>
          <p:cNvSpPr/>
          <p:nvPr/>
        </p:nvSpPr>
        <p:spPr>
          <a:xfrm>
            <a:off x="1981200" y="2209800"/>
            <a:ext cx="1676400" cy="3048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PAT</a:t>
            </a:r>
          </a:p>
        </p:txBody>
      </p:sp>
      <p:sp>
        <p:nvSpPr>
          <p:cNvPr id="5" name="Down Arrow 4"/>
          <p:cNvSpPr/>
          <p:nvPr/>
        </p:nvSpPr>
        <p:spPr>
          <a:xfrm flipH="1">
            <a:off x="914400" y="32004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Rectangle 6"/>
          <p:cNvSpPr/>
          <p:nvPr/>
        </p:nvSpPr>
        <p:spPr>
          <a:xfrm>
            <a:off x="4267200" y="3657600"/>
            <a:ext cx="2057400" cy="762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t>Rethink algorithm: Take better advantage of cache</a:t>
            </a:r>
          </a:p>
        </p:txBody>
      </p:sp>
      <p:sp>
        <p:nvSpPr>
          <p:cNvPr id="8" name="Bent Arrow 7"/>
          <p:cNvSpPr/>
          <p:nvPr/>
        </p:nvSpPr>
        <p:spPr>
          <a:xfrm flipH="1">
            <a:off x="3657600" y="2667000"/>
            <a:ext cx="1600200" cy="990600"/>
          </a:xfrm>
          <a:prstGeom prst="bentArrow">
            <a:avLst>
              <a:gd name="adj1" fmla="val 13430"/>
              <a:gd name="adj2" fmla="val 38636"/>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9" name="Rectangle 8"/>
          <p:cNvSpPr/>
          <p:nvPr/>
        </p:nvSpPr>
        <p:spPr>
          <a:xfrm>
            <a:off x="838200" y="5029200"/>
            <a:ext cx="2667000" cy="6858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Hardware</a:t>
            </a:r>
          </a:p>
        </p:txBody>
      </p:sp>
      <p:sp>
        <p:nvSpPr>
          <p:cNvPr id="10" name="Rectangle 9"/>
          <p:cNvSpPr/>
          <p:nvPr/>
        </p:nvSpPr>
        <p:spPr>
          <a:xfrm>
            <a:off x="6629400" y="2209800"/>
            <a:ext cx="2057400" cy="304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PAT</a:t>
            </a:r>
          </a:p>
        </p:txBody>
      </p:sp>
      <p:sp>
        <p:nvSpPr>
          <p:cNvPr id="11" name="Down Arrow 10"/>
          <p:cNvSpPr/>
          <p:nvPr/>
        </p:nvSpPr>
        <p:spPr>
          <a:xfrm>
            <a:off x="2590800" y="4572000"/>
            <a:ext cx="152400" cy="457200"/>
          </a:xfrm>
          <a:prstGeom prst="downArrow">
            <a:avLst>
              <a:gd name="adj1" fmla="val 50000"/>
              <a:gd name="adj2" fmla="val 4482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 name="Rectangle 11"/>
          <p:cNvSpPr/>
          <p:nvPr/>
        </p:nvSpPr>
        <p:spPr>
          <a:xfrm>
            <a:off x="6629400" y="3962400"/>
            <a:ext cx="2133600" cy="685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Tune</a:t>
            </a:r>
          </a:p>
        </p:txBody>
      </p:sp>
      <p:sp>
        <p:nvSpPr>
          <p:cNvPr id="13" name="Rectangle 12"/>
          <p:cNvSpPr/>
          <p:nvPr/>
        </p:nvSpPr>
        <p:spPr>
          <a:xfrm>
            <a:off x="6629400" y="5105400"/>
            <a:ext cx="2209800" cy="6096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Hardware</a:t>
            </a:r>
          </a:p>
        </p:txBody>
      </p:sp>
      <p:sp>
        <p:nvSpPr>
          <p:cNvPr id="14" name="Right Arrow 13"/>
          <p:cNvSpPr/>
          <p:nvPr/>
        </p:nvSpPr>
        <p:spPr>
          <a:xfrm flipV="1">
            <a:off x="3581400" y="4038600"/>
            <a:ext cx="685800" cy="46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302" name="TextBox 14"/>
          <p:cNvSpPr txBox="1">
            <a:spLocks noChangeArrowheads="1"/>
          </p:cNvSpPr>
          <p:nvPr/>
        </p:nvSpPr>
        <p:spPr bwMode="auto">
          <a:xfrm>
            <a:off x="6553200" y="1524000"/>
            <a:ext cx="2057400" cy="584200"/>
          </a:xfrm>
          <a:prstGeom prst="rect">
            <a:avLst/>
          </a:prstGeom>
          <a:noFill/>
          <a:ln w="9525">
            <a:noFill/>
            <a:miter lim="800000"/>
            <a:headEnd/>
            <a:tailEnd/>
          </a:ln>
        </p:spPr>
        <p:txBody>
          <a:bodyPr>
            <a:spAutoFit/>
          </a:bodyPr>
          <a:lstStyle/>
          <a:p>
            <a:r>
              <a:rPr lang="en-US" sz="3200" dirty="0"/>
              <a:t>Option 2</a:t>
            </a:r>
          </a:p>
        </p:txBody>
      </p:sp>
      <p:sp>
        <p:nvSpPr>
          <p:cNvPr id="16" name="Down Arrow 15"/>
          <p:cNvSpPr/>
          <p:nvPr/>
        </p:nvSpPr>
        <p:spPr>
          <a:xfrm>
            <a:off x="7620000" y="3429000"/>
            <a:ext cx="46038"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7" name="Down Arrow 16"/>
          <p:cNvSpPr/>
          <p:nvPr/>
        </p:nvSpPr>
        <p:spPr>
          <a:xfrm>
            <a:off x="7620000" y="4648200"/>
            <a:ext cx="76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305" name="TextBox 17"/>
          <p:cNvSpPr txBox="1">
            <a:spLocks noChangeArrowheads="1"/>
          </p:cNvSpPr>
          <p:nvPr/>
        </p:nvSpPr>
        <p:spPr bwMode="auto">
          <a:xfrm>
            <a:off x="3962400" y="2209800"/>
            <a:ext cx="2514600" cy="708025"/>
          </a:xfrm>
          <a:prstGeom prst="rect">
            <a:avLst/>
          </a:prstGeom>
          <a:noFill/>
          <a:ln w="9525">
            <a:noFill/>
            <a:miter lim="800000"/>
            <a:headEnd/>
            <a:tailEnd/>
          </a:ln>
        </p:spPr>
        <p:txBody>
          <a:bodyPr>
            <a:spAutoFit/>
          </a:bodyPr>
          <a:lstStyle/>
          <a:p>
            <a:r>
              <a:rPr lang="en-US" dirty="0"/>
              <a:t>Parallel algorithmic thinking (say PRAM)</a:t>
            </a:r>
          </a:p>
        </p:txBody>
      </p:sp>
      <p:sp>
        <p:nvSpPr>
          <p:cNvPr id="12306" name="TextBox 18"/>
          <p:cNvSpPr txBox="1">
            <a:spLocks noChangeArrowheads="1"/>
          </p:cNvSpPr>
          <p:nvPr/>
        </p:nvSpPr>
        <p:spPr bwMode="auto">
          <a:xfrm>
            <a:off x="4343400" y="4572000"/>
            <a:ext cx="1600200" cy="369888"/>
          </a:xfrm>
          <a:prstGeom prst="rect">
            <a:avLst/>
          </a:prstGeom>
          <a:noFill/>
          <a:ln w="9525">
            <a:noFill/>
            <a:miter lim="800000"/>
            <a:headEnd/>
            <a:tailEnd/>
          </a:ln>
        </p:spPr>
        <p:txBody>
          <a:bodyPr>
            <a:spAutoFit/>
          </a:bodyPr>
          <a:lstStyle/>
          <a:p>
            <a:r>
              <a:rPr lang="en-US" dirty="0"/>
              <a:t>Compiler</a:t>
            </a:r>
          </a:p>
        </p:txBody>
      </p:sp>
      <p:sp>
        <p:nvSpPr>
          <p:cNvPr id="12307" name="TextBox 19"/>
          <p:cNvSpPr txBox="1">
            <a:spLocks noChangeArrowheads="1"/>
          </p:cNvSpPr>
          <p:nvPr/>
        </p:nvSpPr>
        <p:spPr bwMode="auto">
          <a:xfrm>
            <a:off x="0" y="5867400"/>
            <a:ext cx="6477000" cy="830263"/>
          </a:xfrm>
          <a:prstGeom prst="rect">
            <a:avLst/>
          </a:prstGeom>
          <a:noFill/>
          <a:ln w="9525">
            <a:noFill/>
            <a:miter lim="800000"/>
            <a:headEnd/>
            <a:tailEnd/>
          </a:ln>
        </p:spPr>
        <p:txBody>
          <a:bodyPr>
            <a:spAutoFit/>
          </a:bodyPr>
          <a:lstStyle/>
          <a:p>
            <a:r>
              <a:rPr lang="en-US" sz="1600" b="1" dirty="0"/>
              <a:t>Is Option 1 good enough </a:t>
            </a:r>
            <a:r>
              <a:rPr lang="en-US" sz="1600" dirty="0"/>
              <a:t>for the parallel programmer’s model?</a:t>
            </a:r>
          </a:p>
          <a:p>
            <a:r>
              <a:rPr lang="en-US" sz="1600" dirty="0"/>
              <a:t>Options 1B and 2 start with a PRAM algorithm, but not option 1A. </a:t>
            </a:r>
          </a:p>
          <a:p>
            <a:r>
              <a:rPr lang="en-US" sz="1600" b="1" dirty="0"/>
              <a:t>Options 1A and 2 represent workflow</a:t>
            </a:r>
            <a:r>
              <a:rPr lang="en-US" sz="1600" dirty="0"/>
              <a:t>, but not option 1B.</a:t>
            </a:r>
          </a:p>
        </p:txBody>
      </p:sp>
      <p:sp>
        <p:nvSpPr>
          <p:cNvPr id="12308" name="TextBox 20"/>
          <p:cNvSpPr txBox="1">
            <a:spLocks noChangeArrowheads="1"/>
          </p:cNvSpPr>
          <p:nvPr/>
        </p:nvSpPr>
        <p:spPr bwMode="auto">
          <a:xfrm>
            <a:off x="6400800" y="5867400"/>
            <a:ext cx="3124200" cy="830263"/>
          </a:xfrm>
          <a:prstGeom prst="rect">
            <a:avLst/>
          </a:prstGeom>
          <a:noFill/>
          <a:ln w="9525">
            <a:noFill/>
            <a:miter lim="800000"/>
            <a:headEnd/>
            <a:tailEnd/>
          </a:ln>
        </p:spPr>
        <p:txBody>
          <a:bodyPr>
            <a:spAutoFit/>
          </a:bodyPr>
          <a:lstStyle/>
          <a:p>
            <a:r>
              <a:rPr lang="en-US" sz="1600" b="1" dirty="0"/>
              <a:t>Not possible in the 1990s.</a:t>
            </a:r>
          </a:p>
          <a:p>
            <a:r>
              <a:rPr lang="en-US" sz="1600" b="1" dirty="0"/>
              <a:t>Possible now. </a:t>
            </a:r>
          </a:p>
          <a:p>
            <a:r>
              <a:rPr lang="en-US" sz="1600" b="1" dirty="0"/>
              <a:t>Why settle for less?</a:t>
            </a:r>
          </a:p>
        </p:txBody>
      </p:sp>
      <p:sp>
        <p:nvSpPr>
          <p:cNvPr id="25" name="Rounded Rectangle 24"/>
          <p:cNvSpPr/>
          <p:nvPr/>
        </p:nvSpPr>
        <p:spPr>
          <a:xfrm>
            <a:off x="1905000" y="3429000"/>
            <a:ext cx="1676400" cy="106680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Insufficient inter-thread bandwidth?</a:t>
            </a:r>
          </a:p>
        </p:txBody>
      </p:sp>
      <p:sp>
        <p:nvSpPr>
          <p:cNvPr id="26" name="Rectangle 25"/>
          <p:cNvSpPr/>
          <p:nvPr/>
        </p:nvSpPr>
        <p:spPr>
          <a:xfrm>
            <a:off x="0" y="2209800"/>
            <a:ext cx="1752600" cy="9906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dirty="0">
                <a:latin typeface="Calibri" pitchFamily="34" charset="0"/>
              </a:rPr>
              <a:t>Domain decomposition, </a:t>
            </a:r>
          </a:p>
          <a:p>
            <a:pPr algn="ctr">
              <a:defRPr/>
            </a:pPr>
            <a:r>
              <a:rPr lang="en-US" sz="1800" dirty="0">
                <a:latin typeface="Calibri" pitchFamily="34" charset="0"/>
              </a:rPr>
              <a:t>or task decomposition</a:t>
            </a:r>
          </a:p>
        </p:txBody>
      </p:sp>
      <p:sp>
        <p:nvSpPr>
          <p:cNvPr id="27" name="Rectangle 26"/>
          <p:cNvSpPr/>
          <p:nvPr/>
        </p:nvSpPr>
        <p:spPr>
          <a:xfrm>
            <a:off x="6629400" y="3124200"/>
            <a:ext cx="2133600" cy="304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Program</a:t>
            </a:r>
          </a:p>
        </p:txBody>
      </p:sp>
      <p:sp>
        <p:nvSpPr>
          <p:cNvPr id="28" name="Down Arrow 27"/>
          <p:cNvSpPr/>
          <p:nvPr/>
        </p:nvSpPr>
        <p:spPr>
          <a:xfrm>
            <a:off x="7620000" y="2514600"/>
            <a:ext cx="762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9" name="Rectangle 28"/>
          <p:cNvSpPr/>
          <p:nvPr/>
        </p:nvSpPr>
        <p:spPr>
          <a:xfrm>
            <a:off x="1981200" y="2819400"/>
            <a:ext cx="1676400" cy="381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Program</a:t>
            </a:r>
          </a:p>
        </p:txBody>
      </p:sp>
      <p:sp>
        <p:nvSpPr>
          <p:cNvPr id="31" name="Down Arrow 30"/>
          <p:cNvSpPr/>
          <p:nvPr/>
        </p:nvSpPr>
        <p:spPr>
          <a:xfrm flipH="1">
            <a:off x="2743200" y="2514600"/>
            <a:ext cx="46038" cy="304800"/>
          </a:xfrm>
          <a:prstGeom prst="downArrow">
            <a:avLst>
              <a:gd name="adj1" fmla="val 50000"/>
              <a:gd name="adj2" fmla="val 4482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3" name="Down Arrow 32"/>
          <p:cNvSpPr/>
          <p:nvPr/>
        </p:nvSpPr>
        <p:spPr>
          <a:xfrm>
            <a:off x="2743200" y="3200400"/>
            <a:ext cx="76200" cy="304800"/>
          </a:xfrm>
          <a:prstGeom prst="downArrow">
            <a:avLst>
              <a:gd name="adj1" fmla="val 50000"/>
              <a:gd name="adj2" fmla="val 4482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4" name="Down Arrow 33"/>
          <p:cNvSpPr/>
          <p:nvPr/>
        </p:nvSpPr>
        <p:spPr>
          <a:xfrm flipH="1">
            <a:off x="914400" y="45720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5" name="Down Arrow 34"/>
          <p:cNvSpPr/>
          <p:nvPr/>
        </p:nvSpPr>
        <p:spPr>
          <a:xfrm flipH="1">
            <a:off x="914400" y="38862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318" name="TextBox 29"/>
          <p:cNvSpPr txBox="1">
            <a:spLocks noChangeArrowheads="1"/>
          </p:cNvSpPr>
          <p:nvPr/>
        </p:nvSpPr>
        <p:spPr bwMode="auto">
          <a:xfrm>
            <a:off x="7620000" y="2514600"/>
            <a:ext cx="1524000" cy="646113"/>
          </a:xfrm>
          <a:prstGeom prst="rect">
            <a:avLst/>
          </a:prstGeom>
          <a:noFill/>
          <a:ln w="9525">
            <a:noFill/>
            <a:miter lim="800000"/>
            <a:headEnd/>
            <a:tailEnd/>
          </a:ln>
        </p:spPr>
        <p:txBody>
          <a:bodyPr>
            <a:spAutoFit/>
          </a:bodyPr>
          <a:lstStyle/>
          <a:p>
            <a:r>
              <a:rPr lang="en-US" sz="1800" dirty="0">
                <a:solidFill>
                  <a:srgbClr val="FF0000"/>
                </a:solidFill>
              </a:rPr>
              <a:t>Prove</a:t>
            </a:r>
          </a:p>
          <a:p>
            <a:r>
              <a:rPr lang="en-US" sz="1800" dirty="0">
                <a:solidFill>
                  <a:srgbClr val="FF0000"/>
                </a:solidFill>
              </a:rPr>
              <a:t>correctness</a:t>
            </a:r>
          </a:p>
        </p:txBody>
      </p:sp>
      <p:sp>
        <p:nvSpPr>
          <p:cNvPr id="12319" name="TextBox 31"/>
          <p:cNvSpPr txBox="1">
            <a:spLocks noChangeArrowheads="1"/>
          </p:cNvSpPr>
          <p:nvPr/>
        </p:nvSpPr>
        <p:spPr bwMode="auto">
          <a:xfrm>
            <a:off x="9601200" y="2743200"/>
            <a:ext cx="184150" cy="400050"/>
          </a:xfrm>
          <a:prstGeom prst="rect">
            <a:avLst/>
          </a:prstGeom>
          <a:noFill/>
          <a:ln w="9525">
            <a:noFill/>
            <a:miter lim="800000"/>
            <a:headEnd/>
            <a:tailEnd/>
          </a:ln>
        </p:spPr>
        <p:txBody>
          <a:bodyPr wrap="none">
            <a:spAutoFit/>
          </a:bodyPr>
          <a:lstStyle/>
          <a:p>
            <a:endParaRPr lang="en-US" dirty="0"/>
          </a:p>
        </p:txBody>
      </p:sp>
      <p:sp>
        <p:nvSpPr>
          <p:cNvPr id="12320" name="TextBox 35"/>
          <p:cNvSpPr txBox="1">
            <a:spLocks noChangeArrowheads="1"/>
          </p:cNvSpPr>
          <p:nvPr/>
        </p:nvSpPr>
        <p:spPr bwMode="auto">
          <a:xfrm>
            <a:off x="7620000" y="3429000"/>
            <a:ext cx="1524000" cy="400050"/>
          </a:xfrm>
          <a:prstGeom prst="rect">
            <a:avLst/>
          </a:prstGeom>
          <a:noFill/>
          <a:ln w="9525">
            <a:noFill/>
            <a:miter lim="800000"/>
            <a:headEnd/>
            <a:tailEnd/>
          </a:ln>
        </p:spPr>
        <p:txBody>
          <a:bodyPr>
            <a:spAutoFit/>
          </a:bodyPr>
          <a:lstStyle/>
          <a:p>
            <a:r>
              <a:rPr lang="en-US" dirty="0">
                <a:solidFill>
                  <a:srgbClr val="FF0000"/>
                </a:solidFill>
              </a:rPr>
              <a:t>Still correct</a:t>
            </a:r>
          </a:p>
        </p:txBody>
      </p:sp>
      <p:sp>
        <p:nvSpPr>
          <p:cNvPr id="12321" name="TextBox 36"/>
          <p:cNvSpPr txBox="1">
            <a:spLocks noChangeArrowheads="1"/>
          </p:cNvSpPr>
          <p:nvPr/>
        </p:nvSpPr>
        <p:spPr bwMode="auto">
          <a:xfrm>
            <a:off x="7620000" y="4648200"/>
            <a:ext cx="1524000" cy="400050"/>
          </a:xfrm>
          <a:prstGeom prst="rect">
            <a:avLst/>
          </a:prstGeom>
          <a:noFill/>
          <a:ln w="9525">
            <a:noFill/>
            <a:miter lim="800000"/>
            <a:headEnd/>
            <a:tailEnd/>
          </a:ln>
        </p:spPr>
        <p:txBody>
          <a:bodyPr>
            <a:spAutoFit/>
          </a:bodyPr>
          <a:lstStyle/>
          <a:p>
            <a:r>
              <a:rPr lang="en-US" dirty="0">
                <a:solidFill>
                  <a:srgbClr val="FF0000"/>
                </a:solidFill>
              </a:rPr>
              <a:t>Still correct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Title 1"/>
          <p:cNvSpPr>
            <a:spLocks noGrp="1"/>
          </p:cNvSpPr>
          <p:nvPr>
            <p:ph type="title"/>
          </p:nvPr>
        </p:nvSpPr>
        <p:spPr>
          <a:xfrm>
            <a:off x="0" y="0"/>
            <a:ext cx="9144000" cy="990600"/>
          </a:xfrm>
        </p:spPr>
        <p:txBody>
          <a:bodyPr/>
          <a:lstStyle/>
          <a:p>
            <a:pPr algn="ctr"/>
            <a:r>
              <a:rPr lang="en-US" sz="3600" dirty="0" smtClean="0">
                <a:solidFill>
                  <a:schemeClr val="tx1"/>
                </a:solidFill>
              </a:rPr>
              <a:t>What difference do we hope to make? </a:t>
            </a:r>
            <a:r>
              <a:rPr lang="en-US" sz="3200" u="sng" dirty="0" smtClean="0"/>
              <a:t>Productivity in Parallel Computing</a:t>
            </a:r>
          </a:p>
        </p:txBody>
      </p:sp>
      <p:sp>
        <p:nvSpPr>
          <p:cNvPr id="4099" name="Text Placeholder 3"/>
          <p:cNvSpPr>
            <a:spLocks noGrp="1"/>
          </p:cNvSpPr>
          <p:nvPr>
            <p:ph type="body" sz="half" idx="2"/>
          </p:nvPr>
        </p:nvSpPr>
        <p:spPr>
          <a:xfrm>
            <a:off x="0" y="914400"/>
            <a:ext cx="9144000" cy="5943600"/>
          </a:xfrm>
        </p:spPr>
        <p:txBody>
          <a:bodyPr/>
          <a:lstStyle/>
          <a:p>
            <a:pPr algn="ctr"/>
            <a:r>
              <a:rPr lang="en-US" sz="2200" b="1" u="sng" dirty="0" smtClean="0"/>
              <a:t>The large parallel machines story </a:t>
            </a:r>
            <a:endParaRPr lang="en-US" sz="2200" b="1" dirty="0" smtClean="0"/>
          </a:p>
          <a:p>
            <a:r>
              <a:rPr lang="en-US" sz="2200" u="sng" dirty="0" smtClean="0"/>
              <a:t>Funding of productivity</a:t>
            </a:r>
            <a:r>
              <a:rPr lang="en-US" sz="2200" dirty="0" smtClean="0"/>
              <a:t>: </a:t>
            </a:r>
            <a:r>
              <a:rPr lang="en-US" sz="2200" b="1" dirty="0" smtClean="0"/>
              <a:t>$M650 </a:t>
            </a:r>
            <a:r>
              <a:rPr lang="en-US" sz="2200" dirty="0" smtClean="0"/>
              <a:t>H</a:t>
            </a:r>
            <a:r>
              <a:rPr lang="en-US" sz="2200" dirty="0" smtClean="0">
                <a:solidFill>
                  <a:srgbClr val="FF0000"/>
                </a:solidFill>
              </a:rPr>
              <a:t>Productivity</a:t>
            </a:r>
            <a:r>
              <a:rPr lang="en-US" sz="2200" dirty="0" smtClean="0"/>
              <a:t>CS, ~2002 </a:t>
            </a:r>
            <a:endParaRPr lang="en-US" sz="2200" u="sng" dirty="0" smtClean="0"/>
          </a:p>
          <a:p>
            <a:r>
              <a:rPr lang="en-US" sz="2200" u="sng" dirty="0" smtClean="0"/>
              <a:t>Met # Gflops goals</a:t>
            </a:r>
            <a:r>
              <a:rPr lang="en-US" sz="2200" dirty="0" smtClean="0"/>
              <a:t>: up by 1000X since mid-90’s  </a:t>
            </a:r>
          </a:p>
          <a:p>
            <a:r>
              <a:rPr lang="en-US" sz="2200" u="sng" dirty="0" smtClean="0"/>
              <a:t>Met power goals</a:t>
            </a:r>
            <a:r>
              <a:rPr lang="en-US" sz="2200" dirty="0" smtClean="0"/>
              <a:t>. Also: groomed eloquent spokespeople</a:t>
            </a:r>
            <a:endParaRPr lang="en-US" sz="2200" u="sng" dirty="0" smtClean="0"/>
          </a:p>
          <a:p>
            <a:r>
              <a:rPr lang="en-US" sz="2200" u="sng" dirty="0" smtClean="0"/>
              <a:t>Progress on productivity</a:t>
            </a:r>
            <a:r>
              <a:rPr lang="en-US" sz="2200" dirty="0" smtClean="0"/>
              <a:t>: </a:t>
            </a:r>
            <a:r>
              <a:rPr lang="en-US" sz="2200" b="1" dirty="0" smtClean="0"/>
              <a:t>No</a:t>
            </a:r>
            <a:r>
              <a:rPr lang="en-US" sz="2200" dirty="0" smtClean="0"/>
              <a:t> agreed </a:t>
            </a:r>
            <a:r>
              <a:rPr lang="en-US" sz="2200" b="1" dirty="0" smtClean="0"/>
              <a:t>benchmarks. No spokesperson. Elusive!</a:t>
            </a:r>
            <a:r>
              <a:rPr lang="en-US" sz="2200" dirty="0" smtClean="0"/>
              <a:t> In fact, not much has changed since:</a:t>
            </a:r>
            <a:r>
              <a:rPr lang="en-US" sz="2200" dirty="0" smtClean="0">
                <a:solidFill>
                  <a:srgbClr val="FF0000"/>
                </a:solidFill>
              </a:rPr>
              <a:t> </a:t>
            </a:r>
            <a:r>
              <a:rPr lang="en-US" sz="2200" dirty="0" smtClean="0"/>
              <a:t>“</a:t>
            </a:r>
            <a:r>
              <a:rPr lang="en-US" sz="2200" dirty="0" smtClean="0">
                <a:solidFill>
                  <a:srgbClr val="FF0000"/>
                </a:solidFill>
              </a:rPr>
              <a:t>as intimidating</a:t>
            </a:r>
            <a:r>
              <a:rPr lang="en-US" sz="2200" dirty="0" smtClean="0"/>
              <a:t> and </a:t>
            </a:r>
            <a:r>
              <a:rPr lang="en-US" sz="2200" dirty="0" smtClean="0">
                <a:solidFill>
                  <a:srgbClr val="FF0000"/>
                </a:solidFill>
              </a:rPr>
              <a:t>time consuming </a:t>
            </a:r>
            <a:r>
              <a:rPr lang="en-US" sz="2200" dirty="0" smtClean="0"/>
              <a:t>as programming in </a:t>
            </a:r>
            <a:r>
              <a:rPr lang="en-US" sz="2200" dirty="0" smtClean="0">
                <a:solidFill>
                  <a:srgbClr val="FF0000"/>
                </a:solidFill>
              </a:rPr>
              <a:t>assembly</a:t>
            </a:r>
            <a:r>
              <a:rPr lang="en-US" sz="2200" dirty="0" smtClean="0"/>
              <a:t> language”--NSF Blue Ribbon Committee, 2003 or even </a:t>
            </a:r>
            <a:r>
              <a:rPr lang="en-US" sz="2200" dirty="0" smtClean="0">
                <a:solidFill>
                  <a:srgbClr val="FF0000"/>
                </a:solidFill>
              </a:rPr>
              <a:t>“parallel software crisis”</a:t>
            </a:r>
            <a:r>
              <a:rPr lang="en-US" sz="2200" dirty="0" smtClean="0"/>
              <a:t>, CACM 1991.</a:t>
            </a:r>
          </a:p>
          <a:p>
            <a:r>
              <a:rPr lang="en-US" sz="2200" u="sng" dirty="0" smtClean="0"/>
              <a:t>Common sense engineering</a:t>
            </a:r>
            <a:r>
              <a:rPr lang="en-US" sz="2200" dirty="0" smtClean="0"/>
              <a:t>: Untreated bottleneck </a:t>
            </a:r>
            <a:r>
              <a:rPr lang="en-US" sz="2200" dirty="0" smtClean="0">
                <a:sym typeface="Wingdings" pitchFamily="2" charset="2"/>
              </a:rPr>
              <a:t></a:t>
            </a:r>
            <a:r>
              <a:rPr lang="en-US" sz="2200" dirty="0" smtClean="0"/>
              <a:t> diminished returns  on improvements</a:t>
            </a:r>
            <a:r>
              <a:rPr lang="en-US" sz="2200" dirty="0" smtClean="0">
                <a:sym typeface="Wingdings" pitchFamily="2" charset="2"/>
              </a:rPr>
              <a:t></a:t>
            </a:r>
            <a:r>
              <a:rPr lang="en-US" sz="2200" dirty="0" smtClean="0"/>
              <a:t> bottleneck becomes more critical</a:t>
            </a:r>
          </a:p>
          <a:p>
            <a:r>
              <a:rPr lang="en-US" sz="2200" u="sng" dirty="0" smtClean="0"/>
              <a:t>Next 10 years</a:t>
            </a:r>
            <a:r>
              <a:rPr lang="en-US" sz="2200" dirty="0" smtClean="0"/>
              <a:t>: New specific programs on flops and power. </a:t>
            </a:r>
            <a:r>
              <a:rPr lang="en-US" sz="2200" b="1" dirty="0" smtClean="0"/>
              <a:t>What about productivity?!</a:t>
            </a:r>
          </a:p>
          <a:p>
            <a:r>
              <a:rPr lang="en-US" sz="2200" u="sng" dirty="0" smtClean="0"/>
              <a:t>Reality</a:t>
            </a:r>
            <a:r>
              <a:rPr lang="en-US" sz="2200" dirty="0" smtClean="0"/>
              <a:t>: economic island. Cleared by </a:t>
            </a:r>
            <a:r>
              <a:rPr lang="en-US" sz="2200" b="1" dirty="0" smtClean="0"/>
              <a:t>marketing</a:t>
            </a:r>
            <a:r>
              <a:rPr lang="en-US" sz="2200" dirty="0" smtClean="0"/>
              <a:t>: DOE applications</a:t>
            </a:r>
          </a:p>
          <a:p>
            <a:pPr algn="ctr"/>
            <a:r>
              <a:rPr lang="en-US" sz="2200" b="1" u="sng" dirty="0" smtClean="0"/>
              <a:t>Enter: mainstream </a:t>
            </a:r>
            <a:r>
              <a:rPr lang="en-US" sz="2400" b="1" u="sng" dirty="0" smtClean="0"/>
              <a:t>many-cores </a:t>
            </a:r>
            <a:endParaRPr lang="en-US" sz="2400" dirty="0" smtClean="0"/>
          </a:p>
          <a:p>
            <a:r>
              <a:rPr lang="en-US" sz="2400" dirty="0" smtClean="0"/>
              <a:t>Every CS major should be able to program many-cores</a:t>
            </a:r>
          </a:p>
          <a:p>
            <a:endParaRPr lang="en-US" sz="2400" dirty="0" smtClean="0"/>
          </a:p>
          <a:p>
            <a:endParaRPr lang="en-US" sz="2400" dirty="0" smtClean="0"/>
          </a:p>
          <a:p>
            <a:endParaRPr lang="en-US" sz="24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0"/>
            <a:ext cx="9144000" cy="609600"/>
          </a:xfrm>
        </p:spPr>
        <p:txBody>
          <a:bodyPr/>
          <a:lstStyle/>
          <a:p>
            <a:pPr marL="838200" indent="-838200" eaLnBrk="1" hangingPunct="1"/>
            <a:r>
              <a:rPr lang="en-US" sz="3600" dirty="0" smtClean="0">
                <a:solidFill>
                  <a:schemeClr val="tx1"/>
                </a:solidFill>
              </a:rPr>
              <a:t>Many-Cores are Productivity Limited </a:t>
            </a:r>
          </a:p>
        </p:txBody>
      </p:sp>
      <p:sp>
        <p:nvSpPr>
          <p:cNvPr id="4099" name="Text Box 6"/>
          <p:cNvSpPr txBox="1">
            <a:spLocks noChangeArrowheads="1"/>
          </p:cNvSpPr>
          <p:nvPr/>
        </p:nvSpPr>
        <p:spPr bwMode="auto">
          <a:xfrm>
            <a:off x="288925" y="6156325"/>
            <a:ext cx="184150" cy="336550"/>
          </a:xfrm>
          <a:prstGeom prst="rect">
            <a:avLst/>
          </a:prstGeom>
          <a:noFill/>
          <a:ln w="9525">
            <a:noFill/>
            <a:miter lim="800000"/>
            <a:headEnd/>
            <a:tailEnd/>
          </a:ln>
        </p:spPr>
        <p:txBody>
          <a:bodyPr wrap="none">
            <a:spAutoFit/>
          </a:bodyPr>
          <a:lstStyle/>
          <a:p>
            <a:endParaRPr lang="en-US" sz="1600" dirty="0"/>
          </a:p>
        </p:txBody>
      </p:sp>
      <p:sp>
        <p:nvSpPr>
          <p:cNvPr id="2057" name="Text Box 9"/>
          <p:cNvSpPr txBox="1">
            <a:spLocks noChangeArrowheads="1"/>
          </p:cNvSpPr>
          <p:nvPr/>
        </p:nvSpPr>
        <p:spPr bwMode="auto">
          <a:xfrm>
            <a:off x="0" y="609600"/>
            <a:ext cx="9144000" cy="6370975"/>
          </a:xfrm>
          <a:prstGeom prst="rect">
            <a:avLst/>
          </a:prstGeom>
          <a:noFill/>
          <a:ln w="9525">
            <a:noFill/>
            <a:miter lim="800000"/>
            <a:headEnd/>
            <a:tailEnd/>
          </a:ln>
        </p:spPr>
        <p:txBody>
          <a:bodyPr wrap="square">
            <a:spAutoFit/>
          </a:bodyPr>
          <a:lstStyle/>
          <a:p>
            <a:pPr marL="342900" indent="-342900">
              <a:defRPr/>
            </a:pPr>
            <a:r>
              <a:rPr lang="en-US" sz="2400" u="sng" dirty="0">
                <a:solidFill>
                  <a:srgbClr val="FF0000"/>
                </a:solidFill>
              </a:rPr>
              <a:t>~2003</a:t>
            </a:r>
            <a:r>
              <a:rPr lang="en-US" sz="2400" u="sng" dirty="0"/>
              <a:t> </a:t>
            </a:r>
            <a:r>
              <a:rPr lang="en-US" sz="2400" dirty="0"/>
              <a:t>Wall Street traded companies gave up the safety of the only paradigm that worked for them for parallel </a:t>
            </a:r>
            <a:r>
              <a:rPr lang="en-US" sz="2400" dirty="0" smtClean="0"/>
              <a:t>computing </a:t>
            </a:r>
            <a:r>
              <a:rPr lang="en-US" sz="2400" dirty="0" smtClean="0">
                <a:sym typeface="Wingdings" pitchFamily="2" charset="2"/>
              </a:rPr>
              <a:t></a:t>
            </a:r>
            <a:r>
              <a:rPr lang="en-US" sz="2400" dirty="0" smtClean="0"/>
              <a:t> The “software spiral” (the cyclic process of HW improvement leading to SW improvement) is broken</a:t>
            </a:r>
          </a:p>
          <a:p>
            <a:pPr marL="342900" indent="-342900">
              <a:defRPr/>
            </a:pPr>
            <a:endParaRPr lang="en-US" sz="2400" dirty="0"/>
          </a:p>
          <a:p>
            <a:pPr>
              <a:defRPr/>
            </a:pPr>
            <a:r>
              <a:rPr lang="en-US" sz="2400" u="sng" dirty="0" smtClean="0">
                <a:solidFill>
                  <a:srgbClr val="FF0000"/>
                </a:solidFill>
              </a:rPr>
              <a:t>Reality:</a:t>
            </a:r>
            <a:r>
              <a:rPr lang="en-US" sz="2400" dirty="0" smtClean="0">
                <a:solidFill>
                  <a:srgbClr val="FF0000"/>
                </a:solidFill>
              </a:rPr>
              <a:t> </a:t>
            </a:r>
            <a:r>
              <a:rPr lang="en-US" sz="2400" u="sng" dirty="0" smtClean="0"/>
              <a:t>Never</a:t>
            </a:r>
            <a:r>
              <a:rPr lang="en-US" sz="2400" dirty="0" smtClean="0"/>
              <a:t> </a:t>
            </a:r>
            <a:r>
              <a:rPr lang="en-US" sz="2400" dirty="0"/>
              <a:t>e</a:t>
            </a:r>
            <a:r>
              <a:rPr lang="en-US" sz="2400" dirty="0" smtClean="0"/>
              <a:t>asy-to-program</a:t>
            </a:r>
            <a:r>
              <a:rPr lang="en-US" sz="2400" dirty="0"/>
              <a:t>, fast general-purpose parallel computer for single task completion time. </a:t>
            </a:r>
            <a:r>
              <a:rPr lang="en-US" sz="2400" dirty="0" smtClean="0"/>
              <a:t>Current </a:t>
            </a:r>
            <a:r>
              <a:rPr lang="en-US" sz="2400" dirty="0"/>
              <a:t>parallel architectures: </a:t>
            </a:r>
            <a:r>
              <a:rPr lang="en-US" sz="2400" dirty="0">
                <a:solidFill>
                  <a:srgbClr val="FF0000"/>
                </a:solidFill>
              </a:rPr>
              <a:t>never really worked </a:t>
            </a:r>
            <a:r>
              <a:rPr lang="en-US" sz="2400" dirty="0"/>
              <a:t>for productivity. </a:t>
            </a:r>
            <a:r>
              <a:rPr lang="en-US" sz="2400" dirty="0" smtClean="0"/>
              <a:t>Uninviting programmers' models simply turn programmers away</a:t>
            </a:r>
            <a:endParaRPr lang="en-US" sz="2400" dirty="0"/>
          </a:p>
          <a:p>
            <a:pPr algn="ctr">
              <a:defRPr/>
            </a:pPr>
            <a:r>
              <a:rPr lang="en-US" sz="2400" dirty="0" smtClean="0">
                <a:solidFill>
                  <a:srgbClr val="FF0000"/>
                </a:solidFill>
              </a:rPr>
              <a:t>Why </a:t>
            </a:r>
            <a:r>
              <a:rPr lang="en-US" sz="2400" dirty="0">
                <a:solidFill>
                  <a:srgbClr val="FF0000"/>
                </a:solidFill>
              </a:rPr>
              <a:t>drag the whole field to a recognized disaster area</a:t>
            </a:r>
            <a:r>
              <a:rPr lang="en-US" sz="2400" dirty="0" smtClean="0">
                <a:solidFill>
                  <a:srgbClr val="FF0000"/>
                </a:solidFill>
              </a:rPr>
              <a:t>?</a:t>
            </a:r>
          </a:p>
          <a:p>
            <a:pPr>
              <a:defRPr/>
            </a:pPr>
            <a:r>
              <a:rPr lang="en-US" sz="2400" dirty="0" smtClean="0"/>
              <a:t>Keynote, ISCA09: </a:t>
            </a:r>
            <a:r>
              <a:rPr lang="en-US" sz="2400" dirty="0" smtClean="0">
                <a:sym typeface="Wingdings" pitchFamily="2" charset="2"/>
              </a:rPr>
              <a:t>10</a:t>
            </a:r>
            <a:r>
              <a:rPr lang="en-US" sz="2400" dirty="0" smtClean="0"/>
              <a:t> ways to waste a parallel computer. We can do better: </a:t>
            </a:r>
            <a:r>
              <a:rPr lang="en-US" sz="2400" dirty="0" smtClean="0">
                <a:solidFill>
                  <a:srgbClr val="FF0000"/>
                </a:solidFill>
              </a:rPr>
              <a:t>repel the programmer; </a:t>
            </a:r>
            <a:r>
              <a:rPr lang="en-US" sz="2400" dirty="0" smtClean="0"/>
              <a:t>don’t worry about the rest </a:t>
            </a:r>
            <a:r>
              <a:rPr lang="en-US" sz="2400" dirty="0" smtClean="0">
                <a:sym typeface="Wingdings" pitchFamily="2" charset="2"/>
              </a:rPr>
              <a:t></a:t>
            </a:r>
            <a:r>
              <a:rPr lang="en-US" sz="2400" dirty="0" smtClean="0"/>
              <a:t> </a:t>
            </a:r>
          </a:p>
          <a:p>
            <a:pPr>
              <a:defRPr/>
            </a:pPr>
            <a:endParaRPr lang="en-US" sz="2400" dirty="0" smtClean="0"/>
          </a:p>
          <a:p>
            <a:pPr>
              <a:defRPr/>
            </a:pPr>
            <a:r>
              <a:rPr lang="en-US" sz="2400" dirty="0" smtClean="0"/>
              <a:t>New ideas needed to reproduce the success of the serial paradigm for many-core computing, where </a:t>
            </a:r>
            <a:r>
              <a:rPr lang="en-US" sz="2400" dirty="0" smtClean="0">
                <a:solidFill>
                  <a:srgbClr val="FF0000"/>
                </a:solidFill>
              </a:rPr>
              <a:t>obtaining strong, but not absolutely the best performance is relatively easy</a:t>
            </a:r>
            <a:r>
              <a:rPr lang="en-US" sz="2400" dirty="0" smtClean="0"/>
              <a:t>. </a:t>
            </a:r>
          </a:p>
          <a:p>
            <a:pPr>
              <a:defRPr/>
            </a:pPr>
            <a:r>
              <a:rPr lang="en-US" sz="2400" dirty="0" smtClean="0">
                <a:sym typeface="Wingdings" pitchFamily="2" charset="2"/>
              </a:rPr>
              <a:t> </a:t>
            </a:r>
            <a:r>
              <a:rPr lang="en-US" sz="2400" dirty="0" smtClean="0"/>
              <a:t>Must start to </a:t>
            </a:r>
            <a:r>
              <a:rPr lang="en-US" sz="2400" b="1" u="sng" dirty="0" smtClean="0">
                <a:solidFill>
                  <a:srgbClr val="FF0000"/>
                </a:solidFill>
              </a:rPr>
              <a:t>benchmark HW for productivity</a:t>
            </a:r>
            <a:r>
              <a:rPr lang="en-US" sz="2400" dirty="0" smtClean="0"/>
              <a:t> (PPoPP2011)</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8" name="Title 1"/>
          <p:cNvSpPr>
            <a:spLocks noGrp="1"/>
          </p:cNvSpPr>
          <p:nvPr>
            <p:ph type="title" idx="4294967295"/>
          </p:nvPr>
        </p:nvSpPr>
        <p:spPr>
          <a:xfrm>
            <a:off x="0" y="0"/>
            <a:ext cx="9144000" cy="990600"/>
          </a:xfrm>
        </p:spPr>
        <p:txBody>
          <a:bodyPr/>
          <a:lstStyle/>
          <a:p>
            <a:pPr eaLnBrk="1" hangingPunct="1"/>
            <a:r>
              <a:rPr lang="en-US" sz="3600" u="sng" dirty="0" smtClean="0"/>
              <a:t>XMT (Explicit Multi-Threading): </a:t>
            </a:r>
            <a:br>
              <a:rPr lang="en-US" sz="3600" u="sng" dirty="0" smtClean="0"/>
            </a:br>
            <a:r>
              <a:rPr lang="en-US" sz="3600" u="sng" dirty="0" smtClean="0"/>
              <a:t>A PRAM-On-Chip Vision</a:t>
            </a:r>
          </a:p>
        </p:txBody>
      </p:sp>
      <p:sp>
        <p:nvSpPr>
          <p:cNvPr id="3" name="Content Placeholder 2"/>
          <p:cNvSpPr>
            <a:spLocks noGrp="1"/>
          </p:cNvSpPr>
          <p:nvPr>
            <p:ph idx="4294967295"/>
          </p:nvPr>
        </p:nvSpPr>
        <p:spPr>
          <a:xfrm>
            <a:off x="0" y="1066800"/>
            <a:ext cx="9144000" cy="5791200"/>
          </a:xfrm>
        </p:spPr>
        <p:txBody>
          <a:bodyPr>
            <a:normAutofit fontScale="77500" lnSpcReduction="20000"/>
          </a:bodyPr>
          <a:lstStyle/>
          <a:p>
            <a:pPr eaLnBrk="1" hangingPunct="1">
              <a:defRPr/>
            </a:pPr>
            <a:r>
              <a:rPr lang="en-US" sz="2800" b="1" dirty="0" smtClean="0"/>
              <a:t>IF</a:t>
            </a:r>
            <a:r>
              <a:rPr lang="en-US" sz="2800" dirty="0" smtClean="0"/>
              <a:t> you could program a current manycore </a:t>
            </a:r>
            <a:r>
              <a:rPr lang="en-US" sz="2800" dirty="0" smtClean="0">
                <a:sym typeface="Wingdings" pitchFamily="-108" charset="2"/>
              </a:rPr>
              <a:t> great speedups.</a:t>
            </a:r>
            <a:r>
              <a:rPr lang="en-US" sz="2800" dirty="0" smtClean="0"/>
              <a:t> XMT: </a:t>
            </a:r>
            <a:r>
              <a:rPr lang="en-US" sz="2800" b="1" u="sng" dirty="0" smtClean="0">
                <a:solidFill>
                  <a:srgbClr val="000000"/>
                </a:solidFill>
              </a:rPr>
              <a:t>Fix the IF</a:t>
            </a:r>
            <a:endParaRPr lang="en-US" sz="2800" dirty="0" smtClean="0">
              <a:solidFill>
                <a:srgbClr val="000000"/>
              </a:solidFill>
            </a:endParaRPr>
          </a:p>
          <a:p>
            <a:pPr eaLnBrk="1" hangingPunct="1">
              <a:defRPr/>
            </a:pPr>
            <a:r>
              <a:rPr lang="en-US" sz="2800" dirty="0" smtClean="0"/>
              <a:t>XMT was designed from the </a:t>
            </a:r>
            <a:r>
              <a:rPr lang="en-US" sz="2800" b="1" dirty="0" smtClean="0"/>
              <a:t>ground up </a:t>
            </a:r>
            <a:r>
              <a:rPr lang="en-US" sz="2800" dirty="0" smtClean="0"/>
              <a:t>with the following features:</a:t>
            </a:r>
          </a:p>
          <a:p>
            <a:pPr eaLnBrk="1" hangingPunct="1">
              <a:buFontTx/>
              <a:buChar char="-"/>
              <a:defRPr/>
            </a:pPr>
            <a:r>
              <a:rPr lang="en-US" sz="2800" dirty="0" smtClean="0"/>
              <a:t>Allows </a:t>
            </a:r>
            <a:r>
              <a:rPr lang="en-US" sz="2800" dirty="0" smtClean="0">
                <a:solidFill>
                  <a:srgbClr val="FF0000"/>
                </a:solidFill>
              </a:rPr>
              <a:t>a programmer’s workflow, </a:t>
            </a:r>
            <a:r>
              <a:rPr lang="en-US" sz="2800" dirty="0" smtClean="0"/>
              <a:t>whose first step is </a:t>
            </a:r>
            <a:r>
              <a:rPr lang="en-US" sz="2800" dirty="0" smtClean="0">
                <a:solidFill>
                  <a:srgbClr val="FF0000"/>
                </a:solidFill>
              </a:rPr>
              <a:t>algorithm design for work-depth</a:t>
            </a:r>
            <a:r>
              <a:rPr lang="en-US" sz="2800" dirty="0" smtClean="0"/>
              <a:t>.</a:t>
            </a:r>
            <a:r>
              <a:rPr lang="en-US" sz="2800" b="1" dirty="0" smtClean="0"/>
              <a:t> Thereby, harness the whole PRAM theory</a:t>
            </a:r>
          </a:p>
          <a:p>
            <a:pPr eaLnBrk="1" hangingPunct="1">
              <a:spcBef>
                <a:spcPts val="0"/>
              </a:spcBef>
              <a:buFontTx/>
              <a:buChar char="-"/>
              <a:defRPr/>
            </a:pPr>
            <a:r>
              <a:rPr lang="en-US" sz="2800" dirty="0" smtClean="0"/>
              <a:t>No need to program for locality beyond use of local thread variables</a:t>
            </a:r>
            <a:r>
              <a:rPr lang="en-US" sz="2800" b="1" dirty="0" smtClean="0"/>
              <a:t>, </a:t>
            </a:r>
            <a:r>
              <a:rPr lang="en-US" sz="2800" b="1" dirty="0" smtClean="0">
                <a:solidFill>
                  <a:srgbClr val="FF0000"/>
                </a:solidFill>
              </a:rPr>
              <a:t>post </a:t>
            </a:r>
            <a:r>
              <a:rPr lang="en-US" sz="2800" dirty="0" smtClean="0">
                <a:solidFill>
                  <a:srgbClr val="FF0000"/>
                </a:solidFill>
              </a:rPr>
              <a:t>work-depth</a:t>
            </a:r>
            <a:endParaRPr lang="en-US" sz="2800" dirty="0" smtClean="0"/>
          </a:p>
          <a:p>
            <a:pPr eaLnBrk="1" hangingPunct="1">
              <a:spcBef>
                <a:spcPts val="0"/>
              </a:spcBef>
              <a:buFontTx/>
              <a:buChar char="-"/>
              <a:defRPr/>
            </a:pPr>
            <a:r>
              <a:rPr lang="en-US" sz="2800" dirty="0" smtClean="0"/>
              <a:t>Hardware-supported </a:t>
            </a:r>
            <a:r>
              <a:rPr lang="en-US" sz="2800" dirty="0" smtClean="0">
                <a:solidFill>
                  <a:srgbClr val="FF0000"/>
                </a:solidFill>
              </a:rPr>
              <a:t>dynamic allocation </a:t>
            </a:r>
            <a:r>
              <a:rPr lang="en-US" sz="2800" dirty="0" smtClean="0"/>
              <a:t>of “virtual threads” to processors. </a:t>
            </a:r>
          </a:p>
          <a:p>
            <a:pPr eaLnBrk="1" hangingPunct="1">
              <a:spcBef>
                <a:spcPts val="0"/>
              </a:spcBef>
              <a:buFontTx/>
              <a:buChar char="-"/>
              <a:defRPr/>
            </a:pPr>
            <a:r>
              <a:rPr lang="en-US" sz="2800" dirty="0" smtClean="0">
                <a:solidFill>
                  <a:srgbClr val="FF0000"/>
                </a:solidFill>
              </a:rPr>
              <a:t>Sufficient</a:t>
            </a:r>
            <a:r>
              <a:rPr lang="en-US" sz="2800" dirty="0" smtClean="0"/>
              <a:t> interconnection network </a:t>
            </a:r>
            <a:r>
              <a:rPr lang="en-US" sz="2800" dirty="0" smtClean="0">
                <a:solidFill>
                  <a:srgbClr val="FF0000"/>
                </a:solidFill>
              </a:rPr>
              <a:t>bandwidth </a:t>
            </a:r>
          </a:p>
          <a:p>
            <a:pPr eaLnBrk="1" hangingPunct="1">
              <a:spcBef>
                <a:spcPts val="0"/>
              </a:spcBef>
              <a:buFontTx/>
              <a:buChar char="-"/>
              <a:defRPr/>
            </a:pPr>
            <a:r>
              <a:rPr lang="en-US" sz="2800" dirty="0" smtClean="0">
                <a:solidFill>
                  <a:srgbClr val="FF0000"/>
                </a:solidFill>
              </a:rPr>
              <a:t>Graceful</a:t>
            </a:r>
            <a:r>
              <a:rPr lang="en-US" sz="2800" dirty="0" smtClean="0"/>
              <a:t>ly moving between </a:t>
            </a:r>
            <a:r>
              <a:rPr lang="en-US" sz="2800" dirty="0" smtClean="0">
                <a:solidFill>
                  <a:srgbClr val="FF0000"/>
                </a:solidFill>
              </a:rPr>
              <a:t>serial &amp; parallel execution </a:t>
            </a:r>
            <a:r>
              <a:rPr lang="en-US" sz="2800" dirty="0" smtClean="0"/>
              <a:t>(no off-loading)</a:t>
            </a:r>
          </a:p>
          <a:p>
            <a:pPr eaLnBrk="1" hangingPunct="1">
              <a:spcBef>
                <a:spcPts val="0"/>
              </a:spcBef>
              <a:buFontTx/>
              <a:buChar char="-"/>
              <a:defRPr/>
            </a:pPr>
            <a:r>
              <a:rPr lang="en-US" sz="2800" dirty="0" smtClean="0">
                <a:solidFill>
                  <a:srgbClr val="FF0000"/>
                </a:solidFill>
              </a:rPr>
              <a:t>Backwards compatibility </a:t>
            </a:r>
            <a:r>
              <a:rPr lang="en-US" sz="2800" dirty="0" smtClean="0"/>
              <a:t>on serial code</a:t>
            </a:r>
          </a:p>
          <a:p>
            <a:pPr eaLnBrk="1" hangingPunct="1">
              <a:spcBef>
                <a:spcPts val="0"/>
              </a:spcBef>
              <a:buFontTx/>
              <a:buChar char="-"/>
              <a:defRPr/>
            </a:pPr>
            <a:r>
              <a:rPr lang="en-US" sz="2800" dirty="0" smtClean="0"/>
              <a:t>Support </a:t>
            </a:r>
            <a:r>
              <a:rPr lang="en-US" sz="2800" dirty="0" smtClean="0">
                <a:solidFill>
                  <a:srgbClr val="FF0000"/>
                </a:solidFill>
              </a:rPr>
              <a:t>irregular, fine-grained </a:t>
            </a:r>
            <a:r>
              <a:rPr lang="en-US" sz="2800" dirty="0" smtClean="0"/>
              <a:t>algorithms (unique). Some role for </a:t>
            </a:r>
            <a:r>
              <a:rPr lang="en-US" sz="2800" dirty="0" smtClean="0">
                <a:solidFill>
                  <a:srgbClr val="FF0000"/>
                </a:solidFill>
              </a:rPr>
              <a:t>hashing</a:t>
            </a:r>
            <a:r>
              <a:rPr lang="en-US" sz="2800" dirty="0" smtClean="0"/>
              <a:t>.</a:t>
            </a:r>
          </a:p>
          <a:p>
            <a:pPr eaLnBrk="1" hangingPunct="1">
              <a:defRPr/>
            </a:pPr>
            <a:r>
              <a:rPr lang="en-US" sz="2800" b="1" dirty="0" smtClean="0"/>
              <a:t>Unlike</a:t>
            </a:r>
            <a:r>
              <a:rPr lang="en-US" sz="2800" dirty="0" smtClean="0"/>
              <a:t> matching current HW </a:t>
            </a:r>
            <a:endParaRPr lang="en-US" sz="4000" dirty="0" smtClean="0">
              <a:solidFill>
                <a:srgbClr val="FF0000"/>
              </a:solidFill>
            </a:endParaRPr>
          </a:p>
          <a:p>
            <a:pPr eaLnBrk="1" hangingPunct="1">
              <a:buFontTx/>
              <a:buNone/>
              <a:defRPr/>
            </a:pPr>
            <a:endParaRPr lang="en-US" sz="2800" b="1" dirty="0" smtClean="0"/>
          </a:p>
          <a:p>
            <a:pPr eaLnBrk="1" hangingPunct="1">
              <a:defRPr/>
            </a:pPr>
            <a:r>
              <a:rPr lang="en-US" sz="2800" dirty="0" smtClean="0"/>
              <a:t>Tested HW &amp; SW prototypes </a:t>
            </a:r>
          </a:p>
          <a:p>
            <a:pPr eaLnBrk="1" hangingPunct="1">
              <a:defRPr/>
            </a:pPr>
            <a:r>
              <a:rPr lang="en-US" sz="2800" dirty="0" smtClean="0"/>
              <a:t>Software release of full XMT environment  </a:t>
            </a:r>
          </a:p>
          <a:p>
            <a:pPr eaLnBrk="1" hangingPunct="1">
              <a:defRPr/>
            </a:pPr>
            <a:r>
              <a:rPr lang="en-US" dirty="0" smtClean="0"/>
              <a:t>SPAA’09:</a:t>
            </a:r>
            <a:r>
              <a:rPr lang="en-US" b="1" i="1" u="sng" dirty="0" smtClean="0"/>
              <a:t> </a:t>
            </a:r>
            <a:r>
              <a:rPr lang="en-US" b="1" i="1" u="sng" dirty="0" smtClean="0">
                <a:solidFill>
                  <a:schemeClr val="accent2"/>
                </a:solidFill>
              </a:rPr>
              <a:t>~10X relative to Intel Core 2 Duo</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2530" name="Picture 4" descr="pcview"/>
          <p:cNvPicPr>
            <a:picLocks noChangeAspect="1" noChangeArrowheads="1"/>
          </p:cNvPicPr>
          <p:nvPr/>
        </p:nvPicPr>
        <p:blipFill>
          <a:blip r:embed="rId3" cstate="print"/>
          <a:srcRect/>
          <a:stretch>
            <a:fillRect/>
          </a:stretch>
        </p:blipFill>
        <p:spPr bwMode="auto">
          <a:xfrm>
            <a:off x="152400" y="1371600"/>
            <a:ext cx="5105400" cy="5102225"/>
          </a:xfrm>
          <a:prstGeom prst="rect">
            <a:avLst/>
          </a:prstGeom>
          <a:noFill/>
          <a:ln w="9525">
            <a:noFill/>
            <a:miter lim="800000"/>
            <a:headEnd/>
            <a:tailEnd/>
          </a:ln>
        </p:spPr>
      </p:pic>
      <p:pic>
        <p:nvPicPr>
          <p:cNvPr id="22531" name="Picture 5" descr="tcu-prog"/>
          <p:cNvPicPr>
            <a:picLocks noChangeAspect="1" noChangeArrowheads="1"/>
          </p:cNvPicPr>
          <p:nvPr/>
        </p:nvPicPr>
        <p:blipFill>
          <a:blip r:embed="rId4" cstate="print"/>
          <a:srcRect/>
          <a:stretch>
            <a:fillRect/>
          </a:stretch>
        </p:blipFill>
        <p:spPr bwMode="auto">
          <a:xfrm>
            <a:off x="5562600" y="1447800"/>
            <a:ext cx="3429000" cy="3733800"/>
          </a:xfrm>
          <a:prstGeom prst="rect">
            <a:avLst/>
          </a:prstGeom>
          <a:noFill/>
          <a:ln w="9525">
            <a:noFill/>
            <a:miter lim="800000"/>
            <a:headEnd/>
            <a:tailEnd/>
          </a:ln>
        </p:spPr>
      </p:pic>
      <p:sp>
        <p:nvSpPr>
          <p:cNvPr id="22532" name="Text Box 7"/>
          <p:cNvSpPr txBox="1">
            <a:spLocks noChangeArrowheads="1"/>
          </p:cNvSpPr>
          <p:nvPr/>
        </p:nvSpPr>
        <p:spPr bwMode="auto">
          <a:xfrm>
            <a:off x="152400" y="0"/>
            <a:ext cx="8839200" cy="523220"/>
          </a:xfrm>
          <a:prstGeom prst="rect">
            <a:avLst/>
          </a:prstGeom>
          <a:noFill/>
          <a:ln w="9525">
            <a:noFill/>
            <a:miter lim="800000"/>
            <a:headEnd/>
            <a:tailEnd/>
          </a:ln>
        </p:spPr>
        <p:txBody>
          <a:bodyPr>
            <a:spAutoFit/>
          </a:bodyPr>
          <a:lstStyle/>
          <a:p>
            <a:pPr algn="ctr"/>
            <a:r>
              <a:rPr lang="en-US" sz="2800" dirty="0" smtClean="0">
                <a:solidFill>
                  <a:schemeClr val="folHlink"/>
                </a:solidFill>
              </a:rPr>
              <a:t>Key for GvN47 Engineering solution (2</a:t>
            </a:r>
            <a:r>
              <a:rPr lang="en-US" sz="2800" baseline="30000" dirty="0" smtClean="0">
                <a:solidFill>
                  <a:schemeClr val="folHlink"/>
                </a:solidFill>
              </a:rPr>
              <a:t>nd</a:t>
            </a:r>
            <a:r>
              <a:rPr lang="en-US" sz="2800" dirty="0" smtClean="0">
                <a:solidFill>
                  <a:schemeClr val="folHlink"/>
                </a:solidFill>
              </a:rPr>
              <a:t> visit of slide)</a:t>
            </a:r>
            <a:endParaRPr lang="en-US" sz="2400" dirty="0"/>
          </a:p>
        </p:txBody>
      </p:sp>
      <p:sp>
        <p:nvSpPr>
          <p:cNvPr id="22533" name="Text Box 8"/>
          <p:cNvSpPr txBox="1">
            <a:spLocks noChangeArrowheads="1"/>
          </p:cNvSpPr>
          <p:nvPr/>
        </p:nvSpPr>
        <p:spPr bwMode="auto">
          <a:xfrm>
            <a:off x="228600" y="381000"/>
            <a:ext cx="1654175" cy="336550"/>
          </a:xfrm>
          <a:prstGeom prst="rect">
            <a:avLst/>
          </a:prstGeom>
          <a:noFill/>
          <a:ln w="9525">
            <a:noFill/>
            <a:miter lim="800000"/>
            <a:headEnd/>
            <a:tailEnd/>
          </a:ln>
        </p:spPr>
        <p:txBody>
          <a:bodyPr>
            <a:spAutoFit/>
          </a:bodyPr>
          <a:lstStyle/>
          <a:p>
            <a:pPr>
              <a:spcBef>
                <a:spcPct val="50000"/>
              </a:spcBef>
            </a:pPr>
            <a:endParaRPr lang="en-US" dirty="0"/>
          </a:p>
        </p:txBody>
      </p:sp>
      <p:sp>
        <p:nvSpPr>
          <p:cNvPr id="22534" name="Text Box 10"/>
          <p:cNvSpPr txBox="1">
            <a:spLocks noChangeArrowheads="1"/>
          </p:cNvSpPr>
          <p:nvPr/>
        </p:nvSpPr>
        <p:spPr bwMode="auto">
          <a:xfrm>
            <a:off x="0" y="533400"/>
            <a:ext cx="5410200" cy="707886"/>
          </a:xfrm>
          <a:prstGeom prst="rect">
            <a:avLst/>
          </a:prstGeom>
          <a:noFill/>
          <a:ln w="9525">
            <a:noFill/>
            <a:miter lim="800000"/>
            <a:headEnd/>
            <a:tailEnd/>
          </a:ln>
        </p:spPr>
        <p:txBody>
          <a:bodyPr wrap="square">
            <a:spAutoFit/>
          </a:bodyPr>
          <a:lstStyle/>
          <a:p>
            <a:r>
              <a:rPr lang="en-US" dirty="0" smtClean="0">
                <a:solidFill>
                  <a:srgbClr val="FF0000"/>
                </a:solidFill>
              </a:rPr>
              <a:t>Program</a:t>
            </a:r>
            <a:r>
              <a:rPr lang="en-US" dirty="0">
                <a:solidFill>
                  <a:srgbClr val="FF0000"/>
                </a:solidFill>
              </a:rPr>
              <a:t>-counter &amp; stored </a:t>
            </a:r>
            <a:r>
              <a:rPr lang="en-US" dirty="0" smtClean="0">
                <a:solidFill>
                  <a:srgbClr val="FF0000"/>
                </a:solidFill>
              </a:rPr>
              <a:t>program</a:t>
            </a:r>
          </a:p>
          <a:p>
            <a:r>
              <a:rPr lang="en-US" dirty="0" smtClean="0">
                <a:sym typeface="Wingdings"/>
              </a:rPr>
              <a:t>Later: </a:t>
            </a:r>
            <a:r>
              <a:rPr lang="en-US" dirty="0" smtClean="0"/>
              <a:t>Seek </a:t>
            </a:r>
            <a:r>
              <a:rPr lang="en-US" dirty="0" smtClean="0">
                <a:solidFill>
                  <a:srgbClr val="FF0000"/>
                </a:solidFill>
              </a:rPr>
              <a:t>upgrade for parallel abstraction</a:t>
            </a:r>
            <a:endParaRPr lang="en-US" sz="2400" dirty="0">
              <a:solidFill>
                <a:srgbClr val="FF0000"/>
              </a:solidFill>
            </a:endParaRPr>
          </a:p>
        </p:txBody>
      </p:sp>
      <p:sp>
        <p:nvSpPr>
          <p:cNvPr id="22535" name="Text Box 11"/>
          <p:cNvSpPr txBox="1">
            <a:spLocks noChangeArrowheads="1"/>
          </p:cNvSpPr>
          <p:nvPr/>
        </p:nvSpPr>
        <p:spPr bwMode="auto">
          <a:xfrm>
            <a:off x="6096000" y="533400"/>
            <a:ext cx="2895600" cy="946150"/>
          </a:xfrm>
          <a:prstGeom prst="rect">
            <a:avLst/>
          </a:prstGeom>
          <a:noFill/>
          <a:ln w="9525">
            <a:noFill/>
            <a:miter lim="800000"/>
            <a:headEnd/>
            <a:tailEnd/>
          </a:ln>
        </p:spPr>
        <p:txBody>
          <a:bodyPr>
            <a:spAutoFit/>
          </a:bodyPr>
          <a:lstStyle/>
          <a:p>
            <a:r>
              <a:rPr lang="en-US" dirty="0">
                <a:solidFill>
                  <a:srgbClr val="FF0000"/>
                </a:solidFill>
              </a:rPr>
              <a:t>Virtual over physical: </a:t>
            </a:r>
          </a:p>
          <a:p>
            <a:r>
              <a:rPr lang="en-US" dirty="0">
                <a:solidFill>
                  <a:srgbClr val="FF0000"/>
                </a:solidFill>
              </a:rPr>
              <a:t>distributed solution</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0"/>
            <a:ext cx="8229600" cy="914400"/>
          </a:xfrm>
        </p:spPr>
        <p:txBody>
          <a:bodyPr/>
          <a:lstStyle/>
          <a:p>
            <a:pPr eaLnBrk="1" hangingPunct="1"/>
            <a:r>
              <a:rPr lang="en-US" dirty="0" smtClean="0"/>
              <a:t>XMT Architecture Overview</a:t>
            </a:r>
          </a:p>
        </p:txBody>
      </p:sp>
      <p:sp>
        <p:nvSpPr>
          <p:cNvPr id="21507" name="Content Placeholder 5"/>
          <p:cNvSpPr>
            <a:spLocks noGrp="1"/>
          </p:cNvSpPr>
          <p:nvPr>
            <p:ph sz="half" idx="1"/>
          </p:nvPr>
        </p:nvSpPr>
        <p:spPr>
          <a:xfrm>
            <a:off x="0" y="914400"/>
            <a:ext cx="4191000" cy="5211763"/>
          </a:xfrm>
        </p:spPr>
        <p:txBody>
          <a:bodyPr/>
          <a:lstStyle/>
          <a:p>
            <a:pPr eaLnBrk="1" hangingPunct="1"/>
            <a:r>
              <a:rPr lang="en-US" sz="2000" dirty="0" smtClean="0"/>
              <a:t>One serial core – master thread control unit (MTCU)</a:t>
            </a:r>
          </a:p>
          <a:p>
            <a:pPr eaLnBrk="1" hangingPunct="1"/>
            <a:r>
              <a:rPr lang="en-US" sz="2000" dirty="0" smtClean="0"/>
              <a:t>Parallel cores (TCUs) grouped in clusters</a:t>
            </a:r>
          </a:p>
          <a:p>
            <a:pPr eaLnBrk="1" hangingPunct="1"/>
            <a:r>
              <a:rPr lang="en-US" sz="2000" dirty="0" smtClean="0"/>
              <a:t>Global memory space evenly partitioned in cache banks using hashing</a:t>
            </a:r>
          </a:p>
          <a:p>
            <a:pPr eaLnBrk="1" hangingPunct="1"/>
            <a:r>
              <a:rPr lang="en-US" sz="2000" dirty="0" smtClean="0"/>
              <a:t>No local caches at TCU. Avoids expensive cache coherence hardware </a:t>
            </a:r>
          </a:p>
          <a:p>
            <a:pPr eaLnBrk="1" hangingPunct="1"/>
            <a:r>
              <a:rPr lang="en-US" sz="2000" dirty="0" smtClean="0">
                <a:solidFill>
                  <a:srgbClr val="FF0000"/>
                </a:solidFill>
              </a:rPr>
              <a:t>HW-supported run-time load-balancing of concurrent threads over processors</a:t>
            </a:r>
            <a:r>
              <a:rPr lang="en-US" sz="2000" dirty="0" smtClean="0"/>
              <a:t>. </a:t>
            </a:r>
            <a:r>
              <a:rPr lang="en-US" sz="2000" dirty="0" smtClean="0">
                <a:solidFill>
                  <a:srgbClr val="FF0000"/>
                </a:solidFill>
              </a:rPr>
              <a:t>Low thread creation overhead.</a:t>
            </a:r>
            <a:r>
              <a:rPr lang="en-US" sz="2000" dirty="0" smtClean="0"/>
              <a:t> (Extend classic stored-program+program counter; cited by 15 Intel patents; Prefix-sum to registers &amp; to memory. ) </a:t>
            </a:r>
          </a:p>
        </p:txBody>
      </p:sp>
      <p:grpSp>
        <p:nvGrpSpPr>
          <p:cNvPr id="21508" name="Group 46"/>
          <p:cNvGrpSpPr>
            <a:grpSpLocks/>
          </p:cNvGrpSpPr>
          <p:nvPr/>
        </p:nvGrpSpPr>
        <p:grpSpPr bwMode="auto">
          <a:xfrm>
            <a:off x="4191000" y="1219200"/>
            <a:ext cx="4953000" cy="3124200"/>
            <a:chOff x="3962400" y="4000500"/>
            <a:chExt cx="4751605" cy="2247900"/>
          </a:xfrm>
        </p:grpSpPr>
        <p:sp>
          <p:nvSpPr>
            <p:cNvPr id="34" name="Rectangle 33"/>
            <p:cNvSpPr/>
            <p:nvPr/>
          </p:nvSpPr>
          <p:spPr>
            <a:xfrm>
              <a:off x="5164008" y="5447700"/>
              <a:ext cx="3277389" cy="304974"/>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100" b="1" dirty="0">
                <a:solidFill>
                  <a:schemeClr val="tx1"/>
                </a:solidFill>
              </a:endParaRPr>
            </a:p>
          </p:txBody>
        </p:sp>
        <p:sp>
          <p:nvSpPr>
            <p:cNvPr id="10" name="Rectangle 9"/>
            <p:cNvSpPr/>
            <p:nvPr/>
          </p:nvSpPr>
          <p:spPr>
            <a:xfrm>
              <a:off x="3962400" y="4000500"/>
              <a:ext cx="4751605" cy="2058291"/>
            </a:xfrm>
            <a:prstGeom prst="rect">
              <a:avLst/>
            </a:prstGeom>
            <a:noFill/>
            <a:ln>
              <a:prstDash val="sysDot"/>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100" b="1" dirty="0">
                <a:solidFill>
                  <a:schemeClr val="tx1"/>
                </a:solidFill>
              </a:endParaRPr>
            </a:p>
          </p:txBody>
        </p:sp>
        <p:sp>
          <p:nvSpPr>
            <p:cNvPr id="11" name="Rectangle 10"/>
            <p:cNvSpPr/>
            <p:nvPr/>
          </p:nvSpPr>
          <p:spPr>
            <a:xfrm>
              <a:off x="5218834" y="4457390"/>
              <a:ext cx="817824" cy="3049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Cluster 1</a:t>
              </a:r>
            </a:p>
          </p:txBody>
        </p:sp>
        <p:sp>
          <p:nvSpPr>
            <p:cNvPr id="12" name="Rectangle 11"/>
            <p:cNvSpPr/>
            <p:nvPr/>
          </p:nvSpPr>
          <p:spPr>
            <a:xfrm>
              <a:off x="6255963" y="4457390"/>
              <a:ext cx="819347" cy="3049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Cluster 2</a:t>
              </a:r>
            </a:p>
          </p:txBody>
        </p:sp>
        <p:sp>
          <p:nvSpPr>
            <p:cNvPr id="13" name="Rectangle 12"/>
            <p:cNvSpPr/>
            <p:nvPr/>
          </p:nvSpPr>
          <p:spPr>
            <a:xfrm>
              <a:off x="7512398" y="4457390"/>
              <a:ext cx="819347" cy="3049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Cluster C</a:t>
              </a:r>
            </a:p>
          </p:txBody>
        </p:sp>
        <p:sp>
          <p:nvSpPr>
            <p:cNvPr id="14" name="Rectangle 13"/>
            <p:cNvSpPr/>
            <p:nvPr/>
          </p:nvSpPr>
          <p:spPr>
            <a:xfrm>
              <a:off x="5436616" y="5943426"/>
              <a:ext cx="1038652" cy="30497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100" b="1" dirty="0">
                  <a:solidFill>
                    <a:schemeClr val="tx1"/>
                  </a:solidFill>
                </a:rPr>
                <a:t>DRAM Channel 1</a:t>
              </a:r>
            </a:p>
          </p:txBody>
        </p:sp>
        <p:sp>
          <p:nvSpPr>
            <p:cNvPr id="15" name="Rectangle 14"/>
            <p:cNvSpPr/>
            <p:nvPr/>
          </p:nvSpPr>
          <p:spPr>
            <a:xfrm>
              <a:off x="7022008" y="5943426"/>
              <a:ext cx="1035606" cy="30497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100" b="1" dirty="0">
                  <a:solidFill>
                    <a:schemeClr val="tx1"/>
                  </a:solidFill>
                </a:rPr>
                <a:t>DRAM Channel D</a:t>
              </a:r>
            </a:p>
          </p:txBody>
        </p:sp>
        <p:cxnSp>
          <p:nvCxnSpPr>
            <p:cNvPr id="16" name="Elbow Connector 15"/>
            <p:cNvCxnSpPr>
              <a:stCxn id="29" idx="2"/>
              <a:endCxn id="14" idx="0"/>
            </p:cNvCxnSpPr>
            <p:nvPr/>
          </p:nvCxnSpPr>
          <p:spPr>
            <a:xfrm rot="16200000" flipH="1">
              <a:off x="5664296" y="5651780"/>
              <a:ext cx="228445" cy="354848"/>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928529" y="5829204"/>
              <a:ext cx="819347" cy="228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15" idx="0"/>
            </p:cNvCxnSpPr>
            <p:nvPr/>
          </p:nvCxnSpPr>
          <p:spPr>
            <a:xfrm rot="5400000">
              <a:off x="7580738" y="5711747"/>
              <a:ext cx="190752" cy="272608"/>
            </a:xfrm>
            <a:prstGeom prst="bentConnector3">
              <a:avLst>
                <a:gd name="adj1" fmla="val 5179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0800000">
              <a:off x="7239789" y="5855474"/>
              <a:ext cx="380738" cy="114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072052" y="4114723"/>
              <a:ext cx="600042" cy="381503"/>
            </a:xfrm>
            <a:prstGeom prst="rect">
              <a:avLst/>
            </a:prstGeom>
            <a:solidFill>
              <a:schemeClr val="accent3">
                <a:lumMod val="85000"/>
              </a:schemeClr>
            </a:solidFill>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MTCU</a:t>
              </a:r>
            </a:p>
          </p:txBody>
        </p:sp>
        <p:sp>
          <p:nvSpPr>
            <p:cNvPr id="22" name="Rounded Rectangle 21"/>
            <p:cNvSpPr/>
            <p:nvPr/>
          </p:nvSpPr>
          <p:spPr>
            <a:xfrm>
              <a:off x="5109182" y="4114723"/>
              <a:ext cx="3441868" cy="228445"/>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Hardware Scheduler/Prefix-Sum Unit</a:t>
              </a:r>
            </a:p>
          </p:txBody>
        </p:sp>
        <p:sp>
          <p:nvSpPr>
            <p:cNvPr id="23" name="Rounded Rectangle 22"/>
            <p:cNvSpPr/>
            <p:nvPr/>
          </p:nvSpPr>
          <p:spPr>
            <a:xfrm>
              <a:off x="5109182" y="4915423"/>
              <a:ext cx="3385518" cy="38036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US" sz="1100" b="1" dirty="0">
                  <a:solidFill>
                    <a:schemeClr val="bg1"/>
                  </a:solidFill>
                </a:rPr>
                <a:t>Parallel Interconnection Network</a:t>
              </a:r>
            </a:p>
          </p:txBody>
        </p:sp>
        <p:cxnSp>
          <p:nvCxnSpPr>
            <p:cNvPr id="24" name="Straight Arrow Connector 23"/>
            <p:cNvCxnSpPr/>
            <p:nvPr/>
          </p:nvCxnSpPr>
          <p:spPr>
            <a:xfrm rot="5400000">
              <a:off x="7947199"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5577869" y="4838894"/>
              <a:ext cx="153058"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6561695" y="4837371"/>
              <a:ext cx="153058" cy="3046"/>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7873716" y="4838133"/>
              <a:ext cx="153058" cy="1523"/>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5273661" y="5486536"/>
              <a:ext cx="654869" cy="228445"/>
            </a:xfrm>
            <a:prstGeom prst="rect">
              <a:avLst/>
            </a:prstGeom>
            <a:solidFill>
              <a:srgbClr val="FFFF00"/>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sz="800" b="1" dirty="0">
                  <a:solidFill>
                    <a:schemeClr val="tx1"/>
                  </a:solidFill>
                </a:rPr>
                <a:t>Memory Bank 1</a:t>
              </a:r>
            </a:p>
          </p:txBody>
        </p:sp>
        <p:sp>
          <p:nvSpPr>
            <p:cNvPr id="31" name="Rectangle 30"/>
            <p:cNvSpPr/>
            <p:nvPr/>
          </p:nvSpPr>
          <p:spPr>
            <a:xfrm>
              <a:off x="6093008" y="5486536"/>
              <a:ext cx="654869" cy="228445"/>
            </a:xfrm>
            <a:prstGeom prst="rect">
              <a:avLst/>
            </a:prstGeom>
            <a:solidFill>
              <a:srgbClr val="FFFF00"/>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sz="800" b="1" dirty="0">
                  <a:solidFill>
                    <a:schemeClr val="tx1"/>
                  </a:solidFill>
                </a:rPr>
                <a:t>Memory Bank 2</a:t>
              </a:r>
            </a:p>
          </p:txBody>
        </p:sp>
        <p:sp>
          <p:nvSpPr>
            <p:cNvPr id="33" name="Rectangle 32"/>
            <p:cNvSpPr/>
            <p:nvPr/>
          </p:nvSpPr>
          <p:spPr>
            <a:xfrm>
              <a:off x="7675353" y="5486536"/>
              <a:ext cx="656392" cy="228445"/>
            </a:xfrm>
            <a:prstGeom prst="rect">
              <a:avLst/>
            </a:prstGeom>
            <a:solidFill>
              <a:srgbClr val="FFFF00"/>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sz="800" b="1" dirty="0">
                  <a:solidFill>
                    <a:schemeClr val="tx1"/>
                  </a:solidFill>
                </a:rPr>
                <a:t>Memory Bank M</a:t>
              </a:r>
            </a:p>
          </p:txBody>
        </p:sp>
        <p:cxnSp>
          <p:nvCxnSpPr>
            <p:cNvPr id="35" name="Shape 34"/>
            <p:cNvCxnSpPr>
              <a:stCxn id="21" idx="2"/>
              <a:endCxn id="34" idx="1"/>
            </p:cNvCxnSpPr>
            <p:nvPr/>
          </p:nvCxnSpPr>
          <p:spPr>
            <a:xfrm rot="16200000" flipH="1">
              <a:off x="4215774" y="4652525"/>
              <a:ext cx="1104533" cy="791934"/>
            </a:xfrm>
            <a:prstGeom prst="bentConnector2">
              <a:avLst/>
            </a:prstGeom>
            <a:ln w="19050">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672095" y="4190109"/>
              <a:ext cx="437087" cy="2284"/>
            </a:xfrm>
            <a:prstGeom prst="straightConnector1">
              <a:avLst/>
            </a:prstGeom>
            <a:ln w="19050">
              <a:headEnd type="none"/>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672095" y="4266639"/>
              <a:ext cx="437087" cy="2284"/>
            </a:xfrm>
            <a:prstGeom prst="straightConnector1">
              <a:avLst/>
            </a:prstGeom>
            <a:ln w="19050">
              <a:headEnd type="arrow"/>
              <a:tailEnd type="none"/>
            </a:ln>
          </p:spPr>
          <p:style>
            <a:lnRef idx="1">
              <a:schemeClr val="accent1"/>
            </a:lnRef>
            <a:fillRef idx="0">
              <a:schemeClr val="accent1"/>
            </a:fillRef>
            <a:effectRef idx="0">
              <a:schemeClr val="accent1"/>
            </a:effectRef>
            <a:fontRef idx="minor">
              <a:schemeClr val="tx1"/>
            </a:fontRef>
          </p:style>
        </p:cxnSp>
        <p:sp>
          <p:nvSpPr>
            <p:cNvPr id="21535" name="TextBox 37"/>
            <p:cNvSpPr txBox="1">
              <a:spLocks noChangeArrowheads="1"/>
            </p:cNvSpPr>
            <p:nvPr/>
          </p:nvSpPr>
          <p:spPr bwMode="auto">
            <a:xfrm>
              <a:off x="6686550" y="5414546"/>
              <a:ext cx="1039067" cy="400110"/>
            </a:xfrm>
            <a:prstGeom prst="rect">
              <a:avLst/>
            </a:prstGeom>
            <a:noFill/>
            <a:ln w="9525">
              <a:noFill/>
              <a:miter lim="800000"/>
              <a:headEnd/>
              <a:tailEnd/>
            </a:ln>
          </p:spPr>
          <p:txBody>
            <a:bodyPr wrap="none">
              <a:spAutoFit/>
            </a:bodyPr>
            <a:lstStyle/>
            <a:p>
              <a:pPr algn="ctr"/>
              <a:r>
                <a:rPr lang="en-US" sz="1000" b="1" dirty="0">
                  <a:latin typeface="Calibri" pitchFamily="34" charset="0"/>
                </a:rPr>
                <a:t>Shared Memory</a:t>
              </a:r>
            </a:p>
            <a:p>
              <a:pPr algn="ctr"/>
              <a:r>
                <a:rPr lang="en-US" sz="1000" b="1" dirty="0">
                  <a:latin typeface="Calibri" pitchFamily="34" charset="0"/>
                </a:rPr>
                <a:t>(L1 Cache)</a:t>
              </a:r>
            </a:p>
          </p:txBody>
        </p:sp>
        <p:cxnSp>
          <p:nvCxnSpPr>
            <p:cNvPr id="40" name="Straight Arrow Connector 39"/>
            <p:cNvCxnSpPr/>
            <p:nvPr/>
          </p:nvCxnSpPr>
          <p:spPr>
            <a:xfrm rot="16200000" flipV="1">
              <a:off x="7837546"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6635939"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16200000" flipV="1">
              <a:off x="6527048" y="4399517"/>
              <a:ext cx="114223" cy="152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a:off x="5598049" y="4399517"/>
              <a:ext cx="114223" cy="152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16200000" flipV="1">
              <a:off x="5489157"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flipH="1" flipV="1">
              <a:off x="7190673" y="5817781"/>
              <a:ext cx="9823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flipH="1" flipV="1">
              <a:off x="6689813" y="5797793"/>
              <a:ext cx="7652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5505718" y="5391160"/>
              <a:ext cx="190752"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6325065" y="5391160"/>
              <a:ext cx="190752"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a:off x="7908934" y="5391160"/>
              <a:ext cx="190752"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hape 16"/>
            <p:cNvCxnSpPr/>
            <p:nvPr/>
          </p:nvCxnSpPr>
          <p:spPr>
            <a:xfrm rot="5400000">
              <a:off x="6125941" y="5534702"/>
              <a:ext cx="151916" cy="437086"/>
            </a:xfrm>
            <a:prstGeom prst="bentConnector2">
              <a:avLst/>
            </a:prstGeom>
            <a:ln w="28575"/>
          </p:spPr>
          <p:style>
            <a:lnRef idx="1">
              <a:schemeClr val="accent1"/>
            </a:lnRef>
            <a:fillRef idx="0">
              <a:schemeClr val="accent1"/>
            </a:fillRef>
            <a:effectRef idx="0">
              <a:schemeClr val="accent1"/>
            </a:effectRef>
            <a:fontRef idx="minor">
              <a:schemeClr val="tx1"/>
            </a:fontRef>
          </p:style>
        </p:cxnSp>
      </p:grpSp>
      <p:sp>
        <p:nvSpPr>
          <p:cNvPr id="21509" name="TextBox 55"/>
          <p:cNvSpPr txBox="1">
            <a:spLocks noChangeArrowheads="1"/>
          </p:cNvSpPr>
          <p:nvPr/>
        </p:nvSpPr>
        <p:spPr bwMode="auto">
          <a:xfrm>
            <a:off x="7086600" y="2743200"/>
            <a:ext cx="441325" cy="400050"/>
          </a:xfrm>
          <a:prstGeom prst="rect">
            <a:avLst/>
          </a:prstGeom>
          <a:noFill/>
          <a:ln w="9525">
            <a:noFill/>
            <a:miter lim="800000"/>
            <a:headEnd/>
            <a:tailEnd/>
          </a:ln>
        </p:spPr>
        <p:txBody>
          <a:bodyPr wrap="none">
            <a:spAutoFit/>
          </a:bodyPr>
          <a:lstStyle/>
          <a:p>
            <a:r>
              <a:rPr lang="en-US" dirty="0"/>
              <a:t>…</a:t>
            </a:r>
          </a:p>
        </p:txBody>
      </p:sp>
      <p:sp>
        <p:nvSpPr>
          <p:cNvPr id="21510" name="TextBox 46"/>
          <p:cNvSpPr txBox="1">
            <a:spLocks noChangeArrowheads="1"/>
          </p:cNvSpPr>
          <p:nvPr/>
        </p:nvSpPr>
        <p:spPr bwMode="auto">
          <a:xfrm>
            <a:off x="4800600" y="5029200"/>
            <a:ext cx="4343400" cy="708025"/>
          </a:xfrm>
          <a:prstGeom prst="rect">
            <a:avLst/>
          </a:prstGeom>
          <a:noFill/>
          <a:ln w="9525">
            <a:noFill/>
            <a:miter lim="800000"/>
            <a:headEnd/>
            <a:tailEnd/>
          </a:ln>
        </p:spPr>
        <p:txBody>
          <a:bodyPr>
            <a:spAutoFit/>
          </a:bodyPr>
          <a:lstStyle/>
          <a:p>
            <a:r>
              <a:rPr lang="en-US" dirty="0"/>
              <a:t>- Enough interconnection network </a:t>
            </a:r>
          </a:p>
          <a:p>
            <a:r>
              <a:rPr lang="en-US" dirty="0"/>
              <a:t>bandwidth</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a:xfrm>
            <a:off x="457200" y="0"/>
            <a:ext cx="8229600" cy="838200"/>
          </a:xfrm>
        </p:spPr>
        <p:txBody>
          <a:bodyPr/>
          <a:lstStyle/>
          <a:p>
            <a:pPr eaLnBrk="1" hangingPunct="1"/>
            <a:r>
              <a:rPr lang="en-US" sz="3900" b="1" dirty="0" smtClean="0"/>
              <a:t>Ease of Programming</a:t>
            </a:r>
          </a:p>
        </p:txBody>
      </p:sp>
      <p:sp>
        <p:nvSpPr>
          <p:cNvPr id="3" name="Content Placeholder 2"/>
          <p:cNvSpPr>
            <a:spLocks noGrp="1"/>
          </p:cNvSpPr>
          <p:nvPr>
            <p:ph idx="4294967295"/>
          </p:nvPr>
        </p:nvSpPr>
        <p:spPr>
          <a:xfrm>
            <a:off x="0" y="762000"/>
            <a:ext cx="9144000" cy="6096000"/>
          </a:xfrm>
        </p:spPr>
        <p:txBody>
          <a:bodyPr>
            <a:normAutofit fontScale="92500" lnSpcReduction="10000"/>
          </a:bodyPr>
          <a:lstStyle/>
          <a:p>
            <a:pPr eaLnBrk="1" hangingPunct="1">
              <a:defRPr/>
            </a:pPr>
            <a:r>
              <a:rPr lang="en-US" sz="2600" b="1" u="sng" dirty="0" smtClean="0"/>
              <a:t>Benchmark</a:t>
            </a:r>
            <a:r>
              <a:rPr lang="en-US" sz="2600" dirty="0" smtClean="0"/>
              <a:t> Can </a:t>
            </a:r>
            <a:r>
              <a:rPr lang="en-US" sz="2600" b="1" dirty="0" smtClean="0"/>
              <a:t>any</a:t>
            </a:r>
            <a:r>
              <a:rPr lang="en-US" sz="2600" dirty="0" smtClean="0"/>
              <a:t> CS major program your manycore? </a:t>
            </a:r>
          </a:p>
          <a:p>
            <a:pPr eaLnBrk="1" hangingPunct="1">
              <a:buFont typeface="Arial" charset="0"/>
              <a:buNone/>
              <a:defRPr/>
            </a:pPr>
            <a:r>
              <a:rPr lang="en-US" sz="2600" dirty="0" smtClean="0"/>
              <a:t>Cannot really avoid it! </a:t>
            </a:r>
          </a:p>
          <a:p>
            <a:pPr algn="ctr" eaLnBrk="1" hangingPunct="1">
              <a:buFont typeface="Arial" charset="0"/>
              <a:buNone/>
              <a:defRPr/>
            </a:pPr>
            <a:r>
              <a:rPr lang="en-US" sz="2600" u="sng" dirty="0" smtClean="0"/>
              <a:t>Teachability demonstrated so far for XMT [SIGCSE’10] </a:t>
            </a:r>
          </a:p>
          <a:p>
            <a:pPr eaLnBrk="1" hangingPunct="1">
              <a:buFont typeface="Arial" charset="0"/>
              <a:buNone/>
              <a:defRPr/>
            </a:pPr>
            <a:r>
              <a:rPr lang="en-US" sz="2600" dirty="0" smtClean="0"/>
              <a:t>	- </a:t>
            </a:r>
            <a:r>
              <a:rPr lang="en-US" sz="2600" b="1" dirty="0" smtClean="0"/>
              <a:t>To freshman</a:t>
            </a:r>
            <a:r>
              <a:rPr lang="en-US" sz="2600" dirty="0" smtClean="0"/>
              <a:t> class with 11 non-CS students. Some prog. assignments:  merge-sort*, integer-sort* &amp; sample-sort. </a:t>
            </a:r>
          </a:p>
          <a:p>
            <a:pPr eaLnBrk="1" hangingPunct="1">
              <a:buFont typeface="Arial" charset="0"/>
              <a:buNone/>
              <a:defRPr/>
            </a:pPr>
            <a:r>
              <a:rPr lang="en-US" sz="2600" b="1" dirty="0" smtClean="0"/>
              <a:t>Other teachers</a:t>
            </a:r>
            <a:r>
              <a:rPr lang="en-US" sz="2600" dirty="0" smtClean="0"/>
              <a:t>:</a:t>
            </a:r>
          </a:p>
          <a:p>
            <a:pPr eaLnBrk="1" hangingPunct="1">
              <a:buFont typeface="Arial" charset="0"/>
              <a:buNone/>
              <a:defRPr/>
            </a:pPr>
            <a:r>
              <a:rPr lang="en-US" sz="2600" dirty="0" smtClean="0"/>
              <a:t>	- Magnet HS teacher. Downloaded simulator, assignments, class notes, from XMT page. </a:t>
            </a:r>
            <a:r>
              <a:rPr lang="en-US" sz="2600" b="1" dirty="0" smtClean="0"/>
              <a:t>Self-taught</a:t>
            </a:r>
            <a:r>
              <a:rPr lang="en-US" sz="2600" dirty="0" smtClean="0"/>
              <a:t>. </a:t>
            </a:r>
            <a:r>
              <a:rPr lang="en-US" sz="2600" b="1" dirty="0" smtClean="0"/>
              <a:t>Recommends</a:t>
            </a:r>
            <a:r>
              <a:rPr lang="en-US" sz="2600" dirty="0" smtClean="0"/>
              <a:t>: Teach XMT first. Easiest to set up (simulator), program, analyze: ability to anticipate performance (as in serial). Can do not just for embarrassingly parallel. Teaches also OpenMP, MPI, CUDA. See also, keynote at CS4HS’09@CMU + </a:t>
            </a:r>
            <a:r>
              <a:rPr lang="en-US" sz="2600" b="1" dirty="0" smtClean="0"/>
              <a:t>interview with teacher</a:t>
            </a:r>
            <a:r>
              <a:rPr lang="en-US" sz="2600" dirty="0" smtClean="0"/>
              <a:t>.</a:t>
            </a:r>
          </a:p>
          <a:p>
            <a:pPr eaLnBrk="1" hangingPunct="1">
              <a:buFont typeface="Arial" charset="0"/>
              <a:buNone/>
              <a:defRPr/>
            </a:pPr>
            <a:r>
              <a:rPr lang="en-US" sz="2600" dirty="0" smtClean="0"/>
              <a:t>	- </a:t>
            </a:r>
            <a:r>
              <a:rPr lang="en-US" sz="2600" b="1" dirty="0" smtClean="0"/>
              <a:t>High school &amp; Middle School </a:t>
            </a:r>
            <a:r>
              <a:rPr lang="en-US" sz="2600" dirty="0" smtClean="0"/>
              <a:t>(some </a:t>
            </a:r>
            <a:r>
              <a:rPr lang="en-US" sz="2600" b="1" dirty="0" smtClean="0"/>
              <a:t>10 year </a:t>
            </a:r>
            <a:r>
              <a:rPr lang="en-US" sz="2600" dirty="0" smtClean="0"/>
              <a:t>olds)  students from underrepresented groups by HS Math teacher.</a:t>
            </a:r>
          </a:p>
          <a:p>
            <a:pPr eaLnBrk="1" hangingPunct="1">
              <a:buFont typeface="Arial" charset="0"/>
              <a:buNone/>
              <a:defRPr/>
            </a:pPr>
            <a:r>
              <a:rPr lang="en-US" sz="2600" dirty="0" smtClean="0"/>
              <a:t>*Also in Nvidia’s Satish, Harris &amp; Garland IPDPS09</a:t>
            </a:r>
          </a:p>
          <a:p>
            <a:pPr eaLnBrk="1" hangingPunct="1">
              <a:buFont typeface="Arial" charset="0"/>
              <a:buNone/>
              <a:defRPr/>
            </a:pPr>
            <a:endParaRPr lang="en-US" sz="26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381000"/>
            <a:ext cx="8229600" cy="1036638"/>
          </a:xfrm>
        </p:spPr>
        <p:txBody>
          <a:bodyPr/>
          <a:lstStyle/>
          <a:p>
            <a:r>
              <a:rPr lang="en-US" dirty="0" smtClean="0"/>
              <a:t>Middle School Summer Camp Class Picture, July’09 (20 of 22 students)</a:t>
            </a:r>
          </a:p>
        </p:txBody>
      </p:sp>
      <p:pic>
        <p:nvPicPr>
          <p:cNvPr id="10243" name="Content Placeholder 4" descr="classPicture.JPG"/>
          <p:cNvPicPr>
            <a:picLocks noGrp="1" noChangeAspect="1"/>
          </p:cNvPicPr>
          <p:nvPr>
            <p:ph idx="1"/>
          </p:nvPr>
        </p:nvPicPr>
        <p:blipFill>
          <a:blip r:embed="rId3" cstate="print"/>
          <a:srcRect/>
          <a:stretch>
            <a:fillRect/>
          </a:stretch>
        </p:blipFill>
        <p:spPr>
          <a:xfrm>
            <a:off x="1177924" y="1905000"/>
            <a:ext cx="6975475" cy="4953000"/>
          </a:xfrm>
        </p:spPr>
      </p:pic>
      <p:sp>
        <p:nvSpPr>
          <p:cNvPr id="10244" name="Slide Number Placeholder 3"/>
          <p:cNvSpPr>
            <a:spLocks noGrp="1"/>
          </p:cNvSpPr>
          <p:nvPr>
            <p:ph type="sldNum" sz="quarter" idx="12"/>
          </p:nvPr>
        </p:nvSpPr>
        <p:spPr bwMode="auto">
          <a:noFill/>
          <a:ln>
            <a:miter lim="800000"/>
            <a:headEnd/>
            <a:tailEnd/>
          </a:ln>
        </p:spPr>
        <p:txBody>
          <a:bodyPr/>
          <a:lstStyle/>
          <a:p>
            <a:fld id="{EE2909BF-2B95-4D21-A6B7-4373385495CE}" type="slidenum">
              <a:rPr lang="en-US"/>
              <a:pPr/>
              <a:t>30</a:t>
            </a:fld>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381000" y="0"/>
            <a:ext cx="8229600" cy="609600"/>
          </a:xfrm>
        </p:spPr>
        <p:txBody>
          <a:bodyPr/>
          <a:lstStyle/>
          <a:p>
            <a:pPr eaLnBrk="1" hangingPunct="1"/>
            <a:r>
              <a:rPr lang="en-US" u="sng" dirty="0" smtClean="0"/>
              <a:t>Software release</a:t>
            </a:r>
          </a:p>
        </p:txBody>
      </p:sp>
      <p:sp>
        <p:nvSpPr>
          <p:cNvPr id="24579" name="Rectangle 1">
            <a:hlinkClick r:id="rId3"/>
          </p:cNvPr>
          <p:cNvSpPr>
            <a:spLocks noGrp="1" noChangeArrowheads="1"/>
          </p:cNvSpPr>
          <p:nvPr>
            <p:ph type="body" idx="4294967295"/>
          </p:nvPr>
        </p:nvSpPr>
        <p:spPr>
          <a:xfrm>
            <a:off x="0" y="685800"/>
            <a:ext cx="9144000" cy="5570538"/>
          </a:xfrm>
        </p:spPr>
        <p:txBody>
          <a:bodyPr anchor="ctr">
            <a:spAutoFit/>
          </a:bodyPr>
          <a:lstStyle/>
          <a:p>
            <a:pPr marL="0" indent="0">
              <a:spcBef>
                <a:spcPct val="0"/>
              </a:spcBef>
              <a:buFontTx/>
              <a:buNone/>
            </a:pPr>
            <a:r>
              <a:rPr lang="en-US" sz="2800" dirty="0" smtClean="0"/>
              <a:t>Allows to use </a:t>
            </a:r>
            <a:r>
              <a:rPr lang="en-US" sz="2800" b="1" dirty="0" smtClean="0"/>
              <a:t>your own computer </a:t>
            </a:r>
            <a:r>
              <a:rPr lang="en-US" sz="2800" dirty="0" smtClean="0"/>
              <a:t>for programming on an XMT environment &amp; experimenting with it, including:</a:t>
            </a:r>
            <a:endParaRPr lang="en-US" sz="2800" dirty="0" smtClean="0">
              <a:solidFill>
                <a:srgbClr val="7030A0"/>
              </a:solidFill>
            </a:endParaRPr>
          </a:p>
          <a:p>
            <a:pPr marL="0" indent="0">
              <a:spcBef>
                <a:spcPct val="0"/>
              </a:spcBef>
              <a:buFontTx/>
              <a:buNone/>
            </a:pPr>
            <a:r>
              <a:rPr lang="en-US" sz="2800" dirty="0" smtClean="0">
                <a:solidFill>
                  <a:srgbClr val="7030A0"/>
                </a:solidFill>
              </a:rPr>
              <a:t>a) Cycle-accurate simulator of the XMT machine</a:t>
            </a:r>
          </a:p>
          <a:p>
            <a:pPr marL="0" indent="0">
              <a:spcBef>
                <a:spcPct val="0"/>
              </a:spcBef>
              <a:buFontTx/>
              <a:buNone/>
            </a:pPr>
            <a:r>
              <a:rPr lang="en-US" sz="2800" dirty="0" smtClean="0">
                <a:solidFill>
                  <a:srgbClr val="7030A0"/>
                </a:solidFill>
              </a:rPr>
              <a:t>b) Compiler from XMTC to that machine</a:t>
            </a:r>
          </a:p>
          <a:p>
            <a:pPr marL="0" indent="0">
              <a:spcBef>
                <a:spcPct val="0"/>
              </a:spcBef>
              <a:buFontTx/>
              <a:buNone/>
            </a:pPr>
            <a:r>
              <a:rPr lang="en-US" sz="2800" dirty="0" smtClean="0"/>
              <a:t>Also provided, extensive material for teaching or self-studying parallelism, including</a:t>
            </a:r>
          </a:p>
          <a:p>
            <a:pPr marL="0" indent="0">
              <a:spcBef>
                <a:spcPct val="0"/>
              </a:spcBef>
              <a:buFontTx/>
              <a:buAutoNum type="romanLcParenBoth"/>
            </a:pPr>
            <a:r>
              <a:rPr lang="en-US" sz="2800" dirty="0" smtClean="0"/>
              <a:t>Tutorial + manual for XMTC (150 pages)</a:t>
            </a:r>
          </a:p>
          <a:p>
            <a:pPr marL="0" indent="0">
              <a:spcBef>
                <a:spcPct val="0"/>
              </a:spcBef>
              <a:buFontTx/>
              <a:buAutoNum type="romanLcParenBoth"/>
            </a:pPr>
            <a:r>
              <a:rPr lang="en-US" sz="2800" dirty="0" smtClean="0"/>
              <a:t>Class notes on parallel algorithms (100 pages)</a:t>
            </a:r>
          </a:p>
          <a:p>
            <a:pPr marL="0" indent="0">
              <a:spcBef>
                <a:spcPct val="0"/>
              </a:spcBef>
              <a:buFontTx/>
              <a:buAutoNum type="romanLcParenBoth"/>
            </a:pPr>
            <a:r>
              <a:rPr lang="en-US" sz="2800" dirty="0" smtClean="0"/>
              <a:t>Video recording of 9/15/07 HS tutorial (300 minutes)</a:t>
            </a:r>
          </a:p>
          <a:p>
            <a:pPr marL="0" indent="0">
              <a:spcBef>
                <a:spcPct val="0"/>
              </a:spcBef>
              <a:buFontTx/>
              <a:buAutoNum type="romanLcParenBoth"/>
            </a:pPr>
            <a:r>
              <a:rPr lang="en-US" sz="2800" dirty="0" smtClean="0"/>
              <a:t> Video recording of Spring’09 grad Parallel Algorithms lectures (30+hours)</a:t>
            </a:r>
          </a:p>
          <a:p>
            <a:pPr marL="0" indent="0">
              <a:spcBef>
                <a:spcPct val="0"/>
              </a:spcBef>
              <a:buFontTx/>
              <a:buNone/>
            </a:pPr>
            <a:r>
              <a:rPr lang="en-US" sz="2400" dirty="0" smtClean="0">
                <a:hlinkClick r:id="rId4"/>
              </a:rPr>
              <a:t>www.umiacs.umd.edu/users/vishkin/XMT/sw-release.html</a:t>
            </a:r>
            <a:r>
              <a:rPr lang="en-US" sz="2400" dirty="0" smtClean="0"/>
              <a:t>,  </a:t>
            </a:r>
          </a:p>
          <a:p>
            <a:pPr marL="0" indent="0">
              <a:spcBef>
                <a:spcPct val="0"/>
              </a:spcBef>
              <a:buFontTx/>
              <a:buNone/>
            </a:pPr>
            <a:r>
              <a:rPr lang="en-US" sz="2400" dirty="0" smtClean="0"/>
              <a:t>Or just Google “XMT”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62000"/>
          </a:xfrm>
        </p:spPr>
        <p:txBody>
          <a:bodyPr/>
          <a:lstStyle/>
          <a:p>
            <a:pPr algn="l"/>
            <a:r>
              <a:rPr lang="en-US" sz="3200" dirty="0" smtClean="0"/>
              <a:t>But, what is the performance penalty for easy programming?</a:t>
            </a:r>
            <a:br>
              <a:rPr lang="en-US" sz="3200" dirty="0" smtClean="0"/>
            </a:br>
            <a:r>
              <a:rPr lang="en-US" sz="3200" u="sng" dirty="0" smtClean="0"/>
              <a:t>Surprise</a:t>
            </a:r>
            <a:r>
              <a:rPr lang="en-US" sz="3200" dirty="0" smtClean="0"/>
              <a:t> </a:t>
            </a:r>
            <a:r>
              <a:rPr lang="en-US" sz="3200" dirty="0" smtClean="0">
                <a:solidFill>
                  <a:srgbClr val="FF0000"/>
                </a:solidFill>
              </a:rPr>
              <a:t>benefit!</a:t>
            </a:r>
            <a:r>
              <a:rPr lang="en-US" sz="3200" dirty="0" smtClean="0"/>
              <a:t> vs. GPU [HotPar10]</a:t>
            </a:r>
            <a:endParaRPr lang="en-US" sz="3200" dirty="0"/>
          </a:p>
        </p:txBody>
      </p:sp>
      <p:pic>
        <p:nvPicPr>
          <p:cNvPr id="4" name="Content Placeholder 3" descr="speedups.eps"/>
          <p:cNvPicPr>
            <a:picLocks noGrp="1" noChangeAspect="1"/>
          </p:cNvPicPr>
          <p:nvPr>
            <p:ph idx="1"/>
          </p:nvPr>
        </p:nvPicPr>
        <p:blipFill>
          <a:blip r:embed="rId2" cstate="print"/>
          <a:stretch>
            <a:fillRect/>
          </a:stretch>
        </p:blipFill>
        <p:spPr>
          <a:xfrm>
            <a:off x="609600" y="1295400"/>
            <a:ext cx="8229599" cy="3581400"/>
          </a:xfrm>
        </p:spPr>
      </p:pic>
      <p:sp>
        <p:nvSpPr>
          <p:cNvPr id="5" name="TextBox 4"/>
          <p:cNvSpPr txBox="1"/>
          <p:nvPr/>
        </p:nvSpPr>
        <p:spPr>
          <a:xfrm>
            <a:off x="0" y="4800600"/>
            <a:ext cx="9144000" cy="1938992"/>
          </a:xfrm>
          <a:prstGeom prst="rect">
            <a:avLst/>
          </a:prstGeom>
          <a:noFill/>
        </p:spPr>
        <p:txBody>
          <a:bodyPr wrap="square" rtlCol="0">
            <a:spAutoFit/>
          </a:bodyPr>
          <a:lstStyle/>
          <a:p>
            <a:r>
              <a:rPr lang="en-US" sz="2400" dirty="0" smtClean="0"/>
              <a:t>1024-TCU XMT simulations vs. code </a:t>
            </a:r>
            <a:r>
              <a:rPr lang="en-US" sz="2400" b="1" dirty="0" smtClean="0"/>
              <a:t>by others </a:t>
            </a:r>
            <a:r>
              <a:rPr lang="en-US" sz="2400" dirty="0" smtClean="0"/>
              <a:t>for GTX280. &lt; 1 is slowdown. Sought: similar silicon area &amp; same clock.</a:t>
            </a:r>
            <a:r>
              <a:rPr lang="en-US" dirty="0" smtClean="0"/>
              <a:t> </a:t>
            </a:r>
          </a:p>
          <a:p>
            <a:pPr algn="ctr"/>
            <a:r>
              <a:rPr lang="en-US" sz="2400" u="sng" dirty="0" smtClean="0"/>
              <a:t>Postscript regarding BFS </a:t>
            </a:r>
          </a:p>
          <a:p>
            <a:pPr>
              <a:buFontTx/>
              <a:buChar char="-"/>
            </a:pPr>
            <a:r>
              <a:rPr lang="en-US" sz="2400" dirty="0" smtClean="0"/>
              <a:t> </a:t>
            </a:r>
            <a:r>
              <a:rPr lang="en-US" sz="2400" dirty="0" smtClean="0">
                <a:solidFill>
                  <a:srgbClr val="FF0000"/>
                </a:solidFill>
              </a:rPr>
              <a:t>59X</a:t>
            </a:r>
            <a:r>
              <a:rPr lang="en-US" sz="2400" dirty="0" smtClean="0"/>
              <a:t> if average parallelism is 20</a:t>
            </a:r>
          </a:p>
          <a:p>
            <a:pPr>
              <a:buFontTx/>
              <a:buChar char="-"/>
            </a:pPr>
            <a:r>
              <a:rPr lang="en-US" sz="2400" dirty="0" smtClean="0"/>
              <a:t> </a:t>
            </a:r>
            <a:r>
              <a:rPr lang="en-US" sz="2400" dirty="0" smtClean="0">
                <a:solidFill>
                  <a:srgbClr val="FF0000"/>
                </a:solidFill>
              </a:rPr>
              <a:t>111X</a:t>
            </a:r>
            <a:r>
              <a:rPr lang="en-US" sz="2400" dirty="0" smtClean="0"/>
              <a:t> if XMT is … downscaled to 64 TCUs</a:t>
            </a:r>
            <a:endParaRPr 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Problem acronyms</a:t>
            </a:r>
            <a:endParaRPr lang="en-US" dirty="0"/>
          </a:p>
        </p:txBody>
      </p:sp>
      <p:sp>
        <p:nvSpPr>
          <p:cNvPr id="5" name="Content Placeholder 4"/>
          <p:cNvSpPr>
            <a:spLocks noGrp="1"/>
          </p:cNvSpPr>
          <p:nvPr>
            <p:ph idx="1"/>
          </p:nvPr>
        </p:nvSpPr>
        <p:spPr>
          <a:xfrm>
            <a:off x="0" y="1143000"/>
            <a:ext cx="9144000" cy="4983163"/>
          </a:xfrm>
        </p:spPr>
        <p:txBody>
          <a:bodyPr/>
          <a:lstStyle/>
          <a:p>
            <a:pPr>
              <a:buNone/>
            </a:pPr>
            <a:r>
              <a:rPr lang="en-US" dirty="0" smtClean="0"/>
              <a:t>BFS: Breadth-first search on graphs</a:t>
            </a:r>
          </a:p>
          <a:p>
            <a:pPr>
              <a:buNone/>
            </a:pPr>
            <a:r>
              <a:rPr lang="en-US" dirty="0" smtClean="0"/>
              <a:t>Bprop: Back propagation machine learning alg.</a:t>
            </a:r>
          </a:p>
          <a:p>
            <a:pPr>
              <a:buNone/>
            </a:pPr>
            <a:r>
              <a:rPr lang="en-US" dirty="0" smtClean="0"/>
              <a:t>Conv: Image convolution kernel with separable filter</a:t>
            </a:r>
          </a:p>
          <a:p>
            <a:pPr>
              <a:buNone/>
            </a:pPr>
            <a:r>
              <a:rPr lang="en-US" dirty="0" smtClean="0"/>
              <a:t>Msort: Merge-sort algorith</a:t>
            </a:r>
          </a:p>
          <a:p>
            <a:pPr>
              <a:buNone/>
            </a:pPr>
            <a:r>
              <a:rPr lang="en-US" dirty="0" smtClean="0"/>
              <a:t>NW: Needleman-Wunsch sequence alignment</a:t>
            </a:r>
          </a:p>
          <a:p>
            <a:pPr>
              <a:buNone/>
            </a:pPr>
            <a:r>
              <a:rPr lang="en-US" dirty="0" smtClean="0"/>
              <a:t>Reduct: Parallel reduction (sum)</a:t>
            </a:r>
          </a:p>
          <a:p>
            <a:pPr>
              <a:buNone/>
            </a:pPr>
            <a:r>
              <a:rPr lang="en-US" dirty="0" smtClean="0"/>
              <a:t>Spmv: Sparse matrix-vector multiplication</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0"/>
            <a:ext cx="9144000" cy="838200"/>
          </a:xfrm>
        </p:spPr>
        <p:txBody>
          <a:bodyPr/>
          <a:lstStyle/>
          <a:p>
            <a:pPr eaLnBrk="1" hangingPunct="1"/>
            <a:r>
              <a:rPr lang="en-US" sz="4000" dirty="0" smtClean="0"/>
              <a:t>Few more experimental results</a:t>
            </a:r>
          </a:p>
        </p:txBody>
      </p:sp>
      <p:sp>
        <p:nvSpPr>
          <p:cNvPr id="37891" name="Rectangle 3"/>
          <p:cNvSpPr>
            <a:spLocks noGrp="1" noChangeArrowheads="1"/>
          </p:cNvSpPr>
          <p:nvPr>
            <p:ph type="body" sz="half" idx="1"/>
          </p:nvPr>
        </p:nvSpPr>
        <p:spPr>
          <a:xfrm>
            <a:off x="0" y="914400"/>
            <a:ext cx="4191000" cy="4876800"/>
          </a:xfrm>
        </p:spPr>
        <p:txBody>
          <a:bodyPr/>
          <a:lstStyle/>
          <a:p>
            <a:pPr eaLnBrk="1" hangingPunct="1">
              <a:lnSpc>
                <a:spcPct val="90000"/>
              </a:lnSpc>
            </a:pPr>
            <a:r>
              <a:rPr lang="en-US" sz="2000" dirty="0" smtClean="0"/>
              <a:t>AMD Opteron 2.6 GHz, RedHat Linux Enterprise 3, 64KB+64KB L1 Cache, </a:t>
            </a:r>
            <a:r>
              <a:rPr lang="en-US" sz="2000" dirty="0" smtClean="0">
                <a:solidFill>
                  <a:srgbClr val="FF0000"/>
                </a:solidFill>
              </a:rPr>
              <a:t>1MB L2 Cache (none in XMT), memory bandwidth 6.4 GB/s (X2.67 of XMT)</a:t>
            </a:r>
          </a:p>
          <a:p>
            <a:pPr eaLnBrk="1" hangingPunct="1">
              <a:lnSpc>
                <a:spcPct val="90000"/>
              </a:lnSpc>
              <a:buFontTx/>
              <a:buNone/>
            </a:pPr>
            <a:endParaRPr lang="en-US" sz="2000" dirty="0" smtClean="0">
              <a:solidFill>
                <a:srgbClr val="FF0000"/>
              </a:solidFill>
            </a:endParaRPr>
          </a:p>
          <a:p>
            <a:pPr eaLnBrk="1" hangingPunct="1">
              <a:lnSpc>
                <a:spcPct val="90000"/>
              </a:lnSpc>
            </a:pPr>
            <a:r>
              <a:rPr lang="en-US" sz="2000" dirty="0" smtClean="0"/>
              <a:t>M_Mult was 2000X2000  QSort was 20M</a:t>
            </a:r>
          </a:p>
          <a:p>
            <a:pPr eaLnBrk="1" hangingPunct="1">
              <a:lnSpc>
                <a:spcPct val="90000"/>
              </a:lnSpc>
            </a:pPr>
            <a:endParaRPr lang="en-US" sz="2000" dirty="0" smtClean="0"/>
          </a:p>
          <a:p>
            <a:pPr eaLnBrk="1" hangingPunct="1">
              <a:lnSpc>
                <a:spcPct val="90000"/>
              </a:lnSpc>
            </a:pPr>
            <a:r>
              <a:rPr lang="en-US" sz="2000" u="sng" dirty="0" smtClean="0"/>
              <a:t>XMT enhancements</a:t>
            </a:r>
            <a:r>
              <a:rPr lang="en-US" sz="2000" dirty="0" smtClean="0"/>
              <a:t>: Broadcast, prefetch + buffer,  non-blocking store, non-blocking caches.</a:t>
            </a:r>
          </a:p>
          <a:p>
            <a:pPr eaLnBrk="1" hangingPunct="1">
              <a:lnSpc>
                <a:spcPct val="90000"/>
              </a:lnSpc>
            </a:pPr>
            <a:endParaRPr lang="en-US" sz="2000" dirty="0" smtClean="0">
              <a:solidFill>
                <a:srgbClr val="FF0000"/>
              </a:solidFill>
            </a:endParaRPr>
          </a:p>
        </p:txBody>
      </p:sp>
      <p:sp>
        <p:nvSpPr>
          <p:cNvPr id="37892" name="Rectangle 4"/>
          <p:cNvSpPr>
            <a:spLocks noGrp="1" noChangeArrowheads="1"/>
          </p:cNvSpPr>
          <p:nvPr>
            <p:ph type="body" sz="half" idx="2"/>
          </p:nvPr>
        </p:nvSpPr>
        <p:spPr>
          <a:xfrm>
            <a:off x="4343400" y="990600"/>
            <a:ext cx="4800600" cy="5410200"/>
          </a:xfrm>
        </p:spPr>
        <p:txBody>
          <a:bodyPr/>
          <a:lstStyle/>
          <a:p>
            <a:pPr eaLnBrk="1" hangingPunct="1">
              <a:lnSpc>
                <a:spcPct val="90000"/>
              </a:lnSpc>
              <a:buFontTx/>
              <a:buNone/>
            </a:pPr>
            <a:r>
              <a:rPr lang="en-US" sz="2000" u="sng" dirty="0" smtClean="0"/>
              <a:t>XMT Wall clock time</a:t>
            </a:r>
            <a:r>
              <a:rPr lang="en-US" sz="1600" dirty="0" smtClean="0"/>
              <a:t> (in seconds)</a:t>
            </a:r>
          </a:p>
          <a:p>
            <a:pPr eaLnBrk="1" hangingPunct="1">
              <a:lnSpc>
                <a:spcPct val="90000"/>
              </a:lnSpc>
              <a:buFontTx/>
              <a:buNone/>
            </a:pPr>
            <a:r>
              <a:rPr lang="en-US" sz="1600" dirty="0" smtClean="0"/>
              <a:t>App.	 XMT Basic XMT      Opteron</a:t>
            </a:r>
          </a:p>
          <a:p>
            <a:pPr eaLnBrk="1" hangingPunct="1">
              <a:lnSpc>
                <a:spcPct val="90000"/>
              </a:lnSpc>
              <a:buFontTx/>
              <a:buNone/>
            </a:pPr>
            <a:r>
              <a:rPr lang="en-US" sz="1600" dirty="0" smtClean="0"/>
              <a:t>M-Mult	179.14        </a:t>
            </a:r>
            <a:r>
              <a:rPr lang="en-US" sz="1600" dirty="0" smtClean="0">
                <a:solidFill>
                  <a:srgbClr val="FF0000"/>
                </a:solidFill>
              </a:rPr>
              <a:t>63.7       </a:t>
            </a:r>
            <a:r>
              <a:rPr lang="en-US" sz="1600" dirty="0" smtClean="0">
                <a:solidFill>
                  <a:schemeClr val="accent2"/>
                </a:solidFill>
              </a:rPr>
              <a:t>113.83</a:t>
            </a:r>
          </a:p>
          <a:p>
            <a:pPr eaLnBrk="1" hangingPunct="1">
              <a:lnSpc>
                <a:spcPct val="90000"/>
              </a:lnSpc>
              <a:buFontTx/>
              <a:buNone/>
            </a:pPr>
            <a:r>
              <a:rPr lang="en-US" sz="1600" dirty="0" smtClean="0"/>
              <a:t>QSort	16.71	   </a:t>
            </a:r>
            <a:r>
              <a:rPr lang="en-US" sz="1600" dirty="0" smtClean="0">
                <a:solidFill>
                  <a:schemeClr val="accent2"/>
                </a:solidFill>
              </a:rPr>
              <a:t>6.59</a:t>
            </a:r>
            <a:r>
              <a:rPr lang="en-US" sz="1600" dirty="0" smtClean="0"/>
              <a:t>        </a:t>
            </a:r>
            <a:r>
              <a:rPr lang="en-US" sz="1600" dirty="0" smtClean="0">
                <a:solidFill>
                  <a:srgbClr val="FF0000"/>
                </a:solidFill>
              </a:rPr>
              <a:t>2.61</a:t>
            </a:r>
          </a:p>
          <a:p>
            <a:pPr eaLnBrk="1" hangingPunct="1">
              <a:lnSpc>
                <a:spcPct val="90000"/>
              </a:lnSpc>
              <a:buFontTx/>
              <a:buNone/>
            </a:pPr>
            <a:endParaRPr lang="en-US" sz="1600" dirty="0" smtClean="0"/>
          </a:p>
          <a:p>
            <a:pPr eaLnBrk="1" hangingPunct="1">
              <a:lnSpc>
                <a:spcPct val="90000"/>
              </a:lnSpc>
              <a:buFontTx/>
              <a:buNone/>
            </a:pPr>
            <a:r>
              <a:rPr lang="en-US" sz="1600" dirty="0" smtClean="0"/>
              <a:t>Assume (arbitrary yet conservative)</a:t>
            </a:r>
          </a:p>
          <a:p>
            <a:pPr eaLnBrk="1" hangingPunct="1">
              <a:lnSpc>
                <a:spcPct val="90000"/>
              </a:lnSpc>
              <a:buFontTx/>
              <a:buNone/>
            </a:pPr>
            <a:r>
              <a:rPr lang="en-US" sz="1600" dirty="0" smtClean="0"/>
              <a:t>ASIC XMT: 800MHz and 6.4GHz/s</a:t>
            </a:r>
          </a:p>
          <a:p>
            <a:pPr eaLnBrk="1" hangingPunct="1">
              <a:lnSpc>
                <a:spcPct val="90000"/>
              </a:lnSpc>
              <a:buFontTx/>
              <a:buNone/>
            </a:pPr>
            <a:r>
              <a:rPr lang="en-US" sz="1600" dirty="0" smtClean="0"/>
              <a:t>Reduced bandwidth to .6GB/s and projected back by 800X/75</a:t>
            </a:r>
          </a:p>
          <a:p>
            <a:pPr eaLnBrk="1" hangingPunct="1">
              <a:lnSpc>
                <a:spcPct val="90000"/>
              </a:lnSpc>
              <a:buFontTx/>
              <a:buNone/>
            </a:pPr>
            <a:endParaRPr lang="en-US" sz="1600" dirty="0" smtClean="0"/>
          </a:p>
          <a:p>
            <a:pPr eaLnBrk="1" hangingPunct="1">
              <a:lnSpc>
                <a:spcPct val="90000"/>
              </a:lnSpc>
              <a:buFontTx/>
              <a:buNone/>
            </a:pPr>
            <a:r>
              <a:rPr lang="en-US" sz="2000" b="1" u="sng" dirty="0" smtClean="0"/>
              <a:t>XMT Projected time</a:t>
            </a:r>
            <a:r>
              <a:rPr lang="en-US" sz="1600" b="1" dirty="0" smtClean="0"/>
              <a:t> (in seconds)</a:t>
            </a:r>
          </a:p>
          <a:p>
            <a:pPr eaLnBrk="1" hangingPunct="1">
              <a:lnSpc>
                <a:spcPct val="90000"/>
              </a:lnSpc>
              <a:buFontTx/>
              <a:buNone/>
            </a:pPr>
            <a:r>
              <a:rPr lang="en-US" sz="1600" b="1" dirty="0" smtClean="0"/>
              <a:t>App.	 XMT Basic XMT      Opteron</a:t>
            </a:r>
          </a:p>
          <a:p>
            <a:pPr eaLnBrk="1" hangingPunct="1">
              <a:lnSpc>
                <a:spcPct val="90000"/>
              </a:lnSpc>
              <a:buFontTx/>
              <a:buNone/>
            </a:pPr>
            <a:r>
              <a:rPr lang="en-US" sz="1600" b="1" dirty="0" smtClean="0"/>
              <a:t>M-Mult	</a:t>
            </a:r>
            <a:r>
              <a:rPr lang="en-US" sz="1600" b="1" dirty="0" smtClean="0">
                <a:solidFill>
                  <a:schemeClr val="accent2"/>
                </a:solidFill>
              </a:rPr>
              <a:t>23.53</a:t>
            </a:r>
            <a:r>
              <a:rPr lang="en-US" sz="1600" b="1" dirty="0" smtClean="0"/>
              <a:t>          </a:t>
            </a:r>
            <a:r>
              <a:rPr lang="en-US" sz="1600" b="1" dirty="0" smtClean="0">
                <a:solidFill>
                  <a:srgbClr val="FF0000"/>
                </a:solidFill>
              </a:rPr>
              <a:t>12.46      </a:t>
            </a:r>
            <a:r>
              <a:rPr lang="en-US" sz="1600" b="1" dirty="0" smtClean="0"/>
              <a:t>113.83</a:t>
            </a:r>
          </a:p>
          <a:p>
            <a:pPr eaLnBrk="1" hangingPunct="1">
              <a:lnSpc>
                <a:spcPct val="90000"/>
              </a:lnSpc>
              <a:buFontTx/>
              <a:buNone/>
            </a:pPr>
            <a:r>
              <a:rPr lang="en-US" sz="1600" b="1" dirty="0" smtClean="0"/>
              <a:t>QSort	</a:t>
            </a:r>
            <a:r>
              <a:rPr lang="en-US" sz="1600" b="1" dirty="0" smtClean="0">
                <a:solidFill>
                  <a:schemeClr val="accent2"/>
                </a:solidFill>
              </a:rPr>
              <a:t>1.97</a:t>
            </a:r>
            <a:r>
              <a:rPr lang="en-US" sz="1600" b="1" dirty="0" smtClean="0"/>
              <a:t>	   </a:t>
            </a:r>
            <a:r>
              <a:rPr lang="en-US" sz="1600" b="1" dirty="0" smtClean="0">
                <a:solidFill>
                  <a:srgbClr val="FF0000"/>
                </a:solidFill>
              </a:rPr>
              <a:t>1.42</a:t>
            </a:r>
            <a:r>
              <a:rPr lang="en-US" sz="1600" b="1" dirty="0" smtClean="0"/>
              <a:t>        2.61</a:t>
            </a:r>
          </a:p>
          <a:p>
            <a:pPr eaLnBrk="1" hangingPunct="1">
              <a:lnSpc>
                <a:spcPct val="90000"/>
              </a:lnSpc>
              <a:buFontTx/>
              <a:buNone/>
            </a:pPr>
            <a:endParaRPr lang="en-US" sz="1600" dirty="0" smtClean="0"/>
          </a:p>
        </p:txBody>
      </p:sp>
      <p:sp>
        <p:nvSpPr>
          <p:cNvPr id="37893" name="Line 5"/>
          <p:cNvSpPr>
            <a:spLocks noChangeShapeType="1"/>
          </p:cNvSpPr>
          <p:nvPr/>
        </p:nvSpPr>
        <p:spPr bwMode="auto">
          <a:xfrm>
            <a:off x="4343400" y="5029200"/>
            <a:ext cx="3962400" cy="0"/>
          </a:xfrm>
          <a:prstGeom prst="line">
            <a:avLst/>
          </a:prstGeom>
          <a:noFill/>
          <a:ln w="9525">
            <a:solidFill>
              <a:schemeClr val="tx1"/>
            </a:solidFill>
            <a:round/>
            <a:headEnd/>
            <a:tailEnd/>
          </a:ln>
        </p:spPr>
        <p:txBody>
          <a:bodyPr/>
          <a:lstStyle/>
          <a:p>
            <a:endParaRPr lang="en-US" dirty="0"/>
          </a:p>
        </p:txBody>
      </p:sp>
      <p:sp>
        <p:nvSpPr>
          <p:cNvPr id="37894" name="Line 6"/>
          <p:cNvSpPr>
            <a:spLocks noChangeShapeType="1"/>
          </p:cNvSpPr>
          <p:nvPr/>
        </p:nvSpPr>
        <p:spPr bwMode="auto">
          <a:xfrm>
            <a:off x="4343400" y="3657600"/>
            <a:ext cx="3962400" cy="0"/>
          </a:xfrm>
          <a:prstGeom prst="line">
            <a:avLst/>
          </a:prstGeom>
          <a:noFill/>
          <a:ln w="9525">
            <a:solidFill>
              <a:schemeClr val="tx1"/>
            </a:solidFill>
            <a:round/>
            <a:headEnd/>
            <a:tailEnd/>
          </a:ln>
        </p:spPr>
        <p:txBody>
          <a:bodyPr/>
          <a:lstStyle/>
          <a:p>
            <a:endParaRPr lang="en-US" dirty="0"/>
          </a:p>
        </p:txBody>
      </p:sp>
      <p:sp>
        <p:nvSpPr>
          <p:cNvPr id="37895" name="Line 7"/>
          <p:cNvSpPr>
            <a:spLocks noChangeShapeType="1"/>
          </p:cNvSpPr>
          <p:nvPr/>
        </p:nvSpPr>
        <p:spPr bwMode="auto">
          <a:xfrm>
            <a:off x="4267200" y="2209800"/>
            <a:ext cx="3962400" cy="0"/>
          </a:xfrm>
          <a:prstGeom prst="line">
            <a:avLst/>
          </a:prstGeom>
          <a:noFill/>
          <a:ln w="9525">
            <a:solidFill>
              <a:schemeClr val="tx1"/>
            </a:solidFill>
            <a:round/>
            <a:headEnd/>
            <a:tailEnd/>
          </a:ln>
        </p:spPr>
        <p:txBody>
          <a:bodyPr/>
          <a:lstStyle/>
          <a:p>
            <a:endParaRPr lang="en-US" dirty="0"/>
          </a:p>
        </p:txBody>
      </p:sp>
      <p:sp>
        <p:nvSpPr>
          <p:cNvPr id="37896" name="Line 8"/>
          <p:cNvSpPr>
            <a:spLocks noChangeShapeType="1"/>
          </p:cNvSpPr>
          <p:nvPr/>
        </p:nvSpPr>
        <p:spPr bwMode="auto">
          <a:xfrm>
            <a:off x="4267200" y="990600"/>
            <a:ext cx="3962400" cy="0"/>
          </a:xfrm>
          <a:prstGeom prst="line">
            <a:avLst/>
          </a:prstGeom>
          <a:noFill/>
          <a:ln w="9525">
            <a:solidFill>
              <a:schemeClr val="tx1"/>
            </a:solidFill>
            <a:round/>
            <a:headEnd/>
            <a:tailEnd/>
          </a:ln>
        </p:spPr>
        <p:txBody>
          <a:bodyPr/>
          <a:lstStyle/>
          <a:p>
            <a:endParaRPr lang="en-US" dirty="0"/>
          </a:p>
        </p:txBody>
      </p:sp>
      <p:sp>
        <p:nvSpPr>
          <p:cNvPr id="37897" name="Line 9"/>
          <p:cNvSpPr>
            <a:spLocks noChangeShapeType="1"/>
          </p:cNvSpPr>
          <p:nvPr/>
        </p:nvSpPr>
        <p:spPr bwMode="auto">
          <a:xfrm>
            <a:off x="4343400" y="3657600"/>
            <a:ext cx="0" cy="1371600"/>
          </a:xfrm>
          <a:prstGeom prst="line">
            <a:avLst/>
          </a:prstGeom>
          <a:noFill/>
          <a:ln w="9525">
            <a:solidFill>
              <a:schemeClr val="tx1"/>
            </a:solidFill>
            <a:round/>
            <a:headEnd/>
            <a:tailEnd/>
          </a:ln>
        </p:spPr>
        <p:txBody>
          <a:bodyPr/>
          <a:lstStyle/>
          <a:p>
            <a:endParaRPr lang="en-US" dirty="0"/>
          </a:p>
        </p:txBody>
      </p:sp>
      <p:sp>
        <p:nvSpPr>
          <p:cNvPr id="37898" name="Line 10"/>
          <p:cNvSpPr>
            <a:spLocks noChangeShapeType="1"/>
          </p:cNvSpPr>
          <p:nvPr/>
        </p:nvSpPr>
        <p:spPr bwMode="auto">
          <a:xfrm>
            <a:off x="8305800" y="3657600"/>
            <a:ext cx="0" cy="1371600"/>
          </a:xfrm>
          <a:prstGeom prst="line">
            <a:avLst/>
          </a:prstGeom>
          <a:noFill/>
          <a:ln w="9525">
            <a:solidFill>
              <a:schemeClr val="tx1"/>
            </a:solidFill>
            <a:round/>
            <a:headEnd/>
            <a:tailEnd/>
          </a:ln>
        </p:spPr>
        <p:txBody>
          <a:bodyPr/>
          <a:lstStyle/>
          <a:p>
            <a:endParaRPr lang="en-US" dirty="0"/>
          </a:p>
        </p:txBody>
      </p:sp>
      <p:sp>
        <p:nvSpPr>
          <p:cNvPr id="37899" name="Line 11"/>
          <p:cNvSpPr>
            <a:spLocks noChangeShapeType="1"/>
          </p:cNvSpPr>
          <p:nvPr/>
        </p:nvSpPr>
        <p:spPr bwMode="auto">
          <a:xfrm>
            <a:off x="8229600" y="990600"/>
            <a:ext cx="0" cy="1219200"/>
          </a:xfrm>
          <a:prstGeom prst="line">
            <a:avLst/>
          </a:prstGeom>
          <a:noFill/>
          <a:ln w="9525">
            <a:solidFill>
              <a:schemeClr val="tx1"/>
            </a:solidFill>
            <a:round/>
            <a:headEnd/>
            <a:tailEnd/>
          </a:ln>
        </p:spPr>
        <p:txBody>
          <a:bodyPr/>
          <a:lstStyle/>
          <a:p>
            <a:endParaRPr lang="en-US" dirty="0"/>
          </a:p>
        </p:txBody>
      </p:sp>
      <p:sp>
        <p:nvSpPr>
          <p:cNvPr id="37900" name="Line 12"/>
          <p:cNvSpPr>
            <a:spLocks noChangeShapeType="1"/>
          </p:cNvSpPr>
          <p:nvPr/>
        </p:nvSpPr>
        <p:spPr bwMode="auto">
          <a:xfrm>
            <a:off x="4267200" y="990600"/>
            <a:ext cx="0" cy="1219200"/>
          </a:xfrm>
          <a:prstGeom prst="line">
            <a:avLst/>
          </a:prstGeom>
          <a:noFill/>
          <a:ln w="9525">
            <a:solidFill>
              <a:schemeClr val="tx1"/>
            </a:solidFill>
            <a:round/>
            <a:headEnd/>
            <a:tailEnd/>
          </a:ln>
        </p:spPr>
        <p:txBody>
          <a:bodyPr/>
          <a:lstStyle/>
          <a:p>
            <a:endParaRPr lang="en-US" dirty="0"/>
          </a:p>
        </p:txBody>
      </p:sp>
      <p:sp>
        <p:nvSpPr>
          <p:cNvPr id="37901" name="Text Box 13"/>
          <p:cNvSpPr txBox="1">
            <a:spLocks noChangeArrowheads="1"/>
          </p:cNvSpPr>
          <p:nvPr/>
        </p:nvSpPr>
        <p:spPr bwMode="auto">
          <a:xfrm>
            <a:off x="60325" y="5294313"/>
            <a:ext cx="9083675" cy="366712"/>
          </a:xfrm>
          <a:prstGeom prst="rect">
            <a:avLst/>
          </a:prstGeom>
          <a:noFill/>
          <a:ln w="9525">
            <a:noFill/>
            <a:miter lim="800000"/>
            <a:headEnd/>
            <a:tailEnd/>
          </a:ln>
        </p:spPr>
        <p:txBody>
          <a:bodyPr>
            <a:spAutoFit/>
          </a:bodyPr>
          <a:lstStyle/>
          <a:p>
            <a:endParaRPr lang="en-US" sz="1800" dirty="0"/>
          </a:p>
        </p:txBody>
      </p:sp>
      <p:sp>
        <p:nvSpPr>
          <p:cNvPr id="37902" name="TextBox 13"/>
          <p:cNvSpPr txBox="1">
            <a:spLocks noChangeArrowheads="1"/>
          </p:cNvSpPr>
          <p:nvPr/>
        </p:nvSpPr>
        <p:spPr bwMode="auto">
          <a:xfrm>
            <a:off x="0" y="5486400"/>
            <a:ext cx="9144000" cy="1631216"/>
          </a:xfrm>
          <a:prstGeom prst="rect">
            <a:avLst/>
          </a:prstGeom>
          <a:noFill/>
          <a:ln w="9525">
            <a:noFill/>
            <a:miter lim="800000"/>
            <a:headEnd/>
            <a:tailEnd/>
          </a:ln>
        </p:spPr>
        <p:txBody>
          <a:bodyPr>
            <a:spAutoFit/>
          </a:bodyPr>
          <a:lstStyle/>
          <a:p>
            <a:pPr>
              <a:buFontTx/>
              <a:buChar char="-"/>
            </a:pPr>
            <a:r>
              <a:rPr lang="en-US" dirty="0"/>
              <a:t> Simulation of 1024 processors: 100X on standard benchmark suite for VHDL gate-level simulation. for 1024 processors [Gu-V06]</a:t>
            </a:r>
          </a:p>
          <a:p>
            <a:pPr>
              <a:buFontTx/>
              <a:buChar char="-"/>
            </a:pPr>
            <a:r>
              <a:rPr lang="en-US" dirty="0"/>
              <a:t>Silicon area of 64-processor XMT, same as 1 commodity processor (core</a:t>
            </a:r>
            <a:r>
              <a:rPr lang="en-US" dirty="0" smtClean="0"/>
              <a:t>) (already noted:</a:t>
            </a:r>
            <a:r>
              <a:rPr lang="en-US" b="1" i="1" u="sng" dirty="0" smtClean="0"/>
              <a:t> </a:t>
            </a:r>
            <a:r>
              <a:rPr lang="en-US" b="1" i="1" u="sng" dirty="0" smtClean="0">
                <a:solidFill>
                  <a:schemeClr val="accent2"/>
                </a:solidFill>
              </a:rPr>
              <a:t>~10X relative to Intel Core 2 Duo</a:t>
            </a:r>
            <a:r>
              <a:rPr lang="en-US" dirty="0" smtClean="0">
                <a:solidFill>
                  <a:schemeClr val="accent2"/>
                </a:solidFill>
              </a:rPr>
              <a:t>)</a:t>
            </a:r>
            <a:endParaRPr lang="en-US" b="1" i="1" u="sng" dirty="0" smtClean="0">
              <a:solidFill>
                <a:schemeClr val="accent2"/>
              </a:solidFill>
            </a:endParaRPr>
          </a:p>
          <a:p>
            <a:pPr>
              <a:buFontTx/>
              <a:buChar char="-"/>
            </a:pP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Title 1"/>
          <p:cNvSpPr>
            <a:spLocks noGrp="1"/>
          </p:cNvSpPr>
          <p:nvPr>
            <p:ph type="title"/>
          </p:nvPr>
        </p:nvSpPr>
        <p:spPr>
          <a:xfrm>
            <a:off x="381000" y="0"/>
            <a:ext cx="8229600" cy="762000"/>
          </a:xfrm>
        </p:spPr>
        <p:txBody>
          <a:bodyPr/>
          <a:lstStyle/>
          <a:p>
            <a:r>
              <a:rPr lang="en-US" dirty="0" smtClean="0"/>
              <a:t>Q&amp;A</a:t>
            </a:r>
          </a:p>
        </p:txBody>
      </p:sp>
      <p:sp>
        <p:nvSpPr>
          <p:cNvPr id="25603" name="Content Placeholder 2"/>
          <p:cNvSpPr>
            <a:spLocks noGrp="1"/>
          </p:cNvSpPr>
          <p:nvPr>
            <p:ph idx="1"/>
          </p:nvPr>
        </p:nvSpPr>
        <p:spPr>
          <a:xfrm>
            <a:off x="0" y="990600"/>
            <a:ext cx="9144000" cy="5135563"/>
          </a:xfrm>
        </p:spPr>
        <p:txBody>
          <a:bodyPr/>
          <a:lstStyle/>
          <a:p>
            <a:pPr>
              <a:buFontTx/>
              <a:buNone/>
            </a:pPr>
            <a:r>
              <a:rPr lang="en-US" sz="2400" dirty="0" smtClean="0"/>
              <a:t>Question: Why PRAM-type parallel algorithms matter, when we can get by with existing serial algorithms, and parallel programming methods like OpenMP on top of it?</a:t>
            </a:r>
          </a:p>
          <a:p>
            <a:pPr>
              <a:buFontTx/>
              <a:buNone/>
            </a:pPr>
            <a:r>
              <a:rPr lang="en-US" sz="2400" dirty="0" smtClean="0"/>
              <a:t>Answer: With the latter you need a strong-willed Comp. Sci. PhD in order to come up with an efficient parallel program at the end. With the former (study of parallel algorithmic thinking and PRAM algorithms) high school kids can write efficient (</a:t>
            </a:r>
            <a:r>
              <a:rPr lang="en-US" sz="2400" u="sng" dirty="0" smtClean="0"/>
              <a:t>more efficient</a:t>
            </a:r>
            <a:r>
              <a:rPr lang="en-US" sz="2400" dirty="0" smtClean="0"/>
              <a:t> if fine-grained &amp; irregular!) parallel programs.</a:t>
            </a:r>
            <a:endParaRPr lang="en-US" dirty="0" smtClean="0"/>
          </a:p>
          <a:p>
            <a:pPr>
              <a:buFontTx/>
              <a:buNone/>
            </a:pPr>
            <a:endParaRPr lang="en-US" dirty="0" smtClean="0"/>
          </a:p>
          <a:p>
            <a:endParaRPr lang="en-US" dirty="0" smtClean="0"/>
          </a:p>
          <a:p>
            <a:pPr>
              <a:buFontTx/>
              <a:buNone/>
            </a:pPr>
            <a:endParaRPr lang="en-US"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Title 4"/>
          <p:cNvSpPr>
            <a:spLocks noGrp="1"/>
          </p:cNvSpPr>
          <p:nvPr>
            <p:ph type="title"/>
          </p:nvPr>
        </p:nvSpPr>
        <p:spPr>
          <a:xfrm>
            <a:off x="457200" y="0"/>
            <a:ext cx="8229600" cy="381000"/>
          </a:xfrm>
        </p:spPr>
        <p:txBody>
          <a:bodyPr/>
          <a:lstStyle/>
          <a:p>
            <a:pPr eaLnBrk="1" hangingPunct="1"/>
            <a:r>
              <a:rPr lang="en-US" sz="3600" u="sng" dirty="0" smtClean="0"/>
              <a:t>Conclusion</a:t>
            </a:r>
          </a:p>
        </p:txBody>
      </p:sp>
      <p:sp>
        <p:nvSpPr>
          <p:cNvPr id="26627" name="Content Placeholder 5"/>
          <p:cNvSpPr>
            <a:spLocks noGrp="1"/>
          </p:cNvSpPr>
          <p:nvPr>
            <p:ph idx="1"/>
          </p:nvPr>
        </p:nvSpPr>
        <p:spPr>
          <a:xfrm>
            <a:off x="0" y="381000"/>
            <a:ext cx="9144000" cy="5745163"/>
          </a:xfrm>
        </p:spPr>
        <p:txBody>
          <a:bodyPr/>
          <a:lstStyle/>
          <a:p>
            <a:pPr eaLnBrk="1" hangingPunct="1"/>
            <a:r>
              <a:rPr lang="en-US" sz="2400" dirty="0" smtClean="0"/>
              <a:t>XMT provides viable answer to biggest challenges for the field</a:t>
            </a:r>
          </a:p>
          <a:p>
            <a:pPr lvl="1" eaLnBrk="1" hangingPunct="1"/>
            <a:r>
              <a:rPr lang="en-US" sz="2400" dirty="0" smtClean="0"/>
              <a:t>Ease of programming</a:t>
            </a:r>
          </a:p>
          <a:p>
            <a:pPr lvl="1" eaLnBrk="1" hangingPunct="1"/>
            <a:r>
              <a:rPr lang="en-US" sz="2400" dirty="0" smtClean="0"/>
              <a:t>Scalability (</a:t>
            </a:r>
            <a:r>
              <a:rPr lang="en-US" sz="2400" dirty="0" err="1" smtClean="0"/>
              <a:t>up&amp;down</a:t>
            </a:r>
            <a:r>
              <a:rPr lang="en-US" sz="2400" dirty="0" smtClean="0"/>
              <a:t>)</a:t>
            </a:r>
          </a:p>
          <a:p>
            <a:pPr lvl="1" eaLnBrk="1" hangingPunct="1"/>
            <a:r>
              <a:rPr lang="en-US" sz="2400" dirty="0" smtClean="0"/>
              <a:t>Facilitates code portability </a:t>
            </a:r>
          </a:p>
          <a:p>
            <a:pPr eaLnBrk="1" hangingPunct="1"/>
            <a:r>
              <a:rPr lang="en-US" sz="2400" dirty="0" smtClean="0"/>
              <a:t>SPAA’09 good results: XMT vs. state-of-the art Intel Core 2 </a:t>
            </a:r>
          </a:p>
          <a:p>
            <a:pPr eaLnBrk="1" hangingPunct="1"/>
            <a:r>
              <a:rPr lang="en-US" sz="2400" dirty="0" smtClean="0"/>
              <a:t>HotPar’10/ICPP’08 compare with GPUs </a:t>
            </a:r>
            <a:r>
              <a:rPr lang="en-US" sz="2400" dirty="0" smtClean="0">
                <a:sym typeface="Wingdings" pitchFamily="-107" charset="2"/>
              </a:rPr>
              <a:t> XMT+GPU beats all-in-one</a:t>
            </a:r>
          </a:p>
          <a:p>
            <a:pPr eaLnBrk="1" hangingPunct="1"/>
            <a:r>
              <a:rPr lang="en-US" sz="2400" u="sng" dirty="0" smtClean="0">
                <a:sym typeface="Wingdings" pitchFamily="-107" charset="2"/>
              </a:rPr>
              <a:t>Fund impact</a:t>
            </a:r>
            <a:r>
              <a:rPr lang="en-US" sz="2400" dirty="0" smtClean="0">
                <a:sym typeface="Wingdings" pitchFamily="-107" charset="2"/>
              </a:rPr>
              <a:t> productivity, </a:t>
            </a:r>
            <a:r>
              <a:rPr lang="en-US" sz="2400" dirty="0" err="1" smtClean="0">
                <a:sym typeface="Wingdings" pitchFamily="-107" charset="2"/>
              </a:rPr>
              <a:t>prog</a:t>
            </a:r>
            <a:r>
              <a:rPr lang="en-US" sz="2400" dirty="0" smtClean="0">
                <a:sym typeface="Wingdings" pitchFamily="-107" charset="2"/>
              </a:rPr>
              <a:t>, SW/HW sys arch, </a:t>
            </a:r>
            <a:r>
              <a:rPr lang="en-US" sz="2400" dirty="0" err="1" smtClean="0">
                <a:sym typeface="Wingdings" pitchFamily="-107" charset="2"/>
              </a:rPr>
              <a:t>asynch</a:t>
            </a:r>
            <a:r>
              <a:rPr lang="en-US" sz="2400" dirty="0" smtClean="0">
                <a:sym typeface="Wingdings" pitchFamily="-107" charset="2"/>
              </a:rPr>
              <a:t>/GALS  </a:t>
            </a:r>
            <a:endParaRPr lang="en-US" sz="2400" dirty="0" smtClean="0"/>
          </a:p>
          <a:p>
            <a:pPr eaLnBrk="1" hangingPunct="1"/>
            <a:r>
              <a:rPr lang="en-US" sz="2400" b="1" dirty="0" smtClean="0"/>
              <a:t>Easy to build</a:t>
            </a:r>
            <a:r>
              <a:rPr lang="en-US" sz="2400" dirty="0" smtClean="0"/>
              <a:t>. 1 student in 2+ yrs: hardware design + FPGA-based XMT computer in slightly more than two years </a:t>
            </a:r>
            <a:r>
              <a:rPr lang="en-US" sz="2400" dirty="0" smtClean="0">
                <a:solidFill>
                  <a:srgbClr val="FF0000"/>
                </a:solidFill>
                <a:sym typeface="Wingdings" pitchFamily="-107" charset="2"/>
              </a:rPr>
              <a:t> </a:t>
            </a:r>
            <a:r>
              <a:rPr lang="en-US" sz="2400" dirty="0" smtClean="0">
                <a:solidFill>
                  <a:srgbClr val="FF0000"/>
                </a:solidFill>
              </a:rPr>
              <a:t>time to market; implementation cost.</a:t>
            </a:r>
          </a:p>
          <a:p>
            <a:r>
              <a:rPr lang="en-US" sz="2400" dirty="0" smtClean="0"/>
              <a:t>Central issue: how to </a:t>
            </a:r>
            <a:r>
              <a:rPr lang="en-US" sz="2400" u="sng" dirty="0" smtClean="0"/>
              <a:t>write code </a:t>
            </a:r>
            <a:r>
              <a:rPr lang="en-US" sz="2400" dirty="0" smtClean="0"/>
              <a:t>for the </a:t>
            </a:r>
            <a:r>
              <a:rPr lang="en-US" sz="2400" u="sng" dirty="0" smtClean="0"/>
              <a:t>future</a:t>
            </a:r>
            <a:r>
              <a:rPr lang="en-US" sz="2400" dirty="0" smtClean="0"/>
              <a:t>? answer must provide </a:t>
            </a:r>
            <a:r>
              <a:rPr lang="en-US" sz="2400" u="sng" dirty="0" smtClean="0"/>
              <a:t>compatibility</a:t>
            </a:r>
            <a:r>
              <a:rPr lang="en-US" sz="2400" dirty="0" smtClean="0"/>
              <a:t> on current code, </a:t>
            </a:r>
            <a:r>
              <a:rPr lang="en-US" sz="2400" u="sng" dirty="0" smtClean="0"/>
              <a:t>competitive performance </a:t>
            </a:r>
            <a:r>
              <a:rPr lang="en-US" sz="2400" dirty="0" smtClean="0"/>
              <a:t>on </a:t>
            </a:r>
            <a:r>
              <a:rPr lang="en-US" sz="2400" u="sng" dirty="0" smtClean="0"/>
              <a:t>any amount of parallelism </a:t>
            </a:r>
            <a:r>
              <a:rPr lang="en-US" sz="2400" dirty="0" smtClean="0"/>
              <a:t>coming from an application, and allow improvement on </a:t>
            </a:r>
            <a:r>
              <a:rPr lang="en-US" sz="2400" u="sng" dirty="0" smtClean="0"/>
              <a:t>revised code </a:t>
            </a:r>
            <a:r>
              <a:rPr lang="en-US" sz="2400" dirty="0" smtClean="0">
                <a:sym typeface="Wingdings" pitchFamily="2" charset="2"/>
              </a:rPr>
              <a:t></a:t>
            </a:r>
            <a:r>
              <a:rPr lang="en-US" sz="2400" dirty="0" smtClean="0"/>
              <a:t> time for </a:t>
            </a:r>
            <a:r>
              <a:rPr lang="en-US" sz="2400" b="1" dirty="0" smtClean="0"/>
              <a:t>agnostic</a:t>
            </a:r>
            <a:r>
              <a:rPr lang="en-US" sz="2400" dirty="0" smtClean="0"/>
              <a:t> (rather than product-centered) </a:t>
            </a:r>
            <a:r>
              <a:rPr lang="en-US" sz="2400" b="1" dirty="0" smtClean="0"/>
              <a:t>academic</a:t>
            </a:r>
            <a:r>
              <a:rPr lang="en-US" sz="2400" dirty="0" smtClean="0"/>
              <a:t> research  </a:t>
            </a:r>
            <a:endParaRPr 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9144000" cy="762000"/>
          </a:xfrm>
        </p:spPr>
        <p:txBody>
          <a:bodyPr/>
          <a:lstStyle/>
          <a:p>
            <a:pPr eaLnBrk="1" hangingPunct="1"/>
            <a:r>
              <a:rPr lang="en-US" sz="4000" dirty="0" smtClean="0">
                <a:solidFill>
                  <a:schemeClr val="hlink"/>
                </a:solidFill>
              </a:rPr>
              <a:t>Current Participants</a:t>
            </a:r>
          </a:p>
        </p:txBody>
      </p:sp>
      <p:sp>
        <p:nvSpPr>
          <p:cNvPr id="28675" name="Rectangle 3"/>
          <p:cNvSpPr>
            <a:spLocks noGrp="1" noChangeArrowheads="1"/>
          </p:cNvSpPr>
          <p:nvPr>
            <p:ph type="body" idx="1"/>
          </p:nvPr>
        </p:nvSpPr>
        <p:spPr>
          <a:xfrm>
            <a:off x="0" y="685800"/>
            <a:ext cx="9144000" cy="6400800"/>
          </a:xfrm>
        </p:spPr>
        <p:txBody>
          <a:bodyPr/>
          <a:lstStyle/>
          <a:p>
            <a:pPr>
              <a:lnSpc>
                <a:spcPct val="80000"/>
              </a:lnSpc>
              <a:buFontTx/>
              <a:buNone/>
            </a:pPr>
            <a:r>
              <a:rPr lang="en-US" sz="2000" u="sng" dirty="0" smtClean="0"/>
              <a:t>Grad students</a:t>
            </a:r>
            <a:r>
              <a:rPr lang="en-US" sz="2000" dirty="0" smtClean="0"/>
              <a:t>:, George Caragea, James Edwards, David Ellison, Fuat Keceli, Beliz Saybasili, Alex Tzannes. </a:t>
            </a:r>
            <a:r>
              <a:rPr lang="en-US" sz="2000" u="sng" dirty="0" smtClean="0"/>
              <a:t>Recent grads</a:t>
            </a:r>
            <a:r>
              <a:rPr lang="en-US" sz="2000" dirty="0" smtClean="0"/>
              <a:t>: Aydin Balkan, Mike Horak, Xingzhi Wen</a:t>
            </a:r>
          </a:p>
          <a:p>
            <a:pPr eaLnBrk="1" hangingPunct="1">
              <a:lnSpc>
                <a:spcPct val="80000"/>
              </a:lnSpc>
            </a:pPr>
            <a:r>
              <a:rPr lang="en-US" sz="2000" dirty="0" smtClean="0"/>
              <a:t>Industry design experts (pro-bono).</a:t>
            </a:r>
          </a:p>
          <a:p>
            <a:pPr eaLnBrk="1" hangingPunct="1">
              <a:lnSpc>
                <a:spcPct val="80000"/>
              </a:lnSpc>
            </a:pPr>
            <a:r>
              <a:rPr lang="en-US" sz="2000" dirty="0" smtClean="0"/>
              <a:t>Rajeev Barua, </a:t>
            </a:r>
            <a:r>
              <a:rPr lang="en-US" sz="2000" u="sng" dirty="0" smtClean="0"/>
              <a:t>Compiler</a:t>
            </a:r>
            <a:r>
              <a:rPr lang="en-US" sz="2000" dirty="0" smtClean="0"/>
              <a:t>. Co-advisor of 2 CS grad students. </a:t>
            </a:r>
            <a:r>
              <a:rPr lang="en-US" sz="2000" dirty="0" smtClean="0">
                <a:solidFill>
                  <a:srgbClr val="0070C0"/>
                </a:solidFill>
              </a:rPr>
              <a:t>2008 NSF grant</a:t>
            </a:r>
            <a:r>
              <a:rPr lang="en-US" sz="2000" dirty="0" smtClean="0"/>
              <a:t>.</a:t>
            </a:r>
          </a:p>
          <a:p>
            <a:pPr eaLnBrk="1" hangingPunct="1">
              <a:lnSpc>
                <a:spcPct val="80000"/>
              </a:lnSpc>
            </a:pPr>
            <a:r>
              <a:rPr lang="en-US" sz="2000" dirty="0" smtClean="0"/>
              <a:t>Gang Qu, </a:t>
            </a:r>
            <a:r>
              <a:rPr lang="en-US" sz="2000" u="sng" dirty="0" smtClean="0"/>
              <a:t>VLSI and Power</a:t>
            </a:r>
            <a:r>
              <a:rPr lang="en-US" sz="2000" dirty="0" smtClean="0"/>
              <a:t>. Co-advisor.</a:t>
            </a:r>
          </a:p>
          <a:p>
            <a:pPr eaLnBrk="1" hangingPunct="1">
              <a:lnSpc>
                <a:spcPct val="80000"/>
              </a:lnSpc>
            </a:pPr>
            <a:r>
              <a:rPr lang="en-US" sz="2000" dirty="0" smtClean="0"/>
              <a:t>Steve Nowick, Columbia U., </a:t>
            </a:r>
            <a:r>
              <a:rPr lang="en-US" sz="2000" u="sng" dirty="0" smtClean="0"/>
              <a:t>Asynch computing</a:t>
            </a:r>
            <a:r>
              <a:rPr lang="en-US" sz="2000" dirty="0" smtClean="0"/>
              <a:t>. Co-advisor. </a:t>
            </a:r>
            <a:r>
              <a:rPr lang="en-US" sz="2000" dirty="0" smtClean="0">
                <a:solidFill>
                  <a:srgbClr val="0070C0"/>
                </a:solidFill>
              </a:rPr>
              <a:t>2008 NSF team grant</a:t>
            </a:r>
            <a:r>
              <a:rPr lang="en-US" sz="2000" dirty="0" smtClean="0"/>
              <a:t>. </a:t>
            </a:r>
          </a:p>
          <a:p>
            <a:pPr eaLnBrk="1" hangingPunct="1">
              <a:lnSpc>
                <a:spcPct val="80000"/>
              </a:lnSpc>
            </a:pPr>
            <a:r>
              <a:rPr lang="en-US" sz="2000" dirty="0" smtClean="0"/>
              <a:t>Ron Tzur, U. Colorado, </a:t>
            </a:r>
            <a:r>
              <a:rPr lang="en-US" sz="2000" u="sng" dirty="0" smtClean="0"/>
              <a:t>K12 Education</a:t>
            </a:r>
            <a:r>
              <a:rPr lang="en-US" sz="2000" dirty="0" smtClean="0"/>
              <a:t>. Co-advisor. </a:t>
            </a:r>
            <a:r>
              <a:rPr lang="en-US" sz="2000" dirty="0" smtClean="0">
                <a:solidFill>
                  <a:srgbClr val="0070C0"/>
                </a:solidFill>
              </a:rPr>
              <a:t>2008 NSF seed funding</a:t>
            </a:r>
          </a:p>
          <a:p>
            <a:pPr eaLnBrk="1" hangingPunct="1">
              <a:lnSpc>
                <a:spcPct val="80000"/>
              </a:lnSpc>
              <a:buFontTx/>
              <a:buNone/>
            </a:pPr>
            <a:r>
              <a:rPr lang="en-US" sz="2000" u="sng" dirty="0" smtClean="0">
                <a:solidFill>
                  <a:srgbClr val="0070C0"/>
                </a:solidFill>
              </a:rPr>
              <a:t>K12:</a:t>
            </a:r>
            <a:r>
              <a:rPr lang="en-US" sz="2000" dirty="0" smtClean="0">
                <a:solidFill>
                  <a:srgbClr val="0070C0"/>
                </a:solidFill>
              </a:rPr>
              <a:t>  </a:t>
            </a:r>
            <a:r>
              <a:rPr lang="en-US" sz="1600" dirty="0" smtClean="0">
                <a:solidFill>
                  <a:srgbClr val="0070C0"/>
                </a:solidFill>
              </a:rPr>
              <a:t>Montgomery Blair Magnet HS, MD, Thomas Jefferson HS, VA, Baltimore (inner city) Ingenuity Project Middle School 2009 Summer Camp, Montgomery County Public Schools</a:t>
            </a:r>
            <a:endParaRPr lang="en-US" sz="1600" dirty="0" smtClean="0"/>
          </a:p>
          <a:p>
            <a:pPr eaLnBrk="1" hangingPunct="1">
              <a:lnSpc>
                <a:spcPct val="80000"/>
              </a:lnSpc>
            </a:pPr>
            <a:r>
              <a:rPr lang="en-US" sz="2000" dirty="0" smtClean="0"/>
              <a:t>Marc Olano, UMBC, </a:t>
            </a:r>
            <a:r>
              <a:rPr lang="en-US" sz="2000" u="sng" dirty="0" smtClean="0"/>
              <a:t>Computer graphics</a:t>
            </a:r>
            <a:r>
              <a:rPr lang="en-US" sz="2000" dirty="0" smtClean="0"/>
              <a:t>. Co-advisor.</a:t>
            </a:r>
            <a:endParaRPr lang="en-US" sz="2000" u="sng" dirty="0" smtClean="0"/>
          </a:p>
          <a:p>
            <a:pPr eaLnBrk="1" hangingPunct="1">
              <a:lnSpc>
                <a:spcPct val="80000"/>
              </a:lnSpc>
            </a:pPr>
            <a:r>
              <a:rPr lang="en-US" sz="2000" dirty="0" smtClean="0"/>
              <a:t>Tali Moreshet, Swarthmore College, </a:t>
            </a:r>
            <a:r>
              <a:rPr lang="en-US" sz="2000" u="sng" dirty="0" smtClean="0"/>
              <a:t>Power</a:t>
            </a:r>
            <a:r>
              <a:rPr lang="en-US" sz="2000" dirty="0" smtClean="0"/>
              <a:t>. Co-advisor.</a:t>
            </a:r>
          </a:p>
          <a:p>
            <a:pPr eaLnBrk="1" hangingPunct="1">
              <a:lnSpc>
                <a:spcPct val="80000"/>
              </a:lnSpc>
            </a:pPr>
            <a:r>
              <a:rPr lang="en-US" sz="2000" dirty="0" smtClean="0"/>
              <a:t>Bernie Brooks, NIH. Co-Advisor.</a:t>
            </a:r>
          </a:p>
          <a:p>
            <a:pPr eaLnBrk="1" hangingPunct="1">
              <a:lnSpc>
                <a:spcPct val="80000"/>
              </a:lnSpc>
            </a:pPr>
            <a:r>
              <a:rPr lang="en-US" sz="2000" dirty="0" smtClean="0"/>
              <a:t>Marty Peckerar, </a:t>
            </a:r>
            <a:r>
              <a:rPr lang="en-US" sz="2000" u="sng" dirty="0" smtClean="0"/>
              <a:t>Microelectronics</a:t>
            </a:r>
          </a:p>
          <a:p>
            <a:pPr eaLnBrk="1" hangingPunct="1">
              <a:lnSpc>
                <a:spcPct val="80000"/>
              </a:lnSpc>
            </a:pPr>
            <a:r>
              <a:rPr lang="en-US" sz="2000" dirty="0" smtClean="0"/>
              <a:t>Igor Smolyaninov, </a:t>
            </a:r>
            <a:r>
              <a:rPr lang="en-US" sz="2000" u="sng" dirty="0" smtClean="0"/>
              <a:t>Electro-optics</a:t>
            </a:r>
          </a:p>
          <a:p>
            <a:pPr eaLnBrk="1" hangingPunct="1">
              <a:lnSpc>
                <a:spcPct val="80000"/>
              </a:lnSpc>
            </a:pPr>
            <a:r>
              <a:rPr lang="en-US" sz="2000" dirty="0" smtClean="0"/>
              <a:t>Funding: NSF, NSA </a:t>
            </a:r>
            <a:r>
              <a:rPr lang="en-US" sz="2000" dirty="0" smtClean="0">
                <a:solidFill>
                  <a:srgbClr val="0070C0"/>
                </a:solidFill>
              </a:rPr>
              <a:t>2008 deployed XMT computer</a:t>
            </a:r>
            <a:r>
              <a:rPr lang="en-US" sz="2000" dirty="0" smtClean="0"/>
              <a:t>, NIH</a:t>
            </a:r>
          </a:p>
          <a:p>
            <a:pPr eaLnBrk="1" hangingPunct="1">
              <a:lnSpc>
                <a:spcPct val="80000"/>
              </a:lnSpc>
            </a:pPr>
            <a:r>
              <a:rPr lang="en-US" sz="2000" dirty="0" smtClean="0"/>
              <a:t>Industry partner: Intel </a:t>
            </a:r>
          </a:p>
          <a:p>
            <a:pPr eaLnBrk="1" hangingPunct="1">
              <a:lnSpc>
                <a:spcPct val="80000"/>
              </a:lnSpc>
            </a:pPr>
            <a:r>
              <a:rPr lang="en-US" sz="2000" dirty="0" smtClean="0">
                <a:solidFill>
                  <a:srgbClr val="FF0000"/>
                </a:solidFill>
              </a:rPr>
              <a:t>Reinvention of Computing for Parallelism. Selected for Maryland Research Center of Excellence (MRCE) by USM. Not yet funded. 17 members, including UMBC, UMBI, UMSOM. Mostly applications.</a:t>
            </a:r>
            <a:endParaRPr lang="en-US" sz="2400" dirty="0" smtClean="0">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Backup slides</a:t>
            </a:r>
          </a:p>
        </p:txBody>
      </p:sp>
      <p:sp>
        <p:nvSpPr>
          <p:cNvPr id="29699" name="Content Placeholder 2"/>
          <p:cNvSpPr>
            <a:spLocks noGrp="1"/>
          </p:cNvSpPr>
          <p:nvPr>
            <p:ph idx="1"/>
          </p:nvPr>
        </p:nvSpPr>
        <p:spPr>
          <a:xfrm>
            <a:off x="0" y="1600200"/>
            <a:ext cx="9144000" cy="4525963"/>
          </a:xfrm>
        </p:spPr>
        <p:txBody>
          <a:bodyPr/>
          <a:lstStyle/>
          <a:p>
            <a:pPr>
              <a:buFontTx/>
              <a:buNone/>
            </a:pPr>
            <a:r>
              <a:rPr lang="en-US" sz="2400" dirty="0" smtClean="0"/>
              <a:t>Many forget that the only reason that PRAM algorithms did not become standard CS knowledge is that there was no demonstration of  an implementable computer architecture that allowed programmers to look at a computer like a PRAM. XMT changed that, and now we should let Mark Twain complete the job.</a:t>
            </a:r>
          </a:p>
          <a:p>
            <a:pPr>
              <a:buFontTx/>
              <a:buNone/>
            </a:pPr>
            <a:endParaRPr lang="en-US" sz="2400" dirty="0" smtClean="0"/>
          </a:p>
          <a:p>
            <a:pPr>
              <a:buFontTx/>
              <a:buNone/>
            </a:pPr>
            <a:r>
              <a:rPr lang="en-US" sz="2400" i="1" dirty="0" smtClean="0"/>
              <a:t>We should be careful to get out of an experience only the wisdom that is in it— and stop there; lest we be like the cat that sits down on a hot stove-lid. She will never sit down on a hot stove-lid again— and that is well; but also she will never sit down on a cold one anymore.</a:t>
            </a:r>
            <a:r>
              <a:rPr lang="en-US" sz="2400" dirty="0" smtClean="0"/>
              <a:t>— </a:t>
            </a:r>
            <a:r>
              <a:rPr lang="en-US" sz="2400" i="1" dirty="0" smtClean="0"/>
              <a:t>Mark Twain</a:t>
            </a:r>
            <a:endParaRPr lang="en-US" sz="2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52400" y="0"/>
            <a:ext cx="9296400" cy="457200"/>
          </a:xfrm>
        </p:spPr>
        <p:txBody>
          <a:bodyPr>
            <a:normAutofit fontScale="90000"/>
          </a:bodyPr>
          <a:lstStyle/>
          <a:p>
            <a:r>
              <a:rPr lang="en-US" sz="4000" b="1" dirty="0"/>
              <a:t>How does it </a:t>
            </a:r>
            <a:r>
              <a:rPr lang="en-US" sz="4000" b="1" dirty="0" smtClean="0"/>
              <a:t>work</a:t>
            </a:r>
            <a:r>
              <a:rPr lang="en-US" sz="2200" b="1" dirty="0" smtClean="0"/>
              <a:t> and what should people know to participate</a:t>
            </a:r>
            <a:endParaRPr lang="en-US" sz="2200" dirty="0"/>
          </a:p>
        </p:txBody>
      </p:sp>
      <p:sp>
        <p:nvSpPr>
          <p:cNvPr id="92163" name="Rectangle 3"/>
          <p:cNvSpPr>
            <a:spLocks noGrp="1" noChangeArrowheads="1"/>
          </p:cNvSpPr>
          <p:nvPr>
            <p:ph type="body" idx="1"/>
          </p:nvPr>
        </p:nvSpPr>
        <p:spPr>
          <a:xfrm>
            <a:off x="0" y="381000"/>
            <a:ext cx="9144000" cy="4343400"/>
          </a:xfrm>
        </p:spPr>
        <p:txBody>
          <a:bodyPr/>
          <a:lstStyle/>
          <a:p>
            <a:pPr>
              <a:buFontTx/>
              <a:buNone/>
            </a:pPr>
            <a:r>
              <a:rPr lang="en-US" sz="2000" b="1" i="1" u="sng" dirty="0" smtClean="0">
                <a:solidFill>
                  <a:schemeClr val="hlink"/>
                </a:solidFill>
              </a:rPr>
              <a:t>“</a:t>
            </a:r>
            <a:r>
              <a:rPr lang="en-US" sz="2000" b="1" i="1" u="sng" dirty="0">
                <a:solidFill>
                  <a:schemeClr val="hlink"/>
                </a:solidFill>
              </a:rPr>
              <a:t>Work-depth” </a:t>
            </a:r>
            <a:r>
              <a:rPr lang="en-US" sz="2000" b="1" i="1" u="sng" dirty="0" smtClean="0">
                <a:solidFill>
                  <a:schemeClr val="hlink"/>
                </a:solidFill>
              </a:rPr>
              <a:t>Alg </a:t>
            </a:r>
            <a:r>
              <a:rPr lang="en-US" sz="2000" b="1" i="1" u="sng" dirty="0">
                <a:solidFill>
                  <a:schemeClr val="hlink"/>
                </a:solidFill>
              </a:rPr>
              <a:t>Methodology </a:t>
            </a:r>
            <a:r>
              <a:rPr lang="en-US" sz="2000" dirty="0" smtClean="0">
                <a:solidFill>
                  <a:schemeClr val="accent2"/>
                </a:solidFill>
              </a:rPr>
              <a:t>(SV82</a:t>
            </a:r>
            <a:r>
              <a:rPr lang="en-US" sz="2000" dirty="0">
                <a:solidFill>
                  <a:schemeClr val="accent2"/>
                </a:solidFill>
              </a:rPr>
              <a:t>)</a:t>
            </a:r>
            <a:r>
              <a:rPr lang="en-US" sz="2400" dirty="0">
                <a:solidFill>
                  <a:schemeClr val="accent2"/>
                </a:solidFill>
              </a:rPr>
              <a:t> </a:t>
            </a:r>
            <a:r>
              <a:rPr lang="en-US" sz="2000" dirty="0">
                <a:solidFill>
                  <a:srgbClr val="FF0000"/>
                </a:solidFill>
              </a:rPr>
              <a:t>State all ops you can do in parallel. Repeat. Minimize: Total #operations, #</a:t>
            </a:r>
            <a:r>
              <a:rPr lang="en-US" sz="2000" dirty="0" smtClean="0">
                <a:solidFill>
                  <a:srgbClr val="FF0000"/>
                </a:solidFill>
              </a:rPr>
              <a:t>rounds. </a:t>
            </a:r>
            <a:r>
              <a:rPr lang="en-US" sz="2000" u="sng" dirty="0" smtClean="0">
                <a:solidFill>
                  <a:srgbClr val="FF0000"/>
                </a:solidFill>
              </a:rPr>
              <a:t>Note</a:t>
            </a:r>
            <a:r>
              <a:rPr lang="en-US" sz="2000" dirty="0" smtClean="0">
                <a:solidFill>
                  <a:srgbClr val="FF0000"/>
                </a:solidFill>
              </a:rPr>
              <a:t>: 1</a:t>
            </a:r>
            <a:r>
              <a:rPr lang="en-US" sz="2000" dirty="0" smtClean="0">
                <a:solidFill>
                  <a:schemeClr val="accent2"/>
                </a:solidFill>
              </a:rPr>
              <a:t> </a:t>
            </a:r>
            <a:r>
              <a:rPr lang="en-US" sz="2000" dirty="0">
                <a:solidFill>
                  <a:srgbClr val="FF0000"/>
                </a:solidFill>
              </a:rPr>
              <a:t>The rest is skill. </a:t>
            </a:r>
            <a:r>
              <a:rPr lang="en-US" sz="2000" dirty="0" smtClean="0">
                <a:solidFill>
                  <a:srgbClr val="FF0000"/>
                </a:solidFill>
              </a:rPr>
              <a:t>2. </a:t>
            </a:r>
            <a:r>
              <a:rPr lang="en-US" sz="2000" u="sng" dirty="0" smtClean="0">
                <a:solidFill>
                  <a:srgbClr val="FF0000"/>
                </a:solidFill>
              </a:rPr>
              <a:t>Sets the algorithm</a:t>
            </a:r>
            <a:endParaRPr lang="en-US" sz="1600" u="sng" dirty="0">
              <a:solidFill>
                <a:srgbClr val="FF0000"/>
              </a:solidFill>
            </a:endParaRPr>
          </a:p>
          <a:p>
            <a:pPr>
              <a:buNone/>
            </a:pPr>
            <a:r>
              <a:rPr lang="en-US" sz="2000" b="1" i="1" u="sng" dirty="0">
                <a:solidFill>
                  <a:schemeClr val="hlink"/>
                </a:solidFill>
              </a:rPr>
              <a:t>Program</a:t>
            </a:r>
            <a:r>
              <a:rPr lang="en-US" sz="2000" dirty="0"/>
              <a:t> </a:t>
            </a:r>
            <a:r>
              <a:rPr lang="en-US" sz="2000" dirty="0">
                <a:solidFill>
                  <a:srgbClr val="FF0000"/>
                </a:solidFill>
              </a:rPr>
              <a:t>single-program multiple-data (SPMD). Short (not OS) threads. Independence of order semantics (IOS). XMTC: C plus 3 commands: Spawn+Join, Prefix-Sum </a:t>
            </a:r>
            <a:r>
              <a:rPr lang="en-US" sz="2000" dirty="0" smtClean="0">
                <a:solidFill>
                  <a:srgbClr val="FF0000"/>
                </a:solidFill>
              </a:rPr>
              <a:t>(PS) </a:t>
            </a:r>
            <a:r>
              <a:rPr lang="en-US" sz="2000" u="sng" dirty="0" smtClean="0"/>
              <a:t>Unique </a:t>
            </a:r>
            <a:r>
              <a:rPr lang="en-US" sz="2000" b="1" dirty="0" smtClean="0"/>
              <a:t>1st parallelism then decomposition</a:t>
            </a:r>
          </a:p>
          <a:p>
            <a:pPr>
              <a:buNone/>
            </a:pPr>
            <a:r>
              <a:rPr lang="en-US" sz="2000" b="1" dirty="0" smtClean="0">
                <a:solidFill>
                  <a:schemeClr val="accent2"/>
                </a:solidFill>
              </a:rPr>
              <a:t>                                                                               </a:t>
            </a:r>
            <a:r>
              <a:rPr lang="en-US" sz="2000" u="sng" dirty="0" smtClean="0">
                <a:solidFill>
                  <a:srgbClr val="7030A0"/>
                </a:solidFill>
              </a:rPr>
              <a:t>Legend</a:t>
            </a:r>
            <a:r>
              <a:rPr lang="en-US" sz="2000" dirty="0" smtClean="0">
                <a:solidFill>
                  <a:srgbClr val="7030A0"/>
                </a:solidFill>
              </a:rPr>
              <a:t>: </a:t>
            </a:r>
            <a:r>
              <a:rPr lang="en-US" sz="2000" b="1" i="1" dirty="0" smtClean="0">
                <a:solidFill>
                  <a:schemeClr val="hlink"/>
                </a:solidFill>
              </a:rPr>
              <a:t>Level of abstraction                                                                                                                        </a:t>
            </a:r>
          </a:p>
          <a:p>
            <a:pPr>
              <a:buNone/>
            </a:pPr>
            <a:r>
              <a:rPr lang="en-US" sz="2000" b="1" i="1" dirty="0" smtClean="0">
                <a:solidFill>
                  <a:schemeClr val="hlink"/>
                </a:solidFill>
              </a:rPr>
              <a:t>                                                                               </a:t>
            </a:r>
            <a:r>
              <a:rPr lang="en-US" sz="2000" b="1" i="1" dirty="0" smtClean="0">
                <a:solidFill>
                  <a:schemeClr val="tx2"/>
                </a:solidFill>
              </a:rPr>
              <a:t>Means </a:t>
            </a:r>
            <a:endParaRPr lang="en-US" sz="2000" b="1" i="1" u="sng" dirty="0" smtClean="0">
              <a:solidFill>
                <a:schemeClr val="hlink"/>
              </a:solidFill>
            </a:endParaRPr>
          </a:p>
          <a:p>
            <a:pPr>
              <a:buFontTx/>
              <a:buNone/>
            </a:pPr>
            <a:r>
              <a:rPr lang="en-US" sz="2000" b="1" i="1" u="sng" dirty="0" smtClean="0">
                <a:solidFill>
                  <a:schemeClr val="tx2"/>
                </a:solidFill>
              </a:rPr>
              <a:t>Means: Programming methodology</a:t>
            </a:r>
            <a:r>
              <a:rPr lang="en-US" sz="2000" b="1" i="1" dirty="0" smtClean="0">
                <a:solidFill>
                  <a:schemeClr val="tx2"/>
                </a:solidFill>
              </a:rPr>
              <a:t> </a:t>
            </a:r>
            <a:r>
              <a:rPr lang="en-US" sz="2000" dirty="0" smtClean="0"/>
              <a:t>Algorithms </a:t>
            </a:r>
            <a:r>
              <a:rPr lang="en-US" sz="2000" dirty="0" smtClean="0">
                <a:sym typeface="Wingdings" pitchFamily="2" charset="2"/>
              </a:rPr>
              <a:t></a:t>
            </a:r>
            <a:r>
              <a:rPr lang="en-US" sz="2000" dirty="0" smtClean="0"/>
              <a:t> effective programs. </a:t>
            </a:r>
          </a:p>
          <a:p>
            <a:pPr>
              <a:buFontTx/>
              <a:buNone/>
            </a:pPr>
            <a:r>
              <a:rPr lang="en-US" sz="2000" dirty="0" smtClean="0">
                <a:solidFill>
                  <a:srgbClr val="FF0000"/>
                </a:solidFill>
              </a:rPr>
              <a:t>Extend </a:t>
            </a:r>
            <a:r>
              <a:rPr lang="en-US" sz="2000" dirty="0">
                <a:solidFill>
                  <a:srgbClr val="FF0000"/>
                </a:solidFill>
              </a:rPr>
              <a:t>the SV82 Work-Depth framework from </a:t>
            </a:r>
            <a:r>
              <a:rPr lang="en-US" sz="2000" dirty="0" smtClean="0">
                <a:solidFill>
                  <a:srgbClr val="FF0000"/>
                </a:solidFill>
              </a:rPr>
              <a:t>PRAM-like </a:t>
            </a:r>
            <a:r>
              <a:rPr lang="en-US" sz="2000" dirty="0">
                <a:solidFill>
                  <a:srgbClr val="FF0000"/>
                </a:solidFill>
              </a:rPr>
              <a:t>to XMTC</a:t>
            </a:r>
          </a:p>
          <a:p>
            <a:pPr>
              <a:buFontTx/>
              <a:buNone/>
            </a:pPr>
            <a:r>
              <a:rPr lang="en-US" sz="1800" dirty="0" smtClean="0">
                <a:solidFill>
                  <a:srgbClr val="FF0000"/>
                </a:solidFill>
              </a:rPr>
              <a:t>[</a:t>
            </a:r>
            <a:r>
              <a:rPr lang="en-US" sz="1800" u="sng" dirty="0" smtClean="0">
                <a:solidFill>
                  <a:srgbClr val="FF0000"/>
                </a:solidFill>
              </a:rPr>
              <a:t>Alternative</a:t>
            </a:r>
            <a:r>
              <a:rPr lang="en-US" sz="1800" dirty="0" smtClean="0">
                <a:solidFill>
                  <a:srgbClr val="FF0000"/>
                </a:solidFill>
              </a:rPr>
              <a:t> </a:t>
            </a:r>
            <a:r>
              <a:rPr lang="en-US" sz="1800" b="1" i="1" u="sng" dirty="0" smtClean="0">
                <a:solidFill>
                  <a:schemeClr val="hlink"/>
                </a:solidFill>
              </a:rPr>
              <a:t>Established APIs</a:t>
            </a:r>
            <a:r>
              <a:rPr lang="en-US" sz="1800" dirty="0" smtClean="0"/>
              <a:t> (VHDL/Verilog,OpenGL,MATLAB) </a:t>
            </a:r>
            <a:r>
              <a:rPr lang="en-US" sz="1800" dirty="0" smtClean="0">
                <a:solidFill>
                  <a:srgbClr val="FF0000"/>
                </a:solidFill>
              </a:rPr>
              <a:t>“win-win proposition”]</a:t>
            </a:r>
          </a:p>
          <a:p>
            <a:pPr>
              <a:buNone/>
            </a:pPr>
            <a:r>
              <a:rPr lang="en-US" sz="2000" b="1" i="1" u="sng" dirty="0" smtClean="0">
                <a:solidFill>
                  <a:schemeClr val="hlink"/>
                </a:solidFill>
              </a:rPr>
              <a:t>Performance-Tuned Program </a:t>
            </a:r>
            <a:r>
              <a:rPr lang="en-US" sz="2000" dirty="0" smtClean="0">
                <a:solidFill>
                  <a:srgbClr val="FF0000"/>
                </a:solidFill>
              </a:rPr>
              <a:t>minimize length of sequence of round-trips to memory</a:t>
            </a:r>
            <a:r>
              <a:rPr lang="en-US" sz="2000" dirty="0" smtClean="0"/>
              <a:t> + </a:t>
            </a:r>
            <a:r>
              <a:rPr lang="en-US" sz="2000" dirty="0" smtClean="0">
                <a:solidFill>
                  <a:srgbClr val="FF0000"/>
                </a:solidFill>
              </a:rPr>
              <a:t>QRQW + Depth</a:t>
            </a:r>
            <a:r>
              <a:rPr lang="en-US" sz="2000" dirty="0" smtClean="0"/>
              <a:t>; </a:t>
            </a:r>
            <a:r>
              <a:rPr lang="en-US" sz="1800" dirty="0" smtClean="0"/>
              <a:t>take advantage of arch enhancements (e.g., prefetch)</a:t>
            </a:r>
            <a:endParaRPr lang="en-US" sz="1800" b="1" i="1" u="sng" dirty="0" smtClean="0">
              <a:solidFill>
                <a:schemeClr val="hlink"/>
              </a:solidFill>
            </a:endParaRPr>
          </a:p>
          <a:p>
            <a:pPr>
              <a:buNone/>
            </a:pPr>
            <a:r>
              <a:rPr lang="en-US" sz="2000" b="1" i="1" u="sng" dirty="0" smtClean="0">
                <a:solidFill>
                  <a:schemeClr val="tx2"/>
                </a:solidFill>
              </a:rPr>
              <a:t>Means: Compiler:</a:t>
            </a:r>
            <a:r>
              <a:rPr lang="en-US" sz="2000" b="1" i="1" dirty="0" smtClean="0">
                <a:solidFill>
                  <a:schemeClr val="tx2"/>
                </a:solidFill>
              </a:rPr>
              <a:t> </a:t>
            </a:r>
            <a:r>
              <a:rPr lang="en-US" sz="2000" dirty="0" smtClean="0"/>
              <a:t>[</a:t>
            </a:r>
            <a:r>
              <a:rPr lang="en-US" sz="2000" dirty="0"/>
              <a:t>ideally: given XMTC program, compiler provides decomposition: </a:t>
            </a:r>
            <a:r>
              <a:rPr lang="en-US" sz="2000" dirty="0" smtClean="0"/>
              <a:t>tune-up manually </a:t>
            </a:r>
            <a:r>
              <a:rPr lang="en-US" sz="2000" dirty="0" smtClean="0">
                <a:sym typeface="Wingdings" pitchFamily="2" charset="2"/>
              </a:rPr>
              <a:t> </a:t>
            </a:r>
            <a:r>
              <a:rPr lang="en-US" sz="2000" dirty="0" smtClean="0"/>
              <a:t>“teach </a:t>
            </a:r>
            <a:r>
              <a:rPr lang="en-US" sz="2000" dirty="0"/>
              <a:t>the compiler</a:t>
            </a:r>
            <a:r>
              <a:rPr lang="en-US" sz="2000" dirty="0" smtClean="0"/>
              <a:t>”]</a:t>
            </a:r>
            <a:endParaRPr lang="en-US" sz="2000" dirty="0"/>
          </a:p>
        </p:txBody>
      </p:sp>
      <p:pic>
        <p:nvPicPr>
          <p:cNvPr id="92164" name="Picture 4" descr="figure2"/>
          <p:cNvPicPr>
            <a:picLocks noChangeAspect="1" noChangeArrowheads="1"/>
          </p:cNvPicPr>
          <p:nvPr/>
        </p:nvPicPr>
        <p:blipFill>
          <a:blip r:embed="rId3" cstate="print"/>
          <a:srcRect/>
          <a:stretch>
            <a:fillRect/>
          </a:stretch>
        </p:blipFill>
        <p:spPr bwMode="auto">
          <a:xfrm>
            <a:off x="152400" y="2438400"/>
            <a:ext cx="5181600" cy="685800"/>
          </a:xfrm>
          <a:prstGeom prst="rect">
            <a:avLst/>
          </a:prstGeom>
          <a:noFill/>
          <a:ln w="9525">
            <a:noFill/>
            <a:miter lim="800000"/>
            <a:headEnd/>
            <a:tailEnd/>
          </a:ln>
        </p:spPr>
      </p:pic>
      <p:sp>
        <p:nvSpPr>
          <p:cNvPr id="92165" name="Text Box 5"/>
          <p:cNvSpPr txBox="1">
            <a:spLocks noChangeArrowheads="1"/>
          </p:cNvSpPr>
          <p:nvPr/>
        </p:nvSpPr>
        <p:spPr bwMode="auto">
          <a:xfrm>
            <a:off x="0" y="5334000"/>
            <a:ext cx="9144000" cy="1600438"/>
          </a:xfrm>
          <a:prstGeom prst="rect">
            <a:avLst/>
          </a:prstGeom>
          <a:noFill/>
          <a:ln w="9525">
            <a:noFill/>
            <a:miter lim="800000"/>
            <a:headEnd/>
            <a:tailEnd/>
          </a:ln>
          <a:effectLst/>
        </p:spPr>
        <p:txBody>
          <a:bodyPr wrap="square">
            <a:spAutoFit/>
          </a:bodyPr>
          <a:lstStyle/>
          <a:p>
            <a:r>
              <a:rPr lang="en-US" sz="2000" b="1" i="1" u="sng" dirty="0">
                <a:solidFill>
                  <a:schemeClr val="hlink"/>
                </a:solidFill>
              </a:rPr>
              <a:t>Architecture</a:t>
            </a:r>
            <a:r>
              <a:rPr lang="en-US" sz="2000" dirty="0"/>
              <a:t> </a:t>
            </a:r>
            <a:r>
              <a:rPr lang="en-US" sz="2000" dirty="0" smtClean="0">
                <a:solidFill>
                  <a:srgbClr val="FF0000"/>
                </a:solidFill>
              </a:rPr>
              <a:t>HW-supported run-time load-balancing of </a:t>
            </a:r>
            <a:r>
              <a:rPr lang="en-US" sz="2000" dirty="0">
                <a:solidFill>
                  <a:srgbClr val="FF0000"/>
                </a:solidFill>
              </a:rPr>
              <a:t>concurrent threads over processors</a:t>
            </a:r>
            <a:r>
              <a:rPr lang="en-US" sz="2000" dirty="0"/>
              <a:t>. </a:t>
            </a:r>
            <a:r>
              <a:rPr lang="en-US" sz="2000" dirty="0" smtClean="0">
                <a:solidFill>
                  <a:srgbClr val="FF0000"/>
                </a:solidFill>
              </a:rPr>
              <a:t>Low thread creation overhead.</a:t>
            </a:r>
            <a:r>
              <a:rPr lang="en-US" sz="2000" dirty="0" smtClean="0"/>
              <a:t> </a:t>
            </a:r>
            <a:r>
              <a:rPr lang="en-US" sz="1800" dirty="0" smtClean="0"/>
              <a:t>(Extend classic stored-program program counter; cited by 15 Intel patents; Prefix-sum </a:t>
            </a:r>
            <a:r>
              <a:rPr lang="en-US" sz="1800" dirty="0"/>
              <a:t>to registers &amp; to memory. </a:t>
            </a:r>
            <a:r>
              <a:rPr lang="en-US" sz="1800" dirty="0" smtClean="0"/>
              <a:t>)</a:t>
            </a:r>
          </a:p>
          <a:p>
            <a:pPr algn="ctr"/>
            <a:r>
              <a:rPr lang="en-US" sz="2000" b="1" i="1" u="sng" dirty="0" smtClean="0">
                <a:solidFill>
                  <a:schemeClr val="tx2"/>
                </a:solidFill>
              </a:rPr>
              <a:t>All Computer Scientists will need to know &gt;1 levels of abstraction</a:t>
            </a:r>
            <a:r>
              <a:rPr lang="en-US" sz="2000" b="1" i="1" dirty="0" smtClean="0">
                <a:solidFill>
                  <a:schemeClr val="tx2"/>
                </a:solidFill>
              </a:rPr>
              <a:t> (LoA)</a:t>
            </a:r>
          </a:p>
          <a:p>
            <a:r>
              <a:rPr lang="en-US" sz="2000" b="1" i="1" dirty="0" smtClean="0">
                <a:solidFill>
                  <a:schemeClr val="tx2"/>
                </a:solidFill>
              </a:rPr>
              <a:t>CS programmer’s model: WD+P. CS expert : WD+P+PTP. Systems: +A.</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2209800" y="609600"/>
            <a:ext cx="4724400" cy="381000"/>
          </a:xfrm>
          <a:prstGeom prst="rect">
            <a:avLst/>
          </a:prstGeom>
          <a:solidFill>
            <a:srgbClr val="66CCFF"/>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Basic Algorithm (sometimes informal)</a:t>
            </a:r>
          </a:p>
        </p:txBody>
      </p:sp>
      <p:sp>
        <p:nvSpPr>
          <p:cNvPr id="30723" name="Rectangle 3"/>
          <p:cNvSpPr>
            <a:spLocks noChangeArrowheads="1"/>
          </p:cNvSpPr>
          <p:nvPr/>
        </p:nvSpPr>
        <p:spPr bwMode="auto">
          <a:xfrm>
            <a:off x="762000" y="1752600"/>
            <a:ext cx="3810000" cy="3810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Serial program (C)</a:t>
            </a:r>
          </a:p>
        </p:txBody>
      </p:sp>
      <p:sp>
        <p:nvSpPr>
          <p:cNvPr id="30724" name="Rectangle 4"/>
          <p:cNvSpPr>
            <a:spLocks noChangeArrowheads="1"/>
          </p:cNvSpPr>
          <p:nvPr/>
        </p:nvSpPr>
        <p:spPr bwMode="auto">
          <a:xfrm>
            <a:off x="0" y="1143000"/>
            <a:ext cx="5181600" cy="3810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Add data-structures (for serial algorithm)</a:t>
            </a:r>
          </a:p>
        </p:txBody>
      </p:sp>
      <p:sp>
        <p:nvSpPr>
          <p:cNvPr id="30725" name="Rectangle 5"/>
          <p:cNvSpPr>
            <a:spLocks noChangeArrowheads="1"/>
          </p:cNvSpPr>
          <p:nvPr/>
        </p:nvSpPr>
        <p:spPr bwMode="auto">
          <a:xfrm>
            <a:off x="3200400" y="2667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Decomposition</a:t>
            </a:r>
          </a:p>
        </p:txBody>
      </p:sp>
      <p:sp>
        <p:nvSpPr>
          <p:cNvPr id="30726" name="Text Box 6"/>
          <p:cNvSpPr txBox="1">
            <a:spLocks noChangeArrowheads="1"/>
          </p:cNvSpPr>
          <p:nvPr/>
        </p:nvSpPr>
        <p:spPr bwMode="auto">
          <a:xfrm>
            <a:off x="3124200" y="2590800"/>
            <a:ext cx="3429000" cy="457200"/>
          </a:xfrm>
          <a:prstGeom prst="rect">
            <a:avLst/>
          </a:prstGeom>
          <a:noFill/>
          <a:ln w="9525">
            <a:noFill/>
            <a:miter lim="800000"/>
            <a:headEnd/>
            <a:tailEnd/>
          </a:ln>
        </p:spPr>
        <p:txBody>
          <a:bodyPr>
            <a:spAutoFit/>
          </a:bodyPr>
          <a:lstStyle/>
          <a:p>
            <a:pPr eaLnBrk="1" hangingPunct="1"/>
            <a:endParaRPr lang="en-US" sz="2400" dirty="0">
              <a:latin typeface="Times New Roman" pitchFamily="18" charset="0"/>
              <a:cs typeface="Times New Roman" pitchFamily="18" charset="0"/>
            </a:endParaRPr>
          </a:p>
        </p:txBody>
      </p:sp>
      <p:sp>
        <p:nvSpPr>
          <p:cNvPr id="30727" name="Rectangle 7"/>
          <p:cNvSpPr>
            <a:spLocks noChangeArrowheads="1"/>
          </p:cNvSpPr>
          <p:nvPr/>
        </p:nvSpPr>
        <p:spPr bwMode="auto">
          <a:xfrm>
            <a:off x="3200400" y="3429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Assignment</a:t>
            </a:r>
          </a:p>
        </p:txBody>
      </p:sp>
      <p:sp>
        <p:nvSpPr>
          <p:cNvPr id="30728" name="Rectangle 8"/>
          <p:cNvSpPr>
            <a:spLocks noChangeArrowheads="1"/>
          </p:cNvSpPr>
          <p:nvPr/>
        </p:nvSpPr>
        <p:spPr bwMode="auto">
          <a:xfrm>
            <a:off x="3200400" y="42672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Orchestration</a:t>
            </a:r>
          </a:p>
        </p:txBody>
      </p:sp>
      <p:sp>
        <p:nvSpPr>
          <p:cNvPr id="30729" name="Rectangle 9"/>
          <p:cNvSpPr>
            <a:spLocks noChangeArrowheads="1"/>
          </p:cNvSpPr>
          <p:nvPr/>
        </p:nvSpPr>
        <p:spPr bwMode="auto">
          <a:xfrm>
            <a:off x="3200400" y="51054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Mapping</a:t>
            </a:r>
          </a:p>
        </p:txBody>
      </p:sp>
      <p:sp>
        <p:nvSpPr>
          <p:cNvPr id="30730" name="Line 10"/>
          <p:cNvSpPr>
            <a:spLocks noChangeShapeType="1"/>
          </p:cNvSpPr>
          <p:nvPr/>
        </p:nvSpPr>
        <p:spPr bwMode="auto">
          <a:xfrm flipH="1">
            <a:off x="3048000" y="990600"/>
            <a:ext cx="381000" cy="152400"/>
          </a:xfrm>
          <a:prstGeom prst="line">
            <a:avLst/>
          </a:prstGeom>
          <a:noFill/>
          <a:ln w="9525">
            <a:solidFill>
              <a:schemeClr val="tx1"/>
            </a:solidFill>
            <a:round/>
            <a:headEnd/>
            <a:tailEnd type="triangle" w="med" len="med"/>
          </a:ln>
        </p:spPr>
        <p:txBody>
          <a:bodyPr/>
          <a:lstStyle/>
          <a:p>
            <a:endParaRPr lang="en-US" dirty="0"/>
          </a:p>
        </p:txBody>
      </p:sp>
      <p:sp>
        <p:nvSpPr>
          <p:cNvPr id="30731" name="Line 11"/>
          <p:cNvSpPr>
            <a:spLocks noChangeShapeType="1"/>
          </p:cNvSpPr>
          <p:nvPr/>
        </p:nvSpPr>
        <p:spPr bwMode="auto">
          <a:xfrm>
            <a:off x="4419600" y="3124200"/>
            <a:ext cx="0" cy="304800"/>
          </a:xfrm>
          <a:prstGeom prst="line">
            <a:avLst/>
          </a:prstGeom>
          <a:noFill/>
          <a:ln w="9525">
            <a:solidFill>
              <a:schemeClr val="tx1"/>
            </a:solidFill>
            <a:round/>
            <a:headEnd/>
            <a:tailEnd type="triangle" w="med" len="med"/>
          </a:ln>
        </p:spPr>
        <p:txBody>
          <a:bodyPr/>
          <a:lstStyle/>
          <a:p>
            <a:endParaRPr lang="en-US" dirty="0"/>
          </a:p>
        </p:txBody>
      </p:sp>
      <p:sp>
        <p:nvSpPr>
          <p:cNvPr id="30732" name="Line 12"/>
          <p:cNvSpPr>
            <a:spLocks noChangeShapeType="1"/>
          </p:cNvSpPr>
          <p:nvPr/>
        </p:nvSpPr>
        <p:spPr bwMode="auto">
          <a:xfrm>
            <a:off x="4419600" y="3886200"/>
            <a:ext cx="0" cy="381000"/>
          </a:xfrm>
          <a:prstGeom prst="line">
            <a:avLst/>
          </a:prstGeom>
          <a:noFill/>
          <a:ln w="9525">
            <a:solidFill>
              <a:schemeClr val="tx1"/>
            </a:solidFill>
            <a:round/>
            <a:headEnd/>
            <a:tailEnd type="triangle" w="med" len="med"/>
          </a:ln>
        </p:spPr>
        <p:txBody>
          <a:bodyPr/>
          <a:lstStyle/>
          <a:p>
            <a:endParaRPr lang="en-US" dirty="0"/>
          </a:p>
        </p:txBody>
      </p:sp>
      <p:sp>
        <p:nvSpPr>
          <p:cNvPr id="30733" name="Line 13"/>
          <p:cNvSpPr>
            <a:spLocks noChangeShapeType="1"/>
          </p:cNvSpPr>
          <p:nvPr/>
        </p:nvSpPr>
        <p:spPr bwMode="auto">
          <a:xfrm>
            <a:off x="4419600" y="4724400"/>
            <a:ext cx="0" cy="381000"/>
          </a:xfrm>
          <a:prstGeom prst="line">
            <a:avLst/>
          </a:prstGeom>
          <a:noFill/>
          <a:ln w="9525">
            <a:solidFill>
              <a:schemeClr val="tx1"/>
            </a:solidFill>
            <a:round/>
            <a:headEnd/>
            <a:tailEnd type="triangle" w="med" len="med"/>
          </a:ln>
        </p:spPr>
        <p:txBody>
          <a:bodyPr/>
          <a:lstStyle/>
          <a:p>
            <a:endParaRPr lang="en-US" dirty="0"/>
          </a:p>
        </p:txBody>
      </p:sp>
      <p:sp>
        <p:nvSpPr>
          <p:cNvPr id="30734" name="Rectangle 14"/>
          <p:cNvSpPr>
            <a:spLocks noChangeArrowheads="1"/>
          </p:cNvSpPr>
          <p:nvPr/>
        </p:nvSpPr>
        <p:spPr bwMode="auto">
          <a:xfrm>
            <a:off x="5486400" y="1219200"/>
            <a:ext cx="3657600" cy="609600"/>
          </a:xfrm>
          <a:prstGeom prst="rect">
            <a:avLst/>
          </a:prstGeom>
          <a:solidFill>
            <a:srgbClr val="FF9933"/>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Add parallel data-structures</a:t>
            </a:r>
          </a:p>
          <a:p>
            <a:pPr algn="ctr" eaLnBrk="1" hangingPunct="1"/>
            <a:r>
              <a:rPr lang="en-US" sz="2400" dirty="0">
                <a:latin typeface="Times New Roman" pitchFamily="18" charset="0"/>
                <a:cs typeface="Times New Roman" pitchFamily="18" charset="0"/>
              </a:rPr>
              <a:t>(for PRAM-like algorithm)</a:t>
            </a:r>
          </a:p>
        </p:txBody>
      </p:sp>
      <p:sp>
        <p:nvSpPr>
          <p:cNvPr id="30735" name="AutoShape 15"/>
          <p:cNvSpPr>
            <a:spLocks/>
          </p:cNvSpPr>
          <p:nvPr/>
        </p:nvSpPr>
        <p:spPr bwMode="auto">
          <a:xfrm>
            <a:off x="2514600" y="2667000"/>
            <a:ext cx="685800" cy="2895600"/>
          </a:xfrm>
          <a:prstGeom prst="leftBrace">
            <a:avLst>
              <a:gd name="adj1" fmla="val 35185"/>
              <a:gd name="adj2" fmla="val 50000"/>
            </a:avLst>
          </a:prstGeom>
          <a:noFill/>
          <a:ln w="9525">
            <a:solidFill>
              <a:schemeClr val="tx1"/>
            </a:solidFill>
            <a:round/>
            <a:headEnd/>
            <a:tailEnd/>
          </a:ln>
        </p:spPr>
        <p:txBody>
          <a:bodyPr wrap="none" anchor="ctr"/>
          <a:lstStyle/>
          <a:p>
            <a:endParaRPr lang="en-US" dirty="0"/>
          </a:p>
        </p:txBody>
      </p:sp>
      <p:sp>
        <p:nvSpPr>
          <p:cNvPr id="30736" name="AutoShape 16"/>
          <p:cNvSpPr>
            <a:spLocks noChangeArrowheads="1"/>
          </p:cNvSpPr>
          <p:nvPr/>
        </p:nvSpPr>
        <p:spPr bwMode="auto">
          <a:xfrm>
            <a:off x="0" y="3505200"/>
            <a:ext cx="2667000" cy="1828800"/>
          </a:xfrm>
          <a:prstGeom prst="verticalScroll">
            <a:avLst>
              <a:gd name="adj" fmla="val 12500"/>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a:t>
            </a:r>
          </a:p>
          <a:p>
            <a:pPr algn="ctr" eaLnBrk="1" hangingPunct="1"/>
            <a:r>
              <a:rPr lang="en-US" sz="2400" dirty="0">
                <a:latin typeface="Times New Roman" pitchFamily="18" charset="0"/>
                <a:cs typeface="Times New Roman" pitchFamily="18" charset="0"/>
              </a:rPr>
              <a:t>Programming</a:t>
            </a:r>
          </a:p>
          <a:p>
            <a:pPr algn="ctr" eaLnBrk="1" hangingPunct="1"/>
            <a:r>
              <a:rPr lang="en-US" sz="2400" dirty="0">
                <a:latin typeface="Times New Roman" pitchFamily="18" charset="0"/>
                <a:cs typeface="Times New Roman" pitchFamily="18" charset="0"/>
              </a:rPr>
              <a:t>(Culler-Singh)</a:t>
            </a:r>
          </a:p>
        </p:txBody>
      </p:sp>
      <p:sp>
        <p:nvSpPr>
          <p:cNvPr id="30737" name="Rectangle 17"/>
          <p:cNvSpPr>
            <a:spLocks noChangeArrowheads="1"/>
          </p:cNvSpPr>
          <p:nvPr/>
        </p:nvSpPr>
        <p:spPr bwMode="auto">
          <a:xfrm>
            <a:off x="5867400" y="1981200"/>
            <a:ext cx="3276600" cy="381000"/>
          </a:xfrm>
          <a:prstGeom prst="rect">
            <a:avLst/>
          </a:prstGeom>
          <a:solidFill>
            <a:srgbClr val="FF9933"/>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Parallel program (XMT-C)</a:t>
            </a:r>
          </a:p>
        </p:txBody>
      </p:sp>
      <p:sp>
        <p:nvSpPr>
          <p:cNvPr id="30738" name="Oval 18"/>
          <p:cNvSpPr>
            <a:spLocks noChangeArrowheads="1"/>
          </p:cNvSpPr>
          <p:nvPr/>
        </p:nvSpPr>
        <p:spPr bwMode="auto">
          <a:xfrm>
            <a:off x="6324600" y="2819400"/>
            <a:ext cx="2590800" cy="914400"/>
          </a:xfrm>
          <a:prstGeom prst="ellipse">
            <a:avLst/>
          </a:prstGeom>
          <a:solidFill>
            <a:srgbClr val="FF9933"/>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XMT Computer</a:t>
            </a:r>
          </a:p>
          <a:p>
            <a:pPr algn="ctr" eaLnBrk="1" hangingPunct="1"/>
            <a:r>
              <a:rPr lang="en-US" sz="2400" dirty="0">
                <a:latin typeface="Times New Roman" pitchFamily="18" charset="0"/>
                <a:cs typeface="Times New Roman" pitchFamily="18" charset="0"/>
              </a:rPr>
              <a:t>(or Simulator)</a:t>
            </a:r>
          </a:p>
        </p:txBody>
      </p:sp>
      <p:sp>
        <p:nvSpPr>
          <p:cNvPr id="30739" name="Line 19"/>
          <p:cNvSpPr>
            <a:spLocks noChangeShapeType="1"/>
          </p:cNvSpPr>
          <p:nvPr/>
        </p:nvSpPr>
        <p:spPr bwMode="auto">
          <a:xfrm>
            <a:off x="6400800" y="990600"/>
            <a:ext cx="685800" cy="228600"/>
          </a:xfrm>
          <a:prstGeom prst="line">
            <a:avLst/>
          </a:prstGeom>
          <a:noFill/>
          <a:ln w="9525">
            <a:solidFill>
              <a:schemeClr val="tx1"/>
            </a:solidFill>
            <a:round/>
            <a:headEnd/>
            <a:tailEnd type="triangle" w="med" len="med"/>
          </a:ln>
        </p:spPr>
        <p:txBody>
          <a:bodyPr/>
          <a:lstStyle/>
          <a:p>
            <a:endParaRPr lang="en-US" dirty="0"/>
          </a:p>
        </p:txBody>
      </p:sp>
      <p:sp>
        <p:nvSpPr>
          <p:cNvPr id="30740" name="Oval 20"/>
          <p:cNvSpPr>
            <a:spLocks noChangeArrowheads="1"/>
          </p:cNvSpPr>
          <p:nvPr/>
        </p:nvSpPr>
        <p:spPr bwMode="auto">
          <a:xfrm>
            <a:off x="3048000" y="5943600"/>
            <a:ext cx="2743200" cy="5334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computer</a:t>
            </a:r>
          </a:p>
        </p:txBody>
      </p:sp>
      <p:sp>
        <p:nvSpPr>
          <p:cNvPr id="30741" name="Oval 21"/>
          <p:cNvSpPr>
            <a:spLocks noChangeArrowheads="1"/>
          </p:cNvSpPr>
          <p:nvPr/>
        </p:nvSpPr>
        <p:spPr bwMode="auto">
          <a:xfrm>
            <a:off x="152400" y="2590800"/>
            <a:ext cx="2590800" cy="7620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Standard Computer</a:t>
            </a:r>
          </a:p>
        </p:txBody>
      </p:sp>
      <p:cxnSp>
        <p:nvCxnSpPr>
          <p:cNvPr id="30742" name="AutoShape 22"/>
          <p:cNvCxnSpPr>
            <a:cxnSpLocks noChangeShapeType="1"/>
            <a:stCxn id="30723" idx="3"/>
            <a:endCxn id="30737" idx="1"/>
          </p:cNvCxnSpPr>
          <p:nvPr/>
        </p:nvCxnSpPr>
        <p:spPr bwMode="auto">
          <a:xfrm>
            <a:off x="4572000" y="1943100"/>
            <a:ext cx="1295400" cy="228600"/>
          </a:xfrm>
          <a:prstGeom prst="bentConnector3">
            <a:avLst>
              <a:gd name="adj1" fmla="val 50000"/>
            </a:avLst>
          </a:prstGeom>
          <a:noFill/>
          <a:ln w="9525">
            <a:solidFill>
              <a:schemeClr val="tx1"/>
            </a:solidFill>
            <a:miter lim="800000"/>
            <a:headEnd/>
            <a:tailEnd type="triangle" w="med" len="med"/>
          </a:ln>
        </p:spPr>
      </p:cxnSp>
      <p:sp>
        <p:nvSpPr>
          <p:cNvPr id="30743" name="AutoShape 23"/>
          <p:cNvSpPr>
            <a:spLocks noChangeArrowheads="1"/>
          </p:cNvSpPr>
          <p:nvPr/>
        </p:nvSpPr>
        <p:spPr bwMode="auto">
          <a:xfrm>
            <a:off x="5029200" y="1752600"/>
            <a:ext cx="457200" cy="457200"/>
          </a:xfrm>
          <a:prstGeom prst="irregularSeal1">
            <a:avLst/>
          </a:prstGeom>
          <a:solidFill>
            <a:srgbClr val="FFFF00"/>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3</a:t>
            </a:r>
          </a:p>
        </p:txBody>
      </p:sp>
      <p:sp>
        <p:nvSpPr>
          <p:cNvPr id="30744" name="Line 24"/>
          <p:cNvSpPr>
            <a:spLocks noChangeShapeType="1"/>
          </p:cNvSpPr>
          <p:nvPr/>
        </p:nvSpPr>
        <p:spPr bwMode="auto">
          <a:xfrm>
            <a:off x="2743200" y="1524000"/>
            <a:ext cx="0" cy="228600"/>
          </a:xfrm>
          <a:prstGeom prst="line">
            <a:avLst/>
          </a:prstGeom>
          <a:noFill/>
          <a:ln w="9525">
            <a:solidFill>
              <a:schemeClr val="tx1"/>
            </a:solidFill>
            <a:round/>
            <a:headEnd/>
            <a:tailEnd type="triangle" w="med" len="med"/>
          </a:ln>
        </p:spPr>
        <p:txBody>
          <a:bodyPr/>
          <a:lstStyle/>
          <a:p>
            <a:endParaRPr lang="en-US" dirty="0"/>
          </a:p>
        </p:txBody>
      </p:sp>
      <p:sp>
        <p:nvSpPr>
          <p:cNvPr id="30745" name="Line 25"/>
          <p:cNvSpPr>
            <a:spLocks noChangeShapeType="1"/>
          </p:cNvSpPr>
          <p:nvPr/>
        </p:nvSpPr>
        <p:spPr bwMode="auto">
          <a:xfrm flipH="1">
            <a:off x="1752600" y="2133600"/>
            <a:ext cx="381000" cy="457200"/>
          </a:xfrm>
          <a:prstGeom prst="line">
            <a:avLst/>
          </a:prstGeom>
          <a:noFill/>
          <a:ln w="9525">
            <a:solidFill>
              <a:schemeClr val="tx1"/>
            </a:solidFill>
            <a:round/>
            <a:headEnd/>
            <a:tailEnd type="triangle" w="med" len="med"/>
          </a:ln>
        </p:spPr>
        <p:txBody>
          <a:bodyPr/>
          <a:lstStyle/>
          <a:p>
            <a:endParaRPr lang="en-US" dirty="0"/>
          </a:p>
        </p:txBody>
      </p:sp>
      <p:sp>
        <p:nvSpPr>
          <p:cNvPr id="30746" name="Line 26"/>
          <p:cNvSpPr>
            <a:spLocks noChangeShapeType="1"/>
          </p:cNvSpPr>
          <p:nvPr/>
        </p:nvSpPr>
        <p:spPr bwMode="auto">
          <a:xfrm>
            <a:off x="3505200" y="2133600"/>
            <a:ext cx="457200" cy="533400"/>
          </a:xfrm>
          <a:prstGeom prst="line">
            <a:avLst/>
          </a:prstGeom>
          <a:noFill/>
          <a:ln w="9525">
            <a:solidFill>
              <a:schemeClr val="tx1"/>
            </a:solidFill>
            <a:round/>
            <a:headEnd/>
            <a:tailEnd type="triangle" w="med" len="med"/>
          </a:ln>
        </p:spPr>
        <p:txBody>
          <a:bodyPr/>
          <a:lstStyle/>
          <a:p>
            <a:endParaRPr lang="en-US" dirty="0"/>
          </a:p>
        </p:txBody>
      </p:sp>
      <p:sp>
        <p:nvSpPr>
          <p:cNvPr id="30747" name="Line 27"/>
          <p:cNvSpPr>
            <a:spLocks noChangeShapeType="1"/>
          </p:cNvSpPr>
          <p:nvPr/>
        </p:nvSpPr>
        <p:spPr bwMode="auto">
          <a:xfrm>
            <a:off x="4419600" y="5562600"/>
            <a:ext cx="0" cy="381000"/>
          </a:xfrm>
          <a:prstGeom prst="line">
            <a:avLst/>
          </a:prstGeom>
          <a:noFill/>
          <a:ln w="9525">
            <a:solidFill>
              <a:schemeClr val="tx1"/>
            </a:solidFill>
            <a:round/>
            <a:headEnd/>
            <a:tailEnd type="triangle" w="med" len="med"/>
          </a:ln>
        </p:spPr>
        <p:txBody>
          <a:bodyPr/>
          <a:lstStyle/>
          <a:p>
            <a:endParaRPr lang="en-US" dirty="0"/>
          </a:p>
        </p:txBody>
      </p:sp>
      <p:sp>
        <p:nvSpPr>
          <p:cNvPr id="30748" name="Oval 28"/>
          <p:cNvSpPr>
            <a:spLocks noChangeArrowheads="1"/>
          </p:cNvSpPr>
          <p:nvPr/>
        </p:nvSpPr>
        <p:spPr bwMode="auto">
          <a:xfrm>
            <a:off x="1981200" y="2286000"/>
            <a:ext cx="381000" cy="3048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solidFill>
                  <a:srgbClr val="FFFF00"/>
                </a:solidFill>
                <a:latin typeface="Times New Roman" pitchFamily="18" charset="0"/>
                <a:cs typeface="Times New Roman" pitchFamily="18" charset="0"/>
              </a:rPr>
              <a:t>1</a:t>
            </a:r>
          </a:p>
        </p:txBody>
      </p:sp>
      <p:sp>
        <p:nvSpPr>
          <p:cNvPr id="30749" name="Oval 29"/>
          <p:cNvSpPr>
            <a:spLocks noChangeArrowheads="1"/>
          </p:cNvSpPr>
          <p:nvPr/>
        </p:nvSpPr>
        <p:spPr bwMode="auto">
          <a:xfrm>
            <a:off x="4495800" y="5638800"/>
            <a:ext cx="381000" cy="3048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solidFill>
                  <a:srgbClr val="FFFF00"/>
                </a:solidFill>
                <a:latin typeface="Times New Roman" pitchFamily="18" charset="0"/>
                <a:cs typeface="Times New Roman" pitchFamily="18" charset="0"/>
              </a:rPr>
              <a:t>2</a:t>
            </a:r>
          </a:p>
        </p:txBody>
      </p:sp>
      <p:sp>
        <p:nvSpPr>
          <p:cNvPr id="30750" name="Oval 30"/>
          <p:cNvSpPr>
            <a:spLocks noChangeArrowheads="1"/>
          </p:cNvSpPr>
          <p:nvPr/>
        </p:nvSpPr>
        <p:spPr bwMode="auto">
          <a:xfrm>
            <a:off x="7543800" y="2438400"/>
            <a:ext cx="381000" cy="304800"/>
          </a:xfrm>
          <a:prstGeom prst="ellipse">
            <a:avLst/>
          </a:prstGeom>
          <a:solidFill>
            <a:srgbClr val="FF9933"/>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4</a:t>
            </a:r>
          </a:p>
        </p:txBody>
      </p:sp>
      <p:sp>
        <p:nvSpPr>
          <p:cNvPr id="30751" name="Text Box 31"/>
          <p:cNvSpPr txBox="1">
            <a:spLocks noChangeArrowheads="1"/>
          </p:cNvSpPr>
          <p:nvPr/>
        </p:nvSpPr>
        <p:spPr bwMode="auto">
          <a:xfrm>
            <a:off x="5791200" y="4191000"/>
            <a:ext cx="3200400" cy="1492250"/>
          </a:xfrm>
          <a:prstGeom prst="rect">
            <a:avLst/>
          </a:prstGeom>
          <a:noFill/>
          <a:ln w="9525">
            <a:noFill/>
            <a:miter lim="800000"/>
            <a:headEnd/>
            <a:tailEnd/>
          </a:ln>
        </p:spPr>
        <p:txBody>
          <a:bodyPr>
            <a:spAutoFit/>
          </a:bodyPr>
          <a:lstStyle/>
          <a:p>
            <a:pPr eaLnBrk="1" hangingPunct="1">
              <a:buFontTx/>
              <a:buChar char="•"/>
            </a:pPr>
            <a:r>
              <a:rPr lang="en-US" sz="2400" dirty="0">
                <a:latin typeface="Times New Roman" pitchFamily="18" charset="0"/>
                <a:cs typeface="Times New Roman" pitchFamily="18" charset="0"/>
              </a:rPr>
              <a:t> </a:t>
            </a:r>
            <a:r>
              <a:rPr lang="en-US" sz="2400" dirty="0">
                <a:cs typeface="Times New Roman" pitchFamily="18" charset="0"/>
              </a:rPr>
              <a:t>4 </a:t>
            </a:r>
            <a:r>
              <a:rPr lang="en-US" sz="2400" b="1" dirty="0">
                <a:cs typeface="Times New Roman" pitchFamily="18" charset="0"/>
              </a:rPr>
              <a:t>easier</a:t>
            </a:r>
            <a:r>
              <a:rPr lang="en-US" sz="2400" dirty="0">
                <a:cs typeface="Times New Roman" pitchFamily="18" charset="0"/>
              </a:rPr>
              <a:t> than 2 </a:t>
            </a:r>
          </a:p>
          <a:p>
            <a:pPr eaLnBrk="1" hangingPunct="1">
              <a:buFontTx/>
              <a:buChar char="•"/>
            </a:pPr>
            <a:r>
              <a:rPr lang="en-US" sz="2400" dirty="0">
                <a:cs typeface="Times New Roman" pitchFamily="18" charset="0"/>
              </a:rPr>
              <a:t> Problems with 3</a:t>
            </a:r>
          </a:p>
          <a:p>
            <a:pPr eaLnBrk="1" hangingPunct="1">
              <a:buFontTx/>
              <a:buChar char="•"/>
            </a:pPr>
            <a:r>
              <a:rPr lang="en-US" sz="2400" dirty="0">
                <a:cs typeface="Times New Roman" pitchFamily="18" charset="0"/>
              </a:rPr>
              <a:t> 4 competitive with 1: </a:t>
            </a:r>
            <a:r>
              <a:rPr lang="en-US" dirty="0">
                <a:cs typeface="Times New Roman" pitchFamily="18" charset="0"/>
              </a:rPr>
              <a:t>cost-effectiveness; natural </a:t>
            </a:r>
          </a:p>
        </p:txBody>
      </p:sp>
      <p:sp>
        <p:nvSpPr>
          <p:cNvPr id="30752" name="Line 32"/>
          <p:cNvSpPr>
            <a:spLocks noChangeShapeType="1"/>
          </p:cNvSpPr>
          <p:nvPr/>
        </p:nvSpPr>
        <p:spPr bwMode="auto">
          <a:xfrm>
            <a:off x="7467600" y="2362200"/>
            <a:ext cx="0" cy="457200"/>
          </a:xfrm>
          <a:prstGeom prst="line">
            <a:avLst/>
          </a:prstGeom>
          <a:noFill/>
          <a:ln w="9525">
            <a:solidFill>
              <a:schemeClr val="tx1"/>
            </a:solidFill>
            <a:round/>
            <a:headEnd/>
            <a:tailEnd type="triangle" w="med" len="med"/>
          </a:ln>
        </p:spPr>
        <p:txBody>
          <a:bodyPr/>
          <a:lstStyle/>
          <a:p>
            <a:endParaRPr lang="en-US" dirty="0"/>
          </a:p>
        </p:txBody>
      </p:sp>
      <p:sp>
        <p:nvSpPr>
          <p:cNvPr id="30753" name="Line 33"/>
          <p:cNvSpPr>
            <a:spLocks noChangeShapeType="1"/>
          </p:cNvSpPr>
          <p:nvPr/>
        </p:nvSpPr>
        <p:spPr bwMode="auto">
          <a:xfrm>
            <a:off x="7467600" y="1828800"/>
            <a:ext cx="0" cy="152400"/>
          </a:xfrm>
          <a:prstGeom prst="line">
            <a:avLst/>
          </a:prstGeom>
          <a:noFill/>
          <a:ln w="9525">
            <a:solidFill>
              <a:schemeClr val="tx1"/>
            </a:solidFill>
            <a:round/>
            <a:headEnd/>
            <a:tailEnd type="triangle" w="med" len="med"/>
          </a:ln>
        </p:spPr>
        <p:txBody>
          <a:bodyPr/>
          <a:lstStyle/>
          <a:p>
            <a:endParaRPr lang="en-US" dirty="0"/>
          </a:p>
        </p:txBody>
      </p:sp>
      <p:sp>
        <p:nvSpPr>
          <p:cNvPr id="30754" name="Text Box 34"/>
          <p:cNvSpPr txBox="1">
            <a:spLocks noChangeArrowheads="1"/>
          </p:cNvSpPr>
          <p:nvPr/>
        </p:nvSpPr>
        <p:spPr bwMode="auto">
          <a:xfrm>
            <a:off x="304800" y="76200"/>
            <a:ext cx="8609013" cy="457200"/>
          </a:xfrm>
          <a:prstGeom prst="rect">
            <a:avLst/>
          </a:prstGeom>
          <a:noFill/>
          <a:ln w="9525">
            <a:noFill/>
            <a:miter lim="800000"/>
            <a:headEnd/>
            <a:tailEnd/>
          </a:ln>
        </p:spPr>
        <p:txBody>
          <a:bodyPr>
            <a:spAutoFit/>
          </a:bodyPr>
          <a:lstStyle/>
          <a:p>
            <a:pPr eaLnBrk="1" hangingPunct="1"/>
            <a:r>
              <a:rPr lang="en-US" sz="2400" b="1" dirty="0">
                <a:solidFill>
                  <a:srgbClr val="FF0000"/>
                </a:solidFill>
                <a:latin typeface="Times New Roman" pitchFamily="18" charset="0"/>
                <a:cs typeface="Times New Roman" pitchFamily="18" charset="0"/>
              </a:rPr>
              <a:t>PERFORMANCE PROGRAMMING &amp; ITS PRODUCTIVITY</a:t>
            </a:r>
          </a:p>
        </p:txBody>
      </p:sp>
      <p:sp>
        <p:nvSpPr>
          <p:cNvPr id="30755" name="Text Box 35"/>
          <p:cNvSpPr txBox="1">
            <a:spLocks noChangeArrowheads="1"/>
          </p:cNvSpPr>
          <p:nvPr/>
        </p:nvSpPr>
        <p:spPr bwMode="auto">
          <a:xfrm>
            <a:off x="5699125" y="2376488"/>
            <a:ext cx="1827213" cy="396875"/>
          </a:xfrm>
          <a:prstGeom prst="rect">
            <a:avLst/>
          </a:prstGeom>
          <a:noFill/>
          <a:ln w="9525">
            <a:noFill/>
            <a:miter lim="800000"/>
            <a:headEnd/>
            <a:tailEnd/>
          </a:ln>
        </p:spPr>
        <p:txBody>
          <a:bodyPr wrap="none">
            <a:spAutoFit/>
          </a:bodyPr>
          <a:lstStyle/>
          <a:p>
            <a:pPr eaLnBrk="1" hangingPunct="1"/>
            <a:r>
              <a:rPr lang="en-US" dirty="0">
                <a:latin typeface="Times New Roman" pitchFamily="18" charset="0"/>
                <a:cs typeface="Times New Roman" pitchFamily="18" charset="0"/>
              </a:rPr>
              <a:t>Low overheads!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762000" y="1752600"/>
            <a:ext cx="3810000" cy="3810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Serial program (C)</a:t>
            </a:r>
          </a:p>
        </p:txBody>
      </p:sp>
      <p:sp>
        <p:nvSpPr>
          <p:cNvPr id="31747" name="Rectangle 3"/>
          <p:cNvSpPr>
            <a:spLocks noChangeArrowheads="1"/>
          </p:cNvSpPr>
          <p:nvPr/>
        </p:nvSpPr>
        <p:spPr bwMode="auto">
          <a:xfrm>
            <a:off x="3200400" y="2667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Decomposition</a:t>
            </a:r>
          </a:p>
        </p:txBody>
      </p:sp>
      <p:sp>
        <p:nvSpPr>
          <p:cNvPr id="31748" name="Text Box 4"/>
          <p:cNvSpPr txBox="1">
            <a:spLocks noChangeArrowheads="1"/>
          </p:cNvSpPr>
          <p:nvPr/>
        </p:nvSpPr>
        <p:spPr bwMode="auto">
          <a:xfrm>
            <a:off x="3124200" y="2590800"/>
            <a:ext cx="3429000" cy="457200"/>
          </a:xfrm>
          <a:prstGeom prst="rect">
            <a:avLst/>
          </a:prstGeom>
          <a:noFill/>
          <a:ln w="9525">
            <a:noFill/>
            <a:miter lim="800000"/>
            <a:headEnd/>
            <a:tailEnd/>
          </a:ln>
        </p:spPr>
        <p:txBody>
          <a:bodyPr>
            <a:spAutoFit/>
          </a:bodyPr>
          <a:lstStyle/>
          <a:p>
            <a:pPr eaLnBrk="1" hangingPunct="1"/>
            <a:endParaRPr lang="en-US" sz="2400" dirty="0">
              <a:latin typeface="Times New Roman" pitchFamily="18" charset="0"/>
              <a:cs typeface="Times New Roman" pitchFamily="18" charset="0"/>
            </a:endParaRPr>
          </a:p>
        </p:txBody>
      </p:sp>
      <p:sp>
        <p:nvSpPr>
          <p:cNvPr id="31749" name="Rectangle 5"/>
          <p:cNvSpPr>
            <a:spLocks noChangeArrowheads="1"/>
          </p:cNvSpPr>
          <p:nvPr/>
        </p:nvSpPr>
        <p:spPr bwMode="auto">
          <a:xfrm>
            <a:off x="3200400" y="3429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Assignment</a:t>
            </a:r>
          </a:p>
        </p:txBody>
      </p:sp>
      <p:sp>
        <p:nvSpPr>
          <p:cNvPr id="31750" name="Rectangle 6"/>
          <p:cNvSpPr>
            <a:spLocks noChangeArrowheads="1"/>
          </p:cNvSpPr>
          <p:nvPr/>
        </p:nvSpPr>
        <p:spPr bwMode="auto">
          <a:xfrm>
            <a:off x="3200400" y="42672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Orchestration</a:t>
            </a:r>
          </a:p>
        </p:txBody>
      </p:sp>
      <p:sp>
        <p:nvSpPr>
          <p:cNvPr id="31751" name="Rectangle 7"/>
          <p:cNvSpPr>
            <a:spLocks noChangeArrowheads="1"/>
          </p:cNvSpPr>
          <p:nvPr/>
        </p:nvSpPr>
        <p:spPr bwMode="auto">
          <a:xfrm>
            <a:off x="3200400" y="51054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Mapping</a:t>
            </a:r>
          </a:p>
        </p:txBody>
      </p:sp>
      <p:sp>
        <p:nvSpPr>
          <p:cNvPr id="31752" name="Line 8"/>
          <p:cNvSpPr>
            <a:spLocks noChangeShapeType="1"/>
          </p:cNvSpPr>
          <p:nvPr/>
        </p:nvSpPr>
        <p:spPr bwMode="auto">
          <a:xfrm>
            <a:off x="4419600" y="3124200"/>
            <a:ext cx="0" cy="304800"/>
          </a:xfrm>
          <a:prstGeom prst="line">
            <a:avLst/>
          </a:prstGeom>
          <a:noFill/>
          <a:ln w="9525">
            <a:solidFill>
              <a:schemeClr val="tx1"/>
            </a:solidFill>
            <a:round/>
            <a:headEnd/>
            <a:tailEnd type="triangle" w="med" len="med"/>
          </a:ln>
        </p:spPr>
        <p:txBody>
          <a:bodyPr/>
          <a:lstStyle/>
          <a:p>
            <a:endParaRPr lang="en-US" dirty="0"/>
          </a:p>
        </p:txBody>
      </p:sp>
      <p:sp>
        <p:nvSpPr>
          <p:cNvPr id="31753" name="Line 9"/>
          <p:cNvSpPr>
            <a:spLocks noChangeShapeType="1"/>
          </p:cNvSpPr>
          <p:nvPr/>
        </p:nvSpPr>
        <p:spPr bwMode="auto">
          <a:xfrm>
            <a:off x="4419600" y="3886200"/>
            <a:ext cx="0" cy="381000"/>
          </a:xfrm>
          <a:prstGeom prst="line">
            <a:avLst/>
          </a:prstGeom>
          <a:noFill/>
          <a:ln w="9525">
            <a:solidFill>
              <a:schemeClr val="tx1"/>
            </a:solidFill>
            <a:round/>
            <a:headEnd/>
            <a:tailEnd type="triangle" w="med" len="med"/>
          </a:ln>
        </p:spPr>
        <p:txBody>
          <a:bodyPr/>
          <a:lstStyle/>
          <a:p>
            <a:endParaRPr lang="en-US" dirty="0"/>
          </a:p>
        </p:txBody>
      </p:sp>
      <p:sp>
        <p:nvSpPr>
          <p:cNvPr id="31754" name="Line 10"/>
          <p:cNvSpPr>
            <a:spLocks noChangeShapeType="1"/>
          </p:cNvSpPr>
          <p:nvPr/>
        </p:nvSpPr>
        <p:spPr bwMode="auto">
          <a:xfrm>
            <a:off x="4419600" y="4724400"/>
            <a:ext cx="0" cy="381000"/>
          </a:xfrm>
          <a:prstGeom prst="line">
            <a:avLst/>
          </a:prstGeom>
          <a:noFill/>
          <a:ln w="9525">
            <a:solidFill>
              <a:schemeClr val="tx1"/>
            </a:solidFill>
            <a:round/>
            <a:headEnd/>
            <a:tailEnd type="triangle" w="med" len="med"/>
          </a:ln>
        </p:spPr>
        <p:txBody>
          <a:bodyPr/>
          <a:lstStyle/>
          <a:p>
            <a:endParaRPr lang="en-US" dirty="0"/>
          </a:p>
        </p:txBody>
      </p:sp>
      <p:sp>
        <p:nvSpPr>
          <p:cNvPr id="31755" name="AutoShape 11"/>
          <p:cNvSpPr>
            <a:spLocks/>
          </p:cNvSpPr>
          <p:nvPr/>
        </p:nvSpPr>
        <p:spPr bwMode="auto">
          <a:xfrm>
            <a:off x="2514600" y="2667000"/>
            <a:ext cx="685800" cy="2895600"/>
          </a:xfrm>
          <a:prstGeom prst="leftBrace">
            <a:avLst>
              <a:gd name="adj1" fmla="val 35185"/>
              <a:gd name="adj2" fmla="val 50000"/>
            </a:avLst>
          </a:prstGeom>
          <a:noFill/>
          <a:ln w="9525">
            <a:solidFill>
              <a:schemeClr val="tx1"/>
            </a:solidFill>
            <a:round/>
            <a:headEnd/>
            <a:tailEnd/>
          </a:ln>
        </p:spPr>
        <p:txBody>
          <a:bodyPr wrap="none" anchor="ctr"/>
          <a:lstStyle/>
          <a:p>
            <a:endParaRPr lang="en-US" dirty="0"/>
          </a:p>
        </p:txBody>
      </p:sp>
      <p:sp>
        <p:nvSpPr>
          <p:cNvPr id="31756" name="AutoShape 12"/>
          <p:cNvSpPr>
            <a:spLocks noChangeArrowheads="1"/>
          </p:cNvSpPr>
          <p:nvPr/>
        </p:nvSpPr>
        <p:spPr bwMode="auto">
          <a:xfrm>
            <a:off x="0" y="3505200"/>
            <a:ext cx="2667000" cy="1828800"/>
          </a:xfrm>
          <a:prstGeom prst="verticalScroll">
            <a:avLst>
              <a:gd name="adj" fmla="val 12500"/>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a:t>
            </a:r>
          </a:p>
          <a:p>
            <a:pPr algn="ctr" eaLnBrk="1" hangingPunct="1"/>
            <a:r>
              <a:rPr lang="en-US" sz="2400" dirty="0">
                <a:latin typeface="Times New Roman" pitchFamily="18" charset="0"/>
                <a:cs typeface="Times New Roman" pitchFamily="18" charset="0"/>
              </a:rPr>
              <a:t>Programming</a:t>
            </a:r>
          </a:p>
          <a:p>
            <a:pPr algn="ctr" eaLnBrk="1" hangingPunct="1"/>
            <a:r>
              <a:rPr lang="en-US" sz="2400" dirty="0">
                <a:latin typeface="Times New Roman" pitchFamily="18" charset="0"/>
                <a:cs typeface="Times New Roman" pitchFamily="18" charset="0"/>
              </a:rPr>
              <a:t>(Culler-Singh)</a:t>
            </a:r>
          </a:p>
        </p:txBody>
      </p:sp>
      <p:sp>
        <p:nvSpPr>
          <p:cNvPr id="31757" name="Rectangle 13"/>
          <p:cNvSpPr>
            <a:spLocks noChangeArrowheads="1"/>
          </p:cNvSpPr>
          <p:nvPr/>
        </p:nvSpPr>
        <p:spPr bwMode="auto">
          <a:xfrm>
            <a:off x="5867400" y="1905000"/>
            <a:ext cx="3276600" cy="457200"/>
          </a:xfrm>
          <a:prstGeom prst="rect">
            <a:avLst/>
          </a:prstGeom>
          <a:solidFill>
            <a:srgbClr val="FF9933"/>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Parallel program (XMT-C)</a:t>
            </a:r>
          </a:p>
        </p:txBody>
      </p:sp>
      <p:sp>
        <p:nvSpPr>
          <p:cNvPr id="31758" name="Oval 14"/>
          <p:cNvSpPr>
            <a:spLocks noChangeArrowheads="1"/>
          </p:cNvSpPr>
          <p:nvPr/>
        </p:nvSpPr>
        <p:spPr bwMode="auto">
          <a:xfrm>
            <a:off x="6324600" y="2819400"/>
            <a:ext cx="2590800" cy="914400"/>
          </a:xfrm>
          <a:prstGeom prst="ellipse">
            <a:avLst/>
          </a:prstGeom>
          <a:solidFill>
            <a:srgbClr val="FF9933"/>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XMT architecture</a:t>
            </a:r>
          </a:p>
          <a:p>
            <a:pPr algn="ctr" eaLnBrk="1" hangingPunct="1"/>
            <a:r>
              <a:rPr lang="en-US" sz="2400" dirty="0">
                <a:latin typeface="Times New Roman" pitchFamily="18" charset="0"/>
                <a:cs typeface="Times New Roman" pitchFamily="18" charset="0"/>
              </a:rPr>
              <a:t>(Simulator)</a:t>
            </a:r>
          </a:p>
        </p:txBody>
      </p:sp>
      <p:sp>
        <p:nvSpPr>
          <p:cNvPr id="31759" name="Line 15"/>
          <p:cNvSpPr>
            <a:spLocks noChangeShapeType="1"/>
          </p:cNvSpPr>
          <p:nvPr/>
        </p:nvSpPr>
        <p:spPr bwMode="auto">
          <a:xfrm>
            <a:off x="7467600" y="2362200"/>
            <a:ext cx="0" cy="457200"/>
          </a:xfrm>
          <a:prstGeom prst="line">
            <a:avLst/>
          </a:prstGeom>
          <a:noFill/>
          <a:ln w="9525">
            <a:solidFill>
              <a:schemeClr val="tx1"/>
            </a:solidFill>
            <a:round/>
            <a:headEnd/>
            <a:tailEnd type="triangle" w="med" len="med"/>
          </a:ln>
        </p:spPr>
        <p:txBody>
          <a:bodyPr/>
          <a:lstStyle/>
          <a:p>
            <a:endParaRPr lang="en-US" dirty="0"/>
          </a:p>
        </p:txBody>
      </p:sp>
      <p:sp>
        <p:nvSpPr>
          <p:cNvPr id="31760" name="Oval 16"/>
          <p:cNvSpPr>
            <a:spLocks noChangeArrowheads="1"/>
          </p:cNvSpPr>
          <p:nvPr/>
        </p:nvSpPr>
        <p:spPr bwMode="auto">
          <a:xfrm>
            <a:off x="3048000" y="5943600"/>
            <a:ext cx="2743200" cy="5334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computer</a:t>
            </a:r>
          </a:p>
        </p:txBody>
      </p:sp>
      <p:sp>
        <p:nvSpPr>
          <p:cNvPr id="31761" name="Oval 17"/>
          <p:cNvSpPr>
            <a:spLocks noChangeArrowheads="1"/>
          </p:cNvSpPr>
          <p:nvPr/>
        </p:nvSpPr>
        <p:spPr bwMode="auto">
          <a:xfrm>
            <a:off x="152400" y="2590800"/>
            <a:ext cx="2590800" cy="7620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Standard Computer</a:t>
            </a:r>
          </a:p>
        </p:txBody>
      </p:sp>
      <p:sp>
        <p:nvSpPr>
          <p:cNvPr id="31762" name="Line 18"/>
          <p:cNvSpPr>
            <a:spLocks noChangeShapeType="1"/>
          </p:cNvSpPr>
          <p:nvPr/>
        </p:nvSpPr>
        <p:spPr bwMode="auto">
          <a:xfrm flipH="1">
            <a:off x="1752600" y="2133600"/>
            <a:ext cx="381000" cy="457200"/>
          </a:xfrm>
          <a:prstGeom prst="line">
            <a:avLst/>
          </a:prstGeom>
          <a:noFill/>
          <a:ln w="9525">
            <a:solidFill>
              <a:schemeClr val="tx1"/>
            </a:solidFill>
            <a:round/>
            <a:headEnd/>
            <a:tailEnd type="triangle" w="med" len="med"/>
          </a:ln>
        </p:spPr>
        <p:txBody>
          <a:bodyPr/>
          <a:lstStyle/>
          <a:p>
            <a:endParaRPr lang="en-US" dirty="0"/>
          </a:p>
        </p:txBody>
      </p:sp>
      <p:sp>
        <p:nvSpPr>
          <p:cNvPr id="31763" name="Line 19"/>
          <p:cNvSpPr>
            <a:spLocks noChangeShapeType="1"/>
          </p:cNvSpPr>
          <p:nvPr/>
        </p:nvSpPr>
        <p:spPr bwMode="auto">
          <a:xfrm>
            <a:off x="3505200" y="2133600"/>
            <a:ext cx="457200" cy="533400"/>
          </a:xfrm>
          <a:prstGeom prst="line">
            <a:avLst/>
          </a:prstGeom>
          <a:noFill/>
          <a:ln w="9525">
            <a:solidFill>
              <a:schemeClr val="tx1"/>
            </a:solidFill>
            <a:round/>
            <a:headEnd/>
            <a:tailEnd type="triangle" w="med" len="med"/>
          </a:ln>
        </p:spPr>
        <p:txBody>
          <a:bodyPr/>
          <a:lstStyle/>
          <a:p>
            <a:endParaRPr lang="en-US" dirty="0"/>
          </a:p>
        </p:txBody>
      </p:sp>
      <p:sp>
        <p:nvSpPr>
          <p:cNvPr id="31764" name="Line 20"/>
          <p:cNvSpPr>
            <a:spLocks noChangeShapeType="1"/>
          </p:cNvSpPr>
          <p:nvPr/>
        </p:nvSpPr>
        <p:spPr bwMode="auto">
          <a:xfrm>
            <a:off x="4419600" y="5562600"/>
            <a:ext cx="0" cy="381000"/>
          </a:xfrm>
          <a:prstGeom prst="line">
            <a:avLst/>
          </a:prstGeom>
          <a:noFill/>
          <a:ln w="9525">
            <a:solidFill>
              <a:schemeClr val="tx1"/>
            </a:solidFill>
            <a:round/>
            <a:headEnd/>
            <a:tailEnd type="triangle" w="med" len="med"/>
          </a:ln>
        </p:spPr>
        <p:txBody>
          <a:bodyPr/>
          <a:lstStyle/>
          <a:p>
            <a:endParaRPr lang="en-US" dirty="0"/>
          </a:p>
        </p:txBody>
      </p:sp>
      <p:sp>
        <p:nvSpPr>
          <p:cNvPr id="31765" name="Rectangle 21"/>
          <p:cNvSpPr>
            <a:spLocks noChangeArrowheads="1"/>
          </p:cNvSpPr>
          <p:nvPr/>
        </p:nvSpPr>
        <p:spPr bwMode="auto">
          <a:xfrm>
            <a:off x="2133600" y="762000"/>
            <a:ext cx="5638800" cy="609600"/>
          </a:xfrm>
          <a:prstGeom prst="rect">
            <a:avLst/>
          </a:prstGeom>
          <a:solidFill>
            <a:srgbClr val="66CCFF"/>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Application programmer’s interfaces (APIs)</a:t>
            </a:r>
          </a:p>
          <a:p>
            <a:pPr algn="ctr" eaLnBrk="1" hangingPunct="1"/>
            <a:r>
              <a:rPr lang="en-US" sz="2400" dirty="0">
                <a:latin typeface="Times New Roman" pitchFamily="18" charset="0"/>
                <a:cs typeface="Times New Roman" pitchFamily="18" charset="0"/>
              </a:rPr>
              <a:t>(OpenGL, VHDL/Verilog, Matlab)</a:t>
            </a:r>
          </a:p>
        </p:txBody>
      </p:sp>
      <p:sp>
        <p:nvSpPr>
          <p:cNvPr id="31766" name="Text Box 22"/>
          <p:cNvSpPr txBox="1">
            <a:spLocks noChangeArrowheads="1"/>
          </p:cNvSpPr>
          <p:nvPr/>
        </p:nvSpPr>
        <p:spPr bwMode="auto">
          <a:xfrm>
            <a:off x="4419600" y="1295400"/>
            <a:ext cx="1295400" cy="457200"/>
          </a:xfrm>
          <a:prstGeom prst="rect">
            <a:avLst/>
          </a:prstGeom>
          <a:noFill/>
          <a:ln w="9525">
            <a:noFill/>
            <a:miter lim="800000"/>
            <a:headEnd/>
            <a:tailEnd/>
          </a:ln>
        </p:spPr>
        <p:txBody>
          <a:bodyPr>
            <a:spAutoFit/>
          </a:bodyPr>
          <a:lstStyle/>
          <a:p>
            <a:pPr eaLnBrk="1" hangingPunct="1"/>
            <a:r>
              <a:rPr lang="en-US" sz="2400" dirty="0">
                <a:latin typeface="Times New Roman" pitchFamily="18" charset="0"/>
                <a:cs typeface="Times New Roman" pitchFamily="18" charset="0"/>
              </a:rPr>
              <a:t>compiler</a:t>
            </a:r>
          </a:p>
        </p:txBody>
      </p:sp>
      <p:sp>
        <p:nvSpPr>
          <p:cNvPr id="31767" name="Text Box 23"/>
          <p:cNvSpPr txBox="1">
            <a:spLocks noChangeArrowheads="1"/>
          </p:cNvSpPr>
          <p:nvPr/>
        </p:nvSpPr>
        <p:spPr bwMode="auto">
          <a:xfrm>
            <a:off x="0" y="2133600"/>
            <a:ext cx="1676400"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Automatic?</a:t>
            </a:r>
          </a:p>
        </p:txBody>
      </p:sp>
      <p:sp>
        <p:nvSpPr>
          <p:cNvPr id="31768" name="Text Box 24"/>
          <p:cNvSpPr txBox="1">
            <a:spLocks noChangeArrowheads="1"/>
          </p:cNvSpPr>
          <p:nvPr/>
        </p:nvSpPr>
        <p:spPr bwMode="auto">
          <a:xfrm>
            <a:off x="1981200" y="2133600"/>
            <a:ext cx="762000"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Yes</a:t>
            </a:r>
          </a:p>
        </p:txBody>
      </p:sp>
      <p:sp>
        <p:nvSpPr>
          <p:cNvPr id="31769" name="Text Box 25"/>
          <p:cNvSpPr txBox="1">
            <a:spLocks noChangeArrowheads="1"/>
          </p:cNvSpPr>
          <p:nvPr/>
        </p:nvSpPr>
        <p:spPr bwMode="auto">
          <a:xfrm>
            <a:off x="7543800" y="2362200"/>
            <a:ext cx="658813"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Yes</a:t>
            </a:r>
          </a:p>
        </p:txBody>
      </p:sp>
      <p:sp>
        <p:nvSpPr>
          <p:cNvPr id="31770" name="Text Box 26"/>
          <p:cNvSpPr txBox="1">
            <a:spLocks noChangeArrowheads="1"/>
          </p:cNvSpPr>
          <p:nvPr/>
        </p:nvSpPr>
        <p:spPr bwMode="auto">
          <a:xfrm>
            <a:off x="3870325" y="2174875"/>
            <a:ext cx="1235075"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Maybe</a:t>
            </a:r>
          </a:p>
        </p:txBody>
      </p:sp>
      <p:sp>
        <p:nvSpPr>
          <p:cNvPr id="31771" name="Text Box 27"/>
          <p:cNvSpPr txBox="1">
            <a:spLocks noChangeArrowheads="1"/>
          </p:cNvSpPr>
          <p:nvPr/>
        </p:nvSpPr>
        <p:spPr bwMode="auto">
          <a:xfrm>
            <a:off x="381000" y="152400"/>
            <a:ext cx="8232775" cy="457200"/>
          </a:xfrm>
          <a:prstGeom prst="rect">
            <a:avLst/>
          </a:prstGeom>
          <a:noFill/>
          <a:ln w="9525">
            <a:noFill/>
            <a:miter lim="800000"/>
            <a:headEnd/>
            <a:tailEnd/>
          </a:ln>
        </p:spPr>
        <p:txBody>
          <a:bodyPr wrap="none">
            <a:spAutoFit/>
          </a:bodyPr>
          <a:lstStyle/>
          <a:p>
            <a:pPr eaLnBrk="1" hangingPunct="1"/>
            <a:r>
              <a:rPr lang="en-US" sz="2400" b="1" dirty="0">
                <a:solidFill>
                  <a:srgbClr val="FF0000"/>
                </a:solidFill>
                <a:latin typeface="Times New Roman" pitchFamily="18" charset="0"/>
                <a:cs typeface="Times New Roman" pitchFamily="18" charset="0"/>
              </a:rPr>
              <a:t>APPLICATION PROGRAMMING &amp; ITS PRODUCTIVITY</a:t>
            </a:r>
          </a:p>
        </p:txBody>
      </p:sp>
      <p:sp>
        <p:nvSpPr>
          <p:cNvPr id="31772" name="Line 28"/>
          <p:cNvSpPr>
            <a:spLocks noChangeShapeType="1"/>
          </p:cNvSpPr>
          <p:nvPr/>
        </p:nvSpPr>
        <p:spPr bwMode="auto">
          <a:xfrm flipH="1">
            <a:off x="2895600" y="1371600"/>
            <a:ext cx="914400" cy="381000"/>
          </a:xfrm>
          <a:prstGeom prst="line">
            <a:avLst/>
          </a:prstGeom>
          <a:noFill/>
          <a:ln w="9525">
            <a:solidFill>
              <a:schemeClr val="tx1"/>
            </a:solidFill>
            <a:round/>
            <a:headEnd/>
            <a:tailEnd type="triangle" w="med" len="med"/>
          </a:ln>
        </p:spPr>
        <p:txBody>
          <a:bodyPr/>
          <a:lstStyle/>
          <a:p>
            <a:endParaRPr lang="en-US" dirty="0"/>
          </a:p>
        </p:txBody>
      </p:sp>
      <p:sp>
        <p:nvSpPr>
          <p:cNvPr id="31773" name="Line 29"/>
          <p:cNvSpPr>
            <a:spLocks noChangeShapeType="1"/>
          </p:cNvSpPr>
          <p:nvPr/>
        </p:nvSpPr>
        <p:spPr bwMode="auto">
          <a:xfrm>
            <a:off x="6477000" y="1371600"/>
            <a:ext cx="990600" cy="533400"/>
          </a:xfrm>
          <a:prstGeom prst="line">
            <a:avLst/>
          </a:prstGeom>
          <a:noFill/>
          <a:ln w="9525">
            <a:solidFill>
              <a:schemeClr val="tx1"/>
            </a:solidFill>
            <a:round/>
            <a:headEnd/>
            <a:tailEnd type="triangle" w="med" len="med"/>
          </a:ln>
        </p:spPr>
        <p:txBody>
          <a:bodyPr/>
          <a:lstStyle/>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371600" y="0"/>
            <a:ext cx="6781800" cy="519113"/>
          </a:xfrm>
          <a:prstGeom prst="rect">
            <a:avLst/>
          </a:prstGeom>
          <a:noFill/>
          <a:ln w="9525">
            <a:noFill/>
            <a:miter lim="800000"/>
            <a:headEnd/>
            <a:tailEnd/>
          </a:ln>
        </p:spPr>
        <p:txBody>
          <a:bodyPr>
            <a:spAutoFit/>
          </a:bodyPr>
          <a:lstStyle/>
          <a:p>
            <a:r>
              <a:rPr lang="en-US" sz="2800" dirty="0"/>
              <a:t>XMT Block Diagram – Back-up slide</a:t>
            </a:r>
          </a:p>
        </p:txBody>
      </p:sp>
      <p:pic>
        <p:nvPicPr>
          <p:cNvPr id="32771" name="Picture 3" descr="arch-figure"/>
          <p:cNvPicPr>
            <a:picLocks noChangeAspect="1" noChangeArrowheads="1"/>
          </p:cNvPicPr>
          <p:nvPr/>
        </p:nvPicPr>
        <p:blipFill>
          <a:blip r:embed="rId3" cstate="print"/>
          <a:srcRect/>
          <a:stretch>
            <a:fillRect/>
          </a:stretch>
        </p:blipFill>
        <p:spPr bwMode="auto">
          <a:xfrm>
            <a:off x="0" y="393700"/>
            <a:ext cx="9144000" cy="6464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dirty="0" smtClean="0"/>
              <a:t>ISA</a:t>
            </a:r>
          </a:p>
        </p:txBody>
      </p:sp>
      <p:sp>
        <p:nvSpPr>
          <p:cNvPr id="33795" name="Rectangle 3"/>
          <p:cNvSpPr>
            <a:spLocks noGrp="1" noChangeArrowheads="1"/>
          </p:cNvSpPr>
          <p:nvPr>
            <p:ph type="body" idx="1"/>
          </p:nvPr>
        </p:nvSpPr>
        <p:spPr/>
        <p:txBody>
          <a:bodyPr/>
          <a:lstStyle/>
          <a:p>
            <a:r>
              <a:rPr lang="en-US" dirty="0" smtClean="0"/>
              <a:t>Any serial (MIPS, X86). MIPS R3000.</a:t>
            </a:r>
          </a:p>
          <a:p>
            <a:r>
              <a:rPr lang="en-US" dirty="0" smtClean="0"/>
              <a:t>Spawn (cannot be nested)</a:t>
            </a:r>
          </a:p>
          <a:p>
            <a:r>
              <a:rPr lang="en-US" dirty="0" smtClean="0"/>
              <a:t>Join</a:t>
            </a:r>
          </a:p>
          <a:p>
            <a:r>
              <a:rPr lang="en-US" dirty="0" smtClean="0"/>
              <a:t>SSpawn (can be nested)</a:t>
            </a:r>
          </a:p>
          <a:p>
            <a:r>
              <a:rPr lang="en-US" dirty="0" smtClean="0"/>
              <a:t>PS</a:t>
            </a:r>
          </a:p>
          <a:p>
            <a:r>
              <a:rPr lang="en-US" dirty="0" smtClean="0"/>
              <a:t>PSM</a:t>
            </a:r>
          </a:p>
          <a:p>
            <a:r>
              <a:rPr lang="en-US" dirty="0" smtClean="0"/>
              <a:t>Instructions for (compiler) optimizations</a:t>
            </a:r>
          </a:p>
          <a:p>
            <a:endParaRPr lang="en-US"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0"/>
            <a:ext cx="8229600" cy="838200"/>
          </a:xfrm>
        </p:spPr>
        <p:txBody>
          <a:bodyPr/>
          <a:lstStyle/>
          <a:p>
            <a:r>
              <a:rPr lang="en-US" dirty="0" smtClean="0"/>
              <a:t>The Memory Wall</a:t>
            </a:r>
          </a:p>
        </p:txBody>
      </p:sp>
      <p:sp>
        <p:nvSpPr>
          <p:cNvPr id="34819" name="Rectangle 3"/>
          <p:cNvSpPr>
            <a:spLocks noGrp="1" noChangeArrowheads="1"/>
          </p:cNvSpPr>
          <p:nvPr>
            <p:ph type="body" idx="1"/>
          </p:nvPr>
        </p:nvSpPr>
        <p:spPr>
          <a:xfrm>
            <a:off x="0" y="914400"/>
            <a:ext cx="9144000" cy="5943600"/>
          </a:xfrm>
        </p:spPr>
        <p:txBody>
          <a:bodyPr/>
          <a:lstStyle/>
          <a:p>
            <a:pPr>
              <a:lnSpc>
                <a:spcPct val="80000"/>
              </a:lnSpc>
            </a:pPr>
            <a:endParaRPr lang="en-US" sz="2000" dirty="0" smtClean="0"/>
          </a:p>
          <a:p>
            <a:pPr>
              <a:lnSpc>
                <a:spcPct val="80000"/>
              </a:lnSpc>
              <a:buFontTx/>
              <a:buNone/>
            </a:pPr>
            <a:r>
              <a:rPr lang="en-US" sz="2000" dirty="0" smtClean="0"/>
              <a:t>Concerns: 1) latency to main memory, 2) bandwidth to main memory.</a:t>
            </a:r>
          </a:p>
          <a:p>
            <a:pPr>
              <a:lnSpc>
                <a:spcPct val="80000"/>
              </a:lnSpc>
              <a:buFontTx/>
              <a:buNone/>
            </a:pPr>
            <a:r>
              <a:rPr lang="en-US" sz="2000" dirty="0" smtClean="0"/>
              <a:t>Position papers: “the memory wall” (Wulf), “its the memory, stupid!” (Sites)</a:t>
            </a:r>
          </a:p>
          <a:p>
            <a:pPr>
              <a:lnSpc>
                <a:spcPct val="80000"/>
              </a:lnSpc>
              <a:buFontTx/>
              <a:buNone/>
            </a:pPr>
            <a:endParaRPr lang="en-US" sz="2000" dirty="0" smtClean="0"/>
          </a:p>
          <a:p>
            <a:pPr>
              <a:lnSpc>
                <a:spcPct val="80000"/>
              </a:lnSpc>
              <a:buFontTx/>
              <a:buNone/>
            </a:pPr>
            <a:r>
              <a:rPr lang="en-US" sz="2000" dirty="0" smtClean="0"/>
              <a:t>Note: (i) Larger on chip caches are possible; for serial computing, return on using them: diminishing. (ii) Few cache misses can overlap (in time) in serial computing; so: even the limited bandwidth to memory is underused.</a:t>
            </a:r>
          </a:p>
          <a:p>
            <a:pPr>
              <a:lnSpc>
                <a:spcPct val="80000"/>
              </a:lnSpc>
              <a:buFontTx/>
              <a:buNone/>
            </a:pPr>
            <a:r>
              <a:rPr lang="en-US" sz="2000" dirty="0" smtClean="0"/>
              <a:t>XMT does better on both accounts:</a:t>
            </a:r>
          </a:p>
          <a:p>
            <a:pPr>
              <a:lnSpc>
                <a:spcPct val="80000"/>
              </a:lnSpc>
              <a:buFontTx/>
              <a:buNone/>
            </a:pPr>
            <a:r>
              <a:rPr lang="en-US" sz="2000" dirty="0" smtClean="0"/>
              <a:t>• uses more the high bandwidth to cache.</a:t>
            </a:r>
          </a:p>
          <a:p>
            <a:pPr>
              <a:lnSpc>
                <a:spcPct val="80000"/>
              </a:lnSpc>
              <a:buFontTx/>
              <a:buNone/>
            </a:pPr>
            <a:r>
              <a:rPr lang="en-US" sz="2000" dirty="0" smtClean="0"/>
              <a:t>• hides latency, by overlapping cache misses; uses more bandwidth to main memory, by generating concurrent memory requests; however, use of the cache alleviates penalty from overuse.</a:t>
            </a:r>
          </a:p>
          <a:p>
            <a:pPr>
              <a:lnSpc>
                <a:spcPct val="80000"/>
              </a:lnSpc>
              <a:buFontTx/>
              <a:buNone/>
            </a:pPr>
            <a:endParaRPr lang="en-US" sz="2000" dirty="0" smtClean="0"/>
          </a:p>
          <a:p>
            <a:pPr>
              <a:lnSpc>
                <a:spcPct val="80000"/>
              </a:lnSpc>
              <a:buFontTx/>
              <a:buNone/>
            </a:pPr>
            <a:r>
              <a:rPr lang="en-US" sz="2000" dirty="0" smtClean="0"/>
              <a:t>Conclusion: using PRAM parallelism coupled with IOS, XMT reduces the effect of cache stalls.</a:t>
            </a:r>
          </a:p>
          <a:p>
            <a:pPr>
              <a:lnSpc>
                <a:spcPct val="80000"/>
              </a:lnSpc>
              <a:buFontTx/>
              <a:buNone/>
            </a:pPr>
            <a:endParaRPr lang="en-US" sz="2000"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3474" name="Rectangle 2"/>
          <p:cNvSpPr>
            <a:spLocks noGrp="1" noChangeArrowheads="1"/>
          </p:cNvSpPr>
          <p:nvPr>
            <p:ph type="title"/>
          </p:nvPr>
        </p:nvSpPr>
        <p:spPr>
          <a:xfrm>
            <a:off x="457200" y="274638"/>
            <a:ext cx="8229600" cy="792162"/>
          </a:xfrm>
        </p:spPr>
        <p:txBody>
          <a:bodyPr>
            <a:normAutofit fontScale="90000"/>
          </a:bodyPr>
          <a:lstStyle/>
          <a:p>
            <a:pPr>
              <a:defRPr/>
            </a:pPr>
            <a:r>
              <a:rPr lang="en-US" dirty="0"/>
              <a:t>Some supporting </a:t>
            </a:r>
            <a:r>
              <a:rPr lang="en-US" dirty="0" smtClean="0"/>
              <a:t>evidence (12/2007)</a:t>
            </a:r>
            <a:endParaRPr lang="en-US" dirty="0"/>
          </a:p>
        </p:txBody>
      </p:sp>
      <p:sp>
        <p:nvSpPr>
          <p:cNvPr id="36867" name="Rectangle 3"/>
          <p:cNvSpPr>
            <a:spLocks noGrp="1" noChangeArrowheads="1"/>
          </p:cNvSpPr>
          <p:nvPr>
            <p:ph type="body" idx="1"/>
          </p:nvPr>
        </p:nvSpPr>
        <p:spPr>
          <a:xfrm>
            <a:off x="0" y="1066800"/>
            <a:ext cx="9144000" cy="5059363"/>
          </a:xfrm>
        </p:spPr>
        <p:txBody>
          <a:bodyPr/>
          <a:lstStyle/>
          <a:p>
            <a:pPr>
              <a:buFontTx/>
              <a:buNone/>
            </a:pPr>
            <a:r>
              <a:rPr lang="en-US" dirty="0" smtClean="0"/>
              <a:t>Large on-chip caches in shared memory. </a:t>
            </a:r>
            <a:br>
              <a:rPr lang="en-US" dirty="0" smtClean="0"/>
            </a:br>
            <a:r>
              <a:rPr lang="en-US" dirty="0" smtClean="0"/>
              <a:t>8-cluster (128 TCU!) XMT has only 8 load/store units, one per cluster. [IBM CELL: bandwidth 25.6GB/s from 2 channels of XDR. Niagara 2: bandwidth 42.7GB/s from 4 FB-DRAM channels.</a:t>
            </a:r>
            <a:br>
              <a:rPr lang="en-US" dirty="0" smtClean="0"/>
            </a:br>
            <a:r>
              <a:rPr lang="en-US" dirty="0" smtClean="0"/>
              <a:t>With reasonable (even relatively high rate of) cache misses, it is really not difficult to see that off-chip bandwidth is not likely to be a show-stopper for say 1GHz 32-bit XMT.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0"/>
            <a:ext cx="8229600" cy="838200"/>
          </a:xfrm>
        </p:spPr>
        <p:txBody>
          <a:bodyPr/>
          <a:lstStyle/>
          <a:p>
            <a:r>
              <a:rPr lang="en-US" sz="4000" dirty="0" smtClean="0"/>
              <a:t>Memory architecture, interconnects</a:t>
            </a:r>
          </a:p>
        </p:txBody>
      </p:sp>
      <p:sp>
        <p:nvSpPr>
          <p:cNvPr id="35843" name="Rectangle 3"/>
          <p:cNvSpPr>
            <a:spLocks noGrp="1" noChangeArrowheads="1"/>
          </p:cNvSpPr>
          <p:nvPr>
            <p:ph type="body" idx="1"/>
          </p:nvPr>
        </p:nvSpPr>
        <p:spPr/>
        <p:txBody>
          <a:bodyPr/>
          <a:lstStyle/>
          <a:p>
            <a:pPr>
              <a:lnSpc>
                <a:spcPct val="90000"/>
              </a:lnSpc>
              <a:buFontTx/>
              <a:buNone/>
            </a:pPr>
            <a:r>
              <a:rPr lang="en-US" sz="2400" dirty="0" smtClean="0"/>
              <a:t>• High bandwidth memory architecture.</a:t>
            </a:r>
          </a:p>
          <a:p>
            <a:pPr>
              <a:lnSpc>
                <a:spcPct val="90000"/>
              </a:lnSpc>
              <a:buFontTx/>
              <a:buNone/>
            </a:pPr>
            <a:r>
              <a:rPr lang="en-US" sz="2400" dirty="0" smtClean="0"/>
              <a:t>- Use hashing to partition the memory and avoid hot spots.</a:t>
            </a:r>
          </a:p>
          <a:p>
            <a:pPr>
              <a:lnSpc>
                <a:spcPct val="90000"/>
              </a:lnSpc>
              <a:buFontTx/>
              <a:buChar char="-"/>
            </a:pPr>
            <a:r>
              <a:rPr lang="en-US" sz="2400" dirty="0" smtClean="0"/>
              <a:t>Understood, BUT (needed) departure from mainstream practice.</a:t>
            </a:r>
          </a:p>
          <a:p>
            <a:pPr>
              <a:lnSpc>
                <a:spcPct val="90000"/>
              </a:lnSpc>
              <a:buFontTx/>
              <a:buChar char="-"/>
            </a:pPr>
            <a:endParaRPr lang="en-US" sz="2400" dirty="0" smtClean="0"/>
          </a:p>
          <a:p>
            <a:pPr>
              <a:lnSpc>
                <a:spcPct val="90000"/>
              </a:lnSpc>
              <a:buFontTx/>
              <a:buNone/>
            </a:pPr>
            <a:r>
              <a:rPr lang="en-US" sz="2400" dirty="0" smtClean="0"/>
              <a:t>• High bandwidth on-chip interconnects</a:t>
            </a:r>
          </a:p>
          <a:p>
            <a:pPr>
              <a:lnSpc>
                <a:spcPct val="90000"/>
              </a:lnSpc>
              <a:buFontTx/>
              <a:buNone/>
            </a:pPr>
            <a:endParaRPr lang="en-US" sz="2400" dirty="0" smtClean="0"/>
          </a:p>
          <a:p>
            <a:pPr>
              <a:lnSpc>
                <a:spcPct val="90000"/>
              </a:lnSpc>
              <a:buFontTx/>
              <a:buNone/>
            </a:pPr>
            <a:r>
              <a:rPr lang="en-US" sz="2400" dirty="0" smtClean="0"/>
              <a:t>• Allow infrequent global synchronization (with IOS).</a:t>
            </a:r>
          </a:p>
          <a:p>
            <a:pPr>
              <a:lnSpc>
                <a:spcPct val="90000"/>
              </a:lnSpc>
              <a:buFontTx/>
              <a:buNone/>
            </a:pPr>
            <a:r>
              <a:rPr lang="en-US" sz="2400" dirty="0" smtClean="0"/>
              <a:t>Attractive: lower power.</a:t>
            </a:r>
          </a:p>
          <a:p>
            <a:pPr>
              <a:lnSpc>
                <a:spcPct val="90000"/>
              </a:lnSpc>
              <a:buFontTx/>
              <a:buNone/>
            </a:pPr>
            <a:endParaRPr lang="en-US" sz="2400" dirty="0" smtClean="0"/>
          </a:p>
          <a:p>
            <a:pPr>
              <a:lnSpc>
                <a:spcPct val="90000"/>
              </a:lnSpc>
              <a:buFontTx/>
              <a:buNone/>
            </a:pPr>
            <a:r>
              <a:rPr lang="en-US" sz="2400" dirty="0" smtClean="0"/>
              <a:t>• Couple with strong MTCU for serial code.</a:t>
            </a:r>
          </a:p>
          <a:p>
            <a:pPr>
              <a:lnSpc>
                <a:spcPct val="90000"/>
              </a:lnSpc>
              <a:buFontTx/>
              <a:buNone/>
            </a:pPr>
            <a:endParaRPr lang="en-US" sz="2400"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z="4000" dirty="0" smtClean="0"/>
              <a:t>Naming Contest for New Computer</a:t>
            </a:r>
          </a:p>
        </p:txBody>
      </p:sp>
      <p:sp>
        <p:nvSpPr>
          <p:cNvPr id="31747" name="Rectangle 3"/>
          <p:cNvSpPr>
            <a:spLocks noGrp="1" noChangeArrowheads="1"/>
          </p:cNvSpPr>
          <p:nvPr>
            <p:ph type="body" idx="1"/>
          </p:nvPr>
        </p:nvSpPr>
        <p:spPr>
          <a:xfrm>
            <a:off x="0" y="1600200"/>
            <a:ext cx="9144000" cy="4525963"/>
          </a:xfrm>
        </p:spPr>
        <p:txBody>
          <a:bodyPr>
            <a:normAutofit fontScale="92500"/>
          </a:bodyPr>
          <a:lstStyle/>
          <a:p>
            <a:pPr eaLnBrk="1" hangingPunct="1">
              <a:buFont typeface="Wingdings" pitchFamily="2" charset="2"/>
              <a:buChar char="è"/>
              <a:defRPr/>
            </a:pPr>
            <a:r>
              <a:rPr lang="en-US" dirty="0" smtClean="0">
                <a:sym typeface="Wingdings" pitchFamily="2" charset="2"/>
              </a:rPr>
              <a:t>Paraleap</a:t>
            </a:r>
          </a:p>
          <a:p>
            <a:pPr eaLnBrk="1" hangingPunct="1">
              <a:buFontTx/>
              <a:buNone/>
              <a:defRPr/>
            </a:pPr>
            <a:r>
              <a:rPr lang="en-US" dirty="0" smtClean="0">
                <a:sym typeface="Wingdings" pitchFamily="2" charset="2"/>
              </a:rPr>
              <a:t>chosen out of ~6000 submissions</a:t>
            </a:r>
          </a:p>
          <a:p>
            <a:pPr eaLnBrk="1" hangingPunct="1">
              <a:buFontTx/>
              <a:buNone/>
              <a:defRPr/>
            </a:pPr>
            <a:endParaRPr lang="en-US" dirty="0" smtClean="0">
              <a:sym typeface="Wingdings" pitchFamily="2" charset="2"/>
            </a:endParaRPr>
          </a:p>
          <a:p>
            <a:pPr eaLnBrk="1" hangingPunct="1">
              <a:buFontTx/>
              <a:buNone/>
              <a:defRPr/>
            </a:pPr>
            <a:r>
              <a:rPr lang="en-US" dirty="0" smtClean="0"/>
              <a:t>Single (hard working) person (X. Wen) completed synthesizable Verilog description AND the new FPGA-based XMT computer in slightly more than two years.  No prior design experience. Attests to: </a:t>
            </a:r>
            <a:r>
              <a:rPr lang="en-US" dirty="0" smtClean="0">
                <a:solidFill>
                  <a:srgbClr val="FF0000"/>
                </a:solidFill>
              </a:rPr>
              <a:t>basic simplicity of the XMT architecture </a:t>
            </a:r>
            <a:r>
              <a:rPr lang="en-US" dirty="0" smtClean="0">
                <a:solidFill>
                  <a:srgbClr val="FF0000"/>
                </a:solidFill>
                <a:sym typeface="Wingdings" pitchFamily="2" charset="2"/>
              </a:rPr>
              <a:t> f</a:t>
            </a:r>
            <a:r>
              <a:rPr lang="en-US" dirty="0" smtClean="0">
                <a:solidFill>
                  <a:srgbClr val="FF0000"/>
                </a:solidFill>
              </a:rPr>
              <a:t>aster time to market, lower implementation cost.</a:t>
            </a:r>
            <a:endParaRPr lang="en-US" dirty="0" smtClean="0"/>
          </a:p>
          <a:p>
            <a:pPr eaLnBrk="1" hangingPunct="1">
              <a:buFontTx/>
              <a:buNone/>
              <a:defRPr/>
            </a:pPr>
            <a:endParaRPr lang="en-US" dirty="0" smtClean="0"/>
          </a:p>
          <a:p>
            <a:pPr eaLnBrk="1" hangingPunct="1">
              <a:buFontTx/>
              <a:buNone/>
              <a:defRPr/>
            </a:pPr>
            <a:endParaRPr lang="en-US" dirty="0" smtClean="0"/>
          </a:p>
          <a:p>
            <a:pPr eaLnBrk="1" hangingPunct="1">
              <a:buFontTx/>
              <a:buNone/>
              <a:defRPr/>
            </a:pPr>
            <a:endParaRPr lang="en-US"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0"/>
            <a:ext cx="8229600" cy="914400"/>
          </a:xfrm>
        </p:spPr>
        <p:txBody>
          <a:bodyPr/>
          <a:lstStyle/>
          <a:p>
            <a:pPr eaLnBrk="1" hangingPunct="1"/>
            <a:r>
              <a:rPr lang="en-US" dirty="0" smtClean="0"/>
              <a:t>XMT Development – HW Track</a:t>
            </a:r>
          </a:p>
        </p:txBody>
      </p:sp>
      <p:sp>
        <p:nvSpPr>
          <p:cNvPr id="39939" name="Rectangle 3"/>
          <p:cNvSpPr>
            <a:spLocks noGrp="1" noChangeArrowheads="1"/>
          </p:cNvSpPr>
          <p:nvPr>
            <p:ph type="body" idx="1"/>
          </p:nvPr>
        </p:nvSpPr>
        <p:spPr>
          <a:xfrm>
            <a:off x="-381000" y="838200"/>
            <a:ext cx="9525000" cy="6019800"/>
          </a:xfrm>
        </p:spPr>
        <p:txBody>
          <a:bodyPr/>
          <a:lstStyle/>
          <a:p>
            <a:pPr eaLnBrk="1" hangingPunct="1">
              <a:lnSpc>
                <a:spcPct val="90000"/>
              </a:lnSpc>
              <a:buFontTx/>
              <a:buNone/>
            </a:pPr>
            <a:endParaRPr lang="en-US" sz="2400" u="sng" dirty="0" smtClean="0"/>
          </a:p>
          <a:p>
            <a:pPr lvl="1" eaLnBrk="1" hangingPunct="1">
              <a:lnSpc>
                <a:spcPct val="90000"/>
              </a:lnSpc>
            </a:pPr>
            <a:r>
              <a:rPr lang="en-US" sz="2000" b="1" u="sng" dirty="0" smtClean="0"/>
              <a:t>Interconnection network</a:t>
            </a:r>
            <a:r>
              <a:rPr lang="en-US" sz="2000" dirty="0" smtClean="0"/>
              <a:t>. Led so far to:</a:t>
            </a:r>
          </a:p>
          <a:p>
            <a:pPr lvl="1" eaLnBrk="1" hangingPunct="1">
              <a:lnSpc>
                <a:spcPct val="90000"/>
              </a:lnSpc>
              <a:buFont typeface="Wingdings" pitchFamily="-107" charset="2"/>
              <a:buChar char="q"/>
            </a:pPr>
            <a:r>
              <a:rPr lang="en-US" sz="2000" dirty="0" smtClean="0">
                <a:solidFill>
                  <a:srgbClr val="FF0000"/>
                </a:solidFill>
              </a:rPr>
              <a:t>ASAP’06 Best paper award for mesh of trees (MoT) study</a:t>
            </a:r>
          </a:p>
          <a:p>
            <a:pPr lvl="1" eaLnBrk="1" hangingPunct="1">
              <a:lnSpc>
                <a:spcPct val="90000"/>
              </a:lnSpc>
              <a:buFont typeface="Wingdings" pitchFamily="-107" charset="2"/>
              <a:buChar char="q"/>
            </a:pPr>
            <a:r>
              <a:rPr lang="en-US" sz="2000" dirty="0" smtClean="0"/>
              <a:t>Using IBM+Artisan tech files: </a:t>
            </a:r>
            <a:r>
              <a:rPr lang="en-US" sz="2000" dirty="0" smtClean="0">
                <a:solidFill>
                  <a:srgbClr val="FF0000"/>
                </a:solidFill>
              </a:rPr>
              <a:t>4.6 Tbps average output at max frequency (1.3 - 2.1 Tbps for alt networks)!</a:t>
            </a:r>
            <a:r>
              <a:rPr lang="en-US" sz="2000" dirty="0" smtClean="0">
                <a:solidFill>
                  <a:schemeClr val="hlink"/>
                </a:solidFill>
              </a:rPr>
              <a:t> </a:t>
            </a:r>
            <a:r>
              <a:rPr lang="en-US" sz="2000" dirty="0" smtClean="0">
                <a:solidFill>
                  <a:srgbClr val="FF0000"/>
                </a:solidFill>
              </a:rPr>
              <a:t>No way to get such results without such access</a:t>
            </a:r>
          </a:p>
          <a:p>
            <a:pPr lvl="1" eaLnBrk="1" hangingPunct="1">
              <a:lnSpc>
                <a:spcPct val="90000"/>
              </a:lnSpc>
              <a:buFont typeface="Wingdings" pitchFamily="-107" charset="2"/>
              <a:buChar char="q"/>
            </a:pPr>
            <a:r>
              <a:rPr lang="en-US" sz="2000" dirty="0" smtClean="0">
                <a:solidFill>
                  <a:srgbClr val="FF0000"/>
                </a:solidFill>
              </a:rPr>
              <a:t>90nm ASIC tapeout                </a:t>
            </a:r>
          </a:p>
          <a:p>
            <a:pPr eaLnBrk="1" hangingPunct="1">
              <a:lnSpc>
                <a:spcPct val="70000"/>
              </a:lnSpc>
              <a:buFontTx/>
              <a:buNone/>
            </a:pPr>
            <a:r>
              <a:rPr lang="en-US" sz="2400" dirty="0" smtClean="0"/>
              <a:t>       </a:t>
            </a:r>
            <a:r>
              <a:rPr lang="en-US" sz="2000" dirty="0" smtClean="0"/>
              <a:t>Bare die photo of 8-terminal interconnection </a:t>
            </a:r>
          </a:p>
          <a:p>
            <a:pPr eaLnBrk="1" hangingPunct="1">
              <a:lnSpc>
                <a:spcPct val="70000"/>
              </a:lnSpc>
              <a:buFontTx/>
              <a:buNone/>
            </a:pPr>
            <a:r>
              <a:rPr lang="en-US" sz="2000" dirty="0" smtClean="0"/>
              <a:t>       network chip IBM 90nm process, 9mm x 5mm </a:t>
            </a:r>
          </a:p>
          <a:p>
            <a:pPr eaLnBrk="1" hangingPunct="1">
              <a:lnSpc>
                <a:spcPct val="70000"/>
              </a:lnSpc>
              <a:buFontTx/>
              <a:buNone/>
            </a:pPr>
            <a:r>
              <a:rPr lang="en-US" sz="2000" dirty="0" smtClean="0">
                <a:sym typeface="Wingdings" pitchFamily="-107" charset="2"/>
              </a:rPr>
              <a:t>       fabricated (August 2007)</a:t>
            </a:r>
            <a:endParaRPr lang="en-US" sz="2000" dirty="0" smtClean="0">
              <a:solidFill>
                <a:srgbClr val="FF0000"/>
              </a:solidFill>
            </a:endParaRPr>
          </a:p>
          <a:p>
            <a:pPr lvl="1" eaLnBrk="1" hangingPunct="1">
              <a:lnSpc>
                <a:spcPct val="90000"/>
              </a:lnSpc>
            </a:pPr>
            <a:r>
              <a:rPr lang="en-US" sz="2000" dirty="0" smtClean="0"/>
              <a:t>Synthesizable Verilog of the </a:t>
            </a:r>
            <a:r>
              <a:rPr lang="en-US" sz="2000" b="1" u="sng" dirty="0" smtClean="0"/>
              <a:t>whole architecture</a:t>
            </a:r>
            <a:r>
              <a:rPr lang="en-US" sz="2000" dirty="0" smtClean="0"/>
              <a:t>. Led so far to: </a:t>
            </a:r>
          </a:p>
          <a:p>
            <a:pPr lvl="1" eaLnBrk="1" hangingPunct="1">
              <a:lnSpc>
                <a:spcPct val="90000"/>
              </a:lnSpc>
              <a:buFont typeface="Wingdings" pitchFamily="-107" charset="2"/>
              <a:buChar char="q"/>
            </a:pPr>
            <a:r>
              <a:rPr lang="en-US" sz="2000" dirty="0" smtClean="0"/>
              <a:t>Cycle accurate simulator. Slow. </a:t>
            </a:r>
            <a:r>
              <a:rPr lang="en-US" sz="2000" dirty="0" smtClean="0">
                <a:solidFill>
                  <a:srgbClr val="FF0000"/>
                </a:solidFill>
              </a:rPr>
              <a:t>For 11-12K X faster:</a:t>
            </a:r>
          </a:p>
          <a:p>
            <a:pPr lvl="1" eaLnBrk="1" hangingPunct="1">
              <a:lnSpc>
                <a:spcPct val="90000"/>
              </a:lnSpc>
              <a:buFont typeface="Wingdings" pitchFamily="-107" charset="2"/>
              <a:buChar char="q"/>
            </a:pPr>
            <a:r>
              <a:rPr lang="en-US" sz="2000" dirty="0" smtClean="0">
                <a:solidFill>
                  <a:srgbClr val="FF0000"/>
                </a:solidFill>
              </a:rPr>
              <a:t>1</a:t>
            </a:r>
            <a:r>
              <a:rPr lang="en-US" sz="2000" baseline="30000" dirty="0" smtClean="0">
                <a:solidFill>
                  <a:srgbClr val="FF0000"/>
                </a:solidFill>
              </a:rPr>
              <a:t>st</a:t>
            </a:r>
            <a:r>
              <a:rPr lang="en-US" sz="2000" dirty="0" smtClean="0">
                <a:solidFill>
                  <a:srgbClr val="FF0000"/>
                </a:solidFill>
              </a:rPr>
              <a:t> commitment to silicon—64-processor, 75MHz computer</a:t>
            </a:r>
            <a:r>
              <a:rPr lang="en-US" sz="2000" dirty="0" smtClean="0"/>
              <a:t>; uses FPGA: Industry standard for pre-ASIC prototype</a:t>
            </a:r>
          </a:p>
          <a:p>
            <a:pPr lvl="1" eaLnBrk="1" hangingPunct="1">
              <a:lnSpc>
                <a:spcPct val="90000"/>
              </a:lnSpc>
              <a:buFont typeface="Wingdings" pitchFamily="-107" charset="2"/>
              <a:buChar char="q"/>
            </a:pPr>
            <a:r>
              <a:rPr lang="en-US" sz="2000" dirty="0" smtClean="0">
                <a:solidFill>
                  <a:srgbClr val="FF0000"/>
                </a:solidFill>
              </a:rPr>
              <a:t>1</a:t>
            </a:r>
            <a:r>
              <a:rPr lang="en-US" sz="2000" baseline="30000" dirty="0" smtClean="0">
                <a:solidFill>
                  <a:srgbClr val="FF0000"/>
                </a:solidFill>
              </a:rPr>
              <a:t>st</a:t>
            </a:r>
            <a:r>
              <a:rPr lang="en-US" sz="2000" dirty="0" smtClean="0">
                <a:solidFill>
                  <a:srgbClr val="FF0000"/>
                </a:solidFill>
              </a:rPr>
              <a:t> ASIC prototype–</a:t>
            </a:r>
            <a:r>
              <a:rPr lang="en-US" sz="2000" dirty="0" smtClean="0"/>
              <a:t>90nm  10mm x 10mm</a:t>
            </a:r>
          </a:p>
          <a:p>
            <a:pPr lvl="1" eaLnBrk="1" hangingPunct="1">
              <a:lnSpc>
                <a:spcPct val="90000"/>
              </a:lnSpc>
              <a:buFontTx/>
              <a:buNone/>
            </a:pPr>
            <a:r>
              <a:rPr lang="en-US" sz="2000" dirty="0" smtClean="0"/>
              <a:t>	</a:t>
            </a:r>
            <a:r>
              <a:rPr lang="en-US" sz="2000" dirty="0" smtClean="0">
                <a:solidFill>
                  <a:srgbClr val="FF0000"/>
                </a:solidFill>
              </a:rPr>
              <a:t> 64-processor</a:t>
            </a:r>
            <a:r>
              <a:rPr lang="en-US" sz="2000" dirty="0" smtClean="0"/>
              <a:t> tapeout 2008:</a:t>
            </a:r>
            <a:r>
              <a:rPr lang="en-US" sz="2000" dirty="0" smtClean="0">
                <a:solidFill>
                  <a:srgbClr val="FF0000"/>
                </a:solidFill>
              </a:rPr>
              <a:t> 4</a:t>
            </a:r>
            <a:r>
              <a:rPr lang="en-US" sz="2000" dirty="0" smtClean="0"/>
              <a:t> grad students </a:t>
            </a:r>
          </a:p>
        </p:txBody>
      </p:sp>
      <p:pic>
        <p:nvPicPr>
          <p:cNvPr id="39940" name="Picture 4" descr="Image0809-1232(S-Video)"/>
          <p:cNvPicPr>
            <a:picLocks noChangeAspect="1" noChangeArrowheads="1"/>
          </p:cNvPicPr>
          <p:nvPr/>
        </p:nvPicPr>
        <p:blipFill>
          <a:blip r:embed="rId3" cstate="print"/>
          <a:srcRect/>
          <a:stretch>
            <a:fillRect/>
          </a:stretch>
        </p:blipFill>
        <p:spPr bwMode="auto">
          <a:xfrm>
            <a:off x="6934200" y="2590800"/>
            <a:ext cx="2057400" cy="1143000"/>
          </a:xfrm>
          <a:prstGeom prst="rect">
            <a:avLst/>
          </a:prstGeom>
          <a:noFill/>
          <a:ln w="9525">
            <a:noFill/>
            <a:miter lim="800000"/>
            <a:headEnd/>
            <a:tailEnd/>
          </a:ln>
        </p:spPr>
      </p:pic>
      <p:pic>
        <p:nvPicPr>
          <p:cNvPr id="39941" name="Picture 5" descr="xmtASIC10-08.JPG"/>
          <p:cNvPicPr>
            <a:picLocks noChangeAspect="1"/>
          </p:cNvPicPr>
          <p:nvPr/>
        </p:nvPicPr>
        <p:blipFill>
          <a:blip r:embed="rId4" cstate="print"/>
          <a:srcRect/>
          <a:stretch>
            <a:fillRect/>
          </a:stretch>
        </p:blipFill>
        <p:spPr bwMode="auto">
          <a:xfrm>
            <a:off x="7010400" y="4724400"/>
            <a:ext cx="213360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0"/>
            <a:ext cx="8229600" cy="914400"/>
          </a:xfrm>
        </p:spPr>
        <p:txBody>
          <a:bodyPr/>
          <a:lstStyle/>
          <a:p>
            <a:pPr eaLnBrk="1" hangingPunct="1"/>
            <a:r>
              <a:rPr lang="en-US" dirty="0" smtClean="0"/>
              <a:t>Bottom Line </a:t>
            </a:r>
          </a:p>
        </p:txBody>
      </p:sp>
      <p:sp>
        <p:nvSpPr>
          <p:cNvPr id="40963" name="Rectangle 3"/>
          <p:cNvSpPr>
            <a:spLocks noGrp="1" noChangeArrowheads="1"/>
          </p:cNvSpPr>
          <p:nvPr>
            <p:ph type="body" idx="1"/>
          </p:nvPr>
        </p:nvSpPr>
        <p:spPr>
          <a:xfrm>
            <a:off x="0" y="838200"/>
            <a:ext cx="9144000" cy="2286000"/>
          </a:xfrm>
        </p:spPr>
        <p:txBody>
          <a:bodyPr/>
          <a:lstStyle/>
          <a:p>
            <a:pPr eaLnBrk="1" hangingPunct="1">
              <a:buFontTx/>
              <a:buNone/>
            </a:pPr>
            <a:r>
              <a:rPr lang="en-US" sz="2800" dirty="0" smtClean="0"/>
              <a:t>Cures a potentially fatal problem for growth of general-purpose processors: How to program them for single task completion time?</a:t>
            </a:r>
          </a:p>
          <a:p>
            <a:pPr eaLnBrk="1" hangingPunct="1">
              <a:buFontTx/>
              <a:buNone/>
            </a:pPr>
            <a:endParaRPr lang="en-US" sz="2800" dirty="0" smtClean="0"/>
          </a:p>
        </p:txBody>
      </p:sp>
      <p:sp>
        <p:nvSpPr>
          <p:cNvPr id="40964" name="Text Box 4"/>
          <p:cNvSpPr txBox="1">
            <a:spLocks noChangeArrowheads="1"/>
          </p:cNvSpPr>
          <p:nvPr/>
        </p:nvSpPr>
        <p:spPr bwMode="auto">
          <a:xfrm>
            <a:off x="0" y="2971800"/>
            <a:ext cx="9144000" cy="457200"/>
          </a:xfrm>
          <a:prstGeom prst="rect">
            <a:avLst/>
          </a:prstGeom>
          <a:noFill/>
          <a:ln w="9525">
            <a:noFill/>
            <a:miter lim="800000"/>
            <a:headEnd/>
            <a:tailEnd/>
          </a:ln>
        </p:spPr>
        <p:txBody>
          <a:bodyPr>
            <a:spAutoFit/>
          </a:bodyPr>
          <a:lstStyle/>
          <a:p>
            <a:endParaRPr lang="en-US" sz="24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0" y="0"/>
            <a:ext cx="9144000" cy="990600"/>
          </a:xfrm>
        </p:spPr>
        <p:txBody>
          <a:bodyPr/>
          <a:lstStyle/>
          <a:p>
            <a:pPr eaLnBrk="1" hangingPunct="1"/>
            <a:r>
              <a:rPr lang="en-US" dirty="0" smtClean="0"/>
              <a:t>Positive record</a:t>
            </a:r>
          </a:p>
        </p:txBody>
      </p:sp>
      <p:sp>
        <p:nvSpPr>
          <p:cNvPr id="41987" name="Rectangle 3"/>
          <p:cNvSpPr>
            <a:spLocks noGrp="1" noChangeArrowheads="1"/>
          </p:cNvSpPr>
          <p:nvPr>
            <p:ph type="body" idx="1"/>
          </p:nvPr>
        </p:nvSpPr>
        <p:spPr>
          <a:xfrm>
            <a:off x="0" y="990600"/>
            <a:ext cx="9144000" cy="5867400"/>
          </a:xfrm>
        </p:spPr>
        <p:txBody>
          <a:bodyPr/>
          <a:lstStyle/>
          <a:p>
            <a:pPr eaLnBrk="1" hangingPunct="1">
              <a:buFontTx/>
              <a:buNone/>
            </a:pPr>
            <a:r>
              <a:rPr lang="en-US" dirty="0" smtClean="0"/>
              <a:t>                           Proposal            Over-Delivering</a:t>
            </a:r>
          </a:p>
          <a:p>
            <a:pPr eaLnBrk="1" hangingPunct="1">
              <a:buFontTx/>
              <a:buNone/>
            </a:pPr>
            <a:r>
              <a:rPr lang="en-US" dirty="0" smtClean="0"/>
              <a:t>NSF ‘97-’02    experimental algs. architecture </a:t>
            </a:r>
          </a:p>
          <a:p>
            <a:pPr eaLnBrk="1" hangingPunct="1">
              <a:buFontTx/>
              <a:buNone/>
            </a:pPr>
            <a:r>
              <a:rPr lang="en-US" dirty="0" smtClean="0"/>
              <a:t>NSF 2003-8    arch. simulator      silicon (FPGA)</a:t>
            </a:r>
          </a:p>
          <a:p>
            <a:pPr eaLnBrk="1" hangingPunct="1">
              <a:buFontTx/>
              <a:buNone/>
            </a:pPr>
            <a:r>
              <a:rPr lang="en-US" dirty="0" smtClean="0"/>
              <a:t>DoD 2005-7    FPGA                    FPGA+2 ASICs</a:t>
            </a:r>
            <a:endParaRPr lang="en-US" dirty="0" smtClean="0">
              <a:solidFill>
                <a:schemeClr val="hlink"/>
              </a:solidFill>
            </a:endParaRPr>
          </a:p>
          <a:p>
            <a:pPr eaLnBrk="1" hangingPunct="1">
              <a:buFontTx/>
              <a:buNone/>
            </a:pPr>
            <a:endParaRPr lang="en-US" dirty="0" smtClean="0"/>
          </a:p>
          <a:p>
            <a:pPr eaLnBrk="1" hangingPunct="1">
              <a:buFontTx/>
              <a:buNone/>
            </a:pPr>
            <a:endParaRPr lang="en-US" dirty="0" smtClean="0"/>
          </a:p>
          <a:p>
            <a:pPr eaLnBrk="1" hangingPunct="1">
              <a:buFontTx/>
              <a:buNone/>
            </a:pPr>
            <a:endParaRPr lang="en-US"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0"/>
            <a:ext cx="9144000" cy="762000"/>
          </a:xfrm>
        </p:spPr>
        <p:txBody>
          <a:bodyPr/>
          <a:lstStyle/>
          <a:p>
            <a:pPr eaLnBrk="1" hangingPunct="1"/>
            <a:r>
              <a:rPr lang="en-US" sz="3200" dirty="0" smtClean="0"/>
              <a:t>Final thought: Created our own coherent planet</a:t>
            </a:r>
          </a:p>
        </p:txBody>
      </p:sp>
      <p:sp>
        <p:nvSpPr>
          <p:cNvPr id="43011" name="Rectangle 3"/>
          <p:cNvSpPr>
            <a:spLocks noGrp="1" noChangeArrowheads="1"/>
          </p:cNvSpPr>
          <p:nvPr>
            <p:ph type="body" idx="1"/>
          </p:nvPr>
        </p:nvSpPr>
        <p:spPr>
          <a:xfrm>
            <a:off x="0" y="838200"/>
            <a:ext cx="9144000" cy="6019800"/>
          </a:xfrm>
        </p:spPr>
        <p:txBody>
          <a:bodyPr/>
          <a:lstStyle/>
          <a:p>
            <a:pPr eaLnBrk="1" hangingPunct="1"/>
            <a:r>
              <a:rPr lang="en-US" dirty="0" smtClean="0"/>
              <a:t>When was the last time that a university project offered a (separate) algorithms class on own language, using own compiler and own computer? </a:t>
            </a:r>
          </a:p>
          <a:p>
            <a:pPr eaLnBrk="1" hangingPunct="1"/>
            <a:r>
              <a:rPr lang="en-US" dirty="0" smtClean="0"/>
              <a:t>Colleagues could not provide an example since at least the 1950s. Have we missed anything?</a:t>
            </a:r>
          </a:p>
          <a:p>
            <a:pPr eaLnBrk="1" hangingPunct="1">
              <a:buFontTx/>
              <a:buNone/>
            </a:pPr>
            <a:endParaRPr lang="en-US" dirty="0" smtClean="0"/>
          </a:p>
          <a:p>
            <a:pPr eaLnBrk="1" hangingPunct="1">
              <a:buFontTx/>
              <a:buNone/>
            </a:pPr>
            <a:r>
              <a:rPr lang="en-US" dirty="0" smtClean="0"/>
              <a:t>For more info:</a:t>
            </a:r>
          </a:p>
          <a:p>
            <a:pPr eaLnBrk="1" hangingPunct="1">
              <a:buFontTx/>
              <a:buNone/>
            </a:pPr>
            <a:r>
              <a:rPr lang="en-US" dirty="0" smtClean="0">
                <a:hlinkClick r:id="rId3"/>
              </a:rPr>
              <a:t>http://www.umiacs.umd.edu/users/vishkin/XMT/</a:t>
            </a:r>
            <a:endParaRPr lang="en-US" dirty="0" smtClean="0"/>
          </a:p>
          <a:p>
            <a:pPr eaLnBrk="1" hangingPunct="1">
              <a:buFontTx/>
              <a:buNone/>
            </a:pPr>
            <a:r>
              <a:rPr lang="en-US" dirty="0" smtClean="0"/>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0"/>
            <a:ext cx="8229600" cy="609600"/>
          </a:xfrm>
        </p:spPr>
        <p:txBody>
          <a:bodyPr rtlCol="0">
            <a:normAutofit fontScale="90000"/>
          </a:bodyPr>
          <a:lstStyle/>
          <a:p>
            <a:pPr eaLnBrk="1" fontAlgn="auto" hangingPunct="1">
              <a:spcAft>
                <a:spcPts val="0"/>
              </a:spcAft>
              <a:defRPr/>
            </a:pPr>
            <a:r>
              <a:rPr lang="en-US" sz="3600" u="sng" dirty="0" smtClean="0"/>
              <a:t>Merging: Example for Algorithm </a:t>
            </a:r>
            <a:r>
              <a:rPr lang="en-US" sz="3600" u="sng" dirty="0" smtClean="0">
                <a:solidFill>
                  <a:srgbClr val="FF0000"/>
                </a:solidFill>
              </a:rPr>
              <a:t>&amp; Program</a:t>
            </a:r>
          </a:p>
        </p:txBody>
      </p:sp>
      <p:sp>
        <p:nvSpPr>
          <p:cNvPr id="13315" name="Rectangle 3"/>
          <p:cNvSpPr>
            <a:spLocks noGrp="1" noChangeArrowheads="1"/>
          </p:cNvSpPr>
          <p:nvPr>
            <p:ph type="body" idx="1"/>
          </p:nvPr>
        </p:nvSpPr>
        <p:spPr>
          <a:xfrm>
            <a:off x="0" y="685800"/>
            <a:ext cx="9144000" cy="6172200"/>
          </a:xfrm>
        </p:spPr>
        <p:txBody>
          <a:bodyPr/>
          <a:lstStyle/>
          <a:p>
            <a:pPr marL="457200" indent="-457200" eaLnBrk="1" hangingPunct="1">
              <a:lnSpc>
                <a:spcPct val="90000"/>
              </a:lnSpc>
              <a:buFontTx/>
              <a:buNone/>
              <a:defRPr/>
            </a:pPr>
            <a:r>
              <a:rPr lang="en-US" sz="2400" dirty="0" smtClean="0"/>
              <a:t>Input: Two arrays A[1. . n], B[1. . n]; elements from a totally ordered domain S. Each array is monotonically non-decreasing.</a:t>
            </a:r>
          </a:p>
          <a:p>
            <a:pPr marL="457200" indent="-457200" eaLnBrk="1" hangingPunct="1">
              <a:lnSpc>
                <a:spcPct val="90000"/>
              </a:lnSpc>
              <a:buFontTx/>
              <a:buNone/>
              <a:defRPr/>
            </a:pPr>
            <a:r>
              <a:rPr lang="en-US" sz="2400" dirty="0" smtClean="0"/>
              <a:t>Merging: map each of these elements into a monotonically non-decreasing array C[1..2n] </a:t>
            </a:r>
          </a:p>
          <a:p>
            <a:pPr marL="457200" indent="-457200" eaLnBrk="1" hangingPunct="1">
              <a:lnSpc>
                <a:spcPct val="90000"/>
              </a:lnSpc>
              <a:buFontTx/>
              <a:buNone/>
              <a:defRPr/>
            </a:pPr>
            <a:endParaRPr lang="en-US" sz="2400" dirty="0" smtClean="0"/>
          </a:p>
          <a:p>
            <a:pPr algn="ctr" eaLnBrk="1" fontAlgn="auto" hangingPunct="1">
              <a:lnSpc>
                <a:spcPct val="90000"/>
              </a:lnSpc>
              <a:spcAft>
                <a:spcPts val="0"/>
              </a:spcAft>
              <a:buFont typeface="Arial" pitchFamily="34" charset="0"/>
              <a:buNone/>
              <a:defRPr/>
            </a:pPr>
            <a:r>
              <a:rPr lang="en-US" sz="2400" u="sng" dirty="0" smtClean="0"/>
              <a:t>Serial Merging algorithm</a:t>
            </a:r>
            <a:endParaRPr lang="en-US" sz="2400" u="sng" dirty="0" smtClean="0">
              <a:sym typeface="Wingdings" pitchFamily="2" charset="2"/>
            </a:endParaRPr>
          </a:p>
          <a:p>
            <a:pPr marL="533400" indent="-533400" eaLnBrk="1" fontAlgn="auto" hangingPunct="1">
              <a:lnSpc>
                <a:spcPct val="90000"/>
              </a:lnSpc>
              <a:spcAft>
                <a:spcPts val="0"/>
              </a:spcAft>
              <a:buFont typeface="Arial" pitchFamily="34" charset="0"/>
              <a:buNone/>
              <a:defRPr/>
            </a:pPr>
            <a:r>
              <a:rPr lang="en-US" sz="2400" dirty="0" smtClean="0"/>
              <a:t>SERIAL − RANK(A[1 . . ];B[1. .])</a:t>
            </a:r>
          </a:p>
          <a:p>
            <a:pPr marL="533400" indent="-533400" eaLnBrk="1" fontAlgn="auto" hangingPunct="1">
              <a:lnSpc>
                <a:spcPct val="90000"/>
              </a:lnSpc>
              <a:spcAft>
                <a:spcPts val="0"/>
              </a:spcAft>
              <a:buFont typeface="Arial" pitchFamily="34" charset="0"/>
              <a:buNone/>
              <a:defRPr/>
            </a:pPr>
            <a:r>
              <a:rPr lang="en-US" sz="2400" dirty="0" smtClean="0"/>
              <a:t>Starting from A(1) and B(1), in each round:</a:t>
            </a:r>
          </a:p>
          <a:p>
            <a:pPr marL="533400" indent="-533400" eaLnBrk="1" fontAlgn="auto" hangingPunct="1">
              <a:lnSpc>
                <a:spcPct val="90000"/>
              </a:lnSpc>
              <a:spcAft>
                <a:spcPts val="0"/>
              </a:spcAft>
              <a:buFontTx/>
              <a:buAutoNum type="arabicPeriod"/>
              <a:defRPr/>
            </a:pPr>
            <a:r>
              <a:rPr lang="en-US" sz="2400" dirty="0" smtClean="0"/>
              <a:t>compare an element from A with an element of B</a:t>
            </a:r>
          </a:p>
          <a:p>
            <a:pPr marL="533400" indent="-533400" eaLnBrk="1" fontAlgn="auto" hangingPunct="1">
              <a:lnSpc>
                <a:spcPct val="90000"/>
              </a:lnSpc>
              <a:spcAft>
                <a:spcPts val="0"/>
              </a:spcAft>
              <a:buFontTx/>
              <a:buAutoNum type="arabicPeriod"/>
              <a:defRPr/>
            </a:pPr>
            <a:r>
              <a:rPr lang="en-US" sz="2400" dirty="0" smtClean="0"/>
              <a:t>determine the rank of the smaller among them</a:t>
            </a:r>
          </a:p>
          <a:p>
            <a:pPr marL="533400" indent="-533400" eaLnBrk="1" fontAlgn="auto" hangingPunct="1">
              <a:lnSpc>
                <a:spcPct val="90000"/>
              </a:lnSpc>
              <a:spcAft>
                <a:spcPts val="0"/>
              </a:spcAft>
              <a:buFont typeface="Arial" pitchFamily="34" charset="0"/>
              <a:buNone/>
              <a:defRPr/>
            </a:pPr>
            <a:r>
              <a:rPr lang="en-US" sz="2400" dirty="0" smtClean="0"/>
              <a:t>Complexity: O(n) time (and O(n) work...)</a:t>
            </a:r>
          </a:p>
          <a:p>
            <a:pPr marL="457200" indent="-457200" eaLnBrk="1" hangingPunct="1">
              <a:lnSpc>
                <a:spcPct val="90000"/>
              </a:lnSpc>
              <a:buFontTx/>
              <a:buNone/>
              <a:defRPr/>
            </a:pPr>
            <a:endParaRPr lang="en-US" sz="2400" dirty="0" smtClean="0"/>
          </a:p>
          <a:p>
            <a:pPr marL="457200" indent="-457200" eaLnBrk="1" hangingPunct="1">
              <a:lnSpc>
                <a:spcPct val="90000"/>
              </a:lnSpc>
              <a:buFontTx/>
              <a:buNone/>
              <a:defRPr/>
            </a:pPr>
            <a:r>
              <a:rPr lang="en-US" sz="2400" u="sng" dirty="0" smtClean="0"/>
              <a:t>PRAM Challenge</a:t>
            </a:r>
            <a:r>
              <a:rPr lang="en-US" sz="2400" dirty="0" smtClean="0"/>
              <a:t>: O(n) work, least time</a:t>
            </a:r>
          </a:p>
          <a:p>
            <a:pPr marL="457200" indent="-457200" eaLnBrk="1" hangingPunct="1">
              <a:lnSpc>
                <a:spcPct val="90000"/>
              </a:lnSpc>
              <a:buFontTx/>
              <a:buNone/>
              <a:defRPr/>
            </a:pPr>
            <a:r>
              <a:rPr lang="en-US" sz="2400" u="sng" dirty="0" smtClean="0"/>
              <a:t>Also (new)</a:t>
            </a:r>
            <a:r>
              <a:rPr lang="en-US" sz="2400" dirty="0" smtClean="0"/>
              <a:t>: fewest spawn-joins</a:t>
            </a:r>
          </a:p>
          <a:p>
            <a:pPr marL="457200" indent="-457200" algn="ctr" eaLnBrk="1" hangingPunct="1">
              <a:lnSpc>
                <a:spcPct val="90000"/>
              </a:lnSpc>
              <a:buFontTx/>
              <a:buNone/>
              <a:defRPr/>
            </a:pPr>
            <a:endParaRPr lang="en-US" sz="2400"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sz="4000" dirty="0" smtClean="0"/>
              <a:t>Merging algorithm (cont’d) </a:t>
            </a:r>
          </a:p>
        </p:txBody>
      </p:sp>
      <p:sp>
        <p:nvSpPr>
          <p:cNvPr id="57347" name="Rectangle 3"/>
          <p:cNvSpPr>
            <a:spLocks noGrp="1" noChangeArrowheads="1"/>
          </p:cNvSpPr>
          <p:nvPr>
            <p:ph type="body" idx="1"/>
          </p:nvPr>
        </p:nvSpPr>
        <p:spPr>
          <a:xfrm>
            <a:off x="0" y="685800"/>
            <a:ext cx="9144000" cy="6172200"/>
          </a:xfrm>
        </p:spPr>
        <p:txBody>
          <a:bodyPr rtlCol="0">
            <a:normAutofit/>
          </a:bodyPr>
          <a:lstStyle/>
          <a:p>
            <a:pPr algn="ctr" eaLnBrk="1" fontAlgn="auto" hangingPunct="1">
              <a:lnSpc>
                <a:spcPct val="90000"/>
              </a:lnSpc>
              <a:spcAft>
                <a:spcPts val="0"/>
              </a:spcAft>
              <a:buFont typeface="Arial" pitchFamily="34" charset="0"/>
              <a:buNone/>
              <a:defRPr/>
            </a:pPr>
            <a:r>
              <a:rPr lang="en-US" sz="2800" u="sng" dirty="0" smtClean="0">
                <a:sym typeface="Wingdings" pitchFamily="2" charset="2"/>
              </a:rPr>
              <a:t>“Surplus-log” parallel algorithm for  Merging/Ranking</a:t>
            </a:r>
            <a:r>
              <a:rPr lang="en-US" sz="2800" dirty="0" smtClean="0">
                <a:sym typeface="Wingdings" pitchFamily="2" charset="2"/>
              </a:rPr>
              <a:t> </a:t>
            </a:r>
          </a:p>
          <a:p>
            <a:pPr eaLnBrk="1" fontAlgn="auto" hangingPunct="1">
              <a:lnSpc>
                <a:spcPct val="90000"/>
              </a:lnSpc>
              <a:spcAft>
                <a:spcPts val="0"/>
              </a:spcAft>
              <a:buFont typeface="Arial" pitchFamily="34" charset="0"/>
              <a:buNone/>
              <a:defRPr/>
            </a:pPr>
            <a:r>
              <a:rPr lang="en-US" sz="2800" dirty="0" smtClean="0">
                <a:sym typeface="Wingdings" pitchFamily="2" charset="2"/>
              </a:rPr>
              <a:t>for 1 ≤ i ≤ n pardo</a:t>
            </a:r>
          </a:p>
          <a:p>
            <a:pPr eaLnBrk="1" fontAlgn="auto" hangingPunct="1">
              <a:lnSpc>
                <a:spcPct val="90000"/>
              </a:lnSpc>
              <a:spcAft>
                <a:spcPts val="0"/>
              </a:spcAft>
              <a:buFont typeface="Arial" pitchFamily="34" charset="0"/>
              <a:buChar char="•"/>
              <a:defRPr/>
            </a:pPr>
            <a:r>
              <a:rPr lang="en-US" sz="2800" dirty="0" smtClean="0">
                <a:sym typeface="Wingdings" pitchFamily="2" charset="2"/>
              </a:rPr>
              <a:t>Compute RANK(i,B) using standard binary search </a:t>
            </a:r>
          </a:p>
          <a:p>
            <a:pPr eaLnBrk="1" fontAlgn="auto" hangingPunct="1">
              <a:lnSpc>
                <a:spcPct val="90000"/>
              </a:lnSpc>
              <a:spcAft>
                <a:spcPts val="0"/>
              </a:spcAft>
              <a:buFont typeface="Arial" pitchFamily="34" charset="0"/>
              <a:buChar char="•"/>
              <a:defRPr/>
            </a:pPr>
            <a:r>
              <a:rPr lang="en-US" sz="2800" dirty="0" smtClean="0">
                <a:sym typeface="Wingdings" pitchFamily="2" charset="2"/>
              </a:rPr>
              <a:t>Compute RANK(i,A) using binary search</a:t>
            </a:r>
          </a:p>
          <a:p>
            <a:pPr eaLnBrk="1" fontAlgn="auto" hangingPunct="1">
              <a:lnSpc>
                <a:spcPct val="90000"/>
              </a:lnSpc>
              <a:spcAft>
                <a:spcPts val="0"/>
              </a:spcAft>
              <a:buFont typeface="Arial" pitchFamily="34" charset="0"/>
              <a:buNone/>
              <a:defRPr/>
            </a:pPr>
            <a:r>
              <a:rPr lang="en-US" sz="2800" dirty="0" smtClean="0">
                <a:sym typeface="Wingdings" pitchFamily="2" charset="2"/>
              </a:rPr>
              <a:t>Complexity: W=(O(n log n), T=O(log n)</a:t>
            </a:r>
          </a:p>
          <a:p>
            <a:pPr marL="457200" indent="-457200" algn="ctr" eaLnBrk="1" hangingPunct="1">
              <a:lnSpc>
                <a:spcPct val="90000"/>
              </a:lnSpc>
              <a:buFontTx/>
              <a:buNone/>
              <a:defRPr/>
            </a:pPr>
            <a:r>
              <a:rPr lang="en-US" sz="4000" u="sng" dirty="0" smtClean="0"/>
              <a:t>The partitioning paradigm</a:t>
            </a:r>
            <a:r>
              <a:rPr lang="en-US" sz="2800" dirty="0" smtClean="0"/>
              <a:t> </a:t>
            </a:r>
          </a:p>
          <a:p>
            <a:pPr marL="457200" indent="-457200" eaLnBrk="1" hangingPunct="1">
              <a:lnSpc>
                <a:spcPct val="90000"/>
              </a:lnSpc>
              <a:buFontTx/>
              <a:buNone/>
              <a:defRPr/>
            </a:pPr>
            <a:r>
              <a:rPr lang="en-US" sz="2800" dirty="0" smtClean="0"/>
              <a:t>n: input size for a problem. Design a 2-stage parallel algorithm:</a:t>
            </a:r>
          </a:p>
          <a:p>
            <a:pPr marL="457200" indent="-457200" eaLnBrk="1" hangingPunct="1">
              <a:lnSpc>
                <a:spcPct val="90000"/>
              </a:lnSpc>
              <a:buFontTx/>
              <a:buAutoNum type="arabicPeriod"/>
              <a:defRPr/>
            </a:pPr>
            <a:r>
              <a:rPr lang="en-US" sz="2800" dirty="0" smtClean="0"/>
              <a:t>Partition the input into a large number, say p, of independent small jobs AND size of the largest small job is roughly n/p.</a:t>
            </a:r>
          </a:p>
          <a:p>
            <a:pPr marL="457200" indent="-457200" eaLnBrk="1" hangingPunct="1">
              <a:lnSpc>
                <a:spcPct val="90000"/>
              </a:lnSpc>
              <a:buFontTx/>
              <a:buAutoNum type="arabicPeriod"/>
              <a:defRPr/>
            </a:pPr>
            <a:r>
              <a:rPr lang="en-US" sz="2800" dirty="0" smtClean="0"/>
              <a:t>Actual work - do the small jobs concurrently, using a separate (possibly serial) algorithm for each.</a:t>
            </a:r>
            <a:endParaRPr lang="en-US" sz="2800" dirty="0" smtClean="0">
              <a:sym typeface="Wingdings" pitchFamily="2" charset="2"/>
            </a:endParaRPr>
          </a:p>
          <a:p>
            <a:pPr eaLnBrk="1" fontAlgn="auto" hangingPunct="1">
              <a:lnSpc>
                <a:spcPct val="90000"/>
              </a:lnSpc>
              <a:spcAft>
                <a:spcPts val="0"/>
              </a:spcAft>
              <a:buFontTx/>
              <a:buNone/>
              <a:defRPr/>
            </a:pPr>
            <a:endParaRPr lang="en-US" sz="2800" dirty="0" smtClean="0">
              <a:sym typeface="Wingdings" pitchFamily="2" charset="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28600" y="0"/>
            <a:ext cx="9601200" cy="762000"/>
          </a:xfrm>
        </p:spPr>
        <p:txBody>
          <a:bodyPr rtlCol="0">
            <a:normAutofit fontScale="90000"/>
          </a:bodyPr>
          <a:lstStyle/>
          <a:p>
            <a:pPr eaLnBrk="1" fontAlgn="auto" hangingPunct="1">
              <a:spcAft>
                <a:spcPts val="0"/>
              </a:spcAft>
              <a:defRPr/>
            </a:pPr>
            <a:r>
              <a:rPr lang="en-US" sz="3600" dirty="0" smtClean="0"/>
              <a:t>Linear work parallel merging: </a:t>
            </a:r>
            <a:r>
              <a:rPr lang="en-US" sz="3600" u="sng" dirty="0" smtClean="0"/>
              <a:t>using a </a:t>
            </a:r>
            <a:r>
              <a:rPr lang="en-US" sz="3600" b="1" u="sng" dirty="0" smtClean="0"/>
              <a:t>single</a:t>
            </a:r>
            <a:r>
              <a:rPr lang="en-US" sz="3600" u="sng" dirty="0" smtClean="0"/>
              <a:t> spawn</a:t>
            </a:r>
          </a:p>
        </p:txBody>
      </p:sp>
      <p:sp>
        <p:nvSpPr>
          <p:cNvPr id="59395" name="Rectangle 3"/>
          <p:cNvSpPr>
            <a:spLocks noGrp="1" noChangeArrowheads="1"/>
          </p:cNvSpPr>
          <p:nvPr>
            <p:ph type="body" idx="1"/>
          </p:nvPr>
        </p:nvSpPr>
        <p:spPr>
          <a:xfrm>
            <a:off x="0" y="685800"/>
            <a:ext cx="8686800" cy="6172200"/>
          </a:xfrm>
        </p:spPr>
        <p:txBody>
          <a:bodyPr rtlCol="0">
            <a:normAutofit fontScale="85000" lnSpcReduction="20000"/>
          </a:bodyPr>
          <a:lstStyle/>
          <a:p>
            <a:pPr eaLnBrk="1" fontAlgn="auto" hangingPunct="1">
              <a:spcAft>
                <a:spcPts val="0"/>
              </a:spcAft>
              <a:buFontTx/>
              <a:buNone/>
              <a:defRPr/>
            </a:pPr>
            <a:r>
              <a:rPr lang="en-US" sz="2400" u="sng" dirty="0" smtClean="0"/>
              <a:t>Stage 1 of algorithm: Partitioning</a:t>
            </a:r>
            <a:r>
              <a:rPr lang="en-US" sz="2400" dirty="0" smtClean="0"/>
              <a:t> </a:t>
            </a:r>
            <a:r>
              <a:rPr lang="en-US" sz="2400" dirty="0" smtClean="0">
                <a:sym typeface="Wingdings" pitchFamily="2" charset="2"/>
              </a:rPr>
              <a:t>for 1 ≤ i ≤ n/p pardo [p &lt;= n/log and p | n]</a:t>
            </a:r>
          </a:p>
          <a:p>
            <a:pPr eaLnBrk="1" fontAlgn="auto" hangingPunct="1">
              <a:spcAft>
                <a:spcPts val="0"/>
              </a:spcAft>
              <a:buFont typeface="Arial" pitchFamily="34" charset="0"/>
              <a:buChar char="•"/>
              <a:defRPr/>
            </a:pPr>
            <a:r>
              <a:rPr lang="en-US" sz="2400" dirty="0" smtClean="0">
                <a:sym typeface="Wingdings" pitchFamily="2" charset="2"/>
              </a:rPr>
              <a:t>b(i):=RANK(p(i-1) + 1),B) using binary search </a:t>
            </a:r>
          </a:p>
          <a:p>
            <a:pPr eaLnBrk="1" fontAlgn="auto" hangingPunct="1">
              <a:spcAft>
                <a:spcPts val="0"/>
              </a:spcAft>
              <a:buFont typeface="Arial" pitchFamily="34" charset="0"/>
              <a:buChar char="•"/>
              <a:defRPr/>
            </a:pPr>
            <a:r>
              <a:rPr lang="en-US" sz="2400" dirty="0" smtClean="0">
                <a:sym typeface="Wingdings" pitchFamily="2" charset="2"/>
              </a:rPr>
              <a:t>a(i):=RANK(p(i-1) + 1),A) using binary search</a:t>
            </a:r>
          </a:p>
          <a:p>
            <a:pPr eaLnBrk="1" fontAlgn="auto" hangingPunct="1">
              <a:spcAft>
                <a:spcPts val="0"/>
              </a:spcAft>
              <a:buFontTx/>
              <a:buNone/>
              <a:defRPr/>
            </a:pPr>
            <a:r>
              <a:rPr lang="en-US" sz="2400" u="sng" dirty="0" smtClean="0">
                <a:sym typeface="Wingdings" pitchFamily="2" charset="2"/>
              </a:rPr>
              <a:t>Stage 2 of algorithm: Actual work </a:t>
            </a:r>
          </a:p>
          <a:p>
            <a:pPr eaLnBrk="1" fontAlgn="auto" hangingPunct="1">
              <a:spcAft>
                <a:spcPts val="0"/>
              </a:spcAft>
              <a:buFontTx/>
              <a:buNone/>
              <a:defRPr/>
            </a:pPr>
            <a:r>
              <a:rPr lang="en-US" sz="2400" u="sng" dirty="0" smtClean="0">
                <a:sym typeface="Wingdings" pitchFamily="2" charset="2"/>
              </a:rPr>
              <a:t>Observe</a:t>
            </a:r>
            <a:r>
              <a:rPr lang="en-US" sz="2400" dirty="0" smtClean="0">
                <a:sym typeface="Wingdings" pitchFamily="2" charset="2"/>
              </a:rPr>
              <a:t> Overall ranking task broken into 2p independent “slices”.</a:t>
            </a:r>
          </a:p>
          <a:p>
            <a:pPr eaLnBrk="1" fontAlgn="auto" hangingPunct="1">
              <a:spcAft>
                <a:spcPts val="0"/>
              </a:spcAft>
              <a:buFontTx/>
              <a:buNone/>
              <a:defRPr/>
            </a:pPr>
            <a:r>
              <a:rPr lang="en-US" sz="2400" u="sng" dirty="0" smtClean="0">
                <a:sym typeface="Wingdings" pitchFamily="2" charset="2"/>
              </a:rPr>
              <a:t>Example of a slice</a:t>
            </a:r>
          </a:p>
          <a:p>
            <a:pPr eaLnBrk="1" fontAlgn="auto" hangingPunct="1">
              <a:spcAft>
                <a:spcPts val="0"/>
              </a:spcAft>
              <a:buFontTx/>
              <a:buNone/>
              <a:defRPr/>
            </a:pPr>
            <a:r>
              <a:rPr lang="en-US" sz="2400" dirty="0" smtClean="0">
                <a:sym typeface="Wingdings" pitchFamily="2" charset="2"/>
              </a:rPr>
              <a:t>Start at A(p(i-1) +1) and B(b(i)).</a:t>
            </a:r>
          </a:p>
          <a:p>
            <a:pPr eaLnBrk="1" fontAlgn="auto" hangingPunct="1">
              <a:spcAft>
                <a:spcPts val="0"/>
              </a:spcAft>
              <a:buFontTx/>
              <a:buNone/>
              <a:defRPr/>
            </a:pPr>
            <a:r>
              <a:rPr lang="en-US" sz="2400" dirty="0" smtClean="0">
                <a:sym typeface="Wingdings" pitchFamily="2" charset="2"/>
              </a:rPr>
              <a:t>Using serial ranking advance till:</a:t>
            </a:r>
          </a:p>
          <a:p>
            <a:pPr eaLnBrk="1" fontAlgn="auto" hangingPunct="1">
              <a:spcAft>
                <a:spcPts val="0"/>
              </a:spcAft>
              <a:buFontTx/>
              <a:buNone/>
              <a:defRPr/>
            </a:pPr>
            <a:r>
              <a:rPr lang="en-US" sz="2400" u="sng" dirty="0" smtClean="0">
                <a:sym typeface="Wingdings" pitchFamily="2" charset="2"/>
              </a:rPr>
              <a:t>Termination condition</a:t>
            </a:r>
          </a:p>
          <a:p>
            <a:pPr eaLnBrk="1" fontAlgn="auto" hangingPunct="1">
              <a:spcAft>
                <a:spcPts val="0"/>
              </a:spcAft>
              <a:buFontTx/>
              <a:buNone/>
              <a:defRPr/>
            </a:pPr>
            <a:r>
              <a:rPr lang="en-US" sz="2400" dirty="0" smtClean="0">
                <a:sym typeface="Wingdings" pitchFamily="2" charset="2"/>
              </a:rPr>
              <a:t>Either some A(pi+1) or some B(jp+1) loses</a:t>
            </a:r>
          </a:p>
          <a:p>
            <a:pPr eaLnBrk="1" fontAlgn="auto" hangingPunct="1">
              <a:spcAft>
                <a:spcPts val="0"/>
              </a:spcAft>
              <a:buFontTx/>
              <a:buNone/>
              <a:defRPr/>
            </a:pPr>
            <a:r>
              <a:rPr lang="en-US" sz="2400" u="sng" dirty="0" smtClean="0">
                <a:solidFill>
                  <a:srgbClr val="FF0000"/>
                </a:solidFill>
                <a:sym typeface="Wingdings" pitchFamily="2" charset="2"/>
              </a:rPr>
              <a:t>Parallel program</a:t>
            </a:r>
            <a:r>
              <a:rPr lang="en-US" sz="2400" dirty="0" smtClean="0">
                <a:solidFill>
                  <a:srgbClr val="FF0000"/>
                </a:solidFill>
                <a:sym typeface="Wingdings" pitchFamily="2" charset="2"/>
              </a:rPr>
              <a:t> 2p concurrent threads</a:t>
            </a:r>
          </a:p>
          <a:p>
            <a:pPr eaLnBrk="1" fontAlgn="auto" hangingPunct="1">
              <a:spcAft>
                <a:spcPts val="0"/>
              </a:spcAft>
              <a:buFontTx/>
              <a:buNone/>
              <a:defRPr/>
            </a:pPr>
            <a:r>
              <a:rPr lang="en-US" sz="2400" dirty="0" smtClean="0">
                <a:solidFill>
                  <a:srgbClr val="FF0000"/>
                </a:solidFill>
                <a:sym typeface="Wingdings" pitchFamily="2" charset="2"/>
              </a:rPr>
              <a:t>using  a </a:t>
            </a:r>
            <a:r>
              <a:rPr lang="en-US" sz="2400" b="1" dirty="0" smtClean="0">
                <a:solidFill>
                  <a:srgbClr val="FF0000"/>
                </a:solidFill>
                <a:sym typeface="Wingdings" pitchFamily="2" charset="2"/>
              </a:rPr>
              <a:t>single spawn-join for the </a:t>
            </a:r>
            <a:r>
              <a:rPr lang="en-US" sz="2400" b="1" u="sng" dirty="0" smtClean="0">
                <a:solidFill>
                  <a:srgbClr val="FF0000"/>
                </a:solidFill>
                <a:sym typeface="Wingdings" pitchFamily="2" charset="2"/>
              </a:rPr>
              <a:t>whole</a:t>
            </a:r>
          </a:p>
          <a:p>
            <a:pPr eaLnBrk="1" fontAlgn="auto" hangingPunct="1">
              <a:spcAft>
                <a:spcPts val="0"/>
              </a:spcAft>
              <a:buFontTx/>
              <a:buNone/>
              <a:defRPr/>
            </a:pPr>
            <a:r>
              <a:rPr lang="en-US" sz="2400" b="1" u="sng" dirty="0" smtClean="0">
                <a:solidFill>
                  <a:srgbClr val="FF0000"/>
                </a:solidFill>
                <a:sym typeface="Wingdings" pitchFamily="2" charset="2"/>
              </a:rPr>
              <a:t>algorithm</a:t>
            </a:r>
            <a:r>
              <a:rPr lang="en-US" sz="2400" b="1" dirty="0" smtClean="0">
                <a:solidFill>
                  <a:srgbClr val="FF0000"/>
                </a:solidFill>
                <a:sym typeface="Wingdings" pitchFamily="2" charset="2"/>
              </a:rPr>
              <a:t> </a:t>
            </a:r>
          </a:p>
          <a:p>
            <a:pPr eaLnBrk="1" fontAlgn="auto" hangingPunct="1">
              <a:spcAft>
                <a:spcPts val="0"/>
              </a:spcAft>
              <a:buFontTx/>
              <a:buNone/>
              <a:defRPr/>
            </a:pPr>
            <a:r>
              <a:rPr lang="en-US" sz="2400" u="sng" dirty="0" smtClean="0">
                <a:sym typeface="Wingdings" pitchFamily="2" charset="2"/>
              </a:rPr>
              <a:t>Example</a:t>
            </a:r>
            <a:r>
              <a:rPr lang="en-US" sz="2400" dirty="0" smtClean="0">
                <a:sym typeface="Wingdings" pitchFamily="2" charset="2"/>
              </a:rPr>
              <a:t> </a:t>
            </a:r>
            <a:r>
              <a:rPr lang="en-US" sz="2400" b="1" dirty="0" smtClean="0">
                <a:sym typeface="Wingdings" pitchFamily="2" charset="2"/>
              </a:rPr>
              <a:t>Thread of 20</a:t>
            </a:r>
            <a:r>
              <a:rPr lang="en-US" sz="2400" dirty="0" smtClean="0">
                <a:sym typeface="Wingdings" pitchFamily="2" charset="2"/>
              </a:rPr>
              <a:t>: Binary search B.</a:t>
            </a:r>
          </a:p>
          <a:p>
            <a:pPr eaLnBrk="1" fontAlgn="auto" hangingPunct="1">
              <a:spcAft>
                <a:spcPts val="0"/>
              </a:spcAft>
              <a:buFontTx/>
              <a:buNone/>
              <a:defRPr/>
            </a:pPr>
            <a:r>
              <a:rPr lang="en-US" sz="2400" dirty="0" smtClean="0">
                <a:sym typeface="Wingdings" pitchFamily="2" charset="2"/>
              </a:rPr>
              <a:t>Rank as 11 (index of 15 in B) + 9 (index of</a:t>
            </a:r>
          </a:p>
          <a:p>
            <a:pPr eaLnBrk="1" fontAlgn="auto" hangingPunct="1">
              <a:spcAft>
                <a:spcPts val="0"/>
              </a:spcAft>
              <a:buFontTx/>
              <a:buNone/>
              <a:defRPr/>
            </a:pPr>
            <a:r>
              <a:rPr lang="en-US" sz="2400" dirty="0" smtClean="0">
                <a:sym typeface="Wingdings" pitchFamily="2" charset="2"/>
              </a:rPr>
              <a:t>20 in A). Then: compare 21 to 22 and rank </a:t>
            </a:r>
          </a:p>
          <a:p>
            <a:pPr eaLnBrk="1" fontAlgn="auto" hangingPunct="1">
              <a:spcAft>
                <a:spcPts val="0"/>
              </a:spcAft>
              <a:buFontTx/>
              <a:buNone/>
              <a:defRPr/>
            </a:pPr>
            <a:r>
              <a:rPr lang="en-US" sz="2400" dirty="0" smtClean="0">
                <a:sym typeface="Wingdings" pitchFamily="2" charset="2"/>
              </a:rPr>
              <a:t>21; compare 23 to 22 to rank 22; compare 23 </a:t>
            </a:r>
          </a:p>
          <a:p>
            <a:pPr eaLnBrk="1" fontAlgn="auto" hangingPunct="1">
              <a:spcAft>
                <a:spcPts val="0"/>
              </a:spcAft>
              <a:buFontTx/>
              <a:buNone/>
              <a:defRPr/>
            </a:pPr>
            <a:r>
              <a:rPr lang="en-US" sz="2400" dirty="0" smtClean="0">
                <a:sym typeface="Wingdings" pitchFamily="2" charset="2"/>
              </a:rPr>
              <a:t>to 24 to rank 23; compare 24 to 25, but terminate</a:t>
            </a:r>
          </a:p>
          <a:p>
            <a:pPr eaLnBrk="1" fontAlgn="auto" hangingPunct="1">
              <a:spcAft>
                <a:spcPts val="0"/>
              </a:spcAft>
              <a:buFontTx/>
              <a:buNone/>
              <a:defRPr/>
            </a:pPr>
            <a:r>
              <a:rPr lang="en-US" sz="2400" dirty="0" smtClean="0">
                <a:sym typeface="Wingdings" pitchFamily="2" charset="2"/>
              </a:rPr>
              <a:t>since the Thread of 24 will rank 24.</a:t>
            </a:r>
          </a:p>
        </p:txBody>
      </p:sp>
      <p:pic>
        <p:nvPicPr>
          <p:cNvPr id="16388" name="Picture 4" descr="r7-aux"/>
          <p:cNvPicPr>
            <a:picLocks noChangeAspect="1" noChangeArrowheads="1"/>
          </p:cNvPicPr>
          <p:nvPr/>
        </p:nvPicPr>
        <p:blipFill>
          <a:blip r:embed="rId3" cstate="print"/>
          <a:srcRect/>
          <a:stretch>
            <a:fillRect/>
          </a:stretch>
        </p:blipFill>
        <p:spPr bwMode="auto">
          <a:xfrm>
            <a:off x="5334000" y="2590800"/>
            <a:ext cx="38100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0"/>
            <a:ext cx="8229600" cy="914400"/>
          </a:xfrm>
        </p:spPr>
        <p:txBody>
          <a:bodyPr/>
          <a:lstStyle/>
          <a:p>
            <a:pPr eaLnBrk="1" hangingPunct="1"/>
            <a:r>
              <a:rPr lang="en-US" sz="3600" dirty="0" smtClean="0"/>
              <a:t>Linear work parallel merging (cont’d)</a:t>
            </a:r>
          </a:p>
        </p:txBody>
      </p:sp>
      <p:sp>
        <p:nvSpPr>
          <p:cNvPr id="60419" name="Rectangle 3"/>
          <p:cNvSpPr>
            <a:spLocks noGrp="1" noChangeArrowheads="1"/>
          </p:cNvSpPr>
          <p:nvPr>
            <p:ph type="body" idx="1"/>
          </p:nvPr>
        </p:nvSpPr>
        <p:spPr>
          <a:xfrm>
            <a:off x="0" y="990600"/>
            <a:ext cx="9144000" cy="5135563"/>
          </a:xfrm>
        </p:spPr>
        <p:txBody>
          <a:bodyPr rtlCol="0">
            <a:normAutofit lnSpcReduction="10000"/>
          </a:bodyPr>
          <a:lstStyle/>
          <a:p>
            <a:pPr eaLnBrk="1" fontAlgn="auto" hangingPunct="1">
              <a:spcAft>
                <a:spcPts val="0"/>
              </a:spcAft>
              <a:buFontTx/>
              <a:buNone/>
              <a:defRPr/>
            </a:pPr>
            <a:r>
              <a:rPr lang="en-US" sz="2400" u="sng" dirty="0" smtClean="0">
                <a:sym typeface="Wingdings" pitchFamily="2" charset="2"/>
              </a:rPr>
              <a:t>Observation</a:t>
            </a:r>
            <a:r>
              <a:rPr lang="en-US" sz="2400" dirty="0" smtClean="0">
                <a:sym typeface="Wingdings" pitchFamily="2" charset="2"/>
              </a:rPr>
              <a:t> 2p slices. </a:t>
            </a:r>
            <a:r>
              <a:rPr lang="en-US" sz="2400" u="sng" dirty="0" smtClean="0">
                <a:sym typeface="Wingdings" pitchFamily="2" charset="2"/>
              </a:rPr>
              <a:t>None larger than 2n/p</a:t>
            </a:r>
            <a:r>
              <a:rPr lang="en-US" sz="2400" dirty="0" smtClean="0">
                <a:sym typeface="Wingdings" pitchFamily="2" charset="2"/>
              </a:rPr>
              <a:t>. </a:t>
            </a:r>
          </a:p>
          <a:p>
            <a:pPr eaLnBrk="1" fontAlgn="auto" hangingPunct="1">
              <a:spcAft>
                <a:spcPts val="0"/>
              </a:spcAft>
              <a:buFontTx/>
              <a:buNone/>
              <a:defRPr/>
            </a:pPr>
            <a:r>
              <a:rPr lang="en-US" sz="2400" dirty="0" smtClean="0">
                <a:sym typeface="Wingdings" pitchFamily="2" charset="2"/>
              </a:rPr>
              <a:t>(not too bad since average is 2n/2p=n/p)</a:t>
            </a:r>
          </a:p>
          <a:p>
            <a:pPr eaLnBrk="1" fontAlgn="auto" hangingPunct="1">
              <a:spcAft>
                <a:spcPts val="0"/>
              </a:spcAft>
              <a:buFont typeface="Arial" pitchFamily="34" charset="0"/>
              <a:buNone/>
              <a:defRPr/>
            </a:pPr>
            <a:r>
              <a:rPr lang="en-US" sz="2400" u="sng" dirty="0" smtClean="0">
                <a:sym typeface="Wingdings" pitchFamily="2" charset="2"/>
              </a:rPr>
              <a:t>Complexity</a:t>
            </a:r>
            <a:r>
              <a:rPr lang="en-US" sz="2400" dirty="0" smtClean="0">
                <a:sym typeface="Wingdings" pitchFamily="2" charset="2"/>
              </a:rPr>
              <a:t> Partitioning takes W=O(p log n), and T=O(log n) time, or O(n) work and O(log n) time, for p &lt;= n/log n. </a:t>
            </a:r>
          </a:p>
          <a:p>
            <a:pPr eaLnBrk="1" fontAlgn="auto" hangingPunct="1">
              <a:spcAft>
                <a:spcPts val="0"/>
              </a:spcAft>
              <a:buFont typeface="Arial" pitchFamily="34" charset="0"/>
              <a:buNone/>
              <a:defRPr/>
            </a:pPr>
            <a:r>
              <a:rPr lang="en-US" sz="2400" dirty="0" smtClean="0">
                <a:sym typeface="Wingdings" pitchFamily="2" charset="2"/>
              </a:rPr>
              <a:t>	Actual work employs 2p serial algorithms, each takes O(n/p) time. </a:t>
            </a:r>
          </a:p>
          <a:p>
            <a:pPr eaLnBrk="1" fontAlgn="auto" hangingPunct="1">
              <a:spcAft>
                <a:spcPts val="0"/>
              </a:spcAft>
              <a:buFontTx/>
              <a:buNone/>
              <a:defRPr/>
            </a:pPr>
            <a:r>
              <a:rPr lang="en-US" sz="2400" dirty="0" smtClean="0">
                <a:sym typeface="Wingdings" pitchFamily="2" charset="2"/>
              </a:rPr>
              <a:t>	</a:t>
            </a:r>
            <a:r>
              <a:rPr lang="en-US" sz="2400" u="sng" dirty="0" smtClean="0">
                <a:sym typeface="Wingdings" pitchFamily="2" charset="2"/>
              </a:rPr>
              <a:t>Total</a:t>
            </a:r>
            <a:r>
              <a:rPr lang="en-US" sz="2400" dirty="0" smtClean="0">
                <a:sym typeface="Wingdings" pitchFamily="2" charset="2"/>
              </a:rPr>
              <a:t> W=O(n), and T=O(n/p), for p &lt;= n/log n.</a:t>
            </a:r>
          </a:p>
          <a:p>
            <a:pPr eaLnBrk="1" fontAlgn="auto" hangingPunct="1">
              <a:spcAft>
                <a:spcPts val="0"/>
              </a:spcAft>
              <a:buFontTx/>
              <a:buNone/>
              <a:defRPr/>
            </a:pPr>
            <a:endParaRPr lang="en-US" sz="2400" dirty="0" smtClean="0">
              <a:sym typeface="Wingdings" pitchFamily="2" charset="2"/>
            </a:endParaRPr>
          </a:p>
          <a:p>
            <a:pPr algn="ctr" eaLnBrk="1" fontAlgn="auto" hangingPunct="1">
              <a:spcAft>
                <a:spcPts val="0"/>
              </a:spcAft>
              <a:buFontTx/>
              <a:buNone/>
              <a:defRPr/>
            </a:pPr>
            <a:r>
              <a:rPr lang="en-US" sz="2400" u="sng" dirty="0" smtClean="0">
                <a:solidFill>
                  <a:srgbClr val="FF0000"/>
                </a:solidFill>
                <a:sym typeface="Wingdings" pitchFamily="2" charset="2"/>
              </a:rPr>
              <a:t>IMPORTANT: Correctness &amp; complexity of parallel program</a:t>
            </a:r>
            <a:endParaRPr lang="en-US" sz="2400" dirty="0" smtClean="0">
              <a:solidFill>
                <a:srgbClr val="FF0000"/>
              </a:solidFill>
              <a:sym typeface="Wingdings" pitchFamily="2" charset="2"/>
            </a:endParaRPr>
          </a:p>
          <a:p>
            <a:pPr eaLnBrk="1" fontAlgn="auto" hangingPunct="1">
              <a:spcAft>
                <a:spcPts val="0"/>
              </a:spcAft>
              <a:buFontTx/>
              <a:buNone/>
              <a:defRPr/>
            </a:pPr>
            <a:r>
              <a:rPr lang="en-US" dirty="0" smtClean="0">
                <a:solidFill>
                  <a:srgbClr val="FF0000"/>
                </a:solidFill>
                <a:sym typeface="Wingdings" pitchFamily="2" charset="2"/>
              </a:rPr>
              <a:t>	</a:t>
            </a:r>
            <a:r>
              <a:rPr lang="en-US" sz="2400" b="1" u="sng" dirty="0" smtClean="0">
                <a:solidFill>
                  <a:srgbClr val="FF0000"/>
                </a:solidFill>
                <a:sym typeface="Wingdings" pitchFamily="2" charset="2"/>
              </a:rPr>
              <a:t>Same</a:t>
            </a:r>
            <a:r>
              <a:rPr lang="en-US" sz="2400" dirty="0" smtClean="0">
                <a:solidFill>
                  <a:srgbClr val="FF0000"/>
                </a:solidFill>
                <a:sym typeface="Wingdings" pitchFamily="2" charset="2"/>
              </a:rPr>
              <a:t> as for algorithm.</a:t>
            </a:r>
          </a:p>
          <a:p>
            <a:pPr eaLnBrk="1" fontAlgn="auto" hangingPunct="1">
              <a:spcAft>
                <a:spcPts val="0"/>
              </a:spcAft>
              <a:buFontTx/>
              <a:buNone/>
              <a:defRPr/>
            </a:pPr>
            <a:r>
              <a:rPr lang="en-US" sz="2400" dirty="0" smtClean="0">
                <a:solidFill>
                  <a:srgbClr val="FF0000"/>
                </a:solidFill>
                <a:sym typeface="Wingdings" pitchFamily="2" charset="2"/>
              </a:rPr>
              <a:t>	This is a </a:t>
            </a:r>
            <a:r>
              <a:rPr lang="en-US" sz="2400" u="sng" dirty="0" smtClean="0">
                <a:solidFill>
                  <a:srgbClr val="FF0000"/>
                </a:solidFill>
                <a:sym typeface="Wingdings" pitchFamily="2" charset="2"/>
              </a:rPr>
              <a:t>big deal</a:t>
            </a:r>
            <a:r>
              <a:rPr lang="en-US" sz="2400" dirty="0" smtClean="0">
                <a:solidFill>
                  <a:srgbClr val="FF0000"/>
                </a:solidFill>
                <a:sym typeface="Wingdings" pitchFamily="2" charset="2"/>
              </a:rPr>
              <a:t>. Other parallel programming approaches do not have a simple concurrency model, and need to reason w.r.t. the program.</a:t>
            </a:r>
            <a:endParaRPr lang="en-US" sz="2400" u="sng" dirty="0" smtClean="0">
              <a:solidFill>
                <a:srgbClr val="FF0000"/>
              </a:solidFill>
              <a:sym typeface="Wingdings" pitchFamily="2" charset="2"/>
            </a:endParaRPr>
          </a:p>
          <a:p>
            <a:pPr eaLnBrk="1" fontAlgn="auto" hangingPunct="1">
              <a:spcAft>
                <a:spcPts val="0"/>
              </a:spcAft>
              <a:buFontTx/>
              <a:buNone/>
              <a:defRPr/>
            </a:pPr>
            <a:endParaRPr lang="en-US" sz="2400" dirty="0" smtClean="0">
              <a:sym typeface="Wingdings" pitchFamily="2" charset="2"/>
            </a:endParaRPr>
          </a:p>
          <a:p>
            <a:pPr eaLnBrk="1" fontAlgn="auto" hangingPunct="1">
              <a:spcAft>
                <a:spcPts val="0"/>
              </a:spcAft>
              <a:buFontTx/>
              <a:buChar char="-"/>
              <a:defRPr/>
            </a:pPr>
            <a:endParaRPr lang="en-US" sz="2400" dirty="0" smtClean="0">
              <a:sym typeface="Wingdings" pitchFamily="2" charset="2"/>
            </a:endParaRPr>
          </a:p>
          <a:p>
            <a:pPr eaLnBrk="1" fontAlgn="auto" hangingPunct="1">
              <a:spcAft>
                <a:spcPts val="0"/>
              </a:spcAft>
              <a:buFont typeface="Arial" pitchFamily="34" charset="0"/>
              <a:buChar char="•"/>
              <a:defRPr/>
            </a:pPr>
            <a:endParaRPr lang="en-US"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93675</TotalTime>
  <Words>6618</Words>
  <Application>Microsoft Macintosh PowerPoint</Application>
  <PresentationFormat>On-screen Show (4:3)</PresentationFormat>
  <Paragraphs>701</Paragraphs>
  <Slides>55</Slides>
  <Notes>51</Notes>
  <HiddenSlides>0</HiddenSlides>
  <MMClips>0</MMClips>
  <ScaleCrop>false</ScaleCrop>
  <HeadingPairs>
    <vt:vector size="4" baseType="variant">
      <vt:variant>
        <vt:lpstr>Design Template</vt:lpstr>
      </vt:variant>
      <vt:variant>
        <vt:i4>1</vt:i4>
      </vt:variant>
      <vt:variant>
        <vt:lpstr>Slide Titles</vt:lpstr>
      </vt:variant>
      <vt:variant>
        <vt:i4>55</vt:i4>
      </vt:variant>
    </vt:vector>
  </HeadingPairs>
  <TitlesOfParts>
    <vt:vector size="56" baseType="lpstr">
      <vt:lpstr>Default Design</vt:lpstr>
      <vt:lpstr>Using Simple Abstraction to Guide the  Reinvention of Computing for Parallelism</vt:lpstr>
      <vt:lpstr>Commodity computer systems</vt:lpstr>
      <vt:lpstr> Conclusion of Coming Intro Slide(s)</vt:lpstr>
      <vt:lpstr>An “application dreamer”: between a rock and a hard place</vt:lpstr>
      <vt:lpstr>Membership in Intel Academic Community</vt:lpstr>
      <vt:lpstr>Lessons from Invention of Computing</vt:lpstr>
      <vt:lpstr>How was the “non-specificity” addressed? </vt:lpstr>
      <vt:lpstr>Serial Abstraction &amp; A Parallel Counterpart</vt:lpstr>
      <vt:lpstr>Not behind GvN47 in 1947</vt:lpstr>
      <vt:lpstr>Slide 10</vt:lpstr>
      <vt:lpstr>Talk from 30K feet</vt:lpstr>
      <vt:lpstr>Versus Serial &amp; Other Parallel   1st Example: Exchange Problem  </vt:lpstr>
      <vt:lpstr>Slide 13</vt:lpstr>
      <vt:lpstr>Slide 14</vt:lpstr>
      <vt:lpstr>Slide 15</vt:lpstr>
      <vt:lpstr>Slide 16</vt:lpstr>
      <vt:lpstr>Slide 17</vt:lpstr>
      <vt:lpstr>Slide 18</vt:lpstr>
      <vt:lpstr>Programmer’s Model as Workflow</vt:lpstr>
      <vt:lpstr>Snapshot: XMT High-level language</vt:lpstr>
      <vt:lpstr>XMT-C</vt:lpstr>
      <vt:lpstr>XMT Assembly Language</vt:lpstr>
      <vt:lpstr>Workflow from parallel algorithms to programming versus trial-and-error</vt:lpstr>
      <vt:lpstr>What difference do we hope to make? Productivity in Parallel Computing</vt:lpstr>
      <vt:lpstr>Many-Cores are Productivity Limited </vt:lpstr>
      <vt:lpstr>XMT (Explicit Multi-Threading):  A PRAM-On-Chip Vision</vt:lpstr>
      <vt:lpstr>Slide 27</vt:lpstr>
      <vt:lpstr>XMT Architecture Overview</vt:lpstr>
      <vt:lpstr>Ease of Programming</vt:lpstr>
      <vt:lpstr>Middle School Summer Camp Class Picture, July’09 (20 of 22 students)</vt:lpstr>
      <vt:lpstr>Software release</vt:lpstr>
      <vt:lpstr>But, what is the performance penalty for easy programming? Surprise benefit! vs. GPU [HotPar10]</vt:lpstr>
      <vt:lpstr>Problem acronyms</vt:lpstr>
      <vt:lpstr>Few more experimental results</vt:lpstr>
      <vt:lpstr>Q&amp;A</vt:lpstr>
      <vt:lpstr>Conclusion</vt:lpstr>
      <vt:lpstr>Current Participants</vt:lpstr>
      <vt:lpstr>Backup slides</vt:lpstr>
      <vt:lpstr>How does it work and what should people know to participate</vt:lpstr>
      <vt:lpstr>Slide 40</vt:lpstr>
      <vt:lpstr>Slide 41</vt:lpstr>
      <vt:lpstr>Slide 42</vt:lpstr>
      <vt:lpstr>ISA</vt:lpstr>
      <vt:lpstr>The Memory Wall</vt:lpstr>
      <vt:lpstr>Some supporting evidence (12/2007)</vt:lpstr>
      <vt:lpstr>Memory architecture, interconnects</vt:lpstr>
      <vt:lpstr>Naming Contest for New Computer</vt:lpstr>
      <vt:lpstr>XMT Development – HW Track</vt:lpstr>
      <vt:lpstr>Bottom Line </vt:lpstr>
      <vt:lpstr>Positive record</vt:lpstr>
      <vt:lpstr>Final thought: Created our own coherent planet</vt:lpstr>
      <vt:lpstr>Merging: Example for Algorithm &amp; Program</vt:lpstr>
      <vt:lpstr>Merging algorithm (cont’d) </vt:lpstr>
      <vt:lpstr>Linear work parallel merging: using a single spawn</vt:lpstr>
      <vt:lpstr>Linear work parallel merging (cont’d)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Uzi Vishkin</cp:lastModifiedBy>
  <cp:revision>2016</cp:revision>
  <cp:lastPrinted>1601-01-01T00:00:00Z</cp:lastPrinted>
  <dcterms:created xsi:type="dcterms:W3CDTF">2010-06-01T16:02:35Z</dcterms:created>
  <dcterms:modified xsi:type="dcterms:W3CDTF">2010-06-01T16:28:40Z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