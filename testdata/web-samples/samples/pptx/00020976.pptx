
<file path=[Content_Types].xml><?xml version="1.0" encoding="utf-8"?>
<Types xmlns="http://schemas.openxmlformats.org/package/2006/content-types">
  <Default Extension="xml" ContentType="application/xml"/>
  <Default Extension="jpg" ContentType="image/jpeg"/>
  <Default Extension="jpeg" ContentType="image/jpeg"/>
  <Default Extension="emf" ContentType="image/x-emf"/>
  <Default Extension="xlsx" ContentType="application/vnd.openxmlformats-officedocument.spreadsheetml.sheet"/>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60" r:id="rId3"/>
    <p:sldId id="263" r:id="rId4"/>
    <p:sldId id="261" r:id="rId5"/>
    <p:sldId id="264" r:id="rId6"/>
    <p:sldId id="267" r:id="rId7"/>
    <p:sldId id="265" r:id="rId8"/>
    <p:sldId id="266" r:id="rId9"/>
    <p:sldId id="268" r:id="rId10"/>
    <p:sldId id="269" r:id="rId11"/>
    <p:sldId id="270" r:id="rId12"/>
    <p:sldId id="27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328" y="-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00918985113557"/>
          <c:y val="0.136699504207761"/>
          <c:w val="0.540032243045366"/>
          <c:h val="0.808743912851741"/>
        </c:manualLayout>
      </c:layout>
      <c:pieChart>
        <c:varyColors val="1"/>
        <c:ser>
          <c:idx val="0"/>
          <c:order val="0"/>
          <c:tx>
            <c:strRef>
              <c:f>Sheet1!$B$1</c:f>
              <c:strCache>
                <c:ptCount val="1"/>
                <c:pt idx="0">
                  <c:v>Sales</c:v>
                </c:pt>
              </c:strCache>
            </c:strRef>
          </c:tx>
          <c:explosion val="25"/>
          <c:dPt>
            <c:idx val="0"/>
            <c:bubble3D val="0"/>
            <c:explosion val="0"/>
            <c:spPr>
              <a:solidFill>
                <a:schemeClr val="accent6">
                  <a:lumMod val="75000"/>
                </a:schemeClr>
              </a:solidFill>
            </c:spPr>
          </c:dPt>
          <c:dPt>
            <c:idx val="1"/>
            <c:bubble3D val="0"/>
            <c:spPr>
              <a:solidFill>
                <a:schemeClr val="bg1">
                  <a:lumMod val="85000"/>
                </a:schemeClr>
              </a:solidFill>
            </c:spPr>
          </c:dPt>
          <c:dLbls>
            <c:showLegendKey val="0"/>
            <c:showVal val="1"/>
            <c:showCatName val="0"/>
            <c:showSerName val="0"/>
            <c:showPercent val="0"/>
            <c:showBubbleSize val="0"/>
            <c:showLeaderLines val="1"/>
          </c:dLbls>
          <c:cat>
            <c:strRef>
              <c:f>Sheet1!$A$2:$A$3</c:f>
              <c:strCache>
                <c:ptCount val="2"/>
                <c:pt idx="0">
                  <c:v>Yes</c:v>
                </c:pt>
                <c:pt idx="1">
                  <c:v>No</c:v>
                </c:pt>
              </c:strCache>
            </c:strRef>
          </c:cat>
          <c:val>
            <c:numRef>
              <c:f>Sheet1!$B$2:$B$3</c:f>
              <c:numCache>
                <c:formatCode>0%</c:formatCode>
                <c:ptCount val="2"/>
                <c:pt idx="0">
                  <c:v>0.57</c:v>
                </c:pt>
                <c:pt idx="1">
                  <c:v>0.43</c:v>
                </c:pt>
              </c:numCache>
            </c:numRef>
          </c:val>
        </c:ser>
        <c:dLbls>
          <c:showLegendKey val="0"/>
          <c:showVal val="0"/>
          <c:showCatName val="0"/>
          <c:showSerName val="0"/>
          <c:showPercent val="0"/>
          <c:showBubbleSize val="0"/>
          <c:showLeaderLines val="1"/>
        </c:dLbls>
        <c:firstSliceAng val="0"/>
      </c:pieChart>
    </c:plotArea>
    <c:legend>
      <c:legendPos val="r"/>
      <c:layout/>
      <c:overlay val="0"/>
    </c:legend>
    <c:plotVisOnly val="1"/>
    <c:dispBlanksAs val="gap"/>
    <c:showDLblsOverMax val="0"/>
  </c:chart>
  <c:spPr>
    <a:ln>
      <a:solidFill>
        <a:schemeClr val="bg1">
          <a:lumMod val="50000"/>
        </a:schemeClr>
      </a:solidFill>
      <a:prstDash val="sysDash"/>
    </a:ln>
  </c:spPr>
  <c:txPr>
    <a:bodyPr/>
    <a:lstStyle/>
    <a:p>
      <a:pPr>
        <a:defRPr sz="12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6">
                <a:lumMod val="75000"/>
              </a:schemeClr>
            </a:solidFill>
          </c:spPr>
          <c:invertIfNegative val="0"/>
          <c:dPt>
            <c:idx val="1"/>
            <c:invertIfNegative val="0"/>
            <c:bubble3D val="0"/>
            <c:spPr>
              <a:solidFill>
                <a:schemeClr val="accent6">
                  <a:lumMod val="75000"/>
                </a:schemeClr>
              </a:solidFill>
            </c:spPr>
          </c:dPt>
          <c:dLbls>
            <c:showLegendKey val="0"/>
            <c:showVal val="1"/>
            <c:showCatName val="0"/>
            <c:showSerName val="0"/>
            <c:showPercent val="0"/>
            <c:showBubbleSize val="0"/>
            <c:showLeaderLines val="0"/>
          </c:dLbls>
          <c:cat>
            <c:strRef>
              <c:f>Sheet1!$A$2:$A$3</c:f>
              <c:strCache>
                <c:ptCount val="2"/>
                <c:pt idx="0">
                  <c:v>Yes</c:v>
                </c:pt>
                <c:pt idx="1">
                  <c:v>No</c:v>
                </c:pt>
              </c:strCache>
            </c:strRef>
          </c:cat>
          <c:val>
            <c:numRef>
              <c:f>Sheet1!$B$2:$B$3</c:f>
              <c:numCache>
                <c:formatCode>0%</c:formatCode>
                <c:ptCount val="2"/>
                <c:pt idx="0">
                  <c:v>0.94</c:v>
                </c:pt>
                <c:pt idx="1">
                  <c:v>0.06</c:v>
                </c:pt>
              </c:numCache>
            </c:numRef>
          </c:val>
        </c:ser>
        <c:dLbls>
          <c:showLegendKey val="0"/>
          <c:showVal val="0"/>
          <c:showCatName val="0"/>
          <c:showSerName val="0"/>
          <c:showPercent val="0"/>
          <c:showBubbleSize val="0"/>
        </c:dLbls>
        <c:gapWidth val="150"/>
        <c:axId val="-2006690536"/>
        <c:axId val="-2027190200"/>
      </c:barChart>
      <c:catAx>
        <c:axId val="-2006690536"/>
        <c:scaling>
          <c:orientation val="minMax"/>
        </c:scaling>
        <c:delete val="0"/>
        <c:axPos val="b"/>
        <c:majorTickMark val="out"/>
        <c:minorTickMark val="none"/>
        <c:tickLblPos val="nextTo"/>
        <c:crossAx val="-2027190200"/>
        <c:crosses val="autoZero"/>
        <c:auto val="1"/>
        <c:lblAlgn val="ctr"/>
        <c:lblOffset val="100"/>
        <c:noMultiLvlLbl val="0"/>
      </c:catAx>
      <c:valAx>
        <c:axId val="-2027190200"/>
        <c:scaling>
          <c:orientation val="minMax"/>
        </c:scaling>
        <c:delete val="1"/>
        <c:axPos val="l"/>
        <c:numFmt formatCode="0%" sourceLinked="1"/>
        <c:majorTickMark val="out"/>
        <c:minorTickMark val="none"/>
        <c:tickLblPos val="nextTo"/>
        <c:crossAx val="-2006690536"/>
        <c:crosses val="autoZero"/>
        <c:crossBetween val="between"/>
      </c:valAx>
    </c:plotArea>
    <c:plotVisOnly val="1"/>
    <c:dispBlanksAs val="gap"/>
    <c:showDLblsOverMax val="0"/>
  </c:chart>
  <c:spPr>
    <a:ln>
      <a:solidFill>
        <a:schemeClr val="bg1">
          <a:lumMod val="50000"/>
        </a:schemeClr>
      </a:solidFill>
      <a:prstDash val="sysDash"/>
    </a:ln>
  </c:spPr>
  <c:txPr>
    <a:bodyPr/>
    <a:lstStyle/>
    <a:p>
      <a:pPr>
        <a:defRPr sz="12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5603405136195"/>
          <c:y val="0.0286772354086102"/>
          <c:w val="0.673382349679102"/>
          <c:h val="0.932215189452176"/>
        </c:manualLayout>
      </c:layout>
      <c:barChart>
        <c:barDir val="bar"/>
        <c:grouping val="clustered"/>
        <c:varyColors val="0"/>
        <c:ser>
          <c:idx val="0"/>
          <c:order val="0"/>
          <c:tx>
            <c:strRef>
              <c:f>Sheet1!$B$1</c:f>
              <c:strCache>
                <c:ptCount val="1"/>
                <c:pt idx="0">
                  <c:v>Series 1</c:v>
                </c:pt>
              </c:strCache>
            </c:strRef>
          </c:tx>
          <c:spPr>
            <a:solidFill>
              <a:schemeClr val="accent5">
                <a:lumMod val="75000"/>
              </a:schemeClr>
            </a:solidFill>
          </c:spPr>
          <c:invertIfNegative val="0"/>
          <c:dLbls>
            <c:showLegendKey val="0"/>
            <c:showVal val="1"/>
            <c:showCatName val="0"/>
            <c:showSerName val="0"/>
            <c:showPercent val="0"/>
            <c:showBubbleSize val="0"/>
            <c:showLeaderLines val="0"/>
          </c:dLbls>
          <c:cat>
            <c:strRef>
              <c:f>Sheet1!$A$2:$A$36</c:f>
              <c:strCache>
                <c:ptCount val="18"/>
                <c:pt idx="0">
                  <c:v> South Africa</c:v>
                </c:pt>
                <c:pt idx="1">
                  <c:v>Nigeria</c:v>
                </c:pt>
                <c:pt idx="2">
                  <c:v>Ghana</c:v>
                </c:pt>
                <c:pt idx="3">
                  <c:v>Cameroon</c:v>
                </c:pt>
                <c:pt idx="4">
                  <c:v>Burkina Faso</c:v>
                </c:pt>
                <c:pt idx="5">
                  <c:v>Lesotho</c:v>
                </c:pt>
                <c:pt idx="6">
                  <c:v>Kenya</c:v>
                </c:pt>
                <c:pt idx="7">
                  <c:v>Gambia</c:v>
                </c:pt>
                <c:pt idx="8">
                  <c:v>Libya</c:v>
                </c:pt>
                <c:pt idx="9">
                  <c:v>Tunisia</c:v>
                </c:pt>
                <c:pt idx="10">
                  <c:v>Tanzania</c:v>
                </c:pt>
                <c:pt idx="11">
                  <c:v>Niger</c:v>
                </c:pt>
                <c:pt idx="12">
                  <c:v>Zimbabwe</c:v>
                </c:pt>
                <c:pt idx="13">
                  <c:v>Democratic Republic of Congo</c:v>
                </c:pt>
                <c:pt idx="14">
                  <c:v>Côte d'Ivoire</c:v>
                </c:pt>
                <c:pt idx="15">
                  <c:v>Chad</c:v>
                </c:pt>
                <c:pt idx="16">
                  <c:v>Gabon</c:v>
                </c:pt>
                <c:pt idx="17">
                  <c:v>Egypt</c:v>
                </c:pt>
              </c:strCache>
            </c:strRef>
          </c:cat>
          <c:val>
            <c:numRef>
              <c:f>Sheet1!$B$2:$B$36</c:f>
              <c:numCache>
                <c:formatCode>0%</c:formatCode>
                <c:ptCount val="18"/>
                <c:pt idx="0">
                  <c:v>0.13</c:v>
                </c:pt>
                <c:pt idx="1">
                  <c:v>0.09</c:v>
                </c:pt>
                <c:pt idx="2">
                  <c:v>0.04</c:v>
                </c:pt>
                <c:pt idx="3">
                  <c:v>0.04</c:v>
                </c:pt>
                <c:pt idx="4">
                  <c:v>0.04</c:v>
                </c:pt>
                <c:pt idx="5">
                  <c:v>0.03</c:v>
                </c:pt>
                <c:pt idx="6">
                  <c:v>0.03</c:v>
                </c:pt>
                <c:pt idx="7">
                  <c:v>0.03</c:v>
                </c:pt>
                <c:pt idx="8">
                  <c:v>0.03</c:v>
                </c:pt>
                <c:pt idx="9">
                  <c:v>0.03</c:v>
                </c:pt>
                <c:pt idx="10">
                  <c:v>0.03</c:v>
                </c:pt>
                <c:pt idx="11">
                  <c:v>0.03</c:v>
                </c:pt>
                <c:pt idx="12">
                  <c:v>0.03</c:v>
                </c:pt>
                <c:pt idx="13">
                  <c:v>0.03</c:v>
                </c:pt>
                <c:pt idx="14">
                  <c:v>0.03</c:v>
                </c:pt>
                <c:pt idx="15">
                  <c:v>0.03</c:v>
                </c:pt>
                <c:pt idx="16">
                  <c:v>0.03</c:v>
                </c:pt>
                <c:pt idx="17">
                  <c:v>0.03</c:v>
                </c:pt>
              </c:numCache>
            </c:numRef>
          </c:val>
        </c:ser>
        <c:dLbls>
          <c:showLegendKey val="0"/>
          <c:showVal val="0"/>
          <c:showCatName val="0"/>
          <c:showSerName val="0"/>
          <c:showPercent val="0"/>
          <c:showBubbleSize val="0"/>
        </c:dLbls>
        <c:gapWidth val="150"/>
        <c:axId val="-2051084040"/>
        <c:axId val="-2048764168"/>
      </c:barChart>
      <c:catAx>
        <c:axId val="-2051084040"/>
        <c:scaling>
          <c:orientation val="maxMin"/>
        </c:scaling>
        <c:delete val="0"/>
        <c:axPos val="l"/>
        <c:majorTickMark val="out"/>
        <c:minorTickMark val="none"/>
        <c:tickLblPos val="nextTo"/>
        <c:txPr>
          <a:bodyPr/>
          <a:lstStyle/>
          <a:p>
            <a:pPr>
              <a:defRPr sz="1000"/>
            </a:pPr>
            <a:endParaRPr lang="en-US"/>
          </a:p>
        </c:txPr>
        <c:crossAx val="-2048764168"/>
        <c:crosses val="autoZero"/>
        <c:auto val="1"/>
        <c:lblAlgn val="ctr"/>
        <c:lblOffset val="100"/>
        <c:noMultiLvlLbl val="0"/>
      </c:catAx>
      <c:valAx>
        <c:axId val="-2048764168"/>
        <c:scaling>
          <c:orientation val="minMax"/>
        </c:scaling>
        <c:delete val="1"/>
        <c:axPos val="t"/>
        <c:numFmt formatCode="0%" sourceLinked="1"/>
        <c:majorTickMark val="out"/>
        <c:minorTickMark val="none"/>
        <c:tickLblPos val="nextTo"/>
        <c:crossAx val="-2051084040"/>
        <c:crosses val="autoZero"/>
        <c:crossBetween val="between"/>
      </c:valAx>
    </c:plotArea>
    <c:plotVisOnly val="1"/>
    <c:dispBlanksAs val="gap"/>
    <c:showDLblsOverMax val="0"/>
  </c:chart>
  <c:spPr>
    <a:ln>
      <a:solidFill>
        <a:schemeClr val="bg1">
          <a:lumMod val="50000"/>
        </a:schemeClr>
      </a:solidFill>
      <a:prstDash val="sysDash"/>
    </a:ln>
  </c:spPr>
  <c:txPr>
    <a:bodyPr/>
    <a:lstStyle/>
    <a:p>
      <a:pPr>
        <a:defRPr sz="11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60324" y="2130425"/>
            <a:ext cx="4697876" cy="1470025"/>
          </a:xfrm>
        </p:spPr>
        <p:txBody>
          <a:bodyPr/>
          <a:lstStyle>
            <a:lvl1pPr>
              <a:defRPr baseline="0"/>
            </a:lvl1pPr>
          </a:lstStyle>
          <a:p>
            <a:r>
              <a:rPr lang="en-US" dirty="0" smtClean="0"/>
              <a:t>Presentation Title</a:t>
            </a:r>
            <a:endParaRPr lang="en-US" dirty="0"/>
          </a:p>
        </p:txBody>
      </p:sp>
      <p:sp>
        <p:nvSpPr>
          <p:cNvPr id="3" name="Subtitle 2"/>
          <p:cNvSpPr>
            <a:spLocks noGrp="1"/>
          </p:cNvSpPr>
          <p:nvPr>
            <p:ph type="subTitle" idx="1" hasCustomPrompt="1"/>
          </p:nvPr>
        </p:nvSpPr>
        <p:spPr>
          <a:xfrm>
            <a:off x="4633868" y="3873747"/>
            <a:ext cx="4510132" cy="1107096"/>
          </a:xfrm>
        </p:spPr>
        <p:txBody>
          <a:bodyPr/>
          <a:lstStyle>
            <a:lvl1pPr marL="0" indent="0" algn="l">
              <a:buNone/>
              <a:defRPr sz="2800" baseline="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Name</a:t>
            </a:r>
          </a:p>
          <a:p>
            <a:r>
              <a:rPr lang="en-US" dirty="0" smtClean="0"/>
              <a:t>Title, Date</a:t>
            </a:r>
          </a:p>
        </p:txBody>
      </p:sp>
      <p:sp>
        <p:nvSpPr>
          <p:cNvPr id="4" name="Date Placeholder 3"/>
          <p:cNvSpPr>
            <a:spLocks noGrp="1"/>
          </p:cNvSpPr>
          <p:nvPr>
            <p:ph type="dt" sz="half" idx="10"/>
          </p:nvPr>
        </p:nvSpPr>
        <p:spPr/>
        <p:txBody>
          <a:bodyPr/>
          <a:lstStyle/>
          <a:p>
            <a:fld id="{4E30C7C9-A412-8542-B60B-08D2B2DEFE31}" type="datetimeFigureOut">
              <a:rPr lang="en-US" smtClean="0"/>
              <a:t>2012-11-28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1776473555"/>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4E30C7C9-A412-8542-B60B-08D2B2DEFE31}" type="datetimeFigureOut">
              <a:rPr lang="en-US" smtClean="0"/>
              <a:t>2012-11-28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293565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4E30C7C9-A412-8542-B60B-08D2B2DEFE31}" type="datetimeFigureOut">
              <a:rPr lang="en-US" smtClean="0"/>
              <a:t>2012-11-28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417684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4E30C7C9-A412-8542-B60B-08D2B2DEFE31}" type="datetimeFigureOut">
              <a:rPr lang="en-US" smtClean="0"/>
              <a:t>2012-11-28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1523035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4E30C7C9-A412-8542-B60B-08D2B2DEFE31}" type="datetimeFigureOut">
              <a:rPr lang="en-US" smtClean="0"/>
              <a:t>2012-11-28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2124112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4E30C7C9-A412-8542-B60B-08D2B2DEFE31}" type="datetimeFigureOut">
              <a:rPr lang="en-US" smtClean="0"/>
              <a:t>2012-11-28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421438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30C7C9-A412-8542-B60B-08D2B2DEFE31}" type="datetimeFigureOut">
              <a:rPr lang="en-US" smtClean="0"/>
              <a:t>2012-11-28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1035433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4E30C7C9-A412-8542-B60B-08D2B2DEFE31}" type="datetimeFigureOut">
              <a:rPr lang="en-US" smtClean="0"/>
              <a:t>2012-11-28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1067532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4E30C7C9-A412-8542-B60B-08D2B2DEFE31}" type="datetimeFigureOut">
              <a:rPr lang="en-US" smtClean="0"/>
              <a:t>2012-11-28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1664792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4E30C7C9-A412-8542-B60B-08D2B2DEFE31}" type="datetimeFigureOut">
              <a:rPr lang="en-US" smtClean="0"/>
              <a:t>2012-11-28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287597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4E30C7C9-A412-8542-B60B-08D2B2DEFE31}" type="datetimeFigureOut">
              <a:rPr lang="en-US" smtClean="0"/>
              <a:t>2012-11-28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D06EB-BE18-314F-9DAD-3080EE8D5A3E}" type="slidenum">
              <a:rPr lang="en-US" smtClean="0"/>
              <a:t>‹#›</a:t>
            </a:fld>
            <a:endParaRPr lang="en-US"/>
          </a:p>
        </p:txBody>
      </p:sp>
    </p:spTree>
    <p:extLst>
      <p:ext uri="{BB962C8B-B14F-4D97-AF65-F5344CB8AC3E}">
        <p14:creationId xmlns:p14="http://schemas.microsoft.com/office/powerpoint/2010/main" val="2051991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x1 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AU" dirty="0"/>
          </a:p>
        </p:txBody>
      </p:sp>
      <p:sp>
        <p:nvSpPr>
          <p:cNvPr id="3" name="Slide Number Placeholder 2"/>
          <p:cNvSpPr>
            <a:spLocks noGrp="1"/>
          </p:cNvSpPr>
          <p:nvPr>
            <p:ph type="sldNum" sz="quarter" idx="10"/>
          </p:nvPr>
        </p:nvSpPr>
        <p:spPr/>
        <p:txBody>
          <a:bodyPr/>
          <a:lstStyle/>
          <a:p>
            <a:fld id="{9784CBA3-D598-4B1F-BAA3-EE14B5154290}" type="slidenum">
              <a:rPr lang="en-AU" smtClean="0"/>
              <a:pPr/>
              <a:t>‹#›</a:t>
            </a:fld>
            <a:endParaRPr lang="en-AU" dirty="0"/>
          </a:p>
        </p:txBody>
      </p:sp>
      <p:sp>
        <p:nvSpPr>
          <p:cNvPr id="7" name="Content Placeholder 6"/>
          <p:cNvSpPr>
            <a:spLocks noGrp="1"/>
          </p:cNvSpPr>
          <p:nvPr>
            <p:ph sz="quarter" idx="11"/>
          </p:nvPr>
        </p:nvSpPr>
        <p:spPr>
          <a:xfrm>
            <a:off x="285750" y="1031839"/>
            <a:ext cx="8569325" cy="4906999"/>
          </a:xfrm>
        </p:spPr>
        <p:txBody>
          <a:bodyPr>
            <a:noAutofit/>
          </a:bodyPr>
          <a:lstStyle>
            <a:lvl1pPr>
              <a:defRPr b="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Tree>
    <p:extLst>
      <p:ext uri="{BB962C8B-B14F-4D97-AF65-F5344CB8AC3E}">
        <p14:creationId xmlns:p14="http://schemas.microsoft.com/office/powerpoint/2010/main" val="1947051851"/>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0C7C9-A412-8542-B60B-08D2B2DEFE31}" type="datetimeFigureOut">
              <a:rPr lang="en-US" smtClean="0"/>
              <a:t>2012-11-28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D06EB-BE18-314F-9DAD-3080EE8D5A3E}" type="slidenum">
              <a:rPr lang="en-US" smtClean="0"/>
              <a:t>‹#›</a:t>
            </a:fld>
            <a:endParaRPr lang="en-US"/>
          </a:p>
        </p:txBody>
      </p:sp>
    </p:spTree>
    <p:extLst>
      <p:ext uri="{BB962C8B-B14F-4D97-AF65-F5344CB8AC3E}">
        <p14:creationId xmlns:p14="http://schemas.microsoft.com/office/powerpoint/2010/main" val="1805148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4" Type="http://schemas.openxmlformats.org/officeDocument/2006/relationships/chart" Target="../charts/chart3.xml"/><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60324" y="1143000"/>
            <a:ext cx="4697876" cy="2457451"/>
          </a:xfrm>
        </p:spPr>
        <p:txBody>
          <a:bodyPr>
            <a:normAutofit/>
          </a:bodyPr>
          <a:lstStyle/>
          <a:p>
            <a:r>
              <a:rPr lang="en-US" b="1" dirty="0" smtClean="0">
                <a:solidFill>
                  <a:schemeClr val="bg1">
                    <a:lumMod val="50000"/>
                  </a:schemeClr>
                </a:solidFill>
                <a:latin typeface="Arial" pitchFamily="34" charset="0"/>
                <a:cs typeface="Arial" pitchFamily="34" charset="0"/>
              </a:rPr>
              <a:t>Stakeholders Survey Report</a:t>
            </a:r>
            <a:endParaRPr lang="en-US" dirty="0"/>
          </a:p>
        </p:txBody>
      </p:sp>
      <p:sp>
        <p:nvSpPr>
          <p:cNvPr id="3" name="Subtitle 2"/>
          <p:cNvSpPr>
            <a:spLocks noGrp="1"/>
          </p:cNvSpPr>
          <p:nvPr>
            <p:ph type="subTitle" idx="1"/>
          </p:nvPr>
        </p:nvSpPr>
        <p:spPr>
          <a:xfrm>
            <a:off x="4633868" y="3873747"/>
            <a:ext cx="3824332" cy="1107096"/>
          </a:xfrm>
        </p:spPr>
        <p:txBody>
          <a:bodyPr>
            <a:normAutofit fontScale="77500" lnSpcReduction="20000"/>
          </a:bodyPr>
          <a:lstStyle/>
          <a:p>
            <a:pPr algn="r"/>
            <a:r>
              <a:rPr lang="en-US" b="1" dirty="0" smtClean="0"/>
              <a:t>Adiel A. Akplogan</a:t>
            </a:r>
          </a:p>
          <a:p>
            <a:pPr algn="r"/>
            <a:r>
              <a:rPr lang="en-US" dirty="0" smtClean="0"/>
              <a:t>CEO, AFRINIC</a:t>
            </a:r>
          </a:p>
          <a:p>
            <a:pPr algn="r"/>
            <a:r>
              <a:rPr lang="en-US" dirty="0" smtClean="0"/>
              <a:t>27 November 2012</a:t>
            </a:r>
            <a:endParaRPr lang="en-US" dirty="0"/>
          </a:p>
        </p:txBody>
      </p:sp>
    </p:spTree>
    <p:extLst>
      <p:ext uri="{BB962C8B-B14F-4D97-AF65-F5344CB8AC3E}">
        <p14:creationId xmlns:p14="http://schemas.microsoft.com/office/powerpoint/2010/main" val="2889870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630" y="177800"/>
            <a:ext cx="6900669" cy="1016000"/>
          </a:xfrm>
        </p:spPr>
        <p:txBody>
          <a:bodyPr/>
          <a:lstStyle/>
          <a:p>
            <a:r>
              <a:rPr lang="en-US" b="1" dirty="0" smtClean="0">
                <a:solidFill>
                  <a:srgbClr val="E46C0A"/>
                </a:solidFill>
              </a:rPr>
              <a:t>Objectives</a:t>
            </a:r>
            <a:endParaRPr lang="en-US" b="1" dirty="0">
              <a:solidFill>
                <a:srgbClr val="E46C0A"/>
              </a:solidFill>
            </a:endParaRPr>
          </a:p>
        </p:txBody>
      </p:sp>
      <p:sp>
        <p:nvSpPr>
          <p:cNvPr id="3" name="Content Placeholder 2"/>
          <p:cNvSpPr>
            <a:spLocks noGrp="1"/>
          </p:cNvSpPr>
          <p:nvPr>
            <p:ph idx="1"/>
          </p:nvPr>
        </p:nvSpPr>
        <p:spPr>
          <a:xfrm>
            <a:off x="1130300" y="1320800"/>
            <a:ext cx="7556500" cy="5029200"/>
          </a:xfrm>
        </p:spPr>
        <p:txBody>
          <a:bodyPr>
            <a:normAutofit fontScale="92500" lnSpcReduction="20000"/>
          </a:bodyPr>
          <a:lstStyle/>
          <a:p>
            <a:pPr lvl="0"/>
            <a:r>
              <a:rPr lang="en-GB" dirty="0">
                <a:solidFill>
                  <a:srgbClr val="000000"/>
                </a:solidFill>
                <a:latin typeface="Century Gothic"/>
                <a:cs typeface="Century Gothic"/>
              </a:rPr>
              <a:t>T</a:t>
            </a:r>
            <a:r>
              <a:rPr lang="en-GB" dirty="0" smtClean="0">
                <a:solidFill>
                  <a:srgbClr val="000000"/>
                </a:solidFill>
                <a:latin typeface="Century Gothic"/>
                <a:cs typeface="Century Gothic"/>
              </a:rPr>
              <a:t>o </a:t>
            </a:r>
            <a:r>
              <a:rPr lang="en-GB" dirty="0">
                <a:solidFill>
                  <a:srgbClr val="000000"/>
                </a:solidFill>
                <a:latin typeface="Century Gothic"/>
                <a:cs typeface="Century Gothic"/>
              </a:rPr>
              <a:t>gauge the perception of AFRINIC members with regards to the level of services </a:t>
            </a:r>
            <a:r>
              <a:rPr lang="en-GB" dirty="0" smtClean="0">
                <a:solidFill>
                  <a:srgbClr val="000000"/>
                </a:solidFill>
                <a:latin typeface="Century Gothic"/>
                <a:cs typeface="Century Gothic"/>
              </a:rPr>
              <a:t>we are delivering as </a:t>
            </a:r>
            <a:r>
              <a:rPr lang="en-GB" dirty="0">
                <a:solidFill>
                  <a:srgbClr val="000000"/>
                </a:solidFill>
                <a:latin typeface="Century Gothic"/>
                <a:cs typeface="Century Gothic"/>
              </a:rPr>
              <a:t>well as  identifying the needs and expectation of </a:t>
            </a:r>
            <a:r>
              <a:rPr lang="en-GB" dirty="0" smtClean="0">
                <a:solidFill>
                  <a:srgbClr val="000000"/>
                </a:solidFill>
                <a:latin typeface="Century Gothic"/>
                <a:cs typeface="Century Gothic"/>
              </a:rPr>
              <a:t>our Member</a:t>
            </a:r>
            <a:br>
              <a:rPr lang="en-GB" dirty="0" smtClean="0">
                <a:solidFill>
                  <a:srgbClr val="000000"/>
                </a:solidFill>
                <a:latin typeface="Century Gothic"/>
                <a:cs typeface="Century Gothic"/>
              </a:rPr>
            </a:br>
            <a:endParaRPr lang="en-ZA" dirty="0">
              <a:solidFill>
                <a:srgbClr val="000000"/>
              </a:solidFill>
              <a:latin typeface="Century Gothic"/>
              <a:ea typeface="Times New Roman"/>
              <a:cs typeface="Century Gothic"/>
            </a:endParaRPr>
          </a:p>
          <a:p>
            <a:r>
              <a:rPr lang="en-US" dirty="0" smtClean="0">
                <a:latin typeface="Century Gothic"/>
                <a:cs typeface="Century Gothic"/>
              </a:rPr>
              <a:t>First survey of this kind by AFRINIC</a:t>
            </a:r>
          </a:p>
          <a:p>
            <a:pPr marL="0" indent="0">
              <a:buNone/>
            </a:pPr>
            <a:endParaRPr lang="en-US" dirty="0" smtClean="0">
              <a:latin typeface="Century Gothic"/>
              <a:cs typeface="Century Gothic"/>
            </a:endParaRPr>
          </a:p>
          <a:p>
            <a:r>
              <a:rPr lang="en-US" dirty="0" smtClean="0">
                <a:latin typeface="Century Gothic"/>
                <a:cs typeface="Century Gothic"/>
              </a:rPr>
              <a:t>Open </a:t>
            </a:r>
            <a:r>
              <a:rPr lang="en-US" dirty="0" smtClean="0">
                <a:latin typeface="Century Gothic"/>
                <a:cs typeface="Century Gothic"/>
              </a:rPr>
              <a:t>online </a:t>
            </a:r>
            <a:r>
              <a:rPr lang="en-US" dirty="0" smtClean="0">
                <a:latin typeface="Century Gothic"/>
                <a:cs typeface="Century Gothic"/>
              </a:rPr>
              <a:t>for 2 </a:t>
            </a:r>
            <a:r>
              <a:rPr lang="en-US" dirty="0" smtClean="0">
                <a:latin typeface="Century Gothic"/>
                <a:cs typeface="Century Gothic"/>
              </a:rPr>
              <a:t>months</a:t>
            </a:r>
            <a:endParaRPr lang="en-US" dirty="0" smtClean="0">
              <a:latin typeface="Century Gothic"/>
              <a:cs typeface="Century Gothic"/>
            </a:endParaRPr>
          </a:p>
          <a:p>
            <a:pPr lvl="1"/>
            <a:r>
              <a:rPr lang="en-US" dirty="0" smtClean="0">
                <a:latin typeface="Century Gothic"/>
                <a:cs typeface="Century Gothic"/>
              </a:rPr>
              <a:t>117 respondents</a:t>
            </a:r>
          </a:p>
          <a:p>
            <a:pPr lvl="1"/>
            <a:r>
              <a:rPr lang="en-US" dirty="0" smtClean="0">
                <a:latin typeface="Century Gothic"/>
                <a:cs typeface="Century Gothic"/>
              </a:rPr>
              <a:t>57% from members</a:t>
            </a:r>
          </a:p>
          <a:p>
            <a:pPr lvl="1"/>
            <a:r>
              <a:rPr lang="en-US" dirty="0" smtClean="0">
                <a:latin typeface="Century Gothic"/>
                <a:cs typeface="Century Gothic"/>
              </a:rPr>
              <a:t>43 from non-members</a:t>
            </a:r>
          </a:p>
          <a:p>
            <a:pPr lvl="1"/>
            <a:endParaRPr lang="en-US" dirty="0" smtClean="0">
              <a:latin typeface="Century Gothic"/>
              <a:cs typeface="Century Gothic"/>
            </a:endParaRPr>
          </a:p>
          <a:p>
            <a:pPr lvl="1"/>
            <a:endParaRPr lang="en-US" dirty="0">
              <a:latin typeface="Century Gothic"/>
              <a:cs typeface="Century Gothic"/>
            </a:endParaRPr>
          </a:p>
        </p:txBody>
      </p:sp>
    </p:spTree>
    <p:extLst>
      <p:ext uri="{BB962C8B-B14F-4D97-AF65-F5344CB8AC3E}">
        <p14:creationId xmlns:p14="http://schemas.microsoft.com/office/powerpoint/2010/main" val="1159870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500" y="143920"/>
            <a:ext cx="7353300" cy="719279"/>
          </a:xfrm>
          <a:solidFill>
            <a:schemeClr val="bg1"/>
          </a:solidFill>
        </p:spPr>
        <p:txBody>
          <a:bodyPr>
            <a:normAutofit fontScale="90000"/>
          </a:bodyPr>
          <a:lstStyle/>
          <a:p>
            <a:r>
              <a:rPr lang="en-AU" b="1" dirty="0" smtClean="0">
                <a:solidFill>
                  <a:srgbClr val="E46C0A"/>
                </a:solidFill>
              </a:rPr>
              <a:t>Respondents Demography</a:t>
            </a:r>
            <a:endParaRPr lang="en-AU" b="1" dirty="0">
              <a:solidFill>
                <a:srgbClr val="E46C0A"/>
              </a:solidFill>
            </a:endParaRPr>
          </a:p>
        </p:txBody>
      </p:sp>
      <p:graphicFrame>
        <p:nvGraphicFramePr>
          <p:cNvPr id="5" name="Chart 4"/>
          <p:cNvGraphicFramePr/>
          <p:nvPr>
            <p:extLst>
              <p:ext uri="{D42A27DB-BD31-4B8C-83A1-F6EECF244321}">
                <p14:modId xmlns:p14="http://schemas.microsoft.com/office/powerpoint/2010/main" val="1587096169"/>
              </p:ext>
            </p:extLst>
          </p:nvPr>
        </p:nvGraphicFramePr>
        <p:xfrm>
          <a:off x="358346" y="1802312"/>
          <a:ext cx="3398108" cy="1441964"/>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358346" y="1371425"/>
            <a:ext cx="3398108" cy="430887"/>
          </a:xfrm>
          <a:prstGeom prst="rect">
            <a:avLst/>
          </a:prstGeom>
          <a:solidFill>
            <a:schemeClr val="bg1">
              <a:lumMod val="85000"/>
            </a:schemeClr>
          </a:solidFill>
        </p:spPr>
        <p:txBody>
          <a:bodyPr wrap="square" rtlCol="0">
            <a:spAutoFit/>
          </a:bodyPr>
          <a:lstStyle/>
          <a:p>
            <a:r>
              <a:rPr lang="en-US" sz="1100" dirty="0">
                <a:latin typeface="+mn-lt"/>
              </a:rPr>
              <a:t>Are you or your Organization an AFRINIC member?</a:t>
            </a:r>
          </a:p>
        </p:txBody>
      </p:sp>
      <p:graphicFrame>
        <p:nvGraphicFramePr>
          <p:cNvPr id="8" name="Chart 7"/>
          <p:cNvGraphicFramePr/>
          <p:nvPr>
            <p:extLst>
              <p:ext uri="{D42A27DB-BD31-4B8C-83A1-F6EECF244321}">
                <p14:modId xmlns:p14="http://schemas.microsoft.com/office/powerpoint/2010/main" val="537631137"/>
              </p:ext>
            </p:extLst>
          </p:nvPr>
        </p:nvGraphicFramePr>
        <p:xfrm>
          <a:off x="358346" y="3922184"/>
          <a:ext cx="3484606" cy="2371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358346" y="3492214"/>
            <a:ext cx="3521676" cy="430887"/>
          </a:xfrm>
          <a:prstGeom prst="rect">
            <a:avLst/>
          </a:prstGeom>
          <a:solidFill>
            <a:schemeClr val="bg1">
              <a:lumMod val="85000"/>
            </a:schemeClr>
          </a:solidFill>
        </p:spPr>
        <p:txBody>
          <a:bodyPr wrap="square" rtlCol="0">
            <a:spAutoFit/>
          </a:bodyPr>
          <a:lstStyle/>
          <a:p>
            <a:r>
              <a:rPr lang="en-US" sz="1100" dirty="0">
                <a:latin typeface="+mn-lt"/>
              </a:rPr>
              <a:t>Is your Organization Operate in any of the 55 economies served by AFRINIC?</a:t>
            </a:r>
          </a:p>
        </p:txBody>
      </p:sp>
      <p:graphicFrame>
        <p:nvGraphicFramePr>
          <p:cNvPr id="10" name="Chart 9"/>
          <p:cNvGraphicFramePr/>
          <p:nvPr>
            <p:extLst>
              <p:ext uri="{D42A27DB-BD31-4B8C-83A1-F6EECF244321}">
                <p14:modId xmlns:p14="http://schemas.microsoft.com/office/powerpoint/2010/main" val="2573754066"/>
              </p:ext>
            </p:extLst>
          </p:nvPr>
        </p:nvGraphicFramePr>
        <p:xfrm>
          <a:off x="4057134" y="2784904"/>
          <a:ext cx="4913871" cy="350909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540112451"/>
              </p:ext>
            </p:extLst>
          </p:nvPr>
        </p:nvGraphicFramePr>
        <p:xfrm>
          <a:off x="6616013" y="4430585"/>
          <a:ext cx="2220098" cy="1608321"/>
        </p:xfrm>
        <a:graphic>
          <a:graphicData uri="http://schemas.openxmlformats.org/drawingml/2006/table">
            <a:tbl>
              <a:tblPr firstRow="1" bandRow="1">
                <a:tableStyleId>{5C22544A-7EE6-4342-B048-85BDC9FD1C3A}</a:tableStyleId>
              </a:tblPr>
              <a:tblGrid>
                <a:gridCol w="1085211"/>
                <a:gridCol w="1134887"/>
              </a:tblGrid>
              <a:tr h="480561">
                <a:tc gridSpan="2">
                  <a:txBody>
                    <a:bodyPr/>
                    <a:lstStyle/>
                    <a:p>
                      <a:r>
                        <a:rPr lang="en-US" sz="1000" dirty="0" smtClean="0"/>
                        <a:t>Countries</a:t>
                      </a:r>
                      <a:r>
                        <a:rPr lang="en-US" sz="1000" baseline="0" dirty="0" smtClean="0"/>
                        <a:t> of t</a:t>
                      </a:r>
                      <a:r>
                        <a:rPr lang="en-US" sz="1000" dirty="0" smtClean="0"/>
                        <a:t>hose who</a:t>
                      </a:r>
                      <a:r>
                        <a:rPr lang="en-US" sz="1000" baseline="0" dirty="0" smtClean="0"/>
                        <a:t> are not served by</a:t>
                      </a:r>
                      <a:r>
                        <a:rPr lang="en-US" sz="1000" dirty="0" smtClean="0"/>
                        <a:t> AFRINIC</a:t>
                      </a:r>
                      <a:endParaRPr lang="en-US" sz="1000" dirty="0"/>
                    </a:p>
                  </a:txBody>
                  <a:tcPr/>
                </a:tc>
                <a:tc hMerge="1">
                  <a:txBody>
                    <a:bodyPr/>
                    <a:lstStyle/>
                    <a:p>
                      <a:endParaRPr lang="en-US" dirty="0"/>
                    </a:p>
                  </a:txBody>
                  <a:tcPr/>
                </a:tc>
              </a:tr>
              <a:tr h="395316">
                <a:tc>
                  <a:txBody>
                    <a:bodyPr/>
                    <a:lstStyle/>
                    <a:p>
                      <a:r>
                        <a:rPr lang="en-US" sz="1000" dirty="0" smtClean="0"/>
                        <a:t>Country</a:t>
                      </a:r>
                      <a:endParaRPr lang="en-US" sz="1000" dirty="0"/>
                    </a:p>
                  </a:txBody>
                  <a:tcPr>
                    <a:solidFill>
                      <a:srgbClr val="FFC000"/>
                    </a:solidFill>
                  </a:tcPr>
                </a:tc>
                <a:tc>
                  <a:txBody>
                    <a:bodyPr/>
                    <a:lstStyle/>
                    <a:p>
                      <a:r>
                        <a:rPr lang="en-US" sz="1000" dirty="0" smtClean="0"/>
                        <a:t>Number of respondents</a:t>
                      </a:r>
                      <a:endParaRPr lang="en-US" sz="1000" dirty="0"/>
                    </a:p>
                  </a:txBody>
                  <a:tcPr>
                    <a:solidFill>
                      <a:srgbClr val="FFC000"/>
                    </a:solidFill>
                  </a:tcPr>
                </a:tc>
              </a:tr>
              <a:tr h="243271">
                <a:tc>
                  <a:txBody>
                    <a:bodyPr/>
                    <a:lstStyle/>
                    <a:p>
                      <a:r>
                        <a:rPr lang="en-US" sz="1000" dirty="0" smtClean="0"/>
                        <a:t>USA</a:t>
                      </a:r>
                      <a:endParaRPr lang="en-US" sz="1000" dirty="0"/>
                    </a:p>
                  </a:txBody>
                  <a:tcPr/>
                </a:tc>
                <a:tc>
                  <a:txBody>
                    <a:bodyPr/>
                    <a:lstStyle/>
                    <a:p>
                      <a:r>
                        <a:rPr lang="en-US" sz="1000" dirty="0" smtClean="0"/>
                        <a:t>5</a:t>
                      </a:r>
                      <a:endParaRPr lang="en-US" sz="1000" dirty="0"/>
                    </a:p>
                  </a:txBody>
                  <a:tcPr/>
                </a:tc>
              </a:tr>
              <a:tr h="243271">
                <a:tc>
                  <a:txBody>
                    <a:bodyPr/>
                    <a:lstStyle/>
                    <a:p>
                      <a:r>
                        <a:rPr lang="en-US" sz="1000" dirty="0" smtClean="0"/>
                        <a:t>Switzerland</a:t>
                      </a:r>
                    </a:p>
                  </a:txBody>
                  <a:tcPr/>
                </a:tc>
                <a:tc>
                  <a:txBody>
                    <a:bodyPr/>
                    <a:lstStyle/>
                    <a:p>
                      <a:r>
                        <a:rPr lang="en-US" sz="1000" dirty="0" smtClean="0"/>
                        <a:t>1</a:t>
                      </a:r>
                      <a:endParaRPr lang="en-US" sz="1000" dirty="0"/>
                    </a:p>
                  </a:txBody>
                  <a:tcPr/>
                </a:tc>
              </a:tr>
              <a:tr h="243271">
                <a:tc>
                  <a:txBody>
                    <a:bodyPr/>
                    <a:lstStyle/>
                    <a:p>
                      <a:r>
                        <a:rPr lang="en-US" sz="1000" dirty="0" smtClean="0"/>
                        <a:t>Finland</a:t>
                      </a:r>
                      <a:endParaRPr lang="en-US" sz="1000" dirty="0"/>
                    </a:p>
                  </a:txBody>
                  <a:tcPr/>
                </a:tc>
                <a:tc>
                  <a:txBody>
                    <a:bodyPr/>
                    <a:lstStyle/>
                    <a:p>
                      <a:r>
                        <a:rPr lang="en-US" sz="1000" dirty="0" smtClean="0"/>
                        <a:t>1</a:t>
                      </a:r>
                      <a:endParaRPr lang="en-US" sz="1000" dirty="0"/>
                    </a:p>
                  </a:txBody>
                  <a:tcPr/>
                </a:tc>
              </a:tr>
            </a:tbl>
          </a:graphicData>
        </a:graphic>
      </p:graphicFrame>
      <p:sp>
        <p:nvSpPr>
          <p:cNvPr id="12" name="TextBox 11"/>
          <p:cNvSpPr txBox="1"/>
          <p:nvPr/>
        </p:nvSpPr>
        <p:spPr>
          <a:xfrm>
            <a:off x="4015946" y="2523294"/>
            <a:ext cx="4955059" cy="261610"/>
          </a:xfrm>
          <a:prstGeom prst="rect">
            <a:avLst/>
          </a:prstGeom>
          <a:solidFill>
            <a:schemeClr val="bg1">
              <a:lumMod val="85000"/>
            </a:schemeClr>
          </a:solidFill>
        </p:spPr>
        <p:txBody>
          <a:bodyPr wrap="square" rtlCol="0">
            <a:spAutoFit/>
          </a:bodyPr>
          <a:lstStyle>
            <a:defPPr>
              <a:defRPr lang="en-AU"/>
            </a:defPPr>
            <a:lvl1pPr>
              <a:defRPr sz="1100">
                <a:latin typeface="+mn-lt"/>
              </a:defRPr>
            </a:lvl1pPr>
          </a:lstStyle>
          <a:p>
            <a:r>
              <a:rPr lang="en-US" dirty="0"/>
              <a:t>Respondent Location</a:t>
            </a:r>
          </a:p>
        </p:txBody>
      </p:sp>
      <p:sp>
        <p:nvSpPr>
          <p:cNvPr id="7" name="TextBox 6"/>
          <p:cNvSpPr txBox="1"/>
          <p:nvPr/>
        </p:nvSpPr>
        <p:spPr>
          <a:xfrm>
            <a:off x="3947984" y="1245063"/>
            <a:ext cx="5090982" cy="1200329"/>
          </a:xfrm>
          <a:prstGeom prst="rect">
            <a:avLst/>
          </a:prstGeom>
          <a:noFill/>
        </p:spPr>
        <p:txBody>
          <a:bodyPr wrap="square" rtlCol="0">
            <a:spAutoFit/>
          </a:bodyPr>
          <a:lstStyle/>
          <a:p>
            <a:pPr algn="just"/>
            <a:r>
              <a:rPr lang="en-US" sz="1200" b="0" dirty="0">
                <a:latin typeface="+mn-lt"/>
              </a:rPr>
              <a:t>57% of the organizations surveyed  </a:t>
            </a:r>
            <a:r>
              <a:rPr lang="en-US" sz="1200" b="0" dirty="0" smtClean="0">
                <a:latin typeface="+mn-lt"/>
              </a:rPr>
              <a:t>claim to be an </a:t>
            </a:r>
            <a:r>
              <a:rPr lang="en-US" sz="1200" b="0" dirty="0">
                <a:latin typeface="+mn-lt"/>
              </a:rPr>
              <a:t>AFRINIC </a:t>
            </a:r>
            <a:r>
              <a:rPr lang="en-US" sz="1200" b="0" dirty="0" smtClean="0">
                <a:latin typeface="+mn-lt"/>
              </a:rPr>
              <a:t>member. 94</a:t>
            </a:r>
            <a:r>
              <a:rPr lang="en-US" sz="1200" b="0" dirty="0">
                <a:latin typeface="+mn-lt"/>
              </a:rPr>
              <a:t>% of the </a:t>
            </a:r>
            <a:r>
              <a:rPr lang="en-US" sz="1200" b="0" dirty="0" smtClean="0">
                <a:latin typeface="+mn-lt"/>
              </a:rPr>
              <a:t>interviewed sample forms part of the 55 economies served by AFRINIC. </a:t>
            </a:r>
            <a:r>
              <a:rPr lang="en-US" sz="1200" b="0" dirty="0">
                <a:latin typeface="+mn-lt"/>
              </a:rPr>
              <a:t>When it comes to respondents location, </a:t>
            </a:r>
            <a:r>
              <a:rPr lang="en-US" sz="1200" b="0" dirty="0" smtClean="0">
                <a:latin typeface="+mn-lt"/>
              </a:rPr>
              <a:t>most  respondents are from  South AFRICA (13%) and Nigeria with 9%. Among the other countries, 5 respondents come from USA. </a:t>
            </a:r>
            <a:endParaRPr lang="en-US" sz="1200" b="0" dirty="0">
              <a:latin typeface="+mn-lt"/>
            </a:endParaRPr>
          </a:p>
        </p:txBody>
      </p:sp>
    </p:spTree>
    <p:extLst>
      <p:ext uri="{BB962C8B-B14F-4D97-AF65-F5344CB8AC3E}">
        <p14:creationId xmlns:p14="http://schemas.microsoft.com/office/powerpoint/2010/main" val="395046125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0117" y="274638"/>
            <a:ext cx="7337279" cy="1143000"/>
          </a:xfrm>
        </p:spPr>
        <p:txBody>
          <a:bodyPr/>
          <a:lstStyle/>
          <a:p>
            <a:r>
              <a:rPr lang="en-US" b="1" dirty="0" smtClean="0">
                <a:solidFill>
                  <a:srgbClr val="E46C0A"/>
                </a:solidFill>
              </a:rPr>
              <a:t>Summary</a:t>
            </a:r>
            <a:endParaRPr lang="en-US" b="1" dirty="0">
              <a:solidFill>
                <a:srgbClr val="E46C0A"/>
              </a:solidFill>
            </a:endParaRPr>
          </a:p>
        </p:txBody>
      </p:sp>
      <p:sp>
        <p:nvSpPr>
          <p:cNvPr id="4" name="Text Box 10"/>
          <p:cNvSpPr txBox="1">
            <a:spLocks noChangeArrowheads="1"/>
          </p:cNvSpPr>
          <p:nvPr/>
        </p:nvSpPr>
        <p:spPr bwMode="auto">
          <a:xfrm>
            <a:off x="2344556" y="4923192"/>
            <a:ext cx="3428296" cy="1325620"/>
          </a:xfrm>
          <a:prstGeom prst="rect">
            <a:avLst/>
          </a:prstGeom>
          <a:noFill/>
          <a:ln w="9525">
            <a:noFill/>
            <a:miter lim="800000"/>
            <a:headEnd type="none" w="sm" len="sm"/>
            <a:tailEnd type="none" w="sm" len="sm"/>
          </a:ln>
        </p:spPr>
        <p:txBody>
          <a:bodyPr wrap="square" lIns="90000" tIns="46800" rIns="90000" bIns="46800" anchor="ctr">
            <a:spAutoFit/>
          </a:bodyPr>
          <a:lstStyle/>
          <a:p>
            <a:pPr marL="0" marR="0" lvl="0" indent="0" algn="l" defTabSz="914400" eaLnBrk="1" fontAlgn="auto" latinLnBrk="0" hangingPunct="1">
              <a:lnSpc>
                <a:spcPct val="100000"/>
              </a:lnSpc>
              <a:spcBef>
                <a:spcPct val="50000"/>
              </a:spcBef>
              <a:spcAft>
                <a:spcPts val="0"/>
              </a:spcAft>
              <a:buClrTx/>
              <a:buSzTx/>
              <a:buFont typeface="Wingdings" pitchFamily="2" charset="2"/>
              <a:buNone/>
              <a:tabLst/>
              <a:defRPr/>
            </a:pPr>
            <a:r>
              <a:rPr kumimoji="0" lang="en-GB" sz="2000" b="0" i="0" u="none" strike="noStrike" kern="0" cap="none" spc="0" normalizeH="0" baseline="0" noProof="0" dirty="0">
                <a:ln>
                  <a:noFill/>
                </a:ln>
                <a:solidFill>
                  <a:sysClr val="windowText" lastClr="000000"/>
                </a:solidFill>
                <a:effectLst/>
                <a:uLnTx/>
                <a:uFillTx/>
                <a:latin typeface="Century Gothic"/>
                <a:cs typeface="Century Gothic"/>
              </a:rPr>
              <a:t>Scores </a:t>
            </a:r>
            <a:r>
              <a:rPr kumimoji="0" lang="en-GB" sz="2000" b="0" i="0" u="none" strike="noStrike" kern="0" cap="none" spc="0" normalizeH="0" baseline="0" noProof="0" dirty="0" smtClean="0">
                <a:ln>
                  <a:noFill/>
                </a:ln>
                <a:solidFill>
                  <a:sysClr val="windowText" lastClr="000000"/>
                </a:solidFill>
                <a:effectLst/>
                <a:uLnTx/>
                <a:uFillTx/>
                <a:latin typeface="Century Gothic"/>
                <a:cs typeface="Century Gothic"/>
              </a:rPr>
              <a:t>= &gt; 75</a:t>
            </a:r>
            <a:endParaRPr kumimoji="0" lang="en-GB" sz="2000" b="0" i="0" u="none" strike="noStrike" kern="0" cap="none" spc="0" normalizeH="0" baseline="0" noProof="0" dirty="0">
              <a:ln>
                <a:noFill/>
              </a:ln>
              <a:solidFill>
                <a:sysClr val="windowText" lastClr="000000"/>
              </a:solidFill>
              <a:effectLst/>
              <a:uLnTx/>
              <a:uFillTx/>
              <a:latin typeface="Century Gothic"/>
              <a:cs typeface="Century Gothic"/>
            </a:endParaRPr>
          </a:p>
          <a:p>
            <a:pPr marL="0" marR="0" lvl="0" indent="0" algn="l" defTabSz="914400" eaLnBrk="1" fontAlgn="auto" latinLnBrk="0" hangingPunct="1">
              <a:lnSpc>
                <a:spcPct val="100000"/>
              </a:lnSpc>
              <a:spcBef>
                <a:spcPct val="50000"/>
              </a:spcBef>
              <a:spcAft>
                <a:spcPts val="0"/>
              </a:spcAft>
              <a:buClrTx/>
              <a:buSzTx/>
              <a:buFont typeface="Wingdings" pitchFamily="2" charset="2"/>
              <a:buNone/>
              <a:tabLst/>
              <a:defRPr/>
            </a:pPr>
            <a:r>
              <a:rPr kumimoji="0" lang="en-GB" sz="2000" b="0" i="0" u="none" strike="noStrike" kern="0" cap="none" spc="0" normalizeH="0" baseline="0" noProof="0" dirty="0">
                <a:ln>
                  <a:noFill/>
                </a:ln>
                <a:solidFill>
                  <a:sysClr val="windowText" lastClr="000000"/>
                </a:solidFill>
                <a:effectLst/>
                <a:uLnTx/>
                <a:uFillTx/>
                <a:latin typeface="Century Gothic"/>
                <a:cs typeface="Century Gothic"/>
              </a:rPr>
              <a:t>Scores </a:t>
            </a:r>
            <a:r>
              <a:rPr kumimoji="0" lang="en-GB" sz="2000" b="0" i="0" u="none" strike="noStrike" kern="0" cap="none" spc="0" normalizeH="0" baseline="0" noProof="0" dirty="0" smtClean="0">
                <a:ln>
                  <a:noFill/>
                </a:ln>
                <a:solidFill>
                  <a:sysClr val="windowText" lastClr="000000"/>
                </a:solidFill>
                <a:effectLst/>
                <a:uLnTx/>
                <a:uFillTx/>
                <a:latin typeface="Century Gothic"/>
                <a:cs typeface="Century Gothic"/>
              </a:rPr>
              <a:t>between </a:t>
            </a:r>
            <a:r>
              <a:rPr lang="en-GB" sz="2000" b="0" kern="0" dirty="0" smtClean="0">
                <a:solidFill>
                  <a:sysClr val="windowText" lastClr="000000"/>
                </a:solidFill>
                <a:latin typeface="Century Gothic"/>
                <a:cs typeface="Century Gothic"/>
              </a:rPr>
              <a:t>60</a:t>
            </a:r>
            <a:r>
              <a:rPr kumimoji="0" lang="en-GB" sz="2000" b="0" i="0" u="none" strike="noStrike" kern="0" cap="none" spc="0" normalizeH="0" baseline="0" noProof="0" dirty="0" smtClean="0">
                <a:ln>
                  <a:noFill/>
                </a:ln>
                <a:solidFill>
                  <a:sysClr val="windowText" lastClr="000000"/>
                </a:solidFill>
                <a:effectLst/>
                <a:uLnTx/>
                <a:uFillTx/>
                <a:latin typeface="Century Gothic"/>
                <a:cs typeface="Century Gothic"/>
              </a:rPr>
              <a:t>-74</a:t>
            </a:r>
            <a:endParaRPr kumimoji="0" lang="en-GB" sz="2000" b="0" i="0" u="none" strike="noStrike" kern="0" cap="none" spc="0" normalizeH="0" baseline="0" noProof="0" dirty="0">
              <a:ln>
                <a:noFill/>
              </a:ln>
              <a:solidFill>
                <a:sysClr val="windowText" lastClr="000000"/>
              </a:solidFill>
              <a:effectLst/>
              <a:uLnTx/>
              <a:uFillTx/>
              <a:latin typeface="Century Gothic"/>
              <a:cs typeface="Century Gothic"/>
            </a:endParaRPr>
          </a:p>
          <a:p>
            <a:pPr marL="0" marR="0" lvl="0" indent="0" algn="l" defTabSz="914400" eaLnBrk="1" fontAlgn="auto" latinLnBrk="0" hangingPunct="1">
              <a:lnSpc>
                <a:spcPct val="100000"/>
              </a:lnSpc>
              <a:spcBef>
                <a:spcPct val="50000"/>
              </a:spcBef>
              <a:spcAft>
                <a:spcPts val="0"/>
              </a:spcAft>
              <a:buClrTx/>
              <a:buSzTx/>
              <a:buFont typeface="Wingdings" pitchFamily="2" charset="2"/>
              <a:buNone/>
              <a:tabLst/>
              <a:defRPr/>
            </a:pPr>
            <a:r>
              <a:rPr kumimoji="0" lang="en-GB" sz="2000" b="0" i="0" u="none" strike="noStrike" kern="0" cap="none" spc="0" normalizeH="0" baseline="0" noProof="0" dirty="0">
                <a:ln>
                  <a:noFill/>
                </a:ln>
                <a:solidFill>
                  <a:sysClr val="windowText" lastClr="000000"/>
                </a:solidFill>
                <a:effectLst/>
                <a:uLnTx/>
                <a:uFillTx/>
                <a:latin typeface="Century Gothic"/>
                <a:cs typeface="Century Gothic"/>
              </a:rPr>
              <a:t>Scores </a:t>
            </a:r>
            <a:r>
              <a:rPr kumimoji="0" lang="en-GB" sz="2000" b="0" i="0" u="none" strike="noStrike" kern="0" cap="none" spc="0" normalizeH="0" baseline="0" noProof="0" dirty="0" smtClean="0">
                <a:ln>
                  <a:noFill/>
                </a:ln>
                <a:solidFill>
                  <a:sysClr val="windowText" lastClr="000000"/>
                </a:solidFill>
                <a:effectLst/>
                <a:uLnTx/>
                <a:uFillTx/>
                <a:latin typeface="Century Gothic"/>
                <a:cs typeface="Century Gothic"/>
              </a:rPr>
              <a:t>below 60</a:t>
            </a:r>
            <a:endParaRPr kumimoji="0" lang="en-GB" sz="2000" b="0" i="0" u="none" strike="noStrike" kern="0" cap="none" spc="0" normalizeH="0" baseline="0" noProof="0" dirty="0">
              <a:ln>
                <a:noFill/>
              </a:ln>
              <a:solidFill>
                <a:sysClr val="windowText" lastClr="000000"/>
              </a:solidFill>
              <a:effectLst/>
              <a:uLnTx/>
              <a:uFillTx/>
              <a:latin typeface="Century Gothic"/>
              <a:cs typeface="Century Gothic"/>
            </a:endParaRPr>
          </a:p>
        </p:txBody>
      </p:sp>
      <p:sp>
        <p:nvSpPr>
          <p:cNvPr id="5" name="Rectangle 11"/>
          <p:cNvSpPr>
            <a:spLocks noChangeArrowheads="1"/>
          </p:cNvSpPr>
          <p:nvPr/>
        </p:nvSpPr>
        <p:spPr bwMode="auto">
          <a:xfrm>
            <a:off x="1805575" y="5466939"/>
            <a:ext cx="468490" cy="258763"/>
          </a:xfrm>
          <a:prstGeom prst="rect">
            <a:avLst/>
          </a:prstGeom>
          <a:solidFill>
            <a:srgbClr val="FF6600"/>
          </a:solidFill>
          <a:ln w="9525">
            <a:noFill/>
            <a:miter lim="800000"/>
            <a:headEnd type="none" w="sm" len="sm"/>
            <a:tailEnd type="none" w="sm" len="sm"/>
          </a:ln>
        </p:spPr>
        <p:txBody>
          <a:bodyPr wrap="none" lIns="90000" tIns="46800" rIns="90000" bIns="46800" anchor="ctr"/>
          <a:lstStyle/>
          <a:p>
            <a:pPr marL="0" marR="0" lvl="0" indent="0" algn="ctr" defTabSz="914400" eaLnBrk="1" fontAlgn="auto" latinLnBrk="0" hangingPunct="1">
              <a:lnSpc>
                <a:spcPct val="90000"/>
              </a:lnSpc>
              <a:spcBef>
                <a:spcPct val="20000"/>
              </a:spcBef>
              <a:spcAft>
                <a:spcPts val="0"/>
              </a:spcAft>
              <a:buClrTx/>
              <a:buSzTx/>
              <a:buFont typeface="Wingdings" pitchFamily="2" charset="2"/>
              <a:buNone/>
              <a:tabLst/>
              <a:defRPr/>
            </a:pPr>
            <a:endParaRPr kumimoji="0" lang="fr-FR" sz="1400" b="0" i="0" u="none" strike="noStrike" kern="0" cap="none" spc="0" normalizeH="0" baseline="0" noProof="0" dirty="0">
              <a:ln>
                <a:noFill/>
              </a:ln>
              <a:solidFill>
                <a:sysClr val="windowText" lastClr="000000"/>
              </a:solidFill>
              <a:effectLst/>
              <a:uLnTx/>
              <a:uFillTx/>
              <a:latin typeface="Century Gothic"/>
              <a:cs typeface="Century Gothic"/>
            </a:endParaRPr>
          </a:p>
        </p:txBody>
      </p:sp>
      <p:sp>
        <p:nvSpPr>
          <p:cNvPr id="6" name="Rectangle 12"/>
          <p:cNvSpPr>
            <a:spLocks noChangeArrowheads="1"/>
          </p:cNvSpPr>
          <p:nvPr/>
        </p:nvSpPr>
        <p:spPr bwMode="auto">
          <a:xfrm>
            <a:off x="1805575" y="5002608"/>
            <a:ext cx="468490" cy="260350"/>
          </a:xfrm>
          <a:prstGeom prst="rect">
            <a:avLst/>
          </a:prstGeom>
          <a:solidFill>
            <a:srgbClr val="92D050"/>
          </a:solidFill>
          <a:ln w="9525">
            <a:noFill/>
            <a:miter lim="800000"/>
            <a:headEnd type="none" w="sm" len="sm"/>
            <a:tailEnd type="none" w="sm" len="sm"/>
          </a:ln>
        </p:spPr>
        <p:txBody>
          <a:bodyPr wrap="none" lIns="90000" tIns="46800" rIns="90000" bIns="46800" anchor="ctr"/>
          <a:lstStyle/>
          <a:p>
            <a:pPr marL="0" marR="0" lvl="0" indent="0" algn="ctr" defTabSz="914400" eaLnBrk="1" fontAlgn="auto" latinLnBrk="0" hangingPunct="1">
              <a:lnSpc>
                <a:spcPct val="90000"/>
              </a:lnSpc>
              <a:spcBef>
                <a:spcPct val="20000"/>
              </a:spcBef>
              <a:spcAft>
                <a:spcPts val="0"/>
              </a:spcAft>
              <a:buClrTx/>
              <a:buSzTx/>
              <a:buFont typeface="Wingdings" pitchFamily="2" charset="2"/>
              <a:buNone/>
              <a:tabLst/>
              <a:defRPr/>
            </a:pPr>
            <a:endParaRPr kumimoji="0" lang="fr-FR" sz="1400" b="0" i="0" u="none" strike="noStrike" kern="0" cap="none" spc="0" normalizeH="0" baseline="0" noProof="0" dirty="0">
              <a:ln>
                <a:noFill/>
              </a:ln>
              <a:solidFill>
                <a:sysClr val="windowText" lastClr="000000"/>
              </a:solidFill>
              <a:effectLst/>
              <a:uLnTx/>
              <a:uFillTx/>
              <a:latin typeface="Century Gothic"/>
              <a:cs typeface="Century Gothic"/>
            </a:endParaRPr>
          </a:p>
        </p:txBody>
      </p:sp>
      <p:sp>
        <p:nvSpPr>
          <p:cNvPr id="7" name="Rectangle 13"/>
          <p:cNvSpPr>
            <a:spLocks noChangeArrowheads="1"/>
          </p:cNvSpPr>
          <p:nvPr/>
        </p:nvSpPr>
        <p:spPr bwMode="auto">
          <a:xfrm>
            <a:off x="1805575" y="5932858"/>
            <a:ext cx="468490" cy="260350"/>
          </a:xfrm>
          <a:prstGeom prst="rect">
            <a:avLst/>
          </a:prstGeom>
          <a:solidFill>
            <a:srgbClr val="C00000"/>
          </a:solidFill>
          <a:ln w="9525">
            <a:noFill/>
            <a:miter lim="800000"/>
            <a:headEnd type="none" w="sm" len="sm"/>
            <a:tailEnd type="none" w="sm" len="sm"/>
          </a:ln>
        </p:spPr>
        <p:txBody>
          <a:bodyPr wrap="none" lIns="90000" tIns="46800" rIns="90000" bIns="46800" anchor="ctr"/>
          <a:lstStyle/>
          <a:p>
            <a:pPr marL="0" marR="0" lvl="0" indent="0" algn="ctr" defTabSz="914400" eaLnBrk="1" fontAlgn="auto" latinLnBrk="0" hangingPunct="1">
              <a:lnSpc>
                <a:spcPct val="90000"/>
              </a:lnSpc>
              <a:spcBef>
                <a:spcPct val="20000"/>
              </a:spcBef>
              <a:spcAft>
                <a:spcPts val="0"/>
              </a:spcAft>
              <a:buClrTx/>
              <a:buSzTx/>
              <a:buFont typeface="Wingdings" pitchFamily="2" charset="2"/>
              <a:buNone/>
              <a:tabLst/>
              <a:defRPr/>
            </a:pPr>
            <a:endParaRPr kumimoji="0" lang="fr-FR" sz="1400" b="0" i="0" u="none" strike="noStrike" kern="0" cap="none" spc="0" normalizeH="0" baseline="0" noProof="0" dirty="0">
              <a:ln>
                <a:noFill/>
              </a:ln>
              <a:solidFill>
                <a:sysClr val="windowText" lastClr="000000"/>
              </a:solidFill>
              <a:effectLst/>
              <a:uLnTx/>
              <a:uFillTx/>
              <a:latin typeface="Century Gothic"/>
              <a:cs typeface="Century Gothic"/>
            </a:endParaRPr>
          </a:p>
        </p:txBody>
      </p:sp>
      <p:pic>
        <p:nvPicPr>
          <p:cNvPr id="9" name="Picture 8"/>
          <p:cNvPicPr>
            <a:picLocks noChangeAspect="1"/>
          </p:cNvPicPr>
          <p:nvPr/>
        </p:nvPicPr>
        <p:blipFill rotWithShape="1">
          <a:blip r:embed="rId2"/>
          <a:srcRect l="17467" t="5494" r="2897" b="6324"/>
          <a:stretch/>
        </p:blipFill>
        <p:spPr>
          <a:xfrm>
            <a:off x="3560777" y="2157996"/>
            <a:ext cx="5583223" cy="3774862"/>
          </a:xfrm>
          <a:prstGeom prst="rect">
            <a:avLst/>
          </a:prstGeom>
        </p:spPr>
      </p:pic>
      <p:sp>
        <p:nvSpPr>
          <p:cNvPr id="10" name="Content Placeholder 2"/>
          <p:cNvSpPr>
            <a:spLocks noGrp="1"/>
          </p:cNvSpPr>
          <p:nvPr>
            <p:ph idx="1"/>
          </p:nvPr>
        </p:nvSpPr>
        <p:spPr>
          <a:xfrm>
            <a:off x="369706" y="2476500"/>
            <a:ext cx="3949700" cy="1689100"/>
          </a:xfrm>
        </p:spPr>
        <p:txBody>
          <a:bodyPr>
            <a:normAutofit/>
          </a:bodyPr>
          <a:lstStyle/>
          <a:p>
            <a:pPr lvl="0"/>
            <a:r>
              <a:rPr lang="en-GB" dirty="0" smtClean="0">
                <a:solidFill>
                  <a:srgbClr val="000000"/>
                </a:solidFill>
                <a:latin typeface="Century Gothic"/>
                <a:cs typeface="Century Gothic"/>
              </a:rPr>
              <a:t>71% overall satisfied by AFRINIC services</a:t>
            </a:r>
            <a:endParaRPr lang="en-US" dirty="0" smtClean="0">
              <a:latin typeface="Century Gothic"/>
              <a:cs typeface="Century Gothic"/>
            </a:endParaRPr>
          </a:p>
          <a:p>
            <a:pPr lvl="1"/>
            <a:endParaRPr lang="en-US" dirty="0">
              <a:latin typeface="Century Gothic"/>
              <a:cs typeface="Century Gothic"/>
            </a:endParaRPr>
          </a:p>
        </p:txBody>
      </p:sp>
    </p:spTree>
    <p:extLst>
      <p:ext uri="{BB962C8B-B14F-4D97-AF65-F5344CB8AC3E}">
        <p14:creationId xmlns:p14="http://schemas.microsoft.com/office/powerpoint/2010/main" val="1345154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0600" y="122238"/>
            <a:ext cx="7476200" cy="1143000"/>
          </a:xfrm>
        </p:spPr>
        <p:txBody>
          <a:bodyPr/>
          <a:lstStyle/>
          <a:p>
            <a:r>
              <a:rPr lang="en-US" b="1" dirty="0" smtClean="0">
                <a:solidFill>
                  <a:srgbClr val="E46C0A"/>
                </a:solidFill>
              </a:rPr>
              <a:t>General feedback</a:t>
            </a:r>
            <a:endParaRPr lang="en-US" b="1" dirty="0">
              <a:solidFill>
                <a:srgbClr val="E46C0A"/>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226255392"/>
              </p:ext>
            </p:extLst>
          </p:nvPr>
        </p:nvGraphicFramePr>
        <p:xfrm>
          <a:off x="2146301" y="2125927"/>
          <a:ext cx="5575300" cy="3624941"/>
        </p:xfrm>
        <a:graphic>
          <a:graphicData uri="http://schemas.openxmlformats.org/drawingml/2006/table">
            <a:tbl>
              <a:tblPr/>
              <a:tblGrid>
                <a:gridCol w="4838699"/>
                <a:gridCol w="736601"/>
              </a:tblGrid>
              <a:tr h="217650">
                <a:tc>
                  <a:txBody>
                    <a:bodyPr/>
                    <a:lstStyle/>
                    <a:p>
                      <a:pPr algn="l" fontAlgn="b"/>
                      <a:r>
                        <a:rPr lang="en-US" sz="1400" b="1" i="0" u="none" strike="noStrike" dirty="0" smtClean="0">
                          <a:solidFill>
                            <a:schemeClr val="tx1"/>
                          </a:solidFill>
                          <a:effectLst/>
                          <a:latin typeface="+mn-lt"/>
                        </a:rPr>
                        <a:t>Section</a:t>
                      </a:r>
                      <a:r>
                        <a:rPr lang="en-US" sz="1400" b="1" i="0" u="none" strike="noStrike" baseline="0" dirty="0" smtClean="0">
                          <a:solidFill>
                            <a:schemeClr val="tx1"/>
                          </a:solidFill>
                          <a:effectLst/>
                          <a:latin typeface="+mn-lt"/>
                        </a:rPr>
                        <a:t> A- General member’s feedback</a:t>
                      </a:r>
                      <a:endParaRPr lang="en-US" sz="1400" b="1" i="0" u="none" strike="noStrike" dirty="0">
                        <a:solidFill>
                          <a:schemeClr val="tx1"/>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r>
              <a:tr h="192700">
                <a:tc>
                  <a:txBody>
                    <a:bodyPr/>
                    <a:lstStyle/>
                    <a:p>
                      <a:pPr algn="l" fontAlgn="b"/>
                      <a:r>
                        <a:rPr lang="en-US" sz="1400" b="0" i="0" u="none" strike="noStrike" dirty="0" smtClean="0">
                          <a:solidFill>
                            <a:srgbClr val="595959"/>
                          </a:solidFill>
                          <a:effectLst/>
                          <a:latin typeface="+mn-lt"/>
                        </a:rPr>
                        <a:t>   Member's </a:t>
                      </a:r>
                      <a:r>
                        <a:rPr lang="en-US" sz="1400" b="0" i="0" u="none" strike="noStrike" dirty="0">
                          <a:solidFill>
                            <a:srgbClr val="595959"/>
                          </a:solidFill>
                          <a:effectLst/>
                          <a:latin typeface="+mn-lt"/>
                        </a:rPr>
                        <a:t>feedback</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smtClean="0">
                          <a:solidFill>
                            <a:srgbClr val="000000"/>
                          </a:solidFill>
                          <a:effectLst/>
                          <a:latin typeface="+mn-lt"/>
                        </a:rPr>
                        <a:t>68 </a:t>
                      </a: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C000"/>
                    </a:solidFill>
                  </a:tcPr>
                </a:tc>
              </a:tr>
              <a:tr h="192700">
                <a:tc>
                  <a:txBody>
                    <a:bodyPr/>
                    <a:lstStyle/>
                    <a:p>
                      <a:pPr algn="l" fontAlgn="b"/>
                      <a:r>
                        <a:rPr lang="en-US" sz="1400" b="0" i="0" u="none" strike="noStrike" dirty="0" smtClean="0">
                          <a:solidFill>
                            <a:srgbClr val="595959"/>
                          </a:solidFill>
                          <a:effectLst/>
                          <a:latin typeface="+mn-lt"/>
                        </a:rPr>
                        <a:t>   Registration </a:t>
                      </a:r>
                      <a:r>
                        <a:rPr lang="en-US" sz="1400" b="0" i="0" u="none" strike="noStrike" dirty="0">
                          <a:solidFill>
                            <a:srgbClr val="595959"/>
                          </a:solidFill>
                          <a:effectLst/>
                          <a:latin typeface="+mn-lt"/>
                        </a:rPr>
                        <a:t>and Administration services</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61</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C000"/>
                    </a:solidFill>
                  </a:tcPr>
                </a:tc>
              </a:tr>
              <a:tr h="210563">
                <a:tc>
                  <a:txBody>
                    <a:bodyPr/>
                    <a:lstStyle/>
                    <a:p>
                      <a:pPr algn="l" fontAlgn="b"/>
                      <a:r>
                        <a:rPr lang="en-US" sz="1400" b="0" i="0" u="none" strike="noStrike" dirty="0" smtClean="0">
                          <a:solidFill>
                            <a:srgbClr val="595959"/>
                          </a:solidFill>
                          <a:effectLst/>
                          <a:latin typeface="+mn-lt"/>
                        </a:rPr>
                        <a:t>   Corporate </a:t>
                      </a:r>
                      <a:r>
                        <a:rPr lang="en-US" sz="1400" b="0" i="0" u="none" strike="noStrike" dirty="0">
                          <a:solidFill>
                            <a:srgbClr val="595959"/>
                          </a:solidFill>
                          <a:effectLst/>
                          <a:latin typeface="+mn-lt"/>
                        </a:rPr>
                        <a:t>Governance</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59</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r>
              <a:tr h="192700">
                <a:tc>
                  <a:txBody>
                    <a:bodyPr/>
                    <a:lstStyle/>
                    <a:p>
                      <a:pPr algn="l" fontAlgn="b"/>
                      <a:r>
                        <a:rPr lang="en-US" sz="1400" b="1" i="0" u="none" strike="noStrike" kern="1200" baseline="0" dirty="0" smtClean="0">
                          <a:solidFill>
                            <a:schemeClr val="tx1"/>
                          </a:solidFill>
                          <a:effectLst/>
                          <a:latin typeface="+mn-lt"/>
                          <a:ea typeface="+mn-ea"/>
                          <a:cs typeface="+mn-cs"/>
                        </a:rPr>
                        <a:t>Overall score of section A</a:t>
                      </a:r>
                      <a:endParaRPr lang="en-US" sz="1400" b="1" i="0" u="none" strike="noStrike" kern="1200" baseline="0" dirty="0">
                        <a:solidFill>
                          <a:schemeClr val="tx1"/>
                        </a:solidFill>
                        <a:effectLst/>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smtClean="0">
                          <a:solidFill>
                            <a:srgbClr val="000000"/>
                          </a:solidFill>
                          <a:effectLst/>
                          <a:latin typeface="+mn-lt"/>
                        </a:rPr>
                        <a:t>63</a:t>
                      </a: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281667">
                <a:tc>
                  <a:txBody>
                    <a:bodyPr/>
                    <a:lstStyle/>
                    <a:p>
                      <a:pPr algn="l" fontAlgn="b"/>
                      <a:r>
                        <a:rPr lang="en-US" sz="1400" b="1" i="0" u="none" strike="noStrike" kern="1200" baseline="0" noProof="0" dirty="0" smtClean="0">
                          <a:solidFill>
                            <a:schemeClr val="tx1"/>
                          </a:solidFill>
                          <a:effectLst/>
                          <a:latin typeface="+mn-lt"/>
                          <a:ea typeface="+mn-ea"/>
                          <a:cs typeface="+mn-cs"/>
                        </a:rPr>
                        <a:t>Section B- General African stakeholders section</a:t>
                      </a:r>
                      <a:endParaRPr lang="en-US" sz="1400" b="1" i="0" u="none" strike="noStrike" kern="1200" baseline="0" dirty="0">
                        <a:solidFill>
                          <a:schemeClr val="tx1"/>
                        </a:solidFill>
                        <a:effectLst/>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2700">
                <a:tc>
                  <a:txBody>
                    <a:bodyPr/>
                    <a:lstStyle/>
                    <a:p>
                      <a:pPr algn="l" fontAlgn="b"/>
                      <a:r>
                        <a:rPr lang="en-US" sz="1400" b="0" i="0" u="none" strike="noStrike" dirty="0" smtClean="0">
                          <a:solidFill>
                            <a:srgbClr val="595959"/>
                          </a:solidFill>
                          <a:effectLst/>
                          <a:latin typeface="+mn-lt"/>
                        </a:rPr>
                        <a:t>   AFRINIC </a:t>
                      </a:r>
                      <a:r>
                        <a:rPr lang="en-US" sz="1400" b="0" i="0" u="none" strike="noStrike" dirty="0">
                          <a:solidFill>
                            <a:srgbClr val="595959"/>
                          </a:solidFill>
                          <a:effectLst/>
                          <a:latin typeface="+mn-lt"/>
                        </a:rPr>
                        <a:t>Training </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smtClean="0">
                          <a:solidFill>
                            <a:srgbClr val="000000"/>
                          </a:solidFill>
                          <a:effectLst/>
                          <a:latin typeface="+mn-lt"/>
                        </a:rPr>
                        <a:t>53</a:t>
                      </a: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0000"/>
                    </a:solidFill>
                  </a:tcPr>
                </a:tc>
              </a:tr>
              <a:tr h="192700">
                <a:tc>
                  <a:txBody>
                    <a:bodyPr/>
                    <a:lstStyle/>
                    <a:p>
                      <a:pPr algn="l" fontAlgn="b"/>
                      <a:r>
                        <a:rPr lang="en-US" sz="1400" b="0" i="0" u="none" strike="noStrike" dirty="0" smtClean="0">
                          <a:solidFill>
                            <a:srgbClr val="595959"/>
                          </a:solidFill>
                          <a:effectLst/>
                          <a:latin typeface="+mn-lt"/>
                        </a:rPr>
                        <a:t>   AFRINIC </a:t>
                      </a:r>
                      <a:r>
                        <a:rPr lang="en-US" sz="1400" b="0" i="0" u="none" strike="noStrike" dirty="0">
                          <a:solidFill>
                            <a:srgbClr val="595959"/>
                          </a:solidFill>
                          <a:effectLst/>
                          <a:latin typeface="+mn-lt"/>
                        </a:rPr>
                        <a:t>E-learning website</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58</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0000"/>
                    </a:solidFill>
                  </a:tcPr>
                </a:tc>
              </a:tr>
              <a:tr h="192700">
                <a:tc>
                  <a:txBody>
                    <a:bodyPr/>
                    <a:lstStyle/>
                    <a:p>
                      <a:pPr algn="l" fontAlgn="b"/>
                      <a:r>
                        <a:rPr lang="en-US" sz="1400" b="0" i="0" u="none" strike="noStrike" dirty="0" smtClean="0">
                          <a:solidFill>
                            <a:srgbClr val="595959"/>
                          </a:solidFill>
                          <a:effectLst/>
                          <a:latin typeface="+mn-lt"/>
                        </a:rPr>
                        <a:t>   AFRINIC </a:t>
                      </a:r>
                      <a:r>
                        <a:rPr lang="en-US" sz="1400" b="0" i="0" u="none" strike="noStrike" dirty="0">
                          <a:solidFill>
                            <a:srgbClr val="595959"/>
                          </a:solidFill>
                          <a:effectLst/>
                          <a:latin typeface="+mn-lt"/>
                        </a:rPr>
                        <a:t>communication</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61</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C000"/>
                    </a:solidFill>
                  </a:tcPr>
                </a:tc>
              </a:tr>
              <a:tr h="192700">
                <a:tc>
                  <a:txBody>
                    <a:bodyPr/>
                    <a:lstStyle/>
                    <a:p>
                      <a:pPr algn="l" fontAlgn="b"/>
                      <a:r>
                        <a:rPr lang="en-US" sz="1400" b="0" i="0" u="none" strike="noStrike" dirty="0" smtClean="0">
                          <a:solidFill>
                            <a:srgbClr val="595959"/>
                          </a:solidFill>
                          <a:effectLst/>
                          <a:latin typeface="+mn-lt"/>
                        </a:rPr>
                        <a:t>   IPV6 </a:t>
                      </a:r>
                      <a:r>
                        <a:rPr lang="en-US" sz="1400" b="0" i="0" u="none" strike="noStrike" dirty="0">
                          <a:solidFill>
                            <a:srgbClr val="595959"/>
                          </a:solidFill>
                          <a:effectLst/>
                          <a:latin typeface="+mn-lt"/>
                        </a:rPr>
                        <a:t>Deployment</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a:solidFill>
                            <a:srgbClr val="FFFFFF"/>
                          </a:solidFill>
                          <a:effectLst/>
                          <a:latin typeface="+mn-lt"/>
                        </a:rPr>
                        <a:t>85</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92D050"/>
                    </a:solidFill>
                  </a:tcPr>
                </a:tc>
              </a:tr>
              <a:tr h="194429">
                <a:tc>
                  <a:txBody>
                    <a:bodyPr/>
                    <a:lstStyle/>
                    <a:p>
                      <a:pPr algn="l" fontAlgn="b"/>
                      <a:r>
                        <a:rPr lang="en-US" sz="1400" b="0" i="0" u="none" strike="noStrike" dirty="0" smtClean="0">
                          <a:solidFill>
                            <a:srgbClr val="595959"/>
                          </a:solidFill>
                          <a:effectLst/>
                          <a:latin typeface="+mn-lt"/>
                        </a:rPr>
                        <a:t>   Support </a:t>
                      </a:r>
                      <a:r>
                        <a:rPr lang="en-US" sz="1400" b="0" i="0" u="none" strike="noStrike" dirty="0">
                          <a:solidFill>
                            <a:srgbClr val="595959"/>
                          </a:solidFill>
                          <a:effectLst/>
                          <a:latin typeface="+mn-lt"/>
                        </a:rPr>
                        <a:t>for Public internet Infrastructure </a:t>
                      </a:r>
                      <a:r>
                        <a:rPr lang="en-US" sz="1400" b="0" i="0" u="none" strike="noStrike" dirty="0" smtClean="0">
                          <a:solidFill>
                            <a:srgbClr val="595959"/>
                          </a:solidFill>
                          <a:effectLst/>
                          <a:latin typeface="+mn-lt"/>
                        </a:rPr>
                        <a:t> development</a:t>
                      </a:r>
                      <a:endParaRPr lang="en-US" sz="1400" b="0" i="0" u="none" strike="noStrike" dirty="0">
                        <a:solidFill>
                          <a:srgbClr val="595959"/>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67</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2700">
                <a:tc>
                  <a:txBody>
                    <a:bodyPr/>
                    <a:lstStyle/>
                    <a:p>
                      <a:pPr marL="0" algn="l" defTabSz="914400" rtl="0" eaLnBrk="1" fontAlgn="b" latinLnBrk="0" hangingPunct="1"/>
                      <a:r>
                        <a:rPr lang="en-US" sz="1400" b="1" i="0" u="none" strike="noStrike" kern="1200" baseline="0" dirty="0" smtClean="0">
                          <a:solidFill>
                            <a:schemeClr val="tx1"/>
                          </a:solidFill>
                          <a:effectLst/>
                          <a:latin typeface="+mn-lt"/>
                          <a:ea typeface="+mn-ea"/>
                          <a:cs typeface="+mn-cs"/>
                        </a:rPr>
                        <a:t>Overall score of Section </a:t>
                      </a:r>
                      <a:r>
                        <a:rPr lang="en-US" sz="1400" b="1" i="0" u="none" strike="noStrike" kern="1200" baseline="0" dirty="0">
                          <a:solidFill>
                            <a:schemeClr val="tx1"/>
                          </a:solidFill>
                          <a:effectLst/>
                          <a:latin typeface="+mn-lt"/>
                          <a:ea typeface="+mn-ea"/>
                          <a:cs typeface="+mn-cs"/>
                        </a:rPr>
                        <a:t>B</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smtClean="0">
                          <a:solidFill>
                            <a:srgbClr val="000000"/>
                          </a:solidFill>
                          <a:effectLst/>
                          <a:latin typeface="+mn-lt"/>
                        </a:rPr>
                        <a:t>65</a:t>
                      </a: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2700">
                <a:tc>
                  <a:txBody>
                    <a:bodyPr/>
                    <a:lstStyle/>
                    <a:p>
                      <a:pPr algn="l" fontAlgn="b"/>
                      <a:r>
                        <a:rPr lang="en-US" sz="1400" b="1" i="0" u="none" strike="noStrike" kern="1200" baseline="0" noProof="0" dirty="0" smtClean="0">
                          <a:solidFill>
                            <a:schemeClr val="tx1"/>
                          </a:solidFill>
                          <a:effectLst/>
                          <a:latin typeface="+mn-lt"/>
                          <a:ea typeface="+mn-ea"/>
                          <a:cs typeface="+mn-cs"/>
                        </a:rPr>
                        <a:t>Section C- AFRINIC Public information services</a:t>
                      </a:r>
                      <a:endParaRPr lang="en-US" sz="1400" b="1" i="0" u="none" strike="noStrike" kern="1200" baseline="0" dirty="0">
                        <a:solidFill>
                          <a:schemeClr val="tx1"/>
                        </a:solidFill>
                        <a:effectLst/>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400" b="1" i="0" u="none" strike="noStrike" dirty="0">
                        <a:solidFill>
                          <a:srgbClr val="000000"/>
                        </a:solidFill>
                        <a:effectLst/>
                        <a:latin typeface="+mn-lt"/>
                      </a:endParaRP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92700">
                <a:tc>
                  <a:txBody>
                    <a:bodyPr/>
                    <a:lstStyle/>
                    <a:p>
                      <a:pPr algn="l" fontAlgn="b"/>
                      <a:r>
                        <a:rPr lang="en-US" sz="1400" b="0" i="0" u="none" strike="noStrike" dirty="0" smtClean="0">
                          <a:solidFill>
                            <a:srgbClr val="595959"/>
                          </a:solidFill>
                          <a:effectLst/>
                          <a:latin typeface="+mn-lt"/>
                        </a:rPr>
                        <a:t>   AFRINIC </a:t>
                      </a:r>
                      <a:r>
                        <a:rPr lang="en-US" sz="1400" b="0" i="0" u="none" strike="noStrike" dirty="0">
                          <a:solidFill>
                            <a:srgbClr val="595959"/>
                          </a:solidFill>
                          <a:effectLst/>
                          <a:latin typeface="+mn-lt"/>
                        </a:rPr>
                        <a:t>public information services</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mn-lt"/>
                        </a:rPr>
                        <a:t>62</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FC000"/>
                    </a:solidFill>
                  </a:tcPr>
                </a:tc>
              </a:tr>
              <a:tr h="192700">
                <a:tc>
                  <a:txBody>
                    <a:bodyPr/>
                    <a:lstStyle/>
                    <a:p>
                      <a:pPr algn="l" fontAlgn="b"/>
                      <a:r>
                        <a:rPr lang="en-US" sz="1400" b="0" i="0" u="none" strike="noStrike" dirty="0" smtClean="0">
                          <a:solidFill>
                            <a:srgbClr val="595959"/>
                          </a:solidFill>
                          <a:effectLst/>
                          <a:latin typeface="+mn-lt"/>
                        </a:rPr>
                        <a:t>   Internet </a:t>
                      </a:r>
                      <a:r>
                        <a:rPr lang="en-US" sz="1400" b="0" i="0" u="none" strike="noStrike" dirty="0">
                          <a:solidFill>
                            <a:srgbClr val="595959"/>
                          </a:solidFill>
                          <a:effectLst/>
                          <a:latin typeface="+mn-lt"/>
                        </a:rPr>
                        <a:t>Governance and Public Affairs</a:t>
                      </a:r>
                    </a:p>
                  </a:txBody>
                  <a:tcPr marL="9525" marR="9525" marT="9525" marB="0" anchor="b">
                    <a:lnL w="12700" cap="flat" cmpd="sng" algn="ctr">
                      <a:solidFill>
                        <a:schemeClr val="tx1"/>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FFFFFF"/>
                          </a:solidFill>
                          <a:effectLst/>
                          <a:latin typeface="+mn-lt"/>
                        </a:rPr>
                        <a:t>75</a:t>
                      </a:r>
                    </a:p>
                  </a:txBody>
                  <a:tcPr marL="9525" marR="9525" marT="9525" marB="0" anchor="ct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27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mn-lt"/>
                          <a:ea typeface="+mn-ea"/>
                          <a:cs typeface="+mn-cs"/>
                        </a:rPr>
                        <a:t>Overall score of section C</a:t>
                      </a:r>
                      <a:endParaRPr kumimoji="0" lang="en-US" sz="1400" b="1" i="0" u="none" strike="noStrike" kern="1200" cap="none" spc="0" normalizeH="0" baseline="0" noProof="0" dirty="0">
                        <a:ln>
                          <a:noFill/>
                        </a:ln>
                        <a:solidFill>
                          <a:prstClr val="black"/>
                        </a:solidFill>
                        <a:effectLst/>
                        <a:uLnTx/>
                        <a:uFillTx/>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400" b="1" i="0" u="none" strike="noStrike" dirty="0">
                          <a:solidFill>
                            <a:srgbClr val="000000"/>
                          </a:solidFill>
                          <a:effectLst/>
                          <a:latin typeface="+mn-lt"/>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bl>
          </a:graphicData>
        </a:graphic>
      </p:graphicFrame>
    </p:spTree>
    <p:extLst>
      <p:ext uri="{BB962C8B-B14F-4D97-AF65-F5344CB8AC3E}">
        <p14:creationId xmlns:p14="http://schemas.microsoft.com/office/powerpoint/2010/main" val="164799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100" y="274638"/>
            <a:ext cx="7505700" cy="1143000"/>
          </a:xfrm>
        </p:spPr>
        <p:txBody>
          <a:bodyPr>
            <a:normAutofit fontScale="90000"/>
          </a:bodyPr>
          <a:lstStyle/>
          <a:p>
            <a:r>
              <a:rPr lang="en-US" b="1" dirty="0" smtClean="0">
                <a:solidFill>
                  <a:srgbClr val="E46C0A"/>
                </a:solidFill>
              </a:rPr>
              <a:t>Members Registration and Administration</a:t>
            </a:r>
            <a:endParaRPr lang="en-US" b="1" dirty="0">
              <a:solidFill>
                <a:srgbClr val="E46C0A"/>
              </a:solidFill>
            </a:endParaRPr>
          </a:p>
        </p:txBody>
      </p:sp>
      <p:sp>
        <p:nvSpPr>
          <p:cNvPr id="3" name="Content Placeholder 2"/>
          <p:cNvSpPr>
            <a:spLocks noGrp="1"/>
          </p:cNvSpPr>
          <p:nvPr>
            <p:ph sz="quarter" idx="11"/>
          </p:nvPr>
        </p:nvSpPr>
        <p:spPr>
          <a:xfrm>
            <a:off x="1181100" y="1790700"/>
            <a:ext cx="7673975" cy="4148138"/>
          </a:xfrm>
        </p:spPr>
        <p:txBody>
          <a:bodyPr/>
          <a:lstStyle/>
          <a:p>
            <a:r>
              <a:rPr lang="en-US" sz="2800" dirty="0" smtClean="0">
                <a:latin typeface="Century Gothic"/>
                <a:cs typeface="Century Gothic"/>
              </a:rPr>
              <a:t>Improve </a:t>
            </a:r>
            <a:r>
              <a:rPr lang="en-US" sz="2800" dirty="0" err="1" smtClean="0">
                <a:latin typeface="Century Gothic"/>
                <a:cs typeface="Century Gothic"/>
              </a:rPr>
              <a:t>MyAFRINIC</a:t>
            </a:r>
            <a:r>
              <a:rPr lang="en-US" sz="2800" dirty="0" smtClean="0">
                <a:latin typeface="Century Gothic"/>
                <a:cs typeface="Century Gothic"/>
              </a:rPr>
              <a:t> to support membership Administration</a:t>
            </a:r>
          </a:p>
          <a:p>
            <a:r>
              <a:rPr lang="en-US" sz="2800" dirty="0" smtClean="0">
                <a:latin typeface="Century Gothic"/>
                <a:cs typeface="Century Gothic"/>
              </a:rPr>
              <a:t>Improve </a:t>
            </a:r>
            <a:r>
              <a:rPr lang="en-US" sz="2800" dirty="0" err="1" smtClean="0">
                <a:latin typeface="Century Gothic"/>
                <a:cs typeface="Century Gothic"/>
              </a:rPr>
              <a:t>MyAFRINIC</a:t>
            </a:r>
            <a:r>
              <a:rPr lang="en-US" sz="2800" dirty="0" smtClean="0">
                <a:latin typeface="Century Gothic"/>
                <a:cs typeface="Century Gothic"/>
              </a:rPr>
              <a:t> to better support request and resources management</a:t>
            </a:r>
          </a:p>
          <a:p>
            <a:r>
              <a:rPr lang="en-US" sz="2800" dirty="0" smtClean="0">
                <a:latin typeface="Century Gothic"/>
                <a:cs typeface="Century Gothic"/>
              </a:rPr>
              <a:t>Improve Billing and payment management</a:t>
            </a:r>
          </a:p>
          <a:p>
            <a:pPr lvl="1"/>
            <a:r>
              <a:rPr lang="en-US" sz="2400" dirty="0" smtClean="0">
                <a:latin typeface="Century Gothic"/>
                <a:cs typeface="Century Gothic"/>
              </a:rPr>
              <a:t>Integration </a:t>
            </a:r>
            <a:r>
              <a:rPr lang="en-US" sz="2400" dirty="0" smtClean="0">
                <a:latin typeface="Century Gothic"/>
                <a:cs typeface="Century Gothic"/>
              </a:rPr>
              <a:t>with </a:t>
            </a:r>
            <a:r>
              <a:rPr lang="en-US" sz="2400" dirty="0" err="1" smtClean="0">
                <a:latin typeface="Century Gothic"/>
                <a:cs typeface="Century Gothic"/>
              </a:rPr>
              <a:t>MyAFRINIC</a:t>
            </a:r>
            <a:r>
              <a:rPr lang="en-US" sz="2400" dirty="0" smtClean="0">
                <a:latin typeface="Century Gothic"/>
                <a:cs typeface="Century Gothic"/>
              </a:rPr>
              <a:t> </a:t>
            </a:r>
          </a:p>
          <a:p>
            <a:pPr lvl="1"/>
            <a:r>
              <a:rPr lang="en-US" sz="2400" dirty="0" smtClean="0">
                <a:latin typeface="Century Gothic"/>
                <a:cs typeface="Century Gothic"/>
              </a:rPr>
              <a:t>Timely and appropriate response to Billing and Administration queries</a:t>
            </a:r>
            <a:endParaRPr lang="en-US" sz="2400" dirty="0">
              <a:latin typeface="Century Gothic"/>
              <a:cs typeface="Century Gothic"/>
            </a:endParaRPr>
          </a:p>
        </p:txBody>
      </p:sp>
    </p:spTree>
    <p:extLst>
      <p:ext uri="{BB962C8B-B14F-4D97-AF65-F5344CB8AC3E}">
        <p14:creationId xmlns:p14="http://schemas.microsoft.com/office/powerpoint/2010/main" val="939237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500" y="274638"/>
            <a:ext cx="7607300" cy="1143000"/>
          </a:xfrm>
        </p:spPr>
        <p:txBody>
          <a:bodyPr/>
          <a:lstStyle/>
          <a:p>
            <a:r>
              <a:rPr lang="en-US" b="1" dirty="0" smtClean="0">
                <a:solidFill>
                  <a:srgbClr val="E46C0A"/>
                </a:solidFill>
              </a:rPr>
              <a:t>Corporate Governance</a:t>
            </a:r>
            <a:endParaRPr lang="en-US" b="1" dirty="0">
              <a:solidFill>
                <a:srgbClr val="E46C0A"/>
              </a:solidFill>
            </a:endParaRPr>
          </a:p>
        </p:txBody>
      </p:sp>
      <p:sp>
        <p:nvSpPr>
          <p:cNvPr id="3" name="Content Placeholder 2"/>
          <p:cNvSpPr>
            <a:spLocks noGrp="1"/>
          </p:cNvSpPr>
          <p:nvPr>
            <p:ph sz="quarter" idx="11"/>
          </p:nvPr>
        </p:nvSpPr>
        <p:spPr>
          <a:xfrm>
            <a:off x="1079500" y="1714500"/>
            <a:ext cx="7775575" cy="4224338"/>
          </a:xfrm>
        </p:spPr>
        <p:txBody>
          <a:bodyPr/>
          <a:lstStyle/>
          <a:p>
            <a:r>
              <a:rPr lang="en-US" dirty="0" smtClean="0">
                <a:latin typeface="Century Gothic"/>
                <a:cs typeface="Century Gothic"/>
              </a:rPr>
              <a:t>Key points</a:t>
            </a:r>
          </a:p>
          <a:p>
            <a:pPr lvl="1"/>
            <a:r>
              <a:rPr lang="en-US" dirty="0" smtClean="0">
                <a:latin typeface="Century Gothic"/>
                <a:cs typeface="Century Gothic"/>
              </a:rPr>
              <a:t>Members </a:t>
            </a:r>
            <a:r>
              <a:rPr lang="en-US" dirty="0" smtClean="0">
                <a:latin typeface="Century Gothic"/>
                <a:cs typeface="Century Gothic"/>
              </a:rPr>
              <a:t>have expressed a lack of knowledge on AFRINIC governance structure. Request for more awareness and communication on the same.</a:t>
            </a:r>
          </a:p>
          <a:p>
            <a:pPr lvl="1"/>
            <a:r>
              <a:rPr lang="en-US" dirty="0" smtClean="0">
                <a:latin typeface="Century Gothic"/>
                <a:cs typeface="Century Gothic"/>
              </a:rPr>
              <a:t>Concern with election process and e-voting.</a:t>
            </a:r>
          </a:p>
          <a:p>
            <a:pPr lvl="1"/>
            <a:r>
              <a:rPr lang="en-US" dirty="0" smtClean="0">
                <a:latin typeface="Century Gothic"/>
                <a:cs typeface="Century Gothic"/>
              </a:rPr>
              <a:t>Overall request for more membership value.</a:t>
            </a:r>
          </a:p>
        </p:txBody>
      </p:sp>
    </p:spTree>
    <p:extLst>
      <p:ext uri="{BB962C8B-B14F-4D97-AF65-F5344CB8AC3E}">
        <p14:creationId xmlns:p14="http://schemas.microsoft.com/office/powerpoint/2010/main" val="3071040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400" y="274638"/>
            <a:ext cx="7645400" cy="1143000"/>
          </a:xfrm>
        </p:spPr>
        <p:txBody>
          <a:bodyPr/>
          <a:lstStyle/>
          <a:p>
            <a:r>
              <a:rPr lang="en-US" b="1" dirty="0" smtClean="0">
                <a:solidFill>
                  <a:srgbClr val="E46C0A"/>
                </a:solidFill>
              </a:rPr>
              <a:t>Training</a:t>
            </a:r>
            <a:endParaRPr lang="en-US" b="1" dirty="0">
              <a:solidFill>
                <a:srgbClr val="E46C0A"/>
              </a:solidFill>
            </a:endParaRPr>
          </a:p>
        </p:txBody>
      </p:sp>
      <p:sp>
        <p:nvSpPr>
          <p:cNvPr id="3" name="Content Placeholder 2"/>
          <p:cNvSpPr>
            <a:spLocks noGrp="1"/>
          </p:cNvSpPr>
          <p:nvPr>
            <p:ph sz="quarter" idx="11"/>
          </p:nvPr>
        </p:nvSpPr>
        <p:spPr>
          <a:xfrm>
            <a:off x="1231900" y="1739900"/>
            <a:ext cx="7623175" cy="4198938"/>
          </a:xfrm>
        </p:spPr>
        <p:txBody>
          <a:bodyPr/>
          <a:lstStyle/>
          <a:p>
            <a:r>
              <a:rPr lang="en-US" dirty="0" smtClean="0">
                <a:latin typeface="Century Gothic"/>
                <a:cs typeface="Century Gothic"/>
              </a:rPr>
              <a:t>Quality of Training Materials to be improved</a:t>
            </a:r>
          </a:p>
          <a:p>
            <a:r>
              <a:rPr lang="en-US" dirty="0" smtClean="0">
                <a:latin typeface="Century Gothic"/>
                <a:cs typeface="Century Gothic"/>
              </a:rPr>
              <a:t>Publication of Training Materials</a:t>
            </a:r>
          </a:p>
          <a:p>
            <a:r>
              <a:rPr lang="en-US" dirty="0" smtClean="0">
                <a:latin typeface="Century Gothic"/>
                <a:cs typeface="Century Gothic"/>
              </a:rPr>
              <a:t>Unwillingness to pay for training Program</a:t>
            </a:r>
          </a:p>
          <a:p>
            <a:r>
              <a:rPr lang="en-US" dirty="0" smtClean="0">
                <a:latin typeface="Century Gothic"/>
                <a:cs typeface="Century Gothic"/>
              </a:rPr>
              <a:t>Open access to training materials</a:t>
            </a:r>
          </a:p>
          <a:p>
            <a:r>
              <a:rPr lang="en-US" dirty="0" smtClean="0">
                <a:latin typeface="Century Gothic"/>
                <a:cs typeface="Century Gothic"/>
              </a:rPr>
              <a:t>Develop more e-learning materials</a:t>
            </a:r>
            <a:endParaRPr lang="en-US" dirty="0">
              <a:latin typeface="Century Gothic"/>
              <a:cs typeface="Century Gothic"/>
            </a:endParaRPr>
          </a:p>
        </p:txBody>
      </p:sp>
    </p:spTree>
    <p:extLst>
      <p:ext uri="{BB962C8B-B14F-4D97-AF65-F5344CB8AC3E}">
        <p14:creationId xmlns:p14="http://schemas.microsoft.com/office/powerpoint/2010/main" val="1255453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400" y="274638"/>
            <a:ext cx="7645400" cy="1143000"/>
          </a:xfrm>
        </p:spPr>
        <p:txBody>
          <a:bodyPr/>
          <a:lstStyle/>
          <a:p>
            <a:r>
              <a:rPr lang="en-US" b="1" dirty="0" smtClean="0">
                <a:solidFill>
                  <a:srgbClr val="E46C0A"/>
                </a:solidFill>
              </a:rPr>
              <a:t>Communications</a:t>
            </a:r>
            <a:endParaRPr lang="en-US" b="1" dirty="0">
              <a:solidFill>
                <a:srgbClr val="E46C0A"/>
              </a:solidFill>
            </a:endParaRPr>
          </a:p>
        </p:txBody>
      </p:sp>
      <p:sp>
        <p:nvSpPr>
          <p:cNvPr id="3" name="Content Placeholder 2"/>
          <p:cNvSpPr>
            <a:spLocks noGrp="1"/>
          </p:cNvSpPr>
          <p:nvPr>
            <p:ph sz="quarter" idx="11"/>
          </p:nvPr>
        </p:nvSpPr>
        <p:spPr>
          <a:xfrm>
            <a:off x="1295400" y="1739900"/>
            <a:ext cx="7559675" cy="4198938"/>
          </a:xfrm>
        </p:spPr>
        <p:txBody>
          <a:bodyPr/>
          <a:lstStyle/>
          <a:p>
            <a:r>
              <a:rPr lang="en-US" dirty="0" smtClean="0">
                <a:latin typeface="Century Gothic"/>
                <a:cs typeface="Century Gothic"/>
              </a:rPr>
              <a:t>Pertinence of communications</a:t>
            </a:r>
          </a:p>
          <a:p>
            <a:r>
              <a:rPr lang="en-US" dirty="0" smtClean="0">
                <a:latin typeface="Century Gothic"/>
                <a:cs typeface="Century Gothic"/>
              </a:rPr>
              <a:t>Availability of information on AFRINIC </a:t>
            </a:r>
            <a:r>
              <a:rPr lang="en-US" dirty="0" smtClean="0">
                <a:latin typeface="Century Gothic"/>
                <a:cs typeface="Century Gothic"/>
              </a:rPr>
              <a:t>activities online</a:t>
            </a:r>
            <a:endParaRPr lang="en-US" dirty="0" smtClean="0">
              <a:latin typeface="Century Gothic"/>
              <a:cs typeface="Century Gothic"/>
            </a:endParaRPr>
          </a:p>
          <a:p>
            <a:r>
              <a:rPr lang="en-US" dirty="0" smtClean="0">
                <a:latin typeface="Century Gothic"/>
                <a:cs typeface="Century Gothic"/>
              </a:rPr>
              <a:t>Remote participation to AFRINIC meetings</a:t>
            </a:r>
          </a:p>
          <a:p>
            <a:r>
              <a:rPr lang="en-US" dirty="0" smtClean="0">
                <a:latin typeface="Century Gothic"/>
                <a:cs typeface="Century Gothic"/>
              </a:rPr>
              <a:t>Use of social </a:t>
            </a:r>
            <a:r>
              <a:rPr lang="en-US" dirty="0">
                <a:latin typeface="Century Gothic"/>
                <a:cs typeface="Century Gothic"/>
              </a:rPr>
              <a:t>media to meet communication </a:t>
            </a:r>
            <a:r>
              <a:rPr lang="en-US" dirty="0" smtClean="0">
                <a:latin typeface="Century Gothic"/>
                <a:cs typeface="Century Gothic"/>
              </a:rPr>
              <a:t>needs.</a:t>
            </a:r>
            <a:endParaRPr lang="en-US" dirty="0">
              <a:latin typeface="Century Gothic"/>
              <a:cs typeface="Century Gothic"/>
            </a:endParaRPr>
          </a:p>
        </p:txBody>
      </p:sp>
    </p:spTree>
    <p:extLst>
      <p:ext uri="{BB962C8B-B14F-4D97-AF65-F5344CB8AC3E}">
        <p14:creationId xmlns:p14="http://schemas.microsoft.com/office/powerpoint/2010/main" val="83205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500" y="274638"/>
            <a:ext cx="7480300" cy="1143000"/>
          </a:xfrm>
        </p:spPr>
        <p:txBody>
          <a:bodyPr/>
          <a:lstStyle/>
          <a:p>
            <a:r>
              <a:rPr lang="en-US" b="1" dirty="0" smtClean="0">
                <a:solidFill>
                  <a:srgbClr val="E46C0A"/>
                </a:solidFill>
              </a:rPr>
              <a:t>Public Information Services</a:t>
            </a:r>
            <a:endParaRPr lang="en-US" b="1" dirty="0">
              <a:solidFill>
                <a:srgbClr val="E46C0A"/>
              </a:solidFill>
            </a:endParaRPr>
          </a:p>
        </p:txBody>
      </p:sp>
      <p:sp>
        <p:nvSpPr>
          <p:cNvPr id="3" name="Content Placeholder 2"/>
          <p:cNvSpPr>
            <a:spLocks noGrp="1"/>
          </p:cNvSpPr>
          <p:nvPr>
            <p:ph sz="quarter" idx="11"/>
          </p:nvPr>
        </p:nvSpPr>
        <p:spPr>
          <a:xfrm>
            <a:off x="1206500" y="1620838"/>
            <a:ext cx="7648575" cy="4521200"/>
          </a:xfrm>
        </p:spPr>
        <p:txBody>
          <a:bodyPr/>
          <a:lstStyle/>
          <a:p>
            <a:r>
              <a:rPr lang="en-US" dirty="0" smtClean="0">
                <a:latin typeface="Century Gothic"/>
                <a:cs typeface="Century Gothic"/>
              </a:rPr>
              <a:t>Insufficient Information available Online</a:t>
            </a:r>
          </a:p>
          <a:p>
            <a:r>
              <a:rPr lang="en-US" dirty="0" smtClean="0">
                <a:latin typeface="Century Gothic"/>
                <a:cs typeface="Century Gothic"/>
              </a:rPr>
              <a:t>More involvement/presence in Local community </a:t>
            </a:r>
          </a:p>
          <a:p>
            <a:r>
              <a:rPr lang="en-US" dirty="0" smtClean="0">
                <a:latin typeface="Century Gothic"/>
                <a:cs typeface="Century Gothic"/>
              </a:rPr>
              <a:t>Increase awareness on DNS </a:t>
            </a:r>
          </a:p>
          <a:p>
            <a:r>
              <a:rPr lang="en-US" dirty="0" smtClean="0">
                <a:latin typeface="Century Gothic"/>
                <a:cs typeface="Century Gothic"/>
              </a:rPr>
              <a:t>Collaboration with stakeholders on Infrastructure Projects</a:t>
            </a:r>
          </a:p>
          <a:p>
            <a:endParaRPr lang="en-US" dirty="0">
              <a:latin typeface="Century Gothic"/>
              <a:cs typeface="Century Gothic"/>
            </a:endParaRPr>
          </a:p>
        </p:txBody>
      </p:sp>
    </p:spTree>
    <p:extLst>
      <p:ext uri="{BB962C8B-B14F-4D97-AF65-F5344CB8AC3E}">
        <p14:creationId xmlns:p14="http://schemas.microsoft.com/office/powerpoint/2010/main" val="3017844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543800" cy="652462"/>
          </a:xfrm>
        </p:spPr>
        <p:txBody>
          <a:bodyPr>
            <a:normAutofit fontScale="90000"/>
          </a:bodyPr>
          <a:lstStyle/>
          <a:p>
            <a:r>
              <a:rPr lang="en-US" b="1" dirty="0" smtClean="0">
                <a:solidFill>
                  <a:srgbClr val="E46C0A"/>
                </a:solidFill>
              </a:rPr>
              <a:t>What are we taking away?</a:t>
            </a:r>
            <a:endParaRPr lang="en-US" b="1" dirty="0">
              <a:solidFill>
                <a:srgbClr val="E46C0A"/>
              </a:solidFill>
            </a:endParaRPr>
          </a:p>
        </p:txBody>
      </p:sp>
      <p:sp>
        <p:nvSpPr>
          <p:cNvPr id="3" name="Content Placeholder 2"/>
          <p:cNvSpPr>
            <a:spLocks noGrp="1"/>
          </p:cNvSpPr>
          <p:nvPr>
            <p:ph sz="quarter" idx="11"/>
          </p:nvPr>
        </p:nvSpPr>
        <p:spPr>
          <a:xfrm>
            <a:off x="952500" y="1422400"/>
            <a:ext cx="7902575" cy="4241800"/>
          </a:xfrm>
        </p:spPr>
        <p:txBody>
          <a:bodyPr/>
          <a:lstStyle/>
          <a:p>
            <a:r>
              <a:rPr lang="en-US" dirty="0" smtClean="0">
                <a:latin typeface="Century Gothic"/>
                <a:cs typeface="Century Gothic"/>
              </a:rPr>
              <a:t>We will have a close look at all these feedbacks and integrate them into our activity plan (those who are not yet in there) and also use It to define our priorities for the coming two years.</a:t>
            </a:r>
          </a:p>
          <a:p>
            <a:r>
              <a:rPr lang="en-US" dirty="0" smtClean="0">
                <a:latin typeface="Century Gothic"/>
                <a:cs typeface="Century Gothic"/>
              </a:rPr>
              <a:t>The full report will be published online next week.</a:t>
            </a:r>
          </a:p>
          <a:p>
            <a:endParaRPr lang="en-US" dirty="0">
              <a:latin typeface="Century Gothic"/>
              <a:cs typeface="Century Gothic"/>
            </a:endParaRPr>
          </a:p>
        </p:txBody>
      </p:sp>
    </p:spTree>
    <p:extLst>
      <p:ext uri="{BB962C8B-B14F-4D97-AF65-F5344CB8AC3E}">
        <p14:creationId xmlns:p14="http://schemas.microsoft.com/office/powerpoint/2010/main" val="4138391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10400" y="6446148"/>
            <a:ext cx="2133600" cy="365125"/>
          </a:xfrm>
          <a:prstGeom prst="rect">
            <a:avLst/>
          </a:prstGeom>
        </p:spPr>
        <p:txBody>
          <a:bodyPr/>
          <a:lstStyle/>
          <a:p>
            <a:r>
              <a:rPr lang="en-US" dirty="0" smtClean="0"/>
              <a:t>Page </a:t>
            </a:r>
            <a:fld id="{7A3D06EB-BE18-314F-9DAD-3080EE8D5A3E}" type="slidenum">
              <a:rPr lang="en-US" smtClean="0"/>
              <a:pPr/>
              <a:t>12</a:t>
            </a:fld>
            <a:endParaRPr lang="en-US" dirty="0"/>
          </a:p>
        </p:txBody>
      </p:sp>
      <p:pic>
        <p:nvPicPr>
          <p:cNvPr id="5" name="Picture 8"/>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475643" y="1335986"/>
            <a:ext cx="7102719" cy="547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234280" y="3088343"/>
            <a:ext cx="4206516" cy="923330"/>
          </a:xfrm>
          <a:prstGeom prst="rect">
            <a:avLst/>
          </a:prstGeom>
          <a:noFill/>
        </p:spPr>
        <p:txBody>
          <a:bodyPr wrap="square" rtlCol="0">
            <a:spAutoFit/>
          </a:bodyPr>
          <a:lstStyle/>
          <a:p>
            <a:pPr algn="ctr"/>
            <a:r>
              <a:rPr lang="en-US" sz="5400" b="1" dirty="0" smtClean="0">
                <a:solidFill>
                  <a:srgbClr val="FF6600"/>
                </a:solidFill>
                <a:latin typeface="American Typewriter"/>
                <a:cs typeface="American Typewriter"/>
              </a:rPr>
              <a:t>Questions</a:t>
            </a:r>
          </a:p>
        </p:txBody>
      </p:sp>
    </p:spTree>
    <p:extLst>
      <p:ext uri="{BB962C8B-B14F-4D97-AF65-F5344CB8AC3E}">
        <p14:creationId xmlns:p14="http://schemas.microsoft.com/office/powerpoint/2010/main" val="1302863506"/>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AF-17-Ne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AF-17-New.potx</Template>
  <TotalTime>666</TotalTime>
  <Words>480</Words>
  <Application>Microsoft Macintosh PowerPoint</Application>
  <PresentationFormat>On-screen Show (4:3)</PresentationFormat>
  <Paragraphs>93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AF-17-New</vt:lpstr>
      <vt:lpstr>Stakeholders Survey Report</vt:lpstr>
      <vt:lpstr>Objectives</vt:lpstr>
      <vt:lpstr>Respondents Demography</vt:lpstr>
      <vt:lpstr>Summary</vt:lpstr>
      <vt:lpstr>General feedback</vt:lpstr>
      <vt:lpstr>Members Registration and Administration</vt:lpstr>
      <vt:lpstr>Corporate Governance</vt:lpstr>
      <vt:lpstr>Training</vt:lpstr>
      <vt:lpstr>Communications</vt:lpstr>
      <vt:lpstr>Public Information Services</vt:lpstr>
      <vt:lpstr>What are we taking away?</vt:lpstr>
      <vt:lpstr>PowerPoint Presentation</vt:lpstr>
    </vt:vector>
  </TitlesOfParts>
  <Company>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vd d</dc:creator>
  <cp:lastModifiedBy>Adiel Akplogan</cp:lastModifiedBy>
  <cp:revision>21</cp:revision>
  <dcterms:created xsi:type="dcterms:W3CDTF">2012-04-10T07:37:49Z</dcterms:created>
  <dcterms:modified xsi:type="dcterms:W3CDTF">2012-11-28T08:24:48Z</dcterms:modified>
</cp:coreProperties>
</file>