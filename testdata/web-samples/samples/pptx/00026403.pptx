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8" autoAdjust="0"/>
  </p:normalViewPr>
  <p:slideViewPr>
    <p:cSldViewPr>
      <p:cViewPr>
        <p:scale>
          <a:sx n="90" d="100"/>
          <a:sy n="90" d="100"/>
        </p:scale>
        <p:origin x="-594" y="-3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c:spPr>
          </c:dPt>
          <c:dPt>
            <c:idx val="1"/>
            <c:bubble3D val="0"/>
            <c:spPr>
              <a:solidFill>
                <a:schemeClr val="tx1"/>
              </a:solidFill>
            </c:spPr>
          </c:dPt>
          <c:dPt>
            <c:idx val="2"/>
            <c:bubble3D val="0"/>
            <c:spPr>
              <a:pattFill prst="pct5">
                <a:fgClr>
                  <a:schemeClr val="tx1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c:spPr>
          </c:dPt>
          <c:dLbls>
            <c:numFmt formatCode="0%" sourceLinked="0"/>
            <c:txPr>
              <a:bodyPr/>
              <a:lstStyle/>
              <a:p>
                <a:pPr>
                  <a:defRPr sz="1200">
                    <a:latin typeface="Arial" pitchFamily="34" charset="0"/>
                    <a:cs typeface="Arial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0"/>
          </c:dLbls>
          <c:cat>
            <c:strRef>
              <c:f>Sheet1!$A$2:$A$4</c:f>
              <c:strCache>
                <c:ptCount val="3"/>
                <c:pt idx="0">
                  <c:v>More integration</c:v>
                </c:pt>
                <c:pt idx="1">
                  <c:v>As it is</c:v>
                </c:pt>
                <c:pt idx="2">
                  <c:v>Less integration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</c:v>
                </c:pt>
                <c:pt idx="1">
                  <c:v>0.3</c:v>
                </c:pt>
                <c:pt idx="2">
                  <c:v>0.3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c:spPr>
          </c:dPt>
          <c:dPt>
            <c:idx val="1"/>
            <c:bubble3D val="0"/>
            <c:spPr>
              <a:solidFill>
                <a:schemeClr val="tx1"/>
              </a:solidFill>
            </c:spPr>
          </c:dPt>
          <c:dPt>
            <c:idx val="2"/>
            <c:bubble3D val="0"/>
            <c:spPr>
              <a:pattFill prst="pct5">
                <a:fgClr>
                  <a:schemeClr val="tx1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c:spPr>
          </c:dPt>
          <c:dLbls>
            <c:dLbl>
              <c:idx val="0"/>
              <c:layout>
                <c:manualLayout>
                  <c:x val="-3.070280326668035E-3"/>
                  <c:y val="7.0239944073518549E-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</c:dLbl>
            <c:dLbl>
              <c:idx val="2"/>
              <c:layout>
                <c:manualLayout>
                  <c:x val="-2.9893100389975502E-3"/>
                  <c:y val="-1.7560262553592523E-2"/>
                </c:manualLayout>
              </c:layout>
              <c:tx>
                <c:rich>
                  <a:bodyPr/>
                  <a:lstStyle/>
                  <a:p>
                    <a:r>
                      <a:rPr lang="en-US" dirty="0" smtClean="0"/>
                      <a:t>Negative</a:t>
                    </a:r>
                    <a:r>
                      <a:rPr lang="en-US" baseline="0" dirty="0" smtClean="0"/>
                      <a:t> </a:t>
                    </a:r>
                    <a:r>
                      <a:rPr lang="en-US" dirty="0" smtClean="0"/>
                      <a:t>EU 28</a:t>
                    </a:r>
                    <a:r>
                      <a:rPr lang="en-US" dirty="0"/>
                      <a:t>%</a:t>
                    </a:r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</c:dLbl>
            <c:numFmt formatCode="0%" sourceLinked="0"/>
            <c:txPr>
              <a:bodyPr/>
              <a:lstStyle/>
              <a:p>
                <a:pPr>
                  <a:defRPr sz="1200">
                    <a:latin typeface="Arial" pitchFamily="34" charset="0"/>
                    <a:cs typeface="Arial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0"/>
          </c:dLbls>
          <c:cat>
            <c:strRef>
              <c:f>Sheet1!$A$2:$A$4</c:f>
              <c:strCache>
                <c:ptCount val="3"/>
                <c:pt idx="0">
                  <c:v>Positive EU</c:v>
                </c:pt>
                <c:pt idx="1">
                  <c:v>Neutral EU</c:v>
                </c:pt>
                <c:pt idx="2">
                  <c:v>Negative EU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0.32</c:v>
                </c:pt>
                <c:pt idx="1">
                  <c:v>0.4</c:v>
                </c:pt>
                <c:pt idx="2">
                  <c:v>0.28000000000000003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EA27E1-CC4E-4604-9C2D-75EFADA9F103}" type="datetimeFigureOut">
              <a:rPr lang="en-GB" smtClean="0"/>
              <a:t>24/08/2012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685EC-2D02-4746-9A83-59E44683E0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152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DC255-699E-4737-B5A1-BBC18CCE658E}" type="datetimeFigureOut">
              <a:rPr lang="en-GB" smtClean="0"/>
              <a:t>24/08/2012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8E6A-ABFE-45A8-A90C-BF13F92971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835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DC255-699E-4737-B5A1-BBC18CCE658E}" type="datetimeFigureOut">
              <a:rPr lang="en-GB" smtClean="0"/>
              <a:t>24/08/2012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8E6A-ABFE-45A8-A90C-BF13F92971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234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DC255-699E-4737-B5A1-BBC18CCE658E}" type="datetimeFigureOut">
              <a:rPr lang="en-GB" smtClean="0"/>
              <a:t>24/08/2012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8E6A-ABFE-45A8-A90C-BF13F92971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0151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DC255-699E-4737-B5A1-BBC18CCE658E}" type="datetimeFigureOut">
              <a:rPr lang="en-GB" smtClean="0"/>
              <a:t>24/08/2012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8E6A-ABFE-45A8-A90C-BF13F92971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851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DC255-699E-4737-B5A1-BBC18CCE658E}" type="datetimeFigureOut">
              <a:rPr lang="en-GB" smtClean="0"/>
              <a:t>24/08/2012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8E6A-ABFE-45A8-A90C-BF13F92971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4616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DC255-699E-4737-B5A1-BBC18CCE658E}" type="datetimeFigureOut">
              <a:rPr lang="en-GB" smtClean="0"/>
              <a:t>24/08/2012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8E6A-ABFE-45A8-A90C-BF13F92971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474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DC255-699E-4737-B5A1-BBC18CCE658E}" type="datetimeFigureOut">
              <a:rPr lang="en-GB" smtClean="0"/>
              <a:t>24/08/2012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8E6A-ABFE-45A8-A90C-BF13F92971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89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DC255-699E-4737-B5A1-BBC18CCE658E}" type="datetimeFigureOut">
              <a:rPr lang="en-GB" smtClean="0"/>
              <a:t>24/08/2012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8E6A-ABFE-45A8-A90C-BF13F92971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868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DC255-699E-4737-B5A1-BBC18CCE658E}" type="datetimeFigureOut">
              <a:rPr lang="en-GB" smtClean="0"/>
              <a:t>24/08/2012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8E6A-ABFE-45A8-A90C-BF13F92971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6565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DC255-699E-4737-B5A1-BBC18CCE658E}" type="datetimeFigureOut">
              <a:rPr lang="en-GB" smtClean="0"/>
              <a:t>24/08/2012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8E6A-ABFE-45A8-A90C-BF13F92971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200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DC255-699E-4737-B5A1-BBC18CCE658E}" type="datetimeFigureOut">
              <a:rPr lang="en-GB" smtClean="0"/>
              <a:t>24/08/2012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8E6A-ABFE-45A8-A90C-BF13F92971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8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DC255-699E-4737-B5A1-BBC18CCE658E}" type="datetimeFigureOut">
              <a:rPr lang="en-GB" smtClean="0"/>
              <a:t>24/08/2012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18E6A-ABFE-45A8-A90C-BF13F92971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041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00200" y="836712"/>
            <a:ext cx="7344816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GB" sz="1400" b="1" i="0" u="none" strike="noStrike" baseline="0" dirty="0" smtClean="0">
                <a:latin typeface="Arial" pitchFamily="34" charset="0"/>
                <a:cs typeface="Arial" pitchFamily="34" charset="0"/>
              </a:rPr>
              <a:t>PRAGMATISM, EUROSCEPTICISM AND INTEGRATION:</a:t>
            </a:r>
          </a:p>
          <a:p>
            <a:pPr algn="ctr"/>
            <a:endParaRPr lang="en-GB" sz="1400" b="1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GB" sz="1400" b="1" i="0" u="none" strike="noStrike" baseline="0" dirty="0" smtClean="0">
                <a:latin typeface="Arial" pitchFamily="34" charset="0"/>
                <a:cs typeface="Arial" pitchFamily="34" charset="0"/>
              </a:rPr>
              <a:t>A DYNAMIC APPROACH</a:t>
            </a:r>
          </a:p>
          <a:p>
            <a:pPr algn="ctr"/>
            <a:endParaRPr lang="en-GB" sz="1400" b="1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GB" sz="1400" b="1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GB" sz="1400" b="1" i="0" u="none" strike="noStrike" baseline="0" dirty="0" smtClean="0">
                <a:latin typeface="Arial" pitchFamily="34" charset="0"/>
                <a:cs typeface="Arial" pitchFamily="34" charset="0"/>
              </a:rPr>
              <a:t>PROFESSOR </a:t>
            </a:r>
            <a:r>
              <a:rPr lang="en-GB" sz="1400" b="1" i="0" u="none" strike="noStrike" baseline="0" dirty="0" smtClean="0">
                <a:latin typeface="Arial" pitchFamily="34" charset="0"/>
                <a:cs typeface="Arial" pitchFamily="34" charset="0"/>
              </a:rPr>
              <a:t>RICHARD ROSE</a:t>
            </a:r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GB" sz="1400" b="0" i="1" u="none" strike="noStrike" baseline="0" dirty="0" smtClean="0">
                <a:latin typeface="Arial" pitchFamily="34" charset="0"/>
                <a:cs typeface="Arial" pitchFamily="34" charset="0"/>
              </a:rPr>
              <a:t>CENTRE FOR THE STUDY OF PUBLIC POLICY</a:t>
            </a:r>
          </a:p>
          <a:p>
            <a:pPr algn="ctr"/>
            <a:endParaRPr lang="en-GB" sz="1400" b="0" i="1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GB" sz="1400" b="0" i="1" u="none" strike="noStrike" baseline="0" dirty="0" smtClean="0">
                <a:latin typeface="Arial" pitchFamily="34" charset="0"/>
                <a:cs typeface="Arial" pitchFamily="34" charset="0"/>
              </a:rPr>
              <a:t>UNIVERSITY OF STRATHCLYDE  </a:t>
            </a:r>
          </a:p>
          <a:p>
            <a:pPr algn="ctr"/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GB" sz="1400" b="0" i="0" u="sng" strike="noStrike" baseline="0" dirty="0" smtClean="0">
                <a:latin typeface="Arial" pitchFamily="34" charset="0"/>
                <a:cs typeface="Arial" pitchFamily="34" charset="0"/>
              </a:rPr>
              <a:t>www.strath.ac.uk</a:t>
            </a:r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UACES Conference</a:t>
            </a:r>
            <a:r>
              <a:rPr lang="en-GB" sz="1400" b="0" i="0" u="none" strike="noStrike" dirty="0" smtClean="0">
                <a:latin typeface="Arial" pitchFamily="34" charset="0"/>
                <a:cs typeface="Arial" pitchFamily="34" charset="0"/>
              </a:rPr>
              <a:t>  Panel 809 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 Passau</a:t>
            </a:r>
            <a:r>
              <a:rPr lang="en-GB" sz="1400" dirty="0">
                <a:latin typeface="Arial" pitchFamily="34" charset="0"/>
                <a:cs typeface="Arial" pitchFamily="34" charset="0"/>
              </a:rPr>
              <a:t> 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  5 September 2012 </a:t>
            </a:r>
          </a:p>
          <a:p>
            <a:pPr algn="ctr"/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For full details, see REPRESENTING EUROPEANS: A PRAGMATIC APPROACH </a:t>
            </a:r>
          </a:p>
          <a:p>
            <a:pPr algn="ctr"/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Oxford U. Press Impact Book,  Spring, 2013</a:t>
            </a:r>
          </a:p>
          <a:p>
            <a:pPr algn="ctr"/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Supported by ESRC grant RES-062-23-1892</a:t>
            </a:r>
            <a:endParaRPr lang="en-GB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5795"/>
            <a:ext cx="2880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1.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36141" y="5795"/>
            <a:ext cx="6783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24.08.12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642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2904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2.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36141" y="0"/>
            <a:ext cx="6783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24.08.12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5232" y="836711"/>
            <a:ext cx="6523112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0" i="0" u="none" strike="noStrike" baseline="0" dirty="0" smtClean="0"/>
          </a:p>
          <a:p>
            <a:pPr algn="ctr"/>
            <a:r>
              <a:rPr lang="en-GB" sz="1400" b="1" i="0" u="none" strike="noStrike" baseline="0" dirty="0" smtClean="0">
                <a:latin typeface="Arial" pitchFamily="34" charset="0"/>
                <a:cs typeface="Arial" pitchFamily="34" charset="0"/>
              </a:rPr>
              <a:t>EUROPEAN INTEGRATION</a:t>
            </a:r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Endorsed by </a:t>
            </a:r>
            <a:r>
              <a:rPr lang="en-GB" sz="1400" b="0" i="0" u="sng" strike="noStrike" baseline="0" dirty="0" smtClean="0">
                <a:latin typeface="Arial" pitchFamily="34" charset="0"/>
                <a:cs typeface="Arial" pitchFamily="34" charset="0"/>
              </a:rPr>
              <a:t>COMMITTED</a:t>
            </a:r>
            <a:r>
              <a:rPr lang="en-GB" sz="1400" b="0" i="0" strike="noStrike" baseline="0" dirty="0" smtClean="0">
                <a:latin typeface="Arial" pitchFamily="34" charset="0"/>
                <a:cs typeface="Arial" pitchFamily="34" charset="0"/>
              </a:rPr>
              <a:t> Europeans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●STATIC</a:t>
            </a:r>
            <a:r>
              <a:rPr lang="en-GB" sz="1400" b="0" i="0" u="none" strike="noStrike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 EU system as it works today 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●DYNAMIC   Momentum desirable, necessary; bicycle theory 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	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Direction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: An ever closer Union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	An end in itself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●IMPLICATION:  Continuing growth of EU by </a:t>
            </a:r>
            <a:r>
              <a:rPr lang="en-GB" sz="1400" b="0" i="0" u="none" strike="noStrike" baseline="0" dirty="0" err="1" smtClean="0">
                <a:latin typeface="Arial" pitchFamily="34" charset="0"/>
                <a:cs typeface="Arial" pitchFamily="34" charset="0"/>
              </a:rPr>
              <a:t>spillover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, treaties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5124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2904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3.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23240" y="3037"/>
            <a:ext cx="6783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24.08.12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59632" y="836711"/>
            <a:ext cx="6522427" cy="4678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b="1" i="0" u="none" strike="noStrike" baseline="0" dirty="0" smtClean="0">
                <a:latin typeface="Arial" pitchFamily="34" charset="0"/>
                <a:cs typeface="Arial" pitchFamily="34" charset="0"/>
              </a:rPr>
              <a:t>EUROSCEPTICISM</a:t>
            </a:r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Endorsed by </a:t>
            </a:r>
            <a:r>
              <a:rPr lang="en-GB" sz="1400" b="0" i="0" u="sng" strike="noStrike" baseline="0" dirty="0" smtClean="0">
                <a:latin typeface="Arial" pitchFamily="34" charset="0"/>
                <a:cs typeface="Arial" pitchFamily="34" charset="0"/>
              </a:rPr>
              <a:t>UNWILLING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 Europeans dissatisfied with status quo</a:t>
            </a:r>
          </a:p>
          <a:p>
            <a:pPr algn="ctr"/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SOFT </a:t>
            </a:r>
            <a:r>
              <a:rPr lang="en-GB" sz="1400" b="0" i="0" u="none" strike="noStrike" baseline="0" dirty="0" err="1" smtClean="0">
                <a:latin typeface="Arial" pitchFamily="34" charset="0"/>
                <a:cs typeface="Arial" pitchFamily="34" charset="0"/>
              </a:rPr>
              <a:t>Euroscepticism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: 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	Reform by reducing EU powers 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	Negotiate national opt outs from the </a:t>
            </a:r>
            <a:r>
              <a:rPr lang="en-GB" sz="1400" b="0" i="0" u="none" strike="noStrike" baseline="0" dirty="0" err="1" smtClean="0">
                <a:latin typeface="Arial" pitchFamily="34" charset="0"/>
                <a:cs typeface="Arial" pitchFamily="34" charset="0"/>
              </a:rPr>
              <a:t>acquis</a:t>
            </a:r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HARD </a:t>
            </a:r>
            <a:r>
              <a:rPr lang="en-GB" sz="1400" b="0" i="0" u="none" strike="noStrike" baseline="0" dirty="0" err="1" smtClean="0">
                <a:latin typeface="Arial" pitchFamily="34" charset="0"/>
                <a:cs typeface="Arial" pitchFamily="34" charset="0"/>
              </a:rPr>
              <a:t>Euroscepticism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:  EU Unjustified, never consented to EU 2012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	Veto new proposals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	Attack, defy </a:t>
            </a:r>
            <a:r>
              <a:rPr lang="en-GB" sz="1400" b="0" i="0" u="none" strike="noStrike" baseline="0" dirty="0" err="1" smtClean="0">
                <a:latin typeface="Arial" pitchFamily="34" charset="0"/>
                <a:cs typeface="Arial" pitchFamily="34" charset="0"/>
              </a:rPr>
              <a:t>acquis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, treaty commitments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	Withdraw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4860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2904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4.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36141" y="0"/>
            <a:ext cx="6783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24.08.12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7624" y="1052736"/>
            <a:ext cx="6647974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b="1" i="0" u="none" strike="noStrike" baseline="0" dirty="0" smtClean="0">
                <a:latin typeface="Arial" pitchFamily="34" charset="0"/>
                <a:cs typeface="Arial" pitchFamily="34" charset="0"/>
              </a:rPr>
              <a:t>PRAGMATISM</a:t>
            </a:r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Endorsed by </a:t>
            </a:r>
            <a:r>
              <a:rPr lang="en-GB" sz="1400" b="0" i="0" u="sng" strike="noStrike" baseline="0" dirty="0" smtClean="0">
                <a:latin typeface="Arial" pitchFamily="34" charset="0"/>
                <a:cs typeface="Arial" pitchFamily="34" charset="0"/>
              </a:rPr>
              <a:t>QUESTIONING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 Europeans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●NO a priori commitment to ever closer OR ever looser Union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●SATISFICING:  If existing policies acceptable, leave as it is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●IF</a:t>
            </a:r>
            <a:r>
              <a:rPr lang="en-GB" sz="1400" b="0" i="0" u="none" strike="noStrike" dirty="0" smtClean="0">
                <a:latin typeface="Arial" pitchFamily="34" charset="0"/>
                <a:cs typeface="Arial" pitchFamily="34" charset="0"/>
              </a:rPr>
              <a:t> DISSATISFIED: 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 Diagnose causes of problem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	Scrutinize alternatives</a:t>
            </a:r>
            <a:r>
              <a:rPr lang="en-GB" sz="1400" b="0" i="0" u="none" strike="noStrike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within and outside EU for: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dirty="0">
                <a:latin typeface="Arial" pitchFamily="34" charset="0"/>
                <a:cs typeface="Arial" pitchFamily="34" charset="0"/>
              </a:rPr>
              <a:t> </a:t>
            </a:r>
            <a:r>
              <a:rPr lang="en-GB" sz="1400" dirty="0" smtClean="0">
                <a:latin typeface="Arial" pitchFamily="34" charset="0"/>
                <a:cs typeface="Arial" pitchFamily="34" charset="0"/>
              </a:rPr>
              <a:t>              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Causes and effects.   Claims on resources.   Probability of success 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●IMPLICATION:  Cautious about integration; look before you 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leap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432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6479"/>
            <a:ext cx="2904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5.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02884" y="-3442"/>
            <a:ext cx="6783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24.08.12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3423778011"/>
              </p:ext>
            </p:extLst>
          </p:nvPr>
        </p:nvGraphicFramePr>
        <p:xfrm>
          <a:off x="0" y="2502768"/>
          <a:ext cx="4210744" cy="3544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333259534"/>
              </p:ext>
            </p:extLst>
          </p:nvPr>
        </p:nvGraphicFramePr>
        <p:xfrm>
          <a:off x="4883278" y="2420888"/>
          <a:ext cx="4248472" cy="3616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80796" y="332656"/>
            <a:ext cx="472283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b="1" i="0" u="none" strike="noStrike" baseline="0" dirty="0" smtClean="0">
                <a:latin typeface="Arial" pitchFamily="34" charset="0"/>
                <a:cs typeface="Arial" pitchFamily="34" charset="0"/>
              </a:rPr>
              <a:t>MEDIAN EUROPEAN </a:t>
            </a:r>
            <a:r>
              <a:rPr lang="en-GB" sz="1400" b="1" dirty="0" smtClean="0">
                <a:latin typeface="Arial" pitchFamily="34" charset="0"/>
                <a:cs typeface="Arial" pitchFamily="34" charset="0"/>
              </a:rPr>
              <a:t>FAVOURS LEAVING EU AS IT IS</a:t>
            </a:r>
            <a:endParaRPr lang="en-GB" sz="1400" b="1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GB" sz="1400" b="1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GB" sz="1400" b="1" i="0" u="none" strike="noStrike" baseline="0" dirty="0" smtClean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232" y="1196752"/>
            <a:ext cx="421196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200" b="0" i="1" u="sng" strike="noStrike" baseline="0" dirty="0" smtClean="0">
                <a:latin typeface="Arial" pitchFamily="34" charset="0"/>
                <a:cs typeface="Arial" pitchFamily="34" charset="0"/>
              </a:rPr>
              <a:t>European Election Study,  27 country survey,</a:t>
            </a:r>
            <a:endParaRPr lang="en-GB" sz="1200" i="1" u="sng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GB" sz="1200" i="1" dirty="0" smtClean="0">
                <a:latin typeface="Arial" pitchFamily="34" charset="0"/>
                <a:cs typeface="Arial" pitchFamily="34" charset="0"/>
              </a:rPr>
              <a:t>Q 80.  Some say European unification should be pushed further. Others say it has already gone too far. What is your opinion? Please indicate your views using a scale from 0 to 10, where 0 means unification has already gone too far and 10 means it should be pushed further. </a:t>
            </a:r>
          </a:p>
          <a:p>
            <a:pPr algn="just"/>
            <a:endParaRPr lang="en-GB" sz="1200" i="1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4932040" y="1235193"/>
            <a:ext cx="3960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0" i="1" u="sng" strike="noStrike" baseline="0" dirty="0" err="1" smtClean="0">
                <a:latin typeface="Arial" pitchFamily="34" charset="0"/>
                <a:cs typeface="Arial" pitchFamily="34" charset="0"/>
              </a:rPr>
              <a:t>Eurobarometer</a:t>
            </a:r>
            <a:r>
              <a:rPr lang="en-GB" sz="1200" b="0" i="1" u="sng" strike="noStrike" baseline="0" dirty="0" smtClean="0">
                <a:latin typeface="Arial" pitchFamily="34" charset="0"/>
                <a:cs typeface="Arial" pitchFamily="34" charset="0"/>
              </a:rPr>
              <a:t> No.77, Spring, 2012</a:t>
            </a:r>
          </a:p>
          <a:p>
            <a:pPr algn="just"/>
            <a:r>
              <a:rPr lang="en-GB" sz="1200" b="0" i="1" u="none" strike="noStrike" baseline="0" dirty="0" smtClean="0">
                <a:latin typeface="Arial" pitchFamily="34" charset="0"/>
                <a:cs typeface="Arial" pitchFamily="34" charset="0"/>
              </a:rPr>
              <a:t>Q.A14. In general does the EU conjure up for you a very positive, fairly positive, neutral, fairly negative or very negative image? </a:t>
            </a:r>
            <a:endParaRPr lang="en-GB" dirty="0"/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374164" y="1071320"/>
            <a:ext cx="84433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374164" y="6165304"/>
            <a:ext cx="84433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1763688" y="2376895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 smtClean="0">
                <a:latin typeface="Arial" pitchFamily="34" charset="0"/>
                <a:cs typeface="Arial" pitchFamily="34" charset="0"/>
              </a:rPr>
              <a:t>2009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85613" y="2352997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 smtClean="0">
                <a:latin typeface="Arial" pitchFamily="34" charset="0"/>
                <a:cs typeface="Arial" pitchFamily="34" charset="0"/>
              </a:rPr>
              <a:t>2012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511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2443" y="1268760"/>
            <a:ext cx="659962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b="1" i="0" u="none" strike="noStrike" baseline="0" dirty="0" smtClean="0">
                <a:latin typeface="Arial" pitchFamily="34" charset="0"/>
                <a:cs typeface="Arial" pitchFamily="34" charset="0"/>
              </a:rPr>
              <a:t>INTERDEPENDENCE CREATES INSTABILITY </a:t>
            </a:r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●ABOUT POLICIES e.g. regulating multi-nationals, environment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</a:t>
            </a:r>
            <a:r>
              <a:rPr lang="en-GB" sz="1400" dirty="0" smtClean="0">
                <a:latin typeface="Arial" pitchFamily="34" charset="0"/>
                <a:cs typeface="Arial" pitchFamily="34" charset="0"/>
              </a:rPr>
              <a:t>DYNAMIC CONSEQUENCES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	Produces </a:t>
            </a:r>
            <a:r>
              <a:rPr lang="en-GB" sz="1400" b="0" i="0" u="none" strike="noStrike" baseline="0" dirty="0" err="1" smtClean="0">
                <a:latin typeface="Arial" pitchFamily="34" charset="0"/>
                <a:cs typeface="Arial" pitchFamily="34" charset="0"/>
              </a:rPr>
              <a:t>spillovers</a:t>
            </a:r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	Creates demand for collective action  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●SMALL</a:t>
            </a:r>
            <a:r>
              <a:rPr lang="en-GB" sz="1400" b="0" i="0" u="none" strike="noStrike" dirty="0" smtClean="0">
                <a:latin typeface="Arial" pitchFamily="34" charset="0"/>
                <a:cs typeface="Arial" pitchFamily="34" charset="0"/>
              </a:rPr>
              <a:t> STATES 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welcome EU </a:t>
            </a:r>
            <a:r>
              <a:rPr lang="en-GB" sz="1400" dirty="0" smtClean="0">
                <a:latin typeface="Arial" pitchFamily="34" charset="0"/>
                <a:cs typeface="Arial" pitchFamily="34" charset="0"/>
              </a:rPr>
              <a:t>managing interdependent policies </a:t>
            </a:r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●NO ASSUMPTION OF ZERO-SUM OUTCOMES   </a:t>
            </a:r>
          </a:p>
          <a:p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4021" y="3913"/>
            <a:ext cx="2904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6.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36141" y="3913"/>
            <a:ext cx="6783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24.08.12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565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80" y="0"/>
            <a:ext cx="2904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7.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13647" y="-2"/>
            <a:ext cx="6783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24.08.12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05979" y="1484784"/>
            <a:ext cx="540083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b="1" i="0" u="none" strike="noStrike" baseline="0" dirty="0" smtClean="0">
                <a:latin typeface="Arial" pitchFamily="34" charset="0"/>
                <a:cs typeface="Arial" pitchFamily="34" charset="0"/>
              </a:rPr>
              <a:t>SPILLOVERS  VISIBLE, HIGH IMPACT &amp; NEGATIVE</a:t>
            </a:r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●Eurozone locks Germany and Greece together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●Social cohesion can't be</a:t>
            </a:r>
            <a:r>
              <a:rPr lang="en-GB" sz="1400" b="0" i="0" u="none" strike="noStrike" dirty="0" smtClean="0">
                <a:latin typeface="Arial" pitchFamily="34" charset="0"/>
                <a:cs typeface="Arial" pitchFamily="34" charset="0"/>
              </a:rPr>
              <a:t> achieved by 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fiscal transfers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●Schengen &amp; enlargement stretches multi-</a:t>
            </a:r>
            <a:r>
              <a:rPr lang="en-GB" sz="1400" b="0" i="0" u="none" strike="noStrike" baseline="0" dirty="0" err="1" smtClean="0">
                <a:latin typeface="Arial" pitchFamily="34" charset="0"/>
                <a:cs typeface="Arial" pitchFamily="34" charset="0"/>
              </a:rPr>
              <a:t>culturalism</a:t>
            </a:r>
            <a:endParaRPr lang="en-GB" sz="1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056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787"/>
            <a:ext cx="2904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8.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36141" y="4787"/>
            <a:ext cx="6783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24.08.12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1124744"/>
            <a:ext cx="6798656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b="1" i="0" u="none" strike="noStrike" baseline="0" dirty="0" smtClean="0">
                <a:latin typeface="Arial" pitchFamily="34" charset="0"/>
                <a:cs typeface="Arial" pitchFamily="34" charset="0"/>
              </a:rPr>
              <a:t>THE EU'S CAPACITY TO ACT</a:t>
            </a:r>
          </a:p>
          <a:p>
            <a:pPr algn="ctr"/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●In law, EU open to many members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●In practice, legal, economic and cultural capacity must have some limit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●Copenhagen criteria set standards for applicants for admission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●No equivalent criteria for EU's own absorption capacity.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	Committed integrationists dislike constraint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	Unwilling Europeans want to reduce capacity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8764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753" y="0"/>
            <a:ext cx="2904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9.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73761" y="6152"/>
            <a:ext cx="6783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24.08.12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3886" y="908720"/>
            <a:ext cx="6792180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b="1" i="0" u="none" strike="noStrike" baseline="0" dirty="0" smtClean="0">
                <a:latin typeface="Arial" pitchFamily="34" charset="0"/>
                <a:cs typeface="Arial" pitchFamily="34" charset="0"/>
              </a:rPr>
              <a:t>PRAGMATIC LIMITS TO EU CAPACITY</a:t>
            </a:r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●Constitutional: German Federal Court 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	UK European Referendum Act 2011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	Incorporation of Stability </a:t>
            </a:r>
            <a:r>
              <a:rPr lang="en-GB" sz="1400" b="0" i="1" u="none" strike="noStrike" baseline="0" dirty="0" err="1" smtClean="0">
                <a:latin typeface="Arial" pitchFamily="34" charset="0"/>
                <a:cs typeface="Arial" pitchFamily="34" charset="0"/>
              </a:rPr>
              <a:t>Vertrag</a:t>
            </a:r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●Weak enforcement powers on member states re democratic standards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	Austrian Freedom Party.  Hungary.  Romania.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●Conditionality doesn't get rid of corruption:</a:t>
            </a:r>
            <a:r>
              <a:rPr lang="en-GB" sz="1400" b="0" i="0" u="none" strike="noStrike" dirty="0" smtClean="0">
                <a:latin typeface="Arial" pitchFamily="34" charset="0"/>
                <a:cs typeface="Arial" pitchFamily="34" charset="0"/>
              </a:rPr>
              <a:t> </a:t>
            </a:r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	Old &amp; new members: Bulgaria. Romania.  Italy. Greece.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●Potential new members below 2004 enlargement states re: 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</a:t>
            </a:r>
            <a:r>
              <a:rPr lang="en-GB" sz="1400" b="0" i="0" u="none" strike="noStrike" dirty="0" smtClean="0">
                <a:latin typeface="Arial" pitchFamily="34" charset="0"/>
                <a:cs typeface="Arial" pitchFamily="34" charset="0"/>
              </a:rPr>
              <a:t>     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Democratic commitment.  Corruption.  GDP.   Functioning economy.</a:t>
            </a:r>
          </a:p>
        </p:txBody>
      </p:sp>
    </p:spTree>
    <p:extLst>
      <p:ext uri="{BB962C8B-B14F-4D97-AF65-F5344CB8AC3E}">
        <p14:creationId xmlns:p14="http://schemas.microsoft.com/office/powerpoint/2010/main" val="3038572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10.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12299" y="0"/>
            <a:ext cx="6783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24.08.12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962648"/>
              </p:ext>
            </p:extLst>
          </p:nvPr>
        </p:nvGraphicFramePr>
        <p:xfrm>
          <a:off x="1904800" y="1340768"/>
          <a:ext cx="5038460" cy="3942080"/>
        </p:xfrm>
        <a:graphic>
          <a:graphicData uri="http://schemas.openxmlformats.org/drawingml/2006/table">
            <a:tbl>
              <a:tblPr firstRow="1" firstCol="1" bandRow="1"/>
              <a:tblGrid>
                <a:gridCol w="2497464"/>
                <a:gridCol w="1008000"/>
                <a:gridCol w="809645"/>
                <a:gridCol w="723351"/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i="1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Number of members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EU countries</a:t>
                      </a: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Non -EU</a:t>
                      </a: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% </a:t>
                      </a:r>
                      <a:r>
                        <a:rPr lang="en-GB" sz="1200" dirty="0" smtClean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EU</a:t>
                      </a:r>
                    </a:p>
                    <a:p>
                      <a:pPr algn="r">
                        <a:spcAft>
                          <a:spcPts val="0"/>
                        </a:spcAft>
                      </a:pP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dirty="0" smtClean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“EUROPEAN” ORGANIZATIONS </a:t>
                      </a: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  </a:t>
                      </a: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 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European Union</a:t>
                      </a: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27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100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North Atlantic Treaty Organization</a:t>
                      </a: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21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6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77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European Central Bank</a:t>
                      </a: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17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63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Council of Europe</a:t>
                      </a: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27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20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57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European Bank for Reconstruction and Development</a:t>
                      </a: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27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36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43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Organization for Security and </a:t>
                      </a: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Co-operation in Europe</a:t>
                      </a: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27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29 + 12 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40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200" dirty="0" smtClean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dirty="0" smtClean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INTERNATIONAL </a:t>
                      </a:r>
                      <a:r>
                        <a:rPr lang="en-GB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ORGANIZATIONS</a:t>
                      </a: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World Trade Organisation</a:t>
                      </a: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27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129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17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International Monetary Fund </a:t>
                      </a: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27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161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14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World Bank</a:t>
                      </a: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27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161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14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Interpol</a:t>
                      </a: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27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163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14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United Nations</a:t>
                      </a: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27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166</a:t>
                      </a:r>
                      <a:endParaRPr lang="en-GB" sz="120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14</a:t>
                      </a:r>
                      <a:endParaRPr lang="en-GB" sz="1200" dirty="0">
                        <a:effectLst/>
                        <a:latin typeface="Univer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763687" y="980728"/>
            <a:ext cx="53206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b="1" dirty="0" smtClean="0">
                <a:latin typeface="Arial" pitchFamily="34" charset="0"/>
                <a:cs typeface="Arial" pitchFamily="34" charset="0"/>
              </a:rPr>
              <a:t>INTERDEPENDENCE STRETCHES EUROPE’S BOUNDARIES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930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11.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36141" y="0"/>
            <a:ext cx="6783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24.08.12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07784" y="1052736"/>
            <a:ext cx="5952270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b="1" i="0" u="none" strike="noStrike" baseline="0" dirty="0" smtClean="0">
                <a:latin typeface="Arial" pitchFamily="34" charset="0"/>
                <a:cs typeface="Arial" pitchFamily="34" charset="0"/>
              </a:rPr>
              <a:t>Responses</a:t>
            </a:r>
            <a:r>
              <a:rPr lang="en-GB" sz="1400" b="1" i="0" u="none" strike="noStrike" dirty="0" smtClean="0">
                <a:latin typeface="Arial" pitchFamily="34" charset="0"/>
                <a:cs typeface="Arial" pitchFamily="34" charset="0"/>
              </a:rPr>
              <a:t> t</a:t>
            </a:r>
            <a:r>
              <a:rPr lang="en-GB" sz="1400" b="1" i="0" u="none" strike="noStrike" baseline="0" dirty="0" smtClean="0">
                <a:latin typeface="Arial" pitchFamily="34" charset="0"/>
                <a:cs typeface="Arial" pitchFamily="34" charset="0"/>
              </a:rPr>
              <a:t>o Challenges: </a:t>
            </a:r>
          </a:p>
          <a:p>
            <a:pPr algn="ctr"/>
            <a:endParaRPr lang="en-GB" sz="14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GB" sz="1400" b="1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GB" sz="1400" b="1" i="0" u="none" strike="noStrike" baseline="0" dirty="0" smtClean="0">
                <a:latin typeface="Arial" pitchFamily="34" charset="0"/>
                <a:cs typeface="Arial" pitchFamily="34" charset="0"/>
              </a:rPr>
              <a:t> COMMITTED TO INTEGRATION</a:t>
            </a:r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</a:t>
            </a: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●Uniform policy for all member states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●Decide by consensus (voluntary or repressive) or Unanimity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●Limits to acting within stretched powers of existing </a:t>
            </a:r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treaties</a:t>
            </a:r>
          </a:p>
          <a:p>
            <a:endParaRPr lang="en-GB" sz="1400" dirty="0" smtClean="0">
              <a:latin typeface="Arial" pitchFamily="34" charset="0"/>
              <a:cs typeface="Arial" pitchFamily="34" charset="0"/>
            </a:endParaRPr>
          </a:p>
          <a:p>
            <a:endParaRPr lang="en-GB" sz="1400" dirty="0">
              <a:latin typeface="Arial" pitchFamily="34" charset="0"/>
              <a:cs typeface="Arial" pitchFamily="34" charset="0"/>
            </a:endParaRPr>
          </a:p>
          <a:p>
            <a:r>
              <a:rPr lang="en-GB" sz="1400" dirty="0">
                <a:latin typeface="Arial" pitchFamily="34" charset="0"/>
                <a:cs typeface="Arial" pitchFamily="34" charset="0"/>
              </a:rPr>
              <a:t>	</a:t>
            </a:r>
            <a:r>
              <a:rPr lang="en-GB" sz="1400" dirty="0" smtClean="0">
                <a:latin typeface="Arial" pitchFamily="34" charset="0"/>
                <a:cs typeface="Arial" pitchFamily="34" charset="0"/>
              </a:rPr>
              <a:t>●</a:t>
            </a:r>
            <a:r>
              <a:rPr lang="en-GB" sz="1400" dirty="0" smtClean="0">
                <a:latin typeface="Arial" pitchFamily="34" charset="0"/>
                <a:cs typeface="Arial" pitchFamily="34" charset="0"/>
              </a:rPr>
              <a:t>Not </a:t>
            </a:r>
            <a:r>
              <a:rPr lang="en-GB" sz="1400" dirty="0" smtClean="0">
                <a:latin typeface="Arial" pitchFamily="34" charset="0"/>
                <a:cs typeface="Arial" pitchFamily="34" charset="0"/>
              </a:rPr>
              <a:t>justified to Europe’s citizens </a:t>
            </a:r>
            <a:endParaRPr lang="en-GB" sz="1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933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986" y="0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12.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36141" y="21509"/>
            <a:ext cx="6783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24.08.12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91680" y="1196752"/>
            <a:ext cx="566667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b="1" i="0" u="none" strike="noStrike" baseline="0" dirty="0" smtClean="0">
                <a:latin typeface="Arial" pitchFamily="34" charset="0"/>
                <a:cs typeface="Arial" pitchFamily="34" charset="0"/>
              </a:rPr>
              <a:t>UNWILLING EUROPEANS: THE UK GOVERNMENT</a:t>
            </a:r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Seek opt outs for new policies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Repatriate powers: Fresh Start MPs  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Withdrawal--and join Norway in European Economic Area</a:t>
            </a:r>
          </a:p>
          <a:p>
            <a:endParaRPr lang="en-GB" sz="1400" b="0" i="0" u="none" strike="noStrike" baseline="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b="0" i="0" u="none" strike="noStrike" baseline="0" dirty="0" smtClean="0">
                <a:latin typeface="Arial" pitchFamily="34" charset="0"/>
                <a:cs typeface="Arial" pitchFamily="34" charset="0"/>
              </a:rPr>
              <a:t>		    --and leap in the dark</a:t>
            </a:r>
          </a:p>
        </p:txBody>
      </p:sp>
    </p:spTree>
    <p:extLst>
      <p:ext uri="{BB962C8B-B14F-4D97-AF65-F5344CB8AC3E}">
        <p14:creationId xmlns:p14="http://schemas.microsoft.com/office/powerpoint/2010/main" val="4161506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13.</a:t>
            </a:r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24945" y="-6200"/>
            <a:ext cx="6783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>
                <a:latin typeface="Arial" pitchFamily="34" charset="0"/>
                <a:cs typeface="Arial" pitchFamily="34" charset="0"/>
              </a:rPr>
              <a:t>24.08.12</a:t>
            </a:r>
            <a:endParaRPr lang="en-GB" sz="10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989" y="548680"/>
            <a:ext cx="8494633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A PRAGMATIC RESPONSE</a:t>
            </a:r>
            <a:endParaRPr lang="en-GB" sz="1400" dirty="0">
              <a:latin typeface="Arial" pitchFamily="34" charset="0"/>
              <a:cs typeface="Arial" pitchFamily="34" charset="0"/>
            </a:endParaRPr>
          </a:p>
          <a:p>
            <a:endParaRPr lang="en-GB" sz="1400" dirty="0">
              <a:latin typeface="Arial" pitchFamily="34" charset="0"/>
              <a:cs typeface="Arial" pitchFamily="34" charset="0"/>
            </a:endParaRPr>
          </a:p>
          <a:p>
            <a:endParaRPr lang="en-GB" sz="1400" dirty="0">
              <a:latin typeface="Arial" pitchFamily="34" charset="0"/>
              <a:cs typeface="Arial" pitchFamily="34" charset="0"/>
            </a:endParaRPr>
          </a:p>
          <a:p>
            <a:r>
              <a:rPr lang="en-GB" sz="1400" dirty="0">
                <a:latin typeface="Arial" pitchFamily="34" charset="0"/>
                <a:cs typeface="Arial" pitchFamily="34" charset="0"/>
              </a:rPr>
              <a:t>	 ● </a:t>
            </a:r>
            <a:r>
              <a:rPr lang="en-GB" sz="1400" dirty="0" smtClean="0">
                <a:latin typeface="Arial" pitchFamily="34" charset="0"/>
                <a:cs typeface="Arial" pitchFamily="34" charset="0"/>
              </a:rPr>
              <a:t>CASE </a:t>
            </a:r>
            <a:r>
              <a:rPr lang="en-GB" sz="1400" dirty="0">
                <a:latin typeface="Arial" pitchFamily="34" charset="0"/>
                <a:cs typeface="Arial" pitchFamily="34" charset="0"/>
              </a:rPr>
              <a:t>by CASE evaluation of policy options </a:t>
            </a:r>
          </a:p>
          <a:p>
            <a:endParaRPr lang="en-GB" sz="1400" dirty="0">
              <a:latin typeface="Arial" pitchFamily="34" charset="0"/>
              <a:cs typeface="Arial" pitchFamily="34" charset="0"/>
            </a:endParaRPr>
          </a:p>
          <a:p>
            <a:endParaRPr lang="en-GB" sz="1400" dirty="0">
              <a:latin typeface="Arial" pitchFamily="34" charset="0"/>
              <a:cs typeface="Arial" pitchFamily="34" charset="0"/>
            </a:endParaRPr>
          </a:p>
          <a:p>
            <a:r>
              <a:rPr lang="en-GB" sz="1400" dirty="0">
                <a:latin typeface="Arial" pitchFamily="34" charset="0"/>
                <a:cs typeface="Arial" pitchFamily="34" charset="0"/>
              </a:rPr>
              <a:t>	 ● </a:t>
            </a:r>
            <a:r>
              <a:rPr lang="en-GB" sz="1400" dirty="0" smtClean="0">
                <a:latin typeface="Arial" pitchFamily="34" charset="0"/>
                <a:cs typeface="Arial" pitchFamily="34" charset="0"/>
              </a:rPr>
              <a:t>ENHANCED CO-OPERATION: COALITIONS OF THE WILLING </a:t>
            </a:r>
            <a:endParaRPr lang="en-GB" sz="1400" dirty="0">
              <a:latin typeface="Arial" pitchFamily="34" charset="0"/>
              <a:cs typeface="Arial" pitchFamily="34" charset="0"/>
            </a:endParaRPr>
          </a:p>
          <a:p>
            <a:endParaRPr lang="en-GB" sz="1400" dirty="0">
              <a:latin typeface="Arial" pitchFamily="34" charset="0"/>
              <a:cs typeface="Arial" pitchFamily="34" charset="0"/>
            </a:endParaRPr>
          </a:p>
          <a:p>
            <a:r>
              <a:rPr lang="en-GB" sz="1400" dirty="0">
                <a:latin typeface="Arial" pitchFamily="34" charset="0"/>
                <a:cs typeface="Arial" pitchFamily="34" charset="0"/>
              </a:rPr>
              <a:t>		Immediately satisfies both countries in and out </a:t>
            </a:r>
          </a:p>
          <a:p>
            <a:endParaRPr lang="en-GB" sz="1400" dirty="0">
              <a:latin typeface="Arial" pitchFamily="34" charset="0"/>
              <a:cs typeface="Arial" pitchFamily="34" charset="0"/>
            </a:endParaRPr>
          </a:p>
          <a:p>
            <a:r>
              <a:rPr lang="en-GB" sz="1400" dirty="0">
                <a:latin typeface="Arial" pitchFamily="34" charset="0"/>
                <a:cs typeface="Arial" pitchFamily="34" charset="0"/>
              </a:rPr>
              <a:t>		</a:t>
            </a:r>
            <a:r>
              <a:rPr lang="en-GB" sz="1400" dirty="0" smtClean="0">
                <a:latin typeface="Arial" pitchFamily="34" charset="0"/>
                <a:cs typeface="Arial" pitchFamily="34" charset="0"/>
              </a:rPr>
              <a:t>IF experience good, laggards catch up with leaders</a:t>
            </a:r>
            <a:r>
              <a:rPr lang="en-GB" sz="1400" dirty="0">
                <a:latin typeface="Arial" pitchFamily="34" charset="0"/>
                <a:cs typeface="Arial" pitchFamily="34" charset="0"/>
              </a:rPr>
              <a:t>			</a:t>
            </a:r>
          </a:p>
          <a:p>
            <a:r>
              <a:rPr lang="en-GB" sz="1400" dirty="0">
                <a:latin typeface="Arial" pitchFamily="34" charset="0"/>
                <a:cs typeface="Arial" pitchFamily="34" charset="0"/>
              </a:rPr>
              <a:t>		</a:t>
            </a:r>
          </a:p>
          <a:p>
            <a:r>
              <a:rPr lang="en-GB" sz="1400" dirty="0">
                <a:latin typeface="Arial" pitchFamily="34" charset="0"/>
                <a:cs typeface="Arial" pitchFamily="34" charset="0"/>
              </a:rPr>
              <a:t>	</a:t>
            </a:r>
          </a:p>
          <a:p>
            <a:r>
              <a:rPr lang="en-GB" sz="1400" dirty="0">
                <a:latin typeface="Arial" pitchFamily="34" charset="0"/>
                <a:cs typeface="Arial" pitchFamily="34" charset="0"/>
              </a:rPr>
              <a:t>	 ● </a:t>
            </a:r>
            <a:r>
              <a:rPr lang="en-GB" sz="1400" dirty="0" smtClean="0">
                <a:latin typeface="Arial" pitchFamily="34" charset="0"/>
                <a:cs typeface="Arial" pitchFamily="34" charset="0"/>
              </a:rPr>
              <a:t>LOOSER </a:t>
            </a:r>
            <a:r>
              <a:rPr lang="en-GB" sz="1400" dirty="0">
                <a:latin typeface="Arial" pitchFamily="34" charset="0"/>
                <a:cs typeface="Arial" pitchFamily="34" charset="0"/>
              </a:rPr>
              <a:t>UNION IF BENEFITS NOT IN </a:t>
            </a:r>
            <a:r>
              <a:rPr lang="en-GB" sz="1400" dirty="0" smtClean="0">
                <a:latin typeface="Arial" pitchFamily="34" charset="0"/>
                <a:cs typeface="Arial" pitchFamily="34" charset="0"/>
              </a:rPr>
              <a:t>COMMON </a:t>
            </a:r>
            <a:endParaRPr lang="en-GB" sz="1400" dirty="0">
              <a:latin typeface="Arial" pitchFamily="34" charset="0"/>
              <a:cs typeface="Arial" pitchFamily="34" charset="0"/>
            </a:endParaRPr>
          </a:p>
          <a:p>
            <a:r>
              <a:rPr lang="en-GB" sz="1400" dirty="0">
                <a:latin typeface="Arial" pitchFamily="34" charset="0"/>
                <a:cs typeface="Arial" pitchFamily="34" charset="0"/>
              </a:rPr>
              <a:t> </a:t>
            </a:r>
            <a:endParaRPr lang="en-GB" sz="140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1400" dirty="0">
                <a:latin typeface="Arial" pitchFamily="34" charset="0"/>
                <a:cs typeface="Arial" pitchFamily="34" charset="0"/>
              </a:rPr>
              <a:t>	</a:t>
            </a:r>
            <a:r>
              <a:rPr lang="en-GB" sz="1400" dirty="0" smtClean="0">
                <a:latin typeface="Arial" pitchFamily="34" charset="0"/>
                <a:cs typeface="Arial" pitchFamily="34" charset="0"/>
              </a:rPr>
              <a:t>	Monetary disunion: four groups </a:t>
            </a:r>
            <a:endParaRPr lang="en-GB" sz="1400" dirty="0" smtClean="0">
              <a:latin typeface="Arial" pitchFamily="34" charset="0"/>
              <a:cs typeface="Arial" pitchFamily="34" charset="0"/>
            </a:endParaRPr>
          </a:p>
          <a:p>
            <a:endParaRPr lang="en-GB" sz="1400" dirty="0" smtClean="0">
              <a:latin typeface="Arial" pitchFamily="34" charset="0"/>
              <a:cs typeface="Arial" pitchFamily="34" charset="0"/>
            </a:endParaRPr>
          </a:p>
          <a:p>
            <a:endParaRPr lang="en-GB" sz="1400" dirty="0">
              <a:latin typeface="Arial" pitchFamily="34" charset="0"/>
              <a:cs typeface="Arial" pitchFamily="34" charset="0"/>
            </a:endParaRPr>
          </a:p>
          <a:p>
            <a:r>
              <a:rPr lang="en-GB" sz="1400" dirty="0">
                <a:latin typeface="Arial" pitchFamily="34" charset="0"/>
                <a:cs typeface="Arial" pitchFamily="34" charset="0"/>
              </a:rPr>
              <a:t>	 </a:t>
            </a:r>
            <a:r>
              <a:rPr lang="en-GB" sz="1400" dirty="0" smtClean="0">
                <a:latin typeface="Arial" pitchFamily="34" charset="0"/>
                <a:cs typeface="Arial" pitchFamily="34" charset="0"/>
              </a:rPr>
              <a:t>● </a:t>
            </a:r>
            <a:r>
              <a:rPr lang="en-GB" sz="1400" dirty="0" smtClean="0">
                <a:latin typeface="Arial" pitchFamily="34" charset="0"/>
                <a:cs typeface="Arial" pitchFamily="34" charset="0"/>
              </a:rPr>
              <a:t>INTEGRATION </a:t>
            </a:r>
            <a:r>
              <a:rPr lang="en-GB" sz="1400" dirty="0" smtClean="0">
                <a:latin typeface="Arial" pitchFamily="34" charset="0"/>
                <a:cs typeface="Arial" pitchFamily="34" charset="0"/>
              </a:rPr>
              <a:t>AS A BYPRODUCT</a:t>
            </a:r>
            <a:r>
              <a:rPr lang="en-GB" sz="1400" dirty="0">
                <a:latin typeface="Arial" pitchFamily="34" charset="0"/>
                <a:cs typeface="Arial" pitchFamily="34" charset="0"/>
              </a:rPr>
              <a:t>	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0757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361</Words>
  <Application>Microsoft Office PowerPoint</Application>
  <PresentationFormat>On-screen Show (4:3)</PresentationFormat>
  <Paragraphs>288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Ohna Robertson</dc:creator>
  <cp:lastModifiedBy>Ohna Robertson</cp:lastModifiedBy>
  <cp:revision>27</cp:revision>
  <dcterms:created xsi:type="dcterms:W3CDTF">2012-08-09T09:47:02Z</dcterms:created>
  <dcterms:modified xsi:type="dcterms:W3CDTF">2012-08-24T11:06:41Z</dcterms:modified>
</cp:coreProperties>
</file>