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2" r:id="rId1"/>
  </p:sldMasterIdLst>
  <p:notesMasterIdLst>
    <p:notesMasterId r:id="rId34"/>
  </p:notesMasterIdLst>
  <p:handoutMasterIdLst>
    <p:handoutMasterId r:id="rId35"/>
  </p:handoutMasterIdLst>
  <p:sldIdLst>
    <p:sldId id="256" r:id="rId2"/>
    <p:sldId id="257" r:id="rId3"/>
    <p:sldId id="259" r:id="rId4"/>
    <p:sldId id="321" r:id="rId5"/>
    <p:sldId id="260" r:id="rId6"/>
    <p:sldId id="278" r:id="rId7"/>
    <p:sldId id="264" r:id="rId8"/>
    <p:sldId id="324" r:id="rId9"/>
    <p:sldId id="322" r:id="rId10"/>
    <p:sldId id="325" r:id="rId11"/>
    <p:sldId id="326" r:id="rId12"/>
    <p:sldId id="327" r:id="rId13"/>
    <p:sldId id="329" r:id="rId14"/>
    <p:sldId id="330" r:id="rId15"/>
    <p:sldId id="283" r:id="rId16"/>
    <p:sldId id="331" r:id="rId17"/>
    <p:sldId id="286" r:id="rId18"/>
    <p:sldId id="311" r:id="rId19"/>
    <p:sldId id="312" r:id="rId20"/>
    <p:sldId id="287" r:id="rId21"/>
    <p:sldId id="288" r:id="rId22"/>
    <p:sldId id="293" r:id="rId23"/>
    <p:sldId id="294" r:id="rId24"/>
    <p:sldId id="333" r:id="rId25"/>
    <p:sldId id="313" r:id="rId26"/>
    <p:sldId id="315" r:id="rId27"/>
    <p:sldId id="316" r:id="rId28"/>
    <p:sldId id="334" r:id="rId29"/>
    <p:sldId id="317" r:id="rId30"/>
    <p:sldId id="318" r:id="rId31"/>
    <p:sldId id="319" r:id="rId32"/>
    <p:sldId id="320" r:id="rId33"/>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1980" autoAdjust="0"/>
  </p:normalViewPr>
  <p:slideViewPr>
    <p:cSldViewPr>
      <p:cViewPr varScale="1">
        <p:scale>
          <a:sx n="100" d="100"/>
          <a:sy n="100" d="100"/>
        </p:scale>
        <p:origin x="-29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1" d="100"/>
          <a:sy n="81" d="100"/>
        </p:scale>
        <p:origin x="-1998" y="-84"/>
      </p:cViewPr>
      <p:guideLst>
        <p:guide orient="horz" pos="3224"/>
        <p:guide pos="2236"/>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38" tIns="49519" rIns="99038" bIns="49519" rtlCol="0"/>
          <a:lstStyle>
            <a:lvl1pPr algn="l">
              <a:defRPr sz="1300"/>
            </a:lvl1pPr>
          </a:lstStyle>
          <a:p>
            <a:endParaRPr lang="en-US"/>
          </a:p>
        </p:txBody>
      </p:sp>
      <p:sp>
        <p:nvSpPr>
          <p:cNvPr id="3" name="Date Placeholder 2"/>
          <p:cNvSpPr>
            <a:spLocks noGrp="1"/>
          </p:cNvSpPr>
          <p:nvPr>
            <p:ph type="dt" sz="quarter" idx="1"/>
          </p:nvPr>
        </p:nvSpPr>
        <p:spPr>
          <a:xfrm>
            <a:off x="4021294" y="0"/>
            <a:ext cx="3076363" cy="511731"/>
          </a:xfrm>
          <a:prstGeom prst="rect">
            <a:avLst/>
          </a:prstGeom>
        </p:spPr>
        <p:txBody>
          <a:bodyPr vert="horz" lIns="99038" tIns="49519" rIns="99038" bIns="49519" rtlCol="0"/>
          <a:lstStyle>
            <a:lvl1pPr algn="r">
              <a:defRPr sz="1300"/>
            </a:lvl1pPr>
          </a:lstStyle>
          <a:p>
            <a:fld id="{6647E97D-D8DD-4417-BE86-837452D6DB16}" type="datetimeFigureOut">
              <a:rPr lang="en-US" smtClean="0"/>
              <a:pPr/>
              <a:t>7/23/2012</a:t>
            </a:fld>
            <a:endParaRPr lang="en-US"/>
          </a:p>
        </p:txBody>
      </p:sp>
      <p:sp>
        <p:nvSpPr>
          <p:cNvPr id="4" name="Footer Placeholder 3"/>
          <p:cNvSpPr>
            <a:spLocks noGrp="1"/>
          </p:cNvSpPr>
          <p:nvPr>
            <p:ph type="ftr" sz="quarter" idx="2"/>
          </p:nvPr>
        </p:nvSpPr>
        <p:spPr>
          <a:xfrm>
            <a:off x="0" y="9721106"/>
            <a:ext cx="3076363" cy="511731"/>
          </a:xfrm>
          <a:prstGeom prst="rect">
            <a:avLst/>
          </a:prstGeom>
        </p:spPr>
        <p:txBody>
          <a:bodyPr vert="horz" lIns="99038" tIns="49519" rIns="99038" bIns="49519" rtlCol="0" anchor="b"/>
          <a:lstStyle>
            <a:lvl1pPr algn="l">
              <a:defRPr sz="1300"/>
            </a:lvl1pPr>
          </a:lstStyle>
          <a:p>
            <a:endParaRPr lang="en-US"/>
          </a:p>
        </p:txBody>
      </p:sp>
      <p:sp>
        <p:nvSpPr>
          <p:cNvPr id="5" name="Slide Number Placeholder 4"/>
          <p:cNvSpPr>
            <a:spLocks noGrp="1"/>
          </p:cNvSpPr>
          <p:nvPr>
            <p:ph type="sldNum" sz="quarter" idx="3"/>
          </p:nvPr>
        </p:nvSpPr>
        <p:spPr>
          <a:xfrm>
            <a:off x="4021294" y="9721106"/>
            <a:ext cx="3076363" cy="511731"/>
          </a:xfrm>
          <a:prstGeom prst="rect">
            <a:avLst/>
          </a:prstGeom>
        </p:spPr>
        <p:txBody>
          <a:bodyPr vert="horz" lIns="99038" tIns="49519" rIns="99038" bIns="49519" rtlCol="0" anchor="b"/>
          <a:lstStyle>
            <a:lvl1pPr algn="r">
              <a:defRPr sz="1300"/>
            </a:lvl1pPr>
          </a:lstStyle>
          <a:p>
            <a:fld id="{9ACA3121-C0EB-4270-900F-5C57F8F0091D}"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38" tIns="49519" rIns="99038" bIns="49519" rtlCol="0"/>
          <a:lstStyle>
            <a:lvl1pPr algn="l">
              <a:defRPr sz="1300"/>
            </a:lvl1pPr>
          </a:lstStyle>
          <a:p>
            <a:endParaRPr lang="en-AU"/>
          </a:p>
        </p:txBody>
      </p:sp>
      <p:sp>
        <p:nvSpPr>
          <p:cNvPr id="3" name="Date Placeholder 2"/>
          <p:cNvSpPr>
            <a:spLocks noGrp="1"/>
          </p:cNvSpPr>
          <p:nvPr>
            <p:ph type="dt" idx="1"/>
          </p:nvPr>
        </p:nvSpPr>
        <p:spPr>
          <a:xfrm>
            <a:off x="4021294" y="0"/>
            <a:ext cx="3076363" cy="511731"/>
          </a:xfrm>
          <a:prstGeom prst="rect">
            <a:avLst/>
          </a:prstGeom>
        </p:spPr>
        <p:txBody>
          <a:bodyPr vert="horz" lIns="99038" tIns="49519" rIns="99038" bIns="49519" rtlCol="0"/>
          <a:lstStyle>
            <a:lvl1pPr algn="r">
              <a:defRPr sz="1300"/>
            </a:lvl1pPr>
          </a:lstStyle>
          <a:p>
            <a:fld id="{8535F62E-3147-430E-8225-FD73A7FC2422}" type="datetimeFigureOut">
              <a:rPr lang="en-US" smtClean="0"/>
              <a:pPr/>
              <a:t>7/23/2012</a:t>
            </a:fld>
            <a:endParaRPr lang="en-AU"/>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9038" tIns="49519" rIns="99038" bIns="49519" rtlCol="0" anchor="ctr"/>
          <a:lstStyle/>
          <a:p>
            <a:endParaRPr lang="en-AU"/>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38" tIns="49519" rIns="99038" bIns="4951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9721106"/>
            <a:ext cx="3076363" cy="511731"/>
          </a:xfrm>
          <a:prstGeom prst="rect">
            <a:avLst/>
          </a:prstGeom>
        </p:spPr>
        <p:txBody>
          <a:bodyPr vert="horz" lIns="99038" tIns="49519" rIns="99038" bIns="49519" rtlCol="0" anchor="b"/>
          <a:lstStyle>
            <a:lvl1pPr algn="l">
              <a:defRPr sz="1300"/>
            </a:lvl1pPr>
          </a:lstStyle>
          <a:p>
            <a:endParaRPr lang="en-AU"/>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38" tIns="49519" rIns="99038" bIns="49519" rtlCol="0" anchor="b"/>
          <a:lstStyle>
            <a:lvl1pPr algn="r">
              <a:defRPr sz="1300"/>
            </a:lvl1pPr>
          </a:lstStyle>
          <a:p>
            <a:fld id="{65EE676F-7762-4BB4-A496-A24276F414EE}" type="slidenum">
              <a:rPr lang="en-AU" smtClean="0"/>
              <a:pPr/>
              <a:t>‹#›</a:t>
            </a:fld>
            <a:endParaRPr lang="en-A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65EE676F-7762-4BB4-A496-A24276F414EE}" type="slidenum">
              <a:rPr lang="en-AU" smtClean="0"/>
              <a:pPr/>
              <a:t>1</a:t>
            </a:fld>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The</a:t>
            </a:r>
            <a:r>
              <a:rPr lang="en-US" baseline="0" dirty="0" smtClean="0"/>
              <a:t> Victorian Tertiary Admissions Centre is the central office that administers the application and offer process for places in tertiary courses at university, TAFE providers and independent tertiary colleges. We receive and forward application information and supporting documentation to the course selection authorities at institutions.</a:t>
            </a:r>
          </a:p>
          <a:p>
            <a:pPr>
              <a:buFont typeface="Arial" pitchFamily="34" charset="0"/>
              <a:buChar char="•"/>
            </a:pPr>
            <a:r>
              <a:rPr lang="en-US" baseline="0" dirty="0" smtClean="0"/>
              <a:t>Provides up to date information online (including information about course changes) through the VTAC Blog. This information is immediately available for applicants who subscribe using RSS and Twitter and on </a:t>
            </a:r>
            <a:r>
              <a:rPr lang="en-US" baseline="0" dirty="0" err="1" smtClean="0"/>
              <a:t>Facebook</a:t>
            </a:r>
            <a:r>
              <a:rPr lang="en-US" baseline="0" dirty="0" smtClean="0"/>
              <a:t> after a short delay.</a:t>
            </a:r>
          </a:p>
          <a:p>
            <a:pPr>
              <a:buFont typeface="Arial" pitchFamily="34" charset="0"/>
              <a:buChar char="•"/>
            </a:pPr>
            <a:r>
              <a:rPr lang="en-US" baseline="0" dirty="0" smtClean="0"/>
              <a:t> VTAC provides various information and enquiry services including telephone, email, blog, Twitter and RSS feeds. Information sessions are conducted online and in person.</a:t>
            </a:r>
          </a:p>
          <a:p>
            <a:pPr>
              <a:buFont typeface="Arial" pitchFamily="34" charset="0"/>
              <a:buChar char="•"/>
            </a:pPr>
            <a:r>
              <a:rPr lang="en-US" baseline="0" dirty="0" smtClean="0"/>
              <a:t>VTAC does not make selection decisions. Selection decisions are made by institutions and VTAC sends out letters on behalf of institutions. </a:t>
            </a:r>
          </a:p>
          <a:p>
            <a:pPr>
              <a:buFont typeface="Arial" pitchFamily="34" charset="0"/>
              <a:buChar char="•"/>
            </a:pPr>
            <a:r>
              <a:rPr lang="en-US" baseline="0" dirty="0" smtClean="0"/>
              <a:t>VTAC provides online applications for courses, admissions tests, Special Entry Access Schemes and Scholarships.</a:t>
            </a:r>
          </a:p>
          <a:p>
            <a:pPr>
              <a:buFont typeface="Arial" pitchFamily="34" charset="0"/>
              <a:buChar char="•"/>
            </a:pPr>
            <a:r>
              <a:rPr lang="en-US" baseline="0" dirty="0" smtClean="0"/>
              <a:t>VTAC is conducting an online seminar for all applicants on 13 September: “Getting the best out of your VTAC application, a forum for all applicants”</a:t>
            </a:r>
            <a:endParaRPr lang="en-US" dirty="0" smtClean="0"/>
          </a:p>
          <a:p>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2</a:t>
            </a:fld>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pPr>
              <a:buFontTx/>
              <a:buNone/>
            </a:pPr>
            <a:r>
              <a:rPr lang="en-US" dirty="0" smtClean="0"/>
              <a:t>All</a:t>
            </a:r>
            <a:r>
              <a:rPr lang="en-US" baseline="0" dirty="0" smtClean="0"/>
              <a:t> publications are available on the VTAC website. </a:t>
            </a:r>
          </a:p>
          <a:p>
            <a:pPr>
              <a:buFontTx/>
              <a:buNone/>
            </a:pPr>
            <a:endParaRPr lang="en-US" b="1" baseline="0" dirty="0" smtClean="0"/>
          </a:p>
          <a:p>
            <a:pPr>
              <a:buFontTx/>
              <a:buNone/>
            </a:pPr>
            <a:r>
              <a:rPr lang="en-US" b="1" baseline="0" dirty="0" smtClean="0"/>
              <a:t>The VTAC </a:t>
            </a:r>
            <a:r>
              <a:rPr lang="en-US" b="1" baseline="0" smtClean="0"/>
              <a:t>Guide 2013 </a:t>
            </a:r>
            <a:r>
              <a:rPr lang="en-US" baseline="0" dirty="0" smtClean="0"/>
              <a:t>lists all of the courses offered through VTAC, explains the application process and provides information on the institutions offering courses through VTAC. </a:t>
            </a:r>
          </a:p>
          <a:p>
            <a:pPr>
              <a:buFontTx/>
              <a:buNone/>
            </a:pPr>
            <a:r>
              <a:rPr lang="en-US" b="1" baseline="0" dirty="0" smtClean="0"/>
              <a:t>The ABC of Applying </a:t>
            </a:r>
            <a:r>
              <a:rPr lang="en-US" baseline="0" dirty="0" smtClean="0"/>
              <a:t>is a companion to the VTAC Guide for parents and Year 12 students. </a:t>
            </a:r>
          </a:p>
          <a:p>
            <a:pPr>
              <a:buFontTx/>
              <a:buNone/>
            </a:pPr>
            <a:r>
              <a:rPr lang="en-US" b="1" baseline="0" dirty="0" smtClean="0"/>
              <a:t>Choice</a:t>
            </a:r>
            <a:r>
              <a:rPr lang="en-US" baseline="0" dirty="0" smtClean="0"/>
              <a:t> is the companion to the VICTER publication.</a:t>
            </a:r>
          </a:p>
          <a:p>
            <a:pPr>
              <a:buFontTx/>
              <a:buNone/>
            </a:pPr>
            <a:r>
              <a:rPr lang="en-US" baseline="0" dirty="0" smtClean="0"/>
              <a:t>The </a:t>
            </a:r>
            <a:r>
              <a:rPr lang="en-US" b="1" baseline="0" dirty="0" smtClean="0"/>
              <a:t>ABC of scaling </a:t>
            </a:r>
            <a:r>
              <a:rPr lang="en-US" baseline="0" dirty="0" smtClean="0"/>
              <a:t>and </a:t>
            </a:r>
            <a:r>
              <a:rPr lang="en-US" b="1" baseline="0" dirty="0" smtClean="0"/>
              <a:t>ABC of offers </a:t>
            </a:r>
            <a:r>
              <a:rPr lang="en-US" dirty="0" smtClean="0"/>
              <a:t>will be sent to applicants</a:t>
            </a:r>
            <a:r>
              <a:rPr lang="en-US" baseline="0" dirty="0" smtClean="0"/>
              <a:t> when the ATAR is released in December, and when the offers are released in January respectively. They explain how scaling works, and how the offer process works.</a:t>
            </a:r>
          </a:p>
          <a:p>
            <a:pPr>
              <a:buFontTx/>
              <a:buNone/>
            </a:pPr>
            <a:r>
              <a:rPr lang="en-US" b="1" baseline="0" dirty="0" smtClean="0"/>
              <a:t>Note: </a:t>
            </a:r>
            <a:r>
              <a:rPr lang="en-US" b="0" baseline="0" dirty="0" smtClean="0"/>
              <a:t>Applicants can register for course updates by subscribing to the RSS Feed at www.vtac.edu.au</a:t>
            </a:r>
          </a:p>
          <a:p>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3</a:t>
            </a:fld>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65EE676F-7762-4BB4-A496-A24276F414EE}" type="slidenum">
              <a:rPr lang="en-AU" smtClean="0"/>
              <a:pPr/>
              <a:t>4</a:t>
            </a:fld>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pPr>
              <a:buFont typeface="Arial" pitchFamily="34" charset="0"/>
              <a:buChar char="•"/>
            </a:pPr>
            <a:r>
              <a:rPr lang="en-AU" dirty="0" smtClean="0"/>
              <a:t>VICTER</a:t>
            </a:r>
            <a:r>
              <a:rPr lang="en-AU" baseline="0" dirty="0" smtClean="0"/>
              <a:t> Supplement available in The Age and Herald Sun.</a:t>
            </a:r>
          </a:p>
          <a:p>
            <a:pPr>
              <a:buFont typeface="Arial" pitchFamily="34" charset="0"/>
              <a:buChar char="•"/>
            </a:pPr>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5</a:t>
            </a:fld>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r>
              <a:rPr lang="en-AU" sz="1500" b="1" dirty="0" smtClean="0"/>
              <a:t>Direct applications </a:t>
            </a:r>
          </a:p>
          <a:p>
            <a:r>
              <a:rPr lang="en-AU" sz="1300" dirty="0" smtClean="0"/>
              <a:t>A number of courses listed in this VTAC Guide will accept applications directly to the institution. </a:t>
            </a:r>
          </a:p>
          <a:p>
            <a:r>
              <a:rPr lang="en-AU" sz="1300" dirty="0" smtClean="0"/>
              <a:t>These courses are clearly identified with an application indicator within the course entry. These courses are included in the course listings and on </a:t>
            </a:r>
            <a:r>
              <a:rPr lang="en-AU" sz="1300" dirty="0" err="1" smtClean="0"/>
              <a:t>CourseSearch</a:t>
            </a:r>
            <a:r>
              <a:rPr lang="en-AU" sz="1300" dirty="0" smtClean="0"/>
              <a:t>. They are not included in </a:t>
            </a:r>
            <a:r>
              <a:rPr lang="en-AU" sz="1300" dirty="0" err="1" smtClean="0"/>
              <a:t>CourseSearch</a:t>
            </a:r>
            <a:r>
              <a:rPr lang="en-AU" sz="1300" dirty="0" smtClean="0"/>
              <a:t>!! </a:t>
            </a:r>
          </a:p>
          <a:p>
            <a:r>
              <a:rPr lang="en-AU" sz="1300" b="1" dirty="0" smtClean="0"/>
              <a:t> </a:t>
            </a:r>
            <a:endParaRPr lang="en-AU" sz="1300" dirty="0" smtClean="0"/>
          </a:p>
          <a:p>
            <a:r>
              <a:rPr lang="en-AU" sz="1500" b="1" dirty="0" smtClean="0"/>
              <a:t>Applications through VTAC </a:t>
            </a:r>
          </a:p>
          <a:p>
            <a:r>
              <a:rPr lang="en-AU" sz="1300" dirty="0" smtClean="0"/>
              <a:t>Where students must register and then apply through VTAC system. </a:t>
            </a:r>
          </a:p>
          <a:p>
            <a:r>
              <a:rPr lang="en-AU" sz="1300" dirty="0" smtClean="0"/>
              <a:t>More information further down track – courses listed as through VTAC must be applied for via the VTAC system. Courses listed as direct are with the institution too. </a:t>
            </a:r>
          </a:p>
          <a:p>
            <a:r>
              <a:rPr lang="en-AU" sz="1300" dirty="0" smtClean="0"/>
              <a:t>A number of VTAC institutions also have put their post graduate courses in the Guide, but via direct applications. </a:t>
            </a:r>
          </a:p>
          <a:p>
            <a:r>
              <a:rPr lang="en-AU" sz="1300" b="1" dirty="0" smtClean="0"/>
              <a:t> </a:t>
            </a:r>
            <a:endParaRPr lang="en-AU" sz="1300" dirty="0" smtClean="0"/>
          </a:p>
          <a:p>
            <a:r>
              <a:rPr lang="en-US" sz="1500" b="1" dirty="0" smtClean="0"/>
              <a:t>New terminology</a:t>
            </a:r>
            <a:endParaRPr lang="en-AU" sz="1500" dirty="0" smtClean="0"/>
          </a:p>
          <a:p>
            <a:pPr>
              <a:buFont typeface="Arial" pitchFamily="34" charset="0"/>
              <a:buChar char="•"/>
            </a:pPr>
            <a:r>
              <a:rPr lang="en-AU" sz="1300" dirty="0" smtClean="0"/>
              <a:t>VTAC user account (replaces </a:t>
            </a:r>
            <a:r>
              <a:rPr lang="en-AU" sz="1300" dirty="0" err="1" smtClean="0"/>
              <a:t>MyInfo</a:t>
            </a:r>
            <a:r>
              <a:rPr lang="en-AU" sz="1300" dirty="0" smtClean="0"/>
              <a:t>) – is the account an applicant must have to apply for courses, scholarships or SEAS </a:t>
            </a:r>
          </a:p>
          <a:p>
            <a:pPr>
              <a:buFont typeface="Arial" pitchFamily="34" charset="0"/>
              <a:buChar char="•"/>
            </a:pPr>
            <a:r>
              <a:rPr lang="en-AU" sz="1300" dirty="0" smtClean="0"/>
              <a:t>Negotiated course (replaces Irregular Offer) – same system, different name. </a:t>
            </a:r>
          </a:p>
          <a:p>
            <a:pPr>
              <a:buFont typeface="Arial" pitchFamily="34" charset="0"/>
              <a:buChar char="•"/>
            </a:pPr>
            <a:r>
              <a:rPr lang="en-AU" sz="1300" dirty="0" smtClean="0"/>
              <a:t>ALSET (replaces DULSAT) – doesn’t really affect year 12 students applying to courses in Victoria </a:t>
            </a:r>
          </a:p>
          <a:p>
            <a:pPr>
              <a:buFont typeface="Arial" pitchFamily="34" charset="0"/>
              <a:buChar char="•"/>
            </a:pPr>
            <a:r>
              <a:rPr lang="en-AU" sz="1300" dirty="0" smtClean="0"/>
              <a:t>Personal History online (replaces Pi Form) – new name, same process. </a:t>
            </a:r>
          </a:p>
          <a:p>
            <a:endParaRPr lang="en-AU"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6</a:t>
            </a:fld>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pPr>
              <a:spcAft>
                <a:spcPts val="1275"/>
              </a:spcAft>
            </a:pPr>
            <a:r>
              <a:rPr lang="en-AU" sz="1300" dirty="0" smtClean="0"/>
              <a:t>Majors index is still in the printed Guide, even though the majors aren’t listed in courses. </a:t>
            </a:r>
          </a:p>
          <a:p>
            <a:pPr>
              <a:spcAft>
                <a:spcPts val="1275"/>
              </a:spcAft>
            </a:pPr>
            <a:r>
              <a:rPr lang="en-AU" sz="1300" dirty="0" smtClean="0"/>
              <a:t>Selection data index is available in print, but included in course entry online. </a:t>
            </a:r>
          </a:p>
          <a:p>
            <a:pPr>
              <a:spcAft>
                <a:spcPts val="1275"/>
              </a:spcAft>
            </a:pPr>
            <a:r>
              <a:rPr lang="en-AU" sz="1300" dirty="0" smtClean="0"/>
              <a:t>Course listings are included, but the detail is online. Already we have had a large number of new and cancelled courses. The PDF will be updated. </a:t>
            </a:r>
          </a:p>
          <a:p>
            <a:pPr lvl="0"/>
            <a:r>
              <a:rPr lang="en-AU" sz="1300" dirty="0" smtClean="0"/>
              <a:t>Institutions are listed in strict alpha order – even those institutions that include direct applications only</a:t>
            </a:r>
          </a:p>
          <a:p>
            <a:pPr lvl="0"/>
            <a:endParaRPr lang="en-AU" sz="1300" dirty="0" smtClean="0"/>
          </a:p>
          <a:p>
            <a:pPr lvl="0"/>
            <a:r>
              <a:rPr lang="en-AU" sz="1300" dirty="0" smtClean="0"/>
              <a:t>Chapters in the VTAC Guide include: </a:t>
            </a:r>
          </a:p>
          <a:p>
            <a:pPr lvl="0">
              <a:buFont typeface="Arial" pitchFamily="34" charset="0"/>
              <a:buChar char="•"/>
            </a:pPr>
            <a:r>
              <a:rPr lang="en-AU" sz="1300" dirty="0" smtClean="0"/>
              <a:t>SEAS </a:t>
            </a:r>
          </a:p>
          <a:p>
            <a:pPr lvl="0">
              <a:buFont typeface="Arial" pitchFamily="34" charset="0"/>
              <a:buChar char="•"/>
            </a:pPr>
            <a:r>
              <a:rPr lang="en-AU" sz="1300" dirty="0" smtClean="0"/>
              <a:t>Scholarship</a:t>
            </a:r>
          </a:p>
          <a:p>
            <a:pPr lvl="0">
              <a:buFont typeface="Arial" pitchFamily="34" charset="0"/>
              <a:buChar char="•"/>
            </a:pPr>
            <a:r>
              <a:rPr lang="en-AU" sz="1300" dirty="0" smtClean="0"/>
              <a:t>Accommodation</a:t>
            </a:r>
          </a:p>
          <a:p>
            <a:pPr lvl="0">
              <a:buFont typeface="Arial" pitchFamily="34" charset="0"/>
              <a:buChar char="•"/>
            </a:pPr>
            <a:r>
              <a:rPr lang="en-AU" sz="1300" dirty="0" smtClean="0"/>
              <a:t>Enrolment and deferment</a:t>
            </a:r>
          </a:p>
          <a:p>
            <a:pPr lvl="0">
              <a:buFont typeface="Arial" pitchFamily="34" charset="0"/>
              <a:buChar char="•"/>
            </a:pPr>
            <a:r>
              <a:rPr lang="en-AU" sz="1300" dirty="0" smtClean="0"/>
              <a:t>Credit transfer, pathways and recognition of prior learning </a:t>
            </a:r>
          </a:p>
          <a:p>
            <a:pPr lvl="0"/>
            <a:endParaRPr lang="en-AU"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7</a:t>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r>
              <a:rPr lang="en-AU" sz="1300" b="1" dirty="0" smtClean="0"/>
              <a:t>How entries and listed and what to expect in the printed Guide? </a:t>
            </a:r>
          </a:p>
          <a:p>
            <a:r>
              <a:rPr lang="en-AU" sz="1300" dirty="0" smtClean="0"/>
              <a:t>Course listings in printed Guide, detail online. </a:t>
            </a:r>
          </a:p>
          <a:p>
            <a:r>
              <a:rPr lang="en-AU" sz="1300" dirty="0" smtClean="0"/>
              <a:t>Institutions and their courses are listed in strict alphabetical order</a:t>
            </a:r>
          </a:p>
          <a:p>
            <a:r>
              <a:rPr lang="en-AU" sz="1300" dirty="0" smtClean="0"/>
              <a:t>The listings in the printed Guide include an indicator for prerequisites and extra requirements. In some cases, the extra requirements will only apply to non-year 12 applicants. </a:t>
            </a:r>
          </a:p>
          <a:p>
            <a:endParaRPr lang="en-AU" sz="1300" dirty="0" smtClean="0"/>
          </a:p>
          <a:p>
            <a:r>
              <a:rPr lang="en-AU" sz="1300" b="1" dirty="0" smtClean="0"/>
              <a:t>The application status: </a:t>
            </a:r>
          </a:p>
          <a:p>
            <a:r>
              <a:rPr lang="en-AU" sz="1300" dirty="0" smtClean="0"/>
              <a:t>Courses through VTAC have a VTAC course code to indicate fee type and selection data (will be in a separate index)</a:t>
            </a:r>
          </a:p>
          <a:p>
            <a:r>
              <a:rPr lang="en-AU" sz="1300" dirty="0" smtClean="0"/>
              <a:t>Courses via direct applications have an indicator type - no course code. </a:t>
            </a:r>
          </a:p>
          <a:p>
            <a:endParaRPr lang="en-AU" dirty="0" smtClean="0"/>
          </a:p>
          <a:p>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8</a:t>
            </a:fld>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r>
              <a:rPr lang="en-AU" b="1" dirty="0" smtClean="0">
                <a:solidFill>
                  <a:srgbClr val="C00000"/>
                </a:solidFill>
              </a:rPr>
              <a:t>VET stands for Vocational Education and Training. </a:t>
            </a:r>
          </a:p>
          <a:p>
            <a:r>
              <a:rPr lang="en-AU" b="1" dirty="0" smtClean="0">
                <a:solidFill>
                  <a:srgbClr val="C00000"/>
                </a:solidFill>
              </a:rPr>
              <a:t>VET courses provide </a:t>
            </a:r>
            <a:r>
              <a:rPr lang="en-AU" dirty="0" smtClean="0"/>
              <a:t>professional and semi-professional qualifications with an emphasis on practical skills and vocational pathways to further training, higher education or employment. </a:t>
            </a:r>
          </a:p>
          <a:p>
            <a:r>
              <a:rPr lang="en-AU" dirty="0" smtClean="0"/>
              <a:t>VET courses are generally offered by private providers and TAFEs. </a:t>
            </a:r>
          </a:p>
          <a:p>
            <a:r>
              <a:rPr lang="en-AU" dirty="0" smtClean="0"/>
              <a:t>The qualifications included in the VTAC Guide start at Certificate II and go up to the Advanced Diploma. </a:t>
            </a:r>
          </a:p>
          <a:p>
            <a:r>
              <a:rPr lang="en-AU" dirty="0" smtClean="0"/>
              <a:t>A number of TAFE institutes also offer higher education courses - </a:t>
            </a:r>
          </a:p>
          <a:p>
            <a:endParaRPr lang="en-AU" dirty="0" smtClean="0"/>
          </a:p>
          <a:p>
            <a:r>
              <a:rPr lang="en-AU" b="1" dirty="0" smtClean="0">
                <a:solidFill>
                  <a:srgbClr val="C00000"/>
                </a:solidFill>
              </a:rPr>
              <a:t>There are three types of higher education courses listed with VTAC: </a:t>
            </a:r>
            <a:r>
              <a:rPr lang="en-AU" dirty="0" smtClean="0"/>
              <a:t/>
            </a:r>
            <a:br>
              <a:rPr lang="en-AU" dirty="0" smtClean="0"/>
            </a:br>
            <a:r>
              <a:rPr lang="en-AU" b="1" dirty="0" smtClean="0"/>
              <a:t>Undergraduate:</a:t>
            </a:r>
            <a:r>
              <a:rPr lang="en-AU" dirty="0" smtClean="0"/>
              <a:t> The majority of higher education courses with applications through VTAC are bachelor degrees and a few associate degrees. </a:t>
            </a:r>
          </a:p>
          <a:p>
            <a:r>
              <a:rPr lang="en-AU" dirty="0" smtClean="0"/>
              <a:t>The remaining two levels are not relevant to year 12 students but may be of interest for planning: </a:t>
            </a:r>
          </a:p>
          <a:p>
            <a:r>
              <a:rPr lang="en-AU" b="1" dirty="0" smtClean="0"/>
              <a:t>Graduate entry teaching </a:t>
            </a:r>
            <a:r>
              <a:rPr lang="en-AU" dirty="0" smtClean="0"/>
              <a:t>which is not relevant to year 12 students require an undergraduate qualification, such as a degree, as a prerequisite. </a:t>
            </a:r>
          </a:p>
          <a:p>
            <a:r>
              <a:rPr lang="en-AU" b="1" dirty="0" smtClean="0"/>
              <a:t>Other graduate courses – </a:t>
            </a:r>
            <a:r>
              <a:rPr lang="en-AU" dirty="0" smtClean="0"/>
              <a:t>which are not relevant to year 12 students </a:t>
            </a:r>
          </a:p>
          <a:p>
            <a:r>
              <a:rPr lang="en-AU" dirty="0" smtClean="0"/>
              <a:t>require an undergraduate or VET qualification and/or relevant work experience as a prerequisite. These courses are included in this guide with the above coloured banner. </a:t>
            </a:r>
            <a:endParaRPr lang="en-AU" b="1" dirty="0" smtClean="0"/>
          </a:p>
          <a:p>
            <a:endParaRPr lang="en-AU"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9</a:t>
            </a:fld>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r>
              <a:rPr lang="en-AU" sz="1500" dirty="0" smtClean="0"/>
              <a:t>All courses are now integrated there are no separate sections for GET courses so you need to be aware of this. Colour coding, prerequisites and courses codes are key to getting it right. With that said no year 12 student will be permitted to apply for a graduate course. </a:t>
            </a:r>
          </a:p>
        </p:txBody>
      </p:sp>
      <p:sp>
        <p:nvSpPr>
          <p:cNvPr id="4" name="Slide Number Placeholder 3"/>
          <p:cNvSpPr>
            <a:spLocks noGrp="1"/>
          </p:cNvSpPr>
          <p:nvPr>
            <p:ph type="sldNum" sz="quarter" idx="10"/>
          </p:nvPr>
        </p:nvSpPr>
        <p:spPr/>
        <p:txBody>
          <a:bodyPr/>
          <a:lstStyle/>
          <a:p>
            <a:fld id="{AAE8AB14-6946-4D8C-A22F-C59B5B0586EC}" type="slidenum">
              <a:rPr lang="en-AU" smtClean="0"/>
              <a:pPr/>
              <a:t>10</a:t>
            </a:fld>
            <a:endParaRPr lang="en-AU"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r>
              <a:rPr lang="en-AU" dirty="0" smtClean="0"/>
              <a:t>The colour at the top indicates what type of qualification this course is registered under. In this case it’s a VET course. </a:t>
            </a:r>
          </a:p>
          <a:p>
            <a:r>
              <a:rPr lang="en-AU" dirty="0" smtClean="0"/>
              <a:t>The next line is the campus and course codes. </a:t>
            </a:r>
          </a:p>
          <a:p>
            <a:r>
              <a:rPr lang="en-AU" dirty="0" smtClean="0"/>
              <a:t>Followed by the application indicator. </a:t>
            </a:r>
          </a:p>
        </p:txBody>
      </p:sp>
      <p:sp>
        <p:nvSpPr>
          <p:cNvPr id="4" name="Slide Number Placeholder 3"/>
          <p:cNvSpPr>
            <a:spLocks noGrp="1"/>
          </p:cNvSpPr>
          <p:nvPr>
            <p:ph type="sldNum" sz="quarter" idx="10"/>
          </p:nvPr>
        </p:nvSpPr>
        <p:spPr/>
        <p:txBody>
          <a:bodyPr/>
          <a:lstStyle/>
          <a:p>
            <a:fld id="{65EE676F-7762-4BB4-A496-A24276F414EE}" type="slidenum">
              <a:rPr lang="en-AU" smtClean="0"/>
              <a:pPr/>
              <a:t>11</a:t>
            </a:fld>
            <a:endParaRPr lang="en-A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a:xfrm>
            <a:off x="344361" y="4861441"/>
            <a:ext cx="6410580" cy="5011056"/>
          </a:xfrm>
        </p:spPr>
        <p:txBody>
          <a:bodyPr>
            <a:noAutofit/>
          </a:bodyPr>
          <a:lstStyle/>
          <a:p>
            <a:r>
              <a:rPr lang="en-AU" b="1" kern="1200" baseline="0" dirty="0" smtClean="0">
                <a:solidFill>
                  <a:schemeClr val="tx1"/>
                </a:solidFill>
                <a:latin typeface="+mn-lt"/>
                <a:ea typeface="+mn-ea"/>
                <a:cs typeface="+mn-cs"/>
              </a:rPr>
              <a:t>About the course</a:t>
            </a:r>
            <a:r>
              <a:rPr lang="en-AU" kern="1200" baseline="0" dirty="0" smtClean="0">
                <a:solidFill>
                  <a:schemeClr val="tx1"/>
                </a:solidFill>
                <a:latin typeface="+mn-lt"/>
                <a:ea typeface="+mn-ea"/>
                <a:cs typeface="+mn-cs"/>
              </a:rPr>
              <a:t>: A brief description of the course, including how the course is structured and the components that make up the course (e.g. academic units, field work and industry placements). </a:t>
            </a:r>
          </a:p>
          <a:p>
            <a:endParaRPr lang="en-AU" b="1"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Major studies</a:t>
            </a:r>
            <a:r>
              <a:rPr lang="en-AU" dirty="0" smtClean="0"/>
              <a:t>: Studies or areas of study that can be taken across all years and form a major component of the course.  Majors </a:t>
            </a:r>
            <a:r>
              <a:rPr lang="en-AU" kern="1200" baseline="0" dirty="0" smtClean="0">
                <a:solidFill>
                  <a:schemeClr val="tx1"/>
                </a:solidFill>
                <a:latin typeface="+mn-lt"/>
                <a:ea typeface="+mn-ea"/>
                <a:cs typeface="+mn-cs"/>
              </a:rPr>
              <a:t>are</a:t>
            </a:r>
            <a:r>
              <a:rPr lang="en-AU" kern="1200" dirty="0" smtClean="0">
                <a:solidFill>
                  <a:schemeClr val="tx1"/>
                </a:solidFill>
                <a:latin typeface="+mn-lt"/>
                <a:ea typeface="+mn-ea"/>
                <a:cs typeface="+mn-cs"/>
              </a:rPr>
              <a:t> not </a:t>
            </a:r>
            <a:r>
              <a:rPr lang="en-AU" kern="1200" baseline="0" dirty="0" smtClean="0">
                <a:solidFill>
                  <a:schemeClr val="tx1"/>
                </a:solidFill>
                <a:latin typeface="+mn-lt"/>
                <a:ea typeface="+mn-ea"/>
                <a:cs typeface="+mn-cs"/>
              </a:rPr>
              <a:t> included in the print course </a:t>
            </a:r>
            <a:r>
              <a:rPr lang="en-AU" dirty="0" smtClean="0"/>
              <a:t>entry, but are included in the printed Majors Index. You can sort on a major in VTAC CourseLink and are included in the online course entry. </a:t>
            </a:r>
          </a:p>
          <a:p>
            <a:endParaRPr lang="en-AU" b="1"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Prerequisites</a:t>
            </a:r>
            <a:r>
              <a:rPr lang="en-AU" kern="1200" baseline="0" dirty="0" smtClean="0">
                <a:solidFill>
                  <a:schemeClr val="tx1"/>
                </a:solidFill>
                <a:latin typeface="+mn-lt"/>
                <a:ea typeface="+mn-ea"/>
                <a:cs typeface="+mn-cs"/>
              </a:rPr>
              <a:t>: VCE studies or specific skills you must have to be eligible for the course. </a:t>
            </a:r>
          </a:p>
          <a:p>
            <a:endParaRPr lang="en-AU" b="1"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Selection mode</a:t>
            </a:r>
            <a:r>
              <a:rPr lang="en-AU" kern="1200" baseline="0" dirty="0" smtClean="0">
                <a:solidFill>
                  <a:schemeClr val="tx1"/>
                </a:solidFill>
                <a:latin typeface="+mn-lt"/>
                <a:ea typeface="+mn-ea"/>
                <a:cs typeface="+mn-cs"/>
              </a:rPr>
              <a:t>: All the ways used by selection officers to select students for the course. </a:t>
            </a:r>
            <a:r>
              <a:rPr lang="en-AU" kern="1200" dirty="0" smtClean="0">
                <a:solidFill>
                  <a:schemeClr val="tx1"/>
                </a:solidFill>
                <a:latin typeface="+mn-lt"/>
                <a:ea typeface="+mn-ea"/>
                <a:cs typeface="+mn-cs"/>
              </a:rPr>
              <a:t> </a:t>
            </a:r>
            <a:r>
              <a:rPr lang="en-AU" dirty="0" smtClean="0"/>
              <a:t>The mode is broken down into </a:t>
            </a:r>
            <a:r>
              <a:rPr lang="en-AU" b="1" i="1" dirty="0" smtClean="0"/>
              <a:t>current year 12 and non-year 12</a:t>
            </a:r>
            <a:r>
              <a:rPr lang="en-AU" dirty="0" smtClean="0"/>
              <a:t>. Always read the extra requirements.  </a:t>
            </a:r>
            <a:endParaRPr lang="en-AU" kern="1200" baseline="0" dirty="0" smtClean="0">
              <a:solidFill>
                <a:schemeClr val="tx1"/>
              </a:solidFill>
              <a:latin typeface="+mn-lt"/>
              <a:ea typeface="+mn-ea"/>
              <a:cs typeface="+mn-cs"/>
            </a:endParaRPr>
          </a:p>
          <a:p>
            <a:endParaRPr lang="en-AU" b="1"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Middle-band:</a:t>
            </a:r>
            <a:r>
              <a:rPr lang="en-AU" kern="1200" baseline="0" dirty="0" smtClean="0">
                <a:solidFill>
                  <a:schemeClr val="tx1"/>
                </a:solidFill>
                <a:latin typeface="+mn-lt"/>
                <a:ea typeface="+mn-ea"/>
                <a:cs typeface="+mn-cs"/>
              </a:rPr>
              <a:t> Additional factors considered for selection. Middle-band factors are considered for approximately 20% of places, after the ‘clearly-in’ applicants have been established based on their ATAR alone. </a:t>
            </a:r>
          </a:p>
          <a:p>
            <a:endParaRPr lang="en-AU"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Extra requirements</a:t>
            </a:r>
            <a:r>
              <a:rPr lang="en-AU" kern="1200" baseline="0" dirty="0" smtClean="0">
                <a:solidFill>
                  <a:schemeClr val="tx1"/>
                </a:solidFill>
                <a:latin typeface="+mn-lt"/>
                <a:ea typeface="+mn-ea"/>
                <a:cs typeface="+mn-cs"/>
              </a:rPr>
              <a:t>: The things you must do</a:t>
            </a:r>
            <a:r>
              <a:rPr lang="en-AU" kern="1200" dirty="0" smtClean="0">
                <a:solidFill>
                  <a:schemeClr val="tx1"/>
                </a:solidFill>
                <a:latin typeface="+mn-lt"/>
                <a:ea typeface="+mn-ea"/>
                <a:cs typeface="+mn-cs"/>
              </a:rPr>
              <a:t> if CY12 and All applicants is listed– if you don’t do these you won’t be considered. </a:t>
            </a:r>
            <a:r>
              <a:rPr lang="en-AU" dirty="0" smtClean="0"/>
              <a:t>‘S</a:t>
            </a:r>
            <a:r>
              <a:rPr lang="en-AU" kern="1200" baseline="0" dirty="0" smtClean="0">
                <a:solidFill>
                  <a:schemeClr val="tx1"/>
                </a:solidFill>
                <a:latin typeface="+mn-lt"/>
                <a:ea typeface="+mn-ea"/>
                <a:cs typeface="+mn-cs"/>
              </a:rPr>
              <a:t>ome applicants only’ means you must read the instructions carefully to find out if the requirement applies to you. </a:t>
            </a:r>
          </a:p>
          <a:p>
            <a:endParaRPr lang="en-AU" kern="1200" baseline="0" dirty="0" smtClean="0">
              <a:solidFill>
                <a:schemeClr val="tx1"/>
              </a:solidFill>
              <a:latin typeface="+mn-lt"/>
              <a:ea typeface="+mn-ea"/>
              <a:cs typeface="+mn-cs"/>
            </a:endParaRPr>
          </a:p>
          <a:p>
            <a:r>
              <a:rPr lang="en-AU" b="1" kern="1200" baseline="0" dirty="0" smtClean="0">
                <a:solidFill>
                  <a:schemeClr val="tx1"/>
                </a:solidFill>
                <a:latin typeface="+mn-lt"/>
                <a:ea typeface="+mn-ea"/>
                <a:cs typeface="+mn-cs"/>
              </a:rPr>
              <a:t>Additional information</a:t>
            </a:r>
            <a:r>
              <a:rPr lang="en-AU" kern="1200" baseline="0" dirty="0" smtClean="0">
                <a:solidFill>
                  <a:schemeClr val="tx1"/>
                </a:solidFill>
                <a:latin typeface="+mn-lt"/>
                <a:ea typeface="+mn-ea"/>
                <a:cs typeface="+mn-cs"/>
              </a:rPr>
              <a:t>: Important information to assist potential applicants (e.g. non-compulsory information sessions and any special conditions). </a:t>
            </a:r>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12</a:t>
            </a:fld>
            <a:endParaRPr lang="en-AU"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r>
              <a:rPr lang="en-AU" dirty="0" smtClean="0"/>
              <a:t>This screen is a visual overview of the application process. We will discuss the process in greater depth in upcoming slides. </a:t>
            </a:r>
          </a:p>
          <a:p>
            <a:r>
              <a:rPr lang="en-AU" dirty="0" smtClean="0"/>
              <a:t>The first stage is to register. </a:t>
            </a:r>
          </a:p>
          <a:p>
            <a:r>
              <a:rPr lang="en-AU" dirty="0" smtClean="0"/>
              <a:t>Students must register using the same details they did when they enrolled. </a:t>
            </a:r>
          </a:p>
          <a:p>
            <a:r>
              <a:rPr lang="en-AU" dirty="0" smtClean="0"/>
              <a:t>After registration, the student will be allocated a VTAC ID and PIN. </a:t>
            </a:r>
          </a:p>
          <a:p>
            <a:r>
              <a:rPr lang="en-AU" dirty="0" smtClean="0"/>
              <a:t>They can then apply for courses etc. </a:t>
            </a:r>
          </a:p>
          <a:p>
            <a:endParaRPr lang="en-AU" dirty="0" smtClean="0"/>
          </a:p>
        </p:txBody>
      </p:sp>
      <p:sp>
        <p:nvSpPr>
          <p:cNvPr id="4" name="Slide Number Placeholder 3"/>
          <p:cNvSpPr>
            <a:spLocks noGrp="1"/>
          </p:cNvSpPr>
          <p:nvPr>
            <p:ph type="sldNum" sz="quarter" idx="10"/>
          </p:nvPr>
        </p:nvSpPr>
        <p:spPr/>
        <p:txBody>
          <a:bodyPr/>
          <a:lstStyle/>
          <a:p>
            <a:fld id="{AAE8AB14-6946-4D8C-A22F-C59B5B0586EC}" type="slidenum">
              <a:rPr lang="en-AU" smtClean="0"/>
              <a:pPr/>
              <a:t>13</a:t>
            </a:fld>
            <a:endParaRPr lang="en-AU"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r>
              <a:rPr lang="en-AU" dirty="0" smtClean="0"/>
              <a:t>When a course indicates that it is a direct application. Then the applicant deals directly with the institution and not VTAC. </a:t>
            </a:r>
          </a:p>
          <a:p>
            <a:r>
              <a:rPr lang="en-AU" dirty="0" smtClean="0"/>
              <a:t>VTAC is simply a tool to advise applicants of what else is available and does not have any input into the direct process. </a:t>
            </a:r>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14</a:t>
            </a:fld>
            <a:endParaRPr lang="en-AU"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r>
              <a:rPr lang="en-AU" dirty="0" smtClean="0"/>
              <a:t>Students can list 12 preferences on their course application. </a:t>
            </a:r>
          </a:p>
          <a:p>
            <a:r>
              <a:rPr lang="en-AU" dirty="0" smtClean="0"/>
              <a:t>The list can be a mix of 12 different courses from different institutions and/or from the same institution. Mix them anyway you want EXCEPT: </a:t>
            </a:r>
          </a:p>
          <a:p>
            <a:r>
              <a:rPr lang="en-AU" dirty="0" smtClean="0"/>
              <a:t>Always list the courses in the order you most want to get into them. </a:t>
            </a:r>
          </a:p>
          <a:p>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15</a:t>
            </a:fld>
            <a:endParaRPr lang="en-A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Every year schools contact us telling us that their students have incorrectly registered. </a:t>
            </a:r>
          </a:p>
          <a:p>
            <a:r>
              <a:rPr lang="en-AU" dirty="0" smtClean="0"/>
              <a:t>I’m not sure how this happens because as you can see, its pretty straight forward. </a:t>
            </a:r>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16</a:t>
            </a:fld>
            <a:endParaRPr lang="en-AU"/>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65EE676F-7762-4BB4-A496-A24276F414EE}" type="slidenum">
              <a:rPr lang="en-AU" smtClean="0"/>
              <a:pPr/>
              <a:t>17</a:t>
            </a:fld>
            <a:endParaRPr lang="en-AU"/>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r>
              <a:rPr lang="en-GB" sz="1300" dirty="0" smtClean="0"/>
              <a:t>Applicants must attend all interviews, sit any required tests, submit all required folios, and fill in all required forms, etc. </a:t>
            </a:r>
            <a:endParaRPr lang="en-AU" sz="1300" dirty="0" smtClean="0"/>
          </a:p>
          <a:p>
            <a:r>
              <a:rPr lang="en-GB" sz="1300" dirty="0" smtClean="0"/>
              <a:t>Courses with prerequisites Consideration of SEAS circumstances may be given to performance slightly below the stated minimum study score for a prerequisite. </a:t>
            </a:r>
            <a:endParaRPr lang="en-AU" sz="1300" dirty="0" smtClean="0"/>
          </a:p>
          <a:p>
            <a:r>
              <a:rPr lang="en-GB" sz="1300" dirty="0" smtClean="0"/>
              <a:t>Such consideration is determined by each institution in accordance with their selection policy. Applicants cannot be exempted from having to complete the prerequisite study.</a:t>
            </a:r>
            <a:endParaRPr lang="en-AU" sz="1300" dirty="0" smtClean="0"/>
          </a:p>
          <a:p>
            <a:endParaRPr lang="en-GB" sz="1300" b="1" dirty="0" smtClean="0"/>
          </a:p>
          <a:p>
            <a:endParaRPr lang="en-GB" b="1" dirty="0" smtClean="0"/>
          </a:p>
          <a:p>
            <a:endParaRPr lang="en-AU" dirty="0" smtClean="0"/>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18</a:t>
            </a:fld>
            <a:endParaRPr lang="en-AU"/>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r>
              <a:rPr lang="en-GB" sz="1900" dirty="0" smtClean="0"/>
              <a:t>You can find SEAS on our website under:  </a:t>
            </a:r>
            <a:r>
              <a:rPr lang="en-GB" sz="1900" b="1" dirty="0" smtClean="0"/>
              <a:t>Am I eligible </a:t>
            </a:r>
            <a:r>
              <a:rPr lang="en-GB" sz="1900" dirty="0" smtClean="0"/>
              <a:t>– </a:t>
            </a:r>
            <a:r>
              <a:rPr lang="en-GB" sz="1900" i="1" dirty="0" smtClean="0"/>
              <a:t>it is part of the eligibility process</a:t>
            </a:r>
            <a:r>
              <a:rPr lang="en-GB" sz="1900" dirty="0" smtClean="0"/>
              <a:t>. </a:t>
            </a:r>
          </a:p>
          <a:p>
            <a:endParaRPr lang="en-GB" sz="1900" dirty="0" smtClean="0"/>
          </a:p>
          <a:p>
            <a:r>
              <a:rPr lang="en-GB" sz="1900" dirty="0" smtClean="0"/>
              <a:t>It has also been cross referenced on our website under: </a:t>
            </a:r>
          </a:p>
          <a:p>
            <a:pPr lvl="1"/>
            <a:r>
              <a:rPr lang="en-GB" sz="1900" dirty="0" smtClean="0"/>
              <a:t>Special consideration </a:t>
            </a:r>
          </a:p>
          <a:p>
            <a:pPr lvl="1"/>
            <a:r>
              <a:rPr lang="en-GB" sz="1900" dirty="0" smtClean="0"/>
              <a:t>Mature age consideration </a:t>
            </a:r>
          </a:p>
          <a:p>
            <a:pPr lvl="1"/>
            <a:r>
              <a:rPr lang="en-GB" sz="1900" dirty="0" smtClean="0"/>
              <a:t>SEAS </a:t>
            </a:r>
          </a:p>
          <a:p>
            <a:endParaRPr lang="en-GB" sz="1300" dirty="0" smtClean="0"/>
          </a:p>
          <a:p>
            <a:endParaRPr lang="en-US"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19</a:t>
            </a:fld>
            <a:endParaRPr lang="en-AU"/>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lnSpcReduction="10000"/>
          </a:bodyPr>
          <a:lstStyle/>
          <a:p>
            <a:r>
              <a:rPr lang="en-GB" sz="1300" b="1" dirty="0" smtClean="0"/>
              <a:t>Category one </a:t>
            </a:r>
            <a:r>
              <a:rPr lang="en-GB" sz="1300" dirty="0" smtClean="0"/>
              <a:t>is designed for applicants who wish to be considered for information already provided in their registration and/or course application associated with mature age consideration, Recognition as an Indigenous Australian</a:t>
            </a:r>
            <a:r>
              <a:rPr lang="en-AU" sz="1300" dirty="0" smtClean="0"/>
              <a:t>, </a:t>
            </a:r>
            <a:r>
              <a:rPr lang="en-GB" sz="1300" dirty="0" smtClean="0"/>
              <a:t>Living or school postcode</a:t>
            </a:r>
            <a:r>
              <a:rPr lang="en-AU" sz="1300" dirty="0" smtClean="0"/>
              <a:t>, </a:t>
            </a:r>
            <a:r>
              <a:rPr lang="en-GB" sz="1300" dirty="0" smtClean="0"/>
              <a:t>Under-represented schools – institutions have a list and details of this list are in the SEAS chapter</a:t>
            </a:r>
            <a:r>
              <a:rPr lang="en-AU" sz="1300" dirty="0" smtClean="0"/>
              <a:t>, </a:t>
            </a:r>
            <a:r>
              <a:rPr lang="en-GB" sz="1300" dirty="0" smtClean="0"/>
              <a:t>Gender such as males or females in under-represented disciplines i.e. women in engineering; men as primary school teachers. </a:t>
            </a:r>
            <a:endParaRPr lang="en-AU" sz="1300" dirty="0" smtClean="0"/>
          </a:p>
          <a:p>
            <a:endParaRPr lang="en-GB" sz="1300" b="1" dirty="0" smtClean="0"/>
          </a:p>
          <a:p>
            <a:r>
              <a:rPr lang="en-GB" sz="1300" b="1" dirty="0" smtClean="0"/>
              <a:t>Category 2: </a:t>
            </a:r>
            <a:r>
              <a:rPr lang="en-GB" sz="1300" dirty="0" smtClean="0"/>
              <a:t>applicants must have been born in a non-English speaking country outside of Australia and arrived in Australia on or after 1 January 2003 (</a:t>
            </a:r>
            <a:r>
              <a:rPr lang="en-GB" sz="1300" dirty="0" err="1" smtClean="0"/>
              <a:t>Monash</a:t>
            </a:r>
            <a:r>
              <a:rPr lang="en-GB" sz="1300" dirty="0" smtClean="0"/>
              <a:t> 2007 and Melbourne 2006). This does differ for some universities so check the criteria in the Guide. </a:t>
            </a:r>
            <a:endParaRPr lang="en-AU" sz="1300" b="1" dirty="0" smtClean="0"/>
          </a:p>
          <a:p>
            <a:r>
              <a:rPr lang="en-GB" sz="1300" b="1" dirty="0" smtClean="0"/>
              <a:t> </a:t>
            </a:r>
            <a:endParaRPr lang="en-AU" sz="1300" b="1" dirty="0" smtClean="0"/>
          </a:p>
          <a:p>
            <a:r>
              <a:rPr lang="en-GB" sz="1300" b="1" dirty="0" smtClean="0"/>
              <a:t>Category 3: </a:t>
            </a:r>
            <a:r>
              <a:rPr lang="en-GB" sz="1300" dirty="0" smtClean="0"/>
              <a:t>is for applicants who have been prevented from reaching their full educational potential because of family or other life circumstances – the students need to indicate whether or not the circumstances are long or short term. Examples of types of difficulties may include Refugee</a:t>
            </a:r>
            <a:r>
              <a:rPr lang="en-AU" sz="1300" b="1" dirty="0" smtClean="0"/>
              <a:t>; </a:t>
            </a:r>
            <a:r>
              <a:rPr lang="en-AU" sz="1300" dirty="0" smtClean="0"/>
              <a:t>family problems, abuse, sick family member, homelessness. </a:t>
            </a:r>
          </a:p>
          <a:p>
            <a:endParaRPr lang="en-AU" sz="1300" dirty="0" smtClean="0"/>
          </a:p>
          <a:p>
            <a:r>
              <a:rPr lang="en-AU" sz="1300" b="1" dirty="0" smtClean="0"/>
              <a:t>Cat</a:t>
            </a:r>
            <a:r>
              <a:rPr lang="en-GB" sz="1300" b="1" dirty="0" err="1" smtClean="0"/>
              <a:t>egory</a:t>
            </a:r>
            <a:r>
              <a:rPr lang="en-GB" sz="1300" b="1" dirty="0" smtClean="0"/>
              <a:t> 4</a:t>
            </a:r>
            <a:r>
              <a:rPr lang="en-GB" sz="1300" dirty="0" smtClean="0"/>
              <a:t>: is for applicants prevented from reaching their full educational potential because of a disadvantaged financial background. Applicants will need to indicate whether the circumstances are long or short term. Examples include:</a:t>
            </a:r>
            <a:endParaRPr lang="en-AU" sz="1300" b="1" dirty="0" smtClean="0"/>
          </a:p>
          <a:p>
            <a:r>
              <a:rPr lang="en-GB" sz="1300" dirty="0" smtClean="0"/>
              <a:t> Individual or family poverty; Excessive financial obligations; Economic hardship. For this category VTAC can get the information from </a:t>
            </a:r>
            <a:r>
              <a:rPr lang="en-GB" sz="1300" dirty="0" err="1" smtClean="0"/>
              <a:t>CentreLink</a:t>
            </a:r>
            <a:r>
              <a:rPr lang="en-GB" sz="1300" dirty="0" smtClean="0"/>
              <a:t> if the student provides us with permission via their CRN. </a:t>
            </a:r>
            <a:endParaRPr lang="en-AU" sz="1300" b="1" dirty="0" smtClean="0"/>
          </a:p>
          <a:p>
            <a:endParaRPr lang="en-AU" sz="1300" dirty="0" smtClean="0"/>
          </a:p>
          <a:p>
            <a:endParaRPr lang="en-AU" sz="1300" b="1" dirty="0" smtClean="0"/>
          </a:p>
          <a:p>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20</a:t>
            </a:fld>
            <a:endParaRPr lang="en-AU"/>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r>
              <a:rPr lang="en-GB" b="1" dirty="0" smtClean="0"/>
              <a:t>Category 5:  </a:t>
            </a:r>
            <a:r>
              <a:rPr lang="en-GB" dirty="0" smtClean="0"/>
              <a:t>Is for applicants who are disadvantage as a result of a disability or medical condition. Applicants will need to indicate whether the circumstances are long or short term. Please remind applicants that if they require support or assistance with course extra requirements such as interviews, folio presentations or information sessions, should refer to individual institutional pages in the VTAC Guide for further information regarding who to contact for advice. </a:t>
            </a:r>
            <a:endParaRPr lang="en-AU" b="1" dirty="0" smtClean="0"/>
          </a:p>
          <a:p>
            <a:endParaRPr lang="en-GB" dirty="0" smtClean="0"/>
          </a:p>
          <a:p>
            <a:r>
              <a:rPr lang="en-GB" b="1" dirty="0" smtClean="0"/>
              <a:t>Category 6:</a:t>
            </a:r>
            <a:r>
              <a:rPr lang="en-GB" dirty="0" smtClean="0"/>
              <a:t>  Is for current Year 12 students who attend schools that are explicitly nominated under the: </a:t>
            </a:r>
          </a:p>
          <a:p>
            <a:pPr>
              <a:buFont typeface="Arial" pitchFamily="34" charset="0"/>
              <a:buChar char="•"/>
            </a:pPr>
            <a:r>
              <a:rPr lang="en-GB" dirty="0" smtClean="0"/>
              <a:t>Schools Access La Trobe (SALT)</a:t>
            </a:r>
          </a:p>
          <a:p>
            <a:pPr>
              <a:buFont typeface="Arial" pitchFamily="34" charset="0"/>
              <a:buChar char="•"/>
            </a:pPr>
            <a:r>
              <a:rPr lang="en-GB" dirty="0" smtClean="0"/>
              <a:t>University of </a:t>
            </a:r>
            <a:r>
              <a:rPr lang="en-GB" dirty="0" err="1" smtClean="0"/>
              <a:t>Ballarat</a:t>
            </a:r>
            <a:r>
              <a:rPr lang="en-GB" dirty="0" smtClean="0"/>
              <a:t> (REEP)</a:t>
            </a:r>
          </a:p>
          <a:p>
            <a:pPr>
              <a:buFont typeface="Arial" pitchFamily="34" charset="0"/>
              <a:buChar char="•"/>
            </a:pPr>
            <a:r>
              <a:rPr lang="en-GB" dirty="0" smtClean="0"/>
              <a:t>Victoria University (PPP) schemes.</a:t>
            </a:r>
            <a:endParaRPr lang="en-AU" b="1" dirty="0" smtClean="0"/>
          </a:p>
          <a:p>
            <a:endParaRPr lang="en-GB" dirty="0" smtClean="0"/>
          </a:p>
          <a:p>
            <a:r>
              <a:rPr lang="en-GB" dirty="0" smtClean="0"/>
              <a:t>Other schools recognise these factors, but take their applications via Category 1. </a:t>
            </a:r>
          </a:p>
          <a:p>
            <a:r>
              <a:rPr lang="en-GB" dirty="0" smtClean="0"/>
              <a:t>Applicants should apply for Category 1 to be considered for other university under-represented schools schemes.</a:t>
            </a:r>
            <a:endParaRPr lang="en-AU" b="1" dirty="0" smtClean="0"/>
          </a:p>
          <a:p>
            <a:endParaRPr lang="en-AU" sz="900" dirty="0" smtClean="0"/>
          </a:p>
          <a:p>
            <a:endParaRPr lang="en-AU" sz="900"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21</a:t>
            </a:fld>
            <a:endParaRPr lang="en-AU"/>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dirty="0" smtClean="0"/>
              <a:t>All students should be encouraged to complete a scholarships application </a:t>
            </a:r>
          </a:p>
          <a:p>
            <a:r>
              <a:rPr lang="en-AU" dirty="0" smtClean="0"/>
              <a:t>Let the system decide whether or not they are eligible for what scholarship. </a:t>
            </a:r>
          </a:p>
          <a:p>
            <a:pPr>
              <a:defRPr/>
            </a:pPr>
            <a:endParaRPr lang="en-AU" b="1" dirty="0" smtClean="0"/>
          </a:p>
          <a:p>
            <a:pPr>
              <a:defRPr/>
            </a:pPr>
            <a:r>
              <a:rPr lang="en-AU" b="1" dirty="0" smtClean="0"/>
              <a:t>Scholarships not through VTAC - </a:t>
            </a:r>
            <a:r>
              <a:rPr lang="en-GB" dirty="0" smtClean="0"/>
              <a:t>see page 50 of the VTAC Guide or check out the complete list online. </a:t>
            </a:r>
          </a:p>
          <a:p>
            <a:endParaRPr lang="en-GB" b="1" dirty="0" smtClean="0"/>
          </a:p>
          <a:p>
            <a:r>
              <a:rPr lang="en-GB" b="1" dirty="0" smtClean="0"/>
              <a:t>Commonwealth scholarships</a:t>
            </a:r>
            <a:r>
              <a:rPr lang="en-AU" b="1" dirty="0" smtClean="0"/>
              <a:t>: </a:t>
            </a:r>
            <a:r>
              <a:rPr lang="en-GB" dirty="0" smtClean="0"/>
              <a:t>The Student Start-Up and Relocation Scholarships are available to students receiving income support and administered by Centrelink. </a:t>
            </a:r>
            <a:endParaRPr lang="en-AU" b="1" dirty="0" smtClean="0"/>
          </a:p>
          <a:p>
            <a:endParaRPr lang="en-GB" dirty="0" smtClean="0"/>
          </a:p>
          <a:p>
            <a:r>
              <a:rPr lang="en-GB" b="1" dirty="0" smtClean="0"/>
              <a:t>The Indigenous Commonwealth Scholarships </a:t>
            </a:r>
            <a:r>
              <a:rPr lang="en-GB" dirty="0" smtClean="0"/>
              <a:t>are administered by institutions and allocated to students who have had their Indigenous status confirmed  and meet the criteria on the Centrelink website. </a:t>
            </a:r>
            <a:br>
              <a:rPr lang="en-GB" dirty="0" smtClean="0"/>
            </a:br>
            <a:endParaRPr lang="en-GB" dirty="0" smtClean="0"/>
          </a:p>
          <a:p>
            <a:r>
              <a:rPr lang="en-GB" b="1" dirty="0" smtClean="0"/>
              <a:t>Merit scholarships</a:t>
            </a:r>
            <a:r>
              <a:rPr lang="en-GB" dirty="0" smtClean="0"/>
              <a:t>: To be considered, applicants must apply for courses through VTAC and do not need to lodge a VTAC Scholarship Application. </a:t>
            </a:r>
            <a:endParaRPr lang="en-AU" dirty="0" smtClean="0"/>
          </a:p>
          <a:p>
            <a:r>
              <a:rPr lang="en-GB" dirty="0" smtClean="0"/>
              <a:t>Where an institution offers merit scholarships, students who have listed that institution on their course preference list and met any additional course or institutional eligibility will automatically be assessed by that institution.	</a:t>
            </a:r>
            <a:endParaRPr lang="en-AU" dirty="0" smtClean="0"/>
          </a:p>
          <a:p>
            <a:r>
              <a:rPr lang="en-GB" dirty="0" smtClean="0"/>
              <a:t>Institutions will award scholarships to students academic achievement if they have studied an Australian Year 12 or the International Baccalaureate (IB) in 2012.</a:t>
            </a:r>
          </a:p>
          <a:p>
            <a:r>
              <a:rPr lang="en-GB" dirty="0" smtClean="0"/>
              <a:t>Where an institution offers merit scholarships, students who have listed that institution on their course preference list and met any additional course or institutional eligibility will automatically be assessed by that institution.	</a:t>
            </a:r>
          </a:p>
          <a:p>
            <a:pPr>
              <a:defRPr/>
            </a:pPr>
            <a:endParaRPr lang="en-AU" b="1"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22</a:t>
            </a:fld>
            <a:endParaRPr lang="en-AU"/>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r>
              <a:rPr lang="en-GB" sz="1300" dirty="0" smtClean="0"/>
              <a:t>The ATAR The Australian Tertiary Admission Rank (ATAR) is calculated by VTAC solely for the use of tertiary institutions to compare the overall achievement of students who have completed different combinations of VCE studies. </a:t>
            </a:r>
          </a:p>
          <a:p>
            <a:endParaRPr lang="en-AU" sz="1300" dirty="0" smtClean="0"/>
          </a:p>
          <a:p>
            <a:r>
              <a:rPr lang="en-GB" sz="1300" dirty="0" smtClean="0"/>
              <a:t>VTAC forwards the ATAR along with application information to selection authorities at institutions. The change to ATAR, the nationally agreed name used by all Australian states and territories (except Queensland), is a change in name only. There is no change to the calculation. </a:t>
            </a:r>
            <a:endParaRPr lang="en-AU" sz="1300"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23</a:t>
            </a:fld>
            <a:endParaRPr lang="en-AU"/>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r>
              <a:rPr lang="en-AU" dirty="0" smtClean="0"/>
              <a:t>Note with</a:t>
            </a:r>
            <a:r>
              <a:rPr lang="en-AU" baseline="0" dirty="0" smtClean="0"/>
              <a:t> this student all but one study was scaled up and yet the ATAR is in the 50’s. </a:t>
            </a:r>
          </a:p>
          <a:p>
            <a:r>
              <a:rPr lang="en-AU" baseline="0" dirty="0" smtClean="0"/>
              <a:t>While it’s a bit late in year 12, when choosing studies, students are better off choosing </a:t>
            </a:r>
            <a:r>
              <a:rPr lang="en-AU" sz="1300" dirty="0" smtClean="0"/>
              <a:t>studies that:</a:t>
            </a:r>
          </a:p>
          <a:p>
            <a:pPr>
              <a:buFont typeface="Arial" pitchFamily="34" charset="0"/>
              <a:buChar char="•"/>
            </a:pPr>
            <a:r>
              <a:rPr lang="en-AU" sz="1300" dirty="0" smtClean="0"/>
              <a:t>they enjoy</a:t>
            </a:r>
          </a:p>
          <a:p>
            <a:pPr>
              <a:buFont typeface="Arial" pitchFamily="34" charset="0"/>
              <a:buChar char="•"/>
            </a:pPr>
            <a:r>
              <a:rPr lang="en-AU" sz="1300" dirty="0" smtClean="0"/>
              <a:t>are good at </a:t>
            </a:r>
          </a:p>
          <a:p>
            <a:pPr>
              <a:buFont typeface="Arial" pitchFamily="34" charset="0"/>
              <a:buChar char="•"/>
            </a:pPr>
            <a:r>
              <a:rPr lang="en-AU" sz="1300" dirty="0" smtClean="0"/>
              <a:t>reflect what they are interested in studying at tertiary level </a:t>
            </a:r>
          </a:p>
          <a:p>
            <a:pPr>
              <a:buFont typeface="Arial" pitchFamily="34" charset="0"/>
              <a:buChar char="•"/>
            </a:pPr>
            <a:r>
              <a:rPr lang="en-AU" sz="1300" dirty="0" smtClean="0"/>
              <a:t>help provide them with more career options .</a:t>
            </a:r>
          </a:p>
          <a:p>
            <a:endParaRPr lang="en-AU" sz="1300" dirty="0" smtClean="0"/>
          </a:p>
          <a:p>
            <a:r>
              <a:rPr lang="en-AU" sz="1300" dirty="0" smtClean="0"/>
              <a:t>Scaling ensures that all studies are treated equally in the ATAR calculation, so that students are not advantaged or disadvantaged by the studies they undertake.</a:t>
            </a:r>
            <a:endParaRPr lang="en-AU" dirty="0"/>
          </a:p>
        </p:txBody>
      </p:sp>
      <p:sp>
        <p:nvSpPr>
          <p:cNvPr id="4" name="Slide Number Placeholder 3"/>
          <p:cNvSpPr>
            <a:spLocks noGrp="1"/>
          </p:cNvSpPr>
          <p:nvPr>
            <p:ph type="sldNum" sz="quarter" idx="10"/>
          </p:nvPr>
        </p:nvSpPr>
        <p:spPr/>
        <p:txBody>
          <a:bodyPr/>
          <a:lstStyle/>
          <a:p>
            <a:fld id="{AAE8AB14-6946-4D8C-A22F-C59B5B0586EC}" type="slidenum">
              <a:rPr lang="en-AU" smtClean="0"/>
              <a:pPr/>
              <a:t>24</a:t>
            </a:fld>
            <a:endParaRPr lang="en-AU"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r>
              <a:rPr lang="en-GB" sz="1300" dirty="0" smtClean="0"/>
              <a:t>VTAC calculates an ATAR for all VCE students who have successfully completed the VCE and satisfied minimum tertiary entrance requirements. </a:t>
            </a:r>
          </a:p>
          <a:p>
            <a:endParaRPr lang="en-AU" sz="1300" b="1" dirty="0" smtClean="0"/>
          </a:p>
          <a:p>
            <a:r>
              <a:rPr lang="en-GB" sz="1300" dirty="0" smtClean="0"/>
              <a:t>Only applicants who have at least four VCE study scores in an acceptable combination will have an ATAR calculated. </a:t>
            </a:r>
            <a:endParaRPr lang="en-AU" sz="1300" b="1" dirty="0" smtClean="0"/>
          </a:p>
          <a:p>
            <a:endParaRPr lang="en-GB" sz="1300" dirty="0" smtClean="0"/>
          </a:p>
          <a:p>
            <a:r>
              <a:rPr lang="en-GB" sz="1300" b="1" dirty="0" smtClean="0"/>
              <a:t>If you are a current VCE student: </a:t>
            </a:r>
            <a:endParaRPr lang="en-AU" sz="1300" b="1" dirty="0" smtClean="0"/>
          </a:p>
          <a:p>
            <a:r>
              <a:rPr lang="en-GB" sz="1300" dirty="0" smtClean="0"/>
              <a:t>Students VCE study scores, ATAR and ATAR subject scores will be available to students via internet and SMS services. </a:t>
            </a:r>
            <a:r>
              <a:rPr lang="en-GB" sz="1300" i="1" dirty="0" smtClean="0"/>
              <a:t>7.00am Monday 17 December</a:t>
            </a:r>
            <a:r>
              <a:rPr lang="en-GB" sz="1300" dirty="0" smtClean="0"/>
              <a:t>. </a:t>
            </a:r>
            <a:endParaRPr lang="en-AU" sz="1300" b="1" dirty="0" smtClean="0"/>
          </a:p>
          <a:p>
            <a:r>
              <a:rPr lang="en-GB" sz="1300" dirty="0" smtClean="0"/>
              <a:t>Students who have applied for courses through VTAC this year and have paid their VTAC fees will be sent an ATAR statement.</a:t>
            </a:r>
            <a:endParaRPr lang="en-AU" sz="1300" b="1" dirty="0" smtClean="0"/>
          </a:p>
          <a:p>
            <a:endParaRPr lang="en-GB" sz="1300" b="1" dirty="0" smtClean="0"/>
          </a:p>
          <a:p>
            <a:r>
              <a:rPr lang="en-GB" sz="1300" b="1" dirty="0" smtClean="0"/>
              <a:t>For interstate only:</a:t>
            </a:r>
            <a:r>
              <a:rPr lang="en-GB" sz="1300" dirty="0" smtClean="0"/>
              <a:t> If you are studying an interstate Year 12, VTAC receives your results and ranks from your state admissions centre/authority. Interstate Year 12 results (except Queensland) provide you with an ATAR. Queensland uses a ranking system (OP) which is not equivalent to the ATAR. </a:t>
            </a:r>
          </a:p>
          <a:p>
            <a:r>
              <a:rPr lang="en-GB" sz="1300" dirty="0" smtClean="0"/>
              <a:t>A conversion table for the Queensland OP to the ATAR is available on the QTAC website (</a:t>
            </a:r>
            <a:r>
              <a:rPr lang="en-GB" sz="1300" i="1" dirty="0" err="1" smtClean="0"/>
              <a:t>www.qtac.edu.au</a:t>
            </a:r>
            <a:r>
              <a:rPr lang="en-GB" sz="1300" dirty="0" smtClean="0"/>
              <a:t>). </a:t>
            </a:r>
          </a:p>
          <a:p>
            <a:endParaRPr lang="en-GB" sz="1300" b="1" dirty="0" smtClean="0"/>
          </a:p>
          <a:p>
            <a:endParaRPr lang="en-GB" dirty="0" smtClean="0"/>
          </a:p>
          <a:p>
            <a:endParaRPr lang="en-GB" dirty="0" smtClean="0"/>
          </a:p>
          <a:p>
            <a:endParaRPr lang="en-AU" b="1" dirty="0" smtClean="0"/>
          </a:p>
          <a:p>
            <a:r>
              <a:rPr lang="en-GB" dirty="0" smtClean="0"/>
              <a:t> </a:t>
            </a:r>
            <a:endParaRPr lang="en-AU" b="1"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25</a:t>
            </a:fld>
            <a:endParaRPr lang="en-AU"/>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r>
              <a:rPr lang="en-AU" dirty="0" smtClean="0"/>
              <a:t>Year 12 students will get their results at 7am on Monday 17 December 2012. </a:t>
            </a:r>
          </a:p>
          <a:p>
            <a:r>
              <a:rPr lang="en-AU" dirty="0" smtClean="0"/>
              <a:t>Change of preference for this group will reopen at 11am on the same day and close at 12noon on Monday 24 December 2012. </a:t>
            </a:r>
          </a:p>
          <a:p>
            <a:endParaRPr lang="en-AU"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26</a:t>
            </a:fld>
            <a:endParaRPr lang="en-AU"/>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65EE676F-7762-4BB4-A496-A24276F414EE}" type="slidenum">
              <a:rPr lang="en-AU" smtClean="0"/>
              <a:pPr/>
              <a:t>27</a:t>
            </a:fld>
            <a:endParaRPr lang="en-AU"/>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The Clearly in: </a:t>
            </a:r>
            <a:r>
              <a:rPr lang="en-AU" dirty="0" smtClean="0"/>
              <a:t>is the ATAR at or above which everyone who applied and was eligible for this course received an offer. </a:t>
            </a:r>
          </a:p>
          <a:p>
            <a:endParaRPr lang="en-AU" dirty="0" smtClean="0"/>
          </a:p>
          <a:p>
            <a:r>
              <a:rPr lang="en-AU" b="1" dirty="0" smtClean="0"/>
              <a:t>The % below </a:t>
            </a:r>
            <a:r>
              <a:rPr lang="en-AU" dirty="0" smtClean="0"/>
              <a:t>is the percentage of offers made to applicants with an ATAR lower than the clearly in. </a:t>
            </a:r>
          </a:p>
          <a:p>
            <a:r>
              <a:rPr lang="en-AU" dirty="0" smtClean="0"/>
              <a:t>This also gives you some idea on the percentage of people who had an ATAR lower than the clearly in but received bonuses to boost them up into the offered group. </a:t>
            </a:r>
          </a:p>
          <a:p>
            <a:endParaRPr lang="en-AU" dirty="0" smtClean="0"/>
          </a:p>
          <a:p>
            <a:r>
              <a:rPr lang="en-AU" dirty="0" smtClean="0"/>
              <a:t>In example 1: the percentage below the clearly in ATAR in January,</a:t>
            </a:r>
            <a:r>
              <a:rPr lang="en-AU" baseline="0" dirty="0" smtClean="0"/>
              <a:t> when most of the offers are made, was 47.62 percent. This means that 47.62% of applicants got in with an ATAR lower than the clearly in either by bonuses or special consideration. </a:t>
            </a:r>
          </a:p>
          <a:p>
            <a:endParaRPr lang="en-AU" baseline="0" dirty="0" smtClean="0"/>
          </a:p>
          <a:p>
            <a:r>
              <a:rPr lang="en-AU" baseline="0" dirty="0" smtClean="0"/>
              <a:t>In example 2: the percentage below the clearly in was 5.56%. This means that 5.56% got in with an ATAR lower than the clearly in of 91.80. However it doesn’t mean that the course didn’t bonus people it just means that even if they did the competition and level of ATAR for this course was very high. </a:t>
            </a:r>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28</a:t>
            </a:fld>
            <a:endParaRPr lang="en-AU"/>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r>
              <a:rPr lang="en-GB" sz="1300" dirty="0" smtClean="0"/>
              <a:t>If students do not pay their  course application processing fee by the due date, their  application will not be sent to the course selection authorities. </a:t>
            </a:r>
            <a:endParaRPr lang="en-AU" sz="1300" b="1" dirty="0" smtClean="0"/>
          </a:p>
          <a:p>
            <a:endParaRPr lang="en-GB" sz="1300" dirty="0" smtClean="0"/>
          </a:p>
          <a:p>
            <a:r>
              <a:rPr lang="en-GB" sz="1300" dirty="0" smtClean="0"/>
              <a:t>After the course selection authorities have considered applications, they will advise VTAC who they wish to offer a place in the course. VTAC then advises applicants of the highest offer on their preference list. </a:t>
            </a:r>
            <a:endParaRPr lang="en-AU" sz="1300" b="1" dirty="0" smtClean="0"/>
          </a:p>
          <a:p>
            <a:endParaRPr lang="en-GB" sz="1300" dirty="0" smtClean="0"/>
          </a:p>
          <a:p>
            <a:r>
              <a:rPr lang="en-GB" sz="1300" dirty="0" smtClean="0"/>
              <a:t>In round two, students will be considered for course preferences higher than the offers they have received. </a:t>
            </a:r>
            <a:endParaRPr lang="en-AU" sz="1300" b="1" dirty="0" smtClean="0"/>
          </a:p>
          <a:p>
            <a:r>
              <a:rPr lang="en-GB" sz="1300" dirty="0" smtClean="0"/>
              <a:t>VTAC will again advise students of the highest offer made (if any). </a:t>
            </a:r>
            <a:endParaRPr lang="en-AU" sz="1300" b="1" dirty="0" smtClean="0"/>
          </a:p>
          <a:p>
            <a:r>
              <a:rPr lang="en-GB" sz="1300" dirty="0" smtClean="0"/>
              <a:t/>
            </a:r>
            <a:br>
              <a:rPr lang="en-GB" sz="1300" dirty="0" smtClean="0"/>
            </a:br>
            <a:r>
              <a:rPr lang="en-GB" sz="1300" dirty="0" smtClean="0"/>
              <a:t>All offers are provisional. Any offer received by a student is subject to them meeting eligibility and submitting a true and correct application. </a:t>
            </a:r>
            <a:endParaRPr lang="en-AU" sz="1300" b="1" dirty="0" smtClean="0"/>
          </a:p>
          <a:p>
            <a:r>
              <a:rPr lang="en-GB" sz="1300" dirty="0" smtClean="0"/>
              <a:t>Note: Submitting an application does not guarantee an offer</a:t>
            </a:r>
            <a:endParaRPr lang="en-AU" sz="1300" b="1" dirty="0" smtClean="0"/>
          </a:p>
          <a:p>
            <a:endParaRPr lang="en-AU" dirty="0" smtClean="0"/>
          </a:p>
          <a:p>
            <a:endParaRPr lang="en-AU" dirty="0" smtClean="0"/>
          </a:p>
          <a:p>
            <a:endParaRPr lang="en-AU"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29</a:t>
            </a:fld>
            <a:endParaRPr lang="en-AU"/>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65EE676F-7762-4BB4-A496-A24276F414EE}" type="slidenum">
              <a:rPr lang="en-AU" smtClean="0"/>
              <a:pPr/>
              <a:t>30</a:t>
            </a:fld>
            <a:endParaRPr lang="en-AU"/>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65EE676F-7762-4BB4-A496-A24276F414EE}" type="slidenum">
              <a:rPr lang="en-AU" smtClean="0"/>
              <a:pPr/>
              <a:t>31</a:t>
            </a:fld>
            <a:endParaRPr lang="en-AU"/>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766763"/>
            <a:ext cx="5118100" cy="3838575"/>
          </a:xfrm>
        </p:spPr>
      </p:sp>
      <p:sp>
        <p:nvSpPr>
          <p:cNvPr id="3" name="Notes Placeholder 2"/>
          <p:cNvSpPr>
            <a:spLocks noGrp="1"/>
          </p:cNvSpPr>
          <p:nvPr>
            <p:ph type="body" idx="1"/>
          </p:nvPr>
        </p:nvSpPr>
        <p:spPr/>
        <p:txBody>
          <a:bodyPr>
            <a:normAutofit/>
          </a:bodyPr>
          <a:lstStyle/>
          <a:p>
            <a:r>
              <a:rPr lang="en-GB" sz="1300" dirty="0" smtClean="0"/>
              <a:t>Some institutions may make supplementary offers after Round 2 if they have places available. </a:t>
            </a:r>
            <a:endParaRPr lang="en-AU" sz="1300" b="1" dirty="0" smtClean="0"/>
          </a:p>
          <a:p>
            <a:r>
              <a:rPr lang="en-GB" sz="1300" dirty="0" smtClean="0"/>
              <a:t>applicants may receive supplementary offers if they</a:t>
            </a:r>
            <a:endParaRPr lang="en-AU" sz="1300" b="1" dirty="0" smtClean="0"/>
          </a:p>
          <a:p>
            <a:r>
              <a:rPr lang="en-GB" sz="1300" dirty="0" smtClean="0"/>
              <a:t>have not received an offer in any of the previous offer rounds (Early, Round 1, Round 2) </a:t>
            </a:r>
            <a:endParaRPr lang="en-AU" sz="1300" b="1" dirty="0" smtClean="0"/>
          </a:p>
          <a:p>
            <a:r>
              <a:rPr lang="en-GB" sz="1300" dirty="0" smtClean="0"/>
              <a:t>have not been granted an offer for a negotiated offer; </a:t>
            </a:r>
            <a:endParaRPr lang="en-AU" sz="1300" b="1" dirty="0" smtClean="0"/>
          </a:p>
          <a:p>
            <a:r>
              <a:rPr lang="en-GB" sz="1300" dirty="0" smtClean="0"/>
              <a:t> have given VTAC permission to release their application to all courses with vacancies. Applicants gave this permission either at the time of applying, or later in their VTAC user account. </a:t>
            </a:r>
          </a:p>
          <a:p>
            <a:endParaRPr lang="en-GB" sz="1300" dirty="0" smtClean="0"/>
          </a:p>
          <a:p>
            <a:r>
              <a:rPr lang="en-GB" sz="1300" dirty="0" smtClean="0"/>
              <a:t>Supplementary offers will be processed weekly. </a:t>
            </a:r>
            <a:endParaRPr lang="en-AU" sz="1300" b="1" dirty="0" smtClean="0"/>
          </a:p>
          <a:p>
            <a:r>
              <a:rPr lang="en-GB" sz="1300" dirty="0" smtClean="0"/>
              <a:t>Applicants may receive two or more offers at the same time, </a:t>
            </a:r>
            <a:endParaRPr lang="en-AU" sz="1300" b="1" dirty="0" smtClean="0"/>
          </a:p>
          <a:p>
            <a:r>
              <a:rPr lang="en-GB" sz="1300" dirty="0" smtClean="0"/>
              <a:t>They will need to choose which offer to accept—you should not  </a:t>
            </a:r>
            <a:endParaRPr lang="en-AU" sz="1300" b="1" dirty="0" smtClean="0"/>
          </a:p>
          <a:p>
            <a:endParaRPr lang="en-AU" sz="1300" b="1" dirty="0" smtClean="0"/>
          </a:p>
          <a:p>
            <a:endParaRPr lang="en-AU" dirty="0" smtClean="0"/>
          </a:p>
          <a:p>
            <a:endParaRPr lang="en-AU" dirty="0" smtClean="0"/>
          </a:p>
          <a:p>
            <a:endParaRPr lang="en-AU" dirty="0"/>
          </a:p>
        </p:txBody>
      </p:sp>
      <p:sp>
        <p:nvSpPr>
          <p:cNvPr id="4" name="Slide Number Placeholder 3"/>
          <p:cNvSpPr>
            <a:spLocks noGrp="1"/>
          </p:cNvSpPr>
          <p:nvPr>
            <p:ph type="sldNum" sz="quarter" idx="10"/>
          </p:nvPr>
        </p:nvSpPr>
        <p:spPr/>
        <p:txBody>
          <a:bodyPr/>
          <a:lstStyle/>
          <a:p>
            <a:fld id="{65EE676F-7762-4BB4-A496-A24276F414EE}" type="slidenum">
              <a:rPr lang="en-AU" smtClean="0"/>
              <a:pPr/>
              <a:t>32</a:t>
            </a:fld>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4" y="3810002"/>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2"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2"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2" y="3675529"/>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3" y="3643090"/>
            <a:ext cx="2729951"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9"/>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D1DA7081-F53F-42AD-B62B-D90CF8434B8C}" type="datetimeFigureOut">
              <a:rPr lang="en-US" smtClean="0"/>
              <a:pPr/>
              <a:t>7/23/2012</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F0C94032-CD4C-4C25-B0C2-CEC720522D92}" type="slidenum">
              <a:rPr kumimoji="0" lang="en-US" smtClean="0"/>
              <a:pPr/>
              <a:t>‹#›</a:t>
            </a:fld>
            <a:endParaRPr kumimoji="0" lang="en-US" dirty="0">
              <a:solidFill>
                <a:schemeClr val="tx2"/>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3A271A1-F6D6-438B-A432-4747EE7ECD40}" type="datetimeFigureOut">
              <a:rPr lang="en-US" smtClean="0"/>
              <a:pPr/>
              <a:t>7/23/2012</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F0C94032-CD4C-4C25-B0C2-CEC720522D92}" type="slidenum">
              <a:rPr kumimoji="0" lang="en-US" smtClean="0"/>
              <a:pPr/>
              <a:t>‹#›</a:t>
            </a:fld>
            <a:endParaRPr kumimoji="0" lang="en-US" dirty="0">
              <a:solidFill>
                <a:srgbClr val="FFFFFF"/>
              </a:solidFill>
            </a:endParaRPr>
          </a:p>
        </p:txBody>
      </p:sp>
      <p:pic>
        <p:nvPicPr>
          <p:cNvPr id="7" name="Picture 6" descr="VTAC Logo transparent background.jpg"/>
          <p:cNvPicPr>
            <a:picLocks noChangeAspect="1"/>
          </p:cNvPicPr>
          <p:nvPr userDrawn="1"/>
        </p:nvPicPr>
        <p:blipFill>
          <a:blip r:embed="rId2" cstate="print"/>
          <a:stretch>
            <a:fillRect/>
          </a:stretch>
        </p:blipFill>
        <p:spPr>
          <a:xfrm>
            <a:off x="251520" y="6309322"/>
            <a:ext cx="840112" cy="340045"/>
          </a:xfrm>
          <a:prstGeom prst="rect">
            <a:avLst/>
          </a:prstGeom>
        </p:spPr>
      </p:pic>
      <p:sp>
        <p:nvSpPr>
          <p:cNvPr id="8" name="Footer Placeholder 4"/>
          <p:cNvSpPr txBox="1">
            <a:spLocks/>
          </p:cNvSpPr>
          <p:nvPr userDrawn="1"/>
        </p:nvSpPr>
        <p:spPr>
          <a:xfrm>
            <a:off x="539554" y="6309322"/>
            <a:ext cx="6122895"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chemeClr val="tx1">
                    <a:lumMod val="65000"/>
                    <a:lumOff val="35000"/>
                  </a:schemeClr>
                </a:solidFill>
                <a:effectLst/>
                <a:uLnTx/>
                <a:uFillTx/>
                <a:latin typeface="+mn-lt"/>
                <a:ea typeface="+mn-ea"/>
                <a:cs typeface="+mn-cs"/>
              </a:rPr>
              <a:t>	VTAC Information Briefings 2012–2013</a:t>
            </a:r>
            <a:endParaRPr kumimoji="0" lang="en-US" sz="1100" b="0" i="0" u="none" strike="noStrike" kern="1200" cap="none" spc="0" normalizeH="0" baseline="0" noProof="0" dirty="0">
              <a:ln>
                <a:noFill/>
              </a:ln>
              <a:solidFill>
                <a:schemeClr val="tx1">
                  <a:lumMod val="65000"/>
                  <a:lumOff val="35000"/>
                </a:schemeClr>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2"/>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D1DA7081-F53F-42AD-B62B-D90CF8434B8C}" type="datetimeFigureOut">
              <a:rPr lang="en-US" smtClean="0"/>
              <a:pPr/>
              <a:t>7/23/2012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2861D4-AED0-438B-BA34-B29E569FD80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6"/>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6"/>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1DA7081-F53F-42AD-B62B-D90CF8434B8C}" type="datetimeFigureOut">
              <a:rPr lang="en-US" smtClean="0"/>
              <a:pPr/>
              <a:t>7/23/2012</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062861D4-AED0-438B-BA34-B29E569FD802}" type="slidenum">
              <a:rPr lang="en-US" smtClean="0"/>
              <a:pPr/>
              <a:t>‹#›</a:t>
            </a:fld>
            <a:endParaRPr lang="en-US"/>
          </a:p>
        </p:txBody>
      </p:sp>
      <p:pic>
        <p:nvPicPr>
          <p:cNvPr id="8" name="Picture 7" descr="VTAC Logo transparent background.jpg"/>
          <p:cNvPicPr>
            <a:picLocks noChangeAspect="1"/>
          </p:cNvPicPr>
          <p:nvPr userDrawn="1"/>
        </p:nvPicPr>
        <p:blipFill>
          <a:blip r:embed="rId2" cstate="print"/>
          <a:stretch>
            <a:fillRect/>
          </a:stretch>
        </p:blipFill>
        <p:spPr>
          <a:xfrm>
            <a:off x="251520" y="6309322"/>
            <a:ext cx="840112" cy="34004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7"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7"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D1DA7081-F53F-42AD-B62B-D90CF8434B8C}" type="datetimeFigureOut">
              <a:rPr lang="en-US" smtClean="0"/>
              <a:pPr/>
              <a:t>7/23/2012</a:t>
            </a:fld>
            <a:endParaRPr lang="en-US"/>
          </a:p>
        </p:txBody>
      </p:sp>
      <p:sp>
        <p:nvSpPr>
          <p:cNvPr id="27" name="Slide Number Placeholder 26"/>
          <p:cNvSpPr>
            <a:spLocks noGrp="1"/>
          </p:cNvSpPr>
          <p:nvPr>
            <p:ph type="sldNum" sz="quarter" idx="11"/>
          </p:nvPr>
        </p:nvSpPr>
        <p:spPr/>
        <p:txBody>
          <a:bodyPr rtlCol="0"/>
          <a:lstStyle/>
          <a:p>
            <a:fld id="{062861D4-AED0-438B-BA34-B29E569FD802}" type="slidenum">
              <a:rPr lang="en-US" smtClean="0"/>
              <a:pPr/>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D1DA7081-F53F-42AD-B62B-D90CF8434B8C}" type="datetimeFigureOut">
              <a:rPr lang="en-US" smtClean="0"/>
              <a:pPr/>
              <a:t>7/23/2012</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062861D4-AED0-438B-BA34-B29E569FD80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DA7081-F53F-42AD-B62B-D90CF8434B8C}" type="datetimeFigureOut">
              <a:rPr lang="en-US" smtClean="0"/>
              <a:pPr/>
              <a:t>7/23/2012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2861D4-AED0-438B-BA34-B29E569FD80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1DA7081-F53F-42AD-B62B-D90CF8434B8C}" type="datetimeFigureOut">
              <a:rPr lang="en-US" smtClean="0"/>
              <a:pPr/>
              <a:t>7/23/2012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C94032-CD4C-4C25-B0C2-CEC720522D92}" type="slidenum">
              <a:rPr kumimoji="0" lang="en-US" smtClean="0"/>
              <a:pPr/>
              <a:t>‹#›</a:t>
            </a:fld>
            <a:endParaRPr kumimoji="0" lang="en-US" dirty="0">
              <a:solidFill>
                <a:srgbClr val="FFFFFF"/>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6" y="1109162"/>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10"/>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D1DA7081-F53F-42AD-B62B-D90CF8434B8C}" type="datetimeFigureOut">
              <a:rPr lang="en-US" smtClean="0"/>
              <a:pPr/>
              <a:t>7/23/2012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2861D4-AED0-438B-BA34-B29E569FD80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1DA7081-F53F-42AD-B62B-D90CF8434B8C}" type="datetimeFigureOut">
              <a:rPr lang="en-US" smtClean="0"/>
              <a:pPr/>
              <a:t>7/23/2012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2861D4-AED0-438B-BA34-B29E569FD80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1DA7081-F53F-42AD-B62B-D90CF8434B8C}" type="datetimeFigureOut">
              <a:rPr lang="en-US" smtClean="0"/>
              <a:pPr/>
              <a:t>7/23/2012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2861D4-AED0-438B-BA34-B29E569FD802}"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a:p>
        </p:txBody>
      </p:sp>
      <p:sp>
        <p:nvSpPr>
          <p:cNvPr id="3" name="Content Placeholder 2"/>
          <p:cNvSpPr>
            <a:spLocks noGrp="1"/>
          </p:cNvSpPr>
          <p:nvPr>
            <p:ph sz="half" idx="1"/>
          </p:nvPr>
        </p:nvSpPr>
        <p:spPr>
          <a:xfrm>
            <a:off x="498519"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a:p>
        </p:txBody>
      </p:sp>
      <p:sp>
        <p:nvSpPr>
          <p:cNvPr id="5" name="Date Placeholder 4"/>
          <p:cNvSpPr>
            <a:spLocks noGrp="1"/>
          </p:cNvSpPr>
          <p:nvPr>
            <p:ph type="dt" sz="half" idx="10"/>
          </p:nvPr>
        </p:nvSpPr>
        <p:spPr/>
        <p:txBody>
          <a:bodyPr/>
          <a:lstStyle/>
          <a:p>
            <a:fld id="{D1DA7081-F53F-42AD-B62B-D90CF8434B8C}" type="datetimeFigureOut">
              <a:rPr lang="en-US" smtClean="0"/>
              <a:pPr/>
              <a:t>7/23/2012</a:t>
            </a:fld>
            <a:endParaRPr lang="en-US"/>
          </a:p>
        </p:txBody>
      </p:sp>
      <p:sp>
        <p:nvSpPr>
          <p:cNvPr id="13" name="Content Placeholder 2"/>
          <p:cNvSpPr>
            <a:spLocks noGrp="1"/>
          </p:cNvSpPr>
          <p:nvPr>
            <p:ph sz="half" idx="14"/>
          </p:nvPr>
        </p:nvSpPr>
        <p:spPr>
          <a:xfrm>
            <a:off x="498519"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a:p>
        </p:txBody>
      </p:sp>
      <p:sp>
        <p:nvSpPr>
          <p:cNvPr id="15" name="Slide Number Placeholder 6"/>
          <p:cNvSpPr>
            <a:spLocks noGrp="1"/>
          </p:cNvSpPr>
          <p:nvPr>
            <p:ph type="sldNum" sz="quarter" idx="12"/>
          </p:nvPr>
        </p:nvSpPr>
        <p:spPr>
          <a:xfrm>
            <a:off x="8305802" y="242236"/>
            <a:ext cx="554039" cy="365125"/>
          </a:xfrm>
        </p:spPr>
        <p:txBody>
          <a:bodyPr/>
          <a:lstStyle/>
          <a:p>
            <a:fld id="{062861D4-AED0-438B-BA34-B29E569FD802}" type="slidenum">
              <a:rPr lang="en-US" smtClean="0"/>
              <a:pPr/>
              <a:t>‹#›</a:t>
            </a:fld>
            <a:endParaRPr lang="en-US"/>
          </a:p>
        </p:txBody>
      </p:sp>
      <p:pic>
        <p:nvPicPr>
          <p:cNvPr id="11" name="Picture 10" descr="VTAC Logo transparent background.jpg"/>
          <p:cNvPicPr>
            <a:picLocks noChangeAspect="1"/>
          </p:cNvPicPr>
          <p:nvPr userDrawn="1"/>
        </p:nvPicPr>
        <p:blipFill>
          <a:blip r:embed="rId2" cstate="print"/>
          <a:stretch>
            <a:fillRect/>
          </a:stretch>
        </p:blipFill>
        <p:spPr>
          <a:xfrm>
            <a:off x="251520" y="6309322"/>
            <a:ext cx="840112" cy="340045"/>
          </a:xfrm>
          <a:prstGeom prst="rect">
            <a:avLst/>
          </a:prstGeom>
        </p:spPr>
      </p:pic>
      <p:sp>
        <p:nvSpPr>
          <p:cNvPr id="16" name="Footer Placeholder 4"/>
          <p:cNvSpPr txBox="1">
            <a:spLocks/>
          </p:cNvSpPr>
          <p:nvPr userDrawn="1"/>
        </p:nvSpPr>
        <p:spPr>
          <a:xfrm>
            <a:off x="539554" y="6309322"/>
            <a:ext cx="6122895" cy="365125"/>
          </a:xfrm>
          <a:prstGeom prst="rect">
            <a:avLst/>
          </a:prstGeom>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chemeClr val="tx1">
                    <a:lumMod val="65000"/>
                    <a:lumOff val="35000"/>
                  </a:schemeClr>
                </a:solidFill>
                <a:effectLst/>
                <a:uLnTx/>
                <a:uFillTx/>
                <a:latin typeface="+mn-lt"/>
                <a:ea typeface="+mn-ea"/>
                <a:cs typeface="+mn-cs"/>
              </a:rPr>
              <a:t>	VTAC Parent and student seminar – Applying 2013</a:t>
            </a:r>
            <a:endParaRPr kumimoji="0" lang="en-US" sz="1100" b="0" i="0" u="none" strike="noStrike" kern="1200" cap="none" spc="0" normalizeH="0" baseline="0" noProof="0" dirty="0">
              <a:ln>
                <a:noFill/>
              </a:ln>
              <a:solidFill>
                <a:schemeClr val="tx1">
                  <a:lumMod val="65000"/>
                  <a:lumOff val="35000"/>
                </a:schemeClr>
              </a:solidFill>
              <a:effectLst/>
              <a:uLnTx/>
              <a:uFillTx/>
              <a:latin typeface="+mn-lt"/>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and Content, Alt.">
    <p:spTree>
      <p:nvGrpSpPr>
        <p:cNvPr id="1" name=""/>
        <p:cNvGrpSpPr/>
        <p:nvPr/>
      </p:nvGrpSpPr>
      <p:grpSpPr>
        <a:xfrm>
          <a:off x="0" y="0"/>
          <a:ext cx="0" cy="0"/>
          <a:chOff x="0" y="0"/>
          <a:chExt cx="0" cy="0"/>
        </a:xfrm>
      </p:grpSpPr>
      <p:sp>
        <p:nvSpPr>
          <p:cNvPr id="2" name="Title 1"/>
          <p:cNvSpPr>
            <a:spLocks noGrp="1"/>
          </p:cNvSpPr>
          <p:nvPr>
            <p:ph type="title"/>
          </p:nvPr>
        </p:nvSpPr>
        <p:spPr>
          <a:xfrm>
            <a:off x="498477" y="134471"/>
            <a:ext cx="7556313" cy="995082"/>
          </a:xfrm>
        </p:spPr>
        <p:txBody>
          <a:bodyPr anchor="b" anchorCtr="0"/>
          <a:lstStyle/>
          <a:p>
            <a:r>
              <a:rPr lang="en-AU" smtClean="0"/>
              <a:t>Click to edit Master title style</a:t>
            </a:r>
            <a:endParaRPr/>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a:p>
        </p:txBody>
      </p:sp>
      <p:sp>
        <p:nvSpPr>
          <p:cNvPr id="4" name="Date Placeholder 3"/>
          <p:cNvSpPr>
            <a:spLocks noGrp="1"/>
          </p:cNvSpPr>
          <p:nvPr>
            <p:ph type="dt" sz="half" idx="10"/>
          </p:nvPr>
        </p:nvSpPr>
        <p:spPr/>
        <p:txBody>
          <a:bodyPr/>
          <a:lstStyle/>
          <a:p>
            <a:fld id="{D1DA7081-F53F-42AD-B62B-D90CF8434B8C}" type="datetimeFigureOut">
              <a:rPr lang="en-US" smtClean="0"/>
              <a:pPr/>
              <a:t>7/23/2012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2861D4-AED0-438B-BA34-B29E569FD802}" type="slidenum">
              <a:rPr lang="en-US" smtClean="0"/>
              <a:pPr/>
              <a:t>‹#›</a:t>
            </a:fld>
            <a:endParaRPr lang="en-US"/>
          </a:p>
        </p:txBody>
      </p:sp>
      <p:sp>
        <p:nvSpPr>
          <p:cNvPr id="10" name="Text Placeholder 3"/>
          <p:cNvSpPr>
            <a:spLocks noGrp="1"/>
          </p:cNvSpPr>
          <p:nvPr>
            <p:ph type="body" sz="half" idx="2"/>
          </p:nvPr>
        </p:nvSpPr>
        <p:spPr>
          <a:xfrm>
            <a:off x="498519" y="1129554"/>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AU" smtClean="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20"/>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2" y="308278"/>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4" y="360248"/>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2" y="440114"/>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7"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5" y="-2001"/>
            <a:ext cx="57627"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D1DA7081-F53F-42AD-B62B-D90CF8434B8C}" type="datetimeFigureOut">
              <a:rPr lang="en-US" smtClean="0"/>
              <a:pPr/>
              <a:t>7/23/2012</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062861D4-AED0-438B-BA34-B29E569FD80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 id="2147483966" r:id="rId4"/>
    <p:sldLayoutId id="2147483967" r:id="rId5"/>
    <p:sldLayoutId id="2147483968" r:id="rId6"/>
    <p:sldLayoutId id="2147483969" r:id="rId7"/>
    <p:sldLayoutId id="2147483970" r:id="rId8"/>
    <p:sldLayoutId id="2147483971" r:id="rId9"/>
    <p:sldLayoutId id="2147483972" r:id="rId10"/>
    <p:sldLayoutId id="2147483973" r:id="rId11"/>
    <p:sldLayoutId id="2147483974" r:id="rId12"/>
    <p:sldLayoutId id="2147483975" r:id="rId13"/>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vtacmrdia.wordpress.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mailto:@vtacguide" TargetMode="External"/><Relationship Id="rId4" Type="http://schemas.openxmlformats.org/officeDocument/2006/relationships/hyperlink" Target="facebook,cin.vtacguid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resultsandatar.vic.edu.au"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www.vtac.edu.au/sms"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Victorian Tertiary Admissions Centre</a:t>
            </a:r>
            <a:endParaRPr lang="en-US" dirty="0"/>
          </a:p>
        </p:txBody>
      </p:sp>
      <p:sp>
        <p:nvSpPr>
          <p:cNvPr id="3" name="Subtitle 2"/>
          <p:cNvSpPr>
            <a:spLocks noGrp="1"/>
          </p:cNvSpPr>
          <p:nvPr>
            <p:ph type="subTitle" idx="1"/>
          </p:nvPr>
        </p:nvSpPr>
        <p:spPr/>
        <p:txBody>
          <a:bodyPr/>
          <a:lstStyle/>
          <a:p>
            <a:r>
              <a:rPr lang="en-US" dirty="0" smtClean="0"/>
              <a:t>Parents and student seminar</a:t>
            </a:r>
            <a:br>
              <a:rPr lang="en-US" dirty="0" smtClean="0"/>
            </a:br>
            <a:r>
              <a:rPr lang="en-US" dirty="0" smtClean="0"/>
              <a:t>Applying 2013</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20688"/>
            <a:ext cx="8229600" cy="1066800"/>
          </a:xfrm>
        </p:spPr>
        <p:txBody>
          <a:bodyPr/>
          <a:lstStyle/>
          <a:p>
            <a:r>
              <a:rPr lang="en-US" dirty="0" smtClean="0"/>
              <a:t>What is VTAC?</a:t>
            </a:r>
            <a:endParaRPr lang="en-US" dirty="0"/>
          </a:p>
        </p:txBody>
      </p:sp>
      <p:sp>
        <p:nvSpPr>
          <p:cNvPr id="3" name="Content Placeholder 2"/>
          <p:cNvSpPr>
            <a:spLocks noGrp="1"/>
          </p:cNvSpPr>
          <p:nvPr>
            <p:ph idx="1"/>
          </p:nvPr>
        </p:nvSpPr>
        <p:spPr>
          <a:xfrm>
            <a:off x="467544" y="1556792"/>
            <a:ext cx="8229600" cy="4325112"/>
          </a:xfrm>
        </p:spPr>
        <p:txBody>
          <a:bodyPr>
            <a:normAutofit fontScale="92500" lnSpcReduction="20000"/>
          </a:bodyPr>
          <a:lstStyle/>
          <a:p>
            <a:r>
              <a:rPr lang="en-US" b="1" dirty="0" smtClean="0"/>
              <a:t>Application services</a:t>
            </a:r>
          </a:p>
          <a:p>
            <a:pPr lvl="1"/>
            <a:r>
              <a:rPr lang="en-US" dirty="0" smtClean="0"/>
              <a:t>Tertiary courses</a:t>
            </a:r>
          </a:p>
          <a:p>
            <a:pPr lvl="1"/>
            <a:r>
              <a:rPr lang="en-US" dirty="0" smtClean="0"/>
              <a:t>Admissions tests (STAT and DULSAT)</a:t>
            </a:r>
          </a:p>
          <a:p>
            <a:pPr lvl="1"/>
            <a:r>
              <a:rPr lang="en-US" dirty="0" smtClean="0"/>
              <a:t>Scholarships 2013</a:t>
            </a:r>
          </a:p>
          <a:p>
            <a:pPr lvl="1"/>
            <a:r>
              <a:rPr lang="en-US" dirty="0" smtClean="0"/>
              <a:t>SEAS 2013</a:t>
            </a:r>
          </a:p>
          <a:p>
            <a:pPr lvl="1">
              <a:buNone/>
            </a:pPr>
            <a:endParaRPr lang="en-US" dirty="0" smtClean="0"/>
          </a:p>
          <a:p>
            <a:r>
              <a:rPr lang="en-US" b="1" dirty="0" smtClean="0"/>
              <a:t>VTAC also</a:t>
            </a:r>
          </a:p>
          <a:p>
            <a:pPr lvl="1"/>
            <a:r>
              <a:rPr lang="en-US" dirty="0" smtClean="0"/>
              <a:t>Calculates and issues the Australian Tertiary Admission Rank (ATAR) for VCE students</a:t>
            </a:r>
          </a:p>
          <a:p>
            <a:pPr lvl="1"/>
            <a:r>
              <a:rPr lang="en-US" dirty="0" smtClean="0"/>
              <a:t>Provides various information and enquiry services including telephone, email, blog, Twitter, and RSS feeds</a:t>
            </a:r>
          </a:p>
          <a:p>
            <a:pPr lvl="1"/>
            <a:r>
              <a:rPr lang="en-US" dirty="0" smtClean="0"/>
              <a:t>Conducts information sessions (online and seminars)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76672"/>
            <a:ext cx="4114800" cy="1066800"/>
          </a:xfrm>
        </p:spPr>
        <p:txBody>
          <a:bodyPr>
            <a:normAutofit/>
          </a:bodyPr>
          <a:lstStyle/>
          <a:p>
            <a:r>
              <a:rPr lang="en-US" dirty="0" smtClean="0"/>
              <a:t>Resources </a:t>
            </a:r>
            <a:endParaRPr lang="en-US" dirty="0"/>
          </a:p>
        </p:txBody>
      </p:sp>
      <p:sp>
        <p:nvSpPr>
          <p:cNvPr id="5" name="Content Placeholder 4"/>
          <p:cNvSpPr>
            <a:spLocks noGrp="1"/>
          </p:cNvSpPr>
          <p:nvPr>
            <p:ph idx="1"/>
          </p:nvPr>
        </p:nvSpPr>
        <p:spPr>
          <a:xfrm>
            <a:off x="467544" y="1412776"/>
            <a:ext cx="8229600" cy="4203912"/>
          </a:xfrm>
        </p:spPr>
        <p:txBody>
          <a:bodyPr>
            <a:normAutofit fontScale="92500" lnSpcReduction="10000"/>
          </a:bodyPr>
          <a:lstStyle/>
          <a:p>
            <a:endParaRPr lang="en-US" sz="2400" dirty="0" smtClean="0"/>
          </a:p>
          <a:p>
            <a:pPr>
              <a:buFont typeface="Wingdings" pitchFamily="2" charset="2"/>
              <a:buChar char="§"/>
            </a:pPr>
            <a:r>
              <a:rPr lang="en-US" sz="2400" dirty="0" smtClean="0"/>
              <a:t>VTAC Guide 2013 – available from newsagents (RRP: $12 incl. GST) or free download to your device from www.vtac.edu.au </a:t>
            </a:r>
            <a:br>
              <a:rPr lang="en-US" sz="2400" dirty="0" smtClean="0"/>
            </a:br>
            <a:endParaRPr lang="en-US" sz="2400" dirty="0" smtClean="0"/>
          </a:p>
          <a:p>
            <a:pPr>
              <a:buFont typeface="Wingdings" pitchFamily="2" charset="2"/>
              <a:buChar char="§"/>
            </a:pPr>
            <a:r>
              <a:rPr lang="en-US" sz="2400" dirty="0" smtClean="0"/>
              <a:t>ABC of Applying – copies distributed to VCE students</a:t>
            </a:r>
            <a:br>
              <a:rPr lang="en-US" sz="2400" dirty="0" smtClean="0"/>
            </a:br>
            <a:endParaRPr lang="en-US" sz="2400" dirty="0" smtClean="0"/>
          </a:p>
          <a:p>
            <a:pPr>
              <a:buFont typeface="Wingdings" pitchFamily="2" charset="2"/>
              <a:buChar char="§"/>
            </a:pPr>
            <a:r>
              <a:rPr lang="en-US" sz="2400" dirty="0" smtClean="0"/>
              <a:t>Choice – copies distributed to all Year 10 students – book dispels myths and hints for getting the best out of your VCE study choice. </a:t>
            </a:r>
          </a:p>
          <a:p>
            <a:pPr>
              <a:buFont typeface="Wingdings" pitchFamily="2" charset="2"/>
              <a:buChar char="§"/>
            </a:pPr>
            <a:r>
              <a:rPr lang="en-US" sz="2400" dirty="0" smtClean="0"/>
              <a:t>Distributed to students </a:t>
            </a:r>
          </a:p>
          <a:p>
            <a:pPr lvl="1">
              <a:buFont typeface="Wingdings" pitchFamily="2" charset="2"/>
              <a:buChar char="§"/>
            </a:pPr>
            <a:r>
              <a:rPr lang="en-US" sz="2200" dirty="0" smtClean="0">
                <a:solidFill>
                  <a:schemeClr val="tx1">
                    <a:lumMod val="65000"/>
                    <a:lumOff val="35000"/>
                  </a:schemeClr>
                </a:solidFill>
              </a:rPr>
              <a:t>ABC of Scaling</a:t>
            </a:r>
          </a:p>
          <a:p>
            <a:pPr lvl="1">
              <a:buFont typeface="Wingdings" pitchFamily="2" charset="2"/>
              <a:buChar char="§"/>
            </a:pPr>
            <a:r>
              <a:rPr lang="en-US" sz="2200" dirty="0" smtClean="0">
                <a:solidFill>
                  <a:schemeClr val="tx1">
                    <a:lumMod val="65000"/>
                    <a:lumOff val="35000"/>
                  </a:schemeClr>
                </a:solidFill>
              </a:rPr>
              <a:t>ABC of Offers</a:t>
            </a:r>
          </a:p>
          <a:p>
            <a:pPr>
              <a:buNone/>
            </a:pP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Resources continued…</a:t>
            </a:r>
            <a:endParaRPr lang="en-AU" dirty="0"/>
          </a:p>
        </p:txBody>
      </p:sp>
      <p:sp>
        <p:nvSpPr>
          <p:cNvPr id="3" name="Content Placeholder 2"/>
          <p:cNvSpPr>
            <a:spLocks noGrp="1"/>
          </p:cNvSpPr>
          <p:nvPr>
            <p:ph idx="1"/>
          </p:nvPr>
        </p:nvSpPr>
        <p:spPr/>
        <p:txBody>
          <a:bodyPr>
            <a:normAutofit/>
          </a:bodyPr>
          <a:lstStyle/>
          <a:p>
            <a:r>
              <a:rPr lang="en-AU" dirty="0" smtClean="0"/>
              <a:t>Blog for everyone</a:t>
            </a:r>
            <a:r>
              <a:rPr lang="en-AU" b="1" dirty="0" smtClean="0">
                <a:hlinkClick r:id="rId3"/>
              </a:rPr>
              <a:t/>
            </a:r>
            <a:br>
              <a:rPr lang="en-AU" b="1" dirty="0" smtClean="0">
                <a:hlinkClick r:id="rId3"/>
              </a:rPr>
            </a:br>
            <a:r>
              <a:rPr lang="en-AU" b="1" dirty="0" smtClean="0">
                <a:hlinkClick r:id="rId3"/>
              </a:rPr>
              <a:t>http://vtacmedia.wordpress.com</a:t>
            </a:r>
            <a:endParaRPr lang="en-AU" b="1" dirty="0" smtClean="0"/>
          </a:p>
          <a:p>
            <a:pPr>
              <a:buNone/>
            </a:pPr>
            <a:endParaRPr lang="en-AU" b="1" dirty="0" smtClean="0"/>
          </a:p>
          <a:p>
            <a:r>
              <a:rPr lang="en-AU" dirty="0" smtClean="0"/>
              <a:t>Facebook – preferred method for parents and students </a:t>
            </a:r>
            <a:r>
              <a:rPr lang="en-AU" b="1" dirty="0" smtClean="0">
                <a:hlinkClick r:id="rId4" action="ppaction://hlinkfile"/>
              </a:rPr>
              <a:t>Facebook.com/vtacguide</a:t>
            </a:r>
            <a:endParaRPr lang="en-AU" b="1" dirty="0" smtClean="0"/>
          </a:p>
          <a:p>
            <a:endParaRPr lang="en-AU" b="1" dirty="0" smtClean="0"/>
          </a:p>
          <a:p>
            <a:r>
              <a:rPr lang="en-AU" dirty="0" smtClean="0"/>
              <a:t>Twitter - </a:t>
            </a:r>
            <a:r>
              <a:rPr lang="en-AU" b="1" dirty="0" smtClean="0">
                <a:hlinkClick r:id="rId5"/>
              </a:rPr>
              <a:t>@vtacguide</a:t>
            </a:r>
            <a:endParaRPr lang="en-AU" b="1" dirty="0" smtClean="0"/>
          </a:p>
          <a:p>
            <a:endParaRPr lang="en-A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23528" y="476672"/>
            <a:ext cx="5040560" cy="1066800"/>
          </a:xfrm>
        </p:spPr>
        <p:txBody>
          <a:bodyPr>
            <a:normAutofit/>
          </a:bodyPr>
          <a:lstStyle/>
          <a:p>
            <a:r>
              <a:rPr lang="en-US" sz="3200" b="1" dirty="0" smtClean="0"/>
              <a:t>Newspaper supplements</a:t>
            </a:r>
            <a:endParaRPr lang="en-US" sz="3200" b="1" dirty="0"/>
          </a:p>
        </p:txBody>
      </p:sp>
      <p:sp>
        <p:nvSpPr>
          <p:cNvPr id="8" name="Content Placeholder 7"/>
          <p:cNvSpPr>
            <a:spLocks noGrp="1"/>
          </p:cNvSpPr>
          <p:nvPr>
            <p:ph sz="half" idx="1"/>
          </p:nvPr>
        </p:nvSpPr>
        <p:spPr>
          <a:xfrm>
            <a:off x="3131840" y="1988842"/>
            <a:ext cx="5544616" cy="4140200"/>
          </a:xfrm>
        </p:spPr>
        <p:txBody>
          <a:bodyPr>
            <a:normAutofit/>
          </a:bodyPr>
          <a:lstStyle/>
          <a:p>
            <a:endParaRPr lang="en-US" b="1" dirty="0" smtClean="0"/>
          </a:p>
          <a:p>
            <a:r>
              <a:rPr lang="en-US" b="1" dirty="0" smtClean="0"/>
              <a:t>VICTER 2015</a:t>
            </a:r>
            <a:r>
              <a:rPr lang="en-US" dirty="0" smtClean="0"/>
              <a:t>  - </a:t>
            </a:r>
            <a:r>
              <a:rPr lang="en-US" b="1" dirty="0" smtClean="0"/>
              <a:t>for year 10 students</a:t>
            </a:r>
            <a:br>
              <a:rPr lang="en-US" b="1" dirty="0" smtClean="0"/>
            </a:br>
            <a:r>
              <a:rPr lang="en-US" dirty="0" smtClean="0"/>
              <a:t>available: Tuesday 24 July 2012</a:t>
            </a:r>
          </a:p>
          <a:p>
            <a:pPr>
              <a:buNone/>
            </a:pPr>
            <a:endParaRPr lang="en-US" dirty="0" smtClean="0"/>
          </a:p>
          <a:p>
            <a:r>
              <a:rPr lang="en-US" b="1" dirty="0" smtClean="0"/>
              <a:t>ATAR and Change of Preference</a:t>
            </a:r>
            <a:r>
              <a:rPr lang="en-US" dirty="0" smtClean="0"/>
              <a:t>  available Monday 17 December 2012 </a:t>
            </a:r>
          </a:p>
          <a:p>
            <a:pPr>
              <a:buNone/>
            </a:pPr>
            <a:endParaRPr lang="en-US" dirty="0" smtClean="0"/>
          </a:p>
          <a:p>
            <a:r>
              <a:rPr lang="en-US" b="1" dirty="0" smtClean="0"/>
              <a:t>Tertiary Offers</a:t>
            </a:r>
            <a:endParaRPr lang="en-US" dirty="0" smtClean="0"/>
          </a:p>
          <a:p>
            <a:pPr lvl="1">
              <a:buNone/>
            </a:pPr>
            <a:r>
              <a:rPr lang="en-US" dirty="0" smtClean="0">
                <a:solidFill>
                  <a:schemeClr val="tx1"/>
                </a:solidFill>
              </a:rPr>
              <a:t>available Thursday 17 January 2013</a:t>
            </a:r>
            <a:endParaRPr lang="en-US" dirty="0">
              <a:solidFill>
                <a:schemeClr val="tx1"/>
              </a:solidFill>
            </a:endParaRPr>
          </a:p>
        </p:txBody>
      </p:sp>
      <p:pic>
        <p:nvPicPr>
          <p:cNvPr id="1026" name="Picture 2"/>
          <p:cNvPicPr>
            <a:picLocks noGrp="1" noChangeAspect="1" noChangeArrowheads="1"/>
          </p:cNvPicPr>
          <p:nvPr>
            <p:ph sz="half" idx="2"/>
          </p:nvPr>
        </p:nvPicPr>
        <p:blipFill>
          <a:blip r:embed="rId3" cstate="print"/>
          <a:srcRect r="22095"/>
          <a:stretch>
            <a:fillRect/>
          </a:stretch>
        </p:blipFill>
        <p:spPr bwMode="auto">
          <a:xfrm>
            <a:off x="467546" y="1988842"/>
            <a:ext cx="2409116" cy="41402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539552" y="1268760"/>
            <a:ext cx="8229600" cy="4325112"/>
          </a:xfrm>
        </p:spPr>
        <p:txBody>
          <a:bodyPr>
            <a:normAutofit lnSpcReduction="10000"/>
          </a:bodyPr>
          <a:lstStyle/>
          <a:p>
            <a:pPr>
              <a:spcAft>
                <a:spcPts val="1200"/>
              </a:spcAft>
            </a:pPr>
            <a:r>
              <a:rPr lang="en-AU" sz="2800" b="1" dirty="0" smtClean="0"/>
              <a:t>Application methods</a:t>
            </a:r>
          </a:p>
          <a:p>
            <a:pPr lvl="1">
              <a:spcAft>
                <a:spcPts val="1200"/>
              </a:spcAft>
            </a:pPr>
            <a:r>
              <a:rPr lang="en-AU" sz="2400" dirty="0" smtClean="0"/>
              <a:t>Printed Guide now a reference book</a:t>
            </a:r>
            <a:br>
              <a:rPr lang="en-AU" sz="2400" dirty="0" smtClean="0"/>
            </a:br>
            <a:r>
              <a:rPr lang="en-AU" sz="2400" dirty="0" smtClean="0"/>
              <a:t>Definitive information online. </a:t>
            </a:r>
          </a:p>
          <a:p>
            <a:pPr lvl="1">
              <a:spcAft>
                <a:spcPts val="1200"/>
              </a:spcAft>
            </a:pPr>
            <a:r>
              <a:rPr lang="en-AU" sz="2400" dirty="0" smtClean="0"/>
              <a:t>Courses listed with direct applications – not through VTAC </a:t>
            </a:r>
          </a:p>
          <a:p>
            <a:pPr lvl="1">
              <a:spcAft>
                <a:spcPts val="1200"/>
              </a:spcAft>
            </a:pPr>
            <a:r>
              <a:rPr lang="en-AU" sz="2400" dirty="0" smtClean="0"/>
              <a:t>Most courses listed you apply through VTAC </a:t>
            </a:r>
          </a:p>
          <a:p>
            <a:pPr lvl="1">
              <a:spcAft>
                <a:spcPts val="1200"/>
              </a:spcAft>
            </a:pPr>
            <a:r>
              <a:rPr lang="en-AU" sz="2400" dirty="0" smtClean="0"/>
              <a:t>VTAC user account – is where all applicants get their information and their account details after registration. </a:t>
            </a:r>
          </a:p>
          <a:p>
            <a:pPr>
              <a:buNone/>
            </a:pPr>
            <a:endParaRPr lang="en-AU" dirty="0"/>
          </a:p>
        </p:txBody>
      </p:sp>
      <p:sp>
        <p:nvSpPr>
          <p:cNvPr id="7" name="Title 6"/>
          <p:cNvSpPr>
            <a:spLocks noGrp="1"/>
          </p:cNvSpPr>
          <p:nvPr>
            <p:ph type="title"/>
          </p:nvPr>
        </p:nvSpPr>
        <p:spPr/>
        <p:txBody>
          <a:bodyPr/>
          <a:lstStyle/>
          <a:p>
            <a:r>
              <a:rPr lang="en-AU" dirty="0" smtClean="0"/>
              <a:t>What’s new in 2013</a:t>
            </a:r>
            <a:endParaRPr lang="en-A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476672"/>
            <a:ext cx="5184576" cy="1066800"/>
          </a:xfrm>
        </p:spPr>
        <p:txBody>
          <a:bodyPr>
            <a:normAutofit/>
          </a:bodyPr>
          <a:lstStyle/>
          <a:p>
            <a:r>
              <a:rPr lang="en-AU" sz="3200" dirty="0" smtClean="0"/>
              <a:t>What’s in the printed Guide </a:t>
            </a:r>
            <a:endParaRPr lang="en-US" sz="3200" dirty="0"/>
          </a:p>
        </p:txBody>
      </p:sp>
      <p:sp>
        <p:nvSpPr>
          <p:cNvPr id="3" name="Content Placeholder 2"/>
          <p:cNvSpPr>
            <a:spLocks noGrp="1"/>
          </p:cNvSpPr>
          <p:nvPr>
            <p:ph sz="half" idx="1"/>
          </p:nvPr>
        </p:nvSpPr>
        <p:spPr>
          <a:xfrm>
            <a:off x="395537" y="1628800"/>
            <a:ext cx="7216755" cy="4140200"/>
          </a:xfrm>
        </p:spPr>
        <p:txBody>
          <a:bodyPr>
            <a:noAutofit/>
          </a:bodyPr>
          <a:lstStyle/>
          <a:p>
            <a:pPr>
              <a:lnSpc>
                <a:spcPct val="150000"/>
              </a:lnSpc>
              <a:spcAft>
                <a:spcPts val="1200"/>
              </a:spcAft>
            </a:pPr>
            <a:r>
              <a:rPr lang="en-AU" sz="2400" dirty="0" smtClean="0"/>
              <a:t>Majors index and selection data index</a:t>
            </a:r>
          </a:p>
          <a:p>
            <a:pPr>
              <a:lnSpc>
                <a:spcPct val="150000"/>
              </a:lnSpc>
              <a:spcAft>
                <a:spcPts val="1200"/>
              </a:spcAft>
            </a:pPr>
            <a:r>
              <a:rPr lang="en-AU" sz="2400" dirty="0" smtClean="0"/>
              <a:t>Course listings in Guide - detail online. </a:t>
            </a:r>
          </a:p>
          <a:p>
            <a:pPr>
              <a:lnSpc>
                <a:spcPct val="150000"/>
              </a:lnSpc>
            </a:pPr>
            <a:r>
              <a:rPr lang="en-AU" sz="2400" dirty="0" smtClean="0"/>
              <a:t>Institutions listed in strict alphabetical order</a:t>
            </a:r>
          </a:p>
          <a:p>
            <a:pPr>
              <a:lnSpc>
                <a:spcPct val="150000"/>
              </a:lnSpc>
            </a:pPr>
            <a:r>
              <a:rPr lang="en-AU" sz="2400" dirty="0" smtClean="0"/>
              <a:t>Chapters include: SEAS, Scholarships, Accommodation, Enrolment and deferment policies, Credit transfer, pathways and recognition of prior learning</a:t>
            </a:r>
            <a:endParaRPr lang="en-US"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476672"/>
            <a:ext cx="5112568" cy="1069848"/>
          </a:xfrm>
        </p:spPr>
        <p:txBody>
          <a:bodyPr>
            <a:normAutofit/>
          </a:bodyPr>
          <a:lstStyle/>
          <a:p>
            <a:r>
              <a:rPr lang="en-AU" sz="3200" dirty="0" smtClean="0"/>
              <a:t>Sample course entry in printed Guide </a:t>
            </a:r>
            <a:endParaRPr lang="en-AU" sz="3200" dirty="0"/>
          </a:p>
        </p:txBody>
      </p:sp>
      <p:pic>
        <p:nvPicPr>
          <p:cNvPr id="4" name="Content Placeholder 3"/>
          <p:cNvPicPr>
            <a:picLocks/>
          </p:cNvPicPr>
          <p:nvPr/>
        </p:nvPicPr>
        <p:blipFill>
          <a:blip r:embed="rId3" cstate="print"/>
          <a:srcRect l="9231" t="17266" r="48011" b="43683"/>
          <a:stretch>
            <a:fillRect/>
          </a:stretch>
        </p:blipFill>
        <p:spPr>
          <a:xfrm>
            <a:off x="323528" y="1700808"/>
            <a:ext cx="3887552" cy="2520280"/>
          </a:xfrm>
          <a:prstGeom prst="rect">
            <a:avLst/>
          </a:prstGeom>
          <a:ln>
            <a:solidFill>
              <a:srgbClr val="C00000"/>
            </a:solidFill>
          </a:ln>
        </p:spPr>
      </p:pic>
      <p:sp>
        <p:nvSpPr>
          <p:cNvPr id="5" name="TextBox 4"/>
          <p:cNvSpPr txBox="1"/>
          <p:nvPr/>
        </p:nvSpPr>
        <p:spPr>
          <a:xfrm>
            <a:off x="4427984" y="2204864"/>
            <a:ext cx="3744416"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AU" dirty="0" smtClean="0"/>
              <a:t>Notice the course codes</a:t>
            </a:r>
          </a:p>
          <a:p>
            <a:r>
              <a:rPr lang="en-AU" dirty="0" smtClean="0"/>
              <a:t>The prerequisite indicator </a:t>
            </a:r>
          </a:p>
          <a:p>
            <a:r>
              <a:rPr lang="en-AU" dirty="0" smtClean="0"/>
              <a:t>Extra requirement indicator</a:t>
            </a:r>
          </a:p>
          <a:p>
            <a:r>
              <a:rPr lang="en-AU" dirty="0" smtClean="0"/>
              <a:t>Application indicator</a:t>
            </a:r>
            <a:endParaRPr lang="en-AU" dirty="0"/>
          </a:p>
        </p:txBody>
      </p:sp>
      <p:sp>
        <p:nvSpPr>
          <p:cNvPr id="6" name="Left Arrow 5"/>
          <p:cNvSpPr/>
          <p:nvPr/>
        </p:nvSpPr>
        <p:spPr>
          <a:xfrm>
            <a:off x="3563888" y="2564904"/>
            <a:ext cx="864096" cy="432048"/>
          </a:xfrm>
          <a:prstGeom prst="lef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AU" dirty="0"/>
          </a:p>
        </p:txBody>
      </p:sp>
      <p:pic>
        <p:nvPicPr>
          <p:cNvPr id="7" name="Picture 2"/>
          <p:cNvPicPr>
            <a:picLocks noChangeAspect="1" noChangeArrowheads="1"/>
          </p:cNvPicPr>
          <p:nvPr/>
        </p:nvPicPr>
        <p:blipFill>
          <a:blip r:embed="rId4" cstate="print"/>
          <a:srcRect l="13584" t="54351" r="48026" b="19071"/>
          <a:stretch>
            <a:fillRect/>
          </a:stretch>
        </p:blipFill>
        <p:spPr bwMode="auto">
          <a:xfrm>
            <a:off x="4716018" y="4077072"/>
            <a:ext cx="3900433" cy="2160240"/>
          </a:xfrm>
          <a:prstGeom prst="rect">
            <a:avLst/>
          </a:prstGeom>
          <a:noFill/>
          <a:ln w="9525">
            <a:solidFill>
              <a:srgbClr val="C00000"/>
            </a:solidFill>
            <a:miter lim="800000"/>
            <a:headEnd/>
            <a:tailEnd/>
          </a:ln>
        </p:spPr>
      </p:pic>
      <p:sp>
        <p:nvSpPr>
          <p:cNvPr id="8" name="TextBox 7"/>
          <p:cNvSpPr txBox="1"/>
          <p:nvPr/>
        </p:nvSpPr>
        <p:spPr>
          <a:xfrm>
            <a:off x="395536" y="4797155"/>
            <a:ext cx="3744416"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AU" dirty="0" smtClean="0"/>
              <a:t>No course codes and the indicator for applying is directly to the institution. </a:t>
            </a:r>
          </a:p>
          <a:p>
            <a:endParaRPr lang="en-AU" dirty="0"/>
          </a:p>
        </p:txBody>
      </p:sp>
      <p:sp>
        <p:nvSpPr>
          <p:cNvPr id="9" name="Right Arrow 8"/>
          <p:cNvSpPr/>
          <p:nvPr/>
        </p:nvSpPr>
        <p:spPr>
          <a:xfrm>
            <a:off x="4139952" y="5157192"/>
            <a:ext cx="792088" cy="432048"/>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AU"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476672"/>
            <a:ext cx="5040560" cy="1069848"/>
          </a:xfrm>
        </p:spPr>
        <p:txBody>
          <a:bodyPr>
            <a:normAutofit/>
          </a:bodyPr>
          <a:lstStyle/>
          <a:p>
            <a:r>
              <a:rPr lang="en-AU" sz="3200" dirty="0" smtClean="0"/>
              <a:t>Qualifications</a:t>
            </a:r>
            <a:r>
              <a:rPr lang="en-AU" sz="2800" dirty="0" smtClean="0"/>
              <a:t> through VTAC </a:t>
            </a:r>
            <a:endParaRPr lang="en-AU" sz="2800" dirty="0"/>
          </a:p>
        </p:txBody>
      </p:sp>
      <p:sp>
        <p:nvSpPr>
          <p:cNvPr id="3" name="Text Placeholder 2"/>
          <p:cNvSpPr>
            <a:spLocks noGrp="1"/>
          </p:cNvSpPr>
          <p:nvPr>
            <p:ph type="body" idx="1"/>
          </p:nvPr>
        </p:nvSpPr>
        <p:spPr>
          <a:xfrm>
            <a:off x="381000" y="1340768"/>
            <a:ext cx="4041648" cy="457200"/>
          </a:xfrm>
        </p:spPr>
        <p:txBody>
          <a:bodyPr/>
          <a:lstStyle/>
          <a:p>
            <a:r>
              <a:rPr lang="en-AU" dirty="0" smtClean="0"/>
              <a:t>VET qualifications </a:t>
            </a:r>
            <a:endParaRPr lang="en-AU" dirty="0"/>
          </a:p>
        </p:txBody>
      </p:sp>
      <p:sp>
        <p:nvSpPr>
          <p:cNvPr id="4" name="Text Placeholder 3"/>
          <p:cNvSpPr>
            <a:spLocks noGrp="1"/>
          </p:cNvSpPr>
          <p:nvPr>
            <p:ph type="body" sz="half" idx="3"/>
          </p:nvPr>
        </p:nvSpPr>
        <p:spPr>
          <a:xfrm>
            <a:off x="4721227" y="1340768"/>
            <a:ext cx="4041775" cy="457200"/>
          </a:xfrm>
        </p:spPr>
        <p:txBody>
          <a:bodyPr/>
          <a:lstStyle/>
          <a:p>
            <a:r>
              <a:rPr lang="en-AU" dirty="0" smtClean="0"/>
              <a:t>Higher education  </a:t>
            </a:r>
            <a:endParaRPr lang="en-AU" dirty="0"/>
          </a:p>
        </p:txBody>
      </p:sp>
      <p:sp>
        <p:nvSpPr>
          <p:cNvPr id="5" name="Content Placeholder 4"/>
          <p:cNvSpPr>
            <a:spLocks noGrp="1"/>
          </p:cNvSpPr>
          <p:nvPr>
            <p:ph sz="quarter" idx="2"/>
          </p:nvPr>
        </p:nvSpPr>
        <p:spPr>
          <a:xfrm>
            <a:off x="381000" y="1804317"/>
            <a:ext cx="4041648" cy="3886200"/>
          </a:xfrm>
        </p:spPr>
        <p:txBody>
          <a:bodyPr>
            <a:normAutofit/>
          </a:bodyPr>
          <a:lstStyle/>
          <a:p>
            <a:pPr>
              <a:buFont typeface="Arial" pitchFamily="34" charset="0"/>
              <a:buChar char="•"/>
            </a:pPr>
            <a:r>
              <a:rPr lang="en-AU" dirty="0" smtClean="0"/>
              <a:t>Certificate I</a:t>
            </a:r>
          </a:p>
          <a:p>
            <a:r>
              <a:rPr lang="en-AU" dirty="0" smtClean="0"/>
              <a:t>Certificate II</a:t>
            </a:r>
          </a:p>
          <a:p>
            <a:r>
              <a:rPr lang="en-AU" dirty="0" smtClean="0"/>
              <a:t>Certificate III</a:t>
            </a:r>
          </a:p>
          <a:p>
            <a:r>
              <a:rPr lang="en-AU" dirty="0" smtClean="0"/>
              <a:t>Certificate IV</a:t>
            </a:r>
          </a:p>
          <a:p>
            <a:r>
              <a:rPr lang="en-AU" dirty="0" smtClean="0"/>
              <a:t>Diploma</a:t>
            </a:r>
          </a:p>
          <a:p>
            <a:r>
              <a:rPr lang="en-AU" dirty="0" smtClean="0"/>
              <a:t>Advanced Diploma </a:t>
            </a:r>
          </a:p>
          <a:p>
            <a:r>
              <a:rPr lang="en-AU" dirty="0" smtClean="0"/>
              <a:t>Note: </a:t>
            </a:r>
            <a:br>
              <a:rPr lang="en-AU" dirty="0" smtClean="0"/>
            </a:br>
            <a:r>
              <a:rPr lang="en-AU" dirty="0" smtClean="0"/>
              <a:t>VTAC accepts and publicises courses from Certificate II and above</a:t>
            </a:r>
          </a:p>
          <a:p>
            <a:endParaRPr lang="en-AU" dirty="0"/>
          </a:p>
        </p:txBody>
      </p:sp>
      <p:sp>
        <p:nvSpPr>
          <p:cNvPr id="6" name="Content Placeholder 5"/>
          <p:cNvSpPr>
            <a:spLocks noGrp="1"/>
          </p:cNvSpPr>
          <p:nvPr>
            <p:ph sz="quarter" idx="4"/>
          </p:nvPr>
        </p:nvSpPr>
        <p:spPr>
          <a:xfrm>
            <a:off x="4718307" y="1804317"/>
            <a:ext cx="4041775" cy="3886200"/>
          </a:xfrm>
        </p:spPr>
        <p:txBody>
          <a:bodyPr>
            <a:normAutofit fontScale="92500" lnSpcReduction="10000"/>
          </a:bodyPr>
          <a:lstStyle/>
          <a:p>
            <a:r>
              <a:rPr lang="en-AU" sz="2400" dirty="0" smtClean="0"/>
              <a:t>Undergraduate </a:t>
            </a:r>
          </a:p>
          <a:p>
            <a:pPr lvl="1"/>
            <a:r>
              <a:rPr lang="en-AU" sz="2400" dirty="0" smtClean="0"/>
              <a:t>Advanced Diploma </a:t>
            </a:r>
          </a:p>
          <a:p>
            <a:pPr lvl="1"/>
            <a:r>
              <a:rPr lang="en-AU" sz="2400" dirty="0" smtClean="0"/>
              <a:t>Associate Degrees</a:t>
            </a:r>
          </a:p>
          <a:p>
            <a:pPr lvl="1"/>
            <a:r>
              <a:rPr lang="en-AU" sz="2400" dirty="0" smtClean="0"/>
              <a:t>Bachelor </a:t>
            </a:r>
          </a:p>
          <a:p>
            <a:r>
              <a:rPr lang="en-AU" sz="2400" dirty="0" smtClean="0"/>
              <a:t>Post graduate </a:t>
            </a:r>
          </a:p>
          <a:p>
            <a:pPr lvl="1"/>
            <a:r>
              <a:rPr lang="en-AU" sz="2400" dirty="0" smtClean="0"/>
              <a:t>Masters </a:t>
            </a:r>
          </a:p>
          <a:p>
            <a:pPr lvl="1"/>
            <a:r>
              <a:rPr lang="en-AU" sz="2400" dirty="0" smtClean="0"/>
              <a:t>Graduate entry teaching </a:t>
            </a:r>
          </a:p>
          <a:p>
            <a:r>
              <a:rPr lang="en-AU" sz="2400" dirty="0" smtClean="0"/>
              <a:t>Note: </a:t>
            </a:r>
            <a:br>
              <a:rPr lang="en-AU" sz="2400" dirty="0" smtClean="0"/>
            </a:br>
            <a:r>
              <a:rPr lang="en-AU" sz="2400" dirty="0" smtClean="0"/>
              <a:t>A number of postgraduate and master courses are via direct application. </a:t>
            </a:r>
          </a:p>
          <a:p>
            <a:endParaRPr lang="en-AU"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476672"/>
            <a:ext cx="5256584" cy="1066800"/>
          </a:xfrm>
        </p:spPr>
        <p:txBody>
          <a:bodyPr>
            <a:normAutofit fontScale="90000"/>
          </a:bodyPr>
          <a:lstStyle/>
          <a:p>
            <a:r>
              <a:rPr lang="en-AU" sz="3600" dirty="0" smtClean="0">
                <a:solidFill>
                  <a:schemeClr val="tx1"/>
                </a:solidFill>
              </a:rPr>
              <a:t>VET and Higher education - </a:t>
            </a:r>
            <a:r>
              <a:rPr lang="en-AU" sz="3200" dirty="0" smtClean="0">
                <a:solidFill>
                  <a:schemeClr val="tx1"/>
                </a:solidFill>
              </a:rPr>
              <a:t>colour coding </a:t>
            </a:r>
            <a:endParaRPr lang="en-AU" sz="3600" dirty="0">
              <a:solidFill>
                <a:schemeClr val="tx1"/>
              </a:solidFill>
            </a:endParaRPr>
          </a:p>
        </p:txBody>
      </p:sp>
      <p:pic>
        <p:nvPicPr>
          <p:cNvPr id="4" name="Picture 2"/>
          <p:cNvPicPr>
            <a:picLocks noGrp="1" noChangeAspect="1" noChangeArrowheads="1"/>
          </p:cNvPicPr>
          <p:nvPr>
            <p:ph sz="quarter" idx="1"/>
          </p:nvPr>
        </p:nvPicPr>
        <p:blipFill>
          <a:blip r:embed="rId3" cstate="print"/>
          <a:srcRect l="11292" t="9756" r="5801" b="6520"/>
          <a:stretch>
            <a:fillRect/>
          </a:stretch>
        </p:blipFill>
        <p:spPr bwMode="auto">
          <a:xfrm>
            <a:off x="2627784" y="1268760"/>
            <a:ext cx="6372200" cy="5148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srcRect l="10040" t="16665" r="10226"/>
          <a:stretch>
            <a:fillRect/>
          </a:stretch>
        </p:blipFill>
        <p:spPr bwMode="auto">
          <a:xfrm>
            <a:off x="611560" y="285862"/>
            <a:ext cx="8064896" cy="6572138"/>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cstate="print"/>
          <a:srcRect l="14466" t="31527" r="11116" b="25295"/>
          <a:stretch>
            <a:fillRect/>
          </a:stretch>
        </p:blipFill>
        <p:spPr bwMode="auto">
          <a:xfrm>
            <a:off x="107506" y="404664"/>
            <a:ext cx="8913833" cy="4032448"/>
          </a:xfrm>
          <a:prstGeom prst="rect">
            <a:avLst/>
          </a:prstGeom>
          <a:ln>
            <a:noFill/>
          </a:ln>
          <a:effectLst>
            <a:outerShdw blurRad="292100" dist="139700" dir="2700000" algn="tl" rotWithShape="0">
              <a:srgbClr val="333333">
                <a:alpha val="65000"/>
              </a:srgbClr>
            </a:outerShdw>
          </a:effectLst>
        </p:spPr>
      </p:pic>
      <p:pic>
        <p:nvPicPr>
          <p:cNvPr id="2052" name="Picture 4"/>
          <p:cNvPicPr>
            <a:picLocks noChangeAspect="1" noChangeArrowheads="1"/>
          </p:cNvPicPr>
          <p:nvPr/>
        </p:nvPicPr>
        <p:blipFill>
          <a:blip r:embed="rId4" cstate="print"/>
          <a:srcRect l="23325" t="24710" r="21747" b="7872"/>
          <a:stretch>
            <a:fillRect/>
          </a:stretch>
        </p:blipFill>
        <p:spPr bwMode="auto">
          <a:xfrm>
            <a:off x="2555776" y="980728"/>
            <a:ext cx="5832648" cy="5581782"/>
          </a:xfrm>
          <a:prstGeom prst="rect">
            <a:avLst/>
          </a:prstGeom>
          <a:noFill/>
          <a:ln w="9525">
            <a:noFill/>
            <a:miter lim="800000"/>
            <a:headEnd/>
            <a:tailEnd/>
          </a:ln>
          <a:effectLst>
            <a:outerShdw blurRad="50800" dist="38100" dir="2700000" algn="tl" rotWithShape="0">
              <a:prstClr val="black">
                <a:alpha val="40000"/>
              </a:prst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476672"/>
            <a:ext cx="5364088" cy="1066800"/>
          </a:xfrm>
        </p:spPr>
        <p:txBody>
          <a:bodyPr>
            <a:noAutofit/>
          </a:bodyPr>
          <a:lstStyle/>
          <a:p>
            <a:r>
              <a:rPr lang="en-AU" sz="3200" dirty="0" smtClean="0"/>
              <a:t>Application process for courses through VTAC </a:t>
            </a:r>
            <a:endParaRPr lang="en-AU" sz="3200" dirty="0"/>
          </a:p>
        </p:txBody>
      </p:sp>
      <p:sp>
        <p:nvSpPr>
          <p:cNvPr id="5" name="TextBox 4"/>
          <p:cNvSpPr txBox="1"/>
          <p:nvPr/>
        </p:nvSpPr>
        <p:spPr>
          <a:xfrm>
            <a:off x="3095836" y="1700808"/>
            <a:ext cx="2232248"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dirty="0" smtClean="0"/>
              <a:t>Register</a:t>
            </a:r>
            <a:endParaRPr lang="en-US" dirty="0"/>
          </a:p>
        </p:txBody>
      </p:sp>
      <p:sp>
        <p:nvSpPr>
          <p:cNvPr id="7" name="TextBox 6"/>
          <p:cNvSpPr txBox="1"/>
          <p:nvPr/>
        </p:nvSpPr>
        <p:spPr>
          <a:xfrm>
            <a:off x="2627784" y="2420890"/>
            <a:ext cx="3168352"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dirty="0" smtClean="0"/>
              <a:t>Receive VTAC ID and PIN</a:t>
            </a:r>
            <a:endParaRPr lang="en-US" dirty="0"/>
          </a:p>
        </p:txBody>
      </p:sp>
      <p:sp>
        <p:nvSpPr>
          <p:cNvPr id="8" name="TextBox 7"/>
          <p:cNvSpPr txBox="1"/>
          <p:nvPr/>
        </p:nvSpPr>
        <p:spPr>
          <a:xfrm>
            <a:off x="2627784" y="3212977"/>
            <a:ext cx="3168352"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dirty="0" smtClean="0"/>
              <a:t>Login to VTAC User Account</a:t>
            </a:r>
            <a:endParaRPr lang="en-US" dirty="0"/>
          </a:p>
        </p:txBody>
      </p:sp>
      <p:sp>
        <p:nvSpPr>
          <p:cNvPr id="9" name="TextBox 8"/>
          <p:cNvSpPr txBox="1"/>
          <p:nvPr/>
        </p:nvSpPr>
        <p:spPr>
          <a:xfrm>
            <a:off x="611560" y="4509121"/>
            <a:ext cx="2232248"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dirty="0" smtClean="0"/>
              <a:t>Apply for courses</a:t>
            </a:r>
            <a:endParaRPr lang="en-US" dirty="0"/>
          </a:p>
        </p:txBody>
      </p:sp>
      <p:sp>
        <p:nvSpPr>
          <p:cNvPr id="10" name="TextBox 9"/>
          <p:cNvSpPr txBox="1"/>
          <p:nvPr/>
        </p:nvSpPr>
        <p:spPr>
          <a:xfrm>
            <a:off x="611560" y="5661250"/>
            <a:ext cx="2232248"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dirty="0" smtClean="0"/>
              <a:t>Apply for SEAS</a:t>
            </a:r>
            <a:endParaRPr lang="en-US" dirty="0"/>
          </a:p>
        </p:txBody>
      </p:sp>
      <p:sp>
        <p:nvSpPr>
          <p:cNvPr id="11" name="TextBox 10"/>
          <p:cNvSpPr txBox="1"/>
          <p:nvPr/>
        </p:nvSpPr>
        <p:spPr>
          <a:xfrm>
            <a:off x="3275856" y="4509121"/>
            <a:ext cx="1944216" cy="64633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dirty="0" smtClean="0"/>
              <a:t>Apply for STAT/DULSAT</a:t>
            </a:r>
            <a:endParaRPr lang="en-US" dirty="0"/>
          </a:p>
        </p:txBody>
      </p:sp>
      <p:sp>
        <p:nvSpPr>
          <p:cNvPr id="12" name="TextBox 11"/>
          <p:cNvSpPr txBox="1"/>
          <p:nvPr/>
        </p:nvSpPr>
        <p:spPr>
          <a:xfrm>
            <a:off x="5580112" y="4509121"/>
            <a:ext cx="1944216" cy="64633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dirty="0" smtClean="0"/>
              <a:t>Apply for Scholarships</a:t>
            </a:r>
            <a:endParaRPr lang="en-US" dirty="0"/>
          </a:p>
        </p:txBody>
      </p:sp>
      <p:cxnSp>
        <p:nvCxnSpPr>
          <p:cNvPr id="13" name="Straight Arrow Connector 12"/>
          <p:cNvCxnSpPr>
            <a:stCxn id="7" idx="2"/>
            <a:endCxn id="8" idx="0"/>
          </p:cNvCxnSpPr>
          <p:nvPr/>
        </p:nvCxnSpPr>
        <p:spPr>
          <a:xfrm>
            <a:off x="4211960" y="2790222"/>
            <a:ext cx="0" cy="422755"/>
          </a:xfrm>
          <a:prstGeom prst="straightConnector1">
            <a:avLst/>
          </a:prstGeom>
          <a:ln>
            <a:tailEnd type="arrow"/>
          </a:ln>
        </p:spPr>
        <p:style>
          <a:lnRef idx="1">
            <a:schemeClr val="accent6"/>
          </a:lnRef>
          <a:fillRef idx="3">
            <a:schemeClr val="accent6"/>
          </a:fillRef>
          <a:effectRef idx="2">
            <a:schemeClr val="accent6"/>
          </a:effectRef>
          <a:fontRef idx="minor">
            <a:schemeClr val="lt1"/>
          </a:fontRef>
        </p:style>
      </p:cxnSp>
      <p:cxnSp>
        <p:nvCxnSpPr>
          <p:cNvPr id="14" name="Straight Arrow Connector 13"/>
          <p:cNvCxnSpPr>
            <a:stCxn id="5" idx="2"/>
            <a:endCxn id="7" idx="0"/>
          </p:cNvCxnSpPr>
          <p:nvPr/>
        </p:nvCxnSpPr>
        <p:spPr>
          <a:xfrm>
            <a:off x="4211960" y="2070140"/>
            <a:ext cx="0" cy="350750"/>
          </a:xfrm>
          <a:prstGeom prst="straightConnector1">
            <a:avLst/>
          </a:prstGeom>
          <a:ln>
            <a:tailEnd type="arrow"/>
          </a:ln>
        </p:spPr>
        <p:style>
          <a:lnRef idx="1">
            <a:schemeClr val="accent6"/>
          </a:lnRef>
          <a:fillRef idx="3">
            <a:schemeClr val="accent6"/>
          </a:fillRef>
          <a:effectRef idx="2">
            <a:schemeClr val="accent6"/>
          </a:effectRef>
          <a:fontRef idx="minor">
            <a:schemeClr val="lt1"/>
          </a:fontRef>
        </p:style>
      </p:cxnSp>
      <p:cxnSp>
        <p:nvCxnSpPr>
          <p:cNvPr id="15" name="Elbow Connector 14"/>
          <p:cNvCxnSpPr>
            <a:stCxn id="8" idx="2"/>
            <a:endCxn id="9" idx="0"/>
          </p:cNvCxnSpPr>
          <p:nvPr/>
        </p:nvCxnSpPr>
        <p:spPr>
          <a:xfrm rot="5400000">
            <a:off x="2506416" y="2803577"/>
            <a:ext cx="926812" cy="2484276"/>
          </a:xfrm>
          <a:prstGeom prst="bentConnector3">
            <a:avLst>
              <a:gd name="adj1" fmla="val 50000"/>
            </a:avLst>
          </a:prstGeom>
          <a:ln>
            <a:tailEnd type="arrow"/>
          </a:ln>
        </p:spPr>
        <p:style>
          <a:lnRef idx="1">
            <a:schemeClr val="accent6"/>
          </a:lnRef>
          <a:fillRef idx="3">
            <a:schemeClr val="accent6"/>
          </a:fillRef>
          <a:effectRef idx="2">
            <a:schemeClr val="accent6"/>
          </a:effectRef>
          <a:fontRef idx="minor">
            <a:schemeClr val="lt1"/>
          </a:fontRef>
        </p:style>
      </p:cxnSp>
      <p:cxnSp>
        <p:nvCxnSpPr>
          <p:cNvPr id="16" name="Elbow Connector 15"/>
          <p:cNvCxnSpPr>
            <a:stCxn id="8" idx="2"/>
            <a:endCxn id="12" idx="0"/>
          </p:cNvCxnSpPr>
          <p:nvPr/>
        </p:nvCxnSpPr>
        <p:spPr>
          <a:xfrm rot="16200000" flipH="1">
            <a:off x="4918684" y="2875585"/>
            <a:ext cx="926812" cy="2340260"/>
          </a:xfrm>
          <a:prstGeom prst="bentConnector3">
            <a:avLst>
              <a:gd name="adj1" fmla="val 50000"/>
            </a:avLst>
          </a:prstGeom>
          <a:ln>
            <a:tailEnd type="arrow"/>
          </a:ln>
        </p:spPr>
        <p:style>
          <a:lnRef idx="1">
            <a:schemeClr val="accent6"/>
          </a:lnRef>
          <a:fillRef idx="3">
            <a:schemeClr val="accent6"/>
          </a:fillRef>
          <a:effectRef idx="2">
            <a:schemeClr val="accent6"/>
          </a:effectRef>
          <a:fontRef idx="minor">
            <a:schemeClr val="lt1"/>
          </a:fontRef>
        </p:style>
      </p:cxnSp>
      <p:cxnSp>
        <p:nvCxnSpPr>
          <p:cNvPr id="17" name="Elbow Connector 16"/>
          <p:cNvCxnSpPr>
            <a:stCxn id="8" idx="2"/>
            <a:endCxn id="11" idx="0"/>
          </p:cNvCxnSpPr>
          <p:nvPr/>
        </p:nvCxnSpPr>
        <p:spPr>
          <a:xfrm rot="16200000" flipH="1">
            <a:off x="3766556" y="4027713"/>
            <a:ext cx="926812" cy="36004"/>
          </a:xfrm>
          <a:prstGeom prst="bentConnector3">
            <a:avLst>
              <a:gd name="adj1" fmla="val 50000"/>
            </a:avLst>
          </a:prstGeom>
          <a:ln>
            <a:tailEnd type="arrow"/>
          </a:ln>
        </p:spPr>
        <p:style>
          <a:lnRef idx="1">
            <a:schemeClr val="accent6"/>
          </a:lnRef>
          <a:fillRef idx="3">
            <a:schemeClr val="accent6"/>
          </a:fillRef>
          <a:effectRef idx="2">
            <a:schemeClr val="accent6"/>
          </a:effectRef>
          <a:fontRef idx="minor">
            <a:schemeClr val="lt1"/>
          </a:fontRef>
        </p:style>
      </p:cxnSp>
      <p:cxnSp>
        <p:nvCxnSpPr>
          <p:cNvPr id="18" name="Straight Arrow Connector 17"/>
          <p:cNvCxnSpPr>
            <a:stCxn id="9" idx="2"/>
            <a:endCxn id="10" idx="0"/>
          </p:cNvCxnSpPr>
          <p:nvPr/>
        </p:nvCxnSpPr>
        <p:spPr>
          <a:xfrm>
            <a:off x="1727684" y="4878453"/>
            <a:ext cx="0" cy="782797"/>
          </a:xfrm>
          <a:prstGeom prst="straightConnector1">
            <a:avLst/>
          </a:prstGeom>
          <a:ln>
            <a:tailEnd type="arrow"/>
          </a:ln>
        </p:spPr>
        <p:style>
          <a:lnRef idx="1">
            <a:schemeClr val="accent6"/>
          </a:lnRef>
          <a:fillRef idx="3">
            <a:schemeClr val="accent6"/>
          </a:fillRef>
          <a:effectRef idx="2">
            <a:schemeClr val="accent6"/>
          </a:effectRef>
          <a:fontRef idx="minor">
            <a:schemeClr val="lt1"/>
          </a:fontRef>
        </p:style>
      </p:cxnSp>
      <p:sp>
        <p:nvSpPr>
          <p:cNvPr id="19" name="TextBox 18"/>
          <p:cNvSpPr txBox="1"/>
          <p:nvPr/>
        </p:nvSpPr>
        <p:spPr>
          <a:xfrm>
            <a:off x="4355976" y="5473006"/>
            <a:ext cx="4788024" cy="138499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sz="1400" dirty="0" smtClean="0">
                <a:solidFill>
                  <a:schemeClr val="tx1"/>
                </a:solidFill>
              </a:rPr>
              <a:t>Institution can make early offers via VTAC to Non-Year 12 applicants in early December.</a:t>
            </a:r>
          </a:p>
          <a:p>
            <a:endParaRPr lang="en-US" sz="1400" dirty="0" smtClean="0">
              <a:solidFill>
                <a:schemeClr val="tx1"/>
              </a:solidFill>
            </a:endParaRPr>
          </a:p>
          <a:p>
            <a:r>
              <a:rPr lang="en-US" sz="1400" dirty="0" smtClean="0">
                <a:solidFill>
                  <a:schemeClr val="tx1"/>
                </a:solidFill>
              </a:rPr>
              <a:t>Main round offers in January 2013.</a:t>
            </a:r>
          </a:p>
          <a:p>
            <a:endParaRPr lang="en-US" sz="1400" dirty="0" smtClean="0">
              <a:solidFill>
                <a:schemeClr val="tx1"/>
              </a:solidFill>
            </a:endParaRPr>
          </a:p>
          <a:p>
            <a:r>
              <a:rPr lang="en-US" sz="1400" dirty="0" smtClean="0">
                <a:solidFill>
                  <a:schemeClr val="tx1"/>
                </a:solidFill>
              </a:rPr>
              <a:t>Round 2 offers in February 2013.</a:t>
            </a:r>
            <a:endParaRPr lang="en-AU" sz="1400"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Courses via direct application </a:t>
            </a:r>
            <a:endParaRPr lang="en-AU" dirty="0"/>
          </a:p>
        </p:txBody>
      </p:sp>
      <p:sp>
        <p:nvSpPr>
          <p:cNvPr id="5" name="TextBox 4"/>
          <p:cNvSpPr txBox="1"/>
          <p:nvPr/>
        </p:nvSpPr>
        <p:spPr>
          <a:xfrm>
            <a:off x="3383868" y="2492896"/>
            <a:ext cx="2232248"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dirty="0" smtClean="0"/>
              <a:t>Applicants apply to institution</a:t>
            </a:r>
            <a:endParaRPr lang="en-US" dirty="0"/>
          </a:p>
        </p:txBody>
      </p:sp>
      <p:sp>
        <p:nvSpPr>
          <p:cNvPr id="6" name="TextBox 5"/>
          <p:cNvSpPr txBox="1"/>
          <p:nvPr/>
        </p:nvSpPr>
        <p:spPr>
          <a:xfrm>
            <a:off x="2915816" y="3717034"/>
            <a:ext cx="3168352"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dirty="0" smtClean="0"/>
              <a:t>Institution decides to make an offer or not</a:t>
            </a:r>
            <a:endParaRPr lang="en-US" dirty="0"/>
          </a:p>
        </p:txBody>
      </p:sp>
      <p:sp>
        <p:nvSpPr>
          <p:cNvPr id="7" name="TextBox 6"/>
          <p:cNvSpPr txBox="1"/>
          <p:nvPr/>
        </p:nvSpPr>
        <p:spPr>
          <a:xfrm>
            <a:off x="2915816" y="5013176"/>
            <a:ext cx="3168352"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dirty="0" smtClean="0"/>
              <a:t>Institution can make early offers whenever they choose</a:t>
            </a:r>
            <a:endParaRPr lang="en-US" dirty="0"/>
          </a:p>
        </p:txBody>
      </p:sp>
      <p:cxnSp>
        <p:nvCxnSpPr>
          <p:cNvPr id="8" name="Straight Arrow Connector 7"/>
          <p:cNvCxnSpPr/>
          <p:nvPr/>
        </p:nvCxnSpPr>
        <p:spPr>
          <a:xfrm>
            <a:off x="4499992" y="4363365"/>
            <a:ext cx="0" cy="649813"/>
          </a:xfrm>
          <a:prstGeom prst="straightConnector1">
            <a:avLst/>
          </a:prstGeom>
          <a:ln>
            <a:tailEnd type="arrow"/>
          </a:ln>
        </p:spPr>
        <p:style>
          <a:lnRef idx="1">
            <a:schemeClr val="accent6"/>
          </a:lnRef>
          <a:fillRef idx="3">
            <a:schemeClr val="accent6"/>
          </a:fillRef>
          <a:effectRef idx="2">
            <a:schemeClr val="accent6"/>
          </a:effectRef>
          <a:fontRef idx="minor">
            <a:schemeClr val="lt1"/>
          </a:fontRef>
        </p:style>
      </p:cxnSp>
      <p:cxnSp>
        <p:nvCxnSpPr>
          <p:cNvPr id="9" name="Straight Arrow Connector 8"/>
          <p:cNvCxnSpPr/>
          <p:nvPr/>
        </p:nvCxnSpPr>
        <p:spPr>
          <a:xfrm>
            <a:off x="4499992" y="3139229"/>
            <a:ext cx="0" cy="577805"/>
          </a:xfrm>
          <a:prstGeom prst="straightConnector1">
            <a:avLst/>
          </a:prstGeom>
          <a:ln>
            <a:tailEnd type="arrow"/>
          </a:ln>
        </p:spPr>
        <p:style>
          <a:lnRef idx="1">
            <a:schemeClr val="accent6"/>
          </a:lnRef>
          <a:fillRef idx="3">
            <a:schemeClr val="accent6"/>
          </a:fillRef>
          <a:effectRef idx="2">
            <a:schemeClr val="accent6"/>
          </a:effectRef>
          <a:fontRef idx="minor">
            <a:schemeClr val="lt1"/>
          </a:fontRef>
        </p:style>
      </p:cxn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76672"/>
            <a:ext cx="5364088" cy="1066800"/>
          </a:xfrm>
        </p:spPr>
        <p:txBody>
          <a:bodyPr/>
          <a:lstStyle/>
          <a:p>
            <a:r>
              <a:rPr lang="en-AU" dirty="0" smtClean="0"/>
              <a:t>The course application</a:t>
            </a:r>
            <a:endParaRPr lang="en-US" dirty="0"/>
          </a:p>
        </p:txBody>
      </p:sp>
      <p:sp>
        <p:nvSpPr>
          <p:cNvPr id="3" name="Content Placeholder 2"/>
          <p:cNvSpPr>
            <a:spLocks noGrp="1"/>
          </p:cNvSpPr>
          <p:nvPr>
            <p:ph idx="1"/>
          </p:nvPr>
        </p:nvSpPr>
        <p:spPr>
          <a:xfrm>
            <a:off x="395536" y="1484784"/>
            <a:ext cx="8229600" cy="4325112"/>
          </a:xfrm>
        </p:spPr>
        <p:txBody>
          <a:bodyPr>
            <a:normAutofit/>
          </a:bodyPr>
          <a:lstStyle/>
          <a:p>
            <a:r>
              <a:rPr lang="en-AU" dirty="0" smtClean="0"/>
              <a:t>Can list up to 12 courses/preferences on the course application </a:t>
            </a:r>
          </a:p>
          <a:p>
            <a:pPr>
              <a:buNone/>
            </a:pPr>
            <a:endParaRPr lang="en-AU" dirty="0" smtClean="0"/>
          </a:p>
          <a:p>
            <a:r>
              <a:rPr lang="en-AU" dirty="0" smtClean="0"/>
              <a:t>Always list the courses in the order you want to get into them </a:t>
            </a:r>
            <a:br>
              <a:rPr lang="en-AU" dirty="0" smtClean="0"/>
            </a:br>
            <a:endParaRPr lang="en-AU" dirty="0" smtClean="0"/>
          </a:p>
          <a:p>
            <a:r>
              <a:rPr lang="en-AU" dirty="0" smtClean="0"/>
              <a:t>If incorrectly registered </a:t>
            </a:r>
          </a:p>
          <a:p>
            <a:pPr lvl="1"/>
            <a:r>
              <a:rPr lang="en-AU" dirty="0" smtClean="0"/>
              <a:t>will be charged a non-year 12 processing fee </a:t>
            </a:r>
          </a:p>
          <a:p>
            <a:pPr lvl="1"/>
            <a:r>
              <a:rPr lang="en-AU" dirty="0" smtClean="0"/>
              <a:t>VTAC cannot guarantee results will be matched</a:t>
            </a:r>
          </a:p>
          <a:p>
            <a:endParaRPr lang="en-US"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cstate="print"/>
          <a:srcRect t="8111" r="48246" b="63242"/>
          <a:stretch>
            <a:fillRect/>
          </a:stretch>
        </p:blipFill>
        <p:spPr bwMode="auto">
          <a:xfrm>
            <a:off x="251522" y="1268760"/>
            <a:ext cx="8617375" cy="3816424"/>
          </a:xfrm>
          <a:prstGeom prst="rect">
            <a:avLst/>
          </a:prstGeom>
          <a:ln>
            <a:solidFill>
              <a:schemeClr val="accent6"/>
            </a:solidFill>
          </a:ln>
          <a:effectLst>
            <a:outerShdw blurRad="292100" dist="139700" dir="2700000" algn="tl" rotWithShape="0">
              <a:srgbClr val="333333">
                <a:alpha val="65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476672"/>
            <a:ext cx="5184576" cy="1066800"/>
          </a:xfrm>
        </p:spPr>
        <p:txBody>
          <a:bodyPr>
            <a:normAutofit fontScale="90000"/>
          </a:bodyPr>
          <a:lstStyle/>
          <a:p>
            <a:r>
              <a:rPr lang="en-AU" dirty="0" smtClean="0"/>
              <a:t>Course application continued…</a:t>
            </a:r>
            <a:endParaRPr lang="en-US" dirty="0"/>
          </a:p>
        </p:txBody>
      </p:sp>
      <p:sp>
        <p:nvSpPr>
          <p:cNvPr id="3" name="Content Placeholder 2"/>
          <p:cNvSpPr>
            <a:spLocks noGrp="1"/>
          </p:cNvSpPr>
          <p:nvPr>
            <p:ph idx="1"/>
          </p:nvPr>
        </p:nvSpPr>
        <p:spPr>
          <a:xfrm>
            <a:off x="395536" y="1772816"/>
            <a:ext cx="8229600" cy="4325112"/>
          </a:xfrm>
        </p:spPr>
        <p:txBody>
          <a:bodyPr/>
          <a:lstStyle/>
          <a:p>
            <a:r>
              <a:rPr lang="en-AU" dirty="0" smtClean="0"/>
              <a:t>Last day for timely applications is Friday 28 September 2012. </a:t>
            </a:r>
          </a:p>
          <a:p>
            <a:r>
              <a:rPr lang="en-AU" dirty="0" smtClean="0"/>
              <a:t>Can still defer payment - No invoices when applying. </a:t>
            </a:r>
          </a:p>
          <a:p>
            <a:r>
              <a:rPr lang="en-AU" dirty="0" smtClean="0"/>
              <a:t>Payment is via: </a:t>
            </a:r>
          </a:p>
          <a:p>
            <a:pPr lvl="1"/>
            <a:r>
              <a:rPr lang="en-AU" dirty="0" smtClean="0"/>
              <a:t>Credit card/Visa or MasterCard Debit </a:t>
            </a:r>
          </a:p>
          <a:p>
            <a:pPr lvl="1"/>
            <a:r>
              <a:rPr lang="en-AU" dirty="0" smtClean="0"/>
              <a:t>PayPal </a:t>
            </a:r>
          </a:p>
          <a:p>
            <a:r>
              <a:rPr lang="en-AU" dirty="0" smtClean="0"/>
              <a:t>Don’t pay by the due date, the application won’t be processed and passed on. </a:t>
            </a:r>
          </a:p>
          <a:p>
            <a:endParaRPr lang="en-US"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76672"/>
            <a:ext cx="5364088" cy="1066800"/>
          </a:xfrm>
        </p:spPr>
        <p:txBody>
          <a:bodyPr>
            <a:normAutofit fontScale="90000"/>
          </a:bodyPr>
          <a:lstStyle/>
          <a:p>
            <a:r>
              <a:rPr lang="en-AU" sz="4000" b="1" dirty="0" smtClean="0"/>
              <a:t>Special consideration: </a:t>
            </a:r>
            <a:r>
              <a:rPr lang="en-AU" dirty="0" smtClean="0"/>
              <a:t/>
            </a:r>
            <a:br>
              <a:rPr lang="en-AU" dirty="0" smtClean="0"/>
            </a:br>
            <a:r>
              <a:rPr lang="en-AU" sz="3100" dirty="0" smtClean="0"/>
              <a:t>Special entry access schemes </a:t>
            </a:r>
            <a:endParaRPr lang="en-US" dirty="0"/>
          </a:p>
        </p:txBody>
      </p:sp>
      <p:sp>
        <p:nvSpPr>
          <p:cNvPr id="3" name="Content Placeholder 2"/>
          <p:cNvSpPr>
            <a:spLocks noGrp="1"/>
          </p:cNvSpPr>
          <p:nvPr>
            <p:ph idx="1"/>
          </p:nvPr>
        </p:nvSpPr>
        <p:spPr>
          <a:xfrm>
            <a:off x="457200" y="1628800"/>
            <a:ext cx="8229600" cy="4945736"/>
          </a:xfrm>
        </p:spPr>
        <p:txBody>
          <a:bodyPr>
            <a:normAutofit/>
          </a:bodyPr>
          <a:lstStyle/>
          <a:p>
            <a:r>
              <a:rPr lang="en-GB" sz="2400" dirty="0" smtClean="0"/>
              <a:t>Different types of special consideration: </a:t>
            </a:r>
          </a:p>
          <a:p>
            <a:pPr lvl="1"/>
            <a:r>
              <a:rPr lang="en-GB" sz="2000" dirty="0" smtClean="0"/>
              <a:t>SEAS through VTAC </a:t>
            </a:r>
          </a:p>
          <a:p>
            <a:pPr lvl="1"/>
            <a:r>
              <a:rPr lang="en-GB" sz="2000" dirty="0" smtClean="0"/>
              <a:t>Others directly to the institution </a:t>
            </a:r>
          </a:p>
          <a:p>
            <a:pPr lvl="1">
              <a:buNone/>
            </a:pPr>
            <a:endParaRPr lang="en-GB" sz="2000" dirty="0" smtClean="0"/>
          </a:p>
          <a:p>
            <a:r>
              <a:rPr lang="en-GB" sz="2400" dirty="0" smtClean="0"/>
              <a:t>The Special Entry Access Scheme (SEAS) is the umbrella program run by a number of institutions through VTAC. </a:t>
            </a:r>
          </a:p>
          <a:p>
            <a:pPr>
              <a:buNone/>
            </a:pPr>
            <a:endParaRPr lang="en-GB" sz="2400" dirty="0" smtClean="0"/>
          </a:p>
          <a:p>
            <a:r>
              <a:rPr lang="en-GB" sz="2400" dirty="0" smtClean="0"/>
              <a:t>The Special Entry Access Scheme (SEAS) is for applicants who have experienced educational disadvantage.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476672"/>
            <a:ext cx="4690864" cy="1066800"/>
          </a:xfrm>
        </p:spPr>
        <p:txBody>
          <a:bodyPr>
            <a:normAutofit/>
          </a:bodyPr>
          <a:lstStyle/>
          <a:p>
            <a:r>
              <a:rPr lang="en-AU" dirty="0" smtClean="0"/>
              <a:t>SEAS continued…</a:t>
            </a:r>
            <a:endParaRPr lang="en-US" dirty="0"/>
          </a:p>
        </p:txBody>
      </p:sp>
      <p:sp>
        <p:nvSpPr>
          <p:cNvPr id="5" name="Content Placeholder 4"/>
          <p:cNvSpPr>
            <a:spLocks noGrp="1"/>
          </p:cNvSpPr>
          <p:nvPr>
            <p:ph idx="1"/>
          </p:nvPr>
        </p:nvSpPr>
        <p:spPr>
          <a:xfrm>
            <a:off x="457200" y="1556792"/>
            <a:ext cx="8229600" cy="5017744"/>
          </a:xfrm>
        </p:spPr>
        <p:txBody>
          <a:bodyPr/>
          <a:lstStyle/>
          <a:p>
            <a:r>
              <a:rPr lang="en-GB" sz="2400" dirty="0" smtClean="0"/>
              <a:t>To access the SEAS application, applicants must:</a:t>
            </a:r>
            <a:endParaRPr lang="en-AU" sz="2400" dirty="0" smtClean="0"/>
          </a:p>
          <a:p>
            <a:pPr lvl="1"/>
            <a:r>
              <a:rPr lang="en-GB" sz="2000" dirty="0" smtClean="0"/>
              <a:t>Register with VTAC and create their VTAC user account and  </a:t>
            </a:r>
            <a:endParaRPr lang="en-AU" sz="2000" dirty="0" smtClean="0"/>
          </a:p>
          <a:p>
            <a:pPr lvl="1"/>
            <a:r>
              <a:rPr lang="en-GB" sz="2000" dirty="0" smtClean="0"/>
              <a:t>Submit a course application – SEAS only becomes available after the course application has been submitted. </a:t>
            </a:r>
          </a:p>
          <a:p>
            <a:pPr lvl="1"/>
            <a:r>
              <a:rPr lang="en-GB" sz="2000" dirty="0" smtClean="0"/>
              <a:t>No course application, no SEAS. </a:t>
            </a:r>
          </a:p>
          <a:p>
            <a:r>
              <a:rPr lang="en-GB" sz="2200" dirty="0" smtClean="0"/>
              <a:t>Support documentation must be in by the closing date. </a:t>
            </a:r>
          </a:p>
          <a:p>
            <a:r>
              <a:rPr lang="en-GB" sz="2200" dirty="0" smtClean="0"/>
              <a:t>Students can go in and change/resubmit their SEAS as many times as they like before the closing date. </a:t>
            </a:r>
            <a:br>
              <a:rPr lang="en-GB" sz="2200" dirty="0" smtClean="0"/>
            </a:br>
            <a:endParaRPr lang="en-AU" sz="2200" dirty="0" smtClean="0"/>
          </a:p>
          <a:p>
            <a:r>
              <a:rPr lang="en-GB" sz="2400" b="1" dirty="0" smtClean="0"/>
              <a:t>Opens</a:t>
            </a:r>
            <a:r>
              <a:rPr lang="en-GB" sz="2400" dirty="0" smtClean="0"/>
              <a:t> 9.00am Monday 6 August </a:t>
            </a:r>
            <a:br>
              <a:rPr lang="en-GB" sz="2400" dirty="0" smtClean="0"/>
            </a:br>
            <a:r>
              <a:rPr lang="en-GB" sz="2400" b="1" dirty="0" smtClean="0"/>
              <a:t>Closes</a:t>
            </a:r>
            <a:r>
              <a:rPr lang="en-GB" sz="2400" dirty="0" smtClean="0"/>
              <a:t>: 5.00pm Tuesday 9 October</a:t>
            </a:r>
          </a:p>
          <a:p>
            <a:endParaRPr lang="en-AU"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SEAS categories include</a:t>
            </a:r>
            <a:endParaRPr lang="en-US" dirty="0"/>
          </a:p>
        </p:txBody>
      </p:sp>
      <p:sp>
        <p:nvSpPr>
          <p:cNvPr id="3" name="Content Placeholder 2"/>
          <p:cNvSpPr>
            <a:spLocks noGrp="1"/>
          </p:cNvSpPr>
          <p:nvPr>
            <p:ph idx="1"/>
          </p:nvPr>
        </p:nvSpPr>
        <p:spPr/>
        <p:txBody>
          <a:bodyPr/>
          <a:lstStyle/>
          <a:p>
            <a:r>
              <a:rPr lang="en-GB" b="1" dirty="0" smtClean="0"/>
              <a:t>Category one: </a:t>
            </a:r>
            <a:r>
              <a:rPr lang="en-GB" dirty="0" smtClean="0"/>
              <a:t>Personal information and location </a:t>
            </a:r>
            <a:endParaRPr lang="en-GB" b="1" dirty="0" smtClean="0"/>
          </a:p>
          <a:p>
            <a:r>
              <a:rPr lang="en-GB" b="1" dirty="0" smtClean="0"/>
              <a:t>Category 2: </a:t>
            </a:r>
            <a:r>
              <a:rPr lang="en-GB" dirty="0" smtClean="0"/>
              <a:t>Non-English speaking background </a:t>
            </a:r>
            <a:endParaRPr lang="en-AU" b="1" dirty="0" smtClean="0"/>
          </a:p>
          <a:p>
            <a:r>
              <a:rPr lang="en-GB" b="1" dirty="0" smtClean="0"/>
              <a:t>Category 3: </a:t>
            </a:r>
            <a:r>
              <a:rPr lang="en-GB" dirty="0" smtClean="0"/>
              <a:t>Difficult circumstances </a:t>
            </a:r>
            <a:endParaRPr lang="en-AU" b="1" dirty="0" smtClean="0"/>
          </a:p>
          <a:p>
            <a:r>
              <a:rPr lang="en-GB" b="1" dirty="0" smtClean="0"/>
              <a:t>Category 4</a:t>
            </a:r>
            <a:r>
              <a:rPr lang="en-GB" dirty="0" smtClean="0"/>
              <a:t>: Disadvantage financial background </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SEAS categories include: </a:t>
            </a:r>
            <a:endParaRPr lang="en-US" dirty="0"/>
          </a:p>
        </p:txBody>
      </p:sp>
      <p:sp>
        <p:nvSpPr>
          <p:cNvPr id="3" name="Content Placeholder 2"/>
          <p:cNvSpPr>
            <a:spLocks noGrp="1"/>
          </p:cNvSpPr>
          <p:nvPr>
            <p:ph idx="1"/>
          </p:nvPr>
        </p:nvSpPr>
        <p:spPr/>
        <p:txBody>
          <a:bodyPr>
            <a:normAutofit/>
          </a:bodyPr>
          <a:lstStyle/>
          <a:p>
            <a:r>
              <a:rPr lang="en-GB" sz="2400" b="1" dirty="0" smtClean="0"/>
              <a:t>Category 5: </a:t>
            </a:r>
            <a:r>
              <a:rPr lang="en-GB" sz="2400" dirty="0" smtClean="0"/>
              <a:t>Disability or medical condition</a:t>
            </a:r>
          </a:p>
          <a:p>
            <a:r>
              <a:rPr lang="en-GB" sz="2400" b="1" dirty="0" smtClean="0"/>
              <a:t>Category 6: </a:t>
            </a:r>
            <a:endParaRPr lang="en-GB" sz="2400" dirty="0" smtClean="0"/>
          </a:p>
          <a:p>
            <a:pPr lvl="1"/>
            <a:r>
              <a:rPr lang="en-GB" sz="2400" dirty="0" smtClean="0"/>
              <a:t>Schools Access La Trobe (SALT)</a:t>
            </a:r>
          </a:p>
          <a:p>
            <a:pPr lvl="1"/>
            <a:r>
              <a:rPr lang="en-GB" sz="2400" dirty="0" smtClean="0"/>
              <a:t>University of </a:t>
            </a:r>
            <a:r>
              <a:rPr lang="en-GB" sz="2400" dirty="0" err="1" smtClean="0"/>
              <a:t>Ballarat</a:t>
            </a:r>
            <a:r>
              <a:rPr lang="en-GB" sz="2400" dirty="0" smtClean="0"/>
              <a:t> (REEP)</a:t>
            </a:r>
          </a:p>
          <a:p>
            <a:pPr lvl="1"/>
            <a:r>
              <a:rPr lang="en-GB" sz="2400" dirty="0" smtClean="0"/>
              <a:t>Victoria University (PPP) schemes.</a:t>
            </a:r>
          </a:p>
          <a:p>
            <a:r>
              <a:rPr lang="en-GB" sz="2400" b="1" dirty="0" smtClean="0"/>
              <a:t>Other institutions </a:t>
            </a:r>
            <a:r>
              <a:rPr lang="en-GB" sz="2400" dirty="0" smtClean="0"/>
              <a:t>recognise these factors, but take their applications via Category 1. </a:t>
            </a:r>
          </a:p>
          <a:p>
            <a:pPr>
              <a:buNone/>
            </a:pPr>
            <a:r>
              <a:rPr lang="en-GB" sz="2400" dirty="0" smtClean="0"/>
              <a:t>	Applicants should apply for Category 1 to be considered for other university under-represented schools schemes.</a:t>
            </a:r>
            <a:endParaRPr lang="en-AU" sz="2400" b="1" dirty="0" smtClean="0"/>
          </a:p>
          <a:p>
            <a:pPr>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476672"/>
            <a:ext cx="5364088" cy="1066800"/>
          </a:xfrm>
        </p:spPr>
        <p:txBody>
          <a:bodyPr/>
          <a:lstStyle/>
          <a:p>
            <a:r>
              <a:rPr lang="en-AU" dirty="0" smtClean="0"/>
              <a:t>Scholarships </a:t>
            </a:r>
            <a:endParaRPr lang="en-US" dirty="0"/>
          </a:p>
        </p:txBody>
      </p:sp>
      <p:sp>
        <p:nvSpPr>
          <p:cNvPr id="3" name="Content Placeholder 2"/>
          <p:cNvSpPr>
            <a:spLocks noGrp="1"/>
          </p:cNvSpPr>
          <p:nvPr>
            <p:ph idx="1"/>
          </p:nvPr>
        </p:nvSpPr>
        <p:spPr>
          <a:xfrm>
            <a:off x="323528" y="1628800"/>
            <a:ext cx="8229600" cy="4325112"/>
          </a:xfrm>
        </p:spPr>
        <p:txBody>
          <a:bodyPr>
            <a:normAutofit fontScale="92500" lnSpcReduction="20000"/>
          </a:bodyPr>
          <a:lstStyle/>
          <a:p>
            <a:r>
              <a:rPr lang="en-GB" sz="2400" dirty="0" smtClean="0"/>
              <a:t>The scholarships application: </a:t>
            </a:r>
          </a:p>
          <a:p>
            <a:pPr lvl="1"/>
            <a:r>
              <a:rPr lang="en-GB" sz="2000" dirty="0" smtClean="0"/>
              <a:t>Opens 9.00am Monday 6 August</a:t>
            </a:r>
            <a:br>
              <a:rPr lang="en-GB" sz="2000" dirty="0" smtClean="0"/>
            </a:br>
            <a:r>
              <a:rPr lang="en-GB" sz="2000" dirty="0" smtClean="0"/>
              <a:t>Closes 5.00pm Friday 19 October 2012</a:t>
            </a:r>
          </a:p>
          <a:p>
            <a:pPr lvl="1">
              <a:buNone/>
            </a:pPr>
            <a:endParaRPr lang="en-GB" sz="2000" dirty="0" smtClean="0"/>
          </a:p>
          <a:p>
            <a:r>
              <a:rPr lang="en-GB" sz="2400" dirty="0" smtClean="0"/>
              <a:t>All students are encouraged to apply - let the system sort out if you are eligible or not. </a:t>
            </a:r>
          </a:p>
          <a:p>
            <a:endParaRPr lang="en-GB" sz="2400" dirty="0" smtClean="0"/>
          </a:p>
          <a:p>
            <a:r>
              <a:rPr lang="en-GB" sz="2400" dirty="0" smtClean="0"/>
              <a:t>Victorian universities provide their own scholarships to assist students both through VTAC and directly. </a:t>
            </a:r>
          </a:p>
          <a:p>
            <a:endParaRPr lang="en-GB" sz="2400" b="1" dirty="0" smtClean="0"/>
          </a:p>
          <a:p>
            <a:r>
              <a:rPr lang="en-GB" sz="2400" dirty="0" smtClean="0"/>
              <a:t>Scholarships determined via the VTAC scholarships application may be awarded to: </a:t>
            </a:r>
          </a:p>
          <a:p>
            <a:pPr lvl="1"/>
            <a:r>
              <a:rPr lang="en-GB" sz="2000" dirty="0" smtClean="0"/>
              <a:t>students suffering with financial difficulties</a:t>
            </a:r>
          </a:p>
          <a:p>
            <a:pPr lvl="1"/>
            <a:r>
              <a:rPr lang="en-GB" sz="2000" dirty="0" smtClean="0"/>
              <a:t>Indigenous Australians and </a:t>
            </a:r>
          </a:p>
          <a:p>
            <a:pPr lvl="1"/>
            <a:r>
              <a:rPr lang="en-GB" sz="2000" dirty="0" smtClean="0"/>
              <a:t>other equity and access groups as defined by each institution. </a:t>
            </a:r>
            <a:endParaRPr lang="en-AU" sz="2000" dirty="0" smtClean="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476672"/>
            <a:ext cx="4834880" cy="1066800"/>
          </a:xfrm>
        </p:spPr>
        <p:txBody>
          <a:bodyPr>
            <a:normAutofit/>
          </a:bodyPr>
          <a:lstStyle/>
          <a:p>
            <a:r>
              <a:rPr lang="en-AU" sz="3200" dirty="0" smtClean="0">
                <a:solidFill>
                  <a:schemeClr val="accent3">
                    <a:lumMod val="50000"/>
                  </a:schemeClr>
                </a:solidFill>
              </a:rPr>
              <a:t>The Australian Tertiary </a:t>
            </a:r>
            <a:br>
              <a:rPr lang="en-AU" sz="3200" dirty="0" smtClean="0">
                <a:solidFill>
                  <a:schemeClr val="accent3">
                    <a:lumMod val="50000"/>
                  </a:schemeClr>
                </a:solidFill>
              </a:rPr>
            </a:br>
            <a:r>
              <a:rPr lang="en-AU" sz="3200" dirty="0" smtClean="0">
                <a:solidFill>
                  <a:schemeClr val="accent3">
                    <a:lumMod val="50000"/>
                  </a:schemeClr>
                </a:solidFill>
              </a:rPr>
              <a:t>Admission Rank (ATAR)</a:t>
            </a:r>
            <a:endParaRPr lang="en-US" sz="3200" dirty="0"/>
          </a:p>
        </p:txBody>
      </p:sp>
      <p:sp>
        <p:nvSpPr>
          <p:cNvPr id="3" name="Content Placeholder 2"/>
          <p:cNvSpPr>
            <a:spLocks noGrp="1"/>
          </p:cNvSpPr>
          <p:nvPr>
            <p:ph idx="1"/>
          </p:nvPr>
        </p:nvSpPr>
        <p:spPr>
          <a:xfrm>
            <a:off x="251520" y="1700808"/>
            <a:ext cx="8229600" cy="4325112"/>
          </a:xfrm>
        </p:spPr>
        <p:txBody>
          <a:bodyPr>
            <a:normAutofit fontScale="85000" lnSpcReduction="10000"/>
          </a:bodyPr>
          <a:lstStyle/>
          <a:p>
            <a:r>
              <a:rPr lang="en-GB" sz="2800" dirty="0" smtClean="0"/>
              <a:t>The ATAR: </a:t>
            </a:r>
          </a:p>
          <a:p>
            <a:pPr lvl="1"/>
            <a:r>
              <a:rPr lang="en-GB" sz="2800" dirty="0" smtClean="0"/>
              <a:t>Is not a score out of 100 it is reported as a rank between 0.00 and 99.95</a:t>
            </a:r>
          </a:p>
          <a:p>
            <a:pPr lvl="1"/>
            <a:r>
              <a:rPr lang="en-AU" sz="2800" dirty="0" smtClean="0"/>
              <a:t>Allows tertiary institutions to compare students who have completed different combinations of VCE studies. </a:t>
            </a:r>
          </a:p>
          <a:p>
            <a:pPr lvl="1"/>
            <a:r>
              <a:rPr lang="en-AU" sz="2800" dirty="0" smtClean="0"/>
              <a:t>Is calculated by VTAC solely for use by institutions.</a:t>
            </a:r>
          </a:p>
          <a:p>
            <a:pPr lvl="1">
              <a:buNone/>
            </a:pPr>
            <a:endParaRPr lang="en-AU" sz="2800" dirty="0" smtClean="0"/>
          </a:p>
          <a:p>
            <a:r>
              <a:rPr lang="en-AU" sz="2800" dirty="0" smtClean="0"/>
              <a:t>An ATAR of 75.00 means that a student with that ATAR has achieved VCE results that places them in the top 25% of the Year 12 age group.</a:t>
            </a:r>
            <a:br>
              <a:rPr lang="en-AU" sz="2800" dirty="0" smtClean="0"/>
            </a:br>
            <a:endParaRPr lang="en-GB" sz="2800" dirty="0" smtClean="0"/>
          </a:p>
          <a:p>
            <a:pPr lvl="1"/>
            <a:endParaRPr lang="en-US" dirty="0" smtClean="0"/>
          </a:p>
          <a:p>
            <a:pPr lvl="1"/>
            <a:endParaRPr lang="en-US" dirty="0"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3" cstate="print"/>
          <a:srcRect l="11019" t="18993" r="8066" b="21946"/>
          <a:stretch>
            <a:fillRect/>
          </a:stretch>
        </p:blipFill>
        <p:spPr bwMode="auto">
          <a:xfrm>
            <a:off x="19773" y="1529985"/>
            <a:ext cx="9124227" cy="5328016"/>
          </a:xfrm>
          <a:prstGeom prst="rect">
            <a:avLst/>
          </a:prstGeom>
          <a:noFill/>
          <a:ln w="9525">
            <a:noFill/>
            <a:miter lim="800000"/>
            <a:headEnd/>
            <a:tailEnd/>
          </a:ln>
        </p:spPr>
      </p:pic>
      <p:cxnSp>
        <p:nvCxnSpPr>
          <p:cNvPr id="3" name="Straight Connector 2"/>
          <p:cNvCxnSpPr/>
          <p:nvPr/>
        </p:nvCxnSpPr>
        <p:spPr>
          <a:xfrm>
            <a:off x="0" y="5013176"/>
            <a:ext cx="91440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0" y="5949280"/>
            <a:ext cx="91440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Title 6"/>
          <p:cNvSpPr>
            <a:spLocks noGrp="1"/>
          </p:cNvSpPr>
          <p:nvPr>
            <p:ph type="title"/>
          </p:nvPr>
        </p:nvSpPr>
        <p:spPr>
          <a:xfrm>
            <a:off x="0" y="476674"/>
            <a:ext cx="5364088" cy="936104"/>
          </a:xfrm>
        </p:spPr>
        <p:txBody>
          <a:bodyPr>
            <a:normAutofit/>
          </a:bodyPr>
          <a:lstStyle/>
          <a:p>
            <a:r>
              <a:rPr lang="en-AU" dirty="0" smtClean="0"/>
              <a:t>The ATAR continued…</a:t>
            </a:r>
            <a:endParaRPr lang="en-AU"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76672"/>
            <a:ext cx="5364088" cy="1066800"/>
          </a:xfrm>
        </p:spPr>
        <p:txBody>
          <a:bodyPr/>
          <a:lstStyle/>
          <a:p>
            <a:r>
              <a:rPr lang="en-AU" dirty="0" smtClean="0"/>
              <a:t>The ATAR continued</a:t>
            </a:r>
            <a:endParaRPr lang="en-AU" dirty="0"/>
          </a:p>
        </p:txBody>
      </p:sp>
      <p:sp>
        <p:nvSpPr>
          <p:cNvPr id="3" name="Content Placeholder 2"/>
          <p:cNvSpPr>
            <a:spLocks noGrp="1"/>
          </p:cNvSpPr>
          <p:nvPr>
            <p:ph idx="1"/>
          </p:nvPr>
        </p:nvSpPr>
        <p:spPr>
          <a:xfrm>
            <a:off x="395536" y="1628800"/>
            <a:ext cx="8229600" cy="4608512"/>
          </a:xfrm>
        </p:spPr>
        <p:txBody>
          <a:bodyPr>
            <a:normAutofit fontScale="92500" lnSpcReduction="10000"/>
          </a:bodyPr>
          <a:lstStyle/>
          <a:p>
            <a:r>
              <a:rPr lang="en-AU" sz="2400" b="1" dirty="0" smtClean="0"/>
              <a:t>To qualify for an ATAR a student must: </a:t>
            </a:r>
          </a:p>
          <a:p>
            <a:pPr lvl="1"/>
            <a:r>
              <a:rPr lang="en-AU" sz="2000" dirty="0" smtClean="0"/>
              <a:t>qualify for the VCE</a:t>
            </a:r>
          </a:p>
          <a:p>
            <a:pPr lvl="1"/>
            <a:r>
              <a:rPr lang="en-AU" sz="2000" dirty="0" smtClean="0"/>
              <a:t>achieve study scores in at least four permissible Unit 3 and 4 VCE studies, including one from the English group</a:t>
            </a:r>
          </a:p>
          <a:p>
            <a:pPr lvl="1">
              <a:buNone/>
            </a:pPr>
            <a:endParaRPr lang="en-AU" sz="2000" dirty="0" smtClean="0"/>
          </a:p>
          <a:p>
            <a:r>
              <a:rPr lang="en-AU" sz="2200" b="1" dirty="0" smtClean="0"/>
              <a:t>ATARs are released to students: </a:t>
            </a:r>
          </a:p>
          <a:p>
            <a:pPr lvl="1"/>
            <a:r>
              <a:rPr lang="en-AU" dirty="0" smtClean="0"/>
              <a:t>Monday 17 December 2012 from 7am. </a:t>
            </a:r>
          </a:p>
          <a:p>
            <a:pPr lvl="1"/>
            <a:r>
              <a:rPr lang="en-AU" dirty="0" smtClean="0"/>
              <a:t>All students who are eligible to receive an ATAR, irrespective of whether or not they have applied, can access their ATAR online or via SMS. Two ways to access the ATAR on that day: </a:t>
            </a:r>
          </a:p>
          <a:p>
            <a:pPr lvl="2"/>
            <a:r>
              <a:rPr lang="en-AU" dirty="0" smtClean="0"/>
              <a:t>Internet at </a:t>
            </a:r>
            <a:r>
              <a:rPr lang="en-AU" dirty="0" err="1" smtClean="0">
                <a:hlinkClick r:id="rId3" action="ppaction://hlinkfile"/>
              </a:rPr>
              <a:t>resultsandatar.vic.edu.au</a:t>
            </a:r>
            <a:endParaRPr lang="en-AU" dirty="0" smtClean="0"/>
          </a:p>
          <a:p>
            <a:pPr lvl="2"/>
            <a:r>
              <a:rPr lang="en-AU" dirty="0" smtClean="0"/>
              <a:t>SMS – must preregister for instructions go to </a:t>
            </a:r>
            <a:r>
              <a:rPr lang="en-AU" dirty="0" err="1" smtClean="0">
                <a:hlinkClick r:id="rId4"/>
              </a:rPr>
              <a:t>www.vtac.edu.au/sms</a:t>
            </a:r>
            <a:r>
              <a:rPr lang="en-AU" dirty="0" smtClean="0"/>
              <a:t> </a:t>
            </a:r>
          </a:p>
          <a:p>
            <a:endParaRPr lang="en-AU" sz="2200" dirty="0" smtClean="0"/>
          </a:p>
          <a:p>
            <a:pPr lvl="1">
              <a:buNone/>
            </a:pPr>
            <a:endParaRPr lang="en-GB" sz="2000" b="1"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76672"/>
            <a:ext cx="5292080" cy="1066800"/>
          </a:xfrm>
        </p:spPr>
        <p:txBody>
          <a:bodyPr/>
          <a:lstStyle/>
          <a:p>
            <a:r>
              <a:rPr lang="en-AU" dirty="0" smtClean="0"/>
              <a:t>Change of preference</a:t>
            </a:r>
            <a:endParaRPr lang="en-AU" dirty="0"/>
          </a:p>
        </p:txBody>
      </p:sp>
      <p:sp>
        <p:nvSpPr>
          <p:cNvPr id="3" name="Content Placeholder 2"/>
          <p:cNvSpPr>
            <a:spLocks noGrp="1"/>
          </p:cNvSpPr>
          <p:nvPr>
            <p:ph idx="1"/>
          </p:nvPr>
        </p:nvSpPr>
        <p:spPr>
          <a:xfrm>
            <a:off x="251520" y="1628800"/>
            <a:ext cx="8229600" cy="4325112"/>
          </a:xfrm>
        </p:spPr>
        <p:txBody>
          <a:bodyPr>
            <a:normAutofit lnSpcReduction="10000"/>
          </a:bodyPr>
          <a:lstStyle/>
          <a:p>
            <a:r>
              <a:rPr lang="en-AU" dirty="0" smtClean="0"/>
              <a:t>Change of preference opens on Monday 17 December 2012 at 11am. </a:t>
            </a:r>
            <a:br>
              <a:rPr lang="en-AU" dirty="0" smtClean="0"/>
            </a:br>
            <a:endParaRPr lang="en-AU" dirty="0" smtClean="0"/>
          </a:p>
          <a:p>
            <a:r>
              <a:rPr lang="en-AU" dirty="0" smtClean="0"/>
              <a:t>All students are able to change their course preferences up until 12noon Monday 24 December 2012. </a:t>
            </a:r>
            <a:br>
              <a:rPr lang="en-AU" dirty="0" smtClean="0"/>
            </a:br>
            <a:endParaRPr lang="en-AU" dirty="0" smtClean="0"/>
          </a:p>
          <a:p>
            <a:r>
              <a:rPr lang="en-AU" dirty="0" smtClean="0"/>
              <a:t>Institutional change of preference days, these are worth checking out (see December 2012 Bulletin). </a:t>
            </a:r>
          </a:p>
          <a:p>
            <a:endParaRPr lang="en-AU"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476672"/>
            <a:ext cx="5112568" cy="1066800"/>
          </a:xfrm>
        </p:spPr>
        <p:txBody>
          <a:bodyPr>
            <a:normAutofit fontScale="90000"/>
          </a:bodyPr>
          <a:lstStyle/>
          <a:p>
            <a:r>
              <a:rPr lang="en-AU" dirty="0" smtClean="0"/>
              <a:t>Golden rules of change of preference </a:t>
            </a:r>
            <a:endParaRPr lang="en-AU" dirty="0"/>
          </a:p>
        </p:txBody>
      </p:sp>
      <p:sp>
        <p:nvSpPr>
          <p:cNvPr id="3" name="Content Placeholder 2"/>
          <p:cNvSpPr>
            <a:spLocks noGrp="1"/>
          </p:cNvSpPr>
          <p:nvPr>
            <p:ph idx="1"/>
          </p:nvPr>
        </p:nvSpPr>
        <p:spPr>
          <a:xfrm>
            <a:off x="395536" y="1772816"/>
            <a:ext cx="8229600" cy="4325112"/>
          </a:xfrm>
        </p:spPr>
        <p:txBody>
          <a:bodyPr/>
          <a:lstStyle/>
          <a:p>
            <a:r>
              <a:rPr lang="en-AU" dirty="0" smtClean="0"/>
              <a:t>Before changing preferences students should check: </a:t>
            </a:r>
          </a:p>
          <a:p>
            <a:pPr lvl="1"/>
            <a:r>
              <a:rPr lang="en-AU" dirty="0" smtClean="0"/>
              <a:t>Last years selection data – don’t panic if the ATAR is slightly lower, still put it down. Selection data fluctuates annually. </a:t>
            </a:r>
          </a:p>
          <a:p>
            <a:pPr lvl="1"/>
            <a:r>
              <a:rPr lang="en-AU" dirty="0" smtClean="0"/>
              <a:t>Extra requirements to make sure they are complete </a:t>
            </a:r>
          </a:p>
          <a:p>
            <a:pPr lvl="1"/>
            <a:r>
              <a:rPr lang="en-AU" dirty="0" smtClean="0"/>
              <a:t>Prerequisites – to make sure they meet them. </a:t>
            </a:r>
          </a:p>
          <a:p>
            <a:endParaRPr lang="en-AU"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476672"/>
            <a:ext cx="4968552" cy="1066800"/>
          </a:xfrm>
        </p:spPr>
        <p:txBody>
          <a:bodyPr>
            <a:normAutofit fontScale="90000"/>
          </a:bodyPr>
          <a:lstStyle/>
          <a:p>
            <a:r>
              <a:rPr lang="en-AU" dirty="0" smtClean="0"/>
              <a:t>How to read selection data </a:t>
            </a:r>
            <a:endParaRPr lang="en-AU" dirty="0"/>
          </a:p>
        </p:txBody>
      </p:sp>
      <p:pic>
        <p:nvPicPr>
          <p:cNvPr id="1026" name="Picture 2"/>
          <p:cNvPicPr>
            <a:picLocks noChangeAspect="1" noChangeArrowheads="1"/>
          </p:cNvPicPr>
          <p:nvPr/>
        </p:nvPicPr>
        <p:blipFill>
          <a:blip r:embed="rId3" cstate="print"/>
          <a:srcRect l="1862" t="26297" r="65561" b="64105"/>
          <a:stretch>
            <a:fillRect/>
          </a:stretch>
        </p:blipFill>
        <p:spPr bwMode="auto">
          <a:xfrm>
            <a:off x="3851920" y="2132856"/>
            <a:ext cx="5040560" cy="1188000"/>
          </a:xfrm>
          <a:prstGeom prst="rect">
            <a:avLst/>
          </a:prstGeom>
          <a:noFill/>
          <a:ln w="9525">
            <a:noFill/>
            <a:miter lim="800000"/>
            <a:headEnd/>
            <a:tailEnd/>
          </a:ln>
        </p:spPr>
      </p:pic>
      <p:sp>
        <p:nvSpPr>
          <p:cNvPr id="5" name="TextBox 4"/>
          <p:cNvSpPr txBox="1"/>
          <p:nvPr/>
        </p:nvSpPr>
        <p:spPr>
          <a:xfrm>
            <a:off x="251520" y="1700808"/>
            <a:ext cx="3600400" cy="3970318"/>
          </a:xfrm>
          <a:prstGeom prst="rect">
            <a:avLst/>
          </a:prstGeom>
          <a:noFill/>
        </p:spPr>
        <p:txBody>
          <a:bodyPr wrap="square" rtlCol="0">
            <a:spAutoFit/>
          </a:bodyPr>
          <a:lstStyle/>
          <a:p>
            <a:r>
              <a:rPr lang="en-AU" b="1" dirty="0" smtClean="0"/>
              <a:t>The Clearly in: </a:t>
            </a:r>
            <a:r>
              <a:rPr lang="en-AU" dirty="0" smtClean="0"/>
              <a:t>is the ATAR at or above which everyone who applied and was eligible for this course received an offer. </a:t>
            </a:r>
          </a:p>
          <a:p>
            <a:endParaRPr lang="en-AU" dirty="0" smtClean="0"/>
          </a:p>
          <a:p>
            <a:r>
              <a:rPr lang="en-AU" b="1" dirty="0" smtClean="0"/>
              <a:t>The % below </a:t>
            </a:r>
            <a:r>
              <a:rPr lang="en-AU" dirty="0" smtClean="0"/>
              <a:t>is the percentage of offers made to applicants with an ATAR lower than the clearly in. </a:t>
            </a:r>
          </a:p>
          <a:p>
            <a:r>
              <a:rPr lang="en-AU" dirty="0" smtClean="0"/>
              <a:t>This also gives you some idea on the percentage of people who had an ATAR lower than the clearly in but received bonuses to boost them up into the offered group. </a:t>
            </a:r>
            <a:endParaRPr lang="en-AU" dirty="0"/>
          </a:p>
        </p:txBody>
      </p:sp>
      <p:pic>
        <p:nvPicPr>
          <p:cNvPr id="1027" name="Picture 3"/>
          <p:cNvPicPr>
            <a:picLocks noChangeAspect="1" noChangeArrowheads="1"/>
          </p:cNvPicPr>
          <p:nvPr/>
        </p:nvPicPr>
        <p:blipFill>
          <a:blip r:embed="rId4" cstate="print"/>
          <a:srcRect l="2160" t="40402" r="65356" b="50000"/>
          <a:stretch>
            <a:fillRect/>
          </a:stretch>
        </p:blipFill>
        <p:spPr bwMode="auto">
          <a:xfrm>
            <a:off x="3923928" y="4437112"/>
            <a:ext cx="5107029" cy="1224136"/>
          </a:xfrm>
          <a:prstGeom prst="rect">
            <a:avLst/>
          </a:prstGeom>
          <a:noFill/>
          <a:ln w="9525">
            <a:noFill/>
            <a:miter lim="800000"/>
            <a:headEnd/>
            <a:tailEnd/>
          </a:ln>
        </p:spPr>
      </p:pic>
      <p:sp>
        <p:nvSpPr>
          <p:cNvPr id="6" name="TextBox 5"/>
          <p:cNvSpPr txBox="1"/>
          <p:nvPr/>
        </p:nvSpPr>
        <p:spPr>
          <a:xfrm>
            <a:off x="3923928" y="2204864"/>
            <a:ext cx="86409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endParaRPr lang="en-AU" dirty="0"/>
          </a:p>
        </p:txBody>
      </p:sp>
      <p:sp>
        <p:nvSpPr>
          <p:cNvPr id="7" name="TextBox 6"/>
          <p:cNvSpPr txBox="1"/>
          <p:nvPr/>
        </p:nvSpPr>
        <p:spPr>
          <a:xfrm>
            <a:off x="3923928" y="4437112"/>
            <a:ext cx="936104"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endParaRPr lang="en-AU"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04664"/>
            <a:ext cx="5436096" cy="1066800"/>
          </a:xfrm>
        </p:spPr>
        <p:txBody>
          <a:bodyPr/>
          <a:lstStyle/>
          <a:p>
            <a:r>
              <a:rPr lang="en-AU" dirty="0" smtClean="0"/>
              <a:t>The offer Rounds</a:t>
            </a:r>
            <a:endParaRPr lang="en-AU" dirty="0"/>
          </a:p>
        </p:txBody>
      </p:sp>
      <p:sp>
        <p:nvSpPr>
          <p:cNvPr id="3" name="Content Placeholder 2"/>
          <p:cNvSpPr>
            <a:spLocks noGrp="1"/>
          </p:cNvSpPr>
          <p:nvPr>
            <p:ph idx="1"/>
          </p:nvPr>
        </p:nvSpPr>
        <p:spPr>
          <a:xfrm>
            <a:off x="395536" y="1484784"/>
            <a:ext cx="8229600" cy="4325112"/>
          </a:xfrm>
        </p:spPr>
        <p:txBody>
          <a:bodyPr>
            <a:normAutofit lnSpcReduction="10000"/>
          </a:bodyPr>
          <a:lstStyle/>
          <a:p>
            <a:r>
              <a:rPr lang="en-GB" sz="2400" dirty="0" smtClean="0"/>
              <a:t>If students do not pay their processing fee they won’t be considered for offers. </a:t>
            </a:r>
          </a:p>
          <a:p>
            <a:r>
              <a:rPr lang="en-GB" sz="2400" dirty="0" smtClean="0"/>
              <a:t>All offers are provisional </a:t>
            </a:r>
            <a:r>
              <a:rPr lang="en-AU" sz="2400" dirty="0" smtClean="0"/>
              <a:t>and subject to accurate information being supplied by the applicant. </a:t>
            </a:r>
            <a:endParaRPr lang="en-GB" sz="2400" dirty="0" smtClean="0"/>
          </a:p>
          <a:p>
            <a:r>
              <a:rPr lang="en-GB" sz="2400" dirty="0" smtClean="0"/>
              <a:t>Rounds of offers: </a:t>
            </a:r>
          </a:p>
          <a:p>
            <a:pPr lvl="1"/>
            <a:r>
              <a:rPr lang="en-GB" sz="2000" dirty="0" smtClean="0"/>
              <a:t>Early round offers – for non-year 12 applicants </a:t>
            </a:r>
          </a:p>
          <a:p>
            <a:pPr lvl="1"/>
            <a:r>
              <a:rPr lang="en-GB" sz="2000" dirty="0" smtClean="0"/>
              <a:t>International VCE and Victorian IB round </a:t>
            </a:r>
          </a:p>
          <a:p>
            <a:pPr lvl="1"/>
            <a:r>
              <a:rPr lang="en-GB" sz="2000" dirty="0" smtClean="0"/>
              <a:t>Main round offers – majority of offers to all applicants at any preference for graduate entry teaching and undergraduate places. </a:t>
            </a:r>
          </a:p>
          <a:p>
            <a:pPr lvl="1"/>
            <a:r>
              <a:rPr lang="en-GB" sz="2000" dirty="0" smtClean="0"/>
              <a:t>Round two offers – smaller number of offers – filling places </a:t>
            </a:r>
          </a:p>
          <a:p>
            <a:pPr lvl="1"/>
            <a:r>
              <a:rPr lang="en-GB" sz="2000" dirty="0" smtClean="0"/>
              <a:t>After round 1: </a:t>
            </a:r>
          </a:p>
          <a:p>
            <a:pPr lvl="2"/>
            <a:r>
              <a:rPr lang="en-GB" sz="1800" dirty="0" smtClean="0"/>
              <a:t>Negotiated offer (for all applicants) </a:t>
            </a:r>
          </a:p>
          <a:p>
            <a:pPr lvl="2"/>
            <a:r>
              <a:rPr lang="en-GB" sz="1800" dirty="0" smtClean="0"/>
              <a:t>Supplementary offers (for all applicants) </a:t>
            </a:r>
            <a:endParaRPr lang="en-AU" sz="1800" dirty="0" smtClean="0"/>
          </a:p>
          <a:p>
            <a:endParaRPr lang="en-AU"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76672"/>
            <a:ext cx="5436096" cy="1066800"/>
          </a:xfrm>
        </p:spPr>
        <p:txBody>
          <a:bodyPr>
            <a:normAutofit/>
          </a:bodyPr>
          <a:lstStyle/>
          <a:p>
            <a:r>
              <a:rPr lang="en-AU" dirty="0" smtClean="0"/>
              <a:t>Offers continued…</a:t>
            </a:r>
            <a:endParaRPr lang="en-AU" dirty="0"/>
          </a:p>
        </p:txBody>
      </p:sp>
      <p:sp>
        <p:nvSpPr>
          <p:cNvPr id="3" name="Content Placeholder 2"/>
          <p:cNvSpPr>
            <a:spLocks noGrp="1"/>
          </p:cNvSpPr>
          <p:nvPr>
            <p:ph idx="1"/>
          </p:nvPr>
        </p:nvSpPr>
        <p:spPr>
          <a:xfrm>
            <a:off x="323528" y="1484785"/>
            <a:ext cx="8229600" cy="4608512"/>
          </a:xfrm>
        </p:spPr>
        <p:txBody>
          <a:bodyPr>
            <a:normAutofit/>
          </a:bodyPr>
          <a:lstStyle/>
          <a:p>
            <a:pPr marL="342900" lvl="0" indent="-342900">
              <a:spcBef>
                <a:spcPct val="20000"/>
              </a:spcBef>
              <a:buClrTx/>
              <a:buSzTx/>
              <a:buFont typeface="Arial" pitchFamily="34" charset="0"/>
              <a:buChar char="•"/>
              <a:defRPr/>
            </a:pPr>
            <a:r>
              <a:rPr lang="en-AU" dirty="0" smtClean="0"/>
              <a:t>Always accept an offer you receive </a:t>
            </a:r>
          </a:p>
          <a:p>
            <a:pPr marL="342900" lvl="0" indent="-342900">
              <a:spcBef>
                <a:spcPct val="20000"/>
              </a:spcBef>
              <a:buClrTx/>
              <a:buSzTx/>
              <a:buFont typeface="Arial" pitchFamily="34" charset="0"/>
              <a:buChar char="•"/>
              <a:defRPr/>
            </a:pPr>
            <a:r>
              <a:rPr lang="en-AU" dirty="0" smtClean="0"/>
              <a:t>Never wait to see if you get a better offer in round two </a:t>
            </a:r>
          </a:p>
          <a:p>
            <a:pPr marL="342900" lvl="0" indent="-342900">
              <a:spcBef>
                <a:spcPct val="20000"/>
              </a:spcBef>
              <a:buClrTx/>
              <a:buSzTx/>
              <a:buFont typeface="Arial" pitchFamily="34" charset="0"/>
              <a:buChar char="•"/>
              <a:defRPr/>
            </a:pPr>
            <a:r>
              <a:rPr lang="en-AU" dirty="0" smtClean="0"/>
              <a:t>If you don’t accept any of the offers you have been made, you are not eligible for a supplementary offer </a:t>
            </a:r>
          </a:p>
          <a:p>
            <a:pPr marL="342900" lvl="0" indent="-342900">
              <a:spcBef>
                <a:spcPct val="20000"/>
              </a:spcBef>
              <a:buClrTx/>
              <a:buSzTx/>
              <a:buFont typeface="Arial" pitchFamily="34" charset="0"/>
              <a:buChar char="•"/>
              <a:defRPr/>
            </a:pPr>
            <a:r>
              <a:rPr lang="en-AU" dirty="0" smtClean="0"/>
              <a:t>Negotiated offers are no guarantee for an offer, unless the institution accepts you </a:t>
            </a:r>
          </a:p>
          <a:p>
            <a:endParaRPr lang="en-AU"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76672"/>
            <a:ext cx="5364088" cy="1066800"/>
          </a:xfrm>
        </p:spPr>
        <p:txBody>
          <a:bodyPr/>
          <a:lstStyle/>
          <a:p>
            <a:r>
              <a:rPr lang="en-AU" dirty="0" smtClean="0"/>
              <a:t>  Negotiated offers</a:t>
            </a:r>
            <a:endParaRPr lang="en-AU" dirty="0"/>
          </a:p>
        </p:txBody>
      </p:sp>
      <p:sp>
        <p:nvSpPr>
          <p:cNvPr id="3" name="Content Placeholder 2"/>
          <p:cNvSpPr>
            <a:spLocks noGrp="1"/>
          </p:cNvSpPr>
          <p:nvPr>
            <p:ph idx="1"/>
          </p:nvPr>
        </p:nvSpPr>
        <p:spPr>
          <a:xfrm>
            <a:off x="395536" y="1628800"/>
            <a:ext cx="8229600" cy="4325112"/>
          </a:xfrm>
        </p:spPr>
        <p:txBody>
          <a:bodyPr>
            <a:normAutofit lnSpcReduction="10000"/>
          </a:bodyPr>
          <a:lstStyle/>
          <a:p>
            <a:r>
              <a:rPr lang="en-GB" sz="2400" dirty="0" smtClean="0"/>
              <a:t>Ensure course requirements have been met, including extra requirements such as interviews, folios etc. </a:t>
            </a:r>
          </a:p>
          <a:p>
            <a:r>
              <a:rPr lang="en-GB" sz="2400" dirty="0" smtClean="0"/>
              <a:t>Check place availability with the course selection officer and what additional documentation you may have to provide. Then: </a:t>
            </a:r>
          </a:p>
          <a:p>
            <a:r>
              <a:rPr lang="en-GB" sz="2400" dirty="0" smtClean="0"/>
              <a:t>Complete the negotiated offer request in the VTAC user account </a:t>
            </a:r>
          </a:p>
          <a:p>
            <a:pPr lvl="2"/>
            <a:r>
              <a:rPr lang="en-GB" sz="1800" dirty="0" smtClean="0"/>
              <a:t>If the status is pending, the student can choose to change their course request. </a:t>
            </a:r>
          </a:p>
          <a:p>
            <a:pPr lvl="2"/>
            <a:r>
              <a:rPr lang="en-GB" sz="1800" dirty="0" smtClean="0"/>
              <a:t>If the status is approved, the student will receive an offer in the next round and is not eligible for any further offers. </a:t>
            </a:r>
          </a:p>
          <a:p>
            <a:pPr lvl="2"/>
            <a:r>
              <a:rPr lang="en-GB" sz="1800" dirty="0" smtClean="0"/>
              <a:t>If the status is rejected the student can submit another request for another course. </a:t>
            </a:r>
          </a:p>
          <a:p>
            <a:endParaRPr lang="en-AU"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76672"/>
            <a:ext cx="5364088" cy="1066800"/>
          </a:xfrm>
        </p:spPr>
        <p:txBody>
          <a:bodyPr/>
          <a:lstStyle/>
          <a:p>
            <a:r>
              <a:rPr lang="en-AU" dirty="0" smtClean="0"/>
              <a:t>Supplementary offers</a:t>
            </a:r>
            <a:endParaRPr lang="en-AU" dirty="0"/>
          </a:p>
        </p:txBody>
      </p:sp>
      <p:sp>
        <p:nvSpPr>
          <p:cNvPr id="3" name="Content Placeholder 2"/>
          <p:cNvSpPr>
            <a:spLocks noGrp="1"/>
          </p:cNvSpPr>
          <p:nvPr>
            <p:ph idx="1"/>
          </p:nvPr>
        </p:nvSpPr>
        <p:spPr>
          <a:xfrm>
            <a:off x="323528" y="1484784"/>
            <a:ext cx="8229600" cy="4325112"/>
          </a:xfrm>
        </p:spPr>
        <p:txBody>
          <a:bodyPr>
            <a:normAutofit/>
          </a:bodyPr>
          <a:lstStyle/>
          <a:p>
            <a:r>
              <a:rPr lang="en-GB" sz="2400" dirty="0" smtClean="0"/>
              <a:t>Some institutions may make supplementary offers after Round 2 if they have places available. </a:t>
            </a:r>
          </a:p>
          <a:p>
            <a:r>
              <a:rPr lang="en-GB" sz="2400" dirty="0" smtClean="0"/>
              <a:t>Applicants may receive supplementary offers if they: </a:t>
            </a:r>
          </a:p>
          <a:p>
            <a:pPr lvl="1"/>
            <a:r>
              <a:rPr lang="en-GB" sz="2200" dirty="0" smtClean="0"/>
              <a:t>Have not received an offer in a previous round </a:t>
            </a:r>
          </a:p>
          <a:p>
            <a:pPr lvl="1"/>
            <a:r>
              <a:rPr lang="en-GB" sz="2200" dirty="0" smtClean="0"/>
              <a:t>Have given VTAC and have </a:t>
            </a:r>
            <a:r>
              <a:rPr lang="en-GB" sz="2000" dirty="0" smtClean="0"/>
              <a:t>not been granted a negotiated offer</a:t>
            </a:r>
          </a:p>
          <a:p>
            <a:pPr lvl="1"/>
            <a:r>
              <a:rPr lang="en-GB" sz="2000" dirty="0" smtClean="0"/>
              <a:t>Note: if you son or daughter rejects an offer, they are not eligible for a supplementary offer</a:t>
            </a:r>
          </a:p>
          <a:p>
            <a:r>
              <a:rPr lang="en-GB" sz="2400" dirty="0" smtClean="0"/>
              <a:t>Supplementary offers are processed weekly </a:t>
            </a:r>
            <a:endParaRPr lang="en-AU" sz="2400" dirty="0" smtClean="0"/>
          </a:p>
          <a:p>
            <a:pPr lvl="1"/>
            <a:r>
              <a:rPr lang="en-GB" sz="2000" dirty="0" smtClean="0"/>
              <a:t>Applicants may receive two or more offers at the same time</a:t>
            </a:r>
          </a:p>
          <a:p>
            <a:pPr lvl="1"/>
            <a:r>
              <a:rPr lang="en-GB" sz="2000" dirty="0" smtClean="0"/>
              <a:t>Applicants will need to decide which offer to accept </a:t>
            </a:r>
            <a:endParaRPr lang="en-AU" sz="2000" dirty="0" smtClean="0"/>
          </a:p>
          <a:p>
            <a:endParaRPr lang="en-AU"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1339</TotalTime>
  <Words>3799</Words>
  <Application>Microsoft Office PowerPoint</Application>
  <PresentationFormat>On-screen Show (4:3)</PresentationFormat>
  <Paragraphs>433</Paragraphs>
  <Slides>32</Slides>
  <Notes>32</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Urban</vt:lpstr>
      <vt:lpstr>Victorian Tertiary Admissions Centre</vt:lpstr>
      <vt:lpstr>What is VTAC?</vt:lpstr>
      <vt:lpstr>Resources </vt:lpstr>
      <vt:lpstr>Resources continued…</vt:lpstr>
      <vt:lpstr>Newspaper supplements</vt:lpstr>
      <vt:lpstr>What’s new in 2013</vt:lpstr>
      <vt:lpstr>What’s in the printed Guide </vt:lpstr>
      <vt:lpstr>Sample course entry in printed Guide </vt:lpstr>
      <vt:lpstr>Qualifications through VTAC </vt:lpstr>
      <vt:lpstr>VET and Higher education - colour coding </vt:lpstr>
      <vt:lpstr>Slide 11</vt:lpstr>
      <vt:lpstr>Slide 12</vt:lpstr>
      <vt:lpstr>Application process for courses through VTAC </vt:lpstr>
      <vt:lpstr>Courses via direct application </vt:lpstr>
      <vt:lpstr>The course application</vt:lpstr>
      <vt:lpstr>Slide 16</vt:lpstr>
      <vt:lpstr>Course application continued…</vt:lpstr>
      <vt:lpstr>Special consideration:  Special entry access schemes </vt:lpstr>
      <vt:lpstr>SEAS continued…</vt:lpstr>
      <vt:lpstr>SEAS categories include</vt:lpstr>
      <vt:lpstr>SEAS categories include: </vt:lpstr>
      <vt:lpstr>Scholarships </vt:lpstr>
      <vt:lpstr>The Australian Tertiary  Admission Rank (ATAR)</vt:lpstr>
      <vt:lpstr>The ATAR continued…</vt:lpstr>
      <vt:lpstr>The ATAR continued</vt:lpstr>
      <vt:lpstr>Change of preference</vt:lpstr>
      <vt:lpstr>Golden rules of change of preference </vt:lpstr>
      <vt:lpstr>How to read selection data </vt:lpstr>
      <vt:lpstr>The offer Rounds</vt:lpstr>
      <vt:lpstr>Offers continued…</vt:lpstr>
      <vt:lpstr>  Negotiated offers</vt:lpstr>
      <vt:lpstr>Supplementary offers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Adrian Blades</dc:creator>
  <cp:lastModifiedBy>suzanne.connelly</cp:lastModifiedBy>
  <cp:revision>212</cp:revision>
  <dcterms:created xsi:type="dcterms:W3CDTF">2011-07-14T12:18:01Z</dcterms:created>
  <dcterms:modified xsi:type="dcterms:W3CDTF">2012-07-23T01:24:18Z</dcterms:modified>
</cp:coreProperties>
</file>