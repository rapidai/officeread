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94" r:id="rId6"/>
    <p:sldId id="260" r:id="rId7"/>
    <p:sldId id="261" r:id="rId8"/>
    <p:sldId id="262" r:id="rId9"/>
    <p:sldId id="263" r:id="rId10"/>
    <p:sldId id="264" r:id="rId11"/>
    <p:sldId id="265" r:id="rId12"/>
    <p:sldId id="287" r:id="rId13"/>
    <p:sldId id="266" r:id="rId14"/>
    <p:sldId id="295" r:id="rId15"/>
    <p:sldId id="267" r:id="rId16"/>
    <p:sldId id="268" r:id="rId17"/>
    <p:sldId id="269" r:id="rId18"/>
    <p:sldId id="270" r:id="rId19"/>
    <p:sldId id="296" r:id="rId20"/>
    <p:sldId id="271" r:id="rId21"/>
    <p:sldId id="272" r:id="rId22"/>
    <p:sldId id="273" r:id="rId23"/>
    <p:sldId id="299" r:id="rId24"/>
    <p:sldId id="275" r:id="rId25"/>
    <p:sldId id="276" r:id="rId26"/>
    <p:sldId id="277" r:id="rId27"/>
    <p:sldId id="278" r:id="rId28"/>
    <p:sldId id="279" r:id="rId29"/>
    <p:sldId id="280" r:id="rId30"/>
    <p:sldId id="289" r:id="rId31"/>
    <p:sldId id="290" r:id="rId32"/>
    <p:sldId id="291" r:id="rId33"/>
    <p:sldId id="297" r:id="rId34"/>
    <p:sldId id="298" r:id="rId35"/>
    <p:sldId id="281" r:id="rId36"/>
    <p:sldId id="282" r:id="rId37"/>
    <p:sldId id="283" r:id="rId38"/>
    <p:sldId id="285" r:id="rId39"/>
    <p:sldId id="288" r:id="rId40"/>
    <p:sldId id="292" r:id="rId41"/>
  </p:sldIdLst>
  <p:sldSz cx="9144000" cy="6858000" type="screen4x3"/>
  <p:notesSz cx="6858000" cy="9144000"/>
  <p:defaultTextStyle>
    <a:defPPr>
      <a:defRPr lang="en-GB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charset="0"/>
        <a:ea typeface="+mn-ea"/>
        <a:cs typeface="Arial" charset="0"/>
      </a:defRPr>
    </a:lvl1pPr>
    <a:lvl2pPr marL="742950" indent="-285750" algn="l" defTabSz="457200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charset="0"/>
        <a:ea typeface="+mn-ea"/>
        <a:cs typeface="Arial" charset="0"/>
      </a:defRPr>
    </a:lvl2pPr>
    <a:lvl3pPr marL="1143000" indent="-228600" algn="l" defTabSz="457200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charset="0"/>
        <a:ea typeface="+mn-ea"/>
        <a:cs typeface="Arial" charset="0"/>
      </a:defRPr>
    </a:lvl3pPr>
    <a:lvl4pPr marL="1600200" indent="-228600" algn="l" defTabSz="457200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charset="0"/>
        <a:ea typeface="+mn-ea"/>
        <a:cs typeface="Arial" charset="0"/>
      </a:defRPr>
    </a:lvl4pPr>
    <a:lvl5pPr marL="2057400" indent="-228600" algn="l" defTabSz="457200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  <p:clrMru>
    <a:srgbClr val="FF0000"/>
    <a:srgbClr val="5F5F5F"/>
    <a:srgbClr val="4D4D4D"/>
    <a:srgbClr val="33333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272" autoAdjust="0"/>
    <p:restoredTop sz="90929"/>
  </p:normalViewPr>
  <p:slideViewPr>
    <p:cSldViewPr>
      <p:cViewPr varScale="1">
        <p:scale>
          <a:sx n="90" d="100"/>
          <a:sy n="90" d="100"/>
        </p:scale>
        <p:origin x="-306" y="-10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3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rrowheads="1"/>
          </p:cNvSpPr>
          <p:nvPr>
            <p:ph type="sldImg"/>
          </p:nvPr>
        </p:nvSpPr>
        <p:spPr bwMode="auto">
          <a:xfrm>
            <a:off x="0" y="695325"/>
            <a:ext cx="0" cy="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sp>
      <p:sp>
        <p:nvSpPr>
          <p:cNvPr id="205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cs-CZ" noProof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Arial" charset="0"/>
      <a:defRPr sz="1200" kern="1200">
        <a:solidFill>
          <a:srgbClr val="000000"/>
        </a:solidFill>
        <a:latin typeface="Arial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Arial" charset="0"/>
      <a:defRPr sz="1200" kern="1200">
        <a:solidFill>
          <a:srgbClr val="000000"/>
        </a:solidFill>
        <a:latin typeface="Arial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Arial" charset="0"/>
      <a:defRPr sz="1200" kern="1200">
        <a:solidFill>
          <a:srgbClr val="000000"/>
        </a:solidFill>
        <a:latin typeface="Arial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Arial" charset="0"/>
      <a:defRPr sz="1200" kern="1200">
        <a:solidFill>
          <a:srgbClr val="000000"/>
        </a:solidFill>
        <a:latin typeface="Arial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Arial" charset="0"/>
      <a:defRPr sz="1200" kern="1200">
        <a:solidFill>
          <a:srgbClr val="000000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638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5"/>
          <p:cNvSpPr txBox="1">
            <a:spLocks noGrp="1" noRo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8435" name="Rectangle 1026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048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2531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r>
              <a:rPr lang="cs-CZ" smtClean="0"/>
              <a:t>Rejstřík informací o výsledcích RIV, Součást Informačního systému výzkumu, vývoje a inovací – část záznamů zasílána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560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765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969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174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379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584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891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198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403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608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588" y="0"/>
            <a:ext cx="1587" cy="158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8131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024313"/>
          </a:xfrm>
          <a:noFill/>
          <a:ln/>
        </p:spPr>
        <p:txBody>
          <a:bodyPr wrap="none" anchor="ctr"/>
          <a:lstStyle/>
          <a:p>
            <a:r>
              <a:rPr lang="cs-CZ" smtClean="0"/>
              <a:t>The Identity of Resources on the Web ontology (IRW). It describes identification of resources on the Web, through the definition of relationships between resources and their representations on the Web.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120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325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529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37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041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246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588" y="0"/>
            <a:ext cx="1587" cy="158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451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024313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025"/>
          <p:cNvSpPr txBox="1">
            <a:spLocks noGrp="1" noRot="1" noChangeArrowheads="1"/>
          </p:cNvSpPr>
          <p:nvPr>
            <p:ph type="sldImg"/>
          </p:nvPr>
        </p:nvSpPr>
        <p:spPr>
          <a:xfrm>
            <a:off x="1588" y="0"/>
            <a:ext cx="1587" cy="158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6563" name="Rectangle 1026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024313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25"/>
          <p:cNvSpPr txBox="1">
            <a:spLocks noGrp="1" noRot="1" noChangeArrowheads="1"/>
          </p:cNvSpPr>
          <p:nvPr>
            <p:ph type="sldImg"/>
          </p:nvPr>
        </p:nvSpPr>
        <p:spPr>
          <a:xfrm>
            <a:off x="1588" y="0"/>
            <a:ext cx="1587" cy="158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8611" name="Rectangle 1026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024313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588" y="0"/>
            <a:ext cx="1587" cy="158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7577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024313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588" y="0"/>
            <a:ext cx="1587" cy="158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7782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024313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588" y="0"/>
            <a:ext cx="1587" cy="158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7987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024313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"/>
          <p:cNvSpPr txBox="1">
            <a:spLocks noGrp="1" noRot="1" noChangeArrowheads="1"/>
          </p:cNvSpPr>
          <p:nvPr>
            <p:ph type="sldImg"/>
          </p:nvPr>
        </p:nvSpPr>
        <p:spPr>
          <a:xfrm>
            <a:off x="1588" y="0"/>
            <a:ext cx="1587" cy="158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8192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024313"/>
          </a:xfrm>
          <a:noFill/>
          <a:ln/>
        </p:spPr>
        <p:txBody>
          <a:bodyPr wrap="none" anchor="ctr"/>
          <a:lstStyle/>
          <a:p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         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30.11.2010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_______</a:t>
            </a:r>
            <a:r>
              <a:rPr lang="en-GB"/>
              <a:t> </a:t>
            </a:r>
            <a:r>
              <a:rPr lang="cs-CZ"/>
              <a:t>_</a:t>
            </a:r>
            <a:r>
              <a:rPr lang="en-GB"/>
              <a:t>__</a:t>
            </a:r>
            <a:r>
              <a:rPr lang="cs-CZ"/>
              <a:t> </a:t>
            </a:r>
            <a:r>
              <a:rPr lang="en-GB"/>
              <a:t> _________ __  ________  ________ ____________ ________ </a:t>
            </a:r>
            <a:r>
              <a:rPr lang="cs-CZ"/>
              <a:t>_</a:t>
            </a:r>
            <a:r>
              <a:rPr lang="en-GB"/>
              <a:t>_ ______ ____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Exposing</a:t>
            </a:r>
            <a:r>
              <a:rPr lang="en-GB"/>
              <a:t> </a:t>
            </a:r>
            <a:r>
              <a:rPr lang="cs-CZ"/>
              <a:t>t</a:t>
            </a:r>
            <a:r>
              <a:rPr lang="en-GB"/>
              <a:t>he</a:t>
            </a:r>
            <a:r>
              <a:rPr lang="cs-CZ"/>
              <a:t> </a:t>
            </a:r>
            <a:r>
              <a:rPr lang="en-GB"/>
              <a:t>University of Economics‘ academic bibliography database </a:t>
            </a:r>
            <a:r>
              <a:rPr lang="cs-CZ"/>
              <a:t>a</a:t>
            </a:r>
            <a:r>
              <a:rPr lang="en-GB"/>
              <a:t>s linked data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         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30.11.2010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_______</a:t>
            </a:r>
            <a:r>
              <a:rPr lang="en-GB"/>
              <a:t> </a:t>
            </a:r>
            <a:r>
              <a:rPr lang="cs-CZ"/>
              <a:t>_</a:t>
            </a:r>
            <a:r>
              <a:rPr lang="en-GB"/>
              <a:t>__</a:t>
            </a:r>
            <a:r>
              <a:rPr lang="cs-CZ"/>
              <a:t> </a:t>
            </a:r>
            <a:r>
              <a:rPr lang="en-GB"/>
              <a:t> _________ __  ________  ________ ____________ ________ </a:t>
            </a:r>
            <a:r>
              <a:rPr lang="cs-CZ"/>
              <a:t>_</a:t>
            </a:r>
            <a:r>
              <a:rPr lang="en-GB"/>
              <a:t>_ ______ ____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Exposing</a:t>
            </a:r>
            <a:r>
              <a:rPr lang="en-GB"/>
              <a:t> </a:t>
            </a:r>
            <a:r>
              <a:rPr lang="cs-CZ"/>
              <a:t>t</a:t>
            </a:r>
            <a:r>
              <a:rPr lang="en-GB"/>
              <a:t>he</a:t>
            </a:r>
            <a:r>
              <a:rPr lang="cs-CZ"/>
              <a:t> </a:t>
            </a:r>
            <a:r>
              <a:rPr lang="en-GB"/>
              <a:t>University of Economics‘ academic bibliography database </a:t>
            </a:r>
            <a:r>
              <a:rPr lang="cs-CZ"/>
              <a:t>a</a:t>
            </a:r>
            <a:r>
              <a:rPr lang="en-GB"/>
              <a:t>s linked data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         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30.11.2010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_______</a:t>
            </a:r>
            <a:r>
              <a:rPr lang="en-GB"/>
              <a:t> </a:t>
            </a:r>
            <a:r>
              <a:rPr lang="cs-CZ"/>
              <a:t>_</a:t>
            </a:r>
            <a:r>
              <a:rPr lang="en-GB"/>
              <a:t>__</a:t>
            </a:r>
            <a:r>
              <a:rPr lang="cs-CZ"/>
              <a:t> </a:t>
            </a:r>
            <a:r>
              <a:rPr lang="en-GB"/>
              <a:t> _________ __  ________  ________ ____________ ________ </a:t>
            </a:r>
            <a:r>
              <a:rPr lang="cs-CZ"/>
              <a:t>_</a:t>
            </a:r>
            <a:r>
              <a:rPr lang="en-GB"/>
              <a:t>_ ______ ____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Exposing</a:t>
            </a:r>
            <a:r>
              <a:rPr lang="en-GB"/>
              <a:t> </a:t>
            </a:r>
            <a:r>
              <a:rPr lang="cs-CZ"/>
              <a:t>t</a:t>
            </a:r>
            <a:r>
              <a:rPr lang="en-GB"/>
              <a:t>he</a:t>
            </a:r>
            <a:r>
              <a:rPr lang="cs-CZ"/>
              <a:t> </a:t>
            </a:r>
            <a:r>
              <a:rPr lang="en-GB"/>
              <a:t>University of Economics‘ academic bibliography database </a:t>
            </a:r>
            <a:r>
              <a:rPr lang="cs-CZ"/>
              <a:t>a</a:t>
            </a:r>
            <a:r>
              <a:rPr lang="en-GB"/>
              <a:t>s linked data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13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6613" y="1981200"/>
            <a:ext cx="381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         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30.11.2010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_______</a:t>
            </a:r>
            <a:r>
              <a:rPr lang="en-GB"/>
              <a:t> </a:t>
            </a:r>
            <a:r>
              <a:rPr lang="cs-CZ"/>
              <a:t>_</a:t>
            </a:r>
            <a:r>
              <a:rPr lang="en-GB"/>
              <a:t>__</a:t>
            </a:r>
            <a:r>
              <a:rPr lang="cs-CZ"/>
              <a:t> </a:t>
            </a:r>
            <a:r>
              <a:rPr lang="en-GB"/>
              <a:t> _________ __  ________  ________ ____________ ________ </a:t>
            </a:r>
            <a:r>
              <a:rPr lang="cs-CZ"/>
              <a:t>_</a:t>
            </a:r>
            <a:r>
              <a:rPr lang="en-GB"/>
              <a:t>_ ______ ____</a:t>
            </a:r>
            <a:endParaRPr 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Exposing</a:t>
            </a:r>
            <a:r>
              <a:rPr lang="en-GB"/>
              <a:t> </a:t>
            </a:r>
            <a:r>
              <a:rPr lang="cs-CZ"/>
              <a:t>t</a:t>
            </a:r>
            <a:r>
              <a:rPr lang="en-GB"/>
              <a:t>he</a:t>
            </a:r>
            <a:r>
              <a:rPr lang="cs-CZ"/>
              <a:t> </a:t>
            </a:r>
            <a:r>
              <a:rPr lang="en-GB"/>
              <a:t>University of Economics‘ academic bibliography database </a:t>
            </a:r>
            <a:r>
              <a:rPr lang="cs-CZ"/>
              <a:t>a</a:t>
            </a:r>
            <a:r>
              <a:rPr lang="en-GB"/>
              <a:t>s linked data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         </a:t>
            </a: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30.11.2010</a:t>
            </a:r>
            <a:endParaRPr lang="en-US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_______</a:t>
            </a:r>
            <a:r>
              <a:rPr lang="en-GB"/>
              <a:t> </a:t>
            </a:r>
            <a:r>
              <a:rPr lang="cs-CZ"/>
              <a:t>_</a:t>
            </a:r>
            <a:r>
              <a:rPr lang="en-GB"/>
              <a:t>__</a:t>
            </a:r>
            <a:r>
              <a:rPr lang="cs-CZ"/>
              <a:t> </a:t>
            </a:r>
            <a:r>
              <a:rPr lang="en-GB"/>
              <a:t> _________ __  ________  ________ ____________ ________ </a:t>
            </a:r>
            <a:r>
              <a:rPr lang="cs-CZ"/>
              <a:t>_</a:t>
            </a:r>
            <a:r>
              <a:rPr lang="en-GB"/>
              <a:t>_ ______ ____</a:t>
            </a:r>
            <a:endParaRPr lang="en-US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ft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Exposing</a:t>
            </a:r>
            <a:r>
              <a:rPr lang="en-GB"/>
              <a:t> </a:t>
            </a:r>
            <a:r>
              <a:rPr lang="cs-CZ"/>
              <a:t>t</a:t>
            </a:r>
            <a:r>
              <a:rPr lang="en-GB"/>
              <a:t>he</a:t>
            </a:r>
            <a:r>
              <a:rPr lang="cs-CZ"/>
              <a:t> </a:t>
            </a:r>
            <a:r>
              <a:rPr lang="en-GB"/>
              <a:t>University of Economics‘ academic bibliography database </a:t>
            </a:r>
            <a:r>
              <a:rPr lang="cs-CZ"/>
              <a:t>a</a:t>
            </a:r>
            <a:r>
              <a:rPr lang="en-GB"/>
              <a:t>s linked data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         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30.11.2010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_______</a:t>
            </a:r>
            <a:r>
              <a:rPr lang="en-GB"/>
              <a:t> </a:t>
            </a:r>
            <a:r>
              <a:rPr lang="cs-CZ"/>
              <a:t>_</a:t>
            </a:r>
            <a:r>
              <a:rPr lang="en-GB"/>
              <a:t>__</a:t>
            </a:r>
            <a:r>
              <a:rPr lang="cs-CZ"/>
              <a:t> </a:t>
            </a:r>
            <a:r>
              <a:rPr lang="en-GB"/>
              <a:t> _________ __  ________  ________ ____________ ________ </a:t>
            </a:r>
            <a:r>
              <a:rPr lang="cs-CZ"/>
              <a:t>_</a:t>
            </a:r>
            <a:r>
              <a:rPr lang="en-GB"/>
              <a:t>_ ______ ____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Exposing</a:t>
            </a:r>
            <a:r>
              <a:rPr lang="en-GB"/>
              <a:t> </a:t>
            </a:r>
            <a:r>
              <a:rPr lang="cs-CZ"/>
              <a:t>t</a:t>
            </a:r>
            <a:r>
              <a:rPr lang="en-GB"/>
              <a:t>he</a:t>
            </a:r>
            <a:r>
              <a:rPr lang="cs-CZ"/>
              <a:t> </a:t>
            </a:r>
            <a:r>
              <a:rPr lang="en-GB"/>
              <a:t>University of Economics‘ academic bibliography database </a:t>
            </a:r>
            <a:r>
              <a:rPr lang="cs-CZ"/>
              <a:t>a</a:t>
            </a:r>
            <a:r>
              <a:rPr lang="en-GB"/>
              <a:t>s linked data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         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30.11.2010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_______</a:t>
            </a:r>
            <a:r>
              <a:rPr lang="en-GB"/>
              <a:t> </a:t>
            </a:r>
            <a:r>
              <a:rPr lang="cs-CZ"/>
              <a:t>_</a:t>
            </a:r>
            <a:r>
              <a:rPr lang="en-GB"/>
              <a:t>__</a:t>
            </a:r>
            <a:r>
              <a:rPr lang="cs-CZ"/>
              <a:t> </a:t>
            </a:r>
            <a:r>
              <a:rPr lang="en-GB"/>
              <a:t> _________ __  ________  ________ ____________ ________ </a:t>
            </a:r>
            <a:r>
              <a:rPr lang="cs-CZ"/>
              <a:t>_</a:t>
            </a:r>
            <a:r>
              <a:rPr lang="en-GB"/>
              <a:t>_ ______ ____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Exposing</a:t>
            </a:r>
            <a:r>
              <a:rPr lang="en-GB"/>
              <a:t> </a:t>
            </a:r>
            <a:r>
              <a:rPr lang="cs-CZ"/>
              <a:t>t</a:t>
            </a:r>
            <a:r>
              <a:rPr lang="en-GB"/>
              <a:t>he</a:t>
            </a:r>
            <a:r>
              <a:rPr lang="cs-CZ"/>
              <a:t> </a:t>
            </a:r>
            <a:r>
              <a:rPr lang="en-GB"/>
              <a:t>University of Economics‘ academic bibliography database </a:t>
            </a:r>
            <a:r>
              <a:rPr lang="cs-CZ"/>
              <a:t>a</a:t>
            </a:r>
            <a:r>
              <a:rPr lang="en-GB"/>
              <a:t>s linked data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         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30.11.2010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_______</a:t>
            </a:r>
            <a:r>
              <a:rPr lang="en-GB"/>
              <a:t> </a:t>
            </a:r>
            <a:r>
              <a:rPr lang="cs-CZ"/>
              <a:t>_</a:t>
            </a:r>
            <a:r>
              <a:rPr lang="en-GB"/>
              <a:t>__</a:t>
            </a:r>
            <a:r>
              <a:rPr lang="cs-CZ"/>
              <a:t> </a:t>
            </a:r>
            <a:r>
              <a:rPr lang="en-GB"/>
              <a:t> _________ __  ________  ________ ____________ ________ </a:t>
            </a:r>
            <a:r>
              <a:rPr lang="cs-CZ"/>
              <a:t>_</a:t>
            </a:r>
            <a:r>
              <a:rPr lang="en-GB"/>
              <a:t>_ ______ ____</a:t>
            </a:r>
            <a:endParaRPr 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Exposing</a:t>
            </a:r>
            <a:r>
              <a:rPr lang="en-GB"/>
              <a:t> </a:t>
            </a:r>
            <a:r>
              <a:rPr lang="cs-CZ"/>
              <a:t>t</a:t>
            </a:r>
            <a:r>
              <a:rPr lang="en-GB"/>
              <a:t>he</a:t>
            </a:r>
            <a:r>
              <a:rPr lang="cs-CZ"/>
              <a:t> </a:t>
            </a:r>
            <a:r>
              <a:rPr lang="en-GB"/>
              <a:t>University of Economics‘ academic bibliography database </a:t>
            </a:r>
            <a:r>
              <a:rPr lang="cs-CZ"/>
              <a:t>a</a:t>
            </a:r>
            <a:r>
              <a:rPr lang="en-GB"/>
              <a:t>s linked data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         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30.11.2010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_______</a:t>
            </a:r>
            <a:r>
              <a:rPr lang="en-GB"/>
              <a:t> </a:t>
            </a:r>
            <a:r>
              <a:rPr lang="cs-CZ"/>
              <a:t>_</a:t>
            </a:r>
            <a:r>
              <a:rPr lang="en-GB"/>
              <a:t>__</a:t>
            </a:r>
            <a:r>
              <a:rPr lang="cs-CZ"/>
              <a:t> </a:t>
            </a:r>
            <a:r>
              <a:rPr lang="en-GB"/>
              <a:t> _________ __  ________  ________ ____________ ________ </a:t>
            </a:r>
            <a:r>
              <a:rPr lang="cs-CZ"/>
              <a:t>_</a:t>
            </a:r>
            <a:r>
              <a:rPr lang="en-GB"/>
              <a:t>_ ______ ____</a:t>
            </a:r>
            <a:endParaRPr 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Exposing</a:t>
            </a:r>
            <a:r>
              <a:rPr lang="en-GB"/>
              <a:t> </a:t>
            </a:r>
            <a:r>
              <a:rPr lang="cs-CZ"/>
              <a:t>t</a:t>
            </a:r>
            <a:r>
              <a:rPr lang="en-GB"/>
              <a:t>he</a:t>
            </a:r>
            <a:r>
              <a:rPr lang="cs-CZ"/>
              <a:t> </a:t>
            </a:r>
            <a:r>
              <a:rPr lang="en-GB"/>
              <a:t>University of Economics‘ academic bibliography database </a:t>
            </a:r>
            <a:r>
              <a:rPr lang="cs-CZ"/>
              <a:t>a</a:t>
            </a:r>
            <a:r>
              <a:rPr lang="en-GB"/>
              <a:t>s linked data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         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30.11.2010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_______</a:t>
            </a:r>
            <a:r>
              <a:rPr lang="en-GB"/>
              <a:t> </a:t>
            </a:r>
            <a:r>
              <a:rPr lang="cs-CZ"/>
              <a:t>_</a:t>
            </a:r>
            <a:r>
              <a:rPr lang="en-GB"/>
              <a:t>__</a:t>
            </a:r>
            <a:r>
              <a:rPr lang="cs-CZ"/>
              <a:t> </a:t>
            </a:r>
            <a:r>
              <a:rPr lang="en-GB"/>
              <a:t> _________ __  ________  ________ ____________ ________ </a:t>
            </a:r>
            <a:r>
              <a:rPr lang="cs-CZ"/>
              <a:t>_</a:t>
            </a:r>
            <a:r>
              <a:rPr lang="en-GB"/>
              <a:t>_ ______ ____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Exposing</a:t>
            </a:r>
            <a:r>
              <a:rPr lang="en-GB"/>
              <a:t> </a:t>
            </a:r>
            <a:r>
              <a:rPr lang="cs-CZ"/>
              <a:t>t</a:t>
            </a:r>
            <a:r>
              <a:rPr lang="en-GB"/>
              <a:t>he</a:t>
            </a:r>
            <a:r>
              <a:rPr lang="cs-CZ"/>
              <a:t> </a:t>
            </a:r>
            <a:r>
              <a:rPr lang="en-GB"/>
              <a:t>University of Economics‘ academic bibliography database </a:t>
            </a:r>
            <a:r>
              <a:rPr lang="cs-CZ"/>
              <a:t>a</a:t>
            </a:r>
            <a:r>
              <a:rPr lang="en-GB"/>
              <a:t>s linked data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1513" cy="5484813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4813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         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30.11.2010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_______</a:t>
            </a:r>
            <a:r>
              <a:rPr lang="en-GB"/>
              <a:t> </a:t>
            </a:r>
            <a:r>
              <a:rPr lang="cs-CZ"/>
              <a:t>_</a:t>
            </a:r>
            <a:r>
              <a:rPr lang="en-GB"/>
              <a:t>__</a:t>
            </a:r>
            <a:r>
              <a:rPr lang="cs-CZ"/>
              <a:t> </a:t>
            </a:r>
            <a:r>
              <a:rPr lang="en-GB"/>
              <a:t> _________ __  ________  ________ ____________ ________ </a:t>
            </a:r>
            <a:r>
              <a:rPr lang="cs-CZ"/>
              <a:t>_</a:t>
            </a:r>
            <a:r>
              <a:rPr lang="en-GB"/>
              <a:t>_ ______ ____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Exposing</a:t>
            </a:r>
            <a:r>
              <a:rPr lang="en-GB"/>
              <a:t> </a:t>
            </a:r>
            <a:r>
              <a:rPr lang="cs-CZ"/>
              <a:t>t</a:t>
            </a:r>
            <a:r>
              <a:rPr lang="en-GB"/>
              <a:t>he</a:t>
            </a:r>
            <a:r>
              <a:rPr lang="cs-CZ"/>
              <a:t> </a:t>
            </a:r>
            <a:r>
              <a:rPr lang="en-GB"/>
              <a:t>University of Economics‘ academic bibliography database </a:t>
            </a:r>
            <a:r>
              <a:rPr lang="cs-CZ"/>
              <a:t>a</a:t>
            </a:r>
            <a:r>
              <a:rPr lang="en-GB"/>
              <a:t>s linked data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0813" cy="114141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         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30.11.2010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_______</a:t>
            </a:r>
            <a:r>
              <a:rPr lang="en-GB"/>
              <a:t> </a:t>
            </a:r>
            <a:r>
              <a:rPr lang="cs-CZ"/>
              <a:t>_</a:t>
            </a:r>
            <a:r>
              <a:rPr lang="en-GB"/>
              <a:t>__</a:t>
            </a:r>
            <a:r>
              <a:rPr lang="cs-CZ"/>
              <a:t> </a:t>
            </a:r>
            <a:r>
              <a:rPr lang="en-GB"/>
              <a:t> _________ __  ________  ________ ____________ ________ </a:t>
            </a:r>
            <a:r>
              <a:rPr lang="cs-CZ"/>
              <a:t>_</a:t>
            </a:r>
            <a:r>
              <a:rPr lang="en-GB"/>
              <a:t>_ ______ ____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Exposing</a:t>
            </a:r>
            <a:r>
              <a:rPr lang="en-GB"/>
              <a:t> </a:t>
            </a:r>
            <a:r>
              <a:rPr lang="cs-CZ"/>
              <a:t>t</a:t>
            </a:r>
            <a:r>
              <a:rPr lang="en-GB"/>
              <a:t>he</a:t>
            </a:r>
            <a:r>
              <a:rPr lang="cs-CZ"/>
              <a:t> </a:t>
            </a:r>
            <a:r>
              <a:rPr lang="en-GB"/>
              <a:t>University of Economics‘ academic bibliography database </a:t>
            </a:r>
            <a:r>
              <a:rPr lang="cs-CZ"/>
              <a:t>a</a:t>
            </a:r>
            <a:r>
              <a:rPr lang="en-GB"/>
              <a:t>s linked data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Arial" charset="0"/>
              <a:buNone/>
              <a:defRPr/>
            </a:pPr>
            <a:endParaRPr lang="de-DE"/>
          </a:p>
        </p:txBody>
      </p:sp>
      <p:sp>
        <p:nvSpPr>
          <p:cNvPr id="1027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0813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0813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  <a:p>
            <a:pPr lvl="4"/>
            <a:r>
              <a:rPr lang="en-GB" smtClean="0"/>
              <a:t>Eighth Outline Level</a:t>
            </a:r>
          </a:p>
          <a:p>
            <a:pPr lvl="4"/>
            <a:r>
              <a:rPr lang="en-GB" smtClean="0"/>
              <a:t>Ninth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685800" y="6400800"/>
            <a:ext cx="10668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i="1"/>
            </a:lvl1pPr>
          </a:lstStyle>
          <a:p>
            <a:pPr>
              <a:defRPr/>
            </a:pPr>
            <a:r>
              <a:rPr lang="cs-CZ"/>
              <a:t>          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685800" y="6400800"/>
            <a:ext cx="10668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i="1"/>
            </a:lvl1pPr>
          </a:lstStyle>
          <a:p>
            <a:pPr>
              <a:defRPr/>
            </a:pPr>
            <a:r>
              <a:rPr lang="cs-CZ"/>
              <a:t>30.11.2010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1752600" y="6400800"/>
            <a:ext cx="67056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i="1"/>
            </a:lvl1pPr>
          </a:lstStyle>
          <a:p>
            <a:pPr>
              <a:defRPr/>
            </a:pPr>
            <a:r>
              <a:rPr lang="cs-CZ"/>
              <a:t> _______</a:t>
            </a:r>
            <a:r>
              <a:rPr lang="en-GB"/>
              <a:t> </a:t>
            </a:r>
            <a:r>
              <a:rPr lang="cs-CZ"/>
              <a:t>_</a:t>
            </a:r>
            <a:r>
              <a:rPr lang="en-GB"/>
              <a:t>__</a:t>
            </a:r>
            <a:r>
              <a:rPr lang="cs-CZ"/>
              <a:t> </a:t>
            </a:r>
            <a:r>
              <a:rPr lang="en-GB"/>
              <a:t> _________ __  ________  ________ ____________ ________ </a:t>
            </a:r>
            <a:r>
              <a:rPr lang="cs-CZ"/>
              <a:t>_</a:t>
            </a:r>
            <a:r>
              <a:rPr lang="en-GB"/>
              <a:t>_ ______ ____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1752600" y="6400800"/>
            <a:ext cx="67056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i="1"/>
            </a:lvl1pPr>
          </a:lstStyle>
          <a:p>
            <a:pPr>
              <a:defRPr/>
            </a:pPr>
            <a:r>
              <a:rPr lang="cs-CZ"/>
              <a:t>Exposing</a:t>
            </a:r>
            <a:r>
              <a:rPr lang="en-GB"/>
              <a:t> </a:t>
            </a:r>
            <a:r>
              <a:rPr lang="cs-CZ"/>
              <a:t>t</a:t>
            </a:r>
            <a:r>
              <a:rPr lang="en-GB"/>
              <a:t>he</a:t>
            </a:r>
            <a:r>
              <a:rPr lang="cs-CZ"/>
              <a:t> </a:t>
            </a:r>
            <a:r>
              <a:rPr lang="en-GB"/>
              <a:t>University of Economics‘ academic bibliography database </a:t>
            </a:r>
            <a:r>
              <a:rPr lang="cs-CZ"/>
              <a:t>a</a:t>
            </a:r>
            <a:r>
              <a:rPr lang="en-GB"/>
              <a:t>s linked data</a:t>
            </a:r>
            <a:endParaRPr lang="en-US"/>
          </a:p>
        </p:txBody>
      </p:sp>
      <p:pic>
        <p:nvPicPr>
          <p:cNvPr id="1031" name="Picture 12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28800" y="6324600"/>
            <a:ext cx="498475" cy="5334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  <p:sldLayoutId id="2147483654" r:id="rId7"/>
    <p:sldLayoutId id="2147483653" r:id="rId8"/>
    <p:sldLayoutId id="2147483652" r:id="rId9"/>
    <p:sldLayoutId id="2147483651" r:id="rId10"/>
    <p:sldLayoutId id="2147483650" r:id="rId11"/>
    <p:sldLayoutId id="2147483649" r:id="rId12"/>
  </p:sldLayoutIdLst>
  <p:hf sldNum="0" hdr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4400">
          <a:solidFill>
            <a:srgbClr val="000000"/>
          </a:solidFill>
          <a:latin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4400">
          <a:solidFill>
            <a:srgbClr val="000000"/>
          </a:solidFill>
          <a:latin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4400">
          <a:solidFill>
            <a:srgbClr val="000000"/>
          </a:solidFill>
          <a:latin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4400">
          <a:solidFill>
            <a:srgbClr val="000000"/>
          </a:solidFill>
          <a:latin typeface="Arial" charset="0"/>
          <a:cs typeface="Arial" charset="0"/>
        </a:defRPr>
      </a:lvl5pPr>
      <a:lvl6pPr marL="2514600" indent="-228600"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4400">
          <a:solidFill>
            <a:srgbClr val="000000"/>
          </a:solidFill>
          <a:latin typeface="Arial" charset="0"/>
          <a:cs typeface="Arial" charset="0"/>
        </a:defRPr>
      </a:lvl6pPr>
      <a:lvl7pPr marL="2971800" indent="-228600"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4400">
          <a:solidFill>
            <a:srgbClr val="000000"/>
          </a:solidFill>
          <a:latin typeface="Arial" charset="0"/>
          <a:cs typeface="Arial" charset="0"/>
        </a:defRPr>
      </a:lvl7pPr>
      <a:lvl8pPr marL="3429000" indent="-228600"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4400">
          <a:solidFill>
            <a:srgbClr val="000000"/>
          </a:solidFill>
          <a:latin typeface="Arial" charset="0"/>
          <a:cs typeface="Arial" charset="0"/>
        </a:defRPr>
      </a:lvl8pPr>
      <a:lvl9pPr marL="3886200" indent="-228600"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4400">
          <a:solidFill>
            <a:srgbClr val="000000"/>
          </a:solidFill>
          <a:latin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Arial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Arial" charset="0"/>
        <a:buChar char="–"/>
        <a:defRPr sz="2800">
          <a:solidFill>
            <a:srgbClr val="000000"/>
          </a:solidFill>
          <a:latin typeface="+mn-lt"/>
          <a:cs typeface="+mn-cs"/>
        </a:defRPr>
      </a:lvl2pPr>
      <a:lvl3pPr marL="1143000" indent="-228600" algn="l" defTabSz="45720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•"/>
        <a:defRPr sz="2400">
          <a:solidFill>
            <a:srgbClr val="000000"/>
          </a:solidFill>
          <a:latin typeface="+mn-lt"/>
          <a:cs typeface="+mn-cs"/>
        </a:defRPr>
      </a:lvl3pPr>
      <a:lvl4pPr marL="1600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–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w3.org/TR/skos-reference/skos.html" TargetMode="External"/><Relationship Id="rId3" Type="http://schemas.openxmlformats.org/officeDocument/2006/relationships/hyperlink" Target="http://purl.org/ontology/bibo/" TargetMode="External"/><Relationship Id="rId7" Type="http://schemas.openxmlformats.org/officeDocument/2006/relationships/hyperlink" Target="http://ontologydesignpatterns.org/ont/web/irw.ow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ontoware.org/swrc/swrc/SWRCOWL/swrc_updated_v0.7.1.owl" TargetMode="External"/><Relationship Id="rId5" Type="http://schemas.openxmlformats.org/officeDocument/2006/relationships/hyperlink" Target="http://xmlns.com/foaf/0.1/" TargetMode="External"/><Relationship Id="rId4" Type="http://schemas.openxmlformats.org/officeDocument/2006/relationships/hyperlink" Target="http://purl.org/dc/elements/1.1/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vocab.org/frbr/core.html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9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DesignIssues/LinkedData.html" TargetMode="External"/><Relationship Id="rId2" Type="http://schemas.openxmlformats.org/officeDocument/2006/relationships/hyperlink" Target="http://archive.ifla.org/VII/s13/frbr/frbr1.htm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Datumsplatzhalt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15362" name="Fußzeilenplatzhalt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15363" name="Rectangle 1"/>
          <p:cNvSpPr>
            <a:spLocks noGrp="1" noChangeArrowheads="1"/>
          </p:cNvSpPr>
          <p:nvPr>
            <p:ph type="title"/>
          </p:nvPr>
        </p:nvSpPr>
        <p:spPr>
          <a:xfrm>
            <a:off x="304800" y="952500"/>
            <a:ext cx="8229600" cy="2592388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z="4000" b="1" smtClean="0"/>
              <a:t>Exposing</a:t>
            </a:r>
            <a:r>
              <a:rPr lang="en-GB" sz="4000" b="1" smtClean="0"/>
              <a:t> </a:t>
            </a:r>
            <a:r>
              <a:rPr lang="cs-CZ" sz="4000" b="1" smtClean="0"/>
              <a:t/>
            </a:r>
            <a:br>
              <a:rPr lang="cs-CZ" sz="4000" b="1" smtClean="0"/>
            </a:br>
            <a:r>
              <a:rPr lang="en-GB" sz="4000" b="1" smtClean="0"/>
              <a:t>the</a:t>
            </a:r>
            <a:r>
              <a:rPr lang="cs-CZ" sz="4000" b="1" smtClean="0"/>
              <a:t> </a:t>
            </a:r>
            <a:r>
              <a:rPr lang="en-GB" sz="4000" b="1" smtClean="0"/>
              <a:t>University of Economics‘ academic bibliography database </a:t>
            </a:r>
            <a:r>
              <a:rPr lang="cs-CZ" sz="4000" b="1" smtClean="0"/>
              <a:t/>
            </a:r>
            <a:br>
              <a:rPr lang="cs-CZ" sz="4000" b="1" smtClean="0"/>
            </a:br>
            <a:r>
              <a:rPr lang="en-GB" sz="4000" b="1" smtClean="0"/>
              <a:t>as linked data</a:t>
            </a:r>
            <a:r>
              <a:rPr lang="cs-CZ" smtClean="0"/>
              <a:t> </a:t>
            </a: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1828800" y="3581400"/>
            <a:ext cx="6400800" cy="2438400"/>
          </a:xfrm>
        </p:spPr>
        <p:txBody>
          <a:bodyPr/>
          <a:lstStyle/>
          <a:p>
            <a:pPr marL="0" indent="0"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z="2800" smtClean="0"/>
              <a:t>Jitka Hladká,</a:t>
            </a:r>
            <a:r>
              <a:rPr lang="cs-CZ" smtClean="0"/>
              <a:t> </a:t>
            </a:r>
          </a:p>
          <a:p>
            <a:pPr marL="0" indent="0" algn="r"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z="1800" smtClean="0"/>
              <a:t>University of Economics, Prague</a:t>
            </a:r>
          </a:p>
          <a:p>
            <a:pPr marL="0" indent="0" algn="r" eaLnBrk="1" hangingPunct="1">
              <a:spcBef>
                <a:spcPts val="70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z="2800" smtClean="0"/>
              <a:t>Jindřich Mynarz, </a:t>
            </a:r>
          </a:p>
          <a:p>
            <a:pPr marL="0" indent="0" algn="r"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z="1800" smtClean="0"/>
              <a:t>National Technical Library, Prague</a:t>
            </a:r>
          </a:p>
          <a:p>
            <a:pPr marL="0" indent="0" algn="r"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z="2800" smtClean="0"/>
              <a:t>Vilém Sklenák,</a:t>
            </a:r>
            <a:r>
              <a:rPr lang="cs-CZ" sz="1800" smtClean="0"/>
              <a:t> </a:t>
            </a:r>
          </a:p>
          <a:p>
            <a:pPr marL="0" indent="0" algn="r"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z="1800" smtClean="0"/>
              <a:t>University of Economics, Prague</a:t>
            </a:r>
          </a:p>
          <a:p>
            <a:pPr marL="0" indent="0" algn="r"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cs-CZ" sz="1800" smtClean="0"/>
          </a:p>
        </p:txBody>
      </p:sp>
      <p:sp>
        <p:nvSpPr>
          <p:cNvPr id="15365" name="Line 4"/>
          <p:cNvSpPr>
            <a:spLocks noChangeShapeType="1"/>
          </p:cNvSpPr>
          <p:nvPr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17410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17411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mtClean="0"/>
              <a:t>All about…</a:t>
            </a: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indent="-341313" eaLnBrk="1" hangingPunct="1"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cs-CZ" smtClean="0"/>
          </a:p>
          <a:p>
            <a:pPr indent="-341313" eaLnBrk="1" hangingPunct="1"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cs-CZ" smtClean="0"/>
          </a:p>
          <a:p>
            <a:pPr indent="-341313" eaLnBrk="1" hangingPunct="1"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cs-CZ" smtClean="0"/>
              <a:t>converting bibliographic records </a:t>
            </a:r>
          </a:p>
          <a:p>
            <a:pPr indent="-341313" algn="r" eaLnBrk="1" hangingPunct="1"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cs-CZ" smtClean="0"/>
              <a:t>to RDF-based data</a:t>
            </a:r>
          </a:p>
          <a:p>
            <a:pPr indent="-341313" eaLnBrk="1" hangingPunct="1">
              <a:buFont typeface="Arial" charset="0"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cs-CZ" smtClean="0"/>
          </a:p>
        </p:txBody>
      </p:sp>
      <p:sp>
        <p:nvSpPr>
          <p:cNvPr id="17413" name="AutoShape 4"/>
          <p:cNvSpPr>
            <a:spLocks noChangeArrowheads="1"/>
          </p:cNvSpPr>
          <p:nvPr/>
        </p:nvSpPr>
        <p:spPr bwMode="auto">
          <a:xfrm flipH="1">
            <a:off x="3657600" y="2667000"/>
            <a:ext cx="2209800" cy="609600"/>
          </a:xfrm>
          <a:prstGeom prst="curvedDownArrow">
            <a:avLst>
              <a:gd name="adj1" fmla="val 72500"/>
              <a:gd name="adj2" fmla="val 145000"/>
              <a:gd name="adj3" fmla="val 33333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Arial" charset="0"/>
              <a:buNone/>
            </a:pPr>
            <a:endParaRPr lang="de-DE"/>
          </a:p>
        </p:txBody>
      </p:sp>
      <p:sp>
        <p:nvSpPr>
          <p:cNvPr id="17414" name="AutoShape 6"/>
          <p:cNvSpPr>
            <a:spLocks noChangeArrowheads="1"/>
          </p:cNvSpPr>
          <p:nvPr/>
        </p:nvSpPr>
        <p:spPr bwMode="auto">
          <a:xfrm>
            <a:off x="3886200" y="4267200"/>
            <a:ext cx="2209800" cy="838200"/>
          </a:xfrm>
          <a:prstGeom prst="curvedUpArrow">
            <a:avLst>
              <a:gd name="adj1" fmla="val 52727"/>
              <a:gd name="adj2" fmla="val 105455"/>
              <a:gd name="adj3" fmla="val 33333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Arial" charset="0"/>
              <a:buNone/>
            </a:pPr>
            <a:endParaRPr lang="de-D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19458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19459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mtClean="0"/>
              <a:t>Presentation Outline</a:t>
            </a: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Academic bibliography database at the beginning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Linked data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Transformation process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Linked data user interface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Design issues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Future challenges and possibilities</a:t>
            </a:r>
          </a:p>
          <a:p>
            <a:pPr marL="341313" indent="-341313"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cs-CZ" smtClean="0"/>
          </a:p>
          <a:p>
            <a:pPr marL="341313" indent="-341313"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cs-CZ" sz="360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21506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21507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mtClean="0"/>
              <a:t>At the beginning… </a:t>
            </a: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indent="-341313" eaLnBrk="1" hangingPunct="1"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cs-CZ" smtClean="0"/>
              <a:t>Academic bibliography database:</a:t>
            </a:r>
          </a:p>
          <a:p>
            <a:pPr indent="-341313" eaLnBrk="1" hangingPunct="1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cs-CZ" smtClean="0"/>
              <a:t>Bibliographic information</a:t>
            </a:r>
          </a:p>
          <a:p>
            <a:pPr indent="-341313" eaLnBrk="1" hangingPunct="1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cs-CZ" smtClean="0"/>
              <a:t>Project / research &amp; development information added</a:t>
            </a:r>
          </a:p>
          <a:p>
            <a:pPr indent="-341313" eaLnBrk="1" hangingPunct="1"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cs-CZ" smtClean="0"/>
              <a:t>All provided in :</a:t>
            </a:r>
          </a:p>
          <a:p>
            <a:pPr indent="-341313" eaLnBrk="1" hangingPunct="1"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cs-CZ" smtClean="0"/>
              <a:t>MARC standard format for bibliographic description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Datumsplatzhalt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23554" name="Fußzeilenplatzhalter 2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pic>
        <p:nvPicPr>
          <p:cNvPr id="23555" name="Picture 2" descr="C:\Documents and Settings\Jitka\MojeDokumenty\doškoly\diplomka\PCVSE-vysledky.png"/>
          <p:cNvPicPr>
            <a:picLocks noChangeAspect="1" noChangeArrowheads="1"/>
          </p:cNvPicPr>
          <p:nvPr/>
        </p:nvPicPr>
        <p:blipFill>
          <a:blip r:embed="rId2"/>
          <a:srcRect t="19792" b="3125"/>
          <a:stretch>
            <a:fillRect/>
          </a:stretch>
        </p:blipFill>
        <p:spPr bwMode="auto">
          <a:xfrm>
            <a:off x="381000" y="762000"/>
            <a:ext cx="8534400" cy="493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24578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24579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463550"/>
            <a:ext cx="7772400" cy="14351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mtClean="0"/>
              <a:t>Academic bibliography database</a:t>
            </a: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marL="341313" indent="-341313" eaLnBrk="1" hangingPunct="1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z="2800" smtClean="0"/>
              <a:t>Publishing activities of the academic staff of the University of Economics, Prague</a:t>
            </a:r>
          </a:p>
          <a:p>
            <a:pPr marL="341313" indent="-341313" eaLnBrk="1" hangingPunct="1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smtClean="0"/>
              <a:t>journal articles, conference papers, lecture notes, monographs and monograph chapters</a:t>
            </a:r>
            <a:r>
              <a:rPr lang="cs-CZ" sz="2800" smtClean="0"/>
              <a:t> </a:t>
            </a:r>
          </a:p>
          <a:p>
            <a:pPr marL="341313" indent="-341313" eaLnBrk="1" hangingPunct="1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z="2800" smtClean="0"/>
              <a:t>Interesting resource of scientific research and development activities</a:t>
            </a:r>
          </a:p>
          <a:p>
            <a:pPr marL="341313" indent="-341313" eaLnBrk="1" hangingPunct="1">
              <a:spcBef>
                <a:spcPts val="70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z="2800" smtClean="0"/>
              <a:t>…but is it ready to the Web environment?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26626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26627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mtClean="0"/>
              <a:t>Linked data</a:t>
            </a: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indent="-341313" eaLnBrk="1" hangingPunct="1"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cs-CZ" smtClean="0"/>
              <a:t>= „best practices for publishing and connecting structured data on the Web“</a:t>
            </a:r>
          </a:p>
          <a:p>
            <a:pPr indent="-341313" eaLnBrk="1" hangingPunct="1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cs-CZ" smtClean="0"/>
              <a:t>Using URIs to identify things</a:t>
            </a:r>
          </a:p>
          <a:p>
            <a:pPr indent="-341313" eaLnBrk="1" hangingPunct="1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cs-CZ" smtClean="0"/>
              <a:t>HTTP protocol</a:t>
            </a:r>
          </a:p>
          <a:p>
            <a:pPr indent="-341313" eaLnBrk="1" hangingPunct="1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cs-CZ" smtClean="0"/>
              <a:t>RDF is a graph-based data model for representing structure and linking data about things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28674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28675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mtClean="0"/>
              <a:t>Linked data benefits</a:t>
            </a: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linking the pieces of data, information, knowledge on the Web from disparate resources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Machine processable information ready to use by web applications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Improved retrieval and discovery services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30722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30723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8229600" cy="14478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mtClean="0"/>
              <a:t>What about our bibliographic data?</a:t>
            </a:r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RDF is familiar to people outside the library community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Integration of bibliographic information into the Web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Sharing scientific and research outputs information and its visibility increase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32770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32771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mtClean="0"/>
              <a:t>Transformation process</a:t>
            </a: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Data preparation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Data modelling 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Interlinking</a:t>
            </a:r>
          </a:p>
          <a:p>
            <a:pPr marL="341313" indent="-341313"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cs-CZ" smtClean="0"/>
          </a:p>
          <a:p>
            <a:pPr marL="341313" indent="-341313" eaLnBrk="1" hangingPunct="1"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i="1" smtClean="0"/>
              <a:t>…our experiences, comments and suggested problems' solutions to share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34818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34819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mtClean="0"/>
              <a:t>Problems of original data</a:t>
            </a: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marL="341313" indent="-341313" eaLnBrk="1" hangingPunct="1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Bibliographic format - MARC</a:t>
            </a:r>
          </a:p>
          <a:p>
            <a:pPr marL="341313" indent="-341313" eaLnBrk="1" hangingPunct="1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„Library data“ made by „non-librarians“</a:t>
            </a:r>
          </a:p>
          <a:p>
            <a:pPr marL="341313" indent="-341313" eaLnBrk="1" hangingPunct="1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No cataloguing standard used</a:t>
            </a:r>
          </a:p>
          <a:p>
            <a:pPr marL="341313" indent="-341313" eaLnBrk="1" hangingPunct="1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No established classification scheme used</a:t>
            </a:r>
          </a:p>
          <a:p>
            <a:pPr marL="341313" indent="-341313" eaLnBrk="1" hangingPunct="1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No controlled vocabulary used: names used in many variations, translations and abbreviations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Datumsplatzhalt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36866" name="Fußzeilenplatzhalter 2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pic>
        <p:nvPicPr>
          <p:cNvPr id="36867" name="Picture 4"/>
          <p:cNvPicPr>
            <a:picLocks noChangeAspect="1" noChangeArrowheads="1"/>
          </p:cNvPicPr>
          <p:nvPr/>
        </p:nvPicPr>
        <p:blipFill>
          <a:blip r:embed="rId2"/>
          <a:srcRect l="4688" t="17708" r="17969" b="9375"/>
          <a:stretch>
            <a:fillRect/>
          </a:stretch>
        </p:blipFill>
        <p:spPr bwMode="auto">
          <a:xfrm>
            <a:off x="304800" y="304800"/>
            <a:ext cx="84582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37890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37891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mtClean="0"/>
              <a:t>Publisher names</a:t>
            </a: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synsets</a:t>
            </a:r>
          </a:p>
          <a:p>
            <a:pPr marL="341313" indent="-341313"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= all variant names of a single publisher in a group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preferred form of the name selected according to the </a:t>
            </a:r>
            <a:r>
              <a:rPr lang="en-GB" b="1" smtClean="0"/>
              <a:t>Publishers’ Directory</a:t>
            </a:r>
            <a:r>
              <a:rPr lang="en-GB" smtClean="0"/>
              <a:t> maintained by the National Library of the Czech republic </a:t>
            </a:r>
          </a:p>
          <a:p>
            <a:pPr marL="341313" indent="-341313"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cs-CZ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Datumsplatzhalt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39938" name="Fußzeilenplatzhalt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graphicFrame>
        <p:nvGraphicFramePr>
          <p:cNvPr id="77989" name="Group 165"/>
          <p:cNvGraphicFramePr>
            <a:graphicFrameLocks noGrp="1"/>
          </p:cNvGraphicFramePr>
          <p:nvPr/>
        </p:nvGraphicFramePr>
        <p:xfrm>
          <a:off x="304800" y="2438400"/>
          <a:ext cx="3962400" cy="3260725"/>
        </p:xfrm>
        <a:graphic>
          <a:graphicData uri="http://schemas.openxmlformats.org/drawingml/2006/table">
            <a:tbl>
              <a:tblPr/>
              <a:tblGrid>
                <a:gridCol w="3962400"/>
              </a:tblGrid>
              <a:tr h="36988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Univerzita Karlova</a:t>
                      </a:r>
                      <a:r>
                        <a:rPr kumimoji="0" lang="cs-CZ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		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Arial" charset="0"/>
                          <a:cs typeface="Arial" charset="0"/>
                        </a:rPr>
                        <a:t>Charles University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Arial" charset="0"/>
                          <a:cs typeface="Arial" charset="0"/>
                        </a:rPr>
                        <a:t>Karlova universita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Universita Karlova v Praze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Universita Karlova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Arial" charset="0"/>
                          <a:cs typeface="Arial" charset="0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Arial" charset="0"/>
                          <a:cs typeface="Arial" charset="0"/>
                        </a:rPr>
                        <a:t>Univerzita Karlova v Praze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8009" name="Group 185"/>
          <p:cNvGraphicFramePr>
            <a:graphicFrameLocks noGrp="1"/>
          </p:cNvGraphicFramePr>
          <p:nvPr/>
        </p:nvGraphicFramePr>
        <p:xfrm>
          <a:off x="4267200" y="1752600"/>
          <a:ext cx="4648200" cy="3359150"/>
        </p:xfrm>
        <a:graphic>
          <a:graphicData uri="http://schemas.openxmlformats.org/drawingml/2006/table">
            <a:tbl>
              <a:tblPr/>
              <a:tblGrid>
                <a:gridCol w="4648200"/>
              </a:tblGrid>
              <a:tr h="492125"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Vysoká škola ekonomická</a:t>
                      </a:r>
                      <a:endParaRPr kumimoji="0" lang="cs-CZ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7838"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Arial" charset="0"/>
                          <a:cs typeface="Arial" charset="0"/>
                        </a:rPr>
                        <a:t>University of Economics, Prague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Arial" charset="0"/>
                          <a:cs typeface="Arial" charset="0"/>
                        </a:rPr>
                        <a:t>VŠE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7838"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VŠE v Praze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663"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Univ. of Economics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7838"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Arial" charset="0"/>
                          <a:cs typeface="Arial" charset="0"/>
                        </a:rPr>
                        <a:t>University of Economics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Arial" charset="0"/>
                          <a:cs typeface="Arial" charset="0"/>
                        </a:rPr>
                        <a:t>University of economics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8011" name="Group 187"/>
          <p:cNvGraphicFramePr>
            <a:graphicFrameLocks noGrp="1"/>
          </p:cNvGraphicFramePr>
          <p:nvPr/>
        </p:nvGraphicFramePr>
        <p:xfrm>
          <a:off x="3962400" y="2971800"/>
          <a:ext cx="1676400" cy="2163763"/>
        </p:xfrm>
        <a:graphic>
          <a:graphicData uri="http://schemas.openxmlformats.org/drawingml/2006/table">
            <a:tbl>
              <a:tblPr/>
              <a:tblGrid>
                <a:gridCol w="16764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Springer</a:t>
                      </a:r>
                      <a:endParaRPr kumimoji="0" lang="cs-CZ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Arial" charset="0"/>
                          <a:cs typeface="Arial" charset="0"/>
                        </a:rPr>
                        <a:t>Springer Verlag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Arial" charset="0"/>
                          <a:cs typeface="Arial" charset="0"/>
                        </a:rPr>
                        <a:t>Springer-Verlag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9982" name="Rectangle 18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smtClean="0"/>
              <a:t>Synsets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40962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40963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8013"/>
            <a:ext cx="7239000" cy="763587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mtClean="0"/>
              <a:t>Information to transform</a:t>
            </a:r>
            <a:endParaRPr lang="en-US" smtClean="0"/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924800" cy="4648200"/>
          </a:xfrm>
        </p:spPr>
        <p:txBody>
          <a:bodyPr/>
          <a:lstStyle/>
          <a:p>
            <a:pPr indent="-341313" eaLnBrk="1" hangingPunct="1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cs-CZ" b="1" smtClean="0"/>
          </a:p>
          <a:p>
            <a:pPr indent="-341313" eaLnBrk="1" hangingPunct="1">
              <a:spcBef>
                <a:spcPts val="700"/>
              </a:spcBef>
              <a:buClrTx/>
              <a:buFontTx/>
              <a:buChar char="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cs-CZ" b="1" smtClean="0"/>
              <a:t>All the information</a:t>
            </a:r>
            <a:r>
              <a:rPr lang="cs-CZ" smtClean="0"/>
              <a:t> captured in MARC format ?</a:t>
            </a:r>
          </a:p>
          <a:p>
            <a:pPr indent="-341313" eaLnBrk="1" hangingPunct="1">
              <a:spcBef>
                <a:spcPts val="70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cs-CZ" smtClean="0"/>
              <a:t>not required and not necessary considering today‘s retrieval on the web</a:t>
            </a:r>
          </a:p>
          <a:p>
            <a:pPr indent="-341313" eaLnBrk="1" hangingPunct="1">
              <a:spcBef>
                <a:spcPts val="70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cs-CZ" smtClean="0"/>
              <a:t>we need to select the </a:t>
            </a:r>
            <a:r>
              <a:rPr lang="cs-CZ" b="1" smtClean="0"/>
              <a:t>most essential and widely used</a:t>
            </a:r>
            <a:r>
              <a:rPr lang="cs-CZ" smtClean="0"/>
              <a:t> information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43010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43011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mtClean="0"/>
              <a:t>Selection tools</a:t>
            </a:r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indent="-341313" eaLnBrk="1" hangingPunct="1"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cs-CZ" smtClean="0"/>
              <a:t>Tags' frequency analysis of </a:t>
            </a:r>
            <a:r>
              <a:rPr lang="cs-CZ" b="1" smtClean="0"/>
              <a:t>MARC fields/subfields</a:t>
            </a:r>
            <a:r>
              <a:rPr lang="cs-CZ" smtClean="0"/>
              <a:t> used</a:t>
            </a:r>
          </a:p>
          <a:p>
            <a:pPr indent="-341313" eaLnBrk="1" hangingPunct="1">
              <a:buFont typeface="Symbol" pitchFamily="18" charset="2"/>
              <a:buChar char="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cs-CZ" smtClean="0"/>
              <a:t>Final </a:t>
            </a:r>
            <a:r>
              <a:rPr lang="en-GB" smtClean="0"/>
              <a:t>list of the </a:t>
            </a:r>
            <a:r>
              <a:rPr lang="en-GB" b="1" smtClean="0"/>
              <a:t>most frequent</a:t>
            </a:r>
            <a:r>
              <a:rPr lang="en-GB" smtClean="0"/>
              <a:t> </a:t>
            </a:r>
            <a:r>
              <a:rPr lang="cs-CZ" smtClean="0"/>
              <a:t>fields and subfields</a:t>
            </a:r>
          </a:p>
          <a:p>
            <a:pPr indent="-341313" eaLnBrk="1" hangingPunct="1"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cs-CZ" smtClean="0"/>
              <a:t>= the </a:t>
            </a:r>
            <a:r>
              <a:rPr lang="en-GB" smtClean="0"/>
              <a:t>most essential bibliographic data pieces that we would like to use in the further transformation</a:t>
            </a:r>
            <a:r>
              <a:rPr lang="cs-CZ" smtClean="0"/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45058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45059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mtClean="0"/>
              <a:t>Data modelling</a:t>
            </a:r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marL="609600" indent="-608013" eaLnBrk="1" hangingPunct="1">
              <a:buClrTx/>
              <a:buFontTx/>
              <a:buNone/>
              <a:tabLst>
                <a:tab pos="1179513" algn="l"/>
                <a:tab pos="2093913" algn="l"/>
                <a:tab pos="3008313" algn="l"/>
                <a:tab pos="3922713" algn="l"/>
                <a:tab pos="4837113" algn="l"/>
                <a:tab pos="5751513" algn="l"/>
                <a:tab pos="6665913" algn="l"/>
                <a:tab pos="7580313" algn="l"/>
                <a:tab pos="8494713" algn="l"/>
                <a:tab pos="9409113" algn="l"/>
                <a:tab pos="10323513" algn="l"/>
              </a:tabLst>
            </a:pPr>
            <a:r>
              <a:rPr lang="cs-CZ" smtClean="0"/>
              <a:t>Transformation into the RDF data model:</a:t>
            </a:r>
          </a:p>
          <a:p>
            <a:pPr marL="609600" indent="-608013" eaLnBrk="1" hangingPunct="1">
              <a:buFont typeface="Arial" charset="0"/>
              <a:buAutoNum type="arabicPeriod"/>
              <a:tabLst>
                <a:tab pos="1179513" algn="l"/>
                <a:tab pos="2093913" algn="l"/>
                <a:tab pos="3008313" algn="l"/>
                <a:tab pos="3922713" algn="l"/>
                <a:tab pos="4837113" algn="l"/>
                <a:tab pos="5751513" algn="l"/>
                <a:tab pos="6665913" algn="l"/>
                <a:tab pos="7580313" algn="l"/>
                <a:tab pos="8494713" algn="l"/>
                <a:tab pos="9409113" algn="l"/>
                <a:tab pos="10323513" algn="l"/>
              </a:tabLst>
            </a:pPr>
            <a:r>
              <a:rPr lang="cs-CZ" smtClean="0"/>
              <a:t>Entity types specification</a:t>
            </a:r>
          </a:p>
          <a:p>
            <a:pPr marL="609600" indent="-608013" eaLnBrk="1" hangingPunct="1">
              <a:buClrTx/>
              <a:buFontTx/>
              <a:buNone/>
              <a:tabLst>
                <a:tab pos="1179513" algn="l"/>
                <a:tab pos="2093913" algn="l"/>
                <a:tab pos="3008313" algn="l"/>
                <a:tab pos="3922713" algn="l"/>
                <a:tab pos="4837113" algn="l"/>
                <a:tab pos="5751513" algn="l"/>
                <a:tab pos="6665913" algn="l"/>
                <a:tab pos="7580313" algn="l"/>
                <a:tab pos="8494713" algn="l"/>
                <a:tab pos="9409113" algn="l"/>
                <a:tab pos="10323513" algn="l"/>
              </a:tabLst>
            </a:pPr>
            <a:r>
              <a:rPr lang="cs-CZ" smtClean="0"/>
              <a:t>2.	Find the most appropriate rdf:type for the specified entities</a:t>
            </a:r>
          </a:p>
          <a:p>
            <a:pPr marL="609600" indent="-608013" algn="r" eaLnBrk="1" hangingPunct="1">
              <a:spcBef>
                <a:spcPts val="700"/>
              </a:spcBef>
              <a:buClrTx/>
              <a:buFontTx/>
              <a:buNone/>
              <a:tabLst>
                <a:tab pos="1179513" algn="l"/>
                <a:tab pos="2093913" algn="l"/>
                <a:tab pos="3008313" algn="l"/>
                <a:tab pos="3922713" algn="l"/>
                <a:tab pos="4837113" algn="l"/>
                <a:tab pos="5751513" algn="l"/>
                <a:tab pos="6665913" algn="l"/>
                <a:tab pos="7580313" algn="l"/>
                <a:tab pos="8494713" algn="l"/>
                <a:tab pos="9409113" algn="l"/>
                <a:tab pos="10323513" algn="l"/>
              </a:tabLst>
            </a:pPr>
            <a:r>
              <a:rPr lang="cs-CZ" sz="2800" i="1" smtClean="0"/>
              <a:t>…in available RDF vocabularies </a:t>
            </a:r>
          </a:p>
          <a:p>
            <a:pPr marL="609600" indent="-608013" algn="r" eaLnBrk="1" hangingPunct="1">
              <a:spcBef>
                <a:spcPts val="700"/>
              </a:spcBef>
              <a:buClrTx/>
              <a:buFontTx/>
              <a:buNone/>
              <a:tabLst>
                <a:tab pos="1179513" algn="l"/>
                <a:tab pos="2093913" algn="l"/>
                <a:tab pos="3008313" algn="l"/>
                <a:tab pos="3922713" algn="l"/>
                <a:tab pos="4837113" algn="l"/>
                <a:tab pos="5751513" algn="l"/>
                <a:tab pos="6665913" algn="l"/>
                <a:tab pos="7580313" algn="l"/>
                <a:tab pos="8494713" algn="l"/>
                <a:tab pos="9409113" algn="l"/>
                <a:tab pos="10323513" algn="l"/>
              </a:tabLst>
            </a:pPr>
            <a:r>
              <a:rPr lang="cs-CZ" sz="2800" i="1" smtClean="0"/>
              <a:t>and domain ontologies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47106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47107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8013"/>
            <a:ext cx="7772400" cy="1146175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mtClean="0"/>
              <a:t>Resource types</a:t>
            </a:r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52600" y="1981200"/>
            <a:ext cx="6705600" cy="4114800"/>
          </a:xfrm>
        </p:spPr>
        <p:txBody>
          <a:bodyPr/>
          <a:lstStyle/>
          <a:p>
            <a:pPr marL="341313" indent="-341313"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Concept (skos:Concept)</a:t>
            </a:r>
          </a:p>
          <a:p>
            <a:pPr marL="341313" indent="-341313"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Document (bibo:Document)</a:t>
            </a:r>
          </a:p>
          <a:p>
            <a:pPr marL="341313" indent="-341313"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Organization (foaf:Organization)</a:t>
            </a:r>
          </a:p>
          <a:p>
            <a:pPr marL="341313" indent="-341313"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Person (foaf:Person)</a:t>
            </a:r>
          </a:p>
          <a:p>
            <a:pPr marL="341313" indent="-341313"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Project (arpfo:Project)</a:t>
            </a:r>
          </a:p>
          <a:p>
            <a:pPr marL="341313" indent="-341313"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Record (irw:InformationResource)</a:t>
            </a:r>
          </a:p>
        </p:txBody>
      </p:sp>
      <p:pic>
        <p:nvPicPr>
          <p:cNvPr id="47109" name="Picture 4" descr="C:\Documents and Settings\Jitka\MojeDokumenty\doškoly\diplomka\concept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1981200"/>
            <a:ext cx="508000" cy="42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10" name="Picture 5" descr="C:\Documents and Settings\Jitka\MojeDokumenty\doškoly\diplomka\document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71600" y="2590800"/>
            <a:ext cx="365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11" name="Picture 6" descr="C:\Documents and Settings\Jitka\MojeDokumenty\doškoly\diplomka\organization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95400" y="3200400"/>
            <a:ext cx="457200" cy="436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12" name="Picture 7" descr="C:\Documents and Settings\Jitka\MojeDokumenty\doškoly\diplomka\person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24000" y="3810000"/>
            <a:ext cx="1857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13" name="Picture 8" descr="C:\Documents and Settings\Jitka\MojeDokumenty\doškoly\diplomka\project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295400" y="4419600"/>
            <a:ext cx="417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14" name="Picture 9" descr="C:\Documents and Settings\Jitka\MojeDokumenty\doškoly\diplomka\record.pn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447800" y="5029200"/>
            <a:ext cx="2857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Datumsplatzhalt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49154" name="Fußzeilenplatzhalt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smtClean="0"/>
              <a:t>Example MARC fields‘ RDF representation</a:t>
            </a:r>
          </a:p>
        </p:txBody>
      </p:sp>
      <p:graphicFrame>
        <p:nvGraphicFramePr>
          <p:cNvPr id="79347" name="Group 499"/>
          <p:cNvGraphicFramePr>
            <a:graphicFrameLocks noGrp="1"/>
          </p:cNvGraphicFramePr>
          <p:nvPr/>
        </p:nvGraphicFramePr>
        <p:xfrm>
          <a:off x="609600" y="2743200"/>
          <a:ext cx="1600200" cy="2370138"/>
        </p:xfrm>
        <a:graphic>
          <a:graphicData uri="http://schemas.openxmlformats.org/drawingml/2006/table">
            <a:tbl>
              <a:tblPr/>
              <a:tblGrid>
                <a:gridCol w="647700"/>
                <a:gridCol w="952500"/>
              </a:tblGrid>
              <a:tr h="388938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Field</a:t>
                      </a:r>
                    </a:p>
                  </a:txBody>
                  <a:tcPr horzOverflow="overflow">
                    <a:lnL cap="flat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Subfield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100</a:t>
                      </a:r>
                    </a:p>
                  </a:txBody>
                  <a:tcPr horzOverflow="overflow">
                    <a:lnL cap="flat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a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245</a:t>
                      </a:r>
                    </a:p>
                  </a:txBody>
                  <a:tcPr horzOverflow="overflow">
                    <a:lnL cap="flat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a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040</a:t>
                      </a:r>
                    </a:p>
                  </a:txBody>
                  <a:tcPr horzOverflow="overflow">
                    <a:lnL cap="flat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a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653</a:t>
                      </a:r>
                    </a:p>
                  </a:txBody>
                  <a:tcPr horzOverflow="overflow">
                    <a:lnL cap="flat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a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773</a:t>
                      </a:r>
                    </a:p>
                  </a:txBody>
                  <a:tcPr horzOverflow="overflow">
                    <a:lnL cap="flat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t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9175" name="AutoShape 236"/>
          <p:cNvSpPr>
            <a:spLocks noChangeArrowheads="1"/>
          </p:cNvSpPr>
          <p:nvPr/>
        </p:nvSpPr>
        <p:spPr bwMode="auto">
          <a:xfrm>
            <a:off x="2286000" y="3657600"/>
            <a:ext cx="3048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Arial" charset="0"/>
              <a:buNone/>
            </a:pPr>
            <a:endParaRPr lang="de-DE"/>
          </a:p>
        </p:txBody>
      </p:sp>
      <p:graphicFrame>
        <p:nvGraphicFramePr>
          <p:cNvPr id="79398" name="Group 550"/>
          <p:cNvGraphicFramePr>
            <a:graphicFrameLocks noGrp="1"/>
          </p:cNvGraphicFramePr>
          <p:nvPr/>
        </p:nvGraphicFramePr>
        <p:xfrm>
          <a:off x="2590800" y="2743200"/>
          <a:ext cx="6248400" cy="2657475"/>
        </p:xfrm>
        <a:graphic>
          <a:graphicData uri="http://schemas.openxmlformats.org/drawingml/2006/table">
            <a:tbl>
              <a:tblPr/>
              <a:tblGrid>
                <a:gridCol w="2362200"/>
                <a:gridCol w="2133600"/>
                <a:gridCol w="1752600"/>
              </a:tblGrid>
              <a:tr h="3587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Subject</a:t>
                      </a:r>
                    </a:p>
                  </a:txBody>
                  <a:tcPr horzOverflow="overflow">
                    <a:lnL cap="flat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Predicate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Object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bibo:document</a:t>
                      </a:r>
                    </a:p>
                  </a:txBody>
                  <a:tcPr horzOverflow="overflow">
                    <a:lnL cap="flat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dc:creator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foaf:Person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083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bibo:document</a:t>
                      </a:r>
                    </a:p>
                  </a:txBody>
                  <a:tcPr horzOverflow="overflow">
                    <a:lnL cap="flat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dc:title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xsd:string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irw:InformationResource</a:t>
                      </a:r>
                    </a:p>
                  </a:txBody>
                  <a:tcPr horzOverflow="overflow">
                    <a:lnL cap="flat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dc:creator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foaf:Organization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bibo:document</a:t>
                      </a:r>
                    </a:p>
                  </a:txBody>
                  <a:tcPr horzOverflow="overflow">
                    <a:lnL cap="flat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dc:subject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skos:Concept, xsd:string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53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bibo:document</a:t>
                      </a:r>
                    </a:p>
                  </a:txBody>
                  <a:tcPr horzOverflow="overflow">
                    <a:lnL cap="flat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dcterms:isPartOf, bibo:DocumentPart, dc:title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cs-CZ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xsd:string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9202" name="AutoShape 465"/>
          <p:cNvSpPr>
            <a:spLocks noChangeArrowheads="1"/>
          </p:cNvSpPr>
          <p:nvPr/>
        </p:nvSpPr>
        <p:spPr bwMode="auto">
          <a:xfrm>
            <a:off x="2286000" y="3200400"/>
            <a:ext cx="3048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Arial" charset="0"/>
              <a:buNone/>
            </a:pPr>
            <a:endParaRPr lang="de-DE"/>
          </a:p>
        </p:txBody>
      </p:sp>
      <p:sp>
        <p:nvSpPr>
          <p:cNvPr id="49203" name="AutoShape 466"/>
          <p:cNvSpPr>
            <a:spLocks noChangeArrowheads="1"/>
          </p:cNvSpPr>
          <p:nvPr/>
        </p:nvSpPr>
        <p:spPr bwMode="auto">
          <a:xfrm>
            <a:off x="2286000" y="4038600"/>
            <a:ext cx="3048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Arial" charset="0"/>
              <a:buNone/>
            </a:pPr>
            <a:endParaRPr lang="de-DE"/>
          </a:p>
        </p:txBody>
      </p:sp>
      <p:sp>
        <p:nvSpPr>
          <p:cNvPr id="49204" name="AutoShape 467"/>
          <p:cNvSpPr>
            <a:spLocks noChangeArrowheads="1"/>
          </p:cNvSpPr>
          <p:nvPr/>
        </p:nvSpPr>
        <p:spPr bwMode="auto">
          <a:xfrm>
            <a:off x="2286000" y="4419600"/>
            <a:ext cx="3048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Arial" charset="0"/>
              <a:buNone/>
            </a:pPr>
            <a:endParaRPr lang="de-DE"/>
          </a:p>
        </p:txBody>
      </p:sp>
      <p:sp>
        <p:nvSpPr>
          <p:cNvPr id="49205" name="AutoShape 468"/>
          <p:cNvSpPr>
            <a:spLocks noChangeArrowheads="1"/>
          </p:cNvSpPr>
          <p:nvPr/>
        </p:nvSpPr>
        <p:spPr bwMode="auto">
          <a:xfrm>
            <a:off x="2286000" y="4876800"/>
            <a:ext cx="3048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Arial" charset="0"/>
              <a:buNone/>
            </a:pPr>
            <a:endParaRPr lang="de-D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50178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50179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81534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mtClean="0"/>
              <a:t>Selection criteria</a:t>
            </a:r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153400" cy="4114800"/>
          </a:xfrm>
        </p:spPr>
        <p:txBody>
          <a:bodyPr/>
          <a:lstStyle/>
          <a:p>
            <a:pPr marL="608013" indent="-608013" eaLnBrk="1" hangingPunct="1">
              <a:lnSpc>
                <a:spcPct val="90000"/>
              </a:lnSpc>
              <a:spcBef>
                <a:spcPts val="700"/>
              </a:spcBef>
              <a:buFont typeface="Arial" charset="0"/>
              <a:buAutoNum type="arabicPeriod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cs-CZ" sz="2800" b="1" smtClean="0"/>
              <a:t>popularity </a:t>
            </a:r>
            <a:r>
              <a:rPr lang="cs-CZ" sz="2800" smtClean="0"/>
              <a:t>of</a:t>
            </a:r>
            <a:r>
              <a:rPr lang="en-GB" sz="2800" smtClean="0"/>
              <a:t> vocabulary (ontology) </a:t>
            </a:r>
          </a:p>
          <a:p>
            <a:pPr marL="608013" indent="-608013" algn="r" eaLnBrk="1" hangingPunct="1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GB" sz="2800" i="1" smtClean="0"/>
              <a:t>Well established and </a:t>
            </a:r>
            <a:r>
              <a:rPr lang="cs-CZ" sz="2800" i="1" smtClean="0"/>
              <a:t>the </a:t>
            </a:r>
            <a:r>
              <a:rPr lang="en-GB" sz="2800" i="1" smtClean="0"/>
              <a:t>most popular </a:t>
            </a:r>
          </a:p>
          <a:p>
            <a:pPr marL="608013" indent="-608013" algn="r" eaLnBrk="1" hangingPunct="1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GB" sz="2800" i="1" smtClean="0"/>
              <a:t>vocabularies are preferred.</a:t>
            </a:r>
          </a:p>
          <a:p>
            <a:pPr marL="608013" indent="-608013" algn="r" eaLnBrk="1" hangingPunct="1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endParaRPr lang="cs-CZ" sz="2800" i="1" smtClean="0"/>
          </a:p>
          <a:p>
            <a:pPr marL="608013" indent="-608013" eaLnBrk="1" hangingPunct="1">
              <a:lnSpc>
                <a:spcPct val="90000"/>
              </a:lnSpc>
              <a:spcBef>
                <a:spcPts val="700"/>
              </a:spcBef>
              <a:buFont typeface="Arial" charset="0"/>
              <a:buNone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cs-CZ" sz="2800" smtClean="0"/>
              <a:t>2.	concept </a:t>
            </a:r>
            <a:r>
              <a:rPr lang="cs-CZ" sz="2800" b="1" smtClean="0"/>
              <a:t>description match</a:t>
            </a:r>
          </a:p>
          <a:p>
            <a:pPr marL="608013" indent="-608013" algn="r" eaLnBrk="1" hangingPunct="1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cs-CZ" sz="2800" i="1" smtClean="0"/>
              <a:t>T</a:t>
            </a:r>
            <a:r>
              <a:rPr lang="en-GB" sz="2800" i="1" smtClean="0"/>
              <a:t>he description or meaning of the concept </a:t>
            </a:r>
          </a:p>
          <a:p>
            <a:pPr marL="608013" indent="-608013" algn="r" eaLnBrk="1" hangingPunct="1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GB" sz="2800" i="1" smtClean="0"/>
              <a:t>should </a:t>
            </a:r>
            <a:r>
              <a:rPr lang="en-GB" sz="2800" b="1" i="1" smtClean="0"/>
              <a:t>match</a:t>
            </a:r>
            <a:r>
              <a:rPr lang="en-GB" sz="2800" i="1" smtClean="0"/>
              <a:t> as closely as possible </a:t>
            </a:r>
          </a:p>
          <a:p>
            <a:pPr marL="608013" indent="-608013" algn="r" eaLnBrk="1" hangingPunct="1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GB" sz="2800" i="1" smtClean="0"/>
              <a:t>to MARC bibliographic data element meaning</a:t>
            </a:r>
            <a:r>
              <a:rPr lang="cs-CZ" sz="2800" i="1" smtClean="0"/>
              <a:t>.</a:t>
            </a:r>
          </a:p>
          <a:p>
            <a:pPr marL="608013" indent="-608013" eaLnBrk="1" hangingPunct="1">
              <a:lnSpc>
                <a:spcPct val="90000"/>
              </a:lnSpc>
              <a:spcBef>
                <a:spcPts val="700"/>
              </a:spcBef>
              <a:buFont typeface="Arial" charset="0"/>
              <a:buNone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endParaRPr lang="cs-CZ" sz="2800" i="1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52226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52227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mtClean="0"/>
              <a:t>Looking for the best concept…</a:t>
            </a:r>
          </a:p>
        </p:txBody>
      </p:sp>
      <p:sp>
        <p:nvSpPr>
          <p:cNvPr id="5222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indent="-341313" eaLnBrk="1" hangingPunct="1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cs-CZ" sz="2800" smtClean="0"/>
              <a:t>Vocabularies and domain ontologies:</a:t>
            </a:r>
          </a:p>
          <a:p>
            <a:pPr indent="-341313" eaLnBrk="1" hangingPunct="1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cs-CZ" sz="2800" smtClean="0"/>
          </a:p>
          <a:p>
            <a:pPr indent="-341313" eaLnBrk="1" hangingPunct="1">
              <a:lnSpc>
                <a:spcPct val="90000"/>
              </a:lnSpc>
              <a:spcBef>
                <a:spcPts val="70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GB" sz="2800" smtClean="0"/>
              <a:t>represent</a:t>
            </a:r>
            <a:r>
              <a:rPr lang="cs-CZ" sz="2800" smtClean="0"/>
              <a:t>ing</a:t>
            </a:r>
            <a:r>
              <a:rPr lang="en-GB" sz="2800" smtClean="0"/>
              <a:t> bibliographic information</a:t>
            </a:r>
          </a:p>
          <a:p>
            <a:pPr indent="-341313" eaLnBrk="1" hangingPunct="1">
              <a:lnSpc>
                <a:spcPct val="90000"/>
              </a:lnSpc>
              <a:spcBef>
                <a:spcPts val="70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GB" sz="2800" smtClean="0"/>
              <a:t>common vocabularies providing domain </a:t>
            </a:r>
            <a:r>
              <a:rPr lang="cs-CZ" sz="2800" smtClean="0"/>
              <a:t>agnostic</a:t>
            </a:r>
            <a:r>
              <a:rPr lang="en-GB" sz="2800" smtClean="0"/>
              <a:t> terms widely used </a:t>
            </a:r>
          </a:p>
          <a:p>
            <a:pPr indent="-341313" eaLnBrk="1" hangingPunct="1">
              <a:lnSpc>
                <a:spcPct val="90000"/>
              </a:lnSpc>
              <a:spcBef>
                <a:spcPts val="70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cs-CZ" sz="2800" smtClean="0"/>
              <a:t>specialized on </a:t>
            </a:r>
            <a:r>
              <a:rPr lang="en-GB" sz="2800" smtClean="0"/>
              <a:t>scientific research, academic environment and project's description</a:t>
            </a:r>
          </a:p>
          <a:p>
            <a:pPr indent="-341313" eaLnBrk="1" hangingPunct="1">
              <a:lnSpc>
                <a:spcPct val="90000"/>
              </a:lnSpc>
              <a:spcBef>
                <a:spcPts val="700"/>
              </a:spcBef>
              <a:buFont typeface="Arial" charset="0"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cs-CZ" sz="2800" smtClean="0"/>
          </a:p>
          <a:p>
            <a:pPr indent="-341313" algn="r"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GB" sz="2000" i="1" smtClean="0"/>
              <a:t>We felt free to combine various vocabularies to find the most appropriate descriptions for our data.</a:t>
            </a:r>
          </a:p>
          <a:p>
            <a:pPr indent="-341313" eaLnBrk="1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cs-CZ" sz="2000" i="1" smtClean="0"/>
          </a:p>
        </p:txBody>
      </p:sp>
      <p:pic>
        <p:nvPicPr>
          <p:cNvPr id="52229" name="Picture 4" descr="C:\Documents and Settings\Jitka\MojeDokumenty\doškoly\diplomka\search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48600" y="1524000"/>
            <a:ext cx="533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54274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54275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463550"/>
            <a:ext cx="7772400" cy="14351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mtClean="0"/>
              <a:t>Vocabularies and domain ontologies used</a:t>
            </a:r>
          </a:p>
        </p:txBody>
      </p:sp>
      <p:sp>
        <p:nvSpPr>
          <p:cNvPr id="5427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2400" y="1828800"/>
            <a:ext cx="8763000" cy="4114800"/>
          </a:xfrm>
        </p:spPr>
        <p:txBody>
          <a:bodyPr/>
          <a:lstStyle/>
          <a:p>
            <a:pPr marL="341313" indent="-341313" eaLnBrk="1" hangingPunct="1"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z="2800" smtClean="0"/>
              <a:t>B</a:t>
            </a:r>
            <a:r>
              <a:rPr lang="en-GB" sz="2800" smtClean="0"/>
              <a:t>ibliographic Ontology (bibo)</a:t>
            </a:r>
            <a:r>
              <a:rPr lang="cs-CZ" sz="2800" smtClean="0"/>
              <a:t> </a:t>
            </a:r>
            <a:r>
              <a:rPr lang="en-GB" sz="2000" smtClean="0">
                <a:solidFill>
                  <a:srgbClr val="CCCCFF"/>
                </a:solidFill>
                <a:hlinkClick r:id="rId3"/>
              </a:rPr>
              <a:t>http://purl.org/ontology/bibo/</a:t>
            </a:r>
          </a:p>
          <a:p>
            <a:pPr marL="341313" indent="-341313" eaLnBrk="1" hangingPunct="1"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smtClean="0"/>
              <a:t>Dublin Core (dc)</a:t>
            </a:r>
            <a:r>
              <a:rPr lang="cs-CZ" sz="2800" smtClean="0"/>
              <a:t> </a:t>
            </a:r>
            <a:r>
              <a:rPr lang="en-GB" sz="2000" smtClean="0">
                <a:solidFill>
                  <a:srgbClr val="CCCCFF"/>
                </a:solidFill>
                <a:hlinkClick r:id="rId4"/>
              </a:rPr>
              <a:t>http://purl.org/dc/elements/1.1/</a:t>
            </a:r>
          </a:p>
          <a:p>
            <a:pPr marL="341313" indent="-341313" eaLnBrk="1" hangingPunct="1"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smtClean="0"/>
              <a:t>Friend of a Friend (foaf)	</a:t>
            </a:r>
            <a:r>
              <a:rPr lang="en-GB" sz="2000" smtClean="0">
                <a:solidFill>
                  <a:srgbClr val="CCCCFF"/>
                </a:solidFill>
                <a:hlinkClick r:id="rId5"/>
              </a:rPr>
              <a:t>http://xmlns.com/foaf/0.1/</a:t>
            </a:r>
            <a:endParaRPr lang="cs-CZ" sz="2000" smtClean="0">
              <a:solidFill>
                <a:srgbClr val="CCCCFF"/>
              </a:solidFill>
              <a:hlinkClick r:id="rId6"/>
            </a:endParaRPr>
          </a:p>
          <a:p>
            <a:pPr marL="341313" indent="-341313" eaLnBrk="1" hangingPunct="1">
              <a:spcBef>
                <a:spcPts val="4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z="2800" smtClean="0"/>
              <a:t>Identity of Resources on the Web (irw) </a:t>
            </a:r>
            <a:r>
              <a:rPr lang="cs-CZ" sz="2000" smtClean="0">
                <a:hlinkClick r:id="rId7"/>
              </a:rPr>
              <a:t>http://ontologydesignpatterns.org/ont/web/irw.owl</a:t>
            </a:r>
            <a:endParaRPr lang="cs-CZ" sz="2000" smtClean="0"/>
          </a:p>
          <a:p>
            <a:pPr marL="341313" indent="-341313" eaLnBrk="1" hangingPunct="1">
              <a:spcBef>
                <a:spcPts val="4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z="2800" smtClean="0"/>
              <a:t>Simple Knowledge Organization System (skos) </a:t>
            </a:r>
            <a:r>
              <a:rPr lang="cs-CZ" sz="2000" smtClean="0">
                <a:hlinkClick r:id="rId8"/>
              </a:rPr>
              <a:t>http://www.w3.org/TR/skos-reference/skos.html</a:t>
            </a:r>
            <a:endParaRPr lang="cs-CZ" sz="2000" smtClean="0"/>
          </a:p>
          <a:p>
            <a:pPr marL="341313" indent="-341313" eaLnBrk="1" hangingPunct="1">
              <a:spcBef>
                <a:spcPts val="4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z="2800" smtClean="0"/>
              <a:t>…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56322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smtClean="0"/>
              <a:t>…Not found?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Tx/>
              <a:buFontTx/>
              <a:buNone/>
            </a:pPr>
            <a:r>
              <a:rPr lang="cs-CZ" smtClean="0"/>
              <a:t>Vocabularies</a:t>
            </a:r>
          </a:p>
          <a:p>
            <a:pPr eaLnBrk="1" hangingPunct="1"/>
            <a:r>
              <a:rPr lang="cs-CZ" smtClean="0"/>
              <a:t>currently not available</a:t>
            </a:r>
          </a:p>
          <a:p>
            <a:pPr eaLnBrk="1" hangingPunct="1">
              <a:buClrTx/>
              <a:buFontTx/>
              <a:buNone/>
            </a:pPr>
            <a:endParaRPr lang="cs-CZ" smtClean="0"/>
          </a:p>
          <a:p>
            <a:pPr eaLnBrk="1" hangingPunct="1"/>
            <a:r>
              <a:rPr lang="cs-CZ" smtClean="0">
                <a:latin typeface="Courier New" pitchFamily="49" charset="0"/>
              </a:rPr>
              <a:t>PlaceOfPublication</a:t>
            </a:r>
            <a:r>
              <a:rPr lang="cs-CZ" smtClean="0"/>
              <a:t> problem –appropriate property</a:t>
            </a:r>
          </a:p>
          <a:p>
            <a:pPr eaLnBrk="1" hangingPunct="1">
              <a:buFont typeface="Arial" charset="0"/>
              <a:buNone/>
            </a:pPr>
            <a:r>
              <a:rPr lang="cs-CZ" smtClean="0">
                <a:latin typeface="Courier New" pitchFamily="49" charset="0"/>
              </a:rPr>
              <a:t>dc:coverage, dc:spatial</a:t>
            </a:r>
            <a:r>
              <a:rPr lang="cs-CZ" smtClean="0"/>
              <a:t>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57346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57347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mtClean="0"/>
              <a:t>Project information modelling</a:t>
            </a:r>
          </a:p>
        </p:txBody>
      </p:sp>
      <p:sp>
        <p:nvSpPr>
          <p:cNvPr id="573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marL="341313" indent="-341313" eaLnBrk="1" hangingPunct="1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smtClean="0"/>
              <a:t>bibliographic data </a:t>
            </a:r>
            <a:r>
              <a:rPr lang="cs-CZ" sz="2800" smtClean="0"/>
              <a:t>are </a:t>
            </a:r>
            <a:r>
              <a:rPr lang="en-GB" sz="2800" smtClean="0"/>
              <a:t>enriched by information about the projects related to the described documents</a:t>
            </a:r>
          </a:p>
          <a:p>
            <a:pPr marL="341313" indent="-341313" eaLnBrk="1" hangingPunct="1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b="1" smtClean="0"/>
              <a:t>ARPFO</a:t>
            </a:r>
            <a:r>
              <a:rPr lang="en-GB" sz="2800" smtClean="0"/>
              <a:t>, </a:t>
            </a:r>
            <a:r>
              <a:rPr lang="en-GB" sz="2800" i="1" smtClean="0"/>
              <a:t>Academic Research Project Funding Ontology</a:t>
            </a:r>
            <a:r>
              <a:rPr lang="cs-CZ" sz="2800" smtClean="0"/>
              <a:t> – describing the project funding structure of academic research</a:t>
            </a:r>
          </a:p>
          <a:p>
            <a:pPr marL="341313" indent="-341313" eaLnBrk="1" hangingPunct="1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z="2800" b="1" smtClean="0"/>
              <a:t>SWRC</a:t>
            </a:r>
            <a:r>
              <a:rPr lang="cs-CZ" sz="2800" smtClean="0"/>
              <a:t>, </a:t>
            </a:r>
            <a:r>
              <a:rPr lang="cs-CZ" sz="2800" i="1" smtClean="0"/>
              <a:t>Semantic Web for Research Communities</a:t>
            </a:r>
            <a:r>
              <a:rPr lang="cs-CZ" sz="2800" smtClean="0"/>
              <a:t> – modelling entities of research communities.</a:t>
            </a:r>
          </a:p>
          <a:p>
            <a:pPr marL="341313" indent="-341313" eaLnBrk="1" hangingPunct="1">
              <a:spcBef>
                <a:spcPts val="700"/>
              </a:spcBef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cs-CZ" sz="2800" smtClean="0"/>
          </a:p>
        </p:txBody>
      </p:sp>
      <p:pic>
        <p:nvPicPr>
          <p:cNvPr id="57349" name="Picture 4" descr="C:\Documents and Settings\Jitka\MojeDokumenty\doškoly\diplomka\project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990600"/>
            <a:ext cx="46355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59394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59395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mtClean="0"/>
              <a:t>FRBRization?</a:t>
            </a:r>
          </a:p>
        </p:txBody>
      </p:sp>
      <p:sp>
        <p:nvSpPr>
          <p:cNvPr id="5939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8458200" cy="4114800"/>
          </a:xfrm>
        </p:spPr>
        <p:txBody>
          <a:bodyPr/>
          <a:lstStyle/>
          <a:p>
            <a:pPr indent="-341313" eaLnBrk="1" hangingPunct="1"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GB" smtClean="0"/>
              <a:t>Functional Requirements for Bibliographic Records (FRBR) abstract data model</a:t>
            </a:r>
          </a:p>
          <a:p>
            <a:pPr indent="-341313" eaLnBrk="1" hangingPunct="1"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cs-CZ" smtClean="0"/>
              <a:t>=</a:t>
            </a:r>
            <a:r>
              <a:rPr lang="en-GB" smtClean="0"/>
              <a:t> </a:t>
            </a:r>
            <a:r>
              <a:rPr lang="cs-CZ" smtClean="0"/>
              <a:t>„</a:t>
            </a:r>
            <a:r>
              <a:rPr lang="cs-CZ" sz="2400" i="1" smtClean="0"/>
              <a:t>framework for relating the data in bibliographic records and defining the basic level of functionality for records created by national bibliographic agencies“</a:t>
            </a:r>
            <a:r>
              <a:rPr lang="cs-CZ" smtClean="0"/>
              <a:t> </a:t>
            </a:r>
            <a:r>
              <a:rPr lang="cs-CZ" baseline="30000" smtClean="0">
                <a:hlinkClick r:id="rId3" action="ppaction://hlinksldjump"/>
              </a:rPr>
              <a:t>(1)</a:t>
            </a:r>
            <a:endParaRPr lang="cs-CZ" baseline="30000" smtClean="0"/>
          </a:p>
          <a:p>
            <a:pPr indent="-341313" eaLnBrk="1" hangingPunct="1">
              <a:spcBef>
                <a:spcPts val="50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GB" sz="2800" b="1" smtClean="0"/>
              <a:t>Expression of Core FRBR Concepts in RDF</a:t>
            </a:r>
            <a:r>
              <a:rPr lang="en-GB" smtClean="0"/>
              <a:t> vocabulary </a:t>
            </a:r>
            <a:r>
              <a:rPr lang="cs-CZ" smtClean="0"/>
              <a:t>describing </a:t>
            </a:r>
            <a:r>
              <a:rPr lang="en-GB" smtClean="0"/>
              <a:t>basic concepts and relations</a:t>
            </a:r>
            <a:r>
              <a:rPr lang="cs-CZ" smtClean="0"/>
              <a:t> </a:t>
            </a:r>
            <a:r>
              <a:rPr lang="en-GB" sz="2000" smtClean="0">
                <a:solidFill>
                  <a:srgbClr val="CCCCFF"/>
                </a:solidFill>
                <a:hlinkClick r:id="rId4"/>
              </a:rPr>
              <a:t>http://vocab.org/frbr/core.html</a:t>
            </a:r>
            <a:r>
              <a:rPr lang="en-GB" sz="2000" smtClean="0"/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61442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61443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cs-CZ" smtClean="0"/>
              <a:t>FRBRization?</a:t>
            </a:r>
          </a:p>
        </p:txBody>
      </p:sp>
      <p:sp>
        <p:nvSpPr>
          <p:cNvPr id="614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305800" cy="4114800"/>
          </a:xfrm>
        </p:spPr>
        <p:txBody>
          <a:bodyPr/>
          <a:lstStyle/>
          <a:p>
            <a:pPr marL="341313" indent="-341313" eaLnBrk="1" hangingPunct="1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smtClean="0"/>
              <a:t>classical library catalogue</a:t>
            </a:r>
            <a:r>
              <a:rPr lang="cs-CZ" sz="2800" smtClean="0"/>
              <a:t>: </a:t>
            </a:r>
            <a:r>
              <a:rPr lang="cs-CZ" sz="2000" i="1" smtClean="0"/>
              <a:t>framework for relating the data in bibliographic records, collocation of m</a:t>
            </a:r>
            <a:r>
              <a:rPr lang="en-GB" sz="2000" i="1" smtClean="0"/>
              <a:t>ultiple variations, versions, formats or editions of a single work</a:t>
            </a:r>
            <a:r>
              <a:rPr lang="cs-CZ" sz="2000" i="1" smtClean="0"/>
              <a:t> to </a:t>
            </a:r>
            <a:r>
              <a:rPr lang="en-GB" sz="2000" i="1" smtClean="0"/>
              <a:t>improve retrieval and displaying of bibliographic information</a:t>
            </a:r>
            <a:r>
              <a:rPr lang="cs-CZ" sz="2000" i="1" smtClean="0"/>
              <a:t> </a:t>
            </a:r>
          </a:p>
          <a:p>
            <a:pPr marL="341313" indent="-341313" eaLnBrk="1" hangingPunct="1">
              <a:spcBef>
                <a:spcPts val="600"/>
              </a:spcBef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smtClean="0"/>
              <a:t>Academic bibliography database </a:t>
            </a:r>
            <a:r>
              <a:rPr lang="en-GB" sz="2400" b="1" smtClean="0">
                <a:latin typeface="Symbol" pitchFamily="18" charset="2"/>
              </a:rPr>
              <a:t></a:t>
            </a:r>
            <a:r>
              <a:rPr lang="cs-CZ" sz="2400" b="1" smtClean="0"/>
              <a:t> </a:t>
            </a:r>
            <a:r>
              <a:rPr lang="en-GB" sz="2400" b="1" smtClean="0"/>
              <a:t>classical library data</a:t>
            </a:r>
            <a:r>
              <a:rPr lang="cs-CZ" sz="2800" smtClean="0"/>
              <a:t> </a:t>
            </a:r>
          </a:p>
          <a:p>
            <a:pPr marL="341313" indent="-341313" eaLnBrk="1" hangingPunct="1">
              <a:spcBef>
                <a:spcPts val="700"/>
              </a:spcBef>
              <a:buClrTx/>
              <a:buFontTx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smtClean="0"/>
              <a:t>Multiple versions, formats or editions of works occurring only rarely, if so</a:t>
            </a:r>
            <a:r>
              <a:rPr lang="cs-CZ" sz="2800" smtClean="0"/>
              <a:t> </a:t>
            </a:r>
          </a:p>
          <a:p>
            <a:pPr marL="341313" indent="-341313" eaLnBrk="1" hangingPunct="1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z="2800" smtClean="0"/>
              <a:t>Work, expression, manifestation, item</a:t>
            </a:r>
          </a:p>
          <a:p>
            <a:pPr marL="341313" indent="-341313" eaLnBrk="1" hangingPunct="1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smtClean="0"/>
              <a:t>not </a:t>
            </a:r>
            <a:r>
              <a:rPr lang="cs-CZ" sz="2800" smtClean="0"/>
              <a:t>very suitable for our data</a:t>
            </a:r>
          </a:p>
          <a:p>
            <a:pPr marL="341313" indent="-341313" eaLnBrk="1" hangingPunct="1">
              <a:spcBef>
                <a:spcPts val="700"/>
              </a:spcBef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cs-CZ" sz="280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63490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63491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8013"/>
            <a:ext cx="7772400" cy="1146175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mtClean="0"/>
              <a:t>Interlinking</a:t>
            </a:r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057400"/>
            <a:ext cx="7772400" cy="4114800"/>
          </a:xfrm>
        </p:spPr>
        <p:txBody>
          <a:bodyPr/>
          <a:lstStyle/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Deterministic – exact matches</a:t>
            </a:r>
          </a:p>
          <a:p>
            <a:pPr marL="741363" lvl="1" indent="-28416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Country codes, languages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Non-deterministic – probabilistic matching</a:t>
            </a:r>
          </a:p>
          <a:p>
            <a:pPr marL="741363" lvl="1" indent="-28416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Authors, documents</a:t>
            </a:r>
          </a:p>
          <a:p>
            <a:pPr marL="741363" lvl="1" indent="-28416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With manual revisions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65538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pic>
        <p:nvPicPr>
          <p:cNvPr id="65539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990600"/>
            <a:ext cx="7924800" cy="515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5540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6175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mtClean="0"/>
              <a:t>Interlinking</a:t>
            </a:r>
          </a:p>
        </p:txBody>
      </p:sp>
      <p:sp>
        <p:nvSpPr>
          <p:cNvPr id="6554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marL="341313" indent="-341313" algn="ctr"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>
                <a:solidFill>
                  <a:srgbClr val="5F5F5F"/>
                </a:solidFill>
              </a:rPr>
              <a:t>MARC Codes</a:t>
            </a:r>
          </a:p>
          <a:p>
            <a:pPr marL="341313" indent="-341313"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b="1" smtClean="0"/>
              <a:t>Geonames</a:t>
            </a:r>
          </a:p>
          <a:p>
            <a:pPr marL="341313" indent="-341313" algn="r"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VIAF</a:t>
            </a:r>
          </a:p>
          <a:p>
            <a:pPr marL="341313" indent="-341313" algn="ctr"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>
                <a:solidFill>
                  <a:srgbClr val="333333"/>
                </a:solidFill>
              </a:rPr>
              <a:t>DBLP</a:t>
            </a:r>
          </a:p>
          <a:p>
            <a:pPr marL="341313" indent="-341313"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>
                <a:solidFill>
                  <a:srgbClr val="5F5F5F"/>
                </a:solidFill>
              </a:rPr>
              <a:t>KEG web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67586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67587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8013"/>
            <a:ext cx="7772400" cy="1146175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mtClean="0"/>
              <a:t>Linked data user interface</a:t>
            </a:r>
          </a:p>
        </p:txBody>
      </p:sp>
      <p:sp>
        <p:nvSpPr>
          <p:cNvPr id="675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{3. principle} “</a:t>
            </a:r>
            <a:r>
              <a:rPr lang="cs-CZ" i="1" smtClean="0"/>
              <a:t>When someone looks up a URI, p</a:t>
            </a:r>
            <a:r>
              <a:rPr lang="en-US" i="1" smtClean="0"/>
              <a:t>rovide useful information</a:t>
            </a:r>
            <a:r>
              <a:rPr lang="cs-CZ" i="1" smtClean="0"/>
              <a:t>, using the standards</a:t>
            </a:r>
            <a:r>
              <a:rPr lang="cs-CZ" smtClean="0"/>
              <a:t> (RDF, SPARQL)</a:t>
            </a:r>
            <a:r>
              <a:rPr lang="en-US" smtClean="0"/>
              <a:t>.”</a:t>
            </a:r>
            <a:r>
              <a:rPr lang="cs-CZ" smtClean="0"/>
              <a:t> </a:t>
            </a:r>
            <a:r>
              <a:rPr lang="en-US" baseline="30000" smtClean="0">
                <a:hlinkClick r:id="rId3" action="ppaction://hlinksldjump"/>
              </a:rPr>
              <a:t>(2)</a:t>
            </a:r>
            <a:endParaRPr lang="en-US" baseline="30000" smtClean="0"/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Various representations of a resource</a:t>
            </a:r>
          </a:p>
          <a:p>
            <a:pPr marL="741363" lvl="1" indent="-28416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HTML, RDF/XML, RDF/Turtle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Various access mechanisms</a:t>
            </a:r>
          </a:p>
          <a:p>
            <a:pPr marL="741363" lvl="1" indent="-28416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SPARQL, search interface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Datumsplatzhalt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69634" name="Fußzeilenplatzhalter 2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pic>
        <p:nvPicPr>
          <p:cNvPr id="69635" name="Picture 1026" descr="E:\SWIB-obrazky\dpc-article.png"/>
          <p:cNvPicPr>
            <a:picLocks noChangeAspect="1" noChangeArrowheads="1"/>
          </p:cNvPicPr>
          <p:nvPr/>
        </p:nvPicPr>
        <p:blipFill>
          <a:blip r:embed="rId2"/>
          <a:srcRect l="11023" t="6702" r="12599"/>
          <a:stretch>
            <a:fillRect/>
          </a:stretch>
        </p:blipFill>
        <p:spPr bwMode="auto">
          <a:xfrm>
            <a:off x="762000" y="457200"/>
            <a:ext cx="7391400" cy="5303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Datumsplatzhalt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70658" name="Fußzeilenplatzhalter 2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pic>
        <p:nvPicPr>
          <p:cNvPr id="70659" name="Picture 2" descr="E:\SWIB-obrazky\dpc-publisher.png"/>
          <p:cNvPicPr>
            <a:picLocks noChangeAspect="1" noChangeArrowheads="1"/>
          </p:cNvPicPr>
          <p:nvPr/>
        </p:nvPicPr>
        <p:blipFill>
          <a:blip r:embed="rId2"/>
          <a:srcRect l="11194" t="6351" r="12686"/>
          <a:stretch>
            <a:fillRect/>
          </a:stretch>
        </p:blipFill>
        <p:spPr bwMode="auto">
          <a:xfrm>
            <a:off x="838200" y="381000"/>
            <a:ext cx="7772400" cy="561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Datumsplatzhalt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71682" name="Fußzeilenplatzhalter 2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pic>
        <p:nvPicPr>
          <p:cNvPr id="71683" name="Picture 2" descr="E:\SWIB-obrazky\dpc-project.png"/>
          <p:cNvPicPr>
            <a:picLocks noChangeAspect="1" noChangeArrowheads="1"/>
          </p:cNvPicPr>
          <p:nvPr/>
        </p:nvPicPr>
        <p:blipFill>
          <a:blip r:embed="rId2"/>
          <a:srcRect l="10715" t="6383" r="12143"/>
          <a:stretch>
            <a:fillRect/>
          </a:stretch>
        </p:blipFill>
        <p:spPr bwMode="auto">
          <a:xfrm>
            <a:off x="381000" y="228600"/>
            <a:ext cx="807720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Datumsplatzhalt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72706" name="Fußzeilenplatzhalter 2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pic>
        <p:nvPicPr>
          <p:cNvPr id="72707" name="Picture 2" descr="E:\SWIB-obrazky\dpc-concept.png"/>
          <p:cNvPicPr>
            <a:picLocks noChangeAspect="1" noChangeArrowheads="1"/>
          </p:cNvPicPr>
          <p:nvPr/>
        </p:nvPicPr>
        <p:blipFill>
          <a:blip r:embed="rId2"/>
          <a:srcRect l="11250" t="7446" r="12500"/>
          <a:stretch>
            <a:fillRect/>
          </a:stretch>
        </p:blipFill>
        <p:spPr bwMode="auto">
          <a:xfrm>
            <a:off x="457200" y="228600"/>
            <a:ext cx="807720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Datumsplatzhalt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73730" name="Fußzeilenplatzhalter 2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pic>
        <p:nvPicPr>
          <p:cNvPr id="73731" name="Picture 2" descr="E:\SWIB-obrazky\dpc-person.png"/>
          <p:cNvPicPr>
            <a:picLocks noChangeAspect="1" noChangeArrowheads="1"/>
          </p:cNvPicPr>
          <p:nvPr/>
        </p:nvPicPr>
        <p:blipFill>
          <a:blip r:embed="rId2"/>
          <a:srcRect l="10625" t="7446" r="12500"/>
          <a:stretch>
            <a:fillRect/>
          </a:stretch>
        </p:blipFill>
        <p:spPr bwMode="auto">
          <a:xfrm>
            <a:off x="533400" y="381000"/>
            <a:ext cx="7924800" cy="5605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74754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74755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8013"/>
            <a:ext cx="7772400" cy="1146175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mtClean="0"/>
              <a:t>Design issues</a:t>
            </a:r>
          </a:p>
        </p:txBody>
      </p:sp>
      <p:sp>
        <p:nvSpPr>
          <p:cNvPr id="7475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 smtClean="0"/>
              <a:t>Individual page for each resource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 smtClean="0"/>
              <a:t>Content negotiation (HTTP 303 redirects)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 smtClean="0"/>
              <a:t>Providing labels (title, name) instead of URIs for resources.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 smtClean="0"/>
              <a:t>Performance of SPARQL queries (caching is needed)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 smtClean="0"/>
              <a:t>Specific templates for distinct RDF types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76802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76803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8013"/>
            <a:ext cx="7772400" cy="1146175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mtClean="0"/>
              <a:t>URI patterns</a:t>
            </a:r>
          </a:p>
        </p:txBody>
      </p:sp>
      <p:sp>
        <p:nvSpPr>
          <p:cNvPr id="7680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URI pattern for each resource type</a:t>
            </a:r>
          </a:p>
          <a:p>
            <a:pPr marL="741363" lvl="1" indent="-28416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/id/{resource type}/{resource ID}.{format}</a:t>
            </a:r>
          </a:p>
          <a:p>
            <a:pPr lvl="2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e.g., /id/person/123, /def/concept/456.rdf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Hierarchical pattern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Neutral identifiers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78850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78851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8013"/>
            <a:ext cx="7772400" cy="1146175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mtClean="0"/>
              <a:t>Connecting with applications</a:t>
            </a:r>
          </a:p>
        </p:txBody>
      </p:sp>
      <p:sp>
        <p:nvSpPr>
          <p:cNvPr id="788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Data can be easily repurposed by other applications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Added metadata</a:t>
            </a:r>
          </a:p>
          <a:p>
            <a:pPr marL="741363" lvl="1" indent="-28416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COinS (Context Objects in Spans)</a:t>
            </a:r>
          </a:p>
          <a:p>
            <a:pPr lvl="2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OpenURL resolvers (SFX)</a:t>
            </a:r>
          </a:p>
          <a:p>
            <a:pPr lvl="2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Citation managers (Zotero)</a:t>
            </a:r>
          </a:p>
          <a:p>
            <a:pPr marL="741363" lvl="1" indent="-28416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RDFa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80898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pic>
        <p:nvPicPr>
          <p:cNvPr id="80899" name="Picture 4" descr="C:\Documents and Settings\Jitka\MojeDokumenty\doškoly\SWIB10\wayup.jpg"/>
          <p:cNvPicPr>
            <a:picLocks noChangeAspect="1" noChangeArrowheads="1"/>
          </p:cNvPicPr>
          <p:nvPr/>
        </p:nvPicPr>
        <p:blipFill>
          <a:blip r:embed="rId3">
            <a:lum bright="12000" contrast="48000"/>
          </a:blip>
          <a:srcRect l="1857" t="31947" r="58339" b="38887"/>
          <a:stretch>
            <a:fillRect/>
          </a:stretch>
        </p:blipFill>
        <p:spPr bwMode="auto">
          <a:xfrm>
            <a:off x="4495800" y="1066800"/>
            <a:ext cx="31242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0900" name="Rectangle 1"/>
          <p:cNvSpPr>
            <a:spLocks noGrp="1" noChangeArrowheads="1"/>
          </p:cNvSpPr>
          <p:nvPr>
            <p:ph type="title"/>
          </p:nvPr>
        </p:nvSpPr>
        <p:spPr>
          <a:xfrm>
            <a:off x="914400" y="314325"/>
            <a:ext cx="7772400" cy="1435100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mtClean="0"/>
              <a:t>Future challenges and possibilities</a:t>
            </a:r>
          </a:p>
        </p:txBody>
      </p:sp>
      <p:sp>
        <p:nvSpPr>
          <p:cNvPr id="8090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62000" y="2057400"/>
            <a:ext cx="7772400" cy="4114800"/>
          </a:xfrm>
        </p:spPr>
        <p:txBody>
          <a:bodyPr/>
          <a:lstStyle/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Further interlinking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Data cleaning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Synchronization with the original dataset</a:t>
            </a:r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Better user interface (visualizations)</a:t>
            </a:r>
            <a:endParaRPr lang="cs-CZ" smtClean="0"/>
          </a:p>
          <a:p>
            <a:pPr marL="341313" indent="-34131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smtClean="0"/>
              <a:t>…</a:t>
            </a:r>
            <a:endParaRPr lang="en-US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82946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smtClean="0"/>
              <a:t>References</a:t>
            </a:r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Arial" charset="0"/>
              <a:buNone/>
            </a:pPr>
            <a:r>
              <a:rPr lang="cs-CZ" sz="2800" smtClean="0"/>
              <a:t>1)IFLA. Functional Requirements for Bibliographic Records – Final report 1998 [online]. Latest revision: 11 April 2010. Available from WWW: </a:t>
            </a:r>
            <a:r>
              <a:rPr lang="cs-CZ" sz="2800" smtClean="0">
                <a:hlinkClick r:id="rId2"/>
              </a:rPr>
              <a:t>http://archive.ifla.org/VII/s13/frbr/frbr1.htm</a:t>
            </a:r>
            <a:endParaRPr lang="cs-CZ" sz="2800" smtClean="0"/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r>
              <a:rPr lang="cs-CZ" sz="2800" smtClean="0"/>
              <a:t>2)BERNERS-LEE, Tim. Linked data [online]. W3C, Last change 2009/06/18. Available from WWW: </a:t>
            </a:r>
            <a:r>
              <a:rPr lang="cs-CZ" sz="2800" smtClean="0">
                <a:hlinkClick r:id="rId3"/>
              </a:rPr>
              <a:t>http://www.w3.org/DesignIssues/LinkedData.html</a:t>
            </a:r>
            <a:endParaRPr lang="cs-CZ" sz="2800" smtClean="0"/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r>
              <a:rPr lang="cs-CZ" sz="2800" smtClean="0"/>
              <a:t> </a:t>
            </a:r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endParaRPr lang="cs-CZ" sz="2800" smtClean="0"/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endParaRPr lang="cs-CZ" sz="2800" smtClean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Datumsplatzhalt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cs-CZ" smtClean="0"/>
              <a:t>30.11.2010</a:t>
            </a:r>
            <a:endParaRPr lang="en-US" smtClean="0"/>
          </a:p>
        </p:txBody>
      </p:sp>
      <p:sp>
        <p:nvSpPr>
          <p:cNvPr id="83971" name="Fußzeilenplatzhalt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cs-CZ" smtClean="0"/>
              <a:t>Exposing</a:t>
            </a:r>
            <a:r>
              <a:rPr lang="en-GB" smtClean="0"/>
              <a:t> </a:t>
            </a:r>
            <a:r>
              <a:rPr lang="cs-CZ" smtClean="0"/>
              <a:t>t</a:t>
            </a:r>
            <a:r>
              <a:rPr lang="en-GB" smtClean="0"/>
              <a:t>he</a:t>
            </a:r>
            <a:r>
              <a:rPr lang="cs-CZ" smtClean="0"/>
              <a:t> </a:t>
            </a:r>
            <a:r>
              <a:rPr lang="en-GB" smtClean="0"/>
              <a:t>University of Economics‘ academic bibliography database </a:t>
            </a:r>
            <a:r>
              <a:rPr lang="cs-CZ" smtClean="0"/>
              <a:t>a</a:t>
            </a:r>
            <a:r>
              <a:rPr lang="en-GB" smtClean="0"/>
              <a:t>s linked data</a:t>
            </a:r>
            <a:endParaRPr lang="en-US" smtClean="0"/>
          </a:p>
        </p:txBody>
      </p:sp>
      <p:pic>
        <p:nvPicPr>
          <p:cNvPr id="83972" name="Picture 6" descr="C:\Documents and Settings\Jitka\MojeDokumenty\doškoly\SWIB10\question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5600" y="2362200"/>
            <a:ext cx="3656013" cy="300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3973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219200"/>
            <a:ext cx="7770813" cy="1141413"/>
          </a:xfrm>
        </p:spPr>
        <p:txBody>
          <a:bodyPr/>
          <a:lstStyle/>
          <a:p>
            <a:pPr eaLnBrk="1" hangingPunct="1"/>
            <a:r>
              <a:rPr lang="cs-CZ" smtClean="0"/>
              <a:t>Thank you for your attention.</a:t>
            </a:r>
          </a:p>
        </p:txBody>
      </p:sp>
      <p:sp>
        <p:nvSpPr>
          <p:cNvPr id="839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</a:pPr>
            <a:endParaRPr lang="cs-CZ" smtClean="0"/>
          </a:p>
          <a:p>
            <a:pPr algn="ctr" eaLnBrk="1" hangingPunct="1">
              <a:buFont typeface="Arial" charset="0"/>
              <a:buNone/>
            </a:pPr>
            <a:r>
              <a:rPr lang="cs-CZ" smtClean="0">
                <a:solidFill>
                  <a:schemeClr val="bg1"/>
                </a:solidFill>
              </a:rPr>
              <a:t>…</a:t>
            </a:r>
            <a:r>
              <a:rPr lang="cs-CZ" i="1" smtClean="0">
                <a:solidFill>
                  <a:schemeClr val="bg1"/>
                </a:solidFill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33CC"/>
      </a:hlink>
      <a:folHlink>
        <a:srgbClr val="0033CC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1577</Words>
  <Application>Microsoft Office PowerPoint</Application>
  <PresentationFormat>On-screen Show (4:3)</PresentationFormat>
  <Paragraphs>306</Paragraphs>
  <Slides>40</Slides>
  <Notes>28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Entwurfsvorlage</vt:lpstr>
      </vt:variant>
      <vt:variant>
        <vt:i4>1</vt:i4>
      </vt:variant>
      <vt:variant>
        <vt:lpstr>Folientitel</vt:lpstr>
      </vt:variant>
      <vt:variant>
        <vt:i4>40</vt:i4>
      </vt:variant>
    </vt:vector>
  </HeadingPairs>
  <TitlesOfParts>
    <vt:vector size="44" baseType="lpstr">
      <vt:lpstr>Arial</vt:lpstr>
      <vt:lpstr>Symbol</vt:lpstr>
      <vt:lpstr>Courier New</vt:lpstr>
      <vt:lpstr>Default Design</vt:lpstr>
      <vt:lpstr>Exposing  the University of Economics‘ academic bibliography database  as linked data </vt:lpstr>
      <vt:lpstr>All about…</vt:lpstr>
      <vt:lpstr>Presentation Outline</vt:lpstr>
      <vt:lpstr>At the beginning… </vt:lpstr>
      <vt:lpstr>Folie 5</vt:lpstr>
      <vt:lpstr>Academic bibliography database</vt:lpstr>
      <vt:lpstr>Linked data</vt:lpstr>
      <vt:lpstr>Linked data benefits</vt:lpstr>
      <vt:lpstr>What about our bibliographic data?</vt:lpstr>
      <vt:lpstr>Transformation process</vt:lpstr>
      <vt:lpstr>Problems of original data</vt:lpstr>
      <vt:lpstr>Folie 12</vt:lpstr>
      <vt:lpstr>Publisher names</vt:lpstr>
      <vt:lpstr>Synsets</vt:lpstr>
      <vt:lpstr>Information to transform</vt:lpstr>
      <vt:lpstr>Selection tools</vt:lpstr>
      <vt:lpstr>Data modelling</vt:lpstr>
      <vt:lpstr>Resource types</vt:lpstr>
      <vt:lpstr>Example MARC fields‘ RDF representation</vt:lpstr>
      <vt:lpstr>Selection criteria</vt:lpstr>
      <vt:lpstr>Looking for the best concept…</vt:lpstr>
      <vt:lpstr>Vocabularies and domain ontologies used</vt:lpstr>
      <vt:lpstr>…Not found?</vt:lpstr>
      <vt:lpstr>Project information modelling</vt:lpstr>
      <vt:lpstr>FRBRization?</vt:lpstr>
      <vt:lpstr>FRBRization?</vt:lpstr>
      <vt:lpstr>Interlinking</vt:lpstr>
      <vt:lpstr>Interlinking</vt:lpstr>
      <vt:lpstr>Linked data user interface</vt:lpstr>
      <vt:lpstr>Folie 30</vt:lpstr>
      <vt:lpstr>Folie 31</vt:lpstr>
      <vt:lpstr>Folie 32</vt:lpstr>
      <vt:lpstr>Folie 33</vt:lpstr>
      <vt:lpstr>Folie 34</vt:lpstr>
      <vt:lpstr>Design issues</vt:lpstr>
      <vt:lpstr>URI patterns</vt:lpstr>
      <vt:lpstr>Connecting with applications</vt:lpstr>
      <vt:lpstr>Future challenges and possibilities</vt:lpstr>
      <vt:lpstr>References</vt:lpstr>
      <vt:lpstr>Thank you for your attention.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Publishing  the University of Economics‘ academic bibliography database  as linked data</dc:title>
  <dc:creator>Jitka Hladká</dc:creator>
  <cp:lastModifiedBy>Jens Britta</cp:lastModifiedBy>
  <cp:revision>42</cp:revision>
  <cp:lastPrinted>1601-01-01T00:00:00Z</cp:lastPrinted>
  <dcterms:created xsi:type="dcterms:W3CDTF">2010-11-24T10:12:36Z</dcterms:created>
  <dcterms:modified xsi:type="dcterms:W3CDTF">2011-01-05T13:23:51Z</dcterms:modified>
</cp:coreProperties>
</file>