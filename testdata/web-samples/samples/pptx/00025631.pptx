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slides/slide94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83.xml" ContentType="application/vnd.openxmlformats-officedocument.presentationml.slide+xml"/>
  <Override PartName="/ppt/slides/slide102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s/slide99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slides/slide95.xml" ContentType="application/vnd.openxmlformats-officedocument.presentationml.slide+xml"/>
  <Override PartName="/ppt/slides/slide103.xml" ContentType="application/vnd.openxmlformats-officedocument.presentationml.slide+xml"/>
  <Override PartName="/ppt/slides/slide10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Default Extension="bin" ContentType="application/vnd.openxmlformats-officedocument.oleObject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slides/slide93.xml" ContentType="application/vnd.openxmlformats-officedocument.presentationml.slide+xml"/>
  <Override PartName="/ppt/slides/slide101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s/slide80.xml" ContentType="application/vnd.openxmlformats-officedocument.presentationml.slide+xml"/>
  <Override PartName="/ppt/slides/slide82.xml" ContentType="application/vnd.openxmlformats-officedocument.presentationml.slide+xml"/>
  <Override PartName="/ppt/slides/slide91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Default Extension="vml" ContentType="application/vnd.openxmlformats-officedocument.vmlDrawing"/>
  <Override PartName="/ppt/slides/slide89.xml" ContentType="application/vnd.openxmlformats-officedocument.presentationml.slide+xml"/>
  <Override PartName="/ppt/slides/slide98.xml" ContentType="application/vnd.openxmlformats-officedocument.presentationml.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slides/slide78.xml" ContentType="application/vnd.openxmlformats-officedocument.presentationml.slide+xml"/>
  <Override PartName="/ppt/slides/slide87.xml" ContentType="application/vnd.openxmlformats-officedocument.presentationml.slide+xml"/>
  <Override PartName="/ppt/slides/slide96.xml" ContentType="application/vnd.openxmlformats-officedocument.presentationml.slide+xml"/>
  <Override PartName="/ppt/slides/slide106.xml" ContentType="application/vnd.openxmlformats-officedocument.presentationml.slide+xml"/>
  <Override PartName="/ppt/handoutMasters/handoutMaster1.xml" ContentType="application/vnd.openxmlformats-officedocument.presentationml.handoutMaster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s/slide104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s/slide92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Override PartName="/ppt/slides/slide100.xml" ContentType="application/vnd.openxmlformats-officedocument.presentationml.slide+xml"/>
  <Default Extension="wmf" ContentType="image/x-wmf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79.xml" ContentType="application/vnd.openxmlformats-officedocument.presentationml.slide+xml"/>
  <Override PartName="/ppt/slides/slide7.xml" ContentType="application/vnd.openxmlformats-officedocument.presentationml.slide+xml"/>
  <Override PartName="/ppt/slides/slide68.xml" ContentType="application/vnd.openxmlformats-officedocument.presentationml.slide+xml"/>
  <Override PartName="/ppt/slides/slide97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8" r:id="rId1"/>
  </p:sldMasterIdLst>
  <p:notesMasterIdLst>
    <p:notesMasterId r:id="rId108"/>
  </p:notesMasterIdLst>
  <p:handoutMasterIdLst>
    <p:handoutMasterId r:id="rId109"/>
  </p:handoutMasterIdLst>
  <p:sldIdLst>
    <p:sldId id="521" r:id="rId2"/>
    <p:sldId id="663" r:id="rId3"/>
    <p:sldId id="640" r:id="rId4"/>
    <p:sldId id="641" r:id="rId5"/>
    <p:sldId id="659" r:id="rId6"/>
    <p:sldId id="642" r:id="rId7"/>
    <p:sldId id="644" r:id="rId8"/>
    <p:sldId id="529" r:id="rId9"/>
    <p:sldId id="614" r:id="rId10"/>
    <p:sldId id="652" r:id="rId11"/>
    <p:sldId id="684" r:id="rId12"/>
    <p:sldId id="589" r:id="rId13"/>
    <p:sldId id="752" r:id="rId14"/>
    <p:sldId id="616" r:id="rId15"/>
    <p:sldId id="635" r:id="rId16"/>
    <p:sldId id="716" r:id="rId17"/>
    <p:sldId id="683" r:id="rId18"/>
    <p:sldId id="700" r:id="rId19"/>
    <p:sldId id="530" r:id="rId20"/>
    <p:sldId id="646" r:id="rId21"/>
    <p:sldId id="647" r:id="rId22"/>
    <p:sldId id="708" r:id="rId23"/>
    <p:sldId id="709" r:id="rId24"/>
    <p:sldId id="667" r:id="rId25"/>
    <p:sldId id="584" r:id="rId26"/>
    <p:sldId id="668" r:id="rId27"/>
    <p:sldId id="665" r:id="rId28"/>
    <p:sldId id="753" r:id="rId29"/>
    <p:sldId id="757" r:id="rId30"/>
    <p:sldId id="702" r:id="rId31"/>
    <p:sldId id="703" r:id="rId32"/>
    <p:sldId id="704" r:id="rId33"/>
    <p:sldId id="754" r:id="rId34"/>
    <p:sldId id="755" r:id="rId35"/>
    <p:sldId id="758" r:id="rId36"/>
    <p:sldId id="705" r:id="rId37"/>
    <p:sldId id="706" r:id="rId38"/>
    <p:sldId id="685" r:id="rId39"/>
    <p:sldId id="686" r:id="rId40"/>
    <p:sldId id="677" r:id="rId41"/>
    <p:sldId id="678" r:id="rId42"/>
    <p:sldId id="767" r:id="rId43"/>
    <p:sldId id="710" r:id="rId44"/>
    <p:sldId id="711" r:id="rId45"/>
    <p:sldId id="712" r:id="rId46"/>
    <p:sldId id="713" r:id="rId47"/>
    <p:sldId id="714" r:id="rId48"/>
    <p:sldId id="715" r:id="rId49"/>
    <p:sldId id="759" r:id="rId50"/>
    <p:sldId id="717" r:id="rId51"/>
    <p:sldId id="738" r:id="rId52"/>
    <p:sldId id="739" r:id="rId53"/>
    <p:sldId id="720" r:id="rId54"/>
    <p:sldId id="723" r:id="rId55"/>
    <p:sldId id="724" r:id="rId56"/>
    <p:sldId id="725" r:id="rId57"/>
    <p:sldId id="726" r:id="rId58"/>
    <p:sldId id="727" r:id="rId59"/>
    <p:sldId id="728" r:id="rId60"/>
    <p:sldId id="729" r:id="rId61"/>
    <p:sldId id="741" r:id="rId62"/>
    <p:sldId id="761" r:id="rId63"/>
    <p:sldId id="707" r:id="rId64"/>
    <p:sldId id="756" r:id="rId65"/>
    <p:sldId id="762" r:id="rId66"/>
    <p:sldId id="763" r:id="rId67"/>
    <p:sldId id="764" r:id="rId68"/>
    <p:sldId id="765" r:id="rId69"/>
    <p:sldId id="766" r:id="rId70"/>
    <p:sldId id="768" r:id="rId71"/>
    <p:sldId id="679" r:id="rId72"/>
    <p:sldId id="680" r:id="rId73"/>
    <p:sldId id="656" r:id="rId74"/>
    <p:sldId id="544" r:id="rId75"/>
    <p:sldId id="549" r:id="rId76"/>
    <p:sldId id="550" r:id="rId77"/>
    <p:sldId id="730" r:id="rId78"/>
    <p:sldId id="731" r:id="rId79"/>
    <p:sldId id="742" r:id="rId80"/>
    <p:sldId id="732" r:id="rId81"/>
    <p:sldId id="733" r:id="rId82"/>
    <p:sldId id="734" r:id="rId83"/>
    <p:sldId id="735" r:id="rId84"/>
    <p:sldId id="692" r:id="rId85"/>
    <p:sldId id="736" r:id="rId86"/>
    <p:sldId id="737" r:id="rId87"/>
    <p:sldId id="612" r:id="rId88"/>
    <p:sldId id="627" r:id="rId89"/>
    <p:sldId id="632" r:id="rId90"/>
    <p:sldId id="617" r:id="rId91"/>
    <p:sldId id="628" r:id="rId92"/>
    <p:sldId id="662" r:id="rId93"/>
    <p:sldId id="682" r:id="rId94"/>
    <p:sldId id="743" r:id="rId95"/>
    <p:sldId id="744" r:id="rId96"/>
    <p:sldId id="745" r:id="rId97"/>
    <p:sldId id="746" r:id="rId98"/>
    <p:sldId id="747" r:id="rId99"/>
    <p:sldId id="748" r:id="rId100"/>
    <p:sldId id="749" r:id="rId101"/>
    <p:sldId id="750" r:id="rId102"/>
    <p:sldId id="626" r:id="rId103"/>
    <p:sldId id="633" r:id="rId104"/>
    <p:sldId id="606" r:id="rId105"/>
    <p:sldId id="607" r:id="rId106"/>
    <p:sldId id="760" r:id="rId10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000099"/>
    <a:srgbClr val="FF0000"/>
    <a:srgbClr val="EAEAEA"/>
    <a:srgbClr val="800080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4528" autoAdjust="0"/>
    <p:restoredTop sz="94660"/>
  </p:normalViewPr>
  <p:slideViewPr>
    <p:cSldViewPr snapToGrid="0">
      <p:cViewPr>
        <p:scale>
          <a:sx n="66" d="100"/>
          <a:sy n="66" d="100"/>
        </p:scale>
        <p:origin x="-1536" y="-1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3252"/>
    </p:cViewPr>
  </p:sorterViewPr>
  <p:gridSpacing cx="36868100" cy="368681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110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handoutMaster" Target="handoutMasters/handoutMaster1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9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4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5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68.wmf"/><Relationship Id="rId1" Type="http://schemas.openxmlformats.org/officeDocument/2006/relationships/image" Target="../media/image67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73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79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87.wmf"/><Relationship Id="rId1" Type="http://schemas.openxmlformats.org/officeDocument/2006/relationships/image" Target="../media/image86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8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wmf"/><Relationship Id="rId2" Type="http://schemas.openxmlformats.org/officeDocument/2006/relationships/image" Target="../media/image103.wmf"/><Relationship Id="rId1" Type="http://schemas.openxmlformats.org/officeDocument/2006/relationships/image" Target="../media/image102.wmf"/><Relationship Id="rId4" Type="http://schemas.openxmlformats.org/officeDocument/2006/relationships/image" Target="../media/image105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wmf"/><Relationship Id="rId1" Type="http://schemas.openxmlformats.org/officeDocument/2006/relationships/image" Target="../media/image107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4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6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7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1843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dirty="0"/>
          </a:p>
        </p:txBody>
      </p:sp>
      <p:sp>
        <p:nvSpPr>
          <p:cNvPr id="1843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1843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7C34109B-5221-4E93-8DE6-FBDD7DCA9B31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dirty="0"/>
          </a:p>
        </p:txBody>
      </p:sp>
      <p:sp>
        <p:nvSpPr>
          <p:cNvPr id="563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563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563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563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CD5FA66-99FB-473D-9F5D-DD9E14161DFE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5FA66-99FB-473D-9F5D-DD9E14161DFE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682255D-591E-4671-B998-B4D4626FB74A}" type="slidenum">
              <a:rPr lang="en-US"/>
              <a:pPr/>
              <a:t>9</a:t>
            </a:fld>
            <a:endParaRPr lang="en-US" dirty="0"/>
          </a:p>
        </p:txBody>
      </p:sp>
      <p:sp>
        <p:nvSpPr>
          <p:cNvPr id="377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7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3C050B8-2FEF-4BC7-BD9D-17B39D4A9DDA}" type="slidenum">
              <a:rPr lang="en-US"/>
              <a:pPr/>
              <a:t>32</a:t>
            </a:fld>
            <a:endParaRPr lang="en-US"/>
          </a:p>
        </p:txBody>
      </p:sp>
      <p:sp>
        <p:nvSpPr>
          <p:cNvPr id="401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1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4CF5970-B0EE-4CFE-A05C-15374283B719}" type="slidenum">
              <a:rPr lang="en-US"/>
              <a:pPr/>
              <a:t>68</a:t>
            </a:fld>
            <a:endParaRPr lang="en-US" dirty="0"/>
          </a:p>
        </p:txBody>
      </p:sp>
      <p:sp>
        <p:nvSpPr>
          <p:cNvPr id="480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0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Diameter first, DPL second</a:t>
            </a:r>
          </a:p>
          <a:p>
            <a:r>
              <a:rPr lang="en-US" dirty="0"/>
              <a:t>Check diameter formulas</a:t>
            </a:r>
          </a:p>
          <a:p>
            <a:r>
              <a:rPr lang="en-US" dirty="0"/>
              <a:t>As the network grows the distances between nodes slowly grow</a:t>
            </a:r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5FA66-99FB-473D-9F5D-DD9E14161DFE}" type="slidenum">
              <a:rPr lang="en-US" smtClean="0"/>
              <a:pPr/>
              <a:t>86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4DA74F5-3CA2-495C-AE65-606D50CB064D}" type="datetime1">
              <a:rPr lang="en-US" smtClean="0"/>
              <a:pPr/>
              <a:t>8/8/2010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Complex Networks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9F1B11-1974-4C4B-B99B-4DF821801DA7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565F065-13DE-464E-9851-1154444C0E40}" type="datetime1">
              <a:rPr lang="en-US" smtClean="0"/>
              <a:pPr/>
              <a:t>8/8/2010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Complex Networks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1B9044-B1D8-49D8-9F05-DCB5B06F2D15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C890181-5C2E-4A86-A934-B30E13CF1D9D}" type="datetime1">
              <a:rPr lang="en-US" smtClean="0"/>
              <a:pPr/>
              <a:t>8/8/2010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Complex Networks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F94DF9-BB09-4951-BA26-FAE9731B7B78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51EE3A8-629E-44EF-A4DE-7768D0F1CB30}" type="datetime1">
              <a:rPr lang="en-US" smtClean="0"/>
              <a:pPr/>
              <a:t>8/8/2010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Complex Networks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3E2B7F-CE9E-4B6B-90CD-DE85A795D3C0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ADC7E4C-971F-420F-A625-7F17F9AD768A}" type="datetime1">
              <a:rPr lang="en-US" smtClean="0"/>
              <a:pPr/>
              <a:t>8/8/2010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Complex Networks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2B1CD5-B894-4A0A-8043-E3F73F76455B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F243952-6E32-47E3-B8CA-CAAD41BC52FC}" type="datetime1">
              <a:rPr lang="en-US" smtClean="0"/>
              <a:pPr/>
              <a:t>8/8/2010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Complex Networks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514EEF-74F5-4CA9-BF99-54C4F3BD7677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B2AC00-F4EB-48C1-9425-B203830864D3}" type="datetime1">
              <a:rPr lang="en-US" smtClean="0"/>
              <a:pPr/>
              <a:t>8/8/2010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Complex Networks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A5FD6F-D795-459A-BF32-753F9B0F320B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2BA03F9-B2C9-4195-8836-F725988267BC}" type="datetime1">
              <a:rPr lang="en-US" smtClean="0"/>
              <a:pPr/>
              <a:t>8/8/2010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Complex Networks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A7D087-79CC-467D-B0C4-EDE90F85C424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C581198-385E-4798-A263-A65DC57622FD}" type="datetime1">
              <a:rPr lang="en-US" smtClean="0"/>
              <a:pPr/>
              <a:t>8/8/2010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Complex Networks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49542B-92BA-4C17-A7FD-6393EE7799D6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6E61B6A-42C4-4F2D-97CC-ED45D94D20D4}" type="datetime1">
              <a:rPr lang="en-US" smtClean="0"/>
              <a:pPr/>
              <a:t>8/8/2010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Complex Networks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87C2D8-6BE0-4D5F-9731-DDF1B7095F1F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E159A29-3724-436C-93DF-838368023D32}" type="datetime1">
              <a:rPr lang="en-US" smtClean="0"/>
              <a:pPr/>
              <a:t>8/8/2010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Complex Networks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E50B1E-B75C-4D6E-B6B0-9906B7FF7DA4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59D9D7F6-54AD-45D3-8B01-04E58BF0CD79}" type="datetime1">
              <a:rPr lang="en-US" smtClean="0"/>
              <a:pPr/>
              <a:t>8/8/2010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Complex Networks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652A84E7-A79C-45E3-A9B3-216D4751D0BB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DBF9CEC0-1750-4C35-B3CB-94C46F5E337B}" type="datetime1">
              <a:rPr lang="en-US" smtClean="0"/>
              <a:pPr/>
              <a:t>8/8/2010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Complex Networks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6EB6A9CF-D76F-4ABE-B56E-6687EC42304B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40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fld id="{EE21E58F-39AF-4360-A43D-7A856FCFAC33}" type="datetime1">
              <a:rPr lang="en-US" smtClean="0"/>
              <a:pPr/>
              <a:t>8/8/2010</a:t>
            </a:fld>
            <a:endParaRPr lang="en-US" dirty="0"/>
          </a:p>
        </p:txBody>
      </p:sp>
      <p:sp>
        <p:nvSpPr>
          <p:cNvPr id="10240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r>
              <a:rPr lang="en-US" smtClean="0"/>
              <a:t>Complex Networks</a:t>
            </a:r>
            <a:endParaRPr lang="en-US" dirty="0"/>
          </a:p>
        </p:txBody>
      </p:sp>
      <p:sp>
        <p:nvSpPr>
          <p:cNvPr id="10240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05EA982-AB28-4683-9E73-4718F7B53F0F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</p:sldLayoutIdLst>
  <p:timing>
    <p:tnLst>
      <p:par>
        <p:cTn id="1" dur="indefinite" restart="never" nodeType="tmRoot"/>
      </p:par>
    </p:tnLst>
  </p:timing>
  <p:hf hd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12" Type="http://schemas.openxmlformats.org/officeDocument/2006/relationships/image" Target="../media/image1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jpeg"/><Relationship Id="rId5" Type="http://schemas.openxmlformats.org/officeDocument/2006/relationships/image" Target="../media/image4.jpeg"/><Relationship Id="rId10" Type="http://schemas.openxmlformats.org/officeDocument/2006/relationships/image" Target="../media/image9.png"/><Relationship Id="rId4" Type="http://schemas.openxmlformats.org/officeDocument/2006/relationships/image" Target="../media/image3.jpeg"/><Relationship Id="rId9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jpe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slide" Target="slide4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hyperlink" Target="http://www.tweetwheel.com/AJCann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5" Type="http://schemas.openxmlformats.org/officeDocument/2006/relationships/oleObject" Target="../embeddings/oleObject4.bin"/><Relationship Id="rId4" Type="http://schemas.openxmlformats.org/officeDocument/2006/relationships/oleObject" Target="../embeddings/oleObject3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oleObject" Target="../embeddings/oleObject5.bin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image" Target="../media/image41.w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png"/><Relationship Id="rId4" Type="http://schemas.openxmlformats.org/officeDocument/2006/relationships/image" Target="../media/image43.jpe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2" Type="http://schemas.openxmlformats.org/officeDocument/2006/relationships/image" Target="../media/image53.wmf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4.v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gif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wmf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5.v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6.v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file:///C:\Program%20Files\NetLogo%203.1.1\NetLogo%203.1.1.exe" TargetMode="External"/><Relationship Id="rId2" Type="http://schemas.openxmlformats.org/officeDocument/2006/relationships/hyperlink" Target="http://ccl.northwestern.edu/netlogo/models/PreferentialAttachment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oleObject" Target="../embeddings/oleObject10.bin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wmf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eg"/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e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wmf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gif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jpe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9.v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jpeg"/><Relationship Id="rId2" Type="http://schemas.openxmlformats.org/officeDocument/2006/relationships/image" Target="../media/image80.jpe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jpeg"/><Relationship Id="rId2" Type="http://schemas.openxmlformats.org/officeDocument/2006/relationships/image" Target="../media/image84.jpe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0.vml"/><Relationship Id="rId4" Type="http://schemas.openxmlformats.org/officeDocument/2006/relationships/oleObject" Target="../embeddings/oleObject14.bin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4" Type="http://schemas.openxmlformats.org/officeDocument/2006/relationships/oleObject" Target="../embeddings/oleObject15.bin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jpe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6.jpeg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png"/><Relationship Id="rId5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19.bin"/><Relationship Id="rId5" Type="http://schemas.openxmlformats.org/officeDocument/2006/relationships/oleObject" Target="../embeddings/oleObject18.bin"/><Relationship Id="rId4" Type="http://schemas.openxmlformats.org/officeDocument/2006/relationships/oleObject" Target="../embeddings/oleObject17.bin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jpe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3.vml"/><Relationship Id="rId4" Type="http://schemas.openxmlformats.org/officeDocument/2006/relationships/oleObject" Target="../embeddings/oleObject21.bin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jpe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jpe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gif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gif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gif"/><Relationship Id="rId2" Type="http://schemas.openxmlformats.org/officeDocument/2006/relationships/image" Target="../media/image77.gif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jpe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20.jpe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jpe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jpe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jpe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jpeg"/><Relationship Id="rId2" Type="http://schemas.openxmlformats.org/officeDocument/2006/relationships/image" Target="../media/image12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8.png"/><Relationship Id="rId4" Type="http://schemas.openxmlformats.org/officeDocument/2006/relationships/image" Target="../media/image127.png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7000"/>
            <a:lum/>
          </a:blip>
          <a:srcRect/>
          <a:stretch>
            <a:fillRect t="-43000" b="-4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Complex Networks</a:t>
            </a:r>
            <a:endParaRPr lang="en-US" dirty="0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F9CAF-3050-4117-A10B-FE3A5E74BB5D}" type="slidenum">
              <a:rPr lang="en-US"/>
              <a:pPr/>
              <a:t>1</a:t>
            </a:fld>
            <a:endParaRPr lang="en-US" dirty="0"/>
          </a:p>
        </p:txBody>
      </p:sp>
      <p:sp>
        <p:nvSpPr>
          <p:cNvPr id="459782" name="Rectangle 6"/>
          <p:cNvSpPr>
            <a:spLocks noChangeArrowheads="1"/>
          </p:cNvSpPr>
          <p:nvPr/>
        </p:nvSpPr>
        <p:spPr bwMode="auto">
          <a:xfrm>
            <a:off x="720725" y="2338388"/>
            <a:ext cx="7540625" cy="1993900"/>
          </a:xfrm>
          <a:prstGeom prst="rect">
            <a:avLst/>
          </a:prstGeom>
          <a:solidFill>
            <a:srgbClr val="EAEAEA">
              <a:alpha val="29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4400" b="1" smtClean="0">
                <a:solidFill>
                  <a:schemeClr val="tx2"/>
                </a:solidFill>
              </a:rPr>
              <a:t>A </a:t>
            </a:r>
            <a:r>
              <a:rPr lang="en-US" sz="4400" b="1" dirty="0" smtClean="0">
                <a:solidFill>
                  <a:schemeClr val="tx2"/>
                </a:solidFill>
              </a:rPr>
              <a:t>short course </a:t>
            </a:r>
          </a:p>
          <a:p>
            <a:pPr algn="ctr"/>
            <a:r>
              <a:rPr lang="en-US" sz="4400" b="1" dirty="0" smtClean="0">
                <a:solidFill>
                  <a:schemeClr val="tx2"/>
                </a:solidFill>
              </a:rPr>
              <a:t>on complex networks</a:t>
            </a:r>
            <a:endParaRPr lang="en-US" sz="4000" dirty="0">
              <a:solidFill>
                <a:schemeClr val="tx2"/>
              </a:solidFill>
            </a:endParaRPr>
          </a:p>
        </p:txBody>
      </p:sp>
      <p:sp>
        <p:nvSpPr>
          <p:cNvPr id="459783" name="Rectangle 7"/>
          <p:cNvSpPr>
            <a:spLocks noChangeArrowheads="1"/>
          </p:cNvSpPr>
          <p:nvPr/>
        </p:nvSpPr>
        <p:spPr bwMode="auto">
          <a:xfrm>
            <a:off x="2555875" y="5002213"/>
            <a:ext cx="4152900" cy="1100137"/>
          </a:xfrm>
          <a:prstGeom prst="rect">
            <a:avLst/>
          </a:prstGeom>
          <a:solidFill>
            <a:srgbClr val="EAEAEA">
              <a:alpha val="28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ctr">
              <a:lnSpc>
                <a:spcPct val="90000"/>
              </a:lnSpc>
              <a:spcBef>
                <a:spcPct val="20000"/>
              </a:spcBef>
            </a:pPr>
            <a:r>
              <a:rPr lang="en-US" sz="3200" b="1" dirty="0">
                <a:solidFill>
                  <a:srgbClr val="000099"/>
                </a:solidFill>
              </a:rPr>
              <a:t>Anthony Bonato</a:t>
            </a:r>
          </a:p>
          <a:p>
            <a:pPr marL="342900" indent="-342900" algn="ctr">
              <a:lnSpc>
                <a:spcPct val="90000"/>
              </a:lnSpc>
              <a:spcBef>
                <a:spcPct val="20000"/>
              </a:spcBef>
            </a:pPr>
            <a:r>
              <a:rPr lang="en-US" sz="2800" b="1" dirty="0">
                <a:solidFill>
                  <a:srgbClr val="000099"/>
                </a:solidFill>
              </a:rPr>
              <a:t>Ryerson University</a:t>
            </a:r>
          </a:p>
        </p:txBody>
      </p:sp>
      <p:sp>
        <p:nvSpPr>
          <p:cNvPr id="459784" name="Text Box 8"/>
          <p:cNvSpPr txBox="1">
            <a:spLocks noChangeArrowheads="1"/>
          </p:cNvSpPr>
          <p:nvPr/>
        </p:nvSpPr>
        <p:spPr bwMode="auto">
          <a:xfrm>
            <a:off x="1703388" y="304800"/>
            <a:ext cx="5581650" cy="1200329"/>
          </a:xfrm>
          <a:prstGeom prst="rect">
            <a:avLst/>
          </a:prstGeom>
          <a:solidFill>
            <a:srgbClr val="EAEAEA">
              <a:alpha val="26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2400" b="1" dirty="0" smtClean="0">
                <a:solidFill>
                  <a:srgbClr val="008000"/>
                </a:solidFill>
              </a:rPr>
              <a:t>MITACS Workshop</a:t>
            </a:r>
          </a:p>
          <a:p>
            <a:pPr algn="ctr"/>
            <a:r>
              <a:rPr lang="en-US" sz="2400" b="1" dirty="0" smtClean="0">
                <a:solidFill>
                  <a:srgbClr val="008000"/>
                </a:solidFill>
              </a:rPr>
              <a:t>On Social Networks</a:t>
            </a:r>
          </a:p>
          <a:p>
            <a:pPr algn="ctr"/>
            <a:r>
              <a:rPr lang="en-US" sz="2400" b="1" dirty="0" smtClean="0">
                <a:solidFill>
                  <a:srgbClr val="008000"/>
                </a:solidFill>
              </a:rPr>
              <a:t>August 9, 2010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Friendship networks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network of friends (some real, some virtual) form a large web of interconnected links</a:t>
            </a:r>
            <a:endParaRPr lang="en-GB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Complex Networks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B9044-B1D8-49D8-9F05-DCB5B06F2D15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609282" name="Picture 2" descr="http://cohesion.rice.edu/centersandinst/icon/emplibrary/twitter_logo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2650" y="3062514"/>
            <a:ext cx="3127235" cy="1153169"/>
          </a:xfrm>
          <a:prstGeom prst="rect">
            <a:avLst/>
          </a:prstGeom>
          <a:noFill/>
        </p:spPr>
      </p:pic>
      <p:pic>
        <p:nvPicPr>
          <p:cNvPr id="609284" name="Picture 4" descr="http://www.slickhackers.com/images/myspace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711576" y="2794002"/>
            <a:ext cx="1629682" cy="1629682"/>
          </a:xfrm>
          <a:prstGeom prst="rect">
            <a:avLst/>
          </a:prstGeom>
          <a:noFill/>
        </p:spPr>
      </p:pic>
      <p:pic>
        <p:nvPicPr>
          <p:cNvPr id="609286" name="Picture 6" descr="http://www.indstate.edu/athtrn/images/facebook-logo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888717" y="3004684"/>
            <a:ext cx="2700707" cy="1088345"/>
          </a:xfrm>
          <a:prstGeom prst="rect">
            <a:avLst/>
          </a:prstGeom>
          <a:noFill/>
        </p:spPr>
      </p:pic>
      <p:pic>
        <p:nvPicPr>
          <p:cNvPr id="609288" name="Picture 8" descr="http://img.clubic.com/photo/01788208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447346" y="4303486"/>
            <a:ext cx="1875389" cy="529771"/>
          </a:xfrm>
          <a:prstGeom prst="rect">
            <a:avLst/>
          </a:prstGeom>
          <a:noFill/>
        </p:spPr>
      </p:pic>
      <p:pic>
        <p:nvPicPr>
          <p:cNvPr id="609290" name="Picture 10" descr="http://wapreview.com/images/orkut-logo.jpg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6251575" y="4122057"/>
            <a:ext cx="2362200" cy="760413"/>
          </a:xfrm>
          <a:prstGeom prst="rect">
            <a:avLst/>
          </a:prstGeom>
          <a:noFill/>
        </p:spPr>
      </p:pic>
      <p:pic>
        <p:nvPicPr>
          <p:cNvPr id="609292" name="Picture 12" descr="http://www.clarealumni.com/s/845/images/editor/flickr.jpg"/>
          <p:cNvPicPr>
            <a:picLocks noChangeAspect="1" noChangeArrowheads="1"/>
          </p:cNvPicPr>
          <p:nvPr/>
        </p:nvPicPr>
        <p:blipFill>
          <a:blip r:embed="rId8"/>
          <a:srcRect t="31193" r="2042" b="27208"/>
          <a:stretch>
            <a:fillRect/>
          </a:stretch>
        </p:blipFill>
        <p:spPr bwMode="auto">
          <a:xfrm>
            <a:off x="3497943" y="4803188"/>
            <a:ext cx="1828798" cy="581612"/>
          </a:xfrm>
          <a:prstGeom prst="rect">
            <a:avLst/>
          </a:prstGeom>
          <a:noFill/>
        </p:spPr>
      </p:pic>
      <p:pic>
        <p:nvPicPr>
          <p:cNvPr id="673794" name="Picture 2" descr="http://www.washburn.edu/main/leadership/images/ning_logo.jp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5718630" y="4868636"/>
            <a:ext cx="2354944" cy="972592"/>
          </a:xfrm>
          <a:prstGeom prst="rect">
            <a:avLst/>
          </a:prstGeom>
          <a:noFill/>
        </p:spPr>
      </p:pic>
      <p:pic>
        <p:nvPicPr>
          <p:cNvPr id="673796" name="Picture 4" descr="http://web2innovations.com/money/i/classmates-logo.png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445860" y="5023075"/>
            <a:ext cx="2562225" cy="571501"/>
          </a:xfrm>
          <a:prstGeom prst="rect">
            <a:avLst/>
          </a:prstGeom>
          <a:noFill/>
        </p:spPr>
      </p:pic>
      <p:pic>
        <p:nvPicPr>
          <p:cNvPr id="673798" name="Picture 6" descr="http://www.popstarsplus.com/images/Cyworld_logo.jpg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1679576" y="5441778"/>
            <a:ext cx="1818368" cy="864679"/>
          </a:xfrm>
          <a:prstGeom prst="rect">
            <a:avLst/>
          </a:prstGeom>
          <a:noFill/>
        </p:spPr>
      </p:pic>
      <p:pic>
        <p:nvPicPr>
          <p:cNvPr id="673800" name="Picture 8" descr="http://mylifeonblog.vndv.com/storage/links/friendster-logo.jpg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5892800" y="5716137"/>
            <a:ext cx="2494188" cy="66838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Ashton Kutcher is the centre of </a:t>
            </a:r>
            <a:r>
              <a:rPr lang="en-US" sz="3200" dirty="0" smtClean="0">
                <a:solidFill>
                  <a:srgbClr val="C00000"/>
                </a:solidFill>
              </a:rPr>
              <a:t>Twitterverse</a:t>
            </a:r>
            <a:endParaRPr lang="en-GB" sz="3200" dirty="0">
              <a:solidFill>
                <a:srgbClr val="C00000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Complex Networks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5FD6F-D795-459A-BF32-753F9B0F320B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471044" name="Picture 4" descr="http://a1.twimg.com/profile_images/58040296/the_dalai_lama_large__bigger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3227" y="1248228"/>
            <a:ext cx="1384301" cy="1384301"/>
          </a:xfrm>
          <a:prstGeom prst="rect">
            <a:avLst/>
          </a:prstGeom>
          <a:noFill/>
        </p:spPr>
      </p:pic>
      <p:sp>
        <p:nvSpPr>
          <p:cNvPr id="8" name="TextBox 7"/>
          <p:cNvSpPr txBox="1"/>
          <p:nvPr/>
        </p:nvSpPr>
        <p:spPr>
          <a:xfrm>
            <a:off x="464457" y="2772229"/>
            <a:ext cx="15385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Dalai Lama</a:t>
            </a:r>
            <a:endParaRPr lang="en-GB" dirty="0"/>
          </a:p>
        </p:txBody>
      </p:sp>
      <p:sp>
        <p:nvSpPr>
          <p:cNvPr id="9" name="TextBox 8"/>
          <p:cNvSpPr txBox="1"/>
          <p:nvPr/>
        </p:nvSpPr>
        <p:spPr>
          <a:xfrm>
            <a:off x="6865258" y="5907315"/>
            <a:ext cx="20029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Ashton Kutcher</a:t>
            </a:r>
            <a:endParaRPr lang="en-GB" dirty="0"/>
          </a:p>
        </p:txBody>
      </p:sp>
      <p:pic>
        <p:nvPicPr>
          <p:cNvPr id="471046" name="Picture 6" descr="http://a1.twimg.com/profile_images/193817858/about_arnold_img4_bigger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58002" y="1458231"/>
            <a:ext cx="1313997" cy="1313997"/>
          </a:xfrm>
          <a:prstGeom prst="rect">
            <a:avLst/>
          </a:prstGeom>
          <a:noFill/>
        </p:spPr>
      </p:pic>
      <p:pic>
        <p:nvPicPr>
          <p:cNvPr id="471050" name="Picture 10" descr="Christiane Amanpour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043916" y="3969884"/>
            <a:ext cx="1252311" cy="1418181"/>
          </a:xfrm>
          <a:prstGeom prst="rect">
            <a:avLst/>
          </a:prstGeom>
          <a:noFill/>
        </p:spPr>
      </p:pic>
      <p:sp>
        <p:nvSpPr>
          <p:cNvPr id="13" name="TextBox 12"/>
          <p:cNvSpPr txBox="1"/>
          <p:nvPr/>
        </p:nvSpPr>
        <p:spPr>
          <a:xfrm>
            <a:off x="2881085" y="5392059"/>
            <a:ext cx="15747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Christianne Amanpour</a:t>
            </a:r>
            <a:endParaRPr lang="en-GB" dirty="0"/>
          </a:p>
        </p:txBody>
      </p:sp>
      <p:sp>
        <p:nvSpPr>
          <p:cNvPr id="14" name="TextBox 13"/>
          <p:cNvSpPr txBox="1"/>
          <p:nvPr/>
        </p:nvSpPr>
        <p:spPr>
          <a:xfrm>
            <a:off x="5421087" y="3984171"/>
            <a:ext cx="20029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Queen Rania</a:t>
            </a:r>
          </a:p>
          <a:p>
            <a:r>
              <a:rPr lang="en-US" dirty="0" smtClean="0"/>
              <a:t>   of Jordan</a:t>
            </a:r>
            <a:endParaRPr lang="en-GB" dirty="0"/>
          </a:p>
        </p:txBody>
      </p:sp>
      <p:sp>
        <p:nvSpPr>
          <p:cNvPr id="15" name="TextBox 14"/>
          <p:cNvSpPr txBox="1"/>
          <p:nvPr/>
        </p:nvSpPr>
        <p:spPr>
          <a:xfrm>
            <a:off x="2634346" y="2910113"/>
            <a:ext cx="23005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Arnold </a:t>
            </a:r>
          </a:p>
          <a:p>
            <a:pPr algn="ctr"/>
            <a:r>
              <a:rPr lang="en-US" dirty="0" smtClean="0"/>
              <a:t>Schwarzenegger</a:t>
            </a:r>
            <a:endParaRPr lang="en-GB" dirty="0"/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1799771" y="1973943"/>
            <a:ext cx="1407886" cy="31931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rot="16200000" flipH="1">
            <a:off x="4564743" y="2460171"/>
            <a:ext cx="1045028" cy="88537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rot="10800000" flipV="1">
            <a:off x="4397829" y="3759199"/>
            <a:ext cx="1146628" cy="856343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4528457" y="4862286"/>
            <a:ext cx="2525486" cy="59508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1052" name="Picture 12" descr="http://www.opednews.com/populum/uploaded/queen-rania-of-jordan-11235-20090516-66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762171" y="2396578"/>
            <a:ext cx="1320800" cy="1522279"/>
          </a:xfrm>
          <a:prstGeom prst="rect">
            <a:avLst/>
          </a:prstGeom>
          <a:noFill/>
        </p:spPr>
      </p:pic>
      <p:pic>
        <p:nvPicPr>
          <p:cNvPr id="20" name="Picture 2" descr="http://www.mediabistro.com/webnewser/original/Ashton-Kutcher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209518" y="4147457"/>
            <a:ext cx="1339396" cy="167424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6 degrees of separation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Complex Networks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B9044-B1D8-49D8-9F05-DCB5B06F2D1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818745" y="2598057"/>
            <a:ext cx="3759199" cy="1712686"/>
          </a:xfrm>
        </p:spPr>
        <p:txBody>
          <a:bodyPr/>
          <a:lstStyle/>
          <a:p>
            <a:pPr>
              <a:buClr>
                <a:schemeClr val="tx1"/>
              </a:buClr>
            </a:pPr>
            <a:r>
              <a:rPr lang="en-US" dirty="0" smtClean="0">
                <a:solidFill>
                  <a:srgbClr val="0070C0"/>
                </a:solidFill>
              </a:rPr>
              <a:t>Stanley Milgram</a:t>
            </a:r>
            <a:r>
              <a:rPr lang="en-US" dirty="0" smtClean="0"/>
              <a:t>: famous “chain  letter” experiment in 1967</a:t>
            </a:r>
            <a:endParaRPr lang="en-GB" dirty="0"/>
          </a:p>
        </p:txBody>
      </p:sp>
      <p:pic>
        <p:nvPicPr>
          <p:cNvPr id="595970" name="Picture 2" descr="http://www.jewoftheday.com/Images/Stanley%20Milgram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10204" y="1737632"/>
            <a:ext cx="2743200" cy="370522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6 Degrees of Kevin Bacon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Complex Networks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B9044-B1D8-49D8-9F05-DCB5B06F2D15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652292" name="Picture 4" descr="File:Kevin Bacon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81061" y="1394505"/>
            <a:ext cx="3514725" cy="439102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6 Degrees in Twitter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69143"/>
            <a:ext cx="4013200" cy="4457020"/>
          </a:xfrm>
        </p:spPr>
        <p:txBody>
          <a:bodyPr/>
          <a:lstStyle/>
          <a:p>
            <a:pPr>
              <a:buClr>
                <a:schemeClr val="tx1"/>
              </a:buClr>
            </a:pPr>
            <a:r>
              <a:rPr lang="en-US" sz="2800" dirty="0" smtClean="0">
                <a:solidFill>
                  <a:srgbClr val="0070C0"/>
                </a:solidFill>
              </a:rPr>
              <a:t>Java et al. </a:t>
            </a:r>
            <a:r>
              <a:rPr lang="en-US" sz="2800" dirty="0" smtClean="0"/>
              <a:t>(2009)</a:t>
            </a:r>
          </a:p>
          <a:p>
            <a:pPr lvl="1"/>
            <a:r>
              <a:rPr lang="en-US" dirty="0" smtClean="0"/>
              <a:t>6 degrees of separation in Twitter</a:t>
            </a:r>
          </a:p>
          <a:p>
            <a:r>
              <a:rPr lang="en-US" sz="2800" dirty="0" smtClean="0"/>
              <a:t>other researchers found similar results in Facebook, Myspace, </a:t>
            </a:r>
            <a:r>
              <a:rPr lang="en-US" dirty="0" smtClean="0"/>
              <a:t>…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Complex Networks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B9044-B1D8-49D8-9F05-DCB5B06F2D15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608258" name="Picture 2" descr="http://teacherspodcast.org/wordpress/wp-content/uploads/2009/09/twitter-bird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58204" y="1748972"/>
            <a:ext cx="3495675" cy="349567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20</a:t>
            </a:r>
            <a:r>
              <a:rPr lang="en-US" baseline="30000" dirty="0" smtClean="0"/>
              <a:t>th</a:t>
            </a:r>
            <a:r>
              <a:rPr lang="en-US" dirty="0" smtClean="0"/>
              <a:t> Century Graph Theory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Complex Networks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B9044-B1D8-49D8-9F05-DCB5B06F2D15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6" name="Picture 3" descr="hc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35541" y="1960563"/>
            <a:ext cx="1970087" cy="1906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7" descr="usa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86111" y="1797277"/>
            <a:ext cx="3219450" cy="2009775"/>
          </a:xfrm>
          <a:prstGeom prst="rect">
            <a:avLst/>
          </a:prstGeom>
          <a:noFill/>
        </p:spPr>
      </p:pic>
      <p:pic>
        <p:nvPicPr>
          <p:cNvPr id="8" name="Picture 5" descr="UtilityGraphTorus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326493" y="3491820"/>
            <a:ext cx="2428875" cy="242887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Complex Networks</a:t>
            </a: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7FEF5-A131-4559-A04A-9FABC7268447}" type="slidenum">
              <a:rPr lang="en-US"/>
              <a:pPr/>
              <a:t>8</a:t>
            </a:fld>
            <a:endParaRPr lang="en-US" dirty="0"/>
          </a:p>
        </p:txBody>
      </p:sp>
      <p:sp>
        <p:nvSpPr>
          <p:cNvPr id="467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21</a:t>
            </a:r>
            <a:r>
              <a:rPr lang="en-US" sz="3200" baseline="30000" dirty="0" smtClean="0"/>
              <a:t>st</a:t>
            </a:r>
            <a:r>
              <a:rPr lang="en-US" sz="3200" dirty="0" smtClean="0"/>
              <a:t> Century Graph Theory:</a:t>
            </a:r>
            <a:br>
              <a:rPr lang="en-US" sz="3200" dirty="0" smtClean="0"/>
            </a:br>
            <a:r>
              <a:rPr lang="en-US" sz="3200" dirty="0" smtClean="0"/>
              <a:t>Complex </a:t>
            </a:r>
            <a:r>
              <a:rPr lang="en-US" sz="3200" dirty="0"/>
              <a:t>Networks</a:t>
            </a:r>
          </a:p>
        </p:txBody>
      </p:sp>
      <p:sp>
        <p:nvSpPr>
          <p:cNvPr id="467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7175"/>
            <a:ext cx="8229600" cy="4525963"/>
          </a:xfrm>
        </p:spPr>
        <p:txBody>
          <a:bodyPr/>
          <a:lstStyle/>
          <a:p>
            <a:pPr>
              <a:buClr>
                <a:schemeClr val="tx1"/>
              </a:buClr>
            </a:pPr>
            <a:r>
              <a:rPr lang="en-US" sz="2400" dirty="0">
                <a:solidFill>
                  <a:srgbClr val="000099"/>
                </a:solidFill>
              </a:rPr>
              <a:t>web graph, social networks, biological networks, internet networks</a:t>
            </a:r>
            <a:r>
              <a:rPr lang="en-US" sz="2400" dirty="0"/>
              <a:t>, …</a:t>
            </a:r>
          </a:p>
          <a:p>
            <a:pPr lvl="1"/>
            <a:endParaRPr lang="en-US" sz="2400" dirty="0"/>
          </a:p>
        </p:txBody>
      </p:sp>
      <p:pic>
        <p:nvPicPr>
          <p:cNvPr id="467972" name="Picture 4"/>
          <p:cNvPicPr>
            <a:picLocks noChangeAspect="1" noChangeArrowheads="1"/>
          </p:cNvPicPr>
          <p:nvPr/>
        </p:nvPicPr>
        <p:blipFill>
          <a:blip r:embed="rId2"/>
          <a:srcRect l="7373" t="2118" r="3932" b="2118"/>
          <a:stretch>
            <a:fillRect/>
          </a:stretch>
        </p:blipFill>
        <p:spPr bwMode="auto">
          <a:xfrm>
            <a:off x="598488" y="2659063"/>
            <a:ext cx="2806700" cy="2814637"/>
          </a:xfrm>
          <a:prstGeom prst="rect">
            <a:avLst/>
          </a:prstGeom>
          <a:noFill/>
        </p:spPr>
      </p:pic>
      <p:pic>
        <p:nvPicPr>
          <p:cNvPr id="467973" name="Picture 5"/>
          <p:cNvPicPr>
            <a:picLocks noChangeAspect="1" noChangeArrowheads="1"/>
          </p:cNvPicPr>
          <p:nvPr/>
        </p:nvPicPr>
        <p:blipFill>
          <a:blip r:embed="rId3"/>
          <a:srcRect l="11810" r="11810"/>
          <a:stretch>
            <a:fillRect/>
          </a:stretch>
        </p:blipFill>
        <p:spPr bwMode="auto">
          <a:xfrm>
            <a:off x="3600450" y="4352925"/>
            <a:ext cx="2265363" cy="177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67974" name="Picture 6" descr="cheswick1_l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125788" y="1976438"/>
            <a:ext cx="3140075" cy="2355850"/>
          </a:xfrm>
          <a:prstGeom prst="rect">
            <a:avLst/>
          </a:prstGeom>
          <a:noFill/>
        </p:spPr>
      </p:pic>
      <p:pic>
        <p:nvPicPr>
          <p:cNvPr id="475138" name="Picture 2" descr="http://www.visualcomplexity.com/vc/images/51_big01.jpg"/>
          <p:cNvPicPr>
            <a:picLocks noChangeAspect="1" noChangeArrowheads="1"/>
          </p:cNvPicPr>
          <p:nvPr/>
        </p:nvPicPr>
        <p:blipFill>
          <a:blip r:embed="rId5"/>
          <a:srcRect l="11977" r="11481"/>
          <a:stretch>
            <a:fillRect/>
          </a:stretch>
        </p:blipFill>
        <p:spPr bwMode="auto">
          <a:xfrm>
            <a:off x="6183086" y="2830285"/>
            <a:ext cx="2858833" cy="280125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Complex Networks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A80DA-C5B9-46C8-90B0-A14AA3758975}" type="slidenum">
              <a:rPr lang="en-US"/>
              <a:pPr/>
              <a:t>9</a:t>
            </a:fld>
            <a:endParaRPr lang="en-US" dirty="0"/>
          </a:p>
        </p:txBody>
      </p:sp>
      <p:sp>
        <p:nvSpPr>
          <p:cNvPr id="376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web graph</a:t>
            </a:r>
            <a:endParaRPr lang="en-US" i="1" dirty="0">
              <a:solidFill>
                <a:srgbClr val="000099"/>
              </a:solidFill>
            </a:endParaRPr>
          </a:p>
        </p:txBody>
      </p:sp>
      <p:sp>
        <p:nvSpPr>
          <p:cNvPr id="37683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4043363" cy="45259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76836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5180920" y="1696131"/>
            <a:ext cx="3687309" cy="3746726"/>
          </a:xfrm>
        </p:spPr>
        <p:txBody>
          <a:bodyPr/>
          <a:lstStyle/>
          <a:p>
            <a:pPr>
              <a:buClr>
                <a:schemeClr val="tx1"/>
              </a:buClr>
            </a:pPr>
            <a:r>
              <a:rPr lang="en-US" dirty="0">
                <a:solidFill>
                  <a:srgbClr val="000099"/>
                </a:solidFill>
              </a:rPr>
              <a:t>nodes</a:t>
            </a:r>
            <a:r>
              <a:rPr lang="en-US" dirty="0"/>
              <a:t>: web pages</a:t>
            </a:r>
          </a:p>
          <a:p>
            <a:endParaRPr lang="en-US" dirty="0"/>
          </a:p>
          <a:p>
            <a:pPr>
              <a:buClr>
                <a:schemeClr val="tx1"/>
              </a:buClr>
            </a:pPr>
            <a:r>
              <a:rPr lang="en-US" dirty="0">
                <a:solidFill>
                  <a:srgbClr val="000099"/>
                </a:solidFill>
              </a:rPr>
              <a:t>edges</a:t>
            </a:r>
            <a:r>
              <a:rPr lang="en-US" dirty="0"/>
              <a:t>: </a:t>
            </a:r>
            <a:r>
              <a:rPr lang="en-US" dirty="0" smtClean="0"/>
              <a:t>links</a:t>
            </a:r>
          </a:p>
          <a:p>
            <a:endParaRPr lang="en-US" dirty="0" smtClean="0"/>
          </a:p>
          <a:p>
            <a:r>
              <a:rPr lang="en-US" dirty="0" smtClean="0"/>
              <a:t>over </a:t>
            </a:r>
            <a:r>
              <a:rPr lang="en-US" dirty="0" smtClean="0">
                <a:solidFill>
                  <a:srgbClr val="FF0000"/>
                </a:solidFill>
              </a:rPr>
              <a:t>1 trillion </a:t>
            </a:r>
            <a:r>
              <a:rPr lang="en-US" dirty="0" smtClean="0"/>
              <a:t>nodes, with billions of nodes added each day</a:t>
            </a:r>
          </a:p>
          <a:p>
            <a:endParaRPr lang="en-US" dirty="0" smtClean="0"/>
          </a:p>
          <a:p>
            <a:endParaRPr lang="en-US" dirty="0"/>
          </a:p>
          <a:p>
            <a:pPr>
              <a:buFontTx/>
              <a:buNone/>
            </a:pPr>
            <a:endParaRPr lang="en-US" dirty="0"/>
          </a:p>
        </p:txBody>
      </p:sp>
      <p:pic>
        <p:nvPicPr>
          <p:cNvPr id="8" name="Picture 3" descr="colour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4173" y="1692046"/>
            <a:ext cx="4891314" cy="3808868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GB" smtClean="0"/>
              <a:t>Complex Networks</a:t>
            </a:r>
            <a:endParaRPr lang="en-US" dirty="0" smtClean="0"/>
          </a:p>
        </p:txBody>
      </p:sp>
      <p:sp>
        <p:nvSpPr>
          <p:cNvPr id="1331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363F724-9DB3-4792-B357-FCB6396DB1B8}" type="slidenum">
              <a:rPr lang="en-US" smtClean="0"/>
              <a:pPr/>
              <a:t>10</a:t>
            </a:fld>
            <a:endParaRPr lang="en-US" dirty="0" smtClean="0"/>
          </a:p>
        </p:txBody>
      </p:sp>
      <p:sp>
        <p:nvSpPr>
          <p:cNvPr id="13317" name="TextBox 11"/>
          <p:cNvSpPr txBox="1">
            <a:spLocks noChangeArrowheads="1"/>
          </p:cNvSpPr>
          <p:nvPr/>
        </p:nvSpPr>
        <p:spPr bwMode="auto">
          <a:xfrm>
            <a:off x="739775" y="973138"/>
            <a:ext cx="1139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/>
              <a:t>Ryerson</a:t>
            </a:r>
            <a:endParaRPr lang="en-GB" sz="2000" dirty="0"/>
          </a:p>
        </p:txBody>
      </p:sp>
      <p:sp>
        <p:nvSpPr>
          <p:cNvPr id="13" name="Oval 12"/>
          <p:cNvSpPr/>
          <p:nvPr/>
        </p:nvSpPr>
        <p:spPr>
          <a:xfrm>
            <a:off x="536575" y="434975"/>
            <a:ext cx="1509713" cy="148113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 dirty="0"/>
          </a:p>
        </p:txBody>
      </p:sp>
      <p:sp>
        <p:nvSpPr>
          <p:cNvPr id="14" name="Oval 13"/>
          <p:cNvSpPr/>
          <p:nvPr/>
        </p:nvSpPr>
        <p:spPr>
          <a:xfrm>
            <a:off x="2765425" y="428625"/>
            <a:ext cx="1509713" cy="14795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 dirty="0"/>
          </a:p>
        </p:txBody>
      </p:sp>
      <p:sp>
        <p:nvSpPr>
          <p:cNvPr id="15" name="Oval 14"/>
          <p:cNvSpPr/>
          <p:nvPr/>
        </p:nvSpPr>
        <p:spPr>
          <a:xfrm>
            <a:off x="4687888" y="1755775"/>
            <a:ext cx="1509712" cy="148113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 dirty="0"/>
          </a:p>
        </p:txBody>
      </p:sp>
      <p:sp>
        <p:nvSpPr>
          <p:cNvPr id="16" name="Oval 15"/>
          <p:cNvSpPr/>
          <p:nvPr/>
        </p:nvSpPr>
        <p:spPr>
          <a:xfrm>
            <a:off x="2155825" y="2895600"/>
            <a:ext cx="1509713" cy="148113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 dirty="0"/>
          </a:p>
        </p:txBody>
      </p:sp>
      <p:sp>
        <p:nvSpPr>
          <p:cNvPr id="17" name="Oval 16"/>
          <p:cNvSpPr/>
          <p:nvPr/>
        </p:nvSpPr>
        <p:spPr>
          <a:xfrm>
            <a:off x="4427538" y="3773488"/>
            <a:ext cx="1508125" cy="148113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 dirty="0"/>
          </a:p>
        </p:txBody>
      </p:sp>
      <p:sp>
        <p:nvSpPr>
          <p:cNvPr id="18" name="Oval 17"/>
          <p:cNvSpPr/>
          <p:nvPr/>
        </p:nvSpPr>
        <p:spPr>
          <a:xfrm>
            <a:off x="6858000" y="4594225"/>
            <a:ext cx="1509713" cy="1479550"/>
          </a:xfrm>
          <a:prstGeom prst="ellipse">
            <a:avLst/>
          </a:prstGeom>
          <a:noFill/>
          <a:ln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 dirty="0"/>
          </a:p>
        </p:txBody>
      </p:sp>
      <p:sp>
        <p:nvSpPr>
          <p:cNvPr id="13324" name="TextBox 18"/>
          <p:cNvSpPr txBox="1">
            <a:spLocks noChangeArrowheads="1"/>
          </p:cNvSpPr>
          <p:nvPr/>
        </p:nvSpPr>
        <p:spPr bwMode="auto">
          <a:xfrm>
            <a:off x="6951663" y="5021263"/>
            <a:ext cx="1382712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008000"/>
                </a:solidFill>
              </a:rPr>
              <a:t>Greenland</a:t>
            </a:r>
          </a:p>
          <a:p>
            <a:r>
              <a:rPr lang="en-US" sz="2000" dirty="0">
                <a:solidFill>
                  <a:srgbClr val="008000"/>
                </a:solidFill>
              </a:rPr>
              <a:t>Tourism</a:t>
            </a:r>
            <a:endParaRPr lang="en-GB" sz="2000" dirty="0">
              <a:solidFill>
                <a:srgbClr val="008000"/>
              </a:solidFill>
            </a:endParaRPr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4484688" y="4295775"/>
            <a:ext cx="1401762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/>
              <a:t>Frommer’s</a:t>
            </a:r>
            <a:endParaRPr lang="en-GB" sz="2000" dirty="0"/>
          </a:p>
        </p:txBody>
      </p:sp>
      <p:sp>
        <p:nvSpPr>
          <p:cNvPr id="21" name="TextBox 20"/>
          <p:cNvSpPr txBox="1">
            <a:spLocks noChangeArrowheads="1"/>
          </p:cNvSpPr>
          <p:nvPr/>
        </p:nvSpPr>
        <p:spPr bwMode="auto">
          <a:xfrm>
            <a:off x="2322513" y="3135313"/>
            <a:ext cx="1182687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/>
              <a:t>Four </a:t>
            </a:r>
          </a:p>
          <a:p>
            <a:r>
              <a:rPr lang="en-US" sz="2000" dirty="0"/>
              <a:t>Seasons</a:t>
            </a:r>
          </a:p>
          <a:p>
            <a:r>
              <a:rPr lang="en-US" sz="2000" dirty="0"/>
              <a:t>Hotel</a:t>
            </a:r>
            <a:endParaRPr lang="en-GB" sz="2000" dirty="0"/>
          </a:p>
        </p:txBody>
      </p:sp>
      <p:sp>
        <p:nvSpPr>
          <p:cNvPr id="22" name="TextBox 21"/>
          <p:cNvSpPr txBox="1">
            <a:spLocks noChangeArrowheads="1"/>
          </p:cNvSpPr>
          <p:nvPr/>
        </p:nvSpPr>
        <p:spPr bwMode="auto">
          <a:xfrm>
            <a:off x="4935538" y="2133600"/>
            <a:ext cx="1038225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/>
              <a:t>City of </a:t>
            </a:r>
          </a:p>
          <a:p>
            <a:r>
              <a:rPr lang="en-US" sz="2000" dirty="0"/>
              <a:t>Toronto</a:t>
            </a:r>
            <a:endParaRPr lang="en-GB" sz="2000" dirty="0"/>
          </a:p>
        </p:txBody>
      </p:sp>
      <p:sp>
        <p:nvSpPr>
          <p:cNvPr id="23" name="TextBox 22"/>
          <p:cNvSpPr txBox="1">
            <a:spLocks noChangeArrowheads="1"/>
          </p:cNvSpPr>
          <p:nvPr/>
        </p:nvSpPr>
        <p:spPr bwMode="auto">
          <a:xfrm>
            <a:off x="2974975" y="798513"/>
            <a:ext cx="1112838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/>
              <a:t>Nuit </a:t>
            </a:r>
          </a:p>
          <a:p>
            <a:r>
              <a:rPr lang="en-US" sz="2000" dirty="0"/>
              <a:t>Blanche</a:t>
            </a:r>
            <a:endParaRPr lang="en-GB" sz="2000" dirty="0"/>
          </a:p>
        </p:txBody>
      </p:sp>
      <p:cxnSp>
        <p:nvCxnSpPr>
          <p:cNvPr id="31" name="Straight Arrow Connector 30"/>
          <p:cNvCxnSpPr>
            <a:stCxn id="13" idx="6"/>
            <a:endCxn id="14" idx="2"/>
          </p:cNvCxnSpPr>
          <p:nvPr/>
        </p:nvCxnSpPr>
        <p:spPr>
          <a:xfrm flipV="1">
            <a:off x="2046288" y="1168400"/>
            <a:ext cx="719137" cy="793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endCxn id="15" idx="1"/>
          </p:cNvCxnSpPr>
          <p:nvPr/>
        </p:nvCxnSpPr>
        <p:spPr>
          <a:xfrm>
            <a:off x="4208463" y="1495425"/>
            <a:ext cx="700087" cy="47783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rot="10800000" flipV="1">
            <a:off x="3598863" y="2757488"/>
            <a:ext cx="1133475" cy="53657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3598863" y="3962400"/>
            <a:ext cx="857250" cy="37782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5849938" y="4876800"/>
            <a:ext cx="1030287" cy="2174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20" grpId="0"/>
      <p:bldP spid="21" grpId="0"/>
      <p:bldP spid="22" grpId="0"/>
      <p:bldP spid="2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Complex Networks</a:t>
            </a:r>
          </a:p>
        </p:txBody>
      </p:sp>
      <p:sp>
        <p:nvSpPr>
          <p:cNvPr id="18435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B451942-4885-4138-8896-E41DEF42BF8A}" type="slidenum">
              <a:rPr lang="en-US" smtClean="0"/>
              <a:pPr/>
              <a:t>11</a:t>
            </a:fld>
            <a:endParaRPr lang="en-US" smtClean="0"/>
          </a:p>
        </p:txBody>
      </p:sp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Biological networks: </a:t>
            </a:r>
            <a:r>
              <a:rPr lang="en-US" smtClean="0">
                <a:solidFill>
                  <a:srgbClr val="FF0000"/>
                </a:solidFill>
              </a:rPr>
              <a:t>proteomics</a:t>
            </a:r>
          </a:p>
        </p:txBody>
      </p:sp>
      <p:sp>
        <p:nvSpPr>
          <p:cNvPr id="1843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4043363" cy="4525963"/>
          </a:xfrm>
        </p:spPr>
        <p:txBody>
          <a:bodyPr/>
          <a:lstStyle/>
          <a:p>
            <a:endParaRPr lang="en-US" smtClean="0"/>
          </a:p>
        </p:txBody>
      </p:sp>
      <p:sp>
        <p:nvSpPr>
          <p:cNvPr id="18438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643438" y="1600200"/>
            <a:ext cx="4043362" cy="4525963"/>
          </a:xfrm>
        </p:spPr>
        <p:txBody>
          <a:bodyPr/>
          <a:lstStyle/>
          <a:p>
            <a:pPr>
              <a:buFontTx/>
              <a:buNone/>
            </a:pPr>
            <a:r>
              <a:rPr lang="en-US" smtClean="0">
                <a:solidFill>
                  <a:srgbClr val="000099"/>
                </a:solidFill>
              </a:rPr>
              <a:t>nodes</a:t>
            </a:r>
            <a:r>
              <a:rPr lang="en-US" smtClean="0"/>
              <a:t>: proteins</a:t>
            </a:r>
          </a:p>
          <a:p>
            <a:endParaRPr lang="en-US" smtClean="0"/>
          </a:p>
          <a:p>
            <a:pPr>
              <a:buFontTx/>
              <a:buNone/>
            </a:pPr>
            <a:r>
              <a:rPr lang="en-US" smtClean="0">
                <a:solidFill>
                  <a:srgbClr val="000099"/>
                </a:solidFill>
              </a:rPr>
              <a:t>edges</a:t>
            </a:r>
            <a:r>
              <a:rPr lang="en-US" smtClean="0"/>
              <a:t>: </a:t>
            </a:r>
          </a:p>
          <a:p>
            <a:pPr>
              <a:buFontTx/>
              <a:buNone/>
            </a:pPr>
            <a:r>
              <a:rPr lang="en-US" smtClean="0"/>
              <a:t>biochemical interactions</a:t>
            </a:r>
          </a:p>
          <a:p>
            <a:pPr>
              <a:buFontTx/>
              <a:buNone/>
            </a:pPr>
            <a:endParaRPr lang="en-US" smtClean="0"/>
          </a:p>
        </p:txBody>
      </p:sp>
      <p:sp>
        <p:nvSpPr>
          <p:cNvPr id="18439" name="Rectangle 6"/>
          <p:cNvSpPr>
            <a:spLocks noChangeArrowheads="1"/>
          </p:cNvSpPr>
          <p:nvPr/>
        </p:nvSpPr>
        <p:spPr bwMode="auto">
          <a:xfrm>
            <a:off x="4106863" y="5210175"/>
            <a:ext cx="508000" cy="5810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pic>
        <p:nvPicPr>
          <p:cNvPr id="18440" name="Picture 6" descr="PPI2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1219200"/>
            <a:ext cx="9144000" cy="5083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41" name="Text Box 7"/>
          <p:cNvSpPr txBox="1">
            <a:spLocks noChangeArrowheads="1"/>
          </p:cNvSpPr>
          <p:nvPr/>
        </p:nvSpPr>
        <p:spPr bwMode="auto">
          <a:xfrm>
            <a:off x="6988175" y="5018088"/>
            <a:ext cx="1981200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>
                <a:solidFill>
                  <a:srgbClr val="FFFF00"/>
                </a:solidFill>
              </a:rPr>
              <a:t>Yeast: </a:t>
            </a:r>
          </a:p>
          <a:p>
            <a:r>
              <a:rPr lang="en-US" sz="2400">
                <a:solidFill>
                  <a:srgbClr val="FFFF00"/>
                </a:solidFill>
              </a:rPr>
              <a:t>2401 nodes</a:t>
            </a:r>
          </a:p>
          <a:p>
            <a:r>
              <a:rPr lang="en-US" sz="2400">
                <a:solidFill>
                  <a:srgbClr val="FFFF00"/>
                </a:solidFill>
              </a:rPr>
              <a:t>11000 edges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Complex Networks</a:t>
            </a:r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08B1B-0F64-42DF-B043-D208C6969494}" type="slidenum">
              <a:rPr lang="en-US"/>
              <a:pPr/>
              <a:t>12</a:t>
            </a:fld>
            <a:endParaRPr lang="en-US" dirty="0"/>
          </a:p>
        </p:txBody>
      </p:sp>
      <p:sp>
        <p:nvSpPr>
          <p:cNvPr id="53657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34963" y="201613"/>
            <a:ext cx="8229600" cy="1143000"/>
          </a:xfrm>
        </p:spPr>
        <p:txBody>
          <a:bodyPr/>
          <a:lstStyle/>
          <a:p>
            <a:r>
              <a:rPr lang="en-US" dirty="0"/>
              <a:t>Social Networks</a:t>
            </a:r>
          </a:p>
        </p:txBody>
      </p:sp>
      <p:sp>
        <p:nvSpPr>
          <p:cNvPr id="536579" name="Rectangle 3"/>
          <p:cNvSpPr>
            <a:spLocks noChangeArrowheads="1"/>
          </p:cNvSpPr>
          <p:nvPr/>
        </p:nvSpPr>
        <p:spPr bwMode="auto">
          <a:xfrm>
            <a:off x="5465763" y="1912938"/>
            <a:ext cx="3338512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800" dirty="0">
                <a:solidFill>
                  <a:srgbClr val="000099"/>
                </a:solidFill>
              </a:rPr>
              <a:t>nodes</a:t>
            </a:r>
            <a:r>
              <a:rPr lang="en-US" sz="2800" dirty="0"/>
              <a:t>: people</a:t>
            </a:r>
          </a:p>
          <a:p>
            <a:endParaRPr lang="en-US" sz="2800" dirty="0"/>
          </a:p>
          <a:p>
            <a:r>
              <a:rPr lang="en-US" sz="2800" dirty="0">
                <a:solidFill>
                  <a:srgbClr val="000099"/>
                </a:solidFill>
              </a:rPr>
              <a:t>edges</a:t>
            </a:r>
            <a:r>
              <a:rPr lang="en-US" sz="2800" dirty="0"/>
              <a:t>: </a:t>
            </a:r>
          </a:p>
          <a:p>
            <a:r>
              <a:rPr lang="en-US" sz="2800" dirty="0"/>
              <a:t>social </a:t>
            </a:r>
            <a:r>
              <a:rPr lang="en-US" sz="2800" dirty="0" smtClean="0"/>
              <a:t>interaction</a:t>
            </a:r>
          </a:p>
          <a:p>
            <a:r>
              <a:rPr lang="en-US" sz="2800" dirty="0" smtClean="0"/>
              <a:t>(eg friendship)</a:t>
            </a:r>
            <a:endParaRPr lang="en-US" sz="2800" dirty="0"/>
          </a:p>
        </p:txBody>
      </p:sp>
      <p:pic>
        <p:nvPicPr>
          <p:cNvPr id="53658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058863"/>
            <a:ext cx="5354638" cy="497046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Complex Networks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99278-1E46-4890-BCA6-9E7CAC0AB7BE}" type="slidenum">
              <a:rPr lang="en-US"/>
              <a:pPr/>
              <a:t>13</a:t>
            </a:fld>
            <a:endParaRPr lang="en-US"/>
          </a:p>
        </p:txBody>
      </p:sp>
      <p:pic>
        <p:nvPicPr>
          <p:cNvPr id="359426" name="Picture 2" descr="erdos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accent1"/>
          </a:solidFill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Complex Networks</a:t>
            </a:r>
            <a:endParaRPr lang="en-US" dirty="0"/>
          </a:p>
        </p:txBody>
      </p:sp>
      <p:sp>
        <p:nvSpPr>
          <p:cNvPr id="717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9BBC31C-3A6E-4867-941B-B81C112FD31B}" type="slidenum">
              <a:rPr lang="en-US" smtClean="0"/>
              <a:pPr/>
              <a:t>14</a:t>
            </a:fld>
            <a:endParaRPr lang="en-US" dirty="0" smtClean="0"/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solidFill>
                  <a:srgbClr val="FF0000"/>
                </a:solidFill>
              </a:rPr>
              <a:t>On-line Social Networks (OSNs)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800" dirty="0" smtClean="0"/>
              <a:t>Facebook, Twitter, LinkedIn, MySpace…</a:t>
            </a:r>
          </a:p>
        </p:txBody>
      </p:sp>
      <p:pic>
        <p:nvPicPr>
          <p:cNvPr id="6" name="Picture 7" descr="TweetWheel ">
            <a:hlinkClick r:id="rId2"/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09486" y="1615355"/>
            <a:ext cx="6226856" cy="4575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new paradigm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695371" cy="4524829"/>
          </a:xfrm>
        </p:spPr>
        <p:txBody>
          <a:bodyPr/>
          <a:lstStyle/>
          <a:p>
            <a:pPr>
              <a:buClr>
                <a:schemeClr val="tx1"/>
              </a:buClr>
            </a:pPr>
            <a:r>
              <a:rPr lang="en-US" sz="2600" dirty="0" smtClean="0">
                <a:solidFill>
                  <a:srgbClr val="008000"/>
                </a:solidFill>
              </a:rPr>
              <a:t>half of all users of internet </a:t>
            </a:r>
            <a:r>
              <a:rPr lang="en-US" sz="2600" dirty="0" smtClean="0"/>
              <a:t>on some OSN</a:t>
            </a:r>
          </a:p>
          <a:p>
            <a:pPr lvl="1"/>
            <a:r>
              <a:rPr lang="en-US" sz="2200" dirty="0" smtClean="0">
                <a:solidFill>
                  <a:srgbClr val="000099"/>
                </a:solidFill>
              </a:rPr>
              <a:t>500 million users </a:t>
            </a:r>
            <a:r>
              <a:rPr lang="en-US" sz="2200" dirty="0" smtClean="0"/>
              <a:t>on Facebook, </a:t>
            </a:r>
            <a:r>
              <a:rPr lang="en-US" sz="2200" dirty="0" smtClean="0">
                <a:solidFill>
                  <a:srgbClr val="000099"/>
                </a:solidFill>
              </a:rPr>
              <a:t>100 million </a:t>
            </a:r>
            <a:r>
              <a:rPr lang="en-US" sz="2200" dirty="0" smtClean="0"/>
              <a:t>on Twitter</a:t>
            </a:r>
          </a:p>
          <a:p>
            <a:r>
              <a:rPr lang="en-US" sz="2600" dirty="0" smtClean="0"/>
              <a:t>unprecedented, massive record of social interaction</a:t>
            </a:r>
          </a:p>
          <a:p>
            <a:r>
              <a:rPr lang="en-US" sz="2600" dirty="0" smtClean="0"/>
              <a:t>unprecedented access to information/news/gossip</a:t>
            </a:r>
            <a:endParaRPr lang="en-GB" sz="2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Complex Networks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B9044-B1D8-49D8-9F05-DCB5B06F2D15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595974" name="Picture 6" descr="http://inapcache.boston.com/universal/site_graphics/blogs/bigpicture/italy_04_08/q07_1856439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03208" y="1251494"/>
            <a:ext cx="3360222" cy="2464163"/>
          </a:xfrm>
          <a:prstGeom prst="rect">
            <a:avLst/>
          </a:prstGeom>
          <a:noFill/>
        </p:spPr>
      </p:pic>
      <p:pic>
        <p:nvPicPr>
          <p:cNvPr id="595976" name="Picture 8" descr="http://images.huffingtonpost.com/gadgets/slideshows/1753/slide_1753_23625_large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35574" y="3802742"/>
            <a:ext cx="3356883" cy="2441369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Notation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solidFill>
                  <a:srgbClr val="000099"/>
                </a:solidFill>
              </a:rPr>
              <a:t>G = (V(G),E(G)): </a:t>
            </a:r>
            <a:r>
              <a:rPr lang="en-US" sz="2400" dirty="0" smtClean="0"/>
              <a:t>(un)directed graph</a:t>
            </a:r>
          </a:p>
          <a:p>
            <a:pPr lvl="1">
              <a:buClr>
                <a:schemeClr val="tx1"/>
              </a:buClr>
            </a:pPr>
            <a:r>
              <a:rPr lang="en-US" sz="2000" dirty="0" smtClean="0">
                <a:solidFill>
                  <a:srgbClr val="FF0000"/>
                </a:solidFill>
              </a:rPr>
              <a:t>order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rgbClr val="000099"/>
                </a:solidFill>
              </a:rPr>
              <a:t>|V(G)| </a:t>
            </a:r>
            <a:r>
              <a:rPr lang="en-US" sz="2000" dirty="0" smtClean="0"/>
              <a:t>(usually </a:t>
            </a:r>
            <a:r>
              <a:rPr lang="en-US" sz="2000" dirty="0" smtClean="0">
                <a:solidFill>
                  <a:srgbClr val="000099"/>
                </a:solidFill>
              </a:rPr>
              <a:t>n</a:t>
            </a:r>
            <a:r>
              <a:rPr lang="en-US" sz="2000" dirty="0" smtClean="0"/>
              <a:t> or </a:t>
            </a:r>
            <a:r>
              <a:rPr lang="en-US" sz="2000" dirty="0" smtClean="0">
                <a:solidFill>
                  <a:srgbClr val="000099"/>
                </a:solidFill>
              </a:rPr>
              <a:t>t</a:t>
            </a:r>
            <a:r>
              <a:rPr lang="en-US" sz="2000" dirty="0" smtClean="0"/>
              <a:t>) </a:t>
            </a:r>
          </a:p>
          <a:p>
            <a:endParaRPr lang="en-US" sz="2400" dirty="0" smtClean="0"/>
          </a:p>
          <a:p>
            <a:r>
              <a:rPr lang="en-US" sz="2400" dirty="0" smtClean="0">
                <a:solidFill>
                  <a:srgbClr val="000099"/>
                </a:solidFill>
              </a:rPr>
              <a:t>deg</a:t>
            </a:r>
            <a:r>
              <a:rPr lang="en-US" sz="2400" baseline="-25000" dirty="0" smtClean="0">
                <a:solidFill>
                  <a:srgbClr val="000099"/>
                </a:solidFill>
              </a:rPr>
              <a:t>G</a:t>
            </a:r>
            <a:r>
              <a:rPr lang="en-US" sz="2400" dirty="0" smtClean="0">
                <a:solidFill>
                  <a:srgbClr val="000099"/>
                </a:solidFill>
              </a:rPr>
              <a:t>(u)</a:t>
            </a:r>
            <a:r>
              <a:rPr lang="en-US" sz="2400" dirty="0" smtClean="0"/>
              <a:t> = </a:t>
            </a:r>
            <a:r>
              <a:rPr lang="en-US" sz="2400" dirty="0" smtClean="0">
                <a:solidFill>
                  <a:srgbClr val="FF0000"/>
                </a:solidFill>
              </a:rPr>
              <a:t>degree</a:t>
            </a:r>
            <a:r>
              <a:rPr lang="en-US" sz="2400" dirty="0" smtClean="0"/>
              <a:t> of vertex </a:t>
            </a:r>
            <a:r>
              <a:rPr lang="en-US" sz="2400" dirty="0" smtClean="0">
                <a:solidFill>
                  <a:srgbClr val="000099"/>
                </a:solidFill>
              </a:rPr>
              <a:t>u</a:t>
            </a:r>
          </a:p>
          <a:p>
            <a:endParaRPr lang="en-US" sz="2400" dirty="0" smtClean="0"/>
          </a:p>
          <a:p>
            <a:r>
              <a:rPr lang="en-US" sz="2400" dirty="0" err="1" smtClean="0">
                <a:solidFill>
                  <a:srgbClr val="000099"/>
                </a:solidFill>
              </a:rPr>
              <a:t>d</a:t>
            </a:r>
            <a:r>
              <a:rPr lang="en-US" sz="2400" baseline="-25000" dirty="0" err="1" smtClean="0">
                <a:solidFill>
                  <a:srgbClr val="000099"/>
                </a:solidFill>
              </a:rPr>
              <a:t>G</a:t>
            </a:r>
            <a:r>
              <a:rPr lang="en-US" sz="2400" baseline="-25000" dirty="0" smtClean="0">
                <a:solidFill>
                  <a:srgbClr val="000099"/>
                </a:solidFill>
              </a:rPr>
              <a:t> </a:t>
            </a:r>
            <a:r>
              <a:rPr lang="en-US" sz="2400" dirty="0" smtClean="0">
                <a:solidFill>
                  <a:srgbClr val="000099"/>
                </a:solidFill>
              </a:rPr>
              <a:t>(</a:t>
            </a:r>
            <a:r>
              <a:rPr lang="en-US" sz="2400" dirty="0" err="1" smtClean="0">
                <a:solidFill>
                  <a:srgbClr val="000099"/>
                </a:solidFill>
              </a:rPr>
              <a:t>u,v</a:t>
            </a:r>
            <a:r>
              <a:rPr lang="en-US" sz="2400" dirty="0" smtClean="0">
                <a:solidFill>
                  <a:srgbClr val="000099"/>
                </a:solidFill>
              </a:rPr>
              <a:t>) </a:t>
            </a:r>
            <a:r>
              <a:rPr lang="en-US" sz="2400" dirty="0" smtClean="0"/>
              <a:t>= </a:t>
            </a:r>
            <a:r>
              <a:rPr lang="en-US" sz="2400" dirty="0" smtClean="0">
                <a:solidFill>
                  <a:srgbClr val="FF0000"/>
                </a:solidFill>
              </a:rPr>
              <a:t>distance</a:t>
            </a:r>
            <a:r>
              <a:rPr lang="en-US" sz="2400" dirty="0" smtClean="0"/>
              <a:t> between </a:t>
            </a:r>
            <a:r>
              <a:rPr lang="en-US" sz="2400" dirty="0" smtClean="0">
                <a:solidFill>
                  <a:srgbClr val="000099"/>
                </a:solidFill>
              </a:rPr>
              <a:t>u</a:t>
            </a:r>
            <a:r>
              <a:rPr lang="en-US" sz="2400" dirty="0" smtClean="0"/>
              <a:t> and </a:t>
            </a:r>
            <a:r>
              <a:rPr lang="en-US" sz="2400" dirty="0" smtClean="0">
                <a:solidFill>
                  <a:srgbClr val="000099"/>
                </a:solidFill>
              </a:rPr>
              <a:t>v</a:t>
            </a:r>
          </a:p>
          <a:p>
            <a:endParaRPr lang="en-US" sz="2400" dirty="0" smtClean="0"/>
          </a:p>
          <a:p>
            <a:r>
              <a:rPr lang="en-US" sz="2400" dirty="0" smtClean="0">
                <a:solidFill>
                  <a:srgbClr val="000099"/>
                </a:solidFill>
              </a:rPr>
              <a:t>diam(G)</a:t>
            </a:r>
            <a:r>
              <a:rPr lang="en-US" sz="2400" dirty="0" smtClean="0"/>
              <a:t> = maximum distance over all pairs </a:t>
            </a:r>
            <a:r>
              <a:rPr lang="en-US" sz="2400" dirty="0" err="1" smtClean="0">
                <a:solidFill>
                  <a:srgbClr val="000099"/>
                </a:solidFill>
              </a:rPr>
              <a:t>u,v</a:t>
            </a:r>
            <a:endParaRPr lang="en-US" sz="2400" dirty="0" smtClean="0">
              <a:solidFill>
                <a:srgbClr val="000099"/>
              </a:solidFill>
            </a:endParaRPr>
          </a:p>
          <a:p>
            <a:endParaRPr lang="en-US" sz="2400" dirty="0" smtClean="0"/>
          </a:p>
          <a:p>
            <a:r>
              <a:rPr lang="en-US" sz="2400" dirty="0" smtClean="0">
                <a:solidFill>
                  <a:srgbClr val="000099"/>
                </a:solidFill>
              </a:rPr>
              <a:t>N(x)</a:t>
            </a:r>
            <a:r>
              <a:rPr lang="en-US" sz="2400" dirty="0" smtClean="0"/>
              <a:t> = neighbour set of </a:t>
            </a:r>
            <a:r>
              <a:rPr lang="en-US" sz="2400" dirty="0" smtClean="0">
                <a:solidFill>
                  <a:srgbClr val="000099"/>
                </a:solidFill>
              </a:rPr>
              <a:t>x</a:t>
            </a:r>
            <a:endParaRPr lang="en-US" sz="1600" dirty="0" smtClean="0">
              <a:solidFill>
                <a:srgbClr val="000099"/>
              </a:solidFill>
            </a:endParaRPr>
          </a:p>
          <a:p>
            <a:endParaRPr lang="en-GB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Complex Networks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B9044-B1D8-49D8-9F05-DCB5B06F2D15}" type="slidenum">
              <a:rPr lang="en-US" smtClean="0"/>
              <a:pPr/>
              <a:t>16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F12209F-2397-4C45-B3E8-D06B1048EA14}" type="slidenum">
              <a:rPr lang="en-US" smtClean="0"/>
              <a:pPr/>
              <a:t>17</a:t>
            </a:fld>
            <a:endParaRPr lang="en-US" smtClean="0"/>
          </a:p>
        </p:txBody>
      </p:sp>
      <p:sp>
        <p:nvSpPr>
          <p:cNvPr id="30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solidFill>
                  <a:srgbClr val="000099"/>
                </a:solidFill>
              </a:rPr>
              <a:t>First Theorem of Graph Theory:</a:t>
            </a:r>
          </a:p>
        </p:txBody>
      </p:sp>
      <p:sp>
        <p:nvSpPr>
          <p:cNvPr id="2478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029575" cy="3394075"/>
          </a:xfrm>
        </p:spPr>
        <p:txBody>
          <a:bodyPr/>
          <a:lstStyle/>
          <a:p>
            <a:pPr eaLnBrk="1" hangingPunct="1">
              <a:buFontTx/>
              <a:buNone/>
            </a:pPr>
            <a:endParaRPr lang="en-US" sz="2800" dirty="0" smtClean="0"/>
          </a:p>
          <a:p>
            <a:pPr eaLnBrk="1" hangingPunct="1">
              <a:buFontTx/>
              <a:buNone/>
            </a:pPr>
            <a:endParaRPr lang="en-US" sz="2800" dirty="0" smtClean="0">
              <a:solidFill>
                <a:srgbClr val="000099"/>
              </a:solidFill>
            </a:endParaRPr>
          </a:p>
        </p:txBody>
      </p:sp>
      <p:graphicFrame>
        <p:nvGraphicFramePr>
          <p:cNvPr id="247812" name="Object 4"/>
          <p:cNvGraphicFramePr>
            <a:graphicFrameLocks noChangeAspect="1"/>
          </p:cNvGraphicFramePr>
          <p:nvPr>
            <p:ph sz="half" idx="2"/>
          </p:nvPr>
        </p:nvGraphicFramePr>
        <p:xfrm>
          <a:off x="2176463" y="1795463"/>
          <a:ext cx="4714875" cy="1571625"/>
        </p:xfrm>
        <a:graphic>
          <a:graphicData uri="http://schemas.openxmlformats.org/presentationml/2006/ole">
            <p:oleObj spid="_x0000_s729090" name="Equation" r:id="rId3" imgW="1028520" imgH="342720" progId="Equation.3">
              <p:embed/>
            </p:oleObj>
          </a:graphicData>
        </a:graphic>
      </p:graphicFrame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Complex Networks</a:t>
            </a:r>
            <a:endParaRPr lang="en-US" dirty="0"/>
          </a:p>
        </p:txBody>
      </p:sp>
      <p:pic>
        <p:nvPicPr>
          <p:cNvPr id="7" name="Picture 4" descr="File:UndirectedDegrees.sv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652032" y="3443061"/>
            <a:ext cx="3979478" cy="240619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Complex Networks</a:t>
            </a:r>
            <a:endParaRPr lang="en-US" dirty="0"/>
          </a:p>
        </p:txBody>
      </p:sp>
      <p:sp>
        <p:nvSpPr>
          <p:cNvPr id="10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50C6D-C780-44E9-B30D-6497DB12CAC6}" type="slidenum">
              <a:rPr lang="en-US"/>
              <a:pPr/>
              <a:t>18</a:t>
            </a:fld>
            <a:endParaRPr lang="en-US" dirty="0"/>
          </a:p>
        </p:txBody>
      </p:sp>
      <p:sp>
        <p:nvSpPr>
          <p:cNvPr id="462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Other key </a:t>
            </a:r>
            <a:r>
              <a:rPr lang="en-US" dirty="0"/>
              <a:t>parameters</a:t>
            </a:r>
          </a:p>
        </p:txBody>
      </p:sp>
      <p:sp>
        <p:nvSpPr>
          <p:cNvPr id="462851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sz="2600" dirty="0" smtClean="0">
                <a:solidFill>
                  <a:srgbClr val="FF0000"/>
                </a:solidFill>
              </a:rPr>
              <a:t>degree distribution:</a:t>
            </a:r>
            <a:endParaRPr lang="en-US" sz="2600" dirty="0">
              <a:solidFill>
                <a:srgbClr val="FF0000"/>
              </a:solidFill>
            </a:endParaRPr>
          </a:p>
          <a:p>
            <a:endParaRPr lang="en-US" sz="2600" dirty="0">
              <a:solidFill>
                <a:srgbClr val="FF0000"/>
              </a:solidFill>
            </a:endParaRPr>
          </a:p>
          <a:p>
            <a:pPr>
              <a:buClr>
                <a:schemeClr val="tx1"/>
              </a:buClr>
            </a:pPr>
            <a:r>
              <a:rPr lang="en-US" sz="2600" dirty="0">
                <a:solidFill>
                  <a:srgbClr val="FF0000"/>
                </a:solidFill>
              </a:rPr>
              <a:t>average distance:</a:t>
            </a:r>
          </a:p>
          <a:p>
            <a:endParaRPr lang="en-US" sz="2600" dirty="0"/>
          </a:p>
          <a:p>
            <a:pPr>
              <a:buFontTx/>
              <a:buNone/>
            </a:pPr>
            <a:endParaRPr lang="en-US" sz="2600" dirty="0"/>
          </a:p>
          <a:p>
            <a:pPr>
              <a:buClr>
                <a:schemeClr val="tx1"/>
              </a:buClr>
            </a:pPr>
            <a:r>
              <a:rPr lang="en-US" sz="2600" dirty="0">
                <a:solidFill>
                  <a:srgbClr val="FF0000"/>
                </a:solidFill>
              </a:rPr>
              <a:t>clustering coefficient:</a:t>
            </a:r>
          </a:p>
        </p:txBody>
      </p:sp>
      <p:graphicFrame>
        <p:nvGraphicFramePr>
          <p:cNvPr id="462852" name="Object 4"/>
          <p:cNvGraphicFramePr>
            <a:graphicFrameLocks noChangeAspect="1"/>
          </p:cNvGraphicFramePr>
          <p:nvPr>
            <p:ph sz="quarter" idx="2"/>
          </p:nvPr>
        </p:nvGraphicFramePr>
        <p:xfrm>
          <a:off x="4090988" y="1687513"/>
          <a:ext cx="4433887" cy="573087"/>
        </p:xfrm>
        <a:graphic>
          <a:graphicData uri="http://schemas.openxmlformats.org/presentationml/2006/ole">
            <p:oleObj spid="_x0000_s732162" name="Equation" r:id="rId3" imgW="1866600" imgH="241200" progId="Equation.3">
              <p:embed/>
            </p:oleObj>
          </a:graphicData>
        </a:graphic>
      </p:graphicFrame>
      <p:graphicFrame>
        <p:nvGraphicFramePr>
          <p:cNvPr id="462854" name="Object 6"/>
          <p:cNvGraphicFramePr>
            <a:graphicFrameLocks noChangeAspect="1"/>
          </p:cNvGraphicFramePr>
          <p:nvPr>
            <p:ph sz="quarter" idx="3"/>
          </p:nvPr>
        </p:nvGraphicFramePr>
        <p:xfrm>
          <a:off x="4533900" y="3027363"/>
          <a:ext cx="3824288" cy="1157287"/>
        </p:xfrm>
        <a:graphic>
          <a:graphicData uri="http://schemas.openxmlformats.org/presentationml/2006/ole">
            <p:oleObj spid="_x0000_s732163" name="Equation" r:id="rId4" imgW="1638000" imgH="495000" progId="Equation.3">
              <p:embed/>
            </p:oleObj>
          </a:graphicData>
        </a:graphic>
      </p:graphicFrame>
      <p:graphicFrame>
        <p:nvGraphicFramePr>
          <p:cNvPr id="462856" name="Object 8"/>
          <p:cNvGraphicFramePr>
            <a:graphicFrameLocks noChangeAspect="1"/>
          </p:cNvGraphicFramePr>
          <p:nvPr/>
        </p:nvGraphicFramePr>
        <p:xfrm>
          <a:off x="1171575" y="4910138"/>
          <a:ext cx="7091363" cy="1106487"/>
        </p:xfrm>
        <a:graphic>
          <a:graphicData uri="http://schemas.openxmlformats.org/presentationml/2006/ole">
            <p:oleObj spid="_x0000_s732164" name="Equation" r:id="rId5" imgW="3174840" imgH="495000" progId="Equation.3">
              <p:embed/>
            </p:oleObj>
          </a:graphicData>
        </a:graphic>
      </p:graphicFrame>
      <p:sp>
        <p:nvSpPr>
          <p:cNvPr id="462857" name="Rectangle 9"/>
          <p:cNvSpPr>
            <a:spLocks noChangeArrowheads="1"/>
          </p:cNvSpPr>
          <p:nvPr/>
        </p:nvSpPr>
        <p:spPr bwMode="auto">
          <a:xfrm>
            <a:off x="5616575" y="3222625"/>
            <a:ext cx="1916113" cy="1103313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462858" name="Text Box 10"/>
          <p:cNvSpPr txBox="1">
            <a:spLocks noChangeArrowheads="1"/>
          </p:cNvSpPr>
          <p:nvPr/>
        </p:nvSpPr>
        <p:spPr bwMode="auto">
          <a:xfrm>
            <a:off x="5815013" y="4408488"/>
            <a:ext cx="241141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Wiener index, W(G)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285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Complex Networks</a:t>
            </a: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CE854-2AF5-4EDA-BD48-2DC834D04893}" type="slidenum">
              <a:rPr lang="en-US"/>
              <a:pPr/>
              <a:t>19</a:t>
            </a:fld>
            <a:endParaRPr lang="en-US" dirty="0"/>
          </a:p>
        </p:txBody>
      </p:sp>
      <p:sp>
        <p:nvSpPr>
          <p:cNvPr id="468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Complex Networks</a:t>
            </a:r>
          </a:p>
        </p:txBody>
      </p:sp>
      <p:sp>
        <p:nvSpPr>
          <p:cNvPr id="468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2056" y="1499734"/>
            <a:ext cx="8454571" cy="4525962"/>
          </a:xfrm>
        </p:spPr>
        <p:txBody>
          <a:bodyPr/>
          <a:lstStyle/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en-US" dirty="0" smtClean="0">
                <a:solidFill>
                  <a:srgbClr val="C00000"/>
                </a:solidFill>
              </a:rPr>
              <a:t>power law degree distribution </a:t>
            </a:r>
            <a:endParaRPr lang="en-US" dirty="0">
              <a:solidFill>
                <a:srgbClr val="C00000"/>
              </a:solidFill>
            </a:endParaRPr>
          </a:p>
          <a:p>
            <a:pPr lvl="1">
              <a:lnSpc>
                <a:spcPct val="90000"/>
              </a:lnSpc>
            </a:pPr>
            <a:endParaRPr lang="en-US" sz="2400" dirty="0">
              <a:solidFill>
                <a:srgbClr val="000099"/>
              </a:solidFill>
            </a:endParaRPr>
          </a:p>
          <a:p>
            <a:pPr lvl="1">
              <a:lnSpc>
                <a:spcPct val="90000"/>
              </a:lnSpc>
            </a:pPr>
            <a:endParaRPr lang="en-US" sz="2400" dirty="0">
              <a:solidFill>
                <a:srgbClr val="000099"/>
              </a:solidFill>
            </a:endParaRPr>
          </a:p>
          <a:p>
            <a:pPr lvl="1">
              <a:lnSpc>
                <a:spcPct val="90000"/>
              </a:lnSpc>
            </a:pPr>
            <a:endParaRPr lang="en-US" sz="2400" dirty="0">
              <a:solidFill>
                <a:srgbClr val="000099"/>
              </a:solidFill>
            </a:endParaRPr>
          </a:p>
          <a:p>
            <a:pPr lvl="1">
              <a:lnSpc>
                <a:spcPct val="90000"/>
              </a:lnSpc>
            </a:pPr>
            <a:endParaRPr lang="en-US" sz="2400" dirty="0">
              <a:solidFill>
                <a:srgbClr val="000099"/>
              </a:solidFill>
            </a:endParaRPr>
          </a:p>
          <a:p>
            <a:pPr lvl="1">
              <a:lnSpc>
                <a:spcPct val="90000"/>
              </a:lnSpc>
            </a:pPr>
            <a:endParaRPr lang="en-US" sz="2400" dirty="0">
              <a:solidFill>
                <a:srgbClr val="000099"/>
              </a:solidFill>
            </a:endParaRPr>
          </a:p>
          <a:p>
            <a:pPr lvl="1">
              <a:lnSpc>
                <a:spcPct val="90000"/>
              </a:lnSpc>
              <a:buFontTx/>
              <a:buNone/>
            </a:pPr>
            <a:endParaRPr lang="en-US" sz="2400" dirty="0">
              <a:solidFill>
                <a:srgbClr val="000099"/>
              </a:solidFill>
            </a:endParaRPr>
          </a:p>
          <a:p>
            <a:pPr lvl="1">
              <a:lnSpc>
                <a:spcPct val="90000"/>
              </a:lnSpc>
              <a:buFontTx/>
              <a:buNone/>
            </a:pPr>
            <a:endParaRPr lang="en-US" sz="2400" dirty="0">
              <a:solidFill>
                <a:srgbClr val="000099"/>
              </a:solidFill>
            </a:endParaRPr>
          </a:p>
          <a:p>
            <a:pPr>
              <a:lnSpc>
                <a:spcPct val="90000"/>
              </a:lnSpc>
            </a:pPr>
            <a:endParaRPr lang="en-US" dirty="0"/>
          </a:p>
        </p:txBody>
      </p:sp>
      <p:pic>
        <p:nvPicPr>
          <p:cNvPr id="468996" name="Picture 4" descr="fig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463925" y="3048001"/>
            <a:ext cx="3588531" cy="3206440"/>
          </a:xfrm>
          <a:prstGeom prst="rect">
            <a:avLst/>
          </a:prstGeom>
          <a:noFill/>
        </p:spPr>
      </p:pic>
      <p:sp>
        <p:nvSpPr>
          <p:cNvPr id="468998" name="Rectangle 6"/>
          <p:cNvSpPr>
            <a:spLocks noChangeArrowheads="1"/>
          </p:cNvSpPr>
          <p:nvPr/>
        </p:nvSpPr>
        <p:spPr bwMode="auto">
          <a:xfrm>
            <a:off x="5949498" y="3473903"/>
            <a:ext cx="290421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dirty="0">
                <a:solidFill>
                  <a:srgbClr val="0070C0"/>
                </a:solidFill>
              </a:rPr>
              <a:t>(Broder et al, 01)  </a:t>
            </a:r>
          </a:p>
        </p:txBody>
      </p:sp>
      <p:graphicFrame>
        <p:nvGraphicFramePr>
          <p:cNvPr id="852993" name="Object 1"/>
          <p:cNvGraphicFramePr>
            <a:graphicFrameLocks noChangeAspect="1"/>
          </p:cNvGraphicFramePr>
          <p:nvPr/>
        </p:nvGraphicFramePr>
        <p:xfrm>
          <a:off x="2659063" y="1930400"/>
          <a:ext cx="4167187" cy="784225"/>
        </p:xfrm>
        <a:graphic>
          <a:graphicData uri="http://schemas.openxmlformats.org/presentationml/2006/ole">
            <p:oleObj spid="_x0000_s852993" name="Equation" r:id="rId4" imgW="1460160" imgH="2538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899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Complex Networks</a:t>
            </a:r>
            <a:endParaRPr lang="en-US" dirty="0"/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F5067-4A76-4D7F-A7BE-02598DE3048E}" type="slidenum">
              <a:rPr lang="en-US"/>
              <a:pPr/>
              <a:t>20</a:t>
            </a:fld>
            <a:endParaRPr lang="en-US" dirty="0"/>
          </a:p>
        </p:txBody>
      </p:sp>
      <p:pic>
        <p:nvPicPr>
          <p:cNvPr id="138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58270" y="1868261"/>
            <a:ext cx="5372918" cy="3763282"/>
          </a:xfrm>
          <a:prstGeom prst="rect">
            <a:avLst/>
          </a:prstGeom>
          <a:noFill/>
        </p:spPr>
      </p:pic>
      <p:sp>
        <p:nvSpPr>
          <p:cNvPr id="138243" name="Text Box 3"/>
          <p:cNvSpPr txBox="1">
            <a:spLocks noChangeArrowheads="1"/>
          </p:cNvSpPr>
          <p:nvPr/>
        </p:nvSpPr>
        <p:spPr bwMode="auto">
          <a:xfrm>
            <a:off x="4292146" y="1556656"/>
            <a:ext cx="1981200" cy="711200"/>
          </a:xfrm>
          <a:prstGeom prst="rect">
            <a:avLst/>
          </a:prstGeom>
          <a:solidFill>
            <a:srgbClr val="C0C0C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dirty="0"/>
              <a:t>Many low-degree nodes</a:t>
            </a:r>
          </a:p>
        </p:txBody>
      </p:sp>
      <p:sp>
        <p:nvSpPr>
          <p:cNvPr id="138244" name="Line 4"/>
          <p:cNvSpPr>
            <a:spLocks noChangeShapeType="1"/>
          </p:cNvSpPr>
          <p:nvPr/>
        </p:nvSpPr>
        <p:spPr bwMode="auto">
          <a:xfrm flipH="1">
            <a:off x="3268889" y="2177143"/>
            <a:ext cx="1056367" cy="5080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 wrap="square">
            <a:spAutoFit/>
          </a:bodyPr>
          <a:lstStyle/>
          <a:p>
            <a:endParaRPr lang="en-GB" dirty="0"/>
          </a:p>
        </p:txBody>
      </p:sp>
      <p:sp>
        <p:nvSpPr>
          <p:cNvPr id="138245" name="Oval 5"/>
          <p:cNvSpPr>
            <a:spLocks noChangeArrowheads="1"/>
          </p:cNvSpPr>
          <p:nvPr/>
        </p:nvSpPr>
        <p:spPr bwMode="auto">
          <a:xfrm>
            <a:off x="2760889" y="2627086"/>
            <a:ext cx="609600" cy="457200"/>
          </a:xfrm>
          <a:prstGeom prst="ellipse">
            <a:avLst/>
          </a:prstGeom>
          <a:solidFill>
            <a:srgbClr val="FFFF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138246" name="Oval 6"/>
          <p:cNvSpPr>
            <a:spLocks noChangeArrowheads="1"/>
          </p:cNvSpPr>
          <p:nvPr/>
        </p:nvSpPr>
        <p:spPr bwMode="auto">
          <a:xfrm>
            <a:off x="4999718" y="4807858"/>
            <a:ext cx="762000" cy="457200"/>
          </a:xfrm>
          <a:prstGeom prst="ellipse">
            <a:avLst/>
          </a:prstGeom>
          <a:solidFill>
            <a:srgbClr val="FFFF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138247" name="Text Box 7"/>
          <p:cNvSpPr txBox="1">
            <a:spLocks noChangeArrowheads="1"/>
          </p:cNvSpPr>
          <p:nvPr/>
        </p:nvSpPr>
        <p:spPr bwMode="auto">
          <a:xfrm>
            <a:off x="6589032" y="3937000"/>
            <a:ext cx="1905000" cy="711200"/>
          </a:xfrm>
          <a:prstGeom prst="rect">
            <a:avLst/>
          </a:prstGeom>
          <a:solidFill>
            <a:srgbClr val="C0C0C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dirty="0"/>
              <a:t>Few high-degree nodes</a:t>
            </a:r>
          </a:p>
        </p:txBody>
      </p:sp>
      <p:sp>
        <p:nvSpPr>
          <p:cNvPr id="138248" name="Line 8"/>
          <p:cNvSpPr>
            <a:spLocks noChangeShapeType="1"/>
          </p:cNvSpPr>
          <p:nvPr/>
        </p:nvSpPr>
        <p:spPr bwMode="auto">
          <a:xfrm flipH="1">
            <a:off x="5674633" y="4542971"/>
            <a:ext cx="900338" cy="373742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 wrap="square">
            <a:spAutoFit/>
          </a:bodyPr>
          <a:lstStyle/>
          <a:p>
            <a:endParaRPr lang="en-GB" dirty="0"/>
          </a:p>
        </p:txBody>
      </p:sp>
      <p:sp>
        <p:nvSpPr>
          <p:cNvPr id="138249" name="Rectangle 9"/>
          <p:cNvSpPr>
            <a:spLocks noGrp="1" noChangeArrowheads="1"/>
          </p:cNvSpPr>
          <p:nvPr>
            <p:ph type="title"/>
          </p:nvPr>
        </p:nvSpPr>
        <p:spPr>
          <a:xfrm>
            <a:off x="544513" y="260350"/>
            <a:ext cx="8229600" cy="1143000"/>
          </a:xfrm>
        </p:spPr>
        <p:txBody>
          <a:bodyPr/>
          <a:lstStyle/>
          <a:p>
            <a:r>
              <a:rPr lang="en-US" dirty="0"/>
              <a:t>Interpreting a power law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Complex Networks</a:t>
            </a:r>
            <a:endParaRPr lang="en-US" dirty="0"/>
          </a:p>
        </p:txBody>
      </p:sp>
      <p:sp>
        <p:nvSpPr>
          <p:cNvPr id="1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76064-43D3-4748-83A0-2517FD1D8B5A}" type="slidenum">
              <a:rPr lang="en-US"/>
              <a:pPr/>
              <a:t>21</a:t>
            </a:fld>
            <a:endParaRPr lang="en-US" dirty="0"/>
          </a:p>
        </p:txBody>
      </p:sp>
      <p:pic>
        <p:nvPicPr>
          <p:cNvPr id="19456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55650" y="765175"/>
            <a:ext cx="2952750" cy="2401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4565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73625" y="663575"/>
            <a:ext cx="3240088" cy="2454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94568" name="Text Box 8"/>
          <p:cNvSpPr txBox="1">
            <a:spLocks noChangeArrowheads="1"/>
          </p:cNvSpPr>
          <p:nvPr/>
        </p:nvSpPr>
        <p:spPr bwMode="auto">
          <a:xfrm>
            <a:off x="1547813" y="188913"/>
            <a:ext cx="1741487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000099"/>
                </a:solidFill>
              </a:rPr>
              <a:t>Binomial</a:t>
            </a:r>
          </a:p>
        </p:txBody>
      </p:sp>
      <p:sp>
        <p:nvSpPr>
          <p:cNvPr id="194569" name="Text Box 9"/>
          <p:cNvSpPr txBox="1">
            <a:spLocks noChangeArrowheads="1"/>
          </p:cNvSpPr>
          <p:nvPr/>
        </p:nvSpPr>
        <p:spPr bwMode="auto">
          <a:xfrm>
            <a:off x="5695950" y="215900"/>
            <a:ext cx="216058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Power law</a:t>
            </a:r>
          </a:p>
        </p:txBody>
      </p:sp>
      <p:sp>
        <p:nvSpPr>
          <p:cNvPr id="194570" name="Text Box 10"/>
          <p:cNvSpPr txBox="1">
            <a:spLocks noChangeArrowheads="1"/>
          </p:cNvSpPr>
          <p:nvPr/>
        </p:nvSpPr>
        <p:spPr bwMode="auto">
          <a:xfrm>
            <a:off x="812800" y="5489575"/>
            <a:ext cx="327501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000099"/>
                </a:solidFill>
              </a:rPr>
              <a:t>Highway network</a:t>
            </a:r>
          </a:p>
        </p:txBody>
      </p:sp>
      <p:sp>
        <p:nvSpPr>
          <p:cNvPr id="194571" name="Text Box 11"/>
          <p:cNvSpPr txBox="1">
            <a:spLocks noChangeArrowheads="1"/>
          </p:cNvSpPr>
          <p:nvPr/>
        </p:nvSpPr>
        <p:spPr bwMode="auto">
          <a:xfrm>
            <a:off x="4987925" y="5461000"/>
            <a:ext cx="331946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Air traffic network</a:t>
            </a:r>
          </a:p>
        </p:txBody>
      </p:sp>
      <p:pic>
        <p:nvPicPr>
          <p:cNvPr id="194579" name="Picture 19" descr="prb0569e-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6413" y="3252788"/>
            <a:ext cx="3786187" cy="2336800"/>
          </a:xfrm>
          <a:prstGeom prst="rect">
            <a:avLst/>
          </a:prstGeom>
          <a:noFill/>
        </p:spPr>
      </p:pic>
      <p:pic>
        <p:nvPicPr>
          <p:cNvPr id="194584" name="Picture 24" descr="Air_Canada_Jazz"/>
          <p:cNvPicPr>
            <a:picLocks noChangeAspect="1" noChangeArrowheads="1"/>
          </p:cNvPicPr>
          <p:nvPr/>
        </p:nvPicPr>
        <p:blipFill>
          <a:blip r:embed="rId5"/>
          <a:srcRect b="26997"/>
          <a:stretch>
            <a:fillRect/>
          </a:stretch>
        </p:blipFill>
        <p:spPr bwMode="auto">
          <a:xfrm>
            <a:off x="4667250" y="3244850"/>
            <a:ext cx="4098925" cy="2232025"/>
          </a:xfrm>
          <a:prstGeom prst="rect">
            <a:avLst/>
          </a:prstGeom>
          <a:noFill/>
        </p:spPr>
      </p:pic>
      <p:sp>
        <p:nvSpPr>
          <p:cNvPr id="194585" name="Rectangle 25"/>
          <p:cNvSpPr>
            <a:spLocks noChangeArrowheads="1"/>
          </p:cNvSpPr>
          <p:nvPr/>
        </p:nvSpPr>
        <p:spPr bwMode="auto">
          <a:xfrm>
            <a:off x="595313" y="682625"/>
            <a:ext cx="188912" cy="255428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194586" name="Rectangle 26"/>
          <p:cNvSpPr>
            <a:spLocks noChangeArrowheads="1"/>
          </p:cNvSpPr>
          <p:nvPr/>
        </p:nvSpPr>
        <p:spPr bwMode="auto">
          <a:xfrm>
            <a:off x="3222625" y="3322638"/>
            <a:ext cx="1087438" cy="420687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ADAE9D8-A5DA-47CC-A543-8634BCDF667C}" type="slidenum">
              <a:rPr lang="en-US" smtClean="0"/>
              <a:pPr/>
              <a:t>22</a:t>
            </a:fld>
            <a:endParaRPr lang="en-US" smtClean="0"/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Notes on power laws</a:t>
            </a:r>
          </a:p>
        </p:txBody>
      </p:sp>
      <p:sp>
        <p:nvSpPr>
          <p:cNvPr id="421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solidFill>
                  <a:srgbClr val="000099"/>
                </a:solidFill>
              </a:rPr>
              <a:t>b</a:t>
            </a:r>
            <a:r>
              <a:rPr lang="en-US" dirty="0" smtClean="0"/>
              <a:t> is the </a:t>
            </a:r>
            <a:r>
              <a:rPr lang="en-US" dirty="0" smtClean="0">
                <a:solidFill>
                  <a:srgbClr val="FF0000"/>
                </a:solidFill>
              </a:rPr>
              <a:t>exponent</a:t>
            </a:r>
            <a:r>
              <a:rPr lang="en-US" dirty="0" smtClean="0"/>
              <a:t> of the power law</a:t>
            </a:r>
          </a:p>
          <a:p>
            <a:pPr eaLnBrk="1" hangingPunct="1"/>
            <a:r>
              <a:rPr lang="en-US" dirty="0" smtClean="0"/>
              <a:t>note that the law is </a:t>
            </a:r>
          </a:p>
          <a:p>
            <a:pPr lvl="1" eaLnBrk="1" hangingPunct="1"/>
            <a:r>
              <a:rPr lang="en-US" dirty="0" smtClean="0">
                <a:solidFill>
                  <a:srgbClr val="000099"/>
                </a:solidFill>
              </a:rPr>
              <a:t>approximate</a:t>
            </a:r>
            <a:r>
              <a:rPr lang="en-US" dirty="0" smtClean="0"/>
              <a:t>: constants do not affect it</a:t>
            </a:r>
          </a:p>
          <a:p>
            <a:pPr lvl="1" eaLnBrk="1" hangingPunct="1"/>
            <a:r>
              <a:rPr lang="en-US" dirty="0" smtClean="0">
                <a:solidFill>
                  <a:srgbClr val="000099"/>
                </a:solidFill>
              </a:rPr>
              <a:t>asymptotic</a:t>
            </a:r>
            <a:r>
              <a:rPr lang="en-US" dirty="0" smtClean="0"/>
              <a:t>: holds only for large</a:t>
            </a:r>
            <a:r>
              <a:rPr lang="en-US" dirty="0" smtClean="0">
                <a:solidFill>
                  <a:srgbClr val="000099"/>
                </a:solidFill>
              </a:rPr>
              <a:t> n</a:t>
            </a:r>
          </a:p>
          <a:p>
            <a:pPr lvl="1" eaLnBrk="1" hangingPunct="1"/>
            <a:r>
              <a:rPr lang="en-US" dirty="0" smtClean="0"/>
              <a:t>may not hold for </a:t>
            </a:r>
            <a:r>
              <a:rPr lang="en-US" i="1" dirty="0" smtClean="0"/>
              <a:t>all</a:t>
            </a:r>
            <a:r>
              <a:rPr lang="en-US" dirty="0" smtClean="0"/>
              <a:t> degrees, but </a:t>
            </a:r>
            <a:r>
              <a:rPr lang="en-US" i="1" dirty="0" smtClean="0"/>
              <a:t>most</a:t>
            </a:r>
            <a:r>
              <a:rPr lang="en-US" dirty="0" smtClean="0"/>
              <a:t> degrees (for example, sufficiently large or sufficiently small degrees)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Complex Networks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76B4C5C-C7C9-4ADA-96F2-53B6D7E259B0}" type="slidenum">
              <a:rPr lang="en-US" smtClean="0"/>
              <a:pPr/>
              <a:t>23</a:t>
            </a:fld>
            <a:endParaRPr lang="en-US" smtClean="0"/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mtClean="0"/>
              <a:t>Degree distribution (log-log plot) of a power law graph</a:t>
            </a:r>
          </a:p>
        </p:txBody>
      </p:sp>
      <p:pic>
        <p:nvPicPr>
          <p:cNvPr id="19460" name="Picture 4" descr="pow"/>
          <p:cNvPicPr>
            <a:picLocks noChangeAspect="1" noChangeArrowheads="1"/>
          </p:cNvPicPr>
          <p:nvPr/>
        </p:nvPicPr>
        <p:blipFill>
          <a:blip r:embed="rId2"/>
          <a:srcRect l="9264" t="46529" r="9264" b="7158"/>
          <a:stretch>
            <a:fillRect/>
          </a:stretch>
        </p:blipFill>
        <p:spPr bwMode="auto">
          <a:xfrm>
            <a:off x="1655763" y="1835150"/>
            <a:ext cx="6121400" cy="450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Complex Networks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Power laws in OSNs</a:t>
            </a:r>
            <a:endParaRPr lang="en-GB" dirty="0" smtClean="0"/>
          </a:p>
        </p:txBody>
      </p:sp>
      <p:pic>
        <p:nvPicPr>
          <p:cNvPr id="13315" name="Content Placeholder 5" descr="Pages from SocialNetworks-IMC.jpg"/>
          <p:cNvPicPr>
            <a:picLocks noGrp="1" noChangeAspect="1"/>
          </p:cNvPicPr>
          <p:nvPr>
            <p:ph idx="1"/>
          </p:nvPr>
        </p:nvPicPr>
        <p:blipFill>
          <a:blip r:embed="rId2"/>
          <a:srcRect l="3999" t="6400" r="3999" b="19200"/>
          <a:stretch>
            <a:fillRect/>
          </a:stretch>
        </p:blipFill>
        <p:spPr>
          <a:xfrm>
            <a:off x="368300" y="1211263"/>
            <a:ext cx="8201025" cy="2852737"/>
          </a:xfrm>
        </p:spPr>
      </p:pic>
      <p:sp>
        <p:nvSpPr>
          <p:cNvPr id="13316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Complex Networks</a:t>
            </a:r>
            <a:endParaRPr lang="en-US" dirty="0" smtClean="0"/>
          </a:p>
        </p:txBody>
      </p:sp>
      <p:sp>
        <p:nvSpPr>
          <p:cNvPr id="1331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F37F1E3-CB39-40DA-B3AA-E4B3AD236A81}" type="slidenum">
              <a:rPr lang="en-US" smtClean="0"/>
              <a:pPr/>
              <a:t>24</a:t>
            </a:fld>
            <a:endParaRPr lang="en-US" dirty="0" smtClean="0"/>
          </a:p>
        </p:txBody>
      </p:sp>
      <p:pic>
        <p:nvPicPr>
          <p:cNvPr id="13318" name="Picture 6" descr="Pages from SocialNetworks-IMC-2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496457" y="4099501"/>
            <a:ext cx="4210731" cy="2177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Complex Networks</a:t>
            </a: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BA4E9-F377-44BC-B7C4-7A1E67F477B0}" type="slidenum">
              <a:rPr lang="en-US"/>
              <a:pPr/>
              <a:t>25</a:t>
            </a:fld>
            <a:endParaRPr lang="en-US" dirty="0"/>
          </a:p>
        </p:txBody>
      </p:sp>
      <p:sp>
        <p:nvSpPr>
          <p:cNvPr id="529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Small World </a:t>
            </a:r>
            <a:r>
              <a:rPr lang="en-US" sz="3600" dirty="0" smtClean="0"/>
              <a:t>Property</a:t>
            </a:r>
            <a:endParaRPr lang="en-US" sz="3600" dirty="0"/>
          </a:p>
        </p:txBody>
      </p:sp>
      <p:sp>
        <p:nvSpPr>
          <p:cNvPr id="529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9447" y="1423988"/>
            <a:ext cx="4320268" cy="4555898"/>
          </a:xfrm>
          <a:noFill/>
        </p:spPr>
        <p:txBody>
          <a:bodyPr/>
          <a:lstStyle/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en-US" sz="2800" dirty="0">
                <a:solidFill>
                  <a:srgbClr val="000099"/>
                </a:solidFill>
              </a:rPr>
              <a:t>small world networks </a:t>
            </a:r>
            <a:r>
              <a:rPr lang="en-US" sz="2800" dirty="0"/>
              <a:t>introduced by social scientists </a:t>
            </a:r>
            <a:r>
              <a:rPr lang="en-US" sz="2800" dirty="0">
                <a:solidFill>
                  <a:srgbClr val="0070C0"/>
                </a:solidFill>
              </a:rPr>
              <a:t>Watts &amp; Strogatz </a:t>
            </a:r>
            <a:r>
              <a:rPr lang="en-US" sz="2800" dirty="0"/>
              <a:t>in 1998</a:t>
            </a:r>
          </a:p>
          <a:p>
            <a:pPr lvl="1">
              <a:lnSpc>
                <a:spcPct val="90000"/>
              </a:lnSpc>
            </a:pPr>
            <a:r>
              <a:rPr lang="en-US" dirty="0" smtClean="0">
                <a:solidFill>
                  <a:srgbClr val="008000"/>
                </a:solidFill>
              </a:rPr>
              <a:t>low distances</a:t>
            </a:r>
            <a:endParaRPr lang="en-US" dirty="0" smtClean="0"/>
          </a:p>
          <a:p>
            <a:pPr lvl="2">
              <a:lnSpc>
                <a:spcPct val="90000"/>
              </a:lnSpc>
            </a:pPr>
            <a:r>
              <a:rPr lang="en-US" dirty="0" smtClean="0">
                <a:solidFill>
                  <a:srgbClr val="000099"/>
                </a:solidFill>
              </a:rPr>
              <a:t>diam(G) = O(log n)</a:t>
            </a:r>
          </a:p>
          <a:p>
            <a:pPr lvl="2">
              <a:lnSpc>
                <a:spcPct val="90000"/>
              </a:lnSpc>
            </a:pPr>
            <a:r>
              <a:rPr lang="en-US" dirty="0" smtClean="0">
                <a:solidFill>
                  <a:srgbClr val="000099"/>
                </a:solidFill>
              </a:rPr>
              <a:t>L(G) = O(</a:t>
            </a:r>
            <a:r>
              <a:rPr lang="en-US" dirty="0" err="1" smtClean="0">
                <a:solidFill>
                  <a:srgbClr val="000099"/>
                </a:solidFill>
              </a:rPr>
              <a:t>loglog</a:t>
            </a:r>
            <a:r>
              <a:rPr lang="en-US" dirty="0" smtClean="0">
                <a:solidFill>
                  <a:srgbClr val="000099"/>
                </a:solidFill>
              </a:rPr>
              <a:t> n)</a:t>
            </a:r>
            <a:endParaRPr lang="en-US" dirty="0">
              <a:solidFill>
                <a:srgbClr val="000099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sz="2500" dirty="0" smtClean="0">
                <a:solidFill>
                  <a:srgbClr val="008000"/>
                </a:solidFill>
              </a:rPr>
              <a:t>higher clustering coefficient </a:t>
            </a:r>
            <a:r>
              <a:rPr lang="en-US" sz="2500" dirty="0" smtClean="0"/>
              <a:t>than random graph with same expected degree</a:t>
            </a:r>
          </a:p>
        </p:txBody>
      </p:sp>
      <p:pic>
        <p:nvPicPr>
          <p:cNvPr id="529412" name="Picture 4" descr="social-network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30750" y="1933575"/>
            <a:ext cx="4037013" cy="312737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</p:pic>
      <p:sp>
        <p:nvSpPr>
          <p:cNvPr id="529413" name="Rectangle 5"/>
          <p:cNvSpPr>
            <a:spLocks noChangeArrowheads="1"/>
          </p:cNvSpPr>
          <p:nvPr/>
        </p:nvSpPr>
        <p:spPr bwMode="auto">
          <a:xfrm>
            <a:off x="7853363" y="4252913"/>
            <a:ext cx="914400" cy="49371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529414" name="Rectangle 6"/>
          <p:cNvSpPr>
            <a:spLocks noChangeArrowheads="1"/>
          </p:cNvSpPr>
          <p:nvPr/>
        </p:nvSpPr>
        <p:spPr bwMode="auto">
          <a:xfrm>
            <a:off x="7837488" y="3208338"/>
            <a:ext cx="812800" cy="24606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pic>
        <p:nvPicPr>
          <p:cNvPr id="529415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22813" y="1822450"/>
            <a:ext cx="4116387" cy="3221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62210" name="Picture 2" descr="734px-six_degrees_of_separation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640490" y="1546451"/>
            <a:ext cx="4242254" cy="3462004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Complex Networks</a:t>
            </a:r>
            <a:endParaRPr lang="en-US" dirty="0" smtClean="0"/>
          </a:p>
        </p:txBody>
      </p:sp>
      <p:sp>
        <p:nvSpPr>
          <p:cNvPr id="1741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68AAF7D-3135-4858-A869-601C3D764BDE}" type="slidenum">
              <a:rPr lang="en-US" smtClean="0"/>
              <a:pPr/>
              <a:t>26</a:t>
            </a:fld>
            <a:endParaRPr lang="en-US" dirty="0" smtClean="0"/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dirty="0" smtClean="0"/>
              <a:t>Sample data: Flickr, YouTube, LiveJournal, Orkut</a:t>
            </a:r>
          </a:p>
        </p:txBody>
      </p:sp>
      <p:sp>
        <p:nvSpPr>
          <p:cNvPr id="1741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Clr>
                <a:schemeClr val="tx1"/>
              </a:buClr>
            </a:pPr>
            <a:r>
              <a:rPr lang="en-US" dirty="0" smtClean="0">
                <a:solidFill>
                  <a:srgbClr val="0070C0"/>
                </a:solidFill>
              </a:rPr>
              <a:t>(Mislove et al,07): </a:t>
            </a:r>
            <a:r>
              <a:rPr lang="en-US" dirty="0" smtClean="0"/>
              <a:t>short average distances and high clustering coefficients</a:t>
            </a:r>
          </a:p>
        </p:txBody>
      </p:sp>
      <p:pic>
        <p:nvPicPr>
          <p:cNvPr id="17414" name="Picture 4"/>
          <p:cNvPicPr>
            <a:picLocks noChangeAspect="1" noChangeArrowheads="1"/>
          </p:cNvPicPr>
          <p:nvPr/>
        </p:nvPicPr>
        <p:blipFill>
          <a:blip r:embed="rId2"/>
          <a:srcRect l="4119" t="11977" r="3167" b="8108"/>
          <a:stretch>
            <a:fillRect/>
          </a:stretch>
        </p:blipFill>
        <p:spPr bwMode="auto">
          <a:xfrm>
            <a:off x="4818743" y="2975429"/>
            <a:ext cx="4325257" cy="2413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15" name="Picture 5"/>
          <p:cNvPicPr>
            <a:picLocks noChangeAspect="1" noChangeArrowheads="1"/>
          </p:cNvPicPr>
          <p:nvPr/>
        </p:nvPicPr>
        <p:blipFill>
          <a:blip r:embed="rId3"/>
          <a:srcRect l="3662" t="11237" r="3110" b="9121"/>
          <a:stretch>
            <a:fillRect/>
          </a:stretch>
        </p:blipFill>
        <p:spPr bwMode="auto">
          <a:xfrm>
            <a:off x="0" y="3048001"/>
            <a:ext cx="4804228" cy="25545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Complex Networks</a:t>
            </a:r>
            <a:endParaRPr lang="en-US" dirty="0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465A6-1EF9-42E2-BDB3-67A5BD4307FE}" type="slidenum">
              <a:rPr lang="en-US"/>
              <a:pPr/>
              <a:t>27</a:t>
            </a:fld>
            <a:endParaRPr lang="en-US" dirty="0"/>
          </a:p>
        </p:txBody>
      </p:sp>
      <p:pic>
        <p:nvPicPr>
          <p:cNvPr id="53043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68513" y="1198563"/>
            <a:ext cx="5334000" cy="3382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30437" name="Rectangle 5"/>
          <p:cNvSpPr>
            <a:spLocks noChangeArrowheads="1"/>
          </p:cNvSpPr>
          <p:nvPr/>
        </p:nvSpPr>
        <p:spPr bwMode="auto">
          <a:xfrm>
            <a:off x="1798638" y="1073150"/>
            <a:ext cx="377825" cy="38322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pic>
        <p:nvPicPr>
          <p:cNvPr id="530438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63750" y="1168400"/>
            <a:ext cx="5343525" cy="3389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30439" name="Rectangle 7"/>
          <p:cNvSpPr>
            <a:spLocks noChangeArrowheads="1"/>
          </p:cNvSpPr>
          <p:nvPr/>
        </p:nvSpPr>
        <p:spPr bwMode="auto">
          <a:xfrm>
            <a:off x="1654175" y="1058863"/>
            <a:ext cx="508000" cy="37877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530440" name="Text Box 8"/>
          <p:cNvSpPr txBox="1">
            <a:spLocks noChangeArrowheads="1"/>
          </p:cNvSpPr>
          <p:nvPr/>
        </p:nvSpPr>
        <p:spPr bwMode="auto">
          <a:xfrm>
            <a:off x="473075" y="4694238"/>
            <a:ext cx="8123238" cy="15081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Tx/>
              <a:buChar char="•"/>
            </a:pPr>
            <a:r>
              <a:rPr lang="en-US" sz="2300" dirty="0"/>
              <a:t> </a:t>
            </a:r>
            <a:r>
              <a:rPr lang="en-US" sz="2300" dirty="0" smtClean="0">
                <a:solidFill>
                  <a:srgbClr val="008000"/>
                </a:solidFill>
              </a:rPr>
              <a:t>W. </a:t>
            </a:r>
            <a:r>
              <a:rPr lang="en-US" sz="2300" dirty="0">
                <a:solidFill>
                  <a:srgbClr val="008000"/>
                </a:solidFill>
              </a:rPr>
              <a:t>Zachary’s</a:t>
            </a:r>
            <a:r>
              <a:rPr lang="en-US" sz="2300" dirty="0"/>
              <a:t> Ph.D. thesis (</a:t>
            </a:r>
            <a:r>
              <a:rPr lang="en-US" sz="2300" dirty="0" smtClean="0"/>
              <a:t>1972</a:t>
            </a:r>
            <a:r>
              <a:rPr lang="en-US" sz="2300" dirty="0"/>
              <a:t>): observed social ties and rivalries in a university karate club (34 nodes,78 edges)</a:t>
            </a:r>
          </a:p>
          <a:p>
            <a:pPr>
              <a:buFontTx/>
              <a:buChar char="•"/>
            </a:pPr>
            <a:r>
              <a:rPr lang="en-US" sz="2300" dirty="0"/>
              <a:t> during his observation, conflicts intensified and group split</a:t>
            </a:r>
          </a:p>
          <a:p>
            <a:endParaRPr lang="en-US" sz="2300" dirty="0"/>
          </a:p>
        </p:txBody>
      </p:sp>
      <p:sp>
        <p:nvSpPr>
          <p:cNvPr id="530444" name="Rectangle 1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Community </a:t>
            </a:r>
            <a:r>
              <a:rPr lang="en-US" dirty="0"/>
              <a:t>structure</a:t>
            </a:r>
          </a:p>
        </p:txBody>
      </p:sp>
      <p:sp>
        <p:nvSpPr>
          <p:cNvPr id="13" name="Freeform 12"/>
          <p:cNvSpPr/>
          <p:nvPr/>
        </p:nvSpPr>
        <p:spPr>
          <a:xfrm>
            <a:off x="4148667" y="1248229"/>
            <a:ext cx="1207104" cy="2917371"/>
          </a:xfrm>
          <a:custGeom>
            <a:avLst/>
            <a:gdLst>
              <a:gd name="connsiteX0" fmla="*/ 1207104 w 1207104"/>
              <a:gd name="connsiteY0" fmla="*/ 0 h 2917371"/>
              <a:gd name="connsiteX1" fmla="*/ 757162 w 1207104"/>
              <a:gd name="connsiteY1" fmla="*/ 1117600 h 2917371"/>
              <a:gd name="connsiteX2" fmla="*/ 2419 w 1207104"/>
              <a:gd name="connsiteY2" fmla="*/ 1451428 h 2917371"/>
              <a:gd name="connsiteX3" fmla="*/ 742647 w 1207104"/>
              <a:gd name="connsiteY3" fmla="*/ 2090057 h 2917371"/>
              <a:gd name="connsiteX4" fmla="*/ 844247 w 1207104"/>
              <a:gd name="connsiteY4" fmla="*/ 2917371 h 2917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7104" h="2917371">
                <a:moveTo>
                  <a:pt x="1207104" y="0"/>
                </a:moveTo>
                <a:cubicBezTo>
                  <a:pt x="1082523" y="437847"/>
                  <a:pt x="957943" y="875695"/>
                  <a:pt x="757162" y="1117600"/>
                </a:cubicBezTo>
                <a:cubicBezTo>
                  <a:pt x="556381" y="1359505"/>
                  <a:pt x="4838" y="1289352"/>
                  <a:pt x="2419" y="1451428"/>
                </a:cubicBezTo>
                <a:cubicBezTo>
                  <a:pt x="0" y="1613504"/>
                  <a:pt x="602342" y="1845733"/>
                  <a:pt x="742647" y="2090057"/>
                </a:cubicBezTo>
                <a:cubicBezTo>
                  <a:pt x="882952" y="2334381"/>
                  <a:pt x="841828" y="2796419"/>
                  <a:pt x="844247" y="2917371"/>
                </a:cubicBezTo>
              </a:path>
            </a:pathLst>
          </a:cu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Complex Networks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CD31F-5806-4D2C-99CD-65D2632BE53D}" type="slidenum">
              <a:rPr lang="en-US"/>
              <a:pPr/>
              <a:t>28</a:t>
            </a:fld>
            <a:endParaRPr lang="en-US" dirty="0"/>
          </a:p>
        </p:txBody>
      </p:sp>
      <p:sp>
        <p:nvSpPr>
          <p:cNvPr id="515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Why model complex networks?</a:t>
            </a:r>
          </a:p>
        </p:txBody>
      </p:sp>
      <p:sp>
        <p:nvSpPr>
          <p:cNvPr id="515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0050" y="1382713"/>
            <a:ext cx="8229600" cy="4525962"/>
          </a:xfrm>
        </p:spPr>
        <p:txBody>
          <a:bodyPr/>
          <a:lstStyle/>
          <a:p>
            <a:pPr>
              <a:lnSpc>
                <a:spcPct val="90000"/>
              </a:lnSpc>
              <a:buClr>
                <a:schemeClr val="tx1"/>
              </a:buClr>
            </a:pPr>
            <a:endParaRPr lang="en-US" dirty="0" smtClean="0"/>
          </a:p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en-US" dirty="0" smtClean="0"/>
              <a:t>uncover and explain the </a:t>
            </a:r>
            <a:r>
              <a:rPr lang="en-US" dirty="0" smtClean="0">
                <a:solidFill>
                  <a:srgbClr val="000099"/>
                </a:solidFill>
              </a:rPr>
              <a:t>generative mechanisms </a:t>
            </a:r>
            <a:r>
              <a:rPr lang="en-US" dirty="0"/>
              <a:t>underlying complex </a:t>
            </a:r>
            <a:r>
              <a:rPr lang="en-US" dirty="0" smtClean="0"/>
              <a:t>networks</a:t>
            </a:r>
          </a:p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en-US" dirty="0" smtClean="0"/>
              <a:t>predict the future</a:t>
            </a:r>
          </a:p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en-US" dirty="0" smtClean="0"/>
              <a:t>nice </a:t>
            </a:r>
            <a:r>
              <a:rPr lang="en-US" dirty="0">
                <a:solidFill>
                  <a:srgbClr val="000099"/>
                </a:solidFill>
              </a:rPr>
              <a:t>mathematical challenges</a:t>
            </a:r>
          </a:p>
          <a:p>
            <a:pPr>
              <a:lnSpc>
                <a:spcPct val="90000"/>
              </a:lnSpc>
            </a:pPr>
            <a:r>
              <a:rPr lang="en-US" dirty="0" smtClean="0"/>
              <a:t>models can uncover the </a:t>
            </a:r>
            <a:r>
              <a:rPr lang="en-US" dirty="0" smtClean="0">
                <a:solidFill>
                  <a:srgbClr val="000099"/>
                </a:solidFill>
              </a:rPr>
              <a:t>hidden reality </a:t>
            </a:r>
            <a:r>
              <a:rPr lang="en-US" dirty="0" smtClean="0"/>
              <a:t>of networks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Complex Networks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2FB8E-8CE4-4775-B85B-775993C697A1}" type="slidenum">
              <a:rPr lang="en-US"/>
              <a:pPr/>
              <a:t>29</a:t>
            </a:fld>
            <a:endParaRPr lang="en-US" dirty="0"/>
          </a:p>
        </p:txBody>
      </p:sp>
      <p:sp>
        <p:nvSpPr>
          <p:cNvPr id="542725" name="Text Box 5"/>
          <p:cNvSpPr txBox="1">
            <a:spLocks noChangeArrowheads="1"/>
          </p:cNvSpPr>
          <p:nvPr/>
        </p:nvSpPr>
        <p:spPr bwMode="auto">
          <a:xfrm>
            <a:off x="666750" y="2941638"/>
            <a:ext cx="8156575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“All models are wrong, but some are more useful.”</a:t>
            </a:r>
          </a:p>
          <a:p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/>
              <a:t>– G.P.E. Box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Complex Networks</a:t>
            </a:r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0C1C8-8463-4F4D-8D86-DB7FBC693BCF}" type="slidenum">
              <a:rPr lang="en-US"/>
              <a:pPr/>
              <a:t>30</a:t>
            </a:fld>
            <a:endParaRPr lang="en-US"/>
          </a:p>
        </p:txBody>
      </p:sp>
      <p:sp>
        <p:nvSpPr>
          <p:cNvPr id="2355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Classical random graphs</a:t>
            </a:r>
          </a:p>
        </p:txBody>
      </p:sp>
      <p:sp>
        <p:nvSpPr>
          <p:cNvPr id="23560" name="Rectangle 8"/>
          <p:cNvSpPr>
            <a:spLocks noGrp="1" noChangeArrowheads="1"/>
          </p:cNvSpPr>
          <p:nvPr>
            <p:ph type="body" sz="half" idx="1"/>
          </p:nvPr>
        </p:nvSpPr>
        <p:spPr>
          <a:xfrm>
            <a:off x="1331913" y="4797425"/>
            <a:ext cx="2952750" cy="576263"/>
          </a:xfrm>
        </p:spPr>
        <p:txBody>
          <a:bodyPr/>
          <a:lstStyle/>
          <a:p>
            <a:pPr>
              <a:buFontTx/>
              <a:buNone/>
            </a:pPr>
            <a:r>
              <a:rPr lang="en-US"/>
              <a:t>Paul Erdős</a:t>
            </a:r>
          </a:p>
        </p:txBody>
      </p:sp>
      <p:sp>
        <p:nvSpPr>
          <p:cNvPr id="23561" name="Rectangle 9"/>
          <p:cNvSpPr>
            <a:spLocks noGrp="1" noChangeArrowheads="1"/>
          </p:cNvSpPr>
          <p:nvPr>
            <p:ph type="body" sz="half" idx="2"/>
          </p:nvPr>
        </p:nvSpPr>
        <p:spPr>
          <a:xfrm>
            <a:off x="5148263" y="4797425"/>
            <a:ext cx="2951162" cy="576263"/>
          </a:xfrm>
        </p:spPr>
        <p:txBody>
          <a:bodyPr/>
          <a:lstStyle/>
          <a:p>
            <a:pPr>
              <a:buFontTx/>
              <a:buNone/>
            </a:pPr>
            <a:r>
              <a:rPr lang="en-US"/>
              <a:t>Alfred Rényi</a:t>
            </a:r>
          </a:p>
        </p:txBody>
      </p:sp>
      <p:pic>
        <p:nvPicPr>
          <p:cNvPr id="23557" name="Picture 5" descr="erdos32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31913" y="1844675"/>
            <a:ext cx="2503487" cy="2663825"/>
          </a:xfrm>
          <a:prstGeom prst="rect">
            <a:avLst/>
          </a:prstGeom>
          <a:noFill/>
        </p:spPr>
      </p:pic>
      <p:pic>
        <p:nvPicPr>
          <p:cNvPr id="23558" name="Picture 6" descr="renyi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19700" y="1844675"/>
            <a:ext cx="2284413" cy="2663825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Complex Networks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73930-DD0A-4046-A5D4-10845ADF7EAD}" type="slidenum">
              <a:rPr lang="en-US"/>
              <a:pPr/>
              <a:t>31</a:t>
            </a:fld>
            <a:endParaRPr lang="en-US"/>
          </a:p>
        </p:txBody>
      </p:sp>
      <p:pic>
        <p:nvPicPr>
          <p:cNvPr id="192516" name="Picture 4" descr="evol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0"/>
            <a:ext cx="7683500" cy="1070133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Complex Networks</a:t>
            </a:r>
            <a:endParaRPr lang="en-US"/>
          </a:p>
        </p:txBody>
      </p:sp>
      <p:sp>
        <p:nvSpPr>
          <p:cNvPr id="2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60C16-C57A-4F05-B60F-4B0BD2F24E1D}" type="slidenum">
              <a:rPr lang="en-US"/>
              <a:pPr/>
              <a:t>32</a:t>
            </a:fld>
            <a:endParaRPr lang="en-US"/>
          </a:p>
        </p:txBody>
      </p:sp>
      <p:sp>
        <p:nvSpPr>
          <p:cNvPr id="400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i="1" dirty="0">
                <a:solidFill>
                  <a:srgbClr val="000099"/>
                </a:solidFill>
              </a:rPr>
              <a:t/>
            </a:r>
            <a:br>
              <a:rPr lang="en-US" sz="4000" i="1" dirty="0">
                <a:solidFill>
                  <a:srgbClr val="000099"/>
                </a:solidFill>
              </a:rPr>
            </a:br>
            <a:r>
              <a:rPr lang="en-US" sz="4000" dirty="0">
                <a:solidFill>
                  <a:srgbClr val="000099"/>
                </a:solidFill>
              </a:rPr>
              <a:t>G(n,p)</a:t>
            </a:r>
            <a:r>
              <a:rPr lang="en-US" sz="4000" dirty="0"/>
              <a:t> random graph model</a:t>
            </a:r>
            <a:br>
              <a:rPr lang="en-US" sz="4000" dirty="0"/>
            </a:br>
            <a:r>
              <a:rPr lang="en-US" sz="4000" dirty="0">
                <a:solidFill>
                  <a:srgbClr val="0070C0"/>
                </a:solidFill>
              </a:rPr>
              <a:t>(Erdős, Rényi, 63) </a:t>
            </a:r>
            <a:r>
              <a:rPr lang="en-US" sz="4000" dirty="0"/>
              <a:t/>
            </a:r>
            <a:br>
              <a:rPr lang="en-US" sz="4000" dirty="0"/>
            </a:br>
            <a:endParaRPr lang="en-US" sz="4000" dirty="0"/>
          </a:p>
        </p:txBody>
      </p:sp>
      <p:sp>
        <p:nvSpPr>
          <p:cNvPr id="400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2740025"/>
          </a:xfrm>
        </p:spPr>
        <p:txBody>
          <a:bodyPr/>
          <a:lstStyle/>
          <a:p>
            <a:pPr>
              <a:buClr>
                <a:schemeClr val="tx1"/>
              </a:buClr>
            </a:pPr>
            <a:r>
              <a:rPr lang="en-US" dirty="0" smtClean="0">
                <a:solidFill>
                  <a:srgbClr val="000099"/>
                </a:solidFill>
              </a:rPr>
              <a:t>p = p(n)</a:t>
            </a:r>
            <a:r>
              <a:rPr lang="en-US" dirty="0" smtClean="0"/>
              <a:t> </a:t>
            </a:r>
            <a:r>
              <a:rPr lang="en-US" dirty="0"/>
              <a:t>a real number in </a:t>
            </a:r>
            <a:r>
              <a:rPr lang="en-US" dirty="0">
                <a:solidFill>
                  <a:srgbClr val="000099"/>
                </a:solidFill>
              </a:rPr>
              <a:t>(0,1)</a:t>
            </a:r>
            <a:r>
              <a:rPr lang="en-US" dirty="0"/>
              <a:t>, </a:t>
            </a:r>
            <a:r>
              <a:rPr lang="en-US" dirty="0">
                <a:solidFill>
                  <a:srgbClr val="000099"/>
                </a:solidFill>
              </a:rPr>
              <a:t>n</a:t>
            </a:r>
            <a:r>
              <a:rPr lang="en-US" dirty="0"/>
              <a:t> a positive integer</a:t>
            </a:r>
          </a:p>
          <a:p>
            <a:pPr>
              <a:buClr>
                <a:schemeClr val="tx1"/>
              </a:buClr>
            </a:pPr>
            <a:r>
              <a:rPr lang="en-US" dirty="0">
                <a:solidFill>
                  <a:srgbClr val="000099"/>
                </a:solidFill>
              </a:rPr>
              <a:t>G(n,p)</a:t>
            </a:r>
            <a:r>
              <a:rPr lang="en-US" dirty="0"/>
              <a:t>: probability space on graphs with nodes </a:t>
            </a:r>
            <a:r>
              <a:rPr lang="en-US" dirty="0">
                <a:solidFill>
                  <a:srgbClr val="000099"/>
                </a:solidFill>
              </a:rPr>
              <a:t>{1,…,n}, </a:t>
            </a:r>
            <a:r>
              <a:rPr lang="en-US" dirty="0"/>
              <a:t>two nodes joined independently and with probability </a:t>
            </a:r>
            <a:r>
              <a:rPr lang="en-US" dirty="0">
                <a:solidFill>
                  <a:srgbClr val="000099"/>
                </a:solidFill>
              </a:rPr>
              <a:t>p</a:t>
            </a:r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00388" name="Oval 4"/>
          <p:cNvSpPr>
            <a:spLocks noChangeArrowheads="1"/>
          </p:cNvSpPr>
          <p:nvPr/>
        </p:nvSpPr>
        <p:spPr bwMode="auto">
          <a:xfrm>
            <a:off x="1627188" y="4795838"/>
            <a:ext cx="215900" cy="215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00389" name="Oval 5"/>
          <p:cNvSpPr>
            <a:spLocks noChangeArrowheads="1"/>
          </p:cNvSpPr>
          <p:nvPr/>
        </p:nvSpPr>
        <p:spPr bwMode="auto">
          <a:xfrm>
            <a:off x="2563813" y="4795838"/>
            <a:ext cx="215900" cy="215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00390" name="Oval 6"/>
          <p:cNvSpPr>
            <a:spLocks noChangeArrowheads="1"/>
          </p:cNvSpPr>
          <p:nvPr/>
        </p:nvSpPr>
        <p:spPr bwMode="auto">
          <a:xfrm>
            <a:off x="3498850" y="4795838"/>
            <a:ext cx="215900" cy="215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00391" name="Oval 7"/>
          <p:cNvSpPr>
            <a:spLocks noChangeArrowheads="1"/>
          </p:cNvSpPr>
          <p:nvPr/>
        </p:nvSpPr>
        <p:spPr bwMode="auto">
          <a:xfrm>
            <a:off x="4364038" y="4795838"/>
            <a:ext cx="215900" cy="215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00392" name="Oval 8"/>
          <p:cNvSpPr>
            <a:spLocks noChangeArrowheads="1"/>
          </p:cNvSpPr>
          <p:nvPr/>
        </p:nvSpPr>
        <p:spPr bwMode="auto">
          <a:xfrm>
            <a:off x="5335588" y="4795838"/>
            <a:ext cx="215900" cy="215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00393" name="Freeform 9"/>
          <p:cNvSpPr>
            <a:spLocks/>
          </p:cNvSpPr>
          <p:nvPr/>
        </p:nvSpPr>
        <p:spPr bwMode="auto">
          <a:xfrm>
            <a:off x="1771650" y="4364038"/>
            <a:ext cx="863600" cy="503237"/>
          </a:xfrm>
          <a:custGeom>
            <a:avLst/>
            <a:gdLst/>
            <a:ahLst/>
            <a:cxnLst>
              <a:cxn ang="0">
                <a:pos x="0" y="317"/>
              </a:cxn>
              <a:cxn ang="0">
                <a:pos x="272" y="0"/>
              </a:cxn>
              <a:cxn ang="0">
                <a:pos x="544" y="317"/>
              </a:cxn>
            </a:cxnLst>
            <a:rect l="0" t="0" r="r" b="b"/>
            <a:pathLst>
              <a:path w="544" h="317">
                <a:moveTo>
                  <a:pt x="0" y="317"/>
                </a:moveTo>
                <a:cubicBezTo>
                  <a:pt x="90" y="158"/>
                  <a:pt x="181" y="0"/>
                  <a:pt x="272" y="0"/>
                </a:cubicBezTo>
                <a:cubicBezTo>
                  <a:pt x="363" y="0"/>
                  <a:pt x="453" y="158"/>
                  <a:pt x="544" y="317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400394" name="Freeform 10"/>
          <p:cNvSpPr>
            <a:spLocks/>
          </p:cNvSpPr>
          <p:nvPr/>
        </p:nvSpPr>
        <p:spPr bwMode="auto">
          <a:xfrm>
            <a:off x="1771650" y="4351338"/>
            <a:ext cx="1800225" cy="588962"/>
          </a:xfrm>
          <a:custGeom>
            <a:avLst/>
            <a:gdLst/>
            <a:ahLst/>
            <a:cxnLst>
              <a:cxn ang="0">
                <a:pos x="0" y="371"/>
              </a:cxn>
              <a:cxn ang="0">
                <a:pos x="544" y="8"/>
              </a:cxn>
              <a:cxn ang="0">
                <a:pos x="1134" y="325"/>
              </a:cxn>
            </a:cxnLst>
            <a:rect l="0" t="0" r="r" b="b"/>
            <a:pathLst>
              <a:path w="1134" h="371">
                <a:moveTo>
                  <a:pt x="0" y="371"/>
                </a:moveTo>
                <a:cubicBezTo>
                  <a:pt x="177" y="193"/>
                  <a:pt x="355" y="16"/>
                  <a:pt x="544" y="8"/>
                </a:cubicBezTo>
                <a:cubicBezTo>
                  <a:pt x="733" y="0"/>
                  <a:pt x="1051" y="265"/>
                  <a:pt x="1134" y="325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400395" name="Freeform 11"/>
          <p:cNvSpPr>
            <a:spLocks/>
          </p:cNvSpPr>
          <p:nvPr/>
        </p:nvSpPr>
        <p:spPr bwMode="auto">
          <a:xfrm>
            <a:off x="3571875" y="4351338"/>
            <a:ext cx="1871663" cy="588962"/>
          </a:xfrm>
          <a:custGeom>
            <a:avLst/>
            <a:gdLst/>
            <a:ahLst/>
            <a:cxnLst>
              <a:cxn ang="0">
                <a:pos x="0" y="325"/>
              </a:cxn>
              <a:cxn ang="0">
                <a:pos x="589" y="8"/>
              </a:cxn>
              <a:cxn ang="0">
                <a:pos x="1179" y="371"/>
              </a:cxn>
            </a:cxnLst>
            <a:rect l="0" t="0" r="r" b="b"/>
            <a:pathLst>
              <a:path w="1179" h="371">
                <a:moveTo>
                  <a:pt x="0" y="325"/>
                </a:moveTo>
                <a:cubicBezTo>
                  <a:pt x="196" y="162"/>
                  <a:pt x="393" y="0"/>
                  <a:pt x="589" y="8"/>
                </a:cubicBezTo>
                <a:cubicBezTo>
                  <a:pt x="785" y="16"/>
                  <a:pt x="982" y="193"/>
                  <a:pt x="1179" y="371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400396" name="Freeform 12"/>
          <p:cNvSpPr>
            <a:spLocks/>
          </p:cNvSpPr>
          <p:nvPr/>
        </p:nvSpPr>
        <p:spPr bwMode="auto">
          <a:xfrm>
            <a:off x="3643313" y="4364038"/>
            <a:ext cx="863600" cy="503237"/>
          </a:xfrm>
          <a:custGeom>
            <a:avLst/>
            <a:gdLst/>
            <a:ahLst/>
            <a:cxnLst>
              <a:cxn ang="0">
                <a:pos x="0" y="317"/>
              </a:cxn>
              <a:cxn ang="0">
                <a:pos x="272" y="0"/>
              </a:cxn>
              <a:cxn ang="0">
                <a:pos x="544" y="317"/>
              </a:cxn>
            </a:cxnLst>
            <a:rect l="0" t="0" r="r" b="b"/>
            <a:pathLst>
              <a:path w="544" h="317">
                <a:moveTo>
                  <a:pt x="0" y="317"/>
                </a:moveTo>
                <a:cubicBezTo>
                  <a:pt x="90" y="158"/>
                  <a:pt x="181" y="0"/>
                  <a:pt x="272" y="0"/>
                </a:cubicBezTo>
                <a:cubicBezTo>
                  <a:pt x="363" y="0"/>
                  <a:pt x="453" y="158"/>
                  <a:pt x="544" y="317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400397" name="Freeform 13"/>
          <p:cNvSpPr>
            <a:spLocks/>
          </p:cNvSpPr>
          <p:nvPr/>
        </p:nvSpPr>
        <p:spPr bwMode="auto">
          <a:xfrm>
            <a:off x="2706688" y="4351338"/>
            <a:ext cx="2665412" cy="588962"/>
          </a:xfrm>
          <a:custGeom>
            <a:avLst/>
            <a:gdLst/>
            <a:ahLst/>
            <a:cxnLst>
              <a:cxn ang="0">
                <a:pos x="1679" y="371"/>
              </a:cxn>
              <a:cxn ang="0">
                <a:pos x="817" y="8"/>
              </a:cxn>
              <a:cxn ang="0">
                <a:pos x="0" y="325"/>
              </a:cxn>
            </a:cxnLst>
            <a:rect l="0" t="0" r="r" b="b"/>
            <a:pathLst>
              <a:path w="1679" h="371">
                <a:moveTo>
                  <a:pt x="1679" y="371"/>
                </a:moveTo>
                <a:cubicBezTo>
                  <a:pt x="1388" y="193"/>
                  <a:pt x="1097" y="16"/>
                  <a:pt x="817" y="8"/>
                </a:cubicBezTo>
                <a:cubicBezTo>
                  <a:pt x="537" y="0"/>
                  <a:pt x="136" y="272"/>
                  <a:pt x="0" y="325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400398" name="Text Box 14"/>
          <p:cNvSpPr txBox="1">
            <a:spLocks noChangeArrowheads="1"/>
          </p:cNvSpPr>
          <p:nvPr/>
        </p:nvSpPr>
        <p:spPr bwMode="auto">
          <a:xfrm>
            <a:off x="5359400" y="5199063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1"/>
              <a:t>5</a:t>
            </a:r>
          </a:p>
        </p:txBody>
      </p:sp>
      <p:sp>
        <p:nvSpPr>
          <p:cNvPr id="400399" name="Rectangle 15"/>
          <p:cNvSpPr>
            <a:spLocks noChangeArrowheads="1"/>
          </p:cNvSpPr>
          <p:nvPr/>
        </p:nvSpPr>
        <p:spPr bwMode="auto">
          <a:xfrm>
            <a:off x="1604963" y="518318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1"/>
              <a:t>1</a:t>
            </a:r>
          </a:p>
        </p:txBody>
      </p:sp>
      <p:sp>
        <p:nvSpPr>
          <p:cNvPr id="400400" name="Rectangle 16"/>
          <p:cNvSpPr>
            <a:spLocks noChangeArrowheads="1"/>
          </p:cNvSpPr>
          <p:nvPr/>
        </p:nvSpPr>
        <p:spPr bwMode="auto">
          <a:xfrm>
            <a:off x="2541588" y="518318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1"/>
              <a:t>2</a:t>
            </a:r>
          </a:p>
        </p:txBody>
      </p:sp>
      <p:sp>
        <p:nvSpPr>
          <p:cNvPr id="400401" name="Rectangle 17"/>
          <p:cNvSpPr>
            <a:spLocks noChangeArrowheads="1"/>
          </p:cNvSpPr>
          <p:nvPr/>
        </p:nvSpPr>
        <p:spPr bwMode="auto">
          <a:xfrm>
            <a:off x="3405188" y="518318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1"/>
              <a:t>3</a:t>
            </a:r>
          </a:p>
        </p:txBody>
      </p:sp>
      <p:sp>
        <p:nvSpPr>
          <p:cNvPr id="400402" name="Rectangle 18"/>
          <p:cNvSpPr>
            <a:spLocks noChangeArrowheads="1"/>
          </p:cNvSpPr>
          <p:nvPr/>
        </p:nvSpPr>
        <p:spPr bwMode="auto">
          <a:xfrm>
            <a:off x="4354513" y="517048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1"/>
              <a:t>4</a:t>
            </a:r>
          </a:p>
        </p:txBody>
      </p:sp>
      <p:pic>
        <p:nvPicPr>
          <p:cNvPr id="400403" name="Picture 19" descr="j0295149"/>
          <p:cNvPicPr>
            <a:picLocks noChangeAspect="1" noChangeArrowheads="1" noCrop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62713" y="4249738"/>
            <a:ext cx="922337" cy="150812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000"/>
                            </p:stCondLst>
                            <p:childTnLst>
                              <p:par>
                                <p:cTn id="41" presetID="1" presetClass="entr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0388" grpId="0" animBg="1"/>
      <p:bldP spid="400389" grpId="0" animBg="1"/>
      <p:bldP spid="400390" grpId="0" animBg="1"/>
      <p:bldP spid="400391" grpId="0" animBg="1"/>
      <p:bldP spid="400392" grpId="0" animBg="1"/>
      <p:bldP spid="400393" grpId="0" animBg="1"/>
      <p:bldP spid="400394" grpId="0" animBg="1"/>
      <p:bldP spid="400395" grpId="0" animBg="1"/>
      <p:bldP spid="400396" grpId="0" animBg="1"/>
      <p:bldP spid="400397" grpId="0" animBg="1"/>
      <p:bldP spid="400397" grpId="1" animBg="1"/>
      <p:bldP spid="400398" grpId="0"/>
      <p:bldP spid="400399" grpId="0"/>
      <p:bldP spid="400400" grpId="0"/>
      <p:bldP spid="400401" grpId="0"/>
      <p:bldP spid="40040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6C1A76F-9223-4E51-9C4C-136452B0F611}" type="slidenum">
              <a:rPr lang="en-US"/>
              <a:pPr/>
              <a:t>33</a:t>
            </a:fld>
            <a:endParaRPr lang="en-US"/>
          </a:p>
        </p:txBody>
      </p:sp>
      <p:sp>
        <p:nvSpPr>
          <p:cNvPr id="30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Degrees and diameter</a:t>
            </a:r>
          </a:p>
        </p:txBody>
      </p:sp>
      <p:sp>
        <p:nvSpPr>
          <p:cNvPr id="35430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20914" y="1600199"/>
            <a:ext cx="7939315" cy="4220029"/>
          </a:xfrm>
        </p:spPr>
        <p:txBody>
          <a:bodyPr/>
          <a:lstStyle/>
          <a:p>
            <a:pPr eaLnBrk="1" hangingPunct="1"/>
            <a:r>
              <a:rPr lang="en-US" sz="2400" dirty="0" smtClean="0"/>
              <a:t>an event </a:t>
            </a:r>
            <a:r>
              <a:rPr lang="en-US" sz="2400" dirty="0" smtClean="0">
                <a:solidFill>
                  <a:srgbClr val="000099"/>
                </a:solidFill>
              </a:rPr>
              <a:t>A</a:t>
            </a:r>
            <a:r>
              <a:rPr lang="en-US" sz="2400" baseline="-25000" dirty="0" smtClean="0">
                <a:solidFill>
                  <a:srgbClr val="000099"/>
                </a:solidFill>
              </a:rPr>
              <a:t>n</a:t>
            </a:r>
            <a:r>
              <a:rPr lang="en-US" sz="2400" dirty="0" smtClean="0"/>
              <a:t> happens </a:t>
            </a:r>
            <a:r>
              <a:rPr lang="en-US" sz="2400" dirty="0" smtClean="0">
                <a:solidFill>
                  <a:srgbClr val="FF0000"/>
                </a:solidFill>
              </a:rPr>
              <a:t>asymptotically almost surely</a:t>
            </a:r>
            <a:r>
              <a:rPr lang="en-US" sz="2400" dirty="0" smtClean="0"/>
              <a:t> (</a:t>
            </a:r>
            <a:r>
              <a:rPr lang="en-US" sz="2400" dirty="0" smtClean="0">
                <a:solidFill>
                  <a:srgbClr val="FF0000"/>
                </a:solidFill>
              </a:rPr>
              <a:t>a.a.s.</a:t>
            </a:r>
            <a:r>
              <a:rPr lang="en-US" sz="2400" dirty="0" smtClean="0"/>
              <a:t>) in </a:t>
            </a:r>
            <a:r>
              <a:rPr lang="en-US" sz="2400" dirty="0" smtClean="0">
                <a:solidFill>
                  <a:srgbClr val="000099"/>
                </a:solidFill>
              </a:rPr>
              <a:t>G(n,p)</a:t>
            </a:r>
            <a:r>
              <a:rPr lang="en-US" sz="2400" dirty="0" smtClean="0"/>
              <a:t> if it holds there with probability tending to </a:t>
            </a:r>
            <a:r>
              <a:rPr lang="en-US" sz="2400" dirty="0" smtClean="0">
                <a:solidFill>
                  <a:srgbClr val="000099"/>
                </a:solidFill>
              </a:rPr>
              <a:t>1</a:t>
            </a:r>
            <a:r>
              <a:rPr lang="en-US" sz="2400" dirty="0" smtClean="0"/>
              <a:t> as </a:t>
            </a:r>
            <a:r>
              <a:rPr lang="en-US" sz="2400" dirty="0" smtClean="0">
                <a:solidFill>
                  <a:srgbClr val="000099"/>
                </a:solidFill>
              </a:rPr>
              <a:t>n→∞</a:t>
            </a:r>
          </a:p>
          <a:p>
            <a:pPr eaLnBrk="1" hangingPunct="1">
              <a:buNone/>
            </a:pPr>
            <a:endParaRPr lang="en-US" sz="2400" dirty="0" smtClean="0"/>
          </a:p>
          <a:p>
            <a:pPr eaLnBrk="1" hangingPunct="1">
              <a:buFontTx/>
              <a:buNone/>
            </a:pPr>
            <a:r>
              <a:rPr lang="en-US" sz="2400" dirty="0" smtClean="0"/>
              <a:t>Theorem: A.a.s. the degree of each vertex of </a:t>
            </a:r>
            <a:r>
              <a:rPr lang="en-US" sz="2400" dirty="0" smtClean="0">
                <a:solidFill>
                  <a:srgbClr val="000099"/>
                </a:solidFill>
              </a:rPr>
              <a:t>G</a:t>
            </a:r>
            <a:r>
              <a:rPr lang="en-US" sz="2400" dirty="0" smtClean="0"/>
              <a:t> in </a:t>
            </a:r>
            <a:r>
              <a:rPr lang="en-US" sz="2400" dirty="0" smtClean="0">
                <a:solidFill>
                  <a:srgbClr val="000099"/>
                </a:solidFill>
              </a:rPr>
              <a:t>G(n,p) </a:t>
            </a:r>
            <a:r>
              <a:rPr lang="en-US" sz="2400" dirty="0" smtClean="0"/>
              <a:t>equals</a:t>
            </a:r>
          </a:p>
          <a:p>
            <a:pPr>
              <a:buClr>
                <a:schemeClr val="tx1"/>
              </a:buClr>
              <a:buNone/>
            </a:pPr>
            <a:endParaRPr lang="en-US" sz="2400" dirty="0" smtClean="0">
              <a:solidFill>
                <a:srgbClr val="FF0000"/>
              </a:solidFill>
            </a:endParaRPr>
          </a:p>
          <a:p>
            <a:pPr>
              <a:buClr>
                <a:schemeClr val="tx1"/>
              </a:buClr>
            </a:pPr>
            <a:r>
              <a:rPr lang="en-US" sz="2400" dirty="0" smtClean="0">
                <a:solidFill>
                  <a:srgbClr val="FF0000"/>
                </a:solidFill>
              </a:rPr>
              <a:t>concentration</a:t>
            </a:r>
            <a:r>
              <a:rPr lang="en-US" sz="2400" dirty="0" smtClean="0"/>
              <a:t>: binomial distribution </a:t>
            </a:r>
          </a:p>
          <a:p>
            <a:pPr>
              <a:buClr>
                <a:schemeClr val="tx1"/>
              </a:buClr>
              <a:buNone/>
            </a:pPr>
            <a:endParaRPr lang="en-US" sz="2400" dirty="0" smtClean="0"/>
          </a:p>
          <a:p>
            <a:pPr>
              <a:buClr>
                <a:schemeClr val="tx1"/>
              </a:buClr>
              <a:buNone/>
            </a:pPr>
            <a:r>
              <a:rPr lang="en-US" sz="2400" dirty="0" smtClean="0"/>
              <a:t>Theorem: If </a:t>
            </a:r>
            <a:r>
              <a:rPr lang="en-US" sz="2400" dirty="0" smtClean="0">
                <a:solidFill>
                  <a:srgbClr val="000099"/>
                </a:solidFill>
              </a:rPr>
              <a:t>p</a:t>
            </a:r>
            <a:r>
              <a:rPr lang="en-US" sz="2400" dirty="0" smtClean="0"/>
              <a:t> is constant, then a.a.s </a:t>
            </a:r>
            <a:r>
              <a:rPr lang="en-US" sz="2400" dirty="0" smtClean="0">
                <a:solidFill>
                  <a:srgbClr val="000099"/>
                </a:solidFill>
              </a:rPr>
              <a:t>diam(G(n,p)) = 2.</a:t>
            </a:r>
          </a:p>
          <a:p>
            <a:pPr eaLnBrk="1" hangingPunct="1">
              <a:buFontTx/>
              <a:buNone/>
            </a:pPr>
            <a:endParaRPr lang="en-US" sz="2400" dirty="0" smtClean="0"/>
          </a:p>
          <a:p>
            <a:pPr eaLnBrk="1" hangingPunct="1">
              <a:buFontTx/>
              <a:buNone/>
            </a:pPr>
            <a:endParaRPr lang="en-US" sz="2400" dirty="0" smtClean="0"/>
          </a:p>
        </p:txBody>
      </p:sp>
      <p:graphicFrame>
        <p:nvGraphicFramePr>
          <p:cNvPr id="354308" name="Object 4"/>
          <p:cNvGraphicFramePr>
            <a:graphicFrameLocks noChangeAspect="1"/>
          </p:cNvGraphicFramePr>
          <p:nvPr>
            <p:ph sz="half" idx="2"/>
          </p:nvPr>
        </p:nvGraphicFramePr>
        <p:xfrm>
          <a:off x="2396898" y="3898674"/>
          <a:ext cx="4038600" cy="508000"/>
        </p:xfrm>
        <a:graphic>
          <a:graphicData uri="http://schemas.openxmlformats.org/presentationml/2006/ole">
            <p:oleObj spid="_x0000_s830466" name="Equation" r:id="rId3" imgW="2019240" imgH="253800" progId="Equation.3">
              <p:embed/>
            </p:oleObj>
          </a:graphicData>
        </a:graphic>
      </p:graphicFrame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Complex Networks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8380C5F-6882-4B74-A177-7B78224C3E50}" type="slidenum">
              <a:rPr lang="en-US"/>
              <a:pPr/>
              <a:t>34</a:t>
            </a:fld>
            <a:endParaRPr lang="en-US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Aside: evolution of </a:t>
            </a:r>
            <a:r>
              <a:rPr lang="en-US" dirty="0" smtClean="0">
                <a:solidFill>
                  <a:srgbClr val="000099"/>
                </a:solidFill>
              </a:rPr>
              <a:t>G(n,p)</a:t>
            </a:r>
          </a:p>
        </p:txBody>
      </p:sp>
      <p:sp>
        <p:nvSpPr>
          <p:cNvPr id="372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400" dirty="0" smtClean="0"/>
              <a:t>think of </a:t>
            </a:r>
            <a:r>
              <a:rPr lang="en-US" sz="2400" dirty="0" smtClean="0">
                <a:solidFill>
                  <a:srgbClr val="000099"/>
                </a:solidFill>
              </a:rPr>
              <a:t>G(n,p)</a:t>
            </a:r>
            <a:r>
              <a:rPr lang="en-US" sz="2400" dirty="0" smtClean="0"/>
              <a:t> as </a:t>
            </a:r>
            <a:r>
              <a:rPr lang="en-US" sz="2400" i="1" dirty="0" smtClean="0"/>
              <a:t>evolving</a:t>
            </a:r>
            <a:r>
              <a:rPr lang="en-US" sz="2400" dirty="0" smtClean="0"/>
              <a:t> from a co-clique to clique as p increases from </a:t>
            </a:r>
            <a:r>
              <a:rPr lang="en-US" sz="2400" dirty="0" smtClean="0">
                <a:solidFill>
                  <a:srgbClr val="000099"/>
                </a:solidFill>
              </a:rPr>
              <a:t>0</a:t>
            </a:r>
            <a:r>
              <a:rPr lang="en-US" sz="2400" dirty="0" smtClean="0"/>
              <a:t> to </a:t>
            </a:r>
            <a:r>
              <a:rPr lang="en-US" sz="2400" dirty="0" smtClean="0">
                <a:solidFill>
                  <a:srgbClr val="000099"/>
                </a:solidFill>
              </a:rPr>
              <a:t>1</a:t>
            </a:r>
          </a:p>
          <a:p>
            <a:pPr eaLnBrk="1" hangingPunct="1"/>
            <a:r>
              <a:rPr lang="en-US" sz="2400" dirty="0" smtClean="0"/>
              <a:t>at </a:t>
            </a:r>
            <a:r>
              <a:rPr lang="en-US" sz="2400" dirty="0" smtClean="0">
                <a:solidFill>
                  <a:srgbClr val="000099"/>
                </a:solidFill>
              </a:rPr>
              <a:t>p=1/n</a:t>
            </a:r>
            <a:r>
              <a:rPr lang="en-US" sz="2400" dirty="0" smtClean="0"/>
              <a:t>, Erdős and Rényi observed something interesting happens a.a.s.:</a:t>
            </a:r>
          </a:p>
          <a:p>
            <a:pPr lvl="1" eaLnBrk="1" hangingPunct="1"/>
            <a:r>
              <a:rPr lang="en-US" sz="2000" dirty="0" smtClean="0"/>
              <a:t>with </a:t>
            </a:r>
            <a:r>
              <a:rPr lang="en-US" sz="2000" dirty="0" smtClean="0">
                <a:solidFill>
                  <a:srgbClr val="000099"/>
                </a:solidFill>
              </a:rPr>
              <a:t>p = </a:t>
            </a:r>
            <a:r>
              <a:rPr lang="en-US" sz="2000" dirty="0" err="1" smtClean="0">
                <a:solidFill>
                  <a:srgbClr val="000099"/>
                </a:solidFill>
              </a:rPr>
              <a:t>c/n</a:t>
            </a:r>
            <a:r>
              <a:rPr lang="en-US" sz="2000" dirty="0" smtClean="0"/>
              <a:t>, with </a:t>
            </a:r>
            <a:r>
              <a:rPr lang="en-US" sz="2000" dirty="0" smtClean="0">
                <a:solidFill>
                  <a:srgbClr val="000099"/>
                </a:solidFill>
              </a:rPr>
              <a:t>c &lt; 1</a:t>
            </a:r>
            <a:r>
              <a:rPr lang="en-US" sz="2000" dirty="0" smtClean="0"/>
              <a:t>, the graph is disconnected with all components trees, the largest of order </a:t>
            </a:r>
            <a:r>
              <a:rPr lang="el-GR" sz="2000" dirty="0" smtClean="0">
                <a:solidFill>
                  <a:srgbClr val="000099"/>
                </a:solidFill>
              </a:rPr>
              <a:t>Θ</a:t>
            </a:r>
            <a:r>
              <a:rPr lang="en-US" sz="2000" dirty="0" smtClean="0">
                <a:solidFill>
                  <a:srgbClr val="000099"/>
                </a:solidFill>
              </a:rPr>
              <a:t>(log(n))</a:t>
            </a:r>
            <a:endParaRPr lang="el-GR" sz="2000" dirty="0" smtClean="0">
              <a:solidFill>
                <a:srgbClr val="000099"/>
              </a:solidFill>
            </a:endParaRPr>
          </a:p>
          <a:p>
            <a:pPr lvl="1" eaLnBrk="1" hangingPunct="1"/>
            <a:r>
              <a:rPr lang="en-US" sz="2000" dirty="0" smtClean="0"/>
              <a:t>as </a:t>
            </a:r>
            <a:r>
              <a:rPr lang="en-US" sz="2000" dirty="0" smtClean="0">
                <a:solidFill>
                  <a:srgbClr val="000099"/>
                </a:solidFill>
              </a:rPr>
              <a:t>p = </a:t>
            </a:r>
            <a:r>
              <a:rPr lang="en-US" sz="2000" dirty="0" err="1" smtClean="0">
                <a:solidFill>
                  <a:srgbClr val="000099"/>
                </a:solidFill>
              </a:rPr>
              <a:t>c/n</a:t>
            </a:r>
            <a:r>
              <a:rPr lang="en-US" sz="2000" dirty="0" smtClean="0"/>
              <a:t>, with </a:t>
            </a:r>
            <a:r>
              <a:rPr lang="en-US" sz="2000" dirty="0" smtClean="0">
                <a:solidFill>
                  <a:srgbClr val="000099"/>
                </a:solidFill>
              </a:rPr>
              <a:t>c &gt; 1</a:t>
            </a:r>
            <a:r>
              <a:rPr lang="en-US" sz="2000" dirty="0" smtClean="0"/>
              <a:t>, the graph becomes connected with a giant component of order </a:t>
            </a:r>
            <a:r>
              <a:rPr lang="el-GR" sz="2000" dirty="0" smtClean="0">
                <a:solidFill>
                  <a:srgbClr val="000099"/>
                </a:solidFill>
              </a:rPr>
              <a:t>Θ</a:t>
            </a:r>
            <a:r>
              <a:rPr lang="en-US" sz="2000" dirty="0" smtClean="0">
                <a:solidFill>
                  <a:srgbClr val="000099"/>
                </a:solidFill>
              </a:rPr>
              <a:t>(n)</a:t>
            </a:r>
          </a:p>
          <a:p>
            <a:pPr eaLnBrk="1" hangingPunct="1"/>
            <a:r>
              <a:rPr lang="en-US" sz="2400" dirty="0" smtClean="0"/>
              <a:t>Erdős and Rényi called this the </a:t>
            </a:r>
            <a:r>
              <a:rPr lang="en-US" sz="2400" dirty="0" smtClean="0">
                <a:solidFill>
                  <a:srgbClr val="FF0000"/>
                </a:solidFill>
              </a:rPr>
              <a:t>double jump</a:t>
            </a:r>
          </a:p>
          <a:p>
            <a:pPr eaLnBrk="1" hangingPunct="1"/>
            <a:r>
              <a:rPr lang="en-US" sz="2400" dirty="0" smtClean="0"/>
              <a:t>physicists call it the </a:t>
            </a:r>
            <a:r>
              <a:rPr lang="en-US" sz="2400" dirty="0" smtClean="0">
                <a:solidFill>
                  <a:srgbClr val="FF0000"/>
                </a:solidFill>
              </a:rPr>
              <a:t>phase transition</a:t>
            </a:r>
            <a:r>
              <a:rPr lang="en-US" sz="2400" dirty="0" smtClean="0"/>
              <a:t>: it is similar to phenomena like </a:t>
            </a:r>
            <a:r>
              <a:rPr lang="en-US" sz="2400" i="1" dirty="0" smtClean="0"/>
              <a:t>freezing</a:t>
            </a:r>
            <a:r>
              <a:rPr lang="en-US" sz="2400" dirty="0" smtClean="0"/>
              <a:t> or </a:t>
            </a:r>
            <a:r>
              <a:rPr lang="en-US" sz="2400" i="1" dirty="0" smtClean="0"/>
              <a:t>boiling</a:t>
            </a:r>
          </a:p>
          <a:p>
            <a:pPr lvl="1"/>
            <a:r>
              <a:rPr lang="en-US" sz="2000" dirty="0" smtClean="0"/>
              <a:t>see Joel Spencer’s recent article in </a:t>
            </a:r>
            <a:r>
              <a:rPr lang="en-US" sz="2000" dirty="0" smtClean="0">
                <a:solidFill>
                  <a:srgbClr val="008000"/>
                </a:solidFill>
              </a:rPr>
              <a:t>Notices of the AMS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Complex Networks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Complex Networks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B9044-B1D8-49D8-9F05-DCB5B06F2D15}" type="slidenum">
              <a:rPr lang="en-US" smtClean="0"/>
              <a:pPr/>
              <a:t>35</a:t>
            </a:fld>
            <a:endParaRPr lang="en-US" dirty="0"/>
          </a:p>
        </p:txBody>
      </p:sp>
      <p:pic>
        <p:nvPicPr>
          <p:cNvPr id="904196" name="Picture 4" descr="http://stanford.edu/~dgleich/demos/matlab/random_graphs/er-250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35314" y="1143227"/>
            <a:ext cx="6229804" cy="467235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Complex Networks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BD057-691B-4598-9762-6150A4F3ED71}" type="slidenum">
              <a:rPr lang="en-US"/>
              <a:pPr/>
              <a:t>36</a:t>
            </a:fld>
            <a:endParaRPr lang="en-US"/>
          </a:p>
        </p:txBody>
      </p:sp>
      <p:sp>
        <p:nvSpPr>
          <p:cNvPr id="362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99"/>
                </a:solidFill>
              </a:rPr>
              <a:t>G(n,p) </a:t>
            </a:r>
            <a:r>
              <a:rPr lang="en-US" dirty="0">
                <a:solidFill>
                  <a:schemeClr val="tx1"/>
                </a:solidFill>
              </a:rPr>
              <a:t>is not a model </a:t>
            </a:r>
            <a:r>
              <a:rPr lang="en-US" dirty="0" smtClean="0">
                <a:solidFill>
                  <a:schemeClr val="tx1"/>
                </a:solidFill>
              </a:rPr>
              <a:t>for</a:t>
            </a:r>
            <a:r>
              <a:rPr lang="en-US" dirty="0">
                <a:solidFill>
                  <a:srgbClr val="000099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complex networks</a:t>
            </a: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36249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28171" y="2210027"/>
            <a:ext cx="4114800" cy="2130425"/>
          </a:xfrm>
        </p:spPr>
        <p:txBody>
          <a:bodyPr/>
          <a:lstStyle/>
          <a:p>
            <a:pPr>
              <a:buClr>
                <a:schemeClr val="tx1"/>
              </a:buClr>
            </a:pPr>
            <a:r>
              <a:rPr lang="en-US" sz="3200" dirty="0"/>
              <a:t>degree distribution is binomial</a:t>
            </a:r>
          </a:p>
          <a:p>
            <a:r>
              <a:rPr lang="en-US" sz="3200" dirty="0"/>
              <a:t>low diameter, rich but uniform </a:t>
            </a:r>
            <a:r>
              <a:rPr lang="en-US" sz="3200" dirty="0" smtClean="0"/>
              <a:t>substructures</a:t>
            </a:r>
            <a:endParaRPr lang="en-US" sz="3200" dirty="0"/>
          </a:p>
        </p:txBody>
      </p:sp>
      <p:pic>
        <p:nvPicPr>
          <p:cNvPr id="362500" name="Picture 4" descr="3gnp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352925" y="1500188"/>
            <a:ext cx="4791075" cy="3995737"/>
          </a:xfrm>
          <a:prstGeom prst="rect">
            <a:avLst/>
          </a:prstGeom>
          <a:noFill/>
        </p:spPr>
      </p:pic>
      <p:sp>
        <p:nvSpPr>
          <p:cNvPr id="362501" name="Rectangle 5"/>
          <p:cNvSpPr>
            <a:spLocks noChangeArrowheads="1"/>
          </p:cNvSpPr>
          <p:nvPr/>
        </p:nvSpPr>
        <p:spPr bwMode="auto">
          <a:xfrm>
            <a:off x="8867775" y="5195888"/>
            <a:ext cx="276225" cy="3333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55BDBB0-CA55-4B62-A5D0-714565F8E9A7}" type="slidenum">
              <a:rPr lang="en-US" smtClean="0"/>
              <a:pPr/>
              <a:t>37</a:t>
            </a:fld>
            <a:endParaRPr lang="en-US" dirty="0" smtClean="0"/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Preferential attachment model</a:t>
            </a:r>
          </a:p>
        </p:txBody>
      </p:sp>
      <p:sp>
        <p:nvSpPr>
          <p:cNvPr id="24580" name="Text Box 3"/>
          <p:cNvSpPr txBox="1">
            <a:spLocks noChangeArrowheads="1"/>
          </p:cNvSpPr>
          <p:nvPr/>
        </p:nvSpPr>
        <p:spPr bwMode="auto">
          <a:xfrm>
            <a:off x="662895" y="4989512"/>
            <a:ext cx="430758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 dirty="0"/>
              <a:t>Albert-László Barabási</a:t>
            </a:r>
          </a:p>
        </p:txBody>
      </p:sp>
      <p:sp>
        <p:nvSpPr>
          <p:cNvPr id="24581" name="Text Box 4"/>
          <p:cNvSpPr txBox="1">
            <a:spLocks noChangeArrowheads="1"/>
          </p:cNvSpPr>
          <p:nvPr/>
        </p:nvSpPr>
        <p:spPr bwMode="auto">
          <a:xfrm>
            <a:off x="5423354" y="5005841"/>
            <a:ext cx="238533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3200" dirty="0"/>
              <a:t>Réka Albert</a:t>
            </a:r>
          </a:p>
        </p:txBody>
      </p:sp>
      <p:pic>
        <p:nvPicPr>
          <p:cNvPr id="24582" name="Picture 5" descr="barabasi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27138" y="1538288"/>
            <a:ext cx="2946400" cy="3314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583" name="Picture 6" descr="albert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03850" y="1738313"/>
            <a:ext cx="2433638" cy="305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Complex Networks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Complex Networks</a:t>
            </a:r>
          </a:p>
        </p:txBody>
      </p:sp>
      <p:sp>
        <p:nvSpPr>
          <p:cNvPr id="2052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07B93B3-7AD0-4B44-B1A7-72060E5E1F49}" type="slidenum">
              <a:rPr lang="en-US" smtClean="0"/>
              <a:pPr/>
              <a:t>38</a:t>
            </a:fld>
            <a:endParaRPr lang="en-US" smtClean="0"/>
          </a:p>
        </p:txBody>
      </p:sp>
      <p:sp>
        <p:nvSpPr>
          <p:cNvPr id="20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Preferential attachment</a:t>
            </a:r>
          </a:p>
        </p:txBody>
      </p:sp>
      <p:sp>
        <p:nvSpPr>
          <p:cNvPr id="43827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41313" y="1614488"/>
            <a:ext cx="8045450" cy="440848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 smtClean="0"/>
              <a:t>say there are </a:t>
            </a:r>
            <a:r>
              <a:rPr lang="en-US" sz="2800" dirty="0" smtClean="0">
                <a:solidFill>
                  <a:srgbClr val="000099"/>
                </a:solidFill>
              </a:rPr>
              <a:t>n</a:t>
            </a:r>
            <a:r>
              <a:rPr lang="en-US" sz="2800" dirty="0" smtClean="0"/>
              <a:t> nodes </a:t>
            </a:r>
            <a:r>
              <a:rPr lang="en-US" sz="2800" dirty="0" smtClean="0">
                <a:solidFill>
                  <a:srgbClr val="000099"/>
                </a:solidFill>
              </a:rPr>
              <a:t>x</a:t>
            </a:r>
            <a:r>
              <a:rPr lang="en-US" sz="2800" baseline="-25000" dirty="0" smtClean="0">
                <a:solidFill>
                  <a:srgbClr val="000099"/>
                </a:solidFill>
              </a:rPr>
              <a:t>i</a:t>
            </a:r>
            <a:r>
              <a:rPr lang="en-US" sz="2800" dirty="0" smtClean="0"/>
              <a:t> in </a:t>
            </a:r>
            <a:r>
              <a:rPr lang="en-US" sz="2800" dirty="0" smtClean="0">
                <a:solidFill>
                  <a:srgbClr val="000099"/>
                </a:solidFill>
              </a:rPr>
              <a:t>G</a:t>
            </a:r>
            <a:r>
              <a:rPr lang="en-US" sz="2800" dirty="0" smtClean="0"/>
              <a:t>, and we add in a new node </a:t>
            </a:r>
            <a:r>
              <a:rPr lang="en-US" sz="2800" dirty="0" smtClean="0">
                <a:solidFill>
                  <a:srgbClr val="000099"/>
                </a:solidFill>
              </a:rPr>
              <a:t>z</a:t>
            </a:r>
          </a:p>
          <a:p>
            <a:pPr>
              <a:lnSpc>
                <a:spcPct val="90000"/>
              </a:lnSpc>
            </a:pPr>
            <a:r>
              <a:rPr lang="en-US" sz="2800" dirty="0" smtClean="0">
                <a:solidFill>
                  <a:srgbClr val="000099"/>
                </a:solidFill>
              </a:rPr>
              <a:t>z</a:t>
            </a:r>
            <a:r>
              <a:rPr lang="en-US" sz="2800" dirty="0" smtClean="0"/>
              <a:t> is joined to the </a:t>
            </a:r>
            <a:r>
              <a:rPr lang="en-US" sz="2800" dirty="0" smtClean="0">
                <a:solidFill>
                  <a:srgbClr val="000099"/>
                </a:solidFill>
              </a:rPr>
              <a:t>x</a:t>
            </a:r>
            <a:r>
              <a:rPr lang="en-US" sz="2800" baseline="-25000" dirty="0" smtClean="0">
                <a:solidFill>
                  <a:srgbClr val="000099"/>
                </a:solidFill>
              </a:rPr>
              <a:t>i</a:t>
            </a:r>
            <a:r>
              <a:rPr lang="en-US" sz="2800" dirty="0" smtClean="0"/>
              <a:t> by </a:t>
            </a:r>
            <a:r>
              <a:rPr lang="en-US" sz="2800" dirty="0" smtClean="0">
                <a:solidFill>
                  <a:srgbClr val="FF0000"/>
                </a:solidFill>
              </a:rPr>
              <a:t>preferential attachment</a:t>
            </a:r>
            <a:r>
              <a:rPr lang="en-US" sz="2800" dirty="0" smtClean="0"/>
              <a:t> if the probability </a:t>
            </a:r>
            <a:r>
              <a:rPr lang="en-US" sz="2800" dirty="0" smtClean="0">
                <a:solidFill>
                  <a:srgbClr val="000099"/>
                </a:solidFill>
              </a:rPr>
              <a:t>zx</a:t>
            </a:r>
            <a:r>
              <a:rPr lang="en-US" sz="2800" baseline="-25000" dirty="0" smtClean="0">
                <a:solidFill>
                  <a:srgbClr val="000099"/>
                </a:solidFill>
              </a:rPr>
              <a:t>i</a:t>
            </a:r>
            <a:r>
              <a:rPr lang="en-US" sz="2800" dirty="0" smtClean="0"/>
              <a:t> is an edge is proportional to degrees:</a:t>
            </a:r>
          </a:p>
          <a:p>
            <a:pPr>
              <a:lnSpc>
                <a:spcPct val="90000"/>
              </a:lnSpc>
            </a:pPr>
            <a:endParaRPr lang="en-US" sz="2800" dirty="0" smtClean="0"/>
          </a:p>
          <a:p>
            <a:pPr>
              <a:lnSpc>
                <a:spcPct val="90000"/>
              </a:lnSpc>
            </a:pPr>
            <a:endParaRPr lang="en-US" sz="2800" dirty="0" smtClean="0"/>
          </a:p>
          <a:p>
            <a:pPr>
              <a:lnSpc>
                <a:spcPct val="90000"/>
              </a:lnSpc>
            </a:pPr>
            <a:endParaRPr lang="en-US" sz="2800" dirty="0" smtClean="0"/>
          </a:p>
          <a:p>
            <a:pPr>
              <a:lnSpc>
                <a:spcPct val="90000"/>
              </a:lnSpc>
            </a:pPr>
            <a:r>
              <a:rPr lang="en-US" sz="2800" dirty="0" smtClean="0"/>
              <a:t>the larger </a:t>
            </a:r>
            <a:r>
              <a:rPr lang="en-US" sz="2800" dirty="0" smtClean="0">
                <a:solidFill>
                  <a:srgbClr val="000099"/>
                </a:solidFill>
              </a:rPr>
              <a:t>deg(x</a:t>
            </a:r>
            <a:r>
              <a:rPr lang="en-US" sz="2800" baseline="-25000" dirty="0" smtClean="0">
                <a:solidFill>
                  <a:srgbClr val="000099"/>
                </a:solidFill>
              </a:rPr>
              <a:t>i</a:t>
            </a:r>
            <a:r>
              <a:rPr lang="en-US" sz="2800" dirty="0" smtClean="0">
                <a:solidFill>
                  <a:srgbClr val="000099"/>
                </a:solidFill>
              </a:rPr>
              <a:t>)</a:t>
            </a:r>
            <a:r>
              <a:rPr lang="en-US" sz="2800" dirty="0" smtClean="0"/>
              <a:t>, the higher the probability that </a:t>
            </a:r>
            <a:r>
              <a:rPr lang="en-US" sz="2800" dirty="0" smtClean="0">
                <a:solidFill>
                  <a:srgbClr val="000099"/>
                </a:solidFill>
              </a:rPr>
              <a:t>z</a:t>
            </a:r>
            <a:r>
              <a:rPr lang="en-US" sz="2800" dirty="0" smtClean="0"/>
              <a:t> is joined to </a:t>
            </a:r>
            <a:r>
              <a:rPr lang="en-US" sz="2800" dirty="0" smtClean="0">
                <a:solidFill>
                  <a:srgbClr val="000099"/>
                </a:solidFill>
              </a:rPr>
              <a:t>x</a:t>
            </a:r>
            <a:r>
              <a:rPr lang="en-US" sz="2800" baseline="-25000" dirty="0" smtClean="0">
                <a:solidFill>
                  <a:srgbClr val="000099"/>
                </a:solidFill>
              </a:rPr>
              <a:t>i</a:t>
            </a:r>
          </a:p>
        </p:txBody>
      </p:sp>
      <p:graphicFrame>
        <p:nvGraphicFramePr>
          <p:cNvPr id="438276" name="Object 2"/>
          <p:cNvGraphicFramePr>
            <a:graphicFrameLocks noChangeAspect="1"/>
          </p:cNvGraphicFramePr>
          <p:nvPr>
            <p:ph sz="half" idx="2"/>
          </p:nvPr>
        </p:nvGraphicFramePr>
        <p:xfrm>
          <a:off x="2838450" y="3738563"/>
          <a:ext cx="3032125" cy="1127125"/>
        </p:xfrm>
        <a:graphic>
          <a:graphicData uri="http://schemas.openxmlformats.org/presentationml/2006/ole">
            <p:oleObj spid="_x0000_s730114" name="Equation" r:id="rId3" imgW="1434960" imgH="53316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Complex Networks</a:t>
            </a:r>
          </a:p>
        </p:txBody>
      </p:sp>
      <p:sp>
        <p:nvSpPr>
          <p:cNvPr id="3076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C4E7586-DC98-44DD-9567-D4A7B62C5D0A}" type="slidenum">
              <a:rPr lang="en-US" smtClean="0"/>
              <a:pPr/>
              <a:t>39</a:t>
            </a:fld>
            <a:endParaRPr lang="en-US" smtClean="0"/>
          </a:p>
        </p:txBody>
      </p:sp>
      <p:sp>
        <p:nvSpPr>
          <p:cNvPr id="3077" name="Rectangle 2"/>
          <p:cNvSpPr>
            <a:spLocks noGrp="1" noChangeArrowheads="1"/>
          </p:cNvSpPr>
          <p:nvPr>
            <p:ph type="title"/>
          </p:nvPr>
        </p:nvSpPr>
        <p:spPr>
          <a:xfrm>
            <a:off x="188913" y="260350"/>
            <a:ext cx="8686800" cy="1143000"/>
          </a:xfrm>
        </p:spPr>
        <p:txBody>
          <a:bodyPr/>
          <a:lstStyle/>
          <a:p>
            <a:r>
              <a:rPr lang="en-US" sz="4000" dirty="0" smtClean="0">
                <a:solidFill>
                  <a:srgbClr val="FF0000"/>
                </a:solidFill>
              </a:rPr>
              <a:t>Preferential attachment (PA) model</a:t>
            </a:r>
            <a:r>
              <a:rPr lang="en-US" sz="4000" dirty="0" smtClean="0"/>
              <a:t/>
            </a:r>
            <a:br>
              <a:rPr lang="en-US" sz="4000" dirty="0" smtClean="0"/>
            </a:br>
            <a:r>
              <a:rPr lang="en-US" sz="2400" dirty="0" smtClean="0">
                <a:solidFill>
                  <a:srgbClr val="0070C0"/>
                </a:solidFill>
              </a:rPr>
              <a:t>(Barabási, Albert, 99), (Bollobás,Riordan,Spencer,Tusnady,01)</a:t>
            </a:r>
          </a:p>
        </p:txBody>
      </p:sp>
      <p:sp>
        <p:nvSpPr>
          <p:cNvPr id="3635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218488" cy="2765425"/>
          </a:xfrm>
        </p:spPr>
        <p:txBody>
          <a:bodyPr/>
          <a:lstStyle/>
          <a:p>
            <a:pPr>
              <a:buClr>
                <a:schemeClr val="tx1"/>
              </a:buClr>
            </a:pPr>
            <a:r>
              <a:rPr lang="en-US" sz="2800" dirty="0" smtClean="0">
                <a:solidFill>
                  <a:srgbClr val="008000"/>
                </a:solidFill>
              </a:rPr>
              <a:t>parameter</a:t>
            </a:r>
            <a:r>
              <a:rPr lang="en-US" sz="2800" dirty="0" smtClean="0"/>
              <a:t>: </a:t>
            </a:r>
            <a:r>
              <a:rPr lang="en-US" sz="2800" dirty="0" smtClean="0">
                <a:solidFill>
                  <a:srgbClr val="000099"/>
                </a:solidFill>
              </a:rPr>
              <a:t>m</a:t>
            </a:r>
            <a:r>
              <a:rPr lang="en-US" sz="2800" dirty="0" smtClean="0"/>
              <a:t> a positive integer</a:t>
            </a:r>
          </a:p>
          <a:p>
            <a:r>
              <a:rPr lang="en-US" sz="2800" dirty="0" smtClean="0"/>
              <a:t>at time </a:t>
            </a:r>
            <a:r>
              <a:rPr lang="en-US" sz="2800" dirty="0" smtClean="0">
                <a:solidFill>
                  <a:srgbClr val="000099"/>
                </a:solidFill>
              </a:rPr>
              <a:t>0</a:t>
            </a:r>
            <a:r>
              <a:rPr lang="en-US" sz="2800" dirty="0" smtClean="0"/>
              <a:t>, add a single edge</a:t>
            </a:r>
          </a:p>
          <a:p>
            <a:r>
              <a:rPr lang="en-US" sz="2800" dirty="0" smtClean="0"/>
              <a:t>at time </a:t>
            </a:r>
            <a:r>
              <a:rPr lang="en-US" sz="2800" dirty="0" smtClean="0">
                <a:solidFill>
                  <a:srgbClr val="000099"/>
                </a:solidFill>
              </a:rPr>
              <a:t>t+1</a:t>
            </a:r>
            <a:r>
              <a:rPr lang="en-US" sz="2800" dirty="0" smtClean="0"/>
              <a:t>, add </a:t>
            </a:r>
            <a:r>
              <a:rPr lang="en-US" sz="2800" dirty="0" smtClean="0">
                <a:solidFill>
                  <a:srgbClr val="000099"/>
                </a:solidFill>
              </a:rPr>
              <a:t>m</a:t>
            </a:r>
            <a:r>
              <a:rPr lang="en-US" sz="2800" dirty="0" smtClean="0"/>
              <a:t> edges from a new node </a:t>
            </a:r>
            <a:r>
              <a:rPr lang="en-US" sz="2800" dirty="0" smtClean="0">
                <a:solidFill>
                  <a:srgbClr val="000099"/>
                </a:solidFill>
              </a:rPr>
              <a:t>v</a:t>
            </a:r>
            <a:r>
              <a:rPr lang="en-US" sz="2800" baseline="-25000" dirty="0" smtClean="0">
                <a:solidFill>
                  <a:srgbClr val="000099"/>
                </a:solidFill>
              </a:rPr>
              <a:t>t+1</a:t>
            </a:r>
            <a:r>
              <a:rPr lang="en-US" sz="2800" dirty="0" smtClean="0"/>
              <a:t> to existing nodes</a:t>
            </a:r>
          </a:p>
          <a:p>
            <a:pPr lvl="1"/>
            <a:r>
              <a:rPr lang="en-US" sz="2400" dirty="0" smtClean="0"/>
              <a:t>the edge </a:t>
            </a:r>
            <a:r>
              <a:rPr lang="en-US" sz="2400" dirty="0" smtClean="0">
                <a:solidFill>
                  <a:srgbClr val="000099"/>
                </a:solidFill>
              </a:rPr>
              <a:t>v</a:t>
            </a:r>
            <a:r>
              <a:rPr lang="en-US" sz="2400" baseline="-25000" dirty="0" smtClean="0">
                <a:solidFill>
                  <a:srgbClr val="000099"/>
                </a:solidFill>
              </a:rPr>
              <a:t>t+1 </a:t>
            </a:r>
            <a:r>
              <a:rPr lang="en-US" sz="2400" dirty="0" smtClean="0">
                <a:solidFill>
                  <a:srgbClr val="000099"/>
                </a:solidFill>
              </a:rPr>
              <a:t>v</a:t>
            </a:r>
            <a:r>
              <a:rPr lang="en-US" sz="2400" baseline="-25000" dirty="0" smtClean="0">
                <a:solidFill>
                  <a:srgbClr val="000099"/>
                </a:solidFill>
              </a:rPr>
              <a:t>s</a:t>
            </a:r>
            <a:r>
              <a:rPr lang="en-US" sz="2400" baseline="-25000" dirty="0" smtClean="0"/>
              <a:t>  </a:t>
            </a:r>
            <a:r>
              <a:rPr lang="en-US" sz="2400" dirty="0" smtClean="0"/>
              <a:t>is added with probability</a:t>
            </a:r>
          </a:p>
        </p:txBody>
      </p:sp>
      <p:sp>
        <p:nvSpPr>
          <p:cNvPr id="3079" name="Rectangle 4"/>
          <p:cNvSpPr>
            <a:spLocks noChangeArrowheads="1"/>
          </p:cNvSpPr>
          <p:nvPr/>
        </p:nvSpPr>
        <p:spPr bwMode="auto">
          <a:xfrm>
            <a:off x="431800" y="3429000"/>
            <a:ext cx="8280400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742950" lvl="1" indent="-285750">
              <a:spcBef>
                <a:spcPct val="20000"/>
              </a:spcBef>
              <a:buFontTx/>
              <a:buChar char="–"/>
            </a:pPr>
            <a:endParaRPr lang="en-US" sz="2800"/>
          </a:p>
        </p:txBody>
      </p:sp>
      <p:graphicFrame>
        <p:nvGraphicFramePr>
          <p:cNvPr id="363525" name="Object 2"/>
          <p:cNvGraphicFramePr>
            <a:graphicFrameLocks noChangeAspect="1"/>
          </p:cNvGraphicFramePr>
          <p:nvPr>
            <p:ph sz="half" idx="2"/>
          </p:nvPr>
        </p:nvGraphicFramePr>
        <p:xfrm>
          <a:off x="3744913" y="4365625"/>
          <a:ext cx="1651000" cy="1179513"/>
        </p:xfrm>
        <a:graphic>
          <a:graphicData uri="http://schemas.openxmlformats.org/presentationml/2006/ole">
            <p:oleObj spid="_x0000_s731138" name="Equation" r:id="rId3" imgW="622080" imgH="44424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352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EC814F9-C082-4053-A215-E3FB9D3326F5}" type="slidenum">
              <a:rPr lang="en-US" smtClean="0"/>
              <a:pPr/>
              <a:t>40</a:t>
            </a:fld>
            <a:endParaRPr lang="en-US" dirty="0" smtClean="0"/>
          </a:p>
        </p:txBody>
      </p:sp>
      <p:sp>
        <p:nvSpPr>
          <p:cNvPr id="25603" name="Rectangle 2"/>
          <p:cNvSpPr>
            <a:spLocks noChangeArrowheads="1"/>
          </p:cNvSpPr>
          <p:nvPr/>
        </p:nvSpPr>
        <p:spPr bwMode="auto">
          <a:xfrm>
            <a:off x="966334" y="5492977"/>
            <a:ext cx="6948487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sz="1800" dirty="0"/>
              <a:t>Wilensky, U. (2005). NetLogo Preferential Attachment model. </a:t>
            </a:r>
          </a:p>
          <a:p>
            <a:r>
              <a:rPr lang="en-US" sz="1800" dirty="0">
                <a:hlinkClick r:id="rId2"/>
              </a:rPr>
              <a:t>http://ccl.northwestern.edu/netlogo/models/PreferentialAttachment.</a:t>
            </a:r>
            <a:r>
              <a:rPr lang="en-US" sz="1800" dirty="0"/>
              <a:t> </a:t>
            </a:r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232229" y="607786"/>
            <a:ext cx="8911771" cy="974271"/>
          </a:xfrm>
        </p:spPr>
        <p:txBody>
          <a:bodyPr/>
          <a:lstStyle/>
          <a:p>
            <a:pPr eaLnBrk="1" hangingPunct="1"/>
            <a:r>
              <a:rPr lang="en-US" sz="3600" dirty="0" smtClean="0"/>
              <a:t>Preferential Attachment Model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400" dirty="0" smtClean="0">
                <a:solidFill>
                  <a:srgbClr val="0070C0"/>
                </a:solidFill>
              </a:rPr>
              <a:t>(Barabási, Albert, 99), (Bollobás,Riordan,Spencer,Tusnady,01)</a:t>
            </a:r>
            <a:endParaRPr lang="en-US" sz="2400" i="1" dirty="0" smtClean="0">
              <a:solidFill>
                <a:srgbClr val="0070C0"/>
              </a:solidFill>
            </a:endParaRPr>
          </a:p>
        </p:txBody>
      </p:sp>
      <p:pic>
        <p:nvPicPr>
          <p:cNvPr id="25605" name="Picture 4" descr="pa">
            <a:hlinkClick r:id="rId3" action="ppaction://program"/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157764" y="2005014"/>
            <a:ext cx="2919413" cy="2919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Complex Networks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Complex Networks</a:t>
            </a: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79C94-6CFC-411E-B619-AA31647A6455}" type="slidenum">
              <a:rPr lang="en-US"/>
              <a:pPr/>
              <a:t>41</a:t>
            </a:fld>
            <a:endParaRPr lang="en-US" dirty="0"/>
          </a:p>
        </p:txBody>
      </p:sp>
      <p:sp>
        <p:nvSpPr>
          <p:cNvPr id="434178" name="Rectangle 2"/>
          <p:cNvSpPr>
            <a:spLocks noChangeArrowheads="1"/>
          </p:cNvSpPr>
          <p:nvPr/>
        </p:nvSpPr>
        <p:spPr bwMode="auto">
          <a:xfrm>
            <a:off x="390525" y="1481138"/>
            <a:ext cx="8515350" cy="320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tx1"/>
              </a:buClr>
              <a:buFontTx/>
              <a:buChar char="•"/>
            </a:pPr>
            <a:r>
              <a:rPr lang="en-US" sz="2400" dirty="0">
                <a:solidFill>
                  <a:srgbClr val="0070C0"/>
                </a:solidFill>
                <a:sym typeface="Symbol" pitchFamily="18" charset="2"/>
              </a:rPr>
              <a:t>(BRST,01</a:t>
            </a:r>
            <a:r>
              <a:rPr lang="en-US" sz="2400" dirty="0" smtClean="0">
                <a:solidFill>
                  <a:srgbClr val="0070C0"/>
                </a:solidFill>
                <a:sym typeface="Symbol" pitchFamily="18" charset="2"/>
              </a:rPr>
              <a:t>) </a:t>
            </a:r>
            <a:r>
              <a:rPr lang="en-US" sz="2400" dirty="0" smtClean="0">
                <a:sym typeface="Symbol" pitchFamily="18" charset="2"/>
              </a:rPr>
              <a:t>A.a.s. for </a:t>
            </a:r>
            <a:r>
              <a:rPr lang="en-US" sz="2400" dirty="0">
                <a:sym typeface="Symbol" pitchFamily="18" charset="2"/>
              </a:rPr>
              <a:t>all </a:t>
            </a:r>
            <a:r>
              <a:rPr lang="en-US" sz="2400" dirty="0">
                <a:solidFill>
                  <a:srgbClr val="000099"/>
                </a:solidFill>
                <a:sym typeface="Symbol" pitchFamily="18" charset="2"/>
              </a:rPr>
              <a:t>k</a:t>
            </a:r>
            <a:r>
              <a:rPr lang="en-US" sz="2400" dirty="0">
                <a:sym typeface="Symbol" pitchFamily="18" charset="2"/>
              </a:rPr>
              <a:t> satisfying </a:t>
            </a:r>
            <a:r>
              <a:rPr lang="en-US" sz="2400" dirty="0" smtClean="0">
                <a:solidFill>
                  <a:srgbClr val="000099"/>
                </a:solidFill>
                <a:sym typeface="Symbol" pitchFamily="18" charset="2"/>
              </a:rPr>
              <a:t> </a:t>
            </a:r>
            <a:r>
              <a:rPr lang="en-US" sz="2400" dirty="0">
                <a:solidFill>
                  <a:srgbClr val="000099"/>
                </a:solidFill>
                <a:sym typeface="Symbol" pitchFamily="18" charset="2"/>
              </a:rPr>
              <a:t>0 ≤ k ≤ t</a:t>
            </a:r>
            <a:r>
              <a:rPr lang="en-US" sz="2400" baseline="30000" dirty="0">
                <a:solidFill>
                  <a:srgbClr val="000099"/>
                </a:solidFill>
                <a:sym typeface="Symbol" pitchFamily="18" charset="2"/>
              </a:rPr>
              <a:t>1/15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2400" i="1" baseline="30000" dirty="0">
              <a:solidFill>
                <a:srgbClr val="000099"/>
              </a:solidFill>
              <a:sym typeface="Symbol" pitchFamily="18" charset="2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2400" i="1" baseline="30000" dirty="0">
              <a:solidFill>
                <a:srgbClr val="000099"/>
              </a:solidFill>
              <a:sym typeface="Symbol" pitchFamily="18" charset="2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2400" dirty="0">
              <a:solidFill>
                <a:srgbClr val="008000"/>
              </a:solidFill>
              <a:sym typeface="Symbol" pitchFamily="18" charset="2"/>
            </a:endParaRP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FontTx/>
              <a:buChar char="•"/>
            </a:pPr>
            <a:endParaRPr lang="en-US" sz="2400" dirty="0" smtClean="0">
              <a:solidFill>
                <a:srgbClr val="0070C0"/>
              </a:solidFill>
              <a:sym typeface="Symbol" pitchFamily="18" charset="2"/>
            </a:endParaRP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FontTx/>
              <a:buChar char="•"/>
            </a:pPr>
            <a:r>
              <a:rPr lang="en-US" sz="2400" dirty="0" smtClean="0">
                <a:solidFill>
                  <a:srgbClr val="0070C0"/>
                </a:solidFill>
                <a:sym typeface="Symbol" pitchFamily="18" charset="2"/>
              </a:rPr>
              <a:t>(</a:t>
            </a:r>
            <a:r>
              <a:rPr lang="en-US" sz="2400" dirty="0">
                <a:solidFill>
                  <a:srgbClr val="0070C0"/>
                </a:solidFill>
                <a:sym typeface="Symbol" pitchFamily="18" charset="2"/>
              </a:rPr>
              <a:t>Bollobás, Riordan, 04) </a:t>
            </a:r>
            <a:r>
              <a:rPr lang="en-US" sz="2400" dirty="0" smtClean="0">
                <a:sym typeface="Symbol" pitchFamily="18" charset="2"/>
              </a:rPr>
              <a:t>A.a.s</a:t>
            </a:r>
            <a:r>
              <a:rPr lang="en-US" sz="2400" dirty="0">
                <a:sym typeface="Symbol" pitchFamily="18" charset="2"/>
              </a:rPr>
              <a:t>. the diameter of the </a:t>
            </a:r>
            <a:r>
              <a:rPr lang="en-US" sz="2400" dirty="0" smtClean="0">
                <a:sym typeface="Symbol" pitchFamily="18" charset="2"/>
              </a:rPr>
              <a:t>graph </a:t>
            </a:r>
            <a:r>
              <a:rPr lang="en-US" sz="2400" dirty="0">
                <a:sym typeface="Symbol" pitchFamily="18" charset="2"/>
              </a:rPr>
              <a:t>at time </a:t>
            </a:r>
            <a:r>
              <a:rPr lang="en-US" sz="2400" dirty="0">
                <a:solidFill>
                  <a:srgbClr val="000099"/>
                </a:solidFill>
                <a:sym typeface="Symbol" pitchFamily="18" charset="2"/>
              </a:rPr>
              <a:t>t</a:t>
            </a:r>
            <a:r>
              <a:rPr lang="en-US" sz="2400" dirty="0">
                <a:sym typeface="Symbol" pitchFamily="18" charset="2"/>
              </a:rPr>
              <a:t> is</a:t>
            </a:r>
            <a:endParaRPr lang="en-US" sz="2400" baseline="30000" dirty="0">
              <a:solidFill>
                <a:srgbClr val="000099"/>
              </a:solidFill>
              <a:sym typeface="Symbol" pitchFamily="18" charset="2"/>
            </a:endParaRPr>
          </a:p>
          <a:p>
            <a:pPr marL="342900" indent="-342900">
              <a:spcBef>
                <a:spcPct val="20000"/>
              </a:spcBef>
            </a:pPr>
            <a:endParaRPr lang="en-US" sz="2400" baseline="30000" dirty="0">
              <a:solidFill>
                <a:srgbClr val="000099"/>
              </a:solidFill>
              <a:sym typeface="Symbol" pitchFamily="18" charset="2"/>
            </a:endParaRPr>
          </a:p>
          <a:p>
            <a:pPr marL="342900" indent="-342900">
              <a:spcBef>
                <a:spcPct val="20000"/>
              </a:spcBef>
            </a:pPr>
            <a:endParaRPr lang="en-US" sz="2400" i="1" baseline="30000" dirty="0">
              <a:solidFill>
                <a:srgbClr val="000099"/>
              </a:solidFill>
              <a:sym typeface="Symbol" pitchFamily="18" charset="2"/>
            </a:endParaRPr>
          </a:p>
        </p:txBody>
      </p:sp>
      <p:graphicFrame>
        <p:nvGraphicFramePr>
          <p:cNvPr id="434179" name="Object 3"/>
          <p:cNvGraphicFramePr>
            <a:graphicFrameLocks noChangeAspect="1"/>
          </p:cNvGraphicFramePr>
          <p:nvPr/>
        </p:nvGraphicFramePr>
        <p:xfrm>
          <a:off x="3295650" y="2038350"/>
          <a:ext cx="2546350" cy="860425"/>
        </p:xfrm>
        <a:graphic>
          <a:graphicData uri="http://schemas.openxmlformats.org/presentationml/2006/ole">
            <p:oleObj spid="_x0000_s654338" name="Equation" r:id="rId3" imgW="1206360" imgH="406080" progId="Equation.3">
              <p:embed/>
            </p:oleObj>
          </a:graphicData>
        </a:graphic>
      </p:graphicFrame>
      <p:sp>
        <p:nvSpPr>
          <p:cNvPr id="43418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the PA model</a:t>
            </a:r>
          </a:p>
        </p:txBody>
      </p:sp>
      <p:graphicFrame>
        <p:nvGraphicFramePr>
          <p:cNvPr id="434181" name="Object 5"/>
          <p:cNvGraphicFramePr>
            <a:graphicFrameLocks noChangeAspect="1"/>
          </p:cNvGraphicFramePr>
          <p:nvPr>
            <p:ph idx="1"/>
          </p:nvPr>
        </p:nvGraphicFramePr>
        <p:xfrm>
          <a:off x="3227841" y="4277859"/>
          <a:ext cx="2368550" cy="889000"/>
        </p:xfrm>
        <a:graphic>
          <a:graphicData uri="http://schemas.openxmlformats.org/presentationml/2006/ole">
            <p:oleObj spid="_x0000_s654339" name="Equation" r:id="rId4" imgW="1117440" imgH="41904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Sketch of proof of power law</a:t>
            </a:r>
            <a:endParaRPr lang="en-GB" dirty="0"/>
          </a:p>
        </p:txBody>
      </p:sp>
      <p:pic>
        <p:nvPicPr>
          <p:cNvPr id="6" name="Content Placeholder 5" descr="Pages from rgtalk.jpg"/>
          <p:cNvPicPr>
            <a:picLocks noGrp="1" noChangeAspect="1"/>
          </p:cNvPicPr>
          <p:nvPr>
            <p:ph idx="1"/>
          </p:nvPr>
        </p:nvPicPr>
        <p:blipFill>
          <a:blip r:embed="rId2"/>
          <a:srcRect t="7941" r="3051" b="13628"/>
          <a:stretch>
            <a:fillRect/>
          </a:stretch>
        </p:blipFill>
        <p:spPr>
          <a:xfrm>
            <a:off x="812801" y="1523998"/>
            <a:ext cx="7286170" cy="4420823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Complex Networks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B9044-B1D8-49D8-9F05-DCB5B06F2D15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059543" y="3439886"/>
            <a:ext cx="6415314" cy="14078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2394857" y="4978400"/>
            <a:ext cx="4426857" cy="11030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Complex Networks</a:t>
            </a: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AB1C9-8E0E-46D6-B11F-C14A3A21186B}" type="slidenum">
              <a:rPr lang="en-US"/>
              <a:pPr/>
              <a:t>43</a:t>
            </a:fld>
            <a:endParaRPr lang="en-US"/>
          </a:p>
        </p:txBody>
      </p:sp>
      <p:sp>
        <p:nvSpPr>
          <p:cNvPr id="404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Copying models</a:t>
            </a:r>
          </a:p>
        </p:txBody>
      </p:sp>
      <p:sp>
        <p:nvSpPr>
          <p:cNvPr id="404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5438" y="1541463"/>
            <a:ext cx="8505825" cy="4525962"/>
          </a:xfrm>
        </p:spPr>
        <p:txBody>
          <a:bodyPr/>
          <a:lstStyle/>
          <a:p>
            <a:pPr marL="609600" indent="-609600"/>
            <a:r>
              <a:rPr lang="en-US" dirty="0"/>
              <a:t>new nodes copy some of the link structure of an existing node</a:t>
            </a:r>
          </a:p>
          <a:p>
            <a:pPr marL="609600" indent="-609600">
              <a:buFontTx/>
              <a:buNone/>
            </a:pPr>
            <a:endParaRPr lang="en-US" dirty="0"/>
          </a:p>
          <a:p>
            <a:pPr marL="609600" indent="-609600">
              <a:buFontTx/>
              <a:buNone/>
            </a:pPr>
            <a:r>
              <a:rPr lang="en-US" dirty="0">
                <a:solidFill>
                  <a:srgbClr val="FF0000"/>
                </a:solidFill>
              </a:rPr>
              <a:t>Motivation:</a:t>
            </a:r>
          </a:p>
          <a:p>
            <a:pPr marL="609600" indent="-609600">
              <a:buFontTx/>
              <a:buNone/>
            </a:pPr>
            <a:endParaRPr lang="en-US" sz="1000" dirty="0">
              <a:solidFill>
                <a:srgbClr val="FF0000"/>
              </a:solidFill>
            </a:endParaRPr>
          </a:p>
          <a:p>
            <a:pPr marL="609600" indent="-609600">
              <a:buClr>
                <a:schemeClr val="tx1"/>
              </a:buClr>
              <a:buFontTx/>
              <a:buAutoNum type="arabicPeriod"/>
            </a:pPr>
            <a:r>
              <a:rPr lang="en-US" sz="2400" dirty="0">
                <a:solidFill>
                  <a:srgbClr val="000099"/>
                </a:solidFill>
              </a:rPr>
              <a:t>web page generation </a:t>
            </a:r>
            <a:r>
              <a:rPr lang="en-US" sz="2400" dirty="0">
                <a:solidFill>
                  <a:srgbClr val="0070C0"/>
                </a:solidFill>
              </a:rPr>
              <a:t>(Kumar et al, 00)</a:t>
            </a:r>
          </a:p>
          <a:p>
            <a:pPr marL="609600" indent="-609600">
              <a:buClr>
                <a:schemeClr val="tx1"/>
              </a:buClr>
              <a:buFontTx/>
              <a:buAutoNum type="arabicPeriod"/>
            </a:pPr>
            <a:r>
              <a:rPr lang="en-US" sz="2400" dirty="0">
                <a:solidFill>
                  <a:srgbClr val="000099"/>
                </a:solidFill>
              </a:rPr>
              <a:t>mutation in biology    </a:t>
            </a:r>
            <a:r>
              <a:rPr lang="en-US" sz="2400" dirty="0">
                <a:solidFill>
                  <a:srgbClr val="0070C0"/>
                </a:solidFill>
              </a:rPr>
              <a:t>(Chung et al, 03)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Complex Networks</a:t>
            </a:r>
            <a:endParaRPr lang="en-US"/>
          </a:p>
        </p:txBody>
      </p:sp>
      <p:sp>
        <p:nvSpPr>
          <p:cNvPr id="2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B57F8-1059-45DD-AA7F-E41CAD9BE43D}" type="slidenum">
              <a:rPr lang="en-US"/>
              <a:pPr/>
              <a:t>44</a:t>
            </a:fld>
            <a:endParaRPr lang="en-US"/>
          </a:p>
        </p:txBody>
      </p:sp>
      <p:pic>
        <p:nvPicPr>
          <p:cNvPr id="4065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19250" y="404813"/>
            <a:ext cx="4537075" cy="4537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06531" name="Oval 3"/>
          <p:cNvSpPr>
            <a:spLocks noChangeArrowheads="1"/>
          </p:cNvSpPr>
          <p:nvPr/>
        </p:nvSpPr>
        <p:spPr bwMode="auto">
          <a:xfrm>
            <a:off x="6659563" y="5373688"/>
            <a:ext cx="217487" cy="195262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06532" name="Line 4"/>
          <p:cNvSpPr>
            <a:spLocks noChangeShapeType="1"/>
          </p:cNvSpPr>
          <p:nvPr/>
        </p:nvSpPr>
        <p:spPr bwMode="auto">
          <a:xfrm flipH="1" flipV="1">
            <a:off x="3851275" y="3716338"/>
            <a:ext cx="3025775" cy="1800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406533" name="Line 5"/>
          <p:cNvSpPr>
            <a:spLocks noChangeShapeType="1"/>
          </p:cNvSpPr>
          <p:nvPr/>
        </p:nvSpPr>
        <p:spPr bwMode="auto">
          <a:xfrm flipH="1" flipV="1">
            <a:off x="5364163" y="4149725"/>
            <a:ext cx="1439862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406534" name="Oval 6"/>
          <p:cNvSpPr>
            <a:spLocks noChangeArrowheads="1"/>
          </p:cNvSpPr>
          <p:nvPr/>
        </p:nvSpPr>
        <p:spPr bwMode="auto">
          <a:xfrm>
            <a:off x="7596188" y="4581525"/>
            <a:ext cx="217487" cy="195263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06535" name="Line 7"/>
          <p:cNvSpPr>
            <a:spLocks noChangeShapeType="1"/>
          </p:cNvSpPr>
          <p:nvPr/>
        </p:nvSpPr>
        <p:spPr bwMode="auto">
          <a:xfrm flipH="1">
            <a:off x="6804025" y="4652963"/>
            <a:ext cx="936625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406536" name="Line 8"/>
          <p:cNvSpPr>
            <a:spLocks noChangeShapeType="1"/>
          </p:cNvSpPr>
          <p:nvPr/>
        </p:nvSpPr>
        <p:spPr bwMode="auto">
          <a:xfrm flipH="1" flipV="1">
            <a:off x="4643438" y="3429000"/>
            <a:ext cx="3097212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406537" name="Text Box 9"/>
          <p:cNvSpPr txBox="1">
            <a:spLocks noChangeArrowheads="1"/>
          </p:cNvSpPr>
          <p:nvPr/>
        </p:nvSpPr>
        <p:spPr bwMode="auto">
          <a:xfrm>
            <a:off x="3708400" y="4941888"/>
            <a:ext cx="3238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1"/>
              <a:t>u</a:t>
            </a:r>
          </a:p>
        </p:txBody>
      </p:sp>
      <p:sp>
        <p:nvSpPr>
          <p:cNvPr id="406538" name="Text Box 10"/>
          <p:cNvSpPr txBox="1">
            <a:spLocks noChangeArrowheads="1"/>
          </p:cNvSpPr>
          <p:nvPr/>
        </p:nvSpPr>
        <p:spPr bwMode="auto">
          <a:xfrm>
            <a:off x="4787900" y="3860800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1"/>
              <a:t>v</a:t>
            </a:r>
          </a:p>
        </p:txBody>
      </p:sp>
      <p:sp>
        <p:nvSpPr>
          <p:cNvPr id="406539" name="Text Box 11"/>
          <p:cNvSpPr txBox="1">
            <a:spLocks noChangeArrowheads="1"/>
          </p:cNvSpPr>
          <p:nvPr/>
        </p:nvSpPr>
        <p:spPr bwMode="auto">
          <a:xfrm>
            <a:off x="6640513" y="5681663"/>
            <a:ext cx="298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406540" name="Text Box 12"/>
          <p:cNvSpPr txBox="1">
            <a:spLocks noChangeArrowheads="1"/>
          </p:cNvSpPr>
          <p:nvPr/>
        </p:nvSpPr>
        <p:spPr bwMode="auto">
          <a:xfrm>
            <a:off x="7864475" y="4816475"/>
            <a:ext cx="298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FF0000"/>
                </a:solidFill>
              </a:rPr>
              <a:t>y</a:t>
            </a:r>
          </a:p>
        </p:txBody>
      </p:sp>
      <p:sp>
        <p:nvSpPr>
          <p:cNvPr id="406541" name="Text Box 13"/>
          <p:cNvSpPr txBox="1">
            <a:spLocks noChangeArrowheads="1"/>
          </p:cNvSpPr>
          <p:nvPr/>
        </p:nvSpPr>
        <p:spPr bwMode="auto">
          <a:xfrm>
            <a:off x="895350" y="4362450"/>
            <a:ext cx="97313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200" i="1">
                <a:solidFill>
                  <a:srgbClr val="FF0000"/>
                </a:solidFill>
              </a:rPr>
              <a:t>N</a:t>
            </a:r>
            <a:r>
              <a:rPr lang="en-US" sz="3200">
                <a:solidFill>
                  <a:srgbClr val="FF0000"/>
                </a:solidFill>
              </a:rPr>
              <a:t>(</a:t>
            </a:r>
            <a:r>
              <a:rPr lang="en-US" sz="3200" i="1">
                <a:solidFill>
                  <a:srgbClr val="FF0000"/>
                </a:solidFill>
              </a:rPr>
              <a:t>u</a:t>
            </a:r>
            <a:r>
              <a:rPr lang="en-US" sz="320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406542" name="Oval 14"/>
          <p:cNvSpPr>
            <a:spLocks noChangeArrowheads="1"/>
          </p:cNvSpPr>
          <p:nvPr/>
        </p:nvSpPr>
        <p:spPr bwMode="auto">
          <a:xfrm>
            <a:off x="2192338" y="4049713"/>
            <a:ext cx="304800" cy="2460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06543" name="Oval 15"/>
          <p:cNvSpPr>
            <a:spLocks noChangeArrowheads="1"/>
          </p:cNvSpPr>
          <p:nvPr/>
        </p:nvSpPr>
        <p:spPr bwMode="auto">
          <a:xfrm>
            <a:off x="3714750" y="3627438"/>
            <a:ext cx="304800" cy="2460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06544" name="Oval 16"/>
          <p:cNvSpPr>
            <a:spLocks noChangeArrowheads="1"/>
          </p:cNvSpPr>
          <p:nvPr/>
        </p:nvSpPr>
        <p:spPr bwMode="auto">
          <a:xfrm>
            <a:off x="5194300" y="4046538"/>
            <a:ext cx="304800" cy="2460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06545" name="Text Box 17"/>
          <p:cNvSpPr txBox="1">
            <a:spLocks noChangeArrowheads="1"/>
          </p:cNvSpPr>
          <p:nvPr/>
        </p:nvSpPr>
        <p:spPr bwMode="auto">
          <a:xfrm>
            <a:off x="6249988" y="3081338"/>
            <a:ext cx="950912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200" i="1">
                <a:solidFill>
                  <a:srgbClr val="FF0000"/>
                </a:solidFill>
              </a:rPr>
              <a:t>N</a:t>
            </a:r>
            <a:r>
              <a:rPr lang="en-US" sz="3200">
                <a:solidFill>
                  <a:srgbClr val="FF0000"/>
                </a:solidFill>
              </a:rPr>
              <a:t>(</a:t>
            </a:r>
            <a:r>
              <a:rPr lang="en-US" sz="3200" i="1">
                <a:solidFill>
                  <a:srgbClr val="FF0000"/>
                </a:solidFill>
              </a:rPr>
              <a:t>v</a:t>
            </a:r>
            <a:r>
              <a:rPr lang="en-US" sz="320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406546" name="Oval 18"/>
          <p:cNvSpPr>
            <a:spLocks noChangeArrowheads="1"/>
          </p:cNvSpPr>
          <p:nvPr/>
        </p:nvSpPr>
        <p:spPr bwMode="auto">
          <a:xfrm>
            <a:off x="3700463" y="4672013"/>
            <a:ext cx="304800" cy="2460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06547" name="Oval 19"/>
          <p:cNvSpPr>
            <a:spLocks noChangeArrowheads="1"/>
          </p:cNvSpPr>
          <p:nvPr/>
        </p:nvSpPr>
        <p:spPr bwMode="auto">
          <a:xfrm>
            <a:off x="4483100" y="3290888"/>
            <a:ext cx="304800" cy="2460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06548" name="Oval 20"/>
          <p:cNvSpPr>
            <a:spLocks noChangeArrowheads="1"/>
          </p:cNvSpPr>
          <p:nvPr/>
        </p:nvSpPr>
        <p:spPr bwMode="auto">
          <a:xfrm>
            <a:off x="5845175" y="2535238"/>
            <a:ext cx="304800" cy="2460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06549" name="Oval 21"/>
          <p:cNvSpPr>
            <a:spLocks noChangeArrowheads="1"/>
          </p:cNvSpPr>
          <p:nvPr/>
        </p:nvSpPr>
        <p:spPr bwMode="auto">
          <a:xfrm>
            <a:off x="6611938" y="5348288"/>
            <a:ext cx="304800" cy="2460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6531" grpId="0" animBg="1"/>
      <p:bldP spid="406532" grpId="0" animBg="1"/>
      <p:bldP spid="406533" grpId="0" animBg="1"/>
      <p:bldP spid="406534" grpId="0" animBg="1"/>
      <p:bldP spid="406535" grpId="0" animBg="1"/>
      <p:bldP spid="406536" grpId="0" animBg="1"/>
      <p:bldP spid="406537" grpId="0"/>
      <p:bldP spid="406538" grpId="0"/>
      <p:bldP spid="406539" grpId="0"/>
      <p:bldP spid="406540" grpId="0"/>
      <p:bldP spid="406541" grpId="0"/>
      <p:bldP spid="406541" grpId="1"/>
      <p:bldP spid="406542" grpId="0" animBg="1"/>
      <p:bldP spid="406542" grpId="1" animBg="1"/>
      <p:bldP spid="406543" grpId="0" animBg="1"/>
      <p:bldP spid="406543" grpId="1" animBg="1"/>
      <p:bldP spid="406544" grpId="0" animBg="1"/>
      <p:bldP spid="406544" grpId="1" animBg="1"/>
      <p:bldP spid="406545" grpId="0"/>
      <p:bldP spid="406546" grpId="0" animBg="1"/>
      <p:bldP spid="406547" grpId="0" animBg="1"/>
      <p:bldP spid="406548" grpId="0" animBg="1"/>
      <p:bldP spid="406549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Complex Networks</a:t>
            </a: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DD3A2-E64C-49A6-96DE-0DD5FD2F02BA}" type="slidenum">
              <a:rPr lang="en-US"/>
              <a:pPr/>
              <a:t>45</a:t>
            </a:fld>
            <a:endParaRPr lang="en-US"/>
          </a:p>
        </p:txBody>
      </p:sp>
      <p:sp>
        <p:nvSpPr>
          <p:cNvPr id="407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Properties of the copying model</a:t>
            </a:r>
          </a:p>
        </p:txBody>
      </p:sp>
      <p:sp>
        <p:nvSpPr>
          <p:cNvPr id="407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dirty="0">
                <a:solidFill>
                  <a:srgbClr val="FF0000"/>
                </a:solidFill>
              </a:rPr>
              <a:t>power laws</a:t>
            </a:r>
            <a:r>
              <a:rPr lang="en-US" dirty="0"/>
              <a:t>: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Kumar et al</a:t>
            </a:r>
            <a:r>
              <a:rPr lang="en-US" dirty="0"/>
              <a:t>: </a:t>
            </a:r>
            <a:r>
              <a:rPr lang="en-US" dirty="0" smtClean="0"/>
              <a:t>exponent in interval </a:t>
            </a:r>
            <a:r>
              <a:rPr lang="en-US" dirty="0">
                <a:solidFill>
                  <a:srgbClr val="000099"/>
                </a:solidFill>
              </a:rPr>
              <a:t>(2,∞)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Chung, Lu</a:t>
            </a:r>
            <a:r>
              <a:rPr lang="en-US" dirty="0"/>
              <a:t>: </a:t>
            </a:r>
            <a:r>
              <a:rPr lang="en-US" dirty="0">
                <a:solidFill>
                  <a:srgbClr val="000099"/>
                </a:solidFill>
              </a:rPr>
              <a:t>(1,2)</a:t>
            </a:r>
          </a:p>
          <a:p>
            <a:endParaRPr lang="en-US" dirty="0"/>
          </a:p>
          <a:p>
            <a:pPr>
              <a:buClr>
                <a:schemeClr val="tx1"/>
              </a:buClr>
            </a:pPr>
            <a:r>
              <a:rPr lang="en-US" dirty="0">
                <a:solidFill>
                  <a:srgbClr val="FF0000"/>
                </a:solidFill>
              </a:rPr>
              <a:t>bipartite subgraphs</a:t>
            </a:r>
            <a:r>
              <a:rPr lang="en-US" dirty="0"/>
              <a:t>: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Kumar et al</a:t>
            </a:r>
            <a:r>
              <a:rPr lang="en-US" dirty="0"/>
              <a:t>: larger expected number of bicliques than in PA </a:t>
            </a:r>
            <a:r>
              <a:rPr lang="en-US" dirty="0" smtClean="0"/>
              <a:t>models</a:t>
            </a:r>
          </a:p>
          <a:p>
            <a:pPr lvl="1"/>
            <a:r>
              <a:rPr lang="en-US" dirty="0" smtClean="0"/>
              <a:t>simplified model of community structure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Complex Networks</a:t>
            </a: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BBB4B-19AC-4842-B8BA-F6207D0C01B4}" type="slidenum">
              <a:rPr lang="en-US"/>
              <a:pPr/>
              <a:t>46</a:t>
            </a:fld>
            <a:endParaRPr lang="en-US"/>
          </a:p>
        </p:txBody>
      </p:sp>
      <p:pic>
        <p:nvPicPr>
          <p:cNvPr id="379906" name="Picture 2" descr="fan_v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20763" y="1935163"/>
            <a:ext cx="3270250" cy="2584450"/>
          </a:xfrm>
          <a:prstGeom prst="rect">
            <a:avLst/>
          </a:prstGeom>
          <a:noFill/>
        </p:spPr>
      </p:pic>
      <p:pic>
        <p:nvPicPr>
          <p:cNvPr id="379907" name="Picture 3" descr="lincoln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27638" y="1882775"/>
            <a:ext cx="2647950" cy="2620963"/>
          </a:xfrm>
          <a:prstGeom prst="rect">
            <a:avLst/>
          </a:prstGeom>
          <a:noFill/>
        </p:spPr>
      </p:pic>
      <p:sp>
        <p:nvSpPr>
          <p:cNvPr id="37990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Off-line web graph model</a:t>
            </a:r>
          </a:p>
        </p:txBody>
      </p:sp>
      <p:sp>
        <p:nvSpPr>
          <p:cNvPr id="379909" name="Text Box 5"/>
          <p:cNvSpPr txBox="1">
            <a:spLocks noChangeArrowheads="1"/>
          </p:cNvSpPr>
          <p:nvPr/>
        </p:nvSpPr>
        <p:spPr bwMode="auto">
          <a:xfrm>
            <a:off x="1316038" y="4989513"/>
            <a:ext cx="24272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Fan Chung Graham</a:t>
            </a:r>
          </a:p>
        </p:txBody>
      </p:sp>
      <p:sp>
        <p:nvSpPr>
          <p:cNvPr id="379910" name="Text Box 6"/>
          <p:cNvSpPr txBox="1">
            <a:spLocks noChangeArrowheads="1"/>
          </p:cNvSpPr>
          <p:nvPr/>
        </p:nvSpPr>
        <p:spPr bwMode="auto">
          <a:xfrm>
            <a:off x="5902325" y="4976813"/>
            <a:ext cx="13430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Lincoln Lu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Complex Networks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17B83-7272-4543-AA80-D7603F17F47A}" type="slidenum">
              <a:rPr lang="en-US"/>
              <a:pPr/>
              <a:t>47</a:t>
            </a:fld>
            <a:endParaRPr lang="en-US"/>
          </a:p>
        </p:txBody>
      </p:sp>
      <p:sp>
        <p:nvSpPr>
          <p:cNvPr id="380930" name="Text Box 2"/>
          <p:cNvSpPr txBox="1">
            <a:spLocks noChangeArrowheads="1"/>
          </p:cNvSpPr>
          <p:nvPr/>
        </p:nvSpPr>
        <p:spPr bwMode="auto">
          <a:xfrm>
            <a:off x="215900" y="1250950"/>
            <a:ext cx="8928100" cy="4524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US" sz="2400" dirty="0"/>
              <a:t> let </a:t>
            </a:r>
            <a:r>
              <a:rPr lang="en-US" sz="2400" b="1" dirty="0">
                <a:solidFill>
                  <a:srgbClr val="000099"/>
                </a:solidFill>
              </a:rPr>
              <a:t>w</a:t>
            </a:r>
            <a:r>
              <a:rPr lang="en-US" sz="2400" dirty="0">
                <a:solidFill>
                  <a:srgbClr val="000099"/>
                </a:solidFill>
              </a:rPr>
              <a:t>=(w</a:t>
            </a:r>
            <a:r>
              <a:rPr lang="en-US" sz="2400" baseline="-25000" dirty="0">
                <a:solidFill>
                  <a:srgbClr val="000099"/>
                </a:solidFill>
              </a:rPr>
              <a:t>1</a:t>
            </a:r>
            <a:r>
              <a:rPr lang="en-US" sz="2400" dirty="0">
                <a:solidFill>
                  <a:srgbClr val="000099"/>
                </a:solidFill>
              </a:rPr>
              <a:t>, …, </a:t>
            </a:r>
            <a:r>
              <a:rPr lang="en-US" sz="2400" dirty="0" err="1">
                <a:solidFill>
                  <a:srgbClr val="000099"/>
                </a:solidFill>
              </a:rPr>
              <a:t>w</a:t>
            </a:r>
            <a:r>
              <a:rPr lang="en-US" sz="2400" baseline="-25000" dirty="0" err="1">
                <a:solidFill>
                  <a:srgbClr val="000099"/>
                </a:solidFill>
              </a:rPr>
              <a:t>n</a:t>
            </a:r>
            <a:r>
              <a:rPr lang="en-US" sz="2400" dirty="0">
                <a:solidFill>
                  <a:srgbClr val="000099"/>
                </a:solidFill>
              </a:rPr>
              <a:t>)</a:t>
            </a:r>
            <a:r>
              <a:rPr lang="en-US" sz="2400" dirty="0"/>
              <a:t> be a sequence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2400" dirty="0"/>
              <a:t> </a:t>
            </a:r>
            <a:r>
              <a:rPr lang="en-US" sz="2400" dirty="0">
                <a:solidFill>
                  <a:srgbClr val="000099"/>
                </a:solidFill>
              </a:rPr>
              <a:t>G(</a:t>
            </a:r>
            <a:r>
              <a:rPr lang="en-US" sz="2400" b="1" dirty="0">
                <a:solidFill>
                  <a:srgbClr val="000099"/>
                </a:solidFill>
              </a:rPr>
              <a:t>w</a:t>
            </a:r>
            <a:r>
              <a:rPr lang="en-US" sz="2400" dirty="0">
                <a:solidFill>
                  <a:srgbClr val="000099"/>
                </a:solidFill>
              </a:rPr>
              <a:t>):</a:t>
            </a:r>
            <a:r>
              <a:rPr lang="en-US" sz="2400" dirty="0"/>
              <a:t> probability space of graphs on </a:t>
            </a:r>
            <a:r>
              <a:rPr lang="en-US" sz="2400" dirty="0">
                <a:solidFill>
                  <a:srgbClr val="000099"/>
                </a:solidFill>
              </a:rPr>
              <a:t>[n],</a:t>
            </a:r>
            <a:r>
              <a:rPr lang="en-US" sz="2400" dirty="0"/>
              <a:t> where </a:t>
            </a:r>
            <a:r>
              <a:rPr lang="en-US" sz="2400" dirty="0">
                <a:solidFill>
                  <a:srgbClr val="000099"/>
                </a:solidFill>
              </a:rPr>
              <a:t>i</a:t>
            </a:r>
            <a:r>
              <a:rPr lang="en-US" sz="2400" dirty="0"/>
              <a:t> and </a:t>
            </a:r>
            <a:r>
              <a:rPr lang="en-US" sz="2400" dirty="0">
                <a:solidFill>
                  <a:srgbClr val="000099"/>
                </a:solidFill>
              </a:rPr>
              <a:t>j</a:t>
            </a:r>
            <a:r>
              <a:rPr lang="en-US" sz="2400" dirty="0"/>
              <a:t> are joined independently with probability </a:t>
            </a:r>
          </a:p>
          <a:p>
            <a:pPr>
              <a:spcBef>
                <a:spcPct val="50000"/>
              </a:spcBef>
              <a:buFontTx/>
              <a:buChar char="•"/>
            </a:pPr>
            <a:endParaRPr lang="en-US" sz="2400" dirty="0"/>
          </a:p>
          <a:p>
            <a:pPr>
              <a:spcBef>
                <a:spcPct val="50000"/>
              </a:spcBef>
              <a:buFontTx/>
              <a:buChar char="•"/>
            </a:pPr>
            <a:endParaRPr lang="en-US" sz="2400" dirty="0"/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2400" dirty="0"/>
              <a:t> </a:t>
            </a:r>
            <a:r>
              <a:rPr lang="en-US" sz="2400" dirty="0">
                <a:solidFill>
                  <a:srgbClr val="000099"/>
                </a:solidFill>
              </a:rPr>
              <a:t>G(</a:t>
            </a:r>
            <a:r>
              <a:rPr lang="en-US" sz="2400" b="1" dirty="0">
                <a:solidFill>
                  <a:srgbClr val="000099"/>
                </a:solidFill>
              </a:rPr>
              <a:t>w</a:t>
            </a:r>
            <a:r>
              <a:rPr lang="en-US" sz="2400" dirty="0">
                <a:solidFill>
                  <a:srgbClr val="000099"/>
                </a:solidFill>
              </a:rPr>
              <a:t>) </a:t>
            </a:r>
            <a:r>
              <a:rPr lang="en-US" sz="2400" dirty="0"/>
              <a:t>is the space of </a:t>
            </a:r>
            <a:r>
              <a:rPr lang="en-US" sz="2400" dirty="0">
                <a:solidFill>
                  <a:srgbClr val="FF0000"/>
                </a:solidFill>
              </a:rPr>
              <a:t>random graphs with given expected degree sequence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0099"/>
                </a:solidFill>
              </a:rPr>
              <a:t>w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2400" dirty="0"/>
              <a:t> if </a:t>
            </a:r>
            <a:r>
              <a:rPr lang="en-US" sz="2400" b="1" dirty="0">
                <a:solidFill>
                  <a:srgbClr val="000099"/>
                </a:solidFill>
              </a:rPr>
              <a:t>w</a:t>
            </a:r>
            <a:r>
              <a:rPr lang="en-US" sz="2400" dirty="0">
                <a:solidFill>
                  <a:srgbClr val="000099"/>
                </a:solidFill>
              </a:rPr>
              <a:t>=(pn,…pn),</a:t>
            </a:r>
            <a:r>
              <a:rPr lang="en-US" sz="2400" dirty="0"/>
              <a:t> then </a:t>
            </a:r>
            <a:r>
              <a:rPr lang="en-US" sz="2400" dirty="0">
                <a:solidFill>
                  <a:srgbClr val="000099"/>
                </a:solidFill>
              </a:rPr>
              <a:t>G(</a:t>
            </a:r>
            <a:r>
              <a:rPr lang="en-US" sz="2400" b="1" dirty="0">
                <a:solidFill>
                  <a:srgbClr val="000099"/>
                </a:solidFill>
              </a:rPr>
              <a:t>w</a:t>
            </a:r>
            <a:r>
              <a:rPr lang="en-US" sz="2400" dirty="0">
                <a:solidFill>
                  <a:srgbClr val="000099"/>
                </a:solidFill>
              </a:rPr>
              <a:t>)</a:t>
            </a:r>
            <a:r>
              <a:rPr lang="en-US" sz="2400" dirty="0"/>
              <a:t> is just </a:t>
            </a:r>
            <a:r>
              <a:rPr lang="en-US" sz="2400" dirty="0">
                <a:solidFill>
                  <a:srgbClr val="000099"/>
                </a:solidFill>
              </a:rPr>
              <a:t>G(n,p)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2400" dirty="0"/>
              <a:t> if </a:t>
            </a:r>
            <a:r>
              <a:rPr lang="en-US" sz="2400" b="1" dirty="0">
                <a:solidFill>
                  <a:srgbClr val="000099"/>
                </a:solidFill>
              </a:rPr>
              <a:t>w</a:t>
            </a:r>
            <a:r>
              <a:rPr lang="en-US" sz="2400" dirty="0"/>
              <a:t> follows a power law, we obtain </a:t>
            </a:r>
            <a:r>
              <a:rPr lang="en-US" sz="2400" dirty="0">
                <a:solidFill>
                  <a:srgbClr val="FF0000"/>
                </a:solidFill>
              </a:rPr>
              <a:t>random power law graphs</a:t>
            </a:r>
          </a:p>
        </p:txBody>
      </p:sp>
      <p:sp>
        <p:nvSpPr>
          <p:cNvPr id="380931" name="Rectangle 3"/>
          <p:cNvSpPr>
            <a:spLocks noGrp="1" noChangeArrowheads="1"/>
          </p:cNvSpPr>
          <p:nvPr>
            <p:ph type="title"/>
          </p:nvPr>
        </p:nvSpPr>
        <p:spPr>
          <a:xfrm>
            <a:off x="0" y="188913"/>
            <a:ext cx="9144000" cy="1143000"/>
          </a:xfrm>
        </p:spPr>
        <p:txBody>
          <a:bodyPr/>
          <a:lstStyle/>
          <a:p>
            <a:r>
              <a:rPr lang="en-US" sz="2800" dirty="0">
                <a:solidFill>
                  <a:srgbClr val="FF0000"/>
                </a:solidFill>
              </a:rPr>
              <a:t>Random graphs with given expected degree sequence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0070C0"/>
                </a:solidFill>
              </a:rPr>
              <a:t>(Chung, Lu, 2003)</a:t>
            </a:r>
          </a:p>
        </p:txBody>
      </p:sp>
      <p:graphicFrame>
        <p:nvGraphicFramePr>
          <p:cNvPr id="380932" name="Object 4"/>
          <p:cNvGraphicFramePr>
            <a:graphicFrameLocks noChangeAspect="1"/>
          </p:cNvGraphicFramePr>
          <p:nvPr>
            <p:ph idx="4294967295"/>
          </p:nvPr>
        </p:nvGraphicFramePr>
        <p:xfrm>
          <a:off x="3467100" y="2619375"/>
          <a:ext cx="1806575" cy="1155700"/>
        </p:xfrm>
        <a:graphic>
          <a:graphicData uri="http://schemas.openxmlformats.org/presentationml/2006/ole">
            <p:oleObj spid="_x0000_s822274" name="Equation" r:id="rId3" imgW="711000" imgH="64764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Complex Networks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B19B3-3347-4627-838B-337A3BA8277F}" type="slidenum">
              <a:rPr lang="en-US"/>
              <a:pPr/>
              <a:t>48</a:t>
            </a:fld>
            <a:endParaRPr lang="en-US"/>
          </a:p>
        </p:txBody>
      </p:sp>
      <p:pic>
        <p:nvPicPr>
          <p:cNvPr id="381954" name="Picture 2" descr="bgpp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44900" y="1495425"/>
            <a:ext cx="4967288" cy="4387850"/>
          </a:xfrm>
          <a:prstGeom prst="rect">
            <a:avLst/>
          </a:prstGeom>
          <a:noFill/>
        </p:spPr>
      </p:pic>
      <p:sp>
        <p:nvSpPr>
          <p:cNvPr id="381955" name="Text Box 3"/>
          <p:cNvSpPr txBox="1">
            <a:spLocks noChangeArrowheads="1"/>
          </p:cNvSpPr>
          <p:nvPr/>
        </p:nvSpPr>
        <p:spPr bwMode="auto">
          <a:xfrm>
            <a:off x="195263" y="1587500"/>
            <a:ext cx="3690937" cy="4154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>
              <a:buFontTx/>
              <a:buChar char="•"/>
            </a:pP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(Chung, Lu, 03-07)   </a:t>
            </a:r>
            <a:r>
              <a:rPr lang="en-US" sz="2400" dirty="0"/>
              <a:t>a.a.s. following properties hold:</a:t>
            </a:r>
          </a:p>
          <a:p>
            <a:pPr marL="342900" indent="-342900"/>
            <a:endParaRPr lang="en-US" sz="2400" dirty="0"/>
          </a:p>
          <a:p>
            <a:pPr marL="342900" indent="-342900">
              <a:buFontTx/>
              <a:buAutoNum type="arabicPeriod"/>
            </a:pPr>
            <a:r>
              <a:rPr lang="en-US" sz="2400" dirty="0"/>
              <a:t>degree distribution follows a power law</a:t>
            </a:r>
          </a:p>
          <a:p>
            <a:pPr marL="342900" indent="-342900">
              <a:buFontTx/>
              <a:buAutoNum type="arabicPeriod"/>
            </a:pPr>
            <a:r>
              <a:rPr lang="en-US" sz="2400" dirty="0"/>
              <a:t>diameter </a:t>
            </a:r>
            <a:r>
              <a:rPr lang="en-US" sz="2400" dirty="0">
                <a:solidFill>
                  <a:srgbClr val="000099"/>
                </a:solidFill>
              </a:rPr>
              <a:t>log(</a:t>
            </a:r>
            <a:r>
              <a:rPr lang="en-US" sz="2400" i="1" dirty="0">
                <a:solidFill>
                  <a:srgbClr val="000099"/>
                </a:solidFill>
              </a:rPr>
              <a:t>n</a:t>
            </a:r>
            <a:r>
              <a:rPr lang="en-US" sz="2400" dirty="0">
                <a:solidFill>
                  <a:srgbClr val="000099"/>
                </a:solidFill>
              </a:rPr>
              <a:t>)</a:t>
            </a:r>
          </a:p>
          <a:p>
            <a:pPr marL="342900" indent="-342900">
              <a:buFontTx/>
              <a:buAutoNum type="arabicPeriod"/>
            </a:pPr>
            <a:r>
              <a:rPr lang="en-US" sz="2400" dirty="0"/>
              <a:t>average distance </a:t>
            </a:r>
          </a:p>
          <a:p>
            <a:pPr marL="342900" indent="-342900" algn="ctr"/>
            <a:r>
              <a:rPr lang="en-US" sz="2400" dirty="0" err="1">
                <a:solidFill>
                  <a:srgbClr val="000099"/>
                </a:solidFill>
              </a:rPr>
              <a:t>loglog</a:t>
            </a:r>
            <a:r>
              <a:rPr lang="en-US" sz="2400" dirty="0">
                <a:solidFill>
                  <a:srgbClr val="000099"/>
                </a:solidFill>
              </a:rPr>
              <a:t>(</a:t>
            </a:r>
            <a:r>
              <a:rPr lang="en-US" sz="2400" i="1" dirty="0">
                <a:solidFill>
                  <a:srgbClr val="000099"/>
                </a:solidFill>
              </a:rPr>
              <a:t>n</a:t>
            </a:r>
            <a:r>
              <a:rPr lang="en-US" sz="2400" dirty="0">
                <a:solidFill>
                  <a:srgbClr val="000099"/>
                </a:solidFill>
              </a:rPr>
              <a:t>)</a:t>
            </a:r>
          </a:p>
          <a:p>
            <a:pPr marL="342900" indent="-342900">
              <a:buFontTx/>
              <a:buAutoNum type="arabicPeriod" startAt="4"/>
            </a:pPr>
            <a:r>
              <a:rPr lang="en-US" sz="2400" dirty="0"/>
              <a:t>eigenvalues follows power law</a:t>
            </a:r>
          </a:p>
        </p:txBody>
      </p:sp>
      <p:sp>
        <p:nvSpPr>
          <p:cNvPr id="38195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Random power law graphs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Protean graphs</a:t>
            </a:r>
            <a:br>
              <a:rPr lang="en-CA" dirty="0" smtClean="0"/>
            </a:br>
            <a:r>
              <a:rPr lang="en-CA" sz="2800" dirty="0" smtClean="0">
                <a:solidFill>
                  <a:srgbClr val="0070C0"/>
                </a:solidFill>
              </a:rPr>
              <a:t>(</a:t>
            </a:r>
            <a:r>
              <a:rPr lang="it-IT" sz="2800" dirty="0" smtClean="0">
                <a:solidFill>
                  <a:srgbClr val="0070C0"/>
                </a:solidFill>
              </a:rPr>
              <a:t>Fortunato, Flammini, Menczer,06),</a:t>
            </a:r>
            <a:br>
              <a:rPr lang="it-IT" sz="2800" dirty="0" smtClean="0">
                <a:solidFill>
                  <a:srgbClr val="0070C0"/>
                </a:solidFill>
              </a:rPr>
            </a:br>
            <a:r>
              <a:rPr lang="it-IT" sz="2800" dirty="0" smtClean="0">
                <a:solidFill>
                  <a:srgbClr val="0070C0"/>
                </a:solidFill>
              </a:rPr>
              <a:t> </a:t>
            </a:r>
            <a:r>
              <a:rPr lang="en-CA" sz="2800" dirty="0" smtClean="0">
                <a:solidFill>
                  <a:srgbClr val="0070C0"/>
                </a:solidFill>
              </a:rPr>
              <a:t>(Łuczak, </a:t>
            </a:r>
            <a:r>
              <a:rPr lang="en-US" sz="2800" dirty="0" smtClean="0">
                <a:solidFill>
                  <a:srgbClr val="0070C0"/>
                </a:solidFill>
              </a:rPr>
              <a:t>Prałat,06), </a:t>
            </a:r>
            <a:r>
              <a:rPr lang="en-CA" sz="2800" dirty="0" smtClean="0">
                <a:solidFill>
                  <a:srgbClr val="0070C0"/>
                </a:solidFill>
              </a:rPr>
              <a:t>(Janssen, </a:t>
            </a:r>
            <a:r>
              <a:rPr lang="en-US" sz="2800" dirty="0" smtClean="0">
                <a:solidFill>
                  <a:srgbClr val="0070C0"/>
                </a:solidFill>
              </a:rPr>
              <a:t>Prałat,09) </a:t>
            </a:r>
            <a:endParaRPr lang="en-CA" sz="2800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parameter: </a:t>
            </a:r>
            <a:r>
              <a:rPr lang="el-GR" sz="2400" dirty="0" smtClean="0">
                <a:solidFill>
                  <a:srgbClr val="000099"/>
                </a:solidFill>
              </a:rPr>
              <a:t>α</a:t>
            </a:r>
            <a:r>
              <a:rPr lang="en-US" sz="2400" dirty="0" smtClean="0"/>
              <a:t> in </a:t>
            </a:r>
            <a:r>
              <a:rPr lang="en-US" sz="2400" dirty="0" smtClean="0">
                <a:solidFill>
                  <a:srgbClr val="000099"/>
                </a:solidFill>
              </a:rPr>
              <a:t>(0,1)</a:t>
            </a:r>
            <a:endParaRPr lang="en-US" sz="2400" dirty="0" smtClean="0"/>
          </a:p>
          <a:p>
            <a:r>
              <a:rPr lang="en-US" sz="2400" dirty="0" smtClean="0"/>
              <a:t>each node is ranked </a:t>
            </a:r>
            <a:r>
              <a:rPr lang="en-US" sz="2400" dirty="0" smtClean="0">
                <a:solidFill>
                  <a:srgbClr val="000099"/>
                </a:solidFill>
              </a:rPr>
              <a:t>1,2, …, n </a:t>
            </a:r>
            <a:r>
              <a:rPr lang="en-US" sz="2400" dirty="0" smtClean="0"/>
              <a:t>by some function </a:t>
            </a:r>
            <a:r>
              <a:rPr lang="en-US" sz="2400" dirty="0" smtClean="0">
                <a:solidFill>
                  <a:srgbClr val="000099"/>
                </a:solidFill>
              </a:rPr>
              <a:t>r</a:t>
            </a:r>
          </a:p>
          <a:p>
            <a:pPr lvl="1"/>
            <a:r>
              <a:rPr lang="en-US" sz="2000" dirty="0" smtClean="0">
                <a:solidFill>
                  <a:srgbClr val="000099"/>
                </a:solidFill>
              </a:rPr>
              <a:t>1 </a:t>
            </a:r>
            <a:r>
              <a:rPr lang="en-US" sz="2000" dirty="0" smtClean="0"/>
              <a:t>is best, </a:t>
            </a:r>
            <a:r>
              <a:rPr lang="en-US" sz="2000" dirty="0" smtClean="0">
                <a:solidFill>
                  <a:srgbClr val="000099"/>
                </a:solidFill>
              </a:rPr>
              <a:t>n </a:t>
            </a:r>
            <a:r>
              <a:rPr lang="en-US" sz="2000" dirty="0" smtClean="0"/>
              <a:t>is worst </a:t>
            </a:r>
          </a:p>
          <a:p>
            <a:pPr>
              <a:buNone/>
            </a:pPr>
            <a:endParaRPr lang="en-US" sz="2400" dirty="0" smtClean="0"/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at each time-step, one new node is born, one randomly node chosen dies (and ranking is updated)</a:t>
            </a:r>
          </a:p>
          <a:p>
            <a:r>
              <a:rPr lang="en-US" sz="2400" dirty="0" smtClean="0"/>
              <a:t>link probability </a:t>
            </a:r>
            <a:r>
              <a:rPr lang="en-US" sz="2400" dirty="0" smtClean="0">
                <a:solidFill>
                  <a:srgbClr val="000099"/>
                </a:solidFill>
              </a:rPr>
              <a:t>r</a:t>
            </a:r>
            <a:r>
              <a:rPr lang="en-US" sz="2400" baseline="30000" dirty="0" smtClean="0">
                <a:solidFill>
                  <a:srgbClr val="000099"/>
                </a:solidFill>
              </a:rPr>
              <a:t>-</a:t>
            </a:r>
            <a:r>
              <a:rPr lang="el-GR" sz="2400" baseline="30000" dirty="0" smtClean="0">
                <a:solidFill>
                  <a:srgbClr val="000099"/>
                </a:solidFill>
              </a:rPr>
              <a:t>α</a:t>
            </a:r>
            <a:endParaRPr lang="en-CA" sz="2400" baseline="30000" dirty="0" smtClean="0">
              <a:solidFill>
                <a:srgbClr val="000099"/>
              </a:solidFill>
            </a:endParaRPr>
          </a:p>
          <a:p>
            <a:endParaRPr lang="en-CA" sz="2400" baseline="30000" dirty="0" smtClean="0">
              <a:solidFill>
                <a:srgbClr val="000099"/>
              </a:solidFill>
            </a:endParaRPr>
          </a:p>
          <a:p>
            <a:pPr>
              <a:buNone/>
            </a:pPr>
            <a:endParaRPr lang="en-CA" sz="2400" baseline="30000" dirty="0" smtClean="0">
              <a:solidFill>
                <a:srgbClr val="000099"/>
              </a:solidFill>
            </a:endParaRPr>
          </a:p>
          <a:p>
            <a:r>
              <a:rPr lang="en-US" sz="2400" dirty="0" smtClean="0"/>
              <a:t>many ranking schemes a.a.s. lead to power law graphs: </a:t>
            </a:r>
            <a:r>
              <a:rPr lang="en-US" sz="2400" dirty="0" smtClean="0">
                <a:solidFill>
                  <a:srgbClr val="000099"/>
                </a:solidFill>
              </a:rPr>
              <a:t>random initial ranking, degree, age, etc.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Complex Networks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B9044-B1D8-49D8-9F05-DCB5B06F2D15}" type="slidenum">
              <a:rPr lang="en-US" smtClean="0"/>
              <a:pPr/>
              <a:t>49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Complex Networks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9FF8B-659E-40F1-B7F9-1D734494F0D2}" type="slidenum">
              <a:rPr lang="en-US"/>
              <a:pPr/>
              <a:t>50</a:t>
            </a:fld>
            <a:endParaRPr lang="en-US"/>
          </a:p>
        </p:txBody>
      </p:sp>
      <p:sp>
        <p:nvSpPr>
          <p:cNvPr id="199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Geometry of the web?</a:t>
            </a:r>
            <a:endParaRPr lang="en-US">
              <a:solidFill>
                <a:srgbClr val="000099"/>
              </a:solidFill>
            </a:endParaRPr>
          </a:p>
        </p:txBody>
      </p:sp>
      <p:sp>
        <p:nvSpPr>
          <p:cNvPr id="199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44650"/>
            <a:ext cx="4937125" cy="4060825"/>
          </a:xfrm>
        </p:spPr>
        <p:txBody>
          <a:bodyPr/>
          <a:lstStyle/>
          <a:p>
            <a:pPr>
              <a:buClr>
                <a:schemeClr val="tx1"/>
              </a:buClr>
            </a:pPr>
            <a:r>
              <a:rPr lang="en-US" dirty="0">
                <a:solidFill>
                  <a:srgbClr val="008000"/>
                </a:solidFill>
              </a:rPr>
              <a:t>idea</a:t>
            </a:r>
            <a:r>
              <a:rPr lang="en-US" dirty="0"/>
              <a:t>: web pages exist in a </a:t>
            </a:r>
            <a:r>
              <a:rPr lang="en-US" dirty="0">
                <a:solidFill>
                  <a:srgbClr val="FF0000"/>
                </a:solidFill>
              </a:rPr>
              <a:t>topic-space</a:t>
            </a:r>
            <a:r>
              <a:rPr lang="en-US" dirty="0"/>
              <a:t> </a:t>
            </a:r>
            <a:endParaRPr lang="en-US" dirty="0" smtClean="0"/>
          </a:p>
          <a:p>
            <a:pPr>
              <a:buClr>
                <a:schemeClr val="tx1"/>
              </a:buClr>
              <a:buFontTx/>
              <a:buNone/>
            </a:pPr>
            <a:endParaRPr lang="en-US" sz="1600" dirty="0"/>
          </a:p>
          <a:p>
            <a:pPr lvl="1" algn="just"/>
            <a:r>
              <a:rPr lang="en-US" dirty="0"/>
              <a:t>a page is more likely to link to pages close to it in topic-space</a:t>
            </a:r>
          </a:p>
          <a:p>
            <a:pPr>
              <a:buFontTx/>
              <a:buNone/>
            </a:pPr>
            <a:endParaRPr lang="en-US" i="1" dirty="0"/>
          </a:p>
        </p:txBody>
      </p:sp>
      <p:pic>
        <p:nvPicPr>
          <p:cNvPr id="889858" name="Picture 2" descr="http://datamining.typepad.com/photos/uncategorized/187_big0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54890" y="2010229"/>
            <a:ext cx="3357638" cy="2997199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Complex Networks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E1133-B7CF-4279-8971-77A3B15A4E14}" type="slidenum">
              <a:rPr lang="en-US"/>
              <a:pPr/>
              <a:t>51</a:t>
            </a:fld>
            <a:endParaRPr lang="en-US" dirty="0"/>
          </a:p>
        </p:txBody>
      </p:sp>
      <p:sp>
        <p:nvSpPr>
          <p:cNvPr id="393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geometric graphs</a:t>
            </a:r>
          </a:p>
        </p:txBody>
      </p:sp>
      <p:sp>
        <p:nvSpPr>
          <p:cNvPr id="393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81438" y="1585913"/>
            <a:ext cx="4484687" cy="3713162"/>
          </a:xfrm>
        </p:spPr>
        <p:txBody>
          <a:bodyPr/>
          <a:lstStyle/>
          <a:p>
            <a:pPr>
              <a:lnSpc>
                <a:spcPct val="80000"/>
              </a:lnSpc>
              <a:buClr>
                <a:schemeClr val="tx1"/>
              </a:buClr>
            </a:pPr>
            <a:r>
              <a:rPr lang="en-US" sz="2800" dirty="0" smtClean="0"/>
              <a:t>nodes </a:t>
            </a:r>
            <a:r>
              <a:rPr lang="en-US" sz="2800" dirty="0"/>
              <a:t>are randomly </a:t>
            </a:r>
            <a:r>
              <a:rPr lang="en-US" sz="2800" dirty="0" smtClean="0"/>
              <a:t>placed in some compact subset of </a:t>
            </a:r>
            <a:r>
              <a:rPr lang="en-US" sz="2800" dirty="0" smtClean="0">
                <a:solidFill>
                  <a:srgbClr val="000099"/>
                </a:solidFill>
              </a:rPr>
              <a:t>m</a:t>
            </a:r>
            <a:r>
              <a:rPr lang="en-US" sz="2800" dirty="0" smtClean="0"/>
              <a:t>-dimensional space</a:t>
            </a:r>
            <a:endParaRPr lang="en-US" sz="2800" dirty="0"/>
          </a:p>
          <a:p>
            <a:pPr>
              <a:lnSpc>
                <a:spcPct val="80000"/>
              </a:lnSpc>
              <a:buFontTx/>
              <a:buNone/>
            </a:pPr>
            <a:endParaRPr lang="en-US" sz="2800" dirty="0"/>
          </a:p>
          <a:p>
            <a:pPr>
              <a:lnSpc>
                <a:spcPct val="80000"/>
              </a:lnSpc>
            </a:pPr>
            <a:r>
              <a:rPr lang="en-US" sz="2800" dirty="0"/>
              <a:t>nodes are joined </a:t>
            </a:r>
            <a:r>
              <a:rPr lang="en-US" sz="2800" dirty="0" smtClean="0"/>
              <a:t>if their </a:t>
            </a:r>
            <a:r>
              <a:rPr lang="en-US" sz="2800" dirty="0"/>
              <a:t>distance is less than </a:t>
            </a:r>
            <a:r>
              <a:rPr lang="en-US" sz="2800" dirty="0">
                <a:solidFill>
                  <a:srgbClr val="FF0000"/>
                </a:solidFill>
              </a:rPr>
              <a:t>a threshold </a:t>
            </a:r>
            <a:r>
              <a:rPr lang="en-US" sz="2800" dirty="0" smtClean="0">
                <a:solidFill>
                  <a:srgbClr val="FF0000"/>
                </a:solidFill>
              </a:rPr>
              <a:t>value</a:t>
            </a:r>
          </a:p>
          <a:p>
            <a:pPr>
              <a:lnSpc>
                <a:spcPct val="80000"/>
              </a:lnSpc>
              <a:buNone/>
            </a:pPr>
            <a:r>
              <a:rPr lang="en-US" sz="2800" dirty="0" smtClean="0">
                <a:solidFill>
                  <a:srgbClr val="0070C0"/>
                </a:solidFill>
              </a:rPr>
              <a:t>    (Penrose, 03)</a:t>
            </a:r>
            <a:endParaRPr lang="en-US" sz="2800" dirty="0">
              <a:solidFill>
                <a:srgbClr val="0070C0"/>
              </a:solidFill>
            </a:endParaRPr>
          </a:p>
          <a:p>
            <a:pPr>
              <a:lnSpc>
                <a:spcPct val="80000"/>
              </a:lnSpc>
            </a:pPr>
            <a:endParaRPr lang="en-US" sz="2800" dirty="0"/>
          </a:p>
        </p:txBody>
      </p:sp>
      <p:pic>
        <p:nvPicPr>
          <p:cNvPr id="393220" name="Picture 4"/>
          <p:cNvPicPr>
            <a:picLocks noChangeAspect="1" noChangeArrowheads="1"/>
          </p:cNvPicPr>
          <p:nvPr/>
        </p:nvPicPr>
        <p:blipFill>
          <a:blip r:embed="rId2"/>
          <a:srcRect l="589" t="641" r="589" b="641"/>
          <a:stretch>
            <a:fillRect/>
          </a:stretch>
        </p:blipFill>
        <p:spPr bwMode="auto">
          <a:xfrm>
            <a:off x="404812" y="1702707"/>
            <a:ext cx="3410063" cy="313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Simulation with 5000 nodes</a:t>
            </a:r>
            <a:endParaRPr lang="en-GB" dirty="0"/>
          </a:p>
        </p:txBody>
      </p:sp>
      <p:pic>
        <p:nvPicPr>
          <p:cNvPr id="6" name="Content Placeholder 5" descr="a0_7b0_15geom.gif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09018" y="1411514"/>
            <a:ext cx="4527211" cy="4527211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Complex Networks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B9044-B1D8-49D8-9F05-DCB5B06F2D15}" type="slidenum">
              <a:rPr lang="en-US" smtClean="0"/>
              <a:pPr/>
              <a:t>52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Complex Networks</a:t>
            </a:r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15E54-82B8-4DE1-8D1C-CA4A97E9C962}" type="slidenum">
              <a:rPr lang="en-US"/>
              <a:pPr/>
              <a:t>53</a:t>
            </a:fld>
            <a:endParaRPr lang="en-US"/>
          </a:p>
        </p:txBody>
      </p:sp>
      <p:sp>
        <p:nvSpPr>
          <p:cNvPr id="20070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09600" y="550863"/>
            <a:ext cx="8229600" cy="1143000"/>
          </a:xfrm>
        </p:spPr>
        <p:txBody>
          <a:bodyPr/>
          <a:lstStyle/>
          <a:p>
            <a:r>
              <a:rPr lang="en-US" sz="2800" b="1" dirty="0">
                <a:solidFill>
                  <a:srgbClr val="FF0000"/>
                </a:solidFill>
              </a:rPr>
              <a:t>G</a:t>
            </a:r>
            <a:r>
              <a:rPr lang="en-US" sz="2800" dirty="0">
                <a:solidFill>
                  <a:srgbClr val="FF0000"/>
                </a:solidFill>
              </a:rPr>
              <a:t>eometric </a:t>
            </a:r>
            <a:r>
              <a:rPr lang="en-US" sz="2800" b="1" dirty="0">
                <a:solidFill>
                  <a:srgbClr val="FF0000"/>
                </a:solidFill>
              </a:rPr>
              <a:t>P</a:t>
            </a:r>
            <a:r>
              <a:rPr lang="en-US" sz="2800" dirty="0">
                <a:solidFill>
                  <a:srgbClr val="FF0000"/>
                </a:solidFill>
              </a:rPr>
              <a:t>referential </a:t>
            </a:r>
            <a:r>
              <a:rPr lang="en-US" sz="2800" b="1" dirty="0">
                <a:solidFill>
                  <a:srgbClr val="FF0000"/>
                </a:solidFill>
              </a:rPr>
              <a:t>A</a:t>
            </a:r>
            <a:r>
              <a:rPr lang="en-US" sz="2800" dirty="0">
                <a:solidFill>
                  <a:srgbClr val="FF0000"/>
                </a:solidFill>
              </a:rPr>
              <a:t>ttachment (</a:t>
            </a:r>
            <a:r>
              <a:rPr lang="en-US" sz="2800" b="1" dirty="0">
                <a:solidFill>
                  <a:srgbClr val="FF0000"/>
                </a:solidFill>
              </a:rPr>
              <a:t>GPA</a:t>
            </a:r>
            <a:r>
              <a:rPr lang="en-US" sz="2800" dirty="0">
                <a:solidFill>
                  <a:srgbClr val="FF0000"/>
                </a:solidFill>
              </a:rPr>
              <a:t>) model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>
                <a:solidFill>
                  <a:srgbClr val="0070C0"/>
                </a:solidFill>
              </a:rPr>
              <a:t>(Flaxman, Frieze, Vera, 04/07)</a:t>
            </a:r>
            <a:r>
              <a:rPr lang="en-US" sz="4000" dirty="0"/>
              <a:t/>
            </a:r>
            <a:br>
              <a:rPr lang="en-US" sz="4000" dirty="0"/>
            </a:br>
            <a:endParaRPr lang="en-US" sz="4000" dirty="0"/>
          </a:p>
        </p:txBody>
      </p:sp>
      <p:sp>
        <p:nvSpPr>
          <p:cNvPr id="200709" name="Rectangle 5"/>
          <p:cNvSpPr>
            <a:spLocks noChangeArrowheads="1"/>
          </p:cNvSpPr>
          <p:nvPr/>
        </p:nvSpPr>
        <p:spPr bwMode="auto">
          <a:xfrm>
            <a:off x="190500" y="1616755"/>
            <a:ext cx="5368471" cy="4893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buFontTx/>
              <a:buChar char="•"/>
            </a:pPr>
            <a:r>
              <a:rPr lang="en-US" sz="2400" dirty="0"/>
              <a:t>nodes chosen on-line u.a.r. from sphere with surface area </a:t>
            </a:r>
            <a:r>
              <a:rPr lang="en-US" sz="2400" dirty="0">
                <a:solidFill>
                  <a:srgbClr val="000099"/>
                </a:solidFill>
              </a:rPr>
              <a:t>1</a:t>
            </a:r>
          </a:p>
          <a:p>
            <a:pPr marL="342900" indent="-342900">
              <a:buFontTx/>
              <a:buChar char="•"/>
            </a:pPr>
            <a:r>
              <a:rPr lang="en-US" sz="2400" dirty="0"/>
              <a:t>each node has a region of influence   with constant radius</a:t>
            </a:r>
          </a:p>
          <a:p>
            <a:pPr marL="342900" indent="-342900">
              <a:buFontTx/>
              <a:buChar char="•"/>
            </a:pPr>
            <a:r>
              <a:rPr lang="en-US" sz="2400" dirty="0"/>
              <a:t>new nodes have </a:t>
            </a:r>
            <a:r>
              <a:rPr lang="en-US" sz="2400" dirty="0">
                <a:solidFill>
                  <a:srgbClr val="000099"/>
                </a:solidFill>
              </a:rPr>
              <a:t>m</a:t>
            </a:r>
            <a:r>
              <a:rPr lang="en-US" sz="2400" dirty="0"/>
              <a:t> </a:t>
            </a:r>
            <a:r>
              <a:rPr lang="en-US" sz="2400" dirty="0" smtClean="0"/>
              <a:t>neighbours</a:t>
            </a:r>
            <a:r>
              <a:rPr lang="en-US" sz="2400" dirty="0"/>
              <a:t>, chosen</a:t>
            </a:r>
          </a:p>
          <a:p>
            <a:pPr marL="800100" lvl="1" indent="-342900">
              <a:buFontTx/>
              <a:buAutoNum type="alphaLcParenR"/>
            </a:pPr>
            <a:r>
              <a:rPr lang="en-US" sz="2400" dirty="0"/>
              <a:t>by preferential attachment; and</a:t>
            </a:r>
          </a:p>
          <a:p>
            <a:pPr marL="800100" lvl="1" indent="-342900">
              <a:buClr>
                <a:schemeClr val="tx1"/>
              </a:buClr>
              <a:buFontTx/>
              <a:buAutoNum type="alphaLcParenR"/>
            </a:pPr>
            <a:r>
              <a:rPr lang="en-US" sz="2400" dirty="0">
                <a:solidFill>
                  <a:srgbClr val="008000"/>
                </a:solidFill>
              </a:rPr>
              <a:t>only</a:t>
            </a:r>
            <a:r>
              <a:rPr lang="en-US" sz="2400" dirty="0"/>
              <a:t> in the region of </a:t>
            </a:r>
            <a:r>
              <a:rPr lang="en-US" sz="2400" dirty="0" smtClean="0"/>
              <a:t>influence</a:t>
            </a:r>
          </a:p>
          <a:p>
            <a:pPr marL="800100" lvl="1" indent="-342900">
              <a:buClr>
                <a:schemeClr val="tx1"/>
              </a:buClr>
              <a:buFontTx/>
              <a:buAutoNum type="alphaLcParenR"/>
            </a:pPr>
            <a:endParaRPr lang="en-US" sz="2400" dirty="0" smtClean="0"/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    a.a.s. model generates power law,   </a:t>
            </a:r>
          </a:p>
          <a:p>
            <a:r>
              <a:rPr lang="en-US" sz="2400" dirty="0" smtClean="0"/>
              <a:t>     low diameter graphs with small   </a:t>
            </a:r>
          </a:p>
          <a:p>
            <a:r>
              <a:rPr lang="en-US" sz="2400" dirty="0" smtClean="0"/>
              <a:t>     separators/sparse cuts</a:t>
            </a:r>
          </a:p>
          <a:p>
            <a:pPr marL="342900" indent="-342900">
              <a:buClr>
                <a:schemeClr val="tx1"/>
              </a:buClr>
              <a:buFont typeface="Arial" pitchFamily="34" charset="0"/>
              <a:buChar char="•"/>
            </a:pPr>
            <a:endParaRPr lang="en-US" sz="2400" dirty="0"/>
          </a:p>
        </p:txBody>
      </p:sp>
      <p:pic>
        <p:nvPicPr>
          <p:cNvPr id="200714" name="Picture 10" descr="spaa"/>
          <p:cNvPicPr>
            <a:picLocks noChangeAspect="1" noChangeArrowheads="1"/>
          </p:cNvPicPr>
          <p:nvPr/>
        </p:nvPicPr>
        <p:blipFill>
          <a:blip r:embed="rId2"/>
          <a:srcRect l="1196" r="3589"/>
          <a:stretch>
            <a:fillRect/>
          </a:stretch>
        </p:blipFill>
        <p:spPr bwMode="auto">
          <a:xfrm>
            <a:off x="5868746" y="1984376"/>
            <a:ext cx="2927364" cy="283436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Complex Networks</a:t>
            </a:r>
            <a:endParaRPr lang="en-US"/>
          </a:p>
        </p:txBody>
      </p:sp>
      <p:sp>
        <p:nvSpPr>
          <p:cNvPr id="6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7435D-0372-4334-AB3E-CE9272DDC16A}" type="slidenum">
              <a:rPr lang="en-US"/>
              <a:pPr/>
              <a:t>54</a:t>
            </a:fld>
            <a:endParaRPr lang="en-US"/>
          </a:p>
        </p:txBody>
      </p:sp>
      <p:sp>
        <p:nvSpPr>
          <p:cNvPr id="201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tx1"/>
                </a:solidFill>
              </a:rPr>
              <a:t>S</a:t>
            </a:r>
            <a:r>
              <a:rPr lang="en-US" sz="3200" dirty="0">
                <a:solidFill>
                  <a:schemeClr val="tx1"/>
                </a:solidFill>
              </a:rPr>
              <a:t>patially </a:t>
            </a:r>
            <a:r>
              <a:rPr lang="en-US" sz="3200" b="1" dirty="0">
                <a:solidFill>
                  <a:schemeClr val="tx1"/>
                </a:solidFill>
              </a:rPr>
              <a:t>P</a:t>
            </a:r>
            <a:r>
              <a:rPr lang="en-US" sz="3200" dirty="0">
                <a:solidFill>
                  <a:schemeClr val="tx1"/>
                </a:solidFill>
              </a:rPr>
              <a:t>referred </a:t>
            </a:r>
            <a:r>
              <a:rPr lang="en-US" sz="3200" b="1" dirty="0">
                <a:solidFill>
                  <a:schemeClr val="tx1"/>
                </a:solidFill>
              </a:rPr>
              <a:t>A</a:t>
            </a:r>
            <a:r>
              <a:rPr lang="en-US" sz="3200" dirty="0">
                <a:solidFill>
                  <a:schemeClr val="tx1"/>
                </a:solidFill>
              </a:rPr>
              <a:t>ttachment (</a:t>
            </a:r>
            <a:r>
              <a:rPr lang="en-US" sz="3200" b="1" dirty="0">
                <a:solidFill>
                  <a:schemeClr val="tx1"/>
                </a:solidFill>
              </a:rPr>
              <a:t>SPA</a:t>
            </a:r>
            <a:r>
              <a:rPr lang="en-US" sz="3200" dirty="0">
                <a:solidFill>
                  <a:schemeClr val="tx1"/>
                </a:solidFill>
              </a:rPr>
              <a:t>) model</a:t>
            </a:r>
            <a:r>
              <a:rPr lang="en-US" sz="3600" dirty="0">
                <a:solidFill>
                  <a:schemeClr val="tx1"/>
                </a:solidFill>
              </a:rPr>
              <a:t> </a:t>
            </a:r>
            <a:br>
              <a:rPr lang="en-US" sz="36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rgbClr val="0070C0"/>
                </a:solidFill>
              </a:rPr>
              <a:t>(Aiello,Bonato,Cooper,Janssen,Prałat, 08)</a:t>
            </a:r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484313"/>
            <a:ext cx="7783513" cy="4525962"/>
          </a:xfrm>
        </p:spPr>
        <p:txBody>
          <a:bodyPr/>
          <a:lstStyle/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en-US" sz="2400" dirty="0">
                <a:solidFill>
                  <a:srgbClr val="008000"/>
                </a:solidFill>
              </a:rPr>
              <a:t>parameter</a:t>
            </a:r>
            <a:r>
              <a:rPr lang="en-US" sz="2400" dirty="0"/>
              <a:t>: </a:t>
            </a:r>
            <a:r>
              <a:rPr lang="en-US" sz="2400" dirty="0">
                <a:solidFill>
                  <a:srgbClr val="000099"/>
                </a:solidFill>
              </a:rPr>
              <a:t>p</a:t>
            </a:r>
            <a:r>
              <a:rPr lang="en-US" sz="2400" dirty="0"/>
              <a:t> a real number in </a:t>
            </a:r>
            <a:r>
              <a:rPr lang="en-US" sz="2400" dirty="0">
                <a:solidFill>
                  <a:srgbClr val="000099"/>
                </a:solidFill>
              </a:rPr>
              <a:t>(0,1]</a:t>
            </a:r>
            <a:endParaRPr lang="en-US" sz="2400" dirty="0"/>
          </a:p>
          <a:p>
            <a:pPr>
              <a:lnSpc>
                <a:spcPct val="90000"/>
              </a:lnSpc>
            </a:pPr>
            <a:r>
              <a:rPr lang="en-US" sz="2400" dirty="0"/>
              <a:t>nodes on a sphere with surface area </a:t>
            </a:r>
            <a:r>
              <a:rPr lang="en-US" sz="2400" dirty="0">
                <a:solidFill>
                  <a:srgbClr val="000099"/>
                </a:solidFill>
              </a:rPr>
              <a:t>1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at time </a:t>
            </a:r>
            <a:r>
              <a:rPr lang="en-US" sz="2400" dirty="0">
                <a:solidFill>
                  <a:srgbClr val="000099"/>
                </a:solidFill>
              </a:rPr>
              <a:t>0</a:t>
            </a:r>
            <a:r>
              <a:rPr lang="en-US" sz="2400" dirty="0"/>
              <a:t>, add a single node chosen u.a.r.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at time </a:t>
            </a:r>
            <a:r>
              <a:rPr lang="en-US" sz="2400" dirty="0">
                <a:solidFill>
                  <a:srgbClr val="000099"/>
                </a:solidFill>
              </a:rPr>
              <a:t>t</a:t>
            </a:r>
            <a:r>
              <a:rPr lang="en-US" sz="2400" dirty="0"/>
              <a:t>, each node </a:t>
            </a:r>
            <a:r>
              <a:rPr lang="en-US" sz="2400" dirty="0">
                <a:solidFill>
                  <a:srgbClr val="000099"/>
                </a:solidFill>
              </a:rPr>
              <a:t>v</a:t>
            </a:r>
            <a:r>
              <a:rPr lang="en-US" sz="2400" dirty="0"/>
              <a:t> has a </a:t>
            </a:r>
            <a:r>
              <a:rPr lang="en-US" sz="2400" dirty="0">
                <a:solidFill>
                  <a:srgbClr val="008000"/>
                </a:solidFill>
              </a:rPr>
              <a:t>region of influence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000099"/>
                </a:solidFill>
              </a:rPr>
              <a:t>B</a:t>
            </a:r>
            <a:r>
              <a:rPr lang="en-US" sz="2400" baseline="-25000" dirty="0">
                <a:solidFill>
                  <a:srgbClr val="000099"/>
                </a:solidFill>
              </a:rPr>
              <a:t>v</a:t>
            </a:r>
            <a:r>
              <a:rPr lang="en-US" sz="2400" dirty="0"/>
              <a:t> with radius</a:t>
            </a:r>
          </a:p>
          <a:p>
            <a:pPr>
              <a:lnSpc>
                <a:spcPct val="90000"/>
              </a:lnSpc>
            </a:pPr>
            <a:endParaRPr lang="en-US" sz="2400" dirty="0"/>
          </a:p>
          <a:p>
            <a:pPr>
              <a:lnSpc>
                <a:spcPct val="90000"/>
              </a:lnSpc>
            </a:pPr>
            <a:endParaRPr lang="en-US" sz="2400" dirty="0"/>
          </a:p>
          <a:p>
            <a:pPr>
              <a:lnSpc>
                <a:spcPct val="90000"/>
              </a:lnSpc>
            </a:pPr>
            <a:endParaRPr lang="en-US" sz="2400" dirty="0"/>
          </a:p>
          <a:p>
            <a:pPr>
              <a:lnSpc>
                <a:spcPct val="90000"/>
              </a:lnSpc>
            </a:pPr>
            <a:r>
              <a:rPr lang="en-US" sz="2400" dirty="0"/>
              <a:t>at time </a:t>
            </a:r>
            <a:r>
              <a:rPr lang="en-US" sz="2400" dirty="0">
                <a:solidFill>
                  <a:srgbClr val="000099"/>
                </a:solidFill>
              </a:rPr>
              <a:t>t+1</a:t>
            </a:r>
            <a:r>
              <a:rPr lang="en-US" sz="2400" dirty="0"/>
              <a:t>, node </a:t>
            </a:r>
            <a:r>
              <a:rPr lang="en-US" sz="2400" dirty="0">
                <a:solidFill>
                  <a:srgbClr val="000099"/>
                </a:solidFill>
              </a:rPr>
              <a:t>z</a:t>
            </a:r>
            <a:r>
              <a:rPr lang="en-US" sz="2400" dirty="0"/>
              <a:t> is chosen u.a.r. on sphere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if </a:t>
            </a:r>
            <a:r>
              <a:rPr lang="en-US" sz="2400" dirty="0">
                <a:solidFill>
                  <a:srgbClr val="000099"/>
                </a:solidFill>
              </a:rPr>
              <a:t>z</a:t>
            </a:r>
            <a:r>
              <a:rPr lang="en-US" sz="2400" dirty="0"/>
              <a:t> is in </a:t>
            </a:r>
            <a:r>
              <a:rPr lang="en-US" sz="2400" dirty="0">
                <a:solidFill>
                  <a:srgbClr val="000099"/>
                </a:solidFill>
              </a:rPr>
              <a:t>B</a:t>
            </a:r>
            <a:r>
              <a:rPr lang="en-US" sz="2400" baseline="-25000" dirty="0">
                <a:solidFill>
                  <a:srgbClr val="000099"/>
                </a:solidFill>
              </a:rPr>
              <a:t>v</a:t>
            </a:r>
            <a:r>
              <a:rPr lang="en-US" sz="2400" dirty="0"/>
              <a:t>, then add </a:t>
            </a:r>
            <a:r>
              <a:rPr lang="en-US" sz="2400" dirty="0" err="1" smtClean="0">
                <a:solidFill>
                  <a:srgbClr val="000099"/>
                </a:solidFill>
              </a:rPr>
              <a:t>vz</a:t>
            </a:r>
            <a:r>
              <a:rPr lang="en-US" sz="2400" dirty="0" smtClean="0">
                <a:solidFill>
                  <a:srgbClr val="000099"/>
                </a:solidFill>
              </a:rPr>
              <a:t> </a:t>
            </a:r>
            <a:r>
              <a:rPr lang="en-US" sz="2400" dirty="0"/>
              <a:t>independently with probability</a:t>
            </a:r>
            <a:r>
              <a:rPr lang="en-US" sz="2400" dirty="0">
                <a:solidFill>
                  <a:srgbClr val="000099"/>
                </a:solidFill>
              </a:rPr>
              <a:t> p</a:t>
            </a:r>
          </a:p>
        </p:txBody>
      </p:sp>
      <p:graphicFrame>
        <p:nvGraphicFramePr>
          <p:cNvPr id="201732" name="Object 4"/>
          <p:cNvGraphicFramePr>
            <a:graphicFrameLocks noChangeAspect="1"/>
          </p:cNvGraphicFramePr>
          <p:nvPr>
            <p:ph sz="quarter" idx="3"/>
          </p:nvPr>
        </p:nvGraphicFramePr>
        <p:xfrm>
          <a:off x="3259138" y="3208338"/>
          <a:ext cx="1727200" cy="1023937"/>
        </p:xfrm>
        <a:graphic>
          <a:graphicData uri="http://schemas.openxmlformats.org/presentationml/2006/ole">
            <p:oleObj spid="_x0000_s823298" name="Equation" r:id="rId3" imgW="749160" imgH="44424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Complex Networks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ADE0A-2308-4D10-B300-35149CED747C}" type="slidenum">
              <a:rPr lang="en-US"/>
              <a:pPr/>
              <a:t>55</a:t>
            </a:fld>
            <a:endParaRPr lang="en-US"/>
          </a:p>
        </p:txBody>
      </p:sp>
      <p:pic>
        <p:nvPicPr>
          <p:cNvPr id="265262" name="Picture 46" descr="5k_p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2588" y="1457325"/>
            <a:ext cx="3971925" cy="3944938"/>
          </a:xfrm>
          <a:prstGeom prst="rect">
            <a:avLst/>
          </a:prstGeom>
          <a:noFill/>
        </p:spPr>
      </p:pic>
      <p:pic>
        <p:nvPicPr>
          <p:cNvPr id="265263" name="Picture 47" descr="plot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35488" y="1458913"/>
            <a:ext cx="4344987" cy="4156075"/>
          </a:xfrm>
          <a:prstGeom prst="rect">
            <a:avLst/>
          </a:prstGeom>
          <a:noFill/>
        </p:spPr>
      </p:pic>
      <p:sp>
        <p:nvSpPr>
          <p:cNvPr id="265265" name="Rectangle 4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Simulation: </a:t>
            </a:r>
            <a:r>
              <a:rPr lang="en-US" dirty="0">
                <a:solidFill>
                  <a:srgbClr val="000099"/>
                </a:solidFill>
              </a:rPr>
              <a:t>p=1, t=5,000</a:t>
            </a:r>
            <a:r>
              <a:rPr lang="en-US" dirty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Complex Networks</a:t>
            </a:r>
            <a:endParaRPr lang="en-US"/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E0DC4-AD01-440F-81FF-CC755BC327F1}" type="slidenum">
              <a:rPr lang="en-US"/>
              <a:pPr/>
              <a:t>56</a:t>
            </a:fld>
            <a:endParaRPr lang="en-US"/>
          </a:p>
        </p:txBody>
      </p:sp>
      <p:pic>
        <p:nvPicPr>
          <p:cNvPr id="20275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2988" y="1220788"/>
            <a:ext cx="4646612" cy="4414837"/>
          </a:xfrm>
          <a:prstGeom prst="rect">
            <a:avLst/>
          </a:prstGeom>
          <a:noFill/>
        </p:spPr>
      </p:pic>
      <p:sp>
        <p:nvSpPr>
          <p:cNvPr id="202755" name="Text Box 3"/>
          <p:cNvSpPr txBox="1">
            <a:spLocks noChangeArrowheads="1"/>
          </p:cNvSpPr>
          <p:nvPr/>
        </p:nvSpPr>
        <p:spPr bwMode="auto">
          <a:xfrm>
            <a:off x="5848350" y="1557338"/>
            <a:ext cx="27559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en-US" sz="2400"/>
          </a:p>
        </p:txBody>
      </p:sp>
      <p:sp>
        <p:nvSpPr>
          <p:cNvPr id="202756" name="Text Box 4"/>
          <p:cNvSpPr txBox="1">
            <a:spLocks noChangeArrowheads="1"/>
          </p:cNvSpPr>
          <p:nvPr/>
        </p:nvSpPr>
        <p:spPr bwMode="auto">
          <a:xfrm>
            <a:off x="6084888" y="1484313"/>
            <a:ext cx="26638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en-US" sz="2400"/>
          </a:p>
        </p:txBody>
      </p:sp>
      <p:sp>
        <p:nvSpPr>
          <p:cNvPr id="202757" name="Text Box 5"/>
          <p:cNvSpPr txBox="1">
            <a:spLocks noChangeArrowheads="1"/>
          </p:cNvSpPr>
          <p:nvPr/>
        </p:nvSpPr>
        <p:spPr bwMode="auto">
          <a:xfrm>
            <a:off x="5867400" y="1196975"/>
            <a:ext cx="327660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Tx/>
              <a:buChar char="•"/>
            </a:pPr>
            <a:r>
              <a:rPr lang="en-US" sz="2400" dirty="0"/>
              <a:t> as nodes are born,</a:t>
            </a:r>
          </a:p>
          <a:p>
            <a:r>
              <a:rPr lang="en-US" sz="2400" dirty="0"/>
              <a:t>  they are more</a:t>
            </a:r>
          </a:p>
          <a:p>
            <a:r>
              <a:rPr lang="en-US" sz="2400" dirty="0"/>
              <a:t>  likely to enter some</a:t>
            </a:r>
          </a:p>
          <a:p>
            <a:r>
              <a:rPr lang="en-US" sz="2400" dirty="0"/>
              <a:t>  </a:t>
            </a:r>
            <a:r>
              <a:rPr lang="en-US" sz="2400" i="1" dirty="0">
                <a:solidFill>
                  <a:srgbClr val="000099"/>
                </a:solidFill>
              </a:rPr>
              <a:t>B</a:t>
            </a:r>
            <a:r>
              <a:rPr lang="en-US" sz="2400" i="1" baseline="-25000" dirty="0">
                <a:solidFill>
                  <a:srgbClr val="000099"/>
                </a:solidFill>
              </a:rPr>
              <a:t>v</a:t>
            </a:r>
            <a:r>
              <a:rPr lang="en-US" sz="2400" i="1" dirty="0">
                <a:solidFill>
                  <a:srgbClr val="000099"/>
                </a:solidFill>
              </a:rPr>
              <a:t>  </a:t>
            </a:r>
            <a:r>
              <a:rPr lang="en-US" sz="2400" dirty="0"/>
              <a:t>with larger </a:t>
            </a:r>
          </a:p>
          <a:p>
            <a:r>
              <a:rPr lang="en-US" sz="2400" dirty="0"/>
              <a:t>  radius </a:t>
            </a:r>
            <a:r>
              <a:rPr lang="en-US" sz="2400" dirty="0" smtClean="0"/>
              <a:t>(degree</a:t>
            </a:r>
            <a:r>
              <a:rPr lang="en-US" sz="2400" dirty="0"/>
              <a:t>)</a:t>
            </a:r>
          </a:p>
        </p:txBody>
      </p:sp>
      <p:sp>
        <p:nvSpPr>
          <p:cNvPr id="202758" name="Text Box 6"/>
          <p:cNvSpPr txBox="1">
            <a:spLocks noChangeArrowheads="1"/>
          </p:cNvSpPr>
          <p:nvPr/>
        </p:nvSpPr>
        <p:spPr bwMode="auto">
          <a:xfrm>
            <a:off x="5883275" y="3429000"/>
            <a:ext cx="2447925" cy="191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Tx/>
              <a:buChar char="•"/>
            </a:pPr>
            <a:r>
              <a:rPr lang="en-US" sz="2400"/>
              <a:t> over time, a</a:t>
            </a:r>
          </a:p>
          <a:p>
            <a:r>
              <a:rPr lang="en-US" sz="2400"/>
              <a:t>  power law</a:t>
            </a:r>
          </a:p>
          <a:p>
            <a:r>
              <a:rPr lang="en-US" sz="2400"/>
              <a:t>  degree</a:t>
            </a:r>
          </a:p>
          <a:p>
            <a:r>
              <a:rPr lang="en-US" sz="2400"/>
              <a:t>  distribution</a:t>
            </a:r>
          </a:p>
          <a:p>
            <a:r>
              <a:rPr lang="en-US" sz="2400"/>
              <a:t>  results</a:t>
            </a:r>
          </a:p>
        </p:txBody>
      </p:sp>
      <p:pic>
        <p:nvPicPr>
          <p:cNvPr id="202759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58863" y="1223963"/>
            <a:ext cx="4621212" cy="437991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757" grpId="0"/>
      <p:bldP spid="202758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Complex Networks</a:t>
            </a:r>
            <a:endParaRPr lang="en-US"/>
          </a:p>
        </p:txBody>
      </p:sp>
      <p:sp>
        <p:nvSpPr>
          <p:cNvPr id="1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48938-B1D1-4983-8275-B5876A4BB77A}" type="slidenum">
              <a:rPr lang="en-US"/>
              <a:pPr/>
              <a:t>57</a:t>
            </a:fld>
            <a:endParaRPr lang="en-US"/>
          </a:p>
        </p:txBody>
      </p:sp>
      <p:pic>
        <p:nvPicPr>
          <p:cNvPr id="269319" name="Picture 7" descr="thm1a_Page_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70225" y="1465263"/>
            <a:ext cx="3314700" cy="1292225"/>
          </a:xfrm>
          <a:prstGeom prst="rect">
            <a:avLst/>
          </a:prstGeom>
          <a:noFill/>
        </p:spPr>
      </p:pic>
      <p:sp>
        <p:nvSpPr>
          <p:cNvPr id="269321" name="Rectangle 9"/>
          <p:cNvSpPr>
            <a:spLocks noChangeArrowheads="1"/>
          </p:cNvSpPr>
          <p:nvPr/>
        </p:nvSpPr>
        <p:spPr bwMode="auto">
          <a:xfrm>
            <a:off x="3832225" y="5399088"/>
            <a:ext cx="3090863" cy="31908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power law exponent </a:t>
            </a:r>
            <a:r>
              <a:rPr lang="en-US" i="1">
                <a:solidFill>
                  <a:srgbClr val="000099"/>
                </a:solidFill>
              </a:rPr>
              <a:t>1+1/p</a:t>
            </a:r>
          </a:p>
        </p:txBody>
      </p:sp>
      <p:sp>
        <p:nvSpPr>
          <p:cNvPr id="269323" name="Rectangle 11"/>
          <p:cNvSpPr>
            <a:spLocks noChangeArrowheads="1"/>
          </p:cNvSpPr>
          <p:nvPr/>
        </p:nvSpPr>
        <p:spPr bwMode="auto">
          <a:xfrm>
            <a:off x="377825" y="5545138"/>
            <a:ext cx="2901950" cy="31908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69324" name="Rectangle 12"/>
          <p:cNvSpPr>
            <a:spLocks noChangeArrowheads="1"/>
          </p:cNvSpPr>
          <p:nvPr/>
        </p:nvSpPr>
        <p:spPr bwMode="auto">
          <a:xfrm>
            <a:off x="420688" y="3527425"/>
            <a:ext cx="1408112" cy="39211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pic>
        <p:nvPicPr>
          <p:cNvPr id="269326" name="Picture 14" descr="thmb_Page_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3475" y="3624263"/>
            <a:ext cx="7388225" cy="1528762"/>
          </a:xfrm>
          <a:prstGeom prst="rect">
            <a:avLst/>
          </a:prstGeom>
          <a:noFill/>
        </p:spPr>
      </p:pic>
      <p:sp>
        <p:nvSpPr>
          <p:cNvPr id="269327" name="Text Box 15"/>
          <p:cNvSpPr txBox="1">
            <a:spLocks noChangeArrowheads="1"/>
          </p:cNvSpPr>
          <p:nvPr/>
        </p:nvSpPr>
        <p:spPr bwMode="auto">
          <a:xfrm>
            <a:off x="590550" y="2813050"/>
            <a:ext cx="184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269328" name="Rectangle 16"/>
          <p:cNvSpPr>
            <a:spLocks noChangeArrowheads="1"/>
          </p:cNvSpPr>
          <p:nvPr/>
        </p:nvSpPr>
        <p:spPr bwMode="auto">
          <a:xfrm>
            <a:off x="384175" y="290513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4400">
                <a:solidFill>
                  <a:schemeClr val="tx2"/>
                </a:solidFill>
              </a:rPr>
              <a:t>Theorem </a:t>
            </a:r>
            <a:r>
              <a:rPr lang="en-US" sz="4400">
                <a:solidFill>
                  <a:schemeClr val="hlink"/>
                </a:solidFill>
              </a:rPr>
              <a:t>(ACBJP, 08)</a:t>
            </a:r>
          </a:p>
        </p:txBody>
      </p:sp>
      <p:sp>
        <p:nvSpPr>
          <p:cNvPr id="269329" name="Text Box 17"/>
          <p:cNvSpPr txBox="1">
            <a:spLocks noChangeArrowheads="1"/>
          </p:cNvSpPr>
          <p:nvPr/>
        </p:nvSpPr>
        <p:spPr bwMode="auto">
          <a:xfrm>
            <a:off x="879475" y="1341438"/>
            <a:ext cx="106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/>
              <a:t>Define</a:t>
            </a:r>
          </a:p>
        </p:txBody>
      </p:sp>
      <p:sp>
        <p:nvSpPr>
          <p:cNvPr id="269331" name="Text Box 19"/>
          <p:cNvSpPr txBox="1">
            <a:spLocks noChangeArrowheads="1"/>
          </p:cNvSpPr>
          <p:nvPr/>
        </p:nvSpPr>
        <p:spPr bwMode="auto">
          <a:xfrm>
            <a:off x="793750" y="2836863"/>
            <a:ext cx="4265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/>
              <a:t>Then a.a.s. for </a:t>
            </a:r>
            <a:r>
              <a:rPr lang="en-US" sz="2400" i="1">
                <a:solidFill>
                  <a:srgbClr val="000099"/>
                </a:solidFill>
              </a:rPr>
              <a:t>t ≤ n</a:t>
            </a:r>
            <a:r>
              <a:rPr lang="en-US" sz="2400"/>
              <a:t> and </a:t>
            </a:r>
            <a:r>
              <a:rPr lang="en-US" sz="2400" i="1">
                <a:solidFill>
                  <a:srgbClr val="000099"/>
                </a:solidFill>
              </a:rPr>
              <a:t>i  ≤ i</a:t>
            </a:r>
            <a:r>
              <a:rPr lang="en-US" sz="2400" i="1" baseline="-25000">
                <a:solidFill>
                  <a:srgbClr val="000099"/>
                </a:solidFill>
              </a:rPr>
              <a:t>f</a:t>
            </a:r>
            <a:r>
              <a:rPr lang="en-US" sz="2400"/>
              <a:t>,</a:t>
            </a:r>
            <a:r>
              <a:rPr lang="en-US"/>
              <a:t> </a:t>
            </a:r>
          </a:p>
        </p:txBody>
      </p:sp>
      <p:sp>
        <p:nvSpPr>
          <p:cNvPr id="269332" name="Rectangle 20"/>
          <p:cNvSpPr>
            <a:spLocks noChangeArrowheads="1"/>
          </p:cNvSpPr>
          <p:nvPr/>
        </p:nvSpPr>
        <p:spPr bwMode="auto">
          <a:xfrm>
            <a:off x="2873375" y="4614863"/>
            <a:ext cx="741363" cy="188912"/>
          </a:xfrm>
          <a:prstGeom prst="rect">
            <a:avLst/>
          </a:prstGeom>
          <a:solidFill>
            <a:srgbClr val="FF6600">
              <a:alpha val="2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69333" name="Line 21"/>
          <p:cNvSpPr>
            <a:spLocks noChangeShapeType="1"/>
          </p:cNvSpPr>
          <p:nvPr/>
        </p:nvSpPr>
        <p:spPr bwMode="auto">
          <a:xfrm flipH="1" flipV="1">
            <a:off x="3497263" y="4919663"/>
            <a:ext cx="377825" cy="538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9321" grpId="0" animBg="1"/>
      <p:bldP spid="269332" grpId="0" animBg="1"/>
      <p:bldP spid="269333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Complex Networks</a:t>
            </a:r>
            <a:endParaRPr lang="en-US"/>
          </a:p>
        </p:txBody>
      </p:sp>
      <p:sp>
        <p:nvSpPr>
          <p:cNvPr id="7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57EE5-C219-4860-A73B-1A5482A05008}" type="slidenum">
              <a:rPr lang="en-US"/>
              <a:pPr/>
              <a:t>58</a:t>
            </a:fld>
            <a:endParaRPr lang="en-US"/>
          </a:p>
        </p:txBody>
      </p:sp>
      <p:sp>
        <p:nvSpPr>
          <p:cNvPr id="446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Sketch of proof</a:t>
            </a:r>
          </a:p>
        </p:txBody>
      </p:sp>
      <p:sp>
        <p:nvSpPr>
          <p:cNvPr id="44646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325563"/>
            <a:ext cx="8116888" cy="407511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/>
              <a:t>derive an asymptotic expression for </a:t>
            </a:r>
            <a:r>
              <a:rPr lang="en-US" sz="2400" b="1">
                <a:solidFill>
                  <a:srgbClr val="000099"/>
                </a:solidFill>
              </a:rPr>
              <a:t>E</a:t>
            </a:r>
            <a:r>
              <a:rPr lang="en-US" sz="2400">
                <a:solidFill>
                  <a:srgbClr val="000099"/>
                </a:solidFill>
              </a:rPr>
              <a:t>(</a:t>
            </a:r>
            <a:r>
              <a:rPr lang="en-US" sz="2400" i="1">
                <a:solidFill>
                  <a:srgbClr val="000099"/>
                </a:solidFill>
              </a:rPr>
              <a:t>N</a:t>
            </a:r>
            <a:r>
              <a:rPr lang="en-US" sz="2400" i="1" baseline="-25000">
                <a:solidFill>
                  <a:srgbClr val="000099"/>
                </a:solidFill>
              </a:rPr>
              <a:t>i,t</a:t>
            </a:r>
            <a:r>
              <a:rPr lang="en-US" sz="2400">
                <a:solidFill>
                  <a:srgbClr val="000099"/>
                </a:solidFill>
              </a:rPr>
              <a:t>)</a:t>
            </a:r>
          </a:p>
          <a:p>
            <a:pPr>
              <a:lnSpc>
                <a:spcPct val="90000"/>
              </a:lnSpc>
            </a:pPr>
            <a:endParaRPr lang="en-US" sz="2400" i="1">
              <a:solidFill>
                <a:srgbClr val="000099"/>
              </a:solidFill>
            </a:endParaRPr>
          </a:p>
          <a:p>
            <a:pPr>
              <a:lnSpc>
                <a:spcPct val="90000"/>
              </a:lnSpc>
            </a:pPr>
            <a:endParaRPr lang="en-US" sz="2400" i="1">
              <a:solidFill>
                <a:srgbClr val="000099"/>
              </a:solidFill>
            </a:endParaRPr>
          </a:p>
          <a:p>
            <a:pPr>
              <a:lnSpc>
                <a:spcPct val="90000"/>
              </a:lnSpc>
            </a:pPr>
            <a:endParaRPr lang="en-US" sz="2400" i="1">
              <a:solidFill>
                <a:srgbClr val="000099"/>
              </a:solidFill>
            </a:endParaRPr>
          </a:p>
          <a:p>
            <a:pPr>
              <a:lnSpc>
                <a:spcPct val="90000"/>
              </a:lnSpc>
            </a:pPr>
            <a:endParaRPr lang="en-US" sz="2400" i="1">
              <a:solidFill>
                <a:srgbClr val="000099"/>
              </a:solidFill>
            </a:endParaRPr>
          </a:p>
          <a:p>
            <a:pPr>
              <a:lnSpc>
                <a:spcPct val="90000"/>
              </a:lnSpc>
            </a:pPr>
            <a:endParaRPr lang="en-US" sz="2400" i="1">
              <a:solidFill>
                <a:srgbClr val="000099"/>
              </a:solidFill>
            </a:endParaRPr>
          </a:p>
          <a:p>
            <a:pPr>
              <a:lnSpc>
                <a:spcPct val="90000"/>
              </a:lnSpc>
            </a:pPr>
            <a:endParaRPr lang="en-US" sz="2400"/>
          </a:p>
          <a:p>
            <a:pPr>
              <a:lnSpc>
                <a:spcPct val="90000"/>
              </a:lnSpc>
            </a:pPr>
            <a:endParaRPr lang="en-US" sz="2400"/>
          </a:p>
        </p:txBody>
      </p:sp>
      <p:graphicFrame>
        <p:nvGraphicFramePr>
          <p:cNvPr id="446468" name="Object 4"/>
          <p:cNvGraphicFramePr>
            <a:graphicFrameLocks noChangeAspect="1"/>
          </p:cNvGraphicFramePr>
          <p:nvPr>
            <p:ph sz="quarter" idx="2"/>
          </p:nvPr>
        </p:nvGraphicFramePr>
        <p:xfrm>
          <a:off x="1582738" y="2157413"/>
          <a:ext cx="5734050" cy="1154112"/>
        </p:xfrm>
        <a:graphic>
          <a:graphicData uri="http://schemas.openxmlformats.org/presentationml/2006/ole">
            <p:oleObj spid="_x0000_s824322" name="Equation" r:id="rId3" imgW="1955520" imgH="393480" progId="Equation.3">
              <p:embed/>
            </p:oleObj>
          </a:graphicData>
        </a:graphic>
      </p:graphicFrame>
      <p:graphicFrame>
        <p:nvGraphicFramePr>
          <p:cNvPr id="446469" name="Object 5"/>
          <p:cNvGraphicFramePr>
            <a:graphicFrameLocks noChangeAspect="1"/>
          </p:cNvGraphicFramePr>
          <p:nvPr>
            <p:ph sz="quarter" idx="3"/>
          </p:nvPr>
        </p:nvGraphicFramePr>
        <p:xfrm>
          <a:off x="338138" y="3806825"/>
          <a:ext cx="8486775" cy="1055688"/>
        </p:xfrm>
        <a:graphic>
          <a:graphicData uri="http://schemas.openxmlformats.org/presentationml/2006/ole">
            <p:oleObj spid="_x0000_s824323" name="Equation" r:id="rId4" imgW="3276360" imgH="39348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Complex Networks</a:t>
            </a:r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861F4-40EB-4C34-92BE-357F79271AF4}" type="slidenum">
              <a:rPr lang="en-US"/>
              <a:pPr/>
              <a:t>59</a:t>
            </a:fld>
            <a:endParaRPr lang="en-US"/>
          </a:p>
        </p:txBody>
      </p:sp>
      <p:sp>
        <p:nvSpPr>
          <p:cNvPr id="447490" name="Text Box 2"/>
          <p:cNvSpPr txBox="1">
            <a:spLocks noChangeArrowheads="1"/>
          </p:cNvSpPr>
          <p:nvPr/>
        </p:nvSpPr>
        <p:spPr bwMode="auto">
          <a:xfrm>
            <a:off x="881063" y="1069975"/>
            <a:ext cx="62817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Tx/>
              <a:buChar char="•"/>
            </a:pPr>
            <a:r>
              <a:rPr lang="en-US"/>
              <a:t> </a:t>
            </a:r>
            <a:r>
              <a:rPr lang="en-US" sz="2400"/>
              <a:t>solve the recurrence asymptotically:</a:t>
            </a:r>
          </a:p>
        </p:txBody>
      </p:sp>
      <p:pic>
        <p:nvPicPr>
          <p:cNvPr id="447491" name="Picture 3" descr="thmb_Page_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5463" y="2593975"/>
            <a:ext cx="8434387" cy="1920875"/>
          </a:xfrm>
          <a:prstGeom prst="rect">
            <a:avLst/>
          </a:prstGeom>
          <a:noFill/>
        </p:spPr>
      </p:pic>
      <p:graphicFrame>
        <p:nvGraphicFramePr>
          <p:cNvPr id="447492" name="Object 4"/>
          <p:cNvGraphicFramePr>
            <a:graphicFrameLocks noChangeAspect="1"/>
          </p:cNvGraphicFramePr>
          <p:nvPr/>
        </p:nvGraphicFramePr>
        <p:xfrm>
          <a:off x="350838" y="2801938"/>
          <a:ext cx="1751012" cy="708025"/>
        </p:xfrm>
        <a:graphic>
          <a:graphicData uri="http://schemas.openxmlformats.org/presentationml/2006/ole">
            <p:oleObj spid="_x0000_s825346" name="Equation" r:id="rId4" imgW="596880" imgH="2412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Complex Networks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A0B6E-8A4B-4CBA-B653-93A847BFD1B6}" type="slidenum">
              <a:rPr lang="en-US"/>
              <a:pPr/>
              <a:t>60</a:t>
            </a:fld>
            <a:endParaRPr lang="en-US"/>
          </a:p>
        </p:txBody>
      </p:sp>
      <p:sp>
        <p:nvSpPr>
          <p:cNvPr id="448514" name="Rectangle 2"/>
          <p:cNvSpPr>
            <a:spLocks noChangeArrowheads="1"/>
          </p:cNvSpPr>
          <p:nvPr/>
        </p:nvSpPr>
        <p:spPr bwMode="auto">
          <a:xfrm>
            <a:off x="457200" y="566738"/>
            <a:ext cx="8113713" cy="506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Tx/>
              <a:buChar char="•"/>
            </a:pPr>
            <a:r>
              <a:rPr lang="en-US" sz="2800" dirty="0"/>
              <a:t> prove that </a:t>
            </a:r>
            <a:r>
              <a:rPr lang="en-US" sz="2800" dirty="0">
                <a:solidFill>
                  <a:srgbClr val="000099"/>
                </a:solidFill>
              </a:rPr>
              <a:t>N</a:t>
            </a:r>
            <a:r>
              <a:rPr lang="en-US" sz="2800" baseline="-25000" dirty="0">
                <a:solidFill>
                  <a:srgbClr val="000099"/>
                </a:solidFill>
              </a:rPr>
              <a:t>i,t</a:t>
            </a:r>
            <a:r>
              <a:rPr lang="en-US" sz="2800" dirty="0"/>
              <a:t>  is concentrated on </a:t>
            </a:r>
            <a:r>
              <a:rPr lang="en-US" sz="2800" b="1" dirty="0">
                <a:solidFill>
                  <a:srgbClr val="000099"/>
                </a:solidFill>
              </a:rPr>
              <a:t>E</a:t>
            </a:r>
            <a:r>
              <a:rPr lang="en-US" sz="2800" dirty="0">
                <a:solidFill>
                  <a:srgbClr val="000099"/>
                </a:solidFill>
              </a:rPr>
              <a:t>(N</a:t>
            </a:r>
            <a:r>
              <a:rPr lang="en-US" sz="2800" baseline="-25000" dirty="0">
                <a:solidFill>
                  <a:srgbClr val="000099"/>
                </a:solidFill>
              </a:rPr>
              <a:t>i,t</a:t>
            </a:r>
            <a:r>
              <a:rPr lang="en-US" sz="2800" dirty="0">
                <a:solidFill>
                  <a:srgbClr val="000099"/>
                </a:solidFill>
              </a:rPr>
              <a:t>)</a:t>
            </a:r>
            <a:r>
              <a:rPr lang="en-US" sz="2800" dirty="0"/>
              <a:t> via </a:t>
            </a:r>
            <a:r>
              <a:rPr lang="en-US" sz="2800" dirty="0">
                <a:solidFill>
                  <a:srgbClr val="FF0000"/>
                </a:solidFill>
              </a:rPr>
              <a:t>martingales</a:t>
            </a:r>
          </a:p>
          <a:p>
            <a:pPr>
              <a:buFontTx/>
              <a:buChar char="•"/>
            </a:pPr>
            <a:endParaRPr lang="en-US" sz="2800" dirty="0"/>
          </a:p>
          <a:p>
            <a:pPr>
              <a:buFontTx/>
              <a:buChar char="•"/>
            </a:pPr>
            <a:r>
              <a:rPr lang="en-US" sz="2800" dirty="0"/>
              <a:t> standard approach is to use </a:t>
            </a:r>
            <a:r>
              <a:rPr lang="en-US" sz="2800" dirty="0">
                <a:solidFill>
                  <a:srgbClr val="FF0000"/>
                </a:solidFill>
              </a:rPr>
              <a:t>c-</a:t>
            </a:r>
            <a:r>
              <a:rPr lang="en-US" sz="2800" dirty="0" err="1">
                <a:solidFill>
                  <a:srgbClr val="FF0000"/>
                </a:solidFill>
              </a:rPr>
              <a:t>Lipshitz</a:t>
            </a:r>
            <a:r>
              <a:rPr lang="en-US" sz="2800" dirty="0">
                <a:solidFill>
                  <a:srgbClr val="FF0000"/>
                </a:solidFill>
              </a:rPr>
              <a:t> condition</a:t>
            </a:r>
            <a:r>
              <a:rPr lang="en-US" sz="2800" dirty="0"/>
              <a:t>: change in </a:t>
            </a:r>
            <a:r>
              <a:rPr lang="en-US" sz="2800" dirty="0">
                <a:solidFill>
                  <a:srgbClr val="000099"/>
                </a:solidFill>
              </a:rPr>
              <a:t>N</a:t>
            </a:r>
            <a:r>
              <a:rPr lang="en-US" sz="2800" baseline="-25000" dirty="0">
                <a:solidFill>
                  <a:srgbClr val="000099"/>
                </a:solidFill>
              </a:rPr>
              <a:t>i,t</a:t>
            </a:r>
            <a:r>
              <a:rPr lang="en-US" sz="2800" dirty="0"/>
              <a:t> is bounded above by constant </a:t>
            </a:r>
            <a:r>
              <a:rPr lang="en-US" sz="2800" dirty="0">
                <a:solidFill>
                  <a:srgbClr val="000099"/>
                </a:solidFill>
              </a:rPr>
              <a:t>c</a:t>
            </a:r>
          </a:p>
          <a:p>
            <a:pPr>
              <a:buFontTx/>
              <a:buChar char="•"/>
            </a:pPr>
            <a:endParaRPr lang="en-US" sz="2800" dirty="0"/>
          </a:p>
          <a:p>
            <a:pPr>
              <a:buFontTx/>
              <a:buChar char="•"/>
            </a:pPr>
            <a:r>
              <a:rPr lang="en-US" sz="2800" dirty="0">
                <a:solidFill>
                  <a:srgbClr val="000099"/>
                </a:solidFill>
              </a:rPr>
              <a:t> c</a:t>
            </a:r>
            <a:r>
              <a:rPr lang="en-US" sz="2800" dirty="0"/>
              <a:t>-Lipschitz property </a:t>
            </a:r>
            <a:r>
              <a:rPr lang="en-US" sz="2800" dirty="0">
                <a:solidFill>
                  <a:srgbClr val="FF0000"/>
                </a:solidFill>
              </a:rPr>
              <a:t>may fail</a:t>
            </a:r>
            <a:r>
              <a:rPr lang="en-US" sz="2800" dirty="0"/>
              <a:t>: new nodes may appear in an unbounded number of overlapping regions of influence</a:t>
            </a:r>
          </a:p>
          <a:p>
            <a:pPr>
              <a:buFontTx/>
              <a:buChar char="•"/>
            </a:pPr>
            <a:endParaRPr lang="en-US" sz="1800" dirty="0"/>
          </a:p>
          <a:p>
            <a:pPr>
              <a:buFontTx/>
              <a:buChar char="•"/>
            </a:pPr>
            <a:r>
              <a:rPr lang="en-US" sz="2800" dirty="0"/>
              <a:t> prove this happens with exponentially small probabilities using the differential </a:t>
            </a:r>
            <a:r>
              <a:rPr lang="en-US" sz="2800" dirty="0" err="1"/>
              <a:t>equaton</a:t>
            </a:r>
            <a:r>
              <a:rPr lang="en-US" sz="2800" dirty="0"/>
              <a:t> method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Directions and challenges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on-line models where nodes and edges are added and </a:t>
            </a:r>
            <a:r>
              <a:rPr lang="en-US" sz="2800" dirty="0" smtClean="0">
                <a:solidFill>
                  <a:srgbClr val="008000"/>
                </a:solidFill>
              </a:rPr>
              <a:t>deleted</a:t>
            </a:r>
            <a:r>
              <a:rPr lang="en-US" sz="2800" dirty="0" smtClean="0"/>
              <a:t> over time</a:t>
            </a:r>
          </a:p>
          <a:p>
            <a:pPr lvl="1"/>
            <a:r>
              <a:rPr lang="en-US" dirty="0" smtClean="0"/>
              <a:t>easy to pose, hard to analyze</a:t>
            </a:r>
          </a:p>
          <a:p>
            <a:r>
              <a:rPr lang="en-US" sz="2800" dirty="0" smtClean="0"/>
              <a:t>develop a calculus of complex networks models</a:t>
            </a:r>
          </a:p>
          <a:p>
            <a:pPr lvl="1"/>
            <a:r>
              <a:rPr lang="en-US" dirty="0" smtClean="0"/>
              <a:t>mild conditions on model ensure power laws (with concentration), small world, etc.</a:t>
            </a:r>
          </a:p>
          <a:p>
            <a:r>
              <a:rPr lang="en-US" sz="2800" dirty="0" smtClean="0"/>
              <a:t>general to specific:</a:t>
            </a:r>
          </a:p>
          <a:p>
            <a:pPr lvl="1"/>
            <a:r>
              <a:rPr lang="en-US" sz="2400" dirty="0" smtClean="0"/>
              <a:t>rigorous models tailored internet graphs, PPI, OSNs, …</a:t>
            </a:r>
            <a:endParaRPr lang="en-GB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Complex Networks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B9044-B1D8-49D8-9F05-DCB5B06F2D15}" type="slidenum">
              <a:rPr lang="en-US" smtClean="0"/>
              <a:pPr/>
              <a:t>61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Complex Networks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9B2EF-794A-4131-8323-EFEEB9395593}" type="slidenum">
              <a:rPr lang="en-US"/>
              <a:pPr/>
              <a:t>62</a:t>
            </a:fld>
            <a:endParaRPr lang="en-US" dirty="0"/>
          </a:p>
        </p:txBody>
      </p:sp>
      <p:pic>
        <p:nvPicPr>
          <p:cNvPr id="517122" name="Picture 2"/>
          <p:cNvPicPr>
            <a:picLocks noChangeAspect="1" noChangeArrowheads="1"/>
          </p:cNvPicPr>
          <p:nvPr/>
        </p:nvPicPr>
        <p:blipFill>
          <a:blip r:embed="rId2"/>
          <a:srcRect t="14273" r="1846" b="7382"/>
          <a:stretch>
            <a:fillRect/>
          </a:stretch>
        </p:blipFill>
        <p:spPr bwMode="auto">
          <a:xfrm>
            <a:off x="0" y="349250"/>
            <a:ext cx="8804275" cy="5799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Complex Networks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B9044-B1D8-49D8-9F05-DCB5B06F2D15}" type="slidenum">
              <a:rPr lang="en-US" smtClean="0"/>
              <a:pPr/>
              <a:t>63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Complex Networks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25B49-BEE8-4611-9C17-E8DAF3319CE0}" type="slidenum">
              <a:rPr lang="en-US"/>
              <a:pPr/>
              <a:t>64</a:t>
            </a:fld>
            <a:endParaRPr lang="en-US" dirty="0"/>
          </a:p>
        </p:txBody>
      </p:sp>
      <p:sp>
        <p:nvSpPr>
          <p:cNvPr id="461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            Social network analysis</a:t>
            </a:r>
          </a:p>
        </p:txBody>
      </p:sp>
      <p:sp>
        <p:nvSpPr>
          <p:cNvPr id="461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9259" y="1340757"/>
            <a:ext cx="8404225" cy="4583113"/>
          </a:xfrm>
        </p:spPr>
        <p:txBody>
          <a:bodyPr/>
          <a:lstStyle/>
          <a:p>
            <a:r>
              <a:rPr lang="en-US" sz="2400" dirty="0"/>
              <a:t>Milgram (67): </a:t>
            </a:r>
            <a:r>
              <a:rPr lang="en-US" sz="2400" dirty="0">
                <a:solidFill>
                  <a:srgbClr val="000099"/>
                </a:solidFill>
              </a:rPr>
              <a:t>average distance between </a:t>
            </a:r>
            <a:r>
              <a:rPr lang="en-US" sz="2400" dirty="0" smtClean="0">
                <a:solidFill>
                  <a:srgbClr val="000099"/>
                </a:solidFill>
              </a:rPr>
              <a:t>Americans </a:t>
            </a:r>
            <a:r>
              <a:rPr lang="en-US" sz="2400" dirty="0">
                <a:solidFill>
                  <a:srgbClr val="000099"/>
                </a:solidFill>
              </a:rPr>
              <a:t>is 6</a:t>
            </a:r>
          </a:p>
          <a:p>
            <a:r>
              <a:rPr lang="en-US" sz="2400" dirty="0"/>
              <a:t>Watts and Strogatz (98): </a:t>
            </a:r>
            <a:r>
              <a:rPr lang="en-US" sz="2400" dirty="0">
                <a:solidFill>
                  <a:srgbClr val="000099"/>
                </a:solidFill>
              </a:rPr>
              <a:t>introduced small world property</a:t>
            </a:r>
            <a:r>
              <a:rPr lang="en-US" sz="2400" dirty="0"/>
              <a:t> </a:t>
            </a:r>
          </a:p>
          <a:p>
            <a:r>
              <a:rPr lang="en-US" sz="2400" dirty="0"/>
              <a:t>Adamic et al. (03): </a:t>
            </a:r>
            <a:r>
              <a:rPr lang="en-US" sz="2400" dirty="0" smtClean="0">
                <a:solidFill>
                  <a:srgbClr val="000099"/>
                </a:solidFill>
              </a:rPr>
              <a:t>OSN at Stanford</a:t>
            </a:r>
            <a:endParaRPr lang="en-US" sz="2400" dirty="0">
              <a:solidFill>
                <a:srgbClr val="000099"/>
              </a:solidFill>
            </a:endParaRPr>
          </a:p>
          <a:p>
            <a:r>
              <a:rPr lang="en-US" sz="2400" dirty="0"/>
              <a:t>Liben-Nowell et al. (05): </a:t>
            </a:r>
            <a:r>
              <a:rPr lang="en-US" sz="2400" dirty="0" smtClean="0">
                <a:solidFill>
                  <a:srgbClr val="000099"/>
                </a:solidFill>
              </a:rPr>
              <a:t>LiveJournal</a:t>
            </a:r>
            <a:endParaRPr lang="en-US" sz="2400" dirty="0">
              <a:solidFill>
                <a:srgbClr val="000099"/>
              </a:solidFill>
            </a:endParaRPr>
          </a:p>
          <a:p>
            <a:r>
              <a:rPr lang="en-US" sz="2400" dirty="0"/>
              <a:t>Kumar et al. (06): </a:t>
            </a:r>
            <a:r>
              <a:rPr lang="en-US" sz="2400" dirty="0">
                <a:solidFill>
                  <a:srgbClr val="000099"/>
                </a:solidFill>
              </a:rPr>
              <a:t>Flickr, </a:t>
            </a:r>
            <a:r>
              <a:rPr lang="en-US" sz="2400" dirty="0" smtClean="0">
                <a:solidFill>
                  <a:srgbClr val="000099"/>
                </a:solidFill>
              </a:rPr>
              <a:t>Yahoo!360</a:t>
            </a:r>
            <a:endParaRPr lang="en-US" sz="2400" dirty="0">
              <a:solidFill>
                <a:srgbClr val="000099"/>
              </a:solidFill>
            </a:endParaRPr>
          </a:p>
          <a:p>
            <a:r>
              <a:rPr lang="en-US" sz="2400" dirty="0"/>
              <a:t>Golder et al. (06): </a:t>
            </a:r>
            <a:r>
              <a:rPr lang="en-US" sz="2400" dirty="0" smtClean="0">
                <a:solidFill>
                  <a:srgbClr val="000099"/>
                </a:solidFill>
              </a:rPr>
              <a:t>Facebook</a:t>
            </a:r>
            <a:endParaRPr lang="en-US" sz="2400" dirty="0">
              <a:solidFill>
                <a:srgbClr val="000099"/>
              </a:solidFill>
            </a:endParaRPr>
          </a:p>
          <a:p>
            <a:r>
              <a:rPr lang="en-US" sz="2400" dirty="0"/>
              <a:t>Ahn et al. (07): </a:t>
            </a:r>
            <a:r>
              <a:rPr lang="en-US" sz="2400" dirty="0" smtClean="0">
                <a:solidFill>
                  <a:srgbClr val="000099"/>
                </a:solidFill>
              </a:rPr>
              <a:t>Cyworld (South Korea), MySpace </a:t>
            </a:r>
            <a:r>
              <a:rPr lang="en-US" sz="2400" dirty="0">
                <a:solidFill>
                  <a:srgbClr val="000099"/>
                </a:solidFill>
              </a:rPr>
              <a:t>and Orkut</a:t>
            </a:r>
          </a:p>
          <a:p>
            <a:r>
              <a:rPr lang="en-US" sz="2400" dirty="0"/>
              <a:t>Mislove et al. (07): </a:t>
            </a:r>
            <a:r>
              <a:rPr lang="en-US" sz="2400" dirty="0" smtClean="0">
                <a:solidFill>
                  <a:srgbClr val="000099"/>
                </a:solidFill>
              </a:rPr>
              <a:t>Flickr</a:t>
            </a:r>
            <a:r>
              <a:rPr lang="en-US" sz="2400" dirty="0">
                <a:solidFill>
                  <a:srgbClr val="000099"/>
                </a:solidFill>
              </a:rPr>
              <a:t>, YouTube, LiveJournal, </a:t>
            </a:r>
            <a:r>
              <a:rPr lang="en-US" sz="2400" dirty="0" smtClean="0">
                <a:solidFill>
                  <a:srgbClr val="000099"/>
                </a:solidFill>
              </a:rPr>
              <a:t>Orkut</a:t>
            </a:r>
          </a:p>
          <a:p>
            <a:r>
              <a:rPr lang="en-US" sz="2400" dirty="0" smtClean="0"/>
              <a:t>Java et al. (07): </a:t>
            </a:r>
            <a:r>
              <a:rPr lang="en-US" sz="2400" dirty="0" smtClean="0">
                <a:solidFill>
                  <a:srgbClr val="000099"/>
                </a:solidFill>
              </a:rPr>
              <a:t>Twitter</a:t>
            </a:r>
            <a:endParaRPr lang="en-US" sz="2400" dirty="0">
              <a:solidFill>
                <a:srgbClr val="000099"/>
              </a:solidFill>
            </a:endParaRPr>
          </a:p>
        </p:txBody>
      </p:sp>
      <p:sp>
        <p:nvSpPr>
          <p:cNvPr id="461828" name="Rectangle 4"/>
          <p:cNvSpPr>
            <a:spLocks noChangeArrowheads="1"/>
          </p:cNvSpPr>
          <p:nvPr/>
        </p:nvSpPr>
        <p:spPr bwMode="auto">
          <a:xfrm>
            <a:off x="188460" y="2235428"/>
            <a:ext cx="7997597" cy="3555772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461830" name="Text Box 6"/>
          <p:cNvSpPr txBox="1">
            <a:spLocks noChangeArrowheads="1"/>
          </p:cNvSpPr>
          <p:nvPr/>
        </p:nvSpPr>
        <p:spPr bwMode="auto">
          <a:xfrm>
            <a:off x="346075" y="450850"/>
            <a:ext cx="2017713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4400" dirty="0">
                <a:solidFill>
                  <a:srgbClr val="FF0000"/>
                </a:solidFill>
              </a:rPr>
              <a:t>On-line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1828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Complex Networks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74F89-F8AF-408C-9610-962AD3DBC334}" type="slidenum">
              <a:rPr lang="en-US"/>
              <a:pPr/>
              <a:t>65</a:t>
            </a:fld>
            <a:endParaRPr lang="en-US" dirty="0"/>
          </a:p>
        </p:txBody>
      </p:sp>
      <p:sp>
        <p:nvSpPr>
          <p:cNvPr id="489474" name="Rectangle 2"/>
          <p:cNvSpPr>
            <a:spLocks noGrp="1" noChangeArrowheads="1"/>
          </p:cNvSpPr>
          <p:nvPr>
            <p:ph type="title"/>
          </p:nvPr>
        </p:nvSpPr>
        <p:spPr>
          <a:xfrm>
            <a:off x="558800" y="203200"/>
            <a:ext cx="8229600" cy="1143000"/>
          </a:xfrm>
        </p:spPr>
        <p:txBody>
          <a:bodyPr/>
          <a:lstStyle/>
          <a:p>
            <a:r>
              <a:rPr lang="en-US" sz="3600" dirty="0" smtClean="0">
                <a:solidFill>
                  <a:srgbClr val="0070C0"/>
                </a:solidFill>
              </a:rPr>
              <a:t>(Leskovec</a:t>
            </a:r>
            <a:r>
              <a:rPr lang="en-US" sz="3600" dirty="0">
                <a:solidFill>
                  <a:srgbClr val="0070C0"/>
                </a:solidFill>
              </a:rPr>
              <a:t>, Kleinberg, </a:t>
            </a:r>
            <a:r>
              <a:rPr lang="en-US" sz="3600" dirty="0" smtClean="0">
                <a:solidFill>
                  <a:srgbClr val="0070C0"/>
                </a:solidFill>
              </a:rPr>
              <a:t>Faloutsos,05</a:t>
            </a:r>
            <a:r>
              <a:rPr lang="en-US" sz="3600" dirty="0">
                <a:solidFill>
                  <a:srgbClr val="0070C0"/>
                </a:solidFill>
              </a:rPr>
              <a:t>):</a:t>
            </a:r>
          </a:p>
        </p:txBody>
      </p:sp>
      <p:sp>
        <p:nvSpPr>
          <p:cNvPr id="489476" name="Rectangle 4"/>
          <p:cNvSpPr>
            <a:spLocks noChangeArrowheads="1"/>
          </p:cNvSpPr>
          <p:nvPr/>
        </p:nvSpPr>
        <p:spPr bwMode="auto">
          <a:xfrm>
            <a:off x="552450" y="1295400"/>
            <a:ext cx="82296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990600" lvl="1" indent="-533400">
              <a:spcBef>
                <a:spcPct val="20000"/>
              </a:spcBef>
              <a:buFontTx/>
              <a:buChar char="–"/>
            </a:pPr>
            <a:r>
              <a:rPr lang="en-US" sz="2800" dirty="0"/>
              <a:t>many complex networks (including on-line social networks) obey </a:t>
            </a:r>
            <a:r>
              <a:rPr lang="en-US" sz="2800" b="1" dirty="0"/>
              <a:t>two </a:t>
            </a:r>
            <a:r>
              <a:rPr lang="en-US" sz="2800" b="1" dirty="0" smtClean="0"/>
              <a:t>additional laws</a:t>
            </a:r>
            <a:r>
              <a:rPr lang="en-US" sz="2800" dirty="0"/>
              <a:t>:</a:t>
            </a:r>
          </a:p>
          <a:p>
            <a:pPr marL="609600" indent="-609600">
              <a:spcBef>
                <a:spcPct val="20000"/>
              </a:spcBef>
              <a:buClr>
                <a:schemeClr val="tx1"/>
              </a:buClr>
              <a:buFontTx/>
              <a:buAutoNum type="arabicPeriod"/>
            </a:pPr>
            <a:r>
              <a:rPr lang="en-US" sz="2800" b="1" dirty="0">
                <a:solidFill>
                  <a:srgbClr val="FF0000"/>
                </a:solidFill>
              </a:rPr>
              <a:t>Densification Power Law</a:t>
            </a:r>
            <a:r>
              <a:rPr lang="en-US" sz="2800" dirty="0"/>
              <a:t> </a:t>
            </a:r>
          </a:p>
          <a:p>
            <a:pPr marL="990600" lvl="1" indent="-533400">
              <a:spcBef>
                <a:spcPct val="20000"/>
              </a:spcBef>
              <a:buFontTx/>
              <a:buChar char="–"/>
            </a:pPr>
            <a:r>
              <a:rPr lang="en-US" sz="2800" dirty="0"/>
              <a:t>networks are becoming more </a:t>
            </a:r>
            <a:r>
              <a:rPr lang="en-US" sz="2800" dirty="0">
                <a:solidFill>
                  <a:schemeClr val="accent2"/>
                </a:solidFill>
              </a:rPr>
              <a:t>dense</a:t>
            </a:r>
            <a:r>
              <a:rPr lang="en-US" sz="2800" dirty="0"/>
              <a:t> over time; </a:t>
            </a:r>
            <a:r>
              <a:rPr lang="en-US" sz="2800" dirty="0" smtClean="0"/>
              <a:t> i.e</a:t>
            </a:r>
            <a:r>
              <a:rPr lang="en-US" sz="2800" dirty="0"/>
              <a:t>. average degree is </a:t>
            </a:r>
            <a:r>
              <a:rPr lang="en-US" sz="2800" dirty="0">
                <a:solidFill>
                  <a:srgbClr val="000099"/>
                </a:solidFill>
              </a:rPr>
              <a:t>increasing</a:t>
            </a:r>
          </a:p>
          <a:p>
            <a:pPr marL="990600" lvl="1" indent="-533400" algn="ctr">
              <a:spcBef>
                <a:spcPct val="20000"/>
              </a:spcBef>
            </a:pPr>
            <a:r>
              <a:rPr lang="en-US" sz="2800" dirty="0" smtClean="0">
                <a:solidFill>
                  <a:srgbClr val="000099"/>
                </a:solidFill>
              </a:rPr>
              <a:t>|(E(G</a:t>
            </a:r>
            <a:r>
              <a:rPr lang="en-US" sz="2800" baseline="-25000" dirty="0" smtClean="0">
                <a:solidFill>
                  <a:srgbClr val="000099"/>
                </a:solidFill>
              </a:rPr>
              <a:t>t</a:t>
            </a:r>
            <a:r>
              <a:rPr lang="en-US" sz="2800" dirty="0" smtClean="0">
                <a:solidFill>
                  <a:srgbClr val="000099"/>
                </a:solidFill>
              </a:rPr>
              <a:t>)| ≈ |V(G</a:t>
            </a:r>
            <a:r>
              <a:rPr lang="en-US" sz="2800" baseline="-25000" dirty="0" smtClean="0">
                <a:solidFill>
                  <a:srgbClr val="000099"/>
                </a:solidFill>
              </a:rPr>
              <a:t>t</a:t>
            </a:r>
            <a:r>
              <a:rPr lang="en-US" sz="2800" dirty="0" smtClean="0">
                <a:solidFill>
                  <a:srgbClr val="000099"/>
                </a:solidFill>
              </a:rPr>
              <a:t>)|</a:t>
            </a:r>
            <a:r>
              <a:rPr lang="en-US" sz="2800" baseline="30000" dirty="0" smtClean="0">
                <a:solidFill>
                  <a:srgbClr val="000099"/>
                </a:solidFill>
              </a:rPr>
              <a:t>a</a:t>
            </a:r>
            <a:endParaRPr lang="en-US" sz="2800" dirty="0">
              <a:solidFill>
                <a:schemeClr val="accent2"/>
              </a:solidFill>
            </a:endParaRPr>
          </a:p>
          <a:p>
            <a:pPr marL="609600" indent="-609600">
              <a:spcBef>
                <a:spcPct val="20000"/>
              </a:spcBef>
            </a:pPr>
            <a:r>
              <a:rPr lang="en-US" sz="2800" dirty="0">
                <a:solidFill>
                  <a:schemeClr val="accent2"/>
                </a:solidFill>
              </a:rPr>
              <a:t>		 </a:t>
            </a:r>
            <a:r>
              <a:rPr lang="en-US" sz="2800" dirty="0"/>
              <a:t>where </a:t>
            </a:r>
            <a:r>
              <a:rPr lang="en-US" sz="2800" dirty="0">
                <a:solidFill>
                  <a:srgbClr val="000099"/>
                </a:solidFill>
              </a:rPr>
              <a:t>1 &lt; a ≤ 2</a:t>
            </a:r>
            <a:r>
              <a:rPr lang="en-US" sz="2800" dirty="0"/>
              <a:t>:</a:t>
            </a:r>
            <a:r>
              <a:rPr lang="en-US" sz="2800" dirty="0">
                <a:solidFill>
                  <a:schemeClr val="accent2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</a:rPr>
              <a:t>densification exponent</a:t>
            </a:r>
          </a:p>
          <a:p>
            <a:pPr marL="609600" indent="-609600">
              <a:spcBef>
                <a:spcPct val="20000"/>
              </a:spcBef>
            </a:pP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Complex Networks</a:t>
            </a:r>
            <a:endParaRPr lang="en-US" dirty="0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89418-9B8E-4E0A-ACCC-EDE22C32B604}" type="slidenum">
              <a:rPr lang="en-US"/>
              <a:pPr/>
              <a:t>66</a:t>
            </a:fld>
            <a:endParaRPr lang="en-US" dirty="0"/>
          </a:p>
        </p:txBody>
      </p:sp>
      <p:sp>
        <p:nvSpPr>
          <p:cNvPr id="477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Densification – Physics Citations</a:t>
            </a:r>
          </a:p>
        </p:txBody>
      </p:sp>
      <p:pic>
        <p:nvPicPr>
          <p:cNvPr id="477188" name="Picture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1941513" y="1647825"/>
            <a:ext cx="5156200" cy="4205288"/>
          </a:xfrm>
          <a:noFill/>
        </p:spPr>
      </p:pic>
      <p:sp>
        <p:nvSpPr>
          <p:cNvPr id="477189" name="Line 5"/>
          <p:cNvSpPr>
            <a:spLocks noChangeShapeType="1"/>
          </p:cNvSpPr>
          <p:nvPr/>
        </p:nvSpPr>
        <p:spPr bwMode="auto">
          <a:xfrm flipV="1">
            <a:off x="3516313" y="2138363"/>
            <a:ext cx="2706687" cy="2709862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 dirty="0"/>
          </a:p>
        </p:txBody>
      </p:sp>
      <p:sp>
        <p:nvSpPr>
          <p:cNvPr id="477192" name="Line 8"/>
          <p:cNvSpPr>
            <a:spLocks noChangeShapeType="1"/>
          </p:cNvSpPr>
          <p:nvPr/>
        </p:nvSpPr>
        <p:spPr bwMode="auto">
          <a:xfrm>
            <a:off x="4964113" y="3476625"/>
            <a:ext cx="1066800" cy="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 dirty="0"/>
          </a:p>
        </p:txBody>
      </p:sp>
      <p:sp>
        <p:nvSpPr>
          <p:cNvPr id="477193" name="Text Box 9"/>
          <p:cNvSpPr txBox="1">
            <a:spLocks noChangeArrowheads="1"/>
          </p:cNvSpPr>
          <p:nvPr/>
        </p:nvSpPr>
        <p:spPr bwMode="auto">
          <a:xfrm>
            <a:off x="5421313" y="2943225"/>
            <a:ext cx="877887" cy="519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Font typeface="Wingdings" pitchFamily="2" charset="2"/>
              <a:buNone/>
            </a:pPr>
            <a:r>
              <a:rPr lang="en-US" sz="2800" dirty="0">
                <a:solidFill>
                  <a:schemeClr val="folHlink"/>
                </a:solidFill>
              </a:rPr>
              <a:t>1.69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Complex Networks</a:t>
            </a:r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9ADD8-645F-48E4-8B1D-20FE9DD5796C}" type="slidenum">
              <a:rPr lang="en-US"/>
              <a:pPr/>
              <a:t>67</a:t>
            </a:fld>
            <a:endParaRPr lang="en-US" dirty="0"/>
          </a:p>
        </p:txBody>
      </p:sp>
      <p:sp>
        <p:nvSpPr>
          <p:cNvPr id="47821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77813"/>
            <a:ext cx="8686800" cy="1139825"/>
          </a:xfrm>
        </p:spPr>
        <p:txBody>
          <a:bodyPr/>
          <a:lstStyle/>
          <a:p>
            <a:r>
              <a:rPr lang="en-US" sz="4000" dirty="0"/>
              <a:t>Densification – Autonomous Systems</a:t>
            </a:r>
          </a:p>
        </p:txBody>
      </p:sp>
      <p:pic>
        <p:nvPicPr>
          <p:cNvPr id="47821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39913" y="1814513"/>
            <a:ext cx="5156200" cy="40925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sp>
        <p:nvSpPr>
          <p:cNvPr id="478213" name="Line 5"/>
          <p:cNvSpPr>
            <a:spLocks noChangeShapeType="1"/>
          </p:cNvSpPr>
          <p:nvPr/>
        </p:nvSpPr>
        <p:spPr bwMode="auto">
          <a:xfrm flipV="1">
            <a:off x="2500313" y="1966913"/>
            <a:ext cx="4343400" cy="3352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 dirty="0"/>
          </a:p>
        </p:txBody>
      </p:sp>
      <p:sp>
        <p:nvSpPr>
          <p:cNvPr id="478216" name="Line 8"/>
          <p:cNvSpPr>
            <a:spLocks noChangeShapeType="1"/>
          </p:cNvSpPr>
          <p:nvPr/>
        </p:nvSpPr>
        <p:spPr bwMode="auto">
          <a:xfrm>
            <a:off x="4633913" y="3719513"/>
            <a:ext cx="1066800" cy="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 dirty="0"/>
          </a:p>
        </p:txBody>
      </p:sp>
      <p:sp>
        <p:nvSpPr>
          <p:cNvPr id="478217" name="Text Box 9"/>
          <p:cNvSpPr txBox="1">
            <a:spLocks noChangeArrowheads="1"/>
          </p:cNvSpPr>
          <p:nvPr/>
        </p:nvSpPr>
        <p:spPr bwMode="auto">
          <a:xfrm>
            <a:off x="5280025" y="3200400"/>
            <a:ext cx="877888" cy="519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Font typeface="Wingdings" pitchFamily="2" charset="2"/>
              <a:buNone/>
            </a:pPr>
            <a:r>
              <a:rPr lang="en-US" sz="2800" dirty="0">
                <a:solidFill>
                  <a:schemeClr val="folHlink"/>
                </a:solidFill>
              </a:rPr>
              <a:t>1.18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Complex Networks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EED77-DD13-4A5C-856D-DE9251109696}" type="slidenum">
              <a:rPr lang="en-US"/>
              <a:pPr/>
              <a:t>68</a:t>
            </a:fld>
            <a:endParaRPr lang="en-US" dirty="0"/>
          </a:p>
        </p:txBody>
      </p:sp>
      <p:sp>
        <p:nvSpPr>
          <p:cNvPr id="479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2005" y="510948"/>
            <a:ext cx="8368166" cy="2769281"/>
          </a:xfrm>
        </p:spPr>
        <p:txBody>
          <a:bodyPr/>
          <a:lstStyle/>
          <a:p>
            <a:pPr marL="609600" indent="-609600" algn="r" rtl="1">
              <a:buFontTx/>
              <a:buAutoNum type="arabicPeriod"/>
            </a:pPr>
            <a:endParaRPr lang="en-US" dirty="0"/>
          </a:p>
          <a:p>
            <a:pPr marL="609600" indent="-609600">
              <a:buClr>
                <a:schemeClr val="tx1"/>
              </a:buClr>
              <a:buFontTx/>
              <a:buAutoNum type="arabicPeriod" startAt="2"/>
            </a:pPr>
            <a:r>
              <a:rPr lang="en-US" sz="2600" b="1" dirty="0">
                <a:solidFill>
                  <a:srgbClr val="FF0000"/>
                </a:solidFill>
              </a:rPr>
              <a:t>Decreasing distances</a:t>
            </a:r>
          </a:p>
          <a:p>
            <a:pPr marL="609600" indent="-609600"/>
            <a:endParaRPr lang="en-US" sz="2600" dirty="0">
              <a:solidFill>
                <a:srgbClr val="FF0000"/>
              </a:solidFill>
            </a:endParaRPr>
          </a:p>
          <a:p>
            <a:pPr marL="609600" indent="-609600"/>
            <a:r>
              <a:rPr lang="en-US" sz="2600" dirty="0"/>
              <a:t>distances (diameter and/or average distances) </a:t>
            </a:r>
            <a:r>
              <a:rPr lang="en-US" sz="2600" dirty="0">
                <a:solidFill>
                  <a:srgbClr val="000099"/>
                </a:solidFill>
              </a:rPr>
              <a:t>decrease</a:t>
            </a:r>
            <a:r>
              <a:rPr lang="en-US" sz="2600" dirty="0"/>
              <a:t> with time</a:t>
            </a:r>
          </a:p>
          <a:p>
            <a:pPr marL="609600" indent="-609600">
              <a:buClr>
                <a:schemeClr val="tx1"/>
              </a:buClr>
              <a:buNone/>
            </a:pPr>
            <a:endParaRPr lang="en-US" sz="2600" dirty="0" smtClean="0">
              <a:solidFill>
                <a:srgbClr val="000099"/>
              </a:solidFill>
            </a:endParaRP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6371" y="2931201"/>
            <a:ext cx="6092143" cy="3110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6568444" y="3722431"/>
            <a:ext cx="216116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(Kumar et al,06)</a:t>
            </a:r>
            <a:r>
              <a:rPr lang="en-US" dirty="0" smtClean="0"/>
              <a:t>: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Complex Networks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1854F-7D4D-46D5-8149-602F4F7AB708}" type="slidenum">
              <a:rPr lang="en-US"/>
              <a:pPr/>
              <a:t>69</a:t>
            </a:fld>
            <a:endParaRPr lang="en-US" dirty="0"/>
          </a:p>
        </p:txBody>
      </p:sp>
      <p:sp>
        <p:nvSpPr>
          <p:cNvPr id="481282" name="Rectangle 2"/>
          <p:cNvSpPr>
            <a:spLocks noGrp="1" noChangeArrowheads="1"/>
          </p:cNvSpPr>
          <p:nvPr>
            <p:ph type="title"/>
          </p:nvPr>
        </p:nvSpPr>
        <p:spPr>
          <a:xfrm>
            <a:off x="617538" y="0"/>
            <a:ext cx="8229600" cy="1143000"/>
          </a:xfrm>
        </p:spPr>
        <p:txBody>
          <a:bodyPr/>
          <a:lstStyle/>
          <a:p>
            <a:r>
              <a:rPr lang="en-US" sz="3600" dirty="0"/>
              <a:t>Diameter – ArXiv citation graph</a:t>
            </a:r>
          </a:p>
        </p:txBody>
      </p:sp>
      <p:pic>
        <p:nvPicPr>
          <p:cNvPr id="48128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19275" y="1535113"/>
            <a:ext cx="5219700" cy="42481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sp>
        <p:nvSpPr>
          <p:cNvPr id="481285" name="Text Box 5"/>
          <p:cNvSpPr txBox="1">
            <a:spLocks noChangeArrowheads="1"/>
          </p:cNvSpPr>
          <p:nvPr/>
        </p:nvSpPr>
        <p:spPr bwMode="auto">
          <a:xfrm>
            <a:off x="3686175" y="5497513"/>
            <a:ext cx="2024063" cy="519112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Font typeface="Wingdings" pitchFamily="2" charset="2"/>
              <a:buNone/>
            </a:pPr>
            <a:r>
              <a:rPr lang="en-US" sz="2800" dirty="0">
                <a:solidFill>
                  <a:schemeClr val="folHlink"/>
                </a:solidFill>
              </a:rPr>
              <a:t>time [years]</a:t>
            </a:r>
          </a:p>
        </p:txBody>
      </p:sp>
      <p:sp>
        <p:nvSpPr>
          <p:cNvPr id="481286" name="Text Box 6"/>
          <p:cNvSpPr txBox="1">
            <a:spLocks noChangeArrowheads="1"/>
          </p:cNvSpPr>
          <p:nvPr/>
        </p:nvSpPr>
        <p:spPr bwMode="auto">
          <a:xfrm>
            <a:off x="1885950" y="1306513"/>
            <a:ext cx="1571625" cy="5191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Font typeface="Wingdings" pitchFamily="2" charset="2"/>
              <a:buNone/>
            </a:pPr>
            <a:r>
              <a:rPr lang="en-US" sz="2800" dirty="0">
                <a:solidFill>
                  <a:schemeClr val="folHlink"/>
                </a:solidFill>
              </a:rPr>
              <a:t>diameter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Complex Networks</a:t>
            </a:r>
          </a:p>
        </p:txBody>
      </p:sp>
      <p:sp>
        <p:nvSpPr>
          <p:cNvPr id="2560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9F65EA1-C4D8-47A2-81D1-36BE034FB205}" type="slidenum">
              <a:rPr lang="en-US" smtClean="0"/>
              <a:pPr/>
              <a:t>70</a:t>
            </a:fld>
            <a:endParaRPr lang="en-US" smtClean="0"/>
          </a:p>
        </p:txBody>
      </p:sp>
      <p:sp>
        <p:nvSpPr>
          <p:cNvPr id="25604" name="Rectangle 2"/>
          <p:cNvSpPr>
            <a:spLocks noGrp="1" noChangeArrowheads="1"/>
          </p:cNvSpPr>
          <p:nvPr>
            <p:ph type="title"/>
          </p:nvPr>
        </p:nvSpPr>
        <p:spPr>
          <a:xfrm>
            <a:off x="182563" y="277813"/>
            <a:ext cx="8610600" cy="1139825"/>
          </a:xfrm>
        </p:spPr>
        <p:txBody>
          <a:bodyPr/>
          <a:lstStyle/>
          <a:p>
            <a:pPr eaLnBrk="1" hangingPunct="1"/>
            <a:r>
              <a:rPr lang="en-US" smtClean="0"/>
              <a:t>Models for the laws</a:t>
            </a:r>
          </a:p>
        </p:txBody>
      </p:sp>
      <p:sp>
        <p:nvSpPr>
          <p:cNvPr id="483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1938" y="1295400"/>
            <a:ext cx="4559300" cy="4851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000" dirty="0" smtClean="0">
                <a:solidFill>
                  <a:schemeClr val="accent2"/>
                </a:solidFill>
              </a:rPr>
              <a:t>Leskovec, Kleinberg, Faloutsos (05, 07):</a:t>
            </a:r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</a:pPr>
            <a:r>
              <a:rPr lang="en-US" sz="2000" dirty="0" smtClean="0">
                <a:solidFill>
                  <a:srgbClr val="FF0000"/>
                </a:solidFill>
              </a:rPr>
              <a:t>Forest Fire model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dirty="0" smtClean="0"/>
              <a:t>stochastic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dirty="0" smtClean="0"/>
              <a:t>densification power law, decreasing diameter, power law degree distribution</a:t>
            </a:r>
          </a:p>
          <a:p>
            <a:pPr lvl="1" eaLnBrk="1" hangingPunct="1">
              <a:lnSpc>
                <a:spcPct val="90000"/>
              </a:lnSpc>
            </a:pPr>
            <a:endParaRPr lang="en-US" sz="2000" dirty="0" smtClean="0"/>
          </a:p>
          <a:p>
            <a:pPr eaLnBrk="1" hangingPunct="1">
              <a:lnSpc>
                <a:spcPct val="90000"/>
              </a:lnSpc>
            </a:pPr>
            <a:r>
              <a:rPr lang="en-US" sz="2000" dirty="0" smtClean="0">
                <a:solidFill>
                  <a:schemeClr val="accent2"/>
                </a:solidFill>
              </a:rPr>
              <a:t>Leskovec, </a:t>
            </a:r>
            <a:r>
              <a:rPr lang="en-US" sz="2000" dirty="0" smtClean="0">
                <a:solidFill>
                  <a:srgbClr val="000099"/>
                </a:solidFill>
              </a:rPr>
              <a:t>Chakrabarti, Kleinberg</a:t>
            </a:r>
            <a:r>
              <a:rPr lang="en-US" sz="2000" dirty="0" smtClean="0"/>
              <a:t>,</a:t>
            </a:r>
            <a:r>
              <a:rPr lang="en-US" sz="2000" dirty="0" smtClean="0">
                <a:solidFill>
                  <a:schemeClr val="accent2"/>
                </a:solidFill>
              </a:rPr>
              <a:t>Faloutsos (05, 07):</a:t>
            </a:r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</a:pPr>
            <a:r>
              <a:rPr lang="en-US" sz="2000" dirty="0" smtClean="0">
                <a:solidFill>
                  <a:srgbClr val="FF0000"/>
                </a:solidFill>
              </a:rPr>
              <a:t>Kronecker Multiplication</a:t>
            </a:r>
          </a:p>
          <a:p>
            <a:pPr lvl="2" eaLnBrk="1" hangingPunct="1">
              <a:lnSpc>
                <a:spcPct val="90000"/>
              </a:lnSpc>
              <a:buClr>
                <a:schemeClr val="tx1"/>
              </a:buClr>
            </a:pPr>
            <a:r>
              <a:rPr lang="en-US" sz="2000" dirty="0" smtClean="0"/>
              <a:t>deterministic</a:t>
            </a:r>
          </a:p>
          <a:p>
            <a:pPr lvl="2" eaLnBrk="1" hangingPunct="1">
              <a:lnSpc>
                <a:spcPct val="90000"/>
              </a:lnSpc>
              <a:buClr>
                <a:schemeClr val="tx1"/>
              </a:buClr>
            </a:pPr>
            <a:r>
              <a:rPr lang="en-US" sz="2000" dirty="0" smtClean="0"/>
              <a:t>densification power law, decreasing diameter, power law degree distribution</a:t>
            </a:r>
          </a:p>
          <a:p>
            <a:pPr lvl="2" eaLnBrk="1" hangingPunct="1">
              <a:lnSpc>
                <a:spcPct val="90000"/>
              </a:lnSpc>
              <a:buClr>
                <a:schemeClr val="tx1"/>
              </a:buClr>
              <a:buFontTx/>
              <a:buNone/>
            </a:pPr>
            <a:endParaRPr lang="en-US" sz="2000" dirty="0" smtClean="0"/>
          </a:p>
          <a:p>
            <a:pPr lvl="1" eaLnBrk="1" hangingPunct="1">
              <a:lnSpc>
                <a:spcPct val="90000"/>
              </a:lnSpc>
            </a:pPr>
            <a:endParaRPr lang="en-US" sz="2000" dirty="0" smtClean="0"/>
          </a:p>
        </p:txBody>
      </p:sp>
      <p:pic>
        <p:nvPicPr>
          <p:cNvPr id="48333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07038" y="3932238"/>
            <a:ext cx="2319337" cy="23193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25607" name="Line 5"/>
          <p:cNvSpPr>
            <a:spLocks noChangeAspect="1" noChangeShapeType="1"/>
          </p:cNvSpPr>
          <p:nvPr/>
        </p:nvSpPr>
        <p:spPr bwMode="auto">
          <a:xfrm>
            <a:off x="7110413" y="2886075"/>
            <a:ext cx="733425" cy="612775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25608" name="Line 6"/>
          <p:cNvSpPr>
            <a:spLocks noChangeAspect="1" noChangeShapeType="1"/>
          </p:cNvSpPr>
          <p:nvPr/>
        </p:nvSpPr>
        <p:spPr bwMode="auto">
          <a:xfrm flipH="1">
            <a:off x="7150100" y="2033588"/>
            <a:ext cx="855663" cy="735012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483335" name="Line 7"/>
          <p:cNvSpPr>
            <a:spLocks noChangeAspect="1" noChangeShapeType="1"/>
          </p:cNvSpPr>
          <p:nvPr/>
        </p:nvSpPr>
        <p:spPr bwMode="auto">
          <a:xfrm flipH="1">
            <a:off x="7186613" y="2341563"/>
            <a:ext cx="457200" cy="39211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diamond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25610" name="Line 8"/>
          <p:cNvSpPr>
            <a:spLocks noChangeAspect="1" noChangeShapeType="1"/>
          </p:cNvSpPr>
          <p:nvPr/>
        </p:nvSpPr>
        <p:spPr bwMode="auto">
          <a:xfrm>
            <a:off x="6537325" y="2033588"/>
            <a:ext cx="490538" cy="735012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483337" name="Line 9"/>
          <p:cNvSpPr>
            <a:spLocks noChangeAspect="1" noChangeShapeType="1"/>
          </p:cNvSpPr>
          <p:nvPr/>
        </p:nvSpPr>
        <p:spPr bwMode="auto">
          <a:xfrm>
            <a:off x="6537325" y="2033588"/>
            <a:ext cx="490538" cy="73501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25612" name="Line 10"/>
          <p:cNvSpPr>
            <a:spLocks noChangeAspect="1" noChangeShapeType="1"/>
          </p:cNvSpPr>
          <p:nvPr/>
        </p:nvSpPr>
        <p:spPr bwMode="auto">
          <a:xfrm flipV="1">
            <a:off x="6292850" y="2890838"/>
            <a:ext cx="735013" cy="3683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483339" name="Line 11"/>
          <p:cNvSpPr>
            <a:spLocks noChangeAspect="1" noChangeShapeType="1"/>
          </p:cNvSpPr>
          <p:nvPr/>
        </p:nvSpPr>
        <p:spPr bwMode="auto">
          <a:xfrm flipV="1">
            <a:off x="6292850" y="2890838"/>
            <a:ext cx="735013" cy="3683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483340" name="Line 12"/>
          <p:cNvSpPr>
            <a:spLocks noChangeAspect="1" noChangeShapeType="1"/>
          </p:cNvSpPr>
          <p:nvPr/>
        </p:nvSpPr>
        <p:spPr bwMode="auto">
          <a:xfrm>
            <a:off x="7131050" y="2905125"/>
            <a:ext cx="436563" cy="3651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25615" name="Line 13"/>
          <p:cNvSpPr>
            <a:spLocks noChangeAspect="1" noChangeShapeType="1"/>
          </p:cNvSpPr>
          <p:nvPr/>
        </p:nvSpPr>
        <p:spPr bwMode="auto">
          <a:xfrm flipH="1">
            <a:off x="8005763" y="2768600"/>
            <a:ext cx="612775" cy="735013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483342" name="Line 14"/>
          <p:cNvSpPr>
            <a:spLocks noChangeAspect="1" noChangeShapeType="1"/>
          </p:cNvSpPr>
          <p:nvPr/>
        </p:nvSpPr>
        <p:spPr bwMode="auto">
          <a:xfrm>
            <a:off x="5124450" y="2733675"/>
            <a:ext cx="842963" cy="52705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483343" name="Line 15"/>
          <p:cNvSpPr>
            <a:spLocks noChangeAspect="1" noChangeShapeType="1"/>
          </p:cNvSpPr>
          <p:nvPr/>
        </p:nvSpPr>
        <p:spPr bwMode="auto">
          <a:xfrm>
            <a:off x="5053013" y="2644775"/>
            <a:ext cx="1974850" cy="123825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483344" name="Line 16"/>
          <p:cNvSpPr>
            <a:spLocks noChangeAspect="1" noChangeShapeType="1"/>
          </p:cNvSpPr>
          <p:nvPr/>
        </p:nvSpPr>
        <p:spPr bwMode="auto">
          <a:xfrm flipV="1">
            <a:off x="5068888" y="1911350"/>
            <a:ext cx="1223962" cy="612775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25619" name="Oval 17"/>
          <p:cNvSpPr>
            <a:spLocks noChangeAspect="1" noChangeArrowheads="1"/>
          </p:cNvSpPr>
          <p:nvPr/>
        </p:nvSpPr>
        <p:spPr bwMode="auto">
          <a:xfrm>
            <a:off x="6292850" y="1666875"/>
            <a:ext cx="366713" cy="366713"/>
          </a:xfrm>
          <a:prstGeom prst="ellipse">
            <a:avLst/>
          </a:prstGeom>
          <a:solidFill>
            <a:schemeClr val="bg2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5620" name="Oval 18"/>
          <p:cNvSpPr>
            <a:spLocks noChangeAspect="1" noChangeArrowheads="1"/>
          </p:cNvSpPr>
          <p:nvPr/>
        </p:nvSpPr>
        <p:spPr bwMode="auto">
          <a:xfrm>
            <a:off x="5926138" y="3135313"/>
            <a:ext cx="366712" cy="368300"/>
          </a:xfrm>
          <a:prstGeom prst="ellipse">
            <a:avLst/>
          </a:prstGeom>
          <a:solidFill>
            <a:schemeClr val="bg2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5621" name="Oval 19"/>
          <p:cNvSpPr>
            <a:spLocks noChangeAspect="1" noChangeArrowheads="1"/>
          </p:cNvSpPr>
          <p:nvPr/>
        </p:nvSpPr>
        <p:spPr bwMode="auto">
          <a:xfrm>
            <a:off x="6905625" y="2646363"/>
            <a:ext cx="366713" cy="366712"/>
          </a:xfrm>
          <a:prstGeom prst="ellipse">
            <a:avLst/>
          </a:prstGeom>
          <a:solidFill>
            <a:schemeClr val="bg2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5622" name="Oval 20"/>
          <p:cNvSpPr>
            <a:spLocks noChangeAspect="1" noChangeArrowheads="1"/>
          </p:cNvSpPr>
          <p:nvPr/>
        </p:nvSpPr>
        <p:spPr bwMode="auto">
          <a:xfrm>
            <a:off x="8496300" y="2524125"/>
            <a:ext cx="366713" cy="366713"/>
          </a:xfrm>
          <a:prstGeom prst="ellipse">
            <a:avLst/>
          </a:prstGeom>
          <a:solidFill>
            <a:schemeClr val="bg2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5623" name="Oval 21"/>
          <p:cNvSpPr>
            <a:spLocks noChangeAspect="1" noChangeArrowheads="1"/>
          </p:cNvSpPr>
          <p:nvPr/>
        </p:nvSpPr>
        <p:spPr bwMode="auto">
          <a:xfrm>
            <a:off x="7761288" y="3381375"/>
            <a:ext cx="366712" cy="366713"/>
          </a:xfrm>
          <a:prstGeom prst="ellipse">
            <a:avLst/>
          </a:prstGeom>
          <a:solidFill>
            <a:schemeClr val="bg2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5624" name="Oval 22"/>
          <p:cNvSpPr>
            <a:spLocks noChangeAspect="1" noChangeArrowheads="1"/>
          </p:cNvSpPr>
          <p:nvPr/>
        </p:nvSpPr>
        <p:spPr bwMode="auto">
          <a:xfrm>
            <a:off x="7883525" y="1789113"/>
            <a:ext cx="368300" cy="366712"/>
          </a:xfrm>
          <a:prstGeom prst="ellipse">
            <a:avLst/>
          </a:prstGeom>
          <a:solidFill>
            <a:schemeClr val="bg2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483351" name="Oval 23"/>
          <p:cNvSpPr>
            <a:spLocks noChangeAspect="1" noChangeArrowheads="1"/>
          </p:cNvSpPr>
          <p:nvPr/>
        </p:nvSpPr>
        <p:spPr bwMode="auto">
          <a:xfrm>
            <a:off x="4824413" y="2401888"/>
            <a:ext cx="366712" cy="366712"/>
          </a:xfrm>
          <a:prstGeom prst="ellipse">
            <a:avLst/>
          </a:prstGeom>
          <a:solidFill>
            <a:schemeClr val="folHlink"/>
          </a:solidFill>
          <a:ln w="9525" algn="ctr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483352" name="Oval 24"/>
          <p:cNvSpPr>
            <a:spLocks noChangeAspect="1" noChangeArrowheads="1"/>
          </p:cNvSpPr>
          <p:nvPr/>
        </p:nvSpPr>
        <p:spPr bwMode="auto">
          <a:xfrm>
            <a:off x="6292850" y="1666875"/>
            <a:ext cx="366713" cy="366713"/>
          </a:xfrm>
          <a:prstGeom prst="ellipse">
            <a:avLst/>
          </a:prstGeom>
          <a:solidFill>
            <a:schemeClr val="tx2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483353" name="Oval 25"/>
          <p:cNvSpPr>
            <a:spLocks noChangeAspect="1" noChangeArrowheads="1"/>
          </p:cNvSpPr>
          <p:nvPr/>
        </p:nvSpPr>
        <p:spPr bwMode="auto">
          <a:xfrm>
            <a:off x="6905625" y="2646363"/>
            <a:ext cx="366713" cy="366712"/>
          </a:xfrm>
          <a:prstGeom prst="ellipse">
            <a:avLst/>
          </a:prstGeom>
          <a:solidFill>
            <a:schemeClr val="tx2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483354" name="Oval 26"/>
          <p:cNvSpPr>
            <a:spLocks noChangeAspect="1" noChangeArrowheads="1"/>
          </p:cNvSpPr>
          <p:nvPr/>
        </p:nvSpPr>
        <p:spPr bwMode="auto">
          <a:xfrm>
            <a:off x="5926138" y="3135313"/>
            <a:ext cx="366712" cy="368300"/>
          </a:xfrm>
          <a:prstGeom prst="ellipse">
            <a:avLst/>
          </a:prstGeom>
          <a:solidFill>
            <a:schemeClr val="tx2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483355" name="Line 27"/>
          <p:cNvSpPr>
            <a:spLocks noChangeShapeType="1"/>
          </p:cNvSpPr>
          <p:nvPr/>
        </p:nvSpPr>
        <p:spPr bwMode="auto">
          <a:xfrm>
            <a:off x="7567613" y="2276475"/>
            <a:ext cx="152400" cy="152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483356" name="Line 28"/>
          <p:cNvSpPr>
            <a:spLocks noChangeShapeType="1"/>
          </p:cNvSpPr>
          <p:nvPr/>
        </p:nvSpPr>
        <p:spPr bwMode="auto">
          <a:xfrm flipH="1">
            <a:off x="7491413" y="3114675"/>
            <a:ext cx="152400" cy="228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2000"/>
                                        <p:tgtEl>
                                          <p:spTgt spid="483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83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83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2000"/>
                                        <p:tgtEl>
                                          <p:spTgt spid="483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000"/>
                            </p:stCondLst>
                            <p:childTnLst>
                              <p:par>
                                <p:cTn id="1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2000"/>
                                        <p:tgtEl>
                                          <p:spTgt spid="483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483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6000"/>
                            </p:stCondLst>
                            <p:childTnLst>
                              <p:par>
                                <p:cTn id="2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2000"/>
                                        <p:tgtEl>
                                          <p:spTgt spid="483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83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3" dur="500"/>
                                        <p:tgtEl>
                                          <p:spTgt spid="4833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3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8000"/>
                            </p:stCondLst>
                            <p:childTnLst>
                              <p:par>
                                <p:cTn id="36" presetID="3" presetClass="exit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7" dur="2000"/>
                                        <p:tgtEl>
                                          <p:spTgt spid="4833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83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0" dur="500"/>
                                        <p:tgtEl>
                                          <p:spTgt spid="4833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3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483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83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0"/>
                            </p:stCondLst>
                            <p:childTnLst>
                              <p:par>
                                <p:cTn id="49" presetID="3" presetClass="exit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0" dur="2000"/>
                                        <p:tgtEl>
                                          <p:spTgt spid="4833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83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3" dur="500"/>
                                        <p:tgtEl>
                                          <p:spTgt spid="4833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3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2000"/>
                            </p:stCondLst>
                            <p:childTnLst>
                              <p:par>
                                <p:cTn id="5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2000"/>
                                        <p:tgtEl>
                                          <p:spTgt spid="483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483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4000"/>
                            </p:stCondLst>
                            <p:childTnLst>
                              <p:par>
                                <p:cTn id="6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2000"/>
                                        <p:tgtEl>
                                          <p:spTgt spid="483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7" dur="500"/>
                                        <p:tgtEl>
                                          <p:spTgt spid="4833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3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3335" grpId="0" animBg="1"/>
      <p:bldP spid="483335" grpId="1" animBg="1"/>
      <p:bldP spid="483337" grpId="0" animBg="1"/>
      <p:bldP spid="483337" grpId="1" animBg="1"/>
      <p:bldP spid="483339" grpId="0" animBg="1"/>
      <p:bldP spid="483339" grpId="1" animBg="1"/>
      <p:bldP spid="483340" grpId="0" animBg="1"/>
      <p:bldP spid="483340" grpId="1" animBg="1"/>
      <p:bldP spid="483342" grpId="0" animBg="1"/>
      <p:bldP spid="483343" grpId="0" animBg="1"/>
      <p:bldP spid="483344" grpId="0" animBg="1"/>
      <p:bldP spid="483351" grpId="0" animBg="1"/>
      <p:bldP spid="483352" grpId="0" animBg="1"/>
      <p:bldP spid="483353" grpId="0" animBg="1"/>
      <p:bldP spid="483354" grpId="0" animBg="1"/>
      <p:bldP spid="483355" grpId="0" animBg="1"/>
      <p:bldP spid="483355" grpId="1" animBg="1"/>
      <p:bldP spid="483356" grpId="0" animBg="1"/>
      <p:bldP spid="483356" grpId="1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Many different models</a:t>
            </a:r>
            <a:endParaRPr lang="en-GB" dirty="0"/>
          </a:p>
        </p:txBody>
      </p:sp>
      <p:pic>
        <p:nvPicPr>
          <p:cNvPr id="6" name="Content Placeholder 5" descr="Pages from Janssen_Ryerson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0336" y="1484085"/>
            <a:ext cx="6225271" cy="4525963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Complex Networks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B9044-B1D8-49D8-9F05-DCB5B06F2D15}" type="slidenum">
              <a:rPr lang="en-US" smtClean="0"/>
              <a:pPr/>
              <a:t>71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Complex Networks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A4AE7-9921-41AA-ABFB-264DFFD9EB97}" type="slidenum">
              <a:rPr lang="en-US"/>
              <a:pPr/>
              <a:t>72</a:t>
            </a:fld>
            <a:endParaRPr lang="en-US" dirty="0"/>
          </a:p>
        </p:txBody>
      </p:sp>
      <p:sp>
        <p:nvSpPr>
          <p:cNvPr id="531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Models of </a:t>
            </a:r>
            <a:r>
              <a:rPr lang="en-US" sz="4000" dirty="0" smtClean="0"/>
              <a:t>OSNs</a:t>
            </a:r>
            <a:endParaRPr lang="en-US" sz="4000" dirty="0"/>
          </a:p>
        </p:txBody>
      </p:sp>
      <p:sp>
        <p:nvSpPr>
          <p:cNvPr id="531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dirty="0" smtClean="0">
                <a:solidFill>
                  <a:srgbClr val="000099"/>
                </a:solidFill>
              </a:rPr>
              <a:t>few </a:t>
            </a:r>
            <a:r>
              <a:rPr lang="en-US" dirty="0">
                <a:solidFill>
                  <a:srgbClr val="000099"/>
                </a:solidFill>
              </a:rPr>
              <a:t>models</a:t>
            </a:r>
            <a:r>
              <a:rPr lang="en-US" dirty="0"/>
              <a:t> for on-line social </a:t>
            </a:r>
            <a:r>
              <a:rPr lang="en-US" dirty="0" smtClean="0"/>
              <a:t>networks</a:t>
            </a:r>
          </a:p>
          <a:p>
            <a:pPr>
              <a:buClr>
                <a:schemeClr val="tx1"/>
              </a:buClr>
              <a:buNone/>
            </a:pPr>
            <a:endParaRPr lang="en-US" dirty="0"/>
          </a:p>
          <a:p>
            <a:pPr>
              <a:buClr>
                <a:schemeClr val="tx1"/>
              </a:buClr>
            </a:pPr>
            <a:r>
              <a:rPr lang="en-US" dirty="0">
                <a:solidFill>
                  <a:srgbClr val="FF0000"/>
                </a:solidFill>
              </a:rPr>
              <a:t>goal</a:t>
            </a:r>
            <a:r>
              <a:rPr lang="en-US" dirty="0"/>
              <a:t>: </a:t>
            </a:r>
            <a:r>
              <a:rPr lang="en-US" dirty="0" smtClean="0"/>
              <a:t>find a model </a:t>
            </a:r>
            <a:r>
              <a:rPr lang="en-US" dirty="0"/>
              <a:t>which simulates many of the observed properties of </a:t>
            </a:r>
            <a:r>
              <a:rPr lang="en-US" dirty="0" smtClean="0"/>
              <a:t>OSNs,</a:t>
            </a:r>
          </a:p>
          <a:p>
            <a:pPr lvl="1">
              <a:buClr>
                <a:schemeClr val="tx1"/>
              </a:buClr>
            </a:pPr>
            <a:r>
              <a:rPr lang="en-US" dirty="0" smtClean="0"/>
              <a:t>densification and shrinking distance</a:t>
            </a:r>
            <a:endParaRPr lang="en-US" dirty="0"/>
          </a:p>
          <a:p>
            <a:pPr lvl="1">
              <a:buClr>
                <a:schemeClr val="tx1"/>
              </a:buClr>
            </a:pPr>
            <a:r>
              <a:rPr lang="en-US" dirty="0" smtClean="0"/>
              <a:t>must evolve </a:t>
            </a:r>
            <a:r>
              <a:rPr lang="en-US" dirty="0"/>
              <a:t>in a natural </a:t>
            </a:r>
            <a:r>
              <a:rPr lang="en-US" dirty="0" smtClean="0"/>
              <a:t>way…</a:t>
            </a:r>
            <a:endParaRPr lang="en-US" dirty="0">
              <a:solidFill>
                <a:srgbClr val="000099"/>
              </a:solidFill>
            </a:endParaRPr>
          </a:p>
          <a:p>
            <a:pPr>
              <a:buClr>
                <a:schemeClr val="tx1"/>
              </a:buClr>
            </a:pP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Transitivity</a:t>
            </a:r>
            <a:endParaRPr lang="en-GB" dirty="0">
              <a:solidFill>
                <a:srgbClr val="C00000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Complex Networks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5FD6F-D795-459A-BF32-753F9B0F320B}" type="slidenum">
              <a:rPr lang="en-US" smtClean="0"/>
              <a:pPr/>
              <a:t>73</a:t>
            </a:fld>
            <a:endParaRPr lang="en-US" dirty="0"/>
          </a:p>
        </p:txBody>
      </p:sp>
      <p:pic>
        <p:nvPicPr>
          <p:cNvPr id="471050" name="Picture 10" descr="Christiane Amanpour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97060" y="2416855"/>
            <a:ext cx="1903080" cy="2155145"/>
          </a:xfrm>
          <a:prstGeom prst="rect">
            <a:avLst/>
          </a:prstGeom>
          <a:noFill/>
        </p:spPr>
      </p:pic>
      <p:pic>
        <p:nvPicPr>
          <p:cNvPr id="471052" name="Picture 12" descr="http://www.opednews.com/populum/uploaded/queen-rania-of-jordan-11235-20090516-66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40227" y="2353035"/>
            <a:ext cx="1925277" cy="2218965"/>
          </a:xfrm>
          <a:prstGeom prst="rect">
            <a:avLst/>
          </a:prstGeom>
          <a:noFill/>
        </p:spPr>
      </p:pic>
      <p:cxnSp>
        <p:nvCxnSpPr>
          <p:cNvPr id="23" name="Straight Arrow Connector 22"/>
          <p:cNvCxnSpPr/>
          <p:nvPr/>
        </p:nvCxnSpPr>
        <p:spPr>
          <a:xfrm>
            <a:off x="2801257" y="3352800"/>
            <a:ext cx="711200" cy="14514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5682343" y="3403600"/>
            <a:ext cx="711200" cy="14514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Freeform 31"/>
          <p:cNvSpPr/>
          <p:nvPr/>
        </p:nvSpPr>
        <p:spPr>
          <a:xfrm>
            <a:off x="1973943" y="4862286"/>
            <a:ext cx="5080000" cy="1047447"/>
          </a:xfrm>
          <a:custGeom>
            <a:avLst/>
            <a:gdLst>
              <a:gd name="connsiteX0" fmla="*/ 0 w 5080000"/>
              <a:gd name="connsiteY0" fmla="*/ 0 h 1047447"/>
              <a:gd name="connsiteX1" fmla="*/ 2670628 w 5080000"/>
              <a:gd name="connsiteY1" fmla="*/ 1030514 h 1047447"/>
              <a:gd name="connsiteX2" fmla="*/ 5080000 w 5080000"/>
              <a:gd name="connsiteY2" fmla="*/ 101600 h 1047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080000" h="1047447">
                <a:moveTo>
                  <a:pt x="0" y="0"/>
                </a:moveTo>
                <a:cubicBezTo>
                  <a:pt x="911980" y="506790"/>
                  <a:pt x="1823961" y="1013581"/>
                  <a:pt x="2670628" y="1030514"/>
                </a:cubicBezTo>
                <a:cubicBezTo>
                  <a:pt x="3517295" y="1047447"/>
                  <a:pt x="4671181" y="258838"/>
                  <a:pt x="5080000" y="101600"/>
                </a:cubicBezTo>
              </a:path>
            </a:pathLst>
          </a:cu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612354" name="Picture 2" descr="http://www.mediabistro.com/webnewser/original/Ashton-Kutcher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730547" y="2394857"/>
            <a:ext cx="1766116" cy="220764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Complex Networks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73C12-2A31-4B03-A83E-94562FD4C0AA}" type="slidenum">
              <a:rPr lang="en-US"/>
              <a:pPr/>
              <a:t>74</a:t>
            </a:fld>
            <a:endParaRPr lang="en-US" dirty="0"/>
          </a:p>
        </p:txBody>
      </p:sp>
      <p:sp>
        <p:nvSpPr>
          <p:cNvPr id="484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rgbClr val="C00000"/>
                </a:solidFill>
              </a:rPr>
              <a:t>Iterated Local Transitivity (ILT) </a:t>
            </a:r>
            <a:r>
              <a:rPr lang="en-US" sz="3600" dirty="0"/>
              <a:t>model</a:t>
            </a:r>
            <a:br>
              <a:rPr lang="en-US" sz="3600" dirty="0"/>
            </a:br>
            <a:r>
              <a:rPr lang="en-US" sz="3200" dirty="0">
                <a:solidFill>
                  <a:srgbClr val="0070C0"/>
                </a:solidFill>
              </a:rPr>
              <a:t>(Bonato, Hadi, Horn, Prałat, Wang, 08)</a:t>
            </a:r>
          </a:p>
        </p:txBody>
      </p:sp>
      <p:sp>
        <p:nvSpPr>
          <p:cNvPr id="484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862138"/>
            <a:ext cx="8229600" cy="3916362"/>
          </a:xfrm>
        </p:spPr>
        <p:txBody>
          <a:bodyPr/>
          <a:lstStyle/>
          <a:p>
            <a:r>
              <a:rPr lang="en-US" sz="2800" dirty="0"/>
              <a:t>key paradigm is </a:t>
            </a:r>
            <a:r>
              <a:rPr lang="en-US" sz="2800" dirty="0">
                <a:solidFill>
                  <a:srgbClr val="FF0000"/>
                </a:solidFill>
              </a:rPr>
              <a:t>transitivity</a:t>
            </a:r>
            <a:r>
              <a:rPr lang="en-US" sz="2800" dirty="0"/>
              <a:t>: friends of friends are more likely </a:t>
            </a:r>
            <a:r>
              <a:rPr lang="en-US" sz="2800" dirty="0" smtClean="0"/>
              <a:t>friends</a:t>
            </a:r>
            <a:endParaRPr lang="en-US" sz="2800" dirty="0">
              <a:solidFill>
                <a:srgbClr val="0070C0"/>
              </a:solidFill>
            </a:endParaRPr>
          </a:p>
          <a:p>
            <a:pPr>
              <a:buClr>
                <a:schemeClr val="tx1"/>
              </a:buClr>
            </a:pPr>
            <a:endParaRPr lang="en-US" sz="2800" dirty="0" smtClean="0">
              <a:solidFill>
                <a:srgbClr val="FF0000"/>
              </a:solidFill>
            </a:endParaRPr>
          </a:p>
          <a:p>
            <a:pPr>
              <a:buClr>
                <a:schemeClr val="tx1"/>
              </a:buClr>
            </a:pPr>
            <a:r>
              <a:rPr lang="en-US" sz="2800" dirty="0" smtClean="0"/>
              <a:t>nodes </a:t>
            </a:r>
            <a:r>
              <a:rPr lang="en-US" sz="2800" dirty="0"/>
              <a:t>often only have </a:t>
            </a:r>
            <a:r>
              <a:rPr lang="en-US" sz="2800" dirty="0">
                <a:solidFill>
                  <a:srgbClr val="FF0000"/>
                </a:solidFill>
              </a:rPr>
              <a:t>local </a:t>
            </a:r>
            <a:r>
              <a:rPr lang="en-US" sz="2800" dirty="0" smtClean="0">
                <a:solidFill>
                  <a:srgbClr val="FF0000"/>
                </a:solidFill>
              </a:rPr>
              <a:t>influence</a:t>
            </a:r>
          </a:p>
          <a:p>
            <a:pPr>
              <a:buClr>
                <a:schemeClr val="tx1"/>
              </a:buClr>
              <a:buNone/>
            </a:pPr>
            <a:endParaRPr lang="en-US" sz="2800" dirty="0">
              <a:solidFill>
                <a:srgbClr val="FF0000"/>
              </a:solidFill>
            </a:endParaRPr>
          </a:p>
          <a:p>
            <a:r>
              <a:rPr lang="en-US" sz="2800" dirty="0"/>
              <a:t>evolves over </a:t>
            </a:r>
            <a:r>
              <a:rPr lang="en-US" sz="2800" dirty="0">
                <a:solidFill>
                  <a:srgbClr val="FF0000"/>
                </a:solidFill>
              </a:rPr>
              <a:t>time</a:t>
            </a:r>
            <a:r>
              <a:rPr lang="en-US" sz="2800" dirty="0"/>
              <a:t>, but retains </a:t>
            </a:r>
            <a:r>
              <a:rPr lang="en-US" sz="2800" dirty="0">
                <a:solidFill>
                  <a:srgbClr val="FF0000"/>
                </a:solidFill>
              </a:rPr>
              <a:t>memory of initial graph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Complex Networks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3899D-8A71-4076-ACAD-4DA180169407}" type="slidenum">
              <a:rPr lang="en-US"/>
              <a:pPr/>
              <a:t>75</a:t>
            </a:fld>
            <a:endParaRPr lang="en-US" dirty="0"/>
          </a:p>
        </p:txBody>
      </p:sp>
      <p:sp>
        <p:nvSpPr>
          <p:cNvPr id="491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ILT model</a:t>
            </a:r>
          </a:p>
        </p:txBody>
      </p:sp>
      <p:sp>
        <p:nvSpPr>
          <p:cNvPr id="491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dirty="0" smtClean="0"/>
              <a:t>start with a graph of order </a:t>
            </a:r>
            <a:r>
              <a:rPr lang="en-US" dirty="0" smtClean="0">
                <a:solidFill>
                  <a:srgbClr val="000099"/>
                </a:solidFill>
              </a:rPr>
              <a:t>n</a:t>
            </a:r>
            <a:endParaRPr lang="en-US" dirty="0">
              <a:solidFill>
                <a:srgbClr val="000099"/>
              </a:solidFill>
            </a:endParaRPr>
          </a:p>
          <a:p>
            <a:r>
              <a:rPr lang="en-US" dirty="0"/>
              <a:t>to form the graph </a:t>
            </a:r>
            <a:r>
              <a:rPr lang="en-US" i="1" dirty="0">
                <a:solidFill>
                  <a:srgbClr val="000099"/>
                </a:solidFill>
              </a:rPr>
              <a:t>G</a:t>
            </a:r>
            <a:r>
              <a:rPr lang="en-US" baseline="-25000" dirty="0">
                <a:solidFill>
                  <a:srgbClr val="000099"/>
                </a:solidFill>
              </a:rPr>
              <a:t>t+1</a:t>
            </a:r>
            <a:r>
              <a:rPr lang="en-US" dirty="0"/>
              <a:t> for each </a:t>
            </a:r>
            <a:r>
              <a:rPr lang="en-US" dirty="0" smtClean="0"/>
              <a:t>node </a:t>
            </a:r>
            <a:r>
              <a:rPr lang="en-US" dirty="0">
                <a:solidFill>
                  <a:srgbClr val="000099"/>
                </a:solidFill>
              </a:rPr>
              <a:t>x</a:t>
            </a:r>
            <a:r>
              <a:rPr lang="en-US" dirty="0"/>
              <a:t> from time </a:t>
            </a:r>
            <a:r>
              <a:rPr lang="en-US" i="1" dirty="0">
                <a:solidFill>
                  <a:srgbClr val="000099"/>
                </a:solidFill>
              </a:rPr>
              <a:t>t</a:t>
            </a:r>
            <a:r>
              <a:rPr lang="en-US" dirty="0"/>
              <a:t>, add a </a:t>
            </a:r>
            <a:r>
              <a:rPr lang="en-US" dirty="0" smtClean="0"/>
              <a:t>node </a:t>
            </a:r>
            <a:r>
              <a:rPr lang="en-US" i="1" dirty="0">
                <a:solidFill>
                  <a:srgbClr val="000099"/>
                </a:solidFill>
              </a:rPr>
              <a:t>x</a:t>
            </a:r>
            <a:r>
              <a:rPr lang="en-US" dirty="0">
                <a:solidFill>
                  <a:srgbClr val="000099"/>
                </a:solidFill>
              </a:rPr>
              <a:t>’</a:t>
            </a:r>
            <a:r>
              <a:rPr lang="en-US" dirty="0"/>
              <a:t>, the </a:t>
            </a:r>
            <a:r>
              <a:rPr lang="en-US" dirty="0">
                <a:solidFill>
                  <a:srgbClr val="FF0000"/>
                </a:solidFill>
              </a:rPr>
              <a:t>clone of</a:t>
            </a:r>
            <a:r>
              <a:rPr lang="en-US" dirty="0"/>
              <a:t> </a:t>
            </a:r>
            <a:r>
              <a:rPr lang="en-US" i="1" dirty="0">
                <a:solidFill>
                  <a:srgbClr val="000099"/>
                </a:solidFill>
              </a:rPr>
              <a:t>x</a:t>
            </a:r>
            <a:r>
              <a:rPr lang="en-US" dirty="0"/>
              <a:t>, so that </a:t>
            </a:r>
            <a:r>
              <a:rPr lang="en-US" i="1" dirty="0">
                <a:solidFill>
                  <a:srgbClr val="000099"/>
                </a:solidFill>
              </a:rPr>
              <a:t>xx</a:t>
            </a:r>
            <a:r>
              <a:rPr lang="en-US" dirty="0">
                <a:solidFill>
                  <a:srgbClr val="000099"/>
                </a:solidFill>
              </a:rPr>
              <a:t>’</a:t>
            </a:r>
            <a:r>
              <a:rPr lang="en-US" dirty="0"/>
              <a:t> is an edge, and </a:t>
            </a:r>
            <a:r>
              <a:rPr lang="en-US" i="1" dirty="0">
                <a:solidFill>
                  <a:srgbClr val="000099"/>
                </a:solidFill>
              </a:rPr>
              <a:t>x</a:t>
            </a:r>
            <a:r>
              <a:rPr lang="en-US" dirty="0">
                <a:solidFill>
                  <a:srgbClr val="000099"/>
                </a:solidFill>
              </a:rPr>
              <a:t>’</a:t>
            </a:r>
            <a:r>
              <a:rPr lang="en-US" dirty="0"/>
              <a:t> is joined to </a:t>
            </a:r>
            <a:r>
              <a:rPr lang="en-US" dirty="0" smtClean="0"/>
              <a:t>each node joined to x</a:t>
            </a:r>
            <a:endParaRPr lang="en-US" i="1" dirty="0" smtClean="0">
              <a:solidFill>
                <a:srgbClr val="000099"/>
              </a:solidFill>
            </a:endParaRPr>
          </a:p>
          <a:p>
            <a:pPr>
              <a:buNone/>
            </a:pPr>
            <a:endParaRPr lang="en-US" dirty="0">
              <a:solidFill>
                <a:srgbClr val="000099"/>
              </a:solidFill>
            </a:endParaRPr>
          </a:p>
          <a:p>
            <a:r>
              <a:rPr lang="en-US" dirty="0"/>
              <a:t>order of </a:t>
            </a:r>
            <a:r>
              <a:rPr lang="en-US" i="1" dirty="0">
                <a:solidFill>
                  <a:srgbClr val="000099"/>
                </a:solidFill>
              </a:rPr>
              <a:t>G</a:t>
            </a:r>
            <a:r>
              <a:rPr lang="en-US" baseline="-25000" dirty="0">
                <a:solidFill>
                  <a:srgbClr val="000099"/>
                </a:solidFill>
              </a:rPr>
              <a:t>t</a:t>
            </a:r>
            <a:r>
              <a:rPr lang="en-US" dirty="0"/>
              <a:t> is </a:t>
            </a:r>
            <a:r>
              <a:rPr lang="en-US" dirty="0" smtClean="0">
                <a:solidFill>
                  <a:srgbClr val="000099"/>
                </a:solidFill>
              </a:rPr>
              <a:t>n2</a:t>
            </a:r>
            <a:r>
              <a:rPr lang="en-US" baseline="30000" dirty="0" smtClean="0">
                <a:solidFill>
                  <a:srgbClr val="000099"/>
                </a:solidFill>
              </a:rPr>
              <a:t>t</a:t>
            </a:r>
            <a:endParaRPr lang="en-US" baseline="-25000" dirty="0">
              <a:solidFill>
                <a:srgbClr val="000099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Complex Networks</a:t>
            </a:r>
            <a:endParaRPr lang="en-US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F0DAB-E428-4C83-9996-EC6C9B56C163}" type="slidenum">
              <a:rPr lang="en-US"/>
              <a:pPr/>
              <a:t>76</a:t>
            </a:fld>
            <a:endParaRPr lang="en-US" dirty="0"/>
          </a:p>
        </p:txBody>
      </p:sp>
      <p:pic>
        <p:nvPicPr>
          <p:cNvPr id="492548" name="Picture 4" descr="t=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46213" y="1677988"/>
            <a:ext cx="5830887" cy="4208462"/>
          </a:xfrm>
          <a:prstGeom prst="rect">
            <a:avLst/>
          </a:prstGeom>
          <a:noFill/>
        </p:spPr>
      </p:pic>
      <p:sp>
        <p:nvSpPr>
          <p:cNvPr id="492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>
                <a:solidFill>
                  <a:srgbClr val="000099"/>
                </a:solidFill>
              </a:rPr>
              <a:t>G</a:t>
            </a:r>
            <a:r>
              <a:rPr lang="en-US" baseline="-25000" dirty="0">
                <a:solidFill>
                  <a:srgbClr val="000099"/>
                </a:solidFill>
              </a:rPr>
              <a:t>0</a:t>
            </a:r>
            <a:r>
              <a:rPr lang="en-US" dirty="0">
                <a:solidFill>
                  <a:srgbClr val="000099"/>
                </a:solidFill>
              </a:rPr>
              <a:t> = C</a:t>
            </a:r>
            <a:r>
              <a:rPr lang="en-US" baseline="-25000" dirty="0">
                <a:solidFill>
                  <a:srgbClr val="000099"/>
                </a:solidFill>
              </a:rPr>
              <a:t>4</a:t>
            </a:r>
          </a:p>
        </p:txBody>
      </p:sp>
      <p:pic>
        <p:nvPicPr>
          <p:cNvPr id="492550" name="Picture 6" descr="t=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46213" y="1751013"/>
            <a:ext cx="5876925" cy="4135437"/>
          </a:xfrm>
          <a:prstGeom prst="rect">
            <a:avLst/>
          </a:prstGeom>
          <a:noFill/>
        </p:spPr>
      </p:pic>
      <p:pic>
        <p:nvPicPr>
          <p:cNvPr id="492551" name="Picture 7" descr="t=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447800" y="1697038"/>
            <a:ext cx="5730875" cy="4189412"/>
          </a:xfrm>
          <a:prstGeom prst="rect">
            <a:avLst/>
          </a:prstGeom>
          <a:noFill/>
        </p:spPr>
      </p:pic>
      <p:pic>
        <p:nvPicPr>
          <p:cNvPr id="492552" name="Picture 8" descr="t=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447800" y="1693863"/>
            <a:ext cx="5656263" cy="3989387"/>
          </a:xfrm>
          <a:prstGeom prst="rect">
            <a:avLst/>
          </a:prstGeom>
          <a:noFill/>
        </p:spPr>
      </p:pic>
      <p:pic>
        <p:nvPicPr>
          <p:cNvPr id="492553" name="Picture 9" descr="t5_2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446213" y="1736725"/>
            <a:ext cx="5830887" cy="4149725"/>
          </a:xfrm>
          <a:prstGeom prst="rect">
            <a:avLst/>
          </a:prstGeom>
          <a:noFill/>
        </p:spPr>
      </p:pic>
      <p:sp>
        <p:nvSpPr>
          <p:cNvPr id="492554" name="Rectangle 10"/>
          <p:cNvSpPr>
            <a:spLocks noChangeArrowheads="1"/>
          </p:cNvSpPr>
          <p:nvPr/>
        </p:nvSpPr>
        <p:spPr bwMode="auto">
          <a:xfrm>
            <a:off x="6226175" y="638175"/>
            <a:ext cx="566738" cy="4794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492555" name="Oval 11"/>
          <p:cNvSpPr>
            <a:spLocks noChangeArrowheads="1"/>
          </p:cNvSpPr>
          <p:nvPr/>
        </p:nvSpPr>
        <p:spPr bwMode="auto">
          <a:xfrm>
            <a:off x="6138863" y="550863"/>
            <a:ext cx="188912" cy="17462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492556" name="Oval 12"/>
          <p:cNvSpPr>
            <a:spLocks noChangeArrowheads="1"/>
          </p:cNvSpPr>
          <p:nvPr/>
        </p:nvSpPr>
        <p:spPr bwMode="auto">
          <a:xfrm>
            <a:off x="6696075" y="541338"/>
            <a:ext cx="188913" cy="17462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492557" name="Oval 13"/>
          <p:cNvSpPr>
            <a:spLocks noChangeArrowheads="1"/>
          </p:cNvSpPr>
          <p:nvPr/>
        </p:nvSpPr>
        <p:spPr bwMode="auto">
          <a:xfrm>
            <a:off x="6715125" y="1039813"/>
            <a:ext cx="188913" cy="17462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492558" name="Oval 14"/>
          <p:cNvSpPr>
            <a:spLocks noChangeArrowheads="1"/>
          </p:cNvSpPr>
          <p:nvPr/>
        </p:nvSpPr>
        <p:spPr bwMode="auto">
          <a:xfrm>
            <a:off x="6111875" y="1016000"/>
            <a:ext cx="188913" cy="17462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492559" name="Oval 15"/>
          <p:cNvSpPr>
            <a:spLocks noChangeArrowheads="1"/>
          </p:cNvSpPr>
          <p:nvPr/>
        </p:nvSpPr>
        <p:spPr bwMode="auto">
          <a:xfrm rot="-1199981">
            <a:off x="1562100" y="1973263"/>
            <a:ext cx="4813300" cy="1941512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2559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Complex Networks</a:t>
            </a:r>
            <a:endParaRPr lang="en-US" dirty="0" smtClean="0"/>
          </a:p>
        </p:txBody>
      </p:sp>
      <p:sp>
        <p:nvSpPr>
          <p:cNvPr id="3379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45494BC-EA2B-46F8-BAB8-628C84D20790}" type="slidenum">
              <a:rPr lang="en-US" smtClean="0"/>
              <a:pPr/>
              <a:t>77</a:t>
            </a:fld>
            <a:endParaRPr lang="en-US" dirty="0" smtClean="0"/>
          </a:p>
        </p:txBody>
      </p:sp>
      <p:sp>
        <p:nvSpPr>
          <p:cNvPr id="337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Properties of ILT model</a:t>
            </a:r>
          </a:p>
        </p:txBody>
      </p:sp>
      <p:sp>
        <p:nvSpPr>
          <p:cNvPr id="490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800" dirty="0" smtClean="0"/>
              <a:t>average degree </a:t>
            </a:r>
            <a:r>
              <a:rPr lang="en-US" sz="2800" dirty="0" smtClean="0">
                <a:solidFill>
                  <a:srgbClr val="000099"/>
                </a:solidFill>
              </a:rPr>
              <a:t>increasing</a:t>
            </a:r>
            <a:r>
              <a:rPr lang="en-US" sz="2800" dirty="0" smtClean="0"/>
              <a:t> to with time</a:t>
            </a:r>
          </a:p>
          <a:p>
            <a:pPr eaLnBrk="1" hangingPunct="1">
              <a:lnSpc>
                <a:spcPct val="80000"/>
              </a:lnSpc>
            </a:pPr>
            <a:endParaRPr lang="en-US" sz="1200" dirty="0" smtClean="0"/>
          </a:p>
          <a:p>
            <a:pPr eaLnBrk="1" hangingPunct="1">
              <a:lnSpc>
                <a:spcPct val="80000"/>
              </a:lnSpc>
            </a:pPr>
            <a:r>
              <a:rPr lang="en-US" sz="2800" dirty="0" smtClean="0"/>
              <a:t>average distance </a:t>
            </a:r>
            <a:r>
              <a:rPr lang="en-US" sz="2800" dirty="0" smtClean="0">
                <a:solidFill>
                  <a:srgbClr val="000099"/>
                </a:solidFill>
              </a:rPr>
              <a:t>bounded by constant and converging</a:t>
            </a:r>
            <a:r>
              <a:rPr lang="en-US" sz="2800" dirty="0" smtClean="0"/>
              <a:t>, and in many cases </a:t>
            </a:r>
            <a:r>
              <a:rPr lang="en-US" sz="2800" dirty="0" smtClean="0">
                <a:solidFill>
                  <a:srgbClr val="000099"/>
                </a:solidFill>
              </a:rPr>
              <a:t>decreasing</a:t>
            </a:r>
            <a:r>
              <a:rPr lang="en-US" sz="2800" dirty="0" smtClean="0"/>
              <a:t> with time; diameter does not change</a:t>
            </a:r>
          </a:p>
          <a:p>
            <a:pPr eaLnBrk="1" hangingPunct="1">
              <a:lnSpc>
                <a:spcPct val="80000"/>
              </a:lnSpc>
            </a:pPr>
            <a:endParaRPr lang="en-US" sz="1200" dirty="0" smtClean="0"/>
          </a:p>
          <a:p>
            <a:pPr eaLnBrk="1" hangingPunct="1">
              <a:lnSpc>
                <a:spcPct val="80000"/>
              </a:lnSpc>
            </a:pPr>
            <a:r>
              <a:rPr lang="en-US" sz="2800" dirty="0" smtClean="0"/>
              <a:t>clustering </a:t>
            </a:r>
            <a:r>
              <a:rPr lang="en-US" sz="2800" dirty="0" smtClean="0">
                <a:solidFill>
                  <a:srgbClr val="000099"/>
                </a:solidFill>
              </a:rPr>
              <a:t>higher</a:t>
            </a:r>
            <a:r>
              <a:rPr lang="en-US" sz="2800" dirty="0" smtClean="0"/>
              <a:t> than in a random generated graph with same average degree</a:t>
            </a:r>
          </a:p>
          <a:p>
            <a:pPr eaLnBrk="1" hangingPunct="1">
              <a:lnSpc>
                <a:spcPct val="80000"/>
              </a:lnSpc>
            </a:pPr>
            <a:endParaRPr lang="en-US" sz="1200" dirty="0" smtClean="0"/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2800" dirty="0" smtClean="0">
                <a:solidFill>
                  <a:srgbClr val="FF0000"/>
                </a:solidFill>
              </a:rPr>
              <a:t>bad expansion</a:t>
            </a:r>
            <a:r>
              <a:rPr lang="en-US" sz="2800" dirty="0" smtClean="0"/>
              <a:t>: small gaps between 1</a:t>
            </a:r>
            <a:r>
              <a:rPr lang="en-US" sz="2800" baseline="30000" dirty="0" smtClean="0"/>
              <a:t>st</a:t>
            </a:r>
            <a:r>
              <a:rPr lang="en-US" sz="2800" dirty="0" smtClean="0"/>
              <a:t> and 2</a:t>
            </a:r>
            <a:r>
              <a:rPr lang="en-US" sz="2800" baseline="30000" dirty="0" smtClean="0"/>
              <a:t>nd</a:t>
            </a:r>
            <a:r>
              <a:rPr lang="en-US" sz="2800" dirty="0" smtClean="0"/>
              <a:t> eigenvalues in adjacency and normalized Laplacian matrices of </a:t>
            </a:r>
            <a:r>
              <a:rPr lang="en-US" sz="2800" i="1" dirty="0" smtClean="0">
                <a:solidFill>
                  <a:srgbClr val="000099"/>
                </a:solidFill>
              </a:rPr>
              <a:t>G</a:t>
            </a:r>
            <a:r>
              <a:rPr lang="en-US" sz="2800" i="1" baseline="-25000" dirty="0" smtClean="0">
                <a:solidFill>
                  <a:srgbClr val="000099"/>
                </a:solidFill>
              </a:rPr>
              <a:t>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Complex Networks</a:t>
            </a:r>
            <a:endParaRPr lang="en-US" dirty="0" smtClean="0"/>
          </a:p>
        </p:txBody>
      </p:sp>
      <p:sp>
        <p:nvSpPr>
          <p:cNvPr id="3481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45CADA7-5C6A-4D69-85DB-2DC92AB32B16}" type="slidenum">
              <a:rPr lang="en-US" smtClean="0"/>
              <a:pPr/>
              <a:t>78</a:t>
            </a:fld>
            <a:endParaRPr lang="en-US" dirty="0" smtClean="0"/>
          </a:p>
        </p:txBody>
      </p:sp>
      <p:sp>
        <p:nvSpPr>
          <p:cNvPr id="348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Densification</a:t>
            </a:r>
          </a:p>
        </p:txBody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Clr>
                <a:schemeClr val="tx1"/>
              </a:buClr>
            </a:pPr>
            <a:r>
              <a:rPr lang="en-US" dirty="0" smtClean="0">
                <a:solidFill>
                  <a:srgbClr val="FF0000"/>
                </a:solidFill>
              </a:rPr>
              <a:t>n</a:t>
            </a:r>
            <a:r>
              <a:rPr lang="en-US" baseline="-25000" dirty="0" smtClean="0">
                <a:solidFill>
                  <a:srgbClr val="FF0000"/>
                </a:solidFill>
              </a:rPr>
              <a:t>t</a:t>
            </a:r>
            <a:r>
              <a:rPr lang="en-US" dirty="0" smtClean="0"/>
              <a:t> = order of </a:t>
            </a:r>
            <a:r>
              <a:rPr lang="en-US" i="1" dirty="0" smtClean="0">
                <a:solidFill>
                  <a:srgbClr val="000099"/>
                </a:solidFill>
              </a:rPr>
              <a:t>G</a:t>
            </a:r>
            <a:r>
              <a:rPr lang="en-US" i="1" baseline="-25000" dirty="0" smtClean="0">
                <a:solidFill>
                  <a:srgbClr val="000099"/>
                </a:solidFill>
              </a:rPr>
              <a:t>t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FF0000"/>
                </a:solidFill>
              </a:rPr>
              <a:t>e</a:t>
            </a:r>
            <a:r>
              <a:rPr lang="en-US" baseline="-25000" dirty="0" smtClean="0">
                <a:solidFill>
                  <a:srgbClr val="FF0000"/>
                </a:solidFill>
              </a:rPr>
              <a:t>t</a:t>
            </a:r>
            <a:r>
              <a:rPr lang="en-US" dirty="0" smtClean="0"/>
              <a:t> = size of </a:t>
            </a:r>
            <a:r>
              <a:rPr lang="en-US" i="1" dirty="0" smtClean="0">
                <a:solidFill>
                  <a:srgbClr val="000099"/>
                </a:solidFill>
              </a:rPr>
              <a:t>G</a:t>
            </a:r>
            <a:r>
              <a:rPr lang="en-US" i="1" baseline="-25000" dirty="0" smtClean="0">
                <a:solidFill>
                  <a:srgbClr val="000099"/>
                </a:solidFill>
              </a:rPr>
              <a:t>t</a:t>
            </a:r>
          </a:p>
          <a:p>
            <a:pPr eaLnBrk="1" hangingPunct="1">
              <a:buFontTx/>
              <a:buNone/>
            </a:pPr>
            <a:endParaRPr lang="en-US" dirty="0" smtClean="0"/>
          </a:p>
          <a:p>
            <a:pPr eaLnBrk="1" hangingPunct="1">
              <a:buFontTx/>
              <a:buNone/>
            </a:pPr>
            <a:r>
              <a:rPr lang="en-US" dirty="0" smtClean="0"/>
              <a:t>Lemma: For t &gt; 0, </a:t>
            </a:r>
          </a:p>
          <a:p>
            <a:pPr algn="ctr" eaLnBrk="1" hangingPunct="1">
              <a:buFontTx/>
              <a:buNone/>
            </a:pPr>
            <a:r>
              <a:rPr lang="en-US" dirty="0" smtClean="0">
                <a:solidFill>
                  <a:srgbClr val="000099"/>
                </a:solidFill>
              </a:rPr>
              <a:t>n</a:t>
            </a:r>
            <a:r>
              <a:rPr lang="en-US" baseline="-25000" dirty="0" smtClean="0">
                <a:solidFill>
                  <a:srgbClr val="000099"/>
                </a:solidFill>
              </a:rPr>
              <a:t>t</a:t>
            </a:r>
            <a:r>
              <a:rPr lang="en-US" dirty="0" smtClean="0">
                <a:solidFill>
                  <a:srgbClr val="000099"/>
                </a:solidFill>
              </a:rPr>
              <a:t> = 2</a:t>
            </a:r>
            <a:r>
              <a:rPr lang="en-US" baseline="30000" dirty="0" smtClean="0">
                <a:solidFill>
                  <a:srgbClr val="000099"/>
                </a:solidFill>
              </a:rPr>
              <a:t>t</a:t>
            </a:r>
            <a:r>
              <a:rPr lang="en-US" dirty="0" smtClean="0">
                <a:solidFill>
                  <a:srgbClr val="000099"/>
                </a:solidFill>
              </a:rPr>
              <a:t>n</a:t>
            </a:r>
            <a:r>
              <a:rPr lang="en-US" baseline="-25000" dirty="0" smtClean="0">
                <a:solidFill>
                  <a:srgbClr val="000099"/>
                </a:solidFill>
              </a:rPr>
              <a:t>0</a:t>
            </a:r>
            <a:r>
              <a:rPr lang="en-US" dirty="0" smtClean="0">
                <a:solidFill>
                  <a:srgbClr val="000099"/>
                </a:solidFill>
              </a:rPr>
              <a:t>, e</a:t>
            </a:r>
            <a:r>
              <a:rPr lang="en-US" baseline="-25000" dirty="0" smtClean="0">
                <a:solidFill>
                  <a:srgbClr val="000099"/>
                </a:solidFill>
              </a:rPr>
              <a:t>t</a:t>
            </a:r>
            <a:r>
              <a:rPr lang="en-US" dirty="0" smtClean="0">
                <a:solidFill>
                  <a:srgbClr val="000099"/>
                </a:solidFill>
              </a:rPr>
              <a:t> = 3</a:t>
            </a:r>
            <a:r>
              <a:rPr lang="en-US" baseline="30000" dirty="0" smtClean="0">
                <a:solidFill>
                  <a:srgbClr val="000099"/>
                </a:solidFill>
              </a:rPr>
              <a:t>t</a:t>
            </a:r>
            <a:r>
              <a:rPr lang="en-US" dirty="0" smtClean="0">
                <a:solidFill>
                  <a:srgbClr val="000099"/>
                </a:solidFill>
              </a:rPr>
              <a:t>(e</a:t>
            </a:r>
            <a:r>
              <a:rPr lang="en-US" baseline="-25000" dirty="0" smtClean="0">
                <a:solidFill>
                  <a:srgbClr val="000099"/>
                </a:solidFill>
              </a:rPr>
              <a:t>0</a:t>
            </a:r>
            <a:r>
              <a:rPr lang="en-US" dirty="0" smtClean="0">
                <a:solidFill>
                  <a:srgbClr val="000099"/>
                </a:solidFill>
              </a:rPr>
              <a:t>+n</a:t>
            </a:r>
            <a:r>
              <a:rPr lang="en-US" baseline="-25000" dirty="0" smtClean="0">
                <a:solidFill>
                  <a:srgbClr val="000099"/>
                </a:solidFill>
              </a:rPr>
              <a:t>0</a:t>
            </a:r>
            <a:r>
              <a:rPr lang="en-US" dirty="0" smtClean="0">
                <a:solidFill>
                  <a:srgbClr val="000099"/>
                </a:solidFill>
              </a:rPr>
              <a:t>) - n</a:t>
            </a:r>
            <a:r>
              <a:rPr lang="en-US" baseline="-25000" dirty="0" smtClean="0">
                <a:solidFill>
                  <a:srgbClr val="000099"/>
                </a:solidFill>
              </a:rPr>
              <a:t>t</a:t>
            </a:r>
            <a:r>
              <a:rPr lang="en-US" dirty="0" smtClean="0">
                <a:solidFill>
                  <a:srgbClr val="000099"/>
                </a:solidFill>
              </a:rPr>
              <a:t>.</a:t>
            </a:r>
          </a:p>
          <a:p>
            <a:pPr eaLnBrk="1" hangingPunct="1">
              <a:buFontTx/>
              <a:buNone/>
            </a:pPr>
            <a:endParaRPr lang="en-US" dirty="0" smtClean="0"/>
          </a:p>
          <a:p>
            <a:pPr eaLnBrk="1" hangingPunct="1">
              <a:buFontTx/>
              <a:buNone/>
            </a:pPr>
            <a:r>
              <a:rPr lang="en-US" dirty="0" smtClean="0"/>
              <a:t>→ densification power law:</a:t>
            </a:r>
          </a:p>
          <a:p>
            <a:pPr lvl="1" algn="ctr" eaLnBrk="1" hangingPunct="1">
              <a:buFontTx/>
              <a:buNone/>
            </a:pPr>
            <a:r>
              <a:rPr lang="en-US" dirty="0" smtClean="0">
                <a:solidFill>
                  <a:srgbClr val="000099"/>
                </a:solidFill>
              </a:rPr>
              <a:t>e</a:t>
            </a:r>
            <a:r>
              <a:rPr lang="en-US" baseline="-25000" dirty="0" smtClean="0">
                <a:solidFill>
                  <a:srgbClr val="000099"/>
                </a:solidFill>
              </a:rPr>
              <a:t>t</a:t>
            </a:r>
            <a:r>
              <a:rPr lang="en-US" dirty="0" smtClean="0">
                <a:solidFill>
                  <a:srgbClr val="000099"/>
                </a:solidFill>
              </a:rPr>
              <a:t> ≈ n</a:t>
            </a:r>
            <a:r>
              <a:rPr lang="en-US" baseline="-25000" dirty="0" smtClean="0">
                <a:solidFill>
                  <a:srgbClr val="000099"/>
                </a:solidFill>
              </a:rPr>
              <a:t>t</a:t>
            </a:r>
            <a:r>
              <a:rPr lang="en-US" baseline="30000" dirty="0" smtClean="0">
                <a:solidFill>
                  <a:srgbClr val="000099"/>
                </a:solidFill>
              </a:rPr>
              <a:t>a</a:t>
            </a:r>
            <a:r>
              <a:rPr lang="en-US" dirty="0" smtClean="0"/>
              <a:t>, where </a:t>
            </a:r>
            <a:r>
              <a:rPr lang="en-US" dirty="0" smtClean="0">
                <a:solidFill>
                  <a:srgbClr val="000099"/>
                </a:solidFill>
              </a:rPr>
              <a:t>a = log(3)/log(2).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Proof of Lemma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(1):  deg</a:t>
            </a:r>
            <a:r>
              <a:rPr lang="en-US" sz="2400" baseline="-25000" dirty="0" smtClean="0"/>
              <a:t>t+1</a:t>
            </a:r>
            <a:r>
              <a:rPr lang="en-US" sz="2400" dirty="0" smtClean="0"/>
              <a:t>(x) = 2deg</a:t>
            </a:r>
            <a:r>
              <a:rPr lang="en-US" sz="2400" baseline="-25000" dirty="0" smtClean="0"/>
              <a:t>t</a:t>
            </a:r>
            <a:r>
              <a:rPr lang="en-US" sz="2400" dirty="0" smtClean="0"/>
              <a:t>(x)+1, deg</a:t>
            </a:r>
            <a:r>
              <a:rPr lang="en-US" sz="2400" baseline="-25000" dirty="0" smtClean="0"/>
              <a:t>t+1</a:t>
            </a:r>
            <a:r>
              <a:rPr lang="en-US" sz="2400" dirty="0" smtClean="0"/>
              <a:t>(x’) = deg</a:t>
            </a:r>
            <a:r>
              <a:rPr lang="en-US" sz="2400" baseline="-25000" dirty="0" smtClean="0"/>
              <a:t>t</a:t>
            </a:r>
            <a:r>
              <a:rPr lang="en-US" sz="2400" dirty="0" smtClean="0"/>
              <a:t>(x)+1</a:t>
            </a:r>
          </a:p>
          <a:p>
            <a:r>
              <a:rPr lang="en-US" sz="2400" dirty="0" smtClean="0"/>
              <a:t>define:</a:t>
            </a:r>
          </a:p>
          <a:p>
            <a:endParaRPr lang="en-US" sz="2400" dirty="0" smtClean="0"/>
          </a:p>
          <a:p>
            <a:r>
              <a:rPr lang="en-US" sz="2400" dirty="0" smtClean="0"/>
              <a:t>By (1),</a:t>
            </a:r>
          </a:p>
          <a:p>
            <a:endParaRPr lang="en-US" sz="2400" dirty="0" smtClean="0"/>
          </a:p>
          <a:p>
            <a:r>
              <a:rPr lang="en-US" sz="2400" smtClean="0"/>
              <a:t>By </a:t>
            </a:r>
            <a:r>
              <a:rPr lang="en-US" sz="2400" smtClean="0"/>
              <a:t>induction, </a:t>
            </a:r>
            <a:r>
              <a:rPr lang="en-US" sz="2400" dirty="0" smtClean="0"/>
              <a:t>we derive that</a:t>
            </a:r>
          </a:p>
          <a:p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and so 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Complex Networks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B9044-B1D8-49D8-9F05-DCB5B06F2D15}" type="slidenum">
              <a:rPr lang="en-US" smtClean="0"/>
              <a:pPr/>
              <a:t>79</a:t>
            </a:fld>
            <a:endParaRPr lang="en-US" dirty="0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2306638" y="2330450"/>
          <a:ext cx="3719512" cy="804863"/>
        </p:xfrm>
        <a:graphic>
          <a:graphicData uri="http://schemas.openxmlformats.org/presentationml/2006/ole">
            <p:oleObj spid="_x0000_s899073" name="Equation" r:id="rId3" imgW="1701720" imgH="368280" progId="Equation.3">
              <p:embed/>
            </p:oleObj>
          </a:graphicData>
        </a:graphic>
      </p:graphicFrame>
      <p:graphicFrame>
        <p:nvGraphicFramePr>
          <p:cNvPr id="899074" name="Object 2"/>
          <p:cNvGraphicFramePr>
            <a:graphicFrameLocks noChangeAspect="1"/>
          </p:cNvGraphicFramePr>
          <p:nvPr/>
        </p:nvGraphicFramePr>
        <p:xfrm>
          <a:off x="2795588" y="3387725"/>
          <a:ext cx="3275012" cy="500063"/>
        </p:xfrm>
        <a:graphic>
          <a:graphicData uri="http://schemas.openxmlformats.org/presentationml/2006/ole">
            <p:oleObj spid="_x0000_s899074" name="Equation" r:id="rId4" imgW="1498320" imgH="228600" progId="Equation.3">
              <p:embed/>
            </p:oleObj>
          </a:graphicData>
        </a:graphic>
      </p:graphicFrame>
      <p:graphicFrame>
        <p:nvGraphicFramePr>
          <p:cNvPr id="899075" name="Object 3"/>
          <p:cNvGraphicFramePr>
            <a:graphicFrameLocks noChangeAspect="1"/>
          </p:cNvGraphicFramePr>
          <p:nvPr/>
        </p:nvGraphicFramePr>
        <p:xfrm>
          <a:off x="2292350" y="4381500"/>
          <a:ext cx="4524375" cy="527050"/>
        </p:xfrm>
        <a:graphic>
          <a:graphicData uri="http://schemas.openxmlformats.org/presentationml/2006/ole">
            <p:oleObj spid="_x0000_s899075" name="Equation" r:id="rId5" imgW="2070000" imgH="241200" progId="Equation.3">
              <p:embed/>
            </p:oleObj>
          </a:graphicData>
        </a:graphic>
      </p:graphicFrame>
      <p:graphicFrame>
        <p:nvGraphicFramePr>
          <p:cNvPr id="899077" name="Object 5"/>
          <p:cNvGraphicFramePr>
            <a:graphicFrameLocks noChangeAspect="1"/>
          </p:cNvGraphicFramePr>
          <p:nvPr/>
        </p:nvGraphicFramePr>
        <p:xfrm>
          <a:off x="3484563" y="5026025"/>
          <a:ext cx="2554287" cy="527050"/>
        </p:xfrm>
        <a:graphic>
          <a:graphicData uri="http://schemas.openxmlformats.org/presentationml/2006/ole">
            <p:oleObj spid="_x0000_s899077" name="Equation" r:id="rId6" imgW="1168200" imgH="2412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Complex Networks</a:t>
            </a:r>
            <a:endParaRPr lang="en-US" dirty="0" smtClean="0"/>
          </a:p>
        </p:txBody>
      </p:sp>
      <p:sp>
        <p:nvSpPr>
          <p:cNvPr id="3584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BF1F513-1188-450F-948A-8BA4CF4C07BB}" type="slidenum">
              <a:rPr lang="en-US" smtClean="0"/>
              <a:pPr/>
              <a:t>80</a:t>
            </a:fld>
            <a:endParaRPr lang="en-US" dirty="0" smtClean="0"/>
          </a:p>
        </p:txBody>
      </p:sp>
      <p:sp>
        <p:nvSpPr>
          <p:cNvPr id="358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Average distance</a:t>
            </a:r>
          </a:p>
        </p:txBody>
      </p:sp>
      <p:sp>
        <p:nvSpPr>
          <p:cNvPr id="522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0213" y="1600200"/>
            <a:ext cx="8301037" cy="406082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800" dirty="0" smtClean="0"/>
              <a:t>Theorem 2: If </a:t>
            </a:r>
            <a:r>
              <a:rPr lang="en-US" sz="2800" dirty="0" smtClean="0">
                <a:solidFill>
                  <a:srgbClr val="000099"/>
                </a:solidFill>
              </a:rPr>
              <a:t>t &gt; 0</a:t>
            </a:r>
            <a:r>
              <a:rPr lang="en-US" sz="2800" dirty="0" smtClean="0"/>
              <a:t>, then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sz="2800" dirty="0" smtClean="0"/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sz="2800" dirty="0" smtClean="0"/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sz="2800" dirty="0" smtClean="0"/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sz="2800" dirty="0" smtClean="0"/>
          </a:p>
          <a:p>
            <a:pPr eaLnBrk="1" hangingPunct="1">
              <a:lnSpc>
                <a:spcPct val="80000"/>
              </a:lnSpc>
            </a:pPr>
            <a:r>
              <a:rPr lang="en-US" sz="2800" dirty="0" smtClean="0"/>
              <a:t>average distance bounded by a constant, and converges; for many initial graphs (large cycles) it </a:t>
            </a:r>
            <a:r>
              <a:rPr lang="en-US" sz="2800" b="1" dirty="0" smtClean="0"/>
              <a:t>decreases</a:t>
            </a:r>
          </a:p>
          <a:p>
            <a:pPr eaLnBrk="1" hangingPunct="1">
              <a:lnSpc>
                <a:spcPct val="80000"/>
              </a:lnSpc>
            </a:pPr>
            <a:r>
              <a:rPr lang="en-US" sz="2800" dirty="0" smtClean="0"/>
              <a:t>diameter </a:t>
            </a:r>
            <a:r>
              <a:rPr lang="en-US" sz="2800" dirty="0" smtClean="0">
                <a:solidFill>
                  <a:srgbClr val="FF0000"/>
                </a:solidFill>
              </a:rPr>
              <a:t>does not change</a:t>
            </a:r>
            <a:r>
              <a:rPr lang="en-US" sz="2800" dirty="0" smtClean="0"/>
              <a:t> from time </a:t>
            </a:r>
            <a:r>
              <a:rPr lang="en-US" sz="2800" dirty="0" smtClean="0">
                <a:solidFill>
                  <a:srgbClr val="000099"/>
                </a:solidFill>
              </a:rPr>
              <a:t>0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sz="2800" dirty="0" smtClean="0"/>
          </a:p>
        </p:txBody>
      </p:sp>
      <p:pic>
        <p:nvPicPr>
          <p:cNvPr id="35846" name="Picture 4" descr="avdist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50925" y="2168525"/>
            <a:ext cx="6392863" cy="1373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2395538" y="2293938"/>
            <a:ext cx="492125" cy="12477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 dirty="0"/>
          </a:p>
        </p:txBody>
      </p:sp>
      <p:sp>
        <p:nvSpPr>
          <p:cNvPr id="8" name="Rectangle 7"/>
          <p:cNvSpPr/>
          <p:nvPr/>
        </p:nvSpPr>
        <p:spPr>
          <a:xfrm>
            <a:off x="7141029" y="2125662"/>
            <a:ext cx="529771" cy="13432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Complex Networks</a:t>
            </a:r>
            <a:endParaRPr lang="en-US" dirty="0" smtClean="0"/>
          </a:p>
        </p:txBody>
      </p:sp>
      <p:sp>
        <p:nvSpPr>
          <p:cNvPr id="3686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53A589E-BA90-43BB-8EF8-FAE2054868EB}" type="slidenum">
              <a:rPr lang="en-US" smtClean="0"/>
              <a:pPr/>
              <a:t>81</a:t>
            </a:fld>
            <a:endParaRPr lang="en-US" dirty="0" smtClean="0"/>
          </a:p>
        </p:txBody>
      </p:sp>
      <p:sp>
        <p:nvSpPr>
          <p:cNvPr id="368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Clustering Coefficient</a:t>
            </a:r>
          </a:p>
        </p:txBody>
      </p:sp>
      <p:sp>
        <p:nvSpPr>
          <p:cNvPr id="523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2575" y="1614488"/>
            <a:ext cx="8404225" cy="353695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dirty="0" smtClean="0"/>
              <a:t>Theorem 3: If </a:t>
            </a:r>
            <a:r>
              <a:rPr lang="en-US" dirty="0" smtClean="0">
                <a:solidFill>
                  <a:srgbClr val="000099"/>
                </a:solidFill>
              </a:rPr>
              <a:t>t &gt; 0</a:t>
            </a:r>
            <a:r>
              <a:rPr lang="en-US" dirty="0" smtClean="0"/>
              <a:t>, then</a:t>
            </a:r>
          </a:p>
          <a:p>
            <a:pPr algn="ctr" eaLnBrk="1" hangingPunct="1">
              <a:buFontTx/>
              <a:buNone/>
            </a:pPr>
            <a:r>
              <a:rPr lang="en-US" dirty="0" smtClean="0">
                <a:solidFill>
                  <a:srgbClr val="000099"/>
                </a:solidFill>
              </a:rPr>
              <a:t>c(</a:t>
            </a:r>
            <a:r>
              <a:rPr lang="en-US" i="1" dirty="0" smtClean="0">
                <a:solidFill>
                  <a:srgbClr val="000099"/>
                </a:solidFill>
              </a:rPr>
              <a:t>G</a:t>
            </a:r>
            <a:r>
              <a:rPr lang="en-US" baseline="-25000" dirty="0" smtClean="0">
                <a:solidFill>
                  <a:srgbClr val="000099"/>
                </a:solidFill>
              </a:rPr>
              <a:t>t</a:t>
            </a:r>
            <a:r>
              <a:rPr lang="en-US" dirty="0" smtClean="0">
                <a:solidFill>
                  <a:srgbClr val="000099"/>
                </a:solidFill>
              </a:rPr>
              <a:t>) = n</a:t>
            </a:r>
            <a:r>
              <a:rPr lang="en-US" baseline="-25000" dirty="0" smtClean="0">
                <a:solidFill>
                  <a:srgbClr val="000099"/>
                </a:solidFill>
              </a:rPr>
              <a:t>t</a:t>
            </a:r>
            <a:r>
              <a:rPr lang="en-US" baseline="30000" dirty="0" smtClean="0">
                <a:solidFill>
                  <a:srgbClr val="000099"/>
                </a:solidFill>
              </a:rPr>
              <a:t>log(7/8)+o(1)</a:t>
            </a:r>
            <a:r>
              <a:rPr lang="en-US" dirty="0" smtClean="0">
                <a:solidFill>
                  <a:srgbClr val="000099"/>
                </a:solidFill>
              </a:rPr>
              <a:t>.</a:t>
            </a:r>
            <a:endParaRPr lang="en-US" baseline="30000" dirty="0" smtClean="0">
              <a:solidFill>
                <a:srgbClr val="000099"/>
              </a:solidFill>
            </a:endParaRPr>
          </a:p>
          <a:p>
            <a:pPr eaLnBrk="1" hangingPunct="1">
              <a:buClr>
                <a:schemeClr val="tx1"/>
              </a:buClr>
            </a:pPr>
            <a:r>
              <a:rPr lang="en-US" dirty="0" smtClean="0">
                <a:solidFill>
                  <a:srgbClr val="FF0000"/>
                </a:solidFill>
              </a:rPr>
              <a:t>higher clustering</a:t>
            </a:r>
            <a:r>
              <a:rPr lang="en-US" dirty="0" smtClean="0"/>
              <a:t> than in a random graph </a:t>
            </a:r>
            <a:r>
              <a:rPr lang="en-US" dirty="0" smtClean="0">
                <a:solidFill>
                  <a:srgbClr val="000099"/>
                </a:solidFill>
              </a:rPr>
              <a:t>G(n</a:t>
            </a:r>
            <a:r>
              <a:rPr lang="en-US" baseline="-25000" dirty="0" smtClean="0">
                <a:solidFill>
                  <a:srgbClr val="000099"/>
                </a:solidFill>
              </a:rPr>
              <a:t>t</a:t>
            </a:r>
            <a:r>
              <a:rPr lang="en-US" dirty="0" smtClean="0">
                <a:solidFill>
                  <a:srgbClr val="000099"/>
                </a:solidFill>
              </a:rPr>
              <a:t>,p)</a:t>
            </a:r>
            <a:r>
              <a:rPr lang="en-US" dirty="0" smtClean="0"/>
              <a:t> with same order and average degree as </a:t>
            </a:r>
            <a:r>
              <a:rPr lang="en-US" i="1" dirty="0" smtClean="0">
                <a:solidFill>
                  <a:srgbClr val="000099"/>
                </a:solidFill>
              </a:rPr>
              <a:t>G</a:t>
            </a:r>
            <a:r>
              <a:rPr lang="en-US" baseline="-25000" dirty="0" smtClean="0">
                <a:solidFill>
                  <a:srgbClr val="000099"/>
                </a:solidFill>
              </a:rPr>
              <a:t>t</a:t>
            </a:r>
            <a:r>
              <a:rPr lang="en-US" dirty="0" smtClean="0"/>
              <a:t>, which satisfies</a:t>
            </a:r>
          </a:p>
          <a:p>
            <a:pPr algn="ctr" eaLnBrk="1" hangingPunct="1">
              <a:buFontTx/>
              <a:buNone/>
            </a:pPr>
            <a:r>
              <a:rPr lang="en-US" dirty="0" smtClean="0">
                <a:solidFill>
                  <a:srgbClr val="000099"/>
                </a:solidFill>
              </a:rPr>
              <a:t>c(G(n</a:t>
            </a:r>
            <a:r>
              <a:rPr lang="en-US" baseline="-25000" dirty="0" smtClean="0">
                <a:solidFill>
                  <a:srgbClr val="000099"/>
                </a:solidFill>
              </a:rPr>
              <a:t>t</a:t>
            </a:r>
            <a:r>
              <a:rPr lang="en-US" dirty="0" smtClean="0">
                <a:solidFill>
                  <a:srgbClr val="000099"/>
                </a:solidFill>
              </a:rPr>
              <a:t>,p)) = n</a:t>
            </a:r>
            <a:r>
              <a:rPr lang="en-US" baseline="-25000" dirty="0" smtClean="0">
                <a:solidFill>
                  <a:srgbClr val="000099"/>
                </a:solidFill>
              </a:rPr>
              <a:t>t</a:t>
            </a:r>
            <a:r>
              <a:rPr lang="en-US" baseline="30000" dirty="0" smtClean="0">
                <a:solidFill>
                  <a:srgbClr val="000099"/>
                </a:solidFill>
              </a:rPr>
              <a:t>log(3/4)+o(1)</a:t>
            </a:r>
            <a:endParaRPr lang="en-US" dirty="0" smtClean="0"/>
          </a:p>
          <a:p>
            <a:pPr eaLnBrk="1" hangingPunct="1">
              <a:buFontTx/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Complex Networks</a:t>
            </a:r>
            <a:endParaRPr lang="en-US" dirty="0" smtClean="0"/>
          </a:p>
        </p:txBody>
      </p:sp>
      <p:sp>
        <p:nvSpPr>
          <p:cNvPr id="3789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7AF99BC-ED24-4ED7-9283-C8801C12DF98}" type="slidenum">
              <a:rPr lang="en-US" smtClean="0"/>
              <a:pPr/>
              <a:t>82</a:t>
            </a:fld>
            <a:endParaRPr lang="en-US" dirty="0" smtClean="0"/>
          </a:p>
        </p:txBody>
      </p:sp>
      <p:sp>
        <p:nvSpPr>
          <p:cNvPr id="378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Sketch of proof of lower bound</a:t>
            </a:r>
          </a:p>
        </p:txBody>
      </p:sp>
      <p:sp>
        <p:nvSpPr>
          <p:cNvPr id="546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600" dirty="0" smtClean="0"/>
              <a:t>each node </a:t>
            </a:r>
            <a:r>
              <a:rPr lang="en-US" sz="2600" dirty="0" smtClean="0">
                <a:solidFill>
                  <a:srgbClr val="000099"/>
                </a:solidFill>
              </a:rPr>
              <a:t>x</a:t>
            </a:r>
            <a:r>
              <a:rPr lang="en-US" sz="2600" dirty="0" smtClean="0"/>
              <a:t> at time </a:t>
            </a:r>
            <a:r>
              <a:rPr lang="en-US" sz="2600" dirty="0" smtClean="0">
                <a:solidFill>
                  <a:srgbClr val="000099"/>
                </a:solidFill>
              </a:rPr>
              <a:t>t</a:t>
            </a:r>
            <a:r>
              <a:rPr lang="en-US" sz="2600" dirty="0" smtClean="0"/>
              <a:t> has a </a:t>
            </a:r>
            <a:r>
              <a:rPr lang="en-US" sz="2600" dirty="0" smtClean="0">
                <a:solidFill>
                  <a:srgbClr val="FF0000"/>
                </a:solidFill>
              </a:rPr>
              <a:t>binary sequence</a:t>
            </a:r>
            <a:r>
              <a:rPr lang="en-US" sz="2600" dirty="0" smtClean="0"/>
              <a:t> corresponding to descendants from time </a:t>
            </a:r>
            <a:r>
              <a:rPr lang="en-US" sz="2600" dirty="0" smtClean="0">
                <a:solidFill>
                  <a:srgbClr val="000099"/>
                </a:solidFill>
              </a:rPr>
              <a:t>0</a:t>
            </a:r>
            <a:r>
              <a:rPr lang="en-US" sz="2600" dirty="0" smtClean="0"/>
              <a:t>, with a clone indicated by </a:t>
            </a:r>
            <a:r>
              <a:rPr lang="en-US" sz="2600" dirty="0" smtClean="0">
                <a:solidFill>
                  <a:srgbClr val="000099"/>
                </a:solidFill>
              </a:rPr>
              <a:t>1</a:t>
            </a:r>
          </a:p>
          <a:p>
            <a:pPr eaLnBrk="1" hangingPunct="1">
              <a:lnSpc>
                <a:spcPct val="90000"/>
              </a:lnSpc>
            </a:pPr>
            <a:r>
              <a:rPr lang="en-US" sz="2600" dirty="0" smtClean="0"/>
              <a:t>let </a:t>
            </a:r>
            <a:r>
              <a:rPr lang="en-US" sz="2600" dirty="0" smtClean="0">
                <a:solidFill>
                  <a:srgbClr val="000099"/>
                </a:solidFill>
              </a:rPr>
              <a:t>e(x,t)</a:t>
            </a:r>
            <a:r>
              <a:rPr lang="en-US" sz="2600" dirty="0" smtClean="0"/>
              <a:t> be the number of edges in </a:t>
            </a:r>
            <a:r>
              <a:rPr lang="en-US" sz="2600" dirty="0" smtClean="0">
                <a:solidFill>
                  <a:srgbClr val="000099"/>
                </a:solidFill>
              </a:rPr>
              <a:t>N(x)</a:t>
            </a:r>
            <a:r>
              <a:rPr lang="en-US" sz="2600" dirty="0" smtClean="0"/>
              <a:t> at time </a:t>
            </a:r>
            <a:r>
              <a:rPr lang="en-US" sz="2600" dirty="0" smtClean="0">
                <a:solidFill>
                  <a:srgbClr val="000099"/>
                </a:solidFill>
              </a:rPr>
              <a:t>t</a:t>
            </a:r>
          </a:p>
          <a:p>
            <a:pPr eaLnBrk="1" hangingPunct="1">
              <a:lnSpc>
                <a:spcPct val="90000"/>
              </a:lnSpc>
            </a:pPr>
            <a:r>
              <a:rPr lang="en-US" sz="2600" dirty="0" smtClean="0"/>
              <a:t>we may show that </a:t>
            </a:r>
          </a:p>
          <a:p>
            <a:pPr lvl="1" algn="ctr" eaLnBrk="1" hangingPunct="1">
              <a:lnSpc>
                <a:spcPct val="90000"/>
              </a:lnSpc>
              <a:buFontTx/>
              <a:buNone/>
            </a:pPr>
            <a:r>
              <a:rPr lang="en-US" sz="2600" dirty="0" smtClean="0">
                <a:solidFill>
                  <a:srgbClr val="000099"/>
                </a:solidFill>
              </a:rPr>
              <a:t>     e(x,t+1) = 3e(x,t) + 2deg</a:t>
            </a:r>
            <a:r>
              <a:rPr lang="en-US" sz="2600" baseline="-25000" dirty="0" smtClean="0">
                <a:solidFill>
                  <a:srgbClr val="000099"/>
                </a:solidFill>
              </a:rPr>
              <a:t>t</a:t>
            </a:r>
            <a:r>
              <a:rPr lang="en-US" sz="2600" dirty="0" smtClean="0">
                <a:solidFill>
                  <a:srgbClr val="000099"/>
                </a:solidFill>
              </a:rPr>
              <a:t>(x)</a:t>
            </a:r>
          </a:p>
          <a:p>
            <a:pPr lvl="1" algn="ctr" eaLnBrk="1" hangingPunct="1">
              <a:lnSpc>
                <a:spcPct val="90000"/>
              </a:lnSpc>
              <a:buFontTx/>
              <a:buNone/>
            </a:pPr>
            <a:r>
              <a:rPr lang="en-US" sz="2600" dirty="0" smtClean="0">
                <a:solidFill>
                  <a:srgbClr val="000099"/>
                </a:solidFill>
              </a:rPr>
              <a:t>e(x’,t+1) = e(x,t) + deg</a:t>
            </a:r>
            <a:r>
              <a:rPr lang="en-US" sz="2600" baseline="-25000" dirty="0" smtClean="0">
                <a:solidFill>
                  <a:srgbClr val="000099"/>
                </a:solidFill>
              </a:rPr>
              <a:t>t</a:t>
            </a:r>
            <a:r>
              <a:rPr lang="en-US" sz="2600" dirty="0" smtClean="0">
                <a:solidFill>
                  <a:srgbClr val="000099"/>
                </a:solidFill>
              </a:rPr>
              <a:t>(x)</a:t>
            </a:r>
          </a:p>
          <a:p>
            <a:pPr eaLnBrk="1" hangingPunct="1">
              <a:lnSpc>
                <a:spcPct val="90000"/>
              </a:lnSpc>
            </a:pPr>
            <a:r>
              <a:rPr lang="en-US" sz="2600" dirty="0" smtClean="0"/>
              <a:t>if there are </a:t>
            </a:r>
            <a:r>
              <a:rPr lang="en-US" sz="2600" dirty="0" smtClean="0">
                <a:solidFill>
                  <a:srgbClr val="000099"/>
                </a:solidFill>
              </a:rPr>
              <a:t>k</a:t>
            </a:r>
            <a:r>
              <a:rPr lang="en-US" sz="2600" dirty="0" smtClean="0"/>
              <a:t> many </a:t>
            </a:r>
            <a:r>
              <a:rPr lang="en-US" sz="2600" dirty="0" smtClean="0">
                <a:solidFill>
                  <a:srgbClr val="000099"/>
                </a:solidFill>
              </a:rPr>
              <a:t>0’</a:t>
            </a:r>
            <a:r>
              <a:rPr lang="en-US" sz="2600" dirty="0" smtClean="0"/>
              <a:t>s in the binary sequence of </a:t>
            </a:r>
            <a:r>
              <a:rPr lang="en-US" sz="2600" dirty="0" smtClean="0">
                <a:solidFill>
                  <a:srgbClr val="000099"/>
                </a:solidFill>
              </a:rPr>
              <a:t>x</a:t>
            </a:r>
            <a:r>
              <a:rPr lang="en-US" sz="2600" dirty="0" smtClean="0"/>
              <a:t>, then </a:t>
            </a:r>
          </a:p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en-US" sz="2600" dirty="0" smtClean="0">
                <a:solidFill>
                  <a:srgbClr val="000099"/>
                </a:solidFill>
              </a:rPr>
              <a:t>e(x,t)  ≥ 3</a:t>
            </a:r>
            <a:r>
              <a:rPr lang="en-US" sz="2600" baseline="30000" dirty="0" smtClean="0">
                <a:solidFill>
                  <a:srgbClr val="000099"/>
                </a:solidFill>
              </a:rPr>
              <a:t>k-2</a:t>
            </a:r>
            <a:r>
              <a:rPr lang="en-US" sz="2600" dirty="0" smtClean="0">
                <a:solidFill>
                  <a:srgbClr val="000099"/>
                </a:solidFill>
              </a:rPr>
              <a:t>e(x,2) = </a:t>
            </a:r>
            <a:r>
              <a:rPr lang="el-GR" sz="2600" dirty="0" smtClean="0">
                <a:solidFill>
                  <a:srgbClr val="000099"/>
                </a:solidFill>
              </a:rPr>
              <a:t>Ω</a:t>
            </a:r>
            <a:r>
              <a:rPr lang="en-US" sz="2600" dirty="0" smtClean="0">
                <a:solidFill>
                  <a:srgbClr val="000099"/>
                </a:solidFill>
              </a:rPr>
              <a:t>(3</a:t>
            </a:r>
            <a:r>
              <a:rPr lang="en-US" sz="2600" baseline="30000" dirty="0" smtClean="0">
                <a:solidFill>
                  <a:srgbClr val="000099"/>
                </a:solidFill>
              </a:rPr>
              <a:t>k</a:t>
            </a:r>
            <a:r>
              <a:rPr lang="en-US" sz="2600" dirty="0" smtClean="0">
                <a:solidFill>
                  <a:srgbClr val="000099"/>
                </a:solidFill>
              </a:rPr>
              <a:t>)</a:t>
            </a:r>
          </a:p>
          <a:p>
            <a:pPr eaLnBrk="1" hangingPunct="1">
              <a:lnSpc>
                <a:spcPct val="90000"/>
              </a:lnSpc>
            </a:pPr>
            <a:endParaRPr lang="en-US" sz="2600" dirty="0" smtClean="0">
              <a:solidFill>
                <a:srgbClr val="000099"/>
              </a:solidFill>
            </a:endParaRPr>
          </a:p>
          <a:p>
            <a:pPr eaLnBrk="1" hangingPunct="1">
              <a:lnSpc>
                <a:spcPct val="90000"/>
              </a:lnSpc>
            </a:pPr>
            <a:endParaRPr 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Footer Placeholder 6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Complex Networks</a:t>
            </a:r>
            <a:endParaRPr lang="en-US" dirty="0" smtClean="0"/>
          </a:p>
        </p:txBody>
      </p:sp>
      <p:sp>
        <p:nvSpPr>
          <p:cNvPr id="2053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9DD85CF-5675-4D3E-BF3A-9FBFDE736164}" type="slidenum">
              <a:rPr lang="en-US" smtClean="0"/>
              <a:pPr/>
              <a:t>83</a:t>
            </a:fld>
            <a:endParaRPr lang="en-US" dirty="0" smtClean="0"/>
          </a:p>
        </p:txBody>
      </p:sp>
      <p:sp>
        <p:nvSpPr>
          <p:cNvPr id="20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Sketch of proof, continued</a:t>
            </a:r>
          </a:p>
        </p:txBody>
      </p:sp>
      <p:sp>
        <p:nvSpPr>
          <p:cNvPr id="54784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927975" cy="2609850"/>
          </a:xfrm>
        </p:spPr>
        <p:txBody>
          <a:bodyPr/>
          <a:lstStyle/>
          <a:p>
            <a:pPr eaLnBrk="1" hangingPunct="1"/>
            <a:r>
              <a:rPr lang="en-US" sz="2800" dirty="0" smtClean="0"/>
              <a:t>there are              many nodes with </a:t>
            </a:r>
            <a:r>
              <a:rPr lang="en-US" sz="2800" dirty="0" smtClean="0">
                <a:solidFill>
                  <a:srgbClr val="000099"/>
                </a:solidFill>
              </a:rPr>
              <a:t>k</a:t>
            </a:r>
            <a:r>
              <a:rPr lang="en-US" sz="2800" dirty="0" smtClean="0"/>
              <a:t> many</a:t>
            </a:r>
          </a:p>
          <a:p>
            <a:pPr eaLnBrk="1" hangingPunct="1">
              <a:buFontTx/>
              <a:buNone/>
            </a:pPr>
            <a:r>
              <a:rPr lang="en-US" sz="2800" dirty="0" smtClean="0"/>
              <a:t> </a:t>
            </a:r>
          </a:p>
          <a:p>
            <a:pPr eaLnBrk="1" hangingPunct="1">
              <a:buFontTx/>
              <a:buNone/>
            </a:pPr>
            <a:r>
              <a:rPr lang="en-US" sz="2800" dirty="0" smtClean="0"/>
              <a:t> </a:t>
            </a:r>
            <a:r>
              <a:rPr lang="en-US" sz="2800" dirty="0" smtClean="0">
                <a:solidFill>
                  <a:srgbClr val="000099"/>
                </a:solidFill>
              </a:rPr>
              <a:t>0</a:t>
            </a:r>
            <a:r>
              <a:rPr lang="en-US" sz="2800" dirty="0" smtClean="0"/>
              <a:t>’s in their binary sequence</a:t>
            </a:r>
          </a:p>
          <a:p>
            <a:pPr eaLnBrk="1" hangingPunct="1"/>
            <a:r>
              <a:rPr lang="en-US" sz="2800" dirty="0" smtClean="0"/>
              <a:t>hence,</a:t>
            </a:r>
          </a:p>
          <a:p>
            <a:pPr eaLnBrk="1" hangingPunct="1">
              <a:buFontTx/>
              <a:buNone/>
            </a:pPr>
            <a:endParaRPr lang="en-US" sz="2800" dirty="0" smtClean="0"/>
          </a:p>
        </p:txBody>
      </p:sp>
      <p:graphicFrame>
        <p:nvGraphicFramePr>
          <p:cNvPr id="2050" name="Object 14"/>
          <p:cNvGraphicFramePr>
            <a:graphicFrameLocks noChangeAspect="1"/>
          </p:cNvGraphicFramePr>
          <p:nvPr>
            <p:ph sz="quarter" idx="2"/>
          </p:nvPr>
        </p:nvGraphicFramePr>
        <p:xfrm>
          <a:off x="2444750" y="1258888"/>
          <a:ext cx="1085850" cy="1222375"/>
        </p:xfrm>
        <a:graphic>
          <a:graphicData uri="http://schemas.openxmlformats.org/presentationml/2006/ole">
            <p:oleObj spid="_x0000_s826370" name="Equation" r:id="rId3" imgW="406080" imgH="457200" progId="Equation.3">
              <p:embed/>
            </p:oleObj>
          </a:graphicData>
        </a:graphic>
      </p:graphicFrame>
      <p:graphicFrame>
        <p:nvGraphicFramePr>
          <p:cNvPr id="547856" name="Object 16"/>
          <p:cNvGraphicFramePr>
            <a:graphicFrameLocks noChangeAspect="1"/>
          </p:cNvGraphicFramePr>
          <p:nvPr>
            <p:ph sz="quarter" idx="3"/>
          </p:nvPr>
        </p:nvGraphicFramePr>
        <p:xfrm>
          <a:off x="600075" y="3817938"/>
          <a:ext cx="7891463" cy="1927225"/>
        </p:xfrm>
        <a:graphic>
          <a:graphicData uri="http://schemas.openxmlformats.org/presentationml/2006/ole">
            <p:oleObj spid="_x0000_s826371" name="Equation" r:id="rId4" imgW="4000320" imgH="97776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Complex Networks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5D019-64E1-473E-BB7A-1C5F3585E308}" type="slidenum">
              <a:rPr lang="en-US"/>
              <a:pPr/>
              <a:t>84</a:t>
            </a:fld>
            <a:endParaRPr lang="en-US" dirty="0"/>
          </a:p>
        </p:txBody>
      </p:sp>
      <p:sp>
        <p:nvSpPr>
          <p:cNvPr id="535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Adjacency matrix, A</a:t>
            </a:r>
          </a:p>
        </p:txBody>
      </p:sp>
      <p:pic>
        <p:nvPicPr>
          <p:cNvPr id="53555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6063" y="1905000"/>
            <a:ext cx="4762500" cy="3571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35557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79268" y="2307772"/>
            <a:ext cx="4214110" cy="2793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Complex Networks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A223F-9C87-452A-8D5D-540F42EC2808}" type="slidenum">
              <a:rPr lang="en-US"/>
              <a:pPr/>
              <a:t>85</a:t>
            </a:fld>
            <a:endParaRPr lang="en-US" dirty="0"/>
          </a:p>
        </p:txBody>
      </p:sp>
      <p:sp>
        <p:nvSpPr>
          <p:cNvPr id="525314" name="Rectangle 2"/>
          <p:cNvSpPr>
            <a:spLocks noGrp="1" noChangeArrowheads="1"/>
          </p:cNvSpPr>
          <p:nvPr>
            <p:ph type="title"/>
          </p:nvPr>
        </p:nvSpPr>
        <p:spPr>
          <a:xfrm>
            <a:off x="442913" y="215900"/>
            <a:ext cx="8229600" cy="1143000"/>
          </a:xfrm>
        </p:spPr>
        <p:txBody>
          <a:bodyPr/>
          <a:lstStyle/>
          <a:p>
            <a:r>
              <a:rPr lang="en-US" dirty="0"/>
              <a:t>Spectral results</a:t>
            </a:r>
          </a:p>
        </p:txBody>
      </p:sp>
      <p:sp>
        <p:nvSpPr>
          <p:cNvPr id="525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0063" y="1309688"/>
            <a:ext cx="8229600" cy="452596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/>
              <a:t>the </a:t>
            </a:r>
            <a:r>
              <a:rPr lang="en-US" sz="2400" dirty="0">
                <a:solidFill>
                  <a:srgbClr val="FF0000"/>
                </a:solidFill>
              </a:rPr>
              <a:t>spectral gap</a:t>
            </a:r>
            <a:r>
              <a:rPr lang="en-US" sz="2400" dirty="0"/>
              <a:t> </a:t>
            </a:r>
            <a:r>
              <a:rPr lang="el-GR" sz="2400" dirty="0">
                <a:solidFill>
                  <a:srgbClr val="000099"/>
                </a:solidFill>
              </a:rPr>
              <a:t>λ</a:t>
            </a:r>
            <a:r>
              <a:rPr lang="en-US" sz="2400" dirty="0"/>
              <a:t> of </a:t>
            </a:r>
            <a:r>
              <a:rPr lang="en-US" sz="2400" dirty="0">
                <a:solidFill>
                  <a:srgbClr val="000099"/>
                </a:solidFill>
              </a:rPr>
              <a:t>G</a:t>
            </a:r>
            <a:r>
              <a:rPr lang="en-US" sz="2400" dirty="0"/>
              <a:t> is defined </a:t>
            </a:r>
            <a:r>
              <a:rPr lang="en-US" sz="2400" dirty="0" smtClean="0"/>
              <a:t>by</a:t>
            </a:r>
          </a:p>
          <a:p>
            <a:pPr algn="ctr">
              <a:lnSpc>
                <a:spcPct val="90000"/>
              </a:lnSpc>
              <a:buNone/>
            </a:pPr>
            <a:r>
              <a:rPr lang="en-US" sz="2400" dirty="0" smtClean="0">
                <a:solidFill>
                  <a:srgbClr val="000099"/>
                </a:solidFill>
              </a:rPr>
              <a:t>max{|</a:t>
            </a:r>
            <a:r>
              <a:rPr lang="el-GR" sz="2400" dirty="0" smtClean="0">
                <a:solidFill>
                  <a:srgbClr val="000099"/>
                </a:solidFill>
              </a:rPr>
              <a:t>λ</a:t>
            </a:r>
            <a:r>
              <a:rPr lang="en-US" sz="2400" baseline="-25000" dirty="0" smtClean="0">
                <a:solidFill>
                  <a:srgbClr val="000099"/>
                </a:solidFill>
              </a:rPr>
              <a:t>1</a:t>
            </a:r>
            <a:r>
              <a:rPr lang="en-US" sz="2400" dirty="0" smtClean="0">
                <a:solidFill>
                  <a:srgbClr val="000099"/>
                </a:solidFill>
              </a:rPr>
              <a:t>-1|, |</a:t>
            </a:r>
            <a:r>
              <a:rPr lang="el-GR" sz="2400" dirty="0" smtClean="0">
                <a:solidFill>
                  <a:srgbClr val="000099"/>
                </a:solidFill>
              </a:rPr>
              <a:t>λ</a:t>
            </a:r>
            <a:r>
              <a:rPr lang="en-US" sz="2400" baseline="-25000" dirty="0" smtClean="0">
                <a:solidFill>
                  <a:srgbClr val="000099"/>
                </a:solidFill>
              </a:rPr>
              <a:t>n-1</a:t>
            </a:r>
            <a:r>
              <a:rPr lang="en-US" sz="2400" dirty="0" smtClean="0">
                <a:solidFill>
                  <a:srgbClr val="000099"/>
                </a:solidFill>
              </a:rPr>
              <a:t>-1|}</a:t>
            </a:r>
            <a:endParaRPr lang="en-US" sz="2400" dirty="0">
              <a:solidFill>
                <a:srgbClr val="000099"/>
              </a:solidFill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dirty="0"/>
              <a:t>    where </a:t>
            </a:r>
            <a:r>
              <a:rPr lang="en-US" sz="2400" dirty="0">
                <a:solidFill>
                  <a:srgbClr val="000099"/>
                </a:solidFill>
              </a:rPr>
              <a:t>0 = </a:t>
            </a:r>
            <a:r>
              <a:rPr lang="el-GR" sz="2400" dirty="0">
                <a:solidFill>
                  <a:srgbClr val="000099"/>
                </a:solidFill>
              </a:rPr>
              <a:t>λ</a:t>
            </a:r>
            <a:r>
              <a:rPr lang="en-US" sz="2400" baseline="-25000" dirty="0">
                <a:solidFill>
                  <a:srgbClr val="000099"/>
                </a:solidFill>
              </a:rPr>
              <a:t>0</a:t>
            </a:r>
            <a:r>
              <a:rPr lang="en-US" sz="2400" dirty="0">
                <a:solidFill>
                  <a:srgbClr val="000099"/>
                </a:solidFill>
              </a:rPr>
              <a:t> ≤ </a:t>
            </a:r>
            <a:r>
              <a:rPr lang="el-GR" sz="2400" dirty="0">
                <a:solidFill>
                  <a:srgbClr val="000099"/>
                </a:solidFill>
              </a:rPr>
              <a:t>λ</a:t>
            </a:r>
            <a:r>
              <a:rPr lang="en-US" sz="2400" baseline="-25000" dirty="0">
                <a:solidFill>
                  <a:srgbClr val="000099"/>
                </a:solidFill>
              </a:rPr>
              <a:t>1</a:t>
            </a:r>
            <a:r>
              <a:rPr lang="en-US" sz="2400" dirty="0">
                <a:solidFill>
                  <a:srgbClr val="000099"/>
                </a:solidFill>
              </a:rPr>
              <a:t> ≤ … ≤ </a:t>
            </a:r>
            <a:r>
              <a:rPr lang="el-GR" sz="2400" dirty="0">
                <a:solidFill>
                  <a:srgbClr val="000099"/>
                </a:solidFill>
              </a:rPr>
              <a:t>λ</a:t>
            </a:r>
            <a:r>
              <a:rPr lang="en-US" sz="2400" baseline="-25000" dirty="0">
                <a:solidFill>
                  <a:srgbClr val="000099"/>
                </a:solidFill>
              </a:rPr>
              <a:t>n-1</a:t>
            </a:r>
            <a:r>
              <a:rPr lang="en-US" sz="2400" dirty="0">
                <a:solidFill>
                  <a:srgbClr val="000099"/>
                </a:solidFill>
              </a:rPr>
              <a:t> ≤ 2</a:t>
            </a:r>
            <a:r>
              <a:rPr lang="en-US" sz="2400" dirty="0"/>
              <a:t> are the eigenvalues of the </a:t>
            </a:r>
            <a:r>
              <a:rPr lang="en-US" sz="2400" dirty="0">
                <a:solidFill>
                  <a:srgbClr val="FF0000"/>
                </a:solidFill>
              </a:rPr>
              <a:t>normalized Laplacian </a:t>
            </a:r>
            <a:r>
              <a:rPr lang="en-US" sz="2400" dirty="0"/>
              <a:t>of </a:t>
            </a:r>
            <a:r>
              <a:rPr lang="en-US" sz="2400" dirty="0">
                <a:solidFill>
                  <a:srgbClr val="000099"/>
                </a:solidFill>
              </a:rPr>
              <a:t>G</a:t>
            </a:r>
            <a:r>
              <a:rPr lang="en-US" sz="2400" dirty="0"/>
              <a:t>: </a:t>
            </a:r>
            <a:r>
              <a:rPr lang="en-US" sz="2400" dirty="0">
                <a:solidFill>
                  <a:srgbClr val="000099"/>
                </a:solidFill>
              </a:rPr>
              <a:t>I-D</a:t>
            </a:r>
            <a:r>
              <a:rPr lang="en-US" sz="2400" baseline="30000" dirty="0">
                <a:solidFill>
                  <a:srgbClr val="000099"/>
                </a:solidFill>
              </a:rPr>
              <a:t>-1/2</a:t>
            </a:r>
            <a:r>
              <a:rPr lang="en-US" sz="2400" dirty="0">
                <a:solidFill>
                  <a:srgbClr val="000099"/>
                </a:solidFill>
              </a:rPr>
              <a:t>AD</a:t>
            </a:r>
            <a:r>
              <a:rPr lang="en-US" sz="2400" baseline="30000" dirty="0">
                <a:solidFill>
                  <a:srgbClr val="000099"/>
                </a:solidFill>
              </a:rPr>
              <a:t>1/2</a:t>
            </a:r>
            <a:r>
              <a:rPr lang="en-US" sz="2400" dirty="0">
                <a:solidFill>
                  <a:srgbClr val="000099"/>
                </a:solidFill>
              </a:rPr>
              <a:t> </a:t>
            </a:r>
            <a:r>
              <a:rPr lang="en-US" sz="2400" dirty="0">
                <a:solidFill>
                  <a:srgbClr val="0070C0"/>
                </a:solidFill>
              </a:rPr>
              <a:t>(Chung, 97)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for random graphs, </a:t>
            </a:r>
            <a:r>
              <a:rPr lang="el-GR" sz="2400" dirty="0">
                <a:solidFill>
                  <a:srgbClr val="000099"/>
                </a:solidFill>
              </a:rPr>
              <a:t>λ</a:t>
            </a:r>
            <a:r>
              <a:rPr lang="en-US" sz="2400" dirty="0">
                <a:solidFill>
                  <a:srgbClr val="000099"/>
                </a:solidFill>
              </a:rPr>
              <a:t> </a:t>
            </a:r>
            <a:r>
              <a:rPr lang="en-US" sz="2400" dirty="0" smtClean="0">
                <a:solidFill>
                  <a:srgbClr val="000099"/>
                </a:solidFill>
              </a:rPr>
              <a:t>= o(1)</a:t>
            </a:r>
            <a:endParaRPr lang="en-US" sz="2400" dirty="0"/>
          </a:p>
          <a:p>
            <a:pPr>
              <a:lnSpc>
                <a:spcPct val="90000"/>
              </a:lnSpc>
            </a:pPr>
            <a:r>
              <a:rPr lang="en-US" sz="2400" dirty="0"/>
              <a:t>in the ILT model, </a:t>
            </a:r>
            <a:r>
              <a:rPr lang="el-GR" sz="2400" dirty="0">
                <a:solidFill>
                  <a:srgbClr val="000099"/>
                </a:solidFill>
              </a:rPr>
              <a:t>λ</a:t>
            </a:r>
            <a:r>
              <a:rPr lang="en-US" sz="2400" dirty="0">
                <a:solidFill>
                  <a:srgbClr val="000099"/>
                </a:solidFill>
              </a:rPr>
              <a:t> </a:t>
            </a:r>
            <a:r>
              <a:rPr lang="en-US" sz="2400" dirty="0" smtClean="0">
                <a:solidFill>
                  <a:srgbClr val="000099"/>
                </a:solidFill>
              </a:rPr>
              <a:t>&gt; </a:t>
            </a:r>
            <a:r>
              <a:rPr lang="en-US" sz="2400" dirty="0">
                <a:solidFill>
                  <a:srgbClr val="000099"/>
                </a:solidFill>
              </a:rPr>
              <a:t>½</a:t>
            </a:r>
          </a:p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en-US" sz="2400" dirty="0" smtClean="0">
                <a:solidFill>
                  <a:srgbClr val="FF0000"/>
                </a:solidFill>
              </a:rPr>
              <a:t>bad spectral expansion </a:t>
            </a:r>
            <a:r>
              <a:rPr lang="en-US" sz="2400" dirty="0" smtClean="0"/>
              <a:t>found in </a:t>
            </a:r>
            <a:r>
              <a:rPr lang="en-US" sz="2400" dirty="0"/>
              <a:t>the ILT model </a:t>
            </a:r>
            <a:r>
              <a:rPr lang="en-US" sz="2400" dirty="0" smtClean="0"/>
              <a:t>characteristic of </a:t>
            </a:r>
            <a:r>
              <a:rPr lang="en-US" sz="2400" dirty="0"/>
              <a:t>social networks but not </a:t>
            </a:r>
            <a:r>
              <a:rPr lang="en-US" sz="2400" dirty="0" smtClean="0"/>
              <a:t>the </a:t>
            </a:r>
            <a:r>
              <a:rPr lang="en-US" sz="2400" dirty="0"/>
              <a:t>web graph </a:t>
            </a:r>
            <a:r>
              <a:rPr lang="en-US" sz="2400" dirty="0" smtClean="0">
                <a:solidFill>
                  <a:srgbClr val="0070C0"/>
                </a:solidFill>
              </a:rPr>
              <a:t>(</a:t>
            </a:r>
            <a:r>
              <a:rPr lang="en-US" sz="2400" dirty="0">
                <a:solidFill>
                  <a:srgbClr val="0070C0"/>
                </a:solidFill>
              </a:rPr>
              <a:t>Estrada, 06) </a:t>
            </a:r>
          </a:p>
          <a:p>
            <a:pPr lvl="1">
              <a:lnSpc>
                <a:spcPct val="90000"/>
              </a:lnSpc>
              <a:buClr>
                <a:schemeClr val="tx1"/>
              </a:buClr>
            </a:pPr>
            <a:r>
              <a:rPr lang="en-US" sz="2400" dirty="0">
                <a:solidFill>
                  <a:srgbClr val="008000"/>
                </a:solidFill>
              </a:rPr>
              <a:t>in social networks, there are a higher number of intra- rather than inter-community links</a:t>
            </a:r>
            <a:endParaRPr lang="el-GR" sz="2400" dirty="0">
              <a:solidFill>
                <a:srgbClr val="008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Complex Networks</a:t>
            </a:r>
            <a:endParaRPr lang="en-US" dirty="0" smtClean="0"/>
          </a:p>
        </p:txBody>
      </p:sp>
      <p:sp>
        <p:nvSpPr>
          <p:cNvPr id="4096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0082B98-856D-4510-8E42-17CC7E17A071}" type="slidenum">
              <a:rPr lang="en-US" smtClean="0"/>
              <a:pPr/>
              <a:t>86</a:t>
            </a:fld>
            <a:endParaRPr lang="en-US" dirty="0" smtClean="0"/>
          </a:p>
        </p:txBody>
      </p:sp>
      <p:sp>
        <p:nvSpPr>
          <p:cNvPr id="409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…Degree distribution</a:t>
            </a:r>
          </a:p>
        </p:txBody>
      </p:sp>
      <p:sp>
        <p:nvSpPr>
          <p:cNvPr id="4096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323975"/>
            <a:ext cx="4086225" cy="4786313"/>
          </a:xfrm>
        </p:spPr>
        <p:txBody>
          <a:bodyPr/>
          <a:lstStyle/>
          <a:p>
            <a:pPr lvl="1" eaLnBrk="1" hangingPunct="1"/>
            <a:r>
              <a:rPr lang="en-US" sz="3200" dirty="0" smtClean="0"/>
              <a:t>generate </a:t>
            </a:r>
            <a:r>
              <a:rPr lang="en-US" sz="3200" dirty="0" smtClean="0">
                <a:solidFill>
                  <a:srgbClr val="FF0000"/>
                </a:solidFill>
              </a:rPr>
              <a:t>power law graphs </a:t>
            </a:r>
            <a:r>
              <a:rPr lang="en-US" sz="3200" dirty="0" smtClean="0"/>
              <a:t>from ILT?</a:t>
            </a:r>
          </a:p>
          <a:p>
            <a:pPr lvl="2" eaLnBrk="1" hangingPunct="1"/>
            <a:r>
              <a:rPr lang="en-US" sz="3200" dirty="0" smtClean="0"/>
              <a:t>ILT model gives a binomial-type distribution</a:t>
            </a:r>
          </a:p>
          <a:p>
            <a:pPr lvl="2" eaLnBrk="1" hangingPunct="1"/>
            <a:endParaRPr lang="en-US" dirty="0" smtClean="0"/>
          </a:p>
          <a:p>
            <a:pPr eaLnBrk="1" hangingPunct="1">
              <a:buFontTx/>
              <a:buNone/>
            </a:pPr>
            <a:endParaRPr lang="en-US" dirty="0" smtClean="0"/>
          </a:p>
        </p:txBody>
      </p:sp>
      <p:pic>
        <p:nvPicPr>
          <p:cNvPr id="40966" name="Picture 4" descr="degree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59225" y="1654629"/>
            <a:ext cx="4947581" cy="4087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98114" cy="1143000"/>
          </a:xfrm>
        </p:spPr>
        <p:txBody>
          <a:bodyPr/>
          <a:lstStyle/>
          <a:p>
            <a:r>
              <a:rPr lang="en-US" sz="4000" dirty="0" smtClean="0"/>
              <a:t>Geometry of OSNs?</a:t>
            </a:r>
            <a:endParaRPr lang="en-GB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714" y="1727201"/>
            <a:ext cx="5384799" cy="3570514"/>
          </a:xfrm>
        </p:spPr>
        <p:txBody>
          <a:bodyPr/>
          <a:lstStyle/>
          <a:p>
            <a:r>
              <a:rPr lang="en-US" sz="2800" dirty="0" smtClean="0"/>
              <a:t>OSNs live in </a:t>
            </a:r>
            <a:r>
              <a:rPr lang="en-US" sz="2800" dirty="0" smtClean="0">
                <a:solidFill>
                  <a:srgbClr val="FF0000"/>
                </a:solidFill>
              </a:rPr>
              <a:t>social space</a:t>
            </a:r>
            <a:r>
              <a:rPr lang="en-US" sz="2800" dirty="0" smtClean="0"/>
              <a:t>: proximity of nodes depends on common attributes (such as geography, gender, age, etc.)</a:t>
            </a:r>
          </a:p>
          <a:p>
            <a:pPr>
              <a:buNone/>
            </a:pPr>
            <a:endParaRPr lang="en-US" sz="2800" dirty="0" smtClean="0"/>
          </a:p>
          <a:p>
            <a:r>
              <a:rPr lang="en-US" sz="2800" dirty="0" smtClean="0"/>
              <a:t>IDEA: embed OSN in </a:t>
            </a:r>
            <a:r>
              <a:rPr lang="en-US" sz="2800" dirty="0" smtClean="0">
                <a:solidFill>
                  <a:srgbClr val="000099"/>
                </a:solidFill>
              </a:rPr>
              <a:t>2-, 3-</a:t>
            </a:r>
          </a:p>
          <a:p>
            <a:pPr>
              <a:buNone/>
            </a:pPr>
            <a:r>
              <a:rPr lang="en-US" sz="2800" dirty="0" smtClean="0"/>
              <a:t>or higher dimensional space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Complex Networks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B9044-B1D8-49D8-9F05-DCB5B06F2D15}" type="slidenum">
              <a:rPr lang="en-US" smtClean="0"/>
              <a:pPr/>
              <a:t>87</a:t>
            </a:fld>
            <a:endParaRPr lang="en-US" dirty="0"/>
          </a:p>
        </p:txBody>
      </p:sp>
      <p:pic>
        <p:nvPicPr>
          <p:cNvPr id="575494" name="Picture 6" descr="https://buffy.eecs.berkeley.edu/PHP/resabs/images/2006/101207-1.jpg"/>
          <p:cNvPicPr>
            <a:picLocks noChangeAspect="1" noChangeArrowheads="1"/>
          </p:cNvPicPr>
          <p:nvPr/>
        </p:nvPicPr>
        <p:blipFill>
          <a:blip r:embed="rId2"/>
          <a:srcRect l="8856" r="7011"/>
          <a:stretch>
            <a:fillRect/>
          </a:stretch>
        </p:blipFill>
        <p:spPr bwMode="auto">
          <a:xfrm>
            <a:off x="5558971" y="1669144"/>
            <a:ext cx="3309258" cy="3788229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Dimension of an OSN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628" y="1455058"/>
            <a:ext cx="8229600" cy="4525963"/>
          </a:xfrm>
        </p:spPr>
        <p:txBody>
          <a:bodyPr/>
          <a:lstStyle/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dirty="0" smtClean="0">
                <a:solidFill>
                  <a:srgbClr val="FF0000"/>
                </a:solidFill>
              </a:rPr>
              <a:t>dimension of OSN</a:t>
            </a:r>
            <a:r>
              <a:rPr lang="en-US" dirty="0" smtClean="0"/>
              <a:t>: minimum number of  attributes needed to classify nodes</a:t>
            </a:r>
          </a:p>
          <a:p>
            <a:pPr>
              <a:buClr>
                <a:schemeClr val="tx1"/>
              </a:buClr>
              <a:buNone/>
            </a:pPr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like game of </a:t>
            </a:r>
            <a:r>
              <a:rPr lang="en-US" dirty="0" smtClean="0">
                <a:solidFill>
                  <a:srgbClr val="000099"/>
                </a:solidFill>
              </a:rPr>
              <a:t>“20 Questions”: </a:t>
            </a:r>
            <a:r>
              <a:rPr lang="en-US" dirty="0" smtClean="0"/>
              <a:t>each question narrows range of possibilities</a:t>
            </a:r>
          </a:p>
          <a:p>
            <a:pPr>
              <a:buNone/>
            </a:pPr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what is a credible mathematical formula for the dimension of an OSN?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Complex Networks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B9044-B1D8-49D8-9F05-DCB5B06F2D15}" type="slidenum">
              <a:rPr lang="en-US" smtClean="0"/>
              <a:pPr/>
              <a:t>88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Geometric model for OSNs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695371" cy="4452257"/>
          </a:xfrm>
        </p:spPr>
        <p:txBody>
          <a:bodyPr/>
          <a:lstStyle/>
          <a:p>
            <a:r>
              <a:rPr lang="en-US" sz="2600" dirty="0" smtClean="0"/>
              <a:t>we consider a </a:t>
            </a:r>
            <a:r>
              <a:rPr lang="en-US" sz="2600" dirty="0" smtClean="0">
                <a:solidFill>
                  <a:srgbClr val="C00000"/>
                </a:solidFill>
              </a:rPr>
              <a:t>geometric model of OSNs</a:t>
            </a:r>
            <a:r>
              <a:rPr lang="en-US" sz="2600" dirty="0" smtClean="0"/>
              <a:t>, where</a:t>
            </a:r>
          </a:p>
          <a:p>
            <a:pPr lvl="1"/>
            <a:r>
              <a:rPr lang="en-US" sz="2600" dirty="0" smtClean="0"/>
              <a:t>nodes are in </a:t>
            </a:r>
            <a:r>
              <a:rPr lang="en-US" sz="2600" dirty="0" smtClean="0">
                <a:solidFill>
                  <a:srgbClr val="000099"/>
                </a:solidFill>
              </a:rPr>
              <a:t>m</a:t>
            </a:r>
            <a:r>
              <a:rPr lang="en-US" sz="2600" dirty="0" smtClean="0"/>
              <a:t>-dimensional Euclidean space</a:t>
            </a:r>
          </a:p>
          <a:p>
            <a:pPr lvl="1"/>
            <a:r>
              <a:rPr lang="en-US" sz="2600" dirty="0" smtClean="0"/>
              <a:t>threshold value </a:t>
            </a:r>
            <a:r>
              <a:rPr lang="en-US" sz="2600" dirty="0" smtClean="0">
                <a:solidFill>
                  <a:srgbClr val="C00000"/>
                </a:solidFill>
              </a:rPr>
              <a:t>variable</a:t>
            </a:r>
            <a:r>
              <a:rPr lang="en-US" sz="2600" dirty="0" smtClean="0"/>
              <a:t>: a function of ranking of nodes</a:t>
            </a:r>
            <a:endParaRPr lang="en-GB" sz="2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Complex Networks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B9044-B1D8-49D8-9F05-DCB5B06F2D15}" type="slidenum">
              <a:rPr lang="en-US" smtClean="0"/>
              <a:pPr/>
              <a:t>89</a:t>
            </a:fld>
            <a:endParaRPr lang="en-US" dirty="0"/>
          </a:p>
        </p:txBody>
      </p:sp>
      <p:pic>
        <p:nvPicPr>
          <p:cNvPr id="594946" name="Picture 2" descr="http://www.math.tu-berlin.de/numerik/mt/mso/images/chemie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45100" y="2010228"/>
            <a:ext cx="3550557" cy="306977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2067"/>
            <a:ext cx="8229600" cy="1143000"/>
          </a:xfrm>
        </p:spPr>
        <p:txBody>
          <a:bodyPr/>
          <a:lstStyle/>
          <a:p>
            <a:r>
              <a:rPr lang="en-US" sz="3600" dirty="0" smtClean="0">
                <a:solidFill>
                  <a:srgbClr val="C00000"/>
                </a:solidFill>
              </a:rPr>
              <a:t>Geometric Protean (GEO-P) Model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800" dirty="0" smtClean="0">
                <a:solidFill>
                  <a:srgbClr val="0070C0"/>
                </a:solidFill>
              </a:rPr>
              <a:t>(Bonato, Janssen, Prałat, 10)</a:t>
            </a:r>
            <a:endParaRPr lang="en-GB" sz="2800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714" y="1382486"/>
            <a:ext cx="8469086" cy="4525963"/>
          </a:xfrm>
        </p:spPr>
        <p:txBody>
          <a:bodyPr/>
          <a:lstStyle/>
          <a:p>
            <a:r>
              <a:rPr lang="en-US" sz="2400" dirty="0" smtClean="0"/>
              <a:t>parameters: </a:t>
            </a:r>
            <a:r>
              <a:rPr lang="el-GR" sz="2400" dirty="0" smtClean="0">
                <a:solidFill>
                  <a:srgbClr val="000099"/>
                </a:solidFill>
              </a:rPr>
              <a:t>α</a:t>
            </a:r>
            <a:r>
              <a:rPr lang="en-US" sz="2400" dirty="0" smtClean="0">
                <a:solidFill>
                  <a:srgbClr val="000099"/>
                </a:solidFill>
              </a:rPr>
              <a:t>, </a:t>
            </a:r>
            <a:r>
              <a:rPr lang="el-GR" sz="2400" dirty="0" smtClean="0">
                <a:solidFill>
                  <a:srgbClr val="000099"/>
                </a:solidFill>
              </a:rPr>
              <a:t>β</a:t>
            </a:r>
            <a:r>
              <a:rPr lang="en-US" sz="2400" dirty="0" smtClean="0"/>
              <a:t> in </a:t>
            </a:r>
            <a:r>
              <a:rPr lang="en-US" sz="2400" dirty="0" smtClean="0">
                <a:solidFill>
                  <a:srgbClr val="000099"/>
                </a:solidFill>
              </a:rPr>
              <a:t>(0,1), </a:t>
            </a:r>
            <a:r>
              <a:rPr lang="el-GR" sz="2400" dirty="0" smtClean="0">
                <a:solidFill>
                  <a:srgbClr val="000099"/>
                </a:solidFill>
              </a:rPr>
              <a:t>α</a:t>
            </a:r>
            <a:r>
              <a:rPr lang="en-US" sz="2400" dirty="0" smtClean="0">
                <a:solidFill>
                  <a:srgbClr val="000099"/>
                </a:solidFill>
              </a:rPr>
              <a:t>+</a:t>
            </a:r>
            <a:r>
              <a:rPr lang="el-GR" sz="2400" dirty="0" smtClean="0">
                <a:solidFill>
                  <a:srgbClr val="000099"/>
                </a:solidFill>
              </a:rPr>
              <a:t>β</a:t>
            </a:r>
            <a:r>
              <a:rPr lang="en-US" sz="2400" dirty="0" smtClean="0">
                <a:solidFill>
                  <a:srgbClr val="000099"/>
                </a:solidFill>
              </a:rPr>
              <a:t> &lt; 1;</a:t>
            </a:r>
            <a:r>
              <a:rPr lang="en-US" sz="2400" dirty="0" smtClean="0"/>
              <a:t> positive integer </a:t>
            </a:r>
            <a:r>
              <a:rPr lang="en-US" sz="2400" dirty="0" smtClean="0">
                <a:solidFill>
                  <a:srgbClr val="000099"/>
                </a:solidFill>
              </a:rPr>
              <a:t>m</a:t>
            </a:r>
          </a:p>
          <a:p>
            <a:r>
              <a:rPr lang="en-US" sz="2400" dirty="0" smtClean="0"/>
              <a:t>nodes live in </a:t>
            </a:r>
            <a:r>
              <a:rPr lang="en-US" sz="2400" dirty="0" smtClean="0">
                <a:solidFill>
                  <a:srgbClr val="000099"/>
                </a:solidFill>
              </a:rPr>
              <a:t>m</a:t>
            </a:r>
            <a:r>
              <a:rPr lang="en-US" sz="2400" dirty="0" smtClean="0"/>
              <a:t>-dimensional hypercube</a:t>
            </a:r>
          </a:p>
          <a:p>
            <a:r>
              <a:rPr lang="en-US" sz="2400" dirty="0" smtClean="0"/>
              <a:t>each node is ranked </a:t>
            </a:r>
            <a:r>
              <a:rPr lang="en-US" sz="2400" dirty="0" smtClean="0">
                <a:solidFill>
                  <a:srgbClr val="000099"/>
                </a:solidFill>
              </a:rPr>
              <a:t>1,2, …, n </a:t>
            </a:r>
            <a:r>
              <a:rPr lang="en-US" sz="2400" dirty="0" smtClean="0"/>
              <a:t>by some function </a:t>
            </a:r>
            <a:r>
              <a:rPr lang="en-US" sz="2400" dirty="0" smtClean="0">
                <a:solidFill>
                  <a:srgbClr val="000099"/>
                </a:solidFill>
              </a:rPr>
              <a:t>r</a:t>
            </a:r>
          </a:p>
          <a:p>
            <a:pPr lvl="1"/>
            <a:r>
              <a:rPr lang="en-US" sz="2000" dirty="0" smtClean="0">
                <a:solidFill>
                  <a:srgbClr val="000099"/>
                </a:solidFill>
              </a:rPr>
              <a:t>1 </a:t>
            </a:r>
            <a:r>
              <a:rPr lang="en-US" sz="2000" dirty="0" smtClean="0"/>
              <a:t>is best, </a:t>
            </a:r>
            <a:r>
              <a:rPr lang="en-US" sz="2000" dirty="0" smtClean="0">
                <a:solidFill>
                  <a:srgbClr val="000099"/>
                </a:solidFill>
              </a:rPr>
              <a:t>n </a:t>
            </a:r>
            <a:r>
              <a:rPr lang="en-US" sz="2000" dirty="0" smtClean="0"/>
              <a:t>is worst </a:t>
            </a:r>
          </a:p>
          <a:p>
            <a:pPr lvl="1"/>
            <a:r>
              <a:rPr lang="en-US" sz="2000" dirty="0" smtClean="0"/>
              <a:t>we use </a:t>
            </a:r>
            <a:r>
              <a:rPr lang="en-US" sz="2000" dirty="0" smtClean="0">
                <a:solidFill>
                  <a:srgbClr val="C00000"/>
                </a:solidFill>
              </a:rPr>
              <a:t>random initial ranking</a:t>
            </a:r>
          </a:p>
          <a:p>
            <a:r>
              <a:rPr lang="en-US" sz="2400" dirty="0" smtClean="0"/>
              <a:t>at each time-step, one new node </a:t>
            </a:r>
            <a:r>
              <a:rPr lang="en-US" sz="2400" dirty="0" smtClean="0">
                <a:solidFill>
                  <a:srgbClr val="000099"/>
                </a:solidFill>
              </a:rPr>
              <a:t>v</a:t>
            </a:r>
            <a:r>
              <a:rPr lang="en-US" sz="2400" dirty="0" smtClean="0"/>
              <a:t> is born, one randomly node chosen dies (and ranking is updated)</a:t>
            </a:r>
          </a:p>
          <a:p>
            <a:r>
              <a:rPr lang="en-US" sz="2400" dirty="0" smtClean="0"/>
              <a:t>each existing node </a:t>
            </a:r>
            <a:r>
              <a:rPr lang="en-US" sz="2400" dirty="0" smtClean="0">
                <a:solidFill>
                  <a:srgbClr val="000099"/>
                </a:solidFill>
              </a:rPr>
              <a:t>u</a:t>
            </a:r>
            <a:r>
              <a:rPr lang="en-US" sz="2400" dirty="0" smtClean="0"/>
              <a:t> has a </a:t>
            </a:r>
            <a:r>
              <a:rPr lang="en-US" sz="2400" dirty="0" smtClean="0">
                <a:solidFill>
                  <a:srgbClr val="C00000"/>
                </a:solidFill>
              </a:rPr>
              <a:t>region of influence </a:t>
            </a:r>
            <a:r>
              <a:rPr lang="en-US" sz="2400" dirty="0" smtClean="0"/>
              <a:t>with volume</a:t>
            </a:r>
          </a:p>
          <a:p>
            <a:pPr>
              <a:buNone/>
            </a:pPr>
            <a:endParaRPr lang="en-US" sz="2400" dirty="0" smtClean="0"/>
          </a:p>
          <a:p>
            <a:r>
              <a:rPr lang="en-US" sz="2400" dirty="0" smtClean="0"/>
              <a:t>add edge </a:t>
            </a:r>
            <a:r>
              <a:rPr lang="en-US" sz="2400" dirty="0" smtClean="0">
                <a:solidFill>
                  <a:srgbClr val="000099"/>
                </a:solidFill>
              </a:rPr>
              <a:t>uv</a:t>
            </a:r>
            <a:r>
              <a:rPr lang="en-US" sz="2400" dirty="0" smtClean="0"/>
              <a:t> if</a:t>
            </a:r>
            <a:r>
              <a:rPr lang="en-US" sz="2400" dirty="0" smtClean="0">
                <a:solidFill>
                  <a:srgbClr val="000099"/>
                </a:solidFill>
              </a:rPr>
              <a:t> v </a:t>
            </a:r>
            <a:r>
              <a:rPr lang="en-US" sz="2400" dirty="0" smtClean="0"/>
              <a:t>is in the region of influence of </a:t>
            </a:r>
            <a:r>
              <a:rPr lang="en-US" sz="2400" dirty="0" smtClean="0">
                <a:solidFill>
                  <a:srgbClr val="000099"/>
                </a:solidFill>
              </a:rPr>
              <a:t>u</a:t>
            </a:r>
          </a:p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Complex Networks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B9044-B1D8-49D8-9F05-DCB5B06F2D15}" type="slidenum">
              <a:rPr lang="en-US" smtClean="0"/>
              <a:pPr/>
              <a:t>90</a:t>
            </a:fld>
            <a:endParaRPr lang="en-US" dirty="0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3588656" y="4592965"/>
          <a:ext cx="1389744" cy="617664"/>
        </p:xfrm>
        <a:graphic>
          <a:graphicData uri="http://schemas.openxmlformats.org/presentationml/2006/ole">
            <p:oleObj spid="_x0000_s582658" name="Equation" r:id="rId3" imgW="457200" imgH="20304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Notes on GEO-P model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models uses both geometry and ranking</a:t>
            </a:r>
          </a:p>
          <a:p>
            <a:r>
              <a:rPr lang="en-US" dirty="0" smtClean="0"/>
              <a:t>number of nodes is </a:t>
            </a:r>
            <a:r>
              <a:rPr lang="en-US" dirty="0" smtClean="0">
                <a:solidFill>
                  <a:srgbClr val="C00000"/>
                </a:solidFill>
              </a:rPr>
              <a:t>static</a:t>
            </a:r>
            <a:r>
              <a:rPr lang="en-US" dirty="0" smtClean="0"/>
              <a:t>: fixed at </a:t>
            </a:r>
            <a:r>
              <a:rPr lang="en-US" dirty="0" smtClean="0">
                <a:solidFill>
                  <a:srgbClr val="000099"/>
                </a:solidFill>
              </a:rPr>
              <a:t>n</a:t>
            </a:r>
          </a:p>
          <a:p>
            <a:pPr lvl="1"/>
            <a:r>
              <a:rPr lang="en-US" dirty="0" smtClean="0"/>
              <a:t>order of OSNs at most number of people (roughly…)</a:t>
            </a:r>
          </a:p>
          <a:p>
            <a:r>
              <a:rPr lang="en-US" dirty="0" smtClean="0"/>
              <a:t>top ranked nodes have larger regions of influence 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Complex Networks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B9044-B1D8-49D8-9F05-DCB5B06F2D15}" type="slidenum">
              <a:rPr lang="en-US" smtClean="0"/>
              <a:pPr/>
              <a:t>91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Simulation with 5000 nodes</a:t>
            </a:r>
            <a:endParaRPr lang="en-GB" dirty="0"/>
          </a:p>
        </p:txBody>
      </p:sp>
      <p:pic>
        <p:nvPicPr>
          <p:cNvPr id="6" name="Content Placeholder 5" descr="a0_7b0_15.gif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09018" y="1395752"/>
            <a:ext cx="4730411" cy="4730411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Complex Networks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B9044-B1D8-49D8-9F05-DCB5B06F2D15}" type="slidenum">
              <a:rPr lang="en-US" smtClean="0"/>
              <a:pPr/>
              <a:t>92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Simulation with 5000 nodes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Complex Networks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B9044-B1D8-49D8-9F05-DCB5B06F2D15}" type="slidenum">
              <a:rPr lang="en-US" smtClean="0"/>
              <a:pPr/>
              <a:t>93</a:t>
            </a:fld>
            <a:endParaRPr lang="en-US" dirty="0"/>
          </a:p>
        </p:txBody>
      </p:sp>
      <p:pic>
        <p:nvPicPr>
          <p:cNvPr id="6" name="Content Placeholder 5" descr="a0_7b0_15geom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02732" y="1832429"/>
            <a:ext cx="3436257" cy="3436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Content Placeholder 5" descr="a0_7b0_15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703874" y="1814286"/>
            <a:ext cx="3426506" cy="342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1538515" y="5500914"/>
            <a:ext cx="25109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random geometric</a:t>
            </a:r>
            <a:endParaRPr lang="en-GB" b="1" dirty="0"/>
          </a:p>
        </p:txBody>
      </p:sp>
      <p:sp>
        <p:nvSpPr>
          <p:cNvPr id="9" name="TextBox 8"/>
          <p:cNvSpPr txBox="1"/>
          <p:nvPr/>
        </p:nvSpPr>
        <p:spPr>
          <a:xfrm>
            <a:off x="6037943" y="5500914"/>
            <a:ext cx="18578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GEO-P</a:t>
            </a:r>
            <a:endParaRPr lang="en-GB" b="1" dirty="0"/>
          </a:p>
        </p:txBody>
      </p:sp>
      <p:sp>
        <p:nvSpPr>
          <p:cNvPr id="10" name="Freeform 9"/>
          <p:cNvSpPr/>
          <p:nvPr/>
        </p:nvSpPr>
        <p:spPr>
          <a:xfrm>
            <a:off x="4789714" y="1857829"/>
            <a:ext cx="3396343" cy="2409371"/>
          </a:xfrm>
          <a:custGeom>
            <a:avLst/>
            <a:gdLst>
              <a:gd name="connsiteX0" fmla="*/ 0 w 3468914"/>
              <a:gd name="connsiteY0" fmla="*/ 0 h 2423885"/>
              <a:gd name="connsiteX1" fmla="*/ 1378857 w 3468914"/>
              <a:gd name="connsiteY1" fmla="*/ 1524000 h 2423885"/>
              <a:gd name="connsiteX2" fmla="*/ 1451429 w 3468914"/>
              <a:gd name="connsiteY2" fmla="*/ 2162628 h 2423885"/>
              <a:gd name="connsiteX3" fmla="*/ 2641600 w 3468914"/>
              <a:gd name="connsiteY3" fmla="*/ 2032000 h 2423885"/>
              <a:gd name="connsiteX4" fmla="*/ 3468914 w 3468914"/>
              <a:gd name="connsiteY4" fmla="*/ 2423885 h 2423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68914" h="2423885">
                <a:moveTo>
                  <a:pt x="0" y="0"/>
                </a:moveTo>
                <a:cubicBezTo>
                  <a:pt x="568476" y="581781"/>
                  <a:pt x="1136952" y="1163562"/>
                  <a:pt x="1378857" y="1524000"/>
                </a:cubicBezTo>
                <a:cubicBezTo>
                  <a:pt x="1620762" y="1884438"/>
                  <a:pt x="1240972" y="2077961"/>
                  <a:pt x="1451429" y="2162628"/>
                </a:cubicBezTo>
                <a:cubicBezTo>
                  <a:pt x="1661886" y="2247295"/>
                  <a:pt x="2305353" y="1988457"/>
                  <a:pt x="2641600" y="2032000"/>
                </a:cubicBezTo>
                <a:cubicBezTo>
                  <a:pt x="2977848" y="2075543"/>
                  <a:pt x="3343124" y="2363409"/>
                  <a:pt x="3468914" y="2423885"/>
                </a:cubicBezTo>
              </a:path>
            </a:pathLst>
          </a:custGeom>
          <a:noFill/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Properties of the GEO-P model</a:t>
            </a:r>
            <a:br>
              <a:rPr lang="en-US" dirty="0" smtClean="0"/>
            </a:br>
            <a:r>
              <a:rPr lang="en-US" sz="2800" dirty="0" smtClean="0">
                <a:solidFill>
                  <a:srgbClr val="0070C0"/>
                </a:solidFill>
              </a:rPr>
              <a:t> (Bonato, Janssen, Prałat, 2010)</a:t>
            </a:r>
            <a:endParaRPr lang="en-GB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sz="2600" dirty="0" smtClean="0">
                <a:solidFill>
                  <a:srgbClr val="C00000"/>
                </a:solidFill>
              </a:rPr>
              <a:t>asymptotically almost surely (a.a.s.) </a:t>
            </a:r>
            <a:r>
              <a:rPr lang="en-US" sz="2600" dirty="0" smtClean="0"/>
              <a:t>the GEO-P model generates graphs with the following properties:</a:t>
            </a:r>
          </a:p>
          <a:p>
            <a:pPr lvl="1">
              <a:buClr>
                <a:schemeClr val="tx1"/>
              </a:buClr>
            </a:pPr>
            <a:r>
              <a:rPr lang="en-US" sz="2600" dirty="0" smtClean="0">
                <a:solidFill>
                  <a:srgbClr val="C00000"/>
                </a:solidFill>
              </a:rPr>
              <a:t>power law degree distribution </a:t>
            </a:r>
            <a:r>
              <a:rPr lang="en-US" sz="2600" dirty="0" smtClean="0"/>
              <a:t>with exponent </a:t>
            </a:r>
          </a:p>
          <a:p>
            <a:pPr lvl="1" algn="ctr">
              <a:buClr>
                <a:schemeClr val="tx1"/>
              </a:buClr>
              <a:buNone/>
            </a:pPr>
            <a:r>
              <a:rPr lang="en-US" sz="2600" dirty="0" smtClean="0">
                <a:solidFill>
                  <a:srgbClr val="000099"/>
                </a:solidFill>
              </a:rPr>
              <a:t>   b = 1+1/</a:t>
            </a:r>
            <a:r>
              <a:rPr lang="el-GR" sz="2600" dirty="0" smtClean="0">
                <a:solidFill>
                  <a:srgbClr val="000099"/>
                </a:solidFill>
              </a:rPr>
              <a:t>α</a:t>
            </a:r>
            <a:endParaRPr lang="en-US" sz="2600" dirty="0" smtClean="0">
              <a:solidFill>
                <a:srgbClr val="000099"/>
              </a:solidFill>
            </a:endParaRPr>
          </a:p>
          <a:p>
            <a:pPr lvl="1">
              <a:buClr>
                <a:schemeClr val="tx1"/>
              </a:buClr>
            </a:pPr>
            <a:r>
              <a:rPr lang="en-US" sz="2600" dirty="0" smtClean="0">
                <a:solidFill>
                  <a:srgbClr val="C00000"/>
                </a:solidFill>
              </a:rPr>
              <a:t>average degree  </a:t>
            </a:r>
            <a:r>
              <a:rPr lang="en-US" sz="2600" dirty="0" smtClean="0">
                <a:solidFill>
                  <a:srgbClr val="000099"/>
                </a:solidFill>
              </a:rPr>
              <a:t>d =</a:t>
            </a:r>
            <a:r>
              <a:rPr lang="en-US" sz="2600" dirty="0" smtClean="0">
                <a:solidFill>
                  <a:srgbClr val="C00000"/>
                </a:solidFill>
              </a:rPr>
              <a:t> </a:t>
            </a:r>
            <a:r>
              <a:rPr lang="en-US" sz="2600" dirty="0" smtClean="0">
                <a:solidFill>
                  <a:srgbClr val="000099"/>
                </a:solidFill>
              </a:rPr>
              <a:t>(1+o(1))n</a:t>
            </a:r>
            <a:r>
              <a:rPr lang="en-US" sz="2600" baseline="30000" dirty="0" smtClean="0">
                <a:solidFill>
                  <a:srgbClr val="000099"/>
                </a:solidFill>
              </a:rPr>
              <a:t>(1-</a:t>
            </a:r>
            <a:r>
              <a:rPr lang="el-GR" sz="2600" baseline="30000" dirty="0" smtClean="0">
                <a:solidFill>
                  <a:srgbClr val="000099"/>
                </a:solidFill>
              </a:rPr>
              <a:t>α</a:t>
            </a:r>
            <a:r>
              <a:rPr lang="en-US" sz="2600" baseline="30000" dirty="0" smtClean="0">
                <a:solidFill>
                  <a:srgbClr val="000099"/>
                </a:solidFill>
              </a:rPr>
              <a:t>-</a:t>
            </a:r>
            <a:r>
              <a:rPr lang="el-GR" sz="2600" baseline="30000" dirty="0" smtClean="0">
                <a:solidFill>
                  <a:srgbClr val="000099"/>
                </a:solidFill>
              </a:rPr>
              <a:t>β</a:t>
            </a:r>
            <a:r>
              <a:rPr lang="en-US" sz="2600" baseline="30000" dirty="0" smtClean="0">
                <a:solidFill>
                  <a:srgbClr val="000099"/>
                </a:solidFill>
              </a:rPr>
              <a:t>)</a:t>
            </a:r>
            <a:r>
              <a:rPr lang="en-US" sz="2600" dirty="0" smtClean="0">
                <a:solidFill>
                  <a:srgbClr val="000099"/>
                </a:solidFill>
              </a:rPr>
              <a:t>/2</a:t>
            </a:r>
            <a:r>
              <a:rPr lang="en-US" sz="2600" baseline="30000" dirty="0" smtClean="0">
                <a:solidFill>
                  <a:srgbClr val="000099"/>
                </a:solidFill>
              </a:rPr>
              <a:t>1-</a:t>
            </a:r>
            <a:r>
              <a:rPr lang="el-GR" sz="2600" baseline="30000" dirty="0" smtClean="0">
                <a:solidFill>
                  <a:srgbClr val="000099"/>
                </a:solidFill>
              </a:rPr>
              <a:t>α</a:t>
            </a:r>
            <a:endParaRPr lang="en-US" sz="2600" baseline="30000" dirty="0" smtClean="0">
              <a:solidFill>
                <a:srgbClr val="000099"/>
              </a:solidFill>
            </a:endParaRPr>
          </a:p>
          <a:p>
            <a:pPr lvl="2">
              <a:buClr>
                <a:schemeClr val="tx1"/>
              </a:buClr>
            </a:pPr>
            <a:r>
              <a:rPr lang="en-US" sz="2600" dirty="0" smtClean="0">
                <a:solidFill>
                  <a:srgbClr val="000099"/>
                </a:solidFill>
              </a:rPr>
              <a:t>densification</a:t>
            </a:r>
            <a:endParaRPr lang="en-US" sz="2600" dirty="0" smtClean="0"/>
          </a:p>
          <a:p>
            <a:pPr lvl="1">
              <a:buClr>
                <a:schemeClr val="tx1"/>
              </a:buClr>
            </a:pPr>
            <a:r>
              <a:rPr lang="en-US" sz="2600" dirty="0" smtClean="0">
                <a:solidFill>
                  <a:srgbClr val="C00000"/>
                </a:solidFill>
              </a:rPr>
              <a:t>diameter</a:t>
            </a:r>
            <a:r>
              <a:rPr lang="en-US" sz="2600" dirty="0" smtClean="0"/>
              <a:t> </a:t>
            </a:r>
            <a:r>
              <a:rPr lang="en-US" sz="2600" dirty="0" smtClean="0">
                <a:solidFill>
                  <a:srgbClr val="000099"/>
                </a:solidFill>
              </a:rPr>
              <a:t> D = O(n</a:t>
            </a:r>
            <a:r>
              <a:rPr lang="el-GR" sz="2600" baseline="30000" dirty="0" smtClean="0">
                <a:solidFill>
                  <a:srgbClr val="000099"/>
                </a:solidFill>
              </a:rPr>
              <a:t>β</a:t>
            </a:r>
            <a:r>
              <a:rPr lang="en-US" sz="2600" baseline="30000" dirty="0" smtClean="0">
                <a:solidFill>
                  <a:srgbClr val="000099"/>
                </a:solidFill>
              </a:rPr>
              <a:t>/(1-</a:t>
            </a:r>
            <a:r>
              <a:rPr lang="el-GR" sz="2600" baseline="30000" dirty="0" smtClean="0">
                <a:solidFill>
                  <a:srgbClr val="000099"/>
                </a:solidFill>
              </a:rPr>
              <a:t>α</a:t>
            </a:r>
            <a:r>
              <a:rPr lang="en-US" sz="2600" baseline="30000" dirty="0" smtClean="0">
                <a:solidFill>
                  <a:srgbClr val="000099"/>
                </a:solidFill>
              </a:rPr>
              <a:t>)m </a:t>
            </a:r>
            <a:r>
              <a:rPr lang="en-US" sz="2600" dirty="0" smtClean="0">
                <a:solidFill>
                  <a:srgbClr val="000099"/>
                </a:solidFill>
              </a:rPr>
              <a:t>log</a:t>
            </a:r>
            <a:r>
              <a:rPr lang="en-US" sz="2600" baseline="30000" dirty="0" smtClean="0">
                <a:solidFill>
                  <a:srgbClr val="000099"/>
                </a:solidFill>
              </a:rPr>
              <a:t>2</a:t>
            </a:r>
            <a:r>
              <a:rPr lang="el-GR" sz="2600" baseline="30000" dirty="0" smtClean="0">
                <a:solidFill>
                  <a:srgbClr val="000099"/>
                </a:solidFill>
              </a:rPr>
              <a:t>α</a:t>
            </a:r>
            <a:r>
              <a:rPr lang="en-US" sz="2600" baseline="30000" dirty="0" smtClean="0">
                <a:solidFill>
                  <a:srgbClr val="000099"/>
                </a:solidFill>
              </a:rPr>
              <a:t>/(1-</a:t>
            </a:r>
            <a:r>
              <a:rPr lang="el-GR" sz="2600" baseline="30000" dirty="0" smtClean="0">
                <a:solidFill>
                  <a:srgbClr val="000099"/>
                </a:solidFill>
              </a:rPr>
              <a:t>α</a:t>
            </a:r>
            <a:r>
              <a:rPr lang="en-US" sz="2600" baseline="30000" dirty="0" smtClean="0">
                <a:solidFill>
                  <a:srgbClr val="000099"/>
                </a:solidFill>
              </a:rPr>
              <a:t>)m</a:t>
            </a:r>
            <a:r>
              <a:rPr lang="en-US" sz="2600" dirty="0" smtClean="0">
                <a:solidFill>
                  <a:srgbClr val="000099"/>
                </a:solidFill>
              </a:rPr>
              <a:t> n)</a:t>
            </a:r>
            <a:endParaRPr lang="en-US" sz="2200" baseline="30000" dirty="0" smtClean="0">
              <a:solidFill>
                <a:srgbClr val="000099"/>
              </a:solidFill>
            </a:endParaRPr>
          </a:p>
          <a:p>
            <a:pPr lvl="2">
              <a:buClr>
                <a:schemeClr val="tx1"/>
              </a:buClr>
            </a:pPr>
            <a:r>
              <a:rPr lang="en-US" sz="2600" dirty="0" smtClean="0">
                <a:solidFill>
                  <a:srgbClr val="000099"/>
                </a:solidFill>
              </a:rPr>
              <a:t>small world: </a:t>
            </a:r>
            <a:r>
              <a:rPr lang="en-US" sz="2600" dirty="0" smtClean="0"/>
              <a:t>constant order if </a:t>
            </a:r>
            <a:r>
              <a:rPr lang="en-US" sz="2600" dirty="0" smtClean="0">
                <a:solidFill>
                  <a:srgbClr val="000099"/>
                </a:solidFill>
              </a:rPr>
              <a:t>m</a:t>
            </a:r>
            <a:r>
              <a:rPr lang="en-US" sz="2600" dirty="0" smtClean="0"/>
              <a:t> </a:t>
            </a:r>
            <a:r>
              <a:rPr lang="en-US" sz="2600" dirty="0" smtClean="0">
                <a:solidFill>
                  <a:srgbClr val="000099"/>
                </a:solidFill>
              </a:rPr>
              <a:t>= Clog 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Complex Networks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B9044-B1D8-49D8-9F05-DCB5B06F2D15}" type="slidenum">
              <a:rPr lang="en-US" smtClean="0"/>
              <a:pPr/>
              <a:t>94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Degree Distribution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for  </a:t>
            </a:r>
            <a:r>
              <a:rPr lang="en-US" sz="2000" dirty="0" smtClean="0">
                <a:solidFill>
                  <a:srgbClr val="000099"/>
                </a:solidFill>
              </a:rPr>
              <a:t>m &lt; k &lt; M</a:t>
            </a:r>
            <a:r>
              <a:rPr lang="en-US" sz="2000" dirty="0" smtClean="0"/>
              <a:t>, a.a.s. the number of nodes of degree at least </a:t>
            </a:r>
            <a:r>
              <a:rPr lang="en-US" sz="2000" dirty="0" smtClean="0">
                <a:solidFill>
                  <a:srgbClr val="000099"/>
                </a:solidFill>
              </a:rPr>
              <a:t>k</a:t>
            </a:r>
            <a:r>
              <a:rPr lang="en-US" sz="2000" dirty="0" smtClean="0"/>
              <a:t> equals </a:t>
            </a:r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r>
              <a:rPr lang="en-US" sz="2000" dirty="0" smtClean="0"/>
              <a:t> </a:t>
            </a:r>
            <a:r>
              <a:rPr lang="en-US" sz="2000" dirty="0" smtClean="0">
                <a:solidFill>
                  <a:srgbClr val="000099"/>
                </a:solidFill>
              </a:rPr>
              <a:t>m = n</a:t>
            </a:r>
            <a:r>
              <a:rPr lang="en-US" sz="2000" baseline="30000" dirty="0" smtClean="0">
                <a:solidFill>
                  <a:srgbClr val="000099"/>
                </a:solidFill>
              </a:rPr>
              <a:t>1 - </a:t>
            </a:r>
            <a:r>
              <a:rPr lang="el-GR" sz="2000" baseline="30000" dirty="0" smtClean="0">
                <a:solidFill>
                  <a:srgbClr val="000099"/>
                </a:solidFill>
              </a:rPr>
              <a:t>α</a:t>
            </a:r>
            <a:r>
              <a:rPr lang="en-US" sz="2000" baseline="30000" dirty="0" smtClean="0">
                <a:solidFill>
                  <a:srgbClr val="000099"/>
                </a:solidFill>
              </a:rPr>
              <a:t> -</a:t>
            </a:r>
            <a:r>
              <a:rPr lang="el-GR" sz="2000" baseline="30000" dirty="0" smtClean="0">
                <a:solidFill>
                  <a:srgbClr val="000099"/>
                </a:solidFill>
              </a:rPr>
              <a:t> β</a:t>
            </a:r>
            <a:r>
              <a:rPr lang="en-US" sz="2000" baseline="30000" dirty="0" smtClean="0">
                <a:solidFill>
                  <a:srgbClr val="000099"/>
                </a:solidFill>
              </a:rPr>
              <a:t> </a:t>
            </a:r>
            <a:r>
              <a:rPr lang="en-US" sz="2000" dirty="0" smtClean="0">
                <a:solidFill>
                  <a:srgbClr val="000099"/>
                </a:solidFill>
              </a:rPr>
              <a:t>log</a:t>
            </a:r>
            <a:r>
              <a:rPr lang="en-US" sz="2000" baseline="30000" dirty="0" smtClean="0">
                <a:solidFill>
                  <a:srgbClr val="000099"/>
                </a:solidFill>
              </a:rPr>
              <a:t>1/2</a:t>
            </a:r>
            <a:r>
              <a:rPr lang="el-GR" sz="2000" dirty="0" smtClean="0">
                <a:solidFill>
                  <a:srgbClr val="000099"/>
                </a:solidFill>
              </a:rPr>
              <a:t> </a:t>
            </a:r>
            <a:r>
              <a:rPr lang="en-US" sz="2000" dirty="0" smtClean="0">
                <a:solidFill>
                  <a:srgbClr val="000099"/>
                </a:solidFill>
              </a:rPr>
              <a:t>n</a:t>
            </a:r>
          </a:p>
          <a:p>
            <a:pPr lvl="1"/>
            <a:r>
              <a:rPr lang="en-US" sz="2000" dirty="0" smtClean="0">
                <a:solidFill>
                  <a:srgbClr val="000099"/>
                </a:solidFill>
              </a:rPr>
              <a:t>m</a:t>
            </a:r>
            <a:r>
              <a:rPr lang="en-US" sz="2000" dirty="0" smtClean="0"/>
              <a:t> should be much larger than the minimum degree</a:t>
            </a:r>
          </a:p>
          <a:p>
            <a:endParaRPr lang="en-US" sz="2000" dirty="0" smtClean="0"/>
          </a:p>
          <a:p>
            <a:r>
              <a:rPr lang="en-US" sz="2000" dirty="0" smtClean="0">
                <a:solidFill>
                  <a:srgbClr val="000099"/>
                </a:solidFill>
              </a:rPr>
              <a:t>M = n</a:t>
            </a:r>
            <a:r>
              <a:rPr lang="en-US" sz="2000" baseline="30000" dirty="0" smtClean="0">
                <a:solidFill>
                  <a:srgbClr val="000099"/>
                </a:solidFill>
              </a:rPr>
              <a:t>1 – </a:t>
            </a:r>
            <a:r>
              <a:rPr lang="el-GR" sz="2000" baseline="30000" dirty="0" smtClean="0">
                <a:solidFill>
                  <a:srgbClr val="000099"/>
                </a:solidFill>
              </a:rPr>
              <a:t>α</a:t>
            </a:r>
            <a:r>
              <a:rPr lang="en-US" sz="2000" baseline="30000" dirty="0" smtClean="0">
                <a:solidFill>
                  <a:srgbClr val="000099"/>
                </a:solidFill>
              </a:rPr>
              <a:t>/2 -</a:t>
            </a:r>
            <a:r>
              <a:rPr lang="el-GR" sz="2000" baseline="30000" dirty="0" smtClean="0">
                <a:solidFill>
                  <a:srgbClr val="000099"/>
                </a:solidFill>
              </a:rPr>
              <a:t> β</a:t>
            </a:r>
            <a:r>
              <a:rPr lang="en-US" sz="2000" baseline="30000" dirty="0" smtClean="0">
                <a:solidFill>
                  <a:srgbClr val="000099"/>
                </a:solidFill>
              </a:rPr>
              <a:t> </a:t>
            </a:r>
            <a:r>
              <a:rPr lang="en-US" sz="2000" dirty="0" smtClean="0">
                <a:solidFill>
                  <a:srgbClr val="000099"/>
                </a:solidFill>
              </a:rPr>
              <a:t>log</a:t>
            </a:r>
            <a:r>
              <a:rPr lang="en-US" sz="2000" baseline="30000" dirty="0" smtClean="0">
                <a:solidFill>
                  <a:srgbClr val="000099"/>
                </a:solidFill>
              </a:rPr>
              <a:t>-2</a:t>
            </a:r>
            <a:r>
              <a:rPr lang="el-GR" sz="2000" baseline="30000" dirty="0" smtClean="0">
                <a:solidFill>
                  <a:srgbClr val="000099"/>
                </a:solidFill>
              </a:rPr>
              <a:t> α</a:t>
            </a:r>
            <a:r>
              <a:rPr lang="en-US" sz="2000" baseline="30000" dirty="0" smtClean="0">
                <a:solidFill>
                  <a:srgbClr val="000099"/>
                </a:solidFill>
              </a:rPr>
              <a:t>-1</a:t>
            </a:r>
            <a:r>
              <a:rPr lang="el-GR" sz="2000" baseline="30000" dirty="0" smtClean="0">
                <a:solidFill>
                  <a:srgbClr val="000099"/>
                </a:solidFill>
              </a:rPr>
              <a:t> </a:t>
            </a:r>
            <a:r>
              <a:rPr lang="en-US" sz="2000" dirty="0" smtClean="0">
                <a:solidFill>
                  <a:srgbClr val="000099"/>
                </a:solidFill>
              </a:rPr>
              <a:t>n </a:t>
            </a:r>
          </a:p>
          <a:p>
            <a:pPr lvl="1"/>
            <a:r>
              <a:rPr lang="en-US" sz="2000" dirty="0" smtClean="0"/>
              <a:t>for </a:t>
            </a:r>
            <a:r>
              <a:rPr lang="en-US" sz="2000" dirty="0" smtClean="0">
                <a:solidFill>
                  <a:srgbClr val="000099"/>
                </a:solidFill>
              </a:rPr>
              <a:t>k &gt; M</a:t>
            </a:r>
            <a:r>
              <a:rPr lang="en-US" sz="2000" dirty="0" smtClean="0"/>
              <a:t>, the expected number of nodes of degree </a:t>
            </a:r>
            <a:r>
              <a:rPr lang="en-US" sz="2000" dirty="0" smtClean="0">
                <a:solidFill>
                  <a:srgbClr val="000099"/>
                </a:solidFill>
              </a:rPr>
              <a:t>k</a:t>
            </a:r>
            <a:r>
              <a:rPr lang="en-US" sz="2000" dirty="0" smtClean="0"/>
              <a:t> is too small to guarantee concentration</a:t>
            </a:r>
          </a:p>
          <a:p>
            <a:pPr lvl="1"/>
            <a:endParaRPr lang="en-GB" sz="1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Complex Networks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B9044-B1D8-49D8-9F05-DCB5B06F2D15}" type="slidenum">
              <a:rPr lang="en-US" smtClean="0"/>
              <a:pPr/>
              <a:t>95</a:t>
            </a:fld>
            <a:endParaRPr lang="en-US" dirty="0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1912256" y="2487386"/>
          <a:ext cx="5405930" cy="1068614"/>
        </p:xfrm>
        <a:graphic>
          <a:graphicData uri="http://schemas.openxmlformats.org/presentationml/2006/ole">
            <p:oleObj spid="_x0000_s827394" name="Equation" r:id="rId3" imgW="2184120" imgH="43164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Density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average number of edges added at each time-step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parameter </a:t>
            </a:r>
            <a:r>
              <a:rPr lang="el-GR" dirty="0" smtClean="0">
                <a:solidFill>
                  <a:srgbClr val="000099"/>
                </a:solidFill>
              </a:rPr>
              <a:t>β</a:t>
            </a:r>
            <a:r>
              <a:rPr lang="en-US" dirty="0" smtClean="0"/>
              <a:t> controls density</a:t>
            </a:r>
          </a:p>
          <a:p>
            <a:r>
              <a:rPr lang="en-US" dirty="0" smtClean="0"/>
              <a:t>if </a:t>
            </a:r>
            <a:r>
              <a:rPr lang="el-GR" dirty="0" smtClean="0">
                <a:solidFill>
                  <a:srgbClr val="000099"/>
                </a:solidFill>
              </a:rPr>
              <a:t>β </a:t>
            </a:r>
            <a:r>
              <a:rPr lang="en-US" dirty="0" smtClean="0">
                <a:solidFill>
                  <a:srgbClr val="000099"/>
                </a:solidFill>
              </a:rPr>
              <a:t> &lt;  1 – </a:t>
            </a:r>
            <a:r>
              <a:rPr lang="el-GR" dirty="0" smtClean="0">
                <a:solidFill>
                  <a:srgbClr val="000099"/>
                </a:solidFill>
              </a:rPr>
              <a:t>α</a:t>
            </a:r>
            <a:r>
              <a:rPr lang="en-US" dirty="0" smtClean="0"/>
              <a:t>, then density grows with </a:t>
            </a:r>
            <a:r>
              <a:rPr lang="en-US" dirty="0" smtClean="0">
                <a:solidFill>
                  <a:srgbClr val="000099"/>
                </a:solidFill>
              </a:rPr>
              <a:t>n</a:t>
            </a:r>
            <a:r>
              <a:rPr lang="en-US" dirty="0" smtClean="0"/>
              <a:t> (as in real OSNs)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Complex Networks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B9044-B1D8-49D8-9F05-DCB5B06F2D15}" type="slidenum">
              <a:rPr lang="en-US" smtClean="0"/>
              <a:pPr/>
              <a:t>96</a:t>
            </a:fld>
            <a:endParaRPr lang="en-US" dirty="0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2695121" y="2583543"/>
          <a:ext cx="3681932" cy="1088571"/>
        </p:xfrm>
        <a:graphic>
          <a:graphicData uri="http://schemas.openxmlformats.org/presentationml/2006/ole">
            <p:oleObj spid="_x0000_s828418" name="Equation" r:id="rId3" imgW="1460160" imgH="43164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714" y="0"/>
            <a:ext cx="8229600" cy="1143000"/>
          </a:xfrm>
        </p:spPr>
        <p:txBody>
          <a:bodyPr/>
          <a:lstStyle/>
          <a:p>
            <a:r>
              <a:rPr lang="en-US" dirty="0" smtClean="0"/>
              <a:t>Diameter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48658"/>
            <a:ext cx="5551715" cy="4568370"/>
          </a:xfrm>
        </p:spPr>
        <p:txBody>
          <a:bodyPr/>
          <a:lstStyle/>
          <a:p>
            <a:r>
              <a:rPr lang="en-US" sz="2000" dirty="0" smtClean="0">
                <a:solidFill>
                  <a:srgbClr val="C00000"/>
                </a:solidFill>
              </a:rPr>
              <a:t>eminent node</a:t>
            </a:r>
            <a:r>
              <a:rPr lang="en-US" sz="2000" dirty="0" smtClean="0"/>
              <a:t>: </a:t>
            </a:r>
          </a:p>
          <a:p>
            <a:pPr lvl="1"/>
            <a:r>
              <a:rPr lang="en-US" sz="2000" dirty="0" smtClean="0">
                <a:solidFill>
                  <a:srgbClr val="008000"/>
                </a:solidFill>
              </a:rPr>
              <a:t>old</a:t>
            </a:r>
            <a:r>
              <a:rPr lang="en-US" sz="2000" dirty="0" smtClean="0"/>
              <a:t>: at least </a:t>
            </a:r>
            <a:r>
              <a:rPr lang="en-US" sz="2000" dirty="0" smtClean="0">
                <a:solidFill>
                  <a:srgbClr val="000099"/>
                </a:solidFill>
              </a:rPr>
              <a:t>n/2</a:t>
            </a:r>
            <a:r>
              <a:rPr lang="en-US" sz="2000" dirty="0" smtClean="0"/>
              <a:t> nodes are younger</a:t>
            </a:r>
          </a:p>
          <a:p>
            <a:pPr lvl="1"/>
            <a:r>
              <a:rPr lang="en-US" sz="2000" dirty="0" smtClean="0">
                <a:solidFill>
                  <a:srgbClr val="008000"/>
                </a:solidFill>
              </a:rPr>
              <a:t>highly ranked</a:t>
            </a:r>
            <a:r>
              <a:rPr lang="en-US" sz="2000" dirty="0" smtClean="0"/>
              <a:t>: initial ranking greater than some fixed </a:t>
            </a:r>
            <a:r>
              <a:rPr lang="en-US" sz="2000" dirty="0" smtClean="0">
                <a:solidFill>
                  <a:srgbClr val="000099"/>
                </a:solidFill>
              </a:rPr>
              <a:t>R</a:t>
            </a:r>
          </a:p>
          <a:p>
            <a:r>
              <a:rPr lang="en-US" sz="2000" dirty="0" smtClean="0"/>
              <a:t>partition hypercube into small </a:t>
            </a:r>
            <a:r>
              <a:rPr lang="en-US" sz="2000" dirty="0" err="1" smtClean="0"/>
              <a:t>hypercubes</a:t>
            </a:r>
            <a:endParaRPr lang="en-US" sz="2000" dirty="0" smtClean="0"/>
          </a:p>
          <a:p>
            <a:r>
              <a:rPr lang="en-US" sz="2000" dirty="0" smtClean="0"/>
              <a:t>choose size of </a:t>
            </a:r>
            <a:r>
              <a:rPr lang="en-US" sz="2000" dirty="0" err="1" smtClean="0"/>
              <a:t>hypercubes</a:t>
            </a:r>
            <a:r>
              <a:rPr lang="en-US" sz="2000" dirty="0" smtClean="0"/>
              <a:t> and </a:t>
            </a:r>
            <a:r>
              <a:rPr lang="en-US" sz="2000" dirty="0" smtClean="0">
                <a:solidFill>
                  <a:srgbClr val="000099"/>
                </a:solidFill>
              </a:rPr>
              <a:t>R</a:t>
            </a:r>
            <a:r>
              <a:rPr lang="en-US" sz="2000" dirty="0" smtClean="0"/>
              <a:t> so that</a:t>
            </a:r>
          </a:p>
          <a:p>
            <a:pPr lvl="1"/>
            <a:r>
              <a:rPr lang="en-US" sz="2000" dirty="0" smtClean="0"/>
              <a:t>each hypercube contains at least </a:t>
            </a:r>
            <a:r>
              <a:rPr lang="en-US" sz="2000" dirty="0" smtClean="0">
                <a:solidFill>
                  <a:srgbClr val="000099"/>
                </a:solidFill>
              </a:rPr>
              <a:t>log</a:t>
            </a:r>
            <a:r>
              <a:rPr lang="en-US" sz="2000" baseline="30000" dirty="0" smtClean="0">
                <a:solidFill>
                  <a:srgbClr val="000099"/>
                </a:solidFill>
              </a:rPr>
              <a:t>2</a:t>
            </a:r>
            <a:r>
              <a:rPr lang="en-US" sz="2000" dirty="0" smtClean="0">
                <a:solidFill>
                  <a:srgbClr val="000099"/>
                </a:solidFill>
              </a:rPr>
              <a:t>n</a:t>
            </a:r>
            <a:r>
              <a:rPr lang="en-US" sz="2000" dirty="0" smtClean="0"/>
              <a:t> eminent nodes</a:t>
            </a:r>
          </a:p>
          <a:p>
            <a:pPr lvl="1"/>
            <a:r>
              <a:rPr lang="en-US" sz="2000" dirty="0" smtClean="0"/>
              <a:t>sphere of influence of each eminent node covers each hypercube and all </a:t>
            </a:r>
            <a:r>
              <a:rPr lang="en-US" sz="2000" dirty="0" err="1" smtClean="0"/>
              <a:t>neighbouring</a:t>
            </a:r>
            <a:r>
              <a:rPr lang="en-US" sz="2000" dirty="0" smtClean="0"/>
              <a:t> </a:t>
            </a:r>
            <a:r>
              <a:rPr lang="en-US" sz="2000" dirty="0" err="1" smtClean="0"/>
              <a:t>hypercubes</a:t>
            </a:r>
            <a:endParaRPr lang="en-US" sz="2000" dirty="0" smtClean="0"/>
          </a:p>
          <a:p>
            <a:r>
              <a:rPr lang="en-US" sz="2000" dirty="0" smtClean="0"/>
              <a:t>choose eminent node in each hypercube: </a:t>
            </a:r>
            <a:r>
              <a:rPr lang="en-US" sz="2000" dirty="0" smtClean="0">
                <a:solidFill>
                  <a:srgbClr val="C00000"/>
                </a:solidFill>
              </a:rPr>
              <a:t>backbone</a:t>
            </a:r>
          </a:p>
          <a:p>
            <a:r>
              <a:rPr lang="en-US" sz="2000" dirty="0" smtClean="0"/>
              <a:t>show all nodes in hypercube distance at most </a:t>
            </a:r>
            <a:r>
              <a:rPr lang="en-US" sz="2000" dirty="0" smtClean="0">
                <a:solidFill>
                  <a:srgbClr val="000099"/>
                </a:solidFill>
              </a:rPr>
              <a:t>2</a:t>
            </a:r>
            <a:r>
              <a:rPr lang="en-US" sz="2000" dirty="0" smtClean="0"/>
              <a:t> from backbone</a:t>
            </a:r>
          </a:p>
          <a:p>
            <a:endParaRPr lang="en-GB" sz="1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Complex Networks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B9044-B1D8-49D8-9F05-DCB5B06F2D15}" type="slidenum">
              <a:rPr lang="en-US" smtClean="0"/>
              <a:pPr/>
              <a:t>97</a:t>
            </a:fld>
            <a:endParaRPr lang="en-US" dirty="0"/>
          </a:p>
        </p:txBody>
      </p:sp>
      <p:pic>
        <p:nvPicPr>
          <p:cNvPr id="6" name="Picture 5" descr="177310829_backbo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9230" y="1930400"/>
            <a:ext cx="3433753" cy="343375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Complex Networks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A223F-9C87-452A-8D5D-540F42EC2808}" type="slidenum">
              <a:rPr lang="en-US"/>
              <a:pPr/>
              <a:t>98</a:t>
            </a:fld>
            <a:endParaRPr lang="en-US" dirty="0"/>
          </a:p>
        </p:txBody>
      </p:sp>
      <p:sp>
        <p:nvSpPr>
          <p:cNvPr id="525314" name="Rectangle 2"/>
          <p:cNvSpPr>
            <a:spLocks noGrp="1" noChangeArrowheads="1"/>
          </p:cNvSpPr>
          <p:nvPr>
            <p:ph type="title"/>
          </p:nvPr>
        </p:nvSpPr>
        <p:spPr>
          <a:xfrm>
            <a:off x="442913" y="215900"/>
            <a:ext cx="8229600" cy="1143000"/>
          </a:xfrm>
        </p:spPr>
        <p:txBody>
          <a:bodyPr/>
          <a:lstStyle/>
          <a:p>
            <a:r>
              <a:rPr lang="en-US" dirty="0"/>
              <a:t>Spectral </a:t>
            </a:r>
            <a:r>
              <a:rPr lang="en-US" dirty="0" smtClean="0"/>
              <a:t>properties</a:t>
            </a:r>
            <a:endParaRPr lang="en-US" dirty="0"/>
          </a:p>
        </p:txBody>
      </p:sp>
      <p:sp>
        <p:nvSpPr>
          <p:cNvPr id="525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1035" y="1556431"/>
            <a:ext cx="8229600" cy="452596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/>
              <a:t>the </a:t>
            </a:r>
            <a:r>
              <a:rPr lang="en-US" sz="2800" dirty="0">
                <a:solidFill>
                  <a:srgbClr val="FF0000"/>
                </a:solidFill>
              </a:rPr>
              <a:t>spectral gap</a:t>
            </a:r>
            <a:r>
              <a:rPr lang="en-US" sz="2800" dirty="0"/>
              <a:t> </a:t>
            </a:r>
            <a:r>
              <a:rPr lang="el-GR" sz="2800" dirty="0">
                <a:solidFill>
                  <a:srgbClr val="000099"/>
                </a:solidFill>
              </a:rPr>
              <a:t>λ</a:t>
            </a:r>
            <a:r>
              <a:rPr lang="en-US" sz="2800" dirty="0"/>
              <a:t> of </a:t>
            </a:r>
            <a:r>
              <a:rPr lang="en-US" sz="2800" dirty="0">
                <a:solidFill>
                  <a:srgbClr val="000099"/>
                </a:solidFill>
              </a:rPr>
              <a:t>G</a:t>
            </a:r>
            <a:r>
              <a:rPr lang="en-US" sz="2800" dirty="0"/>
              <a:t> is defined </a:t>
            </a:r>
            <a:r>
              <a:rPr lang="en-US" sz="2800" dirty="0" smtClean="0"/>
              <a:t>by the difference between the two largest eigenvalues of the adjacency matrix of </a:t>
            </a:r>
            <a:r>
              <a:rPr lang="en-US" sz="2800" dirty="0" smtClean="0">
                <a:solidFill>
                  <a:srgbClr val="000099"/>
                </a:solidFill>
              </a:rPr>
              <a:t>G</a:t>
            </a:r>
          </a:p>
          <a:p>
            <a:pPr>
              <a:lnSpc>
                <a:spcPct val="90000"/>
              </a:lnSpc>
            </a:pPr>
            <a:r>
              <a:rPr lang="en-US" sz="2800" dirty="0" smtClean="0"/>
              <a:t>for </a:t>
            </a:r>
            <a:r>
              <a:rPr lang="en-US" sz="2800" dirty="0" smtClean="0">
                <a:solidFill>
                  <a:srgbClr val="000099"/>
                </a:solidFill>
              </a:rPr>
              <a:t>G(n,p)</a:t>
            </a:r>
            <a:r>
              <a:rPr lang="en-US" sz="2800" dirty="0" smtClean="0"/>
              <a:t> random </a:t>
            </a:r>
            <a:r>
              <a:rPr lang="en-US" sz="2800" dirty="0"/>
              <a:t>graphs, </a:t>
            </a:r>
            <a:r>
              <a:rPr lang="el-GR" sz="2800" dirty="0">
                <a:solidFill>
                  <a:srgbClr val="000099"/>
                </a:solidFill>
              </a:rPr>
              <a:t>λ</a:t>
            </a:r>
            <a:r>
              <a:rPr lang="en-US" sz="2800" dirty="0">
                <a:solidFill>
                  <a:srgbClr val="000099"/>
                </a:solidFill>
              </a:rPr>
              <a:t> </a:t>
            </a:r>
            <a:r>
              <a:rPr lang="en-US" sz="2800" dirty="0" smtClean="0"/>
              <a:t>is large</a:t>
            </a:r>
            <a:endParaRPr lang="en-US" sz="2800" dirty="0"/>
          </a:p>
          <a:p>
            <a:pPr>
              <a:lnSpc>
                <a:spcPct val="90000"/>
              </a:lnSpc>
            </a:pPr>
            <a:r>
              <a:rPr lang="en-US" sz="2800" dirty="0"/>
              <a:t>in the </a:t>
            </a:r>
            <a:r>
              <a:rPr lang="en-US" sz="2800" dirty="0" smtClean="0"/>
              <a:t>GEO-P </a:t>
            </a:r>
            <a:r>
              <a:rPr lang="en-US" sz="2800" dirty="0"/>
              <a:t>model, </a:t>
            </a:r>
            <a:r>
              <a:rPr lang="el-GR" sz="2800" dirty="0">
                <a:solidFill>
                  <a:srgbClr val="000099"/>
                </a:solidFill>
              </a:rPr>
              <a:t>λ</a:t>
            </a:r>
            <a:r>
              <a:rPr lang="en-US" sz="2800" dirty="0">
                <a:solidFill>
                  <a:srgbClr val="000099"/>
                </a:solidFill>
              </a:rPr>
              <a:t> </a:t>
            </a:r>
            <a:r>
              <a:rPr lang="en-US" sz="2800" dirty="0" smtClean="0"/>
              <a:t>is </a:t>
            </a:r>
            <a:r>
              <a:rPr lang="en-US" sz="2800" dirty="0" smtClean="0"/>
              <a:t>much smaller</a:t>
            </a:r>
            <a:endParaRPr lang="en-US" sz="2800" dirty="0" smtClean="0">
              <a:solidFill>
                <a:srgbClr val="000099"/>
              </a:solidFill>
            </a:endParaRPr>
          </a:p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en-US" sz="2800" dirty="0" smtClean="0">
                <a:solidFill>
                  <a:srgbClr val="0070C0"/>
                </a:solidFill>
              </a:rPr>
              <a:t>A.Tian (2010): </a:t>
            </a:r>
            <a:r>
              <a:rPr lang="en-US" sz="2800" dirty="0" smtClean="0"/>
              <a:t>witness bad spectral expansion in real OSN data</a:t>
            </a:r>
          </a:p>
          <a:p>
            <a:pPr>
              <a:lnSpc>
                <a:spcPct val="90000"/>
              </a:lnSpc>
            </a:pPr>
            <a:endParaRPr lang="en-US" sz="2400" dirty="0" smtClean="0">
              <a:solidFill>
                <a:srgbClr val="000099"/>
              </a:solidFill>
            </a:endParaRPr>
          </a:p>
          <a:p>
            <a:pPr lvl="1">
              <a:lnSpc>
                <a:spcPct val="90000"/>
              </a:lnSpc>
            </a:pPr>
            <a:endParaRPr lang="en-US" sz="2000" dirty="0">
              <a:solidFill>
                <a:srgbClr val="00009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Dimension of OSNs</a:t>
            </a:r>
            <a:endParaRPr lang="en-GB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given the </a:t>
            </a:r>
            <a:r>
              <a:rPr lang="en-US" dirty="0" smtClean="0">
                <a:solidFill>
                  <a:srgbClr val="008000"/>
                </a:solidFill>
              </a:rPr>
              <a:t>order</a:t>
            </a:r>
            <a:r>
              <a:rPr lang="en-US" dirty="0" smtClean="0"/>
              <a:t> of the network </a:t>
            </a:r>
            <a:r>
              <a:rPr lang="en-US" dirty="0" smtClean="0">
                <a:solidFill>
                  <a:srgbClr val="000099"/>
                </a:solidFill>
              </a:rPr>
              <a:t>n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008000"/>
                </a:solidFill>
              </a:rPr>
              <a:t>power law exponent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000099"/>
                </a:solidFill>
              </a:rPr>
              <a:t>b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008000"/>
                </a:solidFill>
              </a:rPr>
              <a:t>average degree </a:t>
            </a:r>
            <a:r>
              <a:rPr lang="en-US" dirty="0" smtClean="0">
                <a:solidFill>
                  <a:srgbClr val="000099"/>
                </a:solidFill>
              </a:rPr>
              <a:t>d</a:t>
            </a:r>
            <a:r>
              <a:rPr lang="en-US" dirty="0" smtClean="0"/>
              <a:t>, and </a:t>
            </a:r>
            <a:r>
              <a:rPr lang="en-US" dirty="0" smtClean="0">
                <a:solidFill>
                  <a:srgbClr val="008000"/>
                </a:solidFill>
              </a:rPr>
              <a:t>diameter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000099"/>
                </a:solidFill>
              </a:rPr>
              <a:t>D</a:t>
            </a:r>
            <a:r>
              <a:rPr lang="en-US" dirty="0" smtClean="0"/>
              <a:t>, we can calculate </a:t>
            </a:r>
            <a:r>
              <a:rPr lang="en-US" dirty="0" smtClean="0">
                <a:solidFill>
                  <a:srgbClr val="000099"/>
                </a:solidFill>
              </a:rPr>
              <a:t>m</a:t>
            </a:r>
            <a:r>
              <a:rPr lang="en-US" dirty="0" smtClean="0"/>
              <a:t> </a:t>
            </a:r>
          </a:p>
          <a:p>
            <a:r>
              <a:rPr lang="en-US" dirty="0" smtClean="0"/>
              <a:t>gives formula for </a:t>
            </a:r>
            <a:r>
              <a:rPr lang="en-US" dirty="0" smtClean="0">
                <a:solidFill>
                  <a:srgbClr val="C00000"/>
                </a:solidFill>
              </a:rPr>
              <a:t>dimension of OSN</a:t>
            </a:r>
            <a:r>
              <a:rPr lang="en-US" dirty="0" smtClean="0"/>
              <a:t>: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Complex Networks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B9044-B1D8-49D8-9F05-DCB5B06F2D15}" type="slidenum">
              <a:rPr lang="en-US" smtClean="0"/>
              <a:pPr/>
              <a:t>99</a:t>
            </a:fld>
            <a:endParaRPr lang="en-US" dirty="0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3508375" y="3922713"/>
          <a:ext cx="2265363" cy="1746250"/>
        </p:xfrm>
        <a:graphic>
          <a:graphicData uri="http://schemas.openxmlformats.org/presentationml/2006/ole">
            <p:oleObj spid="_x0000_s829442" name="Equation" r:id="rId3" imgW="1054080" imgH="81252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Uncovering the hidden reality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6228" y="1411514"/>
            <a:ext cx="8207829" cy="3000829"/>
          </a:xfrm>
        </p:spPr>
        <p:txBody>
          <a:bodyPr/>
          <a:lstStyle/>
          <a:p>
            <a:pPr>
              <a:buClr>
                <a:schemeClr val="tx1"/>
              </a:buClr>
            </a:pPr>
            <a:r>
              <a:rPr lang="en-US" sz="2400" dirty="0" smtClean="0">
                <a:solidFill>
                  <a:srgbClr val="008000"/>
                </a:solidFill>
              </a:rPr>
              <a:t>reverse engineering </a:t>
            </a:r>
            <a:r>
              <a:rPr lang="en-US" sz="2400" dirty="0" smtClean="0"/>
              <a:t>approach</a:t>
            </a:r>
          </a:p>
          <a:p>
            <a:pPr lvl="1"/>
            <a:r>
              <a:rPr lang="en-US" sz="2400" dirty="0" smtClean="0"/>
              <a:t>given network data </a:t>
            </a:r>
            <a:r>
              <a:rPr lang="en-US" sz="2400" dirty="0" smtClean="0">
                <a:solidFill>
                  <a:srgbClr val="000099"/>
                </a:solidFill>
              </a:rPr>
              <a:t>(n, b, d, D), </a:t>
            </a:r>
            <a:r>
              <a:rPr lang="en-US" sz="2400" dirty="0" smtClean="0"/>
              <a:t>dimension of an OSN gives smallest number of attributes needed to identify users</a:t>
            </a:r>
          </a:p>
          <a:p>
            <a:r>
              <a:rPr lang="en-US" sz="2400" dirty="0" smtClean="0"/>
              <a:t>that is, given the graph structure, we can (theoretically) recover the social space</a:t>
            </a:r>
            <a:endParaRPr lang="en-GB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Complex Networks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B9044-B1D8-49D8-9F05-DCB5B06F2D15}" type="slidenum">
              <a:rPr lang="en-US" smtClean="0"/>
              <a:pPr/>
              <a:t>100</a:t>
            </a:fld>
            <a:endParaRPr lang="en-US" dirty="0"/>
          </a:p>
        </p:txBody>
      </p:sp>
      <p:pic>
        <p:nvPicPr>
          <p:cNvPr id="603138" name="Picture 2" descr="http://liama.ia.ac.cn/wiki/_media/public:projects:medical_imaging_and_computing:complex_network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19917" y="4049485"/>
            <a:ext cx="2278533" cy="2151063"/>
          </a:xfrm>
          <a:prstGeom prst="rect">
            <a:avLst/>
          </a:prstGeom>
          <a:noFill/>
        </p:spPr>
      </p:pic>
      <p:pic>
        <p:nvPicPr>
          <p:cNvPr id="603140" name="Picture 4" descr="http://gvsr.polytech.univ-nantes.fr/GVSR/illustration?key=igraph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97715" y="4065814"/>
            <a:ext cx="1959429" cy="1959429"/>
          </a:xfrm>
          <a:prstGeom prst="rect">
            <a:avLst/>
          </a:prstGeom>
          <a:noFill/>
        </p:spPr>
      </p:pic>
      <p:sp>
        <p:nvSpPr>
          <p:cNvPr id="8" name="Right Arrow 7"/>
          <p:cNvSpPr/>
          <p:nvPr/>
        </p:nvSpPr>
        <p:spPr>
          <a:xfrm>
            <a:off x="4005943" y="4731657"/>
            <a:ext cx="978408" cy="48463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6 Dimensions of Separation</a:t>
            </a:r>
            <a:endParaRPr lang="en-GB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31089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114800"/>
                <a:gridCol w="41148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chemeClr val="tx1"/>
                          </a:solidFill>
                        </a:rPr>
                        <a:t>OSN</a:t>
                      </a:r>
                      <a:endParaRPr lang="en-GB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chemeClr val="tx1"/>
                          </a:solidFill>
                        </a:rPr>
                        <a:t>Dimension</a:t>
                      </a:r>
                      <a:endParaRPr lang="en-GB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GB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chemeClr val="tx1"/>
                          </a:solidFill>
                        </a:rPr>
                        <a:t>YouTube</a:t>
                      </a:r>
                      <a:endParaRPr lang="en-GB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GB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chemeClr val="tx1"/>
                          </a:solidFill>
                        </a:rPr>
                        <a:t>Twitter</a:t>
                      </a:r>
                      <a:endParaRPr lang="en-GB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chemeClr val="tx1"/>
                          </a:solidFill>
                        </a:rPr>
                        <a:t>Flickr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smtClean="0">
                          <a:solidFill>
                            <a:schemeClr val="tx1"/>
                          </a:solidFill>
                        </a:rPr>
                        <a:t>Cyworld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GB" sz="2800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Complex Networks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B9044-B1D8-49D8-9F05-DCB5B06F2D15}" type="slidenum">
              <a:rPr lang="en-US" smtClean="0"/>
              <a:pPr/>
              <a:t>101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Future directions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013200" cy="4699000"/>
          </a:xfrm>
        </p:spPr>
        <p:txBody>
          <a:bodyPr/>
          <a:lstStyle/>
          <a:p>
            <a:r>
              <a:rPr lang="en-US" sz="2800" dirty="0" smtClean="0"/>
              <a:t>what precisely is a </a:t>
            </a:r>
            <a:r>
              <a:rPr lang="en-US" sz="2800" dirty="0" smtClean="0">
                <a:solidFill>
                  <a:srgbClr val="C00000"/>
                </a:solidFill>
              </a:rPr>
              <a:t>community </a:t>
            </a:r>
            <a:r>
              <a:rPr lang="en-US" sz="2800" dirty="0" smtClean="0"/>
              <a:t>in an OSN?</a:t>
            </a:r>
          </a:p>
          <a:p>
            <a:r>
              <a:rPr lang="en-US" sz="2800" dirty="0" smtClean="0"/>
              <a:t>could help us with applications such as  </a:t>
            </a:r>
            <a:r>
              <a:rPr lang="en-US" sz="2800" dirty="0" smtClean="0">
                <a:solidFill>
                  <a:srgbClr val="008000"/>
                </a:solidFill>
              </a:rPr>
              <a:t>targeted advertising</a:t>
            </a:r>
            <a:r>
              <a:rPr lang="en-US" sz="2800" dirty="0" smtClean="0"/>
              <a:t> and </a:t>
            </a:r>
            <a:r>
              <a:rPr lang="en-US" sz="2800" dirty="0" smtClean="0">
                <a:solidFill>
                  <a:srgbClr val="008000"/>
                </a:solidFill>
              </a:rPr>
              <a:t>counterterrorism</a:t>
            </a:r>
            <a:endParaRPr lang="en-US" sz="2400" dirty="0" smtClean="0"/>
          </a:p>
          <a:p>
            <a:pPr lvl="1"/>
            <a:endParaRPr lang="en-GB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Complex Networks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B9044-B1D8-49D8-9F05-DCB5B06F2D15}" type="slidenum">
              <a:rPr lang="en-US" smtClean="0"/>
              <a:pPr/>
              <a:t>102</a:t>
            </a:fld>
            <a:endParaRPr lang="en-US" dirty="0"/>
          </a:p>
        </p:txBody>
      </p:sp>
      <p:pic>
        <p:nvPicPr>
          <p:cNvPr id="659458" name="Picture 2" descr="http://idahopublicrelations.files.wordpress.com/2009/11/community.jpg"/>
          <p:cNvPicPr>
            <a:picLocks noChangeAspect="1" noChangeArrowheads="1"/>
          </p:cNvPicPr>
          <p:nvPr/>
        </p:nvPicPr>
        <p:blipFill>
          <a:blip r:embed="rId2"/>
          <a:srcRect t="2703" r="2513"/>
          <a:stretch>
            <a:fillRect/>
          </a:stretch>
        </p:blipFill>
        <p:spPr bwMode="auto">
          <a:xfrm>
            <a:off x="4887232" y="1944914"/>
            <a:ext cx="3421841" cy="36576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Fitting the GEO-P model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2686" y="1948544"/>
            <a:ext cx="4216400" cy="3175000"/>
          </a:xfrm>
        </p:spPr>
        <p:txBody>
          <a:bodyPr/>
          <a:lstStyle/>
          <a:p>
            <a:r>
              <a:rPr lang="en-US" sz="2800" dirty="0" smtClean="0"/>
              <a:t>simulate GEO-P model</a:t>
            </a:r>
          </a:p>
          <a:p>
            <a:pPr lvl="1"/>
            <a:r>
              <a:rPr lang="en-US" dirty="0" smtClean="0"/>
              <a:t>fit model to data</a:t>
            </a:r>
          </a:p>
          <a:p>
            <a:pPr lvl="1"/>
            <a:r>
              <a:rPr lang="en-US" dirty="0" smtClean="0"/>
              <a:t>is theoretical estimate of the dimension of an OSN accurate?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Complex Networks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B9044-B1D8-49D8-9F05-DCB5B06F2D15}" type="slidenum">
              <a:rPr lang="en-US" smtClean="0"/>
              <a:pPr/>
              <a:t>103</a:t>
            </a:fld>
            <a:endParaRPr lang="en-US" dirty="0"/>
          </a:p>
        </p:txBody>
      </p:sp>
      <p:pic>
        <p:nvPicPr>
          <p:cNvPr id="600068" name="Picture 4" descr="http://www.iro.umontreal.ca/~bengioy/yoshua_en/research_files/CurseDimensionality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68686" y="2254973"/>
            <a:ext cx="3423557" cy="336863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Who is popular?</a:t>
            </a:r>
            <a:endParaRPr lang="en-GB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4971" y="1614714"/>
            <a:ext cx="4797425" cy="4117975"/>
          </a:xfrm>
        </p:spPr>
        <p:txBody>
          <a:bodyPr/>
          <a:lstStyle/>
          <a:p>
            <a:r>
              <a:rPr lang="en-US" sz="2600" dirty="0" smtClean="0"/>
              <a:t>how to find </a:t>
            </a:r>
            <a:r>
              <a:rPr lang="en-US" sz="2600" dirty="0" smtClean="0">
                <a:solidFill>
                  <a:srgbClr val="FF0000"/>
                </a:solidFill>
              </a:rPr>
              <a:t>popular</a:t>
            </a:r>
            <a:r>
              <a:rPr lang="en-US" sz="2600" dirty="0" smtClean="0"/>
              <a:t> users?</a:t>
            </a:r>
          </a:p>
          <a:p>
            <a:r>
              <a:rPr lang="en-US" sz="2600" dirty="0" smtClean="0"/>
              <a:t>not just degree</a:t>
            </a:r>
            <a:endParaRPr lang="en-GB" dirty="0" smtClean="0"/>
          </a:p>
          <a:p>
            <a:pPr lvl="1"/>
            <a:r>
              <a:rPr lang="en-US" sz="2400" dirty="0" smtClean="0"/>
              <a:t>If you have popular friends, then you should be more popular</a:t>
            </a:r>
          </a:p>
          <a:p>
            <a:pPr lvl="1"/>
            <a:r>
              <a:rPr lang="en-US" sz="2400" dirty="0" smtClean="0"/>
              <a:t>dominating sets; Cops and Robbers</a:t>
            </a:r>
          </a:p>
          <a:p>
            <a:r>
              <a:rPr lang="en-US" sz="2600" dirty="0" smtClean="0"/>
              <a:t>“SocialRank” ?</a:t>
            </a:r>
          </a:p>
          <a:p>
            <a:pPr lvl="1"/>
            <a:r>
              <a:rPr lang="en-US" sz="2200" dirty="0" smtClean="0"/>
              <a:t>OSN version of Google’s PageRank algorithm</a:t>
            </a:r>
          </a:p>
        </p:txBody>
      </p:sp>
      <p:sp>
        <p:nvSpPr>
          <p:cNvPr id="43012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Complex Networks</a:t>
            </a:r>
            <a:endParaRPr lang="en-US" dirty="0" smtClean="0"/>
          </a:p>
        </p:txBody>
      </p:sp>
      <p:sp>
        <p:nvSpPr>
          <p:cNvPr id="4301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4580281-5AD4-4156-895C-304F614A1122}" type="slidenum">
              <a:rPr lang="en-US" smtClean="0"/>
              <a:pPr/>
              <a:t>104</a:t>
            </a:fld>
            <a:endParaRPr lang="en-US" dirty="0" smtClean="0"/>
          </a:p>
        </p:txBody>
      </p:sp>
      <p:pic>
        <p:nvPicPr>
          <p:cNvPr id="601090" name="Picture 2" descr="http://communities-dominate.blogs.com/photos/uncategorized/2008/02/01/new5_8.jpg"/>
          <p:cNvPicPr>
            <a:picLocks noChangeAspect="1" noChangeArrowheads="1"/>
          </p:cNvPicPr>
          <p:nvPr/>
        </p:nvPicPr>
        <p:blipFill>
          <a:blip r:embed="rId2"/>
          <a:srcRect t="18366" r="16856"/>
          <a:stretch>
            <a:fillRect/>
          </a:stretch>
        </p:blipFill>
        <p:spPr bwMode="auto">
          <a:xfrm>
            <a:off x="4905828" y="1640114"/>
            <a:ext cx="4238172" cy="3799114"/>
          </a:xfrm>
          <a:prstGeom prst="rect">
            <a:avLst/>
          </a:prstGeom>
          <a:noFill/>
        </p:spPr>
      </p:pic>
      <p:sp>
        <p:nvSpPr>
          <p:cNvPr id="8" name="Oval 7"/>
          <p:cNvSpPr/>
          <p:nvPr/>
        </p:nvSpPr>
        <p:spPr>
          <a:xfrm>
            <a:off x="6444343" y="2510971"/>
            <a:ext cx="217714" cy="23222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Oval 8"/>
          <p:cNvSpPr/>
          <p:nvPr/>
        </p:nvSpPr>
        <p:spPr>
          <a:xfrm>
            <a:off x="6959601" y="3287485"/>
            <a:ext cx="217714" cy="23222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Oval 9"/>
          <p:cNvSpPr/>
          <p:nvPr/>
        </p:nvSpPr>
        <p:spPr>
          <a:xfrm>
            <a:off x="7199086" y="2481942"/>
            <a:ext cx="217714" cy="23222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Oval 10"/>
          <p:cNvSpPr/>
          <p:nvPr/>
        </p:nvSpPr>
        <p:spPr>
          <a:xfrm>
            <a:off x="8128000" y="2750457"/>
            <a:ext cx="217714" cy="23222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Oval 11"/>
          <p:cNvSpPr/>
          <p:nvPr/>
        </p:nvSpPr>
        <p:spPr>
          <a:xfrm>
            <a:off x="5979886" y="4063999"/>
            <a:ext cx="217714" cy="23222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Oval 12"/>
          <p:cNvSpPr/>
          <p:nvPr/>
        </p:nvSpPr>
        <p:spPr>
          <a:xfrm>
            <a:off x="6291943" y="4419599"/>
            <a:ext cx="217714" cy="23222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" name="Oval 13"/>
          <p:cNvSpPr/>
          <p:nvPr/>
        </p:nvSpPr>
        <p:spPr>
          <a:xfrm>
            <a:off x="6132286" y="3461656"/>
            <a:ext cx="217714" cy="23222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Oval 14"/>
          <p:cNvSpPr/>
          <p:nvPr/>
        </p:nvSpPr>
        <p:spPr>
          <a:xfrm>
            <a:off x="7946572" y="3345543"/>
            <a:ext cx="217714" cy="23222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Oval 15"/>
          <p:cNvSpPr/>
          <p:nvPr/>
        </p:nvSpPr>
        <p:spPr>
          <a:xfrm>
            <a:off x="7656286" y="3766456"/>
            <a:ext cx="217714" cy="23222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7" name="Oval 16"/>
          <p:cNvSpPr/>
          <p:nvPr/>
        </p:nvSpPr>
        <p:spPr>
          <a:xfrm>
            <a:off x="6887029" y="4419600"/>
            <a:ext cx="217714" cy="23222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Complex Networks</a:t>
            </a:r>
            <a:endParaRPr lang="en-US" dirty="0" smtClean="0"/>
          </a:p>
        </p:txBody>
      </p:sp>
      <p:sp>
        <p:nvSpPr>
          <p:cNvPr id="44035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E680653-B19A-4538-A323-CEABFEA6E053}" type="slidenum">
              <a:rPr lang="en-US" smtClean="0"/>
              <a:pPr/>
              <a:t>105</a:t>
            </a:fld>
            <a:endParaRPr lang="en-US" dirty="0" smtClean="0"/>
          </a:p>
        </p:txBody>
      </p:sp>
      <p:sp>
        <p:nvSpPr>
          <p:cNvPr id="4403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285750"/>
            <a:ext cx="8075613" cy="1441450"/>
          </a:xfrm>
        </p:spPr>
        <p:txBody>
          <a:bodyPr/>
          <a:lstStyle/>
          <a:p>
            <a:pPr eaLnBrk="1" hangingPunct="1"/>
            <a:r>
              <a:rPr lang="en-US" i="1" dirty="0" smtClean="0"/>
              <a:t>preprints, reprints, contact</a:t>
            </a:r>
            <a:r>
              <a:rPr lang="en-US" dirty="0" smtClean="0"/>
              <a:t>:</a:t>
            </a:r>
          </a:p>
          <a:p>
            <a:pPr algn="ctr" eaLnBrk="1" hangingPunct="1">
              <a:buFontTx/>
              <a:buNone/>
            </a:pPr>
            <a:r>
              <a:rPr lang="en-US" dirty="0" smtClean="0">
                <a:solidFill>
                  <a:srgbClr val="000099"/>
                </a:solidFill>
              </a:rPr>
              <a:t>Google:</a:t>
            </a:r>
            <a:r>
              <a:rPr lang="en-US" dirty="0" smtClean="0"/>
              <a:t> “</a:t>
            </a:r>
            <a:r>
              <a:rPr lang="en-US" dirty="0" smtClean="0">
                <a:solidFill>
                  <a:srgbClr val="FF0000"/>
                </a:solidFill>
              </a:rPr>
              <a:t>Anthony Bonato</a:t>
            </a:r>
            <a:r>
              <a:rPr lang="en-US" dirty="0" smtClean="0"/>
              <a:t>”</a:t>
            </a:r>
          </a:p>
        </p:txBody>
      </p:sp>
      <p:pic>
        <p:nvPicPr>
          <p:cNvPr id="44037" name="Picture 6" descr="logo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638300"/>
            <a:ext cx="8505825" cy="887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4038" name="Picture 7" descr="images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31053" y="3008993"/>
            <a:ext cx="1708150" cy="2357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4041" name="Picture 100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32934" y="4123417"/>
            <a:ext cx="2876323" cy="1169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4042" name="Picture 10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481864" y="4076474"/>
            <a:ext cx="3371850" cy="116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Complex Networks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5FD6F-D795-459A-BF32-753F9B0F320B}" type="slidenum">
              <a:rPr lang="en-US" smtClean="0"/>
              <a:pPr/>
              <a:t>106</a:t>
            </a:fld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/>
          <a:srcRect l="22284" t="10909" r="35038" b="3864"/>
          <a:stretch>
            <a:fillRect/>
          </a:stretch>
        </p:blipFill>
        <p:spPr bwMode="auto">
          <a:xfrm>
            <a:off x="402514" y="852714"/>
            <a:ext cx="4662972" cy="47933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5399315" y="1698169"/>
            <a:ext cx="283028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  </a:t>
            </a:r>
            <a:r>
              <a:rPr lang="en-US" sz="2400" dirty="0" smtClean="0"/>
              <a:t>journal </a:t>
            </a:r>
            <a:r>
              <a:rPr lang="en-US" sz="2400" dirty="0" err="1" smtClean="0"/>
              <a:t>relaunch</a:t>
            </a:r>
            <a:endParaRPr lang="en-US" sz="2400" dirty="0" smtClean="0"/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 new editors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 accepting theoretical and empirical papers on complex networks, OSNs, biological networks</a:t>
            </a:r>
            <a:endParaRPr lang="en-GB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18995</TotalTime>
  <Words>3615</Words>
  <Application>Microsoft Office PowerPoint</Application>
  <PresentationFormat>On-screen Show (4:3)</PresentationFormat>
  <Paragraphs>756</Paragraphs>
  <Slides>106</Slides>
  <Notes>5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106</vt:i4>
      </vt:variant>
    </vt:vector>
  </HeadingPairs>
  <TitlesOfParts>
    <vt:vector size="108" baseType="lpstr">
      <vt:lpstr>Default Design</vt:lpstr>
      <vt:lpstr>Equation</vt:lpstr>
      <vt:lpstr>Slide 1</vt:lpstr>
      <vt:lpstr>Friendship networks</vt:lpstr>
      <vt:lpstr>Ashton Kutcher is the centre of Twitterverse</vt:lpstr>
      <vt:lpstr>6 degrees of separation</vt:lpstr>
      <vt:lpstr>6 Degrees of Kevin Bacon</vt:lpstr>
      <vt:lpstr>6 Degrees in Twitter</vt:lpstr>
      <vt:lpstr>20th Century Graph Theory</vt:lpstr>
      <vt:lpstr>21st Century Graph Theory: Complex Networks</vt:lpstr>
      <vt:lpstr>The web graph</vt:lpstr>
      <vt:lpstr>Slide 10</vt:lpstr>
      <vt:lpstr>Biological networks: proteomics</vt:lpstr>
      <vt:lpstr>Social Networks</vt:lpstr>
      <vt:lpstr>Slide 13</vt:lpstr>
      <vt:lpstr>On-line Social Networks (OSNs) Facebook, Twitter, LinkedIn, MySpace…</vt:lpstr>
      <vt:lpstr>A new paradigm</vt:lpstr>
      <vt:lpstr>Notation</vt:lpstr>
      <vt:lpstr>First Theorem of Graph Theory:</vt:lpstr>
      <vt:lpstr>Other key parameters</vt:lpstr>
      <vt:lpstr>Properties of Complex Networks</vt:lpstr>
      <vt:lpstr>Interpreting a power law</vt:lpstr>
      <vt:lpstr>Slide 21</vt:lpstr>
      <vt:lpstr>Notes on power laws</vt:lpstr>
      <vt:lpstr>Degree distribution (log-log plot) of a power law graph</vt:lpstr>
      <vt:lpstr>Power laws in OSNs</vt:lpstr>
      <vt:lpstr>Small World Property</vt:lpstr>
      <vt:lpstr>Sample data: Flickr, YouTube, LiveJournal, Orkut</vt:lpstr>
      <vt:lpstr>Community structure</vt:lpstr>
      <vt:lpstr>Why model complex networks?</vt:lpstr>
      <vt:lpstr>Slide 29</vt:lpstr>
      <vt:lpstr>Classical random graphs</vt:lpstr>
      <vt:lpstr>Slide 31</vt:lpstr>
      <vt:lpstr> G(n,p) random graph model (Erdős, Rényi, 63)  </vt:lpstr>
      <vt:lpstr>Degrees and diameter</vt:lpstr>
      <vt:lpstr>Aside: evolution of G(n,p)</vt:lpstr>
      <vt:lpstr>Slide 35</vt:lpstr>
      <vt:lpstr>G(n,p) is not a model for complex networks</vt:lpstr>
      <vt:lpstr>Preferential attachment model</vt:lpstr>
      <vt:lpstr>Preferential attachment</vt:lpstr>
      <vt:lpstr>Preferential attachment (PA) model (Barabási, Albert, 99), (Bollobás,Riordan,Spencer,Tusnady,01)</vt:lpstr>
      <vt:lpstr>Preferential Attachment Model (Barabási, Albert, 99), (Bollobás,Riordan,Spencer,Tusnady,01)</vt:lpstr>
      <vt:lpstr>Properties of the PA model</vt:lpstr>
      <vt:lpstr>Sketch of proof of power law</vt:lpstr>
      <vt:lpstr>Copying models</vt:lpstr>
      <vt:lpstr>Slide 44</vt:lpstr>
      <vt:lpstr>Properties of the copying model</vt:lpstr>
      <vt:lpstr>Off-line web graph model</vt:lpstr>
      <vt:lpstr>Random graphs with given expected degree sequence (Chung, Lu, 2003)</vt:lpstr>
      <vt:lpstr>Random power law graphs</vt:lpstr>
      <vt:lpstr>Protean graphs (Fortunato, Flammini, Menczer,06),  (Łuczak, Prałat,06), (Janssen, Prałat,09) </vt:lpstr>
      <vt:lpstr>Geometry of the web?</vt:lpstr>
      <vt:lpstr>Random geometric graphs</vt:lpstr>
      <vt:lpstr>Simulation with 5000 nodes</vt:lpstr>
      <vt:lpstr>Geometric Preferential Attachment (GPA) model (Flaxman, Frieze, Vera, 04/07) </vt:lpstr>
      <vt:lpstr>Spatially Preferred Attachment (SPA) model  (Aiello,Bonato,Cooper,Janssen,Prałat, 08)</vt:lpstr>
      <vt:lpstr>Simulation: p=1, t=5,000 </vt:lpstr>
      <vt:lpstr>Slide 56</vt:lpstr>
      <vt:lpstr>Slide 57</vt:lpstr>
      <vt:lpstr>Sketch of proof</vt:lpstr>
      <vt:lpstr>Slide 59</vt:lpstr>
      <vt:lpstr>Slide 60</vt:lpstr>
      <vt:lpstr>Directions and challenges</vt:lpstr>
      <vt:lpstr>Slide 62</vt:lpstr>
      <vt:lpstr>Slide 63</vt:lpstr>
      <vt:lpstr>            Social network analysis</vt:lpstr>
      <vt:lpstr>(Leskovec, Kleinberg, Faloutsos,05):</vt:lpstr>
      <vt:lpstr>Densification – Physics Citations</vt:lpstr>
      <vt:lpstr>Densification – Autonomous Systems</vt:lpstr>
      <vt:lpstr>Slide 68</vt:lpstr>
      <vt:lpstr>Diameter – ArXiv citation graph</vt:lpstr>
      <vt:lpstr>Models for the laws</vt:lpstr>
      <vt:lpstr>Many different models</vt:lpstr>
      <vt:lpstr>Models of OSNs</vt:lpstr>
      <vt:lpstr>Transitivity</vt:lpstr>
      <vt:lpstr>Iterated Local Transitivity (ILT) model (Bonato, Hadi, Horn, Prałat, Wang, 08)</vt:lpstr>
      <vt:lpstr>ILT model</vt:lpstr>
      <vt:lpstr>G0 = C4</vt:lpstr>
      <vt:lpstr>Properties of ILT model</vt:lpstr>
      <vt:lpstr>Densification</vt:lpstr>
      <vt:lpstr>Proof of Lemma</vt:lpstr>
      <vt:lpstr>Average distance</vt:lpstr>
      <vt:lpstr>Clustering Coefficient</vt:lpstr>
      <vt:lpstr>Sketch of proof of lower bound</vt:lpstr>
      <vt:lpstr>Sketch of proof, continued</vt:lpstr>
      <vt:lpstr>Adjacency matrix, A</vt:lpstr>
      <vt:lpstr>Spectral results</vt:lpstr>
      <vt:lpstr>…Degree distribution</vt:lpstr>
      <vt:lpstr>Geometry of OSNs?</vt:lpstr>
      <vt:lpstr>Dimension of an OSN</vt:lpstr>
      <vt:lpstr>Geometric model for OSNs</vt:lpstr>
      <vt:lpstr>Geometric Protean (GEO-P) Model (Bonato, Janssen, Prałat, 10)</vt:lpstr>
      <vt:lpstr>Notes on GEO-P model</vt:lpstr>
      <vt:lpstr>Simulation with 5000 nodes</vt:lpstr>
      <vt:lpstr>Simulation with 5000 nodes</vt:lpstr>
      <vt:lpstr>Properties of the GEO-P model  (Bonato, Janssen, Prałat, 2010)</vt:lpstr>
      <vt:lpstr>Degree Distribution</vt:lpstr>
      <vt:lpstr>Density</vt:lpstr>
      <vt:lpstr>Diameter</vt:lpstr>
      <vt:lpstr>Spectral properties</vt:lpstr>
      <vt:lpstr>Dimension of OSNs</vt:lpstr>
      <vt:lpstr>Uncovering the hidden reality</vt:lpstr>
      <vt:lpstr>6 Dimensions of Separation</vt:lpstr>
      <vt:lpstr>Future directions</vt:lpstr>
      <vt:lpstr>Fitting the GEO-P model</vt:lpstr>
      <vt:lpstr>Who is popular?</vt:lpstr>
      <vt:lpstr>Slide 105</vt:lpstr>
      <vt:lpstr>Slide 106</vt:lpstr>
    </vt:vector>
  </TitlesOfParts>
  <Company>WLU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Models of the web graph</dc:title>
  <dc:creator>Anthony Bonato</dc:creator>
  <cp:lastModifiedBy>Anthony</cp:lastModifiedBy>
  <cp:revision>561</cp:revision>
  <dcterms:created xsi:type="dcterms:W3CDTF">2006-06-28T03:11:31Z</dcterms:created>
  <dcterms:modified xsi:type="dcterms:W3CDTF">2010-08-09T04:13:31Z</dcterms:modified>
</cp:coreProperties>
</file>