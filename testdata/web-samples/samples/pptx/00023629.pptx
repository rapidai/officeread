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4F00B475-8EEE-4520-A288-173FAD3A0FD0}" type="datetimeFigureOut">
              <a:rPr lang="en-US" smtClean="0"/>
              <a:pPr/>
              <a:t>12/7/2010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903AA2C7-4084-48B1-8A7A-D3E3714F049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F00B475-8EEE-4520-A288-173FAD3A0FD0}" type="datetimeFigureOut">
              <a:rPr lang="en-US" smtClean="0"/>
              <a:pPr/>
              <a:t>12/7/2010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03AA2C7-4084-48B1-8A7A-D3E3714F0493}"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F00B475-8EEE-4520-A288-173FAD3A0FD0}" type="datetimeFigureOut">
              <a:rPr lang="en-US" smtClean="0"/>
              <a:pPr/>
              <a:t>12/7/2010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03AA2C7-4084-48B1-8A7A-D3E3714F0493}"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F00B475-8EEE-4520-A288-173FAD3A0FD0}" type="datetimeFigureOut">
              <a:rPr lang="en-US" smtClean="0"/>
              <a:pPr/>
              <a:t>12/7/2010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03AA2C7-4084-48B1-8A7A-D3E3714F0493}"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4F00B475-8EEE-4520-A288-173FAD3A0FD0}" type="datetimeFigureOut">
              <a:rPr lang="en-US" smtClean="0"/>
              <a:pPr/>
              <a:t>12/7/2010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903AA2C7-4084-48B1-8A7A-D3E3714F0493}"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4F00B475-8EEE-4520-A288-173FAD3A0FD0}" type="datetimeFigureOut">
              <a:rPr lang="en-US" smtClean="0"/>
              <a:pPr/>
              <a:t>12/7/2010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903AA2C7-4084-48B1-8A7A-D3E3714F0493}"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4F00B475-8EEE-4520-A288-173FAD3A0FD0}" type="datetimeFigureOut">
              <a:rPr lang="en-US" smtClean="0"/>
              <a:pPr/>
              <a:t>12/7/2010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903AA2C7-4084-48B1-8A7A-D3E3714F049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4F00B475-8EEE-4520-A288-173FAD3A0FD0}" type="datetimeFigureOut">
              <a:rPr lang="en-US" smtClean="0"/>
              <a:pPr/>
              <a:t>12/7/2010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03AA2C7-4084-48B1-8A7A-D3E3714F0493}"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4F00B475-8EEE-4520-A288-173FAD3A0FD0}" type="datetimeFigureOut">
              <a:rPr lang="en-US" smtClean="0"/>
              <a:pPr/>
              <a:t>12/7/2010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903AA2C7-4084-48B1-8A7A-D3E3714F0493}"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F00B475-8EEE-4520-A288-173FAD3A0FD0}" type="datetimeFigureOut">
              <a:rPr lang="en-US" smtClean="0"/>
              <a:pPr/>
              <a:t>12/7/2010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03AA2C7-4084-48B1-8A7A-D3E3714F049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F00B475-8EEE-4520-A288-173FAD3A0FD0}" type="datetimeFigureOut">
              <a:rPr lang="en-US" smtClean="0"/>
              <a:pPr/>
              <a:t>12/7/2010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03AA2C7-4084-48B1-8A7A-D3E3714F049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4F00B475-8EEE-4520-A288-173FAD3A0FD0}" type="datetimeFigureOut">
              <a:rPr lang="en-US" smtClean="0"/>
              <a:pPr/>
              <a:t>12/7/2010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903AA2C7-4084-48B1-8A7A-D3E3714F049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1"/>
            <a:ext cx="7772400" cy="2896562"/>
          </a:xfrm>
        </p:spPr>
        <p:txBody>
          <a:bodyPr>
            <a:normAutofit fontScale="90000"/>
          </a:bodyPr>
          <a:lstStyle/>
          <a:p>
            <a:pPr algn="ctr"/>
            <a:r>
              <a:rPr lang="en-US" dirty="0" smtClean="0"/>
              <a:t>Federal “Privacy” Legislation, Investigation &amp; Regulation: A Threat to the Geospatial Community</a:t>
            </a:r>
            <a:endParaRPr lang="en-US" dirty="0"/>
          </a:p>
        </p:txBody>
      </p:sp>
      <p:sp>
        <p:nvSpPr>
          <p:cNvPr id="3" name="Subtitle 2"/>
          <p:cNvSpPr>
            <a:spLocks noGrp="1"/>
          </p:cNvSpPr>
          <p:nvPr>
            <p:ph type="subTitle" idx="1"/>
          </p:nvPr>
        </p:nvSpPr>
        <p:spPr/>
        <p:txBody>
          <a:bodyPr>
            <a:normAutofit fontScale="70000" lnSpcReduction="20000"/>
          </a:bodyPr>
          <a:lstStyle/>
          <a:p>
            <a:r>
              <a:rPr lang="en-US" dirty="0" smtClean="0"/>
              <a:t>John Palatiello, MAPPS Executive Director</a:t>
            </a:r>
          </a:p>
          <a:p>
            <a:r>
              <a:rPr lang="en-US" dirty="0" smtClean="0"/>
              <a:t>Kevin Pomfret, Centre for Spatial Law and Policy</a:t>
            </a:r>
          </a:p>
          <a:p>
            <a:r>
              <a:rPr lang="en-US" dirty="0" smtClean="0"/>
              <a:t>presentation to NGAC </a:t>
            </a:r>
          </a:p>
          <a:p>
            <a:r>
              <a:rPr lang="en-US" dirty="0" smtClean="0"/>
              <a:t>December 7, 2010 - Washington, DC</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 series of Federal actions in legislation, investigation/enforcement and regulation could result in a serious threat to the geospatial community resulting in unintended consequences, poorly defined terminology, and restrictions that could hamper the ability of firms, agencies and organizations to collect, use, share, or apply geospatial data.</a:t>
            </a:r>
            <a:endParaRPr lang="en-US" dirty="0"/>
          </a:p>
        </p:txBody>
      </p:sp>
      <p:sp>
        <p:nvSpPr>
          <p:cNvPr id="3" name="Title 2"/>
          <p:cNvSpPr>
            <a:spLocks noGrp="1"/>
          </p:cNvSpPr>
          <p:nvPr>
            <p:ph type="title"/>
          </p:nvPr>
        </p:nvSpPr>
        <p:spPr/>
        <p:txBody>
          <a:bodyPr/>
          <a:lstStyle/>
          <a:p>
            <a:r>
              <a:rPr lang="en-US" dirty="0" smtClean="0"/>
              <a:t>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H.R. 5777 – Best Practices Act, introduced by Rep. Bobby Rush (D-IL)</a:t>
            </a:r>
          </a:p>
          <a:p>
            <a:r>
              <a:rPr lang="en-US" dirty="0" smtClean="0"/>
              <a:t>Draft bill (not introduced), by Rep. Rick Boucher (D-VA)</a:t>
            </a:r>
          </a:p>
          <a:p>
            <a:r>
              <a:rPr lang="en-US" dirty="0" smtClean="0"/>
              <a:t>Potential Senate bills in 2011by Sen. Mark Pryor (D-AR), Sen. John Kerry (D-MA) and possibly others</a:t>
            </a:r>
            <a:endParaRPr lang="en-US" dirty="0"/>
          </a:p>
        </p:txBody>
      </p:sp>
      <p:sp>
        <p:nvSpPr>
          <p:cNvPr id="3" name="Title 2"/>
          <p:cNvSpPr>
            <a:spLocks noGrp="1"/>
          </p:cNvSpPr>
          <p:nvPr>
            <p:ph type="title"/>
          </p:nvPr>
        </p:nvSpPr>
        <p:spPr/>
        <p:txBody>
          <a:bodyPr/>
          <a:lstStyle/>
          <a:p>
            <a:r>
              <a:rPr lang="en-US" dirty="0" smtClean="0"/>
              <a:t>Legislation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dirty="0" smtClean="0"/>
              <a:t>Rush:</a:t>
            </a:r>
          </a:p>
          <a:p>
            <a:r>
              <a:rPr lang="en-US" dirty="0" smtClean="0"/>
              <a:t>1) far too many companies that collect and use consumers' personal information have not dealt in a fair and above board fashion with consumers about the types of personal information they are collecting, how they are using that data, and who they are sharing that data with;</a:t>
            </a:r>
          </a:p>
          <a:p>
            <a:r>
              <a:rPr lang="en-US" dirty="0" smtClean="0"/>
              <a:t/>
            </a:r>
            <a:br>
              <a:rPr lang="en-US" dirty="0" smtClean="0"/>
            </a:br>
            <a:r>
              <a:rPr lang="en-US" dirty="0" smtClean="0"/>
              <a:t>2) most consumers are powerless to control, in any meaningful way, how and to which parties their personal information and data should flow; and</a:t>
            </a:r>
          </a:p>
          <a:p>
            <a:r>
              <a:rPr lang="en-US" dirty="0" smtClean="0"/>
              <a:t/>
            </a:r>
            <a:br>
              <a:rPr lang="en-US" dirty="0" smtClean="0"/>
            </a:br>
            <a:r>
              <a:rPr lang="en-US" dirty="0" smtClean="0"/>
              <a:t>3) there were far too many instances in which the flow of that data defied consumers' reasonable expectations about how that data might be used and shared.</a:t>
            </a:r>
            <a:endParaRPr lang="en-US" dirty="0"/>
          </a:p>
        </p:txBody>
      </p:sp>
      <p:sp>
        <p:nvSpPr>
          <p:cNvPr id="3" name="Title 2"/>
          <p:cNvSpPr>
            <a:spLocks noGrp="1"/>
          </p:cNvSpPr>
          <p:nvPr>
            <p:ph type="title"/>
          </p:nvPr>
        </p:nvSpPr>
        <p:spPr/>
        <p:txBody>
          <a:bodyPr/>
          <a:lstStyle/>
          <a:p>
            <a:r>
              <a:rPr lang="en-US" dirty="0" smtClean="0"/>
              <a:t>Legislation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H.R. 5777 - Building Effective Strategies To Promote Responsibility Accountability Choice Transparency Innovation Consumer Expectations and Safeguards (BEST PRACTICES) Act - to foster transparency about the commercial use of personal information, provide consumers with meaningful choice about the collection, use, and disclosure of such information, and for other purposes. </a:t>
            </a:r>
          </a:p>
          <a:p>
            <a:endParaRPr lang="en-US" dirty="0"/>
          </a:p>
        </p:txBody>
      </p:sp>
      <p:sp>
        <p:nvSpPr>
          <p:cNvPr id="3" name="Title 2"/>
          <p:cNvSpPr>
            <a:spLocks noGrp="1"/>
          </p:cNvSpPr>
          <p:nvPr>
            <p:ph type="title"/>
          </p:nvPr>
        </p:nvSpPr>
        <p:spPr/>
        <p:txBody>
          <a:bodyPr/>
          <a:lstStyle/>
          <a:p>
            <a:r>
              <a:rPr lang="en-US" dirty="0" smtClean="0"/>
              <a:t>Legislation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‘‘covered information’’ means, with respect to an individual, any of the following:</a:t>
            </a:r>
          </a:p>
          <a:p>
            <a:pPr>
              <a:buNone/>
            </a:pPr>
            <a:r>
              <a:rPr lang="en-US" dirty="0" smtClean="0"/>
              <a:t>	(</a:t>
            </a:r>
            <a:r>
              <a:rPr lang="en-US" dirty="0" err="1" smtClean="0"/>
              <a:t>i</a:t>
            </a:r>
            <a:r>
              <a:rPr lang="en-US" dirty="0" smtClean="0"/>
              <a:t>) the first name or initial and last name;</a:t>
            </a:r>
          </a:p>
          <a:p>
            <a:pPr>
              <a:buNone/>
            </a:pPr>
            <a:r>
              <a:rPr lang="en-US" dirty="0" smtClean="0"/>
              <a:t>	(ii) a postal address;</a:t>
            </a:r>
          </a:p>
          <a:p>
            <a:pPr>
              <a:buNone/>
            </a:pPr>
            <a:r>
              <a:rPr lang="en-US" dirty="0" smtClean="0"/>
              <a:t>	(iii) an email address;</a:t>
            </a:r>
          </a:p>
          <a:p>
            <a:pPr>
              <a:buNone/>
            </a:pPr>
            <a:r>
              <a:rPr lang="en-US" dirty="0" smtClean="0"/>
              <a:t>	(iv) a telephone or fax number;</a:t>
            </a:r>
          </a:p>
          <a:p>
            <a:pPr>
              <a:buNone/>
            </a:pPr>
            <a:r>
              <a:rPr lang="en-US" dirty="0" smtClean="0"/>
              <a:t>	(v) a tax identification number …</a:t>
            </a:r>
            <a:endParaRPr lang="en-US" dirty="0"/>
          </a:p>
        </p:txBody>
      </p:sp>
      <p:sp>
        <p:nvSpPr>
          <p:cNvPr id="3" name="Title 2"/>
          <p:cNvSpPr>
            <a:spLocks noGrp="1"/>
          </p:cNvSpPr>
          <p:nvPr>
            <p:ph type="title"/>
          </p:nvPr>
        </p:nvSpPr>
        <p:spPr/>
        <p:txBody>
          <a:bodyPr/>
          <a:lstStyle/>
          <a:p>
            <a:r>
              <a:rPr lang="en-US" dirty="0" smtClean="0"/>
              <a:t>H.R. 5777</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Except as provided … it shall be unlawful for a covered entity to collect or use covered information about an individual without the consent of that individual …</a:t>
            </a:r>
          </a:p>
          <a:p>
            <a:r>
              <a:rPr lang="en-US" dirty="0" smtClean="0"/>
              <a:t>‘‘sensitive information’’ means … precise </a:t>
            </a:r>
            <a:r>
              <a:rPr lang="en-US" dirty="0" err="1" smtClean="0"/>
              <a:t>geolocation</a:t>
            </a:r>
            <a:r>
              <a:rPr lang="en-US" dirty="0" smtClean="0"/>
              <a:t> information and any information about the individual’s activities and relationships associated with such </a:t>
            </a:r>
            <a:r>
              <a:rPr lang="en-US" dirty="0" err="1" smtClean="0"/>
              <a:t>geolocation</a:t>
            </a:r>
            <a:r>
              <a:rPr lang="en-US" dirty="0" smtClean="0"/>
              <a:t>;</a:t>
            </a:r>
            <a:endParaRPr lang="en-US" dirty="0"/>
          </a:p>
        </p:txBody>
      </p:sp>
      <p:sp>
        <p:nvSpPr>
          <p:cNvPr id="3" name="Title 2"/>
          <p:cNvSpPr>
            <a:spLocks noGrp="1"/>
          </p:cNvSpPr>
          <p:nvPr>
            <p:ph type="title"/>
          </p:nvPr>
        </p:nvSpPr>
        <p:spPr/>
        <p:txBody>
          <a:bodyPr/>
          <a:lstStyle/>
          <a:p>
            <a:r>
              <a:rPr lang="en-US" dirty="0" smtClean="0"/>
              <a:t>H.R. 5777</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“precise </a:t>
            </a:r>
            <a:r>
              <a:rPr lang="en-US" dirty="0" err="1" smtClean="0"/>
              <a:t>geolocation</a:t>
            </a:r>
            <a:r>
              <a:rPr lang="en-US" dirty="0" smtClean="0"/>
              <a:t> information” is not defined</a:t>
            </a:r>
            <a:endParaRPr lang="en-US" dirty="0"/>
          </a:p>
        </p:txBody>
      </p:sp>
      <p:sp>
        <p:nvSpPr>
          <p:cNvPr id="3" name="Title 2"/>
          <p:cNvSpPr>
            <a:spLocks noGrp="1"/>
          </p:cNvSpPr>
          <p:nvPr>
            <p:ph type="title"/>
          </p:nvPr>
        </p:nvSpPr>
        <p:spPr/>
        <p:txBody>
          <a:bodyPr/>
          <a:lstStyle/>
          <a:p>
            <a:r>
              <a:rPr lang="en-US" dirty="0" smtClean="0"/>
              <a:t>H.R. 5777</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Federal Communications Commission (FCC) is investigating Google’s activities including photographing neighborhoods for its “Street View” feature</a:t>
            </a:r>
          </a:p>
          <a:p>
            <a:pPr lvl="2"/>
            <a:r>
              <a:rPr lang="en-US" dirty="0" smtClean="0"/>
              <a:t> Associated Press, November 10, 2010</a:t>
            </a:r>
          </a:p>
          <a:p>
            <a:pPr lvl="2">
              <a:buNone/>
            </a:pPr>
            <a:endParaRPr lang="en-US" dirty="0"/>
          </a:p>
        </p:txBody>
      </p:sp>
      <p:sp>
        <p:nvSpPr>
          <p:cNvPr id="3" name="Title 2"/>
          <p:cNvSpPr>
            <a:spLocks noGrp="1"/>
          </p:cNvSpPr>
          <p:nvPr>
            <p:ph type="title"/>
          </p:nvPr>
        </p:nvSpPr>
        <p:spPr/>
        <p:txBody>
          <a:bodyPr/>
          <a:lstStyle/>
          <a:p>
            <a:r>
              <a:rPr lang="en-US" dirty="0" smtClean="0"/>
              <a:t>Investigation/Enforcement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Federal Trade Commission staff report, “Protecting Consumer Privacy in an Era of Rapid Change”, issued December 1, 2011</a:t>
            </a:r>
          </a:p>
        </p:txBody>
      </p:sp>
      <p:sp>
        <p:nvSpPr>
          <p:cNvPr id="3" name="Title 2"/>
          <p:cNvSpPr>
            <a:spLocks noGrp="1"/>
          </p:cNvSpPr>
          <p:nvPr>
            <p:ph type="title"/>
          </p:nvPr>
        </p:nvSpPr>
        <p:spPr/>
        <p:txBody>
          <a:bodyPr/>
          <a:lstStyle/>
          <a:p>
            <a:r>
              <a:rPr lang="en-US" dirty="0" smtClean="0"/>
              <a:t>Regulation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smtClean="0"/>
              <a:t>“The Commission staff has supported affirmative express consent where companies collect sensitive information for online behavioral advertising and continues to believe that certain types of sensitive information warrant special protection, such as information about children, financial and medical information, and </a:t>
            </a:r>
            <a:r>
              <a:rPr lang="en-US" u="sng" dirty="0" smtClean="0"/>
              <a:t>precise </a:t>
            </a:r>
            <a:r>
              <a:rPr lang="en-US" u="sng" dirty="0" err="1" smtClean="0"/>
              <a:t>geolocation</a:t>
            </a:r>
            <a:r>
              <a:rPr lang="en-US" u="sng" dirty="0" smtClean="0"/>
              <a:t> data</a:t>
            </a:r>
            <a:r>
              <a:rPr lang="en-US" dirty="0" smtClean="0"/>
              <a:t>. Thus, before any of this data is collected, used, or shared, staff believes that </a:t>
            </a:r>
            <a:r>
              <a:rPr lang="en-US" u="sng" dirty="0" smtClean="0"/>
              <a:t>companies should seek affirmative express consent</a:t>
            </a:r>
            <a:r>
              <a:rPr lang="en-US" dirty="0" smtClean="0"/>
              <a:t>.”</a:t>
            </a:r>
          </a:p>
          <a:p>
            <a:r>
              <a:rPr lang="en-US" dirty="0" smtClean="0"/>
              <a:t>Does not define “precise </a:t>
            </a:r>
            <a:r>
              <a:rPr lang="en-US" dirty="0" err="1" smtClean="0"/>
              <a:t>geolocation</a:t>
            </a:r>
            <a:r>
              <a:rPr lang="en-US" dirty="0" smtClean="0"/>
              <a:t> data”</a:t>
            </a:r>
            <a:endParaRPr lang="en-US" dirty="0"/>
          </a:p>
        </p:txBody>
      </p:sp>
      <p:sp>
        <p:nvSpPr>
          <p:cNvPr id="3" name="Title 2"/>
          <p:cNvSpPr>
            <a:spLocks noGrp="1"/>
          </p:cNvSpPr>
          <p:nvPr>
            <p:ph type="title"/>
          </p:nvPr>
        </p:nvSpPr>
        <p:spPr/>
        <p:txBody>
          <a:bodyPr/>
          <a:lstStyle/>
          <a:p>
            <a:r>
              <a:rPr lang="en-US" dirty="0" smtClean="0"/>
              <a:t>Regulation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smtClean="0"/>
              <a:t>Legislation exempts government, but not government contractors</a:t>
            </a:r>
          </a:p>
          <a:p>
            <a:r>
              <a:rPr lang="en-US" dirty="0" smtClean="0"/>
              <a:t>Boucher memo claimed “However, there is no law or regulation that generally governs the collection, use, and sharing of location information, whether real-time location information or historic data collected over time” </a:t>
            </a:r>
          </a:p>
          <a:p>
            <a:r>
              <a:rPr lang="en-US" dirty="0" smtClean="0"/>
              <a:t>Further regulation is unnecessary and would create conflict and confusion among such regulatory schemes (state licensing, satellite licensing)</a:t>
            </a:r>
          </a:p>
          <a:p>
            <a:endParaRPr lang="en-US" dirty="0"/>
          </a:p>
        </p:txBody>
      </p:sp>
      <p:sp>
        <p:nvSpPr>
          <p:cNvPr id="3" name="Title 2"/>
          <p:cNvSpPr>
            <a:spLocks noGrp="1"/>
          </p:cNvSpPr>
          <p:nvPr>
            <p:ph type="title"/>
          </p:nvPr>
        </p:nvSpPr>
        <p:spPr/>
        <p:txBody>
          <a:bodyPr/>
          <a:lstStyle/>
          <a:p>
            <a:r>
              <a:rPr lang="en-US" dirty="0" smtClean="0"/>
              <a:t>Issues, Problems &amp; Concerns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Result in unintended consequences, thwart legitimate and desired business activities, or deny citizens and consumers the products, technologies, data, devices, and services navigation and other location based services they are demanding in the marketplace (E-911, electronic lost and found)</a:t>
            </a:r>
            <a:endParaRPr lang="en-US" dirty="0"/>
          </a:p>
        </p:txBody>
      </p:sp>
      <p:sp>
        <p:nvSpPr>
          <p:cNvPr id="3" name="Title 2"/>
          <p:cNvSpPr>
            <a:spLocks noGrp="1"/>
          </p:cNvSpPr>
          <p:nvPr>
            <p:ph type="title"/>
          </p:nvPr>
        </p:nvSpPr>
        <p:spPr/>
        <p:txBody>
          <a:bodyPr/>
          <a:lstStyle/>
          <a:p>
            <a:r>
              <a:rPr lang="en-US" dirty="0" smtClean="0"/>
              <a:t>Issues, Problems &amp; Concerns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To require that any geospatial firm to obtain “affirmative express consent” from every citizen about whom precise </a:t>
            </a:r>
            <a:r>
              <a:rPr lang="en-US" dirty="0" err="1" smtClean="0"/>
              <a:t>geolocation</a:t>
            </a:r>
            <a:r>
              <a:rPr lang="en-US" dirty="0" smtClean="0"/>
              <a:t> data is to be collected is impractical to the point of being impossible. This would require every citizen to be contacted and approval obtained before parcel, imagery, </a:t>
            </a:r>
            <a:r>
              <a:rPr lang="en-US" dirty="0" err="1" smtClean="0"/>
              <a:t>planimetric</a:t>
            </a:r>
            <a:r>
              <a:rPr lang="en-US" dirty="0" smtClean="0"/>
              <a:t>, transportation, or elevation data, or any other </a:t>
            </a:r>
            <a:r>
              <a:rPr lang="en-US" dirty="0" err="1" smtClean="0"/>
              <a:t>geolocation</a:t>
            </a:r>
            <a:r>
              <a:rPr lang="en-US" dirty="0" smtClean="0"/>
              <a:t> data can be collected, used, or shared.</a:t>
            </a:r>
            <a:endParaRPr lang="en-US" dirty="0"/>
          </a:p>
        </p:txBody>
      </p:sp>
      <p:sp>
        <p:nvSpPr>
          <p:cNvPr id="3" name="Title 2"/>
          <p:cNvSpPr>
            <a:spLocks noGrp="1"/>
          </p:cNvSpPr>
          <p:nvPr>
            <p:ph type="title"/>
          </p:nvPr>
        </p:nvSpPr>
        <p:spPr/>
        <p:txBody>
          <a:bodyPr/>
          <a:lstStyle/>
          <a:p>
            <a:r>
              <a:rPr lang="en-US" dirty="0" smtClean="0"/>
              <a:t>Issues, Problems &amp; Concerns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Private Right of Action</a:t>
            </a:r>
          </a:p>
          <a:p>
            <a:r>
              <a:rPr lang="en-US" dirty="0" smtClean="0"/>
              <a:t>What is precise </a:t>
            </a:r>
            <a:r>
              <a:rPr lang="en-US" dirty="0" err="1" smtClean="0"/>
              <a:t>geolocation</a:t>
            </a:r>
            <a:r>
              <a:rPr lang="en-US" dirty="0" smtClean="0"/>
              <a:t> information?</a:t>
            </a:r>
          </a:p>
          <a:p>
            <a:r>
              <a:rPr lang="en-US" dirty="0" smtClean="0"/>
              <a:t>How is location privacy different than other privacy issues:</a:t>
            </a:r>
          </a:p>
          <a:p>
            <a:pPr lvl="1"/>
            <a:r>
              <a:rPr lang="en-US" dirty="0" smtClean="0"/>
              <a:t>e.g. financial records, medical records</a:t>
            </a:r>
          </a:p>
          <a:p>
            <a:r>
              <a:rPr lang="en-US" dirty="0" smtClean="0"/>
              <a:t>Who it responsible for deciding?</a:t>
            </a:r>
          </a:p>
          <a:p>
            <a:r>
              <a:rPr lang="en-US" dirty="0" smtClean="0"/>
              <a:t>Impact on future applications</a:t>
            </a:r>
          </a:p>
          <a:p>
            <a:pPr lvl="1"/>
            <a:r>
              <a:rPr lang="en-US" dirty="0" smtClean="0"/>
              <a:t>Smart Grid</a:t>
            </a:r>
          </a:p>
          <a:p>
            <a:pPr lvl="1"/>
            <a:r>
              <a:rPr lang="en-US" dirty="0" smtClean="0"/>
              <a:t>ITS</a:t>
            </a:r>
          </a:p>
          <a:p>
            <a:endParaRPr lang="en-US" dirty="0" smtClean="0"/>
          </a:p>
          <a:p>
            <a:endParaRPr lang="en-US" dirty="0"/>
          </a:p>
        </p:txBody>
      </p:sp>
      <p:sp>
        <p:nvSpPr>
          <p:cNvPr id="3" name="Title 2"/>
          <p:cNvSpPr>
            <a:spLocks noGrp="1"/>
          </p:cNvSpPr>
          <p:nvPr>
            <p:ph type="title"/>
          </p:nvPr>
        </p:nvSpPr>
        <p:spPr/>
        <p:txBody>
          <a:bodyPr/>
          <a:lstStyle/>
          <a:p>
            <a:r>
              <a:rPr lang="en-US" dirty="0" smtClean="0"/>
              <a:t>Issues, Problems &amp; Concerns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NGAC comment to FTC or NGAC recommendation to FGDC/Secretary of the Interior to comment to the FTC</a:t>
            </a:r>
            <a:endParaRPr lang="en-US" dirty="0"/>
          </a:p>
        </p:txBody>
      </p:sp>
      <p:sp>
        <p:nvSpPr>
          <p:cNvPr id="3" name="Title 2"/>
          <p:cNvSpPr>
            <a:spLocks noGrp="1"/>
          </p:cNvSpPr>
          <p:nvPr>
            <p:ph type="title"/>
          </p:nvPr>
        </p:nvSpPr>
        <p:spPr/>
        <p:txBody>
          <a:bodyPr/>
          <a:lstStyle/>
          <a:p>
            <a:r>
              <a:rPr lang="en-US" dirty="0" smtClean="0"/>
              <a:t>Suggested Action</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76</TotalTime>
  <Words>749</Words>
  <Application>Microsoft Office PowerPoint</Application>
  <PresentationFormat>On-screen Show (4:3)</PresentationFormat>
  <Paragraphs>57</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Concourse</vt:lpstr>
      <vt:lpstr>Federal “Privacy” Legislation, Investigation &amp; Regulation: A Threat to the Geospatial Community</vt:lpstr>
      <vt:lpstr> </vt:lpstr>
      <vt:lpstr>Legislation</vt:lpstr>
      <vt:lpstr>Legislation</vt:lpstr>
      <vt:lpstr>Legislation</vt:lpstr>
      <vt:lpstr>H.R. 5777</vt:lpstr>
      <vt:lpstr>H.R. 5777</vt:lpstr>
      <vt:lpstr>H.R. 5777</vt:lpstr>
      <vt:lpstr>Investigation/Enforcement</vt:lpstr>
      <vt:lpstr>Regulation</vt:lpstr>
      <vt:lpstr>Regulation</vt:lpstr>
      <vt:lpstr>Issues, Problems &amp; Concerns</vt:lpstr>
      <vt:lpstr>Issues, Problems &amp; Concerns</vt:lpstr>
      <vt:lpstr>Issues, Problems &amp; Concerns</vt:lpstr>
      <vt:lpstr>Issues, Problems &amp; Concerns</vt:lpstr>
      <vt:lpstr>Suggested Action</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“Privacy” Legislation, Investigation &amp; Regulation: A Threat to the Geospatial Community</dc:title>
  <dc:creator>owner</dc:creator>
  <cp:lastModifiedBy>amaher</cp:lastModifiedBy>
  <cp:revision>1</cp:revision>
  <dcterms:created xsi:type="dcterms:W3CDTF">2010-12-07T19:10:49Z</dcterms:created>
  <dcterms:modified xsi:type="dcterms:W3CDTF">2010-12-07T20:38:58Z</dcterms:modified>
</cp:coreProperties>
</file>