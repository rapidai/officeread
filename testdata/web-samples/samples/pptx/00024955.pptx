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Override3.xml" ContentType="application/vnd.openxmlformats-officedocument.themeOverride+xml"/>
  <Override PartName="/ppt/theme/themeOverride4.xml" ContentType="application/vnd.openxmlformats-officedocument.themeOverride+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8" r:id="rId1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15642" autoAdjust="0"/>
    <p:restoredTop sz="94658" autoAdjust="0"/>
  </p:normalViewPr>
  <p:slideViewPr>
    <p:cSldViewPr>
      <p:cViewPr varScale="1">
        <p:scale>
          <a:sx n="79" d="100"/>
          <a:sy n="79" d="100"/>
        </p:scale>
        <p:origin x="-72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9"/>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grpSp>
        <p:nvGrpSpPr>
          <p:cNvPr id="5" name="Group 1"/>
          <p:cNvGrpSpPr>
            <a:grpSpLocks/>
          </p:cNvGrpSpPr>
          <p:nvPr/>
        </p:nvGrpSpPr>
        <p:grpSpPr bwMode="auto">
          <a:xfrm>
            <a:off x="-3175" y="4953000"/>
            <a:ext cx="9147175" cy="1911350"/>
            <a:chOff x="-3765" y="4832896"/>
            <a:chExt cx="9147765" cy="2032192"/>
          </a:xfrm>
        </p:grpSpPr>
        <p:sp>
          <p:nvSpPr>
            <p:cNvPr id="6" name="Freeform 6"/>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a:latin typeface="+mn-lt"/>
              </a:endParaRPr>
            </a:p>
          </p:txBody>
        </p:sp>
        <p:sp>
          <p:nvSpPr>
            <p:cNvPr id="7" name="Freeform 7"/>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a:latin typeface="+mn-lt"/>
              </a:endParaRPr>
            </a:p>
          </p:txBody>
        </p:sp>
        <p:sp>
          <p:nvSpPr>
            <p:cNvPr id="8"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cxnSp>
          <p:nvCxnSpPr>
            <p:cNvPr id="10"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fld id="{C34946F5-2DF8-494A-AC2E-9371809C2A02}" type="datetimeFigureOut">
              <a:rPr lang="en-US"/>
              <a:pPr>
                <a:defRPr/>
              </a:pPr>
              <a:t>3/24/2012</a:t>
            </a:fld>
            <a:endParaRPr lang="en-US"/>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endParaRPr lang="en-US"/>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pPr>
              <a:defRPr/>
            </a:pPr>
            <a:fld id="{305C7044-ECA0-45B8-A7EB-397490C07206}"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itle 6"/>
          <p:cNvSpPr>
            <a:spLocks noGrp="1"/>
          </p:cNvSpPr>
          <p:nvPr>
            <p:ph type="title"/>
          </p:nvPr>
        </p:nvSpPr>
        <p:spPr/>
        <p:txBody>
          <a:bodyPr rtlCol="0"/>
          <a:lstStyle>
            <a:extLst/>
          </a:lstStyle>
          <a:p>
            <a:r>
              <a:rPr lang="en-US" smtClean="0"/>
              <a:t>Click to edit Master title style</a:t>
            </a:r>
            <a:endParaRPr lang="en-US"/>
          </a:p>
        </p:txBody>
      </p:sp>
      <p:sp>
        <p:nvSpPr>
          <p:cNvPr id="4" name="Date Placeholder 9"/>
          <p:cNvSpPr>
            <a:spLocks noGrp="1"/>
          </p:cNvSpPr>
          <p:nvPr>
            <p:ph type="dt" sz="half" idx="10"/>
          </p:nvPr>
        </p:nvSpPr>
        <p:spPr/>
        <p:txBody>
          <a:bodyPr/>
          <a:lstStyle>
            <a:lvl1pPr>
              <a:defRPr/>
            </a:lvl1pPr>
          </a:lstStyle>
          <a:p>
            <a:pPr>
              <a:defRPr/>
            </a:pPr>
            <a:fld id="{B57559DC-C843-45FD-AE8C-EC29F9726311}" type="datetimeFigureOut">
              <a:rPr lang="en-US"/>
              <a:pPr>
                <a:defRPr/>
              </a:pPr>
              <a:t>3/24/2012</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005C9331-AE46-4578-9E5C-4716D430A23C}"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6"/>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5" name="Chevron 7"/>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a:lvl1pPr>
            <a:extLst/>
          </a:lstStyle>
          <a:p>
            <a:pPr>
              <a:defRPr/>
            </a:pPr>
            <a:fld id="{D782F090-B097-4C2E-8895-833DF1DCA4A0}" type="datetimeFigureOut">
              <a:rPr lang="en-US"/>
              <a:pPr>
                <a:defRPr/>
              </a:pPr>
              <a:t>3/24/2012</a:t>
            </a:fld>
            <a:endParaRPr lang="en-US"/>
          </a:p>
        </p:txBody>
      </p:sp>
      <p:sp>
        <p:nvSpPr>
          <p:cNvPr id="7" name="Footer Placeholder 4"/>
          <p:cNvSpPr>
            <a:spLocks noGrp="1"/>
          </p:cNvSpPr>
          <p:nvPr>
            <p:ph type="ftr" sz="quarter" idx="11"/>
          </p:nvPr>
        </p:nvSpPr>
        <p:spPr/>
        <p:txBody>
          <a:bodyPr/>
          <a:lstStyle>
            <a:lvl1pPr>
              <a:defRPr/>
            </a:lvl1pPr>
            <a:extLst/>
          </a:lstStyle>
          <a:p>
            <a:pPr>
              <a:defRPr/>
            </a:pPr>
            <a:endParaRPr lang="en-US"/>
          </a:p>
        </p:txBody>
      </p:sp>
      <p:sp>
        <p:nvSpPr>
          <p:cNvPr id="8" name="Slide Number Placeholder 5"/>
          <p:cNvSpPr>
            <a:spLocks noGrp="1"/>
          </p:cNvSpPr>
          <p:nvPr>
            <p:ph type="sldNum" sz="quarter" idx="12"/>
          </p:nvPr>
        </p:nvSpPr>
        <p:spPr/>
        <p:txBody>
          <a:bodyPr/>
          <a:lstStyle>
            <a:lvl1pPr>
              <a:defRPr/>
            </a:lvl1pPr>
            <a:extLst/>
          </a:lstStyle>
          <a:p>
            <a:pPr>
              <a:defRPr/>
            </a:pPr>
            <a:fld id="{54194612-B49A-4B85-869E-829BD6C27830}"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itle 7"/>
          <p:cNvSpPr>
            <a:spLocks noGrp="1"/>
          </p:cNvSpPr>
          <p:nvPr>
            <p:ph type="title"/>
          </p:nvPr>
        </p:nvSpPr>
        <p:spPr/>
        <p:txBody>
          <a:bodyPr rtlCol="0"/>
          <a:lstStyle>
            <a:extLst/>
          </a:lstStyle>
          <a:p>
            <a:r>
              <a:rPr lang="en-US" smtClean="0"/>
              <a:t>Click to edit Master title style</a:t>
            </a:r>
            <a:endParaRPr lang="en-US"/>
          </a:p>
        </p:txBody>
      </p:sp>
      <p:sp>
        <p:nvSpPr>
          <p:cNvPr id="5" name="Date Placeholder 4"/>
          <p:cNvSpPr>
            <a:spLocks noGrp="1"/>
          </p:cNvSpPr>
          <p:nvPr>
            <p:ph type="dt" sz="half" idx="10"/>
          </p:nvPr>
        </p:nvSpPr>
        <p:spPr/>
        <p:txBody>
          <a:bodyPr/>
          <a:lstStyle>
            <a:lvl1pPr>
              <a:defRPr/>
            </a:lvl1pPr>
            <a:extLst/>
          </a:lstStyle>
          <a:p>
            <a:pPr>
              <a:defRPr/>
            </a:pPr>
            <a:fld id="{ACF9B285-CDE1-4F57-840A-E1949FC023E5}" type="datetimeFigureOut">
              <a:rPr lang="en-US"/>
              <a:pPr>
                <a:defRPr/>
              </a:pPr>
              <a:t>3/24/2012</a:t>
            </a:fld>
            <a:endParaRPr lang="en-US"/>
          </a:p>
        </p:txBody>
      </p:sp>
      <p:sp>
        <p:nvSpPr>
          <p:cNvPr id="6" name="Footer Placeholder 5"/>
          <p:cNvSpPr>
            <a:spLocks noGrp="1"/>
          </p:cNvSpPr>
          <p:nvPr>
            <p:ph type="ftr" sz="quarter" idx="11"/>
          </p:nvPr>
        </p:nvSpPr>
        <p:spPr/>
        <p:txBody>
          <a:bodyPr/>
          <a:lstStyle>
            <a:lvl1pPr>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extLst/>
          </a:lstStyle>
          <a:p>
            <a:pPr>
              <a:defRPr/>
            </a:pPr>
            <a:fld id="{12B52904-AA37-4522-B820-E5AE408078D1}"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extLst/>
          </a:lstStyle>
          <a:p>
            <a:pPr>
              <a:defRPr/>
            </a:pPr>
            <a:fld id="{F1D0506C-C49B-40CF-81F6-A50459FB88D1}" type="datetimeFigureOut">
              <a:rPr lang="en-US"/>
              <a:pPr>
                <a:defRPr/>
              </a:pPr>
              <a:t>3/24/2012</a:t>
            </a:fld>
            <a:endParaRPr lang="en-US"/>
          </a:p>
        </p:txBody>
      </p:sp>
      <p:sp>
        <p:nvSpPr>
          <p:cNvPr id="8" name="Footer Placeholder 7"/>
          <p:cNvSpPr>
            <a:spLocks noGrp="1"/>
          </p:cNvSpPr>
          <p:nvPr>
            <p:ph type="ftr" sz="quarter" idx="11"/>
          </p:nvPr>
        </p:nvSpPr>
        <p:spPr/>
        <p:txBody>
          <a:bodyPr/>
          <a:lstStyle>
            <a:lvl1pPr>
              <a:defRPr/>
            </a:lvl1pPr>
            <a:extLst/>
          </a:lstStyle>
          <a:p>
            <a:pPr>
              <a:defRPr/>
            </a:pPr>
            <a:endParaRPr lang="en-US"/>
          </a:p>
        </p:txBody>
      </p:sp>
      <p:sp>
        <p:nvSpPr>
          <p:cNvPr id="9" name="Slide Number Placeholder 8"/>
          <p:cNvSpPr>
            <a:spLocks noGrp="1"/>
          </p:cNvSpPr>
          <p:nvPr>
            <p:ph type="sldNum" sz="quarter" idx="12"/>
          </p:nvPr>
        </p:nvSpPr>
        <p:spPr/>
        <p:txBody>
          <a:bodyPr/>
          <a:lstStyle>
            <a:lvl1pPr>
              <a:defRPr/>
            </a:lvl1pPr>
            <a:extLst/>
          </a:lstStyle>
          <a:p>
            <a:pPr>
              <a:defRPr/>
            </a:pPr>
            <a:fld id="{9CC8FDF9-2B2E-4CF2-BF80-BBDC2312304A}"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extLst/>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extLst/>
          </a:lstStyle>
          <a:p>
            <a:pPr>
              <a:defRPr/>
            </a:pPr>
            <a:fld id="{59432E77-B91E-4BAF-A278-E58372A26874}" type="datetimeFigureOut">
              <a:rPr lang="en-US"/>
              <a:pPr>
                <a:defRPr/>
              </a:pPr>
              <a:t>3/24/2012</a:t>
            </a:fld>
            <a:endParaRPr lang="en-US"/>
          </a:p>
        </p:txBody>
      </p:sp>
      <p:sp>
        <p:nvSpPr>
          <p:cNvPr id="4" name="Footer Placeholder 3"/>
          <p:cNvSpPr>
            <a:spLocks noGrp="1"/>
          </p:cNvSpPr>
          <p:nvPr>
            <p:ph type="ftr" sz="quarter" idx="11"/>
          </p:nvPr>
        </p:nvSpPr>
        <p:spPr/>
        <p:txBody>
          <a:bodyPr/>
          <a:lstStyle>
            <a:lvl1pPr>
              <a:defRPr/>
            </a:lvl1pPr>
            <a:extLst/>
          </a:lstStyle>
          <a:p>
            <a:pPr>
              <a:defRPr/>
            </a:pPr>
            <a:endParaRPr lang="en-US"/>
          </a:p>
        </p:txBody>
      </p:sp>
      <p:sp>
        <p:nvSpPr>
          <p:cNvPr id="5" name="Slide Number Placeholder 4"/>
          <p:cNvSpPr>
            <a:spLocks noGrp="1"/>
          </p:cNvSpPr>
          <p:nvPr>
            <p:ph type="sldNum" sz="quarter" idx="12"/>
          </p:nvPr>
        </p:nvSpPr>
        <p:spPr/>
        <p:txBody>
          <a:bodyPr/>
          <a:lstStyle>
            <a:lvl1pPr>
              <a:defRPr/>
            </a:lvl1pPr>
            <a:extLst/>
          </a:lstStyle>
          <a:p>
            <a:pPr>
              <a:defRPr/>
            </a:pPr>
            <a:fld id="{D5A2E2C7-EAD0-4F6B-A860-EACCDD15FE8A}"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87B45059-7B27-4374-8857-6596E20E09B0}" type="datetimeFigureOut">
              <a:rPr lang="en-US"/>
              <a:pPr>
                <a:defRPr/>
              </a:pPr>
              <a:t>3/24/2012</a:t>
            </a:fld>
            <a:endParaRPr lang="en-US"/>
          </a:p>
        </p:txBody>
      </p:sp>
      <p:sp>
        <p:nvSpPr>
          <p:cNvPr id="3" name="Footer Placeholder 21"/>
          <p:cNvSpPr>
            <a:spLocks noGrp="1"/>
          </p:cNvSpPr>
          <p:nvPr>
            <p:ph type="ftr" sz="quarter" idx="11"/>
          </p:nvPr>
        </p:nvSpPr>
        <p:spPr/>
        <p:txBody>
          <a:bodyPr/>
          <a:lstStyle>
            <a:lvl1pPr>
              <a:defRPr/>
            </a:lvl1pPr>
          </a:lstStyle>
          <a:p>
            <a:pPr>
              <a:defRPr/>
            </a:pPr>
            <a:endParaRPr lang="en-US"/>
          </a:p>
        </p:txBody>
      </p:sp>
      <p:sp>
        <p:nvSpPr>
          <p:cNvPr id="4" name="Slide Number Placeholder 17"/>
          <p:cNvSpPr>
            <a:spLocks noGrp="1"/>
          </p:cNvSpPr>
          <p:nvPr>
            <p:ph type="sldNum" sz="quarter" idx="12"/>
          </p:nvPr>
        </p:nvSpPr>
        <p:spPr/>
        <p:txBody>
          <a:bodyPr/>
          <a:lstStyle>
            <a:lvl1pPr>
              <a:defRPr/>
            </a:lvl1pPr>
          </a:lstStyle>
          <a:p>
            <a:pPr>
              <a:defRPr/>
            </a:pPr>
            <a:fld id="{C65B4844-F379-4ADD-8AC1-3D3AA597645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smtClean="0"/>
              <a:t>Click to edit Master title style</a:t>
            </a:r>
            <a:endParaRPr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pPr>
              <a:defRPr/>
            </a:pPr>
            <a:fld id="{2204DB62-7C0E-4768-B189-228009A7E824}" type="datetimeFigureOut">
              <a:rPr lang="en-US"/>
              <a:pPr>
                <a:defRPr/>
              </a:pPr>
              <a:t>3/24/2012</a:t>
            </a:fld>
            <a:endParaRPr lang="en-US"/>
          </a:p>
        </p:txBody>
      </p:sp>
      <p:sp>
        <p:nvSpPr>
          <p:cNvPr id="6" name="Footer Placeholder 5"/>
          <p:cNvSpPr>
            <a:spLocks noGrp="1"/>
          </p:cNvSpPr>
          <p:nvPr>
            <p:ph type="ftr" sz="quarter" idx="11"/>
          </p:nvPr>
        </p:nvSpPr>
        <p:spPr/>
        <p:txBody>
          <a:bodyPr/>
          <a:lstStyle>
            <a:lvl1pPr>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extLst/>
          </a:lstStyle>
          <a:p>
            <a:pPr>
              <a:defRPr/>
            </a:pPr>
            <a:fld id="{0D8559BE-7BF1-4A76-9DEF-6D61216CC533}"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7"/>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a:latin typeface="+mn-lt"/>
            </a:endParaRPr>
          </a:p>
        </p:txBody>
      </p:sp>
      <p:sp>
        <p:nvSpPr>
          <p:cNvPr id="6" name="Freeform 8"/>
          <p:cNvSpPr>
            <a:spLocks/>
          </p:cNvSpPr>
          <p:nvPr/>
        </p:nvSpPr>
        <p:spPr bwMode="auto">
          <a:xfrm>
            <a:off x="485775" y="5938838"/>
            <a:ext cx="3690938"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a:latin typeface="+mn-lt"/>
            </a:endParaRPr>
          </a:p>
        </p:txBody>
      </p:sp>
      <p:sp>
        <p:nvSpPr>
          <p:cNvPr id="7" name="Right Triangle 9"/>
          <p:cNvSpPr>
            <a:spLocks/>
          </p:cNvSpPr>
          <p:nvPr/>
        </p:nvSpPr>
        <p:spPr bwMode="auto">
          <a:xfrm>
            <a:off x="-6042" y="5791253"/>
            <a:ext cx="3402314" cy="1080868"/>
          </a:xfrm>
          <a:prstGeom prst="rtTriangle">
            <a:avLst/>
          </a:prstGeom>
          <a:blipFill>
            <a:blip r:embed="rId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cxnSp>
        <p:nvCxnSpPr>
          <p:cNvPr id="8"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11"/>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10" name="Chevron 12"/>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smtClean="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smtClean="0"/>
              <a:t>Click to edit Master title style</a:t>
            </a:r>
            <a:endParaRPr lang="en-US"/>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fld id="{554B94BC-F0FE-45E6-9AEB-58E842AA5F28}" type="datetimeFigureOut">
              <a:rPr lang="en-US"/>
              <a:pPr>
                <a:defRPr/>
              </a:pPr>
              <a:t>3/24/2012</a:t>
            </a:fld>
            <a:endParaRPr lang="en-US"/>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endParaRPr lang="en-US"/>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57B240AB-A0B0-4A36-91B4-FD8E15D85E53}"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1CE438B5-A3BF-4581-888D-3B80D70C3074}" type="datetimeFigureOut">
              <a:rPr lang="en-US"/>
              <a:pPr>
                <a:defRPr/>
              </a:pPr>
              <a:t>3/24/2012</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09A2CF65-702E-4CB6-BF56-A0B1BA838DD0}"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E9E5916C-FC2C-48CC-BFAE-5C8D2E76583B}" type="datetimeFigureOut">
              <a:rPr lang="en-US"/>
              <a:pPr>
                <a:defRPr/>
              </a:pPr>
              <a:t>3/24/2012</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0E5CD5AA-CA9F-48BE-961D-5490A273F115}"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a:latin typeface="+mn-lt"/>
            </a:endParaRPr>
          </a:p>
        </p:txBody>
      </p:sp>
      <p:sp>
        <p:nvSpPr>
          <p:cNvPr id="12" name="Freeform 11"/>
          <p:cNvSpPr>
            <a:spLocks/>
          </p:cNvSpPr>
          <p:nvPr/>
        </p:nvSpPr>
        <p:spPr bwMode="auto">
          <a:xfrm>
            <a:off x="485775" y="5938838"/>
            <a:ext cx="3690938"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a:latin typeface="+mn-lt"/>
            </a:endParaRPr>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lang="en-US" smtClean="0"/>
              <a:t>Click to edit Master title style</a:t>
            </a:r>
            <a:endParaRPr lang="en-US"/>
          </a:p>
        </p:txBody>
      </p:sp>
      <p:sp>
        <p:nvSpPr>
          <p:cNvPr id="1033" name="Text Placeholder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fontAlgn="auto" latinLnBrk="0" hangingPunct="1">
              <a:spcBef>
                <a:spcPts val="0"/>
              </a:spcBef>
              <a:spcAft>
                <a:spcPts val="0"/>
              </a:spcAft>
              <a:defRPr kumimoji="0" sz="1000">
                <a:solidFill>
                  <a:schemeClr val="tx1"/>
                </a:solidFill>
                <a:latin typeface="+mn-lt"/>
              </a:defRPr>
            </a:lvl1pPr>
            <a:extLst/>
          </a:lstStyle>
          <a:p>
            <a:pPr>
              <a:defRPr/>
            </a:pPr>
            <a:fld id="{7F39A36A-0DDC-4A7D-8D30-382A62F228C2}" type="datetimeFigureOut">
              <a:rPr lang="en-US"/>
              <a:pPr>
                <a:defRPr/>
              </a:pPr>
              <a:t>3/24/2012</a:t>
            </a:fld>
            <a:endParaRPr lang="en-US"/>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fontAlgn="auto" latinLnBrk="0" hangingPunct="1">
              <a:spcBef>
                <a:spcPts val="0"/>
              </a:spcBef>
              <a:spcAft>
                <a:spcPts val="0"/>
              </a:spcAft>
              <a:defRPr kumimoji="0" sz="1000">
                <a:solidFill>
                  <a:schemeClr val="tx1"/>
                </a:solidFill>
                <a:latin typeface="+mn-lt"/>
              </a:defRPr>
            </a:lvl1pPr>
            <a:extLst/>
          </a:lstStyle>
          <a:p>
            <a:pPr>
              <a:defRPr/>
            </a:pPr>
            <a:endParaRPr lang="en-US"/>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fontAlgn="auto" latinLnBrk="0" hangingPunct="1">
              <a:spcBef>
                <a:spcPts val="0"/>
              </a:spcBef>
              <a:spcAft>
                <a:spcPts val="0"/>
              </a:spcAft>
              <a:defRPr kumimoji="0" sz="1000" b="0">
                <a:solidFill>
                  <a:schemeClr val="tx1"/>
                </a:solidFill>
                <a:latin typeface="+mn-lt"/>
              </a:defRPr>
            </a:lvl1pPr>
            <a:extLst/>
          </a:lstStyle>
          <a:p>
            <a:pPr>
              <a:defRPr/>
            </a:pPr>
            <a:fld id="{7BAE2035-C15E-4979-9954-C85B02B20D47}"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32" r:id="rId1"/>
    <p:sldLayoutId id="2147483731" r:id="rId2"/>
    <p:sldLayoutId id="2147483733" r:id="rId3"/>
    <p:sldLayoutId id="2147483734" r:id="rId4"/>
    <p:sldLayoutId id="2147483735" r:id="rId5"/>
    <p:sldLayoutId id="2147483736" r:id="rId6"/>
    <p:sldLayoutId id="2147483730" r:id="rId7"/>
    <p:sldLayoutId id="2147483737" r:id="rId8"/>
    <p:sldLayoutId id="2147483738" r:id="rId9"/>
    <p:sldLayoutId id="2147483729" r:id="rId10"/>
    <p:sldLayoutId id="2147483728" r:id="rId11"/>
  </p:sldLayoutIdLst>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0" fontAlgn="base" hangingPunct="0">
        <a:spcBef>
          <a:spcPct val="0"/>
        </a:spcBef>
        <a:spcAft>
          <a:spcPct val="0"/>
        </a:spcAft>
        <a:defRPr sz="4100" b="1">
          <a:solidFill>
            <a:schemeClr val="tx2"/>
          </a:solidFill>
          <a:latin typeface="Lucida Sans Unicode" pitchFamily="34" charset="0"/>
        </a:defRPr>
      </a:lvl2pPr>
      <a:lvl3pPr algn="l" rtl="0" eaLnBrk="0" fontAlgn="base" hangingPunct="0">
        <a:spcBef>
          <a:spcPct val="0"/>
        </a:spcBef>
        <a:spcAft>
          <a:spcPct val="0"/>
        </a:spcAft>
        <a:defRPr sz="4100" b="1">
          <a:solidFill>
            <a:schemeClr val="tx2"/>
          </a:solidFill>
          <a:latin typeface="Lucida Sans Unicode" pitchFamily="34" charset="0"/>
        </a:defRPr>
      </a:lvl3pPr>
      <a:lvl4pPr algn="l" rtl="0" eaLnBrk="0" fontAlgn="base" hangingPunct="0">
        <a:spcBef>
          <a:spcPct val="0"/>
        </a:spcBef>
        <a:spcAft>
          <a:spcPct val="0"/>
        </a:spcAft>
        <a:defRPr sz="4100" b="1">
          <a:solidFill>
            <a:schemeClr val="tx2"/>
          </a:solidFill>
          <a:latin typeface="Lucida Sans Unicode" pitchFamily="34" charset="0"/>
        </a:defRPr>
      </a:lvl4pPr>
      <a:lvl5pPr algn="l" rtl="0" eaLnBrk="0" fontAlgn="base" hangingPunct="0">
        <a:spcBef>
          <a:spcPct val="0"/>
        </a:spcBef>
        <a:spcAft>
          <a:spcPct val="0"/>
        </a:spcAft>
        <a:defRPr sz="4100" b="1">
          <a:solidFill>
            <a:schemeClr val="tx2"/>
          </a:solidFill>
          <a:latin typeface="Lucida Sans Unicode" pitchFamily="34" charset="0"/>
        </a:defRPr>
      </a:lvl5pPr>
      <a:lvl6pPr marL="457200" algn="l" rtl="0" fontAlgn="base">
        <a:spcBef>
          <a:spcPct val="0"/>
        </a:spcBef>
        <a:spcAft>
          <a:spcPct val="0"/>
        </a:spcAft>
        <a:defRPr sz="4100" b="1">
          <a:solidFill>
            <a:schemeClr val="tx2"/>
          </a:solidFill>
          <a:latin typeface="Lucida Sans Unicode" pitchFamily="34" charset="0"/>
        </a:defRPr>
      </a:lvl6pPr>
      <a:lvl7pPr marL="914400" algn="l" rtl="0" fontAlgn="base">
        <a:spcBef>
          <a:spcPct val="0"/>
        </a:spcBef>
        <a:spcAft>
          <a:spcPct val="0"/>
        </a:spcAft>
        <a:defRPr sz="4100" b="1">
          <a:solidFill>
            <a:schemeClr val="tx2"/>
          </a:solidFill>
          <a:latin typeface="Lucida Sans Unicode" pitchFamily="34" charset="0"/>
        </a:defRPr>
      </a:lvl7pPr>
      <a:lvl8pPr marL="1371600" algn="l" rtl="0" fontAlgn="base">
        <a:spcBef>
          <a:spcPct val="0"/>
        </a:spcBef>
        <a:spcAft>
          <a:spcPct val="0"/>
        </a:spcAft>
        <a:defRPr sz="4100" b="1">
          <a:solidFill>
            <a:schemeClr val="tx2"/>
          </a:solidFill>
          <a:latin typeface="Lucida Sans Unicode" pitchFamily="34" charset="0"/>
        </a:defRPr>
      </a:lvl8pPr>
      <a:lvl9pPr marL="1828800" algn="l" rtl="0" fontAlgn="base">
        <a:spcBef>
          <a:spcPct val="0"/>
        </a:spcBef>
        <a:spcAft>
          <a:spcPct val="0"/>
        </a:spcAft>
        <a:defRPr sz="4100" b="1">
          <a:solidFill>
            <a:schemeClr val="tx2"/>
          </a:solidFill>
          <a:latin typeface="Lucida Sans Unicode" pitchFamily="34" charset="0"/>
        </a:defRPr>
      </a:lvl9pPr>
      <a:extLst/>
    </p:titleStyle>
    <p:bodyStyle>
      <a:lvl1pPr marL="365125" indent="-255588" algn="l" rtl="0" eaLnBrk="0" fontAlgn="base" hangingPunct="0">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0" fontAlgn="base" hangingPunct="0">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0" fontAlgn="base" hangingPunct="0">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Font typeface="Wingdings 2" pitchFamily="18" charset="2"/>
        <a:buChar char=""/>
        <a:defRPr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en.wikipedia.org/wiki/Charter_of_the_French_Language" TargetMode="External"/><Relationship Id="rId2" Type="http://schemas.openxmlformats.org/officeDocument/2006/relationships/hyperlink" Target="http://en.wikipedia.org/w/index.php?title=Valerie_Ford&amp;action=edit&amp;redlink=1" TargetMode="External"/><Relationship Id="rId1" Type="http://schemas.openxmlformats.org/officeDocument/2006/relationships/slideLayout" Target="../slideLayouts/slideLayout2.xml"/><Relationship Id="rId4" Type="http://schemas.openxmlformats.org/officeDocument/2006/relationships/hyperlink" Target="http://en.wikipedia.org/wiki/National_Assembly_of_Quebec"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en.wikipedia.org/wiki/Charter_of_the_French_Language" TargetMode="External"/><Relationship Id="rId2" Type="http://schemas.openxmlformats.org/officeDocument/2006/relationships/hyperlink" Target="http://en.wikipedia.org/wiki/Supreme_Court_of_Canada" TargetMode="External"/><Relationship Id="rId1" Type="http://schemas.openxmlformats.org/officeDocument/2006/relationships/slideLayout" Target="../slideLayouts/slideLayout2.xml"/><Relationship Id="rId6" Type="http://schemas.openxmlformats.org/officeDocument/2006/relationships/hyperlink" Target="http://en.wikipedia.org/wiki/Canadian_Charter_of_Rights_and_Freedoms" TargetMode="External"/><Relationship Id="rId5" Type="http://schemas.openxmlformats.org/officeDocument/2006/relationships/hyperlink" Target="http://en.wikipedia.org/wiki/Freedom_of_expression" TargetMode="External"/><Relationship Id="rId4" Type="http://schemas.openxmlformats.org/officeDocument/2006/relationships/hyperlink" Target="http://en.wikipedia.org/wiki/Bill_101"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en.wikipedia.org/wiki/Quebec_nationalism" TargetMode="External"/><Relationship Id="rId3" Type="http://schemas.openxmlformats.org/officeDocument/2006/relationships/hyperlink" Target="http://en.wikipedia.org/wiki/Robert_Bourassa" TargetMode="External"/><Relationship Id="rId7" Type="http://schemas.openxmlformats.org/officeDocument/2006/relationships/hyperlink" Target="http://en.wikipedia.org/wiki/Section_Thirty-three_of_the_Canadian_Charter_of_Rights_and_Freedoms" TargetMode="External"/><Relationship Id="rId2" Type="http://schemas.openxmlformats.org/officeDocument/2006/relationships/hyperlink" Target="http://en.wikipedia.org/wiki/Premier" TargetMode="External"/><Relationship Id="rId1" Type="http://schemas.openxmlformats.org/officeDocument/2006/relationships/slideLayout" Target="../slideLayouts/slideLayout2.xml"/><Relationship Id="rId6" Type="http://schemas.openxmlformats.org/officeDocument/2006/relationships/hyperlink" Target="http://en.wikipedia.org/wiki/Charter_of_the_French_Language" TargetMode="External"/><Relationship Id="rId5" Type="http://schemas.openxmlformats.org/officeDocument/2006/relationships/hyperlink" Target="http://en.wikipedia.org/w/index.php?title=Bill_178&amp;action=edit&amp;redlink=1" TargetMode="External"/><Relationship Id="rId10" Type="http://schemas.openxmlformats.org/officeDocument/2006/relationships/hyperlink" Target="http://en.wikipedia.org/wiki/Meech_Lake_Accord" TargetMode="External"/><Relationship Id="rId4" Type="http://schemas.openxmlformats.org/officeDocument/2006/relationships/hyperlink" Target="http://en.wikipedia.org/wiki/Liberal_Party_of_Quebec" TargetMode="External"/><Relationship Id="rId9" Type="http://schemas.openxmlformats.org/officeDocument/2006/relationships/hyperlink" Target="http://en.wikipedia.org/wiki/English-speaking_Quebecer" TargetMode="External"/></Relationships>
</file>

<file path=ppt/slides/_rels/slide10.xml.rels><?xml version="1.0" encoding="UTF-8" standalone="yes"?>
<Relationships xmlns="http://schemas.openxmlformats.org/package/2006/relationships"><Relationship Id="rId2" Type="http://schemas.openxmlformats.org/officeDocument/2006/relationships/hyperlink" Target="http://en.wikipedia.org/wiki/Bill_86"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www.statutelaw.gov.uk/documents/1982/11/ukpga"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eaLnBrk="1" fontAlgn="auto" hangingPunct="1">
              <a:spcAft>
                <a:spcPts val="0"/>
              </a:spcAft>
              <a:defRPr/>
            </a:pPr>
            <a:r>
              <a:rPr lang="en-US" sz="4000" i="1" dirty="0"/>
              <a:t>Ford v. Quebec (Attorney General)</a:t>
            </a:r>
            <a:r>
              <a:rPr lang="en-US" sz="4000" dirty="0"/>
              <a:t>, [1988] 2 S.C.R. </a:t>
            </a:r>
            <a:r>
              <a:rPr lang="en-US" sz="4000" dirty="0" smtClean="0"/>
              <a:t>712</a:t>
            </a:r>
            <a:br>
              <a:rPr lang="en-US" sz="4000" dirty="0" smtClean="0"/>
            </a:br>
            <a:r>
              <a:rPr lang="en-US" sz="3600" dirty="0" smtClean="0"/>
              <a:t>(Quebec Sign Case)</a:t>
            </a:r>
            <a:br>
              <a:rPr lang="en-US" sz="3600" dirty="0" smtClean="0"/>
            </a:br>
            <a:r>
              <a:rPr lang="en-US" sz="4000" dirty="0" smtClean="0"/>
              <a:t> </a:t>
            </a:r>
            <a:endParaRPr lang="en-US" sz="4000" dirty="0"/>
          </a:p>
        </p:txBody>
      </p:sp>
      <p:sp>
        <p:nvSpPr>
          <p:cNvPr id="13314" name="Subtitle 2"/>
          <p:cNvSpPr>
            <a:spLocks noGrp="1"/>
          </p:cNvSpPr>
          <p:nvPr>
            <p:ph type="subTitle" idx="1"/>
          </p:nvPr>
        </p:nvSpPr>
        <p:spPr>
          <a:xfrm>
            <a:off x="685800" y="3611563"/>
            <a:ext cx="7772400" cy="1200150"/>
          </a:xfrm>
        </p:spPr>
        <p:txBody>
          <a:bodyPr/>
          <a:lstStyle/>
          <a:p>
            <a:pPr marR="0" eaLnBrk="1" hangingPunct="1"/>
            <a:r>
              <a:rPr lang="en-US" smtClean="0"/>
              <a:t>Alma Sultafa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Content Placeholder 2"/>
          <p:cNvSpPr>
            <a:spLocks noGrp="1"/>
          </p:cNvSpPr>
          <p:nvPr>
            <p:ph idx="1"/>
          </p:nvPr>
        </p:nvSpPr>
        <p:spPr/>
        <p:txBody>
          <a:bodyPr/>
          <a:lstStyle/>
          <a:p>
            <a:pPr eaLnBrk="1" hangingPunct="1">
              <a:buFont typeface="Wingdings 3" pitchFamily="18" charset="2"/>
              <a:buNone/>
            </a:pPr>
            <a:r>
              <a:rPr lang="en-US" sz="2000" b="1" smtClean="0"/>
              <a:t>The Attorney General of Quebec</a:t>
            </a:r>
            <a:r>
              <a:rPr lang="en-US" sz="2000" i="1" smtClean="0"/>
              <a:t>                                                    	 Appellant</a:t>
            </a:r>
            <a:endParaRPr lang="en-US" sz="2000" smtClean="0"/>
          </a:p>
          <a:p>
            <a:pPr eaLnBrk="1" hangingPunct="1">
              <a:buFont typeface="Wingdings 3" pitchFamily="18" charset="2"/>
              <a:buNone/>
            </a:pPr>
            <a:r>
              <a:rPr lang="en-US" sz="2000" smtClean="0"/>
              <a:t> </a:t>
            </a:r>
          </a:p>
          <a:p>
            <a:pPr eaLnBrk="1" hangingPunct="1">
              <a:buFont typeface="Wingdings 3" pitchFamily="18" charset="2"/>
              <a:buNone/>
            </a:pPr>
            <a:r>
              <a:rPr lang="en-US" sz="2000" i="1" smtClean="0"/>
              <a:t>	v.</a:t>
            </a:r>
            <a:endParaRPr lang="en-US" sz="2000" smtClean="0"/>
          </a:p>
          <a:p>
            <a:pPr eaLnBrk="1" hangingPunct="1">
              <a:buFont typeface="Wingdings 3" pitchFamily="18" charset="2"/>
              <a:buNone/>
            </a:pPr>
            <a:r>
              <a:rPr lang="en-US" sz="2000" smtClean="0"/>
              <a:t>	 </a:t>
            </a:r>
          </a:p>
          <a:p>
            <a:pPr eaLnBrk="1" hangingPunct="1">
              <a:buFont typeface="Wingdings 3" pitchFamily="18" charset="2"/>
              <a:buNone/>
            </a:pPr>
            <a:r>
              <a:rPr lang="en-US" sz="2000" b="1" smtClean="0"/>
              <a:t>	Valerie Ford</a:t>
            </a:r>
            <a:r>
              <a:rPr lang="en-US" sz="2000" i="1" smtClean="0"/>
              <a:t>                                                       Respondent</a:t>
            </a:r>
            <a:endParaRPr lang="en-US" sz="2000" smtClean="0"/>
          </a:p>
          <a:p>
            <a:pPr eaLnBrk="1" hangingPunct="1">
              <a:buFont typeface="Wingdings 3" pitchFamily="18" charset="2"/>
              <a:buNone/>
            </a:pPr>
            <a:r>
              <a:rPr lang="en-US" sz="2000" smtClean="0"/>
              <a:t>      etal. </a:t>
            </a:r>
          </a:p>
          <a:p>
            <a:pPr eaLnBrk="1" hangingPunct="1">
              <a:buFont typeface="Wingdings 3" pitchFamily="18" charset="2"/>
              <a:buNone/>
            </a:pPr>
            <a:endParaRPr lang="en-US" sz="2000" b="1" smtClean="0"/>
          </a:p>
          <a:p>
            <a:pPr eaLnBrk="1" hangingPunct="1">
              <a:buFont typeface="Wingdings 3" pitchFamily="18" charset="2"/>
              <a:buNone/>
            </a:pPr>
            <a:endParaRPr lang="en-US" sz="2000" b="1" smtClean="0"/>
          </a:p>
          <a:p>
            <a:pPr eaLnBrk="1" hangingPunct="1">
              <a:buFont typeface="Wingdings 3" pitchFamily="18" charset="2"/>
              <a:buNone/>
            </a:pPr>
            <a:r>
              <a:rPr lang="en-US" sz="2000" i="1" smtClean="0"/>
              <a:t>Interveners</a:t>
            </a:r>
            <a:endParaRPr lang="en-US" sz="2000" b="1" smtClean="0"/>
          </a:p>
          <a:p>
            <a:pPr eaLnBrk="1" hangingPunct="1">
              <a:buFont typeface="Wingdings 3" pitchFamily="18" charset="2"/>
              <a:buNone/>
            </a:pPr>
            <a:r>
              <a:rPr lang="en-US" sz="2000" b="1" smtClean="0"/>
              <a:t>The Attorney General of Canada, the Attorney General for Ontario and the Attorney General for New Brunswick</a:t>
            </a:r>
            <a:r>
              <a:rPr lang="en-US" sz="2000" i="1" smtClean="0"/>
              <a:t> </a:t>
            </a:r>
            <a:endParaRPr lang="en-US" sz="2000" smtClean="0"/>
          </a:p>
          <a:p>
            <a:pPr eaLnBrk="1" hangingPunct="1"/>
            <a:endParaRPr lang="en-US" smtClean="0"/>
          </a:p>
        </p:txBody>
      </p:sp>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t>Parties involved </a:t>
            </a:r>
            <a:br>
              <a:rPr lang="en-US" dirty="0" smtClean="0"/>
            </a:b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365760" indent="-256032" eaLnBrk="1" fontAlgn="auto" hangingPunct="1">
              <a:spcAft>
                <a:spcPts val="0"/>
              </a:spcAft>
              <a:buFont typeface="Wingdings 3"/>
              <a:buNone/>
              <a:defRPr/>
            </a:pPr>
            <a:r>
              <a:rPr lang="en-US" dirty="0"/>
              <a:t> </a:t>
            </a:r>
          </a:p>
          <a:p>
            <a:pPr marL="365760" indent="-256032" eaLnBrk="1" fontAlgn="auto" hangingPunct="1">
              <a:spcAft>
                <a:spcPts val="0"/>
              </a:spcAft>
              <a:buFont typeface="Wingdings 3"/>
              <a:buChar char=""/>
              <a:defRPr/>
            </a:pPr>
            <a:r>
              <a:rPr lang="en-US" sz="2400" cap="all" dirty="0" smtClean="0"/>
              <a:t>An </a:t>
            </a:r>
            <a:r>
              <a:rPr lang="en-US" sz="2400" cap="all" dirty="0"/>
              <a:t>appeal from the court of appeal for </a:t>
            </a:r>
            <a:r>
              <a:rPr lang="en-US" sz="2400" cap="all" dirty="0" smtClean="0"/>
              <a:t>Québec</a:t>
            </a:r>
            <a:endParaRPr lang="en-US" sz="2400" dirty="0"/>
          </a:p>
          <a:p>
            <a:pPr marL="365760" indent="-256032" eaLnBrk="1" fontAlgn="auto" hangingPunct="1">
              <a:spcAft>
                <a:spcPts val="0"/>
              </a:spcAft>
              <a:buFont typeface="Wingdings 3"/>
              <a:buChar char=""/>
              <a:defRPr/>
            </a:pPr>
            <a:endParaRPr lang="en-US" dirty="0" smtClean="0"/>
          </a:p>
          <a:p>
            <a:pPr marL="365760" indent="-256032" eaLnBrk="1" fontAlgn="auto" hangingPunct="1">
              <a:spcAft>
                <a:spcPts val="0"/>
              </a:spcAft>
              <a:buFont typeface="Wingdings 3"/>
              <a:buNone/>
              <a:defRPr/>
            </a:pPr>
            <a:r>
              <a:rPr lang="en-US" dirty="0" smtClean="0"/>
              <a:t>The </a:t>
            </a:r>
            <a:r>
              <a:rPr lang="en-US" b="1" dirty="0"/>
              <a:t>principal issue</a:t>
            </a:r>
            <a:r>
              <a:rPr lang="en-US" dirty="0"/>
              <a:t> </a:t>
            </a:r>
            <a:r>
              <a:rPr lang="en-US" dirty="0" smtClean="0"/>
              <a:t>in this appeal </a:t>
            </a:r>
            <a:r>
              <a:rPr lang="en-US" dirty="0"/>
              <a:t>is whether s. 58 and s. 69 of the Quebec </a:t>
            </a:r>
            <a:r>
              <a:rPr lang="en-US" i="1" dirty="0"/>
              <a:t>Charter of the French </a:t>
            </a:r>
            <a:r>
              <a:rPr lang="en-US" dirty="0" smtClean="0"/>
              <a:t> </a:t>
            </a:r>
            <a:r>
              <a:rPr lang="en-US" i="1" dirty="0" smtClean="0"/>
              <a:t>Language</a:t>
            </a:r>
            <a:r>
              <a:rPr lang="en-US" dirty="0"/>
              <a:t>, R.S.Q., c. C‑11, </a:t>
            </a:r>
            <a:r>
              <a:rPr lang="en-US" dirty="0" smtClean="0"/>
              <a:t>which </a:t>
            </a:r>
            <a:r>
              <a:rPr lang="en-US" dirty="0"/>
              <a:t>require that public signs and posters and commercial advertising </a:t>
            </a:r>
            <a:r>
              <a:rPr lang="en-US" dirty="0" smtClean="0"/>
              <a:t> shall </a:t>
            </a:r>
            <a:r>
              <a:rPr lang="en-US" dirty="0"/>
              <a:t>be in the French language only and that only the French version of a firm name may be used, </a:t>
            </a:r>
            <a:r>
              <a:rPr lang="en-US" dirty="0" smtClean="0"/>
              <a:t> infringe </a:t>
            </a:r>
            <a:r>
              <a:rPr lang="en-US" dirty="0"/>
              <a:t>the freedom of expression guaranteed by s. 2(</a:t>
            </a:r>
            <a:r>
              <a:rPr lang="en-US" i="1" dirty="0"/>
              <a:t>b</a:t>
            </a:r>
            <a:r>
              <a:rPr lang="en-US" dirty="0"/>
              <a:t>) of the </a:t>
            </a:r>
            <a:r>
              <a:rPr lang="en-US" i="1" dirty="0"/>
              <a:t>Canadian </a:t>
            </a:r>
            <a:r>
              <a:rPr lang="en-US" i="1" dirty="0" smtClean="0"/>
              <a:t>Charter </a:t>
            </a:r>
            <a:r>
              <a:rPr lang="en-US" i="1" dirty="0"/>
              <a:t>of Rights and </a:t>
            </a:r>
            <a:r>
              <a:rPr lang="en-US" dirty="0" smtClean="0"/>
              <a:t> </a:t>
            </a:r>
            <a:r>
              <a:rPr lang="en-US" i="1" dirty="0" smtClean="0"/>
              <a:t>Freedoms</a:t>
            </a:r>
            <a:r>
              <a:rPr lang="en-US" dirty="0" smtClean="0"/>
              <a:t> </a:t>
            </a:r>
            <a:r>
              <a:rPr lang="en-US" dirty="0"/>
              <a:t>and s. 3 of the Quebec </a:t>
            </a:r>
            <a:r>
              <a:rPr lang="en-US" i="1" dirty="0"/>
              <a:t>Charter of Human Rights and </a:t>
            </a:r>
            <a:r>
              <a:rPr lang="en-US" i="1" dirty="0" smtClean="0"/>
              <a:t>Freedoms</a:t>
            </a:r>
            <a:r>
              <a:rPr lang="en-US" dirty="0" smtClean="0"/>
              <a:t>. </a:t>
            </a:r>
            <a:endParaRPr lang="en-US" dirty="0"/>
          </a:p>
          <a:p>
            <a:pPr marL="365760" indent="-256032" eaLnBrk="1" fontAlgn="auto" hangingPunct="1">
              <a:spcAft>
                <a:spcPts val="0"/>
              </a:spcAft>
              <a:buFont typeface="Wingdings 3"/>
              <a:buChar char=""/>
              <a:defRPr/>
            </a:pPr>
            <a:endParaRPr lang="en-US" dirty="0"/>
          </a:p>
        </p:txBody>
      </p:sp>
      <p:sp>
        <p:nvSpPr>
          <p:cNvPr id="2" name="Title 1"/>
          <p:cNvSpPr>
            <a:spLocks noGrp="1"/>
          </p:cNvSpPr>
          <p:nvPr>
            <p:ph type="title"/>
          </p:nvPr>
        </p:nvSpPr>
        <p:spPr/>
        <p:txBody>
          <a:bodyPr>
            <a:normAutofit fontScale="90000"/>
          </a:bodyPr>
          <a:lstStyle/>
          <a:p>
            <a:pPr eaLnBrk="1" fontAlgn="auto" hangingPunct="1">
              <a:spcAft>
                <a:spcPts val="0"/>
              </a:spcAft>
              <a:defRPr/>
            </a:pPr>
            <a:r>
              <a:rPr lang="en-US" i="1" dirty="0" smtClean="0"/>
              <a:t>Ford v. Quebec (Attorney General)</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marL="365760" indent="-256032" eaLnBrk="1" fontAlgn="auto" hangingPunct="1">
              <a:spcAft>
                <a:spcPts val="0"/>
              </a:spcAft>
              <a:buFont typeface="Wingdings 3"/>
              <a:buNone/>
              <a:defRPr/>
            </a:pPr>
            <a:r>
              <a:rPr lang="en-US" dirty="0"/>
              <a:t>There is also </a:t>
            </a:r>
            <a:r>
              <a:rPr lang="en-US" b="1" u="sng" dirty="0"/>
              <a:t>an issue </a:t>
            </a:r>
            <a:r>
              <a:rPr lang="en-US" dirty="0"/>
              <a:t>as to whether s. 58 and s. 69 of the </a:t>
            </a:r>
            <a:r>
              <a:rPr lang="en-US" i="1" dirty="0"/>
              <a:t>Charter of the French Language</a:t>
            </a:r>
            <a:r>
              <a:rPr lang="en-US" dirty="0"/>
              <a:t> </a:t>
            </a:r>
            <a:r>
              <a:rPr lang="en-US" dirty="0" smtClean="0"/>
              <a:t>infringe the </a:t>
            </a:r>
            <a:r>
              <a:rPr lang="en-US" dirty="0"/>
              <a:t>guarantee against discrimination based on language in s. 10 of the Quebec </a:t>
            </a:r>
            <a:r>
              <a:rPr lang="en-US" i="1" dirty="0"/>
              <a:t>Charter of Human </a:t>
            </a:r>
            <a:r>
              <a:rPr lang="en-US" dirty="0" smtClean="0"/>
              <a:t> </a:t>
            </a:r>
            <a:r>
              <a:rPr lang="en-US" i="1" dirty="0" smtClean="0"/>
              <a:t>Rights </a:t>
            </a:r>
            <a:r>
              <a:rPr lang="en-US" i="1" dirty="0"/>
              <a:t>and Freedoms</a:t>
            </a:r>
            <a:r>
              <a:rPr lang="en-US" dirty="0"/>
              <a:t>. </a:t>
            </a:r>
            <a:endParaRPr lang="en-US" dirty="0" smtClean="0"/>
          </a:p>
          <a:p>
            <a:pPr marL="365760" indent="-256032" eaLnBrk="1" fontAlgn="auto" hangingPunct="1">
              <a:spcAft>
                <a:spcPts val="0"/>
              </a:spcAft>
              <a:buFont typeface="Wingdings 3"/>
              <a:buNone/>
              <a:defRPr/>
            </a:pPr>
            <a:r>
              <a:rPr lang="en-US" dirty="0" smtClean="0"/>
              <a:t>The </a:t>
            </a:r>
            <a:r>
              <a:rPr lang="en-US" dirty="0"/>
              <a:t>application of the </a:t>
            </a:r>
            <a:r>
              <a:rPr lang="en-US" i="1" dirty="0"/>
              <a:t>Canadian Charter of Rights and Freedoms</a:t>
            </a:r>
            <a:r>
              <a:rPr lang="en-US" dirty="0"/>
              <a:t> turns </a:t>
            </a:r>
            <a:r>
              <a:rPr lang="en-US" dirty="0" smtClean="0"/>
              <a:t>initially </a:t>
            </a:r>
            <a:r>
              <a:rPr lang="en-US" dirty="0"/>
              <a:t>on whether there is a valid and applicable override provision, enacted pursuant to s. 33 of </a:t>
            </a:r>
            <a:r>
              <a:rPr lang="en-US" dirty="0" smtClean="0"/>
              <a:t>the </a:t>
            </a:r>
            <a:r>
              <a:rPr lang="en-US" dirty="0"/>
              <a:t>Canadian </a:t>
            </a:r>
            <a:r>
              <a:rPr lang="en-US" i="1" dirty="0"/>
              <a:t>Charter</a:t>
            </a:r>
            <a:r>
              <a:rPr lang="en-US" dirty="0"/>
              <a:t>, that s.  58 and s. 69 of the </a:t>
            </a:r>
            <a:r>
              <a:rPr lang="en-US" i="1" dirty="0"/>
              <a:t>Charter of the French Language</a:t>
            </a:r>
            <a:r>
              <a:rPr lang="en-US" dirty="0"/>
              <a:t> shall operate </a:t>
            </a:r>
            <a:r>
              <a:rPr lang="en-US" dirty="0" smtClean="0"/>
              <a:t>notwithstanding in </a:t>
            </a:r>
            <a:r>
              <a:rPr lang="en-US" dirty="0"/>
              <a:t>s. 2(</a:t>
            </a:r>
            <a:r>
              <a:rPr lang="en-US" i="1" dirty="0"/>
              <a:t>b</a:t>
            </a:r>
            <a:r>
              <a:rPr lang="en-US" dirty="0"/>
              <a:t>) of the Canadian </a:t>
            </a:r>
            <a:r>
              <a:rPr lang="en-US" i="1" dirty="0"/>
              <a:t>Charter</a:t>
            </a:r>
            <a:r>
              <a:rPr lang="en-US" dirty="0"/>
              <a:t>.</a:t>
            </a:r>
          </a:p>
          <a:p>
            <a:pPr marL="365760" indent="-256032" eaLnBrk="1" fontAlgn="auto" hangingPunct="1">
              <a:spcAft>
                <a:spcPts val="0"/>
              </a:spcAft>
              <a:buFont typeface="Wingdings 3"/>
              <a:buChar char=""/>
              <a:defRPr/>
            </a:pPr>
            <a:endParaRPr lang="en-US" dirty="0"/>
          </a:p>
        </p:txBody>
      </p:sp>
      <p:sp>
        <p:nvSpPr>
          <p:cNvPr id="2" name="Title 1"/>
          <p:cNvSpPr>
            <a:spLocks noGrp="1"/>
          </p:cNvSpPr>
          <p:nvPr>
            <p:ph type="title"/>
          </p:nvPr>
        </p:nvSpPr>
        <p:spPr/>
        <p:txBody>
          <a:bodyPr>
            <a:normAutofit fontScale="90000"/>
          </a:bodyPr>
          <a:lstStyle/>
          <a:p>
            <a:pPr eaLnBrk="1" fontAlgn="auto" hangingPunct="1">
              <a:spcAft>
                <a:spcPts val="0"/>
              </a:spcAft>
              <a:defRPr/>
            </a:pPr>
            <a:r>
              <a:rPr lang="en-US" i="1" dirty="0" smtClean="0"/>
              <a:t>Ford v. Quebec (Attorney General)</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25000" lnSpcReduction="20000"/>
          </a:bodyPr>
          <a:lstStyle/>
          <a:p>
            <a:pPr marL="365760" indent="-256032" eaLnBrk="1" fontAlgn="auto" hangingPunct="1">
              <a:spcAft>
                <a:spcPts val="0"/>
              </a:spcAft>
              <a:buFont typeface="Wingdings 3"/>
              <a:buNone/>
              <a:defRPr/>
            </a:pPr>
            <a:endParaRPr lang="en-US" sz="2900" dirty="0" smtClean="0"/>
          </a:p>
          <a:p>
            <a:pPr marL="365760" indent="-256032" eaLnBrk="1" fontAlgn="auto" hangingPunct="1">
              <a:spcAft>
                <a:spcPts val="0"/>
              </a:spcAft>
              <a:buFont typeface="Wingdings 3"/>
              <a:buChar char=""/>
              <a:defRPr/>
            </a:pPr>
            <a:r>
              <a:rPr lang="en-US" sz="7400" dirty="0" smtClean="0"/>
              <a:t>The appeal, (initiated by the government of Quebec) consolidated many cases initiated by Montreal-area merchants </a:t>
            </a:r>
            <a:r>
              <a:rPr lang="en-US" sz="7400" dirty="0" err="1" smtClean="0"/>
              <a:t>i.e</a:t>
            </a:r>
            <a:r>
              <a:rPr lang="en-US" sz="7400" dirty="0" smtClean="0"/>
              <a:t> wool shop owner </a:t>
            </a:r>
            <a:r>
              <a:rPr lang="en-US" sz="7400" dirty="0" smtClean="0">
                <a:hlinkClick r:id="rId2" action="ppaction://hlinkfile" tooltip="Valerie Ford (page does not exist)"/>
              </a:rPr>
              <a:t>Valerie Ford</a:t>
            </a:r>
            <a:r>
              <a:rPr lang="en-US" sz="7400" dirty="0" smtClean="0"/>
              <a:t>. They had been fined for violation of the </a:t>
            </a:r>
            <a:r>
              <a:rPr lang="en-US" sz="7400" dirty="0" smtClean="0">
                <a:hlinkClick r:id="rId3" action="ppaction://hlinkfile" tooltip="Charter of the French Language"/>
              </a:rPr>
              <a:t>Charter of the French Language</a:t>
            </a:r>
            <a:r>
              <a:rPr lang="en-US" sz="7400" dirty="0" smtClean="0"/>
              <a:t>.  </a:t>
            </a:r>
          </a:p>
          <a:p>
            <a:pPr marL="365760" indent="-256032" eaLnBrk="1" fontAlgn="auto" hangingPunct="1">
              <a:spcAft>
                <a:spcPts val="0"/>
              </a:spcAft>
              <a:buFont typeface="Wingdings 3"/>
              <a:buNone/>
              <a:defRPr/>
            </a:pPr>
            <a:r>
              <a:rPr lang="en-US" sz="7400" dirty="0" smtClean="0"/>
              <a:t> </a:t>
            </a:r>
          </a:p>
          <a:p>
            <a:pPr marL="365760" indent="-256032" eaLnBrk="1" fontAlgn="auto" hangingPunct="1">
              <a:spcAft>
                <a:spcPts val="0"/>
              </a:spcAft>
              <a:buFont typeface="Wingdings 3"/>
              <a:buChar char=""/>
              <a:defRPr/>
            </a:pPr>
            <a:r>
              <a:rPr lang="en-US" sz="7400" dirty="0" smtClean="0"/>
              <a:t> Judgment </a:t>
            </a:r>
            <a:r>
              <a:rPr lang="en-US" sz="7400" dirty="0"/>
              <a:t>of the Quebec Court of Appeal on </a:t>
            </a:r>
            <a:r>
              <a:rPr lang="en-US" sz="7400" dirty="0" smtClean="0"/>
              <a:t> December </a:t>
            </a:r>
            <a:r>
              <a:rPr lang="en-US" sz="7400" dirty="0"/>
              <a:t>22, 1986, </a:t>
            </a:r>
            <a:r>
              <a:rPr lang="en-US" sz="7400" dirty="0" smtClean="0"/>
              <a:t>dismissed </a:t>
            </a:r>
            <a:r>
              <a:rPr lang="en-US" sz="7400" dirty="0"/>
              <a:t>the appeal of </a:t>
            </a:r>
            <a:r>
              <a:rPr lang="en-US" sz="7400" dirty="0" smtClean="0"/>
              <a:t> the Quebec Superior Court on </a:t>
            </a:r>
            <a:r>
              <a:rPr lang="en-US" sz="7400" dirty="0"/>
              <a:t>December 28, 1984, </a:t>
            </a:r>
            <a:r>
              <a:rPr lang="en-US" sz="7400" dirty="0" smtClean="0"/>
              <a:t>which</a:t>
            </a:r>
            <a:r>
              <a:rPr lang="en-US" sz="7400" dirty="0"/>
              <a:t>, on an </a:t>
            </a:r>
            <a:r>
              <a:rPr lang="en-US" sz="7400" dirty="0" smtClean="0"/>
              <a:t> application </a:t>
            </a:r>
            <a:r>
              <a:rPr lang="en-US" sz="7400" dirty="0"/>
              <a:t>for a declaratory judgment, declared s. 58 </a:t>
            </a:r>
            <a:r>
              <a:rPr lang="en-US" sz="7400" dirty="0" smtClean="0"/>
              <a:t> and s. 69 of </a:t>
            </a:r>
            <a:r>
              <a:rPr lang="en-US" sz="7400" dirty="0"/>
              <a:t>the </a:t>
            </a:r>
            <a:r>
              <a:rPr lang="en-US" sz="7400" i="1" dirty="0"/>
              <a:t>Charter of the French Language</a:t>
            </a:r>
            <a:r>
              <a:rPr lang="en-US" sz="7400" dirty="0"/>
              <a:t> to be </a:t>
            </a:r>
            <a:r>
              <a:rPr lang="en-US" sz="7400" dirty="0" smtClean="0"/>
              <a:t> inoperative  and no force or effect to </a:t>
            </a:r>
            <a:r>
              <a:rPr lang="en-US" sz="7400" dirty="0"/>
              <a:t>the extent that it prescribes that public signs and posters and commercial advertising </a:t>
            </a:r>
            <a:r>
              <a:rPr lang="en-US" sz="7400" dirty="0" smtClean="0"/>
              <a:t> shall </a:t>
            </a:r>
            <a:r>
              <a:rPr lang="en-US" sz="7400" dirty="0"/>
              <a:t>be solely in the French </a:t>
            </a:r>
            <a:r>
              <a:rPr lang="en-US" sz="7400" dirty="0" smtClean="0"/>
              <a:t>language.</a:t>
            </a:r>
          </a:p>
          <a:p>
            <a:pPr marL="365760" indent="-256032" eaLnBrk="1" fontAlgn="auto" hangingPunct="1">
              <a:spcAft>
                <a:spcPts val="0"/>
              </a:spcAft>
              <a:buFont typeface="Wingdings 3"/>
              <a:buNone/>
              <a:defRPr/>
            </a:pPr>
            <a:r>
              <a:rPr lang="en-US" sz="7400" u="sng" dirty="0" smtClean="0">
                <a:hlinkClick r:id="rId3" tooltip="Charter of the French Language"/>
              </a:rPr>
              <a:t>Charter of the French Language</a:t>
            </a:r>
            <a:r>
              <a:rPr lang="en-US" sz="7400" dirty="0" smtClean="0"/>
              <a:t>, (Bill 101)  established  by the </a:t>
            </a:r>
            <a:r>
              <a:rPr lang="en-US" sz="7400" u="sng" dirty="0" smtClean="0">
                <a:hlinkClick r:id="rId4" tooltip="National Assembly of Quebec"/>
              </a:rPr>
              <a:t>National Assembly of Quebec</a:t>
            </a:r>
            <a:r>
              <a:rPr lang="en-US" sz="7400" dirty="0" smtClean="0"/>
              <a:t> in 1977.</a:t>
            </a:r>
          </a:p>
          <a:p>
            <a:pPr marL="365760" indent="-256032" eaLnBrk="1" fontAlgn="auto" hangingPunct="1">
              <a:spcAft>
                <a:spcPts val="0"/>
              </a:spcAft>
              <a:buFont typeface="Wingdings 3"/>
              <a:buChar char=""/>
              <a:defRPr/>
            </a:pPr>
            <a:r>
              <a:rPr lang="en-US" sz="7400" b="1" dirty="0" smtClean="0"/>
              <a:t>s. 58.</a:t>
            </a:r>
            <a:r>
              <a:rPr lang="en-US" sz="7400" dirty="0" smtClean="0"/>
              <a:t> Public signs and posters and commercial advertising shall be solely in the official language.</a:t>
            </a:r>
          </a:p>
          <a:p>
            <a:pPr marL="365760" indent="-256032" eaLnBrk="1" fontAlgn="auto" hangingPunct="1">
              <a:spcAft>
                <a:spcPts val="0"/>
              </a:spcAft>
              <a:buFont typeface="Wingdings 3"/>
              <a:buChar char=""/>
              <a:defRPr/>
            </a:pPr>
            <a:r>
              <a:rPr lang="en-US" sz="7400" b="1" dirty="0" smtClean="0"/>
              <a:t>s.69.</a:t>
            </a:r>
            <a:r>
              <a:rPr lang="en-US" sz="7400" dirty="0" smtClean="0"/>
              <a:t> Subject to section 68, only the French version of a firm name may be used in Québec.</a:t>
            </a:r>
          </a:p>
          <a:p>
            <a:pPr marL="365760" indent="-256032" eaLnBrk="1" fontAlgn="auto" hangingPunct="1">
              <a:spcAft>
                <a:spcPts val="0"/>
              </a:spcAft>
              <a:buFont typeface="Wingdings 3"/>
              <a:buNone/>
              <a:defRPr/>
            </a:pPr>
            <a:endParaRPr lang="en-US" sz="2400" dirty="0" smtClean="0"/>
          </a:p>
          <a:p>
            <a:pPr marL="365760" indent="-256032" eaLnBrk="1" fontAlgn="auto" hangingPunct="1">
              <a:spcAft>
                <a:spcPts val="0"/>
              </a:spcAft>
              <a:buFont typeface="Wingdings 3"/>
              <a:buChar char=""/>
              <a:defRPr/>
            </a:pPr>
            <a:endParaRPr lang="en-US" dirty="0"/>
          </a:p>
        </p:txBody>
      </p:sp>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t>History of the case </a:t>
            </a:r>
            <a:br>
              <a:rPr lang="en-US" dirty="0" smtClean="0"/>
            </a:b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pPr marL="365760" indent="-256032" eaLnBrk="1" fontAlgn="auto" hangingPunct="1">
              <a:spcAft>
                <a:spcPts val="0"/>
              </a:spcAft>
              <a:buFont typeface="Wingdings 3"/>
              <a:buNone/>
              <a:defRPr/>
            </a:pPr>
            <a:r>
              <a:rPr lang="en-US" b="1" dirty="0" smtClean="0"/>
              <a:t>Chief </a:t>
            </a:r>
            <a:r>
              <a:rPr lang="en-US" b="1" dirty="0"/>
              <a:t>Justice Dickson &amp; Justice  </a:t>
            </a:r>
            <a:r>
              <a:rPr lang="en-US" b="1" dirty="0" err="1"/>
              <a:t>Beetz</a:t>
            </a:r>
            <a:r>
              <a:rPr lang="en-US" b="1" dirty="0"/>
              <a:t>,  McIntire, Lamer, </a:t>
            </a:r>
            <a:r>
              <a:rPr lang="en-US" b="1" dirty="0" smtClean="0"/>
              <a:t>Wilson</a:t>
            </a:r>
            <a:endParaRPr lang="en-US" dirty="0"/>
          </a:p>
          <a:p>
            <a:pPr marL="365760" indent="-256032" eaLnBrk="1" fontAlgn="auto" hangingPunct="1">
              <a:spcAft>
                <a:spcPts val="0"/>
              </a:spcAft>
              <a:buFont typeface="Wingdings 3"/>
              <a:buNone/>
              <a:defRPr/>
            </a:pPr>
            <a:r>
              <a:rPr lang="en-US" b="1" dirty="0" smtClean="0"/>
              <a:t>(</a:t>
            </a:r>
            <a:r>
              <a:rPr lang="en-US" dirty="0" err="1"/>
              <a:t>Estey</a:t>
            </a:r>
            <a:r>
              <a:rPr lang="en-US" dirty="0"/>
              <a:t> and Le Dain JJ. took no part in the judgment)</a:t>
            </a:r>
          </a:p>
          <a:p>
            <a:pPr marL="365760" indent="-256032" eaLnBrk="1" fontAlgn="auto" hangingPunct="1">
              <a:spcAft>
                <a:spcPts val="0"/>
              </a:spcAft>
              <a:buFont typeface="Wingdings 3"/>
              <a:buChar char=""/>
              <a:defRPr/>
            </a:pPr>
            <a:endParaRPr lang="en-US" sz="3400" dirty="0"/>
          </a:p>
          <a:p>
            <a:pPr marL="365760" indent="-256032" eaLnBrk="1" fontAlgn="auto" hangingPunct="1">
              <a:spcAft>
                <a:spcPts val="0"/>
              </a:spcAft>
              <a:buFont typeface="Wingdings 3"/>
              <a:buChar char=""/>
              <a:defRPr/>
            </a:pPr>
            <a:r>
              <a:rPr lang="en-US" sz="3400" dirty="0" smtClean="0"/>
              <a:t>	The </a:t>
            </a:r>
            <a:r>
              <a:rPr lang="en-US" sz="3400" dirty="0"/>
              <a:t>court decided that the appeal should be </a:t>
            </a:r>
            <a:r>
              <a:rPr lang="en-US" sz="3400" dirty="0" smtClean="0"/>
              <a:t>dismissed.</a:t>
            </a:r>
          </a:p>
          <a:p>
            <a:pPr marL="365760" indent="-256032" eaLnBrk="1" fontAlgn="auto" hangingPunct="1">
              <a:spcAft>
                <a:spcPts val="0"/>
              </a:spcAft>
              <a:buFont typeface="Wingdings 3"/>
              <a:buChar char=""/>
              <a:defRPr/>
            </a:pPr>
            <a:endParaRPr lang="en-US" sz="3400" dirty="0" smtClean="0"/>
          </a:p>
          <a:p>
            <a:pPr marL="365760" indent="-256032" eaLnBrk="1" fontAlgn="auto" hangingPunct="1">
              <a:spcAft>
                <a:spcPts val="0"/>
              </a:spcAft>
              <a:buFont typeface="Wingdings 3"/>
              <a:buChar char=""/>
              <a:defRPr/>
            </a:pPr>
            <a:r>
              <a:rPr lang="en-US" sz="3400" dirty="0" smtClean="0"/>
              <a:t>   Sections </a:t>
            </a:r>
            <a:r>
              <a:rPr lang="en-US" sz="3400" dirty="0"/>
              <a:t>58 and 69 of the </a:t>
            </a:r>
            <a:r>
              <a:rPr lang="en-US" sz="3400" i="1" dirty="0"/>
              <a:t>Charter of the French Language</a:t>
            </a:r>
            <a:r>
              <a:rPr lang="en-US" sz="3400" dirty="0"/>
              <a:t>, and ss. 205 to 208 thereof to the extent they apply to ss. 58 and 69, infringe s. 3 of the Quebec </a:t>
            </a:r>
            <a:r>
              <a:rPr lang="en-US" sz="3400" i="1" dirty="0"/>
              <a:t>Charter</a:t>
            </a:r>
            <a:r>
              <a:rPr lang="en-US" sz="3400" dirty="0"/>
              <a:t> and are not justified under s. 9.1 of the Quebec </a:t>
            </a:r>
            <a:r>
              <a:rPr lang="en-US" sz="3400" i="1" dirty="0"/>
              <a:t>Charter</a:t>
            </a:r>
            <a:r>
              <a:rPr lang="en-US" sz="3400" dirty="0"/>
              <a:t>. Section 69, and ss. 205 to 208 to the extent they apply to s. 69, infringe s. 2(</a:t>
            </a:r>
            <a:r>
              <a:rPr lang="en-US" sz="3400" i="1" dirty="0"/>
              <a:t>b</a:t>
            </a:r>
            <a:r>
              <a:rPr lang="en-US" sz="3400" dirty="0"/>
              <a:t>) of the Canadian </a:t>
            </a:r>
            <a:r>
              <a:rPr lang="en-US" sz="3400" i="1" dirty="0"/>
              <a:t>Charter</a:t>
            </a:r>
            <a:r>
              <a:rPr lang="en-US" sz="3400" dirty="0"/>
              <a:t> and are not justified by s. 1 of the Canadian </a:t>
            </a:r>
            <a:r>
              <a:rPr lang="en-US" sz="3400" i="1" dirty="0"/>
              <a:t>Charter</a:t>
            </a:r>
            <a:r>
              <a:rPr lang="en-US" sz="3400" dirty="0"/>
              <a:t>. </a:t>
            </a:r>
            <a:endParaRPr lang="en-US" sz="3400" dirty="0" smtClean="0"/>
          </a:p>
          <a:p>
            <a:pPr marL="365760" indent="-256032" eaLnBrk="1" fontAlgn="auto" hangingPunct="1">
              <a:spcAft>
                <a:spcPts val="0"/>
              </a:spcAft>
              <a:buFont typeface="Wingdings 3"/>
              <a:buChar char=""/>
              <a:defRPr/>
            </a:pPr>
            <a:endParaRPr lang="en-US" sz="3400" dirty="0" smtClean="0"/>
          </a:p>
          <a:p>
            <a:pPr marL="365760" indent="-256032" eaLnBrk="1" fontAlgn="auto" hangingPunct="1">
              <a:spcAft>
                <a:spcPts val="0"/>
              </a:spcAft>
              <a:buFont typeface="Wingdings 3"/>
              <a:buChar char=""/>
              <a:defRPr/>
            </a:pPr>
            <a:r>
              <a:rPr lang="en-US" sz="3400" dirty="0" smtClean="0"/>
              <a:t>	Sections </a:t>
            </a:r>
            <a:r>
              <a:rPr lang="en-US" sz="3400" dirty="0"/>
              <a:t>58 and 69 infringe s. 10 of the Quebec </a:t>
            </a:r>
            <a:r>
              <a:rPr lang="en-US" sz="3400" i="1" dirty="0"/>
              <a:t>Charter</a:t>
            </a:r>
            <a:r>
              <a:rPr lang="en-US" sz="3400" dirty="0"/>
              <a:t>.</a:t>
            </a:r>
          </a:p>
          <a:p>
            <a:pPr marL="365760" indent="-256032" eaLnBrk="1" fontAlgn="auto" hangingPunct="1">
              <a:spcAft>
                <a:spcPts val="0"/>
              </a:spcAft>
              <a:buFont typeface="Wingdings 3"/>
              <a:buChar char=""/>
              <a:defRPr/>
            </a:pPr>
            <a:endParaRPr lang="en-US" dirty="0"/>
          </a:p>
        </p:txBody>
      </p:sp>
      <p:sp>
        <p:nvSpPr>
          <p:cNvPr id="2" name="Title 1"/>
          <p:cNvSpPr>
            <a:spLocks noGrp="1"/>
          </p:cNvSpPr>
          <p:nvPr>
            <p:ph type="title"/>
          </p:nvPr>
        </p:nvSpPr>
        <p:spPr/>
        <p:txBody>
          <a:bodyPr/>
          <a:lstStyle/>
          <a:p>
            <a:pPr eaLnBrk="1" fontAlgn="auto" hangingPunct="1">
              <a:spcAft>
                <a:spcPts val="0"/>
              </a:spcAft>
              <a:defRPr/>
            </a:pPr>
            <a:r>
              <a:rPr lang="en-US" dirty="0" smtClean="0"/>
              <a:t>Decision </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marL="365760" indent="-256032" eaLnBrk="1" fontAlgn="auto" hangingPunct="1">
              <a:spcAft>
                <a:spcPts val="0"/>
              </a:spcAft>
              <a:buFont typeface="Wingdings 3"/>
              <a:buChar char=""/>
              <a:defRPr/>
            </a:pPr>
            <a:r>
              <a:rPr lang="en-US" sz="2600" dirty="0"/>
              <a:t>Basically , the </a:t>
            </a:r>
            <a:r>
              <a:rPr lang="en-US" sz="2600" dirty="0">
                <a:hlinkClick r:id="rId2" tooltip="Supreme Court of Canada"/>
              </a:rPr>
              <a:t>Supreme Court of Canada</a:t>
            </a:r>
            <a:r>
              <a:rPr lang="en-US" sz="2600" dirty="0"/>
              <a:t> decision struck down part of the </a:t>
            </a:r>
            <a:r>
              <a:rPr lang="en-US" sz="2600" dirty="0">
                <a:hlinkClick r:id="rId3" tooltip="Charter of the French Language"/>
              </a:rPr>
              <a:t>Charter of the French </a:t>
            </a:r>
            <a:r>
              <a:rPr lang="en-US" sz="2600" dirty="0" smtClean="0">
                <a:hlinkClick r:id="rId3" tooltip="Charter of the French Language"/>
              </a:rPr>
              <a:t>Language</a:t>
            </a:r>
            <a:r>
              <a:rPr lang="en-US" sz="2600" dirty="0" smtClean="0"/>
              <a:t> (</a:t>
            </a:r>
            <a:r>
              <a:rPr lang="en-US" sz="2600" dirty="0" smtClean="0">
                <a:hlinkClick r:id="rId4" tooltip="Bill 101"/>
              </a:rPr>
              <a:t>Bill 101</a:t>
            </a:r>
            <a:r>
              <a:rPr lang="en-US" sz="2600" dirty="0" smtClean="0"/>
              <a:t>). </a:t>
            </a:r>
            <a:r>
              <a:rPr lang="en-US" sz="2600" dirty="0"/>
              <a:t>The court ruled that Bill 101 violated the </a:t>
            </a:r>
            <a:r>
              <a:rPr lang="en-US" sz="2600" dirty="0">
                <a:hlinkClick r:id="rId5" tooltip="Freedom of expression"/>
              </a:rPr>
              <a:t>freedom of expression</a:t>
            </a:r>
            <a:r>
              <a:rPr lang="en-US" sz="2600" dirty="0"/>
              <a:t> as guaranteed in the </a:t>
            </a:r>
            <a:r>
              <a:rPr lang="en-US" sz="2600" dirty="0">
                <a:hlinkClick r:id="rId6" tooltip="Canadian Charter of Rights and Freedoms"/>
              </a:rPr>
              <a:t>Canadian </a:t>
            </a:r>
            <a:r>
              <a:rPr lang="en-US" sz="2600" dirty="0" smtClean="0">
                <a:hlinkClick r:id="rId6" tooltip="Canadian Charter of Rights and Freedoms"/>
              </a:rPr>
              <a:t>Charter </a:t>
            </a:r>
            <a:r>
              <a:rPr lang="en-US" sz="2600" dirty="0">
                <a:hlinkClick r:id="rId6" tooltip="Canadian Charter of Rights and Freedoms"/>
              </a:rPr>
              <a:t>of Rights and Freedoms</a:t>
            </a:r>
            <a:r>
              <a:rPr lang="en-US" sz="2600" dirty="0"/>
              <a:t>. </a:t>
            </a:r>
            <a:endParaRPr lang="en-US" sz="2600" dirty="0" smtClean="0"/>
          </a:p>
          <a:p>
            <a:pPr marL="365760" indent="-256032" eaLnBrk="1" fontAlgn="auto" hangingPunct="1">
              <a:spcAft>
                <a:spcPts val="0"/>
              </a:spcAft>
              <a:buFont typeface="Wingdings 3"/>
              <a:buChar char=""/>
              <a:defRPr/>
            </a:pPr>
            <a:endParaRPr lang="en-US" sz="2600" dirty="0" smtClean="0"/>
          </a:p>
          <a:p>
            <a:pPr marL="365760" indent="-256032" eaLnBrk="1" fontAlgn="auto" hangingPunct="1">
              <a:spcAft>
                <a:spcPts val="0"/>
              </a:spcAft>
              <a:buFont typeface="Wingdings 3"/>
              <a:buChar char=""/>
              <a:defRPr/>
            </a:pPr>
            <a:r>
              <a:rPr lang="en-US" sz="2600" dirty="0"/>
              <a:t>The Supreme Court ruled that the sections of the Charter of the French Language enforcing the exclusive use of French on outdoor commercial signs were unconstitutional</a:t>
            </a:r>
            <a:r>
              <a:rPr lang="en-US" sz="2600" dirty="0" smtClean="0"/>
              <a:t>.</a:t>
            </a:r>
          </a:p>
          <a:p>
            <a:pPr marL="365760" indent="-256032" eaLnBrk="1" fontAlgn="auto" hangingPunct="1">
              <a:spcAft>
                <a:spcPts val="0"/>
              </a:spcAft>
              <a:buFont typeface="Wingdings 3"/>
              <a:buChar char=""/>
              <a:defRPr/>
            </a:pPr>
            <a:endParaRPr lang="en-US" sz="2600" dirty="0" smtClean="0"/>
          </a:p>
          <a:p>
            <a:pPr marL="365760" indent="-256032" eaLnBrk="1" fontAlgn="auto" hangingPunct="1">
              <a:spcAft>
                <a:spcPts val="0"/>
              </a:spcAft>
              <a:buFont typeface="Wingdings 3"/>
              <a:buChar char=""/>
              <a:defRPr/>
            </a:pPr>
            <a:r>
              <a:rPr lang="en-US" sz="2600" dirty="0" smtClean="0"/>
              <a:t>The attack on sections of Bill 101 making French the exclusive language for commercial signs and firms names was based not on specific language rights but on the right of freedom of expression – a right found in s. 2(b)  of the Canadian Charter as well as in Quebec’s Charter of</a:t>
            </a:r>
            <a:r>
              <a:rPr lang="en-US" sz="2600" i="1" dirty="0" smtClean="0"/>
              <a:t> Human Rights and Freedoms</a:t>
            </a:r>
            <a:r>
              <a:rPr lang="en-US" sz="2600" dirty="0" smtClean="0"/>
              <a:t>.  </a:t>
            </a:r>
          </a:p>
          <a:p>
            <a:pPr marL="365760" indent="-256032" eaLnBrk="1" fontAlgn="auto" hangingPunct="1">
              <a:spcAft>
                <a:spcPts val="0"/>
              </a:spcAft>
              <a:buFont typeface="Wingdings 3"/>
              <a:buChar char=""/>
              <a:defRPr/>
            </a:pPr>
            <a:endParaRPr lang="en-US" sz="2600" dirty="0" smtClean="0"/>
          </a:p>
          <a:p>
            <a:pPr marL="365760" indent="-256032" eaLnBrk="1" fontAlgn="auto" hangingPunct="1">
              <a:spcAft>
                <a:spcPts val="0"/>
              </a:spcAft>
              <a:buFont typeface="Wingdings 3"/>
              <a:buChar char=""/>
              <a:defRPr/>
            </a:pPr>
            <a:endParaRPr lang="en-US" sz="2600" dirty="0" smtClean="0"/>
          </a:p>
          <a:p>
            <a:pPr marL="365760" indent="-256032" eaLnBrk="1" fontAlgn="auto" hangingPunct="1">
              <a:spcAft>
                <a:spcPts val="0"/>
              </a:spcAft>
              <a:buFont typeface="Wingdings 3"/>
              <a:buNone/>
              <a:defRPr/>
            </a:pPr>
            <a:endParaRPr lang="en-US" dirty="0"/>
          </a:p>
          <a:p>
            <a:pPr marL="365760" indent="-256032" eaLnBrk="1" fontAlgn="auto" hangingPunct="1">
              <a:spcAft>
                <a:spcPts val="0"/>
              </a:spcAft>
              <a:buFont typeface="Wingdings 3"/>
              <a:buChar char=""/>
              <a:defRPr/>
            </a:pPr>
            <a:endParaRPr lang="en-US" dirty="0"/>
          </a:p>
        </p:txBody>
      </p:sp>
      <p:sp>
        <p:nvSpPr>
          <p:cNvPr id="2" name="Title 1"/>
          <p:cNvSpPr>
            <a:spLocks noGrp="1"/>
          </p:cNvSpPr>
          <p:nvPr>
            <p:ph type="title"/>
          </p:nvPr>
        </p:nvSpPr>
        <p:spPr/>
        <p:txBody>
          <a:bodyPr/>
          <a:lstStyle/>
          <a:p>
            <a:pPr eaLnBrk="1" fontAlgn="auto" hangingPunct="1">
              <a:spcAft>
                <a:spcPts val="0"/>
              </a:spcAft>
              <a:defRPr/>
            </a:pPr>
            <a:r>
              <a:rPr lang="en-US" dirty="0" smtClean="0"/>
              <a:t>Decision </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Content Placeholder 2"/>
          <p:cNvSpPr>
            <a:spLocks noGrp="1"/>
          </p:cNvSpPr>
          <p:nvPr>
            <p:ph idx="1"/>
          </p:nvPr>
        </p:nvSpPr>
        <p:spPr>
          <a:xfrm>
            <a:off x="457200" y="1600200"/>
            <a:ext cx="8229600" cy="4525963"/>
          </a:xfrm>
        </p:spPr>
        <p:txBody>
          <a:bodyPr/>
          <a:lstStyle/>
          <a:p>
            <a:pPr eaLnBrk="1" hangingPunct="1"/>
            <a:r>
              <a:rPr lang="en-US" sz="2800" smtClean="0"/>
              <a:t>The Supreme Court remarked that the Quebec government could legitimately require French to have "greater visibility" or "marked predominance" on exterior commercial signs: however, it could not enforce the exclusive use of French.</a:t>
            </a:r>
            <a:endParaRPr lang="en-US" smtClean="0"/>
          </a:p>
          <a:p>
            <a:pPr eaLnBrk="1" hangingPunct="1"/>
            <a:endParaRPr lang="en-US" smtClean="0"/>
          </a:p>
          <a:p>
            <a:pPr eaLnBrk="1" hangingPunct="1"/>
            <a:r>
              <a:rPr lang="en-US" smtClean="0"/>
              <a:t>The court made it easier for legislatures to use s. 33 of the </a:t>
            </a:r>
            <a:r>
              <a:rPr lang="en-US" i="1" smtClean="0"/>
              <a:t>Charter</a:t>
            </a:r>
            <a:r>
              <a:rPr lang="en-US" smtClean="0"/>
              <a:t>, the override clause, to immunize their laws from judicial review.  </a:t>
            </a:r>
          </a:p>
          <a:p>
            <a:pPr eaLnBrk="1" hangingPunct="1"/>
            <a:endParaRPr lang="en-US" smtClean="0"/>
          </a:p>
        </p:txBody>
      </p:sp>
      <p:sp>
        <p:nvSpPr>
          <p:cNvPr id="2" name="Title 1"/>
          <p:cNvSpPr>
            <a:spLocks noGrp="1"/>
          </p:cNvSpPr>
          <p:nvPr>
            <p:ph type="title"/>
          </p:nvPr>
        </p:nvSpPr>
        <p:spPr/>
        <p:txBody>
          <a:bodyPr/>
          <a:lstStyle/>
          <a:p>
            <a:pPr algn="ctr" eaLnBrk="1" fontAlgn="auto" hangingPunct="1">
              <a:spcAft>
                <a:spcPts val="0"/>
              </a:spcAft>
              <a:defRPr/>
            </a:pPr>
            <a:r>
              <a:rPr lang="en-US" dirty="0" smtClean="0"/>
              <a:t>Decision </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pPr marL="365760" indent="-256032" eaLnBrk="1" fontAlgn="auto" hangingPunct="1">
              <a:spcAft>
                <a:spcPts val="0"/>
              </a:spcAft>
              <a:buFont typeface="Wingdings 3"/>
              <a:buChar char=""/>
              <a:defRPr/>
            </a:pPr>
            <a:r>
              <a:rPr lang="en-US" dirty="0" smtClean="0"/>
              <a:t>After the Supreme Court's decision, </a:t>
            </a:r>
            <a:r>
              <a:rPr lang="en-US" u="sng" dirty="0" smtClean="0">
                <a:hlinkClick r:id="rId2" tooltip="Premier"/>
              </a:rPr>
              <a:t>premier</a:t>
            </a:r>
            <a:r>
              <a:rPr lang="en-US" dirty="0" smtClean="0"/>
              <a:t> </a:t>
            </a:r>
            <a:r>
              <a:rPr lang="en-US" u="sng" dirty="0" smtClean="0">
                <a:hlinkClick r:id="rId3" tooltip="Robert Bourassa"/>
              </a:rPr>
              <a:t>Robert Bourassa</a:t>
            </a:r>
            <a:r>
              <a:rPr lang="en-US" dirty="0" smtClean="0"/>
              <a:t>'s </a:t>
            </a:r>
            <a:r>
              <a:rPr lang="en-US" u="sng" dirty="0" smtClean="0">
                <a:hlinkClick r:id="rId4" tooltip="Liberal Party of Quebec"/>
              </a:rPr>
              <a:t>Liberal Party of Quebec</a:t>
            </a:r>
            <a:r>
              <a:rPr lang="en-US" dirty="0" smtClean="0"/>
              <a:t> government passed </a:t>
            </a:r>
            <a:r>
              <a:rPr lang="en-US" u="sng" dirty="0" smtClean="0">
                <a:hlinkClick r:id="rId5" tooltip="Bill 178 (page does not exist)"/>
              </a:rPr>
              <a:t>Bill 178</a:t>
            </a:r>
            <a:r>
              <a:rPr lang="en-US" dirty="0" smtClean="0"/>
              <a:t>, making minor amendments to the </a:t>
            </a:r>
            <a:r>
              <a:rPr lang="en-US" u="sng" dirty="0" smtClean="0">
                <a:hlinkClick r:id="rId6" tooltip="Charter of the French Language"/>
              </a:rPr>
              <a:t>Charter of the French Language</a:t>
            </a:r>
            <a:r>
              <a:rPr lang="en-US" dirty="0" smtClean="0"/>
              <a:t>. Recognizing that the amendments did not follow the Supreme Court's ruling, the provincial legislature invoked </a:t>
            </a:r>
            <a:r>
              <a:rPr lang="en-US" u="sng" dirty="0" smtClean="0">
                <a:hlinkClick r:id="rId7" tooltip="Section Thirty-three of the Canadian Charter of Rights and Freedoms"/>
              </a:rPr>
              <a:t>section 33</a:t>
            </a:r>
            <a:r>
              <a:rPr lang="en-US" dirty="0" smtClean="0"/>
              <a:t> of the Canadian Charter  to shield Bill 178 from review by courts for five years.</a:t>
            </a:r>
          </a:p>
          <a:p>
            <a:pPr marL="365760" indent="-256032" eaLnBrk="1" fontAlgn="auto" hangingPunct="1">
              <a:spcAft>
                <a:spcPts val="0"/>
              </a:spcAft>
              <a:buFont typeface="Wingdings 3"/>
              <a:buChar char=""/>
              <a:defRPr/>
            </a:pPr>
            <a:r>
              <a:rPr lang="en-US" dirty="0" smtClean="0"/>
              <a:t>This move was politically controversial, both among </a:t>
            </a:r>
            <a:r>
              <a:rPr lang="en-US" dirty="0" smtClean="0">
                <a:hlinkClick r:id="rId8" tooltip="Quebec nationalism"/>
              </a:rPr>
              <a:t>Quebec nationalists</a:t>
            </a:r>
            <a:r>
              <a:rPr lang="en-US" dirty="0" smtClean="0"/>
              <a:t> who were unhappy with the changes to the Charter of the French Language, and among </a:t>
            </a:r>
            <a:r>
              <a:rPr lang="en-US" dirty="0" smtClean="0">
                <a:hlinkClick r:id="rId9" tooltip="English-speaking Quebecer"/>
              </a:rPr>
              <a:t>English-speaking Quebecers</a:t>
            </a:r>
            <a:r>
              <a:rPr lang="en-US" dirty="0" smtClean="0"/>
              <a:t> who opposed the use of the notwithstanding clause. Tension over this issue was a contributing factor to the failure of the </a:t>
            </a:r>
            <a:r>
              <a:rPr lang="en-US" u="sng" dirty="0" err="1" smtClean="0">
                <a:hlinkClick r:id="rId10" tooltip="Meech Lake Accord"/>
              </a:rPr>
              <a:t>Meech</a:t>
            </a:r>
            <a:r>
              <a:rPr lang="en-US" u="sng" dirty="0" smtClean="0">
                <a:hlinkClick r:id="rId10" tooltip="Meech Lake Accord"/>
              </a:rPr>
              <a:t> Lake Accord</a:t>
            </a:r>
            <a:r>
              <a:rPr lang="en-US" u="sng" dirty="0" smtClean="0"/>
              <a:t>.</a:t>
            </a:r>
            <a:endParaRPr lang="en-US" dirty="0" smtClean="0"/>
          </a:p>
          <a:p>
            <a:pPr marL="365760" indent="-256032" eaLnBrk="1" fontAlgn="auto" hangingPunct="1">
              <a:spcAft>
                <a:spcPts val="0"/>
              </a:spcAft>
              <a:buFont typeface="Wingdings 3"/>
              <a:buChar char=""/>
              <a:defRPr/>
            </a:pPr>
            <a:endParaRPr lang="en-US" dirty="0" smtClean="0"/>
          </a:p>
        </p:txBody>
      </p:sp>
      <p:sp>
        <p:nvSpPr>
          <p:cNvPr id="3" name="Title 2"/>
          <p:cNvSpPr>
            <a:spLocks noGrp="1"/>
          </p:cNvSpPr>
          <p:nvPr>
            <p:ph type="title"/>
          </p:nvPr>
        </p:nvSpPr>
        <p:spPr/>
        <p:txBody>
          <a:bodyPr/>
          <a:lstStyle/>
          <a:p>
            <a:pPr eaLnBrk="1" fontAlgn="auto" hangingPunct="1">
              <a:spcAft>
                <a:spcPts val="0"/>
              </a:spcAft>
              <a:defRPr/>
            </a:pPr>
            <a:r>
              <a:rPr lang="en-US" dirty="0" smtClean="0"/>
              <a:t>Aftermath</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marL="365760" indent="-256032" eaLnBrk="1" fontAlgn="auto" hangingPunct="1">
              <a:spcAft>
                <a:spcPts val="0"/>
              </a:spcAft>
              <a:buFont typeface="Wingdings 3"/>
              <a:buChar char=""/>
              <a:defRPr/>
            </a:pPr>
            <a:r>
              <a:rPr lang="en-US" dirty="0" smtClean="0"/>
              <a:t>In 1993, the Charter of the French Language was amended in the manner suggested by the Supreme Court of Canada. </a:t>
            </a:r>
            <a:r>
              <a:rPr lang="en-US" u="sng" dirty="0" smtClean="0">
                <a:hlinkClick r:id="rId2" tooltip="Bill 86"/>
              </a:rPr>
              <a:t>Bill 86</a:t>
            </a:r>
            <a:r>
              <a:rPr lang="en-US" dirty="0" smtClean="0"/>
              <a:t> was enacted by the Bourassa government to amend the charter. It now states that French must be predominant on commercial signs, but a language other than French may also be used.  </a:t>
            </a:r>
          </a:p>
          <a:p>
            <a:pPr marL="365760" indent="-256032" eaLnBrk="1" fontAlgn="auto" hangingPunct="1">
              <a:spcAft>
                <a:spcPts val="0"/>
              </a:spcAft>
              <a:buFont typeface="Wingdings 3"/>
              <a:buNone/>
              <a:defRPr/>
            </a:pPr>
            <a:endParaRPr lang="en-US" dirty="0" smtClean="0"/>
          </a:p>
          <a:p>
            <a:pPr marL="365760" indent="-256032" eaLnBrk="1" fontAlgn="auto" hangingPunct="1">
              <a:spcAft>
                <a:spcPts val="0"/>
              </a:spcAft>
              <a:buFont typeface="Wingdings 3"/>
              <a:buChar char=""/>
              <a:defRPr/>
            </a:pPr>
            <a:r>
              <a:rPr lang="en-US" dirty="0" smtClean="0"/>
              <a:t>English–French bilingualism quickly returned on exterior signs after 1993, especially in Montreal.</a:t>
            </a:r>
          </a:p>
          <a:p>
            <a:pPr marL="365760" indent="-256032" eaLnBrk="1" fontAlgn="auto" hangingPunct="1">
              <a:spcAft>
                <a:spcPts val="0"/>
              </a:spcAft>
              <a:buFont typeface="Wingdings 3"/>
              <a:buChar char=""/>
              <a:defRPr/>
            </a:pPr>
            <a:endParaRPr lang="en-US" dirty="0" smtClean="0"/>
          </a:p>
          <a:p>
            <a:pPr marL="365760" indent="-256032" eaLnBrk="1" fontAlgn="auto" hangingPunct="1">
              <a:spcAft>
                <a:spcPts val="0"/>
              </a:spcAft>
              <a:buFont typeface="Wingdings 3"/>
              <a:buChar char=""/>
              <a:defRPr/>
            </a:pPr>
            <a:endParaRPr lang="en-US" dirty="0"/>
          </a:p>
        </p:txBody>
      </p:sp>
      <p:sp>
        <p:nvSpPr>
          <p:cNvPr id="3" name="Title 2"/>
          <p:cNvSpPr>
            <a:spLocks noGrp="1"/>
          </p:cNvSpPr>
          <p:nvPr>
            <p:ph type="title"/>
          </p:nvPr>
        </p:nvSpPr>
        <p:spPr/>
        <p:txBody>
          <a:bodyPr/>
          <a:lstStyle/>
          <a:p>
            <a:pPr eaLnBrk="1" fontAlgn="auto" hangingPunct="1">
              <a:spcAft>
                <a:spcPts val="0"/>
              </a:spcAft>
              <a:defRPr/>
            </a:pPr>
            <a:r>
              <a:rPr lang="en-US" dirty="0" smtClean="0"/>
              <a:t>Aftermath</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pPr marL="365760" indent="-256032" eaLnBrk="1" fontAlgn="auto" hangingPunct="1">
              <a:spcAft>
                <a:spcPts val="0"/>
              </a:spcAft>
              <a:buFont typeface="Wingdings 3"/>
              <a:buChar char=""/>
              <a:defRPr/>
            </a:pPr>
            <a:endParaRPr lang="en-US" dirty="0" smtClean="0"/>
          </a:p>
          <a:p>
            <a:pPr marL="365760" indent="-256032" eaLnBrk="1" fontAlgn="auto" hangingPunct="1">
              <a:spcAft>
                <a:spcPts val="0"/>
              </a:spcAft>
              <a:buFont typeface="Wingdings 3"/>
              <a:buChar char=""/>
              <a:defRPr/>
            </a:pPr>
            <a:r>
              <a:rPr lang="en-US" dirty="0" smtClean="0"/>
              <a:t>Quebec Sign’s decision (</a:t>
            </a:r>
            <a:r>
              <a:rPr lang="en-US" i="1" dirty="0" smtClean="0"/>
              <a:t>striking down Quebec’s French –only sign law</a:t>
            </a:r>
            <a:r>
              <a:rPr lang="en-US" dirty="0" smtClean="0"/>
              <a:t>) is one of the Court’s most important Charter decision. The decision moved constitutional jurisprudence in two different directions at once: </a:t>
            </a:r>
          </a:p>
          <a:p>
            <a:pPr marL="365760" indent="-256032" eaLnBrk="1" fontAlgn="auto" hangingPunct="1">
              <a:spcAft>
                <a:spcPts val="0"/>
              </a:spcAft>
              <a:buFont typeface="Wingdings 3"/>
              <a:buNone/>
              <a:defRPr/>
            </a:pPr>
            <a:r>
              <a:rPr lang="en-US" dirty="0" smtClean="0"/>
              <a:t>		-embraced a wide interpretation of ‘freedom 	of expression’ as a constitutional right </a:t>
            </a:r>
          </a:p>
          <a:p>
            <a:pPr marL="365760" indent="-256032" eaLnBrk="1" fontAlgn="auto" hangingPunct="1">
              <a:spcAft>
                <a:spcPts val="0"/>
              </a:spcAft>
              <a:buFont typeface="Wingdings 3"/>
              <a:buNone/>
              <a:defRPr/>
            </a:pPr>
            <a:r>
              <a:rPr lang="en-US" dirty="0" smtClean="0"/>
              <a:t>		 -established a broad basis for legislatures to 	use the power they have under s. 33 of the 	</a:t>
            </a:r>
            <a:r>
              <a:rPr lang="en-US" i="1" dirty="0" smtClean="0"/>
              <a:t>Charter</a:t>
            </a:r>
            <a:r>
              <a:rPr lang="en-US" dirty="0" smtClean="0"/>
              <a:t> to override constitutional rights and 	freedoms. </a:t>
            </a:r>
          </a:p>
          <a:p>
            <a:pPr marL="365760" indent="-256032" eaLnBrk="1" fontAlgn="auto" hangingPunct="1">
              <a:spcAft>
                <a:spcPts val="0"/>
              </a:spcAft>
              <a:buFont typeface="Wingdings 3"/>
              <a:buChar char=""/>
              <a:defRPr/>
            </a:pPr>
            <a:r>
              <a:rPr lang="en-US" dirty="0" smtClean="0"/>
              <a:t>The decision had a major impact on constitutional politics in Canada. </a:t>
            </a:r>
          </a:p>
          <a:p>
            <a:pPr marL="365760" indent="-256032" eaLnBrk="1" fontAlgn="auto" hangingPunct="1">
              <a:spcAft>
                <a:spcPts val="0"/>
              </a:spcAft>
              <a:buFont typeface="Wingdings 3"/>
              <a:buChar char=""/>
              <a:defRPr/>
            </a:pPr>
            <a:endParaRPr lang="en-US" dirty="0"/>
          </a:p>
        </p:txBody>
      </p:sp>
      <p:sp>
        <p:nvSpPr>
          <p:cNvPr id="3" name="Title 2"/>
          <p:cNvSpPr>
            <a:spLocks noGrp="1"/>
          </p:cNvSpPr>
          <p:nvPr>
            <p:ph type="title"/>
          </p:nvPr>
        </p:nvSpPr>
        <p:spPr/>
        <p:txBody>
          <a:bodyPr/>
          <a:lstStyle/>
          <a:p>
            <a:pPr eaLnBrk="1" fontAlgn="auto" hangingPunct="1">
              <a:spcAft>
                <a:spcPts val="0"/>
              </a:spcAft>
              <a:defRPr/>
            </a:pPr>
            <a:r>
              <a:rPr lang="en-US" dirty="0" smtClean="0"/>
              <a:t>Conclusion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1447800"/>
            <a:ext cx="8229600" cy="4525963"/>
          </a:xfrm>
        </p:spPr>
        <p:txBody>
          <a:bodyPr>
            <a:normAutofit fontScale="92500" lnSpcReduction="20000"/>
          </a:bodyPr>
          <a:lstStyle/>
          <a:p>
            <a:pPr marL="365760" indent="-256032" eaLnBrk="1" fontAlgn="auto" hangingPunct="1">
              <a:spcAft>
                <a:spcPts val="0"/>
              </a:spcAft>
              <a:buFont typeface="Wingdings 3"/>
              <a:buNone/>
              <a:defRPr/>
            </a:pPr>
            <a:endParaRPr lang="en-US" sz="2000" dirty="0" smtClean="0"/>
          </a:p>
          <a:p>
            <a:pPr marL="365760" indent="-256032" eaLnBrk="1" fontAlgn="auto" hangingPunct="1">
              <a:spcAft>
                <a:spcPts val="0"/>
              </a:spcAft>
              <a:buFont typeface="Wingdings 3"/>
              <a:buChar char=""/>
              <a:defRPr/>
            </a:pPr>
            <a:r>
              <a:rPr lang="en-US" sz="2000" i="1" dirty="0" smtClean="0"/>
              <a:t>Charter of the French </a:t>
            </a:r>
            <a:r>
              <a:rPr lang="en-US" sz="2000" dirty="0" smtClean="0"/>
              <a:t> </a:t>
            </a:r>
            <a:r>
              <a:rPr lang="en-US" sz="2000" i="1" dirty="0" smtClean="0"/>
              <a:t>Language</a:t>
            </a:r>
            <a:r>
              <a:rPr lang="en-US" sz="2000" dirty="0" smtClean="0"/>
              <a:t>, R.S.Q., c. C‑11.</a:t>
            </a:r>
          </a:p>
          <a:p>
            <a:pPr marL="365760" indent="-256032" eaLnBrk="1" fontAlgn="auto" hangingPunct="1">
              <a:spcAft>
                <a:spcPts val="0"/>
              </a:spcAft>
              <a:buFont typeface="Wingdings 3"/>
              <a:buChar char=""/>
              <a:defRPr/>
            </a:pPr>
            <a:endParaRPr lang="en-US" sz="2000" dirty="0" smtClean="0"/>
          </a:p>
          <a:p>
            <a:pPr marL="365760" indent="-256032" eaLnBrk="1" fontAlgn="auto" hangingPunct="1">
              <a:spcAft>
                <a:spcPts val="0"/>
              </a:spcAft>
              <a:buFont typeface="Wingdings 3"/>
              <a:buChar char=""/>
              <a:defRPr/>
            </a:pPr>
            <a:r>
              <a:rPr lang="en-US" sz="2000" i="1" dirty="0" smtClean="0"/>
              <a:t>The Constitution Act, 1982</a:t>
            </a:r>
            <a:r>
              <a:rPr lang="en-US" sz="2000" dirty="0" smtClean="0"/>
              <a:t>, being Schedule B to the </a:t>
            </a:r>
            <a:r>
              <a:rPr lang="en-US" sz="2000" i="1" dirty="0" smtClean="0">
                <a:hlinkClick r:id="rId2"/>
              </a:rPr>
              <a:t>Canada Act 1982</a:t>
            </a:r>
            <a:r>
              <a:rPr lang="en-US" sz="2000" dirty="0" smtClean="0">
                <a:hlinkClick r:id="rId2"/>
              </a:rPr>
              <a:t> (UK), 1982, c 11</a:t>
            </a:r>
            <a:r>
              <a:rPr lang="en-US" sz="2000" dirty="0" smtClean="0"/>
              <a:t>.</a:t>
            </a:r>
          </a:p>
          <a:p>
            <a:pPr marL="365760" indent="-256032" eaLnBrk="1" fontAlgn="auto" hangingPunct="1">
              <a:spcAft>
                <a:spcPts val="0"/>
              </a:spcAft>
              <a:buFont typeface="Wingdings 3"/>
              <a:buChar char=""/>
              <a:defRPr/>
            </a:pPr>
            <a:endParaRPr lang="en-US" sz="2000" dirty="0" smtClean="0"/>
          </a:p>
          <a:p>
            <a:pPr marL="365760" indent="-256032" eaLnBrk="1" fontAlgn="auto" hangingPunct="1">
              <a:spcAft>
                <a:spcPts val="0"/>
              </a:spcAft>
              <a:buFont typeface="Wingdings 3"/>
              <a:buChar char=""/>
              <a:defRPr/>
            </a:pPr>
            <a:r>
              <a:rPr lang="en-US" sz="2000" dirty="0" smtClean="0"/>
              <a:t>Quebec </a:t>
            </a:r>
            <a:r>
              <a:rPr lang="en-US" sz="2000" i="1" dirty="0" smtClean="0"/>
              <a:t>Charter of Human Rights and Freedoms</a:t>
            </a:r>
            <a:r>
              <a:rPr lang="en-US" sz="2000" dirty="0" smtClean="0"/>
              <a:t>, R.S.Q., c. C‑12.</a:t>
            </a:r>
          </a:p>
          <a:p>
            <a:pPr marL="365760" indent="-256032" eaLnBrk="1" fontAlgn="auto" hangingPunct="1">
              <a:spcAft>
                <a:spcPts val="0"/>
              </a:spcAft>
              <a:buFont typeface="Wingdings 3"/>
              <a:buChar char=""/>
              <a:defRPr/>
            </a:pPr>
            <a:endParaRPr lang="en-US" sz="2000" i="1" dirty="0" smtClean="0"/>
          </a:p>
          <a:p>
            <a:pPr marL="365760" indent="-256032" eaLnBrk="1" fontAlgn="auto" hangingPunct="1">
              <a:spcAft>
                <a:spcPts val="0"/>
              </a:spcAft>
              <a:buFont typeface="Wingdings 3"/>
              <a:buChar char=""/>
              <a:defRPr/>
            </a:pPr>
            <a:r>
              <a:rPr lang="en-US" sz="2000" i="1" dirty="0" smtClean="0"/>
              <a:t>Ford  </a:t>
            </a:r>
            <a:r>
              <a:rPr lang="en-US" sz="2000" dirty="0" smtClean="0"/>
              <a:t>v. </a:t>
            </a:r>
            <a:r>
              <a:rPr lang="en-US" sz="2000" i="1" dirty="0" smtClean="0"/>
              <a:t>Quebec (Attorney General)</a:t>
            </a:r>
            <a:r>
              <a:rPr lang="en-US" sz="2000" dirty="0" smtClean="0"/>
              <a:t>, [1988] 2 S.C.R. 712. </a:t>
            </a:r>
          </a:p>
          <a:p>
            <a:pPr marL="365760" indent="-256032" eaLnBrk="1" fontAlgn="auto" hangingPunct="1">
              <a:spcAft>
                <a:spcPts val="0"/>
              </a:spcAft>
              <a:buFont typeface="Wingdings 3"/>
              <a:buChar char=""/>
              <a:defRPr/>
            </a:pPr>
            <a:endParaRPr lang="en-US" sz="2000" dirty="0" smtClean="0"/>
          </a:p>
          <a:p>
            <a:pPr marL="365760" indent="-256032" eaLnBrk="1" fontAlgn="auto" hangingPunct="1">
              <a:spcAft>
                <a:spcPts val="0"/>
              </a:spcAft>
              <a:buFont typeface="Wingdings 3"/>
              <a:buChar char=""/>
              <a:defRPr/>
            </a:pPr>
            <a:r>
              <a:rPr lang="en-US" sz="2000" dirty="0" smtClean="0"/>
              <a:t>Quebec Court of Appeal, [1987] R.J.Q. 80, 5 Q.A.C. 119, 36 D.L.R. (4th) 374.</a:t>
            </a:r>
          </a:p>
          <a:p>
            <a:pPr marL="365760" indent="-256032" eaLnBrk="1" fontAlgn="auto" hangingPunct="1">
              <a:spcAft>
                <a:spcPts val="0"/>
              </a:spcAft>
              <a:buFont typeface="Wingdings 3"/>
              <a:buChar char=""/>
              <a:defRPr/>
            </a:pPr>
            <a:endParaRPr lang="en-US" sz="2000" dirty="0" smtClean="0"/>
          </a:p>
          <a:p>
            <a:pPr marL="365760" indent="-256032" eaLnBrk="1" fontAlgn="auto" hangingPunct="1">
              <a:spcAft>
                <a:spcPts val="0"/>
              </a:spcAft>
              <a:buFont typeface="Wingdings 3"/>
              <a:buChar char=""/>
              <a:defRPr/>
            </a:pPr>
            <a:r>
              <a:rPr lang="en-US" sz="2000" dirty="0" smtClean="0"/>
              <a:t>Superior Court for the District of Montreal, [1985] C.S. 147, 18 D.L.R. (4th</a:t>
            </a:r>
            <a:r>
              <a:rPr lang="en-US" sz="2000" smtClean="0"/>
              <a:t>) 711.</a:t>
            </a:r>
            <a:endParaRPr lang="en-US" sz="2000" dirty="0"/>
          </a:p>
        </p:txBody>
      </p:sp>
      <p:sp>
        <p:nvSpPr>
          <p:cNvPr id="3" name="Title 2"/>
          <p:cNvSpPr>
            <a:spLocks noGrp="1"/>
          </p:cNvSpPr>
          <p:nvPr>
            <p:ph type="title"/>
          </p:nvPr>
        </p:nvSpPr>
        <p:spPr/>
        <p:txBody>
          <a:bodyPr/>
          <a:lstStyle/>
          <a:p>
            <a:pPr eaLnBrk="1" fontAlgn="auto" hangingPunct="1">
              <a:spcAft>
                <a:spcPts val="0"/>
              </a:spcAft>
              <a:defRPr/>
            </a:pPr>
            <a:r>
              <a:rPr lang="en-US" dirty="0" smtClean="0"/>
              <a:t>Citation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Content Placeholder 1"/>
          <p:cNvSpPr>
            <a:spLocks noGrp="1"/>
          </p:cNvSpPr>
          <p:nvPr>
            <p:ph idx="1"/>
          </p:nvPr>
        </p:nvSpPr>
        <p:spPr/>
        <p:txBody>
          <a:bodyPr/>
          <a:lstStyle/>
          <a:p>
            <a:pPr algn="ctr" eaLnBrk="1" hangingPunct="1">
              <a:buFont typeface="Wingdings 3" pitchFamily="18" charset="2"/>
              <a:buNone/>
            </a:pPr>
            <a:r>
              <a:rPr lang="en-US" sz="4800" smtClean="0"/>
              <a:t>Thank you!</a:t>
            </a:r>
          </a:p>
        </p:txBody>
      </p:sp>
      <p:sp>
        <p:nvSpPr>
          <p:cNvPr id="3" name="Title 2"/>
          <p:cNvSpPr>
            <a:spLocks noGrp="1"/>
          </p:cNvSpPr>
          <p:nvPr>
            <p:ph type="title"/>
          </p:nvPr>
        </p:nvSpPr>
        <p:spPr/>
        <p:txBody>
          <a:bodyPr/>
          <a:lstStyle/>
          <a:p>
            <a:pPr eaLnBrk="1" fontAlgn="auto" hangingPunct="1">
              <a:spcAft>
                <a:spcPts val="0"/>
              </a:spcAft>
              <a:defRPr/>
            </a:pPr>
            <a:r>
              <a:rPr lang="en-US" dirty="0" smtClean="0"/>
              <a:t>		</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Concourse</Template>
  <TotalTime>213</TotalTime>
  <Words>991</Words>
  <Application>Microsoft Office PowerPoint</Application>
  <PresentationFormat>On-screen Show (4:3)</PresentationFormat>
  <Paragraphs>65</Paragraphs>
  <Slides>13</Slides>
  <Notes>0</Notes>
  <HiddenSlides>0</HiddenSlides>
  <MMClips>0</MMClips>
  <ScaleCrop>false</ScaleCrop>
  <HeadingPairs>
    <vt:vector size="6" baseType="variant">
      <vt:variant>
        <vt:lpstr>Fonts Used</vt:lpstr>
      </vt:variant>
      <vt:variant>
        <vt:i4>6</vt:i4>
      </vt:variant>
      <vt:variant>
        <vt:lpstr>Design Template</vt:lpstr>
      </vt:variant>
      <vt:variant>
        <vt:i4>8</vt:i4>
      </vt:variant>
      <vt:variant>
        <vt:lpstr>Slide Titles</vt:lpstr>
      </vt:variant>
      <vt:variant>
        <vt:i4>13</vt:i4>
      </vt:variant>
    </vt:vector>
  </HeadingPairs>
  <TitlesOfParts>
    <vt:vector size="27" baseType="lpstr">
      <vt:lpstr>Arial</vt:lpstr>
      <vt:lpstr>Lucida Sans Unicode</vt:lpstr>
      <vt:lpstr>Wingdings 3</vt:lpstr>
      <vt:lpstr>Verdana</vt:lpstr>
      <vt:lpstr>Wingdings 2</vt:lpstr>
      <vt:lpstr>Calibri</vt:lpstr>
      <vt:lpstr>Concourse</vt:lpstr>
      <vt:lpstr>Concourse</vt:lpstr>
      <vt:lpstr>Concourse</vt:lpstr>
      <vt:lpstr>Concourse</vt:lpstr>
      <vt:lpstr>Concourse</vt:lpstr>
      <vt:lpstr>Concourse</vt:lpstr>
      <vt:lpstr>Concourse</vt:lpstr>
      <vt:lpstr>Concourse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8-)</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Ford v. Quebec (Attorney General), [1988] 2 S.C.R. 712 </dc:title>
  <dc:creator>:-)</dc:creator>
  <cp:lastModifiedBy>itc</cp:lastModifiedBy>
  <cp:revision>33</cp:revision>
  <dcterms:created xsi:type="dcterms:W3CDTF">2012-03-12T23:47:23Z</dcterms:created>
  <dcterms:modified xsi:type="dcterms:W3CDTF">2012-03-24T23:17:07Z</dcterms:modified>
</cp:coreProperties>
</file>