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0" r:id="rId1"/>
  </p:sldMasterIdLst>
  <p:sldIdLst>
    <p:sldId id="264" r:id="rId2"/>
    <p:sldId id="265" r:id="rId3"/>
    <p:sldId id="266" r:id="rId4"/>
    <p:sldId id="268" r:id="rId5"/>
    <p:sldId id="267" r:id="rId6"/>
    <p:sldId id="261" r:id="rId7"/>
    <p:sldId id="263" r:id="rId8"/>
    <p:sldId id="271" r:id="rId9"/>
    <p:sldId id="270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90" y="-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37762E8C-660B-429A-AFB9-E3AD23179D1B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32CD796-FE96-4911-8D65-45D85B8742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7762E8C-660B-429A-AFB9-E3AD23179D1B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32CD796-FE96-4911-8D65-45D85B8742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7762E8C-660B-429A-AFB9-E3AD23179D1B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32CD796-FE96-4911-8D65-45D85B8742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7762E8C-660B-429A-AFB9-E3AD23179D1B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32CD796-FE96-4911-8D65-45D85B8742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7762E8C-660B-429A-AFB9-E3AD23179D1B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32CD796-FE96-4911-8D65-45D85B8742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7762E8C-660B-429A-AFB9-E3AD23179D1B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32CD796-FE96-4911-8D65-45D85B8742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7762E8C-660B-429A-AFB9-E3AD23179D1B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32CD796-FE96-4911-8D65-45D85B8742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37762E8C-660B-429A-AFB9-E3AD23179D1B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32CD796-FE96-4911-8D65-45D85B8742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37762E8C-660B-429A-AFB9-E3AD23179D1B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32CD796-FE96-4911-8D65-45D85B8742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7762E8C-660B-429A-AFB9-E3AD23179D1B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32CD796-FE96-4911-8D65-45D85B8742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7762E8C-660B-429A-AFB9-E3AD23179D1B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32CD796-FE96-4911-8D65-45D85B8742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37762E8C-660B-429A-AFB9-E3AD23179D1B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032CD796-FE96-4911-8D65-45D85B8742F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905000"/>
            <a:ext cx="8229600" cy="4525963"/>
          </a:xfrm>
        </p:spPr>
        <p:txBody>
          <a:bodyPr/>
          <a:lstStyle/>
          <a:p>
            <a:r>
              <a:rPr lang="en-US" b="1" dirty="0" smtClean="0"/>
              <a:t>Purpose</a:t>
            </a:r>
            <a:r>
              <a:rPr lang="en-US" dirty="0" smtClean="0"/>
              <a:t>:  Provide an update on parcel data activities with FGDC,HUD, and Tribal lands and discuss opportunities to more effectively coordinate and manage parcel data activities.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NGAC Parcel </a:t>
            </a:r>
            <a:r>
              <a:rPr lang="en-US" b="1" dirty="0" smtClean="0"/>
              <a:t>Data POCs</a:t>
            </a:r>
            <a:r>
              <a:rPr lang="en-US" b="1" dirty="0" smtClean="0"/>
              <a:t>:  </a:t>
            </a:r>
            <a:r>
              <a:rPr lang="en-US" dirty="0" smtClean="0"/>
              <a:t>David Wyatt and Laurie Kurilla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Parcel Data Spotlight </a:t>
            </a:r>
            <a:r>
              <a:rPr lang="en-US" dirty="0" smtClean="0"/>
              <a:t>Session</a:t>
            </a:r>
            <a:br>
              <a:rPr lang="en-US" dirty="0" smtClean="0"/>
            </a:br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562600" y="5638800"/>
            <a:ext cx="3026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June 2011 NGAC Meeting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24078" indent="-514350">
              <a:buFont typeface="+mj-lt"/>
              <a:buAutoNum type="arabicPeriod"/>
            </a:pPr>
            <a:r>
              <a:rPr lang="en-US" b="1" dirty="0" smtClean="0"/>
              <a:t>FGDC Cadastral </a:t>
            </a:r>
            <a:r>
              <a:rPr lang="en-US" b="1" dirty="0" err="1" smtClean="0"/>
              <a:t>SubCommittee</a:t>
            </a:r>
            <a:r>
              <a:rPr lang="en-US" b="1" dirty="0" smtClean="0"/>
              <a:t> </a:t>
            </a:r>
            <a:r>
              <a:rPr lang="en-US" dirty="0" smtClean="0"/>
              <a:t>Activities:</a:t>
            </a:r>
          </a:p>
          <a:p>
            <a:pPr lvl="2"/>
            <a:r>
              <a:rPr lang="en-US" b="1" dirty="0" smtClean="0"/>
              <a:t>Don Buhler</a:t>
            </a:r>
            <a:r>
              <a:rPr lang="en-US" dirty="0" smtClean="0"/>
              <a:t>, Bureau of Land Management</a:t>
            </a:r>
          </a:p>
          <a:p>
            <a:pPr lvl="2"/>
            <a:r>
              <a:rPr lang="en-US" b="1" dirty="0" smtClean="0"/>
              <a:t>Jon </a:t>
            </a:r>
            <a:r>
              <a:rPr lang="en-US" b="1" dirty="0" err="1" smtClean="0"/>
              <a:t>Sperling</a:t>
            </a:r>
            <a:r>
              <a:rPr lang="en-US" dirty="0" smtClean="0"/>
              <a:t>, Dept of Housing and Urban Development</a:t>
            </a:r>
            <a:br>
              <a:rPr lang="en-US" dirty="0" smtClean="0"/>
            </a:br>
            <a:endParaRPr lang="en-US" dirty="0" smtClean="0"/>
          </a:p>
          <a:p>
            <a:pPr marL="624078" indent="-514350">
              <a:buFont typeface="+mj-lt"/>
              <a:buAutoNum type="arabicPeriod"/>
            </a:pPr>
            <a:r>
              <a:rPr lang="en-US" b="1" dirty="0" smtClean="0"/>
              <a:t>Tribal Land Records Activities:</a:t>
            </a:r>
          </a:p>
          <a:p>
            <a:pPr lvl="2"/>
            <a:r>
              <a:rPr lang="en-US" b="1" dirty="0" smtClean="0"/>
              <a:t>Richard Moore, </a:t>
            </a:r>
            <a:r>
              <a:rPr lang="en-US" dirty="0" smtClean="0"/>
              <a:t>Office of the Asst Secretary for Indian Affairs (DOI)</a:t>
            </a:r>
          </a:p>
          <a:p>
            <a:pPr lvl="2"/>
            <a:r>
              <a:rPr lang="en-US" b="1" dirty="0" smtClean="0"/>
              <a:t>David Wyatt, </a:t>
            </a:r>
            <a:r>
              <a:rPr lang="en-US" dirty="0" smtClean="0"/>
              <a:t>Eastern Bank of Cherokee Indians</a:t>
            </a:r>
            <a:br>
              <a:rPr lang="en-US" dirty="0" smtClean="0"/>
            </a:br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Parcel </a:t>
            </a:r>
            <a:r>
              <a:rPr lang="en-US" dirty="0" smtClean="0"/>
              <a:t>Spotlight Presenters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066800"/>
            <a:ext cx="8229600" cy="53340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3600" dirty="0" smtClean="0"/>
              <a:t>Land parcel databases, which are also known as cadastres, </a:t>
            </a:r>
            <a:r>
              <a:rPr lang="en-US" sz="3600" b="1" dirty="0" smtClean="0"/>
              <a:t>describe the rights, interests, and value of property.</a:t>
            </a:r>
          </a:p>
          <a:p>
            <a:pPr>
              <a:buNone/>
            </a:pPr>
            <a:endParaRPr lang="en-US" sz="3600" b="1" dirty="0" smtClean="0"/>
          </a:p>
          <a:p>
            <a:pPr>
              <a:buNone/>
            </a:pPr>
            <a:r>
              <a:rPr lang="en-US" sz="3600" dirty="0" smtClean="0"/>
              <a:t>. Ownership of land parcels is an important part of the </a:t>
            </a:r>
            <a:r>
              <a:rPr lang="en-US" sz="3600" b="1" dirty="0" smtClean="0"/>
              <a:t>financial, legal, and real estate systems of a society. </a:t>
            </a:r>
            <a:r>
              <a:rPr lang="en-US" sz="3600" dirty="0" smtClean="0"/>
              <a:t>Clear private ownership of land allows entrepreneurs to launch successful businesses by borrowing against their real assets; </a:t>
            </a:r>
          </a:p>
          <a:p>
            <a:pPr>
              <a:buNone/>
            </a:pPr>
            <a:endParaRPr lang="en-US" sz="3600" b="1" dirty="0" smtClean="0"/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ctr"/>
            <a:r>
              <a:rPr lang="en-US" dirty="0" smtClean="0"/>
              <a:t>Parcels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562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dirty="0" smtClean="0"/>
              <a:t>The aggregate set of land parcels represents the distribution of the real property </a:t>
            </a:r>
            <a:r>
              <a:rPr lang="en-US" sz="3200" b="1" dirty="0" smtClean="0"/>
              <a:t>assets of a community and its ownership, forms the basis for all land use and zoning decisions, and represents the location of residences, businesses, and public lands. </a:t>
            </a:r>
            <a:r>
              <a:rPr lang="en-US" sz="3200" dirty="0" smtClean="0"/>
              <a:t>In other words, </a:t>
            </a:r>
            <a:r>
              <a:rPr lang="en-US" sz="3200" b="1" dirty="0" smtClean="0"/>
              <a:t>almost every aspect of government and business can be associated with a land parcel.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ctr"/>
            <a:r>
              <a:rPr lang="en-US" dirty="0" smtClean="0"/>
              <a:t>Parcels  </a:t>
            </a:r>
            <a:r>
              <a:rPr lang="en-US" sz="1400" dirty="0" smtClean="0"/>
              <a:t>continued…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376672"/>
          </a:xfrm>
        </p:spPr>
        <p:txBody>
          <a:bodyPr>
            <a:noAutofit/>
          </a:bodyPr>
          <a:lstStyle/>
          <a:p>
            <a:r>
              <a:rPr lang="en-US" sz="3200" dirty="0" smtClean="0"/>
              <a:t>Land ownership has been critical to the economic and philosophical development of this country. </a:t>
            </a:r>
          </a:p>
          <a:p>
            <a:r>
              <a:rPr lang="en-US" sz="3200" dirty="0" smtClean="0"/>
              <a:t>All </a:t>
            </a:r>
            <a:r>
              <a:rPr lang="en-US" sz="3200" dirty="0" smtClean="0"/>
              <a:t>individual freedoms tie back to individual property rights. </a:t>
            </a:r>
          </a:p>
          <a:p>
            <a:r>
              <a:rPr lang="en-US" sz="3200" dirty="0" smtClean="0"/>
              <a:t>The </a:t>
            </a:r>
            <a:r>
              <a:rPr lang="en-US" sz="3200" dirty="0" smtClean="0"/>
              <a:t>right to vote in the United States was originally restricted to those who owned property and, it was felt, had a stake in the government.</a:t>
            </a:r>
            <a:endParaRPr lang="en-US" sz="3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Parcels  </a:t>
            </a:r>
            <a:r>
              <a:rPr lang="en-US" sz="1600" dirty="0" smtClean="0"/>
              <a:t>continued…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1. A panel should decide whether the </a:t>
            </a:r>
            <a:r>
              <a:rPr lang="en-US" b="1" dirty="0" smtClean="0"/>
              <a:t>Bureau</a:t>
            </a:r>
            <a:r>
              <a:rPr lang="en-US" dirty="0" smtClean="0"/>
              <a:t> </a:t>
            </a:r>
            <a:r>
              <a:rPr lang="en-US" b="1" dirty="0" smtClean="0"/>
              <a:t>of</a:t>
            </a:r>
            <a:r>
              <a:rPr lang="en-US" dirty="0" smtClean="0"/>
              <a:t> </a:t>
            </a:r>
            <a:r>
              <a:rPr lang="en-US" b="1" dirty="0" smtClean="0"/>
              <a:t>Land</a:t>
            </a:r>
            <a:r>
              <a:rPr lang="en-US" dirty="0" smtClean="0"/>
              <a:t> </a:t>
            </a:r>
            <a:r>
              <a:rPr lang="en-US" b="1" dirty="0" smtClean="0"/>
              <a:t>Management</a:t>
            </a:r>
            <a:r>
              <a:rPr lang="en-US" dirty="0" smtClean="0"/>
              <a:t> can be the </a:t>
            </a:r>
            <a:r>
              <a:rPr lang="en-US" b="1" dirty="0" smtClean="0"/>
              <a:t>lead</a:t>
            </a:r>
            <a:r>
              <a:rPr lang="en-US" dirty="0" smtClean="0"/>
              <a:t> federal agency. </a:t>
            </a:r>
          </a:p>
          <a:p>
            <a:pPr>
              <a:buNone/>
            </a:pPr>
            <a:r>
              <a:rPr lang="en-US" dirty="0" smtClean="0"/>
              <a:t>2. The Federal Geographic Data Committee should </a:t>
            </a:r>
            <a:r>
              <a:rPr lang="en-US" b="1" dirty="0" smtClean="0"/>
              <a:t>consider the parcel as a basic resource </a:t>
            </a:r>
            <a:r>
              <a:rPr lang="en-US" dirty="0" smtClean="0"/>
              <a:t>for various OMB A-16 </a:t>
            </a:r>
            <a:r>
              <a:rPr lang="en-US" b="1" dirty="0" smtClean="0"/>
              <a:t>mandated data themes.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3. A Federal Land </a:t>
            </a:r>
            <a:r>
              <a:rPr lang="en-US" b="1" dirty="0" smtClean="0"/>
              <a:t>Parcel Coordinator </a:t>
            </a:r>
            <a:r>
              <a:rPr lang="en-US" dirty="0" smtClean="0"/>
              <a:t>should be empowered to </a:t>
            </a:r>
            <a:r>
              <a:rPr lang="en-US" b="1" dirty="0" smtClean="0"/>
              <a:t>develop and maintain a single database of land parcels</a:t>
            </a:r>
            <a:r>
              <a:rPr lang="en-US" dirty="0" smtClean="0"/>
              <a:t> owned or managed by the federal government. </a:t>
            </a:r>
          </a:p>
          <a:p>
            <a:pPr>
              <a:buNone/>
            </a:pPr>
            <a:r>
              <a:rPr lang="en-US" dirty="0" smtClean="0"/>
              <a:t>4</a:t>
            </a:r>
            <a:r>
              <a:rPr lang="en-US" dirty="0"/>
              <a:t>. A National Land </a:t>
            </a:r>
            <a:r>
              <a:rPr lang="en-US" b="1" dirty="0"/>
              <a:t>Parcel Coordinator </a:t>
            </a:r>
            <a:r>
              <a:rPr lang="en-US" dirty="0"/>
              <a:t>should be established to develop and </a:t>
            </a:r>
            <a:r>
              <a:rPr lang="en-US" b="1" dirty="0"/>
              <a:t>oversee a land parcel data business plan </a:t>
            </a:r>
            <a:r>
              <a:rPr lang="en-US" dirty="0"/>
              <a:t>for the nation including federal, local, state, and tribal partners.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600" dirty="0" smtClean="0"/>
              <a:t>Nine Parcel-Related Recommendations </a:t>
            </a:r>
            <a:br>
              <a:rPr lang="en-US" sz="3600" dirty="0" smtClean="0"/>
            </a:br>
            <a:r>
              <a:rPr lang="en-US" sz="3600" dirty="0" smtClean="0"/>
              <a:t>from NRC </a:t>
            </a:r>
            <a:r>
              <a:rPr lang="en-US" sz="3600" smtClean="0"/>
              <a:t>in 2008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8839200" cy="5181600"/>
          </a:xfrm>
        </p:spPr>
        <p:txBody>
          <a:bodyPr>
            <a:normAutofit fontScale="77500" lnSpcReduction="20000"/>
          </a:bodyPr>
          <a:lstStyle/>
          <a:p>
            <a:endParaRPr lang="en-US" dirty="0" smtClean="0"/>
          </a:p>
          <a:p>
            <a:pPr>
              <a:buNone/>
            </a:pPr>
            <a:r>
              <a:rPr lang="en-US" dirty="0" smtClean="0"/>
              <a:t>5</a:t>
            </a:r>
            <a:r>
              <a:rPr lang="en-US" dirty="0"/>
              <a:t>. An </a:t>
            </a:r>
            <a:r>
              <a:rPr lang="en-US" b="1" dirty="0"/>
              <a:t>Indian Lands Parcel Coordinator </a:t>
            </a:r>
            <a:r>
              <a:rPr lang="en-US" dirty="0"/>
              <a:t>should be established by the Office of Special Trustee for Tribal Lands. </a:t>
            </a:r>
          </a:p>
          <a:p>
            <a:pPr>
              <a:buNone/>
            </a:pPr>
            <a:r>
              <a:rPr lang="en-US" dirty="0"/>
              <a:t>6. </a:t>
            </a:r>
            <a:r>
              <a:rPr lang="en-US" b="1" dirty="0"/>
              <a:t>Congress and the Census Bureau should explore modifying Title </a:t>
            </a:r>
            <a:r>
              <a:rPr lang="en-US" b="1" dirty="0" smtClean="0"/>
              <a:t>13 </a:t>
            </a:r>
            <a:r>
              <a:rPr lang="en-US" b="1" dirty="0"/>
              <a:t>so that building addresses and coordinates can be made public.</a:t>
            </a:r>
          </a:p>
          <a:p>
            <a:pPr>
              <a:buNone/>
            </a:pPr>
            <a:r>
              <a:rPr lang="en-US" dirty="0"/>
              <a:t>7. </a:t>
            </a:r>
            <a:r>
              <a:rPr lang="en-US" b="1" dirty="0"/>
              <a:t>State Coordinators </a:t>
            </a:r>
            <a:r>
              <a:rPr lang="en-US" dirty="0"/>
              <a:t>should be established in each state to develop plans and relationships with local government. </a:t>
            </a:r>
          </a:p>
          <a:p>
            <a:pPr>
              <a:buNone/>
            </a:pPr>
            <a:r>
              <a:rPr lang="en-US" dirty="0"/>
              <a:t>8. The National Land </a:t>
            </a:r>
            <a:r>
              <a:rPr lang="en-US" b="1" dirty="0"/>
              <a:t>Parcel Coordinator</a:t>
            </a:r>
            <a:r>
              <a:rPr lang="en-US" dirty="0"/>
              <a:t> should develop an </a:t>
            </a:r>
            <a:r>
              <a:rPr lang="en-US" b="1" dirty="0"/>
              <a:t>intergovernmental funding program </a:t>
            </a:r>
            <a:r>
              <a:rPr lang="en-US" dirty="0"/>
              <a:t>for the development and maintenance of parcel data, including incentives to participate for those counties with fully-developed systems and financial support for those who do not. </a:t>
            </a:r>
          </a:p>
          <a:p>
            <a:pPr>
              <a:buNone/>
            </a:pPr>
            <a:r>
              <a:rPr lang="en-US" dirty="0"/>
              <a:t>9. </a:t>
            </a:r>
            <a:r>
              <a:rPr lang="en-US" b="1" dirty="0"/>
              <a:t>Local government is expected to put into the public domain both parcel geometry and a very limited set of attributes. </a:t>
            </a:r>
            <a:r>
              <a:rPr lang="en-US" dirty="0"/>
              <a:t> This should become a minimum requirement to receive federal funds directly associated with property, such as disaster relief.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RECOMMENDATION 6. </a:t>
            </a:r>
            <a:r>
              <a:rPr lang="en-US" dirty="0" smtClean="0"/>
              <a:t>Congress and the Bureau of the Census should explore potential policy options, including modifications to Title 13, that would </a:t>
            </a:r>
            <a:r>
              <a:rPr lang="en-US" b="1" dirty="0" smtClean="0"/>
              <a:t>allow its digital data on building addresses and their geographical coordinates to be placed in the public domain while also maintaining important privacy protections. </a:t>
            </a:r>
            <a:r>
              <a:rPr lang="en-US" dirty="0" smtClean="0"/>
              <a:t>If publicly available, these street addresses and coordinates could be used to assist in the development of parcel data in areas where parcel data sets do not exist</a:t>
            </a:r>
          </a:p>
          <a:p>
            <a:r>
              <a:rPr lang="en-US" dirty="0" smtClean="0"/>
              <a:t> 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Title 13 Recommendation Details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October 2008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 smtClean="0"/>
              <a:t>DECISION</a:t>
            </a:r>
            <a:r>
              <a:rPr lang="en-US" b="1" dirty="0"/>
              <a:t>: </a:t>
            </a:r>
            <a:r>
              <a:rPr lang="en-US" dirty="0"/>
              <a:t>NGAC endorsed recommendations in NRC report, and identified a set of comments related to the recommendations </a:t>
            </a:r>
          </a:p>
          <a:p>
            <a:r>
              <a:rPr lang="en-US" b="1" dirty="0"/>
              <a:t>RECOMMENDATION: </a:t>
            </a:r>
            <a:r>
              <a:rPr lang="en-US" dirty="0"/>
              <a:t>NGAC recommends that immediate action be taken on Recommendation #1 in the NRC report (review of authorities; designation of land parcel coordinator) </a:t>
            </a:r>
          </a:p>
          <a:p>
            <a:r>
              <a:rPr lang="en-US" b="1" dirty="0"/>
              <a:t>RECOMMENDATION: </a:t>
            </a:r>
            <a:r>
              <a:rPr lang="en-US" dirty="0"/>
              <a:t>NGAC recommends that FGDC, through the Cadastral Subcommittee, convene a stakeholder group to address parcel data issues related to the mortgage crisis.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66</TotalTime>
  <Words>649</Words>
  <Application>Microsoft Office PowerPoint</Application>
  <PresentationFormat>On-screen Show (4:3)</PresentationFormat>
  <Paragraphs>41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Concourse</vt:lpstr>
      <vt:lpstr>Parcel Data Spotlight Session Overview</vt:lpstr>
      <vt:lpstr>Parcel Spotlight Presenters</vt:lpstr>
      <vt:lpstr>Parcels</vt:lpstr>
      <vt:lpstr>Parcels  continued…</vt:lpstr>
      <vt:lpstr>Parcels  continued…</vt:lpstr>
      <vt:lpstr>Nine Parcel-Related Recommendations  from NRC in 2008</vt:lpstr>
      <vt:lpstr>Slide 7</vt:lpstr>
      <vt:lpstr>Title 13 Recommendation Details</vt:lpstr>
      <vt:lpstr>October 2008  </vt:lpstr>
    </vt:vector>
  </TitlesOfParts>
  <Company>The University of South Carolina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Dave</dc:creator>
  <cp:lastModifiedBy>USGS</cp:lastModifiedBy>
  <cp:revision>12</cp:revision>
  <dcterms:created xsi:type="dcterms:W3CDTF">2011-06-08T10:15:07Z</dcterms:created>
  <dcterms:modified xsi:type="dcterms:W3CDTF">2011-06-16T18:49:07Z</dcterms:modified>
</cp:coreProperties>
</file>