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7" r:id="rId2"/>
    <p:sldId id="261" r:id="rId3"/>
    <p:sldId id="264" r:id="rId4"/>
    <p:sldId id="263" r:id="rId5"/>
    <p:sldId id="265" r:id="rId6"/>
    <p:sldId id="262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88" d="100"/>
          <a:sy n="88" d="100"/>
        </p:scale>
        <p:origin x="-96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0D747-81A8-40F5-B691-043BE37B9703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7BB43-9229-4911-BA1E-B217C5AD967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762543-A645-49E7-99E7-168E686705DD}" type="slidenum">
              <a:rPr lang="en-US"/>
              <a:pPr/>
              <a:t>2</a:t>
            </a:fld>
            <a:endParaRPr lang="en-US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Northern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87BB43-9229-4911-BA1E-B217C5AD967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E6E847BD-8E87-4E17-BD24-06B4A904A74C}" type="datetimeFigureOut">
              <a:rPr lang="en-US" smtClean="0"/>
              <a:pPr/>
              <a:t>12/1/2008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F40D87C8-4610-4A0F-A78B-66B43C3ED3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8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15.jpeg"/><Relationship Id="rId9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bush pct1 102502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4572000"/>
            <a:ext cx="1485900" cy="1981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3076" name="Picture 4" descr="LAZB NEST RN1101A 062102"/>
          <p:cNvPicPr>
            <a:picLocks noChangeAspect="1" noChangeArrowheads="1"/>
          </p:cNvPicPr>
          <p:nvPr/>
        </p:nvPicPr>
        <p:blipFill>
          <a:blip r:embed="rId3" cstate="print"/>
          <a:srcRect l="23529" r="26471"/>
          <a:stretch>
            <a:fillRect/>
          </a:stretch>
        </p:blipFill>
        <p:spPr bwMode="auto">
          <a:xfrm>
            <a:off x="2057400" y="4610100"/>
            <a:ext cx="1295400" cy="19431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3077" name="Picture 5" descr="HEWA CABN 062802B"/>
          <p:cNvPicPr>
            <a:picLocks noChangeAspect="1" noChangeArrowheads="1"/>
          </p:cNvPicPr>
          <p:nvPr/>
        </p:nvPicPr>
        <p:blipFill>
          <a:blip r:embed="rId4" cstate="print"/>
          <a:srcRect l="32292" t="14844" r="25000" b="26563"/>
          <a:stretch>
            <a:fillRect/>
          </a:stretch>
        </p:blipFill>
        <p:spPr bwMode="auto">
          <a:xfrm>
            <a:off x="5791200" y="4648200"/>
            <a:ext cx="1041400" cy="1905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3078" name="Picture 6" descr="LEGO HY WIWI 0802"/>
          <p:cNvPicPr>
            <a:picLocks noChangeAspect="1" noChangeArrowheads="1"/>
          </p:cNvPicPr>
          <p:nvPr/>
        </p:nvPicPr>
        <p:blipFill>
          <a:blip r:embed="rId5" cstate="print"/>
          <a:srcRect l="34567" t="7408" r="13580" b="18518"/>
          <a:stretch>
            <a:fillRect/>
          </a:stretch>
        </p:blipFill>
        <p:spPr bwMode="auto">
          <a:xfrm>
            <a:off x="2590800" y="304800"/>
            <a:ext cx="841375" cy="1600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3079" name="Picture 7" descr="NEST SEARCHER JH RB01 062102"/>
          <p:cNvPicPr>
            <a:picLocks noChangeAspect="1" noChangeArrowheads="1"/>
          </p:cNvPicPr>
          <p:nvPr/>
        </p:nvPicPr>
        <p:blipFill>
          <a:blip r:embed="rId6" cstate="print"/>
          <a:srcRect t="40375" r="35417"/>
          <a:stretch>
            <a:fillRect/>
          </a:stretch>
        </p:blipFill>
        <p:spPr bwMode="auto">
          <a:xfrm>
            <a:off x="3652838" y="304800"/>
            <a:ext cx="1300162" cy="1600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3080" name="Picture 8" descr="NAWA ORCA 06120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29400" y="304800"/>
            <a:ext cx="2133600" cy="1600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3081" name="Picture 9" descr="Odes aerial 1"/>
          <p:cNvPicPr>
            <a:picLocks noChangeAspect="1" noChangeArrowheads="1"/>
          </p:cNvPicPr>
          <p:nvPr/>
        </p:nvPicPr>
        <p:blipFill>
          <a:blip r:embed="rId8" cstate="print"/>
          <a:srcRect l="19444" r="13889"/>
          <a:stretch>
            <a:fillRect/>
          </a:stretch>
        </p:blipFill>
        <p:spPr bwMode="auto">
          <a:xfrm>
            <a:off x="7112000" y="4648200"/>
            <a:ext cx="1693863" cy="1905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3082" name="Picture 10" descr="Banders at WIWI 050501"/>
          <p:cNvPicPr>
            <a:picLocks noChangeAspect="1" noChangeArrowheads="1"/>
          </p:cNvPicPr>
          <p:nvPr/>
        </p:nvPicPr>
        <p:blipFill>
          <a:blip r:embed="rId9" cstate="print"/>
          <a:srcRect l="14706" r="11765"/>
          <a:stretch>
            <a:fillRect/>
          </a:stretch>
        </p:blipFill>
        <p:spPr bwMode="auto">
          <a:xfrm>
            <a:off x="3581400" y="4610100"/>
            <a:ext cx="1905000" cy="19431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3084" name="Picture 12" descr="weso cabn 00d"/>
          <p:cNvPicPr>
            <a:picLocks noChangeAspect="1" noChangeArrowheads="1"/>
          </p:cNvPicPr>
          <p:nvPr/>
        </p:nvPicPr>
        <p:blipFill>
          <a:blip r:embed="rId10"/>
          <a:srcRect l="31325" t="37781" r="53012" b="31635"/>
          <a:stretch>
            <a:fillRect/>
          </a:stretch>
        </p:blipFill>
        <p:spPr bwMode="auto">
          <a:xfrm>
            <a:off x="5176838" y="304800"/>
            <a:ext cx="1223962" cy="1600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3085" name="Text Box 13"/>
          <p:cNvSpPr txBox="1">
            <a:spLocks noChangeArrowheads="1"/>
          </p:cNvSpPr>
          <p:nvPr/>
        </p:nvSpPr>
        <p:spPr bwMode="auto">
          <a:xfrm>
            <a:off x="304800" y="2438400"/>
            <a:ext cx="8534400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000000"/>
                </a:solidFill>
                <a:latin typeface="Comic Sans MS" pitchFamily="66" charset="0"/>
              </a:rPr>
              <a:t>An Update on the Klamath Network</a:t>
            </a:r>
          </a:p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000000"/>
                </a:solidFill>
                <a:latin typeface="Comic Sans MS" pitchFamily="66" charset="0"/>
              </a:rPr>
              <a:t>Landbird Monitoring Protocol</a:t>
            </a:r>
          </a:p>
          <a:p>
            <a:pPr algn="ctr">
              <a:spcBef>
                <a:spcPct val="50000"/>
              </a:spcBef>
            </a:pPr>
            <a:endParaRPr lang="en-US" sz="800" b="1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3086" name="Picture 14" descr="199 020 Black-throated Gray Warbler 3380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04800" y="304800"/>
            <a:ext cx="2133600" cy="16017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20" name="Picture 8" descr="127 01 Golden-crowned Kinglet 449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588"/>
            <a:ext cx="9144000" cy="6859588"/>
          </a:xfrm>
          <a:prstGeom prst="rect">
            <a:avLst/>
          </a:prstGeom>
          <a:noFill/>
        </p:spPr>
      </p:pic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609600" y="1524000"/>
            <a:ext cx="8001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endParaRPr lang="en-US" sz="2000"/>
          </a:p>
          <a:p>
            <a:pPr marL="457200" indent="-457200"/>
            <a:endParaRPr lang="en-US" sz="2000"/>
          </a:p>
          <a:p>
            <a:pPr marL="457200" indent="-457200"/>
            <a:endParaRPr lang="en-US" sz="2000"/>
          </a:p>
        </p:txBody>
      </p:sp>
      <p:sp>
        <p:nvSpPr>
          <p:cNvPr id="90117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6248400" cy="457200"/>
          </a:xfrm>
        </p:spPr>
        <p:txBody>
          <a:bodyPr/>
          <a:lstStyle/>
          <a:p>
            <a:pPr algn="l"/>
            <a:r>
              <a:rPr lang="en-US" sz="2400">
                <a:solidFill>
                  <a:schemeClr val="bg1"/>
                </a:solidFill>
                <a:latin typeface="Gill Sans MT" pitchFamily="34" charset="0"/>
              </a:rPr>
              <a:t>Objectives</a:t>
            </a: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669925" y="17938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auto">
          <a:xfrm>
            <a:off x="152400" y="1649413"/>
            <a:ext cx="43434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457200" indent="-457200">
              <a:buFontTx/>
              <a:buAutoNum type="arabicParenR"/>
            </a:pPr>
            <a:r>
              <a:rPr lang="en-US" dirty="0">
                <a:solidFill>
                  <a:schemeClr val="bg1"/>
                </a:solidFill>
              </a:rPr>
              <a:t>Breeding bird status and </a:t>
            </a:r>
            <a:r>
              <a:rPr lang="en-US" dirty="0" smtClean="0">
                <a:solidFill>
                  <a:schemeClr val="bg1"/>
                </a:solidFill>
              </a:rPr>
              <a:t>trends (Species Richness and Density)</a:t>
            </a: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FontTx/>
              <a:buAutoNum type="arabicParenR"/>
            </a:pP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FontTx/>
              <a:buAutoNum type="arabicParenR"/>
            </a:pPr>
            <a:r>
              <a:rPr lang="en-US" dirty="0">
                <a:solidFill>
                  <a:schemeClr val="bg1"/>
                </a:solidFill>
              </a:rPr>
              <a:t>Bird communities and habitat</a:t>
            </a:r>
          </a:p>
          <a:p>
            <a:pPr marL="457200" indent="-457200">
              <a:buFontTx/>
              <a:buAutoNum type="arabicParenR"/>
            </a:pP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FontTx/>
              <a:buAutoNum type="arabicParenR"/>
            </a:pPr>
            <a:r>
              <a:rPr lang="en-US" dirty="0">
                <a:solidFill>
                  <a:schemeClr val="bg1"/>
                </a:solidFill>
              </a:rPr>
              <a:t>Demographic status and </a:t>
            </a:r>
            <a:r>
              <a:rPr lang="en-US" dirty="0" smtClean="0">
                <a:solidFill>
                  <a:schemeClr val="bg1"/>
                </a:solidFill>
              </a:rPr>
              <a:t>trends (productivity, adult survival, recruitment) for selected landbird species in mixed-conifer and riparian habitats at ORCA</a:t>
            </a: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FontTx/>
              <a:buAutoNum type="arabicParenR"/>
            </a:pP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FontTx/>
              <a:buAutoNum type="arabicParenR"/>
            </a:pPr>
            <a:r>
              <a:rPr lang="en-US" dirty="0">
                <a:solidFill>
                  <a:schemeClr val="bg1"/>
                </a:solidFill>
              </a:rPr>
              <a:t>Bird assemblages and ecological integrity</a:t>
            </a:r>
          </a:p>
          <a:p>
            <a:pPr marL="457200" indent="-457200" algn="ctr">
              <a:buFontTx/>
              <a:buAutoNum type="arabicParenR"/>
            </a:pPr>
            <a:endParaRPr lang="en-US" dirty="0">
              <a:solidFill>
                <a:schemeClr val="bg1"/>
              </a:solidFill>
            </a:endParaRPr>
          </a:p>
          <a:p>
            <a:pPr marL="457200" indent="-457200" algn="ctr"/>
            <a:endParaRPr lang="en-US" dirty="0">
              <a:solidFill>
                <a:schemeClr val="bg1"/>
              </a:solidFill>
            </a:endParaRPr>
          </a:p>
          <a:p>
            <a:pPr marL="457200" indent="-457200" algn="ctr"/>
            <a:endParaRPr lang="en-US" dirty="0">
              <a:solidFill>
                <a:schemeClr val="bg1"/>
              </a:solidFill>
            </a:endParaRPr>
          </a:p>
          <a:p>
            <a:pPr marL="457200" indent="-457200" algn="ctr"/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55448"/>
            <a:ext cx="6324600" cy="12527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Current Protocol Development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Initial Scoping Meeting – May 2006</a:t>
            </a:r>
          </a:p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Scoping Meeting – August 2007</a:t>
            </a:r>
          </a:p>
          <a:p>
            <a:r>
              <a:rPr lang="en-US" dirty="0" smtClean="0"/>
              <a:t>Draft Protocol Submitted – February 2008</a:t>
            </a:r>
          </a:p>
          <a:p>
            <a:r>
              <a:rPr lang="en-US" dirty="0"/>
              <a:t>Peer Review Completed – October 2008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Final Protocol Developed – January 2009</a:t>
            </a:r>
          </a:p>
          <a:p>
            <a:r>
              <a:rPr lang="en-US" dirty="0" smtClean="0"/>
              <a:t>Final Park Review – February 2009</a:t>
            </a:r>
          </a:p>
          <a:p>
            <a:r>
              <a:rPr lang="en-US" dirty="0" smtClean="0"/>
              <a:t>Final Protocol Submission – February 2009</a:t>
            </a:r>
          </a:p>
          <a:p>
            <a:r>
              <a:rPr lang="en-US" dirty="0" smtClean="0"/>
              <a:t>Implementation – Spring / Summer 2009</a:t>
            </a:r>
          </a:p>
        </p:txBody>
      </p:sp>
      <p:pic>
        <p:nvPicPr>
          <p:cNvPr id="4" name="Picture 2" descr="AH_small_flat_4C_p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77200" y="52212"/>
            <a:ext cx="971550" cy="1277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76200" y="76200"/>
          <a:ext cx="1600200" cy="1219200"/>
        </p:xfrm>
        <a:graphic>
          <a:graphicData uri="http://schemas.openxmlformats.org/presentationml/2006/ole">
            <p:oleObj spid="_x0000_s3074" name="Photo Editor Photo" r:id="rId4" imgW="2613333" imgH="1630821" progId="MSPhotoEd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Concurrent Projects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dirty="0" err="1" smtClean="0">
                <a:solidFill>
                  <a:srgbClr val="0070C0"/>
                </a:solidFill>
              </a:rPr>
              <a:t>Monumenting</a:t>
            </a:r>
            <a:endParaRPr lang="en-US" dirty="0" smtClean="0">
              <a:solidFill>
                <a:srgbClr val="0070C0"/>
              </a:solidFill>
            </a:endParaRPr>
          </a:p>
          <a:p>
            <a:pPr algn="ctr"/>
            <a:r>
              <a:rPr lang="en-US" dirty="0" smtClean="0">
                <a:solidFill>
                  <a:srgbClr val="0070C0"/>
                </a:solidFill>
              </a:rPr>
              <a:t> Sites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700" dirty="0" smtClean="0"/>
              <a:t>Completed at LABE</a:t>
            </a:r>
          </a:p>
          <a:p>
            <a:r>
              <a:rPr lang="en-US" sz="1700" dirty="0" smtClean="0"/>
              <a:t>Completed at RNSP</a:t>
            </a:r>
          </a:p>
          <a:p>
            <a:pPr>
              <a:buNone/>
            </a:pPr>
            <a:endParaRPr lang="en-US" sz="1700" dirty="0" smtClean="0"/>
          </a:p>
          <a:p>
            <a:pPr>
              <a:buNone/>
            </a:pPr>
            <a:endParaRPr lang="en-US" sz="1700" dirty="0" smtClean="0"/>
          </a:p>
          <a:p>
            <a:pPr>
              <a:buNone/>
            </a:pPr>
            <a:endParaRPr lang="en-US" sz="1700" dirty="0" smtClean="0"/>
          </a:p>
          <a:p>
            <a:r>
              <a:rPr lang="en-US" sz="1700" dirty="0" smtClean="0"/>
              <a:t>Permit Issues at WHIS</a:t>
            </a:r>
          </a:p>
          <a:p>
            <a:r>
              <a:rPr lang="en-US" sz="1700" dirty="0" smtClean="0"/>
              <a:t>Permit Issues at LAVO</a:t>
            </a:r>
          </a:p>
          <a:p>
            <a:pPr>
              <a:buNone/>
            </a:pPr>
            <a:endParaRPr lang="en-US" sz="1700" dirty="0" smtClean="0"/>
          </a:p>
          <a:p>
            <a:pPr>
              <a:buNone/>
            </a:pPr>
            <a:endParaRPr lang="en-US" sz="1700" dirty="0" smtClean="0"/>
          </a:p>
          <a:p>
            <a:r>
              <a:rPr lang="en-US" sz="1700" dirty="0" smtClean="0"/>
              <a:t>Not Completed at CRLA</a:t>
            </a:r>
          </a:p>
          <a:p>
            <a:r>
              <a:rPr lang="en-US" sz="1700" dirty="0" smtClean="0"/>
              <a:t>Not Completed at ORCA</a:t>
            </a:r>
            <a:endParaRPr lang="en-US" sz="17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Protocol Development / Implementation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Implemented at LABE in 2008</a:t>
            </a:r>
          </a:p>
          <a:p>
            <a:r>
              <a:rPr lang="en-US" dirty="0" smtClean="0"/>
              <a:t>Implemented at RNSP in 2008</a:t>
            </a:r>
          </a:p>
          <a:p>
            <a:r>
              <a:rPr lang="en-US" dirty="0" smtClean="0"/>
              <a:t>Mist Nets Implemented at ORCA in 2008</a:t>
            </a:r>
          </a:p>
          <a:p>
            <a:endParaRPr lang="en-US" dirty="0" smtClean="0"/>
          </a:p>
          <a:p>
            <a:r>
              <a:rPr lang="en-US" dirty="0" smtClean="0"/>
              <a:t>Scheduled for Implementation at LAVO 2009</a:t>
            </a:r>
          </a:p>
          <a:p>
            <a:r>
              <a:rPr lang="en-US" dirty="0" smtClean="0"/>
              <a:t>Scheduled for Implementation at WHIS 2009</a:t>
            </a:r>
          </a:p>
          <a:p>
            <a:r>
              <a:rPr lang="en-US" dirty="0" smtClean="0"/>
              <a:t>Mist Nets Scheduled for Implementation at ORCA in 2009</a:t>
            </a:r>
          </a:p>
          <a:p>
            <a:endParaRPr lang="en-US" dirty="0" smtClean="0"/>
          </a:p>
          <a:p>
            <a:r>
              <a:rPr lang="en-US" dirty="0" smtClean="0"/>
              <a:t>Scheduled for Implementation at ORCA 2010 (point counts and mist net)</a:t>
            </a:r>
          </a:p>
          <a:p>
            <a:r>
              <a:rPr lang="en-US" dirty="0" smtClean="0"/>
              <a:t>Scheduled for Implementation at CRLA 2010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7" name="Picture 2" descr="AH_small_flat_4C_p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77200" y="52212"/>
            <a:ext cx="971550" cy="1277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76200" y="76200"/>
          <a:ext cx="1600200" cy="1219200"/>
        </p:xfrm>
        <a:graphic>
          <a:graphicData uri="http://schemas.openxmlformats.org/presentationml/2006/ole">
            <p:oleObj spid="_x0000_s2050" name="Photo Editor Photo" r:id="rId4" imgW="2613333" imgH="1630821" progId="MSPhotoEd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152400"/>
            <a:ext cx="6400800" cy="1251062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2008 Progress / Completions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Completed </a:t>
            </a:r>
            <a:r>
              <a:rPr lang="en-US" dirty="0" err="1" smtClean="0"/>
              <a:t>Monumenting</a:t>
            </a:r>
            <a:r>
              <a:rPr lang="en-US" dirty="0" smtClean="0"/>
              <a:t> Sites at LABE and RNSP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Surveyed 25 sites at LABE and 30 sites at RNSP</a:t>
            </a:r>
          </a:p>
          <a:p>
            <a:endParaRPr lang="en-US" dirty="0" smtClean="0"/>
          </a:p>
          <a:p>
            <a:r>
              <a:rPr lang="en-US" dirty="0" smtClean="0"/>
              <a:t>Reduced number of points / transect for RNSP</a:t>
            </a:r>
          </a:p>
          <a:p>
            <a:endParaRPr lang="en-US" dirty="0" smtClean="0"/>
          </a:p>
          <a:p>
            <a:r>
              <a:rPr lang="en-US" dirty="0" smtClean="0"/>
              <a:t>Completed mist netting at ORCA</a:t>
            </a:r>
          </a:p>
          <a:p>
            <a:endParaRPr lang="en-US" dirty="0" smtClean="0"/>
          </a:p>
          <a:p>
            <a:r>
              <a:rPr lang="en-US" dirty="0" smtClean="0"/>
              <a:t>Documented at new species at </a:t>
            </a:r>
            <a:r>
              <a:rPr lang="en-US" dirty="0" smtClean="0"/>
              <a:t>ORCA – Northern Waterthrush (</a:t>
            </a:r>
            <a:r>
              <a:rPr lang="en-US" i="1" dirty="0" smtClean="0"/>
              <a:t>Seiurus noveboracensis</a:t>
            </a:r>
            <a:r>
              <a:rPr lang="en-US" dirty="0" smtClean="0"/>
              <a:t>)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7" name="Content Placeholder 6" descr="LABE_Sites_20071215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 l="3922" t="10606" r="3922" b="4546"/>
          <a:stretch>
            <a:fillRect/>
          </a:stretch>
        </p:blipFill>
        <p:spPr bwMode="auto">
          <a:xfrm>
            <a:off x="4726916" y="1773238"/>
            <a:ext cx="3881168" cy="4624387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24600" y="3886200"/>
            <a:ext cx="2514600" cy="275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72000" y="1600200"/>
            <a:ext cx="2439379" cy="2629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3" descr="bush pct1 102502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876800" y="1524000"/>
            <a:ext cx="3829050" cy="5105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876800" y="2286000"/>
            <a:ext cx="383540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 descr="AH_small_flat_4C_pc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077200" y="52212"/>
            <a:ext cx="971550" cy="1277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76200" y="76200"/>
          <a:ext cx="1600200" cy="1219200"/>
        </p:xfrm>
        <a:graphic>
          <a:graphicData uri="http://schemas.openxmlformats.org/presentationml/2006/ole">
            <p:oleObj spid="_x0000_s1027" name="Photo Editor Photo" r:id="rId10" imgW="2613333" imgH="1630821" progId="MSPhotoEd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2009 </a:t>
            </a:r>
            <a:r>
              <a:rPr lang="en-US" dirty="0" err="1" smtClean="0"/>
              <a:t>Workplan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Winter / Spring 2009</a:t>
            </a:r>
          </a:p>
          <a:p>
            <a:pPr lvl="1"/>
            <a:r>
              <a:rPr lang="en-US" dirty="0" smtClean="0"/>
              <a:t>Complete monument of sites at WHIS</a:t>
            </a:r>
          </a:p>
          <a:p>
            <a:pPr lvl="1"/>
            <a:r>
              <a:rPr lang="en-US" dirty="0" smtClean="0"/>
              <a:t>Finalize and Resubmit Protocol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Spring / Summer 2009</a:t>
            </a:r>
          </a:p>
          <a:p>
            <a:pPr lvl="1"/>
            <a:r>
              <a:rPr lang="en-US" dirty="0" smtClean="0"/>
              <a:t>Implement Protocol at WHIS</a:t>
            </a:r>
          </a:p>
          <a:p>
            <a:pPr lvl="1"/>
            <a:r>
              <a:rPr lang="en-US" dirty="0" smtClean="0"/>
              <a:t>Implement Protocol and Monument Sites at LAVO</a:t>
            </a:r>
          </a:p>
          <a:p>
            <a:pPr lvl="1"/>
            <a:r>
              <a:rPr lang="en-US" dirty="0" smtClean="0"/>
              <a:t>Implement mist netting at ORCA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Summer / Fall 2009</a:t>
            </a:r>
          </a:p>
          <a:p>
            <a:pPr lvl="1"/>
            <a:r>
              <a:rPr lang="en-US" dirty="0" smtClean="0"/>
              <a:t>Monument sites at CRLA and ORCA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Fall 2009</a:t>
            </a:r>
          </a:p>
          <a:p>
            <a:pPr lvl="1"/>
            <a:r>
              <a:rPr lang="en-US" dirty="0" smtClean="0"/>
              <a:t>Finalize Protocol</a:t>
            </a:r>
          </a:p>
          <a:p>
            <a:pPr lvl="1"/>
            <a:endParaRPr lang="en-US" dirty="0"/>
          </a:p>
        </p:txBody>
      </p:sp>
      <p:pic>
        <p:nvPicPr>
          <p:cNvPr id="4" name="Picture 2" descr="AH_small_flat_4C_p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77200" y="52212"/>
            <a:ext cx="971550" cy="1277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76200" y="76200"/>
          <a:ext cx="1600200" cy="1219200"/>
        </p:xfrm>
        <a:graphic>
          <a:graphicData uri="http://schemas.openxmlformats.org/presentationml/2006/ole">
            <p:oleObj spid="_x0000_s4098" name="Photo Editor Photo" r:id="rId4" imgW="2613333" imgH="1630821" progId="MSPhotoEd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64" name="Picture 8" descr="201 099 Western Tanager 0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62609"/>
          </a:xfrm>
          <a:prstGeom prst="rect">
            <a:avLst/>
          </a:prstGeom>
          <a:noFill/>
        </p:spPr>
      </p:pic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609600" y="1524000"/>
            <a:ext cx="8001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endParaRPr lang="en-US" sz="2000"/>
          </a:p>
          <a:p>
            <a:pPr marL="457200" indent="-457200"/>
            <a:endParaRPr lang="en-US" sz="2000"/>
          </a:p>
          <a:p>
            <a:pPr marL="457200" indent="-457200"/>
            <a:endParaRPr lang="en-US" sz="2000"/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669925" y="17938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96263" name="Rectangle 7"/>
          <p:cNvSpPr>
            <a:spLocks noChangeArrowheads="1"/>
          </p:cNvSpPr>
          <p:nvPr/>
        </p:nvSpPr>
        <p:spPr bwMode="auto">
          <a:xfrm>
            <a:off x="4724400" y="5562600"/>
            <a:ext cx="28971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187</TotalTime>
  <Words>295</Words>
  <Application>Microsoft Office PowerPoint</Application>
  <PresentationFormat>On-screen Show (4:3)</PresentationFormat>
  <Paragraphs>78</Paragraphs>
  <Slides>7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Module</vt:lpstr>
      <vt:lpstr>Microsoft Photo Editor 3.0 Photo</vt:lpstr>
      <vt:lpstr>Slide 1</vt:lpstr>
      <vt:lpstr>Objectives</vt:lpstr>
      <vt:lpstr>Current Protocol Development Schedule</vt:lpstr>
      <vt:lpstr>Concurrent Projects</vt:lpstr>
      <vt:lpstr>2008 Progress / Completions</vt:lpstr>
      <vt:lpstr>2009 Workplan</vt:lpstr>
      <vt:lpstr>Slide 7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Sean Mohren</dc:creator>
  <cp:lastModifiedBy> Sean Mohren</cp:lastModifiedBy>
  <cp:revision>16</cp:revision>
  <dcterms:created xsi:type="dcterms:W3CDTF">2008-11-26T19:45:53Z</dcterms:created>
  <dcterms:modified xsi:type="dcterms:W3CDTF">2008-12-01T19:34:18Z</dcterms:modified>
</cp:coreProperties>
</file>