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diagrams/colors1.xml" ContentType="application/vnd.openxmlformats-officedocument.drawingml.diagramColors+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ommentAuthors.xml" ContentType="application/vnd.openxmlformats-officedocument.presentationml.commentAuthors+xml"/>
  <Override PartName="/ppt/slideLayouts/slideLayout10.xml" ContentType="application/vnd.openxmlformats-officedocument.presentationml.slideLayout+xml"/>
  <Override PartName="/ppt/diagrams/layout1.xml" ContentType="application/vnd.openxmlformats-officedocument.drawingml.diagramLayout+xml"/>
  <Override PartName="/ppt/notesSlides/notesSlide6.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diagrams/data1.xml" ContentType="application/vnd.openxmlformats-officedocument.drawingml.diagramData+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diagrams/drawing1.xml" ContentType="application/vnd.ms-office.drawingml.diagramDrawing+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Default Extension="jpeg" ContentType="image/jpeg"/>
  <Override PartName="/ppt/diagrams/quickStyle1.xml" ContentType="application/vnd.openxmlformats-officedocument.drawingml.diagramStyl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6"/>
  </p:notesMasterIdLst>
  <p:sldIdLst>
    <p:sldId id="264" r:id="rId2"/>
    <p:sldId id="267" r:id="rId3"/>
    <p:sldId id="291" r:id="rId4"/>
    <p:sldId id="256" r:id="rId5"/>
    <p:sldId id="296" r:id="rId6"/>
    <p:sldId id="274" r:id="rId7"/>
    <p:sldId id="257" r:id="rId8"/>
    <p:sldId id="305" r:id="rId9"/>
    <p:sldId id="263" r:id="rId10"/>
    <p:sldId id="268" r:id="rId11"/>
    <p:sldId id="302" r:id="rId12"/>
    <p:sldId id="297" r:id="rId13"/>
    <p:sldId id="309" r:id="rId14"/>
    <p:sldId id="310" r:id="rId15"/>
    <p:sldId id="269" r:id="rId16"/>
    <p:sldId id="300" r:id="rId17"/>
    <p:sldId id="295" r:id="rId18"/>
    <p:sldId id="308" r:id="rId19"/>
    <p:sldId id="307" r:id="rId20"/>
    <p:sldId id="286" r:id="rId21"/>
    <p:sldId id="306" r:id="rId22"/>
    <p:sldId id="270" r:id="rId23"/>
    <p:sldId id="288" r:id="rId24"/>
    <p:sldId id="301" r:id="rId25"/>
  </p:sldIdLst>
  <p:sldSz cx="9144000" cy="6858000" type="screen4x3"/>
  <p:notesSz cx="6985000" cy="92837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Peter E. Schweizer" initials="pes" lastIdx="6" clrIdx="0"/>
  <p:cmAuthor id="1" name="Laurence M. Eaton" initials="LME" lastIdx="2" clrIdx="1"/>
</p:cmAuthorLst>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867" autoAdjust="0"/>
    <p:restoredTop sz="97012" autoAdjust="0"/>
  </p:normalViewPr>
  <p:slideViewPr>
    <p:cSldViewPr>
      <p:cViewPr>
        <p:scale>
          <a:sx n="75" d="100"/>
          <a:sy n="75" d="100"/>
        </p:scale>
        <p:origin x="-2856" y="-12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commentAuthors" Target="commentAuthors.xml"/><Relationship Id="rId30"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91525E3-EAD5-42D0-8532-333121F76449}" type="doc">
      <dgm:prSet loTypeId="urn:microsoft.com/office/officeart/2005/8/layout/process1" loCatId="process" qsTypeId="urn:microsoft.com/office/officeart/2005/8/quickstyle/simple1#1" qsCatId="simple" csTypeId="urn:microsoft.com/office/officeart/2005/8/colors/accent1_2#1" csCatId="accent1" phldr="1"/>
      <dgm:spPr/>
      <dgm:t>
        <a:bodyPr/>
        <a:lstStyle/>
        <a:p>
          <a:endParaRPr lang="en-US"/>
        </a:p>
      </dgm:t>
    </dgm:pt>
    <dgm:pt modelId="{DF29C92C-CA93-441A-93C3-F0948981E0E5}">
      <dgm:prSet phldrT="[Text]"/>
      <dgm:spPr/>
      <dgm:t>
        <a:bodyPr/>
        <a:lstStyle/>
        <a:p>
          <a:r>
            <a:rPr lang="el-GR" dirty="0" smtClean="0"/>
            <a:t>Δ</a:t>
          </a:r>
          <a:r>
            <a:rPr lang="en-US" dirty="0" smtClean="0"/>
            <a:t> in Landscapes</a:t>
          </a:r>
          <a:endParaRPr lang="en-US" dirty="0"/>
        </a:p>
      </dgm:t>
    </dgm:pt>
    <dgm:pt modelId="{3B2DD620-ECA1-4738-9389-30D65CC8539F}" type="parTrans" cxnId="{C106D3A0-8023-4233-9A34-398E7DE8CBD8}">
      <dgm:prSet/>
      <dgm:spPr/>
      <dgm:t>
        <a:bodyPr/>
        <a:lstStyle/>
        <a:p>
          <a:endParaRPr lang="en-US"/>
        </a:p>
      </dgm:t>
    </dgm:pt>
    <dgm:pt modelId="{E85FEB26-208C-45E8-8BF1-8FD5D8BD01E3}" type="sibTrans" cxnId="{C106D3A0-8023-4233-9A34-398E7DE8CBD8}">
      <dgm:prSet/>
      <dgm:spPr/>
      <dgm:t>
        <a:bodyPr/>
        <a:lstStyle/>
        <a:p>
          <a:endParaRPr lang="en-US"/>
        </a:p>
      </dgm:t>
    </dgm:pt>
    <dgm:pt modelId="{6DD8679E-AC14-47DC-9CE3-7A3543E63D60}">
      <dgm:prSet phldrT="[Text]"/>
      <dgm:spPr/>
      <dgm:t>
        <a:bodyPr/>
        <a:lstStyle/>
        <a:p>
          <a:r>
            <a:rPr lang="el-GR" dirty="0" smtClean="0"/>
            <a:t>Δ</a:t>
          </a:r>
          <a:r>
            <a:rPr lang="en-US" dirty="0" smtClean="0"/>
            <a:t> in Water Quality and Quantity</a:t>
          </a:r>
          <a:endParaRPr lang="en-US" dirty="0"/>
        </a:p>
      </dgm:t>
    </dgm:pt>
    <dgm:pt modelId="{D3B267A3-8234-4B62-A9A1-FB13CC2F95B0}" type="parTrans" cxnId="{423B6BF0-D586-4F72-ACC2-A39FCFE4A160}">
      <dgm:prSet/>
      <dgm:spPr/>
      <dgm:t>
        <a:bodyPr/>
        <a:lstStyle/>
        <a:p>
          <a:endParaRPr lang="en-US"/>
        </a:p>
      </dgm:t>
    </dgm:pt>
    <dgm:pt modelId="{1ADEF7C5-880E-49C6-AB60-1EE6486A85B2}" type="sibTrans" cxnId="{423B6BF0-D586-4F72-ACC2-A39FCFE4A160}">
      <dgm:prSet/>
      <dgm:spPr/>
      <dgm:t>
        <a:bodyPr/>
        <a:lstStyle/>
        <a:p>
          <a:endParaRPr lang="en-US"/>
        </a:p>
      </dgm:t>
    </dgm:pt>
    <dgm:pt modelId="{260E223A-ED3F-4D81-8D68-B5E21C2A6614}">
      <dgm:prSet phldrT="[Text]"/>
      <dgm:spPr/>
      <dgm:t>
        <a:bodyPr/>
        <a:lstStyle/>
        <a:p>
          <a:r>
            <a:rPr lang="el-GR" dirty="0" smtClean="0"/>
            <a:t>Δ</a:t>
          </a:r>
          <a:r>
            <a:rPr lang="en-US" dirty="0" smtClean="0"/>
            <a:t> in Species Richness</a:t>
          </a:r>
          <a:endParaRPr lang="en-US" dirty="0"/>
        </a:p>
      </dgm:t>
    </dgm:pt>
    <dgm:pt modelId="{3C7811E5-2E0C-4614-875A-00E78AC227A8}" type="parTrans" cxnId="{5FC4B823-D15F-4661-B030-EC1947FE8168}">
      <dgm:prSet/>
      <dgm:spPr/>
      <dgm:t>
        <a:bodyPr/>
        <a:lstStyle/>
        <a:p>
          <a:endParaRPr lang="en-US"/>
        </a:p>
      </dgm:t>
    </dgm:pt>
    <dgm:pt modelId="{A4DA1497-2C83-4581-8AB8-928E59ACE6C9}" type="sibTrans" cxnId="{5FC4B823-D15F-4661-B030-EC1947FE8168}">
      <dgm:prSet/>
      <dgm:spPr/>
      <dgm:t>
        <a:bodyPr/>
        <a:lstStyle/>
        <a:p>
          <a:endParaRPr lang="en-US"/>
        </a:p>
      </dgm:t>
    </dgm:pt>
    <dgm:pt modelId="{F9CE2348-A118-4B1F-B342-7E5B63B8DA55}">
      <dgm:prSet phldrT="[Text]"/>
      <dgm:spPr/>
      <dgm:t>
        <a:bodyPr/>
        <a:lstStyle/>
        <a:p>
          <a:r>
            <a:rPr lang="el-GR" dirty="0" smtClean="0"/>
            <a:t>Δ</a:t>
          </a:r>
          <a:r>
            <a:rPr lang="en-US" dirty="0" smtClean="0"/>
            <a:t> in Economic Impact</a:t>
          </a:r>
          <a:endParaRPr lang="en-US" dirty="0"/>
        </a:p>
      </dgm:t>
    </dgm:pt>
    <dgm:pt modelId="{FE01351F-E794-43F0-831E-BF44485ADACD}" type="parTrans" cxnId="{E9707C86-A931-4926-9D85-D7597BBFE252}">
      <dgm:prSet/>
      <dgm:spPr/>
      <dgm:t>
        <a:bodyPr/>
        <a:lstStyle/>
        <a:p>
          <a:endParaRPr lang="en-US"/>
        </a:p>
      </dgm:t>
    </dgm:pt>
    <dgm:pt modelId="{DFF19B13-0A29-452B-A9B4-39AB23581597}" type="sibTrans" cxnId="{E9707C86-A931-4926-9D85-D7597BBFE252}">
      <dgm:prSet/>
      <dgm:spPr/>
      <dgm:t>
        <a:bodyPr/>
        <a:lstStyle/>
        <a:p>
          <a:endParaRPr lang="en-US"/>
        </a:p>
      </dgm:t>
    </dgm:pt>
    <dgm:pt modelId="{BB81C7F4-2DD0-48D4-BE6C-5515BB9D7F23}">
      <dgm:prSet phldrT="[Text]"/>
      <dgm:spPr/>
      <dgm:t>
        <a:bodyPr/>
        <a:lstStyle/>
        <a:p>
          <a:r>
            <a:rPr lang="el-GR" dirty="0" smtClean="0"/>
            <a:t>Δ</a:t>
          </a:r>
          <a:r>
            <a:rPr lang="en-US" dirty="0" smtClean="0"/>
            <a:t> in Economic Activity</a:t>
          </a:r>
          <a:endParaRPr lang="en-US" dirty="0"/>
        </a:p>
      </dgm:t>
    </dgm:pt>
    <dgm:pt modelId="{7B213305-39BC-42D0-9FD6-5CA4359B6273}" type="parTrans" cxnId="{888C9FAA-9B20-4D83-B812-FD32CCEF6475}">
      <dgm:prSet/>
      <dgm:spPr/>
      <dgm:t>
        <a:bodyPr/>
        <a:lstStyle/>
        <a:p>
          <a:endParaRPr lang="en-US"/>
        </a:p>
      </dgm:t>
    </dgm:pt>
    <dgm:pt modelId="{5565056C-FD43-45DE-AF39-5C9D6B36AE4E}" type="sibTrans" cxnId="{888C9FAA-9B20-4D83-B812-FD32CCEF6475}">
      <dgm:prSet/>
      <dgm:spPr/>
      <dgm:t>
        <a:bodyPr/>
        <a:lstStyle/>
        <a:p>
          <a:endParaRPr lang="en-US"/>
        </a:p>
      </dgm:t>
    </dgm:pt>
    <dgm:pt modelId="{2B7ABB16-E2BD-4057-9A99-6387C21C46D9}">
      <dgm:prSet phldrT="[Text]"/>
      <dgm:spPr/>
      <dgm:t>
        <a:bodyPr/>
        <a:lstStyle/>
        <a:p>
          <a:r>
            <a:rPr lang="el-GR" dirty="0" smtClean="0"/>
            <a:t>Δ</a:t>
          </a:r>
          <a:r>
            <a:rPr lang="en-US" dirty="0" smtClean="0"/>
            <a:t> in Biofuels Policy</a:t>
          </a:r>
          <a:endParaRPr lang="en-US" dirty="0"/>
        </a:p>
      </dgm:t>
    </dgm:pt>
    <dgm:pt modelId="{71393728-FCFA-480A-AA42-F709F8811AA0}" type="parTrans" cxnId="{F81D2DDE-E941-4232-807E-A00D4D9BDB96}">
      <dgm:prSet/>
      <dgm:spPr/>
      <dgm:t>
        <a:bodyPr/>
        <a:lstStyle/>
        <a:p>
          <a:endParaRPr lang="en-US"/>
        </a:p>
      </dgm:t>
    </dgm:pt>
    <dgm:pt modelId="{D3050A72-A9F9-4281-944F-BDEDE26E5445}" type="sibTrans" cxnId="{F81D2DDE-E941-4232-807E-A00D4D9BDB96}">
      <dgm:prSet/>
      <dgm:spPr/>
      <dgm:t>
        <a:bodyPr/>
        <a:lstStyle/>
        <a:p>
          <a:endParaRPr lang="en-US"/>
        </a:p>
      </dgm:t>
    </dgm:pt>
    <dgm:pt modelId="{BCB6C46A-893C-4E1B-9952-182603094599}" type="pres">
      <dgm:prSet presAssocID="{891525E3-EAD5-42D0-8532-333121F76449}" presName="Name0" presStyleCnt="0">
        <dgm:presLayoutVars>
          <dgm:dir/>
          <dgm:resizeHandles val="exact"/>
        </dgm:presLayoutVars>
      </dgm:prSet>
      <dgm:spPr/>
      <dgm:t>
        <a:bodyPr/>
        <a:lstStyle/>
        <a:p>
          <a:endParaRPr lang="en-US"/>
        </a:p>
      </dgm:t>
    </dgm:pt>
    <dgm:pt modelId="{3EA384DF-2D78-4C71-A9D4-80DF5169C9B0}" type="pres">
      <dgm:prSet presAssocID="{2B7ABB16-E2BD-4057-9A99-6387C21C46D9}" presName="node" presStyleLbl="node1" presStyleIdx="0" presStyleCnt="6">
        <dgm:presLayoutVars>
          <dgm:bulletEnabled val="1"/>
        </dgm:presLayoutVars>
      </dgm:prSet>
      <dgm:spPr/>
      <dgm:t>
        <a:bodyPr/>
        <a:lstStyle/>
        <a:p>
          <a:endParaRPr lang="en-US"/>
        </a:p>
      </dgm:t>
    </dgm:pt>
    <dgm:pt modelId="{9B0E9264-E4AC-41FC-82D4-74EEE23059F8}" type="pres">
      <dgm:prSet presAssocID="{D3050A72-A9F9-4281-944F-BDEDE26E5445}" presName="sibTrans" presStyleLbl="sibTrans2D1" presStyleIdx="0" presStyleCnt="5"/>
      <dgm:spPr/>
      <dgm:t>
        <a:bodyPr/>
        <a:lstStyle/>
        <a:p>
          <a:endParaRPr lang="en-US"/>
        </a:p>
      </dgm:t>
    </dgm:pt>
    <dgm:pt modelId="{3437B6DE-F6E7-4DAA-87F2-68E2DF35E243}" type="pres">
      <dgm:prSet presAssocID="{D3050A72-A9F9-4281-944F-BDEDE26E5445}" presName="connectorText" presStyleLbl="sibTrans2D1" presStyleIdx="0" presStyleCnt="5"/>
      <dgm:spPr/>
      <dgm:t>
        <a:bodyPr/>
        <a:lstStyle/>
        <a:p>
          <a:endParaRPr lang="en-US"/>
        </a:p>
      </dgm:t>
    </dgm:pt>
    <dgm:pt modelId="{09D894CE-F2FF-4606-9F4A-98EF0C0DF168}" type="pres">
      <dgm:prSet presAssocID="{DF29C92C-CA93-441A-93C3-F0948981E0E5}" presName="node" presStyleLbl="node1" presStyleIdx="1" presStyleCnt="6" custScaleX="117546">
        <dgm:presLayoutVars>
          <dgm:bulletEnabled val="1"/>
        </dgm:presLayoutVars>
      </dgm:prSet>
      <dgm:spPr/>
      <dgm:t>
        <a:bodyPr/>
        <a:lstStyle/>
        <a:p>
          <a:endParaRPr lang="en-US"/>
        </a:p>
      </dgm:t>
    </dgm:pt>
    <dgm:pt modelId="{D460EE15-15B5-4D09-9E16-4ECE7618097C}" type="pres">
      <dgm:prSet presAssocID="{E85FEB26-208C-45E8-8BF1-8FD5D8BD01E3}" presName="sibTrans" presStyleLbl="sibTrans2D1" presStyleIdx="1" presStyleCnt="5"/>
      <dgm:spPr/>
      <dgm:t>
        <a:bodyPr/>
        <a:lstStyle/>
        <a:p>
          <a:endParaRPr lang="en-US"/>
        </a:p>
      </dgm:t>
    </dgm:pt>
    <dgm:pt modelId="{5F7D3D8E-DB31-4CFC-AFB1-13448528A6B5}" type="pres">
      <dgm:prSet presAssocID="{E85FEB26-208C-45E8-8BF1-8FD5D8BD01E3}" presName="connectorText" presStyleLbl="sibTrans2D1" presStyleIdx="1" presStyleCnt="5"/>
      <dgm:spPr/>
      <dgm:t>
        <a:bodyPr/>
        <a:lstStyle/>
        <a:p>
          <a:endParaRPr lang="en-US"/>
        </a:p>
      </dgm:t>
    </dgm:pt>
    <dgm:pt modelId="{1DAB50F0-31B0-4C47-8D79-86348DB6EA8D}" type="pres">
      <dgm:prSet presAssocID="{6DD8679E-AC14-47DC-9CE3-7A3543E63D60}" presName="node" presStyleLbl="node1" presStyleIdx="2" presStyleCnt="6">
        <dgm:presLayoutVars>
          <dgm:bulletEnabled val="1"/>
        </dgm:presLayoutVars>
      </dgm:prSet>
      <dgm:spPr/>
      <dgm:t>
        <a:bodyPr/>
        <a:lstStyle/>
        <a:p>
          <a:endParaRPr lang="en-US"/>
        </a:p>
      </dgm:t>
    </dgm:pt>
    <dgm:pt modelId="{8C24136E-FB90-4B72-B550-7CE5F10AA7DC}" type="pres">
      <dgm:prSet presAssocID="{1ADEF7C5-880E-49C6-AB60-1EE6486A85B2}" presName="sibTrans" presStyleLbl="sibTrans2D1" presStyleIdx="2" presStyleCnt="5"/>
      <dgm:spPr/>
      <dgm:t>
        <a:bodyPr/>
        <a:lstStyle/>
        <a:p>
          <a:endParaRPr lang="en-US"/>
        </a:p>
      </dgm:t>
    </dgm:pt>
    <dgm:pt modelId="{B0D94736-CE0C-4822-BCD7-FBFB12CF2CB5}" type="pres">
      <dgm:prSet presAssocID="{1ADEF7C5-880E-49C6-AB60-1EE6486A85B2}" presName="connectorText" presStyleLbl="sibTrans2D1" presStyleIdx="2" presStyleCnt="5"/>
      <dgm:spPr/>
      <dgm:t>
        <a:bodyPr/>
        <a:lstStyle/>
        <a:p>
          <a:endParaRPr lang="en-US"/>
        </a:p>
      </dgm:t>
    </dgm:pt>
    <dgm:pt modelId="{86CD47AB-9A49-4194-BDC0-7A5ECAA268FC}" type="pres">
      <dgm:prSet presAssocID="{260E223A-ED3F-4D81-8D68-B5E21C2A6614}" presName="node" presStyleLbl="node1" presStyleIdx="3" presStyleCnt="6">
        <dgm:presLayoutVars>
          <dgm:bulletEnabled val="1"/>
        </dgm:presLayoutVars>
      </dgm:prSet>
      <dgm:spPr/>
      <dgm:t>
        <a:bodyPr/>
        <a:lstStyle/>
        <a:p>
          <a:endParaRPr lang="en-US"/>
        </a:p>
      </dgm:t>
    </dgm:pt>
    <dgm:pt modelId="{63570BDE-703D-4CD3-AB4B-BA6FAB990983}" type="pres">
      <dgm:prSet presAssocID="{A4DA1497-2C83-4581-8AB8-928E59ACE6C9}" presName="sibTrans" presStyleLbl="sibTrans2D1" presStyleIdx="3" presStyleCnt="5"/>
      <dgm:spPr/>
      <dgm:t>
        <a:bodyPr/>
        <a:lstStyle/>
        <a:p>
          <a:endParaRPr lang="en-US"/>
        </a:p>
      </dgm:t>
    </dgm:pt>
    <dgm:pt modelId="{F57C2FDD-270B-4D98-BD5D-CDB12998B5D3}" type="pres">
      <dgm:prSet presAssocID="{A4DA1497-2C83-4581-8AB8-928E59ACE6C9}" presName="connectorText" presStyleLbl="sibTrans2D1" presStyleIdx="3" presStyleCnt="5"/>
      <dgm:spPr/>
      <dgm:t>
        <a:bodyPr/>
        <a:lstStyle/>
        <a:p>
          <a:endParaRPr lang="en-US"/>
        </a:p>
      </dgm:t>
    </dgm:pt>
    <dgm:pt modelId="{6A2D55E8-3B8F-42A8-8D3C-20D3305FB98F}" type="pres">
      <dgm:prSet presAssocID="{BB81C7F4-2DD0-48D4-BE6C-5515BB9D7F23}" presName="node" presStyleLbl="node1" presStyleIdx="4" presStyleCnt="6">
        <dgm:presLayoutVars>
          <dgm:bulletEnabled val="1"/>
        </dgm:presLayoutVars>
      </dgm:prSet>
      <dgm:spPr/>
      <dgm:t>
        <a:bodyPr/>
        <a:lstStyle/>
        <a:p>
          <a:endParaRPr lang="en-US"/>
        </a:p>
      </dgm:t>
    </dgm:pt>
    <dgm:pt modelId="{316CB2AE-2E07-4CB5-90B7-D8BD30FED0DA}" type="pres">
      <dgm:prSet presAssocID="{5565056C-FD43-45DE-AF39-5C9D6B36AE4E}" presName="sibTrans" presStyleLbl="sibTrans2D1" presStyleIdx="4" presStyleCnt="5"/>
      <dgm:spPr/>
      <dgm:t>
        <a:bodyPr/>
        <a:lstStyle/>
        <a:p>
          <a:endParaRPr lang="en-US"/>
        </a:p>
      </dgm:t>
    </dgm:pt>
    <dgm:pt modelId="{4F556229-DA32-48D3-97A7-C580B381E17A}" type="pres">
      <dgm:prSet presAssocID="{5565056C-FD43-45DE-AF39-5C9D6B36AE4E}" presName="connectorText" presStyleLbl="sibTrans2D1" presStyleIdx="4" presStyleCnt="5"/>
      <dgm:spPr/>
      <dgm:t>
        <a:bodyPr/>
        <a:lstStyle/>
        <a:p>
          <a:endParaRPr lang="en-US"/>
        </a:p>
      </dgm:t>
    </dgm:pt>
    <dgm:pt modelId="{9AF7D0E4-2967-4684-A32E-EFE985F5F50E}" type="pres">
      <dgm:prSet presAssocID="{F9CE2348-A118-4B1F-B342-7E5B63B8DA55}" presName="node" presStyleLbl="node1" presStyleIdx="5" presStyleCnt="6">
        <dgm:presLayoutVars>
          <dgm:bulletEnabled val="1"/>
        </dgm:presLayoutVars>
      </dgm:prSet>
      <dgm:spPr/>
      <dgm:t>
        <a:bodyPr/>
        <a:lstStyle/>
        <a:p>
          <a:endParaRPr lang="en-US"/>
        </a:p>
      </dgm:t>
    </dgm:pt>
  </dgm:ptLst>
  <dgm:cxnLst>
    <dgm:cxn modelId="{E7B783BD-8792-455D-A664-846EFEB25896}" type="presOf" srcId="{DF29C92C-CA93-441A-93C3-F0948981E0E5}" destId="{09D894CE-F2FF-4606-9F4A-98EF0C0DF168}" srcOrd="0" destOrd="0" presId="urn:microsoft.com/office/officeart/2005/8/layout/process1"/>
    <dgm:cxn modelId="{4898C345-3556-4052-8CE0-B2B6275854B5}" type="presOf" srcId="{A4DA1497-2C83-4581-8AB8-928E59ACE6C9}" destId="{63570BDE-703D-4CD3-AB4B-BA6FAB990983}" srcOrd="0" destOrd="0" presId="urn:microsoft.com/office/officeart/2005/8/layout/process1"/>
    <dgm:cxn modelId="{B9ABE4AE-83ED-43C3-A904-681077EADACD}" type="presOf" srcId="{1ADEF7C5-880E-49C6-AB60-1EE6486A85B2}" destId="{8C24136E-FB90-4B72-B550-7CE5F10AA7DC}" srcOrd="0" destOrd="0" presId="urn:microsoft.com/office/officeart/2005/8/layout/process1"/>
    <dgm:cxn modelId="{FA62D477-861A-4305-920C-06C8F9B40824}" type="presOf" srcId="{5565056C-FD43-45DE-AF39-5C9D6B36AE4E}" destId="{4F556229-DA32-48D3-97A7-C580B381E17A}" srcOrd="1" destOrd="0" presId="urn:microsoft.com/office/officeart/2005/8/layout/process1"/>
    <dgm:cxn modelId="{C91EC941-6242-47F7-9FDD-153A38620666}" type="presOf" srcId="{260E223A-ED3F-4D81-8D68-B5E21C2A6614}" destId="{86CD47AB-9A49-4194-BDC0-7A5ECAA268FC}" srcOrd="0" destOrd="0" presId="urn:microsoft.com/office/officeart/2005/8/layout/process1"/>
    <dgm:cxn modelId="{C106D3A0-8023-4233-9A34-398E7DE8CBD8}" srcId="{891525E3-EAD5-42D0-8532-333121F76449}" destId="{DF29C92C-CA93-441A-93C3-F0948981E0E5}" srcOrd="1" destOrd="0" parTransId="{3B2DD620-ECA1-4738-9389-30D65CC8539F}" sibTransId="{E85FEB26-208C-45E8-8BF1-8FD5D8BD01E3}"/>
    <dgm:cxn modelId="{809B5A11-81EE-49B5-BC3C-C12D9B7D3757}" type="presOf" srcId="{5565056C-FD43-45DE-AF39-5C9D6B36AE4E}" destId="{316CB2AE-2E07-4CB5-90B7-D8BD30FED0DA}" srcOrd="0" destOrd="0" presId="urn:microsoft.com/office/officeart/2005/8/layout/process1"/>
    <dgm:cxn modelId="{888C9FAA-9B20-4D83-B812-FD32CCEF6475}" srcId="{891525E3-EAD5-42D0-8532-333121F76449}" destId="{BB81C7F4-2DD0-48D4-BE6C-5515BB9D7F23}" srcOrd="4" destOrd="0" parTransId="{7B213305-39BC-42D0-9FD6-5CA4359B6273}" sibTransId="{5565056C-FD43-45DE-AF39-5C9D6B36AE4E}"/>
    <dgm:cxn modelId="{179DC5E2-DCA3-4993-A639-33B5BAD91878}" type="presOf" srcId="{891525E3-EAD5-42D0-8532-333121F76449}" destId="{BCB6C46A-893C-4E1B-9952-182603094599}" srcOrd="0" destOrd="0" presId="urn:microsoft.com/office/officeart/2005/8/layout/process1"/>
    <dgm:cxn modelId="{14C23E38-9D5D-4595-A60F-140B62C80788}" type="presOf" srcId="{1ADEF7C5-880E-49C6-AB60-1EE6486A85B2}" destId="{B0D94736-CE0C-4822-BCD7-FBFB12CF2CB5}" srcOrd="1" destOrd="0" presId="urn:microsoft.com/office/officeart/2005/8/layout/process1"/>
    <dgm:cxn modelId="{62125995-11DB-44A3-B4F1-3B93DD7909EB}" type="presOf" srcId="{BB81C7F4-2DD0-48D4-BE6C-5515BB9D7F23}" destId="{6A2D55E8-3B8F-42A8-8D3C-20D3305FB98F}" srcOrd="0" destOrd="0" presId="urn:microsoft.com/office/officeart/2005/8/layout/process1"/>
    <dgm:cxn modelId="{957B39B8-109A-4174-AFE6-E909386DC314}" type="presOf" srcId="{D3050A72-A9F9-4281-944F-BDEDE26E5445}" destId="{3437B6DE-F6E7-4DAA-87F2-68E2DF35E243}" srcOrd="1" destOrd="0" presId="urn:microsoft.com/office/officeart/2005/8/layout/process1"/>
    <dgm:cxn modelId="{99E0EBFE-8956-4467-904A-F9C4BB807979}" type="presOf" srcId="{D3050A72-A9F9-4281-944F-BDEDE26E5445}" destId="{9B0E9264-E4AC-41FC-82D4-74EEE23059F8}" srcOrd="0" destOrd="0" presId="urn:microsoft.com/office/officeart/2005/8/layout/process1"/>
    <dgm:cxn modelId="{E9707C86-A931-4926-9D85-D7597BBFE252}" srcId="{891525E3-EAD5-42D0-8532-333121F76449}" destId="{F9CE2348-A118-4B1F-B342-7E5B63B8DA55}" srcOrd="5" destOrd="0" parTransId="{FE01351F-E794-43F0-831E-BF44485ADACD}" sibTransId="{DFF19B13-0A29-452B-A9B4-39AB23581597}"/>
    <dgm:cxn modelId="{423B6BF0-D586-4F72-ACC2-A39FCFE4A160}" srcId="{891525E3-EAD5-42D0-8532-333121F76449}" destId="{6DD8679E-AC14-47DC-9CE3-7A3543E63D60}" srcOrd="2" destOrd="0" parTransId="{D3B267A3-8234-4B62-A9A1-FB13CC2F95B0}" sibTransId="{1ADEF7C5-880E-49C6-AB60-1EE6486A85B2}"/>
    <dgm:cxn modelId="{E868955B-83F7-4C61-8569-A5A011F31CE8}" type="presOf" srcId="{2B7ABB16-E2BD-4057-9A99-6387C21C46D9}" destId="{3EA384DF-2D78-4C71-A9D4-80DF5169C9B0}" srcOrd="0" destOrd="0" presId="urn:microsoft.com/office/officeart/2005/8/layout/process1"/>
    <dgm:cxn modelId="{01B5A91E-DB1C-4504-BD44-8486B1E3BAC1}" type="presOf" srcId="{E85FEB26-208C-45E8-8BF1-8FD5D8BD01E3}" destId="{5F7D3D8E-DB31-4CFC-AFB1-13448528A6B5}" srcOrd="1" destOrd="0" presId="urn:microsoft.com/office/officeart/2005/8/layout/process1"/>
    <dgm:cxn modelId="{FC5EE4E6-72DA-42EC-BA17-23EBBA81E87C}" type="presOf" srcId="{6DD8679E-AC14-47DC-9CE3-7A3543E63D60}" destId="{1DAB50F0-31B0-4C47-8D79-86348DB6EA8D}" srcOrd="0" destOrd="0" presId="urn:microsoft.com/office/officeart/2005/8/layout/process1"/>
    <dgm:cxn modelId="{5FC4B823-D15F-4661-B030-EC1947FE8168}" srcId="{891525E3-EAD5-42D0-8532-333121F76449}" destId="{260E223A-ED3F-4D81-8D68-B5E21C2A6614}" srcOrd="3" destOrd="0" parTransId="{3C7811E5-2E0C-4614-875A-00E78AC227A8}" sibTransId="{A4DA1497-2C83-4581-8AB8-928E59ACE6C9}"/>
    <dgm:cxn modelId="{F81D2DDE-E941-4232-807E-A00D4D9BDB96}" srcId="{891525E3-EAD5-42D0-8532-333121F76449}" destId="{2B7ABB16-E2BD-4057-9A99-6387C21C46D9}" srcOrd="0" destOrd="0" parTransId="{71393728-FCFA-480A-AA42-F709F8811AA0}" sibTransId="{D3050A72-A9F9-4281-944F-BDEDE26E5445}"/>
    <dgm:cxn modelId="{007B03AC-D97A-4E9E-86FE-A765F1285C13}" type="presOf" srcId="{E85FEB26-208C-45E8-8BF1-8FD5D8BD01E3}" destId="{D460EE15-15B5-4D09-9E16-4ECE7618097C}" srcOrd="0" destOrd="0" presId="urn:microsoft.com/office/officeart/2005/8/layout/process1"/>
    <dgm:cxn modelId="{5DA50298-BD1F-42E2-B5BF-BA32957F8573}" type="presOf" srcId="{F9CE2348-A118-4B1F-B342-7E5B63B8DA55}" destId="{9AF7D0E4-2967-4684-A32E-EFE985F5F50E}" srcOrd="0" destOrd="0" presId="urn:microsoft.com/office/officeart/2005/8/layout/process1"/>
    <dgm:cxn modelId="{43C3F18B-CC81-467F-841B-3CA059B55D31}" type="presOf" srcId="{A4DA1497-2C83-4581-8AB8-928E59ACE6C9}" destId="{F57C2FDD-270B-4D98-BD5D-CDB12998B5D3}" srcOrd="1" destOrd="0" presId="urn:microsoft.com/office/officeart/2005/8/layout/process1"/>
    <dgm:cxn modelId="{8170ABAF-D589-4660-9945-9F7DA26BABE2}" type="presParOf" srcId="{BCB6C46A-893C-4E1B-9952-182603094599}" destId="{3EA384DF-2D78-4C71-A9D4-80DF5169C9B0}" srcOrd="0" destOrd="0" presId="urn:microsoft.com/office/officeart/2005/8/layout/process1"/>
    <dgm:cxn modelId="{95A1CF33-7057-437E-8408-70A19FAF9099}" type="presParOf" srcId="{BCB6C46A-893C-4E1B-9952-182603094599}" destId="{9B0E9264-E4AC-41FC-82D4-74EEE23059F8}" srcOrd="1" destOrd="0" presId="urn:microsoft.com/office/officeart/2005/8/layout/process1"/>
    <dgm:cxn modelId="{D27132AA-9E38-46D9-A425-6EF0BA435F6A}" type="presParOf" srcId="{9B0E9264-E4AC-41FC-82D4-74EEE23059F8}" destId="{3437B6DE-F6E7-4DAA-87F2-68E2DF35E243}" srcOrd="0" destOrd="0" presId="urn:microsoft.com/office/officeart/2005/8/layout/process1"/>
    <dgm:cxn modelId="{C0D337A5-BC69-4300-BDA4-25AE6243FE27}" type="presParOf" srcId="{BCB6C46A-893C-4E1B-9952-182603094599}" destId="{09D894CE-F2FF-4606-9F4A-98EF0C0DF168}" srcOrd="2" destOrd="0" presId="urn:microsoft.com/office/officeart/2005/8/layout/process1"/>
    <dgm:cxn modelId="{41DAFC2E-52DE-4856-9A2C-07D7E1FD3E83}" type="presParOf" srcId="{BCB6C46A-893C-4E1B-9952-182603094599}" destId="{D460EE15-15B5-4D09-9E16-4ECE7618097C}" srcOrd="3" destOrd="0" presId="urn:microsoft.com/office/officeart/2005/8/layout/process1"/>
    <dgm:cxn modelId="{C5A553F5-868A-4959-B87D-15B3C7AE88F0}" type="presParOf" srcId="{D460EE15-15B5-4D09-9E16-4ECE7618097C}" destId="{5F7D3D8E-DB31-4CFC-AFB1-13448528A6B5}" srcOrd="0" destOrd="0" presId="urn:microsoft.com/office/officeart/2005/8/layout/process1"/>
    <dgm:cxn modelId="{1935135B-D655-4C5E-A0D8-C8C860BA9620}" type="presParOf" srcId="{BCB6C46A-893C-4E1B-9952-182603094599}" destId="{1DAB50F0-31B0-4C47-8D79-86348DB6EA8D}" srcOrd="4" destOrd="0" presId="urn:microsoft.com/office/officeart/2005/8/layout/process1"/>
    <dgm:cxn modelId="{8D082F74-61CC-4900-AE10-C3D7423C8839}" type="presParOf" srcId="{BCB6C46A-893C-4E1B-9952-182603094599}" destId="{8C24136E-FB90-4B72-B550-7CE5F10AA7DC}" srcOrd="5" destOrd="0" presId="urn:microsoft.com/office/officeart/2005/8/layout/process1"/>
    <dgm:cxn modelId="{01F323B5-225D-4980-9D2B-A87C077B0D6E}" type="presParOf" srcId="{8C24136E-FB90-4B72-B550-7CE5F10AA7DC}" destId="{B0D94736-CE0C-4822-BCD7-FBFB12CF2CB5}" srcOrd="0" destOrd="0" presId="urn:microsoft.com/office/officeart/2005/8/layout/process1"/>
    <dgm:cxn modelId="{A720D659-DA00-43F5-8B15-A4E7F21B1236}" type="presParOf" srcId="{BCB6C46A-893C-4E1B-9952-182603094599}" destId="{86CD47AB-9A49-4194-BDC0-7A5ECAA268FC}" srcOrd="6" destOrd="0" presId="urn:microsoft.com/office/officeart/2005/8/layout/process1"/>
    <dgm:cxn modelId="{02CA9B81-1B04-4DFC-985D-16E71B414918}" type="presParOf" srcId="{BCB6C46A-893C-4E1B-9952-182603094599}" destId="{63570BDE-703D-4CD3-AB4B-BA6FAB990983}" srcOrd="7" destOrd="0" presId="urn:microsoft.com/office/officeart/2005/8/layout/process1"/>
    <dgm:cxn modelId="{D4C72079-46F9-49D7-B078-764ACE2616EE}" type="presParOf" srcId="{63570BDE-703D-4CD3-AB4B-BA6FAB990983}" destId="{F57C2FDD-270B-4D98-BD5D-CDB12998B5D3}" srcOrd="0" destOrd="0" presId="urn:microsoft.com/office/officeart/2005/8/layout/process1"/>
    <dgm:cxn modelId="{A0D95DF2-BBC4-4C3F-A005-9B8C2DFC4908}" type="presParOf" srcId="{BCB6C46A-893C-4E1B-9952-182603094599}" destId="{6A2D55E8-3B8F-42A8-8D3C-20D3305FB98F}" srcOrd="8" destOrd="0" presId="urn:microsoft.com/office/officeart/2005/8/layout/process1"/>
    <dgm:cxn modelId="{CFCC62C6-8CAA-438A-AD0F-F17E4A469E1E}" type="presParOf" srcId="{BCB6C46A-893C-4E1B-9952-182603094599}" destId="{316CB2AE-2E07-4CB5-90B7-D8BD30FED0DA}" srcOrd="9" destOrd="0" presId="urn:microsoft.com/office/officeart/2005/8/layout/process1"/>
    <dgm:cxn modelId="{165306BE-5B19-4A05-949A-FE2F37966A36}" type="presParOf" srcId="{316CB2AE-2E07-4CB5-90B7-D8BD30FED0DA}" destId="{4F556229-DA32-48D3-97A7-C580B381E17A}" srcOrd="0" destOrd="0" presId="urn:microsoft.com/office/officeart/2005/8/layout/process1"/>
    <dgm:cxn modelId="{20766AF1-8DE1-4E76-ABCB-32A5B6C8CEDE}" type="presParOf" srcId="{BCB6C46A-893C-4E1B-9952-182603094599}" destId="{9AF7D0E4-2967-4684-A32E-EFE985F5F50E}" srcOrd="10" destOrd="0" presId="urn:microsoft.com/office/officeart/2005/8/layout/process1"/>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rawing1.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3EA384DF-2D78-4C71-A9D4-80DF5169C9B0}">
      <dsp:nvSpPr>
        <dsp:cNvPr id="0" name=""/>
        <dsp:cNvSpPr/>
      </dsp:nvSpPr>
      <dsp:spPr>
        <a:xfrm>
          <a:off x="96" y="385552"/>
          <a:ext cx="1025239" cy="905294"/>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l-GR" sz="1400" kern="1200" dirty="0" smtClean="0"/>
            <a:t>Δ</a:t>
          </a:r>
          <a:r>
            <a:rPr lang="en-US" sz="1400" kern="1200" dirty="0" smtClean="0"/>
            <a:t> in Biofuels Policy</a:t>
          </a:r>
          <a:endParaRPr lang="en-US" sz="1400" kern="1200" dirty="0"/>
        </a:p>
      </dsp:txBody>
      <dsp:txXfrm>
        <a:off x="96" y="385552"/>
        <a:ext cx="1025239" cy="905294"/>
      </dsp:txXfrm>
    </dsp:sp>
    <dsp:sp modelId="{9B0E9264-E4AC-41FC-82D4-74EEE23059F8}">
      <dsp:nvSpPr>
        <dsp:cNvPr id="0" name=""/>
        <dsp:cNvSpPr/>
      </dsp:nvSpPr>
      <dsp:spPr>
        <a:xfrm>
          <a:off x="1127860" y="711070"/>
          <a:ext cx="217350" cy="25425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88950">
            <a:lnSpc>
              <a:spcPct val="90000"/>
            </a:lnSpc>
            <a:spcBef>
              <a:spcPct val="0"/>
            </a:spcBef>
            <a:spcAft>
              <a:spcPct val="35000"/>
            </a:spcAft>
          </a:pPr>
          <a:endParaRPr lang="en-US" sz="1100" kern="1200"/>
        </a:p>
      </dsp:txBody>
      <dsp:txXfrm>
        <a:off x="1127860" y="711070"/>
        <a:ext cx="217350" cy="254259"/>
      </dsp:txXfrm>
    </dsp:sp>
    <dsp:sp modelId="{09D894CE-F2FF-4606-9F4A-98EF0C0DF168}">
      <dsp:nvSpPr>
        <dsp:cNvPr id="0" name=""/>
        <dsp:cNvSpPr/>
      </dsp:nvSpPr>
      <dsp:spPr>
        <a:xfrm>
          <a:off x="1435432" y="385552"/>
          <a:ext cx="1205128" cy="905294"/>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lvl="0" algn="ctr" defTabSz="577850">
            <a:lnSpc>
              <a:spcPct val="90000"/>
            </a:lnSpc>
            <a:spcBef>
              <a:spcPct val="0"/>
            </a:spcBef>
            <a:spcAft>
              <a:spcPct val="35000"/>
            </a:spcAft>
          </a:pPr>
          <a:r>
            <a:rPr lang="el-GR" sz="1300" kern="1200" dirty="0" smtClean="0"/>
            <a:t>Δ</a:t>
          </a:r>
          <a:r>
            <a:rPr lang="en-US" sz="1300" kern="1200" dirty="0" smtClean="0"/>
            <a:t> in Landscapes</a:t>
          </a:r>
          <a:endParaRPr lang="en-US" sz="1300" kern="1200" dirty="0"/>
        </a:p>
      </dsp:txBody>
      <dsp:txXfrm>
        <a:off x="1435432" y="385552"/>
        <a:ext cx="1205128" cy="905294"/>
      </dsp:txXfrm>
    </dsp:sp>
    <dsp:sp modelId="{D460EE15-15B5-4D09-9E16-4ECE7618097C}">
      <dsp:nvSpPr>
        <dsp:cNvPr id="0" name=""/>
        <dsp:cNvSpPr/>
      </dsp:nvSpPr>
      <dsp:spPr>
        <a:xfrm>
          <a:off x="2743084" y="711070"/>
          <a:ext cx="217350" cy="25425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88950">
            <a:lnSpc>
              <a:spcPct val="90000"/>
            </a:lnSpc>
            <a:spcBef>
              <a:spcPct val="0"/>
            </a:spcBef>
            <a:spcAft>
              <a:spcPct val="35000"/>
            </a:spcAft>
          </a:pPr>
          <a:endParaRPr lang="en-US" sz="1100" kern="1200"/>
        </a:p>
      </dsp:txBody>
      <dsp:txXfrm>
        <a:off x="2743084" y="711070"/>
        <a:ext cx="217350" cy="254259"/>
      </dsp:txXfrm>
    </dsp:sp>
    <dsp:sp modelId="{1DAB50F0-31B0-4C47-8D79-86348DB6EA8D}">
      <dsp:nvSpPr>
        <dsp:cNvPr id="0" name=""/>
        <dsp:cNvSpPr/>
      </dsp:nvSpPr>
      <dsp:spPr>
        <a:xfrm>
          <a:off x="3050656" y="385552"/>
          <a:ext cx="1025239" cy="905294"/>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lvl="0" algn="ctr" defTabSz="577850">
            <a:lnSpc>
              <a:spcPct val="90000"/>
            </a:lnSpc>
            <a:spcBef>
              <a:spcPct val="0"/>
            </a:spcBef>
            <a:spcAft>
              <a:spcPct val="35000"/>
            </a:spcAft>
          </a:pPr>
          <a:r>
            <a:rPr lang="el-GR" sz="1300" kern="1200" dirty="0" smtClean="0"/>
            <a:t>Δ</a:t>
          </a:r>
          <a:r>
            <a:rPr lang="en-US" sz="1300" kern="1200" dirty="0" smtClean="0"/>
            <a:t> in Water Quality and Quantity</a:t>
          </a:r>
          <a:endParaRPr lang="en-US" sz="1300" kern="1200" dirty="0"/>
        </a:p>
      </dsp:txBody>
      <dsp:txXfrm>
        <a:off x="3050656" y="385552"/>
        <a:ext cx="1025239" cy="905294"/>
      </dsp:txXfrm>
    </dsp:sp>
    <dsp:sp modelId="{8C24136E-FB90-4B72-B550-7CE5F10AA7DC}">
      <dsp:nvSpPr>
        <dsp:cNvPr id="0" name=""/>
        <dsp:cNvSpPr/>
      </dsp:nvSpPr>
      <dsp:spPr>
        <a:xfrm>
          <a:off x="4178420" y="711070"/>
          <a:ext cx="217350" cy="25425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88950">
            <a:lnSpc>
              <a:spcPct val="90000"/>
            </a:lnSpc>
            <a:spcBef>
              <a:spcPct val="0"/>
            </a:spcBef>
            <a:spcAft>
              <a:spcPct val="35000"/>
            </a:spcAft>
          </a:pPr>
          <a:endParaRPr lang="en-US" sz="1100" kern="1200"/>
        </a:p>
      </dsp:txBody>
      <dsp:txXfrm>
        <a:off x="4178420" y="711070"/>
        <a:ext cx="217350" cy="254259"/>
      </dsp:txXfrm>
    </dsp:sp>
    <dsp:sp modelId="{86CD47AB-9A49-4194-BDC0-7A5ECAA268FC}">
      <dsp:nvSpPr>
        <dsp:cNvPr id="0" name=""/>
        <dsp:cNvSpPr/>
      </dsp:nvSpPr>
      <dsp:spPr>
        <a:xfrm>
          <a:off x="4485992" y="385552"/>
          <a:ext cx="1025239" cy="905294"/>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lvl="0" algn="ctr" defTabSz="577850">
            <a:lnSpc>
              <a:spcPct val="90000"/>
            </a:lnSpc>
            <a:spcBef>
              <a:spcPct val="0"/>
            </a:spcBef>
            <a:spcAft>
              <a:spcPct val="35000"/>
            </a:spcAft>
          </a:pPr>
          <a:r>
            <a:rPr lang="el-GR" sz="1300" kern="1200" dirty="0" smtClean="0"/>
            <a:t>Δ</a:t>
          </a:r>
          <a:r>
            <a:rPr lang="en-US" sz="1300" kern="1200" dirty="0" smtClean="0"/>
            <a:t> in Species Richness</a:t>
          </a:r>
          <a:endParaRPr lang="en-US" sz="1300" kern="1200" dirty="0"/>
        </a:p>
      </dsp:txBody>
      <dsp:txXfrm>
        <a:off x="4485992" y="385552"/>
        <a:ext cx="1025239" cy="905294"/>
      </dsp:txXfrm>
    </dsp:sp>
    <dsp:sp modelId="{63570BDE-703D-4CD3-AB4B-BA6FAB990983}">
      <dsp:nvSpPr>
        <dsp:cNvPr id="0" name=""/>
        <dsp:cNvSpPr/>
      </dsp:nvSpPr>
      <dsp:spPr>
        <a:xfrm>
          <a:off x="5613755" y="711070"/>
          <a:ext cx="217350" cy="25425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88950">
            <a:lnSpc>
              <a:spcPct val="90000"/>
            </a:lnSpc>
            <a:spcBef>
              <a:spcPct val="0"/>
            </a:spcBef>
            <a:spcAft>
              <a:spcPct val="35000"/>
            </a:spcAft>
          </a:pPr>
          <a:endParaRPr lang="en-US" sz="1100" kern="1200"/>
        </a:p>
      </dsp:txBody>
      <dsp:txXfrm>
        <a:off x="5613755" y="711070"/>
        <a:ext cx="217350" cy="254259"/>
      </dsp:txXfrm>
    </dsp:sp>
    <dsp:sp modelId="{6A2D55E8-3B8F-42A8-8D3C-20D3305FB98F}">
      <dsp:nvSpPr>
        <dsp:cNvPr id="0" name=""/>
        <dsp:cNvSpPr/>
      </dsp:nvSpPr>
      <dsp:spPr>
        <a:xfrm>
          <a:off x="5921327" y="385552"/>
          <a:ext cx="1025239" cy="905294"/>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lvl="0" algn="ctr" defTabSz="577850">
            <a:lnSpc>
              <a:spcPct val="90000"/>
            </a:lnSpc>
            <a:spcBef>
              <a:spcPct val="0"/>
            </a:spcBef>
            <a:spcAft>
              <a:spcPct val="35000"/>
            </a:spcAft>
          </a:pPr>
          <a:r>
            <a:rPr lang="el-GR" sz="1300" kern="1200" dirty="0" smtClean="0"/>
            <a:t>Δ</a:t>
          </a:r>
          <a:r>
            <a:rPr lang="en-US" sz="1300" kern="1200" dirty="0" smtClean="0"/>
            <a:t> in Economic Activity</a:t>
          </a:r>
          <a:endParaRPr lang="en-US" sz="1300" kern="1200" dirty="0"/>
        </a:p>
      </dsp:txBody>
      <dsp:txXfrm>
        <a:off x="5921327" y="385552"/>
        <a:ext cx="1025239" cy="905294"/>
      </dsp:txXfrm>
    </dsp:sp>
    <dsp:sp modelId="{316CB2AE-2E07-4CB5-90B7-D8BD30FED0DA}">
      <dsp:nvSpPr>
        <dsp:cNvPr id="0" name=""/>
        <dsp:cNvSpPr/>
      </dsp:nvSpPr>
      <dsp:spPr>
        <a:xfrm>
          <a:off x="7049091" y="711070"/>
          <a:ext cx="217350" cy="25425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88950">
            <a:lnSpc>
              <a:spcPct val="90000"/>
            </a:lnSpc>
            <a:spcBef>
              <a:spcPct val="0"/>
            </a:spcBef>
            <a:spcAft>
              <a:spcPct val="35000"/>
            </a:spcAft>
          </a:pPr>
          <a:endParaRPr lang="en-US" sz="1100" kern="1200"/>
        </a:p>
      </dsp:txBody>
      <dsp:txXfrm>
        <a:off x="7049091" y="711070"/>
        <a:ext cx="217350" cy="254259"/>
      </dsp:txXfrm>
    </dsp:sp>
    <dsp:sp modelId="{9AF7D0E4-2967-4684-A32E-EFE985F5F50E}">
      <dsp:nvSpPr>
        <dsp:cNvPr id="0" name=""/>
        <dsp:cNvSpPr/>
      </dsp:nvSpPr>
      <dsp:spPr>
        <a:xfrm>
          <a:off x="7356663" y="385552"/>
          <a:ext cx="1025239" cy="905294"/>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lvl="0" algn="ctr" defTabSz="577850">
            <a:lnSpc>
              <a:spcPct val="90000"/>
            </a:lnSpc>
            <a:spcBef>
              <a:spcPct val="0"/>
            </a:spcBef>
            <a:spcAft>
              <a:spcPct val="35000"/>
            </a:spcAft>
          </a:pPr>
          <a:r>
            <a:rPr lang="el-GR" sz="1300" kern="1200" dirty="0" smtClean="0"/>
            <a:t>Δ</a:t>
          </a:r>
          <a:r>
            <a:rPr lang="en-US" sz="1300" kern="1200" dirty="0" smtClean="0"/>
            <a:t> in Economic Impact</a:t>
          </a:r>
          <a:endParaRPr lang="en-US" sz="1300" kern="1200" dirty="0"/>
        </a:p>
      </dsp:txBody>
      <dsp:txXfrm>
        <a:off x="7356663" y="385552"/>
        <a:ext cx="1025239" cy="905294"/>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27363" cy="463550"/>
          </a:xfrm>
          <a:prstGeom prst="rect">
            <a:avLst/>
          </a:prstGeom>
        </p:spPr>
        <p:txBody>
          <a:bodyPr vert="horz" lIns="92958" tIns="46479" rIns="92958" bIns="46479" rtlCol="0"/>
          <a:lstStyle>
            <a:lvl1pPr algn="l" fontAlgn="auto">
              <a:spcBef>
                <a:spcPts val="0"/>
              </a:spcBef>
              <a:spcAft>
                <a:spcPts val="0"/>
              </a:spcAft>
              <a:defRPr sz="1200">
                <a:latin typeface="+mn-lt"/>
              </a:defRPr>
            </a:lvl1pPr>
          </a:lstStyle>
          <a:p>
            <a:pPr>
              <a:defRPr/>
            </a:pPr>
            <a:endParaRPr lang="en-US"/>
          </a:p>
        </p:txBody>
      </p:sp>
      <p:sp>
        <p:nvSpPr>
          <p:cNvPr id="3" name="Date Placeholder 2"/>
          <p:cNvSpPr>
            <a:spLocks noGrp="1"/>
          </p:cNvSpPr>
          <p:nvPr>
            <p:ph type="dt" idx="1"/>
          </p:nvPr>
        </p:nvSpPr>
        <p:spPr>
          <a:xfrm>
            <a:off x="3956050" y="0"/>
            <a:ext cx="3027363" cy="463550"/>
          </a:xfrm>
          <a:prstGeom prst="rect">
            <a:avLst/>
          </a:prstGeom>
        </p:spPr>
        <p:txBody>
          <a:bodyPr vert="horz" lIns="92958" tIns="46479" rIns="92958" bIns="46479" rtlCol="0"/>
          <a:lstStyle>
            <a:lvl1pPr algn="r" fontAlgn="auto">
              <a:spcBef>
                <a:spcPts val="0"/>
              </a:spcBef>
              <a:spcAft>
                <a:spcPts val="0"/>
              </a:spcAft>
              <a:defRPr sz="1200">
                <a:latin typeface="+mn-lt"/>
              </a:defRPr>
            </a:lvl1pPr>
          </a:lstStyle>
          <a:p>
            <a:pPr>
              <a:defRPr/>
            </a:pPr>
            <a:fld id="{63032005-F108-4E1A-BCF8-C02608223A52}" type="datetimeFigureOut">
              <a:rPr lang="en-US"/>
              <a:pPr>
                <a:defRPr/>
              </a:pPr>
              <a:t>4/13/2010</a:t>
            </a:fld>
            <a:endParaRPr lang="en-US"/>
          </a:p>
        </p:txBody>
      </p:sp>
      <p:sp>
        <p:nvSpPr>
          <p:cNvPr id="4" name="Slide Image Placeholder 3"/>
          <p:cNvSpPr>
            <a:spLocks noGrp="1" noRot="1" noChangeAspect="1"/>
          </p:cNvSpPr>
          <p:nvPr>
            <p:ph type="sldImg" idx="2"/>
          </p:nvPr>
        </p:nvSpPr>
        <p:spPr>
          <a:xfrm>
            <a:off x="1171575" y="696913"/>
            <a:ext cx="4641850" cy="3481387"/>
          </a:xfrm>
          <a:prstGeom prst="rect">
            <a:avLst/>
          </a:prstGeom>
          <a:noFill/>
          <a:ln w="12700">
            <a:solidFill>
              <a:prstClr val="black"/>
            </a:solidFill>
          </a:ln>
        </p:spPr>
        <p:txBody>
          <a:bodyPr vert="horz" lIns="92958" tIns="46479" rIns="92958" bIns="46479" rtlCol="0" anchor="ctr"/>
          <a:lstStyle/>
          <a:p>
            <a:pPr lvl="0"/>
            <a:endParaRPr lang="en-US" noProof="0"/>
          </a:p>
        </p:txBody>
      </p:sp>
      <p:sp>
        <p:nvSpPr>
          <p:cNvPr id="5" name="Notes Placeholder 4"/>
          <p:cNvSpPr>
            <a:spLocks noGrp="1"/>
          </p:cNvSpPr>
          <p:nvPr>
            <p:ph type="body" sz="quarter" idx="3"/>
          </p:nvPr>
        </p:nvSpPr>
        <p:spPr>
          <a:xfrm>
            <a:off x="698500" y="4410075"/>
            <a:ext cx="5588000" cy="4176713"/>
          </a:xfrm>
          <a:prstGeom prst="rect">
            <a:avLst/>
          </a:prstGeom>
        </p:spPr>
        <p:txBody>
          <a:bodyPr vert="horz" lIns="92958" tIns="46479" rIns="92958" bIns="46479"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6" name="Footer Placeholder 5"/>
          <p:cNvSpPr>
            <a:spLocks noGrp="1"/>
          </p:cNvSpPr>
          <p:nvPr>
            <p:ph type="ftr" sz="quarter" idx="4"/>
          </p:nvPr>
        </p:nvSpPr>
        <p:spPr>
          <a:xfrm>
            <a:off x="0" y="8818563"/>
            <a:ext cx="3027363" cy="463550"/>
          </a:xfrm>
          <a:prstGeom prst="rect">
            <a:avLst/>
          </a:prstGeom>
        </p:spPr>
        <p:txBody>
          <a:bodyPr vert="horz" lIns="92958" tIns="46479" rIns="92958" bIns="46479" rtlCol="0" anchor="b"/>
          <a:lstStyle>
            <a:lvl1pPr algn="l" fontAlgn="auto">
              <a:spcBef>
                <a:spcPts val="0"/>
              </a:spcBef>
              <a:spcAft>
                <a:spcPts val="0"/>
              </a:spcAft>
              <a:defRPr sz="1200">
                <a:latin typeface="+mn-lt"/>
              </a:defRPr>
            </a:lvl1pPr>
          </a:lstStyle>
          <a:p>
            <a:pPr>
              <a:defRPr/>
            </a:pPr>
            <a:endParaRPr lang="en-US"/>
          </a:p>
        </p:txBody>
      </p:sp>
      <p:sp>
        <p:nvSpPr>
          <p:cNvPr id="7" name="Slide Number Placeholder 6"/>
          <p:cNvSpPr>
            <a:spLocks noGrp="1"/>
          </p:cNvSpPr>
          <p:nvPr>
            <p:ph type="sldNum" sz="quarter" idx="5"/>
          </p:nvPr>
        </p:nvSpPr>
        <p:spPr>
          <a:xfrm>
            <a:off x="3956050" y="8818563"/>
            <a:ext cx="3027363" cy="463550"/>
          </a:xfrm>
          <a:prstGeom prst="rect">
            <a:avLst/>
          </a:prstGeom>
        </p:spPr>
        <p:txBody>
          <a:bodyPr vert="horz" lIns="92958" tIns="46479" rIns="92958" bIns="46479" rtlCol="0" anchor="b"/>
          <a:lstStyle>
            <a:lvl1pPr algn="r" fontAlgn="auto">
              <a:spcBef>
                <a:spcPts val="0"/>
              </a:spcBef>
              <a:spcAft>
                <a:spcPts val="0"/>
              </a:spcAft>
              <a:defRPr sz="1200">
                <a:latin typeface="+mn-lt"/>
              </a:defRPr>
            </a:lvl1pPr>
          </a:lstStyle>
          <a:p>
            <a:pPr>
              <a:defRPr/>
            </a:pPr>
            <a:fld id="{7795AD3E-0361-4F37-AEAC-32CE84BAF681}"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Slide Image Placeholder 1"/>
          <p:cNvSpPr>
            <a:spLocks noGrp="1" noRot="1" noChangeAspect="1"/>
          </p:cNvSpPr>
          <p:nvPr>
            <p:ph type="sldImg"/>
          </p:nvPr>
        </p:nvSpPr>
        <p:spPr bwMode="auto">
          <a:noFill/>
          <a:ln>
            <a:solidFill>
              <a:srgbClr val="000000"/>
            </a:solidFill>
            <a:miter lim="800000"/>
            <a:headEnd/>
            <a:tailEnd/>
          </a:ln>
        </p:spPr>
      </p:sp>
      <p:sp>
        <p:nvSpPr>
          <p:cNvPr id="3" name="Notes Placeholder 2"/>
          <p:cNvSpPr>
            <a:spLocks noGrp="1"/>
          </p:cNvSpPr>
          <p:nvPr>
            <p:ph type="body" idx="1"/>
          </p:nvPr>
        </p:nvSpPr>
        <p:spPr/>
        <p:txBody>
          <a:bodyPr/>
          <a:lstStyle/>
          <a:p>
            <a:pPr eaLnBrk="1" fontAlgn="auto" hangingPunct="1">
              <a:spcBef>
                <a:spcPts val="0"/>
              </a:spcBef>
              <a:spcAft>
                <a:spcPts val="0"/>
              </a:spcAft>
              <a:defRPr/>
            </a:pPr>
            <a:r>
              <a:rPr lang="en-US" b="1" kern="0" dirty="0" smtClean="0">
                <a:solidFill>
                  <a:srgbClr val="00673E"/>
                </a:solidFill>
                <a:latin typeface="+mj-lt"/>
                <a:ea typeface="+mj-ea"/>
                <a:cs typeface="+mj-cs"/>
              </a:rPr>
              <a:t>“With the 1980s and the rise of the Conservation Reserve Program, the </a:t>
            </a:r>
            <a:r>
              <a:rPr lang="en-US" b="1" kern="0" dirty="0" err="1" smtClean="0">
                <a:solidFill>
                  <a:srgbClr val="00673E"/>
                </a:solidFill>
                <a:latin typeface="+mj-lt"/>
                <a:ea typeface="+mj-ea"/>
                <a:cs typeface="+mj-cs"/>
              </a:rPr>
              <a:t>Driftless</a:t>
            </a:r>
            <a:r>
              <a:rPr lang="en-US" b="1" kern="0" dirty="0" smtClean="0">
                <a:solidFill>
                  <a:srgbClr val="00673E"/>
                </a:solidFill>
                <a:latin typeface="+mj-lt"/>
                <a:ea typeface="+mj-ea"/>
                <a:cs typeface="+mj-cs"/>
              </a:rPr>
              <a:t> Area's prairie character began to re-emerge. Today 33 trout streams in the area support natural spawning…. But now anglers worry that high corn prices caused by demand for ethanol could erase those gains, as more lands are put back to agricultural use.” (</a:t>
            </a:r>
            <a:r>
              <a:rPr lang="en-US" b="1" kern="0" dirty="0" err="1" smtClean="0">
                <a:solidFill>
                  <a:srgbClr val="00673E"/>
                </a:solidFill>
                <a:latin typeface="+mj-lt"/>
                <a:ea typeface="+mj-ea"/>
                <a:cs typeface="+mj-cs"/>
              </a:rPr>
              <a:t>NYTimes</a:t>
            </a:r>
            <a:r>
              <a:rPr lang="en-US" b="1" kern="0" dirty="0" smtClean="0">
                <a:solidFill>
                  <a:srgbClr val="00673E"/>
                </a:solidFill>
                <a:latin typeface="+mj-lt"/>
                <a:ea typeface="+mj-ea"/>
                <a:cs typeface="+mj-cs"/>
              </a:rPr>
              <a:t>)</a:t>
            </a:r>
          </a:p>
          <a:p>
            <a:pPr eaLnBrk="1" fontAlgn="auto" hangingPunct="1">
              <a:spcBef>
                <a:spcPts val="0"/>
              </a:spcBef>
              <a:spcAft>
                <a:spcPts val="0"/>
              </a:spcAft>
              <a:defRPr/>
            </a:pPr>
            <a:endParaRPr lang="en-US" dirty="0" smtClean="0"/>
          </a:p>
          <a:p>
            <a:pPr eaLnBrk="1" fontAlgn="auto" hangingPunct="1">
              <a:spcBef>
                <a:spcPts val="0"/>
              </a:spcBef>
              <a:spcAft>
                <a:spcPts val="0"/>
              </a:spcAft>
              <a:defRPr/>
            </a:pPr>
            <a:r>
              <a:rPr lang="en-US" dirty="0" smtClean="0"/>
              <a:t>Can we be sacrificing fish richness and angler participation for energy independence?</a:t>
            </a:r>
            <a:endParaRPr lang="en-US" dirty="0"/>
          </a:p>
        </p:txBody>
      </p:sp>
      <p:sp>
        <p:nvSpPr>
          <p:cNvPr id="21507"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26023838-AF5D-44F9-BE8A-7F1B91EF76D8}" type="slidenum">
              <a:rPr lang="en-US"/>
              <a:pPr fontAlgn="base">
                <a:spcBef>
                  <a:spcPct val="0"/>
                </a:spcBef>
                <a:spcAft>
                  <a:spcPct val="0"/>
                </a:spcAft>
                <a:defRPr/>
              </a:pPr>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Slide Image Placeholder 1"/>
          <p:cNvSpPr>
            <a:spLocks noGrp="1" noRot="1" noChangeAspect="1"/>
          </p:cNvSpPr>
          <p:nvPr>
            <p:ph type="sldImg"/>
          </p:nvPr>
        </p:nvSpPr>
        <p:spPr bwMode="auto">
          <a:noFill/>
          <a:ln>
            <a:solidFill>
              <a:srgbClr val="000000"/>
            </a:solidFill>
            <a:miter lim="800000"/>
            <a:headEnd/>
            <a:tailEnd/>
          </a:ln>
        </p:spPr>
      </p:sp>
      <p:sp>
        <p:nvSpPr>
          <p:cNvPr id="3" name="Notes Placeholder 2"/>
          <p:cNvSpPr>
            <a:spLocks noGrp="1"/>
          </p:cNvSpPr>
          <p:nvPr>
            <p:ph type="body" idx="1"/>
          </p:nvPr>
        </p:nvSpPr>
        <p:spPr/>
        <p:txBody>
          <a:bodyPr/>
          <a:lstStyle/>
          <a:p>
            <a:pPr eaLnBrk="1" fontAlgn="auto" hangingPunct="1">
              <a:spcBef>
                <a:spcPts val="0"/>
              </a:spcBef>
              <a:spcAft>
                <a:spcPts val="0"/>
              </a:spcAft>
              <a:defRPr/>
            </a:pPr>
            <a:r>
              <a:rPr lang="en-US" b="1" kern="0" dirty="0" smtClean="0">
                <a:solidFill>
                  <a:srgbClr val="00673E"/>
                </a:solidFill>
                <a:latin typeface="+mj-lt"/>
                <a:ea typeface="+mj-ea"/>
                <a:cs typeface="+mj-cs"/>
              </a:rPr>
              <a:t>“With the 1980s and the rise of the Conservation Reserve Program, the </a:t>
            </a:r>
            <a:r>
              <a:rPr lang="en-US" b="1" kern="0" dirty="0" err="1" smtClean="0">
                <a:solidFill>
                  <a:srgbClr val="00673E"/>
                </a:solidFill>
                <a:latin typeface="+mj-lt"/>
                <a:ea typeface="+mj-ea"/>
                <a:cs typeface="+mj-cs"/>
              </a:rPr>
              <a:t>Driftless</a:t>
            </a:r>
            <a:r>
              <a:rPr lang="en-US" b="1" kern="0" dirty="0" smtClean="0">
                <a:solidFill>
                  <a:srgbClr val="00673E"/>
                </a:solidFill>
                <a:latin typeface="+mj-lt"/>
                <a:ea typeface="+mj-ea"/>
                <a:cs typeface="+mj-cs"/>
              </a:rPr>
              <a:t> Area's prairie character began to re-emerge. Today 33 trout streams in the area support natural spawning…. But now anglers worry that high corn prices caused by demand for ethanol could erase those gains, as more lands are put back to agricultural use.” (</a:t>
            </a:r>
            <a:r>
              <a:rPr lang="en-US" b="1" kern="0" dirty="0" err="1" smtClean="0">
                <a:solidFill>
                  <a:srgbClr val="00673E"/>
                </a:solidFill>
                <a:latin typeface="+mj-lt"/>
                <a:ea typeface="+mj-ea"/>
                <a:cs typeface="+mj-cs"/>
              </a:rPr>
              <a:t>NYTimes</a:t>
            </a:r>
            <a:r>
              <a:rPr lang="en-US" b="1" kern="0" dirty="0" smtClean="0">
                <a:solidFill>
                  <a:srgbClr val="00673E"/>
                </a:solidFill>
                <a:latin typeface="+mj-lt"/>
                <a:ea typeface="+mj-ea"/>
                <a:cs typeface="+mj-cs"/>
              </a:rPr>
              <a:t>)</a:t>
            </a:r>
          </a:p>
          <a:p>
            <a:pPr eaLnBrk="1" fontAlgn="auto" hangingPunct="1">
              <a:spcBef>
                <a:spcPts val="0"/>
              </a:spcBef>
              <a:spcAft>
                <a:spcPts val="0"/>
              </a:spcAft>
              <a:defRPr/>
            </a:pPr>
            <a:endParaRPr lang="en-US" dirty="0"/>
          </a:p>
        </p:txBody>
      </p:sp>
      <p:sp>
        <p:nvSpPr>
          <p:cNvPr id="21507"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46EC77AC-4A6A-4CB0-99D4-1B8537E1D240}" type="slidenum">
              <a:rPr lang="en-US"/>
              <a:pPr fontAlgn="base">
                <a:spcBef>
                  <a:spcPct val="0"/>
                </a:spcBef>
                <a:spcAft>
                  <a:spcPct val="0"/>
                </a:spcAft>
                <a:defRPr/>
              </a:pPr>
              <a:t>3</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Slide Image Placeholder 1"/>
          <p:cNvSpPr>
            <a:spLocks noGrp="1" noRot="1" noChangeAspect="1"/>
          </p:cNvSpPr>
          <p:nvPr>
            <p:ph type="sldImg"/>
          </p:nvPr>
        </p:nvSpPr>
        <p:spPr bwMode="auto">
          <a:noFill/>
          <a:ln>
            <a:solidFill>
              <a:srgbClr val="000000"/>
            </a:solidFill>
            <a:miter lim="800000"/>
            <a:headEnd/>
            <a:tailEnd/>
          </a:ln>
        </p:spPr>
      </p:sp>
      <p:sp>
        <p:nvSpPr>
          <p:cNvPr id="3891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smtClean="0"/>
              <a:t>2006 Survey results – 87.5 million participants engaged in wildlife-related recreation; 30 million fished, 517 million activity days; $42.0 billion in expenditures.</a:t>
            </a:r>
          </a:p>
          <a:p>
            <a:pPr eaLnBrk="1" hangingPunct="1">
              <a:spcBef>
                <a:spcPct val="0"/>
              </a:spcBef>
            </a:pPr>
            <a:endParaRPr lang="en-US" smtClean="0"/>
          </a:p>
          <a:p>
            <a:pPr eaLnBrk="1" hangingPunct="1">
              <a:spcBef>
                <a:spcPct val="0"/>
              </a:spcBef>
            </a:pPr>
            <a:r>
              <a:rPr lang="en-US" smtClean="0"/>
              <a:t>Other info: </a:t>
            </a:r>
            <a:r>
              <a:rPr lang="en-US" b="1" smtClean="0"/>
              <a:t>Trip-related expenditures</a:t>
            </a:r>
            <a:r>
              <a:rPr lang="en-US" smtClean="0"/>
              <a:t>, including food, lodging, and transportation, were $24.6 billion— </a:t>
            </a:r>
            <a:r>
              <a:rPr lang="en-US" b="1" smtClean="0"/>
              <a:t>32 percent </a:t>
            </a:r>
            <a:r>
              <a:rPr lang="en-US" smtClean="0"/>
              <a:t>of all fi shing and hunting expenditures. Total </a:t>
            </a:r>
            <a:r>
              <a:rPr lang="en-US" b="1" smtClean="0"/>
              <a:t>equipment expenditures</a:t>
            </a:r>
            <a:r>
              <a:rPr lang="en-US" smtClean="0"/>
              <a:t> amounted to $41.0 billion, </a:t>
            </a:r>
            <a:r>
              <a:rPr lang="en-US" b="1" smtClean="0"/>
              <a:t>53 percent</a:t>
            </a:r>
            <a:r>
              <a:rPr lang="en-US" smtClean="0"/>
              <a:t> of the total. </a:t>
            </a:r>
            <a:r>
              <a:rPr lang="en-US" b="1" smtClean="0"/>
              <a:t>Other expenditures</a:t>
            </a:r>
            <a:r>
              <a:rPr lang="en-US" smtClean="0"/>
              <a:t>— magazines, membership dues, contributions, land leasing and ownership, and licenses, stamps, tags, and permits—accounted for $11.1 billion, or </a:t>
            </a:r>
            <a:r>
              <a:rPr lang="en-US" b="1" smtClean="0"/>
              <a:t>15 percent </a:t>
            </a:r>
            <a:r>
              <a:rPr lang="en-US" smtClean="0"/>
              <a:t>of all sportspersons’ expenditures.</a:t>
            </a:r>
          </a:p>
        </p:txBody>
      </p:sp>
      <p:sp>
        <p:nvSpPr>
          <p:cNvPr id="38915"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96F71A36-024B-4D31-9DBD-C90DE7298A54}" type="slidenum">
              <a:rPr lang="en-US"/>
              <a:pPr fontAlgn="base">
                <a:spcBef>
                  <a:spcPct val="0"/>
                </a:spcBef>
                <a:spcAft>
                  <a:spcPct val="0"/>
                </a:spcAft>
                <a:defRPr/>
              </a:pPr>
              <a:t>6</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Slide Image Placeholder 1"/>
          <p:cNvSpPr>
            <a:spLocks noGrp="1" noRot="1" noChangeAspect="1"/>
          </p:cNvSpPr>
          <p:nvPr>
            <p:ph type="sldImg"/>
          </p:nvPr>
        </p:nvSpPr>
        <p:spPr bwMode="auto">
          <a:noFill/>
          <a:ln>
            <a:solidFill>
              <a:srgbClr val="000000"/>
            </a:solidFill>
            <a:miter lim="800000"/>
            <a:headEnd/>
            <a:tailEnd/>
          </a:ln>
        </p:spPr>
      </p:sp>
      <p:sp>
        <p:nvSpPr>
          <p:cNvPr id="41986"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smtClean="0"/>
              <a:t>Discuss difference in consumer surplus</a:t>
            </a:r>
          </a:p>
        </p:txBody>
      </p:sp>
      <p:sp>
        <p:nvSpPr>
          <p:cNvPr id="44035"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EB9D5EB0-F6D5-4798-8508-3BA51E896FD4}" type="slidenum">
              <a:rPr lang="en-US"/>
              <a:pPr fontAlgn="base">
                <a:spcBef>
                  <a:spcPct val="0"/>
                </a:spcBef>
                <a:spcAft>
                  <a:spcPct val="0"/>
                </a:spcAft>
                <a:defRPr/>
              </a:pPr>
              <a:t>7</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Slide Image Placeholder 1"/>
          <p:cNvSpPr>
            <a:spLocks noGrp="1" noRot="1" noChangeAspect="1"/>
          </p:cNvSpPr>
          <p:nvPr>
            <p:ph type="sldImg"/>
          </p:nvPr>
        </p:nvSpPr>
        <p:spPr bwMode="auto">
          <a:noFill/>
          <a:ln>
            <a:solidFill>
              <a:srgbClr val="000000"/>
            </a:solidFill>
            <a:miter lim="800000"/>
            <a:headEnd/>
            <a:tailEnd/>
          </a:ln>
        </p:spPr>
      </p:sp>
      <p:sp>
        <p:nvSpPr>
          <p:cNvPr id="440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smtClean="0"/>
              <a:t>2006 Survey results – 87.5 million participants engaged in wildlife-related recreation; 30 million fished, 517 million activity days; $42.0 billion in expenditures.</a:t>
            </a:r>
          </a:p>
          <a:p>
            <a:pPr eaLnBrk="1" hangingPunct="1">
              <a:spcBef>
                <a:spcPct val="0"/>
              </a:spcBef>
            </a:pPr>
            <a:endParaRPr lang="en-US" smtClean="0"/>
          </a:p>
          <a:p>
            <a:pPr eaLnBrk="1" hangingPunct="1">
              <a:spcBef>
                <a:spcPct val="0"/>
              </a:spcBef>
            </a:pPr>
            <a:r>
              <a:rPr lang="en-US" smtClean="0"/>
              <a:t>Other info: </a:t>
            </a:r>
            <a:r>
              <a:rPr lang="en-US" b="1" smtClean="0"/>
              <a:t>Trip-related expenditures</a:t>
            </a:r>
            <a:r>
              <a:rPr lang="en-US" smtClean="0"/>
              <a:t>, including food, lodging, and transportation, were $24.6 billion— </a:t>
            </a:r>
            <a:r>
              <a:rPr lang="en-US" b="1" smtClean="0"/>
              <a:t>32 percent </a:t>
            </a:r>
            <a:r>
              <a:rPr lang="en-US" smtClean="0"/>
              <a:t>of all fi shing and hunting expenditures. Total </a:t>
            </a:r>
            <a:r>
              <a:rPr lang="en-US" b="1" smtClean="0"/>
              <a:t>equipment expenditures</a:t>
            </a:r>
            <a:r>
              <a:rPr lang="en-US" smtClean="0"/>
              <a:t> amounted to $41.0 billion, </a:t>
            </a:r>
            <a:r>
              <a:rPr lang="en-US" b="1" smtClean="0"/>
              <a:t>53 percent</a:t>
            </a:r>
            <a:r>
              <a:rPr lang="en-US" smtClean="0"/>
              <a:t> of the total. </a:t>
            </a:r>
            <a:r>
              <a:rPr lang="en-US" b="1" smtClean="0"/>
              <a:t>Other expenditures</a:t>
            </a:r>
            <a:r>
              <a:rPr lang="en-US" smtClean="0"/>
              <a:t>— magazines, membership dues, contributions, land leasing and ownership, and licenses, stamps, tags, and permits—accounted for $11.1 billion, or </a:t>
            </a:r>
            <a:r>
              <a:rPr lang="en-US" b="1" smtClean="0"/>
              <a:t>15 percent </a:t>
            </a:r>
            <a:r>
              <a:rPr lang="en-US" smtClean="0"/>
              <a:t>of all sportspersons’ expenditures.</a:t>
            </a:r>
          </a:p>
        </p:txBody>
      </p:sp>
      <p:sp>
        <p:nvSpPr>
          <p:cNvPr id="41987"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4D0BE102-8B7A-44CE-BBF2-B4E6DA103B9C}" type="slidenum">
              <a:rPr lang="en-US"/>
              <a:pPr fontAlgn="base">
                <a:spcBef>
                  <a:spcPct val="0"/>
                </a:spcBef>
                <a:spcAft>
                  <a:spcPct val="0"/>
                </a:spcAft>
                <a:defRPr/>
              </a:pPr>
              <a:t>9</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Slide Image Placeholder 1"/>
          <p:cNvSpPr>
            <a:spLocks noGrp="1" noRot="1" noChangeAspect="1"/>
          </p:cNvSpPr>
          <p:nvPr>
            <p:ph type="sldImg"/>
          </p:nvPr>
        </p:nvSpPr>
        <p:spPr bwMode="auto">
          <a:noFill/>
          <a:ln>
            <a:solidFill>
              <a:srgbClr val="000000"/>
            </a:solidFill>
            <a:miter lim="800000"/>
            <a:headEnd/>
            <a:tailEnd/>
          </a:ln>
        </p:spPr>
      </p:sp>
      <p:sp>
        <p:nvSpPr>
          <p:cNvPr id="3" name="Notes Placeholder 2"/>
          <p:cNvSpPr>
            <a:spLocks noGrp="1"/>
          </p:cNvSpPr>
          <p:nvPr>
            <p:ph type="body" idx="1"/>
          </p:nvPr>
        </p:nvSpPr>
        <p:spPr/>
        <p:txBody>
          <a:bodyPr/>
          <a:lstStyle/>
          <a:p>
            <a:pPr eaLnBrk="1" fontAlgn="auto" hangingPunct="1">
              <a:spcBef>
                <a:spcPts val="0"/>
              </a:spcBef>
              <a:spcAft>
                <a:spcPts val="0"/>
              </a:spcAft>
              <a:defRPr/>
            </a:pPr>
            <a:r>
              <a:rPr lang="en-US" b="1" kern="0" dirty="0" smtClean="0">
                <a:solidFill>
                  <a:srgbClr val="00673E"/>
                </a:solidFill>
                <a:latin typeface="+mj-lt"/>
                <a:ea typeface="+mj-ea"/>
                <a:cs typeface="+mj-cs"/>
              </a:rPr>
              <a:t>“With the 1980s and the rise of the Conservation Reserve Program, the </a:t>
            </a:r>
            <a:r>
              <a:rPr lang="en-US" b="1" kern="0" dirty="0" err="1" smtClean="0">
                <a:solidFill>
                  <a:srgbClr val="00673E"/>
                </a:solidFill>
                <a:latin typeface="+mj-lt"/>
                <a:ea typeface="+mj-ea"/>
                <a:cs typeface="+mj-cs"/>
              </a:rPr>
              <a:t>Driftless</a:t>
            </a:r>
            <a:r>
              <a:rPr lang="en-US" b="1" kern="0" dirty="0" smtClean="0">
                <a:solidFill>
                  <a:srgbClr val="00673E"/>
                </a:solidFill>
                <a:latin typeface="+mj-lt"/>
                <a:ea typeface="+mj-ea"/>
                <a:cs typeface="+mj-cs"/>
              </a:rPr>
              <a:t> Area's prairie character began to re-emerge. Today 33 trout streams in the area support natural spawning…. But now anglers worry that high corn prices caused by demand for ethanol could erase those gains, as more lands are put back to agricultural use.” (</a:t>
            </a:r>
            <a:r>
              <a:rPr lang="en-US" b="1" kern="0" dirty="0" err="1" smtClean="0">
                <a:solidFill>
                  <a:srgbClr val="00673E"/>
                </a:solidFill>
                <a:latin typeface="+mj-lt"/>
                <a:ea typeface="+mj-ea"/>
                <a:cs typeface="+mj-cs"/>
              </a:rPr>
              <a:t>NYTimes</a:t>
            </a:r>
            <a:r>
              <a:rPr lang="en-US" b="1" kern="0" dirty="0" smtClean="0">
                <a:solidFill>
                  <a:srgbClr val="00673E"/>
                </a:solidFill>
                <a:latin typeface="+mj-lt"/>
                <a:ea typeface="+mj-ea"/>
                <a:cs typeface="+mj-cs"/>
              </a:rPr>
              <a:t>)</a:t>
            </a:r>
          </a:p>
          <a:p>
            <a:pPr eaLnBrk="1" fontAlgn="auto" hangingPunct="1">
              <a:spcBef>
                <a:spcPts val="0"/>
              </a:spcBef>
              <a:spcAft>
                <a:spcPts val="0"/>
              </a:spcAft>
              <a:defRPr/>
            </a:pPr>
            <a:endParaRPr lang="en-US" dirty="0" smtClean="0"/>
          </a:p>
          <a:p>
            <a:pPr eaLnBrk="1" fontAlgn="auto" hangingPunct="1">
              <a:spcBef>
                <a:spcPts val="0"/>
              </a:spcBef>
              <a:spcAft>
                <a:spcPts val="0"/>
              </a:spcAft>
              <a:defRPr/>
            </a:pPr>
            <a:r>
              <a:rPr lang="en-US" dirty="0" smtClean="0"/>
              <a:t>Can we be sacrificing fish richness and angler participation for energy independence?</a:t>
            </a:r>
            <a:endParaRPr lang="en-US" dirty="0"/>
          </a:p>
        </p:txBody>
      </p:sp>
      <p:sp>
        <p:nvSpPr>
          <p:cNvPr id="21507"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26023838-AF5D-44F9-BE8A-7F1B91EF76D8}" type="slidenum">
              <a:rPr lang="en-US"/>
              <a:pPr fontAlgn="base">
                <a:spcBef>
                  <a:spcPct val="0"/>
                </a:spcBef>
                <a:spcAft>
                  <a:spcPct val="0"/>
                </a:spcAft>
                <a:defRPr/>
              </a:pPr>
              <a:t>24</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245"/>
          <p:cNvSpPr>
            <a:spLocks noChangeArrowheads="1"/>
          </p:cNvSpPr>
          <p:nvPr/>
        </p:nvSpPr>
        <p:spPr bwMode="auto">
          <a:xfrm>
            <a:off x="127000" y="6496050"/>
            <a:ext cx="3278188" cy="274638"/>
          </a:xfrm>
          <a:prstGeom prst="rect">
            <a:avLst/>
          </a:prstGeom>
          <a:noFill/>
          <a:ln w="9525" algn="ctr">
            <a:noFill/>
            <a:miter lim="800000"/>
            <a:headEnd/>
            <a:tailEnd/>
          </a:ln>
          <a:effectLst/>
        </p:spPr>
        <p:txBody>
          <a:bodyPr/>
          <a:lstStyle/>
          <a:p>
            <a:pPr fontAlgn="auto">
              <a:lnSpc>
                <a:spcPct val="90000"/>
              </a:lnSpc>
              <a:spcBef>
                <a:spcPts val="0"/>
              </a:spcBef>
              <a:spcAft>
                <a:spcPts val="0"/>
              </a:spcAft>
              <a:defRPr/>
            </a:pPr>
            <a:r>
              <a:rPr lang="en-US" sz="900" b="1">
                <a:solidFill>
                  <a:schemeClr val="tx2"/>
                </a:solidFill>
                <a:latin typeface="Times New Roman" pitchFamily="18" charset="0"/>
                <a:cs typeface="Times New Roman" pitchFamily="18" charset="0"/>
              </a:rPr>
              <a:t>Managed by UT-Battelle</a:t>
            </a:r>
            <a:br>
              <a:rPr lang="en-US" sz="900" b="1">
                <a:solidFill>
                  <a:schemeClr val="tx2"/>
                </a:solidFill>
                <a:latin typeface="Times New Roman" pitchFamily="18" charset="0"/>
                <a:cs typeface="Times New Roman" pitchFamily="18" charset="0"/>
              </a:rPr>
            </a:br>
            <a:r>
              <a:rPr lang="en-US" sz="900" b="1">
                <a:solidFill>
                  <a:schemeClr val="tx2"/>
                </a:solidFill>
                <a:latin typeface="Times New Roman" pitchFamily="18" charset="0"/>
                <a:cs typeface="Times New Roman" pitchFamily="18" charset="0"/>
              </a:rPr>
              <a:t>for the Department of Energy</a:t>
            </a:r>
          </a:p>
        </p:txBody>
      </p:sp>
      <p:sp>
        <p:nvSpPr>
          <p:cNvPr id="5" name="Freeform 257"/>
          <p:cNvSpPr>
            <a:spLocks/>
          </p:cNvSpPr>
          <p:nvPr/>
        </p:nvSpPr>
        <p:spPr bwMode="auto">
          <a:xfrm>
            <a:off x="7075488" y="3624263"/>
            <a:ext cx="2071687" cy="3251200"/>
          </a:xfrm>
          <a:custGeom>
            <a:avLst/>
            <a:gdLst/>
            <a:ahLst/>
            <a:cxnLst>
              <a:cxn ang="0">
                <a:pos x="0" y="2336"/>
              </a:cxn>
              <a:cxn ang="0">
                <a:pos x="1486" y="2336"/>
              </a:cxn>
              <a:cxn ang="0">
                <a:pos x="1488" y="0"/>
              </a:cxn>
              <a:cxn ang="0">
                <a:pos x="0" y="2336"/>
              </a:cxn>
            </a:cxnLst>
            <a:rect l="0" t="0" r="r" b="b"/>
            <a:pathLst>
              <a:path w="1488" h="2336">
                <a:moveTo>
                  <a:pt x="0" y="2336"/>
                </a:moveTo>
                <a:lnTo>
                  <a:pt x="1486" y="2336"/>
                </a:lnTo>
                <a:lnTo>
                  <a:pt x="1488" y="0"/>
                </a:lnTo>
                <a:cubicBezTo>
                  <a:pt x="1485" y="1230"/>
                  <a:pt x="879" y="2128"/>
                  <a:pt x="0" y="2336"/>
                </a:cubicBezTo>
                <a:close/>
              </a:path>
            </a:pathLst>
          </a:custGeom>
          <a:gradFill rotWithShape="1">
            <a:gsLst>
              <a:gs pos="0">
                <a:schemeClr val="bg1">
                  <a:alpha val="0"/>
                </a:schemeClr>
              </a:gs>
              <a:gs pos="100000">
                <a:schemeClr val="tx2">
                  <a:alpha val="84000"/>
                </a:schemeClr>
              </a:gs>
            </a:gsLst>
            <a:lin ang="5400000" scaled="1"/>
          </a:gradFill>
          <a:ln w="9525">
            <a:noFill/>
            <a:round/>
            <a:headEnd/>
            <a:tailEnd/>
          </a:ln>
          <a:effectLst/>
        </p:spPr>
        <p:txBody>
          <a:bodyPr/>
          <a:lstStyle/>
          <a:p>
            <a:pPr fontAlgn="auto">
              <a:spcBef>
                <a:spcPts val="0"/>
              </a:spcBef>
              <a:spcAft>
                <a:spcPts val="0"/>
              </a:spcAft>
              <a:defRPr/>
            </a:pPr>
            <a:endParaRPr lang="en-US">
              <a:latin typeface="+mn-lt"/>
            </a:endParaRPr>
          </a:p>
        </p:txBody>
      </p:sp>
      <p:pic>
        <p:nvPicPr>
          <p:cNvPr id="6" name="Picture 258" descr="ORNL_leaf white"/>
          <p:cNvPicPr>
            <a:picLocks noChangeAspect="1" noChangeArrowheads="1"/>
          </p:cNvPicPr>
          <p:nvPr/>
        </p:nvPicPr>
        <p:blipFill>
          <a:blip r:embed="rId2" cstate="print"/>
          <a:srcRect/>
          <a:stretch>
            <a:fillRect/>
          </a:stretch>
        </p:blipFill>
        <p:spPr bwMode="auto">
          <a:xfrm>
            <a:off x="8037513" y="6264275"/>
            <a:ext cx="1074737" cy="557213"/>
          </a:xfrm>
          <a:prstGeom prst="rect">
            <a:avLst/>
          </a:prstGeom>
          <a:noFill/>
          <a:effectLst>
            <a:outerShdw algn="ctr" rotWithShape="0">
              <a:schemeClr val="bg2"/>
            </a:outerShdw>
          </a:effectLst>
        </p:spPr>
      </p:pic>
      <p:pic>
        <p:nvPicPr>
          <p:cNvPr id="7" name="Picture 262" descr="ORNL cover graphic"/>
          <p:cNvPicPr>
            <a:picLocks noChangeAspect="1" noChangeArrowheads="1"/>
          </p:cNvPicPr>
          <p:nvPr/>
        </p:nvPicPr>
        <p:blipFill>
          <a:blip r:embed="rId3" cstate="print"/>
          <a:srcRect/>
          <a:stretch>
            <a:fillRect/>
          </a:stretch>
        </p:blipFill>
        <p:spPr bwMode="auto">
          <a:xfrm>
            <a:off x="0" y="1147763"/>
            <a:ext cx="4591050" cy="4562475"/>
          </a:xfrm>
          <a:prstGeom prst="rect">
            <a:avLst/>
          </a:prstGeom>
          <a:noFill/>
          <a:ln w="9525">
            <a:noFill/>
            <a:miter lim="800000"/>
            <a:headEnd/>
            <a:tailEnd/>
          </a:ln>
        </p:spPr>
      </p:pic>
      <p:sp>
        <p:nvSpPr>
          <p:cNvPr id="160991" name="Rectangle 223"/>
          <p:cNvSpPr>
            <a:spLocks noGrp="1" noChangeArrowheads="1"/>
          </p:cNvSpPr>
          <p:nvPr>
            <p:ph type="subTitle" idx="1"/>
          </p:nvPr>
        </p:nvSpPr>
        <p:spPr>
          <a:xfrm>
            <a:off x="5257800" y="2247900"/>
            <a:ext cx="3733800" cy="1485900"/>
          </a:xfrm>
        </p:spPr>
        <p:txBody>
          <a:bodyPr/>
          <a:lstStyle>
            <a:lvl1pPr marL="0" indent="0" algn="r">
              <a:buFont typeface="Symbol" pitchFamily="18" charset="2"/>
              <a:buNone/>
              <a:defRPr sz="2400"/>
            </a:lvl1pPr>
          </a:lstStyle>
          <a:p>
            <a:r>
              <a:rPr lang="en-US" smtClean="0"/>
              <a:t>Click to edit Master subtitle style</a:t>
            </a:r>
            <a:endParaRPr lang="en-US"/>
          </a:p>
        </p:txBody>
      </p:sp>
      <p:sp>
        <p:nvSpPr>
          <p:cNvPr id="160992" name="Rectangle 224"/>
          <p:cNvSpPr>
            <a:spLocks noGrp="1" noChangeArrowheads="1"/>
          </p:cNvSpPr>
          <p:nvPr>
            <p:ph type="ctrTitle"/>
          </p:nvPr>
        </p:nvSpPr>
        <p:spPr>
          <a:xfrm>
            <a:off x="800100" y="157163"/>
            <a:ext cx="8229600" cy="461962"/>
          </a:xfrm>
        </p:spPr>
        <p:txBody>
          <a:bodyPr/>
          <a:lstStyle>
            <a:lvl1pPr algn="r">
              <a:defRPr/>
            </a:lvl1pPr>
          </a:lstStyle>
          <a:p>
            <a:r>
              <a:rPr lang="en-US" smtClean="0"/>
              <a:t>Click to edit Master title style</a:t>
            </a: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256"/>
          <p:cNvSpPr>
            <a:spLocks noGrp="1" noChangeArrowheads="1"/>
          </p:cNvSpPr>
          <p:nvPr>
            <p:ph type="ftr" sz="quarter" idx="10"/>
          </p:nvPr>
        </p:nvSpPr>
        <p:spPr>
          <a:ln/>
        </p:spPr>
        <p:txBody>
          <a:bodyPr/>
          <a:lstStyle>
            <a:lvl1pPr>
              <a:defRPr/>
            </a:lvl1pPr>
          </a:lstStyle>
          <a:p>
            <a:pPr>
              <a:defRPr/>
            </a:pP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256"/>
          <p:cNvSpPr>
            <a:spLocks noGrp="1" noChangeArrowheads="1"/>
          </p:cNvSpPr>
          <p:nvPr>
            <p:ph type="ftr" sz="quarter" idx="10"/>
          </p:nvPr>
        </p:nvSpPr>
        <p:spPr>
          <a:ln/>
        </p:spPr>
        <p:txBody>
          <a:bodyPr/>
          <a:lstStyle>
            <a:lvl1pPr>
              <a:defRPr/>
            </a:lvl1pPr>
          </a:lstStyle>
          <a:p>
            <a:pPr>
              <a:defRPr/>
            </a:pPr>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120650" y="1354138"/>
            <a:ext cx="4038600" cy="45339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311650" y="1354138"/>
            <a:ext cx="4038600" cy="45339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256"/>
          <p:cNvSpPr>
            <a:spLocks noGrp="1" noChangeArrowheads="1"/>
          </p:cNvSpPr>
          <p:nvPr>
            <p:ph type="ftr" sz="quarter" idx="10"/>
          </p:nvPr>
        </p:nvSpPr>
        <p:spPr>
          <a:ln/>
        </p:spPr>
        <p:txBody>
          <a:bodyPr/>
          <a:lstStyle>
            <a:lvl1pPr>
              <a:defRPr/>
            </a:lvl1pPr>
          </a:lstStyle>
          <a:p>
            <a:pPr>
              <a:defRPr/>
            </a:pP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256"/>
          <p:cNvSpPr>
            <a:spLocks noGrp="1" noChangeArrowheads="1"/>
          </p:cNvSpPr>
          <p:nvPr>
            <p:ph type="ftr" sz="quarter" idx="10"/>
          </p:nvPr>
        </p:nvSpPr>
        <p:spPr>
          <a:ln/>
        </p:spPr>
        <p:txBody>
          <a:bodyPr/>
          <a:lstStyle>
            <a:lvl1pPr>
              <a:defRPr/>
            </a:lvl1pPr>
          </a:lstStyle>
          <a:p>
            <a:pPr>
              <a:defRPr/>
            </a:pP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256"/>
          <p:cNvSpPr>
            <a:spLocks noGrp="1" noChangeArrowheads="1"/>
          </p:cNvSpPr>
          <p:nvPr>
            <p:ph type="ftr" sz="quarter" idx="10"/>
          </p:nvPr>
        </p:nvSpPr>
        <p:spPr>
          <a:ln/>
        </p:spPr>
        <p:txBody>
          <a:bodyPr/>
          <a:lstStyle>
            <a:lvl1pPr>
              <a:defRPr/>
            </a:lvl1pPr>
          </a:lstStyle>
          <a:p>
            <a:pPr>
              <a:defRPr/>
            </a:pP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256"/>
          <p:cNvSpPr>
            <a:spLocks noGrp="1" noChangeArrowheads="1"/>
          </p:cNvSpPr>
          <p:nvPr>
            <p:ph type="ftr" sz="quarter" idx="10"/>
          </p:nvPr>
        </p:nvSpPr>
        <p:spPr>
          <a:ln/>
        </p:spPr>
        <p:txBody>
          <a:bodyPr/>
          <a:lstStyle>
            <a:lvl1pPr>
              <a:defRPr/>
            </a:lvl1pPr>
          </a:lstStyle>
          <a:p>
            <a:pPr>
              <a:defRPr/>
            </a:pPr>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256"/>
          <p:cNvSpPr>
            <a:spLocks noGrp="1" noChangeArrowheads="1"/>
          </p:cNvSpPr>
          <p:nvPr>
            <p:ph type="ftr" sz="quarter" idx="10"/>
          </p:nvPr>
        </p:nvSpPr>
        <p:spPr>
          <a:ln/>
        </p:spPr>
        <p:txBody>
          <a:bodyPr/>
          <a:lstStyle>
            <a:lvl1pPr>
              <a:defRPr/>
            </a:lvl1pPr>
          </a:lstStyle>
          <a:p>
            <a:pPr>
              <a:defRPr/>
            </a:pP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256"/>
          <p:cNvSpPr>
            <a:spLocks noGrp="1" noChangeArrowheads="1"/>
          </p:cNvSpPr>
          <p:nvPr>
            <p:ph type="ftr" sz="quarter" idx="10"/>
          </p:nvPr>
        </p:nvSpPr>
        <p:spPr>
          <a:ln/>
        </p:spPr>
        <p:txBody>
          <a:bodyPr/>
          <a:lstStyle>
            <a:lvl1pPr>
              <a:defRPr/>
            </a:lvl1pPr>
          </a:lstStyle>
          <a:p>
            <a:pPr>
              <a:defRPr/>
            </a:pPr>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256"/>
          <p:cNvSpPr>
            <a:spLocks noGrp="1" noChangeArrowheads="1"/>
          </p:cNvSpPr>
          <p:nvPr>
            <p:ph type="ftr" sz="quarter" idx="10"/>
          </p:nvPr>
        </p:nvSpPr>
        <p:spPr>
          <a:ln/>
        </p:spPr>
        <p:txBody>
          <a:bodyPr/>
          <a:lstStyle>
            <a:lvl1pPr>
              <a:defRPr/>
            </a:lvl1pPr>
          </a:lstStyle>
          <a:p>
            <a:pPr>
              <a:defRPr/>
            </a:pP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02425" y="153988"/>
            <a:ext cx="2193925" cy="573405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120650" y="153988"/>
            <a:ext cx="6429375" cy="57340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256"/>
          <p:cNvSpPr>
            <a:spLocks noGrp="1" noChangeArrowheads="1"/>
          </p:cNvSpPr>
          <p:nvPr>
            <p:ph type="ftr" sz="quarter" idx="10"/>
          </p:nvPr>
        </p:nvSpPr>
        <p:spPr>
          <a:ln/>
        </p:spPr>
        <p:txBody>
          <a:bodyPr/>
          <a:lstStyle>
            <a:lvl1pPr>
              <a:defRPr/>
            </a:lvl1pPr>
          </a:lstStyle>
          <a:p>
            <a:pPr>
              <a:defRPr/>
            </a:pPr>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AndTx" preserve="1">
  <p:cSld name="Title,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120650" y="153988"/>
            <a:ext cx="8775700" cy="504825"/>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120650" y="1354138"/>
            <a:ext cx="4038600" cy="45339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311650" y="1354138"/>
            <a:ext cx="4038600" cy="45339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256"/>
          <p:cNvSpPr>
            <a:spLocks noGrp="1" noChangeArrowheads="1"/>
          </p:cNvSpPr>
          <p:nvPr>
            <p:ph type="ftr" sz="quarter" idx="10"/>
          </p:nvPr>
        </p:nvSpPr>
        <p:spPr>
          <a:ln/>
        </p:spPr>
        <p:txBody>
          <a:bodyPr/>
          <a:lstStyle>
            <a:lvl1pPr>
              <a:defRPr/>
            </a:lvl1pPr>
          </a:lstStyle>
          <a:p>
            <a:pPr>
              <a:defRPr/>
            </a:pPr>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20650" y="153988"/>
            <a:ext cx="8775700" cy="504825"/>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120650" y="1354138"/>
            <a:ext cx="4038600" cy="45339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311650" y="1354138"/>
            <a:ext cx="4038600" cy="45339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256"/>
          <p:cNvSpPr>
            <a:spLocks noGrp="1" noChangeArrowheads="1"/>
          </p:cNvSpPr>
          <p:nvPr>
            <p:ph type="ftr" sz="quarter" idx="10"/>
          </p:nvPr>
        </p:nvSpPr>
        <p:spPr>
          <a:ln/>
        </p:spPr>
        <p:txBody>
          <a:bodyPr/>
          <a:lstStyle>
            <a:lvl1pPr>
              <a:defRPr/>
            </a:lvl1pPr>
          </a:lstStyle>
          <a:p>
            <a:pPr>
              <a:defRPr/>
            </a:pPr>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OverObj" preserve="1">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120650" y="153988"/>
            <a:ext cx="8775700" cy="504825"/>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120650" y="1354138"/>
            <a:ext cx="8229600" cy="219075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120650" y="3697288"/>
            <a:ext cx="8229600" cy="219075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256"/>
          <p:cNvSpPr>
            <a:spLocks noGrp="1" noChangeArrowheads="1"/>
          </p:cNvSpPr>
          <p:nvPr>
            <p:ph type="ftr" sz="quarter" idx="10"/>
          </p:nvPr>
        </p:nvSpPr>
        <p:spPr>
          <a:ln/>
        </p:spPr>
        <p:txBody>
          <a:bodyPr/>
          <a:lstStyle>
            <a:lvl1pPr>
              <a:defRPr/>
            </a:lvl1pPr>
          </a:lstStyle>
          <a:p>
            <a:pPr>
              <a:defRPr/>
            </a:pPr>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120650" y="153988"/>
            <a:ext cx="8775700" cy="504825"/>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120650" y="1354138"/>
            <a:ext cx="4038600" cy="45339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311650" y="1354138"/>
            <a:ext cx="4038600" cy="219075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4311650" y="3697288"/>
            <a:ext cx="4038600" cy="219075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Rectangle 256"/>
          <p:cNvSpPr>
            <a:spLocks noGrp="1" noChangeArrowheads="1"/>
          </p:cNvSpPr>
          <p:nvPr>
            <p:ph type="ftr" sz="quarter" idx="10"/>
          </p:nvPr>
        </p:nvSpPr>
        <p:spPr>
          <a:ln/>
        </p:spPr>
        <p:txBody>
          <a:bodyPr/>
          <a:lstStyle>
            <a:lvl1pPr>
              <a:defRPr/>
            </a:lvl1pPr>
          </a:lstStyle>
          <a:p>
            <a:pPr>
              <a:defRPr/>
            </a:pPr>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120650" y="153988"/>
            <a:ext cx="8775700" cy="504825"/>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120650" y="1354138"/>
            <a:ext cx="8229600" cy="4533900"/>
          </a:xfrm>
        </p:spPr>
        <p:txBody>
          <a:bodyPr/>
          <a:lstStyle/>
          <a:p>
            <a:pPr lvl="0"/>
            <a:r>
              <a:rPr lang="en-US" noProof="0" smtClean="0"/>
              <a:t>Click icon to add table</a:t>
            </a:r>
          </a:p>
        </p:txBody>
      </p:sp>
      <p:sp>
        <p:nvSpPr>
          <p:cNvPr id="4" name="Rectangle 256"/>
          <p:cNvSpPr>
            <a:spLocks noGrp="1" noChangeArrowheads="1"/>
          </p:cNvSpPr>
          <p:nvPr>
            <p:ph type="ftr" sz="quarter" idx="10"/>
          </p:nvPr>
        </p:nvSpPr>
        <p:spPr>
          <a:ln/>
        </p:spPr>
        <p:txBody>
          <a:bodyPr/>
          <a:lstStyle>
            <a:lvl1pPr>
              <a:defRPr/>
            </a:lvl1pPr>
          </a:lstStyle>
          <a:p>
            <a:pPr>
              <a:defRPr/>
            </a:pP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22"/>
          <p:cNvSpPr>
            <a:spLocks noGrp="1" noChangeArrowheads="1"/>
          </p:cNvSpPr>
          <p:nvPr>
            <p:ph type="body" idx="1"/>
          </p:nvPr>
        </p:nvSpPr>
        <p:spPr bwMode="auto">
          <a:xfrm>
            <a:off x="120650" y="1354138"/>
            <a:ext cx="8229600" cy="4533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27" name="Rectangle 225"/>
          <p:cNvSpPr>
            <a:spLocks noGrp="1" noChangeArrowheads="1"/>
          </p:cNvSpPr>
          <p:nvPr>
            <p:ph type="title"/>
          </p:nvPr>
        </p:nvSpPr>
        <p:spPr bwMode="auto">
          <a:xfrm>
            <a:off x="120650" y="153988"/>
            <a:ext cx="8775700" cy="5048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title style</a:t>
            </a:r>
          </a:p>
        </p:txBody>
      </p:sp>
      <p:sp>
        <p:nvSpPr>
          <p:cNvPr id="159979" name="Rectangle 235"/>
          <p:cNvSpPr>
            <a:spLocks noChangeArrowheads="1"/>
          </p:cNvSpPr>
          <p:nvPr/>
        </p:nvSpPr>
        <p:spPr bwMode="auto">
          <a:xfrm>
            <a:off x="95250" y="6492875"/>
            <a:ext cx="1754188" cy="274638"/>
          </a:xfrm>
          <a:prstGeom prst="rect">
            <a:avLst/>
          </a:prstGeom>
          <a:noFill/>
          <a:ln w="9525" algn="ctr">
            <a:noFill/>
            <a:miter lim="800000"/>
            <a:headEnd/>
            <a:tailEnd/>
          </a:ln>
          <a:effectLst/>
        </p:spPr>
        <p:txBody>
          <a:bodyPr/>
          <a:lstStyle/>
          <a:p>
            <a:pPr marL="171450" indent="-171450" fontAlgn="auto">
              <a:lnSpc>
                <a:spcPct val="90000"/>
              </a:lnSpc>
              <a:spcBef>
                <a:spcPts val="0"/>
              </a:spcBef>
              <a:spcAft>
                <a:spcPts val="0"/>
              </a:spcAft>
              <a:defRPr/>
            </a:pPr>
            <a:fld id="{EC2A1687-DE2C-4867-84CB-872E9AD1A651}" type="slidenum">
              <a:rPr lang="en-US" sz="900">
                <a:solidFill>
                  <a:schemeClr val="tx2"/>
                </a:solidFill>
                <a:latin typeface="Times New Roman" pitchFamily="18" charset="0"/>
                <a:cs typeface="Times New Roman" pitchFamily="18" charset="0"/>
              </a:rPr>
              <a:pPr marL="171450" indent="-171450" fontAlgn="auto">
                <a:lnSpc>
                  <a:spcPct val="90000"/>
                </a:lnSpc>
                <a:spcBef>
                  <a:spcPts val="0"/>
                </a:spcBef>
                <a:spcAft>
                  <a:spcPts val="0"/>
                </a:spcAft>
                <a:defRPr/>
              </a:pPr>
              <a:t>‹#›</a:t>
            </a:fld>
            <a:r>
              <a:rPr lang="en-US" sz="900">
                <a:solidFill>
                  <a:schemeClr val="tx2"/>
                </a:solidFill>
                <a:latin typeface="Times New Roman" pitchFamily="18" charset="0"/>
                <a:cs typeface="Times New Roman" pitchFamily="18" charset="0"/>
              </a:rPr>
              <a:t>	Managed by UT-Battelle</a:t>
            </a:r>
            <a:br>
              <a:rPr lang="en-US" sz="900">
                <a:solidFill>
                  <a:schemeClr val="tx2"/>
                </a:solidFill>
                <a:latin typeface="Times New Roman" pitchFamily="18" charset="0"/>
                <a:cs typeface="Times New Roman" pitchFamily="18" charset="0"/>
              </a:rPr>
            </a:br>
            <a:r>
              <a:rPr lang="en-US" sz="900">
                <a:solidFill>
                  <a:schemeClr val="tx2"/>
                </a:solidFill>
                <a:latin typeface="Times New Roman" pitchFamily="18" charset="0"/>
                <a:cs typeface="Times New Roman" pitchFamily="18" charset="0"/>
              </a:rPr>
              <a:t>for the Department of Energy</a:t>
            </a:r>
          </a:p>
        </p:txBody>
      </p:sp>
      <p:sp>
        <p:nvSpPr>
          <p:cNvPr id="160000" name="Rectangle 256"/>
          <p:cNvSpPr>
            <a:spLocks noGrp="1" noChangeArrowheads="1"/>
          </p:cNvSpPr>
          <p:nvPr>
            <p:ph type="ftr" sz="quarter" idx="3"/>
          </p:nvPr>
        </p:nvSpPr>
        <p:spPr bwMode="auto">
          <a:xfrm>
            <a:off x="3124200" y="6662738"/>
            <a:ext cx="2895600" cy="182562"/>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lvl1pPr algn="ctr" fontAlgn="auto">
              <a:lnSpc>
                <a:spcPct val="90000"/>
              </a:lnSpc>
              <a:spcBef>
                <a:spcPts val="0"/>
              </a:spcBef>
              <a:spcAft>
                <a:spcPts val="0"/>
              </a:spcAft>
              <a:defRPr sz="500">
                <a:solidFill>
                  <a:schemeClr val="tx2"/>
                </a:solidFill>
                <a:latin typeface="Times New Roman" pitchFamily="18" charset="0"/>
                <a:cs typeface="Times New Roman" pitchFamily="18" charset="0"/>
              </a:defRPr>
            </a:lvl1pPr>
          </a:lstStyle>
          <a:p>
            <a:pPr>
              <a:defRPr/>
            </a:pPr>
            <a:endParaRPr lang="en-US"/>
          </a:p>
        </p:txBody>
      </p:sp>
      <p:sp>
        <p:nvSpPr>
          <p:cNvPr id="160005" name="Freeform 261"/>
          <p:cNvSpPr>
            <a:spLocks/>
          </p:cNvSpPr>
          <p:nvPr/>
        </p:nvSpPr>
        <p:spPr bwMode="auto">
          <a:xfrm>
            <a:off x="7075488" y="3624263"/>
            <a:ext cx="2071687" cy="3251200"/>
          </a:xfrm>
          <a:custGeom>
            <a:avLst/>
            <a:gdLst/>
            <a:ahLst/>
            <a:cxnLst>
              <a:cxn ang="0">
                <a:pos x="0" y="2336"/>
              </a:cxn>
              <a:cxn ang="0">
                <a:pos x="1486" y="2336"/>
              </a:cxn>
              <a:cxn ang="0">
                <a:pos x="1488" y="0"/>
              </a:cxn>
              <a:cxn ang="0">
                <a:pos x="0" y="2336"/>
              </a:cxn>
            </a:cxnLst>
            <a:rect l="0" t="0" r="r" b="b"/>
            <a:pathLst>
              <a:path w="1488" h="2336">
                <a:moveTo>
                  <a:pt x="0" y="2336"/>
                </a:moveTo>
                <a:lnTo>
                  <a:pt x="1486" y="2336"/>
                </a:lnTo>
                <a:lnTo>
                  <a:pt x="1488" y="0"/>
                </a:lnTo>
                <a:cubicBezTo>
                  <a:pt x="1485" y="1230"/>
                  <a:pt x="879" y="2128"/>
                  <a:pt x="0" y="2336"/>
                </a:cubicBezTo>
                <a:close/>
              </a:path>
            </a:pathLst>
          </a:custGeom>
          <a:gradFill rotWithShape="1">
            <a:gsLst>
              <a:gs pos="0">
                <a:schemeClr val="bg1">
                  <a:alpha val="0"/>
                </a:schemeClr>
              </a:gs>
              <a:gs pos="100000">
                <a:schemeClr val="tx2">
                  <a:alpha val="84000"/>
                </a:schemeClr>
              </a:gs>
            </a:gsLst>
            <a:lin ang="5400000" scaled="1"/>
          </a:gradFill>
          <a:ln w="9525">
            <a:noFill/>
            <a:round/>
            <a:headEnd/>
            <a:tailEnd/>
          </a:ln>
          <a:effectLst/>
        </p:spPr>
        <p:txBody>
          <a:bodyPr/>
          <a:lstStyle/>
          <a:p>
            <a:pPr fontAlgn="auto">
              <a:spcBef>
                <a:spcPts val="0"/>
              </a:spcBef>
              <a:spcAft>
                <a:spcPts val="0"/>
              </a:spcAft>
              <a:defRPr/>
            </a:pPr>
            <a:endParaRPr lang="en-US">
              <a:latin typeface="+mn-lt"/>
            </a:endParaRPr>
          </a:p>
        </p:txBody>
      </p:sp>
      <p:pic>
        <p:nvPicPr>
          <p:cNvPr id="160006" name="Picture 262" descr="ORNL_leaf white"/>
          <p:cNvPicPr>
            <a:picLocks noChangeAspect="1" noChangeArrowheads="1"/>
          </p:cNvPicPr>
          <p:nvPr/>
        </p:nvPicPr>
        <p:blipFill>
          <a:blip r:embed="rId18" cstate="print"/>
          <a:srcRect/>
          <a:stretch>
            <a:fillRect/>
          </a:stretch>
        </p:blipFill>
        <p:spPr bwMode="auto">
          <a:xfrm>
            <a:off x="8037513" y="6264275"/>
            <a:ext cx="1074737" cy="557213"/>
          </a:xfrm>
          <a:prstGeom prst="rect">
            <a:avLst/>
          </a:prstGeom>
          <a:noFill/>
          <a:effectLst>
            <a:outerShdw algn="ctr" rotWithShape="0">
              <a:schemeClr val="bg2"/>
            </a:outerShdw>
          </a:effectLst>
        </p:spPr>
      </p:pic>
    </p:spTree>
  </p:cSld>
  <p:clrMap bg1="lt1" tx1="dk1" bg2="lt2" tx2="dk2" accent1="accent1" accent2="accent2" accent3="accent3" accent4="accent4" accent5="accent5" accent6="accent6" hlink="hlink" folHlink="folHlink"/>
  <p:sldLayoutIdLst>
    <p:sldLayoutId id="2147483677"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rtl="0" eaLnBrk="0" fontAlgn="base" hangingPunct="0">
        <a:lnSpc>
          <a:spcPct val="85000"/>
        </a:lnSpc>
        <a:spcBef>
          <a:spcPct val="0"/>
        </a:spcBef>
        <a:spcAft>
          <a:spcPct val="0"/>
        </a:spcAft>
        <a:defRPr sz="3000" b="1">
          <a:solidFill>
            <a:srgbClr val="00673E"/>
          </a:solidFill>
          <a:latin typeface="+mj-lt"/>
          <a:ea typeface="+mj-ea"/>
          <a:cs typeface="+mj-cs"/>
        </a:defRPr>
      </a:lvl1pPr>
      <a:lvl2pPr algn="l" rtl="0" eaLnBrk="0" fontAlgn="base" hangingPunct="0">
        <a:lnSpc>
          <a:spcPct val="85000"/>
        </a:lnSpc>
        <a:spcBef>
          <a:spcPct val="0"/>
        </a:spcBef>
        <a:spcAft>
          <a:spcPct val="0"/>
        </a:spcAft>
        <a:defRPr sz="3000" b="1">
          <a:solidFill>
            <a:srgbClr val="00673E"/>
          </a:solidFill>
          <a:latin typeface="Arial" charset="0"/>
        </a:defRPr>
      </a:lvl2pPr>
      <a:lvl3pPr algn="l" rtl="0" eaLnBrk="0" fontAlgn="base" hangingPunct="0">
        <a:lnSpc>
          <a:spcPct val="85000"/>
        </a:lnSpc>
        <a:spcBef>
          <a:spcPct val="0"/>
        </a:spcBef>
        <a:spcAft>
          <a:spcPct val="0"/>
        </a:spcAft>
        <a:defRPr sz="3000" b="1">
          <a:solidFill>
            <a:srgbClr val="00673E"/>
          </a:solidFill>
          <a:latin typeface="Arial" charset="0"/>
        </a:defRPr>
      </a:lvl3pPr>
      <a:lvl4pPr algn="l" rtl="0" eaLnBrk="0" fontAlgn="base" hangingPunct="0">
        <a:lnSpc>
          <a:spcPct val="85000"/>
        </a:lnSpc>
        <a:spcBef>
          <a:spcPct val="0"/>
        </a:spcBef>
        <a:spcAft>
          <a:spcPct val="0"/>
        </a:spcAft>
        <a:defRPr sz="3000" b="1">
          <a:solidFill>
            <a:srgbClr val="00673E"/>
          </a:solidFill>
          <a:latin typeface="Arial" charset="0"/>
        </a:defRPr>
      </a:lvl4pPr>
      <a:lvl5pPr algn="l" rtl="0" eaLnBrk="0" fontAlgn="base" hangingPunct="0">
        <a:lnSpc>
          <a:spcPct val="85000"/>
        </a:lnSpc>
        <a:spcBef>
          <a:spcPct val="0"/>
        </a:spcBef>
        <a:spcAft>
          <a:spcPct val="0"/>
        </a:spcAft>
        <a:defRPr sz="3000" b="1">
          <a:solidFill>
            <a:srgbClr val="00673E"/>
          </a:solidFill>
          <a:latin typeface="Arial" charset="0"/>
        </a:defRPr>
      </a:lvl5pPr>
      <a:lvl6pPr marL="457200" algn="l" rtl="0" eaLnBrk="1" fontAlgn="base" hangingPunct="1">
        <a:lnSpc>
          <a:spcPct val="85000"/>
        </a:lnSpc>
        <a:spcBef>
          <a:spcPct val="0"/>
        </a:spcBef>
        <a:spcAft>
          <a:spcPct val="0"/>
        </a:spcAft>
        <a:defRPr sz="3000" b="1">
          <a:solidFill>
            <a:srgbClr val="00673E"/>
          </a:solidFill>
          <a:latin typeface="Arial" charset="0"/>
        </a:defRPr>
      </a:lvl6pPr>
      <a:lvl7pPr marL="914400" algn="l" rtl="0" eaLnBrk="1" fontAlgn="base" hangingPunct="1">
        <a:lnSpc>
          <a:spcPct val="85000"/>
        </a:lnSpc>
        <a:spcBef>
          <a:spcPct val="0"/>
        </a:spcBef>
        <a:spcAft>
          <a:spcPct val="0"/>
        </a:spcAft>
        <a:defRPr sz="3000" b="1">
          <a:solidFill>
            <a:srgbClr val="00673E"/>
          </a:solidFill>
          <a:latin typeface="Arial" charset="0"/>
        </a:defRPr>
      </a:lvl7pPr>
      <a:lvl8pPr marL="1371600" algn="l" rtl="0" eaLnBrk="1" fontAlgn="base" hangingPunct="1">
        <a:lnSpc>
          <a:spcPct val="85000"/>
        </a:lnSpc>
        <a:spcBef>
          <a:spcPct val="0"/>
        </a:spcBef>
        <a:spcAft>
          <a:spcPct val="0"/>
        </a:spcAft>
        <a:defRPr sz="3000" b="1">
          <a:solidFill>
            <a:srgbClr val="00673E"/>
          </a:solidFill>
          <a:latin typeface="Arial" charset="0"/>
        </a:defRPr>
      </a:lvl8pPr>
      <a:lvl9pPr marL="1828800" algn="l" rtl="0" eaLnBrk="1" fontAlgn="base" hangingPunct="1">
        <a:lnSpc>
          <a:spcPct val="85000"/>
        </a:lnSpc>
        <a:spcBef>
          <a:spcPct val="0"/>
        </a:spcBef>
        <a:spcAft>
          <a:spcPct val="0"/>
        </a:spcAft>
        <a:defRPr sz="3000" b="1">
          <a:solidFill>
            <a:srgbClr val="00673E"/>
          </a:solidFill>
          <a:latin typeface="Arial" charset="0"/>
        </a:defRPr>
      </a:lvl9pPr>
    </p:titleStyle>
    <p:bodyStyle>
      <a:lvl1pPr marL="342900" indent="-342900" algn="l" rtl="0" eaLnBrk="0" fontAlgn="base" hangingPunct="0">
        <a:lnSpc>
          <a:spcPct val="90000"/>
        </a:lnSpc>
        <a:spcBef>
          <a:spcPct val="60000"/>
        </a:spcBef>
        <a:spcAft>
          <a:spcPct val="0"/>
        </a:spcAft>
        <a:buClr>
          <a:srgbClr val="01673E"/>
        </a:buClr>
        <a:buFont typeface="Symbol" pitchFamily="18" charset="2"/>
        <a:buChar char="·"/>
        <a:defRPr sz="2800">
          <a:solidFill>
            <a:srgbClr val="000000"/>
          </a:solidFill>
          <a:latin typeface="+mn-lt"/>
          <a:ea typeface="+mn-ea"/>
          <a:cs typeface="+mn-cs"/>
        </a:defRPr>
      </a:lvl1pPr>
      <a:lvl2pPr marL="742950" indent="-285750" algn="l" rtl="0" eaLnBrk="0" fontAlgn="base" hangingPunct="0">
        <a:lnSpc>
          <a:spcPct val="90000"/>
        </a:lnSpc>
        <a:spcBef>
          <a:spcPct val="35000"/>
        </a:spcBef>
        <a:spcAft>
          <a:spcPct val="0"/>
        </a:spcAft>
        <a:buClr>
          <a:srgbClr val="01673E"/>
        </a:buClr>
        <a:buFont typeface="Arial" charset="0"/>
        <a:buChar char="–"/>
        <a:defRPr sz="2400">
          <a:solidFill>
            <a:srgbClr val="000000"/>
          </a:solidFill>
          <a:latin typeface="+mn-lt"/>
        </a:defRPr>
      </a:lvl2pPr>
      <a:lvl3pPr marL="1143000" indent="-228600" algn="l" rtl="0" eaLnBrk="0" fontAlgn="base" hangingPunct="0">
        <a:lnSpc>
          <a:spcPct val="90000"/>
        </a:lnSpc>
        <a:spcBef>
          <a:spcPct val="25000"/>
        </a:spcBef>
        <a:spcAft>
          <a:spcPct val="0"/>
        </a:spcAft>
        <a:buClr>
          <a:srgbClr val="01673E"/>
        </a:buClr>
        <a:buFont typeface="Symbol" pitchFamily="18" charset="2"/>
        <a:buChar char="·"/>
        <a:defRPr sz="2000">
          <a:solidFill>
            <a:srgbClr val="000000"/>
          </a:solidFill>
          <a:latin typeface="+mn-lt"/>
        </a:defRPr>
      </a:lvl3pPr>
      <a:lvl4pPr marL="1600200" indent="-228600" algn="l" rtl="0" eaLnBrk="0" fontAlgn="base" hangingPunct="0">
        <a:lnSpc>
          <a:spcPct val="90000"/>
        </a:lnSpc>
        <a:spcBef>
          <a:spcPct val="20000"/>
        </a:spcBef>
        <a:spcAft>
          <a:spcPct val="0"/>
        </a:spcAft>
        <a:buClr>
          <a:srgbClr val="01673E"/>
        </a:buClr>
        <a:buFont typeface="Arial" charset="0"/>
        <a:buChar char="–"/>
        <a:defRPr>
          <a:solidFill>
            <a:srgbClr val="000000"/>
          </a:solidFill>
          <a:latin typeface="+mn-lt"/>
        </a:defRPr>
      </a:lvl4pPr>
      <a:lvl5pPr marL="2057400" indent="-228600" algn="l" rtl="0" eaLnBrk="0" fontAlgn="base" hangingPunct="0">
        <a:lnSpc>
          <a:spcPct val="90000"/>
        </a:lnSpc>
        <a:spcBef>
          <a:spcPct val="20000"/>
        </a:spcBef>
        <a:spcAft>
          <a:spcPct val="0"/>
        </a:spcAft>
        <a:buClr>
          <a:srgbClr val="01673E"/>
        </a:buClr>
        <a:buFont typeface="Symbol" pitchFamily="18" charset="2"/>
        <a:buChar char="·"/>
        <a:defRPr>
          <a:solidFill>
            <a:srgbClr val="000000"/>
          </a:solidFill>
          <a:latin typeface="+mn-lt"/>
        </a:defRPr>
      </a:lvl5pPr>
      <a:lvl6pPr marL="2514600" indent="-228600" algn="l" rtl="0" eaLnBrk="1" fontAlgn="base" hangingPunct="1">
        <a:lnSpc>
          <a:spcPct val="90000"/>
        </a:lnSpc>
        <a:spcBef>
          <a:spcPct val="20000"/>
        </a:spcBef>
        <a:spcAft>
          <a:spcPct val="0"/>
        </a:spcAft>
        <a:buClr>
          <a:srgbClr val="01673E"/>
        </a:buClr>
        <a:buFont typeface="Symbol" pitchFamily="18" charset="2"/>
        <a:buChar char="·"/>
        <a:defRPr>
          <a:solidFill>
            <a:srgbClr val="000000"/>
          </a:solidFill>
          <a:latin typeface="+mn-lt"/>
        </a:defRPr>
      </a:lvl6pPr>
      <a:lvl7pPr marL="2971800" indent="-228600" algn="l" rtl="0" eaLnBrk="1" fontAlgn="base" hangingPunct="1">
        <a:lnSpc>
          <a:spcPct val="90000"/>
        </a:lnSpc>
        <a:spcBef>
          <a:spcPct val="20000"/>
        </a:spcBef>
        <a:spcAft>
          <a:spcPct val="0"/>
        </a:spcAft>
        <a:buClr>
          <a:srgbClr val="01673E"/>
        </a:buClr>
        <a:buFont typeface="Symbol" pitchFamily="18" charset="2"/>
        <a:buChar char="·"/>
        <a:defRPr>
          <a:solidFill>
            <a:srgbClr val="000000"/>
          </a:solidFill>
          <a:latin typeface="+mn-lt"/>
        </a:defRPr>
      </a:lvl7pPr>
      <a:lvl8pPr marL="3429000" indent="-228600" algn="l" rtl="0" eaLnBrk="1" fontAlgn="base" hangingPunct="1">
        <a:lnSpc>
          <a:spcPct val="90000"/>
        </a:lnSpc>
        <a:spcBef>
          <a:spcPct val="20000"/>
        </a:spcBef>
        <a:spcAft>
          <a:spcPct val="0"/>
        </a:spcAft>
        <a:buClr>
          <a:srgbClr val="01673E"/>
        </a:buClr>
        <a:buFont typeface="Symbol" pitchFamily="18" charset="2"/>
        <a:buChar char="·"/>
        <a:defRPr>
          <a:solidFill>
            <a:srgbClr val="000000"/>
          </a:solidFill>
          <a:latin typeface="+mn-lt"/>
        </a:defRPr>
      </a:lvl8pPr>
      <a:lvl9pPr marL="3886200" indent="-228600" algn="l" rtl="0" eaLnBrk="1" fontAlgn="base" hangingPunct="1">
        <a:lnSpc>
          <a:spcPct val="90000"/>
        </a:lnSpc>
        <a:spcBef>
          <a:spcPct val="20000"/>
        </a:spcBef>
        <a:spcAft>
          <a:spcPct val="0"/>
        </a:spcAft>
        <a:buClr>
          <a:srgbClr val="01673E"/>
        </a:buClr>
        <a:buFont typeface="Symbol" pitchFamily="18" charset="2"/>
        <a:buChar char="·"/>
        <a:defRPr>
          <a:solidFill>
            <a:srgbClr val="000000"/>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Content Placeholder 2"/>
          <p:cNvSpPr>
            <a:spLocks noGrp="1"/>
          </p:cNvSpPr>
          <p:nvPr>
            <p:ph type="subTitle" idx="1"/>
          </p:nvPr>
        </p:nvSpPr>
        <p:spPr/>
        <p:txBody>
          <a:bodyPr/>
          <a:lstStyle/>
          <a:p>
            <a:pPr eaLnBrk="1" hangingPunct="1"/>
            <a:r>
              <a:rPr lang="en-US" sz="1600" dirty="0" smtClean="0"/>
              <a:t>Laurence Eaton, Peter </a:t>
            </a:r>
            <a:r>
              <a:rPr lang="en-US" sz="1600" dirty="0" err="1" smtClean="0"/>
              <a:t>Schweizer</a:t>
            </a:r>
            <a:r>
              <a:rPr lang="en-US" sz="1600" dirty="0" smtClean="0"/>
              <a:t>, </a:t>
            </a:r>
            <a:r>
              <a:rPr lang="en-US" sz="1600" dirty="0" err="1" smtClean="0"/>
              <a:t>Yetta</a:t>
            </a:r>
            <a:r>
              <a:rPr lang="en-US" sz="1600" dirty="0" smtClean="0"/>
              <a:t> </a:t>
            </a:r>
            <a:r>
              <a:rPr lang="en-US" sz="1600" dirty="0" err="1" smtClean="0"/>
              <a:t>Jager</a:t>
            </a:r>
            <a:r>
              <a:rPr lang="en-US" sz="1600" dirty="0" smtClean="0"/>
              <a:t>, and Rebecca </a:t>
            </a:r>
            <a:r>
              <a:rPr lang="en-US" sz="1600" dirty="0" err="1" smtClean="0"/>
              <a:t>Efroymson</a:t>
            </a:r>
            <a:endParaRPr lang="en-US" sz="1600" dirty="0" smtClean="0"/>
          </a:p>
          <a:p>
            <a:pPr eaLnBrk="1" hangingPunct="1"/>
            <a:endParaRPr lang="en-US" sz="1600" dirty="0" smtClean="0"/>
          </a:p>
          <a:p>
            <a:pPr eaLnBrk="1" hangingPunct="1"/>
            <a:r>
              <a:rPr lang="en-US" sz="1600" dirty="0" smtClean="0"/>
              <a:t>International Association for Landscape Ecology</a:t>
            </a:r>
          </a:p>
          <a:p>
            <a:pPr eaLnBrk="1" hangingPunct="1"/>
            <a:r>
              <a:rPr lang="en-US" sz="1600" dirty="0" smtClean="0"/>
              <a:t>April 8, 2010</a:t>
            </a:r>
          </a:p>
          <a:p>
            <a:pPr eaLnBrk="1" hangingPunct="1"/>
            <a:r>
              <a:rPr lang="en-US" sz="1600" dirty="0" smtClean="0"/>
              <a:t>Athens, Georgia</a:t>
            </a:r>
          </a:p>
        </p:txBody>
      </p:sp>
      <p:sp>
        <p:nvSpPr>
          <p:cNvPr id="2" name="Title 1"/>
          <p:cNvSpPr>
            <a:spLocks noGrp="1"/>
          </p:cNvSpPr>
          <p:nvPr>
            <p:ph type="ctrTitle"/>
          </p:nvPr>
        </p:nvSpPr>
        <p:spPr>
          <a:xfrm>
            <a:off x="457200" y="157163"/>
            <a:ext cx="8572500" cy="461962"/>
          </a:xfrm>
        </p:spPr>
        <p:txBody>
          <a:bodyPr>
            <a:normAutofit fontScale="90000"/>
          </a:bodyPr>
          <a:lstStyle/>
          <a:p>
            <a:pPr eaLnBrk="1" hangingPunct="1">
              <a:defRPr/>
            </a:pPr>
            <a:r>
              <a:rPr lang="en-US" dirty="0" smtClean="0"/>
              <a:t>Assessing watershed benefits of bioenergy crops: recreational and subsistence value of fishes</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Title 1"/>
          <p:cNvSpPr>
            <a:spLocks noGrp="1"/>
          </p:cNvSpPr>
          <p:nvPr>
            <p:ph type="title"/>
          </p:nvPr>
        </p:nvSpPr>
        <p:spPr/>
        <p:txBody>
          <a:bodyPr/>
          <a:lstStyle/>
          <a:p>
            <a:pPr eaLnBrk="1" hangingPunct="1"/>
            <a:r>
              <a:rPr lang="en-US" sz="2800" smtClean="0"/>
              <a:t>Motivation</a:t>
            </a:r>
          </a:p>
        </p:txBody>
      </p:sp>
      <p:pic>
        <p:nvPicPr>
          <p:cNvPr id="20482" name="Picture 2"/>
          <p:cNvPicPr>
            <a:picLocks noGrp="1" noChangeAspect="1" noChangeArrowheads="1"/>
          </p:cNvPicPr>
          <p:nvPr>
            <p:ph idx="1"/>
          </p:nvPr>
        </p:nvPicPr>
        <p:blipFill>
          <a:blip r:embed="rId3" cstate="print"/>
          <a:srcRect l="2245" t="1682" r="3520" b="56302"/>
          <a:stretch>
            <a:fillRect/>
          </a:stretch>
        </p:blipFill>
        <p:spPr>
          <a:xfrm>
            <a:off x="4800600" y="979488"/>
            <a:ext cx="4114800" cy="2449512"/>
          </a:xfrm>
          <a:ln>
            <a:solidFill>
              <a:schemeClr val="accent1"/>
            </a:solidFill>
          </a:ln>
        </p:spPr>
      </p:pic>
      <p:sp>
        <p:nvSpPr>
          <p:cNvPr id="6" name="Content Placeholder 2"/>
          <p:cNvSpPr txBox="1">
            <a:spLocks/>
          </p:cNvSpPr>
          <p:nvPr/>
        </p:nvSpPr>
        <p:spPr bwMode="auto">
          <a:xfrm>
            <a:off x="0" y="990600"/>
            <a:ext cx="4070350" cy="5410200"/>
          </a:xfrm>
          <a:prstGeom prst="rect">
            <a:avLst/>
          </a:prstGeom>
          <a:noFill/>
          <a:ln w="9525">
            <a:noFill/>
            <a:miter lim="800000"/>
            <a:headEnd/>
            <a:tailEnd/>
          </a:ln>
        </p:spPr>
        <p:txBody>
          <a:bodyPr>
            <a:normAutofit/>
          </a:bodyPr>
          <a:lstStyle/>
          <a:p>
            <a:pPr marL="342900" indent="-342900">
              <a:lnSpc>
                <a:spcPct val="90000"/>
              </a:lnSpc>
              <a:spcBef>
                <a:spcPct val="60000"/>
              </a:spcBef>
              <a:buClr>
                <a:srgbClr val="01673E"/>
              </a:buClr>
              <a:buFont typeface="Symbol" pitchFamily="18" charset="2"/>
              <a:buChar char="·"/>
              <a:defRPr/>
            </a:pPr>
            <a:r>
              <a:rPr lang="en-US" sz="2400" kern="0" dirty="0">
                <a:solidFill>
                  <a:srgbClr val="000000"/>
                </a:solidFill>
                <a:latin typeface="+mn-lt"/>
              </a:rPr>
              <a:t>Could there be conflicting social</a:t>
            </a:r>
            <a:r>
              <a:rPr lang="en-US" sz="2400" kern="0" dirty="0" smtClean="0">
                <a:solidFill>
                  <a:srgbClr val="000000"/>
                </a:solidFill>
                <a:latin typeface="+mn-lt"/>
              </a:rPr>
              <a:t> and ecological objectives </a:t>
            </a:r>
            <a:r>
              <a:rPr lang="en-US" sz="2400" kern="0" dirty="0">
                <a:solidFill>
                  <a:srgbClr val="000000"/>
                </a:solidFill>
                <a:latin typeface="+mn-lt"/>
              </a:rPr>
              <a:t>in </a:t>
            </a:r>
            <a:r>
              <a:rPr lang="en-US" sz="2400" kern="0" dirty="0" smtClean="0">
                <a:solidFill>
                  <a:srgbClr val="000000"/>
                </a:solidFill>
                <a:latin typeface="+mn-lt"/>
              </a:rPr>
              <a:t>increasing biomass production?</a:t>
            </a:r>
          </a:p>
          <a:p>
            <a:pPr marL="342900" indent="-342900">
              <a:lnSpc>
                <a:spcPct val="90000"/>
              </a:lnSpc>
              <a:spcBef>
                <a:spcPct val="60000"/>
              </a:spcBef>
              <a:buClr>
                <a:srgbClr val="01673E"/>
              </a:buClr>
              <a:buFont typeface="Symbol" pitchFamily="18" charset="2"/>
              <a:buChar char="·"/>
              <a:defRPr/>
            </a:pPr>
            <a:r>
              <a:rPr lang="en-US" sz="2400" kern="0" dirty="0" smtClean="0">
                <a:solidFill>
                  <a:srgbClr val="000000"/>
                </a:solidFill>
                <a:latin typeface="+mn-lt"/>
              </a:rPr>
              <a:t>Why anglers?</a:t>
            </a:r>
          </a:p>
          <a:p>
            <a:pPr marL="742950" lvl="1" indent="-285750">
              <a:lnSpc>
                <a:spcPct val="90000"/>
              </a:lnSpc>
              <a:spcBef>
                <a:spcPct val="35000"/>
              </a:spcBef>
              <a:buClr>
                <a:srgbClr val="01673E"/>
              </a:buClr>
              <a:buFont typeface="Arial" charset="0"/>
              <a:buChar char="–"/>
              <a:defRPr/>
            </a:pPr>
            <a:r>
              <a:rPr lang="en-US" sz="2400" kern="0" dirty="0">
                <a:solidFill>
                  <a:srgbClr val="000000"/>
                </a:solidFill>
                <a:latin typeface="+mn-lt"/>
              </a:rPr>
              <a:t>Consume ecological</a:t>
            </a:r>
            <a:r>
              <a:rPr lang="en-US" sz="2400" kern="0" dirty="0" smtClean="0">
                <a:solidFill>
                  <a:srgbClr val="000000"/>
                </a:solidFill>
                <a:latin typeface="+mn-lt"/>
              </a:rPr>
              <a:t> and biophysical final </a:t>
            </a:r>
            <a:r>
              <a:rPr lang="en-US" sz="2400" kern="0" dirty="0">
                <a:solidFill>
                  <a:srgbClr val="000000"/>
                </a:solidFill>
                <a:latin typeface="+mn-lt"/>
              </a:rPr>
              <a:t>goods</a:t>
            </a:r>
          </a:p>
          <a:p>
            <a:pPr marL="742950" lvl="1" indent="-285750">
              <a:lnSpc>
                <a:spcPct val="90000"/>
              </a:lnSpc>
              <a:spcBef>
                <a:spcPct val="35000"/>
              </a:spcBef>
              <a:buClr>
                <a:srgbClr val="01673E"/>
              </a:buClr>
              <a:buFont typeface="Arial" charset="0"/>
              <a:buChar char="–"/>
              <a:defRPr/>
            </a:pPr>
            <a:r>
              <a:rPr lang="en-US" sz="2400" kern="0" dirty="0">
                <a:solidFill>
                  <a:srgbClr val="000000"/>
                </a:solidFill>
                <a:latin typeface="+mn-lt"/>
              </a:rPr>
              <a:t>Promote economic development</a:t>
            </a:r>
          </a:p>
          <a:p>
            <a:pPr marL="285750" indent="-285750">
              <a:lnSpc>
                <a:spcPct val="90000"/>
              </a:lnSpc>
              <a:spcBef>
                <a:spcPct val="35000"/>
              </a:spcBef>
              <a:buClr>
                <a:srgbClr val="01673E"/>
              </a:buClr>
              <a:buSzPct val="135000"/>
              <a:buFont typeface="Arial" pitchFamily="34" charset="0"/>
              <a:buChar char="•"/>
              <a:defRPr/>
            </a:pPr>
            <a:r>
              <a:rPr lang="en-US" sz="2400" kern="0" dirty="0">
                <a:solidFill>
                  <a:srgbClr val="000000"/>
                </a:solidFill>
                <a:latin typeface="+mn-lt"/>
              </a:rPr>
              <a:t>Responsive to quality (richness) and quantity of fishing opportunities?</a:t>
            </a:r>
          </a:p>
          <a:p>
            <a:pPr marL="742950" lvl="1" indent="-285750">
              <a:lnSpc>
                <a:spcPct val="90000"/>
              </a:lnSpc>
              <a:spcBef>
                <a:spcPct val="35000"/>
              </a:spcBef>
              <a:buClr>
                <a:srgbClr val="01673E"/>
              </a:buClr>
              <a:buFont typeface="Arial" charset="0"/>
              <a:buChar char="–"/>
              <a:defRPr/>
            </a:pPr>
            <a:endParaRPr lang="en-US" sz="2400" kern="0" dirty="0">
              <a:solidFill>
                <a:srgbClr val="000000"/>
              </a:solidFill>
              <a:latin typeface="+mn-lt"/>
            </a:endParaRPr>
          </a:p>
          <a:p>
            <a:pPr marL="742950" lvl="1" indent="-285750">
              <a:lnSpc>
                <a:spcPct val="90000"/>
              </a:lnSpc>
              <a:spcBef>
                <a:spcPct val="35000"/>
              </a:spcBef>
              <a:buClr>
                <a:srgbClr val="01673E"/>
              </a:buClr>
              <a:buFont typeface="Arial" charset="0"/>
              <a:buChar char="–"/>
              <a:defRPr/>
            </a:pPr>
            <a:endParaRPr lang="en-US" sz="2400" kern="0" dirty="0">
              <a:solidFill>
                <a:srgbClr val="000000"/>
              </a:solidFill>
              <a:latin typeface="+mn-lt"/>
            </a:endParaRPr>
          </a:p>
        </p:txBody>
      </p:sp>
      <p:sp>
        <p:nvSpPr>
          <p:cNvPr id="7" name="Title 1"/>
          <p:cNvSpPr txBox="1">
            <a:spLocks/>
          </p:cNvSpPr>
          <p:nvPr/>
        </p:nvSpPr>
        <p:spPr bwMode="auto">
          <a:xfrm>
            <a:off x="228600" y="609600"/>
            <a:ext cx="8775700" cy="504825"/>
          </a:xfrm>
          <a:prstGeom prst="rect">
            <a:avLst/>
          </a:prstGeom>
          <a:noFill/>
          <a:ln w="9525">
            <a:noFill/>
            <a:miter lim="800000"/>
            <a:headEnd/>
            <a:tailEnd/>
          </a:ln>
        </p:spPr>
        <p:txBody>
          <a:bodyPr>
            <a:normAutofit/>
          </a:bodyPr>
          <a:lstStyle/>
          <a:p>
            <a:pPr>
              <a:lnSpc>
                <a:spcPct val="85000"/>
              </a:lnSpc>
              <a:defRPr/>
            </a:pPr>
            <a:endParaRPr lang="en-US" sz="1000" b="1" kern="0" dirty="0">
              <a:solidFill>
                <a:srgbClr val="00673E"/>
              </a:solidFill>
              <a:latin typeface="+mj-lt"/>
              <a:ea typeface="+mj-ea"/>
              <a:cs typeface="+mj-cs"/>
            </a:endParaRPr>
          </a:p>
        </p:txBody>
      </p:sp>
      <p:pic>
        <p:nvPicPr>
          <p:cNvPr id="20485" name="Picture 3"/>
          <p:cNvPicPr>
            <a:picLocks noChangeAspect="1" noChangeArrowheads="1"/>
          </p:cNvPicPr>
          <p:nvPr/>
        </p:nvPicPr>
        <p:blipFill>
          <a:blip r:embed="rId4" cstate="print"/>
          <a:srcRect r="2620" b="58493"/>
          <a:stretch>
            <a:fillRect/>
          </a:stretch>
        </p:blipFill>
        <p:spPr bwMode="auto">
          <a:xfrm>
            <a:off x="4275138" y="2667000"/>
            <a:ext cx="4183062" cy="2689225"/>
          </a:xfrm>
          <a:prstGeom prst="rect">
            <a:avLst/>
          </a:prstGeom>
          <a:solidFill>
            <a:schemeClr val="accent1"/>
          </a:solidFill>
          <a:ln w="9525">
            <a:solidFill>
              <a:schemeClr val="accent1"/>
            </a:solidFill>
            <a:miter lim="800000"/>
            <a:headEnd/>
            <a:tailEnd/>
          </a:ln>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Title 1"/>
          <p:cNvSpPr>
            <a:spLocks noGrp="1"/>
          </p:cNvSpPr>
          <p:nvPr>
            <p:ph type="title"/>
          </p:nvPr>
        </p:nvSpPr>
        <p:spPr/>
        <p:txBody>
          <a:bodyPr/>
          <a:lstStyle/>
          <a:p>
            <a:pPr eaLnBrk="1" hangingPunct="1"/>
            <a:r>
              <a:rPr lang="en-US" sz="2800" smtClean="0"/>
              <a:t>Presentation Outline</a:t>
            </a:r>
          </a:p>
        </p:txBody>
      </p:sp>
      <p:sp>
        <p:nvSpPr>
          <p:cNvPr id="6" name="Content Placeholder 2"/>
          <p:cNvSpPr txBox="1">
            <a:spLocks/>
          </p:cNvSpPr>
          <p:nvPr/>
        </p:nvSpPr>
        <p:spPr bwMode="auto">
          <a:xfrm>
            <a:off x="120650" y="1354138"/>
            <a:ext cx="8489950" cy="4894262"/>
          </a:xfrm>
          <a:prstGeom prst="rect">
            <a:avLst/>
          </a:prstGeom>
          <a:noFill/>
          <a:ln w="9525">
            <a:noFill/>
            <a:miter lim="800000"/>
            <a:headEnd/>
            <a:tailEnd/>
          </a:ln>
        </p:spPr>
        <p:txBody>
          <a:bodyPr>
            <a:normAutofit/>
          </a:bodyPr>
          <a:lstStyle/>
          <a:p>
            <a:pPr marL="342900" indent="-342900">
              <a:lnSpc>
                <a:spcPct val="90000"/>
              </a:lnSpc>
              <a:spcBef>
                <a:spcPct val="60000"/>
              </a:spcBef>
              <a:buClr>
                <a:srgbClr val="01673E"/>
              </a:buClr>
              <a:buFont typeface="Symbol" pitchFamily="18" charset="2"/>
              <a:buChar char="·"/>
              <a:defRPr/>
            </a:pPr>
            <a:r>
              <a:rPr lang="en-US" sz="2400" kern="0" dirty="0">
                <a:solidFill>
                  <a:srgbClr val="000000"/>
                </a:solidFill>
                <a:latin typeface="+mn-lt"/>
              </a:rPr>
              <a:t>Overview</a:t>
            </a:r>
          </a:p>
          <a:p>
            <a:pPr marL="342900" indent="-342900">
              <a:lnSpc>
                <a:spcPct val="90000"/>
              </a:lnSpc>
              <a:spcBef>
                <a:spcPct val="60000"/>
              </a:spcBef>
              <a:buClr>
                <a:srgbClr val="01673E"/>
              </a:buClr>
              <a:buFont typeface="Symbol" pitchFamily="18" charset="2"/>
              <a:buChar char="·"/>
              <a:defRPr/>
            </a:pPr>
            <a:r>
              <a:rPr lang="en-US" sz="2400" kern="0" dirty="0">
                <a:solidFill>
                  <a:srgbClr val="000000"/>
                </a:solidFill>
                <a:latin typeface="+mn-lt"/>
              </a:rPr>
              <a:t>Approach and Data</a:t>
            </a:r>
          </a:p>
          <a:p>
            <a:pPr marL="342900" indent="-342900">
              <a:lnSpc>
                <a:spcPct val="90000"/>
              </a:lnSpc>
              <a:spcBef>
                <a:spcPct val="60000"/>
              </a:spcBef>
              <a:buClr>
                <a:srgbClr val="01673E"/>
              </a:buClr>
              <a:buFont typeface="Symbol" pitchFamily="18" charset="2"/>
              <a:buChar char="·"/>
              <a:defRPr/>
            </a:pPr>
            <a:r>
              <a:rPr lang="en-US" sz="2400" kern="0" dirty="0">
                <a:solidFill>
                  <a:srgbClr val="000000"/>
                </a:solidFill>
                <a:latin typeface="+mn-lt"/>
              </a:rPr>
              <a:t>Model</a:t>
            </a:r>
          </a:p>
          <a:p>
            <a:pPr marL="342900" indent="-342900">
              <a:lnSpc>
                <a:spcPct val="90000"/>
              </a:lnSpc>
              <a:spcBef>
                <a:spcPct val="60000"/>
              </a:spcBef>
              <a:buClr>
                <a:srgbClr val="01673E"/>
              </a:buClr>
              <a:buFont typeface="Symbol" pitchFamily="18" charset="2"/>
              <a:buChar char="·"/>
              <a:defRPr/>
            </a:pPr>
            <a:r>
              <a:rPr lang="en-US" sz="2400" kern="0" dirty="0">
                <a:solidFill>
                  <a:srgbClr val="000000"/>
                </a:solidFill>
                <a:latin typeface="+mn-lt"/>
              </a:rPr>
              <a:t>Results</a:t>
            </a:r>
          </a:p>
          <a:p>
            <a:pPr marL="342900" indent="-342900">
              <a:lnSpc>
                <a:spcPct val="90000"/>
              </a:lnSpc>
              <a:spcBef>
                <a:spcPct val="60000"/>
              </a:spcBef>
              <a:buClr>
                <a:srgbClr val="01673E"/>
              </a:buClr>
              <a:buFont typeface="Symbol" pitchFamily="18" charset="2"/>
              <a:buChar char="·"/>
              <a:defRPr/>
            </a:pPr>
            <a:r>
              <a:rPr lang="en-US" sz="2400" kern="0" dirty="0">
                <a:solidFill>
                  <a:srgbClr val="000000"/>
                </a:solidFill>
                <a:latin typeface="+mn-lt"/>
              </a:rPr>
              <a:t>Conclusion</a:t>
            </a:r>
          </a:p>
          <a:p>
            <a:pPr marL="742950" lvl="1" indent="-285750">
              <a:lnSpc>
                <a:spcPct val="90000"/>
              </a:lnSpc>
              <a:spcBef>
                <a:spcPct val="35000"/>
              </a:spcBef>
              <a:buClr>
                <a:srgbClr val="01673E"/>
              </a:buClr>
              <a:buFont typeface="Arial" charset="0"/>
              <a:buChar char="–"/>
              <a:defRPr/>
            </a:pPr>
            <a:endParaRPr lang="en-US" sz="2400" kern="0" dirty="0">
              <a:solidFill>
                <a:srgbClr val="000000"/>
              </a:solidFill>
              <a:latin typeface="+mn-lt"/>
            </a:endParaRPr>
          </a:p>
        </p:txBody>
      </p:sp>
      <p:sp>
        <p:nvSpPr>
          <p:cNvPr id="7" name="Title 1"/>
          <p:cNvSpPr txBox="1">
            <a:spLocks/>
          </p:cNvSpPr>
          <p:nvPr/>
        </p:nvSpPr>
        <p:spPr bwMode="auto">
          <a:xfrm>
            <a:off x="228600" y="609600"/>
            <a:ext cx="8775700" cy="504825"/>
          </a:xfrm>
          <a:prstGeom prst="rect">
            <a:avLst/>
          </a:prstGeom>
          <a:noFill/>
          <a:ln w="9525">
            <a:noFill/>
            <a:miter lim="800000"/>
            <a:headEnd/>
            <a:tailEnd/>
          </a:ln>
        </p:spPr>
        <p:txBody>
          <a:bodyPr>
            <a:normAutofit/>
          </a:bodyPr>
          <a:lstStyle/>
          <a:p>
            <a:pPr>
              <a:lnSpc>
                <a:spcPct val="85000"/>
              </a:lnSpc>
              <a:defRPr/>
            </a:pPr>
            <a:endParaRPr lang="en-US" sz="1000" b="1" kern="0" dirty="0">
              <a:solidFill>
                <a:srgbClr val="00673E"/>
              </a:solidFill>
              <a:latin typeface="+mj-lt"/>
              <a:ea typeface="+mj-ea"/>
              <a:cs typeface="+mj-cs"/>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Title 4"/>
          <p:cNvSpPr>
            <a:spLocks noGrp="1"/>
          </p:cNvSpPr>
          <p:nvPr>
            <p:ph type="title"/>
          </p:nvPr>
        </p:nvSpPr>
        <p:spPr/>
        <p:txBody>
          <a:bodyPr/>
          <a:lstStyle/>
          <a:p>
            <a:pPr eaLnBrk="1" hangingPunct="1"/>
            <a:r>
              <a:rPr lang="en-US" dirty="0" smtClean="0"/>
              <a:t>Overview: Conceptual Framework</a:t>
            </a:r>
          </a:p>
        </p:txBody>
      </p:sp>
      <p:sp>
        <p:nvSpPr>
          <p:cNvPr id="24578" name="Content Placeholder 6"/>
          <p:cNvSpPr>
            <a:spLocks noGrp="1"/>
          </p:cNvSpPr>
          <p:nvPr>
            <p:ph idx="1"/>
          </p:nvPr>
        </p:nvSpPr>
        <p:spPr>
          <a:xfrm>
            <a:off x="152400" y="1219200"/>
            <a:ext cx="8229600" cy="5181600"/>
          </a:xfrm>
        </p:spPr>
        <p:txBody>
          <a:bodyPr/>
          <a:lstStyle/>
          <a:p>
            <a:pPr eaLnBrk="1" hangingPunct="1"/>
            <a:endParaRPr lang="en-US" dirty="0" smtClean="0"/>
          </a:p>
          <a:p>
            <a:pPr eaLnBrk="1" hangingPunct="1"/>
            <a:endParaRPr lang="en-US" dirty="0" smtClean="0"/>
          </a:p>
          <a:p>
            <a:pPr eaLnBrk="1" hangingPunct="1"/>
            <a:r>
              <a:rPr lang="en-US" sz="2000" dirty="0" smtClean="0"/>
              <a:t>EISA mandates 21 billion gallons of second generation by 2022.</a:t>
            </a:r>
          </a:p>
          <a:p>
            <a:pPr eaLnBrk="1" hangingPunct="1"/>
            <a:r>
              <a:rPr lang="en-US" sz="2000" dirty="0" smtClean="0"/>
              <a:t>New landscapes include</a:t>
            </a:r>
          </a:p>
          <a:p>
            <a:pPr lvl="1" eaLnBrk="1" hangingPunct="1"/>
            <a:r>
              <a:rPr lang="en-US" sz="1600" dirty="0" err="1" smtClean="0"/>
              <a:t>Switchgrass</a:t>
            </a:r>
            <a:r>
              <a:rPr lang="en-US" sz="1600" dirty="0" smtClean="0"/>
              <a:t> and </a:t>
            </a:r>
            <a:r>
              <a:rPr lang="en-US" sz="1600" dirty="0" err="1" smtClean="0"/>
              <a:t>miscanthus</a:t>
            </a:r>
            <a:endParaRPr lang="en-US" sz="1600" dirty="0" smtClean="0"/>
          </a:p>
          <a:p>
            <a:pPr lvl="1" eaLnBrk="1" hangingPunct="1"/>
            <a:r>
              <a:rPr lang="en-US" sz="1600" dirty="0" smtClean="0"/>
              <a:t>hybrid poplar, pine, eucalyptus, and willow (SRC)</a:t>
            </a:r>
          </a:p>
          <a:p>
            <a:pPr eaLnBrk="1" hangingPunct="1"/>
            <a:r>
              <a:rPr lang="en-US" sz="2000" dirty="0" smtClean="0"/>
              <a:t>Different </a:t>
            </a:r>
            <a:r>
              <a:rPr lang="en-US" sz="2000" dirty="0" err="1" smtClean="0"/>
              <a:t>landuse</a:t>
            </a:r>
            <a:r>
              <a:rPr lang="en-US" sz="2000" dirty="0" smtClean="0"/>
              <a:t> scenarios vary in association with water quality and aquatic biodiversity</a:t>
            </a:r>
          </a:p>
          <a:p>
            <a:pPr eaLnBrk="1" hangingPunct="1"/>
            <a:r>
              <a:rPr lang="en-US" sz="2400" dirty="0" smtClean="0"/>
              <a:t>Q: </a:t>
            </a:r>
            <a:r>
              <a:rPr lang="en-US" sz="2400" dirty="0" smtClean="0">
                <a:solidFill>
                  <a:srgbClr val="C00000"/>
                </a:solidFill>
              </a:rPr>
              <a:t>What is the relationship between fish richness and fishing privilege and activity?</a:t>
            </a:r>
          </a:p>
          <a:p>
            <a:pPr eaLnBrk="1" hangingPunct="1"/>
            <a:endParaRPr lang="en-US" dirty="0" smtClean="0"/>
          </a:p>
        </p:txBody>
      </p:sp>
      <p:graphicFrame>
        <p:nvGraphicFramePr>
          <p:cNvPr id="4" name="Diagram 3"/>
          <p:cNvGraphicFramePr/>
          <p:nvPr/>
        </p:nvGraphicFramePr>
        <p:xfrm>
          <a:off x="304800" y="533400"/>
          <a:ext cx="8382000" cy="1676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Overview: POLYSYS modeling framework</a:t>
            </a:r>
            <a:endParaRPr lang="en-US" dirty="0"/>
          </a:p>
        </p:txBody>
      </p:sp>
      <p:sp>
        <p:nvSpPr>
          <p:cNvPr id="3" name="Content Placeholder 2"/>
          <p:cNvSpPr>
            <a:spLocks noGrp="1"/>
          </p:cNvSpPr>
          <p:nvPr>
            <p:ph idx="1"/>
          </p:nvPr>
        </p:nvSpPr>
        <p:spPr>
          <a:xfrm>
            <a:off x="4876800" y="1354138"/>
            <a:ext cx="3962400" cy="4533900"/>
          </a:xfrm>
        </p:spPr>
        <p:txBody>
          <a:bodyPr/>
          <a:lstStyle/>
          <a:p>
            <a:r>
              <a:rPr lang="en-US" sz="1800" dirty="0" smtClean="0"/>
              <a:t>Simulates US Agricultural Sector</a:t>
            </a:r>
          </a:p>
          <a:p>
            <a:r>
              <a:rPr lang="en-US" sz="1800" dirty="0" smtClean="0"/>
              <a:t>Billion Ton Study Update ongoing</a:t>
            </a:r>
          </a:p>
          <a:p>
            <a:r>
              <a:rPr lang="en-US" sz="1800" dirty="0" smtClean="0"/>
              <a:t>USDA baseline forecasts</a:t>
            </a:r>
          </a:p>
          <a:p>
            <a:r>
              <a:rPr lang="en-US" sz="1800" dirty="0" smtClean="0"/>
              <a:t>County-level supply curves</a:t>
            </a:r>
          </a:p>
          <a:p>
            <a:r>
              <a:rPr lang="en-US" sz="1800" dirty="0" smtClean="0"/>
              <a:t>Includes perennial crops, fixed land supply</a:t>
            </a:r>
          </a:p>
          <a:p>
            <a:r>
              <a:rPr lang="en-US" sz="1800" dirty="0" smtClean="0"/>
              <a:t>Representative 2030 scenario: </a:t>
            </a:r>
          </a:p>
          <a:p>
            <a:pPr lvl="1"/>
            <a:r>
              <a:rPr lang="en-US" sz="1400" dirty="0" smtClean="0"/>
              <a:t>$60/</a:t>
            </a:r>
            <a:r>
              <a:rPr lang="en-US" sz="1400" dirty="0" err="1" smtClean="0"/>
              <a:t>dt</a:t>
            </a:r>
            <a:r>
              <a:rPr lang="en-US" sz="1400" dirty="0" smtClean="0"/>
              <a:t> market price, perennial crop annual yield growth 4%</a:t>
            </a:r>
          </a:p>
        </p:txBody>
      </p:sp>
      <p:pic>
        <p:nvPicPr>
          <p:cNvPr id="4" name="Picture 3"/>
          <p:cNvPicPr>
            <a:picLocks noChangeAspect="1" noChangeArrowheads="1"/>
          </p:cNvPicPr>
          <p:nvPr/>
        </p:nvPicPr>
        <p:blipFill>
          <a:blip r:embed="rId2" cstate="print"/>
          <a:srcRect/>
          <a:stretch>
            <a:fillRect/>
          </a:stretch>
        </p:blipFill>
        <p:spPr bwMode="auto">
          <a:xfrm>
            <a:off x="228600" y="649029"/>
            <a:ext cx="4476750" cy="5804159"/>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Title 1"/>
          <p:cNvSpPr>
            <a:spLocks noGrp="1"/>
          </p:cNvSpPr>
          <p:nvPr>
            <p:ph type="title"/>
          </p:nvPr>
        </p:nvSpPr>
        <p:spPr/>
        <p:txBody>
          <a:bodyPr/>
          <a:lstStyle/>
          <a:p>
            <a:pPr eaLnBrk="1" hangingPunct="1"/>
            <a:r>
              <a:rPr lang="en-US" smtClean="0"/>
              <a:t>Overview: Resource Assessment and Agricultural Forecasting</a:t>
            </a:r>
          </a:p>
        </p:txBody>
      </p:sp>
      <p:sp>
        <p:nvSpPr>
          <p:cNvPr id="37892" name="Content Placeholder 2"/>
          <p:cNvSpPr>
            <a:spLocks noGrp="1"/>
          </p:cNvSpPr>
          <p:nvPr>
            <p:ph idx="1"/>
          </p:nvPr>
        </p:nvSpPr>
        <p:spPr>
          <a:xfrm>
            <a:off x="6096000" y="1676400"/>
            <a:ext cx="3048000" cy="2895600"/>
          </a:xfrm>
        </p:spPr>
        <p:txBody>
          <a:bodyPr/>
          <a:lstStyle/>
          <a:p>
            <a:pPr eaLnBrk="1" hangingPunct="1"/>
            <a:r>
              <a:rPr lang="en-US" sz="1800" dirty="0" smtClean="0"/>
              <a:t>Preliminary POLYSYS scenarios of </a:t>
            </a:r>
            <a:r>
              <a:rPr lang="en-US" sz="1800" dirty="0" err="1" smtClean="0"/>
              <a:t>biofuels</a:t>
            </a:r>
            <a:r>
              <a:rPr lang="en-US" sz="1800" dirty="0" smtClean="0"/>
              <a:t> market for perennial biomass crops production</a:t>
            </a:r>
          </a:p>
          <a:p>
            <a:pPr eaLnBrk="1" hangingPunct="1"/>
            <a:r>
              <a:rPr lang="en-US" sz="1800" dirty="0" smtClean="0"/>
              <a:t>Highest conversion to </a:t>
            </a:r>
            <a:r>
              <a:rPr lang="en-US" sz="1800" dirty="0" err="1" smtClean="0"/>
              <a:t>switchgrass</a:t>
            </a:r>
            <a:r>
              <a:rPr lang="en-US" sz="1800" dirty="0" smtClean="0"/>
              <a:t> is from wheat and pastureland</a:t>
            </a:r>
          </a:p>
          <a:p>
            <a:pPr eaLnBrk="1" hangingPunct="1"/>
            <a:endParaRPr lang="en-US" dirty="0" smtClean="0"/>
          </a:p>
          <a:p>
            <a:pPr lvl="1" eaLnBrk="1" hangingPunct="1"/>
            <a:endParaRPr lang="en-US" dirty="0" smtClean="0"/>
          </a:p>
        </p:txBody>
      </p:sp>
      <p:pic>
        <p:nvPicPr>
          <p:cNvPr id="37893" name="Picture 22" descr="R11_newlanduse"/>
          <p:cNvPicPr>
            <a:picLocks noChangeAspect="1" noChangeArrowheads="1"/>
          </p:cNvPicPr>
          <p:nvPr/>
        </p:nvPicPr>
        <p:blipFill>
          <a:blip r:embed="rId3" cstate="print"/>
          <a:srcRect/>
          <a:stretch>
            <a:fillRect/>
          </a:stretch>
        </p:blipFill>
        <p:spPr bwMode="auto">
          <a:xfrm>
            <a:off x="0" y="1143000"/>
            <a:ext cx="5943600" cy="5079076"/>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eaLnBrk="1" hangingPunct="1">
              <a:defRPr/>
            </a:pPr>
            <a:r>
              <a:rPr lang="en-US" dirty="0" smtClean="0"/>
              <a:t>Overview: Approaches to ecological valuation</a:t>
            </a:r>
            <a:endParaRPr lang="en-US" dirty="0"/>
          </a:p>
        </p:txBody>
      </p:sp>
      <p:sp>
        <p:nvSpPr>
          <p:cNvPr id="3" name="Content Placeholder 2"/>
          <p:cNvSpPr>
            <a:spLocks noGrp="1"/>
          </p:cNvSpPr>
          <p:nvPr>
            <p:ph idx="1"/>
          </p:nvPr>
        </p:nvSpPr>
        <p:spPr>
          <a:xfrm>
            <a:off x="120650" y="1354138"/>
            <a:ext cx="5594350" cy="4533900"/>
          </a:xfrm>
        </p:spPr>
        <p:txBody>
          <a:bodyPr>
            <a:normAutofit/>
          </a:bodyPr>
          <a:lstStyle/>
          <a:p>
            <a:pPr eaLnBrk="1" hangingPunct="1">
              <a:defRPr/>
            </a:pPr>
            <a:r>
              <a:rPr lang="en-US" dirty="0" smtClean="0"/>
              <a:t>Total Value (market, non-market, surrogate)</a:t>
            </a:r>
          </a:p>
          <a:p>
            <a:pPr eaLnBrk="1" hangingPunct="1">
              <a:defRPr/>
            </a:pPr>
            <a:r>
              <a:rPr lang="en-US" dirty="0" smtClean="0"/>
              <a:t>Macro- top down</a:t>
            </a:r>
          </a:p>
          <a:p>
            <a:pPr lvl="1" eaLnBrk="1" hangingPunct="1">
              <a:defRPr/>
            </a:pPr>
            <a:r>
              <a:rPr lang="en-US" dirty="0" smtClean="0"/>
              <a:t>Environmental/Economic </a:t>
            </a:r>
            <a:r>
              <a:rPr lang="en-US" dirty="0" err="1" smtClean="0"/>
              <a:t>indicies</a:t>
            </a:r>
            <a:endParaRPr lang="en-US" dirty="0" smtClean="0"/>
          </a:p>
          <a:p>
            <a:pPr eaLnBrk="1" hangingPunct="1">
              <a:defRPr/>
            </a:pPr>
            <a:r>
              <a:rPr lang="en-US" dirty="0" smtClean="0"/>
              <a:t>Micro- bottom up</a:t>
            </a:r>
          </a:p>
          <a:p>
            <a:pPr lvl="1" eaLnBrk="1" hangingPunct="1">
              <a:defRPr/>
            </a:pPr>
            <a:r>
              <a:rPr lang="en-US" dirty="0" smtClean="0"/>
              <a:t>“Travel Cost Method” (TCM)</a:t>
            </a:r>
          </a:p>
          <a:p>
            <a:pPr lvl="1" eaLnBrk="1" hangingPunct="1">
              <a:defRPr/>
            </a:pPr>
            <a:r>
              <a:rPr lang="en-US" dirty="0" smtClean="0"/>
              <a:t>“Contingent Valuation Method” (CVM)</a:t>
            </a:r>
          </a:p>
          <a:p>
            <a:pPr eaLnBrk="1" hangingPunct="1">
              <a:defRPr/>
            </a:pPr>
            <a:r>
              <a:rPr lang="en-US" dirty="0" smtClean="0">
                <a:solidFill>
                  <a:srgbClr val="C00000"/>
                </a:solidFill>
              </a:rPr>
              <a:t>Revealed Behavior approach</a:t>
            </a:r>
          </a:p>
          <a:p>
            <a:pPr lvl="1" eaLnBrk="1" hangingPunct="1">
              <a:defRPr/>
            </a:pPr>
            <a:endParaRPr lang="en-US" dirty="0"/>
          </a:p>
        </p:txBody>
      </p:sp>
      <p:grpSp>
        <p:nvGrpSpPr>
          <p:cNvPr id="40963" name="Group 5"/>
          <p:cNvGrpSpPr>
            <a:grpSpLocks/>
          </p:cNvGrpSpPr>
          <p:nvPr/>
        </p:nvGrpSpPr>
        <p:grpSpPr bwMode="auto">
          <a:xfrm>
            <a:off x="5562600" y="1524000"/>
            <a:ext cx="3581400" cy="3200400"/>
            <a:chOff x="5943600" y="2971800"/>
            <a:chExt cx="2971800" cy="2819400"/>
          </a:xfrm>
        </p:grpSpPr>
        <p:pic>
          <p:nvPicPr>
            <p:cNvPr id="40965" name="Picture 1"/>
            <p:cNvPicPr>
              <a:picLocks noChangeAspect="1" noChangeArrowheads="1"/>
            </p:cNvPicPr>
            <p:nvPr/>
          </p:nvPicPr>
          <p:blipFill>
            <a:blip r:embed="rId3" cstate="print"/>
            <a:srcRect l="23019" t="44679" r="61765" b="12930"/>
            <a:stretch>
              <a:fillRect/>
            </a:stretch>
          </p:blipFill>
          <p:spPr bwMode="auto">
            <a:xfrm>
              <a:off x="5943600" y="2971800"/>
              <a:ext cx="2971800" cy="2819400"/>
            </a:xfrm>
            <a:prstGeom prst="rect">
              <a:avLst/>
            </a:prstGeom>
            <a:noFill/>
            <a:ln w="9525">
              <a:noFill/>
              <a:miter lim="800000"/>
              <a:headEnd/>
              <a:tailEnd/>
            </a:ln>
          </p:spPr>
        </p:pic>
        <p:pic>
          <p:nvPicPr>
            <p:cNvPr id="40966" name="Picture 2"/>
            <p:cNvPicPr>
              <a:picLocks noChangeAspect="1" noChangeArrowheads="1"/>
            </p:cNvPicPr>
            <p:nvPr/>
          </p:nvPicPr>
          <p:blipFill>
            <a:blip r:embed="rId4" cstate="print"/>
            <a:srcRect/>
            <a:stretch>
              <a:fillRect/>
            </a:stretch>
          </p:blipFill>
          <p:spPr bwMode="auto">
            <a:xfrm>
              <a:off x="7162800" y="3733800"/>
              <a:ext cx="609600" cy="838200"/>
            </a:xfrm>
            <a:prstGeom prst="rect">
              <a:avLst/>
            </a:prstGeom>
            <a:noFill/>
            <a:ln w="9525">
              <a:noFill/>
              <a:miter lim="800000"/>
              <a:headEnd/>
              <a:tailEnd/>
            </a:ln>
          </p:spPr>
        </p:pic>
      </p:grpSp>
      <p:sp>
        <p:nvSpPr>
          <p:cNvPr id="40964" name="Text Box 7"/>
          <p:cNvSpPr txBox="1">
            <a:spLocks noChangeArrowheads="1"/>
          </p:cNvSpPr>
          <p:nvPr/>
        </p:nvSpPr>
        <p:spPr bwMode="auto">
          <a:xfrm>
            <a:off x="7315200" y="4724400"/>
            <a:ext cx="1371600" cy="304800"/>
          </a:xfrm>
          <a:prstGeom prst="rect">
            <a:avLst/>
          </a:prstGeom>
          <a:noFill/>
          <a:ln w="9525">
            <a:noFill/>
            <a:miter lim="800000"/>
            <a:headEnd/>
            <a:tailEnd/>
          </a:ln>
        </p:spPr>
        <p:txBody>
          <a:bodyPr>
            <a:spAutoFit/>
          </a:bodyPr>
          <a:lstStyle/>
          <a:p>
            <a:pPr algn="r">
              <a:spcBef>
                <a:spcPct val="50000"/>
              </a:spcBef>
            </a:pPr>
            <a:r>
              <a:rPr lang="en-US" sz="1400"/>
              <a:t>Loomis, 2005</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Approach: Economic Model</a:t>
            </a:r>
            <a:endParaRPr lang="en-US" dirty="0"/>
          </a:p>
        </p:txBody>
      </p:sp>
      <p:sp>
        <p:nvSpPr>
          <p:cNvPr id="3" name="Content Placeholder 2"/>
          <p:cNvSpPr>
            <a:spLocks noGrp="1"/>
          </p:cNvSpPr>
          <p:nvPr>
            <p:ph idx="1"/>
          </p:nvPr>
        </p:nvSpPr>
        <p:spPr/>
        <p:txBody>
          <a:bodyPr/>
          <a:lstStyle/>
          <a:p>
            <a:r>
              <a:rPr lang="en-US" dirty="0" smtClean="0"/>
              <a:t>Total use = </a:t>
            </a:r>
            <a:r>
              <a:rPr lang="en-US" dirty="0" err="1" smtClean="0"/>
              <a:t>f</a:t>
            </a:r>
            <a:r>
              <a:rPr lang="en-US" dirty="0" smtClean="0"/>
              <a:t> (F, C, B)</a:t>
            </a:r>
          </a:p>
          <a:p>
            <a:pPr lvl="1"/>
            <a:r>
              <a:rPr lang="en-US" dirty="0" smtClean="0"/>
              <a:t>Where </a:t>
            </a:r>
          </a:p>
          <a:p>
            <a:pPr lvl="2"/>
            <a:r>
              <a:rPr lang="en-US" dirty="0" smtClean="0"/>
              <a:t>Total use= resident and non-resident activity days (based upon privilege status and total trip days)</a:t>
            </a:r>
          </a:p>
          <a:p>
            <a:pPr lvl="2"/>
            <a:r>
              <a:rPr lang="en-US" dirty="0" smtClean="0"/>
              <a:t>F= ecological final goods (</a:t>
            </a:r>
            <a:r>
              <a:rPr lang="en-US" dirty="0" err="1" smtClean="0"/>
              <a:t>e</a:t>
            </a:r>
            <a:r>
              <a:rPr lang="en-US" dirty="0" smtClean="0"/>
              <a:t>. </a:t>
            </a:r>
            <a:r>
              <a:rPr lang="en-US" dirty="0" err="1" smtClean="0"/>
              <a:t>g</a:t>
            </a:r>
            <a:r>
              <a:rPr lang="en-US" dirty="0" smtClean="0"/>
              <a:t>. lakes, streams, rivers)</a:t>
            </a:r>
          </a:p>
          <a:p>
            <a:pPr lvl="2"/>
            <a:r>
              <a:rPr lang="en-US" dirty="0" smtClean="0"/>
              <a:t>C= capital infrastructure (</a:t>
            </a:r>
            <a:r>
              <a:rPr lang="en-US" dirty="0" err="1" smtClean="0"/>
              <a:t>e</a:t>
            </a:r>
            <a:r>
              <a:rPr lang="en-US" dirty="0" smtClean="0"/>
              <a:t>. </a:t>
            </a:r>
            <a:r>
              <a:rPr lang="en-US" dirty="0" err="1" smtClean="0"/>
              <a:t>g</a:t>
            </a:r>
            <a:r>
              <a:rPr lang="en-US" dirty="0" smtClean="0"/>
              <a:t>. access to sites)</a:t>
            </a:r>
          </a:p>
          <a:p>
            <a:pPr lvl="2"/>
            <a:r>
              <a:rPr lang="en-US" dirty="0" smtClean="0"/>
              <a:t>B= biophysical final goods (native fish richness and native game fish richness)</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Title 1"/>
          <p:cNvSpPr>
            <a:spLocks noGrp="1"/>
          </p:cNvSpPr>
          <p:nvPr>
            <p:ph type="title"/>
          </p:nvPr>
        </p:nvSpPr>
        <p:spPr/>
        <p:txBody>
          <a:bodyPr/>
          <a:lstStyle/>
          <a:p>
            <a:pPr eaLnBrk="1" hangingPunct="1"/>
            <a:r>
              <a:rPr lang="en-US" dirty="0" smtClean="0"/>
              <a:t>Data: Sources and method</a:t>
            </a:r>
          </a:p>
        </p:txBody>
      </p:sp>
      <p:sp>
        <p:nvSpPr>
          <p:cNvPr id="43010" name="Content Placeholder 2"/>
          <p:cNvSpPr>
            <a:spLocks noGrp="1"/>
          </p:cNvSpPr>
          <p:nvPr>
            <p:ph idx="1"/>
          </p:nvPr>
        </p:nvSpPr>
        <p:spPr>
          <a:xfrm>
            <a:off x="457200" y="914400"/>
            <a:ext cx="5562600" cy="4495800"/>
          </a:xfrm>
        </p:spPr>
        <p:txBody>
          <a:bodyPr/>
          <a:lstStyle/>
          <a:p>
            <a:pPr eaLnBrk="1" hangingPunct="1"/>
            <a:r>
              <a:rPr lang="en-US" sz="2000" dirty="0" smtClean="0"/>
              <a:t>County-level license sales (2008-9)</a:t>
            </a:r>
          </a:p>
          <a:p>
            <a:pPr eaLnBrk="1" hangingPunct="1"/>
            <a:r>
              <a:rPr lang="en-US" sz="2000" dirty="0" smtClean="0"/>
              <a:t>National Survey of Fishing, Hunting, and Wildlife-Associated Recreation (2006)</a:t>
            </a:r>
          </a:p>
          <a:p>
            <a:pPr eaLnBrk="1" hangingPunct="1"/>
            <a:r>
              <a:rPr lang="en-US" sz="2000" dirty="0" smtClean="0"/>
              <a:t>Net Economic Values of Wildlife-Related Recreation in 2006 (2009)</a:t>
            </a:r>
          </a:p>
          <a:p>
            <a:pPr eaLnBrk="1" hangingPunct="1">
              <a:buNone/>
            </a:pPr>
            <a:endParaRPr lang="en-US" sz="2000" dirty="0" smtClean="0"/>
          </a:p>
          <a:p>
            <a:pPr eaLnBrk="1" hangingPunct="1">
              <a:buNone/>
            </a:pPr>
            <a:endParaRPr lang="en-US" sz="1400" dirty="0" smtClean="0"/>
          </a:p>
          <a:p>
            <a:pPr eaLnBrk="1" hangingPunct="1"/>
            <a:endParaRPr lang="en-US" sz="1400" dirty="0" smtClean="0"/>
          </a:p>
          <a:p>
            <a:pPr eaLnBrk="1" hangingPunct="1"/>
            <a:endParaRPr lang="en-US" sz="1400" dirty="0" smtClean="0"/>
          </a:p>
          <a:p>
            <a:pPr eaLnBrk="1" hangingPunct="1"/>
            <a:r>
              <a:rPr lang="en-US" sz="1400" dirty="0" smtClean="0"/>
              <a:t>Total Privilege</a:t>
            </a:r>
          </a:p>
          <a:p>
            <a:pPr lvl="1" eaLnBrk="1" hangingPunct="1"/>
            <a:r>
              <a:rPr lang="en-US" sz="1400" dirty="0" smtClean="0"/>
              <a:t>Population with fishing rights</a:t>
            </a:r>
          </a:p>
          <a:p>
            <a:pPr lvl="2" eaLnBrk="1" hangingPunct="1"/>
            <a:r>
              <a:rPr lang="en-US" sz="1400" dirty="0" smtClean="0"/>
              <a:t>Temporary (6 classes,1 day - 2 weeks)</a:t>
            </a:r>
          </a:p>
          <a:p>
            <a:pPr lvl="2" eaLnBrk="1" hangingPunct="1"/>
            <a:r>
              <a:rPr lang="en-US" sz="1400" dirty="0" smtClean="0"/>
              <a:t>Annual (2 classes, annual fishing and combo)</a:t>
            </a:r>
          </a:p>
          <a:p>
            <a:pPr eaLnBrk="1" hangingPunct="1"/>
            <a:r>
              <a:rPr lang="en-US" sz="1400" dirty="0" smtClean="0"/>
              <a:t>Activity days</a:t>
            </a:r>
          </a:p>
          <a:p>
            <a:pPr lvl="1" eaLnBrk="1" hangingPunct="1"/>
            <a:r>
              <a:rPr lang="en-US" sz="1400" dirty="0" smtClean="0"/>
              <a:t>Income unobserved</a:t>
            </a:r>
          </a:p>
          <a:p>
            <a:pPr lvl="1" eaLnBrk="1" hangingPunct="1"/>
            <a:r>
              <a:rPr lang="en-US" sz="1400" dirty="0" smtClean="0"/>
              <a:t>Allows combining temporary and annual privileges, (Total and Nonresident activity days correlation .95, and Total and Resident activity correlation .99)</a:t>
            </a:r>
          </a:p>
          <a:p>
            <a:pPr eaLnBrk="1" hangingPunct="1"/>
            <a:endParaRPr lang="en-US" dirty="0" smtClean="0"/>
          </a:p>
          <a:p>
            <a:pPr lvl="1" eaLnBrk="1" hangingPunct="1"/>
            <a:endParaRPr lang="en-US" dirty="0" smtClean="0"/>
          </a:p>
        </p:txBody>
      </p:sp>
      <p:pic>
        <p:nvPicPr>
          <p:cNvPr id="43011" name="Picture 2"/>
          <p:cNvPicPr>
            <a:picLocks noChangeAspect="1" noChangeArrowheads="1"/>
          </p:cNvPicPr>
          <p:nvPr/>
        </p:nvPicPr>
        <p:blipFill>
          <a:blip r:embed="rId3" cstate="print"/>
          <a:srcRect l="18633" t="13959" r="64333" b="19739"/>
          <a:stretch>
            <a:fillRect/>
          </a:stretch>
        </p:blipFill>
        <p:spPr bwMode="auto">
          <a:xfrm>
            <a:off x="7648575" y="506706"/>
            <a:ext cx="1343025" cy="1779294"/>
          </a:xfrm>
          <a:prstGeom prst="rect">
            <a:avLst/>
          </a:prstGeom>
          <a:noFill/>
          <a:ln w="9525">
            <a:noFill/>
            <a:miter lim="800000"/>
            <a:headEnd/>
            <a:tailEnd/>
          </a:ln>
        </p:spPr>
      </p:pic>
      <p:pic>
        <p:nvPicPr>
          <p:cNvPr id="43012" name="Picture 3"/>
          <p:cNvPicPr>
            <a:picLocks noChangeAspect="1" noChangeArrowheads="1"/>
          </p:cNvPicPr>
          <p:nvPr/>
        </p:nvPicPr>
        <p:blipFill>
          <a:blip r:embed="rId4" cstate="print"/>
          <a:srcRect l="16791" t="14539" r="62688" b="8765"/>
          <a:stretch>
            <a:fillRect/>
          </a:stretch>
        </p:blipFill>
        <p:spPr bwMode="auto">
          <a:xfrm>
            <a:off x="6846888" y="977900"/>
            <a:ext cx="1409700" cy="1793875"/>
          </a:xfrm>
          <a:prstGeom prst="rect">
            <a:avLst/>
          </a:prstGeom>
          <a:noFill/>
          <a:ln w="9525">
            <a:noFill/>
            <a:miter lim="800000"/>
            <a:headEnd/>
            <a:tailEnd/>
          </a:ln>
        </p:spPr>
      </p:pic>
      <p:pic>
        <p:nvPicPr>
          <p:cNvPr id="43013" name="Picture 1"/>
          <p:cNvPicPr>
            <a:picLocks noChangeAspect="1" noChangeArrowheads="1"/>
          </p:cNvPicPr>
          <p:nvPr/>
        </p:nvPicPr>
        <p:blipFill>
          <a:blip r:embed="rId5" cstate="print"/>
          <a:srcRect l="16786" t="13634" r="62857" b="7713"/>
          <a:stretch>
            <a:fillRect/>
          </a:stretch>
        </p:blipFill>
        <p:spPr bwMode="auto">
          <a:xfrm>
            <a:off x="6090146" y="1524000"/>
            <a:ext cx="1274268" cy="1676400"/>
          </a:xfrm>
          <a:prstGeom prst="rect">
            <a:avLst/>
          </a:prstGeom>
          <a:noFill/>
          <a:ln w="9525">
            <a:noFill/>
            <a:miter lim="800000"/>
            <a:headEnd/>
            <a:tailEnd/>
          </a:ln>
        </p:spPr>
      </p:pic>
      <p:graphicFrame>
        <p:nvGraphicFramePr>
          <p:cNvPr id="7" name="Table 6"/>
          <p:cNvGraphicFramePr>
            <a:graphicFrameLocks noGrp="1"/>
          </p:cNvGraphicFramePr>
          <p:nvPr/>
        </p:nvGraphicFramePr>
        <p:xfrm>
          <a:off x="4114800" y="3124200"/>
          <a:ext cx="4876801" cy="1038578"/>
        </p:xfrm>
        <a:graphic>
          <a:graphicData uri="http://schemas.openxmlformats.org/drawingml/2006/table">
            <a:tbl>
              <a:tblPr/>
              <a:tblGrid>
                <a:gridCol w="914400"/>
                <a:gridCol w="1295400"/>
                <a:gridCol w="1371600"/>
                <a:gridCol w="1295401"/>
              </a:tblGrid>
              <a:tr h="304800">
                <a:tc gridSpan="4">
                  <a:txBody>
                    <a:bodyPr/>
                    <a:lstStyle/>
                    <a:p>
                      <a:pPr algn="ctr" fontAlgn="b"/>
                      <a:r>
                        <a:rPr lang="en-US" sz="1400" b="0" i="0" u="none" strike="noStrike" dirty="0">
                          <a:solidFill>
                            <a:srgbClr val="C00000"/>
                          </a:solidFill>
                          <a:latin typeface="Calibri"/>
                        </a:rPr>
                        <a:t>Resident </a:t>
                      </a:r>
                      <a:r>
                        <a:rPr lang="en-US" sz="1400" b="0" i="0" u="none" strike="noStrike" dirty="0" smtClean="0">
                          <a:solidFill>
                            <a:srgbClr val="C00000"/>
                          </a:solidFill>
                          <a:latin typeface="Calibri"/>
                        </a:rPr>
                        <a:t> and Nonresident Activity</a:t>
                      </a:r>
                      <a:endParaRPr lang="en-US" sz="1400" b="0" i="0" u="none" strike="noStrike" dirty="0">
                        <a:solidFill>
                          <a:srgbClr val="C00000"/>
                        </a:solidFill>
                        <a:latin typeface="Calibri"/>
                      </a:endParaRPr>
                    </a:p>
                  </a:txBody>
                  <a:tcPr marL="0" marR="0" marT="0" marB="0" anchor="b">
                    <a:lnL>
                      <a:noFill/>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r>
              <a:tr h="733778">
                <a:tc>
                  <a:txBody>
                    <a:bodyPr/>
                    <a:lstStyle/>
                    <a:p>
                      <a:pPr algn="ctr" fontAlgn="b"/>
                      <a:r>
                        <a:rPr lang="en-US" sz="1200" b="0" i="0" u="none" strike="noStrike" dirty="0">
                          <a:solidFill>
                            <a:srgbClr val="C00000"/>
                          </a:solidFill>
                          <a:latin typeface="Calibri"/>
                        </a:rPr>
                        <a:t>Average Activity Days</a:t>
                      </a:r>
                    </a:p>
                  </a:txBody>
                  <a:tcPr marL="0" marR="0" marT="0" marB="0" anchor="ctr">
                    <a:lnL>
                      <a:noFill/>
                    </a:lnL>
                    <a:lnR>
                      <a:noFill/>
                    </a:lnR>
                    <a:lnT>
                      <a:noFill/>
                    </a:lnT>
                    <a:lnB>
                      <a:noFill/>
                    </a:lnB>
                  </a:tcPr>
                </a:tc>
                <a:tc>
                  <a:txBody>
                    <a:bodyPr/>
                    <a:lstStyle/>
                    <a:p>
                      <a:pPr algn="ctr" fontAlgn="b"/>
                      <a:r>
                        <a:rPr lang="en-US" sz="1200" b="0" i="0" u="none" strike="noStrike" dirty="0">
                          <a:solidFill>
                            <a:srgbClr val="000000"/>
                          </a:solidFill>
                          <a:latin typeface="Calibri"/>
                        </a:rPr>
                        <a:t>Average Annual Expenditure</a:t>
                      </a:r>
                    </a:p>
                  </a:txBody>
                  <a:tcPr marL="0" marR="0" marT="0" marB="0" anchor="ctr">
                    <a:lnL>
                      <a:noFill/>
                    </a:lnL>
                    <a:lnR>
                      <a:noFill/>
                    </a:lnR>
                    <a:lnT>
                      <a:noFill/>
                    </a:lnT>
                    <a:lnB>
                      <a:noFill/>
                    </a:lnB>
                  </a:tcPr>
                </a:tc>
                <a:tc>
                  <a:txBody>
                    <a:bodyPr/>
                    <a:lstStyle/>
                    <a:p>
                      <a:pPr algn="ctr" fontAlgn="b"/>
                      <a:r>
                        <a:rPr lang="en-US" sz="1200" b="0" i="0" u="none" strike="noStrike" dirty="0">
                          <a:solidFill>
                            <a:srgbClr val="000000"/>
                          </a:solidFill>
                          <a:latin typeface="Calibri"/>
                        </a:rPr>
                        <a:t>Average Daily Expenditure</a:t>
                      </a:r>
                    </a:p>
                  </a:txBody>
                  <a:tcPr marL="0" marR="0" marT="0" marB="0" anchor="ctr">
                    <a:lnL>
                      <a:noFill/>
                    </a:lnL>
                    <a:lnR>
                      <a:noFill/>
                    </a:lnR>
                    <a:lnT>
                      <a:noFill/>
                    </a:lnT>
                    <a:lnB>
                      <a:noFill/>
                    </a:lnB>
                  </a:tcPr>
                </a:tc>
                <a:tc>
                  <a:txBody>
                    <a:bodyPr/>
                    <a:lstStyle/>
                    <a:p>
                      <a:pPr algn="ctr" fontAlgn="b"/>
                      <a:r>
                        <a:rPr lang="en-US" sz="1200" b="0" i="0" u="none" strike="noStrike" dirty="0">
                          <a:solidFill>
                            <a:srgbClr val="000000"/>
                          </a:solidFill>
                          <a:latin typeface="Calibri"/>
                        </a:rPr>
                        <a:t>Total variable expenditures</a:t>
                      </a:r>
                    </a:p>
                  </a:txBody>
                  <a:tcPr marL="0" marR="0" marT="0" marB="0" anchor="ctr">
                    <a:lnL>
                      <a:noFill/>
                    </a:lnL>
                    <a:lnR>
                      <a:noFill/>
                    </a:lnR>
                    <a:lnT>
                      <a:noFill/>
                    </a:lnT>
                    <a:lnB>
                      <a:noFill/>
                    </a:lnB>
                  </a:tcPr>
                </a:tc>
              </a:tr>
            </a:tbl>
          </a:graphicData>
        </a:graphic>
      </p:graphicFrame>
      <p:sp>
        <p:nvSpPr>
          <p:cNvPr id="43020" name="TextBox 13"/>
          <p:cNvSpPr txBox="1">
            <a:spLocks noChangeArrowheads="1"/>
          </p:cNvSpPr>
          <p:nvPr/>
        </p:nvSpPr>
        <p:spPr bwMode="auto">
          <a:xfrm>
            <a:off x="304800" y="3276600"/>
            <a:ext cx="1371600" cy="646113"/>
          </a:xfrm>
          <a:prstGeom prst="rect">
            <a:avLst/>
          </a:prstGeom>
          <a:noFill/>
          <a:ln w="9525">
            <a:solidFill>
              <a:schemeClr val="tx1"/>
            </a:solidFill>
            <a:miter lim="800000"/>
            <a:headEnd/>
            <a:tailEnd/>
          </a:ln>
        </p:spPr>
        <p:txBody>
          <a:bodyPr>
            <a:spAutoFit/>
          </a:bodyPr>
          <a:lstStyle/>
          <a:p>
            <a:r>
              <a:rPr lang="en-US" dirty="0">
                <a:solidFill>
                  <a:srgbClr val="C00000"/>
                </a:solidFill>
              </a:rPr>
              <a:t>Revealed Behavior</a:t>
            </a:r>
          </a:p>
        </p:txBody>
      </p:sp>
      <p:sp>
        <p:nvSpPr>
          <p:cNvPr id="43021" name="TextBox 17"/>
          <p:cNvSpPr txBox="1">
            <a:spLocks noChangeArrowheads="1"/>
          </p:cNvSpPr>
          <p:nvPr/>
        </p:nvSpPr>
        <p:spPr bwMode="auto">
          <a:xfrm>
            <a:off x="2590800" y="3316288"/>
            <a:ext cx="1143000" cy="646112"/>
          </a:xfrm>
          <a:prstGeom prst="rect">
            <a:avLst/>
          </a:prstGeom>
          <a:noFill/>
          <a:ln w="9525">
            <a:noFill/>
            <a:miter lim="800000"/>
            <a:headEnd/>
            <a:tailEnd/>
          </a:ln>
        </p:spPr>
        <p:txBody>
          <a:bodyPr>
            <a:spAutoFit/>
          </a:bodyPr>
          <a:lstStyle/>
          <a:p>
            <a:r>
              <a:rPr lang="en-US">
                <a:solidFill>
                  <a:srgbClr val="C00000"/>
                </a:solidFill>
              </a:rPr>
              <a:t>Fishing Privilege</a:t>
            </a:r>
          </a:p>
        </p:txBody>
      </p:sp>
      <p:sp>
        <p:nvSpPr>
          <p:cNvPr id="43022" name="Right Arrow 12"/>
          <p:cNvSpPr>
            <a:spLocks noChangeArrowheads="1"/>
          </p:cNvSpPr>
          <p:nvPr/>
        </p:nvSpPr>
        <p:spPr bwMode="auto">
          <a:xfrm>
            <a:off x="1828800" y="3429000"/>
            <a:ext cx="381000" cy="304800"/>
          </a:xfrm>
          <a:prstGeom prst="rightArrow">
            <a:avLst>
              <a:gd name="adj1" fmla="val 50000"/>
              <a:gd name="adj2" fmla="val 50000"/>
            </a:avLst>
          </a:prstGeom>
          <a:solidFill>
            <a:schemeClr val="accent1"/>
          </a:solidFill>
          <a:ln w="9525" algn="ctr">
            <a:solidFill>
              <a:schemeClr val="tx1"/>
            </a:solidFill>
            <a:round/>
            <a:headEnd/>
            <a:tailEnd/>
          </a:ln>
        </p:spPr>
        <p:txBody>
          <a:bodyPr/>
          <a:lstStyle/>
          <a:p>
            <a:pPr eaLnBrk="0" hangingPunct="0"/>
            <a:endParaRPr lang="en-US"/>
          </a:p>
        </p:txBody>
      </p:sp>
      <p:sp>
        <p:nvSpPr>
          <p:cNvPr id="43023" name="Double Brace 19"/>
          <p:cNvSpPr>
            <a:spLocks noChangeArrowheads="1"/>
          </p:cNvSpPr>
          <p:nvPr/>
        </p:nvSpPr>
        <p:spPr bwMode="auto">
          <a:xfrm>
            <a:off x="2286000" y="3048000"/>
            <a:ext cx="6858000" cy="1219200"/>
          </a:xfrm>
          <a:prstGeom prst="bracePair">
            <a:avLst>
              <a:gd name="adj" fmla="val 8333"/>
            </a:avLst>
          </a:prstGeom>
          <a:noFill/>
          <a:ln w="9525" algn="ctr">
            <a:solidFill>
              <a:srgbClr val="C00000"/>
            </a:solidFill>
            <a:round/>
            <a:headEnd/>
            <a:tailEnd/>
          </a:ln>
        </p:spPr>
        <p:txBody>
          <a:bodyPr/>
          <a:lstStyle/>
          <a:p>
            <a:pPr eaLnBrk="0" hangingPunct="0"/>
            <a:endParaRPr lang="en-US"/>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Title 1"/>
          <p:cNvSpPr>
            <a:spLocks noGrp="1"/>
          </p:cNvSpPr>
          <p:nvPr>
            <p:ph type="title"/>
          </p:nvPr>
        </p:nvSpPr>
        <p:spPr/>
        <p:txBody>
          <a:bodyPr/>
          <a:lstStyle/>
          <a:p>
            <a:pPr eaLnBrk="1" hangingPunct="1"/>
            <a:r>
              <a:rPr lang="en-US" dirty="0" smtClean="0"/>
              <a:t>Approach: Study area and data</a:t>
            </a:r>
          </a:p>
        </p:txBody>
      </p:sp>
      <p:sp>
        <p:nvSpPr>
          <p:cNvPr id="46082" name="Content Placeholder 2"/>
          <p:cNvSpPr>
            <a:spLocks noGrp="1"/>
          </p:cNvSpPr>
          <p:nvPr>
            <p:ph idx="1"/>
          </p:nvPr>
        </p:nvSpPr>
        <p:spPr>
          <a:xfrm>
            <a:off x="6096000" y="1447800"/>
            <a:ext cx="3048000" cy="2895600"/>
          </a:xfrm>
        </p:spPr>
        <p:txBody>
          <a:bodyPr/>
          <a:lstStyle/>
          <a:p>
            <a:pPr eaLnBrk="1" hangingPunct="1"/>
            <a:r>
              <a:rPr lang="en-US" sz="1600" dirty="0" smtClean="0"/>
              <a:t>Arkansas White Red River Basin HUC-8 regions (n=173)</a:t>
            </a:r>
          </a:p>
          <a:p>
            <a:pPr eaLnBrk="1" hangingPunct="1"/>
            <a:r>
              <a:rPr lang="en-US" sz="1600" dirty="0" smtClean="0"/>
              <a:t>8 states, 322 counties, 1353 census tracts, 7783 block groups (lowest level of census population reporting)</a:t>
            </a:r>
          </a:p>
        </p:txBody>
      </p:sp>
      <p:sp>
        <p:nvSpPr>
          <p:cNvPr id="13" name="TextBox 12"/>
          <p:cNvSpPr txBox="1"/>
          <p:nvPr/>
        </p:nvSpPr>
        <p:spPr>
          <a:xfrm>
            <a:off x="1524000" y="914400"/>
            <a:ext cx="3505200" cy="369332"/>
          </a:xfrm>
          <a:prstGeom prst="rect">
            <a:avLst/>
          </a:prstGeom>
          <a:noFill/>
        </p:spPr>
        <p:txBody>
          <a:bodyPr wrap="square" rtlCol="0">
            <a:spAutoFit/>
          </a:bodyPr>
          <a:lstStyle/>
          <a:p>
            <a:r>
              <a:rPr lang="en-US" dirty="0" smtClean="0"/>
              <a:t>Native </a:t>
            </a:r>
            <a:r>
              <a:rPr lang="en-US" dirty="0" err="1" smtClean="0"/>
              <a:t>Gamefish</a:t>
            </a:r>
            <a:r>
              <a:rPr lang="en-US" dirty="0" smtClean="0"/>
              <a:t> Richness</a:t>
            </a:r>
            <a:endParaRPr lang="en-US" dirty="0"/>
          </a:p>
        </p:txBody>
      </p:sp>
      <p:pic>
        <p:nvPicPr>
          <p:cNvPr id="16" name="Picture 15"/>
          <p:cNvPicPr>
            <a:picLocks noChangeAspect="1"/>
          </p:cNvPicPr>
          <p:nvPr/>
        </p:nvPicPr>
        <p:blipFill>
          <a:blip r:embed="rId2" cstate="print"/>
          <a:stretch>
            <a:fillRect/>
          </a:stretch>
        </p:blipFill>
        <p:spPr>
          <a:xfrm>
            <a:off x="179294" y="1295400"/>
            <a:ext cx="5916706" cy="4572000"/>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3" name="AutoShape 3"/>
          <p:cNvSpPr>
            <a:spLocks noChangeArrowheads="1"/>
          </p:cNvSpPr>
          <p:nvPr/>
        </p:nvSpPr>
        <p:spPr bwMode="auto">
          <a:xfrm>
            <a:off x="2422525" y="4233863"/>
            <a:ext cx="2238375" cy="593725"/>
          </a:xfrm>
          <a:prstGeom prst="parallelogram">
            <a:avLst>
              <a:gd name="adj" fmla="val 92715"/>
            </a:avLst>
          </a:prstGeom>
          <a:solidFill>
            <a:srgbClr val="FFCC99"/>
          </a:solidFill>
          <a:ln w="9525">
            <a:solidFill>
              <a:srgbClr val="000000"/>
            </a:solidFill>
            <a:miter lim="800000"/>
            <a:headEnd/>
            <a:tailEnd/>
          </a:ln>
          <a:effectLst>
            <a:outerShdw dist="35921" dir="2700000" algn="ctr" rotWithShape="0">
              <a:srgbClr val="808080"/>
            </a:outerShdw>
          </a:effectLst>
        </p:spPr>
        <p:txBody>
          <a:bodyPr lIns="67922" tIns="33961" rIns="67922" bIns="33961" anchor="ctr" anchorCtr="1"/>
          <a:lstStyle/>
          <a:p>
            <a:pPr algn="ctr" defTabSz="679450"/>
            <a:r>
              <a:rPr lang="en-US" sz="1100" b="1" dirty="0" smtClean="0"/>
              <a:t>Native Game Species by HUC 8</a:t>
            </a:r>
            <a:endParaRPr lang="en-US" sz="1100" b="1" dirty="0"/>
          </a:p>
        </p:txBody>
      </p:sp>
      <p:sp>
        <p:nvSpPr>
          <p:cNvPr id="189444" name="AutoShape 4"/>
          <p:cNvSpPr>
            <a:spLocks noChangeArrowheads="1"/>
          </p:cNvSpPr>
          <p:nvPr/>
        </p:nvSpPr>
        <p:spPr bwMode="auto">
          <a:xfrm>
            <a:off x="136525" y="3930650"/>
            <a:ext cx="2101850" cy="593725"/>
          </a:xfrm>
          <a:prstGeom prst="parallelogram">
            <a:avLst>
              <a:gd name="adj" fmla="val 92715"/>
            </a:avLst>
          </a:prstGeom>
          <a:solidFill>
            <a:srgbClr val="DDDDDD"/>
          </a:solidFill>
          <a:ln w="9525">
            <a:solidFill>
              <a:srgbClr val="000000"/>
            </a:solidFill>
            <a:miter lim="800000"/>
            <a:headEnd/>
            <a:tailEnd/>
          </a:ln>
          <a:effectLst>
            <a:outerShdw dist="35921" dir="2700000" algn="ctr" rotWithShape="0">
              <a:srgbClr val="808080"/>
            </a:outerShdw>
          </a:effectLst>
        </p:spPr>
        <p:txBody>
          <a:bodyPr lIns="67922" tIns="33961" rIns="67922" bIns="33961" anchor="ctr" anchorCtr="1"/>
          <a:lstStyle/>
          <a:p>
            <a:pPr algn="ctr" defTabSz="679450"/>
            <a:r>
              <a:rPr lang="en-US" sz="1100" b="1" dirty="0" smtClean="0"/>
              <a:t>Nature Serve Native Fish Richness</a:t>
            </a:r>
            <a:endParaRPr lang="en-US" sz="1100" dirty="0"/>
          </a:p>
        </p:txBody>
      </p:sp>
      <p:sp>
        <p:nvSpPr>
          <p:cNvPr id="189445" name="AutoShape 5"/>
          <p:cNvSpPr>
            <a:spLocks noChangeArrowheads="1"/>
          </p:cNvSpPr>
          <p:nvPr/>
        </p:nvSpPr>
        <p:spPr bwMode="auto">
          <a:xfrm>
            <a:off x="184150" y="5805488"/>
            <a:ext cx="2101850" cy="593725"/>
          </a:xfrm>
          <a:prstGeom prst="parallelogram">
            <a:avLst>
              <a:gd name="adj" fmla="val 92715"/>
            </a:avLst>
          </a:prstGeom>
          <a:solidFill>
            <a:srgbClr val="DDDDDD"/>
          </a:solidFill>
          <a:ln w="9525">
            <a:solidFill>
              <a:srgbClr val="000000"/>
            </a:solidFill>
            <a:miter lim="800000"/>
            <a:headEnd/>
            <a:tailEnd/>
          </a:ln>
          <a:effectLst>
            <a:outerShdw dist="35921" dir="2700000" algn="ctr" rotWithShape="0">
              <a:srgbClr val="808080"/>
            </a:outerShdw>
          </a:effectLst>
        </p:spPr>
        <p:txBody>
          <a:bodyPr lIns="67922" tIns="33961" rIns="67922" bIns="33961" anchor="ctr" anchorCtr="1"/>
          <a:lstStyle/>
          <a:p>
            <a:pPr algn="ctr" defTabSz="679450"/>
            <a:r>
              <a:rPr lang="en-US" sz="1100" b="1" dirty="0" smtClean="0"/>
              <a:t>Environmental Quality Attributes</a:t>
            </a:r>
            <a:endParaRPr lang="en-US" sz="1100" dirty="0"/>
          </a:p>
        </p:txBody>
      </p:sp>
      <p:sp>
        <p:nvSpPr>
          <p:cNvPr id="189447" name="AutoShape 7"/>
          <p:cNvSpPr>
            <a:spLocks noChangeArrowheads="1"/>
          </p:cNvSpPr>
          <p:nvPr/>
        </p:nvSpPr>
        <p:spPr bwMode="auto">
          <a:xfrm>
            <a:off x="2428875" y="5805488"/>
            <a:ext cx="2101850" cy="593725"/>
          </a:xfrm>
          <a:prstGeom prst="parallelogram">
            <a:avLst>
              <a:gd name="adj" fmla="val 92715"/>
            </a:avLst>
          </a:prstGeom>
          <a:solidFill>
            <a:srgbClr val="CCCCFF"/>
          </a:solidFill>
          <a:ln w="9525">
            <a:solidFill>
              <a:srgbClr val="000000"/>
            </a:solidFill>
            <a:miter lim="800000"/>
            <a:headEnd/>
            <a:tailEnd/>
          </a:ln>
          <a:effectLst>
            <a:outerShdw dist="35921" dir="2700000" algn="ctr" rotWithShape="0">
              <a:srgbClr val="808080"/>
            </a:outerShdw>
          </a:effectLst>
        </p:spPr>
        <p:txBody>
          <a:bodyPr lIns="67922" tIns="33961" rIns="67922" bIns="33961" anchor="ctr" anchorCtr="1"/>
          <a:lstStyle/>
          <a:p>
            <a:pPr algn="ctr" defTabSz="679450"/>
            <a:r>
              <a:rPr lang="en-US" sz="1100" dirty="0" smtClean="0"/>
              <a:t>Sediment</a:t>
            </a:r>
            <a:endParaRPr lang="en-US" sz="1100" dirty="0"/>
          </a:p>
        </p:txBody>
      </p:sp>
      <p:sp>
        <p:nvSpPr>
          <p:cNvPr id="189448" name="AutoShape 8"/>
          <p:cNvSpPr>
            <a:spLocks noChangeArrowheads="1"/>
          </p:cNvSpPr>
          <p:nvPr/>
        </p:nvSpPr>
        <p:spPr bwMode="auto">
          <a:xfrm>
            <a:off x="2428875" y="5348288"/>
            <a:ext cx="2101850" cy="593725"/>
          </a:xfrm>
          <a:prstGeom prst="parallelogram">
            <a:avLst>
              <a:gd name="adj" fmla="val 92715"/>
            </a:avLst>
          </a:prstGeom>
          <a:solidFill>
            <a:srgbClr val="CCCCFF"/>
          </a:solidFill>
          <a:ln w="9525">
            <a:solidFill>
              <a:srgbClr val="000000"/>
            </a:solidFill>
            <a:miter lim="800000"/>
            <a:headEnd/>
            <a:tailEnd/>
          </a:ln>
          <a:effectLst>
            <a:outerShdw dist="35921" dir="2700000" algn="ctr" rotWithShape="0">
              <a:srgbClr val="808080"/>
            </a:outerShdw>
          </a:effectLst>
        </p:spPr>
        <p:txBody>
          <a:bodyPr lIns="67922" tIns="33961" rIns="67922" bIns="33961" anchor="ctr" anchorCtr="1"/>
          <a:lstStyle/>
          <a:p>
            <a:pPr algn="ctr" defTabSz="679450"/>
            <a:r>
              <a:rPr lang="en-US" sz="1100" dirty="0" smtClean="0"/>
              <a:t>Stream lengths/Surface water</a:t>
            </a:r>
            <a:endParaRPr lang="en-US" sz="1100" dirty="0"/>
          </a:p>
        </p:txBody>
      </p:sp>
      <p:sp>
        <p:nvSpPr>
          <p:cNvPr id="189449" name="AutoShape 9"/>
          <p:cNvSpPr>
            <a:spLocks noChangeArrowheads="1"/>
          </p:cNvSpPr>
          <p:nvPr/>
        </p:nvSpPr>
        <p:spPr bwMode="auto">
          <a:xfrm>
            <a:off x="381000" y="762000"/>
            <a:ext cx="2101850" cy="593725"/>
          </a:xfrm>
          <a:prstGeom prst="parallelogram">
            <a:avLst>
              <a:gd name="adj" fmla="val 92715"/>
            </a:avLst>
          </a:prstGeom>
          <a:solidFill>
            <a:srgbClr val="DDDDDD"/>
          </a:solidFill>
          <a:ln w="9525">
            <a:solidFill>
              <a:srgbClr val="000000"/>
            </a:solidFill>
            <a:miter lim="800000"/>
            <a:headEnd/>
            <a:tailEnd/>
          </a:ln>
          <a:effectLst>
            <a:outerShdw dist="35921" dir="2700000" algn="ctr" rotWithShape="0">
              <a:srgbClr val="808080"/>
            </a:outerShdw>
          </a:effectLst>
        </p:spPr>
        <p:txBody>
          <a:bodyPr lIns="67922" tIns="33961" rIns="67922" bIns="33961" anchor="ctr" anchorCtr="1"/>
          <a:lstStyle/>
          <a:p>
            <a:pPr algn="ctr" defTabSz="679450"/>
            <a:r>
              <a:rPr lang="en-US" sz="1100" b="1" dirty="0" smtClean="0"/>
              <a:t>County Level License Sales Information</a:t>
            </a:r>
            <a:endParaRPr lang="en-US" sz="1100" dirty="0"/>
          </a:p>
        </p:txBody>
      </p:sp>
      <p:sp>
        <p:nvSpPr>
          <p:cNvPr id="189450" name="AutoShape 10"/>
          <p:cNvSpPr>
            <a:spLocks noChangeArrowheads="1"/>
          </p:cNvSpPr>
          <p:nvPr/>
        </p:nvSpPr>
        <p:spPr bwMode="auto">
          <a:xfrm>
            <a:off x="2428875" y="4889500"/>
            <a:ext cx="2101850" cy="593725"/>
          </a:xfrm>
          <a:prstGeom prst="parallelogram">
            <a:avLst>
              <a:gd name="adj" fmla="val 92715"/>
            </a:avLst>
          </a:prstGeom>
          <a:solidFill>
            <a:srgbClr val="CCCCFF"/>
          </a:solidFill>
          <a:ln w="9525">
            <a:solidFill>
              <a:srgbClr val="000000"/>
            </a:solidFill>
            <a:miter lim="800000"/>
            <a:headEnd/>
            <a:tailEnd/>
          </a:ln>
          <a:effectLst>
            <a:outerShdw dist="35921" dir="2700000" algn="ctr" rotWithShape="0">
              <a:srgbClr val="808080"/>
            </a:outerShdw>
          </a:effectLst>
        </p:spPr>
        <p:txBody>
          <a:bodyPr lIns="67922" tIns="33961" rIns="67922" bIns="33961" anchor="ctr" anchorCtr="1"/>
          <a:lstStyle/>
          <a:p>
            <a:pPr algn="ctr" defTabSz="679450"/>
            <a:r>
              <a:rPr lang="en-US" sz="1100" dirty="0" smtClean="0"/>
              <a:t>Road Density</a:t>
            </a:r>
            <a:endParaRPr lang="en-US" sz="1100" dirty="0"/>
          </a:p>
        </p:txBody>
      </p:sp>
      <p:sp>
        <p:nvSpPr>
          <p:cNvPr id="189452" name="AutoShape 12"/>
          <p:cNvSpPr>
            <a:spLocks noChangeArrowheads="1"/>
          </p:cNvSpPr>
          <p:nvPr/>
        </p:nvSpPr>
        <p:spPr bwMode="auto">
          <a:xfrm>
            <a:off x="2454276" y="1524000"/>
            <a:ext cx="2390775" cy="609600"/>
          </a:xfrm>
          <a:prstGeom prst="parallelogram">
            <a:avLst>
              <a:gd name="adj" fmla="val 92715"/>
            </a:avLst>
          </a:prstGeom>
          <a:solidFill>
            <a:srgbClr val="CCCCFF"/>
          </a:solidFill>
          <a:ln w="9525">
            <a:solidFill>
              <a:srgbClr val="000000"/>
            </a:solidFill>
            <a:miter lim="800000"/>
            <a:headEnd/>
            <a:tailEnd/>
          </a:ln>
          <a:effectLst>
            <a:outerShdw dist="35921" dir="2700000" algn="ctr" rotWithShape="0">
              <a:srgbClr val="808080"/>
            </a:outerShdw>
          </a:effectLst>
        </p:spPr>
        <p:txBody>
          <a:bodyPr lIns="67922" tIns="33961" rIns="67922" bIns="33961" anchor="ctr" anchorCtr="1"/>
          <a:lstStyle/>
          <a:p>
            <a:pPr algn="ctr" defTabSz="679450"/>
            <a:r>
              <a:rPr lang="en-US" sz="1100" dirty="0" smtClean="0"/>
              <a:t>Block Group Level CENSUS Population Characteristics</a:t>
            </a:r>
            <a:endParaRPr lang="en-US" sz="1100" dirty="0"/>
          </a:p>
        </p:txBody>
      </p:sp>
      <p:sp>
        <p:nvSpPr>
          <p:cNvPr id="189453" name="AutoShape 13"/>
          <p:cNvSpPr>
            <a:spLocks noChangeArrowheads="1"/>
          </p:cNvSpPr>
          <p:nvPr/>
        </p:nvSpPr>
        <p:spPr bwMode="auto">
          <a:xfrm>
            <a:off x="2667000" y="762000"/>
            <a:ext cx="2454276" cy="593725"/>
          </a:xfrm>
          <a:prstGeom prst="parallelogram">
            <a:avLst>
              <a:gd name="adj" fmla="val 92715"/>
            </a:avLst>
          </a:prstGeom>
          <a:solidFill>
            <a:srgbClr val="FFFFCC"/>
          </a:solidFill>
          <a:ln w="9525">
            <a:solidFill>
              <a:srgbClr val="000000"/>
            </a:solidFill>
            <a:miter lim="800000"/>
            <a:headEnd/>
            <a:tailEnd/>
          </a:ln>
          <a:effectLst>
            <a:outerShdw dist="35921" dir="2700000" algn="ctr" rotWithShape="0">
              <a:srgbClr val="808080"/>
            </a:outerShdw>
          </a:effectLst>
        </p:spPr>
        <p:txBody>
          <a:bodyPr lIns="67922" tIns="33961" rIns="67922" bIns="33961" anchor="ctr" anchorCtr="1"/>
          <a:lstStyle/>
          <a:p>
            <a:pPr algn="ctr" defTabSz="679450"/>
            <a:r>
              <a:rPr lang="en-US" sz="1100" dirty="0" smtClean="0"/>
              <a:t>County-Level CENSUS Population Characteristics</a:t>
            </a:r>
            <a:endParaRPr lang="en-US" sz="1100" dirty="0"/>
          </a:p>
        </p:txBody>
      </p:sp>
      <p:sp>
        <p:nvSpPr>
          <p:cNvPr id="189454" name="AutoShape 14"/>
          <p:cNvSpPr>
            <a:spLocks noChangeArrowheads="1"/>
          </p:cNvSpPr>
          <p:nvPr/>
        </p:nvSpPr>
        <p:spPr bwMode="auto">
          <a:xfrm>
            <a:off x="2584450" y="3746500"/>
            <a:ext cx="2101850" cy="593725"/>
          </a:xfrm>
          <a:prstGeom prst="parallelogram">
            <a:avLst>
              <a:gd name="adj" fmla="val 92715"/>
            </a:avLst>
          </a:prstGeom>
          <a:solidFill>
            <a:srgbClr val="FFFFCC"/>
          </a:solidFill>
          <a:ln w="9525">
            <a:solidFill>
              <a:srgbClr val="000000"/>
            </a:solidFill>
            <a:miter lim="800000"/>
            <a:headEnd/>
            <a:tailEnd/>
          </a:ln>
          <a:effectLst>
            <a:outerShdw dist="35921" dir="2700000" algn="ctr" rotWithShape="0">
              <a:srgbClr val="808080"/>
            </a:outerShdw>
          </a:effectLst>
        </p:spPr>
        <p:txBody>
          <a:bodyPr lIns="67922" tIns="33961" rIns="67922" bIns="33961" anchor="ctr" anchorCtr="1"/>
          <a:lstStyle/>
          <a:p>
            <a:pPr algn="ctr" defTabSz="679450"/>
            <a:r>
              <a:rPr lang="en-US" sz="1100" b="1" dirty="0" smtClean="0"/>
              <a:t>Native fish Species by HUC 8 Boundary</a:t>
            </a:r>
            <a:endParaRPr lang="en-US" sz="1100" dirty="0"/>
          </a:p>
        </p:txBody>
      </p:sp>
      <p:sp>
        <p:nvSpPr>
          <p:cNvPr id="189455" name="AutoShape 15"/>
          <p:cNvSpPr>
            <a:spLocks noChangeArrowheads="1"/>
          </p:cNvSpPr>
          <p:nvPr/>
        </p:nvSpPr>
        <p:spPr bwMode="auto">
          <a:xfrm>
            <a:off x="5137150" y="3732213"/>
            <a:ext cx="2101850" cy="593725"/>
          </a:xfrm>
          <a:prstGeom prst="parallelogram">
            <a:avLst>
              <a:gd name="adj" fmla="val 92715"/>
            </a:avLst>
          </a:prstGeom>
          <a:solidFill>
            <a:srgbClr val="CCFFFF"/>
          </a:solidFill>
          <a:ln w="9525">
            <a:solidFill>
              <a:srgbClr val="000000"/>
            </a:solidFill>
            <a:miter lim="800000"/>
            <a:headEnd/>
            <a:tailEnd/>
          </a:ln>
          <a:effectLst>
            <a:outerShdw dist="35921" dir="2700000" algn="ctr" rotWithShape="0">
              <a:srgbClr val="808080"/>
            </a:outerShdw>
          </a:effectLst>
        </p:spPr>
        <p:txBody>
          <a:bodyPr lIns="67922" tIns="33961" rIns="67922" bIns="33961" anchor="ctr" anchorCtr="1"/>
          <a:lstStyle/>
          <a:p>
            <a:pPr algn="ctr" defTabSz="679450"/>
            <a:r>
              <a:rPr lang="en-US" sz="1100" dirty="0" smtClean="0"/>
              <a:t>Biophysical Final Goods by HUC</a:t>
            </a:r>
            <a:endParaRPr lang="en-US" sz="1100" dirty="0"/>
          </a:p>
        </p:txBody>
      </p:sp>
      <p:sp>
        <p:nvSpPr>
          <p:cNvPr id="189456" name="AutoShape 16"/>
          <p:cNvSpPr>
            <a:spLocks noChangeArrowheads="1"/>
          </p:cNvSpPr>
          <p:nvPr/>
        </p:nvSpPr>
        <p:spPr bwMode="auto">
          <a:xfrm>
            <a:off x="5197476" y="1219200"/>
            <a:ext cx="2101850" cy="593725"/>
          </a:xfrm>
          <a:prstGeom prst="parallelogram">
            <a:avLst>
              <a:gd name="adj" fmla="val 92715"/>
            </a:avLst>
          </a:prstGeom>
          <a:solidFill>
            <a:srgbClr val="CCFFFF"/>
          </a:solidFill>
          <a:ln w="9525">
            <a:solidFill>
              <a:srgbClr val="000000"/>
            </a:solidFill>
            <a:miter lim="800000"/>
            <a:headEnd/>
            <a:tailEnd/>
          </a:ln>
          <a:effectLst>
            <a:outerShdw dist="35921" dir="2700000" algn="ctr" rotWithShape="0">
              <a:srgbClr val="808080"/>
            </a:outerShdw>
          </a:effectLst>
        </p:spPr>
        <p:txBody>
          <a:bodyPr lIns="67922" tIns="33961" rIns="67922" bIns="33961" anchor="ctr" anchorCtr="1"/>
          <a:lstStyle/>
          <a:p>
            <a:pPr algn="ctr" defTabSz="679450"/>
            <a:r>
              <a:rPr lang="en-US" sz="1100" dirty="0" smtClean="0"/>
              <a:t>Block Group Level License Sales</a:t>
            </a:r>
            <a:endParaRPr lang="en-US" sz="1100" dirty="0"/>
          </a:p>
        </p:txBody>
      </p:sp>
      <p:sp>
        <p:nvSpPr>
          <p:cNvPr id="189458" name="AutoShape 18"/>
          <p:cNvSpPr>
            <a:spLocks noChangeArrowheads="1"/>
          </p:cNvSpPr>
          <p:nvPr/>
        </p:nvSpPr>
        <p:spPr bwMode="auto">
          <a:xfrm>
            <a:off x="5060950" y="4892675"/>
            <a:ext cx="2101850" cy="593725"/>
          </a:xfrm>
          <a:prstGeom prst="parallelogram">
            <a:avLst>
              <a:gd name="adj" fmla="val 92715"/>
            </a:avLst>
          </a:prstGeom>
          <a:solidFill>
            <a:srgbClr val="CCFFFF"/>
          </a:solidFill>
          <a:ln w="9525">
            <a:solidFill>
              <a:srgbClr val="000000"/>
            </a:solidFill>
            <a:miter lim="800000"/>
            <a:headEnd/>
            <a:tailEnd/>
          </a:ln>
          <a:effectLst>
            <a:outerShdw dist="35921" dir="2700000" algn="ctr" rotWithShape="0">
              <a:srgbClr val="808080"/>
            </a:outerShdw>
          </a:effectLst>
        </p:spPr>
        <p:txBody>
          <a:bodyPr lIns="67922" tIns="33961" rIns="67922" bIns="33961" anchor="ctr" anchorCtr="1"/>
          <a:lstStyle/>
          <a:p>
            <a:pPr algn="ctr" defTabSz="679450"/>
            <a:r>
              <a:rPr lang="en-US" sz="1100" dirty="0" smtClean="0"/>
              <a:t>Ecological Goods</a:t>
            </a:r>
            <a:endParaRPr lang="en-US" sz="1100" dirty="0"/>
          </a:p>
        </p:txBody>
      </p:sp>
      <p:sp>
        <p:nvSpPr>
          <p:cNvPr id="189459" name="AutoShape 19"/>
          <p:cNvSpPr>
            <a:spLocks noChangeArrowheads="1"/>
          </p:cNvSpPr>
          <p:nvPr/>
        </p:nvSpPr>
        <p:spPr bwMode="auto">
          <a:xfrm>
            <a:off x="4922838" y="1444625"/>
            <a:ext cx="365125" cy="138113"/>
          </a:xfrm>
          <a:prstGeom prst="rightArrow">
            <a:avLst>
              <a:gd name="adj1" fmla="val 50000"/>
              <a:gd name="adj2" fmla="val 66092"/>
            </a:avLst>
          </a:prstGeom>
          <a:solidFill>
            <a:srgbClr val="C0C0C0"/>
          </a:solidFill>
          <a:ln w="9525">
            <a:solidFill>
              <a:schemeClr val="bg2"/>
            </a:solidFill>
            <a:miter lim="800000"/>
            <a:headEnd/>
            <a:tailEnd/>
          </a:ln>
          <a:effectLst/>
        </p:spPr>
        <p:txBody>
          <a:bodyPr wrap="none" anchor="ctr"/>
          <a:lstStyle/>
          <a:p>
            <a:endParaRPr lang="en-US"/>
          </a:p>
        </p:txBody>
      </p:sp>
      <p:sp>
        <p:nvSpPr>
          <p:cNvPr id="189460" name="AutoShape 20"/>
          <p:cNvSpPr>
            <a:spLocks noChangeArrowheads="1"/>
          </p:cNvSpPr>
          <p:nvPr/>
        </p:nvSpPr>
        <p:spPr bwMode="auto">
          <a:xfrm>
            <a:off x="4740275" y="3957638"/>
            <a:ext cx="365125" cy="138112"/>
          </a:xfrm>
          <a:prstGeom prst="rightArrow">
            <a:avLst>
              <a:gd name="adj1" fmla="val 50000"/>
              <a:gd name="adj2" fmla="val 66092"/>
            </a:avLst>
          </a:prstGeom>
          <a:solidFill>
            <a:srgbClr val="C0C0C0"/>
          </a:solidFill>
          <a:ln w="9525">
            <a:solidFill>
              <a:schemeClr val="bg2"/>
            </a:solidFill>
            <a:miter lim="800000"/>
            <a:headEnd/>
            <a:tailEnd/>
          </a:ln>
          <a:effectLst/>
        </p:spPr>
        <p:txBody>
          <a:bodyPr wrap="none" anchor="ctr"/>
          <a:lstStyle/>
          <a:p>
            <a:endParaRPr lang="en-US"/>
          </a:p>
        </p:txBody>
      </p:sp>
      <p:sp>
        <p:nvSpPr>
          <p:cNvPr id="189461" name="AutoShape 21"/>
          <p:cNvSpPr>
            <a:spLocks noChangeArrowheads="1"/>
          </p:cNvSpPr>
          <p:nvPr/>
        </p:nvSpPr>
        <p:spPr bwMode="auto">
          <a:xfrm>
            <a:off x="2103438" y="6078538"/>
            <a:ext cx="365125" cy="138112"/>
          </a:xfrm>
          <a:prstGeom prst="rightArrow">
            <a:avLst>
              <a:gd name="adj1" fmla="val 50000"/>
              <a:gd name="adj2" fmla="val 66092"/>
            </a:avLst>
          </a:prstGeom>
          <a:solidFill>
            <a:srgbClr val="C0C0C0"/>
          </a:solidFill>
          <a:ln w="9525">
            <a:solidFill>
              <a:schemeClr val="bg2"/>
            </a:solidFill>
            <a:miter lim="800000"/>
            <a:headEnd/>
            <a:tailEnd/>
          </a:ln>
          <a:effectLst/>
        </p:spPr>
        <p:txBody>
          <a:bodyPr wrap="none" anchor="ctr"/>
          <a:lstStyle/>
          <a:p>
            <a:endParaRPr lang="en-US"/>
          </a:p>
        </p:txBody>
      </p:sp>
      <p:sp>
        <p:nvSpPr>
          <p:cNvPr id="189462" name="AutoShape 22"/>
          <p:cNvSpPr>
            <a:spLocks noChangeArrowheads="1"/>
          </p:cNvSpPr>
          <p:nvPr/>
        </p:nvSpPr>
        <p:spPr bwMode="auto">
          <a:xfrm>
            <a:off x="2193925" y="4249738"/>
            <a:ext cx="365125" cy="138112"/>
          </a:xfrm>
          <a:prstGeom prst="rightArrow">
            <a:avLst>
              <a:gd name="adj1" fmla="val 50000"/>
              <a:gd name="adj2" fmla="val 66092"/>
            </a:avLst>
          </a:prstGeom>
          <a:solidFill>
            <a:srgbClr val="C0C0C0"/>
          </a:solidFill>
          <a:ln w="9525">
            <a:solidFill>
              <a:schemeClr val="bg2"/>
            </a:solidFill>
            <a:miter lim="800000"/>
            <a:headEnd/>
            <a:tailEnd/>
          </a:ln>
          <a:effectLst/>
        </p:spPr>
        <p:txBody>
          <a:bodyPr wrap="none" anchor="ctr"/>
          <a:lstStyle/>
          <a:p>
            <a:endParaRPr lang="en-US"/>
          </a:p>
        </p:txBody>
      </p:sp>
      <p:sp>
        <p:nvSpPr>
          <p:cNvPr id="189463" name="AutoShape 23"/>
          <p:cNvSpPr>
            <a:spLocks noChangeArrowheads="1"/>
          </p:cNvSpPr>
          <p:nvPr/>
        </p:nvSpPr>
        <p:spPr bwMode="auto">
          <a:xfrm>
            <a:off x="2417763" y="1036637"/>
            <a:ext cx="365125" cy="138113"/>
          </a:xfrm>
          <a:prstGeom prst="rightArrow">
            <a:avLst>
              <a:gd name="adj1" fmla="val 50000"/>
              <a:gd name="adj2" fmla="val 66092"/>
            </a:avLst>
          </a:prstGeom>
          <a:solidFill>
            <a:srgbClr val="C0C0C0"/>
          </a:solidFill>
          <a:ln w="9525">
            <a:solidFill>
              <a:schemeClr val="bg2"/>
            </a:solidFill>
            <a:miter lim="800000"/>
            <a:headEnd/>
            <a:tailEnd/>
          </a:ln>
          <a:effectLst/>
        </p:spPr>
        <p:txBody>
          <a:bodyPr wrap="none" anchor="ctr"/>
          <a:lstStyle/>
          <a:p>
            <a:endParaRPr lang="en-US"/>
          </a:p>
        </p:txBody>
      </p:sp>
      <p:sp>
        <p:nvSpPr>
          <p:cNvPr id="189464" name="AutoShape 24"/>
          <p:cNvSpPr>
            <a:spLocks noChangeArrowheads="1"/>
          </p:cNvSpPr>
          <p:nvPr/>
        </p:nvSpPr>
        <p:spPr bwMode="auto">
          <a:xfrm>
            <a:off x="4740275" y="5043488"/>
            <a:ext cx="365125" cy="138112"/>
          </a:xfrm>
          <a:prstGeom prst="rightArrow">
            <a:avLst>
              <a:gd name="adj1" fmla="val 50000"/>
              <a:gd name="adj2" fmla="val 66092"/>
            </a:avLst>
          </a:prstGeom>
          <a:solidFill>
            <a:srgbClr val="C0C0C0"/>
          </a:solidFill>
          <a:ln w="9525">
            <a:solidFill>
              <a:schemeClr val="bg2"/>
            </a:solidFill>
            <a:miter lim="800000"/>
            <a:headEnd/>
            <a:tailEnd/>
          </a:ln>
          <a:effectLst/>
        </p:spPr>
        <p:txBody>
          <a:bodyPr wrap="none" anchor="ctr"/>
          <a:lstStyle/>
          <a:p>
            <a:endParaRPr lang="en-US"/>
          </a:p>
        </p:txBody>
      </p:sp>
      <p:sp>
        <p:nvSpPr>
          <p:cNvPr id="189466" name="Text Box 26"/>
          <p:cNvSpPr txBox="1">
            <a:spLocks noChangeArrowheads="1"/>
          </p:cNvSpPr>
          <p:nvPr/>
        </p:nvSpPr>
        <p:spPr bwMode="auto">
          <a:xfrm>
            <a:off x="5943600" y="1828800"/>
            <a:ext cx="361950" cy="457200"/>
          </a:xfrm>
          <a:prstGeom prst="rect">
            <a:avLst/>
          </a:prstGeom>
          <a:noFill/>
          <a:ln w="9525">
            <a:noFill/>
            <a:miter lim="800000"/>
            <a:headEnd/>
            <a:tailEnd/>
          </a:ln>
          <a:effectLst/>
        </p:spPr>
        <p:txBody>
          <a:bodyPr wrap="none">
            <a:spAutoFit/>
          </a:bodyPr>
          <a:lstStyle/>
          <a:p>
            <a:r>
              <a:rPr lang="en-US" sz="2400" b="1">
                <a:solidFill>
                  <a:srgbClr val="B2B2B2"/>
                </a:solidFill>
              </a:rPr>
              <a:t>+</a:t>
            </a:r>
          </a:p>
        </p:txBody>
      </p:sp>
      <p:sp>
        <p:nvSpPr>
          <p:cNvPr id="37" name="Title 36"/>
          <p:cNvSpPr>
            <a:spLocks noGrp="1"/>
          </p:cNvSpPr>
          <p:nvPr>
            <p:ph type="title"/>
          </p:nvPr>
        </p:nvSpPr>
        <p:spPr/>
        <p:txBody>
          <a:bodyPr/>
          <a:lstStyle/>
          <a:p>
            <a:r>
              <a:rPr lang="en-US" dirty="0" smtClean="0"/>
              <a:t>Approach: Data </a:t>
            </a:r>
            <a:r>
              <a:rPr lang="en-US" dirty="0" err="1" smtClean="0"/>
              <a:t>Arrangment</a:t>
            </a:r>
            <a:endParaRPr lang="en-US" dirty="0"/>
          </a:p>
        </p:txBody>
      </p:sp>
      <p:sp>
        <p:nvSpPr>
          <p:cNvPr id="35" name="AutoShape 9"/>
          <p:cNvSpPr>
            <a:spLocks noChangeArrowheads="1"/>
          </p:cNvSpPr>
          <p:nvPr/>
        </p:nvSpPr>
        <p:spPr bwMode="auto">
          <a:xfrm>
            <a:off x="212726" y="2362200"/>
            <a:ext cx="2101850" cy="593725"/>
          </a:xfrm>
          <a:prstGeom prst="parallelogram">
            <a:avLst>
              <a:gd name="adj" fmla="val 92715"/>
            </a:avLst>
          </a:prstGeom>
          <a:solidFill>
            <a:srgbClr val="DDDDDD"/>
          </a:solidFill>
          <a:ln w="9525">
            <a:solidFill>
              <a:srgbClr val="000000"/>
            </a:solidFill>
            <a:miter lim="800000"/>
            <a:headEnd/>
            <a:tailEnd/>
          </a:ln>
          <a:effectLst>
            <a:outerShdw dist="35921" dir="2700000" algn="ctr" rotWithShape="0">
              <a:srgbClr val="808080"/>
            </a:outerShdw>
          </a:effectLst>
        </p:spPr>
        <p:txBody>
          <a:bodyPr lIns="67922" tIns="33961" rIns="67922" bIns="33961" anchor="ctr" anchorCtr="1"/>
          <a:lstStyle/>
          <a:p>
            <a:pPr algn="ctr" defTabSz="679450"/>
            <a:r>
              <a:rPr lang="en-US" sz="1100" b="1" dirty="0" smtClean="0"/>
              <a:t>Fishing Activity</a:t>
            </a:r>
            <a:endParaRPr lang="en-US" sz="1100" dirty="0"/>
          </a:p>
        </p:txBody>
      </p:sp>
      <p:sp>
        <p:nvSpPr>
          <p:cNvPr id="36" name="AutoShape 13"/>
          <p:cNvSpPr>
            <a:spLocks noChangeArrowheads="1"/>
          </p:cNvSpPr>
          <p:nvPr/>
        </p:nvSpPr>
        <p:spPr bwMode="auto">
          <a:xfrm>
            <a:off x="2406650" y="2362200"/>
            <a:ext cx="2454276" cy="593725"/>
          </a:xfrm>
          <a:prstGeom prst="parallelogram">
            <a:avLst>
              <a:gd name="adj" fmla="val 92715"/>
            </a:avLst>
          </a:prstGeom>
          <a:solidFill>
            <a:srgbClr val="FFFFCC"/>
          </a:solidFill>
          <a:ln w="9525">
            <a:solidFill>
              <a:srgbClr val="000000"/>
            </a:solidFill>
            <a:miter lim="800000"/>
            <a:headEnd/>
            <a:tailEnd/>
          </a:ln>
          <a:effectLst>
            <a:outerShdw dist="35921" dir="2700000" algn="ctr" rotWithShape="0">
              <a:srgbClr val="808080"/>
            </a:outerShdw>
          </a:effectLst>
        </p:spPr>
        <p:txBody>
          <a:bodyPr lIns="67922" tIns="33961" rIns="67922" bIns="33961" anchor="ctr" anchorCtr="1"/>
          <a:lstStyle/>
          <a:p>
            <a:pPr algn="ctr" defTabSz="679450"/>
            <a:r>
              <a:rPr lang="en-US" sz="1100" dirty="0" smtClean="0"/>
              <a:t>State Level Activity Information (USFWS)</a:t>
            </a:r>
            <a:endParaRPr lang="en-US" sz="1100" dirty="0"/>
          </a:p>
        </p:txBody>
      </p:sp>
      <p:sp>
        <p:nvSpPr>
          <p:cNvPr id="38" name="AutoShape 16"/>
          <p:cNvSpPr>
            <a:spLocks noChangeArrowheads="1"/>
          </p:cNvSpPr>
          <p:nvPr/>
        </p:nvSpPr>
        <p:spPr bwMode="auto">
          <a:xfrm>
            <a:off x="5257800" y="2362200"/>
            <a:ext cx="2101850" cy="593725"/>
          </a:xfrm>
          <a:prstGeom prst="parallelogram">
            <a:avLst>
              <a:gd name="adj" fmla="val 92715"/>
            </a:avLst>
          </a:prstGeom>
          <a:solidFill>
            <a:srgbClr val="CCFFFF"/>
          </a:solidFill>
          <a:ln w="9525">
            <a:solidFill>
              <a:srgbClr val="000000"/>
            </a:solidFill>
            <a:miter lim="800000"/>
            <a:headEnd/>
            <a:tailEnd/>
          </a:ln>
          <a:effectLst>
            <a:outerShdw dist="35921" dir="2700000" algn="ctr" rotWithShape="0">
              <a:srgbClr val="808080"/>
            </a:outerShdw>
          </a:effectLst>
        </p:spPr>
        <p:txBody>
          <a:bodyPr lIns="67922" tIns="33961" rIns="67922" bIns="33961" anchor="ctr" anchorCtr="1"/>
          <a:lstStyle/>
          <a:p>
            <a:pPr algn="ctr" defTabSz="679450"/>
            <a:r>
              <a:rPr lang="en-US" sz="1100" dirty="0" smtClean="0"/>
              <a:t>State Level Activity Days and Expenditures</a:t>
            </a:r>
            <a:endParaRPr lang="en-US" sz="1100" dirty="0"/>
          </a:p>
        </p:txBody>
      </p:sp>
      <p:sp>
        <p:nvSpPr>
          <p:cNvPr id="39" name="AutoShape 19"/>
          <p:cNvSpPr>
            <a:spLocks noChangeArrowheads="1"/>
          </p:cNvSpPr>
          <p:nvPr/>
        </p:nvSpPr>
        <p:spPr bwMode="auto">
          <a:xfrm>
            <a:off x="4876800" y="2605087"/>
            <a:ext cx="365125" cy="138113"/>
          </a:xfrm>
          <a:prstGeom prst="rightArrow">
            <a:avLst>
              <a:gd name="adj1" fmla="val 50000"/>
              <a:gd name="adj2" fmla="val 66092"/>
            </a:avLst>
          </a:prstGeom>
          <a:solidFill>
            <a:srgbClr val="C0C0C0"/>
          </a:solidFill>
          <a:ln w="9525">
            <a:solidFill>
              <a:schemeClr val="bg2"/>
            </a:solidFill>
            <a:miter lim="800000"/>
            <a:headEnd/>
            <a:tailEnd/>
          </a:ln>
          <a:effectLst/>
        </p:spPr>
        <p:txBody>
          <a:bodyPr wrap="none" anchor="ctr"/>
          <a:lstStyle/>
          <a:p>
            <a:endParaRPr lang="en-US"/>
          </a:p>
        </p:txBody>
      </p:sp>
      <p:sp>
        <p:nvSpPr>
          <p:cNvPr id="40" name="AutoShape 23"/>
          <p:cNvSpPr>
            <a:spLocks noChangeArrowheads="1"/>
          </p:cNvSpPr>
          <p:nvPr/>
        </p:nvSpPr>
        <p:spPr bwMode="auto">
          <a:xfrm>
            <a:off x="2157413" y="2636837"/>
            <a:ext cx="365125" cy="138113"/>
          </a:xfrm>
          <a:prstGeom prst="rightArrow">
            <a:avLst>
              <a:gd name="adj1" fmla="val 50000"/>
              <a:gd name="adj2" fmla="val 66092"/>
            </a:avLst>
          </a:prstGeom>
          <a:solidFill>
            <a:srgbClr val="C0C0C0"/>
          </a:solidFill>
          <a:ln w="9525">
            <a:solidFill>
              <a:schemeClr val="bg2"/>
            </a:solidFill>
            <a:miter lim="800000"/>
            <a:headEnd/>
            <a:tailEnd/>
          </a:ln>
          <a:effectLst/>
        </p:spPr>
        <p:txBody>
          <a:bodyPr wrap="none" anchor="ctr"/>
          <a:lstStyle/>
          <a:p>
            <a:endParaRPr lang="en-US"/>
          </a:p>
        </p:txBody>
      </p:sp>
      <p:sp>
        <p:nvSpPr>
          <p:cNvPr id="28" name="AutoShape 19"/>
          <p:cNvSpPr>
            <a:spLocks noChangeArrowheads="1"/>
          </p:cNvSpPr>
          <p:nvPr/>
        </p:nvSpPr>
        <p:spPr bwMode="auto">
          <a:xfrm>
            <a:off x="7162800" y="1905000"/>
            <a:ext cx="365125" cy="138113"/>
          </a:xfrm>
          <a:prstGeom prst="rightArrow">
            <a:avLst>
              <a:gd name="adj1" fmla="val 50000"/>
              <a:gd name="adj2" fmla="val 66092"/>
            </a:avLst>
          </a:prstGeom>
          <a:solidFill>
            <a:srgbClr val="C0C0C0"/>
          </a:solidFill>
          <a:ln w="9525">
            <a:solidFill>
              <a:schemeClr val="bg2"/>
            </a:solidFill>
            <a:miter lim="800000"/>
            <a:headEnd/>
            <a:tailEnd/>
          </a:ln>
          <a:effectLst/>
        </p:spPr>
        <p:txBody>
          <a:bodyPr wrap="none" anchor="ctr"/>
          <a:lstStyle/>
          <a:p>
            <a:endParaRPr lang="en-US"/>
          </a:p>
        </p:txBody>
      </p:sp>
      <p:sp>
        <p:nvSpPr>
          <p:cNvPr id="30" name="TextBox 29"/>
          <p:cNvSpPr txBox="1"/>
          <p:nvPr/>
        </p:nvSpPr>
        <p:spPr>
          <a:xfrm>
            <a:off x="7772400" y="1676400"/>
            <a:ext cx="1524000" cy="646331"/>
          </a:xfrm>
          <a:prstGeom prst="rect">
            <a:avLst/>
          </a:prstGeom>
          <a:noFill/>
        </p:spPr>
        <p:txBody>
          <a:bodyPr wrap="square" rtlCol="0">
            <a:spAutoFit/>
          </a:bodyPr>
          <a:lstStyle/>
          <a:p>
            <a:r>
              <a:rPr lang="en-US" dirty="0" smtClean="0"/>
              <a:t>Dependent Variable</a:t>
            </a:r>
            <a:endParaRPr lang="en-US" dirty="0"/>
          </a:p>
        </p:txBody>
      </p:sp>
      <p:sp>
        <p:nvSpPr>
          <p:cNvPr id="31" name="AutoShape 19"/>
          <p:cNvSpPr>
            <a:spLocks noChangeArrowheads="1"/>
          </p:cNvSpPr>
          <p:nvPr/>
        </p:nvSpPr>
        <p:spPr bwMode="auto">
          <a:xfrm>
            <a:off x="7162800" y="4419600"/>
            <a:ext cx="365125" cy="138113"/>
          </a:xfrm>
          <a:prstGeom prst="rightArrow">
            <a:avLst>
              <a:gd name="adj1" fmla="val 50000"/>
              <a:gd name="adj2" fmla="val 66092"/>
            </a:avLst>
          </a:prstGeom>
          <a:solidFill>
            <a:srgbClr val="C0C0C0"/>
          </a:solidFill>
          <a:ln w="9525">
            <a:solidFill>
              <a:schemeClr val="bg2"/>
            </a:solidFill>
            <a:miter lim="800000"/>
            <a:headEnd/>
            <a:tailEnd/>
          </a:ln>
          <a:effectLst/>
        </p:spPr>
        <p:txBody>
          <a:bodyPr wrap="none" anchor="ctr"/>
          <a:lstStyle/>
          <a:p>
            <a:endParaRPr lang="en-US"/>
          </a:p>
        </p:txBody>
      </p:sp>
      <p:sp>
        <p:nvSpPr>
          <p:cNvPr id="32" name="TextBox 31"/>
          <p:cNvSpPr txBox="1"/>
          <p:nvPr/>
        </p:nvSpPr>
        <p:spPr>
          <a:xfrm>
            <a:off x="7772400" y="4154269"/>
            <a:ext cx="1524000" cy="646331"/>
          </a:xfrm>
          <a:prstGeom prst="rect">
            <a:avLst/>
          </a:prstGeom>
          <a:noFill/>
        </p:spPr>
        <p:txBody>
          <a:bodyPr wrap="square" rtlCol="0">
            <a:spAutoFit/>
          </a:bodyPr>
          <a:lstStyle/>
          <a:p>
            <a:r>
              <a:rPr lang="en-US" dirty="0" smtClean="0"/>
              <a:t>Explanatory Variables</a:t>
            </a:r>
            <a:endParaRPr 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Approach: Block Groups and Watershed Boundaries</a:t>
            </a:r>
            <a:endParaRPr lang="en-US" dirty="0"/>
          </a:p>
        </p:txBody>
      </p:sp>
      <p:pic>
        <p:nvPicPr>
          <p:cNvPr id="5" name="Picture 4"/>
          <p:cNvPicPr>
            <a:picLocks noChangeAspect="1"/>
          </p:cNvPicPr>
          <p:nvPr/>
        </p:nvPicPr>
        <p:blipFill>
          <a:blip r:embed="rId2" cstate="print"/>
          <a:stretch>
            <a:fillRect/>
          </a:stretch>
        </p:blipFill>
        <p:spPr>
          <a:xfrm>
            <a:off x="1295400" y="1143000"/>
            <a:ext cx="6508377" cy="5029200"/>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stretch>
            <a:fillRect/>
          </a:stretch>
        </p:blipFill>
        <p:spPr>
          <a:xfrm>
            <a:off x="609600" y="838199"/>
            <a:ext cx="7391400" cy="5711535"/>
          </a:xfrm>
          <a:prstGeom prst="rect">
            <a:avLst/>
          </a:prstGeom>
        </p:spPr>
      </p:pic>
      <p:sp>
        <p:nvSpPr>
          <p:cNvPr id="2" name="Title 1"/>
          <p:cNvSpPr>
            <a:spLocks noGrp="1"/>
          </p:cNvSpPr>
          <p:nvPr>
            <p:ph type="title"/>
          </p:nvPr>
        </p:nvSpPr>
        <p:spPr/>
        <p:txBody>
          <a:bodyPr/>
          <a:lstStyle/>
          <a:p>
            <a:r>
              <a:rPr lang="en-US" dirty="0" smtClean="0"/>
              <a:t>Data: Total fishing privilege</a:t>
            </a:r>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Results: Total observed activity days</a:t>
            </a:r>
            <a:endParaRPr lang="en-US" dirty="0"/>
          </a:p>
        </p:txBody>
      </p:sp>
      <p:pic>
        <p:nvPicPr>
          <p:cNvPr id="4" name="Content Placeholder 3" descr="total activity days.jpg"/>
          <p:cNvPicPr>
            <a:picLocks noGrp="1" noChangeAspect="1"/>
          </p:cNvPicPr>
          <p:nvPr>
            <p:ph idx="1"/>
          </p:nvPr>
        </p:nvPicPr>
        <p:blipFill>
          <a:blip r:embed="rId2" cstate="print"/>
          <a:srcRect l="-20130" r="-20130"/>
          <a:stretch>
            <a:fillRect/>
          </a:stretch>
        </p:blipFill>
        <p:spPr>
          <a:xfrm>
            <a:off x="-948390" y="706938"/>
            <a:ext cx="10473390" cy="5770062"/>
          </a:xfr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Title 1"/>
          <p:cNvSpPr>
            <a:spLocks noGrp="1"/>
          </p:cNvSpPr>
          <p:nvPr>
            <p:ph type="title"/>
          </p:nvPr>
        </p:nvSpPr>
        <p:spPr>
          <a:xfrm>
            <a:off x="0" y="152400"/>
            <a:ext cx="8775700" cy="504825"/>
          </a:xfrm>
        </p:spPr>
        <p:txBody>
          <a:bodyPr/>
          <a:lstStyle/>
          <a:p>
            <a:pPr eaLnBrk="1" hangingPunct="1"/>
            <a:r>
              <a:rPr lang="en-US" smtClean="0"/>
              <a:t>Model: Full Linear Regression</a:t>
            </a:r>
          </a:p>
        </p:txBody>
      </p:sp>
      <p:sp>
        <p:nvSpPr>
          <p:cNvPr id="47106" name="Content Placeholder 2"/>
          <p:cNvSpPr>
            <a:spLocks noGrp="1"/>
          </p:cNvSpPr>
          <p:nvPr>
            <p:ph idx="1"/>
          </p:nvPr>
        </p:nvSpPr>
        <p:spPr>
          <a:xfrm>
            <a:off x="0" y="838200"/>
            <a:ext cx="8229600" cy="4533900"/>
          </a:xfrm>
        </p:spPr>
        <p:txBody>
          <a:bodyPr/>
          <a:lstStyle/>
          <a:p>
            <a:pPr eaLnBrk="1" hangingPunct="1">
              <a:buFont typeface="Symbol" pitchFamily="18" charset="2"/>
              <a:buNone/>
            </a:pPr>
            <a:r>
              <a:rPr lang="en-US" dirty="0" smtClean="0"/>
              <a:t>Total Use = f (Pop, N, G, S, A, Pw, </a:t>
            </a:r>
            <a:r>
              <a:rPr lang="en-US" dirty="0" err="1" smtClean="0"/>
              <a:t>Elev_Drain</a:t>
            </a:r>
            <a:r>
              <a:rPr lang="en-US" dirty="0" smtClean="0"/>
              <a:t>, TMDL, Stream2max, Stream3plus)</a:t>
            </a:r>
          </a:p>
          <a:p>
            <a:pPr eaLnBrk="1" hangingPunct="1"/>
            <a:r>
              <a:rPr lang="en-US" sz="1600" dirty="0" smtClean="0"/>
              <a:t>Where </a:t>
            </a:r>
          </a:p>
          <a:p>
            <a:pPr lvl="1" eaLnBrk="1" hangingPunct="1"/>
            <a:r>
              <a:rPr lang="en-US" sz="1600" dirty="0" smtClean="0"/>
              <a:t>Total Use= resident and nonresident privilege and activity days</a:t>
            </a:r>
          </a:p>
          <a:p>
            <a:pPr lvl="1" eaLnBrk="1" hangingPunct="1"/>
            <a:r>
              <a:rPr lang="en-US" sz="1600" dirty="0" smtClean="0"/>
              <a:t>Pop= total population by HUC</a:t>
            </a:r>
          </a:p>
          <a:p>
            <a:pPr lvl="1" eaLnBrk="1" hangingPunct="1"/>
            <a:r>
              <a:rPr lang="en-US" sz="1600" dirty="0" smtClean="0"/>
              <a:t>N = total native fish species</a:t>
            </a:r>
          </a:p>
          <a:p>
            <a:pPr lvl="1" eaLnBrk="1" hangingPunct="1"/>
            <a:r>
              <a:rPr lang="en-US" sz="1600" dirty="0" smtClean="0"/>
              <a:t>G = total native game fish species</a:t>
            </a:r>
          </a:p>
          <a:p>
            <a:pPr lvl="1" eaLnBrk="1" hangingPunct="1"/>
            <a:r>
              <a:rPr lang="en-US" sz="1600" dirty="0" smtClean="0"/>
              <a:t>S = sediment concentration (mg/kg)</a:t>
            </a:r>
          </a:p>
          <a:p>
            <a:pPr lvl="1" eaLnBrk="1" hangingPunct="1"/>
            <a:r>
              <a:rPr lang="en-US" sz="1600" dirty="0" smtClean="0"/>
              <a:t>A = road density</a:t>
            </a:r>
          </a:p>
          <a:p>
            <a:pPr lvl="1" eaLnBrk="1" hangingPunct="1"/>
            <a:r>
              <a:rPr lang="en-US" sz="1600" dirty="0" smtClean="0"/>
              <a:t>Pw = percent of surface water by HUC</a:t>
            </a:r>
          </a:p>
          <a:p>
            <a:pPr lvl="1" eaLnBrk="1" hangingPunct="1"/>
            <a:r>
              <a:rPr lang="en-US" sz="1600" dirty="0" err="1" smtClean="0"/>
              <a:t>Elev_Drain</a:t>
            </a:r>
            <a:r>
              <a:rPr lang="en-US" sz="1600" dirty="0" smtClean="0"/>
              <a:t> = elevation drainage</a:t>
            </a:r>
          </a:p>
          <a:p>
            <a:pPr lvl="1" eaLnBrk="1" hangingPunct="1"/>
            <a:r>
              <a:rPr lang="en-US" sz="1600" dirty="0" smtClean="0"/>
              <a:t>TMDL= Total Maximum Daily Limit </a:t>
            </a:r>
          </a:p>
          <a:p>
            <a:pPr lvl="1" eaLnBrk="1" hangingPunct="1"/>
            <a:r>
              <a:rPr lang="en-US" sz="1600" dirty="0" smtClean="0"/>
              <a:t>Stream2max = first and second order stream lengths</a:t>
            </a:r>
          </a:p>
          <a:p>
            <a:pPr lvl="1" eaLnBrk="1" hangingPunct="1"/>
            <a:r>
              <a:rPr lang="en-US" sz="1600" dirty="0" smtClean="0"/>
              <a:t>Stream3plus = length of streams at third and higher order</a:t>
            </a:r>
          </a:p>
          <a:p>
            <a:pPr eaLnBrk="1" hangingPunct="1"/>
            <a:r>
              <a:rPr lang="en-US" sz="2000" dirty="0" smtClean="0"/>
              <a:t>Estimated using a log-link Poisson distribution regression</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304801" y="1385766"/>
          <a:ext cx="8229601" cy="4100635"/>
        </p:xfrm>
        <a:graphic>
          <a:graphicData uri="http://schemas.openxmlformats.org/drawingml/2006/table">
            <a:tbl>
              <a:tblPr/>
              <a:tblGrid>
                <a:gridCol w="1594705"/>
                <a:gridCol w="1105816"/>
                <a:gridCol w="1105816"/>
                <a:gridCol w="1105816"/>
                <a:gridCol w="1105816"/>
                <a:gridCol w="1105816"/>
                <a:gridCol w="1105816"/>
              </a:tblGrid>
              <a:tr h="736945">
                <a:tc>
                  <a:txBody>
                    <a:bodyPr/>
                    <a:lstStyle/>
                    <a:p>
                      <a:pPr algn="ctr" fontAlgn="t"/>
                      <a:r>
                        <a:rPr lang="en-US" sz="1800" b="0" i="0" dirty="0">
                          <a:solidFill>
                            <a:schemeClr val="tx1"/>
                          </a:solidFill>
                          <a:latin typeface="Arial"/>
                        </a:rPr>
                        <a:t>Parameter</a:t>
                      </a:r>
                    </a:p>
                  </a:txBody>
                  <a:tcPr marL="44146" marR="44146" marT="44146" marB="4414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fontAlgn="t"/>
                      <a:r>
                        <a:rPr lang="en-US" sz="1800" b="0" i="0" dirty="0">
                          <a:solidFill>
                            <a:schemeClr val="tx1"/>
                          </a:solidFill>
                          <a:latin typeface="Arial"/>
                        </a:rPr>
                        <a:t>Estimate</a:t>
                      </a:r>
                    </a:p>
                  </a:txBody>
                  <a:tcPr marL="44146" marR="44146" marT="44146" marB="4414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fontAlgn="t"/>
                      <a:r>
                        <a:rPr lang="en-US" sz="1800" b="0" i="0" dirty="0">
                          <a:solidFill>
                            <a:schemeClr val="tx1"/>
                          </a:solidFill>
                          <a:latin typeface="Arial"/>
                        </a:rPr>
                        <a:t>Standard Error</a:t>
                      </a:r>
                    </a:p>
                  </a:txBody>
                  <a:tcPr marL="44146" marR="44146" marT="44146" marB="4414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gridSpan="2">
                  <a:txBody>
                    <a:bodyPr/>
                    <a:lstStyle/>
                    <a:p>
                      <a:pPr algn="ctr" fontAlgn="t"/>
                      <a:r>
                        <a:rPr lang="en-US" sz="1800" b="0" i="0">
                          <a:solidFill>
                            <a:schemeClr val="tx1"/>
                          </a:solidFill>
                          <a:latin typeface="Arial"/>
                        </a:rPr>
                        <a:t>95% Confidence Limits</a:t>
                      </a:r>
                    </a:p>
                  </a:txBody>
                  <a:tcPr marL="44146" marR="44146" marT="44146" marB="4414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hMerge="1">
                  <a:txBody>
                    <a:bodyPr/>
                    <a:lstStyle/>
                    <a:p>
                      <a:endParaRPr lang="en-US"/>
                    </a:p>
                  </a:txBody>
                  <a:tcPr/>
                </a:tc>
                <a:tc>
                  <a:txBody>
                    <a:bodyPr/>
                    <a:lstStyle/>
                    <a:p>
                      <a:pPr algn="ctr" fontAlgn="t"/>
                      <a:r>
                        <a:rPr lang="en-US" sz="1800" b="0" i="0">
                          <a:solidFill>
                            <a:schemeClr val="tx1"/>
                          </a:solidFill>
                          <a:latin typeface="Arial"/>
                        </a:rPr>
                        <a:t>Z</a:t>
                      </a:r>
                    </a:p>
                  </a:txBody>
                  <a:tcPr marL="44146" marR="44146" marT="44146" marB="4414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fontAlgn="t"/>
                      <a:r>
                        <a:rPr lang="en-US" sz="1800" b="0" i="0">
                          <a:solidFill>
                            <a:schemeClr val="tx1"/>
                          </a:solidFill>
                          <a:latin typeface="Arial"/>
                        </a:rPr>
                        <a:t>Pr &gt; |Z|</a:t>
                      </a:r>
                    </a:p>
                  </a:txBody>
                  <a:tcPr marL="44146" marR="44146" marT="44146" marB="4414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r>
              <a:tr h="525349">
                <a:tc>
                  <a:txBody>
                    <a:bodyPr/>
                    <a:lstStyle/>
                    <a:p>
                      <a:pPr algn="ctr" fontAlgn="t"/>
                      <a:r>
                        <a:rPr lang="en-US" sz="1800" b="0" i="0">
                          <a:solidFill>
                            <a:schemeClr val="tx1"/>
                          </a:solidFill>
                          <a:latin typeface="Arial"/>
                        </a:rPr>
                        <a:t>Intercept</a:t>
                      </a:r>
                    </a:p>
                  </a:txBody>
                  <a:tcPr marL="44146" marR="44146" marT="44146" marB="4414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fontAlgn="t"/>
                      <a:r>
                        <a:rPr lang="en-US" sz="1800" b="0" i="0" dirty="0">
                          <a:solidFill>
                            <a:schemeClr val="tx1"/>
                          </a:solidFill>
                          <a:latin typeface="Arial"/>
                        </a:rPr>
                        <a:t>9.5127</a:t>
                      </a:r>
                    </a:p>
                  </a:txBody>
                  <a:tcPr marL="44146" marR="44146" marT="44146" marB="4414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fontAlgn="t"/>
                      <a:r>
                        <a:rPr lang="en-US" sz="1800" b="0" i="0" dirty="0">
                          <a:solidFill>
                            <a:schemeClr val="tx1"/>
                          </a:solidFill>
                          <a:latin typeface="Arial"/>
                        </a:rPr>
                        <a:t>0.2497</a:t>
                      </a:r>
                    </a:p>
                  </a:txBody>
                  <a:tcPr marL="44146" marR="44146" marT="44146" marB="4414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fontAlgn="t"/>
                      <a:r>
                        <a:rPr lang="en-US" sz="1800" b="0" i="0">
                          <a:solidFill>
                            <a:schemeClr val="tx1"/>
                          </a:solidFill>
                          <a:latin typeface="Arial"/>
                        </a:rPr>
                        <a:t>9.0233</a:t>
                      </a:r>
                    </a:p>
                  </a:txBody>
                  <a:tcPr marL="44146" marR="44146" marT="44146" marB="4414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fontAlgn="t"/>
                      <a:r>
                        <a:rPr lang="en-US" sz="1800" b="0" i="0">
                          <a:solidFill>
                            <a:schemeClr val="tx1"/>
                          </a:solidFill>
                          <a:latin typeface="Arial"/>
                        </a:rPr>
                        <a:t>10.0020</a:t>
                      </a:r>
                    </a:p>
                  </a:txBody>
                  <a:tcPr marL="44146" marR="44146" marT="44146" marB="4414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fontAlgn="t"/>
                      <a:r>
                        <a:rPr lang="en-US" sz="1800" b="0" i="0">
                          <a:solidFill>
                            <a:schemeClr val="tx1"/>
                          </a:solidFill>
                          <a:latin typeface="Arial"/>
                        </a:rPr>
                        <a:t>38.10</a:t>
                      </a:r>
                    </a:p>
                  </a:txBody>
                  <a:tcPr marL="44146" marR="44146" marT="44146" marB="4414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fontAlgn="t"/>
                      <a:r>
                        <a:rPr lang="en-US" sz="1800" b="0" i="0">
                          <a:solidFill>
                            <a:schemeClr val="tx1"/>
                          </a:solidFill>
                          <a:latin typeface="Arial"/>
                        </a:rPr>
                        <a:t>&lt;.0001</a:t>
                      </a:r>
                    </a:p>
                  </a:txBody>
                  <a:tcPr marL="44146" marR="44146" marT="44146" marB="4414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r>
              <a:tr h="525349">
                <a:tc>
                  <a:txBody>
                    <a:bodyPr/>
                    <a:lstStyle/>
                    <a:p>
                      <a:pPr algn="ctr" fontAlgn="t"/>
                      <a:r>
                        <a:rPr lang="en-US" sz="1800" b="0" i="0">
                          <a:solidFill>
                            <a:schemeClr val="tx1"/>
                          </a:solidFill>
                          <a:latin typeface="Arial"/>
                        </a:rPr>
                        <a:t>POP_T</a:t>
                      </a:r>
                    </a:p>
                  </a:txBody>
                  <a:tcPr marL="44146" marR="44146" marT="44146" marB="4414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fontAlgn="t"/>
                      <a:r>
                        <a:rPr lang="en-US" sz="1800" b="0" i="0">
                          <a:solidFill>
                            <a:schemeClr val="tx1"/>
                          </a:solidFill>
                          <a:latin typeface="Arial"/>
                        </a:rPr>
                        <a:t>0.0017</a:t>
                      </a:r>
                    </a:p>
                  </a:txBody>
                  <a:tcPr marL="44146" marR="44146" marT="44146" marB="4414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fontAlgn="t"/>
                      <a:r>
                        <a:rPr lang="en-US" sz="1800" b="0" i="0" dirty="0">
                          <a:solidFill>
                            <a:schemeClr val="tx1"/>
                          </a:solidFill>
                          <a:latin typeface="Arial"/>
                        </a:rPr>
                        <a:t>0.0010</a:t>
                      </a:r>
                    </a:p>
                  </a:txBody>
                  <a:tcPr marL="44146" marR="44146" marT="44146" marB="4414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fontAlgn="t"/>
                      <a:r>
                        <a:rPr lang="en-US" sz="1800" b="0" i="0" dirty="0">
                          <a:solidFill>
                            <a:schemeClr val="tx1"/>
                          </a:solidFill>
                          <a:latin typeface="Arial"/>
                        </a:rPr>
                        <a:t>-0.0003</a:t>
                      </a:r>
                    </a:p>
                  </a:txBody>
                  <a:tcPr marL="44146" marR="44146" marT="44146" marB="4414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fontAlgn="t"/>
                      <a:r>
                        <a:rPr lang="en-US" sz="1800" b="0" i="0">
                          <a:solidFill>
                            <a:schemeClr val="tx1"/>
                          </a:solidFill>
                          <a:latin typeface="Arial"/>
                        </a:rPr>
                        <a:t>0.0036</a:t>
                      </a:r>
                    </a:p>
                  </a:txBody>
                  <a:tcPr marL="44146" marR="44146" marT="44146" marB="4414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fontAlgn="t"/>
                      <a:r>
                        <a:rPr lang="en-US" sz="1800" b="0" i="0">
                          <a:solidFill>
                            <a:schemeClr val="tx1"/>
                          </a:solidFill>
                          <a:latin typeface="Arial"/>
                        </a:rPr>
                        <a:t>1.67</a:t>
                      </a:r>
                    </a:p>
                  </a:txBody>
                  <a:tcPr marL="44146" marR="44146" marT="44146" marB="4414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fontAlgn="t"/>
                      <a:r>
                        <a:rPr lang="en-US" sz="1800" b="0" i="0">
                          <a:solidFill>
                            <a:schemeClr val="tx1"/>
                          </a:solidFill>
                          <a:latin typeface="Arial"/>
                        </a:rPr>
                        <a:t>0.0943</a:t>
                      </a:r>
                    </a:p>
                  </a:txBody>
                  <a:tcPr marL="44146" marR="44146" marT="44146" marB="4414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r>
              <a:tr h="736945">
                <a:tc>
                  <a:txBody>
                    <a:bodyPr/>
                    <a:lstStyle/>
                    <a:p>
                      <a:pPr algn="ctr" fontAlgn="t"/>
                      <a:r>
                        <a:rPr lang="en-US" sz="1800" b="0" i="0">
                          <a:solidFill>
                            <a:schemeClr val="tx1"/>
                          </a:solidFill>
                          <a:latin typeface="Arial"/>
                        </a:rPr>
                        <a:t>N_GameFish</a:t>
                      </a:r>
                    </a:p>
                  </a:txBody>
                  <a:tcPr marL="44146" marR="44146" marT="44146" marB="4414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fontAlgn="t"/>
                      <a:r>
                        <a:rPr lang="en-US" sz="1800" b="0" i="0">
                          <a:solidFill>
                            <a:schemeClr val="tx1"/>
                          </a:solidFill>
                          <a:latin typeface="Arial"/>
                        </a:rPr>
                        <a:t>0.0417</a:t>
                      </a:r>
                    </a:p>
                  </a:txBody>
                  <a:tcPr marL="44146" marR="44146" marT="44146" marB="4414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fontAlgn="t"/>
                      <a:r>
                        <a:rPr lang="en-US" sz="1800" b="0" i="0">
                          <a:solidFill>
                            <a:schemeClr val="tx1"/>
                          </a:solidFill>
                          <a:latin typeface="Arial"/>
                        </a:rPr>
                        <a:t>0.0074</a:t>
                      </a:r>
                    </a:p>
                  </a:txBody>
                  <a:tcPr marL="44146" marR="44146" marT="44146" marB="4414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fontAlgn="t"/>
                      <a:r>
                        <a:rPr lang="en-US" sz="1800" b="0" i="0" dirty="0">
                          <a:solidFill>
                            <a:schemeClr val="tx1"/>
                          </a:solidFill>
                          <a:latin typeface="Arial"/>
                        </a:rPr>
                        <a:t>0.0271</a:t>
                      </a:r>
                    </a:p>
                  </a:txBody>
                  <a:tcPr marL="44146" marR="44146" marT="44146" marB="4414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fontAlgn="t"/>
                      <a:r>
                        <a:rPr lang="en-US" sz="1800" b="0" i="0">
                          <a:solidFill>
                            <a:schemeClr val="tx1"/>
                          </a:solidFill>
                          <a:latin typeface="Arial"/>
                        </a:rPr>
                        <a:t>0.0563</a:t>
                      </a:r>
                    </a:p>
                  </a:txBody>
                  <a:tcPr marL="44146" marR="44146" marT="44146" marB="4414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fontAlgn="t"/>
                      <a:r>
                        <a:rPr lang="en-US" sz="1800" b="0" i="0">
                          <a:solidFill>
                            <a:schemeClr val="tx1"/>
                          </a:solidFill>
                          <a:latin typeface="Arial"/>
                        </a:rPr>
                        <a:t>5.59</a:t>
                      </a:r>
                    </a:p>
                  </a:txBody>
                  <a:tcPr marL="44146" marR="44146" marT="44146" marB="4414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fontAlgn="t"/>
                      <a:r>
                        <a:rPr lang="en-US" sz="1800" b="0" i="0">
                          <a:solidFill>
                            <a:schemeClr val="tx1"/>
                          </a:solidFill>
                          <a:latin typeface="Arial"/>
                        </a:rPr>
                        <a:t>&lt;.0001</a:t>
                      </a:r>
                    </a:p>
                  </a:txBody>
                  <a:tcPr marL="44146" marR="44146" marT="44146" marB="4414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r>
              <a:tr h="525349">
                <a:tc>
                  <a:txBody>
                    <a:bodyPr/>
                    <a:lstStyle/>
                    <a:p>
                      <a:pPr algn="ctr" fontAlgn="t"/>
                      <a:r>
                        <a:rPr lang="en-US" sz="1800" b="0" i="0">
                          <a:solidFill>
                            <a:schemeClr val="tx1"/>
                          </a:solidFill>
                          <a:latin typeface="Arial"/>
                        </a:rPr>
                        <a:t>SEDmgkg</a:t>
                      </a:r>
                    </a:p>
                  </a:txBody>
                  <a:tcPr marL="44146" marR="44146" marT="44146" marB="4414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fontAlgn="t"/>
                      <a:r>
                        <a:rPr lang="en-US" sz="1800" b="0" i="0">
                          <a:solidFill>
                            <a:schemeClr val="tx1"/>
                          </a:solidFill>
                          <a:latin typeface="Arial"/>
                        </a:rPr>
                        <a:t>-0.0003</a:t>
                      </a:r>
                    </a:p>
                  </a:txBody>
                  <a:tcPr marL="44146" marR="44146" marT="44146" marB="4414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fontAlgn="t"/>
                      <a:r>
                        <a:rPr lang="en-US" sz="1800" b="0" i="0">
                          <a:solidFill>
                            <a:schemeClr val="tx1"/>
                          </a:solidFill>
                          <a:latin typeface="Arial"/>
                        </a:rPr>
                        <a:t>0.0001</a:t>
                      </a:r>
                    </a:p>
                  </a:txBody>
                  <a:tcPr marL="44146" marR="44146" marT="44146" marB="4414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fontAlgn="t"/>
                      <a:r>
                        <a:rPr lang="en-US" sz="1800" b="0" i="0">
                          <a:solidFill>
                            <a:schemeClr val="tx1"/>
                          </a:solidFill>
                          <a:latin typeface="Arial"/>
                        </a:rPr>
                        <a:t>-0.0005</a:t>
                      </a:r>
                    </a:p>
                  </a:txBody>
                  <a:tcPr marL="44146" marR="44146" marT="44146" marB="4414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fontAlgn="t"/>
                      <a:r>
                        <a:rPr lang="en-US" sz="1800" b="0" i="0">
                          <a:solidFill>
                            <a:schemeClr val="tx1"/>
                          </a:solidFill>
                          <a:latin typeface="Arial"/>
                        </a:rPr>
                        <a:t>-0.0001</a:t>
                      </a:r>
                    </a:p>
                  </a:txBody>
                  <a:tcPr marL="44146" marR="44146" marT="44146" marB="4414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fontAlgn="t"/>
                      <a:r>
                        <a:rPr lang="en-US" sz="1800" b="0" i="0" dirty="0">
                          <a:solidFill>
                            <a:schemeClr val="tx1"/>
                          </a:solidFill>
                          <a:latin typeface="Arial"/>
                        </a:rPr>
                        <a:t>-3.00</a:t>
                      </a:r>
                    </a:p>
                  </a:txBody>
                  <a:tcPr marL="44146" marR="44146" marT="44146" marB="4414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fontAlgn="t"/>
                      <a:r>
                        <a:rPr lang="en-US" sz="1800" b="0" i="0">
                          <a:solidFill>
                            <a:schemeClr val="tx1"/>
                          </a:solidFill>
                          <a:latin typeface="Arial"/>
                        </a:rPr>
                        <a:t>0.0027</a:t>
                      </a:r>
                    </a:p>
                  </a:txBody>
                  <a:tcPr marL="44146" marR="44146" marT="44146" marB="4414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r>
              <a:tr h="525349">
                <a:tc>
                  <a:txBody>
                    <a:bodyPr/>
                    <a:lstStyle/>
                    <a:p>
                      <a:pPr algn="ctr" fontAlgn="t"/>
                      <a:r>
                        <a:rPr lang="en-US" sz="1800" b="0" i="0">
                          <a:solidFill>
                            <a:schemeClr val="tx1"/>
                          </a:solidFill>
                          <a:latin typeface="Arial"/>
                        </a:rPr>
                        <a:t>Roads_km</a:t>
                      </a:r>
                    </a:p>
                  </a:txBody>
                  <a:tcPr marL="44146" marR="44146" marT="44146" marB="4414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fontAlgn="t"/>
                      <a:r>
                        <a:rPr lang="en-US" sz="1800" b="0" i="0">
                          <a:solidFill>
                            <a:schemeClr val="tx1"/>
                          </a:solidFill>
                          <a:latin typeface="Arial"/>
                        </a:rPr>
                        <a:t>0.0002</a:t>
                      </a:r>
                    </a:p>
                  </a:txBody>
                  <a:tcPr marL="44146" marR="44146" marT="44146" marB="4414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fontAlgn="t"/>
                      <a:r>
                        <a:rPr lang="en-US" sz="1800" b="0" i="0">
                          <a:solidFill>
                            <a:schemeClr val="tx1"/>
                          </a:solidFill>
                          <a:latin typeface="Arial"/>
                        </a:rPr>
                        <a:t>0.0000</a:t>
                      </a:r>
                    </a:p>
                  </a:txBody>
                  <a:tcPr marL="44146" marR="44146" marT="44146" marB="4414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fontAlgn="t"/>
                      <a:r>
                        <a:rPr lang="en-US" sz="1800" b="0" i="0">
                          <a:solidFill>
                            <a:schemeClr val="tx1"/>
                          </a:solidFill>
                          <a:latin typeface="Arial"/>
                        </a:rPr>
                        <a:t>0.0001</a:t>
                      </a:r>
                    </a:p>
                  </a:txBody>
                  <a:tcPr marL="44146" marR="44146" marT="44146" marB="4414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fontAlgn="t"/>
                      <a:r>
                        <a:rPr lang="en-US" sz="1800" b="0" i="0">
                          <a:solidFill>
                            <a:schemeClr val="tx1"/>
                          </a:solidFill>
                          <a:latin typeface="Arial"/>
                        </a:rPr>
                        <a:t>0.0002</a:t>
                      </a:r>
                    </a:p>
                  </a:txBody>
                  <a:tcPr marL="44146" marR="44146" marT="44146" marB="4414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fontAlgn="t"/>
                      <a:r>
                        <a:rPr lang="en-US" sz="1800" b="0" i="0" dirty="0">
                          <a:solidFill>
                            <a:schemeClr val="tx1"/>
                          </a:solidFill>
                          <a:latin typeface="Arial"/>
                        </a:rPr>
                        <a:t>5.06</a:t>
                      </a:r>
                    </a:p>
                  </a:txBody>
                  <a:tcPr marL="44146" marR="44146" marT="44146" marB="4414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fontAlgn="t"/>
                      <a:r>
                        <a:rPr lang="en-US" sz="1800" b="0" i="0" dirty="0">
                          <a:solidFill>
                            <a:schemeClr val="tx1"/>
                          </a:solidFill>
                          <a:latin typeface="Arial"/>
                        </a:rPr>
                        <a:t>&lt;.0001</a:t>
                      </a:r>
                    </a:p>
                  </a:txBody>
                  <a:tcPr marL="44146" marR="44146" marT="44146" marB="4414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r>
              <a:tr h="525349">
                <a:tc>
                  <a:txBody>
                    <a:bodyPr/>
                    <a:lstStyle/>
                    <a:p>
                      <a:pPr algn="ctr" fontAlgn="t"/>
                      <a:r>
                        <a:rPr lang="en-US" sz="1800" b="0" i="0">
                          <a:solidFill>
                            <a:schemeClr val="tx1"/>
                          </a:solidFill>
                          <a:latin typeface="Arial"/>
                        </a:rPr>
                        <a:t>p8_Water</a:t>
                      </a:r>
                    </a:p>
                  </a:txBody>
                  <a:tcPr marL="44146" marR="44146" marT="44146" marB="4414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fontAlgn="t"/>
                      <a:r>
                        <a:rPr lang="en-US" sz="1800" b="0" i="0">
                          <a:solidFill>
                            <a:schemeClr val="tx1"/>
                          </a:solidFill>
                          <a:latin typeface="Arial"/>
                        </a:rPr>
                        <a:t>0.0794</a:t>
                      </a:r>
                    </a:p>
                  </a:txBody>
                  <a:tcPr marL="44146" marR="44146" marT="44146" marB="4414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fontAlgn="t"/>
                      <a:r>
                        <a:rPr lang="en-US" sz="1800" b="0" i="0">
                          <a:solidFill>
                            <a:schemeClr val="tx1"/>
                          </a:solidFill>
                          <a:latin typeface="Arial"/>
                        </a:rPr>
                        <a:t>0.0188</a:t>
                      </a:r>
                    </a:p>
                  </a:txBody>
                  <a:tcPr marL="44146" marR="44146" marT="44146" marB="4414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fontAlgn="t"/>
                      <a:r>
                        <a:rPr lang="en-US" sz="1800" b="0" i="0">
                          <a:solidFill>
                            <a:schemeClr val="tx1"/>
                          </a:solidFill>
                          <a:latin typeface="Arial"/>
                        </a:rPr>
                        <a:t>0.0426</a:t>
                      </a:r>
                    </a:p>
                  </a:txBody>
                  <a:tcPr marL="44146" marR="44146" marT="44146" marB="4414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fontAlgn="t"/>
                      <a:r>
                        <a:rPr lang="en-US" sz="1800" b="0" i="0">
                          <a:solidFill>
                            <a:schemeClr val="tx1"/>
                          </a:solidFill>
                          <a:latin typeface="Arial"/>
                        </a:rPr>
                        <a:t>0.1163</a:t>
                      </a:r>
                    </a:p>
                  </a:txBody>
                  <a:tcPr marL="44146" marR="44146" marT="44146" marB="4414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fontAlgn="t"/>
                      <a:r>
                        <a:rPr lang="en-US" sz="1800" b="0" i="0">
                          <a:solidFill>
                            <a:schemeClr val="tx1"/>
                          </a:solidFill>
                          <a:latin typeface="Arial"/>
                        </a:rPr>
                        <a:t>4.23</a:t>
                      </a:r>
                    </a:p>
                  </a:txBody>
                  <a:tcPr marL="44146" marR="44146" marT="44146" marB="4414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fontAlgn="t"/>
                      <a:r>
                        <a:rPr lang="en-US" sz="1800" b="0" i="0" dirty="0">
                          <a:solidFill>
                            <a:schemeClr val="tx1"/>
                          </a:solidFill>
                          <a:latin typeface="Arial"/>
                        </a:rPr>
                        <a:t>&lt;.0001</a:t>
                      </a:r>
                    </a:p>
                  </a:txBody>
                  <a:tcPr marL="44146" marR="44146" marT="44146" marB="4414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r>
            </a:tbl>
          </a:graphicData>
        </a:graphic>
      </p:graphicFrame>
      <p:sp>
        <p:nvSpPr>
          <p:cNvPr id="3" name="Title 1"/>
          <p:cNvSpPr txBox="1">
            <a:spLocks/>
          </p:cNvSpPr>
          <p:nvPr/>
        </p:nvSpPr>
        <p:spPr>
          <a:xfrm>
            <a:off x="120650" y="153988"/>
            <a:ext cx="8775700" cy="504825"/>
          </a:xfrm>
          <a:prstGeom prst="rect">
            <a:avLst/>
          </a:prstGeom>
        </p:spPr>
        <p:txBody>
          <a:bodyPr/>
          <a:lstStyle/>
          <a:p>
            <a:pPr marL="0" marR="0" lvl="0" indent="0" algn="l" defTabSz="914400" rtl="0" eaLnBrk="0" fontAlgn="base" latinLnBrk="0" hangingPunct="0">
              <a:lnSpc>
                <a:spcPct val="85000"/>
              </a:lnSpc>
              <a:spcBef>
                <a:spcPct val="0"/>
              </a:spcBef>
              <a:spcAft>
                <a:spcPct val="0"/>
              </a:spcAft>
              <a:buClrTx/>
              <a:buSzTx/>
              <a:buFontTx/>
              <a:buNone/>
              <a:tabLst/>
              <a:defRPr/>
            </a:pPr>
            <a:r>
              <a:rPr kumimoji="0" lang="en-US" sz="3000" b="1" i="0" u="none" strike="noStrike" kern="0" cap="none" spc="0" normalizeH="0" baseline="0" noProof="0" dirty="0" smtClean="0">
                <a:ln>
                  <a:noFill/>
                </a:ln>
                <a:solidFill>
                  <a:srgbClr val="00673E"/>
                </a:solidFill>
                <a:effectLst/>
                <a:uLnTx/>
                <a:uFillTx/>
                <a:latin typeface="+mj-lt"/>
                <a:ea typeface="+mj-ea"/>
                <a:cs typeface="+mj-cs"/>
              </a:rPr>
              <a:t>Results: Reduced Model Results</a:t>
            </a:r>
            <a:endParaRPr kumimoji="0" lang="en-US" sz="3000" b="1" i="0" u="none" strike="noStrike" kern="0" cap="none" spc="0" normalizeH="0" baseline="0" noProof="0" dirty="0">
              <a:ln>
                <a:noFill/>
              </a:ln>
              <a:solidFill>
                <a:srgbClr val="00673E"/>
              </a:solidFill>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itle 1"/>
          <p:cNvSpPr>
            <a:spLocks noGrp="1"/>
          </p:cNvSpPr>
          <p:nvPr>
            <p:ph type="title" idx="4294967295"/>
          </p:nvPr>
        </p:nvSpPr>
        <p:spPr/>
        <p:txBody>
          <a:bodyPr/>
          <a:lstStyle/>
          <a:p>
            <a:pPr eaLnBrk="1" hangingPunct="1"/>
            <a:r>
              <a:rPr lang="en-US" smtClean="0"/>
              <a:t>Current Model Limitations</a:t>
            </a:r>
          </a:p>
        </p:txBody>
      </p:sp>
      <p:sp>
        <p:nvSpPr>
          <p:cNvPr id="66563" name="Content Placeholder 2"/>
          <p:cNvSpPr>
            <a:spLocks noGrp="1"/>
          </p:cNvSpPr>
          <p:nvPr>
            <p:ph idx="4294967295"/>
          </p:nvPr>
        </p:nvSpPr>
        <p:spPr/>
        <p:txBody>
          <a:bodyPr/>
          <a:lstStyle/>
          <a:p>
            <a:pPr eaLnBrk="1" hangingPunct="1"/>
            <a:r>
              <a:rPr lang="en-US" dirty="0" smtClean="0"/>
              <a:t>Specification of stocked warm and cold water fishes (Loomis, 1998)</a:t>
            </a:r>
          </a:p>
          <a:p>
            <a:pPr eaLnBrk="1" hangingPunct="1"/>
            <a:r>
              <a:rPr lang="en-US" dirty="0" smtClean="0"/>
              <a:t>Spatial resolution of fishery information</a:t>
            </a:r>
          </a:p>
          <a:p>
            <a:pPr eaLnBrk="1" hangingPunct="1"/>
            <a:r>
              <a:rPr lang="en-US" dirty="0" smtClean="0"/>
              <a:t>Spatial context of population</a:t>
            </a:r>
          </a:p>
          <a:p>
            <a:pPr eaLnBrk="1" hangingPunct="1"/>
            <a:r>
              <a:rPr lang="en-US" dirty="0" smtClean="0"/>
              <a:t>Quantitative fish density data</a:t>
            </a:r>
          </a:p>
          <a:p>
            <a:pPr eaLnBrk="1" hangingPunct="1"/>
            <a:r>
              <a:rPr lang="en-US" dirty="0" smtClean="0"/>
              <a:t>Angling success and satisfaction</a:t>
            </a:r>
          </a:p>
          <a:p>
            <a:pPr eaLnBrk="1" hangingPunct="1">
              <a:buNone/>
            </a:pPr>
            <a:endParaRPr lang="en-US" dirty="0" smtClean="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Results: Total observed activity days</a:t>
            </a:r>
            <a:endParaRPr lang="en-US" dirty="0"/>
          </a:p>
        </p:txBody>
      </p:sp>
      <p:pic>
        <p:nvPicPr>
          <p:cNvPr id="4" name="Content Placeholder 3" descr="total activity days.jpg"/>
          <p:cNvPicPr>
            <a:picLocks noGrp="1" noChangeAspect="1"/>
          </p:cNvPicPr>
          <p:nvPr>
            <p:ph idx="1"/>
          </p:nvPr>
        </p:nvPicPr>
        <p:blipFill>
          <a:blip r:embed="rId2" cstate="print"/>
          <a:srcRect l="-20130" r="-20130"/>
          <a:stretch>
            <a:fillRect/>
          </a:stretch>
        </p:blipFill>
        <p:spPr>
          <a:xfrm>
            <a:off x="-762000" y="809625"/>
            <a:ext cx="10210800" cy="5625394"/>
          </a:xfrm>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residual.jpg"/>
          <p:cNvPicPr>
            <a:picLocks noGrp="1" noChangeAspect="1"/>
          </p:cNvPicPr>
          <p:nvPr>
            <p:ph idx="1"/>
          </p:nvPr>
        </p:nvPicPr>
        <p:blipFill>
          <a:blip r:embed="rId2" cstate="print"/>
          <a:srcRect l="-20130" r="-20130"/>
          <a:stretch>
            <a:fillRect/>
          </a:stretch>
        </p:blipFill>
        <p:spPr>
          <a:xfrm>
            <a:off x="-762000" y="838201"/>
            <a:ext cx="10235133" cy="5638800"/>
          </a:xfrm>
        </p:spPr>
      </p:pic>
      <p:sp>
        <p:nvSpPr>
          <p:cNvPr id="2" name="Title 1"/>
          <p:cNvSpPr>
            <a:spLocks noGrp="1"/>
          </p:cNvSpPr>
          <p:nvPr>
            <p:ph type="title"/>
          </p:nvPr>
        </p:nvSpPr>
        <p:spPr/>
        <p:txBody>
          <a:bodyPr/>
          <a:lstStyle/>
          <a:p>
            <a:r>
              <a:rPr lang="en-US" dirty="0" smtClean="0"/>
              <a:t>Results: </a:t>
            </a:r>
            <a:r>
              <a:rPr lang="en-US" sz="2000" dirty="0" smtClean="0"/>
              <a:t>Residual of observed and predicted activity days</a:t>
            </a:r>
            <a:endParaRPr lang="en-US" sz="2000" dirty="0"/>
          </a:p>
        </p:txBody>
      </p:sp>
      <p:sp>
        <p:nvSpPr>
          <p:cNvPr id="6" name="TextBox 5"/>
          <p:cNvSpPr txBox="1"/>
          <p:nvPr/>
        </p:nvSpPr>
        <p:spPr>
          <a:xfrm>
            <a:off x="1905000" y="6400800"/>
            <a:ext cx="5410200" cy="307777"/>
          </a:xfrm>
          <a:prstGeom prst="rect">
            <a:avLst/>
          </a:prstGeom>
          <a:noFill/>
        </p:spPr>
        <p:txBody>
          <a:bodyPr wrap="square" rtlCol="0">
            <a:spAutoFit/>
          </a:bodyPr>
          <a:lstStyle/>
          <a:p>
            <a:r>
              <a:rPr lang="en-US" sz="1400" dirty="0" smtClean="0"/>
              <a:t>Spearman R= 0.816 (</a:t>
            </a:r>
            <a:r>
              <a:rPr lang="en-US" sz="1400" dirty="0" err="1" smtClean="0"/>
              <a:t>p</a:t>
            </a:r>
            <a:r>
              <a:rPr lang="en-US" sz="1400" dirty="0" smtClean="0"/>
              <a:t>&lt;.0001); Pearson R= 0.753 (</a:t>
            </a:r>
            <a:r>
              <a:rPr lang="en-US" sz="1400" dirty="0" err="1" smtClean="0"/>
              <a:t>p</a:t>
            </a:r>
            <a:r>
              <a:rPr lang="en-US" sz="1400" dirty="0" smtClean="0"/>
              <a:t>&lt;.0001)</a:t>
            </a:r>
            <a:endParaRPr lang="en-US" sz="1400"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Title 1"/>
          <p:cNvSpPr>
            <a:spLocks noGrp="1"/>
          </p:cNvSpPr>
          <p:nvPr>
            <p:ph type="title"/>
          </p:nvPr>
        </p:nvSpPr>
        <p:spPr/>
        <p:txBody>
          <a:bodyPr/>
          <a:lstStyle/>
          <a:p>
            <a:pPr eaLnBrk="1" hangingPunct="1"/>
            <a:r>
              <a:rPr lang="en-US" smtClean="0"/>
              <a:t>Conclusion</a:t>
            </a:r>
          </a:p>
        </p:txBody>
      </p:sp>
      <p:sp>
        <p:nvSpPr>
          <p:cNvPr id="57346" name="Content Placeholder 2"/>
          <p:cNvSpPr>
            <a:spLocks noGrp="1"/>
          </p:cNvSpPr>
          <p:nvPr>
            <p:ph idx="4294967295"/>
          </p:nvPr>
        </p:nvSpPr>
        <p:spPr/>
        <p:txBody>
          <a:bodyPr/>
          <a:lstStyle/>
          <a:p>
            <a:pPr eaLnBrk="1" hangingPunct="1"/>
            <a:r>
              <a:rPr lang="en-US" dirty="0" smtClean="0"/>
              <a:t>We combine socioeconomic and ecological parameters to predict direct use, with correct anticipated sign of coefficients</a:t>
            </a:r>
          </a:p>
          <a:p>
            <a:pPr eaLnBrk="1" hangingPunct="1"/>
            <a:r>
              <a:rPr lang="en-US" dirty="0" smtClean="0"/>
              <a:t>Omitted variable bias could be due to error in estimating total population, recreational amenities, and stocking frequency and distribution</a:t>
            </a:r>
          </a:p>
          <a:p>
            <a:pPr eaLnBrk="1" hangingPunct="1"/>
            <a:r>
              <a:rPr lang="en-US" dirty="0" smtClean="0"/>
              <a:t>Total valuation of fishes in this area is a much larger and complex process</a:t>
            </a:r>
          </a:p>
          <a:p>
            <a:pPr eaLnBrk="1" hangingPunct="1"/>
            <a:endParaRPr lang="en-US" dirty="0" smtClean="0"/>
          </a:p>
          <a:p>
            <a:pPr eaLnBrk="1" hangingPunct="1"/>
            <a:endParaRPr lang="en-US" dirty="0" smtClean="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Conclusion: Consumer Surplus</a:t>
            </a:r>
            <a:endParaRPr lang="en-US" dirty="0"/>
          </a:p>
        </p:txBody>
      </p:sp>
      <p:pic>
        <p:nvPicPr>
          <p:cNvPr id="4" name="Picture 3"/>
          <p:cNvPicPr>
            <a:picLocks noChangeAspect="1"/>
          </p:cNvPicPr>
          <p:nvPr/>
        </p:nvPicPr>
        <p:blipFill>
          <a:blip r:embed="rId2" cstate="print"/>
          <a:stretch>
            <a:fillRect/>
          </a:stretch>
        </p:blipFill>
        <p:spPr>
          <a:xfrm>
            <a:off x="685801" y="914400"/>
            <a:ext cx="7198660" cy="5562600"/>
          </a:xfrm>
          <a:prstGeom prst="rect">
            <a:avLst/>
          </a:prstGeom>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Title 1"/>
          <p:cNvSpPr>
            <a:spLocks noGrp="1"/>
          </p:cNvSpPr>
          <p:nvPr>
            <p:ph type="title"/>
          </p:nvPr>
        </p:nvSpPr>
        <p:spPr/>
        <p:txBody>
          <a:bodyPr/>
          <a:lstStyle/>
          <a:p>
            <a:pPr eaLnBrk="1" hangingPunct="1"/>
            <a:r>
              <a:rPr lang="en-US" smtClean="0"/>
              <a:t>Future research	</a:t>
            </a:r>
          </a:p>
        </p:txBody>
      </p:sp>
      <p:sp>
        <p:nvSpPr>
          <p:cNvPr id="58370" name="Content Placeholder 2"/>
          <p:cNvSpPr>
            <a:spLocks noGrp="1"/>
          </p:cNvSpPr>
          <p:nvPr>
            <p:ph idx="1"/>
          </p:nvPr>
        </p:nvSpPr>
        <p:spPr/>
        <p:txBody>
          <a:bodyPr/>
          <a:lstStyle/>
          <a:p>
            <a:pPr eaLnBrk="1" hangingPunct="1"/>
            <a:r>
              <a:rPr lang="en-US" dirty="0" smtClean="0"/>
              <a:t>Improving population estimates (raster approach)</a:t>
            </a:r>
          </a:p>
          <a:p>
            <a:pPr eaLnBrk="1" hangingPunct="1"/>
            <a:r>
              <a:rPr lang="en-US" dirty="0" smtClean="0"/>
              <a:t>Extending travel cost method to include driving distance to water</a:t>
            </a:r>
          </a:p>
          <a:p>
            <a:pPr eaLnBrk="1" hangingPunct="1"/>
            <a:r>
              <a:rPr lang="en-US" dirty="0" smtClean="0"/>
              <a:t>Multi-metric approach to ecosystem valuation related to fishes (including rare species; </a:t>
            </a:r>
            <a:r>
              <a:rPr lang="en-US" u="sng" dirty="0" smtClean="0"/>
              <a:t>net economic value</a:t>
            </a:r>
            <a:r>
              <a:rPr lang="en-US" dirty="0" smtClean="0"/>
              <a:t>; non-use values; intrinsic values)</a:t>
            </a:r>
          </a:p>
          <a:p>
            <a:pPr eaLnBrk="1" hangingPunct="1"/>
            <a:r>
              <a:rPr lang="en-US" dirty="0" smtClean="0"/>
              <a:t>Forecast use changes from future landscape and water quality scenarios</a:t>
            </a:r>
          </a:p>
          <a:p>
            <a:pPr eaLnBrk="1" hangingPunct="1"/>
            <a:endParaRPr lang="en-US" dirty="0" smtClean="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Title 1"/>
          <p:cNvSpPr>
            <a:spLocks noGrp="1"/>
          </p:cNvSpPr>
          <p:nvPr>
            <p:ph type="title"/>
          </p:nvPr>
        </p:nvSpPr>
        <p:spPr/>
        <p:txBody>
          <a:bodyPr/>
          <a:lstStyle/>
          <a:p>
            <a:pPr eaLnBrk="1" hangingPunct="1"/>
            <a:r>
              <a:rPr lang="en-US" smtClean="0"/>
              <a:t>Acknowledgements</a:t>
            </a:r>
          </a:p>
        </p:txBody>
      </p:sp>
      <p:sp>
        <p:nvSpPr>
          <p:cNvPr id="59394" name="Content Placeholder 2"/>
          <p:cNvSpPr>
            <a:spLocks noGrp="1"/>
          </p:cNvSpPr>
          <p:nvPr>
            <p:ph idx="4294967295"/>
          </p:nvPr>
        </p:nvSpPr>
        <p:spPr/>
        <p:txBody>
          <a:bodyPr/>
          <a:lstStyle/>
          <a:p>
            <a:pPr eaLnBrk="1" hangingPunct="1"/>
            <a:r>
              <a:rPr lang="en-US" smtClean="0"/>
              <a:t>Latha Baskaran, Bob Perlack, Anthony Turhollow, Mark Downing (ORNL)</a:t>
            </a:r>
          </a:p>
          <a:p>
            <a:pPr eaLnBrk="1" hangingPunct="1"/>
            <a:r>
              <a:rPr lang="en-US" smtClean="0"/>
              <a:t>Virginia Dale (CBES-ORNL)</a:t>
            </a:r>
          </a:p>
          <a:p>
            <a:pPr eaLnBrk="1" hangingPunct="1"/>
            <a:r>
              <a:rPr lang="en-US" smtClean="0"/>
              <a:t>Chad Hellwinckel (UT-APAC)</a:t>
            </a:r>
          </a:p>
          <a:p>
            <a:pPr eaLnBrk="1" hangingPunct="1"/>
            <a:r>
              <a:rPr lang="en-US" smtClean="0"/>
              <a:t>Oak Ridge Associate Universities (ORAU) ORISE Program</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Title 1"/>
          <p:cNvSpPr>
            <a:spLocks noGrp="1"/>
          </p:cNvSpPr>
          <p:nvPr>
            <p:ph type="title"/>
          </p:nvPr>
        </p:nvSpPr>
        <p:spPr/>
        <p:txBody>
          <a:bodyPr/>
          <a:lstStyle/>
          <a:p>
            <a:pPr eaLnBrk="1" hangingPunct="1"/>
            <a:r>
              <a:rPr lang="en-US" sz="2800" dirty="0" smtClean="0"/>
              <a:t>Public Perceptions</a:t>
            </a:r>
          </a:p>
        </p:txBody>
      </p:sp>
      <p:pic>
        <p:nvPicPr>
          <p:cNvPr id="20482" name="Picture 2"/>
          <p:cNvPicPr>
            <a:picLocks noGrp="1" noChangeAspect="1" noChangeArrowheads="1"/>
          </p:cNvPicPr>
          <p:nvPr>
            <p:ph idx="1"/>
          </p:nvPr>
        </p:nvPicPr>
        <p:blipFill>
          <a:blip r:embed="rId3" cstate="print"/>
          <a:srcRect l="2245" t="1682" r="3520" b="56302"/>
          <a:stretch>
            <a:fillRect/>
          </a:stretch>
        </p:blipFill>
        <p:spPr>
          <a:xfrm>
            <a:off x="4800600" y="979488"/>
            <a:ext cx="4114800" cy="2449512"/>
          </a:xfrm>
          <a:ln>
            <a:solidFill>
              <a:schemeClr val="accent1"/>
            </a:solidFill>
          </a:ln>
        </p:spPr>
      </p:pic>
      <p:sp>
        <p:nvSpPr>
          <p:cNvPr id="7" name="Title 1"/>
          <p:cNvSpPr txBox="1">
            <a:spLocks/>
          </p:cNvSpPr>
          <p:nvPr/>
        </p:nvSpPr>
        <p:spPr bwMode="auto">
          <a:xfrm>
            <a:off x="228600" y="609600"/>
            <a:ext cx="8775700" cy="504825"/>
          </a:xfrm>
          <a:prstGeom prst="rect">
            <a:avLst/>
          </a:prstGeom>
          <a:noFill/>
          <a:ln w="9525">
            <a:noFill/>
            <a:miter lim="800000"/>
            <a:headEnd/>
            <a:tailEnd/>
          </a:ln>
        </p:spPr>
        <p:txBody>
          <a:bodyPr>
            <a:normAutofit/>
          </a:bodyPr>
          <a:lstStyle/>
          <a:p>
            <a:pPr>
              <a:lnSpc>
                <a:spcPct val="85000"/>
              </a:lnSpc>
              <a:defRPr/>
            </a:pPr>
            <a:endParaRPr lang="en-US" sz="1000" b="1" kern="0" dirty="0">
              <a:solidFill>
                <a:srgbClr val="00673E"/>
              </a:solidFill>
              <a:latin typeface="+mj-lt"/>
              <a:ea typeface="+mj-ea"/>
              <a:cs typeface="+mj-cs"/>
            </a:endParaRPr>
          </a:p>
        </p:txBody>
      </p:sp>
      <p:pic>
        <p:nvPicPr>
          <p:cNvPr id="20485" name="Picture 3"/>
          <p:cNvPicPr>
            <a:picLocks noChangeAspect="1" noChangeArrowheads="1"/>
          </p:cNvPicPr>
          <p:nvPr/>
        </p:nvPicPr>
        <p:blipFill>
          <a:blip r:embed="rId4" cstate="print"/>
          <a:srcRect r="2620" b="58493"/>
          <a:stretch>
            <a:fillRect/>
          </a:stretch>
        </p:blipFill>
        <p:spPr bwMode="auto">
          <a:xfrm>
            <a:off x="4343400" y="2819400"/>
            <a:ext cx="4038600" cy="2596352"/>
          </a:xfrm>
          <a:prstGeom prst="rect">
            <a:avLst/>
          </a:prstGeom>
          <a:solidFill>
            <a:schemeClr val="accent1"/>
          </a:solidFill>
          <a:ln w="9525">
            <a:solidFill>
              <a:schemeClr val="accent1"/>
            </a:solidFill>
            <a:miter lim="800000"/>
            <a:headEnd/>
            <a:tailEnd/>
          </a:ln>
        </p:spPr>
      </p:pic>
      <p:sp>
        <p:nvSpPr>
          <p:cNvPr id="9" name="Rectangle 8"/>
          <p:cNvSpPr/>
          <p:nvPr/>
        </p:nvSpPr>
        <p:spPr>
          <a:xfrm>
            <a:off x="304800" y="914400"/>
            <a:ext cx="3886200" cy="3416320"/>
          </a:xfrm>
          <a:prstGeom prst="rect">
            <a:avLst/>
          </a:prstGeom>
        </p:spPr>
        <p:txBody>
          <a:bodyPr wrap="square">
            <a:spAutoFit/>
          </a:bodyPr>
          <a:lstStyle/>
          <a:p>
            <a:r>
              <a:rPr lang="en-US" b="1" kern="0" dirty="0" smtClean="0">
                <a:solidFill>
                  <a:srgbClr val="00673E"/>
                </a:solidFill>
              </a:rPr>
              <a:t>“With the 1980s and the rise of the Conservation Reserve Program, the </a:t>
            </a:r>
            <a:r>
              <a:rPr lang="en-US" b="1" kern="0" dirty="0" err="1" smtClean="0">
                <a:solidFill>
                  <a:srgbClr val="00673E"/>
                </a:solidFill>
              </a:rPr>
              <a:t>Driftless</a:t>
            </a:r>
            <a:r>
              <a:rPr lang="en-US" b="1" kern="0" dirty="0" smtClean="0">
                <a:solidFill>
                  <a:srgbClr val="00673E"/>
                </a:solidFill>
              </a:rPr>
              <a:t> Area's prairie character began to re-emerge. Today 33 trout streams in the area support natural spawning…. But now anglers worry that high corn prices caused by demand for ethanol could erase those gains, as more lands are put back to agricultural use.” </a:t>
            </a:r>
            <a:endParaRPr lang="en-US"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Biofuel-Biodiversity">
  <a:themeElements>
    <a:clrScheme name="Biofuel-Biodiversity 11">
      <a:dk1>
        <a:srgbClr val="000000"/>
      </a:dk1>
      <a:lt1>
        <a:srgbClr val="FFFFFF"/>
      </a:lt1>
      <a:dk2>
        <a:srgbClr val="01673E"/>
      </a:dk2>
      <a:lt2>
        <a:srgbClr val="333333"/>
      </a:lt2>
      <a:accent1>
        <a:srgbClr val="003D6C"/>
      </a:accent1>
      <a:accent2>
        <a:srgbClr val="267186"/>
      </a:accent2>
      <a:accent3>
        <a:srgbClr val="FFFFFF"/>
      </a:accent3>
      <a:accent4>
        <a:srgbClr val="000000"/>
      </a:accent4>
      <a:accent5>
        <a:srgbClr val="AAAFBA"/>
      </a:accent5>
      <a:accent6>
        <a:srgbClr val="216679"/>
      </a:accent6>
      <a:hlink>
        <a:srgbClr val="8D1357"/>
      </a:hlink>
      <a:folHlink>
        <a:srgbClr val="FFCC66"/>
      </a:folHlink>
    </a:clrScheme>
    <a:fontScheme name="Biofuel-Biodiversity">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Biofuel-Biodiversity 1">
        <a:dk1>
          <a:srgbClr val="00008A"/>
        </a:dk1>
        <a:lt1>
          <a:srgbClr val="FFFFFF"/>
        </a:lt1>
        <a:dk2>
          <a:srgbClr val="000099"/>
        </a:dk2>
        <a:lt2>
          <a:srgbClr val="FFFFFF"/>
        </a:lt2>
        <a:accent1>
          <a:srgbClr val="0099FF"/>
        </a:accent1>
        <a:accent2>
          <a:srgbClr val="00007A"/>
        </a:accent2>
        <a:accent3>
          <a:srgbClr val="AAAACA"/>
        </a:accent3>
        <a:accent4>
          <a:srgbClr val="DADADA"/>
        </a:accent4>
        <a:accent5>
          <a:srgbClr val="AACAFF"/>
        </a:accent5>
        <a:accent6>
          <a:srgbClr val="00006E"/>
        </a:accent6>
        <a:hlink>
          <a:srgbClr val="EAEAEA"/>
        </a:hlink>
        <a:folHlink>
          <a:srgbClr val="FFCC00"/>
        </a:folHlink>
      </a:clrScheme>
      <a:clrMap bg1="dk2" tx1="lt1" bg2="dk1" tx2="lt2" accent1="accent1" accent2="accent2" accent3="accent3" accent4="accent4" accent5="accent5" accent6="accent6" hlink="hlink" folHlink="folHlink"/>
    </a:extraClrScheme>
    <a:extraClrScheme>
      <a:clrScheme name="Biofuel-Biodiversity 2">
        <a:dk1>
          <a:srgbClr val="5B5B89"/>
        </a:dk1>
        <a:lt1>
          <a:srgbClr val="FFFFFF"/>
        </a:lt1>
        <a:dk2>
          <a:srgbClr val="666699"/>
        </a:dk2>
        <a:lt2>
          <a:srgbClr val="DFDEF6"/>
        </a:lt2>
        <a:accent1>
          <a:srgbClr val="6666FF"/>
        </a:accent1>
        <a:accent2>
          <a:srgbClr val="52527C"/>
        </a:accent2>
        <a:accent3>
          <a:srgbClr val="B8B8CA"/>
        </a:accent3>
        <a:accent4>
          <a:srgbClr val="DADADA"/>
        </a:accent4>
        <a:accent5>
          <a:srgbClr val="B8B8FF"/>
        </a:accent5>
        <a:accent6>
          <a:srgbClr val="494970"/>
        </a:accent6>
        <a:hlink>
          <a:srgbClr val="9999FF"/>
        </a:hlink>
        <a:folHlink>
          <a:srgbClr val="CCCCFF"/>
        </a:folHlink>
      </a:clrScheme>
      <a:clrMap bg1="dk2" tx1="lt1" bg2="dk1" tx2="lt2" accent1="accent1" accent2="accent2" accent3="accent3" accent4="accent4" accent5="accent5" accent6="accent6" hlink="hlink" folHlink="folHlink"/>
    </a:extraClrScheme>
    <a:extraClrScheme>
      <a:clrScheme name="Biofuel-Biodiversity 3">
        <a:dk1>
          <a:srgbClr val="700000"/>
        </a:dk1>
        <a:lt1>
          <a:srgbClr val="FFFFFF"/>
        </a:lt1>
        <a:dk2>
          <a:srgbClr val="800000"/>
        </a:dk2>
        <a:lt2>
          <a:srgbClr val="FFFFCC"/>
        </a:lt2>
        <a:accent1>
          <a:srgbClr val="BE7960"/>
        </a:accent1>
        <a:accent2>
          <a:srgbClr val="600000"/>
        </a:accent2>
        <a:accent3>
          <a:srgbClr val="C0AAAA"/>
        </a:accent3>
        <a:accent4>
          <a:srgbClr val="DADADA"/>
        </a:accent4>
        <a:accent5>
          <a:srgbClr val="DBBEB6"/>
        </a:accent5>
        <a:accent6>
          <a:srgbClr val="560000"/>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iofuel-Biodiversity 4">
        <a:dk1>
          <a:srgbClr val="000000"/>
        </a:dk1>
        <a:lt1>
          <a:srgbClr val="FDEB9D"/>
        </a:lt1>
        <a:dk2>
          <a:srgbClr val="000000"/>
        </a:dk2>
        <a:lt2>
          <a:srgbClr val="E0CE82"/>
        </a:lt2>
        <a:accent1>
          <a:srgbClr val="EAEAEA"/>
        </a:accent1>
        <a:accent2>
          <a:srgbClr val="C2B476"/>
        </a:accent2>
        <a:accent3>
          <a:srgbClr val="FEF3CC"/>
        </a:accent3>
        <a:accent4>
          <a:srgbClr val="000000"/>
        </a:accent4>
        <a:accent5>
          <a:srgbClr val="F3F3F3"/>
        </a:accent5>
        <a:accent6>
          <a:srgbClr val="B0A36A"/>
        </a:accent6>
        <a:hlink>
          <a:srgbClr val="A47900"/>
        </a:hlink>
        <a:folHlink>
          <a:srgbClr val="8C8900"/>
        </a:folHlink>
      </a:clrScheme>
      <a:clrMap bg1="lt1" tx1="dk1" bg2="lt2" tx2="dk2" accent1="accent1" accent2="accent2" accent3="accent3" accent4="accent4" accent5="accent5" accent6="accent6" hlink="hlink" folHlink="folHlink"/>
    </a:extraClrScheme>
    <a:extraClrScheme>
      <a:clrScheme name="Biofuel-Biodiversity 5">
        <a:dk1>
          <a:srgbClr val="5B5E52"/>
        </a:dk1>
        <a:lt1>
          <a:srgbClr val="FFFFFF"/>
        </a:lt1>
        <a:dk2>
          <a:srgbClr val="686B5D"/>
        </a:dk2>
        <a:lt2>
          <a:srgbClr val="CCD5C7"/>
        </a:lt2>
        <a:accent1>
          <a:srgbClr val="809EA8"/>
        </a:accent1>
        <a:accent2>
          <a:srgbClr val="4F5147"/>
        </a:accent2>
        <a:accent3>
          <a:srgbClr val="B9BAB6"/>
        </a:accent3>
        <a:accent4>
          <a:srgbClr val="DADADA"/>
        </a:accent4>
        <a:accent5>
          <a:srgbClr val="C0CCD1"/>
        </a:accent5>
        <a:accent6>
          <a:srgbClr val="47493F"/>
        </a:accent6>
        <a:hlink>
          <a:srgbClr val="AAA854"/>
        </a:hlink>
        <a:folHlink>
          <a:srgbClr val="E1D09F"/>
        </a:folHlink>
      </a:clrScheme>
      <a:clrMap bg1="dk2" tx1="lt1" bg2="dk1" tx2="lt2" accent1="accent1" accent2="accent2" accent3="accent3" accent4="accent4" accent5="accent5" accent6="accent6" hlink="hlink" folHlink="folHlink"/>
    </a:extraClrScheme>
    <a:extraClrScheme>
      <a:clrScheme name="Biofuel-Biodiversity 6">
        <a:dk1>
          <a:srgbClr val="46532B"/>
        </a:dk1>
        <a:lt1>
          <a:srgbClr val="FFFFFF"/>
        </a:lt1>
        <a:dk2>
          <a:srgbClr val="4E5D31"/>
        </a:dk2>
        <a:lt2>
          <a:srgbClr val="FFFFCC"/>
        </a:lt2>
        <a:accent1>
          <a:srgbClr val="8F8C00"/>
        </a:accent1>
        <a:accent2>
          <a:srgbClr val="424F29"/>
        </a:accent2>
        <a:accent3>
          <a:srgbClr val="B2B6AD"/>
        </a:accent3>
        <a:accent4>
          <a:srgbClr val="DADADA"/>
        </a:accent4>
        <a:accent5>
          <a:srgbClr val="C6C5AA"/>
        </a:accent5>
        <a:accent6>
          <a:srgbClr val="3B4724"/>
        </a:accent6>
        <a:hlink>
          <a:srgbClr val="33CC33"/>
        </a:hlink>
        <a:folHlink>
          <a:srgbClr val="00A1B2"/>
        </a:folHlink>
      </a:clrScheme>
      <a:clrMap bg1="dk2" tx1="lt1" bg2="dk1" tx2="lt2" accent1="accent1" accent2="accent2" accent3="accent3" accent4="accent4" accent5="accent5" accent6="accent6" hlink="hlink" folHlink="folHlink"/>
    </a:extraClrScheme>
    <a:extraClrScheme>
      <a:clrScheme name="Biofuel-Biodiversity 7">
        <a:dk1>
          <a:srgbClr val="007673"/>
        </a:dk1>
        <a:lt1>
          <a:srgbClr val="FFFFFF"/>
        </a:lt1>
        <a:dk2>
          <a:srgbClr val="008080"/>
        </a:dk2>
        <a:lt2>
          <a:srgbClr val="FFFF99"/>
        </a:lt2>
        <a:accent1>
          <a:srgbClr val="33CCCC"/>
        </a:accent1>
        <a:accent2>
          <a:srgbClr val="006462"/>
        </a:accent2>
        <a:accent3>
          <a:srgbClr val="AAC0C0"/>
        </a:accent3>
        <a:accent4>
          <a:srgbClr val="DADADA"/>
        </a:accent4>
        <a:accent5>
          <a:srgbClr val="ADE2E2"/>
        </a:accent5>
        <a:accent6>
          <a:srgbClr val="005A58"/>
        </a:accent6>
        <a:hlink>
          <a:srgbClr val="FFCC00"/>
        </a:hlink>
        <a:folHlink>
          <a:srgbClr val="CC3300"/>
        </a:folHlink>
      </a:clrScheme>
      <a:clrMap bg1="dk2" tx1="lt1" bg2="dk1" tx2="lt2" accent1="accent1" accent2="accent2" accent3="accent3" accent4="accent4" accent5="accent5" accent6="accent6" hlink="hlink" folHlink="folHlink"/>
    </a:extraClrScheme>
    <a:extraClrScheme>
      <a:clrScheme name="Biofuel-Biodiversity 8">
        <a:dk1>
          <a:srgbClr val="000000"/>
        </a:dk1>
        <a:lt1>
          <a:srgbClr val="E6F8F4"/>
        </a:lt1>
        <a:dk2>
          <a:srgbClr val="000000"/>
        </a:dk2>
        <a:lt2>
          <a:srgbClr val="C5DBD6"/>
        </a:lt2>
        <a:accent1>
          <a:srgbClr val="CCFF99"/>
        </a:accent1>
        <a:accent2>
          <a:srgbClr val="ACBAB7"/>
        </a:accent2>
        <a:accent3>
          <a:srgbClr val="F0FBF8"/>
        </a:accent3>
        <a:accent4>
          <a:srgbClr val="000000"/>
        </a:accent4>
        <a:accent5>
          <a:srgbClr val="E2FFCA"/>
        </a:accent5>
        <a:accent6>
          <a:srgbClr val="9BA8A6"/>
        </a:accent6>
        <a:hlink>
          <a:srgbClr val="008080"/>
        </a:hlink>
        <a:folHlink>
          <a:srgbClr val="0066CC"/>
        </a:folHlink>
      </a:clrScheme>
      <a:clrMap bg1="lt1" tx1="dk1" bg2="lt2" tx2="dk2" accent1="accent1" accent2="accent2" accent3="accent3" accent4="accent4" accent5="accent5" accent6="accent6" hlink="hlink" folHlink="folHlink"/>
    </a:extraClrScheme>
    <a:extraClrScheme>
      <a:clrScheme name="Biofuel-Biodiversity 9">
        <a:dk1>
          <a:srgbClr val="000000"/>
        </a:dk1>
        <a:lt1>
          <a:srgbClr val="EAEAEA"/>
        </a:lt1>
        <a:dk2>
          <a:srgbClr val="000000"/>
        </a:dk2>
        <a:lt2>
          <a:srgbClr val="D1D1D1"/>
        </a:lt2>
        <a:accent1>
          <a:srgbClr val="CCECFF"/>
        </a:accent1>
        <a:accent2>
          <a:srgbClr val="B2B2B2"/>
        </a:accent2>
        <a:accent3>
          <a:srgbClr val="F3F3F3"/>
        </a:accent3>
        <a:accent4>
          <a:srgbClr val="000000"/>
        </a:accent4>
        <a:accent5>
          <a:srgbClr val="E2F4FF"/>
        </a:accent5>
        <a:accent6>
          <a:srgbClr val="A1A1A1"/>
        </a:accent6>
        <a:hlink>
          <a:srgbClr val="7200E4"/>
        </a:hlink>
        <a:folHlink>
          <a:srgbClr val="003399"/>
        </a:folHlink>
      </a:clrScheme>
      <a:clrMap bg1="lt1" tx1="dk1" bg2="lt2" tx2="dk2" accent1="accent1" accent2="accent2" accent3="accent3" accent4="accent4" accent5="accent5" accent6="accent6" hlink="hlink" folHlink="folHlink"/>
    </a:extraClrScheme>
    <a:extraClrScheme>
      <a:clrScheme name="Biofuel-Biodiversity 10">
        <a:dk1>
          <a:srgbClr val="000000"/>
        </a:dk1>
        <a:lt1>
          <a:srgbClr val="FFFFFF"/>
        </a:lt1>
        <a:dk2>
          <a:srgbClr val="01673E"/>
        </a:dk2>
        <a:lt2>
          <a:srgbClr val="333333"/>
        </a:lt2>
        <a:accent1>
          <a:srgbClr val="8D0A56"/>
        </a:accent1>
        <a:accent2>
          <a:srgbClr val="267186"/>
        </a:accent2>
        <a:accent3>
          <a:srgbClr val="FFFFFF"/>
        </a:accent3>
        <a:accent4>
          <a:srgbClr val="000000"/>
        </a:accent4>
        <a:accent5>
          <a:srgbClr val="C5AAB4"/>
        </a:accent5>
        <a:accent6>
          <a:srgbClr val="216679"/>
        </a:accent6>
        <a:hlink>
          <a:srgbClr val="FFCC66"/>
        </a:hlink>
        <a:folHlink>
          <a:srgbClr val="76A3CC"/>
        </a:folHlink>
      </a:clrScheme>
      <a:clrMap bg1="lt1" tx1="dk1" bg2="lt2" tx2="dk2" accent1="accent1" accent2="accent2" accent3="accent3" accent4="accent4" accent5="accent5" accent6="accent6" hlink="hlink" folHlink="folHlink"/>
    </a:extraClrScheme>
    <a:extraClrScheme>
      <a:clrScheme name="Biofuel-Biodiversity 11">
        <a:dk1>
          <a:srgbClr val="000000"/>
        </a:dk1>
        <a:lt1>
          <a:srgbClr val="FFFFFF"/>
        </a:lt1>
        <a:dk2>
          <a:srgbClr val="01673E"/>
        </a:dk2>
        <a:lt2>
          <a:srgbClr val="333333"/>
        </a:lt2>
        <a:accent1>
          <a:srgbClr val="003D6C"/>
        </a:accent1>
        <a:accent2>
          <a:srgbClr val="267186"/>
        </a:accent2>
        <a:accent3>
          <a:srgbClr val="FFFFFF"/>
        </a:accent3>
        <a:accent4>
          <a:srgbClr val="000000"/>
        </a:accent4>
        <a:accent5>
          <a:srgbClr val="AAAFBA"/>
        </a:accent5>
        <a:accent6>
          <a:srgbClr val="216679"/>
        </a:accent6>
        <a:hlink>
          <a:srgbClr val="8D1357"/>
        </a:hlink>
        <a:folHlink>
          <a:srgbClr val="FFCC6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Biofuel-Biodiversity3 (2)</Template>
  <TotalTime>11604</TotalTime>
  <Words>1507</Words>
  <Application>Microsoft Office PowerPoint</Application>
  <PresentationFormat>On-screen Show (4:3)</PresentationFormat>
  <Paragraphs>219</Paragraphs>
  <Slides>24</Slides>
  <Notes>6</Notes>
  <HiddenSlides>0</HiddenSlides>
  <MMClips>0</MMClip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Biofuel-Biodiversity</vt:lpstr>
      <vt:lpstr>Assessing watershed benefits of bioenergy crops: recreational and subsistence value of fishes</vt:lpstr>
      <vt:lpstr>Motivation</vt:lpstr>
      <vt:lpstr>Presentation Outline</vt:lpstr>
      <vt:lpstr>Overview: Conceptual Framework</vt:lpstr>
      <vt:lpstr>Overview: POLYSYS modeling framework</vt:lpstr>
      <vt:lpstr>Overview: Resource Assessment and Agricultural Forecasting</vt:lpstr>
      <vt:lpstr>Overview: Approaches to ecological valuation</vt:lpstr>
      <vt:lpstr>Approach: Economic Model</vt:lpstr>
      <vt:lpstr>Data: Sources and method</vt:lpstr>
      <vt:lpstr>Approach: Study area and data</vt:lpstr>
      <vt:lpstr>Approach: Data Arrangment</vt:lpstr>
      <vt:lpstr>Approach: Block Groups and Watershed Boundaries</vt:lpstr>
      <vt:lpstr>Data: Total fishing privilege</vt:lpstr>
      <vt:lpstr>Results: Total observed activity days</vt:lpstr>
      <vt:lpstr>Model: Full Linear Regression</vt:lpstr>
      <vt:lpstr>Slide 16</vt:lpstr>
      <vt:lpstr>Current Model Limitations</vt:lpstr>
      <vt:lpstr>Results: Total observed activity days</vt:lpstr>
      <vt:lpstr>Results: Residual of observed and predicted activity days</vt:lpstr>
      <vt:lpstr>Conclusion</vt:lpstr>
      <vt:lpstr>Conclusion: Consumer Surplus</vt:lpstr>
      <vt:lpstr>Future research </vt:lpstr>
      <vt:lpstr>Acknowledgements</vt:lpstr>
      <vt:lpstr>Public Perceptions</vt:lpstr>
    </vt:vector>
  </TitlesOfParts>
  <Company>ORNL</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Laurence M. Eaton</dc:creator>
  <cp:lastModifiedBy>Laurence M. Eaton</cp:lastModifiedBy>
  <cp:revision>455</cp:revision>
  <dcterms:created xsi:type="dcterms:W3CDTF">2010-04-08T12:28:28Z</dcterms:created>
  <dcterms:modified xsi:type="dcterms:W3CDTF">2010-04-13T12:45:17Z</dcterms:modified>
</cp:coreProperties>
</file>