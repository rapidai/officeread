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2" r:id="rId7"/>
    <p:sldId id="263" r:id="rId8"/>
    <p:sldId id="268" r:id="rId9"/>
    <p:sldId id="267" r:id="rId10"/>
    <p:sldId id="266" r:id="rId11"/>
    <p:sldId id="265" r:id="rId12"/>
    <p:sldId id="264" r:id="rId13"/>
    <p:sldId id="269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E7C54-CC47-403A-9350-37BB64F0ABE9}" type="datetimeFigureOut">
              <a:rPr lang="en-CA" smtClean="0"/>
              <a:pPr/>
              <a:t>25/10/2012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1084-F40F-4EE6-A1B9-EB6EB966044A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E7C54-CC47-403A-9350-37BB64F0ABE9}" type="datetimeFigureOut">
              <a:rPr lang="en-CA" smtClean="0"/>
              <a:pPr/>
              <a:t>25/10/2012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1084-F40F-4EE6-A1B9-EB6EB966044A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E7C54-CC47-403A-9350-37BB64F0ABE9}" type="datetimeFigureOut">
              <a:rPr lang="en-CA" smtClean="0"/>
              <a:pPr/>
              <a:t>25/10/2012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1084-F40F-4EE6-A1B9-EB6EB966044A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E7C54-CC47-403A-9350-37BB64F0ABE9}" type="datetimeFigureOut">
              <a:rPr lang="en-CA" smtClean="0"/>
              <a:pPr/>
              <a:t>25/10/2012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1084-F40F-4EE6-A1B9-EB6EB966044A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E7C54-CC47-403A-9350-37BB64F0ABE9}" type="datetimeFigureOut">
              <a:rPr lang="en-CA" smtClean="0"/>
              <a:pPr/>
              <a:t>25/10/2012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1084-F40F-4EE6-A1B9-EB6EB966044A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E7C54-CC47-403A-9350-37BB64F0ABE9}" type="datetimeFigureOut">
              <a:rPr lang="en-CA" smtClean="0"/>
              <a:pPr/>
              <a:t>25/10/2012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1084-F40F-4EE6-A1B9-EB6EB966044A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E7C54-CC47-403A-9350-37BB64F0ABE9}" type="datetimeFigureOut">
              <a:rPr lang="en-CA" smtClean="0"/>
              <a:pPr/>
              <a:t>25/10/2012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1084-F40F-4EE6-A1B9-EB6EB966044A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E7C54-CC47-403A-9350-37BB64F0ABE9}" type="datetimeFigureOut">
              <a:rPr lang="en-CA" smtClean="0"/>
              <a:pPr/>
              <a:t>25/10/2012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1084-F40F-4EE6-A1B9-EB6EB966044A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E7C54-CC47-403A-9350-37BB64F0ABE9}" type="datetimeFigureOut">
              <a:rPr lang="en-CA" smtClean="0"/>
              <a:pPr/>
              <a:t>25/10/2012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1084-F40F-4EE6-A1B9-EB6EB966044A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E7C54-CC47-403A-9350-37BB64F0ABE9}" type="datetimeFigureOut">
              <a:rPr lang="en-CA" smtClean="0"/>
              <a:pPr/>
              <a:t>25/10/2012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1084-F40F-4EE6-A1B9-EB6EB966044A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E7C54-CC47-403A-9350-37BB64F0ABE9}" type="datetimeFigureOut">
              <a:rPr lang="en-CA" smtClean="0"/>
              <a:pPr/>
              <a:t>25/10/2012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1084-F40F-4EE6-A1B9-EB6EB966044A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DE7C54-CC47-403A-9350-37BB64F0ABE9}" type="datetimeFigureOut">
              <a:rPr lang="en-CA" smtClean="0"/>
              <a:pPr/>
              <a:t>25/10/2012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591084-F40F-4EE6-A1B9-EB6EB966044A}" type="slidenum">
              <a:rPr lang="en-CA" smtClean="0"/>
              <a:pPr/>
              <a:t>‹#›</a:t>
            </a:fld>
            <a:endParaRPr lang="en-C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hyperlink" Target="http://www.geoscience.ca/cangeoref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http://www.geoscience.ca/award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3330575"/>
            <a:ext cx="8153400" cy="1470025"/>
          </a:xfrm>
        </p:spPr>
        <p:txBody>
          <a:bodyPr/>
          <a:lstStyle/>
          <a:p>
            <a:r>
              <a:rPr lang="en-CA" dirty="0" smtClean="0"/>
              <a:t>Highlights ‘11-’12</a:t>
            </a:r>
            <a:endParaRPr lang="en-C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724400"/>
            <a:ext cx="6400800" cy="1752600"/>
          </a:xfrm>
        </p:spPr>
        <p:txBody>
          <a:bodyPr/>
          <a:lstStyle/>
          <a:p>
            <a:r>
              <a:rPr lang="en-CA" dirty="0" smtClean="0">
                <a:solidFill>
                  <a:schemeClr val="tx1"/>
                </a:solidFill>
              </a:rPr>
              <a:t>Elisabeth Kosters – CCCESD meeting</a:t>
            </a:r>
          </a:p>
          <a:p>
            <a:r>
              <a:rPr lang="en-CA" dirty="0" smtClean="0">
                <a:solidFill>
                  <a:schemeClr val="tx1"/>
                </a:solidFill>
              </a:rPr>
              <a:t>October 25, 2012</a:t>
            </a:r>
            <a:endParaRPr lang="en-CA" dirty="0">
              <a:solidFill>
                <a:schemeClr val="tx1"/>
              </a:solidFill>
            </a:endParaRPr>
          </a:p>
        </p:txBody>
      </p:sp>
      <p:pic>
        <p:nvPicPr>
          <p:cNvPr id="4" name="Picture 3" descr="CFES logo vertical colour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180204" y="0"/>
            <a:ext cx="4753996" cy="3276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IGC2020 Bid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03437"/>
            <a:ext cx="8229600" cy="4678363"/>
          </a:xfrm>
        </p:spPr>
        <p:txBody>
          <a:bodyPr>
            <a:normAutofit fontScale="85000" lnSpcReduction="20000"/>
          </a:bodyPr>
          <a:lstStyle/>
          <a:p>
            <a:r>
              <a:rPr lang="en-CA" dirty="0" smtClean="0"/>
              <a:t>Bid was presented at the IGC in Brisbane</a:t>
            </a:r>
          </a:p>
          <a:p>
            <a:r>
              <a:rPr lang="en-CA" dirty="0" smtClean="0"/>
              <a:t>Bid committee chaired by CFES past president Bill Mercer. </a:t>
            </a:r>
          </a:p>
          <a:p>
            <a:r>
              <a:rPr lang="en-CA" dirty="0" smtClean="0"/>
              <a:t>Bid Committee representative of CFES constituency</a:t>
            </a:r>
          </a:p>
          <a:p>
            <a:r>
              <a:rPr lang="en-CA" dirty="0" smtClean="0"/>
              <a:t>Generous support from Canadian Geological Foundation, </a:t>
            </a:r>
            <a:r>
              <a:rPr lang="en-CA" dirty="0" err="1" smtClean="0"/>
              <a:t>NRCan</a:t>
            </a:r>
            <a:r>
              <a:rPr lang="en-CA" dirty="0" smtClean="0"/>
              <a:t>, Tourism Vancouver. </a:t>
            </a:r>
          </a:p>
          <a:p>
            <a:pPr lvl="1"/>
            <a:endParaRPr lang="en-CA" dirty="0" smtClean="0"/>
          </a:p>
          <a:p>
            <a:r>
              <a:rPr lang="en-CA" dirty="0" smtClean="0"/>
              <a:t>The </a:t>
            </a:r>
            <a:r>
              <a:rPr lang="en-CA" dirty="0" smtClean="0"/>
              <a:t>only competitor</a:t>
            </a:r>
            <a:r>
              <a:rPr lang="en-CA" dirty="0" smtClean="0"/>
              <a:t>, India, won</a:t>
            </a:r>
          </a:p>
          <a:p>
            <a:endParaRPr lang="en-CA" dirty="0" smtClean="0"/>
          </a:p>
          <a:p>
            <a:r>
              <a:rPr lang="en-CA" dirty="0" smtClean="0"/>
              <a:t>Evaluation carried out </a:t>
            </a:r>
            <a:r>
              <a:rPr lang="en-CA" dirty="0" smtClean="0">
                <a:sym typeface="Wingdings" pitchFamily="2" charset="2"/>
              </a:rPr>
              <a:t> </a:t>
            </a:r>
            <a:r>
              <a:rPr lang="en-CA" dirty="0" smtClean="0"/>
              <a:t>Report to CFES Council. </a:t>
            </a:r>
          </a:p>
          <a:p>
            <a:r>
              <a:rPr lang="en-CA" dirty="0" smtClean="0"/>
              <a:t>CFES Council will decide whether to attempt bid for IGC2024. </a:t>
            </a:r>
          </a:p>
          <a:p>
            <a:pPr lvl="1"/>
            <a:endParaRPr lang="en-CA" dirty="0" smtClean="0"/>
          </a:p>
        </p:txBody>
      </p:sp>
      <p:pic>
        <p:nvPicPr>
          <p:cNvPr id="4" name="Picture 3" descr="IGC2020_Logo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086600" y="0"/>
            <a:ext cx="2057400" cy="2025254"/>
          </a:xfrm>
          <a:prstGeom prst="rect">
            <a:avLst/>
          </a:prstGeom>
        </p:spPr>
      </p:pic>
      <p:pic>
        <p:nvPicPr>
          <p:cNvPr id="5" name="Picture 4" descr="IGC2020_Logo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57400" cy="2025254"/>
          </a:xfrm>
          <a:prstGeom prst="rect">
            <a:avLst/>
          </a:prstGeom>
        </p:spPr>
      </p:pic>
      <p:pic>
        <p:nvPicPr>
          <p:cNvPr id="6" name="Picture 5" descr="CFES logo horizontal colour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638800" y="4639056"/>
            <a:ext cx="2916936" cy="6949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5257800"/>
          </a:xfrm>
        </p:spPr>
        <p:txBody>
          <a:bodyPr>
            <a:normAutofit fontScale="85000" lnSpcReduction="20000"/>
          </a:bodyPr>
          <a:lstStyle/>
          <a:p>
            <a:endParaRPr lang="en-CA" dirty="0" smtClean="0"/>
          </a:p>
          <a:p>
            <a:r>
              <a:rPr lang="en-CA" dirty="0" err="1" smtClean="0"/>
              <a:t>CanGeoRef</a:t>
            </a:r>
            <a:r>
              <a:rPr lang="en-CA" dirty="0" smtClean="0"/>
              <a:t> launched September 2011, currently ca. 210,000 references. BC updated last week, NL close. Details: </a:t>
            </a:r>
            <a:r>
              <a:rPr lang="en-CA" dirty="0" smtClean="0">
                <a:hlinkClick r:id="rId2"/>
              </a:rPr>
              <a:t>www.geoscience.ca/cangeoref</a:t>
            </a:r>
            <a:r>
              <a:rPr lang="en-CA" dirty="0" smtClean="0"/>
              <a:t> - narrated </a:t>
            </a:r>
            <a:r>
              <a:rPr lang="en-CA" dirty="0" err="1" smtClean="0"/>
              <a:t>ppt</a:t>
            </a:r>
            <a:r>
              <a:rPr lang="en-CA" dirty="0" smtClean="0"/>
              <a:t>!</a:t>
            </a:r>
          </a:p>
          <a:p>
            <a:endParaRPr lang="en-CA" dirty="0" smtClean="0"/>
          </a:p>
          <a:p>
            <a:r>
              <a:rPr lang="en-CA" dirty="0" smtClean="0"/>
              <a:t>Marketing tour (EK) concentrated on Provincial Geological Survey Open Houses: </a:t>
            </a:r>
          </a:p>
          <a:p>
            <a:pPr lvl="1"/>
            <a:r>
              <a:rPr lang="en-CA" dirty="0" smtClean="0"/>
              <a:t>NS, NB, ON, MB (Fall ‘11)</a:t>
            </a:r>
          </a:p>
          <a:p>
            <a:pPr lvl="1"/>
            <a:r>
              <a:rPr lang="en-CA" dirty="0" smtClean="0"/>
              <a:t>Roundup (Jan. ‘12)</a:t>
            </a:r>
          </a:p>
          <a:p>
            <a:pPr lvl="1"/>
            <a:r>
              <a:rPr lang="en-CA" dirty="0" smtClean="0"/>
              <a:t>Calgary (April ‘12)</a:t>
            </a:r>
          </a:p>
          <a:p>
            <a:pPr lvl="1"/>
            <a:endParaRPr lang="en-CA" dirty="0" smtClean="0"/>
          </a:p>
          <a:p>
            <a:r>
              <a:rPr lang="en-CA" dirty="0" smtClean="0"/>
              <a:t>Sales below expectations so far </a:t>
            </a:r>
          </a:p>
          <a:p>
            <a:pPr lvl="1"/>
            <a:r>
              <a:rPr lang="en-CA" dirty="0" smtClean="0">
                <a:sym typeface="Wingdings" pitchFamily="2" charset="2"/>
              </a:rPr>
              <a:t>evaluation year 1 (with AGI) </a:t>
            </a:r>
          </a:p>
          <a:p>
            <a:pPr lvl="1"/>
            <a:r>
              <a:rPr lang="en-CA" dirty="0" smtClean="0">
                <a:sym typeface="Wingdings" pitchFamily="2" charset="2"/>
              </a:rPr>
              <a:t>explore marketing through EBSCO / </a:t>
            </a:r>
            <a:r>
              <a:rPr lang="en-CA" dirty="0" err="1" smtClean="0">
                <a:sym typeface="Wingdings" pitchFamily="2" charset="2"/>
              </a:rPr>
              <a:t>ProQuest</a:t>
            </a:r>
            <a:r>
              <a:rPr lang="en-CA" dirty="0" smtClean="0">
                <a:sym typeface="Wingdings" pitchFamily="2" charset="2"/>
              </a:rPr>
              <a:t> (in progress)</a:t>
            </a:r>
            <a:endParaRPr lang="en-CA" dirty="0"/>
          </a:p>
        </p:txBody>
      </p:sp>
      <p:pic>
        <p:nvPicPr>
          <p:cNvPr id="7" name="Content Placeholder 3" descr="CanGeoRef Banner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2243" y="0"/>
            <a:ext cx="9146243" cy="1676400"/>
          </a:xfrm>
          <a:prstGeom prst="rect">
            <a:avLst/>
          </a:prstGeom>
        </p:spPr>
      </p:pic>
      <p:pic>
        <p:nvPicPr>
          <p:cNvPr id="4" name="Picture 3" descr="CFES logo horizontal colour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638800" y="4267200"/>
            <a:ext cx="2916936" cy="6949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CA" sz="3600" dirty="0" smtClean="0"/>
              <a:t>For Canadian geoscientists &amp; the public</a:t>
            </a:r>
            <a:endParaRPr lang="en-CA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382000" cy="4525963"/>
          </a:xfrm>
        </p:spPr>
        <p:txBody>
          <a:bodyPr>
            <a:normAutofit fontScale="85000" lnSpcReduction="20000"/>
          </a:bodyPr>
          <a:lstStyle/>
          <a:p>
            <a:r>
              <a:rPr lang="en-CA" dirty="0" smtClean="0"/>
              <a:t>Mentorship Medal</a:t>
            </a:r>
          </a:p>
          <a:p>
            <a:pPr lvl="1"/>
            <a:r>
              <a:rPr lang="en-CA" dirty="0" smtClean="0"/>
              <a:t>Otto van </a:t>
            </a:r>
            <a:r>
              <a:rPr lang="en-CA" dirty="0" err="1" smtClean="0"/>
              <a:t>Breemen</a:t>
            </a:r>
            <a:r>
              <a:rPr lang="en-CA" dirty="0" smtClean="0"/>
              <a:t>, 4</a:t>
            </a:r>
            <a:r>
              <a:rPr lang="en-CA" baseline="30000" dirty="0" smtClean="0"/>
              <a:t>th</a:t>
            </a:r>
            <a:r>
              <a:rPr lang="en-CA" dirty="0" smtClean="0"/>
              <a:t> mentorship medal</a:t>
            </a:r>
          </a:p>
          <a:p>
            <a:pPr lvl="1"/>
            <a:r>
              <a:rPr lang="en-CA" dirty="0" smtClean="0"/>
              <a:t>Nominate someone! </a:t>
            </a:r>
            <a:r>
              <a:rPr lang="en-CA" sz="2100" dirty="0" smtClean="0">
                <a:hlinkClick r:id="rId2"/>
              </a:rPr>
              <a:t>www.geoscience.ca/awards</a:t>
            </a:r>
            <a:r>
              <a:rPr lang="en-CA" sz="2100" dirty="0" smtClean="0"/>
              <a:t> </a:t>
            </a:r>
          </a:p>
          <a:p>
            <a:endParaRPr lang="en-CA" dirty="0" smtClean="0"/>
          </a:p>
          <a:p>
            <a:r>
              <a:rPr lang="en-CA" dirty="0" smtClean="0"/>
              <a:t>Outreach: </a:t>
            </a:r>
          </a:p>
          <a:p>
            <a:pPr lvl="1"/>
            <a:r>
              <a:rPr lang="en-CA" dirty="0" smtClean="0"/>
              <a:t>Careers website: videos uploaded</a:t>
            </a:r>
          </a:p>
          <a:p>
            <a:pPr lvl="1"/>
            <a:r>
              <a:rPr lang="en-CA" dirty="0" smtClean="0"/>
              <a:t>“Four Billion Years and Counting”: nearing completion</a:t>
            </a:r>
          </a:p>
          <a:p>
            <a:endParaRPr lang="en-CA" dirty="0" smtClean="0"/>
          </a:p>
          <a:p>
            <a:r>
              <a:rPr lang="en-CA" dirty="0" err="1" smtClean="0"/>
              <a:t>Geoparks</a:t>
            </a:r>
            <a:endParaRPr lang="en-CA" dirty="0" smtClean="0"/>
          </a:p>
          <a:p>
            <a:pPr lvl="1"/>
            <a:r>
              <a:rPr lang="en-CA" dirty="0" smtClean="0"/>
              <a:t>Committee continues to work with 5 communities that have expressed interest. Long, involved process, requires local funding, community support. Economic drivers crucial</a:t>
            </a:r>
          </a:p>
          <a:p>
            <a:endParaRPr lang="en-CA" dirty="0"/>
          </a:p>
        </p:txBody>
      </p:sp>
      <p:pic>
        <p:nvPicPr>
          <p:cNvPr id="4" name="Picture 3" descr="mentorship medal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934200" y="990600"/>
            <a:ext cx="2133600" cy="1600200"/>
          </a:xfrm>
          <a:prstGeom prst="rect">
            <a:avLst/>
          </a:prstGeom>
        </p:spPr>
      </p:pic>
      <p:pic>
        <p:nvPicPr>
          <p:cNvPr id="5" name="Picture 4" descr="CFES logo horizontal colour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6163056"/>
            <a:ext cx="2916936" cy="694944"/>
          </a:xfrm>
          <a:prstGeom prst="rect">
            <a:avLst/>
          </a:prstGeom>
        </p:spPr>
      </p:pic>
      <p:pic>
        <p:nvPicPr>
          <p:cNvPr id="6" name="Picture 5" descr="CFES logo horizontal colour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227064" y="6163056"/>
            <a:ext cx="2916936" cy="6949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CA" dirty="0" smtClean="0"/>
              <a:t>National and International linkages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1437"/>
            <a:ext cx="8229600" cy="4525963"/>
          </a:xfrm>
        </p:spPr>
        <p:txBody>
          <a:bodyPr>
            <a:normAutofit fontScale="92500" lnSpcReduction="10000"/>
          </a:bodyPr>
          <a:lstStyle/>
          <a:p>
            <a:r>
              <a:rPr lang="en-CA" dirty="0" smtClean="0"/>
              <a:t>AGI</a:t>
            </a:r>
          </a:p>
          <a:p>
            <a:pPr lvl="1"/>
            <a:r>
              <a:rPr lang="en-CA" dirty="0" smtClean="0"/>
              <a:t>CFES became AGI International Associate</a:t>
            </a:r>
          </a:p>
          <a:p>
            <a:pPr lvl="1"/>
            <a:r>
              <a:rPr lang="en-CA" dirty="0" smtClean="0"/>
              <a:t>Presence at AGI Council meeting through CFES-AGI Liaison: Brian Pratt (U </a:t>
            </a:r>
            <a:r>
              <a:rPr lang="en-CA" dirty="0" err="1" smtClean="0"/>
              <a:t>Sask</a:t>
            </a:r>
            <a:r>
              <a:rPr lang="en-CA" dirty="0" smtClean="0"/>
              <a:t>) and John Hogg (MGM Energy, Calgary)</a:t>
            </a:r>
          </a:p>
          <a:p>
            <a:r>
              <a:rPr lang="en-CA" dirty="0" smtClean="0"/>
              <a:t>PAGSE</a:t>
            </a:r>
          </a:p>
          <a:p>
            <a:pPr lvl="1"/>
            <a:r>
              <a:rPr lang="en-CA" dirty="0" smtClean="0"/>
              <a:t>New representative: Chris Burn (Carleton, Geography)</a:t>
            </a:r>
          </a:p>
          <a:p>
            <a:r>
              <a:rPr lang="en-CA" dirty="0" smtClean="0"/>
              <a:t>SMCC</a:t>
            </a:r>
          </a:p>
          <a:p>
            <a:pPr lvl="1"/>
            <a:r>
              <a:rPr lang="en-CA" dirty="0" smtClean="0"/>
              <a:t>Continue to provide feedback for journalists seeking </a:t>
            </a:r>
            <a:r>
              <a:rPr lang="en-CA" dirty="0" err="1" smtClean="0"/>
              <a:t>geoscience</a:t>
            </a:r>
            <a:r>
              <a:rPr lang="en-CA" dirty="0" smtClean="0"/>
              <a:t> experts: building roster at SMCC</a:t>
            </a:r>
          </a:p>
          <a:p>
            <a:endParaRPr lang="en-CA" dirty="0"/>
          </a:p>
        </p:txBody>
      </p:sp>
      <p:pic>
        <p:nvPicPr>
          <p:cNvPr id="5" name="Picture 4" descr="CFES logo horizontal colour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163056"/>
            <a:ext cx="2916936" cy="694944"/>
          </a:xfrm>
          <a:prstGeom prst="rect">
            <a:avLst/>
          </a:prstGeom>
        </p:spPr>
      </p:pic>
      <p:pic>
        <p:nvPicPr>
          <p:cNvPr id="6" name="Picture 5" descr="CFES logo horizontal colour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227064" y="6163056"/>
            <a:ext cx="2916936" cy="6949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304800" y="76200"/>
            <a:ext cx="8534400" cy="2667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b="1" dirty="0" smtClean="0"/>
              <a:t>The View from Canada: </a:t>
            </a:r>
            <a:br>
              <a:rPr lang="en-US" b="1" dirty="0" smtClean="0"/>
            </a:br>
            <a:r>
              <a:rPr lang="en-US" b="1" dirty="0" smtClean="0"/>
              <a:t>Graduation, Retention, and Job Market Needs in the Earth Sciences</a:t>
            </a:r>
            <a:r>
              <a:rPr lang="en-US" i="1" dirty="0" smtClean="0"/>
              <a:t/>
            </a:r>
            <a:br>
              <a:rPr lang="en-US" i="1" dirty="0" smtClean="0"/>
            </a:br>
            <a:r>
              <a:rPr lang="en-US" i="1" dirty="0" smtClean="0"/>
              <a:t>AGI-CFES joint session at AGU, 2011</a:t>
            </a:r>
            <a:br>
              <a:rPr lang="en-US" i="1" dirty="0" smtClean="0"/>
            </a:br>
            <a:endParaRPr lang="en-US" sz="3600" i="1" dirty="0" smtClean="0">
              <a:solidFill>
                <a:srgbClr val="FFFF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3200400"/>
            <a:ext cx="8686800" cy="2514600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dirty="0" smtClean="0">
                <a:solidFill>
                  <a:schemeClr val="tx1"/>
                </a:solidFill>
              </a:rPr>
              <a:t>Rob </a:t>
            </a:r>
            <a:r>
              <a:rPr lang="en-US" dirty="0" err="1" smtClean="0">
                <a:solidFill>
                  <a:schemeClr val="tx1"/>
                </a:solidFill>
              </a:rPr>
              <a:t>Raeside</a:t>
            </a:r>
            <a:r>
              <a:rPr lang="en-US" dirty="0" smtClean="0">
                <a:solidFill>
                  <a:schemeClr val="tx1"/>
                </a:solidFill>
              </a:rPr>
              <a:t>, </a:t>
            </a:r>
            <a:r>
              <a:rPr lang="en-US" dirty="0">
                <a:solidFill>
                  <a:schemeClr val="tx1"/>
                </a:solidFill>
              </a:rPr>
              <a:t>Elisabeth </a:t>
            </a:r>
            <a:r>
              <a:rPr lang="en-US" dirty="0" smtClean="0">
                <a:solidFill>
                  <a:schemeClr val="tx1"/>
                </a:solidFill>
              </a:rPr>
              <a:t>Kosters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 smtClean="0">
                <a:solidFill>
                  <a:schemeClr val="tx1"/>
                </a:solidFill>
              </a:rPr>
              <a:t>with help from 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 smtClean="0">
                <a:solidFill>
                  <a:schemeClr val="tx1"/>
                </a:solidFill>
              </a:rPr>
              <a:t>Dave Eaton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(AGU) and  Greg Dipple (4IPGC)</a:t>
            </a:r>
          </a:p>
        </p:txBody>
      </p:sp>
      <p:pic>
        <p:nvPicPr>
          <p:cNvPr id="2050" name="Picture 2" descr="http://cccesd.acadiau.ca/images/cccesd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448300"/>
            <a:ext cx="1466850" cy="1409700"/>
          </a:xfrm>
          <a:prstGeom prst="rect">
            <a:avLst/>
          </a:prstGeom>
          <a:noFill/>
        </p:spPr>
      </p:pic>
      <p:pic>
        <p:nvPicPr>
          <p:cNvPr id="2052" name="Picture 4" descr="http://cccesd.acadiau.ca/images/cddgc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77150" y="5448300"/>
            <a:ext cx="1466850" cy="1409700"/>
          </a:xfrm>
          <a:prstGeom prst="rect">
            <a:avLst/>
          </a:prstGeom>
          <a:noFill/>
        </p:spPr>
      </p:pic>
      <p:pic>
        <p:nvPicPr>
          <p:cNvPr id="8" name="Picture 7" descr="CFES logo horizontal colour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950464" y="6163056"/>
            <a:ext cx="2916936" cy="6949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2743200"/>
            <a:ext cx="7620000" cy="2554545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000" b="1" i="1" dirty="0" smtClean="0">
                <a:solidFill>
                  <a:srgbClr val="FFFF00"/>
                </a:solidFill>
              </a:rPr>
              <a:t>immediate reason for session: </a:t>
            </a:r>
            <a:r>
              <a:rPr lang="en-CA" sz="4000" b="1" i="1" dirty="0" smtClean="0">
                <a:solidFill>
                  <a:srgbClr val="FFFF00"/>
                </a:solidFill>
              </a:rPr>
              <a:t>Earth Science degree program </a:t>
            </a:r>
            <a:r>
              <a:rPr lang="en-US" sz="4000" b="1" i="1" dirty="0" smtClean="0">
                <a:solidFill>
                  <a:srgbClr val="FFFF00"/>
                </a:solidFill>
              </a:rPr>
              <a:t>retention rates in the US appear to be much lower than in Canada</a:t>
            </a:r>
            <a:endParaRPr lang="en-CA" sz="4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b="1" dirty="0" smtClean="0"/>
              <a:t>Conclusions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3600" i="1" dirty="0" smtClean="0"/>
              <a:t>Comparing the US and Canada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686800" cy="4525962"/>
          </a:xfrm>
        </p:spPr>
        <p:txBody>
          <a:bodyPr>
            <a:normAutofit fontScale="92500"/>
          </a:bodyPr>
          <a:lstStyle/>
          <a:p>
            <a:pPr eaLnBrk="1" hangingPunct="1"/>
            <a:r>
              <a:rPr lang="en-US" dirty="0" smtClean="0"/>
              <a:t>Similar: </a:t>
            </a:r>
          </a:p>
          <a:p>
            <a:pPr lvl="1" eaLnBrk="1" hangingPunct="1"/>
            <a:r>
              <a:rPr lang="en-US" dirty="0" smtClean="0"/>
              <a:t>Degree requirements</a:t>
            </a:r>
          </a:p>
          <a:p>
            <a:pPr lvl="1" eaLnBrk="1" hangingPunct="1"/>
            <a:r>
              <a:rPr lang="en-US" dirty="0" smtClean="0"/>
              <a:t>Gender balance</a:t>
            </a:r>
          </a:p>
          <a:p>
            <a:pPr eaLnBrk="1" hangingPunct="1"/>
            <a:r>
              <a:rPr lang="en-US" dirty="0" smtClean="0"/>
              <a:t>Different:</a:t>
            </a:r>
          </a:p>
          <a:p>
            <a:pPr lvl="1" eaLnBrk="1" hangingPunct="1"/>
            <a:r>
              <a:rPr lang="en-US" dirty="0" smtClean="0">
                <a:solidFill>
                  <a:srgbClr val="FFFF00"/>
                </a:solidFill>
              </a:rPr>
              <a:t>course-based field training vs. summer field camp</a:t>
            </a:r>
          </a:p>
          <a:p>
            <a:pPr lvl="1" eaLnBrk="1" hangingPunct="1"/>
            <a:r>
              <a:rPr lang="en-US" dirty="0" smtClean="0"/>
              <a:t>Job entry qualifications</a:t>
            </a:r>
          </a:p>
          <a:p>
            <a:pPr lvl="1" eaLnBrk="1" hangingPunct="1"/>
            <a:r>
              <a:rPr lang="en-US" dirty="0" smtClean="0"/>
              <a:t>Retention rates</a:t>
            </a:r>
          </a:p>
          <a:p>
            <a:pPr eaLnBrk="1" hangingPunct="1"/>
            <a:r>
              <a:rPr lang="en-US" dirty="0" smtClean="0"/>
              <a:t>Anticipated shortages in Canada will cause economic havoc without recruitment of new Canadians</a:t>
            </a:r>
          </a:p>
        </p:txBody>
      </p:sp>
      <p:pic>
        <p:nvPicPr>
          <p:cNvPr id="6" name="Picture 2" descr="http://cccesd.acadiau.ca/images/cccesd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448300"/>
            <a:ext cx="1466850" cy="1409700"/>
          </a:xfrm>
          <a:prstGeom prst="rect">
            <a:avLst/>
          </a:prstGeom>
          <a:noFill/>
        </p:spPr>
      </p:pic>
      <p:pic>
        <p:nvPicPr>
          <p:cNvPr id="7" name="Picture 4" descr="http://cccesd.acadiau.ca/images/cddgc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77150" y="5448300"/>
            <a:ext cx="1466850" cy="1409700"/>
          </a:xfrm>
          <a:prstGeom prst="rect">
            <a:avLst/>
          </a:prstGeom>
          <a:noFill/>
        </p:spPr>
      </p:pic>
      <p:pic>
        <p:nvPicPr>
          <p:cNvPr id="8" name="Picture 7" descr="CFES logo horizontal colour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950464" y="6163056"/>
            <a:ext cx="2916936" cy="6949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1066800"/>
            <a:ext cx="8077200" cy="563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-2286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CA" dirty="0" smtClean="0"/>
              <a:t>Why recruitment of new Canadians?</a:t>
            </a:r>
            <a:endParaRPr lang="en-CA" dirty="0"/>
          </a:p>
        </p:txBody>
      </p:sp>
      <p:sp>
        <p:nvSpPr>
          <p:cNvPr id="6" name="TextBox 5"/>
          <p:cNvSpPr txBox="1"/>
          <p:nvPr/>
        </p:nvSpPr>
        <p:spPr>
          <a:xfrm>
            <a:off x="1295400" y="3505200"/>
            <a:ext cx="2133600" cy="3810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b="1" dirty="0" smtClean="0">
                <a:solidFill>
                  <a:srgbClr val="FFFF00"/>
                </a:solidFill>
              </a:rPr>
              <a:t>Retention &gt;85%</a:t>
            </a:r>
            <a:endParaRPr lang="en-CA" b="1" dirty="0">
              <a:solidFill>
                <a:srgbClr val="FFFF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248400" y="4114800"/>
            <a:ext cx="2620461" cy="369332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none" rtlCol="0">
            <a:spAutoFit/>
          </a:bodyPr>
          <a:lstStyle/>
          <a:p>
            <a:r>
              <a:rPr lang="en-CA" b="1" dirty="0" smtClean="0">
                <a:solidFill>
                  <a:srgbClr val="FFFF00"/>
                </a:solidFill>
              </a:rPr>
              <a:t>Girl gain and/or boy loss?</a:t>
            </a:r>
            <a:endParaRPr lang="en-CA" b="1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gure 6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81584" y="1627632"/>
            <a:ext cx="8180832" cy="4468368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Students on visa, CCCESD participating departments</a:t>
            </a:r>
            <a:endParaRPr lang="en-C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CA" dirty="0" smtClean="0"/>
              <a:t>CFES industry survey ‘07-’08</a:t>
            </a:r>
            <a:endParaRPr lang="en-CA" dirty="0"/>
          </a:p>
        </p:txBody>
      </p:sp>
      <p:pic>
        <p:nvPicPr>
          <p:cNvPr id="4" name="Content Placeholder 3" descr="Figure 7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42000" y="914400"/>
            <a:ext cx="8244800" cy="5734591"/>
          </a:xfrm>
        </p:spPr>
      </p:pic>
      <p:sp>
        <p:nvSpPr>
          <p:cNvPr id="5" name="TextBox 4"/>
          <p:cNvSpPr txBox="1"/>
          <p:nvPr/>
        </p:nvSpPr>
        <p:spPr>
          <a:xfrm>
            <a:off x="838200" y="1524000"/>
            <a:ext cx="2087495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CA" sz="2000" b="1" dirty="0" smtClean="0"/>
              <a:t>% temporary staff</a:t>
            </a:r>
            <a:endParaRPr lang="en-CA" sz="20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3124201" y="1524000"/>
            <a:ext cx="36576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CA" b="1" dirty="0" smtClean="0"/>
              <a:t>% expected change in personnel in 5 years</a:t>
            </a:r>
            <a:endParaRPr lang="en-CA" b="1" dirty="0"/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1371600" y="1981200"/>
            <a:ext cx="304800" cy="28194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>
            <a:off x="3352800" y="2133600"/>
            <a:ext cx="76200" cy="3048000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66800" y="6019800"/>
            <a:ext cx="112909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CA" b="1" dirty="0" smtClean="0"/>
              <a:t>Academia</a:t>
            </a:r>
            <a:endParaRPr lang="en-CA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2590800" y="6019800"/>
            <a:ext cx="127150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CA" b="1" dirty="0" smtClean="0"/>
              <a:t>Oil and Gas</a:t>
            </a:r>
            <a:endParaRPr lang="en-CA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4241021" y="6031468"/>
            <a:ext cx="940579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CA" b="1" dirty="0" smtClean="0"/>
              <a:t> </a:t>
            </a:r>
            <a:r>
              <a:rPr lang="en-CA" b="1" dirty="0" err="1" smtClean="0"/>
              <a:t>Gov</a:t>
            </a:r>
            <a:r>
              <a:rPr lang="en-CA" b="1" dirty="0" err="1" smtClean="0">
                <a:latin typeface="Arial"/>
                <a:cs typeface="Arial"/>
              </a:rPr>
              <a:t>ʹt</a:t>
            </a:r>
            <a:r>
              <a:rPr lang="en-CA" b="1" dirty="0" smtClean="0">
                <a:latin typeface="Arial"/>
                <a:cs typeface="Arial"/>
              </a:rPr>
              <a:t>   </a:t>
            </a:r>
            <a:endParaRPr lang="en-CA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5456448" y="6031468"/>
            <a:ext cx="155395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CA" b="1" dirty="0" smtClean="0"/>
              <a:t> </a:t>
            </a:r>
            <a:r>
              <a:rPr lang="en-CA" b="1" dirty="0" err="1" smtClean="0"/>
              <a:t>Env</a:t>
            </a:r>
            <a:r>
              <a:rPr lang="en-CA" b="1" dirty="0" smtClean="0"/>
              <a:t> - </a:t>
            </a:r>
            <a:r>
              <a:rPr lang="en-CA" b="1" dirty="0" err="1" smtClean="0"/>
              <a:t>Geotech</a:t>
            </a:r>
            <a:endParaRPr lang="en-CA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7162800" y="6019800"/>
            <a:ext cx="123117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CA" b="1" dirty="0" smtClean="0"/>
              <a:t> Minerals   </a:t>
            </a:r>
            <a:endParaRPr lang="en-CA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7162800" y="6324600"/>
            <a:ext cx="1544012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CA" dirty="0" smtClean="0"/>
              <a:t>7% aboriginals</a:t>
            </a:r>
            <a:endParaRPr lang="en-CA" dirty="0"/>
          </a:p>
        </p:txBody>
      </p:sp>
      <p:sp>
        <p:nvSpPr>
          <p:cNvPr id="20" name="TextBox 19"/>
          <p:cNvSpPr txBox="1"/>
          <p:nvPr/>
        </p:nvSpPr>
        <p:spPr>
          <a:xfrm>
            <a:off x="1219200" y="2514600"/>
            <a:ext cx="4548711" cy="646331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CA" dirty="0" smtClean="0"/>
              <a:t>New Canadians occupy 20% of Canadian workforce, but only 7% of mining workforce</a:t>
            </a:r>
            <a:endParaRPr lang="en-CA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igure 8.jpg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82266" y="762000"/>
            <a:ext cx="8052133" cy="5569392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-228600"/>
            <a:ext cx="8229600" cy="1143000"/>
          </a:xfrm>
        </p:spPr>
        <p:txBody>
          <a:bodyPr/>
          <a:lstStyle/>
          <a:p>
            <a:r>
              <a:rPr lang="en-CA" dirty="0" smtClean="0"/>
              <a:t>Gen X, Y, Z – the future</a:t>
            </a:r>
            <a:endParaRPr lang="en-CA" dirty="0"/>
          </a:p>
        </p:txBody>
      </p:sp>
      <p:sp>
        <p:nvSpPr>
          <p:cNvPr id="5" name="TextBox 4"/>
          <p:cNvSpPr txBox="1"/>
          <p:nvPr/>
        </p:nvSpPr>
        <p:spPr>
          <a:xfrm>
            <a:off x="6096000" y="6324600"/>
            <a:ext cx="1726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err="1" smtClean="0"/>
              <a:t>McCrindle</a:t>
            </a:r>
            <a:r>
              <a:rPr lang="en-CA" dirty="0" smtClean="0"/>
              <a:t>, 2009</a:t>
            </a:r>
            <a:endParaRPr lang="en-CA" dirty="0"/>
          </a:p>
        </p:txBody>
      </p:sp>
      <p:sp>
        <p:nvSpPr>
          <p:cNvPr id="6" name="TextBox 5"/>
          <p:cNvSpPr txBox="1"/>
          <p:nvPr/>
        </p:nvSpPr>
        <p:spPr>
          <a:xfrm>
            <a:off x="8286073" y="2362200"/>
            <a:ext cx="857927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CA" dirty="0" smtClean="0"/>
              <a:t>`61-`79</a:t>
            </a:r>
            <a:endParaRPr lang="en-CA" dirty="0"/>
          </a:p>
        </p:txBody>
      </p:sp>
      <p:sp>
        <p:nvSpPr>
          <p:cNvPr id="7" name="TextBox 6"/>
          <p:cNvSpPr txBox="1"/>
          <p:nvPr/>
        </p:nvSpPr>
        <p:spPr>
          <a:xfrm>
            <a:off x="8286073" y="3516868"/>
            <a:ext cx="857927" cy="369332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CA" dirty="0" smtClean="0"/>
              <a:t>`80-`95</a:t>
            </a:r>
            <a:endParaRPr lang="en-CA" dirty="0"/>
          </a:p>
        </p:txBody>
      </p:sp>
      <p:sp>
        <p:nvSpPr>
          <p:cNvPr id="8" name="TextBox 7"/>
          <p:cNvSpPr txBox="1"/>
          <p:nvPr/>
        </p:nvSpPr>
        <p:spPr>
          <a:xfrm>
            <a:off x="8286073" y="4278868"/>
            <a:ext cx="856325" cy="36933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CA" dirty="0" smtClean="0">
                <a:solidFill>
                  <a:schemeClr val="bg1"/>
                </a:solidFill>
              </a:rPr>
              <a:t>`95-</a:t>
            </a:r>
            <a:r>
              <a:rPr lang="en-CA" dirty="0" smtClean="0">
                <a:solidFill>
                  <a:schemeClr val="bg1"/>
                </a:solidFill>
                <a:latin typeface="Arial"/>
                <a:cs typeface="Arial"/>
              </a:rPr>
              <a:t>ʹ10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86073" y="1295400"/>
            <a:ext cx="857927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CA" dirty="0" smtClean="0"/>
              <a:t>`46-`61</a:t>
            </a:r>
            <a:endParaRPr lang="en-CA" dirty="0"/>
          </a:p>
        </p:txBody>
      </p:sp>
      <p:sp>
        <p:nvSpPr>
          <p:cNvPr id="10" name="TextBox 9"/>
          <p:cNvSpPr txBox="1"/>
          <p:nvPr/>
        </p:nvSpPr>
        <p:spPr>
          <a:xfrm>
            <a:off x="8513699" y="304800"/>
            <a:ext cx="636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 smtClean="0">
                <a:solidFill>
                  <a:schemeClr val="bg1"/>
                </a:solidFill>
              </a:rPr>
              <a:t>born</a:t>
            </a:r>
            <a:endParaRPr lang="en-CA" b="1" dirty="0">
              <a:solidFill>
                <a:schemeClr val="bg1"/>
              </a:solidFill>
            </a:endParaRPr>
          </a:p>
        </p:txBody>
      </p:sp>
      <p:sp>
        <p:nvSpPr>
          <p:cNvPr id="11" name="Down Arrow 10"/>
          <p:cNvSpPr/>
          <p:nvPr/>
        </p:nvSpPr>
        <p:spPr>
          <a:xfrm>
            <a:off x="8686800" y="762000"/>
            <a:ext cx="228600" cy="457200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Rectangle 11"/>
          <p:cNvSpPr/>
          <p:nvPr/>
        </p:nvSpPr>
        <p:spPr>
          <a:xfrm>
            <a:off x="5638800" y="762000"/>
            <a:ext cx="762000" cy="51054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763000" cy="1143000"/>
          </a:xfrm>
        </p:spPr>
        <p:txBody>
          <a:bodyPr>
            <a:normAutofit/>
          </a:bodyPr>
          <a:lstStyle/>
          <a:p>
            <a:r>
              <a:rPr lang="en-CA" sz="3600" dirty="0" smtClean="0"/>
              <a:t>projected increase in Canadian population</a:t>
            </a:r>
            <a:endParaRPr lang="en-CA" sz="3600" dirty="0"/>
          </a:p>
        </p:txBody>
      </p:sp>
      <p:pic>
        <p:nvPicPr>
          <p:cNvPr id="4" name="Content Placeholder 3" descr="Figure 9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68210" y="1143000"/>
            <a:ext cx="8670989" cy="5355993"/>
          </a:xfrm>
        </p:spPr>
      </p:pic>
      <p:sp>
        <p:nvSpPr>
          <p:cNvPr id="5" name="TextBox 4"/>
          <p:cNvSpPr txBox="1"/>
          <p:nvPr/>
        </p:nvSpPr>
        <p:spPr>
          <a:xfrm>
            <a:off x="6101696" y="6477000"/>
            <a:ext cx="2280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smtClean="0"/>
              <a:t>Statistics Canada 2006</a:t>
            </a:r>
            <a:endParaRPr lang="en-C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Recommendation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smtClean="0"/>
              <a:t>The Canadian </a:t>
            </a:r>
            <a:r>
              <a:rPr lang="en-CA" dirty="0" err="1" smtClean="0"/>
              <a:t>geoscience</a:t>
            </a:r>
            <a:r>
              <a:rPr lang="en-CA" dirty="0" smtClean="0"/>
              <a:t> community should embark on developing a nationally coordinated strategy to increase recruitment from non-traditional talent pools into earth sciences</a:t>
            </a:r>
          </a:p>
          <a:p>
            <a:endParaRPr lang="en-CA" dirty="0" smtClean="0"/>
          </a:p>
          <a:p>
            <a:endParaRPr lang="en-CA" dirty="0" smtClean="0"/>
          </a:p>
          <a:p>
            <a:endParaRPr lang="en-C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701</TotalTime>
  <Words>499</Words>
  <Application>Microsoft Office PowerPoint</Application>
  <PresentationFormat>On-screen Show (4:3)</PresentationFormat>
  <Paragraphs>83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Highlights ‘11-’12</vt:lpstr>
      <vt:lpstr>IGC2020 Bid</vt:lpstr>
      <vt:lpstr>Slide 3</vt:lpstr>
      <vt:lpstr>For Canadian geoscientists &amp; the public</vt:lpstr>
      <vt:lpstr>National and International linkages</vt:lpstr>
      <vt:lpstr>The View from Canada:  Graduation, Retention, and Job Market Needs in the Earth Sciences AGI-CFES joint session at AGU, 2011 </vt:lpstr>
      <vt:lpstr>Conclusions Comparing the US and Canada</vt:lpstr>
      <vt:lpstr>Why recruitment of new Canadians?</vt:lpstr>
      <vt:lpstr>Students on visa, CCCESD participating departments</vt:lpstr>
      <vt:lpstr>CFES industry survey ‘07-’08</vt:lpstr>
      <vt:lpstr>Gen X, Y, Z – the future</vt:lpstr>
      <vt:lpstr>projected increase in Canadian population</vt:lpstr>
      <vt:lpstr>Recommendation</vt:lpstr>
    </vt:vector>
  </TitlesOfParts>
  <Company>TOSHIBA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Achievements &amp; Highlights ‘11-’12</dc:title>
  <dc:creator>kosters</dc:creator>
  <cp:lastModifiedBy>eckosters</cp:lastModifiedBy>
  <cp:revision>31</cp:revision>
  <dcterms:created xsi:type="dcterms:W3CDTF">2012-10-22T13:20:39Z</dcterms:created>
  <dcterms:modified xsi:type="dcterms:W3CDTF">2012-10-25T11:26:17Z</dcterms:modified>
</cp:coreProperties>
</file>