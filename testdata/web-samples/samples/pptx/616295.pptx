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3" r:id="rId2"/>
    <p:sldId id="262" r:id="rId3"/>
    <p:sldId id="257" r:id="rId4"/>
    <p:sldId id="256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31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C2E882-3713-4186-BAD1-EBA3FBBFD236}" type="datetimeFigureOut">
              <a:rPr lang="en-US" smtClean="0"/>
              <a:pPr/>
              <a:t>11/27/2007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F2FB75-D112-4B79-9EE1-54A3979D158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BAAA6-1F24-4CA7-9792-2424F0524CC7}" type="datetime1">
              <a:rPr lang="en-US" smtClean="0"/>
              <a:pPr/>
              <a:t>11/27/2007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498DB-8741-43D0-A249-2B14C09E8E68}" type="datetime1">
              <a:rPr lang="en-US" smtClean="0"/>
              <a:pPr/>
              <a:t>11/27/2007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73AE-CE8C-41EC-9225-AA6E4DB0D843}" type="datetime1">
              <a:rPr lang="en-US" smtClean="0"/>
              <a:pPr/>
              <a:t>11/27/2007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751E0-1831-4B68-8F70-53FF9EA2EDB1}" type="datetime1">
              <a:rPr lang="en-US" smtClean="0"/>
              <a:pPr/>
              <a:t>11/27/2007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2FF1C-791E-4B3E-B19B-5C668C944D9F}" type="datetime1">
              <a:rPr lang="en-US" smtClean="0"/>
              <a:pPr/>
              <a:t>11/27/2007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5A2A4-AA9E-46E0-96FC-C1943EE66419}" type="datetime1">
              <a:rPr lang="en-US" smtClean="0"/>
              <a:pPr/>
              <a:t>11/27/2007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A89F6-EFD1-450A-8E54-1C4366593FF0}" type="datetime1">
              <a:rPr lang="en-US" smtClean="0"/>
              <a:pPr/>
              <a:t>11/27/2007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E6667-0D70-4E4D-9A66-F795B9332276}" type="datetime1">
              <a:rPr lang="en-US" smtClean="0"/>
              <a:pPr/>
              <a:t>11/27/2007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F9677-CCDD-440F-A8EB-C2BE0A6DACB9}" type="datetime1">
              <a:rPr lang="en-US" smtClean="0"/>
              <a:pPr/>
              <a:t>11/27/2007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10B2-FAFA-4A09-BC07-20B2955F1D9A}" type="datetime1">
              <a:rPr lang="en-US" smtClean="0"/>
              <a:pPr/>
              <a:t>11/27/2007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6FA6C-8C71-4308-A591-A67E0BF202AA}" type="datetime1">
              <a:rPr lang="en-US" smtClean="0"/>
              <a:pPr/>
              <a:t>11/27/2007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1CD026-B1CC-4D59-BD9F-3303F850A98F}" type="datetime1">
              <a:rPr lang="en-US" smtClean="0"/>
              <a:pPr/>
              <a:t>11/27/2007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0"/>
            <a:ext cx="7772400" cy="9906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Comic Sans MS" pitchFamily="66" charset="0"/>
              </a:rPr>
              <a:t>PHENIX Almost Ready for Physics</a:t>
            </a:r>
            <a:endParaRPr lang="en-US" sz="3600" dirty="0">
              <a:latin typeface="Comic Sans MS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447800"/>
            <a:ext cx="7924800" cy="4572000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  <a:latin typeface="Comic Sans MS" pitchFamily="66" charset="0"/>
              </a:rPr>
              <a:t> Tuning (mainly south </a:t>
            </a:r>
            <a:r>
              <a:rPr lang="en-US" sz="2400" dirty="0" err="1" smtClean="0">
                <a:solidFill>
                  <a:srgbClr val="FF0000"/>
                </a:solidFill>
                <a:latin typeface="Comic Sans MS" pitchFamily="66" charset="0"/>
              </a:rPr>
              <a:t>muon</a:t>
            </a:r>
            <a:r>
              <a:rPr lang="en-US" sz="2400" dirty="0" smtClean="0">
                <a:solidFill>
                  <a:srgbClr val="FF0000"/>
                </a:solidFill>
                <a:latin typeface="Comic Sans MS" pitchFamily="66" charset="0"/>
              </a:rPr>
              <a:t>) triggers</a:t>
            </a:r>
          </a:p>
          <a:p>
            <a:pPr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accent1"/>
                </a:solidFill>
                <a:latin typeface="Comic Sans MS" pitchFamily="66" charset="0"/>
              </a:rPr>
              <a:t> DAQ routinely at ~6 </a:t>
            </a:r>
            <a:r>
              <a:rPr lang="en-US" sz="2400" dirty="0" err="1" smtClean="0">
                <a:solidFill>
                  <a:schemeClr val="accent1"/>
                </a:solidFill>
                <a:latin typeface="Comic Sans MS" pitchFamily="66" charset="0"/>
              </a:rPr>
              <a:t>khz</a:t>
            </a:r>
            <a:r>
              <a:rPr lang="en-US" sz="2400" dirty="0" smtClean="0">
                <a:solidFill>
                  <a:schemeClr val="accent1"/>
                </a:solidFill>
                <a:latin typeface="Comic Sans MS" pitchFamily="66" charset="0"/>
              </a:rPr>
              <a:t> event rate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accent1"/>
                </a:solidFill>
                <a:latin typeface="Comic Sans MS" pitchFamily="66" charset="0"/>
              </a:rPr>
              <a:t> can get to 7+ </a:t>
            </a:r>
            <a:r>
              <a:rPr lang="en-US" sz="2400" dirty="0" err="1" smtClean="0">
                <a:solidFill>
                  <a:schemeClr val="accent1"/>
                </a:solidFill>
                <a:latin typeface="Comic Sans MS" pitchFamily="66" charset="0"/>
              </a:rPr>
              <a:t>khz</a:t>
            </a:r>
            <a:r>
              <a:rPr lang="en-US" sz="2400" dirty="0" smtClean="0">
                <a:solidFill>
                  <a:schemeClr val="accent1"/>
                </a:solidFill>
                <a:latin typeface="Comic Sans MS" pitchFamily="66" charset="0"/>
              </a:rPr>
              <a:t> soon</a:t>
            </a:r>
          </a:p>
          <a:p>
            <a:pPr algn="l"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  <a:latin typeface="Comic Sans MS" pitchFamily="66" charset="0"/>
              </a:rPr>
              <a:t> Level-2 “physics” filtering will be turned on in next few days</a:t>
            </a:r>
          </a:p>
          <a:p>
            <a:pPr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accent1"/>
                </a:solidFill>
                <a:latin typeface="Comic Sans MS" pitchFamily="66" charset="0"/>
              </a:rPr>
              <a:t> Final Run8 BBC trigger constants soon</a:t>
            </a:r>
          </a:p>
          <a:p>
            <a:pPr algn="l"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  <a:latin typeface="Comic Sans MS" pitchFamily="66" charset="0"/>
              </a:rPr>
              <a:t> Various minor things to fix on Wed Maintenance day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Comic Sans MS" pitchFamily="66" charset="0"/>
              </a:rPr>
              <a:t>FCal</a:t>
            </a:r>
            <a:r>
              <a:rPr lang="en-US" sz="2000" dirty="0" smtClean="0">
                <a:solidFill>
                  <a:srgbClr val="FF0000"/>
                </a:solidFill>
                <a:latin typeface="Comic Sans MS" pitchFamily="66" charset="0"/>
              </a:rPr>
              <a:t> South LED </a:t>
            </a:r>
            <a:r>
              <a:rPr lang="en-US" sz="2000" dirty="0" err="1" smtClean="0">
                <a:solidFill>
                  <a:srgbClr val="FF0000"/>
                </a:solidFill>
                <a:latin typeface="Comic Sans MS" pitchFamily="66" charset="0"/>
              </a:rPr>
              <a:t>pulser</a:t>
            </a:r>
            <a:r>
              <a:rPr lang="en-US" sz="2000" dirty="0" smtClean="0">
                <a:solidFill>
                  <a:srgbClr val="FF0000"/>
                </a:solidFill>
                <a:latin typeface="Comic Sans MS" pitchFamily="66" charset="0"/>
              </a:rPr>
              <a:t> (7-oclock tunnel)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  <a:latin typeface="Comic Sans MS" pitchFamily="66" charset="0"/>
              </a:rPr>
              <a:t> RICH FEE boards, PC-E LV supply, </a:t>
            </a:r>
            <a:r>
              <a:rPr lang="en-US" sz="2000" dirty="0" err="1" smtClean="0">
                <a:solidFill>
                  <a:srgbClr val="FF0000"/>
                </a:solidFill>
                <a:latin typeface="Comic Sans MS" pitchFamily="66" charset="0"/>
              </a:rPr>
              <a:t>AeroGel</a:t>
            </a:r>
            <a:r>
              <a:rPr lang="en-US" sz="2000" dirty="0" smtClean="0">
                <a:solidFill>
                  <a:srgbClr val="FF0000"/>
                </a:solidFill>
                <a:latin typeface="Comic Sans MS" pitchFamily="66" charset="0"/>
              </a:rPr>
              <a:t> LED, </a:t>
            </a:r>
            <a:r>
              <a:rPr lang="en-US" sz="2000" dirty="0" err="1" smtClean="0">
                <a:solidFill>
                  <a:srgbClr val="FF0000"/>
                </a:solidFill>
                <a:latin typeface="Comic Sans MS" pitchFamily="66" charset="0"/>
              </a:rPr>
              <a:t>MuID</a:t>
            </a:r>
            <a:r>
              <a:rPr lang="en-US" sz="2000" dirty="0" smtClean="0">
                <a:solidFill>
                  <a:srgbClr val="FF0000"/>
                </a:solidFill>
                <a:latin typeface="Comic Sans MS" pitchFamily="66" charset="0"/>
              </a:rPr>
              <a:t> LL1 fiber</a:t>
            </a:r>
          </a:p>
          <a:p>
            <a:pPr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accent1"/>
                </a:solidFill>
                <a:latin typeface="Comic Sans MS" pitchFamily="66" charset="0"/>
              </a:rPr>
              <a:t> Get HPSS transfers running</a:t>
            </a:r>
            <a:endParaRPr lang="en-US" sz="2400" dirty="0">
              <a:solidFill>
                <a:schemeClr val="accent1"/>
              </a:solidFill>
              <a:latin typeface="Comic Sans MS" pitchFamily="66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E0DE5-FD8F-4B19-B928-A6B6F9F6200C}" type="datetime1">
              <a:rPr lang="en-US" smtClean="0"/>
              <a:pPr/>
              <a:t>11/27/2007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762000"/>
            <a:ext cx="7848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Monday evening store had about 45 </a:t>
            </a:r>
            <a:r>
              <a:rPr lang="en-US" sz="2400" dirty="0" err="1" smtClean="0">
                <a:latin typeface="Comic Sans MS" pitchFamily="66" charset="0"/>
              </a:rPr>
              <a:t>khz</a:t>
            </a:r>
            <a:r>
              <a:rPr lang="en-US" sz="2400" dirty="0" smtClean="0">
                <a:latin typeface="Comic Sans MS" pitchFamily="66" charset="0"/>
              </a:rPr>
              <a:t> BBC rate in our vertex cut (±30cm) - just after rates stabilized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Comic Sans MS" pitchFamily="66" charset="0"/>
              </a:rPr>
              <a:t> L = 45khz/(2.26b x 0.88) = 23 mb</a:t>
            </a:r>
            <a:r>
              <a:rPr lang="en-US" sz="2400" baseline="30000" dirty="0" smtClean="0">
                <a:latin typeface="Comic Sans MS" pitchFamily="66" charset="0"/>
              </a:rPr>
              <a:t>-1</a:t>
            </a:r>
            <a:r>
              <a:rPr lang="en-US" sz="2400" dirty="0" smtClean="0">
                <a:latin typeface="Comic Sans MS" pitchFamily="66" charset="0"/>
              </a:rPr>
              <a:t>/sec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Comic Sans MS" pitchFamily="66" charset="0"/>
              </a:rPr>
              <a:t> PHENIX vertex efficiency about 50%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Comic Sans MS" pitchFamily="66" charset="0"/>
              </a:rPr>
              <a:t> so about 46 mb</a:t>
            </a:r>
            <a:r>
              <a:rPr lang="en-US" sz="2400" baseline="30000" dirty="0" smtClean="0">
                <a:latin typeface="Comic Sans MS" pitchFamily="66" charset="0"/>
              </a:rPr>
              <a:t>-1</a:t>
            </a:r>
            <a:r>
              <a:rPr lang="en-US" sz="2400" dirty="0" smtClean="0">
                <a:latin typeface="Comic Sans MS" pitchFamily="66" charset="0"/>
              </a:rPr>
              <a:t>/sec delivered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>
                <a:latin typeface="Comic Sans MS" pitchFamily="66" charset="0"/>
              </a:rPr>
              <a:t> compare to CA goal 46/300 = 1/6.5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1385" t="13577" r="8313" b="5819"/>
          <a:stretch>
            <a:fillRect/>
          </a:stretch>
        </p:blipFill>
        <p:spPr bwMode="auto">
          <a:xfrm>
            <a:off x="1752600" y="3021892"/>
            <a:ext cx="5298315" cy="337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 rot="16200000">
            <a:off x="604724" y="4272076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omic Sans MS" pitchFamily="66" charset="0"/>
              </a:rPr>
              <a:t>BBCLL1 (±30cm)</a:t>
            </a:r>
            <a:endParaRPr lang="en-US" dirty="0"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0" y="6248400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omic Sans MS" pitchFamily="66" charset="0"/>
              </a:rPr>
              <a:t>day</a:t>
            </a:r>
            <a:endParaRPr lang="en-US" dirty="0"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82932" y="101025"/>
            <a:ext cx="24272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Comic Sans MS" pitchFamily="66" charset="0"/>
              </a:rPr>
              <a:t>Luminosity?</a:t>
            </a:r>
            <a:endParaRPr lang="en-US" sz="3200" dirty="0">
              <a:latin typeface="Comic Sans MS" pitchFamily="66" charset="0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CEBD8-AF67-4852-9C8E-4B2A55D8AB37}" type="datetime1">
              <a:rPr lang="en-US" smtClean="0"/>
              <a:pPr/>
              <a:t>11/27/2007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Documents and Settings\leitch\My Documents\phenix\run8\time_meetings\27nov07\BbcMON_1_245624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t="5026" b="55288"/>
          <a:stretch>
            <a:fillRect/>
          </a:stretch>
        </p:blipFill>
        <p:spPr bwMode="auto">
          <a:xfrm>
            <a:off x="2819400" y="533400"/>
            <a:ext cx="5791200" cy="2751675"/>
          </a:xfrm>
          <a:prstGeom prst="rect">
            <a:avLst/>
          </a:prstGeom>
          <a:noFill/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 t="5026" b="55288"/>
          <a:stretch>
            <a:fillRect/>
          </a:stretch>
        </p:blipFill>
        <p:spPr bwMode="auto">
          <a:xfrm>
            <a:off x="2971800" y="3276600"/>
            <a:ext cx="5638800" cy="3365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219200" y="1752600"/>
            <a:ext cx="1505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Saturday</a:t>
            </a:r>
            <a:endParaRPr lang="en-US" sz="2400" dirty="0"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47800" y="4800600"/>
            <a:ext cx="1279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Monday</a:t>
            </a:r>
            <a:endParaRPr lang="en-US" sz="2400" dirty="0"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" y="152400"/>
            <a:ext cx="1446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Comic Sans MS" pitchFamily="66" charset="0"/>
              </a:rPr>
              <a:t>Timing</a:t>
            </a:r>
            <a:endParaRPr lang="en-US" sz="3200" dirty="0">
              <a:latin typeface="Comic Sans MS" pitchFamily="66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F5F1D-EF6A-4E66-A103-889539A014B6}" type="datetime1">
              <a:rPr lang="en-US" smtClean="0"/>
              <a:pPr/>
              <a:t>11/27/2007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04800" y="2667000"/>
            <a:ext cx="2133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  <a:latin typeface="Comic Sans MS" pitchFamily="66" charset="0"/>
              </a:rPr>
              <a:t>Some of this probably due to change in PHENIX trigger mix</a:t>
            </a:r>
            <a:endParaRPr lang="en-US" dirty="0">
              <a:solidFill>
                <a:schemeClr val="accent1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Documents and Settings\leitch\My Documents\phenix\run8\time_meetings\27nov07\BbcMON_3_245624.png"/>
          <p:cNvPicPr>
            <a:picLocks noChangeAspect="1" noChangeArrowheads="1"/>
          </p:cNvPicPr>
          <p:nvPr/>
        </p:nvPicPr>
        <p:blipFill>
          <a:blip r:embed="rId2"/>
          <a:srcRect t="5026" b="43979"/>
          <a:stretch>
            <a:fillRect/>
          </a:stretch>
        </p:blipFill>
        <p:spPr bwMode="auto">
          <a:xfrm>
            <a:off x="3657600" y="0"/>
            <a:ext cx="4224216" cy="3239615"/>
          </a:xfrm>
          <a:prstGeom prst="rect">
            <a:avLst/>
          </a:prstGeom>
          <a:noFill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/>
          <a:srcRect t="5026" b="43979"/>
          <a:stretch>
            <a:fillRect/>
          </a:stretch>
        </p:blipFill>
        <p:spPr bwMode="auto">
          <a:xfrm>
            <a:off x="3657600" y="3352800"/>
            <a:ext cx="4290355" cy="329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905000" y="1143000"/>
            <a:ext cx="1505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Saturday</a:t>
            </a:r>
            <a:endParaRPr lang="en-US" sz="2400" dirty="0"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33600" y="4419600"/>
            <a:ext cx="1279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Monday</a:t>
            </a:r>
            <a:endParaRPr lang="en-US" sz="2400" dirty="0"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" y="152400"/>
            <a:ext cx="15327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Comic Sans MS" pitchFamily="66" charset="0"/>
              </a:rPr>
              <a:t>Vertex</a:t>
            </a:r>
            <a:endParaRPr lang="en-US" sz="3200" dirty="0">
              <a:latin typeface="Comic Sans MS" pitchFamily="66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EA59-B85A-44FD-AC22-25966C8C5014}" type="datetime1">
              <a:rPr lang="en-US" smtClean="0"/>
              <a:pPr/>
              <a:t>11/27/2007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Documents and Settings\leitch\My Documents\phenix\run8\time_meetings\27nov07\backgrounds_sunday.gif"/>
          <p:cNvPicPr>
            <a:picLocks noChangeAspect="1" noChangeArrowheads="1"/>
          </p:cNvPicPr>
          <p:nvPr/>
        </p:nvPicPr>
        <p:blipFill>
          <a:blip r:embed="rId2"/>
          <a:srcRect l="938" t="8442" r="8438" b="8442"/>
          <a:stretch>
            <a:fillRect/>
          </a:stretch>
        </p:blipFill>
        <p:spPr bwMode="auto">
          <a:xfrm>
            <a:off x="4495800" y="152400"/>
            <a:ext cx="4343400" cy="3096400"/>
          </a:xfrm>
          <a:prstGeom prst="rect">
            <a:avLst/>
          </a:prstGeom>
          <a:noFill/>
        </p:spPr>
      </p:pic>
      <p:pic>
        <p:nvPicPr>
          <p:cNvPr id="1027" name="Picture 3" descr="C:\Documents and Settings\leitch\My Documents\phenix\run8\time_meetings\27nov07\background_vernier_sunday_zoom.gif"/>
          <p:cNvPicPr>
            <a:picLocks noChangeAspect="1" noChangeArrowheads="1"/>
          </p:cNvPicPr>
          <p:nvPr/>
        </p:nvPicPr>
        <p:blipFill>
          <a:blip r:embed="rId3"/>
          <a:srcRect l="938" t="8442" r="8438" b="7236"/>
          <a:stretch>
            <a:fillRect/>
          </a:stretch>
        </p:blipFill>
        <p:spPr bwMode="auto">
          <a:xfrm>
            <a:off x="4343400" y="3276600"/>
            <a:ext cx="4554261" cy="3293739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81000" y="304800"/>
            <a:ext cx="3733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omic Sans MS" pitchFamily="66" charset="0"/>
              </a:rPr>
              <a:t>PHENIX background </a:t>
            </a:r>
            <a:r>
              <a:rPr lang="en-US" sz="2800" dirty="0" err="1" smtClean="0">
                <a:latin typeface="Comic Sans MS" pitchFamily="66" charset="0"/>
              </a:rPr>
              <a:t>scintillator</a:t>
            </a:r>
            <a:r>
              <a:rPr lang="en-US" sz="2800" dirty="0" smtClean="0">
                <a:latin typeface="Comic Sans MS" pitchFamily="66" charset="0"/>
              </a:rPr>
              <a:t> rates mostly scale with interactions (ZDC in black, </a:t>
            </a:r>
            <a:r>
              <a:rPr lang="en-US" sz="2800" dirty="0" smtClean="0">
                <a:solidFill>
                  <a:srgbClr val="FF0000"/>
                </a:solidFill>
                <a:latin typeface="Comic Sans MS" pitchFamily="66" charset="0"/>
              </a:rPr>
              <a:t>red</a:t>
            </a:r>
            <a:r>
              <a:rPr lang="en-US" sz="2800" dirty="0" smtClean="0">
                <a:latin typeface="Comic Sans MS" pitchFamily="66" charset="0"/>
              </a:rPr>
              <a:t>/</a:t>
            </a:r>
            <a:r>
              <a:rPr lang="en-US" sz="2800" dirty="0" smtClean="0">
                <a:solidFill>
                  <a:srgbClr val="00B050"/>
                </a:solidFill>
                <a:latin typeface="Comic Sans MS" pitchFamily="66" charset="0"/>
              </a:rPr>
              <a:t>green</a:t>
            </a:r>
            <a:r>
              <a:rPr lang="en-US" sz="2800" dirty="0" smtClean="0">
                <a:latin typeface="Comic Sans MS" pitchFamily="66" charset="0"/>
              </a:rPr>
              <a:t> 9:00, </a:t>
            </a:r>
            <a:r>
              <a:rPr lang="en-US" sz="2800" dirty="0" smtClean="0">
                <a:solidFill>
                  <a:srgbClr val="0070C0"/>
                </a:solidFill>
                <a:latin typeface="Comic Sans MS" pitchFamily="66" charset="0"/>
              </a:rPr>
              <a:t>blue</a:t>
            </a:r>
            <a:r>
              <a:rPr lang="en-US" sz="2800" dirty="0" smtClean="0">
                <a:latin typeface="Comic Sans MS" pitchFamily="66" charset="0"/>
              </a:rPr>
              <a:t>/</a:t>
            </a:r>
            <a:r>
              <a:rPr lang="en-US" sz="2800" dirty="0" smtClean="0">
                <a:solidFill>
                  <a:schemeClr val="accent2">
                    <a:lumMod val="75000"/>
                  </a:schemeClr>
                </a:solidFill>
                <a:latin typeface="Comic Sans MS" pitchFamily="66" charset="0"/>
              </a:rPr>
              <a:t>pink</a:t>
            </a:r>
            <a:r>
              <a:rPr lang="en-US" sz="2800" dirty="0" smtClean="0">
                <a:latin typeface="Comic Sans MS" pitchFamily="66" charset="0"/>
              </a:rPr>
              <a:t> 7:00)</a:t>
            </a:r>
            <a:endParaRPr lang="en-US" sz="2800" dirty="0"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53200" y="3276600"/>
            <a:ext cx="266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latin typeface="Comic Sans MS" pitchFamily="66" charset="0"/>
              </a:rPr>
              <a:t>Vernier</a:t>
            </a:r>
            <a:r>
              <a:rPr lang="en-US" sz="2400" dirty="0" smtClean="0">
                <a:latin typeface="Comic Sans MS" pitchFamily="66" charset="0"/>
              </a:rPr>
              <a:t> scan Sunday morning</a:t>
            </a:r>
            <a:endParaRPr lang="en-US" sz="2400" dirty="0">
              <a:latin typeface="Comic Sans MS" pitchFamily="66" charset="0"/>
            </a:endParaRPr>
          </a:p>
        </p:txBody>
      </p:sp>
      <p:pic>
        <p:nvPicPr>
          <p:cNvPr id="2" name="Picture 2" descr="C:\Documents and Settings\leitch\My Documents\phenix\run8\time_meetings\27nov07\ch8_OFF_tofw-south-bot-11-04-2007-1704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" y="3200400"/>
            <a:ext cx="4077119" cy="3268879"/>
          </a:xfrm>
          <a:prstGeom prst="rect">
            <a:avLst/>
          </a:prstGeom>
          <a:noFill/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BB6AC-DB1F-49F8-8B4E-4577ED467784}" type="datetime1">
              <a:rPr lang="en-US" smtClean="0"/>
              <a:pPr/>
              <a:t>11/27/2007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216</Words>
  <Application>Microsoft Office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PHENIX Almost Ready for Physics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leitch</cp:lastModifiedBy>
  <cp:revision>33</cp:revision>
  <dcterms:created xsi:type="dcterms:W3CDTF">2006-08-16T00:00:00Z</dcterms:created>
  <dcterms:modified xsi:type="dcterms:W3CDTF">2007-11-27T16:39:39Z</dcterms:modified>
</cp:coreProperties>
</file>