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Default Extension="doc" ContentType="application/msword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emf" ContentType="image/x-emf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6" r:id="rId3"/>
    <p:sldMasterId id="2147483693" r:id="rId4"/>
  </p:sldMasterIdLst>
  <p:notesMasterIdLst>
    <p:notesMasterId r:id="rId54"/>
  </p:notesMasterIdLst>
  <p:sldIdLst>
    <p:sldId id="316" r:id="rId5"/>
    <p:sldId id="310" r:id="rId6"/>
    <p:sldId id="319" r:id="rId7"/>
    <p:sldId id="312" r:id="rId8"/>
    <p:sldId id="313" r:id="rId9"/>
    <p:sldId id="272" r:id="rId10"/>
    <p:sldId id="314" r:id="rId11"/>
    <p:sldId id="315" r:id="rId12"/>
    <p:sldId id="320" r:id="rId13"/>
    <p:sldId id="266" r:id="rId14"/>
    <p:sldId id="285" r:id="rId15"/>
    <p:sldId id="286" r:id="rId16"/>
    <p:sldId id="269" r:id="rId17"/>
    <p:sldId id="327" r:id="rId18"/>
    <p:sldId id="288" r:id="rId19"/>
    <p:sldId id="305" r:id="rId20"/>
    <p:sldId id="304" r:id="rId21"/>
    <p:sldId id="306" r:id="rId22"/>
    <p:sldId id="326" r:id="rId23"/>
    <p:sldId id="308" r:id="rId24"/>
    <p:sldId id="321" r:id="rId25"/>
    <p:sldId id="289" r:id="rId26"/>
    <p:sldId id="273" r:id="rId27"/>
    <p:sldId id="275" r:id="rId28"/>
    <p:sldId id="276" r:id="rId29"/>
    <p:sldId id="277" r:id="rId30"/>
    <p:sldId id="290" r:id="rId31"/>
    <p:sldId id="291" r:id="rId32"/>
    <p:sldId id="279" r:id="rId33"/>
    <p:sldId id="281" r:id="rId34"/>
    <p:sldId id="283" r:id="rId35"/>
    <p:sldId id="292" r:id="rId36"/>
    <p:sldId id="293" r:id="rId37"/>
    <p:sldId id="298" r:id="rId38"/>
    <p:sldId id="297" r:id="rId39"/>
    <p:sldId id="300" r:id="rId40"/>
    <p:sldId id="302" r:id="rId41"/>
    <p:sldId id="325" r:id="rId42"/>
    <p:sldId id="322" r:id="rId43"/>
    <p:sldId id="261" r:id="rId44"/>
    <p:sldId id="262" r:id="rId45"/>
    <p:sldId id="263" r:id="rId46"/>
    <p:sldId id="265" r:id="rId47"/>
    <p:sldId id="264" r:id="rId48"/>
    <p:sldId id="257" r:id="rId49"/>
    <p:sldId id="258" r:id="rId50"/>
    <p:sldId id="259" r:id="rId51"/>
    <p:sldId id="317" r:id="rId52"/>
    <p:sldId id="318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467B"/>
    <a:srgbClr val="4D0BC5"/>
    <a:srgbClr val="4429E3"/>
    <a:srgbClr val="EA225B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125" autoAdjust="0"/>
    <p:restoredTop sz="94586" autoAdjust="0"/>
  </p:normalViewPr>
  <p:slideViewPr>
    <p:cSldViewPr>
      <p:cViewPr>
        <p:scale>
          <a:sx n="106" d="100"/>
          <a:sy n="106" d="100"/>
        </p:scale>
        <p:origin x="-1680" y="-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25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1C0D0-91D5-4C76-89D6-8B6E4377C18F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64214-8A88-46B7-8C81-58E363037478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FA2BAE-C96F-4974-B0F8-BBC9862015BA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47107" name="Rectangle 307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07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758EA8-CE23-4EAB-BA26-7825050A5FA8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D30CB3F2-7B8E-40C1-BB83-A012B68E207F}" type="slidenum">
              <a:rPr lang="en-US" sz="1200" kern="1200">
                <a:solidFill>
                  <a:prstClr val="black"/>
                </a:solidFill>
                <a:latin typeface="Arial" pitchFamily="34" charset="0"/>
                <a:ea typeface="+mn-ea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z="1200" kern="1200">
              <a:solidFill>
                <a:prstClr val="black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A67EF9-27A4-41BA-886C-AC30F8539407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Important:</a:t>
            </a:r>
          </a:p>
          <a:p>
            <a:r>
              <a:rPr lang="en-US" smtClean="0"/>
              <a:t>– toroidal connection, relation to boundary conditions</a:t>
            </a:r>
          </a:p>
          <a:p>
            <a:r>
              <a:rPr lang="en-US" smtClean="0"/>
              <a:t>– twisted field lines.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4CD157-46B1-48BB-BCBF-553714E30299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Parameters 10</a:t>
            </a:r>
            <a:r>
              <a:rPr lang="en-US" baseline="30000" smtClean="0"/>
              <a:t>18</a:t>
            </a:r>
            <a:r>
              <a:rPr lang="en-US" smtClean="0"/>
              <a:t>, 0.5T, Hydrogen / Helium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0D5C34-0D3F-4CDB-99AC-80E04F848909}" type="slidenum">
              <a:rPr lang="en-US"/>
              <a:pPr/>
              <a:t>6</a:t>
            </a:fld>
            <a:endParaRPr lang="en-US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Coils in Large vacuum tank allow flexibility, good access but   AREA,  GAS Reservoir.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FB4DFD-6ED0-43DB-B420-6D9E5AABB447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Flexible heliac:</a:t>
            </a:r>
          </a:p>
          <a:p>
            <a:r>
              <a:rPr lang="en-US" smtClean="0"/>
              <a:t>I will concentrate today on the effect of  twist per turn.</a:t>
            </a:r>
          </a:p>
          <a:p>
            <a:r>
              <a:rPr lang="en-US" smtClean="0"/>
              <a:t>This graph also illustrates magnetic shear, the rate of change of twist with position.</a:t>
            </a:r>
          </a:p>
          <a:p>
            <a:r>
              <a:rPr lang="en-US" smtClean="0"/>
              <a:t>H1 is a medium to low shear device.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67C9E9-FDA1-4C0E-A20D-C1DE963CFF8C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758EA8-CE23-4EAB-BA26-7825050A5FA8}" type="slidenum">
              <a:rPr lang="en-US" smtClean="0"/>
              <a:pPr/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C89EA55-1DB9-49EC-BBDC-345DA8774EE0}" type="slidenum">
              <a:rPr lang="en-AU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A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EECE91D-8E8E-498C-87E3-7FAD1E42CFFD}" type="slidenum">
              <a:rPr lang="en-AU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590DE19-D82E-4D5A-B9D9-DF29F4EC6767}" type="slidenum">
              <a:rPr lang="en-AU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A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E04ECAD-DBF9-4A95-8E3D-B22922F92875}" type="slidenum">
              <a:rPr lang="en-AU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0B9A68-19B1-4181-B006-2B101C30E3E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C4C0D2F-8D57-4162-80A0-442972355F85}" type="slidenum">
              <a:rPr lang="en-AU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A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64214-8A88-46B7-8C81-58E363037478}" type="slidenum">
              <a:rPr lang="en-AU" smtClean="0"/>
              <a:pPr/>
              <a:t>16</a:t>
            </a:fld>
            <a:endParaRPr lang="en-A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64214-8A88-46B7-8C81-58E363037478}" type="slidenum">
              <a:rPr lang="en-AU" smtClean="0"/>
              <a:pPr/>
              <a:t>17</a:t>
            </a:fld>
            <a:endParaRPr lang="en-A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64214-8A88-46B7-8C81-58E363037478}" type="slidenum">
              <a:rPr lang="en-AU" smtClean="0"/>
              <a:pPr/>
              <a:t>18</a:t>
            </a:fld>
            <a:endParaRPr lang="en-A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64214-8A88-46B7-8C81-58E363037478}" type="slidenum">
              <a:rPr lang="en-AU" smtClean="0"/>
              <a:pPr/>
              <a:t>19</a:t>
            </a:fld>
            <a:endParaRPr lang="en-A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064214-8A88-46B7-8C81-58E363037478}" type="slidenum">
              <a:rPr lang="en-AU" smtClean="0"/>
              <a:pPr/>
              <a:t>20</a:t>
            </a:fld>
            <a:endParaRPr lang="en-A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758EA8-CE23-4EAB-BA26-7825050A5FA8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0B9A68-19B1-4181-B006-2B101C30E3E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9210DB-9DF4-43C0-BBD3-732600CB0ACF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Density scaling indicates Alfven velocity</a:t>
            </a:r>
          </a:p>
          <a:p>
            <a:r>
              <a:rPr lang="en-US" smtClean="0"/>
              <a:t>Critical issue for fusion reactors, as alpha velocity ~ Alfven velocity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D3D36-EC8B-4769-B6AE-EFC2CFC12952}" type="slidenum">
              <a:rPr lang="en-AU" smtClean="0"/>
              <a:pPr/>
              <a:t>24</a:t>
            </a:fld>
            <a:endParaRPr lang="en-A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D3D36-EC8B-4769-B6AE-EFC2CFC12952}" type="slidenum">
              <a:rPr lang="en-AU" smtClean="0"/>
              <a:pPr/>
              <a:t>25</a:t>
            </a:fld>
            <a:endParaRPr lang="en-A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D3D36-EC8B-4769-B6AE-EFC2CFC12952}" type="slidenum">
              <a:rPr lang="en-AU" smtClean="0"/>
              <a:pPr/>
              <a:t>26</a:t>
            </a:fld>
            <a:endParaRPr lang="en-A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2F8E9-9DD2-435E-81A8-F9168501B41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F20C4C-26CD-4294-BAB2-A1A8AAC7D3F1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Need a wider range iota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94BAAF-2E7E-4DDB-9AC5-A58DF6AF8DAC}" type="slidenum">
              <a:rPr lang="en-US"/>
              <a:pPr/>
              <a:t>29</a:t>
            </a:fld>
            <a:endParaRPr lang="en-US"/>
          </a:p>
        </p:txBody>
      </p:sp>
      <p:sp>
        <p:nvSpPr>
          <p:cNvPr id="316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also see that k|| and freq will go to zero at resonance  </a:t>
            </a:r>
            <a:r>
              <a:rPr lang="en-US" dirty="0" err="1"/>
              <a:t>i</a:t>
            </a:r>
            <a:r>
              <a:rPr lang="en-US" dirty="0"/>
              <a:t>=n/m.  Freq will increase with </a:t>
            </a:r>
            <a:r>
              <a:rPr lang="en-AU" altLang="ja-JP" sz="1300" b="1" i="1" dirty="0">
                <a:sym typeface="Symbol" pitchFamily="18" charset="2"/>
              </a:rPr>
              <a:t></a:t>
            </a:r>
            <a:r>
              <a:rPr lang="en-US" altLang="ja-JP" sz="1300" b="1" i="1" dirty="0"/>
              <a:t> iota </a:t>
            </a:r>
            <a:r>
              <a:rPr lang="en-US" altLang="ja-JP" sz="1300" dirty="0"/>
              <a:t>as we move away from res.</a:t>
            </a:r>
          </a:p>
          <a:p>
            <a:r>
              <a:rPr lang="en-US" altLang="ja-JP" sz="1300" dirty="0"/>
              <a:t>However iota is not quite constant with radius </a:t>
            </a:r>
            <a:r>
              <a:rPr lang="en-US" altLang="ja-JP" sz="1300" dirty="0">
                <a:latin typeface="Arial"/>
              </a:rPr>
              <a:t>–</a:t>
            </a:r>
            <a:r>
              <a:rPr lang="en-US" altLang="ja-JP" sz="1300" dirty="0"/>
              <a:t> so we must consider the change in the radial profile.</a:t>
            </a:r>
            <a:endParaRPr lang="en-US" sz="1300" dirty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78776C-FA33-45F0-8EF2-0B659221765C}" type="slidenum">
              <a:rPr lang="en-US"/>
              <a:pPr/>
              <a:t>30</a:t>
            </a:fld>
            <a:endParaRPr lang="en-US"/>
          </a:p>
        </p:txBody>
      </p:sp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Similar effect if the assumed location is the radius of zero shear, but 5/4 region is better fit by a sudden jump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D3D36-EC8B-4769-B6AE-EFC2CFC12952}" type="slidenum">
              <a:rPr lang="en-AU" smtClean="0"/>
              <a:pPr/>
              <a:t>31</a:t>
            </a:fld>
            <a:endParaRPr lang="en-A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A43F76-C392-4117-8EE0-8027A92E14FB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E2A959-B092-4509-9BEE-2772A3037C65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719DCECB-DA3C-407F-B8B2-E36D2C25A268}" type="slidenum">
              <a:rPr lang="en-AU" sz="1200" kern="1200">
                <a:solidFill>
                  <a:prstClr val="black"/>
                </a:solidFill>
                <a:latin typeface="Arial" charset="0"/>
                <a:ea typeface="+mn-ea"/>
                <a:cs typeface="Arial" charset="0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AU" sz="1200" kern="1200">
              <a:solidFill>
                <a:prstClr val="black"/>
              </a:solidFill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A43F76-C392-4117-8EE0-8027A92E14FB}" type="slidenum">
              <a:rPr lang="en-AU" smtClean="0"/>
              <a:pPr>
                <a:defRPr/>
              </a:pPr>
              <a:t>35</a:t>
            </a:fld>
            <a:endParaRPr lang="en-A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960583D2-4DAB-4F88-9B2B-15DD5A851B15}" type="slidenum">
              <a:rPr lang="en-AU" sz="1200" kern="1200">
                <a:solidFill>
                  <a:prstClr val="black"/>
                </a:solidFill>
                <a:latin typeface="Arial" charset="0"/>
                <a:ea typeface="+mn-ea"/>
                <a:cs typeface="Arial" charset="0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AU" sz="1200" kern="1200">
              <a:solidFill>
                <a:prstClr val="black"/>
              </a:solidFill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8EF14EF1-58B8-4A90-A501-B960EA8AF9A8}" type="slidenum">
              <a:rPr lang="en-AU" sz="1200" kern="1200">
                <a:solidFill>
                  <a:prstClr val="black"/>
                </a:solidFill>
                <a:latin typeface="Arial" charset="0"/>
                <a:ea typeface="+mn-ea"/>
                <a:cs typeface="Arial" charset="0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AU" sz="1200" kern="1200">
              <a:solidFill>
                <a:prstClr val="black"/>
              </a:solidFill>
              <a:latin typeface="Arial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CD7DD-ED14-46FD-896C-36E7B1402BBE}" type="slidenum">
              <a:rPr lang="en-AU" smtClean="0"/>
              <a:pPr/>
              <a:t>38</a:t>
            </a:fld>
            <a:endParaRPr lang="en-AU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758EA8-CE23-4EAB-BA26-7825050A5FA8}" type="slidenum">
              <a:rPr lang="en-US" smtClean="0"/>
              <a:pPr/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3949" y="8685188"/>
            <a:ext cx="2972444" cy="45734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1E2BF4D4-F520-4A9D-B687-B8EFF2D14DA4}" type="slidenum">
              <a:rPr lang="en-US" sz="1200" kern="1200">
                <a:solidFill>
                  <a:prstClr val="black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sz="1200" kern="1200">
              <a:solidFill>
                <a:prstClr val="black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545" y="4352123"/>
            <a:ext cx="4771342" cy="3479938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3949" y="8685188"/>
            <a:ext cx="2972444" cy="45734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1C42654E-4779-431C-B60F-66CF4DFD1B79}" type="slidenum">
              <a:rPr lang="en-US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from F. Najmabadi </a:t>
            </a:r>
            <a:r>
              <a:rPr lang="en-US" b="1" smtClean="0"/>
              <a:t>US/Japan Workshop on Power Plant Studies 2006</a:t>
            </a:r>
            <a:r>
              <a:rPr lang="en-US" smtClean="0"/>
              <a:t> </a:t>
            </a:r>
          </a:p>
          <a:p>
            <a:endParaRPr lang="en-AU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83949" y="8685188"/>
            <a:ext cx="2972444" cy="45734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B7055DB-46F5-47AD-934E-472FB0D2D05E}" type="slidenum">
              <a:rPr lang="en-US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3949" y="8685188"/>
            <a:ext cx="2972444" cy="45734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1F575D27-5490-4076-8EEF-5F07469A8733}" type="slidenum">
              <a:rPr lang="en-US"/>
              <a:pPr/>
              <a:t>47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0B9A68-19B1-4181-B006-2B101C30E3E3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0B9A68-19B1-4181-B006-2B101C30E3E3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/>
          <a:lstStyle>
            <a:lvl1pPr>
              <a:defRPr>
                <a:solidFill>
                  <a:srgbClr val="4D0BC5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00108"/>
            <a:ext cx="9501222" cy="1588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919537" cy="47513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6150" y="1341438"/>
            <a:ext cx="3919538" cy="2298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6150" y="3792538"/>
            <a:ext cx="3919538" cy="23002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-14288" y="6656388"/>
            <a:ext cx="3743326" cy="4048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Blackwell, ISHW/Toki Conference 10/2007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6DC08EF-EF21-4ABA-99B2-9C3988EA7C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idx="13"/>
          </p:nvPr>
        </p:nvSpPr>
        <p:spPr>
          <a:xfrm>
            <a:off x="285720" y="785794"/>
            <a:ext cx="3000376" cy="914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6696044" y="6492875"/>
            <a:ext cx="2447956" cy="365125"/>
          </a:xfrm>
        </p:spPr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idx="13"/>
          </p:nvPr>
        </p:nvSpPr>
        <p:spPr>
          <a:xfrm>
            <a:off x="285720" y="785794"/>
            <a:ext cx="3000376" cy="914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6553200" y="6637359"/>
            <a:ext cx="2590800" cy="220641"/>
          </a:xfrm>
        </p:spPr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640" indent="0" algn="ctr">
              <a:buNone/>
              <a:defRPr/>
            </a:lvl2pPr>
            <a:lvl3pPr marL="829280" indent="0" algn="ctr">
              <a:buNone/>
              <a:defRPr/>
            </a:lvl3pPr>
            <a:lvl4pPr marL="1243920" indent="0" algn="ctr">
              <a:buNone/>
              <a:defRPr/>
            </a:lvl4pPr>
            <a:lvl5pPr marL="1658560" indent="0" algn="ctr">
              <a:buNone/>
              <a:defRPr/>
            </a:lvl5pPr>
            <a:lvl6pPr marL="2073201" indent="0" algn="ctr">
              <a:buNone/>
              <a:defRPr/>
            </a:lvl6pPr>
            <a:lvl7pPr marL="2487841" indent="0" algn="ctr">
              <a:buNone/>
              <a:defRPr/>
            </a:lvl7pPr>
            <a:lvl8pPr marL="2902481" indent="0" algn="ctr">
              <a:buNone/>
              <a:defRPr/>
            </a:lvl8pPr>
            <a:lvl9pPr marL="3317121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5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640" indent="0">
              <a:buNone/>
              <a:defRPr sz="1600"/>
            </a:lvl2pPr>
            <a:lvl3pPr marL="829280" indent="0">
              <a:buNone/>
              <a:defRPr sz="1500"/>
            </a:lvl3pPr>
            <a:lvl4pPr marL="1243920" indent="0">
              <a:buNone/>
              <a:defRPr sz="1300"/>
            </a:lvl4pPr>
            <a:lvl5pPr marL="1658560" indent="0">
              <a:buNone/>
              <a:defRPr sz="1300"/>
            </a:lvl5pPr>
            <a:lvl6pPr marL="2073201" indent="0">
              <a:buNone/>
              <a:defRPr sz="1300"/>
            </a:lvl6pPr>
            <a:lvl7pPr marL="2487841" indent="0">
              <a:buNone/>
              <a:defRPr sz="1300"/>
            </a:lvl7pPr>
            <a:lvl8pPr marL="2902481" indent="0">
              <a:buNone/>
              <a:defRPr sz="1300"/>
            </a:lvl8pPr>
            <a:lvl9pPr marL="331712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1042" y="1906760"/>
            <a:ext cx="3828960" cy="4308932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0" y="1906760"/>
            <a:ext cx="3828960" cy="4308932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75072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640" indent="0">
              <a:buNone/>
              <a:defRPr sz="1800" b="1"/>
            </a:lvl2pPr>
            <a:lvl3pPr marL="829280" indent="0">
              <a:buNone/>
              <a:defRPr sz="1600" b="1"/>
            </a:lvl3pPr>
            <a:lvl4pPr marL="1243920" indent="0">
              <a:buNone/>
              <a:defRPr sz="1500" b="1"/>
            </a:lvl4pPr>
            <a:lvl5pPr marL="1658560" indent="0">
              <a:buNone/>
              <a:defRPr sz="1500" b="1"/>
            </a:lvl5pPr>
            <a:lvl6pPr marL="2073201" indent="0">
              <a:buNone/>
              <a:defRPr sz="1500" b="1"/>
            </a:lvl6pPr>
            <a:lvl7pPr marL="2487841" indent="0">
              <a:buNone/>
              <a:defRPr sz="1500" b="1"/>
            </a:lvl7pPr>
            <a:lvl8pPr marL="2902481" indent="0">
              <a:buNone/>
              <a:defRPr sz="1500" b="1"/>
            </a:lvl8pPr>
            <a:lvl9pPr marL="3317121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640" indent="0">
              <a:buNone/>
              <a:defRPr sz="1800" b="1"/>
            </a:lvl2pPr>
            <a:lvl3pPr marL="829280" indent="0">
              <a:buNone/>
              <a:defRPr sz="1600" b="1"/>
            </a:lvl3pPr>
            <a:lvl4pPr marL="1243920" indent="0">
              <a:buNone/>
              <a:defRPr sz="1500" b="1"/>
            </a:lvl4pPr>
            <a:lvl5pPr marL="1658560" indent="0">
              <a:buNone/>
              <a:defRPr sz="1500" b="1"/>
            </a:lvl5pPr>
            <a:lvl6pPr marL="2073201" indent="0">
              <a:buNone/>
              <a:defRPr sz="1500" b="1"/>
            </a:lvl6pPr>
            <a:lvl7pPr marL="2487841" indent="0">
              <a:buNone/>
              <a:defRPr sz="1500" b="1"/>
            </a:lvl7pPr>
            <a:lvl8pPr marL="2902481" indent="0">
              <a:buNone/>
              <a:defRPr sz="1500" b="1"/>
            </a:lvl8pPr>
            <a:lvl9pPr marL="3317121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3" y="273631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3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640" indent="0">
              <a:buNone/>
              <a:defRPr sz="1100"/>
            </a:lvl2pPr>
            <a:lvl3pPr marL="829280" indent="0">
              <a:buNone/>
              <a:defRPr sz="900"/>
            </a:lvl3pPr>
            <a:lvl4pPr marL="1243920" indent="0">
              <a:buNone/>
              <a:defRPr sz="800"/>
            </a:lvl4pPr>
            <a:lvl5pPr marL="1658560" indent="0">
              <a:buNone/>
              <a:defRPr sz="800"/>
            </a:lvl5pPr>
            <a:lvl6pPr marL="2073201" indent="0">
              <a:buNone/>
              <a:defRPr sz="800"/>
            </a:lvl6pPr>
            <a:lvl7pPr marL="2487841" indent="0">
              <a:buNone/>
              <a:defRPr sz="800"/>
            </a:lvl7pPr>
            <a:lvl8pPr marL="2902481" indent="0">
              <a:buNone/>
              <a:defRPr sz="800"/>
            </a:lvl8pPr>
            <a:lvl9pPr marL="3317121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3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3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640" indent="0">
              <a:buNone/>
              <a:defRPr sz="2500"/>
            </a:lvl2pPr>
            <a:lvl3pPr marL="829280" indent="0">
              <a:buNone/>
              <a:defRPr sz="2200"/>
            </a:lvl3pPr>
            <a:lvl4pPr marL="1243920" indent="0">
              <a:buNone/>
              <a:defRPr sz="1800"/>
            </a:lvl4pPr>
            <a:lvl5pPr marL="1658560" indent="0">
              <a:buNone/>
              <a:defRPr sz="1800"/>
            </a:lvl5pPr>
            <a:lvl6pPr marL="2073201" indent="0">
              <a:buNone/>
              <a:defRPr sz="1800"/>
            </a:lvl6pPr>
            <a:lvl7pPr marL="2487841" indent="0">
              <a:buNone/>
              <a:defRPr sz="1800"/>
            </a:lvl7pPr>
            <a:lvl8pPr marL="2902481" indent="0">
              <a:buNone/>
              <a:defRPr sz="1800"/>
            </a:lvl8pPr>
            <a:lvl9pPr marL="3317121" indent="0">
              <a:buNone/>
              <a:defRPr sz="18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3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640" indent="0">
              <a:buNone/>
              <a:defRPr sz="1100"/>
            </a:lvl2pPr>
            <a:lvl3pPr marL="829280" indent="0">
              <a:buNone/>
              <a:defRPr sz="900"/>
            </a:lvl3pPr>
            <a:lvl4pPr marL="1243920" indent="0">
              <a:buNone/>
              <a:defRPr sz="800"/>
            </a:lvl4pPr>
            <a:lvl5pPr marL="1658560" indent="0">
              <a:buNone/>
              <a:defRPr sz="800"/>
            </a:lvl5pPr>
            <a:lvl6pPr marL="2073201" indent="0">
              <a:buNone/>
              <a:defRPr sz="800"/>
            </a:lvl6pPr>
            <a:lvl7pPr marL="2487841" indent="0">
              <a:buNone/>
              <a:defRPr sz="800"/>
            </a:lvl7pPr>
            <a:lvl8pPr marL="2902481" indent="0">
              <a:buNone/>
              <a:defRPr sz="800"/>
            </a:lvl8pPr>
            <a:lvl9pPr marL="3317121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8881" y="568863"/>
            <a:ext cx="1948320" cy="56468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1040" y="568863"/>
            <a:ext cx="5709600" cy="56468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040" y="568862"/>
            <a:ext cx="7796160" cy="11333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71040" y="1906760"/>
            <a:ext cx="7796160" cy="4308932"/>
          </a:xfrm>
        </p:spPr>
        <p:txBody>
          <a:bodyPr/>
          <a:lstStyle/>
          <a:p>
            <a:pPr lvl="0"/>
            <a:endParaRPr lang="en-AU" noProof="0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040" y="568862"/>
            <a:ext cx="7796160" cy="11333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1042" y="1906760"/>
            <a:ext cx="3828960" cy="43089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38240" y="1906760"/>
            <a:ext cx="3828960" cy="20853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38240" y="4130355"/>
            <a:ext cx="3828960" cy="20853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71040" y="568863"/>
            <a:ext cx="7796160" cy="56468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4216" y="1341441"/>
            <a:ext cx="3919537" cy="47513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6150" y="1341438"/>
            <a:ext cx="3919538" cy="2298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6150" y="3792541"/>
            <a:ext cx="3919538" cy="23002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800" y="6248817"/>
            <a:ext cx="2894400" cy="456527"/>
          </a:xfrm>
          <a:prstGeom prst="rect">
            <a:avLst/>
          </a:prstGeom>
        </p:spPr>
        <p:txBody>
          <a:bodyPr lIns="91410" tIns="45706" rIns="91410" bIns="45706"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440" y="6248817"/>
            <a:ext cx="1905120" cy="456527"/>
          </a:xfrm>
          <a:prstGeom prst="rect">
            <a:avLst/>
          </a:prstGeom>
        </p:spPr>
        <p:txBody>
          <a:bodyPr lIns="91410" tIns="45706" rIns="91410" bIns="45706"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DAA6FE4-1F6E-4468-8846-59A06CA8B163}" type="slidenum">
              <a:rPr lang="en-US" sz="2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2200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00772" tIns="50387" rIns="100772" bIns="50387" anchor="ctr"/>
            <a:lstStyle/>
            <a:p>
              <a:pPr algn="ctr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Arial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6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6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6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lIns="100772" tIns="50387" rIns="100772" bIns="50387"/>
              <a:lstStyle/>
              <a:p>
                <a:pPr algn="l" defTabSz="914130" rt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Arial"/>
                </a:endParaRPr>
              </a:p>
            </p:txBody>
          </p:sp>
        </p:grpSp>
      </p:grpSp>
      <p:sp>
        <p:nvSpPr>
          <p:cNvPr id="2918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2160" y="1828992"/>
            <a:ext cx="6019200" cy="2209192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2918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2160" y="4267170"/>
            <a:ext cx="6019200" cy="1752664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920" y="6248817"/>
            <a:ext cx="2132640" cy="456527"/>
          </a:xfrm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800" y="6248817"/>
            <a:ext cx="2894400" cy="45652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380" tIns="45692" rIns="91380" bIns="45692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444" y="6248817"/>
            <a:ext cx="2134080" cy="456527"/>
          </a:xfrm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7A31D3B6-90B4-4EB5-86DF-AE9AEDCD60D8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090BEB84-A232-4D4B-BA7A-74DB58A3ED01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6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597" indent="0">
              <a:buNone/>
              <a:defRPr sz="1600"/>
            </a:lvl2pPr>
            <a:lvl3pPr marL="829194" indent="0">
              <a:buNone/>
              <a:defRPr sz="1500"/>
            </a:lvl3pPr>
            <a:lvl4pPr marL="1243791" indent="0">
              <a:buNone/>
              <a:defRPr sz="1300"/>
            </a:lvl4pPr>
            <a:lvl5pPr marL="1658388" indent="0">
              <a:buNone/>
              <a:defRPr sz="1300"/>
            </a:lvl5pPr>
            <a:lvl6pPr marL="2072986" indent="0">
              <a:buNone/>
              <a:defRPr sz="1300"/>
            </a:lvl6pPr>
            <a:lvl7pPr marL="2487583" indent="0">
              <a:buNone/>
              <a:defRPr sz="1300"/>
            </a:lvl7pPr>
            <a:lvl8pPr marL="2902180" indent="0">
              <a:buNone/>
              <a:defRPr sz="1300"/>
            </a:lvl8pPr>
            <a:lvl9pPr marL="331677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F6733F07-9D09-447B-A8D8-EDE3A4988B77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920" y="1484796"/>
            <a:ext cx="4148640" cy="489651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4801" y="1484796"/>
            <a:ext cx="4148640" cy="4896514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329C3E71-359F-4E38-A840-B9FB7DD193BE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75073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9CA5237F-F0C5-4B9E-831B-BDAD883A4925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FBFF2F23-CB1B-474F-85C3-B37FD609A9A6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90622A4B-E46B-42CA-BAFA-8BB33E82A2F3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4" y="273632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4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DB5152DD-598F-4D24-B3B8-A522D6A4C981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4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4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597" indent="0">
              <a:buNone/>
              <a:defRPr sz="2500"/>
            </a:lvl2pPr>
            <a:lvl3pPr marL="829194" indent="0">
              <a:buNone/>
              <a:defRPr sz="2200"/>
            </a:lvl3pPr>
            <a:lvl4pPr marL="1243791" indent="0">
              <a:buNone/>
              <a:defRPr sz="1800"/>
            </a:lvl4pPr>
            <a:lvl5pPr marL="1658388" indent="0">
              <a:buNone/>
              <a:defRPr sz="1800"/>
            </a:lvl5pPr>
            <a:lvl6pPr marL="2072986" indent="0">
              <a:buNone/>
              <a:defRPr sz="1800"/>
            </a:lvl6pPr>
            <a:lvl7pPr marL="2487583" indent="0">
              <a:buNone/>
              <a:defRPr sz="1800"/>
            </a:lvl7pPr>
            <a:lvl8pPr marL="2902180" indent="0">
              <a:buNone/>
              <a:defRPr sz="1800"/>
            </a:lvl8pPr>
            <a:lvl9pPr marL="3316777" indent="0">
              <a:buNone/>
              <a:defRPr sz="18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4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D67C2A79-BED0-4469-A522-F241795ADA1F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6D9F071A-7CA1-4B1D-8300-9622716A8D64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5280" y="456532"/>
            <a:ext cx="2108160" cy="592478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920" y="456532"/>
            <a:ext cx="6189120" cy="592478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80A0AEEA-90B9-4E93-866D-D2FCB2D4899C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456532"/>
            <a:ext cx="8435520" cy="88425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920" y="1484796"/>
            <a:ext cx="4148640" cy="48965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4801" y="1484796"/>
            <a:ext cx="4148640" cy="48965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fld id="{597DC95A-7CCA-4E37-BDC8-71C07AC05225}" type="slidenum">
              <a:rPr lang="en-AU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Arial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sz="1200" kern="1200">
              <a:solidFill>
                <a:srgbClr val="000000"/>
              </a:solidFill>
              <a:latin typeface="Arial Black" pitchFamily="34" charset="0"/>
              <a:ea typeface="+mn-ea"/>
              <a:cs typeface="Arial"/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sz="1200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idx="13"/>
          </p:nvPr>
        </p:nvSpPr>
        <p:spPr>
          <a:xfrm>
            <a:off x="285720" y="785794"/>
            <a:ext cx="3000376" cy="914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Blackwell, ISHW Princeton 2009</a:t>
            </a:r>
            <a:r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  </a:t>
            </a:r>
            <a:fld id="{EFAC93D0-A1BC-4F71-B3DE-9850DD3BF3B9}" type="slidenum"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341438"/>
            <a:ext cx="3919537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6150" y="1341438"/>
            <a:ext cx="3919538" cy="47513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Blackwell, ISHW Princeton 2009</a:t>
            </a:r>
            <a:r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  </a:t>
            </a:r>
            <a:fld id="{EFAC93D0-A1BC-4F71-B3DE-9850DD3BF3B9}" type="slidenum"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1400" kern="1200" smtClean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Blackwell, International Meeting on the Frontiers of Physics, Malaysia 2009</a:t>
            </a:r>
            <a:endParaRPr lang="en-US" sz="14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7E9D287-4F8E-4209-8F8F-665191FA3B56}" type="slidenum"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1400" kern="1200" smtClean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t>Blackwell, International Meeting on the Frontiers of Physics, Malaysia 2009</a:t>
            </a:r>
            <a:endParaRPr lang="en-US" sz="14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3F0310-E0D0-432A-92EA-E4A841D3AD98}" type="slidenum"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8613" y="0"/>
            <a:ext cx="1997075" cy="6092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0"/>
            <a:ext cx="5842000" cy="6092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0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948337E-B85A-4D82-A660-B4B45DB21B0E}" type="slidenum"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4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919537" cy="47513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56150" y="1341438"/>
            <a:ext cx="3919538" cy="2298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56150" y="3792538"/>
            <a:ext cx="3919538" cy="23002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6143636" y="6605588"/>
            <a:ext cx="3000364" cy="252412"/>
          </a:xfrm>
        </p:spPr>
        <p:txBody>
          <a:bodyPr/>
          <a:lstStyle>
            <a:lvl1pPr>
              <a:defRPr sz="1000" dirty="0" smtClean="0"/>
            </a:lvl1pPr>
          </a:lstStyle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615363" y="6605588"/>
            <a:ext cx="528637" cy="252412"/>
          </a:xfrm>
        </p:spPr>
        <p:txBody>
          <a:bodyPr/>
          <a:lstStyle>
            <a:lvl1pPr>
              <a:defRPr sz="1000"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479A00A-7526-46F6-BF62-97C48D783D2F}" type="slidenum">
              <a:rPr lang="en-US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AADAF-EC49-4B19-A427-2E335631B2E9}" type="datetimeFigureOut">
              <a:rPr lang="en-US" smtClean="0"/>
              <a:pPr/>
              <a:t>11/20/2009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4DD54-8D25-429B-BEA7-3AF55FF1C15C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7" descr="h1nflogv800"/>
          <p:cNvPicPr>
            <a:picLocks noChangeAspect="1" noChangeArrowheads="1"/>
          </p:cNvPicPr>
          <p:nvPr userDrawn="1"/>
        </p:nvPicPr>
        <p:blipFill>
          <a:blip r:embed="rId16">
            <a:lum bright="72000"/>
          </a:blip>
          <a:srcRect/>
          <a:stretch>
            <a:fillRect/>
          </a:stretch>
        </p:blipFill>
        <p:spPr bwMode="auto">
          <a:xfrm>
            <a:off x="76200" y="76200"/>
            <a:ext cx="9937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9" r:id="rId12"/>
    <p:sldLayoutId id="2147483691" r:id="rId13"/>
    <p:sldLayoutId id="214748369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71040" y="568862"/>
            <a:ext cx="7796160" cy="1133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1040" y="1906760"/>
            <a:ext cx="7796160" cy="4308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407442" rtl="0" eaLnBrk="0" fontAlgn="base" hangingPunct="0">
        <a:lnSpc>
          <a:spcPts val="4593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07442" rtl="0" eaLnBrk="0" fontAlgn="base" hangingPunct="0">
        <a:lnSpc>
          <a:spcPts val="4593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2pPr>
      <a:lvl3pPr algn="ctr" defTabSz="407442" rtl="0" eaLnBrk="0" fontAlgn="base" hangingPunct="0">
        <a:lnSpc>
          <a:spcPts val="4593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3pPr>
      <a:lvl4pPr algn="ctr" defTabSz="407442" rtl="0" eaLnBrk="0" fontAlgn="base" hangingPunct="0">
        <a:lnSpc>
          <a:spcPts val="4593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4pPr>
      <a:lvl5pPr algn="ctr" defTabSz="407442" rtl="0" eaLnBrk="0" fontAlgn="base" hangingPunct="0">
        <a:lnSpc>
          <a:spcPts val="4593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5pPr>
      <a:lvl6pPr marL="414640" algn="l" defTabSz="407442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6pPr>
      <a:lvl7pPr marL="829280" algn="l" defTabSz="407442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7pPr>
      <a:lvl8pPr marL="1243920" algn="l" defTabSz="407442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8pPr>
      <a:lvl9pPr marL="1658560" algn="l" defTabSz="407442" rtl="0" fontAlgn="base" hangingPunct="0"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4000">
          <a:solidFill>
            <a:srgbClr val="000000"/>
          </a:solidFill>
          <a:latin typeface="Times New Roman" pitchFamily="18" charset="0"/>
        </a:defRPr>
      </a:lvl9pPr>
    </p:titleStyle>
    <p:bodyStyle>
      <a:lvl1pPr marL="381526" indent="-286507" algn="l" defTabSz="407442" rtl="0" eaLnBrk="0" fontAlgn="base" hangingPunct="0">
        <a:lnSpc>
          <a:spcPts val="3276"/>
        </a:lnSpc>
        <a:spcBef>
          <a:spcPct val="0"/>
        </a:spcBef>
        <a:spcAft>
          <a:spcPts val="1293"/>
        </a:spcAft>
        <a:buClr>
          <a:srgbClr val="000000"/>
        </a:buClr>
        <a:buSzPct val="45000"/>
        <a:buFont typeface="StarSymbol" charset="0"/>
        <a:buChar char="●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773132" indent="-256270" algn="l" defTabSz="407442" rtl="0" eaLnBrk="0" fontAlgn="base" hangingPunct="0">
        <a:lnSpc>
          <a:spcPct val="116000"/>
        </a:lnSpc>
        <a:spcBef>
          <a:spcPct val="0"/>
        </a:spcBef>
        <a:spcAft>
          <a:spcPts val="1032"/>
        </a:spcAft>
        <a:buClr>
          <a:srgbClr val="000000"/>
        </a:buClr>
        <a:buSzPct val="75000"/>
        <a:buFont typeface="StarSymbol" charset="0"/>
        <a:buChar char="–"/>
        <a:defRPr sz="2500">
          <a:solidFill>
            <a:srgbClr val="000000"/>
          </a:solidFill>
          <a:latin typeface="+mn-lt"/>
        </a:defRPr>
      </a:lvl2pPr>
      <a:lvl3pPr marL="1164736" indent="-192923" algn="l" defTabSz="407442" rtl="0" eaLnBrk="0" fontAlgn="base" hangingPunct="0">
        <a:lnSpc>
          <a:spcPct val="116000"/>
        </a:lnSpc>
        <a:spcBef>
          <a:spcPct val="0"/>
        </a:spcBef>
        <a:spcAft>
          <a:spcPts val="771"/>
        </a:spcAft>
        <a:buClr>
          <a:srgbClr val="000000"/>
        </a:buClr>
        <a:buSzPct val="45000"/>
        <a:buFont typeface="StarSymbol" charset="0"/>
        <a:buChar char="●"/>
        <a:defRPr sz="2200">
          <a:solidFill>
            <a:srgbClr val="000000"/>
          </a:solidFill>
          <a:latin typeface="+mn-lt"/>
        </a:defRPr>
      </a:lvl3pPr>
      <a:lvl4pPr marL="1556340" indent="-185725" algn="l" defTabSz="407442" rtl="0" eaLnBrk="0" fontAlgn="base" hangingPunct="0">
        <a:lnSpc>
          <a:spcPct val="116000"/>
        </a:lnSpc>
        <a:spcBef>
          <a:spcPct val="0"/>
        </a:spcBef>
        <a:spcAft>
          <a:spcPts val="522"/>
        </a:spcAft>
        <a:buClr>
          <a:srgbClr val="000000"/>
        </a:buClr>
        <a:buSzPct val="75000"/>
        <a:buFont typeface="StarSymbol" charset="0"/>
        <a:buChar char="–"/>
        <a:defRPr sz="1800">
          <a:solidFill>
            <a:srgbClr val="000000"/>
          </a:solidFill>
          <a:latin typeface="+mn-lt"/>
        </a:defRPr>
      </a:lvl4pPr>
      <a:lvl5pPr marL="1947945" indent="-190043" algn="l" defTabSz="407442" rtl="0" eaLnBrk="0" fontAlgn="base" hangingPunct="0">
        <a:lnSpc>
          <a:spcPct val="116000"/>
        </a:lnSpc>
        <a:spcBef>
          <a:spcPct val="0"/>
        </a:spcBef>
        <a:spcAft>
          <a:spcPts val="261"/>
        </a:spcAft>
        <a:buClr>
          <a:srgbClr val="000000"/>
        </a:buClr>
        <a:buSzPct val="45000"/>
        <a:buFont typeface="StarSymbol" charset="0"/>
        <a:buChar char="●"/>
        <a:defRPr sz="1800">
          <a:solidFill>
            <a:srgbClr val="000000"/>
          </a:solidFill>
          <a:latin typeface="+mn-lt"/>
        </a:defRPr>
      </a:lvl5pPr>
      <a:lvl6pPr marL="2362585" indent="-190043" algn="l" defTabSz="407442" rtl="0" fontAlgn="base" hangingPunct="0">
        <a:lnSpc>
          <a:spcPct val="116000"/>
        </a:lnSpc>
        <a:spcBef>
          <a:spcPct val="0"/>
        </a:spcBef>
        <a:spcAft>
          <a:spcPts val="261"/>
        </a:spcAft>
        <a:buClr>
          <a:srgbClr val="000000"/>
        </a:buClr>
        <a:buSzPct val="45000"/>
        <a:buFont typeface="StarSymbol" charset="0"/>
        <a:buChar char="●"/>
        <a:defRPr sz="1800">
          <a:solidFill>
            <a:srgbClr val="000000"/>
          </a:solidFill>
          <a:latin typeface="+mn-lt"/>
        </a:defRPr>
      </a:lvl6pPr>
      <a:lvl7pPr marL="2777225" indent="-190043" algn="l" defTabSz="407442" rtl="0" fontAlgn="base" hangingPunct="0">
        <a:lnSpc>
          <a:spcPct val="116000"/>
        </a:lnSpc>
        <a:spcBef>
          <a:spcPct val="0"/>
        </a:spcBef>
        <a:spcAft>
          <a:spcPts val="261"/>
        </a:spcAft>
        <a:buClr>
          <a:srgbClr val="000000"/>
        </a:buClr>
        <a:buSzPct val="45000"/>
        <a:buFont typeface="StarSymbol" charset="0"/>
        <a:buChar char="●"/>
        <a:defRPr sz="1800">
          <a:solidFill>
            <a:srgbClr val="000000"/>
          </a:solidFill>
          <a:latin typeface="+mn-lt"/>
        </a:defRPr>
      </a:lvl7pPr>
      <a:lvl8pPr marL="3191866" indent="-190043" algn="l" defTabSz="407442" rtl="0" fontAlgn="base" hangingPunct="0">
        <a:lnSpc>
          <a:spcPct val="116000"/>
        </a:lnSpc>
        <a:spcBef>
          <a:spcPct val="0"/>
        </a:spcBef>
        <a:spcAft>
          <a:spcPts val="261"/>
        </a:spcAft>
        <a:buClr>
          <a:srgbClr val="000000"/>
        </a:buClr>
        <a:buSzPct val="45000"/>
        <a:buFont typeface="StarSymbol" charset="0"/>
        <a:buChar char="●"/>
        <a:defRPr sz="1800">
          <a:solidFill>
            <a:srgbClr val="000000"/>
          </a:solidFill>
          <a:latin typeface="+mn-lt"/>
        </a:defRPr>
      </a:lvl8pPr>
      <a:lvl9pPr marL="3606506" indent="-190043" algn="l" defTabSz="407442" rtl="0" fontAlgn="base" hangingPunct="0">
        <a:lnSpc>
          <a:spcPct val="116000"/>
        </a:lnSpc>
        <a:spcBef>
          <a:spcPct val="0"/>
        </a:spcBef>
        <a:spcAft>
          <a:spcPts val="261"/>
        </a:spcAft>
        <a:buClr>
          <a:srgbClr val="000000"/>
        </a:buClr>
        <a:buSzPct val="45000"/>
        <a:buFont typeface="StarSymbol" charset="0"/>
        <a:buChar char="●"/>
        <a:defRPr sz="18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640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280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920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560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201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841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481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121" algn="l" defTabSz="82928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04" y="6401473"/>
            <a:ext cx="2134080" cy="456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80" tIns="45692" rIns="91380" bIns="4569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4022960D-3171-497E-BE9A-5A4C4A065860}" type="slidenum">
              <a:rPr lang="en-AU" kern="1200">
                <a:solidFill>
                  <a:srgbClr val="000000"/>
                </a:solidFill>
                <a:ea typeface="+mn-ea"/>
                <a:cs typeface="Arial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AU" kern="1200">
              <a:solidFill>
                <a:srgbClr val="000000"/>
              </a:solidFill>
              <a:ea typeface="+mn-ea"/>
              <a:cs typeface="Arial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545818"/>
            <a:chOff x="0" y="0"/>
            <a:chExt cx="5760" cy="344"/>
          </a:xfrm>
        </p:grpSpPr>
        <p:sp>
          <p:nvSpPr>
            <p:cNvPr id="290820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lIns="100772" tIns="50387" rIns="100772" bIns="50387" anchor="ctr"/>
            <a:lstStyle/>
            <a:p>
              <a:pPr algn="ctr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290821" name="Rectangle 5"/>
            <p:cNvSpPr>
              <a:spLocks noChangeArrowheads="1"/>
            </p:cNvSpPr>
            <p:nvPr/>
          </p:nvSpPr>
          <p:spPr bwMode="auto">
            <a:xfrm>
              <a:off x="260" y="85"/>
              <a:ext cx="5500" cy="17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290822" name="Rectangle 6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1200" dirty="0">
                <a:solidFill>
                  <a:srgbClr val="666699"/>
                </a:solidFill>
                <a:latin typeface="Arial" pitchFamily="34" charset="0"/>
                <a:ea typeface="+mn-ea"/>
                <a:cs typeface="Arial"/>
              </a:endParaRPr>
            </a:p>
          </p:txBody>
        </p:sp>
        <p:sp>
          <p:nvSpPr>
            <p:cNvPr id="290823" name="Rectangle 7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1200" dirty="0">
                <a:solidFill>
                  <a:srgbClr val="666699"/>
                </a:solidFill>
                <a:latin typeface="Arial" pitchFamily="34" charset="0"/>
                <a:ea typeface="+mn-ea"/>
                <a:cs typeface="Arial"/>
              </a:endParaRPr>
            </a:p>
          </p:txBody>
        </p:sp>
        <p:sp>
          <p:nvSpPr>
            <p:cNvPr id="290824" name="Rectangle 8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1200" dirty="0">
                <a:solidFill>
                  <a:srgbClr val="9999CC"/>
                </a:solidFill>
                <a:latin typeface="Arial" pitchFamily="34" charset="0"/>
                <a:ea typeface="+mn-ea"/>
                <a:cs typeface="Arial"/>
              </a:endParaRPr>
            </a:p>
          </p:txBody>
        </p:sp>
        <p:sp>
          <p:nvSpPr>
            <p:cNvPr id="290825" name="Rectangle 9"/>
            <p:cNvSpPr>
              <a:spLocks noChangeArrowheads="1"/>
            </p:cNvSpPr>
            <p:nvPr/>
          </p:nvSpPr>
          <p:spPr bwMode="auto">
            <a:xfrm>
              <a:off x="173" y="173"/>
              <a:ext cx="86" cy="84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1200" dirty="0">
                <a:solidFill>
                  <a:srgbClr val="666699"/>
                </a:solidFill>
                <a:latin typeface="Arial" pitchFamily="34" charset="0"/>
                <a:ea typeface="+mn-ea"/>
                <a:cs typeface="Arial"/>
              </a:endParaRPr>
            </a:p>
          </p:txBody>
        </p:sp>
        <p:sp>
          <p:nvSpPr>
            <p:cNvPr id="290826" name="Rectangle 10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290827" name="Rectangle 11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1200" dirty="0">
                <a:solidFill>
                  <a:srgbClr val="9999CC"/>
                </a:solidFill>
                <a:latin typeface="Arial" pitchFamily="34" charset="0"/>
                <a:ea typeface="+mn-ea"/>
                <a:cs typeface="Arial"/>
              </a:endParaRPr>
            </a:p>
          </p:txBody>
        </p:sp>
        <p:sp>
          <p:nvSpPr>
            <p:cNvPr id="290828" name="Rectangle 12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lIns="100772" tIns="50387" rIns="100772" bIns="50387"/>
            <a:lstStyle/>
            <a:p>
              <a:pPr algn="l" defTabSz="914130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1200" dirty="0">
                <a:solidFill>
                  <a:srgbClr val="9999CC"/>
                </a:solidFill>
                <a:latin typeface="Arial" pitchFamily="34" charset="0"/>
                <a:ea typeface="+mn-ea"/>
                <a:cs typeface="Arial"/>
              </a:endParaRPr>
            </a:p>
          </p:txBody>
        </p:sp>
      </p:grpSp>
      <p:sp>
        <p:nvSpPr>
          <p:cNvPr id="7172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57920" y="456532"/>
            <a:ext cx="8435520" cy="884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80" tIns="45692" rIns="91380" bIns="456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7173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920" y="1484796"/>
            <a:ext cx="8435520" cy="4896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80" tIns="45692" rIns="91380" bIns="456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9083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80004" y="6525328"/>
            <a:ext cx="4248000" cy="332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80" tIns="45692" rIns="91380" bIns="4569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AU" kern="1200">
              <a:solidFill>
                <a:srgbClr val="000000"/>
              </a:solidFill>
              <a:latin typeface="Arial" pitchFamily="34" charset="0"/>
              <a:ea typeface="+mn-ea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13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13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2pPr>
      <a:lvl3pPr algn="l" defTabSz="91413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3pPr>
      <a:lvl4pPr algn="l" defTabSz="91413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4pPr>
      <a:lvl5pPr algn="l" defTabSz="914130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414597" algn="l" defTabSz="91413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6pPr>
      <a:lvl7pPr marL="829194" algn="l" defTabSz="91413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7pPr>
      <a:lvl8pPr marL="1243791" algn="l" defTabSz="91413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8pPr>
      <a:lvl9pPr marL="1658388" algn="l" defTabSz="91413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cs typeface="Arial" pitchFamily="34" charset="0"/>
        </a:defRPr>
      </a:lvl9pPr>
    </p:titleStyle>
    <p:bodyStyle>
      <a:lvl1pPr marL="342619" indent="-342619" algn="l" defTabSz="91413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820" indent="-286478" algn="l" defTabSz="91413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2pPr>
      <a:lvl3pPr marL="1143020" indent="-228893" algn="l" defTabSz="91413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800">
          <a:solidFill>
            <a:schemeClr val="tx1"/>
          </a:solidFill>
          <a:latin typeface="+mn-lt"/>
          <a:cs typeface="+mn-cs"/>
        </a:defRPr>
      </a:lvl3pPr>
      <a:lvl4pPr marL="1599366" indent="-228893" algn="l" defTabSz="914130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800">
          <a:solidFill>
            <a:schemeClr val="tx1"/>
          </a:solidFill>
          <a:latin typeface="+mn-lt"/>
          <a:cs typeface="+mn-cs"/>
        </a:defRPr>
      </a:lvl4pPr>
      <a:lvl5pPr marL="2057150" indent="-228893" algn="l" defTabSz="91413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5pPr>
      <a:lvl6pPr marL="2471748" indent="-228893" algn="l" defTabSz="91413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6pPr>
      <a:lvl7pPr marL="2886345" indent="-228893" algn="l" defTabSz="91413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7pPr>
      <a:lvl8pPr marL="3300941" indent="-228893" algn="l" defTabSz="91413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8pPr>
      <a:lvl9pPr marL="3715540" indent="-228893" algn="l" defTabSz="914130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597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194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791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388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2986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583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180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6777" algn="l" defTabSz="82919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341438"/>
            <a:ext cx="7991475" cy="475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-14288" y="6656388"/>
            <a:ext cx="3743326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000">
                <a:latin typeface="Times New Roman" pitchFamily="18" charset="0"/>
              </a:defRPr>
            </a:lvl1pPr>
          </a:lstStyle>
          <a:p>
            <a:pPr algn="l" rtl="0" fontAlgn="base">
              <a:spcAft>
                <a:spcPct val="0"/>
              </a:spcAft>
              <a:defRPr/>
            </a:pPr>
            <a:endParaRPr lang="en-US" kern="120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defRPr sz="1400" smtClean="0">
                <a:latin typeface="Times New Roman" pitchFamily="18" charset="0"/>
              </a:defRPr>
            </a:lvl1pPr>
          </a:lstStyle>
          <a:p>
            <a:pPr rtl="0" fontAlgn="base">
              <a:spcAft>
                <a:spcPct val="0"/>
              </a:spcAft>
              <a:defRPr/>
            </a:pPr>
            <a:endParaRPr lang="en-US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929322" y="6500834"/>
            <a:ext cx="2928958" cy="357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AU" dirty="0" smtClean="0"/>
              <a:t>Blackwell, H1Upgrade, Sydney 2009</a:t>
            </a:r>
            <a:endParaRPr lang="en-US" dirty="0"/>
          </a:p>
        </p:txBody>
      </p:sp>
      <p:pic>
        <p:nvPicPr>
          <p:cNvPr id="5127" name="Picture 7" descr="h1nflogv800"/>
          <p:cNvPicPr>
            <a:picLocks noChangeAspect="1" noChangeArrowheads="1"/>
          </p:cNvPicPr>
          <p:nvPr userDrawn="1"/>
        </p:nvPicPr>
        <p:blipFill>
          <a:blip r:embed="rId14">
            <a:lum bright="72000"/>
          </a:blip>
          <a:srcRect/>
          <a:stretch>
            <a:fillRect/>
          </a:stretch>
        </p:blipFill>
        <p:spPr bwMode="auto">
          <a:xfrm>
            <a:off x="76200" y="76200"/>
            <a:ext cx="9937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684213" y="981075"/>
            <a:ext cx="8459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AU" kern="120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oleObject" Target="../embeddings/Microsoft_Office_Word_97_-_2003_Document1.doc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video" Target="file:///C:\Users\Jesse\Documents\MPhil%20Work\Plasma%20Bites\Modes_033_0002.wmv" TargetMode="Externa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gif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1" descr="h12001_7"/>
          <p:cNvPicPr>
            <a:picLocks noChangeAspect="1" noChangeArrowheads="1"/>
          </p:cNvPicPr>
          <p:nvPr/>
        </p:nvPicPr>
        <p:blipFill>
          <a:blip r:embed="rId3">
            <a:lum bright="-30000" contrast="-46000"/>
          </a:blip>
          <a:srcRect b="1768"/>
          <a:stretch>
            <a:fillRect/>
          </a:stretch>
        </p:blipFill>
        <p:spPr bwMode="auto">
          <a:xfrm>
            <a:off x="0" y="0"/>
            <a:ext cx="9396413" cy="692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6"/>
          <p:cNvSpPr>
            <a:spLocks noGrp="1" noChangeArrowheads="1"/>
          </p:cNvSpPr>
          <p:nvPr>
            <p:ph type="ctrTitle"/>
          </p:nvPr>
        </p:nvSpPr>
        <p:spPr>
          <a:xfrm>
            <a:off x="0" y="404813"/>
            <a:ext cx="8858280" cy="3095625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bg1"/>
                </a:solidFill>
              </a:rPr>
              <a:t>The Australian Plasma Fusion Research Facility:  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Results and Upgrade Plans</a:t>
            </a:r>
            <a:endParaRPr lang="en-AU" b="1" dirty="0" smtClean="0">
              <a:solidFill>
                <a:schemeClr val="bg1"/>
              </a:solidFill>
            </a:endParaRPr>
          </a:p>
        </p:txBody>
      </p:sp>
      <p:sp>
        <p:nvSpPr>
          <p:cNvPr id="10244" name="Text Box 12"/>
          <p:cNvSpPr txBox="1">
            <a:spLocks noChangeArrowheads="1"/>
          </p:cNvSpPr>
          <p:nvPr/>
        </p:nvSpPr>
        <p:spPr bwMode="auto">
          <a:xfrm>
            <a:off x="2428860" y="5072050"/>
            <a:ext cx="6943740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B.D. Blackwell,  J. Howard, D.G. Pretty, J.W. Read, H. Punzmann, 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J. Bertram, M.J. Hole, F. Detering, C.A. </a:t>
            </a:r>
            <a:r>
              <a:rPr lang="en-US" dirty="0" err="1" smtClean="0">
                <a:solidFill>
                  <a:schemeClr val="bg1"/>
                </a:solidFill>
              </a:rPr>
              <a:t>Nuhrenberg</a:t>
            </a:r>
            <a:r>
              <a:rPr lang="en-US" dirty="0" smtClean="0">
                <a:solidFill>
                  <a:schemeClr val="bg1"/>
                </a:solidFill>
              </a:rPr>
              <a:t>, M. </a:t>
            </a:r>
            <a:r>
              <a:rPr lang="en-US" dirty="0" err="1" smtClean="0">
                <a:solidFill>
                  <a:schemeClr val="bg1"/>
                </a:solidFill>
              </a:rPr>
              <a:t>McGann</a:t>
            </a:r>
            <a:r>
              <a:rPr lang="en-US" dirty="0" smtClean="0">
                <a:solidFill>
                  <a:schemeClr val="bg1"/>
                </a:solidFill>
              </a:rPr>
              <a:t>, R.L. Dewar, J. Bertram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Australian National University, </a:t>
            </a:r>
            <a:r>
              <a:rPr lang="en-US" sz="1600" dirty="0" smtClean="0">
                <a:solidFill>
                  <a:schemeClr val="bg1"/>
                </a:solidFill>
              </a:rPr>
              <a:t> and *Max </a:t>
            </a:r>
            <a:r>
              <a:rPr lang="en-US" sz="1600" dirty="0">
                <a:solidFill>
                  <a:schemeClr val="bg1"/>
                </a:solidFill>
              </a:rPr>
              <a:t>Planck IPP Greifswald</a:t>
            </a:r>
            <a:r>
              <a:rPr lang="en-US" sz="1600" dirty="0" smtClean="0">
                <a:solidFill>
                  <a:schemeClr val="bg1"/>
                </a:solidFill>
              </a:rPr>
              <a:t>,</a:t>
            </a:r>
            <a:r>
              <a:rPr lang="en-AU" sz="1000" dirty="0">
                <a:solidFill>
                  <a:schemeClr val="bg1"/>
                </a:solidFill>
              </a:rPr>
              <a:t/>
            </a:r>
            <a:br>
              <a:rPr lang="en-AU" sz="1000" dirty="0">
                <a:solidFill>
                  <a:schemeClr val="bg1"/>
                </a:solidFill>
              </a:rPr>
            </a:br>
            <a:endParaRPr lang="en-AU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2000"/>
            <a:lum/>
          </a:blip>
          <a:srcRect/>
          <a:stretch>
            <a:fillRect l="30000" t="15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7" y="0"/>
            <a:ext cx="6357982" cy="11430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The Australian Plasma Fusion Facility:  </a:t>
            </a:r>
            <a:br>
              <a:rPr lang="en-US" sz="2800" b="1" dirty="0" smtClean="0">
                <a:solidFill>
                  <a:srgbClr val="7030A0"/>
                </a:solidFill>
              </a:rPr>
            </a:br>
            <a:r>
              <a:rPr lang="en-US" sz="2800" b="1" dirty="0" smtClean="0">
                <a:solidFill>
                  <a:srgbClr val="7030A0"/>
                </a:solidFill>
              </a:rPr>
              <a:t>Results and Upgrade Plans</a:t>
            </a:r>
            <a:endParaRPr lang="en-US" sz="2800" dirty="0" smtClean="0">
              <a:solidFill>
                <a:srgbClr val="7030A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14422"/>
            <a:ext cx="8893175" cy="5089525"/>
          </a:xfrm>
        </p:spPr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lang="en-US" sz="2200" b="1" dirty="0" smtClean="0">
                <a:solidFill>
                  <a:prstClr val="black"/>
                </a:solidFill>
              </a:rPr>
              <a:t>Introduction</a:t>
            </a:r>
          </a:p>
          <a:p>
            <a:pPr lvl="1">
              <a:buFontTx/>
              <a:buNone/>
            </a:pPr>
            <a:r>
              <a:rPr lang="en-US" sz="1800" b="1" dirty="0" smtClean="0"/>
              <a:t>H-1 Plasma and Facility</a:t>
            </a:r>
          </a:p>
          <a:p>
            <a:pPr lvl="1">
              <a:buFontTx/>
              <a:buNone/>
            </a:pPr>
            <a:r>
              <a:rPr lang="en-US" sz="1800" b="1" dirty="0" smtClean="0"/>
              <a:t>Plasma configurations, parameters</a:t>
            </a:r>
          </a:p>
          <a:p>
            <a:pPr>
              <a:buFontTx/>
              <a:buNone/>
            </a:pPr>
            <a:r>
              <a:rPr lang="en-US" sz="2200" b="1" dirty="0" smtClean="0"/>
              <a:t>Facility Upgrade</a:t>
            </a:r>
          </a:p>
          <a:p>
            <a:pPr marL="342900" lvl="1" indent="-342900">
              <a:buNone/>
            </a:pPr>
            <a:r>
              <a:rPr lang="en-US" sz="2200" b="1" dirty="0" smtClean="0"/>
              <a:t>	  </a:t>
            </a:r>
            <a:r>
              <a:rPr lang="en-US" sz="1800" b="1" dirty="0" smtClean="0"/>
              <a:t>Aims</a:t>
            </a:r>
            <a:br>
              <a:rPr lang="en-US" sz="1800" b="1" dirty="0" smtClean="0"/>
            </a:br>
            <a:r>
              <a:rPr lang="en-US" sz="1800" b="1" dirty="0" smtClean="0"/>
              <a:t>  Key areas</a:t>
            </a:r>
          </a:p>
          <a:p>
            <a:pPr marL="342900" lvl="1" indent="-342900">
              <a:buNone/>
            </a:pPr>
            <a:r>
              <a:rPr lang="en-US" sz="1800" b="1" dirty="0" smtClean="0"/>
              <a:t>	  New diagnostics for Upgrade</a:t>
            </a:r>
          </a:p>
          <a:p>
            <a:pPr>
              <a:buFontTx/>
              <a:buNone/>
            </a:pPr>
            <a:r>
              <a:rPr lang="en-US" sz="2200" b="1" dirty="0" smtClean="0"/>
              <a:t>Recent Results: MHD Modes in H-1</a:t>
            </a:r>
          </a:p>
          <a:p>
            <a:pPr>
              <a:buFontTx/>
              <a:buNone/>
            </a:pPr>
            <a:r>
              <a:rPr lang="en-US" sz="1800" b="1" dirty="0" smtClean="0"/>
              <a:t>	  Data mining</a:t>
            </a:r>
            <a:endParaRPr lang="en-US" sz="2200" b="1" dirty="0" smtClean="0"/>
          </a:p>
          <a:p>
            <a:pPr lvl="1">
              <a:buFontTx/>
              <a:buNone/>
            </a:pPr>
            <a:r>
              <a:rPr lang="en-US" sz="1800" b="1" dirty="0" smtClean="0"/>
              <a:t>Alfvénic Scaling</a:t>
            </a:r>
          </a:p>
          <a:p>
            <a:pPr lvl="1">
              <a:buFontTx/>
              <a:buNone/>
            </a:pPr>
            <a:r>
              <a:rPr lang="en-US" sz="1800" b="1" dirty="0" smtClean="0"/>
              <a:t>Optical Measurements</a:t>
            </a:r>
          </a:p>
          <a:p>
            <a:pPr lvl="1">
              <a:buFontTx/>
              <a:buNone/>
            </a:pPr>
            <a:r>
              <a:rPr lang="en-US" sz="1800" b="1" dirty="0" smtClean="0"/>
              <a:t>Radial Structure</a:t>
            </a:r>
          </a:p>
          <a:p>
            <a:pPr>
              <a:buFontTx/>
              <a:buNone/>
            </a:pPr>
            <a:r>
              <a:rPr lang="en-US" sz="2200" b="1" dirty="0" smtClean="0"/>
              <a:t>Stellarator Fusion </a:t>
            </a:r>
          </a:p>
          <a:p>
            <a:pPr lvl="1">
              <a:buFontTx/>
              <a:buNone/>
            </a:pPr>
            <a:r>
              <a:rPr lang="en-US" sz="1800" b="1" dirty="0" smtClean="0"/>
              <a:t>Recent Progress</a:t>
            </a:r>
          </a:p>
          <a:p>
            <a:pPr lvl="1">
              <a:buFontTx/>
              <a:buNone/>
            </a:pPr>
            <a:r>
              <a:rPr lang="en-US" sz="1800" b="1" dirty="0" smtClean="0"/>
              <a:t>Reactor Considerations </a:t>
            </a:r>
          </a:p>
          <a:p>
            <a:pPr>
              <a:buFontTx/>
              <a:buNone/>
            </a:pPr>
            <a:r>
              <a:rPr lang="en-US" sz="2200" b="1" dirty="0" smtClean="0"/>
              <a:t>Conclusions/Future</a:t>
            </a:r>
          </a:p>
          <a:p>
            <a:pPr>
              <a:buFontTx/>
              <a:buNone/>
            </a:pPr>
            <a:endParaRPr lang="en-US" sz="2200" b="1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fld id="{D132E384-F889-48D0-BD47-7EF7ED215D37}" type="slidenum">
              <a:rPr lang="en-US"/>
              <a:pPr/>
              <a:t>2</a:t>
            </a:fld>
            <a:endParaRPr 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/>
          <a:srcRect b="15305"/>
          <a:stretch>
            <a:fillRect/>
          </a:stretch>
        </p:blipFill>
        <p:spPr bwMode="auto">
          <a:xfrm>
            <a:off x="6804025" y="142852"/>
            <a:ext cx="23399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6934200" cy="1000108"/>
          </a:xfrm>
        </p:spPr>
        <p:txBody>
          <a:bodyPr/>
          <a:lstStyle/>
          <a:p>
            <a:r>
              <a:rPr lang="en-GB" sz="3000" dirty="0" smtClean="0"/>
              <a:t>H-1NF: National Plasma Fusion Research Facility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125538"/>
            <a:ext cx="7772400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sz="2000" dirty="0" smtClean="0"/>
              <a:t>A Major National Research Facility established in 1997 by the </a:t>
            </a:r>
            <a:br>
              <a:rPr lang="en-GB" sz="2000" dirty="0" smtClean="0"/>
            </a:br>
            <a:r>
              <a:rPr lang="en-GB" sz="2000" dirty="0" smtClean="0"/>
              <a:t>Commonwealth of Australia and the Australian National University</a:t>
            </a:r>
            <a:endParaRPr lang="en-GB" sz="2000" b="1" dirty="0" smtClean="0"/>
          </a:p>
          <a:p>
            <a:pPr>
              <a:buFontTx/>
              <a:buNone/>
            </a:pPr>
            <a:r>
              <a:rPr lang="en-GB" sz="2000" b="1" dirty="0" smtClean="0"/>
              <a:t>Mission:</a:t>
            </a:r>
          </a:p>
          <a:p>
            <a:r>
              <a:rPr lang="en-GB" sz="2000" dirty="0" smtClean="0"/>
              <a:t>Detailed understanding of the </a:t>
            </a:r>
            <a:r>
              <a:rPr lang="en-GB" sz="2000" b="1" dirty="0" smtClean="0">
                <a:solidFill>
                  <a:schemeClr val="accent2"/>
                </a:solidFill>
              </a:rPr>
              <a:t>basic physics of magnetically confined</a:t>
            </a:r>
            <a:r>
              <a:rPr lang="en-GB" sz="2000" dirty="0" smtClean="0"/>
              <a:t> hot plasma in the</a:t>
            </a:r>
            <a:r>
              <a:rPr lang="en-GB" sz="2000" dirty="0" smtClean="0">
                <a:solidFill>
                  <a:schemeClr val="accent2"/>
                </a:solidFill>
              </a:rPr>
              <a:t> HELIAC </a:t>
            </a:r>
            <a:r>
              <a:rPr lang="en-GB" sz="2000" dirty="0" smtClean="0"/>
              <a:t>configuration</a:t>
            </a:r>
          </a:p>
          <a:p>
            <a:r>
              <a:rPr lang="en-GB" sz="2000" dirty="0" smtClean="0"/>
              <a:t>Development of advanced </a:t>
            </a:r>
            <a:r>
              <a:rPr lang="en-GB" sz="2000" b="1" dirty="0" smtClean="0">
                <a:solidFill>
                  <a:schemeClr val="accent2"/>
                </a:solidFill>
              </a:rPr>
              <a:t>plasma measurement</a:t>
            </a:r>
            <a:r>
              <a:rPr lang="en-GB" sz="2000" dirty="0" smtClean="0"/>
              <a:t> systems</a:t>
            </a:r>
          </a:p>
          <a:p>
            <a:r>
              <a:rPr lang="en-GB" sz="2000" dirty="0" smtClean="0"/>
              <a:t>Fundamental studies including turbulence and transport in plasma</a:t>
            </a:r>
          </a:p>
          <a:p>
            <a:r>
              <a:rPr lang="en-GB" sz="2000" dirty="0" smtClean="0"/>
              <a:t>Contribute to global research effort, maintain </a:t>
            </a:r>
            <a:r>
              <a:rPr lang="en-GB" sz="2000" b="1" dirty="0" smtClean="0">
                <a:solidFill>
                  <a:schemeClr val="accent2"/>
                </a:solidFill>
              </a:rPr>
              <a:t>Australian presence</a:t>
            </a:r>
            <a:r>
              <a:rPr lang="en-GB" sz="2000" dirty="0" smtClean="0"/>
              <a:t> in the field of plasma fusion power</a:t>
            </a:r>
            <a:endParaRPr lang="en-GB" sz="800" b="1" i="1" dirty="0" smtClean="0">
              <a:solidFill>
                <a:schemeClr val="accent2"/>
              </a:solidFill>
            </a:endParaRPr>
          </a:p>
          <a:p>
            <a:pPr>
              <a:buFontTx/>
              <a:buNone/>
            </a:pPr>
            <a:endParaRPr lang="en-GB" sz="700" dirty="0" smtClean="0"/>
          </a:p>
          <a:p>
            <a:pPr>
              <a:buFontTx/>
              <a:buNone/>
            </a:pPr>
            <a:endParaRPr lang="en-GB" sz="1600" dirty="0" smtClean="0"/>
          </a:p>
          <a:p>
            <a:pPr>
              <a:buFontTx/>
              <a:buNone/>
            </a:pPr>
            <a:r>
              <a:rPr lang="en-GB" sz="1600" dirty="0" smtClean="0"/>
              <a:t>The facility is available to Australian researchers through the AINSE</a:t>
            </a:r>
            <a:r>
              <a:rPr lang="en-GB" sz="1600" baseline="30000" dirty="0" smtClean="0"/>
              <a:t>1 </a:t>
            </a:r>
            <a:r>
              <a:rPr lang="en-GB" sz="1600" dirty="0" smtClean="0"/>
              <a:t>and internationally through collaboration with Plasma Research Laboratory, ANU.</a:t>
            </a:r>
          </a:p>
          <a:p>
            <a:pPr>
              <a:buFontTx/>
              <a:buNone/>
            </a:pPr>
            <a:r>
              <a:rPr lang="en-GB" sz="1400" baseline="30000" dirty="0" smtClean="0"/>
              <a:t>	1)</a:t>
            </a:r>
            <a:r>
              <a:rPr lang="en-GB" sz="1400" dirty="0" smtClean="0"/>
              <a:t> Australian Institute of Nuclear Science and Engineering </a:t>
            </a:r>
          </a:p>
          <a:p>
            <a:endParaRPr lang="en-GB" sz="1400" dirty="0" smtClean="0"/>
          </a:p>
        </p:txBody>
      </p:sp>
      <p:sp>
        <p:nvSpPr>
          <p:cNvPr id="14345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C7CB9BB-907A-49C2-B376-CF24F9CF4C4A}" type="slidenum">
              <a:rPr lang="en-US" sz="1400" kern="120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z="1400" kern="120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4340" name="Picture 4" descr="ansie_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24750" y="5516563"/>
            <a:ext cx="114300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8"/>
          <p:cNvPicPr>
            <a:picLocks noChangeAspect="1" noChangeArrowheads="1"/>
          </p:cNvPicPr>
          <p:nvPr/>
        </p:nvPicPr>
        <p:blipFill>
          <a:blip r:embed="rId4"/>
          <a:srcRect b="15305"/>
          <a:stretch>
            <a:fillRect/>
          </a:stretch>
        </p:blipFill>
        <p:spPr bwMode="auto">
          <a:xfrm>
            <a:off x="6804025" y="142852"/>
            <a:ext cx="23399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0347" name="Text Box 11"/>
          <p:cNvSpPr txBox="1">
            <a:spLocks noChangeArrowheads="1"/>
          </p:cNvSpPr>
          <p:nvPr/>
        </p:nvSpPr>
        <p:spPr bwMode="auto">
          <a:xfrm>
            <a:off x="500034" y="6088559"/>
            <a:ext cx="7777162" cy="769441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GB" sz="2200" b="1" i="1" kern="1200" dirty="0">
                <a:solidFill>
                  <a:srgbClr val="3333CC"/>
                </a:solidFill>
                <a:latin typeface="Arial"/>
                <a:ea typeface="+mn-ea"/>
                <a:cs typeface="+mn-cs"/>
              </a:rPr>
              <a:t> limited collaborative funding expires June 2010 </a:t>
            </a:r>
            <a:r>
              <a:rPr lang="en-GB" sz="2200" b="1" i="1" dirty="0" smtClean="0">
                <a:solidFill>
                  <a:srgbClr val="3333CC"/>
                </a:solidFill>
                <a:latin typeface="Arial"/>
              </a:rPr>
              <a:t>– Canberra is only 3 hours away.</a:t>
            </a:r>
            <a:endParaRPr lang="en-GB" sz="2200" b="1" i="1" kern="1200" dirty="0">
              <a:solidFill>
                <a:srgbClr val="3333CC"/>
              </a:solidFill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H-1 CAD</a:t>
            </a:r>
          </a:p>
        </p:txBody>
      </p:sp>
      <p:pic>
        <p:nvPicPr>
          <p:cNvPr id="8" name="Content Placeholder 7" descr="Heliac PR 10.png"/>
          <p:cNvPicPr>
            <a:picLocks noGrp="1" noChangeAspect="1"/>
          </p:cNvPicPr>
          <p:nvPr>
            <p:ph idx="1"/>
          </p:nvPr>
        </p:nvPicPr>
        <p:blipFill>
          <a:blip r:embed="rId3"/>
          <a:srcRect r="2724"/>
          <a:stretch>
            <a:fillRect/>
          </a:stretch>
        </p:blipFill>
        <p:spPr>
          <a:xfrm>
            <a:off x="-1" y="0"/>
            <a:ext cx="9281639" cy="6858000"/>
          </a:xfrm>
        </p:spPr>
      </p:pic>
      <p:sp>
        <p:nvSpPr>
          <p:cNvPr id="1536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fld id="{BBD387E4-A7B9-4D7D-8392-5C554F7D186B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3864" y="146304"/>
            <a:ext cx="60960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H-1 Heliac: Parameters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48200" y="1143000"/>
            <a:ext cx="4495800" cy="5181600"/>
          </a:xfrm>
        </p:spPr>
        <p:txBody>
          <a:bodyPr/>
          <a:lstStyle/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3 period </a:t>
            </a:r>
            <a:r>
              <a:rPr lang="en-US" sz="2000" dirty="0" err="1" smtClean="0">
                <a:latin typeface="Arial Narrow" pitchFamily="34" charset="0"/>
              </a:rPr>
              <a:t>heliac</a:t>
            </a:r>
            <a:r>
              <a:rPr lang="en-US" sz="2000" dirty="0" smtClean="0">
                <a:latin typeface="Arial Narrow" pitchFamily="34" charset="0"/>
              </a:rPr>
              <a:t>: 	1992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Major radius	1m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Minor radius	0.1-0.2m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Vacuum chamber	33m</a:t>
            </a:r>
            <a:r>
              <a:rPr lang="en-US" sz="2000" b="1" baseline="30000" dirty="0" smtClean="0">
                <a:solidFill>
                  <a:srgbClr val="FF0000"/>
                </a:solidFill>
                <a:latin typeface="Arial Narrow" pitchFamily="34" charset="0"/>
              </a:rPr>
              <a:t>2 	</a:t>
            </a:r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excellent access</a:t>
            </a:r>
            <a:endParaRPr lang="en-US" sz="2000" dirty="0" smtClean="0">
              <a:solidFill>
                <a:srgbClr val="FF0000"/>
              </a:solidFill>
              <a:latin typeface="Arial Narrow" pitchFamily="34" charset="0"/>
            </a:endParaRP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b="1" dirty="0" smtClean="0">
                <a:solidFill>
                  <a:srgbClr val="FF0000"/>
                </a:solidFill>
                <a:latin typeface="Arial Narrow" pitchFamily="34" charset="0"/>
              </a:rPr>
              <a:t>Aspect ratio	5+	toroidal</a:t>
            </a:r>
            <a:endParaRPr lang="en-US" sz="2000" dirty="0" smtClean="0">
              <a:latin typeface="Arial Narrow" pitchFamily="34" charset="0"/>
            </a:endParaRP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Magnetic Field	</a:t>
            </a:r>
            <a:r>
              <a:rPr lang="en-US" sz="2000" dirty="0" smtClean="0">
                <a:latin typeface="Arial Narrow" pitchFamily="34" charset="0"/>
                <a:sym typeface="Symbol" pitchFamily="18" charset="2"/>
              </a:rPr>
              <a:t></a:t>
            </a:r>
            <a:r>
              <a:rPr lang="en-US" sz="2000" dirty="0" smtClean="0">
                <a:latin typeface="Arial Narrow" pitchFamily="34" charset="0"/>
              </a:rPr>
              <a:t>1 Tesla (0.2 DC)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Heating Power	0.2MW 28 GHz ECH</a:t>
            </a:r>
            <a:br>
              <a:rPr lang="en-US" sz="2000" dirty="0" smtClean="0">
                <a:latin typeface="Arial Narrow" pitchFamily="34" charset="0"/>
              </a:rPr>
            </a:br>
            <a:r>
              <a:rPr lang="en-US" sz="2000" dirty="0" smtClean="0">
                <a:latin typeface="Arial Narrow" pitchFamily="34" charset="0"/>
              </a:rPr>
              <a:t>		0.3MW 6-25MHz ICH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endParaRPr lang="en-US" sz="2000" dirty="0" smtClean="0">
              <a:latin typeface="Arial Narrow" pitchFamily="34" charset="0"/>
            </a:endParaRP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Parameters: 	achieved to date</a:t>
            </a:r>
            <a:r>
              <a:rPr lang="en-US" sz="2000" b="1" dirty="0" smtClean="0">
                <a:latin typeface="Arial Narrow" pitchFamily="34" charset="0"/>
              </a:rPr>
              <a:t>::</a:t>
            </a:r>
            <a:r>
              <a:rPr lang="en-US" sz="2000" dirty="0" smtClean="0">
                <a:latin typeface="Arial Narrow" pitchFamily="34" charset="0"/>
              </a:rPr>
              <a:t>expected 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	n</a:t>
            </a:r>
            <a:r>
              <a:rPr lang="en-US" sz="2000" baseline="-25000" dirty="0" smtClean="0">
                <a:latin typeface="Arial Narrow" pitchFamily="34" charset="0"/>
              </a:rPr>
              <a:t>	</a:t>
            </a:r>
            <a:r>
              <a:rPr lang="en-US" sz="2000" dirty="0" smtClean="0">
                <a:latin typeface="Arial Narrow" pitchFamily="34" charset="0"/>
              </a:rPr>
              <a:t>3e18 </a:t>
            </a:r>
            <a:r>
              <a:rPr lang="en-US" sz="2000" b="1" dirty="0" smtClean="0">
                <a:latin typeface="Arial Narrow" pitchFamily="34" charset="0"/>
              </a:rPr>
              <a:t>::</a:t>
            </a:r>
            <a:r>
              <a:rPr lang="en-US" sz="2000" dirty="0" smtClean="0">
                <a:latin typeface="Arial Narrow" pitchFamily="34" charset="0"/>
              </a:rPr>
              <a:t> 1e19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	T</a:t>
            </a:r>
            <a:r>
              <a:rPr lang="en-US" sz="2000" baseline="-25000" dirty="0" smtClean="0">
                <a:latin typeface="Arial Narrow" pitchFamily="34" charset="0"/>
              </a:rPr>
              <a:t>	</a:t>
            </a:r>
            <a:r>
              <a:rPr lang="en-US" sz="2000" dirty="0" smtClean="0">
                <a:latin typeface="Arial Narrow" pitchFamily="34" charset="0"/>
              </a:rPr>
              <a:t>&lt;200eV(T</a:t>
            </a:r>
            <a:r>
              <a:rPr lang="en-US" sz="2000" baseline="-25000" dirty="0" smtClean="0">
                <a:latin typeface="Arial Narrow" pitchFamily="34" charset="0"/>
              </a:rPr>
              <a:t>e</a:t>
            </a:r>
            <a:r>
              <a:rPr lang="en-US" sz="2000" dirty="0" smtClean="0">
                <a:latin typeface="Arial Narrow" pitchFamily="34" charset="0"/>
              </a:rPr>
              <a:t>)</a:t>
            </a:r>
            <a:r>
              <a:rPr lang="en-US" sz="2000" b="1" dirty="0" smtClean="0">
                <a:latin typeface="Arial Narrow" pitchFamily="34" charset="0"/>
              </a:rPr>
              <a:t>::</a:t>
            </a:r>
            <a:r>
              <a:rPr lang="en-US" sz="2000" dirty="0" smtClean="0">
                <a:latin typeface="Arial Narrow" pitchFamily="34" charset="0"/>
              </a:rPr>
              <a:t>500eV(T</a:t>
            </a:r>
            <a:r>
              <a:rPr lang="en-US" sz="2000" baseline="-25000" dirty="0" smtClean="0">
                <a:latin typeface="Arial Narrow" pitchFamily="34" charset="0"/>
              </a:rPr>
              <a:t>e</a:t>
            </a:r>
            <a:r>
              <a:rPr lang="en-US" sz="2000" dirty="0" smtClean="0">
                <a:latin typeface="Arial Narrow" pitchFamily="34" charset="0"/>
              </a:rPr>
              <a:t>)</a:t>
            </a:r>
          </a:p>
          <a:p>
            <a:pPr algn="l" defTabSz="1322388">
              <a:tabLst>
                <a:tab pos="915988" algn="l"/>
                <a:tab pos="1790700" algn="l"/>
              </a:tabLst>
            </a:pPr>
            <a:r>
              <a:rPr lang="en-US" sz="2000" dirty="0" smtClean="0">
                <a:latin typeface="Arial Narrow" pitchFamily="34" charset="0"/>
              </a:rPr>
              <a:t>	</a:t>
            </a:r>
            <a:r>
              <a:rPr lang="en-US" sz="2000" dirty="0" smtClean="0">
                <a:latin typeface="Arial Narrow" pitchFamily="34" charset="0"/>
                <a:sym typeface="Symbol" pitchFamily="18" charset="2"/>
              </a:rPr>
              <a:t>	0.1 </a:t>
            </a:r>
            <a:r>
              <a:rPr lang="en-US" sz="2000" b="1" dirty="0" smtClean="0">
                <a:latin typeface="Arial Narrow" pitchFamily="34" charset="0"/>
              </a:rPr>
              <a:t>:</a:t>
            </a:r>
            <a:r>
              <a:rPr lang="en-US" sz="2000" b="1" dirty="0" smtClean="0">
                <a:latin typeface="Arial Narrow" pitchFamily="34" charset="0"/>
                <a:sym typeface="Symbol" pitchFamily="18" charset="2"/>
              </a:rPr>
              <a:t>:</a:t>
            </a:r>
            <a:r>
              <a:rPr lang="en-US" sz="2000" dirty="0" smtClean="0">
                <a:latin typeface="Arial Narrow" pitchFamily="34" charset="0"/>
                <a:sym typeface="Symbol" pitchFamily="18" charset="2"/>
              </a:rPr>
              <a:t> 0.5%</a:t>
            </a:r>
            <a:r>
              <a:rPr lang="en-US" sz="2000" baseline="-25000" dirty="0" smtClean="0">
                <a:latin typeface="Arial Narrow" pitchFamily="34" charset="0"/>
              </a:rPr>
              <a:t>	</a:t>
            </a:r>
            <a:endParaRPr lang="en-US" sz="2000" dirty="0" smtClean="0">
              <a:latin typeface="Arial Narrow" pitchFamily="34" charset="0"/>
            </a:endParaRPr>
          </a:p>
          <a:p>
            <a:pPr defTabSz="1322388">
              <a:tabLst>
                <a:tab pos="915988" algn="l"/>
                <a:tab pos="1790700" algn="l"/>
              </a:tabLst>
            </a:pPr>
            <a:endParaRPr lang="en-US" sz="2000" dirty="0" smtClean="0">
              <a:latin typeface="Arial Narrow" pitchFamily="34" charset="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-1981200" y="70866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57200" y="70866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04800" y="6172200"/>
            <a:ext cx="853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endParaRPr lang="en-US" sz="3600">
              <a:solidFill>
                <a:schemeClr val="accent2"/>
              </a:solidFill>
            </a:endParaRPr>
          </a:p>
        </p:txBody>
      </p:sp>
      <p:pic>
        <p:nvPicPr>
          <p:cNvPr id="17415" name="Picture 16" descr="cas_med_transp"/>
          <p:cNvPicPr>
            <a:picLocks noChangeAspect="1" noChangeArrowheads="1"/>
          </p:cNvPicPr>
          <p:nvPr/>
        </p:nvPicPr>
        <p:blipFill>
          <a:blip r:embed="rId3"/>
          <a:srcRect r="18793"/>
          <a:stretch>
            <a:fillRect/>
          </a:stretch>
        </p:blipFill>
        <p:spPr bwMode="auto">
          <a:xfrm>
            <a:off x="0" y="1196975"/>
            <a:ext cx="4622800" cy="479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/>
          <a:srcRect b="15305"/>
          <a:stretch>
            <a:fillRect/>
          </a:stretch>
        </p:blipFill>
        <p:spPr bwMode="auto">
          <a:xfrm>
            <a:off x="6804025" y="0"/>
            <a:ext cx="23399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Blackwell, ISHW/Toki Conference 10/2007</a:t>
            </a:r>
          </a:p>
        </p:txBody>
      </p:sp>
      <p:pic>
        <p:nvPicPr>
          <p:cNvPr id="146465" name="Picture 33" descr="ELSI_time_evolution_step_c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56013"/>
            <a:ext cx="4356100" cy="3201987"/>
          </a:xfrm>
          <a:prstGeom prst="rect">
            <a:avLst/>
          </a:prstGeom>
          <a:noFill/>
        </p:spPr>
      </p:pic>
      <p:graphicFrame>
        <p:nvGraphicFramePr>
          <p:cNvPr id="146452" name="Object 20"/>
          <p:cNvGraphicFramePr>
            <a:graphicFrameLocks noChangeAspect="1"/>
          </p:cNvGraphicFramePr>
          <p:nvPr/>
        </p:nvGraphicFramePr>
        <p:xfrm>
          <a:off x="0" y="1125538"/>
          <a:ext cx="2201863" cy="2836862"/>
        </p:xfrm>
        <a:graphic>
          <a:graphicData uri="http://schemas.openxmlformats.org/presentationml/2006/ole">
            <p:oleObj spid="_x0000_s1026" name="Document" r:id="rId5" imgW="2368440" imgH="2867040" progId="Word.Document.8">
              <p:embed/>
            </p:oleObj>
          </a:graphicData>
        </a:graphic>
      </p:graphicFrame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921625" cy="1143000"/>
          </a:xfrm>
        </p:spPr>
        <p:txBody>
          <a:bodyPr/>
          <a:lstStyle/>
          <a:p>
            <a:r>
              <a:rPr lang="en-US" sz="3400" dirty="0" smtClean="0">
                <a:solidFill>
                  <a:srgbClr val="7030A0"/>
                </a:solidFill>
              </a:rPr>
              <a:t>H-1 Plasma </a:t>
            </a:r>
            <a:r>
              <a:rPr lang="en-US" sz="3400" dirty="0">
                <a:solidFill>
                  <a:srgbClr val="7030A0"/>
                </a:solidFill>
              </a:rPr>
              <a:t>Production by ICRF</a:t>
            </a:r>
          </a:p>
        </p:txBody>
      </p:sp>
      <p:sp>
        <p:nvSpPr>
          <p:cNvPr id="14643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341438"/>
            <a:ext cx="3917950" cy="4751387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  <a:buFontTx/>
              <a:buNone/>
            </a:pPr>
            <a:r>
              <a:rPr lang="en-GB" sz="1400"/>
              <a:t> </a:t>
            </a:r>
            <a:endParaRPr lang="en-GB" sz="1600"/>
          </a:p>
        </p:txBody>
      </p:sp>
      <p:sp>
        <p:nvSpPr>
          <p:cNvPr id="146451" name="Text Box 19"/>
          <p:cNvSpPr txBox="1">
            <a:spLocks noChangeArrowheads="1"/>
          </p:cNvSpPr>
          <p:nvPr/>
        </p:nvSpPr>
        <p:spPr bwMode="auto">
          <a:xfrm>
            <a:off x="2411413" y="1412875"/>
            <a:ext cx="2303462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ICRF Heating:</a:t>
            </a:r>
            <a:endParaRPr lang="en-US" sz="1600">
              <a:latin typeface="Times New Roman" pitchFamily="18" charset="0"/>
            </a:endParaRP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</a:rPr>
              <a:t>B=0.5Tesla, </a:t>
            </a:r>
            <a:r>
              <a:rPr lang="en-US" sz="1600">
                <a:latin typeface="Times New Roman" pitchFamily="18" charset="0"/>
                <a:sym typeface="Symbol" pitchFamily="18" charset="2"/>
              </a:rPr>
              <a:t> = </a:t>
            </a:r>
            <a:r>
              <a:rPr lang="en-US" sz="1600" baseline="-25000">
                <a:latin typeface="Times New Roman" pitchFamily="18" charset="0"/>
                <a:sym typeface="Symbol" pitchFamily="18" charset="2"/>
              </a:rPr>
              <a:t>CH  </a:t>
            </a:r>
            <a:r>
              <a:rPr lang="en-US" sz="1600">
                <a:latin typeface="Times New Roman" pitchFamily="18" charset="0"/>
                <a:sym typeface="Symbol" pitchFamily="18" charset="2"/>
              </a:rPr>
              <a:t>(f~7Mhz)</a:t>
            </a:r>
          </a:p>
          <a:p>
            <a:pPr>
              <a:buFontTx/>
              <a:buChar char="•"/>
            </a:pPr>
            <a:r>
              <a:rPr lang="en-US" sz="1600">
                <a:latin typeface="Times New Roman" pitchFamily="18" charset="0"/>
                <a:sym typeface="Symbol" pitchFamily="18" charset="2"/>
              </a:rPr>
              <a:t>Large variation in n</a:t>
            </a:r>
            <a:r>
              <a:rPr lang="en-US" sz="1600" baseline="-25000">
                <a:latin typeface="Times New Roman" pitchFamily="18" charset="0"/>
                <a:sym typeface="Symbol" pitchFamily="18" charset="2"/>
              </a:rPr>
              <a:t>e</a:t>
            </a:r>
            <a:r>
              <a:rPr lang="en-US" sz="1600">
                <a:latin typeface="Times New Roman" pitchFamily="18" charset="0"/>
                <a:sym typeface="Symbol" pitchFamily="18" charset="2"/>
              </a:rPr>
              <a:t> with iota</a:t>
            </a:r>
          </a:p>
        </p:txBody>
      </p:sp>
      <p:sp>
        <p:nvSpPr>
          <p:cNvPr id="146454" name="Line 22"/>
          <p:cNvSpPr>
            <a:spLocks noChangeShapeType="1"/>
          </p:cNvSpPr>
          <p:nvPr/>
        </p:nvSpPr>
        <p:spPr bwMode="auto">
          <a:xfrm>
            <a:off x="4932363" y="4005263"/>
            <a:ext cx="0" cy="2505075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46457" name="Text Box 25"/>
          <p:cNvSpPr txBox="1">
            <a:spLocks noChangeArrowheads="1"/>
          </p:cNvSpPr>
          <p:nvPr/>
        </p:nvSpPr>
        <p:spPr bwMode="auto">
          <a:xfrm>
            <a:off x="611188" y="3789363"/>
            <a:ext cx="2416175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</a:pPr>
            <a:r>
              <a:rPr lang="en-US">
                <a:latin typeface="Times New Roman" pitchFamily="18" charset="0"/>
              </a:rPr>
              <a:t>Backward Wave</a:t>
            </a:r>
            <a:br>
              <a:rPr lang="en-US">
                <a:latin typeface="Times New Roman" pitchFamily="18" charset="0"/>
              </a:rPr>
            </a:br>
            <a:r>
              <a:rPr lang="en-US">
                <a:latin typeface="Times New Roman" pitchFamily="18" charset="0"/>
              </a:rPr>
              <a:t>Oscillator </a:t>
            </a:r>
            <a:br>
              <a:rPr lang="en-US">
                <a:latin typeface="Times New Roman" pitchFamily="18" charset="0"/>
              </a:rPr>
            </a:br>
            <a:r>
              <a:rPr lang="en-US">
                <a:latin typeface="Times New Roman" pitchFamily="18" charset="0"/>
              </a:rPr>
              <a:t>Scanning Interferometer </a:t>
            </a:r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(Howard, </a:t>
            </a:r>
            <a:br>
              <a:rPr lang="en-US">
                <a:solidFill>
                  <a:srgbClr val="FF0000"/>
                </a:solidFill>
                <a:latin typeface="Times New Roman" pitchFamily="18" charset="0"/>
              </a:rPr>
            </a:br>
            <a:r>
              <a:rPr lang="en-US">
                <a:solidFill>
                  <a:srgbClr val="FF0000"/>
                </a:solidFill>
                <a:latin typeface="Times New Roman" pitchFamily="18" charset="0"/>
              </a:rPr>
              <a:t>Oliver)</a:t>
            </a:r>
          </a:p>
        </p:txBody>
      </p:sp>
      <p:pic>
        <p:nvPicPr>
          <p:cNvPr id="146461" name="Picture 29" descr="jscope_rf_62000_read_green"/>
          <p:cNvPicPr>
            <a:picLocks noChangeAspect="1" noChangeArrowheads="1"/>
          </p:cNvPicPr>
          <p:nvPr/>
        </p:nvPicPr>
        <p:blipFill>
          <a:blip r:embed="rId6"/>
          <a:srcRect r="40318" b="999"/>
          <a:stretch>
            <a:fillRect/>
          </a:stretch>
        </p:blipFill>
        <p:spPr bwMode="auto">
          <a:xfrm>
            <a:off x="5292725" y="981075"/>
            <a:ext cx="3438525" cy="5818188"/>
          </a:xfrm>
          <a:prstGeom prst="rect">
            <a:avLst/>
          </a:prstGeom>
          <a:noFill/>
        </p:spPr>
      </p:pic>
      <p:sp>
        <p:nvSpPr>
          <p:cNvPr id="146463" name="Text Box 31"/>
          <p:cNvSpPr txBox="1">
            <a:spLocks noChangeArrowheads="1"/>
          </p:cNvSpPr>
          <p:nvPr/>
        </p:nvSpPr>
        <p:spPr bwMode="auto">
          <a:xfrm>
            <a:off x="4716463" y="6491288"/>
            <a:ext cx="13684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latin typeface="Times New Roman" pitchFamily="18" charset="0"/>
              </a:rPr>
              <a:t>Axis</a:t>
            </a:r>
            <a:endParaRPr lang="en-US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Grp="1" noChangeArrowheads="1"/>
          </p:cNvSpPr>
          <p:nvPr>
            <p:ph type="title"/>
          </p:nvPr>
        </p:nvSpPr>
        <p:spPr>
          <a:xfrm>
            <a:off x="785813" y="0"/>
            <a:ext cx="8532812" cy="1143000"/>
          </a:xfrm>
        </p:spPr>
        <p:txBody>
          <a:bodyPr>
            <a:normAutofit fontScale="90000"/>
          </a:bodyPr>
          <a:lstStyle/>
          <a:p>
            <a:r>
              <a:rPr lang="en-US" smtClean="0"/>
              <a:t>H-1 configuration (shape) is very flexible</a:t>
            </a:r>
            <a:endParaRPr lang="en-US" smtClean="0">
              <a:latin typeface="Arial Narrow" pitchFamily="34" charset="0"/>
            </a:endParaRPr>
          </a:p>
        </p:txBody>
      </p:sp>
      <p:pic>
        <p:nvPicPr>
          <p:cNvPr id="18434" name="Picture 2" descr="kappa_h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t="1852"/>
          <a:stretch>
            <a:fillRect/>
          </a:stretch>
        </p:blipFill>
        <p:spPr>
          <a:xfrm>
            <a:off x="0" y="1052513"/>
            <a:ext cx="5308600" cy="5805487"/>
          </a:xfrm>
        </p:spPr>
      </p:pic>
      <p:sp>
        <p:nvSpPr>
          <p:cNvPr id="18446" name="Slide Number Placeholder 14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fld id="{17804856-09B9-481C-96CF-5AAF48E52166}" type="slidenum">
              <a:rPr lang="en-US"/>
              <a:pPr/>
              <a:t>7</a:t>
            </a:fld>
            <a:endParaRPr lang="en-US"/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5029200" y="1341438"/>
            <a:ext cx="4114800" cy="518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92100" indent="-177800" defTabSz="536575" eaLnBrk="0" hangingPunct="0">
              <a:spcBef>
                <a:spcPct val="50000"/>
              </a:spcBef>
              <a:buFontTx/>
              <a:buChar char="•"/>
              <a:defRPr/>
            </a:pPr>
            <a:endParaRPr lang="en-US" b="1" i="1" dirty="0">
              <a:latin typeface="+mn-lt"/>
            </a:endParaRPr>
          </a:p>
          <a:p>
            <a:pPr marL="292100" indent="-177800" defTabSz="536575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b="1" i="1" dirty="0">
                <a:latin typeface="+mn-lt"/>
              </a:rPr>
              <a:t>“flexible </a:t>
            </a:r>
            <a:r>
              <a:rPr lang="en-US" b="1" i="1" dirty="0" err="1">
                <a:latin typeface="+mn-lt"/>
              </a:rPr>
              <a:t>heliac</a:t>
            </a:r>
            <a:r>
              <a:rPr lang="en-US" b="1" i="1" dirty="0">
                <a:latin typeface="+mn-lt"/>
              </a:rPr>
              <a:t>”</a:t>
            </a:r>
            <a:r>
              <a:rPr lang="en-US" dirty="0">
                <a:latin typeface="+mn-lt"/>
              </a:rPr>
              <a:t> :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helical winding, with </a:t>
            </a:r>
            <a:br>
              <a:rPr lang="en-US" dirty="0">
                <a:latin typeface="+mn-lt"/>
              </a:rPr>
            </a:br>
            <a:r>
              <a:rPr lang="en-US" b="1" dirty="0" err="1">
                <a:latin typeface="+mn-lt"/>
              </a:rPr>
              <a:t>helicity</a:t>
            </a:r>
            <a:r>
              <a:rPr lang="en-US" b="1" dirty="0">
                <a:latin typeface="+mn-lt"/>
              </a:rPr>
              <a:t> matching the plasma</a:t>
            </a:r>
            <a:r>
              <a:rPr lang="en-US" dirty="0">
                <a:latin typeface="+mn-lt"/>
              </a:rPr>
              <a:t>,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  <a:sym typeface="Symbol" pitchFamily="18" charset="2"/>
              </a:rPr>
              <a:t> 2:1 range of twist/turn</a:t>
            </a:r>
            <a:endParaRPr lang="en-US" dirty="0">
              <a:latin typeface="+mn-lt"/>
            </a:endParaRPr>
          </a:p>
          <a:p>
            <a:pPr marL="292100" indent="-177800" defTabSz="536575" eaLnBrk="0" hangingPunct="0">
              <a:spcBef>
                <a:spcPct val="50000"/>
              </a:spcBef>
              <a:buFontTx/>
              <a:buChar char="•"/>
              <a:defRPr/>
            </a:pPr>
            <a:endParaRPr lang="en-US" dirty="0">
              <a:latin typeface="+mn-lt"/>
            </a:endParaRPr>
          </a:p>
          <a:p>
            <a:pPr marL="292100" indent="-177800" defTabSz="536575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dirty="0">
                <a:latin typeface="+mn-lt"/>
              </a:rPr>
              <a:t>H-1NF can control 2 out of 3 of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	</a:t>
            </a:r>
            <a:r>
              <a:rPr lang="en-US" b="1" dirty="0">
                <a:latin typeface="+mn-lt"/>
              </a:rPr>
              <a:t>transform (</a:t>
            </a:r>
            <a:r>
              <a:rPr lang="en-US" sz="2000" dirty="0">
                <a:latin typeface="+mn-lt"/>
                <a:sym typeface="Symbol" pitchFamily="18" charset="2"/>
              </a:rPr>
              <a:t>)</a:t>
            </a:r>
            <a:r>
              <a:rPr lang="en-US" b="1" dirty="0">
                <a:latin typeface="+mn-lt"/>
              </a:rPr>
              <a:t/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	magnetic well and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	shear </a:t>
            </a:r>
            <a:r>
              <a:rPr lang="en-US" sz="2000" b="1" dirty="0">
                <a:latin typeface="+mn-lt"/>
                <a:sym typeface="Symbol" pitchFamily="18" charset="2"/>
              </a:rPr>
              <a:t> (</a:t>
            </a:r>
            <a:r>
              <a:rPr lang="en-US" b="1" dirty="0">
                <a:latin typeface="+mn-lt"/>
              </a:rPr>
              <a:t>spatial rate of change) </a:t>
            </a:r>
            <a:endParaRPr lang="en-US" sz="2000" b="1" dirty="0">
              <a:latin typeface="+mn-lt"/>
              <a:sym typeface="Symbol" pitchFamily="18" charset="2"/>
            </a:endParaRPr>
          </a:p>
          <a:p>
            <a:pPr marL="292100" indent="-177800" defTabSz="536575" eaLnBrk="0" hangingPunct="0">
              <a:spcBef>
                <a:spcPct val="50000"/>
              </a:spcBef>
              <a:buFontTx/>
              <a:buChar char="•"/>
              <a:defRPr/>
            </a:pPr>
            <a:endParaRPr lang="en-US" sz="2000" b="1" dirty="0">
              <a:solidFill>
                <a:schemeClr val="accent2"/>
              </a:solidFill>
              <a:latin typeface="+mn-lt"/>
              <a:sym typeface="Symbol" pitchFamily="18" charset="2"/>
            </a:endParaRPr>
          </a:p>
          <a:p>
            <a:pPr marL="292100" indent="-177800" defTabSz="536575" eaLnBrk="0" hangingPunct="0">
              <a:spcBef>
                <a:spcPct val="50000"/>
              </a:spcBef>
              <a:buFontTx/>
              <a:buChar char="•"/>
              <a:defRPr/>
            </a:pPr>
            <a:r>
              <a:rPr lang="en-US" sz="20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Reversed Shear</a:t>
            </a:r>
            <a:br>
              <a:rPr lang="en-US" sz="20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</a:br>
            <a:r>
              <a:rPr lang="en-US" sz="2000" b="1" dirty="0">
                <a:solidFill>
                  <a:schemeClr val="accent2"/>
                </a:solidFill>
                <a:latin typeface="+mn-lt"/>
                <a:sym typeface="Wingdings" pitchFamily="2" charset="2"/>
              </a:rPr>
              <a:t> </a:t>
            </a:r>
            <a:r>
              <a:rPr lang="en-US" sz="2000" b="1" dirty="0">
                <a:solidFill>
                  <a:schemeClr val="accent2"/>
                </a:solidFill>
                <a:latin typeface="+mn-lt"/>
                <a:sym typeface="Symbol" pitchFamily="18" charset="2"/>
              </a:rPr>
              <a:t>Advanced Tokamak mode of operation</a:t>
            </a:r>
          </a:p>
        </p:txBody>
      </p:sp>
      <p:pic>
        <p:nvPicPr>
          <p:cNvPr id="18437" name="Picture 8" descr="iota_vs_avgr_pretty_thesis"/>
          <p:cNvPicPr>
            <a:picLocks noChangeAspect="1" noChangeArrowheads="1"/>
          </p:cNvPicPr>
          <p:nvPr/>
        </p:nvPicPr>
        <p:blipFill>
          <a:blip r:embed="rId4"/>
          <a:srcRect t="160" r="2243" b="4175"/>
          <a:stretch>
            <a:fillRect/>
          </a:stretch>
        </p:blipFill>
        <p:spPr bwMode="auto">
          <a:xfrm>
            <a:off x="107950" y="2657475"/>
            <a:ext cx="4083050" cy="380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Text Box 9"/>
          <p:cNvSpPr txBox="1">
            <a:spLocks noChangeArrowheads="1"/>
          </p:cNvSpPr>
          <p:nvPr/>
        </p:nvSpPr>
        <p:spPr bwMode="auto">
          <a:xfrm>
            <a:off x="3910013" y="6396038"/>
            <a:ext cx="12239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Edge</a:t>
            </a:r>
          </a:p>
        </p:txBody>
      </p:sp>
      <p:sp>
        <p:nvSpPr>
          <p:cNvPr id="18439" name="Text Box 10"/>
          <p:cNvSpPr txBox="1">
            <a:spLocks noChangeArrowheads="1"/>
          </p:cNvSpPr>
          <p:nvPr/>
        </p:nvSpPr>
        <p:spPr bwMode="auto">
          <a:xfrm>
            <a:off x="14288" y="6418263"/>
            <a:ext cx="12239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 Centre</a:t>
            </a:r>
          </a:p>
        </p:txBody>
      </p:sp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2124075" y="2924175"/>
            <a:ext cx="143986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low shear</a:t>
            </a:r>
          </a:p>
        </p:txBody>
      </p:sp>
      <p:sp>
        <p:nvSpPr>
          <p:cNvPr id="18441" name="Text Box 12"/>
          <p:cNvSpPr txBox="1">
            <a:spLocks noChangeArrowheads="1"/>
          </p:cNvSpPr>
          <p:nvPr/>
        </p:nvSpPr>
        <p:spPr bwMode="auto">
          <a:xfrm>
            <a:off x="2351088" y="5849938"/>
            <a:ext cx="18002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medium shear</a:t>
            </a:r>
          </a:p>
        </p:txBody>
      </p:sp>
      <p:sp>
        <p:nvSpPr>
          <p:cNvPr id="18442" name="Line 13"/>
          <p:cNvSpPr>
            <a:spLocks noChangeShapeType="1"/>
          </p:cNvSpPr>
          <p:nvPr/>
        </p:nvSpPr>
        <p:spPr bwMode="auto">
          <a:xfrm>
            <a:off x="2268538" y="4941888"/>
            <a:ext cx="1798637" cy="0"/>
          </a:xfrm>
          <a:prstGeom prst="line">
            <a:avLst/>
          </a:prstGeom>
          <a:noFill/>
          <a:ln w="57150">
            <a:solidFill>
              <a:srgbClr val="FF3300"/>
            </a:solidFill>
            <a:prstDash val="lgDash"/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18443" name="Line 14"/>
          <p:cNvSpPr>
            <a:spLocks noChangeShapeType="1"/>
          </p:cNvSpPr>
          <p:nvPr/>
        </p:nvSpPr>
        <p:spPr bwMode="auto">
          <a:xfrm>
            <a:off x="539750" y="4221163"/>
            <a:ext cx="3600450" cy="0"/>
          </a:xfrm>
          <a:prstGeom prst="line">
            <a:avLst/>
          </a:prstGeom>
          <a:noFill/>
          <a:ln w="57150">
            <a:solidFill>
              <a:srgbClr val="33CC33"/>
            </a:solidFill>
            <a:prstDash val="lgDash"/>
            <a:round/>
            <a:headEnd/>
            <a:tailEnd/>
          </a:ln>
        </p:spPr>
        <p:txBody>
          <a:bodyPr>
            <a:spAutoFit/>
          </a:bodyPr>
          <a:lstStyle/>
          <a:p>
            <a:endParaRPr lang="en-AU"/>
          </a:p>
        </p:txBody>
      </p:sp>
      <p:sp>
        <p:nvSpPr>
          <p:cNvPr id="18444" name="Text Box 20"/>
          <p:cNvSpPr txBox="1">
            <a:spLocks noChangeArrowheads="1"/>
          </p:cNvSpPr>
          <p:nvPr/>
        </p:nvSpPr>
        <p:spPr bwMode="auto">
          <a:xfrm>
            <a:off x="1042988" y="4005263"/>
            <a:ext cx="719137" cy="2968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10800" tIns="10800" rIns="10800" bIns="10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GB" b="1" i="1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 = </a:t>
            </a:r>
            <a:r>
              <a:rPr lang="en-GB" b="1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4/3</a:t>
            </a:r>
            <a:endParaRPr lang="en-US" b="1">
              <a:solidFill>
                <a:srgbClr val="33CC33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8445" name="Text Box 21"/>
          <p:cNvSpPr txBox="1">
            <a:spLocks noChangeArrowheads="1"/>
          </p:cNvSpPr>
          <p:nvPr/>
        </p:nvSpPr>
        <p:spPr bwMode="auto">
          <a:xfrm>
            <a:off x="4067175" y="4797425"/>
            <a:ext cx="719138" cy="2968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10800" tIns="10800" rIns="10800" bIns="10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GB" b="1" i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 = </a:t>
            </a:r>
            <a:r>
              <a:rPr lang="en-GB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5/4</a:t>
            </a:r>
            <a:endParaRPr lang="en-US" b="1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0"/>
            <a:ext cx="8243887" cy="1143000"/>
          </a:xfrm>
        </p:spPr>
        <p:txBody>
          <a:bodyPr/>
          <a:lstStyle/>
          <a:p>
            <a:r>
              <a:rPr lang="en-US" sz="3200" smtClean="0"/>
              <a:t>Experimental confirmation of configurations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52513"/>
            <a:ext cx="4681538" cy="5805487"/>
          </a:xfrm>
        </p:spPr>
        <p:txBody>
          <a:bodyPr/>
          <a:lstStyle/>
          <a:p>
            <a:pPr>
              <a:buFontTx/>
              <a:buNone/>
            </a:pPr>
            <a:r>
              <a:rPr lang="en-US" sz="1800" b="1" smtClean="0"/>
              <a:t>Rotating wire array</a:t>
            </a:r>
          </a:p>
          <a:p>
            <a:r>
              <a:rPr lang="en-US" sz="1600" smtClean="0"/>
              <a:t>64 Mo wires (200um)</a:t>
            </a:r>
          </a:p>
          <a:p>
            <a:r>
              <a:rPr lang="en-US" sz="1600" smtClean="0"/>
              <a:t>90 - 1440 angles</a:t>
            </a:r>
          </a:p>
          <a:p>
            <a:pPr>
              <a:buFontTx/>
              <a:buNone/>
            </a:pPr>
            <a:r>
              <a:rPr lang="en-US" sz="1800" smtClean="0"/>
              <a:t>High accuracy (0.5mm)</a:t>
            </a:r>
          </a:p>
          <a:p>
            <a:pPr>
              <a:buFontTx/>
              <a:buNone/>
            </a:pPr>
            <a:r>
              <a:rPr lang="en-US" sz="1800" smtClean="0"/>
              <a:t>Moderate image quality </a:t>
            </a:r>
          </a:p>
          <a:p>
            <a:pPr>
              <a:buFontTx/>
              <a:buNone/>
            </a:pPr>
            <a:r>
              <a:rPr lang="en-US" sz="1800" smtClean="0"/>
              <a:t>Always available</a:t>
            </a:r>
          </a:p>
          <a:p>
            <a:pPr>
              <a:buFontTx/>
              <a:buNone/>
            </a:pPr>
            <a:endParaRPr lang="en-US" sz="1800" smtClean="0"/>
          </a:p>
          <a:p>
            <a:pPr>
              <a:buFontTx/>
              <a:buNone/>
            </a:pPr>
            <a:r>
              <a:rPr lang="en-US" sz="1600" smtClean="0"/>
              <a:t>Excellent agreement with computation</a:t>
            </a:r>
          </a:p>
          <a:p>
            <a:pPr>
              <a:buFontTx/>
              <a:buNone/>
            </a:pPr>
            <a:endParaRPr lang="en-US" sz="1600" smtClean="0"/>
          </a:p>
        </p:txBody>
      </p:sp>
      <p:sp>
        <p:nvSpPr>
          <p:cNvPr id="19458" name="Date Placeholder 3"/>
          <p:cNvSpPr>
            <a:spLocks noGrp="1"/>
          </p:cNvSpPr>
          <p:nvPr>
            <p:ph type="dt" sz="half" idx="10"/>
          </p:nvPr>
        </p:nvSpPr>
        <p:spPr>
          <a:xfrm>
            <a:off x="-785813" y="7286625"/>
            <a:ext cx="2586038" cy="404813"/>
          </a:xfrm>
          <a:noFill/>
        </p:spPr>
        <p:txBody>
          <a:bodyPr/>
          <a:lstStyle/>
          <a:p>
            <a:r>
              <a:rPr lang="en-US" smtClean="0"/>
              <a:t>Blackwell, AIP Congress/AINSE PP 12/2006</a:t>
            </a:r>
          </a:p>
        </p:txBody>
      </p:sp>
      <p:pic>
        <p:nvPicPr>
          <p:cNvPr id="19461" name="Picture 4" descr="wire_wheel_side"/>
          <p:cNvPicPr>
            <a:picLocks noChangeAspect="1" noChangeArrowheads="1"/>
          </p:cNvPicPr>
          <p:nvPr/>
        </p:nvPicPr>
        <p:blipFill>
          <a:blip r:embed="rId3"/>
          <a:srcRect l="3476" r="8090"/>
          <a:stretch>
            <a:fillRect/>
          </a:stretch>
        </p:blipFill>
        <p:spPr bwMode="auto">
          <a:xfrm>
            <a:off x="5072066" y="1285860"/>
            <a:ext cx="4071934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539750" y="3716338"/>
            <a:ext cx="2590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chemeClr val="accent2"/>
                </a:solidFill>
              </a:rPr>
              <a:t>T.A. Santhosh Kumar B.D.Blackwell, J.Howard</a:t>
            </a:r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19463" name="Picture 6" descr="04051205_3it_973new_brightx"/>
          <p:cNvPicPr>
            <a:picLocks noChangeAspect="1" noChangeArrowheads="1"/>
          </p:cNvPicPr>
          <p:nvPr/>
        </p:nvPicPr>
        <p:blipFill>
          <a:blip r:embed="rId4"/>
          <a:srcRect l="32857" t="30075" b="21930"/>
          <a:stretch>
            <a:fillRect/>
          </a:stretch>
        </p:blipFill>
        <p:spPr bwMode="auto">
          <a:xfrm>
            <a:off x="0" y="4327525"/>
            <a:ext cx="4722813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7072313" y="0"/>
            <a:ext cx="20716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AU" b="1">
                <a:solidFill>
                  <a:srgbClr val="FF0000"/>
                </a:solidFill>
              </a:rPr>
              <a:t>Santhosh Kumar 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8728" y="5572140"/>
            <a:ext cx="2357454" cy="461665"/>
          </a:xfrm>
          <a:prstGeom prst="rect">
            <a:avLst/>
          </a:prstGeom>
          <a:noFill/>
        </p:spPr>
        <p:txBody>
          <a:bodyPr wrap="square" lIns="91430" tIns="45715" rIns="91430" bIns="45715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alibri" pitchFamily="34" charset="0"/>
              </a:rPr>
              <a:t>Iota </a:t>
            </a:r>
            <a:r>
              <a:rPr lang="en-US" sz="2000" dirty="0" smtClean="0">
                <a:solidFill>
                  <a:schemeClr val="bg1"/>
                </a:solidFill>
                <a:latin typeface="Calibri" pitchFamily="34" charset="0"/>
              </a:rPr>
              <a:t>~ </a:t>
            </a:r>
            <a:r>
              <a:rPr lang="en-US" dirty="0" smtClean="0">
                <a:solidFill>
                  <a:schemeClr val="bg1"/>
                </a:solidFill>
                <a:latin typeface="Calibri" pitchFamily="34" charset="0"/>
              </a:rPr>
              <a:t>1.4  (7/5)</a:t>
            </a:r>
            <a:endParaRPr lang="en-AU" dirty="0">
              <a:solidFill>
                <a:schemeClr val="bg1"/>
              </a:solidFill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2000"/>
            <a:lum/>
          </a:blip>
          <a:srcRect/>
          <a:stretch>
            <a:fillRect l="30000" t="15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7" y="0"/>
            <a:ext cx="6357982" cy="11430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The Australian Plasma Fusion Facility:  </a:t>
            </a:r>
            <a:br>
              <a:rPr lang="en-US" sz="2800" b="1" dirty="0" smtClean="0">
                <a:solidFill>
                  <a:srgbClr val="7030A0"/>
                </a:solidFill>
              </a:rPr>
            </a:br>
            <a:r>
              <a:rPr lang="en-US" sz="2800" b="1" dirty="0" smtClean="0">
                <a:solidFill>
                  <a:srgbClr val="7030A0"/>
                </a:solidFill>
              </a:rPr>
              <a:t>Results and Upgrade Plans</a:t>
            </a:r>
            <a:endParaRPr lang="en-US" sz="2800" dirty="0" smtClean="0">
              <a:solidFill>
                <a:srgbClr val="7030A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14422"/>
            <a:ext cx="8893175" cy="5089525"/>
          </a:xfrm>
        </p:spPr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lang="en-US" sz="2200" b="1" dirty="0" smtClean="0">
                <a:solidFill>
                  <a:prstClr val="black"/>
                </a:solidFill>
              </a:rPr>
              <a:t>Introduction</a:t>
            </a:r>
          </a:p>
          <a:p>
            <a:pPr lvl="1">
              <a:buFontTx/>
              <a:buNone/>
            </a:pPr>
            <a:r>
              <a:rPr lang="en-US" sz="1800" b="1" dirty="0" smtClean="0"/>
              <a:t>H-1 Plasma and Facility</a:t>
            </a:r>
          </a:p>
          <a:p>
            <a:pPr lvl="1">
              <a:buFontTx/>
              <a:buNone/>
            </a:pPr>
            <a:r>
              <a:rPr lang="en-US" sz="1800" b="1" dirty="0" smtClean="0"/>
              <a:t>Plasma configurations, parameters</a:t>
            </a:r>
          </a:p>
          <a:p>
            <a:pPr>
              <a:buFontTx/>
              <a:buNone/>
            </a:pPr>
            <a:r>
              <a:rPr lang="en-US" sz="2200" b="1" dirty="0" smtClean="0"/>
              <a:t>Facility Upgrade</a:t>
            </a:r>
          </a:p>
          <a:p>
            <a:pPr marL="342900" lvl="1" indent="-342900">
              <a:buNone/>
            </a:pPr>
            <a:r>
              <a:rPr lang="en-US" sz="2200" b="1" dirty="0" smtClean="0"/>
              <a:t>	  </a:t>
            </a:r>
            <a:r>
              <a:rPr lang="en-US" sz="1800" b="1" dirty="0" smtClean="0"/>
              <a:t>Aims</a:t>
            </a:r>
            <a:br>
              <a:rPr lang="en-US" sz="1800" b="1" dirty="0" smtClean="0"/>
            </a:br>
            <a:r>
              <a:rPr lang="en-US" sz="1800" b="1" dirty="0" smtClean="0"/>
              <a:t>  Key areas</a:t>
            </a:r>
          </a:p>
          <a:p>
            <a:pPr marL="342900" lvl="1" indent="-342900">
              <a:buNone/>
            </a:pPr>
            <a:r>
              <a:rPr lang="en-US" sz="1800" b="1" dirty="0" smtClean="0"/>
              <a:t>	  New diagnostics for Upgrade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Recent Results: MHD Modes in H-1</a:t>
            </a:r>
          </a:p>
          <a:p>
            <a:pPr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	  Data mining</a:t>
            </a:r>
            <a:endParaRPr lang="en-US" sz="2200" b="1" dirty="0" smtClean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Alfvénic Scaling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Optical Measurements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Radial Structure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Stellarator Fusion 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Recent Progress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Reactor Considerations 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Conclusions/Future</a:t>
            </a:r>
          </a:p>
          <a:p>
            <a:pPr>
              <a:buFontTx/>
              <a:buNone/>
            </a:pPr>
            <a:endParaRPr lang="en-US" sz="2200" b="1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fld id="{D132E384-F889-48D0-BD47-7EF7ED215D37}" type="slidenum">
              <a:rPr lang="en-US"/>
              <a:pPr/>
              <a:t>9</a:t>
            </a:fld>
            <a:endParaRPr 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/>
          <a:srcRect b="15305"/>
          <a:stretch>
            <a:fillRect/>
          </a:stretch>
        </p:blipFill>
        <p:spPr bwMode="auto">
          <a:xfrm>
            <a:off x="6804025" y="142852"/>
            <a:ext cx="23399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714348" y="274638"/>
            <a:ext cx="8429652" cy="511156"/>
          </a:xfrm>
        </p:spPr>
        <p:txBody>
          <a:bodyPr>
            <a:noAutofit/>
          </a:bodyPr>
          <a:lstStyle/>
          <a:p>
            <a:r>
              <a:rPr lang="en-US" sz="3400" spc="-100" dirty="0" smtClean="0"/>
              <a:t>National Plasma Fusion Research Facility Upgrade </a:t>
            </a:r>
            <a:endParaRPr lang="en-AU" sz="3400" spc="-100" dirty="0" smtClean="0"/>
          </a:p>
        </p:txBody>
      </p:sp>
      <p:pic>
        <p:nvPicPr>
          <p:cNvPr id="409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1934" y="4429132"/>
            <a:ext cx="5072066" cy="1601704"/>
          </a:xfrm>
          <a:noFill/>
        </p:spPr>
      </p:pic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4143380"/>
            <a:ext cx="3571877" cy="1832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Box 8"/>
          <p:cNvSpPr txBox="1">
            <a:spLocks noChangeArrowheads="1"/>
          </p:cNvSpPr>
          <p:nvPr/>
        </p:nvSpPr>
        <p:spPr bwMode="auto">
          <a:xfrm>
            <a:off x="5214938" y="6286500"/>
            <a:ext cx="3929062" cy="369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latin typeface="Calibri" pitchFamily="34" charset="0"/>
              </a:rPr>
              <a:t>Quarterly Milestones</a:t>
            </a:r>
            <a:endParaRPr lang="en-AU" b="1" dirty="0">
              <a:latin typeface="Calibri" pitchFamily="34" charset="0"/>
            </a:endParaRPr>
          </a:p>
        </p:txBody>
      </p:sp>
      <p:sp>
        <p:nvSpPr>
          <p:cNvPr id="4104" name="TextBox 9"/>
          <p:cNvSpPr txBox="1">
            <a:spLocks noChangeArrowheads="1"/>
          </p:cNvSpPr>
          <p:nvPr/>
        </p:nvSpPr>
        <p:spPr bwMode="auto">
          <a:xfrm>
            <a:off x="0" y="6286500"/>
            <a:ext cx="4214813" cy="369888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latin typeface="Calibri" pitchFamily="34" charset="0"/>
              </a:rPr>
              <a:t>Funding agreement to be signed this year</a:t>
            </a:r>
            <a:endParaRPr lang="en-AU" b="1"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85918" y="3643314"/>
            <a:ext cx="5357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2009</a:t>
            </a:r>
            <a:r>
              <a:rPr lang="en-AU" sz="2800" dirty="0" smtClean="0"/>
              <a:t> </a:t>
            </a:r>
            <a:r>
              <a:rPr lang="en-US" sz="2800" dirty="0" smtClean="0"/>
              <a:t>Australian Budget Papers </a:t>
            </a:r>
            <a:endParaRPr lang="en-AU" sz="2800" dirty="0"/>
          </a:p>
        </p:txBody>
      </p:sp>
      <p:sp>
        <p:nvSpPr>
          <p:cNvPr id="9" name="TextBox 237"/>
          <p:cNvSpPr txBox="1">
            <a:spLocks noChangeArrowheads="1"/>
          </p:cNvSpPr>
          <p:nvPr/>
        </p:nvSpPr>
        <p:spPr bwMode="auto">
          <a:xfrm>
            <a:off x="428596" y="2643182"/>
            <a:ext cx="8439150" cy="523875"/>
          </a:xfrm>
          <a:prstGeom prst="rect">
            <a:avLst/>
          </a:prstGeom>
          <a:noFill/>
          <a:ln w="19050">
            <a:solidFill>
              <a:srgbClr val="0066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 smtClean="0">
                <a:sym typeface="Wingdings" pitchFamily="2" charset="2"/>
              </a:rPr>
              <a:t>~</a:t>
            </a:r>
            <a:r>
              <a:rPr lang="en-US" sz="2800" dirty="0" smtClean="0"/>
              <a:t>$7M </a:t>
            </a:r>
            <a:r>
              <a:rPr lang="en-US" sz="2800" dirty="0"/>
              <a:t>over 4 years for infrastructure upgrades</a:t>
            </a:r>
            <a:endParaRPr lang="en-A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28596" y="1000108"/>
            <a:ext cx="82867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Rudd Government’s “Super Science Package” </a:t>
            </a:r>
          </a:p>
          <a:p>
            <a:endParaRPr lang="en-US" sz="900" dirty="0" smtClean="0"/>
          </a:p>
          <a:p>
            <a:r>
              <a:rPr lang="en-US" sz="2000" dirty="0" smtClean="0"/>
              <a:t>Boosted National Collaborative Infrastructure Program using the “Educational Infrastructure Fund” </a:t>
            </a:r>
          </a:p>
          <a:p>
            <a:endParaRPr lang="en-US" sz="900" dirty="0" smtClean="0">
              <a:sym typeface="Wingdings" pitchFamily="2" charset="2"/>
            </a:endParaRPr>
          </a:p>
          <a:p>
            <a:r>
              <a:rPr lang="en-US" sz="2000" dirty="0" smtClean="0">
                <a:sym typeface="Wingdings" pitchFamily="2" charset="2"/>
              </a:rPr>
              <a:t> Restrictions on this fund limit use to infrastructure</a:t>
            </a:r>
            <a:endParaRPr lang="en-A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Aims of Facility Upgrade</a:t>
            </a:r>
            <a:endParaRPr lang="en-AU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dirty="0" smtClean="0"/>
              <a:t>Consolidate the facility infrastructure required to implement the ITER forum strategy plan</a:t>
            </a:r>
            <a:endParaRPr lang="en-AU" sz="2200" dirty="0" smtClean="0"/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sz="2200" dirty="0" smtClean="0"/>
              <a:t>Try to involve the full spectrum of the ITER Forum activities</a:t>
            </a:r>
          </a:p>
          <a:p>
            <a:pPr fontAlgn="auto">
              <a:spcAft>
                <a:spcPts val="0"/>
              </a:spcAft>
              <a:defRPr/>
            </a:pPr>
            <a:endParaRPr lang="en-US" sz="2000" dirty="0" smtClean="0"/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000" i="1" dirty="0" smtClean="0"/>
              <a:t>More specifically:</a:t>
            </a:r>
          </a:p>
          <a:p>
            <a:pPr fontAlgn="auto">
              <a:spcAft>
                <a:spcPts val="0"/>
              </a:spcAft>
              <a:defRPr/>
            </a:pPr>
            <a:r>
              <a:rPr lang="en-AU" sz="2000" dirty="0" smtClean="0"/>
              <a:t>Improve plasma production/reliability/cleanliness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1600" dirty="0" smtClean="0"/>
              <a:t>RF production/heating, ECH heating, baking, </a:t>
            </a:r>
            <a:r>
              <a:rPr lang="en-US" sz="1600" dirty="0" err="1" smtClean="0"/>
              <a:t>gettering</a:t>
            </a:r>
            <a:r>
              <a:rPr lang="en-US" sz="1600" dirty="0" smtClean="0"/>
              <a:t>, discharge cleaning</a:t>
            </a:r>
            <a:endParaRPr lang="en-AU" sz="1600" dirty="0" smtClean="0"/>
          </a:p>
          <a:p>
            <a:pPr fontAlgn="auto">
              <a:spcAft>
                <a:spcPts val="0"/>
              </a:spcAft>
              <a:defRPr/>
            </a:pPr>
            <a:r>
              <a:rPr lang="en-AU" sz="2000" dirty="0" smtClean="0"/>
              <a:t>Improve diagnostics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1600" dirty="0" smtClean="0"/>
              <a:t>Dedicated density interferometers and selected spectral monitors permanently in operation</a:t>
            </a:r>
            <a:endParaRPr lang="en-AU" sz="1600" dirty="0" smtClean="0"/>
          </a:p>
          <a:p>
            <a:pPr fontAlgn="auto">
              <a:spcAft>
                <a:spcPts val="0"/>
              </a:spcAft>
              <a:defRPr/>
            </a:pPr>
            <a:r>
              <a:rPr lang="en-AU" sz="2000" dirty="0" smtClean="0"/>
              <a:t>Increasing opportunities for collaboration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1600" dirty="0" smtClean="0"/>
              <a:t>Ideas?</a:t>
            </a:r>
            <a:endParaRPr lang="en-AU" sz="1600" dirty="0" smtClean="0"/>
          </a:p>
          <a:p>
            <a:pPr fontAlgn="auto">
              <a:spcAft>
                <a:spcPts val="0"/>
              </a:spcAft>
              <a:defRPr/>
            </a:pPr>
            <a:r>
              <a:rPr lang="en-AU" sz="2000" dirty="0" smtClean="0"/>
              <a:t>Increasing suitability as a </a:t>
            </a:r>
            <a:r>
              <a:rPr lang="en-AU" sz="2000" dirty="0" err="1" smtClean="0"/>
              <a:t>testbed</a:t>
            </a:r>
            <a:r>
              <a:rPr lang="en-AU" sz="2000" dirty="0" smtClean="0"/>
              <a:t> for ITER diagnostics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sz="1600" dirty="0" smtClean="0"/>
              <a:t>Access to Divertor – like geometry, island divertor geometry</a:t>
            </a:r>
          </a:p>
          <a:p>
            <a:pPr fontAlgn="auto">
              <a:spcAft>
                <a:spcPts val="0"/>
              </a:spcAft>
              <a:defRPr/>
            </a:pPr>
            <a:endParaRPr lang="en-A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dirty="0" smtClean="0"/>
              <a:t>RF Upgrade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4525963"/>
          </a:xfrm>
        </p:spPr>
        <p:txBody>
          <a:bodyPr/>
          <a:lstStyle/>
          <a:p>
            <a:pPr defTabSz="4525963" eaLnBrk="0" hangingPunct="0">
              <a:defRPr/>
            </a:pPr>
            <a:r>
              <a:rPr lang="en-US" sz="2400" dirty="0" smtClean="0"/>
              <a:t>RF (7MHz) will be the “workhorse”</a:t>
            </a:r>
          </a:p>
          <a:p>
            <a:pPr lvl="1" defTabSz="4525963" eaLnBrk="0" hangingPunct="0">
              <a:defRPr/>
            </a:pPr>
            <a:r>
              <a:rPr lang="en-US" sz="2000" dirty="0" smtClean="0"/>
              <a:t>Low temperature, density limited by power</a:t>
            </a:r>
          </a:p>
          <a:p>
            <a:pPr lvl="1" defTabSz="4525963" eaLnBrk="0" hangingPunct="0">
              <a:defRPr/>
            </a:pPr>
            <a:r>
              <a:rPr lang="en-US" sz="2000" dirty="0" smtClean="0"/>
              <a:t>Required to initiate electron cyclotron plasma</a:t>
            </a:r>
          </a:p>
          <a:p>
            <a:pPr lvl="1" defTabSz="4525963" eaLnBrk="0" hangingPunct="0">
              <a:buNone/>
              <a:defRPr/>
            </a:pPr>
            <a:r>
              <a:rPr lang="en-US" sz="2000" b="1" i="1" dirty="0" smtClean="0"/>
              <a:t>New system doubles power:   2x100kW systems.</a:t>
            </a:r>
          </a:p>
          <a:p>
            <a:pPr lvl="1" defTabSz="4525963" eaLnBrk="0" hangingPunct="0">
              <a:buNone/>
              <a:defRPr/>
            </a:pPr>
            <a:r>
              <a:rPr lang="en-US" sz="2000" b="1" i="1" dirty="0" smtClean="0"/>
              <a:t>New movable shielded antenna to complement “bare” antenna</a:t>
            </a:r>
          </a:p>
          <a:p>
            <a:pPr lvl="1" defTabSz="4525963" eaLnBrk="0" hangingPunct="0">
              <a:buNone/>
              <a:defRPr/>
            </a:pPr>
            <a:r>
              <a:rPr lang="en-US" sz="2000" b="1" i="1" dirty="0" smtClean="0"/>
              <a:t>	(water and gas cooled).</a:t>
            </a:r>
          </a:p>
          <a:p>
            <a:pPr lvl="1" defTabSz="4525963" eaLnBrk="0" hangingPunct="0">
              <a:buNone/>
              <a:defRPr/>
            </a:pPr>
            <a:r>
              <a:rPr lang="en-US" sz="2000" b="1" dirty="0" smtClean="0"/>
              <a:t>Advantages:</a:t>
            </a:r>
          </a:p>
          <a:p>
            <a:pPr lvl="1" defTabSz="4525963" eaLnBrk="0" hangingPunct="0">
              <a:defRPr/>
            </a:pPr>
            <a:r>
              <a:rPr lang="en-US" sz="2000" dirty="0" smtClean="0"/>
              <a:t>Very wide range of magnetic fields in Argon</a:t>
            </a:r>
          </a:p>
          <a:p>
            <a:pPr lvl="1" defTabSz="4525963" eaLnBrk="0" hangingPunct="0">
              <a:defRPr/>
            </a:pPr>
            <a:r>
              <a:rPr lang="en-US" sz="2000" dirty="0" smtClean="0"/>
              <a:t>New system allows magnetic field scan while keeping the resonant layer position constant.</a:t>
            </a:r>
            <a:br>
              <a:rPr lang="en-US" sz="2000" dirty="0" smtClean="0"/>
            </a:br>
            <a:r>
              <a:rPr lang="en-US" sz="2000" dirty="0" smtClean="0"/>
              <a:t>e.g. to test Alfven scaling MHD </a:t>
            </a:r>
          </a:p>
          <a:p>
            <a:pPr defTabSz="4525963" eaLnBrk="0" hangingPunct="0">
              <a:defRPr/>
            </a:pPr>
            <a:r>
              <a:rPr lang="en-US" sz="2400" dirty="0" smtClean="0"/>
              <a:t>Additional ECH source (10/30kW  14/28GHz) for higher Te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Improved Impurity Control </a:t>
            </a:r>
            <a:endParaRPr lang="en-AU" sz="40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defTabSz="4525963" eaLnBrk="0" fontAlgn="auto" hangingPunct="0">
              <a:spcAft>
                <a:spcPts val="0"/>
              </a:spcAft>
              <a:buNone/>
              <a:defRPr/>
            </a:pPr>
            <a:r>
              <a:rPr lang="en-US" sz="2000" dirty="0" smtClean="0"/>
              <a:t>Impurities limit plasma temperature (C, O, Fe, Cu)</a:t>
            </a:r>
          </a:p>
          <a:p>
            <a:pPr defTabSz="4525963" eaLnBrk="0" fontAlgn="auto" hangingPunct="0">
              <a:spcAft>
                <a:spcPts val="0"/>
              </a:spcAft>
              <a:buNone/>
              <a:defRPr/>
            </a:pPr>
            <a:r>
              <a:rPr lang="en-US" sz="2000" dirty="0" smtClean="0"/>
              <a:t>High temperature  (&gt;~100eV) desirable to excite spectral lines relevant to edge plasma and </a:t>
            </a:r>
            <a:r>
              <a:rPr lang="en-US" sz="2000" dirty="0" err="1" smtClean="0"/>
              <a:t>divertors</a:t>
            </a:r>
            <a:r>
              <a:rPr lang="en-US" sz="2000" dirty="0" smtClean="0"/>
              <a:t> in larger devices.</a:t>
            </a:r>
          </a:p>
          <a:p>
            <a:pPr defTabSz="4525963" eaLnBrk="0" fontAlgn="auto" hangingPunct="0">
              <a:spcAft>
                <a:spcPts val="0"/>
              </a:spcAft>
              <a:buNone/>
              <a:defRPr/>
            </a:pPr>
            <a:endParaRPr lang="en-US" sz="2000" dirty="0" smtClean="0"/>
          </a:p>
          <a:p>
            <a:pPr defTabSz="4525963" eaLnBrk="0" fontAlgn="auto" hangingPunct="0">
              <a:spcAft>
                <a:spcPts val="0"/>
              </a:spcAft>
              <a:buNone/>
              <a:defRPr/>
            </a:pPr>
            <a:r>
              <a:rPr lang="en-US" sz="2000" b="1" dirty="0" smtClean="0"/>
              <a:t>Strategy : Combine - </a:t>
            </a:r>
          </a:p>
          <a:p>
            <a:pPr lvl="1" defTabSz="4525963" eaLnBrk="0" fontAlgn="auto" hangingPunct="0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smtClean="0"/>
              <a:t>Glow discharge cleaning for bulk of tank</a:t>
            </a:r>
          </a:p>
          <a:p>
            <a:pPr lvl="1" defTabSz="4525963" eaLnBrk="0" fontAlgn="auto" hangingPunct="0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smtClean="0"/>
              <a:t>Pulsed RF discharge cleaning for </a:t>
            </a:r>
            <a:br>
              <a:rPr lang="en-US" sz="2000" dirty="0" smtClean="0"/>
            </a:br>
            <a:r>
              <a:rPr lang="en-US" sz="2000" dirty="0" smtClean="0"/>
              <a:t>plasma facing components.</a:t>
            </a:r>
          </a:p>
          <a:p>
            <a:pPr lvl="2" defTabSz="4525963" eaLnBrk="0" fontAlgn="auto" hangingPunct="0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 smtClean="0"/>
              <a:t>antenna (cooled) and source (2.4GHz)</a:t>
            </a:r>
          </a:p>
          <a:p>
            <a:pPr lvl="1" defTabSz="4525963" eaLnBrk="0" fontAlgn="auto" hangingPunct="0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smtClean="0"/>
              <a:t>Low temperature (90C) baking </a:t>
            </a:r>
          </a:p>
          <a:p>
            <a:pPr lvl="1" defTabSz="4525963" eaLnBrk="0" fontAlgn="auto" hangingPunct="0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err="1" smtClean="0"/>
              <a:t>Gettering</a:t>
            </a:r>
            <a:r>
              <a:rPr lang="en-US" sz="2000" dirty="0" smtClean="0"/>
              <a:t> – Titanium or Boron (o-</a:t>
            </a:r>
            <a:r>
              <a:rPr lang="en-US" sz="2000" dirty="0" err="1" smtClean="0"/>
              <a:t>carborane</a:t>
            </a:r>
            <a:r>
              <a:rPr lang="en-US" sz="2000" dirty="0" smtClean="0"/>
              <a:t>)</a:t>
            </a:r>
          </a:p>
          <a:p>
            <a:pPr defTabSz="4525963" eaLnBrk="0" fontAlgn="auto" hangingPunct="0">
              <a:spcAft>
                <a:spcPts val="0"/>
              </a:spcAft>
              <a:buNone/>
              <a:defRPr/>
            </a:pPr>
            <a:endParaRPr lang="en-US" sz="2000" dirty="0"/>
          </a:p>
        </p:txBody>
      </p:sp>
      <p:pic>
        <p:nvPicPr>
          <p:cNvPr id="4" name="Picture 3" descr="h1model12ap076_5_180a.png"/>
          <p:cNvPicPr>
            <a:picLocks noChangeAspect="1"/>
          </p:cNvPicPr>
          <p:nvPr/>
        </p:nvPicPr>
        <p:blipFill>
          <a:blip r:embed="rId3"/>
          <a:srcRect l="44477" t="5208" r="22529" b="47124"/>
          <a:stretch>
            <a:fillRect/>
          </a:stretch>
        </p:blipFill>
        <p:spPr bwMode="auto">
          <a:xfrm>
            <a:off x="6643670" y="3429000"/>
            <a:ext cx="2500330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New Toroidal Mirnov Array</a:t>
            </a:r>
            <a:endParaRPr lang="en-AU" dirty="0"/>
          </a:p>
        </p:txBody>
      </p:sp>
      <p:pic>
        <p:nvPicPr>
          <p:cNvPr id="4" name="Content Placeholder 3" descr="Tor_Mirnov_assembly.jpg"/>
          <p:cNvPicPr>
            <a:picLocks noGrp="1" noChangeAspect="1"/>
          </p:cNvPicPr>
          <p:nvPr>
            <p:ph idx="1"/>
          </p:nvPr>
        </p:nvPicPr>
        <p:blipFill>
          <a:blip r:embed="rId3"/>
          <a:srcRect t="14733"/>
          <a:stretch>
            <a:fillRect/>
          </a:stretch>
        </p:blipFill>
        <p:spPr>
          <a:xfrm>
            <a:off x="-105447" y="1928802"/>
            <a:ext cx="9249447" cy="4929198"/>
          </a:xfrm>
        </p:spPr>
      </p:pic>
      <p:pic>
        <p:nvPicPr>
          <p:cNvPr id="5" name="Picture 4" descr="Tor_Mirnov_assembly_on_helix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357298"/>
            <a:ext cx="3714744" cy="2581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7884" y="4214818"/>
            <a:ext cx="3286116" cy="24622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Coils inside a SS thin-wall bellows (LP, E-static shield)</a:t>
            </a:r>
          </a:p>
          <a:p>
            <a:endParaRPr lang="en-US" dirty="0" smtClean="0"/>
          </a:p>
          <a:p>
            <a:r>
              <a:rPr lang="en-US" sz="2000" dirty="0" smtClean="0"/>
              <a:t>Access to otherwise inaccessible region with</a:t>
            </a:r>
          </a:p>
          <a:p>
            <a:pPr marL="360363" indent="-360363">
              <a:buFont typeface="Arial" pitchFamily="34" charset="0"/>
              <a:buChar char="•"/>
              <a:tabLst>
                <a:tab pos="360363" algn="l"/>
              </a:tabLst>
            </a:pPr>
            <a:r>
              <a:rPr lang="en-US" sz="2000" smtClean="0"/>
              <a:t>largest </a:t>
            </a:r>
            <a:r>
              <a:rPr lang="en-US" sz="2000" dirty="0" smtClean="0"/>
              <a:t>signals and </a:t>
            </a:r>
          </a:p>
          <a:p>
            <a:pPr marL="360363" indent="-360363">
              <a:buFont typeface="Arial" pitchFamily="34" charset="0"/>
              <a:buChar char="•"/>
              <a:tabLst>
                <a:tab pos="360363" algn="l"/>
              </a:tabLst>
            </a:pPr>
            <a:r>
              <a:rPr lang="en-US" sz="2000" dirty="0" smtClean="0"/>
              <a:t>with significant variation in toroidal curvature</a:t>
            </a:r>
            <a:r>
              <a:rPr lang="en-US" dirty="0" smtClean="0"/>
              <a:t>.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285720" y="3571876"/>
            <a:ext cx="26432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Mounted next to Helical</a:t>
            </a:r>
            <a:endParaRPr lang="en-AU" dirty="0"/>
          </a:p>
        </p:txBody>
      </p:sp>
      <p:pic>
        <p:nvPicPr>
          <p:cNvPr id="8" name="Picture 4" descr="CoilActual.jpg"/>
          <p:cNvPicPr>
            <a:picLocks noChangeAspect="1"/>
          </p:cNvPicPr>
          <p:nvPr/>
        </p:nvPicPr>
        <p:blipFill>
          <a:blip r:embed="rId5"/>
          <a:srcRect b="37293"/>
          <a:stretch>
            <a:fillRect/>
          </a:stretch>
        </p:blipFill>
        <p:spPr bwMode="auto">
          <a:xfrm flipH="1">
            <a:off x="3571868" y="5357826"/>
            <a:ext cx="1643062" cy="1500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657600" y="2590800"/>
            <a:ext cx="5486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View of plasma region through port opening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9144000" cy="1143000"/>
          </a:xfrm>
        </p:spPr>
        <p:txBody>
          <a:bodyPr/>
          <a:lstStyle/>
          <a:p>
            <a:r>
              <a:rPr lang="en-AU" sz="3000" dirty="0" smtClean="0"/>
              <a:t>Small Linear Satellite Device – PWI Diagnostics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>
          <a:xfrm>
            <a:off x="500063" y="1143000"/>
            <a:ext cx="8229600" cy="5214938"/>
          </a:xfrm>
        </p:spPr>
        <p:txBody>
          <a:bodyPr/>
          <a:lstStyle/>
          <a:p>
            <a:pPr>
              <a:buFont typeface="Arial" pitchFamily="34" charset="0"/>
              <a:buNone/>
            </a:pPr>
            <a:r>
              <a:rPr lang="en-US" sz="2000" b="1" dirty="0" smtClean="0"/>
              <a:t>Purpose: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Testing various plasma wall interaction diagnostic concepts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	spectroscopy  -  laser interferometry  -  coherence imaging</a:t>
            </a:r>
          </a:p>
          <a:p>
            <a:pPr>
              <a:buFont typeface="Arial" pitchFamily="34" charset="0"/>
              <a:buNone/>
            </a:pPr>
            <a:r>
              <a:rPr lang="en-US" sz="2000" b="1" dirty="0" smtClean="0"/>
              <a:t>Features: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Much higher power density than H-1 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Clean conditions of H-1 not compromised by material erosion diagnostic tests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Simple geometry, good for shorter-term students, simpler projects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Shares heating and magnet supplies from H-1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Circular coils ex </a:t>
            </a:r>
            <a:r>
              <a:rPr lang="en-US" sz="1800" dirty="0" err="1" smtClean="0"/>
              <a:t>Univ</a:t>
            </a:r>
            <a:r>
              <a:rPr lang="en-US" sz="1800" dirty="0" smtClean="0"/>
              <a:t> Syd. Machines (“Supper II”)</a:t>
            </a:r>
          </a:p>
          <a:p>
            <a:pPr>
              <a:buFont typeface="Arial" pitchFamily="34" charset="0"/>
              <a:buNone/>
            </a:pPr>
            <a:r>
              <a:rPr lang="en-US" sz="1800" dirty="0" smtClean="0"/>
              <a:t>	</a:t>
            </a:r>
            <a:endParaRPr lang="en-AU" sz="1400" dirty="0" smtClean="0"/>
          </a:p>
        </p:txBody>
      </p:sp>
      <p:pic>
        <p:nvPicPr>
          <p:cNvPr id="14342" name="Picture 7" descr="supp1.png"/>
          <p:cNvPicPr>
            <a:picLocks noChangeAspect="1"/>
          </p:cNvPicPr>
          <p:nvPr/>
        </p:nvPicPr>
        <p:blipFill>
          <a:blip r:embed="rId3"/>
          <a:srcRect l="14534" t="23642" r="8430" b="20361"/>
          <a:stretch>
            <a:fillRect/>
          </a:stretch>
        </p:blipFill>
        <p:spPr bwMode="auto">
          <a:xfrm>
            <a:off x="4714876" y="4214818"/>
            <a:ext cx="3500435" cy="2179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3" name="TextBox 8"/>
          <p:cNvSpPr txBox="1">
            <a:spLocks noChangeArrowheads="1"/>
          </p:cNvSpPr>
          <p:nvPr/>
        </p:nvSpPr>
        <p:spPr bwMode="auto">
          <a:xfrm>
            <a:off x="928662" y="5143512"/>
            <a:ext cx="35131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</a:rPr>
              <a:t>Magnetic Mirror/Helicon chamber?</a:t>
            </a:r>
            <a:endParaRPr lang="en-AU" dirty="0">
              <a:latin typeface="Calibri" pitchFamily="34" charset="0"/>
            </a:endParaRP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4500562" y="6488113"/>
            <a:ext cx="3214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latin typeface="Calibri" pitchFamily="34" charset="0"/>
              </a:rPr>
              <a:t>Mirror coils  at one or both ends</a:t>
            </a:r>
            <a:endParaRPr lang="en-AU" dirty="0">
              <a:latin typeface="Calibri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 flipH="1" flipV="1">
            <a:off x="4572000" y="5929330"/>
            <a:ext cx="1143008" cy="14287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072066" y="6215082"/>
            <a:ext cx="1928826" cy="35719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3143240" y="1928802"/>
            <a:ext cx="857256" cy="3571900"/>
            <a:chOff x="1428728" y="1928802"/>
            <a:chExt cx="857256" cy="3571900"/>
          </a:xfrm>
        </p:grpSpPr>
        <p:sp>
          <p:nvSpPr>
            <p:cNvPr id="27" name="Rectangle 26"/>
            <p:cNvSpPr/>
            <p:nvPr/>
          </p:nvSpPr>
          <p:spPr>
            <a:xfrm>
              <a:off x="1428728" y="1928802"/>
              <a:ext cx="857256" cy="35719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428728" y="1928802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28728" y="5000636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857752" y="1928802"/>
            <a:ext cx="857256" cy="3571900"/>
            <a:chOff x="1428728" y="1928802"/>
            <a:chExt cx="857256" cy="3571900"/>
          </a:xfrm>
        </p:grpSpPr>
        <p:sp>
          <p:nvSpPr>
            <p:cNvPr id="31" name="Rectangle 30"/>
            <p:cNvSpPr/>
            <p:nvPr/>
          </p:nvSpPr>
          <p:spPr>
            <a:xfrm>
              <a:off x="1428728" y="1928802"/>
              <a:ext cx="857256" cy="35719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428728" y="1928802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428728" y="5000636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572264" y="1928802"/>
            <a:ext cx="857256" cy="3571900"/>
            <a:chOff x="1428728" y="1928802"/>
            <a:chExt cx="857256" cy="3571900"/>
          </a:xfrm>
        </p:grpSpPr>
        <p:sp>
          <p:nvSpPr>
            <p:cNvPr id="35" name="Rectangle 34"/>
            <p:cNvSpPr/>
            <p:nvPr/>
          </p:nvSpPr>
          <p:spPr>
            <a:xfrm>
              <a:off x="1428728" y="1928802"/>
              <a:ext cx="857256" cy="35719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428728" y="1928802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428728" y="5000636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572396" y="1928802"/>
            <a:ext cx="857256" cy="3571900"/>
            <a:chOff x="1428728" y="1928802"/>
            <a:chExt cx="857256" cy="3571900"/>
          </a:xfrm>
        </p:grpSpPr>
        <p:sp>
          <p:nvSpPr>
            <p:cNvPr id="39" name="Rectangle 38"/>
            <p:cNvSpPr/>
            <p:nvPr/>
          </p:nvSpPr>
          <p:spPr>
            <a:xfrm>
              <a:off x="1428728" y="1928802"/>
              <a:ext cx="857256" cy="35719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428728" y="1928802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428728" y="5000636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428728" y="1928802"/>
            <a:ext cx="857256" cy="3571900"/>
            <a:chOff x="1428728" y="1928802"/>
            <a:chExt cx="857256" cy="3571900"/>
          </a:xfrm>
        </p:grpSpPr>
        <p:sp>
          <p:nvSpPr>
            <p:cNvPr id="24" name="Rectangle 23"/>
            <p:cNvSpPr/>
            <p:nvPr/>
          </p:nvSpPr>
          <p:spPr>
            <a:xfrm>
              <a:off x="1428728" y="1928802"/>
              <a:ext cx="857256" cy="35719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428728" y="1928802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428728" y="5000636"/>
              <a:ext cx="857256" cy="50006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Helicon H+ source Concept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Based on ANU, ORNL work</a:t>
            </a:r>
            <a:endParaRPr lang="en-AU" sz="2000" dirty="0"/>
          </a:p>
        </p:txBody>
      </p: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3">
            <a:lum bright="-61000" contrast="77000"/>
          </a:blip>
          <a:srcRect t="6183" b="4467"/>
          <a:stretch>
            <a:fillRect/>
          </a:stretch>
        </p:blipFill>
        <p:spPr bwMode="auto">
          <a:xfrm>
            <a:off x="214282" y="2786058"/>
            <a:ext cx="507209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rot="16200000" flipV="1">
            <a:off x="1825795" y="4233723"/>
            <a:ext cx="785818" cy="7143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4348" y="46434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Quartz/ceramic tube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71802" y="4429132"/>
            <a:ext cx="24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m=+1 Helicon Antenna</a:t>
            </a:r>
          </a:p>
          <a:p>
            <a:r>
              <a:rPr lang="en-US" dirty="0" smtClean="0"/>
              <a:t>Directional </a:t>
            </a:r>
            <a:endParaRPr lang="en-AU" dirty="0"/>
          </a:p>
        </p:txBody>
      </p:sp>
      <p:cxnSp>
        <p:nvCxnSpPr>
          <p:cNvPr id="16" name="Straight Arrow Connector 15"/>
          <p:cNvCxnSpPr>
            <a:stCxn id="15" idx="0"/>
          </p:cNvCxnSpPr>
          <p:nvPr/>
        </p:nvCxnSpPr>
        <p:spPr>
          <a:xfrm rot="16200000" flipV="1">
            <a:off x="3893339" y="4036223"/>
            <a:ext cx="571504" cy="21431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0034" y="3429000"/>
            <a:ext cx="1000132" cy="458757"/>
          </a:xfrm>
          <a:prstGeom prst="rect">
            <a:avLst/>
          </a:prstGeom>
          <a:solidFill>
            <a:schemeClr val="bg1"/>
          </a:solidFill>
        </p:spPr>
        <p:txBody>
          <a:bodyPr wrap="square" lIns="54000" tIns="90000" rIns="54000" bIns="90000" rtlCol="0">
            <a:spAutoFit/>
          </a:bodyPr>
          <a:lstStyle/>
          <a:p>
            <a:r>
              <a:rPr lang="en-US" b="1" dirty="0" smtClean="0"/>
              <a:t>Gas Flow</a:t>
            </a:r>
            <a:endParaRPr lang="en-A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85720" y="5626894"/>
            <a:ext cx="5214974" cy="1210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179388">
              <a:buFont typeface="Arial" pitchFamily="34" charset="0"/>
              <a:buChar char="•"/>
              <a:tabLst>
                <a:tab pos="992188" algn="l"/>
              </a:tabLst>
            </a:pPr>
            <a:r>
              <a:rPr lang="en-US" dirty="0" smtClean="0"/>
              <a:t>Helicon Antenna is an efficient plasma source in </a:t>
            </a:r>
            <a:r>
              <a:rPr lang="en-US" dirty="0" err="1" smtClean="0"/>
              <a:t>Ar</a:t>
            </a:r>
            <a:endParaRPr lang="en-AU" dirty="0" smtClean="0"/>
          </a:p>
          <a:p>
            <a:pPr marL="269875" indent="-179388">
              <a:buFont typeface="Arial" pitchFamily="34" charset="0"/>
              <a:buChar char="•"/>
              <a:tabLst>
                <a:tab pos="992188" algn="l"/>
              </a:tabLst>
            </a:pPr>
            <a:r>
              <a:rPr lang="en-US" dirty="0" smtClean="0"/>
              <a:t>High Density  (&gt;10</a:t>
            </a:r>
            <a:r>
              <a:rPr lang="en-US" baseline="30000" dirty="0" smtClean="0"/>
              <a:t>18</a:t>
            </a:r>
            <a:r>
              <a:rPr lang="en-US" dirty="0" smtClean="0"/>
              <a:t> m</a:t>
            </a:r>
            <a:r>
              <a:rPr lang="en-US" baseline="30000" dirty="0" smtClean="0"/>
              <a:t>-3</a:t>
            </a:r>
            <a:r>
              <a:rPr lang="en-US" dirty="0" smtClean="0"/>
              <a:t>)  more difficult in H</a:t>
            </a:r>
          </a:p>
          <a:p>
            <a:pPr marL="269875" indent="-179388">
              <a:buFont typeface="Arial" pitchFamily="34" charset="0"/>
              <a:buChar char="•"/>
              <a:tabLst>
                <a:tab pos="992188" algn="l"/>
              </a:tabLst>
            </a:pPr>
            <a:r>
              <a:rPr lang="en-US" dirty="0" smtClean="0"/>
              <a:t>Combination of higher power and non-uniform magnetic field has produced n</a:t>
            </a:r>
            <a:r>
              <a:rPr lang="en-US" sz="2800" baseline="-25000" dirty="0" smtClean="0"/>
              <a:t>e</a:t>
            </a:r>
            <a:r>
              <a:rPr lang="en-US" sz="1400" dirty="0" smtClean="0"/>
              <a:t> ~ </a:t>
            </a:r>
            <a:r>
              <a:rPr lang="en-US" smtClean="0"/>
              <a:t>10</a:t>
            </a:r>
            <a:r>
              <a:rPr lang="en-US" baseline="30000" smtClean="0"/>
              <a:t>19</a:t>
            </a:r>
            <a:r>
              <a:rPr lang="en-US" smtClean="0"/>
              <a:t> m</a:t>
            </a:r>
            <a:r>
              <a:rPr lang="en-US" baseline="30000" smtClean="0"/>
              <a:t>-3</a:t>
            </a:r>
            <a:r>
              <a:rPr lang="en-US" smtClean="0"/>
              <a:t>in H</a:t>
            </a:r>
            <a:endParaRPr lang="en-US" dirty="0" smtClean="0"/>
          </a:p>
        </p:txBody>
      </p:sp>
      <p:sp>
        <p:nvSpPr>
          <p:cNvPr id="21" name="Right Arrow 20"/>
          <p:cNvSpPr/>
          <p:nvPr/>
        </p:nvSpPr>
        <p:spPr>
          <a:xfrm>
            <a:off x="4286248" y="4786322"/>
            <a:ext cx="857256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ectangle 46"/>
          <p:cNvSpPr/>
          <p:nvPr/>
        </p:nvSpPr>
        <p:spPr>
          <a:xfrm>
            <a:off x="571472" y="2714620"/>
            <a:ext cx="857256" cy="337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Rectangle 47"/>
          <p:cNvSpPr/>
          <p:nvPr/>
        </p:nvSpPr>
        <p:spPr>
          <a:xfrm>
            <a:off x="457868" y="3937580"/>
            <a:ext cx="857256" cy="705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Freeform 48"/>
          <p:cNvSpPr/>
          <p:nvPr/>
        </p:nvSpPr>
        <p:spPr>
          <a:xfrm>
            <a:off x="5254580" y="2820473"/>
            <a:ext cx="3400023" cy="502276"/>
          </a:xfrm>
          <a:custGeom>
            <a:avLst/>
            <a:gdLst>
              <a:gd name="connsiteX0" fmla="*/ 0 w 3400023"/>
              <a:gd name="connsiteY0" fmla="*/ 502276 h 502276"/>
              <a:gd name="connsiteX1" fmla="*/ 540913 w 3400023"/>
              <a:gd name="connsiteY1" fmla="*/ 0 h 502276"/>
              <a:gd name="connsiteX2" fmla="*/ 3400023 w 3400023"/>
              <a:gd name="connsiteY2" fmla="*/ 12879 h 502276"/>
              <a:gd name="connsiteX3" fmla="*/ 3400023 w 3400023"/>
              <a:gd name="connsiteY3" fmla="*/ 12879 h 502276"/>
              <a:gd name="connsiteX4" fmla="*/ 3400023 w 3400023"/>
              <a:gd name="connsiteY4" fmla="*/ 12879 h 502276"/>
              <a:gd name="connsiteX0" fmla="*/ 25757 w 3425780"/>
              <a:gd name="connsiteY0" fmla="*/ 583842 h 583842"/>
              <a:gd name="connsiteX1" fmla="*/ 566670 w 3425780"/>
              <a:gd name="connsiteY1" fmla="*/ 81566 h 583842"/>
              <a:gd name="connsiteX2" fmla="*/ 3425780 w 3425780"/>
              <a:gd name="connsiteY2" fmla="*/ 94445 h 583842"/>
              <a:gd name="connsiteX3" fmla="*/ 3425780 w 3425780"/>
              <a:gd name="connsiteY3" fmla="*/ 94445 h 583842"/>
              <a:gd name="connsiteX4" fmla="*/ 3425780 w 3425780"/>
              <a:gd name="connsiteY4" fmla="*/ 94445 h 583842"/>
              <a:gd name="connsiteX0" fmla="*/ 0 w 3400023"/>
              <a:gd name="connsiteY0" fmla="*/ 583842 h 583842"/>
              <a:gd name="connsiteX1" fmla="*/ 540913 w 3400023"/>
              <a:gd name="connsiteY1" fmla="*/ 81566 h 583842"/>
              <a:gd name="connsiteX2" fmla="*/ 3400023 w 3400023"/>
              <a:gd name="connsiteY2" fmla="*/ 94445 h 583842"/>
              <a:gd name="connsiteX3" fmla="*/ 3400023 w 3400023"/>
              <a:gd name="connsiteY3" fmla="*/ 94445 h 583842"/>
              <a:gd name="connsiteX4" fmla="*/ 3400023 w 3400023"/>
              <a:gd name="connsiteY4" fmla="*/ 94445 h 583842"/>
              <a:gd name="connsiteX0" fmla="*/ 0 w 3400023"/>
              <a:gd name="connsiteY0" fmla="*/ 502276 h 502276"/>
              <a:gd name="connsiteX1" fmla="*/ 540913 w 3400023"/>
              <a:gd name="connsiteY1" fmla="*/ 0 h 502276"/>
              <a:gd name="connsiteX2" fmla="*/ 3400023 w 3400023"/>
              <a:gd name="connsiteY2" fmla="*/ 12879 h 502276"/>
              <a:gd name="connsiteX3" fmla="*/ 3400023 w 3400023"/>
              <a:gd name="connsiteY3" fmla="*/ 12879 h 502276"/>
              <a:gd name="connsiteX4" fmla="*/ 3400023 w 3400023"/>
              <a:gd name="connsiteY4" fmla="*/ 12879 h 50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0023" h="502276">
                <a:moveTo>
                  <a:pt x="0" y="502276"/>
                </a:moveTo>
                <a:cubicBezTo>
                  <a:pt x="180304" y="334851"/>
                  <a:pt x="245701" y="101894"/>
                  <a:pt x="540913" y="0"/>
                </a:cubicBezTo>
                <a:lnTo>
                  <a:pt x="3400023" y="12879"/>
                </a:lnTo>
                <a:lnTo>
                  <a:pt x="3400023" y="12879"/>
                </a:lnTo>
                <a:lnTo>
                  <a:pt x="3400023" y="12879"/>
                </a:lnTo>
              </a:path>
            </a:pathLst>
          </a:cu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Freeform 49"/>
          <p:cNvSpPr/>
          <p:nvPr/>
        </p:nvSpPr>
        <p:spPr>
          <a:xfrm flipV="1">
            <a:off x="5286380" y="3926880"/>
            <a:ext cx="3400023" cy="504462"/>
          </a:xfrm>
          <a:custGeom>
            <a:avLst/>
            <a:gdLst>
              <a:gd name="connsiteX0" fmla="*/ 0 w 3400023"/>
              <a:gd name="connsiteY0" fmla="*/ 502276 h 502276"/>
              <a:gd name="connsiteX1" fmla="*/ 540913 w 3400023"/>
              <a:gd name="connsiteY1" fmla="*/ 0 h 502276"/>
              <a:gd name="connsiteX2" fmla="*/ 3400023 w 3400023"/>
              <a:gd name="connsiteY2" fmla="*/ 12879 h 502276"/>
              <a:gd name="connsiteX3" fmla="*/ 3400023 w 3400023"/>
              <a:gd name="connsiteY3" fmla="*/ 12879 h 502276"/>
              <a:gd name="connsiteX4" fmla="*/ 3400023 w 3400023"/>
              <a:gd name="connsiteY4" fmla="*/ 12879 h 502276"/>
              <a:gd name="connsiteX0" fmla="*/ 25757 w 3425780"/>
              <a:gd name="connsiteY0" fmla="*/ 583842 h 583842"/>
              <a:gd name="connsiteX1" fmla="*/ 566670 w 3425780"/>
              <a:gd name="connsiteY1" fmla="*/ 81566 h 583842"/>
              <a:gd name="connsiteX2" fmla="*/ 3425780 w 3425780"/>
              <a:gd name="connsiteY2" fmla="*/ 94445 h 583842"/>
              <a:gd name="connsiteX3" fmla="*/ 3425780 w 3425780"/>
              <a:gd name="connsiteY3" fmla="*/ 94445 h 583842"/>
              <a:gd name="connsiteX4" fmla="*/ 3425780 w 3425780"/>
              <a:gd name="connsiteY4" fmla="*/ 94445 h 583842"/>
              <a:gd name="connsiteX0" fmla="*/ 0 w 3400023"/>
              <a:gd name="connsiteY0" fmla="*/ 583842 h 583842"/>
              <a:gd name="connsiteX1" fmla="*/ 540913 w 3400023"/>
              <a:gd name="connsiteY1" fmla="*/ 81566 h 583842"/>
              <a:gd name="connsiteX2" fmla="*/ 3400023 w 3400023"/>
              <a:gd name="connsiteY2" fmla="*/ 94445 h 583842"/>
              <a:gd name="connsiteX3" fmla="*/ 3400023 w 3400023"/>
              <a:gd name="connsiteY3" fmla="*/ 94445 h 583842"/>
              <a:gd name="connsiteX4" fmla="*/ 3400023 w 3400023"/>
              <a:gd name="connsiteY4" fmla="*/ 94445 h 583842"/>
              <a:gd name="connsiteX0" fmla="*/ 0 w 3400023"/>
              <a:gd name="connsiteY0" fmla="*/ 502276 h 502276"/>
              <a:gd name="connsiteX1" fmla="*/ 540913 w 3400023"/>
              <a:gd name="connsiteY1" fmla="*/ 0 h 502276"/>
              <a:gd name="connsiteX2" fmla="*/ 3400023 w 3400023"/>
              <a:gd name="connsiteY2" fmla="*/ 12879 h 502276"/>
              <a:gd name="connsiteX3" fmla="*/ 3400023 w 3400023"/>
              <a:gd name="connsiteY3" fmla="*/ 12879 h 502276"/>
              <a:gd name="connsiteX4" fmla="*/ 3400023 w 3400023"/>
              <a:gd name="connsiteY4" fmla="*/ 12879 h 502276"/>
              <a:gd name="connsiteX0" fmla="*/ 0 w 3400023"/>
              <a:gd name="connsiteY0" fmla="*/ 504462 h 504462"/>
              <a:gd name="connsiteX1" fmla="*/ 540913 w 3400023"/>
              <a:gd name="connsiteY1" fmla="*/ 0 h 504462"/>
              <a:gd name="connsiteX2" fmla="*/ 3400023 w 3400023"/>
              <a:gd name="connsiteY2" fmla="*/ 12879 h 504462"/>
              <a:gd name="connsiteX3" fmla="*/ 3400023 w 3400023"/>
              <a:gd name="connsiteY3" fmla="*/ 12879 h 504462"/>
              <a:gd name="connsiteX4" fmla="*/ 3400023 w 3400023"/>
              <a:gd name="connsiteY4" fmla="*/ 12879 h 504462"/>
              <a:gd name="connsiteX0" fmla="*/ 0 w 3400023"/>
              <a:gd name="connsiteY0" fmla="*/ 504462 h 504462"/>
              <a:gd name="connsiteX1" fmla="*/ 540913 w 3400023"/>
              <a:gd name="connsiteY1" fmla="*/ 0 h 504462"/>
              <a:gd name="connsiteX2" fmla="*/ 3400023 w 3400023"/>
              <a:gd name="connsiteY2" fmla="*/ 12879 h 504462"/>
              <a:gd name="connsiteX3" fmla="*/ 3400023 w 3400023"/>
              <a:gd name="connsiteY3" fmla="*/ 12879 h 504462"/>
              <a:gd name="connsiteX4" fmla="*/ 3400023 w 3400023"/>
              <a:gd name="connsiteY4" fmla="*/ 12879 h 50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0023" h="504462">
                <a:moveTo>
                  <a:pt x="0" y="504462"/>
                </a:moveTo>
                <a:cubicBezTo>
                  <a:pt x="180304" y="337037"/>
                  <a:pt x="245701" y="101894"/>
                  <a:pt x="540913" y="0"/>
                </a:cubicBezTo>
                <a:lnTo>
                  <a:pt x="3400023" y="12879"/>
                </a:lnTo>
                <a:lnTo>
                  <a:pt x="3400023" y="12879"/>
                </a:lnTo>
                <a:lnTo>
                  <a:pt x="3400023" y="12879"/>
                </a:lnTo>
              </a:path>
            </a:pathLst>
          </a:cu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Freeform 52"/>
          <p:cNvSpPr/>
          <p:nvPr/>
        </p:nvSpPr>
        <p:spPr>
          <a:xfrm>
            <a:off x="7445208" y="3133228"/>
            <a:ext cx="1131083" cy="944736"/>
          </a:xfrm>
          <a:custGeom>
            <a:avLst/>
            <a:gdLst>
              <a:gd name="connsiteX0" fmla="*/ 0 w 1211990"/>
              <a:gd name="connsiteY0" fmla="*/ 0 h 944736"/>
              <a:gd name="connsiteX1" fmla="*/ 4334 w 1211990"/>
              <a:gd name="connsiteY1" fmla="*/ 944736 h 944736"/>
              <a:gd name="connsiteX2" fmla="*/ 229684 w 1211990"/>
              <a:gd name="connsiteY2" fmla="*/ 944736 h 944736"/>
              <a:gd name="connsiteX3" fmla="*/ 225350 w 1211990"/>
              <a:gd name="connsiteY3" fmla="*/ 598044 h 944736"/>
              <a:gd name="connsiteX4" fmla="*/ 1131083 w 1211990"/>
              <a:gd name="connsiteY4" fmla="*/ 598044 h 944736"/>
              <a:gd name="connsiteX5" fmla="*/ 1122416 w 1211990"/>
              <a:gd name="connsiteY5" fmla="*/ 342359 h 944736"/>
              <a:gd name="connsiteX6" fmla="*/ 221017 w 1211990"/>
              <a:gd name="connsiteY6" fmla="*/ 342359 h 944736"/>
              <a:gd name="connsiteX7" fmla="*/ 221017 w 1211990"/>
              <a:gd name="connsiteY7" fmla="*/ 4334 h 944736"/>
              <a:gd name="connsiteX8" fmla="*/ 0 w 1211990"/>
              <a:gd name="connsiteY8" fmla="*/ 0 h 944736"/>
              <a:gd name="connsiteX0" fmla="*/ 0 w 1211990"/>
              <a:gd name="connsiteY0" fmla="*/ 0 h 944736"/>
              <a:gd name="connsiteX1" fmla="*/ 4334 w 1211990"/>
              <a:gd name="connsiteY1" fmla="*/ 944736 h 944736"/>
              <a:gd name="connsiteX2" fmla="*/ 229684 w 1211990"/>
              <a:gd name="connsiteY2" fmla="*/ 944736 h 944736"/>
              <a:gd name="connsiteX3" fmla="*/ 225350 w 1211990"/>
              <a:gd name="connsiteY3" fmla="*/ 598044 h 944736"/>
              <a:gd name="connsiteX4" fmla="*/ 1131083 w 1211990"/>
              <a:gd name="connsiteY4" fmla="*/ 598044 h 944736"/>
              <a:gd name="connsiteX5" fmla="*/ 1122416 w 1211990"/>
              <a:gd name="connsiteY5" fmla="*/ 342359 h 944736"/>
              <a:gd name="connsiteX6" fmla="*/ 221017 w 1211990"/>
              <a:gd name="connsiteY6" fmla="*/ 342359 h 944736"/>
              <a:gd name="connsiteX7" fmla="*/ 221017 w 1211990"/>
              <a:gd name="connsiteY7" fmla="*/ 4334 h 944736"/>
              <a:gd name="connsiteX8" fmla="*/ 0 w 1211990"/>
              <a:gd name="connsiteY8" fmla="*/ 0 h 944736"/>
              <a:gd name="connsiteX0" fmla="*/ 0 w 1131083"/>
              <a:gd name="connsiteY0" fmla="*/ 0 h 944736"/>
              <a:gd name="connsiteX1" fmla="*/ 4334 w 1131083"/>
              <a:gd name="connsiteY1" fmla="*/ 944736 h 944736"/>
              <a:gd name="connsiteX2" fmla="*/ 229684 w 1131083"/>
              <a:gd name="connsiteY2" fmla="*/ 944736 h 944736"/>
              <a:gd name="connsiteX3" fmla="*/ 225350 w 1131083"/>
              <a:gd name="connsiteY3" fmla="*/ 598044 h 944736"/>
              <a:gd name="connsiteX4" fmla="*/ 1131083 w 1131083"/>
              <a:gd name="connsiteY4" fmla="*/ 598044 h 944736"/>
              <a:gd name="connsiteX5" fmla="*/ 1122416 w 1131083"/>
              <a:gd name="connsiteY5" fmla="*/ 342359 h 944736"/>
              <a:gd name="connsiteX6" fmla="*/ 221017 w 1131083"/>
              <a:gd name="connsiteY6" fmla="*/ 342359 h 944736"/>
              <a:gd name="connsiteX7" fmla="*/ 221017 w 1131083"/>
              <a:gd name="connsiteY7" fmla="*/ 4334 h 944736"/>
              <a:gd name="connsiteX8" fmla="*/ 0 w 1131083"/>
              <a:gd name="connsiteY8" fmla="*/ 0 h 944736"/>
              <a:gd name="connsiteX0" fmla="*/ 0 w 1131083"/>
              <a:gd name="connsiteY0" fmla="*/ 0 h 944736"/>
              <a:gd name="connsiteX1" fmla="*/ 4334 w 1131083"/>
              <a:gd name="connsiteY1" fmla="*/ 944736 h 944736"/>
              <a:gd name="connsiteX2" fmla="*/ 229684 w 1131083"/>
              <a:gd name="connsiteY2" fmla="*/ 944736 h 944736"/>
              <a:gd name="connsiteX3" fmla="*/ 225350 w 1131083"/>
              <a:gd name="connsiteY3" fmla="*/ 598044 h 944736"/>
              <a:gd name="connsiteX4" fmla="*/ 1131083 w 1131083"/>
              <a:gd name="connsiteY4" fmla="*/ 598044 h 944736"/>
              <a:gd name="connsiteX5" fmla="*/ 1122416 w 1131083"/>
              <a:gd name="connsiteY5" fmla="*/ 342359 h 944736"/>
              <a:gd name="connsiteX6" fmla="*/ 221017 w 1131083"/>
              <a:gd name="connsiteY6" fmla="*/ 342359 h 944736"/>
              <a:gd name="connsiteX7" fmla="*/ 221017 w 1131083"/>
              <a:gd name="connsiteY7" fmla="*/ 4334 h 944736"/>
              <a:gd name="connsiteX8" fmla="*/ 0 w 1131083"/>
              <a:gd name="connsiteY8" fmla="*/ 0 h 944736"/>
              <a:gd name="connsiteX0" fmla="*/ 0 w 1131083"/>
              <a:gd name="connsiteY0" fmla="*/ 0 h 944736"/>
              <a:gd name="connsiteX1" fmla="*/ 4334 w 1131083"/>
              <a:gd name="connsiteY1" fmla="*/ 944736 h 944736"/>
              <a:gd name="connsiteX2" fmla="*/ 229684 w 1131083"/>
              <a:gd name="connsiteY2" fmla="*/ 944736 h 944736"/>
              <a:gd name="connsiteX3" fmla="*/ 225350 w 1131083"/>
              <a:gd name="connsiteY3" fmla="*/ 598044 h 944736"/>
              <a:gd name="connsiteX4" fmla="*/ 1131083 w 1131083"/>
              <a:gd name="connsiteY4" fmla="*/ 598044 h 944736"/>
              <a:gd name="connsiteX5" fmla="*/ 1126180 w 1131083"/>
              <a:gd name="connsiteY5" fmla="*/ 339176 h 944736"/>
              <a:gd name="connsiteX6" fmla="*/ 221017 w 1131083"/>
              <a:gd name="connsiteY6" fmla="*/ 342359 h 944736"/>
              <a:gd name="connsiteX7" fmla="*/ 221017 w 1131083"/>
              <a:gd name="connsiteY7" fmla="*/ 4334 h 944736"/>
              <a:gd name="connsiteX8" fmla="*/ 0 w 1131083"/>
              <a:gd name="connsiteY8" fmla="*/ 0 h 944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1083" h="944736">
                <a:moveTo>
                  <a:pt x="0" y="0"/>
                </a:moveTo>
                <a:cubicBezTo>
                  <a:pt x="1445" y="314912"/>
                  <a:pt x="2889" y="629824"/>
                  <a:pt x="4334" y="944736"/>
                </a:cubicBezTo>
                <a:lnTo>
                  <a:pt x="229684" y="944736"/>
                </a:lnTo>
                <a:cubicBezTo>
                  <a:pt x="228239" y="829172"/>
                  <a:pt x="226795" y="713608"/>
                  <a:pt x="225350" y="598044"/>
                </a:cubicBezTo>
                <a:lnTo>
                  <a:pt x="1131083" y="598044"/>
                </a:lnTo>
                <a:cubicBezTo>
                  <a:pt x="1126725" y="340915"/>
                  <a:pt x="1126412" y="565676"/>
                  <a:pt x="1126180" y="339176"/>
                </a:cubicBezTo>
                <a:lnTo>
                  <a:pt x="221017" y="342359"/>
                </a:lnTo>
                <a:lnTo>
                  <a:pt x="221017" y="4334"/>
                </a:lnTo>
                <a:lnTo>
                  <a:pt x="0" y="0"/>
                </a:lnTo>
                <a:close/>
              </a:path>
            </a:pathLst>
          </a:custGeom>
          <a:solidFill>
            <a:srgbClr val="4429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TextBox 53"/>
          <p:cNvSpPr txBox="1"/>
          <p:nvPr/>
        </p:nvSpPr>
        <p:spPr>
          <a:xfrm>
            <a:off x="7786710" y="3714752"/>
            <a:ext cx="1643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Water cooled target</a:t>
            </a:r>
            <a:endParaRPr lang="en-AU" dirty="0"/>
          </a:p>
        </p:txBody>
      </p:sp>
      <p:sp>
        <p:nvSpPr>
          <p:cNvPr id="55" name="Freeform 54"/>
          <p:cNvSpPr/>
          <p:nvPr/>
        </p:nvSpPr>
        <p:spPr>
          <a:xfrm>
            <a:off x="3375498" y="3453319"/>
            <a:ext cx="3959157" cy="369651"/>
          </a:xfrm>
          <a:custGeom>
            <a:avLst/>
            <a:gdLst>
              <a:gd name="connsiteX0" fmla="*/ 0 w 3959157"/>
              <a:gd name="connsiteY0" fmla="*/ 19455 h 321013"/>
              <a:gd name="connsiteX1" fmla="*/ 2519464 w 3959157"/>
              <a:gd name="connsiteY1" fmla="*/ 0 h 321013"/>
              <a:gd name="connsiteX2" fmla="*/ 3861881 w 3959157"/>
              <a:gd name="connsiteY2" fmla="*/ 87549 h 321013"/>
              <a:gd name="connsiteX3" fmla="*/ 3959157 w 3959157"/>
              <a:gd name="connsiteY3" fmla="*/ 87549 h 321013"/>
              <a:gd name="connsiteX4" fmla="*/ 3959157 w 3959157"/>
              <a:gd name="connsiteY4" fmla="*/ 204281 h 321013"/>
              <a:gd name="connsiteX5" fmla="*/ 2480553 w 3959157"/>
              <a:gd name="connsiteY5" fmla="*/ 321013 h 321013"/>
              <a:gd name="connsiteX6" fmla="*/ 29183 w 3959157"/>
              <a:gd name="connsiteY6" fmla="*/ 311285 h 321013"/>
              <a:gd name="connsiteX7" fmla="*/ 0 w 3959157"/>
              <a:gd name="connsiteY7" fmla="*/ 19455 h 3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9157" h="321013">
                <a:moveTo>
                  <a:pt x="0" y="19455"/>
                </a:moveTo>
                <a:lnTo>
                  <a:pt x="2519464" y="0"/>
                </a:lnTo>
                <a:lnTo>
                  <a:pt x="3861881" y="87549"/>
                </a:lnTo>
                <a:lnTo>
                  <a:pt x="3959157" y="87549"/>
                </a:lnTo>
                <a:lnTo>
                  <a:pt x="3959157" y="204281"/>
                </a:lnTo>
                <a:lnTo>
                  <a:pt x="2480553" y="321013"/>
                </a:lnTo>
                <a:lnTo>
                  <a:pt x="29183" y="311285"/>
                </a:lnTo>
                <a:lnTo>
                  <a:pt x="0" y="19455"/>
                </a:lnTo>
                <a:close/>
              </a:path>
            </a:pathLst>
          </a:custGeom>
          <a:solidFill>
            <a:srgbClr val="EA225B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TextBox 55"/>
          <p:cNvSpPr txBox="1"/>
          <p:nvPr/>
        </p:nvSpPr>
        <p:spPr>
          <a:xfrm>
            <a:off x="6786578" y="564357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Mirror Coils</a:t>
            </a:r>
            <a:endParaRPr lang="en-AU" dirty="0"/>
          </a:p>
        </p:txBody>
      </p:sp>
      <p:sp>
        <p:nvSpPr>
          <p:cNvPr id="57" name="TextBox 56"/>
          <p:cNvSpPr txBox="1"/>
          <p:nvPr/>
        </p:nvSpPr>
        <p:spPr>
          <a:xfrm>
            <a:off x="6072198" y="3857628"/>
            <a:ext cx="1348446" cy="3795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</a:t>
            </a:r>
            <a:r>
              <a:rPr lang="en-US" sz="2800" baseline="-25000" dirty="0" smtClean="0"/>
              <a:t>e</a:t>
            </a:r>
            <a:r>
              <a:rPr lang="en-US" sz="1400" dirty="0" smtClean="0"/>
              <a:t> ~ </a:t>
            </a:r>
            <a:r>
              <a:rPr lang="en-US" dirty="0" smtClean="0"/>
              <a:t>10</a:t>
            </a:r>
            <a:r>
              <a:rPr lang="en-US" baseline="30000" dirty="0" smtClean="0"/>
              <a:t>19</a:t>
            </a:r>
            <a:r>
              <a:rPr lang="en-US" dirty="0" smtClean="0"/>
              <a:t> m</a:t>
            </a:r>
            <a:r>
              <a:rPr lang="en-US" baseline="30000" dirty="0" smtClean="0"/>
              <a:t>-3</a:t>
            </a:r>
            <a:endParaRPr lang="en-AU" dirty="0"/>
          </a:p>
        </p:txBody>
      </p:sp>
      <p:sp>
        <p:nvSpPr>
          <p:cNvPr id="42" name="TextBox 8"/>
          <p:cNvSpPr txBox="1">
            <a:spLocks noChangeArrowheads="1"/>
          </p:cNvSpPr>
          <p:nvPr/>
        </p:nvSpPr>
        <p:spPr bwMode="auto">
          <a:xfrm>
            <a:off x="5429256" y="6072206"/>
            <a:ext cx="307183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Calibri" pitchFamily="34" charset="0"/>
              </a:rPr>
              <a:t>(Mirror coils  at one end should be sufficient – mainly to provide field gradient rather than full mirror effect.)</a:t>
            </a:r>
            <a:endParaRPr lang="en-AU" sz="1400" dirty="0">
              <a:latin typeface="Calibri" pitchFamily="34" charset="0"/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7108049" y="5322107"/>
            <a:ext cx="642942" cy="14287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290"/>
            <a:ext cx="8229600" cy="868346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Present and Future Plasma-Surface Devices</a:t>
            </a:r>
            <a:endParaRPr lang="en-AU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92330" y="1107193"/>
          <a:ext cx="8928542" cy="4828060"/>
        </p:xfrm>
        <a:graphic>
          <a:graphicData uri="http://schemas.openxmlformats.org/drawingml/2006/table">
            <a:tbl>
              <a:tblPr/>
              <a:tblGrid>
                <a:gridCol w="2130881"/>
                <a:gridCol w="875014"/>
                <a:gridCol w="867953"/>
                <a:gridCol w="923009"/>
                <a:gridCol w="803181"/>
                <a:gridCol w="1033124"/>
                <a:gridCol w="1148095"/>
                <a:gridCol w="1147285"/>
              </a:tblGrid>
              <a:tr h="304802">
                <a:tc>
                  <a:txBody>
                    <a:bodyPr/>
                    <a:lstStyle/>
                    <a:p>
                      <a:endParaRPr lang="en-AU" sz="1600" dirty="0">
                        <a:solidFill>
                          <a:srgbClr val="E36C0A"/>
                        </a:solidFill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NAGDIS</a:t>
                      </a:r>
                      <a:b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-II </a:t>
                      </a:r>
                      <a:r>
                        <a:rPr lang="en-AU" sz="12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(Japan)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PSI-2</a:t>
                      </a:r>
                      <a:b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AU" sz="12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Germany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PISCES-B</a:t>
                      </a:r>
                      <a:b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AU" sz="14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USA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LENTA</a:t>
                      </a:r>
                      <a:b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AU" sz="14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(Russia)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Pilot-PSI</a:t>
                      </a:r>
                      <a:r>
                        <a:rPr lang="en-AU" sz="14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/>
                      </a:r>
                      <a:br>
                        <a:rPr lang="en-AU" sz="14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</a:br>
                      <a:r>
                        <a:rPr lang="en-AU" sz="14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(EU)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Magnum-PSI: 2010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H-1 Satellite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Source Type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Penning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(PIG)</a:t>
                      </a:r>
                      <a:endParaRPr lang="en-AU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e-Beam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Cascaded</a:t>
                      </a:r>
                      <a:r>
                        <a:rPr lang="en-AU" sz="1600" baseline="0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Arc</a:t>
                      </a:r>
                      <a:endParaRPr lang="en-AU" sz="16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Helicon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Power [kW]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10.5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6.5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?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7.5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270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5-10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Pressure source [Pa]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0.1-1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0.1-1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600">
                        <a:solidFill>
                          <a:srgbClr val="E36C0A"/>
                        </a:solidFill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4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1…2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Pressure target [Pa]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0.01-0.1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10−3−1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0.2-7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1.-10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&lt;10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&lt;1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Ti target [eV]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&lt;15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10-500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0.1-5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0.1-10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Te target[eV] 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&lt;30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3..50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0.5-20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0.1-5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0.1-10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ni target[m−3]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6·10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17</a:t>
                      </a: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−10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6000" marR="360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19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Ion flux target [m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−2</a:t>
                      </a: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s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−1</a:t>
                      </a: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]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22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−10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23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6000" marR="360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5·10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2·10</a:t>
                      </a:r>
                      <a:r>
                        <a:rPr lang="en-AU" sz="1600" baseline="300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24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?10</a:t>
                      </a:r>
                      <a:r>
                        <a:rPr lang="en-AU" sz="1600" baseline="30000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22</a:t>
                      </a:r>
                      <a:endParaRPr lang="en-AU" sz="1600" dirty="0" smtClean="0">
                        <a:solidFill>
                          <a:srgbClr val="E36C0A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5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Energy flux target </a:t>
                      </a:r>
                      <a:r>
                        <a:rPr lang="en-AU" sz="12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[MW/m</a:t>
                      </a:r>
                      <a:r>
                        <a:rPr lang="en-AU" sz="12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AU" sz="12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]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0.01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600" dirty="0">
                        <a:solidFill>
                          <a:srgbClr val="E36C0A"/>
                        </a:solidFill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600">
                        <a:solidFill>
                          <a:srgbClr val="E36C0A"/>
                        </a:solidFill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30 </a:t>
                      </a:r>
                      <a:r>
                        <a:rPr lang="en-AU" sz="14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MW/m</a:t>
                      </a:r>
                      <a:r>
                        <a:rPr lang="en-AU" sz="14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AU" sz="14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 MW/m</a:t>
                      </a:r>
                      <a:r>
                        <a:rPr lang="en-AU" sz="1600" baseline="300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&gt;1 MW/m</a:t>
                      </a:r>
                      <a:r>
                        <a:rPr lang="en-AU" sz="1600" baseline="30000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AU" sz="1600" dirty="0" smtClean="0">
                        <a:solidFill>
                          <a:srgbClr val="E36C0A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B[T]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0.25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0.1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0.04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0.2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1.6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5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Beam diameter target </a:t>
                      </a:r>
                      <a:r>
                        <a:rPr lang="en-AU" sz="11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[cm]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6..15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3..20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Distance to target [m]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2.8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1.5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2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0.5-1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 dirty="0">
                        <a:solidFill>
                          <a:srgbClr val="E36C0A"/>
                        </a:solidFill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0.5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Heating method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RF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cathode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dc bias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</a:t>
                      </a:r>
                      <a:r>
                        <a:rPr lang="en-AU" sz="2400" baseline="30000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lang="en-AU" sz="1600" baseline="30000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AU" sz="1600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inject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dc bias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dc </a:t>
                      </a:r>
                      <a:r>
                        <a:rPr lang="en-AU" sz="1600" dirty="0" err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bias+RF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dc </a:t>
                      </a:r>
                      <a:r>
                        <a:rPr lang="en-AU" sz="1600" dirty="0" err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bias+ECH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4D0"/>
                    </a:solidFill>
                  </a:tcPr>
                </a:tc>
              </a:tr>
              <a:tr h="3048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Extra heating [kW]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56(80)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6;5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1600">
                        <a:solidFill>
                          <a:srgbClr val="E36C0A"/>
                        </a:solidFill>
                        <a:latin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30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10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50</a:t>
                      </a:r>
                      <a:endParaRPr lang="en-AU" sz="160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AU" sz="1600" dirty="0" smtClean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&gt;10</a:t>
                      </a:r>
                      <a:endParaRPr lang="en-AU" sz="1600" dirty="0">
                        <a:solidFill>
                          <a:srgbClr val="E36C0A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79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806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158" y="6286520"/>
            <a:ext cx="878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H-1 Satellite Parameters comparable with best non-arcing devices  - &gt; 1MW/m2 with bias   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786578" y="0"/>
            <a:ext cx="2357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Table from </a:t>
            </a:r>
            <a:r>
              <a:rPr lang="en-AU" sz="1600" dirty="0" err="1" smtClean="0"/>
              <a:t>VanRooij</a:t>
            </a:r>
            <a:r>
              <a:rPr lang="en-AU" sz="1600" dirty="0" smtClean="0"/>
              <a:t> 2008</a:t>
            </a:r>
            <a:endParaRPr lang="en-A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4343400"/>
            <a:ext cx="32575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Additional Power/Plasma Sources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 smtClean="0"/>
              <a:t>Sheath acceleration increases power density, but if &gt;30-50V </a:t>
            </a:r>
            <a:r>
              <a:rPr lang="en-US" sz="2400" dirty="0" smtClean="0">
                <a:sym typeface="Wingdings" pitchFamily="2" charset="2"/>
              </a:rPr>
              <a:t> physical sputtering </a:t>
            </a:r>
            <a:r>
              <a:rPr lang="en-US" sz="2400" dirty="0" smtClean="0">
                <a:sym typeface="Wingdings" pitchFamily="2" charset="2"/>
              </a:rPr>
              <a:t/>
            </a:r>
            <a:br>
              <a:rPr lang="en-US" sz="2400" dirty="0" smtClean="0">
                <a:sym typeface="Wingdings" pitchFamily="2" charset="2"/>
              </a:rPr>
            </a:br>
            <a:r>
              <a:rPr lang="en-US" sz="2400" dirty="0" smtClean="0">
                <a:sym typeface="Wingdings" pitchFamily="2" charset="2"/>
              </a:rPr>
              <a:t>	</a:t>
            </a:r>
            <a:r>
              <a:rPr lang="en-US" sz="1800" dirty="0" smtClean="0">
                <a:sym typeface="Wingdings" pitchFamily="2" charset="2"/>
              </a:rPr>
              <a:t>(not normal in fusion simulators, but may </a:t>
            </a:r>
            <a:r>
              <a:rPr lang="en-US" sz="1800" dirty="0" smtClean="0">
                <a:sym typeface="Wingdings" pitchFamily="2" charset="2"/>
              </a:rPr>
              <a:t>be </a:t>
            </a:r>
            <a:r>
              <a:rPr lang="en-US" sz="1800" dirty="0" smtClean="0">
                <a:sym typeface="Wingdings" pitchFamily="2" charset="2"/>
              </a:rPr>
              <a:t>useful to increase erosion?)</a:t>
            </a:r>
            <a:endParaRPr lang="en-US" sz="2400" dirty="0" smtClean="0">
              <a:sym typeface="Wingdings" pitchFamily="2" charset="2"/>
            </a:endParaRPr>
          </a:p>
          <a:p>
            <a:pPr>
              <a:buNone/>
            </a:pPr>
            <a:endParaRPr lang="en-US" sz="2400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E-beam can increase dissipation, but ion bombardment damage of LaB6 cathode if pressure too high?</a:t>
            </a:r>
            <a:br>
              <a:rPr lang="en-US" sz="2400" dirty="0" smtClean="0">
                <a:sym typeface="Wingdings" pitchFamily="2" charset="2"/>
              </a:rPr>
            </a:br>
            <a:r>
              <a:rPr lang="en-US" sz="2400" dirty="0" smtClean="0">
                <a:sym typeface="Wingdings" pitchFamily="2" charset="2"/>
              </a:rPr>
              <a:t>Solid LaB</a:t>
            </a:r>
            <a:r>
              <a:rPr lang="en-US" sz="2400" baseline="-25000" dirty="0" smtClean="0">
                <a:sym typeface="Wingdings" pitchFamily="2" charset="2"/>
              </a:rPr>
              <a:t>6</a:t>
            </a:r>
            <a:r>
              <a:rPr lang="en-US" sz="2400" dirty="0" smtClean="0">
                <a:sym typeface="Wingdings" pitchFamily="2" charset="2"/>
              </a:rPr>
              <a:t> Cathode, &gt;10A emission  </a:t>
            </a:r>
          </a:p>
          <a:p>
            <a:pPr>
              <a:buNone/>
            </a:pPr>
            <a:endParaRPr lang="en-US" sz="2400" dirty="0" smtClean="0">
              <a:sym typeface="Wingdings" pitchFamily="2" charset="2"/>
            </a:endParaRPr>
          </a:p>
          <a:p>
            <a:pPr>
              <a:buNone/>
            </a:pPr>
            <a:endParaRPr lang="en-US" sz="2400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Sterling Scientific washer gun  </a:t>
            </a:r>
            <a:r>
              <a:rPr lang="en-US" sz="2400" dirty="0" smtClean="0">
                <a:sym typeface="Wingdings" pitchFamily="2" charset="2"/>
              </a:rPr>
              <a:t>H+ 10</a:t>
            </a:r>
            <a:r>
              <a:rPr lang="en-US" sz="2400" baseline="30000" dirty="0" smtClean="0">
                <a:sym typeface="Wingdings" pitchFamily="2" charset="2"/>
              </a:rPr>
              <a:t>19</a:t>
            </a:r>
            <a:r>
              <a:rPr lang="en-US" sz="2400" dirty="0" smtClean="0">
                <a:sym typeface="Wingdings" pitchFamily="2" charset="2"/>
              </a:rPr>
              <a:t>-10</a:t>
            </a:r>
            <a:r>
              <a:rPr lang="en-US" sz="2400" baseline="30000" dirty="0" smtClean="0">
                <a:sym typeface="Wingdings" pitchFamily="2" charset="2"/>
              </a:rPr>
              <a:t>20</a:t>
            </a:r>
            <a:endParaRPr lang="en-US" sz="2400" baseline="30000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2400" baseline="30000" dirty="0" smtClean="0">
                <a:sym typeface="Wingdings" pitchFamily="2" charset="2"/>
              </a:rPr>
              <a:t>					          </a:t>
            </a:r>
            <a:r>
              <a:rPr lang="en-US" sz="2400" dirty="0" smtClean="0">
                <a:sym typeface="Wingdings" pitchFamily="2" charset="2"/>
              </a:rPr>
              <a:t>5-15eV</a:t>
            </a:r>
            <a:br>
              <a:rPr lang="en-US" sz="2400" dirty="0" smtClean="0">
                <a:sym typeface="Wingdings" pitchFamily="2" charset="2"/>
              </a:rPr>
            </a:br>
            <a:r>
              <a:rPr lang="en-US" sz="2400" dirty="0" smtClean="0">
                <a:sym typeface="Wingdings" pitchFamily="2" charset="2"/>
              </a:rPr>
              <a:t>under the right conditions, can generate</a:t>
            </a:r>
            <a:br>
              <a:rPr lang="en-US" sz="2400" dirty="0" smtClean="0">
                <a:sym typeface="Wingdings" pitchFamily="2" charset="2"/>
              </a:rPr>
            </a:br>
            <a:r>
              <a:rPr lang="en-US" sz="2400" dirty="0" smtClean="0">
                <a:sym typeface="Wingdings" pitchFamily="2" charset="2"/>
              </a:rPr>
              <a:t>a relatively clean plasma (low W)</a:t>
            </a:r>
            <a:br>
              <a:rPr lang="en-US" sz="2400" dirty="0" smtClean="0">
                <a:sym typeface="Wingdings" pitchFamily="2" charset="2"/>
              </a:rPr>
            </a:br>
            <a:r>
              <a:rPr lang="en-US" sz="1500" dirty="0" err="1" smtClean="0">
                <a:sym typeface="Wingdings" pitchFamily="2" charset="2"/>
              </a:rPr>
              <a:t>denHartog</a:t>
            </a:r>
            <a:r>
              <a:rPr lang="en-US" sz="2400" dirty="0" smtClean="0">
                <a:sym typeface="Wingdings" pitchFamily="2" charset="2"/>
              </a:rPr>
              <a:t>: </a:t>
            </a:r>
            <a:r>
              <a:rPr lang="fr-FR" sz="1500" dirty="0" smtClean="0"/>
              <a:t>Plasma Sources </a:t>
            </a:r>
            <a:r>
              <a:rPr lang="fr-FR" sz="1500" dirty="0" err="1" smtClean="0"/>
              <a:t>Sci</a:t>
            </a:r>
            <a:r>
              <a:rPr lang="fr-FR" sz="1500" dirty="0" smtClean="0"/>
              <a:t>. </a:t>
            </a:r>
            <a:r>
              <a:rPr lang="fr-FR" sz="1500" dirty="0" err="1" smtClean="0"/>
              <a:t>Technol</a:t>
            </a:r>
            <a:r>
              <a:rPr lang="fr-FR" sz="1500" dirty="0" smtClean="0"/>
              <a:t>. </a:t>
            </a:r>
            <a:r>
              <a:rPr lang="fr-FR" sz="1500" b="1" dirty="0" smtClean="0"/>
              <a:t>6 (1997) 492–498.</a:t>
            </a:r>
            <a:endParaRPr lang="en-US" sz="2400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2400" dirty="0" smtClean="0">
                <a:sym typeface="Wingdings" pitchFamily="2" charset="2"/>
              </a:rPr>
              <a:t>(also useful for a simple way of obtaining</a:t>
            </a:r>
            <a:br>
              <a:rPr lang="en-US" sz="2400" dirty="0" smtClean="0">
                <a:sym typeface="Wingdings" pitchFamily="2" charset="2"/>
              </a:rPr>
            </a:br>
            <a:r>
              <a:rPr lang="en-US" sz="2400" dirty="0" smtClean="0">
                <a:sym typeface="Wingdings" pitchFamily="2" charset="2"/>
              </a:rPr>
              <a:t>first plasma)</a:t>
            </a:r>
          </a:p>
          <a:p>
            <a:pPr>
              <a:buNone/>
            </a:pPr>
            <a:endParaRPr lang="en-US" sz="2400" baseline="30000" dirty="0" smtClean="0">
              <a:sym typeface="Wingdings" pitchFamily="2" charset="2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5643570" y="3143248"/>
            <a:ext cx="1240820" cy="714380"/>
            <a:chOff x="5857884" y="3429000"/>
            <a:chExt cx="1240820" cy="714380"/>
          </a:xfrm>
        </p:grpSpPr>
        <p:sp>
          <p:nvSpPr>
            <p:cNvPr id="5" name="Rectangle 4"/>
            <p:cNvSpPr/>
            <p:nvPr/>
          </p:nvSpPr>
          <p:spPr>
            <a:xfrm>
              <a:off x="5857884" y="3429000"/>
              <a:ext cx="1214446" cy="714380"/>
            </a:xfrm>
            <a:prstGeom prst="rect">
              <a:avLst/>
            </a:prstGeom>
            <a:solidFill>
              <a:srgbClr val="8A467B"/>
            </a:solidFill>
            <a:ln>
              <a:solidFill>
                <a:srgbClr val="8A46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Freeform 5"/>
            <p:cNvSpPr/>
            <p:nvPr/>
          </p:nvSpPr>
          <p:spPr>
            <a:xfrm>
              <a:off x="5857884" y="3429000"/>
              <a:ext cx="169250" cy="705394"/>
            </a:xfrm>
            <a:custGeom>
              <a:avLst/>
              <a:gdLst>
                <a:gd name="connsiteX0" fmla="*/ 0 w 343976"/>
                <a:gd name="connsiteY0" fmla="*/ 705394 h 705394"/>
                <a:gd name="connsiteX1" fmla="*/ 169817 w 343976"/>
                <a:gd name="connsiteY1" fmla="*/ 0 h 705394"/>
                <a:gd name="connsiteX2" fmla="*/ 339635 w 343976"/>
                <a:gd name="connsiteY2" fmla="*/ 0 h 705394"/>
                <a:gd name="connsiteX3" fmla="*/ 169817 w 343976"/>
                <a:gd name="connsiteY3" fmla="*/ 705394 h 705394"/>
                <a:gd name="connsiteX4" fmla="*/ 0 w 343976"/>
                <a:gd name="connsiteY4" fmla="*/ 705394 h 70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976" h="705394">
                  <a:moveTo>
                    <a:pt x="0" y="705394"/>
                  </a:moveTo>
                  <a:lnTo>
                    <a:pt x="169817" y="0"/>
                  </a:lnTo>
                  <a:cubicBezTo>
                    <a:pt x="343976" y="13396"/>
                    <a:pt x="339635" y="69835"/>
                    <a:pt x="339635" y="0"/>
                  </a:cubicBezTo>
                  <a:lnTo>
                    <a:pt x="169817" y="705394"/>
                  </a:lnTo>
                  <a:lnTo>
                    <a:pt x="0" y="70539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072198" y="3429000"/>
              <a:ext cx="169250" cy="705394"/>
            </a:xfrm>
            <a:custGeom>
              <a:avLst/>
              <a:gdLst>
                <a:gd name="connsiteX0" fmla="*/ 0 w 343976"/>
                <a:gd name="connsiteY0" fmla="*/ 705394 h 705394"/>
                <a:gd name="connsiteX1" fmla="*/ 169817 w 343976"/>
                <a:gd name="connsiteY1" fmla="*/ 0 h 705394"/>
                <a:gd name="connsiteX2" fmla="*/ 339635 w 343976"/>
                <a:gd name="connsiteY2" fmla="*/ 0 h 705394"/>
                <a:gd name="connsiteX3" fmla="*/ 169817 w 343976"/>
                <a:gd name="connsiteY3" fmla="*/ 705394 h 705394"/>
                <a:gd name="connsiteX4" fmla="*/ 0 w 343976"/>
                <a:gd name="connsiteY4" fmla="*/ 705394 h 70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976" h="705394">
                  <a:moveTo>
                    <a:pt x="0" y="705394"/>
                  </a:moveTo>
                  <a:lnTo>
                    <a:pt x="169817" y="0"/>
                  </a:lnTo>
                  <a:cubicBezTo>
                    <a:pt x="343976" y="13396"/>
                    <a:pt x="339635" y="69835"/>
                    <a:pt x="339635" y="0"/>
                  </a:cubicBezTo>
                  <a:lnTo>
                    <a:pt x="169817" y="705394"/>
                  </a:lnTo>
                  <a:lnTo>
                    <a:pt x="0" y="70539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6286512" y="3429000"/>
              <a:ext cx="169250" cy="705394"/>
            </a:xfrm>
            <a:custGeom>
              <a:avLst/>
              <a:gdLst>
                <a:gd name="connsiteX0" fmla="*/ 0 w 343976"/>
                <a:gd name="connsiteY0" fmla="*/ 705394 h 705394"/>
                <a:gd name="connsiteX1" fmla="*/ 169817 w 343976"/>
                <a:gd name="connsiteY1" fmla="*/ 0 h 705394"/>
                <a:gd name="connsiteX2" fmla="*/ 339635 w 343976"/>
                <a:gd name="connsiteY2" fmla="*/ 0 h 705394"/>
                <a:gd name="connsiteX3" fmla="*/ 169817 w 343976"/>
                <a:gd name="connsiteY3" fmla="*/ 705394 h 705394"/>
                <a:gd name="connsiteX4" fmla="*/ 0 w 343976"/>
                <a:gd name="connsiteY4" fmla="*/ 705394 h 70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976" h="705394">
                  <a:moveTo>
                    <a:pt x="0" y="705394"/>
                  </a:moveTo>
                  <a:lnTo>
                    <a:pt x="169817" y="0"/>
                  </a:lnTo>
                  <a:cubicBezTo>
                    <a:pt x="343976" y="13396"/>
                    <a:pt x="339635" y="69835"/>
                    <a:pt x="339635" y="0"/>
                  </a:cubicBezTo>
                  <a:lnTo>
                    <a:pt x="169817" y="705394"/>
                  </a:lnTo>
                  <a:lnTo>
                    <a:pt x="0" y="70539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500826" y="3429000"/>
              <a:ext cx="169250" cy="705394"/>
            </a:xfrm>
            <a:custGeom>
              <a:avLst/>
              <a:gdLst>
                <a:gd name="connsiteX0" fmla="*/ 0 w 343976"/>
                <a:gd name="connsiteY0" fmla="*/ 705394 h 705394"/>
                <a:gd name="connsiteX1" fmla="*/ 169817 w 343976"/>
                <a:gd name="connsiteY1" fmla="*/ 0 h 705394"/>
                <a:gd name="connsiteX2" fmla="*/ 339635 w 343976"/>
                <a:gd name="connsiteY2" fmla="*/ 0 h 705394"/>
                <a:gd name="connsiteX3" fmla="*/ 169817 w 343976"/>
                <a:gd name="connsiteY3" fmla="*/ 705394 h 705394"/>
                <a:gd name="connsiteX4" fmla="*/ 0 w 343976"/>
                <a:gd name="connsiteY4" fmla="*/ 705394 h 70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976" h="705394">
                  <a:moveTo>
                    <a:pt x="0" y="705394"/>
                  </a:moveTo>
                  <a:lnTo>
                    <a:pt x="169817" y="0"/>
                  </a:lnTo>
                  <a:cubicBezTo>
                    <a:pt x="343976" y="13396"/>
                    <a:pt x="339635" y="69835"/>
                    <a:pt x="339635" y="0"/>
                  </a:cubicBezTo>
                  <a:lnTo>
                    <a:pt x="169817" y="705394"/>
                  </a:lnTo>
                  <a:lnTo>
                    <a:pt x="0" y="70539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6715140" y="3429000"/>
              <a:ext cx="169250" cy="705394"/>
            </a:xfrm>
            <a:custGeom>
              <a:avLst/>
              <a:gdLst>
                <a:gd name="connsiteX0" fmla="*/ 0 w 343976"/>
                <a:gd name="connsiteY0" fmla="*/ 705394 h 705394"/>
                <a:gd name="connsiteX1" fmla="*/ 169817 w 343976"/>
                <a:gd name="connsiteY1" fmla="*/ 0 h 705394"/>
                <a:gd name="connsiteX2" fmla="*/ 339635 w 343976"/>
                <a:gd name="connsiteY2" fmla="*/ 0 h 705394"/>
                <a:gd name="connsiteX3" fmla="*/ 169817 w 343976"/>
                <a:gd name="connsiteY3" fmla="*/ 705394 h 705394"/>
                <a:gd name="connsiteX4" fmla="*/ 0 w 343976"/>
                <a:gd name="connsiteY4" fmla="*/ 705394 h 70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976" h="705394">
                  <a:moveTo>
                    <a:pt x="0" y="705394"/>
                  </a:moveTo>
                  <a:lnTo>
                    <a:pt x="169817" y="0"/>
                  </a:lnTo>
                  <a:cubicBezTo>
                    <a:pt x="343976" y="13396"/>
                    <a:pt x="339635" y="69835"/>
                    <a:pt x="339635" y="0"/>
                  </a:cubicBezTo>
                  <a:lnTo>
                    <a:pt x="169817" y="705394"/>
                  </a:lnTo>
                  <a:lnTo>
                    <a:pt x="0" y="70539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6929454" y="3429000"/>
              <a:ext cx="169250" cy="705394"/>
            </a:xfrm>
            <a:custGeom>
              <a:avLst/>
              <a:gdLst>
                <a:gd name="connsiteX0" fmla="*/ 0 w 343976"/>
                <a:gd name="connsiteY0" fmla="*/ 705394 h 705394"/>
                <a:gd name="connsiteX1" fmla="*/ 169817 w 343976"/>
                <a:gd name="connsiteY1" fmla="*/ 0 h 705394"/>
                <a:gd name="connsiteX2" fmla="*/ 339635 w 343976"/>
                <a:gd name="connsiteY2" fmla="*/ 0 h 705394"/>
                <a:gd name="connsiteX3" fmla="*/ 169817 w 343976"/>
                <a:gd name="connsiteY3" fmla="*/ 705394 h 705394"/>
                <a:gd name="connsiteX4" fmla="*/ 0 w 343976"/>
                <a:gd name="connsiteY4" fmla="*/ 705394 h 70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976" h="705394">
                  <a:moveTo>
                    <a:pt x="0" y="705394"/>
                  </a:moveTo>
                  <a:lnTo>
                    <a:pt x="169817" y="0"/>
                  </a:lnTo>
                  <a:cubicBezTo>
                    <a:pt x="343976" y="13396"/>
                    <a:pt x="339635" y="69835"/>
                    <a:pt x="339635" y="0"/>
                  </a:cubicBezTo>
                  <a:lnTo>
                    <a:pt x="169817" y="705394"/>
                  </a:lnTo>
                  <a:lnTo>
                    <a:pt x="0" y="70539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715008" y="3786190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15mm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1571612"/>
            <a:ext cx="6000760" cy="3842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044022" cy="72547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Future Plasma Surface Interaction Facilities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Magnum PSI</a:t>
            </a:r>
          </a:p>
          <a:p>
            <a:pPr>
              <a:buNone/>
            </a:pPr>
            <a:r>
              <a:rPr lang="en-US" sz="2400" dirty="0" smtClean="0"/>
              <a:t>Source:</a:t>
            </a:r>
            <a:endParaRPr lang="en-AU" sz="2400" dirty="0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285992"/>
            <a:ext cx="32289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00132" y="4286256"/>
            <a:ext cx="1071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Cascaded </a:t>
            </a:r>
            <a:br>
              <a:rPr lang="en-US" dirty="0" smtClean="0"/>
            </a:br>
            <a:r>
              <a:rPr lang="en-US" dirty="0" smtClean="0"/>
              <a:t>plates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785818" y="5143512"/>
            <a:ext cx="207170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Plasma source uses Resonant </a:t>
            </a:r>
            <a:r>
              <a:rPr lang="en-US" b="1" dirty="0" smtClean="0"/>
              <a:t>CX </a:t>
            </a:r>
          </a:p>
          <a:p>
            <a:r>
              <a:rPr lang="en-US" dirty="0" err="1" smtClean="0"/>
              <a:t>Ar</a:t>
            </a:r>
            <a:r>
              <a:rPr lang="en-US" baseline="30000" dirty="0" smtClean="0"/>
              <a:t>+ </a:t>
            </a:r>
            <a:r>
              <a:rPr lang="en-US" dirty="0" smtClean="0"/>
              <a:t>+</a:t>
            </a:r>
            <a:r>
              <a:rPr lang="en-US" baseline="30000" dirty="0" smtClean="0"/>
              <a:t> </a:t>
            </a:r>
            <a:r>
              <a:rPr lang="en-US" dirty="0" smtClean="0"/>
              <a:t>H</a:t>
            </a:r>
            <a:r>
              <a:rPr lang="en-US" baseline="-25000" dirty="0" smtClean="0"/>
              <a:t>2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ArH</a:t>
            </a:r>
            <a:r>
              <a:rPr lang="en-US" baseline="30000" dirty="0" smtClean="0"/>
              <a:t>+ </a:t>
            </a:r>
            <a:r>
              <a:rPr lang="en-US" dirty="0" smtClean="0"/>
              <a:t>+</a:t>
            </a:r>
            <a:r>
              <a:rPr lang="en-US" baseline="30000" dirty="0" smtClean="0"/>
              <a:t> </a:t>
            </a:r>
            <a:r>
              <a:rPr lang="en-US" dirty="0" smtClean="0"/>
              <a:t>H </a:t>
            </a:r>
            <a:r>
              <a:rPr lang="en-US" dirty="0" smtClean="0">
                <a:sym typeface="Wingdings" pitchFamily="2" charset="2"/>
              </a:rPr>
              <a:t> dissociation, easier ionization</a:t>
            </a:r>
            <a:endParaRPr lang="en-AU" baseline="30000" dirty="0" smtClean="0"/>
          </a:p>
          <a:p>
            <a:r>
              <a:rPr lang="en-US" baseline="-25000" dirty="0" smtClean="0"/>
              <a:t>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1464479" y="3964785"/>
            <a:ext cx="428628" cy="35719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38" y="235743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Cathode</a:t>
            </a:r>
            <a:endParaRPr lang="en-AU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28628" y="2714620"/>
            <a:ext cx="357190" cy="14287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57686" y="5473005"/>
            <a:ext cx="3357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Tests on this facility would be a logical next step following successful initial tests on the H1 Facility. </a:t>
            </a:r>
            <a:endParaRPr lang="en-AU" baseline="30000" dirty="0" smtClean="0"/>
          </a:p>
          <a:p>
            <a:r>
              <a:rPr lang="en-US" baseline="-250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Autofit/>
          </a:bodyPr>
          <a:lstStyle/>
          <a:p>
            <a:r>
              <a:rPr lang="en-US" sz="3400" dirty="0" smtClean="0"/>
              <a:t>High Pulsed Power – Edge </a:t>
            </a:r>
            <a:r>
              <a:rPr lang="en-US" sz="3400" dirty="0" err="1" smtClean="0"/>
              <a:t>Localised</a:t>
            </a:r>
            <a:r>
              <a:rPr lang="en-US" sz="3400" dirty="0" smtClean="0"/>
              <a:t> Mode (ELM) Simulator (Kharkov)</a:t>
            </a:r>
            <a:endParaRPr lang="en-AU" sz="3400" dirty="0"/>
          </a:p>
        </p:txBody>
      </p:sp>
      <p:pic>
        <p:nvPicPr>
          <p:cNvPr id="134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571736" y="1428736"/>
            <a:ext cx="6329378" cy="28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3571876"/>
            <a:ext cx="528641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Garkusha</a:t>
            </a:r>
            <a:r>
              <a:rPr lang="en-AU" dirty="0" smtClean="0"/>
              <a:t>, </a:t>
            </a:r>
            <a:r>
              <a:rPr lang="en-AU" dirty="0" err="1" smtClean="0"/>
              <a:t>Makhlaj</a:t>
            </a:r>
            <a:r>
              <a:rPr lang="en-AU" dirty="0" smtClean="0"/>
              <a:t>, </a:t>
            </a:r>
            <a:r>
              <a:rPr lang="en-AU" dirty="0" err="1" smtClean="0"/>
              <a:t>Chebotarev</a:t>
            </a:r>
            <a:r>
              <a:rPr lang="en-AU" dirty="0" smtClean="0"/>
              <a:t>, </a:t>
            </a:r>
            <a:r>
              <a:rPr lang="en-AU" dirty="0" err="1" smtClean="0"/>
              <a:t>Landman</a:t>
            </a:r>
            <a:r>
              <a:rPr lang="en-AU" dirty="0" smtClean="0"/>
              <a:t> et al, 2009</a:t>
            </a:r>
          </a:p>
          <a:p>
            <a:r>
              <a:rPr lang="en-AU" dirty="0" smtClean="0"/>
              <a:t>Institute of Plasma Physics , Kharkov, Ukraine</a:t>
            </a:r>
          </a:p>
          <a:p>
            <a:endParaRPr lang="en-AU" sz="2400" dirty="0" smtClean="0"/>
          </a:p>
          <a:p>
            <a:r>
              <a:rPr lang="en-AU" sz="2400" dirty="0" smtClean="0"/>
              <a:t>Pulse duration  </a:t>
            </a:r>
            <a:r>
              <a:rPr lang="en-AU" dirty="0" smtClean="0"/>
              <a:t>~</a:t>
            </a:r>
            <a:r>
              <a:rPr lang="en-AU" sz="2400" dirty="0" smtClean="0"/>
              <a:t> 0.25 ms </a:t>
            </a:r>
          </a:p>
          <a:p>
            <a:r>
              <a:rPr lang="en-AU" sz="2400" dirty="0" smtClean="0"/>
              <a:t>Energy loads of 0.2–2.5 MJ/m</a:t>
            </a:r>
            <a:r>
              <a:rPr lang="en-AU" sz="2400" baseline="30000" dirty="0" smtClean="0"/>
              <a:t>2</a:t>
            </a:r>
            <a:r>
              <a:rPr lang="en-AU" sz="2400" dirty="0" smtClean="0"/>
              <a:t> </a:t>
            </a:r>
          </a:p>
          <a:p>
            <a:pPr>
              <a:buFont typeface="Wingdings" pitchFamily="2" charset="2"/>
              <a:buChar char="à"/>
            </a:pPr>
            <a:r>
              <a:rPr lang="en-AU" sz="2400" b="1" dirty="0" smtClean="0"/>
              <a:t>   Peak power 10GW/m</a:t>
            </a:r>
            <a:r>
              <a:rPr lang="en-AU" sz="2400" b="1" baseline="30000" dirty="0" smtClean="0"/>
              <a:t>2  </a:t>
            </a:r>
          </a:p>
          <a:p>
            <a:pPr>
              <a:buFont typeface="Wingdings" pitchFamily="2" charset="2"/>
              <a:buChar char="à"/>
            </a:pPr>
            <a:endParaRPr lang="en-US" sz="2400" baseline="30000" dirty="0" smtClean="0"/>
          </a:p>
          <a:p>
            <a:r>
              <a:rPr lang="en-US" b="1" dirty="0" smtClean="0"/>
              <a:t>Also: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M. NAKATSUKA, K. ANDO  et al  APS-DPP 2009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CIEMAT $10MEu combined PSI/ELM gun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58" y="2143116"/>
            <a:ext cx="2286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Coaxial Plasma Gun</a:t>
            </a:r>
            <a:endParaRPr lang="en-AU" sz="24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071670" y="2643182"/>
            <a:ext cx="1571636" cy="156005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86446" y="4214818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Target at 2.3m</a:t>
            </a:r>
            <a:endParaRPr lang="en-AU" sz="2400" dirty="0"/>
          </a:p>
        </p:txBody>
      </p:sp>
      <p:cxnSp>
        <p:nvCxnSpPr>
          <p:cNvPr id="13" name="Straight Arrow Connector 12"/>
          <p:cNvCxnSpPr>
            <a:stCxn id="12" idx="0"/>
          </p:cNvCxnSpPr>
          <p:nvPr/>
        </p:nvCxnSpPr>
        <p:spPr>
          <a:xfrm rot="5400000" flipH="1" flipV="1">
            <a:off x="6465901" y="3463925"/>
            <a:ext cx="1214446" cy="28734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29190" y="4857760"/>
            <a:ext cx="4000528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Carbon and Tungsten target tests (ITER)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Tungsten melts at 0.6MJ/m</a:t>
            </a:r>
            <a:r>
              <a:rPr lang="en-US" baseline="30000" dirty="0" smtClean="0"/>
              <a:t>2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Ejects droplets at  1.1MJ/m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For carbon, Intense heat generates </a:t>
            </a:r>
            <a:r>
              <a:rPr lang="en-US" dirty="0" err="1" smtClean="0"/>
              <a:t>vapour</a:t>
            </a:r>
            <a:r>
              <a:rPr lang="en-US" dirty="0" smtClean="0"/>
              <a:t> shield at &gt;0.5MJ/m</a:t>
            </a:r>
            <a:r>
              <a:rPr lang="en-US" baseline="30000" dirty="0" smtClean="0"/>
              <a:t>2</a:t>
            </a:r>
            <a:r>
              <a:rPr lang="en-AU" dirty="0" smtClean="0"/>
              <a:t> reducing damage.</a:t>
            </a:r>
            <a:endParaRPr lang="en-US" baseline="30000" dirty="0" smtClean="0"/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7751785" y="2820983"/>
            <a:ext cx="1500198" cy="1588"/>
          </a:xfrm>
          <a:prstGeom prst="straightConnector1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43966" y="2571744"/>
            <a:ext cx="71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1m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2000"/>
            <a:lum/>
          </a:blip>
          <a:srcRect/>
          <a:stretch>
            <a:fillRect l="30000" t="15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7" y="0"/>
            <a:ext cx="6357982" cy="11430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The Australian Plasma Fusion Facility:  </a:t>
            </a:r>
            <a:br>
              <a:rPr lang="en-US" sz="2800" b="1" dirty="0" smtClean="0">
                <a:solidFill>
                  <a:srgbClr val="7030A0"/>
                </a:solidFill>
              </a:rPr>
            </a:br>
            <a:r>
              <a:rPr lang="en-US" sz="2800" b="1" dirty="0" smtClean="0">
                <a:solidFill>
                  <a:srgbClr val="7030A0"/>
                </a:solidFill>
              </a:rPr>
              <a:t>Results and Upgrade Plans</a:t>
            </a:r>
            <a:endParaRPr lang="en-US" sz="2800" dirty="0" smtClean="0">
              <a:solidFill>
                <a:srgbClr val="7030A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14422"/>
            <a:ext cx="8893175" cy="5089525"/>
          </a:xfrm>
        </p:spPr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H-1 Plasma and Facility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Plasma configurations, parameters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Facility Upgrade</a:t>
            </a:r>
          </a:p>
          <a:p>
            <a:pPr marL="342900" lvl="1" indent="-342900"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	  </a:t>
            </a: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Aims</a:t>
            </a:r>
            <a:b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  Key areas</a:t>
            </a:r>
          </a:p>
          <a:p>
            <a:pPr marL="342900" lvl="1" indent="-342900"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	  New diagnostics for Upgrade</a:t>
            </a:r>
          </a:p>
          <a:p>
            <a:pPr>
              <a:buFontTx/>
              <a:buNone/>
            </a:pPr>
            <a:r>
              <a:rPr lang="en-US" sz="2200" b="1" dirty="0" smtClean="0"/>
              <a:t>Recent Results: MHD Modes in H-1</a:t>
            </a:r>
          </a:p>
          <a:p>
            <a:pPr>
              <a:buFontTx/>
              <a:buNone/>
            </a:pPr>
            <a:r>
              <a:rPr lang="en-US" sz="1800" b="1" dirty="0" smtClean="0"/>
              <a:t>	  Data mining</a:t>
            </a:r>
            <a:endParaRPr lang="en-US" sz="2200" b="1" dirty="0" smtClean="0"/>
          </a:p>
          <a:p>
            <a:pPr lvl="1">
              <a:buFontTx/>
              <a:buNone/>
            </a:pPr>
            <a:r>
              <a:rPr lang="en-US" sz="1800" b="1" dirty="0" smtClean="0"/>
              <a:t>Alfvénic Scaling</a:t>
            </a:r>
          </a:p>
          <a:p>
            <a:pPr lvl="1">
              <a:buFontTx/>
              <a:buNone/>
            </a:pPr>
            <a:r>
              <a:rPr lang="en-US" sz="1800" b="1" dirty="0" smtClean="0"/>
              <a:t>Optical Measurements</a:t>
            </a:r>
          </a:p>
          <a:p>
            <a:pPr lvl="1">
              <a:buFontTx/>
              <a:buNone/>
            </a:pPr>
            <a:r>
              <a:rPr lang="en-US" sz="1800" b="1" dirty="0" smtClean="0"/>
              <a:t>Radial Structure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Stellarator Fusion 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Recent Progress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Reactor Considerations 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Conclusions/Future</a:t>
            </a:r>
          </a:p>
          <a:p>
            <a:pPr>
              <a:buFontTx/>
              <a:buNone/>
            </a:pPr>
            <a:endParaRPr lang="en-US" sz="2200" b="1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fld id="{D132E384-F889-48D0-BD47-7EF7ED215D37}" type="slidenum">
              <a:rPr lang="en-US"/>
              <a:pPr/>
              <a:t>21</a:t>
            </a:fld>
            <a:endParaRPr 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/>
          <a:srcRect b="15305"/>
          <a:stretch>
            <a:fillRect/>
          </a:stretch>
        </p:blipFill>
        <p:spPr bwMode="auto">
          <a:xfrm>
            <a:off x="6804025" y="142852"/>
            <a:ext cx="23399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MHD/Mirnov fluctuations in H-1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Blackwell, ISHW Princeton 2009</a:t>
            </a:r>
            <a:r>
              <a:rPr lang="en-US" smtClean="0"/>
              <a:t>  </a:t>
            </a:r>
            <a:fld id="{EFAC93D0-A1BC-4F71-B3DE-9850DD3BF3B9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17762" name="Picture 2" descr="h158060_fs_nor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000108"/>
            <a:ext cx="8643966" cy="56439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5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Blackwell, GEM XV Conference 2/2008</a:t>
            </a:r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title"/>
          </p:nvPr>
        </p:nvSpPr>
        <p:spPr>
          <a:xfrm>
            <a:off x="863600" y="0"/>
            <a:ext cx="8280400" cy="1143000"/>
          </a:xfrm>
        </p:spPr>
        <p:txBody>
          <a:bodyPr/>
          <a:lstStyle/>
          <a:p>
            <a:r>
              <a:rPr lang="en-US" sz="3200" dirty="0" smtClean="0">
                <a:solidFill>
                  <a:srgbClr val="7030A0"/>
                </a:solidFill>
              </a:rPr>
              <a:t>Identification with Alfvén Eigenmodes: n</a:t>
            </a:r>
            <a:r>
              <a:rPr lang="en-US" sz="4400" baseline="-25000" dirty="0" smtClean="0">
                <a:solidFill>
                  <a:srgbClr val="7030A0"/>
                </a:solidFill>
              </a:rPr>
              <a:t>e</a:t>
            </a:r>
          </a:p>
        </p:txBody>
      </p:sp>
      <p:sp>
        <p:nvSpPr>
          <p:cNvPr id="19460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052513"/>
            <a:ext cx="4824412" cy="4114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800" smtClean="0"/>
              <a:t>Coherent mode near iota = 1.4, 26-60kHz, Alfvénic scaling with n</a:t>
            </a:r>
            <a:r>
              <a:rPr lang="en-GB" baseline="-25000" smtClean="0"/>
              <a:t>e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800" smtClean="0"/>
              <a:t>m number resolved by bean array of Mirnov coils to be 2 or 3.</a:t>
            </a:r>
            <a:endParaRPr lang="en-GB" sz="1800" i="1" smtClean="0"/>
          </a:p>
          <a:p>
            <a:pPr>
              <a:spcBef>
                <a:spcPct val="25000"/>
              </a:spcBef>
              <a:spcAft>
                <a:spcPct val="20000"/>
              </a:spcAft>
            </a:pPr>
            <a:r>
              <a:rPr lang="en-AU" altLang="ja-JP" smtClean="0">
                <a:ea typeface="ＭＳ Ｐゴシック" charset="-128"/>
              </a:rPr>
              <a:t>V</a:t>
            </a:r>
            <a:r>
              <a:rPr lang="en-AU" altLang="ja-JP" sz="2800" baseline="-25000" smtClean="0">
                <a:ea typeface="ＭＳ Ｐゴシック" charset="-128"/>
              </a:rPr>
              <a:t>Alfvén</a:t>
            </a:r>
            <a:r>
              <a:rPr lang="en-AU" altLang="ja-JP" smtClean="0">
                <a:ea typeface="ＭＳ Ｐゴシック" charset="-128"/>
              </a:rPr>
              <a:t>  = </a:t>
            </a:r>
            <a:r>
              <a:rPr lang="en-AU" altLang="ja-JP" sz="2800" baseline="30000" smtClean="0">
                <a:ea typeface="ＭＳ Ｐゴシック" charset="-128"/>
              </a:rPr>
              <a:t>B</a:t>
            </a:r>
            <a:r>
              <a:rPr lang="en-AU" altLang="ja-JP" sz="2800" smtClean="0">
                <a:ea typeface="ＭＳ Ｐゴシック" charset="-128"/>
              </a:rPr>
              <a:t>/</a:t>
            </a:r>
            <a:r>
              <a:rPr lang="en-AU" altLang="ja-JP" sz="2800" baseline="-25000" smtClean="0">
                <a:ea typeface="ＭＳ Ｐゴシック" charset="-128"/>
                <a:sym typeface="Symbol" pitchFamily="18" charset="2"/>
              </a:rPr>
              <a:t></a:t>
            </a:r>
            <a:r>
              <a:rPr lang="en-AU" altLang="ja-JP" sz="2800" baseline="-25000" smtClean="0">
                <a:ea typeface="ＭＳ Ｐゴシック" charset="-128"/>
              </a:rPr>
              <a:t>(</a:t>
            </a:r>
            <a:r>
              <a:rPr lang="en-AU" altLang="ja-JP" sz="2800" baseline="-25000" smtClean="0">
                <a:ea typeface="ＭＳ Ｐゴシック" charset="-128"/>
                <a:sym typeface="Symbol" pitchFamily="18" charset="2"/>
              </a:rPr>
              <a:t></a:t>
            </a:r>
            <a:r>
              <a:rPr lang="en-AU" altLang="ja-JP" sz="2000" baseline="-50000" smtClean="0">
                <a:ea typeface="ＭＳ Ｐゴシック" charset="-128"/>
              </a:rPr>
              <a:t>o</a:t>
            </a:r>
            <a:r>
              <a:rPr lang="en-AU" altLang="ja-JP" sz="2800" baseline="-25000" smtClean="0">
                <a:ea typeface="ＭＳ Ｐゴシック" charset="-128"/>
                <a:sym typeface="Symbol" pitchFamily="18" charset="2"/>
              </a:rPr>
              <a:t></a:t>
            </a:r>
            <a:r>
              <a:rPr lang="en-AU" altLang="ja-JP" sz="2800" baseline="-25000" smtClean="0">
                <a:ea typeface="ＭＳ Ｐゴシック" charset="-128"/>
              </a:rPr>
              <a:t>)</a:t>
            </a:r>
            <a:r>
              <a:rPr lang="en-AU" altLang="ja-JP" smtClean="0">
                <a:ea typeface="ＭＳ Ｐゴシック" charset="-128"/>
              </a:rPr>
              <a:t> 			    	     </a:t>
            </a:r>
            <a:r>
              <a:rPr lang="en-AU" altLang="ja-JP" smtClean="0">
                <a:ea typeface="ＭＳ Ｐゴシック" charset="-128"/>
                <a:sym typeface="Symbol" pitchFamily="18" charset="2"/>
              </a:rPr>
              <a:t> </a:t>
            </a:r>
            <a:r>
              <a:rPr lang="en-AU" altLang="ja-JP" sz="2800" baseline="30000" smtClean="0">
                <a:ea typeface="ＭＳ Ｐゴシック" charset="-128"/>
              </a:rPr>
              <a:t>B</a:t>
            </a:r>
            <a:r>
              <a:rPr lang="en-AU" altLang="ja-JP" sz="2800" smtClean="0">
                <a:ea typeface="ＭＳ Ｐゴシック" charset="-128"/>
              </a:rPr>
              <a:t>/</a:t>
            </a:r>
            <a:r>
              <a:rPr lang="en-AU" altLang="ja-JP" sz="2800" baseline="-25000" smtClean="0">
                <a:ea typeface="ＭＳ Ｐゴシック" charset="-128"/>
                <a:sym typeface="Symbol" pitchFamily="18" charset="2"/>
              </a:rPr>
              <a:t></a:t>
            </a:r>
            <a:r>
              <a:rPr lang="en-AU" altLang="ja-JP" sz="2800" baseline="-25000" smtClean="0">
                <a:ea typeface="ＭＳ Ｐゴシック" charset="-128"/>
              </a:rPr>
              <a:t>n</a:t>
            </a:r>
            <a:r>
              <a:rPr lang="en-AU" altLang="ja-JP" baseline="-50000" smtClean="0">
                <a:ea typeface="ＭＳ Ｐゴシック" charset="-128"/>
              </a:rPr>
              <a:t>e</a:t>
            </a:r>
            <a:endParaRPr lang="en-GB" baseline="-50000" smtClean="0">
              <a:ea typeface="ＭＳ Ｐゴシック" charset="-128"/>
            </a:endParaRP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800" smtClean="0"/>
              <a:t>Scaling in </a:t>
            </a:r>
            <a:r>
              <a:rPr lang="en-AU" altLang="ja-JP" sz="2800" baseline="-25000" smtClean="0">
                <a:ea typeface="ＭＳ Ｐゴシック" charset="-128"/>
                <a:sym typeface="Symbol" pitchFamily="18" charset="2"/>
              </a:rPr>
              <a:t></a:t>
            </a:r>
            <a:r>
              <a:rPr lang="en-GB" sz="1800" smtClean="0"/>
              <a:t>n</a:t>
            </a:r>
            <a:r>
              <a:rPr lang="en-GB" sz="2000" baseline="-14000" smtClean="0"/>
              <a:t>e</a:t>
            </a:r>
            <a:r>
              <a:rPr lang="en-GB" sz="1800" smtClean="0"/>
              <a:t> in time (right) and</a:t>
            </a:r>
            <a:br>
              <a:rPr lang="en-GB" sz="1800" smtClean="0"/>
            </a:br>
            <a:r>
              <a:rPr lang="en-GB" sz="1800" smtClean="0"/>
              <a:t>over various discharges (below)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None/>
            </a:pPr>
            <a:endParaRPr lang="en-GB" sz="1800" i="1" smtClean="0"/>
          </a:p>
        </p:txBody>
      </p:sp>
      <p:sp>
        <p:nvSpPr>
          <p:cNvPr id="19461" name="Text Box 13"/>
          <p:cNvSpPr txBox="1">
            <a:spLocks noChangeArrowheads="1"/>
          </p:cNvSpPr>
          <p:nvPr/>
        </p:nvSpPr>
        <p:spPr bwMode="auto">
          <a:xfrm>
            <a:off x="5351463" y="1100138"/>
            <a:ext cx="3779837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solidFill>
                  <a:srgbClr val="009900"/>
                </a:solidFill>
                <a:latin typeface="Times New Roman" pitchFamily="18" charset="0"/>
              </a:rPr>
              <a:t>phase</a:t>
            </a:r>
          </a:p>
        </p:txBody>
      </p:sp>
      <p:pic>
        <p:nvPicPr>
          <p:cNvPr id="19462" name="Picture 34" descr="45630_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92750" y="1052513"/>
            <a:ext cx="365125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4" name="Text Box 47"/>
          <p:cNvSpPr txBox="1">
            <a:spLocks noChangeArrowheads="1"/>
          </p:cNvSpPr>
          <p:nvPr/>
        </p:nvSpPr>
        <p:spPr bwMode="auto">
          <a:xfrm>
            <a:off x="8027988" y="2060575"/>
            <a:ext cx="647700" cy="3873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lIns="36000" tIns="10800" rIns="36000" bIns="10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AU" altLang="ja-JP" sz="2400" baseline="30000">
                <a:solidFill>
                  <a:schemeClr val="bg1"/>
                </a:solidFill>
                <a:ea typeface="ＭＳ Ｐゴシック" charset="-128"/>
              </a:rPr>
              <a:t>1</a:t>
            </a:r>
            <a:r>
              <a:rPr lang="en-AU" altLang="ja-JP" sz="2400">
                <a:solidFill>
                  <a:schemeClr val="bg1"/>
                </a:solidFill>
                <a:ea typeface="ＭＳ Ｐゴシック" charset="-128"/>
              </a:rPr>
              <a:t>/</a:t>
            </a:r>
            <a:r>
              <a:rPr lang="en-AU" altLang="ja-JP" sz="2400" baseline="-25000">
                <a:solidFill>
                  <a:schemeClr val="bg1"/>
                </a:solidFill>
                <a:ea typeface="ＭＳ Ｐゴシック" charset="-128"/>
                <a:sym typeface="Symbol" pitchFamily="18" charset="2"/>
              </a:rPr>
              <a:t></a:t>
            </a:r>
            <a:r>
              <a:rPr lang="en-AU" altLang="ja-JP" sz="2400" baseline="-25000">
                <a:solidFill>
                  <a:schemeClr val="bg1"/>
                </a:solidFill>
                <a:ea typeface="ＭＳ Ｐゴシック" charset="-128"/>
              </a:rPr>
              <a:t>n</a:t>
            </a:r>
            <a:r>
              <a:rPr lang="en-AU" altLang="ja-JP" sz="2000" baseline="-50000">
                <a:solidFill>
                  <a:schemeClr val="bg1"/>
                </a:solidFill>
                <a:ea typeface="ＭＳ Ｐゴシック" charset="-128"/>
              </a:rPr>
              <a:t>e</a:t>
            </a:r>
            <a:endParaRPr lang="en-US" sz="2000" baseline="-5000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9465" name="Text Box 48"/>
          <p:cNvSpPr txBox="1">
            <a:spLocks noChangeArrowheads="1"/>
          </p:cNvSpPr>
          <p:nvPr/>
        </p:nvSpPr>
        <p:spPr bwMode="auto">
          <a:xfrm>
            <a:off x="6804025" y="3644900"/>
            <a:ext cx="360363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10800" rIns="36000" bIns="1080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AU" altLang="ja-JP" sz="2400" baseline="-25000">
                <a:solidFill>
                  <a:schemeClr val="bg1"/>
                </a:solidFill>
                <a:ea typeface="ＭＳ Ｐゴシック" charset="-128"/>
              </a:rPr>
              <a:t>n</a:t>
            </a:r>
            <a:r>
              <a:rPr lang="en-AU" altLang="ja-JP" sz="2000" baseline="-50000">
                <a:solidFill>
                  <a:schemeClr val="bg1"/>
                </a:solidFill>
                <a:ea typeface="ＭＳ Ｐゴシック" charset="-128"/>
              </a:rPr>
              <a:t>e</a:t>
            </a:r>
          </a:p>
          <a:p>
            <a:pPr eaLnBrk="0" hangingPunct="0">
              <a:spcBef>
                <a:spcPct val="50000"/>
              </a:spcBef>
            </a:pPr>
            <a:endParaRPr lang="en-US" sz="2000" baseline="-50000">
              <a:solidFill>
                <a:schemeClr val="bg1"/>
              </a:solidFill>
              <a:ea typeface="ＭＳ Ｐゴシック" charset="-128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34925" y="3933825"/>
            <a:ext cx="5329238" cy="2619375"/>
            <a:chOff x="34925" y="3933825"/>
            <a:chExt cx="5329238" cy="2619375"/>
          </a:xfrm>
        </p:grpSpPr>
        <p:pic>
          <p:nvPicPr>
            <p:cNvPr id="19463" name="Picture 44" descr="Alf_ne_scaling_4over3"/>
            <p:cNvPicPr>
              <a:picLocks noChangeAspect="1" noChangeArrowheads="1"/>
            </p:cNvPicPr>
            <p:nvPr/>
          </p:nvPicPr>
          <p:blipFill>
            <a:blip r:embed="rId4"/>
            <a:srcRect l="4964" t="51765"/>
            <a:stretch>
              <a:fillRect/>
            </a:stretch>
          </p:blipFill>
          <p:spPr bwMode="auto">
            <a:xfrm>
              <a:off x="34925" y="3933825"/>
              <a:ext cx="5329238" cy="2619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466" name="Text Box 49"/>
            <p:cNvSpPr txBox="1">
              <a:spLocks noChangeArrowheads="1"/>
            </p:cNvSpPr>
            <p:nvPr/>
          </p:nvSpPr>
          <p:spPr bwMode="auto">
            <a:xfrm>
              <a:off x="1908175" y="4221163"/>
              <a:ext cx="1150938" cy="3873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36000" tIns="10800" rIns="36000" bIns="1080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AU" altLang="ja-JP" sz="2400" dirty="0">
                  <a:ea typeface="ＭＳ Ｐゴシック" charset="-128"/>
                </a:rPr>
                <a:t>f </a:t>
              </a:r>
              <a:r>
                <a:rPr lang="en-AU" altLang="ja-JP" sz="2400" dirty="0">
                  <a:latin typeface="Times New Roman" pitchFamily="18" charset="0"/>
                  <a:ea typeface="ＭＳ Ｐゴシック" charset="-128"/>
                  <a:sym typeface="Symbol" pitchFamily="18" charset="2"/>
                </a:rPr>
                <a:t></a:t>
              </a:r>
              <a:r>
                <a:rPr lang="en-AU" altLang="ja-JP" sz="2400" dirty="0">
                  <a:latin typeface="Times New Roman" pitchFamily="18" charset="0"/>
                  <a:ea typeface="ＭＳ Ｐゴシック" charset="-128"/>
                </a:rPr>
                <a:t> </a:t>
              </a:r>
              <a:r>
                <a:rPr lang="en-AU" altLang="ja-JP" sz="2400" baseline="30000" dirty="0">
                  <a:ea typeface="ＭＳ Ｐゴシック" charset="-128"/>
                </a:rPr>
                <a:t>1</a:t>
              </a:r>
              <a:r>
                <a:rPr lang="en-AU" altLang="ja-JP" sz="2400" dirty="0">
                  <a:ea typeface="ＭＳ Ｐゴシック" charset="-128"/>
                </a:rPr>
                <a:t>/</a:t>
              </a:r>
              <a:r>
                <a:rPr lang="en-AU" altLang="ja-JP" sz="2400" baseline="-25000" dirty="0">
                  <a:ea typeface="ＭＳ Ｐゴシック" charset="-128"/>
                  <a:sym typeface="Symbol" pitchFamily="18" charset="2"/>
                </a:rPr>
                <a:t></a:t>
              </a:r>
              <a:r>
                <a:rPr lang="en-AU" altLang="ja-JP" sz="2400" baseline="-25000" dirty="0">
                  <a:ea typeface="ＭＳ Ｐゴシック" charset="-128"/>
                </a:rPr>
                <a:t>n</a:t>
              </a:r>
              <a:r>
                <a:rPr lang="en-AU" altLang="ja-JP" sz="2000" baseline="-50000" dirty="0">
                  <a:ea typeface="ＭＳ Ｐゴシック" charset="-128"/>
                </a:rPr>
                <a:t>e</a:t>
              </a:r>
              <a:endParaRPr lang="en-US" sz="2000" baseline="-50000" dirty="0">
                <a:ea typeface="ＭＳ Ｐゴシック" charset="-128"/>
              </a:endParaRPr>
            </a:p>
          </p:txBody>
        </p:sp>
      </p:grpSp>
      <p:sp>
        <p:nvSpPr>
          <p:cNvPr id="19467" name="AutoShape 50"/>
          <p:cNvSpPr>
            <a:spLocks noChangeArrowheads="1"/>
          </p:cNvSpPr>
          <p:nvPr/>
        </p:nvSpPr>
        <p:spPr bwMode="auto">
          <a:xfrm rot="780780">
            <a:off x="4716463" y="1557338"/>
            <a:ext cx="1295400" cy="287337"/>
          </a:xfrm>
          <a:prstGeom prst="notchedRightArrow">
            <a:avLst>
              <a:gd name="adj1" fmla="val 50000"/>
              <a:gd name="adj2" fmla="val 112707"/>
            </a:avLst>
          </a:prstGeom>
          <a:solidFill>
            <a:srgbClr val="FFCC00"/>
          </a:solidFill>
          <a:ln w="9525">
            <a:miter lim="800000"/>
            <a:headEnd/>
            <a:tailEnd/>
          </a:ln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CC00"/>
            </a:extrusionClr>
          </a:sp3d>
        </p:spPr>
        <p:txBody>
          <a:bodyPr anchor="ctr">
            <a:spAutoFit/>
            <a:flatTx/>
          </a:bodyPr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19468" name="Text Box 51"/>
          <p:cNvSpPr txBox="1">
            <a:spLocks noChangeArrowheads="1"/>
          </p:cNvSpPr>
          <p:nvPr/>
        </p:nvSpPr>
        <p:spPr bwMode="auto">
          <a:xfrm>
            <a:off x="5580063" y="5157788"/>
            <a:ext cx="3816350" cy="1920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b="1"/>
              <a:t>Critical issue in fusion reactors:</a:t>
            </a:r>
          </a:p>
          <a:p>
            <a:pPr eaLnBrk="0" hangingPunct="0">
              <a:spcBef>
                <a:spcPct val="50000"/>
              </a:spcBef>
            </a:pPr>
            <a:r>
              <a:rPr lang="en-AU" altLang="ja-JP" sz="2000">
                <a:ea typeface="ＭＳ Ｐゴシック" charset="-128"/>
              </a:rPr>
              <a:t>V</a:t>
            </a:r>
            <a:r>
              <a:rPr lang="en-AU" altLang="ja-JP" sz="2800" baseline="-25000">
                <a:ea typeface="ＭＳ Ｐゴシック" charset="-128"/>
              </a:rPr>
              <a:t>Alfvén</a:t>
            </a:r>
            <a:r>
              <a:rPr lang="en-AU" altLang="ja-JP" sz="2000">
                <a:ea typeface="ＭＳ Ｐゴシック" charset="-128"/>
              </a:rPr>
              <a:t> ~ fusion alpha velocity</a:t>
            </a:r>
            <a:br>
              <a:rPr lang="en-AU" altLang="ja-JP" sz="2000">
                <a:ea typeface="ＭＳ Ｐゴシック" charset="-128"/>
              </a:rPr>
            </a:br>
            <a:r>
              <a:rPr lang="en-AU" altLang="ja-JP" sz="2000">
                <a:ea typeface="ＭＳ Ｐゴシック" charset="-128"/>
                <a:sym typeface="Wingdings" pitchFamily="2" charset="2"/>
              </a:rPr>
              <a:t> fusion driven instability!</a:t>
            </a:r>
            <a:endParaRPr lang="en-US" sz="2000"/>
          </a:p>
          <a:p>
            <a:pPr eaLnBrk="0" hangingPunct="0">
              <a:spcBef>
                <a:spcPct val="50000"/>
              </a:spcBef>
            </a:pP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Preprocessing(1): SVD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928670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Divide each time signal into </a:t>
            </a:r>
            <a:r>
              <a:rPr lang="en-US" sz="2000" b="1" dirty="0" smtClean="0"/>
              <a:t>1ms pieces, </a:t>
            </a:r>
            <a:r>
              <a:rPr lang="en-US" sz="2000" dirty="0" smtClean="0"/>
              <a:t>then within these, </a:t>
            </a:r>
          </a:p>
          <a:p>
            <a:pPr>
              <a:buNone/>
            </a:pPr>
            <a:r>
              <a:rPr lang="en-US" sz="2000" b="1" dirty="0" smtClean="0"/>
              <a:t>Singular value decomposition </a:t>
            </a:r>
            <a:r>
              <a:rPr lang="en-US" sz="2000" dirty="0" smtClean="0"/>
              <a:t>“separates variables” time and space” for each mode</a:t>
            </a:r>
          </a:p>
          <a:p>
            <a:pPr>
              <a:buNone/>
            </a:pPr>
            <a:r>
              <a:rPr lang="en-US" sz="2000" dirty="0" smtClean="0"/>
              <a:t>27/18 probe signals </a:t>
            </a:r>
            <a:r>
              <a:rPr lang="en-US" sz="2000" dirty="0" smtClean="0">
                <a:sym typeface="Wingdings" pitchFamily="2" charset="2"/>
              </a:rPr>
              <a:t> one time function (</a:t>
            </a:r>
            <a:r>
              <a:rPr lang="en-US" sz="2000" dirty="0" err="1" smtClean="0">
                <a:sym typeface="Wingdings" pitchFamily="2" charset="2"/>
              </a:rPr>
              <a:t>chronos</a:t>
            </a:r>
            <a:r>
              <a:rPr lang="en-US" sz="2000" dirty="0" smtClean="0">
                <a:sym typeface="Wingdings" pitchFamily="2" charset="2"/>
              </a:rPr>
              <a:t>)  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C(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)</a:t>
            </a:r>
            <a:endParaRPr lang="en-US" sz="2000" dirty="0" smtClean="0">
              <a:latin typeface="French Script MT" pitchFamily="66" charset="0"/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		         one spatial function (</a:t>
            </a:r>
            <a:r>
              <a:rPr lang="en-US" sz="2000" dirty="0" err="1" smtClean="0">
                <a:sym typeface="Wingdings" pitchFamily="2" charset="2"/>
              </a:rPr>
              <a:t>topos</a:t>
            </a:r>
            <a:r>
              <a:rPr lang="en-US" sz="2000" dirty="0" smtClean="0">
                <a:sym typeface="Wingdings" pitchFamily="2" charset="2"/>
              </a:rPr>
              <a:t>) 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T(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</a:t>
            </a:r>
            <a:r>
              <a:rPr lang="en-US" sz="2000" dirty="0" smtClean="0">
                <a:latin typeface="French Script MT" pitchFamily="66" charset="0"/>
                <a:sym typeface="Wingdings" pitchFamily="2" charset="2"/>
              </a:rPr>
              <a:t>)</a:t>
            </a:r>
            <a:r>
              <a:rPr lang="en-US" sz="2000" dirty="0" smtClean="0">
                <a:sym typeface="Wingdings" pitchFamily="2" charset="2"/>
              </a:rPr>
              <a:t>    </a:t>
            </a:r>
            <a:r>
              <a:rPr lang="en-US" sz="2000" dirty="0" err="1" smtClean="0">
                <a:sym typeface="Wingdings" pitchFamily="2" charset="2"/>
              </a:rPr>
              <a:t>F</a:t>
            </a:r>
            <a:r>
              <a:rPr lang="en-US" sz="2000" baseline="-25000" dirty="0" err="1" smtClean="0">
                <a:sym typeface="Wingdings" pitchFamily="2" charset="2"/>
              </a:rPr>
              <a:t>mode</a:t>
            </a:r>
            <a:r>
              <a:rPr lang="en-US" sz="2000" baseline="30000" dirty="0" smtClean="0">
                <a:sym typeface="Wingdings" pitchFamily="2" charset="2"/>
              </a:rPr>
              <a:t> = 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C(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) </a:t>
            </a:r>
            <a:r>
              <a:rPr lang="en-US" sz="2400" dirty="0" smtClean="0">
                <a:latin typeface="Symbol" pitchFamily="18" charset="2"/>
                <a:sym typeface="Symbol"/>
              </a:rPr>
              <a:t>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 T(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) </a:t>
            </a:r>
            <a:endParaRPr lang="en-US" sz="2000" baseline="-25000" dirty="0" smtClean="0">
              <a:latin typeface="French Script MT" pitchFamily="66" charset="0"/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</a:t>
            </a:r>
            <a:r>
              <a:rPr lang="en-US" sz="2000" b="1" dirty="0" smtClean="0">
                <a:sym typeface="Wingdings" pitchFamily="2" charset="2"/>
              </a:rPr>
              <a:t>per mode </a:t>
            </a:r>
            <a:r>
              <a:rPr lang="en-US" sz="2000" dirty="0" smtClean="0">
                <a:sym typeface="Wingdings" pitchFamily="2" charset="2"/>
              </a:rPr>
              <a:t>(</a:t>
            </a:r>
            <a:r>
              <a:rPr lang="en-US" sz="1800" i="1" dirty="0" smtClean="0">
                <a:sym typeface="Wingdings" pitchFamily="2" charset="2"/>
              </a:rPr>
              <a:t>actually 2 or 3 in practice, sin-like and </a:t>
            </a:r>
            <a:r>
              <a:rPr lang="en-US" sz="1800" i="1" dirty="0" err="1" smtClean="0">
                <a:sym typeface="Wingdings" pitchFamily="2" charset="2"/>
              </a:rPr>
              <a:t>cos</a:t>
            </a:r>
            <a:r>
              <a:rPr lang="en-US" sz="1800" i="1" dirty="0" smtClean="0">
                <a:sym typeface="Wingdings" pitchFamily="2" charset="2"/>
              </a:rPr>
              <a:t>-like, travelling wave</a:t>
            </a:r>
            <a:r>
              <a:rPr lang="en-US" sz="2000" dirty="0" smtClean="0">
                <a:sym typeface="Wingdings" pitchFamily="2" charset="2"/>
              </a:rPr>
              <a:t>)</a:t>
            </a:r>
          </a:p>
          <a:p>
            <a:pPr>
              <a:buNone/>
            </a:pPr>
            <a:endParaRPr lang="en-US" sz="2000" dirty="0" smtClean="0"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</a:t>
            </a:r>
            <a:endParaRPr lang="en-AU" sz="2000" dirty="0"/>
          </a:p>
        </p:txBody>
      </p:sp>
      <p:pic>
        <p:nvPicPr>
          <p:cNvPr id="16" name="Picture 15" descr="h1_58080_svd.jpg"/>
          <p:cNvPicPr>
            <a:picLocks noChangeAspect="1"/>
          </p:cNvPicPr>
          <p:nvPr/>
        </p:nvPicPr>
        <p:blipFill>
          <a:blip r:embed="rId3"/>
          <a:srcRect l="1087" t="6976" r="7800" b="5814"/>
          <a:stretch>
            <a:fillRect/>
          </a:stretch>
        </p:blipFill>
        <p:spPr>
          <a:xfrm>
            <a:off x="4286248" y="3214686"/>
            <a:ext cx="4614864" cy="3643314"/>
          </a:xfrm>
          <a:prstGeom prst="rect">
            <a:avLst/>
          </a:prstGeom>
        </p:spPr>
      </p:pic>
      <p:pic>
        <p:nvPicPr>
          <p:cNvPr id="15" name="Picture 14" descr="h1_58080_svd_zoom.jpg"/>
          <p:cNvPicPr>
            <a:picLocks noChangeAspect="1"/>
          </p:cNvPicPr>
          <p:nvPr/>
        </p:nvPicPr>
        <p:blipFill>
          <a:blip r:embed="rId4">
            <a:lum bright="-26000" contrast="43000"/>
          </a:blip>
          <a:srcRect l="19498" t="9300" r="47744" b="50795"/>
          <a:stretch>
            <a:fillRect/>
          </a:stretch>
        </p:blipFill>
        <p:spPr>
          <a:xfrm>
            <a:off x="5196088" y="3294880"/>
            <a:ext cx="1670765" cy="1678696"/>
          </a:xfrm>
          <a:prstGeom prst="rect">
            <a:avLst/>
          </a:prstGeom>
        </p:spPr>
      </p:pic>
      <p:pic>
        <p:nvPicPr>
          <p:cNvPr id="17" name="Picture 16" descr="h158070_nolabe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80" y="3286124"/>
            <a:ext cx="2937211" cy="3429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00232" y="3286124"/>
            <a:ext cx="1643074" cy="3429000"/>
          </a:xfrm>
          <a:prstGeom prst="rect">
            <a:avLst/>
          </a:prstGeom>
          <a:solidFill>
            <a:srgbClr val="FFC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714744" y="3357562"/>
            <a:ext cx="428628" cy="714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713612" y="6572272"/>
            <a:ext cx="429760" cy="1001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969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Preprocessing: SVD</a:t>
            </a:r>
            <a:r>
              <a:rPr lang="en-US" sz="3600" dirty="0" smtClean="0">
                <a:sym typeface="Wingdings" pitchFamily="2" charset="2"/>
              </a:rPr>
              <a:t>s grouped into “</a:t>
            </a:r>
            <a:r>
              <a:rPr lang="en-US" sz="3600" dirty="0" err="1" smtClean="0">
                <a:sym typeface="Wingdings" pitchFamily="2" charset="2"/>
              </a:rPr>
              <a:t>flucstruc</a:t>
            </a:r>
            <a:r>
              <a:rPr lang="en-US" sz="3600" dirty="0" err="1" smtClean="0"/>
              <a:t>s</a:t>
            </a:r>
            <a:r>
              <a:rPr lang="en-US" sz="3600" dirty="0" smtClean="0"/>
              <a:t>“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chemeClr val="bg1">
                    <a:lumMod val="65000"/>
                  </a:schemeClr>
                </a:solidFill>
              </a:rPr>
              <a:t>Singular value decomposition 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</a:rPr>
              <a:t>“separates variables” time and space” for each mode</a:t>
            </a:r>
          </a:p>
          <a:p>
            <a:pPr>
              <a:buNone/>
            </a:pPr>
            <a:r>
              <a:rPr lang="en-US" sz="2000" dirty="0" smtClean="0"/>
              <a:t>27/18 probe signals </a:t>
            </a:r>
            <a:r>
              <a:rPr lang="en-US" sz="2000" dirty="0" smtClean="0">
                <a:sym typeface="Wingdings" pitchFamily="2" charset="2"/>
              </a:rPr>
              <a:t> one time function (</a:t>
            </a:r>
            <a:r>
              <a:rPr lang="en-US" sz="2000" dirty="0" err="1" smtClean="0">
                <a:sym typeface="Wingdings" pitchFamily="2" charset="2"/>
              </a:rPr>
              <a:t>chronos</a:t>
            </a:r>
            <a:r>
              <a:rPr lang="en-US" sz="2000" dirty="0" smtClean="0">
                <a:sym typeface="Wingdings" pitchFamily="2" charset="2"/>
              </a:rPr>
              <a:t>)  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C(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)</a:t>
            </a:r>
            <a:endParaRPr lang="en-US" sz="2000" dirty="0" smtClean="0">
              <a:latin typeface="French Script MT" pitchFamily="66" charset="0"/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		         one spatial function (</a:t>
            </a:r>
            <a:r>
              <a:rPr lang="en-US" sz="2000" dirty="0" err="1" smtClean="0">
                <a:sym typeface="Wingdings" pitchFamily="2" charset="2"/>
              </a:rPr>
              <a:t>topos</a:t>
            </a:r>
            <a:r>
              <a:rPr lang="en-US" sz="2000" dirty="0" smtClean="0">
                <a:sym typeface="Wingdings" pitchFamily="2" charset="2"/>
              </a:rPr>
              <a:t>) 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T(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</a:t>
            </a:r>
            <a:r>
              <a:rPr lang="en-US" sz="2000" dirty="0" smtClean="0">
                <a:latin typeface="French Script MT" pitchFamily="66" charset="0"/>
                <a:sym typeface="Wingdings" pitchFamily="2" charset="2"/>
              </a:rPr>
              <a:t>)</a:t>
            </a:r>
            <a:r>
              <a:rPr lang="en-US" sz="2000" dirty="0" smtClean="0">
                <a:sym typeface="Wingdings" pitchFamily="2" charset="2"/>
              </a:rPr>
              <a:t>    </a:t>
            </a:r>
            <a:r>
              <a:rPr lang="en-US" sz="2000" dirty="0" err="1" smtClean="0">
                <a:sym typeface="Wingdings" pitchFamily="2" charset="2"/>
              </a:rPr>
              <a:t>F</a:t>
            </a:r>
            <a:r>
              <a:rPr lang="en-US" sz="2000" baseline="-25000" dirty="0" err="1" smtClean="0">
                <a:sym typeface="Wingdings" pitchFamily="2" charset="2"/>
              </a:rPr>
              <a:t>mode</a:t>
            </a:r>
            <a:r>
              <a:rPr lang="en-US" sz="2000" baseline="30000" dirty="0" smtClean="0">
                <a:sym typeface="Wingdings" pitchFamily="2" charset="2"/>
              </a:rPr>
              <a:t> = 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C(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) </a:t>
            </a:r>
            <a:r>
              <a:rPr lang="en-US" sz="2400" dirty="0" smtClean="0">
                <a:latin typeface="Symbol" pitchFamily="18" charset="2"/>
                <a:sym typeface="Symbol"/>
              </a:rPr>
              <a:t>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 T(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x</a:t>
            </a:r>
            <a:r>
              <a:rPr lang="en-US" sz="2400" dirty="0" smtClean="0">
                <a:latin typeface="French Script MT" pitchFamily="66" charset="0"/>
                <a:sym typeface="Wingdings" pitchFamily="2" charset="2"/>
              </a:rPr>
              <a:t>) </a:t>
            </a:r>
            <a:endParaRPr lang="en-US" sz="2000" baseline="-25000" dirty="0" smtClean="0">
              <a:latin typeface="French Script MT" pitchFamily="66" charset="0"/>
              <a:sym typeface="Wingdings" pitchFamily="2" charset="2"/>
            </a:endParaRP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</a:t>
            </a:r>
            <a:r>
              <a:rPr lang="en-US" sz="2000" b="1" dirty="0" smtClean="0">
                <a:sym typeface="Wingdings" pitchFamily="2" charset="2"/>
              </a:rPr>
              <a:t>per mode </a:t>
            </a:r>
            <a:r>
              <a:rPr lang="en-US" sz="2000" dirty="0" smtClean="0">
                <a:sym typeface="Wingdings" pitchFamily="2" charset="2"/>
              </a:rPr>
              <a:t>(</a:t>
            </a:r>
            <a:r>
              <a:rPr lang="en-US" sz="1800" i="1" dirty="0" smtClean="0">
                <a:sym typeface="Wingdings" pitchFamily="2" charset="2"/>
              </a:rPr>
              <a:t>actually 2 or 3 in practice, sin-like and </a:t>
            </a:r>
            <a:r>
              <a:rPr lang="en-US" sz="1800" i="1" dirty="0" err="1" smtClean="0">
                <a:sym typeface="Wingdings" pitchFamily="2" charset="2"/>
              </a:rPr>
              <a:t>cos</a:t>
            </a:r>
            <a:r>
              <a:rPr lang="en-US" sz="1800" i="1" dirty="0" smtClean="0">
                <a:sym typeface="Wingdings" pitchFamily="2" charset="2"/>
              </a:rPr>
              <a:t>-like, travelling wave</a:t>
            </a:r>
            <a:r>
              <a:rPr lang="en-US" sz="2000" dirty="0" smtClean="0">
                <a:sym typeface="Wingdings" pitchFamily="2" charset="2"/>
              </a:rPr>
              <a:t>)</a:t>
            </a:r>
          </a:p>
          <a:p>
            <a:pPr>
              <a:buNone/>
            </a:pPr>
            <a:r>
              <a:rPr lang="en-US" sz="1800" dirty="0" smtClean="0">
                <a:sym typeface="Wingdings" pitchFamily="2" charset="2"/>
              </a:rPr>
              <a:t>Group Singular Vectors with matching spectra</a:t>
            </a:r>
          </a:p>
          <a:p>
            <a:pPr>
              <a:buNone/>
            </a:pPr>
            <a:r>
              <a:rPr lang="en-US" sz="2000" dirty="0" smtClean="0">
                <a:sym typeface="Wingdings" pitchFamily="2" charset="2"/>
              </a:rPr>
              <a:t>	</a:t>
            </a:r>
            <a:endParaRPr lang="en-AU" sz="2000" dirty="0"/>
          </a:p>
        </p:txBody>
      </p:sp>
      <p:pic>
        <p:nvPicPr>
          <p:cNvPr id="4" name="Picture 3" descr="flucstrucs0_nice.jpg"/>
          <p:cNvPicPr>
            <a:picLocks noChangeAspect="1"/>
          </p:cNvPicPr>
          <p:nvPr/>
        </p:nvPicPr>
        <p:blipFill>
          <a:blip r:embed="rId3"/>
          <a:srcRect t="1225"/>
          <a:stretch>
            <a:fillRect/>
          </a:stretch>
        </p:blipFill>
        <p:spPr>
          <a:xfrm>
            <a:off x="3143240" y="3643314"/>
            <a:ext cx="6000760" cy="3214686"/>
          </a:xfrm>
          <a:prstGeom prst="rect">
            <a:avLst/>
          </a:prstGeom>
        </p:spPr>
      </p:pic>
      <p:pic>
        <p:nvPicPr>
          <p:cNvPr id="12" name="Picture 11" descr="h158070_nolabe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2937211" cy="3429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85852" y="3429000"/>
            <a:ext cx="1643074" cy="3429000"/>
          </a:xfrm>
          <a:prstGeom prst="rect">
            <a:avLst/>
          </a:prstGeom>
          <a:solidFill>
            <a:srgbClr val="FFC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4" name="Content Placeholder 3" descr="flucstrucs1_nice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43240" y="3571876"/>
            <a:ext cx="2928958" cy="3143272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3000364" y="3500438"/>
            <a:ext cx="428628" cy="3571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999232" y="6572272"/>
            <a:ext cx="429760" cy="24305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cross_corr_equn.jpg"/>
          <p:cNvPicPr>
            <a:picLocks noChangeAspect="1"/>
          </p:cNvPicPr>
          <p:nvPr/>
        </p:nvPicPr>
        <p:blipFill>
          <a:blip r:embed="rId6" cstate="print"/>
          <a:srcRect l="17969" b="53751"/>
          <a:stretch>
            <a:fillRect/>
          </a:stretch>
        </p:blipFill>
        <p:spPr>
          <a:xfrm>
            <a:off x="5000628" y="3000372"/>
            <a:ext cx="2214578" cy="520137"/>
          </a:xfrm>
          <a:prstGeom prst="rect">
            <a:avLst/>
          </a:prstGeom>
        </p:spPr>
      </p:pic>
      <p:pic>
        <p:nvPicPr>
          <p:cNvPr id="16" name="Picture 15" descr="cross_corr_equn.jpg"/>
          <p:cNvPicPr>
            <a:picLocks noChangeAspect="1"/>
          </p:cNvPicPr>
          <p:nvPr/>
        </p:nvPicPr>
        <p:blipFill>
          <a:blip r:embed="rId7" cstate="print"/>
          <a:srcRect l="24219" t="77882" r="3906"/>
          <a:stretch>
            <a:fillRect/>
          </a:stretch>
        </p:blipFill>
        <p:spPr>
          <a:xfrm>
            <a:off x="7429520" y="3429000"/>
            <a:ext cx="1714480" cy="2197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12096" y="3064476"/>
            <a:ext cx="78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0.7</a:t>
            </a:r>
            <a:endParaRPr lang="en-A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Tens of thousands of data points</a:t>
            </a:r>
            <a:endParaRPr lang="en-AU" dirty="0"/>
          </a:p>
        </p:txBody>
      </p:sp>
      <p:pic>
        <p:nvPicPr>
          <p:cNvPr id="4" name="Content Placeholder 3" descr="h1090126_energygtp3.png"/>
          <p:cNvPicPr>
            <a:picLocks noGrp="1"/>
          </p:cNvPicPr>
          <p:nvPr>
            <p:ph idx="1"/>
          </p:nvPr>
        </p:nvPicPr>
        <p:blipFill>
          <a:blip r:embed="rId3"/>
          <a:srcRect b="4378"/>
          <a:stretch>
            <a:fillRect/>
          </a:stretch>
        </p:blipFill>
        <p:spPr>
          <a:xfrm>
            <a:off x="142844" y="1142984"/>
            <a:ext cx="9001156" cy="5715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US" sz="3200" dirty="0"/>
              <a:t>Data Mining Classification by Clustering</a:t>
            </a:r>
          </a:p>
        </p:txBody>
      </p:sp>
      <p:pic>
        <p:nvPicPr>
          <p:cNvPr id="344068" name="Picture 4" descr="061002-clustertree-EM-tgt10ms-allfs-v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670" t="7524" r="10313" b="998"/>
          <a:stretch>
            <a:fillRect/>
          </a:stretch>
        </p:blipFill>
        <p:spPr>
          <a:xfrm>
            <a:off x="179388" y="1231900"/>
            <a:ext cx="8964612" cy="5148263"/>
          </a:xfrm>
          <a:noFill/>
          <a:ln/>
        </p:spPr>
      </p:pic>
      <p:sp>
        <p:nvSpPr>
          <p:cNvPr id="344070" name="Text Box 6"/>
          <p:cNvSpPr txBox="1">
            <a:spLocks noChangeArrowheads="1"/>
          </p:cNvSpPr>
          <p:nvPr/>
        </p:nvSpPr>
        <p:spPr bwMode="auto">
          <a:xfrm>
            <a:off x="179388" y="4221163"/>
            <a:ext cx="1225550" cy="641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Full dataset</a:t>
            </a:r>
          </a:p>
        </p:txBody>
      </p:sp>
      <p:pic>
        <p:nvPicPr>
          <p:cNvPr id="344071" name="Picture 7" descr="061002-clustertree-EM-tgt10ms-allfs-v2"/>
          <p:cNvPicPr>
            <a:picLocks noChangeAspect="1" noChangeArrowheads="1"/>
          </p:cNvPicPr>
          <p:nvPr/>
        </p:nvPicPr>
        <p:blipFill>
          <a:blip r:embed="rId3"/>
          <a:srcRect l="1538" t="74715" r="75363" b="2267"/>
          <a:stretch>
            <a:fillRect/>
          </a:stretch>
        </p:blipFill>
        <p:spPr bwMode="auto">
          <a:xfrm>
            <a:off x="0" y="5022850"/>
            <a:ext cx="27717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7929586" y="0"/>
            <a:ext cx="121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D. Pretty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8532812" cy="1143000"/>
          </a:xfrm>
        </p:spPr>
        <p:txBody>
          <a:bodyPr/>
          <a:lstStyle/>
          <a:p>
            <a:r>
              <a:rPr lang="en-US" sz="3000" dirty="0" smtClean="0">
                <a:solidFill>
                  <a:srgbClr val="4D0BC5"/>
                </a:solidFill>
              </a:rPr>
              <a:t>Identification with Alfvén eigenmodes:  k</a:t>
            </a:r>
            <a:r>
              <a:rPr lang="en-US" sz="3000" baseline="-25000" dirty="0" smtClean="0">
                <a:solidFill>
                  <a:srgbClr val="4D0BC5"/>
                </a:solidFill>
              </a:rPr>
              <a:t>||, </a:t>
            </a:r>
            <a:r>
              <a:rPr lang="en-US" sz="3000" dirty="0" smtClean="0">
                <a:solidFill>
                  <a:srgbClr val="4D0BC5"/>
                </a:solidFill>
              </a:rPr>
              <a:t>twist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052513"/>
            <a:ext cx="4537075" cy="3448057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spcBef>
                <a:spcPct val="10000"/>
              </a:spcBef>
              <a:buFontTx/>
              <a:buNone/>
            </a:pPr>
            <a:r>
              <a:rPr lang="en-GB" sz="2000" b="1" dirty="0" smtClean="0">
                <a:sym typeface="Symbol" pitchFamily="18" charset="2"/>
              </a:rPr>
              <a:t>Why is f so low?  -  </a:t>
            </a:r>
            <a:r>
              <a:rPr lang="en-GB" sz="2000" b="1" dirty="0" err="1" smtClean="0">
                <a:sym typeface="Symbol" pitchFamily="18" charset="2"/>
              </a:rPr>
              <a:t>V</a:t>
            </a:r>
            <a:r>
              <a:rPr lang="en-GB" sz="2800" b="1" baseline="-25000" dirty="0" err="1" smtClean="0">
                <a:sym typeface="Symbol" pitchFamily="18" charset="2"/>
              </a:rPr>
              <a:t>Alfven</a:t>
            </a:r>
            <a:r>
              <a:rPr lang="en-GB" sz="2000" b="1" dirty="0" smtClean="0">
                <a:sym typeface="Symbol" pitchFamily="18" charset="2"/>
              </a:rPr>
              <a:t>~ 5x10</a:t>
            </a:r>
            <a:r>
              <a:rPr lang="en-GB" sz="2000" b="1" baseline="30000" dirty="0" smtClean="0">
                <a:sym typeface="Symbol" pitchFamily="18" charset="2"/>
              </a:rPr>
              <a:t>6</a:t>
            </a:r>
            <a:r>
              <a:rPr lang="en-GB" sz="2000" b="1" dirty="0" smtClean="0">
                <a:sym typeface="Symbol" pitchFamily="18" charset="2"/>
              </a:rPr>
              <a:t> m/s</a:t>
            </a:r>
            <a:br>
              <a:rPr lang="en-GB" sz="2000" b="1" dirty="0" smtClean="0">
                <a:sym typeface="Symbol" pitchFamily="18" charset="2"/>
              </a:rPr>
            </a:br>
            <a:endParaRPr lang="en-GB" sz="1050" b="1" dirty="0" smtClean="0">
              <a:sym typeface="Symbol" pitchFamily="18" charset="2"/>
            </a:endParaRPr>
          </a:p>
          <a:p>
            <a:pPr>
              <a:lnSpc>
                <a:spcPct val="80000"/>
              </a:lnSpc>
              <a:spcBef>
                <a:spcPct val="10000"/>
              </a:spcBef>
            </a:pPr>
            <a:r>
              <a:rPr lang="en-GB" sz="1800" dirty="0" smtClean="0">
                <a:sym typeface="Symbol" pitchFamily="18" charset="2"/>
              </a:rPr>
              <a:t></a:t>
            </a:r>
            <a:r>
              <a:rPr lang="en-GB" sz="1800" baseline="-25000" dirty="0" smtClean="0"/>
              <a:t>res  = </a:t>
            </a:r>
            <a:r>
              <a:rPr lang="en-GB" sz="1800" dirty="0" smtClean="0"/>
              <a:t>k</a:t>
            </a:r>
            <a:r>
              <a:rPr lang="en-GB" sz="1800" baseline="-25000" dirty="0" smtClean="0"/>
              <a:t>||</a:t>
            </a:r>
            <a:r>
              <a:rPr lang="en-GB" sz="1600" baseline="-25000" dirty="0" smtClean="0"/>
              <a:t> </a:t>
            </a:r>
            <a:r>
              <a:rPr lang="en-AU" altLang="ja-JP" sz="2000" dirty="0" err="1" smtClean="0">
                <a:ea typeface="ＭＳ Ｐゴシック"/>
                <a:cs typeface="ＭＳ Ｐゴシック"/>
              </a:rPr>
              <a:t>V</a:t>
            </a:r>
            <a:r>
              <a:rPr lang="en-AU" altLang="ja-JP" baseline="-25000" dirty="0" err="1" smtClean="0">
                <a:ea typeface="ＭＳ Ｐゴシック"/>
                <a:cs typeface="ＭＳ Ｐゴシック"/>
              </a:rPr>
              <a:t>Alfvén</a:t>
            </a:r>
            <a:r>
              <a:rPr lang="en-AU" altLang="ja-JP" baseline="-25000" dirty="0" smtClean="0">
                <a:ea typeface="ＭＳ Ｐゴシック"/>
                <a:cs typeface="ＭＳ Ｐゴシック"/>
              </a:rPr>
              <a:t>   </a:t>
            </a:r>
            <a:r>
              <a:rPr lang="en-AU" altLang="ja-JP" sz="2000" dirty="0" smtClean="0">
                <a:ea typeface="ＭＳ Ｐゴシック"/>
                <a:cs typeface="ＭＳ Ｐゴシック"/>
              </a:rPr>
              <a:t>  = </a:t>
            </a:r>
            <a:r>
              <a:rPr lang="en-GB" sz="1800" dirty="0" smtClean="0"/>
              <a:t>k</a:t>
            </a:r>
            <a:r>
              <a:rPr lang="en-GB" sz="1800" baseline="-25000" dirty="0" smtClean="0"/>
              <a:t>||</a:t>
            </a:r>
            <a:r>
              <a:rPr lang="en-GB" sz="1600" baseline="-25000" dirty="0" smtClean="0"/>
              <a:t> </a:t>
            </a:r>
            <a:r>
              <a:rPr lang="en-AU" altLang="ja-JP" baseline="30000" dirty="0" smtClean="0">
                <a:ea typeface="ＭＳ Ｐゴシック"/>
                <a:cs typeface="ＭＳ Ｐゴシック"/>
              </a:rPr>
              <a:t>B</a:t>
            </a:r>
            <a:r>
              <a:rPr lang="en-AU" altLang="ja-JP" dirty="0" smtClean="0">
                <a:ea typeface="ＭＳ Ｐゴシック"/>
                <a:cs typeface="ＭＳ Ｐゴシック"/>
              </a:rPr>
              <a:t>/</a:t>
            </a:r>
            <a:r>
              <a:rPr lang="en-AU" altLang="ja-JP" baseline="-25000" dirty="0" smtClean="0">
                <a:ea typeface="ＭＳ Ｐゴシック"/>
                <a:cs typeface="ＭＳ Ｐゴシック"/>
                <a:sym typeface="Symbol" pitchFamily="18" charset="2"/>
              </a:rPr>
              <a:t></a:t>
            </a:r>
            <a:r>
              <a:rPr lang="en-AU" altLang="ja-JP" baseline="-25000" dirty="0" smtClean="0">
                <a:ea typeface="ＭＳ Ｐゴシック"/>
                <a:cs typeface="ＭＳ Ｐゴシック"/>
              </a:rPr>
              <a:t>(</a:t>
            </a:r>
            <a:r>
              <a:rPr lang="en-AU" altLang="ja-JP" baseline="-25000" dirty="0" smtClean="0">
                <a:ea typeface="ＭＳ Ｐゴシック"/>
                <a:cs typeface="ＭＳ Ｐゴシック"/>
                <a:sym typeface="Symbol" pitchFamily="18" charset="2"/>
              </a:rPr>
              <a:t></a:t>
            </a:r>
            <a:r>
              <a:rPr lang="en-AU" altLang="ja-JP" sz="1800" baseline="-50000" dirty="0" smtClean="0">
                <a:ea typeface="ＭＳ Ｐゴシック"/>
                <a:cs typeface="ＭＳ Ｐゴシック"/>
              </a:rPr>
              <a:t>o</a:t>
            </a:r>
            <a:r>
              <a:rPr lang="en-AU" altLang="ja-JP" baseline="-25000" dirty="0" smtClean="0">
                <a:ea typeface="ＭＳ Ｐゴシック"/>
                <a:cs typeface="ＭＳ Ｐゴシック"/>
                <a:sym typeface="Symbol" pitchFamily="18" charset="2"/>
              </a:rPr>
              <a:t></a:t>
            </a:r>
            <a:r>
              <a:rPr lang="en-AU" altLang="ja-JP" baseline="-25000" dirty="0" smtClean="0">
                <a:ea typeface="ＭＳ Ｐゴシック"/>
                <a:cs typeface="ＭＳ Ｐゴシック"/>
              </a:rPr>
              <a:t>)</a:t>
            </a:r>
            <a:r>
              <a:rPr lang="en-AU" altLang="ja-JP" sz="2000" dirty="0" smtClean="0">
                <a:ea typeface="ＭＳ Ｐゴシック"/>
                <a:cs typeface="ＭＳ Ｐゴシック"/>
              </a:rPr>
              <a:t> 	</a:t>
            </a:r>
            <a:r>
              <a:rPr lang="en-AU" altLang="ja-JP" sz="1200" dirty="0" smtClean="0">
                <a:ea typeface="ＭＳ Ｐゴシック"/>
                <a:cs typeface="ＭＳ Ｐゴシック"/>
              </a:rPr>
              <a:t>		 </a:t>
            </a:r>
          </a:p>
          <a:p>
            <a:pPr>
              <a:lnSpc>
                <a:spcPct val="90000"/>
              </a:lnSpc>
              <a:spcBef>
                <a:spcPct val="5000"/>
              </a:spcBef>
            </a:pPr>
            <a:r>
              <a:rPr lang="en-GB" sz="1800" dirty="0" smtClean="0"/>
              <a:t>k</a:t>
            </a:r>
            <a:r>
              <a:rPr lang="en-GB" sz="1800" baseline="-25000" dirty="0" smtClean="0"/>
              <a:t>|| </a:t>
            </a:r>
            <a:r>
              <a:rPr lang="en-GB" sz="1600" dirty="0" smtClean="0"/>
              <a:t>varies as the angle between magnetic field lines and the wave vector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600" dirty="0" smtClean="0"/>
              <a:t>for a periodic geometry the wave vector is determined by mode numbers </a:t>
            </a:r>
            <a:r>
              <a:rPr lang="en-GB" sz="1600" dirty="0" err="1" smtClean="0"/>
              <a:t>n,m</a:t>
            </a:r>
            <a:endParaRPr lang="en-GB" sz="1600" dirty="0" smtClean="0"/>
          </a:p>
          <a:p>
            <a:pPr>
              <a:lnSpc>
                <a:spcPct val="90000"/>
              </a:lnSpc>
              <a:spcBef>
                <a:spcPct val="10000"/>
              </a:spcBef>
            </a:pPr>
            <a:r>
              <a:rPr lang="en-GB" sz="1600" dirty="0" smtClean="0"/>
              <a:t>Component of k parallel to B is </a:t>
            </a:r>
            <a:r>
              <a:rPr lang="en-AU" altLang="ja-JP" sz="2000" dirty="0" smtClean="0">
                <a:ea typeface="ＭＳ Ｐゴシック"/>
                <a:cs typeface="ＭＳ Ｐゴシック"/>
                <a:sym typeface="Symbol" pitchFamily="18" charset="2"/>
              </a:rPr>
              <a:t> </a:t>
            </a:r>
            <a:r>
              <a:rPr lang="en-GB" sz="2000" i="1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cs typeface="Times New Roman" pitchFamily="18" charset="0"/>
                <a:sym typeface="Symbol" pitchFamily="18" charset="2"/>
              </a:rPr>
              <a:t></a:t>
            </a:r>
            <a:r>
              <a:rPr lang="en-GB" sz="20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cs typeface="Times New Roman" pitchFamily="18" charset="0"/>
                <a:sym typeface="Wingdings" pitchFamily="2" charset="2"/>
              </a:rPr>
              <a:t> - n/m</a:t>
            </a:r>
            <a:endParaRPr lang="en-GB" sz="1600" dirty="0" smtClean="0"/>
          </a:p>
          <a:p>
            <a:pPr marL="522288" lvl="1" indent="0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k</a:t>
            </a:r>
            <a:r>
              <a:rPr lang="en-GB" sz="1800" baseline="-300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||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= (m/R</a:t>
            </a:r>
            <a:r>
              <a:rPr lang="en-GB" sz="1800" baseline="-300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0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)(</a:t>
            </a:r>
            <a:r>
              <a:rPr lang="en-GB" sz="1800" i="1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Symbol" pitchFamily="18" charset="2"/>
              </a:rPr>
              <a:t>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- n/m)</a:t>
            </a:r>
          </a:p>
          <a:p>
            <a:pPr marL="522288" lvl="1" indent="0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GB" sz="1600" dirty="0" smtClean="0">
                <a:sym typeface="Symbol" pitchFamily="18" charset="2"/>
              </a:rPr>
              <a:t></a:t>
            </a:r>
            <a:r>
              <a:rPr lang="en-GB" sz="1600" baseline="-25000" dirty="0" smtClean="0"/>
              <a:t>res 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= (m/R</a:t>
            </a:r>
            <a:r>
              <a:rPr lang="en-GB" sz="1800" baseline="-300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0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)(</a:t>
            </a:r>
            <a:r>
              <a:rPr lang="en-GB" sz="1800" i="1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Symbol" pitchFamily="18" charset="2"/>
              </a:rPr>
              <a:t></a:t>
            </a:r>
            <a:r>
              <a:rPr lang="en-GB" sz="1800" dirty="0" smtClean="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- n/m)</a:t>
            </a:r>
            <a:r>
              <a:rPr lang="en-US" sz="1800" dirty="0" smtClean="0">
                <a:sym typeface="Wingdings" pitchFamily="2" charset="2"/>
              </a:rPr>
              <a:t> </a:t>
            </a:r>
            <a:r>
              <a:rPr lang="en-AU" altLang="ja-JP" sz="2400" baseline="30000" dirty="0" smtClean="0">
                <a:ea typeface="ＭＳ Ｐゴシック"/>
                <a:cs typeface="ＭＳ Ｐゴシック"/>
              </a:rPr>
              <a:t>B</a:t>
            </a:r>
            <a:r>
              <a:rPr lang="en-AU" altLang="ja-JP" sz="2400" dirty="0" smtClean="0">
                <a:ea typeface="ＭＳ Ｐゴシック"/>
                <a:cs typeface="ＭＳ Ｐゴシック"/>
              </a:rPr>
              <a:t>/</a:t>
            </a:r>
            <a:r>
              <a:rPr lang="en-AU" altLang="ja-JP" sz="2400" baseline="-25000" dirty="0" smtClean="0">
                <a:ea typeface="ＭＳ Ｐゴシック"/>
                <a:cs typeface="ＭＳ Ｐゴシック"/>
                <a:sym typeface="Symbol" pitchFamily="18" charset="2"/>
              </a:rPr>
              <a:t></a:t>
            </a:r>
            <a:r>
              <a:rPr lang="en-AU" altLang="ja-JP" sz="2400" baseline="-25000" dirty="0" smtClean="0">
                <a:ea typeface="ＭＳ Ｐゴシック"/>
                <a:cs typeface="ＭＳ Ｐゴシック"/>
              </a:rPr>
              <a:t>(</a:t>
            </a:r>
            <a:r>
              <a:rPr lang="en-AU" altLang="ja-JP" sz="2400" baseline="-25000" dirty="0" smtClean="0">
                <a:ea typeface="ＭＳ Ｐゴシック"/>
                <a:cs typeface="ＭＳ Ｐゴシック"/>
                <a:sym typeface="Symbol" pitchFamily="18" charset="2"/>
              </a:rPr>
              <a:t></a:t>
            </a:r>
            <a:r>
              <a:rPr lang="en-AU" altLang="ja-JP" sz="1800" baseline="-50000" dirty="0" smtClean="0">
                <a:ea typeface="ＭＳ Ｐゴシック"/>
                <a:cs typeface="ＭＳ Ｐゴシック"/>
              </a:rPr>
              <a:t>o</a:t>
            </a:r>
            <a:r>
              <a:rPr lang="en-AU" altLang="ja-JP" sz="2400" baseline="-25000" dirty="0" smtClean="0">
                <a:ea typeface="ＭＳ Ｐゴシック"/>
                <a:cs typeface="ＭＳ Ｐゴシック"/>
                <a:sym typeface="Symbol" pitchFamily="18" charset="2"/>
              </a:rPr>
              <a:t></a:t>
            </a:r>
            <a:r>
              <a:rPr lang="en-AU" altLang="ja-JP" sz="2400" baseline="-25000" dirty="0" smtClean="0">
                <a:ea typeface="ＭＳ Ｐゴシック"/>
                <a:cs typeface="ＭＳ Ｐゴシック"/>
              </a:rPr>
              <a:t>)</a:t>
            </a:r>
            <a:r>
              <a:rPr lang="en-AU" altLang="ja-JP" sz="1800" dirty="0" smtClean="0">
                <a:ea typeface="ＭＳ Ｐゴシック"/>
                <a:cs typeface="ＭＳ Ｐゴシック"/>
              </a:rPr>
              <a:t> </a:t>
            </a:r>
            <a:endParaRPr lang="en-GB" altLang="ja-JP" sz="1800" dirty="0" smtClean="0">
              <a:ea typeface="ＭＳ Ｐゴシック"/>
              <a:cs typeface="ＭＳ Ｐゴシック"/>
              <a:sym typeface="Wingdings" pitchFamily="2" charset="2"/>
            </a:endParaRPr>
          </a:p>
          <a:p>
            <a:pPr marL="522288" lvl="1" indent="0">
              <a:lnSpc>
                <a:spcPct val="90000"/>
              </a:lnSpc>
              <a:spcBef>
                <a:spcPct val="10000"/>
              </a:spcBef>
              <a:buFontTx/>
              <a:buNone/>
            </a:pPr>
            <a:endParaRPr lang="en-GB" sz="500" dirty="0" smtClean="0">
              <a:sym typeface="Wingdings" pitchFamily="2" charset="2"/>
            </a:endParaRP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600" dirty="0" smtClean="0"/>
              <a:t>Low shear means </a:t>
            </a:r>
            <a:r>
              <a:rPr lang="en-GB" sz="1600" b="1" dirty="0" smtClean="0"/>
              <a:t>relatively</a:t>
            </a:r>
            <a:r>
              <a:rPr lang="en-GB" sz="1600" dirty="0" smtClean="0"/>
              <a:t> simple dispersion relations – advantage of H-1</a:t>
            </a:r>
            <a:endParaRPr lang="en-GB" sz="1800" dirty="0" smtClean="0">
              <a:sym typeface="Wingdings" pitchFamily="2" charset="2"/>
            </a:endParaRPr>
          </a:p>
          <a:p>
            <a:pPr>
              <a:lnSpc>
                <a:spcPct val="90000"/>
              </a:lnSpc>
              <a:spcBef>
                <a:spcPct val="25000"/>
              </a:spcBef>
            </a:pPr>
            <a:endParaRPr lang="en-GB" sz="1800" dirty="0" smtClean="0">
              <a:sym typeface="Wingdings" pitchFamily="2" charset="2"/>
            </a:endParaRPr>
          </a:p>
        </p:txBody>
      </p:sp>
      <p:sp>
        <p:nvSpPr>
          <p:cNvPr id="27661" name="Slide Number Placeholder 1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25D9D7-786A-40AD-933C-16A8DC8D7E69}" type="slidenum">
              <a:rPr lang="en-US"/>
              <a:pPr/>
              <a:t>28</a:t>
            </a:fld>
            <a:endParaRPr lang="en-US"/>
          </a:p>
        </p:txBody>
      </p:sp>
      <p:pic>
        <p:nvPicPr>
          <p:cNvPr id="27652" name="Picture 6" descr="alf_50khz"/>
          <p:cNvPicPr>
            <a:picLocks noChangeAspect="1" noChangeArrowheads="1"/>
          </p:cNvPicPr>
          <p:nvPr/>
        </p:nvPicPr>
        <p:blipFill>
          <a:blip r:embed="rId3">
            <a:lum bright="6000"/>
          </a:blip>
          <a:srcRect t="6664" b="3265"/>
          <a:stretch>
            <a:fillRect/>
          </a:stretch>
        </p:blipFill>
        <p:spPr bwMode="auto">
          <a:xfrm>
            <a:off x="4859338" y="4668838"/>
            <a:ext cx="3240087" cy="218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3" name="Picture 7" descr="alf_high_freq"/>
          <p:cNvPicPr>
            <a:picLocks noChangeAspect="1" noChangeArrowheads="1"/>
          </p:cNvPicPr>
          <p:nvPr/>
        </p:nvPicPr>
        <p:blipFill>
          <a:blip r:embed="rId4"/>
          <a:srcRect t="6465" b="3723"/>
          <a:stretch>
            <a:fillRect/>
          </a:stretch>
        </p:blipFill>
        <p:spPr bwMode="auto">
          <a:xfrm>
            <a:off x="684213" y="4675188"/>
            <a:ext cx="3240087" cy="218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4" name="Freeform 8"/>
          <p:cNvSpPr>
            <a:spLocks/>
          </p:cNvSpPr>
          <p:nvPr/>
        </p:nvSpPr>
        <p:spPr bwMode="auto">
          <a:xfrm>
            <a:off x="4000500" y="4860925"/>
            <a:ext cx="1219200" cy="1568450"/>
          </a:xfrm>
          <a:custGeom>
            <a:avLst/>
            <a:gdLst>
              <a:gd name="T0" fmla="*/ 0 w 357"/>
              <a:gd name="T1" fmla="*/ 2147483647 h 896"/>
              <a:gd name="T2" fmla="*/ 2147483647 w 357"/>
              <a:gd name="T3" fmla="*/ 2147483647 h 896"/>
              <a:gd name="T4" fmla="*/ 2147483647 w 357"/>
              <a:gd name="T5" fmla="*/ 0 h 896"/>
              <a:gd name="T6" fmla="*/ 2147483647 w 357"/>
              <a:gd name="T7" fmla="*/ 2147483647 h 896"/>
              <a:gd name="T8" fmla="*/ 2147483647 w 357"/>
              <a:gd name="T9" fmla="*/ 2147483647 h 896"/>
              <a:gd name="T10" fmla="*/ 2147483647 w 357"/>
              <a:gd name="T11" fmla="*/ 2147483647 h 896"/>
              <a:gd name="T12" fmla="*/ 0 w 357"/>
              <a:gd name="T13" fmla="*/ 2147483647 h 896"/>
              <a:gd name="T14" fmla="*/ 0 w 357"/>
              <a:gd name="T15" fmla="*/ 2147483647 h 89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57"/>
              <a:gd name="T25" fmla="*/ 0 h 896"/>
              <a:gd name="T26" fmla="*/ 357 w 357"/>
              <a:gd name="T27" fmla="*/ 896 h 89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57" h="896">
                <a:moveTo>
                  <a:pt x="0" y="805"/>
                </a:moveTo>
                <a:lnTo>
                  <a:pt x="176" y="232"/>
                </a:lnTo>
                <a:lnTo>
                  <a:pt x="82" y="0"/>
                </a:lnTo>
                <a:lnTo>
                  <a:pt x="357" y="301"/>
                </a:lnTo>
                <a:lnTo>
                  <a:pt x="317" y="851"/>
                </a:lnTo>
                <a:lnTo>
                  <a:pt x="254" y="645"/>
                </a:lnTo>
                <a:lnTo>
                  <a:pt x="0" y="896"/>
                </a:lnTo>
                <a:lnTo>
                  <a:pt x="0" y="80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27655" name="Text Box 9"/>
          <p:cNvSpPr txBox="1">
            <a:spLocks noChangeArrowheads="1"/>
          </p:cNvSpPr>
          <p:nvPr/>
        </p:nvSpPr>
        <p:spPr bwMode="auto">
          <a:xfrm>
            <a:off x="900113" y="4292600"/>
            <a:ext cx="338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Alfvén dispersion (0-5MHz)</a:t>
            </a:r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>
            <a:off x="7993063" y="4797425"/>
            <a:ext cx="1150937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/>
              <a:t>Near rationals, resonant freq. is low</a:t>
            </a:r>
          </a:p>
        </p:txBody>
      </p:sp>
      <p:sp>
        <p:nvSpPr>
          <p:cNvPr id="27657" name="Text Box 11"/>
          <p:cNvSpPr txBox="1">
            <a:spLocks noChangeArrowheads="1"/>
          </p:cNvSpPr>
          <p:nvPr/>
        </p:nvSpPr>
        <p:spPr bwMode="auto">
          <a:xfrm>
            <a:off x="5003800" y="4292600"/>
            <a:ext cx="3384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b="1"/>
              <a:t>Alfvén dispersion (0-50kHz)</a:t>
            </a:r>
          </a:p>
        </p:txBody>
      </p:sp>
      <p:pic>
        <p:nvPicPr>
          <p:cNvPr id="27658" name="Picture 12" descr="iota_vs_avgr_pretty_thesis"/>
          <p:cNvPicPr>
            <a:picLocks noChangeAspect="1" noChangeArrowheads="1"/>
          </p:cNvPicPr>
          <p:nvPr/>
        </p:nvPicPr>
        <p:blipFill>
          <a:blip r:embed="rId5"/>
          <a:srcRect t="160" r="2243" b="4175"/>
          <a:stretch>
            <a:fillRect/>
          </a:stretch>
        </p:blipFill>
        <p:spPr bwMode="auto">
          <a:xfrm>
            <a:off x="5003800" y="1196975"/>
            <a:ext cx="3025775" cy="281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7"/>
          <p:cNvGrpSpPr>
            <a:grpSpLocks/>
          </p:cNvGrpSpPr>
          <p:nvPr/>
        </p:nvGrpSpPr>
        <p:grpSpPr bwMode="auto">
          <a:xfrm rot="237880">
            <a:off x="2916238" y="2997200"/>
            <a:ext cx="2232025" cy="641350"/>
            <a:chOff x="1837" y="1888"/>
            <a:chExt cx="1406" cy="404"/>
          </a:xfrm>
        </p:grpSpPr>
        <p:sp>
          <p:nvSpPr>
            <p:cNvPr id="27663" name="Text Box 13"/>
            <p:cNvSpPr txBox="1">
              <a:spLocks noChangeArrowheads="1"/>
            </p:cNvSpPr>
            <p:nvPr/>
          </p:nvSpPr>
          <p:spPr bwMode="auto">
            <a:xfrm>
              <a:off x="2290" y="1888"/>
              <a:ext cx="953" cy="40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b="1" dirty="0">
                  <a:solidFill>
                    <a:srgbClr val="FF3300"/>
                  </a:solidFill>
                </a:rPr>
                <a:t>Small near resonance</a:t>
              </a:r>
            </a:p>
          </p:txBody>
        </p:sp>
        <p:sp>
          <p:nvSpPr>
            <p:cNvPr id="27664" name="AutoShape 16"/>
            <p:cNvSpPr>
              <a:spLocks noChangeArrowheads="1"/>
            </p:cNvSpPr>
            <p:nvPr/>
          </p:nvSpPr>
          <p:spPr bwMode="auto">
            <a:xfrm>
              <a:off x="1837" y="1933"/>
              <a:ext cx="1315" cy="318"/>
            </a:xfrm>
            <a:prstGeom prst="leftArrowCallout">
              <a:avLst>
                <a:gd name="adj1" fmla="val 25000"/>
                <a:gd name="adj2" fmla="val 25000"/>
                <a:gd name="adj3" fmla="val 68920"/>
                <a:gd name="adj4" fmla="val 66667"/>
              </a:avLst>
            </a:prstGeom>
            <a:noFill/>
            <a:ln w="9525" algn="ctr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endParaRPr lang="en-AU"/>
            </a:p>
          </p:txBody>
        </p:sp>
      </p:grpSp>
      <p:sp>
        <p:nvSpPr>
          <p:cNvPr id="27660" name="TextBox 14"/>
          <p:cNvSpPr txBox="1">
            <a:spLocks noChangeArrowheads="1"/>
          </p:cNvSpPr>
          <p:nvPr/>
        </p:nvSpPr>
        <p:spPr bwMode="auto">
          <a:xfrm>
            <a:off x="3760788" y="6138863"/>
            <a:ext cx="500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}</a:t>
            </a:r>
            <a:endParaRPr lang="en-AU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Blackwell, ISHW/Toki Conference 10/2007</a:t>
            </a:r>
          </a:p>
        </p:txBody>
      </p:sp>
      <p:pic>
        <p:nvPicPr>
          <p:cNvPr id="315404" name="Picture 12" descr="alfres_kh_p7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1268413"/>
            <a:ext cx="3508375" cy="2632075"/>
          </a:xfrm>
          <a:prstGeom prst="rect">
            <a:avLst/>
          </a:prstGeom>
          <a:noFill/>
        </p:spPr>
      </p:pic>
      <p:pic>
        <p:nvPicPr>
          <p:cNvPr id="315403" name="Picture 11" descr="alfres_kh_p76_6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64163" y="1268413"/>
            <a:ext cx="3508375" cy="2632075"/>
          </a:xfrm>
          <a:prstGeom prst="rect">
            <a:avLst/>
          </a:prstGeom>
          <a:noFill/>
        </p:spPr>
      </p:pic>
      <p:sp>
        <p:nvSpPr>
          <p:cNvPr id="315398" name="Rectangle 6"/>
          <p:cNvSpPr>
            <a:spLocks noGrp="1" noChangeArrowheads="1"/>
          </p:cNvSpPr>
          <p:nvPr>
            <p:ph type="title"/>
          </p:nvPr>
        </p:nvSpPr>
        <p:spPr>
          <a:xfrm>
            <a:off x="863600" y="0"/>
            <a:ext cx="8280400" cy="1143000"/>
          </a:xfrm>
        </p:spPr>
        <p:txBody>
          <a:bodyPr/>
          <a:lstStyle/>
          <a:p>
            <a:r>
              <a:rPr lang="en-US" sz="3200" dirty="0"/>
              <a:t>Identification with Alfvén eigenmodes: k</a:t>
            </a:r>
            <a:r>
              <a:rPr lang="en-US" sz="3200" baseline="-25000" dirty="0"/>
              <a:t>||, </a:t>
            </a:r>
            <a:r>
              <a:rPr lang="en-US" sz="3200" dirty="0"/>
              <a:t>iota</a:t>
            </a:r>
          </a:p>
        </p:txBody>
      </p:sp>
      <p:sp>
        <p:nvSpPr>
          <p:cNvPr id="31539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4925" y="1268413"/>
            <a:ext cx="4752975" cy="4114800"/>
          </a:xfrm>
          <a:noFill/>
          <a:ln/>
        </p:spPr>
        <p:txBody>
          <a:bodyPr/>
          <a:lstStyle/>
          <a:p>
            <a:pPr lvl="1"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GB" sz="1600">
                <a:sym typeface="Symbol" pitchFamily="18" charset="2"/>
              </a:rPr>
              <a:t></a:t>
            </a:r>
            <a:r>
              <a:rPr lang="en-GB" sz="1600" baseline="-25000"/>
              <a:t>res </a:t>
            </a: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cs typeface="Times New Roman" pitchFamily="18" charset="0"/>
                <a:sym typeface="Wingdings" pitchFamily="2" charset="2"/>
              </a:rPr>
              <a:t>= </a:t>
            </a:r>
            <a:r>
              <a:rPr lang="en-GB" sz="1800"/>
              <a:t>k</a:t>
            </a:r>
            <a:r>
              <a:rPr lang="en-GB" sz="1800" baseline="-25000"/>
              <a:t>||</a:t>
            </a:r>
            <a:r>
              <a:rPr lang="en-GB" sz="1600" baseline="-25000"/>
              <a:t> </a:t>
            </a:r>
            <a:r>
              <a:rPr lang="en-AU" altLang="ja-JP" sz="1800">
                <a:ea typeface="ＭＳ Ｐゴシック" charset="-128"/>
              </a:rPr>
              <a:t>V</a:t>
            </a:r>
            <a:r>
              <a:rPr lang="en-AU" altLang="ja-JP" sz="2400" baseline="-25000">
                <a:ea typeface="ＭＳ Ｐゴシック" charset="-128"/>
              </a:rPr>
              <a:t>A  =  </a:t>
            </a: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(m/R</a:t>
            </a:r>
            <a:r>
              <a:rPr lang="en-GB" sz="1800" baseline="-300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0</a:t>
            </a: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)(</a:t>
            </a:r>
            <a:r>
              <a:rPr lang="en-GB" sz="1800" i="1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Symbol" pitchFamily="18" charset="2"/>
              </a:rPr>
              <a:t></a:t>
            </a: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- n/m)</a:t>
            </a:r>
            <a:r>
              <a:rPr lang="en-US" sz="1800">
                <a:sym typeface="Wingdings" pitchFamily="2" charset="2"/>
              </a:rPr>
              <a:t> </a:t>
            </a:r>
            <a:r>
              <a:rPr lang="en-AU" altLang="ja-JP" sz="2400" baseline="30000">
                <a:ea typeface="ＭＳ Ｐゴシック" charset="-128"/>
              </a:rPr>
              <a:t>B</a:t>
            </a:r>
            <a:r>
              <a:rPr lang="en-AU" altLang="ja-JP" sz="2400">
                <a:ea typeface="ＭＳ Ｐゴシック" charset="-128"/>
              </a:rPr>
              <a:t>/</a:t>
            </a:r>
            <a:r>
              <a:rPr lang="en-AU" altLang="ja-JP" sz="2400" baseline="-25000">
                <a:ea typeface="ＭＳ Ｐゴシック" charset="-128"/>
                <a:sym typeface="Symbol" pitchFamily="18" charset="2"/>
              </a:rPr>
              <a:t></a:t>
            </a:r>
            <a:r>
              <a:rPr lang="en-AU" altLang="ja-JP" sz="2400" baseline="-25000">
                <a:ea typeface="ＭＳ Ｐゴシック" charset="-128"/>
              </a:rPr>
              <a:t>(</a:t>
            </a:r>
            <a:r>
              <a:rPr lang="en-AU" altLang="ja-JP" sz="2400" baseline="-25000">
                <a:ea typeface="ＭＳ Ｐゴシック" charset="-128"/>
                <a:sym typeface="Symbol" pitchFamily="18" charset="2"/>
              </a:rPr>
              <a:t></a:t>
            </a:r>
            <a:r>
              <a:rPr lang="en-AU" altLang="ja-JP" sz="1800" baseline="-50000">
                <a:ea typeface="ＭＳ Ｐゴシック" charset="-128"/>
              </a:rPr>
              <a:t>o</a:t>
            </a:r>
            <a:r>
              <a:rPr lang="en-AU" altLang="ja-JP" sz="2400" baseline="-25000">
                <a:ea typeface="ＭＳ Ｐゴシック" charset="-128"/>
                <a:sym typeface="Symbol" pitchFamily="18" charset="2"/>
              </a:rPr>
              <a:t></a:t>
            </a:r>
            <a:r>
              <a:rPr lang="en-AU" altLang="ja-JP" sz="2400" baseline="-25000">
                <a:ea typeface="ＭＳ Ｐゴシック" charset="-128"/>
              </a:rPr>
              <a:t>)</a:t>
            </a:r>
            <a:r>
              <a:rPr lang="en-AU" altLang="ja-JP" sz="1800">
                <a:ea typeface="ＭＳ Ｐゴシック" charset="-128"/>
              </a:rPr>
              <a:t> </a:t>
            </a:r>
            <a:endParaRPr lang="en-GB" altLang="ja-JP" sz="1800">
              <a:ea typeface="ＭＳ Ｐゴシック" charset="-128"/>
              <a:sym typeface="Wingdings" pitchFamily="2" charset="2"/>
            </a:endParaRPr>
          </a:p>
          <a:p>
            <a:pPr>
              <a:lnSpc>
                <a:spcPct val="90000"/>
              </a:lnSpc>
              <a:spcBef>
                <a:spcPct val="25000"/>
              </a:spcBef>
            </a:pPr>
            <a:endParaRPr lang="en-GB" sz="700"/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800"/>
              <a:t>k</a:t>
            </a:r>
            <a:r>
              <a:rPr lang="en-GB" sz="1800" baseline="-25000"/>
              <a:t>|| </a:t>
            </a:r>
            <a:r>
              <a:rPr lang="en-GB" sz="1600"/>
              <a:t>varies as the angle between magnetic field lines and the wave vector</a:t>
            </a:r>
          </a:p>
          <a:p>
            <a:pPr lvl="1">
              <a:lnSpc>
                <a:spcPct val="90000"/>
              </a:lnSpc>
              <a:spcBef>
                <a:spcPct val="25000"/>
              </a:spcBef>
              <a:buFontTx/>
              <a:buNone/>
            </a:pP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k</a:t>
            </a:r>
            <a:r>
              <a:rPr lang="en-GB" sz="1800" baseline="-300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||</a:t>
            </a: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</a:t>
            </a:r>
            <a:r>
              <a:rPr lang="en-AU" altLang="ja-JP">
                <a:ea typeface="ＭＳ Ｐゴシック" charset="-128"/>
                <a:sym typeface="Symbol" pitchFamily="18" charset="2"/>
              </a:rPr>
              <a:t></a:t>
            </a:r>
            <a:r>
              <a:rPr lang="en-GB" altLang="ja-JP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</a:t>
            </a:r>
            <a:r>
              <a:rPr lang="en-GB" sz="1800" i="1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Symbol" pitchFamily="18" charset="2"/>
              </a:rPr>
              <a:t></a:t>
            </a:r>
            <a:r>
              <a:rPr lang="en-GB" sz="1800">
                <a:solidFill>
                  <a:srgbClr val="000000"/>
                </a:solidFill>
                <a:latin typeface="Times New Roman" pitchFamily="18" charset="0"/>
                <a:ea typeface="MS Mincho" pitchFamily="49" charset="-128"/>
                <a:sym typeface="Wingdings" pitchFamily="2" charset="2"/>
              </a:rPr>
              <a:t> - n/m</a:t>
            </a:r>
            <a:endParaRPr lang="en-GB" sz="1800">
              <a:sym typeface="Wingdings" pitchFamily="2" charset="2"/>
            </a:endParaRP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sz="1600"/>
              <a:t>iota resonant </a:t>
            </a:r>
            <a:r>
              <a:rPr lang="en-GB" sz="1800">
                <a:sym typeface="Wingdings" pitchFamily="2" charset="2"/>
              </a:rPr>
              <a:t>means  </a:t>
            </a:r>
            <a:r>
              <a:rPr lang="en-GB" sz="1800"/>
              <a:t>k</a:t>
            </a:r>
            <a:r>
              <a:rPr lang="en-GB" sz="1800" baseline="-25000"/>
              <a:t>||</a:t>
            </a:r>
            <a:r>
              <a:rPr lang="en-GB" sz="1800"/>
              <a:t>,</a:t>
            </a:r>
            <a:r>
              <a:rPr lang="en-GB" sz="1800" baseline="-25000"/>
              <a:t> </a:t>
            </a:r>
            <a:r>
              <a:rPr lang="en-GB" sz="1800">
                <a:sym typeface="Symbol" pitchFamily="18" charset="2"/>
              </a:rPr>
              <a:t></a:t>
            </a:r>
            <a:r>
              <a:rPr lang="en-GB" sz="1800"/>
              <a:t> </a:t>
            </a:r>
            <a:r>
              <a:rPr lang="en-GB" sz="1800">
                <a:sym typeface="Wingdings" pitchFamily="2" charset="2"/>
              </a:rPr>
              <a:t> 0</a:t>
            </a:r>
          </a:p>
          <a:p>
            <a:pPr>
              <a:lnSpc>
                <a:spcPct val="90000"/>
              </a:lnSpc>
              <a:spcBef>
                <a:spcPct val="25000"/>
              </a:spcBef>
              <a:buFontTx/>
              <a:buNone/>
            </a:pPr>
            <a:r>
              <a:rPr lang="en-GB" sz="1600" b="1" i="1"/>
              <a:t>Expect </a:t>
            </a:r>
            <a:r>
              <a:rPr lang="en-GB" sz="1800" b="1" i="1"/>
              <a:t>F</a:t>
            </a:r>
            <a:r>
              <a:rPr lang="en-GB" sz="2000" b="1" i="1" baseline="-25000"/>
              <a:t>res</a:t>
            </a:r>
            <a:r>
              <a:rPr lang="en-GB" sz="1800" b="1" i="1" baseline="-25000"/>
              <a:t> </a:t>
            </a:r>
            <a:r>
              <a:rPr lang="en-GB" sz="1800" b="1" i="1"/>
              <a:t>to scale with </a:t>
            </a:r>
            <a:r>
              <a:rPr lang="en-AU" altLang="ja-JP" sz="1600" b="1" i="1">
                <a:ea typeface="ＭＳ Ｐゴシック" charset="-128"/>
                <a:sym typeface="Symbol" pitchFamily="18" charset="2"/>
              </a:rPr>
              <a:t></a:t>
            </a:r>
            <a:r>
              <a:rPr lang="en-US" altLang="ja-JP" sz="1600" b="1" i="1">
                <a:ea typeface="ＭＳ Ｐゴシック" charset="-128"/>
              </a:rPr>
              <a:t> iota </a:t>
            </a:r>
            <a:endParaRPr lang="en-GB" sz="1600" b="1" i="1">
              <a:ea typeface="ＭＳ Ｐゴシック" charset="-128"/>
            </a:endParaRPr>
          </a:p>
        </p:txBody>
      </p:sp>
      <p:pic>
        <p:nvPicPr>
          <p:cNvPr id="315406" name="Picture 14" descr="tiny_omega_Alfven_vs_kh"/>
          <p:cNvPicPr>
            <a:picLocks noChangeAspect="1" noChangeArrowheads="1"/>
          </p:cNvPicPr>
          <p:nvPr/>
        </p:nvPicPr>
        <p:blipFill>
          <a:blip r:embed="rId5">
            <a:lum bright="6000"/>
          </a:blip>
          <a:srcRect b="17967"/>
          <a:stretch>
            <a:fillRect/>
          </a:stretch>
        </p:blipFill>
        <p:spPr bwMode="auto">
          <a:xfrm>
            <a:off x="3563938" y="2565400"/>
            <a:ext cx="1655762" cy="860425"/>
          </a:xfrm>
          <a:prstGeom prst="rect">
            <a:avLst/>
          </a:prstGeom>
          <a:noFill/>
        </p:spPr>
      </p:pic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3851275" y="3429000"/>
            <a:ext cx="1584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latin typeface="Times New Roman" pitchFamily="18" charset="0"/>
              </a:rPr>
              <a:t>Resonant </a:t>
            </a:r>
            <a:r>
              <a:rPr lang="en-GB" i="1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</a:t>
            </a:r>
            <a:endParaRPr lang="en-US" i="1">
              <a:solidFill>
                <a:srgbClr val="00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15410" name="Line 18"/>
          <p:cNvSpPr>
            <a:spLocks noChangeShapeType="1"/>
          </p:cNvSpPr>
          <p:nvPr/>
        </p:nvSpPr>
        <p:spPr bwMode="auto">
          <a:xfrm>
            <a:off x="4356100" y="3068638"/>
            <a:ext cx="0" cy="503237"/>
          </a:xfrm>
          <a:prstGeom prst="line">
            <a:avLst/>
          </a:prstGeom>
          <a:noFill/>
          <a:ln w="9525">
            <a:solidFill>
              <a:srgbClr val="33CC33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315411" name="Line 19"/>
          <p:cNvSpPr>
            <a:spLocks noChangeShapeType="1"/>
          </p:cNvSpPr>
          <p:nvPr/>
        </p:nvSpPr>
        <p:spPr bwMode="auto">
          <a:xfrm>
            <a:off x="4932363" y="3068638"/>
            <a:ext cx="0" cy="503237"/>
          </a:xfrm>
          <a:prstGeom prst="line">
            <a:avLst/>
          </a:prstGeom>
          <a:noFill/>
          <a:ln w="9525">
            <a:solidFill>
              <a:srgbClr val="33CC33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en-AU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971550" y="3933825"/>
            <a:ext cx="7200900" cy="2957513"/>
            <a:chOff x="612" y="2478"/>
            <a:chExt cx="4536" cy="1863"/>
          </a:xfrm>
        </p:grpSpPr>
        <p:sp>
          <p:nvSpPr>
            <p:cNvPr id="315408" name="Text Box 16"/>
            <p:cNvSpPr txBox="1">
              <a:spLocks noChangeArrowheads="1"/>
            </p:cNvSpPr>
            <p:nvPr/>
          </p:nvSpPr>
          <p:spPr bwMode="auto">
            <a:xfrm>
              <a:off x="2517" y="4110"/>
              <a:ext cx="99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ota </a:t>
              </a:r>
              <a:r>
                <a:rPr lang="en-GB" i="1">
                  <a:solidFill>
                    <a:srgbClr val="000000"/>
                  </a:solidFill>
                  <a:latin typeface="Times New Roman" pitchFamily="18" charset="0"/>
                  <a:sym typeface="Wingdings" pitchFamily="2" charset="2"/>
                </a:rPr>
                <a:t> </a:t>
              </a:r>
              <a:endParaRPr lang="en-US" i="1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pic>
          <p:nvPicPr>
            <p:cNvPr id="315401" name="Picture 9" descr="alfven_4_3"/>
            <p:cNvPicPr>
              <a:picLocks noChangeAspect="1" noChangeArrowheads="1"/>
            </p:cNvPicPr>
            <p:nvPr/>
          </p:nvPicPr>
          <p:blipFill>
            <a:blip r:embed="rId6"/>
            <a:srcRect b="52129"/>
            <a:stretch>
              <a:fillRect/>
            </a:stretch>
          </p:blipFill>
          <p:spPr bwMode="auto">
            <a:xfrm>
              <a:off x="612" y="2523"/>
              <a:ext cx="4536" cy="1654"/>
            </a:xfrm>
            <a:prstGeom prst="rect">
              <a:avLst/>
            </a:prstGeom>
            <a:noFill/>
          </p:spPr>
        </p:pic>
        <p:sp>
          <p:nvSpPr>
            <p:cNvPr id="315413" name="Text Box 21"/>
            <p:cNvSpPr txBox="1">
              <a:spLocks noChangeArrowheads="1"/>
            </p:cNvSpPr>
            <p:nvPr/>
          </p:nvSpPr>
          <p:spPr bwMode="auto">
            <a:xfrm>
              <a:off x="2880" y="2704"/>
              <a:ext cx="635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GB" i="1">
                  <a:solidFill>
                    <a:srgbClr val="33CC33"/>
                  </a:solidFill>
                  <a:latin typeface="Times New Roman" pitchFamily="18" charset="0"/>
                  <a:sym typeface="Symbol" pitchFamily="18" charset="2"/>
                </a:rPr>
                <a:t> = </a:t>
              </a:r>
              <a:r>
                <a:rPr lang="en-GB">
                  <a:solidFill>
                    <a:srgbClr val="33CC33"/>
                  </a:solidFill>
                  <a:latin typeface="Times New Roman" pitchFamily="18" charset="0"/>
                  <a:sym typeface="Symbol" pitchFamily="18" charset="2"/>
                </a:rPr>
                <a:t>4/3</a:t>
              </a:r>
              <a:endParaRPr lang="en-US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315412" name="Line 20"/>
            <p:cNvSpPr>
              <a:spLocks noChangeShapeType="1"/>
            </p:cNvSpPr>
            <p:nvPr/>
          </p:nvSpPr>
          <p:spPr bwMode="auto">
            <a:xfrm>
              <a:off x="2835" y="2478"/>
              <a:ext cx="0" cy="1632"/>
            </a:xfrm>
            <a:prstGeom prst="line">
              <a:avLst/>
            </a:prstGeom>
            <a:noFill/>
            <a:ln w="19050">
              <a:solidFill>
                <a:srgbClr val="33CC33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Blackwell, ISHW/Toki Conference 10/2007</a:t>
            </a:r>
          </a:p>
        </p:txBody>
      </p:sp>
      <p:pic>
        <p:nvPicPr>
          <p:cNvPr id="319510" name="Picture 22" descr="var_radius_kl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2133600"/>
            <a:ext cx="6697662" cy="4576763"/>
          </a:xfrm>
          <a:prstGeom prst="rect">
            <a:avLst/>
          </a:prstGeom>
          <a:noFill/>
        </p:spPr>
      </p:pic>
      <p:sp>
        <p:nvSpPr>
          <p:cNvPr id="319492" name="Rectangle 4"/>
          <p:cNvSpPr>
            <a:spLocks noGrp="1" noChangeArrowheads="1"/>
          </p:cNvSpPr>
          <p:nvPr>
            <p:ph type="title"/>
          </p:nvPr>
        </p:nvSpPr>
        <p:spPr>
          <a:xfrm>
            <a:off x="863600" y="0"/>
            <a:ext cx="8280400" cy="1143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4D0BC5"/>
                </a:solidFill>
              </a:rPr>
              <a:t>Overall fit assuming</a:t>
            </a:r>
            <a:r>
              <a:rPr lang="en-US" sz="4000" dirty="0" smtClean="0">
                <a:solidFill>
                  <a:srgbClr val="4D0BC5"/>
                </a:solidFill>
                <a:sym typeface="Wingdings" pitchFamily="2" charset="2"/>
              </a:rPr>
              <a:t> </a:t>
            </a:r>
            <a:r>
              <a:rPr lang="en-US" sz="4000" dirty="0">
                <a:solidFill>
                  <a:srgbClr val="4D0BC5"/>
                </a:solidFill>
                <a:sym typeface="Wingdings" pitchFamily="2" charset="2"/>
              </a:rPr>
              <a:t>radial location</a:t>
            </a:r>
            <a:endParaRPr lang="en-US" sz="4000" dirty="0">
              <a:solidFill>
                <a:srgbClr val="4D0BC5"/>
              </a:solidFill>
            </a:endParaRPr>
          </a:p>
        </p:txBody>
      </p:sp>
      <p:sp>
        <p:nvSpPr>
          <p:cNvPr id="31949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341438"/>
            <a:ext cx="6697662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  <a:buFontTx/>
              <a:buNone/>
            </a:pPr>
            <a:r>
              <a:rPr lang="en-GB" sz="1800">
                <a:ea typeface="ＭＳ Ｐゴシック" charset="-128"/>
              </a:rPr>
              <a:t>Better fit of frequency to iota, n</a:t>
            </a:r>
            <a:r>
              <a:rPr lang="en-GB" sz="2000" baseline="-25000">
                <a:ea typeface="ＭＳ Ｐゴシック" charset="-128"/>
              </a:rPr>
              <a:t>e</a:t>
            </a:r>
            <a:r>
              <a:rPr lang="en-GB" sz="1800">
                <a:ea typeface="ＭＳ Ｐゴシック" charset="-128"/>
              </a:rPr>
              <a:t> obtained if the location of resonance is assumed be either at the zero shear radius, or at an outer radius if the associated resonance is not present.</a:t>
            </a:r>
          </a:p>
        </p:txBody>
      </p:sp>
      <p:sp>
        <p:nvSpPr>
          <p:cNvPr id="319502" name="Text Box 14"/>
          <p:cNvSpPr txBox="1">
            <a:spLocks noChangeArrowheads="1"/>
          </p:cNvSpPr>
          <p:nvPr/>
        </p:nvSpPr>
        <p:spPr bwMode="auto">
          <a:xfrm>
            <a:off x="7056438" y="4724400"/>
            <a:ext cx="20875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Assumed mode location</a:t>
            </a:r>
          </a:p>
        </p:txBody>
      </p:sp>
      <p:sp>
        <p:nvSpPr>
          <p:cNvPr id="319503" name="Text Box 15"/>
          <p:cNvSpPr txBox="1">
            <a:spLocks noChangeArrowheads="1"/>
          </p:cNvSpPr>
          <p:nvPr/>
        </p:nvSpPr>
        <p:spPr bwMode="auto">
          <a:xfrm>
            <a:off x="2843213" y="6561138"/>
            <a:ext cx="719137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000" tIns="10800" rIns="18000" bIns="10800">
            <a:spAutoFit/>
          </a:bodyPr>
          <a:lstStyle/>
          <a:p>
            <a:r>
              <a:rPr lang="en-GB" i="1">
                <a:solidFill>
                  <a:srgbClr val="000000"/>
                </a:solidFill>
                <a:sym typeface="Symbol" pitchFamily="18" charset="2"/>
              </a:rPr>
              <a:t></a:t>
            </a:r>
            <a:r>
              <a:rPr lang="en-US"/>
              <a:t> ~ 5/4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258072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Heliotron J (Kyoto): </a:t>
            </a:r>
            <a:br>
              <a:rPr lang="en-US" sz="3600" dirty="0" smtClean="0"/>
            </a:br>
            <a:r>
              <a:rPr lang="en-US" sz="3600" dirty="0" smtClean="0"/>
              <a:t>Good fits to m=2,3,4 in both senses</a:t>
            </a:r>
            <a:br>
              <a:rPr lang="en-US" sz="3600" dirty="0" smtClean="0"/>
            </a:br>
            <a:r>
              <a:rPr lang="en-US" sz="2400" dirty="0" smtClean="0"/>
              <a:t>(-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B</a:t>
            </a:r>
            <a:r>
              <a:rPr lang="en-US" sz="2400" baseline="-25000" dirty="0" smtClean="0"/>
              <a:t>0 </a:t>
            </a:r>
            <a:r>
              <a:rPr lang="en-US" sz="2400" dirty="0" smtClean="0"/>
              <a:t>reversal)</a:t>
            </a:r>
            <a:endParaRPr lang="en-AU" sz="3600" dirty="0"/>
          </a:p>
        </p:txBody>
      </p:sp>
      <p:pic>
        <p:nvPicPr>
          <p:cNvPr id="5" name="Picture 4" descr="hj_clusters_0802_label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8246"/>
            <a:ext cx="6715140" cy="4765006"/>
          </a:xfrm>
          <a:prstGeom prst="rect">
            <a:avLst/>
          </a:prstGeom>
        </p:spPr>
      </p:pic>
      <p:pic>
        <p:nvPicPr>
          <p:cNvPr id="4" name="Content Placeholder 3" descr="hj_clusters_0802_labeleld.jp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43174" y="1857364"/>
            <a:ext cx="6032655" cy="4525963"/>
          </a:xfrm>
          <a:prstGeom prst="rect">
            <a:avLst/>
          </a:prstGeom>
          <a:ln w="254000" cap="sq">
            <a:solidFill>
              <a:srgbClr val="C8C6BD"/>
            </a:solidFill>
            <a:prstDash val="solid"/>
            <a:miter lim="800000"/>
          </a:ln>
          <a:effectLst>
            <a:outerShdw blurRad="1016000" algn="bl" rotWithShape="0">
              <a:srgbClr val="000000">
                <a:alpha val="84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09570" y="0"/>
            <a:ext cx="1434430" cy="1500174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878" y="0"/>
            <a:ext cx="8501122" cy="1143000"/>
          </a:xfrm>
        </p:spPr>
        <p:txBody>
          <a:bodyPr/>
          <a:lstStyle/>
          <a:p>
            <a:r>
              <a:rPr lang="en-AU" sz="3200" dirty="0" smtClean="0">
                <a:solidFill>
                  <a:srgbClr val="4D0BC5"/>
                </a:solidFill>
              </a:rPr>
              <a:t>Phase flips, character changes near rational</a:t>
            </a:r>
            <a:endParaRPr lang="en-AU" sz="3200" dirty="0">
              <a:solidFill>
                <a:srgbClr val="4D0BC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57258"/>
            <a:ext cx="8115328" cy="2686056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en-AU" sz="2400" dirty="0" smtClean="0"/>
              <a:t>The sense of the phase between the magnetic and light fluctuations changes about the resonance</a:t>
            </a:r>
          </a:p>
          <a:p>
            <a:pPr>
              <a:spcBef>
                <a:spcPts val="1500"/>
              </a:spcBef>
            </a:pPr>
            <a:r>
              <a:rPr lang="en-AU" sz="2400" dirty="0" smtClean="0"/>
              <a:t>More “sound-mode” like. (red is </a:t>
            </a:r>
            <a:r>
              <a:rPr lang="en-AU" sz="1800" dirty="0">
                <a:sym typeface="Symbol"/>
              </a:rPr>
              <a:t>~</a:t>
            </a:r>
            <a:r>
              <a:rPr lang="en-AU" sz="2400" dirty="0" smtClean="0">
                <a:sym typeface="Symbol"/>
              </a:rPr>
              <a:t> n</a:t>
            </a:r>
            <a:r>
              <a:rPr lang="en-AU" sz="2400" baseline="-25000" dirty="0" smtClean="0">
                <a:sym typeface="Symbol"/>
              </a:rPr>
              <a:t>e </a:t>
            </a:r>
            <a:r>
              <a:rPr lang="en-AU" sz="2400" dirty="0" smtClean="0">
                <a:sym typeface="Symbol"/>
              </a:rPr>
              <a:t>from visible</a:t>
            </a:r>
            <a:r>
              <a:rPr lang="en-AU" sz="2400" dirty="0" smtClean="0"/>
              <a:t> emission </a:t>
            </a:r>
            <a:r>
              <a:rPr lang="en-AU" sz="2400" dirty="0" smtClean="0">
                <a:sym typeface="Symbol"/>
              </a:rPr>
              <a:t>)</a:t>
            </a:r>
          </a:p>
          <a:p>
            <a:pPr>
              <a:spcBef>
                <a:spcPts val="1500"/>
              </a:spcBef>
            </a:pPr>
            <a:r>
              <a:rPr lang="en-US" sz="2400" dirty="0" smtClean="0">
                <a:sym typeface="Symbol"/>
              </a:rPr>
              <a:t>As k</a:t>
            </a:r>
            <a:r>
              <a:rPr lang="en-US" sz="2400" baseline="-25000" dirty="0" smtClean="0">
                <a:sym typeface="Symbol"/>
              </a:rPr>
              <a:t>||</a:t>
            </a:r>
            <a:r>
              <a:rPr lang="en-US" sz="2400" dirty="0" smtClean="0">
                <a:sym typeface="Wingdings" pitchFamily="2" charset="2"/>
              </a:rPr>
              <a:t> 0, </a:t>
            </a:r>
            <a:r>
              <a:rPr lang="en-US" sz="2400" dirty="0" smtClean="0">
                <a:sym typeface="Symbol"/>
              </a:rPr>
              <a:t></a:t>
            </a:r>
            <a:r>
              <a:rPr lang="en-US" sz="2400" baseline="-25000" dirty="0" smtClean="0">
                <a:sym typeface="Symbol"/>
              </a:rPr>
              <a:t>||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>
                <a:sym typeface="Symbol"/>
              </a:rPr>
              <a:t>, so </a:t>
            </a:r>
            <a:r>
              <a:rPr lang="en-US" sz="2400" dirty="0" err="1" smtClean="0">
                <a:sym typeface="Symbol"/>
              </a:rPr>
              <a:t>quasineutrality</a:t>
            </a:r>
            <a:r>
              <a:rPr lang="en-US" sz="2400" dirty="0" smtClean="0">
                <a:sym typeface="Symbol"/>
              </a:rPr>
              <a:t>  ion sound speed dominates</a:t>
            </a:r>
            <a:endParaRPr lang="en-AU" sz="2400" baseline="-25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D4AE60-17DC-44F6-B0BF-340A7603F727}" type="slidenum">
              <a:rPr lang="en-AU" smtClean="0"/>
              <a:pPr>
                <a:defRPr/>
              </a:pPr>
              <a:t>32</a:t>
            </a:fld>
            <a:endParaRPr lang="en-AU" dirty="0"/>
          </a:p>
        </p:txBody>
      </p:sp>
      <p:pic>
        <p:nvPicPr>
          <p:cNvPr id="15" name="Picture 14" descr="Phase_fl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7" y="3357562"/>
            <a:ext cx="8001056" cy="31005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00430" y="6488668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Iota scanning in time </a:t>
            </a:r>
            <a:r>
              <a:rPr lang="en-US" dirty="0" smtClean="0">
                <a:sym typeface="Wingdings" pitchFamily="2" charset="2"/>
              </a:rPr>
              <a:t> </a:t>
            </a:r>
            <a:endParaRPr lang="en-A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577850" y="1638300"/>
          <a:ext cx="8129588" cy="4225925"/>
        </p:xfrm>
        <a:graphic>
          <a:graphicData uri="http://schemas.openxmlformats.org/presentationml/2006/ole">
            <p:oleObj spid="_x0000_s2050" name="Picture" r:id="rId4" imgW="6120720" imgH="3888720" progId="Word.Picture.8">
              <p:embed/>
            </p:oleObj>
          </a:graphicData>
        </a:graphic>
      </p:graphicFrame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0"/>
            <a:ext cx="8280400" cy="1143000"/>
          </a:xfrm>
        </p:spPr>
        <p:txBody>
          <a:bodyPr/>
          <a:lstStyle/>
          <a:p>
            <a:r>
              <a:rPr lang="en-US" dirty="0" smtClean="0">
                <a:solidFill>
                  <a:srgbClr val="4D0BC5"/>
                </a:solidFill>
              </a:rPr>
              <a:t>CAS3D: 3D and finite beta effects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341438"/>
            <a:ext cx="4752975" cy="4114800"/>
          </a:xfrm>
        </p:spPr>
        <p:txBody>
          <a:bodyPr/>
          <a:lstStyle/>
          <a:p>
            <a:pPr>
              <a:spcBef>
                <a:spcPct val="25000"/>
              </a:spcBef>
            </a:pPr>
            <a:endParaRPr lang="en-GB" sz="2800" baseline="-50000" smtClean="0">
              <a:ea typeface="ＭＳ Ｐゴシック"/>
              <a:cs typeface="ＭＳ Ｐゴシック"/>
            </a:endParaRPr>
          </a:p>
        </p:txBody>
      </p:sp>
      <p:sp>
        <p:nvSpPr>
          <p:cNvPr id="3085" name="Slide Number Placeholder 1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A38712C-1E9D-4B7B-989F-A9DFCA6730E5}" type="slidenum">
              <a:rPr lang="en-US"/>
              <a:pPr/>
              <a:t>33</a:t>
            </a:fld>
            <a:endParaRPr lang="en-US"/>
          </a:p>
        </p:txBody>
      </p:sp>
      <p:sp>
        <p:nvSpPr>
          <p:cNvPr id="3076" name="AutoShape 21"/>
          <p:cNvSpPr>
            <a:spLocks noChangeArrowheads="1"/>
          </p:cNvSpPr>
          <p:nvPr/>
        </p:nvSpPr>
        <p:spPr bwMode="auto">
          <a:xfrm>
            <a:off x="2857500" y="642938"/>
            <a:ext cx="3816350" cy="1296987"/>
          </a:xfrm>
          <a:prstGeom prst="curvedDownArrow">
            <a:avLst>
              <a:gd name="adj1" fmla="val 58849"/>
              <a:gd name="adj2" fmla="val 117699"/>
              <a:gd name="adj3" fmla="val 33333"/>
            </a:avLst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6804025" y="0"/>
            <a:ext cx="2520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AU" b="1">
                <a:solidFill>
                  <a:srgbClr val="FF0000"/>
                </a:solidFill>
              </a:rPr>
              <a:t>Carolin Nuhrenberg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5000625" y="5786438"/>
            <a:ext cx="338455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Beta induced gap ~5-10kHz</a:t>
            </a:r>
          </a:p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Coupling to “sound mode”</a:t>
            </a:r>
          </a:p>
        </p:txBody>
      </p:sp>
      <p:sp>
        <p:nvSpPr>
          <p:cNvPr id="3080" name="Text Box 12"/>
          <p:cNvSpPr txBox="1">
            <a:spLocks noChangeArrowheads="1"/>
          </p:cNvSpPr>
          <p:nvPr/>
        </p:nvSpPr>
        <p:spPr bwMode="auto">
          <a:xfrm>
            <a:off x="2786063" y="928688"/>
            <a:ext cx="54292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Gap forms to allow helical Alfven eigenmode, and beta induced gap appears at low f</a:t>
            </a:r>
          </a:p>
        </p:txBody>
      </p:sp>
      <p:sp>
        <p:nvSpPr>
          <p:cNvPr id="3081" name="Line 17"/>
          <p:cNvSpPr>
            <a:spLocks noChangeShapeType="1"/>
          </p:cNvSpPr>
          <p:nvPr/>
        </p:nvSpPr>
        <p:spPr bwMode="auto">
          <a:xfrm flipV="1">
            <a:off x="3779838" y="5084763"/>
            <a:ext cx="3529012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AU"/>
          </a:p>
        </p:txBody>
      </p:sp>
      <p:sp>
        <p:nvSpPr>
          <p:cNvPr id="308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3083" name="Freeform 20"/>
          <p:cNvSpPr>
            <a:spLocks/>
          </p:cNvSpPr>
          <p:nvPr/>
        </p:nvSpPr>
        <p:spPr bwMode="auto">
          <a:xfrm>
            <a:off x="7708900" y="5194300"/>
            <a:ext cx="995363" cy="1092200"/>
          </a:xfrm>
          <a:custGeom>
            <a:avLst/>
            <a:gdLst>
              <a:gd name="T0" fmla="*/ 2147483647 w 562"/>
              <a:gd name="T1" fmla="*/ 2147483647 h 726"/>
              <a:gd name="T2" fmla="*/ 2147483647 w 562"/>
              <a:gd name="T3" fmla="*/ 2147483647 h 726"/>
              <a:gd name="T4" fmla="*/ 2147483647 w 562"/>
              <a:gd name="T5" fmla="*/ 2147483647 h 726"/>
              <a:gd name="T6" fmla="*/ 0 w 562"/>
              <a:gd name="T7" fmla="*/ 0 h 726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726"/>
              <a:gd name="T14" fmla="*/ 562 w 562"/>
              <a:gd name="T15" fmla="*/ 726 h 7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726">
                <a:moveTo>
                  <a:pt x="318" y="726"/>
                </a:moveTo>
                <a:cubicBezTo>
                  <a:pt x="350" y="690"/>
                  <a:pt x="493" y="591"/>
                  <a:pt x="509" y="507"/>
                </a:cubicBezTo>
                <a:cubicBezTo>
                  <a:pt x="562" y="416"/>
                  <a:pt x="521" y="295"/>
                  <a:pt x="415" y="219"/>
                </a:cubicBezTo>
                <a:cubicBezTo>
                  <a:pt x="309" y="143"/>
                  <a:pt x="86" y="46"/>
                  <a:pt x="0" y="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  <p:sp>
        <p:nvSpPr>
          <p:cNvPr id="3084" name="Freeform 20"/>
          <p:cNvSpPr>
            <a:spLocks/>
          </p:cNvSpPr>
          <p:nvPr/>
        </p:nvSpPr>
        <p:spPr bwMode="auto">
          <a:xfrm rot="19515049" flipV="1">
            <a:off x="7604125" y="1103313"/>
            <a:ext cx="1111250" cy="793750"/>
          </a:xfrm>
          <a:custGeom>
            <a:avLst/>
            <a:gdLst>
              <a:gd name="T0" fmla="*/ 2147483647 w 562"/>
              <a:gd name="T1" fmla="*/ 2147483647 h 726"/>
              <a:gd name="T2" fmla="*/ 2147483647 w 562"/>
              <a:gd name="T3" fmla="*/ 2147483647 h 726"/>
              <a:gd name="T4" fmla="*/ 2147483647 w 562"/>
              <a:gd name="T5" fmla="*/ 2147483647 h 726"/>
              <a:gd name="T6" fmla="*/ 0 w 562"/>
              <a:gd name="T7" fmla="*/ 0 h 726"/>
              <a:gd name="T8" fmla="*/ 0 60000 65536"/>
              <a:gd name="T9" fmla="*/ 0 60000 65536"/>
              <a:gd name="T10" fmla="*/ 0 60000 65536"/>
              <a:gd name="T11" fmla="*/ 0 60000 65536"/>
              <a:gd name="T12" fmla="*/ 0 w 562"/>
              <a:gd name="T13" fmla="*/ 0 h 726"/>
              <a:gd name="T14" fmla="*/ 562 w 562"/>
              <a:gd name="T15" fmla="*/ 726 h 7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2" h="726">
                <a:moveTo>
                  <a:pt x="318" y="726"/>
                </a:moveTo>
                <a:cubicBezTo>
                  <a:pt x="350" y="690"/>
                  <a:pt x="493" y="591"/>
                  <a:pt x="509" y="507"/>
                </a:cubicBezTo>
                <a:cubicBezTo>
                  <a:pt x="562" y="416"/>
                  <a:pt x="521" y="295"/>
                  <a:pt x="415" y="219"/>
                </a:cubicBezTo>
                <a:cubicBezTo>
                  <a:pt x="309" y="143"/>
                  <a:pt x="86" y="46"/>
                  <a:pt x="0" y="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stealth" w="lg" len="lg"/>
          </a:ln>
        </p:spPr>
        <p:txBody>
          <a:bodyPr/>
          <a:lstStyle/>
          <a:p>
            <a:pPr eaLnBrk="0" hangingPunct="0">
              <a:spcBef>
                <a:spcPct val="50000"/>
              </a:spcBef>
            </a:pPr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rgbClr val="4D0BC5"/>
                </a:solidFill>
              </a:rPr>
              <a:t>MHD: synchronous 2D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571612"/>
            <a:ext cx="5072066" cy="3786214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dirty="0" smtClean="0"/>
              <a:t>Mirnov coil used as a reference signal.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dirty="0" smtClean="0"/>
              <a:t>PLL then matches the phase of its clock to the reference.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dirty="0" smtClean="0"/>
              <a:t>PLL output pulses drive the ICCD camera.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Delay output to explore MHD phase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  <a:p>
            <a:pPr fontAlgn="auto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dirty="0" smtClean="0"/>
              <a:t>Performance</a:t>
            </a:r>
            <a:endParaRPr lang="en-AU" dirty="0" smtClean="0"/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fontAlgn="auto">
              <a:spcBef>
                <a:spcPts val="12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/>
          </a:p>
        </p:txBody>
      </p:sp>
      <p:pic>
        <p:nvPicPr>
          <p:cNvPr id="6148" name="Content Placeholder 4" descr="experiment_layout.pn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63530" y="1285860"/>
            <a:ext cx="3880470" cy="2917979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rtl="0">
              <a:defRPr/>
            </a:pPr>
            <a:fld id="{C4EB4694-6EB4-47CA-9DAA-A54C3C713689}" type="slidenum">
              <a:rPr lang="en-AU" sz="1200" kern="1200">
                <a:latin typeface="Calibri"/>
                <a:ea typeface="+mn-ea"/>
                <a:cs typeface="+mn-cs"/>
              </a:rPr>
              <a:pPr algn="r" rtl="0">
                <a:defRPr/>
              </a:pPr>
              <a:t>34</a:t>
            </a:fld>
            <a:endParaRPr lang="en-AU" sz="1200" kern="1200" dirty="0"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1785918" y="4335468"/>
            <a:ext cx="5436664" cy="2522532"/>
            <a:chOff x="1620350" y="3429000"/>
            <a:chExt cx="3709716" cy="3308351"/>
          </a:xfrm>
        </p:grpSpPr>
        <p:pic>
          <p:nvPicPr>
            <p:cNvPr id="7" name="Content Placeholder 6" descr="PLL_over_Mirnov.png"/>
            <p:cNvPicPr>
              <a:picLocks noChangeAspect="1"/>
            </p:cNvPicPr>
            <p:nvPr/>
          </p:nvPicPr>
          <p:blipFill>
            <a:blip r:embed="rId4"/>
            <a:srcRect r="37665"/>
            <a:stretch>
              <a:fillRect/>
            </a:stretch>
          </p:blipFill>
          <p:spPr bwMode="auto">
            <a:xfrm>
              <a:off x="1928813" y="3429000"/>
              <a:ext cx="3315066" cy="29908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4"/>
            <p:cNvSpPr txBox="1">
              <a:spLocks noChangeArrowheads="1"/>
            </p:cNvSpPr>
            <p:nvPr/>
          </p:nvSpPr>
          <p:spPr bwMode="auto">
            <a:xfrm>
              <a:off x="3472691" y="6333695"/>
              <a:ext cx="1857375" cy="4036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AU" sz="1400" kern="1200" dirty="0">
                  <a:latin typeface="Calibri" pitchFamily="34" charset="0"/>
                  <a:ea typeface="+mn-ea"/>
                  <a:cs typeface="Arial" charset="0"/>
                </a:rPr>
                <a:t>Time (s)</a:t>
              </a:r>
              <a:endParaRPr lang="en-AU" kern="1200" dirty="0">
                <a:latin typeface="Calibri" pitchFamily="34" charset="0"/>
                <a:ea typeface="+mn-ea"/>
                <a:cs typeface="Arial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20350" y="4113996"/>
              <a:ext cx="273016" cy="1428761"/>
            </a:xfrm>
            <a:prstGeom prst="rect">
              <a:avLst/>
            </a:prstGeom>
            <a:noFill/>
          </p:spPr>
          <p:txBody>
            <a:bodyPr vert="vert270">
              <a:spAutoFit/>
            </a:bodyPr>
            <a:lstStyle/>
            <a:p>
              <a:pPr algn="ctr" rtl="0">
                <a:defRPr/>
              </a:pPr>
              <a:r>
                <a:rPr lang="en-AU" sz="1400" kern="1200" dirty="0" smtClean="0">
                  <a:latin typeface="Calibri"/>
                  <a:ea typeface="+mn-ea"/>
                  <a:cs typeface="Arial" charset="0"/>
                </a:rPr>
                <a:t>Amplitude</a:t>
              </a:r>
              <a:endParaRPr lang="en-AU" kern="1200" dirty="0">
                <a:latin typeface="Calibri"/>
                <a:ea typeface="+mn-ea"/>
                <a:cs typeface="Arial" charset="0"/>
              </a:endParaRPr>
            </a:p>
          </p:txBody>
        </p:sp>
      </p:grp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500644" y="0"/>
            <a:ext cx="36433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AU" sz="2400" b="1" dirty="0" smtClean="0">
                <a:solidFill>
                  <a:srgbClr val="FF0000"/>
                </a:solidFill>
              </a:rPr>
              <a:t>John Howard, Jesse </a:t>
            </a:r>
            <a:r>
              <a:rPr lang="en-AU" sz="2400" b="1" dirty="0">
                <a:solidFill>
                  <a:srgbClr val="FF0000"/>
                </a:solidFill>
              </a:rPr>
              <a:t>Read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0"/>
            <a:ext cx="8686800" cy="1143000"/>
          </a:xfrm>
        </p:spPr>
        <p:txBody>
          <a:bodyPr/>
          <a:lstStyle/>
          <a:p>
            <a:r>
              <a:rPr lang="en-AU" sz="3200" dirty="0" smtClean="0">
                <a:solidFill>
                  <a:srgbClr val="4D0BC5"/>
                </a:solidFill>
              </a:rPr>
              <a:t>Mode structure via synchronous 2D imaging</a:t>
            </a:r>
            <a:endParaRPr lang="en-AU" sz="3200" dirty="0">
              <a:solidFill>
                <a:srgbClr val="4D0BC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4282" y="928670"/>
            <a:ext cx="8715436" cy="4525963"/>
          </a:xfrm>
        </p:spPr>
        <p:txBody>
          <a:bodyPr/>
          <a:lstStyle/>
          <a:p>
            <a:r>
              <a:rPr lang="en-AU" sz="2000" dirty="0" smtClean="0"/>
              <a:t>Intensified Princeton Instruments camera synchronised with mode using the intensifier pulse as a high speed gate. (256x256)</a:t>
            </a:r>
          </a:p>
          <a:p>
            <a:endParaRPr lang="en-AU" sz="1100" dirty="0" smtClean="0"/>
          </a:p>
          <a:p>
            <a:r>
              <a:rPr lang="en-AU" sz="2000" dirty="0" smtClean="0"/>
              <a:t>Total light or Carbon ion line imaged for delays of 0....1 cycle</a:t>
            </a:r>
          </a:p>
          <a:p>
            <a:endParaRPr lang="en-AU" sz="900" dirty="0" smtClean="0"/>
          </a:p>
          <a:p>
            <a:r>
              <a:rPr lang="en-AU" sz="2000" dirty="0" smtClean="0"/>
              <a:t>Averaging is performed in the camera image plane, background removed by subtracting an unsynchronised shot.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D4AE60-17DC-44F6-B0BF-340A7603F727}" type="slidenum">
              <a:rPr lang="en-AU" smtClean="0"/>
              <a:pPr>
                <a:defRPr/>
              </a:pPr>
              <a:t>35</a:t>
            </a:fld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7643834" y="3857628"/>
            <a:ext cx="12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00" b="1" dirty="0" smtClean="0"/>
              <a:t>Intensity (arbitrary units)</a:t>
            </a:r>
            <a:endParaRPr lang="en-AU" sz="1000" b="1" dirty="0"/>
          </a:p>
        </p:txBody>
      </p:sp>
      <p:pic>
        <p:nvPicPr>
          <p:cNvPr id="7" name="Picture 3" descr="First_IMAX_images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000504"/>
            <a:ext cx="8358246" cy="263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First_IMAX_images.jpg"/>
          <p:cNvPicPr>
            <a:picLocks noChangeAspect="1"/>
          </p:cNvPicPr>
          <p:nvPr/>
        </p:nvPicPr>
        <p:blipFill>
          <a:blip r:embed="rId3"/>
          <a:srcRect l="-10523" t="11700" r="46330"/>
          <a:stretch>
            <a:fillRect/>
          </a:stretch>
        </p:blipFill>
        <p:spPr bwMode="auto">
          <a:xfrm>
            <a:off x="428596" y="3083965"/>
            <a:ext cx="8715404" cy="377403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</p:pic>
      <p:pic>
        <p:nvPicPr>
          <p:cNvPr id="9" name="Picture 5" descr="H1 Publicity VIII(puffer) El"/>
          <p:cNvPicPr>
            <a:picLocks noChangeAspect="1" noChangeArrowheads="1"/>
          </p:cNvPicPr>
          <p:nvPr/>
        </p:nvPicPr>
        <p:blipFill>
          <a:blip r:embed="rId4"/>
          <a:srcRect l="19775" t="31255" r="27491"/>
          <a:stretch>
            <a:fillRect/>
          </a:stretch>
        </p:blipFill>
        <p:spPr bwMode="auto">
          <a:xfrm flipH="1">
            <a:off x="0" y="3071810"/>
            <a:ext cx="1836398" cy="179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42844" y="5214950"/>
            <a:ext cx="15716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Toroidal Field Coils</a:t>
            </a:r>
            <a:endParaRPr lang="en-AU" sz="2000" b="1" dirty="0" smtClean="0"/>
          </a:p>
          <a:p>
            <a:endParaRPr lang="en-US" sz="2000" b="1" dirty="0" smtClean="0"/>
          </a:p>
          <a:p>
            <a:r>
              <a:rPr lang="en-US" sz="2000" b="1" dirty="0" smtClean="0"/>
              <a:t>Helical</a:t>
            </a:r>
            <a:br>
              <a:rPr lang="en-US" sz="2000" b="1" dirty="0" smtClean="0"/>
            </a:br>
            <a:r>
              <a:rPr lang="en-US" sz="2000" b="1" dirty="0" smtClean="0"/>
              <a:t>Conductor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5400000" flipH="1" flipV="1">
            <a:off x="-862150" y="5551716"/>
            <a:ext cx="1946368" cy="1306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142976" y="4071942"/>
            <a:ext cx="1428760" cy="135732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6200000" flipV="1">
            <a:off x="71406" y="4357694"/>
            <a:ext cx="1428760" cy="71438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5500644" y="0"/>
            <a:ext cx="36433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AU" sz="2400" b="1" dirty="0" smtClean="0">
                <a:solidFill>
                  <a:srgbClr val="FF0000"/>
                </a:solidFill>
              </a:rPr>
              <a:t>John Howard, Jesse </a:t>
            </a:r>
            <a:r>
              <a:rPr lang="en-AU" sz="2400" b="1" dirty="0">
                <a:solidFill>
                  <a:srgbClr val="FF0000"/>
                </a:solidFill>
              </a:rPr>
              <a:t>Read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Modes_033_0002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00063" y="982663"/>
            <a:ext cx="3929062" cy="29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457200" y="-71438"/>
            <a:ext cx="8229600" cy="1143001"/>
          </a:xfrm>
        </p:spPr>
        <p:txBody>
          <a:bodyPr/>
          <a:lstStyle/>
          <a:p>
            <a:r>
              <a:rPr lang="en-AU" dirty="0" smtClean="0"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357688"/>
            <a:ext cx="8329613" cy="2500312"/>
          </a:xfrm>
        </p:spPr>
        <p:txBody>
          <a:bodyPr rtlCol="0">
            <a:normAutofit fontScale="62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dirty="0" smtClean="0"/>
              <a:t>Images clearly show the mode’s helical structure.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b="1" dirty="0" smtClean="0"/>
              <a:t>Even parity</a:t>
            </a:r>
            <a:r>
              <a:rPr lang="en-AU" dirty="0" smtClean="0"/>
              <a:t>, four zero crossings </a:t>
            </a:r>
            <a:r>
              <a:rPr lang="en-AU" dirty="0" smtClean="0">
                <a:sym typeface="Wingdings" pitchFamily="2" charset="2"/>
              </a:rPr>
              <a:t> m ≥ 4.</a:t>
            </a:r>
            <a:endParaRPr lang="en-AU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dirty="0" smtClean="0"/>
              <a:t>Images at different time delays (between PLL pulse and </a:t>
            </a:r>
            <a:br>
              <a:rPr lang="en-AU" dirty="0" smtClean="0"/>
            </a:br>
            <a:r>
              <a:rPr lang="en-AU" dirty="0" smtClean="0"/>
              <a:t>camera gate) shows mode rotation.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AU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AU" dirty="0" smtClean="0"/>
              <a:t>Mode structure and rotation direction determined by </a:t>
            </a:r>
            <a:br>
              <a:rPr lang="en-AU" dirty="0" smtClean="0"/>
            </a:br>
            <a:r>
              <a:rPr lang="en-AU" dirty="0" smtClean="0"/>
              <a:t>comparing to a model.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rtl="0">
              <a:defRPr/>
            </a:pPr>
            <a:fld id="{197A7420-225C-4534-9468-DB2EE028963D}" type="slidenum">
              <a:rPr lang="en-AU" sz="1200" kern="1200">
                <a:latin typeface="Calibri"/>
                <a:ea typeface="+mn-ea"/>
                <a:cs typeface="+mn-cs"/>
              </a:rPr>
              <a:pPr algn="r" rtl="0">
                <a:defRPr/>
              </a:pPr>
              <a:t>36</a:t>
            </a:fld>
            <a:endParaRPr lang="en-AU" sz="1200" kern="1200" dirty="0">
              <a:latin typeface="Calibri"/>
              <a:ea typeface="+mn-ea"/>
              <a:cs typeface="+mn-cs"/>
            </a:endParaRPr>
          </a:p>
        </p:txBody>
      </p:sp>
      <p:pic>
        <p:nvPicPr>
          <p:cNvPr id="9221" name="Picture 6" descr="profile_16.png"/>
          <p:cNvPicPr>
            <a:picLocks noChangeAspect="1"/>
          </p:cNvPicPr>
          <p:nvPr/>
        </p:nvPicPr>
        <p:blipFill>
          <a:blip r:embed="rId5">
            <a:lum bright="69000" contrast="71000"/>
          </a:blip>
          <a:srcRect/>
          <a:stretch>
            <a:fillRect/>
          </a:stretch>
        </p:blipFill>
        <p:spPr bwMode="auto">
          <a:xfrm>
            <a:off x="5005388" y="1214438"/>
            <a:ext cx="40481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>
          <a:xfrm rot="16200000" flipH="1">
            <a:off x="714375" y="2428876"/>
            <a:ext cx="328612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H="1">
            <a:off x="5000625" y="2392363"/>
            <a:ext cx="4048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4" name="TextBox 12"/>
          <p:cNvSpPr txBox="1">
            <a:spLocks noChangeArrowheads="1"/>
          </p:cNvSpPr>
          <p:nvPr/>
        </p:nvSpPr>
        <p:spPr bwMode="auto">
          <a:xfrm>
            <a:off x="5786438" y="928688"/>
            <a:ext cx="27146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sz="1400" kern="1200">
                <a:latin typeface="Calibri" pitchFamily="34" charset="0"/>
                <a:ea typeface="+mn-ea"/>
                <a:cs typeface="Arial" charset="0"/>
              </a:rPr>
              <a:t>Intensity Profile </a:t>
            </a:r>
          </a:p>
        </p:txBody>
      </p:sp>
      <p:sp>
        <p:nvSpPr>
          <p:cNvPr id="9225" name="TextBox 13"/>
          <p:cNvSpPr txBox="1">
            <a:spLocks noChangeArrowheads="1"/>
          </p:cNvSpPr>
          <p:nvPr/>
        </p:nvSpPr>
        <p:spPr bwMode="auto">
          <a:xfrm>
            <a:off x="5786446" y="3643314"/>
            <a:ext cx="27146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sz="1400" kern="1200">
                <a:latin typeface="Calibri" pitchFamily="34" charset="0"/>
                <a:ea typeface="+mn-ea"/>
                <a:cs typeface="Arial" charset="0"/>
              </a:rPr>
              <a:t>Vertical 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438" y="1214422"/>
            <a:ext cx="400110" cy="2308041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 algn="ctr" rtl="0">
              <a:defRPr/>
            </a:pPr>
            <a:r>
              <a:rPr lang="en-AU" sz="1400" kern="1200" dirty="0">
                <a:latin typeface="Calibri"/>
                <a:ea typeface="+mn-ea"/>
                <a:cs typeface="Arial" charset="0"/>
              </a:rPr>
              <a:t>Amplitude (arbitrary units)</a:t>
            </a:r>
          </a:p>
        </p:txBody>
      </p:sp>
      <p:sp>
        <p:nvSpPr>
          <p:cNvPr id="9229" name="TextBox 19"/>
          <p:cNvSpPr txBox="1">
            <a:spLocks noChangeArrowheads="1"/>
          </p:cNvSpPr>
          <p:nvPr/>
        </p:nvSpPr>
        <p:spPr bwMode="auto">
          <a:xfrm>
            <a:off x="1500188" y="4000500"/>
            <a:ext cx="17145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sz="1400" kern="1200">
                <a:latin typeface="Calibri" pitchFamily="34" charset="0"/>
                <a:ea typeface="+mn-ea"/>
                <a:cs typeface="Arial" charset="0"/>
              </a:rPr>
              <a:t>Profile segment line</a:t>
            </a:r>
          </a:p>
        </p:txBody>
      </p:sp>
      <p:pic>
        <p:nvPicPr>
          <p:cNvPr id="13" name="Picture 5" descr="m4_r003_R073_emission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357950" y="4286256"/>
            <a:ext cx="2438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AU" dirty="0" smtClean="0">
                <a:solidFill>
                  <a:srgbClr val="4D0BC5"/>
                </a:solidFill>
              </a:rPr>
              <a:t>Mode Tomography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28596" y="1071546"/>
            <a:ext cx="4286280" cy="2185988"/>
          </a:xfrm>
        </p:spPr>
        <p:txBody>
          <a:bodyPr rtlCol="0">
            <a:normAutofit/>
          </a:bodyPr>
          <a:lstStyle/>
          <a:p>
            <a:pPr marL="182563" indent="-182563" fontAlgn="auto">
              <a:spcAft>
                <a:spcPts val="0"/>
              </a:spcAft>
              <a:defRPr/>
            </a:pPr>
            <a:r>
              <a:rPr lang="en-US" sz="2000" b="1" dirty="0" smtClean="0"/>
              <a:t>Better to do the inverse problem</a:t>
            </a:r>
            <a:endParaRPr lang="en-AU" sz="2000" b="1" dirty="0" smtClean="0"/>
          </a:p>
          <a:p>
            <a:pPr marL="182563" indent="-182563" fontAlgn="auto">
              <a:spcAft>
                <a:spcPts val="0"/>
              </a:spcAft>
              <a:defRPr/>
            </a:pPr>
            <a:r>
              <a:rPr lang="en-AU" sz="2000" b="1" dirty="0" smtClean="0"/>
              <a:t>arbitrary</a:t>
            </a:r>
            <a:r>
              <a:rPr lang="en-AU" sz="2000" dirty="0" smtClean="0"/>
              <a:t> radial profile, m=4, n=5</a:t>
            </a:r>
          </a:p>
          <a:p>
            <a:pPr marL="182563" indent="-182563" fontAlgn="auto">
              <a:spcAft>
                <a:spcPts val="0"/>
              </a:spcAft>
              <a:defRPr/>
            </a:pPr>
            <a:r>
              <a:rPr lang="en-AU" sz="2000" dirty="0" smtClean="0"/>
              <a:t>Match sightline integrals with data </a:t>
            </a:r>
          </a:p>
          <a:p>
            <a:pPr marL="182563" indent="-182563" fontAlgn="auto">
              <a:spcAft>
                <a:spcPts val="0"/>
              </a:spcAft>
              <a:defRPr/>
            </a:pPr>
            <a:r>
              <a:rPr lang="en-US" sz="2000" dirty="0" smtClean="0"/>
              <a:t>Use data from 18 different phases</a:t>
            </a:r>
          </a:p>
          <a:p>
            <a:pPr marL="182563" indent="-182563" fontAlgn="auto">
              <a:spcAft>
                <a:spcPts val="0"/>
              </a:spcAft>
              <a:defRPr/>
            </a:pPr>
            <a:r>
              <a:rPr lang="en-US" sz="2000" dirty="0" smtClean="0"/>
              <a:t>Mode appears narrow in radius</a:t>
            </a:r>
            <a:endParaRPr lang="en-AU" sz="2000" dirty="0" smtClean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 rtl="0">
              <a:defRPr/>
            </a:pPr>
            <a:fld id="{7576E3EF-DD74-4858-92D7-A2749BDC2300}" type="slidenum">
              <a:rPr lang="en-AU" sz="1200" kern="1200">
                <a:solidFill>
                  <a:prstClr val="white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algn="r" rtl="0">
                <a:defRPr/>
              </a:pPr>
              <a:t>37</a:t>
            </a:fld>
            <a:endParaRPr lang="en-AU" sz="1200" kern="1200" dirty="0">
              <a:solidFill>
                <a:prstClr val="white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244" name="TextBox 8"/>
          <p:cNvSpPr txBox="1">
            <a:spLocks noChangeArrowheads="1"/>
          </p:cNvSpPr>
          <p:nvPr/>
        </p:nvSpPr>
        <p:spPr bwMode="auto">
          <a:xfrm>
            <a:off x="7358063" y="1130300"/>
            <a:ext cx="12858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kern="1200">
                <a:solidFill>
                  <a:prstClr val="white"/>
                </a:solidFill>
                <a:latin typeface="Calibri" pitchFamily="34" charset="0"/>
                <a:ea typeface="+mn-ea"/>
                <a:cs typeface="Arial" charset="0"/>
              </a:rPr>
              <a:t>Mode</a:t>
            </a:r>
          </a:p>
        </p:txBody>
      </p:sp>
      <p:sp>
        <p:nvSpPr>
          <p:cNvPr id="10248" name="TextBox 12"/>
          <p:cNvSpPr txBox="1">
            <a:spLocks noChangeArrowheads="1"/>
          </p:cNvSpPr>
          <p:nvPr/>
        </p:nvSpPr>
        <p:spPr bwMode="auto">
          <a:xfrm>
            <a:off x="5429250" y="1201738"/>
            <a:ext cx="1285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kern="1200">
                <a:solidFill>
                  <a:prstClr val="white"/>
                </a:solidFill>
                <a:latin typeface="Calibri" pitchFamily="34" charset="0"/>
                <a:ea typeface="+mn-ea"/>
                <a:cs typeface="Arial" charset="0"/>
              </a:rPr>
              <a:t>Model</a:t>
            </a:r>
          </a:p>
        </p:txBody>
      </p:sp>
      <p:sp>
        <p:nvSpPr>
          <p:cNvPr id="10250" name="TextBox 14"/>
          <p:cNvSpPr txBox="1">
            <a:spLocks noChangeArrowheads="1"/>
          </p:cNvSpPr>
          <p:nvPr/>
        </p:nvSpPr>
        <p:spPr bwMode="auto">
          <a:xfrm>
            <a:off x="-142875" y="6286500"/>
            <a:ext cx="3071813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sz="1200" kern="1200">
                <a:solidFill>
                  <a:prstClr val="white"/>
                </a:solidFill>
                <a:latin typeface="Calibri" pitchFamily="34" charset="0"/>
                <a:ea typeface="+mn-ea"/>
                <a:cs typeface="Arial" charset="0"/>
              </a:rPr>
              <a:t>Model (poloidal cross-section)</a:t>
            </a:r>
          </a:p>
        </p:txBody>
      </p:sp>
      <p:sp>
        <p:nvSpPr>
          <p:cNvPr id="10251" name="TextBox 15"/>
          <p:cNvSpPr txBox="1">
            <a:spLocks noChangeArrowheads="1"/>
          </p:cNvSpPr>
          <p:nvPr/>
        </p:nvSpPr>
        <p:spPr bwMode="auto">
          <a:xfrm>
            <a:off x="2857500" y="6264275"/>
            <a:ext cx="22145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sz="1400" kern="1200">
                <a:solidFill>
                  <a:prstClr val="white"/>
                </a:solidFill>
                <a:latin typeface="Calibri" pitchFamily="34" charset="0"/>
                <a:ea typeface="+mn-ea"/>
                <a:cs typeface="Arial" charset="0"/>
              </a:rPr>
              <a:t>Image (DC removed)</a:t>
            </a:r>
          </a:p>
        </p:txBody>
      </p:sp>
      <p:sp>
        <p:nvSpPr>
          <p:cNvPr id="10258" name="TextBox 29"/>
          <p:cNvSpPr txBox="1">
            <a:spLocks noChangeArrowheads="1"/>
          </p:cNvSpPr>
          <p:nvPr/>
        </p:nvSpPr>
        <p:spPr bwMode="auto">
          <a:xfrm>
            <a:off x="5715000" y="5286375"/>
            <a:ext cx="22860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AU" kern="1200">
                <a:solidFill>
                  <a:prstClr val="white"/>
                </a:solidFill>
                <a:latin typeface="Calibri" pitchFamily="34" charset="0"/>
                <a:ea typeface="+mn-ea"/>
                <a:cs typeface="Arial" charset="0"/>
              </a:rPr>
              <a:t>Result of asymmetry (plasma not central in camera view)</a:t>
            </a:r>
          </a:p>
        </p:txBody>
      </p:sp>
      <p:pic>
        <p:nvPicPr>
          <p:cNvPr id="29" name="Picture 28" descr="mode_tomo_views.jpg"/>
          <p:cNvPicPr>
            <a:picLocks noChangeAspect="1"/>
          </p:cNvPicPr>
          <p:nvPr/>
        </p:nvPicPr>
        <p:blipFill>
          <a:blip r:embed="rId3">
            <a:lum bright="-40000" contrast="54000"/>
          </a:blip>
          <a:srcRect l="2557" t="7979"/>
          <a:stretch>
            <a:fillRect/>
          </a:stretch>
        </p:blipFill>
        <p:spPr>
          <a:xfrm>
            <a:off x="5857884" y="1000109"/>
            <a:ext cx="3286116" cy="2295720"/>
          </a:xfrm>
          <a:prstGeom prst="rect">
            <a:avLst/>
          </a:prstGeom>
        </p:spPr>
      </p:pic>
      <p:pic>
        <p:nvPicPr>
          <p:cNvPr id="30" name="Picture 29" descr="mode_tomo_data.jpg"/>
          <p:cNvPicPr>
            <a:picLocks noChangeAspect="1"/>
          </p:cNvPicPr>
          <p:nvPr/>
        </p:nvPicPr>
        <p:blipFill>
          <a:blip r:embed="rId4">
            <a:lum bright="-53000" contrast="69000"/>
          </a:blip>
          <a:stretch>
            <a:fillRect/>
          </a:stretch>
        </p:blipFill>
        <p:spPr>
          <a:xfrm>
            <a:off x="285720" y="3286124"/>
            <a:ext cx="8277129" cy="32861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860" y="5857892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Sin/</a:t>
            </a:r>
            <a:r>
              <a:rPr lang="en-US" dirty="0" err="1" smtClean="0"/>
              <a:t>cos</a:t>
            </a:r>
            <a:r>
              <a:rPr lang="en-US" dirty="0" smtClean="0"/>
              <a:t> </a:t>
            </a:r>
            <a:r>
              <a:rPr lang="en-US" dirty="0" err="1" smtClean="0"/>
              <a:t>cpts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7500958" y="3929066"/>
            <a:ext cx="1643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and reconstruction</a:t>
            </a:r>
            <a:endParaRPr lang="en-AU" dirty="0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643446"/>
            <a:ext cx="1857356" cy="2214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6"/>
          <a:srcRect l="8571" t="8179" r="2926" b="14110"/>
          <a:stretch>
            <a:fillRect/>
          </a:stretch>
        </p:blipFill>
        <p:spPr bwMode="auto">
          <a:xfrm>
            <a:off x="6931168" y="428604"/>
            <a:ext cx="2212832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TextBox 35"/>
          <p:cNvSpPr txBox="1"/>
          <p:nvPr/>
        </p:nvSpPr>
        <p:spPr>
          <a:xfrm>
            <a:off x="2444214" y="6335880"/>
            <a:ext cx="6500858" cy="4206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0.4		   0.6	</a:t>
            </a:r>
            <a:r>
              <a:rPr lang="en-US" sz="3200" baseline="-25000" dirty="0" smtClean="0"/>
              <a:t>(r/a)</a:t>
            </a:r>
            <a:r>
              <a:rPr lang="en-US" dirty="0" smtClean="0"/>
              <a:t>	       0.8	                    1.0</a:t>
            </a:r>
            <a:endParaRPr lang="en-AU" dirty="0"/>
          </a:p>
        </p:txBody>
      </p:sp>
      <p:sp>
        <p:nvSpPr>
          <p:cNvPr id="37" name="TextBox 36"/>
          <p:cNvSpPr txBox="1"/>
          <p:nvPr/>
        </p:nvSpPr>
        <p:spPr>
          <a:xfrm>
            <a:off x="6572264" y="5786454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Peaked at r/a ~0.7</a:t>
            </a:r>
            <a:endParaRPr lang="en-AU" dirty="0"/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500644" y="0"/>
            <a:ext cx="36433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AU" sz="2400" b="1" dirty="0" smtClean="0">
                <a:solidFill>
                  <a:srgbClr val="FF0000"/>
                </a:solidFill>
              </a:rPr>
              <a:t>John Howard, Jesse </a:t>
            </a:r>
            <a:r>
              <a:rPr lang="en-AU" sz="2400" b="1" dirty="0">
                <a:solidFill>
                  <a:srgbClr val="FF0000"/>
                </a:solidFill>
              </a:rPr>
              <a:t>Read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 smtClean="0"/>
              <a:t>Alfvén Eigenmode structure in H-1</a:t>
            </a:r>
            <a:endParaRPr lang="en-AU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5257808" cy="476886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/>
              <a:t>Compare cylindrical mode with optical emission measurements</a:t>
            </a:r>
          </a:p>
          <a:p>
            <a:pPr>
              <a:buNone/>
            </a:pPr>
            <a:r>
              <a:rPr lang="en-US" sz="2000" dirty="0" smtClean="0"/>
              <a:t>Test functions for development of a Bayesian method to fit CAS3D modes to experiment.</a:t>
            </a:r>
          </a:p>
          <a:p>
            <a:pPr>
              <a:buNone/>
            </a:pPr>
            <a:endParaRPr lang="en-AU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928934"/>
            <a:ext cx="4643470" cy="2860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3570" y="1492371"/>
            <a:ext cx="3071834" cy="4620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72000" y="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John Howard, Jason Bertram, Matthew Hole</a:t>
            </a:r>
            <a:endParaRPr lang="en-AU" dirty="0"/>
          </a:p>
        </p:txBody>
      </p:sp>
      <p:pic>
        <p:nvPicPr>
          <p:cNvPr id="7" name="Picture 6" descr="H1_mode_3_and_4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71" y="1214422"/>
            <a:ext cx="6608015" cy="5286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2000"/>
            <a:lum/>
          </a:blip>
          <a:srcRect/>
          <a:stretch>
            <a:fillRect l="30000" t="15000" b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7" y="0"/>
            <a:ext cx="6357982" cy="11430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7030A0"/>
                </a:solidFill>
              </a:rPr>
              <a:t>The Australian Plasma Fusion Facility:  </a:t>
            </a:r>
            <a:br>
              <a:rPr lang="en-US" sz="2800" b="1" dirty="0" smtClean="0">
                <a:solidFill>
                  <a:srgbClr val="7030A0"/>
                </a:solidFill>
              </a:rPr>
            </a:br>
            <a:r>
              <a:rPr lang="en-US" sz="2800" b="1" dirty="0" smtClean="0">
                <a:solidFill>
                  <a:srgbClr val="7030A0"/>
                </a:solidFill>
              </a:rPr>
              <a:t>Results and Upgrade Plans</a:t>
            </a:r>
            <a:endParaRPr lang="en-US" sz="2800" dirty="0" smtClean="0">
              <a:solidFill>
                <a:srgbClr val="7030A0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14422"/>
            <a:ext cx="8893175" cy="5089525"/>
          </a:xfrm>
        </p:spPr>
        <p:txBody>
          <a:bodyPr>
            <a:normAutofit fontScale="92500" lnSpcReduction="10000"/>
          </a:bodyPr>
          <a:lstStyle/>
          <a:p>
            <a:pPr lvl="0"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H-1 Plasma and Facility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Plasma configurations, parameters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Facility Upgrade</a:t>
            </a:r>
          </a:p>
          <a:p>
            <a:pPr marL="342900" lvl="1" indent="-342900"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	  </a:t>
            </a: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Aims</a:t>
            </a:r>
            <a:b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  Key areas</a:t>
            </a:r>
          </a:p>
          <a:p>
            <a:pPr marL="342900" lvl="1" indent="-342900"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	  New diagnostics for Upgrade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Recent Results: MHD Modes in H-1</a:t>
            </a:r>
          </a:p>
          <a:p>
            <a:pPr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	  Data mining</a:t>
            </a:r>
            <a:endParaRPr lang="en-US" sz="2200" b="1" dirty="0" smtClean="0">
              <a:solidFill>
                <a:schemeClr val="bg1">
                  <a:lumMod val="75000"/>
                </a:schemeClr>
              </a:solidFill>
            </a:endParaRP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Alfvénic Scaling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Optical Measurements</a:t>
            </a:r>
          </a:p>
          <a:p>
            <a:pPr lvl="1">
              <a:buFontTx/>
              <a:buNone/>
            </a:pPr>
            <a:r>
              <a:rPr lang="en-US" sz="1800" b="1" dirty="0" smtClean="0">
                <a:solidFill>
                  <a:schemeClr val="bg1">
                    <a:lumMod val="75000"/>
                  </a:schemeClr>
                </a:solidFill>
              </a:rPr>
              <a:t>Radial Structure</a:t>
            </a:r>
          </a:p>
          <a:p>
            <a:pPr>
              <a:buFontTx/>
              <a:buNone/>
            </a:pPr>
            <a:r>
              <a:rPr lang="en-US" sz="2200" b="1" dirty="0" smtClean="0"/>
              <a:t>Stellarator Fusion </a:t>
            </a:r>
          </a:p>
          <a:p>
            <a:pPr lvl="1">
              <a:buFontTx/>
              <a:buNone/>
            </a:pPr>
            <a:r>
              <a:rPr lang="en-US" sz="1800" b="1" dirty="0" smtClean="0"/>
              <a:t>Recent Progress</a:t>
            </a:r>
          </a:p>
          <a:p>
            <a:pPr lvl="1">
              <a:buFontTx/>
              <a:buNone/>
            </a:pPr>
            <a:r>
              <a:rPr lang="en-US" sz="1800" b="1" dirty="0" smtClean="0"/>
              <a:t>Reactor Considerations </a:t>
            </a:r>
          </a:p>
          <a:p>
            <a:pPr>
              <a:buFontTx/>
              <a:buNone/>
            </a:pPr>
            <a:r>
              <a:rPr lang="en-US" sz="2200" b="1" dirty="0" smtClean="0">
                <a:solidFill>
                  <a:schemeClr val="bg1">
                    <a:lumMod val="75000"/>
                  </a:schemeClr>
                </a:solidFill>
              </a:rPr>
              <a:t>Conclusions/Future</a:t>
            </a:r>
          </a:p>
          <a:p>
            <a:pPr>
              <a:buFontTx/>
              <a:buNone/>
            </a:pPr>
            <a:endParaRPr lang="en-US" sz="2200" b="1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715375" y="6643688"/>
            <a:ext cx="428625" cy="214312"/>
          </a:xfrm>
          <a:noFill/>
        </p:spPr>
        <p:txBody>
          <a:bodyPr/>
          <a:lstStyle/>
          <a:p>
            <a:fld id="{D132E384-F889-48D0-BD47-7EF7ED215D37}" type="slidenum">
              <a:rPr lang="en-US"/>
              <a:pPr/>
              <a:t>39</a:t>
            </a:fld>
            <a:endParaRPr 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/>
          <a:srcRect b="15305"/>
          <a:stretch>
            <a:fillRect/>
          </a:stretch>
        </p:blipFill>
        <p:spPr bwMode="auto">
          <a:xfrm>
            <a:off x="6804025" y="142852"/>
            <a:ext cx="23399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5"/>
          <p:cNvSpPr txBox="1">
            <a:spLocks noChangeArrowheads="1"/>
          </p:cNvSpPr>
          <p:nvPr/>
        </p:nvSpPr>
        <p:spPr bwMode="auto">
          <a:xfrm>
            <a:off x="31813" y="172528"/>
            <a:ext cx="9144000" cy="58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00" tIns="45702" rIns="91400" bIns="45702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rgbClr val="4D0BC5"/>
                </a:solidFill>
                <a:latin typeface="Arial" pitchFamily="34" charset="0"/>
              </a:rPr>
              <a:t>Substantial progress over the last 3 decades</a:t>
            </a:r>
            <a:endParaRPr lang="en-US" sz="3200" dirty="0">
              <a:solidFill>
                <a:srgbClr val="4D0BC5"/>
              </a:solidFill>
              <a:latin typeface="Arial" pitchFamily="34" charset="0"/>
            </a:endParaRPr>
          </a:p>
        </p:txBody>
      </p:sp>
      <p:sp>
        <p:nvSpPr>
          <p:cNvPr id="28675" name="Line 6"/>
          <p:cNvSpPr>
            <a:spLocks noChangeShapeType="1"/>
          </p:cNvSpPr>
          <p:nvPr/>
        </p:nvSpPr>
        <p:spPr bwMode="auto">
          <a:xfrm>
            <a:off x="0" y="785794"/>
            <a:ext cx="9144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1400" tIns="45702" rIns="91400" bIns="45702"/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8676" name="Text Box 7"/>
          <p:cNvSpPr txBox="1">
            <a:spLocks noChangeArrowheads="1"/>
          </p:cNvSpPr>
          <p:nvPr/>
        </p:nvSpPr>
        <p:spPr bwMode="auto">
          <a:xfrm>
            <a:off x="1" y="5302638"/>
            <a:ext cx="8140289" cy="1605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00" tIns="45702" rIns="91400" bIns="45702">
            <a:spAutoFit/>
          </a:bodyPr>
          <a:lstStyle/>
          <a:p>
            <a:pPr marL="342619" indent="-342619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15000"/>
              <a:buFontTx/>
              <a:buChar char="•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For a fusion power plant, we need to improve the confinement time</a:t>
            </a:r>
            <a:endParaRPr lang="en-US" sz="2000" dirty="0">
              <a:solidFill>
                <a:srgbClr val="000000"/>
              </a:solidFill>
              <a:latin typeface="Arial" pitchFamily="34" charset="0"/>
            </a:endParaRPr>
          </a:p>
          <a:p>
            <a:pPr marL="342619" indent="-342619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115000"/>
              <a:buFontTx/>
              <a:buChar char="•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Two ways to increase the confinement time:</a:t>
            </a:r>
          </a:p>
          <a:p>
            <a:pPr marL="799819" lvl="1" indent="-342619" eaLnBrk="0" fontAlgn="base" hangingPunct="0">
              <a:spcBef>
                <a:spcPct val="15000"/>
              </a:spcBef>
              <a:spcAft>
                <a:spcPct val="0"/>
              </a:spcAft>
              <a:buFontTx/>
              <a:buAutoNum type="arabicPeriod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Improve the effectiveness of the magnetic bottle</a:t>
            </a:r>
          </a:p>
          <a:p>
            <a:pPr marL="799819" lvl="1" indent="-342619" eaLnBrk="0" fontAlgn="base" hangingPunct="0">
              <a:spcBef>
                <a:spcPct val="15000"/>
              </a:spcBef>
              <a:spcAft>
                <a:spcPct val="0"/>
              </a:spcAft>
              <a:buFontTx/>
              <a:buAutoNum type="arabicPeriod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Make the device larger</a:t>
            </a:r>
            <a:endParaRPr lang="en-US" sz="20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28677" name="Text Box 36"/>
          <p:cNvSpPr txBox="1">
            <a:spLocks noChangeArrowheads="1"/>
          </p:cNvSpPr>
          <p:nvPr/>
        </p:nvSpPr>
        <p:spPr bwMode="auto">
          <a:xfrm>
            <a:off x="0" y="1000108"/>
            <a:ext cx="5009760" cy="1354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00" tIns="45702" rIns="91400" bIns="45702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15000"/>
              <a:buFontTx/>
              <a:buChar char="•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 The three requirements:</a:t>
            </a:r>
          </a:p>
          <a:p>
            <a:pPr marL="414597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15000"/>
              <a:buFont typeface="Arial" pitchFamily="34" charset="0"/>
              <a:buChar char="–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 temperature</a:t>
            </a:r>
          </a:p>
          <a:p>
            <a:pPr marL="414597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15000"/>
              <a:buFont typeface="Arial" pitchFamily="34" charset="0"/>
              <a:buChar char="–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 density</a:t>
            </a:r>
          </a:p>
          <a:p>
            <a:pPr marL="414597"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115000"/>
              <a:buFont typeface="Arial" pitchFamily="34" charset="0"/>
              <a:buChar char="–"/>
            </a:pPr>
            <a:r>
              <a:rPr lang="en-GB" sz="2000" dirty="0">
                <a:solidFill>
                  <a:srgbClr val="000000"/>
                </a:solidFill>
                <a:latin typeface="Arial" pitchFamily="34" charset="0"/>
              </a:rPr>
              <a:t> confinement time</a:t>
            </a:r>
          </a:p>
        </p:txBody>
      </p:sp>
      <p:pic>
        <p:nvPicPr>
          <p:cNvPr id="28678" name="Picture 3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8926" y="981118"/>
            <a:ext cx="5572164" cy="4339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50"/>
          <p:cNvSpPr>
            <a:spLocks noChangeArrowheads="1"/>
          </p:cNvSpPr>
          <p:nvPr/>
        </p:nvSpPr>
        <p:spPr bwMode="auto">
          <a:xfrm>
            <a:off x="4714876" y="3000372"/>
            <a:ext cx="131360" cy="127494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82918" tIns="41460" rIns="82918" bIns="41460"/>
          <a:lstStyle/>
          <a:p>
            <a:pPr defTabSz="827755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22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8" name="TextBox 52"/>
          <p:cNvSpPr txBox="1">
            <a:spLocks noChangeArrowheads="1"/>
          </p:cNvSpPr>
          <p:nvPr/>
        </p:nvSpPr>
        <p:spPr bwMode="auto">
          <a:xfrm>
            <a:off x="5194080" y="2806858"/>
            <a:ext cx="1451520" cy="419084"/>
          </a:xfrm>
          <a:prstGeom prst="rect">
            <a:avLst/>
          </a:prstGeom>
          <a:solidFill>
            <a:srgbClr val="EDFB67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82918" tIns="41460" rIns="82918" bIns="41460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</a:rPr>
              <a:t>LHD 2008</a:t>
            </a:r>
            <a:endParaRPr lang="en-AU" sz="2200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/>
          <p:cNvPicPr>
            <a:picLocks noChangeAspect="1" noChangeArrowheads="1"/>
          </p:cNvPicPr>
          <p:nvPr/>
        </p:nvPicPr>
        <p:blipFill>
          <a:blip r:embed="rId3"/>
          <a:srcRect l="5727" b="14378"/>
          <a:stretch>
            <a:fillRect/>
          </a:stretch>
        </p:blipFill>
        <p:spPr bwMode="auto">
          <a:xfrm>
            <a:off x="1520640" y="1382548"/>
            <a:ext cx="5726880" cy="4349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1451521" y="5944947"/>
            <a:ext cx="6315760" cy="42229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lIns="82902" tIns="41451" rIns="82902" bIns="41451">
            <a:spAutoFit/>
          </a:bodyPr>
          <a:lstStyle/>
          <a:p>
            <a:pPr defTabSz="82775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</a:rPr>
              <a:t>Fusion progress exceeds Moore’s law scaling</a:t>
            </a:r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4284001" y="1520800"/>
            <a:ext cx="3803040" cy="345636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lIns="82902" tIns="41451" rIns="82902" bIns="41451" anchor="ctr"/>
          <a:lstStyle/>
          <a:p>
            <a:pPr algn="r" defTabSz="82775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</a:rPr>
              <a:t>ITER</a:t>
            </a:r>
          </a:p>
        </p:txBody>
      </p:sp>
      <p:sp>
        <p:nvSpPr>
          <p:cNvPr id="2970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83840" y="4"/>
            <a:ext cx="7796160" cy="1133399"/>
          </a:xfrm>
        </p:spPr>
        <p:txBody>
          <a:bodyPr/>
          <a:lstStyle/>
          <a:p>
            <a:pPr eaLnBrk="1">
              <a:lnSpc>
                <a:spcPct val="100000"/>
              </a:lnSpc>
            </a:pPr>
            <a:r>
              <a:rPr lang="en-GB" sz="2900" dirty="0" smtClean="0">
                <a:solidFill>
                  <a:srgbClr val="4D0BC5"/>
                </a:solidFill>
                <a:latin typeface="Arial" pitchFamily="34" charset="0"/>
              </a:rPr>
              <a:t>Progress comparison to # CPU transistors  per unit area on Si wafer</a:t>
            </a:r>
            <a:endParaRPr lang="en-US" dirty="0" smtClean="0">
              <a:solidFill>
                <a:srgbClr val="4D0BC5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435520" cy="884253"/>
          </a:xfrm>
        </p:spPr>
        <p:txBody>
          <a:bodyPr/>
          <a:lstStyle/>
          <a:p>
            <a:pPr algn="ctr"/>
            <a:r>
              <a:rPr lang="en-US" sz="3300" dirty="0" smtClean="0">
                <a:solidFill>
                  <a:srgbClr val="4D0BC5"/>
                </a:solidFill>
              </a:rPr>
              <a:t>What about the last 15 years?….</a:t>
            </a:r>
            <a:endParaRPr lang="en-AU" sz="4000" dirty="0" smtClean="0">
              <a:solidFill>
                <a:srgbClr val="4D0BC5"/>
              </a:solidFill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Politics of ITER agreement, cost</a:t>
            </a:r>
          </a:p>
          <a:p>
            <a:r>
              <a:rPr lang="en-US" dirty="0" smtClean="0"/>
              <a:t>Advanced modes of tokamak operation</a:t>
            </a:r>
          </a:p>
          <a:p>
            <a:pPr lvl="1"/>
            <a:r>
              <a:rPr lang="en-US" dirty="0" smtClean="0"/>
              <a:t>Eliminate transformer (</a:t>
            </a:r>
            <a:r>
              <a:rPr lang="en-US" dirty="0" err="1" smtClean="0"/>
              <a:t>necess</a:t>
            </a:r>
            <a:r>
              <a:rPr lang="en-US" dirty="0" smtClean="0"/>
              <a:t>. for continuous operation)</a:t>
            </a:r>
          </a:p>
          <a:p>
            <a:pPr lvl="1"/>
            <a:r>
              <a:rPr lang="en-US" dirty="0" smtClean="0"/>
              <a:t>Disruption/Instability/ELM control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Compact tokamaks (Compass, NSTX, MAST)</a:t>
            </a:r>
          </a:p>
          <a:p>
            <a:pPr lvl="1">
              <a:buFont typeface="Wingdings" pitchFamily="2" charset="2"/>
              <a:buNone/>
            </a:pPr>
            <a:r>
              <a:rPr lang="en-US" dirty="0" smtClean="0"/>
              <a:t>(Spherical tokamak for high beta)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Stellarators have made great progress</a:t>
            </a:r>
          </a:p>
          <a:p>
            <a:pPr lvl="1"/>
            <a:r>
              <a:rPr lang="en-US" dirty="0" smtClean="0"/>
              <a:t>Performance parameters</a:t>
            </a:r>
          </a:p>
          <a:p>
            <a:pPr lvl="1"/>
            <a:r>
              <a:rPr lang="en-US" dirty="0" smtClean="0"/>
              <a:t>Compact size (Aspect ratio halved)</a:t>
            </a:r>
          </a:p>
          <a:p>
            <a:pPr lvl="1"/>
            <a:r>
              <a:rPr lang="en-US" dirty="0" smtClean="0"/>
              <a:t>Quasi-symmetry improves confinement</a:t>
            </a:r>
          </a:p>
          <a:p>
            <a:pPr lvl="1"/>
            <a:endParaRPr lang="en-AU" dirty="0" smtClean="0"/>
          </a:p>
        </p:txBody>
      </p:sp>
      <p:pic>
        <p:nvPicPr>
          <p:cNvPr id="30724" name="Picture 39" descr="ART3D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853"/>
          <a:stretch>
            <a:fillRect/>
          </a:stretch>
        </p:blipFill>
        <p:spPr bwMode="auto">
          <a:xfrm>
            <a:off x="7066080" y="2875987"/>
            <a:ext cx="2077920" cy="2272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571472" y="214290"/>
            <a:ext cx="7796160" cy="1133399"/>
          </a:xfrm>
        </p:spPr>
        <p:txBody>
          <a:bodyPr/>
          <a:lstStyle/>
          <a:p>
            <a:r>
              <a:rPr lang="en-US" sz="36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Stellarators break Tokamak barriers in density, twist and </a:t>
            </a:r>
            <a:r>
              <a:rPr lang="en-US" sz="36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/(I/a.B</a:t>
            </a:r>
            <a:r>
              <a:rPr lang="en-US" sz="3600" baseline="-250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0</a:t>
            </a:r>
            <a:r>
              <a:rPr lang="en-US" sz="36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)</a:t>
            </a:r>
            <a:endParaRPr lang="en-AU" sz="3600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2771" name="Picture 2" descr="weller_2008_q_greenwald_density.png"/>
          <p:cNvPicPr>
            <a:picLocks noChangeAspect="1"/>
          </p:cNvPicPr>
          <p:nvPr/>
        </p:nvPicPr>
        <p:blipFill>
          <a:blip r:embed="rId3"/>
          <a:srcRect b="2243"/>
          <a:stretch>
            <a:fillRect/>
          </a:stretch>
        </p:blipFill>
        <p:spPr bwMode="auto">
          <a:xfrm>
            <a:off x="0" y="2023417"/>
            <a:ext cx="4838400" cy="483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2" name="Picture 3" descr="weller_2008_betanorm_greenwald_density.png"/>
          <p:cNvPicPr>
            <a:picLocks noChangeAspect="1"/>
          </p:cNvPicPr>
          <p:nvPr/>
        </p:nvPicPr>
        <p:blipFill>
          <a:blip r:embed="rId4"/>
          <a:srcRect l="3575" r="4518"/>
          <a:stretch>
            <a:fillRect/>
          </a:stretch>
        </p:blipFill>
        <p:spPr bwMode="auto">
          <a:xfrm>
            <a:off x="4720320" y="2043579"/>
            <a:ext cx="4423680" cy="48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 rot="16200000">
            <a:off x="-1055050" y="3841110"/>
            <a:ext cx="2571768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Twist (1/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q</a:t>
            </a:r>
            <a:r>
              <a:rPr lang="en-US" sz="2400" baseline="-25000" dirty="0" err="1" smtClean="0">
                <a:latin typeface="Arial" pitchFamily="34" charset="0"/>
                <a:cs typeface="Arial" pitchFamily="34" charset="0"/>
              </a:rPr>
              <a:t>cylindrical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</a:t>
            </a: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913121" y="2253837"/>
            <a:ext cx="5594400" cy="1866436"/>
            <a:chOff x="3211513" y="2484438"/>
            <a:chExt cx="6167437" cy="2057400"/>
          </a:xfrm>
        </p:grpSpPr>
        <p:sp>
          <p:nvSpPr>
            <p:cNvPr id="31754" name="Rounded Rectangle 3"/>
            <p:cNvSpPr>
              <a:spLocks noChangeArrowheads="1"/>
            </p:cNvSpPr>
            <p:nvPr/>
          </p:nvSpPr>
          <p:spPr bwMode="auto">
            <a:xfrm>
              <a:off x="8621863" y="4188942"/>
              <a:ext cx="757087" cy="352896"/>
            </a:xfrm>
            <a:prstGeom prst="roundRect">
              <a:avLst>
                <a:gd name="adj" fmla="val 16667"/>
              </a:avLst>
            </a:prstGeom>
            <a:solidFill>
              <a:srgbClr val="EDFB67">
                <a:alpha val="65097"/>
              </a:srgbClr>
            </a:solidFill>
            <a:ln w="9525" algn="ctr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pPr defTabSz="827669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200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1755" name="Rounded Rectangle 4"/>
            <p:cNvSpPr>
              <a:spLocks noChangeArrowheads="1"/>
            </p:cNvSpPr>
            <p:nvPr/>
          </p:nvSpPr>
          <p:spPr bwMode="auto">
            <a:xfrm>
              <a:off x="5980748" y="2841327"/>
              <a:ext cx="757087" cy="352896"/>
            </a:xfrm>
            <a:prstGeom prst="roundRect">
              <a:avLst>
                <a:gd name="adj" fmla="val 16667"/>
              </a:avLst>
            </a:prstGeom>
            <a:solidFill>
              <a:srgbClr val="EDFB67">
                <a:alpha val="65097"/>
              </a:srgbClr>
            </a:solidFill>
            <a:ln w="9525" algn="ctr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pPr defTabSz="827669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200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1756" name="Rounded Rectangle 5"/>
            <p:cNvSpPr>
              <a:spLocks noChangeArrowheads="1"/>
            </p:cNvSpPr>
            <p:nvPr/>
          </p:nvSpPr>
          <p:spPr bwMode="auto">
            <a:xfrm>
              <a:off x="4656908" y="3867540"/>
              <a:ext cx="757087" cy="352896"/>
            </a:xfrm>
            <a:prstGeom prst="roundRect">
              <a:avLst>
                <a:gd name="adj" fmla="val 16667"/>
              </a:avLst>
            </a:prstGeom>
            <a:solidFill>
              <a:srgbClr val="EDFB67">
                <a:alpha val="65097"/>
              </a:srgbClr>
            </a:solidFill>
            <a:ln w="9525" algn="ctr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pPr defTabSz="827669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200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1757" name="Rounded Rectangle 6"/>
            <p:cNvSpPr>
              <a:spLocks noChangeArrowheads="1"/>
            </p:cNvSpPr>
            <p:nvPr/>
          </p:nvSpPr>
          <p:spPr bwMode="auto">
            <a:xfrm>
              <a:off x="3211513" y="2484438"/>
              <a:ext cx="757087" cy="352896"/>
            </a:xfrm>
            <a:prstGeom prst="roundRect">
              <a:avLst>
                <a:gd name="adj" fmla="val 16667"/>
              </a:avLst>
            </a:prstGeom>
            <a:solidFill>
              <a:srgbClr val="EDFB67">
                <a:alpha val="65097"/>
              </a:srgbClr>
            </a:solidFill>
            <a:ln w="9525" algn="ctr">
              <a:solidFill>
                <a:srgbClr val="FF9900"/>
              </a:solidFill>
              <a:round/>
              <a:headEnd/>
              <a:tailEnd/>
            </a:ln>
          </p:spPr>
          <p:txBody>
            <a:bodyPr/>
            <a:lstStyle/>
            <a:p>
              <a:pPr defTabSz="827669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AU" sz="2200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sp>
        <p:nvSpPr>
          <p:cNvPr id="31747" name="Title 2"/>
          <p:cNvSpPr>
            <a:spLocks noGrp="1"/>
          </p:cNvSpPr>
          <p:nvPr>
            <p:ph type="title"/>
          </p:nvPr>
        </p:nvSpPr>
        <p:spPr>
          <a:xfrm>
            <a:off x="0" y="249151"/>
            <a:ext cx="9144000" cy="822396"/>
          </a:xfrm>
        </p:spPr>
        <p:txBody>
          <a:bodyPr/>
          <a:lstStyle/>
          <a:p>
            <a:r>
              <a:rPr lang="en-US" sz="3200" dirty="0" smtClean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Parameters achieved in the LHD Stellarator:2008</a:t>
            </a:r>
            <a:endParaRPr lang="en-AU" sz="3200" dirty="0" smtClean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748" name="Picture 1" descr="LHD_params_2008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7919"/>
          <a:stretch>
            <a:fillRect/>
          </a:stretch>
        </p:blipFill>
        <p:spPr bwMode="auto">
          <a:xfrm>
            <a:off x="0" y="1216929"/>
            <a:ext cx="9144000" cy="4840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5608800" y="4189403"/>
            <a:ext cx="3386880" cy="2705278"/>
            <a:chOff x="6183395" y="4618037"/>
            <a:chExt cx="3733718" cy="2982068"/>
          </a:xfrm>
        </p:grpSpPr>
        <p:sp>
          <p:nvSpPr>
            <p:cNvPr id="31751" name="TextBox 7"/>
            <p:cNvSpPr txBox="1">
              <a:spLocks noChangeArrowheads="1"/>
            </p:cNvSpPr>
            <p:nvPr/>
          </p:nvSpPr>
          <p:spPr bwMode="auto">
            <a:xfrm>
              <a:off x="6183395" y="6667121"/>
              <a:ext cx="3048084" cy="932984"/>
            </a:xfrm>
            <a:prstGeom prst="rect">
              <a:avLst/>
            </a:prstGeom>
            <a:solidFill>
              <a:srgbClr val="EDFB67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200" dirty="0" err="1">
                  <a:solidFill>
                    <a:srgbClr val="000000"/>
                  </a:solidFill>
                  <a:latin typeface="Arial" pitchFamily="34" charset="0"/>
                </a:rPr>
                <a:t>n</a:t>
              </a:r>
              <a:r>
                <a:rPr lang="en-US" sz="2200" baseline="-25000" dirty="0" err="1">
                  <a:solidFill>
                    <a:srgbClr val="000000"/>
                  </a:solidFill>
                  <a:latin typeface="Arial" pitchFamily="34" charset="0"/>
                </a:rPr>
                <a:t>e</a:t>
              </a:r>
              <a:r>
                <a:rPr lang="en-US" sz="2500" dirty="0" err="1">
                  <a:solidFill>
                    <a:srgbClr val="000000"/>
                  </a:solidFill>
                  <a:latin typeface="Arial" pitchFamily="34" charset="0"/>
                  <a:sym typeface="Symbol" pitchFamily="18" charset="2"/>
                </a:rPr>
                <a:t></a:t>
              </a:r>
              <a:r>
                <a:rPr lang="en-US" sz="2500" baseline="-25000" dirty="0" err="1">
                  <a:solidFill>
                    <a:srgbClr val="000000"/>
                  </a:solidFill>
                  <a:latin typeface="Arial" pitchFamily="34" charset="0"/>
                  <a:sym typeface="Symbol" pitchFamily="18" charset="2"/>
                </a:rPr>
                <a:t>E</a:t>
              </a:r>
              <a:r>
                <a:rPr lang="en-US" sz="2200" dirty="0" err="1">
                  <a:solidFill>
                    <a:srgbClr val="000000"/>
                  </a:solidFill>
                  <a:latin typeface="Arial" pitchFamily="34" charset="0"/>
                </a:rPr>
                <a:t>T</a:t>
              </a:r>
              <a:r>
                <a:rPr lang="en-US" sz="2200" baseline="-25000" dirty="0" err="1">
                  <a:solidFill>
                    <a:srgbClr val="000000"/>
                  </a:solidFill>
                  <a:latin typeface="Arial" pitchFamily="34" charset="0"/>
                </a:rPr>
                <a:t>i</a:t>
              </a:r>
              <a:r>
                <a:rPr lang="en-US" sz="2200" baseline="-25000" dirty="0">
                  <a:solidFill>
                    <a:srgbClr val="000000"/>
                  </a:solidFill>
                  <a:latin typeface="Arial" pitchFamily="34" charset="0"/>
                </a:rPr>
                <a:t>  </a:t>
              </a:r>
              <a:r>
                <a:rPr lang="en-US" sz="2200" dirty="0">
                  <a:solidFill>
                    <a:srgbClr val="000000"/>
                  </a:solidFill>
                  <a:latin typeface="Arial" pitchFamily="34" charset="0"/>
                </a:rPr>
                <a:t>~ 0.25 x10</a:t>
              </a:r>
              <a:r>
                <a:rPr lang="en-US" sz="2200" baseline="30000" dirty="0">
                  <a:solidFill>
                    <a:srgbClr val="000000"/>
                  </a:solidFill>
                  <a:latin typeface="Arial" pitchFamily="34" charset="0"/>
                </a:rPr>
                <a:t>20</a:t>
              </a:r>
            </a:p>
            <a:p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200" dirty="0">
                  <a:solidFill>
                    <a:srgbClr val="000000"/>
                  </a:solidFill>
                  <a:latin typeface="Arial" pitchFamily="34" charset="0"/>
                </a:rPr>
                <a:t>~ 40x short of Q~1</a:t>
              </a:r>
              <a:endParaRPr lang="en-AU" sz="2200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sp>
          <p:nvSpPr>
            <p:cNvPr id="31752" name="TextBox 7"/>
            <p:cNvSpPr txBox="1">
              <a:spLocks noChangeArrowheads="1"/>
            </p:cNvSpPr>
            <p:nvPr/>
          </p:nvSpPr>
          <p:spPr bwMode="auto">
            <a:xfrm>
              <a:off x="8262897" y="5684837"/>
              <a:ext cx="1654216" cy="707886"/>
            </a:xfrm>
            <a:prstGeom prst="rect">
              <a:avLst/>
            </a:prstGeom>
            <a:solidFill>
              <a:srgbClr val="EDFB67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Arial" pitchFamily="34" charset="0"/>
                </a:rPr>
                <a:t>80x W7AS, 10 x short</a:t>
              </a:r>
              <a:endParaRPr lang="en-AU" dirty="0">
                <a:solidFill>
                  <a:srgbClr val="000000"/>
                </a:solidFill>
                <a:latin typeface="Arial" pitchFamily="34" charset="0"/>
              </a:endParaRPr>
            </a:p>
          </p:txBody>
        </p:sp>
        <p:cxnSp>
          <p:nvCxnSpPr>
            <p:cNvPr id="31753" name="Straight Arrow Connector 12"/>
            <p:cNvCxnSpPr>
              <a:cxnSpLocks noChangeShapeType="1"/>
            </p:cNvCxnSpPr>
            <p:nvPr/>
          </p:nvCxnSpPr>
          <p:spPr bwMode="auto">
            <a:xfrm rot="16200000" flipV="1">
              <a:off x="9002712" y="4999037"/>
              <a:ext cx="990600" cy="228600"/>
            </a:xfrm>
            <a:prstGeom prst="straightConnector1">
              <a:avLst/>
            </a:prstGeom>
            <a:noFill/>
            <a:ln w="31750" algn="ctr">
              <a:solidFill>
                <a:schemeClr val="tx1"/>
              </a:solidFill>
              <a:round/>
              <a:headEnd/>
              <a:tailEnd type="stealth" w="lg" len="lg"/>
            </a:ln>
          </p:spPr>
        </p:cxnSp>
      </p:grpSp>
      <p:sp>
        <p:nvSpPr>
          <p:cNvPr id="31750" name="TextBox 7"/>
          <p:cNvSpPr txBox="1">
            <a:spLocks noChangeArrowheads="1"/>
          </p:cNvSpPr>
          <p:nvPr/>
        </p:nvSpPr>
        <p:spPr bwMode="auto">
          <a:xfrm>
            <a:off x="2567524" y="5848455"/>
            <a:ext cx="1575847" cy="637717"/>
          </a:xfrm>
          <a:prstGeom prst="rect">
            <a:avLst/>
          </a:prstGeom>
          <a:solidFill>
            <a:srgbClr val="EDFB67"/>
          </a:solidFill>
          <a:ln w="9525">
            <a:noFill/>
            <a:miter lim="800000"/>
            <a:headEnd/>
            <a:tailEnd/>
          </a:ln>
        </p:spPr>
        <p:txBody>
          <a:bodyPr wrap="square" lIns="82910" tIns="41455" rIns="82910" bIns="41455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Neutral Beam</a:t>
            </a:r>
            <a:br>
              <a:rPr lang="en-US" dirty="0" smtClean="0">
                <a:solidFill>
                  <a:srgbClr val="000000"/>
                </a:solidFill>
                <a:latin typeface="Arial" pitchFamily="34" charset="0"/>
              </a:rPr>
            </a:br>
            <a:r>
              <a:rPr lang="en-US" dirty="0" smtClean="0">
                <a:solidFill>
                  <a:srgbClr val="000000"/>
                </a:solidFill>
                <a:latin typeface="Arial" pitchFamily="34" charset="0"/>
              </a:rPr>
              <a:t>Injection</a:t>
            </a:r>
            <a:endParaRPr lang="en-AU" dirty="0">
              <a:solidFill>
                <a:srgbClr val="000000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9520" y="249147"/>
            <a:ext cx="8064000" cy="894333"/>
          </a:xfrm>
        </p:spPr>
        <p:txBody>
          <a:bodyPr>
            <a:normAutofit fontScale="90000"/>
          </a:bodyPr>
          <a:lstStyle/>
          <a:p>
            <a:r>
              <a:rPr lang="en-US" smtClean="0"/>
              <a:t>Stellarator Reactors: ITER successor?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000" y="1126198"/>
            <a:ext cx="7963899" cy="57318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The Breakthrough (’80s)  3D MHD, and inverse </a:t>
            </a:r>
            <a:r>
              <a:rPr lang="en-US" sz="2000" b="1" dirty="0" smtClean="0"/>
              <a:t>problem, quasi-symmetry</a:t>
            </a:r>
            <a:endParaRPr lang="en-US" sz="20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	</a:t>
            </a:r>
            <a:r>
              <a:rPr lang="en-US" sz="1800" dirty="0" err="1"/>
              <a:t>Garabedian</a:t>
            </a:r>
            <a:r>
              <a:rPr lang="en-US" sz="1800" dirty="0"/>
              <a:t>, </a:t>
            </a:r>
            <a:r>
              <a:rPr lang="en-US" sz="1800" dirty="0" err="1"/>
              <a:t>Nuhrenberg</a:t>
            </a:r>
            <a:r>
              <a:rPr lang="en-US" sz="1800" dirty="0"/>
              <a:t>, </a:t>
            </a:r>
            <a:r>
              <a:rPr lang="en-US" sz="1800" dirty="0" err="1"/>
              <a:t>Hirshman</a:t>
            </a:r>
            <a:r>
              <a:rPr lang="en-US" sz="1800" dirty="0"/>
              <a:t>, Merkel, </a:t>
            </a:r>
            <a:r>
              <a:rPr lang="en-US" sz="1800" b="1" dirty="0">
                <a:solidFill>
                  <a:srgbClr val="008000"/>
                </a:solidFill>
              </a:rPr>
              <a:t>Dewar</a:t>
            </a:r>
            <a:r>
              <a:rPr lang="en-US" sz="1800" dirty="0"/>
              <a:t>……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The Promise</a:t>
            </a:r>
            <a:r>
              <a:rPr lang="en-US" sz="2000" dirty="0"/>
              <a:t>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Continuous operation</a:t>
            </a:r>
            <a:br>
              <a:rPr lang="en-US" sz="1800" dirty="0"/>
            </a:br>
            <a:r>
              <a:rPr lang="en-US" sz="1800" dirty="0"/>
              <a:t>(no transformer)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No Disruptive Instabilities</a:t>
            </a:r>
            <a:br>
              <a:rPr lang="en-US" sz="1800" dirty="0"/>
            </a:br>
            <a:r>
              <a:rPr lang="en-US" sz="1800" dirty="0"/>
              <a:t>(no plasma current)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smtClean="0"/>
              <a:t>Quasi-symmetry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smtClean="0"/>
              <a:t>	(good confinement)</a:t>
            </a:r>
            <a:endParaRPr lang="en-US" sz="1800" dirty="0"/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smtClean="0"/>
              <a:t>The </a:t>
            </a:r>
            <a:r>
              <a:rPr lang="en-US" sz="2000" b="1" dirty="0"/>
              <a:t>Concept: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ARIES CS: compact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/>
              <a:t>stellarator reactor</a:t>
            </a:r>
            <a:r>
              <a:rPr lang="en-US" sz="18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 err="1"/>
              <a:t>P</a:t>
            </a:r>
            <a:r>
              <a:rPr lang="en-US" sz="2000" baseline="-25000" dirty="0" err="1"/>
              <a:t>Thermal</a:t>
            </a:r>
            <a:r>
              <a:rPr lang="en-US" sz="1800" dirty="0"/>
              <a:t>: 2GW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Radius:  8.3M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/>
              <a:t>Magnetic Field </a:t>
            </a:r>
            <a:br>
              <a:rPr lang="en-US" sz="1800" dirty="0"/>
            </a:br>
            <a:r>
              <a:rPr lang="en-US" sz="1800" dirty="0"/>
              <a:t>14.4/5.3T</a:t>
            </a:r>
          </a:p>
          <a:p>
            <a:endParaRPr lang="en-US" dirty="0" smtClean="0"/>
          </a:p>
        </p:txBody>
      </p:sp>
      <p:pic>
        <p:nvPicPr>
          <p:cNvPr id="54276" name="Picture 4" descr="acs-0505-powercore-asm copy"/>
          <p:cNvPicPr>
            <a:picLocks noChangeAspect="1" noChangeArrowheads="1"/>
          </p:cNvPicPr>
          <p:nvPr/>
        </p:nvPicPr>
        <p:blipFill>
          <a:blip r:embed="rId3" cstate="print"/>
          <a:srcRect t="1848"/>
          <a:stretch>
            <a:fillRect/>
          </a:stretch>
        </p:blipFill>
        <p:spPr bwMode="auto">
          <a:xfrm>
            <a:off x="2598018" y="2060858"/>
            <a:ext cx="6545982" cy="4797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1082880" y="0"/>
            <a:ext cx="8061120" cy="1143480"/>
          </a:xfrm>
        </p:spPr>
        <p:txBody>
          <a:bodyPr>
            <a:normAutofit fontScale="90000"/>
          </a:bodyPr>
          <a:lstStyle/>
          <a:p>
            <a:r>
              <a:rPr lang="en-US" smtClean="0"/>
              <a:t>Stellarator Reactors: Challenge of Size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560" y="2930708"/>
            <a:ext cx="7992000" cy="191108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ARIES CS compact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stellarator </a:t>
            </a:r>
            <a:r>
              <a:rPr lang="en-US" sz="2000" dirty="0" err="1"/>
              <a:t>rea</a:t>
            </a:r>
            <a:endParaRPr lang="en-US" sz="2000" dirty="0"/>
          </a:p>
        </p:txBody>
      </p:sp>
      <p:pic>
        <p:nvPicPr>
          <p:cNvPr id="55301" name="Picture 5" descr="Untitled-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4641" y="1192445"/>
            <a:ext cx="7431840" cy="3071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5440" y="4321894"/>
            <a:ext cx="1098720" cy="1088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3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1440" y="4346377"/>
            <a:ext cx="1022400" cy="1057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22560" y="4317574"/>
            <a:ext cx="1090080" cy="107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5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474560" y="4307493"/>
            <a:ext cx="1149120" cy="1085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6" name="Line 10"/>
          <p:cNvSpPr>
            <a:spLocks noChangeShapeType="1"/>
          </p:cNvSpPr>
          <p:nvPr/>
        </p:nvSpPr>
        <p:spPr bwMode="auto">
          <a:xfrm flipH="1" flipV="1">
            <a:off x="5886720" y="3430440"/>
            <a:ext cx="316800" cy="8540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0" tIns="45715" rIns="91430" bIns="45715"/>
          <a:lstStyle/>
          <a:p>
            <a:endParaRPr lang="en-AU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 flipH="1" flipV="1">
            <a:off x="3739680" y="3469325"/>
            <a:ext cx="1123200" cy="8280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0" tIns="45715" rIns="91430" bIns="45715"/>
          <a:lstStyle/>
          <a:p>
            <a:endParaRPr lang="en-AU"/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6432480" y="928670"/>
            <a:ext cx="2711520" cy="92332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 lIns="91430" tIns="45715" rIns="91430" bIns="45715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F. </a:t>
            </a:r>
            <a:r>
              <a:rPr lang="en-US" dirty="0" err="1"/>
              <a:t>Najmabadi</a:t>
            </a: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US/Japan Workshop on </a:t>
            </a:r>
            <a:br>
              <a:rPr lang="en-US" b="1" dirty="0"/>
            </a:br>
            <a:r>
              <a:rPr lang="en-US" b="1" dirty="0"/>
              <a:t>Power Plant Studies</a:t>
            </a:r>
            <a:endParaRPr lang="en-US" dirty="0"/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468001" y="5491297"/>
            <a:ext cx="8676000" cy="1366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0" tIns="45715" rIns="91430" bIns="45715"/>
          <a:lstStyle/>
          <a:p>
            <a:pPr marL="342725" indent="-342725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Fatter is better!</a:t>
            </a:r>
          </a:p>
          <a:p>
            <a:pPr marL="342725" indent="-342725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Compact stellarator reduces size to comparable with advanced tokamaks</a:t>
            </a:r>
            <a:endParaRPr lang="en-US" dirty="0"/>
          </a:p>
        </p:txBody>
      </p:sp>
      <p:sp>
        <p:nvSpPr>
          <p:cNvPr id="55310" name="Line 14"/>
          <p:cNvSpPr>
            <a:spLocks noChangeShapeType="1"/>
          </p:cNvSpPr>
          <p:nvPr/>
        </p:nvSpPr>
        <p:spPr bwMode="auto">
          <a:xfrm flipV="1">
            <a:off x="2628000" y="3356993"/>
            <a:ext cx="576000" cy="792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0" tIns="45715" rIns="91430" bIns="45715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4000" y="4643446"/>
            <a:ext cx="8460000" cy="1944204"/>
          </a:xfrm>
        </p:spPr>
        <p:txBody>
          <a:bodyPr/>
          <a:lstStyle/>
          <a:p>
            <a:pPr marL="171363" indent="-171363">
              <a:lnSpc>
                <a:spcPct val="90000"/>
              </a:lnSpc>
            </a:pPr>
            <a:r>
              <a:rPr lang="en-US" sz="2000" dirty="0"/>
              <a:t>Coils are not linked – allows removal for maintenance – but….</a:t>
            </a:r>
          </a:p>
          <a:p>
            <a:pPr marL="171363" indent="-171363">
              <a:lnSpc>
                <a:spcPct val="90000"/>
              </a:lnSpc>
            </a:pPr>
            <a:r>
              <a:rPr lang="en-US" sz="2000" dirty="0"/>
              <a:t>Advanced Shape </a:t>
            </a:r>
            <a:r>
              <a:rPr lang="en-US" sz="2000" dirty="0">
                <a:sym typeface="Wingdings" pitchFamily="2" charset="2"/>
              </a:rPr>
              <a:t></a:t>
            </a:r>
            <a:r>
              <a:rPr lang="en-US" sz="2000" dirty="0"/>
              <a:t> High Local Field</a:t>
            </a:r>
          </a:p>
          <a:p>
            <a:pPr marL="1185138" lvl="1" indent="-275045">
              <a:lnSpc>
                <a:spcPct val="90000"/>
              </a:lnSpc>
            </a:pPr>
            <a:r>
              <a:rPr lang="en-US" sz="1800" dirty="0"/>
              <a:t>14.4T for 5.3Tesla average field </a:t>
            </a:r>
          </a:p>
          <a:p>
            <a:pPr marL="1185138" lvl="1" indent="-275045">
              <a:lnSpc>
                <a:spcPct val="90000"/>
              </a:lnSpc>
            </a:pPr>
            <a:r>
              <a:rPr lang="en-US" sz="1800" dirty="0"/>
              <a:t>Implications for superconductor material</a:t>
            </a:r>
          </a:p>
          <a:p>
            <a:pPr marL="1185138" lvl="1" indent="-275045">
              <a:lnSpc>
                <a:spcPct val="90000"/>
              </a:lnSpc>
            </a:pPr>
            <a:r>
              <a:rPr lang="en-US" sz="1800" dirty="0"/>
              <a:t>Higher forces than tokamak – needs additional support tube</a:t>
            </a:r>
          </a:p>
          <a:p>
            <a:pPr marL="171363" indent="-171363">
              <a:lnSpc>
                <a:spcPct val="90000"/>
              </a:lnSpc>
            </a:pPr>
            <a:r>
              <a:rPr lang="en-US" sz="2000" dirty="0"/>
              <a:t>Insufficient room for blanket at “cusp” point – shield only</a:t>
            </a:r>
          </a:p>
          <a:p>
            <a:pPr marL="171363" indent="-171363">
              <a:lnSpc>
                <a:spcPct val="90000"/>
              </a:lnSpc>
            </a:pPr>
            <a:endParaRPr lang="en-US" sz="20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xfrm>
            <a:off x="684001" y="188660"/>
            <a:ext cx="8280000" cy="761840"/>
          </a:xfrm>
        </p:spPr>
        <p:txBody>
          <a:bodyPr/>
          <a:lstStyle/>
          <a:p>
            <a:r>
              <a:rPr lang="en-US" sz="3400" dirty="0"/>
              <a:t>Stellarator Reactors: Challenge of Shape</a:t>
            </a:r>
          </a:p>
        </p:txBody>
      </p:sp>
      <p:pic>
        <p:nvPicPr>
          <p:cNvPr id="56324" name="Picture 4" descr="ARIES_CS_7p7_UCSD_acs-0605-coil_plasma-4-ht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00" y="1052751"/>
            <a:ext cx="3150720" cy="3179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5" name="Picture 5" descr="ARIES_CS_7p7_acs-0605-powercore_cs-00deg-ht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071546"/>
            <a:ext cx="3384000" cy="320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reeform 7"/>
          <p:cNvSpPr/>
          <p:nvPr/>
        </p:nvSpPr>
        <p:spPr>
          <a:xfrm>
            <a:off x="7213600" y="3733800"/>
            <a:ext cx="860300" cy="1955800"/>
          </a:xfrm>
          <a:custGeom>
            <a:avLst/>
            <a:gdLst>
              <a:gd name="connsiteX0" fmla="*/ 381000 w 673100"/>
              <a:gd name="connsiteY0" fmla="*/ 1955800 h 1955800"/>
              <a:gd name="connsiteX1" fmla="*/ 673100 w 673100"/>
              <a:gd name="connsiteY1" fmla="*/ 1206500 h 1955800"/>
              <a:gd name="connsiteX2" fmla="*/ 419100 w 673100"/>
              <a:gd name="connsiteY2" fmla="*/ 431800 h 1955800"/>
              <a:gd name="connsiteX3" fmla="*/ 0 w 673100"/>
              <a:gd name="connsiteY3" fmla="*/ 0 h 1955800"/>
              <a:gd name="connsiteX0" fmla="*/ 381000 w 679450"/>
              <a:gd name="connsiteY0" fmla="*/ 1955800 h 1955800"/>
              <a:gd name="connsiteX1" fmla="*/ 673100 w 679450"/>
              <a:gd name="connsiteY1" fmla="*/ 1206500 h 1955800"/>
              <a:gd name="connsiteX2" fmla="*/ 419100 w 679450"/>
              <a:gd name="connsiteY2" fmla="*/ 431800 h 1955800"/>
              <a:gd name="connsiteX3" fmla="*/ 0 w 679450"/>
              <a:gd name="connsiteY3" fmla="*/ 0 h 1955800"/>
              <a:gd name="connsiteX0" fmla="*/ 381000 w 679450"/>
              <a:gd name="connsiteY0" fmla="*/ 1955800 h 1955800"/>
              <a:gd name="connsiteX1" fmla="*/ 673100 w 679450"/>
              <a:gd name="connsiteY1" fmla="*/ 1206500 h 1955800"/>
              <a:gd name="connsiteX2" fmla="*/ 419100 w 679450"/>
              <a:gd name="connsiteY2" fmla="*/ 431800 h 1955800"/>
              <a:gd name="connsiteX3" fmla="*/ 0 w 679450"/>
              <a:gd name="connsiteY3" fmla="*/ 0 h 1955800"/>
              <a:gd name="connsiteX0" fmla="*/ 381000 w 708002"/>
              <a:gd name="connsiteY0" fmla="*/ 1955800 h 1955800"/>
              <a:gd name="connsiteX1" fmla="*/ 673100 w 708002"/>
              <a:gd name="connsiteY1" fmla="*/ 1206500 h 1955800"/>
              <a:gd name="connsiteX2" fmla="*/ 419100 w 708002"/>
              <a:gd name="connsiteY2" fmla="*/ 431800 h 1955800"/>
              <a:gd name="connsiteX3" fmla="*/ 0 w 708002"/>
              <a:gd name="connsiteY3" fmla="*/ 0 h 1955800"/>
              <a:gd name="connsiteX0" fmla="*/ 381000 w 708002"/>
              <a:gd name="connsiteY0" fmla="*/ 1955800 h 1955800"/>
              <a:gd name="connsiteX1" fmla="*/ 673100 w 708002"/>
              <a:gd name="connsiteY1" fmla="*/ 1206500 h 1955800"/>
              <a:gd name="connsiteX2" fmla="*/ 419100 w 708002"/>
              <a:gd name="connsiteY2" fmla="*/ 431800 h 1955800"/>
              <a:gd name="connsiteX3" fmla="*/ 0 w 708002"/>
              <a:gd name="connsiteY3" fmla="*/ 0 h 1955800"/>
              <a:gd name="connsiteX0" fmla="*/ 381000 w 708002"/>
              <a:gd name="connsiteY0" fmla="*/ 1955800 h 1955800"/>
              <a:gd name="connsiteX1" fmla="*/ 673100 w 708002"/>
              <a:gd name="connsiteY1" fmla="*/ 1206500 h 1955800"/>
              <a:gd name="connsiteX2" fmla="*/ 419100 w 708002"/>
              <a:gd name="connsiteY2" fmla="*/ 431800 h 1955800"/>
              <a:gd name="connsiteX3" fmla="*/ 0 w 708002"/>
              <a:gd name="connsiteY3" fmla="*/ 0 h 1955800"/>
              <a:gd name="connsiteX0" fmla="*/ 381000 w 708002"/>
              <a:gd name="connsiteY0" fmla="*/ 1955800 h 1955800"/>
              <a:gd name="connsiteX1" fmla="*/ 673100 w 708002"/>
              <a:gd name="connsiteY1" fmla="*/ 1206500 h 1955800"/>
              <a:gd name="connsiteX2" fmla="*/ 419100 w 708002"/>
              <a:gd name="connsiteY2" fmla="*/ 431800 h 1955800"/>
              <a:gd name="connsiteX3" fmla="*/ 0 w 708002"/>
              <a:gd name="connsiteY3" fmla="*/ 0 h 1955800"/>
              <a:gd name="connsiteX0" fmla="*/ 381000 w 708002"/>
              <a:gd name="connsiteY0" fmla="*/ 1955800 h 1955800"/>
              <a:gd name="connsiteX1" fmla="*/ 673100 w 708002"/>
              <a:gd name="connsiteY1" fmla="*/ 1206500 h 1955800"/>
              <a:gd name="connsiteX2" fmla="*/ 419100 w 708002"/>
              <a:gd name="connsiteY2" fmla="*/ 431800 h 1955800"/>
              <a:gd name="connsiteX3" fmla="*/ 0 w 708002"/>
              <a:gd name="connsiteY3" fmla="*/ 0 h 1955800"/>
              <a:gd name="connsiteX0" fmla="*/ 381000 w 482600"/>
              <a:gd name="connsiteY0" fmla="*/ 1955800 h 1955800"/>
              <a:gd name="connsiteX1" fmla="*/ 419100 w 482600"/>
              <a:gd name="connsiteY1" fmla="*/ 431800 h 1955800"/>
              <a:gd name="connsiteX2" fmla="*/ 0 w 482600"/>
              <a:gd name="connsiteY2" fmla="*/ 0 h 1955800"/>
              <a:gd name="connsiteX0" fmla="*/ 381000 w 696882"/>
              <a:gd name="connsiteY0" fmla="*/ 1955800 h 1955800"/>
              <a:gd name="connsiteX1" fmla="*/ 633382 w 696882"/>
              <a:gd name="connsiteY1" fmla="*/ 788966 h 1955800"/>
              <a:gd name="connsiteX2" fmla="*/ 0 w 696882"/>
              <a:gd name="connsiteY2" fmla="*/ 0 h 1955800"/>
              <a:gd name="connsiteX0" fmla="*/ 381000 w 679396"/>
              <a:gd name="connsiteY0" fmla="*/ 1955800 h 1955800"/>
              <a:gd name="connsiteX1" fmla="*/ 633382 w 679396"/>
              <a:gd name="connsiteY1" fmla="*/ 788966 h 1955800"/>
              <a:gd name="connsiteX2" fmla="*/ 0 w 679396"/>
              <a:gd name="connsiteY2" fmla="*/ 0 h 1955800"/>
              <a:gd name="connsiteX0" fmla="*/ 381000 w 834948"/>
              <a:gd name="connsiteY0" fmla="*/ 1955800 h 1955800"/>
              <a:gd name="connsiteX1" fmla="*/ 633382 w 834948"/>
              <a:gd name="connsiteY1" fmla="*/ 788966 h 1955800"/>
              <a:gd name="connsiteX2" fmla="*/ 0 w 834948"/>
              <a:gd name="connsiteY2" fmla="*/ 0 h 1955800"/>
              <a:gd name="connsiteX0" fmla="*/ 381000 w 834948"/>
              <a:gd name="connsiteY0" fmla="*/ 1955800 h 1955800"/>
              <a:gd name="connsiteX1" fmla="*/ 633382 w 834948"/>
              <a:gd name="connsiteY1" fmla="*/ 788966 h 1955800"/>
              <a:gd name="connsiteX2" fmla="*/ 0 w 834948"/>
              <a:gd name="connsiteY2" fmla="*/ 0 h 1955800"/>
              <a:gd name="connsiteX0" fmla="*/ 381000 w 712686"/>
              <a:gd name="connsiteY0" fmla="*/ 1955800 h 1955800"/>
              <a:gd name="connsiteX1" fmla="*/ 633382 w 712686"/>
              <a:gd name="connsiteY1" fmla="*/ 788966 h 1955800"/>
              <a:gd name="connsiteX2" fmla="*/ 0 w 712686"/>
              <a:gd name="connsiteY2" fmla="*/ 0 h 1955800"/>
              <a:gd name="connsiteX0" fmla="*/ 381000 w 712686"/>
              <a:gd name="connsiteY0" fmla="*/ 1955800 h 1955800"/>
              <a:gd name="connsiteX1" fmla="*/ 633382 w 712686"/>
              <a:gd name="connsiteY1" fmla="*/ 788966 h 1955800"/>
              <a:gd name="connsiteX2" fmla="*/ 0 w 712686"/>
              <a:gd name="connsiteY2" fmla="*/ 0 h 1955800"/>
              <a:gd name="connsiteX0" fmla="*/ 381000 w 712686"/>
              <a:gd name="connsiteY0" fmla="*/ 1955800 h 1955800"/>
              <a:gd name="connsiteX1" fmla="*/ 633382 w 712686"/>
              <a:gd name="connsiteY1" fmla="*/ 788966 h 1955800"/>
              <a:gd name="connsiteX2" fmla="*/ 0 w 712686"/>
              <a:gd name="connsiteY2" fmla="*/ 0 h 1955800"/>
              <a:gd name="connsiteX0" fmla="*/ 381000 w 712686"/>
              <a:gd name="connsiteY0" fmla="*/ 1955800 h 1955800"/>
              <a:gd name="connsiteX1" fmla="*/ 633382 w 712686"/>
              <a:gd name="connsiteY1" fmla="*/ 788966 h 1955800"/>
              <a:gd name="connsiteX2" fmla="*/ 0 w 712686"/>
              <a:gd name="connsiteY2" fmla="*/ 0 h 1955800"/>
              <a:gd name="connsiteX0" fmla="*/ 381000 w 860300"/>
              <a:gd name="connsiteY0" fmla="*/ 1955800 h 1955800"/>
              <a:gd name="connsiteX1" fmla="*/ 633382 w 860300"/>
              <a:gd name="connsiteY1" fmla="*/ 788966 h 1955800"/>
              <a:gd name="connsiteX2" fmla="*/ 0 w 860300"/>
              <a:gd name="connsiteY2" fmla="*/ 0 h 195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0300" h="1955800">
                <a:moveTo>
                  <a:pt x="381000" y="1955800"/>
                </a:moveTo>
                <a:cubicBezTo>
                  <a:pt x="696869" y="1641448"/>
                  <a:pt x="860300" y="1292693"/>
                  <a:pt x="633382" y="788966"/>
                </a:cubicBezTo>
                <a:cubicBezTo>
                  <a:pt x="508455" y="454523"/>
                  <a:pt x="139700" y="143933"/>
                  <a:pt x="0" y="0"/>
                </a:cubicBezTo>
              </a:path>
            </a:pathLst>
          </a:cu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5" y="1142984"/>
            <a:ext cx="9001155" cy="4751387"/>
          </a:xfrm>
        </p:spPr>
        <p:txBody>
          <a:bodyPr>
            <a:noAutofit/>
          </a:bodyPr>
          <a:lstStyle/>
          <a:p>
            <a:r>
              <a:rPr lang="en-US" sz="2400" dirty="0" smtClean="0"/>
              <a:t>Large device physics accessible – e.g. Alfvénic modes observed</a:t>
            </a:r>
          </a:p>
          <a:p>
            <a:r>
              <a:rPr lang="en-GB" sz="2200" dirty="0" smtClean="0"/>
              <a:t>We show strong evidence for Alfvénic scaling of magnetic fluctuations in H-1, in n</a:t>
            </a:r>
            <a:r>
              <a:rPr lang="en-GB" sz="2200" baseline="-25000" dirty="0" smtClean="0"/>
              <a:t>e</a:t>
            </a:r>
            <a:r>
              <a:rPr lang="en-GB" sz="2200" dirty="0" smtClean="0"/>
              <a:t>, iota and </a:t>
            </a:r>
            <a:r>
              <a:rPr lang="en-GB" sz="2200" dirty="0" smtClean="0">
                <a:sym typeface="Symbol"/>
              </a:rPr>
              <a:t></a:t>
            </a:r>
            <a:r>
              <a:rPr lang="en-GB" sz="2200" dirty="0" smtClean="0"/>
              <a:t>.  </a:t>
            </a:r>
            <a:endParaRPr lang="en-AU" sz="2200" dirty="0" smtClean="0"/>
          </a:p>
          <a:p>
            <a:r>
              <a:rPr lang="en-GB" sz="2200" dirty="0" smtClean="0"/>
              <a:t>The driving mechanism is not understood, unexplained factor of ~3 in the frequency</a:t>
            </a:r>
            <a:endParaRPr lang="en-AU" sz="2200" dirty="0" smtClean="0"/>
          </a:p>
          <a:p>
            <a:r>
              <a:rPr lang="en-US" sz="2200" dirty="0" smtClean="0"/>
              <a:t>Interferometer and optical diagnostics (CCD camera and PMT array)</a:t>
            </a:r>
            <a:br>
              <a:rPr lang="en-US" sz="2200" dirty="0" smtClean="0"/>
            </a:br>
            <a:r>
              <a:rPr lang="en-US" sz="2200" dirty="0" smtClean="0"/>
              <a:t>	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valuable mode structure Information</a:t>
            </a:r>
            <a:endParaRPr lang="en-US" sz="1800" dirty="0" smtClean="0"/>
          </a:p>
          <a:p>
            <a:r>
              <a:rPr lang="en-US" sz="2200" b="1" dirty="0" smtClean="0"/>
              <a:t>First results are in qualitative agreement</a:t>
            </a:r>
            <a:endParaRPr lang="en-US" sz="2200" dirty="0" smtClean="0"/>
          </a:p>
          <a:p>
            <a:pPr marL="352425" indent="-352425">
              <a:lnSpc>
                <a:spcPct val="90000"/>
              </a:lnSpc>
              <a:defRPr/>
            </a:pPr>
            <a:endParaRPr lang="en-US" sz="2200" b="1" dirty="0" smtClean="0"/>
          </a:p>
          <a:p>
            <a:pPr marL="352425" indent="-352425">
              <a:lnSpc>
                <a:spcPct val="90000"/>
              </a:lnSpc>
              <a:buNone/>
              <a:defRPr/>
            </a:pPr>
            <a:r>
              <a:rPr lang="en-US" sz="2200" b="1" dirty="0" smtClean="0"/>
              <a:t>Stellarators as the step beyond ITER?</a:t>
            </a:r>
          </a:p>
          <a:p>
            <a:pPr marL="352425" indent="-352425">
              <a:lnSpc>
                <a:spcPct val="90000"/>
              </a:lnSpc>
              <a:defRPr/>
            </a:pPr>
            <a:r>
              <a:rPr lang="en-US" sz="2200" dirty="0" smtClean="0"/>
              <a:t>Promise of simple, continuous operation and stability</a:t>
            </a:r>
          </a:p>
          <a:p>
            <a:pPr marL="352425" indent="-352425">
              <a:lnSpc>
                <a:spcPct val="90000"/>
              </a:lnSpc>
              <a:defRPr/>
            </a:pPr>
            <a:r>
              <a:rPr lang="en-US" sz="2200" dirty="0" smtClean="0"/>
              <a:t>Challenge of size, shape and complexity</a:t>
            </a:r>
          </a:p>
          <a:p>
            <a:pPr marL="352425" indent="-352425">
              <a:lnSpc>
                <a:spcPct val="90000"/>
              </a:lnSpc>
              <a:defRPr/>
            </a:pPr>
            <a:r>
              <a:rPr lang="en-US" sz="2200" dirty="0" smtClean="0"/>
              <a:t>Tokamaks clearly better performers now, but stellarators catching up!</a:t>
            </a:r>
          </a:p>
          <a:p>
            <a:pPr marL="352425" lvl="1" indent="-352425">
              <a:lnSpc>
                <a:spcPct val="90000"/>
              </a:lnSpc>
              <a:buFontTx/>
              <a:buChar char="–"/>
              <a:defRPr/>
            </a:pPr>
            <a:r>
              <a:rPr lang="en-US" sz="2200" dirty="0" smtClean="0"/>
              <a:t>Recent LHD result  - record density</a:t>
            </a:r>
          </a:p>
          <a:p>
            <a:pPr marL="1133297" lvl="1" indent="-275045">
              <a:lnSpc>
                <a:spcPct val="90000"/>
              </a:lnSpc>
              <a:defRPr/>
            </a:pPr>
            <a:endParaRPr lang="en-US" sz="2200" b="1" dirty="0" smtClean="0">
              <a:solidFill>
                <a:schemeClr val="accent2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2200" dirty="0" smtClean="0"/>
          </a:p>
          <a:p>
            <a:pPr>
              <a:buFont typeface="Arial" pitchFamily="34" charset="0"/>
              <a:buChar char="•"/>
            </a:pPr>
            <a:endParaRPr lang="en-AU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</a:t>
            </a:r>
            <a:r>
              <a:rPr lang="en-US" dirty="0" smtClean="0"/>
              <a:t>H1Upgrade, Sydney 2009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Future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341438"/>
            <a:ext cx="8459787" cy="4751387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New Toroidal Mirnov Array</a:t>
            </a:r>
          </a:p>
          <a:p>
            <a:r>
              <a:rPr lang="en-US" dirty="0" smtClean="0"/>
              <a:t>Bayesian MHD Mode Analysis</a:t>
            </a:r>
            <a:endParaRPr lang="en-AU" dirty="0" smtClean="0"/>
          </a:p>
          <a:p>
            <a:r>
              <a:rPr lang="en-US" dirty="0" smtClean="0"/>
              <a:t>Toroidal visible light imaging (CII 525nm)</a:t>
            </a:r>
          </a:p>
          <a:p>
            <a:r>
              <a:rPr lang="en-US" dirty="0" smtClean="0"/>
              <a:t>Correlation of multiple visible light, Mirnov and n</a:t>
            </a:r>
            <a:r>
              <a:rPr lang="en-US" sz="3200" spc="-1500" baseline="30000" dirty="0" smtClean="0"/>
              <a:t>~       </a:t>
            </a:r>
            <a:r>
              <a:rPr lang="en-US" spc="-1500" baseline="-25000" dirty="0" smtClean="0"/>
              <a:t>e    </a:t>
            </a:r>
            <a:r>
              <a:rPr lang="en-US" baseline="-25000" dirty="0" smtClean="0"/>
              <a:t>    </a:t>
            </a:r>
            <a:r>
              <a:rPr lang="en-US" dirty="0" smtClean="0"/>
              <a:t>data</a:t>
            </a:r>
            <a:endParaRPr lang="en-US" spc="-1500" baseline="-25000" dirty="0" smtClean="0"/>
          </a:p>
          <a:p>
            <a:r>
              <a:rPr lang="en-US" dirty="0" smtClean="0"/>
              <a:t>Spatial and Hybrid Spatial/Temporal Coherence Imaging</a:t>
            </a:r>
            <a:endParaRPr lang="en-AU" dirty="0" smtClean="0"/>
          </a:p>
          <a:p>
            <a:endParaRPr lang="en-US" dirty="0" smtClean="0"/>
          </a:p>
          <a:p>
            <a:r>
              <a:rPr lang="en-US" dirty="0" smtClean="0"/>
              <a:t>Facility upgrade!</a:t>
            </a:r>
          </a:p>
          <a:p>
            <a:pPr lvl="1"/>
            <a:r>
              <a:rPr lang="en-US" dirty="0" smtClean="0"/>
              <a:t>Develop divertor and edge diagnostics</a:t>
            </a:r>
          </a:p>
          <a:p>
            <a:pPr lvl="1"/>
            <a:r>
              <a:rPr lang="en-US" dirty="0" smtClean="0"/>
              <a:t>Study stellarator </a:t>
            </a:r>
            <a:r>
              <a:rPr lang="en-US" dirty="0" err="1" smtClean="0"/>
              <a:t>divertors</a:t>
            </a:r>
            <a:r>
              <a:rPr lang="en-US" dirty="0" smtClean="0"/>
              <a:t>, baffles e.g. 6/5 island divertor</a:t>
            </a:r>
          </a:p>
          <a:p>
            <a:pPr lvl="1"/>
            <a:r>
              <a:rPr lang="en-US" dirty="0" smtClean="0"/>
              <a:t>Develop PWI diagnostics (materials connection)</a:t>
            </a:r>
          </a:p>
          <a:p>
            <a:pPr lvl="1"/>
            <a:r>
              <a:rPr lang="en-US" dirty="0" smtClean="0"/>
              <a:t>Linear “Satellite” device for materials diagnostic development – multiple plasma sources, approach ITER 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AU" dirty="0" smtClean="0"/>
              <a:t>Blackwell, </a:t>
            </a:r>
            <a:r>
              <a:rPr lang="en-US" dirty="0" smtClean="0"/>
              <a:t>H1Upgrade, Sydney 2009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281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6600CC"/>
      </a:dk2>
      <a:lt2>
        <a:srgbClr val="808080"/>
      </a:lt2>
      <a:accent1>
        <a:srgbClr val="CCCC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E2E2FF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</TotalTime>
  <Words>2412</Words>
  <Application>Microsoft Office PowerPoint</Application>
  <PresentationFormat>On-screen Show (4:3)</PresentationFormat>
  <Paragraphs>651</Paragraphs>
  <Slides>49</Slides>
  <Notes>49</Notes>
  <HiddenSlides>1</HiddenSlides>
  <MMClips>1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Office Theme</vt:lpstr>
      <vt:lpstr>Default Design</vt:lpstr>
      <vt:lpstr>Pixel</vt:lpstr>
      <vt:lpstr>Blank Presentation</vt:lpstr>
      <vt:lpstr>Document</vt:lpstr>
      <vt:lpstr>Picture</vt:lpstr>
      <vt:lpstr>The Australian Plasma Fusion Research Facility:    Results and Upgrade Plans</vt:lpstr>
      <vt:lpstr>The Australian Plasma Fusion Facility:   Results and Upgrade Plans</vt:lpstr>
      <vt:lpstr>H-1NF: National Plasma Fusion Research Facility</vt:lpstr>
      <vt:lpstr>H-1 CAD</vt:lpstr>
      <vt:lpstr>H-1 Heliac: Parameters</vt:lpstr>
      <vt:lpstr>H-1 Plasma Production by ICRF</vt:lpstr>
      <vt:lpstr>H-1 configuration (shape) is very flexible</vt:lpstr>
      <vt:lpstr>Experimental confirmation of configurations</vt:lpstr>
      <vt:lpstr>The Australian Plasma Fusion Facility:   Results and Upgrade Plans</vt:lpstr>
      <vt:lpstr>National Plasma Fusion Research Facility Upgrade </vt:lpstr>
      <vt:lpstr>Aims of Facility Upgrade</vt:lpstr>
      <vt:lpstr>RF Upgrade</vt:lpstr>
      <vt:lpstr>Improved Impurity Control </vt:lpstr>
      <vt:lpstr>New Toroidal Mirnov Array</vt:lpstr>
      <vt:lpstr>Small Linear Satellite Device – PWI Diagnostics</vt:lpstr>
      <vt:lpstr>Helicon H+ source Concept</vt:lpstr>
      <vt:lpstr>Present and Future Plasma-Surface Devices</vt:lpstr>
      <vt:lpstr>Additional Power/Plasma Sources</vt:lpstr>
      <vt:lpstr>Future Plasma Surface Interaction Facilities</vt:lpstr>
      <vt:lpstr>High Pulsed Power – Edge Localised Mode (ELM) Simulator (Kharkov)</vt:lpstr>
      <vt:lpstr>The Australian Plasma Fusion Facility:   Results and Upgrade Plans</vt:lpstr>
      <vt:lpstr>MHD/Mirnov fluctuations in H-1</vt:lpstr>
      <vt:lpstr>Identification with Alfvén Eigenmodes: ne</vt:lpstr>
      <vt:lpstr>Preprocessing(1): SVD</vt:lpstr>
      <vt:lpstr>Preprocessing: SVDs grouped into “flucstrucs“</vt:lpstr>
      <vt:lpstr>Tens of thousands of data points</vt:lpstr>
      <vt:lpstr>Data Mining Classification by Clustering</vt:lpstr>
      <vt:lpstr>Identification with Alfvén eigenmodes:  k||, twist</vt:lpstr>
      <vt:lpstr>Identification with Alfvén eigenmodes: k||, iota</vt:lpstr>
      <vt:lpstr>Overall fit assuming radial location</vt:lpstr>
      <vt:lpstr>Heliotron J (Kyoto):  Good fits to m=2,3,4 in both senses (-ve  B0 reversal)</vt:lpstr>
      <vt:lpstr>Phase flips, character changes near rational</vt:lpstr>
      <vt:lpstr>CAS3D: 3D and finite beta effects</vt:lpstr>
      <vt:lpstr>MHD: synchronous 2D imaging</vt:lpstr>
      <vt:lpstr>Mode structure via synchronous 2D imaging</vt:lpstr>
      <vt:lpstr>Interpretation</vt:lpstr>
      <vt:lpstr>Mode Tomography</vt:lpstr>
      <vt:lpstr>Alfvén Eigenmode structure in H-1</vt:lpstr>
      <vt:lpstr>The Australian Plasma Fusion Facility:   Results and Upgrade Plans</vt:lpstr>
      <vt:lpstr>Slide 40</vt:lpstr>
      <vt:lpstr>Progress comparison to # CPU transistors  per unit area on Si wafer</vt:lpstr>
      <vt:lpstr>What about the last 15 years?….</vt:lpstr>
      <vt:lpstr>Stellarators break Tokamak barriers in density, twist and /(I/a.B0)</vt:lpstr>
      <vt:lpstr>Parameters achieved in the LHD Stellarator:2008</vt:lpstr>
      <vt:lpstr>Stellarator Reactors: ITER successor?</vt:lpstr>
      <vt:lpstr>Stellarator Reactors: Challenge of Size</vt:lpstr>
      <vt:lpstr>Stellarator Reactors: Challenge of Shape</vt:lpstr>
      <vt:lpstr>Conclusions</vt:lpstr>
      <vt:lpstr>Future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Boyd Chg 4</dc:creator>
  <cp:lastModifiedBy>Boyd Chg 4</cp:lastModifiedBy>
  <cp:revision>28</cp:revision>
  <dcterms:created xsi:type="dcterms:W3CDTF">2009-11-13T21:48:09Z</dcterms:created>
  <dcterms:modified xsi:type="dcterms:W3CDTF">2009-11-20T07:57:03Z</dcterms:modified>
</cp:coreProperties>
</file>