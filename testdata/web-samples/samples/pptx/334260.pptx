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7"/>
  </p:notesMasterIdLst>
  <p:sldIdLst>
    <p:sldId id="271" r:id="rId2"/>
    <p:sldId id="256" r:id="rId3"/>
    <p:sldId id="257" r:id="rId4"/>
    <p:sldId id="258" r:id="rId5"/>
    <p:sldId id="259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63F8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38" d="100"/>
          <a:sy n="38" d="100"/>
        </p:scale>
        <p:origin x="-114" y="-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24C225-BDE3-4074-A5A3-2F1EE345C270}" type="doc">
      <dgm:prSet loTypeId="urn:microsoft.com/office/officeart/2005/8/layout/gear1" loCatId="cycle" qsTypeId="urn:microsoft.com/office/officeart/2005/8/quickstyle/simple1" qsCatId="simple" csTypeId="urn:microsoft.com/office/officeart/2005/8/colors/accent1_2" csCatId="accent1" phldr="1"/>
      <dgm:spPr/>
    </dgm:pt>
    <dgm:pt modelId="{76FFAB65-C54F-4691-94D0-F4D223E63BD4}">
      <dgm:prSet phldrT="[Text]"/>
      <dgm:spPr/>
      <dgm:t>
        <a:bodyPr/>
        <a:lstStyle/>
        <a:p>
          <a:r>
            <a:rPr lang="en-US" dirty="0" smtClean="0"/>
            <a:t>Cog 3</a:t>
          </a:r>
          <a:endParaRPr lang="en-US" dirty="0"/>
        </a:p>
      </dgm:t>
    </dgm:pt>
    <dgm:pt modelId="{9A5CF3CC-E3CD-4F12-AE2A-CC8CE4DD26A0}" type="parTrans" cxnId="{FCE89462-4F29-40B4-A3F1-D1DF6B07CE45}">
      <dgm:prSet/>
      <dgm:spPr/>
      <dgm:t>
        <a:bodyPr/>
        <a:lstStyle/>
        <a:p>
          <a:endParaRPr lang="en-US"/>
        </a:p>
      </dgm:t>
    </dgm:pt>
    <dgm:pt modelId="{C8B7A1D2-0C60-44EB-87A6-557970372D4C}" type="sibTrans" cxnId="{FCE89462-4F29-40B4-A3F1-D1DF6B07CE45}">
      <dgm:prSet/>
      <dgm:spPr>
        <a:noFill/>
      </dgm:spPr>
      <dgm:t>
        <a:bodyPr/>
        <a:lstStyle/>
        <a:p>
          <a:endParaRPr lang="en-US"/>
        </a:p>
      </dgm:t>
    </dgm:pt>
    <dgm:pt modelId="{861F9F0B-ECB7-4A35-B081-B53F6CA27FDD}">
      <dgm:prSet phldrT="[Text]"/>
      <dgm:spPr/>
      <dgm:t>
        <a:bodyPr/>
        <a:lstStyle/>
        <a:p>
          <a:r>
            <a:rPr lang="en-US" dirty="0" smtClean="0"/>
            <a:t>Cog 2</a:t>
          </a:r>
          <a:endParaRPr lang="en-US" dirty="0"/>
        </a:p>
      </dgm:t>
    </dgm:pt>
    <dgm:pt modelId="{71D6E51A-4BAA-48DC-A3F2-8F56037DEB5D}" type="parTrans" cxnId="{11BE2385-0477-4833-8A2F-5E63C9F0087F}">
      <dgm:prSet/>
      <dgm:spPr/>
      <dgm:t>
        <a:bodyPr/>
        <a:lstStyle/>
        <a:p>
          <a:endParaRPr lang="en-US"/>
        </a:p>
      </dgm:t>
    </dgm:pt>
    <dgm:pt modelId="{2398D22F-9E9E-4136-A96F-558C70F858C6}" type="sibTrans" cxnId="{11BE2385-0477-4833-8A2F-5E63C9F0087F}">
      <dgm:prSet/>
      <dgm:spPr>
        <a:noFill/>
      </dgm:spPr>
      <dgm:t>
        <a:bodyPr/>
        <a:lstStyle/>
        <a:p>
          <a:endParaRPr lang="en-US"/>
        </a:p>
      </dgm:t>
    </dgm:pt>
    <dgm:pt modelId="{1F9DFD43-5B4A-400B-9809-D9E01B2DA8FD}">
      <dgm:prSet phldrT="[Text]" phldr="1"/>
      <dgm:spPr/>
      <dgm:t>
        <a:bodyPr/>
        <a:lstStyle/>
        <a:p>
          <a:endParaRPr lang="en-US"/>
        </a:p>
      </dgm:t>
    </dgm:pt>
    <dgm:pt modelId="{6805E175-CE14-4B2B-A448-3CD5E86D1D80}" type="parTrans" cxnId="{5ABFF2F1-D7BE-42D4-BB1A-F7C9490CDC5B}">
      <dgm:prSet/>
      <dgm:spPr/>
      <dgm:t>
        <a:bodyPr/>
        <a:lstStyle/>
        <a:p>
          <a:endParaRPr lang="en-US"/>
        </a:p>
      </dgm:t>
    </dgm:pt>
    <dgm:pt modelId="{883B67ED-4C41-4B6E-886F-AFEC97D6275B}" type="sibTrans" cxnId="{5ABFF2F1-D7BE-42D4-BB1A-F7C9490CDC5B}">
      <dgm:prSet/>
      <dgm:spPr/>
      <dgm:t>
        <a:bodyPr/>
        <a:lstStyle/>
        <a:p>
          <a:endParaRPr lang="en-US"/>
        </a:p>
      </dgm:t>
    </dgm:pt>
    <dgm:pt modelId="{5D8E1911-7B33-4E9B-80D8-76C918963D63}">
      <dgm:prSet phldrT="[Text]"/>
      <dgm:spPr/>
      <dgm:t>
        <a:bodyPr/>
        <a:lstStyle/>
        <a:p>
          <a:r>
            <a:rPr lang="en-US" dirty="0" smtClean="0"/>
            <a:t>Cog 1</a:t>
          </a:r>
          <a:endParaRPr lang="en-US" dirty="0"/>
        </a:p>
      </dgm:t>
    </dgm:pt>
    <dgm:pt modelId="{1F5273D1-F4CD-45C1-AB47-B0126B66906C}" type="parTrans" cxnId="{8485B761-887F-4C72-B942-266B1A4E8BF5}">
      <dgm:prSet/>
      <dgm:spPr/>
      <dgm:t>
        <a:bodyPr/>
        <a:lstStyle/>
        <a:p>
          <a:endParaRPr lang="en-US"/>
        </a:p>
      </dgm:t>
    </dgm:pt>
    <dgm:pt modelId="{126DE5CE-32A8-4EFD-BDDC-FF81D1B87E5B}" type="sibTrans" cxnId="{8485B761-887F-4C72-B942-266B1A4E8BF5}">
      <dgm:prSet/>
      <dgm:spPr>
        <a:noFill/>
      </dgm:spPr>
      <dgm:t>
        <a:bodyPr/>
        <a:lstStyle/>
        <a:p>
          <a:endParaRPr lang="en-US"/>
        </a:p>
      </dgm:t>
    </dgm:pt>
    <dgm:pt modelId="{2B0E4C84-F7F4-41F9-AA9A-8845019D1D63}" type="pres">
      <dgm:prSet presAssocID="{6924C225-BDE3-4074-A5A3-2F1EE345C270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B5680B07-91D3-48A7-9734-94C0E357BEB0}" type="pres">
      <dgm:prSet presAssocID="{76FFAB65-C54F-4691-94D0-F4D223E63BD4}" presName="gear1" presStyleLbl="node1" presStyleIdx="0" presStyleCnt="3" custLinFactNeighborY="-658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516AFF-39AE-4DDB-91FC-E4FA657A72D9}" type="pres">
      <dgm:prSet presAssocID="{76FFAB65-C54F-4691-94D0-F4D223E63BD4}" presName="gear1srcNode" presStyleLbl="node1" presStyleIdx="0" presStyleCnt="3"/>
      <dgm:spPr/>
      <dgm:t>
        <a:bodyPr/>
        <a:lstStyle/>
        <a:p>
          <a:endParaRPr lang="en-US"/>
        </a:p>
      </dgm:t>
    </dgm:pt>
    <dgm:pt modelId="{A81E49D8-C8B3-4CD8-BA82-65C51D05D454}" type="pres">
      <dgm:prSet presAssocID="{76FFAB65-C54F-4691-94D0-F4D223E63BD4}" presName="gear1dstNode" presStyleLbl="node1" presStyleIdx="0" presStyleCnt="3"/>
      <dgm:spPr/>
      <dgm:t>
        <a:bodyPr/>
        <a:lstStyle/>
        <a:p>
          <a:endParaRPr lang="en-US"/>
        </a:p>
      </dgm:t>
    </dgm:pt>
    <dgm:pt modelId="{011F83CF-69A5-4C37-A735-B2323E8E9FFA}" type="pres">
      <dgm:prSet presAssocID="{861F9F0B-ECB7-4A35-B081-B53F6CA27FDD}" presName="gear2" presStyleLbl="node1" presStyleIdx="1" presStyleCnt="3" custLinFactNeighborX="6293" custLinFactNeighborY="-241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8DE830-E498-419F-8D2C-9DBAA94F1949}" type="pres">
      <dgm:prSet presAssocID="{861F9F0B-ECB7-4A35-B081-B53F6CA27FDD}" presName="gear2srcNode" presStyleLbl="node1" presStyleIdx="1" presStyleCnt="3"/>
      <dgm:spPr/>
      <dgm:t>
        <a:bodyPr/>
        <a:lstStyle/>
        <a:p>
          <a:endParaRPr lang="en-US"/>
        </a:p>
      </dgm:t>
    </dgm:pt>
    <dgm:pt modelId="{731AFE09-AABB-4C94-9C7B-82578C07C3D8}" type="pres">
      <dgm:prSet presAssocID="{861F9F0B-ECB7-4A35-B081-B53F6CA27FDD}" presName="gear2dstNode" presStyleLbl="node1" presStyleIdx="1" presStyleCnt="3"/>
      <dgm:spPr/>
      <dgm:t>
        <a:bodyPr/>
        <a:lstStyle/>
        <a:p>
          <a:endParaRPr lang="en-US"/>
        </a:p>
      </dgm:t>
    </dgm:pt>
    <dgm:pt modelId="{301074CA-98C2-43C8-83A6-A5A779B1F145}" type="pres">
      <dgm:prSet presAssocID="{5D8E1911-7B33-4E9B-80D8-76C918963D63}" presName="gear3" presStyleLbl="node1" presStyleIdx="2" presStyleCnt="3" custLinFactNeighborX="4239" custLinFactNeighborY="7759"/>
      <dgm:spPr/>
      <dgm:t>
        <a:bodyPr/>
        <a:lstStyle/>
        <a:p>
          <a:endParaRPr lang="en-US"/>
        </a:p>
      </dgm:t>
    </dgm:pt>
    <dgm:pt modelId="{D71D00E8-BA00-498C-87EF-F58F50639B62}" type="pres">
      <dgm:prSet presAssocID="{5D8E1911-7B33-4E9B-80D8-76C918963D63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CA03AD-E146-4483-8A25-743C15B8CA29}" type="pres">
      <dgm:prSet presAssocID="{5D8E1911-7B33-4E9B-80D8-76C918963D63}" presName="gear3srcNode" presStyleLbl="node1" presStyleIdx="2" presStyleCnt="3"/>
      <dgm:spPr/>
      <dgm:t>
        <a:bodyPr/>
        <a:lstStyle/>
        <a:p>
          <a:endParaRPr lang="en-US"/>
        </a:p>
      </dgm:t>
    </dgm:pt>
    <dgm:pt modelId="{B8EA3D01-0B77-48FD-9BD9-BECE3A065FD5}" type="pres">
      <dgm:prSet presAssocID="{5D8E1911-7B33-4E9B-80D8-76C918963D63}" presName="gear3dstNode" presStyleLbl="node1" presStyleIdx="2" presStyleCnt="3"/>
      <dgm:spPr/>
      <dgm:t>
        <a:bodyPr/>
        <a:lstStyle/>
        <a:p>
          <a:endParaRPr lang="en-US"/>
        </a:p>
      </dgm:t>
    </dgm:pt>
    <dgm:pt modelId="{9A0FDF9F-1F4F-4E96-84E9-EC71FFEC4948}" type="pres">
      <dgm:prSet presAssocID="{C8B7A1D2-0C60-44EB-87A6-557970372D4C}" presName="connector1" presStyleLbl="sibTrans2D1" presStyleIdx="0" presStyleCnt="3"/>
      <dgm:spPr/>
      <dgm:t>
        <a:bodyPr/>
        <a:lstStyle/>
        <a:p>
          <a:endParaRPr lang="en-US"/>
        </a:p>
      </dgm:t>
    </dgm:pt>
    <dgm:pt modelId="{0544A441-78E0-471B-AE3D-04C75BCAB7A7}" type="pres">
      <dgm:prSet presAssocID="{2398D22F-9E9E-4136-A96F-558C70F858C6}" presName="connector2" presStyleLbl="sibTrans2D1" presStyleIdx="1" presStyleCnt="3" custLinFactNeighborX="-18146" custLinFactNeighborY="876"/>
      <dgm:spPr/>
      <dgm:t>
        <a:bodyPr/>
        <a:lstStyle/>
        <a:p>
          <a:endParaRPr lang="en-US"/>
        </a:p>
      </dgm:t>
    </dgm:pt>
    <dgm:pt modelId="{14F2B7B4-EB55-4475-B5C0-4635AC53D2E3}" type="pres">
      <dgm:prSet presAssocID="{126DE5CE-32A8-4EFD-BDDC-FF81D1B87E5B}" presName="connector3" presStyleLbl="sibTrans2D1" presStyleIdx="2" presStyleCnt="3"/>
      <dgm:spPr/>
      <dgm:t>
        <a:bodyPr/>
        <a:lstStyle/>
        <a:p>
          <a:endParaRPr lang="en-US"/>
        </a:p>
      </dgm:t>
    </dgm:pt>
  </dgm:ptLst>
  <dgm:cxnLst>
    <dgm:cxn modelId="{20C7EAA7-7653-4296-BE67-94585BCD9CE6}" type="presOf" srcId="{861F9F0B-ECB7-4A35-B081-B53F6CA27FDD}" destId="{731AFE09-AABB-4C94-9C7B-82578C07C3D8}" srcOrd="2" destOrd="0" presId="urn:microsoft.com/office/officeart/2005/8/layout/gear1"/>
    <dgm:cxn modelId="{97B09FD0-DD8F-430B-9190-DFE2440787CC}" type="presOf" srcId="{5D8E1911-7B33-4E9B-80D8-76C918963D63}" destId="{46CA03AD-E146-4483-8A25-743C15B8CA29}" srcOrd="2" destOrd="0" presId="urn:microsoft.com/office/officeart/2005/8/layout/gear1"/>
    <dgm:cxn modelId="{A227C1E9-4EF9-43AC-A619-E56E060BAAE6}" type="presOf" srcId="{76FFAB65-C54F-4691-94D0-F4D223E63BD4}" destId="{A81E49D8-C8B3-4CD8-BA82-65C51D05D454}" srcOrd="2" destOrd="0" presId="urn:microsoft.com/office/officeart/2005/8/layout/gear1"/>
    <dgm:cxn modelId="{405801DB-1067-45B9-B198-49198D210655}" type="presOf" srcId="{126DE5CE-32A8-4EFD-BDDC-FF81D1B87E5B}" destId="{14F2B7B4-EB55-4475-B5C0-4635AC53D2E3}" srcOrd="0" destOrd="0" presId="urn:microsoft.com/office/officeart/2005/8/layout/gear1"/>
    <dgm:cxn modelId="{0CDA4792-4229-46F9-ACA4-BEE377A9011E}" type="presOf" srcId="{861F9F0B-ECB7-4A35-B081-B53F6CA27FDD}" destId="{9F8DE830-E498-419F-8D2C-9DBAA94F1949}" srcOrd="1" destOrd="0" presId="urn:microsoft.com/office/officeart/2005/8/layout/gear1"/>
    <dgm:cxn modelId="{78BDF170-8ACE-420B-80DF-A49F378F6651}" type="presOf" srcId="{76FFAB65-C54F-4691-94D0-F4D223E63BD4}" destId="{B5680B07-91D3-48A7-9734-94C0E357BEB0}" srcOrd="0" destOrd="0" presId="urn:microsoft.com/office/officeart/2005/8/layout/gear1"/>
    <dgm:cxn modelId="{43E8409A-FBB0-4E36-9564-945BA036DE1B}" type="presOf" srcId="{6924C225-BDE3-4074-A5A3-2F1EE345C270}" destId="{2B0E4C84-F7F4-41F9-AA9A-8845019D1D63}" srcOrd="0" destOrd="0" presId="urn:microsoft.com/office/officeart/2005/8/layout/gear1"/>
    <dgm:cxn modelId="{4CFCD1FB-AA48-449F-8754-3B17DFFC4365}" type="presOf" srcId="{5D8E1911-7B33-4E9B-80D8-76C918963D63}" destId="{B8EA3D01-0B77-48FD-9BD9-BECE3A065FD5}" srcOrd="3" destOrd="0" presId="urn:microsoft.com/office/officeart/2005/8/layout/gear1"/>
    <dgm:cxn modelId="{ACDA66C1-A54A-4FE6-A12D-79D6A2D8B9AA}" type="presOf" srcId="{861F9F0B-ECB7-4A35-B081-B53F6CA27FDD}" destId="{011F83CF-69A5-4C37-A735-B2323E8E9FFA}" srcOrd="0" destOrd="0" presId="urn:microsoft.com/office/officeart/2005/8/layout/gear1"/>
    <dgm:cxn modelId="{690013EF-0C22-4E27-8161-B0068A0175B5}" type="presOf" srcId="{5D8E1911-7B33-4E9B-80D8-76C918963D63}" destId="{301074CA-98C2-43C8-83A6-A5A779B1F145}" srcOrd="0" destOrd="0" presId="urn:microsoft.com/office/officeart/2005/8/layout/gear1"/>
    <dgm:cxn modelId="{B0607DA9-383D-462F-AED4-C95601936E28}" type="presOf" srcId="{5D8E1911-7B33-4E9B-80D8-76C918963D63}" destId="{D71D00E8-BA00-498C-87EF-F58F50639B62}" srcOrd="1" destOrd="0" presId="urn:microsoft.com/office/officeart/2005/8/layout/gear1"/>
    <dgm:cxn modelId="{1666550F-012D-438B-9FB4-17B83E0A1B5F}" type="presOf" srcId="{2398D22F-9E9E-4136-A96F-558C70F858C6}" destId="{0544A441-78E0-471B-AE3D-04C75BCAB7A7}" srcOrd="0" destOrd="0" presId="urn:microsoft.com/office/officeart/2005/8/layout/gear1"/>
    <dgm:cxn modelId="{FCE89462-4F29-40B4-A3F1-D1DF6B07CE45}" srcId="{6924C225-BDE3-4074-A5A3-2F1EE345C270}" destId="{76FFAB65-C54F-4691-94D0-F4D223E63BD4}" srcOrd="0" destOrd="0" parTransId="{9A5CF3CC-E3CD-4F12-AE2A-CC8CE4DD26A0}" sibTransId="{C8B7A1D2-0C60-44EB-87A6-557970372D4C}"/>
    <dgm:cxn modelId="{8F4821B1-7F10-478E-B99D-EF9DBE45C0C3}" type="presOf" srcId="{C8B7A1D2-0C60-44EB-87A6-557970372D4C}" destId="{9A0FDF9F-1F4F-4E96-84E9-EC71FFEC4948}" srcOrd="0" destOrd="0" presId="urn:microsoft.com/office/officeart/2005/8/layout/gear1"/>
    <dgm:cxn modelId="{11BE2385-0477-4833-8A2F-5E63C9F0087F}" srcId="{6924C225-BDE3-4074-A5A3-2F1EE345C270}" destId="{861F9F0B-ECB7-4A35-B081-B53F6CA27FDD}" srcOrd="1" destOrd="0" parTransId="{71D6E51A-4BAA-48DC-A3F2-8F56037DEB5D}" sibTransId="{2398D22F-9E9E-4136-A96F-558C70F858C6}"/>
    <dgm:cxn modelId="{5ABFF2F1-D7BE-42D4-BB1A-F7C9490CDC5B}" srcId="{6924C225-BDE3-4074-A5A3-2F1EE345C270}" destId="{1F9DFD43-5B4A-400B-9809-D9E01B2DA8FD}" srcOrd="3" destOrd="0" parTransId="{6805E175-CE14-4B2B-A448-3CD5E86D1D80}" sibTransId="{883B67ED-4C41-4B6E-886F-AFEC97D6275B}"/>
    <dgm:cxn modelId="{972D2F99-D387-4005-970C-447216D0362E}" type="presOf" srcId="{76FFAB65-C54F-4691-94D0-F4D223E63BD4}" destId="{C1516AFF-39AE-4DDB-91FC-E4FA657A72D9}" srcOrd="1" destOrd="0" presId="urn:microsoft.com/office/officeart/2005/8/layout/gear1"/>
    <dgm:cxn modelId="{8485B761-887F-4C72-B942-266B1A4E8BF5}" srcId="{6924C225-BDE3-4074-A5A3-2F1EE345C270}" destId="{5D8E1911-7B33-4E9B-80D8-76C918963D63}" srcOrd="2" destOrd="0" parTransId="{1F5273D1-F4CD-45C1-AB47-B0126B66906C}" sibTransId="{126DE5CE-32A8-4EFD-BDDC-FF81D1B87E5B}"/>
    <dgm:cxn modelId="{615DFC73-D98D-4EAF-9132-58D8311F6738}" type="presParOf" srcId="{2B0E4C84-F7F4-41F9-AA9A-8845019D1D63}" destId="{B5680B07-91D3-48A7-9734-94C0E357BEB0}" srcOrd="0" destOrd="0" presId="urn:microsoft.com/office/officeart/2005/8/layout/gear1"/>
    <dgm:cxn modelId="{6970F82D-D8E7-47BA-8B8E-9F6BE21EDB5E}" type="presParOf" srcId="{2B0E4C84-F7F4-41F9-AA9A-8845019D1D63}" destId="{C1516AFF-39AE-4DDB-91FC-E4FA657A72D9}" srcOrd="1" destOrd="0" presId="urn:microsoft.com/office/officeart/2005/8/layout/gear1"/>
    <dgm:cxn modelId="{A936E079-0BEF-4FAB-9637-42601051C7CB}" type="presParOf" srcId="{2B0E4C84-F7F4-41F9-AA9A-8845019D1D63}" destId="{A81E49D8-C8B3-4CD8-BA82-65C51D05D454}" srcOrd="2" destOrd="0" presId="urn:microsoft.com/office/officeart/2005/8/layout/gear1"/>
    <dgm:cxn modelId="{D3100325-544B-495B-9F60-0CDD4A1B1B02}" type="presParOf" srcId="{2B0E4C84-F7F4-41F9-AA9A-8845019D1D63}" destId="{011F83CF-69A5-4C37-A735-B2323E8E9FFA}" srcOrd="3" destOrd="0" presId="urn:microsoft.com/office/officeart/2005/8/layout/gear1"/>
    <dgm:cxn modelId="{6BB17630-D272-44B2-A05A-518F767AA896}" type="presParOf" srcId="{2B0E4C84-F7F4-41F9-AA9A-8845019D1D63}" destId="{9F8DE830-E498-419F-8D2C-9DBAA94F1949}" srcOrd="4" destOrd="0" presId="urn:microsoft.com/office/officeart/2005/8/layout/gear1"/>
    <dgm:cxn modelId="{438C5657-A955-48B5-8A05-52351475014D}" type="presParOf" srcId="{2B0E4C84-F7F4-41F9-AA9A-8845019D1D63}" destId="{731AFE09-AABB-4C94-9C7B-82578C07C3D8}" srcOrd="5" destOrd="0" presId="urn:microsoft.com/office/officeart/2005/8/layout/gear1"/>
    <dgm:cxn modelId="{DAF5157A-1F7F-4A80-A643-78B6A917E539}" type="presParOf" srcId="{2B0E4C84-F7F4-41F9-AA9A-8845019D1D63}" destId="{301074CA-98C2-43C8-83A6-A5A779B1F145}" srcOrd="6" destOrd="0" presId="urn:microsoft.com/office/officeart/2005/8/layout/gear1"/>
    <dgm:cxn modelId="{DEFE5AEC-700B-4A20-BEBE-870DCC78A032}" type="presParOf" srcId="{2B0E4C84-F7F4-41F9-AA9A-8845019D1D63}" destId="{D71D00E8-BA00-498C-87EF-F58F50639B62}" srcOrd="7" destOrd="0" presId="urn:microsoft.com/office/officeart/2005/8/layout/gear1"/>
    <dgm:cxn modelId="{4234528C-9F72-47F9-AAC6-7455A10974EF}" type="presParOf" srcId="{2B0E4C84-F7F4-41F9-AA9A-8845019D1D63}" destId="{46CA03AD-E146-4483-8A25-743C15B8CA29}" srcOrd="8" destOrd="0" presId="urn:microsoft.com/office/officeart/2005/8/layout/gear1"/>
    <dgm:cxn modelId="{F15DFA1F-A805-4A01-ABD1-2265E52C2CDF}" type="presParOf" srcId="{2B0E4C84-F7F4-41F9-AA9A-8845019D1D63}" destId="{B8EA3D01-0B77-48FD-9BD9-BECE3A065FD5}" srcOrd="9" destOrd="0" presId="urn:microsoft.com/office/officeart/2005/8/layout/gear1"/>
    <dgm:cxn modelId="{C943B545-C9F7-47AB-A0A6-7C0AAF0BCAA0}" type="presParOf" srcId="{2B0E4C84-F7F4-41F9-AA9A-8845019D1D63}" destId="{9A0FDF9F-1F4F-4E96-84E9-EC71FFEC4948}" srcOrd="10" destOrd="0" presId="urn:microsoft.com/office/officeart/2005/8/layout/gear1"/>
    <dgm:cxn modelId="{BDABE064-F616-404A-B286-46CC878EC4AC}" type="presParOf" srcId="{2B0E4C84-F7F4-41F9-AA9A-8845019D1D63}" destId="{0544A441-78E0-471B-AE3D-04C75BCAB7A7}" srcOrd="11" destOrd="0" presId="urn:microsoft.com/office/officeart/2005/8/layout/gear1"/>
    <dgm:cxn modelId="{5D721FEB-C503-4F96-BDB9-700828C91640}" type="presParOf" srcId="{2B0E4C84-F7F4-41F9-AA9A-8845019D1D63}" destId="{14F2B7B4-EB55-4475-B5C0-4635AC53D2E3}" srcOrd="12" destOrd="0" presId="urn:microsoft.com/office/officeart/2005/8/layout/gear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E722A-CAAD-4F5B-8F5D-8D725C5BDFC3}" type="datetimeFigureOut">
              <a:rPr lang="en-US" smtClean="0"/>
              <a:pPr/>
              <a:t>9/23/2008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9DB9A5-3187-4809-A190-1AA0DFC6902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9DB9A5-3187-4809-A190-1AA0DFC6902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9DB9A5-3187-4809-A190-1AA0DFC69022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9DB9A5-3187-4809-A190-1AA0DFC69022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Download</a:t>
            </a:r>
            <a:r>
              <a:rPr lang="en-US" baseline="0" smtClean="0"/>
              <a:t> SDM file (requires Visio):</a:t>
            </a:r>
          </a:p>
          <a:p>
            <a:r>
              <a:rPr lang="en-US" dirty="0" smtClean="0"/>
              <a:t>https://gforge.nci.nih.gov/docman/view.php/271/4752/NCICB%20SW%20Development%20Methodology%20-%20App%20template.vsd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9DB9A5-3187-4809-A190-1AA0DFC69022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9DB9A5-3187-4809-A190-1AA0DFC69022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9DB9A5-3187-4809-A190-1AA0DFC69022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9DB9A5-3187-4809-A190-1AA0DFC69022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9DB9A5-3187-4809-A190-1AA0DFC69022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9DB9A5-3187-4809-A190-1AA0DFC69022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9DB9A5-3187-4809-A190-1AA0DFC69022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9DB9A5-3187-4809-A190-1AA0DFC69022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9DB9A5-3187-4809-A190-1AA0DFC69022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9DB9A5-3187-4809-A190-1AA0DFC69022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154926" cy="56356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600200"/>
            <a:ext cx="7010400" cy="4525963"/>
          </a:xfrm>
        </p:spPr>
        <p:txBody>
          <a:bodyPr>
            <a:normAutofit/>
          </a:bodyPr>
          <a:lstStyle>
            <a:lvl3pPr>
              <a:defRPr sz="32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6400800" y="3048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caBIG QA Process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914400"/>
            <a:ext cx="9144000" cy="7620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1.jpe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8.png"/><Relationship Id="rId4" Type="http://schemas.openxmlformats.org/officeDocument/2006/relationships/image" Target="../media/image12.jpeg"/><Relationship Id="rId9" Type="http://schemas.openxmlformats.org/officeDocument/2006/relationships/diagramColors" Target="../diagrams/colors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Presenter: Steve Hunter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Topic:</a:t>
            </a:r>
          </a:p>
          <a:p>
            <a:pPr>
              <a:buNone/>
            </a:pPr>
            <a:r>
              <a:rPr lang="en-US" dirty="0" smtClean="0"/>
              <a:t>Overview of caBIG QA Process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52401"/>
            <a:ext cx="4800600" cy="533399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/>
              <a:t>Overview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914400"/>
            <a:ext cx="7772400" cy="5562600"/>
          </a:xfrm>
        </p:spPr>
        <p:txBody>
          <a:bodyPr/>
          <a:lstStyle/>
          <a:p>
            <a:pPr algn="l">
              <a:buFont typeface="Arial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  Goals of QA Process</a:t>
            </a:r>
          </a:p>
          <a:p>
            <a:pPr algn="l">
              <a:buFont typeface="Arial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  Diagram of Project flow</a:t>
            </a:r>
          </a:p>
          <a:p>
            <a:pPr algn="l">
              <a:buFont typeface="Arial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QA’s involvement chronologically:</a:t>
            </a:r>
          </a:p>
          <a:p>
            <a:pPr lvl="1" algn="l">
              <a:buFont typeface="Arial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  Before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Test Execution</a:t>
            </a:r>
          </a:p>
          <a:p>
            <a:pPr lvl="1" algn="l">
              <a:buFont typeface="Arial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During Test Execution</a:t>
            </a:r>
          </a:p>
          <a:p>
            <a:pPr lvl="1" algn="l">
              <a:buFont typeface="Arial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  After Test Execution</a:t>
            </a:r>
          </a:p>
          <a:p>
            <a:pPr algn="l">
              <a:buFont typeface="Arial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  Questions?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0" y="1524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caBIG QA Process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7620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52401"/>
            <a:ext cx="4800600" cy="533399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/>
              <a:t>Goals of QA Process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914400"/>
            <a:ext cx="7772400" cy="5562600"/>
          </a:xfrm>
        </p:spPr>
        <p:txBody>
          <a:bodyPr/>
          <a:lstStyle/>
          <a:p>
            <a:pPr lvl="0" algn="l"/>
            <a:r>
              <a:rPr lang="en-US" dirty="0" smtClean="0">
                <a:solidFill>
                  <a:schemeClr val="tx1"/>
                </a:solidFill>
              </a:rPr>
              <a:t>Ensuring </a:t>
            </a:r>
            <a:r>
              <a:rPr lang="en-US" dirty="0">
                <a:solidFill>
                  <a:schemeClr val="tx1"/>
                </a:solidFill>
              </a:rPr>
              <a:t>quality in:</a:t>
            </a:r>
          </a:p>
          <a:p>
            <a:pPr lvl="1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 Product </a:t>
            </a:r>
            <a:r>
              <a:rPr lang="en-US" dirty="0">
                <a:solidFill>
                  <a:schemeClr val="tx1"/>
                </a:solidFill>
              </a:rPr>
              <a:t>– all outward facing </a:t>
            </a:r>
            <a:r>
              <a:rPr lang="en-US" dirty="0" smtClean="0">
                <a:solidFill>
                  <a:schemeClr val="tx1"/>
                </a:solidFill>
              </a:rPr>
              <a:t>deliverables</a:t>
            </a:r>
            <a:endParaRPr lang="en-US" dirty="0">
              <a:solidFill>
                <a:schemeClr val="tx1"/>
              </a:solidFill>
            </a:endParaRPr>
          </a:p>
          <a:p>
            <a:pPr lvl="1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 Process – </a:t>
            </a:r>
            <a:r>
              <a:rPr lang="en-US" dirty="0">
                <a:solidFill>
                  <a:schemeClr val="tx1"/>
                </a:solidFill>
              </a:rPr>
              <a:t>m</a:t>
            </a:r>
            <a:r>
              <a:rPr lang="en-US" dirty="0" smtClean="0">
                <a:solidFill>
                  <a:schemeClr val="tx1"/>
                </a:solidFill>
              </a:rPr>
              <a:t>ethod </a:t>
            </a:r>
            <a:r>
              <a:rPr lang="en-US" dirty="0">
                <a:solidFill>
                  <a:schemeClr val="tx1"/>
                </a:solidFill>
              </a:rPr>
              <a:t>of producing the product</a:t>
            </a:r>
          </a:p>
          <a:p>
            <a:pPr algn="l">
              <a:buFont typeface="Arial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algn="l">
              <a:buFont typeface="Arial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How we do it:</a:t>
            </a:r>
          </a:p>
          <a:p>
            <a:pPr lvl="1" algn="l">
              <a:buFont typeface="Arial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Test the product</a:t>
            </a:r>
          </a:p>
          <a:p>
            <a:pPr lvl="1" algn="l">
              <a:buFont typeface="Arial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QA throughout SDLC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24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caBIG QA Process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838200"/>
            <a:ext cx="9144000" cy="7620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52401"/>
            <a:ext cx="5029200" cy="533399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/>
              <a:t>Diagram of Project Flow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6400800" y="1524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caBIG QA Process</a:t>
            </a:r>
            <a:endParaRPr lang="en-US" dirty="0"/>
          </a:p>
        </p:txBody>
      </p:sp>
      <p:pic>
        <p:nvPicPr>
          <p:cNvPr id="7" name="Picture 6" descr="Project Proce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8049"/>
            <a:ext cx="9144000" cy="6209951"/>
          </a:xfrm>
          <a:prstGeom prst="rect">
            <a:avLst/>
          </a:prstGeom>
        </p:spPr>
      </p:pic>
      <p:pic>
        <p:nvPicPr>
          <p:cNvPr id="8" name="Picture 7" descr="Project Proce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8049"/>
            <a:ext cx="9144000" cy="6209951"/>
          </a:xfrm>
          <a:prstGeom prst="rect">
            <a:avLst/>
          </a:prstGeom>
          <a:noFill/>
          <a:effectLst/>
        </p:spPr>
      </p:pic>
      <p:grpSp>
        <p:nvGrpSpPr>
          <p:cNvPr id="24" name="Group 2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3810000" y="2743200"/>
              <a:ext cx="1524000" cy="609600"/>
            </a:xfrm>
            <a:prstGeom prst="rect">
              <a:avLst/>
            </a:prstGeom>
            <a:solidFill>
              <a:schemeClr val="accent1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1752600" y="2057400"/>
                <a:ext cx="1447800" cy="12954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0" y="0"/>
                <a:ext cx="457200" cy="33528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0" y="3352800"/>
                <a:ext cx="4876800" cy="35052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457200" y="0"/>
                <a:ext cx="4876800" cy="20574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3200400" y="2057400"/>
                <a:ext cx="2133600" cy="6858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5334000" y="0"/>
                <a:ext cx="3810000" cy="33528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6400800" y="3352800"/>
                <a:ext cx="685800" cy="35052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4876800" y="4572000"/>
                <a:ext cx="1524000" cy="22860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7086600" y="5105400"/>
                <a:ext cx="2057400" cy="17526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8382000" y="3352800"/>
                <a:ext cx="762000" cy="17526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Oval 24"/>
          <p:cNvSpPr/>
          <p:nvPr/>
        </p:nvSpPr>
        <p:spPr>
          <a:xfrm>
            <a:off x="0" y="1828800"/>
            <a:ext cx="4191000" cy="1905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7800" y="1066800"/>
            <a:ext cx="708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System Test Plan</a:t>
            </a:r>
            <a:endParaRPr lang="en-US" sz="2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152401"/>
            <a:ext cx="4800600" cy="533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 smtClean="0">
                <a:latin typeface="+mj-lt"/>
                <a:ea typeface="+mj-ea"/>
                <a:cs typeface="+mj-cs"/>
              </a:rPr>
              <a:t>Before Test Execution</a:t>
            </a:r>
            <a:endParaRPr kumimoji="0" lang="en-US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1524000" y="1524000"/>
            <a:ext cx="7315200" cy="2743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6200" dirty="0" smtClean="0"/>
              <a:t>Approach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6200" dirty="0" smtClean="0"/>
              <a:t>Features to be tested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6200" dirty="0" smtClean="0"/>
              <a:t>Features not to be tested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6200" dirty="0" smtClean="0"/>
              <a:t>Responsibilities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6200" dirty="0" smtClean="0"/>
              <a:t>Resources required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6200" dirty="0" smtClean="0"/>
              <a:t>Schedule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6200" dirty="0" smtClean="0"/>
              <a:t>Risks and contingencies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4000" y="4191000"/>
            <a:ext cx="708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User Acceptance Test Plan</a:t>
            </a:r>
            <a:endParaRPr lang="en-US" sz="2400" dirty="0"/>
          </a:p>
        </p:txBody>
      </p:sp>
      <p:grpSp>
        <p:nvGrpSpPr>
          <p:cNvPr id="19" name="Group 18"/>
          <p:cNvGrpSpPr/>
          <p:nvPr/>
        </p:nvGrpSpPr>
        <p:grpSpPr>
          <a:xfrm rot="10800000">
            <a:off x="304800" y="1143000"/>
            <a:ext cx="914400" cy="2971800"/>
            <a:chOff x="6096000" y="1143000"/>
            <a:chExt cx="914400" cy="2971800"/>
          </a:xfrm>
        </p:grpSpPr>
        <p:sp>
          <p:nvSpPr>
            <p:cNvPr id="8" name="Flowchart: Document 7"/>
            <p:cNvSpPr/>
            <p:nvPr/>
          </p:nvSpPr>
          <p:spPr>
            <a:xfrm rot="10800000">
              <a:off x="6096000" y="1143000"/>
              <a:ext cx="914400" cy="685800"/>
            </a:xfrm>
            <a:prstGeom prst="flowChartDocument">
              <a:avLst/>
            </a:prstGeom>
            <a:solidFill>
              <a:schemeClr val="bg1"/>
            </a:solidFill>
            <a:ln>
              <a:solidFill>
                <a:srgbClr val="0863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User Acceptance Test Plan</a:t>
              </a:r>
            </a:p>
          </p:txBody>
        </p:sp>
        <p:sp>
          <p:nvSpPr>
            <p:cNvPr id="13" name="Flowchart: Document 12"/>
            <p:cNvSpPr/>
            <p:nvPr/>
          </p:nvSpPr>
          <p:spPr>
            <a:xfrm rot="10800000">
              <a:off x="6096000" y="2286000"/>
              <a:ext cx="914400" cy="685800"/>
            </a:xfrm>
            <a:prstGeom prst="flowChartDocument">
              <a:avLst/>
            </a:prstGeom>
            <a:solidFill>
              <a:schemeClr val="bg1"/>
            </a:solidFill>
            <a:ln>
              <a:solidFill>
                <a:srgbClr val="0863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sz="1100" dirty="0" smtClean="0">
                  <a:solidFill>
                    <a:schemeClr val="tx1"/>
                  </a:solidFill>
                </a:rPr>
                <a:t>System Test Plan</a:t>
              </a:r>
            </a:p>
          </p:txBody>
        </p:sp>
        <p:sp>
          <p:nvSpPr>
            <p:cNvPr id="14" name="Flowchart: Document 13"/>
            <p:cNvSpPr/>
            <p:nvPr/>
          </p:nvSpPr>
          <p:spPr>
            <a:xfrm rot="10800000">
              <a:off x="6096000" y="3429000"/>
              <a:ext cx="914400" cy="685800"/>
            </a:xfrm>
            <a:prstGeom prst="flowChartDocumen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sz="1100" dirty="0" smtClean="0">
                  <a:solidFill>
                    <a:schemeClr val="tx1"/>
                  </a:solidFill>
                </a:rPr>
                <a:t>Scope Document</a:t>
              </a:r>
            </a:p>
          </p:txBody>
        </p:sp>
      </p:grpSp>
      <p:sp>
        <p:nvSpPr>
          <p:cNvPr id="20" name="Subtitle 2"/>
          <p:cNvSpPr txBox="1">
            <a:spLocks/>
          </p:cNvSpPr>
          <p:nvPr/>
        </p:nvSpPr>
        <p:spPr>
          <a:xfrm>
            <a:off x="1524000" y="4648200"/>
            <a:ext cx="72390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Same as above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4" name="Straight Arrow Connector 23"/>
          <p:cNvCxnSpPr>
            <a:stCxn id="14" idx="2"/>
            <a:endCxn id="13" idx="0"/>
          </p:cNvCxnSpPr>
          <p:nvPr/>
        </p:nvCxnSpPr>
        <p:spPr>
          <a:xfrm rot="5400000">
            <a:off x="510731" y="2034730"/>
            <a:ext cx="502539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3" idx="2"/>
            <a:endCxn id="8" idx="0"/>
          </p:cNvCxnSpPr>
          <p:nvPr/>
        </p:nvCxnSpPr>
        <p:spPr>
          <a:xfrm rot="5400000">
            <a:off x="510731" y="3177730"/>
            <a:ext cx="502539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7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828800" y="4191000"/>
            <a:ext cx="35814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Sends an email to </a:t>
            </a:r>
            <a:r>
              <a:rPr lang="en-US" sz="2800" b="1" dirty="0" smtClean="0"/>
              <a:t>appropriate</a:t>
            </a:r>
            <a:r>
              <a:rPr lang="en-US" sz="2800" dirty="0" smtClean="0"/>
              <a:t> </a:t>
            </a:r>
            <a:r>
              <a:rPr lang="en-US" sz="2800" b="1" dirty="0" smtClean="0"/>
              <a:t>individuals</a:t>
            </a:r>
            <a:r>
              <a:rPr lang="en-US" dirty="0" smtClean="0"/>
              <a:t>. 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47800" y="1066800"/>
            <a:ext cx="708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Use Case/Requirement Review</a:t>
            </a:r>
            <a:endParaRPr lang="en-US" sz="2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152401"/>
            <a:ext cx="4800600" cy="533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 smtClean="0">
                <a:latin typeface="+mj-lt"/>
                <a:ea typeface="+mj-ea"/>
                <a:cs typeface="+mj-cs"/>
              </a:rPr>
              <a:t>Before Test Execution</a:t>
            </a:r>
            <a:endParaRPr kumimoji="0" lang="en-US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Flowchart: Document 9"/>
          <p:cNvSpPr/>
          <p:nvPr/>
        </p:nvSpPr>
        <p:spPr>
          <a:xfrm>
            <a:off x="152400" y="1219200"/>
            <a:ext cx="1295400" cy="1066800"/>
          </a:xfrm>
          <a:prstGeom prst="flowChartDocumen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 Cases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1524000" y="1524000"/>
            <a:ext cx="7315200" cy="228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Criteria</a:t>
            </a:r>
          </a:p>
          <a:p>
            <a:pPr marL="800100" lvl="1" indent="-342900">
              <a:spcBef>
                <a:spcPct val="20000"/>
              </a:spcBef>
              <a:buFont typeface="Arial" charset="0"/>
              <a:buChar char="•"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Complete</a:t>
            </a:r>
          </a:p>
          <a:p>
            <a:pPr marL="800100" lvl="1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000" dirty="0" smtClean="0"/>
              <a:t>Correct</a:t>
            </a:r>
          </a:p>
          <a:p>
            <a:pPr marL="800100" lvl="1" indent="-342900">
              <a:spcBef>
                <a:spcPct val="20000"/>
              </a:spcBef>
              <a:buFont typeface="Arial" charset="0"/>
              <a:buChar char="•"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Unambiguous</a:t>
            </a:r>
          </a:p>
          <a:p>
            <a:pPr marL="800100" lvl="1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000" dirty="0" smtClean="0"/>
              <a:t>Consistent</a:t>
            </a:r>
          </a:p>
          <a:p>
            <a:pPr marL="800100" lvl="1" indent="-342900">
              <a:spcBef>
                <a:spcPct val="20000"/>
              </a:spcBef>
              <a:buFont typeface="Arial" charset="0"/>
              <a:buChar char="•"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Non-compound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1" descr="Requirement Re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95257"/>
            <a:ext cx="9144000" cy="6531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0" y="4191000"/>
            <a:ext cx="358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Sends an email to appropriate individuals.  </a:t>
            </a:r>
            <a:endParaRPr lang="en-US" dirty="0"/>
          </a:p>
        </p:txBody>
      </p:sp>
      <p:sp>
        <p:nvSpPr>
          <p:cNvPr id="8" name="Action Button: Help 7">
            <a:hlinkClick r:id="" action="ppaction://noaction" highlightClick="1"/>
          </p:cNvPr>
          <p:cNvSpPr/>
          <p:nvPr/>
        </p:nvSpPr>
        <p:spPr>
          <a:xfrm>
            <a:off x="3962400" y="4572000"/>
            <a:ext cx="381000" cy="304800"/>
          </a:xfrm>
          <a:prstGeom prst="actionButtonHelp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:\Documents and Settings\hunterst\Local Settings\Temporary Internet Files\Content.IE5\MU7HUMMZ\MCj04314940000[1]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1000" y="3962400"/>
            <a:ext cx="1295400" cy="1295400"/>
          </a:xfrm>
          <a:prstGeom prst="rect">
            <a:avLst/>
          </a:prstGeom>
          <a:noFill/>
        </p:spPr>
      </p:pic>
      <p:sp>
        <p:nvSpPr>
          <p:cNvPr id="15" name="Action Button: Help 14">
            <a:hlinkClick r:id="" action="ppaction://noaction" highlightClick="1"/>
          </p:cNvPr>
          <p:cNvSpPr/>
          <p:nvPr/>
        </p:nvSpPr>
        <p:spPr>
          <a:xfrm>
            <a:off x="3962400" y="4953000"/>
            <a:ext cx="381000" cy="304800"/>
          </a:xfrm>
          <a:prstGeom prst="actionButtonHelp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4" grpId="2"/>
      <p:bldP spid="9" grpId="0"/>
      <p:bldP spid="9" grpId="1"/>
      <p:bldP spid="8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Test Execution.jpg"/>
          <p:cNvPicPr>
            <a:picLocks noChangeAspect="1"/>
          </p:cNvPicPr>
          <p:nvPr/>
        </p:nvPicPr>
        <p:blipFill>
          <a:blip r:embed="rId2"/>
          <a:srcRect r="38723"/>
          <a:stretch>
            <a:fillRect/>
          </a:stretch>
        </p:blipFill>
        <p:spPr>
          <a:xfrm>
            <a:off x="1752600" y="1371600"/>
            <a:ext cx="7124131" cy="4419600"/>
          </a:xfrm>
          <a:prstGeom prst="rect">
            <a:avLst/>
          </a:prstGeom>
        </p:spPr>
      </p:pic>
      <p:pic>
        <p:nvPicPr>
          <p:cNvPr id="18" name="Picture 17" descr="Test Cases1 - nonexecu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562" y="1219200"/>
            <a:ext cx="7539038" cy="1488289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304800" y="152401"/>
            <a:ext cx="4800600" cy="533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 smtClean="0">
                <a:latin typeface="+mj-lt"/>
                <a:ea typeface="+mj-ea"/>
                <a:cs typeface="+mj-cs"/>
              </a:rPr>
              <a:t>Before Test Execution</a:t>
            </a:r>
            <a:endParaRPr kumimoji="0" lang="en-US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9" name="Picture 18" descr="Test Execution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2895600"/>
            <a:ext cx="7453416" cy="3581400"/>
          </a:xfrm>
          <a:prstGeom prst="rect">
            <a:avLst/>
          </a:prstGeom>
        </p:spPr>
      </p:pic>
      <p:grpSp>
        <p:nvGrpSpPr>
          <p:cNvPr id="2" name="Group 6"/>
          <p:cNvGrpSpPr/>
          <p:nvPr/>
        </p:nvGrpSpPr>
        <p:grpSpPr>
          <a:xfrm rot="10800000">
            <a:off x="304800" y="1143000"/>
            <a:ext cx="914400" cy="2971800"/>
            <a:chOff x="6096000" y="1143000"/>
            <a:chExt cx="914400" cy="2971800"/>
          </a:xfrm>
        </p:grpSpPr>
        <p:sp>
          <p:nvSpPr>
            <p:cNvPr id="8" name="Flowchart: Document 7"/>
            <p:cNvSpPr/>
            <p:nvPr/>
          </p:nvSpPr>
          <p:spPr>
            <a:xfrm rot="10800000">
              <a:off x="6096000" y="1143000"/>
              <a:ext cx="914400" cy="685800"/>
            </a:xfrm>
            <a:prstGeom prst="flowChartDocument">
              <a:avLst/>
            </a:prstGeom>
            <a:solidFill>
              <a:schemeClr val="bg1"/>
            </a:solidFill>
            <a:ln>
              <a:solidFill>
                <a:srgbClr val="0863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User Acceptance Test Cases</a:t>
              </a:r>
            </a:p>
          </p:txBody>
        </p:sp>
        <p:sp>
          <p:nvSpPr>
            <p:cNvPr id="12" name="Flowchart: Document 11"/>
            <p:cNvSpPr/>
            <p:nvPr/>
          </p:nvSpPr>
          <p:spPr>
            <a:xfrm rot="10800000">
              <a:off x="6096000" y="2286000"/>
              <a:ext cx="914400" cy="685800"/>
            </a:xfrm>
            <a:prstGeom prst="flowChartDocument">
              <a:avLst/>
            </a:prstGeom>
            <a:solidFill>
              <a:schemeClr val="bg1"/>
            </a:solidFill>
            <a:ln>
              <a:solidFill>
                <a:srgbClr val="0863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sz="1100" dirty="0" smtClean="0">
                  <a:solidFill>
                    <a:schemeClr val="tx1"/>
                  </a:solidFill>
                </a:rPr>
                <a:t>System Test Cases</a:t>
              </a:r>
            </a:p>
          </p:txBody>
        </p:sp>
        <p:sp>
          <p:nvSpPr>
            <p:cNvPr id="13" name="Flowchart: Document 12"/>
            <p:cNvSpPr/>
            <p:nvPr/>
          </p:nvSpPr>
          <p:spPr>
            <a:xfrm rot="10800000">
              <a:off x="6096000" y="3429000"/>
              <a:ext cx="914400" cy="685800"/>
            </a:xfrm>
            <a:prstGeom prst="flowChartDocumen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sz="1100" dirty="0" smtClean="0">
                  <a:solidFill>
                    <a:schemeClr val="tx1"/>
                  </a:solidFill>
                </a:rPr>
                <a:t>Use Case Document</a:t>
              </a:r>
            </a:p>
          </p:txBody>
        </p:sp>
      </p:grpSp>
      <p:sp>
        <p:nvSpPr>
          <p:cNvPr id="24" name="Oval 23"/>
          <p:cNvSpPr/>
          <p:nvPr/>
        </p:nvSpPr>
        <p:spPr>
          <a:xfrm>
            <a:off x="5562600" y="1143000"/>
            <a:ext cx="18288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7315200" y="1143000"/>
            <a:ext cx="18288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3810000" y="1143000"/>
            <a:ext cx="18288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1676400" y="1143000"/>
            <a:ext cx="18288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 rot="16200000">
            <a:off x="2895600" y="4000500"/>
            <a:ext cx="18288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 rot="5400000">
            <a:off x="510731" y="2034730"/>
            <a:ext cx="502539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2"/>
            <a:endCxn id="8" idx="0"/>
          </p:cNvCxnSpPr>
          <p:nvPr/>
        </p:nvCxnSpPr>
        <p:spPr>
          <a:xfrm rot="5400000">
            <a:off x="510731" y="3177730"/>
            <a:ext cx="502539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4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2" grpId="0" animBg="1"/>
      <p:bldP spid="3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7800" y="914400"/>
            <a:ext cx="708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Reviews</a:t>
            </a:r>
            <a:endParaRPr lang="en-US" sz="2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152401"/>
            <a:ext cx="4800600" cy="533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 smtClean="0">
                <a:latin typeface="+mj-lt"/>
                <a:ea typeface="+mj-ea"/>
                <a:cs typeface="+mj-cs"/>
              </a:rPr>
              <a:t>Before Test Execution</a:t>
            </a:r>
            <a:endParaRPr kumimoji="0" lang="en-US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Flowchart: Document 10"/>
          <p:cNvSpPr/>
          <p:nvPr/>
        </p:nvSpPr>
        <p:spPr>
          <a:xfrm>
            <a:off x="152400" y="1066800"/>
            <a:ext cx="1295400" cy="1066800"/>
          </a:xfrm>
          <a:prstGeom prst="flowChartDocumen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Code Review</a:t>
            </a:r>
          </a:p>
        </p:txBody>
      </p:sp>
      <p:pic>
        <p:nvPicPr>
          <p:cNvPr id="13" name="Picture 12" descr="Approval1.jpg"/>
          <p:cNvPicPr>
            <a:picLocks noChangeAspect="1"/>
          </p:cNvPicPr>
          <p:nvPr/>
        </p:nvPicPr>
        <p:blipFill>
          <a:blip r:embed="rId3"/>
          <a:srcRect r="15575"/>
          <a:stretch>
            <a:fillRect/>
          </a:stretch>
        </p:blipFill>
        <p:spPr>
          <a:xfrm>
            <a:off x="111688" y="4081462"/>
            <a:ext cx="8879912" cy="2395538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52600" y="1397000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441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Document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Reviewer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Scope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PM, Product Manager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Test Plan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PM, QA Manager, other QA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DEV, External DEV, Gov. sponsor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Requirements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QA, DEV, End Users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Test Cases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DEV, QA Manager, PM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Code Review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DEV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52401"/>
            <a:ext cx="5029200" cy="533399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/>
              <a:t>Diagram of Project Flow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6400800" y="1524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caBIG QA Process</a:t>
            </a:r>
            <a:endParaRPr lang="en-US" dirty="0"/>
          </a:p>
        </p:txBody>
      </p:sp>
      <p:pic>
        <p:nvPicPr>
          <p:cNvPr id="7" name="Picture 6" descr="Project Proce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8049"/>
            <a:ext cx="9144000" cy="6209951"/>
          </a:xfrm>
          <a:prstGeom prst="rect">
            <a:avLst/>
          </a:prstGeom>
        </p:spPr>
      </p:pic>
      <p:pic>
        <p:nvPicPr>
          <p:cNvPr id="8" name="Picture 7" descr="Project Proce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8049"/>
            <a:ext cx="9144000" cy="6209951"/>
          </a:xfrm>
          <a:prstGeom prst="rect">
            <a:avLst/>
          </a:prstGeom>
          <a:noFill/>
          <a:effectLst/>
        </p:spPr>
      </p:pic>
      <p:grpSp>
        <p:nvGrpSpPr>
          <p:cNvPr id="3" name="Group 2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3810000" y="2743200"/>
              <a:ext cx="1524000" cy="609600"/>
            </a:xfrm>
            <a:prstGeom prst="rect">
              <a:avLst/>
            </a:prstGeom>
            <a:solidFill>
              <a:schemeClr val="accent1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22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1752600" y="2057400"/>
                <a:ext cx="1447800" cy="12954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0" y="0"/>
                <a:ext cx="457200" cy="33528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0" y="3352800"/>
                <a:ext cx="4876800" cy="35052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457200" y="0"/>
                <a:ext cx="4876800" cy="20574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3200400" y="2057400"/>
                <a:ext cx="2133600" cy="6858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5334000" y="0"/>
                <a:ext cx="3810000" cy="33528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6400800" y="3352800"/>
                <a:ext cx="685800" cy="35052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4876800" y="4572000"/>
                <a:ext cx="1524000" cy="22860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7086600" y="5105400"/>
                <a:ext cx="2057400" cy="17526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8382000" y="3352800"/>
                <a:ext cx="762000" cy="17526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/>
          <p:cNvSpPr/>
          <p:nvPr/>
        </p:nvSpPr>
        <p:spPr>
          <a:xfrm>
            <a:off x="457200" y="2057400"/>
            <a:ext cx="1295400" cy="1295400"/>
          </a:xfrm>
          <a:prstGeom prst="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200400" y="2743200"/>
            <a:ext cx="609600" cy="609600"/>
          </a:xfrm>
          <a:prstGeom prst="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:\Documents and Settings\hunterst\Local Settings\Temporary Internet Files\Content.IE5\CMVIV4JF\MCj04326010000[1]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8200" y="1524000"/>
            <a:ext cx="533286" cy="533286"/>
          </a:xfrm>
          <a:prstGeom prst="rect">
            <a:avLst/>
          </a:prstGeom>
          <a:noFill/>
        </p:spPr>
      </p:pic>
      <p:pic>
        <p:nvPicPr>
          <p:cNvPr id="24" name="Picture 2" descr="C:\Documents and Settings\hunterst\Local Settings\Temporary Internet Files\Content.IE5\CMVIV4JF\MCj04326010000[1]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00400" y="2209800"/>
            <a:ext cx="533286" cy="533286"/>
          </a:xfrm>
          <a:prstGeom prst="rect">
            <a:avLst/>
          </a:prstGeom>
          <a:noFill/>
        </p:spPr>
      </p:pic>
      <p:sp>
        <p:nvSpPr>
          <p:cNvPr id="25" name="Oval 24"/>
          <p:cNvSpPr/>
          <p:nvPr/>
        </p:nvSpPr>
        <p:spPr>
          <a:xfrm>
            <a:off x="4572000" y="2971800"/>
            <a:ext cx="2057400" cy="1905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200" y="1066800"/>
            <a:ext cx="708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Build and Deployment</a:t>
            </a:r>
            <a:endParaRPr lang="en-US" sz="2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152401"/>
            <a:ext cx="4800600" cy="533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 smtClean="0">
                <a:latin typeface="+mj-lt"/>
                <a:ea typeface="+mj-ea"/>
                <a:cs typeface="+mj-cs"/>
              </a:rPr>
              <a:t>During Test Execution</a:t>
            </a:r>
            <a:endParaRPr kumimoji="0" lang="en-US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228600" y="1524000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6200" dirty="0" smtClean="0"/>
              <a:t>Old Way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457200" y="2514600"/>
            <a:ext cx="3581400" cy="2133600"/>
            <a:chOff x="533400" y="1981200"/>
            <a:chExt cx="3581400" cy="2133600"/>
          </a:xfrm>
        </p:grpSpPr>
        <p:sp>
          <p:nvSpPr>
            <p:cNvPr id="7" name="Flowchart: Document 6"/>
            <p:cNvSpPr/>
            <p:nvPr/>
          </p:nvSpPr>
          <p:spPr>
            <a:xfrm>
              <a:off x="533400" y="1981200"/>
              <a:ext cx="838200" cy="609600"/>
            </a:xfrm>
            <a:prstGeom prst="flowChartDocumen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/>
                <a:t>CVS Tag</a:t>
              </a:r>
            </a:p>
          </p:txBody>
        </p:sp>
        <p:sp>
          <p:nvSpPr>
            <p:cNvPr id="12" name="Flowchart: Document 11"/>
            <p:cNvSpPr/>
            <p:nvPr/>
          </p:nvSpPr>
          <p:spPr>
            <a:xfrm>
              <a:off x="533400" y="2743200"/>
              <a:ext cx="838200" cy="609600"/>
            </a:xfrm>
            <a:prstGeom prst="flowChartDocumen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/>
                <a:t>Build Document</a:t>
              </a:r>
            </a:p>
          </p:txBody>
        </p:sp>
        <p:sp>
          <p:nvSpPr>
            <p:cNvPr id="13" name="Flowchart: Document 12"/>
            <p:cNvSpPr/>
            <p:nvPr/>
          </p:nvSpPr>
          <p:spPr>
            <a:xfrm>
              <a:off x="533400" y="3505200"/>
              <a:ext cx="838200" cy="609600"/>
            </a:xfrm>
            <a:prstGeom prst="flowChartDocumen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/>
                <a:t>Deployment Document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514600" y="2286000"/>
              <a:ext cx="1600200" cy="15240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QA Builds to the QA Tier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Arrow Connector 15"/>
            <p:cNvCxnSpPr>
              <a:stCxn id="7" idx="3"/>
              <a:endCxn id="14" idx="1"/>
            </p:cNvCxnSpPr>
            <p:nvPr/>
          </p:nvCxnSpPr>
          <p:spPr>
            <a:xfrm>
              <a:off x="1371600" y="2286000"/>
              <a:ext cx="1143000" cy="762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2" idx="3"/>
              <a:endCxn id="14" idx="1"/>
            </p:cNvCxnSpPr>
            <p:nvPr/>
          </p:nvCxnSpPr>
          <p:spPr>
            <a:xfrm>
              <a:off x="1371600" y="3048000"/>
              <a:ext cx="1143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3" idx="3"/>
              <a:endCxn id="14" idx="1"/>
            </p:cNvCxnSpPr>
            <p:nvPr/>
          </p:nvCxnSpPr>
          <p:spPr>
            <a:xfrm flipV="1">
              <a:off x="1371600" y="3048000"/>
              <a:ext cx="1143000" cy="762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ectangle 26"/>
          <p:cNvSpPr/>
          <p:nvPr/>
        </p:nvSpPr>
        <p:spPr>
          <a:xfrm>
            <a:off x="4495800" y="1295400"/>
            <a:ext cx="76200" cy="5029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57800" y="2286000"/>
            <a:ext cx="28956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" name="Subtitle 2"/>
          <p:cNvSpPr txBox="1">
            <a:spLocks/>
          </p:cNvSpPr>
          <p:nvPr/>
        </p:nvSpPr>
        <p:spPr>
          <a:xfrm>
            <a:off x="4648200" y="1524000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6200" dirty="0" smtClean="0"/>
              <a:t>New Way - Automation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533400" y="4419600"/>
            <a:ext cx="2819400" cy="1447800"/>
            <a:chOff x="533400" y="4419600"/>
            <a:chExt cx="2819400" cy="1447800"/>
          </a:xfrm>
        </p:grpSpPr>
        <p:pic>
          <p:nvPicPr>
            <p:cNvPr id="3076" name="Picture 4" descr="C:\Documents and Settings\hunterst\Local Settings\Temporary Internet Files\Content.IE5\CMVIV4JF\MCj04339340000[1]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752600" y="5181600"/>
              <a:ext cx="685799" cy="685799"/>
            </a:xfrm>
            <a:prstGeom prst="rect">
              <a:avLst/>
            </a:prstGeom>
            <a:noFill/>
          </p:spPr>
        </p:pic>
        <p:sp>
          <p:nvSpPr>
            <p:cNvPr id="35" name="Left-Up Arrow 34"/>
            <p:cNvSpPr/>
            <p:nvPr/>
          </p:nvSpPr>
          <p:spPr>
            <a:xfrm>
              <a:off x="2514600" y="4419600"/>
              <a:ext cx="838200" cy="1295400"/>
            </a:xfrm>
            <a:prstGeom prst="leftUpArrow">
              <a:avLst>
                <a:gd name="adj1" fmla="val 12807"/>
                <a:gd name="adj2" fmla="val 25000"/>
                <a:gd name="adj3" fmla="val 25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Left-Up Arrow 35"/>
            <p:cNvSpPr/>
            <p:nvPr/>
          </p:nvSpPr>
          <p:spPr>
            <a:xfrm rot="5400000">
              <a:off x="571500" y="4762500"/>
              <a:ext cx="1066800" cy="1143000"/>
            </a:xfrm>
            <a:prstGeom prst="leftUpArrow">
              <a:avLst>
                <a:gd name="adj1" fmla="val 8773"/>
                <a:gd name="adj2" fmla="val 25000"/>
                <a:gd name="adj3" fmla="val 25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276600" y="1066800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Execute the Test Plan</a:t>
            </a:r>
            <a:endParaRPr lang="en-US" sz="2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152401"/>
            <a:ext cx="4800600" cy="533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 smtClean="0">
                <a:latin typeface="+mj-lt"/>
                <a:ea typeface="+mj-ea"/>
                <a:cs typeface="+mj-cs"/>
              </a:rPr>
              <a:t>During Test Execution</a:t>
            </a:r>
            <a:endParaRPr kumimoji="0" lang="en-US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3352800" y="1524000"/>
            <a:ext cx="54864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Execution</a:t>
            </a:r>
            <a:r>
              <a:rPr kumimoji="0" lang="en-US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Integration</a:t>
            </a:r>
            <a:r>
              <a:rPr kumimoji="0" lang="en-US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System Testing</a:t>
            </a:r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r>
              <a:rPr lang="en-US" dirty="0" smtClean="0"/>
              <a:t>Post Defects in GForge Bug tracker</a:t>
            </a:r>
            <a:endParaRPr kumimoji="0" lang="en-US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r>
              <a:rPr kumimoji="0" lang="en-US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Triage defects</a:t>
            </a:r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endParaRPr lang="en-US" dirty="0" smtClean="0"/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endParaRPr kumimoji="0" lang="en-US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endParaRPr lang="en-US" baseline="0" dirty="0" smtClean="0"/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endParaRPr kumimoji="0" lang="en-US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endParaRPr lang="en-US" baseline="0" dirty="0" smtClean="0"/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endParaRPr kumimoji="0" lang="en-US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6" descr="During1.jpg"/>
          <p:cNvPicPr>
            <a:picLocks noChangeAspect="1"/>
          </p:cNvPicPr>
          <p:nvPr/>
        </p:nvPicPr>
        <p:blipFill>
          <a:blip r:embed="rId3"/>
          <a:srcRect t="61972" r="21067"/>
          <a:stretch>
            <a:fillRect/>
          </a:stretch>
        </p:blipFill>
        <p:spPr>
          <a:xfrm>
            <a:off x="152400" y="1143000"/>
            <a:ext cx="2819400" cy="1028700"/>
          </a:xfrm>
          <a:prstGeom prst="rect">
            <a:avLst/>
          </a:prstGeom>
        </p:spPr>
      </p:pic>
      <p:sp>
        <p:nvSpPr>
          <p:cNvPr id="19" name="Subtitle 2"/>
          <p:cNvSpPr txBox="1">
            <a:spLocks/>
          </p:cNvSpPr>
          <p:nvPr/>
        </p:nvSpPr>
        <p:spPr>
          <a:xfrm>
            <a:off x="3352800" y="4724400"/>
            <a:ext cx="5486400" cy="16000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r>
              <a:rPr kumimoji="0" lang="en-US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DEV team fixes defect</a:t>
            </a:r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endParaRPr kumimoji="0" lang="en-US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r>
              <a:rPr kumimoji="0" lang="en-US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QA Verify fixes</a:t>
            </a:r>
          </a:p>
          <a:p>
            <a:pPr marL="342900" lvl="0" indent="-342900">
              <a:spcBef>
                <a:spcPct val="20000"/>
              </a:spcBef>
            </a:pPr>
            <a:endParaRPr kumimoji="0" lang="en-US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r>
              <a:rPr lang="en-US" dirty="0" smtClean="0"/>
              <a:t>Regression Test</a:t>
            </a:r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endParaRPr kumimoji="0" lang="en-US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endParaRPr lang="en-US" baseline="0" dirty="0" smtClean="0"/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endParaRPr kumimoji="0" lang="en-US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endParaRPr lang="en-US" baseline="0" dirty="0" smtClean="0"/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endParaRPr kumimoji="0" lang="en-US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1" name="Picture 20" descr="Triage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725" y="2581275"/>
            <a:ext cx="6315075" cy="1914525"/>
          </a:xfrm>
          <a:prstGeom prst="rect">
            <a:avLst/>
          </a:prstGeom>
        </p:spPr>
      </p:pic>
      <p:pic>
        <p:nvPicPr>
          <p:cNvPr id="22" name="Picture 2" descr="C:\Documents and Settings\hunterst\Local Settings\Temporary Internet Files\Content.IE5\CMVIV4JF\MCj04326010000[1]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62863" y="3952875"/>
            <a:ext cx="533286" cy="533286"/>
          </a:xfrm>
          <a:prstGeom prst="rect">
            <a:avLst/>
          </a:prstGeom>
          <a:noFill/>
        </p:spPr>
      </p:pic>
      <p:pic>
        <p:nvPicPr>
          <p:cNvPr id="23" name="Picture 2" descr="C:\Documents and Settings\hunterst\Local Settings\Temporary Internet Files\Content.IE5\CMVIV4JF\MCj04326010000[1]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62863" y="2505075"/>
            <a:ext cx="533286" cy="533286"/>
          </a:xfrm>
          <a:prstGeom prst="rect">
            <a:avLst/>
          </a:prstGeom>
          <a:noFill/>
        </p:spPr>
      </p:pic>
      <p:pic>
        <p:nvPicPr>
          <p:cNvPr id="24" name="Picture 2" descr="C:\Documents and Settings\hunterst\Local Settings\Temporary Internet Files\Content.IE5\CMVIV4JF\MCj04326010000[1]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10314" y="5257800"/>
            <a:ext cx="533286" cy="533229"/>
          </a:xfrm>
          <a:prstGeom prst="rect">
            <a:avLst/>
          </a:prstGeom>
          <a:solidFill>
            <a:srgbClr val="00B050"/>
          </a:solidFill>
        </p:spPr>
      </p:pic>
      <p:graphicFrame>
        <p:nvGraphicFramePr>
          <p:cNvPr id="30" name="Diagram 29"/>
          <p:cNvGraphicFramePr/>
          <p:nvPr/>
        </p:nvGraphicFramePr>
        <p:xfrm>
          <a:off x="6019800" y="4495800"/>
          <a:ext cx="2895600" cy="2209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Graphic spid="30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1143000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Defect Tracking with GForge</a:t>
            </a:r>
            <a:endParaRPr lang="en-US" sz="2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152401"/>
            <a:ext cx="4800600" cy="533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 smtClean="0">
                <a:latin typeface="+mj-lt"/>
                <a:ea typeface="+mj-ea"/>
                <a:cs typeface="+mj-cs"/>
              </a:rPr>
              <a:t>During Test Execution</a:t>
            </a:r>
            <a:endParaRPr kumimoji="0" lang="en-US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9" name="Picture 18" descr="GForge.jpg"/>
          <p:cNvPicPr>
            <a:picLocks noChangeAspect="1"/>
          </p:cNvPicPr>
          <p:nvPr/>
        </p:nvPicPr>
        <p:blipFill>
          <a:blip r:embed="rId3"/>
          <a:srcRect t="30000"/>
          <a:stretch>
            <a:fillRect/>
          </a:stretch>
        </p:blipFill>
        <p:spPr>
          <a:xfrm>
            <a:off x="73346" y="1676400"/>
            <a:ext cx="6632254" cy="4800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200" y="5486400"/>
            <a:ext cx="18288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6200" y="5181600"/>
            <a:ext cx="18288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876800" y="3505200"/>
            <a:ext cx="18288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200" y="4800600"/>
            <a:ext cx="18288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6200" y="5791200"/>
            <a:ext cx="18288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52401"/>
            <a:ext cx="5029200" cy="533399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/>
              <a:t>Diagram of Project Flow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6400800" y="1524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caBIG QA Process</a:t>
            </a:r>
            <a:endParaRPr lang="en-US" dirty="0"/>
          </a:p>
        </p:txBody>
      </p:sp>
      <p:pic>
        <p:nvPicPr>
          <p:cNvPr id="7" name="Picture 6" descr="Project Proce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8049"/>
            <a:ext cx="9144000" cy="6209951"/>
          </a:xfrm>
          <a:prstGeom prst="rect">
            <a:avLst/>
          </a:prstGeom>
        </p:spPr>
      </p:pic>
      <p:pic>
        <p:nvPicPr>
          <p:cNvPr id="8" name="Picture 7" descr="Project Proce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8049"/>
            <a:ext cx="9144000" cy="6209951"/>
          </a:xfrm>
          <a:prstGeom prst="rect">
            <a:avLst/>
          </a:prstGeom>
          <a:noFill/>
          <a:effectLst/>
        </p:spPr>
      </p:pic>
      <p:grpSp>
        <p:nvGrpSpPr>
          <p:cNvPr id="3" name="Group 2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3810000" y="2743200"/>
              <a:ext cx="1524000" cy="609600"/>
            </a:xfrm>
            <a:prstGeom prst="rect">
              <a:avLst/>
            </a:prstGeom>
            <a:solidFill>
              <a:schemeClr val="accent1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22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1752600" y="2057400"/>
                <a:ext cx="1447800" cy="12954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0" y="0"/>
                <a:ext cx="457200" cy="33528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0" y="3352800"/>
                <a:ext cx="4876800" cy="35052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457200" y="0"/>
                <a:ext cx="4876800" cy="20574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3200400" y="2057400"/>
                <a:ext cx="2133600" cy="6858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5334000" y="0"/>
                <a:ext cx="3810000" cy="33528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6400800" y="3352800"/>
                <a:ext cx="685800" cy="35052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4876800" y="4572000"/>
                <a:ext cx="1524000" cy="22860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7086600" y="5105400"/>
                <a:ext cx="2057400" cy="17526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8382000" y="3352800"/>
                <a:ext cx="762000" cy="17526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/>
          <p:cNvSpPr/>
          <p:nvPr/>
        </p:nvSpPr>
        <p:spPr>
          <a:xfrm>
            <a:off x="457200" y="2057400"/>
            <a:ext cx="1295400" cy="1295400"/>
          </a:xfrm>
          <a:prstGeom prst="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200400" y="2743200"/>
            <a:ext cx="609600" cy="609600"/>
          </a:xfrm>
          <a:prstGeom prst="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:\Documents and Settings\hunterst\Local Settings\Temporary Internet Files\Content.IE5\CMVIV4JF\MCj04326010000[1]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8200" y="1524000"/>
            <a:ext cx="533286" cy="533286"/>
          </a:xfrm>
          <a:prstGeom prst="rect">
            <a:avLst/>
          </a:prstGeom>
          <a:noFill/>
        </p:spPr>
      </p:pic>
      <p:pic>
        <p:nvPicPr>
          <p:cNvPr id="24" name="Picture 2" descr="C:\Documents and Settings\hunterst\Local Settings\Temporary Internet Files\Content.IE5\CMVIV4JF\MCj04326010000[1]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00400" y="2209800"/>
            <a:ext cx="533286" cy="533286"/>
          </a:xfrm>
          <a:prstGeom prst="rect">
            <a:avLst/>
          </a:prstGeom>
          <a:noFill/>
        </p:spPr>
      </p:pic>
      <p:sp>
        <p:nvSpPr>
          <p:cNvPr id="25" name="Oval 24"/>
          <p:cNvSpPr/>
          <p:nvPr/>
        </p:nvSpPr>
        <p:spPr>
          <a:xfrm>
            <a:off x="6705600" y="2971800"/>
            <a:ext cx="2057400" cy="2438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876800" y="3352800"/>
            <a:ext cx="1524000" cy="1219200"/>
          </a:xfrm>
          <a:prstGeom prst="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" descr="C:\Documents and Settings\hunterst\Local Settings\Temporary Internet Files\Content.IE5\CMVIV4JF\MCj04326010000[1]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114" y="2819400"/>
            <a:ext cx="533286" cy="533286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95600" y="1066800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Stage</a:t>
            </a:r>
            <a:endParaRPr lang="en-US" sz="2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152401"/>
            <a:ext cx="4800600" cy="533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 smtClean="0">
                <a:latin typeface="+mj-lt"/>
                <a:ea typeface="+mj-ea"/>
                <a:cs typeface="+mj-cs"/>
              </a:rPr>
              <a:t>After Test Execution</a:t>
            </a:r>
            <a:endParaRPr kumimoji="0" lang="en-US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3200400" y="1524000"/>
            <a:ext cx="55626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r>
              <a:rPr lang="en-US" dirty="0" smtClean="0"/>
              <a:t>Permission to proceed to Stage</a:t>
            </a:r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r>
              <a:rPr lang="en-US" dirty="0" smtClean="0"/>
              <a:t>Stage is built and deployed</a:t>
            </a:r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r>
              <a:rPr lang="en-US" dirty="0" smtClean="0"/>
              <a:t>Smoke Test Stage tier</a:t>
            </a:r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6" descr="After1.jpg"/>
          <p:cNvPicPr>
            <a:picLocks noChangeAspect="1"/>
          </p:cNvPicPr>
          <p:nvPr/>
        </p:nvPicPr>
        <p:blipFill>
          <a:blip r:embed="rId3"/>
          <a:srcRect l="15909" r="6818" b="30612"/>
          <a:stretch>
            <a:fillRect/>
          </a:stretch>
        </p:blipFill>
        <p:spPr>
          <a:xfrm>
            <a:off x="76200" y="1066800"/>
            <a:ext cx="2590800" cy="2590800"/>
          </a:xfrm>
          <a:prstGeom prst="rect">
            <a:avLst/>
          </a:prstGeom>
        </p:spPr>
      </p:pic>
      <p:grpSp>
        <p:nvGrpSpPr>
          <p:cNvPr id="28" name="Group 27"/>
          <p:cNvGrpSpPr/>
          <p:nvPr/>
        </p:nvGrpSpPr>
        <p:grpSpPr>
          <a:xfrm>
            <a:off x="152543" y="3581400"/>
            <a:ext cx="8534257" cy="2743200"/>
            <a:chOff x="152543" y="3581400"/>
            <a:chExt cx="8534257" cy="2743200"/>
          </a:xfrm>
        </p:grpSpPr>
        <p:pic>
          <p:nvPicPr>
            <p:cNvPr id="3073" name="Picture 1" descr="C:\Documents and Settings\hunterst\Local Settings\Temporary Internet Files\Content.IE5\Y80KNJRF\MCj04396120000[1]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400800" y="4495800"/>
              <a:ext cx="2133600" cy="1517227"/>
            </a:xfrm>
            <a:prstGeom prst="rect">
              <a:avLst/>
            </a:prstGeom>
            <a:noFill/>
          </p:spPr>
        </p:pic>
        <p:sp>
          <p:nvSpPr>
            <p:cNvPr id="8" name="TextBox 7"/>
            <p:cNvSpPr txBox="1"/>
            <p:nvPr/>
          </p:nvSpPr>
          <p:spPr>
            <a:xfrm>
              <a:off x="2895600" y="3581400"/>
              <a:ext cx="5791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User Acceptance Testing</a:t>
              </a:r>
              <a:endParaRPr lang="en-US" sz="2400" dirty="0"/>
            </a:p>
          </p:txBody>
        </p:sp>
        <p:pic>
          <p:nvPicPr>
            <p:cNvPr id="4099" name="Picture 3" descr="C:\Documents and Settings\hunterst\Local Settings\Temporary Internet Files\Content.IE5\92JARTK8\MCj04348830000[1].pn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52543" y="3886200"/>
              <a:ext cx="990457" cy="990457"/>
            </a:xfrm>
            <a:prstGeom prst="rect">
              <a:avLst/>
            </a:prstGeom>
            <a:noFill/>
          </p:spPr>
        </p:pic>
        <p:pic>
          <p:nvPicPr>
            <p:cNvPr id="12" name="Picture 3" descr="C:\Documents and Settings\hunterst\Local Settings\Temporary Internet Files\Content.IE5\92JARTK8\MCj04348830000[1].pn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295543" y="4876800"/>
              <a:ext cx="990457" cy="990457"/>
            </a:xfrm>
            <a:prstGeom prst="rect">
              <a:avLst/>
            </a:prstGeom>
            <a:noFill/>
          </p:spPr>
        </p:pic>
        <p:pic>
          <p:nvPicPr>
            <p:cNvPr id="13" name="Picture 3" descr="C:\Documents and Settings\hunterst\Local Settings\Temporary Internet Files\Content.IE5\92JARTK8\MCj04348830000[1].pn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295543" y="3886200"/>
              <a:ext cx="990457" cy="990457"/>
            </a:xfrm>
            <a:prstGeom prst="rect">
              <a:avLst/>
            </a:prstGeom>
            <a:noFill/>
          </p:spPr>
        </p:pic>
        <p:pic>
          <p:nvPicPr>
            <p:cNvPr id="14" name="Picture 3" descr="C:\Documents and Settings\hunterst\Local Settings\Temporary Internet Files\Content.IE5\92JARTK8\MCj04348830000[1].pn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28743" y="4876800"/>
              <a:ext cx="990457" cy="990457"/>
            </a:xfrm>
            <a:prstGeom prst="rect">
              <a:avLst/>
            </a:prstGeom>
            <a:noFill/>
          </p:spPr>
        </p:pic>
        <p:pic>
          <p:nvPicPr>
            <p:cNvPr id="4100" name="Picture 4" descr="C:\Documents and Settings\hunterst\Local Settings\Temporary Internet Files\Content.IE5\RQD9OOSF\MCj04348740000[1].png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810143" y="4419600"/>
              <a:ext cx="1142857" cy="1142857"/>
            </a:xfrm>
            <a:prstGeom prst="rect">
              <a:avLst/>
            </a:prstGeom>
            <a:noFill/>
          </p:spPr>
        </p:pic>
        <p:grpSp>
          <p:nvGrpSpPr>
            <p:cNvPr id="18" name="Group 17"/>
            <p:cNvGrpSpPr/>
            <p:nvPr/>
          </p:nvGrpSpPr>
          <p:grpSpPr>
            <a:xfrm>
              <a:off x="2590800" y="4800600"/>
              <a:ext cx="3657600" cy="533400"/>
              <a:chOff x="1523857" y="4953000"/>
              <a:chExt cx="3657600" cy="533400"/>
            </a:xfrm>
          </p:grpSpPr>
          <p:sp>
            <p:nvSpPr>
              <p:cNvPr id="16" name="Right Arrow 15"/>
              <p:cNvSpPr/>
              <p:nvPr/>
            </p:nvSpPr>
            <p:spPr>
              <a:xfrm>
                <a:off x="1523857" y="5257800"/>
                <a:ext cx="1143000" cy="22860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ight Arrow 16"/>
              <p:cNvSpPr/>
              <p:nvPr/>
            </p:nvSpPr>
            <p:spPr>
              <a:xfrm rot="10800000">
                <a:off x="1523857" y="4953000"/>
                <a:ext cx="1143000" cy="22860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ight Arrow 19"/>
              <p:cNvSpPr/>
              <p:nvPr/>
            </p:nvSpPr>
            <p:spPr>
              <a:xfrm>
                <a:off x="4038457" y="5105400"/>
                <a:ext cx="1143000" cy="22860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4038600" y="5943600"/>
              <a:ext cx="8382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QA</a:t>
              </a:r>
              <a:endParaRPr lang="en-US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9600" y="5943600"/>
              <a:ext cx="1371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End Users</a:t>
              </a:r>
              <a:endParaRPr lang="en-US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162800" y="5943600"/>
              <a:ext cx="8382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Team</a:t>
              </a:r>
              <a:endParaRPr lang="en-US" dirty="0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3048000" y="2667000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Production</a:t>
            </a:r>
            <a:endParaRPr lang="en-US" sz="2400" dirty="0"/>
          </a:p>
        </p:txBody>
      </p:sp>
      <p:sp>
        <p:nvSpPr>
          <p:cNvPr id="26" name="Subtitle 2"/>
          <p:cNvSpPr txBox="1">
            <a:spLocks/>
          </p:cNvSpPr>
          <p:nvPr/>
        </p:nvSpPr>
        <p:spPr>
          <a:xfrm>
            <a:off x="3200400" y="3048000"/>
            <a:ext cx="556260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r>
              <a:rPr lang="en-US" dirty="0" smtClean="0"/>
              <a:t>Same as above</a:t>
            </a:r>
          </a:p>
          <a:p>
            <a:pPr marL="342900" lvl="0" indent="-342900">
              <a:spcBef>
                <a:spcPct val="20000"/>
              </a:spcBef>
              <a:buFont typeface="Arial" charset="0"/>
              <a:buChar char="•"/>
            </a:pP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00800" y="1905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52401"/>
            <a:ext cx="5029200" cy="533399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/>
              <a:t>Diagram of Project Flow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6400800" y="1524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caBIG QA Process</a:t>
            </a:r>
            <a:endParaRPr lang="en-US" dirty="0"/>
          </a:p>
        </p:txBody>
      </p:sp>
      <p:pic>
        <p:nvPicPr>
          <p:cNvPr id="7" name="Picture 6" descr="Project Proce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8049"/>
            <a:ext cx="9144000" cy="6209951"/>
          </a:xfrm>
          <a:prstGeom prst="rect">
            <a:avLst/>
          </a:prstGeom>
        </p:spPr>
      </p:pic>
      <p:pic>
        <p:nvPicPr>
          <p:cNvPr id="8" name="Picture 7" descr="Project Proce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8049"/>
            <a:ext cx="9144000" cy="6209951"/>
          </a:xfrm>
          <a:prstGeom prst="rect">
            <a:avLst/>
          </a:prstGeom>
          <a:noFill/>
          <a:effectLst/>
        </p:spPr>
      </p:pic>
      <p:grpSp>
        <p:nvGrpSpPr>
          <p:cNvPr id="3" name="Group 2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3810000" y="2743200"/>
              <a:ext cx="1524000" cy="609600"/>
            </a:xfrm>
            <a:prstGeom prst="rect">
              <a:avLst/>
            </a:prstGeom>
            <a:solidFill>
              <a:schemeClr val="accent1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22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1752600" y="2057400"/>
                <a:ext cx="1447800" cy="12954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0" y="0"/>
                <a:ext cx="457200" cy="33528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0" y="3352800"/>
                <a:ext cx="4876800" cy="35052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457200" y="0"/>
                <a:ext cx="4876800" cy="20574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3200400" y="2057400"/>
                <a:ext cx="2133600" cy="6858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5334000" y="0"/>
                <a:ext cx="3810000" cy="33528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6400800" y="3352800"/>
                <a:ext cx="685800" cy="35052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4876800" y="4572000"/>
                <a:ext cx="1524000" cy="22860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7086600" y="5105400"/>
                <a:ext cx="2057400" cy="17526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8382000" y="3352800"/>
                <a:ext cx="762000" cy="1752600"/>
              </a:xfrm>
              <a:prstGeom prst="rect">
                <a:avLst/>
              </a:prstGeom>
              <a:solidFill>
                <a:schemeClr val="accent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/>
          <p:cNvSpPr/>
          <p:nvPr/>
        </p:nvSpPr>
        <p:spPr>
          <a:xfrm>
            <a:off x="457200" y="2057400"/>
            <a:ext cx="1295400" cy="1295400"/>
          </a:xfrm>
          <a:prstGeom prst="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200400" y="2743200"/>
            <a:ext cx="609600" cy="609600"/>
          </a:xfrm>
          <a:prstGeom prst="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:\Documents and Settings\hunterst\Local Settings\Temporary Internet Files\Content.IE5\CMVIV4JF\MCj04326010000[1]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8200" y="1524000"/>
            <a:ext cx="533286" cy="533286"/>
          </a:xfrm>
          <a:prstGeom prst="rect">
            <a:avLst/>
          </a:prstGeom>
          <a:noFill/>
        </p:spPr>
      </p:pic>
      <p:pic>
        <p:nvPicPr>
          <p:cNvPr id="24" name="Picture 2" descr="C:\Documents and Settings\hunterst\Local Settings\Temporary Internet Files\Content.IE5\CMVIV4JF\MCj04326010000[1]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00400" y="2209800"/>
            <a:ext cx="533286" cy="533286"/>
          </a:xfrm>
          <a:prstGeom prst="rect">
            <a:avLst/>
          </a:prstGeom>
          <a:noFill/>
        </p:spPr>
      </p:pic>
      <p:sp>
        <p:nvSpPr>
          <p:cNvPr id="26" name="Rectangle 25"/>
          <p:cNvSpPr/>
          <p:nvPr/>
        </p:nvSpPr>
        <p:spPr>
          <a:xfrm>
            <a:off x="4876800" y="3352800"/>
            <a:ext cx="1524000" cy="1219200"/>
          </a:xfrm>
          <a:prstGeom prst="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" descr="C:\Documents and Settings\hunterst\Local Settings\Temporary Internet Files\Content.IE5\CMVIV4JF\MCj04326010000[1]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114" y="2819400"/>
            <a:ext cx="533286" cy="533286"/>
          </a:xfrm>
          <a:prstGeom prst="rect">
            <a:avLst/>
          </a:prstGeom>
          <a:noFill/>
        </p:spPr>
      </p:pic>
      <p:sp>
        <p:nvSpPr>
          <p:cNvPr id="28" name="Rectangle 27"/>
          <p:cNvSpPr/>
          <p:nvPr/>
        </p:nvSpPr>
        <p:spPr>
          <a:xfrm>
            <a:off x="7086600" y="3352800"/>
            <a:ext cx="1295400" cy="1752600"/>
          </a:xfrm>
          <a:prstGeom prst="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" descr="C:\Documents and Settings\hunterst\Local Settings\Temporary Internet Files\Content.IE5\CMVIV4JF\MCj04326010000[1]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67714" y="2819514"/>
            <a:ext cx="533286" cy="533286"/>
          </a:xfrm>
          <a:prstGeom prst="rect">
            <a:avLst/>
          </a:prstGeom>
          <a:noFill/>
        </p:spPr>
      </p:pic>
      <p:sp>
        <p:nvSpPr>
          <p:cNvPr id="30" name="TextBox 29"/>
          <p:cNvSpPr txBox="1"/>
          <p:nvPr/>
        </p:nvSpPr>
        <p:spPr>
          <a:xfrm>
            <a:off x="1981200" y="762000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Questions</a:t>
            </a:r>
            <a:endParaRPr lang="en-US" sz="3600" dirty="0"/>
          </a:p>
        </p:txBody>
      </p:sp>
      <p:sp>
        <p:nvSpPr>
          <p:cNvPr id="31" name="Action Button: Help 30">
            <a:hlinkClick r:id="" action="ppaction://noaction" highlightClick="1"/>
          </p:cNvPr>
          <p:cNvSpPr/>
          <p:nvPr/>
        </p:nvSpPr>
        <p:spPr>
          <a:xfrm>
            <a:off x="4114800" y="762000"/>
            <a:ext cx="1676400" cy="1447800"/>
          </a:xfrm>
          <a:prstGeom prst="actionButtonHelp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5756</TotalTime>
  <Words>365</Words>
  <Application>Microsoft Office PowerPoint</Application>
  <PresentationFormat>On-screen Show (4:3)</PresentationFormat>
  <Paragraphs>137</Paragraphs>
  <Slides>15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Introduction</vt:lpstr>
      <vt:lpstr>Overview</vt:lpstr>
      <vt:lpstr>Goals of QA Process</vt:lpstr>
      <vt:lpstr>Diagram of Project Flow</vt:lpstr>
      <vt:lpstr>Slide 5</vt:lpstr>
      <vt:lpstr>Slide 6</vt:lpstr>
      <vt:lpstr>Slide 7</vt:lpstr>
      <vt:lpstr>Slide 8</vt:lpstr>
      <vt:lpstr>Diagram of Project Flow</vt:lpstr>
      <vt:lpstr>Slide 10</vt:lpstr>
      <vt:lpstr>Slide 11</vt:lpstr>
      <vt:lpstr>Slide 12</vt:lpstr>
      <vt:lpstr>Diagram of Project Flow</vt:lpstr>
      <vt:lpstr>Slide 14</vt:lpstr>
      <vt:lpstr>Diagram of Project Flow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Administrator</cp:lastModifiedBy>
  <cp:revision>452</cp:revision>
  <dcterms:created xsi:type="dcterms:W3CDTF">2006-08-16T00:00:00Z</dcterms:created>
  <dcterms:modified xsi:type="dcterms:W3CDTF">2008-09-23T15:23:10Z</dcterms:modified>
</cp:coreProperties>
</file>